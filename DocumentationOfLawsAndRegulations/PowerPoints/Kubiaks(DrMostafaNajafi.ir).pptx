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0" r:id="rId1"/>
  </p:sldMasterIdLst>
  <p:notesMasterIdLst>
    <p:notesMasterId r:id="rId50"/>
  </p:notesMasterIdLst>
  <p:sldIdLst>
    <p:sldId id="305" r:id="rId2"/>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6" r:id="rId21"/>
    <p:sldId id="274" r:id="rId22"/>
    <p:sldId id="275"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3" r:id="rId4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3548" autoAdjust="0"/>
  </p:normalViewPr>
  <p:slideViewPr>
    <p:cSldViewPr>
      <p:cViewPr varScale="1">
        <p:scale>
          <a:sx n="64" d="100"/>
          <a:sy n="64" d="100"/>
        </p:scale>
        <p:origin x="156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BC714C1-BC64-4835-A158-FA7A92C3E73A}" type="datetimeFigureOut">
              <a:rPr lang="en-US" smtClean="0"/>
              <a:pPr/>
              <a:t>11/28/2022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85F595A-8146-47D6-81D8-F11A7F88D9E8}" type="slidenum">
              <a:rPr lang="en-US" smtClean="0"/>
              <a:pPr/>
              <a:t>‹#›</a:t>
            </a:fld>
            <a:endParaRPr lang="en-US"/>
          </a:p>
        </p:txBody>
      </p:sp>
    </p:spTree>
    <p:extLst>
      <p:ext uri="{BB962C8B-B14F-4D97-AF65-F5344CB8AC3E}">
        <p14:creationId xmlns:p14="http://schemas.microsoft.com/office/powerpoint/2010/main" val="41459731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a-IR" dirty="0"/>
          </a:p>
          <a:p>
            <a:endParaRPr lang="en-US" dirty="0"/>
          </a:p>
        </p:txBody>
      </p:sp>
      <p:sp>
        <p:nvSpPr>
          <p:cNvPr id="4" name="Slide Number Placeholder 3"/>
          <p:cNvSpPr>
            <a:spLocks noGrp="1"/>
          </p:cNvSpPr>
          <p:nvPr>
            <p:ph type="sldNum" sz="quarter" idx="10"/>
          </p:nvPr>
        </p:nvSpPr>
        <p:spPr/>
        <p:txBody>
          <a:bodyPr/>
          <a:lstStyle/>
          <a:p>
            <a:fld id="{785F595A-8146-47D6-81D8-F11A7F88D9E8}" type="slidenum">
              <a:rPr lang="en-US" smtClean="0"/>
              <a:pPr/>
              <a:t>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a:t>Click to edit Master title style</a:t>
            </a:r>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sp>
        <p:nvSpPr>
          <p:cNvPr id="7" name="Date Placeholder 6"/>
          <p:cNvSpPr>
            <a:spLocks noGrp="1"/>
          </p:cNvSpPr>
          <p:nvPr>
            <p:ph type="dt" sz="half" idx="10"/>
          </p:nvPr>
        </p:nvSpPr>
        <p:spPr/>
        <p:txBody>
          <a:bodyPr/>
          <a:lstStyle/>
          <a:p>
            <a:fld id="{6F9EB15E-15FF-49EB-99B1-1352C9E83A98}" type="datetimeFigureOut">
              <a:rPr lang="en-US" smtClean="0"/>
              <a:pPr/>
              <a:t>11/28/2022</a:t>
            </a:fld>
            <a:endParaRPr lang="en-US"/>
          </a:p>
        </p:txBody>
      </p:sp>
      <p:sp>
        <p:nvSpPr>
          <p:cNvPr id="20" name="Footer Placeholder 19"/>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6679BF3C-A9A1-45ED-B264-AB7335987105}" type="slidenum">
              <a:rPr lang="en-US" smtClean="0"/>
              <a:pPr/>
              <a:t>‹#›</a:t>
            </a:fld>
            <a:endParaRPr lang="en-US"/>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6F9EB15E-15FF-49EB-99B1-1352C9E83A98}" type="datetimeFigureOut">
              <a:rPr lang="en-US" smtClean="0"/>
              <a:pPr/>
              <a:t>11/28/2022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79BF3C-A9A1-45ED-B264-AB7335987105}"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a:t>Click to edit Master title style</a:t>
            </a:r>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6F9EB15E-15FF-49EB-99B1-1352C9E83A98}" type="datetimeFigureOut">
              <a:rPr lang="en-US" smtClean="0"/>
              <a:pPr/>
              <a:t>11/28/2022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79BF3C-A9A1-45ED-B264-AB7335987105}" type="slidenum">
              <a:rPr lang="en-US" smtClean="0"/>
              <a:pPr/>
              <a:t>‹#›</a:t>
            </a:fld>
            <a:endParaRPr lang="en-US"/>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kumimoji="0" lang="en-US"/>
              <a:t>Click to edit Master title style</a:t>
            </a:r>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6F9EB15E-15FF-49EB-99B1-1352C9E83A98}" type="datetimeFigureOut">
              <a:rPr lang="en-US" smtClean="0"/>
              <a:pPr/>
              <a:t>11/28/2022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79BF3C-A9A1-45ED-B264-AB7335987105}"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a:t>Click to edit Master title style</a:t>
            </a:r>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6F9EB15E-15FF-49EB-99B1-1352C9E83A98}" type="datetimeFigureOut">
              <a:rPr lang="en-US" smtClean="0"/>
              <a:pPr/>
              <a:t>11/28/2022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679BF3C-A9A1-45ED-B264-AB7335987105}"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p>
            <a:r>
              <a:rPr kumimoji="0" lang="en-US"/>
              <a:t>Click to edit Master title style</a:t>
            </a:r>
          </a:p>
        </p:txBody>
      </p:sp>
      <p:sp>
        <p:nvSpPr>
          <p:cNvPr id="3" name="Date Placeholder 2"/>
          <p:cNvSpPr>
            <a:spLocks noGrp="1"/>
          </p:cNvSpPr>
          <p:nvPr>
            <p:ph type="dt" sz="half" idx="10"/>
          </p:nvPr>
        </p:nvSpPr>
        <p:spPr/>
        <p:txBody>
          <a:bodyPr/>
          <a:lstStyle/>
          <a:p>
            <a:fld id="{6F9EB15E-15FF-49EB-99B1-1352C9E83A98}" type="datetimeFigureOut">
              <a:rPr lang="en-US" smtClean="0"/>
              <a:pPr/>
              <a:t>11/28/2022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679BF3C-A9A1-45ED-B264-AB7335987105}"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Date Placeholder 1"/>
          <p:cNvSpPr>
            <a:spLocks noGrp="1"/>
          </p:cNvSpPr>
          <p:nvPr>
            <p:ph type="dt" sz="half" idx="10"/>
          </p:nvPr>
        </p:nvSpPr>
        <p:spPr/>
        <p:txBody>
          <a:bodyPr/>
          <a:lstStyle/>
          <a:p>
            <a:fld id="{6F9EB15E-15FF-49EB-99B1-1352C9E83A98}" type="datetimeFigureOut">
              <a:rPr lang="en-US" smtClean="0"/>
              <a:pPr/>
              <a:t>11/28/2022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679BF3C-A9A1-45ED-B264-AB7335987105}" type="slidenum">
              <a:rPr lang="en-US" smtClean="0"/>
              <a:pPr/>
              <a:t>‹#›</a:t>
            </a:fld>
            <a:endParaRPr lang="en-US"/>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a:t>Click to edit Master title style</a:t>
            </a:r>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6F9EB15E-15FF-49EB-99B1-1352C9E83A98}" type="datetimeFigureOut">
              <a:rPr lang="en-US" smtClean="0"/>
              <a:pPr/>
              <a:t>11/28/2022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79BF3C-A9A1-45ED-B264-AB7335987105}"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a:t>Click to edit Master title style</a:t>
            </a:r>
          </a:p>
        </p:txBody>
      </p:sp>
      <p:sp>
        <p:nvSpPr>
          <p:cNvPr id="5" name="Date Placeholder 4"/>
          <p:cNvSpPr>
            <a:spLocks noGrp="1"/>
          </p:cNvSpPr>
          <p:nvPr>
            <p:ph type="dt" sz="half" idx="10"/>
          </p:nvPr>
        </p:nvSpPr>
        <p:spPr/>
        <p:txBody>
          <a:bodyPr/>
          <a:lstStyle/>
          <a:p>
            <a:fld id="{6F9EB15E-15FF-49EB-99B1-1352C9E83A98}" type="datetimeFigureOut">
              <a:rPr lang="en-US" smtClean="0"/>
              <a:pPr/>
              <a:t>11/28/2022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79BF3C-A9A1-45ED-B264-AB7335987105}" type="slidenum">
              <a:rPr lang="en-US" smtClean="0"/>
              <a:pPr/>
              <a:t>‹#›</a:t>
            </a:fld>
            <a:endParaRPr lang="en-US"/>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6F9EB15E-15FF-49EB-99B1-1352C9E83A98}" type="datetimeFigureOut">
              <a:rPr lang="en-US" smtClean="0"/>
              <a:pPr/>
              <a:t>11/28/2022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79BF3C-A9A1-45ED-B264-AB7335987105}"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11430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6F9EB15E-15FF-49EB-99B1-1352C9E83A98}" type="datetimeFigureOut">
              <a:rPr lang="en-US" smtClean="0"/>
              <a:pPr/>
              <a:t>11/28/2022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79BF3C-A9A1-45ED-B264-AB7335987105}"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p>
            <a:r>
              <a:rPr kumimoji="0" lang="en-US"/>
              <a:t>Click to edit Master title style</a:t>
            </a:r>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6F9EB15E-15FF-49EB-99B1-1352C9E83A98}" type="datetimeFigureOut">
              <a:rPr lang="en-US" smtClean="0"/>
              <a:pPr/>
              <a:t>11/28/2022</a:t>
            </a:fld>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US"/>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6679BF3C-A9A1-45ED-B264-AB7335987105}" type="slidenum">
              <a:rPr lang="en-US" smtClean="0"/>
              <a:pPr/>
              <a:t>‹#›</a:t>
            </a:fld>
            <a:endParaRPr lang="en-US"/>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dirty="0"/>
          </a:p>
        </p:txBody>
      </p:sp>
      <p:pic>
        <p:nvPicPr>
          <p:cNvPr id="1026" name="Picture 2" descr="G:\Drive C\Behrooz\Tahghigh\yaspic.ir-model-allah-7.jpg"/>
          <p:cNvPicPr>
            <a:picLocks noChangeAspect="1" noChangeArrowheads="1"/>
          </p:cNvPicPr>
          <p:nvPr/>
        </p:nvPicPr>
        <p:blipFill>
          <a:blip r:embed="rId2" cstate="print"/>
          <a:srcRect/>
          <a:stretch>
            <a:fillRect/>
          </a:stretch>
        </p:blipFill>
        <p:spPr bwMode="auto">
          <a:xfrm>
            <a:off x="0" y="0"/>
            <a:ext cx="9172832" cy="6858000"/>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90600" y="1371600"/>
            <a:ext cx="7848600" cy="4495800"/>
          </a:xfrm>
        </p:spPr>
        <p:txBody>
          <a:bodyPr>
            <a:normAutofit/>
          </a:bodyPr>
          <a:lstStyle/>
          <a:p>
            <a:pPr marL="0" marR="0" algn="r" rtl="1">
              <a:spcBef>
                <a:spcPts val="0"/>
              </a:spcBef>
              <a:spcAft>
                <a:spcPts val="0"/>
              </a:spcAft>
            </a:pPr>
            <a:r>
              <a:rPr lang="fa-IR" sz="2400" dirty="0">
                <a:solidFill>
                  <a:schemeClr val="tx1"/>
                </a:solidFill>
                <a:effectLst/>
                <a:latin typeface="Tahoma"/>
                <a:ea typeface="Times New Roman"/>
                <a:cs typeface="B Nazanin"/>
              </a:rPr>
              <a:t>مطالعات</a:t>
            </a:r>
            <a:r>
              <a:rPr lang="fa-IR" sz="2400" dirty="0">
                <a:solidFill>
                  <a:schemeClr val="tx1"/>
                </a:solidFill>
                <a:effectLst/>
                <a:latin typeface="Times New Roman"/>
                <a:ea typeface="Times New Roman"/>
              </a:rPr>
              <a:t> </a:t>
            </a:r>
            <a:r>
              <a:rPr lang="fa-IR" sz="2400" dirty="0">
                <a:solidFill>
                  <a:schemeClr val="tx1"/>
                </a:solidFill>
                <a:effectLst/>
                <a:latin typeface="Tahoma"/>
                <a:ea typeface="Times New Roman"/>
                <a:cs typeface="B Nazanin"/>
              </a:rPr>
              <a:t>در زمینه سبک سازی و حذف بتن ناکارآمد از سال ۱۹۸۵ در دانشگاه های آلمان و</a:t>
            </a:r>
            <a:r>
              <a:rPr lang="fa-IR" sz="2400" dirty="0">
                <a:solidFill>
                  <a:schemeClr val="tx1"/>
                </a:solidFill>
                <a:effectLst/>
                <a:latin typeface="Times New Roman"/>
                <a:ea typeface="Times New Roman"/>
              </a:rPr>
              <a:t> </a:t>
            </a:r>
            <a:r>
              <a:rPr lang="fa-IR" sz="2400" dirty="0">
                <a:solidFill>
                  <a:schemeClr val="tx1"/>
                </a:solidFill>
                <a:effectLst/>
                <a:latin typeface="Tahoma"/>
                <a:ea typeface="Times New Roman"/>
                <a:cs typeface="B Nazanin"/>
              </a:rPr>
              <a:t>مجموعه شرکت های گروه فناوری های کوبیاکس درسال ۱۹۹۷ با همراهی مهندسین و</a:t>
            </a:r>
            <a:r>
              <a:rPr lang="fa-IR" sz="2400" dirty="0">
                <a:solidFill>
                  <a:schemeClr val="tx1"/>
                </a:solidFill>
                <a:effectLst/>
                <a:latin typeface="Times New Roman"/>
                <a:ea typeface="Times New Roman"/>
              </a:rPr>
              <a:t> </a:t>
            </a:r>
            <a:r>
              <a:rPr lang="fa-IR" sz="2400" dirty="0">
                <a:solidFill>
                  <a:schemeClr val="tx1"/>
                </a:solidFill>
                <a:effectLst/>
                <a:latin typeface="Tahoma"/>
                <a:ea typeface="Times New Roman"/>
                <a:cs typeface="B Nazanin"/>
              </a:rPr>
              <a:t>متخصصینی از سوئیس و دیگر کشورهای اتحادیه اروپا</a:t>
            </a:r>
            <a:r>
              <a:rPr lang="fa-IR" sz="2400" dirty="0">
                <a:solidFill>
                  <a:schemeClr val="tx1"/>
                </a:solidFill>
                <a:effectLst/>
                <a:latin typeface="Times New Roman"/>
                <a:ea typeface="Times New Roman"/>
              </a:rPr>
              <a:t> </a:t>
            </a:r>
            <a:r>
              <a:rPr lang="fa-IR" sz="2400" dirty="0">
                <a:solidFill>
                  <a:schemeClr val="tx1"/>
                </a:solidFill>
                <a:effectLst/>
                <a:latin typeface="Tahoma"/>
                <a:ea typeface="Times New Roman"/>
                <a:cs typeface="B Nazanin"/>
              </a:rPr>
              <a:t>پایه ریزی و</a:t>
            </a:r>
            <a:r>
              <a:rPr lang="fa-IR" sz="2400" dirty="0">
                <a:solidFill>
                  <a:schemeClr val="tx1"/>
                </a:solidFill>
                <a:effectLst/>
                <a:latin typeface="Times New Roman"/>
                <a:ea typeface="Times New Roman"/>
              </a:rPr>
              <a:t> </a:t>
            </a:r>
            <a:r>
              <a:rPr lang="fa-IR" sz="2400" dirty="0">
                <a:solidFill>
                  <a:schemeClr val="tx1"/>
                </a:solidFill>
                <a:effectLst/>
                <a:latin typeface="Tahoma"/>
                <a:ea typeface="Times New Roman"/>
                <a:cs typeface="B Nazanin"/>
              </a:rPr>
              <a:t>تآسیس شده است و اکنون تبدیل به یک مجموعه متخصص در مورد اسلب های تخت سبک</a:t>
            </a:r>
            <a:r>
              <a:rPr lang="fa-IR" sz="2400" dirty="0">
                <a:solidFill>
                  <a:schemeClr val="tx1"/>
                </a:solidFill>
                <a:effectLst/>
                <a:latin typeface="Times New Roman"/>
                <a:ea typeface="Times New Roman"/>
              </a:rPr>
              <a:t> </a:t>
            </a:r>
            <a:r>
              <a:rPr lang="fa-IR" sz="2400" dirty="0">
                <a:solidFill>
                  <a:schemeClr val="tx1"/>
                </a:solidFill>
                <a:effectLst/>
                <a:latin typeface="Tahoma"/>
                <a:ea typeface="Times New Roman"/>
                <a:cs typeface="B Nazanin"/>
              </a:rPr>
              <a:t>با بتن مسلح شده است</a:t>
            </a:r>
            <a:r>
              <a:rPr lang="en-US" sz="2400" dirty="0">
                <a:solidFill>
                  <a:schemeClr val="tx1"/>
                </a:solidFill>
                <a:effectLst/>
                <a:latin typeface="Tahoma"/>
                <a:ea typeface="Times New Roman"/>
                <a:cs typeface="B Nazanin"/>
              </a:rPr>
              <a:t>.</a:t>
            </a:r>
            <a:br>
              <a:rPr lang="en-US" sz="2400" dirty="0">
                <a:solidFill>
                  <a:schemeClr val="tx1"/>
                </a:solidFill>
                <a:effectLst/>
                <a:latin typeface="Times New Roman"/>
                <a:ea typeface="Times New Roman"/>
              </a:rPr>
            </a:br>
            <a:br>
              <a:rPr lang="en-US" sz="2400" dirty="0">
                <a:solidFill>
                  <a:schemeClr val="tx1"/>
                </a:solidFill>
                <a:effectLst/>
                <a:latin typeface="Tahoma"/>
                <a:ea typeface="Times New Roman"/>
                <a:cs typeface="B Nazanin"/>
              </a:rPr>
            </a:br>
            <a:r>
              <a:rPr lang="en-US" sz="2400" dirty="0">
                <a:solidFill>
                  <a:schemeClr val="tx1"/>
                </a:solidFill>
                <a:effectLst/>
                <a:latin typeface="Tahoma"/>
                <a:ea typeface="Times New Roman"/>
                <a:cs typeface="B Nazanin"/>
              </a:rPr>
              <a:t>         </a:t>
            </a:r>
            <a:br>
              <a:rPr lang="en-US" sz="2400" dirty="0">
                <a:solidFill>
                  <a:schemeClr val="tx1"/>
                </a:solidFill>
                <a:effectLst/>
                <a:latin typeface="Times New Roman"/>
                <a:ea typeface="Times New Roman"/>
              </a:rPr>
            </a:br>
            <a:r>
              <a:rPr lang="fa-IR" sz="2400" dirty="0">
                <a:solidFill>
                  <a:schemeClr val="tx1"/>
                </a:solidFill>
                <a:effectLst/>
                <a:latin typeface="Tahoma"/>
                <a:ea typeface="Times New Roman"/>
                <a:cs typeface="B Nazanin"/>
              </a:rPr>
              <a:t>این دانش از سال ۱۳۸۷ به صورت انحصاری در ایران و تعدادی از کشورهای منطقه در اختیار شرکت خانه سازی پارس مان سازه است</a:t>
            </a:r>
            <a:r>
              <a:rPr lang="en-US" sz="2400" dirty="0">
                <a:solidFill>
                  <a:schemeClr val="tx1"/>
                </a:solidFill>
                <a:effectLst/>
                <a:latin typeface="Tahoma"/>
                <a:ea typeface="Times New Roman"/>
                <a:cs typeface="B Nazanin"/>
              </a:rPr>
              <a:t>.</a:t>
            </a:r>
            <a:br>
              <a:rPr lang="en-US" sz="2400" dirty="0">
                <a:solidFill>
                  <a:schemeClr val="tx1"/>
                </a:solidFill>
                <a:effectLst/>
                <a:latin typeface="Times New Roman"/>
                <a:ea typeface="Times New Roman"/>
              </a:rPr>
            </a:br>
            <a:endParaRPr lang="en-US" sz="2400" dirty="0">
              <a:solidFill>
                <a:schemeClr val="tx1"/>
              </a:solidFill>
              <a:effectLst/>
            </a:endParaRPr>
          </a:p>
        </p:txBody>
      </p:sp>
      <p:sp>
        <p:nvSpPr>
          <p:cNvPr id="3" name="Subtitle 2"/>
          <p:cNvSpPr>
            <a:spLocks noGrp="1"/>
          </p:cNvSpPr>
          <p:nvPr>
            <p:ph type="subTitle" idx="1"/>
          </p:nvPr>
        </p:nvSpPr>
        <p:spPr>
          <a:xfrm>
            <a:off x="381000" y="533400"/>
            <a:ext cx="8458200" cy="1066800"/>
          </a:xfrm>
        </p:spPr>
        <p:txBody>
          <a:bodyPr/>
          <a:lstStyle/>
          <a:p>
            <a:pPr algn="r" rtl="1">
              <a:spcBef>
                <a:spcPts val="0"/>
              </a:spcBef>
            </a:pPr>
            <a:r>
              <a:rPr lang="fa-IR" sz="3600" b="1" dirty="0">
                <a:latin typeface="Tahoma"/>
                <a:ea typeface="Times New Roman"/>
                <a:cs typeface="B Nazanin"/>
              </a:rPr>
              <a:t>پیشینه کوبیاکس</a:t>
            </a:r>
            <a:endParaRPr lang="en-US" sz="3600" dirty="0">
              <a:latin typeface="Times New Roman"/>
              <a:ea typeface="Times New Roman"/>
            </a:endParaRP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r" rtl="1"/>
            <a:r>
              <a:rPr lang="fa-IR" sz="3600" b="1" dirty="0">
                <a:effectLst/>
                <a:latin typeface="Tahoma"/>
                <a:ea typeface="Times New Roman"/>
                <a:cs typeface="B Nazanin"/>
              </a:rPr>
              <a:t>دلايل ورود تکنولوژي كوبیاكس به كشور</a:t>
            </a:r>
            <a:endParaRPr lang="en-US" sz="3600" dirty="0">
              <a:effectLst/>
            </a:endParaRPr>
          </a:p>
        </p:txBody>
      </p:sp>
      <p:sp>
        <p:nvSpPr>
          <p:cNvPr id="3" name="Content Placeholder 2"/>
          <p:cNvSpPr>
            <a:spLocks noGrp="1"/>
          </p:cNvSpPr>
          <p:nvPr>
            <p:ph idx="1"/>
          </p:nvPr>
        </p:nvSpPr>
        <p:spPr>
          <a:xfrm>
            <a:off x="990600" y="1447800"/>
            <a:ext cx="7943088" cy="4800600"/>
          </a:xfrm>
        </p:spPr>
        <p:txBody>
          <a:bodyPr>
            <a:normAutofit/>
          </a:bodyPr>
          <a:lstStyle/>
          <a:p>
            <a:pPr lvl="0" algn="r" rtl="1"/>
            <a:r>
              <a:rPr lang="fa-IR" sz="2400" dirty="0">
                <a:cs typeface="B Nazanin" pitchFamily="2" charset="-78"/>
              </a:rPr>
              <a:t>صنعتی سازی</a:t>
            </a:r>
            <a:endParaRPr lang="en-US" sz="2400" dirty="0">
              <a:cs typeface="B Nazanin" pitchFamily="2" charset="-78"/>
            </a:endParaRPr>
          </a:p>
          <a:p>
            <a:pPr lvl="0" algn="r" rtl="1"/>
            <a:r>
              <a:rPr lang="fa-IR" sz="2400" dirty="0">
                <a:cs typeface="B Nazanin" pitchFamily="2" charset="-78"/>
              </a:rPr>
              <a:t>عدم نیاز به سرمایه گذاری زیاد برای احداث کارخانجات مواد اولیه </a:t>
            </a:r>
            <a:endParaRPr lang="en-US" sz="2400" dirty="0">
              <a:cs typeface="B Nazanin" pitchFamily="2" charset="-78"/>
            </a:endParaRPr>
          </a:p>
          <a:p>
            <a:pPr lvl="0" algn="r" rtl="1"/>
            <a:r>
              <a:rPr lang="fa-IR" sz="2400" dirty="0">
                <a:cs typeface="B Nazanin" pitchFamily="2" charset="-78"/>
              </a:rPr>
              <a:t>عدم نیاز به نیروی کار خیلی متخصص و امکان استفاده از نیروهای موجود </a:t>
            </a:r>
            <a:endParaRPr lang="en-US" sz="2400" dirty="0">
              <a:cs typeface="B Nazanin" pitchFamily="2" charset="-78"/>
            </a:endParaRPr>
          </a:p>
          <a:p>
            <a:pPr lvl="0" algn="r" rtl="1"/>
            <a:r>
              <a:rPr lang="fa-IR" sz="2400" dirty="0">
                <a:cs typeface="B Nazanin" pitchFamily="2" charset="-78"/>
              </a:rPr>
              <a:t>امکان احداث کارخانجات تولیدی در اقصی نقاط کشور </a:t>
            </a:r>
            <a:endParaRPr lang="en-US" sz="2400" dirty="0">
              <a:cs typeface="B Nazanin" pitchFamily="2" charset="-78"/>
            </a:endParaRPr>
          </a:p>
          <a:p>
            <a:pPr lvl="0" algn="r" rtl="1"/>
            <a:r>
              <a:rPr lang="fa-IR" sz="2400" dirty="0">
                <a:cs typeface="B Nazanin" pitchFamily="2" charset="-78"/>
              </a:rPr>
              <a:t>عدم وابستگی به خارج از کشور </a:t>
            </a:r>
            <a:endParaRPr lang="en-US" sz="2400" dirty="0">
              <a:cs typeface="B Nazanin" pitchFamily="2" charset="-78"/>
            </a:endParaRPr>
          </a:p>
          <a:p>
            <a:pPr lvl="0" algn="r" rtl="1"/>
            <a:r>
              <a:rPr lang="fa-IR" sz="2400" dirty="0">
                <a:cs typeface="B Nazanin" pitchFamily="2" charset="-78"/>
              </a:rPr>
              <a:t>سازگاری با مباحث و مقررات ملی ساختمانی کشور </a:t>
            </a:r>
            <a:endParaRPr lang="en-US" sz="2400" dirty="0">
              <a:cs typeface="B Nazanin" pitchFamily="2" charset="-78"/>
            </a:endParaRPr>
          </a:p>
          <a:p>
            <a:pPr lvl="0" algn="r" rtl="1"/>
            <a:r>
              <a:rPr lang="fa-IR" sz="2400" dirty="0">
                <a:cs typeface="B Nazanin" pitchFamily="2" charset="-78"/>
              </a:rPr>
              <a:t>اقتصادی بودن تکنولوژی و امکان رقابت با سیستم های رایج</a:t>
            </a:r>
            <a:endParaRPr lang="en-US" sz="2400" dirty="0">
              <a:cs typeface="B Nazanin" pitchFamily="2" charset="-78"/>
            </a:endParaRPr>
          </a:p>
          <a:p>
            <a:pPr lvl="0" algn="r" rtl="1"/>
            <a:r>
              <a:rPr lang="fa-IR" sz="2400" dirty="0">
                <a:cs typeface="B Nazanin" pitchFamily="2" charset="-78"/>
              </a:rPr>
              <a:t>انعطاف پذیری سیستم در ارتباط با مسآله معماری و سازه ای </a:t>
            </a:r>
            <a:endParaRPr lang="en-US" sz="2400" dirty="0">
              <a:cs typeface="B Nazanin" pitchFamily="2" charset="-78"/>
            </a:endParaRPr>
          </a:p>
          <a:p>
            <a:pPr lvl="0" algn="r" rtl="1"/>
            <a:r>
              <a:rPr lang="fa-IR" sz="2400" dirty="0">
                <a:cs typeface="B Nazanin" pitchFamily="2" charset="-78"/>
              </a:rPr>
              <a:t>تکنولوژی دوستدار محیط زیست </a:t>
            </a:r>
            <a:endParaRPr lang="en-US" sz="2400" dirty="0">
              <a:cs typeface="B Nazanin" pitchFamily="2" charset="-78"/>
            </a:endParaRPr>
          </a:p>
          <a:p>
            <a:pPr algn="r" rtl="1">
              <a:buNone/>
            </a:pPr>
            <a:endParaRPr lang="en-US" sz="2400" dirty="0">
              <a:cs typeface="B Nazanin" pitchFamily="2" charset="-78"/>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609600"/>
            <a:ext cx="7943088" cy="5638800"/>
          </a:xfrm>
        </p:spPr>
        <p:txBody>
          <a:bodyPr>
            <a:noAutofit/>
          </a:bodyPr>
          <a:lstStyle/>
          <a:p>
            <a:pPr algn="r" rtl="1">
              <a:buNone/>
            </a:pPr>
            <a:r>
              <a:rPr lang="fa-IR" sz="2400" dirty="0">
                <a:cs typeface="B Nazanin" pitchFamily="2" charset="-78"/>
              </a:rPr>
              <a:t>اساس طراحی تکنولوژی كوبياكس مبتنی است بر سقف سازه ای با ویژگی «سقف دال دو طرفه» مشابه سقف های بتنی دال دو طرفه مرسوم با این تفاوت که هسته بتن مرکزی در محل هایی که کاربرد سازه ای ندارد، با گوی های توخالی جایگزین می‌گردد. (جنس این گوی ها پلی اتیلن بازیافت یا پلی پروپیلن می‌باشد) بدین صورت که این گوی ها در حدفاصل مش های میلگردی بالا و پایین قرار می‌گیرند و با توجه به اینکه در دال های بتنی دو طرفه مشکل تحمل نیروی برشی وجود ندارد، مشکل طراحی این نوع سقف بر مبنای حذف قسمتی از بتن میانی و ایفای عملکرد دال ۲ طرفه می‌باشد. </a:t>
            </a:r>
          </a:p>
          <a:p>
            <a:pPr algn="r" rtl="1">
              <a:buNone/>
            </a:pPr>
            <a:endParaRPr lang="fa-IR" sz="2400" dirty="0">
              <a:cs typeface="B Nazanin" pitchFamily="2" charset="-78"/>
            </a:endParaRPr>
          </a:p>
          <a:p>
            <a:pPr algn="r" rtl="1">
              <a:buNone/>
            </a:pPr>
            <a:r>
              <a:rPr lang="fa-IR" sz="2400" dirty="0">
                <a:cs typeface="B Nazanin" pitchFamily="2" charset="-78"/>
              </a:rPr>
              <a:t>در فن‌آوری كوبياكس با حذف بار مرده غیرسازه‌ای، خاصیت باربری دو محوره همچنان حفظ می‌گردد. همچنین با شکل گیری </a:t>
            </a:r>
            <a:r>
              <a:rPr lang="fa-IR" sz="2400" b="1" dirty="0">
                <a:cs typeface="B Nazanin" pitchFamily="2" charset="-78"/>
              </a:rPr>
              <a:t>غشای بتنی مستحکم </a:t>
            </a:r>
            <a:r>
              <a:rPr lang="fa-IR" sz="2400" dirty="0">
                <a:cs typeface="B Nazanin" pitchFamily="2" charset="-78"/>
              </a:rPr>
              <a:t>در قسمت فوقانی و تحتانی دال به همراه شکل گیری </a:t>
            </a:r>
            <a:r>
              <a:rPr lang="fa-IR" sz="2400" b="1" dirty="0">
                <a:cs typeface="B Nazanin" pitchFamily="2" charset="-78"/>
              </a:rPr>
              <a:t>شبکه تیرچه های داخلی </a:t>
            </a:r>
            <a:r>
              <a:rPr lang="fa-IR" sz="2400" dirty="0">
                <a:cs typeface="B Nazanin" pitchFamily="2" charset="-78"/>
              </a:rPr>
              <a:t>در دو امتداد و </a:t>
            </a:r>
            <a:r>
              <a:rPr lang="fa-IR" sz="2400" b="1" dirty="0">
                <a:cs typeface="B Nazanin" pitchFamily="2" charset="-78"/>
              </a:rPr>
              <a:t>در اثر قراردهی گوی ها </a:t>
            </a:r>
            <a:r>
              <a:rPr lang="fa-IR" sz="2400" dirty="0">
                <a:cs typeface="B Nazanin" pitchFamily="2" charset="-78"/>
              </a:rPr>
              <a:t>در سرتاسر فضای میانی دال بتنی، می‌توان باربری مناسبی را برای این دال متصور شد.</a:t>
            </a:r>
            <a:endParaRPr lang="en-US" sz="2400" dirty="0">
              <a:cs typeface="B Nazanin" pitchFamily="2" charset="-78"/>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r"/>
            <a:r>
              <a:rPr lang="fa-IR" sz="3600" b="1" dirty="0">
                <a:effectLst/>
                <a:cs typeface="B Nazanin" pitchFamily="2" charset="-78"/>
              </a:rPr>
              <a:t>اجزاي سیستم كوبیاكس</a:t>
            </a:r>
            <a:endParaRPr lang="en-US" sz="3600" b="1" dirty="0">
              <a:effectLst/>
              <a:cs typeface="B Nazanin" pitchFamily="2" charset="-78"/>
            </a:endParaRPr>
          </a:p>
        </p:txBody>
      </p:sp>
      <p:sp>
        <p:nvSpPr>
          <p:cNvPr id="3" name="Content Placeholder 2"/>
          <p:cNvSpPr>
            <a:spLocks noGrp="1"/>
          </p:cNvSpPr>
          <p:nvPr>
            <p:ph idx="1"/>
          </p:nvPr>
        </p:nvSpPr>
        <p:spPr>
          <a:xfrm>
            <a:off x="990600" y="1447800"/>
            <a:ext cx="7943088" cy="4800600"/>
          </a:xfrm>
        </p:spPr>
        <p:txBody>
          <a:bodyPr numCol="1">
            <a:noAutofit/>
          </a:bodyPr>
          <a:lstStyle/>
          <a:p>
            <a:pPr lvl="0" algn="r" rtl="1">
              <a:buFont typeface="Arial" pitchFamily="34" charset="0"/>
              <a:buChar char="•"/>
            </a:pPr>
            <a:r>
              <a:rPr lang="fa-IR" sz="2400" dirty="0">
                <a:cs typeface="B Nazanin" pitchFamily="2" charset="-78"/>
              </a:rPr>
              <a:t>مدول قفسه ای (گوی های پلاستیکی به همراه خرپای فولادی)</a:t>
            </a:r>
            <a:endParaRPr lang="en-US" sz="2400" dirty="0">
              <a:cs typeface="B Nazanin" pitchFamily="2" charset="-78"/>
            </a:endParaRPr>
          </a:p>
          <a:p>
            <a:pPr lvl="0" algn="r" rtl="1">
              <a:buFont typeface="Arial" pitchFamily="34" charset="0"/>
              <a:buChar char="•"/>
            </a:pPr>
            <a:r>
              <a:rPr lang="fa-IR" sz="2400" dirty="0">
                <a:cs typeface="B Nazanin" pitchFamily="2" charset="-78"/>
              </a:rPr>
              <a:t>دال بتن آرمه </a:t>
            </a:r>
            <a:endParaRPr lang="en-US" sz="2400" dirty="0">
              <a:cs typeface="B Nazanin" pitchFamily="2" charset="-78"/>
            </a:endParaRPr>
          </a:p>
          <a:p>
            <a:pPr algn="r" rtl="1">
              <a:buNone/>
            </a:pPr>
            <a:endParaRPr lang="fa-IR" sz="2400" dirty="0">
              <a:cs typeface="B Nazanin" pitchFamily="2" charset="-78"/>
            </a:endParaRPr>
          </a:p>
          <a:p>
            <a:pPr algn="r" rtl="1">
              <a:buNone/>
            </a:pPr>
            <a:r>
              <a:rPr lang="fa-IR" sz="2400" dirty="0">
                <a:cs typeface="B Nazanin" pitchFamily="2" charset="-78"/>
              </a:rPr>
              <a:t>دیافراگم بادکنی، سیستمی مبتنی بر فن آوری ترکیبی پیوند هوا و فولاد می باشد. این سیستم دال دو طرفه مجوفی است که در آن استفاده از توپ های پلاستیکی باعث حذف بتن غیر باربر می گردد.</a:t>
            </a:r>
          </a:p>
          <a:p>
            <a:pPr algn="r" rtl="1">
              <a:buNone/>
            </a:pPr>
            <a:r>
              <a:rPr lang="fa-IR" sz="2400" dirty="0">
                <a:cs typeface="B Nazanin" pitchFamily="2" charset="-78"/>
              </a:rPr>
              <a:t> با انطباق شکل هندسی این توپ ها و پهنای موثر توری مشبک ، مدول بتنی بهینه ای به دست می آید که باعث ایجاد کارائی ماکزیمم و همزمان آن در نواحی لنگر حداکثر ، می گردد</a:t>
            </a:r>
            <a:r>
              <a:rPr lang="fa-IR" sz="2400" i="1" dirty="0">
                <a:cs typeface="B Nazanin" pitchFamily="2" charset="-78"/>
              </a:rPr>
              <a:t>.</a:t>
            </a:r>
            <a:endParaRPr lang="en-US" sz="2400" dirty="0">
              <a:cs typeface="B Nazanin" pitchFamily="2" charset="-78"/>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838200"/>
            <a:ext cx="7943088" cy="5410200"/>
          </a:xfrm>
        </p:spPr>
        <p:txBody>
          <a:bodyPr>
            <a:normAutofit/>
          </a:bodyPr>
          <a:lstStyle/>
          <a:p>
            <a:pPr algn="r" rtl="1">
              <a:buNone/>
            </a:pPr>
            <a:r>
              <a:rPr lang="fa-IR" sz="2400" dirty="0">
                <a:cs typeface="B Nazanin" pitchFamily="2" charset="-78"/>
              </a:rPr>
              <a:t>این سیستم سازه ای اولین بار توسط آقای برونینگ یکی از مهندسان عمران دانمارکی معرفی شده و در مجامع علمی و فنی مورد بحث و آزمایشات متعدد قرار گرفت. </a:t>
            </a:r>
          </a:p>
          <a:p>
            <a:pPr algn="r" rtl="1">
              <a:buNone/>
            </a:pPr>
            <a:r>
              <a:rPr lang="fa-IR" sz="2400" dirty="0">
                <a:cs typeface="B Nazanin" pitchFamily="2" charset="-78"/>
              </a:rPr>
              <a:t>گزارشات آزمایش ها در دانشگاه آیندهون هلند، موید آن بوده است که سقف بادکنی هم از لحاظ تئوری و هم عملی با دال توپر قابل مقایسه می باشد. رفتارها هم در کوتاه مدت و هم بلند مدت مشابه می باشند</a:t>
            </a:r>
            <a:r>
              <a:rPr lang="fa-IR" sz="2400" i="1" dirty="0">
                <a:cs typeface="B Nazanin" pitchFamily="2" charset="-78"/>
              </a:rPr>
              <a:t>.</a:t>
            </a:r>
            <a:endParaRPr lang="en-US" sz="2400" dirty="0">
              <a:cs typeface="B Nazanin" pitchFamily="2" charset="-78"/>
            </a:endParaRPr>
          </a:p>
          <a:p>
            <a:pPr algn="r" rtl="1">
              <a:buNone/>
            </a:pPr>
            <a:r>
              <a:rPr lang="fa-IR" sz="2400" dirty="0">
                <a:cs typeface="B Nazanin" pitchFamily="2" charset="-78"/>
              </a:rPr>
              <a:t>آزمایشات مورد نظر برای دالهای با ضخامت 291 تا 411 میلیمترصورت پذیرفته اند. نتایج آزمایشات دانشگاه دارمشتات در آلمان به طور عملی با آنالیز تئوریک مقایسه شده اند. و مشاهده شده که بین تئوری و عمل هماهنگی وجود دارد</a:t>
            </a:r>
            <a:r>
              <a:rPr lang="fa-IR" sz="2400" i="1" dirty="0">
                <a:cs typeface="B Nazanin" pitchFamily="2" charset="-78"/>
              </a:rPr>
              <a:t>.</a:t>
            </a:r>
            <a:endParaRPr lang="en-US" sz="2400" dirty="0">
              <a:cs typeface="B Nazanin" pitchFamily="2" charset="-78"/>
            </a:endParaRPr>
          </a:p>
          <a:p>
            <a:pPr algn="r" rtl="1"/>
            <a:endParaRPr lang="en-US" sz="2400" dirty="0">
              <a:cs typeface="B Nazanin" pitchFamily="2" charset="-78"/>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r" rtl="1"/>
            <a:r>
              <a:rPr lang="fa-IR" sz="3600" b="1" dirty="0">
                <a:solidFill>
                  <a:schemeClr val="tx1"/>
                </a:solidFill>
                <a:effectLst/>
                <a:cs typeface="B Nazanin" pitchFamily="2" charset="-78"/>
              </a:rPr>
              <a:t>جزئیات اجرائي سقف هاي كوبیاكس</a:t>
            </a:r>
            <a:endParaRPr lang="en-US" sz="3600" b="1" dirty="0">
              <a:solidFill>
                <a:schemeClr val="tx1"/>
              </a:solidFill>
              <a:effectLst/>
              <a:cs typeface="B Nazanin" pitchFamily="2" charset="-78"/>
            </a:endParaRPr>
          </a:p>
        </p:txBody>
      </p:sp>
      <p:sp>
        <p:nvSpPr>
          <p:cNvPr id="3" name="Content Placeholder 2"/>
          <p:cNvSpPr>
            <a:spLocks noGrp="1"/>
          </p:cNvSpPr>
          <p:nvPr>
            <p:ph idx="1"/>
          </p:nvPr>
        </p:nvSpPr>
        <p:spPr>
          <a:xfrm>
            <a:off x="990600" y="1447800"/>
            <a:ext cx="7943088" cy="4800600"/>
          </a:xfrm>
        </p:spPr>
        <p:txBody>
          <a:bodyPr>
            <a:normAutofit/>
          </a:bodyPr>
          <a:lstStyle/>
          <a:p>
            <a:pPr algn="r" rtl="1">
              <a:buNone/>
            </a:pPr>
            <a:r>
              <a:rPr lang="fa-IR" sz="2400" dirty="0">
                <a:cs typeface="B Nazanin" pitchFamily="2" charset="-78"/>
              </a:rPr>
              <a:t> این ساختار در نتیجه شکل هندسی دو مولفه مشخص سازه ای به ترتیب زیر به وجود می آید</a:t>
            </a:r>
            <a:r>
              <a:rPr lang="fa-IR" sz="2400" i="1" dirty="0">
                <a:cs typeface="B Nazanin" pitchFamily="2" charset="-78"/>
              </a:rPr>
              <a:t>:</a:t>
            </a:r>
            <a:endParaRPr lang="en-US" sz="2400" dirty="0">
              <a:cs typeface="B Nazanin" pitchFamily="2" charset="-78"/>
            </a:endParaRPr>
          </a:p>
          <a:p>
            <a:pPr algn="r" rtl="1">
              <a:buNone/>
            </a:pPr>
            <a:r>
              <a:rPr lang="fa-IR" sz="2400" dirty="0">
                <a:cs typeface="B Nazanin" pitchFamily="2" charset="-78"/>
              </a:rPr>
              <a:t>الف – توری مشبک تقویتی جوش شده( در بالا و پایین )</a:t>
            </a:r>
            <a:endParaRPr lang="en-US" sz="2400" dirty="0">
              <a:cs typeface="B Nazanin" pitchFamily="2" charset="-78"/>
            </a:endParaRPr>
          </a:p>
          <a:p>
            <a:pPr algn="r" rtl="1">
              <a:buNone/>
            </a:pPr>
            <a:r>
              <a:rPr lang="fa-IR" sz="2400" dirty="0">
                <a:cs typeface="B Nazanin" pitchFamily="2" charset="-78"/>
              </a:rPr>
              <a:t>ب – توپ های پلاستیکی مجوف( در وسط )</a:t>
            </a:r>
            <a:endParaRPr lang="en-US" sz="2400" dirty="0">
              <a:cs typeface="B Nazanin" pitchFamily="2" charset="-78"/>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r" rtl="1"/>
            <a:r>
              <a:rPr lang="fa-IR" sz="3600" b="1" dirty="0">
                <a:effectLst/>
                <a:cs typeface="B Nazanin" pitchFamily="2" charset="-78"/>
              </a:rPr>
              <a:t>مراحل اجراي سقف كوبیاكس</a:t>
            </a:r>
            <a:endParaRPr lang="en-US" sz="3600" dirty="0">
              <a:effectLst/>
              <a:cs typeface="B Nazanin" pitchFamily="2" charset="-78"/>
            </a:endParaRPr>
          </a:p>
        </p:txBody>
      </p:sp>
      <p:sp>
        <p:nvSpPr>
          <p:cNvPr id="3" name="Content Placeholder 2"/>
          <p:cNvSpPr>
            <a:spLocks noGrp="1"/>
          </p:cNvSpPr>
          <p:nvPr>
            <p:ph idx="1"/>
          </p:nvPr>
        </p:nvSpPr>
        <p:spPr>
          <a:xfrm>
            <a:off x="990600" y="1447800"/>
            <a:ext cx="7943088" cy="4800600"/>
          </a:xfrm>
        </p:spPr>
        <p:txBody>
          <a:bodyPr>
            <a:normAutofit/>
          </a:bodyPr>
          <a:lstStyle/>
          <a:p>
            <a:pPr algn="r" rtl="1">
              <a:buNone/>
            </a:pPr>
            <a:r>
              <a:rPr lang="fa-IR" sz="2400" dirty="0">
                <a:cs typeface="B Nazanin" pitchFamily="2" charset="-78"/>
              </a:rPr>
              <a:t>روش معمول اجرای این سقف ها پس از حمل و نقل از کارخانه به شرح زیر است:</a:t>
            </a:r>
            <a:endParaRPr lang="en-US" sz="2400" dirty="0">
              <a:cs typeface="B Nazanin" pitchFamily="2" charset="-78"/>
            </a:endParaRPr>
          </a:p>
          <a:p>
            <a:pPr lvl="0" algn="r" rtl="1">
              <a:buNone/>
            </a:pPr>
            <a:endParaRPr lang="fa-IR" sz="2400" dirty="0">
              <a:cs typeface="B Nazanin" pitchFamily="2" charset="-78"/>
            </a:endParaRPr>
          </a:p>
          <a:p>
            <a:pPr lvl="0" algn="r" rtl="1">
              <a:buNone/>
            </a:pPr>
            <a:r>
              <a:rPr lang="fa-IR" sz="2400" dirty="0">
                <a:cs typeface="B Nazanin" pitchFamily="2" charset="-78"/>
              </a:rPr>
              <a:t>1. نصب شمعهای موقت</a:t>
            </a:r>
            <a:endParaRPr lang="en-US" sz="2400" dirty="0">
              <a:cs typeface="B Nazanin" pitchFamily="2" charset="-78"/>
            </a:endParaRPr>
          </a:p>
          <a:p>
            <a:pPr lvl="0" algn="r" rtl="1">
              <a:buNone/>
            </a:pPr>
            <a:r>
              <a:rPr lang="fa-IR" sz="2400" dirty="0">
                <a:cs typeface="B Nazanin" pitchFamily="2" charset="-78"/>
              </a:rPr>
              <a:t>2. مش بندی ردیف آرماتورهای زیرین</a:t>
            </a:r>
            <a:endParaRPr lang="en-US" sz="2400" dirty="0">
              <a:cs typeface="B Nazanin" pitchFamily="2" charset="-78"/>
            </a:endParaRPr>
          </a:p>
          <a:p>
            <a:pPr lvl="0" algn="r" rtl="1">
              <a:buNone/>
            </a:pPr>
            <a:r>
              <a:rPr lang="fa-IR" sz="2400" dirty="0">
                <a:cs typeface="B Nazanin" pitchFamily="2" charset="-78"/>
              </a:rPr>
              <a:t>3. جاگذاری قطعات پیشساخته به وسیلهی جرثقیلها</a:t>
            </a:r>
            <a:endParaRPr lang="en-US" sz="2400" dirty="0">
              <a:cs typeface="B Nazanin" pitchFamily="2" charset="-78"/>
            </a:endParaRPr>
          </a:p>
          <a:p>
            <a:pPr lvl="0" algn="r" rtl="1">
              <a:buNone/>
            </a:pPr>
            <a:r>
              <a:rPr lang="fa-IR" sz="2400" dirty="0">
                <a:cs typeface="B Nazanin" pitchFamily="2" charset="-78"/>
              </a:rPr>
              <a:t>4. قراردادن اتصالات بین قطعات و ستونها به طور موقت</a:t>
            </a:r>
            <a:endParaRPr lang="en-US" sz="2400" dirty="0">
              <a:cs typeface="B Nazanin" pitchFamily="2" charset="-78"/>
            </a:endParaRPr>
          </a:p>
          <a:p>
            <a:pPr lvl="0" algn="r" rtl="1">
              <a:buNone/>
            </a:pPr>
            <a:r>
              <a:rPr lang="fa-IR" sz="2400" dirty="0">
                <a:cs typeface="B Nazanin" pitchFamily="2" charset="-78"/>
              </a:rPr>
              <a:t>5. بتنریزی</a:t>
            </a:r>
            <a:endParaRPr lang="en-US" sz="2400" dirty="0">
              <a:cs typeface="B Nazanin" pitchFamily="2" charset="-78"/>
            </a:endParaRPr>
          </a:p>
          <a:p>
            <a:pPr lvl="0" algn="r" rtl="1">
              <a:buNone/>
            </a:pPr>
            <a:r>
              <a:rPr lang="fa-IR" sz="2400" dirty="0">
                <a:cs typeface="B Nazanin" pitchFamily="2" charset="-78"/>
              </a:rPr>
              <a:t>6. خارج کردن شمعهای موقت بسته به خواست سازنده و اتمام کار</a:t>
            </a:r>
          </a:p>
          <a:p>
            <a:pPr lvl="0" algn="r" rtl="1">
              <a:buNone/>
            </a:pPr>
            <a:endParaRPr lang="fa-IR" sz="2400" dirty="0">
              <a:cs typeface="B Nazanin" pitchFamily="2" charset="-78"/>
            </a:endParaRPr>
          </a:p>
          <a:p>
            <a:pPr lvl="0" algn="r" rtl="1">
              <a:buNone/>
            </a:pPr>
            <a:r>
              <a:rPr lang="fa-IR" sz="2400" dirty="0">
                <a:cs typeface="B Nazanin" pitchFamily="2" charset="-78"/>
              </a:rPr>
              <a:t>در ادامه این مراحل را بصورت تصویری مشاهده می فرمایید:</a:t>
            </a:r>
            <a:endParaRPr lang="en-US" sz="2400" dirty="0">
              <a:cs typeface="B Nazanin" pitchFamily="2" charset="-78"/>
            </a:endParaRPr>
          </a:p>
          <a:p>
            <a:pPr algn="r" rtl="1">
              <a:buNone/>
            </a:pPr>
            <a:endParaRPr lang="en-US" sz="2400" dirty="0">
              <a:cs typeface="B Nazanin" pitchFamily="2" charset="-78"/>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715962"/>
          </a:xfrm>
        </p:spPr>
        <p:txBody>
          <a:bodyPr>
            <a:normAutofit/>
          </a:bodyPr>
          <a:lstStyle/>
          <a:p>
            <a:pPr algn="r" rtl="1"/>
            <a:r>
              <a:rPr lang="fa-IR" sz="2400" dirty="0">
                <a:effectLst/>
                <a:cs typeface="B Nazanin" pitchFamily="2" charset="-78"/>
              </a:rPr>
              <a:t> 1. نصب شمعهاي موقت</a:t>
            </a:r>
            <a:endParaRPr lang="en-US" sz="2400" dirty="0">
              <a:effectLst/>
              <a:cs typeface="B Nazanin" pitchFamily="2" charset="-78"/>
            </a:endParaRPr>
          </a:p>
        </p:txBody>
      </p:sp>
      <p:pic>
        <p:nvPicPr>
          <p:cNvPr id="1026" name="Picture 2"/>
          <p:cNvPicPr>
            <a:picLocks noGrp="1" noChangeAspect="1" noChangeArrowheads="1"/>
          </p:cNvPicPr>
          <p:nvPr>
            <p:ph idx="1"/>
          </p:nvPr>
        </p:nvPicPr>
        <p:blipFill>
          <a:blip r:embed="rId2" cstate="print"/>
          <a:srcRect/>
          <a:stretch>
            <a:fillRect/>
          </a:stretch>
        </p:blipFill>
        <p:spPr bwMode="auto">
          <a:xfrm>
            <a:off x="1524000" y="1295400"/>
            <a:ext cx="7147997" cy="5212080"/>
          </a:xfrm>
          <a:prstGeom prst="rect">
            <a:avLst/>
          </a:prstGeom>
          <a:ln w="88900" cap="sq" cmpd="thickThin">
            <a:solidFill>
              <a:srgbClr val="000000"/>
            </a:solidFill>
            <a:prstDash val="solid"/>
            <a:miter lim="800000"/>
          </a:ln>
          <a:effectLst>
            <a:innerShdw blurRad="76200">
              <a:srgbClr val="000000"/>
            </a:inn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715962"/>
          </a:xfrm>
        </p:spPr>
        <p:txBody>
          <a:bodyPr>
            <a:normAutofit/>
          </a:bodyPr>
          <a:lstStyle/>
          <a:p>
            <a:pPr algn="r" rtl="1"/>
            <a:r>
              <a:rPr lang="fa-IR" sz="2400" dirty="0">
                <a:effectLst/>
                <a:cs typeface="B Nazanin" pitchFamily="2" charset="-78"/>
              </a:rPr>
              <a:t>2. مش بندي سفره آرماتورهاي زيرين</a:t>
            </a:r>
            <a:endParaRPr lang="en-US" sz="2400" dirty="0">
              <a:effectLst/>
              <a:cs typeface="B Nazanin" pitchFamily="2" charset="-78"/>
            </a:endParaRPr>
          </a:p>
        </p:txBody>
      </p:sp>
      <p:pic>
        <p:nvPicPr>
          <p:cNvPr id="2050" name="Picture 2"/>
          <p:cNvPicPr>
            <a:picLocks noGrp="1" noChangeAspect="1" noChangeArrowheads="1"/>
          </p:cNvPicPr>
          <p:nvPr>
            <p:ph idx="1"/>
          </p:nvPr>
        </p:nvPicPr>
        <p:blipFill>
          <a:blip r:embed="rId2" cstate="print"/>
          <a:srcRect/>
          <a:stretch>
            <a:fillRect/>
          </a:stretch>
        </p:blipFill>
        <p:spPr bwMode="auto">
          <a:xfrm>
            <a:off x="1524000" y="1295400"/>
            <a:ext cx="7162800" cy="5238757"/>
          </a:xfrm>
          <a:prstGeom prst="rect">
            <a:avLst/>
          </a:prstGeom>
          <a:ln w="88900" cap="sq" cmpd="thickThin">
            <a:solidFill>
              <a:srgbClr val="000000"/>
            </a:solidFill>
            <a:prstDash val="solid"/>
            <a:miter lim="800000"/>
          </a:ln>
          <a:effectLst>
            <a:innerShdw blurRad="76200">
              <a:srgbClr val="000000"/>
            </a:inn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715962"/>
          </a:xfrm>
        </p:spPr>
        <p:txBody>
          <a:bodyPr>
            <a:normAutofit/>
          </a:bodyPr>
          <a:lstStyle/>
          <a:p>
            <a:pPr algn="r" rtl="1"/>
            <a:r>
              <a:rPr lang="fa-IR" sz="2400" dirty="0">
                <a:effectLst/>
                <a:cs typeface="B Nazanin" pitchFamily="2" charset="-78"/>
              </a:rPr>
              <a:t>3. نصب كوبیاكس</a:t>
            </a:r>
            <a:r>
              <a:rPr lang="en-US" sz="2400" dirty="0">
                <a:effectLst/>
                <a:cs typeface="B Nazanin" pitchFamily="2" charset="-78"/>
              </a:rPr>
              <a:t> </a:t>
            </a:r>
            <a:r>
              <a:rPr lang="fa-IR" sz="2400" dirty="0">
                <a:effectLst/>
                <a:cs typeface="B Nazanin" pitchFamily="2" charset="-78"/>
              </a:rPr>
              <a:t>ها </a:t>
            </a:r>
            <a:endParaRPr lang="en-US" sz="2400" dirty="0">
              <a:effectLst/>
              <a:cs typeface="B Nazanin" pitchFamily="2" charset="-78"/>
            </a:endParaRPr>
          </a:p>
        </p:txBody>
      </p:sp>
      <p:pic>
        <p:nvPicPr>
          <p:cNvPr id="3074" name="Picture 2"/>
          <p:cNvPicPr>
            <a:picLocks noGrp="1" noChangeAspect="1" noChangeArrowheads="1"/>
          </p:cNvPicPr>
          <p:nvPr>
            <p:ph idx="1"/>
          </p:nvPr>
        </p:nvPicPr>
        <p:blipFill>
          <a:blip r:embed="rId2" cstate="print"/>
          <a:srcRect/>
          <a:stretch>
            <a:fillRect/>
          </a:stretch>
        </p:blipFill>
        <p:spPr bwMode="auto">
          <a:xfrm>
            <a:off x="1524000" y="1295400"/>
            <a:ext cx="7162800" cy="5257800"/>
          </a:xfrm>
          <a:prstGeom prst="rect">
            <a:avLst/>
          </a:prstGeom>
          <a:ln w="88900" cap="sq" cmpd="thickThin">
            <a:solidFill>
              <a:srgbClr val="000000"/>
            </a:solidFill>
            <a:prstDash val="solid"/>
            <a:miter lim="800000"/>
          </a:ln>
          <a:effectLst>
            <a:innerShdw blurRad="76200">
              <a:srgbClr val="000000"/>
            </a:inn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715962"/>
          </a:xfrm>
        </p:spPr>
        <p:txBody>
          <a:bodyPr>
            <a:normAutofit/>
          </a:bodyPr>
          <a:lstStyle/>
          <a:p>
            <a:pPr algn="r" rtl="1"/>
            <a:endParaRPr lang="en-US" sz="2400" dirty="0">
              <a:effectLst/>
              <a:cs typeface="B Nazanin" pitchFamily="2" charset="-78"/>
            </a:endParaRPr>
          </a:p>
        </p:txBody>
      </p:sp>
      <p:pic>
        <p:nvPicPr>
          <p:cNvPr id="4098" name="Picture 2"/>
          <p:cNvPicPr>
            <a:picLocks noGrp="1" noChangeAspect="1" noChangeArrowheads="1"/>
          </p:cNvPicPr>
          <p:nvPr>
            <p:ph idx="1"/>
          </p:nvPr>
        </p:nvPicPr>
        <p:blipFill>
          <a:blip r:embed="rId2" cstate="print"/>
          <a:srcRect/>
          <a:stretch>
            <a:fillRect/>
          </a:stretch>
        </p:blipFill>
        <p:spPr bwMode="auto">
          <a:xfrm>
            <a:off x="1524000" y="1447800"/>
            <a:ext cx="7177529" cy="5181600"/>
          </a:xfrm>
          <a:prstGeom prst="rect">
            <a:avLst/>
          </a:prstGeom>
          <a:ln w="88900" cap="sq" cmpd="thickThin">
            <a:solidFill>
              <a:srgbClr val="000000"/>
            </a:solidFill>
            <a:prstDash val="solid"/>
            <a:miter lim="800000"/>
          </a:ln>
          <a:effectLst>
            <a:innerShdw blurRad="76200">
              <a:srgbClr val="000000"/>
            </a:inn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715962"/>
          </a:xfrm>
        </p:spPr>
        <p:txBody>
          <a:bodyPr>
            <a:normAutofit/>
          </a:bodyPr>
          <a:lstStyle/>
          <a:p>
            <a:pPr algn="r" rtl="1"/>
            <a:r>
              <a:rPr lang="fa-IR" sz="2400" dirty="0">
                <a:effectLst/>
                <a:cs typeface="B Nazanin" pitchFamily="2" charset="-78"/>
              </a:rPr>
              <a:t>4. مشبندي سفره آرماتورهاي بالايي</a:t>
            </a:r>
            <a:endParaRPr lang="en-US" sz="2400" dirty="0">
              <a:effectLst/>
              <a:cs typeface="B Nazanin" pitchFamily="2" charset="-78"/>
            </a:endParaRPr>
          </a:p>
        </p:txBody>
      </p:sp>
      <p:pic>
        <p:nvPicPr>
          <p:cNvPr id="5122" name="Picture 2"/>
          <p:cNvPicPr>
            <a:picLocks noGrp="1" noChangeAspect="1" noChangeArrowheads="1"/>
          </p:cNvPicPr>
          <p:nvPr>
            <p:ph idx="1"/>
          </p:nvPr>
        </p:nvPicPr>
        <p:blipFill>
          <a:blip r:embed="rId2" cstate="print"/>
          <a:srcRect/>
          <a:stretch>
            <a:fillRect/>
          </a:stretch>
        </p:blipFill>
        <p:spPr bwMode="auto">
          <a:xfrm>
            <a:off x="1600200" y="1371600"/>
            <a:ext cx="7162800" cy="5200650"/>
          </a:xfrm>
          <a:prstGeom prst="rect">
            <a:avLst/>
          </a:prstGeom>
          <a:ln w="88900" cap="sq" cmpd="thickThin">
            <a:solidFill>
              <a:srgbClr val="000000"/>
            </a:solidFill>
            <a:prstDash val="solid"/>
            <a:miter lim="800000"/>
          </a:ln>
          <a:effectLst>
            <a:innerShdw blurRad="76200">
              <a:srgbClr val="000000"/>
            </a:innerShdw>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792162"/>
          </a:xfrm>
        </p:spPr>
        <p:txBody>
          <a:bodyPr>
            <a:normAutofit/>
          </a:bodyPr>
          <a:lstStyle/>
          <a:p>
            <a:pPr algn="r" rtl="1"/>
            <a:r>
              <a:rPr lang="fa-IR" sz="2400" dirty="0">
                <a:effectLst/>
                <a:cs typeface="B Nazanin" pitchFamily="2" charset="-78"/>
              </a:rPr>
              <a:t>5. بتن ريزي</a:t>
            </a:r>
            <a:endParaRPr lang="en-US" sz="2400" dirty="0">
              <a:effectLst/>
              <a:cs typeface="B Nazanin" pitchFamily="2" charset="-78"/>
            </a:endParaRPr>
          </a:p>
        </p:txBody>
      </p:sp>
      <p:pic>
        <p:nvPicPr>
          <p:cNvPr id="6146" name="Picture 2"/>
          <p:cNvPicPr>
            <a:picLocks noGrp="1" noChangeAspect="1" noChangeArrowheads="1"/>
          </p:cNvPicPr>
          <p:nvPr>
            <p:ph idx="1"/>
          </p:nvPr>
        </p:nvPicPr>
        <p:blipFill>
          <a:blip r:embed="rId2" cstate="print"/>
          <a:srcRect/>
          <a:stretch>
            <a:fillRect/>
          </a:stretch>
        </p:blipFill>
        <p:spPr bwMode="auto">
          <a:xfrm>
            <a:off x="1600200" y="1295400"/>
            <a:ext cx="7152597" cy="5248275"/>
          </a:xfrm>
          <a:prstGeom prst="rect">
            <a:avLst/>
          </a:prstGeom>
          <a:ln w="88900" cap="sq" cmpd="thickThin">
            <a:solidFill>
              <a:srgbClr val="000000"/>
            </a:solidFill>
            <a:prstDash val="solid"/>
            <a:miter lim="800000"/>
          </a:ln>
          <a:effectLst>
            <a:innerShdw blurRad="76200">
              <a:srgbClr val="000000"/>
            </a:innerShdw>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715962"/>
          </a:xfrm>
        </p:spPr>
        <p:txBody>
          <a:bodyPr>
            <a:normAutofit/>
          </a:bodyPr>
          <a:lstStyle/>
          <a:p>
            <a:pPr algn="r" rtl="1"/>
            <a:r>
              <a:rPr lang="fa-IR" sz="2400" dirty="0">
                <a:effectLst/>
                <a:cs typeface="B Nazanin" pitchFamily="2" charset="-78"/>
              </a:rPr>
              <a:t> 6. ويبره زدن بتن</a:t>
            </a:r>
            <a:endParaRPr lang="en-US" sz="2400" dirty="0">
              <a:effectLst/>
              <a:cs typeface="B Nazanin" pitchFamily="2" charset="-78"/>
            </a:endParaRPr>
          </a:p>
        </p:txBody>
      </p:sp>
      <p:pic>
        <p:nvPicPr>
          <p:cNvPr id="7170" name="Picture 2"/>
          <p:cNvPicPr>
            <a:picLocks noGrp="1" noChangeAspect="1" noChangeArrowheads="1"/>
          </p:cNvPicPr>
          <p:nvPr>
            <p:ph idx="1"/>
          </p:nvPr>
        </p:nvPicPr>
        <p:blipFill>
          <a:blip r:embed="rId2" cstate="print"/>
          <a:srcRect/>
          <a:stretch>
            <a:fillRect/>
          </a:stretch>
        </p:blipFill>
        <p:spPr bwMode="auto">
          <a:xfrm>
            <a:off x="1600200" y="1295400"/>
            <a:ext cx="7131392" cy="5230398"/>
          </a:xfrm>
          <a:prstGeom prst="rect">
            <a:avLst/>
          </a:prstGeom>
          <a:ln w="88900" cap="sq" cmpd="thickThin">
            <a:solidFill>
              <a:srgbClr val="000000"/>
            </a:solidFill>
            <a:prstDash val="solid"/>
            <a:miter lim="800000"/>
          </a:ln>
          <a:effectLst>
            <a:innerShdw blurRad="76200">
              <a:srgbClr val="000000"/>
            </a:innerShdw>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792162"/>
          </a:xfrm>
        </p:spPr>
        <p:txBody>
          <a:bodyPr>
            <a:normAutofit/>
          </a:bodyPr>
          <a:lstStyle/>
          <a:p>
            <a:pPr algn="r" rtl="1"/>
            <a:r>
              <a:rPr lang="fa-IR" sz="2400" dirty="0">
                <a:effectLst/>
                <a:cs typeface="B Nazanin" pitchFamily="2" charset="-78"/>
              </a:rPr>
              <a:t>7. سطح بتن ريزي شده تسطیح شده</a:t>
            </a:r>
            <a:endParaRPr lang="en-US" sz="2400" dirty="0">
              <a:effectLst/>
              <a:cs typeface="B Nazanin" pitchFamily="2" charset="-78"/>
            </a:endParaRPr>
          </a:p>
        </p:txBody>
      </p:sp>
      <p:pic>
        <p:nvPicPr>
          <p:cNvPr id="8194" name="Picture 2"/>
          <p:cNvPicPr>
            <a:picLocks noGrp="1" noChangeAspect="1" noChangeArrowheads="1"/>
          </p:cNvPicPr>
          <p:nvPr>
            <p:ph idx="1"/>
          </p:nvPr>
        </p:nvPicPr>
        <p:blipFill>
          <a:blip r:embed="rId2" cstate="print"/>
          <a:srcRect/>
          <a:stretch>
            <a:fillRect/>
          </a:stretch>
        </p:blipFill>
        <p:spPr bwMode="auto">
          <a:xfrm>
            <a:off x="1600200" y="1295400"/>
            <a:ext cx="7170456" cy="5257800"/>
          </a:xfrm>
          <a:prstGeom prst="rect">
            <a:avLst/>
          </a:prstGeom>
          <a:ln w="88900" cap="sq" cmpd="thickThin">
            <a:solidFill>
              <a:srgbClr val="000000"/>
            </a:solidFill>
            <a:prstDash val="solid"/>
            <a:miter lim="800000"/>
          </a:ln>
          <a:effectLst>
            <a:innerShdw blurRad="76200">
              <a:srgbClr val="000000"/>
            </a:innerShdw>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792162"/>
          </a:xfrm>
        </p:spPr>
        <p:txBody>
          <a:bodyPr>
            <a:normAutofit/>
          </a:bodyPr>
          <a:lstStyle/>
          <a:p>
            <a:pPr algn="r" rtl="1"/>
            <a:r>
              <a:rPr lang="fa-IR" sz="2400" dirty="0">
                <a:effectLst/>
                <a:cs typeface="B Nazanin" pitchFamily="2" charset="-78"/>
              </a:rPr>
              <a:t>8. نماي نهايي سقف</a:t>
            </a:r>
            <a:endParaRPr lang="en-US" sz="2400" dirty="0">
              <a:effectLst/>
              <a:cs typeface="B Nazanin" pitchFamily="2" charset="-78"/>
            </a:endParaRPr>
          </a:p>
        </p:txBody>
      </p:sp>
      <p:pic>
        <p:nvPicPr>
          <p:cNvPr id="9218" name="Picture 2"/>
          <p:cNvPicPr>
            <a:picLocks noGrp="1" noChangeAspect="1" noChangeArrowheads="1"/>
          </p:cNvPicPr>
          <p:nvPr>
            <p:ph idx="1"/>
          </p:nvPr>
        </p:nvPicPr>
        <p:blipFill>
          <a:blip r:embed="rId2" cstate="print"/>
          <a:srcRect/>
          <a:stretch>
            <a:fillRect/>
          </a:stretch>
        </p:blipFill>
        <p:spPr bwMode="auto">
          <a:xfrm>
            <a:off x="1676400" y="1219200"/>
            <a:ext cx="7124700" cy="5248275"/>
          </a:xfrm>
          <a:prstGeom prst="rect">
            <a:avLst/>
          </a:prstGeom>
          <a:ln w="88900" cap="sq" cmpd="thickThin">
            <a:solidFill>
              <a:srgbClr val="000000"/>
            </a:solidFill>
            <a:prstDash val="solid"/>
            <a:miter lim="800000"/>
          </a:ln>
          <a:effectLst>
            <a:innerShdw blurRad="76200">
              <a:srgbClr val="000000"/>
            </a:innerShdw>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r" rtl="1"/>
            <a:r>
              <a:rPr lang="fa-IR" sz="3600" b="1" dirty="0">
                <a:effectLst/>
                <a:cs typeface="B Nazanin" pitchFamily="2" charset="-78"/>
              </a:rPr>
              <a:t>مزاياي سقف كوبیاكس در مقايسه با دال بتني</a:t>
            </a:r>
            <a:endParaRPr lang="en-US" sz="3600" b="1" dirty="0">
              <a:effectLst/>
              <a:cs typeface="B Nazanin" pitchFamily="2" charset="-78"/>
            </a:endParaRPr>
          </a:p>
        </p:txBody>
      </p:sp>
      <p:sp>
        <p:nvSpPr>
          <p:cNvPr id="3" name="Content Placeholder 2"/>
          <p:cNvSpPr>
            <a:spLocks noGrp="1"/>
          </p:cNvSpPr>
          <p:nvPr>
            <p:ph idx="1"/>
          </p:nvPr>
        </p:nvSpPr>
        <p:spPr>
          <a:xfrm>
            <a:off x="990600" y="1447800"/>
            <a:ext cx="7943088" cy="5105400"/>
          </a:xfrm>
        </p:spPr>
        <p:txBody>
          <a:bodyPr>
            <a:normAutofit fontScale="92500" lnSpcReduction="20000"/>
          </a:bodyPr>
          <a:lstStyle/>
          <a:p>
            <a:pPr lvl="0" algn="r" rtl="1">
              <a:buNone/>
            </a:pPr>
            <a:r>
              <a:rPr lang="fa-IR" sz="2600" dirty="0">
                <a:cs typeface="B Nazanin" pitchFamily="2" charset="-78"/>
              </a:rPr>
              <a:t>1. صرفه جویی در مصالح مصرفی در سقف</a:t>
            </a:r>
            <a:endParaRPr lang="en-US" sz="2600" dirty="0">
              <a:cs typeface="B Nazanin" pitchFamily="2" charset="-78"/>
            </a:endParaRPr>
          </a:p>
          <a:p>
            <a:pPr lvl="0" algn="r" rtl="1">
              <a:buNone/>
            </a:pPr>
            <a:r>
              <a:rPr lang="fa-IR" sz="2600" dirty="0">
                <a:cs typeface="B Nazanin" pitchFamily="2" charset="-78"/>
              </a:rPr>
              <a:t>2. مقاومت در برابر زمین لرزه</a:t>
            </a:r>
            <a:endParaRPr lang="en-US" sz="2600" dirty="0">
              <a:cs typeface="B Nazanin" pitchFamily="2" charset="-78"/>
            </a:endParaRPr>
          </a:p>
          <a:p>
            <a:pPr algn="r" rtl="1">
              <a:buNone/>
            </a:pPr>
            <a:r>
              <a:rPr lang="fa-IR" sz="2600" dirty="0">
                <a:cs typeface="B Nazanin" pitchFamily="2" charset="-78"/>
              </a:rPr>
              <a:t>3. کاهش وزن سقف</a:t>
            </a:r>
          </a:p>
          <a:p>
            <a:pPr algn="r" rtl="1">
              <a:buNone/>
            </a:pPr>
            <a:r>
              <a:rPr lang="fa-IR" sz="2600" dirty="0">
                <a:cs typeface="B Nazanin" pitchFamily="2" charset="-78"/>
              </a:rPr>
              <a:t>4.</a:t>
            </a:r>
            <a:r>
              <a:rPr lang="fa-IR" sz="2600" b="1" dirty="0">
                <a:latin typeface="Tahoma"/>
                <a:ea typeface="Times New Roman"/>
                <a:cs typeface="B Nazanin"/>
              </a:rPr>
              <a:t> </a:t>
            </a:r>
            <a:r>
              <a:rPr lang="fa-IR" sz="2600" dirty="0">
                <a:latin typeface="Tahoma"/>
                <a:ea typeface="Times New Roman"/>
                <a:cs typeface="B Nazanin"/>
              </a:rPr>
              <a:t>كاهش ارتفاع كلي ساختمان با سیستم كوبیاكس(که در نتیجه آن گود برداری کمتری انجام می شود. شکل</a:t>
            </a:r>
            <a:r>
              <a:rPr lang="en-US" sz="2600" dirty="0">
                <a:latin typeface="Tahoma"/>
                <a:ea typeface="Times New Roman"/>
                <a:cs typeface="B Nazanin"/>
              </a:rPr>
              <a:t>I</a:t>
            </a:r>
            <a:r>
              <a:rPr lang="fa-IR" sz="2600" dirty="0">
                <a:latin typeface="Tahoma"/>
                <a:ea typeface="Times New Roman"/>
                <a:cs typeface="B Nazanin"/>
              </a:rPr>
              <a:t>)</a:t>
            </a:r>
          </a:p>
          <a:p>
            <a:pPr algn="r" rtl="1">
              <a:buNone/>
            </a:pPr>
            <a:r>
              <a:rPr lang="fa-IR" sz="2600" dirty="0">
                <a:latin typeface="Tahoma"/>
                <a:cs typeface="B Nazanin"/>
              </a:rPr>
              <a:t>5. </a:t>
            </a:r>
            <a:r>
              <a:rPr lang="fa-IR" sz="2600" dirty="0">
                <a:latin typeface="Tahoma"/>
                <a:ea typeface="Times New Roman"/>
                <a:cs typeface="B Nazanin"/>
              </a:rPr>
              <a:t>مقاومت در برابر آتش</a:t>
            </a:r>
          </a:p>
          <a:p>
            <a:pPr algn="r" rtl="1">
              <a:buNone/>
            </a:pPr>
            <a:r>
              <a:rPr lang="fa-IR" sz="2600" dirty="0">
                <a:latin typeface="Tahoma"/>
                <a:cs typeface="B Nazanin"/>
              </a:rPr>
              <a:t>6. </a:t>
            </a:r>
            <a:r>
              <a:rPr lang="fa-IR" sz="2600" dirty="0">
                <a:latin typeface="Tahoma"/>
                <a:ea typeface="Times New Roman"/>
                <a:cs typeface="B Nazanin"/>
              </a:rPr>
              <a:t>برای هر ترکیب دلخواه دهانه و ضخامت ، دال مجوف کوبیاکس ، 5 تا 16درصد ارزانتر از دال توپر تمام میشود .</a:t>
            </a:r>
          </a:p>
          <a:p>
            <a:pPr algn="r" rtl="1">
              <a:buNone/>
            </a:pPr>
            <a:r>
              <a:rPr lang="fa-IR" sz="2600" dirty="0">
                <a:latin typeface="Tahoma"/>
                <a:cs typeface="B Nazanin"/>
              </a:rPr>
              <a:t>7. </a:t>
            </a:r>
            <a:r>
              <a:rPr lang="fa-IR" sz="2600" dirty="0">
                <a:latin typeface="Tahoma"/>
                <a:ea typeface="Times New Roman"/>
                <a:cs typeface="B Nazanin"/>
              </a:rPr>
              <a:t>نتایج مطالعات و آزمایش های صورت پذیرفته تصدیق می نماید که این سیستم سازه ای </a:t>
            </a:r>
            <a:r>
              <a:rPr lang="fa-IR" sz="2600" b="1" dirty="0">
                <a:latin typeface="Tahoma"/>
                <a:ea typeface="Times New Roman"/>
                <a:cs typeface="B Nazanin"/>
              </a:rPr>
              <a:t>توزیع بار</a:t>
            </a:r>
            <a:r>
              <a:rPr lang="fa-IR" sz="2600" dirty="0">
                <a:latin typeface="Tahoma"/>
                <a:ea typeface="Times New Roman"/>
                <a:cs typeface="B Nazanin"/>
              </a:rPr>
              <a:t> را به نحو بهتر و بهینه تری از انواع دیگر دال های مجوف صورت می دهد . به علت داشتن ساختار و رفتار سه بعدی و هدایت جریان بار کره های پلاستیکی تو خالی هیچ اثر منفی نداشته و باعث </a:t>
            </a:r>
            <a:r>
              <a:rPr lang="fa-IR" sz="2600" b="1" dirty="0">
                <a:latin typeface="Tahoma"/>
                <a:ea typeface="Times New Roman"/>
                <a:cs typeface="B Nazanin"/>
              </a:rPr>
              <a:t>هیچگونه اتلاف مقاومتی</a:t>
            </a:r>
            <a:r>
              <a:rPr lang="fa-IR" sz="2600" dirty="0">
                <a:latin typeface="Tahoma"/>
                <a:ea typeface="Times New Roman"/>
                <a:cs typeface="B Nazanin"/>
              </a:rPr>
              <a:t> نمی گردد</a:t>
            </a:r>
            <a:r>
              <a:rPr lang="fa-IR" sz="2600" i="1" dirty="0">
                <a:latin typeface="Tahoma"/>
                <a:ea typeface="Times New Roman"/>
                <a:cs typeface="B Nazanin"/>
              </a:rPr>
              <a:t>.</a:t>
            </a:r>
            <a:r>
              <a:rPr lang="fa-IR" sz="2600" dirty="0">
                <a:latin typeface="Tahoma"/>
                <a:ea typeface="Times New Roman"/>
                <a:cs typeface="B Nazanin"/>
              </a:rPr>
              <a:t> تجربیات عملی ، تاثیر مثبت توپ ها را در فرآیند گیرش بتن نشان می دهد.</a:t>
            </a:r>
            <a:endParaRPr lang="en-US" sz="2600" dirty="0">
              <a:cs typeface="B Nazanin" pitchFamily="2" charset="-78"/>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533400"/>
            <a:ext cx="7943088" cy="5715000"/>
          </a:xfrm>
        </p:spPr>
        <p:txBody>
          <a:bodyPr>
            <a:normAutofit/>
          </a:bodyPr>
          <a:lstStyle/>
          <a:p>
            <a:pPr lvl="0" algn="r" rtl="1">
              <a:buNone/>
            </a:pPr>
            <a:r>
              <a:rPr lang="fa-IR" sz="2400" dirty="0">
                <a:cs typeface="B Nazanin" pitchFamily="2" charset="-78"/>
              </a:rPr>
              <a:t>8. توپ های پلاستیکی مشابه افزودنی های پلاستیکی بتن ، عمل می کنند</a:t>
            </a:r>
            <a:endParaRPr lang="en-US" sz="2400" dirty="0">
              <a:cs typeface="B Nazanin" pitchFamily="2" charset="-78"/>
            </a:endParaRPr>
          </a:p>
          <a:p>
            <a:pPr lvl="0" algn="r" rtl="1">
              <a:buNone/>
            </a:pPr>
            <a:r>
              <a:rPr lang="fa-IR" sz="2400" dirty="0">
                <a:cs typeface="B Nazanin" pitchFamily="2" charset="-78"/>
              </a:rPr>
              <a:t>9. مقاومت و رفتار خمشی</a:t>
            </a:r>
            <a:endParaRPr lang="en-US" sz="2400" dirty="0">
              <a:cs typeface="B Nazanin" pitchFamily="2" charset="-78"/>
            </a:endParaRPr>
          </a:p>
          <a:p>
            <a:pPr lvl="0" algn="r" rtl="1">
              <a:buNone/>
            </a:pPr>
            <a:r>
              <a:rPr lang="fa-IR" sz="2400" dirty="0">
                <a:cs typeface="B Nazanin" pitchFamily="2" charset="-78"/>
              </a:rPr>
              <a:t>10. مقاومت برشی</a:t>
            </a:r>
            <a:endParaRPr lang="en-US" sz="2400" dirty="0">
              <a:cs typeface="B Nazanin" pitchFamily="2" charset="-78"/>
            </a:endParaRPr>
          </a:p>
          <a:p>
            <a:pPr lvl="0" algn="r" rtl="1">
              <a:buNone/>
            </a:pPr>
            <a:r>
              <a:rPr lang="fa-IR" sz="2400" dirty="0">
                <a:cs typeface="B Nazanin" pitchFamily="2" charset="-78"/>
              </a:rPr>
              <a:t>11. خزش</a:t>
            </a:r>
            <a:endParaRPr lang="en-US" sz="2400" dirty="0">
              <a:cs typeface="B Nazanin" pitchFamily="2" charset="-78"/>
            </a:endParaRPr>
          </a:p>
          <a:p>
            <a:pPr lvl="0" algn="r" rtl="1">
              <a:buNone/>
            </a:pPr>
            <a:r>
              <a:rPr lang="fa-IR" sz="2400" dirty="0">
                <a:cs typeface="B Nazanin" pitchFamily="2" charset="-78"/>
              </a:rPr>
              <a:t>12. کاهش هزینه های حمل و نقل</a:t>
            </a:r>
            <a:endParaRPr lang="en-US" sz="2400" dirty="0">
              <a:cs typeface="B Nazanin" pitchFamily="2" charset="-78"/>
            </a:endParaRPr>
          </a:p>
          <a:p>
            <a:pPr lvl="0" algn="r" rtl="1">
              <a:buNone/>
            </a:pPr>
            <a:r>
              <a:rPr lang="fa-IR" sz="2400" dirty="0">
                <a:cs typeface="B Nazanin" pitchFamily="2" charset="-78"/>
              </a:rPr>
              <a:t>13. زمان کوتاهتر ساخت(20%تا40%)</a:t>
            </a:r>
            <a:endParaRPr lang="en-US" sz="2400" dirty="0">
              <a:cs typeface="B Nazanin" pitchFamily="2" charset="-78"/>
            </a:endParaRPr>
          </a:p>
          <a:p>
            <a:pPr lvl="0" algn="r" rtl="1">
              <a:buNone/>
            </a:pPr>
            <a:r>
              <a:rPr lang="fa-IR" sz="2400" dirty="0">
                <a:cs typeface="B Nazanin" pitchFamily="2" charset="-78"/>
              </a:rPr>
              <a:t>14. عمر مفید و طولانی تر ساختمان</a:t>
            </a:r>
            <a:endParaRPr lang="en-US" sz="2400" dirty="0">
              <a:cs typeface="B Nazanin" pitchFamily="2" charset="-78"/>
            </a:endParaRPr>
          </a:p>
          <a:p>
            <a:pPr lvl="0" algn="r" rtl="1">
              <a:buNone/>
            </a:pPr>
            <a:r>
              <a:rPr lang="fa-IR" sz="2400" dirty="0">
                <a:cs typeface="B Nazanin" pitchFamily="2" charset="-78"/>
              </a:rPr>
              <a:t>15. در مقایسه به عمل آمده بین این نوع دال و دال توپر ، این نتیجه حاصل شده است که </a:t>
            </a:r>
            <a:r>
              <a:rPr lang="fa-IR" sz="2400" b="1" dirty="0">
                <a:cs typeface="B Nazanin" pitchFamily="2" charset="-78"/>
              </a:rPr>
              <a:t>قابلیت عایق صوتی بودن </a:t>
            </a:r>
            <a:r>
              <a:rPr lang="fa-IR" sz="2400" dirty="0">
                <a:cs typeface="B Nazanin" pitchFamily="2" charset="-78"/>
              </a:rPr>
              <a:t>این بیشتر از دال توپر می باشد. (مهم ترین علت این امر وجود فضای مجوف در </a:t>
            </a:r>
            <a:r>
              <a:rPr lang="en-US" sz="2400" i="1" dirty="0">
                <a:cs typeface="B Nazanin" pitchFamily="2" charset="-78"/>
              </a:rPr>
              <a:t>db </a:t>
            </a:r>
            <a:r>
              <a:rPr lang="fa-IR" sz="2400" dirty="0">
                <a:cs typeface="B Nazanin" pitchFamily="2" charset="-78"/>
              </a:rPr>
              <a:t>نوع دال ، دست کم به میزان المانهای میانی این نوع دال می باشد.)</a:t>
            </a:r>
            <a:endParaRPr lang="en-US" sz="2400" dirty="0">
              <a:cs typeface="B Nazanin" pitchFamily="2" charset="-78"/>
            </a:endParaRPr>
          </a:p>
          <a:p>
            <a:pPr algn="r" rtl="1">
              <a:buNone/>
            </a:pPr>
            <a:endParaRPr lang="en-US" sz="2400" dirty="0">
              <a:cs typeface="B Nazanin" pitchFamily="2" charset="-78"/>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r" rtl="1"/>
            <a:r>
              <a:rPr lang="fa-IR" sz="2400" dirty="0">
                <a:effectLst/>
                <a:cs typeface="B Nazanin" pitchFamily="2" charset="-78"/>
              </a:rPr>
              <a:t>شکل(</a:t>
            </a:r>
            <a:r>
              <a:rPr lang="en-US" sz="2400" dirty="0">
                <a:effectLst/>
                <a:cs typeface="B Nazanin" pitchFamily="2" charset="-78"/>
              </a:rPr>
              <a:t>I</a:t>
            </a:r>
            <a:r>
              <a:rPr lang="fa-IR" sz="2400" dirty="0">
                <a:effectLst/>
                <a:cs typeface="B Nazanin" pitchFamily="2" charset="-78"/>
              </a:rPr>
              <a:t>)</a:t>
            </a:r>
            <a:endParaRPr lang="en-US" sz="2400" dirty="0">
              <a:effectLst/>
              <a:cs typeface="B Nazanin" pitchFamily="2" charset="-78"/>
            </a:endParaRPr>
          </a:p>
        </p:txBody>
      </p:sp>
      <p:pic>
        <p:nvPicPr>
          <p:cNvPr id="34818" name="Picture 2"/>
          <p:cNvPicPr>
            <a:picLocks noGrp="1" noChangeAspect="1" noChangeArrowheads="1"/>
          </p:cNvPicPr>
          <p:nvPr>
            <p:ph idx="1"/>
          </p:nvPr>
        </p:nvPicPr>
        <p:blipFill>
          <a:blip r:embed="rId2" cstate="print"/>
          <a:srcRect/>
          <a:stretch>
            <a:fillRect/>
          </a:stretch>
        </p:blipFill>
        <p:spPr bwMode="auto">
          <a:xfrm>
            <a:off x="1865211" y="381000"/>
            <a:ext cx="5836596" cy="6096000"/>
          </a:xfrm>
          <a:prstGeom prst="rect">
            <a:avLst/>
          </a:prstGeom>
          <a:ln w="88900" cap="sq" cmpd="thickThin">
            <a:solidFill>
              <a:srgbClr val="000000"/>
            </a:solidFill>
            <a:prstDash val="solid"/>
            <a:miter lim="800000"/>
          </a:ln>
          <a:effectLst>
            <a:innerShdw blurRad="76200">
              <a:srgbClr val="000000"/>
            </a:innerShdw>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r" rtl="1"/>
            <a:r>
              <a:rPr lang="fa-IR" sz="3600" b="1" dirty="0">
                <a:effectLst/>
                <a:cs typeface="B Nazanin" pitchFamily="2" charset="-78"/>
              </a:rPr>
              <a:t>تاریخچه یوبوت</a:t>
            </a:r>
            <a:endParaRPr lang="en-US" sz="3600" b="1" dirty="0">
              <a:effectLst/>
              <a:cs typeface="B Nazanin" pitchFamily="2" charset="-78"/>
            </a:endParaRPr>
          </a:p>
        </p:txBody>
      </p:sp>
      <p:sp>
        <p:nvSpPr>
          <p:cNvPr id="3" name="Content Placeholder 2"/>
          <p:cNvSpPr>
            <a:spLocks noGrp="1"/>
          </p:cNvSpPr>
          <p:nvPr>
            <p:ph idx="1"/>
          </p:nvPr>
        </p:nvSpPr>
        <p:spPr>
          <a:xfrm>
            <a:off x="990600" y="1447800"/>
            <a:ext cx="7943088" cy="4800600"/>
          </a:xfrm>
        </p:spPr>
        <p:txBody>
          <a:bodyPr>
            <a:normAutofit/>
          </a:bodyPr>
          <a:lstStyle/>
          <a:p>
            <a:pPr algn="r" rtl="1">
              <a:buNone/>
            </a:pPr>
            <a:r>
              <a:rPr lang="fa-IR" sz="2400" dirty="0">
                <a:latin typeface="Tahoma"/>
                <a:ea typeface="Times New Roman"/>
                <a:cs typeface="B Nazanin" pitchFamily="2" charset="-78"/>
              </a:rPr>
              <a:t>در اواخر قرن بیستم میلادی، مهندسین ایتالیایی با تحقیق بر روی سقف های مختلف به ویژه دالهای بتنی</a:t>
            </a:r>
            <a:r>
              <a:rPr lang="fa-IR" sz="2400" dirty="0">
                <a:ea typeface="Times New Roman"/>
                <a:cs typeface="B Nazanin" pitchFamily="2" charset="-78"/>
              </a:rPr>
              <a:t> </a:t>
            </a:r>
            <a:r>
              <a:rPr lang="fa-IR" sz="2400" dirty="0">
                <a:latin typeface="Tahoma"/>
                <a:ea typeface="Times New Roman"/>
                <a:cs typeface="B Nazanin" pitchFamily="2" charset="-78"/>
              </a:rPr>
              <a:t> به جهت </a:t>
            </a:r>
            <a:r>
              <a:rPr lang="fa-IR" sz="2400" b="1" dirty="0">
                <a:latin typeface="Tahoma"/>
                <a:ea typeface="Times New Roman"/>
                <a:cs typeface="B Nazanin" pitchFamily="2" charset="-78"/>
              </a:rPr>
              <a:t>بهینه سازی آن و رسیدن به مقاومت مناسب</a:t>
            </a:r>
            <a:r>
              <a:rPr lang="fa-IR" sz="2400" dirty="0">
                <a:latin typeface="Tahoma"/>
                <a:ea typeface="Times New Roman"/>
                <a:cs typeface="B Nazanin" pitchFamily="2" charset="-78"/>
              </a:rPr>
              <a:t> </a:t>
            </a:r>
            <a:r>
              <a:rPr lang="fa-IR" sz="2400" b="1" dirty="0">
                <a:latin typeface="Tahoma"/>
                <a:ea typeface="Times New Roman"/>
                <a:cs typeface="B Nazanin" pitchFamily="2" charset="-78"/>
              </a:rPr>
              <a:t>در برابر زلزله </a:t>
            </a:r>
            <a:r>
              <a:rPr lang="fa-IR" sz="2400" dirty="0">
                <a:latin typeface="Tahoma"/>
                <a:ea typeface="Times New Roman"/>
                <a:cs typeface="B Nazanin" pitchFamily="2" charset="-78"/>
              </a:rPr>
              <a:t>و همچنين </a:t>
            </a:r>
            <a:r>
              <a:rPr lang="fa-IR" sz="2400" b="1" dirty="0">
                <a:latin typeface="Tahoma"/>
                <a:ea typeface="Times New Roman"/>
                <a:cs typeface="B Nazanin" pitchFamily="2" charset="-78"/>
              </a:rPr>
              <a:t>استفاده از دهانه های بلند و کاهش مصرف آرماتور و بتن</a:t>
            </a:r>
            <a:r>
              <a:rPr lang="fa-IR" sz="2400" dirty="0">
                <a:latin typeface="Tahoma"/>
                <a:ea typeface="Times New Roman"/>
                <a:cs typeface="B Nazanin" pitchFamily="2" charset="-78"/>
              </a:rPr>
              <a:t>، سیستم دال مجوف یوبوت را ابداع و به دنیا معرفی کردند و باتوجه به مزایای بارز آن، در كشورهاي مختلف جهان بويژه كشورهاي اروپائي مورد استقبال گسترده اي قرار گرفته و در سال 87 پس از ورود به ایران، در مرکز تحقیقات ساختمان و مسکن وزارت راه و شهرسازی مورد بررسی قرار گرفته و موفق به اخذ تاییدیه فنی از آن مرکز شده است و تا کنون در بیش از 1/000/000 متر مربع سقف ساختمانهای مختلف دراقصی نقاط کشور از دال مجوف یوبوت استفاده شده است.</a:t>
            </a:r>
            <a:endParaRPr lang="en-US" sz="2400" dirty="0">
              <a:cs typeface="B Nazanin" pitchFamily="2" charset="-78"/>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r" rtl="1"/>
            <a:r>
              <a:rPr lang="fa-IR" sz="3600" b="1" dirty="0">
                <a:effectLst/>
                <a:cs typeface="B Nazanin" pitchFamily="2" charset="-78"/>
              </a:rPr>
              <a:t>مفهوم سیستم دال مجوف یوبوت</a:t>
            </a:r>
            <a:endParaRPr lang="en-US" sz="3600" b="1" dirty="0">
              <a:effectLst/>
              <a:cs typeface="B Nazanin" pitchFamily="2" charset="-78"/>
            </a:endParaRPr>
          </a:p>
        </p:txBody>
      </p:sp>
      <p:sp>
        <p:nvSpPr>
          <p:cNvPr id="3" name="Content Placeholder 2"/>
          <p:cNvSpPr>
            <a:spLocks noGrp="1"/>
          </p:cNvSpPr>
          <p:nvPr>
            <p:ph idx="1"/>
          </p:nvPr>
        </p:nvSpPr>
        <p:spPr>
          <a:xfrm>
            <a:off x="990600" y="1447800"/>
            <a:ext cx="7943088" cy="4800600"/>
          </a:xfrm>
        </p:spPr>
        <p:txBody>
          <a:bodyPr>
            <a:noAutofit/>
          </a:bodyPr>
          <a:lstStyle/>
          <a:p>
            <a:pPr algn="r" rtl="1">
              <a:buNone/>
            </a:pPr>
            <a:r>
              <a:rPr lang="fa-IR" sz="2400" dirty="0">
                <a:cs typeface="B Nazanin" pitchFamily="2" charset="-78"/>
              </a:rPr>
              <a:t>امروزه از دالهای تخت بتنی با آرماتورگذاری معمولی می توان در دهانه های بزرگ استفاده نمود . تغییرات جدید انجام شده در آیین نامه های طراحی و امکان استفاده از تکنولوژی های جدید باعث کاهش وزن دال و هزینه های اجرایی آن شده است. برخی از پیشرفت های انجام شده در زمینه تکنولوژی بتن مسلح و دلایل اجرای دال های تخت بتنی در دهانه های بلند به ترتیب زیر می باشد: </a:t>
            </a:r>
            <a:br>
              <a:rPr lang="fa-IR" sz="2400" dirty="0">
                <a:cs typeface="B Nazanin" pitchFamily="2" charset="-78"/>
              </a:rPr>
            </a:br>
            <a:r>
              <a:rPr lang="fa-IR" sz="2400" dirty="0">
                <a:cs typeface="B Nazanin" pitchFamily="2" charset="-78"/>
              </a:rPr>
              <a:t>- استفاده از آرماتورهای فولادی با مقاومت بالا</a:t>
            </a:r>
            <a:br>
              <a:rPr lang="fa-IR" sz="2400" dirty="0">
                <a:cs typeface="B Nazanin" pitchFamily="2" charset="-78"/>
              </a:rPr>
            </a:br>
            <a:r>
              <a:rPr lang="fa-IR" sz="2400" dirty="0">
                <a:cs typeface="B Nazanin" pitchFamily="2" charset="-78"/>
              </a:rPr>
              <a:t>- استفاده از آرماتور منفی در وجه فوقانی دال به منظور کاهش تغییر شکل ها در دال های چند دهانه</a:t>
            </a:r>
            <a:br>
              <a:rPr lang="fa-IR" sz="2400" dirty="0">
                <a:cs typeface="B Nazanin" pitchFamily="2" charset="-78"/>
              </a:rPr>
            </a:br>
            <a:r>
              <a:rPr lang="fa-IR" sz="2400" dirty="0">
                <a:cs typeface="B Nazanin" pitchFamily="2" charset="-78"/>
              </a:rPr>
              <a:t>- استفاده از بتن مقاومت بالا در دال ها </a:t>
            </a:r>
            <a:br>
              <a:rPr lang="fa-IR" sz="2400" dirty="0">
                <a:cs typeface="B Nazanin" pitchFamily="2" charset="-78"/>
              </a:rPr>
            </a:br>
            <a:endParaRPr lang="en-US" sz="2400" dirty="0">
              <a:cs typeface="B Nazanin" pitchFamily="2" charset="-78"/>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533400"/>
            <a:ext cx="7943088" cy="5715000"/>
          </a:xfrm>
        </p:spPr>
        <p:txBody>
          <a:bodyPr>
            <a:noAutofit/>
          </a:bodyPr>
          <a:lstStyle/>
          <a:p>
            <a:pPr algn="r" rtl="1">
              <a:buNone/>
            </a:pPr>
            <a:r>
              <a:rPr lang="fa-IR" sz="2400" dirty="0">
                <a:cs typeface="B Nazanin" pitchFamily="2" charset="-78"/>
              </a:rPr>
              <a:t>- استفاده از سیستم های قالب بندی جدید که علاوه بر امکان ایجاد هندسه دلخواه دال، باعث کاهش هزینه های اجرایی نیز می گردد. </a:t>
            </a:r>
            <a:br>
              <a:rPr lang="fa-IR" sz="2400" dirty="0">
                <a:cs typeface="B Nazanin" pitchFamily="2" charset="-78"/>
              </a:rPr>
            </a:br>
            <a:r>
              <a:rPr lang="fa-IR" sz="2400" dirty="0">
                <a:cs typeface="B Nazanin" pitchFamily="2" charset="-78"/>
              </a:rPr>
              <a:t>یک طراح می تواند با توجه به وجود انواع سیستم های سقف بتن آرمه، سیستم سقف مناسب و اقتصادی را انتخاب کند. در انتخاب سیستم سقف بتن آرمه، علاوه بر اقتصاد طرح می بایست به نکات زیر توجه داشت: </a:t>
            </a:r>
            <a:br>
              <a:rPr lang="fa-IR" sz="2400" dirty="0">
                <a:cs typeface="B Nazanin" pitchFamily="2" charset="-78"/>
              </a:rPr>
            </a:br>
            <a:r>
              <a:rPr lang="fa-IR" sz="2400" dirty="0">
                <a:cs typeface="B Nazanin" pitchFamily="2" charset="-78"/>
              </a:rPr>
              <a:t>1. سقف باید مقاومت کافی در برابر بارهای اعمال شده را داشته باشد.</a:t>
            </a:r>
            <a:br>
              <a:rPr lang="fa-IR" sz="2400" dirty="0">
                <a:cs typeface="B Nazanin" pitchFamily="2" charset="-78"/>
              </a:rPr>
            </a:br>
            <a:r>
              <a:rPr lang="fa-IR" sz="2400" dirty="0">
                <a:cs typeface="B Nazanin" pitchFamily="2" charset="-78"/>
              </a:rPr>
              <a:t>2. به منظور محدود نمودن مقادیر تغییر شکل ها تحت بارگذاری های دایم و غیر دایم می بایست سختی مورد نیاز دال فراهم گردد. </a:t>
            </a:r>
            <a:br>
              <a:rPr lang="fa-IR" sz="2400" dirty="0">
                <a:cs typeface="B Nazanin" pitchFamily="2" charset="-78"/>
              </a:rPr>
            </a:br>
            <a:r>
              <a:rPr lang="fa-IR" sz="2400" dirty="0">
                <a:cs typeface="B Nazanin" pitchFamily="2" charset="-78"/>
              </a:rPr>
              <a:t>3. با افزایش ابعاد دهانه ها، معیار سختی از اهمیت بیشتری برخوردار می شود. در این حالت امکان دارد به جای معیار مقاومت، معیار سختی تعیین کننده ابعاد اصلی باشد.</a:t>
            </a:r>
            <a:br>
              <a:rPr lang="fa-IR" sz="2400" dirty="0">
                <a:cs typeface="B Nazanin" pitchFamily="2" charset="-78"/>
              </a:rPr>
            </a:br>
            <a:endParaRPr lang="en-US" sz="2400" dirty="0">
              <a:cs typeface="B Nazanin" pitchFamily="2" charset="-78"/>
            </a:endParaRPr>
          </a:p>
          <a:p>
            <a:pPr algn="r" rtl="1">
              <a:buNone/>
            </a:pPr>
            <a:endParaRPr lang="en-US" sz="2400" dirty="0">
              <a:cs typeface="B Nazanin" pitchFamily="2" charset="-78"/>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609600"/>
            <a:ext cx="7943088" cy="5638800"/>
          </a:xfrm>
        </p:spPr>
        <p:txBody>
          <a:bodyPr>
            <a:noAutofit/>
          </a:bodyPr>
          <a:lstStyle/>
          <a:p>
            <a:pPr algn="r" rtl="1">
              <a:buNone/>
            </a:pPr>
            <a:r>
              <a:rPr lang="fa-IR" sz="2400" dirty="0">
                <a:solidFill>
                  <a:prstClr val="black"/>
                </a:solidFill>
                <a:cs typeface="B Nazanin" pitchFamily="2" charset="-78"/>
              </a:rPr>
              <a:t>همانطور که اشاره شد با افزایش سختی دال می توان دهانه های بیشتری را پوشش داد. این امر که به یاری سیستم های قالب بندی امکان پذیر شده است باعث ایجاد دال های متفاوت با سختی های متفاوت می گردد که برخی از آنها عبارتند از: </a:t>
            </a:r>
            <a:br>
              <a:rPr lang="fa-IR" sz="2400" dirty="0">
                <a:solidFill>
                  <a:prstClr val="black"/>
                </a:solidFill>
                <a:cs typeface="B Nazanin" pitchFamily="2" charset="-78"/>
              </a:rPr>
            </a:br>
            <a:r>
              <a:rPr lang="fa-IR" sz="2400" dirty="0">
                <a:solidFill>
                  <a:prstClr val="black"/>
                </a:solidFill>
                <a:cs typeface="B Nazanin" pitchFamily="2" charset="-78"/>
              </a:rPr>
              <a:t>- دال تخت</a:t>
            </a:r>
            <a:br>
              <a:rPr lang="fa-IR" sz="2400" dirty="0">
                <a:solidFill>
                  <a:prstClr val="black"/>
                </a:solidFill>
                <a:cs typeface="B Nazanin" pitchFamily="2" charset="-78"/>
              </a:rPr>
            </a:br>
            <a:r>
              <a:rPr lang="fa-IR" sz="2400" dirty="0">
                <a:solidFill>
                  <a:prstClr val="black"/>
                </a:solidFill>
                <a:cs typeface="B Nazanin" pitchFamily="2" charset="-78"/>
              </a:rPr>
              <a:t>- دال تخت کتیبه دار (قارچی)</a:t>
            </a:r>
            <a:br>
              <a:rPr lang="fa-IR" sz="2400" dirty="0">
                <a:solidFill>
                  <a:prstClr val="black"/>
                </a:solidFill>
                <a:cs typeface="B Nazanin" pitchFamily="2" charset="-78"/>
              </a:rPr>
            </a:br>
            <a:r>
              <a:rPr lang="fa-IR" sz="2400" dirty="0">
                <a:solidFill>
                  <a:prstClr val="black"/>
                </a:solidFill>
                <a:cs typeface="B Nazanin" pitchFamily="2" charset="-78"/>
              </a:rPr>
              <a:t>- دال با تیرهای فرعی</a:t>
            </a:r>
            <a:br>
              <a:rPr lang="fa-IR" sz="2400" dirty="0">
                <a:solidFill>
                  <a:prstClr val="black"/>
                </a:solidFill>
                <a:cs typeface="B Nazanin" pitchFamily="2" charset="-78"/>
              </a:rPr>
            </a:br>
            <a:r>
              <a:rPr lang="fa-IR" sz="2400" dirty="0">
                <a:solidFill>
                  <a:prstClr val="black"/>
                </a:solidFill>
                <a:cs typeface="B Nazanin" pitchFamily="2" charset="-78"/>
              </a:rPr>
              <a:t>- دال مجوف </a:t>
            </a:r>
            <a:br>
              <a:rPr lang="fa-IR" sz="2400" dirty="0">
                <a:solidFill>
                  <a:prstClr val="black"/>
                </a:solidFill>
                <a:cs typeface="B Nazanin" pitchFamily="2" charset="-78"/>
              </a:rPr>
            </a:br>
            <a:r>
              <a:rPr lang="fa-IR" sz="2400" dirty="0">
                <a:solidFill>
                  <a:prstClr val="black"/>
                </a:solidFill>
                <a:cs typeface="B Nazanin" pitchFamily="2" charset="-78"/>
              </a:rPr>
              <a:t>در دالهای مجوف، استفاده از یک شبکه تیر متعامد در زیر دال اصلی، باعث کاهش حجم بتن ریزی، آرماتورگذاری و در عین حال کاهش وزن سقف می گردد. با این وجود در این سیستم </a:t>
            </a:r>
            <a:r>
              <a:rPr lang="fa-IR" sz="2400" b="1" dirty="0">
                <a:solidFill>
                  <a:prstClr val="black"/>
                </a:solidFill>
                <a:cs typeface="B Nazanin" pitchFamily="2" charset="-78"/>
              </a:rPr>
              <a:t>سختی مقطع دال افزایش می یابد</a:t>
            </a:r>
            <a:r>
              <a:rPr lang="fa-IR" sz="2400" dirty="0">
                <a:solidFill>
                  <a:prstClr val="black"/>
                </a:solidFill>
                <a:cs typeface="B Nazanin" pitchFamily="2" charset="-78"/>
              </a:rPr>
              <a:t>. این افزایش سختی به دلیل ایجاد مقطع </a:t>
            </a:r>
            <a:r>
              <a:rPr lang="en-US" sz="2400" dirty="0">
                <a:solidFill>
                  <a:prstClr val="black"/>
                </a:solidFill>
                <a:cs typeface="B Nazanin" pitchFamily="2" charset="-78"/>
              </a:rPr>
              <a:t>T</a:t>
            </a:r>
            <a:r>
              <a:rPr lang="fa-IR" sz="2400" dirty="0">
                <a:solidFill>
                  <a:prstClr val="black"/>
                </a:solidFill>
                <a:cs typeface="B Nazanin" pitchFamily="2" charset="-78"/>
              </a:rPr>
              <a:t> شکل در دال می باشد. دال مجوف دوپوش (یوبوت) نیز با الهام از دالهای مجوف و با تغییر مقطع از </a:t>
            </a:r>
            <a:r>
              <a:rPr lang="en-US" sz="2400" dirty="0">
                <a:solidFill>
                  <a:prstClr val="black"/>
                </a:solidFill>
                <a:cs typeface="B Nazanin" pitchFamily="2" charset="-78"/>
              </a:rPr>
              <a:t>T</a:t>
            </a:r>
            <a:r>
              <a:rPr lang="fa-IR" sz="2400" dirty="0">
                <a:solidFill>
                  <a:prstClr val="black"/>
                </a:solidFill>
                <a:cs typeface="B Nazanin" pitchFamily="2" charset="-78"/>
              </a:rPr>
              <a:t> به </a:t>
            </a:r>
            <a:r>
              <a:rPr lang="en-US" sz="2400" dirty="0">
                <a:solidFill>
                  <a:prstClr val="black"/>
                </a:solidFill>
                <a:cs typeface="B Nazanin" pitchFamily="2" charset="-78"/>
              </a:rPr>
              <a:t>I</a:t>
            </a:r>
            <a:r>
              <a:rPr lang="fa-IR" sz="2400" dirty="0">
                <a:solidFill>
                  <a:prstClr val="black"/>
                </a:solidFill>
                <a:cs typeface="B Nazanin" pitchFamily="2" charset="-78"/>
              </a:rPr>
              <a:t> و در نتیجه افزایش بیشتر سختی دال بوجود آمده است.</a:t>
            </a:r>
            <a:br>
              <a:rPr lang="fa-IR" sz="2400" dirty="0">
                <a:solidFill>
                  <a:prstClr val="black"/>
                </a:solidFill>
                <a:cs typeface="B Nazanin" pitchFamily="2" charset="-78"/>
              </a:rPr>
            </a:br>
            <a:endParaRPr lang="en-US" sz="2400" dirty="0">
              <a:cs typeface="B Nazanin" pitchFamily="2" charset="-78"/>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35608" y="685800"/>
            <a:ext cx="7498080" cy="2057400"/>
          </a:xfrm>
        </p:spPr>
        <p:txBody>
          <a:bodyPr>
            <a:normAutofit/>
          </a:bodyPr>
          <a:lstStyle/>
          <a:p>
            <a:pPr algn="r" rtl="1">
              <a:buNone/>
            </a:pPr>
            <a:r>
              <a:rPr lang="fa-IR" sz="2400" dirty="0">
                <a:solidFill>
                  <a:prstClr val="black"/>
                </a:solidFill>
                <a:cs typeface="B Nazanin" pitchFamily="2" charset="-78"/>
              </a:rPr>
              <a:t>این فن آوری که در سال 1388 به تایید مرکز تحقیقات ساختمان و مسکن رسیده است از ترکیب نوآورانه بتن، میلگرد و قالب هایی ازجنس پلی پروپیلن ساخته شده و با قرارگیری این قالب ها در میان بتن و حذف بتن ناکارآمد علاوه بر کاهش وزن دال و مصرف بتن باعث افزایش سختی دال می گردد.</a:t>
            </a:r>
            <a:endParaRPr lang="en-US" sz="2400" dirty="0">
              <a:cs typeface="B Nazanin" pitchFamily="2" charset="-78"/>
            </a:endParaRPr>
          </a:p>
          <a:p>
            <a:pPr algn="r" rtl="1">
              <a:buNone/>
            </a:pPr>
            <a:endParaRPr lang="en-US" sz="2400" dirty="0">
              <a:cs typeface="B Nazanin" pitchFamily="2" charset="-78"/>
            </a:endParaRPr>
          </a:p>
        </p:txBody>
      </p:sp>
      <p:pic>
        <p:nvPicPr>
          <p:cNvPr id="35843" name="Picture 3"/>
          <p:cNvPicPr>
            <a:picLocks noChangeAspect="1" noChangeArrowheads="1"/>
          </p:cNvPicPr>
          <p:nvPr/>
        </p:nvPicPr>
        <p:blipFill>
          <a:blip r:embed="rId2" cstate="print"/>
          <a:srcRect/>
          <a:stretch>
            <a:fillRect/>
          </a:stretch>
        </p:blipFill>
        <p:spPr bwMode="auto">
          <a:xfrm>
            <a:off x="1219200" y="3138055"/>
            <a:ext cx="7760237" cy="2590800"/>
          </a:xfrm>
          <a:prstGeom prst="rect">
            <a:avLst/>
          </a:prstGeom>
          <a:noFill/>
          <a:ln w="9525">
            <a:noFill/>
            <a:miter lim="800000"/>
            <a:headEnd/>
            <a:tailEnd/>
          </a:ln>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868362"/>
          </a:xfrm>
        </p:spPr>
        <p:txBody>
          <a:bodyPr>
            <a:noAutofit/>
          </a:bodyPr>
          <a:lstStyle/>
          <a:p>
            <a:pPr algn="r" rtl="1"/>
            <a:r>
              <a:rPr lang="fa-IR" sz="2400" dirty="0">
                <a:effectLst/>
                <a:cs typeface="B Nazanin" pitchFamily="2" charset="-78"/>
              </a:rPr>
              <a:t>مقطع فونداسیون و دال مجوف دوپوش پس از بتن ریزی به شکل زیر خواهد بود </a:t>
            </a:r>
            <a:endParaRPr lang="en-US" sz="2400" dirty="0">
              <a:effectLst/>
              <a:cs typeface="B Nazanin" pitchFamily="2" charset="-78"/>
            </a:endParaRPr>
          </a:p>
        </p:txBody>
      </p:sp>
      <p:sp>
        <p:nvSpPr>
          <p:cNvPr id="3" name="Content Placeholder 2"/>
          <p:cNvSpPr>
            <a:spLocks noGrp="1"/>
          </p:cNvSpPr>
          <p:nvPr>
            <p:ph idx="1"/>
          </p:nvPr>
        </p:nvSpPr>
        <p:spPr>
          <a:xfrm>
            <a:off x="990600" y="2743200"/>
            <a:ext cx="7943088" cy="1676400"/>
          </a:xfrm>
        </p:spPr>
        <p:txBody>
          <a:bodyPr>
            <a:normAutofit/>
          </a:bodyPr>
          <a:lstStyle/>
          <a:p>
            <a:pPr algn="r" rtl="1">
              <a:buNone/>
            </a:pPr>
            <a:r>
              <a:rPr lang="fa-IR" sz="2400" dirty="0">
                <a:cs typeface="B Nazanin" pitchFamily="2" charset="-78"/>
              </a:rPr>
              <a:t>همچنین ضخامت تمام شده این دال ها با توجه به دهانه ها و بارگذاری های مختلف، متفاوت است. در جدول زیر مشخصات اولیه برای دهانه های مختلف ارایه شده است. اطلاعات این جدول به صورت تقریبی بوده و برای بدست آوردن ضخامت دقیق نیاز به محاسبات سازه ای می باشد</a:t>
            </a:r>
            <a:endParaRPr lang="en-US" sz="2400" dirty="0">
              <a:cs typeface="B Nazanin" pitchFamily="2" charset="-78"/>
            </a:endParaRPr>
          </a:p>
        </p:txBody>
      </p:sp>
      <p:pic>
        <p:nvPicPr>
          <p:cNvPr id="36867" name="Picture 3"/>
          <p:cNvPicPr>
            <a:picLocks noChangeAspect="1" noChangeArrowheads="1"/>
          </p:cNvPicPr>
          <p:nvPr/>
        </p:nvPicPr>
        <p:blipFill>
          <a:blip r:embed="rId2" cstate="print"/>
          <a:srcRect/>
          <a:stretch>
            <a:fillRect/>
          </a:stretch>
        </p:blipFill>
        <p:spPr bwMode="auto">
          <a:xfrm>
            <a:off x="1109662" y="1267691"/>
            <a:ext cx="7848600" cy="1368416"/>
          </a:xfrm>
          <a:prstGeom prst="rect">
            <a:avLst/>
          </a:prstGeom>
          <a:noFill/>
          <a:ln w="9525">
            <a:noFill/>
            <a:miter lim="800000"/>
            <a:headEnd/>
            <a:tailEnd/>
          </a:ln>
          <a:effectLst/>
        </p:spPr>
      </p:pic>
      <p:pic>
        <p:nvPicPr>
          <p:cNvPr id="36868" name="Picture 4"/>
          <p:cNvPicPr>
            <a:picLocks noChangeAspect="1" noChangeArrowheads="1"/>
          </p:cNvPicPr>
          <p:nvPr/>
        </p:nvPicPr>
        <p:blipFill>
          <a:blip r:embed="rId3" cstate="print"/>
          <a:srcRect/>
          <a:stretch>
            <a:fillRect/>
          </a:stretch>
        </p:blipFill>
        <p:spPr bwMode="auto">
          <a:xfrm>
            <a:off x="1219200" y="4343400"/>
            <a:ext cx="7620000" cy="2295525"/>
          </a:xfrm>
          <a:prstGeom prst="rect">
            <a:avLst/>
          </a:prstGeom>
          <a:noFill/>
          <a:ln w="9525">
            <a:noFill/>
            <a:miter lim="800000"/>
            <a:headEnd/>
            <a:tailEnd/>
          </a:ln>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r" rtl="1"/>
            <a:r>
              <a:rPr lang="fa-IR" sz="3600" b="1" dirty="0">
                <a:effectLst/>
                <a:cs typeface="B Nazanin" pitchFamily="2" charset="-78"/>
              </a:rPr>
              <a:t>مزایای سیستم یوبوت </a:t>
            </a:r>
            <a:endParaRPr lang="en-US" sz="3600" b="1" dirty="0">
              <a:effectLst/>
              <a:cs typeface="B Nazanin" pitchFamily="2" charset="-78"/>
            </a:endParaRPr>
          </a:p>
        </p:txBody>
      </p:sp>
      <p:sp>
        <p:nvSpPr>
          <p:cNvPr id="3" name="Content Placeholder 2"/>
          <p:cNvSpPr>
            <a:spLocks noGrp="1"/>
          </p:cNvSpPr>
          <p:nvPr>
            <p:ph idx="1"/>
          </p:nvPr>
        </p:nvSpPr>
        <p:spPr>
          <a:xfrm>
            <a:off x="990600" y="1447800"/>
            <a:ext cx="7943088" cy="2514600"/>
          </a:xfrm>
        </p:spPr>
        <p:txBody>
          <a:bodyPr>
            <a:normAutofit/>
          </a:bodyPr>
          <a:lstStyle/>
          <a:p>
            <a:pPr marL="596646" indent="-514350" algn="r" rtl="1">
              <a:buNone/>
            </a:pPr>
            <a:r>
              <a:rPr lang="fa-IR" sz="2800" dirty="0">
                <a:solidFill>
                  <a:schemeClr val="tx2"/>
                </a:solidFill>
                <a:cs typeface="B Nazanin" pitchFamily="2" charset="-78"/>
              </a:rPr>
              <a:t>1.ایجاد دهانه های بزرگتر و کنسول های بلندتر </a:t>
            </a:r>
          </a:p>
          <a:p>
            <a:pPr marL="596646" indent="-514350" algn="r" rtl="1">
              <a:buNone/>
            </a:pPr>
            <a:r>
              <a:rPr lang="fa-IR" sz="2400" dirty="0">
                <a:cs typeface="B Nazanin" pitchFamily="2" charset="-78"/>
              </a:rPr>
              <a:t>استفاده از این تکنولوژی باعث می گردد تا علاوه بر کاهش وزن سقف، سختی آن نیز افزایش بیابد که این امر ایجاد دهانه های بزرگتر و کنسول های بلندتر را امکان پذیر می نماید. این افزایش دهانه باعث آزادی عمل بیشتر در طرح معماری و ایجاد فضاهای خلاقانه، فضاهای باز تجاری، تآمین پارکینگ بیشتر و ... می گردد.</a:t>
            </a:r>
            <a:endParaRPr lang="en-US" sz="2400" dirty="0">
              <a:cs typeface="B Nazanin" pitchFamily="2" charset="-78"/>
            </a:endParaRPr>
          </a:p>
          <a:p>
            <a:pPr marL="596646" indent="-514350" algn="r" rtl="1">
              <a:buNone/>
            </a:pPr>
            <a:endParaRPr lang="fa-IR" sz="2400" dirty="0">
              <a:cs typeface="B Nazanin" pitchFamily="2" charset="-78"/>
            </a:endParaRPr>
          </a:p>
        </p:txBody>
      </p:sp>
      <p:pic>
        <p:nvPicPr>
          <p:cNvPr id="37890" name="Picture 2"/>
          <p:cNvPicPr>
            <a:picLocks noChangeAspect="1" noChangeArrowheads="1"/>
          </p:cNvPicPr>
          <p:nvPr/>
        </p:nvPicPr>
        <p:blipFill>
          <a:blip r:embed="rId2" cstate="print"/>
          <a:srcRect/>
          <a:stretch>
            <a:fillRect/>
          </a:stretch>
        </p:blipFill>
        <p:spPr bwMode="auto">
          <a:xfrm>
            <a:off x="1447800" y="3962400"/>
            <a:ext cx="7086600" cy="2667000"/>
          </a:xfrm>
          <a:prstGeom prst="rect">
            <a:avLst/>
          </a:prstGeom>
          <a:ln w="88900" cap="sq" cmpd="thickThin">
            <a:solidFill>
              <a:srgbClr val="000000"/>
            </a:solidFill>
            <a:prstDash val="solid"/>
            <a:miter lim="800000"/>
          </a:ln>
          <a:effectLst>
            <a:innerShdw blurRad="76200">
              <a:srgbClr val="000000"/>
            </a:innerShdw>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0"/>
            <a:ext cx="7498080" cy="868362"/>
          </a:xfrm>
        </p:spPr>
        <p:txBody>
          <a:bodyPr>
            <a:normAutofit/>
          </a:bodyPr>
          <a:lstStyle/>
          <a:p>
            <a:pPr algn="r" rtl="1"/>
            <a:r>
              <a:rPr lang="fa-IR" sz="2800" dirty="0">
                <a:effectLst/>
                <a:cs typeface="B Nazanin" pitchFamily="2" charset="-78"/>
              </a:rPr>
              <a:t>2.کاهش میزان انتقال صوت، حرارت و لرزش</a:t>
            </a:r>
            <a:endParaRPr lang="en-US" sz="2800" dirty="0">
              <a:effectLst/>
              <a:cs typeface="B Nazanin" pitchFamily="2" charset="-78"/>
            </a:endParaRPr>
          </a:p>
        </p:txBody>
      </p:sp>
      <p:sp>
        <p:nvSpPr>
          <p:cNvPr id="3" name="Content Placeholder 2"/>
          <p:cNvSpPr>
            <a:spLocks noGrp="1"/>
          </p:cNvSpPr>
          <p:nvPr>
            <p:ph idx="1"/>
          </p:nvPr>
        </p:nvSpPr>
        <p:spPr>
          <a:xfrm>
            <a:off x="990600" y="990600"/>
            <a:ext cx="7955280" cy="5181600"/>
          </a:xfrm>
        </p:spPr>
        <p:txBody>
          <a:bodyPr>
            <a:noAutofit/>
          </a:bodyPr>
          <a:lstStyle/>
          <a:p>
            <a:pPr algn="r" rtl="1">
              <a:buNone/>
            </a:pPr>
            <a:r>
              <a:rPr lang="fa-IR" sz="2400" dirty="0">
                <a:cs typeface="B Nazanin" pitchFamily="2" charset="-78"/>
              </a:rPr>
              <a:t>با توجه به </a:t>
            </a:r>
            <a:r>
              <a:rPr lang="fa-IR" sz="2400" b="1" dirty="0">
                <a:cs typeface="B Nazanin" pitchFamily="2" charset="-78"/>
              </a:rPr>
              <a:t>افزایش سختی دال </a:t>
            </a:r>
            <a:r>
              <a:rPr lang="fa-IR" sz="2400" dirty="0">
                <a:cs typeface="B Nazanin" pitchFamily="2" charset="-78"/>
              </a:rPr>
              <a:t>در استفاده از این تکنولوژی، لرزش این نوع سقف ها نسبت به دال های بتن آرمه معمولی کمتر بوده و باعث اطمینان خاطر بیشتر برای ساکنین می گردد. همچنین </a:t>
            </a:r>
            <a:r>
              <a:rPr lang="fa-IR" sz="2400" b="1" dirty="0">
                <a:cs typeface="B Nazanin" pitchFamily="2" charset="-78"/>
              </a:rPr>
              <a:t>به دلیل وجود حفره های خالی در سقف</a:t>
            </a:r>
            <a:r>
              <a:rPr lang="fa-IR" sz="2400" dirty="0">
                <a:cs typeface="B Nazanin" pitchFamily="2" charset="-78"/>
              </a:rPr>
              <a:t>، انتقال صوت و حرارت به نحو چشمگیری کاهش می یابد.</a:t>
            </a:r>
            <a:endParaRPr lang="en-US" sz="2400" dirty="0">
              <a:cs typeface="B Nazanin" pitchFamily="2" charset="-78"/>
            </a:endParaRPr>
          </a:p>
          <a:p>
            <a:pPr algn="r" rtl="1">
              <a:buNone/>
            </a:pPr>
            <a:endParaRPr lang="fa-IR" sz="2800" dirty="0">
              <a:cs typeface="B Nazanin" pitchFamily="2" charset="-78"/>
            </a:endParaRPr>
          </a:p>
          <a:p>
            <a:pPr algn="r" rtl="1">
              <a:buNone/>
            </a:pPr>
            <a:r>
              <a:rPr lang="fa-IR" sz="2800" dirty="0">
                <a:cs typeface="B Nazanin" pitchFamily="2" charset="-78"/>
              </a:rPr>
              <a:t>3</a:t>
            </a:r>
            <a:r>
              <a:rPr lang="fa-IR" sz="2800" dirty="0">
                <a:solidFill>
                  <a:schemeClr val="tx2"/>
                </a:solidFill>
                <a:cs typeface="B Nazanin" pitchFamily="2" charset="-78"/>
              </a:rPr>
              <a:t>. امکان حذف تیرها و ایجاد دال تخت </a:t>
            </a:r>
            <a:endParaRPr lang="en-US" sz="2800" dirty="0">
              <a:solidFill>
                <a:schemeClr val="tx2"/>
              </a:solidFill>
              <a:cs typeface="B Nazanin" pitchFamily="2" charset="-78"/>
            </a:endParaRPr>
          </a:p>
          <a:p>
            <a:pPr algn="r" rtl="1">
              <a:buNone/>
            </a:pPr>
            <a:r>
              <a:rPr lang="fa-IR" sz="2400" dirty="0">
                <a:cs typeface="B Nazanin" pitchFamily="2" charset="-78"/>
              </a:rPr>
              <a:t>با استفاده از این تکنولوژی می توان تیرهای موجود در سازه را در صورت وجود دیوار برشی در سازه های بیشتر از 3 طبقه و یا 10 متر، حذف نمود. حذف تیرها باعث ایجاد مزایای زیر می گردد:</a:t>
            </a:r>
            <a:br>
              <a:rPr lang="fa-IR" sz="2400" dirty="0">
                <a:cs typeface="B Nazanin" pitchFamily="2" charset="-78"/>
              </a:rPr>
            </a:br>
            <a:r>
              <a:rPr lang="fa-IR" sz="2400" dirty="0">
                <a:cs typeface="B Nazanin" pitchFamily="2" charset="-78"/>
              </a:rPr>
              <a:t>-افزایش ارتفاع مفید طبقات</a:t>
            </a:r>
            <a:br>
              <a:rPr lang="fa-IR" sz="2400" dirty="0">
                <a:cs typeface="B Nazanin" pitchFamily="2" charset="-78"/>
              </a:rPr>
            </a:br>
            <a:r>
              <a:rPr lang="fa-IR" sz="2400" dirty="0">
                <a:cs typeface="B Nazanin" pitchFamily="2" charset="-78"/>
              </a:rPr>
              <a:t>-کاهش میزان عملیات قالب بندی، آرماتوربندی و بتن ریزی به نسبت دال بتنی معمولی</a:t>
            </a:r>
            <a:br>
              <a:rPr lang="fa-IR" sz="2400" dirty="0">
                <a:cs typeface="B Nazanin" pitchFamily="2" charset="-78"/>
              </a:rPr>
            </a:br>
            <a:r>
              <a:rPr lang="fa-IR" sz="2400" dirty="0">
                <a:cs typeface="B Nazanin" pitchFamily="2" charset="-78"/>
              </a:rPr>
              <a:t>-عبور راحت تر تاسیسات از زیر سقف</a:t>
            </a:r>
            <a:br>
              <a:rPr lang="fa-IR" sz="2400" dirty="0">
                <a:cs typeface="B Nazanin" pitchFamily="2" charset="-78"/>
              </a:rPr>
            </a:br>
            <a:r>
              <a:rPr lang="fa-IR" sz="2400" dirty="0">
                <a:cs typeface="B Nazanin" pitchFamily="2" charset="-78"/>
              </a:rPr>
              <a:t>-امکان حذف سقف کاذب در صورت هماهنگی با تاسیسات</a:t>
            </a:r>
            <a:endParaRPr lang="en-US" sz="2400" dirty="0">
              <a:cs typeface="B Nazanin" pitchFamily="2" charset="-78"/>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p:cNvPicPr>
          <p:nvPr>
            <p:ph idx="1"/>
          </p:nvPr>
        </p:nvPicPr>
        <p:blipFill>
          <a:blip r:embed="rId2" cstate="print"/>
          <a:srcRect/>
          <a:stretch>
            <a:fillRect/>
          </a:stretch>
        </p:blipFill>
        <p:spPr bwMode="auto">
          <a:xfrm>
            <a:off x="1524000" y="533400"/>
            <a:ext cx="7010400" cy="5791200"/>
          </a:xfrm>
          <a:prstGeom prst="rect">
            <a:avLst/>
          </a:prstGeom>
          <a:ln w="88900" cap="sq" cmpd="thickThin">
            <a:solidFill>
              <a:srgbClr val="000000"/>
            </a:solidFill>
            <a:prstDash val="solid"/>
            <a:miter lim="800000"/>
          </a:ln>
          <a:effectLst>
            <a:innerShdw blurRad="76200">
              <a:srgbClr val="000000"/>
            </a:innerShdw>
          </a:effec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792162"/>
          </a:xfrm>
        </p:spPr>
        <p:txBody>
          <a:bodyPr>
            <a:normAutofit/>
          </a:bodyPr>
          <a:lstStyle/>
          <a:p>
            <a:pPr algn="r" rtl="1"/>
            <a:r>
              <a:rPr lang="fa-IR" sz="2400" dirty="0">
                <a:effectLst/>
                <a:cs typeface="B Nazanin" pitchFamily="2" charset="-78"/>
              </a:rPr>
              <a:t>4. بهبود عملکرد لرزه ای </a:t>
            </a:r>
            <a:endParaRPr lang="en-US" sz="2400" dirty="0">
              <a:effectLst/>
              <a:cs typeface="B Nazanin" pitchFamily="2" charset="-78"/>
            </a:endParaRPr>
          </a:p>
        </p:txBody>
      </p:sp>
      <p:sp>
        <p:nvSpPr>
          <p:cNvPr id="3" name="Content Placeholder 2"/>
          <p:cNvSpPr>
            <a:spLocks noGrp="1"/>
          </p:cNvSpPr>
          <p:nvPr>
            <p:ph idx="1"/>
          </p:nvPr>
        </p:nvSpPr>
        <p:spPr>
          <a:xfrm>
            <a:off x="990600" y="1143000"/>
            <a:ext cx="7955280" cy="4800600"/>
          </a:xfrm>
        </p:spPr>
        <p:txBody>
          <a:bodyPr>
            <a:normAutofit/>
          </a:bodyPr>
          <a:lstStyle/>
          <a:p>
            <a:pPr algn="r" rtl="1">
              <a:buNone/>
            </a:pPr>
            <a:r>
              <a:rPr lang="fa-IR" sz="2400" dirty="0">
                <a:cs typeface="B Nazanin" pitchFamily="2" charset="-78"/>
              </a:rPr>
              <a:t>سیستم های دال بتنی نسبت به دیگر سیستم های پوشش سقف، دیافراگم یکپارچه تری تشکیل می دهند که باعث بهبود عملکرد لرزه ای ساختمان می گردد.</a:t>
            </a:r>
            <a:endParaRPr lang="en-US" sz="2400" dirty="0">
              <a:cs typeface="B Nazanin" pitchFamily="2" charset="-78"/>
            </a:endParaRPr>
          </a:p>
          <a:p>
            <a:pPr algn="r" rtl="1">
              <a:buNone/>
            </a:pPr>
            <a:r>
              <a:rPr lang="fa-IR" sz="2400" dirty="0">
                <a:cs typeface="B Nazanin" pitchFamily="2" charset="-78"/>
              </a:rPr>
              <a:t>امکان ایجاد شکل ها و بازشوهای بزرگ و نامنظم در سقف </a:t>
            </a:r>
            <a:endParaRPr lang="en-US" sz="2400" dirty="0">
              <a:cs typeface="B Nazanin" pitchFamily="2" charset="-78"/>
            </a:endParaRPr>
          </a:p>
          <a:p>
            <a:pPr algn="r" rtl="1">
              <a:buNone/>
            </a:pPr>
            <a:r>
              <a:rPr lang="fa-IR" sz="2400" dirty="0">
                <a:cs typeface="B Nazanin" pitchFamily="2" charset="-78"/>
              </a:rPr>
              <a:t>با توجه به حذف تیرها و افزایش سختی سقف، آزادی عمل بیشتری در ایجاد اشکال و بازشوهای بزرگ و نامنظم روی سقف وجود دارد. البته باید توجه داشت که شکل و ابعاد این بازشوها در طراحی سازه لحاظ گردد.</a:t>
            </a:r>
            <a:endParaRPr lang="en-US" sz="2400" dirty="0">
              <a:cs typeface="B Nazanin" pitchFamily="2" charset="-78"/>
            </a:endParaRPr>
          </a:p>
          <a:p>
            <a:pPr algn="r" rtl="1">
              <a:buNone/>
            </a:pPr>
            <a:endParaRPr lang="en-US" sz="2400" dirty="0">
              <a:cs typeface="B Nazanin" pitchFamily="2" charset="-78"/>
            </a:endParaRPr>
          </a:p>
        </p:txBody>
      </p:sp>
      <p:pic>
        <p:nvPicPr>
          <p:cNvPr id="38914" name="Picture 2"/>
          <p:cNvPicPr>
            <a:picLocks noChangeAspect="1" noChangeArrowheads="1"/>
          </p:cNvPicPr>
          <p:nvPr/>
        </p:nvPicPr>
        <p:blipFill>
          <a:blip r:embed="rId2" cstate="print"/>
          <a:srcRect/>
          <a:stretch>
            <a:fillRect/>
          </a:stretch>
        </p:blipFill>
        <p:spPr bwMode="auto">
          <a:xfrm>
            <a:off x="1905000" y="3810000"/>
            <a:ext cx="6324600" cy="2819400"/>
          </a:xfrm>
          <a:prstGeom prst="rect">
            <a:avLst/>
          </a:prstGeom>
          <a:ln w="88900" cap="sq" cmpd="thickThin">
            <a:solidFill>
              <a:srgbClr val="000000"/>
            </a:solidFill>
            <a:prstDash val="solid"/>
            <a:miter lim="800000"/>
          </a:ln>
          <a:effectLst>
            <a:innerShdw blurRad="76200">
              <a:srgbClr val="000000"/>
            </a:innerShdw>
          </a:effec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868362"/>
          </a:xfrm>
        </p:spPr>
        <p:txBody>
          <a:bodyPr>
            <a:normAutofit/>
          </a:bodyPr>
          <a:lstStyle/>
          <a:p>
            <a:pPr algn="r" rtl="1"/>
            <a:r>
              <a:rPr lang="fa-IR" sz="2400" dirty="0">
                <a:effectLst/>
                <a:cs typeface="B Nazanin" pitchFamily="2" charset="-78"/>
              </a:rPr>
              <a:t>5. امکان ستون گذاری نامنظم </a:t>
            </a:r>
            <a:endParaRPr lang="en-US" sz="2400" dirty="0">
              <a:effectLst/>
              <a:cs typeface="B Nazanin" pitchFamily="2" charset="-78"/>
            </a:endParaRPr>
          </a:p>
        </p:txBody>
      </p:sp>
      <p:sp>
        <p:nvSpPr>
          <p:cNvPr id="3" name="Content Placeholder 2"/>
          <p:cNvSpPr>
            <a:spLocks noGrp="1"/>
          </p:cNvSpPr>
          <p:nvPr>
            <p:ph idx="1"/>
          </p:nvPr>
        </p:nvSpPr>
        <p:spPr>
          <a:xfrm>
            <a:off x="990600" y="1371600"/>
            <a:ext cx="7943088" cy="1295400"/>
          </a:xfrm>
        </p:spPr>
        <p:txBody>
          <a:bodyPr>
            <a:normAutofit/>
          </a:bodyPr>
          <a:lstStyle/>
          <a:p>
            <a:pPr algn="r" rtl="1">
              <a:buNone/>
            </a:pPr>
            <a:r>
              <a:rPr lang="fa-IR" sz="2400" dirty="0">
                <a:cs typeface="B Nazanin" pitchFamily="2" charset="-78"/>
              </a:rPr>
              <a:t>برخلاف سازه های بتنی معمولی که ستون گذاری معمولا از آکس بندی منظم پیروی می کند، در این سیستم امکان ستون گذاری به صورت نا منظم وجود دارد که در طرح های معماری حایز اهمیت است.</a:t>
            </a:r>
            <a:endParaRPr lang="en-US" sz="2400" dirty="0">
              <a:cs typeface="B Nazanin" pitchFamily="2" charset="-78"/>
            </a:endParaRPr>
          </a:p>
          <a:p>
            <a:pPr algn="r" rtl="1">
              <a:buNone/>
            </a:pPr>
            <a:endParaRPr lang="en-US" sz="2400" dirty="0">
              <a:cs typeface="B Nazanin" pitchFamily="2" charset="-78"/>
            </a:endParaRPr>
          </a:p>
        </p:txBody>
      </p:sp>
      <p:pic>
        <p:nvPicPr>
          <p:cNvPr id="39938" name="Picture 2"/>
          <p:cNvPicPr>
            <a:picLocks noChangeAspect="1" noChangeArrowheads="1"/>
          </p:cNvPicPr>
          <p:nvPr/>
        </p:nvPicPr>
        <p:blipFill>
          <a:blip r:embed="rId2" cstate="print"/>
          <a:srcRect/>
          <a:stretch>
            <a:fillRect/>
          </a:stretch>
        </p:blipFill>
        <p:spPr bwMode="auto">
          <a:xfrm>
            <a:off x="1828800" y="2819400"/>
            <a:ext cx="6477000" cy="3733800"/>
          </a:xfrm>
          <a:prstGeom prst="rect">
            <a:avLst/>
          </a:prstGeom>
          <a:ln w="88900" cap="sq" cmpd="thickThin">
            <a:solidFill>
              <a:srgbClr val="000000"/>
            </a:solidFill>
            <a:prstDash val="solid"/>
            <a:miter lim="800000"/>
          </a:ln>
          <a:effectLst>
            <a:innerShdw blurRad="76200">
              <a:srgbClr val="000000"/>
            </a:innerShdw>
          </a:effec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r" rtl="1"/>
            <a:r>
              <a:rPr lang="fa-IR" sz="3600" b="1" dirty="0">
                <a:effectLst/>
                <a:cs typeface="B Nazanin" pitchFamily="2" charset="-78"/>
              </a:rPr>
              <a:t>روش اجرا </a:t>
            </a:r>
            <a:endParaRPr lang="en-US" sz="3600" b="1" dirty="0">
              <a:effectLst/>
              <a:cs typeface="B Nazanin" pitchFamily="2" charset="-78"/>
            </a:endParaRPr>
          </a:p>
        </p:txBody>
      </p:sp>
      <p:sp>
        <p:nvSpPr>
          <p:cNvPr id="3" name="Content Placeholder 2"/>
          <p:cNvSpPr>
            <a:spLocks noGrp="1"/>
          </p:cNvSpPr>
          <p:nvPr>
            <p:ph idx="1"/>
          </p:nvPr>
        </p:nvSpPr>
        <p:spPr>
          <a:xfrm>
            <a:off x="990600" y="1447800"/>
            <a:ext cx="7943088" cy="1676400"/>
          </a:xfrm>
        </p:spPr>
        <p:txBody>
          <a:bodyPr>
            <a:normAutofit lnSpcReduction="10000"/>
          </a:bodyPr>
          <a:lstStyle/>
          <a:p>
            <a:pPr lvl="0" algn="r" rtl="1">
              <a:buNone/>
            </a:pPr>
            <a:r>
              <a:rPr lang="fa-IR" sz="2800" dirty="0">
                <a:cs typeface="B Nazanin" pitchFamily="2" charset="-78"/>
              </a:rPr>
              <a:t>1. بستن قالب تخت زیرین دال </a:t>
            </a:r>
            <a:endParaRPr lang="en-US" sz="2800" dirty="0">
              <a:cs typeface="B Nazanin" pitchFamily="2" charset="-78"/>
            </a:endParaRPr>
          </a:p>
          <a:p>
            <a:pPr algn="r" rtl="1">
              <a:buNone/>
            </a:pPr>
            <a:r>
              <a:rPr lang="fa-IR" sz="2400" dirty="0">
                <a:cs typeface="B Nazanin" pitchFamily="2" charset="-78"/>
              </a:rPr>
              <a:t>در این مرحله با توجه به تجهیزات موجود، قالب بندی زیرین دال انجام می شود.این قالب ها می توانند از جنس چوب، فلز مدولار و ... باشند.</a:t>
            </a:r>
            <a:br>
              <a:rPr lang="fa-IR" sz="2400" dirty="0">
                <a:cs typeface="B Nazanin" pitchFamily="2" charset="-78"/>
              </a:rPr>
            </a:br>
            <a:endParaRPr lang="en-US" sz="2400" dirty="0">
              <a:cs typeface="B Nazanin" pitchFamily="2" charset="-78"/>
            </a:endParaRPr>
          </a:p>
        </p:txBody>
      </p:sp>
      <p:pic>
        <p:nvPicPr>
          <p:cNvPr id="40962" name="Picture 2"/>
          <p:cNvPicPr>
            <a:picLocks noChangeAspect="1" noChangeArrowheads="1"/>
          </p:cNvPicPr>
          <p:nvPr/>
        </p:nvPicPr>
        <p:blipFill>
          <a:blip r:embed="rId2" cstate="print"/>
          <a:srcRect/>
          <a:stretch>
            <a:fillRect/>
          </a:stretch>
        </p:blipFill>
        <p:spPr bwMode="auto">
          <a:xfrm>
            <a:off x="1662820" y="2895600"/>
            <a:ext cx="6871580" cy="3581400"/>
          </a:xfrm>
          <a:prstGeom prst="rect">
            <a:avLst/>
          </a:prstGeom>
          <a:ln w="88900" cap="sq" cmpd="thickThin">
            <a:solidFill>
              <a:srgbClr val="000000"/>
            </a:solidFill>
            <a:prstDash val="solid"/>
            <a:miter lim="800000"/>
          </a:ln>
          <a:effectLst>
            <a:innerShdw blurRad="76200">
              <a:srgbClr val="000000"/>
            </a:innerShdw>
          </a:effec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r" rtl="1"/>
            <a:r>
              <a:rPr lang="fa-IR" sz="2800" dirty="0">
                <a:effectLst/>
                <a:cs typeface="B Nazanin" pitchFamily="2" charset="-78"/>
              </a:rPr>
              <a:t>2. بستن شبکه آرماتور پایین دال </a:t>
            </a:r>
            <a:endParaRPr lang="en-US" sz="2800" dirty="0">
              <a:effectLst/>
              <a:cs typeface="B Nazanin" pitchFamily="2" charset="-78"/>
            </a:endParaRPr>
          </a:p>
        </p:txBody>
      </p:sp>
      <p:sp>
        <p:nvSpPr>
          <p:cNvPr id="3" name="Content Placeholder 2"/>
          <p:cNvSpPr>
            <a:spLocks noGrp="1"/>
          </p:cNvSpPr>
          <p:nvPr>
            <p:ph idx="1"/>
          </p:nvPr>
        </p:nvSpPr>
        <p:spPr>
          <a:xfrm>
            <a:off x="1066800" y="1447800"/>
            <a:ext cx="7866888" cy="1219200"/>
          </a:xfrm>
        </p:spPr>
        <p:txBody>
          <a:bodyPr>
            <a:normAutofit/>
          </a:bodyPr>
          <a:lstStyle/>
          <a:p>
            <a:pPr algn="r" rtl="1">
              <a:buNone/>
            </a:pPr>
            <a:r>
              <a:rPr lang="fa-IR" sz="2400" dirty="0">
                <a:latin typeface="Tahoma"/>
                <a:ea typeface="Times New Roman"/>
                <a:cs typeface="B Nazanin"/>
              </a:rPr>
              <a:t>شبکه آرماتور پایین طبق نقشه های اجرایی باید به گونه ای بسته شود که حداقل یک میلگرد در بین قالب های یوبوت قرار گیرد.</a:t>
            </a:r>
            <a:br>
              <a:rPr lang="fa-IR" sz="2400" dirty="0">
                <a:latin typeface="Tahoma"/>
                <a:ea typeface="Times New Roman"/>
                <a:cs typeface="B Nazanin"/>
              </a:rPr>
            </a:br>
            <a:endParaRPr lang="en-US" sz="2400" dirty="0"/>
          </a:p>
        </p:txBody>
      </p:sp>
      <p:pic>
        <p:nvPicPr>
          <p:cNvPr id="41986" name="Picture 2"/>
          <p:cNvPicPr>
            <a:picLocks noChangeAspect="1" noChangeArrowheads="1"/>
          </p:cNvPicPr>
          <p:nvPr/>
        </p:nvPicPr>
        <p:blipFill>
          <a:blip r:embed="rId2" cstate="print"/>
          <a:srcRect/>
          <a:stretch>
            <a:fillRect/>
          </a:stretch>
        </p:blipFill>
        <p:spPr bwMode="auto">
          <a:xfrm>
            <a:off x="1905000" y="2514600"/>
            <a:ext cx="6477000" cy="3962400"/>
          </a:xfrm>
          <a:prstGeom prst="rect">
            <a:avLst/>
          </a:prstGeom>
          <a:ln w="88900" cap="sq" cmpd="thickThin">
            <a:solidFill>
              <a:srgbClr val="000000"/>
            </a:solidFill>
            <a:prstDash val="solid"/>
            <a:miter lim="800000"/>
          </a:ln>
          <a:effectLst>
            <a:innerShdw blurRad="76200">
              <a:srgbClr val="000000"/>
            </a:innerShdw>
          </a:effec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944562"/>
          </a:xfrm>
        </p:spPr>
        <p:txBody>
          <a:bodyPr>
            <a:normAutofit/>
          </a:bodyPr>
          <a:lstStyle/>
          <a:p>
            <a:pPr algn="r" rtl="1"/>
            <a:r>
              <a:rPr lang="fa-IR" sz="2800" dirty="0">
                <a:effectLst/>
                <a:cs typeface="B Nazanin" pitchFamily="2" charset="-78"/>
              </a:rPr>
              <a:t>3. چیدن قالب ها با توجه به نقشه های اجرایی </a:t>
            </a:r>
            <a:endParaRPr lang="en-US" sz="2800" dirty="0">
              <a:effectLst/>
              <a:cs typeface="B Nazanin" pitchFamily="2" charset="-78"/>
            </a:endParaRPr>
          </a:p>
        </p:txBody>
      </p:sp>
      <p:sp>
        <p:nvSpPr>
          <p:cNvPr id="3" name="Content Placeholder 2"/>
          <p:cNvSpPr>
            <a:spLocks noGrp="1"/>
          </p:cNvSpPr>
          <p:nvPr>
            <p:ph idx="1"/>
          </p:nvPr>
        </p:nvSpPr>
        <p:spPr>
          <a:xfrm>
            <a:off x="990600" y="1447800"/>
            <a:ext cx="7943088" cy="990600"/>
          </a:xfrm>
        </p:spPr>
        <p:txBody>
          <a:bodyPr>
            <a:normAutofit/>
          </a:bodyPr>
          <a:lstStyle/>
          <a:p>
            <a:pPr algn="r" rtl="1">
              <a:buNone/>
            </a:pPr>
            <a:r>
              <a:rPr lang="fa-IR" sz="2400" dirty="0">
                <a:cs typeface="B Nazanin" pitchFamily="2" charset="-78"/>
              </a:rPr>
              <a:t>در این مرحله قالب های یوبوت طبق نقشه های اجرایی چیده و فاصله آنها بوسیله بندهای تعبیه شده بر روی آنها تنظیم می گردد.</a:t>
            </a:r>
            <a:endParaRPr lang="en-US" sz="2400" dirty="0">
              <a:cs typeface="B Nazanin" pitchFamily="2" charset="-78"/>
            </a:endParaRPr>
          </a:p>
        </p:txBody>
      </p:sp>
      <p:pic>
        <p:nvPicPr>
          <p:cNvPr id="43010" name="Picture 2"/>
          <p:cNvPicPr>
            <a:picLocks noChangeAspect="1" noChangeArrowheads="1"/>
          </p:cNvPicPr>
          <p:nvPr/>
        </p:nvPicPr>
        <p:blipFill>
          <a:blip r:embed="rId2" cstate="print"/>
          <a:srcRect/>
          <a:stretch>
            <a:fillRect/>
          </a:stretch>
        </p:blipFill>
        <p:spPr bwMode="auto">
          <a:xfrm>
            <a:off x="1524000" y="2590800"/>
            <a:ext cx="7181850" cy="3810000"/>
          </a:xfrm>
          <a:prstGeom prst="rect">
            <a:avLst/>
          </a:prstGeom>
          <a:ln w="88900" cap="sq" cmpd="thickThin">
            <a:solidFill>
              <a:srgbClr val="000000"/>
            </a:solidFill>
            <a:prstDash val="solid"/>
            <a:miter lim="800000"/>
          </a:ln>
          <a:effectLst>
            <a:innerShdw blurRad="76200">
              <a:srgbClr val="000000"/>
            </a:innerShdw>
          </a:effec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r" rtl="1"/>
            <a:r>
              <a:rPr lang="fa-IR" sz="2800" dirty="0">
                <a:effectLst/>
                <a:cs typeface="B Nazanin" pitchFamily="2" charset="-78"/>
              </a:rPr>
              <a:t>4. بستن شبکه آرماتور بالای دال </a:t>
            </a:r>
            <a:endParaRPr lang="en-US" sz="2800" dirty="0">
              <a:effectLst/>
              <a:cs typeface="B Nazanin" pitchFamily="2" charset="-78"/>
            </a:endParaRPr>
          </a:p>
        </p:txBody>
      </p:sp>
      <p:sp>
        <p:nvSpPr>
          <p:cNvPr id="3" name="Content Placeholder 2"/>
          <p:cNvSpPr>
            <a:spLocks noGrp="1"/>
          </p:cNvSpPr>
          <p:nvPr>
            <p:ph idx="1"/>
          </p:nvPr>
        </p:nvSpPr>
        <p:spPr>
          <a:xfrm>
            <a:off x="990600" y="1447800"/>
            <a:ext cx="7943088" cy="1143000"/>
          </a:xfrm>
        </p:spPr>
        <p:txBody>
          <a:bodyPr>
            <a:normAutofit/>
          </a:bodyPr>
          <a:lstStyle/>
          <a:p>
            <a:pPr algn="r" rtl="1">
              <a:buNone/>
            </a:pPr>
            <a:r>
              <a:rPr lang="fa-IR" sz="2400" dirty="0">
                <a:cs typeface="B Nazanin" pitchFamily="2" charset="-78"/>
              </a:rPr>
              <a:t>در این مرحله شبکه آرماتور بالا بسته شده و همچنین در صورت نیاز به آرماتورهای برشی، این آرماتورها در بین قالب ها قرار می گیرند.</a:t>
            </a:r>
            <a:endParaRPr lang="en-US" sz="2400" dirty="0">
              <a:cs typeface="B Nazanin" pitchFamily="2" charset="-78"/>
            </a:endParaRPr>
          </a:p>
        </p:txBody>
      </p:sp>
      <p:pic>
        <p:nvPicPr>
          <p:cNvPr id="44034" name="Picture 2"/>
          <p:cNvPicPr>
            <a:picLocks noChangeAspect="1" noChangeArrowheads="1"/>
          </p:cNvPicPr>
          <p:nvPr/>
        </p:nvPicPr>
        <p:blipFill>
          <a:blip r:embed="rId2" cstate="print"/>
          <a:srcRect/>
          <a:stretch>
            <a:fillRect/>
          </a:stretch>
        </p:blipFill>
        <p:spPr bwMode="auto">
          <a:xfrm>
            <a:off x="1600200" y="2590800"/>
            <a:ext cx="6934200" cy="3886200"/>
          </a:xfrm>
          <a:prstGeom prst="rect">
            <a:avLst/>
          </a:prstGeom>
          <a:ln w="88900" cap="sq" cmpd="thickThin">
            <a:solidFill>
              <a:srgbClr val="000000"/>
            </a:solidFill>
            <a:prstDash val="solid"/>
            <a:miter lim="800000"/>
          </a:ln>
          <a:effectLst>
            <a:innerShdw blurRad="76200">
              <a:srgbClr val="000000"/>
            </a:innerShdw>
          </a:effec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r" rtl="1"/>
            <a:r>
              <a:rPr lang="fa-IR" sz="2800" dirty="0">
                <a:effectLst/>
                <a:cs typeface="B Nazanin" pitchFamily="2" charset="-78"/>
              </a:rPr>
              <a:t>5. بتن ریزی لایه اول </a:t>
            </a:r>
            <a:endParaRPr lang="en-US" sz="2800" dirty="0">
              <a:effectLst/>
              <a:cs typeface="B Nazanin" pitchFamily="2" charset="-78"/>
            </a:endParaRPr>
          </a:p>
        </p:txBody>
      </p:sp>
      <p:sp>
        <p:nvSpPr>
          <p:cNvPr id="3" name="Content Placeholder 2"/>
          <p:cNvSpPr>
            <a:spLocks noGrp="1"/>
          </p:cNvSpPr>
          <p:nvPr>
            <p:ph idx="1"/>
          </p:nvPr>
        </p:nvSpPr>
        <p:spPr>
          <a:xfrm>
            <a:off x="990600" y="1447800"/>
            <a:ext cx="7943088" cy="1828800"/>
          </a:xfrm>
        </p:spPr>
        <p:txBody>
          <a:bodyPr>
            <a:normAutofit/>
          </a:bodyPr>
          <a:lstStyle/>
          <a:p>
            <a:pPr algn="r" rtl="1">
              <a:buNone/>
            </a:pPr>
            <a:r>
              <a:rPr lang="fa-IR" sz="2400" dirty="0">
                <a:cs typeface="B Nazanin" pitchFamily="2" charset="-78"/>
              </a:rPr>
              <a:t>در اجرای این نوع دال ها، بتن ریزی در دو لایه انجام می شود. لایه اول به ضخامت حدود 5 الی 10 سانتی متر( بسته به اندازه پایه قالب ها)، ریخته می شود که باعث می گردد هوا درون قالب ها محبوس شده و اجازه وارد شدن بتن به داخل قالب ها را ندهد.</a:t>
            </a:r>
            <a:endParaRPr lang="en-US" sz="2400" dirty="0">
              <a:cs typeface="B Nazanin" pitchFamily="2" charset="-78"/>
            </a:endParaRPr>
          </a:p>
        </p:txBody>
      </p:sp>
      <p:pic>
        <p:nvPicPr>
          <p:cNvPr id="45058" name="Picture 2"/>
          <p:cNvPicPr>
            <a:picLocks noChangeAspect="1" noChangeArrowheads="1"/>
          </p:cNvPicPr>
          <p:nvPr/>
        </p:nvPicPr>
        <p:blipFill>
          <a:blip r:embed="rId2" cstate="print"/>
          <a:srcRect/>
          <a:stretch>
            <a:fillRect/>
          </a:stretch>
        </p:blipFill>
        <p:spPr bwMode="auto">
          <a:xfrm>
            <a:off x="1600200" y="3124200"/>
            <a:ext cx="6934200" cy="3352800"/>
          </a:xfrm>
          <a:prstGeom prst="rect">
            <a:avLst/>
          </a:prstGeom>
          <a:ln w="88900" cap="sq" cmpd="thickThin">
            <a:solidFill>
              <a:srgbClr val="000000"/>
            </a:solidFill>
            <a:prstDash val="solid"/>
            <a:miter lim="800000"/>
          </a:ln>
          <a:effectLst>
            <a:innerShdw blurRad="76200">
              <a:srgbClr val="000000"/>
            </a:innerShdw>
          </a:effec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r" rtl="1"/>
            <a:r>
              <a:rPr lang="fa-IR" sz="2800" dirty="0">
                <a:effectLst/>
                <a:cs typeface="B Nazanin" pitchFamily="2" charset="-78"/>
              </a:rPr>
              <a:t>6. تکمیل بتن ریزی </a:t>
            </a:r>
            <a:endParaRPr lang="en-US" sz="2800" dirty="0">
              <a:effectLst/>
              <a:cs typeface="B Nazanin" pitchFamily="2" charset="-78"/>
            </a:endParaRPr>
          </a:p>
        </p:txBody>
      </p:sp>
      <p:sp>
        <p:nvSpPr>
          <p:cNvPr id="3" name="Content Placeholder 2"/>
          <p:cNvSpPr>
            <a:spLocks noGrp="1"/>
          </p:cNvSpPr>
          <p:nvPr>
            <p:ph idx="1"/>
          </p:nvPr>
        </p:nvSpPr>
        <p:spPr>
          <a:xfrm>
            <a:off x="990600" y="1447800"/>
            <a:ext cx="7943088" cy="1600200"/>
          </a:xfrm>
        </p:spPr>
        <p:txBody>
          <a:bodyPr>
            <a:normAutofit/>
          </a:bodyPr>
          <a:lstStyle/>
          <a:p>
            <a:pPr algn="r" rtl="1">
              <a:buNone/>
            </a:pPr>
            <a:r>
              <a:rPr lang="fa-IR" sz="2400" dirty="0">
                <a:cs typeface="B Nazanin" pitchFamily="2" charset="-78"/>
              </a:rPr>
              <a:t>لایه دوم بر روی لایه اول ریخته می شود تا به ضخامت مورد نظر برسد. باید توجه داشت فاصله زمانی بین بتن ریزی در دو لایه نباید به قدری باشد که باعث گیرش لایه اول گردد. </a:t>
            </a:r>
            <a:endParaRPr lang="en-US" sz="2400" dirty="0">
              <a:cs typeface="B Nazanin" pitchFamily="2" charset="-78"/>
            </a:endParaRPr>
          </a:p>
        </p:txBody>
      </p:sp>
      <p:pic>
        <p:nvPicPr>
          <p:cNvPr id="46082" name="Picture 2"/>
          <p:cNvPicPr>
            <a:picLocks noChangeAspect="1" noChangeArrowheads="1"/>
          </p:cNvPicPr>
          <p:nvPr/>
        </p:nvPicPr>
        <p:blipFill>
          <a:blip r:embed="rId2" cstate="print"/>
          <a:srcRect/>
          <a:stretch>
            <a:fillRect/>
          </a:stretch>
        </p:blipFill>
        <p:spPr bwMode="auto">
          <a:xfrm>
            <a:off x="1524000" y="2819400"/>
            <a:ext cx="7162800" cy="3733800"/>
          </a:xfrm>
          <a:prstGeom prst="rect">
            <a:avLst/>
          </a:prstGeom>
          <a:ln w="88900" cap="sq" cmpd="thickThin">
            <a:solidFill>
              <a:srgbClr val="000000"/>
            </a:solidFill>
            <a:prstDash val="solid"/>
            <a:miter lim="800000"/>
          </a:ln>
          <a:effectLst>
            <a:innerShdw blurRad="76200">
              <a:srgbClr val="000000"/>
            </a:innerShdw>
          </a:effec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r" rtl="1"/>
            <a:r>
              <a:rPr lang="fa-IR" sz="2800" dirty="0">
                <a:effectLst/>
                <a:cs typeface="B Nazanin" pitchFamily="2" charset="-78"/>
              </a:rPr>
              <a:t>7. باز کردن قالب های کف </a:t>
            </a:r>
            <a:endParaRPr lang="en-US" sz="2800" dirty="0">
              <a:effectLst/>
              <a:cs typeface="B Nazanin" pitchFamily="2" charset="-78"/>
            </a:endParaRPr>
          </a:p>
        </p:txBody>
      </p:sp>
      <p:sp>
        <p:nvSpPr>
          <p:cNvPr id="3" name="Content Placeholder 2"/>
          <p:cNvSpPr>
            <a:spLocks noGrp="1"/>
          </p:cNvSpPr>
          <p:nvPr>
            <p:ph idx="1"/>
          </p:nvPr>
        </p:nvSpPr>
        <p:spPr>
          <a:xfrm>
            <a:off x="990600" y="1447800"/>
            <a:ext cx="7943088" cy="1295400"/>
          </a:xfrm>
        </p:spPr>
        <p:txBody>
          <a:bodyPr>
            <a:normAutofit/>
          </a:bodyPr>
          <a:lstStyle/>
          <a:p>
            <a:pPr algn="r" rtl="1">
              <a:buNone/>
            </a:pPr>
            <a:r>
              <a:rPr lang="fa-IR" sz="2400" dirty="0">
                <a:cs typeface="B Nazanin" pitchFamily="2" charset="-78"/>
              </a:rPr>
              <a:t>پس از گیرش بتن در زمان تعیین شده در مبحث نهم مقررات ملی ساختمان قالبها</a:t>
            </a:r>
            <a:r>
              <a:rPr lang="en-US" sz="2400" dirty="0">
                <a:cs typeface="B Nazanin" pitchFamily="2" charset="-78"/>
              </a:rPr>
              <a:t> </a:t>
            </a:r>
            <a:r>
              <a:rPr lang="fa-IR" sz="2400" dirty="0">
                <a:cs typeface="B Nazanin" pitchFamily="2" charset="-78"/>
              </a:rPr>
              <a:t>از زیر دال جمع و به طبقه دیگر منتقل می</a:t>
            </a:r>
            <a:r>
              <a:rPr lang="en-US" sz="2400" dirty="0">
                <a:cs typeface="B Nazanin" pitchFamily="2" charset="-78"/>
              </a:rPr>
              <a:t> </a:t>
            </a:r>
            <a:r>
              <a:rPr lang="fa-IR" sz="2400" dirty="0">
                <a:cs typeface="B Nazanin" pitchFamily="2" charset="-78"/>
              </a:rPr>
              <a:t>گردد.</a:t>
            </a:r>
            <a:endParaRPr lang="en-US" sz="2400" dirty="0">
              <a:cs typeface="B Nazanin" pitchFamily="2" charset="-78"/>
            </a:endParaRPr>
          </a:p>
        </p:txBody>
      </p:sp>
      <p:pic>
        <p:nvPicPr>
          <p:cNvPr id="47106" name="Picture 2"/>
          <p:cNvPicPr>
            <a:picLocks noChangeAspect="1" noChangeArrowheads="1"/>
          </p:cNvPicPr>
          <p:nvPr/>
        </p:nvPicPr>
        <p:blipFill>
          <a:blip r:embed="rId2" cstate="print"/>
          <a:srcRect/>
          <a:stretch>
            <a:fillRect/>
          </a:stretch>
        </p:blipFill>
        <p:spPr bwMode="auto">
          <a:xfrm>
            <a:off x="1981200" y="2590800"/>
            <a:ext cx="6172200" cy="2514600"/>
          </a:xfrm>
          <a:prstGeom prst="rect">
            <a:avLst/>
          </a:prstGeom>
          <a:ln w="88900" cap="sq" cmpd="thickThin">
            <a:solidFill>
              <a:srgbClr val="000000"/>
            </a:solidFill>
            <a:prstDash val="solid"/>
            <a:miter lim="800000"/>
          </a:ln>
          <a:effectLst>
            <a:innerShdw blurRad="76200">
              <a:srgbClr val="000000"/>
            </a:innerShdw>
          </a:effectLst>
        </p:spPr>
      </p:pic>
      <p:sp>
        <p:nvSpPr>
          <p:cNvPr id="47107" name="Rectangle 3"/>
          <p:cNvSpPr>
            <a:spLocks noChangeArrowheads="1"/>
          </p:cNvSpPr>
          <p:nvPr/>
        </p:nvSpPr>
        <p:spPr bwMode="auto">
          <a:xfrm>
            <a:off x="1219200" y="5438001"/>
            <a:ext cx="7467600" cy="101566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r" defTabSz="914400" rtl="1" eaLnBrk="1" fontAlgn="base" latinLnBrk="0" hangingPunct="1">
              <a:lnSpc>
                <a:spcPct val="100000"/>
              </a:lnSpc>
              <a:spcBef>
                <a:spcPct val="0"/>
              </a:spcBef>
              <a:spcAft>
                <a:spcPct val="0"/>
              </a:spcAft>
              <a:buClrTx/>
              <a:buSzTx/>
              <a:buFontTx/>
              <a:buNone/>
              <a:tabLst/>
            </a:pPr>
            <a:r>
              <a:rPr kumimoji="0" lang="fa-IR" sz="2000" b="0" i="0" u="none" strike="noStrike" cap="none" normalizeH="0" baseline="0" dirty="0">
                <a:ln>
                  <a:noFill/>
                </a:ln>
                <a:solidFill>
                  <a:schemeClr val="tx1"/>
                </a:solidFill>
                <a:effectLst/>
                <a:latin typeface="Tahoma" pitchFamily="34" charset="0"/>
                <a:ea typeface="Times New Roman" pitchFamily="18" charset="0"/>
                <a:cs typeface="B Nazanin" pitchFamily="2" charset="-78"/>
              </a:rPr>
              <a:t>باید توجه داشت کلیه مباحث مربوط به قالب بندی، آرماتوربندی، بتن ریزی و نگهداری از بتن که در مبحث نهم مقررات ملی ساختمان آمده است در مورد این دال ها صادق می باشد و باید به دقت اجرا گردد.</a:t>
            </a:r>
            <a:endParaRPr kumimoji="0" lang="fa-IR" sz="2000" b="0" i="0" u="none" strike="noStrike" cap="none" normalizeH="0" baseline="0" dirty="0">
              <a:ln>
                <a:noFill/>
              </a:ln>
              <a:solidFill>
                <a:schemeClr val="tx1"/>
              </a:solidFill>
              <a:effectLst/>
              <a:latin typeface="Arial" pitchFamily="34" charset="0"/>
              <a:cs typeface="Arial" pitchFamily="34"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944562"/>
          </a:xfrm>
        </p:spPr>
        <p:txBody>
          <a:bodyPr>
            <a:normAutofit/>
          </a:bodyPr>
          <a:lstStyle/>
          <a:p>
            <a:pPr algn="r" rtl="1"/>
            <a:r>
              <a:rPr lang="fa-IR" sz="3600" b="1" dirty="0">
                <a:effectLst/>
                <a:cs typeface="B Nazanin" pitchFamily="2" charset="-78"/>
              </a:rPr>
              <a:t>مقایسه یوبوت با دال و تیر</a:t>
            </a:r>
            <a:endParaRPr lang="en-US" sz="3600" b="1" dirty="0">
              <a:effectLst/>
              <a:cs typeface="B Nazanin" pitchFamily="2" charset="-78"/>
            </a:endParaRPr>
          </a:p>
        </p:txBody>
      </p:sp>
      <p:pic>
        <p:nvPicPr>
          <p:cNvPr id="54275" name="Picture 3"/>
          <p:cNvPicPr>
            <a:picLocks noGrp="1" noChangeAspect="1" noChangeArrowheads="1"/>
          </p:cNvPicPr>
          <p:nvPr>
            <p:ph idx="1"/>
          </p:nvPr>
        </p:nvPicPr>
        <p:blipFill>
          <a:blip r:embed="rId2" cstate="print"/>
          <a:srcRect/>
          <a:stretch>
            <a:fillRect/>
          </a:stretch>
        </p:blipFill>
        <p:spPr bwMode="auto">
          <a:xfrm>
            <a:off x="2286000" y="1295400"/>
            <a:ext cx="5287252" cy="5303520"/>
          </a:xfrm>
          <a:prstGeom prst="rect">
            <a:avLst/>
          </a:prstGeom>
          <a:ln w="88900" cap="sq" cmpd="thickThin">
            <a:solidFill>
              <a:srgbClr val="000000"/>
            </a:solidFill>
            <a:prstDash val="solid"/>
            <a:miter lim="800000"/>
          </a:ln>
          <a:effectLst>
            <a:innerShdw blurRad="76200">
              <a:srgbClr val="000000"/>
            </a:innerShdw>
          </a:effec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28600"/>
            <a:ext cx="7498080" cy="944562"/>
          </a:xfrm>
        </p:spPr>
        <p:txBody>
          <a:bodyPr>
            <a:normAutofit/>
          </a:bodyPr>
          <a:lstStyle/>
          <a:p>
            <a:pPr algn="r" rtl="1"/>
            <a:r>
              <a:rPr lang="fa-IR" sz="3600" b="1" dirty="0">
                <a:effectLst/>
                <a:cs typeface="B Nazanin" pitchFamily="2" charset="-78"/>
              </a:rPr>
              <a:t>مقایسه یوبوت با پیش تنیده</a:t>
            </a:r>
            <a:endParaRPr lang="en-US" sz="3600" b="1" dirty="0">
              <a:effectLst/>
              <a:cs typeface="B Nazanin" pitchFamily="2" charset="-78"/>
            </a:endParaRPr>
          </a:p>
        </p:txBody>
      </p:sp>
      <p:pic>
        <p:nvPicPr>
          <p:cNvPr id="57346" name="Picture 2"/>
          <p:cNvPicPr>
            <a:picLocks noGrp="1" noChangeAspect="1" noChangeArrowheads="1"/>
          </p:cNvPicPr>
          <p:nvPr>
            <p:ph idx="1"/>
          </p:nvPr>
        </p:nvPicPr>
        <p:blipFill>
          <a:blip r:embed="rId2" cstate="print"/>
          <a:srcRect/>
          <a:stretch>
            <a:fillRect/>
          </a:stretch>
        </p:blipFill>
        <p:spPr bwMode="auto">
          <a:xfrm>
            <a:off x="2209800" y="1217168"/>
            <a:ext cx="5638800" cy="5488432"/>
          </a:xfrm>
          <a:prstGeom prst="rect">
            <a:avLst/>
          </a:prstGeom>
          <a:ln w="88900" cap="sq" cmpd="thickThin">
            <a:solidFill>
              <a:srgbClr val="000000"/>
            </a:solidFill>
            <a:prstDash val="solid"/>
            <a:miter lim="800000"/>
          </a:ln>
          <a:effectLst>
            <a:innerShdw blurRad="76200">
              <a:srgbClr val="000000"/>
            </a:innerShdw>
          </a:effec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28600"/>
            <a:ext cx="7498080" cy="1020762"/>
          </a:xfrm>
        </p:spPr>
        <p:txBody>
          <a:bodyPr>
            <a:normAutofit/>
          </a:bodyPr>
          <a:lstStyle/>
          <a:p>
            <a:pPr algn="r" rtl="1"/>
            <a:r>
              <a:rPr lang="fa-IR" sz="3600" b="1" dirty="0">
                <a:effectLst/>
                <a:cs typeface="B Nazanin" pitchFamily="2" charset="-78"/>
              </a:rPr>
              <a:t>مقایسه یوبوت با تیرچه بلوک</a:t>
            </a:r>
            <a:endParaRPr lang="en-US" sz="3600" b="1" dirty="0">
              <a:effectLst/>
              <a:cs typeface="B Nazanin" pitchFamily="2" charset="-78"/>
            </a:endParaRPr>
          </a:p>
        </p:txBody>
      </p:sp>
      <p:pic>
        <p:nvPicPr>
          <p:cNvPr id="58370" name="Picture 2"/>
          <p:cNvPicPr>
            <a:picLocks noGrp="1" noChangeAspect="1" noChangeArrowheads="1"/>
          </p:cNvPicPr>
          <p:nvPr>
            <p:ph idx="1"/>
          </p:nvPr>
        </p:nvPicPr>
        <p:blipFill>
          <a:blip r:embed="rId2" cstate="print"/>
          <a:srcRect/>
          <a:stretch>
            <a:fillRect/>
          </a:stretch>
        </p:blipFill>
        <p:spPr bwMode="auto">
          <a:xfrm>
            <a:off x="2057400" y="1219200"/>
            <a:ext cx="5867400" cy="5337166"/>
          </a:xfrm>
          <a:prstGeom prst="rect">
            <a:avLst/>
          </a:prstGeom>
          <a:ln w="88900" cap="sq" cmpd="thickThin">
            <a:solidFill>
              <a:srgbClr val="000000"/>
            </a:solidFill>
            <a:prstDash val="solid"/>
            <a:miter lim="800000"/>
          </a:ln>
          <a:effectLst>
            <a:innerShdw blurRad="76200">
              <a:srgbClr val="000000"/>
            </a:innerShdw>
          </a:effec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r" rtl="1"/>
            <a:r>
              <a:rPr lang="fa-IR" sz="3600" b="1" dirty="0">
                <a:effectLst/>
                <a:cs typeface="B Nazanin" pitchFamily="2" charset="-78"/>
              </a:rPr>
              <a:t>نکات اجرایی دال مجوف دوپوش (یوبوت) </a:t>
            </a:r>
            <a:endParaRPr lang="en-US" sz="3600" b="1" dirty="0">
              <a:effectLst/>
              <a:cs typeface="B Nazanin" pitchFamily="2" charset="-78"/>
            </a:endParaRPr>
          </a:p>
        </p:txBody>
      </p:sp>
      <p:sp>
        <p:nvSpPr>
          <p:cNvPr id="3" name="Content Placeholder 2"/>
          <p:cNvSpPr>
            <a:spLocks noGrp="1"/>
          </p:cNvSpPr>
          <p:nvPr>
            <p:ph idx="1"/>
          </p:nvPr>
        </p:nvSpPr>
        <p:spPr>
          <a:xfrm>
            <a:off x="1143000" y="1447800"/>
            <a:ext cx="7790688" cy="4800600"/>
          </a:xfrm>
        </p:spPr>
        <p:txBody>
          <a:bodyPr>
            <a:noAutofit/>
          </a:bodyPr>
          <a:lstStyle/>
          <a:p>
            <a:pPr lvl="0" algn="r" rtl="1">
              <a:buNone/>
            </a:pPr>
            <a:r>
              <a:rPr lang="fa-IR" sz="2400" dirty="0">
                <a:cs typeface="B Nazanin" pitchFamily="2" charset="-78"/>
              </a:rPr>
              <a:t>1. قالب‌های یوبوت می‌بایست مطابق نقشه‌های اجرایی بر روی سقف چیده شوند. فاصله اولین و آخرین قالب یوبوت در هر ردیف و ستون با لبه دال و یا تیر، کنترل شود تا با نقشه‌های اجرایی مطابقت داشته باشد. لازم به توضیح است گاهی اوقات به دلیل عدم دقت در اجرای ستون‌ها و یا دور دال، این فاصله نسبت به نقشه اجرایی متفاوت بوده که این تفاوت می‌بایست با ناظر پروژه هماهنگ شده و درصورت لزوم توسط محاسب سقف بررسی و تایید گردد.</a:t>
            </a:r>
            <a:endParaRPr lang="en-US" sz="2400" dirty="0">
              <a:cs typeface="B Nazanin" pitchFamily="2" charset="-78"/>
            </a:endParaRPr>
          </a:p>
          <a:p>
            <a:pPr lvl="0" algn="r" rtl="1">
              <a:buNone/>
            </a:pPr>
            <a:r>
              <a:rPr lang="fa-IR" sz="2400" dirty="0">
                <a:cs typeface="B Nazanin" pitchFamily="2" charset="-78"/>
              </a:rPr>
              <a:t>2. بست‌های موجود بر روی بند‌های کناری قالب‌های یوبوت با توجه به فاصله مورد نیاز اشاره شده در نقشه‌های اجرایی، تنظیم گردیده و با </a:t>
            </a:r>
            <a:r>
              <a:rPr lang="fa-IR" sz="2400" b="1" dirty="0">
                <a:cs typeface="B Nazanin" pitchFamily="2" charset="-78"/>
              </a:rPr>
              <a:t>چسب پلاستیکی </a:t>
            </a:r>
            <a:r>
              <a:rPr lang="fa-IR" sz="2400" dirty="0">
                <a:cs typeface="B Nazanin" pitchFamily="2" charset="-78"/>
              </a:rPr>
              <a:t>محکم می‌شود. قابل ذکر است این فاصله در نقشه‌های اجرایی در قسمت مقطع سقف نشان داده شده است و هر یک از تنظیم‌های روی بند برای یک فاصله خاص ایجاد شده است.</a:t>
            </a:r>
            <a:endParaRPr lang="en-US" sz="2400" dirty="0">
              <a:cs typeface="B Nazanin" pitchFamily="2" charset="-78"/>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228600"/>
            <a:ext cx="7943088" cy="6019800"/>
          </a:xfrm>
        </p:spPr>
        <p:txBody>
          <a:bodyPr>
            <a:noAutofit/>
          </a:bodyPr>
          <a:lstStyle/>
          <a:p>
            <a:pPr algn="r" rtl="1">
              <a:buNone/>
            </a:pPr>
            <a:endParaRPr lang="en-US" sz="2400" dirty="0">
              <a:cs typeface="B Nazanin" pitchFamily="2" charset="-78"/>
            </a:endParaRPr>
          </a:p>
          <a:p>
            <a:pPr algn="r" rtl="1">
              <a:buNone/>
            </a:pPr>
            <a:r>
              <a:rPr lang="fa-IR" sz="2400" dirty="0">
                <a:cs typeface="B Nazanin" pitchFamily="2" charset="-78"/>
              </a:rPr>
              <a:t>3. چیدن آرماتور‌های شبکه بالا و پایین باید به گونه‌ای باشد که در بین هر دو قالب یوبوت یک میلگرد قرار گیرد. بدین منظور توصیه می‌گردد ابتدا فاصله میلگردهایی که در میان یوبوت‌ها قرار می‌گیرد، از نقشه‌ها استخراج شده و مطابق آن روی سقف چیده شوند. سپس در بین این میلگرد‌ها یک یا چند میلگرد دیگر مطابق نقشه‌ها با فاصله یکسان اضافه گردد.</a:t>
            </a:r>
            <a:endParaRPr lang="en-US" sz="2400" dirty="0">
              <a:cs typeface="B Nazanin" pitchFamily="2" charset="-78"/>
            </a:endParaRPr>
          </a:p>
          <a:p>
            <a:pPr algn="r" rtl="1">
              <a:buNone/>
            </a:pPr>
            <a:r>
              <a:rPr lang="fa-IR" sz="2400" dirty="0">
                <a:cs typeface="B Nazanin" pitchFamily="2" charset="-78"/>
              </a:rPr>
              <a:t>4. در هنگام اجرای سقف یوبوت (به خصوص در استفاده از یوبوت‌های با سایز بزرگ (</a:t>
            </a:r>
            <a:r>
              <a:rPr lang="en-US" sz="2400" dirty="0">
                <a:cs typeface="B Nazanin" pitchFamily="2" charset="-78"/>
              </a:rPr>
              <a:t>H</a:t>
            </a:r>
            <a:r>
              <a:rPr lang="fa-IR" sz="2400" dirty="0">
                <a:cs typeface="B Nazanin" pitchFamily="2" charset="-78"/>
              </a:rPr>
              <a:t>&gt;</a:t>
            </a:r>
            <a:r>
              <a:rPr lang="en-US" sz="2400" dirty="0">
                <a:cs typeface="B Nazanin" pitchFamily="2" charset="-78"/>
              </a:rPr>
              <a:t>20cm</a:t>
            </a:r>
            <a:r>
              <a:rPr lang="fa-IR" sz="2400" dirty="0">
                <a:cs typeface="B Nazanin" pitchFamily="2" charset="-78"/>
              </a:rPr>
              <a:t>)) توصیه می‌شود </a:t>
            </a:r>
            <a:r>
              <a:rPr lang="fa-IR" sz="2400" b="1" dirty="0">
                <a:cs typeface="B Nazanin" pitchFamily="2" charset="-78"/>
              </a:rPr>
              <a:t>برای جلوگیری از بلند شدن یوبوت‌ها </a:t>
            </a:r>
            <a:r>
              <a:rPr lang="fa-IR" sz="2400" dirty="0">
                <a:cs typeface="B Nazanin" pitchFamily="2" charset="-78"/>
              </a:rPr>
              <a:t>در </a:t>
            </a:r>
            <a:r>
              <a:rPr lang="fa-IR" sz="2400" b="1" dirty="0">
                <a:cs typeface="B Nazanin" pitchFamily="2" charset="-78"/>
              </a:rPr>
              <a:t>هنگام بتن‌ریزی</a:t>
            </a:r>
            <a:r>
              <a:rPr lang="fa-IR" sz="2400" dirty="0">
                <a:cs typeface="B Nazanin" pitchFamily="2" charset="-78"/>
              </a:rPr>
              <a:t>، شبکه پایین آرماتور توسط سیم آرماتوربندی به لوله یا پروفیل زیر بسته شود.</a:t>
            </a:r>
            <a:endParaRPr lang="en-US" sz="2400" dirty="0">
              <a:cs typeface="B Nazanin" pitchFamily="2" charset="-78"/>
            </a:endParaRPr>
          </a:p>
          <a:p>
            <a:pPr algn="r" rtl="1">
              <a:buNone/>
            </a:pPr>
            <a:r>
              <a:rPr lang="fa-IR" sz="2400" dirty="0">
                <a:cs typeface="B Nazanin" pitchFamily="2" charset="-78"/>
              </a:rPr>
              <a:t>5. در مناطقی که </a:t>
            </a:r>
            <a:r>
              <a:rPr lang="fa-IR" sz="2400" b="1" dirty="0">
                <a:cs typeface="B Nazanin" pitchFamily="2" charset="-78"/>
              </a:rPr>
              <a:t>خطر خوردگی </a:t>
            </a:r>
            <a:r>
              <a:rPr lang="fa-IR" sz="2400" dirty="0">
                <a:cs typeface="B Nazanin" pitchFamily="2" charset="-78"/>
              </a:rPr>
              <a:t>زیاد وجود ندارد، باید از </a:t>
            </a:r>
            <a:r>
              <a:rPr lang="fa-IR" sz="2400" b="1" dirty="0">
                <a:cs typeface="B Nazanin" pitchFamily="2" charset="-78"/>
              </a:rPr>
              <a:t>اسپیسرهایی</a:t>
            </a:r>
            <a:r>
              <a:rPr lang="fa-IR" sz="2400" dirty="0">
                <a:cs typeface="B Nazanin" pitchFamily="2" charset="-78"/>
              </a:rPr>
              <a:t> که فاصله‌ وسط مقطع میلگرد پایین تا کف دال 5/2 تا 3 سانتی‌متر می‌باشد، استفاده نمود.</a:t>
            </a:r>
            <a:endParaRPr lang="en-US" sz="2400" dirty="0">
              <a:cs typeface="B Nazanin" pitchFamily="2" charset="-78"/>
            </a:endParaRPr>
          </a:p>
          <a:p>
            <a:pPr algn="r" rtl="1">
              <a:buNone/>
            </a:pPr>
            <a:endParaRPr lang="en-US" sz="2400" dirty="0"/>
          </a:p>
        </p:txBody>
      </p:sp>
      <p:pic>
        <p:nvPicPr>
          <p:cNvPr id="1026" name="Picture 2" descr="C:\Users\MR_Omidvar\Downloads\spacer6.-jpg.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4876800"/>
            <a:ext cx="3135086" cy="18288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66800" y="228600"/>
            <a:ext cx="7866888" cy="6019800"/>
          </a:xfrm>
        </p:spPr>
        <p:txBody>
          <a:bodyPr>
            <a:noAutofit/>
          </a:bodyPr>
          <a:lstStyle/>
          <a:p>
            <a:pPr lvl="0" algn="r" rtl="1">
              <a:buNone/>
            </a:pPr>
            <a:endParaRPr lang="en-US" sz="2400" dirty="0">
              <a:cs typeface="B Nazanin" pitchFamily="2" charset="-78"/>
            </a:endParaRPr>
          </a:p>
          <a:p>
            <a:pPr lvl="0" algn="r" rtl="1">
              <a:buNone/>
            </a:pPr>
            <a:r>
              <a:rPr lang="fa-IR" sz="2400" dirty="0">
                <a:cs typeface="B Nazanin" pitchFamily="2" charset="-78"/>
              </a:rPr>
              <a:t>6. با توجه به اینکه </a:t>
            </a:r>
            <a:r>
              <a:rPr lang="fa-IR" sz="2400" b="1" dirty="0">
                <a:cs typeface="B Nazanin" pitchFamily="2" charset="-78"/>
              </a:rPr>
              <a:t>قالب‌های</a:t>
            </a:r>
            <a:r>
              <a:rPr lang="fa-IR" sz="2400" dirty="0">
                <a:cs typeface="B Nazanin" pitchFamily="2" charset="-78"/>
              </a:rPr>
              <a:t> </a:t>
            </a:r>
            <a:r>
              <a:rPr lang="fa-IR" sz="2400" b="1" dirty="0">
                <a:cs typeface="B Nazanin" pitchFamily="2" charset="-78"/>
              </a:rPr>
              <a:t>یوبوت برای تحمل بار گسترده‌ در حدود 80 کیلوگرم </a:t>
            </a:r>
            <a:r>
              <a:rPr lang="fa-IR" sz="2400" dirty="0">
                <a:cs typeface="B Nazanin" pitchFamily="2" charset="-78"/>
              </a:rPr>
              <a:t>طراحی شده‌اند، حتی‌الامکان از وارد آوردن بار بیشتر و یا بار متمرکز، بر روی یوبوت‌ها خودداری گردد و پس از اجرای آرماتور بندی شبکه بالا، به کارگران آموزش داده شود تا بر روی میلگردها حرکت کنند.</a:t>
            </a:r>
            <a:endParaRPr lang="en-US" sz="2400" dirty="0">
              <a:cs typeface="B Nazanin" pitchFamily="2" charset="-78"/>
            </a:endParaRPr>
          </a:p>
          <a:p>
            <a:pPr lvl="0" algn="r" rtl="1">
              <a:buNone/>
            </a:pPr>
            <a:r>
              <a:rPr lang="fa-IR" sz="2400" dirty="0">
                <a:cs typeface="B Nazanin" pitchFamily="2" charset="-78"/>
              </a:rPr>
              <a:t>7. مطابق نقشه‌های اجرایی، در </a:t>
            </a:r>
            <a:r>
              <a:rPr lang="fa-IR" sz="2400" b="1" dirty="0">
                <a:cs typeface="B Nazanin" pitchFamily="2" charset="-78"/>
              </a:rPr>
              <a:t>کنج هر یوبوت </a:t>
            </a:r>
            <a:r>
              <a:rPr lang="fa-IR" sz="2400" dirty="0">
                <a:cs typeface="B Nazanin" pitchFamily="2" charset="-78"/>
              </a:rPr>
              <a:t>باید از </a:t>
            </a:r>
            <a:r>
              <a:rPr lang="fa-IR" sz="2400" b="1" dirty="0">
                <a:cs typeface="B Nazanin" pitchFamily="2" charset="-78"/>
              </a:rPr>
              <a:t>آرماتور سنجاقی </a:t>
            </a:r>
            <a:r>
              <a:rPr lang="fa-IR" sz="2400" dirty="0">
                <a:cs typeface="B Nazanin" pitchFamily="2" charset="-78"/>
              </a:rPr>
              <a:t>استفاده نمود. یکی از وظایف این سنجاق‌ها </a:t>
            </a:r>
            <a:r>
              <a:rPr lang="fa-IR" sz="2400" b="1" dirty="0">
                <a:cs typeface="B Nazanin" pitchFamily="2" charset="-78"/>
              </a:rPr>
              <a:t>یکپارچه کردن </a:t>
            </a:r>
            <a:r>
              <a:rPr lang="fa-IR" sz="2400" dirty="0">
                <a:cs typeface="B Nazanin" pitchFamily="2" charset="-78"/>
              </a:rPr>
              <a:t>شبکه بالا و پایین و </a:t>
            </a:r>
            <a:r>
              <a:rPr lang="fa-IR" sz="2400" b="1" dirty="0">
                <a:cs typeface="B Nazanin" pitchFamily="2" charset="-78"/>
              </a:rPr>
              <a:t>ثابت نگه داشتن یوبوت‌ها </a:t>
            </a:r>
            <a:r>
              <a:rPr lang="fa-IR" sz="2400" dirty="0">
                <a:cs typeface="B Nazanin" pitchFamily="2" charset="-78"/>
              </a:rPr>
              <a:t>در میان این دو شبکه می‌باشد. لذا توصیه می‌گردد خم 135 درجه سنجاق در قسمت پایین قرار گیرد و خم 90 درجه در قسمت بالا بوسیله سیم آرماتوربندی محکم شود تا در هنگام بتن‌ ریزی از جدا‌ شدن شبکه بالا از شبکه پایین و در نتیجه بالا آمدن یوبوت‌ها جلوگیری شود.</a:t>
            </a:r>
            <a:endParaRPr lang="en-US" sz="2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66800" y="304800"/>
            <a:ext cx="7866888" cy="5943600"/>
          </a:xfrm>
        </p:spPr>
        <p:txBody>
          <a:bodyPr>
            <a:noAutofit/>
          </a:bodyPr>
          <a:lstStyle/>
          <a:p>
            <a:pPr lvl="0" algn="r" rtl="1">
              <a:buNone/>
            </a:pPr>
            <a:endParaRPr lang="en-US" sz="2400" dirty="0">
              <a:cs typeface="B Nazanin" pitchFamily="2" charset="-78"/>
            </a:endParaRPr>
          </a:p>
          <a:p>
            <a:pPr lvl="0" algn="r" rtl="1">
              <a:buNone/>
            </a:pPr>
            <a:r>
              <a:rPr lang="fa-IR" sz="2400" dirty="0">
                <a:cs typeface="B Nazanin" pitchFamily="2" charset="-78"/>
              </a:rPr>
              <a:t>8. مقاومت بتن مورد استفاده در این دال‌ها در طراحی سازه تعیین می‌گردد که مقدار آن در یادداشت اول نقشه‌های اجرایی آورده شده است. </a:t>
            </a:r>
            <a:r>
              <a:rPr lang="fa-IR" sz="2400" b="1" dirty="0">
                <a:cs typeface="B Nazanin" pitchFamily="2" charset="-78"/>
              </a:rPr>
              <a:t>روانی بتن </a:t>
            </a:r>
            <a:r>
              <a:rPr lang="fa-IR" sz="2400" dirty="0">
                <a:cs typeface="B Nazanin" pitchFamily="2" charset="-78"/>
              </a:rPr>
              <a:t>(اسلامپ) مورد استفاده باید در حدود 11 الی 13 سانتی‌متر بوده تا بتن </a:t>
            </a:r>
            <a:r>
              <a:rPr lang="fa-IR" sz="2400" b="1" dirty="0">
                <a:cs typeface="B Nazanin" pitchFamily="2" charset="-78"/>
              </a:rPr>
              <a:t>به‌راحتی در زیر قالب‌ها حرکت کند </a:t>
            </a:r>
            <a:r>
              <a:rPr lang="fa-IR" sz="2400" dirty="0">
                <a:cs typeface="B Nazanin" pitchFamily="2" charset="-78"/>
              </a:rPr>
              <a:t>و فضای زیر را پر نماید. اکیدا توصیه می‌شود جهت افزایش اسلامپ بتن و جلوگیری از کاهش مقاومت آن از فوق </a:t>
            </a:r>
            <a:r>
              <a:rPr lang="fa-IR" sz="2400" b="1" dirty="0">
                <a:cs typeface="B Nazanin" pitchFamily="2" charset="-78"/>
              </a:rPr>
              <a:t>روان کننده‌های مجاز </a:t>
            </a:r>
            <a:r>
              <a:rPr lang="fa-IR" sz="2400" dirty="0">
                <a:cs typeface="B Nazanin" pitchFamily="2" charset="-78"/>
              </a:rPr>
              <a:t>با مقدار توصیه شده در کاتالوگ فنی شرکت تولید کننده، استفاده شود.</a:t>
            </a:r>
            <a:endParaRPr lang="en-US" sz="2400" dirty="0">
              <a:cs typeface="B Nazanin" pitchFamily="2" charset="-78"/>
            </a:endParaRPr>
          </a:p>
          <a:p>
            <a:pPr lvl="0" algn="r" rtl="1">
              <a:buNone/>
            </a:pPr>
            <a:r>
              <a:rPr lang="fa-IR" sz="2400" dirty="0">
                <a:cs typeface="B Nazanin" pitchFamily="2" charset="-78"/>
              </a:rPr>
              <a:t>9. پس از تکمیل آرماتورهای شبکه اصلی، حتما کنترل شود تا میلگرد‌های اضافی مورد نیاز در نقشه‌ها اجراگردد. این میلگردها شامل میلگردهای اضافه‌ وسط دهانه، روی ستون‌ها و دیوارهای برشی، بازشوهای بزرگ، آرماتورهای 45 درجه اطراف بازشوها و ... می‌باشد.</a:t>
            </a:r>
            <a:endParaRPr lang="en-US" sz="2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66800" y="228600"/>
            <a:ext cx="7866888" cy="6019800"/>
          </a:xfrm>
        </p:spPr>
        <p:txBody>
          <a:bodyPr>
            <a:noAutofit/>
          </a:bodyPr>
          <a:lstStyle/>
          <a:p>
            <a:pPr lvl="0" algn="r" rtl="1">
              <a:buNone/>
            </a:pPr>
            <a:endParaRPr lang="en-US" sz="2400" dirty="0">
              <a:cs typeface="B Nazanin" pitchFamily="2" charset="-78"/>
            </a:endParaRPr>
          </a:p>
          <a:p>
            <a:pPr lvl="0" algn="r" rtl="1">
              <a:buNone/>
            </a:pPr>
            <a:r>
              <a:rPr lang="fa-IR" sz="2400" dirty="0">
                <a:cs typeface="B Nazanin" pitchFamily="2" charset="-78"/>
              </a:rPr>
              <a:t>10. دقت شود در صورت نیاز به اتصال اجزای غیر سازه‌ای به دال مجوف دوپوش (یوبوت) مانند نما، آسانسور و ...، </a:t>
            </a:r>
            <a:r>
              <a:rPr lang="fa-IR" sz="2400" b="1" dirty="0">
                <a:cs typeface="B Nazanin" pitchFamily="2" charset="-78"/>
              </a:rPr>
              <a:t>پلیت‌های طراحی شده در محل مورد نیاز قرار گرفته و محکم گردد</a:t>
            </a:r>
            <a:r>
              <a:rPr lang="fa-IR" sz="2400" dirty="0">
                <a:cs typeface="B Nazanin" pitchFamily="2" charset="-78"/>
              </a:rPr>
              <a:t>.</a:t>
            </a:r>
            <a:endParaRPr lang="en-US" sz="2400" dirty="0">
              <a:cs typeface="B Nazanin" pitchFamily="2" charset="-78"/>
            </a:endParaRPr>
          </a:p>
          <a:p>
            <a:pPr lvl="0" algn="r" rtl="1">
              <a:buNone/>
            </a:pPr>
            <a:r>
              <a:rPr lang="fa-IR" sz="2400" dirty="0">
                <a:cs typeface="B Nazanin" pitchFamily="2" charset="-78"/>
              </a:rPr>
              <a:t>11. جهت یکنواخت شدن ضخامت بتن، توصیه می‌گردد قبل از بتن‌ریزی شاخص (شابلون) مناسب تهیه گردد.</a:t>
            </a:r>
            <a:endParaRPr lang="en-US" sz="2400" dirty="0">
              <a:cs typeface="B Nazanin" pitchFamily="2" charset="-78"/>
            </a:endParaRPr>
          </a:p>
          <a:p>
            <a:pPr lvl="0" algn="r" rtl="1">
              <a:buNone/>
            </a:pPr>
            <a:r>
              <a:rPr lang="fa-IR" sz="2400" dirty="0">
                <a:cs typeface="B Nazanin" pitchFamily="2" charset="-78"/>
              </a:rPr>
              <a:t>12. در صورت امکان توصیه می‌گردد از پمپ هوایی جهت بتن‌ریزی استفاده گردد. استفاده از پمپ زمینی علاوه بر </a:t>
            </a:r>
            <a:r>
              <a:rPr lang="fa-IR" sz="2400" b="1" dirty="0">
                <a:cs typeface="B Nazanin" pitchFamily="2" charset="-78"/>
              </a:rPr>
              <a:t>ضربه به سقف </a:t>
            </a:r>
            <a:r>
              <a:rPr lang="fa-IR" sz="2400" dirty="0">
                <a:cs typeface="B Nazanin" pitchFamily="2" charset="-78"/>
              </a:rPr>
              <a:t>در هنگام پمپاژ، بتن‌ریزی را در دو لایه با مشکل مواجه کرده و باعث </a:t>
            </a:r>
            <a:r>
              <a:rPr lang="fa-IR" sz="2400" b="1" dirty="0">
                <a:cs typeface="B Nazanin" pitchFamily="2" charset="-78"/>
              </a:rPr>
              <a:t>بالا آمدن قالب‌های یوبوت </a:t>
            </a:r>
            <a:r>
              <a:rPr lang="fa-IR" sz="2400" dirty="0">
                <a:cs typeface="B Nazanin" pitchFamily="2" charset="-78"/>
              </a:rPr>
              <a:t>می‌شود.</a:t>
            </a:r>
            <a:endParaRPr lang="en-US" sz="2400" dirty="0">
              <a:cs typeface="B Nazanin" pitchFamily="2" charset="-78"/>
            </a:endParaRPr>
          </a:p>
          <a:p>
            <a:pPr lvl="0" algn="r" rtl="1">
              <a:buNone/>
            </a:pPr>
            <a:r>
              <a:rPr lang="fa-IR" sz="2400" dirty="0">
                <a:cs typeface="B Nazanin" pitchFamily="2" charset="-78"/>
              </a:rPr>
              <a:t>13. نگهداری از بتن پس از بتن‌ریزی باید دقیقا مطابق با آیین‌نامه‌های موجود انجام پذیرد.</a:t>
            </a:r>
            <a:endParaRPr lang="en-US" sz="2400" dirty="0">
              <a:cs typeface="B Nazanin" pitchFamily="2" charset="-78"/>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35608" y="228600"/>
            <a:ext cx="7498080" cy="6019800"/>
          </a:xfrm>
        </p:spPr>
        <p:txBody>
          <a:bodyPr>
            <a:noAutofit/>
          </a:bodyPr>
          <a:lstStyle/>
          <a:p>
            <a:pPr lvl="0" algn="r" rtl="1">
              <a:buNone/>
            </a:pPr>
            <a:endParaRPr lang="en-US" sz="2400" dirty="0">
              <a:cs typeface="B Nazanin" pitchFamily="2" charset="-78"/>
            </a:endParaRPr>
          </a:p>
          <a:p>
            <a:pPr lvl="0" algn="r" rtl="1">
              <a:buNone/>
            </a:pPr>
            <a:r>
              <a:rPr lang="fa-IR" sz="2400" dirty="0">
                <a:cs typeface="B Nazanin" pitchFamily="2" charset="-78"/>
              </a:rPr>
              <a:t>14. با توجه به اینکه وزن دال طبقه بالا در بیشتر مواقع از وزن بار طراحی بیشتر بوده، اکیدا توصیه می‌گردد در هنگام بتن‌ریزی هر سقف از </a:t>
            </a:r>
            <a:r>
              <a:rPr lang="fa-IR" sz="2400" b="1" dirty="0">
                <a:cs typeface="B Nazanin" pitchFamily="2" charset="-78"/>
              </a:rPr>
              <a:t>جک اطمینان در زیر دو سقف قبلی </a:t>
            </a:r>
            <a:r>
              <a:rPr lang="fa-IR" sz="2400" dirty="0">
                <a:cs typeface="B Nazanin" pitchFamily="2" charset="-78"/>
              </a:rPr>
              <a:t>استفاده گردد. در غیر این صورت وزن سقف در حال بتن‌ریزی، باعث ایجاد خیز و ترک در سقف زیرین خود می‌گردد.</a:t>
            </a:r>
            <a:endParaRPr lang="en-US" sz="2400" dirty="0">
              <a:cs typeface="B Nazanin" pitchFamily="2" charset="-78"/>
            </a:endParaRPr>
          </a:p>
          <a:p>
            <a:pPr lvl="0" algn="r" rtl="1">
              <a:buNone/>
            </a:pPr>
            <a:r>
              <a:rPr lang="fa-IR" sz="2400" dirty="0">
                <a:cs typeface="B Nazanin" pitchFamily="2" charset="-78"/>
              </a:rPr>
              <a:t>17. زمان بازکردن قالب‌های سقف، باید با توجه به درجه حرارت هوا و مطابق با آیین‌نامه‌های موجود تعیین گردد.</a:t>
            </a:r>
            <a:endParaRPr lang="en-US" sz="2400" dirty="0">
              <a:cs typeface="B Nazanin" pitchFamily="2" charset="-78"/>
            </a:endParaRPr>
          </a:p>
          <a:p>
            <a:pPr lvl="0" algn="r" rtl="1">
              <a:buNone/>
            </a:pPr>
            <a:r>
              <a:rPr lang="fa-IR" sz="2400" dirty="0">
                <a:cs typeface="B Nazanin" pitchFamily="2" charset="-78"/>
              </a:rPr>
              <a:t>18. در صورت ترکیب دال مجوف دوپوش (یوبوت) با تکنولوژی پیش‌تنیدگی، علاوه بر موارد بالا باید توجه داشت:</a:t>
            </a:r>
            <a:endParaRPr lang="en-US" sz="2400" dirty="0">
              <a:cs typeface="B Nazanin" pitchFamily="2" charset="-78"/>
            </a:endParaRPr>
          </a:p>
          <a:p>
            <a:pPr algn="r" rtl="1">
              <a:buNone/>
            </a:pPr>
            <a:r>
              <a:rPr lang="fa-IR" sz="2400" dirty="0">
                <a:cs typeface="B Nazanin" pitchFamily="2" charset="-78"/>
              </a:rPr>
              <a:t>19. حداقل مقاومت استوانه‌ای بتن 300 کیلوگرم بر سانتی‌متر مربع ‌باشد.</a:t>
            </a:r>
            <a:endParaRPr lang="en-US" sz="2400" dirty="0">
              <a:cs typeface="B Nazanin" pitchFamily="2" charset="-78"/>
            </a:endParaRPr>
          </a:p>
          <a:p>
            <a:pPr algn="r" rtl="1">
              <a:buNone/>
            </a:pPr>
            <a:r>
              <a:rPr lang="fa-IR" sz="2400" dirty="0">
                <a:cs typeface="B Nazanin" pitchFamily="2" charset="-78"/>
              </a:rPr>
              <a:t>20. قبل از انجام عملیات کشش کابل‌ها، از باز نمودن قالب‌های زیر خودداری گردد</a:t>
            </a:r>
            <a:r>
              <a:rPr lang="en-US" sz="2400" dirty="0">
                <a:cs typeface="B Nazanin" pitchFamily="2" charset="-78"/>
              </a:rPr>
              <a:t>.</a:t>
            </a:r>
          </a:p>
          <a:p>
            <a:pPr>
              <a:buNone/>
            </a:pPr>
            <a:endParaRPr lang="en-US" sz="2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r" rtl="1"/>
            <a:r>
              <a:rPr lang="fa-IR" sz="3600" b="1" dirty="0">
                <a:effectLst/>
                <a:cs typeface="B Nazanin" pitchFamily="2" charset="-78"/>
              </a:rPr>
              <a:t>با تشکر از نگاه های گرمتان</a:t>
            </a:r>
            <a:endParaRPr lang="en-US" sz="3600" b="1" dirty="0">
              <a:effectLst/>
              <a:cs typeface="B Nazanin" pitchFamily="2" charset="-78"/>
            </a:endParaRPr>
          </a:p>
        </p:txBody>
      </p:sp>
      <p:sp>
        <p:nvSpPr>
          <p:cNvPr id="3" name="Content Placeholder 2"/>
          <p:cNvSpPr>
            <a:spLocks noGrp="1"/>
          </p:cNvSpPr>
          <p:nvPr>
            <p:ph idx="1"/>
          </p:nvPr>
        </p:nvSpPr>
        <p:spPr>
          <a:xfrm>
            <a:off x="1435608" y="1447800"/>
            <a:ext cx="7327392" cy="4648200"/>
          </a:xfrm>
        </p:spPr>
        <p:txBody>
          <a:bodyPr>
            <a:normAutofit/>
          </a:bodyPr>
          <a:lstStyle/>
          <a:p>
            <a:pPr algn="ctr">
              <a:buNone/>
            </a:pPr>
            <a:r>
              <a:rPr lang="fa-IR" sz="28000" dirty="0">
                <a:cs typeface="B Nazanin" pitchFamily="2" charset="-78"/>
              </a:rPr>
              <a:t> پایان</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460</TotalTime>
  <Words>3274</Words>
  <Application>Microsoft Office PowerPoint</Application>
  <PresentationFormat>On-screen Show (4:3)</PresentationFormat>
  <Paragraphs>133</Paragraphs>
  <Slides>48</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48</vt:i4>
      </vt:variant>
    </vt:vector>
  </HeadingPairs>
  <TitlesOfParts>
    <vt:vector size="56" baseType="lpstr">
      <vt:lpstr>Arial</vt:lpstr>
      <vt:lpstr>Calibri</vt:lpstr>
      <vt:lpstr>Gill Sans MT</vt:lpstr>
      <vt:lpstr>Tahoma</vt:lpstr>
      <vt:lpstr>Times New Roman</vt:lpstr>
      <vt:lpstr>Verdana</vt:lpstr>
      <vt:lpstr>Wingdings 2</vt:lpstr>
      <vt:lpstr>Solstice</vt:lpstr>
      <vt:lpstr>PowerPoint Presentation</vt:lpstr>
      <vt:lpstr>مطالعات در زمینه سبک سازی و حذف بتن ناکارآمد از سال ۱۹۸۵ در دانشگاه های آلمان و مجموعه شرکت های گروه فناوری های کوبیاکس درسال ۱۹۹۷ با همراهی مهندسین و متخصصینی از سوئیس و دیگر کشورهای اتحادیه اروپا پایه ریزی و تآسیس شده است و اکنون تبدیل به یک مجموعه متخصص در مورد اسلب های تخت سبک با بتن مسلح شده است.            این دانش از سال ۱۳۸۷ به صورت انحصاری در ایران و تعدادی از کشورهای منطقه در اختیار شرکت خانه سازی پارس مان سازه است. </vt:lpstr>
      <vt:lpstr>دلايل ورود تکنولوژي كوبیاكس به كشور</vt:lpstr>
      <vt:lpstr>PowerPoint Presentation</vt:lpstr>
      <vt:lpstr>اجزاي سیستم كوبیاكس</vt:lpstr>
      <vt:lpstr>PowerPoint Presentation</vt:lpstr>
      <vt:lpstr>جزئیات اجرائي سقف هاي كوبیاكس</vt:lpstr>
      <vt:lpstr>مراحل اجراي سقف كوبیاكس</vt:lpstr>
      <vt:lpstr> 1. نصب شمعهاي موقت</vt:lpstr>
      <vt:lpstr>2. مش بندي سفره آرماتورهاي زيرين</vt:lpstr>
      <vt:lpstr>3. نصب كوبیاكس ها </vt:lpstr>
      <vt:lpstr>PowerPoint Presentation</vt:lpstr>
      <vt:lpstr>4. مشبندي سفره آرماتورهاي بالايي</vt:lpstr>
      <vt:lpstr>5. بتن ريزي</vt:lpstr>
      <vt:lpstr> 6. ويبره زدن بتن</vt:lpstr>
      <vt:lpstr>7. سطح بتن ريزي شده تسطیح شده</vt:lpstr>
      <vt:lpstr>8. نماي نهايي سقف</vt:lpstr>
      <vt:lpstr>مزاياي سقف كوبیاكس در مقايسه با دال بتني</vt:lpstr>
      <vt:lpstr>PowerPoint Presentation</vt:lpstr>
      <vt:lpstr>شکل(I)</vt:lpstr>
      <vt:lpstr>تاریخچه یوبوت</vt:lpstr>
      <vt:lpstr>مفهوم سیستم دال مجوف یوبوت</vt:lpstr>
      <vt:lpstr>PowerPoint Presentation</vt:lpstr>
      <vt:lpstr>PowerPoint Presentation</vt:lpstr>
      <vt:lpstr>PowerPoint Presentation</vt:lpstr>
      <vt:lpstr>مقطع فونداسیون و دال مجوف دوپوش پس از بتن ریزی به شکل زیر خواهد بود </vt:lpstr>
      <vt:lpstr>مزایای سیستم یوبوت </vt:lpstr>
      <vt:lpstr>2.کاهش میزان انتقال صوت، حرارت و لرزش</vt:lpstr>
      <vt:lpstr>PowerPoint Presentation</vt:lpstr>
      <vt:lpstr>4. بهبود عملکرد لرزه ای </vt:lpstr>
      <vt:lpstr>5. امکان ستون گذاری نامنظم </vt:lpstr>
      <vt:lpstr>روش اجرا </vt:lpstr>
      <vt:lpstr>2. بستن شبکه آرماتور پایین دال </vt:lpstr>
      <vt:lpstr>3. چیدن قالب ها با توجه به نقشه های اجرایی </vt:lpstr>
      <vt:lpstr>4. بستن شبکه آرماتور بالای دال </vt:lpstr>
      <vt:lpstr>5. بتن ریزی لایه اول </vt:lpstr>
      <vt:lpstr>6. تکمیل بتن ریزی </vt:lpstr>
      <vt:lpstr>7. باز کردن قالب های کف </vt:lpstr>
      <vt:lpstr>مقایسه یوبوت با دال و تیر</vt:lpstr>
      <vt:lpstr>مقایسه یوبوت با پیش تنیده</vt:lpstr>
      <vt:lpstr>مقایسه یوبوت با تیرچه بلوک</vt:lpstr>
      <vt:lpstr>نکات اجرایی دال مجوف دوپوش (یوبوت) </vt:lpstr>
      <vt:lpstr>PowerPoint Presentation</vt:lpstr>
      <vt:lpstr>PowerPoint Presentation</vt:lpstr>
      <vt:lpstr>PowerPoint Presentation</vt:lpstr>
      <vt:lpstr>PowerPoint Presentation</vt:lpstr>
      <vt:lpstr>PowerPoint Presentation</vt:lpstr>
      <vt:lpstr>با تشکر از نگاه های گرمتان</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Administrator</dc:creator>
  <cp:lastModifiedBy>Admin</cp:lastModifiedBy>
  <cp:revision>100</cp:revision>
  <dcterms:created xsi:type="dcterms:W3CDTF">2014-11-28T08:00:58Z</dcterms:created>
  <dcterms:modified xsi:type="dcterms:W3CDTF">2022-11-28T09:24:14Z</dcterms:modified>
</cp:coreProperties>
</file>