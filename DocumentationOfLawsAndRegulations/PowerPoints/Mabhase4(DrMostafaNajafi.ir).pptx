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9" r:id="rId5"/>
    <p:sldId id="282"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4" r:id="rId26"/>
    <p:sldId id="316" r:id="rId27"/>
    <p:sldId id="319" r:id="rId28"/>
    <p:sldId id="320" r:id="rId29"/>
    <p:sldId id="321" r:id="rId30"/>
    <p:sldId id="322" r:id="rId31"/>
    <p:sldId id="323" r:id="rId32"/>
    <p:sldId id="324" r:id="rId33"/>
    <p:sldId id="331" r:id="rId34"/>
    <p:sldId id="332" r:id="rId35"/>
    <p:sldId id="333" r:id="rId36"/>
    <p:sldId id="348" r:id="rId37"/>
    <p:sldId id="349" r:id="rId38"/>
    <p:sldId id="350" r:id="rId39"/>
    <p:sldId id="351" r:id="rId40"/>
    <p:sldId id="352" r:id="rId41"/>
    <p:sldId id="353" r:id="rId42"/>
    <p:sldId id="356" r:id="rId43"/>
    <p:sldId id="363" r:id="rId44"/>
    <p:sldId id="364" r:id="rId45"/>
    <p:sldId id="368" r:id="rId46"/>
    <p:sldId id="389" r:id="rId47"/>
    <p:sldId id="391" r:id="rId48"/>
    <p:sldId id="392" r:id="rId49"/>
    <p:sldId id="395" r:id="rId50"/>
    <p:sldId id="397" r:id="rId51"/>
    <p:sldId id="400" r:id="rId52"/>
    <p:sldId id="402" r:id="rId53"/>
    <p:sldId id="403" r:id="rId54"/>
    <p:sldId id="410" r:id="rId55"/>
    <p:sldId id="411" r:id="rId56"/>
    <p:sldId id="412" r:id="rId57"/>
    <p:sldId id="413" r:id="rId58"/>
    <p:sldId id="419" r:id="rId59"/>
    <p:sldId id="420" r:id="rId60"/>
    <p:sldId id="426" r:id="rId61"/>
    <p:sldId id="427" r:id="rId62"/>
    <p:sldId id="429" r:id="rId63"/>
    <p:sldId id="430" r:id="rId64"/>
    <p:sldId id="431" r:id="rId65"/>
    <p:sldId id="433" r:id="rId66"/>
    <p:sldId id="434" r:id="rId67"/>
    <p:sldId id="435" r:id="rId68"/>
    <p:sldId id="456" r:id="rId69"/>
    <p:sldId id="458" r:id="rId70"/>
    <p:sldId id="459" r:id="rId71"/>
    <p:sldId id="460" r:id="rId72"/>
    <p:sldId id="463" r:id="rId73"/>
    <p:sldId id="464" r:id="rId74"/>
    <p:sldId id="465" r:id="rId75"/>
    <p:sldId id="466" r:id="rId76"/>
    <p:sldId id="467" r:id="rId77"/>
    <p:sldId id="468" r:id="rId78"/>
    <p:sldId id="469" r:id="rId79"/>
    <p:sldId id="470" r:id="rId80"/>
    <p:sldId id="472" r:id="rId81"/>
    <p:sldId id="479" r:id="rId82"/>
    <p:sldId id="488" r:id="rId83"/>
    <p:sldId id="489" r:id="rId84"/>
    <p:sldId id="490" r:id="rId85"/>
    <p:sldId id="494" r:id="rId86"/>
    <p:sldId id="495" r:id="rId87"/>
    <p:sldId id="496" r:id="rId88"/>
    <p:sldId id="497" r:id="rId89"/>
    <p:sldId id="498" r:id="rId90"/>
    <p:sldId id="499" r:id="rId91"/>
    <p:sldId id="500" r:id="rId92"/>
    <p:sldId id="501" r:id="rId93"/>
    <p:sldId id="517" r:id="rId94"/>
    <p:sldId id="518" r:id="rId95"/>
    <p:sldId id="536" r:id="rId96"/>
    <p:sldId id="537" r:id="rId97"/>
    <p:sldId id="538" r:id="rId98"/>
    <p:sldId id="539" r:id="rId99"/>
    <p:sldId id="542" r:id="rId100"/>
    <p:sldId id="543" r:id="rId101"/>
    <p:sldId id="544" r:id="rId102"/>
    <p:sldId id="545" r:id="rId103"/>
    <p:sldId id="546" r:id="rId104"/>
    <p:sldId id="549" r:id="rId105"/>
    <p:sldId id="547" r:id="rId106"/>
    <p:sldId id="548" r:id="rId107"/>
    <p:sldId id="550" r:id="rId108"/>
    <p:sldId id="551" r:id="rId109"/>
    <p:sldId id="552" r:id="rId110"/>
    <p:sldId id="553" r:id="rId111"/>
    <p:sldId id="554" r:id="rId112"/>
    <p:sldId id="555" r:id="rId113"/>
    <p:sldId id="556" r:id="rId114"/>
    <p:sldId id="557" r:id="rId115"/>
    <p:sldId id="558" r:id="rId116"/>
    <p:sldId id="559" r:id="rId117"/>
    <p:sldId id="560" r:id="rId118"/>
    <p:sldId id="561" r:id="rId119"/>
    <p:sldId id="590" r:id="rId120"/>
    <p:sldId id="591" r:id="rId121"/>
    <p:sldId id="592" r:id="rId122"/>
    <p:sldId id="593" r:id="rId123"/>
    <p:sldId id="594" r:id="rId124"/>
    <p:sldId id="595" r:id="rId125"/>
    <p:sldId id="596" r:id="rId126"/>
    <p:sldId id="597" r:id="rId127"/>
    <p:sldId id="598" r:id="rId128"/>
    <p:sldId id="599" r:id="rId129"/>
    <p:sldId id="600" r:id="rId130"/>
    <p:sldId id="602" r:id="rId131"/>
    <p:sldId id="601" r:id="rId132"/>
    <p:sldId id="603" r:id="rId133"/>
    <p:sldId id="604" r:id="rId134"/>
    <p:sldId id="606" r:id="rId135"/>
    <p:sldId id="607" r:id="rId136"/>
    <p:sldId id="614" r:id="rId137"/>
    <p:sldId id="615" r:id="rId138"/>
    <p:sldId id="620" r:id="rId139"/>
    <p:sldId id="621" r:id="rId140"/>
    <p:sldId id="638" r:id="rId141"/>
    <p:sldId id="646" r:id="rId142"/>
    <p:sldId id="645" r:id="rId1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4F50"/>
    <a:srgbClr val="74714E"/>
    <a:srgbClr val="CC8B86"/>
    <a:srgbClr val="F9EAE1"/>
    <a:srgbClr val="D1BE9C"/>
    <a:srgbClr val="AABE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3" d="100"/>
          <a:sy n="83" d="100"/>
        </p:scale>
        <p:origin x="835"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48648-13AD-4F10-A99C-3056F56BAC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E2F748-8515-4BA9-A69B-C7F6114D24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753469-11AB-4815-8772-ACBE7D3C75BF}"/>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5" name="Footer Placeholder 4">
            <a:extLst>
              <a:ext uri="{FF2B5EF4-FFF2-40B4-BE49-F238E27FC236}">
                <a16:creationId xmlns:a16="http://schemas.microsoft.com/office/drawing/2014/main" id="{3F305306-D8B7-48E2-9134-858A37730C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A65F27-4150-4BDB-8762-3B9251972847}"/>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3132803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0FC9-B8AC-419B-A3F9-EE7603B1A2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DE744A-535C-4AD6-AF2B-706FCBC3AB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BFBE74-17CD-4703-8053-D739AB18069A}"/>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5" name="Footer Placeholder 4">
            <a:extLst>
              <a:ext uri="{FF2B5EF4-FFF2-40B4-BE49-F238E27FC236}">
                <a16:creationId xmlns:a16="http://schemas.microsoft.com/office/drawing/2014/main" id="{9E122F65-AB6C-4085-9F9D-84456748280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E2E1FDE-CA84-4F37-9C5B-A544ACA6A2A6}"/>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276213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2CE0-F86D-47BF-B832-5D51162D3C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2FF445-774C-488C-89F4-15D8C1016A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0DA8B1-E9D5-4B1A-9C83-C0F468B8342D}"/>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5" name="Footer Placeholder 4">
            <a:extLst>
              <a:ext uri="{FF2B5EF4-FFF2-40B4-BE49-F238E27FC236}">
                <a16:creationId xmlns:a16="http://schemas.microsoft.com/office/drawing/2014/main" id="{33FD09B8-B720-48C3-BB1D-EC1B2A73FF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10D62E-372D-402A-8D7E-9A0DDBF47E7B}"/>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4517736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CB8F4-35DF-43BF-9CFB-C180B4DB99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E7344A-D07C-47D3-A903-560F183C27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5936631-4AFF-4BC8-A96C-91046DDA50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F72BAD-B28E-43DB-86D4-BE391CFB5163}"/>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6" name="Footer Placeholder 5">
            <a:extLst>
              <a:ext uri="{FF2B5EF4-FFF2-40B4-BE49-F238E27FC236}">
                <a16:creationId xmlns:a16="http://schemas.microsoft.com/office/drawing/2014/main" id="{D269701D-A5C1-44DF-B163-5ED77923AD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C9E21EB-CDE9-4269-BAC7-B5DA57F2DADB}"/>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3715348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B56D4-2AB6-4D1B-8D89-EEDCDAE36E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4812BE0-91E3-42D9-B44A-FDB27E261E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F37FAAB-1A4F-4C1D-B37C-26A078D52C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0085FFC-2780-4B9E-8443-291C825ED1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04BC71A-6D2C-4EE5-9A8E-AC26A21023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E5D87C7-C639-4253-969A-FEABBC0507C0}"/>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8" name="Footer Placeholder 7">
            <a:extLst>
              <a:ext uri="{FF2B5EF4-FFF2-40B4-BE49-F238E27FC236}">
                <a16:creationId xmlns:a16="http://schemas.microsoft.com/office/drawing/2014/main" id="{BB61F22C-DC81-43E6-B297-64D55E4F403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3D1F49E-AC3A-48BA-9E76-BB8C59849158}"/>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3705235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DFF53-9F83-481D-8FDC-6598548904C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596DD73-E75C-41FE-8823-2BB14228F05E}"/>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4" name="Footer Placeholder 3">
            <a:extLst>
              <a:ext uri="{FF2B5EF4-FFF2-40B4-BE49-F238E27FC236}">
                <a16:creationId xmlns:a16="http://schemas.microsoft.com/office/drawing/2014/main" id="{A924573D-3FF7-4426-82D7-7CD5F6651EA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9922830-E776-403E-A532-23A9227259DE}"/>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40957206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67386-2BB0-4567-8300-84DE8359459F}"/>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3" name="Footer Placeholder 2">
            <a:extLst>
              <a:ext uri="{FF2B5EF4-FFF2-40B4-BE49-F238E27FC236}">
                <a16:creationId xmlns:a16="http://schemas.microsoft.com/office/drawing/2014/main" id="{478F9C43-82E9-4444-967E-D3D3171AD8F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564D701-8D3E-4F52-AF2E-33E73F3B2113}"/>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30170304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9E3D2-5300-403B-923C-59D72DA0AC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03BA0C-BAC7-4597-8C88-81E4BA0F36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5876E3-C4C7-4CFE-AF06-8CE658958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36693D-546D-4732-BB8A-95A5A5972CE5}"/>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6" name="Footer Placeholder 5">
            <a:extLst>
              <a:ext uri="{FF2B5EF4-FFF2-40B4-BE49-F238E27FC236}">
                <a16:creationId xmlns:a16="http://schemas.microsoft.com/office/drawing/2014/main" id="{6BF82C4C-C60B-489E-97E1-C3429AF8A65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3B63C1F-2813-4743-B447-7F6B466965E0}"/>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3141428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1AC1C-8A40-435D-8EC0-400FE2DD11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487EE6-55D4-47E8-B437-D85D3BA256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079B2F9A-92D5-4FE2-BAF3-4D8D7E24F6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7E719E-DEEC-4458-B074-FC3C2A456649}"/>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6" name="Footer Placeholder 5">
            <a:extLst>
              <a:ext uri="{FF2B5EF4-FFF2-40B4-BE49-F238E27FC236}">
                <a16:creationId xmlns:a16="http://schemas.microsoft.com/office/drawing/2014/main" id="{D9DDCF10-3BA5-43E9-9C8A-F53DF83FD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47FD36B-9DA5-42E5-B010-1F4FA0F24FA7}"/>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2154573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5DB5-2C43-4E00-9339-A9BBD7D5EE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478C42-52F7-4C8E-9FB4-7EC937A4A1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E6F02C-2161-44DB-A19A-E4EE71D2BAB7}"/>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5" name="Footer Placeholder 4">
            <a:extLst>
              <a:ext uri="{FF2B5EF4-FFF2-40B4-BE49-F238E27FC236}">
                <a16:creationId xmlns:a16="http://schemas.microsoft.com/office/drawing/2014/main" id="{CEE23EEF-0F41-43E4-8DB0-8A19BE9B22D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7DFF75-4142-4AE8-93C3-2CF70E23F4CC}"/>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3602206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480188-24B3-4974-A377-6B8FF30DF7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81F59E-1E8A-461B-98A2-2CB63C46299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C3DFD8-304F-469B-BD9C-9E1E65AF3A71}"/>
              </a:ext>
            </a:extLst>
          </p:cNvPr>
          <p:cNvSpPr>
            <a:spLocks noGrp="1"/>
          </p:cNvSpPr>
          <p:nvPr>
            <p:ph type="dt" sz="half" idx="10"/>
          </p:nvPr>
        </p:nvSpPr>
        <p:spPr/>
        <p:txBody>
          <a:bodyPr/>
          <a:lstStyle/>
          <a:p>
            <a:fld id="{1B2E5F86-F80C-4B90-8F3C-06859C5F8244}" type="datetimeFigureOut">
              <a:rPr lang="en-US" smtClean="0"/>
              <a:t>11/22/2023</a:t>
            </a:fld>
            <a:endParaRPr lang="en-US" dirty="0"/>
          </a:p>
        </p:txBody>
      </p:sp>
      <p:sp>
        <p:nvSpPr>
          <p:cNvPr id="5" name="Footer Placeholder 4">
            <a:extLst>
              <a:ext uri="{FF2B5EF4-FFF2-40B4-BE49-F238E27FC236}">
                <a16:creationId xmlns:a16="http://schemas.microsoft.com/office/drawing/2014/main" id="{5D3ED172-FB73-43C0-AD40-BC3C3C5A0E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3668DD4-AAAC-4BEC-BA5B-A0424E91E006}"/>
              </a:ext>
            </a:extLst>
          </p:cNvPr>
          <p:cNvSpPr>
            <a:spLocks noGrp="1"/>
          </p:cNvSpPr>
          <p:nvPr>
            <p:ph type="sldNum" sz="quarter" idx="12"/>
          </p:nvPr>
        </p:nvSpPr>
        <p:spPr/>
        <p:txBody>
          <a:bodyPr/>
          <a:lstStyle/>
          <a:p>
            <a:fld id="{6F5BD136-2A8C-4EB4-AF4E-343512E718BF}" type="slidenum">
              <a:rPr lang="en-US" smtClean="0"/>
              <a:t>‹#›</a:t>
            </a:fld>
            <a:endParaRPr lang="en-US" dirty="0"/>
          </a:p>
        </p:txBody>
      </p:sp>
    </p:spTree>
    <p:extLst>
      <p:ext uri="{BB962C8B-B14F-4D97-AF65-F5344CB8AC3E}">
        <p14:creationId xmlns:p14="http://schemas.microsoft.com/office/powerpoint/2010/main" val="1200053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3B9626-2943-4B1C-9E46-9BE2E03E32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41B959-6DD1-458A-8E6B-A9A23E60D4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5D351C-A641-4424-B114-84C8771722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2E5F86-F80C-4B90-8F3C-06859C5F8244}" type="datetimeFigureOut">
              <a:rPr lang="en-US" smtClean="0"/>
              <a:t>11/22/2023</a:t>
            </a:fld>
            <a:endParaRPr lang="en-US" dirty="0"/>
          </a:p>
        </p:txBody>
      </p:sp>
      <p:sp>
        <p:nvSpPr>
          <p:cNvPr id="5" name="Footer Placeholder 4">
            <a:extLst>
              <a:ext uri="{FF2B5EF4-FFF2-40B4-BE49-F238E27FC236}">
                <a16:creationId xmlns:a16="http://schemas.microsoft.com/office/drawing/2014/main" id="{F314D473-0BA4-4BF5-A8F3-5BECF58BB50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2FF9774-E861-4C72-A26D-B61BF597B3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5BD136-2A8C-4EB4-AF4E-343512E718BF}" type="slidenum">
              <a:rPr lang="en-US" smtClean="0"/>
              <a:t>‹#›</a:t>
            </a:fld>
            <a:endParaRPr lang="en-US" dirty="0"/>
          </a:p>
        </p:txBody>
      </p:sp>
    </p:spTree>
    <p:extLst>
      <p:ext uri="{BB962C8B-B14F-4D97-AF65-F5344CB8AC3E}">
        <p14:creationId xmlns:p14="http://schemas.microsoft.com/office/powerpoint/2010/main" val="1825740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hyperlink" Target="https://www.piqsels.com/en/public-domain-photo-jignd" TargetMode="External"/><Relationship Id="rId2" Type="http://schemas.openxmlformats.org/officeDocument/2006/relationships/image" Target="../media/image4.jp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2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مراحل طراحی معماری - شرکت مهندسین مشاور پی برز">
            <a:extLst>
              <a:ext uri="{FF2B5EF4-FFF2-40B4-BE49-F238E27FC236}">
                <a16:creationId xmlns:a16="http://schemas.microsoft.com/office/drawing/2014/main" id="{5C40A531-388E-44DE-82E0-97E352D74F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6" y="0"/>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6" name="Freeform: Shape 25">
            <a:extLst>
              <a:ext uri="{FF2B5EF4-FFF2-40B4-BE49-F238E27FC236}">
                <a16:creationId xmlns:a16="http://schemas.microsoft.com/office/drawing/2014/main" id="{381A5EB4-FDDC-4D71-A9A0-5396AFC36110}"/>
              </a:ext>
            </a:extLst>
          </p:cNvPr>
          <p:cNvSpPr/>
          <p:nvPr/>
        </p:nvSpPr>
        <p:spPr>
          <a:xfrm>
            <a:off x="0" y="0"/>
            <a:ext cx="12186313" cy="7377242"/>
          </a:xfrm>
          <a:custGeom>
            <a:avLst/>
            <a:gdLst>
              <a:gd name="connsiteX0" fmla="*/ 5476649 w 12186313"/>
              <a:gd name="connsiteY0" fmla="*/ 6858000 h 7377242"/>
              <a:gd name="connsiteX1" fmla="*/ 6513666 w 12186313"/>
              <a:gd name="connsiteY1" fmla="*/ 6858000 h 7377242"/>
              <a:gd name="connsiteX2" fmla="*/ 5995158 w 12186313"/>
              <a:gd name="connsiteY2" fmla="*/ 7377242 h 7377242"/>
              <a:gd name="connsiteX3" fmla="*/ 2427168 w 12186313"/>
              <a:gd name="connsiteY3" fmla="*/ 6858000 h 7377242"/>
              <a:gd name="connsiteX4" fmla="*/ 3464186 w 12186313"/>
              <a:gd name="connsiteY4" fmla="*/ 6858000 h 7377242"/>
              <a:gd name="connsiteX5" fmla="*/ 2945677 w 12186313"/>
              <a:gd name="connsiteY5" fmla="*/ 7377242 h 7377242"/>
              <a:gd name="connsiteX6" fmla="*/ 1 w 12186313"/>
              <a:gd name="connsiteY6" fmla="*/ 4439154 h 7377242"/>
              <a:gd name="connsiteX7" fmla="*/ 1 w 12186313"/>
              <a:gd name="connsiteY7" fmla="*/ 4439155 h 7377242"/>
              <a:gd name="connsiteX8" fmla="*/ 1 w 12186313"/>
              <a:gd name="connsiteY8" fmla="*/ 4439154 h 7377242"/>
              <a:gd name="connsiteX9" fmla="*/ 4484473 w 12186313"/>
              <a:gd name="connsiteY9" fmla="*/ 3002132 h 7377242"/>
              <a:gd name="connsiteX10" fmla="*/ 3049482 w 12186313"/>
              <a:gd name="connsiteY10" fmla="*/ 4439154 h 7377242"/>
              <a:gd name="connsiteX11" fmla="*/ 4484473 w 12186313"/>
              <a:gd name="connsiteY11" fmla="*/ 5876176 h 7377242"/>
              <a:gd name="connsiteX12" fmla="*/ 5919465 w 12186313"/>
              <a:gd name="connsiteY12" fmla="*/ 4439154 h 7377242"/>
              <a:gd name="connsiteX13" fmla="*/ 2945677 w 12186313"/>
              <a:gd name="connsiteY13" fmla="*/ 1501067 h 7377242"/>
              <a:gd name="connsiteX14" fmla="*/ 1510685 w 12186313"/>
              <a:gd name="connsiteY14" fmla="*/ 2938089 h 7377242"/>
              <a:gd name="connsiteX15" fmla="*/ 2945677 w 12186313"/>
              <a:gd name="connsiteY15" fmla="*/ 4375110 h 7377242"/>
              <a:gd name="connsiteX16" fmla="*/ 4380668 w 12186313"/>
              <a:gd name="connsiteY16" fmla="*/ 2938089 h 7377242"/>
              <a:gd name="connsiteX17" fmla="*/ 1 w 12186313"/>
              <a:gd name="connsiteY17" fmla="*/ 1437021 h 7377242"/>
              <a:gd name="connsiteX18" fmla="*/ 1 w 12186313"/>
              <a:gd name="connsiteY18" fmla="*/ 1437023 h 7377242"/>
              <a:gd name="connsiteX19" fmla="*/ 0 w 12186313"/>
              <a:gd name="connsiteY19" fmla="*/ 1437022 h 7377242"/>
              <a:gd name="connsiteX20" fmla="*/ 1434993 w 12186313"/>
              <a:gd name="connsiteY20" fmla="*/ 1 h 7377242"/>
              <a:gd name="connsiteX21" fmla="*/ 4456360 w 12186313"/>
              <a:gd name="connsiteY21" fmla="*/ 1 h 7377242"/>
              <a:gd name="connsiteX22" fmla="*/ 3021368 w 12186313"/>
              <a:gd name="connsiteY22" fmla="*/ 1437022 h 7377242"/>
              <a:gd name="connsiteX23" fmla="*/ 4456360 w 12186313"/>
              <a:gd name="connsiteY23" fmla="*/ 2874044 h 7377242"/>
              <a:gd name="connsiteX24" fmla="*/ 5891352 w 12186313"/>
              <a:gd name="connsiteY24" fmla="*/ 1437022 h 7377242"/>
              <a:gd name="connsiteX25" fmla="*/ 4456361 w 12186313"/>
              <a:gd name="connsiteY25" fmla="*/ 1 h 7377242"/>
              <a:gd name="connsiteX26" fmla="*/ 12186313 w 12186313"/>
              <a:gd name="connsiteY26" fmla="*/ 1 h 7377242"/>
              <a:gd name="connsiteX27" fmla="*/ 12186313 w 12186313"/>
              <a:gd name="connsiteY27" fmla="*/ 6858000 h 7377242"/>
              <a:gd name="connsiteX28" fmla="*/ 6513666 w 12186313"/>
              <a:gd name="connsiteY28" fmla="*/ 6858000 h 7377242"/>
              <a:gd name="connsiteX29" fmla="*/ 7430149 w 12186313"/>
              <a:gd name="connsiteY29" fmla="*/ 5940220 h 7377242"/>
              <a:gd name="connsiteX30" fmla="*/ 5995158 w 12186313"/>
              <a:gd name="connsiteY30" fmla="*/ 4503198 h 7377242"/>
              <a:gd name="connsiteX31" fmla="*/ 4560165 w 12186313"/>
              <a:gd name="connsiteY31" fmla="*/ 5940220 h 7377242"/>
              <a:gd name="connsiteX32" fmla="*/ 5476649 w 12186313"/>
              <a:gd name="connsiteY32" fmla="*/ 6858000 h 7377242"/>
              <a:gd name="connsiteX33" fmla="*/ 3464186 w 12186313"/>
              <a:gd name="connsiteY33" fmla="*/ 6858000 h 7377242"/>
              <a:gd name="connsiteX34" fmla="*/ 4380668 w 12186313"/>
              <a:gd name="connsiteY34" fmla="*/ 5940220 h 7377242"/>
              <a:gd name="connsiteX35" fmla="*/ 2945677 w 12186313"/>
              <a:gd name="connsiteY35" fmla="*/ 4503198 h 7377242"/>
              <a:gd name="connsiteX36" fmla="*/ 1510685 w 12186313"/>
              <a:gd name="connsiteY36" fmla="*/ 5940220 h 7377242"/>
              <a:gd name="connsiteX37" fmla="*/ 2427168 w 12186313"/>
              <a:gd name="connsiteY37" fmla="*/ 6858000 h 7377242"/>
              <a:gd name="connsiteX38" fmla="*/ 1 w 12186313"/>
              <a:gd name="connsiteY38" fmla="*/ 6858000 h 7377242"/>
              <a:gd name="connsiteX39" fmla="*/ 1 w 12186313"/>
              <a:gd name="connsiteY39" fmla="*/ 4439155 h 7377242"/>
              <a:gd name="connsiteX40" fmla="*/ 1434993 w 12186313"/>
              <a:gd name="connsiteY40" fmla="*/ 5876176 h 7377242"/>
              <a:gd name="connsiteX41" fmla="*/ 2869985 w 12186313"/>
              <a:gd name="connsiteY41" fmla="*/ 4439154 h 7377242"/>
              <a:gd name="connsiteX42" fmla="*/ 1434993 w 12186313"/>
              <a:gd name="connsiteY42" fmla="*/ 3002132 h 7377242"/>
              <a:gd name="connsiteX43" fmla="*/ 1 w 12186313"/>
              <a:gd name="connsiteY43" fmla="*/ 4439154 h 7377242"/>
              <a:gd name="connsiteX44" fmla="*/ 1 w 12186313"/>
              <a:gd name="connsiteY44" fmla="*/ 1437023 h 7377242"/>
              <a:gd name="connsiteX45" fmla="*/ 1434992 w 12186313"/>
              <a:gd name="connsiteY45" fmla="*/ 2874045 h 7377242"/>
              <a:gd name="connsiteX46" fmla="*/ 2869985 w 12186313"/>
              <a:gd name="connsiteY46" fmla="*/ 1437022 h 7377242"/>
              <a:gd name="connsiteX47" fmla="*/ 1 w 12186313"/>
              <a:gd name="connsiteY47" fmla="*/ 1 h 7377242"/>
              <a:gd name="connsiteX48" fmla="*/ 1434992 w 12186313"/>
              <a:gd name="connsiteY48" fmla="*/ 1 h 7377242"/>
              <a:gd name="connsiteX49" fmla="*/ 1 w 12186313"/>
              <a:gd name="connsiteY49" fmla="*/ 1437021 h 7377242"/>
              <a:gd name="connsiteX50" fmla="*/ 1434992 w 12186313"/>
              <a:gd name="connsiteY50" fmla="*/ 0 h 7377242"/>
              <a:gd name="connsiteX51" fmla="*/ 1434993 w 12186313"/>
              <a:gd name="connsiteY51" fmla="*/ 1 h 7377242"/>
              <a:gd name="connsiteX52" fmla="*/ 1434992 w 12186313"/>
              <a:gd name="connsiteY52" fmla="*/ 1 h 7377242"/>
              <a:gd name="connsiteX53" fmla="*/ 4456360 w 12186313"/>
              <a:gd name="connsiteY53" fmla="*/ 0 h 7377242"/>
              <a:gd name="connsiteX54" fmla="*/ 4456361 w 12186313"/>
              <a:gd name="connsiteY54" fmla="*/ 1 h 7377242"/>
              <a:gd name="connsiteX55" fmla="*/ 4456360 w 12186313"/>
              <a:gd name="connsiteY55" fmla="*/ 1 h 737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86313" h="7377242">
                <a:moveTo>
                  <a:pt x="5476649" y="6858000"/>
                </a:moveTo>
                <a:lnTo>
                  <a:pt x="6513666" y="6858000"/>
                </a:lnTo>
                <a:lnTo>
                  <a:pt x="5995158" y="7377242"/>
                </a:lnTo>
                <a:close/>
                <a:moveTo>
                  <a:pt x="2427168" y="6858000"/>
                </a:moveTo>
                <a:lnTo>
                  <a:pt x="3464186" y="6858000"/>
                </a:lnTo>
                <a:lnTo>
                  <a:pt x="2945677" y="7377242"/>
                </a:lnTo>
                <a:close/>
                <a:moveTo>
                  <a:pt x="1" y="4439154"/>
                </a:moveTo>
                <a:lnTo>
                  <a:pt x="1" y="4439155"/>
                </a:lnTo>
                <a:lnTo>
                  <a:pt x="1" y="4439154"/>
                </a:lnTo>
                <a:close/>
                <a:moveTo>
                  <a:pt x="4484473" y="3002132"/>
                </a:moveTo>
                <a:lnTo>
                  <a:pt x="3049482" y="4439154"/>
                </a:lnTo>
                <a:lnTo>
                  <a:pt x="4484473" y="5876176"/>
                </a:lnTo>
                <a:lnTo>
                  <a:pt x="5919465" y="4439154"/>
                </a:lnTo>
                <a:close/>
                <a:moveTo>
                  <a:pt x="2945677" y="1501067"/>
                </a:moveTo>
                <a:lnTo>
                  <a:pt x="1510685" y="2938089"/>
                </a:lnTo>
                <a:lnTo>
                  <a:pt x="2945677" y="4375110"/>
                </a:lnTo>
                <a:lnTo>
                  <a:pt x="4380668" y="2938089"/>
                </a:lnTo>
                <a:close/>
                <a:moveTo>
                  <a:pt x="1" y="1437021"/>
                </a:moveTo>
                <a:lnTo>
                  <a:pt x="1" y="1437023"/>
                </a:lnTo>
                <a:lnTo>
                  <a:pt x="0" y="1437022"/>
                </a:lnTo>
                <a:close/>
                <a:moveTo>
                  <a:pt x="1434993" y="1"/>
                </a:moveTo>
                <a:lnTo>
                  <a:pt x="4456360" y="1"/>
                </a:lnTo>
                <a:lnTo>
                  <a:pt x="3021368" y="1437022"/>
                </a:lnTo>
                <a:lnTo>
                  <a:pt x="4456360" y="2874044"/>
                </a:lnTo>
                <a:lnTo>
                  <a:pt x="5891352" y="1437022"/>
                </a:lnTo>
                <a:lnTo>
                  <a:pt x="4456361" y="1"/>
                </a:lnTo>
                <a:lnTo>
                  <a:pt x="12186313" y="1"/>
                </a:lnTo>
                <a:lnTo>
                  <a:pt x="12186313" y="6858000"/>
                </a:lnTo>
                <a:lnTo>
                  <a:pt x="6513666" y="6858000"/>
                </a:lnTo>
                <a:lnTo>
                  <a:pt x="7430149" y="5940220"/>
                </a:lnTo>
                <a:lnTo>
                  <a:pt x="5995158" y="4503198"/>
                </a:lnTo>
                <a:lnTo>
                  <a:pt x="4560165" y="5940220"/>
                </a:lnTo>
                <a:lnTo>
                  <a:pt x="5476649" y="6858000"/>
                </a:lnTo>
                <a:lnTo>
                  <a:pt x="3464186" y="6858000"/>
                </a:lnTo>
                <a:lnTo>
                  <a:pt x="4380668" y="5940220"/>
                </a:lnTo>
                <a:lnTo>
                  <a:pt x="2945677" y="4503198"/>
                </a:lnTo>
                <a:lnTo>
                  <a:pt x="1510685" y="5940220"/>
                </a:lnTo>
                <a:lnTo>
                  <a:pt x="2427168" y="6858000"/>
                </a:lnTo>
                <a:lnTo>
                  <a:pt x="1" y="6858000"/>
                </a:lnTo>
                <a:lnTo>
                  <a:pt x="1" y="4439155"/>
                </a:lnTo>
                <a:lnTo>
                  <a:pt x="1434993" y="5876176"/>
                </a:lnTo>
                <a:lnTo>
                  <a:pt x="2869985" y="4439154"/>
                </a:lnTo>
                <a:lnTo>
                  <a:pt x="1434993" y="3002132"/>
                </a:lnTo>
                <a:lnTo>
                  <a:pt x="1" y="4439154"/>
                </a:lnTo>
                <a:lnTo>
                  <a:pt x="1" y="1437023"/>
                </a:lnTo>
                <a:lnTo>
                  <a:pt x="1434992" y="2874045"/>
                </a:lnTo>
                <a:lnTo>
                  <a:pt x="2869985" y="1437022"/>
                </a:lnTo>
                <a:close/>
                <a:moveTo>
                  <a:pt x="1" y="1"/>
                </a:moveTo>
                <a:lnTo>
                  <a:pt x="1434992" y="1"/>
                </a:lnTo>
                <a:lnTo>
                  <a:pt x="1" y="1437021"/>
                </a:lnTo>
                <a:close/>
                <a:moveTo>
                  <a:pt x="1434992" y="0"/>
                </a:moveTo>
                <a:lnTo>
                  <a:pt x="1434993" y="1"/>
                </a:lnTo>
                <a:lnTo>
                  <a:pt x="1434992" y="1"/>
                </a:lnTo>
                <a:close/>
                <a:moveTo>
                  <a:pt x="4456360" y="0"/>
                </a:moveTo>
                <a:lnTo>
                  <a:pt x="4456361" y="1"/>
                </a:lnTo>
                <a:lnTo>
                  <a:pt x="4456360" y="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5687" y="600426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510684" y="-1501066"/>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Diamond 10">
            <a:extLst>
              <a:ext uri="{FF2B5EF4-FFF2-40B4-BE49-F238E27FC236}">
                <a16:creationId xmlns:a16="http://schemas.microsoft.com/office/drawing/2014/main" id="{A4472E3F-9666-46AC-AB4D-5A9E99D23F8F}"/>
              </a:ext>
            </a:extLst>
          </p:cNvPr>
          <p:cNvSpPr/>
          <p:nvPr/>
        </p:nvSpPr>
        <p:spPr>
          <a:xfrm>
            <a:off x="-1510684" y="1501066"/>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3E485E7-670D-4878-8CB7-B95E43716C9A}"/>
              </a:ext>
            </a:extLst>
          </p:cNvPr>
          <p:cNvSpPr/>
          <p:nvPr/>
        </p:nvSpPr>
        <p:spPr>
          <a:xfrm>
            <a:off x="-1510684" y="-1501066"/>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075E737B-BD71-49AC-8214-1C1ECC3EA121}"/>
              </a:ext>
            </a:extLst>
          </p:cNvPr>
          <p:cNvSpPr/>
          <p:nvPr/>
        </p:nvSpPr>
        <p:spPr>
          <a:xfrm>
            <a:off x="-1510684" y="450319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rot="10800000">
            <a:off x="4598404" y="1481287"/>
            <a:ext cx="7593596" cy="2874044"/>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Diamond 21">
            <a:extLst>
              <a:ext uri="{FF2B5EF4-FFF2-40B4-BE49-F238E27FC236}">
                <a16:creationId xmlns:a16="http://schemas.microsoft.com/office/drawing/2014/main" id="{C16C6BA9-D1B6-474A-B6C8-1224F184AEEB}"/>
              </a:ext>
            </a:extLst>
          </p:cNvPr>
          <p:cNvSpPr/>
          <p:nvPr/>
        </p:nvSpPr>
        <p:spPr>
          <a:xfrm>
            <a:off x="8992098" y="606830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7481414" y="450319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Diamond 23">
            <a:extLst>
              <a:ext uri="{FF2B5EF4-FFF2-40B4-BE49-F238E27FC236}">
                <a16:creationId xmlns:a16="http://schemas.microsoft.com/office/drawing/2014/main" id="{CB09FDDA-9F22-4BD9-88DE-51CB52BDC62F}"/>
              </a:ext>
            </a:extLst>
          </p:cNvPr>
          <p:cNvSpPr/>
          <p:nvPr/>
        </p:nvSpPr>
        <p:spPr>
          <a:xfrm>
            <a:off x="9906713" y="-1372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Diamond 24">
            <a:extLst>
              <a:ext uri="{FF2B5EF4-FFF2-40B4-BE49-F238E27FC236}">
                <a16:creationId xmlns:a16="http://schemas.microsoft.com/office/drawing/2014/main" id="{AA82D4E2-12F1-49D3-949F-0A4D8F41499C}"/>
              </a:ext>
            </a:extLst>
          </p:cNvPr>
          <p:cNvSpPr/>
          <p:nvPr/>
        </p:nvSpPr>
        <p:spPr>
          <a:xfrm>
            <a:off x="4532052" y="-1513222"/>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FE83C13-ADAB-4030-8D16-0EEA7C86FB89}"/>
              </a:ext>
            </a:extLst>
          </p:cNvPr>
          <p:cNvSpPr/>
          <p:nvPr/>
        </p:nvSpPr>
        <p:spPr>
          <a:xfrm>
            <a:off x="4726410" y="2116277"/>
            <a:ext cx="7593596" cy="15155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مبحث چهارم مقررات ملی ساختمان</a:t>
            </a:r>
            <a:endParaRPr lang="en-US" sz="4400" dirty="0">
              <a:solidFill>
                <a:srgbClr val="74714E"/>
              </a:solidFill>
              <a:cs typeface="B Titr" panose="00000700000000000000" pitchFamily="2" charset="-78"/>
            </a:endParaRPr>
          </a:p>
          <a:p>
            <a:pPr algn="ctr"/>
            <a:r>
              <a:rPr lang="fa-IR" sz="4400" dirty="0">
                <a:solidFill>
                  <a:srgbClr val="74714E"/>
                </a:solidFill>
                <a:cs typeface="B Titr" panose="00000700000000000000" pitchFamily="2" charset="-78"/>
              </a:rPr>
              <a:t>(الزامات عمومی ساختمان)</a:t>
            </a:r>
            <a:endParaRPr lang="en-US" sz="4400" dirty="0">
              <a:solidFill>
                <a:srgbClr val="74714E"/>
              </a:solidFill>
              <a:cs typeface="B Titr" panose="00000700000000000000" pitchFamily="2" charset="-78"/>
            </a:endParaRPr>
          </a:p>
        </p:txBody>
      </p:sp>
      <p:sp>
        <p:nvSpPr>
          <p:cNvPr id="28" name="Rectangle 27">
            <a:extLst>
              <a:ext uri="{FF2B5EF4-FFF2-40B4-BE49-F238E27FC236}">
                <a16:creationId xmlns:a16="http://schemas.microsoft.com/office/drawing/2014/main" id="{E88C9433-08FA-4C92-A6DC-5CFC432C01FD}"/>
              </a:ext>
            </a:extLst>
          </p:cNvPr>
          <p:cNvSpPr/>
          <p:nvPr/>
        </p:nvSpPr>
        <p:spPr>
          <a:xfrm>
            <a:off x="7033598" y="3378441"/>
            <a:ext cx="5010150" cy="23919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fa-IR" sz="2400" b="1" dirty="0">
                <a:solidFill>
                  <a:srgbClr val="74714E"/>
                </a:solidFill>
                <a:cs typeface="B Nazanin" panose="00000400000000000000" pitchFamily="2" charset="-78"/>
              </a:rPr>
              <a:t>درس: مدیریت تشکیلات کارگاهی</a:t>
            </a:r>
          </a:p>
          <a:p>
            <a:pPr algn="r"/>
            <a:r>
              <a:rPr lang="fa-IR" sz="2400" b="1" dirty="0">
                <a:solidFill>
                  <a:srgbClr val="74714E"/>
                </a:solidFill>
                <a:cs typeface="B Nazanin" panose="00000400000000000000" pitchFamily="2" charset="-78"/>
              </a:rPr>
              <a:t>استاد: دکتر سید مهدی موسوی</a:t>
            </a:r>
          </a:p>
          <a:p>
            <a:pPr algn="r"/>
            <a:r>
              <a:rPr lang="fa-IR" sz="2400" b="1" dirty="0">
                <a:solidFill>
                  <a:srgbClr val="74714E"/>
                </a:solidFill>
                <a:cs typeface="B Nazanin" panose="00000400000000000000" pitchFamily="2" charset="-78"/>
              </a:rPr>
              <a:t>ارائه دهندگان: الهه اسکندری- فاطمه شریفی</a:t>
            </a:r>
            <a:endParaRPr lang="en-US" sz="2400" b="1" dirty="0">
              <a:solidFill>
                <a:srgbClr val="74714E"/>
              </a:solidFill>
              <a:cs typeface="B Nazanin" panose="00000400000000000000" pitchFamily="2" charset="-78"/>
            </a:endParaRPr>
          </a:p>
        </p:txBody>
      </p:sp>
      <p:pic>
        <p:nvPicPr>
          <p:cNvPr id="29" name="Picture 28">
            <a:extLst>
              <a:ext uri="{FF2B5EF4-FFF2-40B4-BE49-F238E27FC236}">
                <a16:creationId xmlns:a16="http://schemas.microsoft.com/office/drawing/2014/main" id="{810F1F2E-9EC0-4572-9369-9B07C01A94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8353" y="5093639"/>
            <a:ext cx="1616106" cy="1501703"/>
          </a:xfrm>
          <a:prstGeom prst="rect">
            <a:avLst/>
          </a:prstGeom>
        </p:spPr>
      </p:pic>
      <p:sp>
        <p:nvSpPr>
          <p:cNvPr id="30" name="Rectangle 29">
            <a:extLst>
              <a:ext uri="{FF2B5EF4-FFF2-40B4-BE49-F238E27FC236}">
                <a16:creationId xmlns:a16="http://schemas.microsoft.com/office/drawing/2014/main" id="{E0F921F8-DA4E-4FC9-B4E8-3C6E1BB9A460}"/>
              </a:ext>
            </a:extLst>
          </p:cNvPr>
          <p:cNvSpPr/>
          <p:nvPr/>
        </p:nvSpPr>
        <p:spPr>
          <a:xfrm>
            <a:off x="6686940" y="6291787"/>
            <a:ext cx="1662057" cy="6071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2000" b="1" dirty="0">
                <a:solidFill>
                  <a:schemeClr val="tx1">
                    <a:lumMod val="95000"/>
                    <a:lumOff val="5000"/>
                  </a:schemeClr>
                </a:solidFill>
                <a:cs typeface="B Nazanin" panose="00000400000000000000" pitchFamily="2" charset="-78"/>
              </a:rPr>
              <a:t>پاییز 1402</a:t>
            </a:r>
            <a:endParaRPr lang="en-US" sz="2000" b="1" dirty="0">
              <a:solidFill>
                <a:schemeClr val="tx1">
                  <a:lumMod val="95000"/>
                  <a:lumOff val="5000"/>
                </a:schemeClr>
              </a:solidFill>
              <a:cs typeface="B Nazanin" panose="00000400000000000000" pitchFamily="2" charset="-78"/>
            </a:endParaRPr>
          </a:p>
        </p:txBody>
      </p:sp>
    </p:spTree>
    <p:extLst>
      <p:ext uri="{BB962C8B-B14F-4D97-AF65-F5344CB8AC3E}">
        <p14:creationId xmlns:p14="http://schemas.microsoft.com/office/powerpoint/2010/main" val="24480923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623732" y="3723477"/>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کلیات</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اول:</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14793236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318931"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کلیات</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اول:</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456423" y="899939"/>
            <a:ext cx="7483450" cy="3108543"/>
          </a:xfrm>
          <a:prstGeom prst="rect">
            <a:avLst/>
          </a:prstGeom>
          <a:noFill/>
        </p:spPr>
        <p:txBody>
          <a:bodyPr wrap="square">
            <a:spAutoFit/>
          </a:bodyPr>
          <a:lstStyle/>
          <a:p>
            <a:pPr algn="r"/>
            <a:r>
              <a:rPr lang="fa-IR" sz="2800" b="1" dirty="0">
                <a:solidFill>
                  <a:srgbClr val="7D4F50"/>
                </a:solidFill>
                <a:cs typeface="B Nazanin" panose="00000400000000000000" pitchFamily="2" charset="-78"/>
              </a:rPr>
              <a:t>اهداف کلی:</a:t>
            </a:r>
          </a:p>
          <a:p>
            <a:pPr algn="r"/>
            <a:endParaRPr lang="fa-IR" sz="2400" dirty="0">
              <a:solidFill>
                <a:schemeClr val="tx1">
                  <a:lumMod val="95000"/>
                  <a:lumOff val="5000"/>
                </a:schemeClr>
              </a:solidFill>
              <a:cs typeface="B Nazanin" panose="00000400000000000000" pitchFamily="2" charset="-78"/>
            </a:endParaRPr>
          </a:p>
          <a:p>
            <a:pPr algn="r"/>
            <a:r>
              <a:rPr lang="en-US" sz="2400" dirty="0">
                <a:solidFill>
                  <a:schemeClr val="tx1">
                    <a:lumMod val="95000"/>
                    <a:lumOff val="5000"/>
                  </a:schemeClr>
                </a:solidFill>
                <a:cs typeface="B Nazanin" panose="00000400000000000000" pitchFamily="2" charset="-78"/>
              </a:rPr>
              <a:t>این مقررات به منظور اطمینان از ایمنی، بهداشت، بهره دهی مناسب، آسایش و صرفه اقتصادی و تأمین نیازهای حداقل ساکنان و استفاده کنندگان متصرفان ابنیه و ساختمان‌های مشمول  قانون نظام مهندسی و کنترل ساختمان با تعیین محدودیت‌ها ابعاد حداقل فضاها نورگیری تهویه مناسب و سایر الزامات عمومی طراحی و اجرا به عنوان مبحث چهارم از مقررات ملی ساختمان ملاک عمل قرار می‌گیرد</a:t>
            </a:r>
            <a:r>
              <a:rPr lang="fa-IR" sz="2400" dirty="0">
                <a:solidFill>
                  <a:schemeClr val="tx1">
                    <a:lumMod val="95000"/>
                    <a:lumOff val="5000"/>
                  </a:schemeClr>
                </a:solidFill>
                <a:cs typeface="B Nazanin" panose="00000400000000000000" pitchFamily="2" charset="-78"/>
              </a:rPr>
              <a:t>.</a:t>
            </a:r>
            <a:endParaRPr lang="en-US" sz="2400" dirty="0">
              <a:solidFill>
                <a:schemeClr val="tx1">
                  <a:lumMod val="95000"/>
                  <a:lumOff val="5000"/>
                </a:schemeClr>
              </a:solidFill>
              <a:cs typeface="B Nazanin" panose="00000400000000000000" pitchFamily="2" charset="-78"/>
            </a:endParaRPr>
          </a:p>
        </p:txBody>
      </p:sp>
      <p:sp>
        <p:nvSpPr>
          <p:cNvPr id="11" name="Diamond 10">
            <a:extLst>
              <a:ext uri="{FF2B5EF4-FFF2-40B4-BE49-F238E27FC236}">
                <a16:creationId xmlns:a16="http://schemas.microsoft.com/office/drawing/2014/main" id="{C7E35295-5D8A-4CCD-A99B-847069959761}"/>
              </a:ext>
            </a:extLst>
          </p:cNvPr>
          <p:cNvSpPr/>
          <p:nvPr/>
        </p:nvSpPr>
        <p:spPr>
          <a:xfrm>
            <a:off x="-412595" y="28173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2" descr="مراحل صدور پروانه و جواز ساختمان ادمین :: ساختمان صنعت">
            <a:extLst>
              <a:ext uri="{FF2B5EF4-FFF2-40B4-BE49-F238E27FC236}">
                <a16:creationId xmlns:a16="http://schemas.microsoft.com/office/drawing/2014/main" id="{975D997A-B427-4FDF-9D66-05DBFB9DC4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75" r="21875"/>
          <a:stretch/>
        </p:blipFill>
        <p:spPr bwMode="auto">
          <a:xfrm>
            <a:off x="583709" y="1906850"/>
            <a:ext cx="4286250" cy="4286250"/>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647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318931"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کلیات</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اول:</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869959" y="909175"/>
            <a:ext cx="7051442"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الزامات اجرایی: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استفاده از مصالح و فرآورده‌ ها و روش‌های ساختمانی در صورتی مجاز است که علاوه بر انطباق با الزامات مبحث پنجم و یازدهم مقررات ملی ساختمان اثر زیان بخشی بر سلامتی سازندگان،ساکنان و استفاده کنندگان ساختمان و همچنین سایر مردم عابران و ساکنان ساختمان‌های مجاور نداشته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استفاده از اجزاء و سیستم‌های ساختمانی صنعتی روش‌های نوین ساخت و فرآورده ها و مصالح جدید در صورتی مجاز است که ضوابط و استانداردهای الزامی رعایت شود به تأیید نهادهای قانونی مسئول برسد و گواهی های لازم برای آن‌ها اخذ شود.</a:t>
            </a:r>
            <a:endParaRPr lang="en-US" sz="2400" dirty="0">
              <a:cs typeface="B Nazanin" panose="00000400000000000000" pitchFamily="2" charset="-78"/>
            </a:endParaRPr>
          </a:p>
        </p:txBody>
      </p:sp>
      <p:sp>
        <p:nvSpPr>
          <p:cNvPr id="11" name="Diamond 10">
            <a:extLst>
              <a:ext uri="{FF2B5EF4-FFF2-40B4-BE49-F238E27FC236}">
                <a16:creationId xmlns:a16="http://schemas.microsoft.com/office/drawing/2014/main" id="{F0A93611-CE41-4AE4-9B3D-FB80CAB259DC}"/>
              </a:ext>
            </a:extLst>
          </p:cNvPr>
          <p:cNvSpPr/>
          <p:nvPr/>
        </p:nvSpPr>
        <p:spPr>
          <a:xfrm>
            <a:off x="-412595" y="28173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مراحل صدور پروانه و جواز ساختمان ادمین :: ساختمان صنعت">
            <a:extLst>
              <a:ext uri="{FF2B5EF4-FFF2-40B4-BE49-F238E27FC236}">
                <a16:creationId xmlns:a16="http://schemas.microsoft.com/office/drawing/2014/main" id="{25D4B04D-D6D5-4F26-B81C-3B03886E2C7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75" r="21875"/>
          <a:stretch/>
        </p:blipFill>
        <p:spPr bwMode="auto">
          <a:xfrm>
            <a:off x="583709" y="1906850"/>
            <a:ext cx="4286250" cy="4286250"/>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18943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318931"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کلیات</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اول:</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28173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54469" y="899939"/>
            <a:ext cx="6966931"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الزامات اجرایی: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مصالح اضافی و نخاله های ساختمانی باید بدون لطمه به محیط زیست به طریقی که شهرداری و سایر نهادهای قانونی مسئول تعیین کنند از محل کارگاه انتقال یابد.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درختان، گیاهان و سایر عناصری که در پروانه ساختمان نگهداری آنها الزامی شده است باید در هنگام ،ساخت با روش‌های اصولی و مطمئن محافظت گردند و در صورت الزام به قطع درختان و موافقت شهرداری و سایر مقامات قانونی ،مسئول نشاندن درخت یا درختان جایگزین طبق نظر آنان الزامی است.</a:t>
            </a:r>
            <a:endParaRPr lang="en-US" sz="2400" dirty="0">
              <a:cs typeface="B Nazanin" panose="00000400000000000000" pitchFamily="2" charset="-78"/>
            </a:endParaRPr>
          </a:p>
        </p:txBody>
      </p:sp>
      <p:pic>
        <p:nvPicPr>
          <p:cNvPr id="80898" name="Picture 2" descr="مراحل صدور پروانه و جواز ساختمان ادمین :: ساختمان صنعت">
            <a:extLst>
              <a:ext uri="{FF2B5EF4-FFF2-40B4-BE49-F238E27FC236}">
                <a16:creationId xmlns:a16="http://schemas.microsoft.com/office/drawing/2014/main" id="{E4471D0E-652E-4A10-AA7A-2E22F39254A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875" r="21875"/>
          <a:stretch/>
        </p:blipFill>
        <p:spPr bwMode="auto">
          <a:xfrm>
            <a:off x="583709" y="1906850"/>
            <a:ext cx="4286250" cy="4286250"/>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10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623732" y="3723477"/>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تعاریف</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دوم: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4123673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236988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لغت به مفهوم در اختیار گرفتن ساختمان یا بخشی از آن به منظور اسکان کار یا استفاده ای معین است و در این مقررات مقصود از تصرف، نوع و شیوۀ بهره گیری از بنا یا بخشی از آن است که به منظوری خاص در دست بهره برداری بوده یا قرار است به آن منظور مورد استفاده واقع شود.</a:t>
            </a:r>
          </a:p>
        </p:txBody>
      </p:sp>
    </p:spTree>
    <p:extLst>
      <p:ext uri="{BB962C8B-B14F-4D97-AF65-F5344CB8AC3E}">
        <p14:creationId xmlns:p14="http://schemas.microsoft.com/office/powerpoint/2010/main" val="3562072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واحد تصرف:</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محدوده ای مستقل از یک بنا دارای متصرف یا متصرفانی با مالکیت یا مجوز بهره برداری مشخص که به وسیله دیوارها و سقف و کف از سایر واحدهای تصرف و فضای عمومی مجزا گردیده است مانند واحدهای مسکونی واحدهای کسبی مستقل، مغازه ها و واحدهای اداری مستقل اتاق‌های هتل ها و سایر ساختمان‌های ،اقامتی خوابگاه‌ها، بیمارستان ها، ادارات و یا غرفه های فروش  کالا در فروشگاه‌های بزرگ به طور مستقل واحد تصرف محسوب نمی‌شوند.</a:t>
            </a:r>
          </a:p>
        </p:txBody>
      </p:sp>
    </p:spTree>
    <p:extLst>
      <p:ext uri="{BB962C8B-B14F-4D97-AF65-F5344CB8AC3E}">
        <p14:creationId xmlns:p14="http://schemas.microsoft.com/office/powerpoint/2010/main" val="6280120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163121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بار تصرف:</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تعداد افراد استفاده کننده از یک فضا، واحد تصرف یا ساختمان به طور هم زمان است که راه دسترس یا خروج برای آن تعداد طراحی می‌شود. </a:t>
            </a:r>
          </a:p>
        </p:txBody>
      </p:sp>
    </p:spTree>
    <p:extLst>
      <p:ext uri="{BB962C8B-B14F-4D97-AF65-F5344CB8AC3E}">
        <p14:creationId xmlns:p14="http://schemas.microsoft.com/office/powerpoint/2010/main" val="14986413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648591" y="899939"/>
            <a:ext cx="8384460" cy="236988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مقصود از فضا در این مبحث محدوده ای از تصرف یا ساختمان است که برای فعالیتی مشخص در نظر گرفته شده است، فضاها ممکن است در ترکیب با یکدیگر یا مستقل از هم در تصرف های مختلف استقرار یابند. تقسیم بندی فضاها در ارتباط مستقیم با تقسیم بندی تصرف ها نیست و هر تصرف ممکن است از یک یا چند فضا تشکیل شود. </a:t>
            </a:r>
          </a:p>
        </p:txBody>
      </p:sp>
    </p:spTree>
    <p:extLst>
      <p:ext uri="{BB962C8B-B14F-4D97-AF65-F5344CB8AC3E}">
        <p14:creationId xmlns:p14="http://schemas.microsoft.com/office/powerpoint/2010/main" val="2006042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36941" y="899939"/>
            <a:ext cx="8384460"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انواع فضاها به طور کلی عبارتند از:</a:t>
            </a:r>
          </a:p>
          <a:p>
            <a:pPr algn="just" rtl="1"/>
            <a:r>
              <a:rPr lang="fa-IR" sz="2400" dirty="0">
                <a:cs typeface="B Nazanin" panose="00000400000000000000" pitchFamily="2" charset="-78"/>
              </a:rPr>
              <a:t>1)فضای اقامت: فضایی محصور برای زندگی خواب و غذا خوردن انسان است که به وسیله عناصر ساختمانی از جمله دیوارها، سقف و کف از سایر فضاها جدا شده و دارای نور و تهویه طبیعی و حفاظت لازم در برابر عوامل طبیعی باشد. </a:t>
            </a:r>
          </a:p>
          <a:p>
            <a:pPr algn="just" rtl="1"/>
            <a:r>
              <a:rPr lang="fa-IR" sz="2400" dirty="0">
                <a:cs typeface="B Nazanin" panose="00000400000000000000" pitchFamily="2" charset="-78"/>
              </a:rPr>
              <a:t>2)فضای اشتغال‌: فضایی محصور برای کسب و پیشه و استقرار شاغلان به تعداد کمتر از بیست نفر در تمام تصرف ها است که به وسیله عناصر ساختمانی از جمله دیوارها یا جدا کننده های قابل جابجایی (پارتیشن) سقف و کف از سایر فضاها جدا شده و دارای نور و تهویه طبیعی یا مصنوعی و حفاظت لازم در برابر عوامل طبیعی باشد.</a:t>
            </a:r>
          </a:p>
        </p:txBody>
      </p:sp>
    </p:spTree>
    <p:extLst>
      <p:ext uri="{BB962C8B-B14F-4D97-AF65-F5344CB8AC3E}">
        <p14:creationId xmlns:p14="http://schemas.microsoft.com/office/powerpoint/2010/main" val="15002255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463176" y="899939"/>
            <a:ext cx="8384460"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3)فضای جمعی: فضایی که برای استفاده جمعی و همزمان ۲۰ نفر و بیشتر در نظر گرفته شده است. فضاهایی مانند سالن گردهمایی یا کنفرانس، سالن سینما، سالن رستوران، سالن انتظار در ترمینال مسافربری، سالن قرائت، سالن نمایش، سالن نمایشگاه ، شبستان مسجد و استادیوم ورزشی فضاهای جمعی محسوب می‌شوند. </a:t>
            </a:r>
          </a:p>
          <a:p>
            <a:pPr algn="just" rtl="1"/>
            <a:r>
              <a:rPr lang="fa-IR" sz="2400" dirty="0">
                <a:cs typeface="B Nazanin" panose="00000400000000000000" pitchFamily="2" charset="-78"/>
              </a:rPr>
              <a:t>۴)فضای انبار: شامل همه فضاهایی که به منظور انبار کردن کالاها و محصولات غیر خطرناک مورد استفاده قرار می‌گیرند و محل اشتغال محسوب نمی‌شوند. </a:t>
            </a:r>
          </a:p>
          <a:p>
            <a:pPr algn="just" rtl="1"/>
            <a:r>
              <a:rPr lang="fa-IR" sz="2400" dirty="0">
                <a:cs typeface="B Nazanin" panose="00000400000000000000" pitchFamily="2" charset="-78"/>
              </a:rPr>
              <a:t>۵)فضای آشپزخانه: فضایی دارای نور و تهویه لازم مطابق الزامات مربوط که به امکانات و لوازمی تجهیز شده تا به منظور نگهداری مواد غذایی، آماده سازی و پخت و پز تهیه غذا مورد استفاده قرار می گیرد. </a:t>
            </a:r>
          </a:p>
        </p:txBody>
      </p:sp>
    </p:spTree>
    <p:extLst>
      <p:ext uri="{BB962C8B-B14F-4D97-AF65-F5344CB8AC3E}">
        <p14:creationId xmlns:p14="http://schemas.microsoft.com/office/powerpoint/2010/main" val="657774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آشپزخانه ها از نظر نحوه قرارگیری و معماری بر سه نوع هستند: </a:t>
            </a:r>
          </a:p>
          <a:p>
            <a:pPr algn="just" rtl="1"/>
            <a:r>
              <a:rPr lang="fa-IR" sz="2400" dirty="0">
                <a:cs typeface="B Nazanin" panose="00000400000000000000" pitchFamily="2" charset="-78"/>
              </a:rPr>
              <a:t>الف) آشپزخانه مستقل: توسط در  و سایر عناصر جداکننده از دیگر فضاها جدا شده است. </a:t>
            </a:r>
          </a:p>
          <a:p>
            <a:pPr algn="just" rtl="1"/>
            <a:r>
              <a:rPr lang="fa-IR" sz="2400" dirty="0">
                <a:cs typeface="B Nazanin" panose="00000400000000000000" pitchFamily="2" charset="-78"/>
              </a:rPr>
              <a:t>ب) آشپزخانه باز: فضا آشپزخانه بدون وجود در  یا دیگر عناصر معماری با سایر فضاها مرتبط است.   </a:t>
            </a:r>
          </a:p>
          <a:p>
            <a:pPr algn="just" rtl="1"/>
            <a:r>
              <a:rPr lang="fa-IR" sz="2400" dirty="0">
                <a:cs typeface="B Nazanin" panose="00000400000000000000" pitchFamily="2" charset="-78"/>
              </a:rPr>
              <a:t>پ) آشپزخانه دیواری: در آن تجهیزات آشپزخانه در جوار یا در داخل دیوار جاسازی شده به شکلی که حد فاصل ردیف قفسه با فضای مجاور هیچ عنصر ساختمانی یا قفسه ای قرار نگرفته  باشد و فقط میتواند توسط درهای قفسه ها پوشانده شده و از فضای اصلی مجزا شود. </a:t>
            </a:r>
          </a:p>
        </p:txBody>
      </p:sp>
    </p:spTree>
    <p:extLst>
      <p:ext uri="{BB962C8B-B14F-4D97-AF65-F5344CB8AC3E}">
        <p14:creationId xmlns:p14="http://schemas.microsoft.com/office/powerpoint/2010/main" val="977639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36941" y="899939"/>
            <a:ext cx="8384460"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آشپزخانه ها از نظر نوع استفاده سه دسته هستند: </a:t>
            </a:r>
          </a:p>
          <a:p>
            <a:pPr algn="just" rtl="1"/>
            <a:r>
              <a:rPr lang="fa-IR" sz="2400" dirty="0">
                <a:cs typeface="B Nazanin" panose="00000400000000000000" pitchFamily="2" charset="-78"/>
              </a:rPr>
              <a:t>الف) آشپزخانه خانگی: برای استفاده یک خانواده یا گروهی مشخص از افراد در نظر گرفته می شود. </a:t>
            </a:r>
          </a:p>
          <a:p>
            <a:pPr algn="just" rtl="1"/>
            <a:r>
              <a:rPr lang="fa-IR" sz="2400" dirty="0">
                <a:cs typeface="B Nazanin" panose="00000400000000000000" pitchFamily="2" charset="-78"/>
              </a:rPr>
              <a:t>ب) آشپزخانه تجاری یا عمومی:  برای یک فعالیت تجاری مانند رستوران‌ها و هتل ها یا مراکز عرضه کننده غذا مورد استفاده قرار می‌گیرد.  </a:t>
            </a:r>
          </a:p>
          <a:p>
            <a:pPr algn="just" rtl="1"/>
            <a:r>
              <a:rPr lang="fa-IR" sz="2400" dirty="0">
                <a:cs typeface="B Nazanin" panose="00000400000000000000" pitchFamily="2" charset="-78"/>
              </a:rPr>
              <a:t>پ) آشپزخانه صنعتی :برای تولید صنعتی و بسته بندی انبوه غذا ایجاد می‌شود . آشپزخانه صنعتی تابع مقررات جداگانه و خاص خود است.</a:t>
            </a:r>
          </a:p>
        </p:txBody>
      </p:sp>
    </p:spTree>
    <p:extLst>
      <p:ext uri="{BB962C8B-B14F-4D97-AF65-F5344CB8AC3E}">
        <p14:creationId xmlns:p14="http://schemas.microsoft.com/office/powerpoint/2010/main" val="37099603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463176" y="899939"/>
            <a:ext cx="8384460"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۶) فضای آبدارخانه :فضایی مشابه آشپزخانه که تنها به امکانات و لوازم آماده سازی و تهیه خوراک سرد و نوشیدنی‌ها تجهیز می‌شود و در آن لوازم پخت و پز نصب نمی‌شود . در مواردی در همین فضا با تمهیدات لازم از جمله تهویه کافی لوازم گرم کردن غذای آماده نیز نصب می‌گردد.</a:t>
            </a:r>
          </a:p>
          <a:p>
            <a:pPr algn="just" rtl="1"/>
            <a:r>
              <a:rPr lang="fa-IR" sz="2400" dirty="0">
                <a:cs typeface="B Nazanin" panose="00000400000000000000" pitchFamily="2" charset="-78"/>
              </a:rPr>
              <a:t>۷) فضای بهداشتی: فضایی دارای تهویه و روشنایی لازم مطابق مقررات مربوط که به امکانات لوازمی تجهیز شده تا به منظور تأمین بهداشت ساکنان و استفاده کنندگان ساختمان مورد استفاده قرار گیرد. این فضاها شامل سرویس بهداشتی و حمام و فضای شستشوی نظافت می‌شوند .</a:t>
            </a:r>
          </a:p>
        </p:txBody>
      </p:sp>
    </p:spTree>
    <p:extLst>
      <p:ext uri="{BB962C8B-B14F-4D97-AF65-F5344CB8AC3E}">
        <p14:creationId xmlns:p14="http://schemas.microsoft.com/office/powerpoint/2010/main" val="2045414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05189" y="899939"/>
            <a:ext cx="8384460"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فضاهای بهداشتی به طور کلی از نظر نوع استفاده بر سه دسته اند: </a:t>
            </a:r>
          </a:p>
          <a:p>
            <a:pPr algn="just" rtl="1"/>
            <a:r>
              <a:rPr lang="fa-IR" sz="2400" dirty="0">
                <a:cs typeface="B Nazanin" panose="00000400000000000000" pitchFamily="2" charset="-78"/>
              </a:rPr>
              <a:t>الف) فضاهای بهداشتی _خصوصی: برای استفاده افرادی معین در یک دوره زمانی مانند ساکنان فضاهای اقامت یا گروهی مشخص از افراد از جمله کارکنان ثابت یک تصرف اداری در نظر گرفته می شوند. </a:t>
            </a:r>
          </a:p>
          <a:p>
            <a:pPr algn="just" rtl="1"/>
            <a:r>
              <a:rPr lang="fa-IR" sz="2400" dirty="0">
                <a:cs typeface="B Nazanin" panose="00000400000000000000" pitchFamily="2" charset="-78"/>
              </a:rPr>
              <a:t>ب) فضاهای بهداشتی عمومی: برای استفاده عموم افراد در نظر گرفته می شوند. مانند فضاهای بهداشتی در ساختمان‌ها و فضاهای عمومی یا فضاهای اختصاص یافته به مراجعه کنندگان در تصرف های اداری و یا تجاری.</a:t>
            </a:r>
          </a:p>
        </p:txBody>
      </p:sp>
    </p:spTree>
    <p:extLst>
      <p:ext uri="{BB962C8B-B14F-4D97-AF65-F5344CB8AC3E}">
        <p14:creationId xmlns:p14="http://schemas.microsoft.com/office/powerpoint/2010/main" val="3582686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648591" y="899939"/>
            <a:ext cx="8384460"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 فضاهای بهداشتی خاص: در تصرف ها و فضاهایی مانند بیمارستان‌ها، آزمایشگاه های تشخیص پزشکی و آسایشگاه ها برای نیازهای خاص استفاده کنندگان تعبیه می‌شوند و باید از مشخصات و الزامات مختص خود پیروی نمایند. </a:t>
            </a:r>
          </a:p>
          <a:p>
            <a:pPr algn="just" rtl="1"/>
            <a:r>
              <a:rPr lang="fa-IR" sz="2400" dirty="0">
                <a:cs typeface="B Nazanin" panose="00000400000000000000" pitchFamily="2" charset="-78"/>
              </a:rPr>
              <a:t>فضای ارتباط و دسترس فضائی که ارتباط و دسترسی به تصرف های درون ساختمان یا بین فضاها از طریق آن صورت می‌گیرد،چنین فضاهایی ممکن است به عنوان بخشی از ساختمان به صورت محصور و سرپوشیده طراحی شوند و یا به صورت فضای نیمه باز متصل به ساختمان در مسیر دسترس و خروج ساختمان قرار گیرند.</a:t>
            </a:r>
          </a:p>
        </p:txBody>
      </p:sp>
    </p:spTree>
    <p:extLst>
      <p:ext uri="{BB962C8B-B14F-4D97-AF65-F5344CB8AC3E}">
        <p14:creationId xmlns:p14="http://schemas.microsoft.com/office/powerpoint/2010/main" val="1048632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36941" y="899939"/>
            <a:ext cx="8384460"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۹) فضای تأسیسات: فضاهایی مستقل که تجهیزات و وسایل تأسیساتی ساختمان در آن نصب می‌شوند، اگر چه ممکن است در مواقعی عملیات نگهداری یا تعمیر تجهیزات نصب شده در آن صورت گیرد فضای اشتغال محسوب نمی‌شود . </a:t>
            </a:r>
          </a:p>
          <a:p>
            <a:pPr algn="just" rtl="1"/>
            <a:r>
              <a:rPr lang="fa-IR" sz="2400" dirty="0">
                <a:cs typeface="B Nazanin" panose="00000400000000000000" pitchFamily="2" charset="-78"/>
              </a:rPr>
              <a:t>۱۰) توقفگاه :محل‌های توقف و نگهداری وسایل نقلیه که شامل توقفگاه های وسایل نقلیه در فضای باز و فضاهای توقفگاه وسایل نقلیه در ساختمان می‌شوند.</a:t>
            </a:r>
          </a:p>
          <a:p>
            <a:pPr algn="just" rtl="1"/>
            <a:r>
              <a:rPr lang="fa-IR" sz="2400" dirty="0">
                <a:cs typeface="B Nazanin" panose="00000400000000000000" pitchFamily="2" charset="-78"/>
              </a:rPr>
              <a:t>۱۱) فضای توقفگاه وسایل نقلیه در ساختمان:</a:t>
            </a:r>
          </a:p>
          <a:p>
            <a:pPr algn="just" rtl="1"/>
            <a:r>
              <a:rPr lang="fa-IR" sz="2400" dirty="0">
                <a:cs typeface="B Nazanin" panose="00000400000000000000" pitchFamily="2" charset="-78"/>
              </a:rPr>
              <a:t>توقفگاه های مختص وسایل نقلیه ساکنان در ساختمان‌های مسکونی یا ساختمان‌هایی که مکان‌های توقف دارای مالکیت یا حق استفاده افراد معین است توقفگاه های خصوصی محسوب گردیده و توقفگاههایی که امکان استفاده عموم از آنها میسر است توقفگاه عمومی محسوب می‌گردند.</a:t>
            </a:r>
          </a:p>
        </p:txBody>
      </p:sp>
    </p:spTree>
    <p:extLst>
      <p:ext uri="{BB962C8B-B14F-4D97-AF65-F5344CB8AC3E}">
        <p14:creationId xmlns:p14="http://schemas.microsoft.com/office/powerpoint/2010/main" val="3508013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01430" y="899939"/>
            <a:ext cx="8384460" cy="236988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توقفگاه های خودرو به سه گروه کوچک تقسیم می شوند‌:</a:t>
            </a:r>
          </a:p>
          <a:p>
            <a:pPr algn="just" rtl="1"/>
            <a:r>
              <a:rPr lang="fa-IR" sz="2400" dirty="0">
                <a:cs typeface="B Nazanin" panose="00000400000000000000" pitchFamily="2" charset="-78"/>
              </a:rPr>
              <a:t>1)دارای حداکثر ۳ محل توقف خودرو متوسط </a:t>
            </a:r>
          </a:p>
          <a:p>
            <a:pPr algn="just" rtl="1"/>
            <a:r>
              <a:rPr lang="fa-IR" sz="2400" dirty="0">
                <a:cs typeface="B Nazanin" panose="00000400000000000000" pitchFamily="2" charset="-78"/>
              </a:rPr>
              <a:t>2)دارای ۴ تا حداکثر ۲۵ محل توقف خودروبزرگ</a:t>
            </a:r>
          </a:p>
          <a:p>
            <a:pPr algn="just" rtl="1"/>
            <a:r>
              <a:rPr lang="fa-IR" sz="2400" dirty="0">
                <a:cs typeface="B Nazanin" panose="00000400000000000000" pitchFamily="2" charset="-78"/>
              </a:rPr>
              <a:t>3) دارای بیش از ۲۵ محل توقف خودرو در انواع خصوصی و عمومی تقسیم می‌شوند. </a:t>
            </a:r>
          </a:p>
        </p:txBody>
      </p:sp>
    </p:spTree>
    <p:extLst>
      <p:ext uri="{BB962C8B-B14F-4D97-AF65-F5344CB8AC3E}">
        <p14:creationId xmlns:p14="http://schemas.microsoft.com/office/powerpoint/2010/main" val="3454813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۱۲)فضاهای باز: </a:t>
            </a:r>
          </a:p>
          <a:p>
            <a:pPr algn="just" rtl="1"/>
            <a:r>
              <a:rPr lang="fa-IR" sz="2400" dirty="0">
                <a:cs typeface="B Nazanin" panose="00000400000000000000" pitchFamily="2" charset="-78"/>
              </a:rPr>
              <a:t>الف)حیاط بیرونی: فضایی باز و بیرون سطح زیربنا است که قسمت اعظم نورگیری ساختمان از آن تأمین می‌شود . نسبت سطوح حیاط و سطح زیربنای همکف در مقررات طرح های توسعه شهری تعیین می‌شود . </a:t>
            </a:r>
          </a:p>
          <a:p>
            <a:pPr algn="just" rtl="1"/>
            <a:r>
              <a:rPr lang="fa-IR" sz="2400" dirty="0">
                <a:cs typeface="B Nazanin" panose="00000400000000000000" pitchFamily="2" charset="-78"/>
              </a:rPr>
              <a:t>ب)حیاط خلوت: فضایی باز است کوچکتر از حیاط بیرونی و معمولاً در منتهی الیه دیگر ساختمان که ممکن است در تمام عرض زمین و یا در قسمتی از آن قرار گیرد.</a:t>
            </a:r>
          </a:p>
        </p:txBody>
      </p:sp>
    </p:spTree>
    <p:extLst>
      <p:ext uri="{BB962C8B-B14F-4D97-AF65-F5344CB8AC3E}">
        <p14:creationId xmlns:p14="http://schemas.microsoft.com/office/powerpoint/2010/main" val="3013958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273921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 حیاط های داخلی: فضایی است باز که در میان زیربنای ساختمان تعبیه شده و برای تأمین نور و هوای فضاهای داخلی مورد استفاده قرار می‌گیرد:</a:t>
            </a:r>
          </a:p>
          <a:p>
            <a:pPr algn="just" rtl="1"/>
            <a:r>
              <a:rPr lang="fa-IR" sz="2400" dirty="0">
                <a:cs typeface="B Nazanin" panose="00000400000000000000" pitchFamily="2" charset="-78"/>
              </a:rPr>
              <a:t>۱) پاسیو: فضایی باز است که به وسیله‌ی جداره هایی محصور شده و به طور معمول اضلاع آن در تمام ارتفاع ساختمان امتداد یافته و وظیفه‌ی تأمین نور و تهویه از ساختمان را در طبقات بر عهده دارد. </a:t>
            </a:r>
          </a:p>
        </p:txBody>
      </p:sp>
    </p:spTree>
    <p:extLst>
      <p:ext uri="{BB962C8B-B14F-4D97-AF65-F5344CB8AC3E}">
        <p14:creationId xmlns:p14="http://schemas.microsoft.com/office/powerpoint/2010/main" val="1834434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2)گودال باغچه: فضایی باز در ساختمان‌های گروه ۳ از که در میان ساختمان قرار دارد و به طور معمول کف آن در سطحی پایین تز  از تراز طبقه همکف قرار گرفته است و وظیفه تأمین نور و تهویه بخشی از ساختمان را بر عهده دارد. </a:t>
            </a:r>
          </a:p>
          <a:p>
            <a:pPr algn="just" rtl="1"/>
            <a:r>
              <a:rPr lang="fa-IR" sz="2400" dirty="0">
                <a:cs typeface="B Nazanin" panose="00000400000000000000" pitchFamily="2" charset="-78"/>
              </a:rPr>
              <a:t>۳) حیاط مرکزی: فضایی باز در طبقه همکف ساختمانهای گروه ۳ است که توسط احجام ساختمانی همان پلاک از دو طرف یا بیشتر محصور گردیده و با رعایت ضوابط طرح های توسعه شهری می‌تواند  به عنوان حیاط اصلی محسوب شود.</a:t>
            </a:r>
          </a:p>
        </p:txBody>
      </p:sp>
    </p:spTree>
    <p:extLst>
      <p:ext uri="{BB962C8B-B14F-4D97-AF65-F5344CB8AC3E}">
        <p14:creationId xmlns:p14="http://schemas.microsoft.com/office/powerpoint/2010/main" val="1661229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 فضاهای نیمه باز :به فضاهایی اطلاق می‌شود که امکان دسترسی از داخل ساختمان داشته و در ارتباط با هوای آزاد قرار دارند به گونه ای که حداقل یک وجه آن‌ها باز است. انواع این فضاها عبارتند از: </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١) بالکن: سطحی است که از دو یا سه طرف به طور مستقیم در مجاورت هوای آزاد قرار گرفته است و زیر آن به وسیله فضای بسته‌ای اشغال نگردیده باشد.</a:t>
            </a:r>
          </a:p>
        </p:txBody>
      </p:sp>
    </p:spTree>
    <p:extLst>
      <p:ext uri="{BB962C8B-B14F-4D97-AF65-F5344CB8AC3E}">
        <p14:creationId xmlns:p14="http://schemas.microsoft.com/office/powerpoint/2010/main" val="9360254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273921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۲) بالکن کم عرض: بالکنی است با عرض کمتر از ۰/۵۰ متر و حداکثر با طولی برابر با اندازه عرض پنجره ای که تا کف امتداد دارد، بالکن کم عرض را میتوان با مصالح غیر بنایی و با نرده و امثال آن هم ساخت </a:t>
            </a:r>
          </a:p>
          <a:p>
            <a:pPr algn="just" rtl="1"/>
            <a:r>
              <a:rPr lang="fa-IR" sz="2400" dirty="0">
                <a:cs typeface="B Nazanin" panose="00000400000000000000" pitchFamily="2" charset="-78"/>
              </a:rPr>
              <a:t>۳) مهتابی (تراس): سطح روبازی از ساختمان که بام بخش‌هایی از طبقه زیرین آن است. </a:t>
            </a:r>
          </a:p>
          <a:p>
            <a:pPr algn="just" rtl="1"/>
            <a:r>
              <a:rPr lang="fa-IR" sz="2400" dirty="0">
                <a:cs typeface="B Nazanin" panose="00000400000000000000" pitchFamily="2" charset="-78"/>
              </a:rPr>
              <a:t>4) ایوان: فضايي مسقف است که از یک طرف با هوای آزاد به طور مستقیم ارتباط دارد. </a:t>
            </a:r>
          </a:p>
        </p:txBody>
      </p:sp>
    </p:spTree>
    <p:extLst>
      <p:ext uri="{BB962C8B-B14F-4D97-AF65-F5344CB8AC3E}">
        <p14:creationId xmlns:p14="http://schemas.microsoft.com/office/powerpoint/2010/main" val="497523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36941" y="899939"/>
            <a:ext cx="8384460" cy="3970318"/>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اتاق:</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فضایی دارای نور و تهویه مستقل مطابق الزامات مربوط که به وسیله دیوارها در پنجره سقف و کف از سایر فضاها و محیط خارج ساختمان جدا شده و مطابق ضوابط مربوط برای اقامت یا اشتغال در نظر گرفته شده است.</a:t>
            </a:r>
          </a:p>
          <a:p>
            <a:pPr algn="just" rtl="1"/>
            <a:endParaRPr lang="fa-IR" sz="2400" dirty="0">
              <a:cs typeface="B Nazanin" panose="00000400000000000000" pitchFamily="2" charset="-78"/>
            </a:endParaRPr>
          </a:p>
          <a:p>
            <a:pPr algn="just" rtl="1"/>
            <a:r>
              <a:rPr lang="fa-IR" sz="2800" b="1" dirty="0">
                <a:solidFill>
                  <a:srgbClr val="7D4F50"/>
                </a:solidFill>
                <a:cs typeface="B Nazanin" panose="00000400000000000000" pitchFamily="2" charset="-78"/>
              </a:rPr>
              <a:t>فضای مشاع:</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بخش‌هایی از ساختمان یا مجموعه ساختمانی که در انطباق با قانون تملک آپارتمان‌ها و سایر قوانین مرتبط مالکیت آن به عموم مالکان آن ساختمان یا مجموعه تعلق دارد.</a:t>
            </a:r>
          </a:p>
        </p:txBody>
      </p:sp>
    </p:spTree>
    <p:extLst>
      <p:ext uri="{BB962C8B-B14F-4D97-AF65-F5344CB8AC3E}">
        <p14:creationId xmlns:p14="http://schemas.microsoft.com/office/powerpoint/2010/main" val="18956742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3265663" y="-397318"/>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600" dirty="0">
                <a:solidFill>
                  <a:srgbClr val="74714E"/>
                </a:solidFill>
                <a:cs typeface="B Titr" panose="00000700000000000000" pitchFamily="2" charset="-78"/>
              </a:rPr>
              <a:t>تعاریف</a:t>
            </a:r>
            <a:endParaRPr lang="en-US" sz="48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دوم: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77700" y="899939"/>
            <a:ext cx="8384460" cy="3970318"/>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میان طبقه: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طبقه ای که تر از  کف  آن  بین  هر یک از طبقات اصلی ساختمان به گونه ای قرار دارد که از فضای زیر آن که قابل تصرف است دسترسی دارد و مساحت آن مطابق مقررات نسبتی کوچکتر از مساحت فضای زیر آن است.</a:t>
            </a:r>
          </a:p>
          <a:p>
            <a:pPr algn="just" rtl="1"/>
            <a:endParaRPr lang="fa-IR" sz="2400" dirty="0">
              <a:cs typeface="B Nazanin" panose="00000400000000000000" pitchFamily="2" charset="-78"/>
            </a:endParaRPr>
          </a:p>
          <a:p>
            <a:pPr algn="just" rtl="1"/>
            <a:r>
              <a:rPr lang="fa-IR" sz="2800" b="1" dirty="0">
                <a:solidFill>
                  <a:srgbClr val="7D4F50"/>
                </a:solidFill>
                <a:cs typeface="B Nazanin" panose="00000400000000000000" pitchFamily="2" charset="-78"/>
              </a:rPr>
              <a:t>ارتفاع ساختمان: </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فاصله عمودی تراز متوسط کف معبر مجاور تا متوسط ارتفاع بام شیب دار  یا  بالاترین نقطه جان پناه در بام‌های مسطح است.</a:t>
            </a:r>
          </a:p>
        </p:txBody>
      </p:sp>
    </p:spTree>
    <p:extLst>
      <p:ext uri="{BB962C8B-B14F-4D97-AF65-F5344CB8AC3E}">
        <p14:creationId xmlns:p14="http://schemas.microsoft.com/office/powerpoint/2010/main" val="988273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87510" y="372347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دسته بندی فضاها،</a:t>
            </a:r>
          </a:p>
          <a:p>
            <a:pPr algn="ctr"/>
            <a:r>
              <a:rPr lang="fa-IR" sz="6600" dirty="0">
                <a:solidFill>
                  <a:srgbClr val="74714E"/>
                </a:solidFill>
                <a:cs typeface="B Titr" panose="00000700000000000000" pitchFamily="2" charset="-78"/>
              </a:rPr>
              <a:t>تصرف ها و ساختمان ها</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سوم: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6466711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421745" y="899939"/>
            <a:ext cx="6635728" cy="236988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فضاها: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فضاها کوچکترین قسمت در تقسیم بندی عمومی ساختمان هستند و به انواع فضاهای اقامت، فضاهای اشتغال، فضاهای پخت و پز  و آشپزخانه، فضاهای بهداشتی، فضاهای باز و فضاهای نیمه باز و ... قابل دسته بندی هستند.</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Tree>
    <p:extLst>
      <p:ext uri="{BB962C8B-B14F-4D97-AF65-F5344CB8AC3E}">
        <p14:creationId xmlns:p14="http://schemas.microsoft.com/office/powerpoint/2010/main" val="26438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861667" y="899939"/>
            <a:ext cx="6078206"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تصرف های مسکونی اقامتی (م): </a:t>
            </a:r>
          </a:p>
          <a:p>
            <a:pPr algn="just" rtl="1"/>
            <a:r>
              <a:rPr lang="fa-IR" sz="2400" dirty="0">
                <a:cs typeface="B Nazanin" panose="00000400000000000000" pitchFamily="2" charset="-78"/>
              </a:rPr>
              <a:t>هر بنا یا بخشی از یک بنا که در آن شخص یا خانواده ای سکونت کند و به منظور خوابیدن از آن استفاده شود به استثنای بناهایی که در گروه تصرف های درمانی_ مراقبتی دسته بندی می‌شونددارای تصرف مسکونی شناخته می‌شود.</a:t>
            </a:r>
          </a:p>
          <a:p>
            <a:pPr algn="just" rtl="1"/>
            <a:endParaRPr lang="fa-IR" sz="2400" dirty="0">
              <a:cs typeface="B Nazanin" panose="00000400000000000000" pitchFamily="2" charset="-78"/>
            </a:endParaRP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120932A7-A51F-4811-8253-E57F43FA927D}"/>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F3F2815A-FF5F-4941-AD60-BE901F5C1D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187760" y="1496999"/>
            <a:ext cx="4747806" cy="474780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392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3" y="899939"/>
            <a:ext cx="6800987"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بناهای با تصرف مسکونی اقامتی شامل موارد زیر می‌شوند :</a:t>
            </a:r>
          </a:p>
          <a:p>
            <a:pPr algn="just" rtl="1"/>
            <a:r>
              <a:rPr lang="fa-IR" sz="2400" dirty="0">
                <a:cs typeface="B Nazanin" panose="00000400000000000000" pitchFamily="2" charset="-78"/>
              </a:rPr>
              <a:t>گروه م -۱: </a:t>
            </a:r>
          </a:p>
          <a:p>
            <a:pPr algn="just" rtl="1"/>
            <a:r>
              <a:rPr lang="fa-IR" sz="2400" dirty="0">
                <a:cs typeface="B Nazanin" panose="00000400000000000000" pitchFamily="2" charset="-78"/>
              </a:rPr>
              <a:t>تصرف های مسکونی اقامتی که متصرفان عمدتاً به طور موقت کمتر از یک ماه در آن اقامت دارند شامل: مسافرخانه ها و مسافر پذیرها برای اقامت موقت، هتل ها، هتل آپارتمان‌ها و متل ها</a:t>
            </a:r>
          </a:p>
          <a:p>
            <a:pPr algn="just" rtl="1"/>
            <a:r>
              <a:rPr lang="fa-IR" sz="2400" dirty="0">
                <a:cs typeface="B Nazanin" panose="00000400000000000000" pitchFamily="2" charset="-78"/>
              </a:rPr>
              <a:t>گروه م -۲ </a:t>
            </a:r>
          </a:p>
          <a:p>
            <a:pPr algn="just" rtl="1"/>
            <a:r>
              <a:rPr lang="fa-IR" sz="2400" dirty="0">
                <a:cs typeface="B Nazanin" panose="00000400000000000000" pitchFamily="2" charset="-78"/>
              </a:rPr>
              <a:t>تصرف های مسکونی شامل بیشتر از دو تصرف مسکونی اقامتی که متصرفان آن به طور عمده به صورت دائم در ساختمان ساکن هستند: بناهای آپارتمانی، اقامتگاه های غیر موقت، سازمانی، مذهبی، ورزشی و نظایر آن، خوابگاه،اقامتگاه های تفریحی شراکتی</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42FF1058-669A-41E6-ABD5-5FD0589CD05F}"/>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9A32E3C6-2BD8-4CFB-B43D-852BF3DB56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187760" y="1496999"/>
            <a:ext cx="4747806" cy="474780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5848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35565" y="899939"/>
            <a:ext cx="7097485" cy="569386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گروه م_۳ </a:t>
            </a:r>
          </a:p>
          <a:p>
            <a:pPr algn="just" rtl="1"/>
            <a:r>
              <a:rPr lang="fa-IR" sz="2400" dirty="0">
                <a:cs typeface="B Nazanin" panose="00000400000000000000" pitchFamily="2" charset="-78"/>
              </a:rPr>
              <a:t>تصرف های مسکونی اقامتی که برای مراقبت شبانه روزی از افراد به تعداد ۶ تا ۱۶ نفر به غیر از تعداد کارکنان استفاده می‌شوند.  </a:t>
            </a:r>
          </a:p>
          <a:p>
            <a:pPr algn="just" rtl="1"/>
            <a:r>
              <a:rPr lang="fa-IR" sz="2400" dirty="0">
                <a:cs typeface="B Nazanin" panose="00000400000000000000" pitchFamily="2" charset="-78"/>
              </a:rPr>
              <a:t>توجه: تصرف های غیر مسکونی که به این منظور استفاده می‌شوند و همچنین بناهایی که برای مراقبت شبانه روزی از افراد بیش از ۱۶ نفر مورد بهره برداری قرار می‌گیرند برحسب موضوع در یکی از زیرگروه های تصرف های درمانی مراقبتی دسته بندی می‌شوند . </a:t>
            </a:r>
          </a:p>
          <a:p>
            <a:pPr algn="just" rtl="1"/>
            <a:r>
              <a:rPr lang="fa-IR" sz="2400" dirty="0">
                <a:cs typeface="B Nazanin" panose="00000400000000000000" pitchFamily="2" charset="-78"/>
              </a:rPr>
              <a:t>گروه م_۴  </a:t>
            </a:r>
          </a:p>
          <a:p>
            <a:pPr algn="just" rtl="1"/>
            <a:r>
              <a:rPr lang="fa-IR" sz="2400" dirty="0">
                <a:cs typeface="B Nazanin" panose="00000400000000000000" pitchFamily="2" charset="-78"/>
              </a:rPr>
              <a:t>تصرف های مسکونی در ساختمان‌های مسکونی با حداکثر ارتفاع ۳ طبقه از سطح دسترس معبر برای اقامت یک یا دو خانوار در نظر گرفته می‌شوند و متصرفان آن به طور عمده به صورت دائم در ساختمان ساکن هستند تا هنگام تهیه و ابلاغ مقررات اختصاصی جداگانه برای این گروه تصرف باید  از مقررات مربوط به گروه م۲ تبعیت شود.</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E5E32022-A6E8-450D-91C3-234EA10CBA5E}"/>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F0C7F5E6-1BE9-45DD-94A4-85D370A52B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187760" y="1496999"/>
            <a:ext cx="4747806" cy="474780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74856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338617" y="899939"/>
            <a:ext cx="6582783"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تصرف های آموزشی فرهنگی (آ): </a:t>
            </a:r>
          </a:p>
          <a:p>
            <a:pPr algn="just" rtl="1"/>
            <a:r>
              <a:rPr lang="fa-IR" sz="2400" dirty="0">
                <a:cs typeface="B Nazanin" panose="00000400000000000000" pitchFamily="2" charset="-78"/>
              </a:rPr>
              <a:t>هر بنا یا بخشی از یک بنا که در آن اشخاص به تعداد حداقل ۶ نفر به منظورهای آموزشی در دوره های تحصیلی ابتدایی و متوسطه در یک جا جمع شوند تصرف آموزشی شناخته می‌شود، همچنین هر بنا یا بخشی از از بنا که به منظور آموزش یا مراقبت از بیش از ۵ نفر با سن۳ تا ۱۸ سال برای قسمتی از طول شبانه روز استفاده شود در این تصرف قرار می‌گیرد .</a:t>
            </a:r>
          </a:p>
          <a:p>
            <a:pPr algn="just" rtl="1"/>
            <a:r>
              <a:rPr lang="fa-IR" sz="2400" dirty="0">
                <a:cs typeface="B Nazanin" panose="00000400000000000000" pitchFamily="2" charset="-78"/>
              </a:rPr>
              <a:t>تبصره:کاربری‌های آموزشی در دوره های تحصیلی بالاتر از دبیرستان جزو دسته تصرف های آموزشی  محسوب نشده و جزو دسته تصرف های حرفه ای _اداری قرار می‌گیرند. </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2D59B70B-DC4C-4EC9-ACC9-C7B7F8C67C9F}"/>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61D2A684-FF01-4ABC-8E6A-4EF23DC0EF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187760" y="1496999"/>
            <a:ext cx="4747806" cy="474780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714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837387" y="899939"/>
            <a:ext cx="7195664"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فضاهای تجمعی که جزو فضاهای جنبی تصرف های آموزشی محسوب می‌شوند مانند کتابخانه تریا، سالن ورزش یا سالن سخنرانی در مدارس جزئی از تصرف آموزشی محسوب شده و نیازی به قرار دادن آن هادر تصرف تجمعی نیست.  </a:t>
            </a:r>
          </a:p>
          <a:p>
            <a:pPr algn="just" rtl="1"/>
            <a:r>
              <a:rPr lang="fa-IR" sz="2400" dirty="0">
                <a:cs typeface="B Nazanin" panose="00000400000000000000" pitchFamily="2" charset="-78"/>
              </a:rPr>
              <a:t>تصرف های تجمعی شامل موارد زیر می‌شود :</a:t>
            </a:r>
          </a:p>
          <a:p>
            <a:pPr algn="just" rtl="1"/>
            <a:r>
              <a:rPr lang="fa-IR" sz="2400" dirty="0">
                <a:cs typeface="B Nazanin" panose="00000400000000000000" pitchFamily="2" charset="-78"/>
              </a:rPr>
              <a:t>گروه ت-۱:</a:t>
            </a:r>
          </a:p>
          <a:p>
            <a:pPr algn="just" rtl="1"/>
            <a:r>
              <a:rPr lang="fa-IR" sz="2400" dirty="0">
                <a:cs typeface="B Nazanin" panose="00000400000000000000" pitchFamily="2" charset="-78"/>
              </a:rPr>
              <a:t>کاربردهای تجمعی معمولاً با صندلی ثابت که برای ارائه یا تماشای اجراهای نمایشی یا تصاویر متحرک استفاده می‌شوند، شامل سینماهاو تئاترها و استودیوهای رادیویی تلویزیونی که تماشاچی می پذیرند.</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99E6D8B1-DA4C-415B-8924-CE5931ED0A5D}"/>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2705EC8B-8041-4D32-8B59-1273DE884A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187760" y="1496999"/>
            <a:ext cx="4747806" cy="474780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896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036037" y="899939"/>
            <a:ext cx="6997014" cy="532453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گروه ت_۲: </a:t>
            </a:r>
          </a:p>
          <a:p>
            <a:pPr algn="just" rtl="1"/>
            <a:r>
              <a:rPr lang="fa-IR" sz="2400" dirty="0">
                <a:cs typeface="B Nazanin" panose="00000400000000000000" pitchFamily="2" charset="-78"/>
              </a:rPr>
              <a:t>کاربردهای تجمعی که برای صرف غذا یا نوشیدنی استفاده می‌شوند، شامل سالن‌های ضیافت رستوران‌ها ، تریاها، کافی شاپ و نظایر آن‌ها </a:t>
            </a:r>
          </a:p>
          <a:p>
            <a:pPr algn="just" rtl="1"/>
            <a:r>
              <a:rPr lang="fa-IR" sz="2400" dirty="0">
                <a:cs typeface="B Nazanin" panose="00000400000000000000" pitchFamily="2" charset="-78"/>
              </a:rPr>
              <a:t>گروه ت-۳:</a:t>
            </a:r>
          </a:p>
          <a:p>
            <a:pPr algn="just" rtl="1"/>
            <a:r>
              <a:rPr lang="fa-IR" sz="2400" dirty="0">
                <a:cs typeface="B Nazanin" panose="00000400000000000000" pitchFamily="2" charset="-78"/>
              </a:rPr>
              <a:t>کاربردهای تجمعی که برای برگزاری مراسم ،نیایش، جشن یا سرگرمی استفاده می‌شوند و یا کاربردهای تجمعی که در سایر گروه‌های تصرف(ت) قرار نگرفته باشند، شامل سالن‌های بازی‌های تفریحی، گالری‌های هنری، سالن‌های سخنرانی ،مساجد! کلیساها یا سایر اماکن مذهبی، سالن های اجتماع، دادگاه‌ها و دادسراها، سالن‌های نمایشگاهی، باشگاه‌های  ورزشی بدون جایگاه، تماشاچی استخرهای سرپوشیده بدون جایگاه، تماشاچی زمینه های سرپوشیده تنیس بدون جایگاه! تماشاچی کتابخانه ها، موزه ها، سالن‌های انتظار در ترمینال‌های مسافرتی، سالن‌های بیلیارد.</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A2E2C80F-7EFB-4A48-B0D6-F76020164E5A}"/>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955272A6-1A35-4A8E-84CC-25E9B5D489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187760" y="1496999"/>
            <a:ext cx="4747806" cy="474780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934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038751" y="899939"/>
            <a:ext cx="5961728"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و تعریف تصرف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گروه ت_۴: </a:t>
            </a:r>
          </a:p>
          <a:p>
            <a:pPr algn="just" rtl="1"/>
            <a:r>
              <a:rPr lang="fa-IR" sz="2400" dirty="0">
                <a:cs typeface="B Nazanin" panose="00000400000000000000" pitchFamily="2" charset="-78"/>
              </a:rPr>
              <a:t>کاربردهای تجمعی به منظور تماشای فعالیت‌ها و بازی‌های ورزشی داخل سالن که دارای تماشاچی هستند شامل استادیوم‌ها و مجموعه‌های ورزشی سرپوشیده.</a:t>
            </a:r>
          </a:p>
          <a:p>
            <a:pPr algn="just" rtl="1"/>
            <a:r>
              <a:rPr lang="fa-IR" sz="2400" dirty="0">
                <a:cs typeface="B Nazanin" panose="00000400000000000000" pitchFamily="2" charset="-78"/>
              </a:rPr>
              <a:t>گروه ت-۵: </a:t>
            </a:r>
          </a:p>
          <a:p>
            <a:pPr algn="just" rtl="1"/>
            <a:r>
              <a:rPr lang="fa-IR" sz="2400" dirty="0">
                <a:cs typeface="B Nazanin" panose="00000400000000000000" pitchFamily="2" charset="-78"/>
              </a:rPr>
              <a:t>کاربردهای تجمعی که به منظور انجام یا تماشای فعالیتها در فضای باز استفاده می شوند شامل پارک‌های تفریحی و استادیوم‌های سرباز.</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674A3858-700F-4FA1-8B19-772B46C5CFD2}"/>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8FE60F1B-C3EF-409E-94B1-AF1E9C05BF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466626" y="812485"/>
            <a:ext cx="5572125" cy="557212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5778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038750" y="899939"/>
            <a:ext cx="6031245" cy="3970318"/>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ساختمان‌ها از نظر تعداد طبقات و نحوه قرارگیری بر زمین:</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ساختمان‌ها از نظر تعداد طبقات و نحوه قرارگیری بر زمین در این مبحث به صورت زیر دسته بندی می شوند: </a:t>
            </a:r>
          </a:p>
          <a:p>
            <a:pPr algn="just" rtl="1"/>
            <a:r>
              <a:rPr lang="fa-IR" sz="2400" dirty="0">
                <a:cs typeface="B Nazanin" panose="00000400000000000000" pitchFamily="2" charset="-78"/>
              </a:rPr>
              <a:t> دسته بندی کلی: </a:t>
            </a:r>
          </a:p>
          <a:p>
            <a:pPr algn="just" rtl="1"/>
            <a:r>
              <a:rPr lang="fa-IR" sz="2400" dirty="0">
                <a:cs typeface="B Nazanin" panose="00000400000000000000" pitchFamily="2" charset="-78"/>
              </a:rPr>
              <a:t>الف) ساختمان‌های یک و دو طبقه</a:t>
            </a:r>
          </a:p>
          <a:p>
            <a:pPr algn="just" rtl="1"/>
            <a:r>
              <a:rPr lang="fa-IR" sz="2400" dirty="0">
                <a:cs typeface="B Nazanin" panose="00000400000000000000" pitchFamily="2" charset="-78"/>
              </a:rPr>
              <a:t> ب) ساختمان‌های سه و چهار طبقه </a:t>
            </a:r>
          </a:p>
          <a:p>
            <a:pPr algn="just" rtl="1"/>
            <a:r>
              <a:rPr lang="fa-IR" sz="2400" dirty="0">
                <a:cs typeface="B Nazanin" panose="00000400000000000000" pitchFamily="2" charset="-78"/>
              </a:rPr>
              <a:t>پ) ساختمان‌های بیش از چهار طبقه تا ارتفاع ۲۳ متر </a:t>
            </a:r>
          </a:p>
          <a:p>
            <a:pPr algn="just" rtl="1"/>
            <a:r>
              <a:rPr lang="fa-IR" sz="2400" dirty="0">
                <a:cs typeface="B Nazanin" panose="00000400000000000000" pitchFamily="2" charset="-78"/>
              </a:rPr>
              <a:t>ت) ساختمان‌های با ارتفاع بیش از ۲۳ متر</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7A6A11AA-F0FC-4CE8-A8B7-744A81E5D818}"/>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0C2ACE22-2CFC-428E-A6E4-1A8C6E68552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466626" y="812485"/>
            <a:ext cx="5572125" cy="557212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70367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54255" y="899939"/>
            <a:ext cx="6278796" cy="470898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ساختمان‌ها از نظر تعداد طبقات و نحوه قرارگیری بر زمین:</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 گروه بندی جزئی: </a:t>
            </a:r>
          </a:p>
          <a:p>
            <a:pPr algn="just" rtl="1"/>
            <a:r>
              <a:rPr lang="fa-IR" sz="2400" dirty="0">
                <a:cs typeface="B Nazanin" panose="00000400000000000000" pitchFamily="2" charset="-78"/>
              </a:rPr>
              <a:t>الف) ساختمان های یک و دو طبقه </a:t>
            </a:r>
          </a:p>
          <a:p>
            <a:pPr algn="just" rtl="1"/>
            <a:r>
              <a:rPr lang="fa-IR" sz="2400" dirty="0">
                <a:cs typeface="B Nazanin" panose="00000400000000000000" pitchFamily="2" charset="-78"/>
              </a:rPr>
              <a:t>گروه ۱) ساختمان‌های ردیفی و متصل </a:t>
            </a:r>
          </a:p>
          <a:p>
            <a:pPr algn="just" rtl="1"/>
            <a:r>
              <a:rPr lang="fa-IR" sz="2400" dirty="0">
                <a:cs typeface="B Nazanin" panose="00000400000000000000" pitchFamily="2" charset="-78"/>
              </a:rPr>
              <a:t>گروه ۲) ساختمان‌های مجزا و منفصل </a:t>
            </a:r>
          </a:p>
          <a:p>
            <a:pPr algn="just" rtl="1"/>
            <a:r>
              <a:rPr lang="fa-IR" sz="2400" dirty="0">
                <a:cs typeface="B Nazanin" panose="00000400000000000000" pitchFamily="2" charset="-78"/>
              </a:rPr>
              <a:t>گروه 3)ساختمان‌های ترکیبی با الگوی حیاط مرکزی</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ب) ساختمان‌های سه و چهار طبقه </a:t>
            </a:r>
          </a:p>
          <a:p>
            <a:pPr algn="just" rtl="1"/>
            <a:r>
              <a:rPr lang="fa-IR" sz="2400" dirty="0">
                <a:cs typeface="B Nazanin" panose="00000400000000000000" pitchFamily="2" charset="-78"/>
              </a:rPr>
              <a:t>گروه 4) ساختمان‌های ردیفی و متصل دارای درز انقطاع الزامی </a:t>
            </a:r>
          </a:p>
          <a:p>
            <a:pPr algn="just" rtl="1"/>
            <a:r>
              <a:rPr lang="fa-IR" sz="2400" dirty="0">
                <a:cs typeface="B Nazanin" panose="00000400000000000000" pitchFamily="2" charset="-78"/>
              </a:rPr>
              <a:t>گروه ۵) ساختمان‌های مجزا و منفصل</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E0B827D1-3274-4A4F-A1D3-28E1759BAB17}"/>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3F745C15-CB85-4C92-B55B-51BC10E6F8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466626" y="812485"/>
            <a:ext cx="5572125" cy="557212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70661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3" y="899939"/>
            <a:ext cx="6689337" cy="360098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ساختمان‌ها از نظر تعداد طبقات و نحوه قرارگیری بر زمین:</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پ) ساختمانهای بیش از چهار طبقه تا ۲۳ متر ارتفاع </a:t>
            </a:r>
          </a:p>
          <a:p>
            <a:pPr algn="just" rtl="1"/>
            <a:r>
              <a:rPr lang="fa-IR" sz="2400" dirty="0">
                <a:cs typeface="B Nazanin" panose="00000400000000000000" pitchFamily="2" charset="-78"/>
              </a:rPr>
              <a:t>گروه ۶) ساختمان‌های ردیفی و متصل دارای درز انقطاع (الزامی) </a:t>
            </a:r>
          </a:p>
          <a:p>
            <a:pPr algn="just" rtl="1"/>
            <a:r>
              <a:rPr lang="fa-IR" sz="2400" dirty="0">
                <a:cs typeface="B Nazanin" panose="00000400000000000000" pitchFamily="2" charset="-78"/>
              </a:rPr>
              <a:t>گروه7) ساختمان های مجزا و منفصل</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ت) ساختمان‌های بلند </a:t>
            </a:r>
          </a:p>
          <a:p>
            <a:pPr algn="just" rtl="1"/>
            <a:r>
              <a:rPr lang="fa-IR" sz="2400" dirty="0">
                <a:cs typeface="B Nazanin" panose="00000400000000000000" pitchFamily="2" charset="-78"/>
              </a:rPr>
              <a:t>گروه8) ساختمان‌های بیش از ۲۳ متر ارتفاع</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574B582B-3D17-44C1-9A43-1864C6A1F423}"/>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حوه محاسبه تعداد طبقات ساختمان در مشهد - مشهد املاک">
            <a:extLst>
              <a:ext uri="{FF2B5EF4-FFF2-40B4-BE49-F238E27FC236}">
                <a16:creationId xmlns:a16="http://schemas.microsoft.com/office/drawing/2014/main" id="{89C933C8-69E6-4039-9B65-A7A8AA9033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466626" y="812485"/>
            <a:ext cx="5572125" cy="557212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741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amond 10">
            <a:extLst>
              <a:ext uri="{FF2B5EF4-FFF2-40B4-BE49-F238E27FC236}">
                <a16:creationId xmlns:a16="http://schemas.microsoft.com/office/drawing/2014/main" id="{27264653-775D-4ADC-BEBE-A697445454B8}"/>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سوم: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344357" y="1798055"/>
            <a:ext cx="6688694" cy="360098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دسته بندی ساختمان‌ها از نظر تعداد طبقات و نحوه قرارگیری بر زمین:</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پ) ساختمانهای بیش از چهار طبقه تا ۲۳ متر ارتفاع </a:t>
            </a:r>
          </a:p>
          <a:p>
            <a:pPr algn="just" rtl="1"/>
            <a:r>
              <a:rPr lang="fa-IR" sz="2400" dirty="0">
                <a:cs typeface="B Nazanin" panose="00000400000000000000" pitchFamily="2" charset="-78"/>
              </a:rPr>
              <a:t>گروه ۶) ساختمان‌های ردیفی و متصل دارای درز انقطاع (الزامی) </a:t>
            </a:r>
          </a:p>
          <a:p>
            <a:pPr algn="just" rtl="1"/>
            <a:r>
              <a:rPr lang="fa-IR" sz="2400" dirty="0">
                <a:cs typeface="B Nazanin" panose="00000400000000000000" pitchFamily="2" charset="-78"/>
              </a:rPr>
              <a:t>گروه7) ساختمان های مجزا و منفصل</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ت) ساختمان‌های بلند </a:t>
            </a:r>
          </a:p>
          <a:p>
            <a:pPr algn="just" rtl="1"/>
            <a:r>
              <a:rPr lang="fa-IR" sz="2400" dirty="0">
                <a:cs typeface="B Nazanin" panose="00000400000000000000" pitchFamily="2" charset="-78"/>
              </a:rPr>
              <a:t>گروه8) ساختمان‌های بیش از ۲۳ متر ارتفاع</a:t>
            </a:r>
          </a:p>
        </p:txBody>
      </p:sp>
      <p:sp>
        <p:nvSpPr>
          <p:cNvPr id="3" name="Rectangle 2">
            <a:extLst>
              <a:ext uri="{FF2B5EF4-FFF2-40B4-BE49-F238E27FC236}">
                <a16:creationId xmlns:a16="http://schemas.microsoft.com/office/drawing/2014/main" id="{7E086E71-BC30-41E7-B609-FD1E2CE9B3FB}"/>
              </a:ext>
            </a:extLst>
          </p:cNvPr>
          <p:cNvSpPr/>
          <p:nvPr/>
        </p:nvSpPr>
        <p:spPr>
          <a:xfrm>
            <a:off x="-359004" y="-39896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دسته بندی فضاها، تصرف ها و ساختمان ها</a:t>
            </a:r>
            <a:endParaRPr lang="en-US" sz="4400" dirty="0">
              <a:solidFill>
                <a:srgbClr val="74714E"/>
              </a:solidFill>
              <a:cs typeface="B Titr" panose="00000700000000000000" pitchFamily="2" charset="-78"/>
            </a:endParaRPr>
          </a:p>
        </p:txBody>
      </p:sp>
      <p:pic>
        <p:nvPicPr>
          <p:cNvPr id="76802" name="Picture 2" descr="نحوه محاسبه تعداد طبقات ساختمان در مشهد - مشهد املاک">
            <a:extLst>
              <a:ext uri="{FF2B5EF4-FFF2-40B4-BE49-F238E27FC236}">
                <a16:creationId xmlns:a16="http://schemas.microsoft.com/office/drawing/2014/main" id="{D94CCB1B-F9DC-47A2-9F07-03FB2F6742D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466626" y="812485"/>
            <a:ext cx="5572125" cy="557212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0874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87510" y="372347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مقررات کلی</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چهارم: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1358774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چهارم: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107709" y="899939"/>
            <a:ext cx="6813692"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ارتفاع و مساحت مجاز ساختمان ها: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رعایت مقررات این قسمت در مورد حداکثر مساحت و ارتفاع مجاز ساختمان‌ها از لحاظ تامین اهداف این مبحث الزامیست چنانچه در هر طرح توسعه و عمران شهری مصوب محدودیت‌های بیشتری برای ارتفاع و مساحت تعیین شده باشد آن مقادیر در حوزه طرح مذکور ملاک عمل قرار می‌گیرد. </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 در صورت طراحی اتاقک آسانسور و خرپشته بر روی بام محل استقرار این مجموعه حتی الامکان به سمت وسط پلان ساختمان انتقال داده شود تا تأثیر آن بر نما تقلیل یابد.</a:t>
            </a:r>
          </a:p>
        </p:txBody>
      </p:sp>
      <p:sp>
        <p:nvSpPr>
          <p:cNvPr id="3" name="Rectangle 2">
            <a:extLst>
              <a:ext uri="{FF2B5EF4-FFF2-40B4-BE49-F238E27FC236}">
                <a16:creationId xmlns:a16="http://schemas.microsoft.com/office/drawing/2014/main" id="{7E086E71-BC30-41E7-B609-FD1E2CE9B3FB}"/>
              </a:ext>
            </a:extLst>
          </p:cNvPr>
          <p:cNvSpPr/>
          <p:nvPr/>
        </p:nvSpPr>
        <p:spPr>
          <a:xfrm>
            <a:off x="1360297"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کلی</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9B67F72C-B069-49F9-8B6B-05CFA1BCDFD4}"/>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خبار ساختمان | آشنایی با الزامات عمومی ساختمان">
            <a:extLst>
              <a:ext uri="{FF2B5EF4-FFF2-40B4-BE49-F238E27FC236}">
                <a16:creationId xmlns:a16="http://schemas.microsoft.com/office/drawing/2014/main" id="{002F9B09-040B-4DFC-A00B-986F9839700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67" r="16667"/>
          <a:stretch/>
        </p:blipFill>
        <p:spPr bwMode="auto">
          <a:xfrm>
            <a:off x="121569" y="1372066"/>
            <a:ext cx="5003465" cy="500346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64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چهارم: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125033" y="899939"/>
            <a:ext cx="6796367" cy="6063198"/>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محدودیت کلی مساحت و ارتفاع:</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الف در گروههای ساختمانی ۱، ۲ و ۳ در یک طبقه در ساختمان‌های دارای زیرزمین با پنجره نورگیر از نما، ۵/۸۰ متر و در ساختمان‌های فاقد آن ۴/۹۰ متر </a:t>
            </a:r>
          </a:p>
          <a:p>
            <a:pPr algn="just" rtl="1"/>
            <a:r>
              <a:rPr lang="fa-IR" sz="2400" dirty="0">
                <a:cs typeface="B Nazanin" panose="00000400000000000000" pitchFamily="2" charset="-78"/>
              </a:rPr>
              <a:t>در گروه های ساختمانی ۱، ۲ و ۳ در دو طبقه در ساختمانهای دارای زیرزمین با پنجره نورگیر از نما ۹ متر و در ساختمانهای فاقد آن ۸/۱۰ متر. </a:t>
            </a:r>
          </a:p>
          <a:p>
            <a:pPr algn="just" rtl="1"/>
            <a:r>
              <a:rPr lang="fa-IR" sz="2400" dirty="0">
                <a:cs typeface="B Nazanin" panose="00000400000000000000" pitchFamily="2" charset="-78"/>
              </a:rPr>
              <a:t>ب) در گروه‌های ساختمانی ۴ و ۵ در سه طبقه در ساختمان‌های دارای زیرزمین با پنجره نورگیر از نما حداکثر ۱۲/۲۰ متر و در ساختمان‌های فاقد آن حداکثر ۱۱/۳۰ متر در گروه های ساختمانی ۴ و ۵ در چهار طبقه در ساختمان‌های دارای زیرزمین با پنجره نورگیر از نما حداکثر ۱۵/۴۰ متر و در ساختمان‌های فاقد آن حداکثر ۱۴/۵۰ متر پ) در گروه‌های ساختمانی ۶ و ۷ پنج تا هفت طبقه یا تا ارتفاع ۲۳ متر و گروه ۸ با ارتفاع بیش از هفت طبقه یا بیش از ۲۳ متر به تناسب تعداد طبقات و سایر ضوابط و مقررات قانونی.</a:t>
            </a:r>
          </a:p>
        </p:txBody>
      </p:sp>
      <p:sp>
        <p:nvSpPr>
          <p:cNvPr id="3" name="Rectangle 2">
            <a:extLst>
              <a:ext uri="{FF2B5EF4-FFF2-40B4-BE49-F238E27FC236}">
                <a16:creationId xmlns:a16="http://schemas.microsoft.com/office/drawing/2014/main" id="{7E086E71-BC30-41E7-B609-FD1E2CE9B3FB}"/>
              </a:ext>
            </a:extLst>
          </p:cNvPr>
          <p:cNvSpPr/>
          <p:nvPr/>
        </p:nvSpPr>
        <p:spPr>
          <a:xfrm>
            <a:off x="1360297"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کلی</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E283B3E0-7E9E-4C67-B7B9-5DE91D559ABB}"/>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خبار ساختمان | آشنایی با الزامات عمومی ساختمان">
            <a:extLst>
              <a:ext uri="{FF2B5EF4-FFF2-40B4-BE49-F238E27FC236}">
                <a16:creationId xmlns:a16="http://schemas.microsoft.com/office/drawing/2014/main" id="{D65779DA-B443-4F1E-8736-8ED5D67BD2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67" r="16667"/>
          <a:stretch/>
        </p:blipFill>
        <p:spPr bwMode="auto">
          <a:xfrm>
            <a:off x="121569" y="1372066"/>
            <a:ext cx="5003465" cy="500346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2879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چهارم: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125033" y="891061"/>
            <a:ext cx="6945397" cy="532453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الزامت کلی ساخت و قرارگیری ساختمان:</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بافت‌های تاریخی مصوب ساخت بنا و نحوه استقرار آن در زمین باید طبق ضوابط مورد تأیید سازمان میراث فرهنگی صنایع دستی و گردشگری باشد.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برای زمینه هایی میتوان پروانه ساختمان درخواست نمود که امکان اتصال به شبکه آب بهداشتی و شبکه برق داشته باشند، در مناطقی که شبکه آب بهداشتی و یا شبکه برق هنوز احداث نشده باشد. بنا به تشخیص مراجع صدور پروانه در صورتی می‌توان پروانه ساختمانی درخواست نمود که درخواست کننده نحوه تامین آب بهداشتی و برق را به تأیید نهاد قانونی مسئول رسانده و متعهد شود که به محض احداث شبکه آب بهداشتی و برق و فاضلاب ،شهری نسبت به اتصال به آن هادر مهلت تعیین شده اقدام نماید.</a:t>
            </a:r>
          </a:p>
        </p:txBody>
      </p:sp>
      <p:sp>
        <p:nvSpPr>
          <p:cNvPr id="3" name="Rectangle 2">
            <a:extLst>
              <a:ext uri="{FF2B5EF4-FFF2-40B4-BE49-F238E27FC236}">
                <a16:creationId xmlns:a16="http://schemas.microsoft.com/office/drawing/2014/main" id="{7E086E71-BC30-41E7-B609-FD1E2CE9B3FB}"/>
              </a:ext>
            </a:extLst>
          </p:cNvPr>
          <p:cNvSpPr/>
          <p:nvPr/>
        </p:nvSpPr>
        <p:spPr>
          <a:xfrm>
            <a:off x="1360297"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کلی</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6488A98C-6785-4EF6-952C-7BB2D787BD30}"/>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خبار ساختمان | آشنایی با الزامات عمومی ساختمان">
            <a:extLst>
              <a:ext uri="{FF2B5EF4-FFF2-40B4-BE49-F238E27FC236}">
                <a16:creationId xmlns:a16="http://schemas.microsoft.com/office/drawing/2014/main" id="{0DD13743-5948-4392-9CC4-73EDF8FD73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67" r="16667"/>
          <a:stretch/>
        </p:blipFill>
        <p:spPr bwMode="auto">
          <a:xfrm>
            <a:off x="121569" y="1372066"/>
            <a:ext cx="5003465" cy="500346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4002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چهارم: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19249" y="899939"/>
            <a:ext cx="6983537" cy="532453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الزامت کلی ساخت و قرارگیری ساختمان:</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مشخصات بر وکف زمین باید به گونه ای باشد که: </a:t>
            </a:r>
          </a:p>
          <a:p>
            <a:pPr algn="just" rtl="1"/>
            <a:r>
              <a:rPr lang="fa-IR" sz="2400" dirty="0">
                <a:cs typeface="B Nazanin" panose="00000400000000000000" pitchFamily="2" charset="-78"/>
              </a:rPr>
              <a:t>الف) با نمای کلی ،خیابانها محله ها و منظر شهری در موقعیت مورد نظر متناسب و در جهت پیشگیری از ایجاد یا گسترش ناهماهنگی در سیمای شهری باشد.  </a:t>
            </a:r>
          </a:p>
          <a:p>
            <a:pPr algn="just" rtl="1"/>
            <a:r>
              <a:rPr lang="fa-IR" sz="2400" dirty="0">
                <a:cs typeface="B Nazanin" panose="00000400000000000000" pitchFamily="2" charset="-78"/>
              </a:rPr>
              <a:t>ب) ارتفاع کف زمین در هماهنگی با ارتفاع معبر دسترس و زمین همسایه قرار گیرد</a:t>
            </a:r>
          </a:p>
          <a:p>
            <a:pPr algn="just" rtl="1"/>
            <a:r>
              <a:rPr lang="fa-IR" sz="2400" dirty="0">
                <a:cs typeface="B Nazanin" panose="00000400000000000000" pitchFamily="2" charset="-78"/>
              </a:rPr>
              <a:t>پ) امکان دسترسی مناسب و عادلانه همه متصرفان و استفاده کنندگان از ساختمان فراهم شود</a:t>
            </a:r>
          </a:p>
          <a:p>
            <a:pPr algn="just" rtl="1"/>
            <a:r>
              <a:rPr lang="fa-IR" sz="2400" dirty="0">
                <a:cs typeface="B Nazanin" panose="00000400000000000000" pitchFamily="2" charset="-78"/>
              </a:rPr>
              <a:t>ت) از خاک برداری و خاکریزی نامتعارف جلوگیری شود. تعیین بر و کف و لزوم اصلاح آن با تأیید شهرداری ها و یا سایر مراجع صدور پروانه ساختمان بر اساس مقررات ملی ساختمان و با رعایت طرح های توسعه و عمران شهری مصوب صورت می‌گیرد .</a:t>
            </a:r>
          </a:p>
        </p:txBody>
      </p:sp>
      <p:sp>
        <p:nvSpPr>
          <p:cNvPr id="3" name="Rectangle 2">
            <a:extLst>
              <a:ext uri="{FF2B5EF4-FFF2-40B4-BE49-F238E27FC236}">
                <a16:creationId xmlns:a16="http://schemas.microsoft.com/office/drawing/2014/main" id="{7E086E71-BC30-41E7-B609-FD1E2CE9B3FB}"/>
              </a:ext>
            </a:extLst>
          </p:cNvPr>
          <p:cNvSpPr/>
          <p:nvPr/>
        </p:nvSpPr>
        <p:spPr>
          <a:xfrm>
            <a:off x="1360297"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کلی</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20DFEDE6-A0F6-4876-857F-7D3EFE3D1F02}"/>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2" descr="اخبار ساختمان | آشنایی با الزامات عمومی ساختمان">
            <a:extLst>
              <a:ext uri="{FF2B5EF4-FFF2-40B4-BE49-F238E27FC236}">
                <a16:creationId xmlns:a16="http://schemas.microsoft.com/office/drawing/2014/main" id="{34E0743D-59CC-4418-B517-7149738DA06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67" r="16667"/>
          <a:stretch/>
        </p:blipFill>
        <p:spPr bwMode="auto">
          <a:xfrm>
            <a:off x="121569" y="1372066"/>
            <a:ext cx="5003465" cy="500346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6396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Diamond 18">
            <a:extLst>
              <a:ext uri="{FF2B5EF4-FFF2-40B4-BE49-F238E27FC236}">
                <a16:creationId xmlns:a16="http://schemas.microsoft.com/office/drawing/2014/main" id="{B26448B4-EC47-4701-9C34-90E309D9524B}"/>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چهارم: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74063" y="899939"/>
            <a:ext cx="6628723" cy="464742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الزامات همجواری ،ساختمان ها تصرف ها و فضاها:</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قرارگیری تصرف های مختلف در یک ساختمان یا ایجاد ساختمان‌های دارای تصرف های  مختلف در مجاورت یکدیگر در یک کاربری زمین ،واحد باید علاوه بر انطباق با این مقررات و سایر مباحث مقررات ملی ساختمان با ضوابط پیش بینی شده در طرح های مصوب شهری نیز منطبق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همجواری تصرف ها در ساختمان باید به نحوی باشد که مسأله اشراف و دید از تصرف های دیگر به تصرف ها مسکونی از طریق سطوح نورگذر و بازشوهای پنجره یا درهای ورودی با رعایت ضوابط مندرج در قسمت  در خصوص فضاهای باز به حداقل تقلیل یابد.</a:t>
            </a:r>
          </a:p>
        </p:txBody>
      </p:sp>
      <p:sp>
        <p:nvSpPr>
          <p:cNvPr id="3" name="Rectangle 2">
            <a:extLst>
              <a:ext uri="{FF2B5EF4-FFF2-40B4-BE49-F238E27FC236}">
                <a16:creationId xmlns:a16="http://schemas.microsoft.com/office/drawing/2014/main" id="{7E086E71-BC30-41E7-B609-FD1E2CE9B3FB}"/>
              </a:ext>
            </a:extLst>
          </p:cNvPr>
          <p:cNvSpPr/>
          <p:nvPr/>
        </p:nvSpPr>
        <p:spPr>
          <a:xfrm>
            <a:off x="1360297"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کلی</a:t>
            </a:r>
            <a:endParaRPr lang="en-US" sz="4400" dirty="0">
              <a:solidFill>
                <a:srgbClr val="74714E"/>
              </a:solidFill>
              <a:cs typeface="B Titr" panose="00000700000000000000" pitchFamily="2" charset="-78"/>
            </a:endParaRPr>
          </a:p>
        </p:txBody>
      </p:sp>
      <p:pic>
        <p:nvPicPr>
          <p:cNvPr id="74754" name="Picture 2" descr="اخبار ساختمان | آشنایی با الزامات عمومی ساختمان">
            <a:extLst>
              <a:ext uri="{FF2B5EF4-FFF2-40B4-BE49-F238E27FC236}">
                <a16:creationId xmlns:a16="http://schemas.microsoft.com/office/drawing/2014/main" id="{D9823EAA-A07B-4291-B15D-05FE6531507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67" r="16667"/>
          <a:stretch/>
        </p:blipFill>
        <p:spPr bwMode="auto">
          <a:xfrm>
            <a:off x="121569" y="1372066"/>
            <a:ext cx="5003465" cy="5003465"/>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8126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چهارم: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45167"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837387" y="899939"/>
            <a:ext cx="7084014" cy="464742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الزامات مناسب سازی ساختمان برای افراد دارای معلولیت و کم توان جسمی_ حرکتی: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طراحی و اجرای ساختمان‌ها و محوطه های مجتمع های ساختمانی، رعایت آخرین ویرایش ضوابط و مقررات شهرسازی و معماری برای افراد معلول -جسمی حرکتی مصوب شورای‌عالی شهرسازی و معماری توسط مرجع صدور پروانه و مهندسان طراح و مجری ساختمان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a:t>
            </a:r>
          </a:p>
          <a:p>
            <a:pPr algn="just" rtl="1"/>
            <a:r>
              <a:rPr lang="fa-IR" sz="2400" dirty="0">
                <a:cs typeface="B Nazanin" panose="00000400000000000000" pitchFamily="2" charset="-78"/>
              </a:rPr>
              <a:t>در طراحی و ساخت مجتمع های مسکن اجتماعی و حمایتی و آپارتمان‌های شخصی به ازای هر ۲۰ واحد مسکونی حداقل یک واحد مناسب سازی شده برای معلولین و کم توانان جسمی حرکتی در نظر گرفته شود.</a:t>
            </a:r>
          </a:p>
        </p:txBody>
      </p:sp>
      <p:sp>
        <p:nvSpPr>
          <p:cNvPr id="3" name="Rectangle 2">
            <a:extLst>
              <a:ext uri="{FF2B5EF4-FFF2-40B4-BE49-F238E27FC236}">
                <a16:creationId xmlns:a16="http://schemas.microsoft.com/office/drawing/2014/main" id="{7E086E71-BC30-41E7-B609-FD1E2CE9B3FB}"/>
              </a:ext>
            </a:extLst>
          </p:cNvPr>
          <p:cNvSpPr/>
          <p:nvPr/>
        </p:nvSpPr>
        <p:spPr>
          <a:xfrm>
            <a:off x="1360297"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کلی</a:t>
            </a:r>
            <a:endParaRPr lang="en-US" sz="4400" dirty="0">
              <a:solidFill>
                <a:srgbClr val="74714E"/>
              </a:solidFill>
              <a:cs typeface="B Titr" panose="00000700000000000000" pitchFamily="2" charset="-78"/>
            </a:endParaRPr>
          </a:p>
        </p:txBody>
      </p:sp>
      <p:pic>
        <p:nvPicPr>
          <p:cNvPr id="73730" name="Picture 2" descr="هماهنگی و پیگیری مناسب سازی - سازمان بهزیستی">
            <a:extLst>
              <a:ext uri="{FF2B5EF4-FFF2-40B4-BE49-F238E27FC236}">
                <a16:creationId xmlns:a16="http://schemas.microsoft.com/office/drawing/2014/main" id="{5B2190CE-849E-4A85-9F79-411FBA895F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810" t="254" r="20524" b="-254"/>
          <a:stretch/>
        </p:blipFill>
        <p:spPr bwMode="auto">
          <a:xfrm>
            <a:off x="356039" y="1641786"/>
            <a:ext cx="4647426" cy="4647426"/>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4246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87510" y="372347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الزامات عمومی فضاها</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پنجم: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1087338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648591" y="972506"/>
            <a:ext cx="8384460"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پهنای الزامی تعیین شده برای فضاهای ارتباط و دسترس برای تمام قسمت‌ها بوده و نباید در مسیر خروج از واحد تصرف یا ساختمان کاهش یابد. </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مسیرهای ارتباط و دسترس اصلی ساختمان نباید از درون اتاق ها یا فضاهای دیگر عبور کند مگر در تصرف های اداری یا مراقبتی که می تواند از اتاقی برای کنترل رفت و آمد عبور نماید مشروط بر آن که با الزامات این مسیرها انطباق داشته باشد. اتاق های انتظار سرسراها یا اتاق های پذیرش که مطابق با الزامات راهروها ساخته شده اند و همان سطح الزامات در آنها تأمین شده است را می توان در مسیر ارتباط و دسترس اصلی قرار داد.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Tree>
    <p:extLst>
      <p:ext uri="{BB962C8B-B14F-4D97-AF65-F5344CB8AC3E}">
        <p14:creationId xmlns:p14="http://schemas.microsoft.com/office/powerpoint/2010/main" val="3925813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648591" y="899939"/>
            <a:ext cx="8384460"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فضاهای ورودی ساختمان: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 باید پس از در ورودی اصلی فضای ورودی مناسب داخلی مطابق شرایطی که در ادامه می آید وجود داشته باشد.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 وجود پله یا هر اختلاف سطح یا دیوار در مقابل در ورودی اصلی باید حداقل ۱/۴۰ متر از آن فاصله داشته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فضای ورودی ساختمان باید امکان ایستادن چند نفر وجود داشته و دارای سطح آزاد و بدون مانعی برابر با حداقل ۱/۴۰ × ۱/۴۰ متر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Tree>
    <p:extLst>
      <p:ext uri="{BB962C8B-B14F-4D97-AF65-F5344CB8AC3E}">
        <p14:creationId xmlns:p14="http://schemas.microsoft.com/office/powerpoint/2010/main" val="1043417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7" y="899939"/>
            <a:ext cx="7269989" cy="2000548"/>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طراحی و ساخت بناهای عمومی و مجتمع های مسکونی گروه ساختمانی ۴ به بالا، مناسب سازی ورودی ساختمان برای امکان ورود افراد دارای معلولیت و کم توانان جسمی حرکتی به ساختمان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B38EF5B6-AB38-4902-A908-D4F4CC79274D}"/>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23867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83397" y="2868326"/>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19249" y="899939"/>
            <a:ext cx="7048333" cy="273921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پهنای الزامی راهروهای مستقیم غیر واقع در مسیر دسترس خروج ساختمان با بار تصرف ۵۰ نفر یا کمتر که قابل دسترس بودن آنها برای افراد معلول الزامی نباشد ۰/۹ متر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ارتفاع راهروها باید با ارتفاع الزامی فضای ورودی انطباق داشته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2349888A-B873-4225-8955-955548F41090}"/>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0776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530180" y="2782743"/>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41083" y="899939"/>
            <a:ext cx="7280318"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درهای ورودی اصلی: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اصلی باید از نوع لولایی با پهنای مفید حداقل ۰/۹۰ متر و ارتفاع مفید حداقل ۲/۰۵ متر باشد مگر آنکه در مقررات اختصاصی تصرفی به گونه ای دیگر تعیین شده باشد. درهای دولنگه بدون وادار وسط که به عنوان در اصلی به کار میروند باید در هنگام بازشدن لنگه ،فعال حداقل ۰/۸۰ متر پهنای مفید بدون مانع داشته باشند پهنای هر لنگه در نباید از ۱/۲۰ متر بیشتر   باشد. </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وسایل متوقف کننده یا تنظیم کننده حرکت درها نباید بلندی قد راه را به صورت موضعی به کمتر از ۱/۹۵ متر کاهش دهند.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4" name="Picture 3">
            <a:extLst>
              <a:ext uri="{FF2B5EF4-FFF2-40B4-BE49-F238E27FC236}">
                <a16:creationId xmlns:a16="http://schemas.microsoft.com/office/drawing/2014/main" id="{AC488E93-89F7-4F74-BFFF-6BFAF2B496D8}"/>
              </a:ext>
            </a:extLst>
          </p:cNvPr>
          <p:cNvPicPr>
            <a:picLocks noChangeAspect="1"/>
          </p:cNvPicPr>
          <p:nvPr/>
        </p:nvPicPr>
        <p:blipFill rotWithShape="1">
          <a:blip r:embed="rId2"/>
          <a:srcRect l="21875" r="21875"/>
          <a:stretch/>
        </p:blipFill>
        <p:spPr>
          <a:xfrm>
            <a:off x="196853" y="1835118"/>
            <a:ext cx="4411002" cy="4411002"/>
          </a:xfrm>
          <a:prstGeom prst="diamond">
            <a:avLst/>
          </a:prstGeom>
        </p:spPr>
      </p:pic>
    </p:spTree>
    <p:extLst>
      <p:ext uri="{BB962C8B-B14F-4D97-AF65-F5344CB8AC3E}">
        <p14:creationId xmlns:p14="http://schemas.microsoft.com/office/powerpoint/2010/main" val="1051009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7" y="899939"/>
            <a:ext cx="7233043"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درهای واقع در مسیرهای دسترس و خروج در موارد زیر باید موافق جهت خروج بچرخند: </a:t>
            </a:r>
          </a:p>
          <a:p>
            <a:pPr algn="just" rtl="1"/>
            <a:r>
              <a:rPr lang="fa-IR" sz="2400" dirty="0">
                <a:cs typeface="B Nazanin" panose="00000400000000000000" pitchFamily="2" charset="-78"/>
              </a:rPr>
              <a:t>الف)درهای واقع در دوربندهای خروج.  </a:t>
            </a:r>
          </a:p>
          <a:p>
            <a:pPr algn="just" rtl="1"/>
            <a:r>
              <a:rPr lang="fa-IR" sz="2400" dirty="0">
                <a:cs typeface="B Nazanin" panose="00000400000000000000" pitchFamily="2" charset="-78"/>
              </a:rPr>
              <a:t>ب )درهای واقع در تصرف های مخاطره آمیز.  </a:t>
            </a:r>
          </a:p>
          <a:p>
            <a:pPr algn="just" rtl="1"/>
            <a:r>
              <a:rPr lang="fa-IR" sz="2400" dirty="0">
                <a:cs typeface="B Nazanin" panose="00000400000000000000" pitchFamily="2" charset="-78"/>
              </a:rPr>
              <a:t>پ درهای اتاق ها و فضاهای با بار تصرف ۵۰ نفر و بیشتر.  </a:t>
            </a:r>
          </a:p>
          <a:p>
            <a:pPr algn="just" rtl="1"/>
            <a:r>
              <a:rPr lang="fa-IR" sz="2400" dirty="0">
                <a:cs typeface="B Nazanin" panose="00000400000000000000" pitchFamily="2" charset="-78"/>
              </a:rPr>
              <a:t>در این حالت درها در حالت کاملاً باز نباید هیچ یک از ابعاد الزامی پاگرد را بیش از ۰/۱۸ متر با احتساب پیش آمدگی دستگیره در کاهش دهند. زمانی که بار تصرف یا تعداد استفاده کنندگان از پاگرد پله ۵۰ نفر یا بیشتر است مطابق مبحث سوم مقررات ملی ساختمان این درها در هیچ موقعیتی طی بازشدن نباید اندازه پاگرد را به کمتر از نصف اندازه الزامی کاهش .دهند این اندازه نباید کمتر از ۰/۶۰ متر شود. </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A040BA8B-92A9-4473-B076-7BDD2624BD75}"/>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راه پله فلزی - پله نوربخش راه پله فلزی">
            <a:extLst>
              <a:ext uri="{FF2B5EF4-FFF2-40B4-BE49-F238E27FC236}">
                <a16:creationId xmlns:a16="http://schemas.microsoft.com/office/drawing/2014/main" id="{09F44051-5CEE-4F1A-BAE0-492FCAEF96A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7" b="8877"/>
          <a:stretch/>
        </p:blipFill>
        <p:spPr bwMode="auto">
          <a:xfrm>
            <a:off x="452621" y="2012082"/>
            <a:ext cx="4235737" cy="4235737"/>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5744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8" y="893778"/>
            <a:ext cx="7298116"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راه پله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راه پله ساختمان حداقل اندازه عمق کف پله ۰/۲۸ متر است. ارتفاع پله باید به میزانی باشد که مجموع اندازه کف پله و دو برابر ارتفاع آن بین ۰/۶۳ تا ۰/۶۴ متر باشد. </a:t>
            </a:r>
          </a:p>
          <a:p>
            <a:pPr algn="just" rtl="1"/>
            <a:r>
              <a:rPr lang="fa-IR" sz="2400" dirty="0">
                <a:cs typeface="B Nazanin" panose="00000400000000000000" pitchFamily="2" charset="-78"/>
              </a:rPr>
              <a:t>عمق کف پله از لبه یک کف پله تا تصویر افقی لبه کف پله بعدی اندازه گیری می‌شود یکسان بودن اندازه کف و عمق پله در یک شیب پلکان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رعایت مفاد مبحث سوم مقررات ملی ساختمان در مورد راه پله و پلکان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9CDF03C7-475F-4687-822C-C26BCDA2B445}"/>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راه پله فلزی - پله نوربخش راه پله فلزی">
            <a:extLst>
              <a:ext uri="{FF2B5EF4-FFF2-40B4-BE49-F238E27FC236}">
                <a16:creationId xmlns:a16="http://schemas.microsoft.com/office/drawing/2014/main" id="{2027D96F-74AE-44C6-904F-9EF86CB7E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7" b="8877"/>
          <a:stretch/>
        </p:blipFill>
        <p:spPr bwMode="auto">
          <a:xfrm>
            <a:off x="452621" y="2012082"/>
            <a:ext cx="4235737" cy="4235737"/>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9574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8" y="899939"/>
            <a:ext cx="7298116"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راه پله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 ها میزان حداقل عرض پله الزامی بر حسب نوع و بار تصرف و متناسب با تعداد استفاده کنندگان تعیین می‌شود در هر صورت پله هایی با عرض مفید کمتر از ۱/۱۰ متر و پلکان های دارای پاگردی که عموم از آن استفاده کنند با عرض مفید کمتر از ۲/۴۰ متر مجاز نیست مگر آن که در مقررات اختصاصی تصرفی به گونه ای دیگر تعیین شده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عرض یا شعاع ،پاگرد مساوی عرض پله می‌باشد . </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DB4252D9-1F42-43EB-91CC-0409272F7DFF}"/>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راه پله فلزی - پله نوربخش راه پله فلزی">
            <a:extLst>
              <a:ext uri="{FF2B5EF4-FFF2-40B4-BE49-F238E27FC236}">
                <a16:creationId xmlns:a16="http://schemas.microsoft.com/office/drawing/2014/main" id="{91400CFC-2E82-4BA8-8012-250FF98308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7" b="8877"/>
          <a:stretch/>
        </p:blipFill>
        <p:spPr bwMode="auto">
          <a:xfrm>
            <a:off x="452621" y="2012082"/>
            <a:ext cx="4235737" cy="4235737"/>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9760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8" y="899939"/>
            <a:ext cx="7298116"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راه پله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حداکثر تعداد پله های بین دو پاگرد در ساختمانهای مورد استفاده افراد دارای معلولیت و کم توانان جسمی حرکتی باید ۱۲ پله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ارتفاع غیر سرگیر پله ها و پاگردهای آن‌ها در تمام طول مسیر ۲/۰۵ متر است  که از لبه هر کف پله اندازه گیری می‌شود .</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39E59926-D2A2-4C69-A355-4B9B144644D4}"/>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راه پله فلزی - پله نوربخش راه پله فلزی">
            <a:extLst>
              <a:ext uri="{FF2B5EF4-FFF2-40B4-BE49-F238E27FC236}">
                <a16:creationId xmlns:a16="http://schemas.microsoft.com/office/drawing/2014/main" id="{C54694B7-9E67-4DF7-91B3-D63FF238568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7" b="8877"/>
          <a:stretch/>
        </p:blipFill>
        <p:spPr bwMode="auto">
          <a:xfrm>
            <a:off x="452621" y="2012082"/>
            <a:ext cx="4235737" cy="4235737"/>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9057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8" y="899939"/>
            <a:ext cx="7149915"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راه پله ها: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 های دارای چهار طبقه و بیشتر بالای ،زمین حداقل یک پلکان عمومی ساختمان باید تا سطح بام امتداد یابد مگر در بام هایی با شیب تندتر از ۳۳ درصد و یا بام هایی که هیچ گونه استفاده ای ندارند که دسترسی از طبقه آخر به آنها از طریق دیگر امکانات مانند نردبام مجاز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در ساختمانی که برای بام آن پلکان وجود دارد دسترسی به بام باید از طریق یک اتاقک خرپشته با مساحت برابر یا کمتر از قفسه راه پله تأمین شود.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51D56A3D-EEA6-4C9D-AC3F-5E5DC6B021BB}"/>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6562" name="Picture 2" descr="راه پله فلزی - پله نوربخش راه پله فلزی">
            <a:extLst>
              <a:ext uri="{FF2B5EF4-FFF2-40B4-BE49-F238E27FC236}">
                <a16:creationId xmlns:a16="http://schemas.microsoft.com/office/drawing/2014/main" id="{5E7A9197-F61C-425D-9717-E9288D21B32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7" b="8877"/>
          <a:stretch/>
        </p:blipFill>
        <p:spPr bwMode="auto">
          <a:xfrm>
            <a:off x="452621" y="2012082"/>
            <a:ext cx="4235737" cy="4235737"/>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5921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810440" y="899939"/>
            <a:ext cx="7037195"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راهروها و فضاهای عمومی مستقیم و یا دارای پنجره در دو انتها در مواردی که تأمین نور بصورت طبیعی انجام شود سطح شیشه طبق جدول ۶۴ و حداقل ۱/۸۰ متر مربع یا یک چهلم سطح کف است و در غیر از موارد فوق حداقل یک بیستم سطح کف می‌باشد.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راه پله ها در مواردی که تأمین نور بصورت طبیعی صورت گیرد سطح شیشه الزامي طبق جدول ۶۴ و حداقل ۰/۹۰ متر مربع به ازای هر طبقه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55298" name="Picture 2" descr="انواع نورگیر سقفی | نورگیر سقفی قوسی | نورگیر سقفی گنبدی | نورگیر سقفی حبابی">
            <a:extLst>
              <a:ext uri="{FF2B5EF4-FFF2-40B4-BE49-F238E27FC236}">
                <a16:creationId xmlns:a16="http://schemas.microsoft.com/office/drawing/2014/main" id="{F2E10533-653F-4872-B63F-44FFCE7258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1" r="2391"/>
          <a:stretch/>
        </p:blipFill>
        <p:spPr bwMode="auto">
          <a:xfrm>
            <a:off x="457176" y="1874338"/>
            <a:ext cx="4166687" cy="4002210"/>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669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23863" y="899939"/>
            <a:ext cx="7297538"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 عدم امکان نورگیری راه پله ها با پنجره های ،دیواری تأمین نور طبیعی از سقف محفظه پلکان نیز منطبق با الزامات مجاز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 های گروه های ۶ تا ۸ در صورت عدم امکان نورگیری راه پله ها با پنجره دیواری، علاوه بر تأمین نور طبیعی از سقف ،راه پله تعبیه برق اضطراری برای تأمین نور مصنوعی طبق مبحث سیزدهم مقررات ملی ساختمان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77D0D82F-2BB2-4E5C-AF56-DF45F7C73368}"/>
              </a:ext>
            </a:extLst>
          </p:cNvPr>
          <p:cNvSpPr/>
          <p:nvPr/>
        </p:nvSpPr>
        <p:spPr>
          <a:xfrm>
            <a:off x="-412595"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2" descr="انواع نورگیر سقفی | نورگیر سقفی قوسی | نورگیر سقفی گنبدی | نورگیر سقفی حبابی">
            <a:extLst>
              <a:ext uri="{FF2B5EF4-FFF2-40B4-BE49-F238E27FC236}">
                <a16:creationId xmlns:a16="http://schemas.microsoft.com/office/drawing/2014/main" id="{C2F0EBD8-B485-461C-83B2-825BFAFB99E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1" r="2391"/>
          <a:stretch/>
        </p:blipFill>
        <p:spPr bwMode="auto">
          <a:xfrm>
            <a:off x="457176" y="1874338"/>
            <a:ext cx="4166687" cy="4002210"/>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673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26693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3" y="899939"/>
            <a:ext cx="6701219"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کف سازی نازک کاری و پوشش‌های پله: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لبه و کف پله ها و پاگردها و همچنین کف شیب راه ها و راهروها باید به تشخیص مرجع صدور پروانه ساختمان از مصالح ،سخت غیر لغزنده و ثابت باشند.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کف پله ها در هر راه پله باید از مصالح رنگ و اندازه های یکسان تشکیل شده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شعاع گردی لبه کف پله( نوک پله) نباید بیش از13 میلی متر باشد. </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2" name="Picture 1">
            <a:extLst>
              <a:ext uri="{FF2B5EF4-FFF2-40B4-BE49-F238E27FC236}">
                <a16:creationId xmlns:a16="http://schemas.microsoft.com/office/drawing/2014/main" id="{1DEDEB3C-4831-478C-AFDC-5C2651C68DBB}"/>
              </a:ext>
            </a:extLst>
          </p:cNvPr>
          <p:cNvPicPr>
            <a:picLocks noChangeAspect="1"/>
          </p:cNvPicPr>
          <p:nvPr/>
        </p:nvPicPr>
        <p:blipFill rotWithShape="1">
          <a:blip r:embed="rId2"/>
          <a:srcRect l="10500" r="10500"/>
          <a:stretch/>
        </p:blipFill>
        <p:spPr>
          <a:xfrm>
            <a:off x="293958" y="1618018"/>
            <a:ext cx="4514850" cy="4514850"/>
          </a:xfrm>
          <a:prstGeom prst="diamond">
            <a:avLst/>
          </a:prstGeom>
        </p:spPr>
      </p:pic>
    </p:spTree>
    <p:extLst>
      <p:ext uri="{BB962C8B-B14F-4D97-AF65-F5344CB8AC3E}">
        <p14:creationId xmlns:p14="http://schemas.microsoft.com/office/powerpoint/2010/main" val="25924847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3" y="899939"/>
            <a:ext cx="6689337"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،ورود خروج ارتباط و دسترس:</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کف سازی نازک کاری و پوشش‌های پله: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عناصر اصلی و مصالح مصرفی در پله ها شیب راهها و راهروهای ساختمان باید مطابق با مندرجات مباحث سوم و پنجم مقررات ملی ساختمان دارای مقاومت مناسب در برابر حریق بوده و در هنگام زلزله ریزش نداشته باشند.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پیش آمدگی در فضاهای عبوری پله ها: شیب راه ها و راهروهای ساختمان نباید با هیچ وسیله و تجهیزاتی مانند شیر آب جعبه آتش نشانی و سایر وسایل و اجزای ساختمان مسدود شوند یا عرض آن ها به کمتر از مقدار حداقل الزامی تقلیل یابد.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8B614713-B597-4315-ABE7-681A275E5392}"/>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 name="Picture 1">
            <a:extLst>
              <a:ext uri="{FF2B5EF4-FFF2-40B4-BE49-F238E27FC236}">
                <a16:creationId xmlns:a16="http://schemas.microsoft.com/office/drawing/2014/main" id="{42E4798E-590C-4F8B-84AB-C0314E31C888}"/>
              </a:ext>
            </a:extLst>
          </p:cNvPr>
          <p:cNvPicPr>
            <a:picLocks noChangeAspect="1"/>
          </p:cNvPicPr>
          <p:nvPr/>
        </p:nvPicPr>
        <p:blipFill rotWithShape="1">
          <a:blip r:embed="rId2"/>
          <a:srcRect l="14600" r="14600"/>
          <a:stretch/>
        </p:blipFill>
        <p:spPr>
          <a:xfrm>
            <a:off x="141778" y="1338151"/>
            <a:ext cx="5219106" cy="5219106"/>
          </a:xfrm>
          <a:prstGeom prst="diamond">
            <a:avLst/>
          </a:prstGeom>
        </p:spPr>
      </p:pic>
    </p:spTree>
    <p:extLst>
      <p:ext uri="{BB962C8B-B14F-4D97-AF65-F5344CB8AC3E}">
        <p14:creationId xmlns:p14="http://schemas.microsoft.com/office/powerpoint/2010/main" val="3385495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45899" y="899939"/>
            <a:ext cx="6175501" cy="569386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اقامت: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سطوح زیربنا ابعاد و ارتفاع ،داخلی نورگیری و تهویه در فضاهای اقامت نباید از مقادیر مشخص شده در این مقررات کمتر باشد حداقل اندازه‌های سطح کف و ابعاد این فضاها باید خارج از کمدهای دیواری توکار تاقچه ها و آستانه درها و پنجره ها و نازک کاری دیوارها و سقف محاسبه می‌شود ؛ مگر آن که در مواردی به گونه ای دیگر بیان شده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تنها دسترسی موجود به یک اتاق اقامت نباید از اتاق اقامت دیگری باشد مگر آنکه به عنوان فضای الحاق شده مطابق مقررات محسوب شود یا واحد تصرف دارای فضای اقامتی غیر از این دو اتاق نباشد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4B4D8771-DEA4-475A-80B7-A95DEC2F91A2}"/>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192DE959-3000-4E7F-A65E-6645E91B52AB}"/>
              </a:ext>
            </a:extLst>
          </p:cNvPr>
          <p:cNvPicPr>
            <a:picLocks noChangeAspect="1"/>
          </p:cNvPicPr>
          <p:nvPr/>
        </p:nvPicPr>
        <p:blipFill rotWithShape="1">
          <a:blip r:embed="rId2"/>
          <a:srcRect t="7956" b="7956"/>
          <a:stretch/>
        </p:blipFill>
        <p:spPr>
          <a:xfrm>
            <a:off x="0" y="1007431"/>
            <a:ext cx="5766774" cy="5766774"/>
          </a:xfrm>
          <a:prstGeom prst="diamond">
            <a:avLst/>
          </a:prstGeom>
        </p:spPr>
      </p:pic>
    </p:spTree>
    <p:extLst>
      <p:ext uri="{BB962C8B-B14F-4D97-AF65-F5344CB8AC3E}">
        <p14:creationId xmlns:p14="http://schemas.microsoft.com/office/powerpoint/2010/main" val="3885657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66773" y="899939"/>
            <a:ext cx="6154627"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اقامت: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فضاهای اقامت: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فضاهای اقامت باید دارای سطوح زیربنا و اندازه های حداقل به شرح زیر باشند مگر آن که در مقررات اختصاصی تصرف ها به گونه ای دیگر بیان شده باشد.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فضاهای اقامت باید حداقل ۶/۵۰ متر مربع زیربنا داشته باشند.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فضای اقامت باید حداقل ۲/۱۵ متر عرض داشته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BA31406B-0C1F-475C-99FF-454F401BE0E0}"/>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a:extLst>
              <a:ext uri="{FF2B5EF4-FFF2-40B4-BE49-F238E27FC236}">
                <a16:creationId xmlns:a16="http://schemas.microsoft.com/office/drawing/2014/main" id="{B0FC7E5E-F7CE-4055-A4BA-982D9FA282D2}"/>
              </a:ext>
            </a:extLst>
          </p:cNvPr>
          <p:cNvPicPr>
            <a:picLocks noChangeAspect="1"/>
          </p:cNvPicPr>
          <p:nvPr/>
        </p:nvPicPr>
        <p:blipFill rotWithShape="1">
          <a:blip r:embed="rId2"/>
          <a:srcRect t="7956" b="7956"/>
          <a:stretch/>
        </p:blipFill>
        <p:spPr>
          <a:xfrm>
            <a:off x="0" y="1007431"/>
            <a:ext cx="5766774" cy="5766774"/>
          </a:xfrm>
          <a:prstGeom prst="diamond">
            <a:avLst/>
          </a:prstGeom>
        </p:spPr>
      </p:pic>
    </p:spTree>
    <p:extLst>
      <p:ext uri="{BB962C8B-B14F-4D97-AF65-F5344CB8AC3E}">
        <p14:creationId xmlns:p14="http://schemas.microsoft.com/office/powerpoint/2010/main" val="24595869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45899" y="899939"/>
            <a:ext cx="6175501"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اقامت: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فضاهای اقامت: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ارتفاع فضای اقامت باید ۲/۴۰ متر باشد این حداقل باید در تمام سطح الزامی رعایت شود در اتاقهای اقامت واقع در زیر سقف شیبدار ارتفاع در قسمت‌هایی با فاصله ۰/۳۰ متر از کوتاهترین قسمت آن نباید از ۲/۰۵ متر کمتر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ارتفاع آزاد زیر چارچوب درها ،تیرها لوله ها و کانالها و سایر عناصر نصب شده به سقف در فضاهای اقامت که از زیر آن‌ها عبور صورت میگیرد نباید از ۲/۰۵ متر کمتر باشد</a:t>
            </a:r>
          </a:p>
          <a:p>
            <a:pPr algn="just" rtl="1"/>
            <a:endParaRPr lang="fa-IR" sz="2400" dirty="0">
              <a:cs typeface="B Nazanin" panose="00000400000000000000" pitchFamily="2" charset="-78"/>
            </a:endParaRP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E448F587-051F-40F7-9360-E466D2FAB764}"/>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ABF67708-F742-4F27-AB54-94BC25D15EC9}"/>
              </a:ext>
            </a:extLst>
          </p:cNvPr>
          <p:cNvPicPr>
            <a:picLocks noChangeAspect="1"/>
          </p:cNvPicPr>
          <p:nvPr/>
        </p:nvPicPr>
        <p:blipFill rotWithShape="1">
          <a:blip r:embed="rId2"/>
          <a:srcRect t="7956" b="7956"/>
          <a:stretch/>
        </p:blipFill>
        <p:spPr>
          <a:xfrm>
            <a:off x="0" y="1007431"/>
            <a:ext cx="5766774" cy="5766774"/>
          </a:xfrm>
          <a:prstGeom prst="diamond">
            <a:avLst/>
          </a:prstGeom>
        </p:spPr>
      </p:pic>
    </p:spTree>
    <p:extLst>
      <p:ext uri="{BB962C8B-B14F-4D97-AF65-F5344CB8AC3E}">
        <p14:creationId xmlns:p14="http://schemas.microsoft.com/office/powerpoint/2010/main" val="5491411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45899" y="899939"/>
            <a:ext cx="6175501"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اقامت: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هر فضای ،اقامت باید حداقل دارای یک یا چند در و پنجره شیشه ای باشد که لازم است  با رعایت ضوابط شهرسازی به طور مستقیم رو به فضای باز یا خیابان و معبر عمومی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فضاهای اقامت در انطباق با الزامات سطح شیشه الزامی حداقل یک هشتم سطح کف است مگر آنکه پنجره ها تنها در یک دیوار فضا تعبیه شده باشد و فاصله آن دیوار با دیوار مقابل در فضای مورد نظر بیش از ۴/۵۰ متر ،باشد که در این صورت یک هفتم سطح کف الزامی خواهد بود.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B768014D-F433-4B4A-8C7F-68843A733576}"/>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D5B1BC58-DE4F-4973-9756-3E995E620588}"/>
              </a:ext>
            </a:extLst>
          </p:cNvPr>
          <p:cNvPicPr>
            <a:picLocks noChangeAspect="1"/>
          </p:cNvPicPr>
          <p:nvPr/>
        </p:nvPicPr>
        <p:blipFill rotWithShape="1">
          <a:blip r:embed="rId2"/>
          <a:srcRect t="7956" b="7956"/>
          <a:stretch/>
        </p:blipFill>
        <p:spPr>
          <a:xfrm>
            <a:off x="0" y="1007431"/>
            <a:ext cx="5766774" cy="5766774"/>
          </a:xfrm>
          <a:prstGeom prst="diamond">
            <a:avLst/>
          </a:prstGeom>
        </p:spPr>
      </p:pic>
    </p:spTree>
    <p:extLst>
      <p:ext uri="{BB962C8B-B14F-4D97-AF65-F5344CB8AC3E}">
        <p14:creationId xmlns:p14="http://schemas.microsoft.com/office/powerpoint/2010/main" val="4250478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45900" y="899939"/>
            <a:ext cx="6148868"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اقامت: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فضاهای اقامت در صورتی که لبه بالایی پنجره ها غیر از نورگیر سقف شیبدار در ارتفاع زیر ۲/۱۰ متر قرار گرفته باشد سطح الزامی شیشه شفاف یک ششم سطح کف است مگر آنکه تمام دریچه ها نیز در یک دیوار تعبیه شده باشد و فاصله آن از دیوار مقابل بیش از ۴/۵۰ متر باشد در این صورت سطح الزامی ،شیشه یک پنجم کف فضا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419B0287-01A7-44FF-9AC9-5EAB1B4B71E2}"/>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978A22C-5D9A-4560-BCC8-59196126A482}"/>
              </a:ext>
            </a:extLst>
          </p:cNvPr>
          <p:cNvPicPr>
            <a:picLocks noChangeAspect="1"/>
          </p:cNvPicPr>
          <p:nvPr/>
        </p:nvPicPr>
        <p:blipFill rotWithShape="1">
          <a:blip r:embed="rId2"/>
          <a:srcRect t="7956" b="7956"/>
          <a:stretch/>
        </p:blipFill>
        <p:spPr>
          <a:xfrm>
            <a:off x="0" y="1007431"/>
            <a:ext cx="5766774" cy="5766774"/>
          </a:xfrm>
          <a:prstGeom prst="diamond">
            <a:avLst/>
          </a:prstGeom>
        </p:spPr>
      </p:pic>
    </p:spTree>
    <p:extLst>
      <p:ext uri="{BB962C8B-B14F-4D97-AF65-F5344CB8AC3E}">
        <p14:creationId xmlns:p14="http://schemas.microsoft.com/office/powerpoint/2010/main" val="3681821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45899" y="905427"/>
            <a:ext cx="6175501"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اقامت: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صورتی که پنجره رو به یک ایوان باز شود ایوان باید دارای شرایط زیر باشد: الف) فضای ایوان باید به طور مستقیم به طرف فضای باز یا معبر عمومی بدون هیچگونه مانع در برابر  نور   و جریان هوا باشد. </a:t>
            </a:r>
          </a:p>
          <a:p>
            <a:pPr algn="just" rtl="1"/>
            <a:r>
              <a:rPr lang="fa-IR" sz="2400" dirty="0">
                <a:cs typeface="B Nazanin" panose="00000400000000000000" pitchFamily="2" charset="-78"/>
              </a:rPr>
              <a:t>ب) در و پنجره های شیشه ای الزامی برای تأمین نور طبیعی و تهویه در فضاهای اقامت، باید با ابعاد و سطوح تعیین شده بطور مستقیم و بدون مانع به فضای سرپوشیده ایوان باز شوند.  </a:t>
            </a:r>
          </a:p>
          <a:p>
            <a:pPr algn="just" rtl="1"/>
            <a:r>
              <a:rPr lang="fa-IR" sz="2400" dirty="0">
                <a:cs typeface="B Nazanin" panose="00000400000000000000" pitchFamily="2" charset="-78"/>
              </a:rPr>
              <a:t>پ) بین فضای اقامت یا اشتغال و فضای ایوان نباید محفظه آفتاب گیر قرار داده شود.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E8558F1D-604C-45FA-BB8B-9E58EDC9B18A}"/>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85F98D6D-141F-4C5E-9845-45EFC3FD6A84}"/>
              </a:ext>
            </a:extLst>
          </p:cNvPr>
          <p:cNvPicPr>
            <a:picLocks noChangeAspect="1"/>
          </p:cNvPicPr>
          <p:nvPr/>
        </p:nvPicPr>
        <p:blipFill rotWithShape="1">
          <a:blip r:embed="rId2"/>
          <a:srcRect t="7956" b="7956"/>
          <a:stretch/>
        </p:blipFill>
        <p:spPr>
          <a:xfrm>
            <a:off x="0" y="1007431"/>
            <a:ext cx="5766774" cy="5766774"/>
          </a:xfrm>
          <a:prstGeom prst="diamond">
            <a:avLst/>
          </a:prstGeom>
        </p:spPr>
      </p:pic>
    </p:spTree>
    <p:extLst>
      <p:ext uri="{BB962C8B-B14F-4D97-AF65-F5344CB8AC3E}">
        <p14:creationId xmlns:p14="http://schemas.microsoft.com/office/powerpoint/2010/main" val="3381126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477163" y="899939"/>
            <a:ext cx="6444237"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پخت و آشپزخانه ها: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دسترسی به یک فضای اشتغال یا اقامت نباید از فضای آشپزخانه باشد. ولی دسترسی به آشپزخانه در واحدهای تصرف که حداکثر دارای دو فضای مستقل اقامت یا اشتغال هستند میتواند از یکی از آن فضاها تامین شود مشروط بر آنکه مانع فعالیت و کار در آن فضا نبوده دسترسی به فضای مورد نظر برای همه فراهم و تهویه لازم برای آشپزخانه مطابق این مقررات تامین شده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5C998F47-E66A-4AD4-AD07-374F0F0CD7D8}"/>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1202" name="Picture 2" descr="طراحی داخلی ( آشپزخانه ) | رویاسازان بکر اندیش(رسبا)">
            <a:extLst>
              <a:ext uri="{FF2B5EF4-FFF2-40B4-BE49-F238E27FC236}">
                <a16:creationId xmlns:a16="http://schemas.microsoft.com/office/drawing/2014/main" id="{907CB9F1-1AC9-4EA7-8DC1-53A07DCB67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r="20000"/>
          <a:stretch/>
        </p:blipFill>
        <p:spPr bwMode="auto">
          <a:xfrm>
            <a:off x="266535" y="1362577"/>
            <a:ext cx="5356084" cy="5356084"/>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0956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622619" y="899939"/>
            <a:ext cx="6298782" cy="538609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پخت و آشپزخانه ها:</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اندازه های الزامی: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آشپزخانه ها و فضاهای پخت مستقل یا باز بر اساس نوع تصرف و نحوه استفاده تعیین می‌شود اما در هر صورت حداقل سطح آن‌ها شامل سطوح زیر قفسه ها ۵/۵۰ متر مربع و حداقل ابعاد آشپزخانه مابین دیوارهای اصلی ۱/۸۰ متر است. در هر آشپزخانه سطحی برابر حداقل ۲/۷۵ متر مربع خارج از قفسه بندی و بصورت آزاد برای فضای کار حفظ شود. </a:t>
            </a:r>
          </a:p>
          <a:p>
            <a:pPr algn="just" rtl="1"/>
            <a:r>
              <a:rPr lang="fa-IR" sz="2400" dirty="0">
                <a:cs typeface="B Nazanin" panose="00000400000000000000" pitchFamily="2" charset="-78"/>
              </a:rPr>
              <a:t>در سرتاسر آشپزخانه دیواری باید فضای کار آزاد و عاری از اشیاء و لوازم ثابت به عرض حداقل ۰/۹۰ متر از لبه قفسه ها در نظر گرفته شود مگر در مقررات اختصاصی تصرفی به گونه ای دیگر تعیین شده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40D058E5-D492-4296-A357-19A08F7D7B44}"/>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طراحی داخلی ( آشپزخانه ) | رویاسازان بکر اندیش(رسبا)">
            <a:extLst>
              <a:ext uri="{FF2B5EF4-FFF2-40B4-BE49-F238E27FC236}">
                <a16:creationId xmlns:a16="http://schemas.microsoft.com/office/drawing/2014/main" id="{E59EB9B6-EA33-440E-A901-656EFD311A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r="20000"/>
          <a:stretch/>
        </p:blipFill>
        <p:spPr bwMode="auto">
          <a:xfrm>
            <a:off x="266535" y="1362577"/>
            <a:ext cx="5356084" cy="5356084"/>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509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622619" y="899939"/>
            <a:ext cx="6298782" cy="390876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پخت و آشپزخانه ها:</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آشپزخانه‌های مستقل باید دارای نور طبیعی باشند در آشپزخانه های باز و دیواری استفاده از تهویه و نور مصنوعی در صورت عدم امکان تعبیه نور و تهویه طبیعی و در صورت مجاز بودن استفاده از آنها در تصرف مورد نظر،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در آشپزخانه‌های باز و ،دیواری تخلیه هوای مکانیکی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1A4FE932-8705-47B5-A917-25BBA3B500C0}"/>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طراحی داخلی ( آشپزخانه ) | رویاسازان بکر اندیش(رسبا)">
            <a:extLst>
              <a:ext uri="{FF2B5EF4-FFF2-40B4-BE49-F238E27FC236}">
                <a16:creationId xmlns:a16="http://schemas.microsoft.com/office/drawing/2014/main" id="{FED6548D-13E2-4D79-94B4-953AAC9307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r="20000"/>
          <a:stretch/>
        </p:blipFill>
        <p:spPr bwMode="auto">
          <a:xfrm>
            <a:off x="266535" y="1362577"/>
            <a:ext cx="5356084" cy="5356084"/>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8406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622619" y="899939"/>
            <a:ext cx="6410432" cy="464742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پخت و آشپزخانه ها:</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سیستم های تخلیه هوای همۀ آشپزخانه هایی که ملزم به تعبیه هواکش روی اجاق (هود) هستند باید توسط کانال یا هواکش مستقل به خارج از بنا ارتباط یابند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سیستم تخلیه هوای آشپزخانه در ساختمان های گروه های ،۶، ۷ و ۸ باید در تمام مدت کارکرد آشپزخانه عمل کند عایق کاری حرارتی این کانالها باید مطابق با مندرجات مبحث چهاردهم مقررات ملی ساختمان صورت پذیرد.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AEBF0E49-1376-4474-BD3A-27B068EAF4CC}"/>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طراحی داخلی ( آشپزخانه ) | رویاسازان بکر اندیش(رسبا)">
            <a:extLst>
              <a:ext uri="{FF2B5EF4-FFF2-40B4-BE49-F238E27FC236}">
                <a16:creationId xmlns:a16="http://schemas.microsoft.com/office/drawing/2014/main" id="{FC23D261-59C7-4285-83A1-506C6BE62A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00" r="20000"/>
          <a:stretch/>
        </p:blipFill>
        <p:spPr bwMode="auto">
          <a:xfrm>
            <a:off x="266535" y="1362577"/>
            <a:ext cx="5356084" cy="5356084"/>
          </a:xfrm>
          <a:prstGeom prst="diamond">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9950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569526" y="899939"/>
            <a:ext cx="6361111" cy="353943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الزامات کلی: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تصرف هابسته به نوع و بار، تصرف باید فضاهای بهداشتی به تعداد کافی تامین شود در ساختمان‌های مورد استفاده عموم و همچنین ساختمان‌های با گروه تصرف (م_۱) و(م_3) تعبیه فضاهای بهداشتی مناسب برای افراد معلول مطابق ضوابط مصوب شورای‌عالی شهرسازی و معماری الزامیست.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D5D00D00-7478-40F4-BFF4-816254E22450}"/>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ستاندارد سرویس های بهداشتی - ضد آب سازی">
            <a:extLst>
              <a:ext uri="{FF2B5EF4-FFF2-40B4-BE49-F238E27FC236}">
                <a16:creationId xmlns:a16="http://schemas.microsoft.com/office/drawing/2014/main" id="{11D1CA61-23A9-4E11-97B7-31848AEE47F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34787" y="1266514"/>
            <a:ext cx="5217858" cy="521785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63571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503751" y="899939"/>
            <a:ext cx="6371468" cy="353943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الزامات کلی: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سطوح زیربنا ابعاد و ارتفاع ،داخلی نورگیری و تهویه در فضاهای بهداشتی نباید از مقادیر مشخص شده در این مقررات کمتر باشد حداقل اندازه‌های سطح کف و ابعاد این فضاها باید خارج از کمدهای دیواری ،تو کار تاقچه ها و آستانه درها و پنجره ها اندازه گیری و کنترل شود مگر آن که در مواردی به گونه ای دیگر بیان شده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9BBEA65D-F8AA-48C9-BCFE-A5125CCB3AF0}"/>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ستاندارد سرویس های بهداشتی - ضد آب سازی">
            <a:extLst>
              <a:ext uri="{FF2B5EF4-FFF2-40B4-BE49-F238E27FC236}">
                <a16:creationId xmlns:a16="http://schemas.microsoft.com/office/drawing/2014/main" id="{9CE042FA-A3A3-471A-9590-6A36B76810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34787" y="1266514"/>
            <a:ext cx="5217858" cy="521785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719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458691" y="899939"/>
            <a:ext cx="6462710" cy="390876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الزامات کلی: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دسترسی به فضای بهداشتی در واحدهای تصرف که حداکثر دارای دو فضای مستقل اقامت یا اشتغال هستند می‌تواند از یکی از آن فضاها تامین شود مشروط بر آنکه دسترسی به فضای مورد نظر برای همه فراهم و تهویه لازم و مستقل برای فضای بهداشتی مطابق این مقررات برقرار باشد مگر آن که در مقررات اختصاصی تصرفی به نحو دیگری تعیین شده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AC559D44-95F1-4243-BF6D-6D0506363D76}"/>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ستاندارد سرویس های بهداشتی - ضد آب سازی">
            <a:extLst>
              <a:ext uri="{FF2B5EF4-FFF2-40B4-BE49-F238E27FC236}">
                <a16:creationId xmlns:a16="http://schemas.microsoft.com/office/drawing/2014/main" id="{E8C432D8-18A3-4610-94A8-3ECF2C8607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34787" y="1266514"/>
            <a:ext cx="5217858" cy="521785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5896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iamond 14">
            <a:extLst>
              <a:ext uri="{FF2B5EF4-FFF2-40B4-BE49-F238E27FC236}">
                <a16:creationId xmlns:a16="http://schemas.microsoft.com/office/drawing/2014/main" id="{3F264612-3D04-4A90-BECF-6C921F9D4B26}"/>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63832" y="899939"/>
            <a:ext cx="6793640" cy="390876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الزامات کلی: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تعبیه فضاهای بهداشتی مستراح در هر شرایطی نباید در راستای جهت قبله صورت گیرد.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نوع حریم‌ها و شرایط نصب کلید و پریز و سایر تجهیزات الکتریکی در فضاهای ،بهداشتی باید با رعایت مقررات مبحث سیزدهم به گونه ای باشد که ایمنی استفاده کنندگان از فضاهای بهداشتی را فراهم آورد.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49154" name="Picture 2" descr="استاندارد سرویس های بهداشتی - ضد آب سازی">
            <a:extLst>
              <a:ext uri="{FF2B5EF4-FFF2-40B4-BE49-F238E27FC236}">
                <a16:creationId xmlns:a16="http://schemas.microsoft.com/office/drawing/2014/main" id="{2C822783-6F0E-44D1-99EC-53333983400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34787" y="1266514"/>
            <a:ext cx="5217858" cy="521785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042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19249" y="899939"/>
            <a:ext cx="7002151"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فضاهای بهداشتی: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افقی تمام شده برای ضلع کوچکتر هر فضای بهداشتی در هیچ شرایطی نباید از ۱/۱۰ مترکمتر باشد مگر آنکه در مقررات اختصاصی تصرفی به گونه‌ای دیگر تعیین شده باشد.   </a:t>
            </a:r>
          </a:p>
          <a:p>
            <a:pPr algn="just" rtl="1"/>
            <a:r>
              <a:rPr lang="fa-IR" sz="2400" dirty="0">
                <a:cs typeface="B Nazanin" panose="00000400000000000000" pitchFamily="2" charset="-78"/>
              </a:rPr>
              <a:t>در صورتی که محدوده ای به عنوان پیش ورودی در داخل فضای دوش مستقل پیش بینی شود یکی از ابعاد فضای دوش باید حداقل ۱/۵۰ متر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44D348DD-B578-4452-A4E3-CA121A835283}"/>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کات مهم سرویس بهداشتی | استاندارد ها و اصول طراحی سرویس">
            <a:extLst>
              <a:ext uri="{FF2B5EF4-FFF2-40B4-BE49-F238E27FC236}">
                <a16:creationId xmlns:a16="http://schemas.microsoft.com/office/drawing/2014/main" id="{F1FA0822-025A-4F54-9BE3-ED0F211666C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2" t="3924" r="3205" b="8073"/>
          <a:stretch/>
        </p:blipFill>
        <p:spPr bwMode="auto">
          <a:xfrm>
            <a:off x="0" y="961810"/>
            <a:ext cx="4688358" cy="4516517"/>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327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505677" y="263698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3" y="963628"/>
            <a:ext cx="6800987"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فضاهای بهداشتی:</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حداقل اندازه فضای بهداشتی برای استفاده افراد معلول ۱/۷۰×۱/۵۰ متر است.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ارتفاع فضاهای بهداشتی در هر قسمت که فرد به طور معمول به صورت ایستاده است نباید از ۲/۱۰ متر کمتر باشد مگر آنکه در مقررات اختصاصی تصرفی به گونه‌ای دیگر تعیین شده باشد. </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47106" name="Picture 2" descr="نکات مهم سرویس بهداشتی | استاندارد ها و اصول طراحی سرویس">
            <a:extLst>
              <a:ext uri="{FF2B5EF4-FFF2-40B4-BE49-F238E27FC236}">
                <a16:creationId xmlns:a16="http://schemas.microsoft.com/office/drawing/2014/main" id="{E3788BBD-5DA8-475F-BC44-865277D641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32" t="3924" r="3205" b="8073"/>
          <a:stretch/>
        </p:blipFill>
        <p:spPr bwMode="auto">
          <a:xfrm>
            <a:off x="0" y="961810"/>
            <a:ext cx="4688358" cy="4516517"/>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7756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00073" y="899939"/>
            <a:ext cx="6749037"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سطح بازشوی الزامی در صورت تعویض هوای طبیعی در فضاهای بهداشتی حداقل ۰/۱۸۰ متر مربع است. نورگیری و تعویض هوای طبیعی برای فضاهای بهداشتی الزامی نیست و می‌توان آن ها را بصورت مصنوعی تامین نمود  مگر اینکه در تصرف خاصی الزام شده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54D37C7C-2522-476A-A821-3BA2E4943664}"/>
              </a:ext>
            </a:extLst>
          </p:cNvPr>
          <p:cNvSpPr/>
          <p:nvPr/>
        </p:nvSpPr>
        <p:spPr>
          <a:xfrm>
            <a:off x="-412595" y="269655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ویژگی بی نظیر پوشش نورگیر ساختمانی">
            <a:extLst>
              <a:ext uri="{FF2B5EF4-FFF2-40B4-BE49-F238E27FC236}">
                <a16:creationId xmlns:a16="http://schemas.microsoft.com/office/drawing/2014/main" id="{C278222E-D7C3-4A6B-97D8-2B76124471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77" b="2077"/>
          <a:stretch/>
        </p:blipFill>
        <p:spPr bwMode="auto">
          <a:xfrm>
            <a:off x="-191616" y="1441543"/>
            <a:ext cx="5391689" cy="5391689"/>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927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269655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00073" y="899939"/>
            <a:ext cx="6721328"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نورگیری و تهویه: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سیستم های تخلیه هوای فضاهای بهداشتی در ساختمانهای گروه های۶ ،۷ و۸  باید یا به صورت مرکزی و یا با هواکش هایی مستقل که توسط کلیدهای روشنایی برق یا کلیدهای جداگانه به کار افتند عمل کنند. در صورتی که هوای چند فضای بهداشتی توسط یک هواکش تخلیه شود این هواکش باید توسط کلیدهای مجزایی که در هر یک از آن‌ها قرار می‌گیرد به کار افتد و در انطباق با مبحث سیزدهم مقررات ملی ساختمان متصل به سیستم برق اضطراری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46082" name="Picture 2" descr="ویژگی بی نظیر پوشش نورگیر ساختمانی">
            <a:extLst>
              <a:ext uri="{FF2B5EF4-FFF2-40B4-BE49-F238E27FC236}">
                <a16:creationId xmlns:a16="http://schemas.microsoft.com/office/drawing/2014/main" id="{A1435552-E9E3-4D74-B745-2A9A1D7286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77" b="2077"/>
          <a:stretch/>
        </p:blipFill>
        <p:spPr bwMode="auto">
          <a:xfrm>
            <a:off x="-191616" y="1441543"/>
            <a:ext cx="5391689" cy="5391689"/>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744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Diamond 14">
            <a:extLst>
              <a:ext uri="{FF2B5EF4-FFF2-40B4-BE49-F238E27FC236}">
                <a16:creationId xmlns:a16="http://schemas.microsoft.com/office/drawing/2014/main" id="{7C8D5EBF-ACB6-4C10-B85D-D883EC74B63C}"/>
              </a:ext>
            </a:extLst>
          </p:cNvPr>
          <p:cNvSpPr/>
          <p:nvPr/>
        </p:nvSpPr>
        <p:spPr>
          <a:xfrm>
            <a:off x="-526894"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46701" y="899939"/>
            <a:ext cx="6674699"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بهداشتی: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کفسازی و پوشش دیوار:</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 دیوارهای دستشویی و توالت باید تا ارتفاع حداقل ۱/۲۰ متر و در حمام حداقل ۲/۰۰ متر از کف با کاشی یا مصالح مشابه پوشیده شود کف این فضاها باید به نحو مناسب عایق کاری رطوبتی شده و با کاشی یا دیگر مصالح قابل شستشو پوشیده شوند.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45058" name="Picture 2" descr="مراحل کف سازی سرویس بهداشتی + آموزش صفر تا صد - دانشنامه سیب">
            <a:extLst>
              <a:ext uri="{FF2B5EF4-FFF2-40B4-BE49-F238E27FC236}">
                <a16:creationId xmlns:a16="http://schemas.microsoft.com/office/drawing/2014/main" id="{6D6FFAFF-81E6-49FD-84D2-52F0524D3D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669" t="-694" r="23389" b="694"/>
          <a:stretch/>
        </p:blipFill>
        <p:spPr bwMode="auto">
          <a:xfrm>
            <a:off x="-90718" y="1400581"/>
            <a:ext cx="5215801" cy="5215801"/>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69799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526894"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88358" y="899939"/>
            <a:ext cx="7269988" cy="273921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فضاهای باز: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حیاط ها :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ساختمان‌های دارای بیشتر از یک واحد ،تصرف باید دسترسی به حیاط بیرونی به صورت راهرو یا پلکان مستقل از واحدها برای تمام ساکنان و استفاده کنندگان ساختمان فراهم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41986" name="Picture 2" descr="طراحی و محوطه سازی حیاط ویلا ها">
            <a:extLst>
              <a:ext uri="{FF2B5EF4-FFF2-40B4-BE49-F238E27FC236}">
                <a16:creationId xmlns:a16="http://schemas.microsoft.com/office/drawing/2014/main" id="{3AF5008A-05BE-4D86-B1A5-A3972779FE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a:stretch/>
        </p:blipFill>
        <p:spPr bwMode="auto">
          <a:xfrm>
            <a:off x="-545078" y="1579099"/>
            <a:ext cx="5233436" cy="5233436"/>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6899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4" y="899939"/>
            <a:ext cx="6689337"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 و عناصر واسط 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فضاها و عناصر واسطی که برای رساندن نور و تهویه الزامی فضاهای قابل سکونت یا اشتغال ایجاد می‌شوند باید با الزامات این قسمت منطبق باشند.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باید دسترسی مناسب به منظور رسیدگی و نظافت این فضاها و عناصر پیش بینی شده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بدنه عناصر واسط باید با مصالح مناسب و مقاوم در برابر شرایط بیرونی پوشانده یا اندود  شده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9F5A4D2D-EE0C-4A4B-8E38-88E725E0F6EA}"/>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818" name="Picture 2" descr="نورگیر آشپزخانه | نورگیر سقفی آشپزخانه | پوشش ساز مجری انواع نورگیر">
            <a:extLst>
              <a:ext uri="{FF2B5EF4-FFF2-40B4-BE49-F238E27FC236}">
                <a16:creationId xmlns:a16="http://schemas.microsoft.com/office/drawing/2014/main" id="{57674BE4-2BD2-420D-AD4D-D42593C6992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00" r="7900"/>
          <a:stretch/>
        </p:blipFill>
        <p:spPr bwMode="auto">
          <a:xfrm>
            <a:off x="-195352" y="1300153"/>
            <a:ext cx="5431407" cy="5431407"/>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9713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46701" y="898295"/>
            <a:ext cx="6786349"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 و عناصر واسط 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مجراهای خارجی نور و هوا: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مجراهای خارجی نور و هوا که برای تامین نور و تهویه الزامی فضاها ایجاد می‌شوند نباید برای مقاصد دیگر مورد استفاده قرار گیرند.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این مجراها باید حداقل ۱/۵۰ متر عرض داشته باشند و با ارتفاع لازم در کنار دیوار خارجی در حیاط‌ها پیش بینی شوند.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B908649D-5D9F-4138-BE54-2858C3ADFCAB}"/>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ورگیر آشپزخانه | نورگیر سقفی آشپزخانه | پوشش ساز مجری انواع نورگیر">
            <a:extLst>
              <a:ext uri="{FF2B5EF4-FFF2-40B4-BE49-F238E27FC236}">
                <a16:creationId xmlns:a16="http://schemas.microsoft.com/office/drawing/2014/main" id="{1B538053-CD7E-4BAD-9AAF-CE496FF237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00" r="7900"/>
          <a:stretch/>
        </p:blipFill>
        <p:spPr bwMode="auto">
          <a:xfrm>
            <a:off x="-195352" y="1300153"/>
            <a:ext cx="5431407" cy="5431407"/>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2885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5" y="893778"/>
            <a:ext cx="6800986"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فضاها و عناصر واسط نورگیری و تهویه: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مجراهای خارجی نور و هوا: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برای محاسبه سطح نورگیر فضاها در مجرای خارجی نور و هوا تنها ارتفاع ۰/۹۰ متر سطح نورگذر و یا بازشو در زیر تراز زمین محاسبه می‌شود.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صورتی که امکان عبور افراد یا وسایل نقلیه وجود داشته باشد، سطح فوقانی مجرای خارجی نور و هوا باید همسطح زمین باشد و توسط شبکه فلزی مستحکم در برابر عبور افراد یا وسایل نقلیه و با رعایت ضوابط عبور افراد معلول پوشیده و حفاظت شود.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057C6748-11AC-4EBB-AC7A-C795AB165CF5}"/>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نورگیر آشپزخانه | نورگیر سقفی آشپزخانه | پوشش ساز مجری انواع نورگیر">
            <a:extLst>
              <a:ext uri="{FF2B5EF4-FFF2-40B4-BE49-F238E27FC236}">
                <a16:creationId xmlns:a16="http://schemas.microsoft.com/office/drawing/2014/main" id="{D5513A4E-BB64-40ED-B055-BD67AF36B7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900" r="7900"/>
          <a:stretch/>
        </p:blipFill>
        <p:spPr bwMode="auto">
          <a:xfrm>
            <a:off x="-195352" y="1300153"/>
            <a:ext cx="5431407" cy="5431407"/>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2348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76525" y="899939"/>
            <a:ext cx="6944875" cy="569386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تعداد الزامی محل توقف خودرو در تصرفهای مختلف بر حسب موقعیت آنها در شهر در ضوابط طرح های مصوب توسعه و عمران شهری تعیین می‌شود.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ورود و خروج توقفگاه های خودرو نباید از فضایی با تصرف یا استفاده دیگر صورت گیرد در توقفگاه های خودرو و مسیرهای ورود و خروج آن نباید ،دود بو یا سروصدای ناشی از آن مزاحم آسایش و آرامش در ساختمان و اطراف آن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توقفگاه ها به شرط عدم ایجاد مزاحمت برای خودروهای دیگر، پیش بینی فقط دو واحد توقف خودرو در پشت سرهم بلامانع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8C35732E-4092-4BCE-A1B8-55E539F52502}"/>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3794" name="Picture 2" descr="ابعاد و مساحت پارکینگ و محل های توقف خودرو - شش دانگ">
            <a:extLst>
              <a:ext uri="{FF2B5EF4-FFF2-40B4-BE49-F238E27FC236}">
                <a16:creationId xmlns:a16="http://schemas.microsoft.com/office/drawing/2014/main" id="{7EA88FBE-4413-4D62-9586-3596D7D99C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2258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76524" y="892456"/>
            <a:ext cx="6900855" cy="569386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توقف خودروها در توقفگاه ها نباید مزاحمتی برای باز شدن درها و استفاده از فضاهای انباری و تأسیساتی و دسترسی به راه پله ها و آسانسورها ایجاد کند.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هرگونه تعمیر یا تعویض قطعات اصلی خودرو در محل توقفگاه ها ممنوع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توقفگاه های بزرگ به منظور تفکیک عبور سواره و پیاده در کنار معبر سواره یا جایگاه های توقف خودرو باید گذرگاه عابران به عرض حداقل ۰/۶۰ متر در نظر گرفته شود و با تغییر رنگ معبر یا افزایش ارتفاع کف آن بالاتر از سطح معبر سواره تفکیک شود.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6A0EE87A-A287-4D29-9631-7857BE8E4266}"/>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بعاد و مساحت پارکینگ و محل های توقف خودرو - شش دانگ">
            <a:extLst>
              <a:ext uri="{FF2B5EF4-FFF2-40B4-BE49-F238E27FC236}">
                <a16:creationId xmlns:a16="http://schemas.microsoft.com/office/drawing/2014/main" id="{EA07FF2F-0902-45D8-8E86-B1B4CCF989A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40302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003465" y="899939"/>
            <a:ext cx="6917936"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تعداد فضای توقف مورد نیاز برای افراد معلول در توقفگاهها بر حسب هر ۲۵ محل توقف خودرو سواری یک عدد و بیش از آن براساس ضوابط و مقررات شهرسازی و معماری افراد معلول جسمی حرکتی می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پیش بینی سرویس بهداشتی در توقفگاه های عمومی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پیش بینی کف شوی در توقفگاه های متوسط و بزرگ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3EC94DCB-9308-4DBC-A658-5C5E48590149}"/>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بعاد و مساحت پارکینگ و محل های توقف خودرو - شش دانگ">
            <a:extLst>
              <a:ext uri="{FF2B5EF4-FFF2-40B4-BE49-F238E27FC236}">
                <a16:creationId xmlns:a16="http://schemas.microsoft.com/office/drawing/2014/main" id="{2E907D8D-0DD1-40EC-BAB5-4849A12D4E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1366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003465" y="909848"/>
            <a:ext cx="6917936"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الزامات کلی:</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توقفگاه های متوسط و بزرگ باید از علائم هشدار دهنده و انتظامی مندرج در مبحث بیستم مقررات ملی ساختمان استفاده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صورتی که ساختمانی امکان اتصال به دو یا چند معبر در رده عملکردی اصلی و فرعی از نظر حمل و نقل را داشته باشد مثلا اگر در میادین و تقاطع ها واقع باشد، مسیر دسترسی به ساختمان باید از معبر با رده عملکردی پایین تر و محلی تر تأمین گردد؛ مگر اینکه نهاد قانونی مسئول با توجه به شرایط موجود و ملاحظات ایمنی و سایر شرایط تأثیر گذار، دسترسی از معبر با رده عملکردی بالاتر را الزام یا تصویب نماید.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5980B6C0-0145-4248-B0B8-657723641E59}"/>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بعاد و مساحت پارکینگ و محل های توقف خودرو - شش دانگ">
            <a:extLst>
              <a:ext uri="{FF2B5EF4-FFF2-40B4-BE49-F238E27FC236}">
                <a16:creationId xmlns:a16="http://schemas.microsoft.com/office/drawing/2014/main" id="{D7841886-C9F1-4A60-AAC2-C4189FB1F9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234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76524" y="899939"/>
            <a:ext cx="6929557"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توقفگاه: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ارتفاع مجاز توقفگاه های کوچک ،خودرو به منظور تقلیل خطرات ناشی از حریق از کف تا سطح زیرین سقف و یا در صورت وجود تأسیسات یا عناصر سازه ای در زیر سقف تا پایین ترین نقطه آنها حداقل ۲/۲۰ متر است ارتفاع مجاز توقفگاه های متوسط و بزرگ خودرو حداقل ۲/۴۰ متر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شعاع درونی مسیر چرخش خودرو در توقفگاه ها نباید کمتر از ۵۰۰ متر در نظر گرفته  شود.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15C967C3-A1B7-4719-89ED-83EF5BE716D6}"/>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بعاد و مساحت پارکینگ و محل های توقف خودرو - شش دانگ">
            <a:extLst>
              <a:ext uri="{FF2B5EF4-FFF2-40B4-BE49-F238E27FC236}">
                <a16:creationId xmlns:a16="http://schemas.microsoft.com/office/drawing/2014/main" id="{F7065C93-16BC-467B-B0C7-9461EEDDE9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20345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76525" y="899939"/>
            <a:ext cx="6944876" cy="569386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توقفگاه: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رعایت حداقل ۵/۰۰۰×۵/۰۰ متر برای فضای گردش ۹۰ درجه خودرو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ابعاد و مساحت محلهای توقف خودرو </a:t>
            </a:r>
          </a:p>
          <a:p>
            <a:pPr algn="just" rtl="1"/>
            <a:r>
              <a:rPr lang="fa-IR" sz="2400" dirty="0">
                <a:cs typeface="B Nazanin" panose="00000400000000000000" pitchFamily="2" charset="-78"/>
              </a:rPr>
              <a:t>الف) ابعاد لازم جهت توقف دو خودرو در صورتی که کنار یکدیگر قرار گیرند هریک ۲/۵۰×۵/۰۰ متر می‌باشد. هنگامی که خودروها در طول و پشت سر یکدیگر قرار میگیرند ابعاد مورد نیاز برای هر یک ۲/۵۰×۶/۰۰ متر میباشد در توقفگاه های سرپوشیده در صورتیکه فاصله محور ستونها ۵۰۰ متر و فاصله داخلی بین دو ستون حداقل ۴/۵۰ متر باشد دو خودرو می‌توانند بین دوستون قرار گیرند افزایش تعداد خودرو با افزایش فاصله داخلی ستون‌ها به ازای ۲/۵۰ متر به ازای هر خودرو بلامانع است. </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C58CE667-5229-4CFE-B9ED-0EA24DEC6431}"/>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بعاد و مساحت پارکینگ و محل های توقف خودرو - شش دانگ">
            <a:extLst>
              <a:ext uri="{FF2B5EF4-FFF2-40B4-BE49-F238E27FC236}">
                <a16:creationId xmlns:a16="http://schemas.microsoft.com/office/drawing/2014/main" id="{F5335122-7601-49CD-B3CA-501083F32C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72383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76525" y="899939"/>
            <a:ext cx="6944876"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توقفگاه: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 در صورتی که توقف خودروی معلول در توقفگاه های خصوصی الزامی باشد بشرط عدم وجود مانع برای باز شدن در ابعاد لازم ۳/۵۰ × ۵ متر محور تا محور میباشد و به ازای هر طرف دیوار یا مانع ۰/۲۵ متر به عرض آن اضافه می‌شود .</a:t>
            </a:r>
          </a:p>
          <a:p>
            <a:pPr algn="just" rtl="1"/>
            <a:r>
              <a:rPr lang="fa-IR" sz="2400" dirty="0">
                <a:cs typeface="B Nazanin" panose="00000400000000000000" pitchFamily="2" charset="-78"/>
              </a:rPr>
              <a:t> پ) در صورتی که دو طرف یک محل توقف در توقفگاه دیوار باشد، عرض آن باید حداقل ۳۰۰ متر و طول  آن ۵۰۰ متر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72A9446F-17EC-438A-9DB7-DFB9B1915A6F}"/>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بعاد و مساحت پارکینگ و محل های توقف خودرو - شش دانگ">
            <a:extLst>
              <a:ext uri="{FF2B5EF4-FFF2-40B4-BE49-F238E27FC236}">
                <a16:creationId xmlns:a16="http://schemas.microsoft.com/office/drawing/2014/main" id="{41E56221-770C-4A11-9B7C-21D1F1DCEFE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33450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76525" y="893749"/>
            <a:ext cx="6944876"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توقفگاه های خودرو:</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اندازه های توقفگاه: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عرض مسیر رفت و آمد در توقفگاه های بزرگ و متوسط نباید از ۵۰۰ متر کمتر باشد در توقفگاه های کوچک حداقل مسیر رفت و آمد باید هم عرض شیب راه ، ۳۰۰ متر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توقفگاه های عمومی شیب راه‌های مسقف با طول بیشتر از ۲۰ متر با حداکثر شیب ۱۶ مجاز است در طول کمتر از ۲۰ متر حداکثر شیب مجاز ۱۷ است؛ اما حداکثر شیب یک متر ابتدا و یک متر انتهای آن باید مساوی یا کمتر از ۱۰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9C7BB17A-6DB6-469C-8DE0-01E265A8C50B}"/>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Picture 2" descr="ابعاد و مساحت پارکینگ و محل های توقف خودرو - شش دانگ">
            <a:extLst>
              <a:ext uri="{FF2B5EF4-FFF2-40B4-BE49-F238E27FC236}">
                <a16:creationId xmlns:a16="http://schemas.microsoft.com/office/drawing/2014/main" id="{7F69BB2F-2992-4FC8-BAC6-8AC9FFC739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191" r="32509"/>
          <a:stretch/>
        </p:blipFill>
        <p:spPr bwMode="auto">
          <a:xfrm>
            <a:off x="-481300" y="1311706"/>
            <a:ext cx="5457825" cy="5457825"/>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4565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962929" y="899939"/>
            <a:ext cx="6958472"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انبارها: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ارتفاع در فضاهای انباری که افراد برای مدت طولانی در آنها حضور پیدا نمی کنند ۲/۱۰ متر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صورتی که تدابیری برای تهویه فضای انباری که افراد برای مدت طولانی در آنها حضور پیدا نمیکنند پیش بینی نشده باشد برروی سطح ،در باید شیارهایی جهت ورود و خروج هوا تعبیه شود.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 حضور بلندمدت افراد در انبارهای تخصصی یا حرفه ای و یا استفاده از آن به عنوان فضای اقامت یا اشتغال افراد باید مقررات مربوط به همان نوع فضاها در خصوص اندازه ها ارتفاع تهویه و نورگیری الزامی و غیره رعایت شود.</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pic>
        <p:nvPicPr>
          <p:cNvPr id="15" name="Picture 14">
            <a:extLst>
              <a:ext uri="{FF2B5EF4-FFF2-40B4-BE49-F238E27FC236}">
                <a16:creationId xmlns:a16="http://schemas.microsoft.com/office/drawing/2014/main" id="{7DB21FEC-825B-40BC-8B53-2F6A428B464D}"/>
              </a:ext>
            </a:extLst>
          </p:cNvPr>
          <p:cNvPicPr>
            <a:picLocks noChangeAspect="1"/>
          </p:cNvPicPr>
          <p:nvPr/>
        </p:nvPicPr>
        <p:blipFill rotWithShape="1">
          <a:blip r:embed="rId2"/>
          <a:srcRect l="10398" r="10398"/>
          <a:stretch/>
        </p:blipFill>
        <p:spPr>
          <a:xfrm>
            <a:off x="368436" y="1743372"/>
            <a:ext cx="4594493" cy="4594493"/>
          </a:xfrm>
          <a:prstGeom prst="flowChartDecision">
            <a:avLst/>
          </a:prstGeom>
        </p:spPr>
      </p:pic>
    </p:spTree>
    <p:extLst>
      <p:ext uri="{BB962C8B-B14F-4D97-AF65-F5344CB8AC3E}">
        <p14:creationId xmlns:p14="http://schemas.microsoft.com/office/powerpoint/2010/main" val="18277087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پنجم: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232064" y="899939"/>
            <a:ext cx="6652392"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انبارها:</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رعایت مبحث سوم مقررات ملی ساختمان در خصوص حفاظت انبارها در برابر آتش الزامیست.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صورتی که انبار برای نگهداری کالاها و تجهیزات ساختمانی در حین اجرا استفاده شود، رعایت مبحث دوازدهم مقررات ملی ساختمان الزامیست.</a:t>
            </a:r>
          </a:p>
        </p:txBody>
      </p:sp>
      <p:sp>
        <p:nvSpPr>
          <p:cNvPr id="3" name="Rectangle 2">
            <a:extLst>
              <a:ext uri="{FF2B5EF4-FFF2-40B4-BE49-F238E27FC236}">
                <a16:creationId xmlns:a16="http://schemas.microsoft.com/office/drawing/2014/main" id="{7E086E71-BC30-41E7-B609-FD1E2CE9B3FB}"/>
              </a:ext>
            </a:extLst>
          </p:cNvPr>
          <p:cNvSpPr/>
          <p:nvPr/>
        </p:nvSpPr>
        <p:spPr>
          <a:xfrm>
            <a:off x="742435" y="-403503"/>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فضاها </a:t>
            </a:r>
            <a:endParaRPr lang="en-US" sz="4400" dirty="0">
              <a:solidFill>
                <a:srgbClr val="74714E"/>
              </a:solidFill>
              <a:cs typeface="B Titr" panose="00000700000000000000" pitchFamily="2" charset="-78"/>
            </a:endParaRPr>
          </a:p>
        </p:txBody>
      </p:sp>
      <p:sp>
        <p:nvSpPr>
          <p:cNvPr id="2" name="AutoShape 2" descr="قانون انباری آپارتمان ،همه چیز درباره انباری ساختمان">
            <a:extLst>
              <a:ext uri="{FF2B5EF4-FFF2-40B4-BE49-F238E27FC236}">
                <a16:creationId xmlns:a16="http://schemas.microsoft.com/office/drawing/2014/main" id="{EB8FA542-CCFA-4CB9-9D8B-394BCEFE231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Diamond 14">
            <a:extLst>
              <a:ext uri="{FF2B5EF4-FFF2-40B4-BE49-F238E27FC236}">
                <a16:creationId xmlns:a16="http://schemas.microsoft.com/office/drawing/2014/main" id="{9527911E-02F1-47DB-9B92-6A3059F1C122}"/>
              </a:ext>
            </a:extLst>
          </p:cNvPr>
          <p:cNvSpPr/>
          <p:nvPr/>
        </p:nvSpPr>
        <p:spPr>
          <a:xfrm>
            <a:off x="-471041" y="2618491"/>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B0A6DA97-A287-4840-8226-1F3862D70ADF}"/>
              </a:ext>
            </a:extLst>
          </p:cNvPr>
          <p:cNvPicPr>
            <a:picLocks noChangeAspect="1"/>
          </p:cNvPicPr>
          <p:nvPr/>
        </p:nvPicPr>
        <p:blipFill rotWithShape="1">
          <a:blip r:embed="rId2"/>
          <a:srcRect l="10398" r="10398"/>
          <a:stretch/>
        </p:blipFill>
        <p:spPr>
          <a:xfrm>
            <a:off x="368436" y="1743372"/>
            <a:ext cx="4594493" cy="4594493"/>
          </a:xfrm>
          <a:prstGeom prst="flowChartDecision">
            <a:avLst/>
          </a:prstGeom>
        </p:spPr>
      </p:pic>
    </p:spTree>
    <p:extLst>
      <p:ext uri="{BB962C8B-B14F-4D97-AF65-F5344CB8AC3E}">
        <p14:creationId xmlns:p14="http://schemas.microsoft.com/office/powerpoint/2010/main" val="23833366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87510" y="372347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الزامات عمومی</a:t>
            </a:r>
          </a:p>
          <a:p>
            <a:pPr algn="ctr"/>
            <a:r>
              <a:rPr lang="fa-IR" sz="6600" dirty="0">
                <a:solidFill>
                  <a:srgbClr val="74714E"/>
                </a:solidFill>
                <a:cs typeface="B Titr" panose="00000700000000000000" pitchFamily="2" charset="-78"/>
              </a:rPr>
              <a:t>نوگیری و تهویه فضاها</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ششم: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15041478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ششم: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570148"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003465" y="899939"/>
            <a:ext cx="7029586" cy="4524315"/>
          </a:xfrm>
          <a:prstGeom prst="rect">
            <a:avLst/>
          </a:prstGeom>
          <a:noFill/>
        </p:spPr>
        <p:txBody>
          <a:bodyPr wrap="square">
            <a:spAutoFit/>
          </a:bodyPr>
          <a:lstStyle/>
          <a:p>
            <a:pPr algn="just" rtl="1"/>
            <a:r>
              <a:rPr lang="fa-IR" sz="2400" dirty="0">
                <a:cs typeface="B Nazanin" panose="00000400000000000000" pitchFamily="2" charset="-78"/>
              </a:rPr>
              <a:t>هر فضایی که الزاماً به نور طبیعی نیاز دارد باید حداقل دارای یک یا چند در و پنجره شیشه ای یا سطوح نور گذر مشابه باشد که در انطباق با مقررات این مبحث و سایر ضوابط شهرسازی به طور مستقیم رو به معبر عمومی یا فضای باز قرار گیرد.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فضاهایی که مورد استفاده اشخاص قرار می‌گیرند. باید مطابق با مقررات این مبحث و مندرجات مباحث چهاردهم و نوزدهم مقررات ملی ساختمان به طور طبیعی یا مکانیکی تعویض هوا داشته باشند.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استفاده از تعویض هوای مکانیکی به جای تعویض هوای طبیعی تنها در فضاهایی مجاز است که تعویض هوای آنها لازم بوده اما ملزم به تعویض هوای طبیعی نشده اند.</a:t>
            </a:r>
          </a:p>
        </p:txBody>
      </p:sp>
      <p:sp>
        <p:nvSpPr>
          <p:cNvPr id="3" name="Rectangle 2">
            <a:extLst>
              <a:ext uri="{FF2B5EF4-FFF2-40B4-BE49-F238E27FC236}">
                <a16:creationId xmlns:a16="http://schemas.microsoft.com/office/drawing/2014/main" id="{7E086E71-BC30-41E7-B609-FD1E2CE9B3FB}"/>
              </a:ext>
            </a:extLst>
          </p:cNvPr>
          <p:cNvSpPr/>
          <p:nvPr/>
        </p:nvSpPr>
        <p:spPr>
          <a:xfrm>
            <a:off x="-161645"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نورگیری و تهویه فضاها</a:t>
            </a:r>
            <a:endParaRPr lang="en-US" sz="4400" dirty="0">
              <a:solidFill>
                <a:srgbClr val="74714E"/>
              </a:solidFill>
              <a:cs typeface="B Titr" panose="00000700000000000000" pitchFamily="2" charset="-78"/>
            </a:endParaRPr>
          </a:p>
        </p:txBody>
      </p:sp>
      <p:pic>
        <p:nvPicPr>
          <p:cNvPr id="9218" name="Picture 2" descr="انواع نورگیر سقفی برای مدل نورگیر خانه | کاربرد نورگیر سقفی | انواع نورگیر  سقفی">
            <a:extLst>
              <a:ext uri="{FF2B5EF4-FFF2-40B4-BE49-F238E27FC236}">
                <a16:creationId xmlns:a16="http://schemas.microsoft.com/office/drawing/2014/main" id="{182B9ECD-FF02-46F0-9F8C-2ECB05F3AE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1" y="1318663"/>
            <a:ext cx="5066963" cy="485044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6508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ششم: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084864" y="899939"/>
            <a:ext cx="7016370" cy="5632311"/>
          </a:xfrm>
          <a:prstGeom prst="rect">
            <a:avLst/>
          </a:prstGeom>
          <a:noFill/>
        </p:spPr>
        <p:txBody>
          <a:bodyPr wrap="square">
            <a:spAutoFit/>
          </a:bodyPr>
          <a:lstStyle/>
          <a:p>
            <a:pPr algn="just" rtl="1"/>
            <a:r>
              <a:rPr lang="fa-IR" sz="2400" dirty="0">
                <a:cs typeface="B Nazanin" panose="00000400000000000000" pitchFamily="2" charset="-78"/>
              </a:rPr>
              <a:t>در صورت استفاده از تعویض هوای مکانیکی این سیستم باید از روشهای متعارف مهندسی بهره ببرد. جایی که استفاده از تعویض هوای مکانیکی الزامی شده یا به عنوان جایگزین تعویض هوای طبیعی مطرح شده باید مقدار هوای لازم و الزامات هواکشها کانال ها فیلترها و دیگر جزئیات در انطباق با مندرجات مبحث چهاردهم مقررات ملی ساختمان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سیستم‌های گرمایش یا سرمایش هوای برگشت یک واحد تصرف نباید از طریق چرخه برگشت هوای واحد تصرف دیگر تأمین شود مگر آن که در مقررات اختصاصی تصرف ها به گونه ای دیگر تعیین شده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تعیین سطوح نورگذر و بازشوهای الزامی ،فضاها تعیین میزان دقیق این سطوح با توجه به نوع تصرف و فضای مورد نظر ویژگی‌های مکانی جغرافیایی و اقلیمی و همچنین الزامات ایمنی آنها به روش‌های مندرج در مباحث سوم چهاردهم هجدهم و نوزدهم مقررات ملی ساختمان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161645"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نورگیری و تهویه فضاها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D40F9E7D-2119-4455-BF23-5D481F1CBE82}"/>
              </a:ext>
            </a:extLst>
          </p:cNvPr>
          <p:cNvSpPr/>
          <p:nvPr/>
        </p:nvSpPr>
        <p:spPr>
          <a:xfrm>
            <a:off x="-570148"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نواع نورگیر سقفی برای مدل نورگیر خانه | کاربرد نورگیر سقفی | انواع نورگیر  سقفی">
            <a:extLst>
              <a:ext uri="{FF2B5EF4-FFF2-40B4-BE49-F238E27FC236}">
                <a16:creationId xmlns:a16="http://schemas.microsoft.com/office/drawing/2014/main" id="{BD49BBDD-4AD4-4C46-93C7-C9E6AE68B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1" y="1318663"/>
            <a:ext cx="5066963" cy="485044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586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ششم: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084864" y="899939"/>
            <a:ext cx="7016370" cy="4893647"/>
          </a:xfrm>
          <a:prstGeom prst="rect">
            <a:avLst/>
          </a:prstGeom>
          <a:noFill/>
        </p:spPr>
        <p:txBody>
          <a:bodyPr wrap="square">
            <a:spAutoFit/>
          </a:bodyPr>
          <a:lstStyle/>
          <a:p>
            <a:pPr algn="just" rtl="1"/>
            <a:r>
              <a:rPr lang="fa-IR" sz="2400" dirty="0">
                <a:cs typeface="B Nazanin" panose="00000400000000000000" pitchFamily="2" charset="-78"/>
              </a:rPr>
              <a:t>فضاهایی که برای آنها مقررات خاصی وضع نشده است ولی امکان ایجاد گرد و غبار دود گاز بخار و دیگر شرایط زیان آور و مخاطره آمیز در آنها وجود دارد به منظور حفظ سلامت بهره برداران و ممانعت از ایجاد حریق و خطر انفجار باید به طور مجزا مطابق با مقررات مباحث سوم و چهاردهم مقررات ملی ساختمان ایران تهویه و تعویض هوا شوند.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سطوح نورگذر و بازشوهای الزامی برای فضاهای مختلف  محاسبه می‌شود به منظور استفاده بهتر از جدول حداقل اندازه های الزامی فضاها نیز در آن گنجانده شده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 استفاده از انواع شیشه‌های مات و آجر شیشه ای و پلاستیک با ضریب نورگذر کمتر از شیشه شفاف باید سطحی که نور معادل آن را تأمین کند جایگزین شود.</a:t>
            </a:r>
          </a:p>
        </p:txBody>
      </p:sp>
      <p:sp>
        <p:nvSpPr>
          <p:cNvPr id="3" name="Rectangle 2">
            <a:extLst>
              <a:ext uri="{FF2B5EF4-FFF2-40B4-BE49-F238E27FC236}">
                <a16:creationId xmlns:a16="http://schemas.microsoft.com/office/drawing/2014/main" id="{7E086E71-BC30-41E7-B609-FD1E2CE9B3FB}"/>
              </a:ext>
            </a:extLst>
          </p:cNvPr>
          <p:cNvSpPr/>
          <p:nvPr/>
        </p:nvSpPr>
        <p:spPr>
          <a:xfrm>
            <a:off x="-161645"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الزمات عمومی نورگیری و تهویه فضاها</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39188D97-226F-4E21-A7FA-2CE0DD9CD4AA}"/>
              </a:ext>
            </a:extLst>
          </p:cNvPr>
          <p:cNvSpPr/>
          <p:nvPr/>
        </p:nvSpPr>
        <p:spPr>
          <a:xfrm>
            <a:off x="-570148" y="26982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انواع نورگیر سقفی برای مدل نورگیر خانه | کاربرد نورگیر سقفی | انواع نورگیر  سقفی">
            <a:extLst>
              <a:ext uri="{FF2B5EF4-FFF2-40B4-BE49-F238E27FC236}">
                <a16:creationId xmlns:a16="http://schemas.microsoft.com/office/drawing/2014/main" id="{2C146A4D-804D-420F-B356-34F5076E8E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1" y="1318663"/>
            <a:ext cx="5066963" cy="4850448"/>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2277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87510" y="372347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مقررات اختصاصی</a:t>
            </a:r>
          </a:p>
          <a:p>
            <a:pPr algn="ctr"/>
            <a:r>
              <a:rPr lang="fa-IR" sz="6600" dirty="0">
                <a:solidFill>
                  <a:srgbClr val="74714E"/>
                </a:solidFill>
                <a:cs typeface="B Titr" panose="00000700000000000000" pitchFamily="2" charset="-78"/>
              </a:rPr>
              <a:t>تصرف ها</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هفتم: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3430090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7928849"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 </a:t>
            </a:r>
          </a:p>
          <a:p>
            <a:pPr algn="just" rtl="1"/>
            <a:r>
              <a:rPr lang="fa-IR" sz="2400" dirty="0">
                <a:cs typeface="B Nazanin" panose="00000400000000000000" pitchFamily="2" charset="-78"/>
              </a:rPr>
              <a:t>پس از در اصلی تصرف های مسکونی واقع در ساختمان‌های آپارتمانی باید فضای ورودی مناسب داخلی با رعایت شرایط زیر و سایر ضوابط بیان شده در قسمت راههای دسترس و خروج تامین شود در داخل واحدهای مسکونی تکی یا ویلایی نیز پیش بینی فضای ورودی با همین شرایط توصیه می‌شود.  </a:t>
            </a:r>
          </a:p>
          <a:p>
            <a:pPr algn="just" rtl="1"/>
            <a:r>
              <a:rPr lang="fa-IR" sz="2400" dirty="0">
                <a:cs typeface="B Nazanin" panose="00000400000000000000" pitchFamily="2" charset="-78"/>
              </a:rPr>
              <a:t>الف) عمق آزاد و بدون مانع فضای ورودی حداقل ۱/۴۰ متر و مساحت لازم آن حداقل ۲ متر مربع است.   </a:t>
            </a:r>
          </a:p>
          <a:p>
            <a:pPr algn="just" rtl="1"/>
            <a:r>
              <a:rPr lang="fa-IR" sz="2400" dirty="0">
                <a:cs typeface="B Nazanin" panose="00000400000000000000" pitchFamily="2" charset="-78"/>
              </a:rPr>
              <a:t>ب) دسترسی به اتاق‌ها و سایر فضاها در واحد مسکونی به جز انبار داخلی ،واحد باید پس از عبور از قسمت ورودی یادشده صورت گیرد میتوان دسترسی به فضای بهداشتی را در دیوار مجاور در ورودی اصلی در نظر گرفت. دسترسی فضاهای اصلی تصرف مسکونی به یکدیگر نباید مستلزم عبور   از این فضای ورودی باشد.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73422122-4FE3-4250-8495-FAA19066DA8F}"/>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2D8CC2A2-A0C0-420F-A560-3E61A4BFDC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4715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8040499"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پ) در محل فضای ورودی لازم است قسمتی برای کفش کن و آویختن لباس به نحوی در نظر گرفته شود که اندازه های فضا را به کمتر از حداقل اعلام شده کاهش ندهد.</a:t>
            </a:r>
          </a:p>
          <a:p>
            <a:pPr algn="just" rtl="1"/>
            <a:r>
              <a:rPr lang="fa-IR" sz="2400" dirty="0">
                <a:cs typeface="B Nazanin" panose="00000400000000000000" pitchFamily="2" charset="-78"/>
              </a:rPr>
              <a:t>ت) همجواری ورودی و فضاهای دیگر در داخل تصرف های مسکونی باید به نحوی صورت گیرد که دید بیگانه از در ورودی به فضاهای داخلی تصرف محدود گردیده و اشراف آنان به این فضاها به  حداقل تقلیل یابد. </a:t>
            </a:r>
          </a:p>
          <a:p>
            <a:pPr algn="just" rtl="1"/>
            <a:r>
              <a:rPr lang="fa-IR" sz="2400" dirty="0">
                <a:cs typeface="B Nazanin" panose="00000400000000000000" pitchFamily="2" charset="-78"/>
              </a:rPr>
              <a:t>ت) در قسمت ورودی تصرف مسکونی به ویژه در اقلیم های سرد و گرم و مرطوب بهتر است دو در متوالی پیش بینی شود که در این حالت در دوم از لحاظ اندازه ها باید با در اصلی دسترس و خروج منطبق باشد ولی از لحاظ ساختار مقررات مربوط به درهای اتاق ها ملاک عمل خواهد بود.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0DE342F8-C5CA-417F-B370-CC757078DA80}"/>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1E7C4B50-D30C-4912-A8A0-F517980A7B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5105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8043145" cy="532453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فاصله دو در متوالی چنانچه هردو در یک جهت بگردند ۲ متر و در صورتی که به سمت یکدیگر بگردند ۲/۸۰ متر است در صورتی که قابل دسترس بودن تصرف مسکونی برای افراد معلول الزامی نباشد این اندازه ها را میتوان به ترتیب تا ۱/۶۰ و ۲/۲۰ متر کاهش داد.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قرارگیری و جانمایی سایر فضاهای اصلی تصرف ،مسکونی رعایت شرایط زیر الزامیست </a:t>
            </a:r>
          </a:p>
          <a:p>
            <a:pPr algn="just" rtl="1"/>
            <a:r>
              <a:rPr lang="fa-IR" sz="2400" dirty="0">
                <a:cs typeface="B Nazanin" panose="00000400000000000000" pitchFamily="2" charset="-78"/>
              </a:rPr>
              <a:t>الف) دسترسی به اتاق‌های مستقل اقامت در تصرف مسکونی نباید مستقیماً از یک اتاق دیگر یا نشیمن عمومی و یا سالن ،باشد مگر در موارد زیر: </a:t>
            </a:r>
          </a:p>
          <a:p>
            <a:pPr algn="just" rtl="1"/>
            <a:r>
              <a:rPr lang="fa-IR" sz="2400" dirty="0">
                <a:cs typeface="B Nazanin" panose="00000400000000000000" pitchFamily="2" charset="-78"/>
              </a:rPr>
              <a:t>۱) در صورت وجود یک پیش ورودی یا فضای تقسیم مناسب که داخل فضای نشیمن عمومی یا سالن نباشد.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A8B223A7-9690-4348-BD82-2B7A98023AA1}"/>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8E69BE08-6728-4595-8016-939EB3CE4B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506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7928849"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۲) در تصرف مسکونی دارای مساحت کمتر از ۷۵ متر مربع با یک اتاق اقامت</a:t>
            </a:r>
          </a:p>
          <a:p>
            <a:pPr algn="just" rtl="1"/>
            <a:r>
              <a:rPr lang="fa-IR" sz="2400" dirty="0">
                <a:cs typeface="B Nazanin" panose="00000400000000000000" pitchFamily="2" charset="-78"/>
              </a:rPr>
              <a:t>3) بدر تصرف مسکونی دارای مساحت ۷۵ متر مربع و بیشتر و یا دارای بیش از یک فضای اقامت در صورتی که مطابق مقررات باشد و به عنوان اتاق الحاق شده در نظر گرفته شود که در این حالت یک فضای مستقل محسوب نمی‌شود.  </a:t>
            </a:r>
          </a:p>
          <a:p>
            <a:pPr algn="just" rtl="1"/>
            <a:r>
              <a:rPr lang="fa-IR" sz="2400" dirty="0">
                <a:cs typeface="B Nazanin" panose="00000400000000000000" pitchFamily="2" charset="-78"/>
              </a:rPr>
              <a:t>در هر حالت نباید در صورت باز بودن در فضای اقامت دید مستقیم از فضای نشیمن عمومی یا سالن به قسمت خواب اتاق اقامت وجود داشته باشد.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518509AA-9AF2-444E-BEF0-1625DE7659F6}"/>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A5A723CC-210F-4AFE-8846-ECDB4C8589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11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7928849" cy="495520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 دسترسی به تنها فضای بهداشتی تصرف مسکونی نباید مستقیماً از یکی از فضاهای اقامت باشد. در ساختمان‌های دارای یک فضای اقامت یا دارای مساحت کمتر از ۷۵ متر مربع با حداکثر دو اتاق میتوان دسترسی به تنها حمام تصرف مسکونی را از یکی از اتاق ها قرار داد.</a:t>
            </a:r>
          </a:p>
          <a:p>
            <a:pPr algn="just" rtl="1"/>
            <a:r>
              <a:rPr lang="fa-IR" sz="2400" dirty="0">
                <a:cs typeface="B Nazanin" panose="00000400000000000000" pitchFamily="2" charset="-78"/>
              </a:rPr>
              <a:t>پ) در صورتی که از فضای نشیمن عمومی یا ،سالن دید به داخل فضای بهداشتی وجود داشته باشد، استفاده از فضای بهداشتی توام مجاز نیست و باید فضایی به عنوان پیش ورودی در آن تعبیه شود که با در از سایر قسمت‌های آن جدا شود نصب کاسه روشویی در فضای پیش ورودی مجاز است مشروط بر آنکه در حرکت و دسترسی به سایر قسمت‌های فضای بهداشتی اختلال ایجاد ننماید.  </a:t>
            </a:r>
          </a:p>
          <a:p>
            <a:pPr algn="just" rtl="1"/>
            <a:r>
              <a:rPr lang="fa-IR" sz="2400" dirty="0">
                <a:cs typeface="B Nazanin" panose="00000400000000000000" pitchFamily="2" charset="-78"/>
              </a:rPr>
              <a:t>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035A255B-82D2-46D7-91BF-1164FD4C1D43}"/>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01F44DFF-EEC5-444D-843E-8940E98A97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22221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2" y="899939"/>
            <a:ext cx="7911092"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 کاربرد آشپزخانه دیواری در تصرف های مسکونی دارای مساحت ۷۵ متر مربع و بیشتر، به صورتی که مستقیما به فضای نشیمن عمومی یا سالن باز باشند مجاز نیست.  </a:t>
            </a:r>
          </a:p>
          <a:p>
            <a:pPr algn="just" rtl="1"/>
            <a:r>
              <a:rPr lang="fa-IR" sz="2400" dirty="0">
                <a:cs typeface="B Nazanin" panose="00000400000000000000" pitchFamily="2" charset="-78"/>
              </a:rPr>
              <a:t>ث) طراحی و قرارگیری آشپزخانه‌های باز یا دیواری در تصرف های مسکونی دارای مساحت ۷۵ متر مربع و بیشتر نباید به نحوی باشد که دید مستقیم از فضای نشیمن عمومی یا سالن به قسمت های  اصلی پخت و پز و کار آشپزخانه وجود داشته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D53BEE11-BDCE-4316-8E5E-9939AF05B4D0}"/>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DED667C9-3330-4DBD-8E2D-EEC4DD75BA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59172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7928849"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گروه ۱ تا ۳ با تصرف مسکونی حداقل عرض مفید پله مستقیم ٠٩٠ متر و حداقل عرض پله ای که دارای گردش یا پاگرد باشد ۱/۱۰ متر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مسکونی گروه ۴ تا ۷ حداقل عرض مفید پله مستقیم ۱/۱۰ متر و حداقل عرض قفسه پلکانی که دارای پاگرد باشد ۲/۴۰ متر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مسکونی گروه ، اندازه های راه پله و قفسه آن بر اساس جمعیت متصرف و الزامات راه های خروج در مبحث سوم مقررات ملی ساختمان تعیین می‌شود.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B3AA675F-1D4F-499B-9FEB-7F9608CF493D}"/>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62BDF128-64CF-4C4A-8C1E-76E61FCA2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719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2" y="899939"/>
            <a:ext cx="8040499" cy="4585871"/>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پهنای الزامی راهروهای مستقیم و پله های داخلی تصرف های مسکونی ۰/۹۰ متر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پله های داخلی تصرف های مسکونی که قابل دسترس بودن آنها برای افراد معلول مطابق ضوابط مربوط الزامی نباشد یا سطوح دارای اختلاف سطح ۰۷۰ متر و کمتر نیازی یه نصب میله دستگرد نیست در سایر موارد لازم است که حداقل در یک طرف آنها میله دستگرد نصب شود در این حالت میله دستگرد تنها باید از بالاترین ارتفاع پله به پایین ترین ارتفاع پله امتداد داشته باشد و نیازی به برگشتن انتهای میله دستگرد یا امتداد بیشتر از طول پله یا شیب راه ندارد.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800C43B3-857E-43DD-8EB6-8FFAD3A58C0B}"/>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43FBDD1C-EED7-4E86-9768-60B3EFA67D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1790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7928849"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حداقل یکی از فضاهای اقامت در هر تصرف مسکونی با زیربنای ۷۵ متر مربع و ،بیشتر باید دارای مساحت حداقل ۱۲/۰۰ متر مربع با پهنای حداقل ۲/۷۰ متر باشد. در واحدهای مسکونی با زیربنای کمتر از ۷۵ متر مربع مساحت این اتاق نباید از ۹ متر مربع و هیچ یک از اندازههای افقی آن از ۲/۵۰ متر کمتر باشد. </a:t>
            </a:r>
          </a:p>
          <a:p>
            <a:pPr algn="just" rtl="1"/>
            <a:r>
              <a:rPr lang="fa-IR" sz="2400" dirty="0">
                <a:cs typeface="B Nazanin" panose="00000400000000000000" pitchFamily="2" charset="-78"/>
              </a:rPr>
              <a:t>اندازه سایر فضاها و اتاق‌های اقامتی در تصرف های مسکونی بر اساس نحوه استفاده آنها مشخص شده و حداقل عرض ۲/۴۰ متر است.</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85227C67-D15B-4FD6-9273-EB97DF5CD92E}"/>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CD9A0FBD-FC36-46CE-A829-DE1A8D99C2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1348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2" y="899939"/>
            <a:ext cx="7973238"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تصرف های ،مسکونی ارتفاع هر فضای اقامت با زیر بنای ۱۲۰۰ متر مربع و بیشتر باید در بیشتر از ۵۰ در صد سطح آن و ارتفاع نشیمن یا سالن در بیشتر از ۷۵ درصد سطح آن حداقل ۲/۶۰ متر باشد در باقی سطح این فضاها و در تمام سطح سایر فضاهای اقامت باید </a:t>
            </a:r>
          </a:p>
          <a:p>
            <a:pPr algn="just" rtl="1"/>
            <a:r>
              <a:rPr lang="fa-IR" sz="2400" dirty="0">
                <a:cs typeface="B Nazanin" panose="00000400000000000000" pitchFamily="2" charset="-78"/>
              </a:rPr>
              <a:t>ارتفاع حداقل ۲/۴۰ متر تامین شود.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39348A87-65E3-48A9-8FA7-91A7C2CA54CF}"/>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5446EBBA-EBAD-4A59-BBAE-1495AE2085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38065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8040499"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تصرف های مسکونی که فضای آشپزخانه مستقل یا باز آنها تنها برای پخت و پز استفاده می‌شود باید حداقل ۵/۵۰ متر مربع مساحت داشته باشد حداقل سطح زیربنای آزاد آن خارج از سطح پیش بینی شده برای قفسه بندی باید ۲/۷۵ متر مربع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تصرف های مسکونی که فضای آشپزخانه مستقل یا باز آنها برای پخت و پز و صرف غذا استفاده می‌شود باید دارای زیربنای حداقل ۷/۵۰ متر مربع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A3B6419C-91FF-4275-8815-C804135D0AB1}"/>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BF659A6D-203F-4467-AEEC-5476E254D3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97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7928849"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تصرف های مسکونی فضای آشپزخانه مستقل یا باز باید حداقل ۱/۸۰ متر عرض داشته باشد این اندازه برای  آشپزخانه‌های که برای پخت و پز و صرف غذا استفاده می شوند حداقل باید  </a:t>
            </a:r>
          </a:p>
          <a:p>
            <a:pPr algn="just" rtl="1"/>
            <a:r>
              <a:rPr lang="fa-IR" sz="2400" dirty="0">
                <a:cs typeface="B Nazanin" panose="00000400000000000000" pitchFamily="2" charset="-78"/>
              </a:rPr>
              <a:t>۲/۱۵ متر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سرتاسر طول آشپزخانه دیواری تصرف های مسکونی باید فضای کاری آزاد و عاری از اشیاء و لوازم ثابت به عرض حداقل ۱/۱۰ متر از لبه کابینتها در نظر گرفته شود. حداقل طول آشپزخانه دیواری در تصرفهای مسکونی ۳۰۰ متر است.</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DBA8A012-8EE6-4782-80A4-E73F6B23BEFE}"/>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8BB00223-F267-421F-9C79-090C629C0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9143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8040499"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آشپزخانه‌های مستقل در واحدهای مسکونی باید دارای نور و تهویه طبیعی مستقل باشند در واحدهای مسکونی دارای زیربنای ۷۵ متر مربع یا بیشتر و یا در تمام مواردی که فاصله دورترین نقطه آشپزخانه باز از پنجره فضای مجاور در داخل تصرف بیشتر از ۷ متر است تعبیه نور طبیعی مستقل برای این نوع آشپزخانه نیز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آشپزخانه‌های که به فضاهای اقامت خدمت رسانی میکنند، حداقل سطح بازشو تهویه باید یک شانزدهم سطح کف آشپزخانه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17BF2869-1E67-48FD-B04C-36E01EC34136}"/>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23C2DB59-CFC5-4EAF-B84B-22FFA122A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437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2" y="899939"/>
            <a:ext cx="7936426"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سیستم تخلیه هوای آشپزخانه در تصرف های مسکونی ساختمان‌های گروه های ۷۶ و ۸ باید با کنترل مرکزی یا کلید برق روشنایی آشپزخانه و یا کلید مستقل شروع به کار کند و در آشپزخانههای فاقد تهویه طبیعی به سیستم برق اضطراری متصل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به منظور استفاده کم توانان جسمی و حرکتی در هر تصرف مسکونی با زیربنای ۷۵ متر مربع و بیشتر باید فضای کافی و تأسیسات آب و فاضلاب لازم برای نصب حداقل یک کاسه مستراح فرنگی پیش بینی شود.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FF1FF14D-58BD-455E-9B3A-B5F22CD66083}"/>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77B2B293-84C7-4914-89D9-F07CF83BA7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3507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3778"/>
            <a:ext cx="8040499"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هر فضای بهداشتی مستقل در تصرف های مسکونی که قابل دسترس بودن آنها برای افراد معلول الزامی نباشد باید دارای حداقل ۱۰۰ متر عرض و ۱/۲۰ متر طول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صورتی که محدوده ای به عنوان پیش ورودی در داخل فضای دوش مستقل پیش بینی شود یکی از ابعاد این فضای بهداشتی باید حداقل ۱/۵۰ متر باشد. در فضاهای بهداشتی توام بدون وجود "در" میان آنها مقدار ۰/۱۵ متر از حداقل طول هر فضای بهداشتی مستقل کاسته می‌شود. </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2A27B7EE-FF52-4755-8638-9AD501A9AA6F}"/>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278BC26F-4E3E-4024-BD21-1DA781BE41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352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1" y="899939"/>
            <a:ext cx="8040499"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ارتفاع حداقل فضاهای بهداشتی در تصرفهای اقامتی در ۸۰ درصد از سطح الزامی باید حداقل ۲/۲۰ متر باشد و اگر سقف شیبدار ،بود ارتفاع کوتاهترین قسمت آن نباید از ۲/۰۵ متر  کمتر باشد.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مسکونی در صورتی که سطوح ساخته نشده زمین فضای باز برای مصارف ضروری دیگری چون شیب راه و توقفگاه و راه ها و جایگاه امدادرسانی  باید به صورت فضای باز عمومی متشکل از کاربردهایی همچون فضای سبز، آبنما و محل بازی کودکان استفاده شود.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4CD5BCEF-CFBC-4EB9-96B0-CBE6B4453FE3}"/>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5B4F20E6-BFFA-472E-835A-39910EAA5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707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2" y="899939"/>
            <a:ext cx="7936426"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مسکونی گروه‌های ۶، ۷ و ۸ یا حیاط آنها باید حداقل یک محل برای بازی کودکان و استقرار وسایل بازی در مشاعات منطبق با الزامات مد نظر </a:t>
            </a:r>
          </a:p>
          <a:p>
            <a:pPr algn="just" rtl="1"/>
            <a:r>
              <a:rPr lang="fa-IR" sz="2400" dirty="0">
                <a:cs typeface="B Nazanin" panose="00000400000000000000" pitchFamily="2" charset="-78"/>
              </a:rPr>
              <a:t>گرفته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آپارتمان‌ها و واحدهای تصرف مسکونی در صورت عدم مجاورت و دسترسی مستقیم واحد به فضای باز تعبیه حداقل یک فضای نیمه باز اختصاصی منطبق با مقررات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60B4242C-ACE3-43C5-8A45-8B66891A5A18}"/>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کدکاو : 2-3 تقسیم بندی تصرف های ساختمانی">
            <a:extLst>
              <a:ext uri="{FF2B5EF4-FFF2-40B4-BE49-F238E27FC236}">
                <a16:creationId xmlns:a16="http://schemas.microsoft.com/office/drawing/2014/main" id="{468F823F-A1C1-41D2-86C3-49F628757B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1530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2" y="893778"/>
            <a:ext cx="8040499" cy="4216539"/>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مسکونی گروه ، احداث حیاط‌های محصور به صورت گودال باغچه برای تأمین نور و تهویه فضاهای سکونت مشروط بر انطباق با مقررات تعیین شده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زمینه‌ های بزرگتر از ۲۰۰ متر مربع اگر فضاهای اقامت اصلی از دو تصرف مسکونی مستقل از یک حیاط داخلی نور و هوا بگیرند فاصله‌‌ی دیوارهای پنجره‌های مقابل آن هااز هم نباید کمتر از ۶ متر باشد.</a:t>
            </a:r>
          </a:p>
          <a:p>
            <a:pPr algn="just" rtl="1"/>
            <a:endParaRPr lang="fa-IR" sz="2400" dirty="0">
              <a:cs typeface="B Nazanin" panose="00000400000000000000" pitchFamily="2" charset="-78"/>
            </a:endParaRP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A5938106-3749-4F6E-BA39-DB61A0D23118}"/>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2" descr="کدکاو : 2-3 تقسیم بندی تصرف های ساختمانی">
            <a:extLst>
              <a:ext uri="{FF2B5EF4-FFF2-40B4-BE49-F238E27FC236}">
                <a16:creationId xmlns:a16="http://schemas.microsoft.com/office/drawing/2014/main" id="{85DA9986-8C54-4519-9293-D7903DBA58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9785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هفتم: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93937" y="2664002"/>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992553" y="899939"/>
            <a:ext cx="8040498"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تصرف های مسکونی: </a:t>
            </a:r>
          </a:p>
          <a:p>
            <a:pPr algn="just" rtl="1"/>
            <a:r>
              <a:rPr lang="fa-IR" sz="2400" dirty="0">
                <a:cs typeface="B Nazanin" panose="00000400000000000000" pitchFamily="2" charset="-78"/>
              </a:rPr>
              <a:t>ساختمان‌های مسکونی در گروه (م-۲):</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مواردی که فضاهای آشپزخانه و اقامت از دو تصرف مسکونی مستقل و یا آشپزخانه های آن‌ها از یک حیاط داخلی نور و هوا می‌گیرند فاصله دیوارهای پنجره های مقابل آن‌ها از هم نباید کمتر از ۴ متر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سایر الزامات عمومی تعیین شده برای فضاها اجزاء و عناصر ساختمان‌ها باید در طراحی و ساخت ساختمان‌های مسکونی نیز رعایت شود.</a:t>
            </a:r>
          </a:p>
        </p:txBody>
      </p:sp>
      <p:sp>
        <p:nvSpPr>
          <p:cNvPr id="3" name="Rectangle 2">
            <a:extLst>
              <a:ext uri="{FF2B5EF4-FFF2-40B4-BE49-F238E27FC236}">
                <a16:creationId xmlns:a16="http://schemas.microsoft.com/office/drawing/2014/main" id="{7E086E71-BC30-41E7-B609-FD1E2CE9B3FB}"/>
              </a:ext>
            </a:extLst>
          </p:cNvPr>
          <p:cNvSpPr/>
          <p:nvPr/>
        </p:nvSpPr>
        <p:spPr>
          <a:xfrm>
            <a:off x="499198" y="-40185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اختصاصی تصرف ها </a:t>
            </a:r>
            <a:endParaRPr lang="en-US" sz="4400" dirty="0">
              <a:solidFill>
                <a:srgbClr val="74714E"/>
              </a:solidFill>
              <a:cs typeface="B Titr" panose="00000700000000000000" pitchFamily="2" charset="-78"/>
            </a:endParaRPr>
          </a:p>
        </p:txBody>
      </p:sp>
      <p:pic>
        <p:nvPicPr>
          <p:cNvPr id="6146" name="Picture 2" descr="کدکاو : 2-3 تقسیم بندی تصرف های ساختمانی">
            <a:extLst>
              <a:ext uri="{FF2B5EF4-FFF2-40B4-BE49-F238E27FC236}">
                <a16:creationId xmlns:a16="http://schemas.microsoft.com/office/drawing/2014/main" id="{7B549D74-5593-4EF8-8347-0E70EEDB29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0" y="3158198"/>
            <a:ext cx="4238772" cy="4238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50663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87510" y="372347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مقررات خاص</a:t>
            </a:r>
          </a:p>
          <a:p>
            <a:pPr algn="ctr"/>
            <a:r>
              <a:rPr lang="fa-IR" sz="6600" dirty="0">
                <a:solidFill>
                  <a:srgbClr val="74714E"/>
                </a:solidFill>
                <a:cs typeface="B Titr" panose="00000700000000000000" pitchFamily="2" charset="-78"/>
              </a:rPr>
              <a:t>ساختمان های بلند</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هشتم: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30153302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827657" y="3195375"/>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هشتم: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67922" y="2780037"/>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1854862" y="899939"/>
            <a:ext cx="9941568" cy="3785652"/>
          </a:xfrm>
          <a:prstGeom prst="rect">
            <a:avLst/>
          </a:prstGeom>
          <a:noFill/>
        </p:spPr>
        <p:txBody>
          <a:bodyPr wrap="square">
            <a:spAutoFit/>
          </a:bodyPr>
          <a:lstStyle/>
          <a:p>
            <a:pPr algn="just" rtl="1"/>
            <a:r>
              <a:rPr lang="fa-IR" sz="2400" dirty="0">
                <a:cs typeface="B Nazanin" panose="00000400000000000000" pitchFamily="2" charset="-78"/>
              </a:rPr>
              <a:t>در ساختمان‌های بلند گروه ۸ محفظه پله  ای که در راه خروج واقع شود، باید بطور مکانیکی تهویه و فشار مثبت داشته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ساختمان‌های بلند حداکثر برای شش طبقه آخر میتوان از پاسیوهای داخلی برای نورگیری و تهویه فضاهای اقامت اشتغال و آشپزخانه ها استفاده کرد در صورت استفاده از حیاط خلوت که یک ضلع آن به فضای آزاد باز است محدودیتی برای نورگیری همه طبقات وجود ندارد. اگر حیاط خلوت رو به معابر یا فضاهای عمومی شهری باز باشد رعایت مقررات مربوط به نما و حجم ساختمان  الزامیست.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ساختمان‌های بلند باید به تجهیزات ،کشف اعلام و اطفای حریق و همچنین امداد و نجات منطبق با ضوابط خاص اعلام شده در مبحث سوم مقررات ملی ساختمان مجهز باشند.</a:t>
            </a:r>
          </a:p>
        </p:txBody>
      </p:sp>
      <p:sp>
        <p:nvSpPr>
          <p:cNvPr id="3" name="Rectangle 2">
            <a:extLst>
              <a:ext uri="{FF2B5EF4-FFF2-40B4-BE49-F238E27FC236}">
                <a16:creationId xmlns:a16="http://schemas.microsoft.com/office/drawing/2014/main" id="{7E086E71-BC30-41E7-B609-FD1E2CE9B3FB}"/>
              </a:ext>
            </a:extLst>
          </p:cNvPr>
          <p:cNvSpPr/>
          <p:nvPr/>
        </p:nvSpPr>
        <p:spPr>
          <a:xfrm>
            <a:off x="121945" y="-38054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خاص ساختمان های بلند</a:t>
            </a:r>
            <a:endParaRPr lang="en-US" sz="4400" dirty="0">
              <a:solidFill>
                <a:srgbClr val="74714E"/>
              </a:solidFill>
              <a:cs typeface="B Titr" panose="00000700000000000000" pitchFamily="2" charset="-78"/>
            </a:endParaRPr>
          </a:p>
        </p:txBody>
      </p:sp>
      <p:pic>
        <p:nvPicPr>
          <p:cNvPr id="15" name="Picture 2" descr="عکس وکتور ساختمان - عکس نودی">
            <a:extLst>
              <a:ext uri="{FF2B5EF4-FFF2-40B4-BE49-F238E27FC236}">
                <a16:creationId xmlns:a16="http://schemas.microsoft.com/office/drawing/2014/main" id="{AB827D88-1EE0-467F-9EDA-854C4F4BA5E8}"/>
              </a:ext>
            </a:extLst>
          </p:cNvPr>
          <p:cNvPicPr>
            <a:picLocks noChangeAspect="1" noChangeArrowheads="1"/>
          </p:cNvPicPr>
          <p:nvPr/>
        </p:nvPicPr>
        <p:blipFill rotWithShape="1">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t="28523" b="35524"/>
          <a:stretch/>
        </p:blipFill>
        <p:spPr bwMode="auto">
          <a:xfrm>
            <a:off x="0" y="4211782"/>
            <a:ext cx="7858742" cy="264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13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هشتم: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Diamond 11">
            <a:extLst>
              <a:ext uri="{FF2B5EF4-FFF2-40B4-BE49-F238E27FC236}">
                <a16:creationId xmlns:a16="http://schemas.microsoft.com/office/drawing/2014/main" id="{F426C130-47DE-4D24-B549-AF3E69860E4C}"/>
              </a:ext>
            </a:extLst>
          </p:cNvPr>
          <p:cNvSpPr/>
          <p:nvPr/>
        </p:nvSpPr>
        <p:spPr>
          <a:xfrm>
            <a:off x="-2017698" y="-125559"/>
            <a:ext cx="5916346" cy="5885881"/>
          </a:xfrm>
          <a:prstGeom prst="diamond">
            <a:avLst/>
          </a:prstGeom>
          <a:blipFill dpi="0"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57835" y="912073"/>
            <a:ext cx="8384460" cy="2677656"/>
          </a:xfrm>
          <a:prstGeom prst="rect">
            <a:avLst/>
          </a:prstGeom>
          <a:noFill/>
        </p:spPr>
        <p:txBody>
          <a:bodyPr wrap="square">
            <a:spAutoFit/>
          </a:bodyPr>
          <a:lstStyle/>
          <a:p>
            <a:pPr algn="just" rtl="1"/>
            <a:r>
              <a:rPr lang="fa-IR" sz="2400" dirty="0">
                <a:cs typeface="B Nazanin" panose="00000400000000000000" pitchFamily="2" charset="-78"/>
              </a:rPr>
              <a:t>در تمام ساختمان‌های بلند باید اتاقی برای استقرار مدیریت ساختمان پیش بینی شود. در این اتاق باید تمام مدارک ساختمان از جمله نقشه‌های اجرا شده ساختمان و تاسیسات و همچنین کلیدهای مربوط به قفل درهای اصلی ،ساختمان موتورخانه بام و اتاقک یا جعبه کنتورها به نحو مناسب نگهداری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ساختمان‌های بلند باید به سیستم برق اضطراری که سیستم کشف و اعلام حریق و همچنین روشنایی فضاهای عمومی ارتباط و خروج و غیره را تامین میکند مجهز باشند.</a:t>
            </a:r>
          </a:p>
        </p:txBody>
      </p:sp>
      <p:sp>
        <p:nvSpPr>
          <p:cNvPr id="3" name="Rectangle 2">
            <a:extLst>
              <a:ext uri="{FF2B5EF4-FFF2-40B4-BE49-F238E27FC236}">
                <a16:creationId xmlns:a16="http://schemas.microsoft.com/office/drawing/2014/main" id="{7E086E71-BC30-41E7-B609-FD1E2CE9B3FB}"/>
              </a:ext>
            </a:extLst>
          </p:cNvPr>
          <p:cNvSpPr/>
          <p:nvPr/>
        </p:nvSpPr>
        <p:spPr>
          <a:xfrm>
            <a:off x="121945" y="-38054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خاص ساختمان های بلند</a:t>
            </a:r>
            <a:endParaRPr lang="en-US" sz="4400" dirty="0">
              <a:solidFill>
                <a:srgbClr val="74714E"/>
              </a:solidFill>
              <a:cs typeface="B Titr" panose="00000700000000000000" pitchFamily="2" charset="-78"/>
            </a:endParaRPr>
          </a:p>
        </p:txBody>
      </p:sp>
      <p:pic>
        <p:nvPicPr>
          <p:cNvPr id="15" name="Picture 2" descr="عکس وکتور ساختمان - عکس نودی">
            <a:extLst>
              <a:ext uri="{FF2B5EF4-FFF2-40B4-BE49-F238E27FC236}">
                <a16:creationId xmlns:a16="http://schemas.microsoft.com/office/drawing/2014/main" id="{053CF2B2-03B8-4441-9E18-CF6B26C10B5F}"/>
              </a:ext>
            </a:extLst>
          </p:cNvPr>
          <p:cNvPicPr>
            <a:picLocks noChangeAspect="1" noChangeArrowheads="1"/>
          </p:cNvPicPr>
          <p:nvPr/>
        </p:nvPicPr>
        <p:blipFill rotWithShape="1">
          <a:blip r:embed="rId4">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t="28523" b="35524"/>
          <a:stretch/>
        </p:blipFill>
        <p:spPr bwMode="auto">
          <a:xfrm>
            <a:off x="0" y="4211782"/>
            <a:ext cx="7858742" cy="264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131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4688358" y="-401859"/>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هشتم: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57835" y="899939"/>
            <a:ext cx="8384460" cy="1938992"/>
          </a:xfrm>
          <a:prstGeom prst="rect">
            <a:avLst/>
          </a:prstGeom>
          <a:noFill/>
        </p:spPr>
        <p:txBody>
          <a:bodyPr wrap="square">
            <a:spAutoFit/>
          </a:bodyPr>
          <a:lstStyle/>
          <a:p>
            <a:pPr algn="just" rtl="1"/>
            <a:r>
              <a:rPr lang="fa-IR" sz="2400" dirty="0">
                <a:cs typeface="B Nazanin" panose="00000400000000000000" pitchFamily="2" charset="-78"/>
              </a:rPr>
              <a:t>محدودیت عمق گود برداری و احداث طبقات در زیرزمین باید در انطباق با مبحث هفتم مقررات ملی ساختمان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سایر الزامات تعیین شده برای فضاها اجزاء و عناصر ساختمان‌ها باید در طراحی و ساخت ساختمان‌های بلند نیز رعایت شود.</a:t>
            </a:r>
          </a:p>
        </p:txBody>
      </p:sp>
      <p:sp>
        <p:nvSpPr>
          <p:cNvPr id="3" name="Rectangle 2">
            <a:extLst>
              <a:ext uri="{FF2B5EF4-FFF2-40B4-BE49-F238E27FC236}">
                <a16:creationId xmlns:a16="http://schemas.microsoft.com/office/drawing/2014/main" id="{7E086E71-BC30-41E7-B609-FD1E2CE9B3FB}"/>
              </a:ext>
            </a:extLst>
          </p:cNvPr>
          <p:cNvSpPr/>
          <p:nvPr/>
        </p:nvSpPr>
        <p:spPr>
          <a:xfrm>
            <a:off x="121945" y="-380542"/>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مقررات خاص ساختمان های بلند</a:t>
            </a:r>
            <a:endParaRPr lang="en-US" sz="4400" dirty="0">
              <a:solidFill>
                <a:srgbClr val="74714E"/>
              </a:solidFill>
              <a:cs typeface="B Titr" panose="00000700000000000000" pitchFamily="2" charset="-78"/>
            </a:endParaRPr>
          </a:p>
        </p:txBody>
      </p:sp>
      <p:pic>
        <p:nvPicPr>
          <p:cNvPr id="11" name="Picture 2" descr="عکس وکتور ساختمان - عکس نودی">
            <a:extLst>
              <a:ext uri="{FF2B5EF4-FFF2-40B4-BE49-F238E27FC236}">
                <a16:creationId xmlns:a16="http://schemas.microsoft.com/office/drawing/2014/main" id="{4EBCEC8F-ECF7-402A-8FFC-26BEACCE2728}"/>
              </a:ext>
            </a:extLst>
          </p:cNvPr>
          <p:cNvPicPr>
            <a:picLocks noChangeAspect="1" noChangeArrowheads="1"/>
          </p:cNvPicPr>
          <p:nvPr/>
        </p:nvPicPr>
        <p:blipFill rotWithShape="1">
          <a:blip r:embed="rId2">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t="28523" b="35524"/>
          <a:stretch/>
        </p:blipFill>
        <p:spPr bwMode="auto">
          <a:xfrm>
            <a:off x="0" y="4211782"/>
            <a:ext cx="7858742" cy="2646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86232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484023" y="421328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الزامات عمومی عناصر و جزئیات مهم ساختمان</a:t>
            </a:r>
            <a:endParaRPr lang="en-US" sz="8000" dirty="0">
              <a:solidFill>
                <a:srgbClr val="74714E"/>
              </a:solidFill>
              <a:cs typeface="B Titr" panose="00000700000000000000" pitchFamily="2" charset="-78"/>
            </a:endParaRPr>
          </a:p>
        </p:txBody>
      </p:sp>
      <p:sp>
        <p:nvSpPr>
          <p:cNvPr id="27" name="Rectangle 26">
            <a:extLst>
              <a:ext uri="{FF2B5EF4-FFF2-40B4-BE49-F238E27FC236}">
                <a16:creationId xmlns:a16="http://schemas.microsoft.com/office/drawing/2014/main" id="{E90C8EDD-93F9-46EA-8C43-3EA4431D229A}"/>
              </a:ext>
            </a:extLst>
          </p:cNvPr>
          <p:cNvSpPr/>
          <p:nvPr/>
        </p:nvSpPr>
        <p:spPr>
          <a:xfrm>
            <a:off x="1371599" y="145988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4400" dirty="0">
                <a:solidFill>
                  <a:srgbClr val="74714E"/>
                </a:solidFill>
                <a:cs typeface="B Titr" panose="00000700000000000000" pitchFamily="2" charset="-78"/>
              </a:rPr>
              <a:t>فصل نهم:</a:t>
            </a:r>
            <a:endParaRPr lang="en-US" sz="5400" dirty="0">
              <a:solidFill>
                <a:srgbClr val="74714E"/>
              </a:solidFill>
              <a:cs typeface="B Titr" panose="00000700000000000000" pitchFamily="2" charset="-78"/>
            </a:endParaRPr>
          </a:p>
        </p:txBody>
      </p:sp>
    </p:spTree>
    <p:extLst>
      <p:ext uri="{BB962C8B-B14F-4D97-AF65-F5344CB8AC3E}">
        <p14:creationId xmlns:p14="http://schemas.microsoft.com/office/powerpoint/2010/main" val="3612248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753579" y="899939"/>
            <a:ext cx="6167821" cy="538609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دیوارها: </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تمام دیوارهای خارجی واحدهای تصرف و همچنین دیوارهای مشترک واحدها با یکدیگر و با فضاهای عمومی ساختمان جهت مقاومت در برابر حریق باید در انطباق با مبحث سوم مقررات ملی ساختمان بوده و دارای مقاومت کافی در برابر ضربه باشد. مقادیر صدابندی آنها نیز باید مطابق با مبحث هجدهم مقررات ملی ساختمان باشد در دیوارهای آجری و بلوک سفالی خارجی و مشترک غیر مسلح باید ضخامت حداقل سفتکاری در این دیوارها به میزان ۰/۲۰ متر رعایت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جداره های خارجی تمام ساختمان‌ها و جداره های مشترک واحدهای تصرف با فضاهای کنترل نشده باید مطابق مبحث نوزدهم مقررات ملی ساختمان عایق بندی حرارتی شده باشند.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2" descr="تیغه چینی و دیوار چینی | وظایف دیوار | نکات اجرایی دیوارها | با ما تا بام">
            <a:extLst>
              <a:ext uri="{FF2B5EF4-FFF2-40B4-BE49-F238E27FC236}">
                <a16:creationId xmlns:a16="http://schemas.microsoft.com/office/drawing/2014/main" id="{25318D3A-2A76-4E34-8A6A-D6E79878E7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549" b="-208"/>
          <a:stretch/>
        </p:blipFill>
        <p:spPr bwMode="auto">
          <a:xfrm>
            <a:off x="-651083" y="899939"/>
            <a:ext cx="6054714" cy="6041880"/>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4509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915258" y="899939"/>
            <a:ext cx="6054714" cy="390876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دیوارها: </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در تمام دیوارهای ساختمان به ویژه در دیوارهای نما جهت مقاومت در برابر زمین لرزه ضوابط مبحث ششم مقررات ملی ساختمان و آئین نامه طراحی ساختمان در برابر زلزله (استاندارد ۲۸۰۰) باید رعایت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دیوارهایی که به علت قرارگیری عایق‌های  چندلایه می‌شوند ، اتصال بین لایه ها و یکپارچگی دیوار باید تأمین گردد.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3074" name="Picture 2" descr="تیغه چینی و دیوار چینی | وظایف دیوار | نکات اجرایی دیوارها | با ما تا بام">
            <a:extLst>
              <a:ext uri="{FF2B5EF4-FFF2-40B4-BE49-F238E27FC236}">
                <a16:creationId xmlns:a16="http://schemas.microsoft.com/office/drawing/2014/main" id="{D543DC9A-A0BB-469F-91D6-C23E3B464F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549" b="-208"/>
          <a:stretch/>
        </p:blipFill>
        <p:spPr bwMode="auto">
          <a:xfrm>
            <a:off x="-651083" y="899939"/>
            <a:ext cx="6054714" cy="6041880"/>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3991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5643417" y="899939"/>
            <a:ext cx="6389633" cy="464742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کف و سقف: </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 تمام سقف‌های خارجی واحدهای تصرف و همچنین سقف‌های مشترک واحدها با یکدیگر و با فضاهای عمومی ساختمان جهت مقاومت در برابر حریق باید در انطباق با مبحث سوم مقررات ملی ساختمان بوده و دارای مقاومت کافی در برابر ضربه باشد مقادیر صدابندی آنها نیز باید مطابق با مبحث هجدهم مقررات ملی ساختمان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تمام سقف‌ها و کف های خارجی ساختمان‌ها و تصرف ها و فضاها باید مطابق مبحث نوزدهم مقررات ملی ساختمان عایق بندی حرارتی شده باشند.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2050" name="Picture 2" descr="سقف و کف کاذب اتاق سرور | کف های کاذب کارنو">
            <a:extLst>
              <a:ext uri="{FF2B5EF4-FFF2-40B4-BE49-F238E27FC236}">
                <a16:creationId xmlns:a16="http://schemas.microsoft.com/office/drawing/2014/main" id="{8BB82341-6B66-4CD5-AB2D-DFFDD7A71E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6" y="1255445"/>
            <a:ext cx="4504267" cy="4324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5151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960093" y="899939"/>
            <a:ext cx="5097380" cy="575542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 نازک کاری و پوشش‌ها :</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استفاده از پوشش‌های ضد حریق در سازه های فلزی بناهای بلند گروه (۸) مطابق مبحث سوم مقررات ملی ساختمان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 استفاده از پوشش‌های ضد حریق در سازه‌های فلزی توقفگاه های کلیه ساختمان‌های گروه ۶ به بالا مطابق مبحث سوم مقررات ملی ساختمان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استفاده از نازک کاری و پوشش‌های لازم در تمام دیوارها و سطوح قابل دسترس در تصرف های مسکونی اقامتی آموزشی فرهنگی درمانی مراقبتی و تجمعی به منظور ایجاد شرایط ایمن تر  و بهداشتی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026" name="Picture 2" descr="نازک کاری | شرکت معماری و دکوراسیون دکوطرح 09122460089">
            <a:extLst>
              <a:ext uri="{FF2B5EF4-FFF2-40B4-BE49-F238E27FC236}">
                <a16:creationId xmlns:a16="http://schemas.microsoft.com/office/drawing/2014/main" id="{CD08656D-168B-4D12-949F-6D0B1D33B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49893"/>
            <a:ext cx="5575177" cy="31858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8605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659418" y="899939"/>
            <a:ext cx="5295824" cy="4278094"/>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سقف کاذب:</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در هر قسمت از تصرف مسکونی که به منظور پوشاندن عناصر تأسیسات یا عبور کانال و یا دلایل دیگر سقف کاذب احداث می‌شود باید علاوه بر رعایت سایر مقررات و نکات فنی الزامی با مقررات این قسمت نیز منطبق باشد.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نصب سقف کاذب نباید ارتفاع فضا را به کمتر از مقدار مجاز آن کاهش دهد. ارتفاع فضاء تا زیر سطح تمام شده سقف کاذب اندازه گیری می‌شود. </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sp>
        <p:nvSpPr>
          <p:cNvPr id="11" name="Diamond 10">
            <a:extLst>
              <a:ext uri="{FF2B5EF4-FFF2-40B4-BE49-F238E27FC236}">
                <a16:creationId xmlns:a16="http://schemas.microsoft.com/office/drawing/2014/main" id="{801BCF65-46B7-4ABF-8983-F88B1EDBFD43}"/>
              </a:ext>
            </a:extLst>
          </p:cNvPr>
          <p:cNvSpPr/>
          <p:nvPr/>
        </p:nvSpPr>
        <p:spPr>
          <a:xfrm>
            <a:off x="-496417" y="2702359"/>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2" descr="سقف کاذب؛ 8 نوع سقف کاذب موجود در ایران">
            <a:extLst>
              <a:ext uri="{FF2B5EF4-FFF2-40B4-BE49-F238E27FC236}">
                <a16:creationId xmlns:a16="http://schemas.microsoft.com/office/drawing/2014/main" id="{9FA8FB44-925E-425A-BE56-C49989A6B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76" y="97211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0280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476500" y="899939"/>
            <a:ext cx="5478742" cy="353943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سقف کاذب:</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سقف کاذب باید با استفاده از قطعات مناسب و به صورت مطمئن به ساختار اصلی ساختمان متصل شده باشد تا در شرایط بهره برداری عادی و در شرایط خاص به ویژه آتش سوزی یا زمین لرزه ای که ساختمان برای آن طراحی شده است با تخریب یا ریزش تمام یا قسمتی از آن موجب اختلال در عملکرد ساختمان و فضاهای آن نشود و به افراد و سایر اجزاء ساختمان آسیب وارد  نیاورد.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2" descr="سقف کاذب؛ 8 نوع سقف کاذب موجود در ایران">
            <a:extLst>
              <a:ext uri="{FF2B5EF4-FFF2-40B4-BE49-F238E27FC236}">
                <a16:creationId xmlns:a16="http://schemas.microsoft.com/office/drawing/2014/main" id="{762D2DFD-C8D2-4AAE-B210-CCC1E5FDA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76" y="97211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
        <p:nvSpPr>
          <p:cNvPr id="15" name="Diamond 14">
            <a:extLst>
              <a:ext uri="{FF2B5EF4-FFF2-40B4-BE49-F238E27FC236}">
                <a16:creationId xmlns:a16="http://schemas.microsoft.com/office/drawing/2014/main" id="{3DD10FBB-BB42-4C20-8842-BB6E88924BF0}"/>
              </a:ext>
            </a:extLst>
          </p:cNvPr>
          <p:cNvSpPr/>
          <p:nvPr/>
        </p:nvSpPr>
        <p:spPr>
          <a:xfrm>
            <a:off x="-496417" y="2702359"/>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912801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851220" y="899939"/>
            <a:ext cx="5116106" cy="538609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سقف کاذب:</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برای نصب آویزها اتصالات و سایر اجزاء نگهدارنده سقف کاذب باید پیش بینی های لازم، مانند نصب و اجرای پروفیل ها یا میلگردهای انتظار در هنگام اجرای ساختار اصلی ساختمان انجام گرفته باشد و از تخریب و آسیب رساندن به ساختارهای اصلی بدین منظور خودداری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دیوارهای جداکننده فضاها باید تا بالای سقف کاذب و زیر سقف سازه ای امتداد داشته باشند و یا فضای بالای سقف کاذب در امتداد قائم دیوارهای جداکننده به وسیله مواد مقاوم و پایدار غیر قابل اشتعال و صدابند مناسب کاملاً مسدود و جداسازی شود.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5" name="Picture 2" descr="سقف کاذب؛ 8 نوع سقف کاذب موجود در ایران">
            <a:extLst>
              <a:ext uri="{FF2B5EF4-FFF2-40B4-BE49-F238E27FC236}">
                <a16:creationId xmlns:a16="http://schemas.microsoft.com/office/drawing/2014/main" id="{698EF73D-82E9-4691-8FB8-ED25BBB132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76" y="97211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
        <p:nvSpPr>
          <p:cNvPr id="19" name="Diamond 18">
            <a:extLst>
              <a:ext uri="{FF2B5EF4-FFF2-40B4-BE49-F238E27FC236}">
                <a16:creationId xmlns:a16="http://schemas.microsoft.com/office/drawing/2014/main" id="{CAA4D5FE-EF83-4D69-89EA-2C951406E195}"/>
              </a:ext>
            </a:extLst>
          </p:cNvPr>
          <p:cNvSpPr/>
          <p:nvPr/>
        </p:nvSpPr>
        <p:spPr>
          <a:xfrm>
            <a:off x="-496417" y="2702359"/>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0097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96417" y="2702359"/>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331721" y="899939"/>
            <a:ext cx="5589679" cy="575542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سقف کاذب:</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از فضای بالای سقف کاذب نباید برای انبار کردن لوازم و تجهیزات استفاده شود مگر آنکه به وسیله ساختار مناسب و با احتساب بار اضافی لوازم یاد شده طراحی و </a:t>
            </a:r>
          </a:p>
          <a:p>
            <a:pPr algn="just" rtl="1"/>
            <a:r>
              <a:rPr lang="fa-IR" sz="2400" dirty="0">
                <a:cs typeface="B Nazanin" panose="00000400000000000000" pitchFamily="2" charset="-78"/>
              </a:rPr>
              <a:t>اجرا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تخلیه هوای سرویس‌های بهداشتی و آشپزخانه به فضای بالای سقف کاذب مجاز نیست.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سقف‌هایی که در آن‌ها از مواد قابل سوختن مانند انواع بلوک یا صفحه پلی استایرن استفاده میشود باید سطح زیر سقف اصلی مطابق ضوابط مربوط با اندود یا فرآورده های مناسب در برابر آتش محافظت شود. این پوشش در صورت تعبیه سقف کاذب نیز باید در زیر سقف اصلی لحاظ گردد.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5" name="Picture 2" descr="سقف کاذب؛ 8 نوع سقف کاذب موجود در ایران">
            <a:extLst>
              <a:ext uri="{FF2B5EF4-FFF2-40B4-BE49-F238E27FC236}">
                <a16:creationId xmlns:a16="http://schemas.microsoft.com/office/drawing/2014/main" id="{CD92384C-C52F-45DE-997B-4A4678964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76" y="97211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2125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665372" y="899939"/>
            <a:ext cx="5301953" cy="4647426"/>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سقف کاذب:</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فضای بالای سقف کاذب نباید به فضای بیرون ساختمان یا به فضاهای نیمه باز و یا حیاط‌های داخلی گشودگی داشته باشد مگر آن که این گشودگی به منظور تهویه در مناطق مرطوب و با رعایت تمام شرایط زیر انجام پذیرد:</a:t>
            </a:r>
          </a:p>
          <a:p>
            <a:pPr algn="just" rtl="1"/>
            <a:r>
              <a:rPr lang="fa-IR" sz="2400" dirty="0">
                <a:cs typeface="B Nazanin" panose="00000400000000000000" pitchFamily="2" charset="-78"/>
              </a:rPr>
              <a:t>الف)با نصب حفاظ و توری مناسب در محل گشودگیها از ورود جانوران و حشرات به فضای بالای سقف كاذب جلوگیری شود. </a:t>
            </a:r>
          </a:p>
          <a:p>
            <a:pPr algn="just" rtl="1"/>
            <a:r>
              <a:rPr lang="fa-IR" sz="2400" dirty="0">
                <a:cs typeface="B Nazanin" panose="00000400000000000000" pitchFamily="2" charset="-78"/>
              </a:rPr>
              <a:t>ب)گشودگی ها به فضای بیرون با تمهیدات لازم مانند نصب انواع دریچه ،دمپر، از باران کج باران و سایر نزولات جوی و همچنین باد مزاحم محافظت شوند. </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sp>
        <p:nvSpPr>
          <p:cNvPr id="19" name="Diamond 18">
            <a:extLst>
              <a:ext uri="{FF2B5EF4-FFF2-40B4-BE49-F238E27FC236}">
                <a16:creationId xmlns:a16="http://schemas.microsoft.com/office/drawing/2014/main" id="{40D8F2F1-B997-468D-8639-3AB84F76FA75}"/>
              </a:ext>
            </a:extLst>
          </p:cNvPr>
          <p:cNvSpPr/>
          <p:nvPr/>
        </p:nvSpPr>
        <p:spPr>
          <a:xfrm>
            <a:off x="-496417" y="2702359"/>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 name="Picture 2" descr="سقف کاذب؛ 8 نوع سقف کاذب موجود در ایران">
            <a:extLst>
              <a:ext uri="{FF2B5EF4-FFF2-40B4-BE49-F238E27FC236}">
                <a16:creationId xmlns:a16="http://schemas.microsoft.com/office/drawing/2014/main" id="{0D2C773A-DCFB-4658-B220-1ACB17CF7A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76" y="97211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874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6249702" y="899939"/>
            <a:ext cx="5717624" cy="5386090"/>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سقف کاذب:</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پ)در حالت فوق از لحاظ اتلاف حرارت و صرفه جویی در مصرف انرژی فضای مابین سقف کاذب و سقف سازهای اصلی به عنوان فضای کنترل نشده محسوب می‌شود و با عایق کاری مناسب مطابق مبحث نوزدهم مقررات ملی ساختمان باید از اتلاف حرارت فضای طبقات بالا و پایین سقف كاذب جلوگیری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 نباید در این حالت فضای بالای سقف کاذب به هیچ یک از فضاهای داخلی ساختمان هیچ گونه درز یا گشودگی مانند دریچه محل نصب لامپ‌های توکار و حفره های تزئینی داشته باشد و در صورت نیاز به دریچه بازدید یا دسترس دریچه مذکور باید با تمهیدات مناسب درزبندی شود.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sp>
        <p:nvSpPr>
          <p:cNvPr id="15" name="Diamond 14">
            <a:extLst>
              <a:ext uri="{FF2B5EF4-FFF2-40B4-BE49-F238E27FC236}">
                <a16:creationId xmlns:a16="http://schemas.microsoft.com/office/drawing/2014/main" id="{83723F47-DD93-43C6-8718-4A20209C6E02}"/>
              </a:ext>
            </a:extLst>
          </p:cNvPr>
          <p:cNvSpPr/>
          <p:nvPr/>
        </p:nvSpPr>
        <p:spPr>
          <a:xfrm>
            <a:off x="-496417" y="2702359"/>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2" descr="سقف کاذب؛ 8 نوع سقف کاذب موجود در ایران">
            <a:extLst>
              <a:ext uri="{FF2B5EF4-FFF2-40B4-BE49-F238E27FC236}">
                <a16:creationId xmlns:a16="http://schemas.microsoft.com/office/drawing/2014/main" id="{93514D7F-4496-4663-B15E-B38D9296D8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376" y="97211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6288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232785" y="899939"/>
            <a:ext cx="7688616" cy="3908762"/>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بام های مسطح:</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تعبیه جانپناه در بام‌های مسطح در صورت وجود راه پله برای دسترسی ساکنین به بام مطابق الزامات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بام های مسطح باید دارای شیب بندی مناسب حداقل %۲ و کفشوی متصل به لوله کشی آب ،بام مستقل از شبکه اصلی فاضلاب ساختمان باشند.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تعداد کفشوی و لوله قائم آب باران در بام‌های اصلی ساختمان در انطباق با مبحث ۱۶ مقررات ملی ساختمان نباید از دو عدد کمتر باشد.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10">
            <a:extLst>
              <a:ext uri="{FF2B5EF4-FFF2-40B4-BE49-F238E27FC236}">
                <a16:creationId xmlns:a16="http://schemas.microsoft.com/office/drawing/2014/main" id="{AF178B45-B22D-4B07-96E1-31446194261A}"/>
              </a:ext>
            </a:extLst>
          </p:cNvPr>
          <p:cNvPicPr>
            <a:picLocks noChangeAspect="1"/>
          </p:cNvPicPr>
          <p:nvPr/>
        </p:nvPicPr>
        <p:blipFill rotWithShape="1">
          <a:blip r:embed="rId2"/>
          <a:srcRect l="6061" t="8099" r="4414" b="21602"/>
          <a:stretch/>
        </p:blipFill>
        <p:spPr>
          <a:xfrm>
            <a:off x="0" y="2199934"/>
            <a:ext cx="3820190" cy="2095876"/>
          </a:xfrm>
          <a:prstGeom prst="rect">
            <a:avLst/>
          </a:prstGeom>
        </p:spPr>
      </p:pic>
    </p:spTree>
    <p:extLst>
      <p:ext uri="{BB962C8B-B14F-4D97-AF65-F5344CB8AC3E}">
        <p14:creationId xmlns:p14="http://schemas.microsoft.com/office/powerpoint/2010/main" val="34929000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395166" y="899939"/>
            <a:ext cx="7568620" cy="5016758"/>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بام های مسطح:</a:t>
            </a:r>
          </a:p>
          <a:p>
            <a:pPr algn="just" rtl="1"/>
            <a:endParaRPr lang="fa-IR" sz="2800" b="1" dirty="0">
              <a:solidFill>
                <a:srgbClr val="7D4F50"/>
              </a:solidFill>
              <a:cs typeface="B Nazanin" panose="00000400000000000000" pitchFamily="2" charset="-78"/>
            </a:endParaRPr>
          </a:p>
          <a:p>
            <a:pPr algn="just" rtl="1"/>
            <a:r>
              <a:rPr lang="fa-IR" sz="2400" dirty="0">
                <a:cs typeface="B Nazanin" panose="00000400000000000000" pitchFamily="2" charset="-78"/>
              </a:rPr>
              <a:t>آب بام‌ها باید به صورتی جمع آوری و هدایت شود که موجب آلودگی یا ایجاد مزاحمت در محوطه و اجزاء ساختمان و اراضی مجاور یا معابر عمومی نشود و از سرازیر شدن آب بر روی نمای ساختمان یا ساختمان‌های مجاور پیشگیری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تخلیه آب حاصل از نزولات جوی بام‌ها به زمینه‌ های مجاور و معابر عمومی مجاز نیست.  </a:t>
            </a:r>
          </a:p>
          <a:p>
            <a:pPr algn="just" rtl="1"/>
            <a:r>
              <a:rPr lang="fa-IR" sz="2400" dirty="0">
                <a:cs typeface="B Nazanin" panose="00000400000000000000" pitchFamily="2" charset="-78"/>
              </a:rPr>
              <a:t>و تخلیه آن در محوطه‌ی ساختمان باید با مجوز شهرداری یا سایر مراجع صدور پروانه انجام گیرد.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اتصال لوله کشی آب بام به شبکه فاضلاب شهری تنها با مجوز ادارات فاضلاب شهری و نهاد  قانونی مسئول امکان پذیر است.</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7" name="Picture 6">
            <a:extLst>
              <a:ext uri="{FF2B5EF4-FFF2-40B4-BE49-F238E27FC236}">
                <a16:creationId xmlns:a16="http://schemas.microsoft.com/office/drawing/2014/main" id="{EAAB92DE-7050-41F7-84E1-F454A20C6194}"/>
              </a:ext>
            </a:extLst>
          </p:cNvPr>
          <p:cNvPicPr>
            <a:picLocks noChangeAspect="1"/>
          </p:cNvPicPr>
          <p:nvPr/>
        </p:nvPicPr>
        <p:blipFill rotWithShape="1">
          <a:blip r:embed="rId2"/>
          <a:srcRect l="6061" t="8099" r="4414" b="21602"/>
          <a:stretch/>
        </p:blipFill>
        <p:spPr>
          <a:xfrm>
            <a:off x="0" y="2199934"/>
            <a:ext cx="3820190" cy="2095876"/>
          </a:xfrm>
          <a:prstGeom prst="rect">
            <a:avLst/>
          </a:prstGeom>
        </p:spPr>
      </p:pic>
    </p:spTree>
    <p:extLst>
      <p:ext uri="{BB962C8B-B14F-4D97-AF65-F5344CB8AC3E}">
        <p14:creationId xmlns:p14="http://schemas.microsoft.com/office/powerpoint/2010/main" val="1204941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3536941" y="1841242"/>
            <a:ext cx="8384460" cy="3847207"/>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حفاظ و جان پناه: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هر جا که نصب جان پناه یا حفاظ و دست انداز الزامی اعلام شده باشد باید در انطباق با مقررات زیر اجرا شود: </a:t>
            </a:r>
          </a:p>
          <a:p>
            <a:pPr algn="just" rtl="1"/>
            <a:r>
              <a:rPr lang="fa-IR" sz="2400" dirty="0">
                <a:cs typeface="B Nazanin" panose="00000400000000000000" pitchFamily="2" charset="-78"/>
              </a:rPr>
              <a:t>ارتفاع دست اندازها یا جانپناه هااز سطح فضا یا بام در دسترس باید حداقل ۱/۱۰ متر و از لبه پله یا سطح شیبدار حداقل ۰/۹۰ متر باشد.</a:t>
            </a:r>
          </a:p>
          <a:p>
            <a:pPr algn="just" rtl="1"/>
            <a:r>
              <a:rPr lang="fa-IR" sz="2400" dirty="0">
                <a:cs typeface="B Nazanin" panose="00000400000000000000" pitchFamily="2" charset="-78"/>
              </a:rPr>
              <a:t> </a:t>
            </a:r>
          </a:p>
          <a:p>
            <a:pPr algn="just" rtl="1"/>
            <a:r>
              <a:rPr lang="fa-IR" sz="2400" dirty="0">
                <a:cs typeface="B Nazanin" panose="00000400000000000000" pitchFamily="2" charset="-78"/>
              </a:rPr>
              <a:t>فاصله‌ی خالی بین دو نرده عمودی دست انداز و جانپناه نباید بیشتر از ۰/۱۱ متر باشد. در صورت وجود نرده های تزئینی نباید از هیچ قسمت آن کره ای به قطر بیش از ۰/۱۱ متر عبور کند.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2" descr="جان ‌پناه چیست ؟| ویژگی ها و مراحل ساخت و اجرای جان پناه | با ما تا بام">
            <a:extLst>
              <a:ext uri="{FF2B5EF4-FFF2-40B4-BE49-F238E27FC236}">
                <a16:creationId xmlns:a16="http://schemas.microsoft.com/office/drawing/2014/main" id="{09DC7188-EC97-4CF0-B853-4258535077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698" y="-12555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0683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جان ‌پناه چیست ؟| ویژگی ها و مراحل ساخت و اجرای جان پناه | با ما تا بام">
            <a:extLst>
              <a:ext uri="{FF2B5EF4-FFF2-40B4-BE49-F238E27FC236}">
                <a16:creationId xmlns:a16="http://schemas.microsoft.com/office/drawing/2014/main" id="{C81FB59C-EF2B-4036-9EC9-5856FE295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7698" y="-125559"/>
            <a:ext cx="5916346" cy="5885881"/>
          </a:xfrm>
          <a:prstGeom prst="flowChartDecision">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E414842C-DFEC-4F39-9639-1E15066026CC}"/>
              </a:ext>
            </a:extLst>
          </p:cNvPr>
          <p:cNvSpPr txBox="1"/>
          <p:nvPr/>
        </p:nvSpPr>
        <p:spPr>
          <a:xfrm>
            <a:off x="3536941" y="1841242"/>
            <a:ext cx="8384460"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حفاظ و جان پناه:</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صورت استفاده از میله‌های افقی در دست انداز و جان پناه ، طراحی دست انداز باید به گونه ای باشد که از بالا رفتن کودکان و احتمال سقوط آن‌ها  با تدابیری چون شیب داخلی یا هلالی برگشته جلوگیری کند.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استفاده از شیشه ایمن و غیر ریزنده در جانپناه هاو دست اندازهای دارای شیشه به هر   قطع و اندازه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spTree>
    <p:extLst>
      <p:ext uri="{BB962C8B-B14F-4D97-AF65-F5344CB8AC3E}">
        <p14:creationId xmlns:p14="http://schemas.microsoft.com/office/powerpoint/2010/main" val="2287085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30127" y="1841242"/>
            <a:ext cx="7291273"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آب بندی و عایق کاری رطوبتی: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 حفاظت در برابر بارش نزولات جوی و رطوبت خاک الزامی است. بام‌های تخت ،ایوان ها فضاهای نیمه باز غیر از بالکن های کم عرض کف های در تماس با زمینه ای نمناک کف کلیه فضاهای بهداشتی در طبقات دیوارهای زیرزمین و سایر دیوارهای در تماس با زمین ،نمناک بدنه و کف و دیوار استخرها و منابع آب باید عایق رطوبتی شوند بام‌های شیب دار و قوسی و گنبدها و نماهایی که در معرض بوران های موسمی قرار میگیرند باید با روش مناسب در برابر نزولات جوی و کجباران حفاظت شوند.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10">
            <a:extLst>
              <a:ext uri="{FF2B5EF4-FFF2-40B4-BE49-F238E27FC236}">
                <a16:creationId xmlns:a16="http://schemas.microsoft.com/office/drawing/2014/main" id="{7AEF06B8-02C3-44A6-9126-93F554AE7295}"/>
              </a:ext>
            </a:extLst>
          </p:cNvPr>
          <p:cNvPicPr>
            <a:picLocks noChangeAspect="1"/>
          </p:cNvPicPr>
          <p:nvPr/>
        </p:nvPicPr>
        <p:blipFill rotWithShape="1">
          <a:blip r:embed="rId2"/>
          <a:srcRect r="3611" b="15177"/>
          <a:stretch/>
        </p:blipFill>
        <p:spPr>
          <a:xfrm>
            <a:off x="0" y="1841242"/>
            <a:ext cx="4590520" cy="3369108"/>
          </a:xfrm>
          <a:prstGeom prst="rect">
            <a:avLst/>
          </a:prstGeom>
        </p:spPr>
      </p:pic>
    </p:spTree>
    <p:extLst>
      <p:ext uri="{BB962C8B-B14F-4D97-AF65-F5344CB8AC3E}">
        <p14:creationId xmlns:p14="http://schemas.microsoft.com/office/powerpoint/2010/main" val="1031853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92073" y="1841242"/>
            <a:ext cx="7229328"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آب بندی و عایق کاری رطوبتی: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فضاهای داخلی بنا هرجا که شیر برداشت آب تعبیه شود، کف فضا باید عایق رطوبتی شده و کفشوی دارای شترگلویی یا سیفون و تمهیدات لازم دیگر برای دفع فاضلاب، مطابق با ضوابط مبحث شانزدهم مقررات ملی ساختمان پیش بینی شود.</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محافظت سطح کف و عایقکاری دیواره‌های زیرزمین جهت جلوگیری از نفوذ آب های سطحی و زیرزمینی و نشت آب لوله کشی در ساختمان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10">
            <a:extLst>
              <a:ext uri="{FF2B5EF4-FFF2-40B4-BE49-F238E27FC236}">
                <a16:creationId xmlns:a16="http://schemas.microsoft.com/office/drawing/2014/main" id="{923AE197-FD69-4D97-8652-6CEC79868FDC}"/>
              </a:ext>
            </a:extLst>
          </p:cNvPr>
          <p:cNvPicPr>
            <a:picLocks noChangeAspect="1"/>
          </p:cNvPicPr>
          <p:nvPr/>
        </p:nvPicPr>
        <p:blipFill rotWithShape="1">
          <a:blip r:embed="rId2"/>
          <a:srcRect r="3611" b="15177"/>
          <a:stretch/>
        </p:blipFill>
        <p:spPr>
          <a:xfrm>
            <a:off x="0" y="1710959"/>
            <a:ext cx="4590520" cy="3369108"/>
          </a:xfrm>
          <a:prstGeom prst="rect">
            <a:avLst/>
          </a:prstGeom>
        </p:spPr>
      </p:pic>
    </p:spTree>
    <p:extLst>
      <p:ext uri="{BB962C8B-B14F-4D97-AF65-F5344CB8AC3E}">
        <p14:creationId xmlns:p14="http://schemas.microsoft.com/office/powerpoint/2010/main" val="39009517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64363" y="1841242"/>
            <a:ext cx="7257037" cy="3108543"/>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عایق کاری صوتی و حرارتی و صرفه جویی در مصرف انرژی: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ساختمان‌های مشمول این مقررات رعایت عایق کاری و نظارت بر انتشار صوت در فضاهای ساختمان در انطباق با مبحث هجدهم الزامی است.</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ساختمان‌های مشمول این مقررات رعایت ضوابط مبحث نوزدهم مقررات ملی ساختمان و موارد الزامی آن برای عایق کاری حرارتی پوسته خارجی بنا و دیگر عناصر ساختمانی الزامی است.</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1" name="Picture 10">
            <a:extLst>
              <a:ext uri="{FF2B5EF4-FFF2-40B4-BE49-F238E27FC236}">
                <a16:creationId xmlns:a16="http://schemas.microsoft.com/office/drawing/2014/main" id="{9E03164E-08A0-41E3-B178-EE892D9B1ABE}"/>
              </a:ext>
            </a:extLst>
          </p:cNvPr>
          <p:cNvPicPr>
            <a:picLocks noChangeAspect="1"/>
          </p:cNvPicPr>
          <p:nvPr/>
        </p:nvPicPr>
        <p:blipFill rotWithShape="1">
          <a:blip r:embed="rId2"/>
          <a:srcRect r="3611" b="15177"/>
          <a:stretch/>
        </p:blipFill>
        <p:spPr>
          <a:xfrm>
            <a:off x="0" y="1841242"/>
            <a:ext cx="4590520" cy="3369108"/>
          </a:xfrm>
          <a:prstGeom prst="rect">
            <a:avLst/>
          </a:prstGeom>
        </p:spPr>
      </p:pic>
    </p:spTree>
    <p:extLst>
      <p:ext uri="{BB962C8B-B14F-4D97-AF65-F5344CB8AC3E}">
        <p14:creationId xmlns:p14="http://schemas.microsoft.com/office/powerpoint/2010/main" val="2479466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iamond 15">
            <a:extLst>
              <a:ext uri="{FF2B5EF4-FFF2-40B4-BE49-F238E27FC236}">
                <a16:creationId xmlns:a16="http://schemas.microsoft.com/office/drawing/2014/main" id="{19FDDDFF-9443-4617-B2EA-3347F2D73087}"/>
              </a:ext>
            </a:extLst>
          </p:cNvPr>
          <p:cNvSpPr/>
          <p:nvPr/>
        </p:nvSpPr>
        <p:spPr>
          <a:xfrm>
            <a:off x="270599" y="4275657"/>
            <a:ext cx="2280784" cy="2281600"/>
          </a:xfrm>
          <a:prstGeom prst="diamond">
            <a:avLst/>
          </a:prstGeom>
          <a:solidFill>
            <a:srgbClr val="7471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0"/>
            <a:ext cx="8276048" cy="838069"/>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E90C8EDD-93F9-46EA-8C43-3EA4431D229A}"/>
              </a:ext>
            </a:extLst>
          </p:cNvPr>
          <p:cNvSpPr/>
          <p:nvPr/>
        </p:nvSpPr>
        <p:spPr>
          <a:xfrm>
            <a:off x="5003465" y="-430490"/>
            <a:ext cx="4504267"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فصل نهم:</a:t>
            </a:r>
            <a:endParaRPr lang="en-US" sz="3200" dirty="0">
              <a:solidFill>
                <a:srgbClr val="74714E"/>
              </a:solidFill>
              <a:cs typeface="B Titr" panose="00000700000000000000" pitchFamily="2" charset="-78"/>
            </a:endParaRPr>
          </a:p>
        </p:txBody>
      </p:sp>
      <p:sp>
        <p:nvSpPr>
          <p:cNvPr id="10" name="Diamond 9">
            <a:extLst>
              <a:ext uri="{FF2B5EF4-FFF2-40B4-BE49-F238E27FC236}">
                <a16:creationId xmlns:a16="http://schemas.microsoft.com/office/drawing/2014/main" id="{42E586D9-EB68-4EAE-91BF-D6AFCAAA0C47}"/>
              </a:ext>
            </a:extLst>
          </p:cNvPr>
          <p:cNvSpPr/>
          <p:nvPr/>
        </p:nvSpPr>
        <p:spPr>
          <a:xfrm>
            <a:off x="-747039" y="-340816"/>
            <a:ext cx="3149393" cy="3158198"/>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D5A34DEB-D804-4482-AE91-C00203B1863B}"/>
              </a:ext>
            </a:extLst>
          </p:cNvPr>
          <p:cNvSpPr/>
          <p:nvPr/>
        </p:nvSpPr>
        <p:spPr>
          <a:xfrm>
            <a:off x="-412595" y="3158198"/>
            <a:ext cx="1823586" cy="1856057"/>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Diamond 13">
            <a:extLst>
              <a:ext uri="{FF2B5EF4-FFF2-40B4-BE49-F238E27FC236}">
                <a16:creationId xmlns:a16="http://schemas.microsoft.com/office/drawing/2014/main" id="{67ED0678-89ED-4023-A65A-6569819CACAB}"/>
              </a:ext>
            </a:extLst>
          </p:cNvPr>
          <p:cNvSpPr/>
          <p:nvPr/>
        </p:nvSpPr>
        <p:spPr>
          <a:xfrm>
            <a:off x="499198" y="899939"/>
            <a:ext cx="4504267" cy="4516518"/>
          </a:xfrm>
          <a:prstGeom prst="diamond">
            <a:avLst/>
          </a:prstGeom>
          <a:gradFill flip="none" rotWithShape="1">
            <a:gsLst>
              <a:gs pos="0">
                <a:srgbClr val="CC8B86">
                  <a:tint val="66000"/>
                  <a:satMod val="160000"/>
                </a:srgbClr>
              </a:gs>
              <a:gs pos="50000">
                <a:srgbClr val="CC8B86">
                  <a:tint val="44500"/>
                  <a:satMod val="160000"/>
                </a:srgbClr>
              </a:gs>
              <a:gs pos="100000">
                <a:srgbClr val="CC8B86">
                  <a:tint val="23500"/>
                  <a:satMod val="160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E414842C-DFEC-4F39-9639-1E15066026CC}"/>
              </a:ext>
            </a:extLst>
          </p:cNvPr>
          <p:cNvSpPr txBox="1"/>
          <p:nvPr/>
        </p:nvSpPr>
        <p:spPr>
          <a:xfrm>
            <a:off x="4630127" y="1841242"/>
            <a:ext cx="7291273" cy="3477875"/>
          </a:xfrm>
          <a:prstGeom prst="rect">
            <a:avLst/>
          </a:prstGeom>
          <a:noFill/>
        </p:spPr>
        <p:txBody>
          <a:bodyPr wrap="square">
            <a:spAutoFit/>
          </a:bodyPr>
          <a:lstStyle/>
          <a:p>
            <a:pPr algn="just" rtl="1"/>
            <a:r>
              <a:rPr lang="fa-IR" sz="2800" b="1" dirty="0">
                <a:solidFill>
                  <a:srgbClr val="7D4F50"/>
                </a:solidFill>
                <a:cs typeface="B Nazanin" panose="00000400000000000000" pitchFamily="2" charset="-78"/>
              </a:rPr>
              <a:t>آب بندی و عایق کاری رطوبتی: </a:t>
            </a:r>
          </a:p>
          <a:p>
            <a:pPr algn="just" rtl="1"/>
            <a:endParaRPr lang="fa-IR" sz="2400" dirty="0">
              <a:cs typeface="B Nazanin" panose="00000400000000000000" pitchFamily="2" charset="-78"/>
            </a:endParaRPr>
          </a:p>
          <a:p>
            <a:pPr algn="just" rtl="1"/>
            <a:r>
              <a:rPr lang="fa-IR" sz="2400" dirty="0">
                <a:cs typeface="B Nazanin" panose="00000400000000000000" pitchFamily="2" charset="-78"/>
              </a:rPr>
              <a:t>در تمام ساختمان‌ها حفاظت در برابر بارش نزولات جوی و رطوبت خاک الزامی است. بام‌های تخت ،ایوان ها فضاهای نیمه باز غیر از بالکن های کم عرض کف های در تماس با زمینه ای نمناک کف کلیه فضاهای بهداشتی در طبقات دیوارهای زیرزمین و سایر دیوارهای در تماس با زمین ،نمناک بدنه و کف و دیوار استخرها و منابع آب باید عایق رطوبتی شوند بام‌های شیب دار و قوسی و گنبدها و نماهایی که در معرض بوران های موسمی قرار میگیرند باید با روش مناسب در برابر نزولات جوی و کجباران حفاظت شوند.</a:t>
            </a:r>
          </a:p>
        </p:txBody>
      </p:sp>
      <p:sp>
        <p:nvSpPr>
          <p:cNvPr id="3" name="Rectangle 2">
            <a:extLst>
              <a:ext uri="{FF2B5EF4-FFF2-40B4-BE49-F238E27FC236}">
                <a16:creationId xmlns:a16="http://schemas.microsoft.com/office/drawing/2014/main" id="{7E086E71-BC30-41E7-B609-FD1E2CE9B3FB}"/>
              </a:ext>
            </a:extLst>
          </p:cNvPr>
          <p:cNvSpPr/>
          <p:nvPr/>
        </p:nvSpPr>
        <p:spPr>
          <a:xfrm>
            <a:off x="-250917" y="-405779"/>
            <a:ext cx="7102136"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200" dirty="0">
                <a:solidFill>
                  <a:srgbClr val="74714E"/>
                </a:solidFill>
                <a:cs typeface="B Titr" panose="00000700000000000000" pitchFamily="2" charset="-78"/>
              </a:rPr>
              <a:t>الزامات عمومی عناصر و جزئیات مهم ساختمان</a:t>
            </a:r>
            <a:endParaRPr lang="en-US" sz="4400" dirty="0">
              <a:solidFill>
                <a:srgbClr val="74714E"/>
              </a:solidFill>
              <a:cs typeface="B Titr" panose="00000700000000000000" pitchFamily="2" charset="-78"/>
            </a:endParaRPr>
          </a:p>
        </p:txBody>
      </p:sp>
      <p:pic>
        <p:nvPicPr>
          <p:cNvPr id="12" name="Picture 11">
            <a:extLst>
              <a:ext uri="{FF2B5EF4-FFF2-40B4-BE49-F238E27FC236}">
                <a16:creationId xmlns:a16="http://schemas.microsoft.com/office/drawing/2014/main" id="{F7014AE5-5E4F-453A-95F6-ADA4900B574B}"/>
              </a:ext>
            </a:extLst>
          </p:cNvPr>
          <p:cNvPicPr>
            <a:picLocks noChangeAspect="1"/>
          </p:cNvPicPr>
          <p:nvPr/>
        </p:nvPicPr>
        <p:blipFill rotWithShape="1">
          <a:blip r:embed="rId2"/>
          <a:srcRect r="3611" b="15177"/>
          <a:stretch/>
        </p:blipFill>
        <p:spPr>
          <a:xfrm>
            <a:off x="0" y="1841242"/>
            <a:ext cx="4590520" cy="3369108"/>
          </a:xfrm>
          <a:prstGeom prst="rect">
            <a:avLst/>
          </a:prstGeom>
        </p:spPr>
      </p:pic>
    </p:spTree>
    <p:extLst>
      <p:ext uri="{BB962C8B-B14F-4D97-AF65-F5344CB8AC3E}">
        <p14:creationId xmlns:p14="http://schemas.microsoft.com/office/powerpoint/2010/main" val="3426936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 descr="مراحل طراحی معماری - شرکت مهندسین مشاور پی برز">
            <a:extLst>
              <a:ext uri="{FF2B5EF4-FFF2-40B4-BE49-F238E27FC236}">
                <a16:creationId xmlns:a16="http://schemas.microsoft.com/office/drawing/2014/main" id="{ABF364AE-89F4-4B4F-A626-3384E36C94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5914" y="17176"/>
            <a:ext cx="9176318" cy="6858000"/>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Shape 19">
            <a:extLst>
              <a:ext uri="{FF2B5EF4-FFF2-40B4-BE49-F238E27FC236}">
                <a16:creationId xmlns:a16="http://schemas.microsoft.com/office/drawing/2014/main" id="{617C9503-409C-45CB-BBFA-82ED9665D507}"/>
              </a:ext>
            </a:extLst>
          </p:cNvPr>
          <p:cNvSpPr/>
          <p:nvPr/>
        </p:nvSpPr>
        <p:spPr>
          <a:xfrm>
            <a:off x="1" y="-959469"/>
            <a:ext cx="13134721" cy="7817470"/>
          </a:xfrm>
          <a:custGeom>
            <a:avLst/>
            <a:gdLst>
              <a:gd name="connsiteX0" fmla="*/ 10069064 w 13134721"/>
              <a:gd name="connsiteY0" fmla="*/ 4758194 h 7817470"/>
              <a:gd name="connsiteX1" fmla="*/ 8634072 w 13134721"/>
              <a:gd name="connsiteY1" fmla="*/ 6195216 h 7817470"/>
              <a:gd name="connsiteX2" fmla="*/ 10069064 w 13134721"/>
              <a:gd name="connsiteY2" fmla="*/ 7632238 h 7817470"/>
              <a:gd name="connsiteX3" fmla="*/ 11504056 w 13134721"/>
              <a:gd name="connsiteY3" fmla="*/ 6195216 h 7817470"/>
              <a:gd name="connsiteX4" fmla="*/ 12191999 w 13134721"/>
              <a:gd name="connsiteY4" fmla="*/ 3628908 h 7817470"/>
              <a:gd name="connsiteX5" fmla="*/ 13134721 w 13134721"/>
              <a:gd name="connsiteY5" fmla="*/ 4572963 h 7817470"/>
              <a:gd name="connsiteX6" fmla="*/ 12191999 w 13134721"/>
              <a:gd name="connsiteY6" fmla="*/ 5517019 h 7817470"/>
              <a:gd name="connsiteX7" fmla="*/ 8438399 w 13134721"/>
              <a:gd name="connsiteY7" fmla="*/ 3181635 h 7817470"/>
              <a:gd name="connsiteX8" fmla="*/ 7003407 w 13134721"/>
              <a:gd name="connsiteY8" fmla="*/ 4618657 h 7817470"/>
              <a:gd name="connsiteX9" fmla="*/ 8438399 w 13134721"/>
              <a:gd name="connsiteY9" fmla="*/ 6055679 h 7817470"/>
              <a:gd name="connsiteX10" fmla="*/ 9873391 w 13134721"/>
              <a:gd name="connsiteY10" fmla="*/ 4618657 h 7817470"/>
              <a:gd name="connsiteX11" fmla="*/ 6841055 w 13134721"/>
              <a:gd name="connsiteY11" fmla="*/ 1622253 h 7817470"/>
              <a:gd name="connsiteX12" fmla="*/ 5406064 w 13134721"/>
              <a:gd name="connsiteY12" fmla="*/ 3059275 h 7817470"/>
              <a:gd name="connsiteX13" fmla="*/ 6841055 w 13134721"/>
              <a:gd name="connsiteY13" fmla="*/ 4496296 h 7817470"/>
              <a:gd name="connsiteX14" fmla="*/ 8276047 w 13134721"/>
              <a:gd name="connsiteY14" fmla="*/ 3059275 h 7817470"/>
              <a:gd name="connsiteX15" fmla="*/ 10069064 w 13134721"/>
              <a:gd name="connsiteY15" fmla="*/ 1599405 h 7817470"/>
              <a:gd name="connsiteX16" fmla="*/ 8634072 w 13134721"/>
              <a:gd name="connsiteY16" fmla="*/ 3036427 h 7817470"/>
              <a:gd name="connsiteX17" fmla="*/ 10069064 w 13134721"/>
              <a:gd name="connsiteY17" fmla="*/ 4473449 h 7817470"/>
              <a:gd name="connsiteX18" fmla="*/ 11504056 w 13134721"/>
              <a:gd name="connsiteY18" fmla="*/ 3036427 h 7817470"/>
              <a:gd name="connsiteX19" fmla="*/ 0 w 13134721"/>
              <a:gd name="connsiteY19" fmla="*/ 959471 h 7817470"/>
              <a:gd name="connsiteX20" fmla="*/ 7480283 w 13134721"/>
              <a:gd name="connsiteY20" fmla="*/ 959471 h 7817470"/>
              <a:gd name="connsiteX21" fmla="*/ 7003407 w 13134721"/>
              <a:gd name="connsiteY21" fmla="*/ 1437022 h 7817470"/>
              <a:gd name="connsiteX22" fmla="*/ 8438399 w 13134721"/>
              <a:gd name="connsiteY22" fmla="*/ 2874044 h 7817470"/>
              <a:gd name="connsiteX23" fmla="*/ 9873391 w 13134721"/>
              <a:gd name="connsiteY23" fmla="*/ 1437022 h 7817470"/>
              <a:gd name="connsiteX24" fmla="*/ 9396515 w 13134721"/>
              <a:gd name="connsiteY24" fmla="*/ 959471 h 7817470"/>
              <a:gd name="connsiteX25" fmla="*/ 12191999 w 13134721"/>
              <a:gd name="connsiteY25" fmla="*/ 959471 h 7817470"/>
              <a:gd name="connsiteX26" fmla="*/ 12191999 w 13134721"/>
              <a:gd name="connsiteY26" fmla="*/ 3628908 h 7817470"/>
              <a:gd name="connsiteX27" fmla="*/ 11699729 w 13134721"/>
              <a:gd name="connsiteY27" fmla="*/ 3135941 h 7817470"/>
              <a:gd name="connsiteX28" fmla="*/ 10264737 w 13134721"/>
              <a:gd name="connsiteY28" fmla="*/ 4572963 h 7817470"/>
              <a:gd name="connsiteX29" fmla="*/ 11699729 w 13134721"/>
              <a:gd name="connsiteY29" fmla="*/ 6009985 h 7817470"/>
              <a:gd name="connsiteX30" fmla="*/ 12191999 w 13134721"/>
              <a:gd name="connsiteY30" fmla="*/ 5517019 h 7817470"/>
              <a:gd name="connsiteX31" fmla="*/ 12191999 w 13134721"/>
              <a:gd name="connsiteY31" fmla="*/ 7817470 h 7817470"/>
              <a:gd name="connsiteX32" fmla="*/ 0 w 13134721"/>
              <a:gd name="connsiteY32" fmla="*/ 7817470 h 7817470"/>
              <a:gd name="connsiteX33" fmla="*/ 8438399 w 13134721"/>
              <a:gd name="connsiteY33" fmla="*/ 0 h 7817470"/>
              <a:gd name="connsiteX34" fmla="*/ 9396515 w 13134721"/>
              <a:gd name="connsiteY34" fmla="*/ 959471 h 7817470"/>
              <a:gd name="connsiteX35" fmla="*/ 7480283 w 13134721"/>
              <a:gd name="connsiteY35" fmla="*/ 959471 h 781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3134721" h="7817470">
                <a:moveTo>
                  <a:pt x="10069064" y="4758194"/>
                </a:moveTo>
                <a:lnTo>
                  <a:pt x="8634072" y="6195216"/>
                </a:lnTo>
                <a:lnTo>
                  <a:pt x="10069064" y="7632238"/>
                </a:lnTo>
                <a:lnTo>
                  <a:pt x="11504056" y="6195216"/>
                </a:lnTo>
                <a:close/>
                <a:moveTo>
                  <a:pt x="12191999" y="3628908"/>
                </a:moveTo>
                <a:lnTo>
                  <a:pt x="13134721" y="4572963"/>
                </a:lnTo>
                <a:lnTo>
                  <a:pt x="12191999" y="5517019"/>
                </a:lnTo>
                <a:close/>
                <a:moveTo>
                  <a:pt x="8438399" y="3181635"/>
                </a:moveTo>
                <a:lnTo>
                  <a:pt x="7003407" y="4618657"/>
                </a:lnTo>
                <a:lnTo>
                  <a:pt x="8438399" y="6055679"/>
                </a:lnTo>
                <a:lnTo>
                  <a:pt x="9873391" y="4618657"/>
                </a:lnTo>
                <a:close/>
                <a:moveTo>
                  <a:pt x="6841055" y="1622253"/>
                </a:moveTo>
                <a:lnTo>
                  <a:pt x="5406064" y="3059275"/>
                </a:lnTo>
                <a:lnTo>
                  <a:pt x="6841055" y="4496296"/>
                </a:lnTo>
                <a:lnTo>
                  <a:pt x="8276047" y="3059275"/>
                </a:lnTo>
                <a:close/>
                <a:moveTo>
                  <a:pt x="10069064" y="1599405"/>
                </a:moveTo>
                <a:lnTo>
                  <a:pt x="8634072" y="3036427"/>
                </a:lnTo>
                <a:lnTo>
                  <a:pt x="10069064" y="4473449"/>
                </a:lnTo>
                <a:lnTo>
                  <a:pt x="11504056" y="3036427"/>
                </a:lnTo>
                <a:close/>
                <a:moveTo>
                  <a:pt x="0" y="959471"/>
                </a:moveTo>
                <a:lnTo>
                  <a:pt x="7480283" y="959471"/>
                </a:lnTo>
                <a:lnTo>
                  <a:pt x="7003407" y="1437022"/>
                </a:lnTo>
                <a:lnTo>
                  <a:pt x="8438399" y="2874044"/>
                </a:lnTo>
                <a:lnTo>
                  <a:pt x="9873391" y="1437022"/>
                </a:lnTo>
                <a:lnTo>
                  <a:pt x="9396515" y="959471"/>
                </a:lnTo>
                <a:lnTo>
                  <a:pt x="12191999" y="959471"/>
                </a:lnTo>
                <a:lnTo>
                  <a:pt x="12191999" y="3628908"/>
                </a:lnTo>
                <a:lnTo>
                  <a:pt x="11699729" y="3135941"/>
                </a:lnTo>
                <a:lnTo>
                  <a:pt x="10264737" y="4572963"/>
                </a:lnTo>
                <a:lnTo>
                  <a:pt x="11699729" y="6009985"/>
                </a:lnTo>
                <a:lnTo>
                  <a:pt x="12191999" y="5517019"/>
                </a:lnTo>
                <a:lnTo>
                  <a:pt x="12191999" y="7817470"/>
                </a:lnTo>
                <a:lnTo>
                  <a:pt x="0" y="7817470"/>
                </a:lnTo>
                <a:close/>
                <a:moveTo>
                  <a:pt x="8438399" y="0"/>
                </a:moveTo>
                <a:lnTo>
                  <a:pt x="9396515" y="959471"/>
                </a:lnTo>
                <a:lnTo>
                  <a:pt x="7480283" y="959471"/>
                </a:lnTo>
                <a:close/>
              </a:path>
            </a:pathLst>
          </a:custGeom>
          <a:solidFill>
            <a:srgbClr val="F9EAE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Diamond 6">
            <a:extLst>
              <a:ext uri="{FF2B5EF4-FFF2-40B4-BE49-F238E27FC236}">
                <a16:creationId xmlns:a16="http://schemas.microsoft.com/office/drawing/2014/main" id="{DE00C141-D072-4632-8A6D-5A850F28A397}"/>
              </a:ext>
            </a:extLst>
          </p:cNvPr>
          <p:cNvSpPr/>
          <p:nvPr/>
        </p:nvSpPr>
        <p:spPr>
          <a:xfrm>
            <a:off x="7036729" y="5420978"/>
            <a:ext cx="2869984" cy="2874044"/>
          </a:xfrm>
          <a:prstGeom prst="diamond">
            <a:avLst/>
          </a:prstGeom>
          <a:solidFill>
            <a:srgbClr val="7D4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iamond 9">
            <a:extLst>
              <a:ext uri="{FF2B5EF4-FFF2-40B4-BE49-F238E27FC236}">
                <a16:creationId xmlns:a16="http://schemas.microsoft.com/office/drawing/2014/main" id="{42E586D9-EB68-4EAE-91BF-D6AFCAAA0C47}"/>
              </a:ext>
            </a:extLst>
          </p:cNvPr>
          <p:cNvSpPr/>
          <p:nvPr/>
        </p:nvSpPr>
        <p:spPr>
          <a:xfrm>
            <a:off x="10264738" y="-942294"/>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Arrow: Pentagon 16">
            <a:extLst>
              <a:ext uri="{FF2B5EF4-FFF2-40B4-BE49-F238E27FC236}">
                <a16:creationId xmlns:a16="http://schemas.microsoft.com/office/drawing/2014/main" id="{DD7697E7-9F3A-47BA-BE47-A89FD857E113}"/>
              </a:ext>
            </a:extLst>
          </p:cNvPr>
          <p:cNvSpPr/>
          <p:nvPr/>
        </p:nvSpPr>
        <p:spPr>
          <a:xfrm>
            <a:off x="0" y="1524747"/>
            <a:ext cx="8276048" cy="7468860"/>
          </a:xfrm>
          <a:prstGeom prst="homePlate">
            <a:avLst/>
          </a:prstGeom>
          <a:solidFill>
            <a:srgbClr val="D1BE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Diamond 22">
            <a:extLst>
              <a:ext uri="{FF2B5EF4-FFF2-40B4-BE49-F238E27FC236}">
                <a16:creationId xmlns:a16="http://schemas.microsoft.com/office/drawing/2014/main" id="{3F4FBF24-25E6-49FA-B762-46D8D741A454}"/>
              </a:ext>
            </a:extLst>
          </p:cNvPr>
          <p:cNvSpPr/>
          <p:nvPr/>
        </p:nvSpPr>
        <p:spPr>
          <a:xfrm>
            <a:off x="10264738" y="5420978"/>
            <a:ext cx="2869984" cy="2874044"/>
          </a:xfrm>
          <a:prstGeom prst="diamond">
            <a:avLst/>
          </a:prstGeom>
          <a:solidFill>
            <a:srgbClr val="AABE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E086E71-BC30-41E7-B609-FD1E2CE9B3FB}"/>
              </a:ext>
            </a:extLst>
          </p:cNvPr>
          <p:cNvSpPr/>
          <p:nvPr/>
        </p:nvSpPr>
        <p:spPr>
          <a:xfrm>
            <a:off x="-484023" y="4213287"/>
            <a:ext cx="8215509" cy="164178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6600" dirty="0">
                <a:solidFill>
                  <a:srgbClr val="74714E"/>
                </a:solidFill>
                <a:cs typeface="B Titr" panose="00000700000000000000" pitchFamily="2" charset="-78"/>
              </a:rPr>
              <a:t>سپاس از همراهی شما</a:t>
            </a:r>
            <a:endParaRPr lang="en-US" sz="8000" dirty="0">
              <a:solidFill>
                <a:srgbClr val="74714E"/>
              </a:solidFill>
              <a:cs typeface="B Titr" panose="00000700000000000000" pitchFamily="2" charset="-78"/>
            </a:endParaRPr>
          </a:p>
        </p:txBody>
      </p:sp>
    </p:spTree>
    <p:extLst>
      <p:ext uri="{BB962C8B-B14F-4D97-AF65-F5344CB8AC3E}">
        <p14:creationId xmlns:p14="http://schemas.microsoft.com/office/powerpoint/2010/main" val="38960810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1571</TotalTime>
  <Words>12760</Words>
  <Application>Microsoft Office PowerPoint</Application>
  <PresentationFormat>Widescreen</PresentationFormat>
  <Paragraphs>1065</Paragraphs>
  <Slides>142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142</vt:i4>
      </vt:variant>
    </vt:vector>
  </HeadingPairs>
  <TitlesOfParts>
    <vt:vector size="146"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Asus</dc:creator>
  <cp:lastModifiedBy>Asus</cp:lastModifiedBy>
  <cp:revision>71</cp:revision>
  <dcterms:created xsi:type="dcterms:W3CDTF">2023-11-09T18:29:09Z</dcterms:created>
  <dcterms:modified xsi:type="dcterms:W3CDTF">2023-11-22T14:57:35Z</dcterms:modified>
</cp:coreProperties>
</file>