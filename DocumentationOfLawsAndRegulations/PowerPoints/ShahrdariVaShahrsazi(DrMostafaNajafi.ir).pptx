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eb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5"/>
  </p:notesMasterIdLst>
  <p:sldIdLst>
    <p:sldId id="256" r:id="rId2"/>
    <p:sldId id="261" r:id="rId3"/>
    <p:sldId id="262" r:id="rId4"/>
    <p:sldId id="263" r:id="rId5"/>
    <p:sldId id="264" r:id="rId6"/>
    <p:sldId id="269" r:id="rId7"/>
    <p:sldId id="270" r:id="rId8"/>
    <p:sldId id="275" r:id="rId9"/>
    <p:sldId id="281" r:id="rId10"/>
    <p:sldId id="282" r:id="rId11"/>
    <p:sldId id="283" r:id="rId12"/>
    <p:sldId id="284" r:id="rId13"/>
    <p:sldId id="322" r:id="rId14"/>
    <p:sldId id="285" r:id="rId15"/>
    <p:sldId id="315" r:id="rId16"/>
    <p:sldId id="323" r:id="rId17"/>
    <p:sldId id="316" r:id="rId18"/>
    <p:sldId id="324" r:id="rId19"/>
    <p:sldId id="325" r:id="rId20"/>
    <p:sldId id="326" r:id="rId21"/>
    <p:sldId id="327" r:id="rId22"/>
    <p:sldId id="328" r:id="rId23"/>
    <p:sldId id="286" r:id="rId24"/>
    <p:sldId id="340" r:id="rId25"/>
    <p:sldId id="341" r:id="rId26"/>
    <p:sldId id="288" r:id="rId27"/>
    <p:sldId id="342" r:id="rId28"/>
    <p:sldId id="289" r:id="rId29"/>
    <p:sldId id="339" r:id="rId30"/>
    <p:sldId id="317" r:id="rId31"/>
    <p:sldId id="320" r:id="rId32"/>
    <p:sldId id="290" r:id="rId33"/>
    <p:sldId id="350" r:id="rId34"/>
    <p:sldId id="352" r:id="rId35"/>
    <p:sldId id="351" r:id="rId36"/>
    <p:sldId id="353" r:id="rId37"/>
    <p:sldId id="354" r:id="rId38"/>
    <p:sldId id="291" r:id="rId39"/>
    <p:sldId id="355" r:id="rId40"/>
    <p:sldId id="356" r:id="rId41"/>
    <p:sldId id="293" r:id="rId42"/>
    <p:sldId id="329" r:id="rId43"/>
    <p:sldId id="330" r:id="rId44"/>
    <p:sldId id="294" r:id="rId45"/>
    <p:sldId id="331" r:id="rId46"/>
    <p:sldId id="295" r:id="rId47"/>
    <p:sldId id="318" r:id="rId48"/>
    <p:sldId id="296" r:id="rId49"/>
    <p:sldId id="332" r:id="rId50"/>
    <p:sldId id="333" r:id="rId51"/>
    <p:sldId id="334" r:id="rId52"/>
    <p:sldId id="297" r:id="rId53"/>
    <p:sldId id="335" r:id="rId54"/>
    <p:sldId id="336" r:id="rId55"/>
    <p:sldId id="337" r:id="rId56"/>
    <p:sldId id="338" r:id="rId57"/>
    <p:sldId id="299" r:id="rId58"/>
    <p:sldId id="357" r:id="rId59"/>
    <p:sldId id="358" r:id="rId60"/>
    <p:sldId id="359" r:id="rId61"/>
    <p:sldId id="360" r:id="rId62"/>
    <p:sldId id="361" r:id="rId63"/>
    <p:sldId id="300" r:id="rId64"/>
    <p:sldId id="346" r:id="rId65"/>
    <p:sldId id="347" r:id="rId66"/>
    <p:sldId id="348" r:id="rId67"/>
    <p:sldId id="349" r:id="rId68"/>
    <p:sldId id="304" r:id="rId69"/>
    <p:sldId id="343" r:id="rId70"/>
    <p:sldId id="344" r:id="rId71"/>
    <p:sldId id="345" r:id="rId72"/>
    <p:sldId id="305" r:id="rId73"/>
    <p:sldId id="311" r:id="rId74"/>
    <p:sldId id="306" r:id="rId75"/>
    <p:sldId id="310" r:id="rId76"/>
    <p:sldId id="307" r:id="rId77"/>
    <p:sldId id="309" r:id="rId78"/>
    <p:sldId id="362" r:id="rId79"/>
    <p:sldId id="363" r:id="rId80"/>
    <p:sldId id="364" r:id="rId81"/>
    <p:sldId id="365" r:id="rId82"/>
    <p:sldId id="366" r:id="rId83"/>
    <p:sldId id="258" r:id="rId84"/>
  </p:sldIdLst>
  <p:sldSz cx="12192000" cy="6858000"/>
  <p:notesSz cx="6858000" cy="9144000"/>
  <p:embeddedFontLst>
    <p:embeddedFont>
      <p:font typeface="_PDMS_Saleem_QuranFont" panose="02010000000000000000" pitchFamily="2" charset="-78"/>
      <p:regular r:id="rId86"/>
    </p:embeddedFont>
    <p:embeddedFont>
      <p:font typeface="Arabic Typesetting" panose="03020402040406030203" pitchFamily="66" charset="-78"/>
      <p:regular r:id="rId87"/>
    </p:embeddedFont>
    <p:embeddedFont>
      <p:font typeface="Calibri" panose="020F0502020204030204" pitchFamily="34" charset="0"/>
      <p:regular r:id="rId88"/>
      <p:bold r:id="rId89"/>
      <p:italic r:id="rId90"/>
      <p:boldItalic r:id="rId91"/>
    </p:embeddedFont>
    <p:embeddedFont>
      <p:font typeface="Calibri Light" panose="020F0302020204030204" pitchFamily="34" charset="0"/>
      <p:regular r:id="rId92"/>
      <p:italic r:id="rId93"/>
    </p:embeddedFont>
    <p:embeddedFont>
      <p:font typeface="Cambria" panose="02040503050406030204" pitchFamily="18" charset="0"/>
      <p:regular r:id="rId94"/>
      <p:bold r:id="rId95"/>
      <p:italic r:id="rId96"/>
      <p:boldItalic r:id="rId97"/>
    </p:embeddedFont>
  </p:embeddedFontLst>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am Shafiee" initials="MS" lastIdx="1" clrIdx="0">
    <p:extLst>
      <p:ext uri="{19B8F6BF-5375-455C-9EA6-DF929625EA0E}">
        <p15:presenceInfo xmlns:p15="http://schemas.microsoft.com/office/powerpoint/2012/main" userId="c931dfa97e8d707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036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92" autoAdjust="0"/>
    <p:restoredTop sz="94660"/>
  </p:normalViewPr>
  <p:slideViewPr>
    <p:cSldViewPr snapToGrid="0">
      <p:cViewPr varScale="1">
        <p:scale>
          <a:sx n="103" d="100"/>
          <a:sy n="103" d="100"/>
        </p:scale>
        <p:origin x="114"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commentAuthors" Target="commentAuthors.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1-03T07:02:11.588" idx="1">
    <p:pos x="10" y="10"/>
    <p:text/>
    <p:extLst>
      <p:ext uri="{C676402C-5697-4E1C-873F-D02D1690AC5C}">
        <p15:threadingInfo xmlns:p15="http://schemas.microsoft.com/office/powerpoint/2012/main" timeZoneBias="-21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B4DB82B6-A0AF-4956-93D8-47A28781D950}" type="datetimeFigureOut">
              <a:rPr lang="fa-IR" smtClean="0"/>
              <a:t>20/06/1446</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563D567E-1C2D-4651-9D10-9816F2E3EBFD}" type="slidenum">
              <a:rPr lang="fa-IR" smtClean="0"/>
              <a:t>‹#›</a:t>
            </a:fld>
            <a:endParaRPr lang="fa-IR"/>
          </a:p>
        </p:txBody>
      </p:sp>
    </p:spTree>
    <p:extLst>
      <p:ext uri="{BB962C8B-B14F-4D97-AF65-F5344CB8AC3E}">
        <p14:creationId xmlns:p14="http://schemas.microsoft.com/office/powerpoint/2010/main" val="3074707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965916" y="2060575"/>
            <a:ext cx="4378816" cy="2974975"/>
          </a:xfrm>
        </p:spPr>
        <p:txBody>
          <a:bodyPr>
            <a:noAutofit/>
          </a:bodyPr>
          <a:lstStyle>
            <a:lvl1pPr marL="0" indent="0" algn="ctr" rtl="1">
              <a:lnSpc>
                <a:spcPct val="150000"/>
              </a:lnSpc>
              <a:buNone/>
              <a:defRPr sz="4800">
                <a:solidFill>
                  <a:schemeClr val="bg1"/>
                </a:solidFill>
                <a:cs typeface="B Titr" panose="00000700000000000000" pitchFamily="2" charset="-78"/>
              </a:defRPr>
            </a:lvl1pPr>
          </a:lstStyle>
          <a:p>
            <a:pPr lvl="0"/>
            <a:r>
              <a:rPr lang="fa-IR" dirty="0"/>
              <a:t>عنوان قالب پاورپوینت معماری</a:t>
            </a:r>
          </a:p>
        </p:txBody>
      </p:sp>
    </p:spTree>
    <p:extLst>
      <p:ext uri="{BB962C8B-B14F-4D97-AF65-F5344CB8AC3E}">
        <p14:creationId xmlns:p14="http://schemas.microsoft.com/office/powerpoint/2010/main" val="83126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592138" y="425002"/>
            <a:ext cx="9312275" cy="785611"/>
          </a:xfrm>
        </p:spPr>
        <p:txBody>
          <a:bodyPr>
            <a:normAutofit/>
          </a:bodyPr>
          <a:lstStyle>
            <a:lvl1pPr marL="0" indent="0" algn="r" rtl="1">
              <a:lnSpc>
                <a:spcPct val="100000"/>
              </a:lnSpc>
              <a:spcBef>
                <a:spcPts val="0"/>
              </a:spcBef>
              <a:buNone/>
              <a:defRPr sz="3600" baseline="0">
                <a:solidFill>
                  <a:schemeClr val="bg1"/>
                </a:solidFill>
                <a:cs typeface="B Titr" panose="00000700000000000000" pitchFamily="2" charset="-78"/>
              </a:defRPr>
            </a:lvl1pPr>
          </a:lstStyle>
          <a:p>
            <a:pPr lvl="0"/>
            <a:r>
              <a:rPr lang="fa-IR" dirty="0"/>
              <a:t>عنوان اسلاید را بنویسید</a:t>
            </a:r>
          </a:p>
        </p:txBody>
      </p:sp>
      <p:sp>
        <p:nvSpPr>
          <p:cNvPr id="10" name="Text Placeholder 9"/>
          <p:cNvSpPr>
            <a:spLocks noGrp="1"/>
          </p:cNvSpPr>
          <p:nvPr>
            <p:ph type="body" sz="quarter" idx="11" hasCustomPrompt="1"/>
          </p:nvPr>
        </p:nvSpPr>
        <p:spPr>
          <a:xfrm>
            <a:off x="592138" y="1828800"/>
            <a:ext cx="10702925" cy="4430713"/>
          </a:xfrm>
        </p:spPr>
        <p:txBody>
          <a:bodyPr/>
          <a:lstStyle>
            <a:lvl1pPr algn="r" rtl="1">
              <a:lnSpc>
                <a:spcPct val="120000"/>
              </a:lnSpc>
              <a:spcAft>
                <a:spcPts val="1200"/>
              </a:spcAft>
              <a:defRPr sz="2400" baseline="0">
                <a:cs typeface="B Nazanin" panose="00000400000000000000" pitchFamily="2" charset="-78"/>
              </a:defRPr>
            </a:lvl1pPr>
            <a:lvl2pPr algn="just" rtl="1">
              <a:lnSpc>
                <a:spcPct val="120000"/>
              </a:lnSpc>
              <a:spcAft>
                <a:spcPts val="1200"/>
              </a:spcAft>
              <a:defRPr sz="2200">
                <a:cs typeface="B Nazanin" panose="00000400000000000000" pitchFamily="2" charset="-78"/>
              </a:defRPr>
            </a:lvl2pPr>
            <a:lvl3pPr algn="just" rtl="1">
              <a:lnSpc>
                <a:spcPct val="120000"/>
              </a:lnSpc>
              <a:spcAft>
                <a:spcPts val="1200"/>
              </a:spcAft>
              <a:defRPr>
                <a:cs typeface="B Nazanin" panose="00000400000000000000" pitchFamily="2" charset="-78"/>
              </a:defRPr>
            </a:lvl3pPr>
          </a:lstStyle>
          <a:p>
            <a:pPr lvl="0"/>
            <a:r>
              <a:rPr lang="fa-IR" dirty="0"/>
              <a:t>متن را بنویسید...</a:t>
            </a:r>
          </a:p>
          <a:p>
            <a:pPr lvl="1"/>
            <a:r>
              <a:rPr lang="fa-IR" dirty="0"/>
              <a:t>متن را بنویسید</a:t>
            </a:r>
          </a:p>
          <a:p>
            <a:pPr lvl="2"/>
            <a:r>
              <a:rPr lang="fa-IR" dirty="0"/>
              <a:t>متن را بنویسید</a:t>
            </a:r>
          </a:p>
        </p:txBody>
      </p:sp>
      <p:sp>
        <p:nvSpPr>
          <p:cNvPr id="11" name="Slide Number Placeholder 5"/>
          <p:cNvSpPr>
            <a:spLocks noGrp="1"/>
          </p:cNvSpPr>
          <p:nvPr>
            <p:ph type="sldNum" sz="quarter" idx="4"/>
          </p:nvPr>
        </p:nvSpPr>
        <p:spPr>
          <a:xfrm>
            <a:off x="592138" y="6356350"/>
            <a:ext cx="2743200" cy="365125"/>
          </a:xfrm>
          <a:prstGeom prst="rect">
            <a:avLst/>
          </a:prstGeom>
        </p:spPr>
        <p:txBody>
          <a:bodyPr vert="horz" lIns="91440" tIns="45720" rIns="91440" bIns="45720" rtlCol="0" anchor="ctr"/>
          <a:lstStyle>
            <a:lvl1pPr algn="l">
              <a:defRPr sz="1400">
                <a:solidFill>
                  <a:schemeClr val="tx1">
                    <a:lumMod val="85000"/>
                    <a:lumOff val="15000"/>
                  </a:schemeClr>
                </a:solidFill>
              </a:defRPr>
            </a:lvl1pPr>
          </a:lstStyle>
          <a:p>
            <a:fld id="{CEACA9B5-9193-4DF2-B446-76F584B62E00}" type="slidenum">
              <a:rPr lang="fa-IR" smtClean="0"/>
              <a:pPr/>
              <a:t>‹#›</a:t>
            </a:fld>
            <a:endParaRPr lang="fa-IR"/>
          </a:p>
        </p:txBody>
      </p:sp>
      <p:sp>
        <p:nvSpPr>
          <p:cNvPr id="12" name="Date Placeholder 3"/>
          <p:cNvSpPr>
            <a:spLocks noGrp="1"/>
          </p:cNvSpPr>
          <p:nvPr>
            <p:ph type="dt" sz="half" idx="2"/>
          </p:nvPr>
        </p:nvSpPr>
        <p:spPr>
          <a:xfrm>
            <a:off x="8551863" y="6356347"/>
            <a:ext cx="2743200" cy="365125"/>
          </a:xfrm>
          <a:prstGeom prst="rect">
            <a:avLst/>
          </a:prstGeom>
        </p:spPr>
        <p:txBody>
          <a:bodyPr vert="horz" lIns="91440" tIns="45720" rIns="91440" bIns="45720" rtlCol="0" anchor="ctr"/>
          <a:lstStyle>
            <a:lvl1pPr algn="r">
              <a:defRPr sz="1400">
                <a:solidFill>
                  <a:schemeClr val="tx1">
                    <a:lumMod val="85000"/>
                    <a:lumOff val="15000"/>
                  </a:schemeClr>
                </a:solidFill>
              </a:defRPr>
            </a:lvl1pPr>
          </a:lstStyle>
          <a:p>
            <a:fld id="{2267EB77-29D3-40CE-8D36-138030338236}" type="datetime8">
              <a:rPr lang="fa-IR" smtClean="0"/>
              <a:t>21 دسامبر 24</a:t>
            </a:fld>
            <a:endParaRPr lang="fa-IR" dirty="0"/>
          </a:p>
        </p:txBody>
      </p:sp>
      <p:sp>
        <p:nvSpPr>
          <p:cNvPr id="13" name="Footer Placeholder 4"/>
          <p:cNvSpPr>
            <a:spLocks noGrp="1"/>
          </p:cNvSpPr>
          <p:nvPr>
            <p:ph type="ftr" sz="quarter" idx="3"/>
          </p:nvPr>
        </p:nvSpPr>
        <p:spPr>
          <a:xfrm>
            <a:off x="3876675" y="6356348"/>
            <a:ext cx="4114800" cy="365125"/>
          </a:xfrm>
          <a:prstGeom prst="rect">
            <a:avLst/>
          </a:prstGeom>
        </p:spPr>
        <p:txBody>
          <a:bodyPr vert="horz" lIns="91440" tIns="45720" rIns="91440" bIns="45720" rtlCol="0" anchor="ctr"/>
          <a:lstStyle>
            <a:lvl1pPr algn="ctr">
              <a:defRPr sz="1400">
                <a:solidFill>
                  <a:schemeClr val="tx1">
                    <a:lumMod val="85000"/>
                    <a:lumOff val="15000"/>
                  </a:schemeClr>
                </a:solidFill>
              </a:defRPr>
            </a:lvl1pPr>
          </a:lstStyle>
          <a:p>
            <a:endParaRPr lang="fa-IR" dirty="0"/>
          </a:p>
        </p:txBody>
      </p:sp>
    </p:spTree>
    <p:extLst>
      <p:ext uri="{BB962C8B-B14F-4D97-AF65-F5344CB8AC3E}">
        <p14:creationId xmlns:p14="http://schemas.microsoft.com/office/powerpoint/2010/main" val="4230473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11" name="Group 10"/>
          <p:cNvGrpSpPr/>
          <p:nvPr userDrawn="1"/>
        </p:nvGrpSpPr>
        <p:grpSpPr>
          <a:xfrm>
            <a:off x="652523" y="403269"/>
            <a:ext cx="10822551" cy="6087684"/>
            <a:chOff x="652523" y="403269"/>
            <a:chExt cx="10822551" cy="60876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52523" y="403269"/>
              <a:ext cx="10822551" cy="6087684"/>
            </a:xfrm>
            <a:prstGeom prst="rect">
              <a:avLst/>
            </a:prstGeom>
          </p:spPr>
        </p:pic>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11155" r="12728"/>
            <a:stretch/>
          </p:blipFill>
          <p:spPr>
            <a:xfrm rot="216666">
              <a:off x="1265028" y="1485338"/>
              <a:ext cx="5126004" cy="3826775"/>
            </a:xfrm>
            <a:prstGeom prst="rect">
              <a:avLst/>
            </a:prstGeom>
            <a:effectLst>
              <a:outerShdw blurRad="50800" dist="38100" dir="8100000" algn="tr" rotWithShape="0">
                <a:prstClr val="black">
                  <a:alpha val="40000"/>
                </a:prstClr>
              </a:outerShdw>
            </a:effectLst>
          </p:spPr>
        </p:pic>
      </p:grpSp>
      <p:sp>
        <p:nvSpPr>
          <p:cNvPr id="9" name="Text Placeholder 7"/>
          <p:cNvSpPr>
            <a:spLocks noGrp="1"/>
          </p:cNvSpPr>
          <p:nvPr>
            <p:ph type="body" sz="quarter" idx="10" hasCustomPrompt="1"/>
          </p:nvPr>
        </p:nvSpPr>
        <p:spPr>
          <a:xfrm>
            <a:off x="6581108" y="2320277"/>
            <a:ext cx="4069720" cy="2482380"/>
          </a:xfrm>
        </p:spPr>
        <p:txBody>
          <a:bodyPr>
            <a:noAutofit/>
          </a:bodyPr>
          <a:lstStyle>
            <a:lvl1pPr marL="0" indent="0" algn="ctr" rtl="1">
              <a:lnSpc>
                <a:spcPct val="150000"/>
              </a:lnSpc>
              <a:buNone/>
              <a:defRPr sz="4800">
                <a:solidFill>
                  <a:schemeClr val="bg1"/>
                </a:solidFill>
                <a:cs typeface="B Titr" panose="00000700000000000000" pitchFamily="2" charset="-78"/>
              </a:defRPr>
            </a:lvl1pPr>
          </a:lstStyle>
          <a:p>
            <a:pPr lvl="0"/>
            <a:r>
              <a:rPr lang="fa-IR" dirty="0"/>
              <a:t>اسلاید تشکر</a:t>
            </a:r>
          </a:p>
        </p:txBody>
      </p:sp>
    </p:spTree>
    <p:extLst>
      <p:ext uri="{BB962C8B-B14F-4D97-AF65-F5344CB8AC3E}">
        <p14:creationId xmlns:p14="http://schemas.microsoft.com/office/powerpoint/2010/main" val="2779146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a-I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647A6A-2493-4B41-8DFB-13B4993766AC}" type="datetime8">
              <a:rPr lang="fa-IR" smtClean="0"/>
              <a:t>21 دسامبر 24</a:t>
            </a:fld>
            <a:endParaRPr lang="fa-I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a-IR"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ACA9B5-9193-4DF2-B446-76F584B62E00}" type="slidenum">
              <a:rPr lang="fa-IR" smtClean="0"/>
              <a:t>‹#›</a:t>
            </a:fld>
            <a:endParaRPr lang="fa-IR"/>
          </a:p>
        </p:txBody>
      </p:sp>
    </p:spTree>
    <p:extLst>
      <p:ext uri="{BB962C8B-B14F-4D97-AF65-F5344CB8AC3E}">
        <p14:creationId xmlns:p14="http://schemas.microsoft.com/office/powerpoint/2010/main" val="3151446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ToseeMaaber(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Shahrdari(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Tamalok(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7.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AeenNameMali(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efazatAzJangal(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Shora(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Efraz(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Taghsimat(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ZaminShahri(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TaeenVaziat(DrMostafaNajafi.ir)%20(1).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Taghvim(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Avarez(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Tunel(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Karbari(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OmranMahali(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Pasmand(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FazayeSabz(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9.webp"/></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TabsareTMade6(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7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RayHeiatavarezTamiratsakhteman(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7.jpg"/></Relationships>
</file>

<file path=ppt/slides/_rels/slide7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TamdidGharardadNezaratTaetmam(DrMostafaNajafi.ir).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7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91904" y="2183390"/>
            <a:ext cx="4883099" cy="2656756"/>
          </a:xfrm>
        </p:spPr>
        <p:txBody>
          <a:bodyPr/>
          <a:lstStyle/>
          <a:p>
            <a:pPr>
              <a:lnSpc>
                <a:spcPct val="100000"/>
              </a:lnSpc>
            </a:pPr>
            <a:r>
              <a:rPr lang="en-US" b="1" dirty="0" err="1">
                <a:latin typeface="_PDMS_Saleem_QuranFont" panose="02010000000000000000" pitchFamily="2" charset="-78"/>
                <a:cs typeface="_PDMS_Saleem_QuranFont" panose="02010000000000000000" pitchFamily="2" charset="-78"/>
              </a:rPr>
              <a:t>قوانین</a:t>
            </a:r>
            <a:endParaRPr lang="en-US" b="1" dirty="0">
              <a:latin typeface="_PDMS_Saleem_QuranFont" panose="02010000000000000000" pitchFamily="2" charset="-78"/>
              <a:cs typeface="_PDMS_Saleem_QuranFont" panose="02010000000000000000" pitchFamily="2" charset="-78"/>
            </a:endParaRPr>
          </a:p>
          <a:p>
            <a:pPr>
              <a:lnSpc>
                <a:spcPct val="100000"/>
              </a:lnSpc>
            </a:pPr>
            <a:r>
              <a:rPr lang="en-US" b="1" dirty="0" err="1">
                <a:latin typeface="_PDMS_Saleem_QuranFont" panose="02010000000000000000" pitchFamily="2" charset="-78"/>
                <a:cs typeface="_PDMS_Saleem_QuranFont" panose="02010000000000000000" pitchFamily="2" charset="-78"/>
              </a:rPr>
              <a:t>شهرداری</a:t>
            </a:r>
            <a:r>
              <a:rPr lang="en-US" b="1" dirty="0">
                <a:latin typeface="_PDMS_Saleem_QuranFont" panose="02010000000000000000" pitchFamily="2" charset="-78"/>
                <a:cs typeface="_PDMS_Saleem_QuranFont" panose="02010000000000000000" pitchFamily="2" charset="-78"/>
              </a:rPr>
              <a:t> </a:t>
            </a:r>
            <a:r>
              <a:rPr lang="fa-IR" b="1" dirty="0">
                <a:latin typeface="_PDMS_Saleem_QuranFont" panose="02010000000000000000" pitchFamily="2" charset="-78"/>
                <a:cs typeface="_PDMS_Saleem_QuranFont" panose="02010000000000000000" pitchFamily="2" charset="-78"/>
              </a:rPr>
              <a:t>و </a:t>
            </a:r>
            <a:r>
              <a:rPr lang="en-US" b="1" dirty="0" err="1">
                <a:latin typeface="_PDMS_Saleem_QuranFont" panose="02010000000000000000" pitchFamily="2" charset="-78"/>
                <a:cs typeface="_PDMS_Saleem_QuranFont" panose="02010000000000000000" pitchFamily="2" charset="-78"/>
              </a:rPr>
              <a:t>شهرسازی</a:t>
            </a:r>
            <a:endParaRPr lang="fa-IR" b="1" dirty="0">
              <a:latin typeface="_PDMS_Saleem_QuranFont" panose="02010000000000000000" pitchFamily="2" charset="-78"/>
              <a:cs typeface="_PDMS_Saleem_QuranFont" panose="02010000000000000000" pitchFamily="2" charset="-78"/>
            </a:endParaRPr>
          </a:p>
        </p:txBody>
      </p:sp>
      <p:sp>
        <p:nvSpPr>
          <p:cNvPr id="5" name="TextBox 4"/>
          <p:cNvSpPr txBox="1"/>
          <p:nvPr/>
        </p:nvSpPr>
        <p:spPr>
          <a:xfrm>
            <a:off x="1927415" y="4547759"/>
            <a:ext cx="2455817" cy="584775"/>
          </a:xfrm>
          <a:prstGeom prst="rect">
            <a:avLst/>
          </a:prstGeom>
          <a:noFill/>
        </p:spPr>
        <p:txBody>
          <a:bodyPr wrap="square" rtlCol="1">
            <a:spAutoFit/>
          </a:bodyPr>
          <a:lstStyle/>
          <a:p>
            <a:pPr algn="ctr"/>
            <a:r>
              <a:rPr lang="en-US" sz="3200" dirty="0" err="1">
                <a:solidFill>
                  <a:schemeClr val="bg1"/>
                </a:solidFill>
                <a:latin typeface="_PDMS_Saleem_QuranFont" panose="02010000000000000000" pitchFamily="2" charset="-78"/>
                <a:cs typeface="_PDMS_Saleem_QuranFont" panose="02010000000000000000" pitchFamily="2" charset="-78"/>
              </a:rPr>
              <a:t>مریم</a:t>
            </a:r>
            <a:r>
              <a:rPr lang="en-US" sz="3200" dirty="0">
                <a:solidFill>
                  <a:schemeClr val="bg1"/>
                </a:solidFill>
                <a:latin typeface="_PDMS_Saleem_QuranFont" panose="02010000000000000000" pitchFamily="2" charset="-78"/>
                <a:cs typeface="_PDMS_Saleem_QuranFont" panose="02010000000000000000" pitchFamily="2" charset="-78"/>
              </a:rPr>
              <a:t> </a:t>
            </a:r>
            <a:r>
              <a:rPr lang="en-US" sz="3200" dirty="0" err="1">
                <a:solidFill>
                  <a:schemeClr val="bg1"/>
                </a:solidFill>
                <a:latin typeface="_PDMS_Saleem_QuranFont" panose="02010000000000000000" pitchFamily="2" charset="-78"/>
                <a:cs typeface="_PDMS_Saleem_QuranFont" panose="02010000000000000000" pitchFamily="2" charset="-78"/>
              </a:rPr>
              <a:t>شفیعی</a:t>
            </a:r>
            <a:endParaRPr lang="fa-IR" sz="3200" dirty="0">
              <a:solidFill>
                <a:schemeClr val="bg1"/>
              </a:solidFill>
              <a:latin typeface="_PDMS_Saleem_QuranFont" panose="02010000000000000000" pitchFamily="2" charset="-78"/>
              <a:cs typeface="_PDMS_Saleem_QuranFont" panose="02010000000000000000" pitchFamily="2" charset="-78"/>
            </a:endParaRPr>
          </a:p>
        </p:txBody>
      </p:sp>
    </p:spTree>
    <p:extLst>
      <p:ext uri="{BB962C8B-B14F-4D97-AF65-F5344CB8AC3E}">
        <p14:creationId xmlns:p14="http://schemas.microsoft.com/office/powerpoint/2010/main" val="332242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fa-IR" b="1" dirty="0">
                <a:cs typeface="B Sara" panose="00000400000000000000" pitchFamily="2" charset="-78"/>
              </a:rPr>
              <a:t>قوانین</a:t>
            </a:r>
          </a:p>
        </p:txBody>
      </p:sp>
      <p:sp>
        <p:nvSpPr>
          <p:cNvPr id="7" name="Slide Number Placeholder 6"/>
          <p:cNvSpPr>
            <a:spLocks noGrp="1"/>
          </p:cNvSpPr>
          <p:nvPr>
            <p:ph type="sldNum" sz="quarter" idx="4"/>
          </p:nvPr>
        </p:nvSpPr>
        <p:spPr/>
        <p:txBody>
          <a:bodyPr/>
          <a:lstStyle/>
          <a:p>
            <a:fld id="{CEACA9B5-9193-4DF2-B446-76F584B62E00}" type="slidenum">
              <a:rPr lang="fa-IR" smtClean="0"/>
              <a:pPr/>
              <a:t>2</a:t>
            </a:fld>
            <a:endParaRPr lang="fa-IR"/>
          </a:p>
        </p:txBody>
      </p:sp>
      <p:sp>
        <p:nvSpPr>
          <p:cNvPr id="8" name="TextBox 7">
            <a:extLst>
              <a:ext uri="{FF2B5EF4-FFF2-40B4-BE49-F238E27FC236}">
                <a16:creationId xmlns:a16="http://schemas.microsoft.com/office/drawing/2014/main" id="{620357CA-B943-48C0-83D8-B68ACE5AEAFB}"/>
              </a:ext>
            </a:extLst>
          </p:cNvPr>
          <p:cNvSpPr txBox="1"/>
          <p:nvPr/>
        </p:nvSpPr>
        <p:spPr>
          <a:xfrm>
            <a:off x="-304799" y="2291635"/>
            <a:ext cx="12276666" cy="3693319"/>
          </a:xfrm>
          <a:prstGeom prst="rect">
            <a:avLst/>
          </a:prstGeom>
          <a:noFill/>
        </p:spPr>
        <p:txBody>
          <a:bodyPr wrap="square">
            <a:spAutoFit/>
          </a:bodyPr>
          <a:lstStyle/>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توسعه معابر | مصوب سال 1320</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 قانون شهرداری | مصوب سال 1334</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مربوط به تملک زمين‌ها برای اجرای برنامه‌های شهرسازی | مصوب سال 1339</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آیين‌نامه مالی شهرداری‌ها | مصوب سال 1346</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حفاظت و بهره‌‌برداری از جنگلها و مراتع | مصوب سال 1346</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نوسازی و عمران شهری | مصوب سال 1347</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تاسيس شورای عالی شهرسازی و معماری ايران | مصوب سال 1351</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افراز و فروش املاك مشاع | مصوب سال 1357</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تعاريف و ضوابط تقسيمات كشوری | مصوب سال 1362</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زمین شهری | مصوب سال 1366</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آیین‌نامه اجرایی تهیه و تصویب طرح‌های هادی روستایی | مصوب سال 1367</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تعيين وضعيت املاک واقع در طرح‌های دولتی و شهرداری‌ها | مصوب سال 1367</a:t>
            </a:r>
          </a:p>
          <a:p>
            <a:pPr marL="342900" indent="-342900" algn="r" rtl="1">
              <a:buClr>
                <a:srgbClr val="FF0000"/>
              </a:buClr>
              <a:buSzPct val="80000"/>
              <a:buFont typeface="+mj-lt"/>
              <a:buAutoNum type="arabicParenR"/>
            </a:pPr>
            <a:r>
              <a:rPr lang="fa-IR" dirty="0">
                <a:latin typeface="Arabic Typesetting" panose="03020402040406030203" pitchFamily="66" charset="-78"/>
                <a:cs typeface="2  Sara" panose="00000400000000000000" pitchFamily="2" charset="-78"/>
              </a:rPr>
              <a:t>قانون نحوه تقويم ابنيه، املاک و اراضی مورد نياز شهرداری‌ها | مصوب سال 1370</a:t>
            </a:r>
          </a:p>
        </p:txBody>
      </p:sp>
    </p:spTree>
    <p:extLst>
      <p:ext uri="{BB962C8B-B14F-4D97-AF65-F5344CB8AC3E}">
        <p14:creationId xmlns:p14="http://schemas.microsoft.com/office/powerpoint/2010/main" val="390974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fa-IR" b="1" dirty="0">
                <a:cs typeface="2  Sara" panose="00000400000000000000" pitchFamily="2" charset="-78"/>
              </a:rPr>
              <a:t>قوانین</a:t>
            </a:r>
          </a:p>
        </p:txBody>
      </p:sp>
      <p:sp>
        <p:nvSpPr>
          <p:cNvPr id="7" name="Slide Number Placeholder 6"/>
          <p:cNvSpPr>
            <a:spLocks noGrp="1"/>
          </p:cNvSpPr>
          <p:nvPr>
            <p:ph type="sldNum" sz="quarter" idx="4"/>
          </p:nvPr>
        </p:nvSpPr>
        <p:spPr/>
        <p:txBody>
          <a:bodyPr/>
          <a:lstStyle/>
          <a:p>
            <a:fld id="{CEACA9B5-9193-4DF2-B446-76F584B62E00}" type="slidenum">
              <a:rPr lang="fa-IR" smtClean="0"/>
              <a:pPr/>
              <a:t>3</a:t>
            </a:fld>
            <a:endParaRPr lang="fa-IR"/>
          </a:p>
        </p:txBody>
      </p:sp>
      <p:sp>
        <p:nvSpPr>
          <p:cNvPr id="8" name="TextBox 7">
            <a:extLst>
              <a:ext uri="{FF2B5EF4-FFF2-40B4-BE49-F238E27FC236}">
                <a16:creationId xmlns:a16="http://schemas.microsoft.com/office/drawing/2014/main" id="{620357CA-B943-48C0-83D8-B68ACE5AEAFB}"/>
              </a:ext>
            </a:extLst>
          </p:cNvPr>
          <p:cNvSpPr txBox="1"/>
          <p:nvPr/>
        </p:nvSpPr>
        <p:spPr>
          <a:xfrm>
            <a:off x="-253999" y="1986835"/>
            <a:ext cx="12276666" cy="3970318"/>
          </a:xfrm>
          <a:prstGeom prst="rect">
            <a:avLst/>
          </a:prstGeom>
          <a:noFill/>
        </p:spPr>
        <p:txBody>
          <a:bodyPr wrap="square">
            <a:spAutoFit/>
          </a:bodyPr>
          <a:lstStyle/>
          <a:p>
            <a:pPr marL="342900" indent="-342900" algn="r" rtl="1">
              <a:buClr>
                <a:srgbClr val="FF0000"/>
              </a:buClr>
              <a:buSzPct val="80000"/>
              <a:buFont typeface="+mj-lt"/>
              <a:buAutoNum type="arabicParenR" startAt="14"/>
            </a:pPr>
            <a:endParaRPr lang="fa-IR" dirty="0">
              <a:latin typeface="Arabic Typesetting" panose="03020402040406030203" pitchFamily="66" charset="-78"/>
              <a:cs typeface="2  Sara" panose="00000400000000000000" pitchFamily="2" charset="-78"/>
            </a:endParaRP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نحوه پرداخت عوارض شهرداری در قراردادهای پیمانکاری | مصوب 1372</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قانون احداث تونل مشترک شهری | مصوب سال 1372</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قانون حفظ کاربری اراضی زراعی و باغ‌ها | مصوب سال 1374</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قانون تشكیلات، وظایف و انتخابات شوراهای اسلامی كشور و انتخاب شهرداران | مصوب سال 1375</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آیین‌نامه نحوه بررسی و تصویب طرح‌های توسعه و عمران محلی، ناحیه‌ای، منطقه‌ای و ملی و مقررات شهرسازی و معماری کشور | مصوب سال 1378</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قانون مدیریت پسماندها | مصوب سال 1383</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آيين‌نامه اجرايی قانون مديريت پسماندها | مصوب سال 1384</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قانون تعاريف محدوده و حريم شهر، روستا و شهرک و نحوه تعيين آنها | مصوب سال 1384</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ضوابط و مقررات ارتقای کیفی سیما و منظر شهری | مصوب سال 1387</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آیین‌نامه قانون اصلاح قانون حفظ و گسترش فضای سبز در شهرها | مصوب سال 1389</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دستورالعمل اجرایی بند (ت) تبصره 6 قانون بودجه سال 1402</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رای هیات عمومی دیوان عدالت اداری درباره غیرقانونی بودن دریافت عوارض تحت عنوان عوارض تعمیرات ساختمان | ۱۴۰۲/۱۰/۰۹</a:t>
            </a:r>
          </a:p>
          <a:p>
            <a:pPr marL="342900" indent="-342900" algn="r" rtl="1">
              <a:buClr>
                <a:srgbClr val="FF0000"/>
              </a:buClr>
              <a:buSzPct val="80000"/>
              <a:buFont typeface="+mj-lt"/>
              <a:buAutoNum type="arabicParenR" startAt="14"/>
            </a:pPr>
            <a:r>
              <a:rPr lang="fa-IR" dirty="0">
                <a:latin typeface="Arabic Typesetting" panose="03020402040406030203" pitchFamily="66" charset="-78"/>
                <a:cs typeface="2  Sara" panose="00000400000000000000" pitchFamily="2" charset="-78"/>
              </a:rPr>
              <a:t>تمدید قراردادهای خدمات نظارت تا اتمام کار</a:t>
            </a:r>
          </a:p>
        </p:txBody>
      </p:sp>
    </p:spTree>
    <p:extLst>
      <p:ext uri="{BB962C8B-B14F-4D97-AF65-F5344CB8AC3E}">
        <p14:creationId xmlns:p14="http://schemas.microsoft.com/office/powerpoint/2010/main" val="144758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اصلاح قانون توسعه معابر</a:t>
            </a:r>
            <a:endParaRPr lang="fa-IR" sz="4400" b="1" dirty="0"/>
          </a:p>
          <a:p>
            <a:pPr algn="ct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4</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36130" y="2293258"/>
            <a:ext cx="5319740" cy="354427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19962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E98FA-0F5E-4A75-951B-89C2F3AD6E9F}"/>
              </a:ext>
            </a:extLst>
          </p:cNvPr>
          <p:cNvSpPr>
            <a:spLocks noGrp="1"/>
          </p:cNvSpPr>
          <p:nvPr>
            <p:ph type="body" sz="quarter" idx="10"/>
          </p:nvPr>
        </p:nvSpPr>
        <p:spPr/>
        <p:txBody>
          <a:bodyPr/>
          <a:lstStyle/>
          <a:p>
            <a:r>
              <a:rPr lang="fa-IR" dirty="0">
                <a:cs typeface="2  Sara" panose="00000400000000000000" pitchFamily="2" charset="-78"/>
              </a:rPr>
              <a:t>قانون اصلاح قانون توسعه معابر</a:t>
            </a:r>
          </a:p>
          <a:p>
            <a:endParaRPr lang="fa-IR" dirty="0">
              <a:cs typeface="2  Sara" panose="00000400000000000000" pitchFamily="2" charset="-78"/>
            </a:endParaRPr>
          </a:p>
          <a:p>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CEA40C3F-5622-4D19-9A2D-A92653DFB5FE}"/>
              </a:ext>
            </a:extLst>
          </p:cNvPr>
          <p:cNvSpPr>
            <a:spLocks noGrp="1"/>
          </p:cNvSpPr>
          <p:nvPr>
            <p:ph type="body" sz="quarter" idx="11"/>
          </p:nvPr>
        </p:nvSpPr>
        <p:spPr/>
        <p:txBody>
          <a:bodyPr>
            <a:normAutofit/>
          </a:bodyPr>
          <a:lstStyle/>
          <a:p>
            <a:pPr marL="457200" indent="-457200" algn="just">
              <a:lnSpc>
                <a:spcPct val="100000"/>
              </a:lnSpc>
              <a:buFont typeface="+mj-lt"/>
              <a:buAutoNum type="arabicPeriod"/>
            </a:pPr>
            <a:r>
              <a:rPr lang="fa-IR" dirty="0"/>
              <a:t>هر گاه شهرداري </a:t>
            </a:r>
            <a:r>
              <a:rPr lang="fa-IR" u="sng" dirty="0"/>
              <a:t>توسعه يا اصلاح يا احداث </a:t>
            </a:r>
            <a:r>
              <a:rPr lang="fa-IR" dirty="0"/>
              <a:t>برزن- خيابان- ميدان- گذر - كوي- انهار يا قنوات را </a:t>
            </a:r>
            <a:r>
              <a:rPr lang="fa-IR" u="sng" dirty="0"/>
              <a:t>براي تسهيل آمد و شد يا زيبائي شهر و يا براي ساير نيازمنديهاي شهر لازم بدانند </a:t>
            </a:r>
            <a:r>
              <a:rPr lang="fa-IR" dirty="0"/>
              <a:t>طبق مقررات اين قانون رفتار خواهد شد.</a:t>
            </a:r>
          </a:p>
          <a:p>
            <a:pPr marL="457200" indent="-457200" algn="just">
              <a:lnSpc>
                <a:spcPct val="100000"/>
              </a:lnSpc>
              <a:buFont typeface="+mj-lt"/>
              <a:buAutoNum type="arabicPeriod"/>
            </a:pPr>
            <a:endParaRPr lang="fa-IR" dirty="0"/>
          </a:p>
          <a:p>
            <a:pPr marL="457200" indent="-457200" algn="just">
              <a:buFont typeface="+mj-lt"/>
              <a:buAutoNum type="arabicPeriod"/>
            </a:pPr>
            <a:r>
              <a:rPr lang="fa-IR" dirty="0"/>
              <a:t>شهرداري مكلف است </a:t>
            </a:r>
            <a:r>
              <a:rPr lang="fa-IR" u="sng" dirty="0"/>
              <a:t>نقشه مورد نظر را تهيه كرده </a:t>
            </a:r>
            <a:r>
              <a:rPr lang="fa-IR" dirty="0"/>
              <a:t>و مقدار متر را تعيين و ارزيابي نموده </a:t>
            </a:r>
            <a:r>
              <a:rPr lang="fa-IR" u="sng" dirty="0"/>
              <a:t>پس از تصويب انجمن شهرداري و فرمانداري محل بوزارت كشور فرستاده</a:t>
            </a:r>
            <a:r>
              <a:rPr lang="fa-IR" dirty="0"/>
              <a:t> و </a:t>
            </a:r>
            <a:r>
              <a:rPr lang="fa-IR" u="sng" dirty="0"/>
              <a:t>وزارت كشور در صورت تصويب آنرا براي اجراء بشهرداري </a:t>
            </a:r>
            <a:r>
              <a:rPr lang="fa-IR" dirty="0"/>
              <a:t>مي فرستد. </a:t>
            </a:r>
          </a:p>
          <a:p>
            <a:pPr marL="457200" indent="-457200" algn="just">
              <a:buFont typeface="+mj-lt"/>
              <a:buAutoNum type="arabicPeriod"/>
            </a:pPr>
            <a:endParaRPr lang="fa-IR" dirty="0"/>
          </a:p>
        </p:txBody>
      </p:sp>
      <p:sp>
        <p:nvSpPr>
          <p:cNvPr id="4" name="Slide Number Placeholder 3">
            <a:extLst>
              <a:ext uri="{FF2B5EF4-FFF2-40B4-BE49-F238E27FC236}">
                <a16:creationId xmlns:a16="http://schemas.microsoft.com/office/drawing/2014/main" id="{8B2FE6F5-20BC-4D15-BC2B-282EF79B2213}"/>
              </a:ext>
            </a:extLst>
          </p:cNvPr>
          <p:cNvSpPr>
            <a:spLocks noGrp="1"/>
          </p:cNvSpPr>
          <p:nvPr>
            <p:ph type="sldNum" sz="quarter" idx="4"/>
          </p:nvPr>
        </p:nvSpPr>
        <p:spPr/>
        <p:txBody>
          <a:bodyPr/>
          <a:lstStyle/>
          <a:p>
            <a:fld id="{CEACA9B5-9193-4DF2-B446-76F584B62E00}" type="slidenum">
              <a:rPr lang="fa-IR" smtClean="0"/>
              <a:pPr/>
              <a:t>5</a:t>
            </a:fld>
            <a:endParaRPr lang="fa-IR"/>
          </a:p>
        </p:txBody>
      </p:sp>
    </p:spTree>
    <p:extLst>
      <p:ext uri="{BB962C8B-B14F-4D97-AF65-F5344CB8AC3E}">
        <p14:creationId xmlns:p14="http://schemas.microsoft.com/office/powerpoint/2010/main" val="565417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E98FA-0F5E-4A75-951B-89C2F3AD6E9F}"/>
              </a:ext>
            </a:extLst>
          </p:cNvPr>
          <p:cNvSpPr>
            <a:spLocks noGrp="1"/>
          </p:cNvSpPr>
          <p:nvPr>
            <p:ph type="body" sz="quarter" idx="10"/>
          </p:nvPr>
        </p:nvSpPr>
        <p:spPr/>
        <p:txBody>
          <a:bodyPr/>
          <a:lstStyle/>
          <a:p>
            <a:r>
              <a:rPr lang="fa-IR" dirty="0">
                <a:cs typeface="2  Sara" panose="00000400000000000000" pitchFamily="2" charset="-78"/>
              </a:rPr>
              <a:t>قانون اصلاح قانون توسعه معابر</a:t>
            </a:r>
          </a:p>
          <a:p>
            <a:endParaRPr lang="fa-IR" dirty="0">
              <a:cs typeface="2  Sara" panose="00000400000000000000" pitchFamily="2" charset="-78"/>
            </a:endParaRPr>
          </a:p>
          <a:p>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CEA40C3F-5622-4D19-9A2D-A92653DFB5FE}"/>
              </a:ext>
            </a:extLst>
          </p:cNvPr>
          <p:cNvSpPr>
            <a:spLocks noGrp="1"/>
          </p:cNvSpPr>
          <p:nvPr>
            <p:ph type="body" sz="quarter" idx="11"/>
          </p:nvPr>
        </p:nvSpPr>
        <p:spPr/>
        <p:txBody>
          <a:bodyPr>
            <a:normAutofit/>
          </a:bodyPr>
          <a:lstStyle/>
          <a:p>
            <a:pPr marL="0" indent="0" algn="just">
              <a:buNone/>
            </a:pPr>
            <a:r>
              <a:rPr lang="fa-IR" dirty="0"/>
              <a:t>ماده پنجم- نسبت ب</a:t>
            </a:r>
            <a:r>
              <a:rPr lang="fa-IR" u="sng" dirty="0"/>
              <a:t>موقوفات</a:t>
            </a:r>
            <a:r>
              <a:rPr lang="fa-IR" dirty="0"/>
              <a:t> با </a:t>
            </a:r>
            <a:r>
              <a:rPr lang="fa-IR" u="sng" dirty="0"/>
              <a:t>اطلاع و نظارت اداره اوقاف شهرداري </a:t>
            </a:r>
            <a:r>
              <a:rPr lang="fa-IR" dirty="0"/>
              <a:t>ملك مورد نيازمندي خود را </a:t>
            </a:r>
            <a:r>
              <a:rPr lang="fa-IR" u="sng" dirty="0"/>
              <a:t>از متولي يا متصدي موقوفه خريداري خواهد نمود.</a:t>
            </a:r>
          </a:p>
          <a:p>
            <a:pPr marL="0" indent="0" algn="just">
              <a:buNone/>
            </a:pPr>
            <a:r>
              <a:rPr lang="fa-IR" dirty="0"/>
              <a:t>ماده ششم- </a:t>
            </a:r>
            <a:r>
              <a:rPr lang="fa-IR" u="sng" dirty="0"/>
              <a:t>عمارات مسكوني كه صاحبان آن پروانه ساختمان از شهرداري گرفته و ساخته اند</a:t>
            </a:r>
            <a:r>
              <a:rPr lang="fa-IR" dirty="0"/>
              <a:t> هر گاه در نتيجه تصميم شهرداري بتوسعه يا احداث شارع يا ميدان </a:t>
            </a:r>
            <a:r>
              <a:rPr lang="fa-IR" u="sng" dirty="0"/>
              <a:t>تا ده سال از تاريخ صدور </a:t>
            </a:r>
            <a:r>
              <a:rPr lang="fa-IR" dirty="0"/>
              <a:t>اجازه خراب كردن آن لازم شود بهاي آن را شهرداري نقداً ميپردازد مگر اينكه مالك باقساط رضايت دهد</a:t>
            </a:r>
          </a:p>
        </p:txBody>
      </p:sp>
      <p:sp>
        <p:nvSpPr>
          <p:cNvPr id="4" name="Slide Number Placeholder 3">
            <a:extLst>
              <a:ext uri="{FF2B5EF4-FFF2-40B4-BE49-F238E27FC236}">
                <a16:creationId xmlns:a16="http://schemas.microsoft.com/office/drawing/2014/main" id="{8B2FE6F5-20BC-4D15-BC2B-282EF79B2213}"/>
              </a:ext>
            </a:extLst>
          </p:cNvPr>
          <p:cNvSpPr>
            <a:spLocks noGrp="1"/>
          </p:cNvSpPr>
          <p:nvPr>
            <p:ph type="sldNum" sz="quarter" idx="4"/>
          </p:nvPr>
        </p:nvSpPr>
        <p:spPr/>
        <p:txBody>
          <a:bodyPr/>
          <a:lstStyle/>
          <a:p>
            <a:fld id="{CEACA9B5-9193-4DF2-B446-76F584B62E00}" type="slidenum">
              <a:rPr lang="fa-IR" smtClean="0"/>
              <a:pPr/>
              <a:t>6</a:t>
            </a:fld>
            <a:endParaRPr lang="fa-IR"/>
          </a:p>
        </p:txBody>
      </p:sp>
    </p:spTree>
    <p:extLst>
      <p:ext uri="{BB962C8B-B14F-4D97-AF65-F5344CB8AC3E}">
        <p14:creationId xmlns:p14="http://schemas.microsoft.com/office/powerpoint/2010/main" val="1737982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E98FA-0F5E-4A75-951B-89C2F3AD6E9F}"/>
              </a:ext>
            </a:extLst>
          </p:cNvPr>
          <p:cNvSpPr>
            <a:spLocks noGrp="1"/>
          </p:cNvSpPr>
          <p:nvPr>
            <p:ph type="body" sz="quarter" idx="10"/>
          </p:nvPr>
        </p:nvSpPr>
        <p:spPr/>
        <p:txBody>
          <a:bodyPr/>
          <a:lstStyle/>
          <a:p>
            <a:r>
              <a:rPr lang="fa-IR" dirty="0">
                <a:cs typeface="2  Sara" panose="00000400000000000000" pitchFamily="2" charset="-78"/>
              </a:rPr>
              <a:t>قانون اصلاح قانون توسعه معابر</a:t>
            </a:r>
          </a:p>
          <a:p>
            <a:endParaRPr lang="fa-IR" dirty="0">
              <a:cs typeface="2  Sara" panose="00000400000000000000" pitchFamily="2" charset="-78"/>
            </a:endParaRPr>
          </a:p>
          <a:p>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CEA40C3F-5622-4D19-9A2D-A92653DFB5FE}"/>
              </a:ext>
            </a:extLst>
          </p:cNvPr>
          <p:cNvSpPr>
            <a:spLocks noGrp="1"/>
          </p:cNvSpPr>
          <p:nvPr>
            <p:ph type="body" sz="quarter" idx="11"/>
          </p:nvPr>
        </p:nvSpPr>
        <p:spPr/>
        <p:txBody>
          <a:bodyPr>
            <a:normAutofit/>
          </a:bodyPr>
          <a:lstStyle/>
          <a:p>
            <a:pPr marL="0" indent="0" algn="just">
              <a:buNone/>
            </a:pPr>
            <a:r>
              <a:rPr lang="fa-IR" dirty="0"/>
              <a:t>ماده هفتم- </a:t>
            </a:r>
            <a:r>
              <a:rPr lang="fa-IR" u="sng" dirty="0"/>
              <a:t>در صورتيكه از ملك يا موقوفه</a:t>
            </a:r>
            <a:r>
              <a:rPr lang="fa-IR" dirty="0"/>
              <a:t> علاوه بر آنچه جزو گذر يا ميدان و ساير نيازمنديهاي شهري ميشود </a:t>
            </a:r>
            <a:r>
              <a:rPr lang="fa-IR" u="sng" dirty="0"/>
              <a:t>مقداري باقي بماند </a:t>
            </a:r>
            <a:r>
              <a:rPr lang="fa-IR" dirty="0"/>
              <a:t>كه با وضعيت حاضر مورد استفاده و انتفاع نبوده يا </a:t>
            </a:r>
            <a:r>
              <a:rPr lang="fa-IR" u="sng" dirty="0"/>
              <a:t>قابليت ساختمان جديد نداشته باشد </a:t>
            </a:r>
            <a:r>
              <a:rPr lang="fa-IR" dirty="0"/>
              <a:t>بتكليف مالك يا متولي شهرداري بايد باقي مانده را بميزان بهاي زميني كه جزو گذر شده خريداري نمايد و اگر پاكيزگي و زيبائي خيابان يا گذر ايجاب نمايد كه جلو آن ديوار كشيده شود مالك مجاور نميتواند از كشيدن ديوار ممانعت كند.</a:t>
            </a:r>
          </a:p>
          <a:p>
            <a:pPr marL="0" indent="0" algn="just">
              <a:buNone/>
            </a:pPr>
            <a:r>
              <a:rPr lang="fa-IR" dirty="0"/>
              <a:t> ماده هشتم- </a:t>
            </a:r>
            <a:r>
              <a:rPr lang="fa-IR" u="sng" dirty="0"/>
              <a:t>هر گاه بر اثر عمليات شهرداري ملكي مشرف بخيابان و گذر شود يا ملكي كه مشرف بخيابان و گذر بوده بر اثر توسعه مرغوب گردد</a:t>
            </a:r>
            <a:r>
              <a:rPr lang="fa-IR" dirty="0"/>
              <a:t> و در نتيجه اين مرغوبيت بيش از صدي ده افزايش بها حاصل كند </a:t>
            </a:r>
            <a:r>
              <a:rPr lang="fa-IR" u="sng" dirty="0"/>
              <a:t>اين افزايش بوسيله كارشناس ارزيابي خواهد شد و مالك ملك نامبرده مكلف است يك سوم افزايش حاصله را بشهرداري نقداً و يا بترتيب اقساط بپردازد.</a:t>
            </a:r>
          </a:p>
        </p:txBody>
      </p:sp>
      <p:sp>
        <p:nvSpPr>
          <p:cNvPr id="4" name="Slide Number Placeholder 3">
            <a:extLst>
              <a:ext uri="{FF2B5EF4-FFF2-40B4-BE49-F238E27FC236}">
                <a16:creationId xmlns:a16="http://schemas.microsoft.com/office/drawing/2014/main" id="{8B2FE6F5-20BC-4D15-BC2B-282EF79B2213}"/>
              </a:ext>
            </a:extLst>
          </p:cNvPr>
          <p:cNvSpPr>
            <a:spLocks noGrp="1"/>
          </p:cNvSpPr>
          <p:nvPr>
            <p:ph type="sldNum" sz="quarter" idx="4"/>
          </p:nvPr>
        </p:nvSpPr>
        <p:spPr/>
        <p:txBody>
          <a:bodyPr/>
          <a:lstStyle/>
          <a:p>
            <a:fld id="{CEACA9B5-9193-4DF2-B446-76F584B62E00}" type="slidenum">
              <a:rPr lang="fa-IR" smtClean="0"/>
              <a:pPr/>
              <a:t>7</a:t>
            </a:fld>
            <a:endParaRPr lang="fa-IR"/>
          </a:p>
        </p:txBody>
      </p:sp>
    </p:spTree>
    <p:extLst>
      <p:ext uri="{BB962C8B-B14F-4D97-AF65-F5344CB8AC3E}">
        <p14:creationId xmlns:p14="http://schemas.microsoft.com/office/powerpoint/2010/main" val="673523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E98FA-0F5E-4A75-951B-89C2F3AD6E9F}"/>
              </a:ext>
            </a:extLst>
          </p:cNvPr>
          <p:cNvSpPr>
            <a:spLocks noGrp="1"/>
          </p:cNvSpPr>
          <p:nvPr>
            <p:ph type="body" sz="quarter" idx="10"/>
          </p:nvPr>
        </p:nvSpPr>
        <p:spPr/>
        <p:txBody>
          <a:bodyPr/>
          <a:lstStyle/>
          <a:p>
            <a:r>
              <a:rPr lang="fa-IR" dirty="0">
                <a:cs typeface="2  Sara" panose="00000400000000000000" pitchFamily="2" charset="-78"/>
              </a:rPr>
              <a:t>قانون اصلاح قانون توسعه معابر</a:t>
            </a:r>
          </a:p>
          <a:p>
            <a:endParaRPr lang="fa-IR" dirty="0">
              <a:cs typeface="2  Sara" panose="00000400000000000000" pitchFamily="2" charset="-78"/>
            </a:endParaRPr>
          </a:p>
          <a:p>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CEA40C3F-5622-4D19-9A2D-A92653DFB5FE}"/>
              </a:ext>
            </a:extLst>
          </p:cNvPr>
          <p:cNvSpPr>
            <a:spLocks noGrp="1"/>
          </p:cNvSpPr>
          <p:nvPr>
            <p:ph type="body" sz="quarter" idx="11"/>
          </p:nvPr>
        </p:nvSpPr>
        <p:spPr/>
        <p:txBody>
          <a:bodyPr>
            <a:normAutofit/>
          </a:bodyPr>
          <a:lstStyle/>
          <a:p>
            <a:pPr marL="0" indent="0" algn="just">
              <a:buNone/>
            </a:pPr>
            <a:r>
              <a:rPr lang="fa-IR" dirty="0"/>
              <a:t>ماده يازدهم- </a:t>
            </a:r>
            <a:r>
              <a:rPr lang="fa-IR" u="sng" dirty="0"/>
              <a:t>ساختن كف سواره روهاي معابر </a:t>
            </a:r>
            <a:r>
              <a:rPr lang="fa-IR" dirty="0"/>
              <a:t>از سنگ يا اسفالت و امثال آن </a:t>
            </a:r>
            <a:r>
              <a:rPr lang="fa-IR" u="sng" dirty="0"/>
              <a:t>بهزينه شهرداري </a:t>
            </a:r>
            <a:r>
              <a:rPr lang="fa-IR" dirty="0"/>
              <a:t>و ساختمان پياده رو يا </a:t>
            </a:r>
            <a:r>
              <a:rPr lang="fa-IR" u="sng" dirty="0"/>
              <a:t>كوچه هائيكه عرض آنها از هفت متر كمتر </a:t>
            </a:r>
            <a:r>
              <a:rPr lang="fa-IR" dirty="0"/>
              <a:t>و قابليت پياده روسازي ندارد با </a:t>
            </a:r>
            <a:r>
              <a:rPr lang="fa-IR" u="sng" dirty="0"/>
              <a:t>مالكين مجاور يا نمايندگان قانوني آنها </a:t>
            </a:r>
            <a:r>
              <a:rPr lang="fa-IR" dirty="0"/>
              <a:t>خواهد بود.</a:t>
            </a:r>
          </a:p>
          <a:p>
            <a:pPr marL="0" indent="0" algn="just">
              <a:buNone/>
            </a:pPr>
            <a:r>
              <a:rPr lang="fa-IR" dirty="0"/>
              <a:t>ماده پانزدهم –آئين نامه هاي وابسته باين قانون پس از تصويب هيئت وزيران بموقع اجرا گذاشته ميشود.</a:t>
            </a:r>
          </a:p>
          <a:p>
            <a:pPr marL="0" indent="0" algn="just">
              <a:buNone/>
            </a:pPr>
            <a:r>
              <a:rPr lang="fa-IR" dirty="0"/>
              <a:t>ماده شانزدهم- وزارت كشور و وزارت دادگستري مأمور اجراي اين قانون ميباشد. </a:t>
            </a:r>
          </a:p>
          <a:p>
            <a:pPr marL="0" indent="0" algn="just">
              <a:buNone/>
            </a:pPr>
            <a:endParaRPr lang="fa-IR" dirty="0"/>
          </a:p>
        </p:txBody>
      </p:sp>
      <p:sp>
        <p:nvSpPr>
          <p:cNvPr id="4" name="Slide Number Placeholder 3">
            <a:extLst>
              <a:ext uri="{FF2B5EF4-FFF2-40B4-BE49-F238E27FC236}">
                <a16:creationId xmlns:a16="http://schemas.microsoft.com/office/drawing/2014/main" id="{8B2FE6F5-20BC-4D15-BC2B-282EF79B2213}"/>
              </a:ext>
            </a:extLst>
          </p:cNvPr>
          <p:cNvSpPr>
            <a:spLocks noGrp="1"/>
          </p:cNvSpPr>
          <p:nvPr>
            <p:ph type="sldNum" sz="quarter" idx="4"/>
          </p:nvPr>
        </p:nvSpPr>
        <p:spPr/>
        <p:txBody>
          <a:bodyPr/>
          <a:lstStyle/>
          <a:p>
            <a:fld id="{CEACA9B5-9193-4DF2-B446-76F584B62E00}" type="slidenum">
              <a:rPr lang="fa-IR" smtClean="0"/>
              <a:pPr/>
              <a:t>8</a:t>
            </a:fld>
            <a:endParaRPr lang="fa-IR"/>
          </a:p>
        </p:txBody>
      </p:sp>
    </p:spTree>
    <p:extLst>
      <p:ext uri="{BB962C8B-B14F-4D97-AF65-F5344CB8AC3E}">
        <p14:creationId xmlns:p14="http://schemas.microsoft.com/office/powerpoint/2010/main" val="3914630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شهرداری</a:t>
            </a:r>
            <a:endParaRPr lang="fa-IR" sz="4400" b="1" dirty="0"/>
          </a:p>
          <a:p>
            <a:pPr algn="ct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9</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75942" y="2440668"/>
            <a:ext cx="6040111" cy="339252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007261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C6A2B3-4CDB-406C-A76F-484986C5B324}"/>
              </a:ext>
            </a:extLst>
          </p:cNvPr>
          <p:cNvSpPr>
            <a:spLocks noGrp="1"/>
          </p:cNvSpPr>
          <p:nvPr>
            <p:ph type="body" sz="quarter" idx="10"/>
          </p:nvPr>
        </p:nvSpPr>
        <p:spPr/>
        <p:txBody>
          <a:bodyPr/>
          <a:lstStyle/>
          <a:p>
            <a:r>
              <a:rPr lang="fa-IR" sz="3600" dirty="0">
                <a:latin typeface="Arabic Typesetting" panose="03020402040406030203" pitchFamily="66" charset="-78"/>
                <a:cs typeface="2  Sara" panose="00000400000000000000" pitchFamily="2" charset="-78"/>
              </a:rPr>
              <a:t>قانون شهرداری</a:t>
            </a:r>
            <a:endParaRPr lang="fa-IR" sz="3600" dirty="0"/>
          </a:p>
          <a:p>
            <a:pPr algn="ctr"/>
            <a:endParaRPr lang="en-US" sz="3600" dirty="0"/>
          </a:p>
          <a:p>
            <a:endParaRPr lang="en-US" dirty="0"/>
          </a:p>
        </p:txBody>
      </p:sp>
      <p:sp>
        <p:nvSpPr>
          <p:cNvPr id="3" name="Text Placeholder 2">
            <a:extLst>
              <a:ext uri="{FF2B5EF4-FFF2-40B4-BE49-F238E27FC236}">
                <a16:creationId xmlns:a16="http://schemas.microsoft.com/office/drawing/2014/main" id="{61250BE3-756C-4BD0-8A08-1F6EFEC8DBBD}"/>
              </a:ext>
            </a:extLst>
          </p:cNvPr>
          <p:cNvSpPr>
            <a:spLocks noGrp="1"/>
          </p:cNvSpPr>
          <p:nvPr>
            <p:ph type="body" sz="quarter" idx="11"/>
          </p:nvPr>
        </p:nvSpPr>
        <p:spPr/>
        <p:txBody>
          <a:bodyPr>
            <a:normAutofit/>
          </a:bodyPr>
          <a:lstStyle/>
          <a:p>
            <a:r>
              <a:rPr lang="fa-IR" dirty="0"/>
              <a:t>تاسيس شهرداري</a:t>
            </a:r>
          </a:p>
          <a:p>
            <a:r>
              <a:rPr lang="fa-IR" dirty="0"/>
              <a:t>انتخابات انجمن شهر</a:t>
            </a:r>
          </a:p>
          <a:p>
            <a:r>
              <a:rPr lang="fa-IR" dirty="0"/>
              <a:t>تشكيل انجمن شهر:</a:t>
            </a:r>
          </a:p>
          <a:p>
            <a:pPr marL="0" indent="0">
              <a:buNone/>
            </a:pPr>
            <a:r>
              <a:rPr lang="fa-IR" dirty="0"/>
              <a:t>الف- انتخابات هيئت رييسه</a:t>
            </a:r>
          </a:p>
          <a:p>
            <a:pPr marL="0" indent="0">
              <a:buNone/>
            </a:pPr>
            <a:r>
              <a:rPr lang="fa-IR" dirty="0"/>
              <a:t>ب- رسميت جلسات انجمن شهر و طرز تشكيل آن</a:t>
            </a:r>
          </a:p>
          <a:p>
            <a:r>
              <a:rPr lang="fa-IR" dirty="0"/>
              <a:t>وظايف انجمن</a:t>
            </a:r>
          </a:p>
          <a:p>
            <a:endParaRPr lang="en-US" dirty="0"/>
          </a:p>
        </p:txBody>
      </p:sp>
      <p:sp>
        <p:nvSpPr>
          <p:cNvPr id="4" name="Slide Number Placeholder 3">
            <a:extLst>
              <a:ext uri="{FF2B5EF4-FFF2-40B4-BE49-F238E27FC236}">
                <a16:creationId xmlns:a16="http://schemas.microsoft.com/office/drawing/2014/main" id="{DB1AFF8E-E0E7-4622-90DC-1587270C78F4}"/>
              </a:ext>
            </a:extLst>
          </p:cNvPr>
          <p:cNvSpPr>
            <a:spLocks noGrp="1"/>
          </p:cNvSpPr>
          <p:nvPr>
            <p:ph type="sldNum" sz="quarter" idx="4"/>
          </p:nvPr>
        </p:nvSpPr>
        <p:spPr/>
        <p:txBody>
          <a:bodyPr/>
          <a:lstStyle/>
          <a:p>
            <a:fld id="{CEACA9B5-9193-4DF2-B446-76F584B62E00}" type="slidenum">
              <a:rPr lang="fa-IR" smtClean="0"/>
              <a:pPr/>
              <a:t>10</a:t>
            </a:fld>
            <a:endParaRPr lang="fa-IR"/>
          </a:p>
        </p:txBody>
      </p:sp>
    </p:spTree>
    <p:extLst>
      <p:ext uri="{BB962C8B-B14F-4D97-AF65-F5344CB8AC3E}">
        <p14:creationId xmlns:p14="http://schemas.microsoft.com/office/powerpoint/2010/main" val="830511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C6A2B3-4CDB-406C-A76F-484986C5B324}"/>
              </a:ext>
            </a:extLst>
          </p:cNvPr>
          <p:cNvSpPr>
            <a:spLocks noGrp="1"/>
          </p:cNvSpPr>
          <p:nvPr>
            <p:ph type="body" sz="quarter" idx="10"/>
          </p:nvPr>
        </p:nvSpPr>
        <p:spPr/>
        <p:txBody>
          <a:bodyPr/>
          <a:lstStyle/>
          <a:p>
            <a:r>
              <a:rPr lang="fa-IR" sz="3600" dirty="0">
                <a:latin typeface="Arabic Typesetting" panose="03020402040406030203" pitchFamily="66" charset="-78"/>
                <a:cs typeface="2  Sara" panose="00000400000000000000" pitchFamily="2" charset="-78"/>
              </a:rPr>
              <a:t>قانون شهرداری</a:t>
            </a:r>
            <a:endParaRPr lang="fa-IR" sz="3600" dirty="0"/>
          </a:p>
          <a:p>
            <a:pPr algn="ctr"/>
            <a:endParaRPr lang="en-US" sz="3600" dirty="0"/>
          </a:p>
          <a:p>
            <a:endParaRPr lang="en-US" dirty="0"/>
          </a:p>
        </p:txBody>
      </p:sp>
      <p:sp>
        <p:nvSpPr>
          <p:cNvPr id="3" name="Text Placeholder 2">
            <a:extLst>
              <a:ext uri="{FF2B5EF4-FFF2-40B4-BE49-F238E27FC236}">
                <a16:creationId xmlns:a16="http://schemas.microsoft.com/office/drawing/2014/main" id="{61250BE3-756C-4BD0-8A08-1F6EFEC8DBBD}"/>
              </a:ext>
            </a:extLst>
          </p:cNvPr>
          <p:cNvSpPr>
            <a:spLocks noGrp="1"/>
          </p:cNvSpPr>
          <p:nvPr>
            <p:ph type="body" sz="quarter" idx="11"/>
          </p:nvPr>
        </p:nvSpPr>
        <p:spPr/>
        <p:txBody>
          <a:bodyPr>
            <a:normAutofit/>
          </a:bodyPr>
          <a:lstStyle/>
          <a:p>
            <a:r>
              <a:rPr lang="fa-IR" dirty="0"/>
              <a:t>انتخاب شهردار و معاون شهرداري</a:t>
            </a:r>
          </a:p>
          <a:p>
            <a:r>
              <a:rPr lang="fa-IR" dirty="0"/>
              <a:t>وظايف شهرداري</a:t>
            </a:r>
          </a:p>
          <a:p>
            <a:r>
              <a:rPr lang="fa-IR" dirty="0"/>
              <a:t>مقررات استخد امی و مالی</a:t>
            </a:r>
          </a:p>
          <a:p>
            <a:r>
              <a:rPr lang="fa-IR" dirty="0"/>
              <a:t>مقررات جزايی</a:t>
            </a:r>
          </a:p>
        </p:txBody>
      </p:sp>
      <p:sp>
        <p:nvSpPr>
          <p:cNvPr id="4" name="Slide Number Placeholder 3">
            <a:extLst>
              <a:ext uri="{FF2B5EF4-FFF2-40B4-BE49-F238E27FC236}">
                <a16:creationId xmlns:a16="http://schemas.microsoft.com/office/drawing/2014/main" id="{DB1AFF8E-E0E7-4622-90DC-1587270C78F4}"/>
              </a:ext>
            </a:extLst>
          </p:cNvPr>
          <p:cNvSpPr>
            <a:spLocks noGrp="1"/>
          </p:cNvSpPr>
          <p:nvPr>
            <p:ph type="sldNum" sz="quarter" idx="4"/>
          </p:nvPr>
        </p:nvSpPr>
        <p:spPr/>
        <p:txBody>
          <a:bodyPr/>
          <a:lstStyle/>
          <a:p>
            <a:fld id="{CEACA9B5-9193-4DF2-B446-76F584B62E00}" type="slidenum">
              <a:rPr lang="fa-IR" smtClean="0"/>
              <a:pPr/>
              <a:t>11</a:t>
            </a:fld>
            <a:endParaRPr lang="fa-IR"/>
          </a:p>
        </p:txBody>
      </p:sp>
    </p:spTree>
    <p:extLst>
      <p:ext uri="{BB962C8B-B14F-4D97-AF65-F5344CB8AC3E}">
        <p14:creationId xmlns:p14="http://schemas.microsoft.com/office/powerpoint/2010/main" val="827019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3200" b="1" dirty="0">
                <a:latin typeface="Arabic Typesetting" panose="03020402040406030203" pitchFamily="66" charset="-78"/>
                <a:cs typeface="2  Sara" panose="00000400000000000000" pitchFamily="2" charset="-78"/>
                <a:hlinkClick r:id="rId3" action="ppaction://hlinkfile"/>
              </a:rPr>
              <a:t>قانون مربوط به تملک زمين‌ها برای اجرای برنامه‌های شهرسازی</a:t>
            </a:r>
            <a:endParaRPr lang="en-US" sz="5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12</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98883" y="2307772"/>
            <a:ext cx="5594233" cy="3496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289300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CABAB91-69BA-45F3-8319-86D0C6FFB4E4}"/>
              </a:ext>
            </a:extLst>
          </p:cNvPr>
          <p:cNvSpPr>
            <a:spLocks noGrp="1"/>
          </p:cNvSpPr>
          <p:nvPr>
            <p:ph type="body" sz="quarter" idx="11"/>
          </p:nvPr>
        </p:nvSpPr>
        <p:spPr/>
        <p:txBody>
          <a:bodyPr>
            <a:normAutofit fontScale="92500" lnSpcReduction="20000"/>
          </a:bodyPr>
          <a:lstStyle/>
          <a:p>
            <a:pPr marL="0" indent="0" algn="just">
              <a:buNone/>
            </a:pPr>
            <a:r>
              <a:rPr lang="fa-IR" dirty="0"/>
              <a:t>ماده 1 - بدولت اجازه داده ميشود در هر مورد زمينهائي را كه براي اجراي برنامه</a:t>
            </a:r>
            <a:r>
              <a:rPr lang="en-US" dirty="0"/>
              <a:t> </a:t>
            </a:r>
            <a:r>
              <a:rPr lang="fa-IR" dirty="0"/>
              <a:t>هاي شهر سازي و خانه</a:t>
            </a:r>
            <a:r>
              <a:rPr lang="en-US" dirty="0"/>
              <a:t> </a:t>
            </a:r>
            <a:r>
              <a:rPr lang="fa-IR" dirty="0"/>
              <a:t>سازي لازم و ضروري تشخيص ميدهد و همچنين محلاتي را كه بعلل شهر سازي و بهداشتي بايد تخريب و تجديد بنا گردد پس از پرداخت بهاي عادله بشرح زير تملك و تصرف نمايد :</a:t>
            </a:r>
          </a:p>
          <a:p>
            <a:pPr marL="0" indent="0" algn="just">
              <a:buNone/>
            </a:pPr>
            <a:r>
              <a:rPr lang="fa-IR" dirty="0"/>
              <a:t>تبصره 1 - بهاي عادله عبارتست از قيمت اراضي يكسال قبل از تاريخ اعلام تصميم دولت چنانچه اين بها از بهاي روز بيشتر باشد قيمت عادله روز ملاك عمل قرار خواهد گرفت بهاي عادله بدون در نظر گرفتن منظور از خريد و تأثير اجراي برنامههاي شهر سازي و خانه سازي در قيمها ]قيمتها[ خواهد بود .</a:t>
            </a:r>
          </a:p>
          <a:p>
            <a:pPr marL="0" indent="0" algn="just">
              <a:buNone/>
            </a:pPr>
            <a:r>
              <a:rPr lang="fa-IR" dirty="0"/>
              <a:t>تبصره 2 - بهاي عادله توسط كميسيون كارشناسي مركب از سه نفر تعيين ميشود كه يكنفر از طرف دولت نفر دوم از طرف مالك يا مالكين و نف رسوم برضايت طرفين و در صورت عدم توافق يا استنكاف در تهران از طرف دادستان كل و در ساير نقاط از طرف دادستان شهرستان هر محل انتخاب ميشوند . رأي اكثريت هيأت مزبور قطعي و لازمالاجراء است هر گاه مالك يا مالكين كارشناس خود را حداكثر ظرف روز از تاريخ اعلام دولت تعيين نكند دادستان كل با دادستان شهرستان بشرح فوق اين وظيفه را انجام خواهند داد</a:t>
            </a:r>
            <a:endParaRPr lang="en-US" dirty="0"/>
          </a:p>
        </p:txBody>
      </p:sp>
      <p:sp>
        <p:nvSpPr>
          <p:cNvPr id="4" name="Slide Number Placeholder 3">
            <a:extLst>
              <a:ext uri="{FF2B5EF4-FFF2-40B4-BE49-F238E27FC236}">
                <a16:creationId xmlns:a16="http://schemas.microsoft.com/office/drawing/2014/main" id="{634E1A1E-47BF-4EE3-BE9E-03DBDAD18BD3}"/>
              </a:ext>
            </a:extLst>
          </p:cNvPr>
          <p:cNvSpPr>
            <a:spLocks noGrp="1"/>
          </p:cNvSpPr>
          <p:nvPr>
            <p:ph type="sldNum" sz="quarter" idx="4"/>
          </p:nvPr>
        </p:nvSpPr>
        <p:spPr/>
        <p:txBody>
          <a:bodyPr/>
          <a:lstStyle/>
          <a:p>
            <a:fld id="{CEACA9B5-9193-4DF2-B446-76F584B62E00}" type="slidenum">
              <a:rPr lang="fa-IR" smtClean="0"/>
              <a:pPr/>
              <a:t>13</a:t>
            </a:fld>
            <a:endParaRPr lang="fa-IR"/>
          </a:p>
        </p:txBody>
      </p:sp>
      <p:sp>
        <p:nvSpPr>
          <p:cNvPr id="7" name="Text Placeholder 1">
            <a:extLst>
              <a:ext uri="{FF2B5EF4-FFF2-40B4-BE49-F238E27FC236}">
                <a16:creationId xmlns:a16="http://schemas.microsoft.com/office/drawing/2014/main" id="{40551E61-8B08-4DD1-A480-6E27AEF0EFCD}"/>
              </a:ext>
            </a:extLst>
          </p:cNvPr>
          <p:cNvSpPr txBox="1">
            <a:spLocks/>
          </p:cNvSpPr>
          <p:nvPr/>
        </p:nvSpPr>
        <p:spPr>
          <a:xfrm>
            <a:off x="592138" y="513820"/>
            <a:ext cx="9312275" cy="785611"/>
          </a:xfrm>
          <a:prstGeom prst="rect">
            <a:avLst/>
          </a:prstGeom>
        </p:spPr>
        <p:txBody>
          <a:bodyPr vert="horz" lIns="91440" tIns="45720" rIns="91440" bIns="45720" rtlCol="0">
            <a:normAutofit fontScale="85000" lnSpcReduction="10000"/>
          </a:bodyPr>
          <a:lstStyle>
            <a:lvl1pPr marL="0" indent="0" algn="r" defTabSz="914400" rtl="1" eaLnBrk="1" latinLnBrk="0" hangingPunct="1">
              <a:lnSpc>
                <a:spcPct val="100000"/>
              </a:lnSpc>
              <a:spcBef>
                <a:spcPts val="0"/>
              </a:spcBef>
              <a:buFont typeface="Arial" panose="020B0604020202020204" pitchFamily="34" charset="0"/>
              <a:buNone/>
              <a:defRPr sz="3600" kern="1200" baseline="0">
                <a:solidFill>
                  <a:schemeClr val="bg1"/>
                </a:solidFill>
                <a:latin typeface="+mn-lt"/>
                <a:ea typeface="+mn-ea"/>
                <a:cs typeface="B Titr" panose="00000700000000000000"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a-IR" dirty="0">
                <a:cs typeface="2  Sara" panose="00000400000000000000" pitchFamily="2" charset="-78"/>
              </a:rPr>
              <a:t>قانون مربوط به تملک زمين‌ها برای اجرای برنامه‌های شهرسازی</a:t>
            </a:r>
          </a:p>
          <a:p>
            <a:endParaRPr lang="fa-IR" dirty="0">
              <a:cs typeface="2  Sara" panose="00000400000000000000" pitchFamily="2" charset="-78"/>
            </a:endParaRPr>
          </a:p>
        </p:txBody>
      </p:sp>
    </p:spTree>
    <p:extLst>
      <p:ext uri="{BB962C8B-B14F-4D97-AF65-F5344CB8AC3E}">
        <p14:creationId xmlns:p14="http://schemas.microsoft.com/office/powerpoint/2010/main" val="856198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800" b="1" dirty="0">
                <a:latin typeface="Arabic Typesetting" panose="03020402040406030203" pitchFamily="66" charset="-78"/>
                <a:cs typeface="2  Sara" panose="00000400000000000000" pitchFamily="2" charset="-78"/>
                <a:hlinkClick r:id="rId3" action="ppaction://hlinkfile"/>
              </a:rPr>
              <a:t>آیین نامه مالی شهرداری ها</a:t>
            </a:r>
            <a:endParaRPr lang="en-US" sz="48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14</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48955" y="2206171"/>
            <a:ext cx="4894090" cy="367056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118676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C40CF7-1E19-48EC-93A8-C1ED70C53642}"/>
              </a:ext>
            </a:extLst>
          </p:cNvPr>
          <p:cNvSpPr>
            <a:spLocks noGrp="1"/>
          </p:cNvSpPr>
          <p:nvPr>
            <p:ph type="body" sz="quarter" idx="10"/>
          </p:nvPr>
        </p:nvSpPr>
        <p:spPr/>
        <p:txBody>
          <a:bodyPr/>
          <a:lstStyle/>
          <a:p>
            <a:r>
              <a:rPr lang="fa-IR" dirty="0">
                <a:cs typeface="2  Sara" panose="00000400000000000000" pitchFamily="2" charset="-78"/>
              </a:rPr>
              <a:t>آیین نامه مالی شهرداری ها</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34E34876-50C8-401E-9888-173142E80AB1}"/>
              </a:ext>
            </a:extLst>
          </p:cNvPr>
          <p:cNvSpPr>
            <a:spLocks noGrp="1"/>
          </p:cNvSpPr>
          <p:nvPr>
            <p:ph type="body" sz="quarter" idx="11"/>
          </p:nvPr>
        </p:nvSpPr>
        <p:spPr>
          <a:xfrm>
            <a:off x="744537" y="1684866"/>
            <a:ext cx="10702925" cy="4430713"/>
          </a:xfrm>
        </p:spPr>
        <p:txBody>
          <a:bodyPr>
            <a:noAutofit/>
          </a:bodyPr>
          <a:lstStyle/>
          <a:p>
            <a:r>
              <a:rPr lang="fa-IR" sz="2000" b="1" i="0" u="none" strike="noStrike" baseline="0" dirty="0">
                <a:solidFill>
                  <a:srgbClr val="0000FF"/>
                </a:solidFill>
                <a:latin typeface="BNazaninBold"/>
              </a:rPr>
              <a:t>قسمت اول</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امور معاملات: جزئی، متوسط و عمده</a:t>
            </a:r>
            <a:endParaRPr lang="en-US" sz="2000" b="0" i="0" u="none" strike="noStrike" baseline="0" dirty="0">
              <a:solidFill>
                <a:srgbClr val="333333"/>
              </a:solidFill>
              <a:latin typeface="BNazanin"/>
            </a:endParaRPr>
          </a:p>
          <a:p>
            <a:r>
              <a:rPr lang="fa-IR" sz="2000" b="1" i="0" u="none" strike="noStrike" baseline="0" dirty="0">
                <a:solidFill>
                  <a:srgbClr val="0000FF"/>
                </a:solidFill>
                <a:latin typeface="BNazaninBold"/>
              </a:rPr>
              <a:t>قسمت دوم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مناقصه</a:t>
            </a:r>
          </a:p>
          <a:p>
            <a:r>
              <a:rPr lang="fa-IR" sz="2000" b="1" i="0" u="none" strike="noStrike" baseline="0" dirty="0">
                <a:solidFill>
                  <a:srgbClr val="0000FF"/>
                </a:solidFill>
                <a:latin typeface="BNazaninBold"/>
              </a:rPr>
              <a:t>قسمت سوم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انعقاد پيمان</a:t>
            </a:r>
            <a:endParaRPr lang="en-US" sz="2000" dirty="0">
              <a:solidFill>
                <a:srgbClr val="333333"/>
              </a:solidFill>
              <a:latin typeface="BNazanin"/>
            </a:endParaRPr>
          </a:p>
          <a:p>
            <a:r>
              <a:rPr lang="fa-IR" sz="2000" b="1" i="0" u="none" strike="noStrike" baseline="0" dirty="0">
                <a:solidFill>
                  <a:srgbClr val="0000FF"/>
                </a:solidFill>
                <a:latin typeface="BNazaninBold"/>
              </a:rPr>
              <a:t>قسمت چهارم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ترتيب تحويل</a:t>
            </a:r>
            <a:endParaRPr lang="en-US" sz="2000" b="0" i="0" u="none" strike="noStrike" baseline="0" dirty="0">
              <a:solidFill>
                <a:srgbClr val="333333"/>
              </a:solidFill>
              <a:latin typeface="BNazanin"/>
            </a:endParaRPr>
          </a:p>
          <a:p>
            <a:r>
              <a:rPr lang="fa-IR" sz="2000" b="1" i="0" u="none" strike="noStrike" baseline="0" dirty="0">
                <a:solidFill>
                  <a:srgbClr val="0000FF"/>
                </a:solidFill>
                <a:latin typeface="BNazaninBold"/>
              </a:rPr>
              <a:t>قسمت پنجم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مزايده</a:t>
            </a:r>
            <a:endParaRPr lang="en-US" sz="2000" dirty="0">
              <a:solidFill>
                <a:srgbClr val="333333"/>
              </a:solidFill>
              <a:latin typeface="BNazanin"/>
            </a:endParaRPr>
          </a:p>
          <a:p>
            <a:r>
              <a:rPr lang="fa-IR" sz="2000" b="1" i="0" u="none" strike="noStrike" baseline="0" dirty="0">
                <a:solidFill>
                  <a:srgbClr val="0000FF"/>
                </a:solidFill>
                <a:latin typeface="BNazaninBold"/>
              </a:rPr>
              <a:t>قسمت ششم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ساير معاملات شهرداري</a:t>
            </a:r>
            <a:endParaRPr lang="en-US" sz="2000" b="0" i="0" u="none" strike="noStrike" baseline="0" dirty="0">
              <a:solidFill>
                <a:srgbClr val="333333"/>
              </a:solidFill>
              <a:latin typeface="BNazanin"/>
            </a:endParaRPr>
          </a:p>
          <a:p>
            <a:r>
              <a:rPr lang="fa-IR" sz="2000" b="1" i="0" u="none" strike="noStrike" baseline="0" dirty="0">
                <a:solidFill>
                  <a:srgbClr val="0000FF"/>
                </a:solidFill>
                <a:latin typeface="BNazaninBold"/>
              </a:rPr>
              <a:t>قسمت هفتم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مقررات عمومي</a:t>
            </a:r>
            <a:endParaRPr lang="en-US" sz="2000" dirty="0"/>
          </a:p>
        </p:txBody>
      </p:sp>
      <p:sp>
        <p:nvSpPr>
          <p:cNvPr id="4" name="Slide Number Placeholder 3">
            <a:extLst>
              <a:ext uri="{FF2B5EF4-FFF2-40B4-BE49-F238E27FC236}">
                <a16:creationId xmlns:a16="http://schemas.microsoft.com/office/drawing/2014/main" id="{180A052C-4F0F-4E5A-8F46-86F108FCCB1A}"/>
              </a:ext>
            </a:extLst>
          </p:cNvPr>
          <p:cNvSpPr>
            <a:spLocks noGrp="1"/>
          </p:cNvSpPr>
          <p:nvPr>
            <p:ph type="sldNum" sz="quarter" idx="4"/>
          </p:nvPr>
        </p:nvSpPr>
        <p:spPr/>
        <p:txBody>
          <a:bodyPr/>
          <a:lstStyle/>
          <a:p>
            <a:fld id="{CEACA9B5-9193-4DF2-B446-76F584B62E00}" type="slidenum">
              <a:rPr lang="fa-IR" smtClean="0"/>
              <a:pPr/>
              <a:t>15</a:t>
            </a:fld>
            <a:endParaRPr lang="fa-IR"/>
          </a:p>
        </p:txBody>
      </p:sp>
    </p:spTree>
    <p:extLst>
      <p:ext uri="{BB962C8B-B14F-4D97-AF65-F5344CB8AC3E}">
        <p14:creationId xmlns:p14="http://schemas.microsoft.com/office/powerpoint/2010/main" val="2154081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43F317-9182-43BF-A16C-A718287DC1D9}"/>
              </a:ext>
            </a:extLst>
          </p:cNvPr>
          <p:cNvSpPr>
            <a:spLocks noGrp="1"/>
          </p:cNvSpPr>
          <p:nvPr>
            <p:ph type="body" sz="quarter" idx="11"/>
          </p:nvPr>
        </p:nvSpPr>
        <p:spPr/>
        <p:txBody>
          <a:bodyPr/>
          <a:lstStyle/>
          <a:p>
            <a:pPr algn="just"/>
            <a:r>
              <a:rPr lang="fa-IR" dirty="0"/>
              <a:t>مناقصه به معنای واگذاری پروژه، خرید کالا یا خدمات مورد نیاز شرکت یا شخص مناقصه‌گر است که کمترین میزان قیمت را پیشنهاد کرده است. در این فرایند رقابت درواقع میان شرکت‌های تامین کننده خدمات و پیشنهاد دهندگان با کمترین قیمت به سازمان درخواست دهنده یا کارفرما است.</a:t>
            </a:r>
          </a:p>
          <a:p>
            <a:pPr algn="just"/>
            <a:r>
              <a:rPr lang="fa-IR" dirty="0"/>
              <a:t>مزایده یک روش رقابتی برای فروشندگان خدمات و کالا است. این افراد می‌توانند خدمات و محصولات خود را با این روش به بیشترین قیمت ممکن بفروشند. فردی که قصد برگزاری مزایده را دارد؛ می‌تواند با استفاده از آگهی خود درخواست داده و با خریداری که بیشترین قیمت پیشنهادی را ارائه دهد، قرارداد منعقد کند.</a:t>
            </a:r>
            <a:endParaRPr lang="en-US" dirty="0"/>
          </a:p>
        </p:txBody>
      </p:sp>
      <p:sp>
        <p:nvSpPr>
          <p:cNvPr id="4" name="Slide Number Placeholder 3">
            <a:extLst>
              <a:ext uri="{FF2B5EF4-FFF2-40B4-BE49-F238E27FC236}">
                <a16:creationId xmlns:a16="http://schemas.microsoft.com/office/drawing/2014/main" id="{4FFEC6BE-329F-4123-9630-D6EA8BD47CE3}"/>
              </a:ext>
            </a:extLst>
          </p:cNvPr>
          <p:cNvSpPr>
            <a:spLocks noGrp="1"/>
          </p:cNvSpPr>
          <p:nvPr>
            <p:ph type="sldNum" sz="quarter" idx="4"/>
          </p:nvPr>
        </p:nvSpPr>
        <p:spPr/>
        <p:txBody>
          <a:bodyPr/>
          <a:lstStyle/>
          <a:p>
            <a:fld id="{CEACA9B5-9193-4DF2-B446-76F584B62E00}" type="slidenum">
              <a:rPr lang="fa-IR" smtClean="0"/>
              <a:pPr/>
              <a:t>16</a:t>
            </a:fld>
            <a:endParaRPr lang="fa-IR"/>
          </a:p>
        </p:txBody>
      </p:sp>
      <p:sp>
        <p:nvSpPr>
          <p:cNvPr id="5" name="Text Placeholder 1">
            <a:extLst>
              <a:ext uri="{FF2B5EF4-FFF2-40B4-BE49-F238E27FC236}">
                <a16:creationId xmlns:a16="http://schemas.microsoft.com/office/drawing/2014/main" id="{32B6BF2D-91DA-401C-8489-0CE505CE4526}"/>
              </a:ext>
            </a:extLst>
          </p:cNvPr>
          <p:cNvSpPr txBox="1">
            <a:spLocks noGrp="1"/>
          </p:cNvSpPr>
          <p:nvPr>
            <p:ph type="body" sz="quarter" idx="10"/>
          </p:nvPr>
        </p:nvSpPr>
        <p:spPr>
          <a:xfrm>
            <a:off x="592138" y="425450"/>
            <a:ext cx="9312275" cy="785813"/>
          </a:xfrm>
          <a:prstGeom prst="rect">
            <a:avLst/>
          </a:prstGeom>
        </p:spPr>
        <p:txBody>
          <a:bodyPr vert="horz" lIns="91440" tIns="45720" rIns="91440" bIns="45720" rtlCol="0">
            <a:normAutofit/>
          </a:bodyPr>
          <a:lstStyle>
            <a:lvl1pPr marL="0" indent="0" algn="r" defTabSz="914400" rtl="1" eaLnBrk="1" latinLnBrk="0" hangingPunct="1">
              <a:lnSpc>
                <a:spcPct val="100000"/>
              </a:lnSpc>
              <a:spcBef>
                <a:spcPts val="0"/>
              </a:spcBef>
              <a:buFont typeface="Arial" panose="020B0604020202020204" pitchFamily="34" charset="0"/>
              <a:buNone/>
              <a:defRPr sz="3600" kern="1200" baseline="0">
                <a:solidFill>
                  <a:schemeClr val="bg1"/>
                </a:solidFill>
                <a:latin typeface="+mn-lt"/>
                <a:ea typeface="+mn-ea"/>
                <a:cs typeface="B Titr" panose="00000700000000000000"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a-IR" dirty="0">
                <a:cs typeface="2  Sara" panose="00000400000000000000" pitchFamily="2" charset="-78"/>
              </a:rPr>
              <a:t>آیین نامه مالی شهرداری ها</a:t>
            </a:r>
          </a:p>
          <a:p>
            <a:endParaRPr lang="fa-IR" dirty="0">
              <a:cs typeface="2  Sara" panose="00000400000000000000" pitchFamily="2" charset="-78"/>
            </a:endParaRPr>
          </a:p>
        </p:txBody>
      </p:sp>
    </p:spTree>
    <p:extLst>
      <p:ext uri="{BB962C8B-B14F-4D97-AF65-F5344CB8AC3E}">
        <p14:creationId xmlns:p14="http://schemas.microsoft.com/office/powerpoint/2010/main" val="1438683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امور مالی</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a:xfrm>
            <a:off x="592138" y="1710267"/>
            <a:ext cx="10702925" cy="4430713"/>
          </a:xfrm>
        </p:spPr>
        <p:txBody>
          <a:bodyPr>
            <a:noAutofit/>
          </a:bodyPr>
          <a:lstStyle/>
          <a:p>
            <a:r>
              <a:rPr lang="fa-IR" sz="2000" b="1" i="0" u="none" strike="noStrike" baseline="0" dirty="0">
                <a:solidFill>
                  <a:srgbClr val="0000FF"/>
                </a:solidFill>
                <a:latin typeface="BNazaninBold"/>
              </a:rPr>
              <a:t>فصل اول</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بودجه</a:t>
            </a:r>
            <a:endParaRPr lang="en-US" sz="2000" b="1" i="0" u="none" strike="noStrike" baseline="0" dirty="0">
              <a:solidFill>
                <a:srgbClr val="0000FF"/>
              </a:solidFill>
              <a:latin typeface="BNazaninBold"/>
            </a:endParaRPr>
          </a:p>
          <a:p>
            <a:r>
              <a:rPr lang="fa-IR" sz="2000" b="1" i="0" u="none" strike="noStrike" baseline="0" dirty="0">
                <a:solidFill>
                  <a:srgbClr val="0000FF"/>
                </a:solidFill>
                <a:latin typeface="BNazaninBold"/>
              </a:rPr>
              <a:t>فصل دوم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درآمدها</a:t>
            </a:r>
            <a:endParaRPr lang="en-US" sz="2000" b="1" i="0" u="none" strike="noStrike" baseline="0" dirty="0">
              <a:solidFill>
                <a:srgbClr val="0000FF"/>
              </a:solidFill>
              <a:latin typeface="BNazaninBold"/>
            </a:endParaRPr>
          </a:p>
          <a:p>
            <a:r>
              <a:rPr lang="fa-IR" sz="2000" b="1" i="0" u="none" strike="noStrike" baseline="0" dirty="0">
                <a:solidFill>
                  <a:srgbClr val="0000FF"/>
                </a:solidFill>
                <a:latin typeface="BNazaninBold"/>
              </a:rPr>
              <a:t>فصل سوم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هزينه ها</a:t>
            </a:r>
            <a:endParaRPr lang="en-US" sz="2000" b="1" i="0" u="none" strike="noStrike" baseline="0" dirty="0">
              <a:solidFill>
                <a:srgbClr val="0000FF"/>
              </a:solidFill>
              <a:latin typeface="BNazaninBold"/>
            </a:endParaRPr>
          </a:p>
          <a:p>
            <a:r>
              <a:rPr lang="fa-IR" sz="2000" b="1" i="0" u="none" strike="noStrike" baseline="0" dirty="0">
                <a:solidFill>
                  <a:srgbClr val="0000FF"/>
                </a:solidFill>
                <a:latin typeface="BNazaninBold"/>
              </a:rPr>
              <a:t>فصل چهارم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صندوق و عمليات استقراضي شهرداري</a:t>
            </a:r>
            <a:endParaRPr lang="en-US" sz="2000" b="1" i="0" u="none" strike="noStrike" baseline="0" dirty="0">
              <a:solidFill>
                <a:srgbClr val="0000FF"/>
              </a:solidFill>
              <a:latin typeface="BNazaninBold"/>
            </a:endParaRPr>
          </a:p>
          <a:p>
            <a:r>
              <a:rPr lang="fa-IR" sz="2000" b="1" i="0" u="none" strike="noStrike" baseline="0" dirty="0">
                <a:solidFill>
                  <a:srgbClr val="0000FF"/>
                </a:solidFill>
                <a:latin typeface="BNazaninBold"/>
              </a:rPr>
              <a:t>فصل پنجم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حسابداري</a:t>
            </a:r>
            <a:endParaRPr lang="en-US" sz="2000" b="1" i="0" u="none" strike="noStrike" baseline="0" dirty="0">
              <a:solidFill>
                <a:srgbClr val="0000FF"/>
              </a:solidFill>
              <a:latin typeface="BNazaninBold"/>
            </a:endParaRPr>
          </a:p>
          <a:p>
            <a:r>
              <a:rPr lang="fa-IR" sz="2000" b="1" i="0" u="none" strike="noStrike" baseline="0" dirty="0">
                <a:solidFill>
                  <a:srgbClr val="0000FF"/>
                </a:solidFill>
                <a:latin typeface="BNazaninBold"/>
              </a:rPr>
              <a:t>فصل ششم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مميزي و حسابرسي</a:t>
            </a:r>
            <a:endParaRPr lang="en-US" sz="2000" b="1" i="0" u="none" strike="noStrike" baseline="0" dirty="0">
              <a:solidFill>
                <a:srgbClr val="0000FF"/>
              </a:solidFill>
              <a:latin typeface="BNazaninBold"/>
            </a:endParaRPr>
          </a:p>
          <a:p>
            <a:r>
              <a:rPr lang="fa-IR" sz="2000" b="1" i="0" u="none" strike="noStrike" baseline="0" dirty="0">
                <a:solidFill>
                  <a:srgbClr val="0000FF"/>
                </a:solidFill>
                <a:latin typeface="BNazaninBold"/>
              </a:rPr>
              <a:t>فصل هفتم</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اموال</a:t>
            </a:r>
            <a:endParaRPr lang="en-US" sz="2000" dirty="0"/>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17</a:t>
            </a:fld>
            <a:endParaRPr lang="fa-IR"/>
          </a:p>
        </p:txBody>
      </p:sp>
    </p:spTree>
    <p:extLst>
      <p:ext uri="{BB962C8B-B14F-4D97-AF65-F5344CB8AC3E}">
        <p14:creationId xmlns:p14="http://schemas.microsoft.com/office/powerpoint/2010/main" val="2230756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بودجه</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p:txBody>
          <a:bodyPr>
            <a:normAutofit/>
          </a:bodyPr>
          <a:lstStyle/>
          <a:p>
            <a:pPr marL="0" indent="0" algn="just">
              <a:buNone/>
            </a:pPr>
            <a:r>
              <a:rPr lang="fa-IR" b="1" i="0" u="none" strike="noStrike" baseline="0" dirty="0">
                <a:solidFill>
                  <a:srgbClr val="0000FF"/>
                </a:solidFill>
                <a:latin typeface="BNazaninBold"/>
              </a:rPr>
              <a:t>ماده 23 </a:t>
            </a:r>
            <a:r>
              <a:rPr lang="fa-IR" b="1" i="0" u="none" strike="noStrike" baseline="0" dirty="0">
                <a:solidFill>
                  <a:srgbClr val="0000FF"/>
                </a:solidFill>
                <a:latin typeface="Calibri-Bold"/>
              </a:rPr>
              <a:t>- </a:t>
            </a:r>
            <a:r>
              <a:rPr lang="fa-IR" b="0" i="0" u="none" strike="noStrike" baseline="0" dirty="0">
                <a:solidFill>
                  <a:srgbClr val="333333"/>
                </a:solidFill>
                <a:latin typeface="BNazanin"/>
              </a:rPr>
              <a:t>بودجه سالانه شهرداري عبارت است از يك برنامه جامع مالي كه در آن كليه خدمات و فعاليت ها و اقداماتي كه بايد در طي سال مالي انجام شود همراه با برآورد مبلغ و ميزان مخارج و درآمدهاي لازم براي تأمين هزينه انجام آنها پيش بيني ميشود و پس از تصويب انجمن شهر قابل اجراست.</a:t>
            </a:r>
            <a:endParaRPr lang="en-US" dirty="0"/>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18</a:t>
            </a:fld>
            <a:endParaRPr lang="fa-IR"/>
          </a:p>
        </p:txBody>
      </p:sp>
    </p:spTree>
    <p:extLst>
      <p:ext uri="{BB962C8B-B14F-4D97-AF65-F5344CB8AC3E}">
        <p14:creationId xmlns:p14="http://schemas.microsoft.com/office/powerpoint/2010/main" val="3372546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درآمد</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a:xfrm>
            <a:off x="0" y="1854200"/>
            <a:ext cx="11532130" cy="4430713"/>
          </a:xfrm>
        </p:spPr>
        <p:txBody>
          <a:bodyPr>
            <a:noAutofit/>
          </a:bodyPr>
          <a:lstStyle/>
          <a:p>
            <a:pPr marL="0" indent="0">
              <a:buNone/>
            </a:pPr>
            <a:r>
              <a:rPr lang="fa-IR" sz="2000" b="1" i="0" u="none" strike="noStrike" baseline="0" dirty="0">
                <a:solidFill>
                  <a:srgbClr val="0000FF"/>
                </a:solidFill>
                <a:latin typeface="BNazaninBold"/>
              </a:rPr>
              <a:t>ماده 29 </a:t>
            </a:r>
            <a:r>
              <a:rPr lang="fa-IR" sz="2000" b="1" i="0" u="none" strike="noStrike" baseline="0" dirty="0">
                <a:solidFill>
                  <a:srgbClr val="0000FF"/>
                </a:solidFill>
                <a:latin typeface="Calibri-Bold"/>
              </a:rPr>
              <a:t>- </a:t>
            </a:r>
            <a:r>
              <a:rPr lang="fa-IR" sz="2000" b="0" i="0" u="none" strike="noStrike" baseline="0" dirty="0">
                <a:solidFill>
                  <a:srgbClr val="333333"/>
                </a:solidFill>
                <a:latin typeface="BNazanin"/>
              </a:rPr>
              <a:t>درآمد شهرداري ها به شش طبقه بشرح زير تقسيم ميشود </a:t>
            </a:r>
            <a:r>
              <a:rPr lang="fa-IR" sz="2000" b="0" i="0" u="none" strike="noStrike" baseline="0" dirty="0">
                <a:solidFill>
                  <a:srgbClr val="333333"/>
                </a:solidFill>
                <a:latin typeface="Cambria" panose="02040503050406030204" pitchFamily="18" charset="0"/>
              </a:rPr>
              <a:t>: </a:t>
            </a:r>
            <a:endParaRPr lang="fa-IR" sz="2000" dirty="0">
              <a:solidFill>
                <a:srgbClr val="333333"/>
              </a:solidFill>
              <a:latin typeface="BNazanin"/>
            </a:endParaRPr>
          </a:p>
          <a:p>
            <a:pPr marL="457200" indent="-457200">
              <a:buFont typeface="+mj-lt"/>
              <a:buAutoNum type="arabicPeriod"/>
            </a:pPr>
            <a:r>
              <a:rPr lang="fa-IR" sz="2000" b="0" i="0" u="none" strike="noStrike" baseline="0" dirty="0">
                <a:solidFill>
                  <a:srgbClr val="333333"/>
                </a:solidFill>
                <a:latin typeface="BNazanin"/>
              </a:rPr>
              <a:t> درآمدهاي ناشي از عوارض عمومي (درآمدهاي مستمر) </a:t>
            </a:r>
            <a:endParaRPr lang="fa-IR" sz="2000" dirty="0">
              <a:solidFill>
                <a:srgbClr val="333333"/>
              </a:solidFill>
              <a:latin typeface="Cambria" panose="02040503050406030204" pitchFamily="18" charset="0"/>
            </a:endParaRPr>
          </a:p>
          <a:p>
            <a:pPr marL="457200" indent="-457200">
              <a:buFont typeface="+mj-lt"/>
              <a:buAutoNum type="arabicPeriod"/>
            </a:pPr>
            <a:r>
              <a:rPr lang="fa-IR" sz="2000" b="0" i="0" u="none" strike="noStrike" baseline="0" dirty="0">
                <a:solidFill>
                  <a:srgbClr val="333333"/>
                </a:solidFill>
                <a:latin typeface="BNazanin"/>
              </a:rPr>
              <a:t>درآمدهاي ناشي از عوارض اختصاصي </a:t>
            </a:r>
            <a:r>
              <a:rPr lang="fa-IR" sz="2000" b="0" i="0" u="none" strike="noStrike" baseline="0" dirty="0">
                <a:solidFill>
                  <a:srgbClr val="333333"/>
                </a:solidFill>
                <a:latin typeface="Cambria" panose="02040503050406030204" pitchFamily="18" charset="0"/>
              </a:rPr>
              <a:t>.</a:t>
            </a:r>
          </a:p>
          <a:p>
            <a:pPr marL="457200" indent="-457200">
              <a:buFont typeface="+mj-lt"/>
              <a:buAutoNum type="arabicPeriod"/>
            </a:pPr>
            <a:r>
              <a:rPr lang="fa-IR" sz="2000" b="0" i="0" u="none" strike="noStrike" baseline="0" dirty="0">
                <a:solidFill>
                  <a:srgbClr val="333333"/>
                </a:solidFill>
                <a:latin typeface="BNazanin"/>
              </a:rPr>
              <a:t>بهاء خدمات و درآمدهاي مؤسسات انتفاعي شهرداري </a:t>
            </a:r>
            <a:r>
              <a:rPr lang="fa-IR" sz="2000" b="0" i="0" u="none" strike="noStrike" baseline="0" dirty="0">
                <a:solidFill>
                  <a:srgbClr val="333333"/>
                </a:solidFill>
                <a:latin typeface="Cambria" panose="02040503050406030204" pitchFamily="18" charset="0"/>
              </a:rPr>
              <a:t>.</a:t>
            </a:r>
          </a:p>
          <a:p>
            <a:pPr marL="457200" indent="-457200">
              <a:buFont typeface="+mj-lt"/>
              <a:buAutoNum type="arabicPeriod"/>
            </a:pPr>
            <a:r>
              <a:rPr lang="fa-IR" sz="2000" b="0" i="0" u="none" strike="noStrike" baseline="0" dirty="0">
                <a:solidFill>
                  <a:srgbClr val="333333"/>
                </a:solidFill>
                <a:latin typeface="BNazanin"/>
              </a:rPr>
              <a:t>درآمدهاي حاصله از وجوه و اموال شهرداري </a:t>
            </a:r>
            <a:r>
              <a:rPr lang="fa-IR" sz="2000" b="0" i="0" u="none" strike="noStrike" baseline="0" dirty="0">
                <a:solidFill>
                  <a:srgbClr val="333333"/>
                </a:solidFill>
                <a:latin typeface="Cambria" panose="02040503050406030204" pitchFamily="18" charset="0"/>
              </a:rPr>
              <a:t>.</a:t>
            </a:r>
          </a:p>
          <a:p>
            <a:pPr marL="457200" indent="-457200">
              <a:buFont typeface="+mj-lt"/>
              <a:buAutoNum type="arabicPeriod"/>
            </a:pPr>
            <a:r>
              <a:rPr lang="fa-IR" sz="2000" b="0" i="0" u="none" strike="noStrike" baseline="0" dirty="0">
                <a:solidFill>
                  <a:srgbClr val="333333"/>
                </a:solidFill>
                <a:latin typeface="BNazanin"/>
              </a:rPr>
              <a:t>كمك هاي اعطائي دولت و سازمان هاي دولتي </a:t>
            </a:r>
            <a:r>
              <a:rPr lang="fa-IR" sz="2000" b="0" i="0" u="none" strike="noStrike" baseline="0" dirty="0">
                <a:solidFill>
                  <a:srgbClr val="333333"/>
                </a:solidFill>
                <a:latin typeface="Cambria" panose="02040503050406030204" pitchFamily="18" charset="0"/>
              </a:rPr>
              <a:t>.</a:t>
            </a:r>
          </a:p>
          <a:p>
            <a:pPr marL="457200" indent="-457200">
              <a:buFont typeface="+mj-lt"/>
              <a:buAutoNum type="arabicPeriod"/>
            </a:pPr>
            <a:r>
              <a:rPr lang="fa-IR" sz="2000" b="0" i="0" u="none" strike="noStrike" baseline="0" dirty="0">
                <a:solidFill>
                  <a:srgbClr val="333333"/>
                </a:solidFill>
                <a:latin typeface="BNazanin"/>
              </a:rPr>
              <a:t>اعانات و كمك هاي اهدائي اشخاص و سازمان هاي خصوصي و اموال و دارائي هائي كه بطور اتفاقي يا بموجب قانون بشهرداري تعلق ميگيرد </a:t>
            </a:r>
            <a:r>
              <a:rPr lang="fa-IR" sz="2000" b="0" i="0" u="none" strike="noStrike" baseline="0" dirty="0">
                <a:solidFill>
                  <a:srgbClr val="333333"/>
                </a:solidFill>
                <a:latin typeface="Cambria" panose="02040503050406030204" pitchFamily="18" charset="0"/>
              </a:rPr>
              <a:t>.</a:t>
            </a:r>
            <a:endParaRPr lang="en-US" sz="2000" dirty="0"/>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19</a:t>
            </a:fld>
            <a:endParaRPr lang="fa-IR"/>
          </a:p>
        </p:txBody>
      </p:sp>
    </p:spTree>
    <p:extLst>
      <p:ext uri="{BB962C8B-B14F-4D97-AF65-F5344CB8AC3E}">
        <p14:creationId xmlns:p14="http://schemas.microsoft.com/office/powerpoint/2010/main" val="2073759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هزینه</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p:txBody>
          <a:bodyPr>
            <a:normAutofit/>
          </a:bodyPr>
          <a:lstStyle/>
          <a:p>
            <a:pPr marL="0" indent="0" algn="just">
              <a:buNone/>
            </a:pPr>
            <a:r>
              <a:rPr lang="fa-IR" b="1" i="0" u="none" strike="noStrike" baseline="0" dirty="0">
                <a:solidFill>
                  <a:srgbClr val="0000FF"/>
                </a:solidFill>
                <a:latin typeface="BNazaninBold"/>
              </a:rPr>
              <a:t>ماده 33 </a:t>
            </a:r>
            <a:r>
              <a:rPr lang="fa-IR" b="1" i="0" u="none" strike="noStrike" baseline="0" dirty="0">
                <a:solidFill>
                  <a:srgbClr val="0000FF"/>
                </a:solidFill>
                <a:latin typeface="Calibri-Bold"/>
              </a:rPr>
              <a:t>- </a:t>
            </a:r>
            <a:r>
              <a:rPr lang="fa-IR" b="0" i="0" u="none" strike="noStrike" baseline="0" dirty="0">
                <a:solidFill>
                  <a:srgbClr val="333333"/>
                </a:solidFill>
                <a:latin typeface="BNazanin"/>
              </a:rPr>
              <a:t>پرداخت هزينه ها در شهرداري مستلزم طي مراحل سه گانه زير است</a:t>
            </a:r>
            <a:r>
              <a:rPr lang="fa-IR" b="0" i="0" u="none" strike="noStrike" baseline="0" dirty="0">
                <a:solidFill>
                  <a:srgbClr val="333333"/>
                </a:solidFill>
                <a:latin typeface="Cambria" panose="02040503050406030204" pitchFamily="18" charset="0"/>
              </a:rPr>
              <a:t>: </a:t>
            </a:r>
          </a:p>
          <a:p>
            <a:pPr marL="0" indent="0" algn="just">
              <a:buNone/>
            </a:pPr>
            <a:r>
              <a:rPr lang="fa-IR" b="0" i="0" u="none" strike="noStrike" baseline="0" dirty="0">
                <a:solidFill>
                  <a:srgbClr val="333333"/>
                </a:solidFill>
                <a:latin typeface="BNazanin"/>
              </a:rPr>
              <a:t>الف- ايجاد تعهد در حدود اعتبارات مصوب و مقررات جاري و تحقق يافتن تعهد به اين طريق كه كار و خدمتي انجام يا اموالي بتصرف شهرداري در آمده بدينوسيله ديني براي شهرداري ايجاد شده باشد </a:t>
            </a:r>
            <a:r>
              <a:rPr lang="fa-IR" b="0" i="0" u="none" strike="noStrike" baseline="0" dirty="0">
                <a:solidFill>
                  <a:srgbClr val="333333"/>
                </a:solidFill>
                <a:latin typeface="Cambria" panose="02040503050406030204" pitchFamily="18" charset="0"/>
              </a:rPr>
              <a:t>.</a:t>
            </a:r>
          </a:p>
          <a:p>
            <a:pPr marL="0" indent="0" algn="just">
              <a:buNone/>
            </a:pPr>
            <a:r>
              <a:rPr lang="fa-IR" b="0" i="0" u="none" strike="noStrike" baseline="0" dirty="0">
                <a:solidFill>
                  <a:srgbClr val="333333"/>
                </a:solidFill>
                <a:latin typeface="BNazanin"/>
              </a:rPr>
              <a:t>ب- تشخيص مستند مبلغي كه بايد بهر يك از دائنين پرداخت شود </a:t>
            </a:r>
            <a:r>
              <a:rPr lang="fa-IR" b="0" i="0" u="none" strike="noStrike" baseline="0" dirty="0">
                <a:solidFill>
                  <a:srgbClr val="333333"/>
                </a:solidFill>
                <a:latin typeface="Cambria" panose="02040503050406030204" pitchFamily="18" charset="0"/>
              </a:rPr>
              <a:t>.</a:t>
            </a:r>
          </a:p>
          <a:p>
            <a:pPr marL="0" indent="0" algn="just">
              <a:buNone/>
            </a:pPr>
            <a:r>
              <a:rPr lang="fa-IR" b="0" i="0" u="none" strike="noStrike" baseline="0" dirty="0">
                <a:solidFill>
                  <a:srgbClr val="333333"/>
                </a:solidFill>
                <a:latin typeface="BNazanin"/>
              </a:rPr>
              <a:t>ج- صدور حواله در وجه داين(طلبکار) يا دائنين در قبال اسناد مثبته(اسناد اثبات کننده، اسناد، مدارک و مستنداتی که دلالت بر وقوع یک رویداد مالی دارند و مورد قبول شرکت میباشند؛ این اسناد تاریخ، میزان و ماهیت یک رویداد مالی را مشخص می کنند)</a:t>
            </a:r>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20</a:t>
            </a:fld>
            <a:endParaRPr lang="fa-IR"/>
          </a:p>
        </p:txBody>
      </p:sp>
    </p:spTree>
    <p:extLst>
      <p:ext uri="{BB962C8B-B14F-4D97-AF65-F5344CB8AC3E}">
        <p14:creationId xmlns:p14="http://schemas.microsoft.com/office/powerpoint/2010/main" val="1409227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اموال</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p:txBody>
          <a:bodyPr>
            <a:normAutofit/>
          </a:bodyPr>
          <a:lstStyle/>
          <a:p>
            <a:pPr marL="0" indent="0" algn="just">
              <a:buNone/>
            </a:pPr>
            <a:r>
              <a:rPr lang="fa-IR" b="1" i="0" u="none" strike="noStrike" baseline="0" dirty="0">
                <a:solidFill>
                  <a:srgbClr val="0000FF"/>
                </a:solidFill>
                <a:latin typeface="BNazaninBold"/>
              </a:rPr>
              <a:t>ماده 45 </a:t>
            </a:r>
            <a:r>
              <a:rPr lang="fa-IR" b="1" i="0" u="none" strike="noStrike" baseline="0" dirty="0">
                <a:solidFill>
                  <a:srgbClr val="0000FF"/>
                </a:solidFill>
                <a:latin typeface="Calibri-Bold"/>
              </a:rPr>
              <a:t>- </a:t>
            </a:r>
            <a:r>
              <a:rPr lang="fa-IR" b="0" i="0" u="none" strike="noStrike" baseline="0" dirty="0">
                <a:solidFill>
                  <a:srgbClr val="333333"/>
                </a:solidFill>
                <a:latin typeface="BNazanin"/>
              </a:rPr>
              <a:t>اموال شهرداري ها اعم از منقول و غيرمنقول بر دو نوع تقسيم ميشود </a:t>
            </a:r>
            <a:r>
              <a:rPr lang="fa-IR" b="0" i="0" u="none" strike="noStrike" baseline="0" dirty="0">
                <a:solidFill>
                  <a:srgbClr val="333333"/>
                </a:solidFill>
                <a:latin typeface="Cambria" panose="02040503050406030204" pitchFamily="18" charset="0"/>
              </a:rPr>
              <a:t>: </a:t>
            </a:r>
            <a:r>
              <a:rPr lang="fa-IR" b="0" i="0" u="none" strike="noStrike" baseline="0" dirty="0">
                <a:solidFill>
                  <a:srgbClr val="333333"/>
                </a:solidFill>
                <a:latin typeface="BNazanin"/>
              </a:rPr>
              <a:t>اموال اختصاصي و اموال عمومي</a:t>
            </a:r>
            <a:r>
              <a:rPr lang="fa-IR" dirty="0">
                <a:solidFill>
                  <a:srgbClr val="333333"/>
                </a:solidFill>
                <a:latin typeface="BNazanin"/>
              </a:rPr>
              <a:t>.</a:t>
            </a:r>
            <a:r>
              <a:rPr lang="fa-IR" b="0" i="0" u="none" strike="noStrike" baseline="0" dirty="0">
                <a:solidFill>
                  <a:srgbClr val="333333"/>
                </a:solidFill>
                <a:latin typeface="BNazanin"/>
              </a:rPr>
              <a:t> </a:t>
            </a:r>
          </a:p>
          <a:p>
            <a:pPr algn="just"/>
            <a:r>
              <a:rPr lang="fa-IR" b="0" i="0" u="none" strike="noStrike" baseline="0" dirty="0">
                <a:solidFill>
                  <a:srgbClr val="333333"/>
                </a:solidFill>
                <a:latin typeface="BNazanin"/>
              </a:rPr>
              <a:t>اموال اختصاصي شهرداري اموالي است كه شهرداري حق تصرف مالكانه نسبت بآنها را دارد از قبيل اراضي و ابنيه و اثاثه و نظائر آن</a:t>
            </a:r>
            <a:r>
              <a:rPr lang="fa-IR" b="0" i="0" u="none" strike="noStrike" baseline="0" dirty="0">
                <a:solidFill>
                  <a:srgbClr val="333333"/>
                </a:solidFill>
                <a:latin typeface="Cambria" panose="02040503050406030204" pitchFamily="18" charset="0"/>
              </a:rPr>
              <a:t>.</a:t>
            </a:r>
          </a:p>
          <a:p>
            <a:pPr algn="just"/>
            <a:r>
              <a:rPr lang="fa-IR" b="0" i="0" u="none" strike="noStrike" baseline="0" dirty="0">
                <a:solidFill>
                  <a:srgbClr val="333333"/>
                </a:solidFill>
                <a:latin typeface="BNazanin"/>
              </a:rPr>
              <a:t>اموال عمومي شهرداري اموالي است كه متعلق بشهر بوده و براي استفاده عموم اختصاص يافته است مانند معابر عمومي، خيابان ها، ميادين، پلها، گورستان ها، سيل برگردان مجاري آب و فاضل آب و متعلقات آنها، انهار عمومي، اشجار اعم از اشجاري كه شهرداري يا اشخاص در معابر و ميادين عمومي غرس نموده باشند، چمن كاري، گل كاري و امثال آن.</a:t>
            </a:r>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21</a:t>
            </a:fld>
            <a:endParaRPr lang="fa-IR"/>
          </a:p>
        </p:txBody>
      </p:sp>
    </p:spTree>
    <p:extLst>
      <p:ext uri="{BB962C8B-B14F-4D97-AF65-F5344CB8AC3E}">
        <p14:creationId xmlns:p14="http://schemas.microsoft.com/office/powerpoint/2010/main" val="3427393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اموال</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p:txBody>
          <a:bodyPr>
            <a:normAutofit/>
          </a:bodyPr>
          <a:lstStyle/>
          <a:p>
            <a:pPr algn="just"/>
            <a:r>
              <a:rPr lang="fa-IR" i="0" u="none" strike="noStrike" baseline="0" dirty="0">
                <a:latin typeface="BNazaninBold"/>
              </a:rPr>
              <a:t>اموال منقول: اشیایی که نقل و انتقال آن از محلی به محل دیگر ممکن باشد بدون اینکه به خود یا محل آن خرابی وارد آید.</a:t>
            </a:r>
          </a:p>
          <a:p>
            <a:pPr algn="just"/>
            <a:r>
              <a:rPr lang="fa-IR" i="0" u="none" strike="noStrike" baseline="0" dirty="0">
                <a:solidFill>
                  <a:srgbClr val="333333"/>
                </a:solidFill>
                <a:latin typeface="BNazanin"/>
              </a:rPr>
              <a:t>اموال غیرمنقول: به اموالی گفته می شود که نتوان آن را از محلی به محل دیگر انتقال داد، اعم از اینکه استقرار آن ذاتی باشد یا به واسطه عمل انسان به نحوی که‌ انتقال آن مستلزم خرابی یا نقص خود مال یا محل آن شود.</a:t>
            </a:r>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22</a:t>
            </a:fld>
            <a:endParaRPr lang="fa-IR"/>
          </a:p>
        </p:txBody>
      </p:sp>
    </p:spTree>
    <p:extLst>
      <p:ext uri="{BB962C8B-B14F-4D97-AF65-F5344CB8AC3E}">
        <p14:creationId xmlns:p14="http://schemas.microsoft.com/office/powerpoint/2010/main" val="3570093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حفاظت و بهره برداری از جنگلها و مراتع</a:t>
            </a: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23</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33181" y="2323562"/>
            <a:ext cx="5325637" cy="332852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580808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قانون حفاظت و بهره برداری از جنگلها و مراتع</a:t>
            </a:r>
          </a:p>
          <a:p>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a:xfrm>
            <a:off x="592138" y="1828800"/>
            <a:ext cx="10702925" cy="4892675"/>
          </a:xfrm>
        </p:spPr>
        <p:txBody>
          <a:bodyPr>
            <a:normAutofit/>
          </a:bodyPr>
          <a:lstStyle/>
          <a:p>
            <a:pPr marL="457200" indent="-457200" algn="just">
              <a:buFont typeface="+mj-lt"/>
              <a:buAutoNum type="arabicPeriod"/>
            </a:pPr>
            <a:r>
              <a:rPr lang="fa-IR" i="0" u="none" strike="noStrike" baseline="0" dirty="0">
                <a:solidFill>
                  <a:srgbClr val="333333"/>
                </a:solidFill>
                <a:latin typeface="BNazanin"/>
              </a:rPr>
              <a:t>اصطلاحات و تعاریف مربوط به جنگل (جنگل یا مرتع یا بیشه، بوته جنگلی، بوته کویری، کنده، نهال، اراضی جنگلی، مرتع مشجر و غیرمشجر، توده جنگلی، باغ ...)</a:t>
            </a:r>
          </a:p>
          <a:p>
            <a:pPr marL="457200" indent="-457200" algn="just">
              <a:buFont typeface="+mj-lt"/>
              <a:buAutoNum type="arabicPeriod"/>
            </a:pPr>
            <a:r>
              <a:rPr lang="fa-IR" i="0" u="none" strike="noStrike" baseline="0" dirty="0">
                <a:solidFill>
                  <a:srgbClr val="333333"/>
                </a:solidFill>
                <a:latin typeface="BNazanin"/>
              </a:rPr>
              <a:t>حفاظت و بهره برداری</a:t>
            </a:r>
          </a:p>
          <a:p>
            <a:pPr marL="457200" indent="-457200" algn="just">
              <a:buFont typeface="+mj-lt"/>
              <a:buAutoNum type="arabicPeriod"/>
            </a:pPr>
            <a:endParaRPr lang="fa-IR" i="0" u="none" strike="noStrike" baseline="0" dirty="0">
              <a:solidFill>
                <a:srgbClr val="333333"/>
              </a:solidFill>
              <a:latin typeface="BNazanin"/>
            </a:endParaRPr>
          </a:p>
          <a:p>
            <a:pPr marL="457200" indent="-457200" algn="just">
              <a:buFont typeface="+mj-lt"/>
              <a:buAutoNum type="arabicPeriod"/>
            </a:pPr>
            <a:endParaRPr lang="fa-IR" dirty="0">
              <a:solidFill>
                <a:srgbClr val="333333"/>
              </a:solidFill>
              <a:latin typeface="BNazanin"/>
            </a:endParaRPr>
          </a:p>
          <a:p>
            <a:pPr marL="457200" indent="-457200" algn="just">
              <a:buFont typeface="+mj-lt"/>
              <a:buAutoNum type="arabicPeriod"/>
            </a:pPr>
            <a:r>
              <a:rPr lang="fa-IR" dirty="0">
                <a:solidFill>
                  <a:srgbClr val="333333"/>
                </a:solidFill>
                <a:latin typeface="BNazanin"/>
              </a:rPr>
              <a:t>عوارض</a:t>
            </a:r>
            <a:endParaRPr lang="fa-IR" i="0" u="none" strike="noStrike" baseline="0" dirty="0">
              <a:solidFill>
                <a:srgbClr val="333333"/>
              </a:solidFill>
              <a:latin typeface="BNazanin"/>
            </a:endParaRPr>
          </a:p>
          <a:p>
            <a:pPr marL="457200" indent="-457200" algn="just">
              <a:buFont typeface="+mj-lt"/>
              <a:buAutoNum type="arabicPeriod"/>
            </a:pPr>
            <a:endParaRPr lang="fa-IR" i="0" u="none" strike="noStrike" baseline="0" dirty="0">
              <a:solidFill>
                <a:srgbClr val="333333"/>
              </a:solidFill>
              <a:latin typeface="BNazanin"/>
            </a:endParaRPr>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24</a:t>
            </a:fld>
            <a:endParaRPr lang="fa-IR"/>
          </a:p>
        </p:txBody>
      </p:sp>
      <p:pic>
        <p:nvPicPr>
          <p:cNvPr id="6" name="Picture 5">
            <a:extLst>
              <a:ext uri="{FF2B5EF4-FFF2-40B4-BE49-F238E27FC236}">
                <a16:creationId xmlns:a16="http://schemas.microsoft.com/office/drawing/2014/main" id="{1E9A852A-EB83-4981-98E7-07C1F892E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664" y="3586955"/>
            <a:ext cx="10940079" cy="1323711"/>
          </a:xfrm>
          <a:prstGeom prst="rect">
            <a:avLst/>
          </a:prstGeom>
        </p:spPr>
      </p:pic>
    </p:spTree>
    <p:extLst>
      <p:ext uri="{BB962C8B-B14F-4D97-AF65-F5344CB8AC3E}">
        <p14:creationId xmlns:p14="http://schemas.microsoft.com/office/powerpoint/2010/main" val="1736626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قانون حفاظت و بهره برداری از جنگلها و مراتع</a:t>
            </a:r>
          </a:p>
          <a:p>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a:xfrm>
            <a:off x="592138" y="1828800"/>
            <a:ext cx="10702925" cy="4892675"/>
          </a:xfrm>
        </p:spPr>
        <p:txBody>
          <a:bodyPr>
            <a:normAutofit/>
          </a:bodyPr>
          <a:lstStyle/>
          <a:p>
            <a:pPr marL="457200" indent="-457200" algn="just">
              <a:buFont typeface="+mj-lt"/>
              <a:buAutoNum type="arabicPeriod" startAt="4"/>
            </a:pPr>
            <a:r>
              <a:rPr lang="fa-IR" dirty="0">
                <a:solidFill>
                  <a:srgbClr val="333333"/>
                </a:solidFill>
                <a:latin typeface="BNazanin"/>
              </a:rPr>
              <a:t>سازمان و مقررات ملی</a:t>
            </a:r>
            <a:endParaRPr lang="fa-IR" i="0" u="none" strike="noStrike" baseline="0" dirty="0">
              <a:solidFill>
                <a:srgbClr val="333333"/>
              </a:solidFill>
              <a:latin typeface="BNazanin"/>
            </a:endParaRPr>
          </a:p>
          <a:p>
            <a:pPr marL="457200" indent="-457200" algn="just">
              <a:buFont typeface="+mj-lt"/>
              <a:buAutoNum type="arabicPeriod" startAt="4"/>
            </a:pPr>
            <a:r>
              <a:rPr lang="fa-IR" i="0" u="none" strike="noStrike" baseline="0" dirty="0">
                <a:solidFill>
                  <a:srgbClr val="333333"/>
                </a:solidFill>
                <a:latin typeface="BNazanin"/>
              </a:rPr>
              <a:t>تبدیل و واگذاری</a:t>
            </a:r>
          </a:p>
          <a:p>
            <a:pPr marL="457200" indent="-457200" algn="just">
              <a:buFont typeface="+mj-lt"/>
              <a:buAutoNum type="arabicPeriod" startAt="4"/>
            </a:pPr>
            <a:r>
              <a:rPr lang="fa-IR" i="0" u="none" strike="noStrike" baseline="0" dirty="0">
                <a:solidFill>
                  <a:srgbClr val="333333"/>
                </a:solidFill>
                <a:latin typeface="BNazanin"/>
              </a:rPr>
              <a:t>جر</a:t>
            </a:r>
            <a:r>
              <a:rPr lang="fa-IR" dirty="0">
                <a:solidFill>
                  <a:srgbClr val="333333"/>
                </a:solidFill>
                <a:latin typeface="BNazanin"/>
              </a:rPr>
              <a:t>ایم و مجازات</a:t>
            </a:r>
          </a:p>
          <a:p>
            <a:pPr marL="457200" indent="-457200" algn="just">
              <a:buFont typeface="+mj-lt"/>
              <a:buAutoNum type="arabicPeriod" startAt="4"/>
            </a:pPr>
            <a:r>
              <a:rPr lang="fa-IR" i="0" u="none" strike="noStrike" baseline="0" dirty="0">
                <a:solidFill>
                  <a:srgbClr val="333333"/>
                </a:solidFill>
                <a:latin typeface="BNazanin"/>
              </a:rPr>
              <a:t>مقررات مختلفه</a:t>
            </a:r>
          </a:p>
          <a:p>
            <a:pPr marL="457200" indent="-457200" algn="just">
              <a:buFont typeface="+mj-lt"/>
              <a:buAutoNum type="arabicPeriod" startAt="4"/>
            </a:pPr>
            <a:endParaRPr lang="fa-IR" i="0" u="none" strike="noStrike" baseline="0" dirty="0">
              <a:solidFill>
                <a:srgbClr val="333333"/>
              </a:solidFill>
              <a:latin typeface="BNazanin"/>
            </a:endParaRPr>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25</a:t>
            </a:fld>
            <a:endParaRPr lang="fa-IR"/>
          </a:p>
        </p:txBody>
      </p:sp>
    </p:spTree>
    <p:extLst>
      <p:ext uri="{BB962C8B-B14F-4D97-AF65-F5344CB8AC3E}">
        <p14:creationId xmlns:p14="http://schemas.microsoft.com/office/powerpoint/2010/main" val="949637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تاسیس شورای عالی شهرسازی و معماری</a:t>
            </a: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26</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06087" y="2455169"/>
            <a:ext cx="5979822" cy="298991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247575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3C8F5B-8597-4A1A-A84F-8C0D3C198A5E}"/>
              </a:ext>
            </a:extLst>
          </p:cNvPr>
          <p:cNvSpPr>
            <a:spLocks noGrp="1"/>
          </p:cNvSpPr>
          <p:nvPr>
            <p:ph type="body" sz="quarter" idx="10"/>
          </p:nvPr>
        </p:nvSpPr>
        <p:spPr/>
        <p:txBody>
          <a:bodyPr/>
          <a:lstStyle/>
          <a:p>
            <a:r>
              <a:rPr lang="fa-IR" dirty="0">
                <a:cs typeface="2  Sara" panose="00000400000000000000" pitchFamily="2" charset="-78"/>
              </a:rPr>
              <a:t>قانون تاسیس شورای عالی شهرسازی و معماری</a:t>
            </a:r>
          </a:p>
        </p:txBody>
      </p:sp>
      <p:sp>
        <p:nvSpPr>
          <p:cNvPr id="3" name="Text Placeholder 2">
            <a:extLst>
              <a:ext uri="{FF2B5EF4-FFF2-40B4-BE49-F238E27FC236}">
                <a16:creationId xmlns:a16="http://schemas.microsoft.com/office/drawing/2014/main" id="{6CB2BA45-7CC8-4446-87E0-3F3208032924}"/>
              </a:ext>
            </a:extLst>
          </p:cNvPr>
          <p:cNvSpPr>
            <a:spLocks noGrp="1"/>
          </p:cNvSpPr>
          <p:nvPr>
            <p:ph type="body" sz="quarter" idx="11"/>
          </p:nvPr>
        </p:nvSpPr>
        <p:spPr>
          <a:xfrm>
            <a:off x="592138" y="1828800"/>
            <a:ext cx="10702925" cy="4892675"/>
          </a:xfrm>
        </p:spPr>
        <p:txBody>
          <a:bodyPr>
            <a:normAutofit/>
          </a:bodyPr>
          <a:lstStyle/>
          <a:p>
            <a:pPr marL="0" indent="0" algn="just">
              <a:buNone/>
            </a:pPr>
            <a:r>
              <a:rPr lang="fa-IR" dirty="0">
                <a:solidFill>
                  <a:srgbClr val="333333"/>
                </a:solidFill>
                <a:latin typeface="BNazanin"/>
              </a:rPr>
              <a:t>ماده 1 - براي </a:t>
            </a:r>
            <a:r>
              <a:rPr lang="fa-IR" u="sng" dirty="0">
                <a:solidFill>
                  <a:srgbClr val="333333"/>
                </a:solidFill>
                <a:latin typeface="BNazanin"/>
              </a:rPr>
              <a:t>هماهنگ كردن برنامه هاي شهرسازي</a:t>
            </a:r>
            <a:r>
              <a:rPr lang="fa-IR" dirty="0">
                <a:solidFill>
                  <a:srgbClr val="333333"/>
                </a:solidFill>
                <a:latin typeface="BNazanin"/>
              </a:rPr>
              <a:t> بمنظور </a:t>
            </a:r>
            <a:r>
              <a:rPr lang="fa-IR" u="sng" dirty="0">
                <a:solidFill>
                  <a:srgbClr val="333333"/>
                </a:solidFill>
                <a:latin typeface="BNazanin"/>
              </a:rPr>
              <a:t>ايجاد محيط زيست بهتر براي مردم</a:t>
            </a:r>
            <a:r>
              <a:rPr lang="fa-IR" dirty="0">
                <a:solidFill>
                  <a:srgbClr val="333333"/>
                </a:solidFill>
                <a:latin typeface="BNazanin"/>
              </a:rPr>
              <a:t> همچنين بمنظور </a:t>
            </a:r>
            <a:r>
              <a:rPr lang="fa-IR" u="sng" dirty="0">
                <a:solidFill>
                  <a:srgbClr val="333333"/>
                </a:solidFill>
                <a:latin typeface="BNazanin"/>
              </a:rPr>
              <a:t>اعتلاي هنر معماري ايران</a:t>
            </a:r>
            <a:r>
              <a:rPr lang="fa-IR" dirty="0">
                <a:solidFill>
                  <a:srgbClr val="333333"/>
                </a:solidFill>
                <a:latin typeface="BNazanin"/>
              </a:rPr>
              <a:t> و </a:t>
            </a:r>
            <a:r>
              <a:rPr lang="fa-IR" u="sng" dirty="0">
                <a:solidFill>
                  <a:srgbClr val="333333"/>
                </a:solidFill>
                <a:latin typeface="BNazanin"/>
              </a:rPr>
              <a:t>رعايت سبكهاي مختلف معماري سنتي و ملي</a:t>
            </a:r>
            <a:r>
              <a:rPr lang="fa-IR" dirty="0">
                <a:solidFill>
                  <a:srgbClr val="333333"/>
                </a:solidFill>
                <a:latin typeface="BNazanin"/>
              </a:rPr>
              <a:t> و </a:t>
            </a:r>
            <a:r>
              <a:rPr lang="fa-IR" u="sng" dirty="0">
                <a:solidFill>
                  <a:srgbClr val="333333"/>
                </a:solidFill>
                <a:latin typeface="BNazanin"/>
              </a:rPr>
              <a:t>ارائه ضوابط و جنبه هاي اصيل آن </a:t>
            </a:r>
            <a:r>
              <a:rPr lang="fa-IR" dirty="0">
                <a:solidFill>
                  <a:srgbClr val="333333"/>
                </a:solidFill>
                <a:latin typeface="BNazanin"/>
              </a:rPr>
              <a:t>با در </a:t>
            </a:r>
            <a:r>
              <a:rPr lang="fa-IR" u="sng" dirty="0">
                <a:solidFill>
                  <a:srgbClr val="333333"/>
                </a:solidFill>
                <a:latin typeface="BNazanin"/>
              </a:rPr>
              <a:t>نظر گرفتن روشهاي نوين علمي و فني</a:t>
            </a:r>
            <a:r>
              <a:rPr lang="fa-IR" dirty="0">
                <a:solidFill>
                  <a:srgbClr val="333333"/>
                </a:solidFill>
                <a:latin typeface="BNazanin"/>
              </a:rPr>
              <a:t> و در نتيجه </a:t>
            </a:r>
            <a:r>
              <a:rPr lang="fa-IR" u="sng" dirty="0">
                <a:solidFill>
                  <a:srgbClr val="333333"/>
                </a:solidFill>
                <a:latin typeface="BNazanin"/>
              </a:rPr>
              <a:t>يافتن شيوه هاي اصولي و مناسب ساختماني</a:t>
            </a:r>
            <a:r>
              <a:rPr lang="fa-IR" dirty="0">
                <a:solidFill>
                  <a:srgbClr val="333333"/>
                </a:solidFill>
                <a:latin typeface="BNazanin"/>
              </a:rPr>
              <a:t> در </a:t>
            </a:r>
            <a:r>
              <a:rPr lang="fa-IR" u="sng" dirty="0">
                <a:solidFill>
                  <a:srgbClr val="333333"/>
                </a:solidFill>
                <a:latin typeface="BNazanin"/>
              </a:rPr>
              <a:t>مناطق مختلف كشور</a:t>
            </a:r>
            <a:r>
              <a:rPr lang="fa-IR" dirty="0">
                <a:solidFill>
                  <a:srgbClr val="333333"/>
                </a:solidFill>
                <a:latin typeface="BNazanin"/>
              </a:rPr>
              <a:t> با توجه </a:t>
            </a:r>
            <a:r>
              <a:rPr lang="fa-IR" u="sng" dirty="0">
                <a:solidFill>
                  <a:srgbClr val="333333"/>
                </a:solidFill>
                <a:latin typeface="BNazanin"/>
              </a:rPr>
              <a:t>بشرايط اقليمي و طرز زندگي و مقتضيات محلي</a:t>
            </a:r>
            <a:r>
              <a:rPr lang="fa-IR" dirty="0">
                <a:solidFill>
                  <a:srgbClr val="333333"/>
                </a:solidFill>
                <a:latin typeface="BNazanin"/>
              </a:rPr>
              <a:t>، </a:t>
            </a:r>
            <a:r>
              <a:rPr lang="fa-IR" dirty="0">
                <a:solidFill>
                  <a:srgbClr val="333333"/>
                </a:solidFill>
                <a:highlight>
                  <a:srgbClr val="FF0000"/>
                </a:highlight>
                <a:latin typeface="BNazanin"/>
              </a:rPr>
              <a:t>شوراي عالي شهرسازي و معماري ايران تأسيس ميشود.</a:t>
            </a:r>
          </a:p>
          <a:p>
            <a:pPr algn="just"/>
            <a:r>
              <a:rPr lang="fa-IR" i="0" u="none" strike="noStrike" baseline="0" dirty="0">
                <a:solidFill>
                  <a:srgbClr val="333333"/>
                </a:solidFill>
                <a:latin typeface="BNazanin"/>
              </a:rPr>
              <a:t>وظايف شوراي عالي شهرسازي و معماري ايران</a:t>
            </a:r>
          </a:p>
          <a:p>
            <a:pPr algn="just"/>
            <a:r>
              <a:rPr lang="fa-IR" i="0" u="none" strike="noStrike" baseline="0" dirty="0">
                <a:solidFill>
                  <a:srgbClr val="333333"/>
                </a:solidFill>
                <a:latin typeface="BNazanin"/>
              </a:rPr>
              <a:t>اعضاي شوراي عالي شهرسازي و معماري ايران</a:t>
            </a:r>
          </a:p>
        </p:txBody>
      </p:sp>
      <p:sp>
        <p:nvSpPr>
          <p:cNvPr id="4" name="Slide Number Placeholder 3">
            <a:extLst>
              <a:ext uri="{FF2B5EF4-FFF2-40B4-BE49-F238E27FC236}">
                <a16:creationId xmlns:a16="http://schemas.microsoft.com/office/drawing/2014/main" id="{58E3EB24-87D6-4628-B096-5B82B8640592}"/>
              </a:ext>
            </a:extLst>
          </p:cNvPr>
          <p:cNvSpPr>
            <a:spLocks noGrp="1"/>
          </p:cNvSpPr>
          <p:nvPr>
            <p:ph type="sldNum" sz="quarter" idx="4"/>
          </p:nvPr>
        </p:nvSpPr>
        <p:spPr/>
        <p:txBody>
          <a:bodyPr/>
          <a:lstStyle/>
          <a:p>
            <a:fld id="{CEACA9B5-9193-4DF2-B446-76F584B62E00}" type="slidenum">
              <a:rPr lang="fa-IR" smtClean="0"/>
              <a:pPr/>
              <a:t>27</a:t>
            </a:fld>
            <a:endParaRPr lang="fa-IR"/>
          </a:p>
        </p:txBody>
      </p:sp>
    </p:spTree>
    <p:extLst>
      <p:ext uri="{BB962C8B-B14F-4D97-AF65-F5344CB8AC3E}">
        <p14:creationId xmlns:p14="http://schemas.microsoft.com/office/powerpoint/2010/main" val="3723041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افراز و فروش املاک مشاع</a:t>
            </a: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28</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44256" y="2342592"/>
            <a:ext cx="5703484" cy="333862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620918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افراز و فروش املاک مشاع</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sng" strike="noStrike" baseline="0" dirty="0">
                <a:effectLst>
                  <a:outerShdw blurRad="38100" dist="38100" dir="2700000" algn="tl">
                    <a:srgbClr val="000000">
                      <a:alpha val="43137"/>
                    </a:srgbClr>
                  </a:outerShdw>
                </a:effectLst>
                <a:latin typeface="BNazanin"/>
              </a:rPr>
              <a:t>افراز ملک </a:t>
            </a:r>
            <a:r>
              <a:rPr lang="fa-IR" b="0" i="0" u="none" strike="noStrike" baseline="0" dirty="0">
                <a:latin typeface="BNazanin"/>
              </a:rPr>
              <a:t>در قانون به معنای جدا کردن و تفکیک سهام مالکان مشاعی در یک ملک یا مال غیرمنقول مشترک است. این عمل به منظور تقسیم ملک مشاعی میان مالکان به نسبت سهام آنها انجام می‌گردد. در واقع، با افراز ملک مشاع، هر مالک به عنوان مالک انحصاری بخشی از ملک تعیین می‌شود و ملک از مشاع خارج خواهد شد.</a:t>
            </a:r>
          </a:p>
          <a:p>
            <a:pPr marL="0" indent="0" algn="just">
              <a:buNone/>
            </a:pPr>
            <a:r>
              <a:rPr lang="fa-IR" b="0" i="0" u="sng" baseline="0" dirty="0">
                <a:effectLst>
                  <a:outerShdw blurRad="38100" dist="38100" dir="2700000" algn="tl">
                    <a:srgbClr val="000000">
                      <a:alpha val="43137"/>
                    </a:srgbClr>
                  </a:outerShdw>
                </a:effectLst>
                <a:latin typeface="BNazanin"/>
              </a:rPr>
              <a:t>ملک مشاع </a:t>
            </a:r>
            <a:r>
              <a:rPr lang="fa-IR" b="0" i="0" u="none" strike="noStrike" baseline="0" dirty="0">
                <a:latin typeface="BNazanin"/>
              </a:rPr>
              <a:t>نوعی ملک است که مالکیت عرصه و اعیان آن بین 2 یا چند نفر مشترک خواهد بود و هر یک از بخش‌های این ملک تحت مالکیت شرکا است.</a:t>
            </a:r>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29</a:t>
            </a:fld>
            <a:endParaRPr lang="fa-IR"/>
          </a:p>
        </p:txBody>
      </p:sp>
    </p:spTree>
    <p:extLst>
      <p:ext uri="{BB962C8B-B14F-4D97-AF65-F5344CB8AC3E}">
        <p14:creationId xmlns:p14="http://schemas.microsoft.com/office/powerpoint/2010/main" val="4190691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افراز و فروش املاک مشاع</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اول</a:t>
            </a:r>
            <a:r>
              <a:rPr lang="fa-IR" b="0" i="0" u="none" strike="noStrike" baseline="0" dirty="0">
                <a:latin typeface="Calibri" panose="020F0502020204030204" pitchFamily="34" charset="0"/>
              </a:rPr>
              <a:t>- </a:t>
            </a:r>
            <a:r>
              <a:rPr lang="fa-IR" b="0" i="0" u="none" strike="noStrike" baseline="0" dirty="0">
                <a:latin typeface="BNazanin"/>
              </a:rPr>
              <a:t>افراز املاك مشاع كه جريان ثبتي آنها خاتمه يافته اعم از اينكه در دفتر املاك ثبت شده يا نشده باشد، در صورتيكه مورد تقاضاي يك یا چند شريك باشد با واحد ثبتي </a:t>
            </a:r>
            <a:r>
              <a:rPr lang="fa-IR" b="0" i="0" u="sng" strike="noStrike" baseline="0" dirty="0">
                <a:latin typeface="BNazanin"/>
              </a:rPr>
              <a:t>محلي خواهد بود كه ملك مذكور در حوزه آن واقع است. </a:t>
            </a:r>
            <a:r>
              <a:rPr lang="fa-IR" b="0" i="0" u="none" strike="noStrike" baseline="0" dirty="0">
                <a:latin typeface="BNazanin"/>
              </a:rPr>
              <a:t>واحد ثبتي با رعايت كليه قوانين و مقررات ملك مورد تقاضا را افراز مينمايد </a:t>
            </a:r>
            <a:r>
              <a:rPr lang="fa-IR" b="0" i="0" u="none" strike="noStrike" baseline="0" dirty="0">
                <a:latin typeface="Calibri" panose="020F0502020204030204" pitchFamily="34" charset="0"/>
              </a:rPr>
              <a:t>.</a:t>
            </a:r>
          </a:p>
          <a:p>
            <a:pPr marL="0" indent="0" algn="just">
              <a:buNone/>
            </a:pPr>
            <a:r>
              <a:rPr lang="fa-IR" b="0" i="0" u="none" strike="noStrike" baseline="0" dirty="0">
                <a:latin typeface="BNazanin"/>
              </a:rPr>
              <a:t>ماده دوم- </a:t>
            </a:r>
            <a:r>
              <a:rPr lang="fa-IR" b="0" i="0" u="sng" strike="noStrike" baseline="0" dirty="0">
                <a:latin typeface="BNazanin"/>
              </a:rPr>
              <a:t>تصميم واحد ثبتي قابل اعتراض از طرف هر يك از شركاء در دادگاه شهرستان محل وقوع ملك است مهلت اعتراض ده روز از تاريخ ابلاغ تصميم مورد اعتراض ميباشد</a:t>
            </a:r>
            <a:r>
              <a:rPr lang="fa-IR" b="0" i="0" u="none" strike="noStrike" baseline="0" dirty="0">
                <a:latin typeface="BNazanin"/>
              </a:rPr>
              <a:t>. دادگاه شهرستان رسيدگي كرده و حكم مقتضي صادر خواهد نمود. حكم دادگاه شهرستان قابل شكايت فرجامي است .</a:t>
            </a:r>
            <a:endParaRPr lang="en-US" dirty="0"/>
          </a:p>
          <a:p>
            <a:pPr marL="0" indent="0" algn="just">
              <a:buNone/>
            </a:pPr>
            <a:endParaRPr lang="fa-IR"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30</a:t>
            </a:fld>
            <a:endParaRPr lang="fa-IR"/>
          </a:p>
        </p:txBody>
      </p:sp>
    </p:spTree>
    <p:extLst>
      <p:ext uri="{BB962C8B-B14F-4D97-AF65-F5344CB8AC3E}">
        <p14:creationId xmlns:p14="http://schemas.microsoft.com/office/powerpoint/2010/main" val="360424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افراز و فروش املاک مشاع</a:t>
            </a:r>
            <a:endParaRPr lang="en-US" dirty="0">
              <a:cs typeface="2  Sara" panose="00000400000000000000" pitchFamily="2" charset="-78"/>
            </a:endParaRP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سوم- </a:t>
            </a:r>
            <a:r>
              <a:rPr lang="fa-IR" b="0" i="0" u="sng" strike="noStrike" baseline="0" dirty="0">
                <a:latin typeface="BNazanin"/>
              </a:rPr>
              <a:t>هزينه تفكيك </a:t>
            </a:r>
            <a:r>
              <a:rPr lang="fa-IR" b="0" i="0" u="none" strike="noStrike" baseline="0" dirty="0">
                <a:latin typeface="BNazanin"/>
              </a:rPr>
              <a:t>مقرر در ماده 150 قانون اصلاحي ثبت اسناد و املاك در </a:t>
            </a:r>
            <a:r>
              <a:rPr lang="fa-IR" b="0" u="sng" strike="noStrike" baseline="0" dirty="0">
                <a:latin typeface="BNazanin"/>
              </a:rPr>
              <a:t>موقع اجراي تصميم قطعي بر افراز بوسيله واحد ثبتي دريافت</a:t>
            </a:r>
            <a:r>
              <a:rPr lang="en-US" b="0" u="sng" strike="noStrike" baseline="0" dirty="0">
                <a:latin typeface="BNazanin"/>
              </a:rPr>
              <a:t> </a:t>
            </a:r>
            <a:r>
              <a:rPr lang="fa-IR" b="0" u="sng" strike="noStrike" baseline="0" dirty="0">
                <a:latin typeface="BNazanin"/>
              </a:rPr>
              <a:t>خواهد شد</a:t>
            </a:r>
            <a:r>
              <a:rPr lang="fa-IR" b="0" i="0" u="none" strike="noStrike" baseline="0" dirty="0">
                <a:latin typeface="BNazanin"/>
              </a:rPr>
              <a:t> .</a:t>
            </a:r>
          </a:p>
          <a:p>
            <a:pPr marL="0" indent="0" algn="just">
              <a:buNone/>
            </a:pPr>
            <a:r>
              <a:rPr lang="fa-IR" b="0" i="0" u="none" strike="noStrike" baseline="0" dirty="0">
                <a:latin typeface="BNazanin"/>
              </a:rPr>
              <a:t>ماده چهارم- ملكي كه بموجب تصميم قطعي غير قابل افراز تشخيص شود با تقاضاي هر يك از شركاء بدستور دادگاه شهرستان فروخته ميشود.</a:t>
            </a:r>
          </a:p>
          <a:p>
            <a:pPr marL="0" indent="0" algn="just">
              <a:buNone/>
            </a:pPr>
            <a:r>
              <a:rPr lang="fa-IR" b="0" i="0" u="none" strike="noStrike" baseline="0" dirty="0">
                <a:latin typeface="BNazanin"/>
              </a:rPr>
              <a:t>ماده پنجم- ترتيب رسيدگي واحد ثبتي و ابلاغ اوراق و ترتيب فروش املاك و غير قابل افراز و تقسيم وجوه حاصل بين شركاء و بطور كلي </a:t>
            </a:r>
            <a:r>
              <a:rPr lang="fa-IR" b="0" i="0" u="sng" strike="noStrike" baseline="0" dirty="0">
                <a:latin typeface="BNazanin"/>
              </a:rPr>
              <a:t>مقررات اجرائي اين قانون طبق آئين نامه اي خواهد بود كه بتصويب وزارت دادگستري ميرسد.</a:t>
            </a:r>
            <a:endParaRPr lang="fa-IR" b="0" i="0" u="none" strike="noStrike" baseline="0" dirty="0">
              <a:latin typeface="BNazanin"/>
            </a:endParaRPr>
          </a:p>
          <a:p>
            <a:pPr marL="0" indent="0" algn="just">
              <a:buNone/>
            </a:pP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31</a:t>
            </a:fld>
            <a:endParaRPr lang="fa-IR"/>
          </a:p>
        </p:txBody>
      </p:sp>
    </p:spTree>
    <p:extLst>
      <p:ext uri="{BB962C8B-B14F-4D97-AF65-F5344CB8AC3E}">
        <p14:creationId xmlns:p14="http://schemas.microsoft.com/office/powerpoint/2010/main" val="649670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تعاریف و ضوابط تقسیمات کشوری</a:t>
            </a: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32</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3916644" y="2225304"/>
            <a:ext cx="4358708" cy="387440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957839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تعاریف و ضوابط تقسیمات کشوری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1 - عناصر تقسيمات كشوري عبارتند از: روستا، دهستان، شهر، بخش، شهرستان و استان .</a:t>
            </a:r>
          </a:p>
          <a:p>
            <a:pPr marL="0" indent="0" algn="just">
              <a:buNone/>
            </a:pPr>
            <a:r>
              <a:rPr lang="fa-IR" dirty="0"/>
              <a:t>ماده 2 - </a:t>
            </a:r>
            <a:r>
              <a:rPr lang="fa-IR" b="1" dirty="0"/>
              <a:t>روستا</a:t>
            </a:r>
            <a:r>
              <a:rPr lang="fa-IR" dirty="0"/>
              <a:t> واحد مبداء تقسيمات كشوري است كه از لحاظ محيط زيستي همگن بوده كه با حوزه و قلمرو معين ثبتي يا عرفي مستقل كه حداقل تعداد 20 خانوار يا صد نفر اعم از متمركز يا پراكنده در آنجا سكونت داشته باشند و اكثريت ساكنان دائمي آن بطور مستقيم يا غيرمستقيم به يكي از فعاليتهاي كشاورزي، دامداري، باغداري بطور اعم و صنايع روستائي و صيد و يا تركيبي از اين فعاليتها اشتغال داشته باشند و در عرف بعنوان ده، آبادي، دهكده يا قريه ناميده ميشده است .</a:t>
            </a: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33</a:t>
            </a:fld>
            <a:endParaRPr lang="fa-IR"/>
          </a:p>
        </p:txBody>
      </p:sp>
    </p:spTree>
    <p:extLst>
      <p:ext uri="{BB962C8B-B14F-4D97-AF65-F5344CB8AC3E}">
        <p14:creationId xmlns:p14="http://schemas.microsoft.com/office/powerpoint/2010/main" val="2707205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تعاریف و ضوابط تقسیمات کشوری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3 - </a:t>
            </a:r>
            <a:r>
              <a:rPr lang="fa-IR" b="1" i="0" u="none" strike="noStrike" baseline="0" dirty="0">
                <a:latin typeface="BNazanin"/>
              </a:rPr>
              <a:t>دهستان</a:t>
            </a:r>
            <a:r>
              <a:rPr lang="fa-IR" b="0" i="0" u="none" strike="noStrike" baseline="0" dirty="0">
                <a:latin typeface="BNazanin"/>
              </a:rPr>
              <a:t> كوچكترين واحد تقسيمات كشوري است كه داراي محدوده جغرافيائي معين بوده و از بهم پيوستن چند روستا، مكان، مزرعه همجوار تشكيل ميشود كه از لحاظ محيط طبيعي، فرهنگي، اقتصادي و اجتماعي همگن بوده و امكان خدمات رساني و برنامه ريزي در سيستم و شبكه واحدي را فراهم مينمايد.</a:t>
            </a: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34</a:t>
            </a:fld>
            <a:endParaRPr lang="fa-IR"/>
          </a:p>
        </p:txBody>
      </p:sp>
    </p:spTree>
    <p:extLst>
      <p:ext uri="{BB962C8B-B14F-4D97-AF65-F5344CB8AC3E}">
        <p14:creationId xmlns:p14="http://schemas.microsoft.com/office/powerpoint/2010/main" val="3603092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تعاریف و ضوابط تقسیمات کشوری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4 - </a:t>
            </a:r>
            <a:r>
              <a:rPr lang="fa-IR" b="1" i="0" u="none" strike="noStrike" baseline="0" dirty="0">
                <a:latin typeface="BNazanin"/>
              </a:rPr>
              <a:t>شهر</a:t>
            </a:r>
            <a:r>
              <a:rPr lang="fa-IR" b="0" i="0" u="none" strike="noStrike" baseline="0" dirty="0">
                <a:latin typeface="BNazanin"/>
              </a:rPr>
              <a:t>، محلي است با حدود قانوني كه در محدوده جغرافيائي بخش واقع شده و از نظر بافت ساختماني، اشتغال و ساير عوامل، داراي سيمائي با ويژگيهاي خاص خود بوده بطوريكه اكثريت ساكنان دائمي آن در مشاغل كسب، تجارت، صنعت، كشاورزي، خدمات و فعاليتهاي اداري اشتغال داشته و در زمينه خدمات شهري از خودكفائي نسبي برخوردار و كانون مبادلات اجتماعي، اقتصادي، فرهنگي و سياسي حوزه جذب و نفوذ پيرامون خود بوده و حداقل داراي ده هزار نفر جمعيت باشد.</a:t>
            </a: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35</a:t>
            </a:fld>
            <a:endParaRPr lang="fa-IR"/>
          </a:p>
        </p:txBody>
      </p:sp>
    </p:spTree>
    <p:extLst>
      <p:ext uri="{BB962C8B-B14F-4D97-AF65-F5344CB8AC3E}">
        <p14:creationId xmlns:p14="http://schemas.microsoft.com/office/powerpoint/2010/main" val="3176942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تعاریف و ضوابط تقسیمات کشوری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6 - </a:t>
            </a:r>
            <a:r>
              <a:rPr lang="fa-IR" b="1" i="0" u="none" strike="noStrike" baseline="0" dirty="0">
                <a:latin typeface="BNazanin"/>
              </a:rPr>
              <a:t>بخش</a:t>
            </a:r>
            <a:r>
              <a:rPr lang="fa-IR" b="0" i="0" u="none" strike="noStrike" baseline="0" dirty="0">
                <a:latin typeface="BNazanin"/>
              </a:rPr>
              <a:t> واحدي است از تقسيمات كشوري كه داراي محدوده جغرافيائي معين بوده و از بهم پيوستن چند دهستان همجوار مشتمل بر چندين مزرعه، مكان، روستا و احياناً شهر كه در آن عوامل طبيعي و اوضاع اجتماعي، فرهنگي، اقتصادي و سياسي واحد همگني را بوجود مي آورد بنحوي كه با در نظر گرفتن تناسب، وسعت، جمعيت، ارتباطات و دسترسي و ساير موقعيتها، نيل به اهداف و برنامه ريزي هاي دولت در جهت احياء امكانات طبيعي و استعدادهاي اجتماعي و توسعه امور رفاهي و اقتصادي آن تسهيل گردد .</a:t>
            </a: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36</a:t>
            </a:fld>
            <a:endParaRPr lang="fa-IR"/>
          </a:p>
        </p:txBody>
      </p:sp>
    </p:spTree>
    <p:extLst>
      <p:ext uri="{BB962C8B-B14F-4D97-AF65-F5344CB8AC3E}">
        <p14:creationId xmlns:p14="http://schemas.microsoft.com/office/powerpoint/2010/main" val="2815857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تعاریف و ضوابط تقسیمات کشوری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7 - </a:t>
            </a:r>
            <a:r>
              <a:rPr lang="fa-IR" b="1" i="0" u="none" strike="noStrike" baseline="0" dirty="0">
                <a:latin typeface="BNazanin"/>
              </a:rPr>
              <a:t>شهرستان</a:t>
            </a:r>
            <a:r>
              <a:rPr lang="fa-IR" b="0" i="0" u="none" strike="noStrike" baseline="0" dirty="0">
                <a:latin typeface="BNazanin"/>
              </a:rPr>
              <a:t> واحدي از تقسيمات كشوري است با محدوده جغرافيائي معين كه از بهم پيوستن چند بخش همجوار كه از نظر عوامل طبيعي، اجتماعي، اقتصادي، سياسي و فرهنگي واحد متناسب و همگني را بوجود آورده اند.</a:t>
            </a:r>
          </a:p>
          <a:p>
            <a:pPr marL="0" indent="0" algn="just">
              <a:buNone/>
            </a:pPr>
            <a:r>
              <a:rPr lang="fa-IR" b="0" i="0" u="none" strike="noStrike" baseline="0" dirty="0">
                <a:latin typeface="BNazanin"/>
              </a:rPr>
              <a:t>ماده 9 - </a:t>
            </a:r>
            <a:r>
              <a:rPr lang="fa-IR" b="1" i="0" u="none" strike="noStrike" baseline="0" dirty="0">
                <a:latin typeface="BNazanin"/>
              </a:rPr>
              <a:t>استان</a:t>
            </a:r>
            <a:r>
              <a:rPr lang="fa-IR" b="0" i="0" u="none" strike="noStrike" baseline="0" dirty="0">
                <a:latin typeface="BNazanin"/>
              </a:rPr>
              <a:t>، واحدي از تقسيمات كشوري است با محدوده جغرافيائي معين، كه از بهم پيوستن چند شهرستان همجوار با توجه به موقعيتهاي سياسي، اجتماعي، فرهنگي، اقتصادي و طبيعي تشكيل ميشود.</a:t>
            </a:r>
            <a:endParaRPr lang="en-US" dirty="0"/>
          </a:p>
          <a:p>
            <a:pPr marL="0" indent="0" algn="just">
              <a:buNone/>
            </a:pP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37</a:t>
            </a:fld>
            <a:endParaRPr lang="fa-IR"/>
          </a:p>
        </p:txBody>
      </p:sp>
    </p:spTree>
    <p:extLst>
      <p:ext uri="{BB962C8B-B14F-4D97-AF65-F5344CB8AC3E}">
        <p14:creationId xmlns:p14="http://schemas.microsoft.com/office/powerpoint/2010/main" val="3520195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زمین شهری</a:t>
            </a:r>
            <a:endParaRPr lang="en-US" sz="44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38</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57702" y="2278744"/>
            <a:ext cx="5276595" cy="360567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567739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زمین شهری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b="0" i="0" u="none" strike="noStrike" baseline="0" dirty="0">
                <a:latin typeface="BNazanin"/>
              </a:rPr>
              <a:t>ماده 2 - </a:t>
            </a:r>
            <a:r>
              <a:rPr lang="fa-IR" b="1" i="0" u="none" strike="noStrike" baseline="0" dirty="0">
                <a:latin typeface="BNazanin"/>
              </a:rPr>
              <a:t>اراضي شهري </a:t>
            </a:r>
            <a:r>
              <a:rPr lang="fa-IR" b="0" i="0" u="none" strike="noStrike" baseline="0" dirty="0">
                <a:latin typeface="BNazanin"/>
              </a:rPr>
              <a:t>زمينهائي است كه در محدوده قانوني و حريم استحفاظي شهرها و شهركها قرار گرفته است.</a:t>
            </a:r>
          </a:p>
          <a:p>
            <a:pPr marL="0" indent="0" algn="just">
              <a:buNone/>
            </a:pPr>
            <a:r>
              <a:rPr lang="fa-IR" b="0" i="0" u="none" strike="noStrike" baseline="0" dirty="0">
                <a:latin typeface="BNazanin"/>
              </a:rPr>
              <a:t>ماده 3 - </a:t>
            </a:r>
            <a:r>
              <a:rPr lang="fa-IR" b="1" i="0" u="none" strike="noStrike" baseline="0" dirty="0">
                <a:latin typeface="BNazanin"/>
              </a:rPr>
              <a:t>اراضي مَوات شهري </a:t>
            </a:r>
            <a:r>
              <a:rPr lang="fa-IR" b="0" i="0" u="none" strike="noStrike" baseline="0" dirty="0">
                <a:latin typeface="BNazanin"/>
              </a:rPr>
              <a:t>زمينهائي است كه سابقه عمران و احياء نداشته باشد.</a:t>
            </a:r>
          </a:p>
          <a:p>
            <a:pPr marL="0" indent="0" algn="just">
              <a:buNone/>
            </a:pPr>
            <a:r>
              <a:rPr lang="fa-IR" b="0" i="0" u="none" strike="noStrike" baseline="0" dirty="0">
                <a:latin typeface="BNazanin"/>
              </a:rPr>
              <a:t>ماده 4 - </a:t>
            </a:r>
            <a:r>
              <a:rPr lang="fa-IR" b="1" i="0" u="none" strike="noStrike" baseline="0" dirty="0">
                <a:latin typeface="BNazanin"/>
              </a:rPr>
              <a:t>اراضي باير شهري </a:t>
            </a:r>
            <a:r>
              <a:rPr lang="fa-IR" b="0" i="0" u="none" strike="noStrike" baseline="0" dirty="0">
                <a:latin typeface="BNazanin"/>
              </a:rPr>
              <a:t>زمينهائي است كه سابقه عمران و احياء داشته و بتدريج بحالت موات برگشته اعم از آنكه صاحب مشخصي داشته و يا نداشته باشد.</a:t>
            </a:r>
          </a:p>
          <a:p>
            <a:pPr marL="0" indent="0" algn="just">
              <a:buNone/>
            </a:pPr>
            <a:r>
              <a:rPr lang="fa-IR" b="0" i="0" u="none" strike="noStrike" baseline="0" dirty="0">
                <a:latin typeface="BNazanin"/>
              </a:rPr>
              <a:t>ماده 5 - </a:t>
            </a:r>
            <a:r>
              <a:rPr lang="fa-IR" b="1" i="0" u="none" strike="noStrike" baseline="0" dirty="0">
                <a:latin typeface="BNazanin"/>
              </a:rPr>
              <a:t>اراضي داير</a:t>
            </a:r>
            <a:r>
              <a:rPr lang="fa-IR" b="0" i="0" u="none" strike="noStrike" baseline="0" dirty="0">
                <a:latin typeface="BNazanin"/>
              </a:rPr>
              <a:t> زمينهائي است كه آنرا احياء و آباد نموده اند و در حال حاضر داير و مورد بهره برداري مالك است.</a:t>
            </a:r>
            <a:endParaRPr lang="en-US" dirty="0"/>
          </a:p>
          <a:p>
            <a:pPr marL="0" indent="0" algn="just">
              <a:buNone/>
            </a:pP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39</a:t>
            </a:fld>
            <a:endParaRPr lang="fa-IR"/>
          </a:p>
        </p:txBody>
      </p:sp>
    </p:spTree>
    <p:extLst>
      <p:ext uri="{BB962C8B-B14F-4D97-AF65-F5344CB8AC3E}">
        <p14:creationId xmlns:p14="http://schemas.microsoft.com/office/powerpoint/2010/main" val="2415395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A69BA-2001-442C-BFF1-60DF65019D2E}"/>
              </a:ext>
            </a:extLst>
          </p:cNvPr>
          <p:cNvSpPr>
            <a:spLocks noGrp="1"/>
          </p:cNvSpPr>
          <p:nvPr>
            <p:ph type="body" sz="quarter" idx="10"/>
          </p:nvPr>
        </p:nvSpPr>
        <p:spPr/>
        <p:txBody>
          <a:bodyPr/>
          <a:lstStyle/>
          <a:p>
            <a:r>
              <a:rPr lang="fa-IR" dirty="0">
                <a:cs typeface="2  Sara" panose="00000400000000000000" pitchFamily="2" charset="-78"/>
              </a:rPr>
              <a:t>قانون زمین شهری</a:t>
            </a:r>
          </a:p>
        </p:txBody>
      </p:sp>
      <p:sp>
        <p:nvSpPr>
          <p:cNvPr id="3" name="Text Placeholder 2">
            <a:extLst>
              <a:ext uri="{FF2B5EF4-FFF2-40B4-BE49-F238E27FC236}">
                <a16:creationId xmlns:a16="http://schemas.microsoft.com/office/drawing/2014/main" id="{82A44909-C07F-4370-BE63-136905EE9A2D}"/>
              </a:ext>
            </a:extLst>
          </p:cNvPr>
          <p:cNvSpPr>
            <a:spLocks noGrp="1"/>
          </p:cNvSpPr>
          <p:nvPr>
            <p:ph type="body" sz="quarter" idx="11"/>
          </p:nvPr>
        </p:nvSpPr>
        <p:spPr/>
        <p:txBody>
          <a:bodyPr>
            <a:normAutofit/>
          </a:bodyPr>
          <a:lstStyle/>
          <a:p>
            <a:pPr marL="0" indent="0" algn="just">
              <a:buNone/>
            </a:pPr>
            <a:r>
              <a:rPr lang="fa-IR" dirty="0"/>
              <a:t>ماده 6 - كليه زمينهاي موات شهري اعم از آنكه در اختيار اشخاص يا بنيادها و نهادهاي انقلابي دولتي و يا غيردولتي باشد در اختيار دولت جمهوري اسلامي است و اسناد و مدارك مالكيت گذشته ارزش قانوني ندارد.</a:t>
            </a:r>
          </a:p>
          <a:p>
            <a:pPr marL="0" indent="0" algn="just">
              <a:buNone/>
            </a:pPr>
            <a:r>
              <a:rPr lang="fa-IR" dirty="0"/>
              <a:t>ماده 8 - كليه اراضي باير شهري كه صاحب مشخصي نداشته باشد در اختيار ولي فقيه ميباشد.</a:t>
            </a:r>
          </a:p>
          <a:p>
            <a:pPr marL="0" indent="0" algn="just">
              <a:buNone/>
            </a:pPr>
            <a:r>
              <a:rPr lang="fa-IR" dirty="0"/>
              <a:t>ماده 15 - هرگونه تفكيك و تقسيم اراضي باير جهت عمران و احداث بنا با رعايت ضوابط و مقررات وزارت راه و شهرسازي و مواد اين قانون بلااشكال است.</a:t>
            </a:r>
            <a:endParaRPr lang="en-US" dirty="0"/>
          </a:p>
        </p:txBody>
      </p:sp>
      <p:sp>
        <p:nvSpPr>
          <p:cNvPr id="4" name="Slide Number Placeholder 3">
            <a:extLst>
              <a:ext uri="{FF2B5EF4-FFF2-40B4-BE49-F238E27FC236}">
                <a16:creationId xmlns:a16="http://schemas.microsoft.com/office/drawing/2014/main" id="{975541DD-FA12-438B-AC77-E4599EEDEEF3}"/>
              </a:ext>
            </a:extLst>
          </p:cNvPr>
          <p:cNvSpPr>
            <a:spLocks noGrp="1"/>
          </p:cNvSpPr>
          <p:nvPr>
            <p:ph type="sldNum" sz="quarter" idx="4"/>
          </p:nvPr>
        </p:nvSpPr>
        <p:spPr/>
        <p:txBody>
          <a:bodyPr/>
          <a:lstStyle/>
          <a:p>
            <a:fld id="{CEACA9B5-9193-4DF2-B446-76F584B62E00}" type="slidenum">
              <a:rPr lang="fa-IR" smtClean="0"/>
              <a:pPr/>
              <a:t>40</a:t>
            </a:fld>
            <a:endParaRPr lang="fa-IR"/>
          </a:p>
        </p:txBody>
      </p:sp>
    </p:spTree>
    <p:extLst>
      <p:ext uri="{BB962C8B-B14F-4D97-AF65-F5344CB8AC3E}">
        <p14:creationId xmlns:p14="http://schemas.microsoft.com/office/powerpoint/2010/main" val="3418471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3200" b="1" dirty="0">
                <a:latin typeface="Arabic Typesetting" panose="03020402040406030203" pitchFamily="66" charset="-78"/>
                <a:cs typeface="2  Sara" panose="00000400000000000000" pitchFamily="2" charset="-78"/>
                <a:hlinkClick r:id="rId3" action="ppaction://hlinkfile"/>
              </a:rPr>
              <a:t>قانون تعیین وضعیت املاک واقع در طرحهای دولتی وشهرداری ها</a:t>
            </a:r>
            <a:endParaRPr lang="en-US" sz="3200" b="1" dirty="0"/>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41</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00449" y="2359715"/>
            <a:ext cx="5991098" cy="343988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905579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fontScale="85000" lnSpcReduction="10000"/>
          </a:bodyPr>
          <a:lstStyle/>
          <a:p>
            <a:r>
              <a:rPr lang="fa-IR" sz="3600" dirty="0">
                <a:latin typeface="Arabic Typesetting" panose="03020402040406030203" pitchFamily="66" charset="-78"/>
                <a:cs typeface="2  Sara" panose="00000400000000000000" pitchFamily="2" charset="-78"/>
              </a:rPr>
              <a:t>قانون تعیین وضعیت املاک واقع در طرحهای دولتی وشهرداری ها</a:t>
            </a:r>
            <a:endParaRPr lang="en-US" sz="3600" dirty="0"/>
          </a:p>
          <a:p>
            <a:endParaRPr lang="en-US" dirty="0"/>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p:txBody>
          <a:bodyPr>
            <a:normAutofit/>
          </a:bodyPr>
          <a:lstStyle/>
          <a:p>
            <a:pPr marL="0" indent="0" algn="just">
              <a:buNone/>
            </a:pPr>
            <a:r>
              <a:rPr lang="fa-IR" dirty="0"/>
              <a:t>ماده واحده- كليه وزارتخانه ها، مؤسسات، سازمانها، نهادها، شركتهاي دولتي يا وابسته به دولت و شهرداريها و مؤسساتي كه شمول قانون بر آنها مستلزم ذكر نام باشد، مكلف ميباشند در طرحهاي عمومي يا عمراني كه ضرورت اجراء آنها توسط وزير يا بالاترين مقام دستگاه اجرائي با رعايت ضوابط مربوطه تصويب و اعلان شده باشد و در اراضي و املاك شرعي و قانوني اشخاص اعم از (حقيقي و حقوق) قرار داشته و در داخل محدوده شهرها و شهركها و حريم استحفاظي آنها باشد، پس از اعلام رسمي وجود طرح، حداكثر ظرف مدت هجده ماه نسبت به انجام معامله قطعي و انتقال اسناد رسمي و پرداخت بهاء يا عوض آن طبق قوانين مربوطه اقدام نمايند.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42</a:t>
            </a:fld>
            <a:endParaRPr lang="fa-IR"/>
          </a:p>
        </p:txBody>
      </p:sp>
    </p:spTree>
    <p:extLst>
      <p:ext uri="{BB962C8B-B14F-4D97-AF65-F5344CB8AC3E}">
        <p14:creationId xmlns:p14="http://schemas.microsoft.com/office/powerpoint/2010/main" val="5320724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fontScale="85000" lnSpcReduction="10000"/>
          </a:bodyPr>
          <a:lstStyle/>
          <a:p>
            <a:r>
              <a:rPr lang="fa-IR" sz="3600" dirty="0">
                <a:latin typeface="Arabic Typesetting" panose="03020402040406030203" pitchFamily="66" charset="-78"/>
                <a:cs typeface="2  Sara" panose="00000400000000000000" pitchFamily="2" charset="-78"/>
              </a:rPr>
              <a:t>قانون تعیین وضعیت املاک واقع در طرحهای دولتی وشهرداری ها</a:t>
            </a:r>
            <a:endParaRPr lang="en-US" sz="3600" dirty="0"/>
          </a:p>
          <a:p>
            <a:endParaRPr lang="en-US" dirty="0"/>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p:txBody>
          <a:bodyPr>
            <a:normAutofit/>
          </a:bodyPr>
          <a:lstStyle/>
          <a:p>
            <a:pPr marL="0" indent="0" algn="just">
              <a:buNone/>
            </a:pPr>
            <a:r>
              <a:rPr lang="fa-IR" dirty="0"/>
              <a:t>تبصره </a:t>
            </a:r>
            <a:r>
              <a:rPr lang="fa-IR" dirty="0">
                <a:highlight>
                  <a:srgbClr val="FFFF00"/>
                </a:highlight>
              </a:rPr>
              <a:t>: در صورتيكه اجراي طرح</a:t>
            </a:r>
            <a:r>
              <a:rPr lang="fa-IR" dirty="0"/>
              <a:t> و تملك املاك واقع در آن </a:t>
            </a:r>
            <a:r>
              <a:rPr lang="fa-IR" dirty="0">
                <a:highlight>
                  <a:srgbClr val="FFFF00"/>
                </a:highlight>
              </a:rPr>
              <a:t>بموجب برنامه زمان بندي </a:t>
            </a:r>
            <a:r>
              <a:rPr lang="fa-IR" dirty="0"/>
              <a:t>مصوب </a:t>
            </a:r>
            <a:r>
              <a:rPr lang="fa-IR" dirty="0">
                <a:highlight>
                  <a:srgbClr val="FFFF00"/>
                </a:highlight>
              </a:rPr>
              <a:t>به حداقل 5 سال بعد موكول شده باشد</a:t>
            </a:r>
            <a:r>
              <a:rPr lang="fa-IR" dirty="0"/>
              <a:t>، مالكين املاك واقع در طرح از كليه حقوق مالكانه مانند احداث يا تجديد بنا يا افزايش بنا و تعمير و فروش و اجاره و رهن و غيره برخوردارند و </a:t>
            </a:r>
            <a:r>
              <a:rPr lang="fa-IR" dirty="0">
                <a:highlight>
                  <a:srgbClr val="FFFF00"/>
                </a:highlight>
              </a:rPr>
              <a:t>در صورتيكه كمتر از 5 سال باشد </a:t>
            </a:r>
            <a:r>
              <a:rPr lang="fa-IR" dirty="0"/>
              <a:t>مالك هنگام اخذ پروانه تعهد مينمايد هر گاه زمان اجراي طرح قبل از پنجسال شروع شود حق مطالبه هزينه احداث وتجديد بنا را ندارد.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43</a:t>
            </a:fld>
            <a:endParaRPr lang="fa-IR"/>
          </a:p>
        </p:txBody>
      </p:sp>
    </p:spTree>
    <p:extLst>
      <p:ext uri="{BB962C8B-B14F-4D97-AF65-F5344CB8AC3E}">
        <p14:creationId xmlns:p14="http://schemas.microsoft.com/office/powerpoint/2010/main" val="4273069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3200" b="1" dirty="0">
                <a:latin typeface="Arabic Typesetting" panose="03020402040406030203" pitchFamily="66" charset="-78"/>
                <a:cs typeface="2  Sara" panose="00000400000000000000" pitchFamily="2" charset="-78"/>
                <a:hlinkClick r:id="rId3" action="ppaction://hlinkfile"/>
              </a:rPr>
              <a:t>قانون نحوه تقويم ابنيه، املاک و اراضی مورد نياز شهرداری‌ها</a:t>
            </a:r>
            <a:endParaRPr lang="en-US" sz="32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44</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69820" y="2387036"/>
            <a:ext cx="6252355" cy="312617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2790573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fontScale="92500"/>
          </a:bodyPr>
          <a:lstStyle/>
          <a:p>
            <a:r>
              <a:rPr lang="fa-IR" sz="3600" dirty="0">
                <a:latin typeface="Arabic Typesetting" panose="03020402040406030203" pitchFamily="66" charset="-78"/>
                <a:cs typeface="2  Sara" panose="00000400000000000000" pitchFamily="2" charset="-78"/>
              </a:rPr>
              <a:t>قانون نحوه تقويم ابنيه، املاک و اراضی مورد نياز شهرداری‌ها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ماده واحده- در كليه قوانين و مقرراتي كه شهرداريها مجاز به تملك ابنيه، املاك و اراضي قانوني مردم ميباشند در صورت </a:t>
            </a:r>
            <a:r>
              <a:rPr lang="fa-IR" u="sng" dirty="0"/>
              <a:t>عدم توافق بين شهرداري و مالك</a:t>
            </a:r>
            <a:r>
              <a:rPr lang="fa-IR" dirty="0"/>
              <a:t>، قيمت ابنيه، املاك و اراضي بايستي به قيمت روز تقويم و پرداخت شود . </a:t>
            </a:r>
          </a:p>
          <a:p>
            <a:pPr marL="0" indent="0" algn="just">
              <a:buNone/>
            </a:pPr>
            <a:r>
              <a:rPr lang="fa-IR" dirty="0"/>
              <a:t>تبصره 1 - قيمت روز توسط هيأتي مركب از </a:t>
            </a:r>
            <a:r>
              <a:rPr lang="fa-IR" dirty="0">
                <a:highlight>
                  <a:srgbClr val="00FF00"/>
                </a:highlight>
              </a:rPr>
              <a:t>سه نفر كارشناس رسمي دادگستري </a:t>
            </a:r>
            <a:r>
              <a:rPr lang="fa-IR" dirty="0"/>
              <a:t>و مورد وثوق كه </a:t>
            </a:r>
            <a:r>
              <a:rPr lang="fa-IR" dirty="0">
                <a:highlight>
                  <a:srgbClr val="FFFF00"/>
                </a:highlight>
              </a:rPr>
              <a:t>يك نفر به انتخاب شهرداري </a:t>
            </a:r>
            <a:r>
              <a:rPr lang="fa-IR" dirty="0"/>
              <a:t>و </a:t>
            </a:r>
            <a:r>
              <a:rPr lang="fa-IR" dirty="0">
                <a:highlight>
                  <a:srgbClr val="FFFF00"/>
                </a:highlight>
              </a:rPr>
              <a:t>يك نفر به انتخا ب مالك يا صاحب حق </a:t>
            </a:r>
            <a:r>
              <a:rPr lang="fa-IR" dirty="0"/>
              <a:t>و </a:t>
            </a:r>
            <a:r>
              <a:rPr lang="fa-IR" dirty="0">
                <a:highlight>
                  <a:srgbClr val="FFFF00"/>
                </a:highlight>
              </a:rPr>
              <a:t>نفر سوم به انتخاب طرفين </a:t>
            </a:r>
            <a:r>
              <a:rPr lang="fa-IR" dirty="0"/>
              <a:t>مي باشد تعيين خواهد شد، رأي اكثريت هيأت مزبور قطعي و لازم الاجرا است .</a:t>
            </a:r>
          </a:p>
          <a:p>
            <a:pPr marL="0" indent="0" algn="just">
              <a:buNone/>
            </a:pPr>
            <a:r>
              <a:rPr lang="fa-IR" dirty="0"/>
              <a:t>تبصره 2 - در صورت عدم توافق در انتخاب كارشناس سوم، دادگاه صالح محل وقوع ملك، اقدام به معرفي كارشناس خواهد نمود.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45</a:t>
            </a:fld>
            <a:endParaRPr lang="fa-IR"/>
          </a:p>
        </p:txBody>
      </p:sp>
    </p:spTree>
    <p:extLst>
      <p:ext uri="{BB962C8B-B14F-4D97-AF65-F5344CB8AC3E}">
        <p14:creationId xmlns:p14="http://schemas.microsoft.com/office/powerpoint/2010/main" val="35892814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3200" b="1" dirty="0">
                <a:latin typeface="Arabic Typesetting" panose="03020402040406030203" pitchFamily="66" charset="-78"/>
                <a:cs typeface="2  Sara" panose="00000400000000000000" pitchFamily="2" charset="-78"/>
                <a:hlinkClick r:id="rId3" action="ppaction://hlinkfile"/>
              </a:rPr>
              <a:t>نحوه پرداخت عوارض شهرداری در قراردادهای پیمانکاری</a:t>
            </a:r>
            <a:endParaRPr lang="en-US" sz="32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46</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23820" y="2363052"/>
            <a:ext cx="5744355" cy="35808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5934174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47</a:t>
            </a:fld>
            <a:endParaRPr lang="fa-IR"/>
          </a:p>
        </p:txBody>
      </p:sp>
      <p:pic>
        <p:nvPicPr>
          <p:cNvPr id="8" name="Picture 7">
            <a:extLst>
              <a:ext uri="{FF2B5EF4-FFF2-40B4-BE49-F238E27FC236}">
                <a16:creationId xmlns:a16="http://schemas.microsoft.com/office/drawing/2014/main" id="{96E3688F-AC5D-42E4-874E-599842748C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0600" y="-39467"/>
            <a:ext cx="5130800" cy="6936934"/>
          </a:xfrm>
          <a:prstGeom prst="rect">
            <a:avLst/>
          </a:prstGeom>
        </p:spPr>
      </p:pic>
    </p:spTree>
    <p:extLst>
      <p:ext uri="{BB962C8B-B14F-4D97-AF65-F5344CB8AC3E}">
        <p14:creationId xmlns:p14="http://schemas.microsoft.com/office/powerpoint/2010/main" val="40040969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احداث تونل مشترک شهری</a:t>
            </a:r>
            <a:endParaRPr lang="en-US" sz="44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48</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335338" y="2363052"/>
            <a:ext cx="5519685" cy="35808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62085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احداث تونل مشترک شهری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 ه 1 - دولت مكلف است جهت آماده سازي اراضي و احداث شهرهاي جديد توسط وزارت راه و شهرسازي از محل منابع در اختيار نسبت به </a:t>
            </a:r>
            <a:r>
              <a:rPr lang="fa-IR" dirty="0">
                <a:highlight>
                  <a:srgbClr val="00FF00"/>
                </a:highlight>
              </a:rPr>
              <a:t>احداث تونل مشترك موردنياز سازمان ها و شركت هايئ متولي خدمات شهري مانند آب و فاضلاب، برق، گاز، تلفن و ساير خدمات </a:t>
            </a:r>
            <a:r>
              <a:rPr lang="fa-IR" dirty="0"/>
              <a:t>با رعايت اصول فني و مسائل ايمني مربوط به هر دستگاه اقدام نموده و </a:t>
            </a:r>
            <a:r>
              <a:rPr lang="fa-IR" dirty="0">
                <a:highlight>
                  <a:srgbClr val="FFFF00"/>
                </a:highlight>
              </a:rPr>
              <a:t>هزينه احداث را به اضافه ده درصد از بودجه سال آينده دستگاه هاي بهره بردار كسر و يا از بهره برداران بخش غيردولتي دريافت نمايد</a:t>
            </a:r>
            <a:r>
              <a:rPr lang="fa-IR" dirty="0"/>
              <a:t>. منابع حاصله در حساب هاي درآمد هزينه نگهداري و ضمن بودجه هاي سنواتي و براي توسعه جديد تونل هاي مشترك به كار گرفته ميشود.</a:t>
            </a:r>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49</a:t>
            </a:fld>
            <a:endParaRPr lang="fa-IR"/>
          </a:p>
        </p:txBody>
      </p:sp>
    </p:spTree>
    <p:extLst>
      <p:ext uri="{BB962C8B-B14F-4D97-AF65-F5344CB8AC3E}">
        <p14:creationId xmlns:p14="http://schemas.microsoft.com/office/powerpoint/2010/main" val="1016739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احداث تونل مشترک شهری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ماده 2 - وزارت راه و شهرسازي در اراضي آماده سازي و شهرهاي جديد </a:t>
            </a:r>
            <a:r>
              <a:rPr lang="fa-IR" dirty="0">
                <a:highlight>
                  <a:srgbClr val="FFFF00"/>
                </a:highlight>
              </a:rPr>
              <a:t>مكلف است نسبت به اجراي تونل مشترك خدمات شهري اقدام و هزينه آن را از دستگاههاي بهره بردار دريافت نمايد </a:t>
            </a:r>
            <a:r>
              <a:rPr lang="fa-IR" dirty="0"/>
              <a:t>.</a:t>
            </a:r>
          </a:p>
          <a:p>
            <a:pPr marL="0" indent="0" algn="just">
              <a:buNone/>
            </a:pPr>
            <a:r>
              <a:rPr lang="fa-IR" dirty="0"/>
              <a:t>ماده 4 - </a:t>
            </a:r>
            <a:r>
              <a:rPr lang="fa-IR" dirty="0">
                <a:highlight>
                  <a:srgbClr val="00FFFF"/>
                </a:highlight>
              </a:rPr>
              <a:t>تعمير و نگهداري تونلهاي شهري برعهده شهرداري است </a:t>
            </a:r>
            <a:r>
              <a:rPr lang="fa-IR" dirty="0"/>
              <a:t>و هزينه آن براساس دستورالعملي كه توسط وزارت كشور (سازمان شهرداري ها و دهياري ها) تهيه ميگردد با تصويب هيأت وزيران سالانه از دستگاه هاي بهره بردار وصول ميشود.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50</a:t>
            </a:fld>
            <a:endParaRPr lang="fa-IR"/>
          </a:p>
        </p:txBody>
      </p:sp>
    </p:spTree>
    <p:extLst>
      <p:ext uri="{BB962C8B-B14F-4D97-AF65-F5344CB8AC3E}">
        <p14:creationId xmlns:p14="http://schemas.microsoft.com/office/powerpoint/2010/main" val="25049845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احداث تونل مشترک شهری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ماده 5 - </a:t>
            </a:r>
            <a:r>
              <a:rPr lang="fa-IR" dirty="0">
                <a:highlight>
                  <a:srgbClr val="FFFF00"/>
                </a:highlight>
              </a:rPr>
              <a:t>معاونت برنامه ریزي و نظارت راهبردي رئيس جمهور </a:t>
            </a:r>
            <a:r>
              <a:rPr lang="fa-IR" dirty="0"/>
              <a:t>موظف است </a:t>
            </a:r>
            <a:r>
              <a:rPr lang="fa-IR" dirty="0">
                <a:highlight>
                  <a:srgbClr val="FFFF00"/>
                </a:highlight>
              </a:rPr>
              <a:t>اعتبارات مورد نياز سالانه طرح</a:t>
            </a:r>
            <a:r>
              <a:rPr lang="fa-IR" dirty="0"/>
              <a:t> را كه </a:t>
            </a:r>
            <a:r>
              <a:rPr lang="fa-IR" dirty="0">
                <a:highlight>
                  <a:srgbClr val="FFFF00"/>
                </a:highlight>
              </a:rPr>
              <a:t>توسط وزارت راه و شهرسازي و وزارت كشور برآورد ميشود</a:t>
            </a:r>
            <a:r>
              <a:rPr lang="fa-IR" dirty="0"/>
              <a:t>، در </a:t>
            </a:r>
            <a:r>
              <a:rPr lang="fa-IR" dirty="0">
                <a:highlight>
                  <a:srgbClr val="FFFF00"/>
                </a:highlight>
              </a:rPr>
              <a:t>لايحه بودجه عمومي كشور </a:t>
            </a:r>
            <a:r>
              <a:rPr lang="fa-IR" dirty="0"/>
              <a:t>پيشبيني نمايد.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51</a:t>
            </a:fld>
            <a:endParaRPr lang="fa-IR"/>
          </a:p>
        </p:txBody>
      </p:sp>
    </p:spTree>
    <p:extLst>
      <p:ext uri="{BB962C8B-B14F-4D97-AF65-F5344CB8AC3E}">
        <p14:creationId xmlns:p14="http://schemas.microsoft.com/office/powerpoint/2010/main" val="37840240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حفظ کاربری اراضی زراعی و باغ‌ها</a:t>
            </a:r>
            <a:endParaRPr lang="en-US" sz="44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52</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04122" y="2363052"/>
            <a:ext cx="4982116" cy="35808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150159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حفظ کاربری اراضی زراعی و باغ‌ها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r>
              <a:rPr lang="fa-IR" dirty="0"/>
              <a:t>تشخيص موارد ضروري </a:t>
            </a:r>
            <a:r>
              <a:rPr lang="fa-IR" dirty="0">
                <a:highlight>
                  <a:srgbClr val="00FF00"/>
                </a:highlight>
              </a:rPr>
              <a:t>تغيير كاربري اراضي زراعي و باغها </a:t>
            </a:r>
            <a:r>
              <a:rPr lang="fa-IR" dirty="0"/>
              <a:t>در هر استان به عهده كميسيوني مركب از </a:t>
            </a:r>
            <a:r>
              <a:rPr lang="fa-IR" dirty="0">
                <a:highlight>
                  <a:srgbClr val="FFFF00"/>
                </a:highlight>
              </a:rPr>
              <a:t>رئيس سازمان جهاد كشاورزي، مدير امو ر اراضي ، رئيس سازمان مسكن و شهرسازي، مديركل حفاظت محيط زيست آن استان و يك نفر نماينده استاندار مي باشد </a:t>
            </a:r>
            <a:r>
              <a:rPr lang="fa-IR" dirty="0"/>
              <a:t>كه به رياست سازمان جهاد كشاورزي تشكيل مي گردد.</a:t>
            </a:r>
          </a:p>
          <a:p>
            <a:pPr algn="just"/>
            <a:r>
              <a:rPr lang="fa-IR" dirty="0">
                <a:highlight>
                  <a:srgbClr val="00FF00"/>
                </a:highlight>
              </a:rPr>
              <a:t>مرجع تشخيص اراضي زراعي و باغها، وزارت جهاد كشاورزي است </a:t>
            </a:r>
            <a:r>
              <a:rPr lang="fa-IR" dirty="0"/>
              <a:t>و مراجع قضايي و اداري، نظرسازمان جهاد كشاورزي ذي ربط را در اين زمينه استعلام مي نمايند و مراجع اداري موظف به رعايت نظر سازمان مورد اشاره خواهند بود.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53</a:t>
            </a:fld>
            <a:endParaRPr lang="fa-IR"/>
          </a:p>
        </p:txBody>
      </p:sp>
    </p:spTree>
    <p:extLst>
      <p:ext uri="{BB962C8B-B14F-4D97-AF65-F5344CB8AC3E}">
        <p14:creationId xmlns:p14="http://schemas.microsoft.com/office/powerpoint/2010/main" val="34851411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حفظ کاربری اراضی زراعی و باغ‌ها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تبصره 4 - </a:t>
            </a:r>
            <a:r>
              <a:rPr lang="fa-IR" dirty="0">
                <a:highlight>
                  <a:srgbClr val="00FF00"/>
                </a:highlight>
              </a:rPr>
              <a:t>احداث گلخانه ها، دامداريها، مرغداريها، پرورش ماهي و ساير توليدات كشاورزي و كارگاههاي صنايع تكميلي و غذايي در روستاها </a:t>
            </a:r>
            <a:r>
              <a:rPr lang="fa-IR" dirty="0"/>
              <a:t>بهينه كردن توليدات بخش كشاورزي بوده و </a:t>
            </a:r>
            <a:r>
              <a:rPr lang="fa-IR" dirty="0">
                <a:highlight>
                  <a:srgbClr val="FF0000"/>
                </a:highlight>
              </a:rPr>
              <a:t>تغيير كاربري محسوب نمي شود</a:t>
            </a:r>
            <a:r>
              <a:rPr lang="fa-IR" dirty="0"/>
              <a:t>.</a:t>
            </a:r>
          </a:p>
          <a:p>
            <a:pPr marL="0" indent="0" algn="just">
              <a:buNone/>
            </a:pPr>
            <a:r>
              <a:rPr lang="fa-IR" dirty="0"/>
              <a:t>موارد مذكور از شمول اين ماده مستثني بوده و با رعايت ضوابط زيست محيطي با موافقت سازمان هاي جهاد كشاورزي استانها بلامانع مي باشد.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54</a:t>
            </a:fld>
            <a:endParaRPr lang="fa-IR"/>
          </a:p>
        </p:txBody>
      </p:sp>
    </p:spTree>
    <p:extLst>
      <p:ext uri="{BB962C8B-B14F-4D97-AF65-F5344CB8AC3E}">
        <p14:creationId xmlns:p14="http://schemas.microsoft.com/office/powerpoint/2010/main" val="21161532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حفظ کاربری اراضی زراعی و باغ‌ها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491067" y="1828800"/>
            <a:ext cx="10803997" cy="4430713"/>
          </a:xfrm>
        </p:spPr>
        <p:txBody>
          <a:bodyPr>
            <a:normAutofit/>
          </a:bodyPr>
          <a:lstStyle/>
          <a:p>
            <a:pPr marL="0" indent="0" algn="just">
              <a:buNone/>
            </a:pPr>
            <a:r>
              <a:rPr lang="fa-IR" dirty="0"/>
              <a:t>ماده 4 - دولت مكلف است همه ساله اعتباري معادل </a:t>
            </a:r>
            <a:r>
              <a:rPr lang="fa-IR" u="sng" dirty="0"/>
              <a:t>80 % از درآمد</a:t>
            </a:r>
            <a:r>
              <a:rPr lang="fa-IR" dirty="0"/>
              <a:t>هاي موضوع اين قانون را در بودجه ساليانه وزارت جهاد كشاورزي منظور نماید تا وزارت مزبور طبق ضوابط قانوني مربوطه </a:t>
            </a:r>
            <a:r>
              <a:rPr lang="fa-IR" dirty="0">
                <a:highlight>
                  <a:srgbClr val="C0C0C0"/>
                </a:highlight>
              </a:rPr>
              <a:t>به مصرف امور زيربنايي كشاورزي شامل تسطيح اراضي، احداث كانال، آبياري، زهكشي، سدها و بندهاي خاكي، تأمين آب و احياي اراضي موات و باير و هزينه هاي دادرسي و اجراي اين قانون</a:t>
            </a:r>
            <a:r>
              <a:rPr lang="fa-IR" dirty="0"/>
              <a:t> برساند</a:t>
            </a:r>
          </a:p>
          <a:p>
            <a:pPr marL="0" indent="0" algn="just">
              <a:buNone/>
            </a:pPr>
            <a:r>
              <a:rPr lang="fa-IR" dirty="0"/>
              <a:t>و </a:t>
            </a:r>
            <a:r>
              <a:rPr lang="fa-IR" u="sng" dirty="0"/>
              <a:t>20 % باقيمانده از درآمد </a:t>
            </a:r>
            <a:r>
              <a:rPr lang="fa-IR" dirty="0"/>
              <a:t>موضوع اين قانون </a:t>
            </a:r>
            <a:r>
              <a:rPr lang="fa-IR" dirty="0">
                <a:highlight>
                  <a:srgbClr val="C0C0C0"/>
                </a:highlight>
              </a:rPr>
              <a:t>به منظور مطالعه و آماده سازي زمينهاي غيرقابل كشت و زرع براي توسعه شهرها وروستاها و ايجاد شهركها</a:t>
            </a:r>
            <a:r>
              <a:rPr lang="fa-IR" dirty="0"/>
              <a:t> در اختيار وزارت مسكن و شهرسازي قرار م ي گيرد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55</a:t>
            </a:fld>
            <a:endParaRPr lang="fa-IR"/>
          </a:p>
        </p:txBody>
      </p:sp>
    </p:spTree>
    <p:extLst>
      <p:ext uri="{BB962C8B-B14F-4D97-AF65-F5344CB8AC3E}">
        <p14:creationId xmlns:p14="http://schemas.microsoft.com/office/powerpoint/2010/main" val="6904317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حفظ کاربری اراضی زراعی و باغ‌ها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ماده 9 - </a:t>
            </a:r>
            <a:r>
              <a:rPr lang="fa-IR" u="sng" dirty="0"/>
              <a:t>به منظور حمايت از تداوم كاربري اراضي زراعي و باغها</a:t>
            </a:r>
            <a:r>
              <a:rPr lang="fa-IR" dirty="0"/>
              <a:t> واقع در داخل محدوده قانوني شهرها و شهركها كه در طرحهاي جامع و تفصيلي داراي كاربري كشاورزي مي باشند، </a:t>
            </a:r>
            <a:r>
              <a:rPr lang="fa-IR" dirty="0">
                <a:highlight>
                  <a:srgbClr val="00FF00"/>
                </a:highlight>
              </a:rPr>
              <a:t>دولت و شهرداريها موظفند تسهيلات و خدمات شهري را مطابق تعرفه فضاي سبز شهرداريها در اختيار مالكان آنها قرار دهند</a:t>
            </a:r>
            <a:r>
              <a:rPr lang="fa-IR" dirty="0"/>
              <a:t>.</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56</a:t>
            </a:fld>
            <a:endParaRPr lang="fa-IR"/>
          </a:p>
        </p:txBody>
      </p:sp>
    </p:spTree>
    <p:extLst>
      <p:ext uri="{BB962C8B-B14F-4D97-AF65-F5344CB8AC3E}">
        <p14:creationId xmlns:p14="http://schemas.microsoft.com/office/powerpoint/2010/main" val="3464201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1085025"/>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3200" b="1" dirty="0">
                <a:latin typeface="Arabic Typesetting" panose="03020402040406030203" pitchFamily="66" charset="-78"/>
                <a:cs typeface="2  Sara" panose="00000400000000000000" pitchFamily="2" charset="-78"/>
                <a:hlinkClick r:id="rId3" action="ppaction://hlinkfile"/>
              </a:rPr>
              <a:t>آیین‌نامه نحوه بررسی و تصویب طرح‌های توسعه و عمران محلی، ناحیه‌ای، منطقه‌ای و ملی و مقررات شهرسازی و معماری کشور</a:t>
            </a:r>
            <a:endParaRPr lang="en-US" sz="32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57</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335338" y="2497594"/>
            <a:ext cx="5519685" cy="331181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3267582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طرح‌های توسعه و عمران محلی، ناحیه‌ای، منطقه‌ای و ملی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58</a:t>
            </a:fld>
            <a:endParaRPr lang="fa-IR"/>
          </a:p>
        </p:txBody>
      </p:sp>
      <p:pic>
        <p:nvPicPr>
          <p:cNvPr id="6" name="Picture 5">
            <a:extLst>
              <a:ext uri="{FF2B5EF4-FFF2-40B4-BE49-F238E27FC236}">
                <a16:creationId xmlns:a16="http://schemas.microsoft.com/office/drawing/2014/main" id="{C16E902C-008E-4D81-884A-037BB5E7AC9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19629" y="1828800"/>
            <a:ext cx="10824061" cy="3886200"/>
          </a:xfrm>
          <a:prstGeom prst="rect">
            <a:avLst/>
          </a:prstGeom>
        </p:spPr>
      </p:pic>
    </p:spTree>
    <p:extLst>
      <p:ext uri="{BB962C8B-B14F-4D97-AF65-F5344CB8AC3E}">
        <p14:creationId xmlns:p14="http://schemas.microsoft.com/office/powerpoint/2010/main" val="11884442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طرح‌های توسعه و عمران محلی، ناحیه‌ای، منطقه‌ای و ملی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59</a:t>
            </a:fld>
            <a:endParaRPr lang="fa-IR"/>
          </a:p>
        </p:txBody>
      </p:sp>
      <p:pic>
        <p:nvPicPr>
          <p:cNvPr id="6" name="Picture 5">
            <a:extLst>
              <a:ext uri="{FF2B5EF4-FFF2-40B4-BE49-F238E27FC236}">
                <a16:creationId xmlns:a16="http://schemas.microsoft.com/office/drawing/2014/main" id="{C16E902C-008E-4D81-884A-037BB5E7AC9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p:blipFill>
        <p:spPr>
          <a:xfrm>
            <a:off x="519629" y="1850102"/>
            <a:ext cx="10824061" cy="3843595"/>
          </a:xfrm>
          <a:prstGeom prst="rect">
            <a:avLst/>
          </a:prstGeom>
        </p:spPr>
      </p:pic>
    </p:spTree>
    <p:extLst>
      <p:ext uri="{BB962C8B-B14F-4D97-AF65-F5344CB8AC3E}">
        <p14:creationId xmlns:p14="http://schemas.microsoft.com/office/powerpoint/2010/main" val="36033950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طرح‌های توسعه و عمران محلی، ناحیه‌ای، منطقه‌ای و ملی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60</a:t>
            </a:fld>
            <a:endParaRPr lang="fa-IR"/>
          </a:p>
        </p:txBody>
      </p:sp>
      <p:pic>
        <p:nvPicPr>
          <p:cNvPr id="6" name="Picture 5">
            <a:extLst>
              <a:ext uri="{FF2B5EF4-FFF2-40B4-BE49-F238E27FC236}">
                <a16:creationId xmlns:a16="http://schemas.microsoft.com/office/drawing/2014/main" id="{C16E902C-008E-4D81-884A-037BB5E7AC9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p:blipFill>
        <p:spPr>
          <a:xfrm>
            <a:off x="516468" y="1628698"/>
            <a:ext cx="10824061" cy="3753003"/>
          </a:xfrm>
          <a:prstGeom prst="rect">
            <a:avLst/>
          </a:prstGeom>
        </p:spPr>
      </p:pic>
      <p:pic>
        <p:nvPicPr>
          <p:cNvPr id="7" name="Picture 6">
            <a:extLst>
              <a:ext uri="{FF2B5EF4-FFF2-40B4-BE49-F238E27FC236}">
                <a16:creationId xmlns:a16="http://schemas.microsoft.com/office/drawing/2014/main" id="{F17184D4-55C6-4AB7-9F22-4072E1CD79D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69407" y="5364492"/>
            <a:ext cx="10748390" cy="920579"/>
          </a:xfrm>
          <a:prstGeom prst="rect">
            <a:avLst/>
          </a:prstGeom>
        </p:spPr>
      </p:pic>
    </p:spTree>
    <p:extLst>
      <p:ext uri="{BB962C8B-B14F-4D97-AF65-F5344CB8AC3E}">
        <p14:creationId xmlns:p14="http://schemas.microsoft.com/office/powerpoint/2010/main" val="465842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طرح‌های توسعه و عمران محلی، ناحیه‌ای، منطقه‌ای و ملی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61</a:t>
            </a:fld>
            <a:endParaRPr lang="fa-IR"/>
          </a:p>
        </p:txBody>
      </p:sp>
      <p:pic>
        <p:nvPicPr>
          <p:cNvPr id="6" name="Picture 5">
            <a:extLst>
              <a:ext uri="{FF2B5EF4-FFF2-40B4-BE49-F238E27FC236}">
                <a16:creationId xmlns:a16="http://schemas.microsoft.com/office/drawing/2014/main" id="{C16E902C-008E-4D81-884A-037BB5E7AC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6438" y="1828800"/>
            <a:ext cx="10788626" cy="3985212"/>
          </a:xfrm>
          <a:prstGeom prst="rect">
            <a:avLst/>
          </a:prstGeom>
        </p:spPr>
      </p:pic>
    </p:spTree>
    <p:extLst>
      <p:ext uri="{BB962C8B-B14F-4D97-AF65-F5344CB8AC3E}">
        <p14:creationId xmlns:p14="http://schemas.microsoft.com/office/powerpoint/2010/main" val="41615558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طرح‌های توسعه و عمران محلی، ناحیه‌ای، منطقه‌ای و ملی</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62</a:t>
            </a:fld>
            <a:endParaRPr lang="fa-IR"/>
          </a:p>
        </p:txBody>
      </p:sp>
      <p:pic>
        <p:nvPicPr>
          <p:cNvPr id="6" name="Picture 5">
            <a:extLst>
              <a:ext uri="{FF2B5EF4-FFF2-40B4-BE49-F238E27FC236}">
                <a16:creationId xmlns:a16="http://schemas.microsoft.com/office/drawing/2014/main" id="{C16E902C-008E-4D81-884A-037BB5E7AC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6467" y="1828799"/>
            <a:ext cx="10785777" cy="4366261"/>
          </a:xfrm>
          <a:prstGeom prst="rect">
            <a:avLst/>
          </a:prstGeom>
        </p:spPr>
      </p:pic>
    </p:spTree>
    <p:extLst>
      <p:ext uri="{BB962C8B-B14F-4D97-AF65-F5344CB8AC3E}">
        <p14:creationId xmlns:p14="http://schemas.microsoft.com/office/powerpoint/2010/main" val="17809426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4400" b="1" dirty="0">
                <a:latin typeface="Arabic Typesetting" panose="03020402040406030203" pitchFamily="66" charset="-78"/>
                <a:cs typeface="2  Sara" panose="00000400000000000000" pitchFamily="2" charset="-78"/>
                <a:hlinkClick r:id="rId3" action="ppaction://hlinkfile"/>
              </a:rPr>
              <a:t>قانون مدیریت پسماندها</a:t>
            </a:r>
            <a:endParaRPr lang="en-US" sz="44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63</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335338" y="2423387"/>
            <a:ext cx="5519685" cy="346022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0966786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مدیریت پسماندها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r>
              <a:rPr lang="fa-IR" dirty="0"/>
              <a:t>پسماندهای عادی: به کلیه پسماندهایی گفته میشود که به صورت معمول از فعالیتهای روزمره انسانها در شهرها، روستاها و خارج از آنها تولید میشود. ازقبیل زباله های خانگی و نخاله های ساختمانی</a:t>
            </a:r>
          </a:p>
          <a:p>
            <a:pPr algn="just"/>
            <a:r>
              <a:rPr lang="fa-IR" dirty="0"/>
              <a:t>پسماندهای پزشکی (بیمار ستانی): به کلیه پسماندهای عفونی و زیان آور ناشی از بیمارستانها، مراکز بهداشتی، درمانی، آزمایشگاههای تشخیص طبی و سایر مراکز مشابه گفته میشود. سایر پسماندهای خطرناک بیمارستانی از شمول این تعریف خارج است .</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64</a:t>
            </a:fld>
            <a:endParaRPr lang="fa-IR"/>
          </a:p>
        </p:txBody>
      </p:sp>
    </p:spTree>
    <p:extLst>
      <p:ext uri="{BB962C8B-B14F-4D97-AF65-F5344CB8AC3E}">
        <p14:creationId xmlns:p14="http://schemas.microsoft.com/office/powerpoint/2010/main" val="29683733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مدیریت پسماندها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r>
              <a:rPr lang="fa-IR" dirty="0"/>
              <a:t>پسماندهای ویژه: به کلیه پسماندهایی گفته میشود که به دلیل بالا بودن حداقل یکی از خواص خطرناک از قبیل سمیت، بیماریزایی، قابلیت انفجار یا اشتعال، خورندگی و مشابه آن بهمراقبت ویژه نیاز داشته باشد و آن دسته از پسماندهای پزشکی و نیز بخشی از پسماندهای عادی، صنعتی، کشاورزی که نیاز به مدیریت خاص دارند جزء پسماندهای ویژه محسوب میشوند.</a:t>
            </a:r>
          </a:p>
          <a:p>
            <a:pPr algn="just"/>
            <a:r>
              <a:rPr lang="fa-IR" dirty="0"/>
              <a:t>پسماندهای کشاورزی: به پسماندهای ناشی از فعالیتهای تولیدی در بخش کشاورزی گفته میشود از قبیل فضولات، لاشه حیوانات (دام، طیور و آبزیان) و محصولات کشاورزی فاسد یا غیر قابل مصرف .</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65</a:t>
            </a:fld>
            <a:endParaRPr lang="fa-IR"/>
          </a:p>
        </p:txBody>
      </p:sp>
    </p:spTree>
    <p:extLst>
      <p:ext uri="{BB962C8B-B14F-4D97-AF65-F5344CB8AC3E}">
        <p14:creationId xmlns:p14="http://schemas.microsoft.com/office/powerpoint/2010/main" val="3088268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مدیریت پسماندها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ماده 6 - سازمان صدا و سیمای جمهوری اسلامی ایران و سایر رسانه هایی که نقش اطلاع رسانی دارند و همچنین</a:t>
            </a:r>
          </a:p>
          <a:p>
            <a:pPr marL="0" indent="0" algn="just">
              <a:buNone/>
            </a:pPr>
            <a:r>
              <a:rPr lang="fa-IR" dirty="0"/>
              <a:t>دستگاههای آموزشی و فرهنگی موظفند جهت اطلاع رسانی و آموزش، جداسازی صحیح، جمع آوری و بازیافت</a:t>
            </a:r>
          </a:p>
          <a:p>
            <a:pPr marL="0" indent="0" algn="just">
              <a:buNone/>
            </a:pPr>
            <a:r>
              <a:rPr lang="fa-IR" dirty="0"/>
              <a:t>پسماندها اقدام و با سازمانها و مسؤولین مربوط همکاری نمایند.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66</a:t>
            </a:fld>
            <a:endParaRPr lang="fa-IR" dirty="0"/>
          </a:p>
        </p:txBody>
      </p:sp>
    </p:spTree>
    <p:extLst>
      <p:ext uri="{BB962C8B-B14F-4D97-AF65-F5344CB8AC3E}">
        <p14:creationId xmlns:p14="http://schemas.microsoft.com/office/powerpoint/2010/main" val="23426896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قانون مدیریت پسماندها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0" indent="0" algn="just">
              <a:buNone/>
            </a:pPr>
            <a:r>
              <a:rPr lang="fa-IR" dirty="0"/>
              <a:t>ماده 7 - مدیریت اجرایی کلیه پسماندها غیر از صنعتی و ویژه در شهرها و روستاها و حریم آنها به عهده شهرداریها و دهیاریها و در خارج از حوزه و وظایف شهرداریها و دهیاریها به عهده بخشداریها میباشد.</a:t>
            </a:r>
          </a:p>
          <a:p>
            <a:pPr algn="just"/>
            <a:r>
              <a:rPr lang="fa-IR" dirty="0"/>
              <a:t>مدیریت اجرایی پسماندهای صنعتی و ویژه به عهده تولیدکننده خواهد بود. درصورت تبدیل آن به پسماند عادی به عهده شهرداریها ،دهیاریها و بخشداریها خواهد بود.</a:t>
            </a:r>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67</a:t>
            </a:fld>
            <a:endParaRPr lang="fa-IR" dirty="0"/>
          </a:p>
        </p:txBody>
      </p:sp>
    </p:spTree>
    <p:extLst>
      <p:ext uri="{BB962C8B-B14F-4D97-AF65-F5344CB8AC3E}">
        <p14:creationId xmlns:p14="http://schemas.microsoft.com/office/powerpoint/2010/main" val="24262335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a:r>
              <a:rPr lang="fa-IR" sz="3200" b="1" dirty="0">
                <a:latin typeface="Arabic Typesetting" panose="03020402040406030203" pitchFamily="66" charset="-78"/>
                <a:cs typeface="2  Sara" panose="00000400000000000000" pitchFamily="2" charset="-78"/>
                <a:hlinkClick r:id="rId3" action="ppaction://hlinkfile"/>
              </a:rPr>
              <a:t>آیین‌نامه قانون اصلاح قانون حفظ و گسترش فضای سبز در شهرها</a:t>
            </a:r>
            <a:endParaRPr lang="en-US" sz="3200" b="1" dirty="0">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68</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09508" y="2363052"/>
            <a:ext cx="5371344" cy="35808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7413659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fontScale="85000" lnSpcReduction="10000"/>
          </a:bodyPr>
          <a:lstStyle/>
          <a:p>
            <a:r>
              <a:rPr lang="fa-IR" sz="3600" dirty="0">
                <a:latin typeface="Arabic Typesetting" panose="03020402040406030203" pitchFamily="66" charset="-78"/>
                <a:cs typeface="2  Sara" panose="00000400000000000000" pitchFamily="2" charset="-78"/>
              </a:rPr>
              <a:t>آیین‌نامه قانون اصلاح قانون حفظ و گسترش فضای سبز در شهرها</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algn="just"/>
            <a:r>
              <a:rPr lang="fa-IR" dirty="0"/>
              <a:t>تعاریف (نهال، درخت، بن درخت، باغ، فضای سبز شهری و ...)</a:t>
            </a:r>
          </a:p>
          <a:p>
            <a:pPr algn="just"/>
            <a:endParaRPr lang="en-US"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69</a:t>
            </a:fld>
            <a:endParaRPr lang="fa-IR"/>
          </a:p>
        </p:txBody>
      </p:sp>
      <p:pic>
        <p:nvPicPr>
          <p:cNvPr id="6" name="Picture 5">
            <a:extLst>
              <a:ext uri="{FF2B5EF4-FFF2-40B4-BE49-F238E27FC236}">
                <a16:creationId xmlns:a16="http://schemas.microsoft.com/office/drawing/2014/main" id="{7AC3F3FA-4A36-4AD2-92B5-1DF1EC772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372" y="2838367"/>
            <a:ext cx="9135256" cy="1337393"/>
          </a:xfrm>
          <a:prstGeom prst="rect">
            <a:avLst/>
          </a:prstGeom>
        </p:spPr>
      </p:pic>
    </p:spTree>
    <p:extLst>
      <p:ext uri="{BB962C8B-B14F-4D97-AF65-F5344CB8AC3E}">
        <p14:creationId xmlns:p14="http://schemas.microsoft.com/office/powerpoint/2010/main" val="33242274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fontScale="85000" lnSpcReduction="10000"/>
          </a:bodyPr>
          <a:lstStyle/>
          <a:p>
            <a:r>
              <a:rPr lang="fa-IR" sz="3600" dirty="0">
                <a:latin typeface="Arabic Typesetting" panose="03020402040406030203" pitchFamily="66" charset="-78"/>
                <a:cs typeface="2  Sara" panose="00000400000000000000" pitchFamily="2" charset="-78"/>
              </a:rPr>
              <a:t>آیین‌نامه قانون اصلاح قانون حفظ و گسترش فضای سبز در شهرها</a:t>
            </a:r>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70</a:t>
            </a:fld>
            <a:endParaRPr lang="fa-IR"/>
          </a:p>
        </p:txBody>
      </p:sp>
      <p:sp>
        <p:nvSpPr>
          <p:cNvPr id="7" name="Text Placeholder 6">
            <a:extLst>
              <a:ext uri="{FF2B5EF4-FFF2-40B4-BE49-F238E27FC236}">
                <a16:creationId xmlns:a16="http://schemas.microsoft.com/office/drawing/2014/main" id="{7C04222C-03D2-4682-B8D2-5EF8DD0437E6}"/>
              </a:ext>
            </a:extLst>
          </p:cNvPr>
          <p:cNvSpPr>
            <a:spLocks noGrp="1"/>
          </p:cNvSpPr>
          <p:nvPr>
            <p:ph type="body" sz="quarter" idx="11"/>
          </p:nvPr>
        </p:nvSpPr>
        <p:spPr/>
        <p:txBody>
          <a:bodyPr/>
          <a:lstStyle/>
          <a:p>
            <a:endParaRPr lang="en-US" dirty="0"/>
          </a:p>
        </p:txBody>
      </p:sp>
      <p:pic>
        <p:nvPicPr>
          <p:cNvPr id="11" name="Picture 10">
            <a:extLst>
              <a:ext uri="{FF2B5EF4-FFF2-40B4-BE49-F238E27FC236}">
                <a16:creationId xmlns:a16="http://schemas.microsoft.com/office/drawing/2014/main" id="{32944BA1-FFB0-43B2-A19D-128A2D2656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282" y="1828800"/>
            <a:ext cx="8240275" cy="1152686"/>
          </a:xfrm>
          <a:prstGeom prst="rect">
            <a:avLst/>
          </a:prstGeom>
        </p:spPr>
      </p:pic>
      <p:pic>
        <p:nvPicPr>
          <p:cNvPr id="13" name="Picture 12">
            <a:extLst>
              <a:ext uri="{FF2B5EF4-FFF2-40B4-BE49-F238E27FC236}">
                <a16:creationId xmlns:a16="http://schemas.microsoft.com/office/drawing/2014/main" id="{537C5F90-1FDE-49EF-BFCD-AF084CFDD0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9650" y="3220614"/>
            <a:ext cx="8287907" cy="3038899"/>
          </a:xfrm>
          <a:prstGeom prst="rect">
            <a:avLst/>
          </a:prstGeom>
        </p:spPr>
      </p:pic>
    </p:spTree>
    <p:extLst>
      <p:ext uri="{BB962C8B-B14F-4D97-AF65-F5344CB8AC3E}">
        <p14:creationId xmlns:p14="http://schemas.microsoft.com/office/powerpoint/2010/main" val="7491524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fontScale="85000" lnSpcReduction="10000"/>
          </a:bodyPr>
          <a:lstStyle/>
          <a:p>
            <a:r>
              <a:rPr lang="fa-IR" sz="3600" dirty="0">
                <a:latin typeface="Arabic Typesetting" panose="03020402040406030203" pitchFamily="66" charset="-78"/>
                <a:cs typeface="2  Sara" panose="00000400000000000000" pitchFamily="2" charset="-78"/>
              </a:rPr>
              <a:t>آیین‌نامه قانون اصلاح قانون حفظ و گسترش فضای سبز در شهرها</a:t>
            </a:r>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71</a:t>
            </a:fld>
            <a:endParaRPr lang="fa-IR"/>
          </a:p>
        </p:txBody>
      </p:sp>
      <p:sp>
        <p:nvSpPr>
          <p:cNvPr id="7" name="Text Placeholder 6">
            <a:extLst>
              <a:ext uri="{FF2B5EF4-FFF2-40B4-BE49-F238E27FC236}">
                <a16:creationId xmlns:a16="http://schemas.microsoft.com/office/drawing/2014/main" id="{7C04222C-03D2-4682-B8D2-5EF8DD0437E6}"/>
              </a:ext>
            </a:extLst>
          </p:cNvPr>
          <p:cNvSpPr>
            <a:spLocks noGrp="1"/>
          </p:cNvSpPr>
          <p:nvPr>
            <p:ph type="body" sz="quarter" idx="11"/>
          </p:nvPr>
        </p:nvSpPr>
        <p:spPr/>
        <p:txBody>
          <a:bodyPr/>
          <a:lstStyle/>
          <a:p>
            <a:endParaRPr lang="en-US" dirty="0"/>
          </a:p>
        </p:txBody>
      </p:sp>
      <p:pic>
        <p:nvPicPr>
          <p:cNvPr id="5" name="Picture 4">
            <a:extLst>
              <a:ext uri="{FF2B5EF4-FFF2-40B4-BE49-F238E27FC236}">
                <a16:creationId xmlns:a16="http://schemas.microsoft.com/office/drawing/2014/main" id="{BEF24577-0D8A-4F87-B0A9-EB6A1E5FF1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6209" y="1776413"/>
            <a:ext cx="8268854" cy="1867161"/>
          </a:xfrm>
          <a:prstGeom prst="rect">
            <a:avLst/>
          </a:prstGeom>
        </p:spPr>
      </p:pic>
      <p:pic>
        <p:nvPicPr>
          <p:cNvPr id="8" name="Picture 7">
            <a:extLst>
              <a:ext uri="{FF2B5EF4-FFF2-40B4-BE49-F238E27FC236}">
                <a16:creationId xmlns:a16="http://schemas.microsoft.com/office/drawing/2014/main" id="{6547B841-670C-4E5E-AECB-12528137F7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00150" y="3643574"/>
            <a:ext cx="2743200" cy="2743200"/>
          </a:xfrm>
          <a:prstGeom prst="rect">
            <a:avLst/>
          </a:prstGeom>
        </p:spPr>
      </p:pic>
    </p:spTree>
    <p:extLst>
      <p:ext uri="{BB962C8B-B14F-4D97-AF65-F5344CB8AC3E}">
        <p14:creationId xmlns:p14="http://schemas.microsoft.com/office/powerpoint/2010/main" val="8990577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1317254"/>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r" rtl="1">
              <a:buClr>
                <a:srgbClr val="FF0000"/>
              </a:buClr>
              <a:buSzPct val="80000"/>
            </a:pPr>
            <a:r>
              <a:rPr lang="fa-IR" sz="4000" b="1" dirty="0">
                <a:latin typeface="Arabic Typesetting" panose="03020402040406030203" pitchFamily="66" charset="-78"/>
                <a:cs typeface="2  Sara" panose="00000400000000000000" pitchFamily="2" charset="-78"/>
                <a:hlinkClick r:id="rId3" action="ppaction://hlinkfile"/>
              </a:rPr>
              <a:t>دستورالعمل اجرایی بند (ت) تبصره 6 قانون بودجه سال 1402</a:t>
            </a:r>
            <a:endParaRPr lang="fa-IR" sz="4000" b="1" dirty="0">
              <a:latin typeface="Arabic Typesetting" panose="03020402040406030203" pitchFamily="66" charset="-78"/>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72</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90892" y="2363052"/>
            <a:ext cx="5208576" cy="35808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3430169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73</a:t>
            </a:fld>
            <a:endParaRPr lang="fa-IR"/>
          </a:p>
        </p:txBody>
      </p:sp>
      <p:pic>
        <p:nvPicPr>
          <p:cNvPr id="8" name="Picture 7">
            <a:extLst>
              <a:ext uri="{FF2B5EF4-FFF2-40B4-BE49-F238E27FC236}">
                <a16:creationId xmlns:a16="http://schemas.microsoft.com/office/drawing/2014/main" id="{57AB6569-9A12-4647-806F-91012891A64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100" t="9584" r="14959" b="22082"/>
          <a:stretch/>
        </p:blipFill>
        <p:spPr>
          <a:xfrm>
            <a:off x="3529013" y="39646"/>
            <a:ext cx="4978400" cy="6778707"/>
          </a:xfrm>
          <a:prstGeom prst="rect">
            <a:avLst/>
          </a:prstGeom>
        </p:spPr>
      </p:pic>
      <p:sp>
        <p:nvSpPr>
          <p:cNvPr id="2" name="Rectangle 1">
            <a:extLst>
              <a:ext uri="{FF2B5EF4-FFF2-40B4-BE49-F238E27FC236}">
                <a16:creationId xmlns:a16="http://schemas.microsoft.com/office/drawing/2014/main" id="{197A5725-FEAE-4972-9B7E-268BBB626662}"/>
              </a:ext>
            </a:extLst>
          </p:cNvPr>
          <p:cNvSpPr/>
          <p:nvPr/>
        </p:nvSpPr>
        <p:spPr>
          <a:xfrm>
            <a:off x="4648200" y="1463040"/>
            <a:ext cx="2217420" cy="14478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34B9265-3B44-48F8-995F-44C0BD38C643}"/>
              </a:ext>
            </a:extLst>
          </p:cNvPr>
          <p:cNvSpPr/>
          <p:nvPr/>
        </p:nvSpPr>
        <p:spPr>
          <a:xfrm>
            <a:off x="4521518" y="2505075"/>
            <a:ext cx="2217420" cy="14478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15751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1041482"/>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rtl="1">
              <a:buClr>
                <a:srgbClr val="FF0000"/>
              </a:buClr>
              <a:buSzPct val="80000"/>
            </a:pPr>
            <a:r>
              <a:rPr lang="fa-IR" sz="3200" b="1" dirty="0">
                <a:latin typeface="Arabic Typesetting" panose="03020402040406030203" pitchFamily="66" charset="-78"/>
                <a:cs typeface="2  Sara" panose="00000400000000000000" pitchFamily="2" charset="-78"/>
                <a:hlinkClick r:id="rId3" action="ppaction://hlinkfile"/>
              </a:rPr>
              <a:t>رای هیات عمومی دیوان عدالت اداری درباره غیرقانونی بودن دریافت عوارض تحت عنوان عوارض تعمیرات ساختمان</a:t>
            </a:r>
            <a:endParaRPr lang="fa-IR" sz="3200" b="1" dirty="0">
              <a:latin typeface="Arabic Typesetting" panose="03020402040406030203" pitchFamily="66" charset="-78"/>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74</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335338" y="2428598"/>
            <a:ext cx="5519685" cy="344980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5403220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75</a:t>
            </a:fld>
            <a:endParaRPr lang="fa-IR"/>
          </a:p>
        </p:txBody>
      </p:sp>
      <p:pic>
        <p:nvPicPr>
          <p:cNvPr id="8" name="Picture 7">
            <a:extLst>
              <a:ext uri="{FF2B5EF4-FFF2-40B4-BE49-F238E27FC236}">
                <a16:creationId xmlns:a16="http://schemas.microsoft.com/office/drawing/2014/main" id="{CBE11F40-9E5C-45CC-9AFC-F80EFA5CD5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6360" y="762000"/>
            <a:ext cx="9599280" cy="5126037"/>
          </a:xfrm>
          <a:prstGeom prst="rect">
            <a:avLst/>
          </a:prstGeom>
        </p:spPr>
      </p:pic>
      <p:sp>
        <p:nvSpPr>
          <p:cNvPr id="3" name="Rectangle 2">
            <a:extLst>
              <a:ext uri="{FF2B5EF4-FFF2-40B4-BE49-F238E27FC236}">
                <a16:creationId xmlns:a16="http://schemas.microsoft.com/office/drawing/2014/main" id="{4BBA6654-D862-42E2-9034-5720C9D04321}"/>
              </a:ext>
            </a:extLst>
          </p:cNvPr>
          <p:cNvSpPr/>
          <p:nvPr/>
        </p:nvSpPr>
        <p:spPr>
          <a:xfrm>
            <a:off x="4191000" y="3284220"/>
            <a:ext cx="4655820" cy="23622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2023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DC366E-A422-476B-AE88-AC4C8E6824EE}"/>
              </a:ext>
            </a:extLst>
          </p:cNvPr>
          <p:cNvSpPr>
            <a:spLocks noGrp="1"/>
          </p:cNvSpPr>
          <p:nvPr>
            <p:ph type="body" sz="quarter" idx="10"/>
          </p:nvPr>
        </p:nvSpPr>
        <p:spPr>
          <a:xfrm>
            <a:off x="1439861" y="758289"/>
            <a:ext cx="9312275" cy="785611"/>
          </a:xfrm>
          <a:solidFill>
            <a:srgbClr val="E03609"/>
          </a:solidFill>
          <a:ln>
            <a:noFill/>
          </a:ln>
        </p:spPr>
        <p:style>
          <a:lnRef idx="0">
            <a:schemeClr val="accent4"/>
          </a:lnRef>
          <a:fillRef idx="3">
            <a:schemeClr val="accent4"/>
          </a:fillRef>
          <a:effectRef idx="3">
            <a:schemeClr val="accent4"/>
          </a:effectRef>
          <a:fontRef idx="minor">
            <a:schemeClr val="lt1"/>
          </a:fontRef>
        </p:style>
        <p:txBody>
          <a:bodyPr>
            <a:noAutofit/>
          </a:bodyPr>
          <a:lstStyle/>
          <a:p>
            <a:pPr algn="ctr" rtl="1">
              <a:buClr>
                <a:srgbClr val="FF0000"/>
              </a:buClr>
              <a:buSzPct val="80000"/>
            </a:pPr>
            <a:r>
              <a:rPr lang="fa-IR" sz="4400" b="1" dirty="0">
                <a:latin typeface="Arabic Typesetting" panose="03020402040406030203" pitchFamily="66" charset="-78"/>
                <a:cs typeface="2  Sara" panose="00000400000000000000" pitchFamily="2" charset="-78"/>
                <a:hlinkClick r:id="rId3" action="ppaction://hlinkfile"/>
              </a:rPr>
              <a:t>تمدید قراردادهای خدمات نظارت تا اتمام کار</a:t>
            </a:r>
            <a:endParaRPr lang="fa-IR" sz="4400" b="1" dirty="0">
              <a:latin typeface="Arabic Typesetting" panose="03020402040406030203" pitchFamily="66" charset="-78"/>
              <a:cs typeface="2  Sara" panose="00000400000000000000" pitchFamily="2" charset="-78"/>
            </a:endParaRPr>
          </a:p>
        </p:txBody>
      </p:sp>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76</a:t>
            </a:fld>
            <a:endParaRPr lang="fa-IR"/>
          </a:p>
        </p:txBody>
      </p:sp>
      <p:pic>
        <p:nvPicPr>
          <p:cNvPr id="5" name="Picture 4">
            <a:extLst>
              <a:ext uri="{FF2B5EF4-FFF2-40B4-BE49-F238E27FC236}">
                <a16:creationId xmlns:a16="http://schemas.microsoft.com/office/drawing/2014/main" id="{FB346C1B-3FC2-4344-9262-9FCB2849DD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09508" y="2363052"/>
            <a:ext cx="5371344" cy="35808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1245704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75B9F5-1D11-474E-9B18-C12DBBA4352E}"/>
              </a:ext>
            </a:extLst>
          </p:cNvPr>
          <p:cNvSpPr>
            <a:spLocks noGrp="1"/>
          </p:cNvSpPr>
          <p:nvPr>
            <p:ph type="sldNum" sz="quarter" idx="4"/>
          </p:nvPr>
        </p:nvSpPr>
        <p:spPr/>
        <p:txBody>
          <a:bodyPr/>
          <a:lstStyle/>
          <a:p>
            <a:fld id="{CEACA9B5-9193-4DF2-B446-76F584B62E00}" type="slidenum">
              <a:rPr lang="fa-IR" smtClean="0"/>
              <a:pPr/>
              <a:t>77</a:t>
            </a:fld>
            <a:endParaRPr lang="fa-IR"/>
          </a:p>
        </p:txBody>
      </p:sp>
      <p:pic>
        <p:nvPicPr>
          <p:cNvPr id="7" name="Picture 6">
            <a:extLst>
              <a:ext uri="{FF2B5EF4-FFF2-40B4-BE49-F238E27FC236}">
                <a16:creationId xmlns:a16="http://schemas.microsoft.com/office/drawing/2014/main" id="{78365FFF-C7A2-4AC1-BB5E-8167BDF23C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9443" y="0"/>
            <a:ext cx="4913114" cy="6858000"/>
          </a:xfrm>
          <a:prstGeom prst="rect">
            <a:avLst/>
          </a:prstGeom>
        </p:spPr>
      </p:pic>
    </p:spTree>
    <p:extLst>
      <p:ext uri="{BB962C8B-B14F-4D97-AF65-F5344CB8AC3E}">
        <p14:creationId xmlns:p14="http://schemas.microsoft.com/office/powerpoint/2010/main" val="9497453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سوالات</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457200" indent="-457200" algn="just">
              <a:buFont typeface="+mj-lt"/>
              <a:buAutoNum type="arabicPeriod"/>
            </a:pPr>
            <a:r>
              <a:rPr lang="fa-IR" dirty="0"/>
              <a:t>مناقصه را تعریف کنید.</a:t>
            </a:r>
          </a:p>
          <a:p>
            <a:pPr marL="0" indent="0" algn="just">
              <a:buNone/>
            </a:pPr>
            <a:r>
              <a:rPr lang="fa-IR" dirty="0">
                <a:solidFill>
                  <a:srgbClr val="FF0000"/>
                </a:solidFill>
              </a:rPr>
              <a:t>پاسخ: </a:t>
            </a:r>
            <a:r>
              <a:rPr lang="fa-IR" dirty="0"/>
              <a:t>مناقصه به معنای واگذاری پروژه، خرید کالا یا خدمات مورد نیاز شرکت یا شخص مناقصه‌گر است که کمترین میزان قیمت را پیشنهاد کرده است. در این فرایند رقابت درواقع میان شرکت‌های تامین کننده خدمات و پیشنهاد دهندگان با کمترین قیمت به سازمان درخواست دهنده یا کارفرما است.</a:t>
            </a:r>
          </a:p>
          <a:p>
            <a:pPr marL="0" indent="0" algn="just">
              <a:buNone/>
            </a:pPr>
            <a:endParaRPr lang="fa-IR"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78</a:t>
            </a:fld>
            <a:endParaRPr lang="fa-IR" dirty="0"/>
          </a:p>
        </p:txBody>
      </p:sp>
    </p:spTree>
    <p:extLst>
      <p:ext uri="{BB962C8B-B14F-4D97-AF65-F5344CB8AC3E}">
        <p14:creationId xmlns:p14="http://schemas.microsoft.com/office/powerpoint/2010/main" val="24592666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سوالات</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lnSpcReduction="10000"/>
          </a:bodyPr>
          <a:lstStyle/>
          <a:p>
            <a:pPr marL="457200" indent="-457200" algn="just">
              <a:buFont typeface="+mj-lt"/>
              <a:buAutoNum type="arabicPeriod" startAt="2"/>
            </a:pPr>
            <a:r>
              <a:rPr lang="fa-IR" dirty="0"/>
              <a:t>اموال شهرداری به چند نوع تقسیم می‌شود؟ مختصر توضیح دهید.</a:t>
            </a:r>
          </a:p>
          <a:p>
            <a:pPr marL="0" indent="0" algn="just">
              <a:buNone/>
            </a:pPr>
            <a:r>
              <a:rPr lang="fa-IR" dirty="0">
                <a:solidFill>
                  <a:srgbClr val="FF0000"/>
                </a:solidFill>
              </a:rPr>
              <a:t>پاسخ: </a:t>
            </a:r>
            <a:r>
              <a:rPr lang="fa-IR" dirty="0"/>
              <a:t>اموال شهرداري ها اعم از منقول و غيرمنقول بر دو نوع تقسيم ميشود : اموال اختصاصي و اموال عمومي. </a:t>
            </a:r>
          </a:p>
          <a:p>
            <a:pPr marL="0" indent="0" algn="just">
              <a:buNone/>
            </a:pPr>
            <a:r>
              <a:rPr lang="fa-IR" dirty="0"/>
              <a:t>اموال اختصاصي شهرداري اموالي است كه شهرداري حق تصرف مالكانه نسبت بآنها را دارد از قبيل اراضي و ابنيه و اثاثه و نظائر آن.</a:t>
            </a:r>
          </a:p>
          <a:p>
            <a:pPr marL="0" indent="0" algn="just">
              <a:buNone/>
            </a:pPr>
            <a:r>
              <a:rPr lang="fa-IR" dirty="0"/>
              <a:t>اموال عمومي شهرداري اموالي است كه متعلق بشهر بوده و براي استفاده عموم اختصاص يافته است مانند معابر عمومي، خيابان ها، ميادين، پلها، گورستان ها، سيل برگردان مجاري آب و فاضل آب و متعلقات آنها، انهار عمومي، اشجار اعم از اشجاري كه شهرداري يا اشخاص در معابر و ميادين عمومي غرس نموده باشند، چمن كاري، گل كاري و امثال آن.</a:t>
            </a:r>
          </a:p>
          <a:p>
            <a:pPr marL="0" indent="0" algn="just">
              <a:buNone/>
            </a:pPr>
            <a:endParaRPr lang="fa-IR"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79</a:t>
            </a:fld>
            <a:endParaRPr lang="fa-IR" dirty="0"/>
          </a:p>
        </p:txBody>
      </p:sp>
    </p:spTree>
    <p:extLst>
      <p:ext uri="{BB962C8B-B14F-4D97-AF65-F5344CB8AC3E}">
        <p14:creationId xmlns:p14="http://schemas.microsoft.com/office/powerpoint/2010/main" val="7890890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سوالات</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457200" indent="-457200" algn="just">
              <a:buFont typeface="+mj-lt"/>
              <a:buAutoNum type="arabicPeriod" startAt="3"/>
            </a:pPr>
            <a:r>
              <a:rPr lang="fa-IR" dirty="0"/>
              <a:t>ملک مشاع چیست؟</a:t>
            </a:r>
          </a:p>
          <a:p>
            <a:pPr marL="0" indent="0" algn="just">
              <a:buNone/>
            </a:pPr>
            <a:r>
              <a:rPr lang="fa-IR" dirty="0">
                <a:solidFill>
                  <a:srgbClr val="FF0000"/>
                </a:solidFill>
              </a:rPr>
              <a:t>پاسخ: </a:t>
            </a:r>
            <a:r>
              <a:rPr lang="fa-IR" dirty="0"/>
              <a:t>ملک مشاع نوعی ملک است که مالکیت عرصه و اعیان آن بین 2 یا چند نفر مشترک خواهد بود و هر یک از بخش‌های این ملک تحت مالکیت شرکا است.</a:t>
            </a:r>
          </a:p>
          <a:p>
            <a:pPr marL="0" indent="0" algn="just">
              <a:buNone/>
            </a:pPr>
            <a:endParaRPr lang="fa-IR"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80</a:t>
            </a:fld>
            <a:endParaRPr lang="fa-IR" dirty="0"/>
          </a:p>
        </p:txBody>
      </p:sp>
    </p:spTree>
    <p:extLst>
      <p:ext uri="{BB962C8B-B14F-4D97-AF65-F5344CB8AC3E}">
        <p14:creationId xmlns:p14="http://schemas.microsoft.com/office/powerpoint/2010/main" val="42033296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سوالات</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457200" indent="-457200" algn="just">
              <a:buFont typeface="+mj-lt"/>
              <a:buAutoNum type="arabicPeriod" startAt="4"/>
            </a:pPr>
            <a:r>
              <a:rPr lang="fa-IR" dirty="0"/>
              <a:t>منظور از بایر شهری چیست؟</a:t>
            </a:r>
          </a:p>
          <a:p>
            <a:pPr marL="0" indent="0" algn="just">
              <a:buNone/>
            </a:pPr>
            <a:r>
              <a:rPr lang="fa-IR" dirty="0">
                <a:solidFill>
                  <a:srgbClr val="FF0000"/>
                </a:solidFill>
              </a:rPr>
              <a:t>پاسخ: </a:t>
            </a:r>
            <a:r>
              <a:rPr lang="fa-IR" dirty="0"/>
              <a:t>اراضي باير شهري زمينهائي است كه سابقه عمران و احياء داشته و بتدريج بحالت موات برگشته اعم از آنكه صاحب مشخصي داشته و يا نداشته باشد.</a:t>
            </a:r>
          </a:p>
          <a:p>
            <a:pPr marL="0" indent="0" algn="just">
              <a:buNone/>
            </a:pPr>
            <a:endParaRPr lang="fa-IR" dirty="0"/>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81</a:t>
            </a:fld>
            <a:endParaRPr lang="fa-IR" dirty="0"/>
          </a:p>
        </p:txBody>
      </p:sp>
    </p:spTree>
    <p:extLst>
      <p:ext uri="{BB962C8B-B14F-4D97-AF65-F5344CB8AC3E}">
        <p14:creationId xmlns:p14="http://schemas.microsoft.com/office/powerpoint/2010/main" val="40993599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43F14-B8C9-41B0-98FF-831B4BA1AFD6}"/>
              </a:ext>
            </a:extLst>
          </p:cNvPr>
          <p:cNvSpPr>
            <a:spLocks noGrp="1"/>
          </p:cNvSpPr>
          <p:nvPr>
            <p:ph type="body" sz="quarter" idx="10"/>
          </p:nvPr>
        </p:nvSpPr>
        <p:spPr/>
        <p:txBody>
          <a:bodyPr>
            <a:normAutofit/>
          </a:bodyPr>
          <a:lstStyle/>
          <a:p>
            <a:r>
              <a:rPr lang="fa-IR" sz="3600" dirty="0">
                <a:latin typeface="Arabic Typesetting" panose="03020402040406030203" pitchFamily="66" charset="-78"/>
                <a:cs typeface="2  Sara" panose="00000400000000000000" pitchFamily="2" charset="-78"/>
              </a:rPr>
              <a:t>سوالات</a:t>
            </a:r>
          </a:p>
        </p:txBody>
      </p:sp>
      <p:sp>
        <p:nvSpPr>
          <p:cNvPr id="3" name="Text Placeholder 2">
            <a:extLst>
              <a:ext uri="{FF2B5EF4-FFF2-40B4-BE49-F238E27FC236}">
                <a16:creationId xmlns:a16="http://schemas.microsoft.com/office/drawing/2014/main" id="{5DEECA90-AFCE-49FF-A4CE-4A1894B46181}"/>
              </a:ext>
            </a:extLst>
          </p:cNvPr>
          <p:cNvSpPr>
            <a:spLocks noGrp="1"/>
          </p:cNvSpPr>
          <p:nvPr>
            <p:ph type="body" sz="quarter" idx="11"/>
          </p:nvPr>
        </p:nvSpPr>
        <p:spPr>
          <a:xfrm>
            <a:off x="516468" y="1828800"/>
            <a:ext cx="10778596" cy="4430713"/>
          </a:xfrm>
        </p:spPr>
        <p:txBody>
          <a:bodyPr>
            <a:normAutofit/>
          </a:bodyPr>
          <a:lstStyle/>
          <a:p>
            <a:pPr marL="457200" indent="-457200" algn="just">
              <a:buFont typeface="+mj-lt"/>
              <a:buAutoNum type="arabicPeriod" startAt="5"/>
            </a:pPr>
            <a:r>
              <a:rPr lang="fa-IR" dirty="0"/>
              <a:t>چهار نمونه طرح توسعه شهری را نام ببرید.</a:t>
            </a:r>
          </a:p>
          <a:p>
            <a:pPr marL="0" indent="0" algn="just">
              <a:buNone/>
            </a:pPr>
            <a:r>
              <a:rPr lang="fa-IR" dirty="0">
                <a:solidFill>
                  <a:srgbClr val="FF0000"/>
                </a:solidFill>
              </a:rPr>
              <a:t>پاسخ:</a:t>
            </a:r>
          </a:p>
          <a:p>
            <a:pPr marL="0" indent="0" algn="just">
              <a:buNone/>
            </a:pPr>
            <a:r>
              <a:rPr lang="fa-IR" dirty="0"/>
              <a:t>طرح جامع شهر</a:t>
            </a:r>
          </a:p>
          <a:p>
            <a:pPr marL="0" indent="0" algn="just">
              <a:buNone/>
            </a:pPr>
            <a:r>
              <a:rPr lang="fa-IR" dirty="0"/>
              <a:t>طرح تفضیلی</a:t>
            </a:r>
          </a:p>
          <a:p>
            <a:pPr marL="0" indent="0" algn="just">
              <a:buNone/>
            </a:pPr>
            <a:r>
              <a:rPr lang="fa-IR" dirty="0"/>
              <a:t>طرح هادی روستا</a:t>
            </a:r>
          </a:p>
          <a:p>
            <a:pPr marL="0" indent="0" algn="just">
              <a:buNone/>
            </a:pPr>
            <a:r>
              <a:rPr lang="fa-IR" dirty="0"/>
              <a:t>طرح های ویژه</a:t>
            </a:r>
          </a:p>
        </p:txBody>
      </p:sp>
      <p:sp>
        <p:nvSpPr>
          <p:cNvPr id="4" name="Slide Number Placeholder 3">
            <a:extLst>
              <a:ext uri="{FF2B5EF4-FFF2-40B4-BE49-F238E27FC236}">
                <a16:creationId xmlns:a16="http://schemas.microsoft.com/office/drawing/2014/main" id="{1F67778C-8787-4B6A-ADC7-B3351B023107}"/>
              </a:ext>
            </a:extLst>
          </p:cNvPr>
          <p:cNvSpPr>
            <a:spLocks noGrp="1"/>
          </p:cNvSpPr>
          <p:nvPr>
            <p:ph type="sldNum" sz="quarter" idx="4"/>
          </p:nvPr>
        </p:nvSpPr>
        <p:spPr/>
        <p:txBody>
          <a:bodyPr/>
          <a:lstStyle/>
          <a:p>
            <a:fld id="{CEACA9B5-9193-4DF2-B446-76F584B62E00}" type="slidenum">
              <a:rPr lang="fa-IR" smtClean="0"/>
              <a:pPr/>
              <a:t>82</a:t>
            </a:fld>
            <a:endParaRPr lang="fa-IR" dirty="0"/>
          </a:p>
        </p:txBody>
      </p:sp>
    </p:spTree>
    <p:extLst>
      <p:ext uri="{BB962C8B-B14F-4D97-AF65-F5344CB8AC3E}">
        <p14:creationId xmlns:p14="http://schemas.microsoft.com/office/powerpoint/2010/main" val="35914013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pPr>
              <a:lnSpc>
                <a:spcPct val="135000"/>
              </a:lnSpc>
            </a:pPr>
            <a:r>
              <a:rPr lang="fa-IR" sz="5400" b="1" dirty="0">
                <a:cs typeface="2  Sara" panose="00000400000000000000" pitchFamily="2" charset="-78"/>
              </a:rPr>
              <a:t>با سپاس از </a:t>
            </a:r>
          </a:p>
          <a:p>
            <a:pPr>
              <a:lnSpc>
                <a:spcPct val="135000"/>
              </a:lnSpc>
            </a:pPr>
            <a:r>
              <a:rPr lang="fa-IR" sz="5400" b="1" dirty="0">
                <a:cs typeface="2  Sara" panose="00000400000000000000" pitchFamily="2" charset="-78"/>
              </a:rPr>
              <a:t>توجه شما</a:t>
            </a:r>
          </a:p>
        </p:txBody>
      </p:sp>
      <p:sp>
        <p:nvSpPr>
          <p:cNvPr id="4" name="Slide Number Placeholder 3"/>
          <p:cNvSpPr>
            <a:spLocks noGrp="1"/>
          </p:cNvSpPr>
          <p:nvPr>
            <p:ph type="sldNum" sz="quarter" idx="4294967295"/>
          </p:nvPr>
        </p:nvSpPr>
        <p:spPr>
          <a:xfrm>
            <a:off x="0" y="6356350"/>
            <a:ext cx="2743200" cy="365125"/>
          </a:xfrm>
        </p:spPr>
        <p:txBody>
          <a:bodyPr/>
          <a:lstStyle/>
          <a:p>
            <a:fld id="{CEACA9B5-9193-4DF2-B446-76F584B62E00}" type="slidenum">
              <a:rPr lang="fa-IR" smtClean="0"/>
              <a:pPr/>
              <a:t>83</a:t>
            </a:fld>
            <a:endParaRPr lang="fa-IR"/>
          </a:p>
        </p:txBody>
      </p:sp>
    </p:spTree>
    <p:extLst>
      <p:ext uri="{BB962C8B-B14F-4D97-AF65-F5344CB8AC3E}">
        <p14:creationId xmlns:p14="http://schemas.microsoft.com/office/powerpoint/2010/main" val="2408407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872</TotalTime>
  <Words>4676</Words>
  <Application>Microsoft Office PowerPoint</Application>
  <PresentationFormat>Widescreen</PresentationFormat>
  <Paragraphs>322</Paragraphs>
  <Slides>83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83</vt:i4>
      </vt:variant>
    </vt:vector>
  </HeadingPairs>
  <TitlesOfParts>
    <vt:vector size="93" baseType="lpstr">
      <vt:lpstr>_PDMS_Saleem_QuranFont</vt:lpstr>
      <vt:lpstr>Calibri-Bold</vt:lpstr>
      <vt:lpstr>Arial</vt:lpstr>
      <vt:lpstr>Calibri</vt:lpstr>
      <vt:lpstr>BNazaninBold</vt:lpstr>
      <vt:lpstr>BNazanin</vt:lpstr>
      <vt:lpstr>Arabic Typesetting</vt:lpstr>
      <vt:lpstr>Cambria</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Hoori</dc:creator>
  <cp:lastModifiedBy>Maryam Shafiee</cp:lastModifiedBy>
  <cp:revision>39</cp:revision>
  <dcterms:created xsi:type="dcterms:W3CDTF">2021-08-21T13:17:38Z</dcterms:created>
  <dcterms:modified xsi:type="dcterms:W3CDTF">2024-12-21T08:40:06Z</dcterms:modified>
</cp:coreProperties>
</file>