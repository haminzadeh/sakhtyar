
<file path=[Content_Types].xml><?xml version="1.0" encoding="utf-8"?>
<Types xmlns="http://schemas.openxmlformats.org/package/2006/content-types">
  <Default Extension="png" ContentType="image/png"/>
  <Default Extension="jfif" ContentType="image/jpeg"/>
  <Default Extension="jpeg" ContentType="image/jpeg"/>
  <Default Extension="rels" ContentType="application/vnd.openxmlformats-package.relationships+xml"/>
  <Default Extension="xml" ContentType="application/xml"/>
  <Default Extension="jpg" ContentType="image/jpe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4995" autoAdjust="0"/>
    <p:restoredTop sz="94660"/>
  </p:normalViewPr>
  <p:slideViewPr>
    <p:cSldViewPr snapToGrid="0" showGuides="1">
      <p:cViewPr varScale="1">
        <p:scale>
          <a:sx n="88" d="100"/>
          <a:sy n="88" d="100"/>
        </p:scale>
        <p:origin x="494" y="62"/>
      </p:cViewPr>
      <p:guideLst>
        <p:guide orient="horz" pos="2160"/>
        <p:guide pos="384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presProps" Target="presProps.xml"/><Relationship Id="rId8" Type="http://schemas.openxmlformats.org/officeDocument/2006/relationships/slide" Target="slides/slide7.xml"/></Relationships>
</file>

<file path=ppt/slideLayouts/_rels/slideLayout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pic>
        <p:nvPicPr>
          <p:cNvPr id="66" name="Picture 2" descr="\\DROBO-FS\QuickDrops\JB\PPTX NG\Droplets\LightingOverlay.png"/>
          <p:cNvPicPr>
            <a:picLocks noChangeAspect="1" noChangeArrowheads="1"/>
          </p:cNvPicPr>
          <p:nvPr/>
        </p:nvPicPr>
        <p:blipFill>
          <a:blip r:embed="rId2">
            <a:alphaModFix amt="30000"/>
            <a:duotone>
              <a:prstClr val="black"/>
              <a:schemeClr val="tx2">
                <a:tint val="45000"/>
                <a:satMod val="400000"/>
              </a:schemeClr>
            </a:duotone>
            <a:extLst>
              <a:ext uri="{28A0092B-C50C-407E-A947-70E740481C1C}">
                <a14:useLocalDpi xmlns:a14="http://schemas.microsoft.com/office/drawing/2010/main" val="0"/>
              </a:ext>
            </a:extLst>
          </a:blip>
          <a:srcRect/>
          <a:stretch>
            <a:fillRect/>
          </a:stretch>
        </p:blipFill>
        <p:spPr bwMode="auto">
          <a:xfrm>
            <a:off x="0" y="-1"/>
            <a:ext cx="12192003" cy="6858001"/>
          </a:xfrm>
          <a:prstGeom prst="rect">
            <a:avLst/>
          </a:prstGeom>
          <a:noFill/>
          <a:extLst>
            <a:ext uri="{909E8E84-426E-40dd-AFC4-6F175D3DCCD1}">
              <a14:hiddenFill xmlns="" xmlns:a14="http://schemas.microsoft.com/office/drawing/2010/main">
                <a:solidFill>
                  <a:srgbClr val="FFFFFF"/>
                </a:solidFill>
              </a14:hiddenFill>
            </a:ext>
          </a:extLst>
        </p:spPr>
      </p:pic>
      <p:grpSp>
        <p:nvGrpSpPr>
          <p:cNvPr id="11" name="Group 10"/>
          <p:cNvGrpSpPr/>
          <p:nvPr/>
        </p:nvGrpSpPr>
        <p:grpSpPr>
          <a:xfrm>
            <a:off x="0" y="0"/>
            <a:ext cx="2305051" cy="6858001"/>
            <a:chOff x="0" y="0"/>
            <a:chExt cx="2305051" cy="6858001"/>
          </a:xfrm>
          <a:gradFill flip="none" rotWithShape="1">
            <a:gsLst>
              <a:gs pos="0">
                <a:schemeClr val="tx2"/>
              </a:gs>
              <a:gs pos="100000">
                <a:schemeClr val="tx2">
                  <a:lumMod val="50000"/>
                </a:schemeClr>
              </a:gs>
            </a:gsLst>
            <a:lin ang="5400000" scaled="0"/>
            <a:tileRect/>
          </a:gradFill>
        </p:grpSpPr>
        <p:sp>
          <p:nvSpPr>
            <p:cNvPr id="12" name="Rectangle 5"/>
            <p:cNvSpPr>
              <a:spLocks noChangeArrowheads="1"/>
            </p:cNvSpPr>
            <p:nvPr/>
          </p:nvSpPr>
          <p:spPr bwMode="auto">
            <a:xfrm>
              <a:off x="1209675" y="4763"/>
              <a:ext cx="23813" cy="2181225"/>
            </a:xfrm>
            <a:prstGeom prst="rect">
              <a:avLst/>
            </a:prstGeom>
            <a:grpFill/>
            <a:ln>
              <a:noFill/>
            </a:ln>
            <a:extLst>
              <a:ext uri="{91240B29-F687-4f45-9708-019B960494DF}">
                <a14:hiddenLine xmlns="" xmlns:a14="http://schemas.microsoft.com/office/drawing/2010/main" w="9525">
                  <a:solidFill>
                    <a:srgbClr val="000000"/>
                  </a:solidFill>
                  <a:miter lim="800000"/>
                  <a:headEnd/>
                  <a:tailEnd/>
                </a14:hiddenLine>
              </a:ext>
            </a:extLst>
          </p:spPr>
        </p:sp>
        <p:sp>
          <p:nvSpPr>
            <p:cNvPr id="13" name="Freeform 6"/>
            <p:cNvSpPr>
              <a:spLocks noEditPoints="1"/>
            </p:cNvSpPr>
            <p:nvPr/>
          </p:nvSpPr>
          <p:spPr bwMode="auto">
            <a:xfrm>
              <a:off x="1128713" y="217646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14" name="Freeform 7"/>
            <p:cNvSpPr>
              <a:spLocks noEditPoints="1"/>
            </p:cNvSpPr>
            <p:nvPr/>
          </p:nvSpPr>
          <p:spPr bwMode="auto">
            <a:xfrm>
              <a:off x="1123950" y="4021138"/>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15" name="Rectangle 8"/>
            <p:cNvSpPr>
              <a:spLocks noChangeArrowheads="1"/>
            </p:cNvSpPr>
            <p:nvPr/>
          </p:nvSpPr>
          <p:spPr bwMode="auto">
            <a:xfrm>
              <a:off x="414338" y="9525"/>
              <a:ext cx="28575" cy="4481513"/>
            </a:xfrm>
            <a:prstGeom prst="rect">
              <a:avLst/>
            </a:prstGeom>
            <a:grpFill/>
            <a:ln>
              <a:noFill/>
            </a:ln>
            <a:extLst>
              <a:ext uri="{91240B29-F687-4f45-9708-019B960494DF}">
                <a14:hiddenLine xmlns="" xmlns:a14="http://schemas.microsoft.com/office/drawing/2010/main" w="9525">
                  <a:solidFill>
                    <a:srgbClr val="000000"/>
                  </a:solidFill>
                  <a:miter lim="800000"/>
                  <a:headEnd/>
                  <a:tailEnd/>
                </a14:hiddenLine>
              </a:ext>
            </a:extLst>
          </p:spPr>
        </p:sp>
        <p:sp>
          <p:nvSpPr>
            <p:cNvPr id="16" name="Freeform 9"/>
            <p:cNvSpPr>
              <a:spLocks noEditPoints="1"/>
            </p:cNvSpPr>
            <p:nvPr/>
          </p:nvSpPr>
          <p:spPr bwMode="auto">
            <a:xfrm>
              <a:off x="333375" y="44815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17" name="Freeform 10"/>
            <p:cNvSpPr/>
            <p:nvPr/>
          </p:nvSpPr>
          <p:spPr bwMode="auto">
            <a:xfrm>
              <a:off x="190500" y="9525"/>
              <a:ext cx="152400" cy="908050"/>
            </a:xfrm>
            <a:custGeom>
              <a:avLst/>
              <a:gdLst/>
              <a:ahLst/>
              <a:cxnLst/>
              <a:rect l="0" t="0" r="r" b="b"/>
              <a:pathLst>
                <a:path w="96" h="572">
                  <a:moveTo>
                    <a:pt x="15" y="572"/>
                  </a:moveTo>
                  <a:lnTo>
                    <a:pt x="0" y="566"/>
                  </a:lnTo>
                  <a:lnTo>
                    <a:pt x="81" y="380"/>
                  </a:lnTo>
                  <a:lnTo>
                    <a:pt x="81" y="0"/>
                  </a:lnTo>
                  <a:lnTo>
                    <a:pt x="96" y="0"/>
                  </a:lnTo>
                  <a:lnTo>
                    <a:pt x="96" y="383"/>
                  </a:lnTo>
                  <a:lnTo>
                    <a:pt x="15" y="572"/>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18" name="Freeform 11"/>
            <p:cNvSpPr/>
            <p:nvPr/>
          </p:nvSpPr>
          <p:spPr bwMode="auto">
            <a:xfrm>
              <a:off x="1290638" y="14288"/>
              <a:ext cx="376238" cy="1801813"/>
            </a:xfrm>
            <a:custGeom>
              <a:avLst/>
              <a:gdLst/>
              <a:ahLst/>
              <a:cxnLst/>
              <a:rect l="0" t="0" r="r" b="b"/>
              <a:pathLst>
                <a:path w="237" h="1135">
                  <a:moveTo>
                    <a:pt x="222" y="1135"/>
                  </a:moveTo>
                  <a:lnTo>
                    <a:pt x="0" y="620"/>
                  </a:lnTo>
                  <a:lnTo>
                    <a:pt x="0" y="0"/>
                  </a:lnTo>
                  <a:lnTo>
                    <a:pt x="18" y="0"/>
                  </a:lnTo>
                  <a:lnTo>
                    <a:pt x="18" y="617"/>
                  </a:lnTo>
                  <a:lnTo>
                    <a:pt x="237" y="1129"/>
                  </a:lnTo>
                  <a:lnTo>
                    <a:pt x="222" y="1135"/>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19" name="Freeform 12"/>
            <p:cNvSpPr>
              <a:spLocks noEditPoints="1"/>
            </p:cNvSpPr>
            <p:nvPr/>
          </p:nvSpPr>
          <p:spPr bwMode="auto">
            <a:xfrm>
              <a:off x="1600200" y="1801813"/>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20" name="Freeform 13"/>
            <p:cNvSpPr/>
            <p:nvPr/>
          </p:nvSpPr>
          <p:spPr bwMode="auto">
            <a:xfrm>
              <a:off x="1381125" y="9525"/>
              <a:ext cx="371475" cy="1425575"/>
            </a:xfrm>
            <a:custGeom>
              <a:avLst/>
              <a:gdLst/>
              <a:ahLst/>
              <a:cxnLst/>
              <a:rect l="0" t="0" r="r" b="b"/>
              <a:pathLst>
                <a:path w="234" h="898">
                  <a:moveTo>
                    <a:pt x="219" y="898"/>
                  </a:moveTo>
                  <a:lnTo>
                    <a:pt x="0" y="383"/>
                  </a:lnTo>
                  <a:lnTo>
                    <a:pt x="0" y="0"/>
                  </a:lnTo>
                  <a:lnTo>
                    <a:pt x="15" y="0"/>
                  </a:lnTo>
                  <a:lnTo>
                    <a:pt x="15" y="380"/>
                  </a:lnTo>
                  <a:lnTo>
                    <a:pt x="234" y="892"/>
                  </a:lnTo>
                  <a:lnTo>
                    <a:pt x="219" y="898"/>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21" name="Freeform 14"/>
            <p:cNvSpPr/>
            <p:nvPr/>
          </p:nvSpPr>
          <p:spPr bwMode="auto">
            <a:xfrm>
              <a:off x="1643063" y="0"/>
              <a:ext cx="152400" cy="912813"/>
            </a:xfrm>
            <a:custGeom>
              <a:avLst/>
              <a:gdLst/>
              <a:ahLst/>
              <a:cxnLst/>
              <a:rect l="0" t="0" r="r" b="b"/>
              <a:pathLst>
                <a:path w="96" h="575">
                  <a:moveTo>
                    <a:pt x="96" y="575"/>
                  </a:moveTo>
                  <a:lnTo>
                    <a:pt x="78" y="575"/>
                  </a:lnTo>
                  <a:lnTo>
                    <a:pt x="78" y="192"/>
                  </a:lnTo>
                  <a:lnTo>
                    <a:pt x="0" y="6"/>
                  </a:lnTo>
                  <a:lnTo>
                    <a:pt x="15" y="0"/>
                  </a:lnTo>
                  <a:lnTo>
                    <a:pt x="96" y="189"/>
                  </a:lnTo>
                  <a:lnTo>
                    <a:pt x="96" y="575"/>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22" name="Freeform 15"/>
            <p:cNvSpPr>
              <a:spLocks noEditPoints="1"/>
            </p:cNvSpPr>
            <p:nvPr/>
          </p:nvSpPr>
          <p:spPr bwMode="auto">
            <a:xfrm>
              <a:off x="1685925" y="14208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23" name="Freeform 16"/>
            <p:cNvSpPr>
              <a:spLocks noEditPoints="1"/>
            </p:cNvSpPr>
            <p:nvPr/>
          </p:nvSpPr>
          <p:spPr bwMode="auto">
            <a:xfrm>
              <a:off x="1685925" y="90328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24" name="Freeform 17"/>
            <p:cNvSpPr/>
            <p:nvPr/>
          </p:nvSpPr>
          <p:spPr bwMode="auto">
            <a:xfrm>
              <a:off x="1743075" y="4763"/>
              <a:ext cx="419100" cy="522288"/>
            </a:xfrm>
            <a:custGeom>
              <a:avLst/>
              <a:gdLst/>
              <a:ahLst/>
              <a:cxnLst/>
              <a:rect l="0" t="0" r="r" b="b"/>
              <a:pathLst>
                <a:path w="264" h="329">
                  <a:moveTo>
                    <a:pt x="252" y="329"/>
                  </a:moveTo>
                  <a:lnTo>
                    <a:pt x="45" y="120"/>
                  </a:lnTo>
                  <a:lnTo>
                    <a:pt x="0" y="6"/>
                  </a:lnTo>
                  <a:lnTo>
                    <a:pt x="15" y="0"/>
                  </a:lnTo>
                  <a:lnTo>
                    <a:pt x="60" y="111"/>
                  </a:lnTo>
                  <a:lnTo>
                    <a:pt x="264" y="317"/>
                  </a:lnTo>
                  <a:lnTo>
                    <a:pt x="252" y="329"/>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25" name="Freeform 18"/>
            <p:cNvSpPr>
              <a:spLocks noEditPoints="1"/>
            </p:cNvSpPr>
            <p:nvPr/>
          </p:nvSpPr>
          <p:spPr bwMode="auto">
            <a:xfrm>
              <a:off x="2119313" y="488950"/>
              <a:ext cx="161925" cy="147638"/>
            </a:xfrm>
            <a:custGeom>
              <a:avLst/>
              <a:gdLst/>
              <a:ahLst/>
              <a:cxnLst/>
              <a:rect l="0" t="0" r="r" b="b"/>
              <a:pathLst>
                <a:path w="34" h="31">
                  <a:moveTo>
                    <a:pt x="17" y="31"/>
                  </a:moveTo>
                  <a:cubicBezTo>
                    <a:pt x="13" y="31"/>
                    <a:pt x="9" y="30"/>
                    <a:pt x="6" y="27"/>
                  </a:cubicBezTo>
                  <a:cubicBezTo>
                    <a:pt x="0" y="20"/>
                    <a:pt x="0" y="10"/>
                    <a:pt x="6" y="4"/>
                  </a:cubicBezTo>
                  <a:cubicBezTo>
                    <a:pt x="9" y="1"/>
                    <a:pt x="13" y="0"/>
                    <a:pt x="17" y="0"/>
                  </a:cubicBezTo>
                  <a:cubicBezTo>
                    <a:pt x="21" y="0"/>
                    <a:pt x="25" y="1"/>
                    <a:pt x="28" y="4"/>
                  </a:cubicBezTo>
                  <a:cubicBezTo>
                    <a:pt x="34" y="10"/>
                    <a:pt x="34" y="20"/>
                    <a:pt x="28" y="27"/>
                  </a:cubicBezTo>
                  <a:cubicBezTo>
                    <a:pt x="25" y="30"/>
                    <a:pt x="21" y="31"/>
                    <a:pt x="17" y="31"/>
                  </a:cubicBezTo>
                  <a:close/>
                  <a:moveTo>
                    <a:pt x="17" y="4"/>
                  </a:moveTo>
                  <a:cubicBezTo>
                    <a:pt x="14" y="4"/>
                    <a:pt x="11" y="5"/>
                    <a:pt x="9" y="7"/>
                  </a:cubicBezTo>
                  <a:cubicBezTo>
                    <a:pt x="4" y="12"/>
                    <a:pt x="4" y="19"/>
                    <a:pt x="9" y="24"/>
                  </a:cubicBezTo>
                  <a:cubicBezTo>
                    <a:pt x="11" y="26"/>
                    <a:pt x="14" y="27"/>
                    <a:pt x="17" y="27"/>
                  </a:cubicBezTo>
                  <a:cubicBezTo>
                    <a:pt x="20" y="27"/>
                    <a:pt x="23" y="26"/>
                    <a:pt x="25" y="24"/>
                  </a:cubicBezTo>
                  <a:cubicBezTo>
                    <a:pt x="30" y="19"/>
                    <a:pt x="30" y="12"/>
                    <a:pt x="25" y="7"/>
                  </a:cubicBezTo>
                  <a:cubicBezTo>
                    <a:pt x="23" y="5"/>
                    <a:pt x="20" y="4"/>
                    <a:pt x="17"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26" name="Freeform 19"/>
            <p:cNvSpPr/>
            <p:nvPr/>
          </p:nvSpPr>
          <p:spPr bwMode="auto">
            <a:xfrm>
              <a:off x="952500" y="4763"/>
              <a:ext cx="152400" cy="908050"/>
            </a:xfrm>
            <a:custGeom>
              <a:avLst/>
              <a:gdLst/>
              <a:ahLst/>
              <a:cxnLst/>
              <a:rect l="0" t="0" r="r" b="b"/>
              <a:pathLst>
                <a:path w="96" h="572">
                  <a:moveTo>
                    <a:pt x="15" y="572"/>
                  </a:moveTo>
                  <a:lnTo>
                    <a:pt x="0" y="572"/>
                  </a:lnTo>
                  <a:lnTo>
                    <a:pt x="0" y="189"/>
                  </a:lnTo>
                  <a:lnTo>
                    <a:pt x="81" y="0"/>
                  </a:lnTo>
                  <a:lnTo>
                    <a:pt x="96" y="6"/>
                  </a:lnTo>
                  <a:lnTo>
                    <a:pt x="15" y="192"/>
                  </a:lnTo>
                  <a:lnTo>
                    <a:pt x="15" y="572"/>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27" name="Freeform 20"/>
            <p:cNvSpPr>
              <a:spLocks noEditPoints="1"/>
            </p:cNvSpPr>
            <p:nvPr/>
          </p:nvSpPr>
          <p:spPr bwMode="auto">
            <a:xfrm>
              <a:off x="866775" y="90328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2"/>
                    <a:pt x="4" y="20"/>
                  </a:cubicBezTo>
                  <a:cubicBezTo>
                    <a:pt x="4" y="29"/>
                    <a:pt x="11" y="36"/>
                    <a:pt x="20" y="36"/>
                  </a:cubicBezTo>
                  <a:cubicBezTo>
                    <a:pt x="29" y="36"/>
                    <a:pt x="36" y="29"/>
                    <a:pt x="36" y="20"/>
                  </a:cubicBezTo>
                  <a:cubicBezTo>
                    <a:pt x="36" y="12"/>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28" name="Freeform 21"/>
            <p:cNvSpPr>
              <a:spLocks noEditPoints="1"/>
            </p:cNvSpPr>
            <p:nvPr/>
          </p:nvSpPr>
          <p:spPr bwMode="auto">
            <a:xfrm>
              <a:off x="890588" y="155416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8"/>
                    <a:pt x="11" y="36"/>
                    <a:pt x="20" y="36"/>
                  </a:cubicBezTo>
                  <a:cubicBezTo>
                    <a:pt x="29" y="36"/>
                    <a:pt x="36" y="28"/>
                    <a:pt x="36" y="20"/>
                  </a:cubicBezTo>
                  <a:cubicBezTo>
                    <a:pt x="36" y="11"/>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29" name="Freeform 22"/>
            <p:cNvSpPr/>
            <p:nvPr/>
          </p:nvSpPr>
          <p:spPr bwMode="auto">
            <a:xfrm>
              <a:off x="738188" y="5622925"/>
              <a:ext cx="338138" cy="1216025"/>
            </a:xfrm>
            <a:custGeom>
              <a:avLst/>
              <a:gdLst/>
              <a:ahLst/>
              <a:cxnLst/>
              <a:rect l="0" t="0" r="r" b="b"/>
              <a:pathLst>
                <a:path w="213" h="766">
                  <a:moveTo>
                    <a:pt x="213" y="766"/>
                  </a:moveTo>
                  <a:lnTo>
                    <a:pt x="195" y="766"/>
                  </a:lnTo>
                  <a:lnTo>
                    <a:pt x="195" y="464"/>
                  </a:lnTo>
                  <a:lnTo>
                    <a:pt x="0" y="6"/>
                  </a:lnTo>
                  <a:lnTo>
                    <a:pt x="12" y="0"/>
                  </a:lnTo>
                  <a:lnTo>
                    <a:pt x="213" y="461"/>
                  </a:lnTo>
                  <a:lnTo>
                    <a:pt x="213" y="766"/>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30" name="Freeform 23"/>
            <p:cNvSpPr>
              <a:spLocks noEditPoints="1"/>
            </p:cNvSpPr>
            <p:nvPr/>
          </p:nvSpPr>
          <p:spPr bwMode="auto">
            <a:xfrm>
              <a:off x="647700" y="5480050"/>
              <a:ext cx="157163" cy="157163"/>
            </a:xfrm>
            <a:custGeom>
              <a:avLst/>
              <a:gdLst/>
              <a:ahLst/>
              <a:cxnLst/>
              <a:rect l="0" t="0" r="r" b="b"/>
              <a:pathLst>
                <a:path w="33" h="33">
                  <a:moveTo>
                    <a:pt x="17" y="33"/>
                  </a:moveTo>
                  <a:cubicBezTo>
                    <a:pt x="8" y="33"/>
                    <a:pt x="0" y="26"/>
                    <a:pt x="0" y="17"/>
                  </a:cubicBezTo>
                  <a:cubicBezTo>
                    <a:pt x="0" y="8"/>
                    <a:pt x="8" y="0"/>
                    <a:pt x="17" y="0"/>
                  </a:cubicBezTo>
                  <a:cubicBezTo>
                    <a:pt x="26" y="0"/>
                    <a:pt x="33" y="8"/>
                    <a:pt x="33" y="17"/>
                  </a:cubicBezTo>
                  <a:cubicBezTo>
                    <a:pt x="33" y="26"/>
                    <a:pt x="26" y="33"/>
                    <a:pt x="17" y="33"/>
                  </a:cubicBezTo>
                  <a:close/>
                  <a:moveTo>
                    <a:pt x="17" y="4"/>
                  </a:moveTo>
                  <a:cubicBezTo>
                    <a:pt x="10" y="4"/>
                    <a:pt x="4" y="10"/>
                    <a:pt x="4" y="17"/>
                  </a:cubicBezTo>
                  <a:cubicBezTo>
                    <a:pt x="4" y="24"/>
                    <a:pt x="10" y="29"/>
                    <a:pt x="17" y="29"/>
                  </a:cubicBezTo>
                  <a:cubicBezTo>
                    <a:pt x="23" y="29"/>
                    <a:pt x="29" y="24"/>
                    <a:pt x="29" y="17"/>
                  </a:cubicBezTo>
                  <a:cubicBezTo>
                    <a:pt x="29" y="10"/>
                    <a:pt x="23" y="4"/>
                    <a:pt x="17"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31" name="Freeform 24"/>
            <p:cNvSpPr>
              <a:spLocks noEditPoints="1"/>
            </p:cNvSpPr>
            <p:nvPr/>
          </p:nvSpPr>
          <p:spPr bwMode="auto">
            <a:xfrm>
              <a:off x="66675" y="903288"/>
              <a:ext cx="190500" cy="190500"/>
            </a:xfrm>
            <a:custGeom>
              <a:avLst/>
              <a:gdLst/>
              <a:ahLst/>
              <a:cxnLst/>
              <a:rect l="0" t="0" r="r" b="b"/>
              <a:pathLst>
                <a:path w="40" h="40">
                  <a:moveTo>
                    <a:pt x="20" y="40"/>
                  </a:moveTo>
                  <a:cubicBezTo>
                    <a:pt x="9" y="40"/>
                    <a:pt x="0" y="31"/>
                    <a:pt x="0" y="20"/>
                  </a:cubicBezTo>
                  <a:cubicBezTo>
                    <a:pt x="0" y="9"/>
                    <a:pt x="9" y="0"/>
                    <a:pt x="20" y="0"/>
                  </a:cubicBezTo>
                  <a:cubicBezTo>
                    <a:pt x="32" y="0"/>
                    <a:pt x="40" y="9"/>
                    <a:pt x="40" y="20"/>
                  </a:cubicBezTo>
                  <a:cubicBezTo>
                    <a:pt x="40" y="31"/>
                    <a:pt x="32" y="40"/>
                    <a:pt x="20" y="40"/>
                  </a:cubicBezTo>
                  <a:close/>
                  <a:moveTo>
                    <a:pt x="20" y="4"/>
                  </a:moveTo>
                  <a:cubicBezTo>
                    <a:pt x="12" y="4"/>
                    <a:pt x="4" y="12"/>
                    <a:pt x="4" y="20"/>
                  </a:cubicBezTo>
                  <a:cubicBezTo>
                    <a:pt x="4" y="29"/>
                    <a:pt x="12" y="36"/>
                    <a:pt x="20" y="36"/>
                  </a:cubicBezTo>
                  <a:cubicBezTo>
                    <a:pt x="29" y="36"/>
                    <a:pt x="36" y="29"/>
                    <a:pt x="36" y="20"/>
                  </a:cubicBezTo>
                  <a:cubicBezTo>
                    <a:pt x="36" y="12"/>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32" name="Freeform 25"/>
            <p:cNvSpPr/>
            <p:nvPr/>
          </p:nvSpPr>
          <p:spPr bwMode="auto">
            <a:xfrm>
              <a:off x="0" y="3897313"/>
              <a:ext cx="133350" cy="266700"/>
            </a:xfrm>
            <a:custGeom>
              <a:avLst/>
              <a:gdLst/>
              <a:ahLst/>
              <a:cxnLst/>
              <a:rect l="0" t="0" r="r" b="b"/>
              <a:pathLst>
                <a:path w="84" h="168">
                  <a:moveTo>
                    <a:pt x="69" y="168"/>
                  </a:moveTo>
                  <a:lnTo>
                    <a:pt x="0" y="6"/>
                  </a:lnTo>
                  <a:lnTo>
                    <a:pt x="12" y="0"/>
                  </a:lnTo>
                  <a:lnTo>
                    <a:pt x="84" y="162"/>
                  </a:lnTo>
                  <a:lnTo>
                    <a:pt x="69" y="168"/>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33" name="Freeform 26"/>
            <p:cNvSpPr>
              <a:spLocks noEditPoints="1"/>
            </p:cNvSpPr>
            <p:nvPr/>
          </p:nvSpPr>
          <p:spPr bwMode="auto">
            <a:xfrm>
              <a:off x="66675" y="4149725"/>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8"/>
                    <a:pt x="11" y="36"/>
                    <a:pt x="20" y="36"/>
                  </a:cubicBezTo>
                  <a:cubicBezTo>
                    <a:pt x="29" y="36"/>
                    <a:pt x="36" y="28"/>
                    <a:pt x="36" y="20"/>
                  </a:cubicBezTo>
                  <a:cubicBezTo>
                    <a:pt x="36" y="11"/>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34" name="Freeform 27"/>
            <p:cNvSpPr/>
            <p:nvPr/>
          </p:nvSpPr>
          <p:spPr bwMode="auto">
            <a:xfrm>
              <a:off x="0" y="1644650"/>
              <a:ext cx="133350" cy="269875"/>
            </a:xfrm>
            <a:custGeom>
              <a:avLst/>
              <a:gdLst/>
              <a:ahLst/>
              <a:cxnLst/>
              <a:rect l="0" t="0" r="r" b="b"/>
              <a:pathLst>
                <a:path w="84" h="170">
                  <a:moveTo>
                    <a:pt x="12" y="170"/>
                  </a:moveTo>
                  <a:lnTo>
                    <a:pt x="0" y="164"/>
                  </a:lnTo>
                  <a:lnTo>
                    <a:pt x="69" y="0"/>
                  </a:lnTo>
                  <a:lnTo>
                    <a:pt x="84" y="6"/>
                  </a:lnTo>
                  <a:lnTo>
                    <a:pt x="12" y="170"/>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35" name="Freeform 28"/>
            <p:cNvSpPr>
              <a:spLocks noEditPoints="1"/>
            </p:cNvSpPr>
            <p:nvPr/>
          </p:nvSpPr>
          <p:spPr bwMode="auto">
            <a:xfrm>
              <a:off x="66675" y="146843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8"/>
                    <a:pt x="11" y="36"/>
                    <a:pt x="20" y="36"/>
                  </a:cubicBezTo>
                  <a:cubicBezTo>
                    <a:pt x="29" y="36"/>
                    <a:pt x="36" y="28"/>
                    <a:pt x="36" y="20"/>
                  </a:cubicBezTo>
                  <a:cubicBezTo>
                    <a:pt x="36" y="11"/>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36" name="Freeform 29"/>
            <p:cNvSpPr/>
            <p:nvPr/>
          </p:nvSpPr>
          <p:spPr bwMode="auto">
            <a:xfrm>
              <a:off x="695325" y="4763"/>
              <a:ext cx="309563" cy="1558925"/>
            </a:xfrm>
            <a:custGeom>
              <a:avLst/>
              <a:gdLst/>
              <a:ahLst/>
              <a:cxnLst/>
              <a:rect l="0" t="0" r="r" b="b"/>
              <a:pathLst>
                <a:path w="195" h="982">
                  <a:moveTo>
                    <a:pt x="195" y="982"/>
                  </a:moveTo>
                  <a:lnTo>
                    <a:pt x="177" y="982"/>
                  </a:lnTo>
                  <a:lnTo>
                    <a:pt x="177" y="805"/>
                  </a:lnTo>
                  <a:lnTo>
                    <a:pt x="0" y="629"/>
                  </a:lnTo>
                  <a:lnTo>
                    <a:pt x="0" y="0"/>
                  </a:lnTo>
                  <a:lnTo>
                    <a:pt x="18" y="0"/>
                  </a:lnTo>
                  <a:lnTo>
                    <a:pt x="18" y="623"/>
                  </a:lnTo>
                  <a:lnTo>
                    <a:pt x="195" y="796"/>
                  </a:lnTo>
                  <a:lnTo>
                    <a:pt x="195" y="982"/>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37" name="Freeform 30"/>
            <p:cNvSpPr>
              <a:spLocks noEditPoints="1"/>
            </p:cNvSpPr>
            <p:nvPr/>
          </p:nvSpPr>
          <p:spPr bwMode="auto">
            <a:xfrm>
              <a:off x="57150" y="4881563"/>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38" name="Freeform 31"/>
            <p:cNvSpPr/>
            <p:nvPr/>
          </p:nvSpPr>
          <p:spPr bwMode="auto">
            <a:xfrm>
              <a:off x="138113" y="5060950"/>
              <a:ext cx="304800" cy="1778000"/>
            </a:xfrm>
            <a:custGeom>
              <a:avLst/>
              <a:gdLst/>
              <a:ahLst/>
              <a:cxnLst/>
              <a:rect l="0" t="0" r="r" b="b"/>
              <a:pathLst>
                <a:path w="192" h="1120">
                  <a:moveTo>
                    <a:pt x="192" y="1120"/>
                  </a:moveTo>
                  <a:lnTo>
                    <a:pt x="177" y="1120"/>
                  </a:lnTo>
                  <a:lnTo>
                    <a:pt x="177" y="360"/>
                  </a:lnTo>
                  <a:lnTo>
                    <a:pt x="0" y="183"/>
                  </a:lnTo>
                  <a:lnTo>
                    <a:pt x="0" y="0"/>
                  </a:lnTo>
                  <a:lnTo>
                    <a:pt x="15" y="0"/>
                  </a:lnTo>
                  <a:lnTo>
                    <a:pt x="15" y="177"/>
                  </a:lnTo>
                  <a:lnTo>
                    <a:pt x="192" y="354"/>
                  </a:lnTo>
                  <a:lnTo>
                    <a:pt x="192" y="1120"/>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39" name="Freeform 32"/>
            <p:cNvSpPr>
              <a:spLocks noEditPoints="1"/>
            </p:cNvSpPr>
            <p:nvPr/>
          </p:nvSpPr>
          <p:spPr bwMode="auto">
            <a:xfrm>
              <a:off x="561975" y="6430963"/>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40" name="Rectangle 33"/>
            <p:cNvSpPr>
              <a:spLocks noChangeArrowheads="1"/>
            </p:cNvSpPr>
            <p:nvPr/>
          </p:nvSpPr>
          <p:spPr bwMode="auto">
            <a:xfrm>
              <a:off x="642938" y="6610350"/>
              <a:ext cx="23813" cy="242888"/>
            </a:xfrm>
            <a:prstGeom prst="rect">
              <a:avLst/>
            </a:prstGeom>
            <a:grpFill/>
            <a:ln>
              <a:noFill/>
            </a:ln>
            <a:extLst>
              <a:ext uri="{91240B29-F687-4f45-9708-019B960494DF}">
                <a14:hiddenLine xmlns="" xmlns:a14="http://schemas.microsoft.com/office/drawing/2010/main" w="9525">
                  <a:solidFill>
                    <a:srgbClr val="000000"/>
                  </a:solidFill>
                  <a:miter lim="800000"/>
                  <a:headEnd/>
                  <a:tailEnd/>
                </a14:hiddenLine>
              </a:ext>
            </a:extLst>
          </p:spPr>
        </p:sp>
        <p:sp>
          <p:nvSpPr>
            <p:cNvPr id="41" name="Freeform 34"/>
            <p:cNvSpPr>
              <a:spLocks noEditPoints="1"/>
            </p:cNvSpPr>
            <p:nvPr/>
          </p:nvSpPr>
          <p:spPr bwMode="auto">
            <a:xfrm>
              <a:off x="76200" y="6430963"/>
              <a:ext cx="190500" cy="188913"/>
            </a:xfrm>
            <a:custGeom>
              <a:avLst/>
              <a:gdLst/>
              <a:ahLst/>
              <a:cxnLst/>
              <a:rect l="0" t="0" r="r" b="b"/>
              <a:pathLst>
                <a:path w="40" h="40">
                  <a:moveTo>
                    <a:pt x="20" y="40"/>
                  </a:moveTo>
                  <a:cubicBezTo>
                    <a:pt x="9" y="40"/>
                    <a:pt x="0" y="31"/>
                    <a:pt x="0" y="20"/>
                  </a:cubicBezTo>
                  <a:cubicBezTo>
                    <a:pt x="0" y="9"/>
                    <a:pt x="9" y="0"/>
                    <a:pt x="20" y="0"/>
                  </a:cubicBezTo>
                  <a:cubicBezTo>
                    <a:pt x="32" y="0"/>
                    <a:pt x="40" y="9"/>
                    <a:pt x="40" y="20"/>
                  </a:cubicBezTo>
                  <a:cubicBezTo>
                    <a:pt x="40" y="31"/>
                    <a:pt x="32"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42" name="Freeform 35"/>
            <p:cNvSpPr/>
            <p:nvPr/>
          </p:nvSpPr>
          <p:spPr bwMode="auto">
            <a:xfrm>
              <a:off x="0" y="5978525"/>
              <a:ext cx="190500" cy="461963"/>
            </a:xfrm>
            <a:custGeom>
              <a:avLst/>
              <a:gdLst/>
              <a:ahLst/>
              <a:cxnLst/>
              <a:rect l="0" t="0" r="r" b="b"/>
              <a:pathLst>
                <a:path w="120" h="291">
                  <a:moveTo>
                    <a:pt x="120" y="291"/>
                  </a:moveTo>
                  <a:lnTo>
                    <a:pt x="105" y="291"/>
                  </a:lnTo>
                  <a:lnTo>
                    <a:pt x="105" y="114"/>
                  </a:lnTo>
                  <a:lnTo>
                    <a:pt x="0" y="9"/>
                  </a:lnTo>
                  <a:lnTo>
                    <a:pt x="12" y="0"/>
                  </a:lnTo>
                  <a:lnTo>
                    <a:pt x="120" y="108"/>
                  </a:lnTo>
                  <a:lnTo>
                    <a:pt x="120" y="291"/>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43" name="Freeform 36"/>
            <p:cNvSpPr/>
            <p:nvPr/>
          </p:nvSpPr>
          <p:spPr bwMode="auto">
            <a:xfrm>
              <a:off x="1014413" y="1801813"/>
              <a:ext cx="214313" cy="755650"/>
            </a:xfrm>
            <a:custGeom>
              <a:avLst/>
              <a:gdLst/>
              <a:ahLst/>
              <a:cxnLst/>
              <a:rect l="0" t="0" r="r" b="b"/>
              <a:pathLst>
                <a:path w="135" h="476">
                  <a:moveTo>
                    <a:pt x="12" y="476"/>
                  </a:moveTo>
                  <a:lnTo>
                    <a:pt x="0" y="476"/>
                  </a:lnTo>
                  <a:lnTo>
                    <a:pt x="0" y="128"/>
                  </a:lnTo>
                  <a:lnTo>
                    <a:pt x="126" y="0"/>
                  </a:lnTo>
                  <a:lnTo>
                    <a:pt x="135" y="9"/>
                  </a:lnTo>
                  <a:lnTo>
                    <a:pt x="12" y="131"/>
                  </a:lnTo>
                  <a:lnTo>
                    <a:pt x="12" y="476"/>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44" name="Freeform 37"/>
            <p:cNvSpPr>
              <a:spLocks noEditPoints="1"/>
            </p:cNvSpPr>
            <p:nvPr/>
          </p:nvSpPr>
          <p:spPr bwMode="auto">
            <a:xfrm>
              <a:off x="938213" y="2547938"/>
              <a:ext cx="166688" cy="160338"/>
            </a:xfrm>
            <a:custGeom>
              <a:avLst/>
              <a:gdLst/>
              <a:ahLst/>
              <a:cxnLst/>
              <a:rect l="0" t="0" r="r" b="b"/>
              <a:pathLst>
                <a:path w="35" h="34">
                  <a:moveTo>
                    <a:pt x="18" y="34"/>
                  </a:moveTo>
                  <a:cubicBezTo>
                    <a:pt x="8" y="34"/>
                    <a:pt x="0" y="26"/>
                    <a:pt x="0" y="17"/>
                  </a:cubicBezTo>
                  <a:cubicBezTo>
                    <a:pt x="0" y="7"/>
                    <a:pt x="8" y="0"/>
                    <a:pt x="18" y="0"/>
                  </a:cubicBezTo>
                  <a:cubicBezTo>
                    <a:pt x="27" y="0"/>
                    <a:pt x="35" y="7"/>
                    <a:pt x="35" y="17"/>
                  </a:cubicBezTo>
                  <a:cubicBezTo>
                    <a:pt x="35" y="26"/>
                    <a:pt x="27" y="34"/>
                    <a:pt x="18" y="34"/>
                  </a:cubicBezTo>
                  <a:close/>
                  <a:moveTo>
                    <a:pt x="18" y="4"/>
                  </a:moveTo>
                  <a:cubicBezTo>
                    <a:pt x="10" y="4"/>
                    <a:pt x="4" y="10"/>
                    <a:pt x="4" y="17"/>
                  </a:cubicBezTo>
                  <a:cubicBezTo>
                    <a:pt x="4" y="24"/>
                    <a:pt x="10" y="30"/>
                    <a:pt x="18" y="30"/>
                  </a:cubicBezTo>
                  <a:cubicBezTo>
                    <a:pt x="25" y="30"/>
                    <a:pt x="31" y="24"/>
                    <a:pt x="31" y="17"/>
                  </a:cubicBezTo>
                  <a:cubicBezTo>
                    <a:pt x="31" y="10"/>
                    <a:pt x="25" y="4"/>
                    <a:pt x="18"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45" name="Freeform 38"/>
            <p:cNvSpPr/>
            <p:nvPr/>
          </p:nvSpPr>
          <p:spPr bwMode="auto">
            <a:xfrm>
              <a:off x="595313" y="4763"/>
              <a:ext cx="638175" cy="4025900"/>
            </a:xfrm>
            <a:custGeom>
              <a:avLst/>
              <a:gdLst/>
              <a:ahLst/>
              <a:cxnLst/>
              <a:rect l="0" t="0" r="r" b="b"/>
              <a:pathLst>
                <a:path w="402" h="2536">
                  <a:moveTo>
                    <a:pt x="402" y="2536"/>
                  </a:moveTo>
                  <a:lnTo>
                    <a:pt x="387" y="2536"/>
                  </a:lnTo>
                  <a:lnTo>
                    <a:pt x="387" y="2311"/>
                  </a:lnTo>
                  <a:lnTo>
                    <a:pt x="0" y="1925"/>
                  </a:lnTo>
                  <a:lnTo>
                    <a:pt x="0" y="0"/>
                  </a:lnTo>
                  <a:lnTo>
                    <a:pt x="15" y="0"/>
                  </a:lnTo>
                  <a:lnTo>
                    <a:pt x="15" y="1916"/>
                  </a:lnTo>
                  <a:lnTo>
                    <a:pt x="402" y="2302"/>
                  </a:lnTo>
                  <a:lnTo>
                    <a:pt x="402" y="2536"/>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46" name="Freeform 39"/>
            <p:cNvSpPr/>
            <p:nvPr/>
          </p:nvSpPr>
          <p:spPr bwMode="auto">
            <a:xfrm>
              <a:off x="1223963" y="1382713"/>
              <a:ext cx="142875" cy="476250"/>
            </a:xfrm>
            <a:custGeom>
              <a:avLst/>
              <a:gdLst/>
              <a:ahLst/>
              <a:cxnLst/>
              <a:rect l="0" t="0" r="r" b="b"/>
              <a:pathLst>
                <a:path w="90" h="300">
                  <a:moveTo>
                    <a:pt x="90" y="300"/>
                  </a:moveTo>
                  <a:lnTo>
                    <a:pt x="78" y="300"/>
                  </a:lnTo>
                  <a:lnTo>
                    <a:pt x="78" y="84"/>
                  </a:lnTo>
                  <a:lnTo>
                    <a:pt x="0" y="9"/>
                  </a:lnTo>
                  <a:lnTo>
                    <a:pt x="9" y="0"/>
                  </a:lnTo>
                  <a:lnTo>
                    <a:pt x="90" y="81"/>
                  </a:lnTo>
                  <a:lnTo>
                    <a:pt x="90" y="300"/>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47" name="Freeform 40"/>
            <p:cNvSpPr>
              <a:spLocks noEditPoints="1"/>
            </p:cNvSpPr>
            <p:nvPr/>
          </p:nvSpPr>
          <p:spPr bwMode="auto">
            <a:xfrm>
              <a:off x="1300163" y="1849438"/>
              <a:ext cx="109538" cy="107950"/>
            </a:xfrm>
            <a:custGeom>
              <a:avLst/>
              <a:gdLst/>
              <a:ahLst/>
              <a:cxnLst/>
              <a:rect l="0" t="0" r="r" b="b"/>
              <a:pathLst>
                <a:path w="23" h="23">
                  <a:moveTo>
                    <a:pt x="12" y="23"/>
                  </a:moveTo>
                  <a:cubicBezTo>
                    <a:pt x="5" y="23"/>
                    <a:pt x="0" y="18"/>
                    <a:pt x="0" y="12"/>
                  </a:cubicBezTo>
                  <a:cubicBezTo>
                    <a:pt x="0" y="5"/>
                    <a:pt x="5" y="0"/>
                    <a:pt x="12" y="0"/>
                  </a:cubicBezTo>
                  <a:cubicBezTo>
                    <a:pt x="18" y="0"/>
                    <a:pt x="23" y="5"/>
                    <a:pt x="23" y="12"/>
                  </a:cubicBezTo>
                  <a:cubicBezTo>
                    <a:pt x="23" y="18"/>
                    <a:pt x="18" y="23"/>
                    <a:pt x="12" y="23"/>
                  </a:cubicBezTo>
                  <a:close/>
                  <a:moveTo>
                    <a:pt x="12" y="4"/>
                  </a:moveTo>
                  <a:cubicBezTo>
                    <a:pt x="8" y="4"/>
                    <a:pt x="4" y="8"/>
                    <a:pt x="4" y="12"/>
                  </a:cubicBezTo>
                  <a:cubicBezTo>
                    <a:pt x="4" y="16"/>
                    <a:pt x="8" y="19"/>
                    <a:pt x="12" y="19"/>
                  </a:cubicBezTo>
                  <a:cubicBezTo>
                    <a:pt x="16" y="19"/>
                    <a:pt x="19" y="16"/>
                    <a:pt x="19" y="12"/>
                  </a:cubicBezTo>
                  <a:cubicBezTo>
                    <a:pt x="19" y="8"/>
                    <a:pt x="16" y="4"/>
                    <a:pt x="12"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48" name="Freeform 41"/>
            <p:cNvSpPr/>
            <p:nvPr/>
          </p:nvSpPr>
          <p:spPr bwMode="auto">
            <a:xfrm>
              <a:off x="280988" y="3417888"/>
              <a:ext cx="142875" cy="474663"/>
            </a:xfrm>
            <a:custGeom>
              <a:avLst/>
              <a:gdLst/>
              <a:ahLst/>
              <a:cxnLst/>
              <a:rect l="0" t="0" r="r" b="b"/>
              <a:pathLst>
                <a:path w="90" h="299">
                  <a:moveTo>
                    <a:pt x="12" y="299"/>
                  </a:moveTo>
                  <a:lnTo>
                    <a:pt x="0" y="299"/>
                  </a:lnTo>
                  <a:lnTo>
                    <a:pt x="0" y="80"/>
                  </a:lnTo>
                  <a:lnTo>
                    <a:pt x="81" y="0"/>
                  </a:lnTo>
                  <a:lnTo>
                    <a:pt x="90" y="8"/>
                  </a:lnTo>
                  <a:lnTo>
                    <a:pt x="12" y="83"/>
                  </a:lnTo>
                  <a:lnTo>
                    <a:pt x="12" y="299"/>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49" name="Freeform 42"/>
            <p:cNvSpPr>
              <a:spLocks noEditPoints="1"/>
            </p:cNvSpPr>
            <p:nvPr/>
          </p:nvSpPr>
          <p:spPr bwMode="auto">
            <a:xfrm>
              <a:off x="238125" y="3883025"/>
              <a:ext cx="109538" cy="109538"/>
            </a:xfrm>
            <a:custGeom>
              <a:avLst/>
              <a:gdLst/>
              <a:ahLst/>
              <a:cxnLst/>
              <a:rect l="0" t="0" r="r" b="b"/>
              <a:pathLst>
                <a:path w="23" h="23">
                  <a:moveTo>
                    <a:pt x="11" y="23"/>
                  </a:moveTo>
                  <a:cubicBezTo>
                    <a:pt x="5" y="23"/>
                    <a:pt x="0" y="18"/>
                    <a:pt x="0" y="12"/>
                  </a:cubicBezTo>
                  <a:cubicBezTo>
                    <a:pt x="0" y="5"/>
                    <a:pt x="5" y="0"/>
                    <a:pt x="11" y="0"/>
                  </a:cubicBezTo>
                  <a:cubicBezTo>
                    <a:pt x="17" y="0"/>
                    <a:pt x="23" y="5"/>
                    <a:pt x="23" y="12"/>
                  </a:cubicBezTo>
                  <a:cubicBezTo>
                    <a:pt x="23" y="18"/>
                    <a:pt x="17" y="23"/>
                    <a:pt x="11" y="23"/>
                  </a:cubicBezTo>
                  <a:close/>
                  <a:moveTo>
                    <a:pt x="11" y="4"/>
                  </a:moveTo>
                  <a:cubicBezTo>
                    <a:pt x="7" y="4"/>
                    <a:pt x="4" y="8"/>
                    <a:pt x="4" y="12"/>
                  </a:cubicBezTo>
                  <a:cubicBezTo>
                    <a:pt x="4" y="16"/>
                    <a:pt x="7" y="19"/>
                    <a:pt x="11" y="19"/>
                  </a:cubicBezTo>
                  <a:cubicBezTo>
                    <a:pt x="15" y="19"/>
                    <a:pt x="19" y="16"/>
                    <a:pt x="19" y="12"/>
                  </a:cubicBezTo>
                  <a:cubicBezTo>
                    <a:pt x="19" y="8"/>
                    <a:pt x="15" y="4"/>
                    <a:pt x="11"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50" name="Freeform 43"/>
            <p:cNvSpPr/>
            <p:nvPr/>
          </p:nvSpPr>
          <p:spPr bwMode="auto">
            <a:xfrm>
              <a:off x="4763" y="2166938"/>
              <a:ext cx="114300" cy="452438"/>
            </a:xfrm>
            <a:custGeom>
              <a:avLst/>
              <a:gdLst/>
              <a:ahLst/>
              <a:cxnLst/>
              <a:rect l="0" t="0" r="r" b="b"/>
              <a:pathLst>
                <a:path w="72" h="285">
                  <a:moveTo>
                    <a:pt x="6" y="285"/>
                  </a:moveTo>
                  <a:lnTo>
                    <a:pt x="0" y="276"/>
                  </a:lnTo>
                  <a:lnTo>
                    <a:pt x="60" y="216"/>
                  </a:lnTo>
                  <a:lnTo>
                    <a:pt x="60" y="0"/>
                  </a:lnTo>
                  <a:lnTo>
                    <a:pt x="72" y="0"/>
                  </a:lnTo>
                  <a:lnTo>
                    <a:pt x="72" y="222"/>
                  </a:lnTo>
                  <a:lnTo>
                    <a:pt x="6" y="285"/>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51" name="Freeform 44"/>
            <p:cNvSpPr>
              <a:spLocks noEditPoints="1"/>
            </p:cNvSpPr>
            <p:nvPr/>
          </p:nvSpPr>
          <p:spPr bwMode="auto">
            <a:xfrm>
              <a:off x="52388" y="2066925"/>
              <a:ext cx="109538" cy="109538"/>
            </a:xfrm>
            <a:custGeom>
              <a:avLst/>
              <a:gdLst/>
              <a:ahLst/>
              <a:cxnLst/>
              <a:rect l="0" t="0" r="r" b="b"/>
              <a:pathLst>
                <a:path w="23" h="23">
                  <a:moveTo>
                    <a:pt x="12" y="23"/>
                  </a:moveTo>
                  <a:cubicBezTo>
                    <a:pt x="5" y="23"/>
                    <a:pt x="0" y="18"/>
                    <a:pt x="0" y="12"/>
                  </a:cubicBezTo>
                  <a:cubicBezTo>
                    <a:pt x="0" y="5"/>
                    <a:pt x="5" y="0"/>
                    <a:pt x="12" y="0"/>
                  </a:cubicBezTo>
                  <a:cubicBezTo>
                    <a:pt x="18" y="0"/>
                    <a:pt x="23" y="5"/>
                    <a:pt x="23" y="12"/>
                  </a:cubicBezTo>
                  <a:cubicBezTo>
                    <a:pt x="23" y="18"/>
                    <a:pt x="18" y="23"/>
                    <a:pt x="12" y="23"/>
                  </a:cubicBezTo>
                  <a:close/>
                  <a:moveTo>
                    <a:pt x="12" y="4"/>
                  </a:moveTo>
                  <a:cubicBezTo>
                    <a:pt x="8" y="4"/>
                    <a:pt x="4" y="8"/>
                    <a:pt x="4" y="12"/>
                  </a:cubicBezTo>
                  <a:cubicBezTo>
                    <a:pt x="4" y="16"/>
                    <a:pt x="8" y="19"/>
                    <a:pt x="12" y="19"/>
                  </a:cubicBezTo>
                  <a:cubicBezTo>
                    <a:pt x="16" y="19"/>
                    <a:pt x="19" y="16"/>
                    <a:pt x="19" y="12"/>
                  </a:cubicBezTo>
                  <a:cubicBezTo>
                    <a:pt x="19" y="8"/>
                    <a:pt x="16" y="4"/>
                    <a:pt x="12"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52" name="Rectangle 45"/>
            <p:cNvSpPr>
              <a:spLocks noChangeArrowheads="1"/>
            </p:cNvSpPr>
            <p:nvPr/>
          </p:nvSpPr>
          <p:spPr bwMode="auto">
            <a:xfrm>
              <a:off x="1228725" y="4662488"/>
              <a:ext cx="23813" cy="2181225"/>
            </a:xfrm>
            <a:prstGeom prst="rect">
              <a:avLst/>
            </a:prstGeom>
            <a:grpFill/>
            <a:ln>
              <a:noFill/>
            </a:ln>
            <a:extLst>
              <a:ext uri="{91240B29-F687-4f45-9708-019B960494DF}">
                <a14:hiddenLine xmlns="" xmlns:a14="http://schemas.microsoft.com/office/drawing/2010/main" w="9525">
                  <a:solidFill>
                    <a:srgbClr val="000000"/>
                  </a:solidFill>
                  <a:miter lim="800000"/>
                  <a:headEnd/>
                  <a:tailEnd/>
                </a14:hiddenLine>
              </a:ext>
            </a:extLst>
          </p:spPr>
        </p:sp>
        <p:sp>
          <p:nvSpPr>
            <p:cNvPr id="53" name="Freeform 46"/>
            <p:cNvSpPr/>
            <p:nvPr/>
          </p:nvSpPr>
          <p:spPr bwMode="auto">
            <a:xfrm>
              <a:off x="1319213" y="5041900"/>
              <a:ext cx="371475" cy="1801813"/>
            </a:xfrm>
            <a:custGeom>
              <a:avLst/>
              <a:gdLst/>
              <a:ahLst/>
              <a:cxnLst/>
              <a:rect l="0" t="0" r="r" b="b"/>
              <a:pathLst>
                <a:path w="234" h="1135">
                  <a:moveTo>
                    <a:pt x="15" y="1135"/>
                  </a:moveTo>
                  <a:lnTo>
                    <a:pt x="0" y="1135"/>
                  </a:lnTo>
                  <a:lnTo>
                    <a:pt x="0" y="515"/>
                  </a:lnTo>
                  <a:lnTo>
                    <a:pt x="0" y="512"/>
                  </a:lnTo>
                  <a:lnTo>
                    <a:pt x="219" y="0"/>
                  </a:lnTo>
                  <a:lnTo>
                    <a:pt x="234" y="6"/>
                  </a:lnTo>
                  <a:lnTo>
                    <a:pt x="15" y="518"/>
                  </a:lnTo>
                  <a:lnTo>
                    <a:pt x="15" y="1135"/>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54" name="Freeform 47"/>
            <p:cNvSpPr>
              <a:spLocks noEditPoints="1"/>
            </p:cNvSpPr>
            <p:nvPr/>
          </p:nvSpPr>
          <p:spPr bwMode="auto">
            <a:xfrm>
              <a:off x="1147763" y="44815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55" name="Freeform 48"/>
            <p:cNvSpPr/>
            <p:nvPr/>
          </p:nvSpPr>
          <p:spPr bwMode="auto">
            <a:xfrm>
              <a:off x="819150" y="3983038"/>
              <a:ext cx="347663" cy="2860675"/>
            </a:xfrm>
            <a:custGeom>
              <a:avLst/>
              <a:gdLst/>
              <a:ahLst/>
              <a:cxnLst/>
              <a:rect l="0" t="0" r="r" b="b"/>
              <a:pathLst>
                <a:path w="219" h="1802">
                  <a:moveTo>
                    <a:pt x="219" y="1802"/>
                  </a:moveTo>
                  <a:lnTo>
                    <a:pt x="201" y="1802"/>
                  </a:lnTo>
                  <a:lnTo>
                    <a:pt x="201" y="1185"/>
                  </a:lnTo>
                  <a:lnTo>
                    <a:pt x="0" y="3"/>
                  </a:lnTo>
                  <a:lnTo>
                    <a:pt x="15" y="0"/>
                  </a:lnTo>
                  <a:lnTo>
                    <a:pt x="219" y="1185"/>
                  </a:lnTo>
                  <a:lnTo>
                    <a:pt x="219" y="1802"/>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56" name="Freeform 49"/>
            <p:cNvSpPr>
              <a:spLocks noEditPoints="1"/>
            </p:cNvSpPr>
            <p:nvPr/>
          </p:nvSpPr>
          <p:spPr bwMode="auto">
            <a:xfrm>
              <a:off x="728663" y="3806825"/>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8"/>
                    <a:pt x="11" y="36"/>
                    <a:pt x="20" y="36"/>
                  </a:cubicBezTo>
                  <a:cubicBezTo>
                    <a:pt x="29" y="36"/>
                    <a:pt x="36" y="28"/>
                    <a:pt x="36" y="20"/>
                  </a:cubicBezTo>
                  <a:cubicBezTo>
                    <a:pt x="36" y="11"/>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57" name="Freeform 50"/>
            <p:cNvSpPr>
              <a:spLocks noEditPoints="1"/>
            </p:cNvSpPr>
            <p:nvPr/>
          </p:nvSpPr>
          <p:spPr bwMode="auto">
            <a:xfrm>
              <a:off x="1624013" y="4867275"/>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58" name="Freeform 51"/>
            <p:cNvSpPr/>
            <p:nvPr/>
          </p:nvSpPr>
          <p:spPr bwMode="auto">
            <a:xfrm>
              <a:off x="1404938" y="5422900"/>
              <a:ext cx="371475" cy="1425575"/>
            </a:xfrm>
            <a:custGeom>
              <a:avLst/>
              <a:gdLst/>
              <a:ahLst/>
              <a:cxnLst/>
              <a:rect l="0" t="0" r="r" b="b"/>
              <a:pathLst>
                <a:path w="234" h="898">
                  <a:moveTo>
                    <a:pt x="18" y="898"/>
                  </a:moveTo>
                  <a:lnTo>
                    <a:pt x="0" y="898"/>
                  </a:lnTo>
                  <a:lnTo>
                    <a:pt x="0" y="515"/>
                  </a:lnTo>
                  <a:lnTo>
                    <a:pt x="0" y="512"/>
                  </a:lnTo>
                  <a:lnTo>
                    <a:pt x="222" y="0"/>
                  </a:lnTo>
                  <a:lnTo>
                    <a:pt x="234" y="6"/>
                  </a:lnTo>
                  <a:lnTo>
                    <a:pt x="18" y="518"/>
                  </a:lnTo>
                  <a:lnTo>
                    <a:pt x="18" y="898"/>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59" name="Freeform 52"/>
            <p:cNvSpPr/>
            <p:nvPr/>
          </p:nvSpPr>
          <p:spPr bwMode="auto">
            <a:xfrm>
              <a:off x="1666875" y="5945188"/>
              <a:ext cx="152400" cy="912813"/>
            </a:xfrm>
            <a:custGeom>
              <a:avLst/>
              <a:gdLst/>
              <a:ahLst/>
              <a:cxnLst/>
              <a:rect l="0" t="0" r="r" b="b"/>
              <a:pathLst>
                <a:path w="96" h="575">
                  <a:moveTo>
                    <a:pt x="15" y="575"/>
                  </a:moveTo>
                  <a:lnTo>
                    <a:pt x="0" y="569"/>
                  </a:lnTo>
                  <a:lnTo>
                    <a:pt x="81" y="383"/>
                  </a:lnTo>
                  <a:lnTo>
                    <a:pt x="81" y="0"/>
                  </a:lnTo>
                  <a:lnTo>
                    <a:pt x="96" y="0"/>
                  </a:lnTo>
                  <a:lnTo>
                    <a:pt x="96" y="386"/>
                  </a:lnTo>
                  <a:lnTo>
                    <a:pt x="15" y="575"/>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60" name="Freeform 53"/>
            <p:cNvSpPr>
              <a:spLocks noEditPoints="1"/>
            </p:cNvSpPr>
            <p:nvPr/>
          </p:nvSpPr>
          <p:spPr bwMode="auto">
            <a:xfrm>
              <a:off x="1709738" y="524668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61" name="Freeform 54"/>
            <p:cNvSpPr>
              <a:spLocks noEditPoints="1"/>
            </p:cNvSpPr>
            <p:nvPr/>
          </p:nvSpPr>
          <p:spPr bwMode="auto">
            <a:xfrm>
              <a:off x="1709738" y="57642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62" name="Freeform 55"/>
            <p:cNvSpPr/>
            <p:nvPr/>
          </p:nvSpPr>
          <p:spPr bwMode="auto">
            <a:xfrm>
              <a:off x="1766888" y="6330950"/>
              <a:ext cx="419100" cy="527050"/>
            </a:xfrm>
            <a:custGeom>
              <a:avLst/>
              <a:gdLst/>
              <a:ahLst/>
              <a:cxnLst/>
              <a:rect l="0" t="0" r="r" b="b"/>
              <a:pathLst>
                <a:path w="264" h="332">
                  <a:moveTo>
                    <a:pt x="12" y="332"/>
                  </a:moveTo>
                  <a:lnTo>
                    <a:pt x="0" y="326"/>
                  </a:lnTo>
                  <a:lnTo>
                    <a:pt x="45" y="206"/>
                  </a:lnTo>
                  <a:lnTo>
                    <a:pt x="255" y="0"/>
                  </a:lnTo>
                  <a:lnTo>
                    <a:pt x="264" y="12"/>
                  </a:lnTo>
                  <a:lnTo>
                    <a:pt x="60" y="215"/>
                  </a:lnTo>
                  <a:lnTo>
                    <a:pt x="12" y="332"/>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63" name="Freeform 56"/>
            <p:cNvSpPr>
              <a:spLocks noEditPoints="1"/>
            </p:cNvSpPr>
            <p:nvPr/>
          </p:nvSpPr>
          <p:spPr bwMode="auto">
            <a:xfrm>
              <a:off x="2147888" y="6221413"/>
              <a:ext cx="157163" cy="147638"/>
            </a:xfrm>
            <a:custGeom>
              <a:avLst/>
              <a:gdLst/>
              <a:ahLst/>
              <a:cxnLst/>
              <a:rect l="0" t="0" r="r" b="b"/>
              <a:pathLst>
                <a:path w="33" h="31">
                  <a:moveTo>
                    <a:pt x="16" y="31"/>
                  </a:moveTo>
                  <a:cubicBezTo>
                    <a:pt x="12" y="31"/>
                    <a:pt x="8" y="29"/>
                    <a:pt x="5" y="26"/>
                  </a:cubicBezTo>
                  <a:cubicBezTo>
                    <a:pt x="2" y="24"/>
                    <a:pt x="0" y="20"/>
                    <a:pt x="0" y="15"/>
                  </a:cubicBezTo>
                  <a:cubicBezTo>
                    <a:pt x="0" y="11"/>
                    <a:pt x="2" y="7"/>
                    <a:pt x="5" y="4"/>
                  </a:cubicBezTo>
                  <a:cubicBezTo>
                    <a:pt x="8" y="1"/>
                    <a:pt x="12" y="0"/>
                    <a:pt x="16" y="0"/>
                  </a:cubicBezTo>
                  <a:cubicBezTo>
                    <a:pt x="20" y="0"/>
                    <a:pt x="24" y="1"/>
                    <a:pt x="27" y="4"/>
                  </a:cubicBezTo>
                  <a:cubicBezTo>
                    <a:pt x="33" y="10"/>
                    <a:pt x="33" y="20"/>
                    <a:pt x="27" y="26"/>
                  </a:cubicBezTo>
                  <a:cubicBezTo>
                    <a:pt x="24" y="29"/>
                    <a:pt x="20" y="31"/>
                    <a:pt x="16" y="31"/>
                  </a:cubicBezTo>
                  <a:close/>
                  <a:moveTo>
                    <a:pt x="16" y="4"/>
                  </a:moveTo>
                  <a:cubicBezTo>
                    <a:pt x="13" y="4"/>
                    <a:pt x="10" y="5"/>
                    <a:pt x="8" y="7"/>
                  </a:cubicBezTo>
                  <a:cubicBezTo>
                    <a:pt x="6" y="9"/>
                    <a:pt x="4" y="12"/>
                    <a:pt x="4" y="15"/>
                  </a:cubicBezTo>
                  <a:cubicBezTo>
                    <a:pt x="4" y="19"/>
                    <a:pt x="6" y="21"/>
                    <a:pt x="8" y="24"/>
                  </a:cubicBezTo>
                  <a:cubicBezTo>
                    <a:pt x="10" y="26"/>
                    <a:pt x="13" y="27"/>
                    <a:pt x="16" y="27"/>
                  </a:cubicBezTo>
                  <a:cubicBezTo>
                    <a:pt x="19" y="27"/>
                    <a:pt x="22" y="26"/>
                    <a:pt x="24" y="24"/>
                  </a:cubicBezTo>
                  <a:cubicBezTo>
                    <a:pt x="29" y="19"/>
                    <a:pt x="29" y="12"/>
                    <a:pt x="24" y="7"/>
                  </a:cubicBezTo>
                  <a:cubicBezTo>
                    <a:pt x="22" y="5"/>
                    <a:pt x="19" y="4"/>
                    <a:pt x="16"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64" name="Freeform 57"/>
            <p:cNvSpPr/>
            <p:nvPr/>
          </p:nvSpPr>
          <p:spPr bwMode="auto">
            <a:xfrm>
              <a:off x="504825" y="9525"/>
              <a:ext cx="233363" cy="5103813"/>
            </a:xfrm>
            <a:custGeom>
              <a:avLst/>
              <a:gdLst/>
              <a:ahLst/>
              <a:cxnLst/>
              <a:rect l="0" t="0" r="r" b="b"/>
              <a:pathLst>
                <a:path w="147" h="3215">
                  <a:moveTo>
                    <a:pt x="132" y="3215"/>
                  </a:moveTo>
                  <a:lnTo>
                    <a:pt x="129" y="2754"/>
                  </a:lnTo>
                  <a:lnTo>
                    <a:pt x="0" y="1901"/>
                  </a:lnTo>
                  <a:lnTo>
                    <a:pt x="0" y="0"/>
                  </a:lnTo>
                  <a:lnTo>
                    <a:pt x="15" y="0"/>
                  </a:lnTo>
                  <a:lnTo>
                    <a:pt x="15" y="1898"/>
                  </a:lnTo>
                  <a:lnTo>
                    <a:pt x="144" y="2754"/>
                  </a:lnTo>
                  <a:lnTo>
                    <a:pt x="147" y="3215"/>
                  </a:lnTo>
                  <a:lnTo>
                    <a:pt x="132" y="3215"/>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65" name="Freeform 58"/>
            <p:cNvSpPr>
              <a:spLocks noEditPoints="1"/>
            </p:cNvSpPr>
            <p:nvPr/>
          </p:nvSpPr>
          <p:spPr bwMode="auto">
            <a:xfrm>
              <a:off x="633413" y="5103813"/>
              <a:ext cx="185738" cy="185738"/>
            </a:xfrm>
            <a:custGeom>
              <a:avLst/>
              <a:gdLst/>
              <a:ahLst/>
              <a:cxnLst/>
              <a:rect l="0" t="0" r="r" b="b"/>
              <a:pathLst>
                <a:path w="39" h="39">
                  <a:moveTo>
                    <a:pt x="20" y="39"/>
                  </a:moveTo>
                  <a:cubicBezTo>
                    <a:pt x="9" y="39"/>
                    <a:pt x="0" y="30"/>
                    <a:pt x="0" y="19"/>
                  </a:cubicBezTo>
                  <a:cubicBezTo>
                    <a:pt x="0" y="9"/>
                    <a:pt x="9" y="0"/>
                    <a:pt x="20" y="0"/>
                  </a:cubicBezTo>
                  <a:cubicBezTo>
                    <a:pt x="30" y="0"/>
                    <a:pt x="39" y="9"/>
                    <a:pt x="39" y="19"/>
                  </a:cubicBezTo>
                  <a:cubicBezTo>
                    <a:pt x="39" y="30"/>
                    <a:pt x="30" y="39"/>
                    <a:pt x="20" y="39"/>
                  </a:cubicBezTo>
                  <a:close/>
                  <a:moveTo>
                    <a:pt x="20" y="4"/>
                  </a:moveTo>
                  <a:cubicBezTo>
                    <a:pt x="11" y="4"/>
                    <a:pt x="4" y="11"/>
                    <a:pt x="4" y="19"/>
                  </a:cubicBezTo>
                  <a:cubicBezTo>
                    <a:pt x="4" y="28"/>
                    <a:pt x="11" y="35"/>
                    <a:pt x="20" y="35"/>
                  </a:cubicBezTo>
                  <a:cubicBezTo>
                    <a:pt x="28" y="35"/>
                    <a:pt x="35" y="28"/>
                    <a:pt x="35" y="19"/>
                  </a:cubicBezTo>
                  <a:cubicBezTo>
                    <a:pt x="35" y="11"/>
                    <a:pt x="28"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grpSp>
      <p:sp>
        <p:nvSpPr>
          <p:cNvPr id="2" name="Title 1"/>
          <p:cNvSpPr>
            <a:spLocks noGrp="1"/>
          </p:cNvSpPr>
          <p:nvPr>
            <p:ph type="ctrTitle"/>
          </p:nvPr>
        </p:nvSpPr>
        <p:spPr>
          <a:xfrm>
            <a:off x="1876424" y="1122363"/>
            <a:ext cx="8791575" cy="2387600"/>
          </a:xfrm>
        </p:spPr>
        <p:txBody>
          <a:bodyPr anchor="b">
            <a:normAutofit/>
          </a:bodyPr>
          <a:lstStyle>
            <a:lvl1pPr algn="l">
              <a:defRPr sz="4800"/>
            </a:lvl1pPr>
          </a:lstStyle>
          <a:p>
            <a:r>
              <a:rPr lang="en-US" smtClean="0"/>
              <a:t>Click to edit Master title style</a:t>
            </a:r>
            <a:endParaRPr lang="en-US" dirty="0"/>
          </a:p>
        </p:txBody>
      </p:sp>
      <p:sp>
        <p:nvSpPr>
          <p:cNvPr id="3" name="Subtitle 2"/>
          <p:cNvSpPr>
            <a:spLocks noGrp="1"/>
          </p:cNvSpPr>
          <p:nvPr>
            <p:ph type="subTitle" idx="1"/>
          </p:nvPr>
        </p:nvSpPr>
        <p:spPr>
          <a:xfrm>
            <a:off x="1876424" y="3602038"/>
            <a:ext cx="8791575" cy="1655762"/>
          </a:xfrm>
        </p:spPr>
        <p:txBody>
          <a:bodyPr>
            <a:normAutofit/>
          </a:bodyPr>
          <a:lstStyle>
            <a:lvl1pPr marL="0" indent="0" algn="l">
              <a:buNone/>
              <a:defRPr sz="2000" cap="all" baseline="0">
                <a:solidFill>
                  <a:schemeClr val="tx2"/>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smtClean="0"/>
              <a:t>Click to edit Master subtitle style</a:t>
            </a:r>
            <a:endParaRPr lang="en-US" dirty="0"/>
          </a:p>
        </p:txBody>
      </p:sp>
      <p:sp>
        <p:nvSpPr>
          <p:cNvPr id="4" name="Date Placeholder 3"/>
          <p:cNvSpPr>
            <a:spLocks noGrp="1"/>
          </p:cNvSpPr>
          <p:nvPr>
            <p:ph type="dt" sz="half" idx="10"/>
          </p:nvPr>
        </p:nvSpPr>
        <p:spPr>
          <a:xfrm>
            <a:off x="7077511" y="5410201"/>
            <a:ext cx="2743200" cy="365125"/>
          </a:xfrm>
        </p:spPr>
        <p:txBody>
          <a:bodyPr/>
          <a:lstStyle/>
          <a:p>
            <a:fld id="{48A87A34-81AB-432B-8DAE-1953F412C126}" type="datetimeFigureOut">
              <a:rPr lang="en-US" dirty="0"/>
              <a:t>1/21/2024</a:t>
            </a:fld>
            <a:endParaRPr lang="en-US" dirty="0"/>
          </a:p>
        </p:txBody>
      </p:sp>
      <p:sp>
        <p:nvSpPr>
          <p:cNvPr id="5" name="Footer Placeholder 4"/>
          <p:cNvSpPr>
            <a:spLocks noGrp="1"/>
          </p:cNvSpPr>
          <p:nvPr>
            <p:ph type="ftr" sz="quarter" idx="11"/>
          </p:nvPr>
        </p:nvSpPr>
        <p:spPr>
          <a:xfrm>
            <a:off x="1876424" y="5410201"/>
            <a:ext cx="5124886" cy="365125"/>
          </a:xfrm>
        </p:spPr>
        <p:txBody>
          <a:bodyPr/>
          <a:lstStyle/>
          <a:p>
            <a:endParaRPr lang="en-US" dirty="0"/>
          </a:p>
        </p:txBody>
      </p:sp>
      <p:sp>
        <p:nvSpPr>
          <p:cNvPr id="6" name="Slide Number Placeholder 5"/>
          <p:cNvSpPr>
            <a:spLocks noGrp="1"/>
          </p:cNvSpPr>
          <p:nvPr>
            <p:ph type="sldNum" sz="quarter" idx="12"/>
          </p:nvPr>
        </p:nvSpPr>
        <p:spPr>
          <a:xfrm>
            <a:off x="9896911" y="5410199"/>
            <a:ext cx="771089" cy="365125"/>
          </a:xfrm>
        </p:spPr>
        <p:txBody>
          <a:bodyPr/>
          <a:lstStyle/>
          <a:p>
            <a:fld id="{6D22F896-40B5-4ADD-8801-0D06FADFA095}" type="slidenum">
              <a:rPr lang="en-US" dirty="0"/>
              <a:t>‹#›</a:t>
            </a:fld>
            <a:endParaRPr lang="en-US" dirty="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Content Placeholder 2"/>
          <p:cNvSpPr>
            <a:spLocks noGrp="1"/>
          </p:cNvSpPr>
          <p:nvPr>
            <p:ph idx="1"/>
          </p:nvPr>
        </p:nvSpPr>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p>
            <a:fld id="{48A87A34-81AB-432B-8DAE-1953F412C126}" type="datetimeFigureOut">
              <a:rPr lang="en-US" dirty="0"/>
              <a:t>1/21/2024</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1141411" y="1419226"/>
            <a:ext cx="9906000" cy="2852737"/>
          </a:xfrm>
        </p:spPr>
        <p:txBody>
          <a:bodyPr anchor="b">
            <a:normAutofit/>
          </a:bodyPr>
          <a:lstStyle>
            <a:lvl1pPr>
              <a:defRPr sz="3600"/>
            </a:lvl1pPr>
          </a:lstStyle>
          <a:p>
            <a:r>
              <a:rPr lang="en-US" smtClean="0"/>
              <a:t>Click to edit Master title style</a:t>
            </a:r>
            <a:endParaRPr lang="en-US" dirty="0"/>
          </a:p>
        </p:txBody>
      </p:sp>
      <p:sp>
        <p:nvSpPr>
          <p:cNvPr id="3" name="Text Placeholder 2"/>
          <p:cNvSpPr>
            <a:spLocks noGrp="1"/>
          </p:cNvSpPr>
          <p:nvPr>
            <p:ph type="body" idx="1"/>
          </p:nvPr>
        </p:nvSpPr>
        <p:spPr>
          <a:xfrm>
            <a:off x="1141411" y="4424362"/>
            <a:ext cx="9906000" cy="1374776"/>
          </a:xfrm>
        </p:spPr>
        <p:txBody>
          <a:bodyPr>
            <a:normAutofit/>
          </a:bodyPr>
          <a:lstStyle>
            <a:lvl1pPr marL="0" indent="0">
              <a:buNone/>
              <a:defRPr sz="1800" cap="all" baseline="0">
                <a:solidFill>
                  <a:schemeClr val="tx1">
                    <a:tint val="75000"/>
                  </a:schemeClr>
                </a:solidFill>
              </a:defRPr>
            </a:lvl1pPr>
            <a:lvl2pPr marL="457200" indent="0">
              <a:buNone/>
              <a:defRPr sz="18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smtClean="0"/>
              <a:t>Edit Master text styles</a:t>
            </a:r>
          </a:p>
        </p:txBody>
      </p:sp>
      <p:sp>
        <p:nvSpPr>
          <p:cNvPr id="4" name="Date Placeholder 3"/>
          <p:cNvSpPr>
            <a:spLocks noGrp="1"/>
          </p:cNvSpPr>
          <p:nvPr>
            <p:ph type="dt" sz="half" idx="10"/>
          </p:nvPr>
        </p:nvSpPr>
        <p:spPr/>
        <p:txBody>
          <a:bodyPr/>
          <a:lstStyle/>
          <a:p>
            <a:fld id="{48A87A34-81AB-432B-8DAE-1953F412C126}" type="datetimeFigureOut">
              <a:rPr lang="en-US" dirty="0"/>
              <a:t>1/21/2024</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Content Placeholder 2"/>
          <p:cNvSpPr>
            <a:spLocks noGrp="1"/>
          </p:cNvSpPr>
          <p:nvPr>
            <p:ph sz="half" idx="1"/>
          </p:nvPr>
        </p:nvSpPr>
        <p:spPr>
          <a:xfrm>
            <a:off x="1141410" y="2249486"/>
            <a:ext cx="4878389" cy="3541714"/>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Content Placeholder 3"/>
          <p:cNvSpPr>
            <a:spLocks noGrp="1"/>
          </p:cNvSpPr>
          <p:nvPr>
            <p:ph sz="half" idx="2"/>
          </p:nvPr>
        </p:nvSpPr>
        <p:spPr>
          <a:xfrm>
            <a:off x="6172200" y="2249486"/>
            <a:ext cx="4875211" cy="3541714"/>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5" name="Date Placeholder 4"/>
          <p:cNvSpPr>
            <a:spLocks noGrp="1"/>
          </p:cNvSpPr>
          <p:nvPr>
            <p:ph type="dt" sz="half" idx="10"/>
          </p:nvPr>
        </p:nvSpPr>
        <p:spPr/>
        <p:txBody>
          <a:bodyPr/>
          <a:lstStyle/>
          <a:p>
            <a:fld id="{48A87A34-81AB-432B-8DAE-1953F412C126}" type="datetimeFigureOut">
              <a:rPr lang="en-US" dirty="0"/>
              <a:t>1/21/2024</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1141411" y="619126"/>
            <a:ext cx="9906000" cy="1477961"/>
          </a:xfrm>
        </p:spPr>
        <p:txBody>
          <a:bodyPr/>
          <a:lstStyle/>
          <a:p>
            <a:r>
              <a:rPr lang="en-US" smtClean="0"/>
              <a:t>Click to edit Master title style</a:t>
            </a:r>
            <a:endParaRPr lang="en-US" dirty="0"/>
          </a:p>
        </p:txBody>
      </p:sp>
      <p:sp>
        <p:nvSpPr>
          <p:cNvPr id="3" name="Text Placeholder 2"/>
          <p:cNvSpPr>
            <a:spLocks noGrp="1"/>
          </p:cNvSpPr>
          <p:nvPr>
            <p:ph type="body" idx="1"/>
          </p:nvPr>
        </p:nvSpPr>
        <p:spPr>
          <a:xfrm>
            <a:off x="1370019" y="2249486"/>
            <a:ext cx="4649783" cy="823912"/>
          </a:xfrm>
        </p:spPr>
        <p:txBody>
          <a:bodyPr anchor="b"/>
          <a:lstStyle>
            <a:lvl1pPr marL="0" indent="0">
              <a:lnSpc>
                <a:spcPct val="90000"/>
              </a:lnSpc>
              <a:buNone/>
              <a:defRPr sz="24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4" name="Content Placeholder 3"/>
          <p:cNvSpPr>
            <a:spLocks noGrp="1"/>
          </p:cNvSpPr>
          <p:nvPr>
            <p:ph sz="half" idx="2"/>
          </p:nvPr>
        </p:nvSpPr>
        <p:spPr>
          <a:xfrm>
            <a:off x="1141410" y="3073397"/>
            <a:ext cx="4878391" cy="2717801"/>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5" name="Text Placeholder 4"/>
          <p:cNvSpPr>
            <a:spLocks noGrp="1"/>
          </p:cNvSpPr>
          <p:nvPr>
            <p:ph type="body" sz="quarter" idx="3"/>
          </p:nvPr>
        </p:nvSpPr>
        <p:spPr>
          <a:xfrm>
            <a:off x="6400808" y="2249485"/>
            <a:ext cx="4646602" cy="823912"/>
          </a:xfrm>
        </p:spPr>
        <p:txBody>
          <a:bodyPr anchor="b"/>
          <a:lstStyle>
            <a:lvl1pPr marL="0" indent="0">
              <a:lnSpc>
                <a:spcPct val="90000"/>
              </a:lnSpc>
              <a:buNone/>
              <a:defRPr sz="24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6" name="Content Placeholder 5"/>
          <p:cNvSpPr>
            <a:spLocks noGrp="1"/>
          </p:cNvSpPr>
          <p:nvPr>
            <p:ph sz="quarter" idx="4"/>
          </p:nvPr>
        </p:nvSpPr>
        <p:spPr>
          <a:xfrm>
            <a:off x="6172200" y="3073397"/>
            <a:ext cx="4875210" cy="2717801"/>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7" name="Date Placeholder 6"/>
          <p:cNvSpPr>
            <a:spLocks noGrp="1"/>
          </p:cNvSpPr>
          <p:nvPr>
            <p:ph type="dt" sz="half" idx="10"/>
          </p:nvPr>
        </p:nvSpPr>
        <p:spPr/>
        <p:txBody>
          <a:bodyPr/>
          <a:lstStyle/>
          <a:p>
            <a:fld id="{48A87A34-81AB-432B-8DAE-1953F412C126}" type="datetimeFigureOut">
              <a:rPr lang="en-US" dirty="0"/>
              <a:t>1/21/2024</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Date Placeholder 2"/>
          <p:cNvSpPr>
            <a:spLocks noGrp="1"/>
          </p:cNvSpPr>
          <p:nvPr>
            <p:ph type="dt" sz="half" idx="10"/>
          </p:nvPr>
        </p:nvSpPr>
        <p:spPr/>
        <p:txBody>
          <a:bodyPr/>
          <a:lstStyle/>
          <a:p>
            <a:fld id="{48A87A34-81AB-432B-8DAE-1953F412C126}" type="datetimeFigureOut">
              <a:rPr lang="en-US" dirty="0"/>
              <a:t>1/21/2024</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48A87A34-81AB-432B-8DAE-1953F412C126}" type="datetimeFigureOut">
              <a:rPr lang="en-US" dirty="0"/>
              <a:t>1/21/2024</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46705" y="609601"/>
            <a:ext cx="3856037" cy="1639884"/>
          </a:xfrm>
        </p:spPr>
        <p:txBody>
          <a:bodyPr anchor="b"/>
          <a:lstStyle>
            <a:lvl1pPr>
              <a:defRPr sz="3200"/>
            </a:lvl1pPr>
          </a:lstStyle>
          <a:p>
            <a:r>
              <a:rPr lang="en-US" smtClean="0"/>
              <a:t>Click to edit Master title style</a:t>
            </a:r>
            <a:endParaRPr lang="en-US" dirty="0"/>
          </a:p>
        </p:txBody>
      </p:sp>
      <p:sp>
        <p:nvSpPr>
          <p:cNvPr id="3" name="Content Placeholder 2"/>
          <p:cNvSpPr>
            <a:spLocks noGrp="1"/>
          </p:cNvSpPr>
          <p:nvPr>
            <p:ph idx="1"/>
          </p:nvPr>
        </p:nvSpPr>
        <p:spPr>
          <a:xfrm>
            <a:off x="5156200" y="592666"/>
            <a:ext cx="5891209" cy="5198534"/>
          </a:xfrm>
        </p:spPr>
        <p:txBody>
          <a:bodyPr anchor="ct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Text Placeholder 3"/>
          <p:cNvSpPr>
            <a:spLocks noGrp="1"/>
          </p:cNvSpPr>
          <p:nvPr>
            <p:ph type="body" sz="half" idx="2"/>
          </p:nvPr>
        </p:nvSpPr>
        <p:spPr>
          <a:xfrm>
            <a:off x="1146705" y="2249486"/>
            <a:ext cx="3856037" cy="3541714"/>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Edit Master text styles</a:t>
            </a:r>
          </a:p>
        </p:txBody>
      </p:sp>
      <p:sp>
        <p:nvSpPr>
          <p:cNvPr id="5" name="Date Placeholder 4"/>
          <p:cNvSpPr>
            <a:spLocks noGrp="1"/>
          </p:cNvSpPr>
          <p:nvPr>
            <p:ph type="dt" sz="half" idx="10"/>
          </p:nvPr>
        </p:nvSpPr>
        <p:spPr/>
        <p:txBody>
          <a:bodyPr/>
          <a:lstStyle/>
          <a:p>
            <a:fld id="{48A87A34-81AB-432B-8DAE-1953F412C126}" type="datetimeFigureOut">
              <a:rPr lang="en-US" dirty="0"/>
              <a:t>1/21/2024</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41413" y="609600"/>
            <a:ext cx="5934508" cy="1639886"/>
          </a:xfrm>
        </p:spPr>
        <p:txBody>
          <a:bodyPr anchor="b"/>
          <a:lstStyle>
            <a:lvl1pPr>
              <a:defRPr sz="3200"/>
            </a:lvl1pPr>
          </a:lstStyle>
          <a:p>
            <a:r>
              <a:rPr lang="en-US" smtClean="0"/>
              <a:t>Click to edit Master title style</a:t>
            </a:r>
            <a:endParaRPr lang="en-US" dirty="0"/>
          </a:p>
        </p:txBody>
      </p:sp>
      <p:sp>
        <p:nvSpPr>
          <p:cNvPr id="3" name="Picture Placeholder 2"/>
          <p:cNvSpPr>
            <a:spLocks noGrp="1" noChangeAspect="1"/>
          </p:cNvSpPr>
          <p:nvPr>
            <p:ph type="pic" idx="1"/>
          </p:nvPr>
        </p:nvSpPr>
        <p:spPr>
          <a:xfrm>
            <a:off x="7380721" y="609601"/>
            <a:ext cx="3666690" cy="5181599"/>
          </a:xfrm>
          <a:prstGeom prst="round2DiagRect">
            <a:avLst>
              <a:gd name="adj1" fmla="val 5608"/>
              <a:gd name="adj2" fmla="val 0"/>
            </a:avLst>
          </a:prstGeom>
          <a:ln w="19050" cap="sq">
            <a:solidFill>
              <a:schemeClr val="tx2">
                <a:lumMod val="60000"/>
                <a:lumOff val="40000"/>
                <a:alpha val="60000"/>
              </a:schemeClr>
            </a:solidFill>
            <a:miter lim="800000"/>
          </a:ln>
          <a:effectLst>
            <a:outerShdw blurRad="88900" dist="38100" dir="5400000" algn="t" rotWithShape="0">
              <a:prstClr val="black">
                <a:alpha val="40000"/>
              </a:prstClr>
            </a:outerShdw>
          </a:effectLst>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smtClean="0"/>
              <a:t>Click icon to add picture</a:t>
            </a:r>
            <a:endParaRPr lang="en-US" dirty="0"/>
          </a:p>
        </p:txBody>
      </p:sp>
      <p:sp>
        <p:nvSpPr>
          <p:cNvPr id="4" name="Text Placeholder 3"/>
          <p:cNvSpPr>
            <a:spLocks noGrp="1"/>
          </p:cNvSpPr>
          <p:nvPr>
            <p:ph type="body" sz="half" idx="2"/>
          </p:nvPr>
        </p:nvSpPr>
        <p:spPr>
          <a:xfrm>
            <a:off x="1141410" y="2249486"/>
            <a:ext cx="5934511" cy="3541714"/>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Edit Master text styles</a:t>
            </a:r>
          </a:p>
        </p:txBody>
      </p:sp>
      <p:sp>
        <p:nvSpPr>
          <p:cNvPr id="5" name="Date Placeholder 4"/>
          <p:cNvSpPr>
            <a:spLocks noGrp="1"/>
          </p:cNvSpPr>
          <p:nvPr>
            <p:ph type="dt" sz="half" idx="10"/>
          </p:nvPr>
        </p:nvSpPr>
        <p:spPr/>
        <p:txBody>
          <a:bodyPr/>
          <a:lstStyle/>
          <a:p>
            <a:fld id="{48A87A34-81AB-432B-8DAE-1953F412C126}" type="datetimeFigureOut">
              <a:rPr lang="en-US" dirty="0"/>
              <a:t>1/21/2024</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Panoramic 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41410" y="4304664"/>
            <a:ext cx="9912355" cy="819355"/>
          </a:xfrm>
        </p:spPr>
        <p:txBody>
          <a:bodyPr anchor="b">
            <a:normAutofit/>
          </a:bodyPr>
          <a:lstStyle>
            <a:lvl1pPr>
              <a:defRPr sz="3200"/>
            </a:lvl1pPr>
          </a:lstStyle>
          <a:p>
            <a:r>
              <a:rPr lang="en-US" smtClean="0"/>
              <a:t>Click to edit Master title style</a:t>
            </a:r>
            <a:endParaRPr lang="en-US" dirty="0"/>
          </a:p>
        </p:txBody>
      </p:sp>
      <p:sp>
        <p:nvSpPr>
          <p:cNvPr id="3" name="Picture Placeholder 2"/>
          <p:cNvSpPr>
            <a:spLocks noGrp="1" noChangeAspect="1"/>
          </p:cNvSpPr>
          <p:nvPr>
            <p:ph type="pic" idx="1"/>
          </p:nvPr>
        </p:nvSpPr>
        <p:spPr>
          <a:xfrm>
            <a:off x="1141411" y="606426"/>
            <a:ext cx="9912354" cy="3299778"/>
          </a:xfrm>
          <a:prstGeom prst="round2DiagRect">
            <a:avLst>
              <a:gd name="adj1" fmla="val 4860"/>
              <a:gd name="adj2" fmla="val 0"/>
            </a:avLst>
          </a:prstGeom>
          <a:ln w="19050" cap="sq">
            <a:solidFill>
              <a:schemeClr val="tx2">
                <a:lumMod val="60000"/>
                <a:lumOff val="40000"/>
                <a:alpha val="60000"/>
              </a:schemeClr>
            </a:solidFill>
            <a:miter lim="800000"/>
          </a:ln>
          <a:effectLst>
            <a:outerShdw blurRad="88900" dist="38100" dir="5400000" algn="t" rotWithShape="0">
              <a:prstClr val="black">
                <a:alpha val="40000"/>
              </a:prstClr>
            </a:outerShdw>
          </a:effectLst>
        </p:spPr>
        <p:txBody>
          <a:bodyPr vert="horz" lIns="91440" tIns="45720" rIns="91440" bIns="45720" rtlCol="0" anchor="t">
            <a:normAutofit/>
          </a:bodyPr>
          <a:lstStyle>
            <a:lvl1pPr>
              <a:buNone/>
              <a:defRPr lang="en-US" sz="3200"/>
            </a:lvl1pPr>
          </a:lstStyle>
          <a:p>
            <a:pPr marL="0" lvl="0" indent="0">
              <a:buNone/>
            </a:pPr>
            <a:r>
              <a:rPr lang="en-US" smtClean="0"/>
              <a:t>Click icon to add picture</a:t>
            </a:r>
            <a:endParaRPr lang="en-US" dirty="0"/>
          </a:p>
        </p:txBody>
      </p:sp>
      <p:sp>
        <p:nvSpPr>
          <p:cNvPr id="4" name="Text Placeholder 3"/>
          <p:cNvSpPr>
            <a:spLocks noGrp="1"/>
          </p:cNvSpPr>
          <p:nvPr>
            <p:ph type="body" sz="half" idx="2"/>
          </p:nvPr>
        </p:nvSpPr>
        <p:spPr>
          <a:xfrm>
            <a:off x="1141364" y="5124020"/>
            <a:ext cx="9910859" cy="682472"/>
          </a:xfrm>
        </p:spPr>
        <p:txBody>
          <a:bodyPr>
            <a:normAutofit/>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Edit Master text styles</a:t>
            </a:r>
          </a:p>
        </p:txBody>
      </p:sp>
      <p:sp>
        <p:nvSpPr>
          <p:cNvPr id="5" name="Date Placeholder 4"/>
          <p:cNvSpPr>
            <a:spLocks noGrp="1"/>
          </p:cNvSpPr>
          <p:nvPr>
            <p:ph type="dt" sz="half" idx="10"/>
          </p:nvPr>
        </p:nvSpPr>
        <p:spPr/>
        <p:txBody>
          <a:bodyPr/>
          <a:lstStyle/>
          <a:p>
            <a:fld id="{48A87A34-81AB-432B-8DAE-1953F412C126}" type="datetimeFigureOut">
              <a:rPr lang="en-US" dirty="0"/>
              <a:t>1/21/2024</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1141456" y="609600"/>
            <a:ext cx="9905955" cy="3429000"/>
          </a:xfrm>
        </p:spPr>
        <p:txBody>
          <a:bodyPr anchor="ctr">
            <a:normAutofit/>
          </a:bodyPr>
          <a:lstStyle>
            <a:lvl1pPr>
              <a:defRPr sz="3600"/>
            </a:lvl1pPr>
          </a:lstStyle>
          <a:p>
            <a:r>
              <a:rPr lang="en-US" smtClean="0"/>
              <a:t>Click to edit Master title style</a:t>
            </a:r>
            <a:endParaRPr lang="en-US" dirty="0"/>
          </a:p>
        </p:txBody>
      </p:sp>
      <p:sp>
        <p:nvSpPr>
          <p:cNvPr id="4" name="Text Placeholder 3"/>
          <p:cNvSpPr>
            <a:spLocks noGrp="1"/>
          </p:cNvSpPr>
          <p:nvPr>
            <p:ph type="body" sz="half" idx="2"/>
          </p:nvPr>
        </p:nvSpPr>
        <p:spPr>
          <a:xfrm>
            <a:off x="1141410" y="4419599"/>
            <a:ext cx="9904459" cy="1371599"/>
          </a:xfrm>
        </p:spPr>
        <p:txBody>
          <a:bodyPr anchor="ctr">
            <a:normAutofit/>
          </a:bodyPr>
          <a:lstStyle>
            <a:lvl1pPr marL="0" indent="0">
              <a:buNone/>
              <a:defRPr sz="18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Edit Master text styles</a:t>
            </a:r>
          </a:p>
        </p:txBody>
      </p:sp>
      <p:sp>
        <p:nvSpPr>
          <p:cNvPr id="5" name="Date Placeholder 4"/>
          <p:cNvSpPr>
            <a:spLocks noGrp="1"/>
          </p:cNvSpPr>
          <p:nvPr>
            <p:ph type="dt" sz="half" idx="10"/>
          </p:nvPr>
        </p:nvSpPr>
        <p:spPr/>
        <p:txBody>
          <a:bodyPr/>
          <a:lstStyle/>
          <a:p>
            <a:fld id="{48A87A34-81AB-432B-8DAE-1953F412C126}" type="datetimeFigureOut">
              <a:rPr lang="en-US" dirty="0"/>
              <a:t>1/21/2024</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446212" y="609599"/>
            <a:ext cx="9302752" cy="2748429"/>
          </a:xfrm>
        </p:spPr>
        <p:txBody>
          <a:bodyPr anchor="ctr">
            <a:normAutofit/>
          </a:bodyPr>
          <a:lstStyle>
            <a:lvl1pPr>
              <a:defRPr sz="3600"/>
            </a:lvl1pPr>
          </a:lstStyle>
          <a:p>
            <a:r>
              <a:rPr lang="en-US" smtClean="0"/>
              <a:t>Click to edit Master title style</a:t>
            </a:r>
            <a:endParaRPr lang="en-US" dirty="0"/>
          </a:p>
        </p:txBody>
      </p:sp>
      <p:sp>
        <p:nvSpPr>
          <p:cNvPr id="12" name="Text Placeholder 3"/>
          <p:cNvSpPr>
            <a:spLocks noGrp="1"/>
          </p:cNvSpPr>
          <p:nvPr>
            <p:ph type="body" sz="half" idx="13"/>
          </p:nvPr>
        </p:nvSpPr>
        <p:spPr>
          <a:xfrm>
            <a:off x="1720644" y="3365557"/>
            <a:ext cx="8752299" cy="548968"/>
          </a:xfrm>
        </p:spPr>
        <p:txBody>
          <a:bodyPr anchor="t">
            <a:normAutofit/>
          </a:bodyPr>
          <a:lstStyle>
            <a:lvl1pPr marL="0" indent="0">
              <a:buNone/>
              <a:defRPr sz="14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Edit Master text styles</a:t>
            </a:r>
          </a:p>
        </p:txBody>
      </p:sp>
      <p:sp>
        <p:nvSpPr>
          <p:cNvPr id="4" name="Text Placeholder 3"/>
          <p:cNvSpPr>
            <a:spLocks noGrp="1"/>
          </p:cNvSpPr>
          <p:nvPr>
            <p:ph type="body" sz="half" idx="2"/>
          </p:nvPr>
        </p:nvSpPr>
        <p:spPr>
          <a:xfrm>
            <a:off x="1141411" y="4309919"/>
            <a:ext cx="9906002" cy="1489496"/>
          </a:xfrm>
        </p:spPr>
        <p:txBody>
          <a:bodyPr anchor="ctr">
            <a:normAutofit/>
          </a:bodyPr>
          <a:lstStyle>
            <a:lvl1pPr marL="0" indent="0">
              <a:buNone/>
              <a:defRPr sz="18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Edit Master text styles</a:t>
            </a:r>
          </a:p>
        </p:txBody>
      </p:sp>
      <p:sp>
        <p:nvSpPr>
          <p:cNvPr id="5" name="Date Placeholder 4"/>
          <p:cNvSpPr>
            <a:spLocks noGrp="1"/>
          </p:cNvSpPr>
          <p:nvPr>
            <p:ph type="dt" sz="half" idx="10"/>
          </p:nvPr>
        </p:nvSpPr>
        <p:spPr/>
        <p:txBody>
          <a:bodyPr/>
          <a:lstStyle/>
          <a:p>
            <a:fld id="{48A87A34-81AB-432B-8DAE-1953F412C126}" type="datetimeFigureOut">
              <a:rPr lang="en-US" dirty="0"/>
              <a:t>1/21/2024</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D22F896-40B5-4ADD-8801-0D06FADFA095}" type="slidenum">
              <a:rPr lang="en-US" dirty="0"/>
              <a:t>‹#›</a:t>
            </a:fld>
            <a:endParaRPr lang="en-US" dirty="0"/>
          </a:p>
        </p:txBody>
      </p:sp>
      <p:sp>
        <p:nvSpPr>
          <p:cNvPr id="60" name="TextBox 59"/>
          <p:cNvSpPr txBox="1"/>
          <p:nvPr/>
        </p:nvSpPr>
        <p:spPr>
          <a:xfrm>
            <a:off x="903512" y="732394"/>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latin typeface="+mj-lt"/>
                <a:ea typeface="+mj-ea"/>
                <a:cs typeface="Trebuchet MS"/>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8000" dirty="0">
                <a:solidFill>
                  <a:schemeClr val="tx1"/>
                </a:solidFill>
                <a:effectLst/>
              </a:rPr>
              <a:t>“</a:t>
            </a:r>
          </a:p>
        </p:txBody>
      </p:sp>
      <p:sp>
        <p:nvSpPr>
          <p:cNvPr id="61" name="TextBox 60"/>
          <p:cNvSpPr txBox="1"/>
          <p:nvPr/>
        </p:nvSpPr>
        <p:spPr>
          <a:xfrm>
            <a:off x="10537370" y="2764972"/>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latin typeface="+mj-lt"/>
                <a:ea typeface="+mj-ea"/>
                <a:cs typeface="Trebuchet MS"/>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8000" dirty="0">
                <a:solidFill>
                  <a:schemeClr val="tx1"/>
                </a:solidFill>
                <a:effectLst/>
              </a:rPr>
              <a:t>”</a:t>
            </a: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1141410" y="2134041"/>
            <a:ext cx="9906001" cy="2511835"/>
          </a:xfrm>
        </p:spPr>
        <p:txBody>
          <a:bodyPr anchor="b">
            <a:normAutofit/>
          </a:bodyPr>
          <a:lstStyle>
            <a:lvl1pPr>
              <a:defRPr sz="3600"/>
            </a:lvl1pPr>
          </a:lstStyle>
          <a:p>
            <a:r>
              <a:rPr lang="en-US" smtClean="0"/>
              <a:t>Click to edit Master title style</a:t>
            </a:r>
            <a:endParaRPr lang="en-US" dirty="0"/>
          </a:p>
        </p:txBody>
      </p:sp>
      <p:sp>
        <p:nvSpPr>
          <p:cNvPr id="4" name="Text Placeholder 3"/>
          <p:cNvSpPr>
            <a:spLocks noGrp="1"/>
          </p:cNvSpPr>
          <p:nvPr>
            <p:ph type="body" sz="half" idx="2"/>
          </p:nvPr>
        </p:nvSpPr>
        <p:spPr>
          <a:xfrm>
            <a:off x="1141364" y="4657655"/>
            <a:ext cx="9904505" cy="1140644"/>
          </a:xfrm>
        </p:spPr>
        <p:txBody>
          <a:bodyPr anchor="t">
            <a:normAutofit/>
          </a:bodyPr>
          <a:lstStyle>
            <a:lvl1pPr marL="0" indent="0">
              <a:buNone/>
              <a:defRPr sz="18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Edit Master text styles</a:t>
            </a:r>
          </a:p>
        </p:txBody>
      </p:sp>
      <p:sp>
        <p:nvSpPr>
          <p:cNvPr id="5" name="Date Placeholder 4"/>
          <p:cNvSpPr>
            <a:spLocks noGrp="1"/>
          </p:cNvSpPr>
          <p:nvPr>
            <p:ph type="dt" sz="half" idx="10"/>
          </p:nvPr>
        </p:nvSpPr>
        <p:spPr/>
        <p:txBody>
          <a:bodyPr/>
          <a:lstStyle/>
          <a:p>
            <a:fld id="{48A87A34-81AB-432B-8DAE-1953F412C126}" type="datetimeFigureOut">
              <a:rPr lang="en-US" dirty="0"/>
              <a:t>1/21/2024</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3 Column">
    <p:spTree>
      <p:nvGrpSpPr>
        <p:cNvPr id="1" name=""/>
        <p:cNvGrpSpPr/>
        <p:nvPr/>
      </p:nvGrpSpPr>
      <p:grpSpPr>
        <a:xfrm>
          <a:off x="0" y="0"/>
          <a:ext cx="0" cy="0"/>
          <a:chOff x="0" y="0"/>
          <a:chExt cx="0" cy="0"/>
        </a:xfrm>
      </p:grpSpPr>
      <p:sp>
        <p:nvSpPr>
          <p:cNvPr id="15" name="Title 1"/>
          <p:cNvSpPr>
            <a:spLocks noGrp="1"/>
          </p:cNvSpPr>
          <p:nvPr>
            <p:ph type="title"/>
          </p:nvPr>
        </p:nvSpPr>
        <p:spPr>
          <a:xfrm>
            <a:off x="1141413" y="609600"/>
            <a:ext cx="9905998" cy="1905000"/>
          </a:xfrm>
        </p:spPr>
        <p:txBody>
          <a:bodyPr/>
          <a:lstStyle/>
          <a:p>
            <a:r>
              <a:rPr lang="en-US" smtClean="0"/>
              <a:t>Click to edit Master title style</a:t>
            </a:r>
            <a:endParaRPr lang="en-US" dirty="0"/>
          </a:p>
        </p:txBody>
      </p:sp>
      <p:sp>
        <p:nvSpPr>
          <p:cNvPr id="7" name="Text Placeholder 2"/>
          <p:cNvSpPr>
            <a:spLocks noGrp="1"/>
          </p:cNvSpPr>
          <p:nvPr>
            <p:ph type="body" idx="1"/>
          </p:nvPr>
        </p:nvSpPr>
        <p:spPr>
          <a:xfrm>
            <a:off x="1141410" y="2674463"/>
            <a:ext cx="3196899" cy="685800"/>
          </a:xfrm>
        </p:spPr>
        <p:txBody>
          <a:bodyPr anchor="b">
            <a:noAutofit/>
          </a:bodyPr>
          <a:lstStyle>
            <a:lvl1pPr marL="0" indent="0">
              <a:lnSpc>
                <a:spcPct val="90000"/>
              </a:lnSpc>
              <a:buNone/>
              <a:defRPr sz="24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8" name="Text Placeholder 3"/>
          <p:cNvSpPr>
            <a:spLocks noGrp="1"/>
          </p:cNvSpPr>
          <p:nvPr>
            <p:ph type="body" sz="half" idx="15"/>
          </p:nvPr>
        </p:nvSpPr>
        <p:spPr>
          <a:xfrm>
            <a:off x="1127918" y="3360263"/>
            <a:ext cx="3208735" cy="2430936"/>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Edit Master text styles</a:t>
            </a:r>
          </a:p>
        </p:txBody>
      </p:sp>
      <p:sp>
        <p:nvSpPr>
          <p:cNvPr id="9" name="Text Placeholder 4"/>
          <p:cNvSpPr>
            <a:spLocks noGrp="1"/>
          </p:cNvSpPr>
          <p:nvPr>
            <p:ph type="body" sz="quarter" idx="3"/>
          </p:nvPr>
        </p:nvSpPr>
        <p:spPr>
          <a:xfrm>
            <a:off x="4514766" y="2677635"/>
            <a:ext cx="3184385" cy="685800"/>
          </a:xfrm>
        </p:spPr>
        <p:txBody>
          <a:bodyPr anchor="b">
            <a:noAutofit/>
          </a:bodyPr>
          <a:lstStyle>
            <a:lvl1pPr marL="0" indent="0">
              <a:lnSpc>
                <a:spcPct val="90000"/>
              </a:lnSpc>
              <a:buNone/>
              <a:defRPr sz="24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10" name="Text Placeholder 3"/>
          <p:cNvSpPr>
            <a:spLocks noGrp="1"/>
          </p:cNvSpPr>
          <p:nvPr>
            <p:ph type="body" sz="half" idx="16"/>
          </p:nvPr>
        </p:nvSpPr>
        <p:spPr>
          <a:xfrm>
            <a:off x="4504213" y="3363435"/>
            <a:ext cx="3195830" cy="2430936"/>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Edit Master text styles</a:t>
            </a:r>
          </a:p>
        </p:txBody>
      </p:sp>
      <p:sp>
        <p:nvSpPr>
          <p:cNvPr id="11" name="Text Placeholder 4"/>
          <p:cNvSpPr>
            <a:spLocks noGrp="1"/>
          </p:cNvSpPr>
          <p:nvPr>
            <p:ph type="body" sz="quarter" idx="13"/>
          </p:nvPr>
        </p:nvSpPr>
        <p:spPr>
          <a:xfrm>
            <a:off x="7852442" y="2674463"/>
            <a:ext cx="3194968" cy="685800"/>
          </a:xfrm>
        </p:spPr>
        <p:txBody>
          <a:bodyPr anchor="b">
            <a:noAutofit/>
          </a:bodyPr>
          <a:lstStyle>
            <a:lvl1pPr marL="0" indent="0">
              <a:lnSpc>
                <a:spcPct val="90000"/>
              </a:lnSpc>
              <a:buNone/>
              <a:defRPr sz="24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12" name="Text Placeholder 3"/>
          <p:cNvSpPr>
            <a:spLocks noGrp="1"/>
          </p:cNvSpPr>
          <p:nvPr>
            <p:ph type="body" sz="half" idx="17"/>
          </p:nvPr>
        </p:nvSpPr>
        <p:spPr>
          <a:xfrm>
            <a:off x="7852442" y="3360263"/>
            <a:ext cx="3194968" cy="2430936"/>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Edit Master text styles</a:t>
            </a:r>
          </a:p>
        </p:txBody>
      </p:sp>
      <p:sp>
        <p:nvSpPr>
          <p:cNvPr id="3" name="Date Placeholder 2"/>
          <p:cNvSpPr>
            <a:spLocks noGrp="1"/>
          </p:cNvSpPr>
          <p:nvPr>
            <p:ph type="dt" sz="half" idx="10"/>
          </p:nvPr>
        </p:nvSpPr>
        <p:spPr/>
        <p:txBody>
          <a:bodyPr/>
          <a:lstStyle/>
          <a:p>
            <a:fld id="{48A87A34-81AB-432B-8DAE-1953F412C126}" type="datetimeFigureOut">
              <a:rPr lang="en-US" dirty="0"/>
              <a:t>1/21/2024</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3 Picture Column">
    <p:spTree>
      <p:nvGrpSpPr>
        <p:cNvPr id="1" name=""/>
        <p:cNvGrpSpPr/>
        <p:nvPr/>
      </p:nvGrpSpPr>
      <p:grpSpPr>
        <a:xfrm>
          <a:off x="0" y="0"/>
          <a:ext cx="0" cy="0"/>
          <a:chOff x="0" y="0"/>
          <a:chExt cx="0" cy="0"/>
        </a:xfrm>
      </p:grpSpPr>
      <p:sp>
        <p:nvSpPr>
          <p:cNvPr id="30" name="Title 1"/>
          <p:cNvSpPr>
            <a:spLocks noGrp="1"/>
          </p:cNvSpPr>
          <p:nvPr>
            <p:ph type="title"/>
          </p:nvPr>
        </p:nvSpPr>
        <p:spPr>
          <a:xfrm>
            <a:off x="1141411" y="609600"/>
            <a:ext cx="9905999" cy="1905000"/>
          </a:xfrm>
        </p:spPr>
        <p:txBody>
          <a:bodyPr/>
          <a:lstStyle/>
          <a:p>
            <a:r>
              <a:rPr lang="en-US" smtClean="0"/>
              <a:t>Click to edit Master title style</a:t>
            </a:r>
            <a:endParaRPr lang="en-US" dirty="0"/>
          </a:p>
        </p:txBody>
      </p:sp>
      <p:sp>
        <p:nvSpPr>
          <p:cNvPr id="19" name="Text Placeholder 2"/>
          <p:cNvSpPr>
            <a:spLocks noGrp="1"/>
          </p:cNvSpPr>
          <p:nvPr>
            <p:ph type="body" idx="1"/>
          </p:nvPr>
        </p:nvSpPr>
        <p:spPr>
          <a:xfrm>
            <a:off x="1141413" y="4404596"/>
            <a:ext cx="3195240" cy="576262"/>
          </a:xfrm>
        </p:spPr>
        <p:txBody>
          <a:bodyPr anchor="b">
            <a:noAutofit/>
          </a:bodyPr>
          <a:lstStyle>
            <a:lvl1pPr marL="0" indent="0">
              <a:lnSpc>
                <a:spcPct val="90000"/>
              </a:lnSpc>
              <a:buNone/>
              <a:defRPr sz="20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20" name="Picture Placeholder 2"/>
          <p:cNvSpPr>
            <a:spLocks noGrp="1" noChangeAspect="1"/>
          </p:cNvSpPr>
          <p:nvPr>
            <p:ph type="pic" idx="15"/>
          </p:nvPr>
        </p:nvSpPr>
        <p:spPr>
          <a:xfrm>
            <a:off x="1141413" y="2666998"/>
            <a:ext cx="3195240" cy="1524000"/>
          </a:xfrm>
          <a:prstGeom prst="round2DiagRect">
            <a:avLst/>
          </a:prstGeom>
          <a:ln w="19050" cap="sq">
            <a:solidFill>
              <a:schemeClr val="tx2">
                <a:lumMod val="60000"/>
                <a:lumOff val="40000"/>
                <a:alpha val="60000"/>
              </a:schemeClr>
            </a:solidFill>
            <a:miter lim="800000"/>
          </a:ln>
          <a:effectLst>
            <a:outerShdw blurRad="88900" dist="38100" dir="5400000" algn="t" rotWithShape="0">
              <a:prstClr val="black">
                <a:alpha val="40000"/>
              </a:prstClr>
            </a:outerShdw>
          </a:effectLst>
        </p:spPr>
        <p:txBody>
          <a:bodyPr vert="horz" lIns="91440" tIns="45720" rIns="91440" bIns="45720" rtlCol="0" anchor="t">
            <a:normAutofit/>
          </a:bodyPr>
          <a:lstStyle>
            <a:lvl1pPr>
              <a:buNone/>
              <a:defRPr lang="en-US" sz="2000" dirty="0"/>
            </a:lvl1pPr>
          </a:lstStyle>
          <a:p>
            <a:pPr marL="0" lvl="0" indent="0">
              <a:buNone/>
            </a:pPr>
            <a:r>
              <a:rPr lang="en-US" smtClean="0"/>
              <a:t>Click icon to add picture</a:t>
            </a:r>
            <a:endParaRPr lang="en-US" dirty="0"/>
          </a:p>
        </p:txBody>
      </p:sp>
      <p:sp>
        <p:nvSpPr>
          <p:cNvPr id="21" name="Text Placeholder 3"/>
          <p:cNvSpPr>
            <a:spLocks noGrp="1"/>
          </p:cNvSpPr>
          <p:nvPr>
            <p:ph type="body" sz="half" idx="18"/>
          </p:nvPr>
        </p:nvSpPr>
        <p:spPr>
          <a:xfrm>
            <a:off x="1141413" y="4980858"/>
            <a:ext cx="3195240" cy="817843"/>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Edit Master text styles</a:t>
            </a:r>
          </a:p>
        </p:txBody>
      </p:sp>
      <p:sp>
        <p:nvSpPr>
          <p:cNvPr id="22" name="Text Placeholder 4"/>
          <p:cNvSpPr>
            <a:spLocks noGrp="1"/>
          </p:cNvSpPr>
          <p:nvPr>
            <p:ph type="body" sz="quarter" idx="3"/>
          </p:nvPr>
        </p:nvSpPr>
        <p:spPr>
          <a:xfrm>
            <a:off x="4489053" y="4404596"/>
            <a:ext cx="3200400" cy="576262"/>
          </a:xfrm>
        </p:spPr>
        <p:txBody>
          <a:bodyPr anchor="b">
            <a:noAutofit/>
          </a:bodyPr>
          <a:lstStyle>
            <a:lvl1pPr marL="0" indent="0">
              <a:lnSpc>
                <a:spcPct val="90000"/>
              </a:lnSpc>
              <a:buNone/>
              <a:defRPr sz="20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23" name="Picture Placeholder 2"/>
          <p:cNvSpPr>
            <a:spLocks noGrp="1" noChangeAspect="1"/>
          </p:cNvSpPr>
          <p:nvPr>
            <p:ph type="pic" idx="21"/>
          </p:nvPr>
        </p:nvSpPr>
        <p:spPr>
          <a:xfrm>
            <a:off x="4489053" y="2666998"/>
            <a:ext cx="3198940" cy="1524000"/>
          </a:xfrm>
          <a:prstGeom prst="round2DiagRect">
            <a:avLst/>
          </a:prstGeom>
          <a:ln w="19050" cap="sq">
            <a:solidFill>
              <a:schemeClr val="tx2">
                <a:lumMod val="60000"/>
                <a:lumOff val="40000"/>
                <a:alpha val="60000"/>
              </a:schemeClr>
            </a:solidFill>
            <a:miter lim="800000"/>
          </a:ln>
          <a:effectLst>
            <a:outerShdw blurRad="88900" dist="38100" dir="5400000" algn="t" rotWithShape="0">
              <a:prstClr val="black">
                <a:alpha val="40000"/>
              </a:prstClr>
            </a:outerShdw>
          </a:effectLst>
        </p:spPr>
        <p:txBody>
          <a:bodyPr vert="horz" lIns="91440" tIns="45720" rIns="91440" bIns="45720" rtlCol="0" anchor="t">
            <a:normAutofit/>
          </a:bodyPr>
          <a:lstStyle>
            <a:lvl1pPr>
              <a:buNone/>
              <a:defRPr lang="en-US" sz="2000" dirty="0"/>
            </a:lvl1pPr>
          </a:lstStyle>
          <a:p>
            <a:pPr marL="0" lvl="0" indent="0">
              <a:buNone/>
            </a:pPr>
            <a:r>
              <a:rPr lang="en-US" smtClean="0"/>
              <a:t>Click icon to add picture</a:t>
            </a:r>
            <a:endParaRPr lang="en-US" dirty="0"/>
          </a:p>
        </p:txBody>
      </p:sp>
      <p:sp>
        <p:nvSpPr>
          <p:cNvPr id="24" name="Text Placeholder 3"/>
          <p:cNvSpPr>
            <a:spLocks noGrp="1"/>
          </p:cNvSpPr>
          <p:nvPr>
            <p:ph type="body" sz="half" idx="19"/>
          </p:nvPr>
        </p:nvSpPr>
        <p:spPr>
          <a:xfrm>
            <a:off x="4487593" y="4980857"/>
            <a:ext cx="3200400" cy="810342"/>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Edit Master text styles</a:t>
            </a:r>
          </a:p>
        </p:txBody>
      </p:sp>
      <p:sp>
        <p:nvSpPr>
          <p:cNvPr id="25" name="Text Placeholder 4"/>
          <p:cNvSpPr>
            <a:spLocks noGrp="1"/>
          </p:cNvSpPr>
          <p:nvPr>
            <p:ph type="body" sz="quarter" idx="13"/>
          </p:nvPr>
        </p:nvSpPr>
        <p:spPr>
          <a:xfrm>
            <a:off x="7852567" y="4404595"/>
            <a:ext cx="3190741" cy="576262"/>
          </a:xfrm>
        </p:spPr>
        <p:txBody>
          <a:bodyPr anchor="b">
            <a:noAutofit/>
          </a:bodyPr>
          <a:lstStyle>
            <a:lvl1pPr marL="0" indent="0">
              <a:lnSpc>
                <a:spcPct val="90000"/>
              </a:lnSpc>
              <a:buNone/>
              <a:defRPr sz="20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26" name="Picture Placeholder 2"/>
          <p:cNvSpPr>
            <a:spLocks noGrp="1" noChangeAspect="1"/>
          </p:cNvSpPr>
          <p:nvPr>
            <p:ph type="pic" idx="22"/>
          </p:nvPr>
        </p:nvSpPr>
        <p:spPr>
          <a:xfrm>
            <a:off x="7852442" y="2666998"/>
            <a:ext cx="3194969" cy="1524000"/>
          </a:xfrm>
          <a:prstGeom prst="round2DiagRect">
            <a:avLst/>
          </a:prstGeom>
          <a:ln w="19050" cap="sq">
            <a:solidFill>
              <a:schemeClr val="tx2">
                <a:lumMod val="60000"/>
                <a:lumOff val="40000"/>
                <a:alpha val="60000"/>
              </a:schemeClr>
            </a:solidFill>
            <a:miter lim="800000"/>
          </a:ln>
          <a:effectLst>
            <a:outerShdw blurRad="88900" dist="38100" dir="5400000" algn="t" rotWithShape="0">
              <a:prstClr val="black">
                <a:alpha val="40000"/>
              </a:prstClr>
            </a:outerShdw>
          </a:effectLst>
        </p:spPr>
        <p:txBody>
          <a:bodyPr vert="horz" lIns="91440" tIns="45720" rIns="91440" bIns="45720" rtlCol="0" anchor="t">
            <a:normAutofit/>
          </a:bodyPr>
          <a:lstStyle>
            <a:lvl1pPr>
              <a:buNone/>
              <a:defRPr lang="en-US" sz="2000" dirty="0"/>
            </a:lvl1pPr>
          </a:lstStyle>
          <a:p>
            <a:pPr marL="0" lvl="0" indent="0">
              <a:buNone/>
            </a:pPr>
            <a:r>
              <a:rPr lang="en-US" smtClean="0"/>
              <a:t>Click icon to add picture</a:t>
            </a:r>
            <a:endParaRPr lang="en-US" dirty="0"/>
          </a:p>
        </p:txBody>
      </p:sp>
      <p:sp>
        <p:nvSpPr>
          <p:cNvPr id="27" name="Text Placeholder 3"/>
          <p:cNvSpPr>
            <a:spLocks noGrp="1"/>
          </p:cNvSpPr>
          <p:nvPr>
            <p:ph type="body" sz="half" idx="20"/>
          </p:nvPr>
        </p:nvSpPr>
        <p:spPr>
          <a:xfrm>
            <a:off x="7852442" y="4980854"/>
            <a:ext cx="3194968" cy="810345"/>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Edit Master text styles</a:t>
            </a:r>
          </a:p>
        </p:txBody>
      </p:sp>
      <p:sp>
        <p:nvSpPr>
          <p:cNvPr id="3" name="Date Placeholder 2"/>
          <p:cNvSpPr>
            <a:spLocks noGrp="1"/>
          </p:cNvSpPr>
          <p:nvPr>
            <p:ph type="dt" sz="half" idx="10"/>
          </p:nvPr>
        </p:nvSpPr>
        <p:spPr/>
        <p:txBody>
          <a:bodyPr/>
          <a:lstStyle/>
          <a:p>
            <a:fld id="{48A87A34-81AB-432B-8DAE-1953F412C126}" type="datetimeFigureOut">
              <a:rPr lang="en-US" dirty="0"/>
              <a:t>1/21/2024</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Vertical Text Placeholder 2"/>
          <p:cNvSpPr>
            <a:spLocks noGrp="1"/>
          </p:cNvSpPr>
          <p:nvPr>
            <p:ph type="body" orient="vert" idx="1"/>
          </p:nvPr>
        </p:nvSpPr>
        <p:spPr/>
        <p:txBody>
          <a:bodyPr vert="eaVert" anchor="t"/>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p>
            <a:fld id="{48A87A34-81AB-432B-8DAE-1953F412C126}" type="datetimeFigureOut">
              <a:rPr lang="en-US" dirty="0"/>
              <a:t>1/21/2024</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9042400" y="609599"/>
            <a:ext cx="2005011" cy="5181601"/>
          </a:xfrm>
        </p:spPr>
        <p:txBody>
          <a:bodyPr vert="eaVert"/>
          <a:lstStyle/>
          <a:p>
            <a:r>
              <a:rPr lang="en-US" smtClean="0"/>
              <a:t>Click to edit Master title style</a:t>
            </a:r>
            <a:endParaRPr lang="en-US" dirty="0"/>
          </a:p>
        </p:txBody>
      </p:sp>
      <p:sp>
        <p:nvSpPr>
          <p:cNvPr id="3" name="Vertical Text Placeholder 2"/>
          <p:cNvSpPr>
            <a:spLocks noGrp="1"/>
          </p:cNvSpPr>
          <p:nvPr>
            <p:ph type="body" orient="vert" idx="1"/>
          </p:nvPr>
        </p:nvSpPr>
        <p:spPr>
          <a:xfrm>
            <a:off x="1141410" y="609599"/>
            <a:ext cx="7748590" cy="5181601"/>
          </a:xfrm>
        </p:spPr>
        <p:txBody>
          <a:bodyPr vert="eaVert"/>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p>
            <a:fld id="{48A87A34-81AB-432B-8DAE-1953F412C126}" type="datetimeFigureOut">
              <a:rPr lang="en-US" dirty="0"/>
              <a:t>1/21/2024</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image" Target="../media/image2.png"/><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pic>
        <p:nvPicPr>
          <p:cNvPr id="7" name="Picture 2" descr="\\DROBO-FS\QuickDrops\JB\PPTX NG\Droplets\LightingOverlay.png"/>
          <p:cNvPicPr>
            <a:picLocks noChangeAspect="1" noChangeArrowheads="1"/>
          </p:cNvPicPr>
          <p:nvPr/>
        </p:nvPicPr>
        <p:blipFill>
          <a:blip r:embed="rId19">
            <a:alphaModFix amt="30000"/>
            <a:duotone>
              <a:prstClr val="black"/>
              <a:schemeClr val="tx2">
                <a:tint val="45000"/>
                <a:satMod val="400000"/>
              </a:schemeClr>
            </a:duotone>
            <a:extLst>
              <a:ext uri="{28A0092B-C50C-407E-A947-70E740481C1C}">
                <a14:useLocalDpi xmlns:a14="http://schemas.microsoft.com/office/drawing/2010/main" val="0"/>
              </a:ext>
            </a:extLst>
          </a:blip>
          <a:srcRect/>
          <a:stretch>
            <a:fillRect/>
          </a:stretch>
        </p:blipFill>
        <p:spPr bwMode="auto">
          <a:xfrm>
            <a:off x="0" y="-1"/>
            <a:ext cx="12192003" cy="6858001"/>
          </a:xfrm>
          <a:prstGeom prst="rect">
            <a:avLst/>
          </a:prstGeom>
          <a:noFill/>
          <a:extLst>
            <a:ext uri="{909E8E84-426E-40dd-AFC4-6F175D3DCCD1}">
              <a14:hiddenFill xmlns="" xmlns:a14="http://schemas.microsoft.com/office/drawing/2010/main">
                <a:solidFill>
                  <a:srgbClr val="FFFFFF"/>
                </a:solidFill>
              </a14:hiddenFill>
            </a:ext>
          </a:extLst>
        </p:spPr>
      </p:pic>
      <p:grpSp>
        <p:nvGrpSpPr>
          <p:cNvPr id="8" name="Group 7"/>
          <p:cNvGrpSpPr/>
          <p:nvPr/>
        </p:nvGrpSpPr>
        <p:grpSpPr>
          <a:xfrm>
            <a:off x="-14288" y="0"/>
            <a:ext cx="12053888" cy="6858001"/>
            <a:chOff x="-14288" y="0"/>
            <a:chExt cx="12053888" cy="6858001"/>
          </a:xfrm>
          <a:gradFill flip="none" rotWithShape="1">
            <a:gsLst>
              <a:gs pos="0">
                <a:schemeClr val="tx2"/>
              </a:gs>
              <a:gs pos="100000">
                <a:schemeClr val="tx2">
                  <a:lumMod val="50000"/>
                </a:schemeClr>
              </a:gs>
            </a:gsLst>
            <a:lin ang="5400000" scaled="0"/>
            <a:tileRect/>
          </a:gradFill>
        </p:grpSpPr>
        <p:grpSp>
          <p:nvGrpSpPr>
            <p:cNvPr id="9" name="Group 8"/>
            <p:cNvGrpSpPr/>
            <p:nvPr/>
          </p:nvGrpSpPr>
          <p:grpSpPr>
            <a:xfrm>
              <a:off x="-14288" y="0"/>
              <a:ext cx="1220788" cy="6858001"/>
              <a:chOff x="-14288" y="0"/>
              <a:chExt cx="1220788" cy="6858001"/>
            </a:xfrm>
            <a:grpFill/>
          </p:grpSpPr>
          <p:sp>
            <p:nvSpPr>
              <p:cNvPr id="21" name="Rectangle 5"/>
              <p:cNvSpPr>
                <a:spLocks noChangeArrowheads="1"/>
              </p:cNvSpPr>
              <p:nvPr/>
            </p:nvSpPr>
            <p:spPr bwMode="auto">
              <a:xfrm>
                <a:off x="114300" y="4763"/>
                <a:ext cx="23813" cy="2181225"/>
              </a:xfrm>
              <a:prstGeom prst="rect">
                <a:avLst/>
              </a:prstGeom>
              <a:grpFill/>
              <a:ln>
                <a:noFill/>
              </a:ln>
              <a:extLst>
                <a:ext uri="{91240B29-F687-4f45-9708-019B960494DF}">
                  <a14:hiddenLine xmlns="" xmlns:a14="http://schemas.microsoft.com/office/drawing/2010/main" w="9525">
                    <a:solidFill>
                      <a:srgbClr val="000000"/>
                    </a:solidFill>
                    <a:miter lim="800000"/>
                    <a:headEnd/>
                    <a:tailEnd/>
                  </a14:hiddenLine>
                </a:ext>
              </a:extLst>
            </p:spPr>
          </p:sp>
          <p:sp>
            <p:nvSpPr>
              <p:cNvPr id="22" name="Freeform 6"/>
              <p:cNvSpPr>
                <a:spLocks noEditPoints="1"/>
              </p:cNvSpPr>
              <p:nvPr/>
            </p:nvSpPr>
            <p:spPr bwMode="auto">
              <a:xfrm>
                <a:off x="33337" y="217646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23" name="Freeform 7"/>
              <p:cNvSpPr>
                <a:spLocks noEditPoints="1"/>
              </p:cNvSpPr>
              <p:nvPr/>
            </p:nvSpPr>
            <p:spPr bwMode="auto">
              <a:xfrm>
                <a:off x="28575" y="4021138"/>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24" name="Freeform 8"/>
              <p:cNvSpPr/>
              <p:nvPr/>
            </p:nvSpPr>
            <p:spPr bwMode="auto">
              <a:xfrm>
                <a:off x="200025" y="4763"/>
                <a:ext cx="369888" cy="1811338"/>
              </a:xfrm>
              <a:custGeom>
                <a:avLst/>
                <a:gdLst/>
                <a:ahLst/>
                <a:cxnLst/>
                <a:rect l="0" t="0" r="r" b="b"/>
                <a:pathLst>
                  <a:path w="233" h="1141">
                    <a:moveTo>
                      <a:pt x="218" y="1141"/>
                    </a:moveTo>
                    <a:lnTo>
                      <a:pt x="0" y="626"/>
                    </a:lnTo>
                    <a:lnTo>
                      <a:pt x="0" y="0"/>
                    </a:lnTo>
                    <a:lnTo>
                      <a:pt x="15" y="0"/>
                    </a:lnTo>
                    <a:lnTo>
                      <a:pt x="15" y="623"/>
                    </a:lnTo>
                    <a:lnTo>
                      <a:pt x="233" y="1135"/>
                    </a:lnTo>
                    <a:lnTo>
                      <a:pt x="218" y="1141"/>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25" name="Freeform 9"/>
              <p:cNvSpPr>
                <a:spLocks noEditPoints="1"/>
              </p:cNvSpPr>
              <p:nvPr/>
            </p:nvSpPr>
            <p:spPr bwMode="auto">
              <a:xfrm>
                <a:off x="503237" y="1801813"/>
                <a:ext cx="190500" cy="188913"/>
              </a:xfrm>
              <a:custGeom>
                <a:avLst/>
                <a:gdLst/>
                <a:ahLst/>
                <a:cxnLst/>
                <a:rect l="0" t="0" r="r" b="b"/>
                <a:pathLst>
                  <a:path w="40" h="40">
                    <a:moveTo>
                      <a:pt x="20" y="40"/>
                    </a:moveTo>
                    <a:cubicBezTo>
                      <a:pt x="9" y="40"/>
                      <a:pt x="0" y="31"/>
                      <a:pt x="0" y="20"/>
                    </a:cubicBezTo>
                    <a:cubicBezTo>
                      <a:pt x="0" y="9"/>
                      <a:pt x="9" y="0"/>
                      <a:pt x="20" y="0"/>
                    </a:cubicBezTo>
                    <a:cubicBezTo>
                      <a:pt x="33" y="0"/>
                      <a:pt x="40" y="6"/>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9"/>
                      <a:pt x="31"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26" name="Freeform 10"/>
              <p:cNvSpPr/>
              <p:nvPr/>
            </p:nvSpPr>
            <p:spPr bwMode="auto">
              <a:xfrm>
                <a:off x="285750" y="4763"/>
                <a:ext cx="369888" cy="1430338"/>
              </a:xfrm>
              <a:custGeom>
                <a:avLst/>
                <a:gdLst/>
                <a:ahLst/>
                <a:cxnLst/>
                <a:rect l="0" t="0" r="r" b="b"/>
                <a:pathLst>
                  <a:path w="233" h="901">
                    <a:moveTo>
                      <a:pt x="221" y="901"/>
                    </a:moveTo>
                    <a:lnTo>
                      <a:pt x="0" y="383"/>
                    </a:lnTo>
                    <a:lnTo>
                      <a:pt x="0" y="0"/>
                    </a:lnTo>
                    <a:lnTo>
                      <a:pt x="18" y="0"/>
                    </a:lnTo>
                    <a:lnTo>
                      <a:pt x="18" y="380"/>
                    </a:lnTo>
                    <a:lnTo>
                      <a:pt x="233" y="895"/>
                    </a:lnTo>
                    <a:lnTo>
                      <a:pt x="221" y="901"/>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27" name="Freeform 11"/>
              <p:cNvSpPr/>
              <p:nvPr/>
            </p:nvSpPr>
            <p:spPr bwMode="auto">
              <a:xfrm>
                <a:off x="546100" y="0"/>
                <a:ext cx="152400" cy="912813"/>
              </a:xfrm>
              <a:custGeom>
                <a:avLst/>
                <a:gdLst/>
                <a:ahLst/>
                <a:cxnLst/>
                <a:rect l="0" t="0" r="r" b="b"/>
                <a:pathLst>
                  <a:path w="96" h="575">
                    <a:moveTo>
                      <a:pt x="96" y="575"/>
                    </a:moveTo>
                    <a:lnTo>
                      <a:pt x="78" y="575"/>
                    </a:lnTo>
                    <a:lnTo>
                      <a:pt x="78" y="192"/>
                    </a:lnTo>
                    <a:lnTo>
                      <a:pt x="0" y="6"/>
                    </a:lnTo>
                    <a:lnTo>
                      <a:pt x="15" y="0"/>
                    </a:lnTo>
                    <a:lnTo>
                      <a:pt x="96" y="189"/>
                    </a:lnTo>
                    <a:lnTo>
                      <a:pt x="96" y="575"/>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28" name="Freeform 12"/>
              <p:cNvSpPr>
                <a:spLocks noEditPoints="1"/>
              </p:cNvSpPr>
              <p:nvPr/>
            </p:nvSpPr>
            <p:spPr bwMode="auto">
              <a:xfrm>
                <a:off x="588962" y="1420813"/>
                <a:ext cx="190500" cy="190500"/>
              </a:xfrm>
              <a:custGeom>
                <a:avLst/>
                <a:gdLst/>
                <a:ahLst/>
                <a:cxnLst/>
                <a:rect l="0" t="0" r="r" b="b"/>
                <a:pathLst>
                  <a:path w="40" h="40">
                    <a:moveTo>
                      <a:pt x="20" y="40"/>
                    </a:moveTo>
                    <a:cubicBezTo>
                      <a:pt x="9" y="40"/>
                      <a:pt x="0" y="31"/>
                      <a:pt x="0" y="20"/>
                    </a:cubicBezTo>
                    <a:cubicBezTo>
                      <a:pt x="0" y="9"/>
                      <a:pt x="9" y="0"/>
                      <a:pt x="20" y="0"/>
                    </a:cubicBezTo>
                    <a:cubicBezTo>
                      <a:pt x="33" y="0"/>
                      <a:pt x="40" y="7"/>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9"/>
                      <a:pt x="31"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29" name="Freeform 13"/>
              <p:cNvSpPr>
                <a:spLocks noEditPoints="1"/>
              </p:cNvSpPr>
              <p:nvPr/>
            </p:nvSpPr>
            <p:spPr bwMode="auto">
              <a:xfrm>
                <a:off x="588962" y="90328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30" name="Freeform 14"/>
              <p:cNvSpPr/>
              <p:nvPr/>
            </p:nvSpPr>
            <p:spPr bwMode="auto">
              <a:xfrm>
                <a:off x="641350" y="0"/>
                <a:ext cx="422275" cy="527050"/>
              </a:xfrm>
              <a:custGeom>
                <a:avLst/>
                <a:gdLst/>
                <a:ahLst/>
                <a:cxnLst/>
                <a:rect l="0" t="0" r="r" b="b"/>
                <a:pathLst>
                  <a:path w="266" h="332">
                    <a:moveTo>
                      <a:pt x="257" y="332"/>
                    </a:moveTo>
                    <a:lnTo>
                      <a:pt x="48" y="123"/>
                    </a:lnTo>
                    <a:lnTo>
                      <a:pt x="0" y="6"/>
                    </a:lnTo>
                    <a:lnTo>
                      <a:pt x="15" y="0"/>
                    </a:lnTo>
                    <a:lnTo>
                      <a:pt x="63" y="114"/>
                    </a:lnTo>
                    <a:lnTo>
                      <a:pt x="266" y="320"/>
                    </a:lnTo>
                    <a:lnTo>
                      <a:pt x="257" y="332"/>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31" name="Freeform 15"/>
              <p:cNvSpPr>
                <a:spLocks noEditPoints="1"/>
              </p:cNvSpPr>
              <p:nvPr/>
            </p:nvSpPr>
            <p:spPr bwMode="auto">
              <a:xfrm>
                <a:off x="1020762" y="488950"/>
                <a:ext cx="161925" cy="147638"/>
              </a:xfrm>
              <a:custGeom>
                <a:avLst/>
                <a:gdLst/>
                <a:ahLst/>
                <a:cxnLst/>
                <a:rect l="0" t="0" r="r" b="b"/>
                <a:pathLst>
                  <a:path w="34" h="31">
                    <a:moveTo>
                      <a:pt x="17" y="31"/>
                    </a:moveTo>
                    <a:cubicBezTo>
                      <a:pt x="13" y="31"/>
                      <a:pt x="9" y="30"/>
                      <a:pt x="6" y="27"/>
                    </a:cubicBezTo>
                    <a:cubicBezTo>
                      <a:pt x="0" y="20"/>
                      <a:pt x="0" y="10"/>
                      <a:pt x="6" y="4"/>
                    </a:cubicBezTo>
                    <a:cubicBezTo>
                      <a:pt x="9" y="1"/>
                      <a:pt x="13" y="0"/>
                      <a:pt x="17" y="0"/>
                    </a:cubicBezTo>
                    <a:cubicBezTo>
                      <a:pt x="21" y="0"/>
                      <a:pt x="25" y="1"/>
                      <a:pt x="28" y="4"/>
                    </a:cubicBezTo>
                    <a:cubicBezTo>
                      <a:pt x="34" y="10"/>
                      <a:pt x="34" y="20"/>
                      <a:pt x="28" y="27"/>
                    </a:cubicBezTo>
                    <a:cubicBezTo>
                      <a:pt x="25" y="30"/>
                      <a:pt x="21" y="31"/>
                      <a:pt x="17" y="31"/>
                    </a:cubicBezTo>
                    <a:close/>
                    <a:moveTo>
                      <a:pt x="17" y="4"/>
                    </a:moveTo>
                    <a:cubicBezTo>
                      <a:pt x="14" y="4"/>
                      <a:pt x="11" y="5"/>
                      <a:pt x="9" y="7"/>
                    </a:cubicBezTo>
                    <a:cubicBezTo>
                      <a:pt x="4" y="12"/>
                      <a:pt x="4" y="19"/>
                      <a:pt x="9" y="24"/>
                    </a:cubicBezTo>
                    <a:cubicBezTo>
                      <a:pt x="11" y="26"/>
                      <a:pt x="14" y="27"/>
                      <a:pt x="17" y="27"/>
                    </a:cubicBezTo>
                    <a:cubicBezTo>
                      <a:pt x="20" y="27"/>
                      <a:pt x="23" y="26"/>
                      <a:pt x="25" y="24"/>
                    </a:cubicBezTo>
                    <a:cubicBezTo>
                      <a:pt x="30" y="19"/>
                      <a:pt x="30" y="12"/>
                      <a:pt x="25" y="7"/>
                    </a:cubicBezTo>
                    <a:cubicBezTo>
                      <a:pt x="23" y="5"/>
                      <a:pt x="20" y="4"/>
                      <a:pt x="17"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32" name="Line 16"/>
              <p:cNvSpPr>
                <a:spLocks noChangeShapeType="1"/>
              </p:cNvSpPr>
              <p:nvPr/>
            </p:nvSpPr>
            <p:spPr bwMode="auto">
              <a:xfrm>
                <a:off x="-4763" y="9525"/>
                <a:ext cx="0" cy="0"/>
              </a:xfrm>
              <a:prstGeom prst="line">
                <a:avLst/>
              </a:prstGeom>
              <a:grpFill/>
              <a:ln w="15" cap="flat">
                <a:solidFill>
                  <a:srgbClr val="FFFFFF"/>
                </a:solidFill>
                <a:prstDash val="solid"/>
                <a:miter lim="800000"/>
                <a:headEnd/>
                <a:tailEnd/>
              </a:ln>
            </p:spPr>
          </p:sp>
          <p:sp>
            <p:nvSpPr>
              <p:cNvPr id="33" name="Freeform 17"/>
              <p:cNvSpPr/>
              <p:nvPr/>
            </p:nvSpPr>
            <p:spPr bwMode="auto">
              <a:xfrm>
                <a:off x="9525" y="1801813"/>
                <a:ext cx="123825" cy="127000"/>
              </a:xfrm>
              <a:custGeom>
                <a:avLst/>
                <a:gdLst/>
                <a:ahLst/>
                <a:cxnLst/>
                <a:rect l="0" t="0" r="r" b="b"/>
                <a:pathLst>
                  <a:path w="78" h="80">
                    <a:moveTo>
                      <a:pt x="6" y="80"/>
                    </a:moveTo>
                    <a:lnTo>
                      <a:pt x="0" y="71"/>
                    </a:lnTo>
                    <a:lnTo>
                      <a:pt x="69" y="0"/>
                    </a:lnTo>
                    <a:lnTo>
                      <a:pt x="78" y="9"/>
                    </a:lnTo>
                    <a:lnTo>
                      <a:pt x="6" y="80"/>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34" name="Freeform 18"/>
              <p:cNvSpPr/>
              <p:nvPr/>
            </p:nvSpPr>
            <p:spPr bwMode="auto">
              <a:xfrm>
                <a:off x="-9525" y="3549650"/>
                <a:ext cx="147638" cy="481013"/>
              </a:xfrm>
              <a:custGeom>
                <a:avLst/>
                <a:gdLst/>
                <a:ahLst/>
                <a:cxnLst/>
                <a:rect l="0" t="0" r="r" b="b"/>
                <a:pathLst>
                  <a:path w="93" h="303">
                    <a:moveTo>
                      <a:pt x="93" y="303"/>
                    </a:moveTo>
                    <a:lnTo>
                      <a:pt x="78" y="303"/>
                    </a:lnTo>
                    <a:lnTo>
                      <a:pt x="78" y="78"/>
                    </a:lnTo>
                    <a:lnTo>
                      <a:pt x="0" y="12"/>
                    </a:lnTo>
                    <a:lnTo>
                      <a:pt x="12" y="0"/>
                    </a:lnTo>
                    <a:lnTo>
                      <a:pt x="93" y="69"/>
                    </a:lnTo>
                    <a:lnTo>
                      <a:pt x="93" y="303"/>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35" name="Freeform 19"/>
              <p:cNvSpPr/>
              <p:nvPr/>
            </p:nvSpPr>
            <p:spPr bwMode="auto">
              <a:xfrm>
                <a:off x="128587" y="1382713"/>
                <a:ext cx="142875" cy="476250"/>
              </a:xfrm>
              <a:custGeom>
                <a:avLst/>
                <a:gdLst/>
                <a:ahLst/>
                <a:cxnLst/>
                <a:rect l="0" t="0" r="r" b="b"/>
                <a:pathLst>
                  <a:path w="90" h="300">
                    <a:moveTo>
                      <a:pt x="90" y="300"/>
                    </a:moveTo>
                    <a:lnTo>
                      <a:pt x="78" y="300"/>
                    </a:lnTo>
                    <a:lnTo>
                      <a:pt x="78" y="84"/>
                    </a:lnTo>
                    <a:lnTo>
                      <a:pt x="0" y="9"/>
                    </a:lnTo>
                    <a:lnTo>
                      <a:pt x="9" y="0"/>
                    </a:lnTo>
                    <a:lnTo>
                      <a:pt x="90" y="81"/>
                    </a:lnTo>
                    <a:lnTo>
                      <a:pt x="90" y="300"/>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36" name="Freeform 20"/>
              <p:cNvSpPr>
                <a:spLocks noEditPoints="1"/>
              </p:cNvSpPr>
              <p:nvPr/>
            </p:nvSpPr>
            <p:spPr bwMode="auto">
              <a:xfrm>
                <a:off x="204787" y="1849438"/>
                <a:ext cx="114300" cy="107950"/>
              </a:xfrm>
              <a:custGeom>
                <a:avLst/>
                <a:gdLst/>
                <a:ahLst/>
                <a:cxnLst/>
                <a:rect l="0" t="0" r="r" b="b"/>
                <a:pathLst>
                  <a:path w="24" h="23">
                    <a:moveTo>
                      <a:pt x="12" y="23"/>
                    </a:moveTo>
                    <a:cubicBezTo>
                      <a:pt x="6" y="23"/>
                      <a:pt x="0" y="18"/>
                      <a:pt x="0" y="12"/>
                    </a:cubicBezTo>
                    <a:cubicBezTo>
                      <a:pt x="0" y="5"/>
                      <a:pt x="6" y="0"/>
                      <a:pt x="12" y="0"/>
                    </a:cubicBezTo>
                    <a:cubicBezTo>
                      <a:pt x="18" y="0"/>
                      <a:pt x="24" y="5"/>
                      <a:pt x="24" y="12"/>
                    </a:cubicBezTo>
                    <a:cubicBezTo>
                      <a:pt x="24" y="18"/>
                      <a:pt x="18" y="23"/>
                      <a:pt x="12" y="23"/>
                    </a:cubicBezTo>
                    <a:close/>
                    <a:moveTo>
                      <a:pt x="12" y="4"/>
                    </a:moveTo>
                    <a:cubicBezTo>
                      <a:pt x="8" y="4"/>
                      <a:pt x="4" y="8"/>
                      <a:pt x="4" y="12"/>
                    </a:cubicBezTo>
                    <a:cubicBezTo>
                      <a:pt x="4" y="16"/>
                      <a:pt x="8" y="19"/>
                      <a:pt x="12" y="19"/>
                    </a:cubicBezTo>
                    <a:cubicBezTo>
                      <a:pt x="16" y="19"/>
                      <a:pt x="20" y="16"/>
                      <a:pt x="20" y="12"/>
                    </a:cubicBezTo>
                    <a:cubicBezTo>
                      <a:pt x="20" y="8"/>
                      <a:pt x="16" y="4"/>
                      <a:pt x="12"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37" name="Rectangle 21"/>
              <p:cNvSpPr>
                <a:spLocks noChangeArrowheads="1"/>
              </p:cNvSpPr>
              <p:nvPr/>
            </p:nvSpPr>
            <p:spPr bwMode="auto">
              <a:xfrm>
                <a:off x="133350" y="4662488"/>
                <a:ext cx="23813" cy="2181225"/>
              </a:xfrm>
              <a:prstGeom prst="rect">
                <a:avLst/>
              </a:prstGeom>
              <a:grpFill/>
              <a:ln>
                <a:noFill/>
              </a:ln>
              <a:extLst>
                <a:ext uri="{91240B29-F687-4f45-9708-019B960494DF}">
                  <a14:hiddenLine xmlns="" xmlns:a14="http://schemas.microsoft.com/office/drawing/2010/main" w="9525">
                    <a:solidFill>
                      <a:srgbClr val="000000"/>
                    </a:solidFill>
                    <a:miter lim="800000"/>
                    <a:headEnd/>
                    <a:tailEnd/>
                  </a14:hiddenLine>
                </a:ext>
              </a:extLst>
            </p:spPr>
          </p:sp>
          <p:sp>
            <p:nvSpPr>
              <p:cNvPr id="38" name="Freeform 22"/>
              <p:cNvSpPr/>
              <p:nvPr/>
            </p:nvSpPr>
            <p:spPr bwMode="auto">
              <a:xfrm>
                <a:off x="223837" y="5041900"/>
                <a:ext cx="369888" cy="1801813"/>
              </a:xfrm>
              <a:custGeom>
                <a:avLst/>
                <a:gdLst/>
                <a:ahLst/>
                <a:cxnLst/>
                <a:rect l="0" t="0" r="r" b="b"/>
                <a:pathLst>
                  <a:path w="233" h="1135">
                    <a:moveTo>
                      <a:pt x="15" y="1135"/>
                    </a:moveTo>
                    <a:lnTo>
                      <a:pt x="0" y="1135"/>
                    </a:lnTo>
                    <a:lnTo>
                      <a:pt x="0" y="515"/>
                    </a:lnTo>
                    <a:lnTo>
                      <a:pt x="0" y="512"/>
                    </a:lnTo>
                    <a:lnTo>
                      <a:pt x="218" y="0"/>
                    </a:lnTo>
                    <a:lnTo>
                      <a:pt x="233" y="6"/>
                    </a:lnTo>
                    <a:lnTo>
                      <a:pt x="15" y="518"/>
                    </a:lnTo>
                    <a:lnTo>
                      <a:pt x="15" y="1135"/>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39" name="Freeform 23"/>
              <p:cNvSpPr>
                <a:spLocks noEditPoints="1"/>
              </p:cNvSpPr>
              <p:nvPr/>
            </p:nvSpPr>
            <p:spPr bwMode="auto">
              <a:xfrm>
                <a:off x="52387" y="44815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40" name="Freeform 24"/>
              <p:cNvSpPr/>
              <p:nvPr/>
            </p:nvSpPr>
            <p:spPr bwMode="auto">
              <a:xfrm>
                <a:off x="-14288" y="5627688"/>
                <a:ext cx="85725" cy="1216025"/>
              </a:xfrm>
              <a:custGeom>
                <a:avLst/>
                <a:gdLst/>
                <a:ahLst/>
                <a:cxnLst/>
                <a:rect l="0" t="0" r="r" b="b"/>
                <a:pathLst>
                  <a:path w="54" h="766">
                    <a:moveTo>
                      <a:pt x="54" y="766"/>
                    </a:moveTo>
                    <a:lnTo>
                      <a:pt x="36" y="766"/>
                    </a:lnTo>
                    <a:lnTo>
                      <a:pt x="36" y="149"/>
                    </a:lnTo>
                    <a:lnTo>
                      <a:pt x="0" y="3"/>
                    </a:lnTo>
                    <a:lnTo>
                      <a:pt x="18" y="0"/>
                    </a:lnTo>
                    <a:lnTo>
                      <a:pt x="54" y="146"/>
                    </a:lnTo>
                    <a:lnTo>
                      <a:pt x="54" y="766"/>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41" name="Freeform 25"/>
              <p:cNvSpPr>
                <a:spLocks noEditPoints="1"/>
              </p:cNvSpPr>
              <p:nvPr/>
            </p:nvSpPr>
            <p:spPr bwMode="auto">
              <a:xfrm>
                <a:off x="527050" y="4867275"/>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42" name="Freeform 26"/>
              <p:cNvSpPr/>
              <p:nvPr/>
            </p:nvSpPr>
            <p:spPr bwMode="auto">
              <a:xfrm>
                <a:off x="309562" y="5422900"/>
                <a:ext cx="374650" cy="1425575"/>
              </a:xfrm>
              <a:custGeom>
                <a:avLst/>
                <a:gdLst/>
                <a:ahLst/>
                <a:cxnLst/>
                <a:rect l="0" t="0" r="r" b="b"/>
                <a:pathLst>
                  <a:path w="236" h="898">
                    <a:moveTo>
                      <a:pt x="18" y="898"/>
                    </a:moveTo>
                    <a:lnTo>
                      <a:pt x="0" y="898"/>
                    </a:lnTo>
                    <a:lnTo>
                      <a:pt x="0" y="515"/>
                    </a:lnTo>
                    <a:lnTo>
                      <a:pt x="3" y="512"/>
                    </a:lnTo>
                    <a:lnTo>
                      <a:pt x="221" y="0"/>
                    </a:lnTo>
                    <a:lnTo>
                      <a:pt x="236" y="6"/>
                    </a:lnTo>
                    <a:lnTo>
                      <a:pt x="18" y="518"/>
                    </a:lnTo>
                    <a:lnTo>
                      <a:pt x="18" y="898"/>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43" name="Freeform 27"/>
              <p:cNvSpPr/>
              <p:nvPr/>
            </p:nvSpPr>
            <p:spPr bwMode="auto">
              <a:xfrm>
                <a:off x="569912" y="5945188"/>
                <a:ext cx="152400" cy="912813"/>
              </a:xfrm>
              <a:custGeom>
                <a:avLst/>
                <a:gdLst/>
                <a:ahLst/>
                <a:cxnLst/>
                <a:rect l="0" t="0" r="r" b="b"/>
                <a:pathLst>
                  <a:path w="96" h="575">
                    <a:moveTo>
                      <a:pt x="15" y="575"/>
                    </a:moveTo>
                    <a:lnTo>
                      <a:pt x="0" y="569"/>
                    </a:lnTo>
                    <a:lnTo>
                      <a:pt x="81" y="383"/>
                    </a:lnTo>
                    <a:lnTo>
                      <a:pt x="81" y="0"/>
                    </a:lnTo>
                    <a:lnTo>
                      <a:pt x="96" y="0"/>
                    </a:lnTo>
                    <a:lnTo>
                      <a:pt x="96" y="386"/>
                    </a:lnTo>
                    <a:lnTo>
                      <a:pt x="15" y="575"/>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44" name="Freeform 28"/>
              <p:cNvSpPr>
                <a:spLocks noEditPoints="1"/>
              </p:cNvSpPr>
              <p:nvPr/>
            </p:nvSpPr>
            <p:spPr bwMode="auto">
              <a:xfrm>
                <a:off x="612775" y="524668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45" name="Freeform 29"/>
              <p:cNvSpPr>
                <a:spLocks noEditPoints="1"/>
              </p:cNvSpPr>
              <p:nvPr/>
            </p:nvSpPr>
            <p:spPr bwMode="auto">
              <a:xfrm>
                <a:off x="612775" y="57642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46" name="Freeform 30"/>
              <p:cNvSpPr/>
              <p:nvPr/>
            </p:nvSpPr>
            <p:spPr bwMode="auto">
              <a:xfrm>
                <a:off x="669925" y="6330950"/>
                <a:ext cx="417513" cy="517525"/>
              </a:xfrm>
              <a:custGeom>
                <a:avLst/>
                <a:gdLst/>
                <a:ahLst/>
                <a:cxnLst/>
                <a:rect l="0" t="0" r="r" b="b"/>
                <a:pathLst>
                  <a:path w="263" h="326">
                    <a:moveTo>
                      <a:pt x="15" y="326"/>
                    </a:moveTo>
                    <a:lnTo>
                      <a:pt x="0" y="320"/>
                    </a:lnTo>
                    <a:lnTo>
                      <a:pt x="45" y="206"/>
                    </a:lnTo>
                    <a:lnTo>
                      <a:pt x="48" y="206"/>
                    </a:lnTo>
                    <a:lnTo>
                      <a:pt x="254" y="0"/>
                    </a:lnTo>
                    <a:lnTo>
                      <a:pt x="263" y="12"/>
                    </a:lnTo>
                    <a:lnTo>
                      <a:pt x="60" y="215"/>
                    </a:lnTo>
                    <a:lnTo>
                      <a:pt x="15" y="326"/>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47" name="Freeform 31"/>
              <p:cNvSpPr>
                <a:spLocks noEditPoints="1"/>
              </p:cNvSpPr>
              <p:nvPr/>
            </p:nvSpPr>
            <p:spPr bwMode="auto">
              <a:xfrm>
                <a:off x="1049337" y="6221413"/>
                <a:ext cx="157163" cy="147638"/>
              </a:xfrm>
              <a:custGeom>
                <a:avLst/>
                <a:gdLst/>
                <a:ahLst/>
                <a:cxnLst/>
                <a:rect l="0" t="0" r="r" b="b"/>
                <a:pathLst>
                  <a:path w="33" h="31">
                    <a:moveTo>
                      <a:pt x="16" y="31"/>
                    </a:moveTo>
                    <a:cubicBezTo>
                      <a:pt x="12" y="31"/>
                      <a:pt x="8" y="29"/>
                      <a:pt x="5" y="26"/>
                    </a:cubicBezTo>
                    <a:cubicBezTo>
                      <a:pt x="2" y="24"/>
                      <a:pt x="0" y="20"/>
                      <a:pt x="0" y="15"/>
                    </a:cubicBezTo>
                    <a:cubicBezTo>
                      <a:pt x="0" y="11"/>
                      <a:pt x="2" y="7"/>
                      <a:pt x="5" y="4"/>
                    </a:cubicBezTo>
                    <a:cubicBezTo>
                      <a:pt x="8" y="1"/>
                      <a:pt x="12" y="0"/>
                      <a:pt x="16" y="0"/>
                    </a:cubicBezTo>
                    <a:cubicBezTo>
                      <a:pt x="20" y="0"/>
                      <a:pt x="24" y="1"/>
                      <a:pt x="27" y="4"/>
                    </a:cubicBezTo>
                    <a:cubicBezTo>
                      <a:pt x="33" y="10"/>
                      <a:pt x="33" y="20"/>
                      <a:pt x="27" y="26"/>
                    </a:cubicBezTo>
                    <a:cubicBezTo>
                      <a:pt x="24" y="29"/>
                      <a:pt x="20" y="31"/>
                      <a:pt x="16" y="31"/>
                    </a:cubicBezTo>
                    <a:close/>
                    <a:moveTo>
                      <a:pt x="16" y="4"/>
                    </a:moveTo>
                    <a:cubicBezTo>
                      <a:pt x="13" y="4"/>
                      <a:pt x="10" y="5"/>
                      <a:pt x="8" y="7"/>
                    </a:cubicBezTo>
                    <a:cubicBezTo>
                      <a:pt x="6" y="9"/>
                      <a:pt x="4" y="12"/>
                      <a:pt x="4" y="15"/>
                    </a:cubicBezTo>
                    <a:cubicBezTo>
                      <a:pt x="4" y="19"/>
                      <a:pt x="6" y="21"/>
                      <a:pt x="8" y="24"/>
                    </a:cubicBezTo>
                    <a:cubicBezTo>
                      <a:pt x="10" y="26"/>
                      <a:pt x="13" y="27"/>
                      <a:pt x="16" y="27"/>
                    </a:cubicBezTo>
                    <a:cubicBezTo>
                      <a:pt x="19" y="27"/>
                      <a:pt x="22" y="26"/>
                      <a:pt x="24" y="24"/>
                    </a:cubicBezTo>
                    <a:cubicBezTo>
                      <a:pt x="29" y="19"/>
                      <a:pt x="29" y="12"/>
                      <a:pt x="24" y="7"/>
                    </a:cubicBezTo>
                    <a:cubicBezTo>
                      <a:pt x="22" y="5"/>
                      <a:pt x="19" y="4"/>
                      <a:pt x="16"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grpSp>
        <p:grpSp>
          <p:nvGrpSpPr>
            <p:cNvPr id="10" name="Group 9"/>
            <p:cNvGrpSpPr/>
            <p:nvPr/>
          </p:nvGrpSpPr>
          <p:grpSpPr>
            <a:xfrm>
              <a:off x="11364912" y="0"/>
              <a:ext cx="674688" cy="6848476"/>
              <a:chOff x="11364912" y="0"/>
              <a:chExt cx="674688" cy="6848476"/>
            </a:xfrm>
            <a:grpFill/>
          </p:grpSpPr>
          <p:sp>
            <p:nvSpPr>
              <p:cNvPr id="11" name="Freeform 32"/>
              <p:cNvSpPr/>
              <p:nvPr/>
            </p:nvSpPr>
            <p:spPr bwMode="auto">
              <a:xfrm>
                <a:off x="11483975" y="0"/>
                <a:ext cx="417513" cy="512763"/>
              </a:xfrm>
              <a:custGeom>
                <a:avLst/>
                <a:gdLst/>
                <a:ahLst/>
                <a:cxnLst/>
                <a:rect l="0" t="0" r="r" b="b"/>
                <a:pathLst>
                  <a:path w="263" h="323">
                    <a:moveTo>
                      <a:pt x="12" y="323"/>
                    </a:moveTo>
                    <a:lnTo>
                      <a:pt x="0" y="314"/>
                    </a:lnTo>
                    <a:lnTo>
                      <a:pt x="203" y="108"/>
                    </a:lnTo>
                    <a:lnTo>
                      <a:pt x="248" y="0"/>
                    </a:lnTo>
                    <a:lnTo>
                      <a:pt x="263" y="6"/>
                    </a:lnTo>
                    <a:lnTo>
                      <a:pt x="218" y="117"/>
                    </a:lnTo>
                    <a:lnTo>
                      <a:pt x="218" y="117"/>
                    </a:lnTo>
                    <a:lnTo>
                      <a:pt x="12" y="323"/>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12" name="Freeform 33"/>
              <p:cNvSpPr>
                <a:spLocks noEditPoints="1"/>
              </p:cNvSpPr>
              <p:nvPr/>
            </p:nvSpPr>
            <p:spPr bwMode="auto">
              <a:xfrm>
                <a:off x="11364912" y="474663"/>
                <a:ext cx="157163" cy="152400"/>
              </a:xfrm>
              <a:custGeom>
                <a:avLst/>
                <a:gdLst/>
                <a:ahLst/>
                <a:cxnLst/>
                <a:rect l="0" t="0" r="r" b="b"/>
                <a:pathLst>
                  <a:path w="33" h="32">
                    <a:moveTo>
                      <a:pt x="17" y="32"/>
                    </a:moveTo>
                    <a:cubicBezTo>
                      <a:pt x="13" y="32"/>
                      <a:pt x="9" y="30"/>
                      <a:pt x="6" y="27"/>
                    </a:cubicBezTo>
                    <a:cubicBezTo>
                      <a:pt x="0" y="21"/>
                      <a:pt x="0" y="11"/>
                      <a:pt x="6" y="5"/>
                    </a:cubicBezTo>
                    <a:cubicBezTo>
                      <a:pt x="9" y="2"/>
                      <a:pt x="13" y="0"/>
                      <a:pt x="17" y="0"/>
                    </a:cubicBezTo>
                    <a:cubicBezTo>
                      <a:pt x="21" y="0"/>
                      <a:pt x="25" y="2"/>
                      <a:pt x="28" y="5"/>
                    </a:cubicBezTo>
                    <a:cubicBezTo>
                      <a:pt x="31" y="8"/>
                      <a:pt x="33" y="12"/>
                      <a:pt x="33" y="16"/>
                    </a:cubicBezTo>
                    <a:cubicBezTo>
                      <a:pt x="33" y="20"/>
                      <a:pt x="31" y="24"/>
                      <a:pt x="28" y="27"/>
                    </a:cubicBezTo>
                    <a:cubicBezTo>
                      <a:pt x="25" y="30"/>
                      <a:pt x="21" y="32"/>
                      <a:pt x="17" y="32"/>
                    </a:cubicBezTo>
                    <a:close/>
                    <a:moveTo>
                      <a:pt x="17" y="4"/>
                    </a:moveTo>
                    <a:cubicBezTo>
                      <a:pt x="14" y="4"/>
                      <a:pt x="11" y="6"/>
                      <a:pt x="9" y="8"/>
                    </a:cubicBezTo>
                    <a:cubicBezTo>
                      <a:pt x="4" y="12"/>
                      <a:pt x="4" y="20"/>
                      <a:pt x="9" y="24"/>
                    </a:cubicBezTo>
                    <a:cubicBezTo>
                      <a:pt x="11" y="27"/>
                      <a:pt x="14" y="28"/>
                      <a:pt x="17" y="28"/>
                    </a:cubicBezTo>
                    <a:cubicBezTo>
                      <a:pt x="20" y="28"/>
                      <a:pt x="23" y="27"/>
                      <a:pt x="26" y="24"/>
                    </a:cubicBezTo>
                    <a:cubicBezTo>
                      <a:pt x="30" y="20"/>
                      <a:pt x="30" y="12"/>
                      <a:pt x="26" y="8"/>
                    </a:cubicBezTo>
                    <a:cubicBezTo>
                      <a:pt x="23" y="6"/>
                      <a:pt x="20" y="4"/>
                      <a:pt x="17"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13" name="Freeform 34"/>
              <p:cNvSpPr>
                <a:spLocks noEditPoints="1"/>
              </p:cNvSpPr>
              <p:nvPr/>
            </p:nvSpPr>
            <p:spPr bwMode="auto">
              <a:xfrm>
                <a:off x="11631612" y="1539875"/>
                <a:ext cx="188913"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14" name="Freeform 35"/>
              <p:cNvSpPr/>
              <p:nvPr/>
            </p:nvSpPr>
            <p:spPr bwMode="auto">
              <a:xfrm>
                <a:off x="11531600" y="5694363"/>
                <a:ext cx="298450" cy="1154113"/>
              </a:xfrm>
              <a:custGeom>
                <a:avLst/>
                <a:gdLst/>
                <a:ahLst/>
                <a:cxnLst/>
                <a:rect l="0" t="0" r="r" b="b"/>
                <a:pathLst>
                  <a:path w="188" h="727">
                    <a:moveTo>
                      <a:pt x="15" y="727"/>
                    </a:moveTo>
                    <a:lnTo>
                      <a:pt x="0" y="727"/>
                    </a:lnTo>
                    <a:lnTo>
                      <a:pt x="0" y="407"/>
                    </a:lnTo>
                    <a:lnTo>
                      <a:pt x="0" y="407"/>
                    </a:lnTo>
                    <a:lnTo>
                      <a:pt x="176" y="0"/>
                    </a:lnTo>
                    <a:lnTo>
                      <a:pt x="188" y="6"/>
                    </a:lnTo>
                    <a:lnTo>
                      <a:pt x="15" y="410"/>
                    </a:lnTo>
                    <a:lnTo>
                      <a:pt x="15" y="727"/>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15" name="Freeform 36"/>
              <p:cNvSpPr>
                <a:spLocks noEditPoints="1"/>
              </p:cNvSpPr>
              <p:nvPr/>
            </p:nvSpPr>
            <p:spPr bwMode="auto">
              <a:xfrm>
                <a:off x="11772900" y="5551488"/>
                <a:ext cx="157163" cy="155575"/>
              </a:xfrm>
              <a:custGeom>
                <a:avLst/>
                <a:gdLst/>
                <a:ahLst/>
                <a:cxnLst/>
                <a:rect l="0" t="0" r="r" b="b"/>
                <a:pathLst>
                  <a:path w="33" h="33">
                    <a:moveTo>
                      <a:pt x="17" y="33"/>
                    </a:moveTo>
                    <a:cubicBezTo>
                      <a:pt x="8" y="33"/>
                      <a:pt x="0" y="25"/>
                      <a:pt x="0" y="16"/>
                    </a:cubicBezTo>
                    <a:cubicBezTo>
                      <a:pt x="0" y="7"/>
                      <a:pt x="8" y="0"/>
                      <a:pt x="17" y="0"/>
                    </a:cubicBezTo>
                    <a:cubicBezTo>
                      <a:pt x="26" y="0"/>
                      <a:pt x="33" y="7"/>
                      <a:pt x="33" y="16"/>
                    </a:cubicBezTo>
                    <a:cubicBezTo>
                      <a:pt x="33" y="25"/>
                      <a:pt x="26" y="33"/>
                      <a:pt x="17" y="33"/>
                    </a:cubicBezTo>
                    <a:close/>
                    <a:moveTo>
                      <a:pt x="17" y="4"/>
                    </a:moveTo>
                    <a:cubicBezTo>
                      <a:pt x="10" y="4"/>
                      <a:pt x="4" y="9"/>
                      <a:pt x="4" y="16"/>
                    </a:cubicBezTo>
                    <a:cubicBezTo>
                      <a:pt x="4" y="23"/>
                      <a:pt x="10" y="29"/>
                      <a:pt x="17" y="29"/>
                    </a:cubicBezTo>
                    <a:cubicBezTo>
                      <a:pt x="23" y="29"/>
                      <a:pt x="29" y="23"/>
                      <a:pt x="29" y="16"/>
                    </a:cubicBezTo>
                    <a:cubicBezTo>
                      <a:pt x="29" y="9"/>
                      <a:pt x="23" y="4"/>
                      <a:pt x="17"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16" name="Freeform 37"/>
              <p:cNvSpPr/>
              <p:nvPr/>
            </p:nvSpPr>
            <p:spPr bwMode="auto">
              <a:xfrm>
                <a:off x="11710987" y="4763"/>
                <a:ext cx="304800" cy="1544638"/>
              </a:xfrm>
              <a:custGeom>
                <a:avLst/>
                <a:gdLst/>
                <a:ahLst/>
                <a:cxnLst/>
                <a:rect l="0" t="0" r="r" b="b"/>
                <a:pathLst>
                  <a:path w="192" h="973">
                    <a:moveTo>
                      <a:pt x="15" y="973"/>
                    </a:moveTo>
                    <a:lnTo>
                      <a:pt x="0" y="973"/>
                    </a:lnTo>
                    <a:lnTo>
                      <a:pt x="0" y="790"/>
                    </a:lnTo>
                    <a:lnTo>
                      <a:pt x="174" y="614"/>
                    </a:lnTo>
                    <a:lnTo>
                      <a:pt x="174" y="0"/>
                    </a:lnTo>
                    <a:lnTo>
                      <a:pt x="192" y="0"/>
                    </a:lnTo>
                    <a:lnTo>
                      <a:pt x="192" y="620"/>
                    </a:lnTo>
                    <a:lnTo>
                      <a:pt x="15" y="796"/>
                    </a:lnTo>
                    <a:lnTo>
                      <a:pt x="15" y="973"/>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17" name="Freeform 38"/>
              <p:cNvSpPr>
                <a:spLocks noEditPoints="1"/>
              </p:cNvSpPr>
              <p:nvPr/>
            </p:nvSpPr>
            <p:spPr bwMode="auto">
              <a:xfrm>
                <a:off x="11636375" y="4867275"/>
                <a:ext cx="188913"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18" name="Freeform 39"/>
              <p:cNvSpPr/>
              <p:nvPr/>
            </p:nvSpPr>
            <p:spPr bwMode="auto">
              <a:xfrm>
                <a:off x="11441112" y="5046663"/>
                <a:ext cx="307975" cy="1801813"/>
              </a:xfrm>
              <a:custGeom>
                <a:avLst/>
                <a:gdLst/>
                <a:ahLst/>
                <a:cxnLst/>
                <a:rect l="0" t="0" r="r" b="b"/>
                <a:pathLst>
                  <a:path w="194" h="1135">
                    <a:moveTo>
                      <a:pt x="18" y="1135"/>
                    </a:moveTo>
                    <a:lnTo>
                      <a:pt x="0" y="1135"/>
                    </a:lnTo>
                    <a:lnTo>
                      <a:pt x="0" y="354"/>
                    </a:lnTo>
                    <a:lnTo>
                      <a:pt x="176" y="177"/>
                    </a:lnTo>
                    <a:lnTo>
                      <a:pt x="176" y="0"/>
                    </a:lnTo>
                    <a:lnTo>
                      <a:pt x="194" y="0"/>
                    </a:lnTo>
                    <a:lnTo>
                      <a:pt x="194" y="183"/>
                    </a:lnTo>
                    <a:lnTo>
                      <a:pt x="18" y="360"/>
                    </a:lnTo>
                    <a:lnTo>
                      <a:pt x="18" y="1135"/>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19" name="Freeform 40"/>
              <p:cNvSpPr>
                <a:spLocks noEditPoints="1"/>
              </p:cNvSpPr>
              <p:nvPr/>
            </p:nvSpPr>
            <p:spPr bwMode="auto">
              <a:xfrm>
                <a:off x="11849100" y="6416675"/>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20" name="Rectangle 41"/>
              <p:cNvSpPr>
                <a:spLocks noChangeArrowheads="1"/>
              </p:cNvSpPr>
              <p:nvPr/>
            </p:nvSpPr>
            <p:spPr bwMode="auto">
              <a:xfrm>
                <a:off x="11939587" y="6596063"/>
                <a:ext cx="23813" cy="252413"/>
              </a:xfrm>
              <a:prstGeom prst="rect">
                <a:avLst/>
              </a:prstGeom>
              <a:grpFill/>
              <a:ln>
                <a:noFill/>
              </a:ln>
              <a:extLst>
                <a:ext uri="{91240B29-F687-4f45-9708-019B960494DF}">
                  <a14:hiddenLine xmlns="" xmlns:a14="http://schemas.microsoft.com/office/drawing/2010/main" w="9525">
                    <a:solidFill>
                      <a:srgbClr val="000000"/>
                    </a:solidFill>
                    <a:miter lim="800000"/>
                    <a:headEnd/>
                    <a:tailEnd/>
                  </a14:hiddenLine>
                </a:ext>
              </a:extLst>
            </p:spPr>
          </p:sp>
        </p:grpSp>
      </p:grpSp>
      <p:sp>
        <p:nvSpPr>
          <p:cNvPr id="2" name="Title Placeholder 1"/>
          <p:cNvSpPr>
            <a:spLocks noGrp="1"/>
          </p:cNvSpPr>
          <p:nvPr>
            <p:ph type="title"/>
          </p:nvPr>
        </p:nvSpPr>
        <p:spPr>
          <a:xfrm>
            <a:off x="1141413" y="618518"/>
            <a:ext cx="9905998" cy="1478570"/>
          </a:xfrm>
          <a:prstGeom prst="rect">
            <a:avLst/>
          </a:prstGeom>
        </p:spPr>
        <p:txBody>
          <a:bodyPr vert="horz" lIns="91440" tIns="45720" rIns="91440" bIns="45720" rtlCol="0" anchor="ctr">
            <a:normAutofit/>
          </a:bodyPr>
          <a:lstStyle/>
          <a:p>
            <a:endParaRPr lang="en-US" dirty="0"/>
          </a:p>
        </p:txBody>
      </p:sp>
      <p:sp>
        <p:nvSpPr>
          <p:cNvPr id="3" name="Text Placeholder 2"/>
          <p:cNvSpPr>
            <a:spLocks noGrp="1"/>
          </p:cNvSpPr>
          <p:nvPr>
            <p:ph type="body" idx="1"/>
          </p:nvPr>
        </p:nvSpPr>
        <p:spPr>
          <a:xfrm>
            <a:off x="1141412" y="2249487"/>
            <a:ext cx="9905999" cy="3541714"/>
          </a:xfrm>
          <a:prstGeom prst="rect">
            <a:avLst/>
          </a:prstGeom>
        </p:spPr>
        <p:txBody>
          <a:bodyPr vert="horz" lIns="91440" tIns="45720" rIns="91440" bIns="45720" rtlCol="0">
            <a:normAutofit/>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2"/>
          </p:nvPr>
        </p:nvSpPr>
        <p:spPr>
          <a:xfrm>
            <a:off x="7456921" y="5883276"/>
            <a:ext cx="2743200" cy="365125"/>
          </a:xfrm>
          <a:prstGeom prst="rect">
            <a:avLst/>
          </a:prstGeom>
        </p:spPr>
        <p:txBody>
          <a:bodyPr vert="horz" lIns="91440" tIns="45720" rIns="91440" bIns="45720" rtlCol="0" anchor="ctr"/>
          <a:lstStyle>
            <a:lvl1pPr algn="r">
              <a:defRPr sz="1050">
                <a:solidFill>
                  <a:schemeClr val="tx1">
                    <a:tint val="75000"/>
                  </a:schemeClr>
                </a:solidFill>
              </a:defRPr>
            </a:lvl1pPr>
          </a:lstStyle>
          <a:p>
            <a:fld id="{48A87A34-81AB-432B-8DAE-1953F412C126}" type="datetimeFigureOut">
              <a:rPr lang="en-US" dirty="0"/>
              <a:pPr/>
              <a:t>1/21/2024</a:t>
            </a:fld>
            <a:endParaRPr lang="en-US" dirty="0"/>
          </a:p>
        </p:txBody>
      </p:sp>
      <p:sp>
        <p:nvSpPr>
          <p:cNvPr id="5" name="Footer Placeholder 4"/>
          <p:cNvSpPr>
            <a:spLocks noGrp="1"/>
          </p:cNvSpPr>
          <p:nvPr>
            <p:ph type="ftr" sz="quarter" idx="3"/>
          </p:nvPr>
        </p:nvSpPr>
        <p:spPr>
          <a:xfrm>
            <a:off x="1141411" y="5883275"/>
            <a:ext cx="6239309" cy="365125"/>
          </a:xfrm>
          <a:prstGeom prst="rect">
            <a:avLst/>
          </a:prstGeom>
        </p:spPr>
        <p:txBody>
          <a:bodyPr vert="horz" lIns="91440" tIns="45720" rIns="91440" bIns="45720" rtlCol="0" anchor="ctr"/>
          <a:lstStyle>
            <a:lvl1pPr algn="l">
              <a:defRPr sz="1050" cap="all" baseline="0">
                <a:solidFill>
                  <a:schemeClr val="tx1">
                    <a:tint val="75000"/>
                  </a:schemeClr>
                </a:solidFill>
              </a:defRPr>
            </a:lvl1pPr>
          </a:lstStyle>
          <a:p>
            <a:endParaRPr lang="en-US" dirty="0"/>
          </a:p>
        </p:txBody>
      </p:sp>
      <p:sp>
        <p:nvSpPr>
          <p:cNvPr id="6" name="Slide Number Placeholder 5"/>
          <p:cNvSpPr>
            <a:spLocks noGrp="1"/>
          </p:cNvSpPr>
          <p:nvPr>
            <p:ph type="sldNum" sz="quarter" idx="4"/>
          </p:nvPr>
        </p:nvSpPr>
        <p:spPr>
          <a:xfrm>
            <a:off x="10276321" y="5883274"/>
            <a:ext cx="771089" cy="365125"/>
          </a:xfrm>
          <a:prstGeom prst="rect">
            <a:avLst/>
          </a:prstGeom>
        </p:spPr>
        <p:txBody>
          <a:bodyPr vert="horz" lIns="91440" tIns="45720" rIns="91440" bIns="45720" rtlCol="0" anchor="ctr"/>
          <a:lstStyle>
            <a:lvl1pPr algn="r">
              <a:defRPr sz="1050">
                <a:solidFill>
                  <a:schemeClr val="tx1">
                    <a:tint val="75000"/>
                  </a:schemeClr>
                </a:solidFill>
              </a:defRPr>
            </a:lvl1pPr>
          </a:lstStyle>
          <a:p>
            <a:fld id="{6D22F896-40B5-4ADD-8801-0D06FADFA095}" type="slidenum">
              <a:rPr lang="en-US" dirty="0"/>
              <a:pPr/>
              <a:t>‹#›</a:t>
            </a:fld>
            <a:endParaRPr lang="en-US" dirty="0"/>
          </a:p>
        </p:txBody>
      </p:sp>
    </p:spTree>
  </p:cSld>
  <p:clrMap bg1="dk1" tx1="lt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60" r:id="rId10"/>
    <p:sldLayoutId id="2147483661" r:id="rId11"/>
    <p:sldLayoutId id="2147483666" r:id="rId12"/>
    <p:sldLayoutId id="2147483663" r:id="rId13"/>
    <p:sldLayoutId id="2147483667" r:id="rId14"/>
    <p:sldLayoutId id="2147483668" r:id="rId15"/>
    <p:sldLayoutId id="2147483658" r:id="rId16"/>
    <p:sldLayoutId id="2147483659" r:id="rId17"/>
  </p:sldLayoutIdLst>
  <p:txStyles>
    <p:titleStyle>
      <a:lvl1pPr algn="l" defTabSz="914400" rtl="0" eaLnBrk="1" latinLnBrk="0" hangingPunct="1">
        <a:lnSpc>
          <a:spcPct val="90000"/>
        </a:lnSpc>
        <a:spcBef>
          <a:spcPct val="0"/>
        </a:spcBef>
        <a:buNone/>
        <a:defRPr sz="3600" kern="1200" cap="all" baseline="0">
          <a:solidFill>
            <a:schemeClr val="tx1"/>
          </a:solidFill>
          <a:latin typeface="+mj-lt"/>
          <a:ea typeface="+mj-ea"/>
          <a:cs typeface="+mj-cs"/>
        </a:defRPr>
      </a:lvl1pPr>
    </p:titleStyle>
    <p:bodyStyle>
      <a:lvl1pPr marL="228600" indent="-228600" algn="l" defTabSz="914400" rtl="0" eaLnBrk="1" latinLnBrk="0" hangingPunct="1">
        <a:lnSpc>
          <a:spcPct val="120000"/>
        </a:lnSpc>
        <a:spcBef>
          <a:spcPts val="1000"/>
        </a:spcBef>
        <a:buSzPct val="125000"/>
        <a:buFont typeface="Arial" panose="020B0604020202020204" pitchFamily="34" charset="0"/>
        <a:buChar char="•"/>
        <a:defRPr sz="2400" kern="1200">
          <a:solidFill>
            <a:schemeClr val="tx1"/>
          </a:solidFill>
          <a:latin typeface="+mn-lt"/>
          <a:ea typeface="+mn-ea"/>
          <a:cs typeface="+mn-cs"/>
        </a:defRPr>
      </a:lvl1pPr>
      <a:lvl2pPr marL="685800" indent="-228600" algn="l" defTabSz="914400" rtl="0" eaLnBrk="1" latinLnBrk="0" hangingPunct="1">
        <a:lnSpc>
          <a:spcPct val="120000"/>
        </a:lnSpc>
        <a:spcBef>
          <a:spcPts val="500"/>
        </a:spcBef>
        <a:buSzPct val="125000"/>
        <a:buFont typeface="Arial" panose="020B0604020202020204" pitchFamily="34" charset="0"/>
        <a:buChar char="•"/>
        <a:defRPr sz="2000" kern="1200">
          <a:solidFill>
            <a:schemeClr val="tx1"/>
          </a:solidFill>
          <a:latin typeface="+mn-lt"/>
          <a:ea typeface="+mn-ea"/>
          <a:cs typeface="+mn-cs"/>
        </a:defRPr>
      </a:lvl2pPr>
      <a:lvl3pPr marL="1143000" indent="-228600" algn="l" defTabSz="914400" rtl="0" eaLnBrk="1" latinLnBrk="0" hangingPunct="1">
        <a:lnSpc>
          <a:spcPct val="120000"/>
        </a:lnSpc>
        <a:spcBef>
          <a:spcPts val="500"/>
        </a:spcBef>
        <a:buSzPct val="125000"/>
        <a:buFont typeface="Arial" panose="020B0604020202020204" pitchFamily="34" charset="0"/>
        <a:buChar char="•"/>
        <a:defRPr sz="1800" kern="1200">
          <a:solidFill>
            <a:schemeClr val="tx1"/>
          </a:solidFill>
          <a:latin typeface="+mn-lt"/>
          <a:ea typeface="+mn-ea"/>
          <a:cs typeface="+mn-cs"/>
        </a:defRPr>
      </a:lvl3pPr>
      <a:lvl4pPr marL="16002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4pPr>
      <a:lvl5pPr marL="20574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6pPr>
      <a:lvl7pPr marL="29718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7pPr>
      <a:lvl8pPr marL="34290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8pPr>
      <a:lvl9pPr marL="38862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3.jfif"/><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5.jp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6.jfif"/><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7.jfif"/><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8.jp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9.jfif"/><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10.jfif"/><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11.jfif"/><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12.jfif"/><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13.jfif"/><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14.jp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15.jfif"/><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17.jfif"/><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image" Target="../media/image3.jfif"/><Relationship Id="rId2" Type="http://schemas.openxmlformats.org/officeDocument/2006/relationships/image" Target="../media/image7.jfif"/><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media/image8.jp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image" Target="../media/image5.jp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image" Target="../media/image18.jfif"/><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image" Target="../media/image14.jpg"/><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780630" y="695642"/>
            <a:ext cx="8791575" cy="2387600"/>
          </a:xfrm>
        </p:spPr>
        <p:txBody>
          <a:bodyPr>
            <a:noAutofit/>
          </a:bodyPr>
          <a:lstStyle/>
          <a:p>
            <a:pPr algn="ctr" rtl="1"/>
            <a:r>
              <a:rPr lang="fa-IR" sz="6600" dirty="0" smtClean="0">
                <a:solidFill>
                  <a:schemeClr val="accent5"/>
                </a:solidFill>
              </a:rPr>
              <a:t>به نام خدا </a:t>
            </a:r>
            <a:br>
              <a:rPr lang="fa-IR" sz="6600" dirty="0" smtClean="0">
                <a:solidFill>
                  <a:schemeClr val="accent5"/>
                </a:solidFill>
              </a:rPr>
            </a:br>
            <a:r>
              <a:rPr lang="fa-IR" sz="6600" dirty="0">
                <a:solidFill>
                  <a:schemeClr val="accent5"/>
                </a:solidFill>
              </a:rPr>
              <a:t/>
            </a:r>
            <a:br>
              <a:rPr lang="fa-IR" sz="6600" dirty="0">
                <a:solidFill>
                  <a:schemeClr val="accent5"/>
                </a:solidFill>
              </a:rPr>
            </a:br>
            <a:endParaRPr lang="en-US" sz="6600" dirty="0">
              <a:solidFill>
                <a:schemeClr val="accent5"/>
              </a:solidFill>
            </a:endParaRPr>
          </a:p>
        </p:txBody>
      </p:sp>
      <p:sp>
        <p:nvSpPr>
          <p:cNvPr id="3" name="Subtitle 2"/>
          <p:cNvSpPr>
            <a:spLocks noGrp="1"/>
          </p:cNvSpPr>
          <p:nvPr>
            <p:ph type="subTitle" idx="1"/>
          </p:nvPr>
        </p:nvSpPr>
        <p:spPr>
          <a:xfrm>
            <a:off x="6725087" y="2441847"/>
            <a:ext cx="4685210" cy="3492455"/>
          </a:xfrm>
        </p:spPr>
        <p:txBody>
          <a:bodyPr>
            <a:normAutofit/>
          </a:bodyPr>
          <a:lstStyle/>
          <a:p>
            <a:pPr algn="r" rtl="1"/>
            <a:r>
              <a:rPr lang="fa-IR" sz="3100" dirty="0">
                <a:solidFill>
                  <a:schemeClr val="accent5"/>
                </a:solidFill>
              </a:rPr>
              <a:t>موضوع: قوانین پیش فروش </a:t>
            </a:r>
            <a:r>
              <a:rPr lang="fa-IR" sz="3100" dirty="0" smtClean="0">
                <a:solidFill>
                  <a:schemeClr val="accent5"/>
                </a:solidFill>
              </a:rPr>
              <a:t>مسکن</a:t>
            </a:r>
            <a:endParaRPr lang="fa-IR" sz="3100" dirty="0">
              <a:solidFill>
                <a:schemeClr val="accent5"/>
              </a:solidFill>
            </a:endParaRPr>
          </a:p>
          <a:p>
            <a:pPr algn="r" rtl="1"/>
            <a:endParaRPr lang="fa-IR" sz="2400" dirty="0" smtClean="0">
              <a:solidFill>
                <a:schemeClr val="accent5"/>
              </a:solidFill>
            </a:endParaRPr>
          </a:p>
          <a:p>
            <a:pPr algn="r" rtl="1"/>
            <a:endParaRPr lang="fa-IR" sz="2400" dirty="0">
              <a:solidFill>
                <a:schemeClr val="accent5"/>
              </a:solidFill>
            </a:endParaRPr>
          </a:p>
          <a:p>
            <a:pPr algn="r" rtl="1"/>
            <a:endParaRPr lang="fa-IR" sz="2400" dirty="0" smtClean="0">
              <a:solidFill>
                <a:schemeClr val="accent5"/>
              </a:solidFill>
            </a:endParaRPr>
          </a:p>
          <a:p>
            <a:pPr algn="r" rtl="1"/>
            <a:r>
              <a:rPr lang="fa-IR" sz="2400" dirty="0" smtClean="0">
                <a:solidFill>
                  <a:schemeClr val="accent5"/>
                </a:solidFill>
              </a:rPr>
              <a:t>استاد : دکتر نجفی </a:t>
            </a:r>
          </a:p>
          <a:p>
            <a:pPr algn="r" rtl="1"/>
            <a:r>
              <a:rPr lang="fa-IR" sz="2400" dirty="0" smtClean="0">
                <a:solidFill>
                  <a:schemeClr val="accent5"/>
                </a:solidFill>
              </a:rPr>
              <a:t>دانشجو: حمیدرضا صادقی </a:t>
            </a:r>
          </a:p>
          <a:p>
            <a:pPr algn="r" rtl="1"/>
            <a:endParaRPr lang="fa-IR" sz="2400" dirty="0">
              <a:solidFill>
                <a:schemeClr val="accent5"/>
              </a:solidFill>
            </a:endParaRPr>
          </a:p>
          <a:p>
            <a:pPr algn="r" rtl="1"/>
            <a:endParaRPr lang="fa-IR" sz="2400" dirty="0" smtClean="0">
              <a:solidFill>
                <a:schemeClr val="accent5"/>
              </a:solidFill>
            </a:endParaRPr>
          </a:p>
          <a:p>
            <a:pPr rtl="1"/>
            <a:endParaRPr lang="en-US" sz="2400" dirty="0"/>
          </a:p>
        </p:txBody>
      </p:sp>
      <p:pic>
        <p:nvPicPr>
          <p:cNvPr id="4" name="Picture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05555" y="2147570"/>
            <a:ext cx="6091039" cy="3786732"/>
          </a:xfrm>
          <a:prstGeom prst="rect">
            <a:avLst/>
          </a:prstGeom>
        </p:spPr>
      </p:pic>
    </p:spTree>
    <p:extLst>
      <p:ext uri="{BB962C8B-B14F-4D97-AF65-F5344CB8AC3E}">
        <p14:creationId xmlns:p14="http://schemas.microsoft.com/office/powerpoint/2010/main" val="170748659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Content Placeholder 3"/>
          <p:cNvPicPr>
            <a:picLocks noGrp="1" noChangeAspect="1"/>
          </p:cNvPicPr>
          <p:nvPr>
            <p:ph idx="1"/>
          </p:nvPr>
        </p:nvPicPr>
        <p:blipFill>
          <a:blip r:embed="rId2"/>
          <a:stretch>
            <a:fillRect/>
          </a:stretch>
        </p:blipFill>
        <p:spPr>
          <a:xfrm>
            <a:off x="836901" y="592183"/>
            <a:ext cx="10009658" cy="5737680"/>
          </a:xfrm>
          <a:prstGeom prst="rect">
            <a:avLst/>
          </a:prstGeom>
        </p:spPr>
      </p:pic>
    </p:spTree>
    <p:extLst>
      <p:ext uri="{BB962C8B-B14F-4D97-AF65-F5344CB8AC3E}">
        <p14:creationId xmlns:p14="http://schemas.microsoft.com/office/powerpoint/2010/main" val="150468863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143001" y="0"/>
            <a:ext cx="9905998" cy="1478570"/>
          </a:xfrm>
        </p:spPr>
        <p:txBody>
          <a:bodyPr/>
          <a:lstStyle/>
          <a:p>
            <a:pPr algn="ctr" rtl="1"/>
            <a:r>
              <a:rPr lang="fa-IR" dirty="0" smtClean="0"/>
              <a:t>قانون پیش فروش </a:t>
            </a:r>
            <a:r>
              <a:rPr lang="fa-IR" dirty="0"/>
              <a:t>ساختمان</a:t>
            </a:r>
            <a:endParaRPr lang="en-US" dirty="0"/>
          </a:p>
        </p:txBody>
      </p:sp>
      <p:sp>
        <p:nvSpPr>
          <p:cNvPr id="3" name="Content Placeholder 2"/>
          <p:cNvSpPr>
            <a:spLocks noGrp="1"/>
          </p:cNvSpPr>
          <p:nvPr>
            <p:ph idx="1"/>
          </p:nvPr>
        </p:nvSpPr>
        <p:spPr>
          <a:xfrm>
            <a:off x="1228498" y="1300252"/>
            <a:ext cx="9905999" cy="2723107"/>
          </a:xfrm>
        </p:spPr>
        <p:txBody>
          <a:bodyPr>
            <a:normAutofit/>
          </a:bodyPr>
          <a:lstStyle/>
          <a:p>
            <a:pPr algn="r" rtl="1"/>
            <a:r>
              <a:rPr lang="fa-IR" dirty="0">
                <a:solidFill>
                  <a:schemeClr val="accent5"/>
                </a:solidFill>
              </a:rPr>
              <a:t>ماده1ـ هر قراردادی با هر عنوان که به موجب آن، مالک رسمی زمین </a:t>
            </a:r>
            <a:r>
              <a:rPr lang="fa-IR" dirty="0" smtClean="0">
                <a:solidFill>
                  <a:schemeClr val="accent5"/>
                </a:solidFill>
              </a:rPr>
              <a:t>(پیش فروشنده) </a:t>
            </a:r>
            <a:r>
              <a:rPr lang="fa-IR" dirty="0">
                <a:solidFill>
                  <a:schemeClr val="accent5"/>
                </a:solidFill>
              </a:rPr>
              <a:t>متعهد به احداث یا تکمیل واحد ساختمانی مشخص در آن زمین شود و واحد ساختمانی مذکور با هر نوع کاربری از ابتدا یا در حین احداث و تکمیل یا پس از اتمام عملیات ساختمانی به مالکیت طرف دیگر قرارداد </a:t>
            </a:r>
            <a:r>
              <a:rPr lang="fa-IR" dirty="0" smtClean="0">
                <a:solidFill>
                  <a:schemeClr val="accent5"/>
                </a:solidFill>
              </a:rPr>
              <a:t>(پیش خریدار) درآید </a:t>
            </a:r>
            <a:r>
              <a:rPr lang="fa-IR" dirty="0">
                <a:solidFill>
                  <a:schemeClr val="accent5"/>
                </a:solidFill>
              </a:rPr>
              <a:t>از نظر مقررات این قانون </a:t>
            </a:r>
            <a:r>
              <a:rPr lang="fa-IR" dirty="0" smtClean="0">
                <a:solidFill>
                  <a:schemeClr val="accent5"/>
                </a:solidFill>
              </a:rPr>
              <a:t>قرارداد پیش فروش ساختمان محسوب میشود.</a:t>
            </a:r>
          </a:p>
          <a:p>
            <a:pPr algn="r" rtl="1"/>
            <a:endParaRPr lang="fa-IR" dirty="0"/>
          </a:p>
        </p:txBody>
      </p:sp>
      <p:pic>
        <p:nvPicPr>
          <p:cNvPr id="4" name="Picture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340576" y="3429000"/>
            <a:ext cx="5643698" cy="3144716"/>
          </a:xfrm>
          <a:prstGeom prst="rect">
            <a:avLst/>
          </a:prstGeom>
        </p:spPr>
      </p:pic>
    </p:spTree>
    <p:extLst>
      <p:ext uri="{BB962C8B-B14F-4D97-AF65-F5344CB8AC3E}">
        <p14:creationId xmlns:p14="http://schemas.microsoft.com/office/powerpoint/2010/main" val="48203636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715103" y="324394"/>
            <a:ext cx="7476897" cy="6209211"/>
          </a:xfrm>
        </p:spPr>
        <p:txBody>
          <a:bodyPr>
            <a:normAutofit/>
          </a:bodyPr>
          <a:lstStyle/>
          <a:p>
            <a:pPr algn="r" rtl="1"/>
            <a:r>
              <a:rPr lang="fa-IR" sz="2000" dirty="0"/>
              <a:t>تبصره ـ اشخاص ذیل نیز میتوانند در چهارچوب این قانون و قراردادی که به موجب آن زمینی در اختیارشان قرار میگیرد اقدام به پیشفروش ساختمان نمایند</a:t>
            </a:r>
            <a:r>
              <a:rPr lang="fa-IR" sz="2000" dirty="0" smtClean="0"/>
              <a:t>:</a:t>
            </a:r>
          </a:p>
          <a:p>
            <a:pPr algn="r" rtl="1"/>
            <a:r>
              <a:rPr lang="fa-IR" sz="2000" dirty="0"/>
              <a:t>1ـ </a:t>
            </a:r>
            <a:r>
              <a:rPr lang="fa-IR" sz="2000" dirty="0" smtClean="0"/>
              <a:t>سرمایه گذارانی </a:t>
            </a:r>
            <a:r>
              <a:rPr lang="fa-IR" sz="2000" dirty="0"/>
              <a:t>که در ازاء </a:t>
            </a:r>
            <a:r>
              <a:rPr lang="fa-IR" sz="2000" dirty="0" smtClean="0"/>
              <a:t>سرمایه گذاری </a:t>
            </a:r>
            <a:r>
              <a:rPr lang="fa-IR" sz="2000" dirty="0"/>
              <a:t>از طریق احداث بناء بر روی زمین متعلق به دیگری، واحدهای ساختمانی مشخصی از بناء احداثی بر روی آن زمین، ضمن عقد و </a:t>
            </a:r>
            <a:r>
              <a:rPr lang="fa-IR" sz="2000" dirty="0" smtClean="0"/>
              <a:t>به موجب </a:t>
            </a:r>
            <a:r>
              <a:rPr lang="fa-IR" sz="2000" dirty="0"/>
              <a:t>سند رسمی به آنان اختصاص </a:t>
            </a:r>
            <a:r>
              <a:rPr lang="fa-IR" sz="2000" dirty="0" smtClean="0"/>
              <a:t>می یابد.</a:t>
            </a:r>
          </a:p>
          <a:p>
            <a:pPr algn="r" rtl="1"/>
            <a:r>
              <a:rPr lang="fa-IR" sz="1800" dirty="0"/>
              <a:t>2ـ مستأجرین اراضی اعم از ملکی، دولتی، موقوفه که </a:t>
            </a:r>
            <a:r>
              <a:rPr lang="fa-IR" sz="1800" dirty="0" smtClean="0"/>
              <a:t>به موجب </a:t>
            </a:r>
            <a:r>
              <a:rPr lang="fa-IR" sz="1800" dirty="0"/>
              <a:t>سند رسمی حق احداث بنا بر روی عین مستأجره را دارند</a:t>
            </a:r>
            <a:r>
              <a:rPr lang="fa-IR" sz="1800" dirty="0" smtClean="0"/>
              <a:t>.</a:t>
            </a:r>
          </a:p>
          <a:p>
            <a:pPr algn="r" rtl="1"/>
            <a:endParaRPr lang="fa-IR" sz="1800" dirty="0"/>
          </a:p>
          <a:p>
            <a:pPr algn="r" rtl="1"/>
            <a:r>
              <a:rPr lang="fa-IR" dirty="0">
                <a:solidFill>
                  <a:schemeClr val="accent5"/>
                </a:solidFill>
              </a:rPr>
              <a:t>ماده2ـ در قرارداد </a:t>
            </a:r>
            <a:r>
              <a:rPr lang="fa-IR" dirty="0" smtClean="0">
                <a:solidFill>
                  <a:schemeClr val="accent5"/>
                </a:solidFill>
              </a:rPr>
              <a:t>پیش فروش </a:t>
            </a:r>
            <a:r>
              <a:rPr lang="fa-IR" dirty="0">
                <a:solidFill>
                  <a:schemeClr val="accent5"/>
                </a:solidFill>
              </a:rPr>
              <a:t>باید حداقل به موارد زیر تصریح شود</a:t>
            </a:r>
            <a:r>
              <a:rPr lang="fa-IR" dirty="0" smtClean="0">
                <a:solidFill>
                  <a:schemeClr val="accent5"/>
                </a:solidFill>
              </a:rPr>
              <a:t>:</a:t>
            </a:r>
          </a:p>
          <a:p>
            <a:pPr algn="r" rtl="1"/>
            <a:r>
              <a:rPr lang="fa-IR" sz="1800" dirty="0">
                <a:solidFill>
                  <a:schemeClr val="accent5"/>
                </a:solidFill>
              </a:rPr>
              <a:t>1ـ اسم و مشخصات طرفین قرارداد </a:t>
            </a:r>
            <a:endParaRPr lang="fa-IR" sz="1800" dirty="0" smtClean="0">
              <a:solidFill>
                <a:schemeClr val="accent5"/>
              </a:solidFill>
            </a:endParaRPr>
          </a:p>
          <a:p>
            <a:pPr algn="r" rtl="1"/>
            <a:r>
              <a:rPr lang="fa-IR" sz="1800" dirty="0" smtClean="0">
                <a:solidFill>
                  <a:schemeClr val="accent5"/>
                </a:solidFill>
              </a:rPr>
              <a:t>2ـ پلا ک </a:t>
            </a:r>
            <a:r>
              <a:rPr lang="fa-IR" sz="1800" dirty="0">
                <a:solidFill>
                  <a:schemeClr val="accent5"/>
                </a:solidFill>
              </a:rPr>
              <a:t>و مشخصات ثبتی و نشانی وقوع </a:t>
            </a:r>
            <a:r>
              <a:rPr lang="fa-IR" sz="1800" dirty="0" smtClean="0">
                <a:solidFill>
                  <a:schemeClr val="accent5"/>
                </a:solidFill>
              </a:rPr>
              <a:t>ملک</a:t>
            </a:r>
          </a:p>
          <a:p>
            <a:pPr algn="r" rtl="1"/>
            <a:r>
              <a:rPr lang="fa-IR" sz="1800" dirty="0">
                <a:solidFill>
                  <a:schemeClr val="accent5"/>
                </a:solidFill>
              </a:rPr>
              <a:t>3ـ اوصاف و امکانات واحد ساختمانی مورد معامله مانند مساحت اعیانی، تعداد اتاقها، </a:t>
            </a:r>
            <a:r>
              <a:rPr lang="fa-IR" sz="1800" dirty="0" smtClean="0">
                <a:solidFill>
                  <a:schemeClr val="accent5"/>
                </a:solidFill>
              </a:rPr>
              <a:t>و...</a:t>
            </a:r>
          </a:p>
          <a:p>
            <a:pPr algn="r" rtl="1"/>
            <a:r>
              <a:rPr lang="fa-IR" sz="1800" dirty="0" smtClean="0">
                <a:solidFill>
                  <a:schemeClr val="accent5"/>
                </a:solidFill>
              </a:rPr>
              <a:t>4ـ </a:t>
            </a:r>
            <a:r>
              <a:rPr lang="fa-IR" sz="1800" dirty="0">
                <a:solidFill>
                  <a:schemeClr val="accent5"/>
                </a:solidFill>
              </a:rPr>
              <a:t>مشخصات فنی و معماری ساختمانی که واحد در آن احداث میشود مانند موقعیت، کاربری و مساحت </a:t>
            </a:r>
            <a:r>
              <a:rPr lang="fa-IR" sz="1800" dirty="0" smtClean="0">
                <a:solidFill>
                  <a:schemeClr val="accent5"/>
                </a:solidFill>
              </a:rPr>
              <a:t>کل</a:t>
            </a:r>
            <a:endParaRPr lang="fa-IR" sz="1800" dirty="0"/>
          </a:p>
          <a:p>
            <a:pPr algn="r" rtl="1"/>
            <a:endParaRPr lang="fa-IR" sz="1800" dirty="0"/>
          </a:p>
          <a:p>
            <a:pPr algn="r" rtl="1"/>
            <a:endParaRPr lang="en-US" sz="2000" dirty="0"/>
          </a:p>
          <a:p>
            <a:pPr algn="r" rtl="1"/>
            <a:endParaRPr lang="en-US" sz="2000" dirty="0"/>
          </a:p>
        </p:txBody>
      </p:sp>
      <p:pic>
        <p:nvPicPr>
          <p:cNvPr id="2" name="Picture 1"/>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39932" y="450830"/>
            <a:ext cx="3509554" cy="5640815"/>
          </a:xfrm>
          <a:prstGeom prst="rect">
            <a:avLst/>
          </a:prstGeom>
        </p:spPr>
      </p:pic>
    </p:spTree>
    <p:extLst>
      <p:ext uri="{BB962C8B-B14F-4D97-AF65-F5344CB8AC3E}">
        <p14:creationId xmlns:p14="http://schemas.microsoft.com/office/powerpoint/2010/main" val="157905975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235720" y="409304"/>
            <a:ext cx="6609217" cy="5521235"/>
          </a:xfrm>
        </p:spPr>
        <p:txBody>
          <a:bodyPr>
            <a:normAutofit fontScale="92500" lnSpcReduction="10000"/>
          </a:bodyPr>
          <a:lstStyle/>
          <a:p>
            <a:pPr algn="r" rtl="1"/>
            <a:r>
              <a:rPr lang="fa-IR" sz="1800" dirty="0">
                <a:solidFill>
                  <a:schemeClr val="accent5"/>
                </a:solidFill>
              </a:rPr>
              <a:t>5 ـ بها یا عوض در قراردادهای معوض، تعداد اقساط و نحوه </a:t>
            </a:r>
            <a:r>
              <a:rPr lang="fa-IR" sz="1800" dirty="0" smtClean="0">
                <a:solidFill>
                  <a:schemeClr val="accent5"/>
                </a:solidFill>
              </a:rPr>
              <a:t>پرداخت.</a:t>
            </a:r>
          </a:p>
          <a:p>
            <a:pPr algn="r" rtl="1"/>
            <a:r>
              <a:rPr lang="fa-IR" sz="1800" dirty="0">
                <a:solidFill>
                  <a:schemeClr val="accent5"/>
                </a:solidFill>
              </a:rPr>
              <a:t>6 ـ شماره قبوض اقساطی برای بها، تحویل و انتقال </a:t>
            </a:r>
            <a:r>
              <a:rPr lang="fa-IR" sz="1800" dirty="0" smtClean="0">
                <a:solidFill>
                  <a:schemeClr val="accent5"/>
                </a:solidFill>
              </a:rPr>
              <a:t>قطعی</a:t>
            </a:r>
          </a:p>
          <a:p>
            <a:pPr algn="r" rtl="1"/>
            <a:r>
              <a:rPr lang="fa-IR" sz="1800" dirty="0">
                <a:solidFill>
                  <a:schemeClr val="accent5"/>
                </a:solidFill>
              </a:rPr>
              <a:t>7ـ زمان تحویل واحد ساختمانی </a:t>
            </a:r>
            <a:r>
              <a:rPr lang="fa-IR" sz="1800" dirty="0" smtClean="0">
                <a:solidFill>
                  <a:schemeClr val="accent5"/>
                </a:solidFill>
              </a:rPr>
              <a:t>پیش فروش شده </a:t>
            </a:r>
            <a:r>
              <a:rPr lang="fa-IR" sz="1800" dirty="0">
                <a:solidFill>
                  <a:schemeClr val="accent5"/>
                </a:solidFill>
              </a:rPr>
              <a:t>و تنظیم سند رسمی انتقال </a:t>
            </a:r>
            <a:r>
              <a:rPr lang="fa-IR" sz="1800" dirty="0" smtClean="0">
                <a:solidFill>
                  <a:schemeClr val="accent5"/>
                </a:solidFill>
              </a:rPr>
              <a:t>قطعی</a:t>
            </a:r>
          </a:p>
          <a:p>
            <a:pPr algn="r" rtl="1"/>
            <a:r>
              <a:rPr lang="fa-IR" sz="1800" dirty="0">
                <a:solidFill>
                  <a:schemeClr val="accent5"/>
                </a:solidFill>
              </a:rPr>
              <a:t>8 ـ تعیین تکلیف راجع به خسارات، </a:t>
            </a:r>
            <a:r>
              <a:rPr lang="fa-IR" sz="1800" dirty="0" smtClean="0">
                <a:solidFill>
                  <a:schemeClr val="accent5"/>
                </a:solidFill>
              </a:rPr>
              <a:t>تضمین ها </a:t>
            </a:r>
            <a:r>
              <a:rPr lang="fa-IR" sz="1800" dirty="0">
                <a:solidFill>
                  <a:schemeClr val="accent5"/>
                </a:solidFill>
              </a:rPr>
              <a:t>و قرارداد </a:t>
            </a:r>
            <a:r>
              <a:rPr lang="fa-IR" sz="1800" dirty="0" smtClean="0">
                <a:solidFill>
                  <a:schemeClr val="accent5"/>
                </a:solidFill>
              </a:rPr>
              <a:t>بیمه ای</a:t>
            </a:r>
            <a:r>
              <a:rPr lang="fa-IR" sz="1800" dirty="0">
                <a:solidFill>
                  <a:schemeClr val="accent5"/>
                </a:solidFill>
              </a:rPr>
              <a:t>، تغییر </a:t>
            </a:r>
            <a:r>
              <a:rPr lang="fa-IR" sz="1800" dirty="0" smtClean="0">
                <a:solidFill>
                  <a:schemeClr val="accent5"/>
                </a:solidFill>
              </a:rPr>
              <a:t>قیمت </a:t>
            </a:r>
            <a:r>
              <a:rPr lang="fa-IR" sz="1800" dirty="0">
                <a:solidFill>
                  <a:schemeClr val="accent5"/>
                </a:solidFill>
              </a:rPr>
              <a:t>و تغییر مشخصات مورد </a:t>
            </a:r>
            <a:r>
              <a:rPr lang="fa-IR" sz="1800" dirty="0" smtClean="0">
                <a:solidFill>
                  <a:schemeClr val="accent5"/>
                </a:solidFill>
              </a:rPr>
              <a:t>معامله</a:t>
            </a:r>
          </a:p>
          <a:p>
            <a:pPr algn="r" rtl="1"/>
            <a:r>
              <a:rPr lang="fa-IR" sz="1800" dirty="0">
                <a:solidFill>
                  <a:schemeClr val="accent5"/>
                </a:solidFill>
              </a:rPr>
              <a:t>9ـ تعهدات </a:t>
            </a:r>
            <a:r>
              <a:rPr lang="fa-IR" sz="1800" dirty="0" smtClean="0">
                <a:solidFill>
                  <a:schemeClr val="accent5"/>
                </a:solidFill>
              </a:rPr>
              <a:t>پیش فروشنده </a:t>
            </a:r>
            <a:r>
              <a:rPr lang="fa-IR" sz="1800" dirty="0">
                <a:solidFill>
                  <a:schemeClr val="accent5"/>
                </a:solidFill>
              </a:rPr>
              <a:t>به مرجع صادرکننده پروانه و سایر مراجع </a:t>
            </a:r>
            <a:r>
              <a:rPr lang="fa-IR" sz="1800" dirty="0" smtClean="0">
                <a:solidFill>
                  <a:schemeClr val="accent5"/>
                </a:solidFill>
              </a:rPr>
              <a:t>قانونی</a:t>
            </a:r>
          </a:p>
          <a:p>
            <a:pPr algn="r" rtl="1"/>
            <a:r>
              <a:rPr lang="fa-IR" sz="1800" dirty="0">
                <a:solidFill>
                  <a:schemeClr val="accent5"/>
                </a:solidFill>
              </a:rPr>
              <a:t>10ـ معرفی </a:t>
            </a:r>
            <a:r>
              <a:rPr lang="fa-IR" sz="1800" dirty="0" smtClean="0">
                <a:solidFill>
                  <a:schemeClr val="accent5"/>
                </a:solidFill>
              </a:rPr>
              <a:t>داوران</a:t>
            </a:r>
          </a:p>
          <a:p>
            <a:pPr algn="r" rtl="1"/>
            <a:r>
              <a:rPr lang="fa-IR" sz="1800" dirty="0" smtClean="0">
                <a:solidFill>
                  <a:schemeClr val="accent5"/>
                </a:solidFill>
              </a:rPr>
              <a:t>11ـ </a:t>
            </a:r>
            <a:r>
              <a:rPr lang="fa-IR" sz="1800" dirty="0">
                <a:solidFill>
                  <a:schemeClr val="accent5"/>
                </a:solidFill>
              </a:rPr>
              <a:t>احکام مذکور در مواد </a:t>
            </a:r>
            <a:r>
              <a:rPr lang="fa-IR" sz="1800" dirty="0" smtClean="0">
                <a:solidFill>
                  <a:schemeClr val="accent5"/>
                </a:solidFill>
              </a:rPr>
              <a:t>(6) (7) </a:t>
            </a:r>
            <a:r>
              <a:rPr lang="fa-IR" sz="1800" dirty="0">
                <a:solidFill>
                  <a:schemeClr val="accent5"/>
                </a:solidFill>
              </a:rPr>
              <a:t>و </a:t>
            </a:r>
            <a:r>
              <a:rPr lang="fa-IR" sz="1800" dirty="0" smtClean="0">
                <a:solidFill>
                  <a:schemeClr val="accent5"/>
                </a:solidFill>
              </a:rPr>
              <a:t>(8)و </a:t>
            </a:r>
            <a:r>
              <a:rPr lang="fa-IR" sz="1800" dirty="0">
                <a:solidFill>
                  <a:schemeClr val="accent5"/>
                </a:solidFill>
              </a:rPr>
              <a:t>تبصره آن، </a:t>
            </a:r>
            <a:r>
              <a:rPr lang="fa-IR" sz="1800" dirty="0" smtClean="0">
                <a:solidFill>
                  <a:schemeClr val="accent5"/>
                </a:solidFill>
              </a:rPr>
              <a:t>(9)، (11)، (12)، (14)، (16) </a:t>
            </a:r>
            <a:r>
              <a:rPr lang="fa-IR" sz="1800" dirty="0">
                <a:solidFill>
                  <a:schemeClr val="accent5"/>
                </a:solidFill>
              </a:rPr>
              <a:t>و </a:t>
            </a:r>
            <a:r>
              <a:rPr lang="fa-IR" sz="1800" dirty="0" smtClean="0">
                <a:solidFill>
                  <a:schemeClr val="accent5"/>
                </a:solidFill>
              </a:rPr>
              <a:t>(20) </a:t>
            </a:r>
            <a:r>
              <a:rPr lang="fa-IR" sz="1800" dirty="0">
                <a:solidFill>
                  <a:schemeClr val="accent5"/>
                </a:solidFill>
              </a:rPr>
              <a:t>این </a:t>
            </a:r>
            <a:r>
              <a:rPr lang="fa-IR" sz="1800" dirty="0" smtClean="0">
                <a:solidFill>
                  <a:schemeClr val="accent5"/>
                </a:solidFill>
              </a:rPr>
              <a:t>قانون</a:t>
            </a:r>
          </a:p>
          <a:p>
            <a:pPr algn="r" rtl="1"/>
            <a:endParaRPr lang="fa-IR" sz="1800" dirty="0"/>
          </a:p>
          <a:p>
            <a:pPr algn="r" rtl="1"/>
            <a:r>
              <a:rPr lang="fa-IR" dirty="0">
                <a:solidFill>
                  <a:schemeClr val="accent5"/>
                </a:solidFill>
              </a:rPr>
              <a:t>ماده3ـ قرارداد </a:t>
            </a:r>
            <a:r>
              <a:rPr lang="fa-IR" dirty="0" smtClean="0">
                <a:solidFill>
                  <a:schemeClr val="accent5"/>
                </a:solidFill>
              </a:rPr>
              <a:t>پیش فروش </a:t>
            </a:r>
            <a:r>
              <a:rPr lang="fa-IR" dirty="0">
                <a:solidFill>
                  <a:schemeClr val="accent5"/>
                </a:solidFill>
              </a:rPr>
              <a:t>و نیز قرارداد واگذاری حقوق و تعهدات ناشی از آن باید با رعایت ماده </a:t>
            </a:r>
            <a:r>
              <a:rPr lang="fa-IR" dirty="0" smtClean="0">
                <a:solidFill>
                  <a:schemeClr val="accent5"/>
                </a:solidFill>
              </a:rPr>
              <a:t>(2) </a:t>
            </a:r>
            <a:r>
              <a:rPr lang="fa-IR" dirty="0">
                <a:solidFill>
                  <a:schemeClr val="accent5"/>
                </a:solidFill>
              </a:rPr>
              <a:t>این قانون از طریق تنظیم سند رسمی نزد دفاتر اسناد رسمی و با درج در سند مالکیت و ارسال خالصه آن به اداره ثبت محل صورت گیرد.</a:t>
            </a:r>
          </a:p>
          <a:p>
            <a:pPr algn="r" rtl="1"/>
            <a:endParaRPr lang="en-US" sz="1800" dirty="0"/>
          </a:p>
        </p:txBody>
      </p:sp>
      <p:pic>
        <p:nvPicPr>
          <p:cNvPr id="2" name="Picture 1"/>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150553" y="409304"/>
            <a:ext cx="4536350" cy="5134880"/>
          </a:xfrm>
          <a:prstGeom prst="rect">
            <a:avLst/>
          </a:prstGeom>
        </p:spPr>
      </p:pic>
    </p:spTree>
    <p:extLst>
      <p:ext uri="{BB962C8B-B14F-4D97-AF65-F5344CB8AC3E}">
        <p14:creationId xmlns:p14="http://schemas.microsoft.com/office/powerpoint/2010/main" val="232602775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1141412" y="383177"/>
            <a:ext cx="9905999" cy="6148252"/>
          </a:xfrm>
        </p:spPr>
        <p:txBody>
          <a:bodyPr/>
          <a:lstStyle/>
          <a:p>
            <a:pPr algn="r" rtl="1"/>
            <a:r>
              <a:rPr lang="fa-IR" dirty="0">
                <a:solidFill>
                  <a:schemeClr val="accent5"/>
                </a:solidFill>
              </a:rPr>
              <a:t>ماده4ـ تنظیم قرارداد </a:t>
            </a:r>
            <a:r>
              <a:rPr lang="fa-IR" dirty="0" smtClean="0">
                <a:solidFill>
                  <a:schemeClr val="accent5"/>
                </a:solidFill>
              </a:rPr>
              <a:t>پیش فروش </a:t>
            </a:r>
            <a:r>
              <a:rPr lang="fa-IR" dirty="0">
                <a:solidFill>
                  <a:schemeClr val="accent5"/>
                </a:solidFill>
              </a:rPr>
              <a:t>منوط به ارائه مدارک زیر است</a:t>
            </a:r>
            <a:r>
              <a:rPr lang="fa-IR" dirty="0" smtClean="0">
                <a:solidFill>
                  <a:schemeClr val="accent5"/>
                </a:solidFill>
              </a:rPr>
              <a:t>:</a:t>
            </a:r>
          </a:p>
          <a:p>
            <a:pPr algn="r" rtl="1"/>
            <a:r>
              <a:rPr lang="fa-IR" sz="1800" dirty="0">
                <a:solidFill>
                  <a:schemeClr val="accent5"/>
                </a:solidFill>
              </a:rPr>
              <a:t>1ـ سند رسمی مالکیت یا سند رسمی اجاره با حق احداث بناء یا قرارداد رسمی حاکی از اینکه مورد معامله در ازاء </a:t>
            </a:r>
            <a:r>
              <a:rPr lang="fa-IR" sz="1800" dirty="0" smtClean="0">
                <a:solidFill>
                  <a:schemeClr val="accent5"/>
                </a:solidFill>
              </a:rPr>
              <a:t>سرمایه گذاری </a:t>
            </a:r>
            <a:r>
              <a:rPr lang="fa-IR" sz="1800" dirty="0">
                <a:solidFill>
                  <a:schemeClr val="accent5"/>
                </a:solidFill>
              </a:rPr>
              <a:t>با حق فروش از طریق احداث بناء بر روی عرصه به </a:t>
            </a:r>
            <a:r>
              <a:rPr lang="fa-IR" sz="1800" dirty="0" smtClean="0">
                <a:solidFill>
                  <a:schemeClr val="accent5"/>
                </a:solidFill>
              </a:rPr>
              <a:t>پیش فروشنده </a:t>
            </a:r>
            <a:r>
              <a:rPr lang="fa-IR" sz="1800" dirty="0">
                <a:solidFill>
                  <a:schemeClr val="accent5"/>
                </a:solidFill>
              </a:rPr>
              <a:t>اختصاص یافته است. </a:t>
            </a:r>
            <a:endParaRPr lang="fa-IR" sz="1800" dirty="0" smtClean="0">
              <a:solidFill>
                <a:schemeClr val="accent5"/>
              </a:solidFill>
            </a:endParaRPr>
          </a:p>
          <a:p>
            <a:pPr algn="r" rtl="1"/>
            <a:r>
              <a:rPr lang="fa-IR" sz="1800" dirty="0">
                <a:solidFill>
                  <a:schemeClr val="accent5"/>
                </a:solidFill>
              </a:rPr>
              <a:t>2ـ پروانه ساخت کل ساختمان و شناسنامه فنی مستقل برای هر </a:t>
            </a:r>
            <a:r>
              <a:rPr lang="fa-IR" sz="1800" dirty="0" smtClean="0">
                <a:solidFill>
                  <a:schemeClr val="accent5"/>
                </a:solidFill>
              </a:rPr>
              <a:t>واحد</a:t>
            </a:r>
          </a:p>
          <a:p>
            <a:pPr algn="r" rtl="1"/>
            <a:r>
              <a:rPr lang="fa-IR" sz="1800" dirty="0">
                <a:solidFill>
                  <a:schemeClr val="accent5"/>
                </a:solidFill>
              </a:rPr>
              <a:t>3ـ </a:t>
            </a:r>
            <a:r>
              <a:rPr lang="fa-IR" sz="1800" dirty="0" smtClean="0">
                <a:solidFill>
                  <a:schemeClr val="accent5"/>
                </a:solidFill>
              </a:rPr>
              <a:t>بیمه نامه </a:t>
            </a:r>
            <a:r>
              <a:rPr lang="fa-IR" sz="1800" dirty="0">
                <a:solidFill>
                  <a:schemeClr val="accent5"/>
                </a:solidFill>
              </a:rPr>
              <a:t>مربوط به مسؤولیت موضوع ماده </a:t>
            </a:r>
            <a:r>
              <a:rPr lang="fa-IR" sz="1800" dirty="0" smtClean="0">
                <a:solidFill>
                  <a:schemeClr val="accent5"/>
                </a:solidFill>
              </a:rPr>
              <a:t>(9) </a:t>
            </a:r>
            <a:r>
              <a:rPr lang="fa-IR" sz="1800" dirty="0">
                <a:solidFill>
                  <a:schemeClr val="accent5"/>
                </a:solidFill>
              </a:rPr>
              <a:t>این </a:t>
            </a:r>
            <a:r>
              <a:rPr lang="fa-IR" sz="1800" dirty="0" smtClean="0">
                <a:solidFill>
                  <a:schemeClr val="accent5"/>
                </a:solidFill>
              </a:rPr>
              <a:t>قانون</a:t>
            </a:r>
          </a:p>
          <a:p>
            <a:pPr algn="r" rtl="1"/>
            <a:r>
              <a:rPr lang="fa-IR" sz="1800" dirty="0">
                <a:solidFill>
                  <a:schemeClr val="accent5"/>
                </a:solidFill>
              </a:rPr>
              <a:t>4ـ تأییدیه مهندس ناظر ساختمان مبنی بر پایان عملیات پی </a:t>
            </a:r>
            <a:r>
              <a:rPr lang="fa-IR" sz="1800" dirty="0" smtClean="0">
                <a:solidFill>
                  <a:schemeClr val="accent5"/>
                </a:solidFill>
              </a:rPr>
              <a:t>ساختمان</a:t>
            </a:r>
          </a:p>
          <a:p>
            <a:pPr algn="r" rtl="1"/>
            <a:r>
              <a:rPr lang="fa-IR" sz="1800" dirty="0">
                <a:solidFill>
                  <a:schemeClr val="accent5"/>
                </a:solidFill>
              </a:rPr>
              <a:t>5 ـ پاسخ </a:t>
            </a:r>
            <a:r>
              <a:rPr lang="fa-IR" sz="1800" dirty="0" smtClean="0">
                <a:solidFill>
                  <a:schemeClr val="accent5"/>
                </a:solidFill>
              </a:rPr>
              <a:t>استعلام </a:t>
            </a:r>
            <a:r>
              <a:rPr lang="fa-IR" sz="1800" dirty="0">
                <a:solidFill>
                  <a:schemeClr val="accent5"/>
                </a:solidFill>
              </a:rPr>
              <a:t>از اداره ثبت اسناد و امالک محل وقوع </a:t>
            </a:r>
            <a:r>
              <a:rPr lang="fa-IR" sz="1800" dirty="0" smtClean="0">
                <a:solidFill>
                  <a:schemeClr val="accent5"/>
                </a:solidFill>
              </a:rPr>
              <a:t>ملک</a:t>
            </a:r>
          </a:p>
          <a:p>
            <a:pPr algn="r" rtl="1"/>
            <a:endParaRPr lang="fa-IR" sz="1800" dirty="0" smtClean="0"/>
          </a:p>
          <a:p>
            <a:pPr algn="r" rtl="1"/>
            <a:endParaRPr lang="fa-IR" sz="1800" dirty="0"/>
          </a:p>
          <a:p>
            <a:pPr algn="r" rtl="1"/>
            <a:endParaRPr lang="fa-IR" sz="1800" dirty="0"/>
          </a:p>
          <a:p>
            <a:pPr algn="r" rtl="1"/>
            <a:r>
              <a:rPr lang="fa-IR" sz="1800" dirty="0"/>
              <a:t>تبصره ـ در </a:t>
            </a:r>
            <a:r>
              <a:rPr lang="fa-IR" sz="1800" dirty="0" smtClean="0"/>
              <a:t>مجموعه های </a:t>
            </a:r>
            <a:r>
              <a:rPr lang="fa-IR" sz="1800" dirty="0"/>
              <a:t>احداثی که </a:t>
            </a:r>
            <a:r>
              <a:rPr lang="fa-IR" sz="1800" dirty="0" smtClean="0"/>
              <a:t>پیش فروشنده </a:t>
            </a:r>
            <a:r>
              <a:rPr lang="fa-IR" sz="1800" dirty="0"/>
              <a:t>تعهداتی در برابر مرجع صادرکننده پروانه از قبیل </a:t>
            </a:r>
            <a:r>
              <a:rPr lang="fa-IR" sz="1800" dirty="0" smtClean="0"/>
              <a:t>آماده سازی </a:t>
            </a:r>
            <a:r>
              <a:rPr lang="fa-IR" sz="1800" dirty="0"/>
              <a:t>و انجام فضاهای عمومی و خدماتی با پرداخت حقوق دولتی و عمومی و نظارت آن دارد، اجازه </a:t>
            </a:r>
            <a:r>
              <a:rPr lang="fa-IR" sz="1800" dirty="0" smtClean="0"/>
              <a:t>پیش فروش </a:t>
            </a:r>
            <a:r>
              <a:rPr lang="fa-IR" sz="1800" dirty="0"/>
              <a:t>واحدهای مذکور منوط به حداقل </a:t>
            </a:r>
            <a:r>
              <a:rPr lang="fa-IR" sz="1800" dirty="0" smtClean="0"/>
              <a:t>سی درصد (%30) </a:t>
            </a:r>
            <a:r>
              <a:rPr lang="fa-IR" sz="1800" dirty="0"/>
              <a:t>پیشرفت در انجام سرجمع تعهدات مربوط و تأیید آن توسط مرجع صادرکننده پروانه میباشد.</a:t>
            </a:r>
            <a:endParaRPr lang="en-US" sz="1800" dirty="0"/>
          </a:p>
        </p:txBody>
      </p:sp>
      <p:pic>
        <p:nvPicPr>
          <p:cNvPr id="2" name="Picture 1"/>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066799" y="1929765"/>
            <a:ext cx="4410892" cy="2998469"/>
          </a:xfrm>
          <a:prstGeom prst="rect">
            <a:avLst/>
          </a:prstGeom>
        </p:spPr>
      </p:pic>
    </p:spTree>
    <p:extLst>
      <p:ext uri="{BB962C8B-B14F-4D97-AF65-F5344CB8AC3E}">
        <p14:creationId xmlns:p14="http://schemas.microsoft.com/office/powerpoint/2010/main" val="210248371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1141412" y="296091"/>
            <a:ext cx="9905999" cy="6209212"/>
          </a:xfrm>
        </p:spPr>
        <p:txBody>
          <a:bodyPr/>
          <a:lstStyle/>
          <a:p>
            <a:pPr algn="r" rtl="1"/>
            <a:r>
              <a:rPr lang="fa-IR" dirty="0">
                <a:solidFill>
                  <a:schemeClr val="accent5"/>
                </a:solidFill>
              </a:rPr>
              <a:t>ماده5 ـ تنظیم قرارداد </a:t>
            </a:r>
            <a:r>
              <a:rPr lang="fa-IR" dirty="0" smtClean="0">
                <a:solidFill>
                  <a:schemeClr val="accent5"/>
                </a:solidFill>
              </a:rPr>
              <a:t>پیش فروش </a:t>
            </a:r>
            <a:r>
              <a:rPr lang="fa-IR" dirty="0">
                <a:solidFill>
                  <a:schemeClr val="accent5"/>
                </a:solidFill>
              </a:rPr>
              <a:t>و واگذاری حقوق و تعهدات ناشی از آن نزد دفاتر اسناد رسمی با پرداخت </a:t>
            </a:r>
            <a:r>
              <a:rPr lang="fa-IR" dirty="0" smtClean="0">
                <a:solidFill>
                  <a:schemeClr val="accent5"/>
                </a:solidFill>
              </a:rPr>
              <a:t>حق الثبت </a:t>
            </a:r>
            <a:r>
              <a:rPr lang="fa-IR" dirty="0">
                <a:solidFill>
                  <a:schemeClr val="accent5"/>
                </a:solidFill>
              </a:rPr>
              <a:t>و بدون ارائه گواهی مالیاتی صرفًا در قبال پرداخت </a:t>
            </a:r>
            <a:r>
              <a:rPr lang="fa-IR" dirty="0" smtClean="0">
                <a:solidFill>
                  <a:schemeClr val="accent5"/>
                </a:solidFill>
              </a:rPr>
              <a:t>حق التحریر </a:t>
            </a:r>
            <a:r>
              <a:rPr lang="fa-IR" dirty="0">
                <a:solidFill>
                  <a:schemeClr val="accent5"/>
                </a:solidFill>
              </a:rPr>
              <a:t>طبق تعرفه خاص قوه قضائیه صورت میگیرد</a:t>
            </a:r>
            <a:r>
              <a:rPr lang="fa-IR" dirty="0" smtClean="0">
                <a:solidFill>
                  <a:schemeClr val="accent5"/>
                </a:solidFill>
              </a:rPr>
              <a:t>.</a:t>
            </a:r>
          </a:p>
          <a:p>
            <a:pPr algn="r" rtl="1"/>
            <a:r>
              <a:rPr lang="fa-IR" dirty="0">
                <a:solidFill>
                  <a:schemeClr val="accent5"/>
                </a:solidFill>
              </a:rPr>
              <a:t>ماده6 ـ چنانچه </a:t>
            </a:r>
            <a:r>
              <a:rPr lang="fa-IR" dirty="0" smtClean="0">
                <a:solidFill>
                  <a:schemeClr val="accent5"/>
                </a:solidFill>
              </a:rPr>
              <a:t>پیش فروشنده </a:t>
            </a:r>
            <a:r>
              <a:rPr lang="fa-IR" dirty="0">
                <a:solidFill>
                  <a:schemeClr val="accent5"/>
                </a:solidFill>
              </a:rPr>
              <a:t>در تاریخ مقرر در قرارداد واحد </a:t>
            </a:r>
            <a:r>
              <a:rPr lang="fa-IR" dirty="0" smtClean="0">
                <a:solidFill>
                  <a:schemeClr val="accent5"/>
                </a:solidFill>
              </a:rPr>
              <a:t>پیش فروش شده </a:t>
            </a:r>
            <a:r>
              <a:rPr lang="fa-IR" dirty="0">
                <a:solidFill>
                  <a:schemeClr val="accent5"/>
                </a:solidFill>
              </a:rPr>
              <a:t>را تحویل </a:t>
            </a:r>
            <a:r>
              <a:rPr lang="fa-IR" dirty="0" smtClean="0">
                <a:solidFill>
                  <a:schemeClr val="accent5"/>
                </a:solidFill>
              </a:rPr>
              <a:t>پیش خریدار </a:t>
            </a:r>
            <a:r>
              <a:rPr lang="fa-IR" dirty="0">
                <a:solidFill>
                  <a:schemeClr val="accent5"/>
                </a:solidFill>
              </a:rPr>
              <a:t>ندهد و یا به تعهدات خود عمل ننماید </a:t>
            </a:r>
            <a:r>
              <a:rPr lang="fa-IR" dirty="0" smtClean="0">
                <a:solidFill>
                  <a:schemeClr val="accent5"/>
                </a:solidFill>
              </a:rPr>
              <a:t>علاوه </a:t>
            </a:r>
            <a:r>
              <a:rPr lang="fa-IR" dirty="0">
                <a:solidFill>
                  <a:schemeClr val="accent5"/>
                </a:solidFill>
              </a:rPr>
              <a:t>بر اجراء </a:t>
            </a:r>
            <a:r>
              <a:rPr lang="fa-IR" dirty="0" smtClean="0">
                <a:solidFill>
                  <a:schemeClr val="accent5"/>
                </a:solidFill>
              </a:rPr>
              <a:t>بند(9) </a:t>
            </a:r>
            <a:r>
              <a:rPr lang="fa-IR" dirty="0">
                <a:solidFill>
                  <a:schemeClr val="accent5"/>
                </a:solidFill>
              </a:rPr>
              <a:t>ماده </a:t>
            </a:r>
            <a:r>
              <a:rPr lang="fa-IR" dirty="0" smtClean="0">
                <a:solidFill>
                  <a:schemeClr val="accent5"/>
                </a:solidFill>
              </a:rPr>
              <a:t>(2) </a:t>
            </a:r>
            <a:r>
              <a:rPr lang="fa-IR" dirty="0">
                <a:solidFill>
                  <a:schemeClr val="accent5"/>
                </a:solidFill>
              </a:rPr>
              <a:t>این قانون مکلف است به شرح زیر جریمه تأخیر به </a:t>
            </a:r>
            <a:r>
              <a:rPr lang="fa-IR" dirty="0" smtClean="0">
                <a:solidFill>
                  <a:schemeClr val="accent5"/>
                </a:solidFill>
              </a:rPr>
              <a:t>پیش خریدار </a:t>
            </a:r>
            <a:r>
              <a:rPr lang="fa-IR" dirty="0">
                <a:solidFill>
                  <a:schemeClr val="accent5"/>
                </a:solidFill>
              </a:rPr>
              <a:t>بپردازد مگر اینکه به مبالغ بیشتری به نفع </a:t>
            </a:r>
            <a:r>
              <a:rPr lang="fa-IR" dirty="0" smtClean="0">
                <a:solidFill>
                  <a:schemeClr val="accent5"/>
                </a:solidFill>
              </a:rPr>
              <a:t>پیش خریدار </a:t>
            </a:r>
            <a:r>
              <a:rPr lang="fa-IR" dirty="0">
                <a:solidFill>
                  <a:schemeClr val="accent5"/>
                </a:solidFill>
              </a:rPr>
              <a:t>توافق نمایند. اجراء مقررات این ماده مانع از اعمال </a:t>
            </a:r>
            <a:r>
              <a:rPr lang="fa-IR" dirty="0" smtClean="0">
                <a:solidFill>
                  <a:schemeClr val="accent5"/>
                </a:solidFill>
              </a:rPr>
              <a:t>اختیارات </a:t>
            </a:r>
            <a:r>
              <a:rPr lang="fa-IR" dirty="0">
                <a:solidFill>
                  <a:schemeClr val="accent5"/>
                </a:solidFill>
              </a:rPr>
              <a:t>برای </a:t>
            </a:r>
            <a:r>
              <a:rPr lang="fa-IR" dirty="0" smtClean="0">
                <a:solidFill>
                  <a:schemeClr val="accent5"/>
                </a:solidFill>
              </a:rPr>
              <a:t>پیش خریدار </a:t>
            </a:r>
            <a:r>
              <a:rPr lang="fa-IR" dirty="0">
                <a:solidFill>
                  <a:schemeClr val="accent5"/>
                </a:solidFill>
              </a:rPr>
              <a:t>نیست</a:t>
            </a:r>
            <a:r>
              <a:rPr lang="fa-IR" dirty="0" smtClean="0">
                <a:solidFill>
                  <a:schemeClr val="accent5"/>
                </a:solidFill>
              </a:rPr>
              <a:t>.</a:t>
            </a:r>
          </a:p>
          <a:p>
            <a:pPr algn="r" rtl="1"/>
            <a:r>
              <a:rPr lang="fa-IR" sz="1800" dirty="0"/>
              <a:t>1ـ درصورتی که واحد </a:t>
            </a:r>
            <a:r>
              <a:rPr lang="fa-IR" sz="1800" dirty="0" smtClean="0"/>
              <a:t>پیش فروش شده </a:t>
            </a:r>
            <a:r>
              <a:rPr lang="fa-IR" sz="1800" dirty="0"/>
              <a:t>و </a:t>
            </a:r>
            <a:r>
              <a:rPr lang="fa-IR" sz="1800" dirty="0" smtClean="0"/>
              <a:t>بخش های </a:t>
            </a:r>
            <a:r>
              <a:rPr lang="fa-IR" sz="1800" dirty="0"/>
              <a:t>اختصاصی نظیر توقفگاه </a:t>
            </a:r>
            <a:r>
              <a:rPr lang="fa-IR" sz="1800" dirty="0" smtClean="0"/>
              <a:t>(پارکینگ) </a:t>
            </a:r>
            <a:r>
              <a:rPr lang="fa-IR" sz="1800" dirty="0"/>
              <a:t>و انباری در زمان مقرر قابل </a:t>
            </a:r>
            <a:r>
              <a:rPr lang="fa-IR" sz="1800" dirty="0" smtClean="0"/>
              <a:t>بهره برداری </a:t>
            </a:r>
            <a:r>
              <a:rPr lang="fa-IR" sz="1800" dirty="0"/>
              <a:t>نباشد، تا زمان تحویل واحد به </a:t>
            </a:r>
            <a:r>
              <a:rPr lang="fa-IR" sz="1800" dirty="0" smtClean="0"/>
              <a:t>پیش خریدار</a:t>
            </a:r>
            <a:r>
              <a:rPr lang="fa-IR" sz="1800" dirty="0"/>
              <a:t>، معادل </a:t>
            </a:r>
            <a:r>
              <a:rPr lang="fa-IR" sz="1800" dirty="0" smtClean="0"/>
              <a:t>اجرت المثل </a:t>
            </a:r>
            <a:r>
              <a:rPr lang="fa-IR" sz="1800" dirty="0"/>
              <a:t>بخش </a:t>
            </a:r>
            <a:r>
              <a:rPr lang="fa-IR" sz="1800" dirty="0" smtClean="0"/>
              <a:t>تحویل نشده.</a:t>
            </a:r>
          </a:p>
          <a:p>
            <a:pPr algn="r" rtl="1"/>
            <a:r>
              <a:rPr lang="fa-IR" sz="1800" dirty="0"/>
              <a:t>2ـ درصورت عدم انجام تعهدات در قسمتهای مشاعی، روزانه به میزان </a:t>
            </a:r>
            <a:r>
              <a:rPr lang="fa-IR" sz="1800" dirty="0" smtClean="0"/>
              <a:t>نیم درصد (%0/5) </a:t>
            </a:r>
            <a:r>
              <a:rPr lang="fa-IR" sz="1800" dirty="0"/>
              <a:t>بهای روز تعهدات </a:t>
            </a:r>
            <a:r>
              <a:rPr lang="fa-IR" sz="1800" dirty="0" smtClean="0"/>
              <a:t>انجام نشده </a:t>
            </a:r>
            <a:r>
              <a:rPr lang="fa-IR" sz="1800" dirty="0"/>
              <a:t>به میزان قدرالسهم </a:t>
            </a:r>
            <a:r>
              <a:rPr lang="fa-IR" sz="1800" dirty="0" smtClean="0"/>
              <a:t>پیش خریدار </a:t>
            </a:r>
            <a:endParaRPr lang="fa-IR" sz="1800" dirty="0"/>
          </a:p>
          <a:p>
            <a:pPr algn="r" rtl="1"/>
            <a:r>
              <a:rPr lang="fa-IR" sz="1800" dirty="0"/>
              <a:t>3ـ درصورت عدم انجام تعهدات در قسمتهای خدمات عمومی موضوع بند </a:t>
            </a:r>
            <a:r>
              <a:rPr lang="fa-IR" sz="1800" dirty="0" smtClean="0"/>
              <a:t>(9) </a:t>
            </a:r>
            <a:r>
              <a:rPr lang="fa-IR" sz="1800" dirty="0"/>
              <a:t>ماده </a:t>
            </a:r>
            <a:r>
              <a:rPr lang="fa-IR" sz="1800" dirty="0" smtClean="0"/>
              <a:t>(2) </a:t>
            </a:r>
            <a:r>
              <a:rPr lang="fa-IR" sz="1800" dirty="0"/>
              <a:t>این قانون از قبیل خیابان، فضای سبز، مساجد، مدارس و امثال آن روزانه به میزان یک در هزار بهای روز تعهدات انجام شده به میزان قدرالسهم </a:t>
            </a:r>
            <a:r>
              <a:rPr lang="fa-IR" sz="1800" dirty="0" smtClean="0"/>
              <a:t>پیش خریدار</a:t>
            </a:r>
          </a:p>
          <a:p>
            <a:pPr algn="r" rtl="1"/>
            <a:r>
              <a:rPr lang="fa-IR" sz="1800" dirty="0"/>
              <a:t>4ـ درصورت عدم اقدام به موقع </a:t>
            </a:r>
            <a:r>
              <a:rPr lang="fa-IR" sz="1800" dirty="0" smtClean="0"/>
              <a:t>انتقال </a:t>
            </a:r>
            <a:r>
              <a:rPr lang="fa-IR" sz="1800" dirty="0"/>
              <a:t>سند </a:t>
            </a:r>
            <a:r>
              <a:rPr lang="fa-IR" sz="1800" dirty="0" smtClean="0"/>
              <a:t>رسمی، </a:t>
            </a:r>
            <a:r>
              <a:rPr lang="fa-IR" sz="1800" dirty="0"/>
              <a:t>روزانه به میزان یک در هزار مبلغ قرارداد</a:t>
            </a:r>
            <a:endParaRPr lang="en-US" sz="1800" dirty="0"/>
          </a:p>
        </p:txBody>
      </p:sp>
    </p:spTree>
    <p:extLst>
      <p:ext uri="{BB962C8B-B14F-4D97-AF65-F5344CB8AC3E}">
        <p14:creationId xmlns:p14="http://schemas.microsoft.com/office/powerpoint/2010/main" val="309476437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3927566" y="243841"/>
            <a:ext cx="7119845" cy="4937760"/>
          </a:xfrm>
        </p:spPr>
        <p:txBody>
          <a:bodyPr>
            <a:normAutofit fontScale="85000" lnSpcReduction="20000"/>
          </a:bodyPr>
          <a:lstStyle/>
          <a:p>
            <a:pPr algn="r" rtl="1"/>
            <a:r>
              <a:rPr lang="fa-IR" dirty="0">
                <a:solidFill>
                  <a:schemeClr val="accent5"/>
                </a:solidFill>
              </a:rPr>
              <a:t>ماده7ـ درصورتی که مساحت بناء براساس صورت مجلس تفکیکی، کمتر یا بیشتر از مقدار مشخص شده در قرارداد باشد، </a:t>
            </a:r>
            <a:r>
              <a:rPr lang="fa-IR" dirty="0" smtClean="0">
                <a:solidFill>
                  <a:schemeClr val="accent5"/>
                </a:solidFill>
              </a:rPr>
              <a:t>مابه التفاوت </a:t>
            </a:r>
            <a:r>
              <a:rPr lang="fa-IR" dirty="0">
                <a:solidFill>
                  <a:schemeClr val="accent5"/>
                </a:solidFill>
              </a:rPr>
              <a:t>براساس نرخ مندرج در قرارداد مورد محاسبه قرار خواهد گرفت، لیکن چنانچه مساحت بنا تا پنج درصد </a:t>
            </a:r>
            <a:r>
              <a:rPr lang="fa-IR" dirty="0" smtClean="0">
                <a:solidFill>
                  <a:schemeClr val="accent5"/>
                </a:solidFill>
              </a:rPr>
              <a:t>(%5) </a:t>
            </a:r>
            <a:r>
              <a:rPr lang="fa-IR" dirty="0">
                <a:solidFill>
                  <a:schemeClr val="accent5"/>
                </a:solidFill>
              </a:rPr>
              <a:t>افزون بر زیربنای مقرر در قرارداد باشد، هیچکدام از طرفین حق فسخ قرارداد را ندارند و در </a:t>
            </a:r>
            <a:r>
              <a:rPr lang="fa-IR" dirty="0" smtClean="0">
                <a:solidFill>
                  <a:schemeClr val="accent5"/>
                </a:solidFill>
              </a:rPr>
              <a:t>صورتی که </a:t>
            </a:r>
            <a:r>
              <a:rPr lang="fa-IR" dirty="0">
                <a:solidFill>
                  <a:schemeClr val="accent5"/>
                </a:solidFill>
              </a:rPr>
              <a:t>بیش از پنج درصد </a:t>
            </a:r>
            <a:r>
              <a:rPr lang="fa-IR" dirty="0" smtClean="0">
                <a:solidFill>
                  <a:schemeClr val="accent5"/>
                </a:solidFill>
              </a:rPr>
              <a:t>(%5) </a:t>
            </a:r>
            <a:r>
              <a:rPr lang="fa-IR" dirty="0">
                <a:solidFill>
                  <a:schemeClr val="accent5"/>
                </a:solidFill>
              </a:rPr>
              <a:t>باشد صرفًا خریدار حق فسخ قرارداد را </a:t>
            </a:r>
            <a:r>
              <a:rPr lang="fa-IR" dirty="0" smtClean="0">
                <a:solidFill>
                  <a:schemeClr val="accent5"/>
                </a:solidFill>
              </a:rPr>
              <a:t>دارد.</a:t>
            </a:r>
          </a:p>
          <a:p>
            <a:pPr algn="r" rtl="1"/>
            <a:r>
              <a:rPr lang="fa-IR" dirty="0">
                <a:solidFill>
                  <a:schemeClr val="accent5"/>
                </a:solidFill>
              </a:rPr>
              <a:t>چنانچه مساحت واحد </a:t>
            </a:r>
            <a:r>
              <a:rPr lang="fa-IR" dirty="0" smtClean="0">
                <a:solidFill>
                  <a:schemeClr val="accent5"/>
                </a:solidFill>
              </a:rPr>
              <a:t>تحویل شده </a:t>
            </a:r>
            <a:r>
              <a:rPr lang="fa-IR" dirty="0">
                <a:solidFill>
                  <a:schemeClr val="accent5"/>
                </a:solidFill>
              </a:rPr>
              <a:t>کمتر از نود و پنج درصد </a:t>
            </a:r>
            <a:r>
              <a:rPr lang="fa-IR" dirty="0" smtClean="0">
                <a:solidFill>
                  <a:schemeClr val="accent5"/>
                </a:solidFill>
              </a:rPr>
              <a:t>(%95) </a:t>
            </a:r>
            <a:r>
              <a:rPr lang="fa-IR" dirty="0">
                <a:solidFill>
                  <a:schemeClr val="accent5"/>
                </a:solidFill>
              </a:rPr>
              <a:t>مقدار </a:t>
            </a:r>
            <a:r>
              <a:rPr lang="fa-IR" dirty="0" smtClean="0">
                <a:solidFill>
                  <a:schemeClr val="accent5"/>
                </a:solidFill>
              </a:rPr>
              <a:t>توافق شده </a:t>
            </a:r>
            <a:r>
              <a:rPr lang="fa-IR" dirty="0">
                <a:solidFill>
                  <a:schemeClr val="accent5"/>
                </a:solidFill>
              </a:rPr>
              <a:t>باشد </a:t>
            </a:r>
            <a:r>
              <a:rPr lang="fa-IR" dirty="0" smtClean="0">
                <a:solidFill>
                  <a:schemeClr val="accent5"/>
                </a:solidFill>
              </a:rPr>
              <a:t>پیش خریدار </a:t>
            </a:r>
            <a:r>
              <a:rPr lang="fa-IR" dirty="0">
                <a:solidFill>
                  <a:schemeClr val="accent5"/>
                </a:solidFill>
              </a:rPr>
              <a:t>حق فسخ قرارداد را دارد یا میتواند خسارت وارده را بر پایه قیمت روز بناء و براساس نظر کارشناسی از </a:t>
            </a:r>
            <a:r>
              <a:rPr lang="fa-IR" dirty="0" smtClean="0">
                <a:solidFill>
                  <a:schemeClr val="accent5"/>
                </a:solidFill>
              </a:rPr>
              <a:t>پیش فروشنده </a:t>
            </a:r>
            <a:r>
              <a:rPr lang="fa-IR" dirty="0">
                <a:solidFill>
                  <a:schemeClr val="accent5"/>
                </a:solidFill>
              </a:rPr>
              <a:t>مطالبه کند</a:t>
            </a:r>
            <a:r>
              <a:rPr lang="fa-IR" dirty="0" smtClean="0">
                <a:solidFill>
                  <a:schemeClr val="accent5"/>
                </a:solidFill>
              </a:rPr>
              <a:t>.</a:t>
            </a:r>
          </a:p>
          <a:p>
            <a:pPr algn="r" rtl="1"/>
            <a:r>
              <a:rPr lang="fa-IR" dirty="0">
                <a:solidFill>
                  <a:schemeClr val="accent5"/>
                </a:solidFill>
              </a:rPr>
              <a:t>ماده8 ـ در تمامی مواردی که به دلیل تخلف </a:t>
            </a:r>
            <a:r>
              <a:rPr lang="fa-IR" dirty="0" smtClean="0">
                <a:solidFill>
                  <a:schemeClr val="accent5"/>
                </a:solidFill>
              </a:rPr>
              <a:t>پیش فروشنده</a:t>
            </a:r>
            <a:r>
              <a:rPr lang="fa-IR" dirty="0">
                <a:solidFill>
                  <a:schemeClr val="accent5"/>
                </a:solidFill>
              </a:rPr>
              <a:t>، </a:t>
            </a:r>
            <a:r>
              <a:rPr lang="fa-IR" dirty="0" smtClean="0">
                <a:solidFill>
                  <a:schemeClr val="accent5"/>
                </a:solidFill>
              </a:rPr>
              <a:t>پیش خریدار </a:t>
            </a:r>
            <a:r>
              <a:rPr lang="fa-IR" dirty="0">
                <a:solidFill>
                  <a:schemeClr val="accent5"/>
                </a:solidFill>
              </a:rPr>
              <a:t>حق فسخ خود را اعمال </a:t>
            </a:r>
            <a:r>
              <a:rPr lang="fa-IR" dirty="0" smtClean="0">
                <a:solidFill>
                  <a:schemeClr val="accent5"/>
                </a:solidFill>
              </a:rPr>
              <a:t>می نماید</a:t>
            </a:r>
            <a:r>
              <a:rPr lang="fa-IR" dirty="0">
                <a:solidFill>
                  <a:schemeClr val="accent5"/>
                </a:solidFill>
              </a:rPr>
              <a:t>، </a:t>
            </a:r>
            <a:r>
              <a:rPr lang="fa-IR" dirty="0" smtClean="0">
                <a:solidFill>
                  <a:schemeClr val="accent5"/>
                </a:solidFill>
              </a:rPr>
              <a:t>پیش فروشنده </a:t>
            </a:r>
            <a:r>
              <a:rPr lang="fa-IR" dirty="0">
                <a:solidFill>
                  <a:schemeClr val="accent5"/>
                </a:solidFill>
              </a:rPr>
              <a:t>باید خسارت وارده را بر مبناء مصالحه طرفین یا برآورد کارشناس </a:t>
            </a:r>
            <a:r>
              <a:rPr lang="fa-IR" dirty="0" smtClean="0">
                <a:solidFill>
                  <a:schemeClr val="accent5"/>
                </a:solidFill>
              </a:rPr>
              <a:t>مرضی الطرفین </a:t>
            </a:r>
            <a:r>
              <a:rPr lang="fa-IR" dirty="0">
                <a:solidFill>
                  <a:schemeClr val="accent5"/>
                </a:solidFill>
              </a:rPr>
              <a:t>به پیشخریدار بپردازد</a:t>
            </a:r>
            <a:r>
              <a:rPr lang="fa-IR" dirty="0" smtClean="0">
                <a:solidFill>
                  <a:schemeClr val="accent5"/>
                </a:solidFill>
              </a:rPr>
              <a:t>.</a:t>
            </a:r>
          </a:p>
          <a:p>
            <a:pPr algn="r" rtl="1"/>
            <a:r>
              <a:rPr lang="fa-IR" sz="1800" dirty="0"/>
              <a:t>تبصره ـ درصورت عدم توافق طرفین، </a:t>
            </a:r>
            <a:r>
              <a:rPr lang="fa-IR" sz="1800" dirty="0" smtClean="0"/>
              <a:t>پیش فروشنده </a:t>
            </a:r>
            <a:r>
              <a:rPr lang="fa-IR" sz="1800" dirty="0"/>
              <a:t>باید تمام مبالغ پرداختی را براساس قیمت روز بناء، طبق نظر کارشناس منتخب مراجع قضائی همراه سایر خسارات قانونی به </a:t>
            </a:r>
            <a:r>
              <a:rPr lang="fa-IR" sz="1800" dirty="0" smtClean="0"/>
              <a:t>پیش خریدار </a:t>
            </a:r>
            <a:r>
              <a:rPr lang="fa-IR" sz="1800" dirty="0"/>
              <a:t>مسترد نماید.</a:t>
            </a:r>
            <a:endParaRPr lang="fa-IR" sz="1800" dirty="0" smtClean="0">
              <a:solidFill>
                <a:schemeClr val="accent5"/>
              </a:solidFill>
            </a:endParaRPr>
          </a:p>
          <a:p>
            <a:pPr algn="r" rtl="1"/>
            <a:endParaRPr lang="fa-IR" dirty="0">
              <a:solidFill>
                <a:schemeClr val="accent5"/>
              </a:solidFill>
            </a:endParaRPr>
          </a:p>
          <a:p>
            <a:pPr algn="r" rtl="1"/>
            <a:endParaRPr lang="en-US" dirty="0">
              <a:solidFill>
                <a:schemeClr val="accent5"/>
              </a:solidFill>
            </a:endParaRPr>
          </a:p>
        </p:txBody>
      </p:sp>
      <p:pic>
        <p:nvPicPr>
          <p:cNvPr id="2" name="Picture 1"/>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82882" y="3429000"/>
            <a:ext cx="3605348" cy="3413760"/>
          </a:xfrm>
          <a:prstGeom prst="rect">
            <a:avLst/>
          </a:prstGeom>
        </p:spPr>
      </p:pic>
    </p:spTree>
    <p:extLst>
      <p:ext uri="{BB962C8B-B14F-4D97-AF65-F5344CB8AC3E}">
        <p14:creationId xmlns:p14="http://schemas.microsoft.com/office/powerpoint/2010/main" val="360889977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1141412" y="243840"/>
            <a:ext cx="9905999" cy="6426926"/>
          </a:xfrm>
        </p:spPr>
        <p:txBody>
          <a:bodyPr/>
          <a:lstStyle/>
          <a:p>
            <a:pPr algn="r" rtl="1"/>
            <a:r>
              <a:rPr lang="fa-IR" dirty="0">
                <a:solidFill>
                  <a:schemeClr val="accent5"/>
                </a:solidFill>
              </a:rPr>
              <a:t>ماده9ـ </a:t>
            </a:r>
            <a:r>
              <a:rPr lang="fa-IR" dirty="0" smtClean="0">
                <a:solidFill>
                  <a:schemeClr val="accent5"/>
                </a:solidFill>
              </a:rPr>
              <a:t>پیش فروشنده </a:t>
            </a:r>
            <a:r>
              <a:rPr lang="fa-IR" dirty="0">
                <a:solidFill>
                  <a:schemeClr val="accent5"/>
                </a:solidFill>
              </a:rPr>
              <a:t>در قبال خسارات ناشی از عیب بناء و تجهیزات آن و نیز خسارات ناشی از عدم رعایت ضوابط قانونی، در برابر </a:t>
            </a:r>
            <a:r>
              <a:rPr lang="fa-IR" dirty="0" smtClean="0">
                <a:solidFill>
                  <a:schemeClr val="accent5"/>
                </a:solidFill>
              </a:rPr>
              <a:t>پیش خریدار </a:t>
            </a:r>
            <a:r>
              <a:rPr lang="fa-IR" dirty="0">
                <a:solidFill>
                  <a:schemeClr val="accent5"/>
                </a:solidFill>
              </a:rPr>
              <a:t>و اشخاص ثالث مسؤول است و باید مسؤولیت خود را از این جهت بیمه نماید. چنانچه میزان خسارت وارده بیش از مبلغی باشد که از طریق بیمه پرداخت میشود، </a:t>
            </a:r>
            <a:r>
              <a:rPr lang="fa-IR" dirty="0" smtClean="0">
                <a:solidFill>
                  <a:schemeClr val="accent5"/>
                </a:solidFill>
              </a:rPr>
              <a:t>پیش فروشنده </a:t>
            </a:r>
            <a:r>
              <a:rPr lang="fa-IR" dirty="0">
                <a:solidFill>
                  <a:schemeClr val="accent5"/>
                </a:solidFill>
              </a:rPr>
              <a:t>ضامن پرداخت </a:t>
            </a:r>
            <a:r>
              <a:rPr lang="fa-IR" dirty="0" smtClean="0">
                <a:solidFill>
                  <a:schemeClr val="accent5"/>
                </a:solidFill>
              </a:rPr>
              <a:t>مابه التفاوت </a:t>
            </a:r>
            <a:r>
              <a:rPr lang="fa-IR" dirty="0">
                <a:solidFill>
                  <a:schemeClr val="accent5"/>
                </a:solidFill>
              </a:rPr>
              <a:t>خسارت وارده خواهد </a:t>
            </a:r>
            <a:r>
              <a:rPr lang="fa-IR" dirty="0" smtClean="0">
                <a:solidFill>
                  <a:schemeClr val="accent5"/>
                </a:solidFill>
              </a:rPr>
              <a:t>بود.</a:t>
            </a:r>
          </a:p>
          <a:p>
            <a:pPr algn="r" rtl="1"/>
            <a:endParaRPr lang="fa-IR" dirty="0" smtClean="0">
              <a:solidFill>
                <a:schemeClr val="accent5"/>
              </a:solidFill>
            </a:endParaRPr>
          </a:p>
          <a:p>
            <a:pPr algn="r" rtl="1"/>
            <a:r>
              <a:rPr lang="fa-IR" dirty="0">
                <a:solidFill>
                  <a:schemeClr val="accent5"/>
                </a:solidFill>
              </a:rPr>
              <a:t>ماده10ـ درمواردی که </a:t>
            </a:r>
            <a:r>
              <a:rPr lang="fa-IR" dirty="0" smtClean="0">
                <a:solidFill>
                  <a:schemeClr val="accent5"/>
                </a:solidFill>
              </a:rPr>
              <a:t>بانک ها </a:t>
            </a:r>
            <a:r>
              <a:rPr lang="fa-IR" dirty="0">
                <a:solidFill>
                  <a:schemeClr val="accent5"/>
                </a:solidFill>
              </a:rPr>
              <a:t>به </a:t>
            </a:r>
            <a:r>
              <a:rPr lang="fa-IR" dirty="0" smtClean="0">
                <a:solidFill>
                  <a:schemeClr val="accent5"/>
                </a:solidFill>
              </a:rPr>
              <a:t>پیش خریداران </a:t>
            </a:r>
            <a:r>
              <a:rPr lang="fa-IR" dirty="0">
                <a:solidFill>
                  <a:schemeClr val="accent5"/>
                </a:solidFill>
              </a:rPr>
              <a:t>براساس قرارداد </a:t>
            </a:r>
            <a:r>
              <a:rPr lang="fa-IR" dirty="0" smtClean="0">
                <a:solidFill>
                  <a:schemeClr val="accent5"/>
                </a:solidFill>
              </a:rPr>
              <a:t>پیش فروش</a:t>
            </a:r>
            <a:r>
              <a:rPr lang="fa-IR" dirty="0">
                <a:solidFill>
                  <a:schemeClr val="accent5"/>
                </a:solidFill>
              </a:rPr>
              <a:t>، </a:t>
            </a:r>
            <a:r>
              <a:rPr lang="fa-IR" dirty="0" smtClean="0">
                <a:solidFill>
                  <a:schemeClr val="accent5"/>
                </a:solidFill>
              </a:rPr>
              <a:t>تسهیلات </a:t>
            </a:r>
            <a:r>
              <a:rPr lang="fa-IR" dirty="0">
                <a:solidFill>
                  <a:schemeClr val="accent5"/>
                </a:solidFill>
              </a:rPr>
              <a:t>خرید </a:t>
            </a:r>
            <a:r>
              <a:rPr lang="fa-IR" dirty="0" smtClean="0">
                <a:solidFill>
                  <a:schemeClr val="accent5"/>
                </a:solidFill>
              </a:rPr>
              <a:t>می دهند</a:t>
            </a:r>
            <a:r>
              <a:rPr lang="fa-IR" dirty="0">
                <a:solidFill>
                  <a:schemeClr val="accent5"/>
                </a:solidFill>
              </a:rPr>
              <a:t>، وجه </a:t>
            </a:r>
            <a:r>
              <a:rPr lang="fa-IR" dirty="0" smtClean="0">
                <a:solidFill>
                  <a:schemeClr val="accent5"/>
                </a:solidFill>
              </a:rPr>
              <a:t>تسهیلات </a:t>
            </a:r>
            <a:r>
              <a:rPr lang="fa-IR" dirty="0">
                <a:solidFill>
                  <a:schemeClr val="accent5"/>
                </a:solidFill>
              </a:rPr>
              <a:t>از طرف </a:t>
            </a:r>
            <a:r>
              <a:rPr lang="fa-IR" dirty="0" smtClean="0">
                <a:solidFill>
                  <a:schemeClr val="accent5"/>
                </a:solidFill>
              </a:rPr>
              <a:t>پیش خریدار </a:t>
            </a:r>
            <a:r>
              <a:rPr lang="fa-IR" dirty="0">
                <a:solidFill>
                  <a:schemeClr val="accent5"/>
                </a:solidFill>
              </a:rPr>
              <a:t>توسط بانک به حساب </a:t>
            </a:r>
            <a:r>
              <a:rPr lang="fa-IR" dirty="0" smtClean="0">
                <a:solidFill>
                  <a:schemeClr val="accent5"/>
                </a:solidFill>
              </a:rPr>
              <a:t>پیش فروشنده </a:t>
            </a:r>
            <a:r>
              <a:rPr lang="fa-IR" dirty="0">
                <a:solidFill>
                  <a:schemeClr val="accent5"/>
                </a:solidFill>
              </a:rPr>
              <a:t>واریز و مالکیت عرصه به نسبت سهم واحد </a:t>
            </a:r>
            <a:r>
              <a:rPr lang="fa-IR" dirty="0" smtClean="0">
                <a:solidFill>
                  <a:schemeClr val="accent5"/>
                </a:solidFill>
              </a:rPr>
              <a:t>پیش خریداری شده </a:t>
            </a:r>
            <a:r>
              <a:rPr lang="fa-IR" dirty="0">
                <a:solidFill>
                  <a:schemeClr val="accent5"/>
                </a:solidFill>
              </a:rPr>
              <a:t>و نیز حقوق </a:t>
            </a:r>
            <a:r>
              <a:rPr lang="fa-IR" dirty="0" smtClean="0">
                <a:solidFill>
                  <a:schemeClr val="accent5"/>
                </a:solidFill>
              </a:rPr>
              <a:t>پیش خریدار </a:t>
            </a:r>
            <a:r>
              <a:rPr lang="fa-IR" dirty="0">
                <a:solidFill>
                  <a:schemeClr val="accent5"/>
                </a:solidFill>
              </a:rPr>
              <a:t>نسبت به آن واحد به عنوان تضمین أخذ میگردد</a:t>
            </a:r>
            <a:r>
              <a:rPr lang="fa-IR" dirty="0" smtClean="0">
                <a:solidFill>
                  <a:schemeClr val="accent5"/>
                </a:solidFill>
              </a:rPr>
              <a:t>.</a:t>
            </a:r>
          </a:p>
          <a:p>
            <a:pPr algn="r" rtl="1"/>
            <a:endParaRPr lang="fa-IR" dirty="0" smtClean="0">
              <a:solidFill>
                <a:schemeClr val="accent5"/>
              </a:solidFill>
            </a:endParaRPr>
          </a:p>
          <a:p>
            <a:pPr algn="r" rtl="1"/>
            <a:r>
              <a:rPr lang="fa-IR" dirty="0">
                <a:solidFill>
                  <a:schemeClr val="accent5"/>
                </a:solidFill>
              </a:rPr>
              <a:t>ماده11ـ در </a:t>
            </a:r>
            <a:r>
              <a:rPr lang="fa-IR" dirty="0" smtClean="0">
                <a:solidFill>
                  <a:schemeClr val="accent5"/>
                </a:solidFill>
              </a:rPr>
              <a:t>پیش فروش </a:t>
            </a:r>
            <a:r>
              <a:rPr lang="fa-IR" dirty="0">
                <a:solidFill>
                  <a:schemeClr val="accent5"/>
                </a:solidFill>
              </a:rPr>
              <a:t>ساختمان نحوه پرداخت اقساط بهای مورد قرارداد توافق طرفین خواهد بود، ولی حداقل ده درصد </a:t>
            </a:r>
            <a:r>
              <a:rPr lang="fa-IR" dirty="0" smtClean="0">
                <a:solidFill>
                  <a:schemeClr val="accent5"/>
                </a:solidFill>
              </a:rPr>
              <a:t>(%10) </a:t>
            </a:r>
            <a:r>
              <a:rPr lang="fa-IR" dirty="0">
                <a:solidFill>
                  <a:schemeClr val="accent5"/>
                </a:solidFill>
              </a:rPr>
              <a:t>از بها </a:t>
            </a:r>
            <a:r>
              <a:rPr lang="fa-IR" dirty="0" smtClean="0">
                <a:solidFill>
                  <a:schemeClr val="accent5"/>
                </a:solidFill>
              </a:rPr>
              <a:t>همزمان </a:t>
            </a:r>
            <a:r>
              <a:rPr lang="fa-IR" dirty="0">
                <a:solidFill>
                  <a:schemeClr val="accent5"/>
                </a:solidFill>
              </a:rPr>
              <a:t>با تنظیم سند قطعی </a:t>
            </a:r>
            <a:r>
              <a:rPr lang="fa-IR" dirty="0" smtClean="0">
                <a:solidFill>
                  <a:schemeClr val="accent5"/>
                </a:solidFill>
              </a:rPr>
              <a:t>قابل وصول </a:t>
            </a:r>
            <a:r>
              <a:rPr lang="fa-IR" dirty="0">
                <a:solidFill>
                  <a:schemeClr val="accent5"/>
                </a:solidFill>
              </a:rPr>
              <a:t>خواهد بود و طرفین </a:t>
            </a:r>
            <a:r>
              <a:rPr lang="fa-IR" dirty="0" smtClean="0">
                <a:solidFill>
                  <a:schemeClr val="accent5"/>
                </a:solidFill>
              </a:rPr>
              <a:t>نمیتوانند برخلاف </a:t>
            </a:r>
            <a:r>
              <a:rPr lang="fa-IR" dirty="0">
                <a:solidFill>
                  <a:schemeClr val="accent5"/>
                </a:solidFill>
              </a:rPr>
              <a:t>آن توافق </a:t>
            </a:r>
            <a:r>
              <a:rPr lang="fa-IR" dirty="0" smtClean="0">
                <a:solidFill>
                  <a:schemeClr val="accent5"/>
                </a:solidFill>
              </a:rPr>
              <a:t>کنند.</a:t>
            </a:r>
            <a:endParaRPr lang="en-US" dirty="0">
              <a:solidFill>
                <a:schemeClr val="accent5"/>
              </a:solidFill>
            </a:endParaRPr>
          </a:p>
        </p:txBody>
      </p:sp>
    </p:spTree>
    <p:extLst>
      <p:ext uri="{BB962C8B-B14F-4D97-AF65-F5344CB8AC3E}">
        <p14:creationId xmlns:p14="http://schemas.microsoft.com/office/powerpoint/2010/main" val="418211275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1430089" y="269966"/>
            <a:ext cx="9331822" cy="3257006"/>
          </a:xfrm>
        </p:spPr>
        <p:txBody>
          <a:bodyPr>
            <a:normAutofit fontScale="70000" lnSpcReduction="20000"/>
          </a:bodyPr>
          <a:lstStyle/>
          <a:p>
            <a:pPr algn="r" rtl="1"/>
            <a:r>
              <a:rPr lang="fa-IR" dirty="0">
                <a:solidFill>
                  <a:schemeClr val="accent5"/>
                </a:solidFill>
              </a:rPr>
              <a:t>ماده12ـ درصورتی که عملیات ساختمانی متناسب با مفاد قرارداد </a:t>
            </a:r>
            <a:r>
              <a:rPr lang="fa-IR" dirty="0" smtClean="0">
                <a:solidFill>
                  <a:schemeClr val="accent5"/>
                </a:solidFill>
              </a:rPr>
              <a:t>پیشرفت نداشته </a:t>
            </a:r>
            <a:r>
              <a:rPr lang="fa-IR" dirty="0">
                <a:solidFill>
                  <a:schemeClr val="accent5"/>
                </a:solidFill>
              </a:rPr>
              <a:t>باشد، </a:t>
            </a:r>
            <a:r>
              <a:rPr lang="fa-IR" dirty="0" smtClean="0">
                <a:solidFill>
                  <a:schemeClr val="accent5"/>
                </a:solidFill>
              </a:rPr>
              <a:t>پیش خریدار </a:t>
            </a:r>
            <a:r>
              <a:rPr lang="fa-IR" dirty="0">
                <a:solidFill>
                  <a:schemeClr val="accent5"/>
                </a:solidFill>
              </a:rPr>
              <a:t>میتواند پرداخت اقساط را منوط به ارائه تأییدیه مهندس ناظر مبنی بر تحقق پیشرفت از سوی </a:t>
            </a:r>
            <a:r>
              <a:rPr lang="fa-IR" dirty="0" smtClean="0">
                <a:solidFill>
                  <a:schemeClr val="accent5"/>
                </a:solidFill>
              </a:rPr>
              <a:t>پیش فروشنده </a:t>
            </a:r>
            <a:r>
              <a:rPr lang="fa-IR" dirty="0">
                <a:solidFill>
                  <a:schemeClr val="accent5"/>
                </a:solidFill>
              </a:rPr>
              <a:t>نماید و مهندس ناظر مکلف است به تقاضای هریک از طرفین ظرف </a:t>
            </a:r>
            <a:r>
              <a:rPr lang="fa-IR" dirty="0" smtClean="0">
                <a:solidFill>
                  <a:schemeClr val="accent5"/>
                </a:solidFill>
              </a:rPr>
              <a:t>یک ماه </a:t>
            </a:r>
            <a:r>
              <a:rPr lang="fa-IR" dirty="0">
                <a:solidFill>
                  <a:schemeClr val="accent5"/>
                </a:solidFill>
              </a:rPr>
              <a:t>گزارش پیشرفت کار را ارائه </a:t>
            </a:r>
            <a:r>
              <a:rPr lang="fa-IR" dirty="0" smtClean="0">
                <a:solidFill>
                  <a:schemeClr val="accent5"/>
                </a:solidFill>
              </a:rPr>
              <a:t>نماید.</a:t>
            </a:r>
          </a:p>
          <a:p>
            <a:pPr algn="r" rtl="1"/>
            <a:endParaRPr lang="fa-IR" dirty="0">
              <a:solidFill>
                <a:schemeClr val="accent5"/>
              </a:solidFill>
            </a:endParaRPr>
          </a:p>
          <a:p>
            <a:pPr algn="r" rtl="1"/>
            <a:r>
              <a:rPr lang="fa-IR" dirty="0">
                <a:solidFill>
                  <a:schemeClr val="accent5"/>
                </a:solidFill>
              </a:rPr>
              <a:t>ماده13ـ </a:t>
            </a:r>
            <a:r>
              <a:rPr lang="fa-IR" dirty="0" smtClean="0">
                <a:solidFill>
                  <a:schemeClr val="accent5"/>
                </a:solidFill>
              </a:rPr>
              <a:t>پیش خریدار </a:t>
            </a:r>
            <a:r>
              <a:rPr lang="fa-IR" dirty="0">
                <a:solidFill>
                  <a:schemeClr val="accent5"/>
                </a:solidFill>
              </a:rPr>
              <a:t>به نسبت اقساط پرداختی یا عوض قراردادی، مالک ملک </a:t>
            </a:r>
            <a:r>
              <a:rPr lang="fa-IR" dirty="0" smtClean="0">
                <a:solidFill>
                  <a:schemeClr val="accent5"/>
                </a:solidFill>
              </a:rPr>
              <a:t>پیش فروش شده </a:t>
            </a:r>
            <a:r>
              <a:rPr lang="fa-IR" dirty="0">
                <a:solidFill>
                  <a:schemeClr val="accent5"/>
                </a:solidFill>
              </a:rPr>
              <a:t>میگردد و در پایان مدت قرارداد </a:t>
            </a:r>
            <a:r>
              <a:rPr lang="fa-IR" dirty="0" smtClean="0">
                <a:solidFill>
                  <a:schemeClr val="accent5"/>
                </a:solidFill>
              </a:rPr>
              <a:t>پیش فروش </a:t>
            </a:r>
            <a:r>
              <a:rPr lang="fa-IR" dirty="0">
                <a:solidFill>
                  <a:schemeClr val="accent5"/>
                </a:solidFill>
              </a:rPr>
              <a:t>و اتمام ساختمان، با تأیید مهندس ناظر </a:t>
            </a:r>
            <a:r>
              <a:rPr lang="fa-IR" dirty="0" smtClean="0">
                <a:solidFill>
                  <a:schemeClr val="accent5"/>
                </a:solidFill>
              </a:rPr>
              <a:t>درصورتی که </a:t>
            </a:r>
            <a:r>
              <a:rPr lang="fa-IR" dirty="0">
                <a:solidFill>
                  <a:schemeClr val="accent5"/>
                </a:solidFill>
              </a:rPr>
              <a:t>تمام اقساط را پرداخت یا </a:t>
            </a:r>
            <a:r>
              <a:rPr lang="fa-IR" dirty="0" smtClean="0">
                <a:solidFill>
                  <a:schemeClr val="accent5"/>
                </a:solidFill>
              </a:rPr>
              <a:t>عوض قراردادی </a:t>
            </a:r>
            <a:r>
              <a:rPr lang="fa-IR" dirty="0">
                <a:solidFill>
                  <a:schemeClr val="accent5"/>
                </a:solidFill>
              </a:rPr>
              <a:t>را تحویل داده باشد، با ارائه مدارک مبنی بر ایفاء تعهدات، میتواند با مراجعه به یکی از دفاتر اسناد رسمی، تنظیم سند رسمی انتقال به نام خود را درخواست نماید چنانچه </a:t>
            </a:r>
            <a:r>
              <a:rPr lang="fa-IR" dirty="0" smtClean="0">
                <a:solidFill>
                  <a:schemeClr val="accent5"/>
                </a:solidFill>
              </a:rPr>
              <a:t>پیش فروشنده </a:t>
            </a:r>
            <a:r>
              <a:rPr lang="fa-IR" dirty="0">
                <a:solidFill>
                  <a:schemeClr val="accent5"/>
                </a:solidFill>
              </a:rPr>
              <a:t>حداکثر ظرف ده روز پس از </a:t>
            </a:r>
            <a:r>
              <a:rPr lang="fa-IR" dirty="0" smtClean="0">
                <a:solidFill>
                  <a:schemeClr val="accent5"/>
                </a:solidFill>
              </a:rPr>
              <a:t>اعلام </a:t>
            </a:r>
            <a:r>
              <a:rPr lang="fa-IR" dirty="0">
                <a:solidFill>
                  <a:schemeClr val="accent5"/>
                </a:solidFill>
              </a:rPr>
              <a:t>دفترخانه از انتقال رسمی مال </a:t>
            </a:r>
            <a:r>
              <a:rPr lang="fa-IR" dirty="0" smtClean="0">
                <a:solidFill>
                  <a:schemeClr val="accent5"/>
                </a:solidFill>
              </a:rPr>
              <a:t>پیش فروش شده </a:t>
            </a:r>
            <a:r>
              <a:rPr lang="fa-IR" dirty="0">
                <a:solidFill>
                  <a:schemeClr val="accent5"/>
                </a:solidFill>
              </a:rPr>
              <a:t>خودداری نماید، دفترخانه با تصریح مراتب مبادرت به تنظیم سند رسمی به نام </a:t>
            </a:r>
            <a:r>
              <a:rPr lang="fa-IR" dirty="0" smtClean="0">
                <a:solidFill>
                  <a:schemeClr val="accent5"/>
                </a:solidFill>
              </a:rPr>
              <a:t>پیش خریدار </a:t>
            </a:r>
            <a:r>
              <a:rPr lang="fa-IR" dirty="0">
                <a:solidFill>
                  <a:schemeClr val="accent5"/>
                </a:solidFill>
              </a:rPr>
              <a:t>یا قائم مقام وی مینماید. اداره ثبت اسناد و </a:t>
            </a:r>
            <a:r>
              <a:rPr lang="fa-IR" dirty="0" smtClean="0">
                <a:solidFill>
                  <a:schemeClr val="accent5"/>
                </a:solidFill>
              </a:rPr>
              <a:t>املاک </a:t>
            </a:r>
            <a:r>
              <a:rPr lang="fa-IR" dirty="0">
                <a:solidFill>
                  <a:schemeClr val="accent5"/>
                </a:solidFill>
              </a:rPr>
              <a:t>محل وقوع ملک مکلف است به تقاضای ذینفع نسبت به تفکیک و یا افراز ملک </a:t>
            </a:r>
            <a:r>
              <a:rPr lang="fa-IR" dirty="0" smtClean="0">
                <a:solidFill>
                  <a:schemeClr val="accent5"/>
                </a:solidFill>
              </a:rPr>
              <a:t>پیش فروش </a:t>
            </a:r>
            <a:r>
              <a:rPr lang="fa-IR" dirty="0">
                <a:solidFill>
                  <a:schemeClr val="accent5"/>
                </a:solidFill>
              </a:rPr>
              <a:t>شده اقدام </a:t>
            </a:r>
            <a:r>
              <a:rPr lang="fa-IR" dirty="0" smtClean="0">
                <a:solidFill>
                  <a:schemeClr val="accent5"/>
                </a:solidFill>
              </a:rPr>
              <a:t>نماید.</a:t>
            </a:r>
            <a:endParaRPr lang="en-US" dirty="0">
              <a:solidFill>
                <a:schemeClr val="accent5"/>
              </a:solidFill>
            </a:endParaRPr>
          </a:p>
        </p:txBody>
      </p:sp>
      <p:pic>
        <p:nvPicPr>
          <p:cNvPr id="2" name="Picture 1"/>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821578" y="3429000"/>
            <a:ext cx="6679474" cy="3152397"/>
          </a:xfrm>
          <a:prstGeom prst="rect">
            <a:avLst/>
          </a:prstGeom>
        </p:spPr>
      </p:pic>
    </p:spTree>
    <p:extLst>
      <p:ext uri="{BB962C8B-B14F-4D97-AF65-F5344CB8AC3E}">
        <p14:creationId xmlns:p14="http://schemas.microsoft.com/office/powerpoint/2010/main" val="164735021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6096000" y="209006"/>
            <a:ext cx="4951411" cy="6244045"/>
          </a:xfrm>
        </p:spPr>
        <p:txBody>
          <a:bodyPr>
            <a:normAutofit fontScale="85000" lnSpcReduction="20000"/>
          </a:bodyPr>
          <a:lstStyle/>
          <a:p>
            <a:pPr algn="r" rtl="1"/>
            <a:r>
              <a:rPr lang="fa-IR" dirty="0">
                <a:solidFill>
                  <a:schemeClr val="accent5"/>
                </a:solidFill>
              </a:rPr>
              <a:t>ماده14ـ درصورت انجام کامل تعهدات از سوی </a:t>
            </a:r>
            <a:r>
              <a:rPr lang="fa-IR" dirty="0" smtClean="0">
                <a:solidFill>
                  <a:schemeClr val="accent5"/>
                </a:solidFill>
              </a:rPr>
              <a:t>پیش خریدار </a:t>
            </a:r>
            <a:r>
              <a:rPr lang="fa-IR" dirty="0">
                <a:solidFill>
                  <a:schemeClr val="accent5"/>
                </a:solidFill>
              </a:rPr>
              <a:t>چنانچه </a:t>
            </a:r>
            <a:r>
              <a:rPr lang="fa-IR" dirty="0" smtClean="0">
                <a:solidFill>
                  <a:schemeClr val="accent5"/>
                </a:solidFill>
              </a:rPr>
              <a:t>پیش فروشنده </a:t>
            </a:r>
            <a:r>
              <a:rPr lang="fa-IR" dirty="0">
                <a:solidFill>
                  <a:schemeClr val="accent5"/>
                </a:solidFill>
              </a:rPr>
              <a:t>تا زمان انقضاء مدت قرارداد موفق به تکمیل پروژه نگردد، با تأیید مهندس ناظر ساختمان مبنی بر اینکه صرفًا اقدامات جزئی تا تکمیل پروژه باقیمانده است </a:t>
            </a:r>
            <a:r>
              <a:rPr lang="fa-IR" dirty="0" smtClean="0">
                <a:solidFill>
                  <a:schemeClr val="accent5"/>
                </a:solidFill>
              </a:rPr>
              <a:t>(کمتر </a:t>
            </a:r>
            <a:r>
              <a:rPr lang="fa-IR" dirty="0">
                <a:solidFill>
                  <a:schemeClr val="accent5"/>
                </a:solidFill>
              </a:rPr>
              <a:t>از ده درصد </a:t>
            </a:r>
            <a:r>
              <a:rPr lang="fa-IR" dirty="0" smtClean="0">
                <a:solidFill>
                  <a:schemeClr val="accent5"/>
                </a:solidFill>
              </a:rPr>
              <a:t>«%10» </a:t>
            </a:r>
            <a:r>
              <a:rPr lang="fa-IR" dirty="0">
                <a:solidFill>
                  <a:schemeClr val="accent5"/>
                </a:solidFill>
              </a:rPr>
              <a:t>پیشرفت فیزیکی مانده </a:t>
            </a:r>
            <a:r>
              <a:rPr lang="fa-IR" dirty="0" smtClean="0">
                <a:solidFill>
                  <a:schemeClr val="accent5"/>
                </a:solidFill>
              </a:rPr>
              <a:t>باشد)، پیش خریدار </a:t>
            </a:r>
            <a:r>
              <a:rPr lang="fa-IR" dirty="0">
                <a:solidFill>
                  <a:schemeClr val="accent5"/>
                </a:solidFill>
              </a:rPr>
              <a:t>میتواند با قبول تکمیل باقی قرارداد به دفتر اسناد رسمی مراجعه نماید و خواستار تنظیم سند رسمی به قدرالسهم خود گردد. حقوق دولتی و </a:t>
            </a:r>
            <a:r>
              <a:rPr lang="fa-IR" dirty="0" smtClean="0">
                <a:solidFill>
                  <a:schemeClr val="accent5"/>
                </a:solidFill>
              </a:rPr>
              <a:t>هزینه هایی </a:t>
            </a:r>
            <a:r>
              <a:rPr lang="fa-IR" dirty="0">
                <a:solidFill>
                  <a:schemeClr val="accent5"/>
                </a:solidFill>
              </a:rPr>
              <a:t>که طبق مقررات بر عهده </a:t>
            </a:r>
            <a:r>
              <a:rPr lang="fa-IR" dirty="0" smtClean="0">
                <a:solidFill>
                  <a:schemeClr val="accent5"/>
                </a:solidFill>
              </a:rPr>
              <a:t>پیش فروشنده </a:t>
            </a:r>
            <a:r>
              <a:rPr lang="fa-IR" dirty="0">
                <a:solidFill>
                  <a:schemeClr val="accent5"/>
                </a:solidFill>
              </a:rPr>
              <a:t>بوده و توسط </a:t>
            </a:r>
            <a:r>
              <a:rPr lang="fa-IR" dirty="0" smtClean="0">
                <a:solidFill>
                  <a:schemeClr val="accent5"/>
                </a:solidFill>
              </a:rPr>
              <a:t>پیش خریدار </a:t>
            </a:r>
            <a:r>
              <a:rPr lang="fa-IR" dirty="0">
                <a:solidFill>
                  <a:schemeClr val="accent5"/>
                </a:solidFill>
              </a:rPr>
              <a:t>پرداخت میگردد مانع از استیفاء مبلغ </a:t>
            </a:r>
            <a:r>
              <a:rPr lang="fa-IR" dirty="0" smtClean="0">
                <a:solidFill>
                  <a:schemeClr val="accent5"/>
                </a:solidFill>
              </a:rPr>
              <a:t>هزینه شده </a:t>
            </a:r>
            <a:r>
              <a:rPr lang="fa-IR" dirty="0">
                <a:solidFill>
                  <a:schemeClr val="accent5"/>
                </a:solidFill>
              </a:rPr>
              <a:t>از محل ماده </a:t>
            </a:r>
            <a:r>
              <a:rPr lang="fa-IR" dirty="0" smtClean="0">
                <a:solidFill>
                  <a:schemeClr val="accent5"/>
                </a:solidFill>
              </a:rPr>
              <a:t>(11) </a:t>
            </a:r>
            <a:r>
              <a:rPr lang="fa-IR" dirty="0">
                <a:solidFill>
                  <a:schemeClr val="accent5"/>
                </a:solidFill>
              </a:rPr>
              <a:t>و غیره با کسب نظر هیأت داوری مندرج در ماده </a:t>
            </a:r>
            <a:r>
              <a:rPr lang="fa-IR" dirty="0" smtClean="0">
                <a:solidFill>
                  <a:schemeClr val="accent5"/>
                </a:solidFill>
              </a:rPr>
              <a:t>(20) </a:t>
            </a:r>
            <a:r>
              <a:rPr lang="fa-IR" dirty="0">
                <a:solidFill>
                  <a:schemeClr val="accent5"/>
                </a:solidFill>
              </a:rPr>
              <a:t>این قانون نخواهد بود</a:t>
            </a:r>
            <a:r>
              <a:rPr lang="fa-IR" dirty="0" smtClean="0">
                <a:solidFill>
                  <a:schemeClr val="accent5"/>
                </a:solidFill>
              </a:rPr>
              <a:t>.</a:t>
            </a:r>
          </a:p>
          <a:p>
            <a:pPr algn="r" rtl="1"/>
            <a:endParaRPr lang="fa-IR" dirty="0" smtClean="0">
              <a:solidFill>
                <a:schemeClr val="accent5"/>
              </a:solidFill>
            </a:endParaRPr>
          </a:p>
          <a:p>
            <a:pPr algn="r" rtl="1"/>
            <a:r>
              <a:rPr lang="fa-IR" dirty="0">
                <a:solidFill>
                  <a:schemeClr val="accent5"/>
                </a:solidFill>
              </a:rPr>
              <a:t>ماده15ـ عرصه و اعیان واحد </a:t>
            </a:r>
            <a:r>
              <a:rPr lang="fa-IR" dirty="0" smtClean="0">
                <a:solidFill>
                  <a:schemeClr val="accent5"/>
                </a:solidFill>
              </a:rPr>
              <a:t>پیش فروش </a:t>
            </a:r>
            <a:r>
              <a:rPr lang="fa-IR" dirty="0">
                <a:solidFill>
                  <a:schemeClr val="accent5"/>
                </a:solidFill>
              </a:rPr>
              <a:t>شده و نیز اقساط و وجوه وصول و یا </a:t>
            </a:r>
            <a:r>
              <a:rPr lang="fa-IR" dirty="0" smtClean="0">
                <a:solidFill>
                  <a:schemeClr val="accent5"/>
                </a:solidFill>
              </a:rPr>
              <a:t>تعهد شده </a:t>
            </a:r>
            <a:r>
              <a:rPr lang="fa-IR" dirty="0">
                <a:solidFill>
                  <a:schemeClr val="accent5"/>
                </a:solidFill>
              </a:rPr>
              <a:t>بابت آن، قبل از انتقال رسمی واحد </a:t>
            </a:r>
            <a:r>
              <a:rPr lang="fa-IR" dirty="0" smtClean="0">
                <a:solidFill>
                  <a:schemeClr val="accent5"/>
                </a:solidFill>
              </a:rPr>
              <a:t>پیش فروش شده </a:t>
            </a:r>
            <a:r>
              <a:rPr lang="fa-IR" dirty="0">
                <a:solidFill>
                  <a:schemeClr val="accent5"/>
                </a:solidFill>
              </a:rPr>
              <a:t>به </a:t>
            </a:r>
            <a:r>
              <a:rPr lang="fa-IR" dirty="0" smtClean="0">
                <a:solidFill>
                  <a:schemeClr val="accent5"/>
                </a:solidFill>
              </a:rPr>
              <a:t>پیش خریدار </a:t>
            </a:r>
            <a:r>
              <a:rPr lang="fa-IR" dirty="0">
                <a:solidFill>
                  <a:schemeClr val="accent5"/>
                </a:solidFill>
              </a:rPr>
              <a:t>قابل توقیف و تأمین به نفع </a:t>
            </a:r>
            <a:r>
              <a:rPr lang="fa-IR" dirty="0" smtClean="0">
                <a:solidFill>
                  <a:schemeClr val="accent5"/>
                </a:solidFill>
              </a:rPr>
              <a:t>پیش فروشنده </a:t>
            </a:r>
            <a:r>
              <a:rPr lang="fa-IR" dirty="0">
                <a:solidFill>
                  <a:schemeClr val="accent5"/>
                </a:solidFill>
              </a:rPr>
              <a:t>یا طلبکار او </a:t>
            </a:r>
            <a:r>
              <a:rPr lang="fa-IR" dirty="0" smtClean="0">
                <a:solidFill>
                  <a:schemeClr val="accent5"/>
                </a:solidFill>
              </a:rPr>
              <a:t>نیست.</a:t>
            </a:r>
            <a:endParaRPr lang="en-US" dirty="0">
              <a:solidFill>
                <a:schemeClr val="accent5"/>
              </a:solidFill>
            </a:endParaRPr>
          </a:p>
        </p:txBody>
      </p:sp>
      <p:pic>
        <p:nvPicPr>
          <p:cNvPr id="2" name="Picture 1"/>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88484" y="1669188"/>
            <a:ext cx="5707516" cy="3798092"/>
          </a:xfrm>
          <a:prstGeom prst="rect">
            <a:avLst/>
          </a:prstGeom>
        </p:spPr>
      </p:pic>
    </p:spTree>
    <p:extLst>
      <p:ext uri="{BB962C8B-B14F-4D97-AF65-F5344CB8AC3E}">
        <p14:creationId xmlns:p14="http://schemas.microsoft.com/office/powerpoint/2010/main" val="395372213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1141412" y="435429"/>
            <a:ext cx="9905999" cy="5355772"/>
          </a:xfrm>
        </p:spPr>
        <p:txBody>
          <a:bodyPr/>
          <a:lstStyle/>
          <a:p>
            <a:pPr algn="r" rtl="1"/>
            <a:r>
              <a:rPr lang="fa-IR" dirty="0">
                <a:solidFill>
                  <a:schemeClr val="accent5"/>
                </a:solidFill>
              </a:rPr>
              <a:t>ماده16ـ درصورت عدم پرداخت اقساط بها یا عوض قراردادی در مواعد مقرر، </a:t>
            </a:r>
            <a:r>
              <a:rPr lang="fa-IR" dirty="0" smtClean="0">
                <a:solidFill>
                  <a:schemeClr val="accent5"/>
                </a:solidFill>
              </a:rPr>
              <a:t>پیش فروشنده </a:t>
            </a:r>
            <a:r>
              <a:rPr lang="fa-IR" dirty="0">
                <a:solidFill>
                  <a:schemeClr val="accent5"/>
                </a:solidFill>
              </a:rPr>
              <a:t>باید مراتب را کتبًا به دفترخانه </a:t>
            </a:r>
            <a:r>
              <a:rPr lang="fa-IR" dirty="0" smtClean="0">
                <a:solidFill>
                  <a:schemeClr val="accent5"/>
                </a:solidFill>
              </a:rPr>
              <a:t>تنظیم کننده </a:t>
            </a:r>
            <a:r>
              <a:rPr lang="fa-IR" dirty="0">
                <a:solidFill>
                  <a:schemeClr val="accent5"/>
                </a:solidFill>
              </a:rPr>
              <a:t>سند </a:t>
            </a:r>
            <a:r>
              <a:rPr lang="fa-IR" dirty="0" smtClean="0">
                <a:solidFill>
                  <a:schemeClr val="accent5"/>
                </a:solidFill>
              </a:rPr>
              <a:t>اعلام </a:t>
            </a:r>
            <a:r>
              <a:rPr lang="fa-IR" dirty="0">
                <a:solidFill>
                  <a:schemeClr val="accent5"/>
                </a:solidFill>
              </a:rPr>
              <a:t>کند. دفترخانه مکلف است ظرف مهلت یک هفته به </a:t>
            </a:r>
            <a:r>
              <a:rPr lang="fa-IR" dirty="0" smtClean="0">
                <a:solidFill>
                  <a:schemeClr val="accent5"/>
                </a:solidFill>
              </a:rPr>
              <a:t>پیش خریدار </a:t>
            </a:r>
            <a:r>
              <a:rPr lang="fa-IR" dirty="0">
                <a:solidFill>
                  <a:schemeClr val="accent5"/>
                </a:solidFill>
              </a:rPr>
              <a:t>اخطار نماید تا ظرف یک ماه نسبت به پرداخت اقساط معوقه اقدام نماید در غیر اینصورت </a:t>
            </a:r>
            <a:r>
              <a:rPr lang="fa-IR" dirty="0" smtClean="0">
                <a:solidFill>
                  <a:schemeClr val="accent5"/>
                </a:solidFill>
              </a:rPr>
              <a:t>پیش فروشنده </a:t>
            </a:r>
            <a:r>
              <a:rPr lang="fa-IR" dirty="0">
                <a:solidFill>
                  <a:schemeClr val="accent5"/>
                </a:solidFill>
              </a:rPr>
              <a:t>حق فسخ قرارداد را خواهد </a:t>
            </a:r>
            <a:r>
              <a:rPr lang="fa-IR" dirty="0" smtClean="0">
                <a:solidFill>
                  <a:schemeClr val="accent5"/>
                </a:solidFill>
              </a:rPr>
              <a:t>داشت.</a:t>
            </a:r>
          </a:p>
          <a:p>
            <a:pPr algn="r" rtl="1"/>
            <a:endParaRPr lang="fa-IR" dirty="0">
              <a:solidFill>
                <a:schemeClr val="accent5"/>
              </a:solidFill>
            </a:endParaRPr>
          </a:p>
          <a:p>
            <a:pPr algn="r" rtl="1"/>
            <a:r>
              <a:rPr lang="fa-IR" dirty="0">
                <a:solidFill>
                  <a:schemeClr val="accent5"/>
                </a:solidFill>
              </a:rPr>
              <a:t>ماده17ـ واگذاری تمام یا بخشی از حقوق و تعهدات </a:t>
            </a:r>
            <a:r>
              <a:rPr lang="fa-IR" dirty="0" smtClean="0">
                <a:solidFill>
                  <a:schemeClr val="accent5"/>
                </a:solidFill>
              </a:rPr>
              <a:t>پیش فروشنده </a:t>
            </a:r>
            <a:r>
              <a:rPr lang="fa-IR" dirty="0">
                <a:solidFill>
                  <a:schemeClr val="accent5"/>
                </a:solidFill>
              </a:rPr>
              <a:t>نسبت به واحد </a:t>
            </a:r>
            <a:r>
              <a:rPr lang="fa-IR" dirty="0" smtClean="0">
                <a:solidFill>
                  <a:schemeClr val="accent5"/>
                </a:solidFill>
              </a:rPr>
              <a:t>پیش فروش </a:t>
            </a:r>
            <a:r>
              <a:rPr lang="fa-IR" dirty="0">
                <a:solidFill>
                  <a:schemeClr val="accent5"/>
                </a:solidFill>
              </a:rPr>
              <a:t>شده و عرصه آن پس از اخذ رضایت همه </a:t>
            </a:r>
            <a:r>
              <a:rPr lang="fa-IR" dirty="0" smtClean="0">
                <a:solidFill>
                  <a:schemeClr val="accent5"/>
                </a:solidFill>
              </a:rPr>
              <a:t>پیش خریداران </a:t>
            </a:r>
            <a:r>
              <a:rPr lang="fa-IR" dirty="0">
                <a:solidFill>
                  <a:schemeClr val="accent5"/>
                </a:solidFill>
              </a:rPr>
              <a:t>یا </a:t>
            </a:r>
            <a:r>
              <a:rPr lang="fa-IR" dirty="0" smtClean="0">
                <a:solidFill>
                  <a:schemeClr val="accent5"/>
                </a:solidFill>
              </a:rPr>
              <a:t>قائم مقام </a:t>
            </a:r>
            <a:r>
              <a:rPr lang="fa-IR" dirty="0">
                <a:solidFill>
                  <a:schemeClr val="accent5"/>
                </a:solidFill>
              </a:rPr>
              <a:t>قانونی آنها </a:t>
            </a:r>
            <a:r>
              <a:rPr lang="fa-IR" dirty="0" smtClean="0">
                <a:solidFill>
                  <a:schemeClr val="accent5"/>
                </a:solidFill>
              </a:rPr>
              <a:t>بلامانع است.</a:t>
            </a:r>
          </a:p>
          <a:p>
            <a:pPr algn="r" rtl="1"/>
            <a:endParaRPr lang="fa-IR" dirty="0">
              <a:solidFill>
                <a:schemeClr val="accent5"/>
              </a:solidFill>
            </a:endParaRPr>
          </a:p>
          <a:p>
            <a:pPr algn="r" rtl="1"/>
            <a:r>
              <a:rPr lang="fa-IR" dirty="0">
                <a:solidFill>
                  <a:schemeClr val="accent5"/>
                </a:solidFill>
              </a:rPr>
              <a:t>ماده18ـ درصورت انتقال حقوق و تعهدات </a:t>
            </a:r>
            <a:r>
              <a:rPr lang="fa-IR" dirty="0" smtClean="0">
                <a:solidFill>
                  <a:schemeClr val="accent5"/>
                </a:solidFill>
              </a:rPr>
              <a:t>پیش خریدار </a:t>
            </a:r>
            <a:r>
              <a:rPr lang="fa-IR" dirty="0">
                <a:solidFill>
                  <a:schemeClr val="accent5"/>
                </a:solidFill>
              </a:rPr>
              <a:t>نسبت به واحد </a:t>
            </a:r>
            <a:r>
              <a:rPr lang="fa-IR" dirty="0" smtClean="0">
                <a:solidFill>
                  <a:schemeClr val="accent5"/>
                </a:solidFill>
              </a:rPr>
              <a:t>پیش فروش شده </a:t>
            </a:r>
            <a:r>
              <a:rPr lang="fa-IR" dirty="0">
                <a:solidFill>
                  <a:schemeClr val="accent5"/>
                </a:solidFill>
              </a:rPr>
              <a:t>بدون رضایت </a:t>
            </a:r>
            <a:r>
              <a:rPr lang="fa-IR" dirty="0" smtClean="0">
                <a:solidFill>
                  <a:schemeClr val="accent5"/>
                </a:solidFill>
              </a:rPr>
              <a:t>پیش فروشنده</a:t>
            </a:r>
            <a:r>
              <a:rPr lang="fa-IR" dirty="0">
                <a:solidFill>
                  <a:schemeClr val="accent5"/>
                </a:solidFill>
              </a:rPr>
              <a:t>، </a:t>
            </a:r>
            <a:r>
              <a:rPr lang="fa-IR" dirty="0" smtClean="0">
                <a:solidFill>
                  <a:schemeClr val="accent5"/>
                </a:solidFill>
              </a:rPr>
              <a:t>پیش خریدار عهده دار </a:t>
            </a:r>
            <a:r>
              <a:rPr lang="fa-IR" dirty="0">
                <a:solidFill>
                  <a:schemeClr val="accent5"/>
                </a:solidFill>
              </a:rPr>
              <a:t>پرداخت بها یا عوض قرارداد خواهد بود.</a:t>
            </a:r>
            <a:endParaRPr lang="en-US" dirty="0">
              <a:solidFill>
                <a:schemeClr val="accent5"/>
              </a:solidFill>
            </a:endParaRPr>
          </a:p>
        </p:txBody>
      </p:sp>
    </p:spTree>
    <p:extLst>
      <p:ext uri="{BB962C8B-B14F-4D97-AF65-F5344CB8AC3E}">
        <p14:creationId xmlns:p14="http://schemas.microsoft.com/office/powerpoint/2010/main" val="2120225354"/>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6096000" y="217715"/>
            <a:ext cx="4951411" cy="5364480"/>
          </a:xfrm>
        </p:spPr>
        <p:txBody>
          <a:bodyPr>
            <a:normAutofit fontScale="85000" lnSpcReduction="20000"/>
          </a:bodyPr>
          <a:lstStyle/>
          <a:p>
            <a:pPr algn="r" rtl="1"/>
            <a:r>
              <a:rPr lang="fa-IR" dirty="0">
                <a:solidFill>
                  <a:schemeClr val="accent5"/>
                </a:solidFill>
              </a:rPr>
              <a:t>ماده19ـ پس از انتقال قطعی واحد </a:t>
            </a:r>
            <a:r>
              <a:rPr lang="fa-IR" dirty="0" smtClean="0">
                <a:solidFill>
                  <a:schemeClr val="accent5"/>
                </a:solidFill>
              </a:rPr>
              <a:t>پیش فروش </a:t>
            </a:r>
            <a:r>
              <a:rPr lang="fa-IR" dirty="0">
                <a:solidFill>
                  <a:schemeClr val="accent5"/>
                </a:solidFill>
              </a:rPr>
              <a:t>شده و انجام کلیه تعهدات، قرارداد </a:t>
            </a:r>
            <a:r>
              <a:rPr lang="fa-IR" dirty="0" smtClean="0">
                <a:solidFill>
                  <a:schemeClr val="accent5"/>
                </a:solidFill>
              </a:rPr>
              <a:t>پیش فروش </a:t>
            </a:r>
            <a:r>
              <a:rPr lang="fa-IR" dirty="0">
                <a:solidFill>
                  <a:schemeClr val="accent5"/>
                </a:solidFill>
              </a:rPr>
              <a:t>از درجه اعتبار ساقط و طرفین ملزم به اعاده آن به دفترخانه میباشند. </a:t>
            </a:r>
            <a:endParaRPr lang="fa-IR" dirty="0" smtClean="0">
              <a:solidFill>
                <a:schemeClr val="accent5"/>
              </a:solidFill>
            </a:endParaRPr>
          </a:p>
          <a:p>
            <a:pPr algn="r" rtl="1"/>
            <a:endParaRPr lang="fa-IR" dirty="0">
              <a:solidFill>
                <a:schemeClr val="accent5"/>
              </a:solidFill>
            </a:endParaRPr>
          </a:p>
          <a:p>
            <a:pPr algn="r" rtl="1"/>
            <a:r>
              <a:rPr lang="fa-IR" dirty="0">
                <a:solidFill>
                  <a:schemeClr val="accent5"/>
                </a:solidFill>
              </a:rPr>
              <a:t>ماده20ـ کلیه </a:t>
            </a:r>
            <a:r>
              <a:rPr lang="fa-IR" dirty="0" smtClean="0">
                <a:solidFill>
                  <a:schemeClr val="accent5"/>
                </a:solidFill>
              </a:rPr>
              <a:t>اختلافات </a:t>
            </a:r>
            <a:r>
              <a:rPr lang="fa-IR" dirty="0">
                <a:solidFill>
                  <a:schemeClr val="accent5"/>
                </a:solidFill>
              </a:rPr>
              <a:t>ناشی از تعبیر، تفسیر و اجراء مفاد قرارداد </a:t>
            </a:r>
            <a:r>
              <a:rPr lang="fa-IR" dirty="0" smtClean="0">
                <a:solidFill>
                  <a:schemeClr val="accent5"/>
                </a:solidFill>
              </a:rPr>
              <a:t>پیش فروش </a:t>
            </a:r>
            <a:r>
              <a:rPr lang="fa-IR" dirty="0">
                <a:solidFill>
                  <a:schemeClr val="accent5"/>
                </a:solidFill>
              </a:rPr>
              <a:t>توسط هیأت داوران متشکل از یک داور از سوی خریدار و یک داور از سوی فروشنده و یک داور </a:t>
            </a:r>
            <a:r>
              <a:rPr lang="fa-IR" dirty="0" smtClean="0">
                <a:solidFill>
                  <a:schemeClr val="accent5"/>
                </a:solidFill>
              </a:rPr>
              <a:t>مرضی الطرفین </a:t>
            </a:r>
            <a:r>
              <a:rPr lang="fa-IR" dirty="0">
                <a:solidFill>
                  <a:schemeClr val="accent5"/>
                </a:solidFill>
              </a:rPr>
              <a:t>و در صورت عدم توافق بر داور </a:t>
            </a:r>
            <a:r>
              <a:rPr lang="fa-IR" dirty="0" smtClean="0">
                <a:solidFill>
                  <a:schemeClr val="accent5"/>
                </a:solidFill>
              </a:rPr>
              <a:t>مرضی الطرفین </a:t>
            </a:r>
            <a:r>
              <a:rPr lang="fa-IR" dirty="0">
                <a:solidFill>
                  <a:schemeClr val="accent5"/>
                </a:solidFill>
              </a:rPr>
              <a:t>یک داور با معرفی رئیس دادگستری شهرستان مربوطه انجام میپذیرد. درصورت نیاز داوران میتوانند از نظر کارشناسان رسمی محل استفاده نماید. </a:t>
            </a:r>
            <a:r>
              <a:rPr lang="fa-IR" dirty="0" smtClean="0">
                <a:solidFill>
                  <a:schemeClr val="accent5"/>
                </a:solidFill>
              </a:rPr>
              <a:t>آئین نامه </a:t>
            </a:r>
            <a:r>
              <a:rPr lang="fa-IR" dirty="0">
                <a:solidFill>
                  <a:schemeClr val="accent5"/>
                </a:solidFill>
              </a:rPr>
              <a:t>اجرائی این ماده توسط وزارت مسکن و شهرسازی و وزارت دادگستری تهیه و به تأیید هیأت وزیران خواهد رسید. داوری موضوع این قانون تابع مقررات آئین دادرسی </a:t>
            </a:r>
            <a:r>
              <a:rPr lang="fa-IR" dirty="0" smtClean="0">
                <a:solidFill>
                  <a:schemeClr val="accent5"/>
                </a:solidFill>
              </a:rPr>
              <a:t>دادگاه های </a:t>
            </a:r>
            <a:r>
              <a:rPr lang="fa-IR" dirty="0">
                <a:solidFill>
                  <a:schemeClr val="accent5"/>
                </a:solidFill>
              </a:rPr>
              <a:t>عمومی و </a:t>
            </a:r>
            <a:r>
              <a:rPr lang="fa-IR" dirty="0" smtClean="0">
                <a:solidFill>
                  <a:schemeClr val="accent5"/>
                </a:solidFill>
              </a:rPr>
              <a:t>انقلاب </a:t>
            </a:r>
            <a:r>
              <a:rPr lang="fa-IR" dirty="0">
                <a:solidFill>
                  <a:schemeClr val="accent5"/>
                </a:solidFill>
              </a:rPr>
              <a:t>خواهد </a:t>
            </a:r>
            <a:r>
              <a:rPr lang="fa-IR" dirty="0" smtClean="0">
                <a:solidFill>
                  <a:schemeClr val="accent5"/>
                </a:solidFill>
              </a:rPr>
              <a:t>بود.</a:t>
            </a:r>
            <a:endParaRPr lang="en-US" dirty="0">
              <a:solidFill>
                <a:schemeClr val="accent5"/>
              </a:solidFill>
            </a:endParaRPr>
          </a:p>
        </p:txBody>
      </p:sp>
      <p:pic>
        <p:nvPicPr>
          <p:cNvPr id="2" name="Picture 1"/>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68146" y="1782399"/>
            <a:ext cx="5827854" cy="3878172"/>
          </a:xfrm>
          <a:prstGeom prst="rect">
            <a:avLst/>
          </a:prstGeom>
        </p:spPr>
      </p:pic>
    </p:spTree>
    <p:extLst>
      <p:ext uri="{BB962C8B-B14F-4D97-AF65-F5344CB8AC3E}">
        <p14:creationId xmlns:p14="http://schemas.microsoft.com/office/powerpoint/2010/main" val="2363086307"/>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6096000" y="296091"/>
            <a:ext cx="4951411" cy="5329646"/>
          </a:xfrm>
        </p:spPr>
        <p:txBody>
          <a:bodyPr>
            <a:normAutofit fontScale="85000" lnSpcReduction="20000"/>
          </a:bodyPr>
          <a:lstStyle/>
          <a:p>
            <a:pPr algn="r" rtl="1"/>
            <a:r>
              <a:rPr lang="fa-IR" dirty="0">
                <a:solidFill>
                  <a:schemeClr val="accent5"/>
                </a:solidFill>
              </a:rPr>
              <a:t>ماده21ـ </a:t>
            </a:r>
            <a:r>
              <a:rPr lang="fa-IR" dirty="0" smtClean="0">
                <a:solidFill>
                  <a:schemeClr val="accent5"/>
                </a:solidFill>
              </a:rPr>
              <a:t>پیش فروشنده </a:t>
            </a:r>
            <a:r>
              <a:rPr lang="fa-IR" dirty="0">
                <a:solidFill>
                  <a:schemeClr val="accent5"/>
                </a:solidFill>
              </a:rPr>
              <a:t>باید قبل از هرگونه اقدام جهت تبلیغ و آگهی </a:t>
            </a:r>
            <a:r>
              <a:rPr lang="fa-IR" dirty="0" smtClean="0">
                <a:solidFill>
                  <a:schemeClr val="accent5"/>
                </a:solidFill>
              </a:rPr>
              <a:t>پیش فروش </a:t>
            </a:r>
            <a:r>
              <a:rPr lang="fa-IR" dirty="0">
                <a:solidFill>
                  <a:schemeClr val="accent5"/>
                </a:solidFill>
              </a:rPr>
              <a:t>به هر طریق از جمله درج در مطبوعات و </a:t>
            </a:r>
            <a:r>
              <a:rPr lang="fa-IR" dirty="0" smtClean="0">
                <a:solidFill>
                  <a:schemeClr val="accent5"/>
                </a:solidFill>
              </a:rPr>
              <a:t>پایگاه های اطلاع رسانی </a:t>
            </a:r>
            <a:r>
              <a:rPr lang="fa-IR" dirty="0">
                <a:solidFill>
                  <a:schemeClr val="accent5"/>
                </a:solidFill>
              </a:rPr>
              <a:t>و سایر </a:t>
            </a:r>
            <a:r>
              <a:rPr lang="fa-IR" dirty="0" smtClean="0">
                <a:solidFill>
                  <a:schemeClr val="accent5"/>
                </a:solidFill>
              </a:rPr>
              <a:t>رسانه های </a:t>
            </a:r>
            <a:r>
              <a:rPr lang="fa-IR" dirty="0">
                <a:solidFill>
                  <a:schemeClr val="accent5"/>
                </a:solidFill>
              </a:rPr>
              <a:t>گروهی و نصب در اماکن و غیره، مجوز انتشار آگهی را از مراجع ذیصالح که در </a:t>
            </a:r>
            <a:r>
              <a:rPr lang="fa-IR" dirty="0" smtClean="0">
                <a:solidFill>
                  <a:schemeClr val="accent5"/>
                </a:solidFill>
              </a:rPr>
              <a:t>آئین نامه </a:t>
            </a:r>
            <a:r>
              <a:rPr lang="fa-IR" dirty="0">
                <a:solidFill>
                  <a:schemeClr val="accent5"/>
                </a:solidFill>
              </a:rPr>
              <a:t>اجرائی این قانون مشخص میشود أخذ و ضمیمه درخواست آگهی به مطبوعات و </a:t>
            </a:r>
            <a:r>
              <a:rPr lang="fa-IR" dirty="0" smtClean="0">
                <a:solidFill>
                  <a:schemeClr val="accent5"/>
                </a:solidFill>
              </a:rPr>
              <a:t>رسانه های </a:t>
            </a:r>
            <a:r>
              <a:rPr lang="fa-IR" dirty="0">
                <a:solidFill>
                  <a:schemeClr val="accent5"/>
                </a:solidFill>
              </a:rPr>
              <a:t>یادشده ارائه نماید. شماره و تاریخ این مجوز باید در آگهی درج و به </a:t>
            </a:r>
            <a:r>
              <a:rPr lang="fa-IR" dirty="0" smtClean="0">
                <a:solidFill>
                  <a:schemeClr val="accent5"/>
                </a:solidFill>
              </a:rPr>
              <a:t>اطلاع </a:t>
            </a:r>
            <a:r>
              <a:rPr lang="fa-IR" dirty="0">
                <a:solidFill>
                  <a:schemeClr val="accent5"/>
                </a:solidFill>
              </a:rPr>
              <a:t>عموم رسانده شود</a:t>
            </a:r>
            <a:r>
              <a:rPr lang="fa-IR" dirty="0" smtClean="0">
                <a:solidFill>
                  <a:schemeClr val="accent5"/>
                </a:solidFill>
              </a:rPr>
              <a:t>.</a:t>
            </a:r>
          </a:p>
          <a:p>
            <a:pPr algn="r" rtl="1"/>
            <a:endParaRPr lang="fa-IR" dirty="0" smtClean="0">
              <a:solidFill>
                <a:schemeClr val="accent5"/>
              </a:solidFill>
            </a:endParaRPr>
          </a:p>
          <a:p>
            <a:pPr algn="r" rtl="1"/>
            <a:r>
              <a:rPr lang="fa-IR" dirty="0">
                <a:solidFill>
                  <a:schemeClr val="accent5"/>
                </a:solidFill>
              </a:rPr>
              <a:t>مطبوعات و </a:t>
            </a:r>
            <a:r>
              <a:rPr lang="fa-IR" dirty="0" smtClean="0">
                <a:solidFill>
                  <a:schemeClr val="accent5"/>
                </a:solidFill>
              </a:rPr>
              <a:t>رسانه ها </a:t>
            </a:r>
            <a:r>
              <a:rPr lang="fa-IR" dirty="0">
                <a:solidFill>
                  <a:schemeClr val="accent5"/>
                </a:solidFill>
              </a:rPr>
              <a:t>قبل از دریافت مجوز یادشده حق درج و انتشار آگهی </a:t>
            </a:r>
            <a:r>
              <a:rPr lang="fa-IR" dirty="0" smtClean="0">
                <a:solidFill>
                  <a:schemeClr val="accent5"/>
                </a:solidFill>
              </a:rPr>
              <a:t>پیش فروش </a:t>
            </a:r>
            <a:r>
              <a:rPr lang="fa-IR" dirty="0">
                <a:solidFill>
                  <a:schemeClr val="accent5"/>
                </a:solidFill>
              </a:rPr>
              <a:t>را ندارند. در غیر این صورت به توقیف به مدت حداکثر دو ماه و جزاء نقدی از ده میلیون </a:t>
            </a:r>
            <a:r>
              <a:rPr lang="fa-IR" dirty="0" smtClean="0">
                <a:solidFill>
                  <a:schemeClr val="accent5"/>
                </a:solidFill>
              </a:rPr>
              <a:t>(10.000.000)ریال </a:t>
            </a:r>
            <a:r>
              <a:rPr lang="fa-IR" dirty="0">
                <a:solidFill>
                  <a:schemeClr val="accent5"/>
                </a:solidFill>
              </a:rPr>
              <a:t>تا یکصد میلیون </a:t>
            </a:r>
            <a:r>
              <a:rPr lang="fa-IR" dirty="0" smtClean="0">
                <a:solidFill>
                  <a:schemeClr val="accent5"/>
                </a:solidFill>
              </a:rPr>
              <a:t>(100.000.000) </a:t>
            </a:r>
            <a:r>
              <a:rPr lang="fa-IR" dirty="0">
                <a:solidFill>
                  <a:schemeClr val="accent5"/>
                </a:solidFill>
              </a:rPr>
              <a:t>ریال و در صورت تکرار به حداکثر مجازات محکوم خواهند شد.</a:t>
            </a:r>
            <a:endParaRPr lang="en-US" dirty="0">
              <a:solidFill>
                <a:schemeClr val="accent5"/>
              </a:solidFill>
            </a:endParaRPr>
          </a:p>
        </p:txBody>
      </p:sp>
      <p:pic>
        <p:nvPicPr>
          <p:cNvPr id="2" name="Picture 1"/>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00006" y="2034948"/>
            <a:ext cx="5395994" cy="3590789"/>
          </a:xfrm>
          <a:prstGeom prst="rect">
            <a:avLst/>
          </a:prstGeom>
        </p:spPr>
      </p:pic>
    </p:spTree>
    <p:extLst>
      <p:ext uri="{BB962C8B-B14F-4D97-AF65-F5344CB8AC3E}">
        <p14:creationId xmlns:p14="http://schemas.microsoft.com/office/powerpoint/2010/main" val="54769477"/>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6096000" y="269966"/>
            <a:ext cx="4951411" cy="5843451"/>
          </a:xfrm>
        </p:spPr>
        <p:txBody>
          <a:bodyPr>
            <a:normAutofit fontScale="92500"/>
          </a:bodyPr>
          <a:lstStyle/>
          <a:p>
            <a:pPr algn="r" rtl="1"/>
            <a:r>
              <a:rPr lang="fa-IR" dirty="0">
                <a:solidFill>
                  <a:schemeClr val="accent5"/>
                </a:solidFill>
              </a:rPr>
              <a:t>ماده22ـ </a:t>
            </a:r>
            <a:r>
              <a:rPr lang="fa-IR" dirty="0" smtClean="0">
                <a:solidFill>
                  <a:schemeClr val="accent5"/>
                </a:solidFill>
              </a:rPr>
              <a:t>شهرداری ها </a:t>
            </a:r>
            <a:r>
              <a:rPr lang="fa-IR" dirty="0">
                <a:solidFill>
                  <a:schemeClr val="accent5"/>
                </a:solidFill>
              </a:rPr>
              <a:t>مکلفند هنگام صدور پروانه ساختمان برای هر واحد نیز شناسنامه فنی مستقل با ذکر مشخصات کامل و ملحقات و سایر حقوق با شماره مسلسل </a:t>
            </a:r>
            <a:r>
              <a:rPr lang="fa-IR" dirty="0" smtClean="0">
                <a:solidFill>
                  <a:schemeClr val="accent5"/>
                </a:solidFill>
              </a:rPr>
              <a:t>صادر </a:t>
            </a:r>
            <a:r>
              <a:rPr lang="fa-IR" dirty="0">
                <a:solidFill>
                  <a:schemeClr val="accent5"/>
                </a:solidFill>
              </a:rPr>
              <a:t>به متقاضی تسلیم نمایند</a:t>
            </a:r>
            <a:r>
              <a:rPr lang="fa-IR" dirty="0" smtClean="0">
                <a:solidFill>
                  <a:schemeClr val="accent5"/>
                </a:solidFill>
              </a:rPr>
              <a:t>.</a:t>
            </a:r>
          </a:p>
          <a:p>
            <a:pPr algn="r" rtl="1"/>
            <a:endParaRPr lang="fa-IR" dirty="0">
              <a:solidFill>
                <a:schemeClr val="accent5"/>
              </a:solidFill>
            </a:endParaRPr>
          </a:p>
          <a:p>
            <a:pPr algn="r" rtl="1"/>
            <a:r>
              <a:rPr lang="fa-IR" dirty="0">
                <a:solidFill>
                  <a:schemeClr val="accent5"/>
                </a:solidFill>
              </a:rPr>
              <a:t>ماده23ـ اشخاصی که بدون تنظیم سند رسمی اقدام به </a:t>
            </a:r>
            <a:r>
              <a:rPr lang="fa-IR" dirty="0" smtClean="0">
                <a:solidFill>
                  <a:schemeClr val="accent5"/>
                </a:solidFill>
              </a:rPr>
              <a:t>پیش فروش </a:t>
            </a:r>
            <a:r>
              <a:rPr lang="fa-IR" dirty="0">
                <a:solidFill>
                  <a:schemeClr val="accent5"/>
                </a:solidFill>
              </a:rPr>
              <a:t>ساختمان یا بدون اخذ مجوز اقدام به درج یا انتشار آگهی نمایند، به حبس از نود و یک روز تا </a:t>
            </a:r>
            <a:r>
              <a:rPr lang="fa-IR" dirty="0" smtClean="0">
                <a:solidFill>
                  <a:schemeClr val="accent5"/>
                </a:solidFill>
              </a:rPr>
              <a:t>یک سال </a:t>
            </a:r>
            <a:r>
              <a:rPr lang="fa-IR" dirty="0">
                <a:solidFill>
                  <a:schemeClr val="accent5"/>
                </a:solidFill>
              </a:rPr>
              <a:t>یا جزاء نقدی به میزان دو تا چهار برابر وجوه و اموال دریافتی محکوم میشوند</a:t>
            </a:r>
            <a:r>
              <a:rPr lang="fa-IR" dirty="0" smtClean="0">
                <a:solidFill>
                  <a:schemeClr val="accent5"/>
                </a:solidFill>
              </a:rPr>
              <a:t>.</a:t>
            </a:r>
          </a:p>
          <a:p>
            <a:pPr algn="r" rtl="1"/>
            <a:r>
              <a:rPr lang="fa-IR" sz="2000" dirty="0"/>
              <a:t>تبصره ـ جرائم مذکور در این ماده تعقیب نمیشود مگر با شکایت شاکی خصوصی یا وزارت مسکن و شهرسازی و با گذشت شاکی، تعقیب یا اجراء آن موقوف میشود.</a:t>
            </a:r>
            <a:endParaRPr lang="fa-IR" sz="2000" dirty="0" smtClean="0">
              <a:solidFill>
                <a:schemeClr val="accent5"/>
              </a:solidFill>
            </a:endParaRPr>
          </a:p>
          <a:p>
            <a:pPr algn="r" rtl="1"/>
            <a:endParaRPr lang="fa-IR" dirty="0">
              <a:solidFill>
                <a:schemeClr val="accent5"/>
              </a:solidFill>
            </a:endParaRPr>
          </a:p>
          <a:p>
            <a:pPr algn="r" rtl="1"/>
            <a:endParaRPr lang="en-US" dirty="0">
              <a:solidFill>
                <a:schemeClr val="accent5"/>
              </a:solidFill>
            </a:endParaRPr>
          </a:p>
        </p:txBody>
      </p:sp>
      <p:pic>
        <p:nvPicPr>
          <p:cNvPr id="2" name="Picture 1"/>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31222" y="1454330"/>
            <a:ext cx="5564777" cy="5403669"/>
          </a:xfrm>
          <a:prstGeom prst="rect">
            <a:avLst/>
          </a:prstGeom>
        </p:spPr>
      </p:pic>
    </p:spTree>
    <p:extLst>
      <p:ext uri="{BB962C8B-B14F-4D97-AF65-F5344CB8AC3E}">
        <p14:creationId xmlns:p14="http://schemas.microsoft.com/office/powerpoint/2010/main" val="18100204"/>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993367" y="1036320"/>
            <a:ext cx="5241971" cy="4450080"/>
          </a:xfrm>
        </p:spPr>
        <p:txBody>
          <a:bodyPr>
            <a:normAutofit fontScale="62500" lnSpcReduction="20000"/>
          </a:bodyPr>
          <a:lstStyle/>
          <a:p>
            <a:pPr algn="r" rtl="1"/>
            <a:r>
              <a:rPr lang="fa-IR" dirty="0">
                <a:solidFill>
                  <a:schemeClr val="accent5"/>
                </a:solidFill>
              </a:rPr>
              <a:t>ماده24ـ مشاوران </a:t>
            </a:r>
            <a:r>
              <a:rPr lang="fa-IR" dirty="0" smtClean="0">
                <a:solidFill>
                  <a:schemeClr val="accent5"/>
                </a:solidFill>
              </a:rPr>
              <a:t>املاک </a:t>
            </a:r>
            <a:r>
              <a:rPr lang="fa-IR" dirty="0">
                <a:solidFill>
                  <a:schemeClr val="accent5"/>
                </a:solidFill>
              </a:rPr>
              <a:t>باید پس از انجام مذاکرات مقدماتی، طرفین را جهت تنظیم سند رسمی قرارداد </a:t>
            </a:r>
            <a:r>
              <a:rPr lang="fa-IR" dirty="0" smtClean="0">
                <a:solidFill>
                  <a:schemeClr val="accent5"/>
                </a:solidFill>
              </a:rPr>
              <a:t>پیش فروش </a:t>
            </a:r>
            <a:r>
              <a:rPr lang="fa-IR" dirty="0">
                <a:solidFill>
                  <a:schemeClr val="accent5"/>
                </a:solidFill>
              </a:rPr>
              <a:t>به یکی از دفاتر اسناد رسمی </a:t>
            </a:r>
            <a:r>
              <a:rPr lang="fa-IR" dirty="0" smtClean="0">
                <a:solidFill>
                  <a:schemeClr val="accent5"/>
                </a:solidFill>
              </a:rPr>
              <a:t>دلالت </a:t>
            </a:r>
            <a:r>
              <a:rPr lang="fa-IR" dirty="0">
                <a:solidFill>
                  <a:schemeClr val="accent5"/>
                </a:solidFill>
              </a:rPr>
              <a:t>نمایند و نمیتوانند رأسًا مبادرت به تنظیم قرارداد </a:t>
            </a:r>
            <a:r>
              <a:rPr lang="fa-IR" dirty="0" smtClean="0">
                <a:solidFill>
                  <a:schemeClr val="accent5"/>
                </a:solidFill>
              </a:rPr>
              <a:t>پیش فروش </a:t>
            </a:r>
            <a:r>
              <a:rPr lang="fa-IR" dirty="0">
                <a:solidFill>
                  <a:schemeClr val="accent5"/>
                </a:solidFill>
              </a:rPr>
              <a:t>نمایند. در </a:t>
            </a:r>
            <a:r>
              <a:rPr lang="fa-IR" dirty="0" smtClean="0">
                <a:solidFill>
                  <a:schemeClr val="accent5"/>
                </a:solidFill>
              </a:rPr>
              <a:t>غیراین صورت </a:t>
            </a:r>
            <a:r>
              <a:rPr lang="fa-IR" dirty="0">
                <a:solidFill>
                  <a:schemeClr val="accent5"/>
                </a:solidFill>
              </a:rPr>
              <a:t>برای بار اول تا یکسال و برای بار دوم تا دو سال تعلیق پروانه کسب و برای بار سوم به ابطال پروانه کسب محکوم </a:t>
            </a:r>
            <a:r>
              <a:rPr lang="fa-IR" dirty="0" smtClean="0">
                <a:solidFill>
                  <a:schemeClr val="accent5"/>
                </a:solidFill>
              </a:rPr>
              <a:t>میشوند.</a:t>
            </a:r>
          </a:p>
          <a:p>
            <a:pPr algn="r" rtl="1"/>
            <a:endParaRPr lang="fa-IR" dirty="0">
              <a:solidFill>
                <a:schemeClr val="accent5"/>
              </a:solidFill>
            </a:endParaRPr>
          </a:p>
          <a:p>
            <a:pPr algn="r" rtl="1"/>
            <a:r>
              <a:rPr lang="fa-IR" dirty="0">
                <a:solidFill>
                  <a:schemeClr val="accent5"/>
                </a:solidFill>
              </a:rPr>
              <a:t>ماده25ـ </a:t>
            </a:r>
            <a:r>
              <a:rPr lang="fa-IR" dirty="0" smtClean="0">
                <a:solidFill>
                  <a:schemeClr val="accent5"/>
                </a:solidFill>
              </a:rPr>
              <a:t>آئین نامه </a:t>
            </a:r>
            <a:r>
              <a:rPr lang="fa-IR" dirty="0">
                <a:solidFill>
                  <a:schemeClr val="accent5"/>
                </a:solidFill>
              </a:rPr>
              <a:t>اجرائی این قانون ظرف سه ماه از تاریخ تصویب توسط وزارت دادگستری با همکاری وزارت مسکن و شهرسازی و سازمان ثبت اسناد و </a:t>
            </a:r>
            <a:r>
              <a:rPr lang="fa-IR" dirty="0" smtClean="0">
                <a:solidFill>
                  <a:schemeClr val="accent5"/>
                </a:solidFill>
              </a:rPr>
              <a:t>املاک </a:t>
            </a:r>
            <a:r>
              <a:rPr lang="fa-IR" dirty="0">
                <a:solidFill>
                  <a:schemeClr val="accent5"/>
                </a:solidFill>
              </a:rPr>
              <a:t>کشور تهیه و پس از تأیید رئیس قوه قضائیه به تصویب هیأت وزیران خواهد رسید</a:t>
            </a:r>
            <a:r>
              <a:rPr lang="fa-IR" dirty="0" smtClean="0">
                <a:solidFill>
                  <a:schemeClr val="accent5"/>
                </a:solidFill>
              </a:rPr>
              <a:t>.</a:t>
            </a:r>
          </a:p>
          <a:p>
            <a:pPr algn="r" rtl="1"/>
            <a:r>
              <a:rPr lang="fa-IR" sz="2000" dirty="0"/>
              <a:t>قانون فوق مشتمل بر بیست و پنج ماده و چهار تبصره در جلسه علنی روز یکشنبه مورخ دوازدهم دیماه یکهزار و سیصد و هشتاد و نه مجلس شورای </a:t>
            </a:r>
            <a:r>
              <a:rPr lang="fa-IR" sz="2000" dirty="0" smtClean="0"/>
              <a:t>اسلامی </a:t>
            </a:r>
            <a:r>
              <a:rPr lang="fa-IR" sz="2000" dirty="0"/>
              <a:t>تصویب و در تاریخ 29/10/1389 به تأیید شورای نگهبان رسید</a:t>
            </a:r>
            <a:r>
              <a:rPr lang="fa-IR" sz="2000" dirty="0" smtClean="0"/>
              <a:t>.</a:t>
            </a:r>
          </a:p>
          <a:p>
            <a:pPr algn="r" rtl="1"/>
            <a:r>
              <a:rPr lang="fa-IR" sz="2000" dirty="0" smtClean="0"/>
              <a:t> </a:t>
            </a:r>
            <a:r>
              <a:rPr lang="fa-IR" sz="2000" dirty="0"/>
              <a:t>رییس مجلس شورای </a:t>
            </a:r>
            <a:r>
              <a:rPr lang="fa-IR" sz="2000" dirty="0" smtClean="0"/>
              <a:t>اسلامی </a:t>
            </a:r>
          </a:p>
          <a:p>
            <a:pPr algn="r" rtl="1"/>
            <a:r>
              <a:rPr lang="fa-IR" dirty="0" smtClean="0"/>
              <a:t>ـ </a:t>
            </a:r>
            <a:r>
              <a:rPr lang="fa-IR" dirty="0"/>
              <a:t>علی </a:t>
            </a:r>
            <a:r>
              <a:rPr lang="fa-IR" dirty="0" smtClean="0"/>
              <a:t>لاریجانی</a:t>
            </a:r>
            <a:endParaRPr lang="en-US" dirty="0">
              <a:solidFill>
                <a:schemeClr val="accent5"/>
              </a:solidFill>
            </a:endParaRPr>
          </a:p>
        </p:txBody>
      </p:sp>
      <p:pic>
        <p:nvPicPr>
          <p:cNvPr id="2" name="Picture 1"/>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546124" y="1811178"/>
            <a:ext cx="4653690" cy="3997439"/>
          </a:xfrm>
          <a:prstGeom prst="rect">
            <a:avLst/>
          </a:prstGeom>
        </p:spPr>
      </p:pic>
    </p:spTree>
    <p:extLst>
      <p:ext uri="{BB962C8B-B14F-4D97-AF65-F5344CB8AC3E}">
        <p14:creationId xmlns:p14="http://schemas.microsoft.com/office/powerpoint/2010/main" val="2534733956"/>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Content Placeholder 3"/>
          <p:cNvPicPr>
            <a:picLocks noGrp="1" noChangeAspect="1"/>
          </p:cNvPicPr>
          <p:nvPr>
            <p:ph idx="1"/>
          </p:nvPr>
        </p:nvPicPr>
        <p:blipFill>
          <a:blip r:embed="rId2"/>
          <a:stretch>
            <a:fillRect/>
          </a:stretch>
        </p:blipFill>
        <p:spPr>
          <a:xfrm>
            <a:off x="1141413" y="348343"/>
            <a:ext cx="9906000" cy="5869577"/>
          </a:xfrm>
          <a:prstGeom prst="rect">
            <a:avLst/>
          </a:prstGeom>
        </p:spPr>
      </p:pic>
    </p:spTree>
    <p:extLst>
      <p:ext uri="{BB962C8B-B14F-4D97-AF65-F5344CB8AC3E}">
        <p14:creationId xmlns:p14="http://schemas.microsoft.com/office/powerpoint/2010/main" val="1381358772"/>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rtl="1"/>
            <a:r>
              <a:rPr lang="fa-IR" dirty="0" smtClean="0">
                <a:solidFill>
                  <a:schemeClr val="accent5"/>
                </a:solidFill>
              </a:rPr>
              <a:t>آیین </a:t>
            </a:r>
            <a:r>
              <a:rPr lang="fa-IR" dirty="0">
                <a:solidFill>
                  <a:schemeClr val="accent5"/>
                </a:solidFill>
              </a:rPr>
              <a:t>نامه اجرایی قانون پیش فروش ساختمان</a:t>
            </a:r>
            <a:endParaRPr lang="en-US" dirty="0">
              <a:solidFill>
                <a:schemeClr val="accent5"/>
              </a:solidFill>
            </a:endParaRPr>
          </a:p>
        </p:txBody>
      </p:sp>
      <p:sp>
        <p:nvSpPr>
          <p:cNvPr id="3" name="Content Placeholder 2"/>
          <p:cNvSpPr>
            <a:spLocks noGrp="1"/>
          </p:cNvSpPr>
          <p:nvPr>
            <p:ph idx="1"/>
          </p:nvPr>
        </p:nvSpPr>
        <p:spPr/>
        <p:txBody>
          <a:bodyPr/>
          <a:lstStyle/>
          <a:p>
            <a:pPr algn="r" rtl="1"/>
            <a:r>
              <a:rPr lang="fa-IR" dirty="0">
                <a:solidFill>
                  <a:schemeClr val="accent5"/>
                </a:solidFill>
              </a:rPr>
              <a:t>ماده۱ـ در این آیین نامه </a:t>
            </a:r>
            <a:r>
              <a:rPr lang="fa-IR" dirty="0" smtClean="0">
                <a:solidFill>
                  <a:schemeClr val="accent5"/>
                </a:solidFill>
              </a:rPr>
              <a:t>اصطلاحات </a:t>
            </a:r>
            <a:r>
              <a:rPr lang="fa-IR" dirty="0">
                <a:solidFill>
                  <a:schemeClr val="accent5"/>
                </a:solidFill>
              </a:rPr>
              <a:t>زیر در معانی </a:t>
            </a:r>
            <a:r>
              <a:rPr lang="fa-IR" dirty="0" smtClean="0">
                <a:solidFill>
                  <a:schemeClr val="accent5"/>
                </a:solidFill>
              </a:rPr>
              <a:t>مشروح </a:t>
            </a:r>
            <a:r>
              <a:rPr lang="fa-IR" dirty="0">
                <a:solidFill>
                  <a:schemeClr val="accent5"/>
                </a:solidFill>
              </a:rPr>
              <a:t>به کار می روند</a:t>
            </a:r>
            <a:r>
              <a:rPr lang="fa-IR" dirty="0" smtClean="0">
                <a:solidFill>
                  <a:schemeClr val="accent5"/>
                </a:solidFill>
              </a:rPr>
              <a:t>:</a:t>
            </a:r>
          </a:p>
          <a:p>
            <a:pPr algn="r" rtl="1"/>
            <a:r>
              <a:rPr lang="fa-IR" sz="1800" dirty="0">
                <a:solidFill>
                  <a:schemeClr val="accent5"/>
                </a:solidFill>
              </a:rPr>
              <a:t>الف ـ قانون: قانون پیش فروش </a:t>
            </a:r>
            <a:r>
              <a:rPr lang="fa-IR" sz="1800" dirty="0" smtClean="0">
                <a:solidFill>
                  <a:schemeClr val="accent5"/>
                </a:solidFill>
              </a:rPr>
              <a:t>ساختمان </a:t>
            </a:r>
            <a:r>
              <a:rPr lang="fa-IR" sz="1800" dirty="0">
                <a:solidFill>
                  <a:schemeClr val="accent5"/>
                </a:solidFill>
              </a:rPr>
              <a:t>ـ مصوب ۱۳۸۹ـ </a:t>
            </a:r>
            <a:r>
              <a:rPr lang="fa-IR" sz="1800" dirty="0" smtClean="0">
                <a:solidFill>
                  <a:schemeClr val="accent5"/>
                </a:solidFill>
              </a:rPr>
              <a:t>.</a:t>
            </a:r>
          </a:p>
          <a:p>
            <a:pPr algn="r" rtl="1"/>
            <a:r>
              <a:rPr lang="fa-IR" sz="1800" dirty="0">
                <a:solidFill>
                  <a:schemeClr val="accent5"/>
                </a:solidFill>
              </a:rPr>
              <a:t>ب ـ پیش فروشنده: مالک رسمی زمین یا سرمایه گذار یا </a:t>
            </a:r>
            <a:r>
              <a:rPr lang="fa-IR" sz="1800" dirty="0" smtClean="0">
                <a:solidFill>
                  <a:schemeClr val="accent5"/>
                </a:solidFill>
              </a:rPr>
              <a:t>مستأجر</a:t>
            </a:r>
          </a:p>
          <a:p>
            <a:pPr algn="r" rtl="1"/>
            <a:r>
              <a:rPr lang="fa-IR" sz="1800" dirty="0">
                <a:solidFill>
                  <a:schemeClr val="accent5"/>
                </a:solidFill>
              </a:rPr>
              <a:t>پ ـ مالک رسمـی زمین: شخصی که مطابق ماده </a:t>
            </a:r>
            <a:r>
              <a:rPr lang="fa-IR" sz="1800" dirty="0" smtClean="0">
                <a:solidFill>
                  <a:schemeClr val="accent5"/>
                </a:solidFill>
              </a:rPr>
              <a:t>(۲۲) </a:t>
            </a:r>
            <a:r>
              <a:rPr lang="fa-IR" sz="1800" dirty="0">
                <a:solidFill>
                  <a:schemeClr val="accent5"/>
                </a:solidFill>
              </a:rPr>
              <a:t>قانون ثبت اسناد و امالک ـ مصوب ۱۳۱۰ ـ دارای سند رسمی مالکیت می باشد</a:t>
            </a:r>
            <a:r>
              <a:rPr lang="fa-IR" sz="1800" dirty="0" smtClean="0">
                <a:solidFill>
                  <a:schemeClr val="accent5"/>
                </a:solidFill>
              </a:rPr>
              <a:t>.</a:t>
            </a:r>
          </a:p>
          <a:p>
            <a:pPr algn="r" rtl="1"/>
            <a:r>
              <a:rPr lang="fa-IR" sz="1800" dirty="0">
                <a:solidFill>
                  <a:schemeClr val="accent5"/>
                </a:solidFill>
              </a:rPr>
              <a:t>ت ـ مستأجر: شخصی که به موجب سند رسمی دارای حق احداث بنا بر روی عین مستأجره می </a:t>
            </a:r>
            <a:r>
              <a:rPr lang="fa-IR" sz="1800" dirty="0" smtClean="0">
                <a:solidFill>
                  <a:schemeClr val="accent5"/>
                </a:solidFill>
              </a:rPr>
              <a:t>باشد.</a:t>
            </a:r>
          </a:p>
          <a:p>
            <a:pPr algn="r" rtl="1"/>
            <a:r>
              <a:rPr lang="fa-IR" sz="1800" dirty="0">
                <a:solidFill>
                  <a:schemeClr val="accent5"/>
                </a:solidFill>
              </a:rPr>
              <a:t>ث ـ سرمایه گذار: شخصی که به موجب سند رسمی با مالک یا مستأجر برای احداث بنا سرمایه گذاری می نماید و واحد یا واحدهای ساختمانی مشخص از بنای احداثی با حق فروش به وی اختصاص می یابد.</a:t>
            </a:r>
            <a:endParaRPr lang="fa-IR" sz="1800" dirty="0" smtClean="0">
              <a:solidFill>
                <a:schemeClr val="accent5"/>
              </a:solidFill>
            </a:endParaRPr>
          </a:p>
          <a:p>
            <a:pPr algn="r" rtl="1"/>
            <a:endParaRPr lang="en-US" sz="1800" b="1" dirty="0">
              <a:solidFill>
                <a:schemeClr val="accent5"/>
              </a:solidFill>
            </a:endParaRPr>
          </a:p>
        </p:txBody>
      </p:sp>
    </p:spTree>
    <p:extLst>
      <p:ext uri="{BB962C8B-B14F-4D97-AF65-F5344CB8AC3E}">
        <p14:creationId xmlns:p14="http://schemas.microsoft.com/office/powerpoint/2010/main" val="3295212322"/>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1141412" y="374469"/>
            <a:ext cx="9905999" cy="5669280"/>
          </a:xfrm>
        </p:spPr>
        <p:txBody>
          <a:bodyPr>
            <a:normAutofit/>
          </a:bodyPr>
          <a:lstStyle/>
          <a:p>
            <a:pPr algn="r" rtl="1"/>
            <a:r>
              <a:rPr lang="fa-IR" sz="1800" dirty="0">
                <a:solidFill>
                  <a:schemeClr val="accent5"/>
                </a:solidFill>
              </a:rPr>
              <a:t>ج ـ سند رسمی: سندی که بین پیش فروشنده و پیش خریدار یا واگذارنده و منتقل الیه حقوق و تعهدات ناشی از آن، در دفاتر اسناد رسمی تنظیم می گردد</a:t>
            </a:r>
            <a:r>
              <a:rPr lang="fa-IR" sz="1800" dirty="0" smtClean="0">
                <a:solidFill>
                  <a:schemeClr val="accent5"/>
                </a:solidFill>
              </a:rPr>
              <a:t>.</a:t>
            </a:r>
          </a:p>
          <a:p>
            <a:pPr algn="r" rtl="1"/>
            <a:r>
              <a:rPr lang="fa-IR" sz="1800" dirty="0">
                <a:solidFill>
                  <a:schemeClr val="accent5"/>
                </a:solidFill>
              </a:rPr>
              <a:t>چ ـ عملیات پی ساختمان: عملیاتی که پس از خاکبرداری و در اجرای پی ریزی </a:t>
            </a:r>
            <a:r>
              <a:rPr lang="fa-IR" sz="1800" dirty="0" smtClean="0">
                <a:solidFill>
                  <a:schemeClr val="accent5"/>
                </a:solidFill>
              </a:rPr>
              <a:t>(فونداسیون) </a:t>
            </a:r>
            <a:r>
              <a:rPr lang="fa-IR" sz="1800" dirty="0">
                <a:solidFill>
                  <a:schemeClr val="accent5"/>
                </a:solidFill>
              </a:rPr>
              <a:t>جهت استقرار ستون های ساختمان یا دیوارهای باربر بر روی پی انجام می گیرد و با پایان آن، اجرای اسکلت ساختمان شروع می شود</a:t>
            </a:r>
            <a:r>
              <a:rPr lang="fa-IR" sz="1800" dirty="0" smtClean="0">
                <a:solidFill>
                  <a:schemeClr val="accent5"/>
                </a:solidFill>
              </a:rPr>
              <a:t>.</a:t>
            </a:r>
          </a:p>
          <a:p>
            <a:pPr algn="r" rtl="1"/>
            <a:r>
              <a:rPr lang="fa-IR" sz="1800" dirty="0">
                <a:solidFill>
                  <a:schemeClr val="accent5"/>
                </a:solidFill>
              </a:rPr>
              <a:t>ح ـ مهندس ناظر: شخصی که دارای پروانه اشتغال به کار مهندسی از وزارت راه و شهرسازی بوده و از طرف مالک یا پیش فروشنده به مرجع صدور پروانه ساختمان معرفی و پس از موافقت مرجع مربوط، مسئولیت نظارت بر اجرای ساخت و ساز ساختمان را </a:t>
            </a:r>
            <a:r>
              <a:rPr lang="fa-IR" sz="1800" dirty="0" smtClean="0">
                <a:solidFill>
                  <a:schemeClr val="accent5"/>
                </a:solidFill>
              </a:rPr>
              <a:t>براساس </a:t>
            </a:r>
            <a:r>
              <a:rPr lang="fa-IR" sz="1800" dirty="0">
                <a:solidFill>
                  <a:schemeClr val="accent5"/>
                </a:solidFill>
              </a:rPr>
              <a:t>پروانه ساختمان و شناسنامه فنی و ملکی ساختمان و سایر تکالیف مقرر برعهده </a:t>
            </a:r>
            <a:r>
              <a:rPr lang="fa-IR" sz="1800" dirty="0" smtClean="0">
                <a:solidFill>
                  <a:schemeClr val="accent5"/>
                </a:solidFill>
              </a:rPr>
              <a:t>دارد.</a:t>
            </a:r>
          </a:p>
          <a:p>
            <a:pPr algn="r" rtl="1"/>
            <a:r>
              <a:rPr lang="fa-IR" sz="1800" dirty="0">
                <a:solidFill>
                  <a:schemeClr val="accent5"/>
                </a:solidFill>
              </a:rPr>
              <a:t>خ ـ گواهی اتمام ساختمان: برگه ای با امضای مهندس ناظر که به موجب آن پایان عملیات ساختمانی براساس مقررات ملی ساختمان به </a:t>
            </a:r>
            <a:r>
              <a:rPr lang="fa-IR" sz="1800" dirty="0" smtClean="0">
                <a:solidFill>
                  <a:schemeClr val="accent5"/>
                </a:solidFill>
              </a:rPr>
              <a:t>مرجع </a:t>
            </a:r>
            <a:r>
              <a:rPr lang="fa-IR" sz="1800" dirty="0">
                <a:solidFill>
                  <a:schemeClr val="accent5"/>
                </a:solidFill>
              </a:rPr>
              <a:t>صدور پروانه ساختمان </a:t>
            </a:r>
            <a:r>
              <a:rPr lang="fa-IR" sz="1800" dirty="0" smtClean="0">
                <a:solidFill>
                  <a:schemeClr val="accent5"/>
                </a:solidFill>
              </a:rPr>
              <a:t>اعلام </a:t>
            </a:r>
            <a:r>
              <a:rPr lang="fa-IR" sz="1800" dirty="0">
                <a:solidFill>
                  <a:schemeClr val="accent5"/>
                </a:solidFill>
              </a:rPr>
              <a:t>می </a:t>
            </a:r>
            <a:r>
              <a:rPr lang="fa-IR" sz="1800" dirty="0" smtClean="0">
                <a:solidFill>
                  <a:schemeClr val="accent5"/>
                </a:solidFill>
              </a:rPr>
              <a:t>گردد.</a:t>
            </a:r>
          </a:p>
          <a:p>
            <a:pPr algn="r" rtl="1"/>
            <a:r>
              <a:rPr lang="fa-IR" sz="1800" dirty="0">
                <a:solidFill>
                  <a:schemeClr val="accent5"/>
                </a:solidFill>
              </a:rPr>
              <a:t>دـ شناسنامه فنی و ملکی ساختمان: سندی که براساس بند </a:t>
            </a:r>
            <a:r>
              <a:rPr lang="fa-IR" sz="1800" dirty="0" smtClean="0">
                <a:solidFill>
                  <a:schemeClr val="accent5"/>
                </a:solidFill>
              </a:rPr>
              <a:t>(ز) </a:t>
            </a:r>
            <a:r>
              <a:rPr lang="fa-IR" sz="1800" dirty="0">
                <a:solidFill>
                  <a:schemeClr val="accent5"/>
                </a:solidFill>
              </a:rPr>
              <a:t>ماده </a:t>
            </a:r>
            <a:r>
              <a:rPr lang="fa-IR" sz="1800" dirty="0" smtClean="0">
                <a:solidFill>
                  <a:schemeClr val="accent5"/>
                </a:solidFill>
              </a:rPr>
              <a:t>(۲۱) </a:t>
            </a:r>
            <a:r>
              <a:rPr lang="fa-IR" sz="1800" dirty="0">
                <a:solidFill>
                  <a:schemeClr val="accent5"/>
                </a:solidFill>
              </a:rPr>
              <a:t>قانون نظام مهندسی و کنترل ساختمان ـ مصوب ۱۳۷۴ ـ و مطابق دستورالعمل وزارت راه و شهرسازی مشتمل بر سیستم و پایداری سازه، تأسیسات برقی و مکانیکی و مشخصات معماری ساختمان صادر می </a:t>
            </a:r>
            <a:r>
              <a:rPr lang="fa-IR" sz="1800" dirty="0" smtClean="0">
                <a:solidFill>
                  <a:schemeClr val="accent5"/>
                </a:solidFill>
              </a:rPr>
              <a:t>شود.</a:t>
            </a:r>
          </a:p>
          <a:p>
            <a:pPr algn="r" rtl="1"/>
            <a:r>
              <a:rPr lang="fa-IR" sz="1800" dirty="0">
                <a:solidFill>
                  <a:schemeClr val="accent5"/>
                </a:solidFill>
              </a:rPr>
              <a:t>ذـ هیأت داوری: هیأت موضوع ماده </a:t>
            </a:r>
            <a:r>
              <a:rPr lang="fa-IR" sz="1800" dirty="0" smtClean="0">
                <a:solidFill>
                  <a:schemeClr val="accent5"/>
                </a:solidFill>
              </a:rPr>
              <a:t>(۲۰) </a:t>
            </a:r>
            <a:r>
              <a:rPr lang="fa-IR" sz="1800" dirty="0">
                <a:solidFill>
                  <a:schemeClr val="accent5"/>
                </a:solidFill>
              </a:rPr>
              <a:t>قانون</a:t>
            </a:r>
            <a:endParaRPr lang="en-US" sz="1800" dirty="0">
              <a:solidFill>
                <a:schemeClr val="accent5"/>
              </a:solidFill>
            </a:endParaRPr>
          </a:p>
        </p:txBody>
      </p:sp>
      <p:pic>
        <p:nvPicPr>
          <p:cNvPr id="2" name="Picture 1"/>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141412" y="4693920"/>
            <a:ext cx="4891088" cy="1705519"/>
          </a:xfrm>
          <a:prstGeom prst="rect">
            <a:avLst/>
          </a:prstGeom>
        </p:spPr>
      </p:pic>
    </p:spTree>
    <p:extLst>
      <p:ext uri="{BB962C8B-B14F-4D97-AF65-F5344CB8AC3E}">
        <p14:creationId xmlns:p14="http://schemas.microsoft.com/office/powerpoint/2010/main" val="3407374690"/>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1141412" y="409303"/>
            <a:ext cx="9905999" cy="3082834"/>
          </a:xfrm>
        </p:spPr>
        <p:txBody>
          <a:bodyPr>
            <a:normAutofit fontScale="77500" lnSpcReduction="20000"/>
          </a:bodyPr>
          <a:lstStyle/>
          <a:p>
            <a:pPr algn="r" rtl="1"/>
            <a:r>
              <a:rPr lang="fa-IR" dirty="0">
                <a:solidFill>
                  <a:schemeClr val="accent5"/>
                </a:solidFill>
              </a:rPr>
              <a:t>ماده ۲ـ قرارداد پیش فروش و واگذاری حقوق و تعهدات طرفین </a:t>
            </a:r>
            <a:r>
              <a:rPr lang="fa-IR" dirty="0" smtClean="0">
                <a:solidFill>
                  <a:schemeClr val="accent5"/>
                </a:solidFill>
              </a:rPr>
              <a:t>(پیش </a:t>
            </a:r>
            <a:r>
              <a:rPr lang="fa-IR" dirty="0">
                <a:solidFill>
                  <a:schemeClr val="accent5"/>
                </a:solidFill>
              </a:rPr>
              <a:t>خریدار و پیش </a:t>
            </a:r>
            <a:r>
              <a:rPr lang="fa-IR" dirty="0" smtClean="0">
                <a:solidFill>
                  <a:schemeClr val="accent5"/>
                </a:solidFill>
              </a:rPr>
              <a:t>فروشنده) </a:t>
            </a:r>
            <a:r>
              <a:rPr lang="fa-IR" dirty="0">
                <a:solidFill>
                  <a:schemeClr val="accent5"/>
                </a:solidFill>
              </a:rPr>
              <a:t>باید به صورت رسمی از طریق دفتر اسناد رسمی با رعایت تمام قیود و شرایط مقرر در مواد </a:t>
            </a:r>
            <a:r>
              <a:rPr lang="fa-IR" dirty="0" smtClean="0">
                <a:solidFill>
                  <a:schemeClr val="accent5"/>
                </a:solidFill>
              </a:rPr>
              <a:t>(۲) </a:t>
            </a:r>
            <a:r>
              <a:rPr lang="fa-IR" dirty="0">
                <a:solidFill>
                  <a:schemeClr val="accent5"/>
                </a:solidFill>
              </a:rPr>
              <a:t>و </a:t>
            </a:r>
            <a:r>
              <a:rPr lang="fa-IR" dirty="0" smtClean="0">
                <a:solidFill>
                  <a:schemeClr val="accent5"/>
                </a:solidFill>
              </a:rPr>
              <a:t>(۴) </a:t>
            </a:r>
            <a:r>
              <a:rPr lang="fa-IR" dirty="0">
                <a:solidFill>
                  <a:schemeClr val="accent5"/>
                </a:solidFill>
              </a:rPr>
              <a:t>قانون تنظیم و منعقد شود و خالصه در سند مالکیت قید و خالصه آن به اداره ثبت محل </a:t>
            </a:r>
            <a:r>
              <a:rPr lang="fa-IR" dirty="0" smtClean="0">
                <a:solidFill>
                  <a:schemeClr val="accent5"/>
                </a:solidFill>
              </a:rPr>
              <a:t>اعلام </a:t>
            </a:r>
            <a:r>
              <a:rPr lang="fa-IR" dirty="0">
                <a:solidFill>
                  <a:schemeClr val="accent5"/>
                </a:solidFill>
              </a:rPr>
              <a:t>گردد. نمونه قرارداد پیش فروش، توسط سازمان ثبت اسناد و </a:t>
            </a:r>
            <a:r>
              <a:rPr lang="fa-IR" dirty="0" smtClean="0">
                <a:solidFill>
                  <a:schemeClr val="accent5"/>
                </a:solidFill>
              </a:rPr>
              <a:t>املاک </a:t>
            </a:r>
            <a:r>
              <a:rPr lang="fa-IR" dirty="0">
                <a:solidFill>
                  <a:schemeClr val="accent5"/>
                </a:solidFill>
              </a:rPr>
              <a:t>کشور با همکاری کانون سردفتران و دفتریاران مرکز و وزارت راه وشهرسازی ظرف یک ماه پس از </a:t>
            </a:r>
            <a:r>
              <a:rPr lang="fa-IR" dirty="0" smtClean="0">
                <a:solidFill>
                  <a:schemeClr val="accent5"/>
                </a:solidFill>
              </a:rPr>
              <a:t>ابلاغ </a:t>
            </a:r>
            <a:r>
              <a:rPr lang="fa-IR" dirty="0">
                <a:solidFill>
                  <a:schemeClr val="accent5"/>
                </a:solidFill>
              </a:rPr>
              <a:t>این آیین نامه تهیه و جهت استفاده متقاضیان در اختیار آنان قرار خواهد </a:t>
            </a:r>
            <a:r>
              <a:rPr lang="fa-IR" dirty="0" smtClean="0">
                <a:solidFill>
                  <a:schemeClr val="accent5"/>
                </a:solidFill>
              </a:rPr>
              <a:t>گرفت.</a:t>
            </a:r>
          </a:p>
          <a:p>
            <a:pPr algn="r" rtl="1"/>
            <a:endParaRPr lang="fa-IR" dirty="0">
              <a:solidFill>
                <a:schemeClr val="accent5"/>
              </a:solidFill>
            </a:endParaRPr>
          </a:p>
          <a:p>
            <a:pPr algn="r" rtl="1"/>
            <a:r>
              <a:rPr lang="fa-IR" dirty="0">
                <a:solidFill>
                  <a:schemeClr val="accent5"/>
                </a:solidFill>
              </a:rPr>
              <a:t>ماده۳ـ سردفتر اسناد رسمی مکلف است پس از تنظیم و امضای قرارداد پیش فروش نسبت به درج خالصه معامله در سامانه الکترونیکی سازمان ثبت اسناد و </a:t>
            </a:r>
            <a:r>
              <a:rPr lang="fa-IR" dirty="0" smtClean="0">
                <a:solidFill>
                  <a:schemeClr val="accent5"/>
                </a:solidFill>
              </a:rPr>
              <a:t>املاک </a:t>
            </a:r>
            <a:r>
              <a:rPr lang="fa-IR" dirty="0">
                <a:solidFill>
                  <a:schemeClr val="accent5"/>
                </a:solidFill>
              </a:rPr>
              <a:t>کشور اقدام نماید. واحد ثبتی مکلف است ظرف </a:t>
            </a:r>
            <a:r>
              <a:rPr lang="fa-IR" dirty="0" smtClean="0">
                <a:solidFill>
                  <a:schemeClr val="accent5"/>
                </a:solidFill>
              </a:rPr>
              <a:t>(۲۴) </a:t>
            </a:r>
            <a:r>
              <a:rPr lang="fa-IR" dirty="0">
                <a:solidFill>
                  <a:schemeClr val="accent5"/>
                </a:solidFill>
              </a:rPr>
              <a:t>ساعت خالصه مربوط را در دفتر </a:t>
            </a:r>
            <a:r>
              <a:rPr lang="fa-IR" dirty="0" smtClean="0">
                <a:solidFill>
                  <a:schemeClr val="accent5"/>
                </a:solidFill>
              </a:rPr>
              <a:t>املاک </a:t>
            </a:r>
            <a:r>
              <a:rPr lang="fa-IR" dirty="0">
                <a:solidFill>
                  <a:schemeClr val="accent5"/>
                </a:solidFill>
              </a:rPr>
              <a:t>ثبت کند. در این مرحله ضرورتی به ارسال سند مالکیت به اداره ثبت نمی باشد.</a:t>
            </a:r>
            <a:endParaRPr lang="en-US" dirty="0">
              <a:solidFill>
                <a:schemeClr val="accent5"/>
              </a:solidFill>
            </a:endParaRPr>
          </a:p>
        </p:txBody>
      </p:sp>
      <p:pic>
        <p:nvPicPr>
          <p:cNvPr id="2" name="Picture 1"/>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598022" y="3934505"/>
            <a:ext cx="4410076" cy="2205038"/>
          </a:xfrm>
          <a:prstGeom prst="rect">
            <a:avLst/>
          </a:prstGeom>
        </p:spPr>
      </p:pic>
      <p:pic>
        <p:nvPicPr>
          <p:cNvPr id="5" name="Picture 4"/>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681027" y="3811497"/>
            <a:ext cx="4296716" cy="2859269"/>
          </a:xfrm>
          <a:prstGeom prst="rect">
            <a:avLst/>
          </a:prstGeom>
        </p:spPr>
      </p:pic>
    </p:spTree>
    <p:extLst>
      <p:ext uri="{BB962C8B-B14F-4D97-AF65-F5344CB8AC3E}">
        <p14:creationId xmlns:p14="http://schemas.microsoft.com/office/powerpoint/2010/main" val="2041636443"/>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1141412" y="435429"/>
            <a:ext cx="9905999" cy="5355772"/>
          </a:xfrm>
        </p:spPr>
        <p:txBody>
          <a:bodyPr>
            <a:normAutofit lnSpcReduction="10000"/>
          </a:bodyPr>
          <a:lstStyle/>
          <a:p>
            <a:pPr algn="r" rtl="1"/>
            <a:r>
              <a:rPr lang="fa-IR" dirty="0">
                <a:solidFill>
                  <a:schemeClr val="accent5"/>
                </a:solidFill>
              </a:rPr>
              <a:t>ماده ۴ـ واحد ثبتی مکلف است پاسخ </a:t>
            </a:r>
            <a:r>
              <a:rPr lang="fa-IR" dirty="0" smtClean="0">
                <a:solidFill>
                  <a:schemeClr val="accent5"/>
                </a:solidFill>
              </a:rPr>
              <a:t>استعلام </a:t>
            </a:r>
            <a:r>
              <a:rPr lang="fa-IR" dirty="0">
                <a:solidFill>
                  <a:schemeClr val="accent5"/>
                </a:solidFill>
              </a:rPr>
              <a:t>ثبتی ملک را براساس آخرین وضعیت ملک، نام ومشخصات آخرین مالک و سایر اشخاصی که به هر نحو در ملک دارای حق می باشند، تهیه و ظرف پنج روزکاری به دفترخانه ارسال نماید. تخلف از این بند </a:t>
            </a:r>
            <a:r>
              <a:rPr lang="fa-IR" dirty="0" smtClean="0">
                <a:solidFill>
                  <a:schemeClr val="accent5"/>
                </a:solidFill>
              </a:rPr>
              <a:t>موجب </a:t>
            </a:r>
            <a:r>
              <a:rPr lang="fa-IR" dirty="0">
                <a:solidFill>
                  <a:schemeClr val="accent5"/>
                </a:solidFill>
              </a:rPr>
              <a:t>تعقیب اداری </a:t>
            </a:r>
            <a:r>
              <a:rPr lang="fa-IR" dirty="0" smtClean="0">
                <a:solidFill>
                  <a:schemeClr val="accent5"/>
                </a:solidFill>
              </a:rPr>
              <a:t>است.</a:t>
            </a:r>
          </a:p>
          <a:p>
            <a:pPr algn="r" rtl="1"/>
            <a:endParaRPr lang="fa-IR" dirty="0">
              <a:solidFill>
                <a:schemeClr val="accent5"/>
              </a:solidFill>
            </a:endParaRPr>
          </a:p>
          <a:p>
            <a:pPr algn="r" rtl="1"/>
            <a:r>
              <a:rPr lang="fa-IR" dirty="0">
                <a:solidFill>
                  <a:schemeClr val="accent5"/>
                </a:solidFill>
              </a:rPr>
              <a:t>ماده ۵ ـ کلیه عوامل مربوط در ساخت سازه های موضوع قرارداد پیش فروش از قبیل مهندس ناظر، پیمانکار و مالک رسمی زمین مکلفند قوانین و مقررات و ضوابط شهرسازی و معماری و </a:t>
            </a:r>
            <a:r>
              <a:rPr lang="fa-IR" dirty="0" smtClean="0">
                <a:solidFill>
                  <a:schemeClr val="accent5"/>
                </a:solidFill>
              </a:rPr>
              <a:t>دستورالعمل </a:t>
            </a:r>
            <a:r>
              <a:rPr lang="fa-IR" dirty="0">
                <a:solidFill>
                  <a:schemeClr val="accent5"/>
                </a:solidFill>
              </a:rPr>
              <a:t>های قانونی را در این زمینه رعایت نمایند</a:t>
            </a:r>
            <a:r>
              <a:rPr lang="fa-IR" dirty="0" smtClean="0">
                <a:solidFill>
                  <a:schemeClr val="accent5"/>
                </a:solidFill>
              </a:rPr>
              <a:t>.</a:t>
            </a:r>
          </a:p>
          <a:p>
            <a:pPr algn="r" rtl="1"/>
            <a:endParaRPr lang="fa-IR" dirty="0" smtClean="0">
              <a:solidFill>
                <a:schemeClr val="accent5"/>
              </a:solidFill>
            </a:endParaRPr>
          </a:p>
          <a:p>
            <a:pPr algn="r" rtl="1"/>
            <a:r>
              <a:rPr lang="fa-IR" dirty="0">
                <a:solidFill>
                  <a:schemeClr val="accent5"/>
                </a:solidFill>
              </a:rPr>
              <a:t>ماده ۶ ـ در قرارداد پیش فروش باید وضعیت واحد، انباری، توقفگاه، مشاعات و حقوق ارتفاقی و سایر موارد مندرج در ماده </a:t>
            </a:r>
            <a:r>
              <a:rPr lang="fa-IR" dirty="0" smtClean="0">
                <a:solidFill>
                  <a:schemeClr val="accent5"/>
                </a:solidFill>
              </a:rPr>
              <a:t>(۲) </a:t>
            </a:r>
            <a:r>
              <a:rPr lang="fa-IR" dirty="0">
                <a:solidFill>
                  <a:schemeClr val="accent5"/>
                </a:solidFill>
              </a:rPr>
              <a:t>قانون مطابق با شناسنامه فنی و ملکی ساختمان درج و تصریح گردد.</a:t>
            </a:r>
            <a:endParaRPr lang="en-US" dirty="0">
              <a:solidFill>
                <a:schemeClr val="accent5"/>
              </a:solidFill>
            </a:endParaRPr>
          </a:p>
        </p:txBody>
      </p:sp>
    </p:spTree>
    <p:extLst>
      <p:ext uri="{BB962C8B-B14F-4D97-AF65-F5344CB8AC3E}">
        <p14:creationId xmlns:p14="http://schemas.microsoft.com/office/powerpoint/2010/main" val="1291416202"/>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5617029" y="409303"/>
            <a:ext cx="5430382" cy="5381898"/>
          </a:xfrm>
        </p:spPr>
        <p:txBody>
          <a:bodyPr>
            <a:normAutofit fontScale="92500" lnSpcReduction="10000"/>
          </a:bodyPr>
          <a:lstStyle/>
          <a:p>
            <a:pPr algn="r" rtl="1"/>
            <a:r>
              <a:rPr lang="fa-IR" dirty="0">
                <a:solidFill>
                  <a:schemeClr val="accent5"/>
                </a:solidFill>
              </a:rPr>
              <a:t>ماده ۷ـ </a:t>
            </a:r>
            <a:r>
              <a:rPr lang="fa-IR" dirty="0" smtClean="0">
                <a:solidFill>
                  <a:schemeClr val="accent5"/>
                </a:solidFill>
              </a:rPr>
              <a:t>محاسبه </a:t>
            </a:r>
            <a:r>
              <a:rPr lang="fa-IR" dirty="0">
                <a:solidFill>
                  <a:schemeClr val="accent5"/>
                </a:solidFill>
              </a:rPr>
              <a:t>نهایی مساحت و قیمت با رعایت ماده </a:t>
            </a:r>
            <a:r>
              <a:rPr lang="fa-IR" dirty="0" smtClean="0">
                <a:solidFill>
                  <a:schemeClr val="accent5"/>
                </a:solidFill>
              </a:rPr>
              <a:t>(۷) </a:t>
            </a:r>
            <a:r>
              <a:rPr lang="fa-IR" dirty="0">
                <a:solidFill>
                  <a:schemeClr val="accent5"/>
                </a:solidFill>
              </a:rPr>
              <a:t>قانون، صورت مجلس تفکیکی خواهد بود</a:t>
            </a:r>
            <a:r>
              <a:rPr lang="fa-IR" dirty="0" smtClean="0">
                <a:solidFill>
                  <a:schemeClr val="accent5"/>
                </a:solidFill>
              </a:rPr>
              <a:t>.</a:t>
            </a:r>
          </a:p>
          <a:p>
            <a:pPr algn="r" rtl="1"/>
            <a:endParaRPr lang="fa-IR" dirty="0">
              <a:solidFill>
                <a:schemeClr val="accent5"/>
              </a:solidFill>
            </a:endParaRPr>
          </a:p>
          <a:p>
            <a:pPr algn="r" rtl="1"/>
            <a:r>
              <a:rPr lang="fa-IR" dirty="0">
                <a:solidFill>
                  <a:schemeClr val="accent5"/>
                </a:solidFill>
              </a:rPr>
              <a:t>ماده ۸ ـ در مواردی که واحدی توسط چند نفر پیش خرید می شود باید میزان سهم هر یک از پیش خریداران توسط دفتر </a:t>
            </a:r>
            <a:r>
              <a:rPr lang="fa-IR" dirty="0" smtClean="0">
                <a:solidFill>
                  <a:schemeClr val="accent5"/>
                </a:solidFill>
              </a:rPr>
              <a:t>اسناد رسمی </a:t>
            </a:r>
            <a:r>
              <a:rPr lang="fa-IR" dirty="0">
                <a:solidFill>
                  <a:schemeClr val="accent5"/>
                </a:solidFill>
              </a:rPr>
              <a:t>در سند مشخص و به هر یک از پیش خریداران یک نسخه از سند تحویل شود</a:t>
            </a:r>
            <a:r>
              <a:rPr lang="fa-IR" dirty="0" smtClean="0">
                <a:solidFill>
                  <a:schemeClr val="accent5"/>
                </a:solidFill>
              </a:rPr>
              <a:t>.</a:t>
            </a:r>
          </a:p>
          <a:p>
            <a:pPr algn="r" rtl="1"/>
            <a:endParaRPr lang="fa-IR" dirty="0">
              <a:solidFill>
                <a:schemeClr val="accent5"/>
              </a:solidFill>
            </a:endParaRPr>
          </a:p>
          <a:p>
            <a:pPr algn="r" rtl="1"/>
            <a:r>
              <a:rPr lang="fa-IR" dirty="0">
                <a:solidFill>
                  <a:schemeClr val="accent5"/>
                </a:solidFill>
              </a:rPr>
              <a:t>ماده ۹ـ در تنظیم سند پیش فروش، قیود و محدودیت های مندرج در سند مالکیت پیش فروشنده باید در سند مذکور تصریح </a:t>
            </a:r>
            <a:r>
              <a:rPr lang="fa-IR" dirty="0" smtClean="0">
                <a:solidFill>
                  <a:schemeClr val="accent5"/>
                </a:solidFill>
              </a:rPr>
              <a:t>گردد.</a:t>
            </a:r>
            <a:endParaRPr lang="en-US" dirty="0">
              <a:solidFill>
                <a:schemeClr val="accent5"/>
              </a:solidFill>
            </a:endParaRPr>
          </a:p>
        </p:txBody>
      </p:sp>
      <p:pic>
        <p:nvPicPr>
          <p:cNvPr id="2" name="Picture 1"/>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22515" y="1297577"/>
            <a:ext cx="5094514" cy="4990012"/>
          </a:xfrm>
          <a:prstGeom prst="rect">
            <a:avLst/>
          </a:prstGeom>
        </p:spPr>
      </p:pic>
    </p:spTree>
    <p:extLst>
      <p:ext uri="{BB962C8B-B14F-4D97-AF65-F5344CB8AC3E}">
        <p14:creationId xmlns:p14="http://schemas.microsoft.com/office/powerpoint/2010/main" val="2249887006"/>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1063036" y="557349"/>
            <a:ext cx="5355182" cy="5077097"/>
          </a:xfrm>
        </p:spPr>
        <p:txBody>
          <a:bodyPr>
            <a:normAutofit fontScale="77500" lnSpcReduction="20000"/>
          </a:bodyPr>
          <a:lstStyle/>
          <a:p>
            <a:pPr algn="r" rtl="1"/>
            <a:r>
              <a:rPr lang="fa-IR" dirty="0">
                <a:solidFill>
                  <a:schemeClr val="accent5"/>
                </a:solidFill>
              </a:rPr>
              <a:t>ماده ۱۰ـ شهرداری ها و سایر مراجع قانونی ذی ربط مکلفند هنگام صدور پروانه احداث ساختمان، ظرف یک هفته تعداد واحدهای منظور در پروانه را به واحدهای ثبتی محل وقوع ملک </a:t>
            </a:r>
            <a:r>
              <a:rPr lang="fa-IR" dirty="0" smtClean="0">
                <a:solidFill>
                  <a:schemeClr val="accent5"/>
                </a:solidFill>
              </a:rPr>
              <a:t>اعلام </a:t>
            </a:r>
            <a:r>
              <a:rPr lang="fa-IR" dirty="0">
                <a:solidFill>
                  <a:schemeClr val="accent5"/>
                </a:solidFill>
              </a:rPr>
              <a:t>نمایند</a:t>
            </a:r>
            <a:r>
              <a:rPr lang="fa-IR" dirty="0" smtClean="0">
                <a:solidFill>
                  <a:schemeClr val="accent5"/>
                </a:solidFill>
              </a:rPr>
              <a:t>.</a:t>
            </a:r>
          </a:p>
          <a:p>
            <a:pPr algn="r" rtl="1"/>
            <a:endParaRPr lang="fa-IR" dirty="0">
              <a:solidFill>
                <a:schemeClr val="accent5"/>
              </a:solidFill>
            </a:endParaRPr>
          </a:p>
          <a:p>
            <a:pPr algn="r" rtl="1"/>
            <a:r>
              <a:rPr lang="fa-IR" dirty="0">
                <a:solidFill>
                  <a:schemeClr val="accent5"/>
                </a:solidFill>
              </a:rPr>
              <a:t>ماده ۱۱ـ در اجرای ماده </a:t>
            </a:r>
            <a:r>
              <a:rPr lang="fa-IR" dirty="0" smtClean="0">
                <a:solidFill>
                  <a:schemeClr val="accent5"/>
                </a:solidFill>
              </a:rPr>
              <a:t>(۱۲) </a:t>
            </a:r>
            <a:r>
              <a:rPr lang="fa-IR" dirty="0">
                <a:solidFill>
                  <a:schemeClr val="accent5"/>
                </a:solidFill>
              </a:rPr>
              <a:t>قانون، مهندس ناظر مکلف است ظرف یک ماه از تاریخ دریافت تقاضای کتبی هر یک از طرفین، پس از بازدید محل و تطبیق وضعیت موجود با پروانه ساخت، گزارش پیشرفت کار و درصد اقدامات انجام شده را به متقاضی </a:t>
            </a:r>
            <a:r>
              <a:rPr lang="fa-IR" dirty="0" smtClean="0">
                <a:solidFill>
                  <a:schemeClr val="accent5"/>
                </a:solidFill>
              </a:rPr>
              <a:t>اعلام </a:t>
            </a:r>
            <a:r>
              <a:rPr lang="fa-IR" dirty="0">
                <a:solidFill>
                  <a:schemeClr val="accent5"/>
                </a:solidFill>
              </a:rPr>
              <a:t>کند. تقاضـا و گزارش یاد شده باید در دو نسخه تهیه و حسب مورد نسخه دوم به امضای مهندس ناظر یا متقاضی برسد. چنانچه حسب گزارش مهندس ناظر، عملیات ساختمانی متناسب با قرارداد، پیشرفت نداشته باشد پیش خریدار می تواند پرداخت اقساط را منوط به ارائه تأییدیه مهندس ناظر مبنی بر تحقق پیشرفت از سوی پیش فروشنده نماید.</a:t>
            </a:r>
            <a:endParaRPr lang="en-US" dirty="0">
              <a:solidFill>
                <a:schemeClr val="accent5"/>
              </a:solidFill>
            </a:endParaRPr>
          </a:p>
        </p:txBody>
      </p:sp>
      <p:pic>
        <p:nvPicPr>
          <p:cNvPr id="2" name="Picture 1"/>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975020" y="1382309"/>
            <a:ext cx="4642214" cy="3427175"/>
          </a:xfrm>
          <a:prstGeom prst="rect">
            <a:avLst/>
          </a:prstGeom>
        </p:spPr>
      </p:pic>
    </p:spTree>
    <p:extLst>
      <p:ext uri="{BB962C8B-B14F-4D97-AF65-F5344CB8AC3E}">
        <p14:creationId xmlns:p14="http://schemas.microsoft.com/office/powerpoint/2010/main" val="4192637526"/>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1141412" y="444137"/>
            <a:ext cx="9905999" cy="5817326"/>
          </a:xfrm>
        </p:spPr>
        <p:txBody>
          <a:bodyPr>
            <a:normAutofit fontScale="92500" lnSpcReduction="10000"/>
          </a:bodyPr>
          <a:lstStyle/>
          <a:p>
            <a:pPr algn="r" rtl="1"/>
            <a:r>
              <a:rPr lang="fa-IR" dirty="0">
                <a:solidFill>
                  <a:schemeClr val="accent5"/>
                </a:solidFill>
              </a:rPr>
              <a:t>ماده ۱۲ـ پیش فروشنده باید مسئولیت خود را برای جبران خسارت های ناشی از عیب بنا و تجهیزات آن و زیان های ناشی از عدم رعایت ضوابط قانون و سایر قوانین مربوط در مقابل پیش خریدار و اشخاص ثالث بیمه نماید. حداقل مدت بیمه نامه، تاریخ تحویل ساختمان و حداکثر آن مطابق توافق پیش فروشنده و پیش خریدار تعیین خواهد </a:t>
            </a:r>
            <a:r>
              <a:rPr lang="fa-IR" dirty="0" smtClean="0">
                <a:solidFill>
                  <a:schemeClr val="accent5"/>
                </a:solidFill>
              </a:rPr>
              <a:t>شد.</a:t>
            </a:r>
          </a:p>
          <a:p>
            <a:pPr algn="r" rtl="1"/>
            <a:endParaRPr lang="fa-IR" dirty="0">
              <a:solidFill>
                <a:schemeClr val="accent5"/>
              </a:solidFill>
            </a:endParaRPr>
          </a:p>
          <a:p>
            <a:pPr algn="r" rtl="1"/>
            <a:r>
              <a:rPr lang="fa-IR" dirty="0">
                <a:solidFill>
                  <a:schemeClr val="accent5"/>
                </a:solidFill>
              </a:rPr>
              <a:t>ماده ۱۳ـ در مواردی که پیش خریدار حق فسخ دارد می تواند با تنظیم اظهارنامه کتبی و </a:t>
            </a:r>
            <a:r>
              <a:rPr lang="fa-IR" dirty="0" smtClean="0">
                <a:solidFill>
                  <a:schemeClr val="accent5"/>
                </a:solidFill>
              </a:rPr>
              <a:t>ابلاغ </a:t>
            </a:r>
            <a:r>
              <a:rPr lang="fa-IR" dirty="0">
                <a:solidFill>
                  <a:schemeClr val="accent5"/>
                </a:solidFill>
              </a:rPr>
              <a:t>آن از طریق دفتر اسناد رسمی تنظیم کننده قرارداد یا طرق مقتضی دیگر </a:t>
            </a:r>
            <a:r>
              <a:rPr lang="fa-IR" dirty="0" smtClean="0">
                <a:solidFill>
                  <a:schemeClr val="accent5"/>
                </a:solidFill>
              </a:rPr>
              <a:t>اعلام </a:t>
            </a:r>
            <a:r>
              <a:rPr lang="fa-IR" dirty="0">
                <a:solidFill>
                  <a:schemeClr val="accent5"/>
                </a:solidFill>
              </a:rPr>
              <a:t>فسخ نماید. در صورت بروز </a:t>
            </a:r>
            <a:r>
              <a:rPr lang="fa-IR" dirty="0" smtClean="0">
                <a:solidFill>
                  <a:schemeClr val="accent5"/>
                </a:solidFill>
              </a:rPr>
              <a:t>اختلاف</a:t>
            </a:r>
            <a:r>
              <a:rPr lang="fa-IR" dirty="0">
                <a:solidFill>
                  <a:schemeClr val="accent5"/>
                </a:solidFill>
              </a:rPr>
              <a:t>، مطابق ماده </a:t>
            </a:r>
            <a:r>
              <a:rPr lang="fa-IR" dirty="0" smtClean="0">
                <a:solidFill>
                  <a:schemeClr val="accent5"/>
                </a:solidFill>
              </a:rPr>
              <a:t>(۲۰) </a:t>
            </a:r>
            <a:r>
              <a:rPr lang="fa-IR" dirty="0">
                <a:solidFill>
                  <a:schemeClr val="accent5"/>
                </a:solidFill>
              </a:rPr>
              <a:t>قانون و سایر مقررات مربوط اقدام خواهد شد. </a:t>
            </a:r>
            <a:endParaRPr lang="fa-IR" dirty="0" smtClean="0">
              <a:solidFill>
                <a:schemeClr val="accent5"/>
              </a:solidFill>
            </a:endParaRPr>
          </a:p>
          <a:p>
            <a:pPr algn="r" rtl="1"/>
            <a:endParaRPr lang="fa-IR" dirty="0" smtClean="0">
              <a:solidFill>
                <a:schemeClr val="accent5"/>
              </a:solidFill>
            </a:endParaRPr>
          </a:p>
          <a:p>
            <a:pPr algn="r" rtl="1"/>
            <a:r>
              <a:rPr lang="fa-IR" dirty="0">
                <a:solidFill>
                  <a:schemeClr val="accent5"/>
                </a:solidFill>
              </a:rPr>
              <a:t>ماده ۱۴ـ پیش فروشنده تنها در صورت اخذ رضایت همه پیش خریداران یا قائم مقام قانونی آنان می تواند تمام یا بخشی از حقوق و تعهداتش را به دیگری واگذار کند. پیش خریدار باید برای واگذاری حقوق و تعهدات خود رضایت پیش فروشنده را اخذ نماید </a:t>
            </a:r>
            <a:r>
              <a:rPr lang="fa-IR" dirty="0" smtClean="0">
                <a:solidFill>
                  <a:schemeClr val="accent5"/>
                </a:solidFill>
              </a:rPr>
              <a:t>والا </a:t>
            </a:r>
            <a:r>
              <a:rPr lang="fa-IR" dirty="0">
                <a:solidFill>
                  <a:schemeClr val="accent5"/>
                </a:solidFill>
              </a:rPr>
              <a:t>مسئول پرداخت بها یا عوض قرارداد خواهد بود. رضایت مذکور در مواد </a:t>
            </a:r>
            <a:r>
              <a:rPr lang="fa-IR" dirty="0" smtClean="0">
                <a:solidFill>
                  <a:schemeClr val="accent5"/>
                </a:solidFill>
              </a:rPr>
              <a:t>(۱۷) </a:t>
            </a:r>
            <a:r>
              <a:rPr lang="fa-IR" dirty="0">
                <a:solidFill>
                  <a:schemeClr val="accent5"/>
                </a:solidFill>
              </a:rPr>
              <a:t>و </a:t>
            </a:r>
            <a:r>
              <a:rPr lang="fa-IR" dirty="0" smtClean="0">
                <a:solidFill>
                  <a:schemeClr val="accent5"/>
                </a:solidFill>
              </a:rPr>
              <a:t>(۱۸) </a:t>
            </a:r>
            <a:r>
              <a:rPr lang="fa-IR" dirty="0">
                <a:solidFill>
                  <a:schemeClr val="accent5"/>
                </a:solidFill>
              </a:rPr>
              <a:t>قانون باید کتبی و با گواهی دفتر اسناد رسمی باشد</a:t>
            </a:r>
            <a:endParaRPr lang="en-US" dirty="0">
              <a:solidFill>
                <a:schemeClr val="accent5"/>
              </a:solidFill>
            </a:endParaRPr>
          </a:p>
        </p:txBody>
      </p:sp>
    </p:spTree>
    <p:extLst>
      <p:ext uri="{BB962C8B-B14F-4D97-AF65-F5344CB8AC3E}">
        <p14:creationId xmlns:p14="http://schemas.microsoft.com/office/powerpoint/2010/main" val="266330621"/>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19749" y="609600"/>
            <a:ext cx="6529250" cy="5573486"/>
          </a:xfrm>
        </p:spPr>
        <p:txBody>
          <a:bodyPr>
            <a:normAutofit fontScale="92500"/>
          </a:bodyPr>
          <a:lstStyle/>
          <a:p>
            <a:pPr algn="r" rtl="1"/>
            <a:r>
              <a:rPr lang="fa-IR" dirty="0">
                <a:solidFill>
                  <a:schemeClr val="accent5"/>
                </a:solidFill>
              </a:rPr>
              <a:t>ماده ۱۵ـ در صورت انجام کامل تعهدات از سوی پیش خریدار </a:t>
            </a:r>
            <a:r>
              <a:rPr lang="fa-IR" dirty="0" smtClean="0">
                <a:solidFill>
                  <a:schemeClr val="accent5"/>
                </a:solidFill>
              </a:rPr>
              <a:t>(مستند </a:t>
            </a:r>
            <a:r>
              <a:rPr lang="fa-IR" dirty="0">
                <a:solidFill>
                  <a:schemeClr val="accent5"/>
                </a:solidFill>
              </a:rPr>
              <a:t>به قبوض اقساطی موضوع بند </a:t>
            </a:r>
            <a:r>
              <a:rPr lang="fa-IR" dirty="0" smtClean="0">
                <a:solidFill>
                  <a:schemeClr val="accent5"/>
                </a:solidFill>
              </a:rPr>
              <a:t>(۶) </a:t>
            </a:r>
            <a:r>
              <a:rPr lang="fa-IR" dirty="0">
                <a:solidFill>
                  <a:schemeClr val="accent5"/>
                </a:solidFill>
              </a:rPr>
              <a:t>ماده </a:t>
            </a:r>
            <a:r>
              <a:rPr lang="fa-IR" dirty="0" smtClean="0">
                <a:solidFill>
                  <a:schemeClr val="accent5"/>
                </a:solidFill>
              </a:rPr>
              <a:t>(۲) </a:t>
            </a:r>
            <a:r>
              <a:rPr lang="fa-IR" dirty="0">
                <a:solidFill>
                  <a:schemeClr val="accent5"/>
                </a:solidFill>
              </a:rPr>
              <a:t>و یا تودیع آن در صندوق ثبت یا </a:t>
            </a:r>
            <a:r>
              <a:rPr lang="fa-IR" dirty="0" smtClean="0">
                <a:solidFill>
                  <a:schemeClr val="accent5"/>
                </a:solidFill>
              </a:rPr>
              <a:t>دادگستری)، </a:t>
            </a:r>
            <a:r>
              <a:rPr lang="fa-IR" dirty="0">
                <a:solidFill>
                  <a:schemeClr val="accent5"/>
                </a:solidFill>
              </a:rPr>
              <a:t>اگر پیش فروشنده تا زمان انقضای مدت قرارداد موفق به تکمیل پروژه نگردد، چنانچه با تأیید مهندس ناظر ساختمان، کمتر از ده درصد عملیات ساختمانی باقی مانده باشد و پیش خریدار با قبول تکمیل باقی قرارداد درخواست تنظیم سند قطعی نماید، تنظیم سند به نسبت قدرالسهم او </a:t>
            </a:r>
            <a:r>
              <a:rPr lang="fa-IR" dirty="0" smtClean="0">
                <a:solidFill>
                  <a:schemeClr val="accent5"/>
                </a:solidFill>
              </a:rPr>
              <a:t>بلامانع </a:t>
            </a:r>
            <a:r>
              <a:rPr lang="fa-IR" dirty="0">
                <a:solidFill>
                  <a:schemeClr val="accent5"/>
                </a:solidFill>
              </a:rPr>
              <a:t>می باشد. در این حالت پیش خریدار با پرداخت هزینه های مربوط و حقوق دولتی که برعهده پیش فروشنده است می تواند با جلب نظر هیأت داوران موضوع ماده </a:t>
            </a:r>
            <a:r>
              <a:rPr lang="fa-IR" dirty="0" smtClean="0">
                <a:solidFill>
                  <a:schemeClr val="accent5"/>
                </a:solidFill>
              </a:rPr>
              <a:t>(۲۰) </a:t>
            </a:r>
            <a:r>
              <a:rPr lang="fa-IR" dirty="0">
                <a:solidFill>
                  <a:schemeClr val="accent5"/>
                </a:solidFill>
              </a:rPr>
              <a:t>قانون از محل وجوه مندرج در ماده </a:t>
            </a:r>
            <a:r>
              <a:rPr lang="fa-IR" dirty="0" smtClean="0">
                <a:solidFill>
                  <a:schemeClr val="accent5"/>
                </a:solidFill>
              </a:rPr>
              <a:t>(۱۱) </a:t>
            </a:r>
            <a:r>
              <a:rPr lang="fa-IR" dirty="0">
                <a:solidFill>
                  <a:schemeClr val="accent5"/>
                </a:solidFill>
              </a:rPr>
              <a:t>قانون تأمین و استیفا نماید</a:t>
            </a:r>
            <a:r>
              <a:rPr lang="fa-IR" dirty="0" smtClean="0">
                <a:solidFill>
                  <a:schemeClr val="accent5"/>
                </a:solidFill>
              </a:rPr>
              <a:t>.</a:t>
            </a:r>
          </a:p>
          <a:p>
            <a:pPr algn="r" rtl="1"/>
            <a:r>
              <a:rPr lang="fa-IR" sz="2000" dirty="0"/>
              <a:t>تبصره ـ تنظیم سند قطعی به نحو مفروز تنها در صورت وجود صورت مجلس تفکیکی موردی امکان پذیر خواهد بود.</a:t>
            </a:r>
            <a:endParaRPr lang="en-US" sz="2000" dirty="0">
              <a:solidFill>
                <a:schemeClr val="accent5"/>
              </a:solidFill>
            </a:endParaRPr>
          </a:p>
        </p:txBody>
      </p:sp>
      <p:pic>
        <p:nvPicPr>
          <p:cNvPr id="2" name="Picture 1"/>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24026" y="2209119"/>
            <a:ext cx="3995723" cy="2658972"/>
          </a:xfrm>
          <a:prstGeom prst="rect">
            <a:avLst/>
          </a:prstGeom>
        </p:spPr>
      </p:pic>
    </p:spTree>
    <p:extLst>
      <p:ext uri="{BB962C8B-B14F-4D97-AF65-F5344CB8AC3E}">
        <p14:creationId xmlns:p14="http://schemas.microsoft.com/office/powerpoint/2010/main" val="2161726700"/>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1141412" y="365760"/>
            <a:ext cx="9905999" cy="5425441"/>
          </a:xfrm>
        </p:spPr>
        <p:txBody>
          <a:bodyPr/>
          <a:lstStyle/>
          <a:p>
            <a:pPr algn="r" rtl="1"/>
            <a:r>
              <a:rPr lang="fa-IR" dirty="0">
                <a:solidFill>
                  <a:schemeClr val="accent5"/>
                </a:solidFill>
              </a:rPr>
              <a:t>ماده ۱۶ـ تنظیم قرارداد پیش فروش از طرف مستأجر یا سرمایه گذار و واگذاری حقوق و تعهدات پیش فروشنده و پیش خریدار، منوط به ارسال </a:t>
            </a:r>
            <a:r>
              <a:rPr lang="fa-IR" dirty="0" smtClean="0">
                <a:solidFill>
                  <a:schemeClr val="accent5"/>
                </a:solidFill>
              </a:rPr>
              <a:t>خلاصه </a:t>
            </a:r>
            <a:r>
              <a:rPr lang="fa-IR" dirty="0">
                <a:solidFill>
                  <a:schemeClr val="accent5"/>
                </a:solidFill>
              </a:rPr>
              <a:t>آن به واحد ثبتی محل و درج مراتب در حاشیه </a:t>
            </a:r>
            <a:r>
              <a:rPr lang="fa-IR" dirty="0" smtClean="0">
                <a:solidFill>
                  <a:schemeClr val="accent5"/>
                </a:solidFill>
              </a:rPr>
              <a:t>سند </a:t>
            </a:r>
            <a:r>
              <a:rPr lang="fa-IR" dirty="0">
                <a:solidFill>
                  <a:schemeClr val="accent5"/>
                </a:solidFill>
              </a:rPr>
              <a:t>اجاره یا قرارداد پیش فروش می </a:t>
            </a:r>
            <a:r>
              <a:rPr lang="fa-IR" dirty="0" smtClean="0">
                <a:solidFill>
                  <a:schemeClr val="accent5"/>
                </a:solidFill>
              </a:rPr>
              <a:t>باشد.</a:t>
            </a:r>
          </a:p>
          <a:p>
            <a:pPr algn="r" rtl="1"/>
            <a:endParaRPr lang="fa-IR" dirty="0">
              <a:solidFill>
                <a:schemeClr val="accent5"/>
              </a:solidFill>
            </a:endParaRPr>
          </a:p>
          <a:p>
            <a:pPr algn="r" rtl="1"/>
            <a:r>
              <a:rPr lang="fa-IR" dirty="0">
                <a:solidFill>
                  <a:schemeClr val="accent5"/>
                </a:solidFill>
              </a:rPr>
              <a:t>ماده ۱۷ـ امضای مهندس ناظر مبنی بر پایان عملیات پی ساختمان و نیز تأیید موضوع مواد </a:t>
            </a:r>
            <a:r>
              <a:rPr lang="fa-IR" dirty="0" smtClean="0">
                <a:solidFill>
                  <a:schemeClr val="accent5"/>
                </a:solidFill>
              </a:rPr>
              <a:t>(۱۳) </a:t>
            </a:r>
            <a:r>
              <a:rPr lang="fa-IR" dirty="0">
                <a:solidFill>
                  <a:schemeClr val="accent5"/>
                </a:solidFill>
              </a:rPr>
              <a:t>و </a:t>
            </a:r>
            <a:r>
              <a:rPr lang="fa-IR" dirty="0" smtClean="0">
                <a:solidFill>
                  <a:schemeClr val="accent5"/>
                </a:solidFill>
              </a:rPr>
              <a:t>(۱۴) </a:t>
            </a:r>
            <a:r>
              <a:rPr lang="fa-IR" dirty="0">
                <a:solidFill>
                  <a:schemeClr val="accent5"/>
                </a:solidFill>
              </a:rPr>
              <a:t>قانون باید توسط دفتر اسناد رسمی گواهی گردد</a:t>
            </a:r>
            <a:r>
              <a:rPr lang="fa-IR" dirty="0" smtClean="0">
                <a:solidFill>
                  <a:schemeClr val="accent5"/>
                </a:solidFill>
              </a:rPr>
              <a:t>.</a:t>
            </a:r>
          </a:p>
          <a:p>
            <a:pPr algn="r" rtl="1"/>
            <a:endParaRPr lang="fa-IR" dirty="0">
              <a:solidFill>
                <a:schemeClr val="accent5"/>
              </a:solidFill>
            </a:endParaRPr>
          </a:p>
          <a:p>
            <a:pPr algn="r" rtl="1"/>
            <a:r>
              <a:rPr lang="fa-IR" dirty="0">
                <a:solidFill>
                  <a:schemeClr val="accent5"/>
                </a:solidFill>
              </a:rPr>
              <a:t>ماده ۱۸ـ اقدام به پیش فروش ساختمان بدون تنظیم سند رسمی ممنوع است و با مرتکب طبق مواد </a:t>
            </a:r>
            <a:r>
              <a:rPr lang="fa-IR" dirty="0" smtClean="0">
                <a:solidFill>
                  <a:schemeClr val="accent5"/>
                </a:solidFill>
              </a:rPr>
              <a:t>(۲۳) </a:t>
            </a:r>
            <a:r>
              <a:rPr lang="fa-IR" dirty="0">
                <a:solidFill>
                  <a:schemeClr val="accent5"/>
                </a:solidFill>
              </a:rPr>
              <a:t>و </a:t>
            </a:r>
            <a:r>
              <a:rPr lang="fa-IR" dirty="0" smtClean="0">
                <a:solidFill>
                  <a:schemeClr val="accent5"/>
                </a:solidFill>
              </a:rPr>
              <a:t>(۲۴) </a:t>
            </a:r>
            <a:r>
              <a:rPr lang="fa-IR" dirty="0">
                <a:solidFill>
                  <a:schemeClr val="accent5"/>
                </a:solidFill>
              </a:rPr>
              <a:t>قانون رفتار خواهد </a:t>
            </a:r>
            <a:r>
              <a:rPr lang="fa-IR" dirty="0" smtClean="0">
                <a:solidFill>
                  <a:schemeClr val="accent5"/>
                </a:solidFill>
              </a:rPr>
              <a:t>شد.</a:t>
            </a:r>
            <a:endParaRPr lang="en-US" dirty="0">
              <a:solidFill>
                <a:schemeClr val="accent5"/>
              </a:solidFill>
            </a:endParaRPr>
          </a:p>
        </p:txBody>
      </p:sp>
    </p:spTree>
    <p:extLst>
      <p:ext uri="{BB962C8B-B14F-4D97-AF65-F5344CB8AC3E}">
        <p14:creationId xmlns:p14="http://schemas.microsoft.com/office/powerpoint/2010/main" val="4248465491"/>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929051" y="609600"/>
            <a:ext cx="6118360" cy="5181601"/>
          </a:xfrm>
        </p:spPr>
        <p:txBody>
          <a:bodyPr>
            <a:normAutofit fontScale="70000" lnSpcReduction="20000"/>
          </a:bodyPr>
          <a:lstStyle/>
          <a:p>
            <a:pPr algn="r" rtl="1"/>
            <a:r>
              <a:rPr lang="fa-IR" dirty="0">
                <a:solidFill>
                  <a:schemeClr val="accent5"/>
                </a:solidFill>
              </a:rPr>
              <a:t>ماده ۱۹ـ وزارت راه و شهرسازی مرجع صدور مجوز انتشار آگهی پیش فروش می باشد . صدور مجوز انتشار آگهی بر اساس دستور العملی است که ظرف یک ماه پس از </a:t>
            </a:r>
            <a:r>
              <a:rPr lang="fa-IR" dirty="0" smtClean="0">
                <a:solidFill>
                  <a:schemeClr val="accent5"/>
                </a:solidFill>
              </a:rPr>
              <a:t>ابلاغ </a:t>
            </a:r>
            <a:r>
              <a:rPr lang="fa-IR" dirty="0">
                <a:solidFill>
                  <a:schemeClr val="accent5"/>
                </a:solidFill>
              </a:rPr>
              <a:t>این آیین نامه توسط وزارت یاد شده تهیه خواهد </a:t>
            </a:r>
            <a:r>
              <a:rPr lang="fa-IR" dirty="0" smtClean="0">
                <a:solidFill>
                  <a:schemeClr val="accent5"/>
                </a:solidFill>
              </a:rPr>
              <a:t>شد.</a:t>
            </a:r>
          </a:p>
          <a:p>
            <a:pPr algn="r" rtl="1"/>
            <a:endParaRPr lang="fa-IR" dirty="0">
              <a:solidFill>
                <a:schemeClr val="accent5"/>
              </a:solidFill>
            </a:endParaRPr>
          </a:p>
          <a:p>
            <a:pPr algn="r" rtl="1"/>
            <a:r>
              <a:rPr lang="fa-IR" dirty="0">
                <a:solidFill>
                  <a:schemeClr val="accent5"/>
                </a:solidFill>
              </a:rPr>
              <a:t>ماده ۲۰ـ رسانه های جمعی جهت انتشار آگهی پیش فروش ساختمان مکلفند مجوز انتشار مربوط را از درخواست کننده آگهی مطالبه کنند و شماره، مشخصات و </a:t>
            </a:r>
            <a:r>
              <a:rPr lang="fa-IR" dirty="0" smtClean="0">
                <a:solidFill>
                  <a:schemeClr val="accent5"/>
                </a:solidFill>
              </a:rPr>
              <a:t>اطلاعات </a:t>
            </a:r>
            <a:r>
              <a:rPr lang="fa-IR" dirty="0">
                <a:solidFill>
                  <a:schemeClr val="accent5"/>
                </a:solidFill>
              </a:rPr>
              <a:t>مندرج در مجوز و مرجع صادرکننده مجوز را در متن آگهی قید نمایند واّلا طبق ماده </a:t>
            </a:r>
            <a:r>
              <a:rPr lang="fa-IR" dirty="0" smtClean="0">
                <a:solidFill>
                  <a:schemeClr val="accent5"/>
                </a:solidFill>
              </a:rPr>
              <a:t>(۲۱) </a:t>
            </a:r>
            <a:r>
              <a:rPr lang="fa-IR" dirty="0">
                <a:solidFill>
                  <a:schemeClr val="accent5"/>
                </a:solidFill>
              </a:rPr>
              <a:t>قانون اقدام خواهد </a:t>
            </a:r>
            <a:r>
              <a:rPr lang="fa-IR" dirty="0" smtClean="0">
                <a:solidFill>
                  <a:schemeClr val="accent5"/>
                </a:solidFill>
              </a:rPr>
              <a:t>شد.</a:t>
            </a:r>
          </a:p>
          <a:p>
            <a:pPr algn="r" rtl="1"/>
            <a:endParaRPr lang="fa-IR" dirty="0">
              <a:solidFill>
                <a:schemeClr val="accent5"/>
              </a:solidFill>
            </a:endParaRPr>
          </a:p>
          <a:p>
            <a:pPr algn="r" rtl="1"/>
            <a:r>
              <a:rPr lang="fa-IR" dirty="0">
                <a:solidFill>
                  <a:schemeClr val="accent5"/>
                </a:solidFill>
              </a:rPr>
              <a:t>ماده ۲۱ـ وزارتخانه های راه و شهرسازی، دادگستری و فرهنگ و ارشاد </a:t>
            </a:r>
            <a:r>
              <a:rPr lang="fa-IR" dirty="0" smtClean="0">
                <a:solidFill>
                  <a:schemeClr val="accent5"/>
                </a:solidFill>
              </a:rPr>
              <a:t>اسلامی </a:t>
            </a:r>
            <a:r>
              <a:rPr lang="fa-IR" dirty="0">
                <a:solidFill>
                  <a:schemeClr val="accent5"/>
                </a:solidFill>
              </a:rPr>
              <a:t>موظفند با همکاری سازمان های صدا و سیمای جمهوری </a:t>
            </a:r>
            <a:r>
              <a:rPr lang="fa-IR" dirty="0" smtClean="0">
                <a:solidFill>
                  <a:schemeClr val="accent5"/>
                </a:solidFill>
              </a:rPr>
              <a:t>اسلامی </a:t>
            </a:r>
            <a:r>
              <a:rPr lang="fa-IR" dirty="0">
                <a:solidFill>
                  <a:schemeClr val="accent5"/>
                </a:solidFill>
              </a:rPr>
              <a:t>ایران و ثبت اسناد و </a:t>
            </a:r>
            <a:r>
              <a:rPr lang="fa-IR" dirty="0" smtClean="0">
                <a:solidFill>
                  <a:schemeClr val="accent5"/>
                </a:solidFill>
              </a:rPr>
              <a:t>املاک </a:t>
            </a:r>
            <a:r>
              <a:rPr lang="fa-IR" dirty="0">
                <a:solidFill>
                  <a:schemeClr val="accent5"/>
                </a:solidFill>
              </a:rPr>
              <a:t>کشور به منظور آشنایی و آگاهی مردم از مقررات و الزامات قانون و آیین نامه و نحوه اجرای آنها به نحو مقتضی </a:t>
            </a:r>
            <a:r>
              <a:rPr lang="fa-IR" dirty="0" smtClean="0">
                <a:solidFill>
                  <a:schemeClr val="accent5"/>
                </a:solidFill>
              </a:rPr>
              <a:t>اطلاع </a:t>
            </a:r>
            <a:r>
              <a:rPr lang="fa-IR" dirty="0">
                <a:solidFill>
                  <a:schemeClr val="accent5"/>
                </a:solidFill>
              </a:rPr>
              <a:t>رسانی نمایند.</a:t>
            </a:r>
            <a:endParaRPr lang="en-US" dirty="0">
              <a:solidFill>
                <a:schemeClr val="accent5"/>
              </a:solidFill>
            </a:endParaRPr>
          </a:p>
        </p:txBody>
      </p:sp>
      <p:pic>
        <p:nvPicPr>
          <p:cNvPr id="2" name="Picture 1"/>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75530" y="2550595"/>
            <a:ext cx="4753521" cy="2535211"/>
          </a:xfrm>
          <a:prstGeom prst="rect">
            <a:avLst/>
          </a:prstGeom>
        </p:spPr>
      </p:pic>
    </p:spTree>
    <p:extLst>
      <p:ext uri="{BB962C8B-B14F-4D97-AF65-F5344CB8AC3E}">
        <p14:creationId xmlns:p14="http://schemas.microsoft.com/office/powerpoint/2010/main" val="809321237"/>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1141412" y="409303"/>
            <a:ext cx="9905999" cy="5381898"/>
          </a:xfrm>
        </p:spPr>
        <p:txBody>
          <a:bodyPr/>
          <a:lstStyle/>
          <a:p>
            <a:pPr algn="r" rtl="1"/>
            <a:r>
              <a:rPr lang="fa-IR" dirty="0">
                <a:solidFill>
                  <a:schemeClr val="accent5"/>
                </a:solidFill>
              </a:rPr>
              <a:t>ماده ۲۲ـ مأخذ محاسبه حق الثبت موضوع ماده </a:t>
            </a:r>
            <a:r>
              <a:rPr lang="fa-IR" dirty="0" smtClean="0">
                <a:solidFill>
                  <a:schemeClr val="accent5"/>
                </a:solidFill>
              </a:rPr>
              <a:t>(۵) </a:t>
            </a:r>
            <a:r>
              <a:rPr lang="fa-IR" dirty="0">
                <a:solidFill>
                  <a:schemeClr val="accent5"/>
                </a:solidFill>
              </a:rPr>
              <a:t>قانون، ماده </a:t>
            </a:r>
            <a:r>
              <a:rPr lang="fa-IR" dirty="0" smtClean="0">
                <a:solidFill>
                  <a:schemeClr val="accent5"/>
                </a:solidFill>
              </a:rPr>
              <a:t>(۱) </a:t>
            </a:r>
            <a:r>
              <a:rPr lang="fa-IR" dirty="0">
                <a:solidFill>
                  <a:schemeClr val="accent5"/>
                </a:solidFill>
              </a:rPr>
              <a:t>قانون وصول برخی از درآمدهای دولت و مصرف آن در موارد معین </a:t>
            </a:r>
            <a:r>
              <a:rPr lang="fa-IR" dirty="0" smtClean="0">
                <a:solidFill>
                  <a:schemeClr val="accent5"/>
                </a:solidFill>
              </a:rPr>
              <a:t>ـ </a:t>
            </a:r>
            <a:r>
              <a:rPr lang="fa-IR" dirty="0">
                <a:solidFill>
                  <a:schemeClr val="accent5"/>
                </a:solidFill>
              </a:rPr>
              <a:t>مصوب ۱۳۷۳ ـ با </a:t>
            </a:r>
            <a:r>
              <a:rPr lang="fa-IR" dirty="0" smtClean="0">
                <a:solidFill>
                  <a:schemeClr val="accent5"/>
                </a:solidFill>
              </a:rPr>
              <a:t>اصلاحات </a:t>
            </a:r>
            <a:r>
              <a:rPr lang="fa-IR" dirty="0">
                <a:solidFill>
                  <a:schemeClr val="accent5"/>
                </a:solidFill>
              </a:rPr>
              <a:t>بعدی می </a:t>
            </a:r>
            <a:r>
              <a:rPr lang="fa-IR" dirty="0" smtClean="0">
                <a:solidFill>
                  <a:schemeClr val="accent5"/>
                </a:solidFill>
              </a:rPr>
              <a:t>باشد.</a:t>
            </a:r>
          </a:p>
          <a:p>
            <a:pPr algn="r" rtl="1"/>
            <a:endParaRPr lang="fa-IR" dirty="0">
              <a:solidFill>
                <a:schemeClr val="accent5"/>
              </a:solidFill>
            </a:endParaRPr>
          </a:p>
          <a:p>
            <a:pPr algn="ctr" rtl="1"/>
            <a:r>
              <a:rPr lang="fa-IR" dirty="0" smtClean="0"/>
              <a:t>معاون </a:t>
            </a:r>
            <a:r>
              <a:rPr lang="fa-IR" dirty="0"/>
              <a:t>اول رئیس جمهور ـ اسحاق جهانگیری</a:t>
            </a:r>
            <a:endParaRPr lang="en-US" dirty="0">
              <a:solidFill>
                <a:schemeClr val="accent5"/>
              </a:solidFill>
            </a:endParaRPr>
          </a:p>
        </p:txBody>
      </p:sp>
      <p:sp>
        <p:nvSpPr>
          <p:cNvPr id="2" name="Rectangle 1"/>
          <p:cNvSpPr/>
          <p:nvPr/>
        </p:nvSpPr>
        <p:spPr>
          <a:xfrm>
            <a:off x="4974447" y="4098501"/>
            <a:ext cx="1999265" cy="1569660"/>
          </a:xfrm>
          <a:prstGeom prst="rect">
            <a:avLst/>
          </a:prstGeom>
        </p:spPr>
        <p:txBody>
          <a:bodyPr wrap="none">
            <a:spAutoFit/>
          </a:bodyPr>
          <a:lstStyle/>
          <a:p>
            <a:r>
              <a:rPr lang="fa-IR" sz="9600" dirty="0">
                <a:solidFill>
                  <a:schemeClr val="accent5"/>
                </a:solidFill>
              </a:rPr>
              <a:t>پایان</a:t>
            </a:r>
            <a:endParaRPr lang="en-US" dirty="0"/>
          </a:p>
        </p:txBody>
      </p:sp>
    </p:spTree>
    <p:extLst>
      <p:ext uri="{BB962C8B-B14F-4D97-AF65-F5344CB8AC3E}">
        <p14:creationId xmlns:p14="http://schemas.microsoft.com/office/powerpoint/2010/main" val="358000918"/>
      </p:ext>
    </p:extLst>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Circuit">
  <a:themeElements>
    <a:clrScheme name="Circuit">
      <a:dk1>
        <a:sysClr val="windowText" lastClr="000000"/>
      </a:dk1>
      <a:lt1>
        <a:sysClr val="window" lastClr="FFFFFF"/>
      </a:lt1>
      <a:dk2>
        <a:srgbClr val="252C36"/>
      </a:dk2>
      <a:lt2>
        <a:srgbClr val="7C96A3"/>
      </a:lt2>
      <a:accent1>
        <a:srgbClr val="4FD093"/>
      </a:accent1>
      <a:accent2>
        <a:srgbClr val="54BCDF"/>
      </a:accent2>
      <a:accent3>
        <a:srgbClr val="A262D0"/>
      </a:accent3>
      <a:accent4>
        <a:srgbClr val="D7537B"/>
      </a:accent4>
      <a:accent5>
        <a:srgbClr val="E78045"/>
      </a:accent5>
      <a:accent6>
        <a:srgbClr val="84C350"/>
      </a:accent6>
      <a:hlink>
        <a:srgbClr val="22FFFF"/>
      </a:hlink>
      <a:folHlink>
        <a:srgbClr val="9BF3FD"/>
      </a:folHlink>
    </a:clrScheme>
    <a:fontScheme name="Circuit">
      <a:majorFont>
        <a:latin typeface="Tw Cen MT" panose="020B0602020104020603"/>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Tw Cen MT" panose="020B0602020104020603"/>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Circuit">
      <a:fillStyleLst>
        <a:solidFill>
          <a:schemeClr val="phClr"/>
        </a:solidFill>
        <a:gradFill rotWithShape="1">
          <a:gsLst>
            <a:gs pos="0">
              <a:schemeClr val="phClr">
                <a:tint val="58000"/>
                <a:satMod val="108000"/>
                <a:lumMod val="110000"/>
              </a:schemeClr>
            </a:gs>
            <a:gs pos="100000">
              <a:schemeClr val="phClr">
                <a:tint val="81000"/>
                <a:satMod val="109000"/>
                <a:lumMod val="105000"/>
              </a:schemeClr>
            </a:gs>
          </a:gsLst>
          <a:lin ang="5040000" scaled="0"/>
        </a:gradFill>
        <a:gradFill rotWithShape="1">
          <a:gsLst>
            <a:gs pos="0">
              <a:schemeClr val="phClr">
                <a:tint val="94000"/>
                <a:satMod val="105000"/>
                <a:lumMod val="102000"/>
              </a:schemeClr>
            </a:gs>
            <a:gs pos="100000">
              <a:schemeClr val="phClr">
                <a:shade val="74000"/>
                <a:satMod val="128000"/>
                <a:lumMod val="100000"/>
              </a:schemeClr>
            </a:gs>
          </a:gsLst>
          <a:lin ang="5400000" scaled="0"/>
        </a:gradFill>
      </a:fillStyleLst>
      <a:lnStyleLst>
        <a:ln w="9525" cap="flat" cmpd="sng" algn="ctr">
          <a:solidFill>
            <a:schemeClr val="phClr"/>
          </a:solidFill>
          <a:prstDash val="solid"/>
        </a:ln>
        <a:ln w="15875" cap="flat" cmpd="sng" algn="ctr">
          <a:solidFill>
            <a:schemeClr val="phClr"/>
          </a:solidFill>
          <a:prstDash val="solid"/>
        </a:ln>
        <a:ln w="22225" cap="flat" cmpd="sng" algn="ctr">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gradFill rotWithShape="1">
          <a:gsLst>
            <a:gs pos="0">
              <a:schemeClr val="phClr">
                <a:tint val="98000"/>
                <a:hueMod val="94000"/>
                <a:satMod val="148000"/>
                <a:lumMod val="140000"/>
              </a:schemeClr>
            </a:gs>
            <a:gs pos="100000">
              <a:schemeClr val="phClr">
                <a:shade val="92000"/>
                <a:hueMod val="104000"/>
                <a:satMod val="140000"/>
                <a:lumMod val="48000"/>
              </a:schemeClr>
            </a:gs>
          </a:gsLst>
          <a:lin ang="5040000" scaled="0"/>
        </a:gradFill>
        <a:blipFill>
          <a:blip xmlns:r="http://schemas.openxmlformats.org/officeDocument/2006/relationships" r:embed="rId1">
            <a:duotone>
              <a:schemeClr val="phClr">
                <a:shade val="48000"/>
                <a:hueMod val="106000"/>
                <a:satMod val="140000"/>
                <a:lumMod val="42000"/>
              </a:schemeClr>
              <a:schemeClr val="phClr">
                <a:tint val="98000"/>
                <a:hueMod val="92000"/>
                <a:satMod val="220000"/>
                <a:lumMod val="90000"/>
              </a:schemeClr>
            </a:duotone>
          </a:blip>
          <a:stretch/>
        </a:blipFill>
      </a:bgFillStyleLst>
    </a:fmtScheme>
  </a:themeElements>
  <a:objectDefaults/>
  <a:extraClrSchemeLst/>
  <a:extLst>
    <a:ext uri="{05A4C25C-085E-4340-85A3-A5531E510DB2}">
      <thm15:themeFamily xmlns:thm15="http://schemas.microsoft.com/office/thememl/2012/main" name="Circuit" id="{0AC2F7E7-15F5-431C-B2A2-456FE929F56C}" vid="{142578CA-DEC9-49C3-80AF-C113973CC9A9}"/>
    </a:ext>
  </a:extLst>
</a:theme>
</file>

<file path=docProps/app.xml><?xml version="1.0" encoding="utf-8"?>
<Properties xmlns="http://schemas.openxmlformats.org/officeDocument/2006/extended-properties" xmlns:vt="http://schemas.openxmlformats.org/officeDocument/2006/docPropsVTypes">
  <Template>TM04033919[[fn=Circuit]]</Template>
  <TotalTime>258</TotalTime>
  <Words>3825</Words>
  <Application>Microsoft Office PowerPoint</Application>
  <PresentationFormat>Widescreen</PresentationFormat>
  <Paragraphs>131</Paragraphs>
  <Slides>28</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28</vt:i4>
      </vt:variant>
    </vt:vector>
  </HeadingPairs>
  <TitlesOfParts>
    <vt:vector size="33" baseType="lpstr">
      <vt:lpstr>Arial</vt:lpstr>
      <vt:lpstr>Times New Roman</vt:lpstr>
      <vt:lpstr>Trebuchet MS</vt:lpstr>
      <vt:lpstr>Tw Cen MT</vt:lpstr>
      <vt:lpstr>Circuit</vt:lpstr>
      <vt:lpstr>به نام خدا   </vt:lpstr>
      <vt:lpstr>PowerPoint Presentation</vt:lpstr>
      <vt:lpstr>قانون پیش فروش ساختمان</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آیین نامه اجرایی قانون پیش فروش ساختمان</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به نام خدا</dc:title>
  <dc:creator>ASUS</dc:creator>
  <cp:lastModifiedBy>ASUS</cp:lastModifiedBy>
  <cp:revision>16</cp:revision>
  <dcterms:created xsi:type="dcterms:W3CDTF">2024-01-01T10:07:54Z</dcterms:created>
  <dcterms:modified xsi:type="dcterms:W3CDTF">2024-01-21T10:52:12Z</dcterms:modified>
</cp:coreProperties>
</file>