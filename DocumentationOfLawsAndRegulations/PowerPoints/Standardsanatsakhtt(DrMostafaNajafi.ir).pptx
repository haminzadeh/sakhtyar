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0" r:id="rId1"/>
    <p:sldMasterId id="2147483661" r:id="rId2"/>
  </p:sldMasterIdLst>
  <p:notesMasterIdLst>
    <p:notesMasterId r:id="rId99"/>
  </p:notesMasterIdLst>
  <p:sldIdLst>
    <p:sldId id="464" r:id="rId3"/>
    <p:sldId id="305" r:id="rId4"/>
    <p:sldId id="256" r:id="rId5"/>
    <p:sldId id="301" r:id="rId6"/>
    <p:sldId id="335" r:id="rId7"/>
    <p:sldId id="318" r:id="rId8"/>
    <p:sldId id="349" r:id="rId9"/>
    <p:sldId id="313" r:id="rId10"/>
    <p:sldId id="314" r:id="rId11"/>
    <p:sldId id="355" r:id="rId12"/>
    <p:sldId id="356" r:id="rId13"/>
    <p:sldId id="357" r:id="rId14"/>
    <p:sldId id="359" r:id="rId15"/>
    <p:sldId id="354" r:id="rId16"/>
    <p:sldId id="363" r:id="rId17"/>
    <p:sldId id="398" r:id="rId18"/>
    <p:sldId id="399" r:id="rId19"/>
    <p:sldId id="400" r:id="rId20"/>
    <p:sldId id="401" r:id="rId21"/>
    <p:sldId id="402" r:id="rId22"/>
    <p:sldId id="403" r:id="rId23"/>
    <p:sldId id="404" r:id="rId24"/>
    <p:sldId id="371" r:id="rId25"/>
    <p:sldId id="373" r:id="rId26"/>
    <p:sldId id="374" r:id="rId27"/>
    <p:sldId id="375" r:id="rId28"/>
    <p:sldId id="376" r:id="rId29"/>
    <p:sldId id="377" r:id="rId30"/>
    <p:sldId id="378" r:id="rId31"/>
    <p:sldId id="379" r:id="rId32"/>
    <p:sldId id="320" r:id="rId33"/>
    <p:sldId id="380" r:id="rId34"/>
    <p:sldId id="381" r:id="rId35"/>
    <p:sldId id="382" r:id="rId36"/>
    <p:sldId id="383" r:id="rId37"/>
    <p:sldId id="384" r:id="rId38"/>
    <p:sldId id="385" r:id="rId39"/>
    <p:sldId id="386" r:id="rId40"/>
    <p:sldId id="387" r:id="rId41"/>
    <p:sldId id="388" r:id="rId42"/>
    <p:sldId id="389" r:id="rId43"/>
    <p:sldId id="396" r:id="rId44"/>
    <p:sldId id="405" r:id="rId45"/>
    <p:sldId id="393" r:id="rId46"/>
    <p:sldId id="394" r:id="rId47"/>
    <p:sldId id="395" r:id="rId48"/>
    <p:sldId id="406" r:id="rId49"/>
    <p:sldId id="407" r:id="rId50"/>
    <p:sldId id="408" r:id="rId51"/>
    <p:sldId id="410" r:id="rId52"/>
    <p:sldId id="411" r:id="rId53"/>
    <p:sldId id="412" r:id="rId54"/>
    <p:sldId id="413" r:id="rId55"/>
    <p:sldId id="414" r:id="rId56"/>
    <p:sldId id="415" r:id="rId57"/>
    <p:sldId id="416" r:id="rId58"/>
    <p:sldId id="417" r:id="rId59"/>
    <p:sldId id="418" r:id="rId60"/>
    <p:sldId id="419" r:id="rId61"/>
    <p:sldId id="420" r:id="rId62"/>
    <p:sldId id="421" r:id="rId63"/>
    <p:sldId id="422" r:id="rId64"/>
    <p:sldId id="423" r:id="rId65"/>
    <p:sldId id="425" r:id="rId66"/>
    <p:sldId id="424" r:id="rId67"/>
    <p:sldId id="426" r:id="rId68"/>
    <p:sldId id="428" r:id="rId69"/>
    <p:sldId id="433" r:id="rId70"/>
    <p:sldId id="463" r:id="rId71"/>
    <p:sldId id="434" r:id="rId72"/>
    <p:sldId id="435" r:id="rId73"/>
    <p:sldId id="436" r:id="rId74"/>
    <p:sldId id="336" r:id="rId75"/>
    <p:sldId id="438" r:id="rId76"/>
    <p:sldId id="439" r:id="rId77"/>
    <p:sldId id="440" r:id="rId78"/>
    <p:sldId id="442" r:id="rId79"/>
    <p:sldId id="443" r:id="rId80"/>
    <p:sldId id="444" r:id="rId81"/>
    <p:sldId id="445" r:id="rId82"/>
    <p:sldId id="447" r:id="rId83"/>
    <p:sldId id="446" r:id="rId84"/>
    <p:sldId id="448" r:id="rId85"/>
    <p:sldId id="449" r:id="rId86"/>
    <p:sldId id="450" r:id="rId87"/>
    <p:sldId id="451" r:id="rId88"/>
    <p:sldId id="452" r:id="rId89"/>
    <p:sldId id="453" r:id="rId90"/>
    <p:sldId id="455" r:id="rId91"/>
    <p:sldId id="456" r:id="rId92"/>
    <p:sldId id="457" r:id="rId93"/>
    <p:sldId id="458" r:id="rId94"/>
    <p:sldId id="459" r:id="rId95"/>
    <p:sldId id="460" r:id="rId96"/>
    <p:sldId id="461" r:id="rId97"/>
    <p:sldId id="462" r:id="rId98"/>
  </p:sldIdLst>
  <p:sldSz cx="9144000" cy="5143500" type="screen16x9"/>
  <p:notesSz cx="6858000" cy="9144000"/>
  <p:embeddedFontLst>
    <p:embeddedFont>
      <p:font typeface="B Nazanin" panose="00000400000000000000" pitchFamily="2" charset="-78"/>
      <p:regular r:id="rId100"/>
      <p:bold r:id="rId101"/>
    </p:embeddedFont>
    <p:embeddedFont>
      <p:font typeface="B Titr" panose="00000700000000000000" pitchFamily="2" charset="-78"/>
      <p:bold r:id="rId102"/>
    </p:embeddedFont>
    <p:embeddedFont>
      <p:font typeface="Fira Sans Extra Condensed Medium" panose="020B0604020202020204" charset="0"/>
      <p:regular r:id="rId103"/>
      <p:bold r:id="rId104"/>
      <p:italic r:id="rId105"/>
      <p:boldItalic r:id="rId106"/>
    </p:embeddedFont>
    <p:embeddedFont>
      <p:font typeface="Garamond" panose="02020404030301010803" pitchFamily="18" charset="0"/>
      <p:regular r:id="rId107"/>
      <p:bold r:id="rId108"/>
      <p:italic r:id="rId109"/>
    </p:embeddedFont>
    <p:embeddedFont>
      <p:font typeface="Roboto" panose="02000000000000000000" pitchFamily="2" charset="0"/>
      <p:regular r:id="rId110"/>
      <p:bold r:id="rId111"/>
      <p:italic r:id="rId112"/>
      <p:boldItalic r:id="rId11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BFBFB"/>
    <a:srgbClr val="799FB4"/>
    <a:srgbClr val="96B6C6"/>
    <a:srgbClr val="BB1B1B"/>
    <a:srgbClr val="E7E4FC"/>
    <a:srgbClr val="141C3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0368" autoAdjust="0"/>
    <p:restoredTop sz="94660"/>
  </p:normalViewPr>
  <p:slideViewPr>
    <p:cSldViewPr snapToGrid="0">
      <p:cViewPr varScale="1">
        <p:scale>
          <a:sx n="96" d="100"/>
          <a:sy n="96" d="100"/>
        </p:scale>
        <p:origin x="846" y="7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tableStyles" Target="tableStyles.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font" Target="fonts/font13.fntdata"/><Relationship Id="rId16" Type="http://schemas.openxmlformats.org/officeDocument/2006/relationships/slide" Target="slides/slide14.xml"/><Relationship Id="rId107" Type="http://schemas.openxmlformats.org/officeDocument/2006/relationships/font" Target="fonts/font8.fntdata"/><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slide" Target="slides/slide72.xml"/><Relationship Id="rId79" Type="http://schemas.openxmlformats.org/officeDocument/2006/relationships/slide" Target="slides/slide77.xml"/><Relationship Id="rId87" Type="http://schemas.openxmlformats.org/officeDocument/2006/relationships/slide" Target="slides/slide85.xml"/><Relationship Id="rId102" Type="http://schemas.openxmlformats.org/officeDocument/2006/relationships/font" Target="fonts/font3.fntdata"/><Relationship Id="rId110" Type="http://schemas.openxmlformats.org/officeDocument/2006/relationships/font" Target="fonts/font11.fntdata"/><Relationship Id="rId115"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slide" Target="slides/slide80.xml"/><Relationship Id="rId90" Type="http://schemas.openxmlformats.org/officeDocument/2006/relationships/slide" Target="slides/slide88.xml"/><Relationship Id="rId95" Type="http://schemas.openxmlformats.org/officeDocument/2006/relationships/slide" Target="slides/slide9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100" Type="http://schemas.openxmlformats.org/officeDocument/2006/relationships/font" Target="fonts/font1.fntdata"/><Relationship Id="rId105" Type="http://schemas.openxmlformats.org/officeDocument/2006/relationships/font" Target="fonts/font6.fntdata"/><Relationship Id="rId113" Type="http://schemas.openxmlformats.org/officeDocument/2006/relationships/font" Target="fonts/font14.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font" Target="fonts/font4.fntdata"/><Relationship Id="rId108" Type="http://schemas.openxmlformats.org/officeDocument/2006/relationships/font" Target="fonts/font9.fntdata"/><Relationship Id="rId116" Type="http://schemas.openxmlformats.org/officeDocument/2006/relationships/theme" Target="theme/theme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font" Target="fonts/font12.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font" Target="fonts/font7.fntdata"/><Relationship Id="rId114" Type="http://schemas.openxmlformats.org/officeDocument/2006/relationships/presProps" Target="presProps.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notesMaster" Target="notesMasters/notesMaster1.xml"/><Relationship Id="rId101" Type="http://schemas.openxmlformats.org/officeDocument/2006/relationships/font" Target="fonts/font2.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10.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font" Target="fonts/font5.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
        <p:cNvGrpSpPr/>
        <p:nvPr/>
      </p:nvGrpSpPr>
      <p:grpSpPr>
        <a:xfrm>
          <a:off x="0" y="0"/>
          <a:ext cx="0" cy="0"/>
          <a:chOff x="0" y="0"/>
          <a:chExt cx="0" cy="0"/>
        </a:xfrm>
      </p:grpSpPr>
      <p:sp>
        <p:nvSpPr>
          <p:cNvPr id="423" name="Google Shape;423;g8a1b6e5601_0_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 name="Google Shape;424;g8a1b6e5601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983958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1964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06865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991772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93119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650666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84214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7505550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2832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9605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17288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650666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1877405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411167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916500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58980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623282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744591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4895676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990919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103893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0443123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232133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7233818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74015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63688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647775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978343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134684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487604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486663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2475818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7331078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7934106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696865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951123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9079870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327086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384957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9561759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5306108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119632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8313084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0641712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57696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373408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535448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358661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3832197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016818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82256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834996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3459898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916725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552686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7483376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46821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433456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0449245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2022356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2607844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1152724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3978650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8213144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0099474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9653791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228232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593140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752263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692151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835713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3812254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835408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6384989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927770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059938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76088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7673307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8305517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814954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089484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328590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2834168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156456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d1d11c1ec_0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d1d11c1ec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1943065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5492272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7820839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4545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4633277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0114342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1805828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961884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8e8b782381_0_1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8e8b782381_0_1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665566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4997400" y="1280300"/>
            <a:ext cx="3436500" cy="2164800"/>
          </a:xfrm>
          <a:prstGeom prst="rect">
            <a:avLst/>
          </a:prstGeom>
        </p:spPr>
        <p:txBody>
          <a:bodyPr spcFirstLastPara="1" wrap="square" lIns="91425" tIns="91425" rIns="91425" bIns="91425" anchor="ctr" anchorCtr="0">
            <a:noAutofit/>
          </a:bodyPr>
          <a:lstStyle>
            <a:lvl1pPr lvl="0" algn="r">
              <a:spcBef>
                <a:spcPts val="0"/>
              </a:spcBef>
              <a:spcAft>
                <a:spcPts val="0"/>
              </a:spcAft>
              <a:buSzPts val="4500"/>
              <a:buNone/>
              <a:defRPr sz="4500">
                <a:cs typeface="IRAN Sans" panose="020B0400000000000000" pitchFamily="34" charset="-78"/>
              </a:defRPr>
            </a:lvl1pPr>
            <a:lvl2pPr lvl="1" algn="r">
              <a:spcBef>
                <a:spcPts val="0"/>
              </a:spcBef>
              <a:spcAft>
                <a:spcPts val="0"/>
              </a:spcAft>
              <a:buSzPts val="4500"/>
              <a:buNone/>
              <a:defRPr sz="4500"/>
            </a:lvl2pPr>
            <a:lvl3pPr lvl="2" algn="r">
              <a:spcBef>
                <a:spcPts val="0"/>
              </a:spcBef>
              <a:spcAft>
                <a:spcPts val="0"/>
              </a:spcAft>
              <a:buSzPts val="4500"/>
              <a:buNone/>
              <a:defRPr sz="4500"/>
            </a:lvl3pPr>
            <a:lvl4pPr lvl="3" algn="r">
              <a:spcBef>
                <a:spcPts val="0"/>
              </a:spcBef>
              <a:spcAft>
                <a:spcPts val="0"/>
              </a:spcAft>
              <a:buSzPts val="4500"/>
              <a:buNone/>
              <a:defRPr sz="4500"/>
            </a:lvl4pPr>
            <a:lvl5pPr lvl="4" algn="r">
              <a:spcBef>
                <a:spcPts val="0"/>
              </a:spcBef>
              <a:spcAft>
                <a:spcPts val="0"/>
              </a:spcAft>
              <a:buSzPts val="4500"/>
              <a:buNone/>
              <a:defRPr sz="4500"/>
            </a:lvl5pPr>
            <a:lvl6pPr lvl="5" algn="r">
              <a:spcBef>
                <a:spcPts val="0"/>
              </a:spcBef>
              <a:spcAft>
                <a:spcPts val="0"/>
              </a:spcAft>
              <a:buSzPts val="4500"/>
              <a:buNone/>
              <a:defRPr sz="4500"/>
            </a:lvl6pPr>
            <a:lvl7pPr lvl="6" algn="r">
              <a:spcBef>
                <a:spcPts val="0"/>
              </a:spcBef>
              <a:spcAft>
                <a:spcPts val="0"/>
              </a:spcAft>
              <a:buSzPts val="4500"/>
              <a:buNone/>
              <a:defRPr sz="4500"/>
            </a:lvl7pPr>
            <a:lvl8pPr lvl="7" algn="r">
              <a:spcBef>
                <a:spcPts val="0"/>
              </a:spcBef>
              <a:spcAft>
                <a:spcPts val="0"/>
              </a:spcAft>
              <a:buSzPts val="4500"/>
              <a:buNone/>
              <a:defRPr sz="4500"/>
            </a:lvl8pPr>
            <a:lvl9pPr lvl="8" algn="r">
              <a:spcBef>
                <a:spcPts val="0"/>
              </a:spcBef>
              <a:spcAft>
                <a:spcPts val="0"/>
              </a:spcAft>
              <a:buSzPts val="4500"/>
              <a:buNone/>
              <a:defRPr sz="4500"/>
            </a:lvl9pPr>
          </a:lstStyle>
          <a:p>
            <a:endParaRPr/>
          </a:p>
        </p:txBody>
      </p:sp>
      <p:sp>
        <p:nvSpPr>
          <p:cNvPr id="10" name="Google Shape;10;p2"/>
          <p:cNvSpPr txBox="1">
            <a:spLocks noGrp="1"/>
          </p:cNvSpPr>
          <p:nvPr>
            <p:ph type="subTitle" idx="1"/>
          </p:nvPr>
        </p:nvSpPr>
        <p:spPr>
          <a:xfrm>
            <a:off x="4488600" y="3445100"/>
            <a:ext cx="3945300" cy="4179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1500"/>
              <a:buNone/>
              <a:defRPr sz="1500">
                <a:cs typeface="IRAN Sans" panose="020B0400000000000000" pitchFamily="34" charset="-78"/>
              </a:defRPr>
            </a:lvl1pPr>
            <a:lvl2pPr lvl="1" algn="r">
              <a:lnSpc>
                <a:spcPct val="100000"/>
              </a:lnSpc>
              <a:spcBef>
                <a:spcPts val="0"/>
              </a:spcBef>
              <a:spcAft>
                <a:spcPts val="0"/>
              </a:spcAft>
              <a:buSzPts val="1500"/>
              <a:buNone/>
              <a:defRPr sz="1500"/>
            </a:lvl2pPr>
            <a:lvl3pPr lvl="2" algn="r">
              <a:lnSpc>
                <a:spcPct val="100000"/>
              </a:lnSpc>
              <a:spcBef>
                <a:spcPts val="0"/>
              </a:spcBef>
              <a:spcAft>
                <a:spcPts val="0"/>
              </a:spcAft>
              <a:buSzPts val="1500"/>
              <a:buNone/>
              <a:defRPr sz="1500"/>
            </a:lvl3pPr>
            <a:lvl4pPr lvl="3" algn="r">
              <a:lnSpc>
                <a:spcPct val="100000"/>
              </a:lnSpc>
              <a:spcBef>
                <a:spcPts val="0"/>
              </a:spcBef>
              <a:spcAft>
                <a:spcPts val="0"/>
              </a:spcAft>
              <a:buSzPts val="1500"/>
              <a:buNone/>
              <a:defRPr sz="1500"/>
            </a:lvl4pPr>
            <a:lvl5pPr lvl="4" algn="r">
              <a:lnSpc>
                <a:spcPct val="100000"/>
              </a:lnSpc>
              <a:spcBef>
                <a:spcPts val="0"/>
              </a:spcBef>
              <a:spcAft>
                <a:spcPts val="0"/>
              </a:spcAft>
              <a:buSzPts val="1500"/>
              <a:buNone/>
              <a:defRPr sz="1500"/>
            </a:lvl5pPr>
            <a:lvl6pPr lvl="5" algn="r">
              <a:lnSpc>
                <a:spcPct val="100000"/>
              </a:lnSpc>
              <a:spcBef>
                <a:spcPts val="0"/>
              </a:spcBef>
              <a:spcAft>
                <a:spcPts val="0"/>
              </a:spcAft>
              <a:buSzPts val="1500"/>
              <a:buNone/>
              <a:defRPr sz="1500"/>
            </a:lvl6pPr>
            <a:lvl7pPr lvl="6" algn="r">
              <a:lnSpc>
                <a:spcPct val="100000"/>
              </a:lnSpc>
              <a:spcBef>
                <a:spcPts val="0"/>
              </a:spcBef>
              <a:spcAft>
                <a:spcPts val="0"/>
              </a:spcAft>
              <a:buSzPts val="1500"/>
              <a:buNone/>
              <a:defRPr sz="1500"/>
            </a:lvl7pPr>
            <a:lvl8pPr lvl="7" algn="r">
              <a:lnSpc>
                <a:spcPct val="100000"/>
              </a:lnSpc>
              <a:spcBef>
                <a:spcPts val="0"/>
              </a:spcBef>
              <a:spcAft>
                <a:spcPts val="0"/>
              </a:spcAft>
              <a:buSzPts val="1500"/>
              <a:buNone/>
              <a:defRPr sz="1500"/>
            </a:lvl8pPr>
            <a:lvl9pPr lvl="8" algn="r">
              <a:lnSpc>
                <a:spcPct val="100000"/>
              </a:lnSpc>
              <a:spcBef>
                <a:spcPts val="0"/>
              </a:spcBef>
              <a:spcAft>
                <a:spcPts val="0"/>
              </a:spcAft>
              <a:buSzPts val="1500"/>
              <a:buNone/>
              <a:defRPr sz="15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cs typeface="IRAN Sans" panose="020B0400000000000000" pitchFamily="34" charset="-78"/>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4"/>
        <p:cNvGrpSpPr/>
        <p:nvPr/>
      </p:nvGrpSpPr>
      <p:grpSpPr>
        <a:xfrm>
          <a:off x="0" y="0"/>
          <a:ext cx="0" cy="0"/>
          <a:chOff x="0" y="0"/>
          <a:chExt cx="0" cy="0"/>
        </a:xfrm>
      </p:grpSpPr>
      <p:sp>
        <p:nvSpPr>
          <p:cNvPr id="15" name="Google Shape;15;p4"/>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cs typeface="IRAN Sans" panose="020B0400000000000000" pitchFamily="34" charset="-78"/>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6" name="Google Shape;16;p4"/>
          <p:cNvSpPr txBox="1">
            <a:spLocks noGrp="1"/>
          </p:cNvSpPr>
          <p:nvPr>
            <p:ph type="body" idx="1"/>
          </p:nvPr>
        </p:nvSpPr>
        <p:spPr>
          <a:xfrm>
            <a:off x="710275" y="1152475"/>
            <a:ext cx="7723500" cy="34545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cs typeface="IRAN Sans" panose="020B0400000000000000" pitchFamily="34" charset="-78"/>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7" name="Google Shape;17;p4"/>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8"/>
        <p:cNvGrpSpPr/>
        <p:nvPr/>
      </p:nvGrpSpPr>
      <p:grpSpPr>
        <a:xfrm>
          <a:off x="0" y="0"/>
          <a:ext cx="0" cy="0"/>
          <a:chOff x="0" y="0"/>
          <a:chExt cx="0" cy="0"/>
        </a:xfrm>
      </p:grpSpPr>
      <p:sp>
        <p:nvSpPr>
          <p:cNvPr id="19" name="Google Shape;19;p5"/>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cs typeface="IRAN Sans" panose="020B0400000000000000" pitchFamily="34" charset="-78"/>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0" name="Google Shape;20;p5"/>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cs typeface="IRAN Sans" panose="020B0400000000000000" pitchFamily="34" charset="-78"/>
              </a:defRPr>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1" name="Google Shape;21;p5"/>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cs typeface="IRAN Sans" panose="020B0400000000000000" pitchFamily="34" charset="-78"/>
              </a:defRPr>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2" name="Google Shape;22;p5"/>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cs typeface="IRAN Sans" panose="020B0400000000000000" pitchFamily="34" charset="-78"/>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5"/>
        <p:cNvGrpSpPr/>
        <p:nvPr/>
      </p:nvGrpSpPr>
      <p:grpSpPr>
        <a:xfrm>
          <a:off x="0" y="0"/>
          <a:ext cx="0" cy="0"/>
          <a:chOff x="0" y="0"/>
          <a:chExt cx="0" cy="0"/>
        </a:xfrm>
      </p:grpSpPr>
      <p:sp>
        <p:nvSpPr>
          <p:cNvPr id="26" name="Google Shape;26;p7"/>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cs typeface="IRAN Sans" panose="020B0400000000000000" pitchFamily="34" charset="-78"/>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27" name="Google Shape;27;p7"/>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SzPts val="1200"/>
              <a:buChar char="●"/>
              <a:defRPr sz="1200">
                <a:cs typeface="IRAN Sans" panose="020B0400000000000000" pitchFamily="34" charset="-78"/>
              </a:defRPr>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8" name="Google Shape;28;p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cs typeface="IRAN Sans" panose="020B0400000000000000" pitchFamily="34" charset="-78"/>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1" name="Google Shape;31;p8"/>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2"/>
        <p:cNvGrpSpPr/>
        <p:nvPr/>
      </p:nvGrpSpPr>
      <p:grpSpPr>
        <a:xfrm>
          <a:off x="0" y="0"/>
          <a:ext cx="0" cy="0"/>
          <a:chOff x="0" y="0"/>
          <a:chExt cx="0" cy="0"/>
        </a:xfrm>
      </p:grpSpPr>
      <p:sp>
        <p:nvSpPr>
          <p:cNvPr id="33" name="Google Shape;33;p9"/>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9"/>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cs typeface="IRAN Sans" panose="020B0400000000000000" pitchFamily="34" charset="-78"/>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5" name="Google Shape;35;p9"/>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cs typeface="IRAN Sans" panose="020B0400000000000000" pitchFamily="34" charset="-78"/>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6" name="Google Shape;36;p9"/>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Autofit/>
          </a:bodyPr>
          <a:lstStyle>
            <a:lvl1pPr marL="457200" lvl="0" indent="-342900">
              <a:spcBef>
                <a:spcPts val="0"/>
              </a:spcBef>
              <a:spcAft>
                <a:spcPts val="0"/>
              </a:spcAft>
              <a:buSzPts val="1800"/>
              <a:buChar char="●"/>
              <a:defRPr>
                <a:cs typeface="IRAN Sans" panose="020B0400000000000000" pitchFamily="34" charset="-78"/>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37" name="Google Shape;37;p9"/>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8"/>
        <p:cNvGrpSpPr/>
        <p:nvPr/>
      </p:nvGrpSpPr>
      <p:grpSpPr>
        <a:xfrm>
          <a:off x="0" y="0"/>
          <a:ext cx="0" cy="0"/>
          <a:chOff x="0" y="0"/>
          <a:chExt cx="0" cy="0"/>
        </a:xfrm>
      </p:grpSpPr>
      <p:sp>
        <p:nvSpPr>
          <p:cNvPr id="39" name="Google Shape;39;p10"/>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800"/>
              <a:buNone/>
              <a:defRPr>
                <a:cs typeface="IRAN Sans" panose="020B0400000000000000" pitchFamily="34" charset="-78"/>
              </a:defRPr>
            </a:lvl1pPr>
          </a:lstStyle>
          <a:p>
            <a:endParaRPr/>
          </a:p>
        </p:txBody>
      </p:sp>
      <p:sp>
        <p:nvSpPr>
          <p:cNvPr id="40" name="Google Shape;40;p10"/>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1"/>
        <p:cNvGrpSpPr/>
        <p:nvPr/>
      </p:nvGrpSpPr>
      <p:grpSpPr>
        <a:xfrm>
          <a:off x="0" y="0"/>
          <a:ext cx="0" cy="0"/>
          <a:chOff x="0" y="0"/>
          <a:chExt cx="0" cy="0"/>
        </a:xfrm>
      </p:grpSpPr>
      <p:sp>
        <p:nvSpPr>
          <p:cNvPr id="42" name="Google Shape;42;p11"/>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cs typeface="IRAN Sans" panose="020B0400000000000000" pitchFamily="34" charset="-78"/>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3" name="Google Shape;43;p11"/>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SzPts val="1800"/>
              <a:buChar char="●"/>
              <a:defRPr>
                <a:cs typeface="IRAN Sans" panose="020B0400000000000000" pitchFamily="34" charset="-78"/>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44" name="Google Shape;44;p1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 name="Group 6"/>
          <p:cNvGrpSpPr/>
          <p:nvPr/>
        </p:nvGrpSpPr>
        <p:grpSpPr>
          <a:xfrm>
            <a:off x="-12700" y="0"/>
            <a:ext cx="9173370" cy="5142161"/>
            <a:chOff x="-16934" y="0"/>
            <a:chExt cx="12231160" cy="6856214"/>
          </a:xfrm>
        </p:grpSpPr>
        <p:pic>
          <p:nvPicPr>
            <p:cNvPr id="16" name="Picture 15" descr="HD-PanelTitleR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88825" cy="6856214"/>
            </a:xfrm>
            <a:prstGeom prst="rect">
              <a:avLst/>
            </a:prstGeom>
          </p:spPr>
        </p:pic>
        <p:sp>
          <p:nvSpPr>
            <p:cNvPr id="26" name="Rectangle 25"/>
            <p:cNvSpPr/>
            <p:nvPr/>
          </p:nvSpPr>
          <p:spPr>
            <a:xfrm>
              <a:off x="2328332" y="1540931"/>
              <a:ext cx="7543802" cy="3835401"/>
            </a:xfrm>
            <a:prstGeom prst="rect">
              <a:avLst/>
            </a:prstGeom>
            <a:noFill/>
            <a:ln w="15875">
              <a:miter lim="800000"/>
            </a:ln>
          </p:spPr>
          <p:style>
            <a:lnRef idx="1">
              <a:schemeClr val="accent1"/>
            </a:lnRef>
            <a:fillRef idx="3">
              <a:schemeClr val="accent1"/>
            </a:fillRef>
            <a:effectRef idx="2">
              <a:schemeClr val="accent1"/>
            </a:effectRef>
            <a:fontRef idx="minor">
              <a:schemeClr val="lt1"/>
            </a:fontRef>
          </p:style>
        </p:sp>
        <p:pic>
          <p:nvPicPr>
            <p:cNvPr id="17" name="Picture 16" descr="HDRibbonTitle-UniformTrim.png"/>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6934" y="3147609"/>
              <a:ext cx="2478024" cy="612648"/>
            </a:xfrm>
            <a:prstGeom prst="rect">
              <a:avLst/>
            </a:prstGeom>
          </p:spPr>
        </p:pic>
        <p:pic>
          <p:nvPicPr>
            <p:cNvPr id="20" name="Picture 19" descr="HDRibbonTitle-UniformTrim.png"/>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9736202" y="3147609"/>
              <a:ext cx="2478024" cy="612648"/>
            </a:xfrm>
            <a:prstGeom prst="rect">
              <a:avLst/>
            </a:prstGeom>
          </p:spPr>
        </p:pic>
      </p:grpSp>
      <p:sp>
        <p:nvSpPr>
          <p:cNvPr id="2" name="Title 1"/>
          <p:cNvSpPr>
            <a:spLocks noGrp="1"/>
          </p:cNvSpPr>
          <p:nvPr>
            <p:ph type="ctrTitle"/>
          </p:nvPr>
        </p:nvSpPr>
        <p:spPr>
          <a:xfrm>
            <a:off x="2019299" y="1403349"/>
            <a:ext cx="5111752" cy="1136650"/>
          </a:xfrm>
        </p:spPr>
        <p:txBody>
          <a:bodyPr anchor="b">
            <a:noAutofit/>
          </a:bodyPr>
          <a:lstStyle>
            <a:lvl1pPr algn="ctr">
              <a:defRPr sz="4050">
                <a:effectLst/>
              </a:defRPr>
            </a:lvl1pPr>
          </a:lstStyle>
          <a:p>
            <a:r>
              <a:rPr lang="en-US"/>
              <a:t>Click to edit Master title style</a:t>
            </a:r>
            <a:endParaRPr lang="en-US" dirty="0"/>
          </a:p>
        </p:txBody>
      </p:sp>
      <p:sp>
        <p:nvSpPr>
          <p:cNvPr id="3" name="Subtitle 2"/>
          <p:cNvSpPr>
            <a:spLocks noGrp="1"/>
          </p:cNvSpPr>
          <p:nvPr>
            <p:ph type="subTitle" idx="1"/>
          </p:nvPr>
        </p:nvSpPr>
        <p:spPr>
          <a:xfrm>
            <a:off x="2019299" y="2743198"/>
            <a:ext cx="5111752" cy="990602"/>
          </a:xfrm>
        </p:spPr>
        <p:txBody>
          <a:bodyPr anchor="t">
            <a:normAutofit/>
          </a:bodyPr>
          <a:lstStyle>
            <a:lvl1pPr marL="0" indent="0" algn="ctr">
              <a:buNone/>
              <a:defRPr sz="1575">
                <a:solidFill>
                  <a:schemeClr val="tx1"/>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5987425" y="3778247"/>
            <a:ext cx="673100" cy="209550"/>
          </a:xfrm>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a:xfrm>
            <a:off x="2019298" y="3778247"/>
            <a:ext cx="3910976" cy="209550"/>
          </a:xfrm>
        </p:spPr>
        <p:txBody>
          <a:bodyPr/>
          <a:lstStyle/>
          <a:p>
            <a:endParaRPr lang="en-US"/>
          </a:p>
        </p:txBody>
      </p:sp>
      <p:sp>
        <p:nvSpPr>
          <p:cNvPr id="6" name="Slide Number Placeholder 5"/>
          <p:cNvSpPr>
            <a:spLocks noGrp="1"/>
          </p:cNvSpPr>
          <p:nvPr>
            <p:ph type="sldNum" sz="quarter" idx="12"/>
          </p:nvPr>
        </p:nvSpPr>
        <p:spPr>
          <a:xfrm>
            <a:off x="6717676" y="3778247"/>
            <a:ext cx="413375" cy="209550"/>
          </a:xfrm>
        </p:spPr>
        <p:txBody>
          <a:bodyPr/>
          <a:lstStyle/>
          <a:p>
            <a:fld id="{B805F231-A51A-4C46-B6F2-BFF4B322FA1C}" type="slidenum">
              <a:rPr lang="en-US" smtClean="0"/>
              <a:t>‹#›</a:t>
            </a:fld>
            <a:endParaRPr lang="en-US"/>
          </a:p>
        </p:txBody>
      </p:sp>
      <p:cxnSp>
        <p:nvCxnSpPr>
          <p:cNvPr id="15" name="Straight Connector 14"/>
          <p:cNvCxnSpPr/>
          <p:nvPr/>
        </p:nvCxnSpPr>
        <p:spPr>
          <a:xfrm>
            <a:off x="2019299" y="2641598"/>
            <a:ext cx="5111751" cy="0"/>
          </a:xfrm>
          <a:prstGeom prst="line">
            <a:avLst/>
          </a:prstGeom>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6195329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7" name="Straight Connector 6"/>
          <p:cNvCxnSpPr/>
          <p:nvPr/>
        </p:nvCxnSpPr>
        <p:spPr>
          <a:xfrm>
            <a:off x="1047127" y="181610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198911260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511302" y="1314454"/>
            <a:ext cx="6119016" cy="1366886"/>
          </a:xfrm>
        </p:spPr>
        <p:txBody>
          <a:bodyPr anchor="b">
            <a:normAutofit/>
          </a:bodyPr>
          <a:lstStyle>
            <a:lvl1pPr algn="ctr">
              <a:defRPr sz="3300" b="0" cap="none"/>
            </a:lvl1pPr>
          </a:lstStyle>
          <a:p>
            <a:r>
              <a:rPr lang="en-US"/>
              <a:t>Click to edit Master title style</a:t>
            </a:r>
            <a:endParaRPr lang="en-US" dirty="0"/>
          </a:p>
        </p:txBody>
      </p:sp>
      <p:sp>
        <p:nvSpPr>
          <p:cNvPr id="3" name="Text Placeholder 2"/>
          <p:cNvSpPr>
            <a:spLocks noGrp="1"/>
          </p:cNvSpPr>
          <p:nvPr>
            <p:ph type="body" idx="1"/>
          </p:nvPr>
        </p:nvSpPr>
        <p:spPr>
          <a:xfrm>
            <a:off x="1511300" y="2884539"/>
            <a:ext cx="6119018" cy="715910"/>
          </a:xfrm>
        </p:spPr>
        <p:txBody>
          <a:bodyPr anchor="t">
            <a:normAutofit/>
          </a:bodyPr>
          <a:lstStyle>
            <a:lvl1pPr marL="0" indent="0" algn="ctr">
              <a:buNone/>
              <a:defRPr sz="18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cxnSp>
        <p:nvCxnSpPr>
          <p:cNvPr id="16" name="Straight Connector 15"/>
          <p:cNvCxnSpPr/>
          <p:nvPr/>
        </p:nvCxnSpPr>
        <p:spPr>
          <a:xfrm>
            <a:off x="1509542" y="2782939"/>
            <a:ext cx="6122535"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399807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cxnSp>
        <p:nvCxnSpPr>
          <p:cNvPr id="8" name="Straight Connector 7"/>
          <p:cNvCxnSpPr/>
          <p:nvPr/>
        </p:nvCxnSpPr>
        <p:spPr>
          <a:xfrm>
            <a:off x="1047127" y="181610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973836" y="1920240"/>
            <a:ext cx="3538728" cy="2482596"/>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36008" y="1920240"/>
            <a:ext cx="3538728" cy="2482596"/>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26ECA41C-7D7D-43D4-9152-A38BEE06F328}" type="datetimeFigureOut">
              <a:rPr lang="en-US" smtClean="0"/>
              <a:t>1/27/2024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365681006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971550" y="1993900"/>
            <a:ext cx="3538728" cy="432197"/>
          </a:xfrm>
        </p:spPr>
        <p:txBody>
          <a:bodyPr anchor="b">
            <a:noAutofit/>
          </a:bodyPr>
          <a:lstStyle>
            <a:lvl1pPr marL="0" indent="0">
              <a:spcBef>
                <a:spcPts val="504"/>
              </a:spcBef>
              <a:spcAft>
                <a:spcPts val="450"/>
              </a:spcAft>
              <a:buNone/>
              <a:defRPr sz="2100" b="0">
                <a:solidFill>
                  <a:schemeClr val="accent1"/>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971550" y="2432447"/>
            <a:ext cx="3538728" cy="1974454"/>
          </a:xfrm>
        </p:spPr>
        <p:txBody>
          <a:bodyPr anchor="t">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35503" y="1993900"/>
            <a:ext cx="3538728" cy="432197"/>
          </a:xfrm>
        </p:spPr>
        <p:txBody>
          <a:bodyPr anchor="b">
            <a:noAutofit/>
          </a:bodyPr>
          <a:lstStyle>
            <a:lvl1pPr marL="0" indent="0">
              <a:spcBef>
                <a:spcPts val="504"/>
              </a:spcBef>
              <a:spcAft>
                <a:spcPts val="450"/>
              </a:spcAft>
              <a:buNone/>
              <a:defRPr sz="2100" b="0">
                <a:solidFill>
                  <a:schemeClr val="accent1"/>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35503" y="2432447"/>
            <a:ext cx="3538728" cy="1974454"/>
          </a:xfrm>
        </p:spPr>
        <p:txBody>
          <a:bodyPr anchor="t">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26ECA41C-7D7D-43D4-9152-A38BEE06F328}" type="datetimeFigureOut">
              <a:rPr lang="en-US" smtClean="0"/>
              <a:t>1/27/2024</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805F231-A51A-4C46-B6F2-BFF4B322FA1C}" type="slidenum">
              <a:rPr lang="en-US" smtClean="0"/>
              <a:t>‹#›</a:t>
            </a:fld>
            <a:endParaRPr lang="en-US"/>
          </a:p>
        </p:txBody>
      </p:sp>
      <p:cxnSp>
        <p:nvCxnSpPr>
          <p:cNvPr id="18" name="Straight Connector 17"/>
          <p:cNvCxnSpPr/>
          <p:nvPr/>
        </p:nvCxnSpPr>
        <p:spPr>
          <a:xfrm>
            <a:off x="1047127" y="181610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5485783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26ECA41C-7D7D-43D4-9152-A38BEE06F328}" type="datetimeFigureOut">
              <a:rPr lang="en-US" smtClean="0"/>
              <a:t>1/27/2024</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805F231-A51A-4C46-B6F2-BFF4B322FA1C}" type="slidenum">
              <a:rPr lang="en-US" smtClean="0"/>
              <a:t>‹#›</a:t>
            </a:fld>
            <a:endParaRPr lang="en-US"/>
          </a:p>
        </p:txBody>
      </p:sp>
      <p:cxnSp>
        <p:nvCxnSpPr>
          <p:cNvPr id="14" name="Straight Connector 13"/>
          <p:cNvCxnSpPr/>
          <p:nvPr/>
        </p:nvCxnSpPr>
        <p:spPr>
          <a:xfrm>
            <a:off x="1047127" y="181610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9504870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ECA41C-7D7D-43D4-9152-A38BEE06F328}" type="datetimeFigureOut">
              <a:rPr lang="en-US" smtClean="0"/>
              <a:t>1/27/2024</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375413192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70359" y="1041401"/>
            <a:ext cx="2788841" cy="1028700"/>
          </a:xfrm>
        </p:spPr>
        <p:txBody>
          <a:bodyPr anchor="b">
            <a:normAutofit/>
          </a:bodyPr>
          <a:lstStyle>
            <a:lvl1pPr algn="ctr">
              <a:defRPr sz="1800" b="0"/>
            </a:lvl1pPr>
          </a:lstStyle>
          <a:p>
            <a:r>
              <a:rPr lang="en-US"/>
              <a:t>Click to edit Master title style</a:t>
            </a:r>
            <a:endParaRPr lang="en-US" dirty="0"/>
          </a:p>
        </p:txBody>
      </p:sp>
      <p:sp>
        <p:nvSpPr>
          <p:cNvPr id="3" name="Content Placeholder 2"/>
          <p:cNvSpPr>
            <a:spLocks noGrp="1"/>
          </p:cNvSpPr>
          <p:nvPr>
            <p:ph idx="1"/>
          </p:nvPr>
        </p:nvSpPr>
        <p:spPr>
          <a:xfrm>
            <a:off x="4064001" y="736599"/>
            <a:ext cx="4102100" cy="3670301"/>
          </a:xfrm>
        </p:spPr>
        <p:txBody>
          <a:bodyPr anchor="ct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970359" y="2273299"/>
            <a:ext cx="2788841" cy="1828803"/>
          </a:xfrm>
        </p:spPr>
        <p:txBody>
          <a:bodyPr anchor="t">
            <a:normAutofit/>
          </a:bodyPr>
          <a:lstStyle>
            <a:lvl1pPr marL="0" indent="0" algn="ctr">
              <a:buNone/>
              <a:defRPr sz="120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26ECA41C-7D7D-43D4-9152-A38BEE06F328}" type="datetimeFigureOut">
              <a:rPr lang="en-US" smtClean="0"/>
              <a:t>1/27/2024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805F231-A51A-4C46-B6F2-BFF4B322FA1C}" type="slidenum">
              <a:rPr lang="en-US" smtClean="0"/>
              <a:t>‹#›</a:t>
            </a:fld>
            <a:endParaRPr lang="en-US"/>
          </a:p>
        </p:txBody>
      </p:sp>
      <p:cxnSp>
        <p:nvCxnSpPr>
          <p:cNvPr id="16" name="Straight Connector 15"/>
          <p:cNvCxnSpPr/>
          <p:nvPr/>
        </p:nvCxnSpPr>
        <p:spPr>
          <a:xfrm>
            <a:off x="1047127" y="2184400"/>
            <a:ext cx="26358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89316738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71549" y="1412874"/>
            <a:ext cx="4681362" cy="1028700"/>
          </a:xfrm>
        </p:spPr>
        <p:txBody>
          <a:bodyPr anchor="b">
            <a:normAutofit/>
          </a:bodyPr>
          <a:lstStyle>
            <a:lvl1pPr algn="ctr">
              <a:defRPr sz="2100" b="0"/>
            </a:lvl1pPr>
          </a:lstStyle>
          <a:p>
            <a:r>
              <a:rPr lang="en-US"/>
              <a:t>Click to edit Master title style</a:t>
            </a:r>
            <a:endParaRPr lang="en-US" dirty="0"/>
          </a:p>
        </p:txBody>
      </p:sp>
      <p:sp>
        <p:nvSpPr>
          <p:cNvPr id="17" name="Picture Placeholder 2"/>
          <p:cNvSpPr>
            <a:spLocks noGrp="1" noChangeAspect="1"/>
          </p:cNvSpPr>
          <p:nvPr>
            <p:ph type="pic" idx="1"/>
          </p:nvPr>
        </p:nvSpPr>
        <p:spPr>
          <a:xfrm>
            <a:off x="6071124" y="781050"/>
            <a:ext cx="2297510" cy="3581400"/>
          </a:xfrm>
          <a:prstGeom prst="roundRect">
            <a:avLst>
              <a:gd name="adj" fmla="val 0"/>
            </a:avLst>
          </a:prstGeom>
          <a:ln w="57150" cmpd="thickThin">
            <a:solidFill>
              <a:schemeClr val="tx1">
                <a:lumMod val="50000"/>
                <a:lumOff val="50000"/>
              </a:schemeClr>
            </a:solidFill>
            <a:miter lim="800000"/>
          </a:ln>
          <a:effectLst>
            <a:innerShdw blurRad="57150" dist="38100" dir="14460000">
              <a:srgbClr val="000000">
                <a:alpha val="70000"/>
              </a:srgbClr>
            </a:innerShdw>
          </a:effectLst>
        </p:spPr>
        <p:txBody>
          <a:bodyPr anchor="t">
            <a:normAutofit/>
          </a:bodyPr>
          <a:lstStyle>
            <a:lvl1pPr marL="0" indent="0" algn="ctr">
              <a:buNone/>
              <a:defRPr sz="1200"/>
            </a:lvl1pPr>
            <a:lvl2pPr marL="342900" indent="0">
              <a:buNone/>
              <a:defRPr sz="1200"/>
            </a:lvl2pPr>
            <a:lvl3pPr marL="685800" indent="0">
              <a:buNone/>
              <a:defRPr sz="1200"/>
            </a:lvl3pPr>
            <a:lvl4pPr marL="1028700" indent="0">
              <a:buNone/>
              <a:defRPr sz="1200"/>
            </a:lvl4pPr>
            <a:lvl5pPr marL="1371600" indent="0">
              <a:buNone/>
              <a:defRPr sz="1200"/>
            </a:lvl5pPr>
            <a:lvl6pPr marL="1714500" indent="0">
              <a:buNone/>
              <a:defRPr sz="1200"/>
            </a:lvl6pPr>
            <a:lvl7pPr marL="2057400" indent="0">
              <a:buNone/>
              <a:defRPr sz="1200"/>
            </a:lvl7pPr>
            <a:lvl8pPr marL="2400300" indent="0">
              <a:buNone/>
              <a:defRPr sz="1200"/>
            </a:lvl8pPr>
            <a:lvl9pPr marL="2743200" indent="0">
              <a:buNone/>
              <a:defRPr sz="1200"/>
            </a:lvl9pPr>
          </a:lstStyle>
          <a:p>
            <a:r>
              <a:rPr lang="en-US"/>
              <a:t>Click icon to add picture</a:t>
            </a:r>
            <a:endParaRPr lang="en-US" dirty="0"/>
          </a:p>
        </p:txBody>
      </p:sp>
      <p:sp>
        <p:nvSpPr>
          <p:cNvPr id="4" name="Text Placeholder 3"/>
          <p:cNvSpPr>
            <a:spLocks noGrp="1"/>
          </p:cNvSpPr>
          <p:nvPr>
            <p:ph type="body" sz="half" idx="2"/>
          </p:nvPr>
        </p:nvSpPr>
        <p:spPr>
          <a:xfrm>
            <a:off x="971549" y="2441574"/>
            <a:ext cx="4681362" cy="1371600"/>
          </a:xfrm>
        </p:spPr>
        <p:txBody>
          <a:bodyPr anchor="t">
            <a:normAutofit/>
          </a:bodyPr>
          <a:lstStyle>
            <a:lvl1pPr marL="0" indent="0" algn="ctr">
              <a:buNone/>
              <a:defRPr sz="13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26ECA41C-7D7D-43D4-9152-A38BEE06F328}" type="datetimeFigureOut">
              <a:rPr lang="en-US" smtClean="0"/>
              <a:t>1/27/2024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63196502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71551" y="3611561"/>
            <a:ext cx="7207250" cy="425054"/>
          </a:xfrm>
        </p:spPr>
        <p:txBody>
          <a:bodyPr anchor="b">
            <a:normAutofit/>
          </a:bodyPr>
          <a:lstStyle>
            <a:lvl1pPr algn="ctr">
              <a:defRPr sz="18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781070" y="781050"/>
            <a:ext cx="7579479" cy="2501902"/>
          </a:xfrm>
          <a:prstGeom prst="roundRect">
            <a:avLst>
              <a:gd name="adj" fmla="val 0"/>
            </a:avLst>
          </a:prstGeom>
          <a:ln w="57150" cmpd="thickThin">
            <a:solidFill>
              <a:schemeClr val="tx1">
                <a:lumMod val="50000"/>
                <a:lumOff val="50000"/>
              </a:schemeClr>
            </a:solidFill>
            <a:miter lim="800000"/>
          </a:ln>
          <a:effectLst>
            <a:innerShdw blurRad="57150" dist="38100" dir="14460000">
              <a:srgbClr val="000000">
                <a:alpha val="70000"/>
              </a:srgbClr>
            </a:innerShdw>
          </a:effectLst>
        </p:spPr>
        <p:txBody>
          <a:bodyPr anchor="t">
            <a:normAutofit/>
          </a:bodyPr>
          <a:lstStyle>
            <a:lvl1pPr marL="0" indent="0" algn="ctr">
              <a:buNone/>
              <a:defRPr sz="1200"/>
            </a:lvl1pPr>
            <a:lvl2pPr marL="342900" indent="0">
              <a:buNone/>
              <a:defRPr sz="1200"/>
            </a:lvl2pPr>
            <a:lvl3pPr marL="685800" indent="0">
              <a:buNone/>
              <a:defRPr sz="1200"/>
            </a:lvl3pPr>
            <a:lvl4pPr marL="1028700" indent="0">
              <a:buNone/>
              <a:defRPr sz="1200"/>
            </a:lvl4pPr>
            <a:lvl5pPr marL="1371600" indent="0">
              <a:buNone/>
              <a:defRPr sz="1200"/>
            </a:lvl5pPr>
            <a:lvl6pPr marL="1714500" indent="0">
              <a:buNone/>
              <a:defRPr sz="1200"/>
            </a:lvl6pPr>
            <a:lvl7pPr marL="2057400" indent="0">
              <a:buNone/>
              <a:defRPr sz="1200"/>
            </a:lvl7pPr>
            <a:lvl8pPr marL="2400300" indent="0">
              <a:buNone/>
              <a:defRPr sz="1200"/>
            </a:lvl8pPr>
            <a:lvl9pPr marL="2743200" indent="0">
              <a:buNone/>
              <a:defRPr sz="1200"/>
            </a:lvl9pPr>
          </a:lstStyle>
          <a:p>
            <a:r>
              <a:rPr lang="en-US"/>
              <a:t>Click icon to add picture</a:t>
            </a:r>
            <a:endParaRPr lang="en-US" dirty="0"/>
          </a:p>
        </p:txBody>
      </p:sp>
      <p:sp>
        <p:nvSpPr>
          <p:cNvPr id="4" name="Text Placeholder 3"/>
          <p:cNvSpPr>
            <a:spLocks noGrp="1"/>
          </p:cNvSpPr>
          <p:nvPr>
            <p:ph type="body" sz="half" idx="2"/>
          </p:nvPr>
        </p:nvSpPr>
        <p:spPr>
          <a:xfrm>
            <a:off x="971551" y="4036615"/>
            <a:ext cx="7207250" cy="370284"/>
          </a:xfrm>
        </p:spPr>
        <p:txBody>
          <a:bodyPr>
            <a:normAutofit/>
          </a:bodyPr>
          <a:lstStyle>
            <a:lvl1pPr marL="0" indent="0" algn="ctr">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26ECA41C-7D7D-43D4-9152-A38BEE06F328}" type="datetimeFigureOut">
              <a:rPr lang="en-US" smtClean="0"/>
              <a:t>1/27/2024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403444373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977901" y="736599"/>
            <a:ext cx="7194549" cy="2216151"/>
          </a:xfrm>
        </p:spPr>
        <p:txBody>
          <a:bodyPr anchor="ctr">
            <a:normAutofit/>
          </a:bodyPr>
          <a:lstStyle>
            <a:lvl1pPr algn="ctr">
              <a:defRPr sz="2400" b="0" cap="none"/>
            </a:lvl1pPr>
          </a:lstStyle>
          <a:p>
            <a:r>
              <a:rPr lang="en-US"/>
              <a:t>Click to edit Master title style</a:t>
            </a:r>
            <a:endParaRPr lang="en-US" dirty="0"/>
          </a:p>
        </p:txBody>
      </p:sp>
      <p:sp>
        <p:nvSpPr>
          <p:cNvPr id="3" name="Text Placeholder 2"/>
          <p:cNvSpPr>
            <a:spLocks noGrp="1"/>
          </p:cNvSpPr>
          <p:nvPr>
            <p:ph type="body" idx="1"/>
          </p:nvPr>
        </p:nvSpPr>
        <p:spPr>
          <a:xfrm>
            <a:off x="977901" y="3257550"/>
            <a:ext cx="7194549" cy="1149350"/>
          </a:xfrm>
        </p:spPr>
        <p:txBody>
          <a:bodyPr anchor="ctr">
            <a:normAutofit/>
          </a:bodyPr>
          <a:lstStyle>
            <a:lvl1pPr marL="0" indent="0" algn="ctr">
              <a:buNone/>
              <a:defRPr sz="15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cxnSp>
        <p:nvCxnSpPr>
          <p:cNvPr id="15" name="Straight Connector 14"/>
          <p:cNvCxnSpPr/>
          <p:nvPr/>
        </p:nvCxnSpPr>
        <p:spPr>
          <a:xfrm>
            <a:off x="1047127" y="3105149"/>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4235966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084660" y="736599"/>
            <a:ext cx="6972299" cy="1778001"/>
          </a:xfrm>
        </p:spPr>
        <p:txBody>
          <a:bodyPr anchor="ctr">
            <a:normAutofit/>
          </a:bodyPr>
          <a:lstStyle>
            <a:lvl1pPr algn="ctr">
              <a:defRPr sz="2400" b="0" cap="none">
                <a:solidFill>
                  <a:schemeClr val="tx1"/>
                </a:solidFill>
              </a:defRPr>
            </a:lvl1pPr>
          </a:lstStyle>
          <a:p>
            <a:r>
              <a:rPr lang="en-US"/>
              <a:t>Click to edit Master title style</a:t>
            </a:r>
            <a:endParaRPr lang="en-US" dirty="0"/>
          </a:p>
        </p:txBody>
      </p:sp>
      <p:sp>
        <p:nvSpPr>
          <p:cNvPr id="10" name="Text Placeholder 9"/>
          <p:cNvSpPr>
            <a:spLocks noGrp="1"/>
          </p:cNvSpPr>
          <p:nvPr>
            <p:ph type="body" sz="quarter" idx="13"/>
          </p:nvPr>
        </p:nvSpPr>
        <p:spPr>
          <a:xfrm>
            <a:off x="1256109" y="2514600"/>
            <a:ext cx="6629402" cy="438150"/>
          </a:xfrm>
        </p:spPr>
        <p:txBody>
          <a:bodyPr anchor="ctr">
            <a:normAutofit/>
          </a:bodyPr>
          <a:lstStyle>
            <a:lvl1pPr marL="0" indent="0" algn="r">
              <a:buFontTx/>
              <a:buNone/>
              <a:defRPr sz="1500"/>
            </a:lvl1pPr>
            <a:lvl2pPr marL="342900" indent="0">
              <a:buFontTx/>
              <a:buNone/>
              <a:defRPr/>
            </a:lvl2pPr>
            <a:lvl3pPr marL="685800" indent="0">
              <a:buFontTx/>
              <a:buNone/>
              <a:defRPr/>
            </a:lvl3pPr>
            <a:lvl4pPr marL="1028700" indent="0">
              <a:buFontTx/>
              <a:buNone/>
              <a:defRPr/>
            </a:lvl4pPr>
            <a:lvl5pPr marL="1371600" indent="0">
              <a:buFontTx/>
              <a:buNone/>
              <a:defRPr/>
            </a:lvl5pPr>
          </a:lstStyle>
          <a:p>
            <a:pPr lvl="0"/>
            <a:r>
              <a:rPr lang="en-US"/>
              <a:t>Click to edit Master text styles</a:t>
            </a:r>
          </a:p>
        </p:txBody>
      </p:sp>
      <p:sp>
        <p:nvSpPr>
          <p:cNvPr id="3" name="Text Placeholder 2"/>
          <p:cNvSpPr>
            <a:spLocks noGrp="1"/>
          </p:cNvSpPr>
          <p:nvPr>
            <p:ph type="body" idx="1"/>
          </p:nvPr>
        </p:nvSpPr>
        <p:spPr>
          <a:xfrm>
            <a:off x="971551" y="3257550"/>
            <a:ext cx="7207250" cy="1149350"/>
          </a:xfrm>
        </p:spPr>
        <p:txBody>
          <a:bodyPr anchor="ctr">
            <a:normAutofit/>
          </a:bodyPr>
          <a:lstStyle>
            <a:lvl1pPr marL="0" indent="0" algn="ctr">
              <a:buNone/>
              <a:defRPr sz="15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sp>
        <p:nvSpPr>
          <p:cNvPr id="14" name="TextBox 13"/>
          <p:cNvSpPr txBox="1"/>
          <p:nvPr/>
        </p:nvSpPr>
        <p:spPr>
          <a:xfrm>
            <a:off x="646510" y="659971"/>
            <a:ext cx="457200" cy="438582"/>
          </a:xfrm>
          <a:prstGeom prst="rect">
            <a:avLst/>
          </a:prstGeom>
        </p:spPr>
        <p:txBody>
          <a:bodyPr vert="horz" lIns="68580" tIns="34290" rIns="68580" bIns="34290" rtlCol="0" anchor="ctr">
            <a:noAutofit/>
          </a:bodyPr>
          <a:lstStyle/>
          <a:p>
            <a:pPr lvl="0"/>
            <a:r>
              <a:rPr lang="en-US" sz="6000" dirty="0">
                <a:solidFill>
                  <a:schemeClr val="tx1"/>
                </a:solidFill>
                <a:effectLst/>
              </a:rPr>
              <a:t>“</a:t>
            </a:r>
          </a:p>
        </p:txBody>
      </p:sp>
      <p:sp>
        <p:nvSpPr>
          <p:cNvPr id="15" name="TextBox 14"/>
          <p:cNvSpPr txBox="1"/>
          <p:nvPr/>
        </p:nvSpPr>
        <p:spPr>
          <a:xfrm>
            <a:off x="7950200" y="2120903"/>
            <a:ext cx="457200" cy="438582"/>
          </a:xfrm>
          <a:prstGeom prst="rect">
            <a:avLst/>
          </a:prstGeom>
        </p:spPr>
        <p:txBody>
          <a:bodyPr vert="horz" lIns="68580" tIns="34290" rIns="68580" bIns="34290" rtlCol="0" anchor="ctr">
            <a:noAutofit/>
          </a:bodyPr>
          <a:lstStyle/>
          <a:p>
            <a:pPr lvl="0" algn="r"/>
            <a:r>
              <a:rPr lang="en-US" sz="6000" dirty="0">
                <a:solidFill>
                  <a:schemeClr val="tx1"/>
                </a:solidFill>
                <a:effectLst/>
              </a:rPr>
              <a:t>”</a:t>
            </a:r>
          </a:p>
        </p:txBody>
      </p:sp>
      <p:cxnSp>
        <p:nvCxnSpPr>
          <p:cNvPr id="19" name="Straight Connector 18"/>
          <p:cNvCxnSpPr/>
          <p:nvPr/>
        </p:nvCxnSpPr>
        <p:spPr>
          <a:xfrm>
            <a:off x="1047127" y="3105149"/>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5756241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971552" y="2481436"/>
            <a:ext cx="7207251" cy="1101600"/>
          </a:xfrm>
        </p:spPr>
        <p:txBody>
          <a:bodyPr anchor="b">
            <a:normAutofit/>
          </a:bodyPr>
          <a:lstStyle>
            <a:lvl1pPr algn="l">
              <a:defRPr sz="2400" b="0" cap="none"/>
            </a:lvl1pPr>
          </a:lstStyle>
          <a:p>
            <a:r>
              <a:rPr lang="en-US"/>
              <a:t>Click to edit Master title style</a:t>
            </a:r>
            <a:endParaRPr lang="en-US" dirty="0"/>
          </a:p>
        </p:txBody>
      </p:sp>
      <p:sp>
        <p:nvSpPr>
          <p:cNvPr id="3" name="Text Placeholder 2"/>
          <p:cNvSpPr>
            <a:spLocks noGrp="1"/>
          </p:cNvSpPr>
          <p:nvPr>
            <p:ph type="body" idx="1"/>
          </p:nvPr>
        </p:nvSpPr>
        <p:spPr>
          <a:xfrm>
            <a:off x="971551" y="3583036"/>
            <a:ext cx="7207251" cy="645300"/>
          </a:xfrm>
        </p:spPr>
        <p:txBody>
          <a:bodyPr anchor="t">
            <a:normAutofit/>
          </a:bodyPr>
          <a:lstStyle>
            <a:lvl1pPr marL="0" indent="0" algn="l">
              <a:buNone/>
              <a:defRPr sz="15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spTree>
    <p:extLst>
      <p:ext uri="{BB962C8B-B14F-4D97-AF65-F5344CB8AC3E}">
        <p14:creationId xmlns:p14="http://schemas.microsoft.com/office/powerpoint/2010/main" val="410895826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Quote Name Card">
    <p:spTree>
      <p:nvGrpSpPr>
        <p:cNvPr id="1" name=""/>
        <p:cNvGrpSpPr/>
        <p:nvPr/>
      </p:nvGrpSpPr>
      <p:grpSpPr>
        <a:xfrm>
          <a:off x="0" y="0"/>
          <a:ext cx="0" cy="0"/>
          <a:chOff x="0" y="0"/>
          <a:chExt cx="0" cy="0"/>
        </a:xfrm>
      </p:grpSpPr>
      <p:sp>
        <p:nvSpPr>
          <p:cNvPr id="2" name="Title 1"/>
          <p:cNvSpPr>
            <a:spLocks noGrp="1"/>
          </p:cNvSpPr>
          <p:nvPr>
            <p:ph type="title"/>
          </p:nvPr>
        </p:nvSpPr>
        <p:spPr>
          <a:xfrm>
            <a:off x="1084660" y="736599"/>
            <a:ext cx="6972299" cy="1682751"/>
          </a:xfrm>
        </p:spPr>
        <p:txBody>
          <a:bodyPr anchor="ctr">
            <a:normAutofit/>
          </a:bodyPr>
          <a:lstStyle>
            <a:lvl1pPr algn="ctr">
              <a:defRPr sz="2400" b="0" cap="none">
                <a:solidFill>
                  <a:schemeClr val="tx1"/>
                </a:solidFill>
              </a:defRPr>
            </a:lvl1pPr>
          </a:lstStyle>
          <a:p>
            <a:r>
              <a:rPr lang="en-US"/>
              <a:t>Click to edit Master title style</a:t>
            </a:r>
            <a:endParaRPr lang="en-US" dirty="0"/>
          </a:p>
        </p:txBody>
      </p:sp>
      <p:sp>
        <p:nvSpPr>
          <p:cNvPr id="23" name="Text Placeholder 2"/>
          <p:cNvSpPr>
            <a:spLocks noGrp="1"/>
          </p:cNvSpPr>
          <p:nvPr>
            <p:ph type="body" idx="13"/>
          </p:nvPr>
        </p:nvSpPr>
        <p:spPr>
          <a:xfrm>
            <a:off x="971551" y="2729484"/>
            <a:ext cx="7207251" cy="665226"/>
          </a:xfrm>
        </p:spPr>
        <p:txBody>
          <a:bodyPr anchor="b">
            <a:normAutofit/>
          </a:bodyPr>
          <a:lstStyle>
            <a:lvl1pPr marL="0" indent="0" algn="l">
              <a:spcBef>
                <a:spcPts val="0"/>
              </a:spcBef>
              <a:buNone/>
              <a:defRPr sz="18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3" name="Text Placeholder 2"/>
          <p:cNvSpPr>
            <a:spLocks noGrp="1"/>
          </p:cNvSpPr>
          <p:nvPr>
            <p:ph type="body" idx="1"/>
          </p:nvPr>
        </p:nvSpPr>
        <p:spPr>
          <a:xfrm>
            <a:off x="971551" y="3397250"/>
            <a:ext cx="7207251" cy="1009650"/>
          </a:xfrm>
        </p:spPr>
        <p:txBody>
          <a:bodyPr anchor="t">
            <a:normAutofit/>
          </a:bodyPr>
          <a:lstStyle>
            <a:lvl1pPr marL="0" indent="0" algn="l">
              <a:buNone/>
              <a:defRPr sz="135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sp>
        <p:nvSpPr>
          <p:cNvPr id="12" name="TextBox 11"/>
          <p:cNvSpPr txBox="1"/>
          <p:nvPr/>
        </p:nvSpPr>
        <p:spPr>
          <a:xfrm>
            <a:off x="646510" y="659971"/>
            <a:ext cx="457200" cy="438582"/>
          </a:xfrm>
          <a:prstGeom prst="rect">
            <a:avLst/>
          </a:prstGeom>
        </p:spPr>
        <p:txBody>
          <a:bodyPr vert="horz" lIns="68580" tIns="34290" rIns="68580" bIns="34290" rtlCol="0" anchor="ctr">
            <a:noAutofit/>
          </a:bodyPr>
          <a:lstStyle/>
          <a:p>
            <a:pPr lvl="0"/>
            <a:r>
              <a:rPr lang="en-US" sz="6000" dirty="0">
                <a:solidFill>
                  <a:schemeClr val="tx1"/>
                </a:solidFill>
                <a:effectLst/>
              </a:rPr>
              <a:t>“</a:t>
            </a:r>
          </a:p>
        </p:txBody>
      </p:sp>
      <p:sp>
        <p:nvSpPr>
          <p:cNvPr id="13" name="TextBox 12"/>
          <p:cNvSpPr txBox="1"/>
          <p:nvPr/>
        </p:nvSpPr>
        <p:spPr>
          <a:xfrm>
            <a:off x="7950200" y="1949446"/>
            <a:ext cx="457200" cy="438582"/>
          </a:xfrm>
          <a:prstGeom prst="rect">
            <a:avLst/>
          </a:prstGeom>
        </p:spPr>
        <p:txBody>
          <a:bodyPr vert="horz" lIns="68580" tIns="34290" rIns="68580" bIns="34290" rtlCol="0" anchor="ctr">
            <a:noAutofit/>
          </a:bodyPr>
          <a:lstStyle/>
          <a:p>
            <a:pPr lvl="0" algn="r"/>
            <a:r>
              <a:rPr lang="en-US" sz="6000" dirty="0">
                <a:solidFill>
                  <a:schemeClr val="tx1"/>
                </a:solidFill>
                <a:effectLst/>
              </a:rPr>
              <a:t>”</a:t>
            </a:r>
          </a:p>
        </p:txBody>
      </p:sp>
      <p:cxnSp>
        <p:nvCxnSpPr>
          <p:cNvPr id="26" name="Straight Connector 25"/>
          <p:cNvCxnSpPr/>
          <p:nvPr/>
        </p:nvCxnSpPr>
        <p:spPr>
          <a:xfrm>
            <a:off x="1047127" y="257175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986546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rue or False">
    <p:spTree>
      <p:nvGrpSpPr>
        <p:cNvPr id="1" name=""/>
        <p:cNvGrpSpPr/>
        <p:nvPr/>
      </p:nvGrpSpPr>
      <p:grpSpPr>
        <a:xfrm>
          <a:off x="0" y="0"/>
          <a:ext cx="0" cy="0"/>
          <a:chOff x="0" y="0"/>
          <a:chExt cx="0" cy="0"/>
        </a:xfrm>
      </p:grpSpPr>
      <p:sp>
        <p:nvSpPr>
          <p:cNvPr id="2" name="Title 1"/>
          <p:cNvSpPr>
            <a:spLocks noGrp="1"/>
          </p:cNvSpPr>
          <p:nvPr>
            <p:ph type="title"/>
          </p:nvPr>
        </p:nvSpPr>
        <p:spPr>
          <a:xfrm>
            <a:off x="971551" y="736599"/>
            <a:ext cx="7207250" cy="1682751"/>
          </a:xfrm>
        </p:spPr>
        <p:txBody>
          <a:bodyPr vert="horz" lIns="91440" tIns="45720" rIns="91440" bIns="45720" rtlCol="0" anchor="ctr">
            <a:normAutofit/>
          </a:bodyPr>
          <a:lstStyle>
            <a:lvl1pPr>
              <a:defRPr lang="en-US" b="0" dirty="0"/>
            </a:lvl1pPr>
          </a:lstStyle>
          <a:p>
            <a:pPr marL="0" lvl="0"/>
            <a:r>
              <a:rPr lang="en-US"/>
              <a:t>Click to edit Master title style</a:t>
            </a:r>
            <a:endParaRPr lang="en-US" dirty="0"/>
          </a:p>
        </p:txBody>
      </p:sp>
      <p:sp>
        <p:nvSpPr>
          <p:cNvPr id="20" name="Text Placeholder 2"/>
          <p:cNvSpPr>
            <a:spLocks noGrp="1"/>
          </p:cNvSpPr>
          <p:nvPr>
            <p:ph type="body" idx="13"/>
          </p:nvPr>
        </p:nvSpPr>
        <p:spPr>
          <a:xfrm>
            <a:off x="971551" y="2722626"/>
            <a:ext cx="7207251" cy="630936"/>
          </a:xfrm>
        </p:spPr>
        <p:txBody>
          <a:bodyPr anchor="b">
            <a:normAutofit/>
          </a:bodyPr>
          <a:lstStyle>
            <a:lvl1pPr marL="0" indent="0" algn="l">
              <a:spcBef>
                <a:spcPts val="0"/>
              </a:spcBef>
              <a:buNone/>
              <a:defRPr sz="210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3" name="Text Placeholder 2"/>
          <p:cNvSpPr>
            <a:spLocks noGrp="1"/>
          </p:cNvSpPr>
          <p:nvPr>
            <p:ph type="body" idx="1"/>
          </p:nvPr>
        </p:nvSpPr>
        <p:spPr>
          <a:xfrm>
            <a:off x="971550" y="3352800"/>
            <a:ext cx="7207253" cy="1054100"/>
          </a:xfrm>
        </p:spPr>
        <p:txBody>
          <a:bodyPr anchor="t">
            <a:normAutofit/>
          </a:bodyPr>
          <a:lstStyle>
            <a:lvl1pPr marL="0" indent="0" algn="l">
              <a:buNone/>
              <a:defRPr sz="1350">
                <a:solidFill>
                  <a:schemeClr val="tx1"/>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cxnSp>
        <p:nvCxnSpPr>
          <p:cNvPr id="15" name="Straight Connector 14"/>
          <p:cNvCxnSpPr/>
          <p:nvPr/>
        </p:nvCxnSpPr>
        <p:spPr>
          <a:xfrm>
            <a:off x="1047127" y="257175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7091840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ctr">
              <a:defRPr/>
            </a:lvl1p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cxnSp>
        <p:nvCxnSpPr>
          <p:cNvPr id="14" name="Straight Connector 13"/>
          <p:cNvCxnSpPr/>
          <p:nvPr/>
        </p:nvCxnSpPr>
        <p:spPr>
          <a:xfrm>
            <a:off x="1047127" y="1816100"/>
            <a:ext cx="7055474" cy="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1804549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9518" y="736599"/>
            <a:ext cx="1418171" cy="3670301"/>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971549" y="736599"/>
            <a:ext cx="5574769" cy="3670301"/>
          </a:xfrm>
        </p:spPr>
        <p:txBody>
          <a:bodyPr vert="eaVert"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ECA41C-7D7D-43D4-9152-A38BEE06F328}" type="datetimeFigureOut">
              <a:rPr lang="en-US" smtClean="0"/>
              <a:t>1/27/2024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805F231-A51A-4C46-B6F2-BFF4B322FA1C}" type="slidenum">
              <a:rPr lang="en-US" smtClean="0"/>
              <a:t>‹#›</a:t>
            </a:fld>
            <a:endParaRPr lang="en-US"/>
          </a:p>
        </p:txBody>
      </p:sp>
      <p:cxnSp>
        <p:nvCxnSpPr>
          <p:cNvPr id="14" name="Straight Connector 13"/>
          <p:cNvCxnSpPr/>
          <p:nvPr/>
        </p:nvCxnSpPr>
        <p:spPr>
          <a:xfrm>
            <a:off x="6647918" y="742950"/>
            <a:ext cx="0" cy="3657600"/>
          </a:xfrm>
          <a:prstGeom prst="line">
            <a:avLst/>
          </a:prstGeom>
          <a:ln w="15875"/>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68614737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18" Type="http://schemas.openxmlformats.org/officeDocument/2006/relationships/theme" Target="../theme/theme2.xml"/><Relationship Id="rId3" Type="http://schemas.openxmlformats.org/officeDocument/2006/relationships/slideLayout" Target="../slideLayouts/slideLayout13.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 Type="http://schemas.openxmlformats.org/officeDocument/2006/relationships/slideLayout" Target="../slideLayouts/slideLayout12.xml"/><Relationship Id="rId16" Type="http://schemas.openxmlformats.org/officeDocument/2006/relationships/slideLayout" Target="../slideLayouts/slideLayout26.xml"/><Relationship Id="rId20" Type="http://schemas.openxmlformats.org/officeDocument/2006/relationships/image" Target="../media/image4.png"/><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5" Type="http://schemas.openxmlformats.org/officeDocument/2006/relationships/slideLayout" Target="../slideLayouts/slideLayout25.xml"/><Relationship Id="rId10" Type="http://schemas.openxmlformats.org/officeDocument/2006/relationships/slideLayout" Target="../slideLayouts/slideLayout20.xml"/><Relationship Id="rId19" Type="http://schemas.openxmlformats.org/officeDocument/2006/relationships/image" Target="../media/image3.png"/><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bg1">
            <a:lumMod val="95000"/>
            <a:alpha val="30000"/>
          </a:schemeClr>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0275" y="536650"/>
            <a:ext cx="7723500" cy="4812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1pPr>
            <a:lvl2pPr lvl="1">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2pPr>
            <a:lvl3pPr lvl="2">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3pPr>
            <a:lvl4pPr lvl="3">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4pPr>
            <a:lvl5pPr lvl="4">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5pPr>
            <a:lvl6pPr lvl="5">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6pPr>
            <a:lvl7pPr lvl="6">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7pPr>
            <a:lvl8pPr lvl="7">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8pPr>
            <a:lvl9pPr lvl="8">
              <a:spcBef>
                <a:spcPts val="0"/>
              </a:spcBef>
              <a:spcAft>
                <a:spcPts val="0"/>
              </a:spcAft>
              <a:buClr>
                <a:schemeClr val="dk1"/>
              </a:buClr>
              <a:buSzPts val="2800"/>
              <a:buFont typeface="Fira Sans Extra Condensed Medium"/>
              <a:buNone/>
              <a:defRPr sz="2800">
                <a:solidFill>
                  <a:schemeClr val="dk1"/>
                </a:solidFill>
                <a:latin typeface="Fira Sans Extra Condensed Medium"/>
                <a:ea typeface="Fira Sans Extra Condensed Medium"/>
                <a:cs typeface="Fira Sans Extra Condensed Medium"/>
                <a:sym typeface="Fira Sans Extra Condensed Medium"/>
              </a:defRPr>
            </a:lvl9pPr>
          </a:lstStyle>
          <a:p>
            <a:endParaRPr/>
          </a:p>
        </p:txBody>
      </p:sp>
      <p:sp>
        <p:nvSpPr>
          <p:cNvPr id="7" name="Google Shape;7;p1"/>
          <p:cNvSpPr txBox="1">
            <a:spLocks noGrp="1"/>
          </p:cNvSpPr>
          <p:nvPr>
            <p:ph type="body" idx="1"/>
          </p:nvPr>
        </p:nvSpPr>
        <p:spPr>
          <a:xfrm>
            <a:off x="710275" y="1152475"/>
            <a:ext cx="7723500" cy="34545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marL="914400" lvl="1"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IRAN Sans" panose="020B0400000000000000" pitchFamily="34" charset="-78"/>
          <a:cs typeface="IRAN Sans" panose="020B0400000000000000" pitchFamily="34" charset="-78"/>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IRAN Sans" panose="020B0400000000000000" pitchFamily="34" charset="-78"/>
          <a:cs typeface="IRAN Sans" panose="020B0400000000000000" pitchFamily="34" charset="-78"/>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1620">
          <p15:clr>
            <a:srgbClr val="EA4335"/>
          </p15:clr>
        </p15:guide>
        <p15:guide id="2" pos="2880">
          <p15:clr>
            <a:srgbClr val="EA4335"/>
          </p15:clr>
        </p15:guide>
        <p15:guide id="3" pos="447">
          <p15:clr>
            <a:srgbClr val="EA4335"/>
          </p15:clr>
        </p15:guide>
        <p15:guide id="4" pos="5313">
          <p15:clr>
            <a:srgbClr val="EA4335"/>
          </p15:clr>
        </p15:guide>
        <p15:guide id="5" orient="horz" pos="338">
          <p15:clr>
            <a:srgbClr val="EA4335"/>
          </p15:clr>
        </p15:guide>
        <p15:guide id="6" orient="horz" pos="2902">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grpSp>
        <p:nvGrpSpPr>
          <p:cNvPr id="7" name="Group 6"/>
          <p:cNvGrpSpPr/>
          <p:nvPr/>
        </p:nvGrpSpPr>
        <p:grpSpPr>
          <a:xfrm>
            <a:off x="-11802" y="0"/>
            <a:ext cx="9172472" cy="5142161"/>
            <a:chOff x="-15736" y="0"/>
            <a:chExt cx="12229962" cy="6856214"/>
          </a:xfrm>
        </p:grpSpPr>
        <p:pic>
          <p:nvPicPr>
            <p:cNvPr id="8" name="Picture 7" descr="HD-PanelContent.png"/>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0" y="0"/>
              <a:ext cx="12188825" cy="6856214"/>
            </a:xfrm>
            <a:prstGeom prst="rect">
              <a:avLst/>
            </a:prstGeom>
          </p:spPr>
        </p:pic>
        <p:sp>
          <p:nvSpPr>
            <p:cNvPr id="9" name="Rectangle 8"/>
            <p:cNvSpPr/>
            <p:nvPr/>
          </p:nvSpPr>
          <p:spPr>
            <a:xfrm>
              <a:off x="608012" y="609600"/>
              <a:ext cx="10972800" cy="5638800"/>
            </a:xfrm>
            <a:prstGeom prst="rect">
              <a:avLst/>
            </a:prstGeom>
            <a:noFill/>
            <a:ln w="15875" cap="flat">
              <a:miter lim="800000"/>
            </a:ln>
          </p:spPr>
          <p:style>
            <a:lnRef idx="1">
              <a:schemeClr val="accent1"/>
            </a:lnRef>
            <a:fillRef idx="3">
              <a:schemeClr val="accent1"/>
            </a:fillRef>
            <a:effectRef idx="2">
              <a:schemeClr val="accent1"/>
            </a:effectRef>
            <a:fontRef idx="minor">
              <a:schemeClr val="lt1"/>
            </a:fontRef>
          </p:style>
        </p:sp>
        <p:pic>
          <p:nvPicPr>
            <p:cNvPr id="10" name="Picture 9" descr="HDRibbonContent-UniformTrim.png"/>
            <p:cNvPicPr>
              <a:picLocks noChangeAspect="1"/>
            </p:cNvPicPr>
            <p:nvPr/>
          </p:nvPicPr>
          <p:blipFill rotWithShape="1">
            <a:blip r:embed="rId20">
              <a:extLst>
                <a:ext uri="{28A0092B-C50C-407E-A947-70E740481C1C}">
                  <a14:useLocalDpi xmlns:a14="http://schemas.microsoft.com/office/drawing/2010/main" val="0"/>
                </a:ext>
              </a:extLst>
            </a:blip>
            <a:srcRect/>
            <a:stretch/>
          </p:blipFill>
          <p:spPr>
            <a:xfrm>
              <a:off x="-15736" y="3153832"/>
              <a:ext cx="777240" cy="606425"/>
            </a:xfrm>
            <a:prstGeom prst="rect">
              <a:avLst/>
            </a:prstGeom>
          </p:spPr>
        </p:pic>
        <p:pic>
          <p:nvPicPr>
            <p:cNvPr id="11" name="Picture 10" descr="HDRibbonContent-UniformTrim.png"/>
            <p:cNvPicPr>
              <a:picLocks noChangeAspect="1"/>
            </p:cNvPicPr>
            <p:nvPr/>
          </p:nvPicPr>
          <p:blipFill rotWithShape="1">
            <a:blip r:embed="rId20">
              <a:extLst>
                <a:ext uri="{28A0092B-C50C-407E-A947-70E740481C1C}">
                  <a14:useLocalDpi xmlns:a14="http://schemas.microsoft.com/office/drawing/2010/main" val="0"/>
                </a:ext>
              </a:extLst>
            </a:blip>
            <a:srcRect/>
            <a:stretch/>
          </p:blipFill>
          <p:spPr>
            <a:xfrm>
              <a:off x="11436986" y="3153832"/>
              <a:ext cx="777240" cy="606425"/>
            </a:xfrm>
            <a:prstGeom prst="rect">
              <a:avLst/>
            </a:prstGeom>
          </p:spPr>
        </p:pic>
      </p:grpSp>
      <p:sp>
        <p:nvSpPr>
          <p:cNvPr id="2" name="Title Placeholder 1"/>
          <p:cNvSpPr>
            <a:spLocks noGrp="1"/>
          </p:cNvSpPr>
          <p:nvPr>
            <p:ph type="title"/>
          </p:nvPr>
        </p:nvSpPr>
        <p:spPr>
          <a:xfrm>
            <a:off x="971552" y="736600"/>
            <a:ext cx="7200897" cy="977900"/>
          </a:xfrm>
          <a:prstGeom prst="rect">
            <a:avLst/>
          </a:prstGeom>
          <a:effectLst/>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971551" y="1917699"/>
            <a:ext cx="7200897" cy="2489202"/>
          </a:xfrm>
          <a:prstGeom prst="rect">
            <a:avLst/>
          </a:prstGeom>
        </p:spPr>
        <p:txBody>
          <a:bodyPr vert="horz" lIns="91440" tIns="45720" rIns="91440" bIns="45720" rtlCol="0" anchor="t">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508126" y="4476750"/>
            <a:ext cx="1200150" cy="209550"/>
          </a:xfrm>
          <a:prstGeom prst="rect">
            <a:avLst/>
          </a:prstGeom>
        </p:spPr>
        <p:txBody>
          <a:bodyPr vert="horz" lIns="91440" tIns="45720" rIns="91440" bIns="45720" rtlCol="0" anchor="ctr"/>
          <a:lstStyle>
            <a:lvl1pPr algn="r">
              <a:defRPr sz="750" b="0" i="0">
                <a:solidFill>
                  <a:schemeClr val="tx1"/>
                </a:solidFill>
                <a:effectLst/>
                <a:latin typeface="+mn-lt"/>
              </a:defRPr>
            </a:lvl1pPr>
          </a:lstStyle>
          <a:p>
            <a:fld id="{26ECA41C-7D7D-43D4-9152-A38BEE06F328}" type="datetimeFigureOut">
              <a:rPr lang="en-US" smtClean="0"/>
              <a:t>1/27/2024</a:t>
            </a:fld>
            <a:endParaRPr lang="en-US"/>
          </a:p>
        </p:txBody>
      </p:sp>
      <p:sp>
        <p:nvSpPr>
          <p:cNvPr id="5" name="Footer Placeholder 4"/>
          <p:cNvSpPr>
            <a:spLocks noGrp="1"/>
          </p:cNvSpPr>
          <p:nvPr>
            <p:ph type="ftr" sz="quarter" idx="3"/>
          </p:nvPr>
        </p:nvSpPr>
        <p:spPr>
          <a:xfrm>
            <a:off x="971551" y="4476750"/>
            <a:ext cx="5479425" cy="209550"/>
          </a:xfrm>
          <a:prstGeom prst="rect">
            <a:avLst/>
          </a:prstGeom>
        </p:spPr>
        <p:txBody>
          <a:bodyPr vert="horz" lIns="91440" tIns="45720" rIns="91440" bIns="45720" rtlCol="0" anchor="ctr"/>
          <a:lstStyle>
            <a:lvl1pPr algn="l">
              <a:defRPr sz="750" b="0" i="0">
                <a:solidFill>
                  <a:schemeClr val="tx1"/>
                </a:solidFill>
                <a:effectLst/>
                <a:latin typeface="+mn-lt"/>
              </a:defRPr>
            </a:lvl1pPr>
          </a:lstStyle>
          <a:p>
            <a:endParaRPr lang="en-US"/>
          </a:p>
        </p:txBody>
      </p:sp>
      <p:sp>
        <p:nvSpPr>
          <p:cNvPr id="6" name="Slide Number Placeholder 5"/>
          <p:cNvSpPr>
            <a:spLocks noGrp="1"/>
          </p:cNvSpPr>
          <p:nvPr>
            <p:ph type="sldNum" sz="quarter" idx="4"/>
          </p:nvPr>
        </p:nvSpPr>
        <p:spPr>
          <a:xfrm>
            <a:off x="7765426" y="4476750"/>
            <a:ext cx="407023" cy="209550"/>
          </a:xfrm>
          <a:prstGeom prst="rect">
            <a:avLst/>
          </a:prstGeom>
        </p:spPr>
        <p:txBody>
          <a:bodyPr vert="horz" lIns="91440" tIns="45720" rIns="91440" bIns="45720" rtlCol="0" anchor="ctr"/>
          <a:lstStyle>
            <a:lvl1pPr algn="r">
              <a:defRPr sz="750" b="0" i="0">
                <a:solidFill>
                  <a:schemeClr val="tx1"/>
                </a:solidFill>
                <a:effectLst/>
                <a:latin typeface="+mn-lt"/>
              </a:defRPr>
            </a:lvl1pPr>
          </a:lstStyle>
          <a:p>
            <a:fld id="{B805F231-A51A-4C46-B6F2-BFF4B322FA1C}" type="slidenum">
              <a:rPr lang="en-US" smtClean="0"/>
              <a:t>‹#›</a:t>
            </a:fld>
            <a:endParaRPr lang="en-US"/>
          </a:p>
        </p:txBody>
      </p:sp>
    </p:spTree>
    <p:extLst>
      <p:ext uri="{BB962C8B-B14F-4D97-AF65-F5344CB8AC3E}">
        <p14:creationId xmlns:p14="http://schemas.microsoft.com/office/powerpoint/2010/main" val="2530288874"/>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Lst>
  <p:txStyles>
    <p:titleStyle>
      <a:lvl1pPr algn="ctr" defTabSz="342900" rtl="0" eaLnBrk="1" latinLnBrk="0" hangingPunct="1">
        <a:spcBef>
          <a:spcPct val="0"/>
        </a:spcBef>
        <a:buNone/>
        <a:defRPr sz="3300" kern="1200" cap="none">
          <a:ln w="3175" cmpd="sng">
            <a:noFill/>
          </a:ln>
          <a:solidFill>
            <a:schemeClr val="tx1">
              <a:lumMod val="85000"/>
              <a:lumOff val="15000"/>
            </a:schemeClr>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14313" indent="-214313" algn="l" defTabSz="342900" rtl="0" eaLnBrk="1" latinLnBrk="0" hangingPunct="1">
        <a:spcBef>
          <a:spcPct val="20000"/>
        </a:spcBef>
        <a:spcAft>
          <a:spcPts val="450"/>
        </a:spcAft>
        <a:buClr>
          <a:schemeClr val="accent1"/>
        </a:buClr>
        <a:buSzPct val="115000"/>
        <a:buFont typeface="Arial"/>
        <a:buChar char="•"/>
        <a:defRPr sz="1800" kern="1200" cap="none">
          <a:solidFill>
            <a:schemeClr val="tx1">
              <a:lumMod val="85000"/>
              <a:lumOff val="15000"/>
            </a:schemeClr>
          </a:solidFill>
          <a:effectLst/>
          <a:latin typeface="+mn-lt"/>
          <a:ea typeface="+mn-ea"/>
          <a:cs typeface="+mn-cs"/>
        </a:defRPr>
      </a:lvl1pPr>
      <a:lvl2pPr marL="557213" indent="-214313" algn="l" defTabSz="342900" rtl="0" eaLnBrk="1" latinLnBrk="0" hangingPunct="1">
        <a:spcBef>
          <a:spcPct val="20000"/>
        </a:spcBef>
        <a:spcAft>
          <a:spcPts val="450"/>
        </a:spcAft>
        <a:buClr>
          <a:schemeClr val="accent1"/>
        </a:buClr>
        <a:buSzPct val="115000"/>
        <a:buFont typeface="Arial"/>
        <a:buChar char="•"/>
        <a:defRPr sz="1500" kern="1200" cap="none">
          <a:solidFill>
            <a:schemeClr val="tx1">
              <a:lumMod val="85000"/>
              <a:lumOff val="15000"/>
            </a:schemeClr>
          </a:solidFill>
          <a:effectLst/>
          <a:latin typeface="+mn-lt"/>
          <a:ea typeface="+mn-ea"/>
          <a:cs typeface="+mn-cs"/>
        </a:defRPr>
      </a:lvl2pPr>
      <a:lvl3pPr marL="900113" indent="-214313" algn="l" defTabSz="342900" rtl="0" eaLnBrk="1" latinLnBrk="0" hangingPunct="1">
        <a:spcBef>
          <a:spcPct val="20000"/>
        </a:spcBef>
        <a:spcAft>
          <a:spcPts val="450"/>
        </a:spcAft>
        <a:buClr>
          <a:schemeClr val="accent1"/>
        </a:buClr>
        <a:buSzPct val="115000"/>
        <a:buFont typeface="Arial"/>
        <a:buChar char="•"/>
        <a:defRPr sz="1350" kern="1200" cap="none">
          <a:solidFill>
            <a:schemeClr val="tx1">
              <a:lumMod val="85000"/>
              <a:lumOff val="15000"/>
            </a:schemeClr>
          </a:solidFill>
          <a:effectLst/>
          <a:latin typeface="+mn-lt"/>
          <a:ea typeface="+mn-ea"/>
          <a:cs typeface="+mn-cs"/>
        </a:defRPr>
      </a:lvl3pPr>
      <a:lvl4pPr marL="1157288" indent="-128588" algn="l" defTabSz="342900" rtl="0" eaLnBrk="1" latinLnBrk="0" hangingPunct="1">
        <a:spcBef>
          <a:spcPct val="20000"/>
        </a:spcBef>
        <a:spcAft>
          <a:spcPts val="450"/>
        </a:spcAft>
        <a:buClr>
          <a:schemeClr val="accent1"/>
        </a:buClr>
        <a:buSzPct val="115000"/>
        <a:buFont typeface="Arial"/>
        <a:buChar char="•"/>
        <a:defRPr sz="1200" kern="1200" cap="none">
          <a:solidFill>
            <a:schemeClr val="tx1">
              <a:lumMod val="85000"/>
              <a:lumOff val="15000"/>
            </a:schemeClr>
          </a:solidFill>
          <a:effectLst/>
          <a:latin typeface="+mn-lt"/>
          <a:ea typeface="+mn-ea"/>
          <a:cs typeface="+mn-cs"/>
        </a:defRPr>
      </a:lvl4pPr>
      <a:lvl5pPr marL="1500188" indent="-128588" algn="l" defTabSz="342900" rtl="0" eaLnBrk="1" latinLnBrk="0" hangingPunct="1">
        <a:spcBef>
          <a:spcPct val="20000"/>
        </a:spcBef>
        <a:spcAft>
          <a:spcPts val="450"/>
        </a:spcAft>
        <a:buClr>
          <a:schemeClr val="accent1"/>
        </a:buClr>
        <a:buSzPct val="115000"/>
        <a:buFont typeface="Arial"/>
        <a:buChar char="•"/>
        <a:defRPr sz="1050" kern="1200" cap="none">
          <a:solidFill>
            <a:schemeClr val="tx1">
              <a:lumMod val="85000"/>
              <a:lumOff val="15000"/>
            </a:schemeClr>
          </a:solidFill>
          <a:effectLst/>
          <a:latin typeface="+mn-lt"/>
          <a:ea typeface="+mn-ea"/>
          <a:cs typeface="+mn-cs"/>
        </a:defRPr>
      </a:lvl5pPr>
      <a:lvl6pPr marL="1885950" indent="-171450" algn="l" defTabSz="342900" rtl="0" eaLnBrk="1" latinLnBrk="0" hangingPunct="1">
        <a:spcBef>
          <a:spcPct val="20000"/>
        </a:spcBef>
        <a:spcAft>
          <a:spcPts val="450"/>
        </a:spcAft>
        <a:buClr>
          <a:schemeClr val="accent1"/>
        </a:buClr>
        <a:buSzPct val="115000"/>
        <a:buFont typeface="Arial"/>
        <a:buChar char="•"/>
        <a:defRPr sz="1050" kern="1200" cap="none">
          <a:solidFill>
            <a:schemeClr val="tx1">
              <a:lumMod val="85000"/>
              <a:lumOff val="15000"/>
            </a:schemeClr>
          </a:solidFill>
          <a:effectLst/>
          <a:latin typeface="+mn-lt"/>
          <a:ea typeface="+mn-ea"/>
          <a:cs typeface="+mn-cs"/>
        </a:defRPr>
      </a:lvl6pPr>
      <a:lvl7pPr marL="2228850" indent="-171450" algn="l" defTabSz="342900" rtl="0" eaLnBrk="1" latinLnBrk="0" hangingPunct="1">
        <a:spcBef>
          <a:spcPct val="20000"/>
        </a:spcBef>
        <a:spcAft>
          <a:spcPts val="450"/>
        </a:spcAft>
        <a:buClr>
          <a:schemeClr val="accent1"/>
        </a:buClr>
        <a:buSzPct val="115000"/>
        <a:buFont typeface="Arial"/>
        <a:buChar char="•"/>
        <a:defRPr sz="1050" kern="1200" cap="none">
          <a:solidFill>
            <a:schemeClr val="tx1">
              <a:lumMod val="85000"/>
              <a:lumOff val="15000"/>
            </a:schemeClr>
          </a:solidFill>
          <a:effectLst/>
          <a:latin typeface="+mn-lt"/>
          <a:ea typeface="+mn-ea"/>
          <a:cs typeface="+mn-cs"/>
        </a:defRPr>
      </a:lvl7pPr>
      <a:lvl8pPr marL="2571750" indent="-171450" algn="l" defTabSz="342900" rtl="0" eaLnBrk="1" latinLnBrk="0" hangingPunct="1">
        <a:spcBef>
          <a:spcPct val="20000"/>
        </a:spcBef>
        <a:spcAft>
          <a:spcPts val="450"/>
        </a:spcAft>
        <a:buClr>
          <a:schemeClr val="accent1"/>
        </a:buClr>
        <a:buSzPct val="115000"/>
        <a:buFont typeface="Arial"/>
        <a:buChar char="•"/>
        <a:defRPr sz="1050" kern="1200" cap="none">
          <a:solidFill>
            <a:schemeClr val="tx1">
              <a:lumMod val="85000"/>
              <a:lumOff val="15000"/>
            </a:schemeClr>
          </a:solidFill>
          <a:effectLst/>
          <a:latin typeface="+mn-lt"/>
          <a:ea typeface="+mn-ea"/>
          <a:cs typeface="+mn-cs"/>
        </a:defRPr>
      </a:lvl8pPr>
      <a:lvl9pPr marL="2914650" indent="-171450" algn="l" defTabSz="342900" rtl="0" eaLnBrk="1" latinLnBrk="0" hangingPunct="1">
        <a:spcBef>
          <a:spcPct val="20000"/>
        </a:spcBef>
        <a:spcAft>
          <a:spcPts val="450"/>
        </a:spcAft>
        <a:buClr>
          <a:schemeClr val="accent1"/>
        </a:buClr>
        <a:buSzPct val="115000"/>
        <a:buFont typeface="Arial"/>
        <a:buChar char="•"/>
        <a:defRPr sz="1050" kern="1200" cap="none">
          <a:solidFill>
            <a:schemeClr val="tx1">
              <a:lumMod val="85000"/>
              <a:lumOff val="15000"/>
            </a:schemeClr>
          </a:solidFill>
          <a:effectLst/>
          <a:latin typeface="+mn-lt"/>
          <a:ea typeface="+mn-ea"/>
          <a:cs typeface="+mn-cs"/>
        </a:defRPr>
      </a:lvl9pPr>
    </p:bodyStyle>
    <p:otherStyle>
      <a:defPPr>
        <a:defRPr lang="en-US"/>
      </a:defPPr>
      <a:lvl1pPr marL="0" algn="l" defTabSz="342900" rtl="0" eaLnBrk="1" latinLnBrk="0" hangingPunct="1">
        <a:defRPr sz="1350" kern="1200">
          <a:solidFill>
            <a:schemeClr val="tx1"/>
          </a:solidFill>
          <a:latin typeface="+mn-lt"/>
          <a:ea typeface="+mn-ea"/>
          <a:cs typeface="+mn-cs"/>
        </a:defRPr>
      </a:lvl1pPr>
      <a:lvl2pPr marL="342900" algn="l" defTabSz="342900" rtl="0" eaLnBrk="1" latinLnBrk="0" hangingPunct="1">
        <a:defRPr sz="1350" kern="1200">
          <a:solidFill>
            <a:schemeClr val="tx1"/>
          </a:solidFill>
          <a:latin typeface="+mn-lt"/>
          <a:ea typeface="+mn-ea"/>
          <a:cs typeface="+mn-cs"/>
        </a:defRPr>
      </a:lvl2pPr>
      <a:lvl3pPr marL="685800" algn="l" defTabSz="342900" rtl="0" eaLnBrk="1" latinLnBrk="0" hangingPunct="1">
        <a:defRPr sz="1350" kern="1200">
          <a:solidFill>
            <a:schemeClr val="tx1"/>
          </a:solidFill>
          <a:latin typeface="+mn-lt"/>
          <a:ea typeface="+mn-ea"/>
          <a:cs typeface="+mn-cs"/>
        </a:defRPr>
      </a:lvl3pPr>
      <a:lvl4pPr marL="1028700" algn="l" defTabSz="342900" rtl="0" eaLnBrk="1" latinLnBrk="0" hangingPunct="1">
        <a:defRPr sz="1350" kern="1200">
          <a:solidFill>
            <a:schemeClr val="tx1"/>
          </a:solidFill>
          <a:latin typeface="+mn-lt"/>
          <a:ea typeface="+mn-ea"/>
          <a:cs typeface="+mn-cs"/>
        </a:defRPr>
      </a:lvl4pPr>
      <a:lvl5pPr marL="1371600" algn="l" defTabSz="342900" rtl="0" eaLnBrk="1" latinLnBrk="0" hangingPunct="1">
        <a:defRPr sz="1350" kern="1200">
          <a:solidFill>
            <a:schemeClr val="tx1"/>
          </a:solidFill>
          <a:latin typeface="+mn-lt"/>
          <a:ea typeface="+mn-ea"/>
          <a:cs typeface="+mn-cs"/>
        </a:defRPr>
      </a:lvl5pPr>
      <a:lvl6pPr marL="1714500" algn="l" defTabSz="342900" rtl="0" eaLnBrk="1" latinLnBrk="0" hangingPunct="1">
        <a:defRPr sz="1350" kern="1200">
          <a:solidFill>
            <a:schemeClr val="tx1"/>
          </a:solidFill>
          <a:latin typeface="+mn-lt"/>
          <a:ea typeface="+mn-ea"/>
          <a:cs typeface="+mn-cs"/>
        </a:defRPr>
      </a:lvl6pPr>
      <a:lvl7pPr marL="2057400" algn="l" defTabSz="342900" rtl="0" eaLnBrk="1" latinLnBrk="0" hangingPunct="1">
        <a:defRPr sz="1350" kern="1200">
          <a:solidFill>
            <a:schemeClr val="tx1"/>
          </a:solidFill>
          <a:latin typeface="+mn-lt"/>
          <a:ea typeface="+mn-ea"/>
          <a:cs typeface="+mn-cs"/>
        </a:defRPr>
      </a:lvl7pPr>
      <a:lvl8pPr marL="2400300" algn="l" defTabSz="342900" rtl="0" eaLnBrk="1" latinLnBrk="0" hangingPunct="1">
        <a:defRPr sz="1350" kern="1200">
          <a:solidFill>
            <a:schemeClr val="tx1"/>
          </a:solidFill>
          <a:latin typeface="+mn-lt"/>
          <a:ea typeface="+mn-ea"/>
          <a:cs typeface="+mn-cs"/>
        </a:defRPr>
      </a:lvl8pPr>
      <a:lvl9pPr marL="2743200" algn="l" defTabSz="3429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5.xml"/><Relationship Id="rId4" Type="http://schemas.openxmlformats.org/officeDocument/2006/relationships/image" Target="../media/image10.png"/></Relationships>
</file>

<file path=ppt/slides/_rels/slide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8" Type="http://schemas.openxmlformats.org/officeDocument/2006/relationships/slide" Target="slide81.xml"/><Relationship Id="rId3" Type="http://schemas.openxmlformats.org/officeDocument/2006/relationships/image" Target="../media/image11.gif"/><Relationship Id="rId7" Type="http://schemas.openxmlformats.org/officeDocument/2006/relationships/slide" Target="slide86.xml"/><Relationship Id="rId2" Type="http://schemas.openxmlformats.org/officeDocument/2006/relationships/notesSlide" Target="../notesSlides/notesSlide4.xml"/><Relationship Id="rId1" Type="http://schemas.openxmlformats.org/officeDocument/2006/relationships/slideLayout" Target="../slideLayouts/slideLayout5.xml"/><Relationship Id="rId6" Type="http://schemas.openxmlformats.org/officeDocument/2006/relationships/slide" Target="slide3.xml"/><Relationship Id="rId5" Type="http://schemas.openxmlformats.org/officeDocument/2006/relationships/slide" Target="slide80.xml"/><Relationship Id="rId4" Type="http://schemas.openxmlformats.org/officeDocument/2006/relationships/slide" Target="slide91.xml"/></Relationships>
</file>

<file path=ppt/slides/_rels/slide6.xml.rels><?xml version="1.0" encoding="UTF-8" standalone="yes"?>
<Relationships xmlns="http://schemas.openxmlformats.org/package/2006/relationships"><Relationship Id="rId3" Type="http://schemas.openxmlformats.org/officeDocument/2006/relationships/slide" Target="slide91.xml"/><Relationship Id="rId7" Type="http://schemas.openxmlformats.org/officeDocument/2006/relationships/slide" Target="slide81.xml"/><Relationship Id="rId2" Type="http://schemas.openxmlformats.org/officeDocument/2006/relationships/notesSlide" Target="../notesSlides/notesSlide5.xml"/><Relationship Id="rId1" Type="http://schemas.openxmlformats.org/officeDocument/2006/relationships/slideLayout" Target="../slideLayouts/slideLayout5.xml"/><Relationship Id="rId6" Type="http://schemas.openxmlformats.org/officeDocument/2006/relationships/slide" Target="slide86.xml"/><Relationship Id="rId5" Type="http://schemas.openxmlformats.org/officeDocument/2006/relationships/slide" Target="slide3.xml"/><Relationship Id="rId4" Type="http://schemas.openxmlformats.org/officeDocument/2006/relationships/slide" Target="slide80.xml"/></Relationships>
</file>

<file path=ppt/slides/_rels/slide7.xml.rels><?xml version="1.0" encoding="UTF-8" standalone="yes"?>
<Relationships xmlns="http://schemas.openxmlformats.org/package/2006/relationships"><Relationship Id="rId3" Type="http://schemas.openxmlformats.org/officeDocument/2006/relationships/slide" Target="slide91.xml"/><Relationship Id="rId7" Type="http://schemas.openxmlformats.org/officeDocument/2006/relationships/slide" Target="slide81.xml"/><Relationship Id="rId2" Type="http://schemas.openxmlformats.org/officeDocument/2006/relationships/notesSlide" Target="../notesSlides/notesSlide6.xml"/><Relationship Id="rId1" Type="http://schemas.openxmlformats.org/officeDocument/2006/relationships/slideLayout" Target="../slideLayouts/slideLayout5.xml"/><Relationship Id="rId6" Type="http://schemas.openxmlformats.org/officeDocument/2006/relationships/slide" Target="slide86.xml"/><Relationship Id="rId5" Type="http://schemas.openxmlformats.org/officeDocument/2006/relationships/slide" Target="slide3.xml"/><Relationship Id="rId4" Type="http://schemas.openxmlformats.org/officeDocument/2006/relationships/slide" Target="slide80.xml"/></Relationships>
</file>

<file path=ppt/slides/_rels/slide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xml"/><Relationship Id="rId1" Type="http://schemas.openxmlformats.org/officeDocument/2006/relationships/slideLayout" Target="../slideLayouts/slideLayout5.xml"/><Relationship Id="rId4" Type="http://schemas.openxmlformats.org/officeDocument/2006/relationships/image" Target="../media/image12.jp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16.xml.rels><?xml version="1.0" encoding="UTF-8" standalone="yes"?>
<Relationships xmlns="http://schemas.openxmlformats.org/package/2006/relationships"><Relationship Id="rId3" Type="http://schemas.openxmlformats.org/officeDocument/2006/relationships/slide" Target="slide80.xml"/><Relationship Id="rId7" Type="http://schemas.openxmlformats.org/officeDocument/2006/relationships/image" Target="../media/image14.jpeg"/><Relationship Id="rId2" Type="http://schemas.openxmlformats.org/officeDocument/2006/relationships/notesSlide" Target="../notesSlides/notesSlide15.xml"/><Relationship Id="rId1" Type="http://schemas.openxmlformats.org/officeDocument/2006/relationships/slideLayout" Target="../slideLayouts/slideLayout5.xml"/><Relationship Id="rId6" Type="http://schemas.openxmlformats.org/officeDocument/2006/relationships/image" Target="../media/image13.jpg"/><Relationship Id="rId5" Type="http://schemas.openxmlformats.org/officeDocument/2006/relationships/slide" Target="slide81.xml"/><Relationship Id="rId4" Type="http://schemas.openxmlformats.org/officeDocument/2006/relationships/slide" Target="slide3.xml"/></Relationships>
</file>

<file path=ppt/slides/_rels/slide17.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notesSlide" Target="../notesSlides/notesSlide16.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slide" Target="slide3.xml"/></Relationships>
</file>

<file path=ppt/slides/_rels/slide18.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notesSlide" Target="../notesSlides/notesSlide17.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86.xml"/><Relationship Id="rId4" Type="http://schemas.openxmlformats.org/officeDocument/2006/relationships/slide" Target="slide3.xml"/></Relationships>
</file>

<file path=ppt/slides/_rels/slide19.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notesSlide" Target="../notesSlides/notesSlide18.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86.xml"/><Relationship Id="rId4" Type="http://schemas.openxmlformats.org/officeDocument/2006/relationships/slide" Target="slide3.xml"/></Relationships>
</file>

<file path=ppt/slides/_rels/slide20.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notesSlide" Target="../notesSlides/notesSlide19.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86.xml"/><Relationship Id="rId4" Type="http://schemas.openxmlformats.org/officeDocument/2006/relationships/slide" Target="slide3.xml"/></Relationships>
</file>

<file path=ppt/slides/_rels/slide21.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notesSlide" Target="../notesSlides/notesSlide20.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86.xml"/><Relationship Id="rId4" Type="http://schemas.openxmlformats.org/officeDocument/2006/relationships/slide" Target="slide3.xml"/></Relationships>
</file>

<file path=ppt/slides/_rels/slide22.xml.rels><?xml version="1.0" encoding="UTF-8" standalone="yes"?>
<Relationships xmlns="http://schemas.openxmlformats.org/package/2006/relationships"><Relationship Id="rId3" Type="http://schemas.openxmlformats.org/officeDocument/2006/relationships/slide" Target="slide80.xml"/><Relationship Id="rId7" Type="http://schemas.openxmlformats.org/officeDocument/2006/relationships/image" Target="../media/image15.jpg"/><Relationship Id="rId2" Type="http://schemas.openxmlformats.org/officeDocument/2006/relationships/notesSlide" Target="../notesSlides/notesSlide21.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86.xml"/><Relationship Id="rId4" Type="http://schemas.openxmlformats.org/officeDocument/2006/relationships/slide" Target="slide3.xml"/></Relationships>
</file>

<file path=ppt/slides/_rels/slide2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2.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3.xml"/><Relationship Id="rId1" Type="http://schemas.openxmlformats.org/officeDocument/2006/relationships/slideLayout" Target="../slideLayouts/slideLayout5.xml"/><Relationship Id="rId4" Type="http://schemas.openxmlformats.org/officeDocument/2006/relationships/image" Target="../media/image16.jpg"/></Relationships>
</file>

<file path=ppt/slides/_rels/slide2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2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7.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4.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xml"/><Relationship Id="rId1" Type="http://schemas.openxmlformats.org/officeDocument/2006/relationships/slideLayout" Target="../slideLayouts/slideLayout5.xml"/><Relationship Id="rId4" Type="http://schemas.openxmlformats.org/officeDocument/2006/relationships/slide" Target="slide86.xml"/></Relationships>
</file>

<file path=ppt/slides/_rels/slide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xml"/><Relationship Id="rId1" Type="http://schemas.openxmlformats.org/officeDocument/2006/relationships/slideLayout" Target="../slideLayouts/slideLayout5.xml"/><Relationship Id="rId5" Type="http://schemas.openxmlformats.org/officeDocument/2006/relationships/slide" Target="slide86.xml"/><Relationship Id="rId4" Type="http://schemas.openxmlformats.org/officeDocument/2006/relationships/image" Target="../media/image19.jpg"/></Relationships>
</file>

<file path=ppt/slides/_rels/slide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xml"/><Relationship Id="rId1" Type="http://schemas.openxmlformats.org/officeDocument/2006/relationships/slideLayout" Target="../slideLayouts/slideLayout5.xml"/><Relationship Id="rId4" Type="http://schemas.openxmlformats.org/officeDocument/2006/relationships/slide" Target="slide86.xml"/></Relationships>
</file>

<file path=ppt/slides/_rels/slide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xml"/><Relationship Id="rId1" Type="http://schemas.openxmlformats.org/officeDocument/2006/relationships/slideLayout" Target="../slideLayouts/slideLayout5.xml"/><Relationship Id="rId4" Type="http://schemas.openxmlformats.org/officeDocument/2006/relationships/slide" Target="slide86.xml"/></Relationships>
</file>

<file path=ppt/slides/_rels/slide40.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39.xml"/><Relationship Id="rId1" Type="http://schemas.openxmlformats.org/officeDocument/2006/relationships/slideLayout" Target="../slideLayouts/slideLayout5.xml"/><Relationship Id="rId5" Type="http://schemas.openxmlformats.org/officeDocument/2006/relationships/slide" Target="slide86.xml"/><Relationship Id="rId4" Type="http://schemas.openxmlformats.org/officeDocument/2006/relationships/slide" Target="slide3.xml"/></Relationships>
</file>

<file path=ppt/slides/_rels/slide41.xml.rels><?xml version="1.0" encoding="UTF-8" standalone="yes"?>
<Relationships xmlns="http://schemas.openxmlformats.org/package/2006/relationships"><Relationship Id="rId8" Type="http://schemas.openxmlformats.org/officeDocument/2006/relationships/slide" Target="slide86.xml"/><Relationship Id="rId3" Type="http://schemas.openxmlformats.org/officeDocument/2006/relationships/slide" Target="slide3.xml"/><Relationship Id="rId7" Type="http://schemas.openxmlformats.org/officeDocument/2006/relationships/image" Target="../media/image22.png"/><Relationship Id="rId2" Type="http://schemas.openxmlformats.org/officeDocument/2006/relationships/notesSlide" Target="../notesSlides/notesSlide40.xml"/><Relationship Id="rId1" Type="http://schemas.openxmlformats.org/officeDocument/2006/relationships/slideLayout" Target="../slideLayouts/slideLayout5.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slide" Target="slide81.xml"/></Relationships>
</file>

<file path=ppt/slides/_rels/slide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xml"/><Relationship Id="rId1" Type="http://schemas.openxmlformats.org/officeDocument/2006/relationships/slideLayout" Target="../slideLayouts/slideLayout5.xml"/><Relationship Id="rId4" Type="http://schemas.openxmlformats.org/officeDocument/2006/relationships/slide" Target="slide86.xml"/></Relationships>
</file>

<file path=ppt/slides/_rels/slide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xml"/><Relationship Id="rId1" Type="http://schemas.openxmlformats.org/officeDocument/2006/relationships/slideLayout" Target="../slideLayouts/slideLayout5.xml"/><Relationship Id="rId5" Type="http://schemas.openxmlformats.org/officeDocument/2006/relationships/image" Target="../media/image23.jpg"/><Relationship Id="rId4" Type="http://schemas.openxmlformats.org/officeDocument/2006/relationships/slide" Target="slide86.xml"/></Relationships>
</file>

<file path=ppt/slides/_rels/slide4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43.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xml"/><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3" Type="http://schemas.openxmlformats.org/officeDocument/2006/relationships/slide" Target="slide3.xml"/><Relationship Id="rId7" Type="http://schemas.microsoft.com/office/2007/relationships/hdphoto" Target="../media/hdphoto2.wdp"/><Relationship Id="rId2" Type="http://schemas.openxmlformats.org/officeDocument/2006/relationships/notesSlide" Target="../notesSlides/notesSlide46.xml"/><Relationship Id="rId1" Type="http://schemas.openxmlformats.org/officeDocument/2006/relationships/slideLayout" Target="../slideLayouts/slideLayout5.xml"/><Relationship Id="rId6" Type="http://schemas.openxmlformats.org/officeDocument/2006/relationships/image" Target="../media/image25.png"/><Relationship Id="rId5" Type="http://schemas.microsoft.com/office/2007/relationships/hdphoto" Target="../media/hdphoto1.wdp"/><Relationship Id="rId4" Type="http://schemas.openxmlformats.org/officeDocument/2006/relationships/image" Target="../media/image24.png"/></Relationships>
</file>

<file path=ppt/slides/_rels/slide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xml"/><Relationship Id="rId1" Type="http://schemas.openxmlformats.org/officeDocument/2006/relationships/slideLayout" Target="../slideLayouts/slideLayout5.xml"/><Relationship Id="rId4" Type="http://schemas.openxmlformats.org/officeDocument/2006/relationships/image" Target="../media/image26.gif"/></Relationships>
</file>

<file path=ppt/slides/_rels/slide5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0.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xml"/><Relationship Id="rId1" Type="http://schemas.openxmlformats.org/officeDocument/2006/relationships/slideLayout" Target="../slideLayouts/slideLayout5.xml"/><Relationship Id="rId6" Type="http://schemas.openxmlformats.org/officeDocument/2006/relationships/slide" Target="slide91.xml"/><Relationship Id="rId5" Type="http://schemas.openxmlformats.org/officeDocument/2006/relationships/slide" Target="slide86.xml"/><Relationship Id="rId4" Type="http://schemas.openxmlformats.org/officeDocument/2006/relationships/slide" Target="slide81.xml"/></Relationships>
</file>

<file path=ppt/slides/_rels/slide5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91.xml"/><Relationship Id="rId2" Type="http://schemas.openxmlformats.org/officeDocument/2006/relationships/notesSlide" Target="../notesSlides/notesSlide52.xml"/><Relationship Id="rId1" Type="http://schemas.openxmlformats.org/officeDocument/2006/relationships/slideLayout" Target="../slideLayouts/slideLayout5.xml"/><Relationship Id="rId6" Type="http://schemas.openxmlformats.org/officeDocument/2006/relationships/slide" Target="slide86.xml"/><Relationship Id="rId5" Type="http://schemas.openxmlformats.org/officeDocument/2006/relationships/slide" Target="slide81.xml"/><Relationship Id="rId4" Type="http://schemas.openxmlformats.org/officeDocument/2006/relationships/image" Target="../media/image27.gif"/></Relationships>
</file>

<file path=ppt/slides/_rels/slide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xml"/><Relationship Id="rId1" Type="http://schemas.openxmlformats.org/officeDocument/2006/relationships/slideLayout" Target="../slideLayouts/slideLayout5.xml"/><Relationship Id="rId6" Type="http://schemas.openxmlformats.org/officeDocument/2006/relationships/slide" Target="slide91.xml"/><Relationship Id="rId5" Type="http://schemas.openxmlformats.org/officeDocument/2006/relationships/slide" Target="slide86.xml"/><Relationship Id="rId4" Type="http://schemas.openxmlformats.org/officeDocument/2006/relationships/slide" Target="slide81.xml"/></Relationships>
</file>

<file path=ppt/slides/_rels/slide55.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54.xml"/><Relationship Id="rId1" Type="http://schemas.openxmlformats.org/officeDocument/2006/relationships/slideLayout" Target="../slideLayouts/slideLayout5.xml"/><Relationship Id="rId6" Type="http://schemas.openxmlformats.org/officeDocument/2006/relationships/slide" Target="slide91.xml"/><Relationship Id="rId5" Type="http://schemas.openxmlformats.org/officeDocument/2006/relationships/slide" Target="slide86.xml"/><Relationship Id="rId4" Type="http://schemas.openxmlformats.org/officeDocument/2006/relationships/slide" Target="slide3.xml"/></Relationships>
</file>

<file path=ppt/slides/_rels/slide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xml"/><Relationship Id="rId1" Type="http://schemas.openxmlformats.org/officeDocument/2006/relationships/slideLayout" Target="../slideLayouts/slideLayout5.xml"/><Relationship Id="rId6" Type="http://schemas.openxmlformats.org/officeDocument/2006/relationships/slide" Target="slide91.xml"/><Relationship Id="rId5" Type="http://schemas.openxmlformats.org/officeDocument/2006/relationships/slide" Target="slide86.xml"/><Relationship Id="rId4" Type="http://schemas.openxmlformats.org/officeDocument/2006/relationships/slide" Target="slide81.xml"/></Relationships>
</file>

<file path=ppt/slides/_rels/slide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slide" Target="slide91.xml"/><Relationship Id="rId4" Type="http://schemas.openxmlformats.org/officeDocument/2006/relationships/slide" Target="slide86.xml"/></Relationships>
</file>

<file path=ppt/slides/_rels/slide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xml"/><Relationship Id="rId1" Type="http://schemas.openxmlformats.org/officeDocument/2006/relationships/slideLayout" Target="../slideLayouts/slideLayout5.xml"/><Relationship Id="rId6" Type="http://schemas.openxmlformats.org/officeDocument/2006/relationships/slide" Target="slide86.xml"/><Relationship Id="rId5" Type="http://schemas.openxmlformats.org/officeDocument/2006/relationships/slide" Target="slide81.xml"/><Relationship Id="rId4" Type="http://schemas.openxmlformats.org/officeDocument/2006/relationships/slide" Target="slide91.xml"/></Relationships>
</file>

<file path=ppt/slides/_rels/slide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xml"/><Relationship Id="rId1" Type="http://schemas.openxmlformats.org/officeDocument/2006/relationships/slideLayout" Target="../slideLayouts/slideLayout5.xml"/><Relationship Id="rId6" Type="http://schemas.openxmlformats.org/officeDocument/2006/relationships/slide" Target="slide86.xml"/><Relationship Id="rId5" Type="http://schemas.openxmlformats.org/officeDocument/2006/relationships/slide" Target="slide81.xml"/><Relationship Id="rId4" Type="http://schemas.openxmlformats.org/officeDocument/2006/relationships/slide" Target="slide91.xml"/></Relationships>
</file>

<file path=ppt/slides/_rels/slide6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9.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image" Target="../media/image28.jpg"/></Relationships>
</file>

<file path=ppt/slides/_rels/slide64.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63.xml"/><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xml"/><Relationship Id="rId1" Type="http://schemas.openxmlformats.org/officeDocument/2006/relationships/slideLayout" Target="../slideLayouts/slideLayout5.xml"/><Relationship Id="rId5" Type="http://schemas.openxmlformats.org/officeDocument/2006/relationships/image" Target="../media/image29.jpg"/><Relationship Id="rId4" Type="http://schemas.openxmlformats.org/officeDocument/2006/relationships/slide" Target="slide81.xml"/></Relationships>
</file>

<file path=ppt/slides/_rels/slide7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69.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slide" Target="slide86.xml"/></Relationships>
</file>

<file path=ppt/slides/_rels/slide72.xml.rels><?xml version="1.0" encoding="UTF-8" standalone="yes"?>
<Relationships xmlns="http://schemas.openxmlformats.org/package/2006/relationships"><Relationship Id="rId8" Type="http://schemas.openxmlformats.org/officeDocument/2006/relationships/slide" Target="slide81.xml"/><Relationship Id="rId3" Type="http://schemas.openxmlformats.org/officeDocument/2006/relationships/slide" Target="slide91.xml"/><Relationship Id="rId7" Type="http://schemas.openxmlformats.org/officeDocument/2006/relationships/slide" Target="slide86.xml"/><Relationship Id="rId2" Type="http://schemas.openxmlformats.org/officeDocument/2006/relationships/notesSlide" Target="../notesSlides/notesSlide71.xml"/><Relationship Id="rId1" Type="http://schemas.openxmlformats.org/officeDocument/2006/relationships/slideLayout" Target="../slideLayouts/slideLayout5.xml"/><Relationship Id="rId6" Type="http://schemas.openxmlformats.org/officeDocument/2006/relationships/image" Target="../media/image30.jpg"/><Relationship Id="rId5" Type="http://schemas.openxmlformats.org/officeDocument/2006/relationships/slide" Target="slide3.xml"/><Relationship Id="rId4" Type="http://schemas.openxmlformats.org/officeDocument/2006/relationships/slide" Target="slide80.xml"/></Relationships>
</file>

<file path=ppt/slides/_rels/slide73.xml.rels><?xml version="1.0" encoding="UTF-8" standalone="yes"?>
<Relationships xmlns="http://schemas.openxmlformats.org/package/2006/relationships"><Relationship Id="rId8" Type="http://schemas.openxmlformats.org/officeDocument/2006/relationships/slide" Target="slide86.xml"/><Relationship Id="rId3" Type="http://schemas.openxmlformats.org/officeDocument/2006/relationships/slide" Target="slide91.xml"/><Relationship Id="rId7" Type="http://schemas.openxmlformats.org/officeDocument/2006/relationships/slide" Target="slide81.xml"/><Relationship Id="rId2" Type="http://schemas.openxmlformats.org/officeDocument/2006/relationships/notesSlide" Target="../notesSlides/notesSlide72.xml"/><Relationship Id="rId1" Type="http://schemas.openxmlformats.org/officeDocument/2006/relationships/slideLayout" Target="../slideLayouts/slideLayout5.xml"/><Relationship Id="rId6" Type="http://schemas.openxmlformats.org/officeDocument/2006/relationships/image" Target="../media/image31.gif"/><Relationship Id="rId5" Type="http://schemas.openxmlformats.org/officeDocument/2006/relationships/slide" Target="slide3.xml"/><Relationship Id="rId4" Type="http://schemas.openxmlformats.org/officeDocument/2006/relationships/slide" Target="slide80.xml"/></Relationships>
</file>

<file path=ppt/slides/_rels/slide74.xml.rels><?xml version="1.0" encoding="UTF-8" standalone="yes"?>
<Relationships xmlns="http://schemas.openxmlformats.org/package/2006/relationships"><Relationship Id="rId8" Type="http://schemas.openxmlformats.org/officeDocument/2006/relationships/slide" Target="slide86.xml"/><Relationship Id="rId3" Type="http://schemas.openxmlformats.org/officeDocument/2006/relationships/slide" Target="slide91.xml"/><Relationship Id="rId7" Type="http://schemas.openxmlformats.org/officeDocument/2006/relationships/slide" Target="slide81.xml"/><Relationship Id="rId2" Type="http://schemas.openxmlformats.org/officeDocument/2006/relationships/notesSlide" Target="../notesSlides/notesSlide73.xml"/><Relationship Id="rId1" Type="http://schemas.openxmlformats.org/officeDocument/2006/relationships/slideLayout" Target="../slideLayouts/slideLayout5.xml"/><Relationship Id="rId6" Type="http://schemas.openxmlformats.org/officeDocument/2006/relationships/image" Target="../media/image32.jpg"/><Relationship Id="rId5" Type="http://schemas.openxmlformats.org/officeDocument/2006/relationships/slide" Target="slide3.xml"/><Relationship Id="rId4" Type="http://schemas.openxmlformats.org/officeDocument/2006/relationships/slide" Target="slide80.xml"/></Relationships>
</file>

<file path=ppt/slides/_rels/slide75.xml.rels><?xml version="1.0" encoding="UTF-8" standalone="yes"?>
<Relationships xmlns="http://schemas.openxmlformats.org/package/2006/relationships"><Relationship Id="rId3" Type="http://schemas.openxmlformats.org/officeDocument/2006/relationships/slide" Target="slide81.xml"/><Relationship Id="rId7" Type="http://schemas.openxmlformats.org/officeDocument/2006/relationships/slide" Target="slide86.xml"/><Relationship Id="rId2" Type="http://schemas.openxmlformats.org/officeDocument/2006/relationships/notesSlide" Target="../notesSlides/notesSlide74.xml"/><Relationship Id="rId1" Type="http://schemas.openxmlformats.org/officeDocument/2006/relationships/slideLayout" Target="../slideLayouts/slideLayout5.xml"/><Relationship Id="rId6" Type="http://schemas.openxmlformats.org/officeDocument/2006/relationships/image" Target="../media/image34.jpg"/><Relationship Id="rId5" Type="http://schemas.openxmlformats.org/officeDocument/2006/relationships/image" Target="../media/image33.jpg"/><Relationship Id="rId4" Type="http://schemas.openxmlformats.org/officeDocument/2006/relationships/slide" Target="slide3.xml"/></Relationships>
</file>

<file path=ppt/slides/_rels/slide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xml"/><Relationship Id="rId1" Type="http://schemas.openxmlformats.org/officeDocument/2006/relationships/slideLayout" Target="../slideLayouts/slideLayout5.xml"/><Relationship Id="rId5" Type="http://schemas.openxmlformats.org/officeDocument/2006/relationships/slide" Target="slide86.xml"/><Relationship Id="rId4" Type="http://schemas.openxmlformats.org/officeDocument/2006/relationships/slide" Target="slide81.xml"/></Relationships>
</file>

<file path=ppt/slides/_rels/slide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xml"/><Relationship Id="rId1" Type="http://schemas.openxmlformats.org/officeDocument/2006/relationships/slideLayout" Target="../slideLayouts/slideLayout5.xml"/><Relationship Id="rId5" Type="http://schemas.openxmlformats.org/officeDocument/2006/relationships/slide" Target="slide86.xml"/><Relationship Id="rId4" Type="http://schemas.openxmlformats.org/officeDocument/2006/relationships/slide" Target="slide81.xml"/></Relationships>
</file>

<file path=ppt/slides/_rels/slide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xml"/><Relationship Id="rId1" Type="http://schemas.openxmlformats.org/officeDocument/2006/relationships/slideLayout" Target="../slideLayouts/slideLayout5.xml"/><Relationship Id="rId5" Type="http://schemas.openxmlformats.org/officeDocument/2006/relationships/slide" Target="slide86.xml"/><Relationship Id="rId4" Type="http://schemas.openxmlformats.org/officeDocument/2006/relationships/slide" Target="slide81.xml"/></Relationships>
</file>

<file path=ppt/slides/_rels/slide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xml"/><Relationship Id="rId1" Type="http://schemas.openxmlformats.org/officeDocument/2006/relationships/slideLayout" Target="../slideLayouts/slideLayout5.xml"/><Relationship Id="rId6" Type="http://schemas.openxmlformats.org/officeDocument/2006/relationships/slide" Target="slide81.xml"/><Relationship Id="rId5" Type="http://schemas.openxmlformats.org/officeDocument/2006/relationships/image" Target="../media/image35.jpg"/><Relationship Id="rId4" Type="http://schemas.openxmlformats.org/officeDocument/2006/relationships/slide" Target="slide86.xml"/></Relationships>
</file>

<file path=ppt/slides/_rels/slide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xml"/><Relationship Id="rId1" Type="http://schemas.openxmlformats.org/officeDocument/2006/relationships/slideLayout" Target="../slideLayouts/slideLayout5.xml"/><Relationship Id="rId6" Type="http://schemas.openxmlformats.org/officeDocument/2006/relationships/image" Target="../media/image36.jpg"/><Relationship Id="rId5" Type="http://schemas.openxmlformats.org/officeDocument/2006/relationships/slide" Target="slide81.xml"/><Relationship Id="rId4" Type="http://schemas.openxmlformats.org/officeDocument/2006/relationships/slide" Target="slide86.xml"/></Relationships>
</file>

<file path=ppt/slides/_rels/slide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slide" Target="slide86.xml"/></Relationships>
</file>

<file path=ppt/slides/_rels/slide82.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38.jpg"/><Relationship Id="rId2" Type="http://schemas.openxmlformats.org/officeDocument/2006/relationships/notesSlide" Target="../notesSlides/notesSlide81.xml"/><Relationship Id="rId1" Type="http://schemas.openxmlformats.org/officeDocument/2006/relationships/slideLayout" Target="../slideLayouts/slideLayout5.xml"/><Relationship Id="rId6" Type="http://schemas.openxmlformats.org/officeDocument/2006/relationships/image" Target="../media/image37.jpg"/><Relationship Id="rId5" Type="http://schemas.openxmlformats.org/officeDocument/2006/relationships/slide" Target="slide81.xml"/><Relationship Id="rId4" Type="http://schemas.openxmlformats.org/officeDocument/2006/relationships/slide" Target="slide86.xml"/></Relationships>
</file>

<file path=ppt/slides/_rels/slide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xml"/><Relationship Id="rId1" Type="http://schemas.openxmlformats.org/officeDocument/2006/relationships/slideLayout" Target="../slideLayouts/slideLayout5.xml"/><Relationship Id="rId6" Type="http://schemas.openxmlformats.org/officeDocument/2006/relationships/image" Target="../media/image39.jpg"/><Relationship Id="rId5" Type="http://schemas.openxmlformats.org/officeDocument/2006/relationships/slide" Target="slide81.xml"/><Relationship Id="rId4" Type="http://schemas.openxmlformats.org/officeDocument/2006/relationships/slide" Target="slide86.xml"/></Relationships>
</file>

<file path=ppt/slides/_rels/slide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slide" Target="slide86.xml"/></Relationships>
</file>

<file path=ppt/slides/_rels/slide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xml"/><Relationship Id="rId1" Type="http://schemas.openxmlformats.org/officeDocument/2006/relationships/slideLayout" Target="../slideLayouts/slideLayout5.xml"/><Relationship Id="rId5" Type="http://schemas.openxmlformats.org/officeDocument/2006/relationships/slide" Target="slide81.xml"/><Relationship Id="rId4" Type="http://schemas.openxmlformats.org/officeDocument/2006/relationships/slide" Target="slide86.xml"/></Relationships>
</file>

<file path=ppt/slides/_rels/slide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xml"/><Relationship Id="rId1" Type="http://schemas.openxmlformats.org/officeDocument/2006/relationships/slideLayout" Target="../slideLayouts/slideLayout5.xml"/><Relationship Id="rId6" Type="http://schemas.openxmlformats.org/officeDocument/2006/relationships/image" Target="../media/image40.jpg"/><Relationship Id="rId5" Type="http://schemas.openxmlformats.org/officeDocument/2006/relationships/slide" Target="slide81.xml"/><Relationship Id="rId4" Type="http://schemas.openxmlformats.org/officeDocument/2006/relationships/slide" Target="slide86.xml"/></Relationships>
</file>

<file path=ppt/slides/_rels/slide8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86.xml"/><Relationship Id="rId1" Type="http://schemas.openxmlformats.org/officeDocument/2006/relationships/slideLayout" Target="../slideLayouts/slideLayout1.xml"/><Relationship Id="rId4" Type="http://schemas.openxmlformats.org/officeDocument/2006/relationships/slide" Target="slide4.xml"/></Relationships>
</file>

<file path=ppt/slides/_rels/slide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xml"/><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xml"/><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3" Type="http://schemas.openxmlformats.org/officeDocument/2006/relationships/slide" Target="slide81.xml"/><Relationship Id="rId2" Type="http://schemas.openxmlformats.org/officeDocument/2006/relationships/notesSlide" Target="../notesSlides/notesSlide89.xml"/><Relationship Id="rId1" Type="http://schemas.openxmlformats.org/officeDocument/2006/relationships/slideLayout" Target="../slideLayouts/slideLayout5.xml"/><Relationship Id="rId4" Type="http://schemas.openxmlformats.org/officeDocument/2006/relationships/slide" Target="slide3.xml"/></Relationships>
</file>

<file path=ppt/slides/_rels/slide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xml"/><Relationship Id="rId1" Type="http://schemas.openxmlformats.org/officeDocument/2006/relationships/slideLayout" Target="../slideLayouts/slideLayout5.xml"/><Relationship Id="rId4" Type="http://schemas.openxmlformats.org/officeDocument/2006/relationships/slide" Target="slide81.xml"/></Relationships>
</file>

<file path=ppt/slides/_rels/slide96.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image" Target="../media/image9.png"/><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2AFD42-0283-B769-0D32-8824014E4BEC}"/>
              </a:ext>
            </a:extLst>
          </p:cNvPr>
          <p:cNvSpPr>
            <a:spLocks noGrp="1"/>
          </p:cNvSpPr>
          <p:nvPr>
            <p:ph type="ctrTitle"/>
          </p:nvPr>
        </p:nvSpPr>
        <p:spPr>
          <a:xfrm>
            <a:off x="1143000" y="841772"/>
            <a:ext cx="6858000" cy="1585247"/>
          </a:xfrm>
        </p:spPr>
        <p:txBody>
          <a:bodyPr>
            <a:normAutofit/>
          </a:bodyPr>
          <a:lstStyle/>
          <a:p>
            <a:pPr>
              <a:lnSpc>
                <a:spcPct val="150000"/>
              </a:lnSpc>
            </a:pPr>
            <a:r>
              <a:rPr lang="fa-IR" sz="1500" dirty="0">
                <a:cs typeface="B Titr" panose="00000700000000000000" pitchFamily="2" charset="-78"/>
              </a:rPr>
              <a:t>درس مدیریت تشکیلات کارگاهی</a:t>
            </a:r>
            <a:br>
              <a:rPr lang="en-US" sz="1500" dirty="0">
                <a:cs typeface="B Titr" panose="00000700000000000000" pitchFamily="2" charset="-78"/>
              </a:rPr>
            </a:br>
            <a:r>
              <a:rPr lang="fa-IR" sz="1500" b="1" u="sng" dirty="0">
                <a:cs typeface="B Nazanin" panose="00000400000000000000" pitchFamily="2" charset="-78"/>
              </a:rPr>
              <a:t>موضوع:</a:t>
            </a:r>
            <a:r>
              <a:rPr lang="fa-IR" sz="1500" b="1" dirty="0">
                <a:cs typeface="B Nazanin" panose="00000400000000000000" pitchFamily="2" charset="-78"/>
              </a:rPr>
              <a:t> </a:t>
            </a:r>
            <a:r>
              <a:rPr lang="fa-IR" sz="1500" dirty="0">
                <a:cs typeface="B Nazanin" panose="00000400000000000000" pitchFamily="2" charset="-78"/>
              </a:rPr>
              <a:t>استانداردهای صنعت ساخت</a:t>
            </a:r>
            <a:br>
              <a:rPr lang="fa-IR" sz="750" dirty="0">
                <a:cs typeface="B Nazanin" panose="00000400000000000000" pitchFamily="2" charset="-78"/>
              </a:rPr>
            </a:br>
            <a:endParaRPr lang="en-US" sz="1500" dirty="0">
              <a:cs typeface="B Titr" panose="00000700000000000000" pitchFamily="2" charset="-78"/>
            </a:endParaRPr>
          </a:p>
        </p:txBody>
      </p:sp>
      <p:sp>
        <p:nvSpPr>
          <p:cNvPr id="3" name="Subtitle 2">
            <a:extLst>
              <a:ext uri="{FF2B5EF4-FFF2-40B4-BE49-F238E27FC236}">
                <a16:creationId xmlns:a16="http://schemas.microsoft.com/office/drawing/2014/main" id="{AFBE81C9-1041-9386-D3AD-C1D5B2FA952C}"/>
              </a:ext>
            </a:extLst>
          </p:cNvPr>
          <p:cNvSpPr>
            <a:spLocks noGrp="1"/>
          </p:cNvSpPr>
          <p:nvPr>
            <p:ph type="subTitle" idx="1"/>
          </p:nvPr>
        </p:nvSpPr>
        <p:spPr>
          <a:xfrm>
            <a:off x="1143000" y="2961409"/>
            <a:ext cx="6858000" cy="988622"/>
          </a:xfrm>
        </p:spPr>
        <p:txBody>
          <a:bodyPr/>
          <a:lstStyle/>
          <a:p>
            <a:r>
              <a:rPr lang="fa-IR" b="1" u="sng" dirty="0">
                <a:cs typeface="B Nazanin" panose="00000400000000000000" pitchFamily="2" charset="-78"/>
              </a:rPr>
              <a:t>نام و نام خانوادگی دانشجو:</a:t>
            </a:r>
            <a:r>
              <a:rPr lang="fa-IR" dirty="0">
                <a:cs typeface="B Nazanin" panose="00000400000000000000" pitchFamily="2" charset="-78"/>
              </a:rPr>
              <a:t> محمدرضا نادری</a:t>
            </a:r>
          </a:p>
          <a:p>
            <a:r>
              <a:rPr lang="fa-IR" b="1" u="sng" dirty="0">
                <a:cs typeface="B Nazanin" panose="00000400000000000000" pitchFamily="2" charset="-78"/>
              </a:rPr>
              <a:t>استاد:</a:t>
            </a:r>
            <a:r>
              <a:rPr lang="fa-IR" dirty="0">
                <a:cs typeface="B Nazanin" panose="00000400000000000000" pitchFamily="2" charset="-78"/>
              </a:rPr>
              <a:t> دکتر مصطفی نجفی</a:t>
            </a:r>
          </a:p>
          <a:p>
            <a:endParaRPr lang="fa-IR" dirty="0">
              <a:cs typeface="B Nazanin" panose="00000400000000000000" pitchFamily="2" charset="-78"/>
            </a:endParaRPr>
          </a:p>
          <a:p>
            <a:endParaRPr lang="fa-IR" dirty="0">
              <a:cs typeface="B Nazanin" panose="00000400000000000000" pitchFamily="2" charset="-78"/>
            </a:endParaRPr>
          </a:p>
          <a:p>
            <a:endParaRPr lang="en-US" dirty="0">
              <a:cs typeface="B Nazanin" panose="00000400000000000000" pitchFamily="2" charset="-78"/>
            </a:endParaRPr>
          </a:p>
        </p:txBody>
      </p:sp>
      <p:pic>
        <p:nvPicPr>
          <p:cNvPr id="7" name="Picture 6">
            <a:extLst>
              <a:ext uri="{FF2B5EF4-FFF2-40B4-BE49-F238E27FC236}">
                <a16:creationId xmlns:a16="http://schemas.microsoft.com/office/drawing/2014/main" id="{824B0CAB-A9F6-FA8A-0BCB-0C69178749D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02746" y="1299798"/>
            <a:ext cx="1014010" cy="942229"/>
          </a:xfrm>
          <a:prstGeom prst="rect">
            <a:avLst/>
          </a:prstGeom>
        </p:spPr>
      </p:pic>
      <p:pic>
        <p:nvPicPr>
          <p:cNvPr id="9" name="Picture 8">
            <a:extLst>
              <a:ext uri="{FF2B5EF4-FFF2-40B4-BE49-F238E27FC236}">
                <a16:creationId xmlns:a16="http://schemas.microsoft.com/office/drawing/2014/main" id="{096BD892-23D3-11DF-3693-EBFD5FF3D6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59436" y="1193470"/>
            <a:ext cx="1378280" cy="1378280"/>
          </a:xfrm>
          <a:prstGeom prst="rect">
            <a:avLst/>
          </a:prstGeom>
          <a:ln>
            <a:noFill/>
          </a:ln>
          <a:effectLst>
            <a:outerShdw blurRad="292100" dist="139700" dir="2700000" algn="tl" rotWithShape="0">
              <a:srgbClr val="333333">
                <a:alpha val="65000"/>
              </a:srgbClr>
            </a:outerShdw>
          </a:effectLst>
        </p:spPr>
      </p:pic>
      <p:sp>
        <p:nvSpPr>
          <p:cNvPr id="10" name="Subtitle 2">
            <a:extLst>
              <a:ext uri="{FF2B5EF4-FFF2-40B4-BE49-F238E27FC236}">
                <a16:creationId xmlns:a16="http://schemas.microsoft.com/office/drawing/2014/main" id="{3FBE9DE3-BBF0-170C-1E5E-3A2C2BF5A8DA}"/>
              </a:ext>
            </a:extLst>
          </p:cNvPr>
          <p:cNvSpPr txBox="1">
            <a:spLocks/>
          </p:cNvSpPr>
          <p:nvPr/>
        </p:nvSpPr>
        <p:spPr>
          <a:xfrm>
            <a:off x="1257300" y="4346368"/>
            <a:ext cx="6858000" cy="614549"/>
          </a:xfrm>
          <a:prstGeom prst="rect">
            <a:avLst/>
          </a:prstGeom>
        </p:spPr>
        <p:txBody>
          <a:bodyPr vert="horz" lIns="68580" tIns="34290" rIns="68580" bIns="34290" rtlCol="0" anchor="t">
            <a:normAutofit/>
          </a:bodyPr>
          <a:lstStyle>
            <a:lvl1pPr marL="0" indent="0" algn="ctr" defTabSz="457200" rtl="0" eaLnBrk="1" latinLnBrk="0" hangingPunct="1">
              <a:spcBef>
                <a:spcPct val="20000"/>
              </a:spcBef>
              <a:spcAft>
                <a:spcPts val="600"/>
              </a:spcAft>
              <a:buClr>
                <a:schemeClr val="accent1"/>
              </a:buClr>
              <a:buSzPct val="11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buClr>
              <a:buSzPct val="11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buClr>
              <a:buSzPct val="11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buClr>
              <a:buSzPct val="11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buClr>
              <a:buSzPct val="11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buClr>
              <a:buSzPct val="11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buClr>
              <a:buSzPct val="11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buClr>
              <a:buSzPct val="11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buClr>
              <a:buSzPct val="115000"/>
              <a:buFont typeface="Arial"/>
              <a:buNone/>
              <a:defRPr sz="1400" kern="1200" cap="none">
                <a:solidFill>
                  <a:schemeClr val="tx1">
                    <a:tint val="75000"/>
                  </a:schemeClr>
                </a:solidFill>
                <a:effectLst/>
                <a:latin typeface="+mn-lt"/>
                <a:ea typeface="+mn-ea"/>
                <a:cs typeface="+mn-cs"/>
              </a:defRPr>
            </a:lvl9pPr>
          </a:lstStyle>
          <a:p>
            <a:pPr defTabSz="342900" rtl="1">
              <a:spcAft>
                <a:spcPts val="450"/>
              </a:spcAft>
              <a:buClr>
                <a:srgbClr val="83992A"/>
              </a:buClr>
            </a:pPr>
            <a:r>
              <a:rPr lang="fa-IR" sz="1200" b="1" u="sng" dirty="0">
                <a:solidFill>
                  <a:prstClr val="black"/>
                </a:solidFill>
                <a:latin typeface="Garamond" panose="02020404030301010803"/>
                <a:cs typeface="B Nazanin" panose="00000400000000000000" pitchFamily="2" charset="-78"/>
              </a:rPr>
              <a:t>منبع:</a:t>
            </a:r>
            <a:r>
              <a:rPr lang="fa-IR" sz="1350" dirty="0">
                <a:solidFill>
                  <a:prstClr val="black"/>
                </a:solidFill>
                <a:latin typeface="Garamond" panose="02020404030301010803"/>
                <a:cs typeface="B Nazanin" panose="00000400000000000000" pitchFamily="2" charset="-78"/>
              </a:rPr>
              <a:t> </a:t>
            </a:r>
            <a:r>
              <a:rPr lang="en-US" sz="1200" dirty="0">
                <a:solidFill>
                  <a:prstClr val="black"/>
                </a:solidFill>
                <a:latin typeface="Calibri" panose="020F0502020204030204" pitchFamily="34" charset="0"/>
                <a:cs typeface="Calibri" panose="020F0502020204030204" pitchFamily="34" charset="0"/>
              </a:rPr>
              <a:t>DrMostafaNajafi.ir</a:t>
            </a:r>
            <a:endParaRPr lang="fa-IR" sz="1200" dirty="0">
              <a:solidFill>
                <a:prstClr val="black"/>
              </a:solidFill>
              <a:latin typeface="Calibri" panose="020F0502020204030204" pitchFamily="34" charset="0"/>
              <a:cs typeface="Calibri" panose="020F0502020204030204" pitchFamily="34" charset="0"/>
            </a:endParaRPr>
          </a:p>
          <a:p>
            <a:pPr defTabSz="342900" rtl="1">
              <a:spcAft>
                <a:spcPts val="450"/>
              </a:spcAft>
              <a:buClr>
                <a:srgbClr val="83992A"/>
              </a:buClr>
            </a:pPr>
            <a:r>
              <a:rPr lang="fa-IR" sz="1200" b="1" dirty="0">
                <a:solidFill>
                  <a:prstClr val="black"/>
                </a:solidFill>
                <a:latin typeface="Calibri" panose="020F0502020204030204" pitchFamily="34" charset="0"/>
                <a:cs typeface="B Nazanin" panose="00000400000000000000" pitchFamily="2" charset="-78"/>
              </a:rPr>
              <a:t>پاییز 1402</a:t>
            </a:r>
            <a:endParaRPr lang="en-US" sz="1500" b="1" dirty="0">
              <a:solidFill>
                <a:prstClr val="black"/>
              </a:solidFill>
              <a:latin typeface="Calibri" panose="020F0502020204030204" pitchFamily="34" charset="0"/>
              <a:cs typeface="B Nazanin" panose="00000400000000000000" pitchFamily="2" charset="-78"/>
            </a:endParaRPr>
          </a:p>
        </p:txBody>
      </p:sp>
      <p:sp>
        <p:nvSpPr>
          <p:cNvPr id="11" name="Title 1">
            <a:extLst>
              <a:ext uri="{FF2B5EF4-FFF2-40B4-BE49-F238E27FC236}">
                <a16:creationId xmlns:a16="http://schemas.microsoft.com/office/drawing/2014/main" id="{DA4EBB90-D76E-7DE5-ACD1-0305A65836CF}"/>
              </a:ext>
            </a:extLst>
          </p:cNvPr>
          <p:cNvSpPr txBox="1">
            <a:spLocks/>
          </p:cNvSpPr>
          <p:nvPr/>
        </p:nvSpPr>
        <p:spPr>
          <a:xfrm>
            <a:off x="5576795" y="2198544"/>
            <a:ext cx="1865911" cy="371975"/>
          </a:xfrm>
          <a:prstGeom prst="rect">
            <a:avLst/>
          </a:prstGeom>
          <a:effectLst/>
        </p:spPr>
        <p:txBody>
          <a:bodyPr vert="horz" lIns="68580" tIns="34290" rIns="68580" bIns="34290" rtlCol="0" anchor="b">
            <a:normAutofit/>
          </a:bodyPr>
          <a:lstStyle>
            <a:lvl1pPr algn="ctr" defTabSz="457200" rtl="0" eaLnBrk="1" latinLnBrk="0" hangingPunct="1">
              <a:spcBef>
                <a:spcPct val="0"/>
              </a:spcBef>
              <a:buNone/>
              <a:defRPr sz="5400" kern="1200" cap="none">
                <a:ln w="3175" cmpd="sng">
                  <a:noFill/>
                </a:ln>
                <a:solidFill>
                  <a:schemeClr val="tx1">
                    <a:lumMod val="85000"/>
                    <a:lumOff val="15000"/>
                  </a:schemeClr>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pPr defTabSz="342900">
              <a:buClrTx/>
            </a:pPr>
            <a:r>
              <a:rPr lang="fa-IR" sz="1200" dirty="0">
                <a:solidFill>
                  <a:prstClr val="black">
                    <a:lumMod val="85000"/>
                    <a:lumOff val="15000"/>
                  </a:prstClr>
                </a:solidFill>
                <a:latin typeface="Garamond" panose="02020404030301010803"/>
                <a:cs typeface="B Nazanin" panose="00000400000000000000" pitchFamily="2" charset="-78"/>
              </a:rPr>
              <a:t>گروه مهندسی معماری</a:t>
            </a:r>
            <a:endParaRPr lang="en-US" sz="1200" dirty="0">
              <a:solidFill>
                <a:prstClr val="black">
                  <a:lumMod val="85000"/>
                  <a:lumOff val="15000"/>
                </a:prstClr>
              </a:solidFill>
              <a:latin typeface="Garamond" panose="02020404030301010803"/>
              <a:cs typeface="B Nazanin" panose="00000400000000000000" pitchFamily="2" charset="-78"/>
            </a:endParaRPr>
          </a:p>
        </p:txBody>
      </p:sp>
    </p:spTree>
    <p:extLst>
      <p:ext uri="{BB962C8B-B14F-4D97-AF65-F5344CB8AC3E}">
        <p14:creationId xmlns:p14="http://schemas.microsoft.com/office/powerpoint/2010/main" val="215319902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25"/>
        <p:cNvGrpSpPr/>
        <p:nvPr/>
      </p:nvGrpSpPr>
      <p:grpSpPr>
        <a:xfrm>
          <a:off x="0" y="0"/>
          <a:ext cx="0" cy="0"/>
          <a:chOff x="0" y="0"/>
          <a:chExt cx="0" cy="0"/>
        </a:xfrm>
      </p:grpSpPr>
      <p:grpSp>
        <p:nvGrpSpPr>
          <p:cNvPr id="109" name="Group 108">
            <a:extLst>
              <a:ext uri="{FF2B5EF4-FFF2-40B4-BE49-F238E27FC236}">
                <a16:creationId xmlns:a16="http://schemas.microsoft.com/office/drawing/2014/main" id="{51A335C4-8158-42E2-AB07-436174A3C372}"/>
              </a:ext>
            </a:extLst>
          </p:cNvPr>
          <p:cNvGrpSpPr/>
          <p:nvPr/>
        </p:nvGrpSpPr>
        <p:grpSpPr>
          <a:xfrm>
            <a:off x="0" y="0"/>
            <a:ext cx="9144000" cy="5146418"/>
            <a:chOff x="0" y="0"/>
            <a:chExt cx="9144000" cy="5146418"/>
          </a:xfrm>
        </p:grpSpPr>
        <p:pic>
          <p:nvPicPr>
            <p:cNvPr id="110" name="Picture 109">
              <a:extLst>
                <a:ext uri="{FF2B5EF4-FFF2-40B4-BE49-F238E27FC236}">
                  <a16:creationId xmlns:a16="http://schemas.microsoft.com/office/drawing/2014/main" id="{620A3CD4-59BC-4EA4-8594-A814562F5172}"/>
                </a:ext>
              </a:extLst>
            </p:cNvPr>
            <p:cNvPicPr>
              <a:picLocks noChangeAspect="1"/>
            </p:cNvPicPr>
            <p:nvPr/>
          </p:nvPicPr>
          <p:blipFill>
            <a:blip r:embed="rId3"/>
            <a:stretch>
              <a:fillRect/>
            </a:stretch>
          </p:blipFill>
          <p:spPr>
            <a:xfrm>
              <a:off x="0" y="0"/>
              <a:ext cx="9144000" cy="5146418"/>
            </a:xfrm>
            <a:prstGeom prst="rect">
              <a:avLst/>
            </a:prstGeom>
          </p:spPr>
        </p:pic>
        <p:sp>
          <p:nvSpPr>
            <p:cNvPr id="111" name="Rectangle 110">
              <a:extLst>
                <a:ext uri="{FF2B5EF4-FFF2-40B4-BE49-F238E27FC236}">
                  <a16:creationId xmlns:a16="http://schemas.microsoft.com/office/drawing/2014/main" id="{83335F8B-D2BB-4203-B86D-B83D7B2107F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dirty="0"/>
            </a:p>
          </p:txBody>
        </p:sp>
      </p:grpSp>
      <p:grpSp>
        <p:nvGrpSpPr>
          <p:cNvPr id="7" name="Group 6">
            <a:extLst>
              <a:ext uri="{FF2B5EF4-FFF2-40B4-BE49-F238E27FC236}">
                <a16:creationId xmlns:a16="http://schemas.microsoft.com/office/drawing/2014/main" id="{5CF2FE11-0525-4ED4-B33A-F3CADD91DD5C}"/>
              </a:ext>
            </a:extLst>
          </p:cNvPr>
          <p:cNvGrpSpPr/>
          <p:nvPr/>
        </p:nvGrpSpPr>
        <p:grpSpPr>
          <a:xfrm>
            <a:off x="753527" y="1304612"/>
            <a:ext cx="2345400" cy="2345400"/>
            <a:chOff x="978203" y="1761812"/>
            <a:chExt cx="2345400" cy="2345400"/>
          </a:xfrm>
        </p:grpSpPr>
        <p:sp>
          <p:nvSpPr>
            <p:cNvPr id="65" name="Google Shape;427;p22">
              <a:extLst>
                <a:ext uri="{FF2B5EF4-FFF2-40B4-BE49-F238E27FC236}">
                  <a16:creationId xmlns:a16="http://schemas.microsoft.com/office/drawing/2014/main" id="{7D9C184F-338E-463F-B15F-09949747A3BE}"/>
                </a:ext>
              </a:extLst>
            </p:cNvPr>
            <p:cNvSpPr/>
            <p:nvPr/>
          </p:nvSpPr>
          <p:spPr>
            <a:xfrm rot="10800000">
              <a:off x="1120363" y="1951663"/>
              <a:ext cx="2067600" cy="2067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035F36C1-71D3-49F7-A4A0-C74FF2B05942}"/>
                </a:ext>
              </a:extLst>
            </p:cNvPr>
            <p:cNvGrpSpPr/>
            <p:nvPr/>
          </p:nvGrpSpPr>
          <p:grpSpPr>
            <a:xfrm>
              <a:off x="978203" y="1761812"/>
              <a:ext cx="2345400" cy="2345400"/>
              <a:chOff x="981463" y="1812763"/>
              <a:chExt cx="2345400" cy="2345400"/>
            </a:xfrm>
          </p:grpSpPr>
          <p:sp>
            <p:nvSpPr>
              <p:cNvPr id="64" name="Google Shape;426;p22">
                <a:extLst>
                  <a:ext uri="{FF2B5EF4-FFF2-40B4-BE49-F238E27FC236}">
                    <a16:creationId xmlns:a16="http://schemas.microsoft.com/office/drawing/2014/main" id="{2F60A5EC-6DF6-4AD1-B931-007CC71B9EA1}"/>
                  </a:ext>
                </a:extLst>
              </p:cNvPr>
              <p:cNvSpPr/>
              <p:nvPr/>
            </p:nvSpPr>
            <p:spPr>
              <a:xfrm rot="10800000">
                <a:off x="981463" y="1812763"/>
                <a:ext cx="2345400" cy="2345400"/>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428;p22">
                <a:extLst>
                  <a:ext uri="{FF2B5EF4-FFF2-40B4-BE49-F238E27FC236}">
                    <a16:creationId xmlns:a16="http://schemas.microsoft.com/office/drawing/2014/main" id="{317BC009-F546-4201-979E-437B7480D85D}"/>
                  </a:ext>
                </a:extLst>
              </p:cNvPr>
              <p:cNvSpPr/>
              <p:nvPr/>
            </p:nvSpPr>
            <p:spPr>
              <a:xfrm flipH="1">
                <a:off x="1264663" y="2095963"/>
                <a:ext cx="1779000" cy="17790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7" name="Google Shape;429;p22">
            <a:extLst>
              <a:ext uri="{FF2B5EF4-FFF2-40B4-BE49-F238E27FC236}">
                <a16:creationId xmlns:a16="http://schemas.microsoft.com/office/drawing/2014/main" id="{E6FC0597-EE16-4045-B1EA-6098C720EB1C}"/>
              </a:ext>
            </a:extLst>
          </p:cNvPr>
          <p:cNvSpPr/>
          <p:nvPr/>
        </p:nvSpPr>
        <p:spPr>
          <a:xfrm>
            <a:off x="4139176" y="929448"/>
            <a:ext cx="3735606" cy="481200"/>
          </a:xfrm>
          <a:prstGeom prst="roundRect">
            <a:avLst>
              <a:gd name="adj" fmla="val 50000"/>
            </a:avLst>
          </a:prstGeom>
          <a:solidFill>
            <a:schemeClr val="accent1"/>
          </a:solidFill>
          <a:ln>
            <a:noFill/>
          </a:ln>
          <a:effectLst>
            <a:outerShdw blurRad="38100" sx="101000" sy="101000" algn="ctr" rotWithShape="0">
              <a:schemeClr val="tx1">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دانشجو : محمدرضا نادری</a:t>
            </a:r>
            <a:endParaRP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cxnSp>
        <p:nvCxnSpPr>
          <p:cNvPr id="68" name="Google Shape;430;p22">
            <a:extLst>
              <a:ext uri="{FF2B5EF4-FFF2-40B4-BE49-F238E27FC236}">
                <a16:creationId xmlns:a16="http://schemas.microsoft.com/office/drawing/2014/main" id="{9710CA17-802B-4933-989F-806259225A6F}"/>
              </a:ext>
            </a:extLst>
          </p:cNvPr>
          <p:cNvCxnSpPr>
            <a:cxnSpLocks/>
            <a:stCxn id="67" idx="1"/>
            <a:endCxn id="69" idx="6"/>
          </p:cNvCxnSpPr>
          <p:nvPr/>
        </p:nvCxnSpPr>
        <p:spPr>
          <a:xfrm flipH="1">
            <a:off x="2728159" y="1170048"/>
            <a:ext cx="1411017" cy="359062"/>
          </a:xfrm>
          <a:prstGeom prst="straightConnector1">
            <a:avLst/>
          </a:prstGeom>
          <a:noFill/>
          <a:ln w="9525" cap="flat" cmpd="sng">
            <a:solidFill>
              <a:srgbClr val="000000"/>
            </a:solidFill>
            <a:prstDash val="solid"/>
            <a:round/>
            <a:headEnd type="none" w="med" len="med"/>
            <a:tailEnd type="none" w="med" len="med"/>
          </a:ln>
        </p:spPr>
      </p:cxnSp>
      <p:sp>
        <p:nvSpPr>
          <p:cNvPr id="69" name="Google Shape;431;p22">
            <a:extLst>
              <a:ext uri="{FF2B5EF4-FFF2-40B4-BE49-F238E27FC236}">
                <a16:creationId xmlns:a16="http://schemas.microsoft.com/office/drawing/2014/main" id="{FCCC6DD4-364F-440C-90EC-C8C08CDA6F95}"/>
              </a:ext>
            </a:extLst>
          </p:cNvPr>
          <p:cNvSpPr/>
          <p:nvPr/>
        </p:nvSpPr>
        <p:spPr>
          <a:xfrm>
            <a:off x="2634859" y="1482460"/>
            <a:ext cx="93300" cy="93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32;p22">
            <a:extLst>
              <a:ext uri="{FF2B5EF4-FFF2-40B4-BE49-F238E27FC236}">
                <a16:creationId xmlns:a16="http://schemas.microsoft.com/office/drawing/2014/main" id="{16A06FA2-A1CF-47AD-9B4C-2676F55A5F83}"/>
              </a:ext>
            </a:extLst>
          </p:cNvPr>
          <p:cNvSpPr/>
          <p:nvPr/>
        </p:nvSpPr>
        <p:spPr>
          <a:xfrm>
            <a:off x="4139176" y="1622640"/>
            <a:ext cx="3735606" cy="481200"/>
          </a:xfrm>
          <a:prstGeom prst="roundRect">
            <a:avLst>
              <a:gd name="adj" fmla="val 50000"/>
            </a:avLst>
          </a:prstGeom>
          <a:solidFill>
            <a:schemeClr val="accent2"/>
          </a:solidFill>
          <a:ln>
            <a:noFill/>
          </a:ln>
          <a:effectLst>
            <a:outerShdw blurRad="38100" sx="101000" sy="101000" algn="ctr" rotWithShape="0">
              <a:schemeClr val="tx1">
                <a:alpha val="40000"/>
              </a:schemeClr>
            </a:outerShdw>
          </a:effectLst>
        </p:spPr>
        <p:txBody>
          <a:bodyPr spcFirstLastPara="1" wrap="square" lIns="91425" tIns="91425" rIns="91425" bIns="91425" anchor="ctr" anchorCtr="0">
            <a:noAutofit/>
          </a:bodyPr>
          <a:lstStyle/>
          <a:p>
            <a:pPr lvl="0" algn="ctr">
              <a:buClr>
                <a:schemeClr val="dk1"/>
              </a:buClr>
              <a:buSzPts val="1100"/>
            </a:pPr>
            <a:r>
              <a:rPr lang="fa-I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عنوان : استانداردهای صنعت ساخت </a:t>
            </a:r>
          </a:p>
        </p:txBody>
      </p:sp>
      <p:cxnSp>
        <p:nvCxnSpPr>
          <p:cNvPr id="71" name="Google Shape;433;p22">
            <a:extLst>
              <a:ext uri="{FF2B5EF4-FFF2-40B4-BE49-F238E27FC236}">
                <a16:creationId xmlns:a16="http://schemas.microsoft.com/office/drawing/2014/main" id="{CC0A9E14-AC00-4162-BE0E-8443E6938922}"/>
              </a:ext>
            </a:extLst>
          </p:cNvPr>
          <p:cNvCxnSpPr>
            <a:cxnSpLocks/>
            <a:stCxn id="70" idx="1"/>
            <a:endCxn id="72" idx="6"/>
          </p:cNvCxnSpPr>
          <p:nvPr/>
        </p:nvCxnSpPr>
        <p:spPr>
          <a:xfrm flipH="1">
            <a:off x="3098927" y="1863240"/>
            <a:ext cx="1040249" cy="136859"/>
          </a:xfrm>
          <a:prstGeom prst="straightConnector1">
            <a:avLst/>
          </a:prstGeom>
          <a:noFill/>
          <a:ln w="9525" cap="flat" cmpd="sng">
            <a:solidFill>
              <a:srgbClr val="000000"/>
            </a:solidFill>
            <a:prstDash val="solid"/>
            <a:round/>
            <a:headEnd type="none" w="med" len="med"/>
            <a:tailEnd type="none" w="med" len="med"/>
          </a:ln>
        </p:spPr>
      </p:cxnSp>
      <p:sp>
        <p:nvSpPr>
          <p:cNvPr id="72" name="Google Shape;434;p22">
            <a:extLst>
              <a:ext uri="{FF2B5EF4-FFF2-40B4-BE49-F238E27FC236}">
                <a16:creationId xmlns:a16="http://schemas.microsoft.com/office/drawing/2014/main" id="{EDD2DE80-CAD1-449E-89EA-765CBE1DB68B}"/>
              </a:ext>
            </a:extLst>
          </p:cNvPr>
          <p:cNvSpPr/>
          <p:nvPr/>
        </p:nvSpPr>
        <p:spPr>
          <a:xfrm>
            <a:off x="3005627" y="1953449"/>
            <a:ext cx="93300" cy="93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435;p22">
            <a:extLst>
              <a:ext uri="{FF2B5EF4-FFF2-40B4-BE49-F238E27FC236}">
                <a16:creationId xmlns:a16="http://schemas.microsoft.com/office/drawing/2014/main" id="{563E0B77-B727-4CDB-881F-7807A9C7E028}"/>
              </a:ext>
            </a:extLst>
          </p:cNvPr>
          <p:cNvSpPr/>
          <p:nvPr/>
        </p:nvSpPr>
        <p:spPr>
          <a:xfrm>
            <a:off x="4139176" y="3008742"/>
            <a:ext cx="3735606" cy="481200"/>
          </a:xfrm>
          <a:prstGeom prst="roundRect">
            <a:avLst>
              <a:gd name="adj" fmla="val 50000"/>
            </a:avLst>
          </a:prstGeom>
          <a:solidFill>
            <a:schemeClr val="accent4"/>
          </a:solidFill>
          <a:ln>
            <a:noFill/>
          </a:ln>
          <a:effectLst>
            <a:outerShdw blurRad="38100" sx="101000" sy="101000" algn="ctr" rotWithShape="0">
              <a:schemeClr val="tx1">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استاد : دکتر مصطفی نجفی</a:t>
            </a:r>
            <a:endParaRP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cxnSp>
        <p:nvCxnSpPr>
          <p:cNvPr id="74" name="Google Shape;436;p22">
            <a:extLst>
              <a:ext uri="{FF2B5EF4-FFF2-40B4-BE49-F238E27FC236}">
                <a16:creationId xmlns:a16="http://schemas.microsoft.com/office/drawing/2014/main" id="{B9F87EC3-D1FB-4634-9CB2-5C5643E7F37B}"/>
              </a:ext>
            </a:extLst>
          </p:cNvPr>
          <p:cNvCxnSpPr>
            <a:cxnSpLocks/>
            <a:stCxn id="73" idx="1"/>
            <a:endCxn id="75" idx="6"/>
          </p:cNvCxnSpPr>
          <p:nvPr/>
        </p:nvCxnSpPr>
        <p:spPr>
          <a:xfrm flipH="1" flipV="1">
            <a:off x="3098927" y="3036940"/>
            <a:ext cx="1040249" cy="212402"/>
          </a:xfrm>
          <a:prstGeom prst="straightConnector1">
            <a:avLst/>
          </a:prstGeom>
          <a:noFill/>
          <a:ln w="9525" cap="flat" cmpd="sng">
            <a:solidFill>
              <a:srgbClr val="000000"/>
            </a:solidFill>
            <a:prstDash val="solid"/>
            <a:round/>
            <a:headEnd type="none" w="med" len="med"/>
            <a:tailEnd type="none" w="med" len="med"/>
          </a:ln>
        </p:spPr>
      </p:cxnSp>
      <p:sp>
        <p:nvSpPr>
          <p:cNvPr id="75" name="Google Shape;437;p22">
            <a:extLst>
              <a:ext uri="{FF2B5EF4-FFF2-40B4-BE49-F238E27FC236}">
                <a16:creationId xmlns:a16="http://schemas.microsoft.com/office/drawing/2014/main" id="{756F31D4-BCF4-40F8-AEEC-2451A979618E}"/>
              </a:ext>
            </a:extLst>
          </p:cNvPr>
          <p:cNvSpPr/>
          <p:nvPr/>
        </p:nvSpPr>
        <p:spPr>
          <a:xfrm>
            <a:off x="3005627" y="2990290"/>
            <a:ext cx="93300" cy="93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438;p22">
            <a:extLst>
              <a:ext uri="{FF2B5EF4-FFF2-40B4-BE49-F238E27FC236}">
                <a16:creationId xmlns:a16="http://schemas.microsoft.com/office/drawing/2014/main" id="{CB4F989F-846A-4BED-A0D3-75822DA4E4EC}"/>
              </a:ext>
            </a:extLst>
          </p:cNvPr>
          <p:cNvSpPr/>
          <p:nvPr/>
        </p:nvSpPr>
        <p:spPr>
          <a:xfrm>
            <a:off x="4139176" y="2315691"/>
            <a:ext cx="3735606" cy="481200"/>
          </a:xfrm>
          <a:prstGeom prst="roundRect">
            <a:avLst>
              <a:gd name="adj" fmla="val 50000"/>
            </a:avLst>
          </a:prstGeom>
          <a:solidFill>
            <a:schemeClr val="accent3"/>
          </a:solidFill>
          <a:ln>
            <a:noFill/>
          </a:ln>
          <a:effectLst>
            <a:outerShdw blurRad="38100" sx="101000" sy="101000" algn="ctr" rotWithShape="0">
              <a:schemeClr val="tx1">
                <a:alpha val="40000"/>
              </a:schemeClr>
            </a:outerShdw>
          </a:effectLst>
        </p:spPr>
        <p:txBody>
          <a:bodyPr spcFirstLastPara="1" wrap="square" lIns="91425" tIns="91425" rIns="91425" bIns="91425" anchor="ctr" anchorCtr="0">
            <a:noAutofit/>
          </a:bodyPr>
          <a:lstStyle/>
          <a:p>
            <a:pPr algn="ctr">
              <a:buClr>
                <a:schemeClr val="dk1"/>
              </a:buClr>
              <a:buSzPts val="1100"/>
            </a:pPr>
            <a:r>
              <a:rPr lang="fa-I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درس : مدیریت تشکیلات کارگاهی</a:t>
            </a:r>
          </a:p>
        </p:txBody>
      </p:sp>
      <p:cxnSp>
        <p:nvCxnSpPr>
          <p:cNvPr id="77" name="Google Shape;439;p22">
            <a:extLst>
              <a:ext uri="{FF2B5EF4-FFF2-40B4-BE49-F238E27FC236}">
                <a16:creationId xmlns:a16="http://schemas.microsoft.com/office/drawing/2014/main" id="{90E885F8-9613-4651-BA6E-CB17937CC078}"/>
              </a:ext>
            </a:extLst>
          </p:cNvPr>
          <p:cNvCxnSpPr>
            <a:cxnSpLocks/>
            <a:stCxn id="76" idx="1"/>
            <a:endCxn id="78" idx="6"/>
          </p:cNvCxnSpPr>
          <p:nvPr/>
        </p:nvCxnSpPr>
        <p:spPr>
          <a:xfrm flipH="1" flipV="1">
            <a:off x="3221397" y="2523962"/>
            <a:ext cx="917779" cy="32329"/>
          </a:xfrm>
          <a:prstGeom prst="straightConnector1">
            <a:avLst/>
          </a:prstGeom>
          <a:noFill/>
          <a:ln w="9525" cap="flat" cmpd="sng">
            <a:solidFill>
              <a:srgbClr val="000000"/>
            </a:solidFill>
            <a:prstDash val="solid"/>
            <a:round/>
            <a:headEnd type="none" w="med" len="med"/>
            <a:tailEnd type="none" w="med" len="med"/>
          </a:ln>
        </p:spPr>
      </p:cxnSp>
      <p:sp>
        <p:nvSpPr>
          <p:cNvPr id="78" name="Google Shape;440;p22">
            <a:extLst>
              <a:ext uri="{FF2B5EF4-FFF2-40B4-BE49-F238E27FC236}">
                <a16:creationId xmlns:a16="http://schemas.microsoft.com/office/drawing/2014/main" id="{B64EA5E8-1493-4E43-BCBE-4E04F1FBAEA7}"/>
              </a:ext>
            </a:extLst>
          </p:cNvPr>
          <p:cNvSpPr/>
          <p:nvPr/>
        </p:nvSpPr>
        <p:spPr>
          <a:xfrm>
            <a:off x="3128097" y="2477312"/>
            <a:ext cx="93300" cy="93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441;p22">
            <a:extLst>
              <a:ext uri="{FF2B5EF4-FFF2-40B4-BE49-F238E27FC236}">
                <a16:creationId xmlns:a16="http://schemas.microsoft.com/office/drawing/2014/main" id="{B55397EB-E7BA-4164-BCB2-CBE7524A8D1C}"/>
              </a:ext>
            </a:extLst>
          </p:cNvPr>
          <p:cNvSpPr/>
          <p:nvPr/>
        </p:nvSpPr>
        <p:spPr>
          <a:xfrm>
            <a:off x="4139176" y="3701793"/>
            <a:ext cx="3735606" cy="481200"/>
          </a:xfrm>
          <a:prstGeom prst="roundRect">
            <a:avLst>
              <a:gd name="adj" fmla="val 50000"/>
            </a:avLst>
          </a:prstGeom>
          <a:solidFill>
            <a:schemeClr val="accent5"/>
          </a:solidFill>
          <a:ln>
            <a:noFill/>
          </a:ln>
          <a:effectLst>
            <a:outerShdw blurRad="38100" sx="101000" sy="101000" algn="ctr" rotWithShape="0">
              <a:schemeClr val="tx1">
                <a:alpha val="40000"/>
              </a:scheme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تاریخ ارائه : 1402/07/25</a:t>
            </a:r>
            <a:endParaRPr sz="17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cxnSp>
        <p:nvCxnSpPr>
          <p:cNvPr id="80" name="Google Shape;442;p22">
            <a:extLst>
              <a:ext uri="{FF2B5EF4-FFF2-40B4-BE49-F238E27FC236}">
                <a16:creationId xmlns:a16="http://schemas.microsoft.com/office/drawing/2014/main" id="{15CBA7E3-6358-492C-AD15-3DCFFB06CCEC}"/>
              </a:ext>
            </a:extLst>
          </p:cNvPr>
          <p:cNvCxnSpPr>
            <a:cxnSpLocks/>
            <a:stCxn id="79" idx="1"/>
            <a:endCxn id="81" idx="6"/>
          </p:cNvCxnSpPr>
          <p:nvPr/>
        </p:nvCxnSpPr>
        <p:spPr>
          <a:xfrm flipH="1" flipV="1">
            <a:off x="2681509" y="3514046"/>
            <a:ext cx="1457667" cy="428347"/>
          </a:xfrm>
          <a:prstGeom prst="straightConnector1">
            <a:avLst/>
          </a:prstGeom>
          <a:noFill/>
          <a:ln w="9525" cap="flat" cmpd="sng">
            <a:solidFill>
              <a:srgbClr val="000000"/>
            </a:solidFill>
            <a:prstDash val="solid"/>
            <a:round/>
            <a:headEnd type="none" w="med" len="med"/>
            <a:tailEnd type="none" w="med" len="med"/>
          </a:ln>
        </p:spPr>
      </p:cxnSp>
      <p:sp>
        <p:nvSpPr>
          <p:cNvPr id="81" name="Google Shape;443;p22">
            <a:extLst>
              <a:ext uri="{FF2B5EF4-FFF2-40B4-BE49-F238E27FC236}">
                <a16:creationId xmlns:a16="http://schemas.microsoft.com/office/drawing/2014/main" id="{01A10F01-D016-488C-8E2A-53F7035C5D03}"/>
              </a:ext>
            </a:extLst>
          </p:cNvPr>
          <p:cNvSpPr/>
          <p:nvPr/>
        </p:nvSpPr>
        <p:spPr>
          <a:xfrm>
            <a:off x="2588209" y="3467396"/>
            <a:ext cx="93300" cy="933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5;p16">
            <a:extLst>
              <a:ext uri="{FF2B5EF4-FFF2-40B4-BE49-F238E27FC236}">
                <a16:creationId xmlns:a16="http://schemas.microsoft.com/office/drawing/2014/main" id="{8A152B9E-ED84-43E5-8713-47692754394D}"/>
              </a:ext>
            </a:extLst>
          </p:cNvPr>
          <p:cNvSpPr/>
          <p:nvPr/>
        </p:nvSpPr>
        <p:spPr>
          <a:xfrm>
            <a:off x="955483" y="-814280"/>
            <a:ext cx="488302" cy="48860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 name="Google Shape;104;p16">
            <a:extLst>
              <a:ext uri="{FF2B5EF4-FFF2-40B4-BE49-F238E27FC236}">
                <a16:creationId xmlns:a16="http://schemas.microsoft.com/office/drawing/2014/main" id="{9F6D73F6-400D-45CF-B378-9DA45C8867F3}"/>
              </a:ext>
            </a:extLst>
          </p:cNvPr>
          <p:cNvSpPr/>
          <p:nvPr/>
        </p:nvSpPr>
        <p:spPr>
          <a:xfrm>
            <a:off x="5120261" y="-814280"/>
            <a:ext cx="488302" cy="48860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 name="Google Shape;113;p16">
            <a:extLst>
              <a:ext uri="{FF2B5EF4-FFF2-40B4-BE49-F238E27FC236}">
                <a16:creationId xmlns:a16="http://schemas.microsoft.com/office/drawing/2014/main" id="{AA0C3791-2BEE-42F7-AEA8-DE6C1604B1E8}"/>
              </a:ext>
            </a:extLst>
          </p:cNvPr>
          <p:cNvSpPr/>
          <p:nvPr/>
        </p:nvSpPr>
        <p:spPr>
          <a:xfrm>
            <a:off x="2343742" y="-814280"/>
            <a:ext cx="488302" cy="48860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 name="Google Shape;122;p16">
            <a:extLst>
              <a:ext uri="{FF2B5EF4-FFF2-40B4-BE49-F238E27FC236}">
                <a16:creationId xmlns:a16="http://schemas.microsoft.com/office/drawing/2014/main" id="{BC9759AF-3619-4938-8DA4-CF2229756C1B}"/>
              </a:ext>
            </a:extLst>
          </p:cNvPr>
          <p:cNvSpPr/>
          <p:nvPr/>
        </p:nvSpPr>
        <p:spPr>
          <a:xfrm>
            <a:off x="3732001" y="-814280"/>
            <a:ext cx="488302" cy="48860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9" name="Google Shape;95;p16">
            <a:extLst>
              <a:ext uri="{FF2B5EF4-FFF2-40B4-BE49-F238E27FC236}">
                <a16:creationId xmlns:a16="http://schemas.microsoft.com/office/drawing/2014/main" id="{10EA2698-0925-48A2-9DC8-D2EC3B8DA078}"/>
              </a:ext>
            </a:extLst>
          </p:cNvPr>
          <p:cNvSpPr/>
          <p:nvPr/>
        </p:nvSpPr>
        <p:spPr>
          <a:xfrm>
            <a:off x="6391228" y="-839281"/>
            <a:ext cx="488302" cy="488605"/>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 name="Google Shape;113;p16">
            <a:extLst>
              <a:ext uri="{FF2B5EF4-FFF2-40B4-BE49-F238E27FC236}">
                <a16:creationId xmlns:a16="http://schemas.microsoft.com/office/drawing/2014/main" id="{73F1E7B5-F213-412D-AA70-38180C6F3D39}"/>
              </a:ext>
            </a:extLst>
          </p:cNvPr>
          <p:cNvSpPr/>
          <p:nvPr/>
        </p:nvSpPr>
        <p:spPr>
          <a:xfrm>
            <a:off x="7779487" y="-839281"/>
            <a:ext cx="488302" cy="488605"/>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pic>
        <p:nvPicPr>
          <p:cNvPr id="5" name="Picture 4">
            <a:extLst>
              <a:ext uri="{FF2B5EF4-FFF2-40B4-BE49-F238E27FC236}">
                <a16:creationId xmlns:a16="http://schemas.microsoft.com/office/drawing/2014/main" id="{034C47BE-E754-5D3E-5827-680D8AAD478A}"/>
              </a:ext>
            </a:extLst>
          </p:cNvPr>
          <p:cNvPicPr>
            <a:picLocks noChangeAspect="1"/>
          </p:cNvPicPr>
          <p:nvPr/>
        </p:nvPicPr>
        <p:blipFill>
          <a:blip r:embed="rId4"/>
          <a:stretch>
            <a:fillRect/>
          </a:stretch>
        </p:blipFill>
        <p:spPr>
          <a:xfrm>
            <a:off x="1262198" y="1846740"/>
            <a:ext cx="1345893" cy="1251260"/>
          </a:xfrm>
          <a:prstGeom prst="rect">
            <a:avLst/>
          </a:prstGeom>
        </p:spPr>
      </p:pic>
    </p:spTree>
    <p:extLst>
      <p:ext uri="{BB962C8B-B14F-4D97-AF65-F5344CB8AC3E}">
        <p14:creationId xmlns:p14="http://schemas.microsoft.com/office/powerpoint/2010/main" val="14959484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out)">
                                      <p:cBhvr>
                                        <p:cTn id="7" dur="2000"/>
                                        <p:tgtEl>
                                          <p:spTgt spid="7"/>
                                        </p:tgtEl>
                                      </p:cBhvr>
                                    </p:animEffect>
                                  </p:childTnLst>
                                </p:cTn>
                              </p:par>
                            </p:childTnLst>
                          </p:cTn>
                        </p:par>
                        <p:par>
                          <p:cTn id="8" fill="hold">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fade">
                                      <p:cBhvr>
                                        <p:cTn id="11" dur="500"/>
                                        <p:tgtEl>
                                          <p:spTgt spid="69"/>
                                        </p:tgtEl>
                                      </p:cBhvr>
                                    </p:animEffect>
                                  </p:childTnLst>
                                </p:cTn>
                              </p:par>
                              <p:par>
                                <p:cTn id="12" presetID="22" presetClass="entr" presetSubtype="8" fill="hold"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wipe(left)">
                                      <p:cBhvr>
                                        <p:cTn id="14" dur="500"/>
                                        <p:tgtEl>
                                          <p:spTgt spid="68"/>
                                        </p:tgtEl>
                                      </p:cBhvr>
                                    </p:animEffect>
                                  </p:childTnLst>
                                </p:cTn>
                              </p:par>
                            </p:childTnLst>
                          </p:cTn>
                        </p:par>
                        <p:par>
                          <p:cTn id="15" fill="hold">
                            <p:stCondLst>
                              <p:cond delay="2500"/>
                            </p:stCondLst>
                            <p:childTnLst>
                              <p:par>
                                <p:cTn id="16" presetID="41" presetClass="entr" presetSubtype="0" fill="hold" grpId="1" nodeType="afterEffect">
                                  <p:stCondLst>
                                    <p:cond delay="0"/>
                                  </p:stCondLst>
                                  <p:iterate type="lt">
                                    <p:tmPct val="10000"/>
                                  </p:iterate>
                                  <p:childTnLst>
                                    <p:set>
                                      <p:cBhvr>
                                        <p:cTn id="17" dur="1" fill="hold">
                                          <p:stCondLst>
                                            <p:cond delay="0"/>
                                          </p:stCondLst>
                                        </p:cTn>
                                        <p:tgtEl>
                                          <p:spTgt spid="67"/>
                                        </p:tgtEl>
                                        <p:attrNameLst>
                                          <p:attrName>style.visibility</p:attrName>
                                        </p:attrNameLst>
                                      </p:cBhvr>
                                      <p:to>
                                        <p:strVal val="visible"/>
                                      </p:to>
                                    </p:set>
                                    <p:anim calcmode="lin" valueType="num">
                                      <p:cBhvr>
                                        <p:cTn id="18" dur="500" fill="hold"/>
                                        <p:tgtEl>
                                          <p:spTgt spid="67"/>
                                        </p:tgtEl>
                                        <p:attrNameLst>
                                          <p:attrName>ppt_x</p:attrName>
                                        </p:attrNameLst>
                                      </p:cBhvr>
                                      <p:tavLst>
                                        <p:tav tm="0">
                                          <p:val>
                                            <p:strVal val="#ppt_x"/>
                                          </p:val>
                                        </p:tav>
                                        <p:tav tm="50000">
                                          <p:val>
                                            <p:strVal val="#ppt_x+.1"/>
                                          </p:val>
                                        </p:tav>
                                        <p:tav tm="100000">
                                          <p:val>
                                            <p:strVal val="#ppt_x"/>
                                          </p:val>
                                        </p:tav>
                                      </p:tavLst>
                                    </p:anim>
                                    <p:anim calcmode="lin" valueType="num">
                                      <p:cBhvr>
                                        <p:cTn id="19" dur="500" fill="hold"/>
                                        <p:tgtEl>
                                          <p:spTgt spid="67"/>
                                        </p:tgtEl>
                                        <p:attrNameLst>
                                          <p:attrName>ppt_y</p:attrName>
                                        </p:attrNameLst>
                                      </p:cBhvr>
                                      <p:tavLst>
                                        <p:tav tm="0">
                                          <p:val>
                                            <p:strVal val="#ppt_y"/>
                                          </p:val>
                                        </p:tav>
                                        <p:tav tm="100000">
                                          <p:val>
                                            <p:strVal val="#ppt_y"/>
                                          </p:val>
                                        </p:tav>
                                      </p:tavLst>
                                    </p:anim>
                                    <p:anim calcmode="lin" valueType="num">
                                      <p:cBhvr>
                                        <p:cTn id="20" dur="500" fill="hold"/>
                                        <p:tgtEl>
                                          <p:spTgt spid="67"/>
                                        </p:tgtEl>
                                        <p:attrNameLst>
                                          <p:attrName>ppt_h</p:attrName>
                                        </p:attrNameLst>
                                      </p:cBhvr>
                                      <p:tavLst>
                                        <p:tav tm="0">
                                          <p:val>
                                            <p:strVal val="#ppt_h/10"/>
                                          </p:val>
                                        </p:tav>
                                        <p:tav tm="50000">
                                          <p:val>
                                            <p:strVal val="#ppt_h+.01"/>
                                          </p:val>
                                        </p:tav>
                                        <p:tav tm="100000">
                                          <p:val>
                                            <p:strVal val="#ppt_h"/>
                                          </p:val>
                                        </p:tav>
                                      </p:tavLst>
                                    </p:anim>
                                    <p:anim calcmode="lin" valueType="num">
                                      <p:cBhvr>
                                        <p:cTn id="21" dur="500" fill="hold"/>
                                        <p:tgtEl>
                                          <p:spTgt spid="67"/>
                                        </p:tgtEl>
                                        <p:attrNameLst>
                                          <p:attrName>ppt_w</p:attrName>
                                        </p:attrNameLst>
                                      </p:cBhvr>
                                      <p:tavLst>
                                        <p:tav tm="0">
                                          <p:val>
                                            <p:strVal val="#ppt_w/10"/>
                                          </p:val>
                                        </p:tav>
                                        <p:tav tm="50000">
                                          <p:val>
                                            <p:strVal val="#ppt_w+.01"/>
                                          </p:val>
                                        </p:tav>
                                        <p:tav tm="100000">
                                          <p:val>
                                            <p:strVal val="#ppt_w"/>
                                          </p:val>
                                        </p:tav>
                                      </p:tavLst>
                                    </p:anim>
                                    <p:animEffect transition="in" filter="fade">
                                      <p:cBhvr>
                                        <p:cTn id="22" dur="500" tmFilter="0,0; .5, 1; 1, 1"/>
                                        <p:tgtEl>
                                          <p:spTgt spid="67"/>
                                        </p:tgtEl>
                                      </p:cBhvr>
                                    </p:animEffect>
                                  </p:childTnLst>
                                </p:cTn>
                              </p:par>
                            </p:childTnLst>
                          </p:cTn>
                        </p:par>
                        <p:par>
                          <p:cTn id="23" fill="hold">
                            <p:stCondLst>
                              <p:cond delay="3900"/>
                            </p:stCondLst>
                            <p:childTnLst>
                              <p:par>
                                <p:cTn id="24" presetID="10" presetClass="entr" presetSubtype="0" fill="hold" grpId="0" nodeType="afterEffect">
                                  <p:stCondLst>
                                    <p:cond delay="0"/>
                                  </p:stCondLst>
                                  <p:childTnLst>
                                    <p:set>
                                      <p:cBhvr>
                                        <p:cTn id="25" dur="1" fill="hold">
                                          <p:stCondLst>
                                            <p:cond delay="0"/>
                                          </p:stCondLst>
                                        </p:cTn>
                                        <p:tgtEl>
                                          <p:spTgt spid="72"/>
                                        </p:tgtEl>
                                        <p:attrNameLst>
                                          <p:attrName>style.visibility</p:attrName>
                                        </p:attrNameLst>
                                      </p:cBhvr>
                                      <p:to>
                                        <p:strVal val="visible"/>
                                      </p:to>
                                    </p:set>
                                    <p:animEffect transition="in" filter="fade">
                                      <p:cBhvr>
                                        <p:cTn id="26" dur="500"/>
                                        <p:tgtEl>
                                          <p:spTgt spid="72"/>
                                        </p:tgtEl>
                                      </p:cBhvr>
                                    </p:animEffect>
                                  </p:childTnLst>
                                </p:cTn>
                              </p:par>
                              <p:par>
                                <p:cTn id="27" presetID="22" presetClass="entr" presetSubtype="8" fill="hold" nodeType="withEffect">
                                  <p:stCondLst>
                                    <p:cond delay="0"/>
                                  </p:stCondLst>
                                  <p:childTnLst>
                                    <p:set>
                                      <p:cBhvr>
                                        <p:cTn id="28" dur="1" fill="hold">
                                          <p:stCondLst>
                                            <p:cond delay="0"/>
                                          </p:stCondLst>
                                        </p:cTn>
                                        <p:tgtEl>
                                          <p:spTgt spid="71"/>
                                        </p:tgtEl>
                                        <p:attrNameLst>
                                          <p:attrName>style.visibility</p:attrName>
                                        </p:attrNameLst>
                                      </p:cBhvr>
                                      <p:to>
                                        <p:strVal val="visible"/>
                                      </p:to>
                                    </p:set>
                                    <p:animEffect transition="in" filter="wipe(left)">
                                      <p:cBhvr>
                                        <p:cTn id="29" dur="500"/>
                                        <p:tgtEl>
                                          <p:spTgt spid="71"/>
                                        </p:tgtEl>
                                      </p:cBhvr>
                                    </p:animEffect>
                                  </p:childTnLst>
                                </p:cTn>
                              </p:par>
                            </p:childTnLst>
                          </p:cTn>
                        </p:par>
                        <p:par>
                          <p:cTn id="30" fill="hold">
                            <p:stCondLst>
                              <p:cond delay="4400"/>
                            </p:stCondLst>
                            <p:childTnLst>
                              <p:par>
                                <p:cTn id="31" presetID="41" presetClass="entr" presetSubtype="0" fill="hold" grpId="0" nodeType="afterEffect">
                                  <p:stCondLst>
                                    <p:cond delay="0"/>
                                  </p:stCondLst>
                                  <p:iterate type="lt">
                                    <p:tmPct val="10000"/>
                                  </p:iterate>
                                  <p:childTnLst>
                                    <p:set>
                                      <p:cBhvr>
                                        <p:cTn id="32" dur="1" fill="hold">
                                          <p:stCondLst>
                                            <p:cond delay="0"/>
                                          </p:stCondLst>
                                        </p:cTn>
                                        <p:tgtEl>
                                          <p:spTgt spid="70"/>
                                        </p:tgtEl>
                                        <p:attrNameLst>
                                          <p:attrName>style.visibility</p:attrName>
                                        </p:attrNameLst>
                                      </p:cBhvr>
                                      <p:to>
                                        <p:strVal val="visible"/>
                                      </p:to>
                                    </p:set>
                                    <p:anim calcmode="lin" valueType="num">
                                      <p:cBhvr>
                                        <p:cTn id="33" dur="500" fill="hold"/>
                                        <p:tgtEl>
                                          <p:spTgt spid="70"/>
                                        </p:tgtEl>
                                        <p:attrNameLst>
                                          <p:attrName>ppt_x</p:attrName>
                                        </p:attrNameLst>
                                      </p:cBhvr>
                                      <p:tavLst>
                                        <p:tav tm="0">
                                          <p:val>
                                            <p:strVal val="#ppt_x"/>
                                          </p:val>
                                        </p:tav>
                                        <p:tav tm="50000">
                                          <p:val>
                                            <p:strVal val="#ppt_x+.1"/>
                                          </p:val>
                                        </p:tav>
                                        <p:tav tm="100000">
                                          <p:val>
                                            <p:strVal val="#ppt_x"/>
                                          </p:val>
                                        </p:tav>
                                      </p:tavLst>
                                    </p:anim>
                                    <p:anim calcmode="lin" valueType="num">
                                      <p:cBhvr>
                                        <p:cTn id="34" dur="500" fill="hold"/>
                                        <p:tgtEl>
                                          <p:spTgt spid="70"/>
                                        </p:tgtEl>
                                        <p:attrNameLst>
                                          <p:attrName>ppt_y</p:attrName>
                                        </p:attrNameLst>
                                      </p:cBhvr>
                                      <p:tavLst>
                                        <p:tav tm="0">
                                          <p:val>
                                            <p:strVal val="#ppt_y"/>
                                          </p:val>
                                        </p:tav>
                                        <p:tav tm="100000">
                                          <p:val>
                                            <p:strVal val="#ppt_y"/>
                                          </p:val>
                                        </p:tav>
                                      </p:tavLst>
                                    </p:anim>
                                    <p:anim calcmode="lin" valueType="num">
                                      <p:cBhvr>
                                        <p:cTn id="35" dur="500" fill="hold"/>
                                        <p:tgtEl>
                                          <p:spTgt spid="70"/>
                                        </p:tgtEl>
                                        <p:attrNameLst>
                                          <p:attrName>ppt_h</p:attrName>
                                        </p:attrNameLst>
                                      </p:cBhvr>
                                      <p:tavLst>
                                        <p:tav tm="0">
                                          <p:val>
                                            <p:strVal val="#ppt_h/10"/>
                                          </p:val>
                                        </p:tav>
                                        <p:tav tm="50000">
                                          <p:val>
                                            <p:strVal val="#ppt_h+.01"/>
                                          </p:val>
                                        </p:tav>
                                        <p:tav tm="100000">
                                          <p:val>
                                            <p:strVal val="#ppt_h"/>
                                          </p:val>
                                        </p:tav>
                                      </p:tavLst>
                                    </p:anim>
                                    <p:anim calcmode="lin" valueType="num">
                                      <p:cBhvr>
                                        <p:cTn id="36" dur="500" fill="hold"/>
                                        <p:tgtEl>
                                          <p:spTgt spid="70"/>
                                        </p:tgtEl>
                                        <p:attrNameLst>
                                          <p:attrName>ppt_w</p:attrName>
                                        </p:attrNameLst>
                                      </p:cBhvr>
                                      <p:tavLst>
                                        <p:tav tm="0">
                                          <p:val>
                                            <p:strVal val="#ppt_w/10"/>
                                          </p:val>
                                        </p:tav>
                                        <p:tav tm="50000">
                                          <p:val>
                                            <p:strVal val="#ppt_w+.01"/>
                                          </p:val>
                                        </p:tav>
                                        <p:tav tm="100000">
                                          <p:val>
                                            <p:strVal val="#ppt_w"/>
                                          </p:val>
                                        </p:tav>
                                      </p:tavLst>
                                    </p:anim>
                                    <p:animEffect transition="in" filter="fade">
                                      <p:cBhvr>
                                        <p:cTn id="37" dur="500" tmFilter="0,0; .5, 1; 1, 1"/>
                                        <p:tgtEl>
                                          <p:spTgt spid="70"/>
                                        </p:tgtEl>
                                      </p:cBhvr>
                                    </p:animEffect>
                                  </p:childTnLst>
                                </p:cTn>
                              </p:par>
                            </p:childTnLst>
                          </p:cTn>
                        </p:par>
                        <p:par>
                          <p:cTn id="38" fill="hold">
                            <p:stCondLst>
                              <p:cond delay="6150"/>
                            </p:stCondLst>
                            <p:childTnLst>
                              <p:par>
                                <p:cTn id="39" presetID="10" presetClass="entr" presetSubtype="0" fill="hold" grpId="0" nodeType="afterEffect">
                                  <p:stCondLst>
                                    <p:cond delay="0"/>
                                  </p:stCondLst>
                                  <p:childTnLst>
                                    <p:set>
                                      <p:cBhvr>
                                        <p:cTn id="40" dur="1" fill="hold">
                                          <p:stCondLst>
                                            <p:cond delay="0"/>
                                          </p:stCondLst>
                                        </p:cTn>
                                        <p:tgtEl>
                                          <p:spTgt spid="78"/>
                                        </p:tgtEl>
                                        <p:attrNameLst>
                                          <p:attrName>style.visibility</p:attrName>
                                        </p:attrNameLst>
                                      </p:cBhvr>
                                      <p:to>
                                        <p:strVal val="visible"/>
                                      </p:to>
                                    </p:set>
                                    <p:animEffect transition="in" filter="fade">
                                      <p:cBhvr>
                                        <p:cTn id="41" dur="500"/>
                                        <p:tgtEl>
                                          <p:spTgt spid="78"/>
                                        </p:tgtEl>
                                      </p:cBhvr>
                                    </p:animEffect>
                                  </p:childTnLst>
                                </p:cTn>
                              </p:par>
                              <p:par>
                                <p:cTn id="42" presetID="22" presetClass="entr" presetSubtype="8" fill="hold" nodeType="withEffect">
                                  <p:stCondLst>
                                    <p:cond delay="0"/>
                                  </p:stCondLst>
                                  <p:childTnLst>
                                    <p:set>
                                      <p:cBhvr>
                                        <p:cTn id="43" dur="1" fill="hold">
                                          <p:stCondLst>
                                            <p:cond delay="0"/>
                                          </p:stCondLst>
                                        </p:cTn>
                                        <p:tgtEl>
                                          <p:spTgt spid="77"/>
                                        </p:tgtEl>
                                        <p:attrNameLst>
                                          <p:attrName>style.visibility</p:attrName>
                                        </p:attrNameLst>
                                      </p:cBhvr>
                                      <p:to>
                                        <p:strVal val="visible"/>
                                      </p:to>
                                    </p:set>
                                    <p:animEffect transition="in" filter="wipe(left)">
                                      <p:cBhvr>
                                        <p:cTn id="44" dur="500"/>
                                        <p:tgtEl>
                                          <p:spTgt spid="77"/>
                                        </p:tgtEl>
                                      </p:cBhvr>
                                    </p:animEffect>
                                  </p:childTnLst>
                                </p:cTn>
                              </p:par>
                            </p:childTnLst>
                          </p:cTn>
                        </p:par>
                        <p:par>
                          <p:cTn id="45" fill="hold">
                            <p:stCondLst>
                              <p:cond delay="6650"/>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76"/>
                                        </p:tgtEl>
                                        <p:attrNameLst>
                                          <p:attrName>style.visibility</p:attrName>
                                        </p:attrNameLst>
                                      </p:cBhvr>
                                      <p:to>
                                        <p:strVal val="visible"/>
                                      </p:to>
                                    </p:set>
                                    <p:anim calcmode="lin" valueType="num">
                                      <p:cBhvr>
                                        <p:cTn id="48" dur="500" fill="hold"/>
                                        <p:tgtEl>
                                          <p:spTgt spid="76"/>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76"/>
                                        </p:tgtEl>
                                        <p:attrNameLst>
                                          <p:attrName>ppt_y</p:attrName>
                                        </p:attrNameLst>
                                      </p:cBhvr>
                                      <p:tavLst>
                                        <p:tav tm="0">
                                          <p:val>
                                            <p:strVal val="#ppt_y"/>
                                          </p:val>
                                        </p:tav>
                                        <p:tav tm="100000">
                                          <p:val>
                                            <p:strVal val="#ppt_y"/>
                                          </p:val>
                                        </p:tav>
                                      </p:tavLst>
                                    </p:anim>
                                    <p:anim calcmode="lin" valueType="num">
                                      <p:cBhvr>
                                        <p:cTn id="50" dur="500" fill="hold"/>
                                        <p:tgtEl>
                                          <p:spTgt spid="76"/>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76"/>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76"/>
                                        </p:tgtEl>
                                      </p:cBhvr>
                                    </p:animEffect>
                                  </p:childTnLst>
                                </p:cTn>
                              </p:par>
                            </p:childTnLst>
                          </p:cTn>
                        </p:par>
                        <p:par>
                          <p:cTn id="53" fill="hold">
                            <p:stCondLst>
                              <p:cond delay="8300"/>
                            </p:stCondLst>
                            <p:childTnLst>
                              <p:par>
                                <p:cTn id="54" presetID="10" presetClass="entr" presetSubtype="0" fill="hold" grpId="0" nodeType="afterEffect">
                                  <p:stCondLst>
                                    <p:cond delay="0"/>
                                  </p:stCondLst>
                                  <p:childTnLst>
                                    <p:set>
                                      <p:cBhvr>
                                        <p:cTn id="55" dur="1" fill="hold">
                                          <p:stCondLst>
                                            <p:cond delay="0"/>
                                          </p:stCondLst>
                                        </p:cTn>
                                        <p:tgtEl>
                                          <p:spTgt spid="75"/>
                                        </p:tgtEl>
                                        <p:attrNameLst>
                                          <p:attrName>style.visibility</p:attrName>
                                        </p:attrNameLst>
                                      </p:cBhvr>
                                      <p:to>
                                        <p:strVal val="visible"/>
                                      </p:to>
                                    </p:set>
                                    <p:animEffect transition="in" filter="fade">
                                      <p:cBhvr>
                                        <p:cTn id="56" dur="500"/>
                                        <p:tgtEl>
                                          <p:spTgt spid="75"/>
                                        </p:tgtEl>
                                      </p:cBhvr>
                                    </p:animEffect>
                                  </p:childTnLst>
                                </p:cTn>
                              </p:par>
                              <p:par>
                                <p:cTn id="57" presetID="22" presetClass="entr" presetSubtype="8" fill="hold" nodeType="withEffect">
                                  <p:stCondLst>
                                    <p:cond delay="0"/>
                                  </p:stCondLst>
                                  <p:childTnLst>
                                    <p:set>
                                      <p:cBhvr>
                                        <p:cTn id="58" dur="1" fill="hold">
                                          <p:stCondLst>
                                            <p:cond delay="0"/>
                                          </p:stCondLst>
                                        </p:cTn>
                                        <p:tgtEl>
                                          <p:spTgt spid="74"/>
                                        </p:tgtEl>
                                        <p:attrNameLst>
                                          <p:attrName>style.visibility</p:attrName>
                                        </p:attrNameLst>
                                      </p:cBhvr>
                                      <p:to>
                                        <p:strVal val="visible"/>
                                      </p:to>
                                    </p:set>
                                    <p:animEffect transition="in" filter="wipe(left)">
                                      <p:cBhvr>
                                        <p:cTn id="59" dur="500"/>
                                        <p:tgtEl>
                                          <p:spTgt spid="74"/>
                                        </p:tgtEl>
                                      </p:cBhvr>
                                    </p:animEffect>
                                  </p:childTnLst>
                                </p:cTn>
                              </p:par>
                            </p:childTnLst>
                          </p:cTn>
                        </p:par>
                        <p:par>
                          <p:cTn id="60" fill="hold">
                            <p:stCondLst>
                              <p:cond delay="8800"/>
                            </p:stCondLst>
                            <p:childTnLst>
                              <p:par>
                                <p:cTn id="61" presetID="41" presetClass="entr" presetSubtype="0" fill="hold" grpId="0" nodeType="afterEffect">
                                  <p:stCondLst>
                                    <p:cond delay="0"/>
                                  </p:stCondLst>
                                  <p:iterate type="lt">
                                    <p:tmPct val="10000"/>
                                  </p:iterate>
                                  <p:childTnLst>
                                    <p:set>
                                      <p:cBhvr>
                                        <p:cTn id="62" dur="1" fill="hold">
                                          <p:stCondLst>
                                            <p:cond delay="0"/>
                                          </p:stCondLst>
                                        </p:cTn>
                                        <p:tgtEl>
                                          <p:spTgt spid="73"/>
                                        </p:tgtEl>
                                        <p:attrNameLst>
                                          <p:attrName>style.visibility</p:attrName>
                                        </p:attrNameLst>
                                      </p:cBhvr>
                                      <p:to>
                                        <p:strVal val="visible"/>
                                      </p:to>
                                    </p:set>
                                    <p:anim calcmode="lin" valueType="num">
                                      <p:cBhvr>
                                        <p:cTn id="63" dur="500" fill="hold"/>
                                        <p:tgtEl>
                                          <p:spTgt spid="73"/>
                                        </p:tgtEl>
                                        <p:attrNameLst>
                                          <p:attrName>ppt_x</p:attrName>
                                        </p:attrNameLst>
                                      </p:cBhvr>
                                      <p:tavLst>
                                        <p:tav tm="0">
                                          <p:val>
                                            <p:strVal val="#ppt_x"/>
                                          </p:val>
                                        </p:tav>
                                        <p:tav tm="50000">
                                          <p:val>
                                            <p:strVal val="#ppt_x+.1"/>
                                          </p:val>
                                        </p:tav>
                                        <p:tav tm="100000">
                                          <p:val>
                                            <p:strVal val="#ppt_x"/>
                                          </p:val>
                                        </p:tav>
                                      </p:tavLst>
                                    </p:anim>
                                    <p:anim calcmode="lin" valueType="num">
                                      <p:cBhvr>
                                        <p:cTn id="64" dur="500" fill="hold"/>
                                        <p:tgtEl>
                                          <p:spTgt spid="73"/>
                                        </p:tgtEl>
                                        <p:attrNameLst>
                                          <p:attrName>ppt_y</p:attrName>
                                        </p:attrNameLst>
                                      </p:cBhvr>
                                      <p:tavLst>
                                        <p:tav tm="0">
                                          <p:val>
                                            <p:strVal val="#ppt_y"/>
                                          </p:val>
                                        </p:tav>
                                        <p:tav tm="100000">
                                          <p:val>
                                            <p:strVal val="#ppt_y"/>
                                          </p:val>
                                        </p:tav>
                                      </p:tavLst>
                                    </p:anim>
                                    <p:anim calcmode="lin" valueType="num">
                                      <p:cBhvr>
                                        <p:cTn id="65" dur="500" fill="hold"/>
                                        <p:tgtEl>
                                          <p:spTgt spid="73"/>
                                        </p:tgtEl>
                                        <p:attrNameLst>
                                          <p:attrName>ppt_h</p:attrName>
                                        </p:attrNameLst>
                                      </p:cBhvr>
                                      <p:tavLst>
                                        <p:tav tm="0">
                                          <p:val>
                                            <p:strVal val="#ppt_h/10"/>
                                          </p:val>
                                        </p:tav>
                                        <p:tav tm="50000">
                                          <p:val>
                                            <p:strVal val="#ppt_h+.01"/>
                                          </p:val>
                                        </p:tav>
                                        <p:tav tm="100000">
                                          <p:val>
                                            <p:strVal val="#ppt_h"/>
                                          </p:val>
                                        </p:tav>
                                      </p:tavLst>
                                    </p:anim>
                                    <p:anim calcmode="lin" valueType="num">
                                      <p:cBhvr>
                                        <p:cTn id="66" dur="500" fill="hold"/>
                                        <p:tgtEl>
                                          <p:spTgt spid="73"/>
                                        </p:tgtEl>
                                        <p:attrNameLst>
                                          <p:attrName>ppt_w</p:attrName>
                                        </p:attrNameLst>
                                      </p:cBhvr>
                                      <p:tavLst>
                                        <p:tav tm="0">
                                          <p:val>
                                            <p:strVal val="#ppt_w/10"/>
                                          </p:val>
                                        </p:tav>
                                        <p:tav tm="50000">
                                          <p:val>
                                            <p:strVal val="#ppt_w+.01"/>
                                          </p:val>
                                        </p:tav>
                                        <p:tav tm="100000">
                                          <p:val>
                                            <p:strVal val="#ppt_w"/>
                                          </p:val>
                                        </p:tav>
                                      </p:tavLst>
                                    </p:anim>
                                    <p:animEffect transition="in" filter="fade">
                                      <p:cBhvr>
                                        <p:cTn id="67" dur="500" tmFilter="0,0; .5, 1; 1, 1"/>
                                        <p:tgtEl>
                                          <p:spTgt spid="73"/>
                                        </p:tgtEl>
                                      </p:cBhvr>
                                    </p:animEffect>
                                  </p:childTnLst>
                                </p:cTn>
                              </p:par>
                            </p:childTnLst>
                          </p:cTn>
                        </p:par>
                        <p:par>
                          <p:cTn id="68" fill="hold">
                            <p:stCondLst>
                              <p:cond delay="10200"/>
                            </p:stCondLst>
                            <p:childTnLst>
                              <p:par>
                                <p:cTn id="69" presetID="10" presetClass="entr" presetSubtype="0" fill="hold" grpId="0" nodeType="afterEffect">
                                  <p:stCondLst>
                                    <p:cond delay="0"/>
                                  </p:stCondLst>
                                  <p:childTnLst>
                                    <p:set>
                                      <p:cBhvr>
                                        <p:cTn id="70" dur="1" fill="hold">
                                          <p:stCondLst>
                                            <p:cond delay="0"/>
                                          </p:stCondLst>
                                        </p:cTn>
                                        <p:tgtEl>
                                          <p:spTgt spid="81"/>
                                        </p:tgtEl>
                                        <p:attrNameLst>
                                          <p:attrName>style.visibility</p:attrName>
                                        </p:attrNameLst>
                                      </p:cBhvr>
                                      <p:to>
                                        <p:strVal val="visible"/>
                                      </p:to>
                                    </p:set>
                                    <p:animEffect transition="in" filter="fade">
                                      <p:cBhvr>
                                        <p:cTn id="71" dur="500"/>
                                        <p:tgtEl>
                                          <p:spTgt spid="81"/>
                                        </p:tgtEl>
                                      </p:cBhvr>
                                    </p:animEffect>
                                  </p:childTnLst>
                                </p:cTn>
                              </p:par>
                              <p:par>
                                <p:cTn id="72" presetID="22" presetClass="entr" presetSubtype="8" fill="hold" nodeType="withEffect">
                                  <p:stCondLst>
                                    <p:cond delay="0"/>
                                  </p:stCondLst>
                                  <p:childTnLst>
                                    <p:set>
                                      <p:cBhvr>
                                        <p:cTn id="73" dur="1" fill="hold">
                                          <p:stCondLst>
                                            <p:cond delay="0"/>
                                          </p:stCondLst>
                                        </p:cTn>
                                        <p:tgtEl>
                                          <p:spTgt spid="80"/>
                                        </p:tgtEl>
                                        <p:attrNameLst>
                                          <p:attrName>style.visibility</p:attrName>
                                        </p:attrNameLst>
                                      </p:cBhvr>
                                      <p:to>
                                        <p:strVal val="visible"/>
                                      </p:to>
                                    </p:set>
                                    <p:animEffect transition="in" filter="wipe(left)">
                                      <p:cBhvr>
                                        <p:cTn id="74" dur="500"/>
                                        <p:tgtEl>
                                          <p:spTgt spid="80"/>
                                        </p:tgtEl>
                                      </p:cBhvr>
                                    </p:animEffect>
                                  </p:childTnLst>
                                </p:cTn>
                              </p:par>
                            </p:childTnLst>
                          </p:cTn>
                        </p:par>
                        <p:par>
                          <p:cTn id="75" fill="hold">
                            <p:stCondLst>
                              <p:cond delay="10700"/>
                            </p:stCondLst>
                            <p:childTnLst>
                              <p:par>
                                <p:cTn id="76" presetID="41" presetClass="entr" presetSubtype="0" fill="hold" grpId="0" nodeType="afterEffect">
                                  <p:stCondLst>
                                    <p:cond delay="0"/>
                                  </p:stCondLst>
                                  <p:iterate type="lt">
                                    <p:tmPct val="10000"/>
                                  </p:iterate>
                                  <p:childTnLst>
                                    <p:set>
                                      <p:cBhvr>
                                        <p:cTn id="77" dur="1" fill="hold">
                                          <p:stCondLst>
                                            <p:cond delay="0"/>
                                          </p:stCondLst>
                                        </p:cTn>
                                        <p:tgtEl>
                                          <p:spTgt spid="79"/>
                                        </p:tgtEl>
                                        <p:attrNameLst>
                                          <p:attrName>style.visibility</p:attrName>
                                        </p:attrNameLst>
                                      </p:cBhvr>
                                      <p:to>
                                        <p:strVal val="visible"/>
                                      </p:to>
                                    </p:set>
                                    <p:anim calcmode="lin" valueType="num">
                                      <p:cBhvr>
                                        <p:cTn id="78" dur="500" fill="hold"/>
                                        <p:tgtEl>
                                          <p:spTgt spid="79"/>
                                        </p:tgtEl>
                                        <p:attrNameLst>
                                          <p:attrName>ppt_x</p:attrName>
                                        </p:attrNameLst>
                                      </p:cBhvr>
                                      <p:tavLst>
                                        <p:tav tm="0">
                                          <p:val>
                                            <p:strVal val="#ppt_x"/>
                                          </p:val>
                                        </p:tav>
                                        <p:tav tm="50000">
                                          <p:val>
                                            <p:strVal val="#ppt_x+.1"/>
                                          </p:val>
                                        </p:tav>
                                        <p:tav tm="100000">
                                          <p:val>
                                            <p:strVal val="#ppt_x"/>
                                          </p:val>
                                        </p:tav>
                                      </p:tavLst>
                                    </p:anim>
                                    <p:anim calcmode="lin" valueType="num">
                                      <p:cBhvr>
                                        <p:cTn id="79" dur="500" fill="hold"/>
                                        <p:tgtEl>
                                          <p:spTgt spid="79"/>
                                        </p:tgtEl>
                                        <p:attrNameLst>
                                          <p:attrName>ppt_y</p:attrName>
                                        </p:attrNameLst>
                                      </p:cBhvr>
                                      <p:tavLst>
                                        <p:tav tm="0">
                                          <p:val>
                                            <p:strVal val="#ppt_y"/>
                                          </p:val>
                                        </p:tav>
                                        <p:tav tm="100000">
                                          <p:val>
                                            <p:strVal val="#ppt_y"/>
                                          </p:val>
                                        </p:tav>
                                      </p:tavLst>
                                    </p:anim>
                                    <p:anim calcmode="lin" valueType="num">
                                      <p:cBhvr>
                                        <p:cTn id="80" dur="500" fill="hold"/>
                                        <p:tgtEl>
                                          <p:spTgt spid="79"/>
                                        </p:tgtEl>
                                        <p:attrNameLst>
                                          <p:attrName>ppt_h</p:attrName>
                                        </p:attrNameLst>
                                      </p:cBhvr>
                                      <p:tavLst>
                                        <p:tav tm="0">
                                          <p:val>
                                            <p:strVal val="#ppt_h/10"/>
                                          </p:val>
                                        </p:tav>
                                        <p:tav tm="50000">
                                          <p:val>
                                            <p:strVal val="#ppt_h+.01"/>
                                          </p:val>
                                        </p:tav>
                                        <p:tav tm="100000">
                                          <p:val>
                                            <p:strVal val="#ppt_h"/>
                                          </p:val>
                                        </p:tav>
                                      </p:tavLst>
                                    </p:anim>
                                    <p:anim calcmode="lin" valueType="num">
                                      <p:cBhvr>
                                        <p:cTn id="81" dur="500" fill="hold"/>
                                        <p:tgtEl>
                                          <p:spTgt spid="79"/>
                                        </p:tgtEl>
                                        <p:attrNameLst>
                                          <p:attrName>ppt_w</p:attrName>
                                        </p:attrNameLst>
                                      </p:cBhvr>
                                      <p:tavLst>
                                        <p:tav tm="0">
                                          <p:val>
                                            <p:strVal val="#ppt_w/10"/>
                                          </p:val>
                                        </p:tav>
                                        <p:tav tm="50000">
                                          <p:val>
                                            <p:strVal val="#ppt_w+.01"/>
                                          </p:val>
                                        </p:tav>
                                        <p:tav tm="100000">
                                          <p:val>
                                            <p:strVal val="#ppt_w"/>
                                          </p:val>
                                        </p:tav>
                                      </p:tavLst>
                                    </p:anim>
                                    <p:animEffect transition="in" filter="fade">
                                      <p:cBhvr>
                                        <p:cTn id="82" dur="500" tmFilter="0,0; .5, 1; 1, 1"/>
                                        <p:tgtEl>
                                          <p:spTgt spid="79"/>
                                        </p:tgtEl>
                                      </p:cBhvr>
                                    </p:animEffect>
                                  </p:childTnLst>
                                </p:cTn>
                              </p:par>
                            </p:childTnLst>
                          </p:cTn>
                        </p:par>
                        <p:par>
                          <p:cTn id="83" fill="hold">
                            <p:stCondLst>
                              <p:cond delay="12200"/>
                            </p:stCondLst>
                            <p:childTnLst>
                              <p:par>
                                <p:cTn id="84" presetID="10" presetClass="entr" presetSubtype="0" fill="hold" nodeType="after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fade">
                                      <p:cBhvr>
                                        <p:cTn id="8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1" animBg="1"/>
      <p:bldP spid="69" grpId="0" animBg="1"/>
      <p:bldP spid="70" grpId="0" animBg="1"/>
      <p:bldP spid="72" grpId="0" animBg="1"/>
      <p:bldP spid="73" grpId="0" animBg="1"/>
      <p:bldP spid="75" grpId="0" animBg="1"/>
      <p:bldP spid="76" grpId="0" animBg="1"/>
      <p:bldP spid="78" grpId="0" animBg="1"/>
      <p:bldP spid="79" grpId="0" animBg="1"/>
      <p:bldP spid="8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361221" y="1763732"/>
            <a:ext cx="3436500"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آئین نامه استانداردهای اجرایی طرحهای عمرانی</a:t>
            </a:r>
            <a:endParaRPr sz="6000"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3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endParaRPr sz="3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7875049" y="1542976"/>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6464595" y="230661"/>
            <a:ext cx="2363741"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6"/>
                </a:solidFill>
                <a:cs typeface="IRAN Sans" panose="020B0400000000000000" pitchFamily="34" charset="-78"/>
              </a:rPr>
              <a:t>استاندارد های صنعت ساخت</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a:solidFill>
                  <a:schemeClr val="accent6"/>
                </a:solidFill>
                <a:cs typeface="IRAN Sans" panose="020B0400000000000000" pitchFamily="34" charset="-78"/>
              </a:rPr>
              <a:t>01</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 name="Rectangle 8">
            <a:extLst>
              <a:ext uri="{FF2B5EF4-FFF2-40B4-BE49-F238E27FC236}">
                <a16:creationId xmlns:a16="http://schemas.microsoft.com/office/drawing/2014/main" id="{27CB6BE3-1051-BC07-CC90-DD480CA34C17}"/>
              </a:ext>
            </a:extLst>
          </p:cNvPr>
          <p:cNvSpPr/>
          <p:nvPr/>
        </p:nvSpPr>
        <p:spPr>
          <a:xfrm>
            <a:off x="864719" y="882017"/>
            <a:ext cx="7182576" cy="3111653"/>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lIns="252000" tIns="72000" rIns="252000" bIns="180000">
            <a:spAutoFit/>
          </a:bodyPr>
          <a:lstStyle/>
          <a:p>
            <a:pPr algn="r" rtl="1">
              <a:lnSpc>
                <a:spcPct val="150000"/>
              </a:lnSpc>
            </a:pPr>
            <a:r>
              <a:rPr lang="fa-IR" sz="1800" dirty="0">
                <a:solidFill>
                  <a:schemeClr val="tx1">
                    <a:lumMod val="95000"/>
                    <a:lumOff val="5000"/>
                  </a:schemeClr>
                </a:solidFill>
                <a:cs typeface="IRAN Sans" panose="020B0400000000000000" pitchFamily="34" charset="-78"/>
              </a:rPr>
              <a:t>استانداردهای صنعت ساخت، مجموعه‌ای از مقررات و الزامات فنی و ایمنی هستند که برای طراحی، ساخت، نصب و نگهداری ساختمان‌ها و تجهیزات آنها تعیین شده‌اند. این استانداردها توسط سازمان‌هایی مانند سازمان ملی استاندارد ایران (</a:t>
            </a:r>
            <a:r>
              <a:rPr lang="en-US" sz="1800" dirty="0">
                <a:solidFill>
                  <a:schemeClr val="tx1">
                    <a:lumMod val="95000"/>
                    <a:lumOff val="5000"/>
                  </a:schemeClr>
                </a:solidFill>
                <a:cs typeface="IRAN Sans" panose="020B0400000000000000" pitchFamily="34" charset="-78"/>
              </a:rPr>
              <a:t>ANSI</a:t>
            </a:r>
            <a:r>
              <a:rPr lang="fa-IR" sz="1800" dirty="0">
                <a:solidFill>
                  <a:schemeClr val="tx1">
                    <a:lumMod val="95000"/>
                    <a:lumOff val="5000"/>
                  </a:schemeClr>
                </a:solidFill>
                <a:cs typeface="IRAN Sans" panose="020B0400000000000000" pitchFamily="34" charset="-78"/>
              </a:rPr>
              <a:t>)</a:t>
            </a:r>
            <a:r>
              <a:rPr lang="en-US" sz="1800" dirty="0">
                <a:solidFill>
                  <a:schemeClr val="tx1">
                    <a:lumMod val="95000"/>
                    <a:lumOff val="5000"/>
                  </a:schemeClr>
                </a:solidFill>
                <a:cs typeface="IRAN Sans" panose="020B0400000000000000" pitchFamily="34" charset="-78"/>
              </a:rPr>
              <a:t> </a:t>
            </a:r>
            <a:r>
              <a:rPr lang="fa-IR" sz="1800" dirty="0">
                <a:solidFill>
                  <a:schemeClr val="tx1">
                    <a:lumMod val="95000"/>
                    <a:lumOff val="5000"/>
                  </a:schemeClr>
                </a:solidFill>
                <a:cs typeface="IRAN Sans" panose="020B0400000000000000" pitchFamily="34" charset="-78"/>
              </a:rPr>
              <a:t>و سازمان بین‌المللی استاندارد</a:t>
            </a:r>
            <a:r>
              <a:rPr lang="en-US" sz="1800" dirty="0">
                <a:solidFill>
                  <a:schemeClr val="tx1">
                    <a:lumMod val="95000"/>
                    <a:lumOff val="5000"/>
                  </a:schemeClr>
                </a:solidFill>
                <a:cs typeface="IRAN Sans" panose="020B0400000000000000" pitchFamily="34" charset="-78"/>
              </a:rPr>
              <a:t> (ISO) </a:t>
            </a:r>
            <a:r>
              <a:rPr lang="fa-IR" sz="1800" dirty="0">
                <a:solidFill>
                  <a:schemeClr val="tx1">
                    <a:lumMod val="95000"/>
                    <a:lumOff val="5000"/>
                  </a:schemeClr>
                </a:solidFill>
                <a:cs typeface="IRAN Sans" panose="020B0400000000000000" pitchFamily="34" charset="-78"/>
              </a:rPr>
              <a:t>تعیین می‌شوند.</a:t>
            </a:r>
          </a:p>
          <a:p>
            <a:pPr algn="r" rtl="1">
              <a:lnSpc>
                <a:spcPct val="150000"/>
              </a:lnSpc>
            </a:pPr>
            <a:r>
              <a:rPr lang="fa-IR" sz="1800" dirty="0">
                <a:solidFill>
                  <a:schemeClr val="tx1">
                    <a:lumMod val="95000"/>
                    <a:lumOff val="5000"/>
                  </a:schemeClr>
                </a:solidFill>
                <a:cs typeface="IRAN Sans" panose="020B0400000000000000" pitchFamily="34" charset="-78"/>
              </a:rPr>
              <a:t>در این ارائه مجموعه استانداردهای مصوب توسط سازمان ملی استاندارد ایران و مجموعه ضوابط و نشریات مصوب سازمان برنامه و بودجه بر اساس آیین‌نامه استانداردهای اجرایی طرح‌های عمرانی جهت استفاده شما عزیزان گردآوری گردیده‌اند.</a:t>
            </a:r>
          </a:p>
        </p:txBody>
      </p:sp>
      <p:sp>
        <p:nvSpPr>
          <p:cNvPr id="10" name="Title 2">
            <a:extLst>
              <a:ext uri="{FF2B5EF4-FFF2-40B4-BE49-F238E27FC236}">
                <a16:creationId xmlns:a16="http://schemas.microsoft.com/office/drawing/2014/main" id="{0D26CBDC-3FF9-4789-B2AC-2075DBBD10BB}"/>
              </a:ext>
            </a:extLst>
          </p:cNvPr>
          <p:cNvSpPr>
            <a:spLocks noGrp="1"/>
          </p:cNvSpPr>
          <p:nvPr/>
        </p:nvSpPr>
        <p:spPr>
          <a:xfrm>
            <a:off x="2200249" y="401183"/>
            <a:ext cx="4356961" cy="481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IRAN Sans" panose="020B0400000000000000" pitchFamily="34" charset="-78"/>
                <a:sym typeface="Fira Sans Extra Condensed Medium"/>
              </a:defRPr>
            </a:lvl1pPr>
            <a:lvl2pPr marR="0" lvl="1"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2pPr>
            <a:lvl3pPr marR="0" lvl="2"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3pPr>
            <a:lvl4pPr marR="0" lvl="3"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4pPr>
            <a:lvl5pPr marR="0" lvl="4"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5pPr>
            <a:lvl6pPr marR="0" lvl="5"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6pPr>
            <a:lvl7pPr marR="0" lvl="6"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7pPr>
            <a:lvl8pPr marR="0" lvl="7"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8pPr>
            <a:lvl9pPr marR="0" lvl="8"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9pPr>
          </a:lstStyle>
          <a:p>
            <a:pPr algn="justLow" rtl="1">
              <a:lnSpc>
                <a:spcPct val="150000"/>
              </a:lnSpc>
            </a:pPr>
            <a:r>
              <a:rPr lang="fa-IR" dirty="0">
                <a:solidFill>
                  <a:schemeClr val="tx1">
                    <a:lumMod val="95000"/>
                    <a:lumOff val="5000"/>
                  </a:schemeClr>
                </a:solidFill>
                <a:cs typeface="IRAN Sans" panose="020B0400000000000000" pitchFamily="34" charset="-78"/>
              </a:rPr>
              <a:t>استانداردهای صنعت ساخت چیست؟</a:t>
            </a:r>
          </a:p>
        </p:txBody>
      </p:sp>
    </p:spTree>
    <p:extLst>
      <p:ext uri="{BB962C8B-B14F-4D97-AF65-F5344CB8AC3E}">
        <p14:creationId xmlns:p14="http://schemas.microsoft.com/office/powerpoint/2010/main" val="398211695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1"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1000"/>
                                        <p:tgtEl>
                                          <p:spTgt spid="9"/>
                                        </p:tgtEl>
                                      </p:cBhvr>
                                    </p:animEffect>
                                    <p:anim calcmode="lin" valueType="num">
                                      <p:cBhvr>
                                        <p:cTn id="26" dur="1000" fill="hold"/>
                                        <p:tgtEl>
                                          <p:spTgt spid="9"/>
                                        </p:tgtEl>
                                        <p:attrNameLst>
                                          <p:attrName>ppt_x</p:attrName>
                                        </p:attrNameLst>
                                      </p:cBhvr>
                                      <p:tavLst>
                                        <p:tav tm="0">
                                          <p:val>
                                            <p:strVal val="#ppt_x"/>
                                          </p:val>
                                        </p:tav>
                                        <p:tav tm="100000">
                                          <p:val>
                                            <p:strVal val="#ppt_x"/>
                                          </p:val>
                                        </p:tav>
                                      </p:tavLst>
                                    </p:anim>
                                    <p:anim calcmode="lin" valueType="num">
                                      <p:cBhvr>
                                        <p:cTn id="2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1" animBg="1"/>
      <p:bldP spid="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pic>
        <p:nvPicPr>
          <p:cNvPr id="12" name="Picture 11">
            <a:extLst>
              <a:ext uri="{FF2B5EF4-FFF2-40B4-BE49-F238E27FC236}">
                <a16:creationId xmlns:a16="http://schemas.microsoft.com/office/drawing/2014/main" id="{35A387E9-7D59-4086-879A-3CC2F4C5637B}"/>
              </a:ext>
            </a:extLst>
          </p:cNvPr>
          <p:cNvPicPr>
            <a:picLocks noChangeAspect="1"/>
          </p:cNvPicPr>
          <p:nvPr/>
        </p:nvPicPr>
        <p:blipFill>
          <a:blip r:embed="rId3"/>
          <a:stretch>
            <a:fillRect/>
          </a:stretch>
        </p:blipFill>
        <p:spPr>
          <a:xfrm>
            <a:off x="895934" y="45564"/>
            <a:ext cx="3395578" cy="4289747"/>
          </a:xfrm>
          <a:prstGeom prst="rect">
            <a:avLst/>
          </a:prstGeom>
          <a:ln>
            <a:noFill/>
          </a:ln>
          <a:effectLst>
            <a:softEdge rad="112500"/>
          </a:effectLst>
        </p:spPr>
      </p:pic>
      <p:sp>
        <p:nvSpPr>
          <p:cNvPr id="150" name="Google Shape;322;p20">
            <a:extLst>
              <a:ext uri="{FF2B5EF4-FFF2-40B4-BE49-F238E27FC236}">
                <a16:creationId xmlns:a16="http://schemas.microsoft.com/office/drawing/2014/main" id="{CFB8EA47-71C6-44D8-ADE7-B7B1AF8CBFAD}"/>
              </a:ext>
            </a:extLst>
          </p:cNvPr>
          <p:cNvSpPr/>
          <p:nvPr/>
        </p:nvSpPr>
        <p:spPr>
          <a:xfrm>
            <a:off x="5645888" y="230661"/>
            <a:ext cx="318244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6"/>
                </a:solidFill>
                <a:cs typeface="IRAN Sans" panose="020B0400000000000000" pitchFamily="34" charset="-78"/>
              </a:rPr>
              <a:t>استاندارد های اجرایی طرح های عمرانی</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a:solidFill>
                  <a:schemeClr val="accent6"/>
                </a:solidFill>
                <a:cs typeface="IRAN Sans" panose="020B0400000000000000" pitchFamily="34" charset="-78"/>
              </a:rPr>
              <a:t>02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2" name="Rectangle 91">
            <a:extLst>
              <a:ext uri="{FF2B5EF4-FFF2-40B4-BE49-F238E27FC236}">
                <a16:creationId xmlns:a16="http://schemas.microsoft.com/office/drawing/2014/main" id="{58EB0B4F-622C-4F8E-900F-A781E6C3C45E}"/>
              </a:ext>
            </a:extLst>
          </p:cNvPr>
          <p:cNvSpPr/>
          <p:nvPr/>
        </p:nvSpPr>
        <p:spPr>
          <a:xfrm>
            <a:off x="4658596" y="1063308"/>
            <a:ext cx="3486748" cy="2794131"/>
          </a:xfrm>
          <a:prstGeom prst="rect">
            <a:avLst/>
          </a:prstGeom>
          <a:solidFill>
            <a:schemeClr val="bg1">
              <a:alpha val="90000"/>
            </a:schemeClr>
          </a:solidFill>
          <a:ln>
            <a:solidFill>
              <a:schemeClr val="accent6"/>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ماده 1 – معیارها و استانداردها و همچنین اصول کلی و شرائط عمومی قراردادهای مربوط به طرحهای عمرانی موضوع ماده 23 قانون برنامه و بودجه کشور از نظر سهولت مراجعه به طور خلاصه و بدون آنکه محدودیتی ایجاد نماید استانداردهای اجرائی طرحهای عمرانی نامیده میشود. </a:t>
            </a:r>
          </a:p>
        </p:txBody>
      </p:sp>
      <p:sp>
        <p:nvSpPr>
          <p:cNvPr id="89" name="Google Shape;299;p20">
            <a:extLst>
              <a:ext uri="{FF2B5EF4-FFF2-40B4-BE49-F238E27FC236}">
                <a16:creationId xmlns:a16="http://schemas.microsoft.com/office/drawing/2014/main" id="{091D0A28-C640-41F5-9DE8-E16D9FE0C783}"/>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0" name="Google Shape;301;p20">
            <a:hlinkClick r:id="rId4" action="ppaction://hlinksldjump"/>
            <a:extLst>
              <a:ext uri="{FF2B5EF4-FFF2-40B4-BE49-F238E27FC236}">
                <a16:creationId xmlns:a16="http://schemas.microsoft.com/office/drawing/2014/main" id="{6E790B79-B4F6-4146-B44A-F60E463CAB73}"/>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1" name="Google Shape;307;p20">
            <a:extLst>
              <a:ext uri="{FF2B5EF4-FFF2-40B4-BE49-F238E27FC236}">
                <a16:creationId xmlns:a16="http://schemas.microsoft.com/office/drawing/2014/main" id="{6725E95B-4E7E-47FF-B0FA-C68990B8671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3" name="Google Shape;309;p20">
            <a:hlinkClick r:id="rId5" action="ppaction://hlinksldjump"/>
            <a:extLst>
              <a:ext uri="{FF2B5EF4-FFF2-40B4-BE49-F238E27FC236}">
                <a16:creationId xmlns:a16="http://schemas.microsoft.com/office/drawing/2014/main" id="{564B3938-D2F5-4E32-B67C-91A228A6F36E}"/>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4" name="Google Shape;315;p20">
            <a:extLst>
              <a:ext uri="{FF2B5EF4-FFF2-40B4-BE49-F238E27FC236}">
                <a16:creationId xmlns:a16="http://schemas.microsoft.com/office/drawing/2014/main" id="{4F83CD89-E4BC-4B06-AB25-B0AD9F42AEA6}"/>
              </a:ext>
            </a:extLst>
          </p:cNvPr>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5" name="Google Shape;317;p20">
            <a:hlinkClick r:id="rId6" action="ppaction://hlinksldjump"/>
            <a:extLst>
              <a:ext uri="{FF2B5EF4-FFF2-40B4-BE49-F238E27FC236}">
                <a16:creationId xmlns:a16="http://schemas.microsoft.com/office/drawing/2014/main" id="{0D88382E-C9A5-403D-81A4-DFD0BB7BF06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96" name="Google Shape;322;p20">
            <a:extLst>
              <a:ext uri="{FF2B5EF4-FFF2-40B4-BE49-F238E27FC236}">
                <a16:creationId xmlns:a16="http://schemas.microsoft.com/office/drawing/2014/main" id="{EB2CF573-ABAB-4852-9087-495D93C002BD}"/>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24;p20">
            <a:hlinkClick r:id="rId7" action="ppaction://hlinksldjump"/>
            <a:extLst>
              <a:ext uri="{FF2B5EF4-FFF2-40B4-BE49-F238E27FC236}">
                <a16:creationId xmlns:a16="http://schemas.microsoft.com/office/drawing/2014/main" id="{53EA1C90-CE03-47E3-8888-9DD4B193BD97}"/>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8" name="Google Shape;307;p20">
            <a:extLst>
              <a:ext uri="{FF2B5EF4-FFF2-40B4-BE49-F238E27FC236}">
                <a16:creationId xmlns:a16="http://schemas.microsoft.com/office/drawing/2014/main" id="{60EFE3F4-9E83-436F-9503-2DAF766D28F8}"/>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8" action="ppaction://hlinksldjump"/>
            <a:extLst>
              <a:ext uri="{FF2B5EF4-FFF2-40B4-BE49-F238E27FC236}">
                <a16:creationId xmlns:a16="http://schemas.microsoft.com/office/drawing/2014/main" id="{E5DA9917-389D-4501-AA88-58F84D2318D3}"/>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endParaRP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07;p20">
            <a:extLst>
              <a:ext uri="{FF2B5EF4-FFF2-40B4-BE49-F238E27FC236}">
                <a16:creationId xmlns:a16="http://schemas.microsoft.com/office/drawing/2014/main" id="{2200B12E-A9BC-443C-86A1-4A447024508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09;p20">
            <a:hlinkClick r:id="" action="ppaction://noaction"/>
            <a:extLst>
              <a:ext uri="{FF2B5EF4-FFF2-40B4-BE49-F238E27FC236}">
                <a16:creationId xmlns:a16="http://schemas.microsoft.com/office/drawing/2014/main" id="{741500BD-D451-4D0A-9E5A-431401A405F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اجرائی</a:t>
            </a:r>
            <a:endParaRP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6;p20">
            <a:extLst>
              <a:ext uri="{FF2B5EF4-FFF2-40B4-BE49-F238E27FC236}">
                <a16:creationId xmlns:a16="http://schemas.microsoft.com/office/drawing/2014/main" id="{ACF8160C-13F0-47B0-9DD1-C960F2E6CA76}"/>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3;p20">
            <a:extLst>
              <a:ext uri="{FF2B5EF4-FFF2-40B4-BE49-F238E27FC236}">
                <a16:creationId xmlns:a16="http://schemas.microsoft.com/office/drawing/2014/main" id="{19EEEB87-6B56-46C2-8852-961C276DEF03}"/>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11;p20">
            <a:extLst>
              <a:ext uri="{FF2B5EF4-FFF2-40B4-BE49-F238E27FC236}">
                <a16:creationId xmlns:a16="http://schemas.microsoft.com/office/drawing/2014/main" id="{5560A97A-5D00-4763-9F96-7FF0EAFDB36D}"/>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29;p20">
            <a:extLst>
              <a:ext uri="{FF2B5EF4-FFF2-40B4-BE49-F238E27FC236}">
                <a16:creationId xmlns:a16="http://schemas.microsoft.com/office/drawing/2014/main" id="{E1A93487-BCC5-4345-A831-447153A089AC}"/>
              </a:ext>
            </a:extLst>
          </p:cNvPr>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11;p20">
            <a:extLst>
              <a:ext uri="{FF2B5EF4-FFF2-40B4-BE49-F238E27FC236}">
                <a16:creationId xmlns:a16="http://schemas.microsoft.com/office/drawing/2014/main" id="{82B9AC29-3C62-4D1A-84C6-3077C67A754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11;p20">
            <a:extLst>
              <a:ext uri="{FF2B5EF4-FFF2-40B4-BE49-F238E27FC236}">
                <a16:creationId xmlns:a16="http://schemas.microsoft.com/office/drawing/2014/main" id="{8303F89F-9868-420C-9B80-1F04B281268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08" name="Group 107">
            <a:extLst>
              <a:ext uri="{FF2B5EF4-FFF2-40B4-BE49-F238E27FC236}">
                <a16:creationId xmlns:a16="http://schemas.microsoft.com/office/drawing/2014/main" id="{D7557576-02EE-4E04-B0CC-208F35263706}"/>
              </a:ext>
            </a:extLst>
          </p:cNvPr>
          <p:cNvGrpSpPr/>
          <p:nvPr/>
        </p:nvGrpSpPr>
        <p:grpSpPr>
          <a:xfrm>
            <a:off x="2090313" y="4055040"/>
            <a:ext cx="496596" cy="647522"/>
            <a:chOff x="2090313" y="4055040"/>
            <a:chExt cx="496596" cy="647522"/>
          </a:xfrm>
        </p:grpSpPr>
        <p:cxnSp>
          <p:nvCxnSpPr>
            <p:cNvPr id="109" name="Google Shape;327;p20">
              <a:extLst>
                <a:ext uri="{FF2B5EF4-FFF2-40B4-BE49-F238E27FC236}">
                  <a16:creationId xmlns:a16="http://schemas.microsoft.com/office/drawing/2014/main" id="{FBB87549-F0E0-4681-B6B6-341028D529C2}"/>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0" name="Google Shape;325;p20">
              <a:extLst>
                <a:ext uri="{FF2B5EF4-FFF2-40B4-BE49-F238E27FC236}">
                  <a16:creationId xmlns:a16="http://schemas.microsoft.com/office/drawing/2014/main" id="{E4B0147B-FABE-425A-B0D6-0720F3E7CB49}"/>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1" name="Group 110">
              <a:extLst>
                <a:ext uri="{FF2B5EF4-FFF2-40B4-BE49-F238E27FC236}">
                  <a16:creationId xmlns:a16="http://schemas.microsoft.com/office/drawing/2014/main" id="{C349301D-A42F-40B4-AFBF-225FD86806A6}"/>
                </a:ext>
              </a:extLst>
            </p:cNvPr>
            <p:cNvGrpSpPr/>
            <p:nvPr/>
          </p:nvGrpSpPr>
          <p:grpSpPr>
            <a:xfrm>
              <a:off x="2221611" y="4179917"/>
              <a:ext cx="234000" cy="234000"/>
              <a:chOff x="2247014" y="4211643"/>
              <a:chExt cx="183194" cy="183390"/>
            </a:xfrm>
          </p:grpSpPr>
          <p:sp>
            <p:nvSpPr>
              <p:cNvPr id="112" name="Google Shape;331;p20">
                <a:extLst>
                  <a:ext uri="{FF2B5EF4-FFF2-40B4-BE49-F238E27FC236}">
                    <a16:creationId xmlns:a16="http://schemas.microsoft.com/office/drawing/2014/main" id="{9DFDD80C-63E4-44E9-839B-908E24AE366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32;p20">
                <a:extLst>
                  <a:ext uri="{FF2B5EF4-FFF2-40B4-BE49-F238E27FC236}">
                    <a16:creationId xmlns:a16="http://schemas.microsoft.com/office/drawing/2014/main" id="{6BC424C6-8B96-4486-A08F-D97B21A99C7F}"/>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33;p20">
                <a:extLst>
                  <a:ext uri="{FF2B5EF4-FFF2-40B4-BE49-F238E27FC236}">
                    <a16:creationId xmlns:a16="http://schemas.microsoft.com/office/drawing/2014/main" id="{86534BD0-9166-4638-98A9-25A01AB9163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34;p20">
                <a:extLst>
                  <a:ext uri="{FF2B5EF4-FFF2-40B4-BE49-F238E27FC236}">
                    <a16:creationId xmlns:a16="http://schemas.microsoft.com/office/drawing/2014/main" id="{35C93B3D-63D6-4D61-876E-D3FD6A2347DB}"/>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35;p20">
                <a:extLst>
                  <a:ext uri="{FF2B5EF4-FFF2-40B4-BE49-F238E27FC236}">
                    <a16:creationId xmlns:a16="http://schemas.microsoft.com/office/drawing/2014/main" id="{9BCA7142-BF84-4986-BA9D-774A7F2236F7}"/>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7" name="Google Shape;336;p20">
                <a:extLst>
                  <a:ext uri="{FF2B5EF4-FFF2-40B4-BE49-F238E27FC236}">
                    <a16:creationId xmlns:a16="http://schemas.microsoft.com/office/drawing/2014/main" id="{B3CA1B7C-BFA0-4688-8A0A-20B0B6BE8740}"/>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7;p20">
                <a:extLst>
                  <a:ext uri="{FF2B5EF4-FFF2-40B4-BE49-F238E27FC236}">
                    <a16:creationId xmlns:a16="http://schemas.microsoft.com/office/drawing/2014/main" id="{4B618E40-33F8-433D-ADEF-A69822A3B4A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8;p20">
                <a:extLst>
                  <a:ext uri="{FF2B5EF4-FFF2-40B4-BE49-F238E27FC236}">
                    <a16:creationId xmlns:a16="http://schemas.microsoft.com/office/drawing/2014/main" id="{6CB633A0-7A2C-4B91-9765-C1E2EB8FA160}"/>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9;p20">
                <a:extLst>
                  <a:ext uri="{FF2B5EF4-FFF2-40B4-BE49-F238E27FC236}">
                    <a16:creationId xmlns:a16="http://schemas.microsoft.com/office/drawing/2014/main" id="{241FB359-708E-494D-B7FD-819B50C5B4F8}"/>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40;p20">
                <a:extLst>
                  <a:ext uri="{FF2B5EF4-FFF2-40B4-BE49-F238E27FC236}">
                    <a16:creationId xmlns:a16="http://schemas.microsoft.com/office/drawing/2014/main" id="{87BE03B4-0B5E-4051-A127-A5528F81B5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41;p20">
                <a:extLst>
                  <a:ext uri="{FF2B5EF4-FFF2-40B4-BE49-F238E27FC236}">
                    <a16:creationId xmlns:a16="http://schemas.microsoft.com/office/drawing/2014/main" id="{44327106-1C2C-4382-AE33-243C0DF4F87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42;p20">
                <a:extLst>
                  <a:ext uri="{FF2B5EF4-FFF2-40B4-BE49-F238E27FC236}">
                    <a16:creationId xmlns:a16="http://schemas.microsoft.com/office/drawing/2014/main" id="{DD45D321-543F-41E1-9E06-01F2B6D3548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43;p20">
                <a:extLst>
                  <a:ext uri="{FF2B5EF4-FFF2-40B4-BE49-F238E27FC236}">
                    <a16:creationId xmlns:a16="http://schemas.microsoft.com/office/drawing/2014/main" id="{77A390AE-57AF-4384-AFAE-AC2E89A820D8}"/>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25" name="Group 124">
            <a:extLst>
              <a:ext uri="{FF2B5EF4-FFF2-40B4-BE49-F238E27FC236}">
                <a16:creationId xmlns:a16="http://schemas.microsoft.com/office/drawing/2014/main" id="{E998CBD5-7B19-469B-A4D2-A8EC5886FEF7}"/>
              </a:ext>
            </a:extLst>
          </p:cNvPr>
          <p:cNvGrpSpPr/>
          <p:nvPr/>
        </p:nvGrpSpPr>
        <p:grpSpPr>
          <a:xfrm>
            <a:off x="600089" y="4055040"/>
            <a:ext cx="496596" cy="647483"/>
            <a:chOff x="600089" y="4055040"/>
            <a:chExt cx="496596" cy="647483"/>
          </a:xfrm>
        </p:grpSpPr>
        <p:cxnSp>
          <p:nvCxnSpPr>
            <p:cNvPr id="126" name="Google Shape;304;p20">
              <a:extLst>
                <a:ext uri="{FF2B5EF4-FFF2-40B4-BE49-F238E27FC236}">
                  <a16:creationId xmlns:a16="http://schemas.microsoft.com/office/drawing/2014/main" id="{FFBEDCCE-0BBF-41C6-B2E6-619E9F28A7B4}"/>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27" name="Google Shape;302;p20">
              <a:extLst>
                <a:ext uri="{FF2B5EF4-FFF2-40B4-BE49-F238E27FC236}">
                  <a16:creationId xmlns:a16="http://schemas.microsoft.com/office/drawing/2014/main" id="{23DF4D79-662A-4CCA-AF6F-8A08089FD06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8" name="Group 127">
              <a:extLst>
                <a:ext uri="{FF2B5EF4-FFF2-40B4-BE49-F238E27FC236}">
                  <a16:creationId xmlns:a16="http://schemas.microsoft.com/office/drawing/2014/main" id="{F7E9AD76-D685-4B26-A3BB-E0F1A8278DDF}"/>
                </a:ext>
              </a:extLst>
            </p:cNvPr>
            <p:cNvGrpSpPr/>
            <p:nvPr/>
          </p:nvGrpSpPr>
          <p:grpSpPr>
            <a:xfrm>
              <a:off x="718825" y="4179544"/>
              <a:ext cx="252000" cy="234000"/>
              <a:chOff x="760166" y="4216727"/>
              <a:chExt cx="176529" cy="173221"/>
            </a:xfrm>
          </p:grpSpPr>
          <p:sp>
            <p:nvSpPr>
              <p:cNvPr id="129" name="Google Shape;345;p20">
                <a:extLst>
                  <a:ext uri="{FF2B5EF4-FFF2-40B4-BE49-F238E27FC236}">
                    <a16:creationId xmlns:a16="http://schemas.microsoft.com/office/drawing/2014/main" id="{7C121AE2-DFCB-46FC-AEC3-6541E6310D70}"/>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6;p20">
                <a:extLst>
                  <a:ext uri="{FF2B5EF4-FFF2-40B4-BE49-F238E27FC236}">
                    <a16:creationId xmlns:a16="http://schemas.microsoft.com/office/drawing/2014/main" id="{34AE4589-97BA-43B5-B20E-20DB06F1EE56}"/>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7;p20">
                <a:extLst>
                  <a:ext uri="{FF2B5EF4-FFF2-40B4-BE49-F238E27FC236}">
                    <a16:creationId xmlns:a16="http://schemas.microsoft.com/office/drawing/2014/main" id="{8083A757-EB60-4B5B-AA2F-2234D3AFD323}"/>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83D23DCC-B3C7-42F8-AF04-AA1A4B621A2E}"/>
              </a:ext>
            </a:extLst>
          </p:cNvPr>
          <p:cNvGrpSpPr/>
          <p:nvPr/>
        </p:nvGrpSpPr>
        <p:grpSpPr>
          <a:xfrm>
            <a:off x="3580536" y="4055040"/>
            <a:ext cx="496596" cy="647522"/>
            <a:chOff x="3580536" y="4055040"/>
            <a:chExt cx="496596" cy="647522"/>
          </a:xfrm>
        </p:grpSpPr>
        <p:cxnSp>
          <p:nvCxnSpPr>
            <p:cNvPr id="133" name="Google Shape;312;p20">
              <a:extLst>
                <a:ext uri="{FF2B5EF4-FFF2-40B4-BE49-F238E27FC236}">
                  <a16:creationId xmlns:a16="http://schemas.microsoft.com/office/drawing/2014/main" id="{59C4F300-BAF3-4043-B297-82AE4FE5C419}"/>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10;p20">
              <a:extLst>
                <a:ext uri="{FF2B5EF4-FFF2-40B4-BE49-F238E27FC236}">
                  <a16:creationId xmlns:a16="http://schemas.microsoft.com/office/drawing/2014/main" id="{F5F35C18-A838-447A-B43B-319733AA5675}"/>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8;p20">
              <a:extLst>
                <a:ext uri="{FF2B5EF4-FFF2-40B4-BE49-F238E27FC236}">
                  <a16:creationId xmlns:a16="http://schemas.microsoft.com/office/drawing/2014/main" id="{3AB790CD-C40C-4368-9B91-209ED7A9BA3A}"/>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36" name="Group 135">
            <a:extLst>
              <a:ext uri="{FF2B5EF4-FFF2-40B4-BE49-F238E27FC236}">
                <a16:creationId xmlns:a16="http://schemas.microsoft.com/office/drawing/2014/main" id="{99C8543F-F2AD-44C1-BFB1-F246AA0F66B8}"/>
              </a:ext>
            </a:extLst>
          </p:cNvPr>
          <p:cNvGrpSpPr/>
          <p:nvPr/>
        </p:nvGrpSpPr>
        <p:grpSpPr>
          <a:xfrm>
            <a:off x="5067104" y="4055039"/>
            <a:ext cx="496596" cy="647522"/>
            <a:chOff x="5067104" y="4055039"/>
            <a:chExt cx="496596" cy="647522"/>
          </a:xfrm>
        </p:grpSpPr>
        <p:cxnSp>
          <p:nvCxnSpPr>
            <p:cNvPr id="137" name="Google Shape;312;p20">
              <a:extLst>
                <a:ext uri="{FF2B5EF4-FFF2-40B4-BE49-F238E27FC236}">
                  <a16:creationId xmlns:a16="http://schemas.microsoft.com/office/drawing/2014/main" id="{8FF92D08-A95F-4CB6-A761-023E934E313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38" name="Google Shape;310;p20">
              <a:extLst>
                <a:ext uri="{FF2B5EF4-FFF2-40B4-BE49-F238E27FC236}">
                  <a16:creationId xmlns:a16="http://schemas.microsoft.com/office/drawing/2014/main" id="{D1DB8E48-FAB0-4D53-80C6-5426F2B7ED5C}"/>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9" name="Google Shape;364;p21">
              <a:extLst>
                <a:ext uri="{FF2B5EF4-FFF2-40B4-BE49-F238E27FC236}">
                  <a16:creationId xmlns:a16="http://schemas.microsoft.com/office/drawing/2014/main" id="{BC9BD750-951F-41DF-A24E-E2EB746BB06F}"/>
                </a:ext>
              </a:extLst>
            </p:cNvPr>
            <p:cNvGrpSpPr/>
            <p:nvPr/>
          </p:nvGrpSpPr>
          <p:grpSpPr>
            <a:xfrm>
              <a:off x="5191745" y="4172810"/>
              <a:ext cx="247311" cy="230069"/>
              <a:chOff x="6577238" y="2457221"/>
              <a:chExt cx="332019" cy="310788"/>
            </a:xfrm>
            <a:solidFill>
              <a:schemeClr val="bg1"/>
            </a:solidFill>
          </p:grpSpPr>
          <p:sp>
            <p:nvSpPr>
              <p:cNvPr id="140" name="Google Shape;365;p21">
                <a:extLst>
                  <a:ext uri="{FF2B5EF4-FFF2-40B4-BE49-F238E27FC236}">
                    <a16:creationId xmlns:a16="http://schemas.microsoft.com/office/drawing/2014/main" id="{390F1866-BEA9-4D03-8080-F9422743788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366;p21">
                <a:extLst>
                  <a:ext uri="{FF2B5EF4-FFF2-40B4-BE49-F238E27FC236}">
                    <a16:creationId xmlns:a16="http://schemas.microsoft.com/office/drawing/2014/main" id="{63E98200-9557-4F0B-ABA0-73345B97261C}"/>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367;p21">
                <a:extLst>
                  <a:ext uri="{FF2B5EF4-FFF2-40B4-BE49-F238E27FC236}">
                    <a16:creationId xmlns:a16="http://schemas.microsoft.com/office/drawing/2014/main" id="{EBFCA243-7534-417B-B1A7-B3A3401E4690}"/>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368;p21">
                <a:extLst>
                  <a:ext uri="{FF2B5EF4-FFF2-40B4-BE49-F238E27FC236}">
                    <a16:creationId xmlns:a16="http://schemas.microsoft.com/office/drawing/2014/main" id="{C8BDD5C1-8584-46B2-A6B6-AC3397E241FB}"/>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369;p21">
                <a:extLst>
                  <a:ext uri="{FF2B5EF4-FFF2-40B4-BE49-F238E27FC236}">
                    <a16:creationId xmlns:a16="http://schemas.microsoft.com/office/drawing/2014/main" id="{F32F3386-7606-466C-B101-5EFEB4111B73}"/>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370;p21">
                <a:extLst>
                  <a:ext uri="{FF2B5EF4-FFF2-40B4-BE49-F238E27FC236}">
                    <a16:creationId xmlns:a16="http://schemas.microsoft.com/office/drawing/2014/main" id="{3D1B0F4A-DE18-449A-9A82-55675448502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 name="Group 145">
            <a:extLst>
              <a:ext uri="{FF2B5EF4-FFF2-40B4-BE49-F238E27FC236}">
                <a16:creationId xmlns:a16="http://schemas.microsoft.com/office/drawing/2014/main" id="{2AAB337D-E8B0-4353-9217-29F868E9CF0F}"/>
              </a:ext>
            </a:extLst>
          </p:cNvPr>
          <p:cNvGrpSpPr/>
          <p:nvPr/>
        </p:nvGrpSpPr>
        <p:grpSpPr>
          <a:xfrm>
            <a:off x="6557210" y="4055039"/>
            <a:ext cx="496596" cy="647522"/>
            <a:chOff x="6557210" y="4055039"/>
            <a:chExt cx="496596" cy="647522"/>
          </a:xfrm>
        </p:grpSpPr>
        <p:cxnSp>
          <p:nvCxnSpPr>
            <p:cNvPr id="147" name="Google Shape;312;p20">
              <a:extLst>
                <a:ext uri="{FF2B5EF4-FFF2-40B4-BE49-F238E27FC236}">
                  <a16:creationId xmlns:a16="http://schemas.microsoft.com/office/drawing/2014/main" id="{A1A5A5BF-710F-4EA6-B3D5-F4BEDB0809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8" name="Google Shape;310;p20">
              <a:extLst>
                <a:ext uri="{FF2B5EF4-FFF2-40B4-BE49-F238E27FC236}">
                  <a16:creationId xmlns:a16="http://schemas.microsoft.com/office/drawing/2014/main" id="{C1420CA6-BA2C-4AC4-8425-3EFE61C8789A}"/>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9" name="Google Shape;492;p23">
              <a:extLst>
                <a:ext uri="{FF2B5EF4-FFF2-40B4-BE49-F238E27FC236}">
                  <a16:creationId xmlns:a16="http://schemas.microsoft.com/office/drawing/2014/main" id="{EE2F2D8F-D44C-492D-B598-AE23D4C76B40}"/>
                </a:ext>
              </a:extLst>
            </p:cNvPr>
            <p:cNvGrpSpPr/>
            <p:nvPr/>
          </p:nvGrpSpPr>
          <p:grpSpPr>
            <a:xfrm>
              <a:off x="6681779" y="4170275"/>
              <a:ext cx="252000" cy="252000"/>
              <a:chOff x="2280029" y="1970604"/>
              <a:chExt cx="353631" cy="354395"/>
            </a:xfrm>
          </p:grpSpPr>
          <p:sp>
            <p:nvSpPr>
              <p:cNvPr id="197" name="Google Shape;493;p23">
                <a:extLst>
                  <a:ext uri="{FF2B5EF4-FFF2-40B4-BE49-F238E27FC236}">
                    <a16:creationId xmlns:a16="http://schemas.microsoft.com/office/drawing/2014/main" id="{29E58F18-B8E1-4CEC-A1A0-4961495E49FB}"/>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4;p23">
                <a:extLst>
                  <a:ext uri="{FF2B5EF4-FFF2-40B4-BE49-F238E27FC236}">
                    <a16:creationId xmlns:a16="http://schemas.microsoft.com/office/drawing/2014/main" id="{4C6FEFD1-15B9-4B15-8A54-F76FCF24C5E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5;p23">
                <a:extLst>
                  <a:ext uri="{FF2B5EF4-FFF2-40B4-BE49-F238E27FC236}">
                    <a16:creationId xmlns:a16="http://schemas.microsoft.com/office/drawing/2014/main" id="{EB244F21-BE18-4469-BB98-3208EED2BAB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3">
                <a:extLst>
                  <a:ext uri="{FF2B5EF4-FFF2-40B4-BE49-F238E27FC236}">
                    <a16:creationId xmlns:a16="http://schemas.microsoft.com/office/drawing/2014/main" id="{2783BBC1-20CE-45BC-8AF2-F23B09298AFE}"/>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roup 202">
            <a:extLst>
              <a:ext uri="{FF2B5EF4-FFF2-40B4-BE49-F238E27FC236}">
                <a16:creationId xmlns:a16="http://schemas.microsoft.com/office/drawing/2014/main" id="{421D390A-89F2-4419-A2E9-7F29E524998F}"/>
              </a:ext>
            </a:extLst>
          </p:cNvPr>
          <p:cNvGrpSpPr/>
          <p:nvPr/>
        </p:nvGrpSpPr>
        <p:grpSpPr>
          <a:xfrm>
            <a:off x="8047295" y="4055039"/>
            <a:ext cx="496596" cy="647522"/>
            <a:chOff x="8047295" y="4055039"/>
            <a:chExt cx="496596" cy="647522"/>
          </a:xfrm>
        </p:grpSpPr>
        <p:cxnSp>
          <p:nvCxnSpPr>
            <p:cNvPr id="204" name="Google Shape;319;p20">
              <a:extLst>
                <a:ext uri="{FF2B5EF4-FFF2-40B4-BE49-F238E27FC236}">
                  <a16:creationId xmlns:a16="http://schemas.microsoft.com/office/drawing/2014/main" id="{B4B7B269-CE2B-4D6D-8987-AC28A3963A34}"/>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5" name="Google Shape;318;p20">
              <a:extLst>
                <a:ext uri="{FF2B5EF4-FFF2-40B4-BE49-F238E27FC236}">
                  <a16:creationId xmlns:a16="http://schemas.microsoft.com/office/drawing/2014/main" id="{54843488-40DE-40D9-ADF6-805D72B0C737}"/>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6" name="Google Shape;764;p28">
              <a:extLst>
                <a:ext uri="{FF2B5EF4-FFF2-40B4-BE49-F238E27FC236}">
                  <a16:creationId xmlns:a16="http://schemas.microsoft.com/office/drawing/2014/main" id="{94CC37B8-9606-4CF4-B44E-7485BB7EAA74}"/>
                </a:ext>
              </a:extLst>
            </p:cNvPr>
            <p:cNvGrpSpPr/>
            <p:nvPr/>
          </p:nvGrpSpPr>
          <p:grpSpPr>
            <a:xfrm>
              <a:off x="8205593" y="4170275"/>
              <a:ext cx="180000" cy="252000"/>
              <a:chOff x="1333682" y="3344330"/>
              <a:chExt cx="271213" cy="383088"/>
            </a:xfrm>
            <a:solidFill>
              <a:schemeClr val="bg1"/>
            </a:solidFill>
          </p:grpSpPr>
          <p:sp>
            <p:nvSpPr>
              <p:cNvPr id="207" name="Google Shape;765;p28">
                <a:extLst>
                  <a:ext uri="{FF2B5EF4-FFF2-40B4-BE49-F238E27FC236}">
                    <a16:creationId xmlns:a16="http://schemas.microsoft.com/office/drawing/2014/main" id="{A210B9E4-1AC1-4DD5-B70C-876C194ED94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66;p28">
                <a:extLst>
                  <a:ext uri="{FF2B5EF4-FFF2-40B4-BE49-F238E27FC236}">
                    <a16:creationId xmlns:a16="http://schemas.microsoft.com/office/drawing/2014/main" id="{57A3FB8A-2075-41F9-90F0-BDBE21E90A8E}"/>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67;p28">
                <a:extLst>
                  <a:ext uri="{FF2B5EF4-FFF2-40B4-BE49-F238E27FC236}">
                    <a16:creationId xmlns:a16="http://schemas.microsoft.com/office/drawing/2014/main" id="{0D3B8CD3-3531-4067-A248-77C30E530E78}"/>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68;p28">
                <a:extLst>
                  <a:ext uri="{FF2B5EF4-FFF2-40B4-BE49-F238E27FC236}">
                    <a16:creationId xmlns:a16="http://schemas.microsoft.com/office/drawing/2014/main" id="{9831B614-4FA6-4246-B968-BA781D066D7F}"/>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69;p28">
                <a:extLst>
                  <a:ext uri="{FF2B5EF4-FFF2-40B4-BE49-F238E27FC236}">
                    <a16:creationId xmlns:a16="http://schemas.microsoft.com/office/drawing/2014/main" id="{D468999A-029C-42EF-B2CC-233C0638A23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70;p28">
                <a:extLst>
                  <a:ext uri="{FF2B5EF4-FFF2-40B4-BE49-F238E27FC236}">
                    <a16:creationId xmlns:a16="http://schemas.microsoft.com/office/drawing/2014/main" id="{784F505B-7D8F-4AC4-95F0-C49B5B370493}"/>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71;p28">
                <a:extLst>
                  <a:ext uri="{FF2B5EF4-FFF2-40B4-BE49-F238E27FC236}">
                    <a16:creationId xmlns:a16="http://schemas.microsoft.com/office/drawing/2014/main" id="{EE4E75EC-4682-42C4-B785-A8EC11074606}"/>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72;p28">
                <a:extLst>
                  <a:ext uri="{FF2B5EF4-FFF2-40B4-BE49-F238E27FC236}">
                    <a16:creationId xmlns:a16="http://schemas.microsoft.com/office/drawing/2014/main" id="{24EC85E2-E180-4ED3-8D9F-C15D8F8043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73;p28">
                <a:extLst>
                  <a:ext uri="{FF2B5EF4-FFF2-40B4-BE49-F238E27FC236}">
                    <a16:creationId xmlns:a16="http://schemas.microsoft.com/office/drawing/2014/main" id="{632C6268-07FF-4741-AB44-680FD6966E37}"/>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74;p28">
                <a:extLst>
                  <a:ext uri="{FF2B5EF4-FFF2-40B4-BE49-F238E27FC236}">
                    <a16:creationId xmlns:a16="http://schemas.microsoft.com/office/drawing/2014/main" id="{1664851B-3BBD-4853-878C-4C96DBE1AB15}"/>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75;p28">
                <a:extLst>
                  <a:ext uri="{FF2B5EF4-FFF2-40B4-BE49-F238E27FC236}">
                    <a16:creationId xmlns:a16="http://schemas.microsoft.com/office/drawing/2014/main" id="{F47458D9-B43F-406C-8A29-30DBF7DA51BA}"/>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5180600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92"/>
                                        </p:tgtEl>
                                        <p:attrNameLst>
                                          <p:attrName>style.visibility</p:attrName>
                                        </p:attrNameLst>
                                      </p:cBhvr>
                                      <p:to>
                                        <p:strVal val="visible"/>
                                      </p:to>
                                    </p:set>
                                    <p:animEffect transition="in" filter="fade">
                                      <p:cBhvr>
                                        <p:cTn id="25" dur="1000"/>
                                        <p:tgtEl>
                                          <p:spTgt spid="92"/>
                                        </p:tgtEl>
                                      </p:cBhvr>
                                    </p:animEffect>
                                    <p:anim calcmode="lin" valueType="num">
                                      <p:cBhvr>
                                        <p:cTn id="26" dur="1000" fill="hold"/>
                                        <p:tgtEl>
                                          <p:spTgt spid="92"/>
                                        </p:tgtEl>
                                        <p:attrNameLst>
                                          <p:attrName>ppt_x</p:attrName>
                                        </p:attrNameLst>
                                      </p:cBhvr>
                                      <p:tavLst>
                                        <p:tav tm="0">
                                          <p:val>
                                            <p:strVal val="#ppt_x"/>
                                          </p:val>
                                        </p:tav>
                                        <p:tav tm="100000">
                                          <p:val>
                                            <p:strVal val="#ppt_x"/>
                                          </p:val>
                                        </p:tav>
                                      </p:tavLst>
                                    </p:anim>
                                    <p:anim calcmode="lin" valueType="num">
                                      <p:cBhvr>
                                        <p:cTn id="27" dur="1000" fill="hold"/>
                                        <p:tgtEl>
                                          <p:spTgt spid="92"/>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10" presetClass="entr" presetSubtype="0"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9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6"/>
                </a:solidFill>
                <a:cs typeface="IRAN Sans" panose="020B0400000000000000" pitchFamily="34" charset="-78"/>
              </a:rPr>
              <a:t>استاندارد های اجرایی طرح های عمرانی</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a:solidFill>
                  <a:schemeClr val="accent6"/>
                </a:solidFill>
                <a:cs typeface="IRAN Sans" panose="020B0400000000000000" pitchFamily="34" charset="-78"/>
              </a:rPr>
              <a:t>03</a:t>
            </a:r>
          </a:p>
        </p:txBody>
      </p:sp>
      <p:sp>
        <p:nvSpPr>
          <p:cNvPr id="84" name="Google Shape;930;p32">
            <a:extLst>
              <a:ext uri="{FF2B5EF4-FFF2-40B4-BE49-F238E27FC236}">
                <a16:creationId xmlns:a16="http://schemas.microsoft.com/office/drawing/2014/main" id="{0F9AB217-E9C2-46AF-91D5-D8E0F5E8441A}"/>
              </a:ext>
            </a:extLst>
          </p:cNvPr>
          <p:cNvSpPr/>
          <p:nvPr/>
        </p:nvSpPr>
        <p:spPr>
          <a:xfrm>
            <a:off x="736974" y="1706601"/>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endParaRPr lang="en-US"/>
          </a:p>
        </p:txBody>
      </p:sp>
      <p:grpSp>
        <p:nvGrpSpPr>
          <p:cNvPr id="2" name="Group 1">
            <a:extLst>
              <a:ext uri="{FF2B5EF4-FFF2-40B4-BE49-F238E27FC236}">
                <a16:creationId xmlns:a16="http://schemas.microsoft.com/office/drawing/2014/main" id="{25BF45E6-0066-46AE-9B6A-771EACDE839D}"/>
              </a:ext>
            </a:extLst>
          </p:cNvPr>
          <p:cNvGrpSpPr/>
          <p:nvPr/>
        </p:nvGrpSpPr>
        <p:grpSpPr>
          <a:xfrm>
            <a:off x="944093" y="1502660"/>
            <a:ext cx="5613117" cy="445054"/>
            <a:chOff x="591620" y="565822"/>
            <a:chExt cx="5613117" cy="445054"/>
          </a:xfrm>
        </p:grpSpPr>
        <p:sp>
          <p:nvSpPr>
            <p:cNvPr id="85" name="Google Shape;931;p32">
              <a:extLst>
                <a:ext uri="{FF2B5EF4-FFF2-40B4-BE49-F238E27FC236}">
                  <a16:creationId xmlns:a16="http://schemas.microsoft.com/office/drawing/2014/main" id="{1E49AAC4-C3D9-4382-877C-DF86DCAB14A6}"/>
                </a:ext>
              </a:extLst>
            </p:cNvPr>
            <p:cNvSpPr/>
            <p:nvPr/>
          </p:nvSpPr>
          <p:spPr>
            <a:xfrm>
              <a:off x="591620" y="565822"/>
              <a:ext cx="1323243" cy="445054"/>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الف</a:t>
              </a:r>
              <a:endParaRPr dirty="0">
                <a:solidFill>
                  <a:srgbClr val="000000"/>
                </a:solidFill>
              </a:endParaRPr>
            </a:p>
          </p:txBody>
        </p:sp>
        <p:sp>
          <p:nvSpPr>
            <p:cNvPr id="86" name="Google Shape;932;p32">
              <a:extLst>
                <a:ext uri="{FF2B5EF4-FFF2-40B4-BE49-F238E27FC236}">
                  <a16:creationId xmlns:a16="http://schemas.microsoft.com/office/drawing/2014/main" id="{5506DC43-9905-43B8-9443-D46EFA2E5ABE}"/>
                </a:ext>
              </a:extLst>
            </p:cNvPr>
            <p:cNvSpPr/>
            <p:nvPr/>
          </p:nvSpPr>
          <p:spPr>
            <a:xfrm>
              <a:off x="2411460" y="565822"/>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بالا بردن کیفیت اجرائی طرحها</a:t>
              </a:r>
              <a:endParaRPr sz="1200" dirty="0">
                <a:latin typeface="Roboto"/>
                <a:ea typeface="Roboto"/>
                <a:cs typeface="IRAN Sans" panose="020B0400000000000000" pitchFamily="34" charset="-78"/>
                <a:sym typeface="Roboto"/>
              </a:endParaRPr>
            </a:p>
          </p:txBody>
        </p:sp>
        <p:cxnSp>
          <p:nvCxnSpPr>
            <p:cNvPr id="87" name="Google Shape;933;p32">
              <a:extLst>
                <a:ext uri="{FF2B5EF4-FFF2-40B4-BE49-F238E27FC236}">
                  <a16:creationId xmlns:a16="http://schemas.microsoft.com/office/drawing/2014/main" id="{7642F792-04C2-4C4A-AA4C-D413A36C9ECD}"/>
                </a:ext>
              </a:extLst>
            </p:cNvPr>
            <p:cNvCxnSpPr>
              <a:cxnSpLocks/>
            </p:cNvCxnSpPr>
            <p:nvPr/>
          </p:nvCxnSpPr>
          <p:spPr>
            <a:xfrm>
              <a:off x="1907382" y="78834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89" name="Google Shape;935;p32">
            <a:extLst>
              <a:ext uri="{FF2B5EF4-FFF2-40B4-BE49-F238E27FC236}">
                <a16:creationId xmlns:a16="http://schemas.microsoft.com/office/drawing/2014/main" id="{6C2F9E0D-D943-4F14-8970-988957EECDAF}"/>
              </a:ext>
            </a:extLst>
          </p:cNvPr>
          <p:cNvSpPr/>
          <p:nvPr/>
        </p:nvSpPr>
        <p:spPr>
          <a:xfrm>
            <a:off x="1035943" y="2318970"/>
            <a:ext cx="435857"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2"/>
            </a:solidFill>
            <a:prstDash val="solid"/>
            <a:round/>
            <a:headEnd type="none" w="med" len="med"/>
            <a:tailEnd type="oval" w="med" len="med"/>
          </a:ln>
        </p:spPr>
        <p:txBody>
          <a:bodyPr/>
          <a:lstStyle/>
          <a:p>
            <a:endParaRPr lang="en-US"/>
          </a:p>
        </p:txBody>
      </p:sp>
      <p:grpSp>
        <p:nvGrpSpPr>
          <p:cNvPr id="3" name="Group 2">
            <a:extLst>
              <a:ext uri="{FF2B5EF4-FFF2-40B4-BE49-F238E27FC236}">
                <a16:creationId xmlns:a16="http://schemas.microsoft.com/office/drawing/2014/main" id="{F85F823E-C31C-494F-B2AA-A24A2C4736EB}"/>
              </a:ext>
            </a:extLst>
          </p:cNvPr>
          <p:cNvGrpSpPr/>
          <p:nvPr/>
        </p:nvGrpSpPr>
        <p:grpSpPr>
          <a:xfrm>
            <a:off x="1213217" y="2068654"/>
            <a:ext cx="5613117" cy="445077"/>
            <a:chOff x="998665" y="1192619"/>
            <a:chExt cx="5613117" cy="445077"/>
          </a:xfrm>
        </p:grpSpPr>
        <p:sp>
          <p:nvSpPr>
            <p:cNvPr id="90" name="Google Shape;936;p32">
              <a:extLst>
                <a:ext uri="{FF2B5EF4-FFF2-40B4-BE49-F238E27FC236}">
                  <a16:creationId xmlns:a16="http://schemas.microsoft.com/office/drawing/2014/main" id="{4D266D6F-FE78-4059-8C5B-EA2452070BD3}"/>
                </a:ext>
              </a:extLst>
            </p:cNvPr>
            <p:cNvSpPr/>
            <p:nvPr/>
          </p:nvSpPr>
          <p:spPr>
            <a:xfrm>
              <a:off x="2818504" y="1192642"/>
              <a:ext cx="3793278"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دقیق‌تر و گویاتر نمودن اسناد و مدارک و مشخصات و نقشه‌های اجرائی</a:t>
              </a:r>
            </a:p>
          </p:txBody>
        </p:sp>
        <p:sp>
          <p:nvSpPr>
            <p:cNvPr id="91" name="Google Shape;937;p32">
              <a:extLst>
                <a:ext uri="{FF2B5EF4-FFF2-40B4-BE49-F238E27FC236}">
                  <a16:creationId xmlns:a16="http://schemas.microsoft.com/office/drawing/2014/main" id="{B237F1F7-60E2-4477-A060-55476AD9B842}"/>
                </a:ext>
              </a:extLst>
            </p:cNvPr>
            <p:cNvSpPr/>
            <p:nvPr/>
          </p:nvSpPr>
          <p:spPr>
            <a:xfrm>
              <a:off x="998665" y="1192619"/>
              <a:ext cx="1323243" cy="445054"/>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ب</a:t>
              </a:r>
              <a:endParaRPr dirty="0">
                <a:solidFill>
                  <a:srgbClr val="000000"/>
                </a:solidFill>
              </a:endParaRPr>
            </a:p>
          </p:txBody>
        </p:sp>
        <p:cxnSp>
          <p:nvCxnSpPr>
            <p:cNvPr id="92" name="Google Shape;938;p32">
              <a:extLst>
                <a:ext uri="{FF2B5EF4-FFF2-40B4-BE49-F238E27FC236}">
                  <a16:creationId xmlns:a16="http://schemas.microsoft.com/office/drawing/2014/main" id="{D39D7DB9-7FAC-45B2-AEBD-A3385F882229}"/>
                </a:ext>
              </a:extLst>
            </p:cNvPr>
            <p:cNvCxnSpPr>
              <a:cxnSpLocks/>
            </p:cNvCxnSpPr>
            <p:nvPr/>
          </p:nvCxnSpPr>
          <p:spPr>
            <a:xfrm>
              <a:off x="2301461" y="1418630"/>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94" name="Google Shape;940;p32">
            <a:extLst>
              <a:ext uri="{FF2B5EF4-FFF2-40B4-BE49-F238E27FC236}">
                <a16:creationId xmlns:a16="http://schemas.microsoft.com/office/drawing/2014/main" id="{99F7E3F9-BD32-47FF-B82B-8BB13960A115}"/>
              </a:ext>
            </a:extLst>
          </p:cNvPr>
          <p:cNvSpPr/>
          <p:nvPr/>
        </p:nvSpPr>
        <p:spPr>
          <a:xfrm>
            <a:off x="1440839" y="2995318"/>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3"/>
            </a:solidFill>
            <a:prstDash val="solid"/>
            <a:round/>
            <a:headEnd type="none" w="med" len="med"/>
            <a:tailEnd type="oval" w="med" len="med"/>
          </a:ln>
        </p:spPr>
        <p:txBody>
          <a:bodyPr/>
          <a:lstStyle/>
          <a:p>
            <a:endParaRPr lang="en-US"/>
          </a:p>
        </p:txBody>
      </p:sp>
      <p:grpSp>
        <p:nvGrpSpPr>
          <p:cNvPr id="4" name="Group 3">
            <a:extLst>
              <a:ext uri="{FF2B5EF4-FFF2-40B4-BE49-F238E27FC236}">
                <a16:creationId xmlns:a16="http://schemas.microsoft.com/office/drawing/2014/main" id="{C1191DD2-77C1-46BD-B046-CC004918E709}"/>
              </a:ext>
            </a:extLst>
          </p:cNvPr>
          <p:cNvGrpSpPr/>
          <p:nvPr/>
        </p:nvGrpSpPr>
        <p:grpSpPr>
          <a:xfrm>
            <a:off x="1532541" y="2655652"/>
            <a:ext cx="5613115" cy="445055"/>
            <a:chOff x="1405707" y="1819437"/>
            <a:chExt cx="5613115" cy="445055"/>
          </a:xfrm>
        </p:grpSpPr>
        <p:sp>
          <p:nvSpPr>
            <p:cNvPr id="95" name="Google Shape;941;p32">
              <a:extLst>
                <a:ext uri="{FF2B5EF4-FFF2-40B4-BE49-F238E27FC236}">
                  <a16:creationId xmlns:a16="http://schemas.microsoft.com/office/drawing/2014/main" id="{B9FD4D39-1530-42F1-8B92-A38DC82AE752}"/>
                </a:ext>
              </a:extLst>
            </p:cNvPr>
            <p:cNvSpPr/>
            <p:nvPr/>
          </p:nvSpPr>
          <p:spPr>
            <a:xfrm>
              <a:off x="1405707" y="1819438"/>
              <a:ext cx="1323242" cy="445054"/>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پ</a:t>
              </a:r>
              <a:endParaRPr dirty="0">
                <a:solidFill>
                  <a:srgbClr val="000000"/>
                </a:solidFill>
              </a:endParaRPr>
            </a:p>
          </p:txBody>
        </p:sp>
        <p:sp>
          <p:nvSpPr>
            <p:cNvPr id="96" name="Google Shape;942;p32">
              <a:extLst>
                <a:ext uri="{FF2B5EF4-FFF2-40B4-BE49-F238E27FC236}">
                  <a16:creationId xmlns:a16="http://schemas.microsoft.com/office/drawing/2014/main" id="{769134A9-5BA4-45EB-B1A8-21909AC0805F}"/>
                </a:ext>
              </a:extLst>
            </p:cNvPr>
            <p:cNvSpPr/>
            <p:nvPr/>
          </p:nvSpPr>
          <p:spPr>
            <a:xfrm>
              <a:off x="3225547" y="1819437"/>
              <a:ext cx="3793275"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کاهش هزینه‌های اجرائی</a:t>
              </a:r>
            </a:p>
          </p:txBody>
        </p:sp>
        <p:cxnSp>
          <p:nvCxnSpPr>
            <p:cNvPr id="97" name="Google Shape;943;p32">
              <a:extLst>
                <a:ext uri="{FF2B5EF4-FFF2-40B4-BE49-F238E27FC236}">
                  <a16:creationId xmlns:a16="http://schemas.microsoft.com/office/drawing/2014/main" id="{5AAD4763-3880-4DC7-9909-F808D4DCC952}"/>
                </a:ext>
              </a:extLst>
            </p:cNvPr>
            <p:cNvCxnSpPr>
              <a:cxnSpLocks/>
            </p:cNvCxnSpPr>
            <p:nvPr/>
          </p:nvCxnSpPr>
          <p:spPr>
            <a:xfrm>
              <a:off x="2714074" y="2048789"/>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5" name="Group 4">
            <a:extLst>
              <a:ext uri="{FF2B5EF4-FFF2-40B4-BE49-F238E27FC236}">
                <a16:creationId xmlns:a16="http://schemas.microsoft.com/office/drawing/2014/main" id="{F3303038-1E9F-448F-A523-4CA49835F5D3}"/>
              </a:ext>
            </a:extLst>
          </p:cNvPr>
          <p:cNvGrpSpPr/>
          <p:nvPr/>
        </p:nvGrpSpPr>
        <p:grpSpPr>
          <a:xfrm>
            <a:off x="1937437" y="3266059"/>
            <a:ext cx="5613114" cy="445065"/>
            <a:chOff x="1812751" y="2446247"/>
            <a:chExt cx="5613114" cy="445065"/>
          </a:xfrm>
        </p:grpSpPr>
        <p:sp>
          <p:nvSpPr>
            <p:cNvPr id="100" name="Google Shape;946;p32">
              <a:extLst>
                <a:ext uri="{FF2B5EF4-FFF2-40B4-BE49-F238E27FC236}">
                  <a16:creationId xmlns:a16="http://schemas.microsoft.com/office/drawing/2014/main" id="{42A92E4B-446F-4033-BF47-40193A4EBBCB}"/>
                </a:ext>
              </a:extLst>
            </p:cNvPr>
            <p:cNvSpPr/>
            <p:nvPr/>
          </p:nvSpPr>
          <p:spPr>
            <a:xfrm>
              <a:off x="1812751" y="2446247"/>
              <a:ext cx="1323243" cy="445055"/>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ت</a:t>
              </a:r>
              <a:endParaRPr dirty="0">
                <a:solidFill>
                  <a:srgbClr val="000000"/>
                </a:solidFill>
              </a:endParaRPr>
            </a:p>
          </p:txBody>
        </p:sp>
        <p:sp>
          <p:nvSpPr>
            <p:cNvPr id="101" name="Google Shape;947;p32">
              <a:extLst>
                <a:ext uri="{FF2B5EF4-FFF2-40B4-BE49-F238E27FC236}">
                  <a16:creationId xmlns:a16="http://schemas.microsoft.com/office/drawing/2014/main" id="{932CF27B-F082-45AB-AE49-04E3BAFC0B57}"/>
                </a:ext>
              </a:extLst>
            </p:cNvPr>
            <p:cNvSpPr/>
            <p:nvPr/>
          </p:nvSpPr>
          <p:spPr>
            <a:xfrm>
              <a:off x="3632588" y="2446257"/>
              <a:ext cx="3793277" cy="445055"/>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جلوگیری از صرف هزینه‌های زائد</a:t>
              </a:r>
            </a:p>
          </p:txBody>
        </p:sp>
        <p:cxnSp>
          <p:nvCxnSpPr>
            <p:cNvPr id="102" name="Google Shape;948;p32">
              <a:extLst>
                <a:ext uri="{FF2B5EF4-FFF2-40B4-BE49-F238E27FC236}">
                  <a16:creationId xmlns:a16="http://schemas.microsoft.com/office/drawing/2014/main" id="{5C283512-5838-463A-9DB3-24927365C078}"/>
                </a:ext>
              </a:extLst>
            </p:cNvPr>
            <p:cNvCxnSpPr>
              <a:cxnSpLocks/>
            </p:cNvCxnSpPr>
            <p:nvPr/>
          </p:nvCxnSpPr>
          <p:spPr>
            <a:xfrm>
              <a:off x="3124634" y="267131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110" name="Freeform 117">
            <a:hlinkClick r:id="" action="ppaction://hlinkshowjump?jump=nextslide"/>
            <a:extLst>
              <a:ext uri="{FF2B5EF4-FFF2-40B4-BE49-F238E27FC236}">
                <a16:creationId xmlns:a16="http://schemas.microsoft.com/office/drawing/2014/main" id="{9667FCDF-BD66-4F8B-9968-5129CE02AF53}"/>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111" name="Freeform 118">
            <a:hlinkClick r:id="" action="ppaction://hlinkshowjump?jump=previousslide"/>
            <a:extLst>
              <a:ext uri="{FF2B5EF4-FFF2-40B4-BE49-F238E27FC236}">
                <a16:creationId xmlns:a16="http://schemas.microsoft.com/office/drawing/2014/main" id="{D36F53B2-83EC-49D6-A749-EAC0852880A8}"/>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12" name="Google Shape;299;p20">
            <a:extLst>
              <a:ext uri="{FF2B5EF4-FFF2-40B4-BE49-F238E27FC236}">
                <a16:creationId xmlns:a16="http://schemas.microsoft.com/office/drawing/2014/main" id="{A0159CEE-AF88-4C73-A8CF-A28F20757F31}"/>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01;p20">
            <a:hlinkClick r:id="rId3" action="ppaction://hlinksldjump"/>
            <a:extLst>
              <a:ext uri="{FF2B5EF4-FFF2-40B4-BE49-F238E27FC236}">
                <a16:creationId xmlns:a16="http://schemas.microsoft.com/office/drawing/2014/main" id="{9E2FE7C8-7AF5-484A-BED5-6EB33A23B720}"/>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14" name="Google Shape;307;p20">
            <a:extLst>
              <a:ext uri="{FF2B5EF4-FFF2-40B4-BE49-F238E27FC236}">
                <a16:creationId xmlns:a16="http://schemas.microsoft.com/office/drawing/2014/main" id="{1988F015-C358-4827-9738-EAAB467CEF3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09;p20">
            <a:hlinkClick r:id="rId4" action="ppaction://hlinksldjump"/>
            <a:extLst>
              <a:ext uri="{FF2B5EF4-FFF2-40B4-BE49-F238E27FC236}">
                <a16:creationId xmlns:a16="http://schemas.microsoft.com/office/drawing/2014/main" id="{F5127C69-61FF-418D-B22F-0A693FC0A811}"/>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16" name="Google Shape;315;p20">
            <a:extLst>
              <a:ext uri="{FF2B5EF4-FFF2-40B4-BE49-F238E27FC236}">
                <a16:creationId xmlns:a16="http://schemas.microsoft.com/office/drawing/2014/main" id="{AEF26EC8-B253-4212-8D1C-B779746F77F6}"/>
              </a:ext>
            </a:extLst>
          </p:cNvPr>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7" name="Google Shape;317;p20">
            <a:hlinkClick r:id="rId5" action="ppaction://hlinksldjump"/>
            <a:extLst>
              <a:ext uri="{FF2B5EF4-FFF2-40B4-BE49-F238E27FC236}">
                <a16:creationId xmlns:a16="http://schemas.microsoft.com/office/drawing/2014/main" id="{AF177592-FE17-441C-B1AB-8D92F813DBE6}"/>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lvl="0" algn="ct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118" name="Google Shape;322;p20">
            <a:extLst>
              <a:ext uri="{FF2B5EF4-FFF2-40B4-BE49-F238E27FC236}">
                <a16:creationId xmlns:a16="http://schemas.microsoft.com/office/drawing/2014/main" id="{4F4FD1D4-E7E8-433C-8C06-0A5C54D2589B}"/>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24;p20">
            <a:hlinkClick r:id="rId6" action="ppaction://hlinksldjump"/>
            <a:extLst>
              <a:ext uri="{FF2B5EF4-FFF2-40B4-BE49-F238E27FC236}">
                <a16:creationId xmlns:a16="http://schemas.microsoft.com/office/drawing/2014/main" id="{8CA1E3EB-203A-43C7-9FBE-3ABEBDE547AB}"/>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20" name="Google Shape;307;p20">
            <a:extLst>
              <a:ext uri="{FF2B5EF4-FFF2-40B4-BE49-F238E27FC236}">
                <a16:creationId xmlns:a16="http://schemas.microsoft.com/office/drawing/2014/main" id="{9BD5CF9A-1E2A-4249-93F4-CA1E829F7C88}"/>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09;p20">
            <a:hlinkClick r:id="rId7" action="ppaction://hlinksldjump"/>
            <a:extLst>
              <a:ext uri="{FF2B5EF4-FFF2-40B4-BE49-F238E27FC236}">
                <a16:creationId xmlns:a16="http://schemas.microsoft.com/office/drawing/2014/main" id="{2BABCD82-4714-4DDF-A88C-2303034F2FB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endParaRP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22" name="Google Shape;307;p20">
            <a:extLst>
              <a:ext uri="{FF2B5EF4-FFF2-40B4-BE49-F238E27FC236}">
                <a16:creationId xmlns:a16="http://schemas.microsoft.com/office/drawing/2014/main" id="{1A2D8440-C1B6-425B-9967-5267CA1EB4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09;p20">
            <a:hlinkClick r:id="" action="ppaction://noaction"/>
            <a:extLst>
              <a:ext uri="{FF2B5EF4-FFF2-40B4-BE49-F238E27FC236}">
                <a16:creationId xmlns:a16="http://schemas.microsoft.com/office/drawing/2014/main" id="{D7868094-FC50-498B-AD96-8D4A8643841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اجرایی</a:t>
            </a:r>
            <a:endParaRP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24" name="Google Shape;326;p20">
            <a:extLst>
              <a:ext uri="{FF2B5EF4-FFF2-40B4-BE49-F238E27FC236}">
                <a16:creationId xmlns:a16="http://schemas.microsoft.com/office/drawing/2014/main" id="{C1BE9E88-D81C-4CFC-A47E-95D401BBCA73}"/>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03;p20">
            <a:extLst>
              <a:ext uri="{FF2B5EF4-FFF2-40B4-BE49-F238E27FC236}">
                <a16:creationId xmlns:a16="http://schemas.microsoft.com/office/drawing/2014/main" id="{7816EDF5-44CB-4CA4-AE00-17384927C4B4}"/>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11;p20">
            <a:extLst>
              <a:ext uri="{FF2B5EF4-FFF2-40B4-BE49-F238E27FC236}">
                <a16:creationId xmlns:a16="http://schemas.microsoft.com/office/drawing/2014/main" id="{3A53359E-FD6C-404D-ACC0-27FAE094711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29;p20">
            <a:extLst>
              <a:ext uri="{FF2B5EF4-FFF2-40B4-BE49-F238E27FC236}">
                <a16:creationId xmlns:a16="http://schemas.microsoft.com/office/drawing/2014/main" id="{9B232DA9-986D-4725-9426-077423C1DE8A}"/>
              </a:ext>
            </a:extLst>
          </p:cNvPr>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11;p20">
            <a:extLst>
              <a:ext uri="{FF2B5EF4-FFF2-40B4-BE49-F238E27FC236}">
                <a16:creationId xmlns:a16="http://schemas.microsoft.com/office/drawing/2014/main" id="{5DCA8546-0F8F-46ED-9ED0-20EC5157DA88}"/>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11;p20">
            <a:extLst>
              <a:ext uri="{FF2B5EF4-FFF2-40B4-BE49-F238E27FC236}">
                <a16:creationId xmlns:a16="http://schemas.microsoft.com/office/drawing/2014/main" id="{6D6AC58D-31ED-4D62-86AF-77A866948D76}"/>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0" name="Group 129">
            <a:extLst>
              <a:ext uri="{FF2B5EF4-FFF2-40B4-BE49-F238E27FC236}">
                <a16:creationId xmlns:a16="http://schemas.microsoft.com/office/drawing/2014/main" id="{D0F261D3-10AD-420B-BD03-1B380D7C9B13}"/>
              </a:ext>
            </a:extLst>
          </p:cNvPr>
          <p:cNvGrpSpPr/>
          <p:nvPr/>
        </p:nvGrpSpPr>
        <p:grpSpPr>
          <a:xfrm>
            <a:off x="2090313" y="4055040"/>
            <a:ext cx="496596" cy="647522"/>
            <a:chOff x="2090313" y="4055040"/>
            <a:chExt cx="496596" cy="647522"/>
          </a:xfrm>
        </p:grpSpPr>
        <p:cxnSp>
          <p:nvCxnSpPr>
            <p:cNvPr id="131" name="Google Shape;327;p20">
              <a:extLst>
                <a:ext uri="{FF2B5EF4-FFF2-40B4-BE49-F238E27FC236}">
                  <a16:creationId xmlns:a16="http://schemas.microsoft.com/office/drawing/2014/main" id="{77995597-7D36-4004-A567-15585BC5608A}"/>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25;p20">
              <a:extLst>
                <a:ext uri="{FF2B5EF4-FFF2-40B4-BE49-F238E27FC236}">
                  <a16:creationId xmlns:a16="http://schemas.microsoft.com/office/drawing/2014/main" id="{332DBDD9-2D41-4894-8129-770CC88392C4}"/>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B90F800F-C9D9-4B17-924C-81671B6F6CF0}"/>
                </a:ext>
              </a:extLst>
            </p:cNvPr>
            <p:cNvGrpSpPr/>
            <p:nvPr/>
          </p:nvGrpSpPr>
          <p:grpSpPr>
            <a:xfrm>
              <a:off x="2221611" y="4179917"/>
              <a:ext cx="234000" cy="234000"/>
              <a:chOff x="2247014" y="4211643"/>
              <a:chExt cx="183194" cy="183390"/>
            </a:xfrm>
          </p:grpSpPr>
          <p:sp>
            <p:nvSpPr>
              <p:cNvPr id="134" name="Google Shape;331;p20">
                <a:extLst>
                  <a:ext uri="{FF2B5EF4-FFF2-40B4-BE49-F238E27FC236}">
                    <a16:creationId xmlns:a16="http://schemas.microsoft.com/office/drawing/2014/main" id="{F06C8CF8-87F8-48C4-9DBE-459A7FA438C4}"/>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32;p20">
                <a:extLst>
                  <a:ext uri="{FF2B5EF4-FFF2-40B4-BE49-F238E27FC236}">
                    <a16:creationId xmlns:a16="http://schemas.microsoft.com/office/drawing/2014/main" id="{B62D99D2-7C42-4331-8226-D693B7A05816}"/>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33;p20">
                <a:extLst>
                  <a:ext uri="{FF2B5EF4-FFF2-40B4-BE49-F238E27FC236}">
                    <a16:creationId xmlns:a16="http://schemas.microsoft.com/office/drawing/2014/main" id="{58180308-AB43-4BFB-9DD8-1F38F3F70A8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34;p20">
                <a:extLst>
                  <a:ext uri="{FF2B5EF4-FFF2-40B4-BE49-F238E27FC236}">
                    <a16:creationId xmlns:a16="http://schemas.microsoft.com/office/drawing/2014/main" id="{EDCC535A-7497-4FFE-941F-F37C093BA65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35;p20">
                <a:extLst>
                  <a:ext uri="{FF2B5EF4-FFF2-40B4-BE49-F238E27FC236}">
                    <a16:creationId xmlns:a16="http://schemas.microsoft.com/office/drawing/2014/main" id="{A3010A57-7428-4001-8F35-5A4AA79C37C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36;p20">
                <a:extLst>
                  <a:ext uri="{FF2B5EF4-FFF2-40B4-BE49-F238E27FC236}">
                    <a16:creationId xmlns:a16="http://schemas.microsoft.com/office/drawing/2014/main" id="{834E817B-E92F-43F6-8A7D-B4EBA748A361}"/>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37;p20">
                <a:extLst>
                  <a:ext uri="{FF2B5EF4-FFF2-40B4-BE49-F238E27FC236}">
                    <a16:creationId xmlns:a16="http://schemas.microsoft.com/office/drawing/2014/main" id="{34991476-6318-490B-B22F-5C4707B8E94C}"/>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38;p20">
                <a:extLst>
                  <a:ext uri="{FF2B5EF4-FFF2-40B4-BE49-F238E27FC236}">
                    <a16:creationId xmlns:a16="http://schemas.microsoft.com/office/drawing/2014/main" id="{BF9E5BA9-E1C1-4172-82C7-3A5090CD2BC4}"/>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39;p20">
                <a:extLst>
                  <a:ext uri="{FF2B5EF4-FFF2-40B4-BE49-F238E27FC236}">
                    <a16:creationId xmlns:a16="http://schemas.microsoft.com/office/drawing/2014/main" id="{C11112AB-5E0D-48E1-8369-4E675BEE0717}"/>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3" name="Google Shape;340;p20">
                <a:extLst>
                  <a:ext uri="{FF2B5EF4-FFF2-40B4-BE49-F238E27FC236}">
                    <a16:creationId xmlns:a16="http://schemas.microsoft.com/office/drawing/2014/main" id="{A64C5060-7D3F-46CB-9E92-BE9E83103FB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1;p20">
                <a:extLst>
                  <a:ext uri="{FF2B5EF4-FFF2-40B4-BE49-F238E27FC236}">
                    <a16:creationId xmlns:a16="http://schemas.microsoft.com/office/drawing/2014/main" id="{687252F7-A0CD-4328-89F4-AF539437F66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5" name="Google Shape;342;p20">
                <a:extLst>
                  <a:ext uri="{FF2B5EF4-FFF2-40B4-BE49-F238E27FC236}">
                    <a16:creationId xmlns:a16="http://schemas.microsoft.com/office/drawing/2014/main" id="{D1B0048E-B129-4FD5-918C-D929483ADC40}"/>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6" name="Google Shape;343;p20">
                <a:extLst>
                  <a:ext uri="{FF2B5EF4-FFF2-40B4-BE49-F238E27FC236}">
                    <a16:creationId xmlns:a16="http://schemas.microsoft.com/office/drawing/2014/main" id="{8E962523-CA2D-4BE4-A3B5-AE6955B95F4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7" name="Group 146">
            <a:extLst>
              <a:ext uri="{FF2B5EF4-FFF2-40B4-BE49-F238E27FC236}">
                <a16:creationId xmlns:a16="http://schemas.microsoft.com/office/drawing/2014/main" id="{8A313345-7DE6-4128-83DC-9BD36B5E0A5B}"/>
              </a:ext>
            </a:extLst>
          </p:cNvPr>
          <p:cNvGrpSpPr/>
          <p:nvPr/>
        </p:nvGrpSpPr>
        <p:grpSpPr>
          <a:xfrm>
            <a:off x="600089" y="4055040"/>
            <a:ext cx="496596" cy="647483"/>
            <a:chOff x="600089" y="4055040"/>
            <a:chExt cx="496596" cy="647483"/>
          </a:xfrm>
        </p:grpSpPr>
        <p:cxnSp>
          <p:nvCxnSpPr>
            <p:cNvPr id="148" name="Google Shape;304;p20">
              <a:extLst>
                <a:ext uri="{FF2B5EF4-FFF2-40B4-BE49-F238E27FC236}">
                  <a16:creationId xmlns:a16="http://schemas.microsoft.com/office/drawing/2014/main" id="{8AC7EAF7-6410-4F29-A61D-89F532F8EF40}"/>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49" name="Google Shape;302;p20">
              <a:extLst>
                <a:ext uri="{FF2B5EF4-FFF2-40B4-BE49-F238E27FC236}">
                  <a16:creationId xmlns:a16="http://schemas.microsoft.com/office/drawing/2014/main" id="{283AA301-443F-41D7-A16B-5F5007C7AED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97" name="Group 196">
              <a:extLst>
                <a:ext uri="{FF2B5EF4-FFF2-40B4-BE49-F238E27FC236}">
                  <a16:creationId xmlns:a16="http://schemas.microsoft.com/office/drawing/2014/main" id="{C2D8A48D-5017-44DB-86B0-FC810E485325}"/>
                </a:ext>
              </a:extLst>
            </p:cNvPr>
            <p:cNvGrpSpPr/>
            <p:nvPr/>
          </p:nvGrpSpPr>
          <p:grpSpPr>
            <a:xfrm>
              <a:off x="718825" y="4179544"/>
              <a:ext cx="252000" cy="234000"/>
              <a:chOff x="760166" y="4216727"/>
              <a:chExt cx="176529" cy="173221"/>
            </a:xfrm>
          </p:grpSpPr>
          <p:sp>
            <p:nvSpPr>
              <p:cNvPr id="198" name="Google Shape;345;p20">
                <a:extLst>
                  <a:ext uri="{FF2B5EF4-FFF2-40B4-BE49-F238E27FC236}">
                    <a16:creationId xmlns:a16="http://schemas.microsoft.com/office/drawing/2014/main" id="{60D898FE-F0BC-47E1-8529-5A8B4EE2FF8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9" name="Google Shape;346;p20">
                <a:extLst>
                  <a:ext uri="{FF2B5EF4-FFF2-40B4-BE49-F238E27FC236}">
                    <a16:creationId xmlns:a16="http://schemas.microsoft.com/office/drawing/2014/main" id="{1C6E9FCE-D392-433D-9F6A-296276718DF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2" name="Google Shape;347;p20">
                <a:extLst>
                  <a:ext uri="{FF2B5EF4-FFF2-40B4-BE49-F238E27FC236}">
                    <a16:creationId xmlns:a16="http://schemas.microsoft.com/office/drawing/2014/main" id="{5009185C-2E84-4AFF-B660-E66D2C3F05C1}"/>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03" name="Group 202">
            <a:extLst>
              <a:ext uri="{FF2B5EF4-FFF2-40B4-BE49-F238E27FC236}">
                <a16:creationId xmlns:a16="http://schemas.microsoft.com/office/drawing/2014/main" id="{9126985E-3A19-48E6-9ABB-8CBC88DE3569}"/>
              </a:ext>
            </a:extLst>
          </p:cNvPr>
          <p:cNvGrpSpPr/>
          <p:nvPr/>
        </p:nvGrpSpPr>
        <p:grpSpPr>
          <a:xfrm>
            <a:off x="3580536" y="4055040"/>
            <a:ext cx="496596" cy="647522"/>
            <a:chOff x="3580536" y="4055040"/>
            <a:chExt cx="496596" cy="647522"/>
          </a:xfrm>
        </p:grpSpPr>
        <p:cxnSp>
          <p:nvCxnSpPr>
            <p:cNvPr id="204" name="Google Shape;312;p20">
              <a:extLst>
                <a:ext uri="{FF2B5EF4-FFF2-40B4-BE49-F238E27FC236}">
                  <a16:creationId xmlns:a16="http://schemas.microsoft.com/office/drawing/2014/main" id="{25CD141C-E7D9-4010-8D5A-0B267B9FCF4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05" name="Google Shape;310;p20">
              <a:extLst>
                <a:ext uri="{FF2B5EF4-FFF2-40B4-BE49-F238E27FC236}">
                  <a16:creationId xmlns:a16="http://schemas.microsoft.com/office/drawing/2014/main" id="{F6538460-1A04-4F7B-BC6D-C39EFCE57F5E}"/>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6" name="Google Shape;348;p20">
              <a:extLst>
                <a:ext uri="{FF2B5EF4-FFF2-40B4-BE49-F238E27FC236}">
                  <a16:creationId xmlns:a16="http://schemas.microsoft.com/office/drawing/2014/main" id="{04B7E80C-9DBF-4046-9BE2-9EA7A3FD56E4}"/>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07" name="Group 206">
            <a:extLst>
              <a:ext uri="{FF2B5EF4-FFF2-40B4-BE49-F238E27FC236}">
                <a16:creationId xmlns:a16="http://schemas.microsoft.com/office/drawing/2014/main" id="{74292737-30F9-4C0B-8967-78174FBAB5FF}"/>
              </a:ext>
            </a:extLst>
          </p:cNvPr>
          <p:cNvGrpSpPr/>
          <p:nvPr/>
        </p:nvGrpSpPr>
        <p:grpSpPr>
          <a:xfrm>
            <a:off x="5067104" y="4055039"/>
            <a:ext cx="496596" cy="647522"/>
            <a:chOff x="5067104" y="4055039"/>
            <a:chExt cx="496596" cy="647522"/>
          </a:xfrm>
        </p:grpSpPr>
        <p:cxnSp>
          <p:nvCxnSpPr>
            <p:cNvPr id="208" name="Google Shape;312;p20">
              <a:extLst>
                <a:ext uri="{FF2B5EF4-FFF2-40B4-BE49-F238E27FC236}">
                  <a16:creationId xmlns:a16="http://schemas.microsoft.com/office/drawing/2014/main" id="{608D8428-107D-4A10-AEB4-2010C6B2913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9" name="Google Shape;310;p20">
              <a:extLst>
                <a:ext uri="{FF2B5EF4-FFF2-40B4-BE49-F238E27FC236}">
                  <a16:creationId xmlns:a16="http://schemas.microsoft.com/office/drawing/2014/main" id="{C565B14C-9AD3-4498-ADC9-FB0F8299A68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0" name="Google Shape;364;p21">
              <a:extLst>
                <a:ext uri="{FF2B5EF4-FFF2-40B4-BE49-F238E27FC236}">
                  <a16:creationId xmlns:a16="http://schemas.microsoft.com/office/drawing/2014/main" id="{EC874FDF-B903-484C-B6AF-7D48F1DACDB0}"/>
                </a:ext>
              </a:extLst>
            </p:cNvPr>
            <p:cNvGrpSpPr/>
            <p:nvPr/>
          </p:nvGrpSpPr>
          <p:grpSpPr>
            <a:xfrm>
              <a:off x="5191745" y="4172810"/>
              <a:ext cx="247311" cy="230069"/>
              <a:chOff x="6577238" y="2457221"/>
              <a:chExt cx="332019" cy="310788"/>
            </a:xfrm>
            <a:solidFill>
              <a:schemeClr val="bg1"/>
            </a:solidFill>
          </p:grpSpPr>
          <p:sp>
            <p:nvSpPr>
              <p:cNvPr id="211" name="Google Shape;365;p21">
                <a:extLst>
                  <a:ext uri="{FF2B5EF4-FFF2-40B4-BE49-F238E27FC236}">
                    <a16:creationId xmlns:a16="http://schemas.microsoft.com/office/drawing/2014/main" id="{2895EDA9-ADBF-42C2-8E63-1DEFA6360E6D}"/>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366;p21">
                <a:extLst>
                  <a:ext uri="{FF2B5EF4-FFF2-40B4-BE49-F238E27FC236}">
                    <a16:creationId xmlns:a16="http://schemas.microsoft.com/office/drawing/2014/main" id="{C8F8DBE1-3B8D-4640-88F3-51FB6CA4ACBA}"/>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367;p21">
                <a:extLst>
                  <a:ext uri="{FF2B5EF4-FFF2-40B4-BE49-F238E27FC236}">
                    <a16:creationId xmlns:a16="http://schemas.microsoft.com/office/drawing/2014/main" id="{33215BE0-30ED-405B-898A-E22D1F7703D1}"/>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368;p21">
                <a:extLst>
                  <a:ext uri="{FF2B5EF4-FFF2-40B4-BE49-F238E27FC236}">
                    <a16:creationId xmlns:a16="http://schemas.microsoft.com/office/drawing/2014/main" id="{56DE0F2B-3917-4268-8CAD-9CC797E6EBD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369;p21">
                <a:extLst>
                  <a:ext uri="{FF2B5EF4-FFF2-40B4-BE49-F238E27FC236}">
                    <a16:creationId xmlns:a16="http://schemas.microsoft.com/office/drawing/2014/main" id="{E8612184-270C-4867-95CC-1F6991CF2013}"/>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370;p21">
                <a:extLst>
                  <a:ext uri="{FF2B5EF4-FFF2-40B4-BE49-F238E27FC236}">
                    <a16:creationId xmlns:a16="http://schemas.microsoft.com/office/drawing/2014/main" id="{D856B3F8-A1E9-4A01-AD57-86E0BE310E4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 name="Group 216">
            <a:extLst>
              <a:ext uri="{FF2B5EF4-FFF2-40B4-BE49-F238E27FC236}">
                <a16:creationId xmlns:a16="http://schemas.microsoft.com/office/drawing/2014/main" id="{99DDED1C-9500-427C-86C3-C95C2671ABEA}"/>
              </a:ext>
            </a:extLst>
          </p:cNvPr>
          <p:cNvGrpSpPr/>
          <p:nvPr/>
        </p:nvGrpSpPr>
        <p:grpSpPr>
          <a:xfrm>
            <a:off x="6557210" y="4055039"/>
            <a:ext cx="496596" cy="647522"/>
            <a:chOff x="6557210" y="4055039"/>
            <a:chExt cx="496596" cy="647522"/>
          </a:xfrm>
        </p:grpSpPr>
        <p:cxnSp>
          <p:nvCxnSpPr>
            <p:cNvPr id="218" name="Google Shape;312;p20">
              <a:extLst>
                <a:ext uri="{FF2B5EF4-FFF2-40B4-BE49-F238E27FC236}">
                  <a16:creationId xmlns:a16="http://schemas.microsoft.com/office/drawing/2014/main" id="{D9456069-1110-473F-80A7-E1720D930BA9}"/>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9" name="Google Shape;310;p20">
              <a:extLst>
                <a:ext uri="{FF2B5EF4-FFF2-40B4-BE49-F238E27FC236}">
                  <a16:creationId xmlns:a16="http://schemas.microsoft.com/office/drawing/2014/main" id="{A6A33077-CF85-49B4-A128-A56E0951D50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0" name="Google Shape;492;p23">
              <a:extLst>
                <a:ext uri="{FF2B5EF4-FFF2-40B4-BE49-F238E27FC236}">
                  <a16:creationId xmlns:a16="http://schemas.microsoft.com/office/drawing/2014/main" id="{E0F4A18A-F5AD-49C5-8937-3800DDC36B68}"/>
                </a:ext>
              </a:extLst>
            </p:cNvPr>
            <p:cNvGrpSpPr/>
            <p:nvPr/>
          </p:nvGrpSpPr>
          <p:grpSpPr>
            <a:xfrm>
              <a:off x="6681779" y="4170275"/>
              <a:ext cx="252000" cy="252000"/>
              <a:chOff x="2280029" y="1970604"/>
              <a:chExt cx="353631" cy="354395"/>
            </a:xfrm>
          </p:grpSpPr>
          <p:sp>
            <p:nvSpPr>
              <p:cNvPr id="221" name="Google Shape;493;p23">
                <a:extLst>
                  <a:ext uri="{FF2B5EF4-FFF2-40B4-BE49-F238E27FC236}">
                    <a16:creationId xmlns:a16="http://schemas.microsoft.com/office/drawing/2014/main" id="{01EFAF2A-6454-43F2-950F-29C795CCF515}"/>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494;p23">
                <a:extLst>
                  <a:ext uri="{FF2B5EF4-FFF2-40B4-BE49-F238E27FC236}">
                    <a16:creationId xmlns:a16="http://schemas.microsoft.com/office/drawing/2014/main" id="{065A9759-DEE0-42DD-A205-3D34A1957AF3}"/>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495;p23">
                <a:extLst>
                  <a:ext uri="{FF2B5EF4-FFF2-40B4-BE49-F238E27FC236}">
                    <a16:creationId xmlns:a16="http://schemas.microsoft.com/office/drawing/2014/main" id="{75A05F68-EA86-4D0F-8371-3C73DD90EA8C}"/>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496;p23">
                <a:extLst>
                  <a:ext uri="{FF2B5EF4-FFF2-40B4-BE49-F238E27FC236}">
                    <a16:creationId xmlns:a16="http://schemas.microsoft.com/office/drawing/2014/main" id="{62D74441-7E87-4E07-BA08-CA967F0A194E}"/>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 name="Group 224">
            <a:extLst>
              <a:ext uri="{FF2B5EF4-FFF2-40B4-BE49-F238E27FC236}">
                <a16:creationId xmlns:a16="http://schemas.microsoft.com/office/drawing/2014/main" id="{6ADEAC22-7599-44EC-A23D-694CADCF3881}"/>
              </a:ext>
            </a:extLst>
          </p:cNvPr>
          <p:cNvGrpSpPr/>
          <p:nvPr/>
        </p:nvGrpSpPr>
        <p:grpSpPr>
          <a:xfrm>
            <a:off x="8047295" y="4055039"/>
            <a:ext cx="496596" cy="647522"/>
            <a:chOff x="8047295" y="4055039"/>
            <a:chExt cx="496596" cy="647522"/>
          </a:xfrm>
        </p:grpSpPr>
        <p:cxnSp>
          <p:nvCxnSpPr>
            <p:cNvPr id="226" name="Google Shape;319;p20">
              <a:extLst>
                <a:ext uri="{FF2B5EF4-FFF2-40B4-BE49-F238E27FC236}">
                  <a16:creationId xmlns:a16="http://schemas.microsoft.com/office/drawing/2014/main" id="{BD378713-D60B-4B8A-87FA-8AEB30958B2B}"/>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27" name="Google Shape;318;p20">
              <a:extLst>
                <a:ext uri="{FF2B5EF4-FFF2-40B4-BE49-F238E27FC236}">
                  <a16:creationId xmlns:a16="http://schemas.microsoft.com/office/drawing/2014/main" id="{09457FAD-4E85-462D-8454-FEE460D78D5F}"/>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8" name="Google Shape;764;p28">
              <a:extLst>
                <a:ext uri="{FF2B5EF4-FFF2-40B4-BE49-F238E27FC236}">
                  <a16:creationId xmlns:a16="http://schemas.microsoft.com/office/drawing/2014/main" id="{A9B5AABD-26AC-4082-906A-D7BA3003384D}"/>
                </a:ext>
              </a:extLst>
            </p:cNvPr>
            <p:cNvGrpSpPr/>
            <p:nvPr/>
          </p:nvGrpSpPr>
          <p:grpSpPr>
            <a:xfrm>
              <a:off x="8205593" y="4170275"/>
              <a:ext cx="180000" cy="252000"/>
              <a:chOff x="1333682" y="3344330"/>
              <a:chExt cx="271213" cy="383088"/>
            </a:xfrm>
            <a:solidFill>
              <a:schemeClr val="bg1"/>
            </a:solidFill>
          </p:grpSpPr>
          <p:sp>
            <p:nvSpPr>
              <p:cNvPr id="229" name="Google Shape;765;p28">
                <a:extLst>
                  <a:ext uri="{FF2B5EF4-FFF2-40B4-BE49-F238E27FC236}">
                    <a16:creationId xmlns:a16="http://schemas.microsoft.com/office/drawing/2014/main" id="{38FD3BEE-EE60-4BB6-9568-171C00BC1D59}"/>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766;p28">
                <a:extLst>
                  <a:ext uri="{FF2B5EF4-FFF2-40B4-BE49-F238E27FC236}">
                    <a16:creationId xmlns:a16="http://schemas.microsoft.com/office/drawing/2014/main" id="{9E73C89F-7193-4306-A7AD-5AEBD94A19C5}"/>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767;p28">
                <a:extLst>
                  <a:ext uri="{FF2B5EF4-FFF2-40B4-BE49-F238E27FC236}">
                    <a16:creationId xmlns:a16="http://schemas.microsoft.com/office/drawing/2014/main" id="{886C707E-5D83-499C-B231-3961400050F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768;p28">
                <a:extLst>
                  <a:ext uri="{FF2B5EF4-FFF2-40B4-BE49-F238E27FC236}">
                    <a16:creationId xmlns:a16="http://schemas.microsoft.com/office/drawing/2014/main" id="{69A29789-A96E-4631-99F4-156325991737}"/>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769;p28">
                <a:extLst>
                  <a:ext uri="{FF2B5EF4-FFF2-40B4-BE49-F238E27FC236}">
                    <a16:creationId xmlns:a16="http://schemas.microsoft.com/office/drawing/2014/main" id="{801C7DA4-C2E1-4AFA-B26E-ADEAF60FADD3}"/>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770;p28">
                <a:extLst>
                  <a:ext uri="{FF2B5EF4-FFF2-40B4-BE49-F238E27FC236}">
                    <a16:creationId xmlns:a16="http://schemas.microsoft.com/office/drawing/2014/main" id="{4A30E37C-4597-47BF-8A94-326A08C05F6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771;p28">
                <a:extLst>
                  <a:ext uri="{FF2B5EF4-FFF2-40B4-BE49-F238E27FC236}">
                    <a16:creationId xmlns:a16="http://schemas.microsoft.com/office/drawing/2014/main" id="{8B09A654-F435-40F6-8CEB-FD2319BA4C7A}"/>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772;p28">
                <a:extLst>
                  <a:ext uri="{FF2B5EF4-FFF2-40B4-BE49-F238E27FC236}">
                    <a16:creationId xmlns:a16="http://schemas.microsoft.com/office/drawing/2014/main" id="{3F6E461D-A671-44DD-95DF-835E7A42F409}"/>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773;p28">
                <a:extLst>
                  <a:ext uri="{FF2B5EF4-FFF2-40B4-BE49-F238E27FC236}">
                    <a16:creationId xmlns:a16="http://schemas.microsoft.com/office/drawing/2014/main" id="{30220493-542A-433A-94E5-4F0061885FDF}"/>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774;p28">
                <a:extLst>
                  <a:ext uri="{FF2B5EF4-FFF2-40B4-BE49-F238E27FC236}">
                    <a16:creationId xmlns:a16="http://schemas.microsoft.com/office/drawing/2014/main" id="{20A4C289-2827-4728-A977-7A4F8D0C093B}"/>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775;p28">
                <a:extLst>
                  <a:ext uri="{FF2B5EF4-FFF2-40B4-BE49-F238E27FC236}">
                    <a16:creationId xmlns:a16="http://schemas.microsoft.com/office/drawing/2014/main" id="{E7365F41-E099-4AEE-A57F-0E02F0D83F9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Rectangle: Rounded Corners 6">
            <a:extLst>
              <a:ext uri="{FF2B5EF4-FFF2-40B4-BE49-F238E27FC236}">
                <a16:creationId xmlns:a16="http://schemas.microsoft.com/office/drawing/2014/main" id="{B1045BF1-BF75-CF8A-1176-AAD23B3F0424}"/>
              </a:ext>
            </a:extLst>
          </p:cNvPr>
          <p:cNvSpPr/>
          <p:nvPr/>
        </p:nvSpPr>
        <p:spPr>
          <a:xfrm>
            <a:off x="718825" y="801830"/>
            <a:ext cx="7790985" cy="362879"/>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200" b="1" dirty="0">
                <a:solidFill>
                  <a:schemeClr val="tx1">
                    <a:lumMod val="95000"/>
                    <a:lumOff val="5000"/>
                  </a:schemeClr>
                </a:solidFill>
                <a:cs typeface="+mj-cs"/>
              </a:rPr>
              <a:t>ماده 3 – منظور از تعیین استانداردهای اجرائی طرحهای عمرانی ایجاد یک نظام فنی و اجرائی برای این طرحها است بنحوی که هدفهای زیر تامین گردد :</a:t>
            </a:r>
          </a:p>
        </p:txBody>
      </p:sp>
    </p:spTree>
    <p:extLst>
      <p:ext uri="{BB962C8B-B14F-4D97-AF65-F5344CB8AC3E}">
        <p14:creationId xmlns:p14="http://schemas.microsoft.com/office/powerpoint/2010/main" val="2447630044"/>
      </p:ext>
    </p:extLst>
  </p:cSld>
  <p:clrMapOvr>
    <a:masterClrMapping/>
  </p:clrMapOvr>
  <mc:AlternateContent xmlns:mc="http://schemas.openxmlformats.org/markup-compatibility/2006" xmlns:p14="http://schemas.microsoft.com/office/powerpoint/2010/main">
    <mc:Choice Requires="p14">
      <p:transition p14:dur="10">
        <p:split orient="vert"/>
      </p:transition>
    </mc:Choice>
    <mc:Fallback xmlns="">
      <p:transition>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110"/>
                                        </p:tgtEl>
                                        <p:attrNameLst>
                                          <p:attrName>style.visibility</p:attrName>
                                        </p:attrNameLst>
                                      </p:cBhvr>
                                      <p:to>
                                        <p:strVal val="visible"/>
                                      </p:to>
                                    </p:set>
                                    <p:anim calcmode="lin" valueType="num">
                                      <p:cBhvr additive="base">
                                        <p:cTn id="25" dur="500" fill="hold"/>
                                        <p:tgtEl>
                                          <p:spTgt spid="110"/>
                                        </p:tgtEl>
                                        <p:attrNameLst>
                                          <p:attrName>ppt_x</p:attrName>
                                        </p:attrNameLst>
                                      </p:cBhvr>
                                      <p:tavLst>
                                        <p:tav tm="0">
                                          <p:val>
                                            <p:strVal val="1+#ppt_w/2"/>
                                          </p:val>
                                        </p:tav>
                                        <p:tav tm="100000">
                                          <p:val>
                                            <p:strVal val="#ppt_x"/>
                                          </p:val>
                                        </p:tav>
                                      </p:tavLst>
                                    </p:anim>
                                    <p:anim calcmode="lin" valueType="num">
                                      <p:cBhvr additive="base">
                                        <p:cTn id="26" dur="500" fill="hold"/>
                                        <p:tgtEl>
                                          <p:spTgt spid="110"/>
                                        </p:tgtEl>
                                        <p:attrNameLst>
                                          <p:attrName>ppt_y</p:attrName>
                                        </p:attrNameLst>
                                      </p:cBhvr>
                                      <p:tavLst>
                                        <p:tav tm="0">
                                          <p:val>
                                            <p:strVal val="#ppt_y"/>
                                          </p:val>
                                        </p:tav>
                                        <p:tav tm="100000">
                                          <p:val>
                                            <p:strVal val="#ppt_y"/>
                                          </p:val>
                                        </p:tav>
                                      </p:tavLst>
                                    </p:anim>
                                  </p:childTnLst>
                                </p:cTn>
                              </p:par>
                            </p:childTnLst>
                          </p:cTn>
                        </p:par>
                        <p:par>
                          <p:cTn id="27" fill="hold">
                            <p:stCondLst>
                              <p:cond delay="2050"/>
                            </p:stCondLst>
                            <p:childTnLst>
                              <p:par>
                                <p:cTn id="28" presetID="22" presetClass="entr" presetSubtype="4" fill="hold" grpId="0"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down)">
                                      <p:cBhvr>
                                        <p:cTn id="30" dur="500"/>
                                        <p:tgtEl>
                                          <p:spTgt spid="7"/>
                                        </p:tgtEl>
                                      </p:cBhvr>
                                    </p:animEffect>
                                  </p:childTnLst>
                                </p:cTn>
                              </p:par>
                              <p:par>
                                <p:cTn id="31" presetID="2" presetClass="entr" presetSubtype="8" fill="hold" grpId="0" nodeType="withEffect">
                                  <p:stCondLst>
                                    <p:cond delay="0"/>
                                  </p:stCondLst>
                                  <p:childTnLst>
                                    <p:set>
                                      <p:cBhvr>
                                        <p:cTn id="32" dur="1" fill="hold">
                                          <p:stCondLst>
                                            <p:cond delay="0"/>
                                          </p:stCondLst>
                                        </p:cTn>
                                        <p:tgtEl>
                                          <p:spTgt spid="111"/>
                                        </p:tgtEl>
                                        <p:attrNameLst>
                                          <p:attrName>style.visibility</p:attrName>
                                        </p:attrNameLst>
                                      </p:cBhvr>
                                      <p:to>
                                        <p:strVal val="visible"/>
                                      </p:to>
                                    </p:set>
                                    <p:anim calcmode="lin" valueType="num">
                                      <p:cBhvr additive="base">
                                        <p:cTn id="33" dur="500" fill="hold"/>
                                        <p:tgtEl>
                                          <p:spTgt spid="111"/>
                                        </p:tgtEl>
                                        <p:attrNameLst>
                                          <p:attrName>ppt_x</p:attrName>
                                        </p:attrNameLst>
                                      </p:cBhvr>
                                      <p:tavLst>
                                        <p:tav tm="0">
                                          <p:val>
                                            <p:strVal val="0-#ppt_w/2"/>
                                          </p:val>
                                        </p:tav>
                                        <p:tav tm="100000">
                                          <p:val>
                                            <p:strVal val="#ppt_x"/>
                                          </p:val>
                                        </p:tav>
                                      </p:tavLst>
                                    </p:anim>
                                    <p:anim calcmode="lin" valueType="num">
                                      <p:cBhvr additive="base">
                                        <p:cTn id="34" dur="500" fill="hold"/>
                                        <p:tgtEl>
                                          <p:spTgt spid="111"/>
                                        </p:tgtEl>
                                        <p:attrNameLst>
                                          <p:attrName>ppt_y</p:attrName>
                                        </p:attrNameLst>
                                      </p:cBhvr>
                                      <p:tavLst>
                                        <p:tav tm="0">
                                          <p:val>
                                            <p:strVal val="#ppt_y"/>
                                          </p:val>
                                        </p:tav>
                                        <p:tav tm="100000">
                                          <p:val>
                                            <p:strVal val="#ppt_y"/>
                                          </p:val>
                                        </p:tav>
                                      </p:tavLst>
                                    </p:anim>
                                  </p:childTnLst>
                                </p:cTn>
                              </p:par>
                              <p:par>
                                <p:cTn id="35" presetID="22" presetClass="entr" presetSubtype="8"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2000"/>
                                        <p:tgtEl>
                                          <p:spTgt spid="2"/>
                                        </p:tgtEl>
                                      </p:cBhvr>
                                    </p:animEffect>
                                  </p:childTnLst>
                                </p:cTn>
                              </p:par>
                            </p:childTnLst>
                          </p:cTn>
                        </p:par>
                        <p:par>
                          <p:cTn id="38" fill="hold">
                            <p:stCondLst>
                              <p:cond delay="4050"/>
                            </p:stCondLst>
                            <p:childTnLst>
                              <p:par>
                                <p:cTn id="39" presetID="20" presetClass="entr" presetSubtype="0" fill="hold" nodeType="afterEffect">
                                  <p:stCondLst>
                                    <p:cond delay="0"/>
                                  </p:stCondLst>
                                  <p:childTnLst>
                                    <p:set>
                                      <p:cBhvr>
                                        <p:cTn id="40" dur="1" fill="hold">
                                          <p:stCondLst>
                                            <p:cond delay="0"/>
                                          </p:stCondLst>
                                        </p:cTn>
                                        <p:tgtEl>
                                          <p:spTgt spid="84"/>
                                        </p:tgtEl>
                                        <p:attrNameLst>
                                          <p:attrName>style.visibility</p:attrName>
                                        </p:attrNameLst>
                                      </p:cBhvr>
                                      <p:to>
                                        <p:strVal val="visible"/>
                                      </p:to>
                                    </p:set>
                                    <p:animEffect transition="in" filter="wedge">
                                      <p:cBhvr>
                                        <p:cTn id="41" dur="2000"/>
                                        <p:tgtEl>
                                          <p:spTgt spid="84"/>
                                        </p:tgtEl>
                                      </p:cBhvr>
                                    </p:animEffect>
                                  </p:childTnLst>
                                </p:cTn>
                              </p:par>
                            </p:childTnLst>
                          </p:cTn>
                        </p:par>
                        <p:par>
                          <p:cTn id="42" fill="hold">
                            <p:stCondLst>
                              <p:cond delay="6050"/>
                            </p:stCondLst>
                            <p:childTnLst>
                              <p:par>
                                <p:cTn id="43" presetID="22" presetClass="entr" presetSubtype="8" fill="hold"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left)">
                                      <p:cBhvr>
                                        <p:cTn id="45" dur="2000"/>
                                        <p:tgtEl>
                                          <p:spTgt spid="3"/>
                                        </p:tgtEl>
                                      </p:cBhvr>
                                    </p:animEffect>
                                  </p:childTnLst>
                                </p:cTn>
                              </p:par>
                            </p:childTnLst>
                          </p:cTn>
                        </p:par>
                        <p:par>
                          <p:cTn id="46" fill="hold">
                            <p:stCondLst>
                              <p:cond delay="8050"/>
                            </p:stCondLst>
                            <p:childTnLst>
                              <p:par>
                                <p:cTn id="47" presetID="20" presetClass="entr" presetSubtype="0" fill="hold" nodeType="afterEffect">
                                  <p:stCondLst>
                                    <p:cond delay="0"/>
                                  </p:stCondLst>
                                  <p:childTnLst>
                                    <p:set>
                                      <p:cBhvr>
                                        <p:cTn id="48" dur="1" fill="hold">
                                          <p:stCondLst>
                                            <p:cond delay="0"/>
                                          </p:stCondLst>
                                        </p:cTn>
                                        <p:tgtEl>
                                          <p:spTgt spid="89"/>
                                        </p:tgtEl>
                                        <p:attrNameLst>
                                          <p:attrName>style.visibility</p:attrName>
                                        </p:attrNameLst>
                                      </p:cBhvr>
                                      <p:to>
                                        <p:strVal val="visible"/>
                                      </p:to>
                                    </p:set>
                                    <p:animEffect transition="in" filter="wedge">
                                      <p:cBhvr>
                                        <p:cTn id="49" dur="2000"/>
                                        <p:tgtEl>
                                          <p:spTgt spid="89"/>
                                        </p:tgtEl>
                                      </p:cBhvr>
                                    </p:animEffect>
                                  </p:childTnLst>
                                </p:cTn>
                              </p:par>
                            </p:childTnLst>
                          </p:cTn>
                        </p:par>
                        <p:par>
                          <p:cTn id="50" fill="hold">
                            <p:stCondLst>
                              <p:cond delay="10050"/>
                            </p:stCondLst>
                            <p:childTnLst>
                              <p:par>
                                <p:cTn id="51" presetID="22" presetClass="entr" presetSubtype="8" fill="hold" nodeType="after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wipe(left)">
                                      <p:cBhvr>
                                        <p:cTn id="53" dur="2000"/>
                                        <p:tgtEl>
                                          <p:spTgt spid="4"/>
                                        </p:tgtEl>
                                      </p:cBhvr>
                                    </p:animEffect>
                                  </p:childTnLst>
                                </p:cTn>
                              </p:par>
                            </p:childTnLst>
                          </p:cTn>
                        </p:par>
                        <p:par>
                          <p:cTn id="54" fill="hold">
                            <p:stCondLst>
                              <p:cond delay="12050"/>
                            </p:stCondLst>
                            <p:childTnLst>
                              <p:par>
                                <p:cTn id="55" presetID="20" presetClass="entr" presetSubtype="0" fill="hold" nodeType="afterEffect">
                                  <p:stCondLst>
                                    <p:cond delay="0"/>
                                  </p:stCondLst>
                                  <p:childTnLst>
                                    <p:set>
                                      <p:cBhvr>
                                        <p:cTn id="56" dur="1" fill="hold">
                                          <p:stCondLst>
                                            <p:cond delay="0"/>
                                          </p:stCondLst>
                                        </p:cTn>
                                        <p:tgtEl>
                                          <p:spTgt spid="94"/>
                                        </p:tgtEl>
                                        <p:attrNameLst>
                                          <p:attrName>style.visibility</p:attrName>
                                        </p:attrNameLst>
                                      </p:cBhvr>
                                      <p:to>
                                        <p:strVal val="visible"/>
                                      </p:to>
                                    </p:set>
                                    <p:animEffect transition="in" filter="wedge">
                                      <p:cBhvr>
                                        <p:cTn id="57" dur="2000"/>
                                        <p:tgtEl>
                                          <p:spTgt spid="94"/>
                                        </p:tgtEl>
                                      </p:cBhvr>
                                    </p:animEffect>
                                  </p:childTnLst>
                                </p:cTn>
                              </p:par>
                            </p:childTnLst>
                          </p:cTn>
                        </p:par>
                        <p:par>
                          <p:cTn id="58" fill="hold">
                            <p:stCondLst>
                              <p:cond delay="14050"/>
                            </p:stCondLst>
                            <p:childTnLst>
                              <p:par>
                                <p:cTn id="59" presetID="22" presetClass="entr" presetSubtype="8" fill="hold" nodeType="afterEffect">
                                  <p:stCondLst>
                                    <p:cond delay="0"/>
                                  </p:stCondLst>
                                  <p:childTnLst>
                                    <p:set>
                                      <p:cBhvr>
                                        <p:cTn id="60" dur="1" fill="hold">
                                          <p:stCondLst>
                                            <p:cond delay="0"/>
                                          </p:stCondLst>
                                        </p:cTn>
                                        <p:tgtEl>
                                          <p:spTgt spid="5"/>
                                        </p:tgtEl>
                                        <p:attrNameLst>
                                          <p:attrName>style.visibility</p:attrName>
                                        </p:attrNameLst>
                                      </p:cBhvr>
                                      <p:to>
                                        <p:strVal val="visible"/>
                                      </p:to>
                                    </p:set>
                                    <p:animEffect transition="in" filter="wipe(left)">
                                      <p:cBhvr>
                                        <p:cTn id="61"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10" grpId="0" animBg="1"/>
      <p:bldP spid="111" grpId="0" animBg="1"/>
      <p:bldP spid="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6"/>
                </a:solidFill>
                <a:cs typeface="IRAN Sans" panose="020B0400000000000000" pitchFamily="34" charset="-78"/>
              </a:rPr>
              <a:t>استاندارد های اجرایی طرح های عمرانی</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04</a:t>
            </a:r>
          </a:p>
        </p:txBody>
      </p:sp>
      <p:sp>
        <p:nvSpPr>
          <p:cNvPr id="84" name="Google Shape;930;p32">
            <a:extLst>
              <a:ext uri="{FF2B5EF4-FFF2-40B4-BE49-F238E27FC236}">
                <a16:creationId xmlns:a16="http://schemas.microsoft.com/office/drawing/2014/main" id="{0F9AB217-E9C2-46AF-91D5-D8E0F5E8441A}"/>
              </a:ext>
            </a:extLst>
          </p:cNvPr>
          <p:cNvSpPr/>
          <p:nvPr/>
        </p:nvSpPr>
        <p:spPr>
          <a:xfrm>
            <a:off x="454681" y="1332029"/>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endParaRPr lang="en-US"/>
          </a:p>
        </p:txBody>
      </p:sp>
      <p:sp>
        <p:nvSpPr>
          <p:cNvPr id="89" name="Google Shape;935;p32">
            <a:extLst>
              <a:ext uri="{FF2B5EF4-FFF2-40B4-BE49-F238E27FC236}">
                <a16:creationId xmlns:a16="http://schemas.microsoft.com/office/drawing/2014/main" id="{6C2F9E0D-D943-4F14-8970-988957EECDAF}"/>
              </a:ext>
            </a:extLst>
          </p:cNvPr>
          <p:cNvSpPr/>
          <p:nvPr/>
        </p:nvSpPr>
        <p:spPr>
          <a:xfrm>
            <a:off x="878756" y="1969461"/>
            <a:ext cx="435857"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2"/>
            </a:solidFill>
            <a:prstDash val="solid"/>
            <a:round/>
            <a:headEnd type="none" w="med" len="med"/>
            <a:tailEnd type="oval" w="med" len="med"/>
          </a:ln>
        </p:spPr>
        <p:txBody>
          <a:bodyPr/>
          <a:lstStyle/>
          <a:p>
            <a:endParaRPr lang="en-US"/>
          </a:p>
        </p:txBody>
      </p:sp>
      <p:grpSp>
        <p:nvGrpSpPr>
          <p:cNvPr id="3" name="Group 2">
            <a:extLst>
              <a:ext uri="{FF2B5EF4-FFF2-40B4-BE49-F238E27FC236}">
                <a16:creationId xmlns:a16="http://schemas.microsoft.com/office/drawing/2014/main" id="{F85F823E-C31C-494F-B2AA-A24A2C4736EB}"/>
              </a:ext>
            </a:extLst>
          </p:cNvPr>
          <p:cNvGrpSpPr/>
          <p:nvPr/>
        </p:nvGrpSpPr>
        <p:grpSpPr>
          <a:xfrm>
            <a:off x="718825" y="1120226"/>
            <a:ext cx="5613117" cy="445077"/>
            <a:chOff x="998665" y="1192619"/>
            <a:chExt cx="5613117" cy="445077"/>
          </a:xfrm>
        </p:grpSpPr>
        <p:sp>
          <p:nvSpPr>
            <p:cNvPr id="90" name="Google Shape;936;p32">
              <a:extLst>
                <a:ext uri="{FF2B5EF4-FFF2-40B4-BE49-F238E27FC236}">
                  <a16:creationId xmlns:a16="http://schemas.microsoft.com/office/drawing/2014/main" id="{4D266D6F-FE78-4059-8C5B-EA2452070BD3}"/>
                </a:ext>
              </a:extLst>
            </p:cNvPr>
            <p:cNvSpPr/>
            <p:nvPr/>
          </p:nvSpPr>
          <p:spPr>
            <a:xfrm>
              <a:off x="2818504" y="1192642"/>
              <a:ext cx="3793278"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سریع‌تر کردن گردش انجام مطالعات و تهیه نقشه‌ها و مشخصات</a:t>
              </a:r>
            </a:p>
          </p:txBody>
        </p:sp>
        <p:sp>
          <p:nvSpPr>
            <p:cNvPr id="91" name="Google Shape;937;p32">
              <a:extLst>
                <a:ext uri="{FF2B5EF4-FFF2-40B4-BE49-F238E27FC236}">
                  <a16:creationId xmlns:a16="http://schemas.microsoft.com/office/drawing/2014/main" id="{B237F1F7-60E2-4477-A060-55476AD9B842}"/>
                </a:ext>
              </a:extLst>
            </p:cNvPr>
            <p:cNvSpPr/>
            <p:nvPr/>
          </p:nvSpPr>
          <p:spPr>
            <a:xfrm>
              <a:off x="998665" y="1192619"/>
              <a:ext cx="1323243" cy="445054"/>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ث</a:t>
              </a:r>
              <a:endParaRPr dirty="0">
                <a:solidFill>
                  <a:srgbClr val="000000"/>
                </a:solidFill>
              </a:endParaRPr>
            </a:p>
          </p:txBody>
        </p:sp>
        <p:cxnSp>
          <p:nvCxnSpPr>
            <p:cNvPr id="92" name="Google Shape;938;p32">
              <a:extLst>
                <a:ext uri="{FF2B5EF4-FFF2-40B4-BE49-F238E27FC236}">
                  <a16:creationId xmlns:a16="http://schemas.microsoft.com/office/drawing/2014/main" id="{D39D7DB9-7FAC-45B2-AEBD-A3385F882229}"/>
                </a:ext>
              </a:extLst>
            </p:cNvPr>
            <p:cNvCxnSpPr>
              <a:cxnSpLocks/>
            </p:cNvCxnSpPr>
            <p:nvPr/>
          </p:nvCxnSpPr>
          <p:spPr>
            <a:xfrm>
              <a:off x="2301461" y="1418630"/>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94" name="Google Shape;940;p32">
            <a:extLst>
              <a:ext uri="{FF2B5EF4-FFF2-40B4-BE49-F238E27FC236}">
                <a16:creationId xmlns:a16="http://schemas.microsoft.com/office/drawing/2014/main" id="{99F7E3F9-BD32-47FF-B82B-8BB13960A115}"/>
              </a:ext>
            </a:extLst>
          </p:cNvPr>
          <p:cNvSpPr/>
          <p:nvPr/>
        </p:nvSpPr>
        <p:spPr>
          <a:xfrm>
            <a:off x="1314613" y="2588438"/>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3"/>
            </a:solidFill>
            <a:prstDash val="solid"/>
            <a:round/>
            <a:headEnd type="none" w="med" len="med"/>
            <a:tailEnd type="oval" w="med" len="med"/>
          </a:ln>
        </p:spPr>
        <p:txBody>
          <a:bodyPr/>
          <a:lstStyle/>
          <a:p>
            <a:endParaRPr lang="en-US"/>
          </a:p>
        </p:txBody>
      </p:sp>
      <p:grpSp>
        <p:nvGrpSpPr>
          <p:cNvPr id="4" name="Group 3">
            <a:extLst>
              <a:ext uri="{FF2B5EF4-FFF2-40B4-BE49-F238E27FC236}">
                <a16:creationId xmlns:a16="http://schemas.microsoft.com/office/drawing/2014/main" id="{C1191DD2-77C1-46BD-B046-CC004918E709}"/>
              </a:ext>
            </a:extLst>
          </p:cNvPr>
          <p:cNvGrpSpPr/>
          <p:nvPr/>
        </p:nvGrpSpPr>
        <p:grpSpPr>
          <a:xfrm>
            <a:off x="1146390" y="1746391"/>
            <a:ext cx="5613115" cy="445055"/>
            <a:chOff x="1405707" y="1819437"/>
            <a:chExt cx="5613115" cy="445055"/>
          </a:xfrm>
        </p:grpSpPr>
        <p:sp>
          <p:nvSpPr>
            <p:cNvPr id="95" name="Google Shape;941;p32">
              <a:extLst>
                <a:ext uri="{FF2B5EF4-FFF2-40B4-BE49-F238E27FC236}">
                  <a16:creationId xmlns:a16="http://schemas.microsoft.com/office/drawing/2014/main" id="{B9FD4D39-1530-42F1-8B92-A38DC82AE752}"/>
                </a:ext>
              </a:extLst>
            </p:cNvPr>
            <p:cNvSpPr/>
            <p:nvPr/>
          </p:nvSpPr>
          <p:spPr>
            <a:xfrm>
              <a:off x="1405707" y="1819438"/>
              <a:ext cx="1323242" cy="445054"/>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ج</a:t>
              </a:r>
              <a:endParaRPr dirty="0">
                <a:solidFill>
                  <a:srgbClr val="000000"/>
                </a:solidFill>
              </a:endParaRPr>
            </a:p>
          </p:txBody>
        </p:sp>
        <p:sp>
          <p:nvSpPr>
            <p:cNvPr id="96" name="Google Shape;942;p32">
              <a:extLst>
                <a:ext uri="{FF2B5EF4-FFF2-40B4-BE49-F238E27FC236}">
                  <a16:creationId xmlns:a16="http://schemas.microsoft.com/office/drawing/2014/main" id="{769134A9-5BA4-45EB-B1A8-21909AC0805F}"/>
                </a:ext>
              </a:extLst>
            </p:cNvPr>
            <p:cNvSpPr/>
            <p:nvPr/>
          </p:nvSpPr>
          <p:spPr>
            <a:xfrm>
              <a:off x="3225547" y="1819437"/>
              <a:ext cx="3793275"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احتراز از تهیه مکرر نقشه‌هاو مشخصات و جزئیاتی که ممکن است به صورت تیپ قابل تهیه باشد </a:t>
              </a:r>
            </a:p>
          </p:txBody>
        </p:sp>
        <p:cxnSp>
          <p:nvCxnSpPr>
            <p:cNvPr id="97" name="Google Shape;943;p32">
              <a:extLst>
                <a:ext uri="{FF2B5EF4-FFF2-40B4-BE49-F238E27FC236}">
                  <a16:creationId xmlns:a16="http://schemas.microsoft.com/office/drawing/2014/main" id="{5AAD4763-3880-4DC7-9909-F808D4DCC952}"/>
                </a:ext>
              </a:extLst>
            </p:cNvPr>
            <p:cNvCxnSpPr>
              <a:cxnSpLocks/>
            </p:cNvCxnSpPr>
            <p:nvPr/>
          </p:nvCxnSpPr>
          <p:spPr>
            <a:xfrm>
              <a:off x="2714074" y="204878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99" name="Google Shape;945;p32">
            <a:extLst>
              <a:ext uri="{FF2B5EF4-FFF2-40B4-BE49-F238E27FC236}">
                <a16:creationId xmlns:a16="http://schemas.microsoft.com/office/drawing/2014/main" id="{A76B7353-BB14-47BE-AED5-99D87E5CEB95}"/>
              </a:ext>
            </a:extLst>
          </p:cNvPr>
          <p:cNvSpPr/>
          <p:nvPr/>
        </p:nvSpPr>
        <p:spPr>
          <a:xfrm>
            <a:off x="1758527" y="3221411"/>
            <a:ext cx="396579"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4"/>
            </a:solidFill>
            <a:prstDash val="solid"/>
            <a:round/>
            <a:headEnd type="none" w="med" len="med"/>
            <a:tailEnd type="oval" w="med" len="med"/>
          </a:ln>
        </p:spPr>
        <p:txBody>
          <a:bodyPr/>
          <a:lstStyle/>
          <a:p>
            <a:endParaRPr lang="en-US"/>
          </a:p>
        </p:txBody>
      </p:sp>
      <p:grpSp>
        <p:nvGrpSpPr>
          <p:cNvPr id="5" name="Group 4">
            <a:extLst>
              <a:ext uri="{FF2B5EF4-FFF2-40B4-BE49-F238E27FC236}">
                <a16:creationId xmlns:a16="http://schemas.microsoft.com/office/drawing/2014/main" id="{F3303038-1E9F-448F-A523-4CA49835F5D3}"/>
              </a:ext>
            </a:extLst>
          </p:cNvPr>
          <p:cNvGrpSpPr/>
          <p:nvPr/>
        </p:nvGrpSpPr>
        <p:grpSpPr>
          <a:xfrm>
            <a:off x="1628746" y="2349217"/>
            <a:ext cx="5613114" cy="445065"/>
            <a:chOff x="1812751" y="2446247"/>
            <a:chExt cx="5613114" cy="445065"/>
          </a:xfrm>
        </p:grpSpPr>
        <p:sp>
          <p:nvSpPr>
            <p:cNvPr id="100" name="Google Shape;946;p32">
              <a:extLst>
                <a:ext uri="{FF2B5EF4-FFF2-40B4-BE49-F238E27FC236}">
                  <a16:creationId xmlns:a16="http://schemas.microsoft.com/office/drawing/2014/main" id="{42A92E4B-446F-4033-BF47-40193A4EBBCB}"/>
                </a:ext>
              </a:extLst>
            </p:cNvPr>
            <p:cNvSpPr/>
            <p:nvPr/>
          </p:nvSpPr>
          <p:spPr>
            <a:xfrm>
              <a:off x="1812751" y="2446247"/>
              <a:ext cx="1323243" cy="445055"/>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چ</a:t>
              </a:r>
              <a:endParaRPr dirty="0">
                <a:solidFill>
                  <a:srgbClr val="000000"/>
                </a:solidFill>
              </a:endParaRPr>
            </a:p>
          </p:txBody>
        </p:sp>
        <p:sp>
          <p:nvSpPr>
            <p:cNvPr id="101" name="Google Shape;947;p32">
              <a:extLst>
                <a:ext uri="{FF2B5EF4-FFF2-40B4-BE49-F238E27FC236}">
                  <a16:creationId xmlns:a16="http://schemas.microsoft.com/office/drawing/2014/main" id="{932CF27B-F082-45AB-AE49-04E3BAFC0B57}"/>
                </a:ext>
              </a:extLst>
            </p:cNvPr>
            <p:cNvSpPr/>
            <p:nvPr/>
          </p:nvSpPr>
          <p:spPr>
            <a:xfrm>
              <a:off x="3632588" y="2446257"/>
              <a:ext cx="3793277" cy="445055"/>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یکنواخت نمودن رویه‌های اجرائی</a:t>
              </a:r>
            </a:p>
          </p:txBody>
        </p:sp>
        <p:cxnSp>
          <p:nvCxnSpPr>
            <p:cNvPr id="102" name="Google Shape;948;p32">
              <a:extLst>
                <a:ext uri="{FF2B5EF4-FFF2-40B4-BE49-F238E27FC236}">
                  <a16:creationId xmlns:a16="http://schemas.microsoft.com/office/drawing/2014/main" id="{5C283512-5838-463A-9DB3-24927365C078}"/>
                </a:ext>
              </a:extLst>
            </p:cNvPr>
            <p:cNvCxnSpPr>
              <a:cxnSpLocks/>
            </p:cNvCxnSpPr>
            <p:nvPr/>
          </p:nvCxnSpPr>
          <p:spPr>
            <a:xfrm>
              <a:off x="3124634" y="2671319"/>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6" name="Group 5">
            <a:extLst>
              <a:ext uri="{FF2B5EF4-FFF2-40B4-BE49-F238E27FC236}">
                <a16:creationId xmlns:a16="http://schemas.microsoft.com/office/drawing/2014/main" id="{182F8C48-378F-4870-A993-8DCB7444DFF7}"/>
              </a:ext>
            </a:extLst>
          </p:cNvPr>
          <p:cNvGrpSpPr/>
          <p:nvPr/>
        </p:nvGrpSpPr>
        <p:grpSpPr>
          <a:xfrm>
            <a:off x="1956816" y="2965017"/>
            <a:ext cx="5613116" cy="445055"/>
            <a:chOff x="2219795" y="3073054"/>
            <a:chExt cx="5613116" cy="445055"/>
          </a:xfrm>
        </p:grpSpPr>
        <p:sp>
          <p:nvSpPr>
            <p:cNvPr id="104" name="Google Shape;950;p32">
              <a:extLst>
                <a:ext uri="{FF2B5EF4-FFF2-40B4-BE49-F238E27FC236}">
                  <a16:creationId xmlns:a16="http://schemas.microsoft.com/office/drawing/2014/main" id="{73806DE3-412C-4E02-BC7D-5C2FEBD31529}"/>
                </a:ext>
              </a:extLst>
            </p:cNvPr>
            <p:cNvSpPr/>
            <p:nvPr/>
          </p:nvSpPr>
          <p:spPr>
            <a:xfrm>
              <a:off x="2219795" y="3073055"/>
              <a:ext cx="1323243" cy="445054"/>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ح</a:t>
              </a:r>
              <a:endParaRPr dirty="0">
                <a:solidFill>
                  <a:srgbClr val="000000"/>
                </a:solidFill>
              </a:endParaRPr>
            </a:p>
          </p:txBody>
        </p:sp>
        <p:sp>
          <p:nvSpPr>
            <p:cNvPr id="105" name="Google Shape;951;p32">
              <a:extLst>
                <a:ext uri="{FF2B5EF4-FFF2-40B4-BE49-F238E27FC236}">
                  <a16:creationId xmlns:a16="http://schemas.microsoft.com/office/drawing/2014/main" id="{2A7766DE-A6BB-4416-9844-2176FE9ADCF3}"/>
                </a:ext>
              </a:extLst>
            </p:cNvPr>
            <p:cNvSpPr/>
            <p:nvPr/>
          </p:nvSpPr>
          <p:spPr>
            <a:xfrm>
              <a:off x="4039634" y="3073054"/>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فراهم نمودن زمینه و شرایط لازم برای تولید انبوه ملزومات و مصالح و اجزا ساختمانی مورد نیاز طرحها</a:t>
              </a:r>
            </a:p>
          </p:txBody>
        </p:sp>
        <p:cxnSp>
          <p:nvCxnSpPr>
            <p:cNvPr id="106" name="Google Shape;952;p32">
              <a:extLst>
                <a:ext uri="{FF2B5EF4-FFF2-40B4-BE49-F238E27FC236}">
                  <a16:creationId xmlns:a16="http://schemas.microsoft.com/office/drawing/2014/main" id="{1EA6A652-D4C6-4EDB-99F5-D6A09DD61698}"/>
                </a:ext>
              </a:extLst>
            </p:cNvPr>
            <p:cNvCxnSpPr>
              <a:cxnSpLocks/>
            </p:cNvCxnSpPr>
            <p:nvPr/>
          </p:nvCxnSpPr>
          <p:spPr>
            <a:xfrm>
              <a:off x="3539653" y="3295581"/>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110" name="Freeform 117">
            <a:hlinkClick r:id="" action="ppaction://hlinkshowjump?jump=nextslide"/>
            <a:extLst>
              <a:ext uri="{FF2B5EF4-FFF2-40B4-BE49-F238E27FC236}">
                <a16:creationId xmlns:a16="http://schemas.microsoft.com/office/drawing/2014/main" id="{9667FCDF-BD66-4F8B-9968-5129CE02AF53}"/>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111" name="Freeform 118">
            <a:hlinkClick r:id="" action="ppaction://hlinkshowjump?jump=previousslide"/>
            <a:extLst>
              <a:ext uri="{FF2B5EF4-FFF2-40B4-BE49-F238E27FC236}">
                <a16:creationId xmlns:a16="http://schemas.microsoft.com/office/drawing/2014/main" id="{D36F53B2-83EC-49D6-A749-EAC0852880A8}"/>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12" name="Google Shape;299;p20">
            <a:extLst>
              <a:ext uri="{FF2B5EF4-FFF2-40B4-BE49-F238E27FC236}">
                <a16:creationId xmlns:a16="http://schemas.microsoft.com/office/drawing/2014/main" id="{A0159CEE-AF88-4C73-A8CF-A28F20757F31}"/>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01;p20">
            <a:hlinkClick r:id="rId3" action="ppaction://hlinksldjump"/>
            <a:extLst>
              <a:ext uri="{FF2B5EF4-FFF2-40B4-BE49-F238E27FC236}">
                <a16:creationId xmlns:a16="http://schemas.microsoft.com/office/drawing/2014/main" id="{9E2FE7C8-7AF5-484A-BED5-6EB33A23B720}"/>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14" name="Google Shape;307;p20">
            <a:extLst>
              <a:ext uri="{FF2B5EF4-FFF2-40B4-BE49-F238E27FC236}">
                <a16:creationId xmlns:a16="http://schemas.microsoft.com/office/drawing/2014/main" id="{1988F015-C358-4827-9738-EAAB467CEF3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09;p20">
            <a:hlinkClick r:id="rId4" action="ppaction://hlinksldjump"/>
            <a:extLst>
              <a:ext uri="{FF2B5EF4-FFF2-40B4-BE49-F238E27FC236}">
                <a16:creationId xmlns:a16="http://schemas.microsoft.com/office/drawing/2014/main" id="{F5127C69-61FF-418D-B22F-0A693FC0A811}"/>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16" name="Google Shape;315;p20">
            <a:extLst>
              <a:ext uri="{FF2B5EF4-FFF2-40B4-BE49-F238E27FC236}">
                <a16:creationId xmlns:a16="http://schemas.microsoft.com/office/drawing/2014/main" id="{AEF26EC8-B253-4212-8D1C-B779746F77F6}"/>
              </a:ext>
            </a:extLst>
          </p:cNvPr>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7" name="Google Shape;317;p20">
            <a:hlinkClick r:id="rId5" action="ppaction://hlinksldjump"/>
            <a:extLst>
              <a:ext uri="{FF2B5EF4-FFF2-40B4-BE49-F238E27FC236}">
                <a16:creationId xmlns:a16="http://schemas.microsoft.com/office/drawing/2014/main" id="{AF177592-FE17-441C-B1AB-8D92F813DBE6}"/>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lvl="0" algn="ct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118" name="Google Shape;322;p20">
            <a:extLst>
              <a:ext uri="{FF2B5EF4-FFF2-40B4-BE49-F238E27FC236}">
                <a16:creationId xmlns:a16="http://schemas.microsoft.com/office/drawing/2014/main" id="{4F4FD1D4-E7E8-433C-8C06-0A5C54D2589B}"/>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24;p20">
            <a:hlinkClick r:id="rId6" action="ppaction://hlinksldjump"/>
            <a:extLst>
              <a:ext uri="{FF2B5EF4-FFF2-40B4-BE49-F238E27FC236}">
                <a16:creationId xmlns:a16="http://schemas.microsoft.com/office/drawing/2014/main" id="{8CA1E3EB-203A-43C7-9FBE-3ABEBDE547AB}"/>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20" name="Google Shape;307;p20">
            <a:extLst>
              <a:ext uri="{FF2B5EF4-FFF2-40B4-BE49-F238E27FC236}">
                <a16:creationId xmlns:a16="http://schemas.microsoft.com/office/drawing/2014/main" id="{9BD5CF9A-1E2A-4249-93F4-CA1E829F7C88}"/>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09;p20">
            <a:hlinkClick r:id="rId7" action="ppaction://hlinksldjump"/>
            <a:extLst>
              <a:ext uri="{FF2B5EF4-FFF2-40B4-BE49-F238E27FC236}">
                <a16:creationId xmlns:a16="http://schemas.microsoft.com/office/drawing/2014/main" id="{2BABCD82-4714-4DDF-A88C-2303034F2FBC}"/>
              </a:ext>
            </a:extLst>
          </p:cNvPr>
          <p:cNvSpPr txBox="1"/>
          <p:nvPr/>
        </p:nvSpPr>
        <p:spPr>
          <a:xfrm>
            <a:off x="470715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p>
        </p:txBody>
      </p:sp>
      <p:sp>
        <p:nvSpPr>
          <p:cNvPr id="122" name="Google Shape;307;p20">
            <a:extLst>
              <a:ext uri="{FF2B5EF4-FFF2-40B4-BE49-F238E27FC236}">
                <a16:creationId xmlns:a16="http://schemas.microsoft.com/office/drawing/2014/main" id="{1A2D8440-C1B6-425B-9967-5267CA1EB4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09;p20">
            <a:hlinkClick r:id="" action="ppaction://noaction"/>
            <a:extLst>
              <a:ext uri="{FF2B5EF4-FFF2-40B4-BE49-F238E27FC236}">
                <a16:creationId xmlns:a16="http://schemas.microsoft.com/office/drawing/2014/main" id="{D7868094-FC50-498B-AD96-8D4A8643841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اجرایی</a:t>
            </a:r>
          </a:p>
        </p:txBody>
      </p:sp>
      <p:sp>
        <p:nvSpPr>
          <p:cNvPr id="124" name="Google Shape;326;p20">
            <a:extLst>
              <a:ext uri="{FF2B5EF4-FFF2-40B4-BE49-F238E27FC236}">
                <a16:creationId xmlns:a16="http://schemas.microsoft.com/office/drawing/2014/main" id="{C1BE9E88-D81C-4CFC-A47E-95D401BBCA73}"/>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03;p20">
            <a:extLst>
              <a:ext uri="{FF2B5EF4-FFF2-40B4-BE49-F238E27FC236}">
                <a16:creationId xmlns:a16="http://schemas.microsoft.com/office/drawing/2014/main" id="{7816EDF5-44CB-4CA4-AE00-17384927C4B4}"/>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11;p20">
            <a:extLst>
              <a:ext uri="{FF2B5EF4-FFF2-40B4-BE49-F238E27FC236}">
                <a16:creationId xmlns:a16="http://schemas.microsoft.com/office/drawing/2014/main" id="{3A53359E-FD6C-404D-ACC0-27FAE094711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29;p20">
            <a:extLst>
              <a:ext uri="{FF2B5EF4-FFF2-40B4-BE49-F238E27FC236}">
                <a16:creationId xmlns:a16="http://schemas.microsoft.com/office/drawing/2014/main" id="{9B232DA9-986D-4725-9426-077423C1DE8A}"/>
              </a:ext>
            </a:extLst>
          </p:cNvPr>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11;p20">
            <a:extLst>
              <a:ext uri="{FF2B5EF4-FFF2-40B4-BE49-F238E27FC236}">
                <a16:creationId xmlns:a16="http://schemas.microsoft.com/office/drawing/2014/main" id="{5DCA8546-0F8F-46ED-9ED0-20EC5157DA88}"/>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11;p20">
            <a:extLst>
              <a:ext uri="{FF2B5EF4-FFF2-40B4-BE49-F238E27FC236}">
                <a16:creationId xmlns:a16="http://schemas.microsoft.com/office/drawing/2014/main" id="{6D6AC58D-31ED-4D62-86AF-77A866948D76}"/>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0" name="Group 129">
            <a:extLst>
              <a:ext uri="{FF2B5EF4-FFF2-40B4-BE49-F238E27FC236}">
                <a16:creationId xmlns:a16="http://schemas.microsoft.com/office/drawing/2014/main" id="{D0F261D3-10AD-420B-BD03-1B380D7C9B13}"/>
              </a:ext>
            </a:extLst>
          </p:cNvPr>
          <p:cNvGrpSpPr/>
          <p:nvPr/>
        </p:nvGrpSpPr>
        <p:grpSpPr>
          <a:xfrm>
            <a:off x="2090313" y="4055040"/>
            <a:ext cx="496596" cy="647522"/>
            <a:chOff x="2090313" y="4055040"/>
            <a:chExt cx="496596" cy="647522"/>
          </a:xfrm>
        </p:grpSpPr>
        <p:cxnSp>
          <p:nvCxnSpPr>
            <p:cNvPr id="131" name="Google Shape;327;p20">
              <a:extLst>
                <a:ext uri="{FF2B5EF4-FFF2-40B4-BE49-F238E27FC236}">
                  <a16:creationId xmlns:a16="http://schemas.microsoft.com/office/drawing/2014/main" id="{77995597-7D36-4004-A567-15585BC5608A}"/>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25;p20">
              <a:extLst>
                <a:ext uri="{FF2B5EF4-FFF2-40B4-BE49-F238E27FC236}">
                  <a16:creationId xmlns:a16="http://schemas.microsoft.com/office/drawing/2014/main" id="{332DBDD9-2D41-4894-8129-770CC88392C4}"/>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B90F800F-C9D9-4B17-924C-81671B6F6CF0}"/>
                </a:ext>
              </a:extLst>
            </p:cNvPr>
            <p:cNvGrpSpPr/>
            <p:nvPr/>
          </p:nvGrpSpPr>
          <p:grpSpPr>
            <a:xfrm>
              <a:off x="2221611" y="4179917"/>
              <a:ext cx="234000" cy="234000"/>
              <a:chOff x="2247014" y="4211643"/>
              <a:chExt cx="183194" cy="183390"/>
            </a:xfrm>
          </p:grpSpPr>
          <p:sp>
            <p:nvSpPr>
              <p:cNvPr id="134" name="Google Shape;331;p20">
                <a:extLst>
                  <a:ext uri="{FF2B5EF4-FFF2-40B4-BE49-F238E27FC236}">
                    <a16:creationId xmlns:a16="http://schemas.microsoft.com/office/drawing/2014/main" id="{F06C8CF8-87F8-48C4-9DBE-459A7FA438C4}"/>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32;p20">
                <a:extLst>
                  <a:ext uri="{FF2B5EF4-FFF2-40B4-BE49-F238E27FC236}">
                    <a16:creationId xmlns:a16="http://schemas.microsoft.com/office/drawing/2014/main" id="{B62D99D2-7C42-4331-8226-D693B7A05816}"/>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33;p20">
                <a:extLst>
                  <a:ext uri="{FF2B5EF4-FFF2-40B4-BE49-F238E27FC236}">
                    <a16:creationId xmlns:a16="http://schemas.microsoft.com/office/drawing/2014/main" id="{58180308-AB43-4BFB-9DD8-1F38F3F70A8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34;p20">
                <a:extLst>
                  <a:ext uri="{FF2B5EF4-FFF2-40B4-BE49-F238E27FC236}">
                    <a16:creationId xmlns:a16="http://schemas.microsoft.com/office/drawing/2014/main" id="{EDCC535A-7497-4FFE-941F-F37C093BA65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35;p20">
                <a:extLst>
                  <a:ext uri="{FF2B5EF4-FFF2-40B4-BE49-F238E27FC236}">
                    <a16:creationId xmlns:a16="http://schemas.microsoft.com/office/drawing/2014/main" id="{A3010A57-7428-4001-8F35-5A4AA79C37C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36;p20">
                <a:extLst>
                  <a:ext uri="{FF2B5EF4-FFF2-40B4-BE49-F238E27FC236}">
                    <a16:creationId xmlns:a16="http://schemas.microsoft.com/office/drawing/2014/main" id="{834E817B-E92F-43F6-8A7D-B4EBA748A361}"/>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37;p20">
                <a:extLst>
                  <a:ext uri="{FF2B5EF4-FFF2-40B4-BE49-F238E27FC236}">
                    <a16:creationId xmlns:a16="http://schemas.microsoft.com/office/drawing/2014/main" id="{34991476-6318-490B-B22F-5C4707B8E94C}"/>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38;p20">
                <a:extLst>
                  <a:ext uri="{FF2B5EF4-FFF2-40B4-BE49-F238E27FC236}">
                    <a16:creationId xmlns:a16="http://schemas.microsoft.com/office/drawing/2014/main" id="{BF9E5BA9-E1C1-4172-82C7-3A5090CD2BC4}"/>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39;p20">
                <a:extLst>
                  <a:ext uri="{FF2B5EF4-FFF2-40B4-BE49-F238E27FC236}">
                    <a16:creationId xmlns:a16="http://schemas.microsoft.com/office/drawing/2014/main" id="{C11112AB-5E0D-48E1-8369-4E675BEE0717}"/>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3" name="Google Shape;340;p20">
                <a:extLst>
                  <a:ext uri="{FF2B5EF4-FFF2-40B4-BE49-F238E27FC236}">
                    <a16:creationId xmlns:a16="http://schemas.microsoft.com/office/drawing/2014/main" id="{A64C5060-7D3F-46CB-9E92-BE9E83103FB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1;p20">
                <a:extLst>
                  <a:ext uri="{FF2B5EF4-FFF2-40B4-BE49-F238E27FC236}">
                    <a16:creationId xmlns:a16="http://schemas.microsoft.com/office/drawing/2014/main" id="{687252F7-A0CD-4328-89F4-AF539437F66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5" name="Google Shape;342;p20">
                <a:extLst>
                  <a:ext uri="{FF2B5EF4-FFF2-40B4-BE49-F238E27FC236}">
                    <a16:creationId xmlns:a16="http://schemas.microsoft.com/office/drawing/2014/main" id="{D1B0048E-B129-4FD5-918C-D929483ADC40}"/>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6" name="Google Shape;343;p20">
                <a:extLst>
                  <a:ext uri="{FF2B5EF4-FFF2-40B4-BE49-F238E27FC236}">
                    <a16:creationId xmlns:a16="http://schemas.microsoft.com/office/drawing/2014/main" id="{8E962523-CA2D-4BE4-A3B5-AE6955B95F4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7" name="Group 146">
            <a:extLst>
              <a:ext uri="{FF2B5EF4-FFF2-40B4-BE49-F238E27FC236}">
                <a16:creationId xmlns:a16="http://schemas.microsoft.com/office/drawing/2014/main" id="{8A313345-7DE6-4128-83DC-9BD36B5E0A5B}"/>
              </a:ext>
            </a:extLst>
          </p:cNvPr>
          <p:cNvGrpSpPr/>
          <p:nvPr/>
        </p:nvGrpSpPr>
        <p:grpSpPr>
          <a:xfrm>
            <a:off x="600089" y="4055040"/>
            <a:ext cx="496596" cy="647483"/>
            <a:chOff x="600089" y="4055040"/>
            <a:chExt cx="496596" cy="647483"/>
          </a:xfrm>
        </p:grpSpPr>
        <p:cxnSp>
          <p:nvCxnSpPr>
            <p:cNvPr id="148" name="Google Shape;304;p20">
              <a:extLst>
                <a:ext uri="{FF2B5EF4-FFF2-40B4-BE49-F238E27FC236}">
                  <a16:creationId xmlns:a16="http://schemas.microsoft.com/office/drawing/2014/main" id="{8AC7EAF7-6410-4F29-A61D-89F532F8EF40}"/>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49" name="Google Shape;302;p20">
              <a:extLst>
                <a:ext uri="{FF2B5EF4-FFF2-40B4-BE49-F238E27FC236}">
                  <a16:creationId xmlns:a16="http://schemas.microsoft.com/office/drawing/2014/main" id="{283AA301-443F-41D7-A16B-5F5007C7AED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97" name="Group 196">
              <a:extLst>
                <a:ext uri="{FF2B5EF4-FFF2-40B4-BE49-F238E27FC236}">
                  <a16:creationId xmlns:a16="http://schemas.microsoft.com/office/drawing/2014/main" id="{C2D8A48D-5017-44DB-86B0-FC810E485325}"/>
                </a:ext>
              </a:extLst>
            </p:cNvPr>
            <p:cNvGrpSpPr/>
            <p:nvPr/>
          </p:nvGrpSpPr>
          <p:grpSpPr>
            <a:xfrm>
              <a:off x="718825" y="4179544"/>
              <a:ext cx="252000" cy="234000"/>
              <a:chOff x="760166" y="4216727"/>
              <a:chExt cx="176529" cy="173221"/>
            </a:xfrm>
          </p:grpSpPr>
          <p:sp>
            <p:nvSpPr>
              <p:cNvPr id="198" name="Google Shape;345;p20">
                <a:extLst>
                  <a:ext uri="{FF2B5EF4-FFF2-40B4-BE49-F238E27FC236}">
                    <a16:creationId xmlns:a16="http://schemas.microsoft.com/office/drawing/2014/main" id="{60D898FE-F0BC-47E1-8529-5A8B4EE2FF8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9" name="Google Shape;346;p20">
                <a:extLst>
                  <a:ext uri="{FF2B5EF4-FFF2-40B4-BE49-F238E27FC236}">
                    <a16:creationId xmlns:a16="http://schemas.microsoft.com/office/drawing/2014/main" id="{1C6E9FCE-D392-433D-9F6A-296276718DF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2" name="Google Shape;347;p20">
                <a:extLst>
                  <a:ext uri="{FF2B5EF4-FFF2-40B4-BE49-F238E27FC236}">
                    <a16:creationId xmlns:a16="http://schemas.microsoft.com/office/drawing/2014/main" id="{5009185C-2E84-4AFF-B660-E66D2C3F05C1}"/>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03" name="Group 202">
            <a:extLst>
              <a:ext uri="{FF2B5EF4-FFF2-40B4-BE49-F238E27FC236}">
                <a16:creationId xmlns:a16="http://schemas.microsoft.com/office/drawing/2014/main" id="{9126985E-3A19-48E6-9ABB-8CBC88DE3569}"/>
              </a:ext>
            </a:extLst>
          </p:cNvPr>
          <p:cNvGrpSpPr/>
          <p:nvPr/>
        </p:nvGrpSpPr>
        <p:grpSpPr>
          <a:xfrm>
            <a:off x="3580536" y="4055040"/>
            <a:ext cx="496596" cy="647522"/>
            <a:chOff x="3580536" y="4055040"/>
            <a:chExt cx="496596" cy="647522"/>
          </a:xfrm>
        </p:grpSpPr>
        <p:cxnSp>
          <p:nvCxnSpPr>
            <p:cNvPr id="204" name="Google Shape;312;p20">
              <a:extLst>
                <a:ext uri="{FF2B5EF4-FFF2-40B4-BE49-F238E27FC236}">
                  <a16:creationId xmlns:a16="http://schemas.microsoft.com/office/drawing/2014/main" id="{25CD141C-E7D9-4010-8D5A-0B267B9FCF4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05" name="Google Shape;310;p20">
              <a:extLst>
                <a:ext uri="{FF2B5EF4-FFF2-40B4-BE49-F238E27FC236}">
                  <a16:creationId xmlns:a16="http://schemas.microsoft.com/office/drawing/2014/main" id="{F6538460-1A04-4F7B-BC6D-C39EFCE57F5E}"/>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6" name="Google Shape;348;p20">
              <a:extLst>
                <a:ext uri="{FF2B5EF4-FFF2-40B4-BE49-F238E27FC236}">
                  <a16:creationId xmlns:a16="http://schemas.microsoft.com/office/drawing/2014/main" id="{04B7E80C-9DBF-4046-9BE2-9EA7A3FD56E4}"/>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07" name="Group 206">
            <a:extLst>
              <a:ext uri="{FF2B5EF4-FFF2-40B4-BE49-F238E27FC236}">
                <a16:creationId xmlns:a16="http://schemas.microsoft.com/office/drawing/2014/main" id="{74292737-30F9-4C0B-8967-78174FBAB5FF}"/>
              </a:ext>
            </a:extLst>
          </p:cNvPr>
          <p:cNvGrpSpPr/>
          <p:nvPr/>
        </p:nvGrpSpPr>
        <p:grpSpPr>
          <a:xfrm>
            <a:off x="5067104" y="4055039"/>
            <a:ext cx="496596" cy="647522"/>
            <a:chOff x="5067104" y="4055039"/>
            <a:chExt cx="496596" cy="647522"/>
          </a:xfrm>
        </p:grpSpPr>
        <p:cxnSp>
          <p:nvCxnSpPr>
            <p:cNvPr id="208" name="Google Shape;312;p20">
              <a:extLst>
                <a:ext uri="{FF2B5EF4-FFF2-40B4-BE49-F238E27FC236}">
                  <a16:creationId xmlns:a16="http://schemas.microsoft.com/office/drawing/2014/main" id="{608D8428-107D-4A10-AEB4-2010C6B2913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9" name="Google Shape;310;p20">
              <a:extLst>
                <a:ext uri="{FF2B5EF4-FFF2-40B4-BE49-F238E27FC236}">
                  <a16:creationId xmlns:a16="http://schemas.microsoft.com/office/drawing/2014/main" id="{C565B14C-9AD3-4498-ADC9-FB0F8299A68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0" name="Google Shape;364;p21">
              <a:extLst>
                <a:ext uri="{FF2B5EF4-FFF2-40B4-BE49-F238E27FC236}">
                  <a16:creationId xmlns:a16="http://schemas.microsoft.com/office/drawing/2014/main" id="{EC874FDF-B903-484C-B6AF-7D48F1DACDB0}"/>
                </a:ext>
              </a:extLst>
            </p:cNvPr>
            <p:cNvGrpSpPr/>
            <p:nvPr/>
          </p:nvGrpSpPr>
          <p:grpSpPr>
            <a:xfrm>
              <a:off x="5191745" y="4172810"/>
              <a:ext cx="247311" cy="230069"/>
              <a:chOff x="6577238" y="2457221"/>
              <a:chExt cx="332019" cy="310788"/>
            </a:xfrm>
            <a:solidFill>
              <a:schemeClr val="bg1"/>
            </a:solidFill>
          </p:grpSpPr>
          <p:sp>
            <p:nvSpPr>
              <p:cNvPr id="211" name="Google Shape;365;p21">
                <a:extLst>
                  <a:ext uri="{FF2B5EF4-FFF2-40B4-BE49-F238E27FC236}">
                    <a16:creationId xmlns:a16="http://schemas.microsoft.com/office/drawing/2014/main" id="{2895EDA9-ADBF-42C2-8E63-1DEFA6360E6D}"/>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366;p21">
                <a:extLst>
                  <a:ext uri="{FF2B5EF4-FFF2-40B4-BE49-F238E27FC236}">
                    <a16:creationId xmlns:a16="http://schemas.microsoft.com/office/drawing/2014/main" id="{C8F8DBE1-3B8D-4640-88F3-51FB6CA4ACBA}"/>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367;p21">
                <a:extLst>
                  <a:ext uri="{FF2B5EF4-FFF2-40B4-BE49-F238E27FC236}">
                    <a16:creationId xmlns:a16="http://schemas.microsoft.com/office/drawing/2014/main" id="{33215BE0-30ED-405B-898A-E22D1F7703D1}"/>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368;p21">
                <a:extLst>
                  <a:ext uri="{FF2B5EF4-FFF2-40B4-BE49-F238E27FC236}">
                    <a16:creationId xmlns:a16="http://schemas.microsoft.com/office/drawing/2014/main" id="{56DE0F2B-3917-4268-8CAD-9CC797E6EBD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369;p21">
                <a:extLst>
                  <a:ext uri="{FF2B5EF4-FFF2-40B4-BE49-F238E27FC236}">
                    <a16:creationId xmlns:a16="http://schemas.microsoft.com/office/drawing/2014/main" id="{E8612184-270C-4867-95CC-1F6991CF2013}"/>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370;p21">
                <a:extLst>
                  <a:ext uri="{FF2B5EF4-FFF2-40B4-BE49-F238E27FC236}">
                    <a16:creationId xmlns:a16="http://schemas.microsoft.com/office/drawing/2014/main" id="{D856B3F8-A1E9-4A01-AD57-86E0BE310E4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 name="Group 216">
            <a:extLst>
              <a:ext uri="{FF2B5EF4-FFF2-40B4-BE49-F238E27FC236}">
                <a16:creationId xmlns:a16="http://schemas.microsoft.com/office/drawing/2014/main" id="{99DDED1C-9500-427C-86C3-C95C2671ABEA}"/>
              </a:ext>
            </a:extLst>
          </p:cNvPr>
          <p:cNvGrpSpPr/>
          <p:nvPr/>
        </p:nvGrpSpPr>
        <p:grpSpPr>
          <a:xfrm>
            <a:off x="6557210" y="4055039"/>
            <a:ext cx="496596" cy="647522"/>
            <a:chOff x="6557210" y="4055039"/>
            <a:chExt cx="496596" cy="647522"/>
          </a:xfrm>
        </p:grpSpPr>
        <p:cxnSp>
          <p:nvCxnSpPr>
            <p:cNvPr id="218" name="Google Shape;312;p20">
              <a:extLst>
                <a:ext uri="{FF2B5EF4-FFF2-40B4-BE49-F238E27FC236}">
                  <a16:creationId xmlns:a16="http://schemas.microsoft.com/office/drawing/2014/main" id="{D9456069-1110-473F-80A7-E1720D930BA9}"/>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9" name="Google Shape;310;p20">
              <a:extLst>
                <a:ext uri="{FF2B5EF4-FFF2-40B4-BE49-F238E27FC236}">
                  <a16:creationId xmlns:a16="http://schemas.microsoft.com/office/drawing/2014/main" id="{A6A33077-CF85-49B4-A128-A56E0951D50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0" name="Google Shape;492;p23">
              <a:extLst>
                <a:ext uri="{FF2B5EF4-FFF2-40B4-BE49-F238E27FC236}">
                  <a16:creationId xmlns:a16="http://schemas.microsoft.com/office/drawing/2014/main" id="{E0F4A18A-F5AD-49C5-8937-3800DDC36B68}"/>
                </a:ext>
              </a:extLst>
            </p:cNvPr>
            <p:cNvGrpSpPr/>
            <p:nvPr/>
          </p:nvGrpSpPr>
          <p:grpSpPr>
            <a:xfrm>
              <a:off x="6681779" y="4170275"/>
              <a:ext cx="252000" cy="252000"/>
              <a:chOff x="2280029" y="1970604"/>
              <a:chExt cx="353631" cy="354395"/>
            </a:xfrm>
          </p:grpSpPr>
          <p:sp>
            <p:nvSpPr>
              <p:cNvPr id="221" name="Google Shape;493;p23">
                <a:extLst>
                  <a:ext uri="{FF2B5EF4-FFF2-40B4-BE49-F238E27FC236}">
                    <a16:creationId xmlns:a16="http://schemas.microsoft.com/office/drawing/2014/main" id="{01EFAF2A-6454-43F2-950F-29C795CCF515}"/>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494;p23">
                <a:extLst>
                  <a:ext uri="{FF2B5EF4-FFF2-40B4-BE49-F238E27FC236}">
                    <a16:creationId xmlns:a16="http://schemas.microsoft.com/office/drawing/2014/main" id="{065A9759-DEE0-42DD-A205-3D34A1957AF3}"/>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495;p23">
                <a:extLst>
                  <a:ext uri="{FF2B5EF4-FFF2-40B4-BE49-F238E27FC236}">
                    <a16:creationId xmlns:a16="http://schemas.microsoft.com/office/drawing/2014/main" id="{75A05F68-EA86-4D0F-8371-3C73DD90EA8C}"/>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496;p23">
                <a:extLst>
                  <a:ext uri="{FF2B5EF4-FFF2-40B4-BE49-F238E27FC236}">
                    <a16:creationId xmlns:a16="http://schemas.microsoft.com/office/drawing/2014/main" id="{62D74441-7E87-4E07-BA08-CA967F0A194E}"/>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 name="Group 224">
            <a:extLst>
              <a:ext uri="{FF2B5EF4-FFF2-40B4-BE49-F238E27FC236}">
                <a16:creationId xmlns:a16="http://schemas.microsoft.com/office/drawing/2014/main" id="{6ADEAC22-7599-44EC-A23D-694CADCF3881}"/>
              </a:ext>
            </a:extLst>
          </p:cNvPr>
          <p:cNvGrpSpPr/>
          <p:nvPr/>
        </p:nvGrpSpPr>
        <p:grpSpPr>
          <a:xfrm>
            <a:off x="8047295" y="4055039"/>
            <a:ext cx="496596" cy="647522"/>
            <a:chOff x="8047295" y="4055039"/>
            <a:chExt cx="496596" cy="647522"/>
          </a:xfrm>
        </p:grpSpPr>
        <p:cxnSp>
          <p:nvCxnSpPr>
            <p:cNvPr id="226" name="Google Shape;319;p20">
              <a:extLst>
                <a:ext uri="{FF2B5EF4-FFF2-40B4-BE49-F238E27FC236}">
                  <a16:creationId xmlns:a16="http://schemas.microsoft.com/office/drawing/2014/main" id="{BD378713-D60B-4B8A-87FA-8AEB30958B2B}"/>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27" name="Google Shape;318;p20">
              <a:extLst>
                <a:ext uri="{FF2B5EF4-FFF2-40B4-BE49-F238E27FC236}">
                  <a16:creationId xmlns:a16="http://schemas.microsoft.com/office/drawing/2014/main" id="{09457FAD-4E85-462D-8454-FEE460D78D5F}"/>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8" name="Google Shape;764;p28">
              <a:extLst>
                <a:ext uri="{FF2B5EF4-FFF2-40B4-BE49-F238E27FC236}">
                  <a16:creationId xmlns:a16="http://schemas.microsoft.com/office/drawing/2014/main" id="{A9B5AABD-26AC-4082-906A-D7BA3003384D}"/>
                </a:ext>
              </a:extLst>
            </p:cNvPr>
            <p:cNvGrpSpPr/>
            <p:nvPr/>
          </p:nvGrpSpPr>
          <p:grpSpPr>
            <a:xfrm>
              <a:off x="8205593" y="4170275"/>
              <a:ext cx="180000" cy="252000"/>
              <a:chOff x="1333682" y="3344330"/>
              <a:chExt cx="271213" cy="383088"/>
            </a:xfrm>
            <a:solidFill>
              <a:schemeClr val="bg1"/>
            </a:solidFill>
          </p:grpSpPr>
          <p:sp>
            <p:nvSpPr>
              <p:cNvPr id="229" name="Google Shape;765;p28">
                <a:extLst>
                  <a:ext uri="{FF2B5EF4-FFF2-40B4-BE49-F238E27FC236}">
                    <a16:creationId xmlns:a16="http://schemas.microsoft.com/office/drawing/2014/main" id="{38FD3BEE-EE60-4BB6-9568-171C00BC1D59}"/>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766;p28">
                <a:extLst>
                  <a:ext uri="{FF2B5EF4-FFF2-40B4-BE49-F238E27FC236}">
                    <a16:creationId xmlns:a16="http://schemas.microsoft.com/office/drawing/2014/main" id="{9E73C89F-7193-4306-A7AD-5AEBD94A19C5}"/>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767;p28">
                <a:extLst>
                  <a:ext uri="{FF2B5EF4-FFF2-40B4-BE49-F238E27FC236}">
                    <a16:creationId xmlns:a16="http://schemas.microsoft.com/office/drawing/2014/main" id="{886C707E-5D83-499C-B231-3961400050F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768;p28">
                <a:extLst>
                  <a:ext uri="{FF2B5EF4-FFF2-40B4-BE49-F238E27FC236}">
                    <a16:creationId xmlns:a16="http://schemas.microsoft.com/office/drawing/2014/main" id="{69A29789-A96E-4631-99F4-156325991737}"/>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769;p28">
                <a:extLst>
                  <a:ext uri="{FF2B5EF4-FFF2-40B4-BE49-F238E27FC236}">
                    <a16:creationId xmlns:a16="http://schemas.microsoft.com/office/drawing/2014/main" id="{801C7DA4-C2E1-4AFA-B26E-ADEAF60FADD3}"/>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770;p28">
                <a:extLst>
                  <a:ext uri="{FF2B5EF4-FFF2-40B4-BE49-F238E27FC236}">
                    <a16:creationId xmlns:a16="http://schemas.microsoft.com/office/drawing/2014/main" id="{4A30E37C-4597-47BF-8A94-326A08C05F6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771;p28">
                <a:extLst>
                  <a:ext uri="{FF2B5EF4-FFF2-40B4-BE49-F238E27FC236}">
                    <a16:creationId xmlns:a16="http://schemas.microsoft.com/office/drawing/2014/main" id="{8B09A654-F435-40F6-8CEB-FD2319BA4C7A}"/>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772;p28">
                <a:extLst>
                  <a:ext uri="{FF2B5EF4-FFF2-40B4-BE49-F238E27FC236}">
                    <a16:creationId xmlns:a16="http://schemas.microsoft.com/office/drawing/2014/main" id="{3F6E461D-A671-44DD-95DF-835E7A42F409}"/>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773;p28">
                <a:extLst>
                  <a:ext uri="{FF2B5EF4-FFF2-40B4-BE49-F238E27FC236}">
                    <a16:creationId xmlns:a16="http://schemas.microsoft.com/office/drawing/2014/main" id="{30220493-542A-433A-94E5-4F0061885FDF}"/>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774;p28">
                <a:extLst>
                  <a:ext uri="{FF2B5EF4-FFF2-40B4-BE49-F238E27FC236}">
                    <a16:creationId xmlns:a16="http://schemas.microsoft.com/office/drawing/2014/main" id="{20A4C289-2827-4728-A977-7A4F8D0C093B}"/>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775;p28">
                <a:extLst>
                  <a:ext uri="{FF2B5EF4-FFF2-40B4-BE49-F238E27FC236}">
                    <a16:creationId xmlns:a16="http://schemas.microsoft.com/office/drawing/2014/main" id="{E7365F41-E099-4AEE-A57F-0E02F0D83F9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 name="Group 18">
            <a:extLst>
              <a:ext uri="{FF2B5EF4-FFF2-40B4-BE49-F238E27FC236}">
                <a16:creationId xmlns:a16="http://schemas.microsoft.com/office/drawing/2014/main" id="{0A439040-B325-08A0-C172-614D9AC641AA}"/>
              </a:ext>
            </a:extLst>
          </p:cNvPr>
          <p:cNvGrpSpPr/>
          <p:nvPr/>
        </p:nvGrpSpPr>
        <p:grpSpPr>
          <a:xfrm>
            <a:off x="2283679" y="3513517"/>
            <a:ext cx="5613117" cy="445077"/>
            <a:chOff x="998665" y="1192619"/>
            <a:chExt cx="5613117" cy="445077"/>
          </a:xfrm>
        </p:grpSpPr>
        <p:sp>
          <p:nvSpPr>
            <p:cNvPr id="20" name="Google Shape;936;p32">
              <a:extLst>
                <a:ext uri="{FF2B5EF4-FFF2-40B4-BE49-F238E27FC236}">
                  <a16:creationId xmlns:a16="http://schemas.microsoft.com/office/drawing/2014/main" id="{2C536205-90E0-C7B4-E912-BF0839EFFDE1}"/>
                </a:ext>
              </a:extLst>
            </p:cNvPr>
            <p:cNvSpPr/>
            <p:nvPr/>
          </p:nvSpPr>
          <p:spPr>
            <a:xfrm>
              <a:off x="2818504" y="1192642"/>
              <a:ext cx="3793278"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استفاده بهتر و موثرتر از نیروی انسانی موجود </a:t>
              </a:r>
            </a:p>
          </p:txBody>
        </p:sp>
        <p:sp>
          <p:nvSpPr>
            <p:cNvPr id="21" name="Google Shape;937;p32">
              <a:extLst>
                <a:ext uri="{FF2B5EF4-FFF2-40B4-BE49-F238E27FC236}">
                  <a16:creationId xmlns:a16="http://schemas.microsoft.com/office/drawing/2014/main" id="{2B72F940-925B-43A3-8B31-975B6423AEC0}"/>
                </a:ext>
              </a:extLst>
            </p:cNvPr>
            <p:cNvSpPr/>
            <p:nvPr/>
          </p:nvSpPr>
          <p:spPr>
            <a:xfrm>
              <a:off x="998665" y="1192619"/>
              <a:ext cx="1323243" cy="445054"/>
            </a:xfrm>
            <a:prstGeom prst="roundRect">
              <a:avLst>
                <a:gd name="adj" fmla="val 50000"/>
              </a:avLst>
            </a:prstGeom>
            <a:solidFill>
              <a:schemeClr val="accent6">
                <a:lumMod val="60000"/>
                <a:lumOff val="40000"/>
              </a:schemeClr>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خ</a:t>
              </a:r>
              <a:endParaRPr dirty="0">
                <a:solidFill>
                  <a:srgbClr val="000000"/>
                </a:solidFill>
              </a:endParaRPr>
            </a:p>
          </p:txBody>
        </p:sp>
        <p:cxnSp>
          <p:nvCxnSpPr>
            <p:cNvPr id="22" name="Google Shape;938;p32">
              <a:extLst>
                <a:ext uri="{FF2B5EF4-FFF2-40B4-BE49-F238E27FC236}">
                  <a16:creationId xmlns:a16="http://schemas.microsoft.com/office/drawing/2014/main" id="{2EBD4F1C-FF3B-101E-EF73-AC311B06F3F9}"/>
                </a:ext>
              </a:extLst>
            </p:cNvPr>
            <p:cNvCxnSpPr>
              <a:cxnSpLocks/>
            </p:cNvCxnSpPr>
            <p:nvPr/>
          </p:nvCxnSpPr>
          <p:spPr>
            <a:xfrm>
              <a:off x="2301461" y="1418630"/>
              <a:ext cx="496690" cy="0"/>
            </a:xfrm>
            <a:prstGeom prst="straightConnector1">
              <a:avLst/>
            </a:prstGeom>
            <a:noFill/>
            <a:ln w="9525" cap="flat" cmpd="sng">
              <a:solidFill>
                <a:srgbClr val="000000"/>
              </a:solidFill>
              <a:prstDash val="solid"/>
              <a:round/>
              <a:headEnd type="none" w="med" len="med"/>
              <a:tailEnd type="oval" w="med" len="med"/>
            </a:ln>
          </p:spPr>
        </p:cxnSp>
      </p:grpSp>
    </p:spTree>
    <p:extLst>
      <p:ext uri="{BB962C8B-B14F-4D97-AF65-F5344CB8AC3E}">
        <p14:creationId xmlns:p14="http://schemas.microsoft.com/office/powerpoint/2010/main" val="472204785"/>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110"/>
                                        </p:tgtEl>
                                        <p:attrNameLst>
                                          <p:attrName>style.visibility</p:attrName>
                                        </p:attrNameLst>
                                      </p:cBhvr>
                                      <p:to>
                                        <p:strVal val="visible"/>
                                      </p:to>
                                    </p:set>
                                    <p:anim calcmode="lin" valueType="num">
                                      <p:cBhvr additive="base">
                                        <p:cTn id="25" dur="500" fill="hold"/>
                                        <p:tgtEl>
                                          <p:spTgt spid="110"/>
                                        </p:tgtEl>
                                        <p:attrNameLst>
                                          <p:attrName>ppt_x</p:attrName>
                                        </p:attrNameLst>
                                      </p:cBhvr>
                                      <p:tavLst>
                                        <p:tav tm="0">
                                          <p:val>
                                            <p:strVal val="1+#ppt_w/2"/>
                                          </p:val>
                                        </p:tav>
                                        <p:tav tm="100000">
                                          <p:val>
                                            <p:strVal val="#ppt_x"/>
                                          </p:val>
                                        </p:tav>
                                      </p:tavLst>
                                    </p:anim>
                                    <p:anim calcmode="lin" valueType="num">
                                      <p:cBhvr additive="base">
                                        <p:cTn id="26" dur="500" fill="hold"/>
                                        <p:tgtEl>
                                          <p:spTgt spid="11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 calcmode="lin" valueType="num">
                                      <p:cBhvr additive="base">
                                        <p:cTn id="29" dur="500" fill="hold"/>
                                        <p:tgtEl>
                                          <p:spTgt spid="111"/>
                                        </p:tgtEl>
                                        <p:attrNameLst>
                                          <p:attrName>ppt_x</p:attrName>
                                        </p:attrNameLst>
                                      </p:cBhvr>
                                      <p:tavLst>
                                        <p:tav tm="0">
                                          <p:val>
                                            <p:strVal val="0-#ppt_w/2"/>
                                          </p:val>
                                        </p:tav>
                                        <p:tav tm="100000">
                                          <p:val>
                                            <p:strVal val="#ppt_x"/>
                                          </p:val>
                                        </p:tav>
                                      </p:tavLst>
                                    </p:anim>
                                    <p:anim calcmode="lin" valueType="num">
                                      <p:cBhvr additive="base">
                                        <p:cTn id="30" dur="500" fill="hold"/>
                                        <p:tgtEl>
                                          <p:spTgt spid="11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0" presetClass="entr" presetSubtype="0" fill="hold" nodeType="afterEffect">
                                  <p:stCondLst>
                                    <p:cond delay="0"/>
                                  </p:stCondLst>
                                  <p:childTnLst>
                                    <p:set>
                                      <p:cBhvr>
                                        <p:cTn id="33" dur="1" fill="hold">
                                          <p:stCondLst>
                                            <p:cond delay="0"/>
                                          </p:stCondLst>
                                        </p:cTn>
                                        <p:tgtEl>
                                          <p:spTgt spid="84"/>
                                        </p:tgtEl>
                                        <p:attrNameLst>
                                          <p:attrName>style.visibility</p:attrName>
                                        </p:attrNameLst>
                                      </p:cBhvr>
                                      <p:to>
                                        <p:strVal val="visible"/>
                                      </p:to>
                                    </p:set>
                                    <p:animEffect transition="in" filter="wedge">
                                      <p:cBhvr>
                                        <p:cTn id="34" dur="2000"/>
                                        <p:tgtEl>
                                          <p:spTgt spid="84"/>
                                        </p:tgtEl>
                                      </p:cBhvr>
                                    </p:animEffect>
                                  </p:childTnLst>
                                </p:cTn>
                              </p:par>
                            </p:childTnLst>
                          </p:cTn>
                        </p:par>
                        <p:par>
                          <p:cTn id="35" fill="hold">
                            <p:stCondLst>
                              <p:cond delay="4050"/>
                            </p:stCondLst>
                            <p:childTnLst>
                              <p:par>
                                <p:cTn id="36" presetID="22" presetClass="entr" presetSubtype="8" fill="hold" nodeType="after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wipe(left)">
                                      <p:cBhvr>
                                        <p:cTn id="38" dur="2000"/>
                                        <p:tgtEl>
                                          <p:spTgt spid="3"/>
                                        </p:tgtEl>
                                      </p:cBhvr>
                                    </p:animEffect>
                                  </p:childTnLst>
                                </p:cTn>
                              </p:par>
                            </p:childTnLst>
                          </p:cTn>
                        </p:par>
                        <p:par>
                          <p:cTn id="39" fill="hold">
                            <p:stCondLst>
                              <p:cond delay="6050"/>
                            </p:stCondLst>
                            <p:childTnLst>
                              <p:par>
                                <p:cTn id="40" presetID="20" presetClass="entr" presetSubtype="0" fill="hold" nodeType="afterEffect">
                                  <p:stCondLst>
                                    <p:cond delay="0"/>
                                  </p:stCondLst>
                                  <p:childTnLst>
                                    <p:set>
                                      <p:cBhvr>
                                        <p:cTn id="41" dur="1" fill="hold">
                                          <p:stCondLst>
                                            <p:cond delay="0"/>
                                          </p:stCondLst>
                                        </p:cTn>
                                        <p:tgtEl>
                                          <p:spTgt spid="89"/>
                                        </p:tgtEl>
                                        <p:attrNameLst>
                                          <p:attrName>style.visibility</p:attrName>
                                        </p:attrNameLst>
                                      </p:cBhvr>
                                      <p:to>
                                        <p:strVal val="visible"/>
                                      </p:to>
                                    </p:set>
                                    <p:animEffect transition="in" filter="wedge">
                                      <p:cBhvr>
                                        <p:cTn id="42" dur="2000"/>
                                        <p:tgtEl>
                                          <p:spTgt spid="89"/>
                                        </p:tgtEl>
                                      </p:cBhvr>
                                    </p:animEffect>
                                  </p:childTnLst>
                                </p:cTn>
                              </p:par>
                            </p:childTnLst>
                          </p:cTn>
                        </p:par>
                        <p:par>
                          <p:cTn id="43" fill="hold">
                            <p:stCondLst>
                              <p:cond delay="8050"/>
                            </p:stCondLst>
                            <p:childTnLst>
                              <p:par>
                                <p:cTn id="44" presetID="22" presetClass="entr" presetSubtype="8" fill="hold" nodeType="afterEffect">
                                  <p:stCondLst>
                                    <p:cond delay="0"/>
                                  </p:stCondLst>
                                  <p:childTnLst>
                                    <p:set>
                                      <p:cBhvr>
                                        <p:cTn id="45" dur="1" fill="hold">
                                          <p:stCondLst>
                                            <p:cond delay="0"/>
                                          </p:stCondLst>
                                        </p:cTn>
                                        <p:tgtEl>
                                          <p:spTgt spid="4"/>
                                        </p:tgtEl>
                                        <p:attrNameLst>
                                          <p:attrName>style.visibility</p:attrName>
                                        </p:attrNameLst>
                                      </p:cBhvr>
                                      <p:to>
                                        <p:strVal val="visible"/>
                                      </p:to>
                                    </p:set>
                                    <p:animEffect transition="in" filter="wipe(left)">
                                      <p:cBhvr>
                                        <p:cTn id="46" dur="2000"/>
                                        <p:tgtEl>
                                          <p:spTgt spid="4"/>
                                        </p:tgtEl>
                                      </p:cBhvr>
                                    </p:animEffect>
                                  </p:childTnLst>
                                </p:cTn>
                              </p:par>
                            </p:childTnLst>
                          </p:cTn>
                        </p:par>
                        <p:par>
                          <p:cTn id="47" fill="hold">
                            <p:stCondLst>
                              <p:cond delay="10050"/>
                            </p:stCondLst>
                            <p:childTnLst>
                              <p:par>
                                <p:cTn id="48" presetID="20" presetClass="entr" presetSubtype="0" fill="hold" nodeType="afterEffect">
                                  <p:stCondLst>
                                    <p:cond delay="0"/>
                                  </p:stCondLst>
                                  <p:childTnLst>
                                    <p:set>
                                      <p:cBhvr>
                                        <p:cTn id="49" dur="1" fill="hold">
                                          <p:stCondLst>
                                            <p:cond delay="0"/>
                                          </p:stCondLst>
                                        </p:cTn>
                                        <p:tgtEl>
                                          <p:spTgt spid="94"/>
                                        </p:tgtEl>
                                        <p:attrNameLst>
                                          <p:attrName>style.visibility</p:attrName>
                                        </p:attrNameLst>
                                      </p:cBhvr>
                                      <p:to>
                                        <p:strVal val="visible"/>
                                      </p:to>
                                    </p:set>
                                    <p:animEffect transition="in" filter="wedge">
                                      <p:cBhvr>
                                        <p:cTn id="50" dur="2000"/>
                                        <p:tgtEl>
                                          <p:spTgt spid="94"/>
                                        </p:tgtEl>
                                      </p:cBhvr>
                                    </p:animEffect>
                                  </p:childTnLst>
                                </p:cTn>
                              </p:par>
                            </p:childTnLst>
                          </p:cTn>
                        </p:par>
                        <p:par>
                          <p:cTn id="51" fill="hold">
                            <p:stCondLst>
                              <p:cond delay="12050"/>
                            </p:stCondLst>
                            <p:childTnLst>
                              <p:par>
                                <p:cTn id="52" presetID="22" presetClass="entr" presetSubtype="8" fill="hold" nodeType="after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wipe(left)">
                                      <p:cBhvr>
                                        <p:cTn id="54" dur="2000"/>
                                        <p:tgtEl>
                                          <p:spTgt spid="5"/>
                                        </p:tgtEl>
                                      </p:cBhvr>
                                    </p:animEffect>
                                  </p:childTnLst>
                                </p:cTn>
                              </p:par>
                            </p:childTnLst>
                          </p:cTn>
                        </p:par>
                        <p:par>
                          <p:cTn id="55" fill="hold">
                            <p:stCondLst>
                              <p:cond delay="14050"/>
                            </p:stCondLst>
                            <p:childTnLst>
                              <p:par>
                                <p:cTn id="56" presetID="20" presetClass="entr" presetSubtype="0" fill="hold" nodeType="afterEffect">
                                  <p:stCondLst>
                                    <p:cond delay="0"/>
                                  </p:stCondLst>
                                  <p:childTnLst>
                                    <p:set>
                                      <p:cBhvr>
                                        <p:cTn id="57" dur="1" fill="hold">
                                          <p:stCondLst>
                                            <p:cond delay="0"/>
                                          </p:stCondLst>
                                        </p:cTn>
                                        <p:tgtEl>
                                          <p:spTgt spid="99"/>
                                        </p:tgtEl>
                                        <p:attrNameLst>
                                          <p:attrName>style.visibility</p:attrName>
                                        </p:attrNameLst>
                                      </p:cBhvr>
                                      <p:to>
                                        <p:strVal val="visible"/>
                                      </p:to>
                                    </p:set>
                                    <p:animEffect transition="in" filter="wedge">
                                      <p:cBhvr>
                                        <p:cTn id="58" dur="2000"/>
                                        <p:tgtEl>
                                          <p:spTgt spid="99"/>
                                        </p:tgtEl>
                                      </p:cBhvr>
                                    </p:animEffect>
                                  </p:childTnLst>
                                </p:cTn>
                              </p:par>
                            </p:childTnLst>
                          </p:cTn>
                        </p:par>
                        <p:par>
                          <p:cTn id="59" fill="hold">
                            <p:stCondLst>
                              <p:cond delay="16050"/>
                            </p:stCondLst>
                            <p:childTnLst>
                              <p:par>
                                <p:cTn id="60" presetID="22" presetClass="entr" presetSubtype="8"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ipe(left)">
                                      <p:cBhvr>
                                        <p:cTn id="62" dur="2000"/>
                                        <p:tgtEl>
                                          <p:spTgt spid="6"/>
                                        </p:tgtEl>
                                      </p:cBhvr>
                                    </p:animEffect>
                                  </p:childTnLst>
                                </p:cTn>
                              </p:par>
                            </p:childTnLst>
                          </p:cTn>
                        </p:par>
                        <p:par>
                          <p:cTn id="63" fill="hold">
                            <p:stCondLst>
                              <p:cond delay="18050"/>
                            </p:stCondLst>
                            <p:childTnLst>
                              <p:par>
                                <p:cTn id="64" presetID="22" presetClass="entr" presetSubtype="8" fill="hold" nodeType="after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wipe(left)">
                                      <p:cBhvr>
                                        <p:cTn id="66"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10" grpId="0" animBg="1"/>
      <p:bldP spid="11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4927600" y="230661"/>
            <a:ext cx="3900736"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5"/>
                </a:solidFill>
                <a:cs typeface="IRAN Sans" panose="020B0400000000000000" pitchFamily="34" charset="-78"/>
              </a:rPr>
              <a:t>نحوه تهیه استانداردهای اجرائی طرح‌های عمرانی</a:t>
            </a:r>
            <a:endParaRPr sz="1600" b="1" dirty="0">
              <a:solidFill>
                <a:schemeClr val="accent5"/>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05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43" name="Rectangle 142">
            <a:extLst>
              <a:ext uri="{FF2B5EF4-FFF2-40B4-BE49-F238E27FC236}">
                <a16:creationId xmlns:a16="http://schemas.microsoft.com/office/drawing/2014/main" id="{9D163131-94B2-4893-86FC-1E251779E2D5}"/>
              </a:ext>
            </a:extLst>
          </p:cNvPr>
          <p:cNvSpPr/>
          <p:nvPr/>
        </p:nvSpPr>
        <p:spPr>
          <a:xfrm>
            <a:off x="1346200" y="947115"/>
            <a:ext cx="6985292" cy="2135250"/>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800" dirty="0">
                <a:solidFill>
                  <a:schemeClr val="tx1">
                    <a:lumMod val="95000"/>
                    <a:lumOff val="5000"/>
                  </a:schemeClr>
                </a:solidFill>
                <a:cs typeface="IRAN Sans" panose="020B0400000000000000" pitchFamily="34" charset="-78"/>
              </a:rPr>
              <a:t>ماده 4 – سازمان موظف است در تهیه استانداردهای اجرائی طرحهای عمرانی بنحوی عمل نماید که از مجموع مفاد قوانین و آئین‌نامه‌ها و همچنین دستورالعمل‌هائی که طبق این آئین‌نامه تهیه و ابلاغ میشود مجموعه‌هائی در جهت نظام فنی و اجرائی تدوین گردد بطوریکه این مجموعه‌ها بتدریج بصورت زبان مشترک فنی و اجرائی بین دستگاههای اجرائی و موسسات مشاور و پیمانکاران و سازندگان و سایر عوامل اجرائی درآید.</a:t>
            </a:r>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rId3" action="ppaction://hlinksldjump"/>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9;p20">
            <a:hlinkClick r:id="rId4" action="ppaction://hlinksldjump"/>
            <a:extLst>
              <a:ext uri="{FF2B5EF4-FFF2-40B4-BE49-F238E27FC236}">
                <a16:creationId xmlns:a16="http://schemas.microsoft.com/office/drawing/2014/main" id="{4B85588F-9834-4DE5-8D96-CACE3CD51874}"/>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اجرایی</a:t>
            </a:r>
            <a:endParaRP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90365223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fade">
                                      <p:cBhvr>
                                        <p:cTn id="34" dur="1000"/>
                                        <p:tgtEl>
                                          <p:spTgt spid="143"/>
                                        </p:tgtEl>
                                      </p:cBhvr>
                                    </p:animEffect>
                                    <p:anim calcmode="lin" valueType="num">
                                      <p:cBhvr>
                                        <p:cTn id="35" dur="1000" fill="hold"/>
                                        <p:tgtEl>
                                          <p:spTgt spid="143"/>
                                        </p:tgtEl>
                                        <p:attrNameLst>
                                          <p:attrName>ppt_x</p:attrName>
                                        </p:attrNameLst>
                                      </p:cBhvr>
                                      <p:tavLst>
                                        <p:tav tm="0">
                                          <p:val>
                                            <p:strVal val="#ppt_x"/>
                                          </p:val>
                                        </p:tav>
                                        <p:tav tm="100000">
                                          <p:val>
                                            <p:strVal val="#ppt_x"/>
                                          </p:val>
                                        </p:tav>
                                      </p:tavLst>
                                    </p:anim>
                                    <p:anim calcmode="lin" valueType="num">
                                      <p:cBhvr>
                                        <p:cTn id="36" dur="1000" fill="hold"/>
                                        <p:tgtEl>
                                          <p:spTgt spid="1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43"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597998" y="230661"/>
            <a:ext cx="2230338"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انواع دستورالعمل و ابلاغ</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06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09" name="Rectangle: Rounded Corners 108">
            <a:extLst>
              <a:ext uri="{FF2B5EF4-FFF2-40B4-BE49-F238E27FC236}">
                <a16:creationId xmlns:a16="http://schemas.microsoft.com/office/drawing/2014/main" id="{E9C3EDC9-D53E-4254-A651-F6524ABD6F22}"/>
              </a:ext>
            </a:extLst>
          </p:cNvPr>
          <p:cNvSpPr/>
          <p:nvPr/>
        </p:nvSpPr>
        <p:spPr>
          <a:xfrm>
            <a:off x="2673404" y="982799"/>
            <a:ext cx="5699014" cy="445288"/>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ماده ۷- دستورالعملهای موضوع این آئین نامه به سه گروه بشرح زیر تقسیم میشود:</a:t>
            </a:r>
          </a:p>
        </p:txBody>
      </p:sp>
      <p:sp>
        <p:nvSpPr>
          <p:cNvPr id="113" name="Rectangle: Rounded Corners 112">
            <a:extLst>
              <a:ext uri="{FF2B5EF4-FFF2-40B4-BE49-F238E27FC236}">
                <a16:creationId xmlns:a16="http://schemas.microsoft.com/office/drawing/2014/main" id="{886FE339-AE4D-47EE-9178-959C58F17A1E}"/>
              </a:ext>
            </a:extLst>
          </p:cNvPr>
          <p:cNvSpPr/>
          <p:nvPr/>
        </p:nvSpPr>
        <p:spPr>
          <a:xfrm>
            <a:off x="640878" y="1916228"/>
            <a:ext cx="7741701" cy="1205383"/>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بند ۱ - گروه اول دستورالعملهایی که رعایت کامل مفاد آن از طرف دستگاههای اجرائی و مهندسان</a:t>
            </a:r>
          </a:p>
          <a:p>
            <a:pPr algn="justLow" rtl="1">
              <a:lnSpc>
                <a:spcPct val="150000"/>
              </a:lnSpc>
            </a:pPr>
            <a:r>
              <a:rPr lang="fa-IR" sz="1600" dirty="0">
                <a:solidFill>
                  <a:schemeClr val="tx1">
                    <a:lumMod val="95000"/>
                    <a:lumOff val="5000"/>
                  </a:schemeClr>
                </a:solidFill>
                <a:cs typeface="IRAN Sans" panose="020B0400000000000000" pitchFamily="34" charset="-78"/>
              </a:rPr>
              <a:t>مشاور و پیمانکاران و عوامل دیگر ضروری است نظیر فرم ضمانت نامه ها فرم پیمانها، استانداردهای فنی</a:t>
            </a:r>
          </a:p>
          <a:p>
            <a:pPr algn="justLow" rtl="1">
              <a:lnSpc>
                <a:spcPct val="150000"/>
              </a:lnSpc>
            </a:pPr>
            <a:r>
              <a:rPr lang="fa-IR" sz="1600" dirty="0">
                <a:solidFill>
                  <a:schemeClr val="tx1">
                    <a:lumMod val="95000"/>
                    <a:lumOff val="5000"/>
                  </a:schemeClr>
                </a:solidFill>
                <a:cs typeface="IRAN Sans" panose="020B0400000000000000" pitchFamily="34" charset="-78"/>
              </a:rPr>
              <a:t>تجزيه واحد بها و غيره.</a:t>
            </a:r>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2619B432-B167-4C1D-B5A7-84C69E07A2C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33800406-4196-46FF-824F-3ACAB7750780}"/>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اجرایی</a:t>
            </a: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4195356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9"/>
                                        </p:tgtEl>
                                        <p:attrNameLst>
                                          <p:attrName>style.visibility</p:attrName>
                                        </p:attrNameLst>
                                      </p:cBhvr>
                                      <p:to>
                                        <p:strVal val="visible"/>
                                      </p:to>
                                    </p:set>
                                    <p:animEffect transition="in" filter="fade">
                                      <p:cBhvr>
                                        <p:cTn id="34" dur="1000"/>
                                        <p:tgtEl>
                                          <p:spTgt spid="109"/>
                                        </p:tgtEl>
                                      </p:cBhvr>
                                    </p:animEffect>
                                    <p:anim calcmode="lin" valueType="num">
                                      <p:cBhvr>
                                        <p:cTn id="35" dur="1000" fill="hold"/>
                                        <p:tgtEl>
                                          <p:spTgt spid="109"/>
                                        </p:tgtEl>
                                        <p:attrNameLst>
                                          <p:attrName>ppt_x</p:attrName>
                                        </p:attrNameLst>
                                      </p:cBhvr>
                                      <p:tavLst>
                                        <p:tav tm="0">
                                          <p:val>
                                            <p:strVal val="#ppt_x"/>
                                          </p:val>
                                        </p:tav>
                                        <p:tav tm="100000">
                                          <p:val>
                                            <p:strVal val="#ppt_x"/>
                                          </p:val>
                                        </p:tav>
                                      </p:tavLst>
                                    </p:anim>
                                    <p:anim calcmode="lin" valueType="num">
                                      <p:cBhvr>
                                        <p:cTn id="36" dur="1000" fill="hold"/>
                                        <p:tgtEl>
                                          <p:spTgt spid="109"/>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113"/>
                                        </p:tgtEl>
                                        <p:attrNameLst>
                                          <p:attrName>style.visibility</p:attrName>
                                        </p:attrNameLst>
                                      </p:cBhvr>
                                      <p:to>
                                        <p:strVal val="visible"/>
                                      </p:to>
                                    </p:set>
                                    <p:animEffect transition="in" filter="fade">
                                      <p:cBhvr>
                                        <p:cTn id="40" dur="1000"/>
                                        <p:tgtEl>
                                          <p:spTgt spid="113"/>
                                        </p:tgtEl>
                                      </p:cBhvr>
                                    </p:animEffect>
                                    <p:anim calcmode="lin" valueType="num">
                                      <p:cBhvr>
                                        <p:cTn id="41" dur="1000" fill="hold"/>
                                        <p:tgtEl>
                                          <p:spTgt spid="113"/>
                                        </p:tgtEl>
                                        <p:attrNameLst>
                                          <p:attrName>ppt_x</p:attrName>
                                        </p:attrNameLst>
                                      </p:cBhvr>
                                      <p:tavLst>
                                        <p:tav tm="0">
                                          <p:val>
                                            <p:strVal val="#ppt_x"/>
                                          </p:val>
                                        </p:tav>
                                        <p:tav tm="100000">
                                          <p:val>
                                            <p:strVal val="#ppt_x"/>
                                          </p:val>
                                        </p:tav>
                                      </p:tavLst>
                                    </p:anim>
                                    <p:anim calcmode="lin" valueType="num">
                                      <p:cBhvr>
                                        <p:cTn id="42" dur="1000" fill="hold"/>
                                        <p:tgtEl>
                                          <p:spTgt spid="1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9" grpId="0" animBg="1"/>
      <p:bldP spid="113"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597998" y="230661"/>
            <a:ext cx="2230338"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4"/>
                </a:solidFill>
                <a:cs typeface="IRAN Sans" panose="020B0400000000000000" pitchFamily="34" charset="-78"/>
              </a:rPr>
              <a:t>انواع دستورالعمل و ابلاغ</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07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2619B432-B167-4C1D-B5A7-84C69E07A2C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 و منظور</a:t>
            </a: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دستورالعمل و ابلاغ</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33800406-4196-46FF-824F-3ACAB7750780}"/>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استاندارد اجرایی</a:t>
            </a: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5D49FA28-F580-899D-81A8-C78F5B6CA224}"/>
              </a:ext>
            </a:extLst>
          </p:cNvPr>
          <p:cNvSpPr/>
          <p:nvPr/>
        </p:nvSpPr>
        <p:spPr>
          <a:xfrm>
            <a:off x="3923844" y="769923"/>
            <a:ext cx="4628402" cy="3018056"/>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بند ۲ - گروه دوم دستورالعملهایی که بطور کلی و برای موارد عادی تهیه میگردد و برحسب مورد دستگاههای اجرائی و مهندسان مشاور و پیمانکاران و عوامل دیگر میتوانند به تشخیص خود مفاد دستورالعمل و یا ضوابط و معیارهای آنرا با توجه به کار مورد نظر و در حدود قابل قبولی که در دستورالعمل تعیین شده تغییر داده و آنرا با شرایط خاص کار مورد نظر تطبيق دهند (نظير حق الزحمه مهندسان مشاور و شرایط عمومی پیمان و مشخصات عمومی و غیره. </a:t>
            </a:r>
          </a:p>
        </p:txBody>
      </p:sp>
      <p:sp>
        <p:nvSpPr>
          <p:cNvPr id="3" name="Rectangle 2">
            <a:extLst>
              <a:ext uri="{FF2B5EF4-FFF2-40B4-BE49-F238E27FC236}">
                <a16:creationId xmlns:a16="http://schemas.microsoft.com/office/drawing/2014/main" id="{8756424C-E0D6-E22B-D0D6-A25FCC3D71A5}"/>
              </a:ext>
            </a:extLst>
          </p:cNvPr>
          <p:cNvSpPr/>
          <p:nvPr/>
        </p:nvSpPr>
        <p:spPr>
          <a:xfrm>
            <a:off x="640877" y="778979"/>
            <a:ext cx="3150249" cy="2648724"/>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بند ۳ - گروه سوم دستورالعملهایی است که بعنوان راهنمایی و ارشاد دستگاههای اجرائی و مؤسسات مشاور و پیمانکاران و سایر عوامل تهیه میشود و رعایت مفاد آن در صورتیکه دستگاههای اجرائی و مؤسسات مشاور روشهای بهتری داشته باشند اجباری نیست.</a:t>
            </a:r>
          </a:p>
        </p:txBody>
      </p:sp>
    </p:spTree>
    <p:extLst>
      <p:ext uri="{BB962C8B-B14F-4D97-AF65-F5344CB8AC3E}">
        <p14:creationId xmlns:p14="http://schemas.microsoft.com/office/powerpoint/2010/main" val="5411816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fade">
                                      <p:cBhvr>
                                        <p:cTn id="40" dur="1000"/>
                                        <p:tgtEl>
                                          <p:spTgt spid="3"/>
                                        </p:tgtEl>
                                      </p:cBhvr>
                                    </p:animEffect>
                                    <p:anim calcmode="lin" valueType="num">
                                      <p:cBhvr>
                                        <p:cTn id="41" dur="1000" fill="hold"/>
                                        <p:tgtEl>
                                          <p:spTgt spid="3"/>
                                        </p:tgtEl>
                                        <p:attrNameLst>
                                          <p:attrName>ppt_x</p:attrName>
                                        </p:attrNameLst>
                                      </p:cBhvr>
                                      <p:tavLst>
                                        <p:tav tm="0">
                                          <p:val>
                                            <p:strVal val="#ppt_x"/>
                                          </p:val>
                                        </p:tav>
                                        <p:tav tm="100000">
                                          <p:val>
                                            <p:strVal val="#ppt_x"/>
                                          </p:val>
                                        </p:tav>
                                      </p:tavLst>
                                    </p:anim>
                                    <p:anim calcmode="lin" valueType="num">
                                      <p:cBhvr>
                                        <p:cTn id="4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184373" y="1792146"/>
            <a:ext cx="3436500"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استانداردهای سنگی</a:t>
            </a:r>
            <a:endParaRPr sz="6000"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3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3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474669" y="2120423"/>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21764723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871790" y="230661"/>
            <a:ext cx="956545"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6"/>
                </a:solidFill>
                <a:cs typeface="IRAN Sans" panose="020B0400000000000000" pitchFamily="34" charset="-78"/>
              </a:rPr>
              <a:t>مقدمه</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08</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 name="Rectangle 8">
            <a:extLst>
              <a:ext uri="{FF2B5EF4-FFF2-40B4-BE49-F238E27FC236}">
                <a16:creationId xmlns:a16="http://schemas.microsoft.com/office/drawing/2014/main" id="{27CB6BE3-1051-BC07-CC90-DD480CA34C17}"/>
              </a:ext>
            </a:extLst>
          </p:cNvPr>
          <p:cNvSpPr/>
          <p:nvPr/>
        </p:nvSpPr>
        <p:spPr>
          <a:xfrm>
            <a:off x="930681" y="760059"/>
            <a:ext cx="7520874" cy="3123003"/>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lIns="252000" tIns="72000" rIns="252000" bIns="180000">
            <a:spAutoFit/>
          </a:bodyPr>
          <a:lstStyle/>
          <a:p>
            <a:pPr algn="r" rtl="1">
              <a:lnSpc>
                <a:spcPct val="150000"/>
              </a:lnSpc>
            </a:pPr>
            <a:r>
              <a:rPr lang="fa-IR" b="1" dirty="0">
                <a:solidFill>
                  <a:schemeClr val="tx1">
                    <a:lumMod val="95000"/>
                    <a:lumOff val="5000"/>
                  </a:schemeClr>
                </a:solidFill>
                <a:cs typeface="IRAN Sans" panose="020B0400000000000000" pitchFamily="34" charset="-78"/>
              </a:rPr>
              <a:t>معماری به ویژه معماری مسکن با سنگ اغاز شد.</a:t>
            </a:r>
          </a:p>
          <a:p>
            <a:pPr algn="r" rtl="1">
              <a:lnSpc>
                <a:spcPct val="150000"/>
              </a:lnSpc>
            </a:pPr>
            <a:r>
              <a:rPr lang="fa-IR" b="1" dirty="0">
                <a:solidFill>
                  <a:schemeClr val="tx1">
                    <a:lumMod val="95000"/>
                    <a:lumOff val="5000"/>
                  </a:schemeClr>
                </a:solidFill>
                <a:cs typeface="IRAN Sans" panose="020B0400000000000000" pitchFamily="34" charset="-78"/>
              </a:rPr>
              <a:t>نخست صورت نقاشی داشت و سپس، سر پناه هایی به نام «تری لیت» که اغاز معماری سه سنگی بود، فضا ساز زندگی انسان شد.</a:t>
            </a:r>
          </a:p>
          <a:p>
            <a:pPr algn="r" rtl="1">
              <a:lnSpc>
                <a:spcPct val="150000"/>
              </a:lnSpc>
            </a:pPr>
            <a:r>
              <a:rPr lang="fa-IR" b="1" dirty="0">
                <a:solidFill>
                  <a:schemeClr val="tx1">
                    <a:lumMod val="95000"/>
                    <a:lumOff val="5000"/>
                  </a:schemeClr>
                </a:solidFill>
                <a:cs typeface="IRAN Sans" panose="020B0400000000000000" pitchFamily="34" charset="-78"/>
              </a:rPr>
              <a:t>در این نشریه به انواع سنگ های ساختمانی طبیعی، نحوه چیدمان، انواع برش های سنگی، وجوه مختلف سنگی، انواع بافت نمای دیوار های سنگی و ... اشاره شده است.</a:t>
            </a:r>
          </a:p>
          <a:p>
            <a:pPr algn="r" rtl="1">
              <a:lnSpc>
                <a:spcPct val="150000"/>
              </a:lnSpc>
            </a:pPr>
            <a:r>
              <a:rPr lang="fa-IR" b="1" dirty="0">
                <a:solidFill>
                  <a:schemeClr val="tx1">
                    <a:lumMod val="95000"/>
                    <a:lumOff val="5000"/>
                  </a:schemeClr>
                </a:solidFill>
                <a:cs typeface="IRAN Sans" panose="020B0400000000000000" pitchFamily="34" charset="-78"/>
              </a:rPr>
              <a:t>طبق امار عمومی سال ۵۵ ساختمانهای سنگی ساخته شده در روستاهای کشور در یک دوره ۵ساله افزون بر ۷۱هزار واحد بوده این امار در حالیست که تعداد ساختمانهای اجری در همان سال ها ۵۴هزار واحد را نشان داده است. ولی متاسفانه چگونگی ساخت اینگونه ساختمانهای سنگی از نقطه نظر مسائل فنی و اجرایی چندان رضایت بخش نیست در نتیجه این نشریه در راستای بهبود بخشی سازه های سنگی تعریف شده است.</a:t>
            </a:r>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2" name="Google Shape;317;p20">
            <a:hlinkClick r:id="rId3" action="ppaction://hlinksldjump"/>
            <a:extLst>
              <a:ext uri="{FF2B5EF4-FFF2-40B4-BE49-F238E27FC236}">
                <a16:creationId xmlns:a16="http://schemas.microsoft.com/office/drawing/2014/main" id="{6687F6E5-6D1B-44C7-2F1B-2683934D2854}"/>
              </a:ext>
            </a:extLst>
          </p:cNvPr>
          <p:cNvSpPr txBox="1"/>
          <p:nvPr/>
        </p:nvSpPr>
        <p:spPr>
          <a:xfrm>
            <a:off x="4709505" y="4761498"/>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p>
        </p:txBody>
      </p:sp>
      <p:sp>
        <p:nvSpPr>
          <p:cNvPr id="13" name="Google Shape;317;p20">
            <a:hlinkClick r:id="rId3" action="ppaction://hlinksldjump"/>
            <a:extLst>
              <a:ext uri="{FF2B5EF4-FFF2-40B4-BE49-F238E27FC236}">
                <a16:creationId xmlns:a16="http://schemas.microsoft.com/office/drawing/2014/main" id="{B0B6CB54-2C10-2C93-70FB-0970A28B7856}"/>
              </a:ext>
            </a:extLst>
          </p:cNvPr>
          <p:cNvSpPr txBox="1"/>
          <p:nvPr/>
        </p:nvSpPr>
        <p:spPr>
          <a:xfrm>
            <a:off x="321939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a:t>
            </a:r>
          </a:p>
        </p:txBody>
      </p:sp>
    </p:spTree>
    <p:extLst>
      <p:ext uri="{BB962C8B-B14F-4D97-AF65-F5344CB8AC3E}">
        <p14:creationId xmlns:p14="http://schemas.microsoft.com/office/powerpoint/2010/main" val="96032002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1000"/>
                                        <p:tgtEl>
                                          <p:spTgt spid="9"/>
                                        </p:tgtEl>
                                      </p:cBhvr>
                                    </p:animEffect>
                                    <p:anim calcmode="lin" valueType="num">
                                      <p:cBhvr>
                                        <p:cTn id="26" dur="1000" fill="hold"/>
                                        <p:tgtEl>
                                          <p:spTgt spid="9"/>
                                        </p:tgtEl>
                                        <p:attrNameLst>
                                          <p:attrName>ppt_x</p:attrName>
                                        </p:attrNameLst>
                                      </p:cBhvr>
                                      <p:tavLst>
                                        <p:tav tm="0">
                                          <p:val>
                                            <p:strVal val="#ppt_x"/>
                                          </p:val>
                                        </p:tav>
                                        <p:tav tm="100000">
                                          <p:val>
                                            <p:strVal val="#ppt_x"/>
                                          </p:val>
                                        </p:tav>
                                      </p:tavLst>
                                    </p:anim>
                                    <p:anim calcmode="lin" valueType="num">
                                      <p:cBhvr>
                                        <p:cTn id="2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871790" y="230661"/>
            <a:ext cx="956545"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6"/>
                </a:solidFill>
                <a:cs typeface="IRAN Sans" panose="020B0400000000000000" pitchFamily="34" charset="-78"/>
              </a:rPr>
              <a:t>مقدمه</a:t>
            </a:r>
            <a:endParaRPr sz="1600"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09</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2" name="Google Shape;317;p20">
            <a:hlinkClick r:id="rId3" action="ppaction://hlinksldjump"/>
            <a:extLst>
              <a:ext uri="{FF2B5EF4-FFF2-40B4-BE49-F238E27FC236}">
                <a16:creationId xmlns:a16="http://schemas.microsoft.com/office/drawing/2014/main" id="{6687F6E5-6D1B-44C7-2F1B-2683934D2854}"/>
              </a:ext>
            </a:extLst>
          </p:cNvPr>
          <p:cNvSpPr txBox="1"/>
          <p:nvPr/>
        </p:nvSpPr>
        <p:spPr>
          <a:xfrm>
            <a:off x="4709505" y="4761498"/>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p>
        </p:txBody>
      </p:sp>
      <p:sp>
        <p:nvSpPr>
          <p:cNvPr id="13" name="Google Shape;317;p20">
            <a:hlinkClick r:id="rId3" action="ppaction://hlinksldjump"/>
            <a:extLst>
              <a:ext uri="{FF2B5EF4-FFF2-40B4-BE49-F238E27FC236}">
                <a16:creationId xmlns:a16="http://schemas.microsoft.com/office/drawing/2014/main" id="{B0B6CB54-2C10-2C93-70FB-0970A28B7856}"/>
              </a:ext>
            </a:extLst>
          </p:cNvPr>
          <p:cNvSpPr txBox="1"/>
          <p:nvPr/>
        </p:nvSpPr>
        <p:spPr>
          <a:xfrm>
            <a:off x="321939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a:t>
            </a:r>
          </a:p>
        </p:txBody>
      </p:sp>
      <p:sp>
        <p:nvSpPr>
          <p:cNvPr id="15" name="Freeform: Shape 14">
            <a:extLst>
              <a:ext uri="{FF2B5EF4-FFF2-40B4-BE49-F238E27FC236}">
                <a16:creationId xmlns:a16="http://schemas.microsoft.com/office/drawing/2014/main" id="{49CD3F15-8C0E-A884-CAFE-DE8A6544888F}"/>
              </a:ext>
            </a:extLst>
          </p:cNvPr>
          <p:cNvSpPr/>
          <p:nvPr/>
        </p:nvSpPr>
        <p:spPr>
          <a:xfrm>
            <a:off x="1345915" y="565822"/>
            <a:ext cx="6329662" cy="3040407"/>
          </a:xfrm>
          <a:custGeom>
            <a:avLst/>
            <a:gdLst>
              <a:gd name="connsiteX0" fmla="*/ 2845831 w 5643481"/>
              <a:gd name="connsiteY0" fmla="*/ 2017555 h 2645659"/>
              <a:gd name="connsiteX1" fmla="*/ 3511284 w 5643481"/>
              <a:gd name="connsiteY1" fmla="*/ 2017555 h 2645659"/>
              <a:gd name="connsiteX2" fmla="*/ 3511284 w 5643481"/>
              <a:gd name="connsiteY2" fmla="*/ 2645659 h 2645659"/>
              <a:gd name="connsiteX3" fmla="*/ 2845831 w 5643481"/>
              <a:gd name="connsiteY3" fmla="*/ 2645659 h 2645659"/>
              <a:gd name="connsiteX4" fmla="*/ 3555030 w 5643481"/>
              <a:gd name="connsiteY4" fmla="*/ 2016093 h 2645659"/>
              <a:gd name="connsiteX5" fmla="*/ 4220483 w 5643481"/>
              <a:gd name="connsiteY5" fmla="*/ 2016093 h 2645659"/>
              <a:gd name="connsiteX6" fmla="*/ 4220483 w 5643481"/>
              <a:gd name="connsiteY6" fmla="*/ 2644197 h 2645659"/>
              <a:gd name="connsiteX7" fmla="*/ 3555030 w 5643481"/>
              <a:gd name="connsiteY7" fmla="*/ 2644197 h 2645659"/>
              <a:gd name="connsiteX8" fmla="*/ 0 w 5643481"/>
              <a:gd name="connsiteY8" fmla="*/ 2010142 h 2645659"/>
              <a:gd name="connsiteX9" fmla="*/ 665453 w 5643481"/>
              <a:gd name="connsiteY9" fmla="*/ 2010142 h 2645659"/>
              <a:gd name="connsiteX10" fmla="*/ 665453 w 5643481"/>
              <a:gd name="connsiteY10" fmla="*/ 2638246 h 2645659"/>
              <a:gd name="connsiteX11" fmla="*/ 0 w 5643481"/>
              <a:gd name="connsiteY11" fmla="*/ 2638246 h 2645659"/>
              <a:gd name="connsiteX12" fmla="*/ 709199 w 5643481"/>
              <a:gd name="connsiteY12" fmla="*/ 2008680 h 2645659"/>
              <a:gd name="connsiteX13" fmla="*/ 1374652 w 5643481"/>
              <a:gd name="connsiteY13" fmla="*/ 2008680 h 2645659"/>
              <a:gd name="connsiteX14" fmla="*/ 1374652 w 5643481"/>
              <a:gd name="connsiteY14" fmla="*/ 2636784 h 2645659"/>
              <a:gd name="connsiteX15" fmla="*/ 709199 w 5643481"/>
              <a:gd name="connsiteY15" fmla="*/ 2636784 h 2645659"/>
              <a:gd name="connsiteX16" fmla="*/ 4261084 w 5643481"/>
              <a:gd name="connsiteY16" fmla="*/ 2007885 h 2645659"/>
              <a:gd name="connsiteX17" fmla="*/ 4926537 w 5643481"/>
              <a:gd name="connsiteY17" fmla="*/ 2007885 h 2645659"/>
              <a:gd name="connsiteX18" fmla="*/ 4926537 w 5643481"/>
              <a:gd name="connsiteY18" fmla="*/ 2635989 h 2645659"/>
              <a:gd name="connsiteX19" fmla="*/ 4261084 w 5643481"/>
              <a:gd name="connsiteY19" fmla="*/ 2635989 h 2645659"/>
              <a:gd name="connsiteX20" fmla="*/ 1415252 w 5643481"/>
              <a:gd name="connsiteY20" fmla="*/ 2007885 h 2645659"/>
              <a:gd name="connsiteX21" fmla="*/ 2080705 w 5643481"/>
              <a:gd name="connsiteY21" fmla="*/ 2007885 h 2645659"/>
              <a:gd name="connsiteX22" fmla="*/ 2080705 w 5643481"/>
              <a:gd name="connsiteY22" fmla="*/ 2635989 h 2645659"/>
              <a:gd name="connsiteX23" fmla="*/ 1415252 w 5643481"/>
              <a:gd name="connsiteY23" fmla="*/ 2635989 h 2645659"/>
              <a:gd name="connsiteX24" fmla="*/ 4970283 w 5643481"/>
              <a:gd name="connsiteY24" fmla="*/ 2006423 h 2645659"/>
              <a:gd name="connsiteX25" fmla="*/ 5635736 w 5643481"/>
              <a:gd name="connsiteY25" fmla="*/ 2006423 h 2645659"/>
              <a:gd name="connsiteX26" fmla="*/ 5635736 w 5643481"/>
              <a:gd name="connsiteY26" fmla="*/ 2634527 h 2645659"/>
              <a:gd name="connsiteX27" fmla="*/ 4970283 w 5643481"/>
              <a:gd name="connsiteY27" fmla="*/ 2634527 h 2645659"/>
              <a:gd name="connsiteX28" fmla="*/ 2124451 w 5643481"/>
              <a:gd name="connsiteY28" fmla="*/ 2006423 h 2645659"/>
              <a:gd name="connsiteX29" fmla="*/ 2789904 w 5643481"/>
              <a:gd name="connsiteY29" fmla="*/ 2006423 h 2645659"/>
              <a:gd name="connsiteX30" fmla="*/ 2789904 w 5643481"/>
              <a:gd name="connsiteY30" fmla="*/ 2634527 h 2645659"/>
              <a:gd name="connsiteX31" fmla="*/ 2124451 w 5643481"/>
              <a:gd name="connsiteY31" fmla="*/ 2634527 h 2645659"/>
              <a:gd name="connsiteX32" fmla="*/ 3555031 w 5643481"/>
              <a:gd name="connsiteY32" fmla="*/ 1358612 h 2645659"/>
              <a:gd name="connsiteX33" fmla="*/ 4220484 w 5643481"/>
              <a:gd name="connsiteY33" fmla="*/ 1358612 h 2645659"/>
              <a:gd name="connsiteX34" fmla="*/ 4220484 w 5643481"/>
              <a:gd name="connsiteY34" fmla="*/ 1986716 h 2645659"/>
              <a:gd name="connsiteX35" fmla="*/ 3555031 w 5643481"/>
              <a:gd name="connsiteY35" fmla="*/ 1986716 h 2645659"/>
              <a:gd name="connsiteX36" fmla="*/ 2845832 w 5643481"/>
              <a:gd name="connsiteY36" fmla="*/ 1356149 h 2645659"/>
              <a:gd name="connsiteX37" fmla="*/ 3511285 w 5643481"/>
              <a:gd name="connsiteY37" fmla="*/ 1356149 h 2645659"/>
              <a:gd name="connsiteX38" fmla="*/ 3511285 w 5643481"/>
              <a:gd name="connsiteY38" fmla="*/ 1984253 h 2645659"/>
              <a:gd name="connsiteX39" fmla="*/ 2845832 w 5643481"/>
              <a:gd name="connsiteY39" fmla="*/ 1984253 h 2645659"/>
              <a:gd name="connsiteX40" fmla="*/ 709200 w 5643481"/>
              <a:gd name="connsiteY40" fmla="*/ 1351199 h 2645659"/>
              <a:gd name="connsiteX41" fmla="*/ 1374653 w 5643481"/>
              <a:gd name="connsiteY41" fmla="*/ 1351199 h 2645659"/>
              <a:gd name="connsiteX42" fmla="*/ 1374653 w 5643481"/>
              <a:gd name="connsiteY42" fmla="*/ 1979303 h 2645659"/>
              <a:gd name="connsiteX43" fmla="*/ 709200 w 5643481"/>
              <a:gd name="connsiteY43" fmla="*/ 1979303 h 2645659"/>
              <a:gd name="connsiteX44" fmla="*/ 4970284 w 5643481"/>
              <a:gd name="connsiteY44" fmla="*/ 1348942 h 2645659"/>
              <a:gd name="connsiteX45" fmla="*/ 5635737 w 5643481"/>
              <a:gd name="connsiteY45" fmla="*/ 1348942 h 2645659"/>
              <a:gd name="connsiteX46" fmla="*/ 5635737 w 5643481"/>
              <a:gd name="connsiteY46" fmla="*/ 1977046 h 2645659"/>
              <a:gd name="connsiteX47" fmla="*/ 4970284 w 5643481"/>
              <a:gd name="connsiteY47" fmla="*/ 1977046 h 2645659"/>
              <a:gd name="connsiteX48" fmla="*/ 2124452 w 5643481"/>
              <a:gd name="connsiteY48" fmla="*/ 1348942 h 2645659"/>
              <a:gd name="connsiteX49" fmla="*/ 2789905 w 5643481"/>
              <a:gd name="connsiteY49" fmla="*/ 1348942 h 2645659"/>
              <a:gd name="connsiteX50" fmla="*/ 2789905 w 5643481"/>
              <a:gd name="connsiteY50" fmla="*/ 1977046 h 2645659"/>
              <a:gd name="connsiteX51" fmla="*/ 2124452 w 5643481"/>
              <a:gd name="connsiteY51" fmla="*/ 1977046 h 2645659"/>
              <a:gd name="connsiteX52" fmla="*/ 1 w 5643481"/>
              <a:gd name="connsiteY52" fmla="*/ 1348736 h 2645659"/>
              <a:gd name="connsiteX53" fmla="*/ 665454 w 5643481"/>
              <a:gd name="connsiteY53" fmla="*/ 1348736 h 2645659"/>
              <a:gd name="connsiteX54" fmla="*/ 665454 w 5643481"/>
              <a:gd name="connsiteY54" fmla="*/ 1976840 h 2645659"/>
              <a:gd name="connsiteX55" fmla="*/ 1 w 5643481"/>
              <a:gd name="connsiteY55" fmla="*/ 1976840 h 2645659"/>
              <a:gd name="connsiteX56" fmla="*/ 4261085 w 5643481"/>
              <a:gd name="connsiteY56" fmla="*/ 1346479 h 2645659"/>
              <a:gd name="connsiteX57" fmla="*/ 4926538 w 5643481"/>
              <a:gd name="connsiteY57" fmla="*/ 1346479 h 2645659"/>
              <a:gd name="connsiteX58" fmla="*/ 4926538 w 5643481"/>
              <a:gd name="connsiteY58" fmla="*/ 1974583 h 2645659"/>
              <a:gd name="connsiteX59" fmla="*/ 4261085 w 5643481"/>
              <a:gd name="connsiteY59" fmla="*/ 1974583 h 2645659"/>
              <a:gd name="connsiteX60" fmla="*/ 1415253 w 5643481"/>
              <a:gd name="connsiteY60" fmla="*/ 1346479 h 2645659"/>
              <a:gd name="connsiteX61" fmla="*/ 2080706 w 5643481"/>
              <a:gd name="connsiteY61" fmla="*/ 1346479 h 2645659"/>
              <a:gd name="connsiteX62" fmla="*/ 2080706 w 5643481"/>
              <a:gd name="connsiteY62" fmla="*/ 1974583 h 2645659"/>
              <a:gd name="connsiteX63" fmla="*/ 1415253 w 5643481"/>
              <a:gd name="connsiteY63" fmla="*/ 1974583 h 2645659"/>
              <a:gd name="connsiteX64" fmla="*/ 3562774 w 5643481"/>
              <a:gd name="connsiteY64" fmla="*/ 684141 h 2645659"/>
              <a:gd name="connsiteX65" fmla="*/ 4228227 w 5643481"/>
              <a:gd name="connsiteY65" fmla="*/ 684141 h 2645659"/>
              <a:gd name="connsiteX66" fmla="*/ 4228227 w 5643481"/>
              <a:gd name="connsiteY66" fmla="*/ 1312245 h 2645659"/>
              <a:gd name="connsiteX67" fmla="*/ 3562774 w 5643481"/>
              <a:gd name="connsiteY67" fmla="*/ 1312245 h 2645659"/>
              <a:gd name="connsiteX68" fmla="*/ 716943 w 5643481"/>
              <a:gd name="connsiteY68" fmla="*/ 676728 h 2645659"/>
              <a:gd name="connsiteX69" fmla="*/ 1382395 w 5643481"/>
              <a:gd name="connsiteY69" fmla="*/ 676728 h 2645659"/>
              <a:gd name="connsiteX70" fmla="*/ 1382395 w 5643481"/>
              <a:gd name="connsiteY70" fmla="*/ 1304832 h 2645659"/>
              <a:gd name="connsiteX71" fmla="*/ 716943 w 5643481"/>
              <a:gd name="connsiteY71" fmla="*/ 1304832 h 2645659"/>
              <a:gd name="connsiteX72" fmla="*/ 2848995 w 5643481"/>
              <a:gd name="connsiteY72" fmla="*/ 675794 h 2645659"/>
              <a:gd name="connsiteX73" fmla="*/ 3514448 w 5643481"/>
              <a:gd name="connsiteY73" fmla="*/ 675794 h 2645659"/>
              <a:gd name="connsiteX74" fmla="*/ 3514448 w 5643481"/>
              <a:gd name="connsiteY74" fmla="*/ 1303898 h 2645659"/>
              <a:gd name="connsiteX75" fmla="*/ 2848995 w 5643481"/>
              <a:gd name="connsiteY75" fmla="*/ 1303898 h 2645659"/>
              <a:gd name="connsiteX76" fmla="*/ 4978027 w 5643481"/>
              <a:gd name="connsiteY76" fmla="*/ 674471 h 2645659"/>
              <a:gd name="connsiteX77" fmla="*/ 5643480 w 5643481"/>
              <a:gd name="connsiteY77" fmla="*/ 674471 h 2645659"/>
              <a:gd name="connsiteX78" fmla="*/ 5643480 w 5643481"/>
              <a:gd name="connsiteY78" fmla="*/ 1302575 h 2645659"/>
              <a:gd name="connsiteX79" fmla="*/ 4978027 w 5643481"/>
              <a:gd name="connsiteY79" fmla="*/ 1302575 h 2645659"/>
              <a:gd name="connsiteX80" fmla="*/ 2132195 w 5643481"/>
              <a:gd name="connsiteY80" fmla="*/ 674471 h 2645659"/>
              <a:gd name="connsiteX81" fmla="*/ 2797648 w 5643481"/>
              <a:gd name="connsiteY81" fmla="*/ 674471 h 2645659"/>
              <a:gd name="connsiteX82" fmla="*/ 2797648 w 5643481"/>
              <a:gd name="connsiteY82" fmla="*/ 1302575 h 2645659"/>
              <a:gd name="connsiteX83" fmla="*/ 2132195 w 5643481"/>
              <a:gd name="connsiteY83" fmla="*/ 1302575 h 2645659"/>
              <a:gd name="connsiteX84" fmla="*/ 3164 w 5643481"/>
              <a:gd name="connsiteY84" fmla="*/ 668381 h 2645659"/>
              <a:gd name="connsiteX85" fmla="*/ 668617 w 5643481"/>
              <a:gd name="connsiteY85" fmla="*/ 668381 h 2645659"/>
              <a:gd name="connsiteX86" fmla="*/ 668617 w 5643481"/>
              <a:gd name="connsiteY86" fmla="*/ 1296485 h 2645659"/>
              <a:gd name="connsiteX87" fmla="*/ 3164 w 5643481"/>
              <a:gd name="connsiteY87" fmla="*/ 1296485 h 2645659"/>
              <a:gd name="connsiteX88" fmla="*/ 4264248 w 5643481"/>
              <a:gd name="connsiteY88" fmla="*/ 666124 h 2645659"/>
              <a:gd name="connsiteX89" fmla="*/ 4929701 w 5643481"/>
              <a:gd name="connsiteY89" fmla="*/ 666124 h 2645659"/>
              <a:gd name="connsiteX90" fmla="*/ 4929701 w 5643481"/>
              <a:gd name="connsiteY90" fmla="*/ 1294228 h 2645659"/>
              <a:gd name="connsiteX91" fmla="*/ 4264248 w 5643481"/>
              <a:gd name="connsiteY91" fmla="*/ 1294228 h 2645659"/>
              <a:gd name="connsiteX92" fmla="*/ 1418416 w 5643481"/>
              <a:gd name="connsiteY92" fmla="*/ 666124 h 2645659"/>
              <a:gd name="connsiteX93" fmla="*/ 2083869 w 5643481"/>
              <a:gd name="connsiteY93" fmla="*/ 666124 h 2645659"/>
              <a:gd name="connsiteX94" fmla="*/ 2083869 w 5643481"/>
              <a:gd name="connsiteY94" fmla="*/ 1294228 h 2645659"/>
              <a:gd name="connsiteX95" fmla="*/ 1418416 w 5643481"/>
              <a:gd name="connsiteY95" fmla="*/ 1294228 h 2645659"/>
              <a:gd name="connsiteX96" fmla="*/ 2848995 w 5643481"/>
              <a:gd name="connsiteY96" fmla="*/ 10165 h 2645659"/>
              <a:gd name="connsiteX97" fmla="*/ 3514448 w 5643481"/>
              <a:gd name="connsiteY97" fmla="*/ 10165 h 2645659"/>
              <a:gd name="connsiteX98" fmla="*/ 3514448 w 5643481"/>
              <a:gd name="connsiteY98" fmla="*/ 638269 h 2645659"/>
              <a:gd name="connsiteX99" fmla="*/ 2848995 w 5643481"/>
              <a:gd name="connsiteY99" fmla="*/ 638269 h 2645659"/>
              <a:gd name="connsiteX100" fmla="*/ 3562775 w 5643481"/>
              <a:gd name="connsiteY100" fmla="*/ 9670 h 2645659"/>
              <a:gd name="connsiteX101" fmla="*/ 4228228 w 5643481"/>
              <a:gd name="connsiteY101" fmla="*/ 9670 h 2645659"/>
              <a:gd name="connsiteX102" fmla="*/ 4228228 w 5643481"/>
              <a:gd name="connsiteY102" fmla="*/ 637774 h 2645659"/>
              <a:gd name="connsiteX103" fmla="*/ 3562775 w 5643481"/>
              <a:gd name="connsiteY103" fmla="*/ 637774 h 2645659"/>
              <a:gd name="connsiteX104" fmla="*/ 3164 w 5643481"/>
              <a:gd name="connsiteY104" fmla="*/ 2753 h 2645659"/>
              <a:gd name="connsiteX105" fmla="*/ 668617 w 5643481"/>
              <a:gd name="connsiteY105" fmla="*/ 2753 h 2645659"/>
              <a:gd name="connsiteX106" fmla="*/ 668617 w 5643481"/>
              <a:gd name="connsiteY106" fmla="*/ 630856 h 2645659"/>
              <a:gd name="connsiteX107" fmla="*/ 3164 w 5643481"/>
              <a:gd name="connsiteY107" fmla="*/ 630856 h 2645659"/>
              <a:gd name="connsiteX108" fmla="*/ 716944 w 5643481"/>
              <a:gd name="connsiteY108" fmla="*/ 2258 h 2645659"/>
              <a:gd name="connsiteX109" fmla="*/ 1382396 w 5643481"/>
              <a:gd name="connsiteY109" fmla="*/ 2258 h 2645659"/>
              <a:gd name="connsiteX110" fmla="*/ 1382396 w 5643481"/>
              <a:gd name="connsiteY110" fmla="*/ 630361 h 2645659"/>
              <a:gd name="connsiteX111" fmla="*/ 716944 w 5643481"/>
              <a:gd name="connsiteY111" fmla="*/ 630361 h 2645659"/>
              <a:gd name="connsiteX112" fmla="*/ 1418416 w 5643481"/>
              <a:gd name="connsiteY112" fmla="*/ 496 h 2645659"/>
              <a:gd name="connsiteX113" fmla="*/ 2083869 w 5643481"/>
              <a:gd name="connsiteY113" fmla="*/ 496 h 2645659"/>
              <a:gd name="connsiteX114" fmla="*/ 2083869 w 5643481"/>
              <a:gd name="connsiteY114" fmla="*/ 628599 h 2645659"/>
              <a:gd name="connsiteX115" fmla="*/ 1418416 w 5643481"/>
              <a:gd name="connsiteY115" fmla="*/ 628599 h 2645659"/>
              <a:gd name="connsiteX116" fmla="*/ 4264248 w 5643481"/>
              <a:gd name="connsiteY116" fmla="*/ 495 h 2645659"/>
              <a:gd name="connsiteX117" fmla="*/ 4929701 w 5643481"/>
              <a:gd name="connsiteY117" fmla="*/ 495 h 2645659"/>
              <a:gd name="connsiteX118" fmla="*/ 4929701 w 5643481"/>
              <a:gd name="connsiteY118" fmla="*/ 628599 h 2645659"/>
              <a:gd name="connsiteX119" fmla="*/ 4264248 w 5643481"/>
              <a:gd name="connsiteY119" fmla="*/ 628599 h 2645659"/>
              <a:gd name="connsiteX120" fmla="*/ 2132196 w 5643481"/>
              <a:gd name="connsiteY120" fmla="*/ 1 h 2645659"/>
              <a:gd name="connsiteX121" fmla="*/ 2797649 w 5643481"/>
              <a:gd name="connsiteY121" fmla="*/ 1 h 2645659"/>
              <a:gd name="connsiteX122" fmla="*/ 2797649 w 5643481"/>
              <a:gd name="connsiteY122" fmla="*/ 628104 h 2645659"/>
              <a:gd name="connsiteX123" fmla="*/ 2132196 w 5643481"/>
              <a:gd name="connsiteY123" fmla="*/ 628104 h 2645659"/>
              <a:gd name="connsiteX124" fmla="*/ 4978028 w 5643481"/>
              <a:gd name="connsiteY124" fmla="*/ 0 h 2645659"/>
              <a:gd name="connsiteX125" fmla="*/ 5643481 w 5643481"/>
              <a:gd name="connsiteY125" fmla="*/ 0 h 2645659"/>
              <a:gd name="connsiteX126" fmla="*/ 5643481 w 5643481"/>
              <a:gd name="connsiteY126" fmla="*/ 628104 h 2645659"/>
              <a:gd name="connsiteX127" fmla="*/ 4978028 w 5643481"/>
              <a:gd name="connsiteY127" fmla="*/ 628104 h 264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5643481" h="2645659">
                <a:moveTo>
                  <a:pt x="2845831" y="2017555"/>
                </a:moveTo>
                <a:lnTo>
                  <a:pt x="3511284" y="2017555"/>
                </a:lnTo>
                <a:lnTo>
                  <a:pt x="3511284" y="2645659"/>
                </a:lnTo>
                <a:lnTo>
                  <a:pt x="2845831" y="2645659"/>
                </a:lnTo>
                <a:close/>
                <a:moveTo>
                  <a:pt x="3555030" y="2016093"/>
                </a:moveTo>
                <a:lnTo>
                  <a:pt x="4220483" y="2016093"/>
                </a:lnTo>
                <a:lnTo>
                  <a:pt x="4220483" y="2644197"/>
                </a:lnTo>
                <a:lnTo>
                  <a:pt x="3555030" y="2644197"/>
                </a:lnTo>
                <a:close/>
                <a:moveTo>
                  <a:pt x="0" y="2010142"/>
                </a:moveTo>
                <a:lnTo>
                  <a:pt x="665453" y="2010142"/>
                </a:lnTo>
                <a:lnTo>
                  <a:pt x="665453" y="2638246"/>
                </a:lnTo>
                <a:lnTo>
                  <a:pt x="0" y="2638246"/>
                </a:lnTo>
                <a:close/>
                <a:moveTo>
                  <a:pt x="709199" y="2008680"/>
                </a:moveTo>
                <a:lnTo>
                  <a:pt x="1374652" y="2008680"/>
                </a:lnTo>
                <a:lnTo>
                  <a:pt x="1374652" y="2636784"/>
                </a:lnTo>
                <a:lnTo>
                  <a:pt x="709199" y="2636784"/>
                </a:lnTo>
                <a:close/>
                <a:moveTo>
                  <a:pt x="4261084" y="2007885"/>
                </a:moveTo>
                <a:lnTo>
                  <a:pt x="4926537" y="2007885"/>
                </a:lnTo>
                <a:lnTo>
                  <a:pt x="4926537" y="2635989"/>
                </a:lnTo>
                <a:lnTo>
                  <a:pt x="4261084" y="2635989"/>
                </a:lnTo>
                <a:close/>
                <a:moveTo>
                  <a:pt x="1415252" y="2007885"/>
                </a:moveTo>
                <a:lnTo>
                  <a:pt x="2080705" y="2007885"/>
                </a:lnTo>
                <a:lnTo>
                  <a:pt x="2080705" y="2635989"/>
                </a:lnTo>
                <a:lnTo>
                  <a:pt x="1415252" y="2635989"/>
                </a:lnTo>
                <a:close/>
                <a:moveTo>
                  <a:pt x="4970283" y="2006423"/>
                </a:moveTo>
                <a:lnTo>
                  <a:pt x="5635736" y="2006423"/>
                </a:lnTo>
                <a:lnTo>
                  <a:pt x="5635736" y="2634527"/>
                </a:lnTo>
                <a:lnTo>
                  <a:pt x="4970283" y="2634527"/>
                </a:lnTo>
                <a:close/>
                <a:moveTo>
                  <a:pt x="2124451" y="2006423"/>
                </a:moveTo>
                <a:lnTo>
                  <a:pt x="2789904" y="2006423"/>
                </a:lnTo>
                <a:lnTo>
                  <a:pt x="2789904" y="2634527"/>
                </a:lnTo>
                <a:lnTo>
                  <a:pt x="2124451" y="2634527"/>
                </a:lnTo>
                <a:close/>
                <a:moveTo>
                  <a:pt x="3555031" y="1358612"/>
                </a:moveTo>
                <a:lnTo>
                  <a:pt x="4220484" y="1358612"/>
                </a:lnTo>
                <a:lnTo>
                  <a:pt x="4220484" y="1986716"/>
                </a:lnTo>
                <a:lnTo>
                  <a:pt x="3555031" y="1986716"/>
                </a:lnTo>
                <a:close/>
                <a:moveTo>
                  <a:pt x="2845832" y="1356149"/>
                </a:moveTo>
                <a:lnTo>
                  <a:pt x="3511285" y="1356149"/>
                </a:lnTo>
                <a:lnTo>
                  <a:pt x="3511285" y="1984253"/>
                </a:lnTo>
                <a:lnTo>
                  <a:pt x="2845832" y="1984253"/>
                </a:lnTo>
                <a:close/>
                <a:moveTo>
                  <a:pt x="709200" y="1351199"/>
                </a:moveTo>
                <a:lnTo>
                  <a:pt x="1374653" y="1351199"/>
                </a:lnTo>
                <a:lnTo>
                  <a:pt x="1374653" y="1979303"/>
                </a:lnTo>
                <a:lnTo>
                  <a:pt x="709200" y="1979303"/>
                </a:lnTo>
                <a:close/>
                <a:moveTo>
                  <a:pt x="4970284" y="1348942"/>
                </a:moveTo>
                <a:lnTo>
                  <a:pt x="5635737" y="1348942"/>
                </a:lnTo>
                <a:lnTo>
                  <a:pt x="5635737" y="1977046"/>
                </a:lnTo>
                <a:lnTo>
                  <a:pt x="4970284" y="1977046"/>
                </a:lnTo>
                <a:close/>
                <a:moveTo>
                  <a:pt x="2124452" y="1348942"/>
                </a:moveTo>
                <a:lnTo>
                  <a:pt x="2789905" y="1348942"/>
                </a:lnTo>
                <a:lnTo>
                  <a:pt x="2789905" y="1977046"/>
                </a:lnTo>
                <a:lnTo>
                  <a:pt x="2124452" y="1977046"/>
                </a:lnTo>
                <a:close/>
                <a:moveTo>
                  <a:pt x="1" y="1348736"/>
                </a:moveTo>
                <a:lnTo>
                  <a:pt x="665454" y="1348736"/>
                </a:lnTo>
                <a:lnTo>
                  <a:pt x="665454" y="1976840"/>
                </a:lnTo>
                <a:lnTo>
                  <a:pt x="1" y="1976840"/>
                </a:lnTo>
                <a:close/>
                <a:moveTo>
                  <a:pt x="4261085" y="1346479"/>
                </a:moveTo>
                <a:lnTo>
                  <a:pt x="4926538" y="1346479"/>
                </a:lnTo>
                <a:lnTo>
                  <a:pt x="4926538" y="1974583"/>
                </a:lnTo>
                <a:lnTo>
                  <a:pt x="4261085" y="1974583"/>
                </a:lnTo>
                <a:close/>
                <a:moveTo>
                  <a:pt x="1415253" y="1346479"/>
                </a:moveTo>
                <a:lnTo>
                  <a:pt x="2080706" y="1346479"/>
                </a:lnTo>
                <a:lnTo>
                  <a:pt x="2080706" y="1974583"/>
                </a:lnTo>
                <a:lnTo>
                  <a:pt x="1415253" y="1974583"/>
                </a:lnTo>
                <a:close/>
                <a:moveTo>
                  <a:pt x="3562774" y="684141"/>
                </a:moveTo>
                <a:lnTo>
                  <a:pt x="4228227" y="684141"/>
                </a:lnTo>
                <a:lnTo>
                  <a:pt x="4228227" y="1312245"/>
                </a:lnTo>
                <a:lnTo>
                  <a:pt x="3562774" y="1312245"/>
                </a:lnTo>
                <a:close/>
                <a:moveTo>
                  <a:pt x="716943" y="676728"/>
                </a:moveTo>
                <a:lnTo>
                  <a:pt x="1382395" y="676728"/>
                </a:lnTo>
                <a:lnTo>
                  <a:pt x="1382395" y="1304832"/>
                </a:lnTo>
                <a:lnTo>
                  <a:pt x="716943" y="1304832"/>
                </a:lnTo>
                <a:close/>
                <a:moveTo>
                  <a:pt x="2848995" y="675794"/>
                </a:moveTo>
                <a:lnTo>
                  <a:pt x="3514448" y="675794"/>
                </a:lnTo>
                <a:lnTo>
                  <a:pt x="3514448" y="1303898"/>
                </a:lnTo>
                <a:lnTo>
                  <a:pt x="2848995" y="1303898"/>
                </a:lnTo>
                <a:close/>
                <a:moveTo>
                  <a:pt x="4978027" y="674471"/>
                </a:moveTo>
                <a:lnTo>
                  <a:pt x="5643480" y="674471"/>
                </a:lnTo>
                <a:lnTo>
                  <a:pt x="5643480" y="1302575"/>
                </a:lnTo>
                <a:lnTo>
                  <a:pt x="4978027" y="1302575"/>
                </a:lnTo>
                <a:close/>
                <a:moveTo>
                  <a:pt x="2132195" y="674471"/>
                </a:moveTo>
                <a:lnTo>
                  <a:pt x="2797648" y="674471"/>
                </a:lnTo>
                <a:lnTo>
                  <a:pt x="2797648" y="1302575"/>
                </a:lnTo>
                <a:lnTo>
                  <a:pt x="2132195" y="1302575"/>
                </a:lnTo>
                <a:close/>
                <a:moveTo>
                  <a:pt x="3164" y="668381"/>
                </a:moveTo>
                <a:lnTo>
                  <a:pt x="668617" y="668381"/>
                </a:lnTo>
                <a:lnTo>
                  <a:pt x="668617" y="1296485"/>
                </a:lnTo>
                <a:lnTo>
                  <a:pt x="3164" y="1296485"/>
                </a:lnTo>
                <a:close/>
                <a:moveTo>
                  <a:pt x="4264248" y="666124"/>
                </a:moveTo>
                <a:lnTo>
                  <a:pt x="4929701" y="666124"/>
                </a:lnTo>
                <a:lnTo>
                  <a:pt x="4929701" y="1294228"/>
                </a:lnTo>
                <a:lnTo>
                  <a:pt x="4264248" y="1294228"/>
                </a:lnTo>
                <a:close/>
                <a:moveTo>
                  <a:pt x="1418416" y="666124"/>
                </a:moveTo>
                <a:lnTo>
                  <a:pt x="2083869" y="666124"/>
                </a:lnTo>
                <a:lnTo>
                  <a:pt x="2083869" y="1294228"/>
                </a:lnTo>
                <a:lnTo>
                  <a:pt x="1418416" y="1294228"/>
                </a:lnTo>
                <a:close/>
                <a:moveTo>
                  <a:pt x="2848995" y="10165"/>
                </a:moveTo>
                <a:lnTo>
                  <a:pt x="3514448" y="10165"/>
                </a:lnTo>
                <a:lnTo>
                  <a:pt x="3514448" y="638269"/>
                </a:lnTo>
                <a:lnTo>
                  <a:pt x="2848995" y="638269"/>
                </a:lnTo>
                <a:close/>
                <a:moveTo>
                  <a:pt x="3562775" y="9670"/>
                </a:moveTo>
                <a:lnTo>
                  <a:pt x="4228228" y="9670"/>
                </a:lnTo>
                <a:lnTo>
                  <a:pt x="4228228" y="637774"/>
                </a:lnTo>
                <a:lnTo>
                  <a:pt x="3562775" y="637774"/>
                </a:lnTo>
                <a:close/>
                <a:moveTo>
                  <a:pt x="3164" y="2753"/>
                </a:moveTo>
                <a:lnTo>
                  <a:pt x="668617" y="2753"/>
                </a:lnTo>
                <a:lnTo>
                  <a:pt x="668617" y="630856"/>
                </a:lnTo>
                <a:lnTo>
                  <a:pt x="3164" y="630856"/>
                </a:lnTo>
                <a:close/>
                <a:moveTo>
                  <a:pt x="716944" y="2258"/>
                </a:moveTo>
                <a:lnTo>
                  <a:pt x="1382396" y="2258"/>
                </a:lnTo>
                <a:lnTo>
                  <a:pt x="1382396" y="630361"/>
                </a:lnTo>
                <a:lnTo>
                  <a:pt x="716944" y="630361"/>
                </a:lnTo>
                <a:close/>
                <a:moveTo>
                  <a:pt x="1418416" y="496"/>
                </a:moveTo>
                <a:lnTo>
                  <a:pt x="2083869" y="496"/>
                </a:lnTo>
                <a:lnTo>
                  <a:pt x="2083869" y="628599"/>
                </a:lnTo>
                <a:lnTo>
                  <a:pt x="1418416" y="628599"/>
                </a:lnTo>
                <a:close/>
                <a:moveTo>
                  <a:pt x="4264248" y="495"/>
                </a:moveTo>
                <a:lnTo>
                  <a:pt x="4929701" y="495"/>
                </a:lnTo>
                <a:lnTo>
                  <a:pt x="4929701" y="628599"/>
                </a:lnTo>
                <a:lnTo>
                  <a:pt x="4264248" y="628599"/>
                </a:lnTo>
                <a:close/>
                <a:moveTo>
                  <a:pt x="2132196" y="1"/>
                </a:moveTo>
                <a:lnTo>
                  <a:pt x="2797649" y="1"/>
                </a:lnTo>
                <a:lnTo>
                  <a:pt x="2797649" y="628104"/>
                </a:lnTo>
                <a:lnTo>
                  <a:pt x="2132196" y="628104"/>
                </a:lnTo>
                <a:close/>
                <a:moveTo>
                  <a:pt x="4978028" y="0"/>
                </a:moveTo>
                <a:lnTo>
                  <a:pt x="5643481" y="0"/>
                </a:lnTo>
                <a:lnTo>
                  <a:pt x="5643481" y="628104"/>
                </a:lnTo>
                <a:lnTo>
                  <a:pt x="4978028" y="628104"/>
                </a:lnTo>
                <a:close/>
              </a:path>
            </a:pathLst>
          </a:custGeom>
          <a:blipFill>
            <a:blip r:embed="rId4"/>
            <a:stretch>
              <a:fillRect/>
            </a:stretch>
          </a:blipFill>
          <a:ln cmpd="thinThick">
            <a:solidFill>
              <a:schemeClr val="bg1">
                <a:lumMod val="85000"/>
              </a:schemeClr>
            </a:solidFill>
            <a:prstDash val="solid"/>
          </a:ln>
          <a:effectLst>
            <a:reflection stA="45000" endPos="2000" dist="50800" dir="5400000" sy="-100000" algn="bl" rotWithShape="0"/>
            <a:softEdge rad="0"/>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28393969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1000"/>
                                        <p:tgtEl>
                                          <p:spTgt spid="15"/>
                                        </p:tgtEl>
                                      </p:cBhvr>
                                    </p:animEffect>
                                    <p:anim calcmode="lin" valueType="num">
                                      <p:cBhvr>
                                        <p:cTn id="25" dur="1000" fill="hold"/>
                                        <p:tgtEl>
                                          <p:spTgt spid="15"/>
                                        </p:tgtEl>
                                        <p:attrNameLst>
                                          <p:attrName>ppt_x</p:attrName>
                                        </p:attrNameLst>
                                      </p:cBhvr>
                                      <p:tavLst>
                                        <p:tav tm="0">
                                          <p:val>
                                            <p:strVal val="#ppt_x"/>
                                          </p:val>
                                        </p:tav>
                                        <p:tav tm="100000">
                                          <p:val>
                                            <p:strVal val="#ppt_x"/>
                                          </p:val>
                                        </p:tav>
                                      </p:tavLst>
                                    </p:anim>
                                    <p:anim calcmode="lin" valueType="num">
                                      <p:cBhvr>
                                        <p:cTn id="2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185536" y="230661"/>
            <a:ext cx="2642800"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مشخصات کلی سنگ‌های طبیعی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10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43" name="Rectangle 142">
            <a:extLst>
              <a:ext uri="{FF2B5EF4-FFF2-40B4-BE49-F238E27FC236}">
                <a16:creationId xmlns:a16="http://schemas.microsoft.com/office/drawing/2014/main" id="{9D163131-94B2-4893-86FC-1E251779E2D5}"/>
              </a:ext>
            </a:extLst>
          </p:cNvPr>
          <p:cNvSpPr/>
          <p:nvPr/>
        </p:nvSpPr>
        <p:spPr>
          <a:xfrm>
            <a:off x="4511637" y="740621"/>
            <a:ext cx="4032254" cy="2700598"/>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b="1" dirty="0">
                <a:solidFill>
                  <a:schemeClr val="tx1">
                    <a:lumMod val="95000"/>
                    <a:lumOff val="5000"/>
                  </a:schemeClr>
                </a:solidFill>
                <a:cs typeface="IRAN Sans" panose="020B0400000000000000" pitchFamily="34" charset="-78"/>
              </a:rPr>
              <a:t>مشخصات کلی سنگهای طبیعی برای مصارف ساختمانی:</a:t>
            </a:r>
          </a:p>
          <a:p>
            <a:pPr algn="justLow" rtl="1">
              <a:lnSpc>
                <a:spcPct val="150000"/>
              </a:lnSpc>
            </a:pPr>
            <a:r>
              <a:rPr lang="fa-IR" dirty="0">
                <a:solidFill>
                  <a:schemeClr val="tx1">
                    <a:lumMod val="95000"/>
                    <a:lumOff val="5000"/>
                  </a:schemeClr>
                </a:solidFill>
                <a:cs typeface="IRAN Sans" panose="020B0400000000000000" pitchFamily="34" charset="-78"/>
              </a:rPr>
              <a:t>سنگ از مصالح طبیعی است که در بیشتر مناطق ایران به فراوانی یافت میشود. و از مصالحی است که میتوان به تنهایی و بدون استفاده از ملات به صورت خشکه چین برای دیوار های حصار ها استفاده کرد و با ابزار های گوناگون میتوان انرا به اشکال و اندازه های متفاوت تبدیل کرد و به دلیل داشتن نمای زیبا در بسیاری از بافتهای دیوار های سنگی، نازک کاری داخلی و خارجی ضرورت ندارد.</a:t>
            </a:r>
          </a:p>
        </p:txBody>
      </p:sp>
      <p:sp>
        <p:nvSpPr>
          <p:cNvPr id="144" name="Rectangle 143">
            <a:extLst>
              <a:ext uri="{FF2B5EF4-FFF2-40B4-BE49-F238E27FC236}">
                <a16:creationId xmlns:a16="http://schemas.microsoft.com/office/drawing/2014/main" id="{5F9E21E1-F6F5-473B-B134-CE2B91515138}"/>
              </a:ext>
            </a:extLst>
          </p:cNvPr>
          <p:cNvSpPr/>
          <p:nvPr/>
        </p:nvSpPr>
        <p:spPr>
          <a:xfrm>
            <a:off x="462295" y="768781"/>
            <a:ext cx="3741957" cy="2331266"/>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به علت اینکه اکثر سنگ های عایق های حرارتی خوبی نیستند،دیوار های سنگی را با ضخامت زیاد اجرا میکنند تا نقطه ضعف فوق جبران شده اما این کار باعث افزایش وزن ساختمان شده و به علت ارتباط مستقیم وزن ساختمان با شتاب حاصل از زلزله خطراتی ایجاد میکند. از اینرو ارتفاع ساختمانهای سنگی به یک طبقه،حداکثر ۵متر بالا تر از سطح زمین و یک طبقه زیر زمین محدود میشود.</a:t>
            </a:r>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9;p20">
            <a:hlinkClick r:id="" action="ppaction://noaction"/>
            <a:extLst>
              <a:ext uri="{FF2B5EF4-FFF2-40B4-BE49-F238E27FC236}">
                <a16:creationId xmlns:a16="http://schemas.microsoft.com/office/drawing/2014/main" id="{5D32EE39-B215-48D9-B493-82DB6B95A5EC}"/>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4;p20">
            <a:hlinkClick r:id="" action="ppaction://noaction"/>
            <a:extLst>
              <a:ext uri="{FF2B5EF4-FFF2-40B4-BE49-F238E27FC236}">
                <a16:creationId xmlns:a16="http://schemas.microsoft.com/office/drawing/2014/main" id="{50A71E65-DA16-474B-9929-ED41A01290B0}"/>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نکات</a:t>
            </a:r>
            <a:endParaRP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9;p20">
            <a:hlinkClick r:id="" action="ppaction://noaction"/>
            <a:extLst>
              <a:ext uri="{FF2B5EF4-FFF2-40B4-BE49-F238E27FC236}">
                <a16:creationId xmlns:a16="http://schemas.microsoft.com/office/drawing/2014/main" id="{4B85588F-9834-4DE5-8D96-CACE3CD51874}"/>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38100" dist="38100" dir="2700000" algn="tl">
                  <a:srgbClr val="000000">
                    <a:alpha val="43137"/>
                  </a:srgb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64463551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fade">
                                      <p:cBhvr>
                                        <p:cTn id="34" dur="1000"/>
                                        <p:tgtEl>
                                          <p:spTgt spid="143"/>
                                        </p:tgtEl>
                                      </p:cBhvr>
                                    </p:animEffect>
                                    <p:anim calcmode="lin" valueType="num">
                                      <p:cBhvr>
                                        <p:cTn id="35" dur="1000" fill="hold"/>
                                        <p:tgtEl>
                                          <p:spTgt spid="143"/>
                                        </p:tgtEl>
                                        <p:attrNameLst>
                                          <p:attrName>ppt_x</p:attrName>
                                        </p:attrNameLst>
                                      </p:cBhvr>
                                      <p:tavLst>
                                        <p:tav tm="0">
                                          <p:val>
                                            <p:strVal val="#ppt_x"/>
                                          </p:val>
                                        </p:tav>
                                        <p:tav tm="100000">
                                          <p:val>
                                            <p:strVal val="#ppt_x"/>
                                          </p:val>
                                        </p:tav>
                                      </p:tavLst>
                                    </p:anim>
                                    <p:anim calcmode="lin" valueType="num">
                                      <p:cBhvr>
                                        <p:cTn id="36" dur="1000" fill="hold"/>
                                        <p:tgtEl>
                                          <p:spTgt spid="143"/>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144"/>
                                        </p:tgtEl>
                                        <p:attrNameLst>
                                          <p:attrName>style.visibility</p:attrName>
                                        </p:attrNameLst>
                                      </p:cBhvr>
                                      <p:to>
                                        <p:strVal val="visible"/>
                                      </p:to>
                                    </p:set>
                                    <p:animEffect transition="in" filter="fade">
                                      <p:cBhvr>
                                        <p:cTn id="40" dur="1000"/>
                                        <p:tgtEl>
                                          <p:spTgt spid="144"/>
                                        </p:tgtEl>
                                      </p:cBhvr>
                                    </p:animEffect>
                                    <p:anim calcmode="lin" valueType="num">
                                      <p:cBhvr>
                                        <p:cTn id="41" dur="1000" fill="hold"/>
                                        <p:tgtEl>
                                          <p:spTgt spid="144"/>
                                        </p:tgtEl>
                                        <p:attrNameLst>
                                          <p:attrName>ppt_x</p:attrName>
                                        </p:attrNameLst>
                                      </p:cBhvr>
                                      <p:tavLst>
                                        <p:tav tm="0">
                                          <p:val>
                                            <p:strVal val="#ppt_x"/>
                                          </p:val>
                                        </p:tav>
                                        <p:tav tm="100000">
                                          <p:val>
                                            <p:strVal val="#ppt_x"/>
                                          </p:val>
                                        </p:tav>
                                      </p:tavLst>
                                    </p:anim>
                                    <p:anim calcmode="lin" valueType="num">
                                      <p:cBhvr>
                                        <p:cTn id="42" dur="1000" fill="hold"/>
                                        <p:tgtEl>
                                          <p:spTgt spid="1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43" grpId="0" animBg="1"/>
      <p:bldP spid="14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287784" y="230661"/>
            <a:ext cx="2540552"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4"/>
                </a:solidFill>
                <a:cs typeface="IRAN Sans" panose="020B0400000000000000" pitchFamily="34" charset="-78"/>
              </a:rPr>
              <a:t>اصول انتخاب سنگ‌های طبیعی</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11</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dirty="0">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2619B432-B167-4C1D-B5A7-84C69E07A2C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33800406-4196-46FF-824F-3ACAB7750780}"/>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309;p20">
            <a:hlinkClick r:id="" action="ppaction://noaction"/>
            <a:extLst>
              <a:ext uri="{FF2B5EF4-FFF2-40B4-BE49-F238E27FC236}">
                <a16:creationId xmlns:a16="http://schemas.microsoft.com/office/drawing/2014/main" id="{C6CDB16B-E8A0-3C82-6FF0-CDFDEB291DE6}"/>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5" name="Google Shape;324;p20">
            <a:hlinkClick r:id="" action="ppaction://noaction"/>
            <a:extLst>
              <a:ext uri="{FF2B5EF4-FFF2-40B4-BE49-F238E27FC236}">
                <a16:creationId xmlns:a16="http://schemas.microsoft.com/office/drawing/2014/main" id="{DDBE2CC6-C275-2068-F1A5-86232518B5C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7" name="Google Shape;406;p21">
            <a:extLst>
              <a:ext uri="{FF2B5EF4-FFF2-40B4-BE49-F238E27FC236}">
                <a16:creationId xmlns:a16="http://schemas.microsoft.com/office/drawing/2014/main" id="{B9CEA8B9-9ADB-F3BF-7AE7-84DA11231EA5}"/>
              </a:ext>
            </a:extLst>
          </p:cNvPr>
          <p:cNvSpPr/>
          <p:nvPr/>
        </p:nvSpPr>
        <p:spPr>
          <a:xfrm>
            <a:off x="4835211" y="831076"/>
            <a:ext cx="1867912" cy="456069"/>
          </a:xfrm>
          <a:prstGeom prst="round2SameRect">
            <a:avLst>
              <a:gd name="adj1" fmla="val 16667"/>
              <a:gd name="adj2" fmla="val 0"/>
            </a:avLst>
          </a:prstGeom>
          <a:solidFill>
            <a:schemeClr val="accent3"/>
          </a:solidFill>
          <a:ln>
            <a:noFill/>
          </a:ln>
        </p:spPr>
        <p:txBody>
          <a:bodyPr spcFirstLastPara="1" wrap="square" lIns="91425" tIns="91425" rIns="91425" bIns="91425" anchor="ctr" anchorCtr="0">
            <a:noAutofit/>
          </a:bodyPr>
          <a:lstStyle/>
          <a:p>
            <a:pPr lvl="0" algn="ctr">
              <a:buClr>
                <a:schemeClr val="dk1"/>
              </a:buClr>
              <a:buSzPts val="1100"/>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جذب آب و پاکیزگی:</a:t>
            </a:r>
            <a:endParaRPr lang="fa-IR" sz="2000" b="1" dirty="0"/>
          </a:p>
        </p:txBody>
      </p:sp>
      <p:sp>
        <p:nvSpPr>
          <p:cNvPr id="9" name="Google Shape;411;p21">
            <a:extLst>
              <a:ext uri="{FF2B5EF4-FFF2-40B4-BE49-F238E27FC236}">
                <a16:creationId xmlns:a16="http://schemas.microsoft.com/office/drawing/2014/main" id="{D55B257B-8900-80E4-37D0-0C50AEAF916D}"/>
              </a:ext>
            </a:extLst>
          </p:cNvPr>
          <p:cNvSpPr/>
          <p:nvPr/>
        </p:nvSpPr>
        <p:spPr>
          <a:xfrm>
            <a:off x="6857759" y="824332"/>
            <a:ext cx="1849749" cy="456069"/>
          </a:xfrm>
          <a:prstGeom prst="round2SameRect">
            <a:avLst>
              <a:gd name="adj1" fmla="val 16667"/>
              <a:gd name="adj2" fmla="val 0"/>
            </a:avLst>
          </a:prstGeom>
          <a:solidFill>
            <a:schemeClr val="accent6"/>
          </a:solidFill>
          <a:ln>
            <a:noFill/>
          </a:ln>
        </p:spPr>
        <p:txBody>
          <a:bodyPr spcFirstLastPara="1" wrap="square" lIns="91425" tIns="91425" rIns="91425" bIns="91425" anchor="ctr" anchorCtr="0">
            <a:noAutofit/>
          </a:bodyPr>
          <a:lstStyle/>
          <a:p>
            <a:pPr lvl="0" algn="ctr">
              <a:buClr>
                <a:schemeClr val="dk1"/>
              </a:buClr>
              <a:buSzPts val="1100"/>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بافت سنگ:</a:t>
            </a:r>
            <a:endParaRPr lang="fa-IR" sz="2000" b="1" dirty="0"/>
          </a:p>
        </p:txBody>
      </p:sp>
      <p:sp>
        <p:nvSpPr>
          <p:cNvPr id="11" name="Google Shape;416;p21">
            <a:extLst>
              <a:ext uri="{FF2B5EF4-FFF2-40B4-BE49-F238E27FC236}">
                <a16:creationId xmlns:a16="http://schemas.microsoft.com/office/drawing/2014/main" id="{DD400213-62F5-6B18-C782-E757737CA826}"/>
              </a:ext>
            </a:extLst>
          </p:cNvPr>
          <p:cNvSpPr/>
          <p:nvPr/>
        </p:nvSpPr>
        <p:spPr>
          <a:xfrm>
            <a:off x="640878" y="833082"/>
            <a:ext cx="1867913" cy="456069"/>
          </a:xfrm>
          <a:prstGeom prst="round2SameRect">
            <a:avLst>
              <a:gd name="adj1" fmla="val 16667"/>
              <a:gd name="adj2" fmla="val 0"/>
            </a:avLst>
          </a:prstGeom>
          <a:solidFill>
            <a:schemeClr val="accent1"/>
          </a:solidFill>
          <a:ln>
            <a:noFill/>
          </a:ln>
        </p:spPr>
        <p:txBody>
          <a:bodyPr spcFirstLastPara="1" wrap="square" lIns="91425" tIns="91425" rIns="91425" bIns="91425" anchor="ctr" anchorCtr="0">
            <a:noAutofit/>
          </a:bodyPr>
          <a:lstStyle/>
          <a:p>
            <a:pPr lvl="0" algn="ctr">
              <a:buClr>
                <a:schemeClr val="dk1"/>
              </a:buClr>
              <a:buSzPts val="1100"/>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مقاومت و دوام:</a:t>
            </a:r>
            <a:endParaRPr sz="1600" b="1" dirty="0"/>
          </a:p>
        </p:txBody>
      </p:sp>
      <p:sp>
        <p:nvSpPr>
          <p:cNvPr id="12" name="Google Shape;421;p21">
            <a:extLst>
              <a:ext uri="{FF2B5EF4-FFF2-40B4-BE49-F238E27FC236}">
                <a16:creationId xmlns:a16="http://schemas.microsoft.com/office/drawing/2014/main" id="{4B43454A-3CF6-8226-B94E-D52CAD14E6F8}"/>
              </a:ext>
            </a:extLst>
          </p:cNvPr>
          <p:cNvSpPr/>
          <p:nvPr/>
        </p:nvSpPr>
        <p:spPr>
          <a:xfrm>
            <a:off x="2766990" y="814208"/>
            <a:ext cx="1867913" cy="456069"/>
          </a:xfrm>
          <a:prstGeom prst="round2SameRect">
            <a:avLst>
              <a:gd name="adj1" fmla="val 16667"/>
              <a:gd name="adj2" fmla="val 0"/>
            </a:avLst>
          </a:prstGeom>
          <a:solidFill>
            <a:schemeClr val="accent2"/>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chemeClr val="lt1"/>
                </a:solidFill>
                <a:latin typeface="Fira Sans Extra Condensed Medium"/>
                <a:ea typeface="Fira Sans Extra Condensed Medium"/>
                <a:cs typeface="IRAN Sans" panose="020B0400000000000000" pitchFamily="34" charset="-78"/>
                <a:sym typeface="Fira Sans Extra Condensed Medium"/>
              </a:rPr>
              <a:t>پایداری در برابر عوامل جوی:</a:t>
            </a:r>
            <a:endParaRPr lang="fa-IR" sz="1600" b="1" dirty="0"/>
          </a:p>
        </p:txBody>
      </p:sp>
      <p:grpSp>
        <p:nvGrpSpPr>
          <p:cNvPr id="13" name="Group 12">
            <a:extLst>
              <a:ext uri="{FF2B5EF4-FFF2-40B4-BE49-F238E27FC236}">
                <a16:creationId xmlns:a16="http://schemas.microsoft.com/office/drawing/2014/main" id="{970BD890-8617-0D12-B239-ECF773163558}"/>
              </a:ext>
            </a:extLst>
          </p:cNvPr>
          <p:cNvGrpSpPr/>
          <p:nvPr/>
        </p:nvGrpSpPr>
        <p:grpSpPr>
          <a:xfrm>
            <a:off x="4835211" y="1349853"/>
            <a:ext cx="1867912" cy="2657634"/>
            <a:chOff x="4666473" y="1340546"/>
            <a:chExt cx="1867912" cy="2418675"/>
          </a:xfrm>
        </p:grpSpPr>
        <p:sp>
          <p:nvSpPr>
            <p:cNvPr id="14" name="Google Shape;403;p21">
              <a:extLst>
                <a:ext uri="{FF2B5EF4-FFF2-40B4-BE49-F238E27FC236}">
                  <a16:creationId xmlns:a16="http://schemas.microsoft.com/office/drawing/2014/main" id="{96185075-CA52-E9BB-8DAB-C7A43132B504}"/>
                </a:ext>
              </a:extLst>
            </p:cNvPr>
            <p:cNvSpPr/>
            <p:nvPr/>
          </p:nvSpPr>
          <p:spPr>
            <a:xfrm rot="10800000" flipH="1">
              <a:off x="4666473" y="1340546"/>
              <a:ext cx="1867912" cy="2418675"/>
            </a:xfrm>
            <a:prstGeom prst="round2SameRect">
              <a:avLst>
                <a:gd name="adj1" fmla="val 5396"/>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5" name="Google Shape;405;p21">
              <a:extLst>
                <a:ext uri="{FF2B5EF4-FFF2-40B4-BE49-F238E27FC236}">
                  <a16:creationId xmlns:a16="http://schemas.microsoft.com/office/drawing/2014/main" id="{3852BADC-DB17-591B-705B-C76121155E79}"/>
                </a:ext>
              </a:extLst>
            </p:cNvPr>
            <p:cNvSpPr txBox="1"/>
            <p:nvPr/>
          </p:nvSpPr>
          <p:spPr>
            <a:xfrm>
              <a:off x="4749763" y="1544001"/>
              <a:ext cx="1701329" cy="2168399"/>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200" dirty="0">
                  <a:solidFill>
                    <a:schemeClr val="tx1">
                      <a:lumMod val="95000"/>
                      <a:lumOff val="5000"/>
                    </a:schemeClr>
                  </a:solidFill>
                  <a:cs typeface="IRAN Sans" panose="020B0400000000000000" pitchFamily="34" charset="-78"/>
                </a:rPr>
                <a:t>سنگ طبیعی ساختمانی نباید اب زیاد جذب کند یعنی :</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نباید در اب وا رود یا حل شود</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تمام یا یک قسمت از ان نباید بیشتر از  ۸ درصد وزن خود اب بمکد.</a:t>
              </a:r>
            </a:p>
            <a:p>
              <a:pPr algn="ctr" rtl="1">
                <a:lnSpc>
                  <a:spcPct val="150000"/>
                </a:lnSpc>
              </a:pPr>
              <a:r>
                <a:rPr lang="fa-IR" sz="1200" dirty="0">
                  <a:solidFill>
                    <a:schemeClr val="tx1">
                      <a:lumMod val="95000"/>
                      <a:lumOff val="5000"/>
                    </a:schemeClr>
                  </a:solidFill>
                  <a:cs typeface="IRAN Sans" panose="020B0400000000000000" pitchFamily="34" charset="-78"/>
                </a:rPr>
                <a:t>سنگ طبیعی ساختمانی نباید الودگی داشته باشد.</a:t>
              </a:r>
            </a:p>
          </p:txBody>
        </p:sp>
      </p:grpSp>
      <p:grpSp>
        <p:nvGrpSpPr>
          <p:cNvPr id="16" name="Group 15">
            <a:extLst>
              <a:ext uri="{FF2B5EF4-FFF2-40B4-BE49-F238E27FC236}">
                <a16:creationId xmlns:a16="http://schemas.microsoft.com/office/drawing/2014/main" id="{5D853A7F-C62D-38A7-FF26-496C49F29F8D}"/>
              </a:ext>
            </a:extLst>
          </p:cNvPr>
          <p:cNvGrpSpPr/>
          <p:nvPr/>
        </p:nvGrpSpPr>
        <p:grpSpPr>
          <a:xfrm>
            <a:off x="6866549" y="1350637"/>
            <a:ext cx="1832170" cy="2680626"/>
            <a:chOff x="6944868" y="1358619"/>
            <a:chExt cx="1690432" cy="2361119"/>
          </a:xfrm>
        </p:grpSpPr>
        <p:sp>
          <p:nvSpPr>
            <p:cNvPr id="17" name="Google Shape;408;p21">
              <a:extLst>
                <a:ext uri="{FF2B5EF4-FFF2-40B4-BE49-F238E27FC236}">
                  <a16:creationId xmlns:a16="http://schemas.microsoft.com/office/drawing/2014/main" id="{7FCAB2B5-E741-E77A-3AF2-2A22D675DC5B}"/>
                </a:ext>
              </a:extLst>
            </p:cNvPr>
            <p:cNvSpPr/>
            <p:nvPr/>
          </p:nvSpPr>
          <p:spPr>
            <a:xfrm rot="10800000" flipH="1">
              <a:off x="6944868" y="1358619"/>
              <a:ext cx="1690432" cy="2361119"/>
            </a:xfrm>
            <a:prstGeom prst="round2SameRect">
              <a:avLst>
                <a:gd name="adj1" fmla="val 5556"/>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18" name="Google Shape;410;p21">
              <a:extLst>
                <a:ext uri="{FF2B5EF4-FFF2-40B4-BE49-F238E27FC236}">
                  <a16:creationId xmlns:a16="http://schemas.microsoft.com/office/drawing/2014/main" id="{1F1966A6-691D-7F5E-2DC5-57CB5D5A6D98}"/>
                </a:ext>
              </a:extLst>
            </p:cNvPr>
            <p:cNvSpPr txBox="1"/>
            <p:nvPr/>
          </p:nvSpPr>
          <p:spPr>
            <a:xfrm>
              <a:off x="6944868" y="1669342"/>
              <a:ext cx="1671932" cy="1984139"/>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200" dirty="0">
                  <a:solidFill>
                    <a:schemeClr val="tx1">
                      <a:lumMod val="95000"/>
                      <a:lumOff val="5000"/>
                    </a:schemeClr>
                  </a:solidFill>
                  <a:cs typeface="IRAN Sans" panose="020B0400000000000000" pitchFamily="34" charset="-78"/>
                </a:rPr>
                <a:t>بافت سنگی طبیعی ساختمانی باید سالم باشد یعنی :</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بدون شیار ترک و رگه های سست باشد(کرمو نباشد).</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بدون هرگونه خلل و خرج باشد.</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پوسیدگی نداشته باشد.</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یکدست(یکنواخت و همگن) باشد.</a:t>
              </a:r>
            </a:p>
          </p:txBody>
        </p:sp>
      </p:grpSp>
      <p:grpSp>
        <p:nvGrpSpPr>
          <p:cNvPr id="19" name="Group 18">
            <a:extLst>
              <a:ext uri="{FF2B5EF4-FFF2-40B4-BE49-F238E27FC236}">
                <a16:creationId xmlns:a16="http://schemas.microsoft.com/office/drawing/2014/main" id="{6F2AE79B-476C-7948-8054-3E87523C0727}"/>
              </a:ext>
            </a:extLst>
          </p:cNvPr>
          <p:cNvGrpSpPr/>
          <p:nvPr/>
        </p:nvGrpSpPr>
        <p:grpSpPr>
          <a:xfrm>
            <a:off x="633639" y="1349852"/>
            <a:ext cx="1867913" cy="2648405"/>
            <a:chOff x="546167" y="1340547"/>
            <a:chExt cx="1867913" cy="2648405"/>
          </a:xfrm>
        </p:grpSpPr>
        <p:sp>
          <p:nvSpPr>
            <p:cNvPr id="20" name="Google Shape;413;p21">
              <a:extLst>
                <a:ext uri="{FF2B5EF4-FFF2-40B4-BE49-F238E27FC236}">
                  <a16:creationId xmlns:a16="http://schemas.microsoft.com/office/drawing/2014/main" id="{184EB7D1-33EF-9BCE-C3B5-483525618882}"/>
                </a:ext>
              </a:extLst>
            </p:cNvPr>
            <p:cNvSpPr/>
            <p:nvPr/>
          </p:nvSpPr>
          <p:spPr>
            <a:xfrm rot="10800000" flipH="1">
              <a:off x="546167" y="1340547"/>
              <a:ext cx="1867913" cy="2648405"/>
            </a:xfrm>
            <a:prstGeom prst="round2SameRect">
              <a:avLst>
                <a:gd name="adj1" fmla="val 5874"/>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1" name="Google Shape;415;p21">
              <a:extLst>
                <a:ext uri="{FF2B5EF4-FFF2-40B4-BE49-F238E27FC236}">
                  <a16:creationId xmlns:a16="http://schemas.microsoft.com/office/drawing/2014/main" id="{10990938-B8DE-E79F-E93C-CAE6E16D10A9}"/>
                </a:ext>
              </a:extLst>
            </p:cNvPr>
            <p:cNvSpPr txBox="1"/>
            <p:nvPr/>
          </p:nvSpPr>
          <p:spPr>
            <a:xfrm>
              <a:off x="597236" y="2229588"/>
              <a:ext cx="1701330" cy="1192884"/>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200" dirty="0">
                  <a:solidFill>
                    <a:schemeClr val="tx1">
                      <a:lumMod val="95000"/>
                      <a:lumOff val="5000"/>
                    </a:schemeClr>
                  </a:solidFill>
                  <a:cs typeface="IRAN Sans" panose="020B0400000000000000" pitchFamily="34" charset="-78"/>
                </a:rPr>
                <a:t>سنگ طبیعی ساختمانی باید دارای مقاوت فشاری و دوام کافی متناسب با مورد مصرف خود باشد.مصرف کردن سنگهای کرمو که با ملات ماسه سیمان لکه گیری و ترمیم شده مجاز نیست.</a:t>
              </a:r>
            </a:p>
          </p:txBody>
        </p:sp>
      </p:grpSp>
      <p:grpSp>
        <p:nvGrpSpPr>
          <p:cNvPr id="22" name="Group 21">
            <a:extLst>
              <a:ext uri="{FF2B5EF4-FFF2-40B4-BE49-F238E27FC236}">
                <a16:creationId xmlns:a16="http://schemas.microsoft.com/office/drawing/2014/main" id="{2D17026B-1910-23A2-3F0C-B85844DCFE7A}"/>
              </a:ext>
            </a:extLst>
          </p:cNvPr>
          <p:cNvGrpSpPr/>
          <p:nvPr/>
        </p:nvGrpSpPr>
        <p:grpSpPr>
          <a:xfrm>
            <a:off x="2766991" y="1340367"/>
            <a:ext cx="1867913" cy="2671552"/>
            <a:chOff x="410033" y="-809577"/>
            <a:chExt cx="1867913" cy="2505308"/>
          </a:xfrm>
        </p:grpSpPr>
        <p:sp>
          <p:nvSpPr>
            <p:cNvPr id="23" name="Google Shape;418;p21">
              <a:extLst>
                <a:ext uri="{FF2B5EF4-FFF2-40B4-BE49-F238E27FC236}">
                  <a16:creationId xmlns:a16="http://schemas.microsoft.com/office/drawing/2014/main" id="{85755AC4-127D-409A-DFAC-668BFDB5B646}"/>
                </a:ext>
              </a:extLst>
            </p:cNvPr>
            <p:cNvSpPr/>
            <p:nvPr/>
          </p:nvSpPr>
          <p:spPr>
            <a:xfrm rot="10800000" flipH="1">
              <a:off x="410033" y="-809577"/>
              <a:ext cx="1867913" cy="2505308"/>
            </a:xfrm>
            <a:prstGeom prst="round2SameRect">
              <a:avLst>
                <a:gd name="adj1" fmla="val 6301"/>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24" name="Google Shape;420;p21">
              <a:extLst>
                <a:ext uri="{FF2B5EF4-FFF2-40B4-BE49-F238E27FC236}">
                  <a16:creationId xmlns:a16="http://schemas.microsoft.com/office/drawing/2014/main" id="{E7127EBC-B4E1-9D9E-9B15-744D537D2163}"/>
                </a:ext>
              </a:extLst>
            </p:cNvPr>
            <p:cNvSpPr txBox="1"/>
            <p:nvPr/>
          </p:nvSpPr>
          <p:spPr>
            <a:xfrm>
              <a:off x="493324" y="773039"/>
              <a:ext cx="1701330" cy="603814"/>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200" dirty="0">
                  <a:solidFill>
                    <a:schemeClr val="tx1">
                      <a:lumMod val="95000"/>
                      <a:lumOff val="5000"/>
                    </a:schemeClr>
                  </a:solidFill>
                  <a:cs typeface="IRAN Sans" panose="020B0400000000000000" pitchFamily="34" charset="-78"/>
                </a:rPr>
                <a:t>سنگ طبیعی ساختمانی باید در برابر عوامل جوی مقاومت کند یعنی :</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در برابر یخ زدگی،پایدار باشد(پوسته پوسته نشده و یا نترکد)</a:t>
              </a:r>
            </a:p>
            <a:p>
              <a:pPr marL="171450" indent="-171450" algn="ctr" rtl="1">
                <a:lnSpc>
                  <a:spcPct val="150000"/>
                </a:lnSpc>
                <a:buFont typeface="Arial" panose="020B0604020202020204" pitchFamily="34" charset="0"/>
                <a:buChar char="•"/>
              </a:pPr>
              <a:r>
                <a:rPr lang="fa-IR" sz="1200" dirty="0">
                  <a:solidFill>
                    <a:schemeClr val="tx1">
                      <a:lumMod val="95000"/>
                      <a:lumOff val="5000"/>
                    </a:schemeClr>
                  </a:solidFill>
                  <a:cs typeface="IRAN Sans" panose="020B0400000000000000" pitchFamily="34" charset="-78"/>
                </a:rPr>
                <a:t>در برابر فرسایش،بسته به مورد،مقاوم و پایدار باشد.</a:t>
              </a:r>
            </a:p>
          </p:txBody>
        </p:sp>
      </p:grpSp>
      <p:sp>
        <p:nvSpPr>
          <p:cNvPr id="25" name="Google Shape;398;p21">
            <a:extLst>
              <a:ext uri="{FF2B5EF4-FFF2-40B4-BE49-F238E27FC236}">
                <a16:creationId xmlns:a16="http://schemas.microsoft.com/office/drawing/2014/main" id="{B1663E1C-460B-77B4-3590-2183D6825104}"/>
              </a:ext>
            </a:extLst>
          </p:cNvPr>
          <p:cNvSpPr/>
          <p:nvPr/>
        </p:nvSpPr>
        <p:spPr>
          <a:xfrm>
            <a:off x="6510217" y="1520572"/>
            <a:ext cx="93298" cy="63892"/>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398;p21">
            <a:extLst>
              <a:ext uri="{FF2B5EF4-FFF2-40B4-BE49-F238E27FC236}">
                <a16:creationId xmlns:a16="http://schemas.microsoft.com/office/drawing/2014/main" id="{E8F04631-7A12-48C6-4311-E0B98D951CE7}"/>
              </a:ext>
            </a:extLst>
          </p:cNvPr>
          <p:cNvSpPr/>
          <p:nvPr/>
        </p:nvSpPr>
        <p:spPr>
          <a:xfrm>
            <a:off x="6514518" y="3431777"/>
            <a:ext cx="93298" cy="63892"/>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398;p21">
            <a:extLst>
              <a:ext uri="{FF2B5EF4-FFF2-40B4-BE49-F238E27FC236}">
                <a16:creationId xmlns:a16="http://schemas.microsoft.com/office/drawing/2014/main" id="{6E527CC7-2708-DB90-1F17-1131B10E1AA7}"/>
              </a:ext>
            </a:extLst>
          </p:cNvPr>
          <p:cNvSpPr/>
          <p:nvPr/>
        </p:nvSpPr>
        <p:spPr>
          <a:xfrm>
            <a:off x="4482713" y="1519115"/>
            <a:ext cx="93298" cy="63892"/>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398;p21">
            <a:extLst>
              <a:ext uri="{FF2B5EF4-FFF2-40B4-BE49-F238E27FC236}">
                <a16:creationId xmlns:a16="http://schemas.microsoft.com/office/drawing/2014/main" id="{F49CC27B-B484-8A0C-2CEC-FAAFC74A178C}"/>
              </a:ext>
            </a:extLst>
          </p:cNvPr>
          <p:cNvSpPr/>
          <p:nvPr/>
        </p:nvSpPr>
        <p:spPr>
          <a:xfrm>
            <a:off x="8597127" y="1519115"/>
            <a:ext cx="93298" cy="63892"/>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398;p21">
            <a:extLst>
              <a:ext uri="{FF2B5EF4-FFF2-40B4-BE49-F238E27FC236}">
                <a16:creationId xmlns:a16="http://schemas.microsoft.com/office/drawing/2014/main" id="{414C5DB0-CC0E-C32F-48C0-021D8DB8E218}"/>
              </a:ext>
            </a:extLst>
          </p:cNvPr>
          <p:cNvSpPr/>
          <p:nvPr/>
        </p:nvSpPr>
        <p:spPr>
          <a:xfrm>
            <a:off x="2277081" y="1551061"/>
            <a:ext cx="93298" cy="63892"/>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99836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1000"/>
                                        <p:tgtEl>
                                          <p:spTgt spid="19"/>
                                        </p:tgtEl>
                                      </p:cBhvr>
                                    </p:animEffect>
                                    <p:anim calcmode="lin" valueType="num">
                                      <p:cBhvr>
                                        <p:cTn id="35" dur="1000" fill="hold"/>
                                        <p:tgtEl>
                                          <p:spTgt spid="19"/>
                                        </p:tgtEl>
                                        <p:attrNameLst>
                                          <p:attrName>ppt_x</p:attrName>
                                        </p:attrNameLst>
                                      </p:cBhvr>
                                      <p:tavLst>
                                        <p:tav tm="0">
                                          <p:val>
                                            <p:strVal val="#ppt_x"/>
                                          </p:val>
                                        </p:tav>
                                        <p:tav tm="100000">
                                          <p:val>
                                            <p:strVal val="#ppt_x"/>
                                          </p:val>
                                        </p:tav>
                                      </p:tavLst>
                                    </p:anim>
                                    <p:anim calcmode="lin" valueType="num">
                                      <p:cBhvr>
                                        <p:cTn id="36" dur="1000" fill="hold"/>
                                        <p:tgtEl>
                                          <p:spTgt spid="19"/>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1000" fill="hold"/>
                                        <p:tgtEl>
                                          <p:spTgt spid="11"/>
                                        </p:tgtEl>
                                        <p:attrNameLst>
                                          <p:attrName>ppt_y</p:attrName>
                                        </p:attrNameLst>
                                      </p:cBhvr>
                                      <p:tavLst>
                                        <p:tav tm="0">
                                          <p:val>
                                            <p:strVal val="#ppt_y+.1"/>
                                          </p:val>
                                        </p:tav>
                                        <p:tav tm="100000">
                                          <p:val>
                                            <p:strVal val="#ppt_y"/>
                                          </p:val>
                                        </p:tav>
                                      </p:tavLst>
                                    </p:anim>
                                  </p:childTnLst>
                                </p:cTn>
                              </p:par>
                            </p:childTnLst>
                          </p:cTn>
                        </p:par>
                        <p:par>
                          <p:cTn id="43" fill="hold">
                            <p:stCondLst>
                              <p:cond delay="4050"/>
                            </p:stCondLst>
                            <p:childTnLst>
                              <p:par>
                                <p:cTn id="44" presetID="42" presetClass="entr" presetSubtype="0"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1000"/>
                                        <p:tgtEl>
                                          <p:spTgt spid="22"/>
                                        </p:tgtEl>
                                      </p:cBhvr>
                                    </p:animEffect>
                                    <p:anim calcmode="lin" valueType="num">
                                      <p:cBhvr>
                                        <p:cTn id="47" dur="1000" fill="hold"/>
                                        <p:tgtEl>
                                          <p:spTgt spid="22"/>
                                        </p:tgtEl>
                                        <p:attrNameLst>
                                          <p:attrName>ppt_x</p:attrName>
                                        </p:attrNameLst>
                                      </p:cBhvr>
                                      <p:tavLst>
                                        <p:tav tm="0">
                                          <p:val>
                                            <p:strVal val="#ppt_x"/>
                                          </p:val>
                                        </p:tav>
                                        <p:tav tm="100000">
                                          <p:val>
                                            <p:strVal val="#ppt_x"/>
                                          </p:val>
                                        </p:tav>
                                      </p:tavLst>
                                    </p:anim>
                                    <p:anim calcmode="lin" valueType="num">
                                      <p:cBhvr>
                                        <p:cTn id="48" dur="1000" fill="hold"/>
                                        <p:tgtEl>
                                          <p:spTgt spid="22"/>
                                        </p:tgtEl>
                                        <p:attrNameLst>
                                          <p:attrName>ppt_y</p:attrName>
                                        </p:attrNameLst>
                                      </p:cBhvr>
                                      <p:tavLst>
                                        <p:tav tm="0">
                                          <p:val>
                                            <p:strVal val="#ppt_y+.1"/>
                                          </p:val>
                                        </p:tav>
                                        <p:tav tm="100000">
                                          <p:val>
                                            <p:strVal val="#ppt_y"/>
                                          </p:val>
                                        </p:tav>
                                      </p:tavLst>
                                    </p:anim>
                                  </p:childTnLst>
                                </p:cTn>
                              </p:par>
                            </p:childTnLst>
                          </p:cTn>
                        </p:par>
                        <p:par>
                          <p:cTn id="49" fill="hold">
                            <p:stCondLst>
                              <p:cond delay="5050"/>
                            </p:stCondLst>
                            <p:childTnLst>
                              <p:par>
                                <p:cTn id="50" presetID="42" presetClass="entr" presetSubtype="0" fill="hold" grpId="0"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childTnLst>
                          </p:cTn>
                        </p:par>
                        <p:par>
                          <p:cTn id="55" fill="hold">
                            <p:stCondLst>
                              <p:cond delay="6050"/>
                            </p:stCondLst>
                            <p:childTnLst>
                              <p:par>
                                <p:cTn id="56" presetID="42" presetClass="entr" presetSubtype="0" fill="hold" nodeType="after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childTnLst>
                          </p:cTn>
                        </p:par>
                        <p:par>
                          <p:cTn id="61" fill="hold">
                            <p:stCondLst>
                              <p:cond delay="7050"/>
                            </p:stCondLst>
                            <p:childTnLst>
                              <p:par>
                                <p:cTn id="62" presetID="42" presetClass="entr" presetSubtype="0" fill="hold" grpId="0" nodeType="after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fade">
                                      <p:cBhvr>
                                        <p:cTn id="64" dur="1000"/>
                                        <p:tgtEl>
                                          <p:spTgt spid="7"/>
                                        </p:tgtEl>
                                      </p:cBhvr>
                                    </p:animEffect>
                                    <p:anim calcmode="lin" valueType="num">
                                      <p:cBhvr>
                                        <p:cTn id="65" dur="1000" fill="hold"/>
                                        <p:tgtEl>
                                          <p:spTgt spid="7"/>
                                        </p:tgtEl>
                                        <p:attrNameLst>
                                          <p:attrName>ppt_x</p:attrName>
                                        </p:attrNameLst>
                                      </p:cBhvr>
                                      <p:tavLst>
                                        <p:tav tm="0">
                                          <p:val>
                                            <p:strVal val="#ppt_x"/>
                                          </p:val>
                                        </p:tav>
                                        <p:tav tm="100000">
                                          <p:val>
                                            <p:strVal val="#ppt_x"/>
                                          </p:val>
                                        </p:tav>
                                      </p:tavLst>
                                    </p:anim>
                                    <p:anim calcmode="lin" valueType="num">
                                      <p:cBhvr>
                                        <p:cTn id="66" dur="1000" fill="hold"/>
                                        <p:tgtEl>
                                          <p:spTgt spid="7"/>
                                        </p:tgtEl>
                                        <p:attrNameLst>
                                          <p:attrName>ppt_y</p:attrName>
                                        </p:attrNameLst>
                                      </p:cBhvr>
                                      <p:tavLst>
                                        <p:tav tm="0">
                                          <p:val>
                                            <p:strVal val="#ppt_y+.1"/>
                                          </p:val>
                                        </p:tav>
                                        <p:tav tm="100000">
                                          <p:val>
                                            <p:strVal val="#ppt_y"/>
                                          </p:val>
                                        </p:tav>
                                      </p:tavLst>
                                    </p:anim>
                                  </p:childTnLst>
                                </p:cTn>
                              </p:par>
                            </p:childTnLst>
                          </p:cTn>
                        </p:par>
                        <p:par>
                          <p:cTn id="67" fill="hold">
                            <p:stCondLst>
                              <p:cond delay="8050"/>
                            </p:stCondLst>
                            <p:childTnLst>
                              <p:par>
                                <p:cTn id="68" presetID="42" presetClass="entr" presetSubtype="0" fill="hold" nodeType="after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1000"/>
                                        <p:tgtEl>
                                          <p:spTgt spid="16"/>
                                        </p:tgtEl>
                                      </p:cBhvr>
                                    </p:animEffect>
                                    <p:anim calcmode="lin" valueType="num">
                                      <p:cBhvr>
                                        <p:cTn id="71" dur="1000" fill="hold"/>
                                        <p:tgtEl>
                                          <p:spTgt spid="16"/>
                                        </p:tgtEl>
                                        <p:attrNameLst>
                                          <p:attrName>ppt_x</p:attrName>
                                        </p:attrNameLst>
                                      </p:cBhvr>
                                      <p:tavLst>
                                        <p:tav tm="0">
                                          <p:val>
                                            <p:strVal val="#ppt_x"/>
                                          </p:val>
                                        </p:tav>
                                        <p:tav tm="100000">
                                          <p:val>
                                            <p:strVal val="#ppt_x"/>
                                          </p:val>
                                        </p:tav>
                                      </p:tavLst>
                                    </p:anim>
                                    <p:anim calcmode="lin" valueType="num">
                                      <p:cBhvr>
                                        <p:cTn id="72" dur="1000" fill="hold"/>
                                        <p:tgtEl>
                                          <p:spTgt spid="16"/>
                                        </p:tgtEl>
                                        <p:attrNameLst>
                                          <p:attrName>ppt_y</p:attrName>
                                        </p:attrNameLst>
                                      </p:cBhvr>
                                      <p:tavLst>
                                        <p:tav tm="0">
                                          <p:val>
                                            <p:strVal val="#ppt_y+.1"/>
                                          </p:val>
                                        </p:tav>
                                        <p:tav tm="100000">
                                          <p:val>
                                            <p:strVal val="#ppt_y"/>
                                          </p:val>
                                        </p:tav>
                                      </p:tavLst>
                                    </p:anim>
                                  </p:childTnLst>
                                </p:cTn>
                              </p:par>
                            </p:childTnLst>
                          </p:cTn>
                        </p:par>
                        <p:par>
                          <p:cTn id="73" fill="hold">
                            <p:stCondLst>
                              <p:cond delay="9050"/>
                            </p:stCondLst>
                            <p:childTnLst>
                              <p:par>
                                <p:cTn id="74" presetID="42" presetClass="entr" presetSubtype="0" fill="hold" grpId="0" nodeType="afterEffect">
                                  <p:stCondLst>
                                    <p:cond delay="0"/>
                                  </p:stCondLst>
                                  <p:childTnLst>
                                    <p:set>
                                      <p:cBhvr>
                                        <p:cTn id="75" dur="1" fill="hold">
                                          <p:stCondLst>
                                            <p:cond delay="0"/>
                                          </p:stCondLst>
                                        </p:cTn>
                                        <p:tgtEl>
                                          <p:spTgt spid="9"/>
                                        </p:tgtEl>
                                        <p:attrNameLst>
                                          <p:attrName>style.visibility</p:attrName>
                                        </p:attrNameLst>
                                      </p:cBhvr>
                                      <p:to>
                                        <p:strVal val="visible"/>
                                      </p:to>
                                    </p:set>
                                    <p:animEffect transition="in" filter="fade">
                                      <p:cBhvr>
                                        <p:cTn id="76" dur="1000"/>
                                        <p:tgtEl>
                                          <p:spTgt spid="9"/>
                                        </p:tgtEl>
                                      </p:cBhvr>
                                    </p:animEffect>
                                    <p:anim calcmode="lin" valueType="num">
                                      <p:cBhvr>
                                        <p:cTn id="77" dur="1000" fill="hold"/>
                                        <p:tgtEl>
                                          <p:spTgt spid="9"/>
                                        </p:tgtEl>
                                        <p:attrNameLst>
                                          <p:attrName>ppt_x</p:attrName>
                                        </p:attrNameLst>
                                      </p:cBhvr>
                                      <p:tavLst>
                                        <p:tav tm="0">
                                          <p:val>
                                            <p:strVal val="#ppt_x"/>
                                          </p:val>
                                        </p:tav>
                                        <p:tav tm="100000">
                                          <p:val>
                                            <p:strVal val="#ppt_x"/>
                                          </p:val>
                                        </p:tav>
                                      </p:tavLst>
                                    </p:anim>
                                    <p:anim calcmode="lin" valueType="num">
                                      <p:cBhvr>
                                        <p:cTn id="78" dur="1000" fill="hold"/>
                                        <p:tgtEl>
                                          <p:spTgt spid="9"/>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fade">
                                      <p:cBhvr>
                                        <p:cTn id="81" dur="1000"/>
                                        <p:tgtEl>
                                          <p:spTgt spid="28"/>
                                        </p:tgtEl>
                                      </p:cBhvr>
                                    </p:animEffect>
                                    <p:anim calcmode="lin" valueType="num">
                                      <p:cBhvr>
                                        <p:cTn id="82" dur="1000" fill="hold"/>
                                        <p:tgtEl>
                                          <p:spTgt spid="28"/>
                                        </p:tgtEl>
                                        <p:attrNameLst>
                                          <p:attrName>ppt_x</p:attrName>
                                        </p:attrNameLst>
                                      </p:cBhvr>
                                      <p:tavLst>
                                        <p:tav tm="0">
                                          <p:val>
                                            <p:strVal val="#ppt_x"/>
                                          </p:val>
                                        </p:tav>
                                        <p:tav tm="100000">
                                          <p:val>
                                            <p:strVal val="#ppt_x"/>
                                          </p:val>
                                        </p:tav>
                                      </p:tavLst>
                                    </p:anim>
                                    <p:anim calcmode="lin" valueType="num">
                                      <p:cBhvr>
                                        <p:cTn id="83" dur="1000" fill="hold"/>
                                        <p:tgtEl>
                                          <p:spTgt spid="28"/>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1000"/>
                                        <p:tgtEl>
                                          <p:spTgt spid="25"/>
                                        </p:tgtEl>
                                      </p:cBhvr>
                                    </p:animEffect>
                                    <p:anim calcmode="lin" valueType="num">
                                      <p:cBhvr>
                                        <p:cTn id="87" dur="1000" fill="hold"/>
                                        <p:tgtEl>
                                          <p:spTgt spid="25"/>
                                        </p:tgtEl>
                                        <p:attrNameLst>
                                          <p:attrName>ppt_x</p:attrName>
                                        </p:attrNameLst>
                                      </p:cBhvr>
                                      <p:tavLst>
                                        <p:tav tm="0">
                                          <p:val>
                                            <p:strVal val="#ppt_x"/>
                                          </p:val>
                                        </p:tav>
                                        <p:tav tm="100000">
                                          <p:val>
                                            <p:strVal val="#ppt_x"/>
                                          </p:val>
                                        </p:tav>
                                      </p:tavLst>
                                    </p:anim>
                                    <p:anim calcmode="lin" valueType="num">
                                      <p:cBhvr>
                                        <p:cTn id="88" dur="1000" fill="hold"/>
                                        <p:tgtEl>
                                          <p:spTgt spid="25"/>
                                        </p:tgtEl>
                                        <p:attrNameLst>
                                          <p:attrName>ppt_y</p:attrName>
                                        </p:attrNameLst>
                                      </p:cBhvr>
                                      <p:tavLst>
                                        <p:tav tm="0">
                                          <p:val>
                                            <p:strVal val="#ppt_y+.1"/>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26"/>
                                        </p:tgtEl>
                                        <p:attrNameLst>
                                          <p:attrName>style.visibility</p:attrName>
                                        </p:attrNameLst>
                                      </p:cBhvr>
                                      <p:to>
                                        <p:strVal val="visible"/>
                                      </p:to>
                                    </p:set>
                                    <p:animEffect transition="in" filter="fade">
                                      <p:cBhvr>
                                        <p:cTn id="91" dur="1000"/>
                                        <p:tgtEl>
                                          <p:spTgt spid="26"/>
                                        </p:tgtEl>
                                      </p:cBhvr>
                                    </p:animEffect>
                                    <p:anim calcmode="lin" valueType="num">
                                      <p:cBhvr>
                                        <p:cTn id="92" dur="1000" fill="hold"/>
                                        <p:tgtEl>
                                          <p:spTgt spid="26"/>
                                        </p:tgtEl>
                                        <p:attrNameLst>
                                          <p:attrName>ppt_x</p:attrName>
                                        </p:attrNameLst>
                                      </p:cBhvr>
                                      <p:tavLst>
                                        <p:tav tm="0">
                                          <p:val>
                                            <p:strVal val="#ppt_x"/>
                                          </p:val>
                                        </p:tav>
                                        <p:tav tm="100000">
                                          <p:val>
                                            <p:strVal val="#ppt_x"/>
                                          </p:val>
                                        </p:tav>
                                      </p:tavLst>
                                    </p:anim>
                                    <p:anim calcmode="lin" valueType="num">
                                      <p:cBhvr>
                                        <p:cTn id="93" dur="1000" fill="hold"/>
                                        <p:tgtEl>
                                          <p:spTgt spid="26"/>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27"/>
                                        </p:tgtEl>
                                        <p:attrNameLst>
                                          <p:attrName>style.visibility</p:attrName>
                                        </p:attrNameLst>
                                      </p:cBhvr>
                                      <p:to>
                                        <p:strVal val="visible"/>
                                      </p:to>
                                    </p:set>
                                    <p:animEffect transition="in" filter="fade">
                                      <p:cBhvr>
                                        <p:cTn id="96" dur="1000"/>
                                        <p:tgtEl>
                                          <p:spTgt spid="27"/>
                                        </p:tgtEl>
                                      </p:cBhvr>
                                    </p:animEffect>
                                    <p:anim calcmode="lin" valueType="num">
                                      <p:cBhvr>
                                        <p:cTn id="97" dur="1000" fill="hold"/>
                                        <p:tgtEl>
                                          <p:spTgt spid="27"/>
                                        </p:tgtEl>
                                        <p:attrNameLst>
                                          <p:attrName>ppt_x</p:attrName>
                                        </p:attrNameLst>
                                      </p:cBhvr>
                                      <p:tavLst>
                                        <p:tav tm="0">
                                          <p:val>
                                            <p:strVal val="#ppt_x"/>
                                          </p:val>
                                        </p:tav>
                                        <p:tav tm="100000">
                                          <p:val>
                                            <p:strVal val="#ppt_x"/>
                                          </p:val>
                                        </p:tav>
                                      </p:tavLst>
                                    </p:anim>
                                    <p:anim calcmode="lin" valueType="num">
                                      <p:cBhvr>
                                        <p:cTn id="98" dur="1000" fill="hold"/>
                                        <p:tgtEl>
                                          <p:spTgt spid="27"/>
                                        </p:tgtEl>
                                        <p:attrNameLst>
                                          <p:attrName>ppt_y</p:attrName>
                                        </p:attrNameLst>
                                      </p:cBhvr>
                                      <p:tavLst>
                                        <p:tav tm="0">
                                          <p:val>
                                            <p:strVal val="#ppt_y+.1"/>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29"/>
                                        </p:tgtEl>
                                        <p:attrNameLst>
                                          <p:attrName>style.visibility</p:attrName>
                                        </p:attrNameLst>
                                      </p:cBhvr>
                                      <p:to>
                                        <p:strVal val="visible"/>
                                      </p:to>
                                    </p:set>
                                    <p:animEffect transition="in" filter="fade">
                                      <p:cBhvr>
                                        <p:cTn id="101" dur="1000"/>
                                        <p:tgtEl>
                                          <p:spTgt spid="29"/>
                                        </p:tgtEl>
                                      </p:cBhvr>
                                    </p:animEffect>
                                    <p:anim calcmode="lin" valueType="num">
                                      <p:cBhvr>
                                        <p:cTn id="102" dur="1000" fill="hold"/>
                                        <p:tgtEl>
                                          <p:spTgt spid="29"/>
                                        </p:tgtEl>
                                        <p:attrNameLst>
                                          <p:attrName>ppt_x</p:attrName>
                                        </p:attrNameLst>
                                      </p:cBhvr>
                                      <p:tavLst>
                                        <p:tav tm="0">
                                          <p:val>
                                            <p:strVal val="#ppt_x"/>
                                          </p:val>
                                        </p:tav>
                                        <p:tav tm="100000">
                                          <p:val>
                                            <p:strVal val="#ppt_x"/>
                                          </p:val>
                                        </p:tav>
                                      </p:tavLst>
                                    </p:anim>
                                    <p:anim calcmode="lin" valueType="num">
                                      <p:cBhvr>
                                        <p:cTn id="103"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7" grpId="0" animBg="1"/>
      <p:bldP spid="9" grpId="0" animBg="1"/>
      <p:bldP spid="11" grpId="0" animBg="1"/>
      <p:bldP spid="12" grpId="0" animBg="1"/>
      <p:bldP spid="25" grpId="0" animBg="1"/>
      <p:bldP spid="26" grpId="0" animBg="1"/>
      <p:bldP spid="27" grpId="0" animBg="1"/>
      <p:bldP spid="28" grpId="0" animBg="1"/>
      <p:bldP spid="2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12581" y="230661"/>
            <a:ext cx="2115755"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3"/>
                </a:solidFill>
                <a:cs typeface="IRAN Sans" panose="020B0400000000000000" pitchFamily="34" charset="-78"/>
              </a:rPr>
              <a:t>انواع سنگ‌های مصرفی</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12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CC8BA00D-3A38-46B6-A37A-6B173D746BA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6FC24A2D-F503-47FA-B082-9C8797E99421}"/>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00E39D77-C411-4B51-83DE-0D370D65F68A}"/>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76AC5E68-1DBF-4827-9174-4190A34009CA}"/>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0F7AF03E-874D-4AEF-BE45-BA8CC4CCC5D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F3141748-F786-48E1-8EDD-DED2EA883654}"/>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64B9B6B7-AB93-422F-A8A4-344CFE5EFA37}"/>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5" action="ppaction://hlinksldjump"/>
            <a:extLst>
              <a:ext uri="{FF2B5EF4-FFF2-40B4-BE49-F238E27FC236}">
                <a16:creationId xmlns:a16="http://schemas.microsoft.com/office/drawing/2014/main" id="{A3E5CEB9-2AA9-4F7A-AA7A-A0C9FEE68887}"/>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78DA322B-C063-4BCB-A27D-68561791771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767A9DD3-6A0E-479A-92CE-FB80E558093B}"/>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4F7C1EDD-CEB2-4537-B1D8-4685C8F77C00}"/>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03;p20">
            <a:extLst>
              <a:ext uri="{FF2B5EF4-FFF2-40B4-BE49-F238E27FC236}">
                <a16:creationId xmlns:a16="http://schemas.microsoft.com/office/drawing/2014/main" id="{136B9D62-7B95-413C-B67D-39B0EC7F634B}"/>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E96B04EA-D7A0-4780-BDB4-062B343CA97A}"/>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29;p20">
            <a:extLst>
              <a:ext uri="{FF2B5EF4-FFF2-40B4-BE49-F238E27FC236}">
                <a16:creationId xmlns:a16="http://schemas.microsoft.com/office/drawing/2014/main" id="{C604601F-70FF-4253-911A-23C80FFC881A}"/>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A814BD82-02EB-4486-9219-E39753E81876}"/>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3F2AB3F0-2CC7-4B55-9FB1-FB39C1238106}"/>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AEBDF71-5CD4-473F-8EC5-37D170AB1E51}"/>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401314EA-7A97-4D98-98F9-801BC6B4CBA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9C7A024-E4C2-4F57-9EAD-E8B40419C8D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F97D4DD0-C035-467F-B8DF-FE0563AC5249}"/>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090449B0-AB37-4831-992B-85176766B1E9}"/>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BBA874AC-4036-4042-998C-C9699F7D98D0}"/>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74D48360-885D-4405-AE0E-0691C0EF930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82631F8C-8469-4CAB-AACC-71703F75494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C8F1E3B5-C202-40DB-A5D9-82E1B9FB1EDC}"/>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5466C11D-1685-40D1-83E1-849767D3856E}"/>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0DACF8AD-D2F7-4FE9-9B37-EB1C3BDBB2E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BADDBF02-0FEA-4BE2-AA97-37307C2116D1}"/>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E878FCD8-1248-4B3D-8672-4A3FDDF7833F}"/>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254EDE4E-3572-44B0-8736-118821EB8E4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84F7CC8D-BB74-48E1-AEFD-1D1E1BD60E15}"/>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9DD20843-8D1B-4DC2-AE18-4BF1429098AC}"/>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A44F735B-E12C-4FFA-BEB0-D967C587F3EE}"/>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45D93331-7CA4-4708-89B2-A0A572CFA184}"/>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06ECB291-EE6C-4C5F-A6CE-061C30E1CCF9}"/>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E7D28D1C-2B95-42DE-B841-5C7A4A96D7F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D06B310E-5999-4171-823A-BA2A7ED4EA3D}"/>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FF4DF1E7-5345-461D-AB75-B9D16DA69CAC}"/>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33F02C95-C06F-48B6-AA33-460BA9C923F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10B13DBF-B7ED-446A-AB7F-C5F7404FE3B8}"/>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FF5171CB-BC0B-417F-85D0-0613720CA3E5}"/>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5E2CA4A3-AD56-4538-B069-F57D388E21DB}"/>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D1BFEB0B-79F5-4B22-A4F6-5484C9FCDAEE}"/>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589D4F9E-5B80-48D4-8585-82CC3634934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331990F4-E5DF-488A-9A76-F88909FC4DF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D3DF8904-A1C2-4268-8353-08ED516A7D96}"/>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31BDC4A7-D7D5-4B3B-8CBC-B6B6F3ADB5C8}"/>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0E578E53-BE86-4709-B926-4148C4165369}"/>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0FAF3904-23FD-411A-8E67-89CC65F45657}"/>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2E6E4C3A-C355-4B64-8A16-D8C997FDC490}"/>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59A379AC-68E7-4244-93FC-913FB47F95C8}"/>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6FACDDC0-DA6A-4F7E-8FFE-69AEF113B52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0AB34FD4-9BC0-4E80-A0BC-18F05EA7A379}"/>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D9D552E4-FCD0-4BE5-9759-B5B88D5C54C5}"/>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2627744D-B152-4427-BE70-3F0C4E627775}"/>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EA1EE869-1CBF-4F6B-A59C-39FAFC4C2A10}"/>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261D250E-43B1-449D-8E67-3821C5BD314B}"/>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BAF6E140-C70A-4BAE-B700-85A9DE822D39}"/>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901088DB-35B5-4E98-929E-8FC933C865F5}"/>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B4C13E72-712B-4D71-A082-606BB474CAFB}"/>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47916FAD-9C88-4DB8-9A90-5D1489F4E0F1}"/>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BFEC801B-0ED5-4EEB-A93B-0914FAA11FE4}"/>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07EBA096-71FC-4C17-95C3-C21130B9B270}"/>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F643C3A4-923D-49C8-81AE-F29516FD9892}"/>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F444F877-7684-407D-BD56-B53E90DBA3B3}"/>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B6FDB14-0042-4065-8A18-2E4C34662F76}"/>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B4921F26-39C3-4E29-B29B-1F809986E1F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F52F8935-DDC7-4DF1-8446-A884C86739F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83BAA7CF-2F26-437E-983E-000B7782BD3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A38B3183-4759-473B-A6B4-62065348011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4DE36C32-6176-4251-8FF2-2D875C521C7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24EAC7F-FBEF-4A35-8CE7-065CFABBF871}"/>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827D1018-E522-4EF7-90C8-1E70A984372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F880FA19-FBBC-4189-A850-815B8AA6C13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529808D3-DF8C-47A8-8228-602125F6AFF7}"/>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E95CE025-AA9F-4E9D-A356-A2B8F8D1A9C3}"/>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CF21220D-4F66-4F9B-8D84-9D2377F1D869}"/>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Rectangle 20">
            <a:extLst>
              <a:ext uri="{FF2B5EF4-FFF2-40B4-BE49-F238E27FC236}">
                <a16:creationId xmlns:a16="http://schemas.microsoft.com/office/drawing/2014/main" id="{48E1D63F-432F-78A5-84F3-DD6F6B70063C}"/>
              </a:ext>
            </a:extLst>
          </p:cNvPr>
          <p:cNvSpPr/>
          <p:nvPr/>
        </p:nvSpPr>
        <p:spPr>
          <a:xfrm>
            <a:off x="4976967" y="1264476"/>
            <a:ext cx="3155249" cy="2694891"/>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ctr" rtl="1">
              <a:lnSpc>
                <a:spcPct val="150000"/>
              </a:lnSpc>
            </a:pPr>
            <a:r>
              <a:rPr lang="fa-IR" sz="1800" dirty="0">
                <a:solidFill>
                  <a:schemeClr val="tx1">
                    <a:lumMod val="95000"/>
                    <a:lumOff val="5000"/>
                  </a:schemeClr>
                </a:solidFill>
                <a:cs typeface="IRAN Sans" panose="020B0400000000000000" pitchFamily="34" charset="-78"/>
              </a:rPr>
              <a:t>سنگهای رودخانه ای</a:t>
            </a: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p:txBody>
      </p:sp>
      <p:sp>
        <p:nvSpPr>
          <p:cNvPr id="22" name="Rectangle 21">
            <a:extLst>
              <a:ext uri="{FF2B5EF4-FFF2-40B4-BE49-F238E27FC236}">
                <a16:creationId xmlns:a16="http://schemas.microsoft.com/office/drawing/2014/main" id="{E0ACF36A-AE80-BBE8-5960-BA04EC1A8E4F}"/>
              </a:ext>
            </a:extLst>
          </p:cNvPr>
          <p:cNvSpPr/>
          <p:nvPr/>
        </p:nvSpPr>
        <p:spPr>
          <a:xfrm>
            <a:off x="1210358" y="1248638"/>
            <a:ext cx="3150249" cy="2694891"/>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ctr" rtl="1">
              <a:lnSpc>
                <a:spcPct val="150000"/>
              </a:lnSpc>
            </a:pPr>
            <a:r>
              <a:rPr lang="fa-IR" sz="1800" dirty="0">
                <a:solidFill>
                  <a:schemeClr val="tx1">
                    <a:lumMod val="95000"/>
                    <a:lumOff val="5000"/>
                  </a:schemeClr>
                </a:solidFill>
                <a:cs typeface="IRAN Sans" panose="020B0400000000000000" pitchFamily="34" charset="-78"/>
              </a:rPr>
              <a:t>سنگهای کوهی</a:t>
            </a: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p:txBody>
      </p:sp>
      <p:sp>
        <p:nvSpPr>
          <p:cNvPr id="23" name="Title 2">
            <a:extLst>
              <a:ext uri="{FF2B5EF4-FFF2-40B4-BE49-F238E27FC236}">
                <a16:creationId xmlns:a16="http://schemas.microsoft.com/office/drawing/2014/main" id="{14BCB908-1EC0-CB50-4EA1-959E60060D36}"/>
              </a:ext>
            </a:extLst>
          </p:cNvPr>
          <p:cNvSpPr>
            <a:spLocks noGrp="1"/>
          </p:cNvSpPr>
          <p:nvPr/>
        </p:nvSpPr>
        <p:spPr>
          <a:xfrm>
            <a:off x="1848897" y="621222"/>
            <a:ext cx="5316479" cy="481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IRAN Sans" panose="020B0400000000000000" pitchFamily="34" charset="-78"/>
                <a:sym typeface="Fira Sans Extra Condensed Medium"/>
              </a:defRPr>
            </a:lvl1pPr>
            <a:lvl2pPr marR="0" lvl="1"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2pPr>
            <a:lvl3pPr marR="0" lvl="2"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3pPr>
            <a:lvl4pPr marR="0" lvl="3"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4pPr>
            <a:lvl5pPr marR="0" lvl="4"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5pPr>
            <a:lvl6pPr marR="0" lvl="5"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6pPr>
            <a:lvl7pPr marR="0" lvl="6"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7pPr>
            <a:lvl8pPr marR="0" lvl="7"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8pPr>
            <a:lvl9pPr marR="0" lvl="8" algn="ctr" rtl="0">
              <a:lnSpc>
                <a:spcPct val="100000"/>
              </a:lnSpc>
              <a:spcBef>
                <a:spcPts val="0"/>
              </a:spcBef>
              <a:spcAft>
                <a:spcPts val="0"/>
              </a:spcAft>
              <a:buClr>
                <a:schemeClr val="dk1"/>
              </a:buClr>
              <a:buSzPts val="2800"/>
              <a:buFont typeface="Fira Sans Extra Condensed Medium"/>
              <a:buNone/>
              <a:defRPr sz="2800" b="0" i="0" u="none" strike="noStrike" cap="none">
                <a:solidFill>
                  <a:schemeClr val="dk1"/>
                </a:solidFill>
                <a:latin typeface="Fira Sans Extra Condensed Medium"/>
                <a:ea typeface="Fira Sans Extra Condensed Medium"/>
                <a:cs typeface="Fira Sans Extra Condensed Medium"/>
                <a:sym typeface="Fira Sans Extra Condensed Medium"/>
              </a:defRPr>
            </a:lvl9pPr>
          </a:lstStyle>
          <a:p>
            <a:pPr algn="justLow" rtl="1">
              <a:lnSpc>
                <a:spcPct val="150000"/>
              </a:lnSpc>
            </a:pPr>
            <a:r>
              <a:rPr lang="fa-IR" sz="2400" dirty="0">
                <a:solidFill>
                  <a:schemeClr val="tx1">
                    <a:lumMod val="95000"/>
                    <a:lumOff val="5000"/>
                  </a:schemeClr>
                </a:solidFill>
                <a:cs typeface="IRAN Sans" panose="020B0400000000000000" pitchFamily="34" charset="-78"/>
              </a:rPr>
              <a:t>انواع سنگهای مصرفی در دیوارسازی های سنگی :</a:t>
            </a:r>
          </a:p>
        </p:txBody>
      </p:sp>
      <p:pic>
        <p:nvPicPr>
          <p:cNvPr id="24" name="Picture 23">
            <a:extLst>
              <a:ext uri="{FF2B5EF4-FFF2-40B4-BE49-F238E27FC236}">
                <a16:creationId xmlns:a16="http://schemas.microsoft.com/office/drawing/2014/main" id="{40A0157F-DD42-F246-43B4-2E239061DFE7}"/>
              </a:ext>
            </a:extLst>
          </p:cNvPr>
          <p:cNvPicPr>
            <a:picLocks noChangeAspect="1"/>
          </p:cNvPicPr>
          <p:nvPr/>
        </p:nvPicPr>
        <p:blipFill>
          <a:blip r:embed="rId6"/>
          <a:stretch>
            <a:fillRect/>
          </a:stretch>
        </p:blipFill>
        <p:spPr>
          <a:xfrm>
            <a:off x="5484020" y="1780383"/>
            <a:ext cx="2102130" cy="1955917"/>
          </a:xfrm>
          <a:prstGeom prst="rect">
            <a:avLst/>
          </a:prstGeom>
          <a:effectLst>
            <a:glow rad="101600">
              <a:schemeClr val="bg1">
                <a:lumMod val="75000"/>
                <a:alpha val="60000"/>
              </a:schemeClr>
            </a:glow>
          </a:effectLst>
        </p:spPr>
      </p:pic>
      <p:pic>
        <p:nvPicPr>
          <p:cNvPr id="25" name="Picture 24">
            <a:extLst>
              <a:ext uri="{FF2B5EF4-FFF2-40B4-BE49-F238E27FC236}">
                <a16:creationId xmlns:a16="http://schemas.microsoft.com/office/drawing/2014/main" id="{601B59BD-E954-033B-6C07-B114B5443D48}"/>
              </a:ext>
            </a:extLst>
          </p:cNvPr>
          <p:cNvPicPr>
            <a:picLocks noChangeAspect="1"/>
          </p:cNvPicPr>
          <p:nvPr/>
        </p:nvPicPr>
        <p:blipFill>
          <a:blip r:embed="rId7"/>
          <a:stretch>
            <a:fillRect/>
          </a:stretch>
        </p:blipFill>
        <p:spPr>
          <a:xfrm>
            <a:off x="1593449" y="1780383"/>
            <a:ext cx="2314679" cy="1955917"/>
          </a:xfrm>
          <a:prstGeom prst="rect">
            <a:avLst/>
          </a:prstGeom>
          <a:effectLst>
            <a:glow rad="101600">
              <a:schemeClr val="bg1">
                <a:lumMod val="75000"/>
                <a:alpha val="60000"/>
              </a:schemeClr>
            </a:glow>
            <a:softEdge rad="12700"/>
          </a:effectLst>
        </p:spPr>
      </p:pic>
      <p:sp>
        <p:nvSpPr>
          <p:cNvPr id="26" name="Google Shape;324;p20">
            <a:hlinkClick r:id="" action="ppaction://noaction"/>
            <a:extLst>
              <a:ext uri="{FF2B5EF4-FFF2-40B4-BE49-F238E27FC236}">
                <a16:creationId xmlns:a16="http://schemas.microsoft.com/office/drawing/2014/main" id="{FF9AEDC6-2384-BA0C-CAE4-293B2A975740}"/>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9331406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anim calcmode="lin" valueType="num">
                                      <p:cBhvr>
                                        <p:cTn id="35" dur="1000" fill="hold"/>
                                        <p:tgtEl>
                                          <p:spTgt spid="21"/>
                                        </p:tgtEl>
                                        <p:attrNameLst>
                                          <p:attrName>ppt_x</p:attrName>
                                        </p:attrNameLst>
                                      </p:cBhvr>
                                      <p:tavLst>
                                        <p:tav tm="0">
                                          <p:val>
                                            <p:strVal val="#ppt_x"/>
                                          </p:val>
                                        </p:tav>
                                        <p:tav tm="100000">
                                          <p:val>
                                            <p:strVal val="#ppt_x"/>
                                          </p:val>
                                        </p:tav>
                                      </p:tavLst>
                                    </p:anim>
                                    <p:anim calcmode="lin" valueType="num">
                                      <p:cBhvr>
                                        <p:cTn id="36" dur="1000" fill="hold"/>
                                        <p:tgtEl>
                                          <p:spTgt spid="21"/>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1000"/>
                                        <p:tgtEl>
                                          <p:spTgt spid="22"/>
                                        </p:tgtEl>
                                      </p:cBhvr>
                                    </p:animEffect>
                                    <p:anim calcmode="lin" valueType="num">
                                      <p:cBhvr>
                                        <p:cTn id="41" dur="1000" fill="hold"/>
                                        <p:tgtEl>
                                          <p:spTgt spid="22"/>
                                        </p:tgtEl>
                                        <p:attrNameLst>
                                          <p:attrName>ppt_x</p:attrName>
                                        </p:attrNameLst>
                                      </p:cBhvr>
                                      <p:tavLst>
                                        <p:tav tm="0">
                                          <p:val>
                                            <p:strVal val="#ppt_x"/>
                                          </p:val>
                                        </p:tav>
                                        <p:tav tm="100000">
                                          <p:val>
                                            <p:strVal val="#ppt_x"/>
                                          </p:val>
                                        </p:tav>
                                      </p:tavLst>
                                    </p:anim>
                                    <p:anim calcmode="lin" valueType="num">
                                      <p:cBhvr>
                                        <p:cTn id="42" dur="1000" fill="hold"/>
                                        <p:tgtEl>
                                          <p:spTgt spid="22"/>
                                        </p:tgtEl>
                                        <p:attrNameLst>
                                          <p:attrName>ppt_y</p:attrName>
                                        </p:attrNameLst>
                                      </p:cBhvr>
                                      <p:tavLst>
                                        <p:tav tm="0">
                                          <p:val>
                                            <p:strVal val="#ppt_y+.1"/>
                                          </p:val>
                                        </p:tav>
                                        <p:tav tm="100000">
                                          <p:val>
                                            <p:strVal val="#ppt_y"/>
                                          </p:val>
                                        </p:tav>
                                      </p:tavLst>
                                    </p:anim>
                                  </p:childTnLst>
                                </p:cTn>
                              </p:par>
                              <p:par>
                                <p:cTn id="43" presetID="42" presetClass="entr" presetSubtype="0" fill="hold" nodeType="with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1000"/>
                                        <p:tgtEl>
                                          <p:spTgt spid="25"/>
                                        </p:tgtEl>
                                      </p:cBhvr>
                                    </p:animEffect>
                                    <p:anim calcmode="lin" valueType="num">
                                      <p:cBhvr>
                                        <p:cTn id="46" dur="1000" fill="hold"/>
                                        <p:tgtEl>
                                          <p:spTgt spid="25"/>
                                        </p:tgtEl>
                                        <p:attrNameLst>
                                          <p:attrName>ppt_x</p:attrName>
                                        </p:attrNameLst>
                                      </p:cBhvr>
                                      <p:tavLst>
                                        <p:tav tm="0">
                                          <p:val>
                                            <p:strVal val="#ppt_x"/>
                                          </p:val>
                                        </p:tav>
                                        <p:tav tm="100000">
                                          <p:val>
                                            <p:strVal val="#ppt_x"/>
                                          </p:val>
                                        </p:tav>
                                      </p:tavLst>
                                    </p:anim>
                                    <p:anim calcmode="lin" valueType="num">
                                      <p:cBhvr>
                                        <p:cTn id="47" dur="1000" fill="hold"/>
                                        <p:tgtEl>
                                          <p:spTgt spid="25"/>
                                        </p:tgtEl>
                                        <p:attrNameLst>
                                          <p:attrName>ppt_y</p:attrName>
                                        </p:attrNameLst>
                                      </p:cBhvr>
                                      <p:tavLst>
                                        <p:tav tm="0">
                                          <p:val>
                                            <p:strVal val="#ppt_y+.1"/>
                                          </p:val>
                                        </p:tav>
                                        <p:tav tm="100000">
                                          <p:val>
                                            <p:strVal val="#ppt_y"/>
                                          </p:val>
                                        </p:tav>
                                      </p:tavLst>
                                    </p:anim>
                                  </p:childTnLst>
                                </p:cTn>
                              </p:par>
                              <p:par>
                                <p:cTn id="48" presetID="42" presetClass="entr" presetSubtype="0"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1000"/>
                                        <p:tgtEl>
                                          <p:spTgt spid="24"/>
                                        </p:tgtEl>
                                      </p:cBhvr>
                                    </p:animEffect>
                                    <p:anim calcmode="lin" valueType="num">
                                      <p:cBhvr>
                                        <p:cTn id="51" dur="1000" fill="hold"/>
                                        <p:tgtEl>
                                          <p:spTgt spid="24"/>
                                        </p:tgtEl>
                                        <p:attrNameLst>
                                          <p:attrName>ppt_x</p:attrName>
                                        </p:attrNameLst>
                                      </p:cBhvr>
                                      <p:tavLst>
                                        <p:tav tm="0">
                                          <p:val>
                                            <p:strVal val="#ppt_x"/>
                                          </p:val>
                                        </p:tav>
                                        <p:tav tm="100000">
                                          <p:val>
                                            <p:strVal val="#ppt_x"/>
                                          </p:val>
                                        </p:tav>
                                      </p:tavLst>
                                    </p:anim>
                                    <p:anim calcmode="lin" valueType="num">
                                      <p:cBhvr>
                                        <p:cTn id="5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 grpId="0" animBg="1"/>
      <p:bldP spid="2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75230" y="230661"/>
            <a:ext cx="2053106"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3"/>
                </a:solidFill>
                <a:cs typeface="IRAN Sans" panose="020B0400000000000000" pitchFamily="34" charset="-78"/>
              </a:rPr>
              <a:t>انواع سنگ‌های کوهی</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13</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CC8BA00D-3A38-46B6-A37A-6B173D746BA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6FC24A2D-F503-47FA-B082-9C8797E99421}"/>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00E39D77-C411-4B51-83DE-0D370D65F68A}"/>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76AC5E68-1DBF-4827-9174-4190A34009CA}"/>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0F7AF03E-874D-4AEF-BE45-BA8CC4CCC5D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F3141748-F786-48E1-8EDD-DED2EA883654}"/>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64B9B6B7-AB93-422F-A8A4-344CFE5EFA37}"/>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5" action="ppaction://hlinksldjump"/>
            <a:extLst>
              <a:ext uri="{FF2B5EF4-FFF2-40B4-BE49-F238E27FC236}">
                <a16:creationId xmlns:a16="http://schemas.microsoft.com/office/drawing/2014/main" id="{A3E5CEB9-2AA9-4F7A-AA7A-A0C9FEE68887}"/>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78DA322B-C063-4BCB-A27D-68561791771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767A9DD3-6A0E-479A-92CE-FB80E558093B}"/>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4F7C1EDD-CEB2-4537-B1D8-4685C8F77C00}"/>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03;p20">
            <a:extLst>
              <a:ext uri="{FF2B5EF4-FFF2-40B4-BE49-F238E27FC236}">
                <a16:creationId xmlns:a16="http://schemas.microsoft.com/office/drawing/2014/main" id="{136B9D62-7B95-413C-B67D-39B0EC7F634B}"/>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E96B04EA-D7A0-4780-BDB4-062B343CA97A}"/>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29;p20">
            <a:extLst>
              <a:ext uri="{FF2B5EF4-FFF2-40B4-BE49-F238E27FC236}">
                <a16:creationId xmlns:a16="http://schemas.microsoft.com/office/drawing/2014/main" id="{C604601F-70FF-4253-911A-23C80FFC881A}"/>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A814BD82-02EB-4486-9219-E39753E81876}"/>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3F2AB3F0-2CC7-4B55-9FB1-FB39C1238106}"/>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AEBDF71-5CD4-473F-8EC5-37D170AB1E51}"/>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401314EA-7A97-4D98-98F9-801BC6B4CBA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9C7A024-E4C2-4F57-9EAD-E8B40419C8D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F97D4DD0-C035-467F-B8DF-FE0563AC5249}"/>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090449B0-AB37-4831-992B-85176766B1E9}"/>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BBA874AC-4036-4042-998C-C9699F7D98D0}"/>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74D48360-885D-4405-AE0E-0691C0EF930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82631F8C-8469-4CAB-AACC-71703F75494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C8F1E3B5-C202-40DB-A5D9-82E1B9FB1EDC}"/>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5466C11D-1685-40D1-83E1-849767D3856E}"/>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0DACF8AD-D2F7-4FE9-9B37-EB1C3BDBB2E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BADDBF02-0FEA-4BE2-AA97-37307C2116D1}"/>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E878FCD8-1248-4B3D-8672-4A3FDDF7833F}"/>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254EDE4E-3572-44B0-8736-118821EB8E4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84F7CC8D-BB74-48E1-AEFD-1D1E1BD60E15}"/>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9DD20843-8D1B-4DC2-AE18-4BF1429098AC}"/>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A44F735B-E12C-4FFA-BEB0-D967C587F3EE}"/>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45D93331-7CA4-4708-89B2-A0A572CFA184}"/>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06ECB291-EE6C-4C5F-A6CE-061C30E1CCF9}"/>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E7D28D1C-2B95-42DE-B841-5C7A4A96D7F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D06B310E-5999-4171-823A-BA2A7ED4EA3D}"/>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FF4DF1E7-5345-461D-AB75-B9D16DA69CAC}"/>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33F02C95-C06F-48B6-AA33-460BA9C923F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10B13DBF-B7ED-446A-AB7F-C5F7404FE3B8}"/>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FF5171CB-BC0B-417F-85D0-0613720CA3E5}"/>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5E2CA4A3-AD56-4538-B069-F57D388E21DB}"/>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D1BFEB0B-79F5-4B22-A4F6-5484C9FCDAEE}"/>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589D4F9E-5B80-48D4-8585-82CC3634934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331990F4-E5DF-488A-9A76-F88909FC4DF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D3DF8904-A1C2-4268-8353-08ED516A7D96}"/>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31BDC4A7-D7D5-4B3B-8CBC-B6B6F3ADB5C8}"/>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0E578E53-BE86-4709-B926-4148C4165369}"/>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0FAF3904-23FD-411A-8E67-89CC65F45657}"/>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2E6E4C3A-C355-4B64-8A16-D8C997FDC490}"/>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59A379AC-68E7-4244-93FC-913FB47F95C8}"/>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6FACDDC0-DA6A-4F7E-8FFE-69AEF113B52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0AB34FD4-9BC0-4E80-A0BC-18F05EA7A379}"/>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D9D552E4-FCD0-4BE5-9759-B5B88D5C54C5}"/>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2627744D-B152-4427-BE70-3F0C4E627775}"/>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EA1EE869-1CBF-4F6B-A59C-39FAFC4C2A10}"/>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261D250E-43B1-449D-8E67-3821C5BD314B}"/>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BAF6E140-C70A-4BAE-B700-85A9DE822D39}"/>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901088DB-35B5-4E98-929E-8FC933C865F5}"/>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B4C13E72-712B-4D71-A082-606BB474CAFB}"/>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47916FAD-9C88-4DB8-9A90-5D1489F4E0F1}"/>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BFEC801B-0ED5-4EEB-A93B-0914FAA11FE4}"/>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07EBA096-71FC-4C17-95C3-C21130B9B270}"/>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F643C3A4-923D-49C8-81AE-F29516FD9892}"/>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F444F877-7684-407D-BD56-B53E90DBA3B3}"/>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B6FDB14-0042-4065-8A18-2E4C34662F76}"/>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B4921F26-39C3-4E29-B29B-1F809986E1F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F52F8935-DDC7-4DF1-8446-A884C86739F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83BAA7CF-2F26-437E-983E-000B7782BD3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A38B3183-4759-473B-A6B4-62065348011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4DE36C32-6176-4251-8FF2-2D875C521C7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24EAC7F-FBEF-4A35-8CE7-065CFABBF871}"/>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827D1018-E522-4EF7-90C8-1E70A984372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F880FA19-FBBC-4189-A850-815B8AA6C13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529808D3-DF8C-47A8-8228-602125F6AFF7}"/>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E95CE025-AA9F-4E9D-A356-A2B8F8D1A9C3}"/>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CF21220D-4F66-4F9B-8D84-9D2377F1D869}"/>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 name="Google Shape;324;p20">
            <a:hlinkClick r:id="" action="ppaction://noaction"/>
            <a:extLst>
              <a:ext uri="{FF2B5EF4-FFF2-40B4-BE49-F238E27FC236}">
                <a16:creationId xmlns:a16="http://schemas.microsoft.com/office/drawing/2014/main" id="{FF9AEDC6-2384-BA0C-CAE4-293B2A975740}"/>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grpSp>
        <p:nvGrpSpPr>
          <p:cNvPr id="2" name="Google Shape;1359;p41">
            <a:extLst>
              <a:ext uri="{FF2B5EF4-FFF2-40B4-BE49-F238E27FC236}">
                <a16:creationId xmlns:a16="http://schemas.microsoft.com/office/drawing/2014/main" id="{7B71B497-1760-1F23-86B0-FBA32DF7279C}"/>
              </a:ext>
            </a:extLst>
          </p:cNvPr>
          <p:cNvGrpSpPr/>
          <p:nvPr/>
        </p:nvGrpSpPr>
        <p:grpSpPr>
          <a:xfrm>
            <a:off x="2701719" y="2088581"/>
            <a:ext cx="1497579" cy="388153"/>
            <a:chOff x="2492925" y="2627225"/>
            <a:chExt cx="1561663" cy="411300"/>
          </a:xfrm>
        </p:grpSpPr>
        <p:sp>
          <p:nvSpPr>
            <p:cNvPr id="3" name="Google Shape;1360;p41">
              <a:extLst>
                <a:ext uri="{FF2B5EF4-FFF2-40B4-BE49-F238E27FC236}">
                  <a16:creationId xmlns:a16="http://schemas.microsoft.com/office/drawing/2014/main" id="{132A2854-97B8-4496-CA16-063C711AA512}"/>
                </a:ext>
              </a:extLst>
            </p:cNvPr>
            <p:cNvSpPr/>
            <p:nvPr/>
          </p:nvSpPr>
          <p:spPr>
            <a:xfrm>
              <a:off x="2492925" y="2627225"/>
              <a:ext cx="1154400" cy="411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200" b="1" dirty="0">
                  <a:solidFill>
                    <a:schemeClr val="lt1"/>
                  </a:solidFill>
                  <a:latin typeface="Fira Sans Extra Condensed Medium"/>
                  <a:ea typeface="Fira Sans Extra Condensed Medium"/>
                  <a:cs typeface="IRAN Sans" panose="020B0400000000000000" pitchFamily="34" charset="-78"/>
                  <a:sym typeface="Fira Sans Extra Condensed Medium"/>
                </a:rPr>
                <a:t>سنگ چند وجهی نامنظم</a:t>
              </a:r>
              <a:endParaRPr sz="1050" b="1" dirty="0"/>
            </a:p>
          </p:txBody>
        </p:sp>
        <p:cxnSp>
          <p:nvCxnSpPr>
            <p:cNvPr id="4" name="Google Shape;1361;p41">
              <a:extLst>
                <a:ext uri="{FF2B5EF4-FFF2-40B4-BE49-F238E27FC236}">
                  <a16:creationId xmlns:a16="http://schemas.microsoft.com/office/drawing/2014/main" id="{2F7FB543-C698-0A3F-B1F4-89CEBC7F7E14}"/>
                </a:ext>
              </a:extLst>
            </p:cNvPr>
            <p:cNvCxnSpPr/>
            <p:nvPr/>
          </p:nvCxnSpPr>
          <p:spPr>
            <a:xfrm>
              <a:off x="3731188" y="2832875"/>
              <a:ext cx="323400" cy="0"/>
            </a:xfrm>
            <a:prstGeom prst="straightConnector1">
              <a:avLst/>
            </a:prstGeom>
            <a:noFill/>
            <a:ln w="9525" cap="flat" cmpd="sng">
              <a:solidFill>
                <a:srgbClr val="000000"/>
              </a:solidFill>
              <a:prstDash val="solid"/>
              <a:round/>
              <a:headEnd type="none" w="med" len="med"/>
              <a:tailEnd type="none" w="med" len="med"/>
            </a:ln>
          </p:spPr>
        </p:cxnSp>
      </p:grpSp>
      <p:sp>
        <p:nvSpPr>
          <p:cNvPr id="5" name="Google Shape;1363;p41">
            <a:extLst>
              <a:ext uri="{FF2B5EF4-FFF2-40B4-BE49-F238E27FC236}">
                <a16:creationId xmlns:a16="http://schemas.microsoft.com/office/drawing/2014/main" id="{6DBCDFC7-15AB-E48E-76BB-C5DB6ABAA54D}"/>
              </a:ext>
            </a:extLst>
          </p:cNvPr>
          <p:cNvSpPr/>
          <p:nvPr/>
        </p:nvSpPr>
        <p:spPr>
          <a:xfrm>
            <a:off x="4279707" y="1873556"/>
            <a:ext cx="831422" cy="818208"/>
          </a:xfrm>
          <a:prstGeom prst="ellipse">
            <a:avLst/>
          </a:prstGeom>
          <a:solidFill>
            <a:schemeClr val="lt2"/>
          </a:solidFill>
          <a:ln>
            <a:solidFill>
              <a:schemeClr val="tx1">
                <a:lumMod val="50000"/>
                <a:lumOff val="50000"/>
              </a:schemeClr>
            </a:solid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600" b="1" dirty="0">
                <a:latin typeface="Fira Sans Extra Condensed Medium"/>
                <a:cs typeface="IRAN Sans" panose="020B0400000000000000" pitchFamily="34" charset="-78"/>
                <a:sym typeface="Fira Sans Extra Condensed Medium"/>
              </a:rPr>
              <a:t>سنگ‌های کوهی</a:t>
            </a:r>
            <a:endParaRPr sz="1200" b="1" dirty="0"/>
          </a:p>
        </p:txBody>
      </p:sp>
      <p:grpSp>
        <p:nvGrpSpPr>
          <p:cNvPr id="6" name="Google Shape;1364;p41">
            <a:extLst>
              <a:ext uri="{FF2B5EF4-FFF2-40B4-BE49-F238E27FC236}">
                <a16:creationId xmlns:a16="http://schemas.microsoft.com/office/drawing/2014/main" id="{CC778DB7-84B8-6B1A-F78A-7B40AE28F7BE}"/>
              </a:ext>
            </a:extLst>
          </p:cNvPr>
          <p:cNvGrpSpPr/>
          <p:nvPr/>
        </p:nvGrpSpPr>
        <p:grpSpPr>
          <a:xfrm>
            <a:off x="5191573" y="2088581"/>
            <a:ext cx="1497614" cy="388153"/>
            <a:chOff x="5089325" y="2627225"/>
            <a:chExt cx="1561700" cy="411300"/>
          </a:xfrm>
        </p:grpSpPr>
        <p:sp>
          <p:nvSpPr>
            <p:cNvPr id="7" name="Google Shape;1365;p41">
              <a:extLst>
                <a:ext uri="{FF2B5EF4-FFF2-40B4-BE49-F238E27FC236}">
                  <a16:creationId xmlns:a16="http://schemas.microsoft.com/office/drawing/2014/main" id="{48482AC2-C92B-DD9A-D73A-5B51365BCAB7}"/>
                </a:ext>
              </a:extLst>
            </p:cNvPr>
            <p:cNvSpPr/>
            <p:nvPr/>
          </p:nvSpPr>
          <p:spPr>
            <a:xfrm>
              <a:off x="5496625" y="2627225"/>
              <a:ext cx="1154400" cy="4113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dirty="0">
                  <a:solidFill>
                    <a:schemeClr val="lt1"/>
                  </a:solidFill>
                  <a:latin typeface="Fira Sans Extra Condensed Medium"/>
                  <a:cs typeface="IRAN Sans" panose="020B0400000000000000" pitchFamily="34" charset="-78"/>
                  <a:sym typeface="Fira Sans Extra Condensed Medium"/>
                </a:rPr>
                <a:t>سنگ قواره</a:t>
              </a:r>
              <a:endParaRPr dirty="0"/>
            </a:p>
          </p:txBody>
        </p:sp>
        <p:cxnSp>
          <p:nvCxnSpPr>
            <p:cNvPr id="8" name="Google Shape;1366;p41">
              <a:extLst>
                <a:ext uri="{FF2B5EF4-FFF2-40B4-BE49-F238E27FC236}">
                  <a16:creationId xmlns:a16="http://schemas.microsoft.com/office/drawing/2014/main" id="{B1457864-1751-CD07-C3C9-C7D092B735C5}"/>
                </a:ext>
              </a:extLst>
            </p:cNvPr>
            <p:cNvCxnSpPr/>
            <p:nvPr/>
          </p:nvCxnSpPr>
          <p:spPr>
            <a:xfrm>
              <a:off x="5089325" y="2832875"/>
              <a:ext cx="323400" cy="0"/>
            </a:xfrm>
            <a:prstGeom prst="straightConnector1">
              <a:avLst/>
            </a:prstGeom>
            <a:noFill/>
            <a:ln w="9525" cap="flat" cmpd="sng">
              <a:solidFill>
                <a:srgbClr val="000000"/>
              </a:solidFill>
              <a:prstDash val="solid"/>
              <a:round/>
              <a:headEnd type="none" w="med" len="med"/>
              <a:tailEnd type="none" w="med" len="med"/>
            </a:ln>
          </p:spPr>
        </p:cxnSp>
      </p:grpSp>
      <p:grpSp>
        <p:nvGrpSpPr>
          <p:cNvPr id="9" name="Google Shape;1368;p41">
            <a:extLst>
              <a:ext uri="{FF2B5EF4-FFF2-40B4-BE49-F238E27FC236}">
                <a16:creationId xmlns:a16="http://schemas.microsoft.com/office/drawing/2014/main" id="{1551106C-71F1-9BCC-EE56-BB84FDCEC1DB}"/>
              </a:ext>
            </a:extLst>
          </p:cNvPr>
          <p:cNvGrpSpPr/>
          <p:nvPr/>
        </p:nvGrpSpPr>
        <p:grpSpPr>
          <a:xfrm>
            <a:off x="4850902" y="796367"/>
            <a:ext cx="3547736" cy="1003370"/>
            <a:chOff x="4734075" y="1257950"/>
            <a:chExt cx="3699550" cy="1063204"/>
          </a:xfrm>
        </p:grpSpPr>
        <p:sp>
          <p:nvSpPr>
            <p:cNvPr id="10" name="Google Shape;1369;p41">
              <a:extLst>
                <a:ext uri="{FF2B5EF4-FFF2-40B4-BE49-F238E27FC236}">
                  <a16:creationId xmlns:a16="http://schemas.microsoft.com/office/drawing/2014/main" id="{7736F21F-0AE8-D071-7E96-23128410B29C}"/>
                </a:ext>
              </a:extLst>
            </p:cNvPr>
            <p:cNvSpPr/>
            <p:nvPr/>
          </p:nvSpPr>
          <p:spPr>
            <a:xfrm>
              <a:off x="5496625" y="1422325"/>
              <a:ext cx="1154400" cy="4113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b="1" dirty="0">
                  <a:solidFill>
                    <a:schemeClr val="lt1"/>
                  </a:solidFill>
                  <a:latin typeface="Fira Sans Extra Condensed Medium"/>
                  <a:cs typeface="IRAN Sans" panose="020B0400000000000000" pitchFamily="34" charset="-78"/>
                  <a:sym typeface="Fira Sans Extra Condensed Medium"/>
                </a:rPr>
                <a:t>سنگ‌های لاشه</a:t>
              </a:r>
              <a:endParaRPr sz="1200" b="1" dirty="0"/>
            </a:p>
          </p:txBody>
        </p:sp>
        <p:sp>
          <p:nvSpPr>
            <p:cNvPr id="11" name="Google Shape;1370;p41">
              <a:extLst>
                <a:ext uri="{FF2B5EF4-FFF2-40B4-BE49-F238E27FC236}">
                  <a16:creationId xmlns:a16="http://schemas.microsoft.com/office/drawing/2014/main" id="{B21CA4B3-58C8-059C-F6AE-0C25D2898B5A}"/>
                </a:ext>
              </a:extLst>
            </p:cNvPr>
            <p:cNvSpPr/>
            <p:nvPr/>
          </p:nvSpPr>
          <p:spPr>
            <a:xfrm>
              <a:off x="4734075" y="1909825"/>
              <a:ext cx="1318708" cy="411329"/>
            </a:xfrm>
            <a:custGeom>
              <a:avLst/>
              <a:gdLst/>
              <a:ahLst/>
              <a:cxnLst/>
              <a:rect l="l" t="t" r="r" b="b"/>
              <a:pathLst>
                <a:path w="55507" h="15181" fill="none" extrusionOk="0">
                  <a:moveTo>
                    <a:pt x="0" y="15181"/>
                  </a:moveTo>
                  <a:lnTo>
                    <a:pt x="0" y="5810"/>
                  </a:lnTo>
                  <a:lnTo>
                    <a:pt x="55507" y="5810"/>
                  </a:lnTo>
                  <a:lnTo>
                    <a:pt x="55507" y="0"/>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371;p41">
              <a:extLst>
                <a:ext uri="{FF2B5EF4-FFF2-40B4-BE49-F238E27FC236}">
                  <a16:creationId xmlns:a16="http://schemas.microsoft.com/office/drawing/2014/main" id="{A4C2A44F-F9E1-D40A-0686-A4A425A98800}"/>
                </a:ext>
              </a:extLst>
            </p:cNvPr>
            <p:cNvSpPr txBox="1"/>
            <p:nvPr/>
          </p:nvSpPr>
          <p:spPr>
            <a:xfrm>
              <a:off x="6897325" y="1257950"/>
              <a:ext cx="1536300" cy="748800"/>
            </a:xfrm>
            <a:prstGeom prst="rect">
              <a:avLst/>
            </a:prstGeom>
            <a:noFill/>
            <a:ln>
              <a:noFill/>
            </a:ln>
          </p:spPr>
          <p:txBody>
            <a:bodyPr spcFirstLastPara="1" wrap="square" lIns="91425" tIns="91425" rIns="91425" bIns="91425" anchor="ctr" anchorCtr="0">
              <a:noAutofit/>
            </a:bodyPr>
            <a:lstStyle/>
            <a:p>
              <a:pPr lvl="0" algn="r"/>
              <a:endParaRPr lang="fa-IR" sz="1200" dirty="0">
                <a:latin typeface="Roboto"/>
                <a:ea typeface="Roboto"/>
                <a:cs typeface="IRAN Sans" panose="020B0400000000000000" pitchFamily="34" charset="-78"/>
                <a:sym typeface="Roboto"/>
              </a:endParaRPr>
            </a:p>
          </p:txBody>
        </p:sp>
      </p:grpSp>
      <p:grpSp>
        <p:nvGrpSpPr>
          <p:cNvPr id="13" name="Google Shape;1372;p41">
            <a:extLst>
              <a:ext uri="{FF2B5EF4-FFF2-40B4-BE49-F238E27FC236}">
                <a16:creationId xmlns:a16="http://schemas.microsoft.com/office/drawing/2014/main" id="{5BCC91D0-B3C8-323A-FAF4-657E3B3EB518}"/>
              </a:ext>
            </a:extLst>
          </p:cNvPr>
          <p:cNvGrpSpPr/>
          <p:nvPr/>
        </p:nvGrpSpPr>
        <p:grpSpPr>
          <a:xfrm>
            <a:off x="4850901" y="2765653"/>
            <a:ext cx="1838286" cy="848272"/>
            <a:chOff x="4734075" y="3344669"/>
            <a:chExt cx="1916950" cy="898856"/>
          </a:xfrm>
        </p:grpSpPr>
        <p:sp>
          <p:nvSpPr>
            <p:cNvPr id="14" name="Google Shape;1373;p41">
              <a:extLst>
                <a:ext uri="{FF2B5EF4-FFF2-40B4-BE49-F238E27FC236}">
                  <a16:creationId xmlns:a16="http://schemas.microsoft.com/office/drawing/2014/main" id="{3175AE72-6643-337E-CBEC-07FDB9EB8593}"/>
                </a:ext>
              </a:extLst>
            </p:cNvPr>
            <p:cNvSpPr/>
            <p:nvPr/>
          </p:nvSpPr>
          <p:spPr>
            <a:xfrm>
              <a:off x="5496625" y="3832225"/>
              <a:ext cx="1154400" cy="4113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dirty="0">
                  <a:solidFill>
                    <a:schemeClr val="lt1"/>
                  </a:solidFill>
                  <a:latin typeface="Fira Sans Extra Condensed Medium"/>
                  <a:cs typeface="IRAN Sans" panose="020B0400000000000000" pitchFamily="34" charset="-78"/>
                  <a:sym typeface="Fira Sans Extra Condensed Medium"/>
                </a:rPr>
                <a:t>سنگ بادبر</a:t>
              </a:r>
              <a:endParaRPr dirty="0"/>
            </a:p>
          </p:txBody>
        </p:sp>
        <p:sp>
          <p:nvSpPr>
            <p:cNvPr id="15" name="Google Shape;1374;p41">
              <a:extLst>
                <a:ext uri="{FF2B5EF4-FFF2-40B4-BE49-F238E27FC236}">
                  <a16:creationId xmlns:a16="http://schemas.microsoft.com/office/drawing/2014/main" id="{0886F293-FD2A-6F0A-090F-AF6F4DCC3F26}"/>
                </a:ext>
              </a:extLst>
            </p:cNvPr>
            <p:cNvSpPr/>
            <p:nvPr/>
          </p:nvSpPr>
          <p:spPr>
            <a:xfrm>
              <a:off x="4734075" y="3344669"/>
              <a:ext cx="1318708" cy="411356"/>
            </a:xfrm>
            <a:custGeom>
              <a:avLst/>
              <a:gdLst/>
              <a:ahLst/>
              <a:cxnLst/>
              <a:rect l="l" t="t" r="r" b="b"/>
              <a:pathLst>
                <a:path w="55507" h="15182" fill="none" extrusionOk="0">
                  <a:moveTo>
                    <a:pt x="0" y="1"/>
                  </a:moveTo>
                  <a:lnTo>
                    <a:pt x="0" y="9371"/>
                  </a:lnTo>
                  <a:lnTo>
                    <a:pt x="55507" y="9371"/>
                  </a:lnTo>
                  <a:lnTo>
                    <a:pt x="55507" y="1518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 name="Google Shape;1376;p41">
            <a:extLst>
              <a:ext uri="{FF2B5EF4-FFF2-40B4-BE49-F238E27FC236}">
                <a16:creationId xmlns:a16="http://schemas.microsoft.com/office/drawing/2014/main" id="{A3A47963-E1FD-7A93-D789-9A3321FF3CCB}"/>
              </a:ext>
            </a:extLst>
          </p:cNvPr>
          <p:cNvGrpSpPr/>
          <p:nvPr/>
        </p:nvGrpSpPr>
        <p:grpSpPr>
          <a:xfrm>
            <a:off x="2701718" y="951492"/>
            <a:ext cx="1832150" cy="848246"/>
            <a:chOff x="2492925" y="1422325"/>
            <a:chExt cx="1910551" cy="898829"/>
          </a:xfrm>
        </p:grpSpPr>
        <p:sp>
          <p:nvSpPr>
            <p:cNvPr id="17" name="Google Shape;1377;p41">
              <a:extLst>
                <a:ext uri="{FF2B5EF4-FFF2-40B4-BE49-F238E27FC236}">
                  <a16:creationId xmlns:a16="http://schemas.microsoft.com/office/drawing/2014/main" id="{438076A3-D36D-5229-67D0-E1001DE52525}"/>
                </a:ext>
              </a:extLst>
            </p:cNvPr>
            <p:cNvSpPr/>
            <p:nvPr/>
          </p:nvSpPr>
          <p:spPr>
            <a:xfrm>
              <a:off x="2492925" y="1422325"/>
              <a:ext cx="1154400" cy="4113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700" dirty="0">
                  <a:solidFill>
                    <a:schemeClr val="lt1"/>
                  </a:solidFill>
                  <a:latin typeface="Fira Sans Extra Condensed Medium"/>
                  <a:ea typeface="Fira Sans Extra Condensed Medium"/>
                  <a:cs typeface="IRAN Sans" panose="020B0400000000000000" pitchFamily="34" charset="-78"/>
                  <a:sym typeface="Fira Sans Extra Condensed Medium"/>
                </a:rPr>
                <a:t>سنگ اندازه</a:t>
              </a:r>
              <a:endParaRPr dirty="0"/>
            </a:p>
          </p:txBody>
        </p:sp>
        <p:sp>
          <p:nvSpPr>
            <p:cNvPr id="18" name="Google Shape;1378;p41">
              <a:extLst>
                <a:ext uri="{FF2B5EF4-FFF2-40B4-BE49-F238E27FC236}">
                  <a16:creationId xmlns:a16="http://schemas.microsoft.com/office/drawing/2014/main" id="{A5209A72-3258-B576-1947-A0CE03597B23}"/>
                </a:ext>
              </a:extLst>
            </p:cNvPr>
            <p:cNvSpPr/>
            <p:nvPr/>
          </p:nvSpPr>
          <p:spPr>
            <a:xfrm>
              <a:off x="3084776" y="1909825"/>
              <a:ext cx="1318700" cy="411329"/>
            </a:xfrm>
            <a:custGeom>
              <a:avLst/>
              <a:gdLst/>
              <a:ahLst/>
              <a:cxnLst/>
              <a:rect l="l" t="t" r="r" b="b"/>
              <a:pathLst>
                <a:path w="55495" h="15181" fill="none" extrusionOk="0">
                  <a:moveTo>
                    <a:pt x="0" y="0"/>
                  </a:moveTo>
                  <a:lnTo>
                    <a:pt x="0" y="6144"/>
                  </a:lnTo>
                  <a:lnTo>
                    <a:pt x="55495" y="6144"/>
                  </a:lnTo>
                  <a:lnTo>
                    <a:pt x="55495" y="1518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 name="Google Shape;1380;p41">
            <a:extLst>
              <a:ext uri="{FF2B5EF4-FFF2-40B4-BE49-F238E27FC236}">
                <a16:creationId xmlns:a16="http://schemas.microsoft.com/office/drawing/2014/main" id="{A0C48F3E-4815-B5C4-1F6F-5473531D1D4E}"/>
              </a:ext>
            </a:extLst>
          </p:cNvPr>
          <p:cNvGrpSpPr/>
          <p:nvPr/>
        </p:nvGrpSpPr>
        <p:grpSpPr>
          <a:xfrm>
            <a:off x="2701718" y="2765653"/>
            <a:ext cx="1832150" cy="848272"/>
            <a:chOff x="2492925" y="3344669"/>
            <a:chExt cx="1910551" cy="898856"/>
          </a:xfrm>
        </p:grpSpPr>
        <p:sp>
          <p:nvSpPr>
            <p:cNvPr id="20" name="Google Shape;1381;p41">
              <a:extLst>
                <a:ext uri="{FF2B5EF4-FFF2-40B4-BE49-F238E27FC236}">
                  <a16:creationId xmlns:a16="http://schemas.microsoft.com/office/drawing/2014/main" id="{999F7C48-CBB8-F594-304E-A786A1F9720F}"/>
                </a:ext>
              </a:extLst>
            </p:cNvPr>
            <p:cNvSpPr/>
            <p:nvPr/>
          </p:nvSpPr>
          <p:spPr>
            <a:xfrm>
              <a:off x="2492925" y="3832225"/>
              <a:ext cx="1154400" cy="4113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200" b="1" dirty="0">
                  <a:solidFill>
                    <a:schemeClr val="lt1"/>
                  </a:solidFill>
                  <a:latin typeface="Fira Sans Extra Condensed Medium"/>
                  <a:cs typeface="IRAN Sans" panose="020B0400000000000000" pitchFamily="34" charset="-78"/>
                  <a:sym typeface="Fira Sans Extra Condensed Medium"/>
                </a:rPr>
                <a:t>سنگ بادکوبه‌ای</a:t>
              </a:r>
              <a:endParaRPr sz="1050" b="1" dirty="0"/>
            </a:p>
          </p:txBody>
        </p:sp>
        <p:sp>
          <p:nvSpPr>
            <p:cNvPr id="27" name="Google Shape;1382;p41">
              <a:extLst>
                <a:ext uri="{FF2B5EF4-FFF2-40B4-BE49-F238E27FC236}">
                  <a16:creationId xmlns:a16="http://schemas.microsoft.com/office/drawing/2014/main" id="{C2BD24CF-7159-2F52-E309-0D0FAC5E80D5}"/>
                </a:ext>
              </a:extLst>
            </p:cNvPr>
            <p:cNvSpPr/>
            <p:nvPr/>
          </p:nvSpPr>
          <p:spPr>
            <a:xfrm>
              <a:off x="3084776" y="3344669"/>
              <a:ext cx="1318700" cy="411356"/>
            </a:xfrm>
            <a:custGeom>
              <a:avLst/>
              <a:gdLst/>
              <a:ahLst/>
              <a:cxnLst/>
              <a:rect l="l" t="t" r="r" b="b"/>
              <a:pathLst>
                <a:path w="55495" h="15182" fill="none" extrusionOk="0">
                  <a:moveTo>
                    <a:pt x="0" y="15181"/>
                  </a:moveTo>
                  <a:lnTo>
                    <a:pt x="0" y="9026"/>
                  </a:lnTo>
                  <a:lnTo>
                    <a:pt x="55495" y="9026"/>
                  </a:lnTo>
                  <a:lnTo>
                    <a:pt x="55495" y="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Google Shape;1377;p41">
            <a:extLst>
              <a:ext uri="{FF2B5EF4-FFF2-40B4-BE49-F238E27FC236}">
                <a16:creationId xmlns:a16="http://schemas.microsoft.com/office/drawing/2014/main" id="{8770828D-7CF9-1949-AF33-17209D6408D9}"/>
              </a:ext>
            </a:extLst>
          </p:cNvPr>
          <p:cNvSpPr/>
          <p:nvPr/>
        </p:nvSpPr>
        <p:spPr>
          <a:xfrm>
            <a:off x="4067942" y="461612"/>
            <a:ext cx="1107028" cy="388153"/>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200" b="1" dirty="0">
                <a:solidFill>
                  <a:schemeClr val="lt1"/>
                </a:solidFill>
                <a:latin typeface="Fira Sans Extra Condensed Medium"/>
                <a:cs typeface="IRAN Sans" panose="020B0400000000000000" pitchFamily="34" charset="-78"/>
                <a:sym typeface="Fira Sans Extra Condensed Medium"/>
              </a:rPr>
              <a:t>سنگ تمام تراش</a:t>
            </a:r>
            <a:endParaRPr sz="1050" b="1" dirty="0"/>
          </a:p>
        </p:txBody>
      </p:sp>
      <p:sp>
        <p:nvSpPr>
          <p:cNvPr id="29" name="Google Shape;1381;p41">
            <a:extLst>
              <a:ext uri="{FF2B5EF4-FFF2-40B4-BE49-F238E27FC236}">
                <a16:creationId xmlns:a16="http://schemas.microsoft.com/office/drawing/2014/main" id="{7D6A4F1E-9B27-D9BB-EB6D-9EB2F19FFE18}"/>
              </a:ext>
            </a:extLst>
          </p:cNvPr>
          <p:cNvSpPr/>
          <p:nvPr/>
        </p:nvSpPr>
        <p:spPr>
          <a:xfrm>
            <a:off x="4155039" y="3646491"/>
            <a:ext cx="1107028" cy="388154"/>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600" dirty="0">
                <a:solidFill>
                  <a:schemeClr val="lt1"/>
                </a:solidFill>
                <a:latin typeface="Fira Sans Extra Condensed Medium"/>
                <a:cs typeface="IRAN Sans" panose="020B0400000000000000" pitchFamily="34" charset="-78"/>
                <a:sym typeface="Fira Sans Extra Condensed Medium"/>
              </a:rPr>
              <a:t>سنگ مکعبی</a:t>
            </a:r>
            <a:endParaRPr sz="1200" dirty="0"/>
          </a:p>
        </p:txBody>
      </p:sp>
      <p:sp>
        <p:nvSpPr>
          <p:cNvPr id="30" name="Google Shape;1370;p41">
            <a:extLst>
              <a:ext uri="{FF2B5EF4-FFF2-40B4-BE49-F238E27FC236}">
                <a16:creationId xmlns:a16="http://schemas.microsoft.com/office/drawing/2014/main" id="{C99B5DC1-5B05-D7FD-4DC2-8FA5AA5F91AE}"/>
              </a:ext>
            </a:extLst>
          </p:cNvPr>
          <p:cNvSpPr/>
          <p:nvPr/>
        </p:nvSpPr>
        <p:spPr>
          <a:xfrm rot="5400000">
            <a:off x="4259538" y="1361705"/>
            <a:ext cx="818207" cy="53575"/>
          </a:xfrm>
          <a:custGeom>
            <a:avLst/>
            <a:gdLst/>
            <a:ahLst/>
            <a:cxnLst/>
            <a:rect l="l" t="t" r="r" b="b"/>
            <a:pathLst>
              <a:path w="55507" h="15181" fill="none" extrusionOk="0">
                <a:moveTo>
                  <a:pt x="0" y="15181"/>
                </a:moveTo>
                <a:lnTo>
                  <a:pt x="0" y="5810"/>
                </a:lnTo>
                <a:lnTo>
                  <a:pt x="55507" y="5810"/>
                </a:lnTo>
                <a:lnTo>
                  <a:pt x="55507" y="0"/>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70;p41">
            <a:extLst>
              <a:ext uri="{FF2B5EF4-FFF2-40B4-BE49-F238E27FC236}">
                <a16:creationId xmlns:a16="http://schemas.microsoft.com/office/drawing/2014/main" id="{0BF9F09E-DEEE-EB75-8B71-F26235935460}"/>
              </a:ext>
            </a:extLst>
          </p:cNvPr>
          <p:cNvSpPr/>
          <p:nvPr/>
        </p:nvSpPr>
        <p:spPr>
          <a:xfrm rot="5400000">
            <a:off x="4283282" y="3157609"/>
            <a:ext cx="818207" cy="53575"/>
          </a:xfrm>
          <a:custGeom>
            <a:avLst/>
            <a:gdLst/>
            <a:ahLst/>
            <a:cxnLst/>
            <a:rect l="l" t="t" r="r" b="b"/>
            <a:pathLst>
              <a:path w="55507" h="15181" fill="none" extrusionOk="0">
                <a:moveTo>
                  <a:pt x="0" y="15181"/>
                </a:moveTo>
                <a:lnTo>
                  <a:pt x="0" y="5810"/>
                </a:lnTo>
                <a:lnTo>
                  <a:pt x="55507" y="5810"/>
                </a:lnTo>
                <a:lnTo>
                  <a:pt x="55507" y="0"/>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928961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10" presetClass="entr" presetSubtype="0" fill="hold" grpId="0" nodeType="after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500"/>
                                        <p:tgtEl>
                                          <p:spTgt spid="5"/>
                                        </p:tgtEl>
                                      </p:cBhvr>
                                    </p:animEffect>
                                  </p:childTnLst>
                                </p:cTn>
                              </p:par>
                            </p:childTnLst>
                          </p:cTn>
                        </p:par>
                        <p:par>
                          <p:cTn id="35" fill="hold">
                            <p:stCondLst>
                              <p:cond delay="2550"/>
                            </p:stCondLst>
                            <p:childTnLst>
                              <p:par>
                                <p:cTn id="36" presetID="22" presetClass="entr" presetSubtype="4" fill="hold"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wipe(down)">
                                      <p:cBhvr>
                                        <p:cTn id="38" dur="1000"/>
                                        <p:tgtEl>
                                          <p:spTgt spid="9"/>
                                        </p:tgtEl>
                                      </p:cBhvr>
                                    </p:animEffect>
                                  </p:childTnLst>
                                </p:cTn>
                              </p:par>
                              <p:par>
                                <p:cTn id="39" presetID="22" presetClass="entr" presetSubtype="4" fill="hold"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ipe(down)">
                                      <p:cBhvr>
                                        <p:cTn id="41" dur="1000"/>
                                        <p:tgtEl>
                                          <p:spTgt spid="16"/>
                                        </p:tgtEl>
                                      </p:cBhvr>
                                    </p:animEffect>
                                  </p:childTnLst>
                                </p:cTn>
                              </p:par>
                            </p:childTnLst>
                          </p:cTn>
                        </p:par>
                        <p:par>
                          <p:cTn id="42" fill="hold">
                            <p:stCondLst>
                              <p:cond delay="3550"/>
                            </p:stCondLst>
                            <p:childTnLst>
                              <p:par>
                                <p:cTn id="43" presetID="22" presetClass="entr" presetSubtype="8" fill="hold"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wipe(left)">
                                      <p:cBhvr>
                                        <p:cTn id="45" dur="1000"/>
                                        <p:tgtEl>
                                          <p:spTgt spid="6"/>
                                        </p:tgtEl>
                                      </p:cBhvr>
                                    </p:animEffect>
                                  </p:childTnLst>
                                </p:cTn>
                              </p:par>
                              <p:par>
                                <p:cTn id="46" presetID="22" presetClass="entr" presetSubtype="2" fill="hold" nodeType="withEffect">
                                  <p:stCondLst>
                                    <p:cond delay="0"/>
                                  </p:stCondLst>
                                  <p:childTnLst>
                                    <p:set>
                                      <p:cBhvr>
                                        <p:cTn id="47" dur="1" fill="hold">
                                          <p:stCondLst>
                                            <p:cond delay="0"/>
                                          </p:stCondLst>
                                        </p:cTn>
                                        <p:tgtEl>
                                          <p:spTgt spid="2"/>
                                        </p:tgtEl>
                                        <p:attrNameLst>
                                          <p:attrName>style.visibility</p:attrName>
                                        </p:attrNameLst>
                                      </p:cBhvr>
                                      <p:to>
                                        <p:strVal val="visible"/>
                                      </p:to>
                                    </p:set>
                                    <p:animEffect transition="in" filter="wipe(right)">
                                      <p:cBhvr>
                                        <p:cTn id="48" dur="1000"/>
                                        <p:tgtEl>
                                          <p:spTgt spid="2"/>
                                        </p:tgtEl>
                                      </p:cBhvr>
                                    </p:animEffect>
                                  </p:childTnLst>
                                </p:cTn>
                              </p:par>
                            </p:childTnLst>
                          </p:cTn>
                        </p:par>
                        <p:par>
                          <p:cTn id="49" fill="hold">
                            <p:stCondLst>
                              <p:cond delay="4550"/>
                            </p:stCondLst>
                            <p:childTnLst>
                              <p:par>
                                <p:cTn id="50" presetID="22" presetClass="entr" presetSubtype="1" fill="hold" nodeType="after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wipe(up)">
                                      <p:cBhvr>
                                        <p:cTn id="52" dur="1000"/>
                                        <p:tgtEl>
                                          <p:spTgt spid="13"/>
                                        </p:tgtEl>
                                      </p:cBhvr>
                                    </p:animEffect>
                                  </p:childTnLst>
                                </p:cTn>
                              </p:par>
                              <p:par>
                                <p:cTn id="53" presetID="22" presetClass="entr" presetSubtype="1" fill="hold"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wipe(up)">
                                      <p:cBhvr>
                                        <p:cTn id="55" dur="1000"/>
                                        <p:tgtEl>
                                          <p:spTgt spid="19"/>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wipe(down)">
                                      <p:cBhvr>
                                        <p:cTn id="58" dur="500"/>
                                        <p:tgtEl>
                                          <p:spTgt spid="28"/>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wipe(down)">
                                      <p:cBhvr>
                                        <p:cTn id="61" dur="500"/>
                                        <p:tgtEl>
                                          <p:spTgt spid="29"/>
                                        </p:tgtEl>
                                      </p:cBhvr>
                                    </p:animEffect>
                                  </p:childTnLst>
                                </p:cTn>
                              </p:par>
                            </p:childTnLst>
                          </p:cTn>
                        </p:par>
                        <p:par>
                          <p:cTn id="62" fill="hold">
                            <p:stCondLst>
                              <p:cond delay="5550"/>
                            </p:stCondLst>
                            <p:childTnLst>
                              <p:par>
                                <p:cTn id="63" presetID="22" presetClass="entr" presetSubtype="4" fill="hold" grpId="0" nodeType="afterEffect">
                                  <p:stCondLst>
                                    <p:cond delay="0"/>
                                  </p:stCondLst>
                                  <p:childTnLst>
                                    <p:set>
                                      <p:cBhvr>
                                        <p:cTn id="64" dur="1" fill="hold">
                                          <p:stCondLst>
                                            <p:cond delay="0"/>
                                          </p:stCondLst>
                                        </p:cTn>
                                        <p:tgtEl>
                                          <p:spTgt spid="30"/>
                                        </p:tgtEl>
                                        <p:attrNameLst>
                                          <p:attrName>style.visibility</p:attrName>
                                        </p:attrNameLst>
                                      </p:cBhvr>
                                      <p:to>
                                        <p:strVal val="visible"/>
                                      </p:to>
                                    </p:set>
                                    <p:animEffect transition="in" filter="wipe(down)">
                                      <p:cBhvr>
                                        <p:cTn id="65" dur="500"/>
                                        <p:tgtEl>
                                          <p:spTgt spid="30"/>
                                        </p:tgtEl>
                                      </p:cBhvr>
                                    </p:animEffect>
                                  </p:childTnLst>
                                </p:cTn>
                              </p:par>
                            </p:childTnLst>
                          </p:cTn>
                        </p:par>
                        <p:par>
                          <p:cTn id="66" fill="hold">
                            <p:stCondLst>
                              <p:cond delay="6050"/>
                            </p:stCondLst>
                            <p:childTnLst>
                              <p:par>
                                <p:cTn id="67" presetID="22" presetClass="entr" presetSubtype="4" fill="hold" grpId="0" nodeType="after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wipe(down)">
                                      <p:cBhvr>
                                        <p:cTn id="69"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5" grpId="0" animBg="1"/>
      <p:bldP spid="28" grpId="0" animBg="1"/>
      <p:bldP spid="29" grpId="0" animBg="1"/>
      <p:bldP spid="30" grpId="0" animBg="1"/>
      <p:bldP spid="3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935505" y="230661"/>
            <a:ext cx="2892831"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2"/>
                </a:solidFill>
                <a:cs typeface="IRAN Sans" panose="020B0400000000000000" pitchFamily="34" charset="-78"/>
              </a:rPr>
              <a:t>نکات اصولی در دیوارسازی سنگی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14</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48AD8D64-E890-4433-B53C-BE71B2F0E57B}"/>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885A6C0F-278B-4DEE-96A8-D0F43787709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24;p20">
            <a:hlinkClick r:id="rId5" action="ppaction://hlinksldjump"/>
            <a:extLst>
              <a:ext uri="{FF2B5EF4-FFF2-40B4-BE49-F238E27FC236}">
                <a16:creationId xmlns:a16="http://schemas.microsoft.com/office/drawing/2014/main" id="{26036964-24EB-406B-A544-1AB72BF838C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 </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6" action="ppaction://hlinksldjump"/>
            <a:extLst>
              <a:ext uri="{FF2B5EF4-FFF2-40B4-BE49-F238E27FC236}">
                <a16:creationId xmlns:a16="http://schemas.microsoft.com/office/drawing/2014/main" id="{9124B5F2-B854-4535-93B3-782FFFF6CC2E}"/>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A30402F0-F605-4AD7-9605-ACFA5B4963EE}"/>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B0265804-31A9-6D79-AC4D-7A70327EA72F}"/>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ملات بین دوسنگ نباید ضخیم باشد. حداکثر ضخامت مجاز ملات، ۴ سانتیمتر است(به استثنای دیوار بدون رج با نمای نامرتب ) .</a:t>
            </a:r>
            <a:endParaRPr sz="1600"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381FE55B-BAD9-C22D-984C-228724EB8D11}"/>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ارتفاع سنگ ، هیچگاه نباید از عرض (قاعده) سنگ بزرگتر شود.</a:t>
            </a:r>
          </a:p>
        </p:txBody>
      </p:sp>
      <p:sp>
        <p:nvSpPr>
          <p:cNvPr id="4" name="Google Shape;1169;p37">
            <a:extLst>
              <a:ext uri="{FF2B5EF4-FFF2-40B4-BE49-F238E27FC236}">
                <a16:creationId xmlns:a16="http://schemas.microsoft.com/office/drawing/2014/main" id="{D7B46EEA-EDA2-35AC-5D8E-3D6047C8797F}"/>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سنگهایی که زوایای تیز و شکننده دارند (لاشه) نباید استفاده شود، مگر اینکه قبلا گوشه های تیز آن زده شود (قواره).</a:t>
            </a:r>
          </a:p>
        </p:txBody>
      </p:sp>
      <p:sp>
        <p:nvSpPr>
          <p:cNvPr id="5" name="Google Shape;1170;p37">
            <a:extLst>
              <a:ext uri="{FF2B5EF4-FFF2-40B4-BE49-F238E27FC236}">
                <a16:creationId xmlns:a16="http://schemas.microsoft.com/office/drawing/2014/main" id="{23542122-8CA5-7ABF-198B-A9D25F6BE55E}"/>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ادامه یافتن درزهای قائم جلوگیری شود.</a:t>
            </a:r>
          </a:p>
        </p:txBody>
      </p:sp>
      <p:sp>
        <p:nvSpPr>
          <p:cNvPr id="6" name="Google Shape;1171;p37">
            <a:extLst>
              <a:ext uri="{FF2B5EF4-FFF2-40B4-BE49-F238E27FC236}">
                <a16:creationId xmlns:a16="http://schemas.microsoft.com/office/drawing/2014/main" id="{A6670692-8316-EA3C-902C-25085603AECF}"/>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EF195D1A-453D-324A-6AC2-F0F61D18476E}"/>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F5CAA738-674C-FDD9-7EE6-8D16AD1F8B83}"/>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174;p37">
              <a:extLst>
                <a:ext uri="{FF2B5EF4-FFF2-40B4-BE49-F238E27FC236}">
                  <a16:creationId xmlns:a16="http://schemas.microsoft.com/office/drawing/2014/main" id="{5BE0B3E6-CA86-4077-392D-5C3FA3A1C114}"/>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a:t>
              </a:r>
              <a:endParaRPr sz="1500" dirty="0"/>
            </a:p>
          </p:txBody>
        </p:sp>
      </p:grpSp>
      <p:grpSp>
        <p:nvGrpSpPr>
          <p:cNvPr id="11" name="Google Shape;1177;p37">
            <a:extLst>
              <a:ext uri="{FF2B5EF4-FFF2-40B4-BE49-F238E27FC236}">
                <a16:creationId xmlns:a16="http://schemas.microsoft.com/office/drawing/2014/main" id="{6241D6DD-E036-B96A-D8DE-4FA46ED802EF}"/>
              </a:ext>
            </a:extLst>
          </p:cNvPr>
          <p:cNvGrpSpPr/>
          <p:nvPr/>
        </p:nvGrpSpPr>
        <p:grpSpPr>
          <a:xfrm>
            <a:off x="1017449" y="1584708"/>
            <a:ext cx="576000" cy="576000"/>
            <a:chOff x="710265" y="2213902"/>
            <a:chExt cx="715680" cy="715729"/>
          </a:xfrm>
        </p:grpSpPr>
        <p:sp>
          <p:nvSpPr>
            <p:cNvPr id="12" name="Google Shape;1178;p37">
              <a:extLst>
                <a:ext uri="{FF2B5EF4-FFF2-40B4-BE49-F238E27FC236}">
                  <a16:creationId xmlns:a16="http://schemas.microsoft.com/office/drawing/2014/main" id="{B60BAC5D-6677-3C64-0E41-3A9958334349}"/>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179;p37">
              <a:extLst>
                <a:ext uri="{FF2B5EF4-FFF2-40B4-BE49-F238E27FC236}">
                  <a16:creationId xmlns:a16="http://schemas.microsoft.com/office/drawing/2014/main" id="{A032C026-CB14-03C4-0C0A-42024BBE7632}"/>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2</a:t>
              </a:r>
              <a:endParaRPr sz="1500" dirty="0"/>
            </a:p>
          </p:txBody>
        </p:sp>
      </p:grpSp>
      <p:grpSp>
        <p:nvGrpSpPr>
          <p:cNvPr id="14" name="Google Shape;1180;p37">
            <a:extLst>
              <a:ext uri="{FF2B5EF4-FFF2-40B4-BE49-F238E27FC236}">
                <a16:creationId xmlns:a16="http://schemas.microsoft.com/office/drawing/2014/main" id="{954A9854-64A1-5A8B-18F4-10B2CF920E68}"/>
              </a:ext>
            </a:extLst>
          </p:cNvPr>
          <p:cNvGrpSpPr/>
          <p:nvPr/>
        </p:nvGrpSpPr>
        <p:grpSpPr>
          <a:xfrm>
            <a:off x="1017449" y="2361082"/>
            <a:ext cx="576000" cy="576000"/>
            <a:chOff x="710265" y="3306227"/>
            <a:chExt cx="715680" cy="715729"/>
          </a:xfrm>
        </p:grpSpPr>
        <p:sp>
          <p:nvSpPr>
            <p:cNvPr id="15" name="Google Shape;1181;p37">
              <a:extLst>
                <a:ext uri="{FF2B5EF4-FFF2-40B4-BE49-F238E27FC236}">
                  <a16:creationId xmlns:a16="http://schemas.microsoft.com/office/drawing/2014/main" id="{2D80EE0F-6D02-2B3C-E603-84263EABB84D}"/>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 name="Google Shape;1182;p37">
              <a:extLst>
                <a:ext uri="{FF2B5EF4-FFF2-40B4-BE49-F238E27FC236}">
                  <a16:creationId xmlns:a16="http://schemas.microsoft.com/office/drawing/2014/main" id="{93A81008-70F6-4210-D0EA-02751461FB04}"/>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3</a:t>
              </a:r>
              <a:endParaRPr dirty="0">
                <a:cs typeface="IRAN Sans" panose="020B0400000000000000" pitchFamily="34" charset="-78"/>
              </a:endParaRPr>
            </a:p>
          </p:txBody>
        </p:sp>
      </p:grpSp>
      <p:sp>
        <p:nvSpPr>
          <p:cNvPr id="17" name="Google Shape;1183;p37">
            <a:extLst>
              <a:ext uri="{FF2B5EF4-FFF2-40B4-BE49-F238E27FC236}">
                <a16:creationId xmlns:a16="http://schemas.microsoft.com/office/drawing/2014/main" id="{418872D7-7485-73B2-6473-7112B919AEDA}"/>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84;p37">
            <a:extLst>
              <a:ext uri="{FF2B5EF4-FFF2-40B4-BE49-F238E27FC236}">
                <a16:creationId xmlns:a16="http://schemas.microsoft.com/office/drawing/2014/main" id="{6802A498-79AB-B72F-CB8D-497A7DF30E1D}"/>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 name="Google Shape;1180;p37">
            <a:extLst>
              <a:ext uri="{FF2B5EF4-FFF2-40B4-BE49-F238E27FC236}">
                <a16:creationId xmlns:a16="http://schemas.microsoft.com/office/drawing/2014/main" id="{74E50005-0946-AF75-96F8-060AF066CC90}"/>
              </a:ext>
            </a:extLst>
          </p:cNvPr>
          <p:cNvGrpSpPr/>
          <p:nvPr/>
        </p:nvGrpSpPr>
        <p:grpSpPr>
          <a:xfrm>
            <a:off x="1017449" y="3143006"/>
            <a:ext cx="576000" cy="576000"/>
            <a:chOff x="710265" y="3306227"/>
            <a:chExt cx="715680" cy="715729"/>
          </a:xfrm>
        </p:grpSpPr>
        <p:sp>
          <p:nvSpPr>
            <p:cNvPr id="20" name="Google Shape;1181;p37">
              <a:extLst>
                <a:ext uri="{FF2B5EF4-FFF2-40B4-BE49-F238E27FC236}">
                  <a16:creationId xmlns:a16="http://schemas.microsoft.com/office/drawing/2014/main" id="{2D61D17E-3D89-619F-C9C1-B4A37D10FD0F}"/>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82;p37">
              <a:extLst>
                <a:ext uri="{FF2B5EF4-FFF2-40B4-BE49-F238E27FC236}">
                  <a16:creationId xmlns:a16="http://schemas.microsoft.com/office/drawing/2014/main" id="{567B3A46-6202-F1DA-5CB7-1678BEE7507B}"/>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4</a:t>
              </a:r>
              <a:endParaRPr sz="1500" dirty="0"/>
            </a:p>
          </p:txBody>
        </p:sp>
      </p:grpSp>
    </p:spTree>
    <p:extLst>
      <p:ext uri="{BB962C8B-B14F-4D97-AF65-F5344CB8AC3E}">
        <p14:creationId xmlns:p14="http://schemas.microsoft.com/office/powerpoint/2010/main" val="38797266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up)">
                                      <p:cBhvr>
                                        <p:cTn id="53" dur="500"/>
                                        <p:tgtEl>
                                          <p:spTgt spid="17"/>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8"/>
                                        </p:tgtEl>
                                        <p:attrNameLst>
                                          <p:attrName>style.visibility</p:attrName>
                                        </p:attrNameLst>
                                      </p:cBhvr>
                                      <p:to>
                                        <p:strVal val="visible"/>
                                      </p:to>
                                    </p:set>
                                    <p:animEffect transition="in" filter="wipe(up)">
                                      <p:cBhvr>
                                        <p:cTn id="65" dur="500"/>
                                        <p:tgtEl>
                                          <p:spTgt spid="18"/>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fade">
                                      <p:cBhvr>
                                        <p:cTn id="7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7" grpId="0" animBg="1"/>
      <p:bldP spid="1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935505" y="230661"/>
            <a:ext cx="2892831"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نکات اصولی در دیوارسازی سنگی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15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48AD8D64-E890-4433-B53C-BE71B2F0E57B}"/>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885A6C0F-278B-4DEE-96A8-D0F43787709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24;p20">
            <a:hlinkClick r:id="rId5" action="ppaction://hlinksldjump"/>
            <a:extLst>
              <a:ext uri="{FF2B5EF4-FFF2-40B4-BE49-F238E27FC236}">
                <a16:creationId xmlns:a16="http://schemas.microsoft.com/office/drawing/2014/main" id="{26036964-24EB-406B-A544-1AB72BF838C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 </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6" action="ppaction://hlinksldjump"/>
            <a:extLst>
              <a:ext uri="{FF2B5EF4-FFF2-40B4-BE49-F238E27FC236}">
                <a16:creationId xmlns:a16="http://schemas.microsoft.com/office/drawing/2014/main" id="{9124B5F2-B854-4535-93B3-782FFFF6CC2E}"/>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A30402F0-F605-4AD7-9605-ACFA5B4963EE}"/>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E56CC595-1160-8674-AE35-0D9CD042590B}"/>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dirty="0">
                <a:solidFill>
                  <a:srgbClr val="FFFFFF"/>
                </a:solidFill>
                <a:latin typeface="Roboto"/>
                <a:ea typeface="Roboto"/>
                <a:cs typeface="IRAN Sans" panose="020B0400000000000000" pitchFamily="34" charset="-78"/>
                <a:sym typeface="Roboto"/>
              </a:rPr>
              <a:t> </a:t>
            </a:r>
            <a:r>
              <a:rPr lang="fa-IR" sz="1600" dirty="0">
                <a:solidFill>
                  <a:srgbClr val="FFFFFF"/>
                </a:solidFill>
                <a:latin typeface="Roboto"/>
                <a:ea typeface="Roboto"/>
                <a:cs typeface="IRAN Sans" panose="020B0400000000000000" pitchFamily="34" charset="-78"/>
                <a:sym typeface="Roboto"/>
              </a:rPr>
              <a:t>از تماس سنگها باهم( بدون ملات) باید خودداری شود (به استثنای دیوارهای خشکه چین سنگی. ) </a:t>
            </a:r>
            <a:endParaRPr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A70F5730-3556-0B45-66A8-C87F1D02A53F}"/>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کار گذاشتن سنگها به نحوی که رگه های سنگ به صورت مورب قرار گیرد ، باید خود داری شود . </a:t>
            </a:r>
          </a:p>
        </p:txBody>
      </p:sp>
      <p:sp>
        <p:nvSpPr>
          <p:cNvPr id="4" name="Google Shape;1169;p37">
            <a:extLst>
              <a:ext uri="{FF2B5EF4-FFF2-40B4-BE49-F238E27FC236}">
                <a16:creationId xmlns:a16="http://schemas.microsoft.com/office/drawing/2014/main" id="{C6723B60-A7AB-FD2A-5B44-3A67A29FD455}"/>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مصرف کردن سنگهای کاس (توگود) ، که خطر شکسته شدن دارند، باید خودداری شود. </a:t>
            </a:r>
          </a:p>
        </p:txBody>
      </p:sp>
      <p:sp>
        <p:nvSpPr>
          <p:cNvPr id="5" name="Google Shape;1170;p37">
            <a:extLst>
              <a:ext uri="{FF2B5EF4-FFF2-40B4-BE49-F238E27FC236}">
                <a16:creationId xmlns:a16="http://schemas.microsoft.com/office/drawing/2014/main" id="{C874DE1C-16AE-AAEA-49C9-537E3010AC56}"/>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رگه های سنگ باید همیشه به حالت افقی، یعنی حالت طبیعی در بسترشان و نه مانند موارد ۳ـ و ۷ـ قرار گیرند .</a:t>
            </a:r>
          </a:p>
        </p:txBody>
      </p:sp>
      <p:sp>
        <p:nvSpPr>
          <p:cNvPr id="6" name="Google Shape;1171;p37">
            <a:extLst>
              <a:ext uri="{FF2B5EF4-FFF2-40B4-BE49-F238E27FC236}">
                <a16:creationId xmlns:a16="http://schemas.microsoft.com/office/drawing/2014/main" id="{A4AE97B4-ABA6-1AA0-D202-45F58214B6B0}"/>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F832B055-5DBD-88A3-1E98-23216EA93CA4}"/>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E02283CA-CED1-0964-4E90-A19586D1AC04}"/>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18038049-9D96-1E6D-0B2E-2AD2B78EE1EE}"/>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5</a:t>
              </a:r>
              <a:endParaRPr sz="1500" dirty="0"/>
            </a:p>
          </p:txBody>
        </p:sp>
      </p:grpSp>
      <p:grpSp>
        <p:nvGrpSpPr>
          <p:cNvPr id="10" name="Google Shape;1177;p37">
            <a:extLst>
              <a:ext uri="{FF2B5EF4-FFF2-40B4-BE49-F238E27FC236}">
                <a16:creationId xmlns:a16="http://schemas.microsoft.com/office/drawing/2014/main" id="{D8C66E27-592A-8917-8C83-BF1FD179B87C}"/>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95326A97-20DA-A77A-4558-76AB68BAA99C}"/>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A1194A21-362B-266B-C5CA-E234589AAB52}"/>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6</a:t>
              </a:r>
              <a:endParaRPr sz="1500" dirty="0"/>
            </a:p>
          </p:txBody>
        </p:sp>
      </p:grpSp>
      <p:grpSp>
        <p:nvGrpSpPr>
          <p:cNvPr id="13" name="Google Shape;1180;p37">
            <a:extLst>
              <a:ext uri="{FF2B5EF4-FFF2-40B4-BE49-F238E27FC236}">
                <a16:creationId xmlns:a16="http://schemas.microsoft.com/office/drawing/2014/main" id="{0EEDBDC9-C3F4-8626-0C56-C1489F1EE712}"/>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84B62B41-31E0-70FC-50EB-C2AD7F8B9654}"/>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DB11FEFA-A5B7-5D3A-E25A-5737B8D42E94}"/>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7</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5D9F6802-B497-BCC3-C709-81D61FF1DA17}"/>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DEF4D733-2632-C4B2-FB25-7ECE83C2C1B2}"/>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CE927FBD-9E8C-E95C-D5F3-4BA50044BBAA}"/>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2580F0AD-3C90-8256-6581-96D2206FAC05}"/>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ADED2F99-41BC-BA50-4E56-E5274F5A0A1F}"/>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8</a:t>
              </a:r>
              <a:endParaRPr sz="1500" dirty="0"/>
            </a:p>
          </p:txBody>
        </p:sp>
      </p:grpSp>
    </p:spTree>
    <p:extLst>
      <p:ext uri="{BB962C8B-B14F-4D97-AF65-F5344CB8AC3E}">
        <p14:creationId xmlns:p14="http://schemas.microsoft.com/office/powerpoint/2010/main" val="27439036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935505" y="230661"/>
            <a:ext cx="2892831"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نکات اصولی در دیوارسازی سنگی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16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48AD8D64-E890-4433-B53C-BE71B2F0E57B}"/>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885A6C0F-278B-4DEE-96A8-D0F43787709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24;p20">
            <a:hlinkClick r:id="rId5" action="ppaction://hlinksldjump"/>
            <a:extLst>
              <a:ext uri="{FF2B5EF4-FFF2-40B4-BE49-F238E27FC236}">
                <a16:creationId xmlns:a16="http://schemas.microsoft.com/office/drawing/2014/main" id="{26036964-24EB-406B-A544-1AB72BF838C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 </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6" action="ppaction://hlinksldjump"/>
            <a:extLst>
              <a:ext uri="{FF2B5EF4-FFF2-40B4-BE49-F238E27FC236}">
                <a16:creationId xmlns:a16="http://schemas.microsoft.com/office/drawing/2014/main" id="{9124B5F2-B854-4535-93B3-782FFFF6CC2E}"/>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A30402F0-F605-4AD7-9605-ACFA5B4963EE}"/>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908D48AC-21C7-E654-7937-D5E6B9AEC67C}"/>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منظور حفظ زیبایی و همگنی دیوار ،باید سعی شود که سطح نمای سنگها با هم اختلاف زیادی نداشته باشد.</a:t>
            </a:r>
            <a:endParaRPr sz="1600"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78A948C1-51E5-528C-AD3D-C66104FB1358}"/>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 بهتر است از ایجاد درزهای مورب، به دلیل انتقال نامتجانس نیروها، پرهیز شود.</a:t>
            </a:r>
          </a:p>
        </p:txBody>
      </p:sp>
      <p:sp>
        <p:nvSpPr>
          <p:cNvPr id="4" name="Google Shape;1169;p37">
            <a:extLst>
              <a:ext uri="{FF2B5EF4-FFF2-40B4-BE49-F238E27FC236}">
                <a16:creationId xmlns:a16="http://schemas.microsoft.com/office/drawing/2014/main" id="{AAABDEB2-AA25-583E-1E0E-53B59F311782}"/>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سنگهایی که زوایای کمتر از ۹۰ درجه دارند، نباید استفاده شود (به استثنای دیوار بدون رج با نمای نامرتب ) .</a:t>
            </a:r>
          </a:p>
        </p:txBody>
      </p:sp>
      <p:sp>
        <p:nvSpPr>
          <p:cNvPr id="5" name="Google Shape;1170;p37">
            <a:extLst>
              <a:ext uri="{FF2B5EF4-FFF2-40B4-BE49-F238E27FC236}">
                <a16:creationId xmlns:a16="http://schemas.microsoft.com/office/drawing/2014/main" id="{1A0EE785-AC86-DBDE-D4FD-3AD78F61EDBA}"/>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ارتفاع سنگهای پای دیوار، یعنی فاصله اولین درز افقی تا زمین ، نباید از ۳۰ سانتیمتر کمترباشد.</a:t>
            </a:r>
          </a:p>
        </p:txBody>
      </p:sp>
      <p:sp>
        <p:nvSpPr>
          <p:cNvPr id="6" name="Google Shape;1171;p37">
            <a:extLst>
              <a:ext uri="{FF2B5EF4-FFF2-40B4-BE49-F238E27FC236}">
                <a16:creationId xmlns:a16="http://schemas.microsoft.com/office/drawing/2014/main" id="{2FC30549-7558-54D9-6686-F38E2C275484}"/>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AC7EE816-7420-0C9E-42B7-6F4F74A4D313}"/>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1667B61B-4AD3-4142-0A45-7A0C0196160E}"/>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2A5F7066-910F-DD6B-4E53-373E0A34E972}"/>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9</a:t>
              </a:r>
              <a:endParaRPr sz="1500" dirty="0"/>
            </a:p>
          </p:txBody>
        </p:sp>
      </p:grpSp>
      <p:grpSp>
        <p:nvGrpSpPr>
          <p:cNvPr id="10" name="Google Shape;1177;p37">
            <a:extLst>
              <a:ext uri="{FF2B5EF4-FFF2-40B4-BE49-F238E27FC236}">
                <a16:creationId xmlns:a16="http://schemas.microsoft.com/office/drawing/2014/main" id="{8FDCEE73-F3D6-6360-096B-169C57DCFC57}"/>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BA6498F9-FA6F-A5F7-CF26-1F325C1A314D}"/>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7B2AF572-9C7C-CB54-5F9D-AB9529320EC9}"/>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10</a:t>
              </a:r>
              <a:endParaRPr sz="1500" dirty="0"/>
            </a:p>
          </p:txBody>
        </p:sp>
      </p:grpSp>
      <p:grpSp>
        <p:nvGrpSpPr>
          <p:cNvPr id="13" name="Google Shape;1180;p37">
            <a:extLst>
              <a:ext uri="{FF2B5EF4-FFF2-40B4-BE49-F238E27FC236}">
                <a16:creationId xmlns:a16="http://schemas.microsoft.com/office/drawing/2014/main" id="{77775BD5-1907-300A-D4E7-A34BDBAC26F7}"/>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FC7AE3C9-CE32-90B6-82C7-C6FA5FA364AC}"/>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3BA22134-3DEE-A23B-F2E3-14D987A4F8F5}"/>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11</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4DFDD082-B254-8103-C42B-B58DBF944A9C}"/>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366E6CEB-EA6A-B7C6-810A-CD960065C167}"/>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0CE0D767-5E2C-5154-5EDB-D17DFFD890BB}"/>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CEC5A63F-349F-2ACD-4254-BE93311B6A23}"/>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74695B18-A1EC-5347-C3FB-BA3AB02608F5}"/>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12</a:t>
              </a:r>
              <a:endParaRPr sz="1500" dirty="0"/>
            </a:p>
          </p:txBody>
        </p:sp>
      </p:grpSp>
    </p:spTree>
    <p:extLst>
      <p:ext uri="{BB962C8B-B14F-4D97-AF65-F5344CB8AC3E}">
        <p14:creationId xmlns:p14="http://schemas.microsoft.com/office/powerpoint/2010/main" val="32636987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935505" y="230661"/>
            <a:ext cx="2892831"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نکات اصولی در دیوارسازی سنگی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17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48AD8D64-E890-4433-B53C-BE71B2F0E57B}"/>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885A6C0F-278B-4DEE-96A8-D0F43787709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24;p20">
            <a:hlinkClick r:id="rId5" action="ppaction://hlinksldjump"/>
            <a:extLst>
              <a:ext uri="{FF2B5EF4-FFF2-40B4-BE49-F238E27FC236}">
                <a16:creationId xmlns:a16="http://schemas.microsoft.com/office/drawing/2014/main" id="{26036964-24EB-406B-A544-1AB72BF838C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 </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6" action="ppaction://hlinksldjump"/>
            <a:extLst>
              <a:ext uri="{FF2B5EF4-FFF2-40B4-BE49-F238E27FC236}">
                <a16:creationId xmlns:a16="http://schemas.microsoft.com/office/drawing/2014/main" id="{9124B5F2-B854-4535-93B3-782FFFF6CC2E}"/>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A30402F0-F605-4AD7-9605-ACFA5B4963EE}"/>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04509143-32F6-A028-7773-D235B09654C4}"/>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مصرف کردن خرده سنگها در نمای دیوار باید خودداری شود .</a:t>
            </a:r>
            <a:endParaRPr sz="1600"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B7AE5E76-8890-05A5-8DF8-5A258400E24F}"/>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فاصله محورهای دوسنگ کله ، ازهم، نباید بیشتر از ۱/۵ متر شود </a:t>
            </a:r>
            <a:r>
              <a:rPr lang="fa-IR" dirty="0">
                <a:solidFill>
                  <a:srgbClr val="FFFFFF"/>
                </a:solidFill>
                <a:latin typeface="Roboto"/>
                <a:ea typeface="Roboto"/>
                <a:cs typeface="IRAN Sans" panose="020B0400000000000000" pitchFamily="34" charset="-78"/>
                <a:sym typeface="Roboto"/>
              </a:rPr>
              <a:t>.</a:t>
            </a:r>
          </a:p>
        </p:txBody>
      </p:sp>
      <p:sp>
        <p:nvSpPr>
          <p:cNvPr id="4" name="Google Shape;1169;p37">
            <a:extLst>
              <a:ext uri="{FF2B5EF4-FFF2-40B4-BE49-F238E27FC236}">
                <a16:creationId xmlns:a16="http://schemas.microsoft.com/office/drawing/2014/main" id="{C98FA465-2B32-3C00-63C3-74DCE86B4880}"/>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بالای دیوار را نباید با ملات پوشاند، بلکه باید با پوشش مناسب( سنگی ، بتنی یا فلزی ) دیوار را محافظت کرد.</a:t>
            </a:r>
          </a:p>
        </p:txBody>
      </p:sp>
      <p:sp>
        <p:nvSpPr>
          <p:cNvPr id="5" name="Google Shape;1170;p37">
            <a:extLst>
              <a:ext uri="{FF2B5EF4-FFF2-40B4-BE49-F238E27FC236}">
                <a16:creationId xmlns:a16="http://schemas.microsoft.com/office/drawing/2014/main" id="{5A848A70-038B-0645-C44D-94901B68B02D}"/>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نسبت تعداد سنگهای کله به تعداد بقیه سنگها ، نباید در هیچ حالتی کمتراز 1/3 باشد </a:t>
            </a:r>
            <a:r>
              <a:rPr lang="fa-IR" dirty="0">
                <a:solidFill>
                  <a:srgbClr val="FFFFFF"/>
                </a:solidFill>
                <a:latin typeface="Roboto"/>
                <a:ea typeface="Roboto"/>
                <a:cs typeface="IRAN Sans" panose="020B0400000000000000" pitchFamily="34" charset="-78"/>
                <a:sym typeface="Roboto"/>
              </a:rPr>
              <a:t>.</a:t>
            </a:r>
            <a:endParaRPr lang="fa-IR" sz="1600" dirty="0">
              <a:solidFill>
                <a:srgbClr val="FFFFFF"/>
              </a:solidFill>
              <a:latin typeface="Roboto"/>
              <a:ea typeface="Roboto"/>
              <a:cs typeface="IRAN Sans" panose="020B0400000000000000" pitchFamily="34" charset="-78"/>
              <a:sym typeface="Roboto"/>
            </a:endParaRPr>
          </a:p>
        </p:txBody>
      </p:sp>
      <p:sp>
        <p:nvSpPr>
          <p:cNvPr id="6" name="Google Shape;1171;p37">
            <a:extLst>
              <a:ext uri="{FF2B5EF4-FFF2-40B4-BE49-F238E27FC236}">
                <a16:creationId xmlns:a16="http://schemas.microsoft.com/office/drawing/2014/main" id="{BA12E59E-42B6-EE5E-C2E1-019A83115289}"/>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F32957BD-FC70-D681-43CB-CDE8EAD66661}"/>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EB37ADF8-0956-8F83-7D40-D8EA72CA44D1}"/>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284D1A5A-E541-7DE2-8D39-C94774BFFA9C}"/>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13</a:t>
              </a:r>
              <a:endParaRPr sz="1500" dirty="0"/>
            </a:p>
          </p:txBody>
        </p:sp>
      </p:grpSp>
      <p:grpSp>
        <p:nvGrpSpPr>
          <p:cNvPr id="10" name="Google Shape;1177;p37">
            <a:extLst>
              <a:ext uri="{FF2B5EF4-FFF2-40B4-BE49-F238E27FC236}">
                <a16:creationId xmlns:a16="http://schemas.microsoft.com/office/drawing/2014/main" id="{7DCC1241-177D-0363-A867-37647C842221}"/>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ABF4A17E-01CA-E951-33A3-715C5ADD6D06}"/>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8A66ED65-167E-ABC9-C38A-6D8F726B2493}"/>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14</a:t>
              </a:r>
              <a:endParaRPr sz="1500" dirty="0"/>
            </a:p>
          </p:txBody>
        </p:sp>
      </p:grpSp>
      <p:grpSp>
        <p:nvGrpSpPr>
          <p:cNvPr id="13" name="Google Shape;1180;p37">
            <a:extLst>
              <a:ext uri="{FF2B5EF4-FFF2-40B4-BE49-F238E27FC236}">
                <a16:creationId xmlns:a16="http://schemas.microsoft.com/office/drawing/2014/main" id="{664CCC3B-E2A5-7DED-97A0-F4C9CEAEE492}"/>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77D1BE4A-1148-0300-234C-E191418FB2DB}"/>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D4BF5D17-E04A-BC8A-9551-5058AF9A7429}"/>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15</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BCE8AD1B-FD85-6ABB-10CE-EBD5C64D5D49}"/>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9E33715E-DA45-C173-9516-47E276F0DEB4}"/>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7219B04D-A980-120C-6658-B5314EE1BDF8}"/>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5C2F034F-7360-6B92-5C1E-A31CCC98C78B}"/>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F675E460-F643-035B-031B-E1D531AF06AF}"/>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16</a:t>
              </a:r>
              <a:endParaRPr sz="1500" dirty="0"/>
            </a:p>
          </p:txBody>
        </p:sp>
      </p:grpSp>
    </p:spTree>
    <p:extLst>
      <p:ext uri="{BB962C8B-B14F-4D97-AF65-F5344CB8AC3E}">
        <p14:creationId xmlns:p14="http://schemas.microsoft.com/office/powerpoint/2010/main" val="40191386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935505" y="230661"/>
            <a:ext cx="2892831"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نکات اصولی در دیوارسازی سنگی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18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3" action="ppaction://hlinksldjump"/>
            <a:extLst>
              <a:ext uri="{FF2B5EF4-FFF2-40B4-BE49-F238E27FC236}">
                <a16:creationId xmlns:a16="http://schemas.microsoft.com/office/drawing/2014/main" id="{48AD8D64-E890-4433-B53C-BE71B2F0E57B}"/>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4" action="ppaction://hlinksldjump"/>
            <a:extLst>
              <a:ext uri="{FF2B5EF4-FFF2-40B4-BE49-F238E27FC236}">
                <a16:creationId xmlns:a16="http://schemas.microsoft.com/office/drawing/2014/main" id="{885A6C0F-278B-4DEE-96A8-D0F437877090}"/>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24;p20">
            <a:hlinkClick r:id="rId5" action="ppaction://hlinksldjump"/>
            <a:extLst>
              <a:ext uri="{FF2B5EF4-FFF2-40B4-BE49-F238E27FC236}">
                <a16:creationId xmlns:a16="http://schemas.microsoft.com/office/drawing/2014/main" id="{26036964-24EB-406B-A544-1AB72BF838C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نکات </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6" action="ppaction://hlinksldjump"/>
            <a:extLst>
              <a:ext uri="{FF2B5EF4-FFF2-40B4-BE49-F238E27FC236}">
                <a16:creationId xmlns:a16="http://schemas.microsoft.com/office/drawing/2014/main" id="{9124B5F2-B854-4535-93B3-782FFFF6CC2E}"/>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اصول</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A30402F0-F605-4AD7-9605-ACFA5B4963EE}"/>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Rectangle 20">
            <a:extLst>
              <a:ext uri="{FF2B5EF4-FFF2-40B4-BE49-F238E27FC236}">
                <a16:creationId xmlns:a16="http://schemas.microsoft.com/office/drawing/2014/main" id="{5AF7FCF3-4839-25F3-3CFC-3CF981A247B5}"/>
              </a:ext>
            </a:extLst>
          </p:cNvPr>
          <p:cNvSpPr/>
          <p:nvPr/>
        </p:nvSpPr>
        <p:spPr>
          <a:xfrm>
            <a:off x="710002" y="172381"/>
            <a:ext cx="4812909" cy="3902126"/>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p:txBody>
      </p:sp>
      <p:pic>
        <p:nvPicPr>
          <p:cNvPr id="22" name="Picture 21">
            <a:extLst>
              <a:ext uri="{FF2B5EF4-FFF2-40B4-BE49-F238E27FC236}">
                <a16:creationId xmlns:a16="http://schemas.microsoft.com/office/drawing/2014/main" id="{813AB4AE-B8A6-C88B-7DE2-40B048F3B0B4}"/>
              </a:ext>
            </a:extLst>
          </p:cNvPr>
          <p:cNvPicPr>
            <a:picLocks noChangeAspect="1"/>
          </p:cNvPicPr>
          <p:nvPr/>
        </p:nvPicPr>
        <p:blipFill>
          <a:blip r:embed="rId7"/>
          <a:stretch>
            <a:fillRect/>
          </a:stretch>
        </p:blipFill>
        <p:spPr>
          <a:xfrm>
            <a:off x="1055897" y="410669"/>
            <a:ext cx="3935884" cy="3477325"/>
          </a:xfrm>
          <a:prstGeom prst="rect">
            <a:avLst/>
          </a:prstGeom>
        </p:spPr>
      </p:pic>
    </p:spTree>
    <p:extLst>
      <p:ext uri="{BB962C8B-B14F-4D97-AF65-F5344CB8AC3E}">
        <p14:creationId xmlns:p14="http://schemas.microsoft.com/office/powerpoint/2010/main" val="184350383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anim calcmode="lin" valueType="num">
                                      <p:cBhvr>
                                        <p:cTn id="35" dur="1000" fill="hold"/>
                                        <p:tgtEl>
                                          <p:spTgt spid="21"/>
                                        </p:tgtEl>
                                        <p:attrNameLst>
                                          <p:attrName>ppt_x</p:attrName>
                                        </p:attrNameLst>
                                      </p:cBhvr>
                                      <p:tavLst>
                                        <p:tav tm="0">
                                          <p:val>
                                            <p:strVal val="#ppt_x"/>
                                          </p:val>
                                        </p:tav>
                                        <p:tav tm="100000">
                                          <p:val>
                                            <p:strVal val="#ppt_x"/>
                                          </p:val>
                                        </p:tav>
                                      </p:tavLst>
                                    </p:anim>
                                    <p:anim calcmode="lin" valueType="num">
                                      <p:cBhvr>
                                        <p:cTn id="36" dur="1000" fill="hold"/>
                                        <p:tgtEl>
                                          <p:spTgt spid="21"/>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16" presetClass="entr" presetSubtype="21" fill="hold" nodeType="after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barn(inVertical)">
                                      <p:cBhvr>
                                        <p:cTn id="4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184373" y="1792146"/>
            <a:ext cx="3436500"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استاندارد 7122 :</a:t>
            </a:r>
            <a:br>
              <a:rPr lang="fa-IR" sz="3600" b="1" dirty="0"/>
            </a:br>
            <a:r>
              <a:rPr lang="fa-IR" sz="3600" b="1" dirty="0"/>
              <a:t>اجرهای رسی سبک غیر باربر</a:t>
            </a:r>
            <a:endParaRPr sz="6000"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اهداف</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376947" y="1565198"/>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21816226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6805508" y="230661"/>
            <a:ext cx="2022828"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اجر سبک رسی غیرباربر</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19</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اهداف</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p>
        </p:txBody>
      </p:sp>
      <p:sp>
        <p:nvSpPr>
          <p:cNvPr id="12" name="Google Shape;317;p20">
            <a:hlinkClick r:id="rId3" action="ppaction://hlinksldjump"/>
            <a:extLst>
              <a:ext uri="{FF2B5EF4-FFF2-40B4-BE49-F238E27FC236}">
                <a16:creationId xmlns:a16="http://schemas.microsoft.com/office/drawing/2014/main" id="{6687F6E5-6D1B-44C7-2F1B-2683934D2854}"/>
              </a:ext>
            </a:extLst>
          </p:cNvPr>
          <p:cNvSpPr txBox="1"/>
          <p:nvPr/>
        </p:nvSpPr>
        <p:spPr>
          <a:xfrm>
            <a:off x="4709505" y="4761498"/>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5" name="Rectangle 14">
            <a:extLst>
              <a:ext uri="{FF2B5EF4-FFF2-40B4-BE49-F238E27FC236}">
                <a16:creationId xmlns:a16="http://schemas.microsoft.com/office/drawing/2014/main" id="{2A4D25CD-4237-E68A-8BB4-564804A56A16}"/>
              </a:ext>
            </a:extLst>
          </p:cNvPr>
          <p:cNvSpPr/>
          <p:nvPr/>
        </p:nvSpPr>
        <p:spPr>
          <a:xfrm>
            <a:off x="4658596" y="1063308"/>
            <a:ext cx="3486748" cy="2055467"/>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هدف از این استاندارد تعیین ویژگی های فیزیکی،شیمیایی و نمونه برداری اجر های رسی سبک غیرباربر با سوراخ های افقی و پنل اجر های رسی سبک غیر باربر با سوراخ های افقی میباشد.</a:t>
            </a:r>
          </a:p>
        </p:txBody>
      </p:sp>
      <p:sp>
        <p:nvSpPr>
          <p:cNvPr id="16" name="Freeform: Shape 15">
            <a:extLst>
              <a:ext uri="{FF2B5EF4-FFF2-40B4-BE49-F238E27FC236}">
                <a16:creationId xmlns:a16="http://schemas.microsoft.com/office/drawing/2014/main" id="{7D8F138B-078F-4276-A380-B2D739BDB094}"/>
              </a:ext>
            </a:extLst>
          </p:cNvPr>
          <p:cNvSpPr/>
          <p:nvPr/>
        </p:nvSpPr>
        <p:spPr>
          <a:xfrm>
            <a:off x="485640" y="591864"/>
            <a:ext cx="3720678" cy="3139440"/>
          </a:xfrm>
          <a:custGeom>
            <a:avLst/>
            <a:gdLst>
              <a:gd name="connsiteX0" fmla="*/ 200368 w 5308071"/>
              <a:gd name="connsiteY0" fmla="*/ 2605996 h 3808166"/>
              <a:gd name="connsiteX1" fmla="*/ 5107705 w 5308071"/>
              <a:gd name="connsiteY1" fmla="*/ 2605996 h 3808166"/>
              <a:gd name="connsiteX2" fmla="*/ 5308071 w 5308071"/>
              <a:gd name="connsiteY2" fmla="*/ 2806362 h 3808166"/>
              <a:gd name="connsiteX3" fmla="*/ 5308071 w 5308071"/>
              <a:gd name="connsiteY3" fmla="*/ 3607800 h 3808166"/>
              <a:gd name="connsiteX4" fmla="*/ 5107705 w 5308071"/>
              <a:gd name="connsiteY4" fmla="*/ 3808166 h 3808166"/>
              <a:gd name="connsiteX5" fmla="*/ 200368 w 5308071"/>
              <a:gd name="connsiteY5" fmla="*/ 3808166 h 3808166"/>
              <a:gd name="connsiteX6" fmla="*/ 1 w 5308071"/>
              <a:gd name="connsiteY6" fmla="*/ 3607800 h 3808166"/>
              <a:gd name="connsiteX7" fmla="*/ 1 w 5308071"/>
              <a:gd name="connsiteY7" fmla="*/ 2806362 h 3808166"/>
              <a:gd name="connsiteX8" fmla="*/ 200368 w 5308071"/>
              <a:gd name="connsiteY8" fmla="*/ 2605996 h 3808166"/>
              <a:gd name="connsiteX9" fmla="*/ 200366 w 5308071"/>
              <a:gd name="connsiteY9" fmla="*/ 1322925 h 3808166"/>
              <a:gd name="connsiteX10" fmla="*/ 2394346 w 5308071"/>
              <a:gd name="connsiteY10" fmla="*/ 1322925 h 3808166"/>
              <a:gd name="connsiteX11" fmla="*/ 2594712 w 5308071"/>
              <a:gd name="connsiteY11" fmla="*/ 1523291 h 3808166"/>
              <a:gd name="connsiteX12" fmla="*/ 2594712 w 5308071"/>
              <a:gd name="connsiteY12" fmla="*/ 2324729 h 3808166"/>
              <a:gd name="connsiteX13" fmla="*/ 2394346 w 5308071"/>
              <a:gd name="connsiteY13" fmla="*/ 2525095 h 3808166"/>
              <a:gd name="connsiteX14" fmla="*/ 200366 w 5308071"/>
              <a:gd name="connsiteY14" fmla="*/ 2525095 h 3808166"/>
              <a:gd name="connsiteX15" fmla="*/ 0 w 5308071"/>
              <a:gd name="connsiteY15" fmla="*/ 2324729 h 3808166"/>
              <a:gd name="connsiteX16" fmla="*/ 0 w 5308071"/>
              <a:gd name="connsiteY16" fmla="*/ 1523291 h 3808166"/>
              <a:gd name="connsiteX17" fmla="*/ 200366 w 5308071"/>
              <a:gd name="connsiteY17" fmla="*/ 1322925 h 3808166"/>
              <a:gd name="connsiteX18" fmla="*/ 2884572 w 5308071"/>
              <a:gd name="connsiteY18" fmla="*/ 1319249 h 3808166"/>
              <a:gd name="connsiteX19" fmla="*/ 5078171 w 5308071"/>
              <a:gd name="connsiteY19" fmla="*/ 1319249 h 3808166"/>
              <a:gd name="connsiteX20" fmla="*/ 5278537 w 5308071"/>
              <a:gd name="connsiteY20" fmla="*/ 1519615 h 3808166"/>
              <a:gd name="connsiteX21" fmla="*/ 5278537 w 5308071"/>
              <a:gd name="connsiteY21" fmla="*/ 2321053 h 3808166"/>
              <a:gd name="connsiteX22" fmla="*/ 5078171 w 5308071"/>
              <a:gd name="connsiteY22" fmla="*/ 2521419 h 3808166"/>
              <a:gd name="connsiteX23" fmla="*/ 2884572 w 5308071"/>
              <a:gd name="connsiteY23" fmla="*/ 2521419 h 3808166"/>
              <a:gd name="connsiteX24" fmla="*/ 2684206 w 5308071"/>
              <a:gd name="connsiteY24" fmla="*/ 2321053 h 3808166"/>
              <a:gd name="connsiteX25" fmla="*/ 2684206 w 5308071"/>
              <a:gd name="connsiteY25" fmla="*/ 1519615 h 3808166"/>
              <a:gd name="connsiteX26" fmla="*/ 2884572 w 5308071"/>
              <a:gd name="connsiteY26" fmla="*/ 1319249 h 3808166"/>
              <a:gd name="connsiteX27" fmla="*/ 3783844 w 5308071"/>
              <a:gd name="connsiteY27" fmla="*/ 32503 h 3808166"/>
              <a:gd name="connsiteX28" fmla="*/ 5078171 w 5308071"/>
              <a:gd name="connsiteY28" fmla="*/ 32503 h 3808166"/>
              <a:gd name="connsiteX29" fmla="*/ 5278537 w 5308071"/>
              <a:gd name="connsiteY29" fmla="*/ 232869 h 3808166"/>
              <a:gd name="connsiteX30" fmla="*/ 5278537 w 5308071"/>
              <a:gd name="connsiteY30" fmla="*/ 1034306 h 3808166"/>
              <a:gd name="connsiteX31" fmla="*/ 5078171 w 5308071"/>
              <a:gd name="connsiteY31" fmla="*/ 1234672 h 3808166"/>
              <a:gd name="connsiteX32" fmla="*/ 3783844 w 5308071"/>
              <a:gd name="connsiteY32" fmla="*/ 1234672 h 3808166"/>
              <a:gd name="connsiteX33" fmla="*/ 3583478 w 5308071"/>
              <a:gd name="connsiteY33" fmla="*/ 1034306 h 3808166"/>
              <a:gd name="connsiteX34" fmla="*/ 3583478 w 5308071"/>
              <a:gd name="connsiteY34" fmla="*/ 232869 h 3808166"/>
              <a:gd name="connsiteX35" fmla="*/ 3783844 w 5308071"/>
              <a:gd name="connsiteY35" fmla="*/ 32503 h 3808166"/>
              <a:gd name="connsiteX36" fmla="*/ 1990878 w 5308071"/>
              <a:gd name="connsiteY36" fmla="*/ 22838 h 3808166"/>
              <a:gd name="connsiteX37" fmla="*/ 3287659 w 5308071"/>
              <a:gd name="connsiteY37" fmla="*/ 22838 h 3808166"/>
              <a:gd name="connsiteX38" fmla="*/ 3486798 w 5308071"/>
              <a:gd name="connsiteY38" fmla="*/ 221977 h 3808166"/>
              <a:gd name="connsiteX39" fmla="*/ 3486798 w 5308071"/>
              <a:gd name="connsiteY39" fmla="*/ 1018512 h 3808166"/>
              <a:gd name="connsiteX40" fmla="*/ 3287659 w 5308071"/>
              <a:gd name="connsiteY40" fmla="*/ 1217651 h 3808166"/>
              <a:gd name="connsiteX41" fmla="*/ 1990878 w 5308071"/>
              <a:gd name="connsiteY41" fmla="*/ 1217651 h 3808166"/>
              <a:gd name="connsiteX42" fmla="*/ 1791739 w 5308071"/>
              <a:gd name="connsiteY42" fmla="*/ 1018512 h 3808166"/>
              <a:gd name="connsiteX43" fmla="*/ 1791739 w 5308071"/>
              <a:gd name="connsiteY43" fmla="*/ 221977 h 3808166"/>
              <a:gd name="connsiteX44" fmla="*/ 1990878 w 5308071"/>
              <a:gd name="connsiteY44" fmla="*/ 22838 h 3808166"/>
              <a:gd name="connsiteX45" fmla="*/ 200366 w 5308071"/>
              <a:gd name="connsiteY45" fmla="*/ 0 h 3808166"/>
              <a:gd name="connsiteX46" fmla="*/ 1494693 w 5308071"/>
              <a:gd name="connsiteY46" fmla="*/ 0 h 3808166"/>
              <a:gd name="connsiteX47" fmla="*/ 1695059 w 5308071"/>
              <a:gd name="connsiteY47" fmla="*/ 200366 h 3808166"/>
              <a:gd name="connsiteX48" fmla="*/ 1695059 w 5308071"/>
              <a:gd name="connsiteY48" fmla="*/ 1001804 h 3808166"/>
              <a:gd name="connsiteX49" fmla="*/ 1494693 w 5308071"/>
              <a:gd name="connsiteY49" fmla="*/ 1202170 h 3808166"/>
              <a:gd name="connsiteX50" fmla="*/ 200366 w 5308071"/>
              <a:gd name="connsiteY50" fmla="*/ 1202170 h 3808166"/>
              <a:gd name="connsiteX51" fmla="*/ 0 w 5308071"/>
              <a:gd name="connsiteY51" fmla="*/ 1001804 h 3808166"/>
              <a:gd name="connsiteX52" fmla="*/ 0 w 5308071"/>
              <a:gd name="connsiteY52" fmla="*/ 200366 h 3808166"/>
              <a:gd name="connsiteX53" fmla="*/ 200366 w 5308071"/>
              <a:gd name="connsiteY53" fmla="*/ 0 h 380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308071" h="3808166">
                <a:moveTo>
                  <a:pt x="200368" y="2605996"/>
                </a:moveTo>
                <a:lnTo>
                  <a:pt x="5107705" y="2605996"/>
                </a:lnTo>
                <a:cubicBezTo>
                  <a:pt x="5218364" y="2605996"/>
                  <a:pt x="5308071" y="2695703"/>
                  <a:pt x="5308071" y="2806362"/>
                </a:cubicBezTo>
                <a:lnTo>
                  <a:pt x="5308071" y="3607800"/>
                </a:lnTo>
                <a:cubicBezTo>
                  <a:pt x="5308071" y="3718459"/>
                  <a:pt x="5218364" y="3808166"/>
                  <a:pt x="5107705" y="3808166"/>
                </a:cubicBezTo>
                <a:lnTo>
                  <a:pt x="200368" y="3808166"/>
                </a:lnTo>
                <a:cubicBezTo>
                  <a:pt x="89708" y="3808166"/>
                  <a:pt x="1" y="3718459"/>
                  <a:pt x="1" y="3607800"/>
                </a:cubicBezTo>
                <a:lnTo>
                  <a:pt x="1" y="2806362"/>
                </a:lnTo>
                <a:cubicBezTo>
                  <a:pt x="1" y="2695703"/>
                  <a:pt x="89708" y="2605996"/>
                  <a:pt x="200368" y="2605996"/>
                </a:cubicBezTo>
                <a:close/>
                <a:moveTo>
                  <a:pt x="200366" y="1322925"/>
                </a:moveTo>
                <a:lnTo>
                  <a:pt x="2394346" y="1322925"/>
                </a:lnTo>
                <a:cubicBezTo>
                  <a:pt x="2505005" y="1322925"/>
                  <a:pt x="2594712" y="1412632"/>
                  <a:pt x="2594712" y="1523291"/>
                </a:cubicBezTo>
                <a:lnTo>
                  <a:pt x="2594712" y="2324729"/>
                </a:lnTo>
                <a:cubicBezTo>
                  <a:pt x="2594712" y="2435388"/>
                  <a:pt x="2505005" y="2525095"/>
                  <a:pt x="2394346" y="2525095"/>
                </a:cubicBezTo>
                <a:lnTo>
                  <a:pt x="200366" y="2525095"/>
                </a:lnTo>
                <a:cubicBezTo>
                  <a:pt x="89708" y="2525095"/>
                  <a:pt x="0" y="2435388"/>
                  <a:pt x="0" y="2324729"/>
                </a:cubicBezTo>
                <a:lnTo>
                  <a:pt x="0" y="1523291"/>
                </a:lnTo>
                <a:cubicBezTo>
                  <a:pt x="0" y="1412632"/>
                  <a:pt x="89708" y="1322925"/>
                  <a:pt x="200366" y="1322925"/>
                </a:cubicBezTo>
                <a:close/>
                <a:moveTo>
                  <a:pt x="2884572" y="1319249"/>
                </a:moveTo>
                <a:lnTo>
                  <a:pt x="5078171" y="1319249"/>
                </a:lnTo>
                <a:cubicBezTo>
                  <a:pt x="5188830" y="1319249"/>
                  <a:pt x="5278537" y="1408956"/>
                  <a:pt x="5278537" y="1519615"/>
                </a:cubicBezTo>
                <a:lnTo>
                  <a:pt x="5278537" y="2321053"/>
                </a:lnTo>
                <a:cubicBezTo>
                  <a:pt x="5278537" y="2431712"/>
                  <a:pt x="5188830" y="2521419"/>
                  <a:pt x="5078171" y="2521419"/>
                </a:cubicBezTo>
                <a:lnTo>
                  <a:pt x="2884572" y="2521419"/>
                </a:lnTo>
                <a:cubicBezTo>
                  <a:pt x="2773913" y="2521419"/>
                  <a:pt x="2684206" y="2431712"/>
                  <a:pt x="2684206" y="2321053"/>
                </a:cubicBezTo>
                <a:lnTo>
                  <a:pt x="2684206" y="1519615"/>
                </a:lnTo>
                <a:cubicBezTo>
                  <a:pt x="2684206" y="1408956"/>
                  <a:pt x="2773913" y="1319249"/>
                  <a:pt x="2884572" y="1319249"/>
                </a:cubicBezTo>
                <a:close/>
                <a:moveTo>
                  <a:pt x="3783844" y="32503"/>
                </a:moveTo>
                <a:lnTo>
                  <a:pt x="5078171" y="32503"/>
                </a:lnTo>
                <a:cubicBezTo>
                  <a:pt x="5188830" y="32503"/>
                  <a:pt x="5278537" y="122210"/>
                  <a:pt x="5278537" y="232869"/>
                </a:cubicBezTo>
                <a:lnTo>
                  <a:pt x="5278537" y="1034306"/>
                </a:lnTo>
                <a:cubicBezTo>
                  <a:pt x="5278537" y="1144965"/>
                  <a:pt x="5188830" y="1234672"/>
                  <a:pt x="5078171" y="1234672"/>
                </a:cubicBezTo>
                <a:lnTo>
                  <a:pt x="3783844" y="1234672"/>
                </a:lnTo>
                <a:cubicBezTo>
                  <a:pt x="3673185" y="1234672"/>
                  <a:pt x="3583478" y="1144965"/>
                  <a:pt x="3583478" y="1034306"/>
                </a:cubicBezTo>
                <a:lnTo>
                  <a:pt x="3583478" y="232869"/>
                </a:lnTo>
                <a:cubicBezTo>
                  <a:pt x="3583478" y="122210"/>
                  <a:pt x="3673185" y="32503"/>
                  <a:pt x="3783844" y="32503"/>
                </a:cubicBezTo>
                <a:close/>
                <a:moveTo>
                  <a:pt x="1990878" y="22838"/>
                </a:moveTo>
                <a:lnTo>
                  <a:pt x="3287659" y="22838"/>
                </a:lnTo>
                <a:cubicBezTo>
                  <a:pt x="3397640" y="22838"/>
                  <a:pt x="3486798" y="111996"/>
                  <a:pt x="3486798" y="221977"/>
                </a:cubicBezTo>
                <a:lnTo>
                  <a:pt x="3486798" y="1018512"/>
                </a:lnTo>
                <a:cubicBezTo>
                  <a:pt x="3486798" y="1128493"/>
                  <a:pt x="3397640" y="1217651"/>
                  <a:pt x="3287659" y="1217651"/>
                </a:cubicBezTo>
                <a:lnTo>
                  <a:pt x="1990878" y="1217651"/>
                </a:lnTo>
                <a:cubicBezTo>
                  <a:pt x="1880897" y="1217651"/>
                  <a:pt x="1791739" y="1128493"/>
                  <a:pt x="1791739" y="1018512"/>
                </a:cubicBezTo>
                <a:lnTo>
                  <a:pt x="1791739" y="221977"/>
                </a:lnTo>
                <a:cubicBezTo>
                  <a:pt x="1791739" y="111996"/>
                  <a:pt x="1880897" y="22838"/>
                  <a:pt x="1990878" y="22838"/>
                </a:cubicBezTo>
                <a:close/>
                <a:moveTo>
                  <a:pt x="200366" y="0"/>
                </a:moveTo>
                <a:lnTo>
                  <a:pt x="1494693" y="0"/>
                </a:lnTo>
                <a:cubicBezTo>
                  <a:pt x="1605352" y="0"/>
                  <a:pt x="1695059" y="89707"/>
                  <a:pt x="1695059" y="200366"/>
                </a:cubicBezTo>
                <a:lnTo>
                  <a:pt x="1695059" y="1001804"/>
                </a:lnTo>
                <a:cubicBezTo>
                  <a:pt x="1695059" y="1112463"/>
                  <a:pt x="1605352" y="1202170"/>
                  <a:pt x="1494693" y="1202170"/>
                </a:cubicBezTo>
                <a:lnTo>
                  <a:pt x="200366" y="1202170"/>
                </a:lnTo>
                <a:cubicBezTo>
                  <a:pt x="89707" y="1202170"/>
                  <a:pt x="0" y="1112463"/>
                  <a:pt x="0" y="1001804"/>
                </a:cubicBezTo>
                <a:lnTo>
                  <a:pt x="0" y="200366"/>
                </a:lnTo>
                <a:cubicBezTo>
                  <a:pt x="0" y="89707"/>
                  <a:pt x="89707" y="0"/>
                  <a:pt x="200366" y="0"/>
                </a:cubicBezTo>
                <a:close/>
              </a:path>
            </a:pathLst>
          </a:custGeom>
          <a:blipFill>
            <a:blip r:embed="rId4"/>
            <a:stretch>
              <a:fillRect/>
            </a:stretch>
          </a:blip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17592644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1000"/>
                                        <p:tgtEl>
                                          <p:spTgt spid="15"/>
                                        </p:tgtEl>
                                      </p:cBhvr>
                                    </p:animEffect>
                                    <p:anim calcmode="lin" valueType="num">
                                      <p:cBhvr>
                                        <p:cTn id="26" dur="1000" fill="hold"/>
                                        <p:tgtEl>
                                          <p:spTgt spid="15"/>
                                        </p:tgtEl>
                                        <p:attrNameLst>
                                          <p:attrName>ppt_x</p:attrName>
                                        </p:attrNameLst>
                                      </p:cBhvr>
                                      <p:tavLst>
                                        <p:tav tm="0">
                                          <p:val>
                                            <p:strVal val="#ppt_x"/>
                                          </p:val>
                                        </p:tav>
                                        <p:tav tm="100000">
                                          <p:val>
                                            <p:strVal val="#ppt_x"/>
                                          </p:val>
                                        </p:tav>
                                      </p:tavLst>
                                    </p:anim>
                                    <p:anim calcmode="lin" valueType="num">
                                      <p:cBhvr>
                                        <p:cTn id="27" dur="1000" fill="hold"/>
                                        <p:tgtEl>
                                          <p:spTgt spid="15"/>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1000"/>
                                        <p:tgtEl>
                                          <p:spTgt spid="16"/>
                                        </p:tgtEl>
                                      </p:cBhvr>
                                    </p:animEffect>
                                    <p:anim calcmode="lin" valueType="num">
                                      <p:cBhvr>
                                        <p:cTn id="31" dur="1000" fill="hold"/>
                                        <p:tgtEl>
                                          <p:spTgt spid="16"/>
                                        </p:tgtEl>
                                        <p:attrNameLst>
                                          <p:attrName>ppt_x</p:attrName>
                                        </p:attrNameLst>
                                      </p:cBhvr>
                                      <p:tavLst>
                                        <p:tav tm="0">
                                          <p:val>
                                            <p:strVal val="#ppt_x"/>
                                          </p:val>
                                        </p:tav>
                                        <p:tav tm="100000">
                                          <p:val>
                                            <p:strVal val="#ppt_x"/>
                                          </p:val>
                                        </p:tav>
                                      </p:tavLst>
                                    </p:anim>
                                    <p:anim calcmode="lin" valueType="num">
                                      <p:cBhvr>
                                        <p:cTn id="3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5" grpId="0" animBg="1"/>
      <p:bldP spid="1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425610" y="230661"/>
            <a:ext cx="140272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دامنه کاربرد</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43" name="Rectangle 142">
            <a:extLst>
              <a:ext uri="{FF2B5EF4-FFF2-40B4-BE49-F238E27FC236}">
                <a16:creationId xmlns:a16="http://schemas.microsoft.com/office/drawing/2014/main" id="{9D163131-94B2-4893-86FC-1E251779E2D5}"/>
              </a:ext>
            </a:extLst>
          </p:cNvPr>
          <p:cNvSpPr/>
          <p:nvPr/>
        </p:nvSpPr>
        <p:spPr>
          <a:xfrm>
            <a:off x="4397396" y="1099729"/>
            <a:ext cx="4032254" cy="2054267"/>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b="1" dirty="0">
                <a:solidFill>
                  <a:schemeClr val="tx1">
                    <a:lumMod val="95000"/>
                    <a:lumOff val="5000"/>
                  </a:schemeClr>
                </a:solidFill>
                <a:cs typeface="IRAN Sans" panose="020B0400000000000000" pitchFamily="34" charset="-78"/>
              </a:rPr>
              <a:t>دامنه کاربرد:</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اجر های سبک غیر باربر با سوراخ های افقی(اجر تیغه ای) و پنل های اجر رسی سبک غیر باربر با سوراخ های افقی برای دیوار چینی غیر باربر کاربرد دارند</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این اجر ها به طور گسترده ای برای ساخت دیوار های داخلی کاربرد دارند</a:t>
            </a:r>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اهداف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9;p20">
            <a:hlinkClick r:id="" action="ppaction://noaction"/>
            <a:extLst>
              <a:ext uri="{FF2B5EF4-FFF2-40B4-BE49-F238E27FC236}">
                <a16:creationId xmlns:a16="http://schemas.microsoft.com/office/drawing/2014/main" id="{4B85588F-9834-4DE5-8D96-CACE3CD51874}"/>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 name="Picture 1">
            <a:extLst>
              <a:ext uri="{FF2B5EF4-FFF2-40B4-BE49-F238E27FC236}">
                <a16:creationId xmlns:a16="http://schemas.microsoft.com/office/drawing/2014/main" id="{11BFD66C-FAAD-545B-FAC3-05934BAA8798}"/>
              </a:ext>
            </a:extLst>
          </p:cNvPr>
          <p:cNvPicPr>
            <a:picLocks noChangeAspect="1"/>
          </p:cNvPicPr>
          <p:nvPr/>
        </p:nvPicPr>
        <p:blipFill>
          <a:blip r:embed="rId3"/>
          <a:stretch>
            <a:fillRect/>
          </a:stretch>
        </p:blipFill>
        <p:spPr>
          <a:xfrm>
            <a:off x="-58809" y="482397"/>
            <a:ext cx="4376045" cy="3493063"/>
          </a:xfrm>
          <a:prstGeom prst="rect">
            <a:avLst/>
          </a:prstGeom>
          <a:ln>
            <a:noFill/>
          </a:ln>
          <a:effectLst>
            <a:softEdge rad="112500"/>
          </a:effectLst>
        </p:spPr>
      </p:pic>
    </p:spTree>
    <p:extLst>
      <p:ext uri="{BB962C8B-B14F-4D97-AF65-F5344CB8AC3E}">
        <p14:creationId xmlns:p14="http://schemas.microsoft.com/office/powerpoint/2010/main" val="30153322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fade">
                                      <p:cBhvr>
                                        <p:cTn id="34" dur="1000"/>
                                        <p:tgtEl>
                                          <p:spTgt spid="143"/>
                                        </p:tgtEl>
                                      </p:cBhvr>
                                    </p:animEffect>
                                    <p:anim calcmode="lin" valueType="num">
                                      <p:cBhvr>
                                        <p:cTn id="35" dur="1000" fill="hold"/>
                                        <p:tgtEl>
                                          <p:spTgt spid="143"/>
                                        </p:tgtEl>
                                        <p:attrNameLst>
                                          <p:attrName>ppt_x</p:attrName>
                                        </p:attrNameLst>
                                      </p:cBhvr>
                                      <p:tavLst>
                                        <p:tav tm="0">
                                          <p:val>
                                            <p:strVal val="#ppt_x"/>
                                          </p:val>
                                        </p:tav>
                                        <p:tav tm="100000">
                                          <p:val>
                                            <p:strVal val="#ppt_x"/>
                                          </p:val>
                                        </p:tav>
                                      </p:tavLst>
                                    </p:anim>
                                    <p:anim calcmode="lin" valueType="num">
                                      <p:cBhvr>
                                        <p:cTn id="36" dur="1000" fill="hold"/>
                                        <p:tgtEl>
                                          <p:spTgt spid="143"/>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10" presetClass="entr" presetSubtype="0" fill="hold" nodeType="after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fade">
                                      <p:cBhvr>
                                        <p:cTn id="4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4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425610" y="230661"/>
            <a:ext cx="140272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دامنه کاربرد</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21</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43" name="Rectangle 142">
            <a:extLst>
              <a:ext uri="{FF2B5EF4-FFF2-40B4-BE49-F238E27FC236}">
                <a16:creationId xmlns:a16="http://schemas.microsoft.com/office/drawing/2014/main" id="{9D163131-94B2-4893-86FC-1E251779E2D5}"/>
              </a:ext>
            </a:extLst>
          </p:cNvPr>
          <p:cNvSpPr/>
          <p:nvPr/>
        </p:nvSpPr>
        <p:spPr>
          <a:xfrm>
            <a:off x="848438" y="740621"/>
            <a:ext cx="7695453" cy="1586895"/>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تعریفی که در این استاندارد هدف میباشد و مواد اصلی تشکیل دهنده این اجر هارا با درصد خلوص متفاوت به وجود می آورد.</a:t>
            </a:r>
          </a:p>
          <a:p>
            <a:pPr algn="justLow" rtl="1">
              <a:lnSpc>
                <a:spcPct val="150000"/>
              </a:lnSpc>
            </a:pPr>
            <a:r>
              <a:rPr lang="fa-IR" sz="1800" b="1" dirty="0">
                <a:solidFill>
                  <a:schemeClr val="tx1">
                    <a:lumMod val="95000"/>
                    <a:lumOff val="5000"/>
                  </a:schemeClr>
                </a:solidFill>
                <a:cs typeface="IRAN Sans" panose="020B0400000000000000" pitchFamily="34" charset="-78"/>
              </a:rPr>
              <a:t>لوم:</a:t>
            </a:r>
            <a:r>
              <a:rPr lang="fa-IR" sz="1600" dirty="0">
                <a:solidFill>
                  <a:schemeClr val="tx1">
                    <a:lumMod val="95000"/>
                    <a:lumOff val="5000"/>
                  </a:schemeClr>
                </a:solidFill>
                <a:cs typeface="IRAN Sans" panose="020B0400000000000000" pitchFamily="34" charset="-78"/>
              </a:rPr>
              <a:t> خاکی است مرکب از رس، لای(سیلت)ماسه و مواد الی است که برروی چگالی و مقاومت نسبی اجر تاثیر گزار خواهد بود.</a:t>
            </a:r>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اهداف</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 name="Rectangle 2">
            <a:extLst>
              <a:ext uri="{FF2B5EF4-FFF2-40B4-BE49-F238E27FC236}">
                <a16:creationId xmlns:a16="http://schemas.microsoft.com/office/drawing/2014/main" id="{32BE6221-DB2C-1512-6AFF-0B89AC3736D8}"/>
              </a:ext>
            </a:extLst>
          </p:cNvPr>
          <p:cNvSpPr/>
          <p:nvPr/>
        </p:nvSpPr>
        <p:spPr>
          <a:xfrm>
            <a:off x="1357242" y="2516859"/>
            <a:ext cx="6183389" cy="1217563"/>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اصول</a:t>
            </a:r>
            <a:r>
              <a:rPr lang="fa-IR" sz="1600" b="1" dirty="0">
                <a:solidFill>
                  <a:schemeClr val="tx1">
                    <a:lumMod val="95000"/>
                    <a:lumOff val="5000"/>
                  </a:schemeClr>
                </a:solidFill>
                <a:cs typeface="IRAN Sans" panose="020B0400000000000000" pitchFamily="34" charset="-78"/>
              </a:rPr>
              <a:t>: </a:t>
            </a:r>
            <a:r>
              <a:rPr lang="fa-IR" sz="1600" dirty="0">
                <a:solidFill>
                  <a:schemeClr val="tx1">
                    <a:lumMod val="95000"/>
                    <a:lumOff val="5000"/>
                  </a:schemeClr>
                </a:solidFill>
                <a:cs typeface="IRAN Sans" panose="020B0400000000000000" pitchFamily="34" charset="-78"/>
              </a:rPr>
              <a:t>چگالی ظاهری این اجر ها نباید بیش از یک گرم بر سانتی متر مکعب باشد و مواد افزودنی و درصد ان نباید به گونه ای باشند که در دراز مدت اثر مخرب روی خواص اجر ها داشته باشند</a:t>
            </a:r>
            <a:endParaRPr lang="fa-IR" dirty="0">
              <a:solidFill>
                <a:schemeClr val="tx1">
                  <a:lumMod val="95000"/>
                  <a:lumOff val="5000"/>
                </a:schemeClr>
              </a:solidFill>
              <a:cs typeface="IRAN Sans" panose="020B0400000000000000" pitchFamily="34" charset="-78"/>
            </a:endParaRPr>
          </a:p>
        </p:txBody>
      </p:sp>
      <p:sp>
        <p:nvSpPr>
          <p:cNvPr id="2" name="Google Shape;309;p20">
            <a:hlinkClick r:id="" action="ppaction://noaction"/>
            <a:extLst>
              <a:ext uri="{FF2B5EF4-FFF2-40B4-BE49-F238E27FC236}">
                <a16:creationId xmlns:a16="http://schemas.microsoft.com/office/drawing/2014/main" id="{386A012E-9A65-8750-1683-F3C1C1E2178F}"/>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6792237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43"/>
                                        </p:tgtEl>
                                        <p:attrNameLst>
                                          <p:attrName>style.visibility</p:attrName>
                                        </p:attrNameLst>
                                      </p:cBhvr>
                                      <p:to>
                                        <p:strVal val="visible"/>
                                      </p:to>
                                    </p:set>
                                    <p:animEffect transition="in" filter="fade">
                                      <p:cBhvr>
                                        <p:cTn id="34" dur="1000"/>
                                        <p:tgtEl>
                                          <p:spTgt spid="143"/>
                                        </p:tgtEl>
                                      </p:cBhvr>
                                    </p:animEffect>
                                    <p:anim calcmode="lin" valueType="num">
                                      <p:cBhvr>
                                        <p:cTn id="35" dur="1000" fill="hold"/>
                                        <p:tgtEl>
                                          <p:spTgt spid="143"/>
                                        </p:tgtEl>
                                        <p:attrNameLst>
                                          <p:attrName>ppt_x</p:attrName>
                                        </p:attrNameLst>
                                      </p:cBhvr>
                                      <p:tavLst>
                                        <p:tav tm="0">
                                          <p:val>
                                            <p:strVal val="#ppt_x"/>
                                          </p:val>
                                        </p:tav>
                                        <p:tav tm="100000">
                                          <p:val>
                                            <p:strVal val="#ppt_x"/>
                                          </p:val>
                                        </p:tav>
                                      </p:tavLst>
                                    </p:anim>
                                    <p:anim calcmode="lin" valueType="num">
                                      <p:cBhvr>
                                        <p:cTn id="36" dur="1000" fill="hold"/>
                                        <p:tgtEl>
                                          <p:spTgt spid="143"/>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fade">
                                      <p:cBhvr>
                                        <p:cTn id="40" dur="1000"/>
                                        <p:tgtEl>
                                          <p:spTgt spid="3"/>
                                        </p:tgtEl>
                                      </p:cBhvr>
                                    </p:animEffect>
                                    <p:anim calcmode="lin" valueType="num">
                                      <p:cBhvr>
                                        <p:cTn id="41" dur="1000" fill="hold"/>
                                        <p:tgtEl>
                                          <p:spTgt spid="3"/>
                                        </p:tgtEl>
                                        <p:attrNameLst>
                                          <p:attrName>ppt_x</p:attrName>
                                        </p:attrNameLst>
                                      </p:cBhvr>
                                      <p:tavLst>
                                        <p:tav tm="0">
                                          <p:val>
                                            <p:strVal val="#ppt_x"/>
                                          </p:val>
                                        </p:tav>
                                        <p:tav tm="100000">
                                          <p:val>
                                            <p:strVal val="#ppt_x"/>
                                          </p:val>
                                        </p:tav>
                                      </p:tavLst>
                                    </p:anim>
                                    <p:anim calcmode="lin" valueType="num">
                                      <p:cBhvr>
                                        <p:cTn id="4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43" grpId="0" animBg="1"/>
      <p:bldP spid="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597998" y="230661"/>
            <a:ext cx="2230338"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4"/>
                </a:solidFill>
                <a:cs typeface="IRAN Sans" panose="020B0400000000000000" pitchFamily="34" charset="-78"/>
              </a:rPr>
              <a:t>مشخصات و شکل ظاهری</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22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2619B432-B167-4C1D-B5A7-84C69E07A2C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اهداف</a:t>
            </a: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33800406-4196-46FF-824F-3ACAB7750780}"/>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5D49FA28-F580-899D-81A8-C78F5B6CA224}"/>
              </a:ext>
            </a:extLst>
          </p:cNvPr>
          <p:cNvSpPr/>
          <p:nvPr/>
        </p:nvSpPr>
        <p:spPr>
          <a:xfrm>
            <a:off x="835876" y="747829"/>
            <a:ext cx="7655538" cy="1956227"/>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شکل:</a:t>
            </a:r>
            <a:r>
              <a:rPr lang="fa-IR" sz="1600" dirty="0">
                <a:solidFill>
                  <a:schemeClr val="tx1">
                    <a:lumMod val="95000"/>
                    <a:lumOff val="5000"/>
                  </a:schemeClr>
                </a:solidFill>
                <a:cs typeface="IRAN Sans" panose="020B0400000000000000" pitchFamily="34" charset="-78"/>
              </a:rPr>
              <a:t> تخت بودن این اجر ها باید بررسی شوند و اگر انحرافی دارند مشخص شوند بدین گونه که پنل باید بطور طولی و یا عرضی رو یک سطح صاف فشار داده شوند و انحراف از تخت بودن را باید با از یک گوه اندازه گیر و با تقریب میلی متر تعیین نمود و رواداری تخت بودن باید از ۱/۵درصد طول در حهت طولی مشروط بر انکه از ۵میلی متر بیشتر نشود و ۳درصد ارتفاع در جهت عمود بر ان باشد شکل ان ها نیز باید به شکل مکعب مستطیل باشند.</a:t>
            </a:r>
          </a:p>
        </p:txBody>
      </p:sp>
      <p:sp>
        <p:nvSpPr>
          <p:cNvPr id="3" name="Rectangle 2">
            <a:extLst>
              <a:ext uri="{FF2B5EF4-FFF2-40B4-BE49-F238E27FC236}">
                <a16:creationId xmlns:a16="http://schemas.microsoft.com/office/drawing/2014/main" id="{8756424C-E0D6-E22B-D0D6-A25FCC3D71A5}"/>
              </a:ext>
            </a:extLst>
          </p:cNvPr>
          <p:cNvSpPr/>
          <p:nvPr/>
        </p:nvSpPr>
        <p:spPr>
          <a:xfrm>
            <a:off x="848385" y="2790849"/>
            <a:ext cx="7655538" cy="1217563"/>
          </a:xfrm>
          <a:prstGeom prst="rect">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tIns="0" bIns="108000">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سوراخ ها و جدارها: </a:t>
            </a:r>
            <a:r>
              <a:rPr lang="fa-IR" sz="1600" dirty="0">
                <a:solidFill>
                  <a:schemeClr val="tx1">
                    <a:lumMod val="95000"/>
                    <a:lumOff val="5000"/>
                  </a:schemeClr>
                </a:solidFill>
                <a:cs typeface="IRAN Sans" panose="020B0400000000000000" pitchFamily="34" charset="-78"/>
              </a:rPr>
              <a:t>سطح مقطع این اجر ها ممکن است هر شکلی باشد اما سوراخ های مستطیلی ترجیح داده میشوند و دیوار های خارجی این حفره ها نباید کمتر از۹ میلی متر و جدار های داخلی نباید از ۷میلی متر کمتر باشند.</a:t>
            </a:r>
          </a:p>
        </p:txBody>
      </p:sp>
    </p:spTree>
    <p:extLst>
      <p:ext uri="{BB962C8B-B14F-4D97-AF65-F5344CB8AC3E}">
        <p14:creationId xmlns:p14="http://schemas.microsoft.com/office/powerpoint/2010/main" val="21766481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fade">
                                      <p:cBhvr>
                                        <p:cTn id="40" dur="1000"/>
                                        <p:tgtEl>
                                          <p:spTgt spid="3"/>
                                        </p:tgtEl>
                                      </p:cBhvr>
                                    </p:animEffect>
                                    <p:anim calcmode="lin" valueType="num">
                                      <p:cBhvr>
                                        <p:cTn id="41" dur="1000" fill="hold"/>
                                        <p:tgtEl>
                                          <p:spTgt spid="3"/>
                                        </p:tgtEl>
                                        <p:attrNameLst>
                                          <p:attrName>ppt_x</p:attrName>
                                        </p:attrNameLst>
                                      </p:cBhvr>
                                      <p:tavLst>
                                        <p:tav tm="0">
                                          <p:val>
                                            <p:strVal val="#ppt_x"/>
                                          </p:val>
                                        </p:tav>
                                        <p:tav tm="100000">
                                          <p:val>
                                            <p:strVal val="#ppt_x"/>
                                          </p:val>
                                        </p:tav>
                                      </p:tavLst>
                                    </p:anim>
                                    <p:anim calcmode="lin" valueType="num">
                                      <p:cBhvr>
                                        <p:cTn id="4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184373" y="1792146"/>
            <a:ext cx="3436500"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روش نصب عایق رطوبتی پیش ساخته</a:t>
            </a:r>
            <a:endParaRPr sz="6000"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341402" y="1914719"/>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27428535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6805508" y="230661"/>
            <a:ext cx="202282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اجر سبک رسی غیرباربر</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23</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 name="Rectangle: Rounded Corners 8">
            <a:extLst>
              <a:ext uri="{FF2B5EF4-FFF2-40B4-BE49-F238E27FC236}">
                <a16:creationId xmlns:a16="http://schemas.microsoft.com/office/drawing/2014/main" id="{D5B649C7-98FF-67AC-EB9A-816D5906154B}"/>
              </a:ext>
            </a:extLst>
          </p:cNvPr>
          <p:cNvSpPr/>
          <p:nvPr/>
        </p:nvSpPr>
        <p:spPr>
          <a:xfrm>
            <a:off x="500285" y="934568"/>
            <a:ext cx="2583395" cy="2704070"/>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نگهداری:</a:t>
            </a:r>
          </a:p>
          <a:p>
            <a:pPr marL="285750" indent="-285750" algn="justLow"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در هوای خشک،انبار با سقف و حداقل دمای 5+ و حداکثر 35 درجه سانتی گراد نگهداری شود</a:t>
            </a:r>
          </a:p>
          <a:p>
            <a:pPr marL="285750" indent="-285750" algn="justLow"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مدت نگهداری عایق از تاریخ تولید تا نصب نباید بیش از شش ماه باشد</a:t>
            </a:r>
          </a:p>
        </p:txBody>
      </p:sp>
      <p:sp>
        <p:nvSpPr>
          <p:cNvPr id="10" name="Rectangle: Rounded Corners 9">
            <a:extLst>
              <a:ext uri="{FF2B5EF4-FFF2-40B4-BE49-F238E27FC236}">
                <a16:creationId xmlns:a16="http://schemas.microsoft.com/office/drawing/2014/main" id="{C2A55E24-4823-27EB-C3CA-B119BC9110F2}"/>
              </a:ext>
            </a:extLst>
          </p:cNvPr>
          <p:cNvSpPr/>
          <p:nvPr/>
        </p:nvSpPr>
        <p:spPr>
          <a:xfrm>
            <a:off x="3330390" y="934568"/>
            <a:ext cx="2583395" cy="2704070"/>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حمل و نقل:</a:t>
            </a:r>
          </a:p>
          <a:p>
            <a:pPr marL="285750" indent="-285750" algn="justLow"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رول باید همیشه به طور عمودی حمل گردد.</a:t>
            </a:r>
          </a:p>
          <a:p>
            <a:pPr marL="285750" indent="-285750" algn="justLow"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هنگام تخلیه باید از پرتاب رول ها خودداری شود.</a:t>
            </a:r>
          </a:p>
          <a:p>
            <a:pPr marL="285750" indent="-285750" algn="justLow"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هنگام حمل رول ها دقت شود که لبه عایق پاره نشود. </a:t>
            </a: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6060320" y="934567"/>
            <a:ext cx="2479922" cy="2139017"/>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هدف و دامنه کاربرد: </a:t>
            </a:r>
          </a:p>
          <a:p>
            <a:pPr algn="justLow" rtl="1">
              <a:lnSpc>
                <a:spcPct val="150000"/>
              </a:lnSpc>
            </a:pPr>
            <a:r>
              <a:rPr lang="fa-IR" sz="1800" dirty="0">
                <a:solidFill>
                  <a:schemeClr val="tx1">
                    <a:lumMod val="95000"/>
                    <a:lumOff val="5000"/>
                  </a:schemeClr>
                </a:solidFill>
                <a:cs typeface="IRAN Sans" panose="020B0400000000000000" pitchFamily="34" charset="-78"/>
              </a:rPr>
              <a:t>هدف از تدویین ایین کار هماهنگی در نگهداری، جابجایی و نصب عایق های رطوبتی پیش ساخته می باشد.</a:t>
            </a:r>
          </a:p>
        </p:txBody>
      </p:sp>
    </p:spTree>
    <p:extLst>
      <p:ext uri="{BB962C8B-B14F-4D97-AF65-F5344CB8AC3E}">
        <p14:creationId xmlns:p14="http://schemas.microsoft.com/office/powerpoint/2010/main" val="3622506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1000"/>
                                        <p:tgtEl>
                                          <p:spTgt spid="9"/>
                                        </p:tgtEl>
                                      </p:cBhvr>
                                    </p:animEffect>
                                    <p:anim calcmode="lin" valueType="num">
                                      <p:cBhvr>
                                        <p:cTn id="26" dur="1000" fill="hold"/>
                                        <p:tgtEl>
                                          <p:spTgt spid="9"/>
                                        </p:tgtEl>
                                        <p:attrNameLst>
                                          <p:attrName>ppt_x</p:attrName>
                                        </p:attrNameLst>
                                      </p:cBhvr>
                                      <p:tavLst>
                                        <p:tav tm="0">
                                          <p:val>
                                            <p:strVal val="#ppt_x"/>
                                          </p:val>
                                        </p:tav>
                                        <p:tav tm="100000">
                                          <p:val>
                                            <p:strVal val="#ppt_x"/>
                                          </p:val>
                                        </p:tav>
                                      </p:tavLst>
                                    </p:anim>
                                    <p:anim calcmode="lin" valueType="num">
                                      <p:cBhvr>
                                        <p:cTn id="27" dur="1000" fill="hold"/>
                                        <p:tgtEl>
                                          <p:spTgt spid="9"/>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42" presetClass="entr" presetSubtype="0"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1000"/>
                                        <p:tgtEl>
                                          <p:spTgt spid="10"/>
                                        </p:tgtEl>
                                      </p:cBhvr>
                                    </p:animEffect>
                                    <p:anim calcmode="lin" valueType="num">
                                      <p:cBhvr>
                                        <p:cTn id="32" dur="1000" fill="hold"/>
                                        <p:tgtEl>
                                          <p:spTgt spid="10"/>
                                        </p:tgtEl>
                                        <p:attrNameLst>
                                          <p:attrName>ppt_x</p:attrName>
                                        </p:attrNameLst>
                                      </p:cBhvr>
                                      <p:tavLst>
                                        <p:tav tm="0">
                                          <p:val>
                                            <p:strVal val="#ppt_x"/>
                                          </p:val>
                                        </p:tav>
                                        <p:tav tm="100000">
                                          <p:val>
                                            <p:strVal val="#ppt_x"/>
                                          </p:val>
                                        </p:tav>
                                      </p:tavLst>
                                    </p:anim>
                                    <p:anim calcmode="lin" valueType="num">
                                      <p:cBhvr>
                                        <p:cTn id="33" dur="1000" fill="hold"/>
                                        <p:tgtEl>
                                          <p:spTgt spid="10"/>
                                        </p:tgtEl>
                                        <p:attrNameLst>
                                          <p:attrName>ppt_y</p:attrName>
                                        </p:attrNameLst>
                                      </p:cBhvr>
                                      <p:tavLst>
                                        <p:tav tm="0">
                                          <p:val>
                                            <p:strVal val="#ppt_y+.1"/>
                                          </p:val>
                                        </p:tav>
                                        <p:tav tm="100000">
                                          <p:val>
                                            <p:strVal val="#ppt_y"/>
                                          </p:val>
                                        </p:tav>
                                      </p:tavLst>
                                    </p:anim>
                                  </p:childTnLst>
                                </p:cTn>
                              </p:par>
                            </p:childTnLst>
                          </p:cTn>
                        </p:par>
                        <p:par>
                          <p:cTn id="34" fill="hold">
                            <p:stCondLst>
                              <p:cond delay="3550"/>
                            </p:stCondLst>
                            <p:childTnLst>
                              <p:par>
                                <p:cTn id="35" presetID="42" presetClass="entr" presetSubtype="0" fill="hold" grpId="0" nodeType="after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1000"/>
                                        <p:tgtEl>
                                          <p:spTgt spid="17"/>
                                        </p:tgtEl>
                                      </p:cBhvr>
                                    </p:animEffect>
                                    <p:anim calcmode="lin" valueType="num">
                                      <p:cBhvr>
                                        <p:cTn id="38" dur="1000" fill="hold"/>
                                        <p:tgtEl>
                                          <p:spTgt spid="17"/>
                                        </p:tgtEl>
                                        <p:attrNameLst>
                                          <p:attrName>ppt_x</p:attrName>
                                        </p:attrNameLst>
                                      </p:cBhvr>
                                      <p:tavLst>
                                        <p:tav tm="0">
                                          <p:val>
                                            <p:strVal val="#ppt_x"/>
                                          </p:val>
                                        </p:tav>
                                        <p:tav tm="100000">
                                          <p:val>
                                            <p:strVal val="#ppt_x"/>
                                          </p:val>
                                        </p:tav>
                                      </p:tavLst>
                                    </p:anim>
                                    <p:anim calcmode="lin" valueType="num">
                                      <p:cBhvr>
                                        <p:cTn id="3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9" grpId="0" animBg="1"/>
      <p:bldP spid="10" grpId="0" animBg="1"/>
      <p:bldP spid="1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443330" y="230661"/>
            <a:ext cx="2385006"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نکات ضروری قبل از نصب</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24</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5B7CCEDD-7FEC-95BB-9A3A-4F2A5281985F}"/>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تمام سطوحی که قرار است با عایق رطوبتی محافظت گردند میبایست نرم، تمیز و خشک باشد.</a:t>
            </a:r>
            <a:endParaRPr sz="1600"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9E00386D-297C-62B3-F753-97B8293AE4DC}"/>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تموم سطوح میبایست به طرف ابرو ها شیب بندی شوند تا اب در سطح عایق جمع نشود،(شیب پنج درصد)</a:t>
            </a:r>
          </a:p>
        </p:txBody>
      </p:sp>
      <p:sp>
        <p:nvSpPr>
          <p:cNvPr id="4" name="Google Shape;1169;p37">
            <a:extLst>
              <a:ext uri="{FF2B5EF4-FFF2-40B4-BE49-F238E27FC236}">
                <a16:creationId xmlns:a16="http://schemas.microsoft.com/office/drawing/2014/main" id="{AD05C4EE-77C8-695D-4276-C0F4AD246B70}"/>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نصب در هوای نامناسب یعنی کمتر از 5+ و بیش از 40درجه سانتی گراد اجتناب شود.</a:t>
            </a:r>
          </a:p>
        </p:txBody>
      </p:sp>
      <p:sp>
        <p:nvSpPr>
          <p:cNvPr id="5" name="Google Shape;1170;p37">
            <a:extLst>
              <a:ext uri="{FF2B5EF4-FFF2-40B4-BE49-F238E27FC236}">
                <a16:creationId xmlns:a16="http://schemas.microsoft.com/office/drawing/2014/main" id="{6D10CEFB-F656-84A9-503B-EEC7D8532024}"/>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منظور افزایش قابلیت چسبندگی عایق روی سطح مورد نظر را قبل از نصب عایق با پرایمر و مشتقات قیری زود خشک شونده اندود نمایید</a:t>
            </a:r>
          </a:p>
        </p:txBody>
      </p:sp>
      <p:sp>
        <p:nvSpPr>
          <p:cNvPr id="6" name="Google Shape;1171;p37">
            <a:extLst>
              <a:ext uri="{FF2B5EF4-FFF2-40B4-BE49-F238E27FC236}">
                <a16:creationId xmlns:a16="http://schemas.microsoft.com/office/drawing/2014/main" id="{D1FA5F97-0123-D777-F982-6BEAC101FB1D}"/>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C14D9967-493D-E0ED-F8E5-E29307FC3D72}"/>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C771A5E4-6DE5-CB42-7BDA-6EA99D4786B2}"/>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F5DF28BD-280A-A5D6-A40D-1AAA874A1494}"/>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a:t>
              </a:r>
              <a:endParaRPr sz="1500" dirty="0"/>
            </a:p>
          </p:txBody>
        </p:sp>
      </p:grpSp>
      <p:grpSp>
        <p:nvGrpSpPr>
          <p:cNvPr id="10" name="Google Shape;1177;p37">
            <a:extLst>
              <a:ext uri="{FF2B5EF4-FFF2-40B4-BE49-F238E27FC236}">
                <a16:creationId xmlns:a16="http://schemas.microsoft.com/office/drawing/2014/main" id="{EE208A37-2008-AA71-0F64-759DAD987C5C}"/>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0CA98932-8A78-3DEA-E100-45E858AFFD12}"/>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ED705893-9E58-09D2-76E2-529594EEA8E6}"/>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2</a:t>
              </a:r>
              <a:endParaRPr sz="1500" dirty="0"/>
            </a:p>
          </p:txBody>
        </p:sp>
      </p:grpSp>
      <p:grpSp>
        <p:nvGrpSpPr>
          <p:cNvPr id="13" name="Google Shape;1180;p37">
            <a:extLst>
              <a:ext uri="{FF2B5EF4-FFF2-40B4-BE49-F238E27FC236}">
                <a16:creationId xmlns:a16="http://schemas.microsoft.com/office/drawing/2014/main" id="{DB85B706-A7AF-4E73-0AA6-52E94C4995D4}"/>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3EE28E49-54C1-F36B-C48D-FC90F32D1371}"/>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BBC4A208-8B2A-DDA6-1DEA-FB9E888FFB20}"/>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3</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B23046F3-572F-6B07-C68F-4340D4C2F81E}"/>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D1AAC89E-1B37-824B-439F-EBC14325E1E5}"/>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07BB3211-40B0-0711-CAC9-F67D1790CA5D}"/>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70F3E64E-63E2-EB2C-D702-F8193FE956FE}"/>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6E55015D-9258-AFD1-1F18-1546C8F1C89E}"/>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4</a:t>
              </a:r>
              <a:endParaRPr sz="1500" dirty="0"/>
            </a:p>
          </p:txBody>
        </p:sp>
      </p:grpSp>
    </p:spTree>
    <p:extLst>
      <p:ext uri="{BB962C8B-B14F-4D97-AF65-F5344CB8AC3E}">
        <p14:creationId xmlns:p14="http://schemas.microsoft.com/office/powerpoint/2010/main" val="246196823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425610" y="230661"/>
            <a:ext cx="140272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5"/>
                </a:solidFill>
                <a:cs typeface="IRAN Sans" panose="020B0400000000000000" pitchFamily="34" charset="-78"/>
              </a:rPr>
              <a:t>وسایل نصب</a:t>
            </a:r>
            <a:endParaRPr sz="1600" b="1" dirty="0">
              <a:solidFill>
                <a:schemeClr val="accent5"/>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grpSp>
        <p:nvGrpSpPr>
          <p:cNvPr id="211" name="Google Shape;151;p17">
            <a:extLst>
              <a:ext uri="{FF2B5EF4-FFF2-40B4-BE49-F238E27FC236}">
                <a16:creationId xmlns:a16="http://schemas.microsoft.com/office/drawing/2014/main" id="{72431DB8-F323-4A8E-B007-055BDFA931C0}"/>
              </a:ext>
            </a:extLst>
          </p:cNvPr>
          <p:cNvGrpSpPr/>
          <p:nvPr/>
        </p:nvGrpSpPr>
        <p:grpSpPr>
          <a:xfrm>
            <a:off x="3267452" y="935289"/>
            <a:ext cx="2605800" cy="2606700"/>
            <a:chOff x="3269150" y="1529586"/>
            <a:chExt cx="2605800" cy="2606700"/>
          </a:xfrm>
        </p:grpSpPr>
        <p:sp>
          <p:nvSpPr>
            <p:cNvPr id="212" name="Google Shape;152;p17">
              <a:extLst>
                <a:ext uri="{FF2B5EF4-FFF2-40B4-BE49-F238E27FC236}">
                  <a16:creationId xmlns:a16="http://schemas.microsoft.com/office/drawing/2014/main" id="{57FF0CEE-F6C2-4D6B-AAC4-A17762E780C5}"/>
                </a:ext>
              </a:extLst>
            </p:cNvPr>
            <p:cNvSpPr/>
            <p:nvPr/>
          </p:nvSpPr>
          <p:spPr>
            <a:xfrm>
              <a:off x="3269150" y="1529586"/>
              <a:ext cx="2605800" cy="2606700"/>
            </a:xfrm>
            <a:prstGeom prst="ellipse">
              <a:avLst/>
            </a:prstGeom>
            <a:noFill/>
            <a:ln w="19050" cap="flat" cmpd="sng">
              <a:solidFill>
                <a:srgbClr val="000000"/>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53;p17">
              <a:extLst>
                <a:ext uri="{FF2B5EF4-FFF2-40B4-BE49-F238E27FC236}">
                  <a16:creationId xmlns:a16="http://schemas.microsoft.com/office/drawing/2014/main" id="{872C30E6-9520-4BD5-B3D5-76D40674AA3C}"/>
                </a:ext>
              </a:extLst>
            </p:cNvPr>
            <p:cNvSpPr/>
            <p:nvPr/>
          </p:nvSpPr>
          <p:spPr>
            <a:xfrm>
              <a:off x="3734500" y="1995080"/>
              <a:ext cx="1675200" cy="1675500"/>
            </a:xfrm>
            <a:prstGeom prst="ellipse">
              <a:avLst/>
            </a:prstGeom>
            <a:noFill/>
            <a:ln w="19050" cap="flat" cmpd="sng">
              <a:solidFill>
                <a:srgbClr val="000000"/>
              </a:solidFill>
              <a:prstDash val="dot"/>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54;p17">
              <a:extLst>
                <a:ext uri="{FF2B5EF4-FFF2-40B4-BE49-F238E27FC236}">
                  <a16:creationId xmlns:a16="http://schemas.microsoft.com/office/drawing/2014/main" id="{239E4644-C304-48E2-8E36-04BCADCBC884}"/>
                </a:ext>
              </a:extLst>
            </p:cNvPr>
            <p:cNvSpPr/>
            <p:nvPr/>
          </p:nvSpPr>
          <p:spPr>
            <a:xfrm>
              <a:off x="4143200" y="2404050"/>
              <a:ext cx="857700" cy="85770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700" dirty="0">
                  <a:solidFill>
                    <a:srgbClr val="FFFFFF"/>
                  </a:solidFill>
                  <a:latin typeface="Fira Sans Extra Condensed Medium"/>
                  <a:cs typeface="IRAN Sans" panose="020B0400000000000000" pitchFamily="34" charset="-78"/>
                  <a:sym typeface="Fira Sans Extra Condensed Medium"/>
                </a:rPr>
                <a:t>وسایل نصب</a:t>
              </a:r>
              <a:endParaRPr sz="1700" dirty="0">
                <a:solidFill>
                  <a:srgbClr val="FFFFFF"/>
                </a:solidFill>
                <a:cs typeface="IRAN Sans" panose="020B0400000000000000" pitchFamily="34" charset="-78"/>
              </a:endParaRPr>
            </a:p>
          </p:txBody>
        </p:sp>
      </p:grpSp>
      <p:grpSp>
        <p:nvGrpSpPr>
          <p:cNvPr id="19" name="Group 18">
            <a:extLst>
              <a:ext uri="{FF2B5EF4-FFF2-40B4-BE49-F238E27FC236}">
                <a16:creationId xmlns:a16="http://schemas.microsoft.com/office/drawing/2014/main" id="{0E64F457-1839-41CC-84AB-95E345701D97}"/>
              </a:ext>
            </a:extLst>
          </p:cNvPr>
          <p:cNvGrpSpPr/>
          <p:nvPr/>
        </p:nvGrpSpPr>
        <p:grpSpPr>
          <a:xfrm>
            <a:off x="1560305" y="923222"/>
            <a:ext cx="2032170" cy="354600"/>
            <a:chOff x="1230709" y="1231079"/>
            <a:chExt cx="2032170" cy="354600"/>
          </a:xfrm>
        </p:grpSpPr>
        <p:cxnSp>
          <p:nvCxnSpPr>
            <p:cNvPr id="216" name="Google Shape;158;p17">
              <a:extLst>
                <a:ext uri="{FF2B5EF4-FFF2-40B4-BE49-F238E27FC236}">
                  <a16:creationId xmlns:a16="http://schemas.microsoft.com/office/drawing/2014/main" id="{5810F115-8ED3-4265-9CCA-B598A52F825D}"/>
                </a:ext>
              </a:extLst>
            </p:cNvPr>
            <p:cNvCxnSpPr>
              <a:cxnSpLocks/>
            </p:cNvCxnSpPr>
            <p:nvPr/>
          </p:nvCxnSpPr>
          <p:spPr>
            <a:xfrm rot="10800000">
              <a:off x="2772979" y="1433609"/>
              <a:ext cx="489900" cy="0"/>
            </a:xfrm>
            <a:prstGeom prst="straightConnector1">
              <a:avLst/>
            </a:prstGeom>
            <a:noFill/>
            <a:ln w="9525" cap="flat" cmpd="sng">
              <a:solidFill>
                <a:schemeClr val="accent1"/>
              </a:solidFill>
              <a:prstDash val="solid"/>
              <a:round/>
              <a:headEnd type="none" w="med" len="med"/>
              <a:tailEnd type="oval" w="med" len="med"/>
            </a:ln>
          </p:spPr>
        </p:cxnSp>
        <p:sp>
          <p:nvSpPr>
            <p:cNvPr id="219" name="Google Shape;161;p17">
              <a:extLst>
                <a:ext uri="{FF2B5EF4-FFF2-40B4-BE49-F238E27FC236}">
                  <a16:creationId xmlns:a16="http://schemas.microsoft.com/office/drawing/2014/main" id="{2CF3EFAB-C66F-4C82-9DB5-7841EA09AE5D}"/>
                </a:ext>
              </a:extLst>
            </p:cNvPr>
            <p:cNvSpPr txBox="1"/>
            <p:nvPr/>
          </p:nvSpPr>
          <p:spPr>
            <a:xfrm>
              <a:off x="1230709" y="1231079"/>
              <a:ext cx="1884600"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fa-IR" sz="2000" b="1" dirty="0">
                  <a:solidFill>
                    <a:schemeClr val="accent1"/>
                  </a:solidFill>
                  <a:latin typeface="Fira Sans Extra Condensed Medium"/>
                  <a:ea typeface="Fira Sans Extra Condensed Medium"/>
                  <a:cs typeface="IRAN Sans" panose="020B0400000000000000" pitchFamily="34" charset="-78"/>
                  <a:sym typeface="Fira Sans Extra Condensed Medium"/>
                </a:rPr>
                <a:t>فندک جرقه‌ای</a:t>
              </a:r>
              <a:endParaRPr sz="2000" b="1" dirty="0">
                <a:solidFill>
                  <a:schemeClr val="accent1"/>
                </a:solidFill>
                <a:latin typeface="Fira Sans Extra Condensed Medium"/>
                <a:ea typeface="Fira Sans Extra Condensed Medium"/>
                <a:cs typeface="IRAN Sans" panose="020B0400000000000000" pitchFamily="34" charset="-78"/>
                <a:sym typeface="Fira Sans Extra Condensed Medium"/>
              </a:endParaRPr>
            </a:p>
          </p:txBody>
        </p:sp>
      </p:grpSp>
      <p:grpSp>
        <p:nvGrpSpPr>
          <p:cNvPr id="20" name="Group 19">
            <a:extLst>
              <a:ext uri="{FF2B5EF4-FFF2-40B4-BE49-F238E27FC236}">
                <a16:creationId xmlns:a16="http://schemas.microsoft.com/office/drawing/2014/main" id="{D8179D7C-C8E5-42D7-A56A-784C9786020B}"/>
              </a:ext>
            </a:extLst>
          </p:cNvPr>
          <p:cNvGrpSpPr/>
          <p:nvPr/>
        </p:nvGrpSpPr>
        <p:grpSpPr>
          <a:xfrm>
            <a:off x="1522532" y="2871169"/>
            <a:ext cx="1884600" cy="354600"/>
            <a:chOff x="1522532" y="2871169"/>
            <a:chExt cx="1884600" cy="354600"/>
          </a:xfrm>
        </p:grpSpPr>
        <p:sp>
          <p:nvSpPr>
            <p:cNvPr id="221" name="Google Shape;164;p17">
              <a:extLst>
                <a:ext uri="{FF2B5EF4-FFF2-40B4-BE49-F238E27FC236}">
                  <a16:creationId xmlns:a16="http://schemas.microsoft.com/office/drawing/2014/main" id="{88C98CEF-45F3-4EAB-9910-4DEDEFE78F0B}"/>
                </a:ext>
              </a:extLst>
            </p:cNvPr>
            <p:cNvSpPr txBox="1"/>
            <p:nvPr/>
          </p:nvSpPr>
          <p:spPr>
            <a:xfrm>
              <a:off x="1522532" y="2871169"/>
              <a:ext cx="1884600"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fa-IR" sz="2000" b="1" dirty="0">
                  <a:solidFill>
                    <a:schemeClr val="accent4"/>
                  </a:solidFill>
                  <a:latin typeface="Fira Sans Extra Condensed Medium"/>
                  <a:ea typeface="Fira Sans Extra Condensed Medium"/>
                  <a:cs typeface="IRAN Sans" panose="020B0400000000000000" pitchFamily="34" charset="-78"/>
                  <a:sym typeface="Fira Sans Extra Condensed Medium"/>
                </a:rPr>
                <a:t>تیغ موکت</a:t>
              </a:r>
              <a:endParaRPr sz="2000" b="1" dirty="0">
                <a:solidFill>
                  <a:schemeClr val="accent4"/>
                </a:solidFill>
                <a:latin typeface="Fira Sans Extra Condensed Medium"/>
                <a:ea typeface="Fira Sans Extra Condensed Medium"/>
                <a:cs typeface="IRAN Sans" panose="020B0400000000000000" pitchFamily="34" charset="-78"/>
                <a:sym typeface="Fira Sans Extra Condensed Medium"/>
              </a:endParaRPr>
            </a:p>
          </p:txBody>
        </p:sp>
        <p:cxnSp>
          <p:nvCxnSpPr>
            <p:cNvPr id="224" name="Google Shape;167;p17">
              <a:extLst>
                <a:ext uri="{FF2B5EF4-FFF2-40B4-BE49-F238E27FC236}">
                  <a16:creationId xmlns:a16="http://schemas.microsoft.com/office/drawing/2014/main" id="{462B1EF0-C8C2-4488-BBD4-35695AC00887}"/>
                </a:ext>
              </a:extLst>
            </p:cNvPr>
            <p:cNvCxnSpPr>
              <a:cxnSpLocks/>
              <a:stCxn id="223" idx="2"/>
            </p:cNvCxnSpPr>
            <p:nvPr/>
          </p:nvCxnSpPr>
          <p:spPr>
            <a:xfrm rot="10800000">
              <a:off x="2708002" y="3058028"/>
              <a:ext cx="489900" cy="0"/>
            </a:xfrm>
            <a:prstGeom prst="straightConnector1">
              <a:avLst/>
            </a:prstGeom>
            <a:noFill/>
            <a:ln w="9525" cap="flat" cmpd="sng">
              <a:solidFill>
                <a:schemeClr val="accent4"/>
              </a:solidFill>
              <a:prstDash val="solid"/>
              <a:round/>
              <a:headEnd type="none" w="med" len="med"/>
              <a:tailEnd type="oval" w="med" len="med"/>
            </a:ln>
          </p:spPr>
        </p:cxnSp>
      </p:grpSp>
      <p:grpSp>
        <p:nvGrpSpPr>
          <p:cNvPr id="21" name="Group 20">
            <a:extLst>
              <a:ext uri="{FF2B5EF4-FFF2-40B4-BE49-F238E27FC236}">
                <a16:creationId xmlns:a16="http://schemas.microsoft.com/office/drawing/2014/main" id="{8EFE9414-41CE-4BC5-80B3-580DB2683EC9}"/>
              </a:ext>
            </a:extLst>
          </p:cNvPr>
          <p:cNvGrpSpPr/>
          <p:nvPr/>
        </p:nvGrpSpPr>
        <p:grpSpPr>
          <a:xfrm>
            <a:off x="5942902" y="2835740"/>
            <a:ext cx="2352691" cy="354600"/>
            <a:chOff x="5942902" y="2835740"/>
            <a:chExt cx="2352691" cy="354600"/>
          </a:xfrm>
        </p:grpSpPr>
        <p:sp>
          <p:nvSpPr>
            <p:cNvPr id="226" name="Google Shape;170;p17">
              <a:extLst>
                <a:ext uri="{FF2B5EF4-FFF2-40B4-BE49-F238E27FC236}">
                  <a16:creationId xmlns:a16="http://schemas.microsoft.com/office/drawing/2014/main" id="{0A1BE286-7B0D-4FB9-A1D9-814905A8B78B}"/>
                </a:ext>
              </a:extLst>
            </p:cNvPr>
            <p:cNvSpPr txBox="1"/>
            <p:nvPr/>
          </p:nvSpPr>
          <p:spPr>
            <a:xfrm>
              <a:off x="6410993" y="2835740"/>
              <a:ext cx="18846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fa-IR" sz="2000" b="1" dirty="0">
                  <a:solidFill>
                    <a:schemeClr val="accent3"/>
                  </a:solidFill>
                  <a:latin typeface="Fira Sans Extra Condensed Medium"/>
                  <a:ea typeface="Fira Sans Extra Condensed Medium"/>
                  <a:cs typeface="IRAN Sans" panose="020B0400000000000000" pitchFamily="34" charset="-78"/>
                  <a:sym typeface="Fira Sans Extra Condensed Medium"/>
                </a:rPr>
                <a:t>کمچه و ماله‌بند کنی</a:t>
              </a:r>
              <a:endParaRPr sz="2000" b="1" dirty="0">
                <a:solidFill>
                  <a:schemeClr val="accent3"/>
                </a:solidFill>
                <a:latin typeface="Fira Sans Extra Condensed Medium"/>
                <a:ea typeface="Fira Sans Extra Condensed Medium"/>
                <a:cs typeface="IRAN Sans" panose="020B0400000000000000" pitchFamily="34" charset="-78"/>
                <a:sym typeface="Fira Sans Extra Condensed Medium"/>
              </a:endParaRPr>
            </a:p>
          </p:txBody>
        </p:sp>
        <p:cxnSp>
          <p:nvCxnSpPr>
            <p:cNvPr id="229" name="Google Shape;173;p17">
              <a:extLst>
                <a:ext uri="{FF2B5EF4-FFF2-40B4-BE49-F238E27FC236}">
                  <a16:creationId xmlns:a16="http://schemas.microsoft.com/office/drawing/2014/main" id="{867F48DD-F050-4712-92C1-CFE046DD36AE}"/>
                </a:ext>
              </a:extLst>
            </p:cNvPr>
            <p:cNvCxnSpPr>
              <a:cxnSpLocks/>
              <a:endCxn id="228" idx="6"/>
            </p:cNvCxnSpPr>
            <p:nvPr/>
          </p:nvCxnSpPr>
          <p:spPr>
            <a:xfrm rot="10800000">
              <a:off x="5942902" y="3058028"/>
              <a:ext cx="489900" cy="0"/>
            </a:xfrm>
            <a:prstGeom prst="straightConnector1">
              <a:avLst/>
            </a:prstGeom>
            <a:noFill/>
            <a:ln w="9525" cap="flat" cmpd="sng">
              <a:solidFill>
                <a:schemeClr val="accent3"/>
              </a:solidFill>
              <a:prstDash val="solid"/>
              <a:round/>
              <a:headEnd type="oval" w="med" len="med"/>
              <a:tailEnd type="none" w="med" len="med"/>
            </a:ln>
          </p:spPr>
        </p:cxnSp>
      </p:grpSp>
      <p:sp>
        <p:nvSpPr>
          <p:cNvPr id="215" name="Google Shape;157;p17">
            <a:extLst>
              <a:ext uri="{FF2B5EF4-FFF2-40B4-BE49-F238E27FC236}">
                <a16:creationId xmlns:a16="http://schemas.microsoft.com/office/drawing/2014/main" id="{EE789F18-7D70-42D1-8A27-00170C0A1075}"/>
              </a:ext>
            </a:extLst>
          </p:cNvPr>
          <p:cNvSpPr/>
          <p:nvPr/>
        </p:nvSpPr>
        <p:spPr>
          <a:xfrm>
            <a:off x="3527498" y="843821"/>
            <a:ext cx="534900" cy="534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sp>
        <p:nvSpPr>
          <p:cNvPr id="223" name="Google Shape;166;p17">
            <a:extLst>
              <a:ext uri="{FF2B5EF4-FFF2-40B4-BE49-F238E27FC236}">
                <a16:creationId xmlns:a16="http://schemas.microsoft.com/office/drawing/2014/main" id="{EE006D1E-1B00-4E8B-B00C-3A3CF7110EEC}"/>
              </a:ext>
            </a:extLst>
          </p:cNvPr>
          <p:cNvSpPr/>
          <p:nvPr/>
        </p:nvSpPr>
        <p:spPr>
          <a:xfrm>
            <a:off x="3197902" y="2790578"/>
            <a:ext cx="534900" cy="534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grpSp>
        <p:nvGrpSpPr>
          <p:cNvPr id="9" name="Group 8">
            <a:extLst>
              <a:ext uri="{FF2B5EF4-FFF2-40B4-BE49-F238E27FC236}">
                <a16:creationId xmlns:a16="http://schemas.microsoft.com/office/drawing/2014/main" id="{F5A7EA47-966A-4D4A-A182-C2F977385428}"/>
              </a:ext>
            </a:extLst>
          </p:cNvPr>
          <p:cNvGrpSpPr/>
          <p:nvPr/>
        </p:nvGrpSpPr>
        <p:grpSpPr>
          <a:xfrm>
            <a:off x="5408002" y="2790578"/>
            <a:ext cx="534900" cy="534900"/>
            <a:chOff x="5408002" y="2790578"/>
            <a:chExt cx="534900" cy="534900"/>
          </a:xfrm>
        </p:grpSpPr>
        <p:sp>
          <p:nvSpPr>
            <p:cNvPr id="228" name="Google Shape;172;p17">
              <a:extLst>
                <a:ext uri="{FF2B5EF4-FFF2-40B4-BE49-F238E27FC236}">
                  <a16:creationId xmlns:a16="http://schemas.microsoft.com/office/drawing/2014/main" id="{B0D20B7D-D8A0-47E3-BB7F-63B7D0C7A8AC}"/>
                </a:ext>
              </a:extLst>
            </p:cNvPr>
            <p:cNvSpPr/>
            <p:nvPr/>
          </p:nvSpPr>
          <p:spPr>
            <a:xfrm>
              <a:off x="5408002" y="2790578"/>
              <a:ext cx="534900" cy="5349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sp>
          <p:nvSpPr>
            <p:cNvPr id="254" name="Google Shape;199;p17">
              <a:extLst>
                <a:ext uri="{FF2B5EF4-FFF2-40B4-BE49-F238E27FC236}">
                  <a16:creationId xmlns:a16="http://schemas.microsoft.com/office/drawing/2014/main" id="{5C46DF68-5755-4C14-B73F-FD40242B94C5}"/>
                </a:ext>
              </a:extLst>
            </p:cNvPr>
            <p:cNvSpPr/>
            <p:nvPr/>
          </p:nvSpPr>
          <p:spPr>
            <a:xfrm>
              <a:off x="5673756" y="3135491"/>
              <a:ext cx="16" cy="16"/>
            </a:xfrm>
            <a:custGeom>
              <a:avLst/>
              <a:gdLst/>
              <a:ahLst/>
              <a:cxnLst/>
              <a:rect l="l" t="t" r="r" b="b"/>
              <a:pathLst>
                <a:path w="1" h="1" extrusionOk="0">
                  <a:moveTo>
                    <a:pt x="1" y="0"/>
                  </a:move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97" name="Google Shape;299;p20">
            <a:extLst>
              <a:ext uri="{FF2B5EF4-FFF2-40B4-BE49-F238E27FC236}">
                <a16:creationId xmlns:a16="http://schemas.microsoft.com/office/drawing/2014/main" id="{F06173A8-535D-4A1E-9732-FB3CCF49055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9" name="Google Shape;307;p20">
            <a:extLst>
              <a:ext uri="{FF2B5EF4-FFF2-40B4-BE49-F238E27FC236}">
                <a16:creationId xmlns:a16="http://schemas.microsoft.com/office/drawing/2014/main" id="{550CDCBE-AC72-43FB-8745-7EA0E240B88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3" name="Google Shape;315;p20">
            <a:extLst>
              <a:ext uri="{FF2B5EF4-FFF2-40B4-BE49-F238E27FC236}">
                <a16:creationId xmlns:a16="http://schemas.microsoft.com/office/drawing/2014/main" id="{0D7E9B8A-37FD-4A24-A947-CE793BA7EB17}"/>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4" name="Google Shape;317;p20">
            <a:hlinkClick r:id="rId3" action="ppaction://hlinksldjump"/>
            <a:extLst>
              <a:ext uri="{FF2B5EF4-FFF2-40B4-BE49-F238E27FC236}">
                <a16:creationId xmlns:a16="http://schemas.microsoft.com/office/drawing/2014/main" id="{9EA0E528-1805-4DCF-9CF2-6DAF7C7F3B18}"/>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05" name="Google Shape;322;p20">
            <a:extLst>
              <a:ext uri="{FF2B5EF4-FFF2-40B4-BE49-F238E27FC236}">
                <a16:creationId xmlns:a16="http://schemas.microsoft.com/office/drawing/2014/main" id="{07C8D6AC-9D76-4C5D-AD17-CDCA83A629AA}"/>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07;p20">
            <a:extLst>
              <a:ext uri="{FF2B5EF4-FFF2-40B4-BE49-F238E27FC236}">
                <a16:creationId xmlns:a16="http://schemas.microsoft.com/office/drawing/2014/main" id="{638FF363-6F69-4AA9-9ACF-58F4DF0515FF}"/>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07;p20">
            <a:extLst>
              <a:ext uri="{FF2B5EF4-FFF2-40B4-BE49-F238E27FC236}">
                <a16:creationId xmlns:a16="http://schemas.microsoft.com/office/drawing/2014/main" id="{2EE97C65-08CB-401D-9EC4-6B8907040D0E}"/>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0" name="Google Shape;309;p20">
            <a:hlinkClick r:id="" action="ppaction://noaction"/>
            <a:extLst>
              <a:ext uri="{FF2B5EF4-FFF2-40B4-BE49-F238E27FC236}">
                <a16:creationId xmlns:a16="http://schemas.microsoft.com/office/drawing/2014/main" id="{7C2453B7-EF7E-4A32-9760-A9DD5D19EDAF}"/>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61" name="Google Shape;326;p20">
            <a:extLst>
              <a:ext uri="{FF2B5EF4-FFF2-40B4-BE49-F238E27FC236}">
                <a16:creationId xmlns:a16="http://schemas.microsoft.com/office/drawing/2014/main" id="{B67C1457-B648-45A0-B8D7-CA3FD7DDF5CE}"/>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2" name="Google Shape;303;p20">
            <a:extLst>
              <a:ext uri="{FF2B5EF4-FFF2-40B4-BE49-F238E27FC236}">
                <a16:creationId xmlns:a16="http://schemas.microsoft.com/office/drawing/2014/main" id="{EF4CC276-695D-4F6D-919D-A4DC78986683}"/>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3" name="Google Shape;311;p20">
            <a:extLst>
              <a:ext uri="{FF2B5EF4-FFF2-40B4-BE49-F238E27FC236}">
                <a16:creationId xmlns:a16="http://schemas.microsoft.com/office/drawing/2014/main" id="{4D06C55A-2111-4D57-ABEB-C5CB2C58D6FF}"/>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4" name="Google Shape;329;p20">
            <a:extLst>
              <a:ext uri="{FF2B5EF4-FFF2-40B4-BE49-F238E27FC236}">
                <a16:creationId xmlns:a16="http://schemas.microsoft.com/office/drawing/2014/main" id="{15AA69BF-3628-486C-BAF8-47F4D0CFBBF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5" name="Google Shape;311;p20">
            <a:extLst>
              <a:ext uri="{FF2B5EF4-FFF2-40B4-BE49-F238E27FC236}">
                <a16:creationId xmlns:a16="http://schemas.microsoft.com/office/drawing/2014/main" id="{8858FA34-871C-4698-8B3D-6E317433A55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66" name="Google Shape;311;p20">
            <a:extLst>
              <a:ext uri="{FF2B5EF4-FFF2-40B4-BE49-F238E27FC236}">
                <a16:creationId xmlns:a16="http://schemas.microsoft.com/office/drawing/2014/main" id="{BED4968B-01DC-4814-B2E6-201416911055}"/>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7" name="Group 266">
            <a:extLst>
              <a:ext uri="{FF2B5EF4-FFF2-40B4-BE49-F238E27FC236}">
                <a16:creationId xmlns:a16="http://schemas.microsoft.com/office/drawing/2014/main" id="{65649927-480A-4845-94F1-9903FE0236DD}"/>
              </a:ext>
            </a:extLst>
          </p:cNvPr>
          <p:cNvGrpSpPr/>
          <p:nvPr/>
        </p:nvGrpSpPr>
        <p:grpSpPr>
          <a:xfrm>
            <a:off x="2090313" y="4055040"/>
            <a:ext cx="496596" cy="647522"/>
            <a:chOff x="2090313" y="4055040"/>
            <a:chExt cx="496596" cy="647522"/>
          </a:xfrm>
        </p:grpSpPr>
        <p:cxnSp>
          <p:nvCxnSpPr>
            <p:cNvPr id="268" name="Google Shape;327;p20">
              <a:extLst>
                <a:ext uri="{FF2B5EF4-FFF2-40B4-BE49-F238E27FC236}">
                  <a16:creationId xmlns:a16="http://schemas.microsoft.com/office/drawing/2014/main" id="{16CBF1D0-FCBE-464D-A3AD-7FD82BFAC60E}"/>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25;p20">
              <a:extLst>
                <a:ext uri="{FF2B5EF4-FFF2-40B4-BE49-F238E27FC236}">
                  <a16:creationId xmlns:a16="http://schemas.microsoft.com/office/drawing/2014/main" id="{17DEF38D-ADF4-4344-9D63-C8C2F4385F1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roup 269">
              <a:extLst>
                <a:ext uri="{FF2B5EF4-FFF2-40B4-BE49-F238E27FC236}">
                  <a16:creationId xmlns:a16="http://schemas.microsoft.com/office/drawing/2014/main" id="{8E9DABC9-8CA3-4B11-A092-09CA32BE94FA}"/>
                </a:ext>
              </a:extLst>
            </p:cNvPr>
            <p:cNvGrpSpPr/>
            <p:nvPr/>
          </p:nvGrpSpPr>
          <p:grpSpPr>
            <a:xfrm>
              <a:off x="2221611" y="4179917"/>
              <a:ext cx="234000" cy="234000"/>
              <a:chOff x="2247014" y="4211643"/>
              <a:chExt cx="183194" cy="183390"/>
            </a:xfrm>
          </p:grpSpPr>
          <p:sp>
            <p:nvSpPr>
              <p:cNvPr id="271" name="Google Shape;331;p20">
                <a:extLst>
                  <a:ext uri="{FF2B5EF4-FFF2-40B4-BE49-F238E27FC236}">
                    <a16:creationId xmlns:a16="http://schemas.microsoft.com/office/drawing/2014/main" id="{593DD0A2-4DF7-49FB-A319-6205BD64691A}"/>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2" name="Google Shape;332;p20">
                <a:extLst>
                  <a:ext uri="{FF2B5EF4-FFF2-40B4-BE49-F238E27FC236}">
                    <a16:creationId xmlns:a16="http://schemas.microsoft.com/office/drawing/2014/main" id="{48C71580-2C15-4402-AC34-5F05E541367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3" name="Google Shape;333;p20">
                <a:extLst>
                  <a:ext uri="{FF2B5EF4-FFF2-40B4-BE49-F238E27FC236}">
                    <a16:creationId xmlns:a16="http://schemas.microsoft.com/office/drawing/2014/main" id="{BFA45DAF-C791-4689-8021-4CCB3B0A2FE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4" name="Google Shape;334;p20">
                <a:extLst>
                  <a:ext uri="{FF2B5EF4-FFF2-40B4-BE49-F238E27FC236}">
                    <a16:creationId xmlns:a16="http://schemas.microsoft.com/office/drawing/2014/main" id="{5D9CCFAE-3679-48A5-9AD0-AD630C4C3DAE}"/>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5" name="Google Shape;335;p20">
                <a:extLst>
                  <a:ext uri="{FF2B5EF4-FFF2-40B4-BE49-F238E27FC236}">
                    <a16:creationId xmlns:a16="http://schemas.microsoft.com/office/drawing/2014/main" id="{48B48221-3273-41C0-98C8-2C6B5341E8F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6" name="Google Shape;336;p20">
                <a:extLst>
                  <a:ext uri="{FF2B5EF4-FFF2-40B4-BE49-F238E27FC236}">
                    <a16:creationId xmlns:a16="http://schemas.microsoft.com/office/drawing/2014/main" id="{7564444F-DCF1-4310-B307-D7AB0D2837CF}"/>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7" name="Google Shape;337;p20">
                <a:extLst>
                  <a:ext uri="{FF2B5EF4-FFF2-40B4-BE49-F238E27FC236}">
                    <a16:creationId xmlns:a16="http://schemas.microsoft.com/office/drawing/2014/main" id="{1A5C9340-4F4C-476F-9287-716BDFC80F92}"/>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8" name="Google Shape;338;p20">
                <a:extLst>
                  <a:ext uri="{FF2B5EF4-FFF2-40B4-BE49-F238E27FC236}">
                    <a16:creationId xmlns:a16="http://schemas.microsoft.com/office/drawing/2014/main" id="{BC1C87CD-4246-4A8E-8456-B85FFEAAB138}"/>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79" name="Google Shape;339;p20">
                <a:extLst>
                  <a:ext uri="{FF2B5EF4-FFF2-40B4-BE49-F238E27FC236}">
                    <a16:creationId xmlns:a16="http://schemas.microsoft.com/office/drawing/2014/main" id="{81582FB3-08E4-4163-9D77-2B4C2ACAFB6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0" name="Google Shape;340;p20">
                <a:extLst>
                  <a:ext uri="{FF2B5EF4-FFF2-40B4-BE49-F238E27FC236}">
                    <a16:creationId xmlns:a16="http://schemas.microsoft.com/office/drawing/2014/main" id="{C99CA088-CD7F-4469-9820-B8434A98C18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1" name="Google Shape;341;p20">
                <a:extLst>
                  <a:ext uri="{FF2B5EF4-FFF2-40B4-BE49-F238E27FC236}">
                    <a16:creationId xmlns:a16="http://schemas.microsoft.com/office/drawing/2014/main" id="{6236358C-C77C-4FD2-84D0-B4D59C269033}"/>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2" name="Google Shape;342;p20">
                <a:extLst>
                  <a:ext uri="{FF2B5EF4-FFF2-40B4-BE49-F238E27FC236}">
                    <a16:creationId xmlns:a16="http://schemas.microsoft.com/office/drawing/2014/main" id="{1EC57390-AB3C-4C24-A5D6-42EA336ADE5F}"/>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3" name="Google Shape;343;p20">
                <a:extLst>
                  <a:ext uri="{FF2B5EF4-FFF2-40B4-BE49-F238E27FC236}">
                    <a16:creationId xmlns:a16="http://schemas.microsoft.com/office/drawing/2014/main" id="{2DB8D63C-B9A1-42BC-A260-2FAAB3351DA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84" name="Group 283">
            <a:extLst>
              <a:ext uri="{FF2B5EF4-FFF2-40B4-BE49-F238E27FC236}">
                <a16:creationId xmlns:a16="http://schemas.microsoft.com/office/drawing/2014/main" id="{43F2BBBD-EE47-4F1F-B697-EA8D63DC799C}"/>
              </a:ext>
            </a:extLst>
          </p:cNvPr>
          <p:cNvGrpSpPr/>
          <p:nvPr/>
        </p:nvGrpSpPr>
        <p:grpSpPr>
          <a:xfrm>
            <a:off x="600089" y="4055040"/>
            <a:ext cx="496596" cy="647483"/>
            <a:chOff x="600089" y="4055040"/>
            <a:chExt cx="496596" cy="647483"/>
          </a:xfrm>
        </p:grpSpPr>
        <p:cxnSp>
          <p:nvCxnSpPr>
            <p:cNvPr id="285" name="Google Shape;304;p20">
              <a:extLst>
                <a:ext uri="{FF2B5EF4-FFF2-40B4-BE49-F238E27FC236}">
                  <a16:creationId xmlns:a16="http://schemas.microsoft.com/office/drawing/2014/main" id="{DE8B1F7A-10F0-420A-ADDA-401C5D5666A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86" name="Google Shape;302;p20">
              <a:extLst>
                <a:ext uri="{FF2B5EF4-FFF2-40B4-BE49-F238E27FC236}">
                  <a16:creationId xmlns:a16="http://schemas.microsoft.com/office/drawing/2014/main" id="{133FDBA6-58B5-497A-B78A-2EDD45AB8C8B}"/>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87" name="Group 286">
              <a:extLst>
                <a:ext uri="{FF2B5EF4-FFF2-40B4-BE49-F238E27FC236}">
                  <a16:creationId xmlns:a16="http://schemas.microsoft.com/office/drawing/2014/main" id="{84ACB6D7-B207-46BE-AAAC-C5B16DDC1D95}"/>
                </a:ext>
              </a:extLst>
            </p:cNvPr>
            <p:cNvGrpSpPr/>
            <p:nvPr/>
          </p:nvGrpSpPr>
          <p:grpSpPr>
            <a:xfrm>
              <a:off x="718825" y="4179544"/>
              <a:ext cx="252000" cy="234000"/>
              <a:chOff x="760166" y="4216727"/>
              <a:chExt cx="176529" cy="173221"/>
            </a:xfrm>
          </p:grpSpPr>
          <p:sp>
            <p:nvSpPr>
              <p:cNvPr id="288" name="Google Shape;345;p20">
                <a:extLst>
                  <a:ext uri="{FF2B5EF4-FFF2-40B4-BE49-F238E27FC236}">
                    <a16:creationId xmlns:a16="http://schemas.microsoft.com/office/drawing/2014/main" id="{698879CD-B565-461D-A249-A3FD2AE3B150}"/>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89" name="Google Shape;346;p20">
                <a:extLst>
                  <a:ext uri="{FF2B5EF4-FFF2-40B4-BE49-F238E27FC236}">
                    <a16:creationId xmlns:a16="http://schemas.microsoft.com/office/drawing/2014/main" id="{C66F733D-F643-425F-8FC9-1D0D60E86BA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90" name="Google Shape;347;p20">
                <a:extLst>
                  <a:ext uri="{FF2B5EF4-FFF2-40B4-BE49-F238E27FC236}">
                    <a16:creationId xmlns:a16="http://schemas.microsoft.com/office/drawing/2014/main" id="{83E0CBCA-D9AF-4DC5-BE77-7FA4C4D255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91" name="Group 290">
            <a:extLst>
              <a:ext uri="{FF2B5EF4-FFF2-40B4-BE49-F238E27FC236}">
                <a16:creationId xmlns:a16="http://schemas.microsoft.com/office/drawing/2014/main" id="{CD96722F-0DDB-4F27-A0F8-2BC7E1730D69}"/>
              </a:ext>
            </a:extLst>
          </p:cNvPr>
          <p:cNvGrpSpPr/>
          <p:nvPr/>
        </p:nvGrpSpPr>
        <p:grpSpPr>
          <a:xfrm>
            <a:off x="3580536" y="4055040"/>
            <a:ext cx="496596" cy="647522"/>
            <a:chOff x="3580536" y="4055040"/>
            <a:chExt cx="496596" cy="647522"/>
          </a:xfrm>
        </p:grpSpPr>
        <p:cxnSp>
          <p:nvCxnSpPr>
            <p:cNvPr id="292" name="Google Shape;312;p20">
              <a:extLst>
                <a:ext uri="{FF2B5EF4-FFF2-40B4-BE49-F238E27FC236}">
                  <a16:creationId xmlns:a16="http://schemas.microsoft.com/office/drawing/2014/main" id="{F3CA98F0-61DC-4325-B8B7-B27B32E4DD71}"/>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93" name="Google Shape;310;p20">
              <a:extLst>
                <a:ext uri="{FF2B5EF4-FFF2-40B4-BE49-F238E27FC236}">
                  <a16:creationId xmlns:a16="http://schemas.microsoft.com/office/drawing/2014/main" id="{9B017188-8A6C-4B7D-99B1-91098E942B1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94" name="Google Shape;348;p20">
              <a:extLst>
                <a:ext uri="{FF2B5EF4-FFF2-40B4-BE49-F238E27FC236}">
                  <a16:creationId xmlns:a16="http://schemas.microsoft.com/office/drawing/2014/main" id="{E55A7F7D-4815-48E9-9953-05A645D491F6}"/>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95" name="Group 294">
            <a:extLst>
              <a:ext uri="{FF2B5EF4-FFF2-40B4-BE49-F238E27FC236}">
                <a16:creationId xmlns:a16="http://schemas.microsoft.com/office/drawing/2014/main" id="{F3D822D7-649C-49A7-8BBB-259B60AB44EB}"/>
              </a:ext>
            </a:extLst>
          </p:cNvPr>
          <p:cNvGrpSpPr/>
          <p:nvPr/>
        </p:nvGrpSpPr>
        <p:grpSpPr>
          <a:xfrm>
            <a:off x="5067104" y="4055039"/>
            <a:ext cx="496596" cy="647522"/>
            <a:chOff x="5067104" y="4055039"/>
            <a:chExt cx="496596" cy="647522"/>
          </a:xfrm>
        </p:grpSpPr>
        <p:cxnSp>
          <p:nvCxnSpPr>
            <p:cNvPr id="296" name="Google Shape;312;p20">
              <a:extLst>
                <a:ext uri="{FF2B5EF4-FFF2-40B4-BE49-F238E27FC236}">
                  <a16:creationId xmlns:a16="http://schemas.microsoft.com/office/drawing/2014/main" id="{6FEF7C12-01F3-49C4-AEA3-192A20C695B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97" name="Google Shape;310;p20">
              <a:extLst>
                <a:ext uri="{FF2B5EF4-FFF2-40B4-BE49-F238E27FC236}">
                  <a16:creationId xmlns:a16="http://schemas.microsoft.com/office/drawing/2014/main" id="{F8C6503F-2FB3-40BA-8AF8-0B5D31AE952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98" name="Google Shape;364;p21">
              <a:extLst>
                <a:ext uri="{FF2B5EF4-FFF2-40B4-BE49-F238E27FC236}">
                  <a16:creationId xmlns:a16="http://schemas.microsoft.com/office/drawing/2014/main" id="{61756258-E635-4C7A-8DF2-7AF824887413}"/>
                </a:ext>
              </a:extLst>
            </p:cNvPr>
            <p:cNvGrpSpPr/>
            <p:nvPr/>
          </p:nvGrpSpPr>
          <p:grpSpPr>
            <a:xfrm>
              <a:off x="5191745" y="4172810"/>
              <a:ext cx="247311" cy="230069"/>
              <a:chOff x="6577238" y="2457221"/>
              <a:chExt cx="332019" cy="310788"/>
            </a:xfrm>
            <a:solidFill>
              <a:schemeClr val="bg1"/>
            </a:solidFill>
          </p:grpSpPr>
          <p:sp>
            <p:nvSpPr>
              <p:cNvPr id="300" name="Google Shape;365;p21">
                <a:extLst>
                  <a:ext uri="{FF2B5EF4-FFF2-40B4-BE49-F238E27FC236}">
                    <a16:creationId xmlns:a16="http://schemas.microsoft.com/office/drawing/2014/main" id="{F48A055D-20F9-410F-A7C7-E94EE5A93082}"/>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66;p21">
                <a:extLst>
                  <a:ext uri="{FF2B5EF4-FFF2-40B4-BE49-F238E27FC236}">
                    <a16:creationId xmlns:a16="http://schemas.microsoft.com/office/drawing/2014/main" id="{942F14BB-F2E6-47DF-B71F-F3B710610FD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67;p21">
                <a:extLst>
                  <a:ext uri="{FF2B5EF4-FFF2-40B4-BE49-F238E27FC236}">
                    <a16:creationId xmlns:a16="http://schemas.microsoft.com/office/drawing/2014/main" id="{73688E4B-03ED-4D22-A582-5AB8027DD0DA}"/>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68;p21">
                <a:extLst>
                  <a:ext uri="{FF2B5EF4-FFF2-40B4-BE49-F238E27FC236}">
                    <a16:creationId xmlns:a16="http://schemas.microsoft.com/office/drawing/2014/main" id="{D585AE23-6E39-43C0-ACCC-648E534DFA4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69;p21">
                <a:extLst>
                  <a:ext uri="{FF2B5EF4-FFF2-40B4-BE49-F238E27FC236}">
                    <a16:creationId xmlns:a16="http://schemas.microsoft.com/office/drawing/2014/main" id="{0B6F4D96-2040-48C4-972B-13236271BC2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70;p21">
                <a:extLst>
                  <a:ext uri="{FF2B5EF4-FFF2-40B4-BE49-F238E27FC236}">
                    <a16:creationId xmlns:a16="http://schemas.microsoft.com/office/drawing/2014/main" id="{621AE1C5-D204-4ABA-A59B-71E8CAE5DCB5}"/>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6" name="Group 315">
            <a:extLst>
              <a:ext uri="{FF2B5EF4-FFF2-40B4-BE49-F238E27FC236}">
                <a16:creationId xmlns:a16="http://schemas.microsoft.com/office/drawing/2014/main" id="{5590B2A7-3CC1-43A7-9489-F5D3D98C8143}"/>
              </a:ext>
            </a:extLst>
          </p:cNvPr>
          <p:cNvGrpSpPr/>
          <p:nvPr/>
        </p:nvGrpSpPr>
        <p:grpSpPr>
          <a:xfrm>
            <a:off x="6557210" y="4055039"/>
            <a:ext cx="496596" cy="647522"/>
            <a:chOff x="6557210" y="4055039"/>
            <a:chExt cx="496596" cy="647522"/>
          </a:xfrm>
        </p:grpSpPr>
        <p:cxnSp>
          <p:nvCxnSpPr>
            <p:cNvPr id="320" name="Google Shape;312;p20">
              <a:extLst>
                <a:ext uri="{FF2B5EF4-FFF2-40B4-BE49-F238E27FC236}">
                  <a16:creationId xmlns:a16="http://schemas.microsoft.com/office/drawing/2014/main" id="{2D359CB1-E573-49E8-96DE-CE64E147DB7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21" name="Google Shape;310;p20">
              <a:extLst>
                <a:ext uri="{FF2B5EF4-FFF2-40B4-BE49-F238E27FC236}">
                  <a16:creationId xmlns:a16="http://schemas.microsoft.com/office/drawing/2014/main" id="{6B421796-B6B4-45D2-B34F-F8EC089F53D5}"/>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323" name="Google Shape;492;p23">
              <a:extLst>
                <a:ext uri="{FF2B5EF4-FFF2-40B4-BE49-F238E27FC236}">
                  <a16:creationId xmlns:a16="http://schemas.microsoft.com/office/drawing/2014/main" id="{3FA0622E-F03F-446A-8A7A-B0D829CA5FBA}"/>
                </a:ext>
              </a:extLst>
            </p:cNvPr>
            <p:cNvGrpSpPr/>
            <p:nvPr/>
          </p:nvGrpSpPr>
          <p:grpSpPr>
            <a:xfrm>
              <a:off x="6681779" y="4170275"/>
              <a:ext cx="252000" cy="252000"/>
              <a:chOff x="2280029" y="1970604"/>
              <a:chExt cx="353631" cy="354395"/>
            </a:xfrm>
          </p:grpSpPr>
          <p:sp>
            <p:nvSpPr>
              <p:cNvPr id="328" name="Google Shape;493;p23">
                <a:extLst>
                  <a:ext uri="{FF2B5EF4-FFF2-40B4-BE49-F238E27FC236}">
                    <a16:creationId xmlns:a16="http://schemas.microsoft.com/office/drawing/2014/main" id="{FF1DB93D-4C54-4C43-A437-318E06F37EBA}"/>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494;p23">
                <a:extLst>
                  <a:ext uri="{FF2B5EF4-FFF2-40B4-BE49-F238E27FC236}">
                    <a16:creationId xmlns:a16="http://schemas.microsoft.com/office/drawing/2014/main" id="{57434AB3-4CB3-45A1-9478-41BCBC8A5A94}"/>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495;p23">
                <a:extLst>
                  <a:ext uri="{FF2B5EF4-FFF2-40B4-BE49-F238E27FC236}">
                    <a16:creationId xmlns:a16="http://schemas.microsoft.com/office/drawing/2014/main" id="{F545C359-D265-468B-8E80-1F5F286415A0}"/>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496;p23">
                <a:extLst>
                  <a:ext uri="{FF2B5EF4-FFF2-40B4-BE49-F238E27FC236}">
                    <a16:creationId xmlns:a16="http://schemas.microsoft.com/office/drawing/2014/main" id="{BA40FC60-DDFD-40D6-8535-A92E841E00E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 name="Group 332">
            <a:extLst>
              <a:ext uri="{FF2B5EF4-FFF2-40B4-BE49-F238E27FC236}">
                <a16:creationId xmlns:a16="http://schemas.microsoft.com/office/drawing/2014/main" id="{56F2ED5B-6F4E-4201-B3D2-13FF1C9D4B77}"/>
              </a:ext>
            </a:extLst>
          </p:cNvPr>
          <p:cNvGrpSpPr/>
          <p:nvPr/>
        </p:nvGrpSpPr>
        <p:grpSpPr>
          <a:xfrm>
            <a:off x="8047295" y="4055039"/>
            <a:ext cx="496596" cy="647522"/>
            <a:chOff x="8047295" y="4055039"/>
            <a:chExt cx="496596" cy="647522"/>
          </a:xfrm>
        </p:grpSpPr>
        <p:cxnSp>
          <p:nvCxnSpPr>
            <p:cNvPr id="334" name="Google Shape;319;p20">
              <a:extLst>
                <a:ext uri="{FF2B5EF4-FFF2-40B4-BE49-F238E27FC236}">
                  <a16:creationId xmlns:a16="http://schemas.microsoft.com/office/drawing/2014/main" id="{9A51B3DB-9D50-4491-9F8D-C7ED6EB5E12A}"/>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35" name="Google Shape;318;p20">
              <a:extLst>
                <a:ext uri="{FF2B5EF4-FFF2-40B4-BE49-F238E27FC236}">
                  <a16:creationId xmlns:a16="http://schemas.microsoft.com/office/drawing/2014/main" id="{A719D22C-2166-453E-AFC8-4AF8F4261423}"/>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336" name="Google Shape;764;p28">
              <a:extLst>
                <a:ext uri="{FF2B5EF4-FFF2-40B4-BE49-F238E27FC236}">
                  <a16:creationId xmlns:a16="http://schemas.microsoft.com/office/drawing/2014/main" id="{47435BB0-DC25-4B5F-AE0A-076E27E36782}"/>
                </a:ext>
              </a:extLst>
            </p:cNvPr>
            <p:cNvGrpSpPr/>
            <p:nvPr/>
          </p:nvGrpSpPr>
          <p:grpSpPr>
            <a:xfrm>
              <a:off x="8205593" y="4170275"/>
              <a:ext cx="180000" cy="252000"/>
              <a:chOff x="1333682" y="3344330"/>
              <a:chExt cx="271213" cy="383088"/>
            </a:xfrm>
            <a:solidFill>
              <a:schemeClr val="bg1"/>
            </a:solidFill>
          </p:grpSpPr>
          <p:sp>
            <p:nvSpPr>
              <p:cNvPr id="337" name="Google Shape;765;p28">
                <a:extLst>
                  <a:ext uri="{FF2B5EF4-FFF2-40B4-BE49-F238E27FC236}">
                    <a16:creationId xmlns:a16="http://schemas.microsoft.com/office/drawing/2014/main" id="{35E49E39-A463-49D5-AAA2-904A6993DDBA}"/>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766;p28">
                <a:extLst>
                  <a:ext uri="{FF2B5EF4-FFF2-40B4-BE49-F238E27FC236}">
                    <a16:creationId xmlns:a16="http://schemas.microsoft.com/office/drawing/2014/main" id="{F2149D32-CA9D-42B3-B4E1-C4F547E661DB}"/>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767;p28">
                <a:extLst>
                  <a:ext uri="{FF2B5EF4-FFF2-40B4-BE49-F238E27FC236}">
                    <a16:creationId xmlns:a16="http://schemas.microsoft.com/office/drawing/2014/main" id="{6BA6EF9D-3BC9-428B-9064-A04C290DFAC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768;p28">
                <a:extLst>
                  <a:ext uri="{FF2B5EF4-FFF2-40B4-BE49-F238E27FC236}">
                    <a16:creationId xmlns:a16="http://schemas.microsoft.com/office/drawing/2014/main" id="{F0D15246-97A3-4BA2-9FE5-3090AC6236A5}"/>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769;p28">
                <a:extLst>
                  <a:ext uri="{FF2B5EF4-FFF2-40B4-BE49-F238E27FC236}">
                    <a16:creationId xmlns:a16="http://schemas.microsoft.com/office/drawing/2014/main" id="{5E215BA5-3589-4C4E-A3EF-06373E2735C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770;p28">
                <a:extLst>
                  <a:ext uri="{FF2B5EF4-FFF2-40B4-BE49-F238E27FC236}">
                    <a16:creationId xmlns:a16="http://schemas.microsoft.com/office/drawing/2014/main" id="{F472C67B-EB4D-41F0-B0F7-6AB0CEE77B76}"/>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771;p28">
                <a:extLst>
                  <a:ext uri="{FF2B5EF4-FFF2-40B4-BE49-F238E27FC236}">
                    <a16:creationId xmlns:a16="http://schemas.microsoft.com/office/drawing/2014/main" id="{5DF0343B-7BDC-491E-8736-F6DB8ADF83C6}"/>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772;p28">
                <a:extLst>
                  <a:ext uri="{FF2B5EF4-FFF2-40B4-BE49-F238E27FC236}">
                    <a16:creationId xmlns:a16="http://schemas.microsoft.com/office/drawing/2014/main" id="{72F260B3-C5CF-4AD8-85CC-9957BFB74608}"/>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773;p28">
                <a:extLst>
                  <a:ext uri="{FF2B5EF4-FFF2-40B4-BE49-F238E27FC236}">
                    <a16:creationId xmlns:a16="http://schemas.microsoft.com/office/drawing/2014/main" id="{9C9FF05D-3090-42EC-B1E9-DEB0BA06DE52}"/>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774;p28">
                <a:extLst>
                  <a:ext uri="{FF2B5EF4-FFF2-40B4-BE49-F238E27FC236}">
                    <a16:creationId xmlns:a16="http://schemas.microsoft.com/office/drawing/2014/main" id="{EC245CBB-A8FB-472A-BAF7-30AE9CCDD893}"/>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775;p28">
                <a:extLst>
                  <a:ext uri="{FF2B5EF4-FFF2-40B4-BE49-F238E27FC236}">
                    <a16:creationId xmlns:a16="http://schemas.microsoft.com/office/drawing/2014/main" id="{B0408B11-5514-4D23-B624-0B080405D06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178;p17">
            <a:extLst>
              <a:ext uri="{FF2B5EF4-FFF2-40B4-BE49-F238E27FC236}">
                <a16:creationId xmlns:a16="http://schemas.microsoft.com/office/drawing/2014/main" id="{E30778F7-E726-6178-E997-27E5B3E5BD67}"/>
              </a:ext>
            </a:extLst>
          </p:cNvPr>
          <p:cNvSpPr/>
          <p:nvPr/>
        </p:nvSpPr>
        <p:spPr>
          <a:xfrm>
            <a:off x="4305698" y="3273256"/>
            <a:ext cx="534900" cy="534900"/>
          </a:xfrm>
          <a:prstGeom prst="ellipse">
            <a:avLst/>
          </a:pr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cxnSp>
        <p:nvCxnSpPr>
          <p:cNvPr id="10" name="Google Shape;179;p17">
            <a:extLst>
              <a:ext uri="{FF2B5EF4-FFF2-40B4-BE49-F238E27FC236}">
                <a16:creationId xmlns:a16="http://schemas.microsoft.com/office/drawing/2014/main" id="{58F5F677-7F54-1C47-D717-96EBA9B6C0E8}"/>
              </a:ext>
            </a:extLst>
          </p:cNvPr>
          <p:cNvCxnSpPr>
            <a:cxnSpLocks/>
          </p:cNvCxnSpPr>
          <p:nvPr/>
        </p:nvCxnSpPr>
        <p:spPr>
          <a:xfrm rot="10800000">
            <a:off x="4570352" y="3798513"/>
            <a:ext cx="489900" cy="0"/>
          </a:xfrm>
          <a:prstGeom prst="straightConnector1">
            <a:avLst/>
          </a:prstGeom>
          <a:noFill/>
          <a:ln w="9525" cap="flat" cmpd="sng">
            <a:solidFill>
              <a:schemeClr val="accent2"/>
            </a:solidFill>
            <a:prstDash val="solid"/>
            <a:round/>
            <a:headEnd type="oval" w="med" len="med"/>
            <a:tailEnd type="none" w="med" len="med"/>
          </a:ln>
        </p:spPr>
      </p:cxnSp>
      <p:sp>
        <p:nvSpPr>
          <p:cNvPr id="12" name="Google Shape;176;p17">
            <a:extLst>
              <a:ext uri="{FF2B5EF4-FFF2-40B4-BE49-F238E27FC236}">
                <a16:creationId xmlns:a16="http://schemas.microsoft.com/office/drawing/2014/main" id="{C6FE786E-3FBD-EBED-0B3B-F11C8ACBD93A}"/>
              </a:ext>
            </a:extLst>
          </p:cNvPr>
          <p:cNvSpPr txBox="1"/>
          <p:nvPr/>
        </p:nvSpPr>
        <p:spPr>
          <a:xfrm>
            <a:off x="4783524" y="3566896"/>
            <a:ext cx="18846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fa-IR" sz="2000" b="1" dirty="0">
                <a:solidFill>
                  <a:schemeClr val="accent2"/>
                </a:solidFill>
                <a:latin typeface="Fira Sans Extra Condensed Medium"/>
                <a:ea typeface="Fira Sans Extra Condensed Medium"/>
                <a:cs typeface="IRAN Sans" panose="020B0400000000000000" pitchFamily="34" charset="-78"/>
                <a:sym typeface="Fira Sans Extra Condensed Medium"/>
              </a:rPr>
              <a:t>دستکش برزنتی</a:t>
            </a:r>
            <a:endParaRPr sz="2000" b="1" dirty="0">
              <a:solidFill>
                <a:schemeClr val="accent2"/>
              </a:solidFill>
              <a:latin typeface="Fira Sans Extra Condensed Medium"/>
              <a:ea typeface="Fira Sans Extra Condensed Medium"/>
              <a:cs typeface="IRAN Sans" panose="020B0400000000000000" pitchFamily="34" charset="-78"/>
              <a:sym typeface="Fira Sans Extra Condensed Medium"/>
            </a:endParaRPr>
          </a:p>
        </p:txBody>
      </p:sp>
      <p:grpSp>
        <p:nvGrpSpPr>
          <p:cNvPr id="13" name="Group 12">
            <a:extLst>
              <a:ext uri="{FF2B5EF4-FFF2-40B4-BE49-F238E27FC236}">
                <a16:creationId xmlns:a16="http://schemas.microsoft.com/office/drawing/2014/main" id="{548A5A7D-305C-5CF4-E039-F78BE7016712}"/>
              </a:ext>
            </a:extLst>
          </p:cNvPr>
          <p:cNvGrpSpPr/>
          <p:nvPr/>
        </p:nvGrpSpPr>
        <p:grpSpPr>
          <a:xfrm>
            <a:off x="5642594" y="913501"/>
            <a:ext cx="1954250" cy="354600"/>
            <a:chOff x="5942902" y="1200713"/>
            <a:chExt cx="1954250" cy="354600"/>
          </a:xfrm>
        </p:grpSpPr>
        <p:sp>
          <p:nvSpPr>
            <p:cNvPr id="14" name="Google Shape;176;p17">
              <a:extLst>
                <a:ext uri="{FF2B5EF4-FFF2-40B4-BE49-F238E27FC236}">
                  <a16:creationId xmlns:a16="http://schemas.microsoft.com/office/drawing/2014/main" id="{A8F8F27B-5A9B-7EE7-E5B6-D32BE04CEDCF}"/>
                </a:ext>
              </a:extLst>
            </p:cNvPr>
            <p:cNvSpPr txBox="1"/>
            <p:nvPr/>
          </p:nvSpPr>
          <p:spPr>
            <a:xfrm>
              <a:off x="6012552" y="1200713"/>
              <a:ext cx="18846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fa-IR" sz="2000" b="1" dirty="0">
                  <a:solidFill>
                    <a:schemeClr val="accent2"/>
                  </a:solidFill>
                  <a:latin typeface="Fira Sans Extra Condensed Medium"/>
                  <a:ea typeface="Fira Sans Extra Condensed Medium"/>
                  <a:cs typeface="IRAN Sans" panose="020B0400000000000000" pitchFamily="34" charset="-78"/>
                  <a:sym typeface="Fira Sans Extra Condensed Medium"/>
                </a:rPr>
                <a:t>شعله پخش‌کن</a:t>
              </a:r>
              <a:endParaRPr sz="2000" b="1" dirty="0">
                <a:solidFill>
                  <a:schemeClr val="accent2"/>
                </a:solidFill>
                <a:latin typeface="Fira Sans Extra Condensed Medium"/>
                <a:ea typeface="Fira Sans Extra Condensed Medium"/>
                <a:cs typeface="IRAN Sans" panose="020B0400000000000000" pitchFamily="34" charset="-78"/>
                <a:sym typeface="Fira Sans Extra Condensed Medium"/>
              </a:endParaRPr>
            </a:p>
          </p:txBody>
        </p:sp>
        <p:cxnSp>
          <p:nvCxnSpPr>
            <p:cNvPr id="15" name="Google Shape;179;p17">
              <a:extLst>
                <a:ext uri="{FF2B5EF4-FFF2-40B4-BE49-F238E27FC236}">
                  <a16:creationId xmlns:a16="http://schemas.microsoft.com/office/drawing/2014/main" id="{768C931B-AEB2-6856-794C-AD0E40260A6E}"/>
                </a:ext>
              </a:extLst>
            </p:cNvPr>
            <p:cNvCxnSpPr>
              <a:cxnSpLocks/>
              <a:endCxn id="23" idx="6"/>
            </p:cNvCxnSpPr>
            <p:nvPr/>
          </p:nvCxnSpPr>
          <p:spPr>
            <a:xfrm rot="10800000">
              <a:off x="5942902" y="1419128"/>
              <a:ext cx="489900" cy="0"/>
            </a:xfrm>
            <a:prstGeom prst="straightConnector1">
              <a:avLst/>
            </a:prstGeom>
            <a:noFill/>
            <a:ln w="9525" cap="flat" cmpd="sng">
              <a:solidFill>
                <a:schemeClr val="accent2"/>
              </a:solidFill>
              <a:prstDash val="solid"/>
              <a:round/>
              <a:headEnd type="oval" w="med" len="med"/>
              <a:tailEnd type="none" w="med" len="med"/>
            </a:ln>
          </p:spPr>
        </p:cxnSp>
      </p:grpSp>
      <p:sp>
        <p:nvSpPr>
          <p:cNvPr id="23" name="Google Shape;178;p17">
            <a:extLst>
              <a:ext uri="{FF2B5EF4-FFF2-40B4-BE49-F238E27FC236}">
                <a16:creationId xmlns:a16="http://schemas.microsoft.com/office/drawing/2014/main" id="{3050FDBB-98CD-A406-FD6E-EED5FC6B84D4}"/>
              </a:ext>
            </a:extLst>
          </p:cNvPr>
          <p:cNvSpPr/>
          <p:nvPr/>
        </p:nvSpPr>
        <p:spPr>
          <a:xfrm>
            <a:off x="5107694" y="864466"/>
            <a:ext cx="534900" cy="534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grpSp>
        <p:nvGrpSpPr>
          <p:cNvPr id="142" name="Group 141">
            <a:extLst>
              <a:ext uri="{FF2B5EF4-FFF2-40B4-BE49-F238E27FC236}">
                <a16:creationId xmlns:a16="http://schemas.microsoft.com/office/drawing/2014/main" id="{3D04CD58-9F7E-CA67-BBFA-98FE4A2BA3B9}"/>
              </a:ext>
            </a:extLst>
          </p:cNvPr>
          <p:cNvGrpSpPr/>
          <p:nvPr/>
        </p:nvGrpSpPr>
        <p:grpSpPr>
          <a:xfrm>
            <a:off x="6231310" y="1921156"/>
            <a:ext cx="2077994" cy="354600"/>
            <a:chOff x="5921093" y="2864680"/>
            <a:chExt cx="2077994" cy="354600"/>
          </a:xfrm>
        </p:grpSpPr>
        <p:sp>
          <p:nvSpPr>
            <p:cNvPr id="143" name="Google Shape;170;p17">
              <a:extLst>
                <a:ext uri="{FF2B5EF4-FFF2-40B4-BE49-F238E27FC236}">
                  <a16:creationId xmlns:a16="http://schemas.microsoft.com/office/drawing/2014/main" id="{67A585B4-0F1F-4E03-F9B8-1A57D066D6CE}"/>
                </a:ext>
              </a:extLst>
            </p:cNvPr>
            <p:cNvSpPr txBox="1"/>
            <p:nvPr/>
          </p:nvSpPr>
          <p:spPr>
            <a:xfrm>
              <a:off x="6406294" y="2864680"/>
              <a:ext cx="1592793"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fa-IR" sz="2000" b="1" dirty="0">
                  <a:solidFill>
                    <a:schemeClr val="accent4">
                      <a:lumMod val="60000"/>
                      <a:lumOff val="40000"/>
                    </a:schemeClr>
                  </a:solidFill>
                  <a:latin typeface="Fira Sans Extra Condensed Medium"/>
                  <a:ea typeface="Fira Sans Extra Condensed Medium"/>
                  <a:cs typeface="IRAN Sans" panose="020B0400000000000000" pitchFamily="34" charset="-78"/>
                  <a:sym typeface="Fira Sans Extra Condensed Medium"/>
                </a:rPr>
                <a:t>کفش کف صاف</a:t>
              </a:r>
              <a:endParaRPr sz="2000" b="1" dirty="0">
                <a:solidFill>
                  <a:schemeClr val="accent4">
                    <a:lumMod val="60000"/>
                    <a:lumOff val="40000"/>
                  </a:schemeClr>
                </a:solidFill>
                <a:latin typeface="Fira Sans Extra Condensed Medium"/>
                <a:ea typeface="Fira Sans Extra Condensed Medium"/>
                <a:cs typeface="IRAN Sans" panose="020B0400000000000000" pitchFamily="34" charset="-78"/>
                <a:sym typeface="Fira Sans Extra Condensed Medium"/>
              </a:endParaRPr>
            </a:p>
          </p:txBody>
        </p:sp>
        <p:cxnSp>
          <p:nvCxnSpPr>
            <p:cNvPr id="144" name="Google Shape;173;p17">
              <a:extLst>
                <a:ext uri="{FF2B5EF4-FFF2-40B4-BE49-F238E27FC236}">
                  <a16:creationId xmlns:a16="http://schemas.microsoft.com/office/drawing/2014/main" id="{1738CFAE-6540-0B7F-7A46-213756A19BF4}"/>
                </a:ext>
              </a:extLst>
            </p:cNvPr>
            <p:cNvCxnSpPr>
              <a:cxnSpLocks/>
            </p:cNvCxnSpPr>
            <p:nvPr/>
          </p:nvCxnSpPr>
          <p:spPr>
            <a:xfrm rot="10800000">
              <a:off x="5921093" y="3059727"/>
              <a:ext cx="489900" cy="0"/>
            </a:xfrm>
            <a:prstGeom prst="straightConnector1">
              <a:avLst/>
            </a:prstGeom>
            <a:noFill/>
            <a:ln w="9525" cap="flat" cmpd="sng">
              <a:solidFill>
                <a:schemeClr val="accent4">
                  <a:lumMod val="60000"/>
                  <a:lumOff val="40000"/>
                </a:schemeClr>
              </a:solidFill>
              <a:prstDash val="solid"/>
              <a:round/>
              <a:headEnd type="oval" w="med" len="med"/>
              <a:tailEnd type="none" w="med" len="med"/>
            </a:ln>
          </p:spPr>
        </p:cxnSp>
      </p:grpSp>
      <p:grpSp>
        <p:nvGrpSpPr>
          <p:cNvPr id="145" name="Group 144">
            <a:extLst>
              <a:ext uri="{FF2B5EF4-FFF2-40B4-BE49-F238E27FC236}">
                <a16:creationId xmlns:a16="http://schemas.microsoft.com/office/drawing/2014/main" id="{E02CD7C3-786E-3E12-6224-B0B2203E9510}"/>
              </a:ext>
            </a:extLst>
          </p:cNvPr>
          <p:cNvGrpSpPr/>
          <p:nvPr/>
        </p:nvGrpSpPr>
        <p:grpSpPr>
          <a:xfrm>
            <a:off x="5725824" y="1851263"/>
            <a:ext cx="534900" cy="534900"/>
            <a:chOff x="5408002" y="2790578"/>
            <a:chExt cx="534900" cy="534900"/>
          </a:xfrm>
          <a:solidFill>
            <a:schemeClr val="accent4">
              <a:lumMod val="60000"/>
              <a:lumOff val="40000"/>
            </a:schemeClr>
          </a:solidFill>
        </p:grpSpPr>
        <p:sp>
          <p:nvSpPr>
            <p:cNvPr id="146" name="Google Shape;172;p17">
              <a:extLst>
                <a:ext uri="{FF2B5EF4-FFF2-40B4-BE49-F238E27FC236}">
                  <a16:creationId xmlns:a16="http://schemas.microsoft.com/office/drawing/2014/main" id="{01F2BD16-1078-7826-F452-F6612DDAFB3B}"/>
                </a:ext>
              </a:extLst>
            </p:cNvPr>
            <p:cNvSpPr/>
            <p:nvPr/>
          </p:nvSpPr>
          <p:spPr>
            <a:xfrm>
              <a:off x="5408002" y="2790578"/>
              <a:ext cx="534900" cy="5349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sp>
          <p:nvSpPr>
            <p:cNvPr id="149" name="Google Shape;199;p17">
              <a:extLst>
                <a:ext uri="{FF2B5EF4-FFF2-40B4-BE49-F238E27FC236}">
                  <a16:creationId xmlns:a16="http://schemas.microsoft.com/office/drawing/2014/main" id="{74A7EF4E-ACF0-AB95-7472-0DC43F514B29}"/>
                </a:ext>
              </a:extLst>
            </p:cNvPr>
            <p:cNvSpPr/>
            <p:nvPr/>
          </p:nvSpPr>
          <p:spPr>
            <a:xfrm>
              <a:off x="5673752" y="3135496"/>
              <a:ext cx="16" cy="16"/>
            </a:xfrm>
            <a:custGeom>
              <a:avLst/>
              <a:gdLst/>
              <a:ahLst/>
              <a:cxnLst/>
              <a:rect l="l" t="t" r="r" b="b"/>
              <a:pathLst>
                <a:path w="1" h="1" extrusionOk="0">
                  <a:moveTo>
                    <a:pt x="1" y="0"/>
                  </a:move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92" name="Group 191">
            <a:extLst>
              <a:ext uri="{FF2B5EF4-FFF2-40B4-BE49-F238E27FC236}">
                <a16:creationId xmlns:a16="http://schemas.microsoft.com/office/drawing/2014/main" id="{D265A789-E36A-227C-227E-6BDD3B7D8396}"/>
              </a:ext>
            </a:extLst>
          </p:cNvPr>
          <p:cNvGrpSpPr/>
          <p:nvPr/>
        </p:nvGrpSpPr>
        <p:grpSpPr>
          <a:xfrm>
            <a:off x="1848201" y="1950345"/>
            <a:ext cx="1363805" cy="354600"/>
            <a:chOff x="2043326" y="2871169"/>
            <a:chExt cx="1363805" cy="354600"/>
          </a:xfrm>
        </p:grpSpPr>
        <p:sp>
          <p:nvSpPr>
            <p:cNvPr id="193" name="Google Shape;164;p17">
              <a:extLst>
                <a:ext uri="{FF2B5EF4-FFF2-40B4-BE49-F238E27FC236}">
                  <a16:creationId xmlns:a16="http://schemas.microsoft.com/office/drawing/2014/main" id="{D9AAE02D-67D9-688C-83BF-32780B0FC18F}"/>
                </a:ext>
              </a:extLst>
            </p:cNvPr>
            <p:cNvSpPr txBox="1"/>
            <p:nvPr/>
          </p:nvSpPr>
          <p:spPr>
            <a:xfrm>
              <a:off x="2043326" y="2871169"/>
              <a:ext cx="1363805"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fa-IR" sz="2000" b="1" dirty="0">
                  <a:solidFill>
                    <a:schemeClr val="accent4">
                      <a:lumMod val="40000"/>
                      <a:lumOff val="60000"/>
                    </a:schemeClr>
                  </a:solidFill>
                  <a:latin typeface="Fira Sans Extra Condensed Medium"/>
                  <a:ea typeface="Fira Sans Extra Condensed Medium"/>
                  <a:cs typeface="IRAN Sans" panose="020B0400000000000000" pitchFamily="34" charset="-78"/>
                  <a:sym typeface="Fira Sans Extra Condensed Medium"/>
                </a:rPr>
                <a:t>جارو</a:t>
              </a:r>
              <a:endParaRPr sz="2000" b="1" dirty="0">
                <a:solidFill>
                  <a:schemeClr val="accent4">
                    <a:lumMod val="40000"/>
                    <a:lumOff val="60000"/>
                  </a:schemeClr>
                </a:solidFill>
                <a:latin typeface="Fira Sans Extra Condensed Medium"/>
                <a:ea typeface="Fira Sans Extra Condensed Medium"/>
                <a:cs typeface="IRAN Sans" panose="020B0400000000000000" pitchFamily="34" charset="-78"/>
                <a:sym typeface="Fira Sans Extra Condensed Medium"/>
              </a:endParaRPr>
            </a:p>
          </p:txBody>
        </p:sp>
        <p:cxnSp>
          <p:nvCxnSpPr>
            <p:cNvPr id="194" name="Google Shape;167;p17">
              <a:extLst>
                <a:ext uri="{FF2B5EF4-FFF2-40B4-BE49-F238E27FC236}">
                  <a16:creationId xmlns:a16="http://schemas.microsoft.com/office/drawing/2014/main" id="{3B14F316-7AD9-A543-3AEB-9DBD6179478C}"/>
                </a:ext>
              </a:extLst>
            </p:cNvPr>
            <p:cNvCxnSpPr>
              <a:cxnSpLocks/>
            </p:cNvCxnSpPr>
            <p:nvPr/>
          </p:nvCxnSpPr>
          <p:spPr>
            <a:xfrm rot="10800000">
              <a:off x="2710075" y="3080208"/>
              <a:ext cx="489900" cy="0"/>
            </a:xfrm>
            <a:prstGeom prst="straightConnector1">
              <a:avLst/>
            </a:prstGeom>
            <a:noFill/>
            <a:ln w="9525" cap="flat" cmpd="sng">
              <a:solidFill>
                <a:schemeClr val="accent4">
                  <a:lumMod val="40000"/>
                  <a:lumOff val="60000"/>
                </a:schemeClr>
              </a:solidFill>
              <a:prstDash val="solid"/>
              <a:round/>
              <a:headEnd type="none" w="med" len="med"/>
              <a:tailEnd type="oval" w="med" len="med"/>
            </a:ln>
          </p:spPr>
        </p:cxnSp>
      </p:grpSp>
      <p:sp>
        <p:nvSpPr>
          <p:cNvPr id="196" name="Google Shape;166;p17">
            <a:extLst>
              <a:ext uri="{FF2B5EF4-FFF2-40B4-BE49-F238E27FC236}">
                <a16:creationId xmlns:a16="http://schemas.microsoft.com/office/drawing/2014/main" id="{A4FB63E1-B9AA-1B82-E727-D2AA5583F46A}"/>
              </a:ext>
            </a:extLst>
          </p:cNvPr>
          <p:cNvSpPr/>
          <p:nvPr/>
        </p:nvSpPr>
        <p:spPr>
          <a:xfrm>
            <a:off x="3002777" y="1869754"/>
            <a:ext cx="534900" cy="534900"/>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cs typeface="IRAN Sans" panose="020B0400000000000000" pitchFamily="34" charset="-78"/>
            </a:endParaRPr>
          </a:p>
        </p:txBody>
      </p:sp>
    </p:spTree>
    <p:extLst>
      <p:ext uri="{BB962C8B-B14F-4D97-AF65-F5344CB8AC3E}">
        <p14:creationId xmlns:p14="http://schemas.microsoft.com/office/powerpoint/2010/main" val="357356739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6" presetClass="entr" presetSubtype="32" fill="hold" nodeType="afterEffect">
                                  <p:stCondLst>
                                    <p:cond delay="0"/>
                                  </p:stCondLst>
                                  <p:childTnLst>
                                    <p:set>
                                      <p:cBhvr>
                                        <p:cTn id="33" dur="1" fill="hold">
                                          <p:stCondLst>
                                            <p:cond delay="0"/>
                                          </p:stCondLst>
                                        </p:cTn>
                                        <p:tgtEl>
                                          <p:spTgt spid="211"/>
                                        </p:tgtEl>
                                        <p:attrNameLst>
                                          <p:attrName>style.visibility</p:attrName>
                                        </p:attrNameLst>
                                      </p:cBhvr>
                                      <p:to>
                                        <p:strVal val="visible"/>
                                      </p:to>
                                    </p:set>
                                    <p:animEffect transition="in" filter="circle(out)">
                                      <p:cBhvr>
                                        <p:cTn id="34" dur="2000"/>
                                        <p:tgtEl>
                                          <p:spTgt spid="211"/>
                                        </p:tgtEl>
                                      </p:cBhvr>
                                    </p:animEffect>
                                  </p:childTnLst>
                                </p:cTn>
                              </p:par>
                            </p:childTnLst>
                          </p:cTn>
                        </p:par>
                        <p:par>
                          <p:cTn id="35" fill="hold">
                            <p:stCondLst>
                              <p:cond delay="4050"/>
                            </p:stCondLst>
                            <p:childTnLst>
                              <p:par>
                                <p:cTn id="36" presetID="22" presetClass="entr" presetSubtype="2" fill="hold"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wipe(right)">
                                      <p:cBhvr>
                                        <p:cTn id="38" dur="500"/>
                                        <p:tgtEl>
                                          <p:spTgt spid="19"/>
                                        </p:tgtEl>
                                      </p:cBhvr>
                                    </p:animEffect>
                                  </p:childTnLst>
                                </p:cTn>
                              </p:par>
                            </p:childTnLst>
                          </p:cTn>
                        </p:par>
                        <p:par>
                          <p:cTn id="39" fill="hold">
                            <p:stCondLst>
                              <p:cond delay="4550"/>
                            </p:stCondLst>
                            <p:childTnLst>
                              <p:par>
                                <p:cTn id="40" presetID="53" presetClass="entr" presetSubtype="16" fill="hold" nodeType="after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p:cTn id="42" dur="500" fill="hold"/>
                                        <p:tgtEl>
                                          <p:spTgt spid="9"/>
                                        </p:tgtEl>
                                        <p:attrNameLst>
                                          <p:attrName>ppt_w</p:attrName>
                                        </p:attrNameLst>
                                      </p:cBhvr>
                                      <p:tavLst>
                                        <p:tav tm="0">
                                          <p:val>
                                            <p:fltVal val="0"/>
                                          </p:val>
                                        </p:tav>
                                        <p:tav tm="100000">
                                          <p:val>
                                            <p:strVal val="#ppt_w"/>
                                          </p:val>
                                        </p:tav>
                                      </p:tavLst>
                                    </p:anim>
                                    <p:anim calcmode="lin" valueType="num">
                                      <p:cBhvr>
                                        <p:cTn id="43" dur="500" fill="hold"/>
                                        <p:tgtEl>
                                          <p:spTgt spid="9"/>
                                        </p:tgtEl>
                                        <p:attrNameLst>
                                          <p:attrName>ppt_h</p:attrName>
                                        </p:attrNameLst>
                                      </p:cBhvr>
                                      <p:tavLst>
                                        <p:tav tm="0">
                                          <p:val>
                                            <p:fltVal val="0"/>
                                          </p:val>
                                        </p:tav>
                                        <p:tav tm="100000">
                                          <p:val>
                                            <p:strVal val="#ppt_h"/>
                                          </p:val>
                                        </p:tav>
                                      </p:tavLst>
                                    </p:anim>
                                    <p:animEffect transition="in" filter="fade">
                                      <p:cBhvr>
                                        <p:cTn id="44" dur="500"/>
                                        <p:tgtEl>
                                          <p:spTgt spid="9"/>
                                        </p:tgtEl>
                                      </p:cBhvr>
                                    </p:animEffect>
                                  </p:childTnLst>
                                </p:cTn>
                              </p:par>
                              <p:par>
                                <p:cTn id="45" presetID="22" presetClass="entr" presetSubtype="8"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left)">
                                      <p:cBhvr>
                                        <p:cTn id="47" dur="500"/>
                                        <p:tgtEl>
                                          <p:spTgt spid="21"/>
                                        </p:tgtEl>
                                      </p:cBhvr>
                                    </p:animEffect>
                                  </p:childTnLst>
                                </p:cTn>
                              </p:par>
                              <p:par>
                                <p:cTn id="48" presetID="22" presetClass="entr" presetSubtype="2"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wipe(right)">
                                      <p:cBhvr>
                                        <p:cTn id="50" dur="500"/>
                                        <p:tgtEl>
                                          <p:spTgt spid="20"/>
                                        </p:tgtEl>
                                      </p:cBhvr>
                                    </p:animEffect>
                                  </p:childTnLst>
                                </p:cTn>
                              </p:par>
                              <p:par>
                                <p:cTn id="51" presetID="22" presetClass="entr" presetSubtype="8" fill="hold"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left)">
                                      <p:cBhvr>
                                        <p:cTn id="53" dur="500"/>
                                        <p:tgtEl>
                                          <p:spTgt spid="13"/>
                                        </p:tgtEl>
                                      </p:cBhvr>
                                    </p:animEffect>
                                  </p:childTnLst>
                                </p:cTn>
                              </p:par>
                            </p:childTnLst>
                          </p:cTn>
                        </p:par>
                        <p:par>
                          <p:cTn id="54" fill="hold">
                            <p:stCondLst>
                              <p:cond delay="5050"/>
                            </p:stCondLst>
                            <p:childTnLst>
                              <p:par>
                                <p:cTn id="55" presetID="53" presetClass="entr" presetSubtype="16" fill="hold" nodeType="afterEffect">
                                  <p:stCondLst>
                                    <p:cond delay="0"/>
                                  </p:stCondLst>
                                  <p:childTnLst>
                                    <p:set>
                                      <p:cBhvr>
                                        <p:cTn id="56" dur="1" fill="hold">
                                          <p:stCondLst>
                                            <p:cond delay="0"/>
                                          </p:stCondLst>
                                        </p:cTn>
                                        <p:tgtEl>
                                          <p:spTgt spid="145"/>
                                        </p:tgtEl>
                                        <p:attrNameLst>
                                          <p:attrName>style.visibility</p:attrName>
                                        </p:attrNameLst>
                                      </p:cBhvr>
                                      <p:to>
                                        <p:strVal val="visible"/>
                                      </p:to>
                                    </p:set>
                                    <p:anim calcmode="lin" valueType="num">
                                      <p:cBhvr>
                                        <p:cTn id="57" dur="500" fill="hold"/>
                                        <p:tgtEl>
                                          <p:spTgt spid="145"/>
                                        </p:tgtEl>
                                        <p:attrNameLst>
                                          <p:attrName>ppt_w</p:attrName>
                                        </p:attrNameLst>
                                      </p:cBhvr>
                                      <p:tavLst>
                                        <p:tav tm="0">
                                          <p:val>
                                            <p:fltVal val="0"/>
                                          </p:val>
                                        </p:tav>
                                        <p:tav tm="100000">
                                          <p:val>
                                            <p:strVal val="#ppt_w"/>
                                          </p:val>
                                        </p:tav>
                                      </p:tavLst>
                                    </p:anim>
                                    <p:anim calcmode="lin" valueType="num">
                                      <p:cBhvr>
                                        <p:cTn id="58" dur="500" fill="hold"/>
                                        <p:tgtEl>
                                          <p:spTgt spid="145"/>
                                        </p:tgtEl>
                                        <p:attrNameLst>
                                          <p:attrName>ppt_h</p:attrName>
                                        </p:attrNameLst>
                                      </p:cBhvr>
                                      <p:tavLst>
                                        <p:tav tm="0">
                                          <p:val>
                                            <p:fltVal val="0"/>
                                          </p:val>
                                        </p:tav>
                                        <p:tav tm="100000">
                                          <p:val>
                                            <p:strVal val="#ppt_h"/>
                                          </p:val>
                                        </p:tav>
                                      </p:tavLst>
                                    </p:anim>
                                    <p:animEffect transition="in" filter="fade">
                                      <p:cBhvr>
                                        <p:cTn id="59" dur="500"/>
                                        <p:tgtEl>
                                          <p:spTgt spid="145"/>
                                        </p:tgtEl>
                                      </p:cBhvr>
                                    </p:animEffect>
                                  </p:childTnLst>
                                </p:cTn>
                              </p:par>
                              <p:par>
                                <p:cTn id="60" presetID="22" presetClass="entr" presetSubtype="8" fill="hold" nodeType="withEffect">
                                  <p:stCondLst>
                                    <p:cond delay="0"/>
                                  </p:stCondLst>
                                  <p:childTnLst>
                                    <p:set>
                                      <p:cBhvr>
                                        <p:cTn id="61" dur="1" fill="hold">
                                          <p:stCondLst>
                                            <p:cond delay="0"/>
                                          </p:stCondLst>
                                        </p:cTn>
                                        <p:tgtEl>
                                          <p:spTgt spid="142"/>
                                        </p:tgtEl>
                                        <p:attrNameLst>
                                          <p:attrName>style.visibility</p:attrName>
                                        </p:attrNameLst>
                                      </p:cBhvr>
                                      <p:to>
                                        <p:strVal val="visible"/>
                                      </p:to>
                                    </p:set>
                                    <p:animEffect transition="in" filter="wipe(left)">
                                      <p:cBhvr>
                                        <p:cTn id="62" dur="500"/>
                                        <p:tgtEl>
                                          <p:spTgt spid="142"/>
                                        </p:tgtEl>
                                      </p:cBhvr>
                                    </p:animEffect>
                                  </p:childTnLst>
                                </p:cTn>
                              </p:par>
                              <p:par>
                                <p:cTn id="63" presetID="22" presetClass="entr" presetSubtype="2" fill="hold" nodeType="withEffect">
                                  <p:stCondLst>
                                    <p:cond delay="0"/>
                                  </p:stCondLst>
                                  <p:childTnLst>
                                    <p:set>
                                      <p:cBhvr>
                                        <p:cTn id="64" dur="1" fill="hold">
                                          <p:stCondLst>
                                            <p:cond delay="0"/>
                                          </p:stCondLst>
                                        </p:cTn>
                                        <p:tgtEl>
                                          <p:spTgt spid="192"/>
                                        </p:tgtEl>
                                        <p:attrNameLst>
                                          <p:attrName>style.visibility</p:attrName>
                                        </p:attrNameLst>
                                      </p:cBhvr>
                                      <p:to>
                                        <p:strVal val="visible"/>
                                      </p:to>
                                    </p:set>
                                    <p:animEffect transition="in" filter="wipe(right)">
                                      <p:cBhvr>
                                        <p:cTn id="65" dur="500"/>
                                        <p:tgtEl>
                                          <p:spTgt spid="192"/>
                                        </p:tgtEl>
                                      </p:cBhvr>
                                    </p:animEffect>
                                  </p:childTnLst>
                                </p:cTn>
                              </p:par>
                            </p:childTnLst>
                          </p:cTn>
                        </p:par>
                        <p:par>
                          <p:cTn id="66" fill="hold">
                            <p:stCondLst>
                              <p:cond delay="5550"/>
                            </p:stCondLst>
                            <p:childTnLst>
                              <p:par>
                                <p:cTn id="67" presetID="53" presetClass="entr" presetSubtype="16" fill="hold" grpId="0" nodeType="afterEffect">
                                  <p:stCondLst>
                                    <p:cond delay="0"/>
                                  </p:stCondLst>
                                  <p:childTnLst>
                                    <p:set>
                                      <p:cBhvr>
                                        <p:cTn id="68" dur="1" fill="hold">
                                          <p:stCondLst>
                                            <p:cond delay="0"/>
                                          </p:stCondLst>
                                        </p:cTn>
                                        <p:tgtEl>
                                          <p:spTgt spid="23"/>
                                        </p:tgtEl>
                                        <p:attrNameLst>
                                          <p:attrName>style.visibility</p:attrName>
                                        </p:attrNameLst>
                                      </p:cBhvr>
                                      <p:to>
                                        <p:strVal val="visible"/>
                                      </p:to>
                                    </p:set>
                                    <p:anim calcmode="lin" valueType="num">
                                      <p:cBhvr>
                                        <p:cTn id="69" dur="500" fill="hold"/>
                                        <p:tgtEl>
                                          <p:spTgt spid="23"/>
                                        </p:tgtEl>
                                        <p:attrNameLst>
                                          <p:attrName>ppt_w</p:attrName>
                                        </p:attrNameLst>
                                      </p:cBhvr>
                                      <p:tavLst>
                                        <p:tav tm="0">
                                          <p:val>
                                            <p:fltVal val="0"/>
                                          </p:val>
                                        </p:tav>
                                        <p:tav tm="100000">
                                          <p:val>
                                            <p:strVal val="#ppt_w"/>
                                          </p:val>
                                        </p:tav>
                                      </p:tavLst>
                                    </p:anim>
                                    <p:anim calcmode="lin" valueType="num">
                                      <p:cBhvr>
                                        <p:cTn id="70" dur="500" fill="hold"/>
                                        <p:tgtEl>
                                          <p:spTgt spid="23"/>
                                        </p:tgtEl>
                                        <p:attrNameLst>
                                          <p:attrName>ppt_h</p:attrName>
                                        </p:attrNameLst>
                                      </p:cBhvr>
                                      <p:tavLst>
                                        <p:tav tm="0">
                                          <p:val>
                                            <p:fltVal val="0"/>
                                          </p:val>
                                        </p:tav>
                                        <p:tav tm="100000">
                                          <p:val>
                                            <p:strVal val="#ppt_h"/>
                                          </p:val>
                                        </p:tav>
                                      </p:tavLst>
                                    </p:anim>
                                    <p:animEffect transition="in" filter="fade">
                                      <p:cBhvr>
                                        <p:cTn id="71" dur="500"/>
                                        <p:tgtEl>
                                          <p:spTgt spid="23"/>
                                        </p:tgtEl>
                                      </p:cBhvr>
                                    </p:animEffect>
                                  </p:childTnLst>
                                </p:cTn>
                              </p:par>
                            </p:childTnLst>
                          </p:cTn>
                        </p:par>
                        <p:par>
                          <p:cTn id="72" fill="hold">
                            <p:stCondLst>
                              <p:cond delay="6050"/>
                            </p:stCondLst>
                            <p:childTnLst>
                              <p:par>
                                <p:cTn id="73" presetID="53" presetClass="entr" presetSubtype="16" fill="hold" grpId="0" nodeType="afterEffect">
                                  <p:stCondLst>
                                    <p:cond delay="0"/>
                                  </p:stCondLst>
                                  <p:childTnLst>
                                    <p:set>
                                      <p:cBhvr>
                                        <p:cTn id="74" dur="1" fill="hold">
                                          <p:stCondLst>
                                            <p:cond delay="0"/>
                                          </p:stCondLst>
                                        </p:cTn>
                                        <p:tgtEl>
                                          <p:spTgt spid="215"/>
                                        </p:tgtEl>
                                        <p:attrNameLst>
                                          <p:attrName>style.visibility</p:attrName>
                                        </p:attrNameLst>
                                      </p:cBhvr>
                                      <p:to>
                                        <p:strVal val="visible"/>
                                      </p:to>
                                    </p:set>
                                    <p:anim calcmode="lin" valueType="num">
                                      <p:cBhvr>
                                        <p:cTn id="75" dur="500" fill="hold"/>
                                        <p:tgtEl>
                                          <p:spTgt spid="215"/>
                                        </p:tgtEl>
                                        <p:attrNameLst>
                                          <p:attrName>ppt_w</p:attrName>
                                        </p:attrNameLst>
                                      </p:cBhvr>
                                      <p:tavLst>
                                        <p:tav tm="0">
                                          <p:val>
                                            <p:fltVal val="0"/>
                                          </p:val>
                                        </p:tav>
                                        <p:tav tm="100000">
                                          <p:val>
                                            <p:strVal val="#ppt_w"/>
                                          </p:val>
                                        </p:tav>
                                      </p:tavLst>
                                    </p:anim>
                                    <p:anim calcmode="lin" valueType="num">
                                      <p:cBhvr>
                                        <p:cTn id="76" dur="500" fill="hold"/>
                                        <p:tgtEl>
                                          <p:spTgt spid="215"/>
                                        </p:tgtEl>
                                        <p:attrNameLst>
                                          <p:attrName>ppt_h</p:attrName>
                                        </p:attrNameLst>
                                      </p:cBhvr>
                                      <p:tavLst>
                                        <p:tav tm="0">
                                          <p:val>
                                            <p:fltVal val="0"/>
                                          </p:val>
                                        </p:tav>
                                        <p:tav tm="100000">
                                          <p:val>
                                            <p:strVal val="#ppt_h"/>
                                          </p:val>
                                        </p:tav>
                                      </p:tavLst>
                                    </p:anim>
                                    <p:animEffect transition="in" filter="fade">
                                      <p:cBhvr>
                                        <p:cTn id="77" dur="500"/>
                                        <p:tgtEl>
                                          <p:spTgt spid="215"/>
                                        </p:tgtEl>
                                      </p:cBhvr>
                                    </p:animEffect>
                                  </p:childTnLst>
                                </p:cTn>
                              </p:par>
                            </p:childTnLst>
                          </p:cTn>
                        </p:par>
                        <p:par>
                          <p:cTn id="78" fill="hold">
                            <p:stCondLst>
                              <p:cond delay="6550"/>
                            </p:stCondLst>
                            <p:childTnLst>
                              <p:par>
                                <p:cTn id="79" presetID="53" presetClass="entr" presetSubtype="16" fill="hold" grpId="0" nodeType="afterEffect">
                                  <p:stCondLst>
                                    <p:cond delay="0"/>
                                  </p:stCondLst>
                                  <p:childTnLst>
                                    <p:set>
                                      <p:cBhvr>
                                        <p:cTn id="80" dur="1" fill="hold">
                                          <p:stCondLst>
                                            <p:cond delay="0"/>
                                          </p:stCondLst>
                                        </p:cTn>
                                        <p:tgtEl>
                                          <p:spTgt spid="196"/>
                                        </p:tgtEl>
                                        <p:attrNameLst>
                                          <p:attrName>style.visibility</p:attrName>
                                        </p:attrNameLst>
                                      </p:cBhvr>
                                      <p:to>
                                        <p:strVal val="visible"/>
                                      </p:to>
                                    </p:set>
                                    <p:anim calcmode="lin" valueType="num">
                                      <p:cBhvr>
                                        <p:cTn id="81" dur="500" fill="hold"/>
                                        <p:tgtEl>
                                          <p:spTgt spid="196"/>
                                        </p:tgtEl>
                                        <p:attrNameLst>
                                          <p:attrName>ppt_w</p:attrName>
                                        </p:attrNameLst>
                                      </p:cBhvr>
                                      <p:tavLst>
                                        <p:tav tm="0">
                                          <p:val>
                                            <p:fltVal val="0"/>
                                          </p:val>
                                        </p:tav>
                                        <p:tav tm="100000">
                                          <p:val>
                                            <p:strVal val="#ppt_w"/>
                                          </p:val>
                                        </p:tav>
                                      </p:tavLst>
                                    </p:anim>
                                    <p:anim calcmode="lin" valueType="num">
                                      <p:cBhvr>
                                        <p:cTn id="82" dur="500" fill="hold"/>
                                        <p:tgtEl>
                                          <p:spTgt spid="196"/>
                                        </p:tgtEl>
                                        <p:attrNameLst>
                                          <p:attrName>ppt_h</p:attrName>
                                        </p:attrNameLst>
                                      </p:cBhvr>
                                      <p:tavLst>
                                        <p:tav tm="0">
                                          <p:val>
                                            <p:fltVal val="0"/>
                                          </p:val>
                                        </p:tav>
                                        <p:tav tm="100000">
                                          <p:val>
                                            <p:strVal val="#ppt_h"/>
                                          </p:val>
                                        </p:tav>
                                      </p:tavLst>
                                    </p:anim>
                                    <p:animEffect transition="in" filter="fade">
                                      <p:cBhvr>
                                        <p:cTn id="83" dur="500"/>
                                        <p:tgtEl>
                                          <p:spTgt spid="196"/>
                                        </p:tgtEl>
                                      </p:cBhvr>
                                    </p:animEffect>
                                  </p:childTnLst>
                                </p:cTn>
                              </p:par>
                            </p:childTnLst>
                          </p:cTn>
                        </p:par>
                        <p:par>
                          <p:cTn id="84" fill="hold">
                            <p:stCondLst>
                              <p:cond delay="7050"/>
                            </p:stCondLst>
                            <p:childTnLst>
                              <p:par>
                                <p:cTn id="85" presetID="53" presetClass="entr" presetSubtype="16" fill="hold" grpId="0" nodeType="afterEffect">
                                  <p:stCondLst>
                                    <p:cond delay="0"/>
                                  </p:stCondLst>
                                  <p:childTnLst>
                                    <p:set>
                                      <p:cBhvr>
                                        <p:cTn id="86" dur="1" fill="hold">
                                          <p:stCondLst>
                                            <p:cond delay="0"/>
                                          </p:stCondLst>
                                        </p:cTn>
                                        <p:tgtEl>
                                          <p:spTgt spid="223"/>
                                        </p:tgtEl>
                                        <p:attrNameLst>
                                          <p:attrName>style.visibility</p:attrName>
                                        </p:attrNameLst>
                                      </p:cBhvr>
                                      <p:to>
                                        <p:strVal val="visible"/>
                                      </p:to>
                                    </p:set>
                                    <p:anim calcmode="lin" valueType="num">
                                      <p:cBhvr>
                                        <p:cTn id="87" dur="500" fill="hold"/>
                                        <p:tgtEl>
                                          <p:spTgt spid="223"/>
                                        </p:tgtEl>
                                        <p:attrNameLst>
                                          <p:attrName>ppt_w</p:attrName>
                                        </p:attrNameLst>
                                      </p:cBhvr>
                                      <p:tavLst>
                                        <p:tav tm="0">
                                          <p:val>
                                            <p:fltVal val="0"/>
                                          </p:val>
                                        </p:tav>
                                        <p:tav tm="100000">
                                          <p:val>
                                            <p:strVal val="#ppt_w"/>
                                          </p:val>
                                        </p:tav>
                                      </p:tavLst>
                                    </p:anim>
                                    <p:anim calcmode="lin" valueType="num">
                                      <p:cBhvr>
                                        <p:cTn id="88" dur="500" fill="hold"/>
                                        <p:tgtEl>
                                          <p:spTgt spid="223"/>
                                        </p:tgtEl>
                                        <p:attrNameLst>
                                          <p:attrName>ppt_h</p:attrName>
                                        </p:attrNameLst>
                                      </p:cBhvr>
                                      <p:tavLst>
                                        <p:tav tm="0">
                                          <p:val>
                                            <p:fltVal val="0"/>
                                          </p:val>
                                        </p:tav>
                                        <p:tav tm="100000">
                                          <p:val>
                                            <p:strVal val="#ppt_h"/>
                                          </p:val>
                                        </p:tav>
                                      </p:tavLst>
                                    </p:anim>
                                    <p:animEffect transition="in" filter="fade">
                                      <p:cBhvr>
                                        <p:cTn id="89" dur="500"/>
                                        <p:tgtEl>
                                          <p:spTgt spid="223"/>
                                        </p:tgtEl>
                                      </p:cBhvr>
                                    </p:animEffect>
                                  </p:childTnLst>
                                </p:cTn>
                              </p:par>
                            </p:childTnLst>
                          </p:cTn>
                        </p:par>
                        <p:par>
                          <p:cTn id="90" fill="hold">
                            <p:stCondLst>
                              <p:cond delay="7550"/>
                            </p:stCondLst>
                            <p:childTnLst>
                              <p:par>
                                <p:cTn id="91" presetID="53" presetClass="entr" presetSubtype="16" fill="hold" grpId="0" nodeType="afterEffect">
                                  <p:stCondLst>
                                    <p:cond delay="0"/>
                                  </p:stCondLst>
                                  <p:childTnLst>
                                    <p:set>
                                      <p:cBhvr>
                                        <p:cTn id="92" dur="1" fill="hold">
                                          <p:stCondLst>
                                            <p:cond delay="0"/>
                                          </p:stCondLst>
                                        </p:cTn>
                                        <p:tgtEl>
                                          <p:spTgt spid="4"/>
                                        </p:tgtEl>
                                        <p:attrNameLst>
                                          <p:attrName>style.visibility</p:attrName>
                                        </p:attrNameLst>
                                      </p:cBhvr>
                                      <p:to>
                                        <p:strVal val="visible"/>
                                      </p:to>
                                    </p:set>
                                    <p:anim calcmode="lin" valueType="num">
                                      <p:cBhvr>
                                        <p:cTn id="93" dur="500" fill="hold"/>
                                        <p:tgtEl>
                                          <p:spTgt spid="4"/>
                                        </p:tgtEl>
                                        <p:attrNameLst>
                                          <p:attrName>ppt_w</p:attrName>
                                        </p:attrNameLst>
                                      </p:cBhvr>
                                      <p:tavLst>
                                        <p:tav tm="0">
                                          <p:val>
                                            <p:fltVal val="0"/>
                                          </p:val>
                                        </p:tav>
                                        <p:tav tm="100000">
                                          <p:val>
                                            <p:strVal val="#ppt_w"/>
                                          </p:val>
                                        </p:tav>
                                      </p:tavLst>
                                    </p:anim>
                                    <p:anim calcmode="lin" valueType="num">
                                      <p:cBhvr>
                                        <p:cTn id="94" dur="500" fill="hold"/>
                                        <p:tgtEl>
                                          <p:spTgt spid="4"/>
                                        </p:tgtEl>
                                        <p:attrNameLst>
                                          <p:attrName>ppt_h</p:attrName>
                                        </p:attrNameLst>
                                      </p:cBhvr>
                                      <p:tavLst>
                                        <p:tav tm="0">
                                          <p:val>
                                            <p:fltVal val="0"/>
                                          </p:val>
                                        </p:tav>
                                        <p:tav tm="100000">
                                          <p:val>
                                            <p:strVal val="#ppt_h"/>
                                          </p:val>
                                        </p:tav>
                                      </p:tavLst>
                                    </p:anim>
                                    <p:animEffect transition="in" filter="fade">
                                      <p:cBhvr>
                                        <p:cTn id="95" dur="500"/>
                                        <p:tgtEl>
                                          <p:spTgt spid="4"/>
                                        </p:tgtEl>
                                      </p:cBhvr>
                                    </p:animEffect>
                                  </p:childTnLst>
                                </p:cTn>
                              </p:par>
                              <p:par>
                                <p:cTn id="96" presetID="22" presetClass="entr" presetSubtype="4" fill="hold" grpId="0"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wipe(down)">
                                      <p:cBhvr>
                                        <p:cTn id="98" dur="500"/>
                                        <p:tgtEl>
                                          <p:spTgt spid="12"/>
                                        </p:tgtEl>
                                      </p:cBhvr>
                                    </p:animEffect>
                                  </p:childTnLst>
                                </p:cTn>
                              </p:par>
                              <p:par>
                                <p:cTn id="99" presetID="22" presetClass="entr" presetSubtype="4" fill="hold"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wipe(down)">
                                      <p:cBhvr>
                                        <p:cTn id="10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5" grpId="0" animBg="1"/>
      <p:bldP spid="223" grpId="0" animBg="1"/>
      <p:bldP spid="4" grpId="0" animBg="1"/>
      <p:bldP spid="12" grpId="0"/>
      <p:bldP spid="23" grpId="0" animBg="1"/>
      <p:bldP spid="196"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0" y="230661"/>
            <a:ext cx="127778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نحوه اجرا</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Rectangle 20">
            <a:extLst>
              <a:ext uri="{FF2B5EF4-FFF2-40B4-BE49-F238E27FC236}">
                <a16:creationId xmlns:a16="http://schemas.microsoft.com/office/drawing/2014/main" id="{C8980FCC-2923-B586-1F6F-40B1B7BF50E4}"/>
              </a:ext>
            </a:extLst>
          </p:cNvPr>
          <p:cNvSpPr/>
          <p:nvPr/>
        </p:nvSpPr>
        <p:spPr>
          <a:xfrm>
            <a:off x="692578" y="623004"/>
            <a:ext cx="7784929" cy="3370666"/>
          </a:xfrm>
          <a:prstGeom prst="rect">
            <a:avLst/>
          </a:prstGeom>
        </p:spPr>
        <p:txBody>
          <a:bodyPr wrap="square">
            <a:spAutoFit/>
          </a:bodyPr>
          <a:lstStyle/>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سطوحی که از قبل تمیز و خشک شده اند را با پرایمر و مشتقات قیری اغشته میکنیم. چنانچه سطح کار اسفالت باشد به ازای هر متر مربع حداقل 300 گرم (مشتق قیری رقیق شدنی در اب) و اگر سطح سیمانی باشد حداقل280 گرم (مشتق قیری محلول در حلال نفتی)رو سطح بپاشید و چنانچه سطح موزاییک بود ابتدا انرا با سیمان و دوغاب سمانی کاملا صاف و یکنواخت نمایید سپس (مشتق قیری محلول در حلال نفتی) را روی سطح بپاشید.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اجازه دهید تا پرایمر و مشتقات قیری به مدت حداکثر یک شبانه روز خشک شوند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تمام برامدگی ها نظیر انتهای میلگرد و هر شی دیگری را صاف و تراز با سطح بکنید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قبل از پاشش پرایمر و مشتق گیری قیری تمام گوشه های کار را با سیمان ماهیچه کشی نمایید بطوری که عایق روی زوایای ۹۰درجه نصب نشود</a:t>
            </a:r>
          </a:p>
        </p:txBody>
      </p:sp>
      <p:sp>
        <p:nvSpPr>
          <p:cNvPr id="22" name="Title 2">
            <a:extLst>
              <a:ext uri="{FF2B5EF4-FFF2-40B4-BE49-F238E27FC236}">
                <a16:creationId xmlns:a16="http://schemas.microsoft.com/office/drawing/2014/main" id="{7F249FDA-C752-A010-E7FA-84FE50BEEDE8}"/>
              </a:ext>
            </a:extLst>
          </p:cNvPr>
          <p:cNvSpPr>
            <a:spLocks noGrp="1"/>
          </p:cNvSpPr>
          <p:nvPr>
            <p:ph type="title"/>
          </p:nvPr>
        </p:nvSpPr>
        <p:spPr>
          <a:xfrm>
            <a:off x="708601" y="218646"/>
            <a:ext cx="7723500" cy="481200"/>
          </a:xfrm>
        </p:spPr>
        <p:txBody>
          <a:bodyPr/>
          <a:lstStyle/>
          <a:p>
            <a:r>
              <a:rPr lang="fa-IR" sz="2400" b="1" dirty="0">
                <a:solidFill>
                  <a:schemeClr val="tx1">
                    <a:lumMod val="85000"/>
                    <a:lumOff val="15000"/>
                  </a:schemeClr>
                </a:solidFill>
                <a:effectLst>
                  <a:reflection blurRad="127000" stA="25000" endPos="70000" dist="25400" dir="5400000" sy="-100000" algn="bl" rotWithShape="0"/>
                </a:effectLst>
              </a:rPr>
              <a:t>نحوه اجرا </a:t>
            </a:r>
          </a:p>
        </p:txBody>
      </p:sp>
    </p:spTree>
    <p:extLst>
      <p:ext uri="{BB962C8B-B14F-4D97-AF65-F5344CB8AC3E}">
        <p14:creationId xmlns:p14="http://schemas.microsoft.com/office/powerpoint/2010/main" val="18950743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1000"/>
                                        <p:tgtEl>
                                          <p:spTgt spid="22"/>
                                        </p:tgtEl>
                                      </p:cBhvr>
                                    </p:animEffect>
                                    <p:anim calcmode="lin" valueType="num">
                                      <p:cBhvr>
                                        <p:cTn id="34" dur="1000" fill="hold"/>
                                        <p:tgtEl>
                                          <p:spTgt spid="22"/>
                                        </p:tgtEl>
                                        <p:attrNameLst>
                                          <p:attrName>ppt_x</p:attrName>
                                        </p:attrNameLst>
                                      </p:cBhvr>
                                      <p:tavLst>
                                        <p:tav tm="0">
                                          <p:val>
                                            <p:strVal val="#ppt_x"/>
                                          </p:val>
                                        </p:tav>
                                        <p:tav tm="100000">
                                          <p:val>
                                            <p:strVal val="#ppt_x"/>
                                          </p:val>
                                        </p:tav>
                                      </p:tavLst>
                                    </p:anim>
                                    <p:anim calcmode="lin" valueType="num">
                                      <p:cBhvr>
                                        <p:cTn id="35" dur="1000" fill="hold"/>
                                        <p:tgtEl>
                                          <p:spTgt spid="22"/>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1000"/>
                                        <p:tgtEl>
                                          <p:spTgt spid="21"/>
                                        </p:tgtEl>
                                      </p:cBhvr>
                                    </p:animEffect>
                                    <p:anim calcmode="lin" valueType="num">
                                      <p:cBhvr>
                                        <p:cTn id="39" dur="1000" fill="hold"/>
                                        <p:tgtEl>
                                          <p:spTgt spid="21"/>
                                        </p:tgtEl>
                                        <p:attrNameLst>
                                          <p:attrName>ppt_x</p:attrName>
                                        </p:attrNameLst>
                                      </p:cBhvr>
                                      <p:tavLst>
                                        <p:tav tm="0">
                                          <p:val>
                                            <p:strVal val="#ppt_x"/>
                                          </p:val>
                                        </p:tav>
                                        <p:tav tm="100000">
                                          <p:val>
                                            <p:strVal val="#ppt_x"/>
                                          </p:val>
                                        </p:tav>
                                      </p:tavLst>
                                    </p:anim>
                                    <p:anim calcmode="lin" valueType="num">
                                      <p:cBhvr>
                                        <p:cTn id="40"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 grpId="0"/>
      <p:bldP spid="2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0" y="230661"/>
            <a:ext cx="127778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نحوه نصب</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Rectangle 20">
            <a:extLst>
              <a:ext uri="{FF2B5EF4-FFF2-40B4-BE49-F238E27FC236}">
                <a16:creationId xmlns:a16="http://schemas.microsoft.com/office/drawing/2014/main" id="{C8980FCC-2923-B586-1F6F-40B1B7BF50E4}"/>
              </a:ext>
            </a:extLst>
          </p:cNvPr>
          <p:cNvSpPr/>
          <p:nvPr/>
        </p:nvSpPr>
        <p:spPr>
          <a:xfrm>
            <a:off x="103322" y="613416"/>
            <a:ext cx="8546441" cy="3370666"/>
          </a:xfrm>
          <a:prstGeom prst="rect">
            <a:avLst/>
          </a:prstGeom>
        </p:spPr>
        <p:txBody>
          <a:bodyPr wrap="square">
            <a:spAutoFit/>
          </a:bodyPr>
          <a:lstStyle/>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ابتدا کلیه اشیا فلزی مثل کولر،منبع انبساط و ...را از سطح جدا نمایید.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سطح کار پس از خشک شدن پرایمر و مشتق قیری مجددا با جارو کاملا تمییز نمایید.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رول ها را اماده نموده سپس مشعل را روشن کرده، شعله را تنظیم نموده و به نحوی حرارت دهید که هم پرایمر و هم قشر روی عایق به حالت مذاب درایند.حداقل شعله نسبت به سطح باید ۴۵درجه باشد و به وسیله پا یا دست و وسایل دیگر دو قشر مذاب با یکدیگر ممزوج و عایق روی سطح کار محکم بچسبانید.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برای اطمینان لبه ها و انتهای عایق را مجددا حرارت داده تا قشر قیری عایق مذاب شده و روی سطح کار بچسبد.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با استفاده از ماله انتهای رول را به سطح کار جوش دهید البته بهتر است به جای شعله گیری روی عایق ماله را گرم کنید.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در نصب رولها حداقل ۵ سانتی متر همپوشانی در طول عایق وجود داشته باشد.</a:t>
            </a:r>
          </a:p>
          <a:p>
            <a:pPr marL="285750" indent="-285750" algn="r" rtl="1">
              <a:lnSpc>
                <a:spcPct val="150000"/>
              </a:lnSpc>
              <a:buFont typeface="Arial" panose="020B0604020202020204" pitchFamily="34" charset="0"/>
              <a:buChar char="•"/>
            </a:pPr>
            <a:r>
              <a:rPr lang="fa-IR" sz="1600" dirty="0">
                <a:solidFill>
                  <a:schemeClr val="tx1">
                    <a:lumMod val="95000"/>
                    <a:lumOff val="5000"/>
                  </a:schemeClr>
                </a:solidFill>
                <a:cs typeface="IRAN Sans" panose="020B0400000000000000" pitchFamily="34" charset="-78"/>
              </a:rPr>
              <a:t>نحوه همپوشانی عایق ها باید به نحوی باشد که سطح بین دو عایق کاملا صاف و یکنواخت گردد.</a:t>
            </a:r>
          </a:p>
        </p:txBody>
      </p:sp>
      <p:sp>
        <p:nvSpPr>
          <p:cNvPr id="22" name="Title 2">
            <a:extLst>
              <a:ext uri="{FF2B5EF4-FFF2-40B4-BE49-F238E27FC236}">
                <a16:creationId xmlns:a16="http://schemas.microsoft.com/office/drawing/2014/main" id="{7F249FDA-C752-A010-E7FA-84FE50BEEDE8}"/>
              </a:ext>
            </a:extLst>
          </p:cNvPr>
          <p:cNvSpPr>
            <a:spLocks noGrp="1"/>
          </p:cNvSpPr>
          <p:nvPr>
            <p:ph type="title"/>
          </p:nvPr>
        </p:nvSpPr>
        <p:spPr>
          <a:xfrm>
            <a:off x="708601" y="218646"/>
            <a:ext cx="7723500" cy="481200"/>
          </a:xfrm>
        </p:spPr>
        <p:txBody>
          <a:bodyPr/>
          <a:lstStyle/>
          <a:p>
            <a:r>
              <a:rPr lang="fa-IR" sz="2400" b="1" dirty="0">
                <a:solidFill>
                  <a:schemeClr val="tx1">
                    <a:lumMod val="85000"/>
                    <a:lumOff val="15000"/>
                  </a:schemeClr>
                </a:solidFill>
                <a:effectLst>
                  <a:reflection blurRad="127000" stA="25000" endPos="70000" dist="25400" dir="5400000" sy="-100000" algn="bl" rotWithShape="0"/>
                </a:effectLst>
              </a:rPr>
              <a:t> </a:t>
            </a:r>
          </a:p>
        </p:txBody>
      </p:sp>
    </p:spTree>
    <p:extLst>
      <p:ext uri="{BB962C8B-B14F-4D97-AF65-F5344CB8AC3E}">
        <p14:creationId xmlns:p14="http://schemas.microsoft.com/office/powerpoint/2010/main" val="23386126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1000"/>
                                        <p:tgtEl>
                                          <p:spTgt spid="21"/>
                                        </p:tgtEl>
                                      </p:cBhvr>
                                    </p:animEffect>
                                    <p:anim calcmode="lin" valueType="num">
                                      <p:cBhvr>
                                        <p:cTn id="34" dur="1000" fill="hold"/>
                                        <p:tgtEl>
                                          <p:spTgt spid="21"/>
                                        </p:tgtEl>
                                        <p:attrNameLst>
                                          <p:attrName>ppt_x</p:attrName>
                                        </p:attrNameLst>
                                      </p:cBhvr>
                                      <p:tavLst>
                                        <p:tav tm="0">
                                          <p:val>
                                            <p:strVal val="#ppt_x"/>
                                          </p:val>
                                        </p:tav>
                                        <p:tav tm="100000">
                                          <p:val>
                                            <p:strVal val="#ppt_x"/>
                                          </p:val>
                                        </p:tav>
                                      </p:tavLst>
                                    </p:anim>
                                    <p:anim calcmode="lin" valueType="num">
                                      <p:cBhvr>
                                        <p:cTn id="35"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0" y="230661"/>
            <a:ext cx="127778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نحوه نصب</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28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نصب</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C4913245-D461-36BD-548B-2B0A3980EF13}"/>
              </a:ext>
            </a:extLst>
          </p:cNvPr>
          <p:cNvSpPr/>
          <p:nvPr/>
        </p:nvSpPr>
        <p:spPr>
          <a:xfrm>
            <a:off x="4328959" y="721225"/>
            <a:ext cx="4295121" cy="3123003"/>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قبل از عملیات اصلی ابتدا باید عایق کاری ابروها صورت بپذیر.</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ابتدا یک نوار از عایق به عرض ۲۵سانتی متر و طول معادل محیط ابرو به ۱۰سانتی متر برید و به شکل استوانه در اورده . </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استوانه را داخل ابرو بگذارید به نحوی که ۱۰سانتی متر بیرون از سطح باشد .</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ماله را با شعله گرم مطابق شکل برش داده.</a:t>
            </a:r>
          </a:p>
          <a:p>
            <a:pPr marL="285750" indent="-285750" algn="justLow" rtl="1">
              <a:lnSpc>
                <a:spcPct val="150000"/>
              </a:lnSpc>
              <a:buFont typeface="Arial" panose="020B0604020202020204" pitchFamily="34" charset="0"/>
              <a:buChar char="•"/>
            </a:pPr>
            <a:r>
              <a:rPr lang="fa-IR" dirty="0">
                <a:solidFill>
                  <a:schemeClr val="tx1">
                    <a:lumMod val="95000"/>
                    <a:lumOff val="5000"/>
                  </a:schemeClr>
                </a:solidFill>
                <a:cs typeface="IRAN Sans" panose="020B0400000000000000" pitchFamily="34" charset="-78"/>
              </a:rPr>
              <a:t>قسمت های بریده شده را با شعله در سطح کار چسبانیده و جوش کاری کنید.</a:t>
            </a:r>
          </a:p>
        </p:txBody>
      </p:sp>
      <p:pic>
        <p:nvPicPr>
          <p:cNvPr id="4" name="Picture 3">
            <a:extLst>
              <a:ext uri="{FF2B5EF4-FFF2-40B4-BE49-F238E27FC236}">
                <a16:creationId xmlns:a16="http://schemas.microsoft.com/office/drawing/2014/main" id="{EC6F0FDB-6E3A-6D03-402E-3DBCA16B5353}"/>
              </a:ext>
            </a:extLst>
          </p:cNvPr>
          <p:cNvPicPr>
            <a:picLocks noChangeAspect="1"/>
          </p:cNvPicPr>
          <p:nvPr/>
        </p:nvPicPr>
        <p:blipFill>
          <a:blip r:embed="rId3"/>
          <a:stretch>
            <a:fillRect/>
          </a:stretch>
        </p:blipFill>
        <p:spPr>
          <a:xfrm>
            <a:off x="264972" y="705678"/>
            <a:ext cx="3913278" cy="3151050"/>
          </a:xfrm>
          <a:prstGeom prst="rect">
            <a:avLst/>
          </a:prstGeom>
        </p:spPr>
      </p:pic>
    </p:spTree>
    <p:extLst>
      <p:ext uri="{BB962C8B-B14F-4D97-AF65-F5344CB8AC3E}">
        <p14:creationId xmlns:p14="http://schemas.microsoft.com/office/powerpoint/2010/main" val="296923429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1000"/>
                                        <p:tgtEl>
                                          <p:spTgt spid="4"/>
                                        </p:tgtEl>
                                      </p:cBhvr>
                                    </p:animEffect>
                                    <p:anim calcmode="lin" valueType="num">
                                      <p:cBhvr>
                                        <p:cTn id="40" dur="1000" fill="hold"/>
                                        <p:tgtEl>
                                          <p:spTgt spid="4"/>
                                        </p:tgtEl>
                                        <p:attrNameLst>
                                          <p:attrName>ppt_x</p:attrName>
                                        </p:attrNameLst>
                                      </p:cBhvr>
                                      <p:tavLst>
                                        <p:tav tm="0">
                                          <p:val>
                                            <p:strVal val="#ppt_x"/>
                                          </p:val>
                                        </p:tav>
                                        <p:tav tm="100000">
                                          <p:val>
                                            <p:strVal val="#ppt_x"/>
                                          </p:val>
                                        </p:tav>
                                      </p:tavLst>
                                    </p:anim>
                                    <p:anim calcmode="lin" valueType="num">
                                      <p:cBhvr>
                                        <p:cTn id="4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184373" y="1792146"/>
            <a:ext cx="3436500"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آیین نامه جوشکاری ساختمانی ایران</a:t>
            </a:r>
            <a:endParaRPr sz="6000"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474670" y="1834234"/>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10638347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338208" y="230661"/>
            <a:ext cx="149012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سازه‌های فولادی</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29</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271509" y="698705"/>
            <a:ext cx="8350986" cy="3030361"/>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نیمرخ های فولادی به محصولات فولادی که دارای اشکال ساده بوده، به روش نورد گرم یا سرد تولید می شوند و معمولا برای ساختن محصولات فولادی دیگر به کار می روند، نیمرخ های فولادی یا پروفیل می گویند.</a:t>
            </a:r>
          </a:p>
          <a:p>
            <a:pPr algn="justLow" rtl="1">
              <a:lnSpc>
                <a:spcPct val="150000"/>
              </a:lnSpc>
            </a:pPr>
            <a:r>
              <a:rPr lang="fa-IR" sz="1600" dirty="0">
                <a:solidFill>
                  <a:schemeClr val="tx1">
                    <a:lumMod val="95000"/>
                    <a:lumOff val="5000"/>
                  </a:schemeClr>
                </a:solidFill>
                <a:cs typeface="IRAN Sans" panose="020B0400000000000000" pitchFamily="34" charset="-78"/>
              </a:rPr>
              <a:t>سازه فولادی مجوعه ای از اعضای باربر، ساخته شده از ورق ویا نیمرخ های فولادی است که به کمک اتصالات، اسکلت ساختمان را به وجود می اورند. نیمرخ های فولادی تولیداتی هستند که با توجه به روش های تکامل یافته برای تولید ان ها، غالبا رفتاری در حد انتظار از خودشان نشان میدهند و موضوع اصلی نگران کننده برای طراحان سازه چگونگی رفتار اتصالاتیست که:</a:t>
            </a:r>
          </a:p>
          <a:p>
            <a:pPr marL="342900" indent="-342900" algn="justLow" rtl="1">
              <a:lnSpc>
                <a:spcPct val="150000"/>
              </a:lnSpc>
              <a:buFont typeface="+mj-lt"/>
              <a:buAutoNum type="arabicPeriod"/>
            </a:pPr>
            <a:r>
              <a:rPr lang="fa-IR" sz="1600" dirty="0">
                <a:solidFill>
                  <a:schemeClr val="tx1">
                    <a:lumMod val="95000"/>
                    <a:lumOff val="5000"/>
                  </a:schemeClr>
                </a:solidFill>
                <a:cs typeface="IRAN Sans" panose="020B0400000000000000" pitchFamily="34" charset="-78"/>
              </a:rPr>
              <a:t>برای ساخت اعضای مرکب از نیمرخ و ورقه </a:t>
            </a:r>
          </a:p>
          <a:p>
            <a:pPr marL="342900" indent="-342900" algn="justLow" rtl="1">
              <a:lnSpc>
                <a:spcPct val="150000"/>
              </a:lnSpc>
              <a:buFont typeface="+mj-lt"/>
              <a:buAutoNum type="arabicPeriod"/>
            </a:pPr>
            <a:r>
              <a:rPr lang="fa-IR" sz="1600" dirty="0">
                <a:solidFill>
                  <a:schemeClr val="tx1">
                    <a:lumMod val="95000"/>
                    <a:lumOff val="5000"/>
                  </a:schemeClr>
                </a:solidFill>
                <a:cs typeface="IRAN Sans" panose="020B0400000000000000" pitchFamily="34" charset="-78"/>
              </a:rPr>
              <a:t>برای یکپارچه نموندن اعضا (تیر،ستون،مهاربند و ...) در محل گره ها مورد استفاده قرار میگیرند.</a:t>
            </a:r>
          </a:p>
        </p:txBody>
      </p:sp>
      <p:sp>
        <p:nvSpPr>
          <p:cNvPr id="9" name="Google Shape;317;p20">
            <a:hlinkClick r:id="rId3" action="ppaction://hlinksldjump"/>
            <a:extLst>
              <a:ext uri="{FF2B5EF4-FFF2-40B4-BE49-F238E27FC236}">
                <a16:creationId xmlns:a16="http://schemas.microsoft.com/office/drawing/2014/main" id="{2E187D77-E666-CF5D-0FBE-56EBC9AAC8F3}"/>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10" name="Google Shape;317;p20">
            <a:hlinkClick r:id="rId3" action="ppaction://hlinksldjump"/>
            <a:extLst>
              <a:ext uri="{FF2B5EF4-FFF2-40B4-BE49-F238E27FC236}">
                <a16:creationId xmlns:a16="http://schemas.microsoft.com/office/drawing/2014/main" id="{4FD83900-4989-1C72-2A75-607631DABB23}"/>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12" name="Google Shape;324;p20">
            <a:hlinkClick r:id="rId4" action="ppaction://hlinksldjump"/>
            <a:extLst>
              <a:ext uri="{FF2B5EF4-FFF2-40B4-BE49-F238E27FC236}">
                <a16:creationId xmlns:a16="http://schemas.microsoft.com/office/drawing/2014/main" id="{E97B6E00-463D-456D-B1EA-3FB2EB72FD23}"/>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506874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338208" y="230661"/>
            <a:ext cx="149012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سازه‌های فولادی</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30</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8" name="Freeform: Shape 27">
            <a:extLst>
              <a:ext uri="{FF2B5EF4-FFF2-40B4-BE49-F238E27FC236}">
                <a16:creationId xmlns:a16="http://schemas.microsoft.com/office/drawing/2014/main" id="{01AA3FF0-0CF0-AF3E-3537-1EC089080055}"/>
              </a:ext>
            </a:extLst>
          </p:cNvPr>
          <p:cNvSpPr/>
          <p:nvPr/>
        </p:nvSpPr>
        <p:spPr>
          <a:xfrm>
            <a:off x="2455611" y="563374"/>
            <a:ext cx="4226168" cy="3332749"/>
          </a:xfrm>
          <a:custGeom>
            <a:avLst/>
            <a:gdLst>
              <a:gd name="connsiteX0" fmla="*/ 2224827 w 2957112"/>
              <a:gd name="connsiteY0" fmla="*/ 2275487 h 2968945"/>
              <a:gd name="connsiteX1" fmla="*/ 2906880 w 2957112"/>
              <a:gd name="connsiteY1" fmla="*/ 2275487 h 2968945"/>
              <a:gd name="connsiteX2" fmla="*/ 2906879 w 2957112"/>
              <a:gd name="connsiteY2" fmla="*/ 2963825 h 2968945"/>
              <a:gd name="connsiteX3" fmla="*/ 2224827 w 2957112"/>
              <a:gd name="connsiteY3" fmla="*/ 2963825 h 2968945"/>
              <a:gd name="connsiteX4" fmla="*/ 1498254 w 2957112"/>
              <a:gd name="connsiteY4" fmla="*/ 2280607 h 2968945"/>
              <a:gd name="connsiteX5" fmla="*/ 2180306 w 2957112"/>
              <a:gd name="connsiteY5" fmla="*/ 2280607 h 2968945"/>
              <a:gd name="connsiteX6" fmla="*/ 2180306 w 2957112"/>
              <a:gd name="connsiteY6" fmla="*/ 2968945 h 2968945"/>
              <a:gd name="connsiteX7" fmla="*/ 1498254 w 2957112"/>
              <a:gd name="connsiteY7" fmla="*/ 2968945 h 2968945"/>
              <a:gd name="connsiteX8" fmla="*/ 2234015 w 2957112"/>
              <a:gd name="connsiteY8" fmla="*/ 1519994 h 2968945"/>
              <a:gd name="connsiteX9" fmla="*/ 2916067 w 2957112"/>
              <a:gd name="connsiteY9" fmla="*/ 1519994 h 2968945"/>
              <a:gd name="connsiteX10" fmla="*/ 2916067 w 2957112"/>
              <a:gd name="connsiteY10" fmla="*/ 2208332 h 2968945"/>
              <a:gd name="connsiteX11" fmla="*/ 2234015 w 2957112"/>
              <a:gd name="connsiteY11" fmla="*/ 2208332 h 2968945"/>
              <a:gd name="connsiteX12" fmla="*/ 760430 w 2957112"/>
              <a:gd name="connsiteY12" fmla="*/ 2257998 h 2968945"/>
              <a:gd name="connsiteX13" fmla="*/ 1442482 w 2957112"/>
              <a:gd name="connsiteY13" fmla="*/ 2257998 h 2968945"/>
              <a:gd name="connsiteX14" fmla="*/ 1442482 w 2957112"/>
              <a:gd name="connsiteY14" fmla="*/ 2946336 h 2968945"/>
              <a:gd name="connsiteX15" fmla="*/ 760430 w 2957112"/>
              <a:gd name="connsiteY15" fmla="*/ 2946336 h 2968945"/>
              <a:gd name="connsiteX16" fmla="*/ 1504927 w 2957112"/>
              <a:gd name="connsiteY16" fmla="*/ 1522201 h 2968945"/>
              <a:gd name="connsiteX17" fmla="*/ 2186980 w 2957112"/>
              <a:gd name="connsiteY17" fmla="*/ 1522201 h 2968945"/>
              <a:gd name="connsiteX18" fmla="*/ 2186979 w 2957112"/>
              <a:gd name="connsiteY18" fmla="*/ 2210539 h 2968945"/>
              <a:gd name="connsiteX19" fmla="*/ 1504927 w 2957112"/>
              <a:gd name="connsiteY19" fmla="*/ 2210539 h 2968945"/>
              <a:gd name="connsiteX20" fmla="*/ 2263749 w 2957112"/>
              <a:gd name="connsiteY20" fmla="*/ 785436 h 2968945"/>
              <a:gd name="connsiteX21" fmla="*/ 2945801 w 2957112"/>
              <a:gd name="connsiteY21" fmla="*/ 785435 h 2968945"/>
              <a:gd name="connsiteX22" fmla="*/ 2945801 w 2957112"/>
              <a:gd name="connsiteY22" fmla="*/ 1473773 h 2968945"/>
              <a:gd name="connsiteX23" fmla="*/ 2263749 w 2957112"/>
              <a:gd name="connsiteY23" fmla="*/ 1473774 h 2968945"/>
              <a:gd name="connsiteX24" fmla="*/ 0 w 2957112"/>
              <a:gd name="connsiteY24" fmla="*/ 2278777 h 2968945"/>
              <a:gd name="connsiteX25" fmla="*/ 682052 w 2957112"/>
              <a:gd name="connsiteY25" fmla="*/ 2278777 h 2968945"/>
              <a:gd name="connsiteX26" fmla="*/ 682052 w 2957112"/>
              <a:gd name="connsiteY26" fmla="*/ 2967115 h 2968945"/>
              <a:gd name="connsiteX27" fmla="*/ 0 w 2957112"/>
              <a:gd name="connsiteY27" fmla="*/ 2967115 h 2968945"/>
              <a:gd name="connsiteX28" fmla="*/ 757955 w 2957112"/>
              <a:gd name="connsiteY28" fmla="*/ 1498000 h 2968945"/>
              <a:gd name="connsiteX29" fmla="*/ 1440007 w 2957112"/>
              <a:gd name="connsiteY29" fmla="*/ 1498000 h 2968945"/>
              <a:gd name="connsiteX30" fmla="*/ 1440007 w 2957112"/>
              <a:gd name="connsiteY30" fmla="*/ 2186338 h 2968945"/>
              <a:gd name="connsiteX31" fmla="*/ 757955 w 2957112"/>
              <a:gd name="connsiteY31" fmla="*/ 2186338 h 2968945"/>
              <a:gd name="connsiteX32" fmla="*/ 1518430 w 2957112"/>
              <a:gd name="connsiteY32" fmla="*/ 771226 h 2968945"/>
              <a:gd name="connsiteX33" fmla="*/ 2200482 w 2957112"/>
              <a:gd name="connsiteY33" fmla="*/ 771226 h 2968945"/>
              <a:gd name="connsiteX34" fmla="*/ 2200482 w 2957112"/>
              <a:gd name="connsiteY34" fmla="*/ 1459563 h 2968945"/>
              <a:gd name="connsiteX35" fmla="*/ 1518430 w 2957112"/>
              <a:gd name="connsiteY35" fmla="*/ 1459564 h 2968945"/>
              <a:gd name="connsiteX36" fmla="*/ 2275060 w 2957112"/>
              <a:gd name="connsiteY36" fmla="*/ 48125 h 2968945"/>
              <a:gd name="connsiteX37" fmla="*/ 2957112 w 2957112"/>
              <a:gd name="connsiteY37" fmla="*/ 48125 h 2968945"/>
              <a:gd name="connsiteX38" fmla="*/ 2957112 w 2957112"/>
              <a:gd name="connsiteY38" fmla="*/ 736463 h 2968945"/>
              <a:gd name="connsiteX39" fmla="*/ 2275060 w 2957112"/>
              <a:gd name="connsiteY39" fmla="*/ 736463 h 2968945"/>
              <a:gd name="connsiteX40" fmla="*/ 10417 w 2957112"/>
              <a:gd name="connsiteY40" fmla="*/ 1518326 h 2968945"/>
              <a:gd name="connsiteX41" fmla="*/ 692468 w 2957112"/>
              <a:gd name="connsiteY41" fmla="*/ 1518326 h 2968945"/>
              <a:gd name="connsiteX42" fmla="*/ 692468 w 2957112"/>
              <a:gd name="connsiteY42" fmla="*/ 2206664 h 2968945"/>
              <a:gd name="connsiteX43" fmla="*/ 10416 w 2957112"/>
              <a:gd name="connsiteY43" fmla="*/ 2206664 h 2968945"/>
              <a:gd name="connsiteX44" fmla="*/ 779933 w 2957112"/>
              <a:gd name="connsiteY44" fmla="*/ 760675 h 2968945"/>
              <a:gd name="connsiteX45" fmla="*/ 1461985 w 2957112"/>
              <a:gd name="connsiteY45" fmla="*/ 760675 h 2968945"/>
              <a:gd name="connsiteX46" fmla="*/ 1461985 w 2957112"/>
              <a:gd name="connsiteY46" fmla="*/ 1449013 h 2968945"/>
              <a:gd name="connsiteX47" fmla="*/ 779933 w 2957112"/>
              <a:gd name="connsiteY47" fmla="*/ 1449012 h 2968945"/>
              <a:gd name="connsiteX48" fmla="*/ 1507994 w 2957112"/>
              <a:gd name="connsiteY48" fmla="*/ 7681 h 2968945"/>
              <a:gd name="connsiteX49" fmla="*/ 2190046 w 2957112"/>
              <a:gd name="connsiteY49" fmla="*/ 7680 h 2968945"/>
              <a:gd name="connsiteX50" fmla="*/ 2190046 w 2957112"/>
              <a:gd name="connsiteY50" fmla="*/ 696018 h 2968945"/>
              <a:gd name="connsiteX51" fmla="*/ 1507994 w 2957112"/>
              <a:gd name="connsiteY51" fmla="*/ 696019 h 2968945"/>
              <a:gd name="connsiteX52" fmla="*/ 8149 w 2957112"/>
              <a:gd name="connsiteY52" fmla="*/ 769822 h 2968945"/>
              <a:gd name="connsiteX53" fmla="*/ 690201 w 2957112"/>
              <a:gd name="connsiteY53" fmla="*/ 769822 h 2968945"/>
              <a:gd name="connsiteX54" fmla="*/ 690201 w 2957112"/>
              <a:gd name="connsiteY54" fmla="*/ 1458160 h 2968945"/>
              <a:gd name="connsiteX55" fmla="*/ 8149 w 2957112"/>
              <a:gd name="connsiteY55" fmla="*/ 1458160 h 2968945"/>
              <a:gd name="connsiteX56" fmla="*/ 755202 w 2957112"/>
              <a:gd name="connsiteY56" fmla="*/ 1 h 2968945"/>
              <a:gd name="connsiteX57" fmla="*/ 1437255 w 2957112"/>
              <a:gd name="connsiteY57" fmla="*/ 0 h 2968945"/>
              <a:gd name="connsiteX58" fmla="*/ 1437255 w 2957112"/>
              <a:gd name="connsiteY58" fmla="*/ 688338 h 2968945"/>
              <a:gd name="connsiteX59" fmla="*/ 755203 w 2957112"/>
              <a:gd name="connsiteY59" fmla="*/ 688339 h 2968945"/>
              <a:gd name="connsiteX60" fmla="*/ 36152 w 2957112"/>
              <a:gd name="connsiteY60" fmla="*/ 41383 h 2968945"/>
              <a:gd name="connsiteX61" fmla="*/ 718203 w 2957112"/>
              <a:gd name="connsiteY61" fmla="*/ 41384 h 2968945"/>
              <a:gd name="connsiteX62" fmla="*/ 718203 w 2957112"/>
              <a:gd name="connsiteY62" fmla="*/ 729721 h 2968945"/>
              <a:gd name="connsiteX63" fmla="*/ 36152 w 2957112"/>
              <a:gd name="connsiteY63" fmla="*/ 729721 h 296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957112" h="2968945">
                <a:moveTo>
                  <a:pt x="2224827" y="2275487"/>
                </a:moveTo>
                <a:lnTo>
                  <a:pt x="2906880" y="2275487"/>
                </a:lnTo>
                <a:lnTo>
                  <a:pt x="2906879" y="2963825"/>
                </a:lnTo>
                <a:lnTo>
                  <a:pt x="2224827" y="2963825"/>
                </a:lnTo>
                <a:close/>
                <a:moveTo>
                  <a:pt x="1498254" y="2280607"/>
                </a:moveTo>
                <a:lnTo>
                  <a:pt x="2180306" y="2280607"/>
                </a:lnTo>
                <a:lnTo>
                  <a:pt x="2180306" y="2968945"/>
                </a:lnTo>
                <a:lnTo>
                  <a:pt x="1498254" y="2968945"/>
                </a:lnTo>
                <a:close/>
                <a:moveTo>
                  <a:pt x="2234015" y="1519994"/>
                </a:moveTo>
                <a:lnTo>
                  <a:pt x="2916067" y="1519994"/>
                </a:lnTo>
                <a:lnTo>
                  <a:pt x="2916067" y="2208332"/>
                </a:lnTo>
                <a:lnTo>
                  <a:pt x="2234015" y="2208332"/>
                </a:lnTo>
                <a:close/>
                <a:moveTo>
                  <a:pt x="760430" y="2257998"/>
                </a:moveTo>
                <a:lnTo>
                  <a:pt x="1442482" y="2257998"/>
                </a:lnTo>
                <a:lnTo>
                  <a:pt x="1442482" y="2946336"/>
                </a:lnTo>
                <a:lnTo>
                  <a:pt x="760430" y="2946336"/>
                </a:lnTo>
                <a:close/>
                <a:moveTo>
                  <a:pt x="1504927" y="1522201"/>
                </a:moveTo>
                <a:lnTo>
                  <a:pt x="2186980" y="1522201"/>
                </a:lnTo>
                <a:lnTo>
                  <a:pt x="2186979" y="2210539"/>
                </a:lnTo>
                <a:lnTo>
                  <a:pt x="1504927" y="2210539"/>
                </a:lnTo>
                <a:close/>
                <a:moveTo>
                  <a:pt x="2263749" y="785436"/>
                </a:moveTo>
                <a:lnTo>
                  <a:pt x="2945801" y="785435"/>
                </a:lnTo>
                <a:lnTo>
                  <a:pt x="2945801" y="1473773"/>
                </a:lnTo>
                <a:lnTo>
                  <a:pt x="2263749" y="1473774"/>
                </a:lnTo>
                <a:close/>
                <a:moveTo>
                  <a:pt x="0" y="2278777"/>
                </a:moveTo>
                <a:lnTo>
                  <a:pt x="682052" y="2278777"/>
                </a:lnTo>
                <a:lnTo>
                  <a:pt x="682052" y="2967115"/>
                </a:lnTo>
                <a:lnTo>
                  <a:pt x="0" y="2967115"/>
                </a:lnTo>
                <a:close/>
                <a:moveTo>
                  <a:pt x="757955" y="1498000"/>
                </a:moveTo>
                <a:lnTo>
                  <a:pt x="1440007" y="1498000"/>
                </a:lnTo>
                <a:lnTo>
                  <a:pt x="1440007" y="2186338"/>
                </a:lnTo>
                <a:lnTo>
                  <a:pt x="757955" y="2186338"/>
                </a:lnTo>
                <a:close/>
                <a:moveTo>
                  <a:pt x="1518430" y="771226"/>
                </a:moveTo>
                <a:lnTo>
                  <a:pt x="2200482" y="771226"/>
                </a:lnTo>
                <a:lnTo>
                  <a:pt x="2200482" y="1459563"/>
                </a:lnTo>
                <a:lnTo>
                  <a:pt x="1518430" y="1459564"/>
                </a:lnTo>
                <a:close/>
                <a:moveTo>
                  <a:pt x="2275060" y="48125"/>
                </a:moveTo>
                <a:lnTo>
                  <a:pt x="2957112" y="48125"/>
                </a:lnTo>
                <a:lnTo>
                  <a:pt x="2957112" y="736463"/>
                </a:lnTo>
                <a:lnTo>
                  <a:pt x="2275060" y="736463"/>
                </a:lnTo>
                <a:close/>
                <a:moveTo>
                  <a:pt x="10417" y="1518326"/>
                </a:moveTo>
                <a:lnTo>
                  <a:pt x="692468" y="1518326"/>
                </a:lnTo>
                <a:lnTo>
                  <a:pt x="692468" y="2206664"/>
                </a:lnTo>
                <a:lnTo>
                  <a:pt x="10416" y="2206664"/>
                </a:lnTo>
                <a:close/>
                <a:moveTo>
                  <a:pt x="779933" y="760675"/>
                </a:moveTo>
                <a:lnTo>
                  <a:pt x="1461985" y="760675"/>
                </a:lnTo>
                <a:lnTo>
                  <a:pt x="1461985" y="1449013"/>
                </a:lnTo>
                <a:lnTo>
                  <a:pt x="779933" y="1449012"/>
                </a:lnTo>
                <a:close/>
                <a:moveTo>
                  <a:pt x="1507994" y="7681"/>
                </a:moveTo>
                <a:lnTo>
                  <a:pt x="2190046" y="7680"/>
                </a:lnTo>
                <a:lnTo>
                  <a:pt x="2190046" y="696018"/>
                </a:lnTo>
                <a:lnTo>
                  <a:pt x="1507994" y="696019"/>
                </a:lnTo>
                <a:close/>
                <a:moveTo>
                  <a:pt x="8149" y="769822"/>
                </a:moveTo>
                <a:lnTo>
                  <a:pt x="690201" y="769822"/>
                </a:lnTo>
                <a:lnTo>
                  <a:pt x="690201" y="1458160"/>
                </a:lnTo>
                <a:lnTo>
                  <a:pt x="8149" y="1458160"/>
                </a:lnTo>
                <a:close/>
                <a:moveTo>
                  <a:pt x="755202" y="1"/>
                </a:moveTo>
                <a:lnTo>
                  <a:pt x="1437255" y="0"/>
                </a:lnTo>
                <a:lnTo>
                  <a:pt x="1437255" y="688338"/>
                </a:lnTo>
                <a:lnTo>
                  <a:pt x="755203" y="688339"/>
                </a:lnTo>
                <a:close/>
                <a:moveTo>
                  <a:pt x="36152" y="41383"/>
                </a:moveTo>
                <a:lnTo>
                  <a:pt x="718203" y="41384"/>
                </a:lnTo>
                <a:lnTo>
                  <a:pt x="718203" y="729721"/>
                </a:lnTo>
                <a:lnTo>
                  <a:pt x="36152" y="729721"/>
                </a:lnTo>
                <a:close/>
              </a:path>
            </a:pathLst>
          </a:custGeom>
          <a:blipFill>
            <a:blip r:embed="rId4"/>
            <a:stretch>
              <a:fillRect/>
            </a:stretch>
          </a:blipFill>
          <a:ln w="9525">
            <a:solidFill>
              <a:schemeClr val="accent4">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Google Shape;317;p20">
            <a:hlinkClick r:id="rId3" action="ppaction://hlinksldjump"/>
            <a:extLst>
              <a:ext uri="{FF2B5EF4-FFF2-40B4-BE49-F238E27FC236}">
                <a16:creationId xmlns:a16="http://schemas.microsoft.com/office/drawing/2014/main" id="{9900DC24-FCAF-C615-766A-BDB8C7FDBDAA}"/>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10" name="Google Shape;317;p20">
            <a:hlinkClick r:id="rId3" action="ppaction://hlinksldjump"/>
            <a:extLst>
              <a:ext uri="{FF2B5EF4-FFF2-40B4-BE49-F238E27FC236}">
                <a16:creationId xmlns:a16="http://schemas.microsoft.com/office/drawing/2014/main" id="{30323B27-2D9D-1FCE-A04D-78FA977AAE38}"/>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12" name="Google Shape;317;p20">
            <a:hlinkClick r:id="rId3" action="ppaction://hlinksldjump"/>
            <a:extLst>
              <a:ext uri="{FF2B5EF4-FFF2-40B4-BE49-F238E27FC236}">
                <a16:creationId xmlns:a16="http://schemas.microsoft.com/office/drawing/2014/main" id="{2EE410C2-AFDC-E7D8-F8F6-3CC6F50FB023}"/>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13" name="Google Shape;324;p20">
            <a:hlinkClick r:id="rId5" action="ppaction://hlinksldjump"/>
            <a:extLst>
              <a:ext uri="{FF2B5EF4-FFF2-40B4-BE49-F238E27FC236}">
                <a16:creationId xmlns:a16="http://schemas.microsoft.com/office/drawing/2014/main" id="{2B427209-34A1-F24C-F8F6-2759E38C0EB0}"/>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4564476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94792"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550551" y="230661"/>
            <a:ext cx="1277784"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چرا جوش؟</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31</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5107892" y="835741"/>
            <a:ext cx="3097701" cy="3030361"/>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برای ساخت اعضا و اتصالات از پرچ، پیچ و جوش استفاده میشود که در ایران استفاده از جوش در ساختمان های متعارف بسیار رایج است و استفاده از جوش با توجه به قدمت نسبتا طولانی در ساخت اسکلت های فولادی پیشرفت قابل توجهی در شناخت جوش و توسعه فناوری مربوط به ان صورت گرفته.</a:t>
            </a:r>
          </a:p>
        </p:txBody>
      </p:sp>
      <p:sp>
        <p:nvSpPr>
          <p:cNvPr id="9" name="Rectangle: Rounded Corners 8">
            <a:extLst>
              <a:ext uri="{FF2B5EF4-FFF2-40B4-BE49-F238E27FC236}">
                <a16:creationId xmlns:a16="http://schemas.microsoft.com/office/drawing/2014/main" id="{370419BA-14D9-386C-5AA1-8B00BB35CCA9}"/>
              </a:ext>
            </a:extLst>
          </p:cNvPr>
          <p:cNvSpPr/>
          <p:nvPr/>
        </p:nvSpPr>
        <p:spPr>
          <a:xfrm>
            <a:off x="608830" y="809744"/>
            <a:ext cx="4356898" cy="3030361"/>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اما هنوز هم نگرانی هایی در مورد اتصالات جوشی به ویژه به علت صدمات به وجود امده در اتصالات جوشی ساختمان ها تحت اثر زلزله در ذهن مهندسان به وجود امده همچنین استفاده از جوش در صنایع کشتی سازی،اتوموبیل سازی،مخازن تحت فشار،خطوط انتقال گاز و نظایر ان موفقیت امیز بوده و اتصالات جوشی در ان ها به طور مناسبی ایفای نقش نموده است .بنابراین عامل اساسی بروز مشکلات در جوشکاری های ساختمانی عدم رعایت اصول اساسی هنگام اجراست.</a:t>
            </a:r>
          </a:p>
        </p:txBody>
      </p:sp>
      <p:sp>
        <p:nvSpPr>
          <p:cNvPr id="10" name="Google Shape;317;p20">
            <a:hlinkClick r:id="rId3" action="ppaction://hlinksldjump"/>
            <a:extLst>
              <a:ext uri="{FF2B5EF4-FFF2-40B4-BE49-F238E27FC236}">
                <a16:creationId xmlns:a16="http://schemas.microsoft.com/office/drawing/2014/main" id="{4D1F0F9C-A383-6C9E-91FE-41BD32E79BE3}"/>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12" name="Google Shape;317;p20">
            <a:hlinkClick r:id="rId3" action="ppaction://hlinksldjump"/>
            <a:extLst>
              <a:ext uri="{FF2B5EF4-FFF2-40B4-BE49-F238E27FC236}">
                <a16:creationId xmlns:a16="http://schemas.microsoft.com/office/drawing/2014/main" id="{F0634F46-A5E0-1960-40DD-7060D691B138}"/>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13" name="Google Shape;317;p20">
            <a:hlinkClick r:id="rId3" action="ppaction://hlinksldjump"/>
            <a:extLst>
              <a:ext uri="{FF2B5EF4-FFF2-40B4-BE49-F238E27FC236}">
                <a16:creationId xmlns:a16="http://schemas.microsoft.com/office/drawing/2014/main" id="{F217308B-E339-1BA8-3C98-F4E74E3103F5}"/>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15" name="Google Shape;324;p20">
            <a:hlinkClick r:id="rId4" action="ppaction://hlinksldjump"/>
            <a:extLst>
              <a:ext uri="{FF2B5EF4-FFF2-40B4-BE49-F238E27FC236}">
                <a16:creationId xmlns:a16="http://schemas.microsoft.com/office/drawing/2014/main" id="{684B0DFD-F639-3ED7-B112-678070319239}"/>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3060265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42"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1000"/>
                                        <p:tgtEl>
                                          <p:spTgt spid="9"/>
                                        </p:tgtEl>
                                      </p:cBhvr>
                                    </p:animEffect>
                                    <p:anim calcmode="lin" valueType="num">
                                      <p:cBhvr>
                                        <p:cTn id="32" dur="1000" fill="hold"/>
                                        <p:tgtEl>
                                          <p:spTgt spid="9"/>
                                        </p:tgtEl>
                                        <p:attrNameLst>
                                          <p:attrName>ppt_x</p:attrName>
                                        </p:attrNameLst>
                                      </p:cBhvr>
                                      <p:tavLst>
                                        <p:tav tm="0">
                                          <p:val>
                                            <p:strVal val="#ppt_x"/>
                                          </p:val>
                                        </p:tav>
                                        <p:tav tm="100000">
                                          <p:val>
                                            <p:strVal val="#ppt_x"/>
                                          </p:val>
                                        </p:tav>
                                      </p:tavLst>
                                    </p:anim>
                                    <p:anim calcmode="lin" valueType="num">
                                      <p:cBhvr>
                                        <p:cTn id="3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P spid="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245626" y="230661"/>
            <a:ext cx="1582710"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گستره آیین نامه</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32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Rectangle: Rounded Corners 20">
            <a:extLst>
              <a:ext uri="{FF2B5EF4-FFF2-40B4-BE49-F238E27FC236}">
                <a16:creationId xmlns:a16="http://schemas.microsoft.com/office/drawing/2014/main" id="{E9A0324A-D749-8B9A-02A3-3CCC094A8ADA}"/>
              </a:ext>
            </a:extLst>
          </p:cNvPr>
          <p:cNvSpPr/>
          <p:nvPr/>
        </p:nvSpPr>
        <p:spPr>
          <a:xfrm>
            <a:off x="363541" y="657451"/>
            <a:ext cx="8416918" cy="1346597"/>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گستره ایین نامه: </a:t>
            </a:r>
            <a:r>
              <a:rPr lang="fa-IR" sz="1800" dirty="0">
                <a:solidFill>
                  <a:schemeClr val="tx1">
                    <a:lumMod val="95000"/>
                    <a:lumOff val="5000"/>
                  </a:schemeClr>
                </a:solidFill>
                <a:cs typeface="IRAN Sans" panose="020B0400000000000000" pitchFamily="34" charset="-78"/>
              </a:rPr>
              <a:t>این آیین نامه مقررات جوشکاری سازه های فولادی را در بر میگیرد و باید همراه با «ایین نامه طرح سازه های فولادی مورد استفاده قرار گیرد.کاربرد ایین نامه در محدوده عمران (شامل پل ها و ساختمان) و نمیتواند در طراحی مخازن و لوله های تحت فشار مورد استفاده قرار گیرد.</a:t>
            </a:r>
          </a:p>
        </p:txBody>
      </p:sp>
      <p:sp>
        <p:nvSpPr>
          <p:cNvPr id="22" name="Rectangle: Rounded Corners 21">
            <a:extLst>
              <a:ext uri="{FF2B5EF4-FFF2-40B4-BE49-F238E27FC236}">
                <a16:creationId xmlns:a16="http://schemas.microsoft.com/office/drawing/2014/main" id="{ABF45968-7C06-F4B9-4744-637EBC5F9AD3}"/>
              </a:ext>
            </a:extLst>
          </p:cNvPr>
          <p:cNvSpPr/>
          <p:nvPr/>
        </p:nvSpPr>
        <p:spPr>
          <a:xfrm>
            <a:off x="363541" y="2095831"/>
            <a:ext cx="6570238" cy="1752441"/>
          </a:xfrm>
          <a:prstGeom prst="roundRect">
            <a:avLst>
              <a:gd name="adj" fmla="val 5463"/>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هدف:</a:t>
            </a:r>
            <a:r>
              <a:rPr lang="en-US" sz="1800" b="1" dirty="0">
                <a:solidFill>
                  <a:schemeClr val="tx1">
                    <a:lumMod val="95000"/>
                    <a:lumOff val="5000"/>
                  </a:schemeClr>
                </a:solidFill>
                <a:cs typeface="IRAN Sans" panose="020B0400000000000000" pitchFamily="34" charset="-78"/>
              </a:rPr>
              <a:t> </a:t>
            </a:r>
            <a:r>
              <a:rPr lang="fa-IR" sz="1800" dirty="0">
                <a:solidFill>
                  <a:schemeClr val="tx1">
                    <a:lumMod val="95000"/>
                    <a:lumOff val="5000"/>
                  </a:schemeClr>
                </a:solidFill>
                <a:cs typeface="IRAN Sans" panose="020B0400000000000000" pitchFamily="34" charset="-78"/>
              </a:rPr>
              <a:t>هدف این ایین نامه ارائه دستورالعمل های عمومی برای استفاده در شرایط متعارف است. و برای حالات خاص که در گستره این ایین نامه قرار نمیگیرند می توان از معیار های خاص پذیرش استفاده کرد،مشروط براین که این معیار ها بر مبنای مستندات نظری و عملی قرار داشته و توسط مهندس مشاور به تصویب رسیده باشند.</a:t>
            </a:r>
          </a:p>
        </p:txBody>
      </p:sp>
      <p:sp>
        <p:nvSpPr>
          <p:cNvPr id="23" name="Rectangle: Rounded Corners 22">
            <a:extLst>
              <a:ext uri="{FF2B5EF4-FFF2-40B4-BE49-F238E27FC236}">
                <a16:creationId xmlns:a16="http://schemas.microsoft.com/office/drawing/2014/main" id="{3B500DA6-0F15-F4A2-2B2A-7A66952C05F9}"/>
              </a:ext>
            </a:extLst>
          </p:cNvPr>
          <p:cNvSpPr/>
          <p:nvPr/>
        </p:nvSpPr>
        <p:spPr>
          <a:xfrm>
            <a:off x="6999396" y="2112300"/>
            <a:ext cx="1781063" cy="1719501"/>
          </a:xfrm>
          <a:prstGeom prst="roundRect">
            <a:avLst>
              <a:gd name="adj" fmla="val 3134"/>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800" b="1" dirty="0">
                <a:solidFill>
                  <a:schemeClr val="tx1">
                    <a:lumMod val="95000"/>
                    <a:lumOff val="5000"/>
                  </a:schemeClr>
                </a:solidFill>
                <a:cs typeface="IRAN Sans" panose="020B0400000000000000" pitchFamily="34" charset="-78"/>
              </a:rPr>
              <a:t>احاد: </a:t>
            </a:r>
            <a:r>
              <a:rPr lang="fa-IR" sz="1800" dirty="0">
                <a:solidFill>
                  <a:schemeClr val="tx1">
                    <a:lumMod val="95000"/>
                    <a:lumOff val="5000"/>
                  </a:schemeClr>
                </a:solidFill>
                <a:cs typeface="IRAN Sans" panose="020B0400000000000000" pitchFamily="34" charset="-78"/>
              </a:rPr>
              <a:t>در این سیستم از سیستم بین المللی احاد</a:t>
            </a:r>
            <a:r>
              <a:rPr lang="en-US" sz="1800" dirty="0">
                <a:solidFill>
                  <a:schemeClr val="tx1">
                    <a:lumMod val="95000"/>
                    <a:lumOff val="5000"/>
                  </a:schemeClr>
                </a:solidFill>
                <a:cs typeface="IRAN Sans" panose="020B0400000000000000" pitchFamily="34" charset="-78"/>
              </a:rPr>
              <a:t> </a:t>
            </a:r>
            <a:r>
              <a:rPr lang="fa-IR" sz="1800" dirty="0">
                <a:solidFill>
                  <a:schemeClr val="tx1">
                    <a:lumMod val="95000"/>
                    <a:lumOff val="5000"/>
                  </a:schemeClr>
                </a:solidFill>
                <a:cs typeface="IRAN Sans" panose="020B0400000000000000" pitchFamily="34" charset="-78"/>
              </a:rPr>
              <a:t>(</a:t>
            </a:r>
            <a:r>
              <a:rPr lang="en-US" sz="1800" dirty="0">
                <a:solidFill>
                  <a:schemeClr val="tx1">
                    <a:lumMod val="95000"/>
                    <a:lumOff val="5000"/>
                  </a:schemeClr>
                </a:solidFill>
                <a:cs typeface="IRAN Sans" panose="020B0400000000000000" pitchFamily="34" charset="-78"/>
              </a:rPr>
              <a:t>SI</a:t>
            </a:r>
            <a:r>
              <a:rPr lang="fa-IR" sz="1800" dirty="0">
                <a:solidFill>
                  <a:schemeClr val="tx1">
                    <a:lumMod val="95000"/>
                    <a:lumOff val="5000"/>
                  </a:schemeClr>
                </a:solidFill>
                <a:cs typeface="IRAN Sans" panose="020B0400000000000000" pitchFamily="34" charset="-78"/>
              </a:rPr>
              <a:t>)</a:t>
            </a:r>
            <a:r>
              <a:rPr lang="en-US" sz="1800" dirty="0">
                <a:solidFill>
                  <a:schemeClr val="tx1">
                    <a:lumMod val="95000"/>
                    <a:lumOff val="5000"/>
                  </a:schemeClr>
                </a:solidFill>
                <a:cs typeface="IRAN Sans" panose="020B0400000000000000" pitchFamily="34" charset="-78"/>
              </a:rPr>
              <a:t> </a:t>
            </a:r>
            <a:r>
              <a:rPr lang="fa-IR" sz="1800" dirty="0">
                <a:solidFill>
                  <a:schemeClr val="tx1">
                    <a:lumMod val="95000"/>
                    <a:lumOff val="5000"/>
                  </a:schemeClr>
                </a:solidFill>
                <a:cs typeface="IRAN Sans" panose="020B0400000000000000" pitchFamily="34" charset="-78"/>
              </a:rPr>
              <a:t>استفاده شده است.</a:t>
            </a:r>
          </a:p>
        </p:txBody>
      </p:sp>
      <p:sp>
        <p:nvSpPr>
          <p:cNvPr id="2" name="Google Shape;317;p20">
            <a:hlinkClick r:id="rId3" action="ppaction://hlinksldjump"/>
            <a:extLst>
              <a:ext uri="{FF2B5EF4-FFF2-40B4-BE49-F238E27FC236}">
                <a16:creationId xmlns:a16="http://schemas.microsoft.com/office/drawing/2014/main" id="{1A473331-5CCB-8234-C6F3-4FB9B4E1A3E7}"/>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3" name="Google Shape;317;p20">
            <a:hlinkClick r:id="rId3" action="ppaction://hlinksldjump"/>
            <a:extLst>
              <a:ext uri="{FF2B5EF4-FFF2-40B4-BE49-F238E27FC236}">
                <a16:creationId xmlns:a16="http://schemas.microsoft.com/office/drawing/2014/main" id="{F6143129-A669-4E0F-9632-3660A3732F3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4" name="Google Shape;324;p20">
            <a:hlinkClick r:id="rId4" action="ppaction://hlinksldjump"/>
            <a:extLst>
              <a:ext uri="{FF2B5EF4-FFF2-40B4-BE49-F238E27FC236}">
                <a16:creationId xmlns:a16="http://schemas.microsoft.com/office/drawing/2014/main" id="{3C8C4803-8B22-9021-1D71-DACD2A039843}"/>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698334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anim calcmode="lin" valueType="num">
                                      <p:cBhvr>
                                        <p:cTn id="35" dur="1000" fill="hold"/>
                                        <p:tgtEl>
                                          <p:spTgt spid="21"/>
                                        </p:tgtEl>
                                        <p:attrNameLst>
                                          <p:attrName>ppt_x</p:attrName>
                                        </p:attrNameLst>
                                      </p:cBhvr>
                                      <p:tavLst>
                                        <p:tav tm="0">
                                          <p:val>
                                            <p:strVal val="#ppt_x"/>
                                          </p:val>
                                        </p:tav>
                                        <p:tav tm="100000">
                                          <p:val>
                                            <p:strVal val="#ppt_x"/>
                                          </p:val>
                                        </p:tav>
                                      </p:tavLst>
                                    </p:anim>
                                    <p:anim calcmode="lin" valueType="num">
                                      <p:cBhvr>
                                        <p:cTn id="36" dur="1000" fill="hold"/>
                                        <p:tgtEl>
                                          <p:spTgt spid="21"/>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1000"/>
                                        <p:tgtEl>
                                          <p:spTgt spid="22"/>
                                        </p:tgtEl>
                                      </p:cBhvr>
                                    </p:animEffect>
                                    <p:anim calcmode="lin" valueType="num">
                                      <p:cBhvr>
                                        <p:cTn id="41" dur="1000" fill="hold"/>
                                        <p:tgtEl>
                                          <p:spTgt spid="22"/>
                                        </p:tgtEl>
                                        <p:attrNameLst>
                                          <p:attrName>ppt_x</p:attrName>
                                        </p:attrNameLst>
                                      </p:cBhvr>
                                      <p:tavLst>
                                        <p:tav tm="0">
                                          <p:val>
                                            <p:strVal val="#ppt_x"/>
                                          </p:val>
                                        </p:tav>
                                        <p:tav tm="100000">
                                          <p:val>
                                            <p:strVal val="#ppt_x"/>
                                          </p:val>
                                        </p:tav>
                                      </p:tavLst>
                                    </p:anim>
                                    <p:anim calcmode="lin" valueType="num">
                                      <p:cBhvr>
                                        <p:cTn id="42" dur="1000" fill="hold"/>
                                        <p:tgtEl>
                                          <p:spTgt spid="22"/>
                                        </p:tgtEl>
                                        <p:attrNameLst>
                                          <p:attrName>ppt_y</p:attrName>
                                        </p:attrNameLst>
                                      </p:cBhvr>
                                      <p:tavLst>
                                        <p:tav tm="0">
                                          <p:val>
                                            <p:strVal val="#ppt_y+.1"/>
                                          </p:val>
                                        </p:tav>
                                        <p:tav tm="100000">
                                          <p:val>
                                            <p:strVal val="#ppt_y"/>
                                          </p:val>
                                        </p:tav>
                                      </p:tavLst>
                                    </p:anim>
                                  </p:childTnLst>
                                </p:cTn>
                              </p:par>
                            </p:childTnLst>
                          </p:cTn>
                        </p:par>
                        <p:par>
                          <p:cTn id="43" fill="hold">
                            <p:stCondLst>
                              <p:cond delay="4050"/>
                            </p:stCondLst>
                            <p:childTnLst>
                              <p:par>
                                <p:cTn id="44" presetID="42"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1000"/>
                                        <p:tgtEl>
                                          <p:spTgt spid="23"/>
                                        </p:tgtEl>
                                      </p:cBhvr>
                                    </p:animEffect>
                                    <p:anim calcmode="lin" valueType="num">
                                      <p:cBhvr>
                                        <p:cTn id="47" dur="1000" fill="hold"/>
                                        <p:tgtEl>
                                          <p:spTgt spid="23"/>
                                        </p:tgtEl>
                                        <p:attrNameLst>
                                          <p:attrName>ppt_x</p:attrName>
                                        </p:attrNameLst>
                                      </p:cBhvr>
                                      <p:tavLst>
                                        <p:tav tm="0">
                                          <p:val>
                                            <p:strVal val="#ppt_x"/>
                                          </p:val>
                                        </p:tav>
                                        <p:tav tm="100000">
                                          <p:val>
                                            <p:strVal val="#ppt_x"/>
                                          </p:val>
                                        </p:tav>
                                      </p:tavLst>
                                    </p:anim>
                                    <p:anim calcmode="lin" valueType="num">
                                      <p:cBhvr>
                                        <p:cTn id="48"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1" grpId="0" animBg="1"/>
      <p:bldP spid="22" grpId="0" animBg="1"/>
      <p:bldP spid="2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338208" y="230661"/>
            <a:ext cx="1490128"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4"/>
                </a:solidFill>
                <a:cs typeface="IRAN Sans" panose="020B0400000000000000" pitchFamily="34" charset="-78"/>
              </a:rPr>
              <a:t>فهرست مطالب</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33</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3"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520;p24">
            <a:extLst>
              <a:ext uri="{FF2B5EF4-FFF2-40B4-BE49-F238E27FC236}">
                <a16:creationId xmlns:a16="http://schemas.microsoft.com/office/drawing/2014/main" id="{0C188BC5-0EC3-BB6D-1809-C1C0BED43726}"/>
              </a:ext>
            </a:extLst>
          </p:cNvPr>
          <p:cNvSpPr/>
          <p:nvPr/>
        </p:nvSpPr>
        <p:spPr>
          <a:xfrm>
            <a:off x="763799" y="2109668"/>
            <a:ext cx="1659300" cy="800400"/>
          </a:xfrm>
          <a:prstGeom prst="notchedRightArrow">
            <a:avLst>
              <a:gd name="adj1" fmla="val 74710"/>
              <a:gd name="adj2" fmla="val 51726"/>
            </a:avLst>
          </a:prstGeom>
          <a:solidFill>
            <a:schemeClr val="accent1"/>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rgbClr val="FFFFFF"/>
                </a:solidFill>
              </a:rPr>
              <a:t>طراحی انواع جوش درزها</a:t>
            </a:r>
            <a:endParaRPr b="1" dirty="0">
              <a:solidFill>
                <a:srgbClr val="FFFFFF"/>
              </a:solidFill>
            </a:endParaRPr>
          </a:p>
        </p:txBody>
      </p:sp>
      <p:sp>
        <p:nvSpPr>
          <p:cNvPr id="5" name="Google Shape;524;p24">
            <a:extLst>
              <a:ext uri="{FF2B5EF4-FFF2-40B4-BE49-F238E27FC236}">
                <a16:creationId xmlns:a16="http://schemas.microsoft.com/office/drawing/2014/main" id="{F1FE555E-89C0-8AAF-9312-20584F692AE3}"/>
              </a:ext>
            </a:extLst>
          </p:cNvPr>
          <p:cNvSpPr/>
          <p:nvPr/>
        </p:nvSpPr>
        <p:spPr>
          <a:xfrm>
            <a:off x="2279849" y="2109668"/>
            <a:ext cx="1659300" cy="800400"/>
          </a:xfrm>
          <a:prstGeom prst="notchedRightArrow">
            <a:avLst>
              <a:gd name="adj1" fmla="val 74710"/>
              <a:gd name="adj2" fmla="val 51726"/>
            </a:avLst>
          </a:prstGeom>
          <a:solidFill>
            <a:schemeClr val="accent2"/>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rgbClr val="FFFFFF"/>
                </a:solidFill>
                <a:latin typeface="Fira Sans Extra Condensed Medium"/>
                <a:ea typeface="Fira Sans Extra Condensed Medium"/>
                <a:cs typeface="IRAN Sans" panose="020B0400000000000000" pitchFamily="34" charset="-78"/>
                <a:sym typeface="Fira Sans Extra Condensed Medium"/>
              </a:rPr>
              <a:t>ضوابط اجرایی</a:t>
            </a:r>
            <a:endParaRPr b="1" dirty="0">
              <a:solidFill>
                <a:srgbClr val="FFFFFF"/>
              </a:solidFill>
            </a:endParaRPr>
          </a:p>
        </p:txBody>
      </p:sp>
      <p:sp>
        <p:nvSpPr>
          <p:cNvPr id="7" name="Google Shape;529;p24">
            <a:extLst>
              <a:ext uri="{FF2B5EF4-FFF2-40B4-BE49-F238E27FC236}">
                <a16:creationId xmlns:a16="http://schemas.microsoft.com/office/drawing/2014/main" id="{63C718AA-DEDB-A98E-F12F-DDE0EF53A6E8}"/>
              </a:ext>
            </a:extLst>
          </p:cNvPr>
          <p:cNvSpPr/>
          <p:nvPr/>
        </p:nvSpPr>
        <p:spPr>
          <a:xfrm>
            <a:off x="3795899" y="2109668"/>
            <a:ext cx="1659300" cy="800400"/>
          </a:xfrm>
          <a:prstGeom prst="notchedRightArrow">
            <a:avLst>
              <a:gd name="adj1" fmla="val 74710"/>
              <a:gd name="adj2" fmla="val 51726"/>
            </a:avLst>
          </a:prstGeom>
          <a:solidFill>
            <a:schemeClr val="accent3"/>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rgbClr val="FFFFFF"/>
                </a:solidFill>
                <a:latin typeface="Fira Sans Extra Condensed Medium"/>
                <a:ea typeface="Fira Sans Extra Condensed Medium"/>
                <a:cs typeface="IRAN Sans" panose="020B0400000000000000" pitchFamily="34" charset="-78"/>
                <a:sym typeface="Fira Sans Extra Condensed Medium"/>
              </a:rPr>
              <a:t>فرایند های جوشکاری</a:t>
            </a:r>
            <a:endParaRPr b="1" dirty="0">
              <a:solidFill>
                <a:srgbClr val="FFFFFF"/>
              </a:solidFill>
            </a:endParaRPr>
          </a:p>
        </p:txBody>
      </p:sp>
      <p:sp>
        <p:nvSpPr>
          <p:cNvPr id="9" name="Google Shape;534;p24">
            <a:extLst>
              <a:ext uri="{FF2B5EF4-FFF2-40B4-BE49-F238E27FC236}">
                <a16:creationId xmlns:a16="http://schemas.microsoft.com/office/drawing/2014/main" id="{CEF4C24A-2A3D-3C88-8ACA-9EB454C3DFC9}"/>
              </a:ext>
            </a:extLst>
          </p:cNvPr>
          <p:cNvSpPr/>
          <p:nvPr/>
        </p:nvSpPr>
        <p:spPr>
          <a:xfrm>
            <a:off x="5311949" y="2109668"/>
            <a:ext cx="1659300" cy="800400"/>
          </a:xfrm>
          <a:prstGeom prst="notchedRightArrow">
            <a:avLst>
              <a:gd name="adj1" fmla="val 74710"/>
              <a:gd name="adj2" fmla="val 51726"/>
            </a:avLst>
          </a:prstGeom>
          <a:solidFill>
            <a:schemeClr val="accent4"/>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rgbClr val="FFFFFF"/>
                </a:solidFill>
                <a:latin typeface="Fira Sans Extra Condensed Medium"/>
                <a:ea typeface="Fira Sans Extra Condensed Medium"/>
                <a:cs typeface="IRAN Sans" panose="020B0400000000000000" pitchFamily="34" charset="-78"/>
                <a:sym typeface="Fira Sans Extra Condensed Medium"/>
              </a:rPr>
              <a:t>بازرسی</a:t>
            </a:r>
            <a:endParaRPr b="1" dirty="0">
              <a:solidFill>
                <a:srgbClr val="FFFFFF"/>
              </a:solidFill>
            </a:endParaRPr>
          </a:p>
        </p:txBody>
      </p:sp>
      <p:sp>
        <p:nvSpPr>
          <p:cNvPr id="11" name="Google Shape;539;p24">
            <a:extLst>
              <a:ext uri="{FF2B5EF4-FFF2-40B4-BE49-F238E27FC236}">
                <a16:creationId xmlns:a16="http://schemas.microsoft.com/office/drawing/2014/main" id="{510216BA-0E9C-745C-6369-36C1072F914D}"/>
              </a:ext>
            </a:extLst>
          </p:cNvPr>
          <p:cNvSpPr/>
          <p:nvPr/>
        </p:nvSpPr>
        <p:spPr>
          <a:xfrm>
            <a:off x="6827999" y="2109668"/>
            <a:ext cx="1659300" cy="800400"/>
          </a:xfrm>
          <a:prstGeom prst="notchedRightArrow">
            <a:avLst>
              <a:gd name="adj1" fmla="val 74710"/>
              <a:gd name="adj2" fmla="val 51726"/>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2400" b="1" dirty="0">
                <a:solidFill>
                  <a:srgbClr val="FFFFFF"/>
                </a:solidFill>
                <a:latin typeface="Fira Sans Extra Condensed Medium"/>
                <a:ea typeface="Fira Sans Extra Condensed Medium"/>
                <a:cs typeface="IRAN Sans" panose="020B0400000000000000" pitchFamily="34" charset="-78"/>
                <a:sym typeface="Fira Sans Extra Condensed Medium"/>
              </a:rPr>
              <a:t>و ...</a:t>
            </a:r>
            <a:endParaRPr sz="2400" b="1" dirty="0">
              <a:solidFill>
                <a:srgbClr val="FFFFFF"/>
              </a:solidFill>
            </a:endParaRPr>
          </a:p>
        </p:txBody>
      </p:sp>
      <p:grpSp>
        <p:nvGrpSpPr>
          <p:cNvPr id="12" name="Group 11">
            <a:extLst>
              <a:ext uri="{FF2B5EF4-FFF2-40B4-BE49-F238E27FC236}">
                <a16:creationId xmlns:a16="http://schemas.microsoft.com/office/drawing/2014/main" id="{5BC416A3-FF1C-7A3C-0C01-4D7B944FEE59}"/>
              </a:ext>
            </a:extLst>
          </p:cNvPr>
          <p:cNvGrpSpPr/>
          <p:nvPr/>
        </p:nvGrpSpPr>
        <p:grpSpPr>
          <a:xfrm>
            <a:off x="2868899" y="934568"/>
            <a:ext cx="481200" cy="1324200"/>
            <a:chOff x="2868899" y="934568"/>
            <a:chExt cx="481200" cy="1324200"/>
          </a:xfrm>
        </p:grpSpPr>
        <p:cxnSp>
          <p:nvCxnSpPr>
            <p:cNvPr id="13" name="Google Shape;522;p24">
              <a:extLst>
                <a:ext uri="{FF2B5EF4-FFF2-40B4-BE49-F238E27FC236}">
                  <a16:creationId xmlns:a16="http://schemas.microsoft.com/office/drawing/2014/main" id="{20791A08-DD59-EDBF-59C9-E4A4E8403D9D}"/>
                </a:ext>
              </a:extLst>
            </p:cNvPr>
            <p:cNvCxnSpPr>
              <a:stCxn id="14" idx="0"/>
            </p:cNvCxnSpPr>
            <p:nvPr/>
          </p:nvCxnSpPr>
          <p:spPr>
            <a:xfrm>
              <a:off x="3109499" y="1415768"/>
              <a:ext cx="0" cy="843000"/>
            </a:xfrm>
            <a:prstGeom prst="straightConnector1">
              <a:avLst/>
            </a:prstGeom>
            <a:noFill/>
            <a:ln w="9525" cap="flat" cmpd="sng">
              <a:solidFill>
                <a:srgbClr val="000000"/>
              </a:solidFill>
              <a:prstDash val="dash"/>
              <a:round/>
              <a:headEnd type="none" w="med" len="med"/>
              <a:tailEnd type="none" w="med" len="med"/>
            </a:ln>
          </p:spPr>
        </p:cxnSp>
        <p:sp>
          <p:nvSpPr>
            <p:cNvPr id="14" name="Google Shape;523;p24">
              <a:extLst>
                <a:ext uri="{FF2B5EF4-FFF2-40B4-BE49-F238E27FC236}">
                  <a16:creationId xmlns:a16="http://schemas.microsoft.com/office/drawing/2014/main" id="{17FFC3D8-1AB7-484E-0B7C-EC57A76CCEA5}"/>
                </a:ext>
              </a:extLst>
            </p:cNvPr>
            <p:cNvSpPr/>
            <p:nvPr/>
          </p:nvSpPr>
          <p:spPr>
            <a:xfrm rot="10800000">
              <a:off x="2868899" y="934568"/>
              <a:ext cx="481200" cy="481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 name="Google Shape;541;p24">
              <a:extLst>
                <a:ext uri="{FF2B5EF4-FFF2-40B4-BE49-F238E27FC236}">
                  <a16:creationId xmlns:a16="http://schemas.microsoft.com/office/drawing/2014/main" id="{EFE86CAF-E24D-FFCD-C710-97AE41C47B5C}"/>
                </a:ext>
              </a:extLst>
            </p:cNvPr>
            <p:cNvGrpSpPr/>
            <p:nvPr/>
          </p:nvGrpSpPr>
          <p:grpSpPr>
            <a:xfrm>
              <a:off x="2989647" y="1038815"/>
              <a:ext cx="239701" cy="272713"/>
              <a:chOff x="6264525" y="842250"/>
              <a:chExt cx="423500" cy="481825"/>
            </a:xfrm>
          </p:grpSpPr>
          <p:sp>
            <p:nvSpPr>
              <p:cNvPr id="16" name="Google Shape;542;p24">
                <a:extLst>
                  <a:ext uri="{FF2B5EF4-FFF2-40B4-BE49-F238E27FC236}">
                    <a16:creationId xmlns:a16="http://schemas.microsoft.com/office/drawing/2014/main" id="{B0C8CA73-4A2D-E3A2-AC21-2B696FE16612}"/>
                  </a:ext>
                </a:extLst>
              </p:cNvPr>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7" name="Google Shape;543;p24">
                <a:extLst>
                  <a:ext uri="{FF2B5EF4-FFF2-40B4-BE49-F238E27FC236}">
                    <a16:creationId xmlns:a16="http://schemas.microsoft.com/office/drawing/2014/main" id="{B7387D59-A1A8-3BF9-5276-B3AC56D49B61}"/>
                  </a:ext>
                </a:extLst>
              </p:cNvPr>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 name="Google Shape;544;p24">
                <a:extLst>
                  <a:ext uri="{FF2B5EF4-FFF2-40B4-BE49-F238E27FC236}">
                    <a16:creationId xmlns:a16="http://schemas.microsoft.com/office/drawing/2014/main" id="{CC497DBB-A873-F75C-466E-36548B1D9288}"/>
                  </a:ext>
                </a:extLst>
              </p:cNvPr>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9" name="Google Shape;545;p24">
                <a:extLst>
                  <a:ext uri="{FF2B5EF4-FFF2-40B4-BE49-F238E27FC236}">
                    <a16:creationId xmlns:a16="http://schemas.microsoft.com/office/drawing/2014/main" id="{8B581C46-A6D3-A16A-E1F4-4D027C3F3888}"/>
                  </a:ext>
                </a:extLst>
              </p:cNvPr>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0" name="Google Shape;546;p24">
                <a:extLst>
                  <a:ext uri="{FF2B5EF4-FFF2-40B4-BE49-F238E27FC236}">
                    <a16:creationId xmlns:a16="http://schemas.microsoft.com/office/drawing/2014/main" id="{FCB751D4-B7B0-3515-FFE9-91F54CBE6FDA}"/>
                  </a:ext>
                </a:extLst>
              </p:cNvPr>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 name="Google Shape;547;p24">
                <a:extLst>
                  <a:ext uri="{FF2B5EF4-FFF2-40B4-BE49-F238E27FC236}">
                    <a16:creationId xmlns:a16="http://schemas.microsoft.com/office/drawing/2014/main" id="{40C71751-F903-A47E-EDE3-F442254EE192}"/>
                  </a:ext>
                </a:extLst>
              </p:cNvPr>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2" name="Google Shape;548;p24">
                <a:extLst>
                  <a:ext uri="{FF2B5EF4-FFF2-40B4-BE49-F238E27FC236}">
                    <a16:creationId xmlns:a16="http://schemas.microsoft.com/office/drawing/2014/main" id="{1DC6B427-5E27-DABC-56EB-A0A1C40CA639}"/>
                  </a:ext>
                </a:extLst>
              </p:cNvPr>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grpSp>
        <p:nvGrpSpPr>
          <p:cNvPr id="23" name="Group 22">
            <a:extLst>
              <a:ext uri="{FF2B5EF4-FFF2-40B4-BE49-F238E27FC236}">
                <a16:creationId xmlns:a16="http://schemas.microsoft.com/office/drawing/2014/main" id="{6D1E7304-90ED-6701-9950-B9F522A6F9E3}"/>
              </a:ext>
            </a:extLst>
          </p:cNvPr>
          <p:cNvGrpSpPr/>
          <p:nvPr/>
        </p:nvGrpSpPr>
        <p:grpSpPr>
          <a:xfrm>
            <a:off x="1352849" y="934568"/>
            <a:ext cx="481200" cy="1324200"/>
            <a:chOff x="1352849" y="934568"/>
            <a:chExt cx="481200" cy="1324200"/>
          </a:xfrm>
        </p:grpSpPr>
        <p:cxnSp>
          <p:nvCxnSpPr>
            <p:cNvPr id="24" name="Google Shape;517;p24">
              <a:extLst>
                <a:ext uri="{FF2B5EF4-FFF2-40B4-BE49-F238E27FC236}">
                  <a16:creationId xmlns:a16="http://schemas.microsoft.com/office/drawing/2014/main" id="{3054B088-C1E5-177A-9F95-3EF0173DC187}"/>
                </a:ext>
              </a:extLst>
            </p:cNvPr>
            <p:cNvCxnSpPr>
              <a:stCxn id="25" idx="0"/>
            </p:cNvCxnSpPr>
            <p:nvPr/>
          </p:nvCxnSpPr>
          <p:spPr>
            <a:xfrm>
              <a:off x="1593449" y="1415768"/>
              <a:ext cx="0" cy="843000"/>
            </a:xfrm>
            <a:prstGeom prst="straightConnector1">
              <a:avLst/>
            </a:prstGeom>
            <a:noFill/>
            <a:ln w="9525" cap="flat" cmpd="sng">
              <a:solidFill>
                <a:srgbClr val="000000"/>
              </a:solidFill>
              <a:prstDash val="dash"/>
              <a:round/>
              <a:headEnd type="none" w="med" len="med"/>
              <a:tailEnd type="none" w="med" len="med"/>
            </a:ln>
          </p:spPr>
        </p:cxnSp>
        <p:sp>
          <p:nvSpPr>
            <p:cNvPr id="25" name="Google Shape;518;p24">
              <a:extLst>
                <a:ext uri="{FF2B5EF4-FFF2-40B4-BE49-F238E27FC236}">
                  <a16:creationId xmlns:a16="http://schemas.microsoft.com/office/drawing/2014/main" id="{7116D394-A499-2964-D335-2CE4C6A4BCA5}"/>
                </a:ext>
              </a:extLst>
            </p:cNvPr>
            <p:cNvSpPr/>
            <p:nvPr/>
          </p:nvSpPr>
          <p:spPr>
            <a:xfrm rot="10800000">
              <a:off x="1352849" y="934568"/>
              <a:ext cx="481200" cy="481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 name="Google Shape;549;p24">
              <a:extLst>
                <a:ext uri="{FF2B5EF4-FFF2-40B4-BE49-F238E27FC236}">
                  <a16:creationId xmlns:a16="http://schemas.microsoft.com/office/drawing/2014/main" id="{95AFFE15-7891-CBBD-2709-A1AE07FCA9F2}"/>
                </a:ext>
              </a:extLst>
            </p:cNvPr>
            <p:cNvGrpSpPr/>
            <p:nvPr/>
          </p:nvGrpSpPr>
          <p:grpSpPr>
            <a:xfrm>
              <a:off x="1457093" y="1038815"/>
              <a:ext cx="272713" cy="272713"/>
              <a:chOff x="900750" y="1436075"/>
              <a:chExt cx="481825" cy="481825"/>
            </a:xfrm>
          </p:grpSpPr>
          <p:sp>
            <p:nvSpPr>
              <p:cNvPr id="27" name="Google Shape;550;p24">
                <a:extLst>
                  <a:ext uri="{FF2B5EF4-FFF2-40B4-BE49-F238E27FC236}">
                    <a16:creationId xmlns:a16="http://schemas.microsoft.com/office/drawing/2014/main" id="{4139F0D4-99B4-8A9E-9EFB-93EA5407394A}"/>
                  </a:ext>
                </a:extLst>
              </p:cNvPr>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 name="Google Shape;551;p24">
                <a:extLst>
                  <a:ext uri="{FF2B5EF4-FFF2-40B4-BE49-F238E27FC236}">
                    <a16:creationId xmlns:a16="http://schemas.microsoft.com/office/drawing/2014/main" id="{E67CD4E6-87F1-BE59-8F9C-5E280DEF19AB}"/>
                  </a:ext>
                </a:extLst>
              </p:cNvPr>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 name="Google Shape;552;p24">
                <a:extLst>
                  <a:ext uri="{FF2B5EF4-FFF2-40B4-BE49-F238E27FC236}">
                    <a16:creationId xmlns:a16="http://schemas.microsoft.com/office/drawing/2014/main" id="{6E696D66-E256-1A10-18F7-02E1E5F99DD5}"/>
                  </a:ext>
                </a:extLst>
              </p:cNvPr>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 name="Google Shape;553;p24">
                <a:extLst>
                  <a:ext uri="{FF2B5EF4-FFF2-40B4-BE49-F238E27FC236}">
                    <a16:creationId xmlns:a16="http://schemas.microsoft.com/office/drawing/2014/main" id="{DAEDED20-27CD-DD48-58DE-BB8F1A9A830B}"/>
                  </a:ext>
                </a:extLst>
              </p:cNvPr>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grpSp>
        <p:nvGrpSpPr>
          <p:cNvPr id="31" name="Group 30">
            <a:extLst>
              <a:ext uri="{FF2B5EF4-FFF2-40B4-BE49-F238E27FC236}">
                <a16:creationId xmlns:a16="http://schemas.microsoft.com/office/drawing/2014/main" id="{AD528BD5-3915-5C8A-0488-718C19D04DB7}"/>
              </a:ext>
            </a:extLst>
          </p:cNvPr>
          <p:cNvGrpSpPr/>
          <p:nvPr/>
        </p:nvGrpSpPr>
        <p:grpSpPr>
          <a:xfrm>
            <a:off x="4384949" y="934568"/>
            <a:ext cx="481200" cy="1324200"/>
            <a:chOff x="4384949" y="934568"/>
            <a:chExt cx="481200" cy="1324200"/>
          </a:xfrm>
        </p:grpSpPr>
        <p:cxnSp>
          <p:nvCxnSpPr>
            <p:cNvPr id="227" name="Google Shape;527;p24">
              <a:extLst>
                <a:ext uri="{FF2B5EF4-FFF2-40B4-BE49-F238E27FC236}">
                  <a16:creationId xmlns:a16="http://schemas.microsoft.com/office/drawing/2014/main" id="{D6C75773-666E-4732-71BF-46CF0EE66F0B}"/>
                </a:ext>
              </a:extLst>
            </p:cNvPr>
            <p:cNvCxnSpPr>
              <a:stCxn id="228" idx="0"/>
            </p:cNvCxnSpPr>
            <p:nvPr/>
          </p:nvCxnSpPr>
          <p:spPr>
            <a:xfrm>
              <a:off x="4625549" y="1415768"/>
              <a:ext cx="0" cy="843000"/>
            </a:xfrm>
            <a:prstGeom prst="straightConnector1">
              <a:avLst/>
            </a:prstGeom>
            <a:noFill/>
            <a:ln w="9525" cap="flat" cmpd="sng">
              <a:solidFill>
                <a:srgbClr val="000000"/>
              </a:solidFill>
              <a:prstDash val="dash"/>
              <a:round/>
              <a:headEnd type="none" w="med" len="med"/>
              <a:tailEnd type="none" w="med" len="med"/>
            </a:ln>
          </p:spPr>
        </p:cxnSp>
        <p:sp>
          <p:nvSpPr>
            <p:cNvPr id="228" name="Google Shape;528;p24">
              <a:extLst>
                <a:ext uri="{FF2B5EF4-FFF2-40B4-BE49-F238E27FC236}">
                  <a16:creationId xmlns:a16="http://schemas.microsoft.com/office/drawing/2014/main" id="{868A7F82-7A06-EF75-CF84-3A0EFFCF9240}"/>
                </a:ext>
              </a:extLst>
            </p:cNvPr>
            <p:cNvSpPr/>
            <p:nvPr/>
          </p:nvSpPr>
          <p:spPr>
            <a:xfrm rot="10800000">
              <a:off x="4384949" y="934568"/>
              <a:ext cx="481200" cy="481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 name="Google Shape;554;p24">
              <a:extLst>
                <a:ext uri="{FF2B5EF4-FFF2-40B4-BE49-F238E27FC236}">
                  <a16:creationId xmlns:a16="http://schemas.microsoft.com/office/drawing/2014/main" id="{BA9F3AAF-5A5E-85A0-4303-945C94319A98}"/>
                </a:ext>
              </a:extLst>
            </p:cNvPr>
            <p:cNvGrpSpPr/>
            <p:nvPr/>
          </p:nvGrpSpPr>
          <p:grpSpPr>
            <a:xfrm>
              <a:off x="4489187" y="1038815"/>
              <a:ext cx="272713" cy="272713"/>
              <a:chOff x="4456875" y="1435075"/>
              <a:chExt cx="481825" cy="481825"/>
            </a:xfrm>
          </p:grpSpPr>
          <p:sp>
            <p:nvSpPr>
              <p:cNvPr id="230" name="Google Shape;555;p24">
                <a:extLst>
                  <a:ext uri="{FF2B5EF4-FFF2-40B4-BE49-F238E27FC236}">
                    <a16:creationId xmlns:a16="http://schemas.microsoft.com/office/drawing/2014/main" id="{11C5D29A-8A7F-1782-EA70-6A554988DF97}"/>
                  </a:ext>
                </a:extLst>
              </p:cNvPr>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1" name="Google Shape;556;p24">
                <a:extLst>
                  <a:ext uri="{FF2B5EF4-FFF2-40B4-BE49-F238E27FC236}">
                    <a16:creationId xmlns:a16="http://schemas.microsoft.com/office/drawing/2014/main" id="{8D7EDEDF-20E9-8106-020C-7B69C132F4C4}"/>
                  </a:ext>
                </a:extLst>
              </p:cNvPr>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 name="Google Shape;557;p24">
                <a:extLst>
                  <a:ext uri="{FF2B5EF4-FFF2-40B4-BE49-F238E27FC236}">
                    <a16:creationId xmlns:a16="http://schemas.microsoft.com/office/drawing/2014/main" id="{A1C83193-B742-C903-537A-0C86BE500A27}"/>
                  </a:ext>
                </a:extLst>
              </p:cNvPr>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 name="Google Shape;558;p24">
                <a:extLst>
                  <a:ext uri="{FF2B5EF4-FFF2-40B4-BE49-F238E27FC236}">
                    <a16:creationId xmlns:a16="http://schemas.microsoft.com/office/drawing/2014/main" id="{B2774D6F-813F-4945-10AF-B29BF5C4BCB7}"/>
                  </a:ext>
                </a:extLst>
              </p:cNvPr>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4" name="Google Shape;559;p24">
                <a:extLst>
                  <a:ext uri="{FF2B5EF4-FFF2-40B4-BE49-F238E27FC236}">
                    <a16:creationId xmlns:a16="http://schemas.microsoft.com/office/drawing/2014/main" id="{5139A049-8460-6C56-DCD1-C96E6E8E7D2B}"/>
                  </a:ext>
                </a:extLst>
              </p:cNvPr>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5" name="Google Shape;560;p24">
                <a:extLst>
                  <a:ext uri="{FF2B5EF4-FFF2-40B4-BE49-F238E27FC236}">
                    <a16:creationId xmlns:a16="http://schemas.microsoft.com/office/drawing/2014/main" id="{175E2E1B-57C3-CE9D-0180-7256DE8BF327}"/>
                  </a:ext>
                </a:extLst>
              </p:cNvPr>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 name="Google Shape;561;p24">
                <a:extLst>
                  <a:ext uri="{FF2B5EF4-FFF2-40B4-BE49-F238E27FC236}">
                    <a16:creationId xmlns:a16="http://schemas.microsoft.com/office/drawing/2014/main" id="{AF53A6BF-ACD9-503B-A0A6-DFED80641489}"/>
                  </a:ext>
                </a:extLst>
              </p:cNvPr>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7" name="Google Shape;562;p24">
                <a:extLst>
                  <a:ext uri="{FF2B5EF4-FFF2-40B4-BE49-F238E27FC236}">
                    <a16:creationId xmlns:a16="http://schemas.microsoft.com/office/drawing/2014/main" id="{8090613C-443B-BBE6-5F46-F6FF54538AA9}"/>
                  </a:ext>
                </a:extLst>
              </p:cNvPr>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8" name="Google Shape;563;p24">
                <a:extLst>
                  <a:ext uri="{FF2B5EF4-FFF2-40B4-BE49-F238E27FC236}">
                    <a16:creationId xmlns:a16="http://schemas.microsoft.com/office/drawing/2014/main" id="{0096F192-5485-44B7-BF27-6C10B667EB31}"/>
                  </a:ext>
                </a:extLst>
              </p:cNvPr>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9" name="Google Shape;564;p24">
                <a:extLst>
                  <a:ext uri="{FF2B5EF4-FFF2-40B4-BE49-F238E27FC236}">
                    <a16:creationId xmlns:a16="http://schemas.microsoft.com/office/drawing/2014/main" id="{8E50B0BE-6A5D-BF0E-5529-7A88F162A3D1}"/>
                  </a:ext>
                </a:extLst>
              </p:cNvPr>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0" name="Google Shape;565;p24">
                <a:extLst>
                  <a:ext uri="{FF2B5EF4-FFF2-40B4-BE49-F238E27FC236}">
                    <a16:creationId xmlns:a16="http://schemas.microsoft.com/office/drawing/2014/main" id="{EDA5A857-92EF-FAF0-F316-4E0A6256EBC2}"/>
                  </a:ext>
                </a:extLst>
              </p:cNvPr>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1" name="Google Shape;566;p24">
                <a:extLst>
                  <a:ext uri="{FF2B5EF4-FFF2-40B4-BE49-F238E27FC236}">
                    <a16:creationId xmlns:a16="http://schemas.microsoft.com/office/drawing/2014/main" id="{63F81379-A686-4091-7390-8BE80992A4B2}"/>
                  </a:ext>
                </a:extLst>
              </p:cNvPr>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2" name="Google Shape;567;p24">
                <a:extLst>
                  <a:ext uri="{FF2B5EF4-FFF2-40B4-BE49-F238E27FC236}">
                    <a16:creationId xmlns:a16="http://schemas.microsoft.com/office/drawing/2014/main" id="{4073B42F-533F-28C5-93BA-6AB7369E4B13}"/>
                  </a:ext>
                </a:extLst>
              </p:cNvPr>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3" name="Google Shape;568;p24">
                <a:extLst>
                  <a:ext uri="{FF2B5EF4-FFF2-40B4-BE49-F238E27FC236}">
                    <a16:creationId xmlns:a16="http://schemas.microsoft.com/office/drawing/2014/main" id="{BBD9907B-F5F5-D8FC-BD22-F2F821F64F60}"/>
                  </a:ext>
                </a:extLst>
              </p:cNvPr>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4" name="Google Shape;569;p24">
                <a:extLst>
                  <a:ext uri="{FF2B5EF4-FFF2-40B4-BE49-F238E27FC236}">
                    <a16:creationId xmlns:a16="http://schemas.microsoft.com/office/drawing/2014/main" id="{68370AF7-6AE1-55E9-6590-DCA787EF0933}"/>
                  </a:ext>
                </a:extLst>
              </p:cNvPr>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5" name="Google Shape;570;p24">
                <a:extLst>
                  <a:ext uri="{FF2B5EF4-FFF2-40B4-BE49-F238E27FC236}">
                    <a16:creationId xmlns:a16="http://schemas.microsoft.com/office/drawing/2014/main" id="{24026D49-821D-23B9-438B-A5ECABA81522}"/>
                  </a:ext>
                </a:extLst>
              </p:cNvPr>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6" name="Google Shape;571;p24">
                <a:extLst>
                  <a:ext uri="{FF2B5EF4-FFF2-40B4-BE49-F238E27FC236}">
                    <a16:creationId xmlns:a16="http://schemas.microsoft.com/office/drawing/2014/main" id="{EBDBD294-18C5-A755-7D61-ADA860F82717}"/>
                  </a:ext>
                </a:extLst>
              </p:cNvPr>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7" name="Google Shape;572;p24">
                <a:extLst>
                  <a:ext uri="{FF2B5EF4-FFF2-40B4-BE49-F238E27FC236}">
                    <a16:creationId xmlns:a16="http://schemas.microsoft.com/office/drawing/2014/main" id="{0F8BF607-2B18-931B-5C80-B320D31639E9}"/>
                  </a:ext>
                </a:extLst>
              </p:cNvPr>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8" name="Google Shape;573;p24">
                <a:extLst>
                  <a:ext uri="{FF2B5EF4-FFF2-40B4-BE49-F238E27FC236}">
                    <a16:creationId xmlns:a16="http://schemas.microsoft.com/office/drawing/2014/main" id="{9FC7130C-8E94-98E9-CAF6-612456F64D60}"/>
                  </a:ext>
                </a:extLst>
              </p:cNvPr>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grpSp>
        <p:nvGrpSpPr>
          <p:cNvPr id="249" name="Group 248">
            <a:extLst>
              <a:ext uri="{FF2B5EF4-FFF2-40B4-BE49-F238E27FC236}">
                <a16:creationId xmlns:a16="http://schemas.microsoft.com/office/drawing/2014/main" id="{5D4AD029-C715-89F6-E9BD-CF3FEA9CFB9C}"/>
              </a:ext>
            </a:extLst>
          </p:cNvPr>
          <p:cNvGrpSpPr/>
          <p:nvPr/>
        </p:nvGrpSpPr>
        <p:grpSpPr>
          <a:xfrm>
            <a:off x="5900999" y="934568"/>
            <a:ext cx="481200" cy="1324200"/>
            <a:chOff x="5900999" y="934568"/>
            <a:chExt cx="481200" cy="1324200"/>
          </a:xfrm>
        </p:grpSpPr>
        <p:cxnSp>
          <p:nvCxnSpPr>
            <p:cNvPr id="250" name="Google Shape;532;p24">
              <a:extLst>
                <a:ext uri="{FF2B5EF4-FFF2-40B4-BE49-F238E27FC236}">
                  <a16:creationId xmlns:a16="http://schemas.microsoft.com/office/drawing/2014/main" id="{9D04D67E-1864-D176-B8D5-59515549405D}"/>
                </a:ext>
              </a:extLst>
            </p:cNvPr>
            <p:cNvCxnSpPr>
              <a:stCxn id="251" idx="0"/>
            </p:cNvCxnSpPr>
            <p:nvPr/>
          </p:nvCxnSpPr>
          <p:spPr>
            <a:xfrm>
              <a:off x="6141599" y="1415768"/>
              <a:ext cx="0" cy="843000"/>
            </a:xfrm>
            <a:prstGeom prst="straightConnector1">
              <a:avLst/>
            </a:prstGeom>
            <a:noFill/>
            <a:ln w="9525" cap="flat" cmpd="sng">
              <a:solidFill>
                <a:srgbClr val="000000"/>
              </a:solidFill>
              <a:prstDash val="dash"/>
              <a:round/>
              <a:headEnd type="none" w="med" len="med"/>
              <a:tailEnd type="none" w="med" len="med"/>
            </a:ln>
          </p:spPr>
        </p:cxnSp>
        <p:sp>
          <p:nvSpPr>
            <p:cNvPr id="251" name="Google Shape;533;p24">
              <a:extLst>
                <a:ext uri="{FF2B5EF4-FFF2-40B4-BE49-F238E27FC236}">
                  <a16:creationId xmlns:a16="http://schemas.microsoft.com/office/drawing/2014/main" id="{3AD18914-5584-3E1C-30F6-6AE3A5F1BA6C}"/>
                </a:ext>
              </a:extLst>
            </p:cNvPr>
            <p:cNvSpPr/>
            <p:nvPr/>
          </p:nvSpPr>
          <p:spPr>
            <a:xfrm rot="10800000">
              <a:off x="5900999" y="934568"/>
              <a:ext cx="481200" cy="481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4;p24">
              <a:extLst>
                <a:ext uri="{FF2B5EF4-FFF2-40B4-BE49-F238E27FC236}">
                  <a16:creationId xmlns:a16="http://schemas.microsoft.com/office/drawing/2014/main" id="{A6382AF8-12C9-EA8C-EF2C-160A8C6ABDED}"/>
                </a:ext>
              </a:extLst>
            </p:cNvPr>
            <p:cNvGrpSpPr/>
            <p:nvPr/>
          </p:nvGrpSpPr>
          <p:grpSpPr>
            <a:xfrm>
              <a:off x="6003906" y="1038808"/>
              <a:ext cx="275387" cy="272727"/>
              <a:chOff x="5049725" y="1435050"/>
              <a:chExt cx="486550" cy="481850"/>
            </a:xfrm>
          </p:grpSpPr>
          <p:sp>
            <p:nvSpPr>
              <p:cNvPr id="253" name="Google Shape;575;p24">
                <a:extLst>
                  <a:ext uri="{FF2B5EF4-FFF2-40B4-BE49-F238E27FC236}">
                    <a16:creationId xmlns:a16="http://schemas.microsoft.com/office/drawing/2014/main" id="{0EE6878C-358B-3088-1733-7022CB16B4D9}"/>
                  </a:ext>
                </a:extLst>
              </p:cNvPr>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54" name="Google Shape;576;p24">
                <a:extLst>
                  <a:ext uri="{FF2B5EF4-FFF2-40B4-BE49-F238E27FC236}">
                    <a16:creationId xmlns:a16="http://schemas.microsoft.com/office/drawing/2014/main" id="{3DCEB1ED-AD32-FDC9-6C27-DC5AEA76C8BD}"/>
                  </a:ext>
                </a:extLst>
              </p:cNvPr>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55" name="Google Shape;577;p24">
                <a:extLst>
                  <a:ext uri="{FF2B5EF4-FFF2-40B4-BE49-F238E27FC236}">
                    <a16:creationId xmlns:a16="http://schemas.microsoft.com/office/drawing/2014/main" id="{44302DFC-0F8C-2106-D865-58A8E6220810}"/>
                  </a:ext>
                </a:extLst>
              </p:cNvPr>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97" name="Google Shape;578;p24">
                <a:extLst>
                  <a:ext uri="{FF2B5EF4-FFF2-40B4-BE49-F238E27FC236}">
                    <a16:creationId xmlns:a16="http://schemas.microsoft.com/office/drawing/2014/main" id="{D89E0D5C-EDA5-9B72-BC0C-C0B98A6205A8}"/>
                  </a:ext>
                </a:extLst>
              </p:cNvPr>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grpSp>
        <p:nvGrpSpPr>
          <p:cNvPr id="99" name="Group 98">
            <a:extLst>
              <a:ext uri="{FF2B5EF4-FFF2-40B4-BE49-F238E27FC236}">
                <a16:creationId xmlns:a16="http://schemas.microsoft.com/office/drawing/2014/main" id="{908E661A-7B43-E66D-5970-F14E7CB8E877}"/>
              </a:ext>
            </a:extLst>
          </p:cNvPr>
          <p:cNvGrpSpPr/>
          <p:nvPr/>
        </p:nvGrpSpPr>
        <p:grpSpPr>
          <a:xfrm>
            <a:off x="7417049" y="934568"/>
            <a:ext cx="481200" cy="1324200"/>
            <a:chOff x="7417049" y="934568"/>
            <a:chExt cx="481200" cy="1324200"/>
          </a:xfrm>
        </p:grpSpPr>
        <p:cxnSp>
          <p:nvCxnSpPr>
            <p:cNvPr id="103" name="Google Shape;537;p24">
              <a:extLst>
                <a:ext uri="{FF2B5EF4-FFF2-40B4-BE49-F238E27FC236}">
                  <a16:creationId xmlns:a16="http://schemas.microsoft.com/office/drawing/2014/main" id="{241D8532-705B-D833-5556-52E8140F2F85}"/>
                </a:ext>
              </a:extLst>
            </p:cNvPr>
            <p:cNvCxnSpPr>
              <a:stCxn id="109" idx="0"/>
            </p:cNvCxnSpPr>
            <p:nvPr/>
          </p:nvCxnSpPr>
          <p:spPr>
            <a:xfrm>
              <a:off x="7657649" y="1415768"/>
              <a:ext cx="0" cy="843000"/>
            </a:xfrm>
            <a:prstGeom prst="straightConnector1">
              <a:avLst/>
            </a:prstGeom>
            <a:noFill/>
            <a:ln w="9525" cap="flat" cmpd="sng">
              <a:solidFill>
                <a:srgbClr val="000000"/>
              </a:solidFill>
              <a:prstDash val="dash"/>
              <a:round/>
              <a:headEnd type="none" w="med" len="med"/>
              <a:tailEnd type="none" w="med" len="med"/>
            </a:ln>
          </p:spPr>
        </p:cxnSp>
        <p:sp>
          <p:nvSpPr>
            <p:cNvPr id="109" name="Google Shape;538;p24">
              <a:extLst>
                <a:ext uri="{FF2B5EF4-FFF2-40B4-BE49-F238E27FC236}">
                  <a16:creationId xmlns:a16="http://schemas.microsoft.com/office/drawing/2014/main" id="{CC1FA954-199A-7076-6BAA-07500A05A7CF}"/>
                </a:ext>
              </a:extLst>
            </p:cNvPr>
            <p:cNvSpPr/>
            <p:nvPr/>
          </p:nvSpPr>
          <p:spPr>
            <a:xfrm rot="10800000">
              <a:off x="7417049" y="934568"/>
              <a:ext cx="481200" cy="4812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 name="Google Shape;579;p24">
              <a:extLst>
                <a:ext uri="{FF2B5EF4-FFF2-40B4-BE49-F238E27FC236}">
                  <a16:creationId xmlns:a16="http://schemas.microsoft.com/office/drawing/2014/main" id="{95171E04-285C-1F33-545D-86D0D86A11EC}"/>
                </a:ext>
              </a:extLst>
            </p:cNvPr>
            <p:cNvGrpSpPr/>
            <p:nvPr/>
          </p:nvGrpSpPr>
          <p:grpSpPr>
            <a:xfrm>
              <a:off x="7523571" y="1051663"/>
              <a:ext cx="268157" cy="247017"/>
              <a:chOff x="2682350" y="2643425"/>
              <a:chExt cx="473775" cy="436425"/>
            </a:xfrm>
          </p:grpSpPr>
          <p:sp>
            <p:nvSpPr>
              <p:cNvPr id="114" name="Google Shape;580;p24">
                <a:extLst>
                  <a:ext uri="{FF2B5EF4-FFF2-40B4-BE49-F238E27FC236}">
                    <a16:creationId xmlns:a16="http://schemas.microsoft.com/office/drawing/2014/main" id="{91795CA6-9CCE-660C-007A-F75AEC9625C6}"/>
                  </a:ext>
                </a:extLst>
              </p:cNvPr>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 name="Google Shape;581;p24">
                <a:extLst>
                  <a:ext uri="{FF2B5EF4-FFF2-40B4-BE49-F238E27FC236}">
                    <a16:creationId xmlns:a16="http://schemas.microsoft.com/office/drawing/2014/main" id="{8856B4C8-DA59-70F2-DACF-C9BA1509C8D7}"/>
                  </a:ext>
                </a:extLst>
              </p:cNvPr>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 name="Google Shape;582;p24">
                <a:extLst>
                  <a:ext uri="{FF2B5EF4-FFF2-40B4-BE49-F238E27FC236}">
                    <a16:creationId xmlns:a16="http://schemas.microsoft.com/office/drawing/2014/main" id="{BE91B61C-5732-D98F-2BCA-F31C91F319ED}"/>
                  </a:ext>
                </a:extLst>
              </p:cNvPr>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 name="Google Shape;583;p24">
                <a:extLst>
                  <a:ext uri="{FF2B5EF4-FFF2-40B4-BE49-F238E27FC236}">
                    <a16:creationId xmlns:a16="http://schemas.microsoft.com/office/drawing/2014/main" id="{9D873EDC-ED38-2E8F-B9F1-13162429240B}"/>
                  </a:ext>
                </a:extLst>
              </p:cNvPr>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7" name="Google Shape;584;p24">
                <a:extLst>
                  <a:ext uri="{FF2B5EF4-FFF2-40B4-BE49-F238E27FC236}">
                    <a16:creationId xmlns:a16="http://schemas.microsoft.com/office/drawing/2014/main" id="{171F73E5-0087-6CDB-207E-2E683333D97D}"/>
                  </a:ext>
                </a:extLst>
              </p:cNvPr>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8" name="Google Shape;585;p24">
                <a:extLst>
                  <a:ext uri="{FF2B5EF4-FFF2-40B4-BE49-F238E27FC236}">
                    <a16:creationId xmlns:a16="http://schemas.microsoft.com/office/drawing/2014/main" id="{DFB1FD99-F40E-5144-DF7F-8AB93A0AB617}"/>
                  </a:ext>
                </a:extLst>
              </p:cNvPr>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9" name="Google Shape;586;p24">
                <a:extLst>
                  <a:ext uri="{FF2B5EF4-FFF2-40B4-BE49-F238E27FC236}">
                    <a16:creationId xmlns:a16="http://schemas.microsoft.com/office/drawing/2014/main" id="{A3C615B5-9267-52B5-2009-B5E1902C0D9B}"/>
                  </a:ext>
                </a:extLst>
              </p:cNvPr>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sp>
        <p:nvSpPr>
          <p:cNvPr id="192" name="Google Shape;519;p24">
            <a:extLst>
              <a:ext uri="{FF2B5EF4-FFF2-40B4-BE49-F238E27FC236}">
                <a16:creationId xmlns:a16="http://schemas.microsoft.com/office/drawing/2014/main" id="{606583C4-BFEA-6650-1C00-B2D05A478C19}"/>
              </a:ext>
            </a:extLst>
          </p:cNvPr>
          <p:cNvSpPr txBox="1"/>
          <p:nvPr/>
        </p:nvSpPr>
        <p:spPr>
          <a:xfrm>
            <a:off x="843483" y="2951216"/>
            <a:ext cx="1227219" cy="582096"/>
          </a:xfrm>
          <a:prstGeom prst="rect">
            <a:avLst/>
          </a:prstGeom>
          <a:noFill/>
          <a:ln>
            <a:noFill/>
          </a:ln>
        </p:spPr>
        <p:txBody>
          <a:bodyPr spcFirstLastPara="1" wrap="square" lIns="91425" tIns="91425" rIns="91425" bIns="91425" anchor="ctr" anchorCtr="0">
            <a:noAutofit/>
          </a:bodyPr>
          <a:lstStyle/>
          <a:p>
            <a:pPr lvl="0" algn="ctr"/>
            <a:r>
              <a:rPr lang="fa-IR" dirty="0">
                <a:solidFill>
                  <a:schemeClr val="tx1">
                    <a:lumMod val="95000"/>
                    <a:lumOff val="5000"/>
                  </a:schemeClr>
                </a:solidFill>
                <a:cs typeface="IRAN Sans" panose="020B0400000000000000" pitchFamily="34" charset="-78"/>
              </a:rPr>
              <a:t>نقشه ها، تنش‌های مجاز</a:t>
            </a:r>
            <a:endParaRPr dirty="0">
              <a:latin typeface="Roboto"/>
              <a:ea typeface="Roboto"/>
              <a:cs typeface="IRAN Sans" panose="020B0400000000000000" pitchFamily="34" charset="-78"/>
              <a:sym typeface="Roboto"/>
            </a:endParaRPr>
          </a:p>
        </p:txBody>
      </p:sp>
      <p:sp>
        <p:nvSpPr>
          <p:cNvPr id="193" name="Google Shape;525;p24">
            <a:extLst>
              <a:ext uri="{FF2B5EF4-FFF2-40B4-BE49-F238E27FC236}">
                <a16:creationId xmlns:a16="http://schemas.microsoft.com/office/drawing/2014/main" id="{82600E61-FE58-57BB-4A4F-7126FDF6C73F}"/>
              </a:ext>
            </a:extLst>
          </p:cNvPr>
          <p:cNvSpPr txBox="1"/>
          <p:nvPr/>
        </p:nvSpPr>
        <p:spPr>
          <a:xfrm>
            <a:off x="2338799" y="3131911"/>
            <a:ext cx="1362149" cy="733500"/>
          </a:xfrm>
          <a:prstGeom prst="rect">
            <a:avLst/>
          </a:prstGeom>
          <a:noFill/>
          <a:ln>
            <a:noFill/>
          </a:ln>
        </p:spPr>
        <p:txBody>
          <a:bodyPr spcFirstLastPara="1" wrap="square" lIns="91425" tIns="91425" rIns="91425" bIns="91425" anchor="ctr" anchorCtr="0">
            <a:noAutofit/>
          </a:bodyPr>
          <a:lstStyle/>
          <a:p>
            <a:pPr lvl="0" algn="ctr"/>
            <a:r>
              <a:rPr lang="fa-IR" dirty="0">
                <a:solidFill>
                  <a:schemeClr val="tx1">
                    <a:lumMod val="95000"/>
                    <a:lumOff val="5000"/>
                  </a:schemeClr>
                </a:solidFill>
                <a:cs typeface="IRAN Sans" panose="020B0400000000000000" pitchFamily="34" charset="-78"/>
              </a:rPr>
              <a:t>مونتاژ، کنترل اعوجاج و جمع شدگی، تعمیر جوش، تقه کاری، درزگیری جوش</a:t>
            </a:r>
            <a:endParaRPr dirty="0">
              <a:latin typeface="Roboto"/>
              <a:ea typeface="Roboto"/>
              <a:cs typeface="IRAN Sans" panose="020B0400000000000000" pitchFamily="34" charset="-78"/>
              <a:sym typeface="Roboto"/>
            </a:endParaRPr>
          </a:p>
        </p:txBody>
      </p:sp>
      <p:sp>
        <p:nvSpPr>
          <p:cNvPr id="194" name="Google Shape;530;p24">
            <a:extLst>
              <a:ext uri="{FF2B5EF4-FFF2-40B4-BE49-F238E27FC236}">
                <a16:creationId xmlns:a16="http://schemas.microsoft.com/office/drawing/2014/main" id="{3EE5D621-B40A-BC42-8B4B-4B77F84AF840}"/>
              </a:ext>
            </a:extLst>
          </p:cNvPr>
          <p:cNvSpPr txBox="1"/>
          <p:nvPr/>
        </p:nvSpPr>
        <p:spPr>
          <a:xfrm>
            <a:off x="3854849" y="2942281"/>
            <a:ext cx="1541400" cy="733500"/>
          </a:xfrm>
          <a:prstGeom prst="rect">
            <a:avLst/>
          </a:prstGeom>
          <a:noFill/>
          <a:ln>
            <a:noFill/>
          </a:ln>
        </p:spPr>
        <p:txBody>
          <a:bodyPr spcFirstLastPara="1" wrap="square" lIns="91425" tIns="91425" rIns="91425" bIns="91425" anchor="ctr" anchorCtr="0">
            <a:noAutofit/>
          </a:bodyPr>
          <a:lstStyle/>
          <a:p>
            <a:pPr lvl="0" algn="ctr"/>
            <a:r>
              <a:rPr lang="fa-IR" dirty="0">
                <a:solidFill>
                  <a:schemeClr val="tx1">
                    <a:lumMod val="95000"/>
                    <a:lumOff val="5000"/>
                  </a:schemeClr>
                </a:solidFill>
                <a:cs typeface="IRAN Sans" panose="020B0400000000000000" pitchFamily="34" charset="-78"/>
              </a:rPr>
              <a:t>ضوابط فلز الکترود،تنش زدایی به کمک حرارت</a:t>
            </a:r>
            <a:endParaRPr dirty="0">
              <a:latin typeface="Roboto"/>
              <a:ea typeface="Roboto"/>
              <a:cs typeface="IRAN Sans" panose="020B0400000000000000" pitchFamily="34" charset="-78"/>
              <a:sym typeface="Roboto"/>
            </a:endParaRPr>
          </a:p>
        </p:txBody>
      </p:sp>
      <p:sp>
        <p:nvSpPr>
          <p:cNvPr id="195" name="Google Shape;535;p24">
            <a:extLst>
              <a:ext uri="{FF2B5EF4-FFF2-40B4-BE49-F238E27FC236}">
                <a16:creationId xmlns:a16="http://schemas.microsoft.com/office/drawing/2014/main" id="{02B1A637-1D51-A13B-9C81-2B1D9863D299}"/>
              </a:ext>
            </a:extLst>
          </p:cNvPr>
          <p:cNvSpPr txBox="1"/>
          <p:nvPr/>
        </p:nvSpPr>
        <p:spPr>
          <a:xfrm>
            <a:off x="5349044" y="3108633"/>
            <a:ext cx="1541400" cy="733500"/>
          </a:xfrm>
          <a:prstGeom prst="rect">
            <a:avLst/>
          </a:prstGeom>
          <a:noFill/>
          <a:ln>
            <a:noFill/>
          </a:ln>
        </p:spPr>
        <p:txBody>
          <a:bodyPr spcFirstLastPara="1" wrap="square" lIns="91425" tIns="91425" rIns="91425" bIns="91425" anchor="ctr" anchorCtr="0">
            <a:noAutofit/>
          </a:bodyPr>
          <a:lstStyle/>
          <a:p>
            <a:pPr lvl="0" algn="ctr"/>
            <a:r>
              <a:rPr lang="fa-IR" dirty="0">
                <a:solidFill>
                  <a:schemeClr val="tx1">
                    <a:lumMod val="95000"/>
                    <a:lumOff val="5000"/>
                  </a:schemeClr>
                </a:solidFill>
                <a:cs typeface="IRAN Sans" panose="020B0400000000000000" pitchFamily="34" charset="-78"/>
              </a:rPr>
              <a:t>بازرسی مصالح، بازرسی جوشکاران، بازرسی دستورالعمل‌ های جوشکاری و تجهیزات</a:t>
            </a:r>
            <a:endParaRPr dirty="0">
              <a:latin typeface="Roboto"/>
              <a:ea typeface="Roboto"/>
              <a:cs typeface="IRAN Sans" panose="020B0400000000000000" pitchFamily="34" charset="-78"/>
              <a:sym typeface="Roboto"/>
            </a:endParaRPr>
          </a:p>
        </p:txBody>
      </p:sp>
      <p:sp>
        <p:nvSpPr>
          <p:cNvPr id="2" name="Rectangle: Rounded Corners 1">
            <a:extLst>
              <a:ext uri="{FF2B5EF4-FFF2-40B4-BE49-F238E27FC236}">
                <a16:creationId xmlns:a16="http://schemas.microsoft.com/office/drawing/2014/main" id="{1BCE1C73-6C37-16DC-EC52-F5DF823323D9}"/>
              </a:ext>
            </a:extLst>
          </p:cNvPr>
          <p:cNvSpPr/>
          <p:nvPr/>
        </p:nvSpPr>
        <p:spPr>
          <a:xfrm>
            <a:off x="4036343" y="230661"/>
            <a:ext cx="3176647" cy="420035"/>
          </a:xfrm>
          <a:prstGeom prst="roundRect">
            <a:avLst>
              <a:gd name="adj" fmla="val 3134"/>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فهرست مطالب قابل توجه در این نامه شامل :</a:t>
            </a:r>
          </a:p>
        </p:txBody>
      </p:sp>
      <p:sp>
        <p:nvSpPr>
          <p:cNvPr id="3" name="Google Shape;317;p20">
            <a:hlinkClick r:id="rId4" action="ppaction://hlinksldjump"/>
            <a:extLst>
              <a:ext uri="{FF2B5EF4-FFF2-40B4-BE49-F238E27FC236}">
                <a16:creationId xmlns:a16="http://schemas.microsoft.com/office/drawing/2014/main" id="{9DB76922-08DF-D1F8-EB66-F20D1F5B92E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6" name="Google Shape;317;p20">
            <a:hlinkClick r:id="rId4" action="ppaction://hlinksldjump"/>
            <a:extLst>
              <a:ext uri="{FF2B5EF4-FFF2-40B4-BE49-F238E27FC236}">
                <a16:creationId xmlns:a16="http://schemas.microsoft.com/office/drawing/2014/main" id="{1335A54B-BD0E-B953-E4DF-BA98DCA60627}"/>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8" name="Google Shape;317;p20">
            <a:hlinkClick r:id="rId4" action="ppaction://hlinksldjump"/>
            <a:extLst>
              <a:ext uri="{FF2B5EF4-FFF2-40B4-BE49-F238E27FC236}">
                <a16:creationId xmlns:a16="http://schemas.microsoft.com/office/drawing/2014/main" id="{5398BD81-2D52-1598-CD1F-F92B105573B4}"/>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10" name="Google Shape;324;p20">
            <a:hlinkClick r:id="rId5" action="ppaction://hlinksldjump"/>
            <a:extLst>
              <a:ext uri="{FF2B5EF4-FFF2-40B4-BE49-F238E27FC236}">
                <a16:creationId xmlns:a16="http://schemas.microsoft.com/office/drawing/2014/main" id="{DB1C6C8F-8CCE-FF69-45B3-412D30BB89B8}"/>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4928994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 presetClass="entr" presetSubtype="8" fill="hold" grpId="0" nodeType="after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500" fill="hold"/>
                                        <p:tgtEl>
                                          <p:spTgt spid="4"/>
                                        </p:tgtEl>
                                        <p:attrNameLst>
                                          <p:attrName>ppt_x</p:attrName>
                                        </p:attrNameLst>
                                      </p:cBhvr>
                                      <p:tavLst>
                                        <p:tav tm="0">
                                          <p:val>
                                            <p:strVal val="0-#ppt_w/2"/>
                                          </p:val>
                                        </p:tav>
                                        <p:tav tm="100000">
                                          <p:val>
                                            <p:strVal val="#ppt_x"/>
                                          </p:val>
                                        </p:tav>
                                      </p:tavLst>
                                    </p:anim>
                                    <p:anim calcmode="lin" valueType="num">
                                      <p:cBhvr additive="base">
                                        <p:cTn id="35" dur="500" fill="hold"/>
                                        <p:tgtEl>
                                          <p:spTgt spid="4"/>
                                        </p:tgtEl>
                                        <p:attrNameLst>
                                          <p:attrName>ppt_y</p:attrName>
                                        </p:attrNameLst>
                                      </p:cBhvr>
                                      <p:tavLst>
                                        <p:tav tm="0">
                                          <p:val>
                                            <p:strVal val="#ppt_y"/>
                                          </p:val>
                                        </p:tav>
                                        <p:tav tm="100000">
                                          <p:val>
                                            <p:strVal val="#ppt_y"/>
                                          </p:val>
                                        </p:tav>
                                      </p:tavLst>
                                    </p:anim>
                                  </p:childTnLst>
                                </p:cTn>
                              </p:par>
                            </p:childTnLst>
                          </p:cTn>
                        </p:par>
                        <p:par>
                          <p:cTn id="36" fill="hold">
                            <p:stCondLst>
                              <p:cond delay="2550"/>
                            </p:stCondLst>
                            <p:childTnLst>
                              <p:par>
                                <p:cTn id="37" presetID="22" presetClass="entr" presetSubtype="4" fill="hold" nodeType="after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wipe(down)">
                                      <p:cBhvr>
                                        <p:cTn id="39" dur="500"/>
                                        <p:tgtEl>
                                          <p:spTgt spid="23"/>
                                        </p:tgtEl>
                                      </p:cBhvr>
                                    </p:animEffect>
                                  </p:childTnLst>
                                </p:cTn>
                              </p:par>
                            </p:childTnLst>
                          </p:cTn>
                        </p:par>
                        <p:par>
                          <p:cTn id="40" fill="hold">
                            <p:stCondLst>
                              <p:cond delay="3050"/>
                            </p:stCondLst>
                            <p:childTnLst>
                              <p:par>
                                <p:cTn id="41" presetID="2" presetClass="entr" presetSubtype="8" fill="hold" grpId="0" nodeType="after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0-#ppt_w/2"/>
                                          </p:val>
                                        </p:tav>
                                        <p:tav tm="100000">
                                          <p:val>
                                            <p:strVal val="#ppt_x"/>
                                          </p:val>
                                        </p:tav>
                                      </p:tavLst>
                                    </p:anim>
                                    <p:anim calcmode="lin" valueType="num">
                                      <p:cBhvr additive="base">
                                        <p:cTn id="44" dur="500" fill="hold"/>
                                        <p:tgtEl>
                                          <p:spTgt spid="5"/>
                                        </p:tgtEl>
                                        <p:attrNameLst>
                                          <p:attrName>ppt_y</p:attrName>
                                        </p:attrNameLst>
                                      </p:cBhvr>
                                      <p:tavLst>
                                        <p:tav tm="0">
                                          <p:val>
                                            <p:strVal val="#ppt_y"/>
                                          </p:val>
                                        </p:tav>
                                        <p:tav tm="100000">
                                          <p:val>
                                            <p:strVal val="#ppt_y"/>
                                          </p:val>
                                        </p:tav>
                                      </p:tavLst>
                                    </p:anim>
                                  </p:childTnLst>
                                </p:cTn>
                              </p:par>
                            </p:childTnLst>
                          </p:cTn>
                        </p:par>
                        <p:par>
                          <p:cTn id="45" fill="hold">
                            <p:stCondLst>
                              <p:cond delay="3550"/>
                            </p:stCondLst>
                            <p:childTnLst>
                              <p:par>
                                <p:cTn id="46" presetID="22" presetClass="entr" presetSubtype="4" fill="hold"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down)">
                                      <p:cBhvr>
                                        <p:cTn id="48" dur="500"/>
                                        <p:tgtEl>
                                          <p:spTgt spid="12"/>
                                        </p:tgtEl>
                                      </p:cBhvr>
                                    </p:animEffect>
                                  </p:childTnLst>
                                </p:cTn>
                              </p:par>
                            </p:childTnLst>
                          </p:cTn>
                        </p:par>
                        <p:par>
                          <p:cTn id="49" fill="hold">
                            <p:stCondLst>
                              <p:cond delay="4050"/>
                            </p:stCondLst>
                            <p:childTnLst>
                              <p:par>
                                <p:cTn id="50" presetID="2" presetClass="entr" presetSubtype="8" fill="hold" grpId="0" nodeType="after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500" fill="hold"/>
                                        <p:tgtEl>
                                          <p:spTgt spid="7"/>
                                        </p:tgtEl>
                                        <p:attrNameLst>
                                          <p:attrName>ppt_x</p:attrName>
                                        </p:attrNameLst>
                                      </p:cBhvr>
                                      <p:tavLst>
                                        <p:tav tm="0">
                                          <p:val>
                                            <p:strVal val="0-#ppt_w/2"/>
                                          </p:val>
                                        </p:tav>
                                        <p:tav tm="100000">
                                          <p:val>
                                            <p:strVal val="#ppt_x"/>
                                          </p:val>
                                        </p:tav>
                                      </p:tavLst>
                                    </p:anim>
                                    <p:anim calcmode="lin" valueType="num">
                                      <p:cBhvr additive="base">
                                        <p:cTn id="53" dur="500" fill="hold"/>
                                        <p:tgtEl>
                                          <p:spTgt spid="7"/>
                                        </p:tgtEl>
                                        <p:attrNameLst>
                                          <p:attrName>ppt_y</p:attrName>
                                        </p:attrNameLst>
                                      </p:cBhvr>
                                      <p:tavLst>
                                        <p:tav tm="0">
                                          <p:val>
                                            <p:strVal val="#ppt_y"/>
                                          </p:val>
                                        </p:tav>
                                        <p:tav tm="100000">
                                          <p:val>
                                            <p:strVal val="#ppt_y"/>
                                          </p:val>
                                        </p:tav>
                                      </p:tavLst>
                                    </p:anim>
                                  </p:childTnLst>
                                </p:cTn>
                              </p:par>
                            </p:childTnLst>
                          </p:cTn>
                        </p:par>
                        <p:par>
                          <p:cTn id="54" fill="hold">
                            <p:stCondLst>
                              <p:cond delay="4550"/>
                            </p:stCondLst>
                            <p:childTnLst>
                              <p:par>
                                <p:cTn id="55" presetID="22" presetClass="entr" presetSubtype="4" fill="hold" nodeType="after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wipe(down)">
                                      <p:cBhvr>
                                        <p:cTn id="57" dur="500"/>
                                        <p:tgtEl>
                                          <p:spTgt spid="31"/>
                                        </p:tgtEl>
                                      </p:cBhvr>
                                    </p:animEffect>
                                  </p:childTnLst>
                                </p:cTn>
                              </p:par>
                            </p:childTnLst>
                          </p:cTn>
                        </p:par>
                        <p:par>
                          <p:cTn id="58" fill="hold">
                            <p:stCondLst>
                              <p:cond delay="5050"/>
                            </p:stCondLst>
                            <p:childTnLst>
                              <p:par>
                                <p:cTn id="59" presetID="2" presetClass="entr" presetSubtype="8" fill="hold" grpId="0" nodeType="afterEffect">
                                  <p:stCondLst>
                                    <p:cond delay="0"/>
                                  </p:stCondLst>
                                  <p:childTnLst>
                                    <p:set>
                                      <p:cBhvr>
                                        <p:cTn id="60" dur="1" fill="hold">
                                          <p:stCondLst>
                                            <p:cond delay="0"/>
                                          </p:stCondLst>
                                        </p:cTn>
                                        <p:tgtEl>
                                          <p:spTgt spid="9"/>
                                        </p:tgtEl>
                                        <p:attrNameLst>
                                          <p:attrName>style.visibility</p:attrName>
                                        </p:attrNameLst>
                                      </p:cBhvr>
                                      <p:to>
                                        <p:strVal val="visible"/>
                                      </p:to>
                                    </p:set>
                                    <p:anim calcmode="lin" valueType="num">
                                      <p:cBhvr additive="base">
                                        <p:cTn id="61" dur="500" fill="hold"/>
                                        <p:tgtEl>
                                          <p:spTgt spid="9"/>
                                        </p:tgtEl>
                                        <p:attrNameLst>
                                          <p:attrName>ppt_x</p:attrName>
                                        </p:attrNameLst>
                                      </p:cBhvr>
                                      <p:tavLst>
                                        <p:tav tm="0">
                                          <p:val>
                                            <p:strVal val="0-#ppt_w/2"/>
                                          </p:val>
                                        </p:tav>
                                        <p:tav tm="100000">
                                          <p:val>
                                            <p:strVal val="#ppt_x"/>
                                          </p:val>
                                        </p:tav>
                                      </p:tavLst>
                                    </p:anim>
                                    <p:anim calcmode="lin" valueType="num">
                                      <p:cBhvr additive="base">
                                        <p:cTn id="62" dur="500" fill="hold"/>
                                        <p:tgtEl>
                                          <p:spTgt spid="9"/>
                                        </p:tgtEl>
                                        <p:attrNameLst>
                                          <p:attrName>ppt_y</p:attrName>
                                        </p:attrNameLst>
                                      </p:cBhvr>
                                      <p:tavLst>
                                        <p:tav tm="0">
                                          <p:val>
                                            <p:strVal val="#ppt_y"/>
                                          </p:val>
                                        </p:tav>
                                        <p:tav tm="100000">
                                          <p:val>
                                            <p:strVal val="#ppt_y"/>
                                          </p:val>
                                        </p:tav>
                                      </p:tavLst>
                                    </p:anim>
                                  </p:childTnLst>
                                </p:cTn>
                              </p:par>
                            </p:childTnLst>
                          </p:cTn>
                        </p:par>
                        <p:par>
                          <p:cTn id="63" fill="hold">
                            <p:stCondLst>
                              <p:cond delay="5550"/>
                            </p:stCondLst>
                            <p:childTnLst>
                              <p:par>
                                <p:cTn id="64" presetID="22" presetClass="entr" presetSubtype="4" fill="hold" nodeType="afterEffect">
                                  <p:stCondLst>
                                    <p:cond delay="0"/>
                                  </p:stCondLst>
                                  <p:childTnLst>
                                    <p:set>
                                      <p:cBhvr>
                                        <p:cTn id="65" dur="1" fill="hold">
                                          <p:stCondLst>
                                            <p:cond delay="0"/>
                                          </p:stCondLst>
                                        </p:cTn>
                                        <p:tgtEl>
                                          <p:spTgt spid="249"/>
                                        </p:tgtEl>
                                        <p:attrNameLst>
                                          <p:attrName>style.visibility</p:attrName>
                                        </p:attrNameLst>
                                      </p:cBhvr>
                                      <p:to>
                                        <p:strVal val="visible"/>
                                      </p:to>
                                    </p:set>
                                    <p:animEffect transition="in" filter="wipe(down)">
                                      <p:cBhvr>
                                        <p:cTn id="66" dur="500"/>
                                        <p:tgtEl>
                                          <p:spTgt spid="249"/>
                                        </p:tgtEl>
                                      </p:cBhvr>
                                    </p:animEffect>
                                  </p:childTnLst>
                                </p:cTn>
                              </p:par>
                            </p:childTnLst>
                          </p:cTn>
                        </p:par>
                        <p:par>
                          <p:cTn id="67" fill="hold">
                            <p:stCondLst>
                              <p:cond delay="6050"/>
                            </p:stCondLst>
                            <p:childTnLst>
                              <p:par>
                                <p:cTn id="68" presetID="2" presetClass="entr" presetSubtype="8" fill="hold" grpId="0" nodeType="after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500" fill="hold"/>
                                        <p:tgtEl>
                                          <p:spTgt spid="11"/>
                                        </p:tgtEl>
                                        <p:attrNameLst>
                                          <p:attrName>ppt_x</p:attrName>
                                        </p:attrNameLst>
                                      </p:cBhvr>
                                      <p:tavLst>
                                        <p:tav tm="0">
                                          <p:val>
                                            <p:strVal val="0-#ppt_w/2"/>
                                          </p:val>
                                        </p:tav>
                                        <p:tav tm="100000">
                                          <p:val>
                                            <p:strVal val="#ppt_x"/>
                                          </p:val>
                                        </p:tav>
                                      </p:tavLst>
                                    </p:anim>
                                    <p:anim calcmode="lin" valueType="num">
                                      <p:cBhvr additive="base">
                                        <p:cTn id="71" dur="500" fill="hold"/>
                                        <p:tgtEl>
                                          <p:spTgt spid="11"/>
                                        </p:tgtEl>
                                        <p:attrNameLst>
                                          <p:attrName>ppt_y</p:attrName>
                                        </p:attrNameLst>
                                      </p:cBhvr>
                                      <p:tavLst>
                                        <p:tav tm="0">
                                          <p:val>
                                            <p:strVal val="#ppt_y"/>
                                          </p:val>
                                        </p:tav>
                                        <p:tav tm="100000">
                                          <p:val>
                                            <p:strVal val="#ppt_y"/>
                                          </p:val>
                                        </p:tav>
                                      </p:tavLst>
                                    </p:anim>
                                  </p:childTnLst>
                                </p:cTn>
                              </p:par>
                            </p:childTnLst>
                          </p:cTn>
                        </p:par>
                        <p:par>
                          <p:cTn id="72" fill="hold">
                            <p:stCondLst>
                              <p:cond delay="6550"/>
                            </p:stCondLst>
                            <p:childTnLst>
                              <p:par>
                                <p:cTn id="73" presetID="22" presetClass="entr" presetSubtype="4" fill="hold" nodeType="afterEffect">
                                  <p:stCondLst>
                                    <p:cond delay="0"/>
                                  </p:stCondLst>
                                  <p:childTnLst>
                                    <p:set>
                                      <p:cBhvr>
                                        <p:cTn id="74" dur="1" fill="hold">
                                          <p:stCondLst>
                                            <p:cond delay="0"/>
                                          </p:stCondLst>
                                        </p:cTn>
                                        <p:tgtEl>
                                          <p:spTgt spid="99"/>
                                        </p:tgtEl>
                                        <p:attrNameLst>
                                          <p:attrName>style.visibility</p:attrName>
                                        </p:attrNameLst>
                                      </p:cBhvr>
                                      <p:to>
                                        <p:strVal val="visible"/>
                                      </p:to>
                                    </p:set>
                                    <p:animEffect transition="in" filter="wipe(down)">
                                      <p:cBhvr>
                                        <p:cTn id="75" dur="500"/>
                                        <p:tgtEl>
                                          <p:spTgt spid="99"/>
                                        </p:tgtEl>
                                      </p:cBhvr>
                                    </p:animEffect>
                                  </p:childTnLst>
                                </p:cTn>
                              </p:par>
                              <p:par>
                                <p:cTn id="76" presetID="42" presetClass="entr" presetSubtype="0" fill="hold" grpId="0" nodeType="withEffect">
                                  <p:stCondLst>
                                    <p:cond delay="0"/>
                                  </p:stCondLst>
                                  <p:childTnLst>
                                    <p:set>
                                      <p:cBhvr>
                                        <p:cTn id="77" dur="1" fill="hold">
                                          <p:stCondLst>
                                            <p:cond delay="0"/>
                                          </p:stCondLst>
                                        </p:cTn>
                                        <p:tgtEl>
                                          <p:spTgt spid="192"/>
                                        </p:tgtEl>
                                        <p:attrNameLst>
                                          <p:attrName>style.visibility</p:attrName>
                                        </p:attrNameLst>
                                      </p:cBhvr>
                                      <p:to>
                                        <p:strVal val="visible"/>
                                      </p:to>
                                    </p:set>
                                    <p:animEffect transition="in" filter="fade">
                                      <p:cBhvr>
                                        <p:cTn id="78" dur="1000"/>
                                        <p:tgtEl>
                                          <p:spTgt spid="192"/>
                                        </p:tgtEl>
                                      </p:cBhvr>
                                    </p:animEffect>
                                    <p:anim calcmode="lin" valueType="num">
                                      <p:cBhvr>
                                        <p:cTn id="79" dur="1000" fill="hold"/>
                                        <p:tgtEl>
                                          <p:spTgt spid="192"/>
                                        </p:tgtEl>
                                        <p:attrNameLst>
                                          <p:attrName>ppt_x</p:attrName>
                                        </p:attrNameLst>
                                      </p:cBhvr>
                                      <p:tavLst>
                                        <p:tav tm="0">
                                          <p:val>
                                            <p:strVal val="#ppt_x"/>
                                          </p:val>
                                        </p:tav>
                                        <p:tav tm="100000">
                                          <p:val>
                                            <p:strVal val="#ppt_x"/>
                                          </p:val>
                                        </p:tav>
                                      </p:tavLst>
                                    </p:anim>
                                    <p:anim calcmode="lin" valueType="num">
                                      <p:cBhvr>
                                        <p:cTn id="80" dur="1000" fill="hold"/>
                                        <p:tgtEl>
                                          <p:spTgt spid="192"/>
                                        </p:tgtEl>
                                        <p:attrNameLst>
                                          <p:attrName>ppt_y</p:attrName>
                                        </p:attrNameLst>
                                      </p:cBhvr>
                                      <p:tavLst>
                                        <p:tav tm="0">
                                          <p:val>
                                            <p:strVal val="#ppt_y+.1"/>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193"/>
                                        </p:tgtEl>
                                        <p:attrNameLst>
                                          <p:attrName>style.visibility</p:attrName>
                                        </p:attrNameLst>
                                      </p:cBhvr>
                                      <p:to>
                                        <p:strVal val="visible"/>
                                      </p:to>
                                    </p:set>
                                    <p:animEffect transition="in" filter="fade">
                                      <p:cBhvr>
                                        <p:cTn id="83" dur="1000"/>
                                        <p:tgtEl>
                                          <p:spTgt spid="193"/>
                                        </p:tgtEl>
                                      </p:cBhvr>
                                    </p:animEffect>
                                    <p:anim calcmode="lin" valueType="num">
                                      <p:cBhvr>
                                        <p:cTn id="84" dur="1000" fill="hold"/>
                                        <p:tgtEl>
                                          <p:spTgt spid="193"/>
                                        </p:tgtEl>
                                        <p:attrNameLst>
                                          <p:attrName>ppt_x</p:attrName>
                                        </p:attrNameLst>
                                      </p:cBhvr>
                                      <p:tavLst>
                                        <p:tav tm="0">
                                          <p:val>
                                            <p:strVal val="#ppt_x"/>
                                          </p:val>
                                        </p:tav>
                                        <p:tav tm="100000">
                                          <p:val>
                                            <p:strVal val="#ppt_x"/>
                                          </p:val>
                                        </p:tav>
                                      </p:tavLst>
                                    </p:anim>
                                    <p:anim calcmode="lin" valueType="num">
                                      <p:cBhvr>
                                        <p:cTn id="85" dur="1000" fill="hold"/>
                                        <p:tgtEl>
                                          <p:spTgt spid="193"/>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194"/>
                                        </p:tgtEl>
                                        <p:attrNameLst>
                                          <p:attrName>style.visibility</p:attrName>
                                        </p:attrNameLst>
                                      </p:cBhvr>
                                      <p:to>
                                        <p:strVal val="visible"/>
                                      </p:to>
                                    </p:set>
                                    <p:animEffect transition="in" filter="fade">
                                      <p:cBhvr>
                                        <p:cTn id="88" dur="1000"/>
                                        <p:tgtEl>
                                          <p:spTgt spid="194"/>
                                        </p:tgtEl>
                                      </p:cBhvr>
                                    </p:animEffect>
                                    <p:anim calcmode="lin" valueType="num">
                                      <p:cBhvr>
                                        <p:cTn id="89" dur="1000" fill="hold"/>
                                        <p:tgtEl>
                                          <p:spTgt spid="194"/>
                                        </p:tgtEl>
                                        <p:attrNameLst>
                                          <p:attrName>ppt_x</p:attrName>
                                        </p:attrNameLst>
                                      </p:cBhvr>
                                      <p:tavLst>
                                        <p:tav tm="0">
                                          <p:val>
                                            <p:strVal val="#ppt_x"/>
                                          </p:val>
                                        </p:tav>
                                        <p:tav tm="100000">
                                          <p:val>
                                            <p:strVal val="#ppt_x"/>
                                          </p:val>
                                        </p:tav>
                                      </p:tavLst>
                                    </p:anim>
                                    <p:anim calcmode="lin" valueType="num">
                                      <p:cBhvr>
                                        <p:cTn id="90" dur="1000" fill="hold"/>
                                        <p:tgtEl>
                                          <p:spTgt spid="194"/>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95"/>
                                        </p:tgtEl>
                                        <p:attrNameLst>
                                          <p:attrName>style.visibility</p:attrName>
                                        </p:attrNameLst>
                                      </p:cBhvr>
                                      <p:to>
                                        <p:strVal val="visible"/>
                                      </p:to>
                                    </p:set>
                                    <p:animEffect transition="in" filter="fade">
                                      <p:cBhvr>
                                        <p:cTn id="93" dur="1000"/>
                                        <p:tgtEl>
                                          <p:spTgt spid="195"/>
                                        </p:tgtEl>
                                      </p:cBhvr>
                                    </p:animEffect>
                                    <p:anim calcmode="lin" valueType="num">
                                      <p:cBhvr>
                                        <p:cTn id="94" dur="1000" fill="hold"/>
                                        <p:tgtEl>
                                          <p:spTgt spid="195"/>
                                        </p:tgtEl>
                                        <p:attrNameLst>
                                          <p:attrName>ppt_x</p:attrName>
                                        </p:attrNameLst>
                                      </p:cBhvr>
                                      <p:tavLst>
                                        <p:tav tm="0">
                                          <p:val>
                                            <p:strVal val="#ppt_x"/>
                                          </p:val>
                                        </p:tav>
                                        <p:tav tm="100000">
                                          <p:val>
                                            <p:strVal val="#ppt_x"/>
                                          </p:val>
                                        </p:tav>
                                      </p:tavLst>
                                    </p:anim>
                                    <p:anim calcmode="lin" valueType="num">
                                      <p:cBhvr>
                                        <p:cTn id="95" dur="1000" fill="hold"/>
                                        <p:tgtEl>
                                          <p:spTgt spid="195"/>
                                        </p:tgtEl>
                                        <p:attrNameLst>
                                          <p:attrName>ppt_y</p:attrName>
                                        </p:attrNameLst>
                                      </p:cBhvr>
                                      <p:tavLst>
                                        <p:tav tm="0">
                                          <p:val>
                                            <p:strVal val="#ppt_y+.1"/>
                                          </p:val>
                                        </p:tav>
                                        <p:tav tm="100000">
                                          <p:val>
                                            <p:strVal val="#ppt_y"/>
                                          </p:val>
                                        </p:tav>
                                      </p:tavLst>
                                    </p:anim>
                                  </p:childTnLst>
                                </p:cTn>
                              </p:par>
                              <p:par>
                                <p:cTn id="96" presetID="42" presetClass="entr" presetSubtype="0" fill="hold" grpId="0" nodeType="withEffect">
                                  <p:stCondLst>
                                    <p:cond delay="0"/>
                                  </p:stCondLst>
                                  <p:childTnLst>
                                    <p:set>
                                      <p:cBhvr>
                                        <p:cTn id="97" dur="1" fill="hold">
                                          <p:stCondLst>
                                            <p:cond delay="0"/>
                                          </p:stCondLst>
                                        </p:cTn>
                                        <p:tgtEl>
                                          <p:spTgt spid="2"/>
                                        </p:tgtEl>
                                        <p:attrNameLst>
                                          <p:attrName>style.visibility</p:attrName>
                                        </p:attrNameLst>
                                      </p:cBhvr>
                                      <p:to>
                                        <p:strVal val="visible"/>
                                      </p:to>
                                    </p:set>
                                    <p:animEffect transition="in" filter="fade">
                                      <p:cBhvr>
                                        <p:cTn id="98" dur="1000"/>
                                        <p:tgtEl>
                                          <p:spTgt spid="2"/>
                                        </p:tgtEl>
                                      </p:cBhvr>
                                    </p:animEffect>
                                    <p:anim calcmode="lin" valueType="num">
                                      <p:cBhvr>
                                        <p:cTn id="99" dur="1000" fill="hold"/>
                                        <p:tgtEl>
                                          <p:spTgt spid="2"/>
                                        </p:tgtEl>
                                        <p:attrNameLst>
                                          <p:attrName>ppt_x</p:attrName>
                                        </p:attrNameLst>
                                      </p:cBhvr>
                                      <p:tavLst>
                                        <p:tav tm="0">
                                          <p:val>
                                            <p:strVal val="#ppt_x"/>
                                          </p:val>
                                        </p:tav>
                                        <p:tav tm="100000">
                                          <p:val>
                                            <p:strVal val="#ppt_x"/>
                                          </p:val>
                                        </p:tav>
                                      </p:tavLst>
                                    </p:anim>
                                    <p:anim calcmode="lin" valueType="num">
                                      <p:cBhvr>
                                        <p:cTn id="100"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4" grpId="0" animBg="1"/>
      <p:bldP spid="5" grpId="0" animBg="1"/>
      <p:bldP spid="7" grpId="0" animBg="1"/>
      <p:bldP spid="9" grpId="0" animBg="1"/>
      <p:bldP spid="11" grpId="0" animBg="1"/>
      <p:bldP spid="192" grpId="0"/>
      <p:bldP spid="193" grpId="0"/>
      <p:bldP spid="194" grpId="0"/>
      <p:bldP spid="195" grpId="0"/>
      <p:bldP spid="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838939" y="230661"/>
            <a:ext cx="2989397"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اشخاص دارای مسئولیت در ایین نامه</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34</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138" name="Google Shape;406;p21">
            <a:extLst>
              <a:ext uri="{FF2B5EF4-FFF2-40B4-BE49-F238E27FC236}">
                <a16:creationId xmlns:a16="http://schemas.microsoft.com/office/drawing/2014/main" id="{C106823D-C623-4623-9A7A-739D1B48A30E}"/>
              </a:ext>
            </a:extLst>
          </p:cNvPr>
          <p:cNvSpPr/>
          <p:nvPr/>
        </p:nvSpPr>
        <p:spPr>
          <a:xfrm>
            <a:off x="5838946" y="787205"/>
            <a:ext cx="1867912" cy="456069"/>
          </a:xfrm>
          <a:prstGeom prst="round2SameRect">
            <a:avLst>
              <a:gd name="adj1" fmla="val 16667"/>
              <a:gd name="adj2" fmla="val 0"/>
            </a:avLst>
          </a:prstGeom>
          <a:solidFill>
            <a:schemeClr val="accent3"/>
          </a:solidFill>
          <a:ln>
            <a:noFill/>
          </a:ln>
        </p:spPr>
        <p:txBody>
          <a:bodyPr spcFirstLastPara="1" wrap="square" lIns="91425" tIns="91425" rIns="91425" bIns="91425" anchor="ctr" anchorCtr="0">
            <a:noAutofit/>
          </a:bodyPr>
          <a:lstStyle/>
          <a:p>
            <a:pPr lvl="0" algn="ctr">
              <a:buClr>
                <a:schemeClr val="dk1"/>
              </a:buClr>
              <a:buSzPts val="1100"/>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مهندس مشاور</a:t>
            </a:r>
            <a:endParaRPr lang="fa-IR" sz="2000" b="1" dirty="0"/>
          </a:p>
        </p:txBody>
      </p:sp>
      <p:sp>
        <p:nvSpPr>
          <p:cNvPr id="148" name="Google Shape;416;p21">
            <a:extLst>
              <a:ext uri="{FF2B5EF4-FFF2-40B4-BE49-F238E27FC236}">
                <a16:creationId xmlns:a16="http://schemas.microsoft.com/office/drawing/2014/main" id="{B612A14C-5C62-41E1-8C55-91061739295E}"/>
              </a:ext>
            </a:extLst>
          </p:cNvPr>
          <p:cNvSpPr/>
          <p:nvPr/>
        </p:nvSpPr>
        <p:spPr>
          <a:xfrm>
            <a:off x="1718631" y="787206"/>
            <a:ext cx="1867913" cy="456069"/>
          </a:xfrm>
          <a:prstGeom prst="round2SameRect">
            <a:avLst>
              <a:gd name="adj1" fmla="val 16667"/>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طراح</a:t>
            </a:r>
            <a:endParaRPr sz="1600" b="1" dirty="0"/>
          </a:p>
        </p:txBody>
      </p:sp>
      <p:sp>
        <p:nvSpPr>
          <p:cNvPr id="202" name="Google Shape;421;p21">
            <a:extLst>
              <a:ext uri="{FF2B5EF4-FFF2-40B4-BE49-F238E27FC236}">
                <a16:creationId xmlns:a16="http://schemas.microsoft.com/office/drawing/2014/main" id="{D2F7C326-FA56-414E-BA65-10A95E7FBF4F}"/>
              </a:ext>
            </a:extLst>
          </p:cNvPr>
          <p:cNvSpPr/>
          <p:nvPr/>
        </p:nvSpPr>
        <p:spPr>
          <a:xfrm>
            <a:off x="3778776" y="787205"/>
            <a:ext cx="1867913" cy="456069"/>
          </a:xfrm>
          <a:prstGeom prst="round2SameRect">
            <a:avLst>
              <a:gd name="adj1" fmla="val 16667"/>
              <a:gd name="adj2" fmla="val 0"/>
            </a:avLst>
          </a:prstGeom>
          <a:solidFill>
            <a:schemeClr val="accent2"/>
          </a:solidFill>
          <a:ln>
            <a:noFill/>
          </a:ln>
        </p:spPr>
        <p:txBody>
          <a:bodyPr spcFirstLastPara="1" wrap="square" lIns="91425" tIns="91425" rIns="91425" bIns="91425" anchor="ctr" anchorCtr="0">
            <a:noAutofit/>
          </a:bodyPr>
          <a:lstStyle/>
          <a:p>
            <a:pPr lvl="0" algn="ctr">
              <a:buClr>
                <a:schemeClr val="dk1"/>
              </a:buClr>
              <a:buSzPts val="1100"/>
            </a:pPr>
            <a:r>
              <a:rPr lang="fa-IR" sz="1800" b="1" dirty="0">
                <a:solidFill>
                  <a:schemeClr val="lt1"/>
                </a:solidFill>
                <a:latin typeface="Fira Sans Extra Condensed Medium"/>
                <a:ea typeface="Fira Sans Extra Condensed Medium"/>
                <a:cs typeface="IRAN Sans" panose="020B0400000000000000" pitchFamily="34" charset="-78"/>
                <a:sym typeface="Fira Sans Extra Condensed Medium"/>
              </a:rPr>
              <a:t>سازنده</a:t>
            </a:r>
            <a:endParaRPr lang="fa-IR" sz="2000" b="1" dirty="0"/>
          </a:p>
        </p:txBody>
      </p:sp>
      <p:grpSp>
        <p:nvGrpSpPr>
          <p:cNvPr id="16" name="Group 15">
            <a:extLst>
              <a:ext uri="{FF2B5EF4-FFF2-40B4-BE49-F238E27FC236}">
                <a16:creationId xmlns:a16="http://schemas.microsoft.com/office/drawing/2014/main" id="{3A38BF85-EFDD-4FB7-AEF4-AEDE00A26C61}"/>
              </a:ext>
            </a:extLst>
          </p:cNvPr>
          <p:cNvGrpSpPr/>
          <p:nvPr/>
        </p:nvGrpSpPr>
        <p:grpSpPr>
          <a:xfrm>
            <a:off x="5838939" y="1343902"/>
            <a:ext cx="1867912" cy="2361119"/>
            <a:chOff x="4666473" y="1340547"/>
            <a:chExt cx="1867912" cy="2361119"/>
          </a:xfrm>
        </p:grpSpPr>
        <p:sp>
          <p:nvSpPr>
            <p:cNvPr id="135" name="Google Shape;403;p21">
              <a:extLst>
                <a:ext uri="{FF2B5EF4-FFF2-40B4-BE49-F238E27FC236}">
                  <a16:creationId xmlns:a16="http://schemas.microsoft.com/office/drawing/2014/main" id="{A2EE4FE3-D8E6-4EB9-8C26-26950D10F136}"/>
                </a:ext>
              </a:extLst>
            </p:cNvPr>
            <p:cNvSpPr/>
            <p:nvPr/>
          </p:nvSpPr>
          <p:spPr>
            <a:xfrm rot="10800000" flipH="1">
              <a:off x="4666473" y="1340547"/>
              <a:ext cx="1867912" cy="2361119"/>
            </a:xfrm>
            <a:prstGeom prst="round2SameRect">
              <a:avLst>
                <a:gd name="adj1" fmla="val 5396"/>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137" name="Google Shape;405;p21">
              <a:extLst>
                <a:ext uri="{FF2B5EF4-FFF2-40B4-BE49-F238E27FC236}">
                  <a16:creationId xmlns:a16="http://schemas.microsoft.com/office/drawing/2014/main" id="{ABA5D7C5-EC50-4C99-9121-AF1AD3A710DE}"/>
                </a:ext>
              </a:extLst>
            </p:cNvPr>
            <p:cNvSpPr txBox="1"/>
            <p:nvPr/>
          </p:nvSpPr>
          <p:spPr>
            <a:xfrm>
              <a:off x="4754609" y="2477872"/>
              <a:ext cx="1684470" cy="932183"/>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300" dirty="0">
                  <a:solidFill>
                    <a:schemeClr val="tx1">
                      <a:lumMod val="95000"/>
                      <a:lumOff val="5000"/>
                    </a:schemeClr>
                  </a:solidFill>
                  <a:cs typeface="IRAN Sans" panose="020B0400000000000000" pitchFamily="34" charset="-78"/>
                </a:rPr>
                <a:t>شخص حقیقی یا حقوقی است که برای نظارت بر حسن اجرای کار گمارده شده است</a:t>
              </a:r>
            </a:p>
          </p:txBody>
        </p:sp>
      </p:grpSp>
      <p:grpSp>
        <p:nvGrpSpPr>
          <p:cNvPr id="2" name="Group 1">
            <a:extLst>
              <a:ext uri="{FF2B5EF4-FFF2-40B4-BE49-F238E27FC236}">
                <a16:creationId xmlns:a16="http://schemas.microsoft.com/office/drawing/2014/main" id="{6872CDF4-BFD0-4D89-8696-54B2B0F3074F}"/>
              </a:ext>
            </a:extLst>
          </p:cNvPr>
          <p:cNvGrpSpPr/>
          <p:nvPr/>
        </p:nvGrpSpPr>
        <p:grpSpPr>
          <a:xfrm>
            <a:off x="1718633" y="1343903"/>
            <a:ext cx="1867913" cy="2361119"/>
            <a:chOff x="546167" y="1340548"/>
            <a:chExt cx="1867913" cy="2361119"/>
          </a:xfrm>
        </p:grpSpPr>
        <p:sp>
          <p:nvSpPr>
            <p:cNvPr id="145" name="Google Shape;413;p21">
              <a:extLst>
                <a:ext uri="{FF2B5EF4-FFF2-40B4-BE49-F238E27FC236}">
                  <a16:creationId xmlns:a16="http://schemas.microsoft.com/office/drawing/2014/main" id="{74A2741D-4991-4D21-98B1-8FC2BAAE7AAA}"/>
                </a:ext>
              </a:extLst>
            </p:cNvPr>
            <p:cNvSpPr/>
            <p:nvPr/>
          </p:nvSpPr>
          <p:spPr>
            <a:xfrm rot="10800000" flipH="1">
              <a:off x="546167" y="1340548"/>
              <a:ext cx="1867913" cy="2361119"/>
            </a:xfrm>
            <a:prstGeom prst="round2SameRect">
              <a:avLst>
                <a:gd name="adj1" fmla="val 5874"/>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147" name="Google Shape;415;p21">
              <a:extLst>
                <a:ext uri="{FF2B5EF4-FFF2-40B4-BE49-F238E27FC236}">
                  <a16:creationId xmlns:a16="http://schemas.microsoft.com/office/drawing/2014/main" id="{54796A61-CD56-429F-B794-4DAAECFBC361}"/>
                </a:ext>
              </a:extLst>
            </p:cNvPr>
            <p:cNvSpPr txBox="1"/>
            <p:nvPr/>
          </p:nvSpPr>
          <p:spPr>
            <a:xfrm>
              <a:off x="629456" y="2073477"/>
              <a:ext cx="1701330" cy="1379204"/>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300" dirty="0">
                  <a:solidFill>
                    <a:schemeClr val="tx1">
                      <a:lumMod val="95000"/>
                      <a:lumOff val="5000"/>
                    </a:schemeClr>
                  </a:solidFill>
                  <a:cs typeface="IRAN Sans" panose="020B0400000000000000" pitchFamily="34" charset="-78"/>
                </a:rPr>
                <a:t>شخص حقیقی یا حقوقی است که مسئولیت طراحی و محاسبات ایستایی موضوع قرارداد را دارا میباشد.</a:t>
              </a:r>
            </a:p>
          </p:txBody>
        </p:sp>
      </p:grpSp>
      <p:grpSp>
        <p:nvGrpSpPr>
          <p:cNvPr id="9" name="Group 8">
            <a:extLst>
              <a:ext uri="{FF2B5EF4-FFF2-40B4-BE49-F238E27FC236}">
                <a16:creationId xmlns:a16="http://schemas.microsoft.com/office/drawing/2014/main" id="{86EB59C6-B8DB-4F17-BAEF-3A6EA9058BEE}"/>
              </a:ext>
            </a:extLst>
          </p:cNvPr>
          <p:cNvGrpSpPr/>
          <p:nvPr/>
        </p:nvGrpSpPr>
        <p:grpSpPr>
          <a:xfrm>
            <a:off x="3778785" y="1343902"/>
            <a:ext cx="1867913" cy="2363144"/>
            <a:chOff x="2606319" y="1340547"/>
            <a:chExt cx="1867913" cy="2363144"/>
          </a:xfrm>
        </p:grpSpPr>
        <p:sp>
          <p:nvSpPr>
            <p:cNvPr id="197" name="Google Shape;418;p21">
              <a:extLst>
                <a:ext uri="{FF2B5EF4-FFF2-40B4-BE49-F238E27FC236}">
                  <a16:creationId xmlns:a16="http://schemas.microsoft.com/office/drawing/2014/main" id="{2B84C8CC-5EDD-4B87-B4AC-3E404968E4AA}"/>
                </a:ext>
              </a:extLst>
            </p:cNvPr>
            <p:cNvSpPr/>
            <p:nvPr/>
          </p:nvSpPr>
          <p:spPr>
            <a:xfrm rot="10800000" flipH="1">
              <a:off x="2606319" y="1340547"/>
              <a:ext cx="1867913" cy="2361119"/>
            </a:xfrm>
            <a:prstGeom prst="round2SameRect">
              <a:avLst>
                <a:gd name="adj1" fmla="val 6301"/>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199" name="Google Shape;420;p21">
              <a:extLst>
                <a:ext uri="{FF2B5EF4-FFF2-40B4-BE49-F238E27FC236}">
                  <a16:creationId xmlns:a16="http://schemas.microsoft.com/office/drawing/2014/main" id="{162F3FA5-6C3C-4957-A2C7-77A5B3A77246}"/>
                </a:ext>
              </a:extLst>
            </p:cNvPr>
            <p:cNvSpPr txBox="1"/>
            <p:nvPr/>
          </p:nvSpPr>
          <p:spPr>
            <a:xfrm>
              <a:off x="2689601" y="2184238"/>
              <a:ext cx="1701330" cy="1519453"/>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sz="1300" dirty="0">
                  <a:solidFill>
                    <a:schemeClr val="tx1">
                      <a:lumMod val="95000"/>
                      <a:lumOff val="5000"/>
                    </a:schemeClr>
                  </a:solidFill>
                  <a:cs typeface="IRAN Sans" panose="020B0400000000000000" pitchFamily="34" charset="-78"/>
                </a:rPr>
                <a:t>شخص حقیقی یا حقوقی است که اجرای موضوع قرار داد بر اساس مشخصات فنی عمومی و خصوصی بر عهده گرفته است.</a:t>
              </a:r>
            </a:p>
          </p:txBody>
        </p:sp>
      </p:gr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8" name="Google Shape;317;p20">
            <a:hlinkClick r:id="rId3" action="ppaction://hlinksldjump"/>
            <a:extLst>
              <a:ext uri="{FF2B5EF4-FFF2-40B4-BE49-F238E27FC236}">
                <a16:creationId xmlns:a16="http://schemas.microsoft.com/office/drawing/2014/main" id="{9AE77316-EEC9-4002-AA7E-841C32E641E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2" name="Google Shape;309;p20">
            <a:hlinkClick r:id="rId4" action="ppaction://hlinksldjump"/>
            <a:extLst>
              <a:ext uri="{FF2B5EF4-FFF2-40B4-BE49-F238E27FC236}">
                <a16:creationId xmlns:a16="http://schemas.microsoft.com/office/drawing/2014/main" id="{CA78C3D0-C261-4900-90D9-C90DE647502A}"/>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endParaRPr sz="20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 name="Picture 2">
            <a:extLst>
              <a:ext uri="{FF2B5EF4-FFF2-40B4-BE49-F238E27FC236}">
                <a16:creationId xmlns:a16="http://schemas.microsoft.com/office/drawing/2014/main" id="{2B2A7BD7-F234-3CE8-F840-43DA70DF9334}"/>
              </a:ext>
            </a:extLst>
          </p:cNvPr>
          <p:cNvPicPr>
            <a:picLocks noChangeAspect="1"/>
          </p:cNvPicPr>
          <p:nvPr/>
        </p:nvPicPr>
        <p:blipFill>
          <a:blip r:embed="rId5">
            <a:duotone>
              <a:schemeClr val="bg2">
                <a:shade val="45000"/>
                <a:satMod val="135000"/>
              </a:schemeClr>
              <a:prstClr val="white"/>
            </a:duotone>
          </a:blip>
          <a:stretch>
            <a:fillRect/>
          </a:stretch>
        </p:blipFill>
        <p:spPr>
          <a:xfrm>
            <a:off x="4448937" y="1504654"/>
            <a:ext cx="540000" cy="540000"/>
          </a:xfrm>
          <a:prstGeom prst="rect">
            <a:avLst/>
          </a:prstGeom>
        </p:spPr>
      </p:pic>
      <p:pic>
        <p:nvPicPr>
          <p:cNvPr id="4" name="Picture 3">
            <a:extLst>
              <a:ext uri="{FF2B5EF4-FFF2-40B4-BE49-F238E27FC236}">
                <a16:creationId xmlns:a16="http://schemas.microsoft.com/office/drawing/2014/main" id="{3D1665DF-3F01-B6ED-0996-108622441893}"/>
              </a:ext>
            </a:extLst>
          </p:cNvPr>
          <p:cNvPicPr>
            <a:picLocks noChangeAspect="1"/>
          </p:cNvPicPr>
          <p:nvPr/>
        </p:nvPicPr>
        <p:blipFill>
          <a:blip r:embed="rId6">
            <a:duotone>
              <a:schemeClr val="bg2">
                <a:shade val="45000"/>
                <a:satMod val="135000"/>
              </a:schemeClr>
              <a:prstClr val="white"/>
            </a:duotone>
          </a:blip>
          <a:stretch>
            <a:fillRect/>
          </a:stretch>
        </p:blipFill>
        <p:spPr>
          <a:xfrm>
            <a:off x="6499310" y="1536832"/>
            <a:ext cx="540000" cy="540000"/>
          </a:xfrm>
          <a:prstGeom prst="rect">
            <a:avLst/>
          </a:prstGeom>
        </p:spPr>
      </p:pic>
      <p:pic>
        <p:nvPicPr>
          <p:cNvPr id="5" name="Picture 4">
            <a:extLst>
              <a:ext uri="{FF2B5EF4-FFF2-40B4-BE49-F238E27FC236}">
                <a16:creationId xmlns:a16="http://schemas.microsoft.com/office/drawing/2014/main" id="{918559C6-5002-6EC1-5AA9-32A75CF7736E}"/>
              </a:ext>
            </a:extLst>
          </p:cNvPr>
          <p:cNvPicPr>
            <a:picLocks noChangeAspect="1"/>
          </p:cNvPicPr>
          <p:nvPr/>
        </p:nvPicPr>
        <p:blipFill>
          <a:blip r:embed="rId7">
            <a:duotone>
              <a:schemeClr val="bg2">
                <a:shade val="45000"/>
                <a:satMod val="135000"/>
              </a:schemeClr>
              <a:prstClr val="white"/>
            </a:duotone>
          </a:blip>
          <a:stretch>
            <a:fillRect/>
          </a:stretch>
        </p:blipFill>
        <p:spPr>
          <a:xfrm>
            <a:off x="2366273" y="1526272"/>
            <a:ext cx="540000" cy="540000"/>
          </a:xfrm>
          <a:prstGeom prst="rect">
            <a:avLst/>
          </a:prstGeom>
        </p:spPr>
      </p:pic>
      <p:sp>
        <p:nvSpPr>
          <p:cNvPr id="6" name="Google Shape;317;p20">
            <a:hlinkClick r:id="rId3" action="ppaction://hlinksldjump"/>
            <a:extLst>
              <a:ext uri="{FF2B5EF4-FFF2-40B4-BE49-F238E27FC236}">
                <a16:creationId xmlns:a16="http://schemas.microsoft.com/office/drawing/2014/main" id="{6EB7E432-5266-F98D-0BA1-1151BDB1270E}"/>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8" name="Google Shape;324;p20">
            <a:hlinkClick r:id="rId8" action="ppaction://hlinksldjump"/>
            <a:extLst>
              <a:ext uri="{FF2B5EF4-FFF2-40B4-BE49-F238E27FC236}">
                <a16:creationId xmlns:a16="http://schemas.microsoft.com/office/drawing/2014/main" id="{72801DFE-9933-4E7D-178A-E4B4CF3A6C15}"/>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2689331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fade">
                                      <p:cBhvr>
                                        <p:cTn id="40" dur="1000"/>
                                        <p:tgtEl>
                                          <p:spTgt spid="5"/>
                                        </p:tgtEl>
                                      </p:cBhvr>
                                    </p:animEffect>
                                    <p:anim calcmode="lin" valueType="num">
                                      <p:cBhvr>
                                        <p:cTn id="41" dur="1000" fill="hold"/>
                                        <p:tgtEl>
                                          <p:spTgt spid="5"/>
                                        </p:tgtEl>
                                        <p:attrNameLst>
                                          <p:attrName>ppt_x</p:attrName>
                                        </p:attrNameLst>
                                      </p:cBhvr>
                                      <p:tavLst>
                                        <p:tav tm="0">
                                          <p:val>
                                            <p:strVal val="#ppt_x"/>
                                          </p:val>
                                        </p:tav>
                                        <p:tav tm="100000">
                                          <p:val>
                                            <p:strVal val="#ppt_x"/>
                                          </p:val>
                                        </p:tav>
                                      </p:tavLst>
                                    </p:anim>
                                    <p:anim calcmode="lin" valueType="num">
                                      <p:cBhvr>
                                        <p:cTn id="42" dur="1000" fill="hold"/>
                                        <p:tgtEl>
                                          <p:spTgt spid="5"/>
                                        </p:tgtEl>
                                        <p:attrNameLst>
                                          <p:attrName>ppt_y</p:attrName>
                                        </p:attrNameLst>
                                      </p:cBhvr>
                                      <p:tavLst>
                                        <p:tav tm="0">
                                          <p:val>
                                            <p:strVal val="#ppt_y+.1"/>
                                          </p:val>
                                        </p:tav>
                                        <p:tav tm="100000">
                                          <p:val>
                                            <p:strVal val="#ppt_y"/>
                                          </p:val>
                                        </p:tav>
                                      </p:tavLst>
                                    </p:anim>
                                  </p:childTnLst>
                                </p:cTn>
                              </p:par>
                            </p:childTnLst>
                          </p:cTn>
                        </p:par>
                        <p:par>
                          <p:cTn id="43" fill="hold">
                            <p:stCondLst>
                              <p:cond delay="4050"/>
                            </p:stCondLst>
                            <p:childTnLst>
                              <p:par>
                                <p:cTn id="44" presetID="42" presetClass="entr" presetSubtype="0" fill="hold" grpId="0" nodeType="afterEffect">
                                  <p:stCondLst>
                                    <p:cond delay="0"/>
                                  </p:stCondLst>
                                  <p:childTnLst>
                                    <p:set>
                                      <p:cBhvr>
                                        <p:cTn id="45" dur="1" fill="hold">
                                          <p:stCondLst>
                                            <p:cond delay="0"/>
                                          </p:stCondLst>
                                        </p:cTn>
                                        <p:tgtEl>
                                          <p:spTgt spid="148"/>
                                        </p:tgtEl>
                                        <p:attrNameLst>
                                          <p:attrName>style.visibility</p:attrName>
                                        </p:attrNameLst>
                                      </p:cBhvr>
                                      <p:to>
                                        <p:strVal val="visible"/>
                                      </p:to>
                                    </p:set>
                                    <p:animEffect transition="in" filter="fade">
                                      <p:cBhvr>
                                        <p:cTn id="46" dur="1000"/>
                                        <p:tgtEl>
                                          <p:spTgt spid="148"/>
                                        </p:tgtEl>
                                      </p:cBhvr>
                                    </p:animEffect>
                                    <p:anim calcmode="lin" valueType="num">
                                      <p:cBhvr>
                                        <p:cTn id="47" dur="1000" fill="hold"/>
                                        <p:tgtEl>
                                          <p:spTgt spid="148"/>
                                        </p:tgtEl>
                                        <p:attrNameLst>
                                          <p:attrName>ppt_x</p:attrName>
                                        </p:attrNameLst>
                                      </p:cBhvr>
                                      <p:tavLst>
                                        <p:tav tm="0">
                                          <p:val>
                                            <p:strVal val="#ppt_x"/>
                                          </p:val>
                                        </p:tav>
                                        <p:tav tm="100000">
                                          <p:val>
                                            <p:strVal val="#ppt_x"/>
                                          </p:val>
                                        </p:tav>
                                      </p:tavLst>
                                    </p:anim>
                                    <p:anim calcmode="lin" valueType="num">
                                      <p:cBhvr>
                                        <p:cTn id="48" dur="1000" fill="hold"/>
                                        <p:tgtEl>
                                          <p:spTgt spid="148"/>
                                        </p:tgtEl>
                                        <p:attrNameLst>
                                          <p:attrName>ppt_y</p:attrName>
                                        </p:attrNameLst>
                                      </p:cBhvr>
                                      <p:tavLst>
                                        <p:tav tm="0">
                                          <p:val>
                                            <p:strVal val="#ppt_y+.1"/>
                                          </p:val>
                                        </p:tav>
                                        <p:tav tm="100000">
                                          <p:val>
                                            <p:strVal val="#ppt_y"/>
                                          </p:val>
                                        </p:tav>
                                      </p:tavLst>
                                    </p:anim>
                                  </p:childTnLst>
                                </p:cTn>
                              </p:par>
                            </p:childTnLst>
                          </p:cTn>
                        </p:par>
                        <p:par>
                          <p:cTn id="49" fill="hold">
                            <p:stCondLst>
                              <p:cond delay="5050"/>
                            </p:stCondLst>
                            <p:childTnLst>
                              <p:par>
                                <p:cTn id="50" presetID="42" presetClass="entr" presetSubtype="0" fill="hold" nodeType="afterEffect">
                                  <p:stCondLst>
                                    <p:cond delay="0"/>
                                  </p:stCondLst>
                                  <p:childTnLst>
                                    <p:set>
                                      <p:cBhvr>
                                        <p:cTn id="51" dur="1" fill="hold">
                                          <p:stCondLst>
                                            <p:cond delay="0"/>
                                          </p:stCondLst>
                                        </p:cTn>
                                        <p:tgtEl>
                                          <p:spTgt spid="9"/>
                                        </p:tgtEl>
                                        <p:attrNameLst>
                                          <p:attrName>style.visibility</p:attrName>
                                        </p:attrNameLst>
                                      </p:cBhvr>
                                      <p:to>
                                        <p:strVal val="visible"/>
                                      </p:to>
                                    </p:set>
                                    <p:animEffect transition="in" filter="fade">
                                      <p:cBhvr>
                                        <p:cTn id="52" dur="1000"/>
                                        <p:tgtEl>
                                          <p:spTgt spid="9"/>
                                        </p:tgtEl>
                                      </p:cBhvr>
                                    </p:animEffect>
                                    <p:anim calcmode="lin" valueType="num">
                                      <p:cBhvr>
                                        <p:cTn id="53" dur="1000" fill="hold"/>
                                        <p:tgtEl>
                                          <p:spTgt spid="9"/>
                                        </p:tgtEl>
                                        <p:attrNameLst>
                                          <p:attrName>ppt_x</p:attrName>
                                        </p:attrNameLst>
                                      </p:cBhvr>
                                      <p:tavLst>
                                        <p:tav tm="0">
                                          <p:val>
                                            <p:strVal val="#ppt_x"/>
                                          </p:val>
                                        </p:tav>
                                        <p:tav tm="100000">
                                          <p:val>
                                            <p:strVal val="#ppt_x"/>
                                          </p:val>
                                        </p:tav>
                                      </p:tavLst>
                                    </p:anim>
                                    <p:anim calcmode="lin" valueType="num">
                                      <p:cBhvr>
                                        <p:cTn id="54" dur="1000" fill="hold"/>
                                        <p:tgtEl>
                                          <p:spTgt spid="9"/>
                                        </p:tgtEl>
                                        <p:attrNameLst>
                                          <p:attrName>ppt_y</p:attrName>
                                        </p:attrNameLst>
                                      </p:cBhvr>
                                      <p:tavLst>
                                        <p:tav tm="0">
                                          <p:val>
                                            <p:strVal val="#ppt_y+.1"/>
                                          </p:val>
                                        </p:tav>
                                        <p:tav tm="100000">
                                          <p:val>
                                            <p:strVal val="#ppt_y"/>
                                          </p:val>
                                        </p:tav>
                                      </p:tavLst>
                                    </p:anim>
                                  </p:childTnLst>
                                </p:cTn>
                              </p:par>
                            </p:childTnLst>
                          </p:cTn>
                        </p:par>
                        <p:par>
                          <p:cTn id="55" fill="hold">
                            <p:stCondLst>
                              <p:cond delay="6050"/>
                            </p:stCondLst>
                            <p:childTnLst>
                              <p:par>
                                <p:cTn id="56" presetID="42" presetClass="entr" presetSubtype="0" fill="hold" grpId="0" nodeType="afterEffect">
                                  <p:stCondLst>
                                    <p:cond delay="0"/>
                                  </p:stCondLst>
                                  <p:childTnLst>
                                    <p:set>
                                      <p:cBhvr>
                                        <p:cTn id="57" dur="1" fill="hold">
                                          <p:stCondLst>
                                            <p:cond delay="0"/>
                                          </p:stCondLst>
                                        </p:cTn>
                                        <p:tgtEl>
                                          <p:spTgt spid="202"/>
                                        </p:tgtEl>
                                        <p:attrNameLst>
                                          <p:attrName>style.visibility</p:attrName>
                                        </p:attrNameLst>
                                      </p:cBhvr>
                                      <p:to>
                                        <p:strVal val="visible"/>
                                      </p:to>
                                    </p:set>
                                    <p:animEffect transition="in" filter="fade">
                                      <p:cBhvr>
                                        <p:cTn id="58" dur="1000"/>
                                        <p:tgtEl>
                                          <p:spTgt spid="202"/>
                                        </p:tgtEl>
                                      </p:cBhvr>
                                    </p:animEffect>
                                    <p:anim calcmode="lin" valueType="num">
                                      <p:cBhvr>
                                        <p:cTn id="59" dur="1000" fill="hold"/>
                                        <p:tgtEl>
                                          <p:spTgt spid="202"/>
                                        </p:tgtEl>
                                        <p:attrNameLst>
                                          <p:attrName>ppt_x</p:attrName>
                                        </p:attrNameLst>
                                      </p:cBhvr>
                                      <p:tavLst>
                                        <p:tav tm="0">
                                          <p:val>
                                            <p:strVal val="#ppt_x"/>
                                          </p:val>
                                        </p:tav>
                                        <p:tav tm="100000">
                                          <p:val>
                                            <p:strVal val="#ppt_x"/>
                                          </p:val>
                                        </p:tav>
                                      </p:tavLst>
                                    </p:anim>
                                    <p:anim calcmode="lin" valueType="num">
                                      <p:cBhvr>
                                        <p:cTn id="60" dur="1000" fill="hold"/>
                                        <p:tgtEl>
                                          <p:spTgt spid="202"/>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3"/>
                                        </p:tgtEl>
                                        <p:attrNameLst>
                                          <p:attrName>style.visibility</p:attrName>
                                        </p:attrNameLst>
                                      </p:cBhvr>
                                      <p:to>
                                        <p:strVal val="visible"/>
                                      </p:to>
                                    </p:set>
                                    <p:animEffect transition="in" filter="fade">
                                      <p:cBhvr>
                                        <p:cTn id="63" dur="1000"/>
                                        <p:tgtEl>
                                          <p:spTgt spid="3"/>
                                        </p:tgtEl>
                                      </p:cBhvr>
                                    </p:animEffect>
                                    <p:anim calcmode="lin" valueType="num">
                                      <p:cBhvr>
                                        <p:cTn id="64" dur="1000" fill="hold"/>
                                        <p:tgtEl>
                                          <p:spTgt spid="3"/>
                                        </p:tgtEl>
                                        <p:attrNameLst>
                                          <p:attrName>ppt_x</p:attrName>
                                        </p:attrNameLst>
                                      </p:cBhvr>
                                      <p:tavLst>
                                        <p:tav tm="0">
                                          <p:val>
                                            <p:strVal val="#ppt_x"/>
                                          </p:val>
                                        </p:tav>
                                        <p:tav tm="100000">
                                          <p:val>
                                            <p:strVal val="#ppt_x"/>
                                          </p:val>
                                        </p:tav>
                                      </p:tavLst>
                                    </p:anim>
                                    <p:anim calcmode="lin" valueType="num">
                                      <p:cBhvr>
                                        <p:cTn id="65" dur="1000" fill="hold"/>
                                        <p:tgtEl>
                                          <p:spTgt spid="3"/>
                                        </p:tgtEl>
                                        <p:attrNameLst>
                                          <p:attrName>ppt_y</p:attrName>
                                        </p:attrNameLst>
                                      </p:cBhvr>
                                      <p:tavLst>
                                        <p:tav tm="0">
                                          <p:val>
                                            <p:strVal val="#ppt_y+.1"/>
                                          </p:val>
                                        </p:tav>
                                        <p:tav tm="100000">
                                          <p:val>
                                            <p:strVal val="#ppt_y"/>
                                          </p:val>
                                        </p:tav>
                                      </p:tavLst>
                                    </p:anim>
                                  </p:childTnLst>
                                </p:cTn>
                              </p:par>
                            </p:childTnLst>
                          </p:cTn>
                        </p:par>
                        <p:par>
                          <p:cTn id="66" fill="hold">
                            <p:stCondLst>
                              <p:cond delay="7050"/>
                            </p:stCondLst>
                            <p:childTnLst>
                              <p:par>
                                <p:cTn id="67" presetID="42" presetClass="entr" presetSubtype="0" fill="hold"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fade">
                                      <p:cBhvr>
                                        <p:cTn id="69" dur="1000"/>
                                        <p:tgtEl>
                                          <p:spTgt spid="16"/>
                                        </p:tgtEl>
                                      </p:cBhvr>
                                    </p:animEffect>
                                    <p:anim calcmode="lin" valueType="num">
                                      <p:cBhvr>
                                        <p:cTn id="70" dur="1000" fill="hold"/>
                                        <p:tgtEl>
                                          <p:spTgt spid="16"/>
                                        </p:tgtEl>
                                        <p:attrNameLst>
                                          <p:attrName>ppt_x</p:attrName>
                                        </p:attrNameLst>
                                      </p:cBhvr>
                                      <p:tavLst>
                                        <p:tav tm="0">
                                          <p:val>
                                            <p:strVal val="#ppt_x"/>
                                          </p:val>
                                        </p:tav>
                                        <p:tav tm="100000">
                                          <p:val>
                                            <p:strVal val="#ppt_x"/>
                                          </p:val>
                                        </p:tav>
                                      </p:tavLst>
                                    </p:anim>
                                    <p:anim calcmode="lin" valueType="num">
                                      <p:cBhvr>
                                        <p:cTn id="71" dur="1000" fill="hold"/>
                                        <p:tgtEl>
                                          <p:spTgt spid="16"/>
                                        </p:tgtEl>
                                        <p:attrNameLst>
                                          <p:attrName>ppt_y</p:attrName>
                                        </p:attrNameLst>
                                      </p:cBhvr>
                                      <p:tavLst>
                                        <p:tav tm="0">
                                          <p:val>
                                            <p:strVal val="#ppt_y+.1"/>
                                          </p:val>
                                        </p:tav>
                                        <p:tav tm="100000">
                                          <p:val>
                                            <p:strVal val="#ppt_y"/>
                                          </p:val>
                                        </p:tav>
                                      </p:tavLst>
                                    </p:anim>
                                  </p:childTnLst>
                                </p:cTn>
                              </p:par>
                            </p:childTnLst>
                          </p:cTn>
                        </p:par>
                        <p:par>
                          <p:cTn id="72" fill="hold">
                            <p:stCondLst>
                              <p:cond delay="8050"/>
                            </p:stCondLst>
                            <p:childTnLst>
                              <p:par>
                                <p:cTn id="73" presetID="42" presetClass="entr" presetSubtype="0" fill="hold" grpId="0" nodeType="afterEffect">
                                  <p:stCondLst>
                                    <p:cond delay="0"/>
                                  </p:stCondLst>
                                  <p:childTnLst>
                                    <p:set>
                                      <p:cBhvr>
                                        <p:cTn id="74" dur="1" fill="hold">
                                          <p:stCondLst>
                                            <p:cond delay="0"/>
                                          </p:stCondLst>
                                        </p:cTn>
                                        <p:tgtEl>
                                          <p:spTgt spid="138"/>
                                        </p:tgtEl>
                                        <p:attrNameLst>
                                          <p:attrName>style.visibility</p:attrName>
                                        </p:attrNameLst>
                                      </p:cBhvr>
                                      <p:to>
                                        <p:strVal val="visible"/>
                                      </p:to>
                                    </p:set>
                                    <p:animEffect transition="in" filter="fade">
                                      <p:cBhvr>
                                        <p:cTn id="75" dur="1000"/>
                                        <p:tgtEl>
                                          <p:spTgt spid="138"/>
                                        </p:tgtEl>
                                      </p:cBhvr>
                                    </p:animEffect>
                                    <p:anim calcmode="lin" valueType="num">
                                      <p:cBhvr>
                                        <p:cTn id="76" dur="1000" fill="hold"/>
                                        <p:tgtEl>
                                          <p:spTgt spid="138"/>
                                        </p:tgtEl>
                                        <p:attrNameLst>
                                          <p:attrName>ppt_x</p:attrName>
                                        </p:attrNameLst>
                                      </p:cBhvr>
                                      <p:tavLst>
                                        <p:tav tm="0">
                                          <p:val>
                                            <p:strVal val="#ppt_x"/>
                                          </p:val>
                                        </p:tav>
                                        <p:tav tm="100000">
                                          <p:val>
                                            <p:strVal val="#ppt_x"/>
                                          </p:val>
                                        </p:tav>
                                      </p:tavLst>
                                    </p:anim>
                                    <p:anim calcmode="lin" valueType="num">
                                      <p:cBhvr>
                                        <p:cTn id="77" dur="1000" fill="hold"/>
                                        <p:tgtEl>
                                          <p:spTgt spid="138"/>
                                        </p:tgtEl>
                                        <p:attrNameLst>
                                          <p:attrName>ppt_y</p:attrName>
                                        </p:attrNameLst>
                                      </p:cBhvr>
                                      <p:tavLst>
                                        <p:tav tm="0">
                                          <p:val>
                                            <p:strVal val="#ppt_y+.1"/>
                                          </p:val>
                                        </p:tav>
                                        <p:tav tm="100000">
                                          <p:val>
                                            <p:strVal val="#ppt_y"/>
                                          </p:val>
                                        </p:tav>
                                      </p:tavLst>
                                    </p:anim>
                                  </p:childTnLst>
                                </p:cTn>
                              </p:par>
                              <p:par>
                                <p:cTn id="78" presetID="42" presetClass="entr" presetSubtype="0" fill="hold" nodeType="withEffect">
                                  <p:stCondLst>
                                    <p:cond delay="0"/>
                                  </p:stCondLst>
                                  <p:childTnLst>
                                    <p:set>
                                      <p:cBhvr>
                                        <p:cTn id="79" dur="1" fill="hold">
                                          <p:stCondLst>
                                            <p:cond delay="0"/>
                                          </p:stCondLst>
                                        </p:cTn>
                                        <p:tgtEl>
                                          <p:spTgt spid="4"/>
                                        </p:tgtEl>
                                        <p:attrNameLst>
                                          <p:attrName>style.visibility</p:attrName>
                                        </p:attrNameLst>
                                      </p:cBhvr>
                                      <p:to>
                                        <p:strVal val="visible"/>
                                      </p:to>
                                    </p:set>
                                    <p:animEffect transition="in" filter="fade">
                                      <p:cBhvr>
                                        <p:cTn id="80" dur="1000"/>
                                        <p:tgtEl>
                                          <p:spTgt spid="4"/>
                                        </p:tgtEl>
                                      </p:cBhvr>
                                    </p:animEffect>
                                    <p:anim calcmode="lin" valueType="num">
                                      <p:cBhvr>
                                        <p:cTn id="81" dur="1000" fill="hold"/>
                                        <p:tgtEl>
                                          <p:spTgt spid="4"/>
                                        </p:tgtEl>
                                        <p:attrNameLst>
                                          <p:attrName>ppt_x</p:attrName>
                                        </p:attrNameLst>
                                      </p:cBhvr>
                                      <p:tavLst>
                                        <p:tav tm="0">
                                          <p:val>
                                            <p:strVal val="#ppt_x"/>
                                          </p:val>
                                        </p:tav>
                                        <p:tav tm="100000">
                                          <p:val>
                                            <p:strVal val="#ppt_x"/>
                                          </p:val>
                                        </p:tav>
                                      </p:tavLst>
                                    </p:anim>
                                    <p:anim calcmode="lin" valueType="num">
                                      <p:cBhvr>
                                        <p:cTn id="8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38" grpId="0" animBg="1"/>
      <p:bldP spid="148" grpId="0" animBg="1"/>
      <p:bldP spid="20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060458" y="230661"/>
            <a:ext cx="2767878"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2"/>
                </a:solidFill>
                <a:cs typeface="IRAN Sans" panose="020B0400000000000000" pitchFamily="34" charset="-78"/>
              </a:rPr>
              <a:t>انواع جوش در کارهای ساختمانی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35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 name="Group 1">
            <a:extLst>
              <a:ext uri="{FF2B5EF4-FFF2-40B4-BE49-F238E27FC236}">
                <a16:creationId xmlns:a16="http://schemas.microsoft.com/office/drawing/2014/main" id="{D76841C3-4BE6-1169-C6A8-97ADC5CEAE75}"/>
              </a:ext>
            </a:extLst>
          </p:cNvPr>
          <p:cNvGrpSpPr/>
          <p:nvPr/>
        </p:nvGrpSpPr>
        <p:grpSpPr>
          <a:xfrm>
            <a:off x="775333" y="2435022"/>
            <a:ext cx="7723537" cy="1117170"/>
            <a:chOff x="775333" y="2435022"/>
            <a:chExt cx="7723537" cy="1117170"/>
          </a:xfrm>
        </p:grpSpPr>
        <p:grpSp>
          <p:nvGrpSpPr>
            <p:cNvPr id="3" name="Group 2">
              <a:extLst>
                <a:ext uri="{FF2B5EF4-FFF2-40B4-BE49-F238E27FC236}">
                  <a16:creationId xmlns:a16="http://schemas.microsoft.com/office/drawing/2014/main" id="{D4E9995F-62FC-754A-01B6-7F1BCC1B3514}"/>
                </a:ext>
              </a:extLst>
            </p:cNvPr>
            <p:cNvGrpSpPr/>
            <p:nvPr/>
          </p:nvGrpSpPr>
          <p:grpSpPr>
            <a:xfrm>
              <a:off x="775333" y="2435022"/>
              <a:ext cx="7723537" cy="1117170"/>
              <a:chOff x="775333" y="2435022"/>
              <a:chExt cx="7723537" cy="1117170"/>
            </a:xfrm>
          </p:grpSpPr>
          <p:grpSp>
            <p:nvGrpSpPr>
              <p:cNvPr id="8" name="Google Shape;214;p18">
                <a:extLst>
                  <a:ext uri="{FF2B5EF4-FFF2-40B4-BE49-F238E27FC236}">
                    <a16:creationId xmlns:a16="http://schemas.microsoft.com/office/drawing/2014/main" id="{BB60B590-36EC-EBD5-10CE-DFEBDD9918A1}"/>
                  </a:ext>
                </a:extLst>
              </p:cNvPr>
              <p:cNvGrpSpPr/>
              <p:nvPr/>
            </p:nvGrpSpPr>
            <p:grpSpPr>
              <a:xfrm>
                <a:off x="775333" y="2517529"/>
                <a:ext cx="3861900" cy="1034663"/>
                <a:chOff x="710278" y="3026412"/>
                <a:chExt cx="3861900" cy="1034663"/>
              </a:xfrm>
            </p:grpSpPr>
            <p:sp>
              <p:nvSpPr>
                <p:cNvPr id="14" name="Google Shape;215;p18">
                  <a:extLst>
                    <a:ext uri="{FF2B5EF4-FFF2-40B4-BE49-F238E27FC236}">
                      <a16:creationId xmlns:a16="http://schemas.microsoft.com/office/drawing/2014/main" id="{F5D93FE3-752F-5E53-4884-4B008C0CB680}"/>
                    </a:ext>
                  </a:extLst>
                </p:cNvPr>
                <p:cNvSpPr/>
                <p:nvPr/>
              </p:nvSpPr>
              <p:spPr>
                <a:xfrm>
                  <a:off x="710278" y="3589175"/>
                  <a:ext cx="3861900" cy="471900"/>
                </a:xfrm>
                <a:prstGeom prst="roundRect">
                  <a:avLst>
                    <a:gd name="adj" fmla="val 50000"/>
                  </a:avLst>
                </a:prstGeom>
                <a:solidFill>
                  <a:schemeClr val="accent2"/>
                </a:solidFill>
                <a:ln>
                  <a:noFill/>
                </a:ln>
              </p:spPr>
              <p:txBody>
                <a:bodyPr spcFirstLastPara="1" wrap="square" lIns="640075" tIns="91425" rIns="91425" bIns="91425" anchor="ctr" anchorCtr="0">
                  <a:noAutofit/>
                </a:bodyPr>
                <a:lstStyle/>
                <a:p>
                  <a:pPr lvl="0">
                    <a:buClr>
                      <a:schemeClr val="dk1"/>
                    </a:buClr>
                    <a:buSzPts val="1100"/>
                  </a:pPr>
                  <a:r>
                    <a:rPr lang="fa-IR" sz="2000" b="1" dirty="0">
                      <a:solidFill>
                        <a:srgbClr val="FFFFFF"/>
                      </a:solidFill>
                      <a:latin typeface="Fira Sans Extra Condensed Medium"/>
                      <a:ea typeface="Fira Sans Extra Condensed Medium"/>
                      <a:cs typeface="IRAN Sans" panose="020B0400000000000000" pitchFamily="34" charset="-78"/>
                      <a:sym typeface="Fira Sans Extra Condensed Medium"/>
                    </a:rPr>
                    <a:t>جوش شیاری با نفوذ نسبی</a:t>
                  </a:r>
                  <a:endParaRPr lang="fa-IR" sz="2400" b="1" dirty="0">
                    <a:solidFill>
                      <a:srgbClr val="FFFFFF"/>
                    </a:solidFill>
                  </a:endParaRPr>
                </a:p>
              </p:txBody>
            </p:sp>
            <p:sp>
              <p:nvSpPr>
                <p:cNvPr id="15" name="Google Shape;216;p18">
                  <a:extLst>
                    <a:ext uri="{FF2B5EF4-FFF2-40B4-BE49-F238E27FC236}">
                      <a16:creationId xmlns:a16="http://schemas.microsoft.com/office/drawing/2014/main" id="{A45A7B8C-273C-FF62-1666-B0F72EAA3BAE}"/>
                    </a:ext>
                  </a:extLst>
                </p:cNvPr>
                <p:cNvSpPr txBox="1"/>
                <p:nvPr/>
              </p:nvSpPr>
              <p:spPr>
                <a:xfrm>
                  <a:off x="1067858" y="3026412"/>
                  <a:ext cx="2265000" cy="664173"/>
                </a:xfrm>
                <a:prstGeom prst="rect">
                  <a:avLst/>
                </a:prstGeom>
                <a:noFill/>
                <a:ln>
                  <a:noFill/>
                </a:ln>
              </p:spPr>
              <p:style>
                <a:lnRef idx="2">
                  <a:schemeClr val="accent2"/>
                </a:lnRef>
                <a:fillRef idx="1">
                  <a:schemeClr val="lt1"/>
                </a:fillRef>
                <a:effectRef idx="0">
                  <a:schemeClr val="accent2"/>
                </a:effectRef>
                <a:fontRef idx="minor">
                  <a:schemeClr val="dk1"/>
                </a:fontRef>
              </p:style>
              <p:txBody>
                <a:bodyPr spcFirstLastPara="1" wrap="square" lIns="91425" tIns="91425" rIns="91425" bIns="91425" anchor="ctr" anchorCtr="0">
                  <a:noAutofit/>
                </a:bodyPr>
                <a:lstStyle/>
                <a:p>
                  <a:pPr algn="ctr"/>
                  <a:r>
                    <a:rPr lang="fa-IR" sz="1200" dirty="0">
                      <a:solidFill>
                        <a:schemeClr val="tx1">
                          <a:lumMod val="95000"/>
                          <a:lumOff val="5000"/>
                        </a:schemeClr>
                      </a:solidFill>
                      <a:cs typeface="IRAN Sans" panose="020B0400000000000000" pitchFamily="34" charset="-78"/>
                    </a:rPr>
                    <a:t>جوشی است که در شیار ایجاد شده بین دو لبه اجرا میشود ولی تا ریشه نفوذ نمیکند.</a:t>
                  </a:r>
                  <a:endParaRPr lang="fa-IR" sz="1200" dirty="0">
                    <a:solidFill>
                      <a:schemeClr val="dk1"/>
                    </a:solidFill>
                    <a:latin typeface="Roboto"/>
                    <a:ea typeface="Roboto"/>
                    <a:cs typeface="IRAN Sans" panose="020B0400000000000000" pitchFamily="34" charset="-78"/>
                    <a:sym typeface="Roboto"/>
                  </a:endParaRPr>
                </a:p>
              </p:txBody>
            </p:sp>
            <p:sp>
              <p:nvSpPr>
                <p:cNvPr id="16" name="Google Shape;217;p18">
                  <a:extLst>
                    <a:ext uri="{FF2B5EF4-FFF2-40B4-BE49-F238E27FC236}">
                      <a16:creationId xmlns:a16="http://schemas.microsoft.com/office/drawing/2014/main" id="{33C66CBD-19B7-09B8-052E-368A444BBAB1}"/>
                    </a:ext>
                  </a:extLst>
                </p:cNvPr>
                <p:cNvSpPr/>
                <p:nvPr/>
              </p:nvSpPr>
              <p:spPr>
                <a:xfrm>
                  <a:off x="773579" y="3634937"/>
                  <a:ext cx="380400" cy="3804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 name="Google Shape;222;p18">
                <a:extLst>
                  <a:ext uri="{FF2B5EF4-FFF2-40B4-BE49-F238E27FC236}">
                    <a16:creationId xmlns:a16="http://schemas.microsoft.com/office/drawing/2014/main" id="{A043408D-2E5B-7691-E2F6-B7FC80704917}"/>
                  </a:ext>
                </a:extLst>
              </p:cNvPr>
              <p:cNvGrpSpPr/>
              <p:nvPr/>
            </p:nvGrpSpPr>
            <p:grpSpPr>
              <a:xfrm>
                <a:off x="4636970" y="2435022"/>
                <a:ext cx="3861900" cy="1117170"/>
                <a:chOff x="4571915" y="2943905"/>
                <a:chExt cx="3861900" cy="1117170"/>
              </a:xfrm>
            </p:grpSpPr>
            <p:sp>
              <p:nvSpPr>
                <p:cNvPr id="11" name="Google Shape;223;p18">
                  <a:extLst>
                    <a:ext uri="{FF2B5EF4-FFF2-40B4-BE49-F238E27FC236}">
                      <a16:creationId xmlns:a16="http://schemas.microsoft.com/office/drawing/2014/main" id="{2DEE597C-AE55-3B1C-2EB2-26E161D47F1A}"/>
                    </a:ext>
                  </a:extLst>
                </p:cNvPr>
                <p:cNvSpPr/>
                <p:nvPr/>
              </p:nvSpPr>
              <p:spPr>
                <a:xfrm>
                  <a:off x="4571915" y="3589175"/>
                  <a:ext cx="3861900" cy="471900"/>
                </a:xfrm>
                <a:prstGeom prst="roundRect">
                  <a:avLst>
                    <a:gd name="adj" fmla="val 50000"/>
                  </a:avLst>
                </a:prstGeom>
                <a:solidFill>
                  <a:schemeClr val="accent4"/>
                </a:solidFill>
                <a:ln>
                  <a:noFill/>
                </a:ln>
              </p:spPr>
              <p:txBody>
                <a:bodyPr spcFirstLastPara="1" wrap="square" lIns="91425" tIns="91425" rIns="548625" bIns="91425" anchor="ctr" anchorCtr="0">
                  <a:noAutofit/>
                </a:bodyPr>
                <a:lstStyle/>
                <a:p>
                  <a:pPr lvl="0" algn="r">
                    <a:buClr>
                      <a:schemeClr val="dk1"/>
                    </a:buClr>
                    <a:buSzPts val="1100"/>
                  </a:pPr>
                  <a:r>
                    <a:rPr lang="fa-IR" sz="2000" b="1" dirty="0">
                      <a:solidFill>
                        <a:srgbClr val="FFFFFF"/>
                      </a:solidFill>
                      <a:latin typeface="Fira Sans Extra Condensed Medium"/>
                      <a:ea typeface="Fira Sans Extra Condensed Medium"/>
                      <a:cs typeface="IRAN Sans" panose="020B0400000000000000" pitchFamily="34" charset="-78"/>
                      <a:sym typeface="Fira Sans Extra Condensed Medium"/>
                    </a:rPr>
                    <a:t>جوش انگشتانه و کام</a:t>
                  </a:r>
                  <a:endParaRPr lang="fa-IR" sz="2400" b="1" dirty="0">
                    <a:solidFill>
                      <a:srgbClr val="FFFFFF"/>
                    </a:solidFill>
                  </a:endParaRPr>
                </a:p>
              </p:txBody>
            </p:sp>
            <p:sp>
              <p:nvSpPr>
                <p:cNvPr id="12" name="Google Shape;224;p18">
                  <a:extLst>
                    <a:ext uri="{FF2B5EF4-FFF2-40B4-BE49-F238E27FC236}">
                      <a16:creationId xmlns:a16="http://schemas.microsoft.com/office/drawing/2014/main" id="{7F4378B7-3565-305B-94D6-9DC2CCFDAD86}"/>
                    </a:ext>
                  </a:extLst>
                </p:cNvPr>
                <p:cNvSpPr txBox="1"/>
                <p:nvPr/>
              </p:nvSpPr>
              <p:spPr>
                <a:xfrm>
                  <a:off x="5914675" y="2943905"/>
                  <a:ext cx="2519063" cy="534900"/>
                </a:xfrm>
                <a:prstGeom prst="rect">
                  <a:avLst/>
                </a:prstGeom>
                <a:noFill/>
                <a:ln>
                  <a:noFill/>
                </a:ln>
              </p:spPr>
              <p:txBody>
                <a:bodyPr spcFirstLastPara="1" wrap="square" lIns="91425" tIns="91425" rIns="91425" bIns="91425" anchor="ctr" anchorCtr="0">
                  <a:noAutofit/>
                </a:bodyPr>
                <a:lstStyle/>
                <a:p>
                  <a:pPr lvl="0" algn="justLow"/>
                  <a:r>
                    <a:rPr lang="fa-IR" sz="1200" dirty="0">
                      <a:solidFill>
                        <a:schemeClr val="tx1">
                          <a:lumMod val="95000"/>
                          <a:lumOff val="5000"/>
                        </a:schemeClr>
                      </a:solidFill>
                      <a:cs typeface="IRAN Sans" panose="020B0400000000000000" pitchFamily="34" charset="-78"/>
                    </a:rPr>
                    <a:t>جوشی  که درون شیار اجرا و مقطع شیار را پر میکند را کام و جوشی که درون سوراخ دایره اجرا و مقطع انرا و می‌کند را کام گویند</a:t>
                  </a:r>
                  <a:endParaRPr lang="fa-IR" sz="1200" dirty="0">
                    <a:solidFill>
                      <a:schemeClr val="dk1"/>
                    </a:solidFill>
                    <a:latin typeface="Roboto"/>
                    <a:ea typeface="Roboto"/>
                    <a:cs typeface="IRAN Sans" panose="020B0400000000000000" pitchFamily="34" charset="-78"/>
                    <a:sym typeface="Roboto"/>
                  </a:endParaRPr>
                </a:p>
              </p:txBody>
            </p:sp>
            <p:sp>
              <p:nvSpPr>
                <p:cNvPr id="13" name="Google Shape;225;p18">
                  <a:extLst>
                    <a:ext uri="{FF2B5EF4-FFF2-40B4-BE49-F238E27FC236}">
                      <a16:creationId xmlns:a16="http://schemas.microsoft.com/office/drawing/2014/main" id="{55F9317D-59DE-2416-A5CC-909550C74AA1}"/>
                    </a:ext>
                  </a:extLst>
                </p:cNvPr>
                <p:cNvSpPr/>
                <p:nvPr/>
              </p:nvSpPr>
              <p:spPr>
                <a:xfrm>
                  <a:off x="7990183" y="3634821"/>
                  <a:ext cx="380400" cy="3804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 name="Google Shape;229;p18">
              <a:extLst>
                <a:ext uri="{FF2B5EF4-FFF2-40B4-BE49-F238E27FC236}">
                  <a16:creationId xmlns:a16="http://schemas.microsoft.com/office/drawing/2014/main" id="{23907E2D-3A0C-D531-2DFF-2CA377D6C5B3}"/>
                </a:ext>
              </a:extLst>
            </p:cNvPr>
            <p:cNvGrpSpPr/>
            <p:nvPr/>
          </p:nvGrpSpPr>
          <p:grpSpPr>
            <a:xfrm>
              <a:off x="8139990" y="3210567"/>
              <a:ext cx="210895" cy="210895"/>
              <a:chOff x="5660400" y="238125"/>
              <a:chExt cx="481825" cy="481825"/>
            </a:xfrm>
          </p:grpSpPr>
          <p:sp>
            <p:nvSpPr>
              <p:cNvPr id="6" name="Google Shape;230;p18">
                <a:extLst>
                  <a:ext uri="{FF2B5EF4-FFF2-40B4-BE49-F238E27FC236}">
                    <a16:creationId xmlns:a16="http://schemas.microsoft.com/office/drawing/2014/main" id="{832D43AB-CC25-E82B-BF51-CF8BC8ED234C}"/>
                  </a:ext>
                </a:extLst>
              </p:cNvPr>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 name="Google Shape;231;p18">
                <a:extLst>
                  <a:ext uri="{FF2B5EF4-FFF2-40B4-BE49-F238E27FC236}">
                    <a16:creationId xmlns:a16="http://schemas.microsoft.com/office/drawing/2014/main" id="{0481FE1D-7D04-8D7B-FBB0-FD7C550AEABC}"/>
                  </a:ext>
                </a:extLst>
              </p:cNvPr>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 name="Google Shape;232;p18">
              <a:extLst>
                <a:ext uri="{FF2B5EF4-FFF2-40B4-BE49-F238E27FC236}">
                  <a16:creationId xmlns:a16="http://schemas.microsoft.com/office/drawing/2014/main" id="{F9BB464F-FB57-4174-E0DD-7A13808DAD2D}"/>
                </a:ext>
              </a:extLst>
            </p:cNvPr>
            <p:cNvSpPr/>
            <p:nvPr/>
          </p:nvSpPr>
          <p:spPr>
            <a:xfrm>
              <a:off x="934903" y="3210698"/>
              <a:ext cx="187861" cy="210895"/>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7" name="Group 16">
            <a:extLst>
              <a:ext uri="{FF2B5EF4-FFF2-40B4-BE49-F238E27FC236}">
                <a16:creationId xmlns:a16="http://schemas.microsoft.com/office/drawing/2014/main" id="{7997651B-524F-F9FD-9881-D4FF2E247219}"/>
              </a:ext>
            </a:extLst>
          </p:cNvPr>
          <p:cNvGrpSpPr/>
          <p:nvPr/>
        </p:nvGrpSpPr>
        <p:grpSpPr>
          <a:xfrm>
            <a:off x="774059" y="943392"/>
            <a:ext cx="7724983" cy="1394518"/>
            <a:chOff x="774059" y="943392"/>
            <a:chExt cx="7724983" cy="1394518"/>
          </a:xfrm>
        </p:grpSpPr>
        <p:grpSp>
          <p:nvGrpSpPr>
            <p:cNvPr id="18" name="Group 17">
              <a:extLst>
                <a:ext uri="{FF2B5EF4-FFF2-40B4-BE49-F238E27FC236}">
                  <a16:creationId xmlns:a16="http://schemas.microsoft.com/office/drawing/2014/main" id="{44FB3ED2-662D-8CCE-2B72-4447561356FD}"/>
                </a:ext>
              </a:extLst>
            </p:cNvPr>
            <p:cNvGrpSpPr/>
            <p:nvPr/>
          </p:nvGrpSpPr>
          <p:grpSpPr>
            <a:xfrm>
              <a:off x="774059" y="943392"/>
              <a:ext cx="7724983" cy="1394518"/>
              <a:chOff x="774059" y="943392"/>
              <a:chExt cx="7724983" cy="1394518"/>
            </a:xfrm>
          </p:grpSpPr>
          <p:grpSp>
            <p:nvGrpSpPr>
              <p:cNvPr id="31" name="Google Shape;210;p18">
                <a:extLst>
                  <a:ext uri="{FF2B5EF4-FFF2-40B4-BE49-F238E27FC236}">
                    <a16:creationId xmlns:a16="http://schemas.microsoft.com/office/drawing/2014/main" id="{AB39A94A-F2B4-045F-E50E-60AB80F7CA87}"/>
                  </a:ext>
                </a:extLst>
              </p:cNvPr>
              <p:cNvGrpSpPr/>
              <p:nvPr/>
            </p:nvGrpSpPr>
            <p:grpSpPr>
              <a:xfrm>
                <a:off x="774059" y="943392"/>
                <a:ext cx="3863171" cy="1394518"/>
                <a:chOff x="709004" y="1452275"/>
                <a:chExt cx="3863171" cy="1394518"/>
              </a:xfrm>
            </p:grpSpPr>
            <p:sp>
              <p:nvSpPr>
                <p:cNvPr id="68" name="Google Shape;211;p18">
                  <a:extLst>
                    <a:ext uri="{FF2B5EF4-FFF2-40B4-BE49-F238E27FC236}">
                      <a16:creationId xmlns:a16="http://schemas.microsoft.com/office/drawing/2014/main" id="{5770B2B4-CE7C-EAA7-A793-ECC4D061E830}"/>
                    </a:ext>
                  </a:extLst>
                </p:cNvPr>
                <p:cNvSpPr/>
                <p:nvPr/>
              </p:nvSpPr>
              <p:spPr>
                <a:xfrm>
                  <a:off x="710275" y="1452275"/>
                  <a:ext cx="3861900" cy="471900"/>
                </a:xfrm>
                <a:prstGeom prst="roundRect">
                  <a:avLst>
                    <a:gd name="adj" fmla="val 50000"/>
                  </a:avLst>
                </a:prstGeom>
                <a:solidFill>
                  <a:schemeClr val="accent1"/>
                </a:solidFill>
                <a:ln>
                  <a:noFill/>
                </a:ln>
              </p:spPr>
              <p:txBody>
                <a:bodyPr spcFirstLastPara="1" wrap="square" lIns="640075" tIns="91425" rIns="91425" bIns="91425" anchor="ctr" anchorCtr="0">
                  <a:noAutofit/>
                </a:bodyPr>
                <a:lstStyle/>
                <a:p>
                  <a:pPr lvl="0">
                    <a:buClr>
                      <a:schemeClr val="dk1"/>
                    </a:buClr>
                    <a:buSzPts val="1100"/>
                  </a:pPr>
                  <a:r>
                    <a:rPr lang="fa-IR" sz="2000" b="1" dirty="0">
                      <a:solidFill>
                        <a:srgbClr val="FFFFFF"/>
                      </a:solidFill>
                      <a:latin typeface="Fira Sans Extra Condensed Medium"/>
                      <a:ea typeface="Fira Sans Extra Condensed Medium"/>
                      <a:cs typeface="IRAN Sans" panose="020B0400000000000000" pitchFamily="34" charset="-78"/>
                      <a:sym typeface="Fira Sans Extra Condensed Medium"/>
                    </a:rPr>
                    <a:t>جوش گوشه</a:t>
                  </a:r>
                  <a:endParaRPr lang="fa-IR" sz="2400" b="1" dirty="0">
                    <a:solidFill>
                      <a:srgbClr val="FFFFFF"/>
                    </a:solidFill>
                  </a:endParaRPr>
                </a:p>
              </p:txBody>
            </p:sp>
            <p:sp>
              <p:nvSpPr>
                <p:cNvPr id="69" name="Google Shape;212;p18">
                  <a:extLst>
                    <a:ext uri="{FF2B5EF4-FFF2-40B4-BE49-F238E27FC236}">
                      <a16:creationId xmlns:a16="http://schemas.microsoft.com/office/drawing/2014/main" id="{D302C947-772D-4501-3B85-8ABD79334D19}"/>
                    </a:ext>
                  </a:extLst>
                </p:cNvPr>
                <p:cNvSpPr txBox="1"/>
                <p:nvPr/>
              </p:nvSpPr>
              <p:spPr>
                <a:xfrm>
                  <a:off x="709004" y="1887205"/>
                  <a:ext cx="2685300" cy="95958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spcFirstLastPara="1" wrap="square" lIns="91425" tIns="91425" rIns="91425" bIns="91425" anchor="ctr" anchorCtr="0">
                  <a:noAutofit/>
                </a:bodyPr>
                <a:lstStyle/>
                <a:p>
                  <a:pPr lvl="0" algn="ctr"/>
                  <a:r>
                    <a:rPr lang="fa-IR" sz="1200" dirty="0">
                      <a:solidFill>
                        <a:schemeClr val="tx1">
                          <a:lumMod val="95000"/>
                          <a:lumOff val="5000"/>
                        </a:schemeClr>
                      </a:solidFill>
                      <a:cs typeface="IRAN Sans" panose="020B0400000000000000" pitchFamily="34" charset="-78"/>
                    </a:rPr>
                    <a:t>جوشی است که در فصل مشترک دو سطح که باهم زاویه ای می سازند اجرا میشود.جوش گوشه در امتداد یک خط به طور پیوسته یا منقطع و یا در محیط سوراخ یا شکاف قابل اجراست.</a:t>
                  </a:r>
                  <a:endParaRPr lang="fa-IR" sz="1200" dirty="0">
                    <a:solidFill>
                      <a:schemeClr val="dk1"/>
                    </a:solidFill>
                    <a:latin typeface="Roboto"/>
                    <a:ea typeface="Roboto"/>
                    <a:cs typeface="IRAN Sans" panose="020B0400000000000000" pitchFamily="34" charset="-78"/>
                    <a:sym typeface="Roboto"/>
                  </a:endParaRPr>
                </a:p>
              </p:txBody>
            </p:sp>
            <p:sp>
              <p:nvSpPr>
                <p:cNvPr id="70" name="Google Shape;213;p18">
                  <a:extLst>
                    <a:ext uri="{FF2B5EF4-FFF2-40B4-BE49-F238E27FC236}">
                      <a16:creationId xmlns:a16="http://schemas.microsoft.com/office/drawing/2014/main" id="{CD391BF8-7327-082E-17C7-1D9B740D2928}"/>
                    </a:ext>
                  </a:extLst>
                </p:cNvPr>
                <p:cNvSpPr/>
                <p:nvPr/>
              </p:nvSpPr>
              <p:spPr>
                <a:xfrm>
                  <a:off x="773579" y="1498027"/>
                  <a:ext cx="380400" cy="380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 name="Google Shape;218;p18">
                <a:extLst>
                  <a:ext uri="{FF2B5EF4-FFF2-40B4-BE49-F238E27FC236}">
                    <a16:creationId xmlns:a16="http://schemas.microsoft.com/office/drawing/2014/main" id="{22DCCB45-376C-1664-83BA-8F48D2DC1E19}"/>
                  </a:ext>
                </a:extLst>
              </p:cNvPr>
              <p:cNvGrpSpPr/>
              <p:nvPr/>
            </p:nvGrpSpPr>
            <p:grpSpPr>
              <a:xfrm>
                <a:off x="4637142" y="943392"/>
                <a:ext cx="3861900" cy="1099762"/>
                <a:chOff x="4572087" y="1452275"/>
                <a:chExt cx="3861900" cy="1099762"/>
              </a:xfrm>
            </p:grpSpPr>
            <p:sp>
              <p:nvSpPr>
                <p:cNvPr id="65" name="Google Shape;219;p18">
                  <a:extLst>
                    <a:ext uri="{FF2B5EF4-FFF2-40B4-BE49-F238E27FC236}">
                      <a16:creationId xmlns:a16="http://schemas.microsoft.com/office/drawing/2014/main" id="{896DB4A4-7973-861A-A406-F79FDE2A11A6}"/>
                    </a:ext>
                  </a:extLst>
                </p:cNvPr>
                <p:cNvSpPr/>
                <p:nvPr/>
              </p:nvSpPr>
              <p:spPr>
                <a:xfrm>
                  <a:off x="4572087" y="1452275"/>
                  <a:ext cx="3861900" cy="471900"/>
                </a:xfrm>
                <a:prstGeom prst="roundRect">
                  <a:avLst>
                    <a:gd name="adj" fmla="val 50000"/>
                  </a:avLst>
                </a:prstGeom>
                <a:solidFill>
                  <a:schemeClr val="accent3"/>
                </a:solidFill>
                <a:ln>
                  <a:noFill/>
                </a:ln>
              </p:spPr>
              <p:txBody>
                <a:bodyPr spcFirstLastPara="1" wrap="square" lIns="91425" tIns="91425" rIns="548625" bIns="91425" anchor="ctr" anchorCtr="0">
                  <a:noAutofit/>
                </a:bodyPr>
                <a:lstStyle/>
                <a:p>
                  <a:pPr marL="0" lvl="0" indent="0" algn="r" rtl="0">
                    <a:spcBef>
                      <a:spcPts val="0"/>
                    </a:spcBef>
                    <a:spcAft>
                      <a:spcPts val="0"/>
                    </a:spcAft>
                    <a:buClr>
                      <a:schemeClr val="dk1"/>
                    </a:buClr>
                    <a:buSzPts val="1100"/>
                    <a:buFont typeface="Arial"/>
                    <a:buNone/>
                  </a:pPr>
                  <a:r>
                    <a:rPr lang="fa-IR" sz="2000" b="1" dirty="0">
                      <a:solidFill>
                        <a:srgbClr val="FFFFFF"/>
                      </a:solidFill>
                      <a:latin typeface="Fira Sans Extra Condensed Medium"/>
                      <a:ea typeface="Fira Sans Extra Condensed Medium"/>
                      <a:cs typeface="IRAN Sans" panose="020B0400000000000000" pitchFamily="34" charset="-78"/>
                      <a:sym typeface="Fira Sans Extra Condensed Medium"/>
                    </a:rPr>
                    <a:t>جوش شیاری با نفوذ کامل</a:t>
                  </a:r>
                  <a:endParaRPr sz="1800" b="1" dirty="0">
                    <a:solidFill>
                      <a:srgbClr val="FFFFFF"/>
                    </a:solidFill>
                  </a:endParaRPr>
                </a:p>
              </p:txBody>
            </p:sp>
            <p:sp>
              <p:nvSpPr>
                <p:cNvPr id="66" name="Google Shape;220;p18">
                  <a:extLst>
                    <a:ext uri="{FF2B5EF4-FFF2-40B4-BE49-F238E27FC236}">
                      <a16:creationId xmlns:a16="http://schemas.microsoft.com/office/drawing/2014/main" id="{22C1AECC-4BF9-3465-5BB1-5DC70A970D67}"/>
                    </a:ext>
                  </a:extLst>
                </p:cNvPr>
                <p:cNvSpPr txBox="1"/>
                <p:nvPr/>
              </p:nvSpPr>
              <p:spPr>
                <a:xfrm>
                  <a:off x="5850963" y="2017137"/>
                  <a:ext cx="2265000" cy="534900"/>
                </a:xfrm>
                <a:prstGeom prst="rect">
                  <a:avLst/>
                </a:prstGeom>
                <a:noFill/>
                <a:ln>
                  <a:noFill/>
                </a:ln>
              </p:spPr>
              <p:txBody>
                <a:bodyPr spcFirstLastPara="1" wrap="square" lIns="91425" tIns="91425" rIns="91425" bIns="91425" anchor="ctr" anchorCtr="0">
                  <a:noAutofit/>
                </a:bodyPr>
                <a:lstStyle/>
                <a:p>
                  <a:pPr lvl="0" algn="ctr"/>
                  <a:r>
                    <a:rPr lang="fa-IR" sz="1200" dirty="0">
                      <a:solidFill>
                        <a:schemeClr val="tx1">
                          <a:lumMod val="95000"/>
                          <a:lumOff val="5000"/>
                        </a:schemeClr>
                      </a:solidFill>
                      <a:cs typeface="IRAN Sans" panose="020B0400000000000000" pitchFamily="34" charset="-78"/>
                    </a:rPr>
                    <a:t>جوشی است که در شیار ایجاد شده بین دو لبه اجرا میشود و انرا از ریشه تا سطح ورق پر میکند.</a:t>
                  </a:r>
                  <a:endParaRPr lang="fa-IR" sz="1200" dirty="0">
                    <a:solidFill>
                      <a:schemeClr val="dk1"/>
                    </a:solidFill>
                    <a:latin typeface="Roboto"/>
                    <a:ea typeface="Roboto"/>
                    <a:cs typeface="IRAN Sans" panose="020B0400000000000000" pitchFamily="34" charset="-78"/>
                    <a:sym typeface="Roboto"/>
                  </a:endParaRPr>
                </a:p>
              </p:txBody>
            </p:sp>
            <p:sp>
              <p:nvSpPr>
                <p:cNvPr id="67" name="Google Shape;221;p18">
                  <a:extLst>
                    <a:ext uri="{FF2B5EF4-FFF2-40B4-BE49-F238E27FC236}">
                      <a16:creationId xmlns:a16="http://schemas.microsoft.com/office/drawing/2014/main" id="{41279C4F-554A-9B32-BFDB-73671E44F848}"/>
                    </a:ext>
                  </a:extLst>
                </p:cNvPr>
                <p:cNvSpPr/>
                <p:nvPr/>
              </p:nvSpPr>
              <p:spPr>
                <a:xfrm>
                  <a:off x="7990183" y="1498014"/>
                  <a:ext cx="380400" cy="3804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 name="Google Shape;226;p18">
              <a:extLst>
                <a:ext uri="{FF2B5EF4-FFF2-40B4-BE49-F238E27FC236}">
                  <a16:creationId xmlns:a16="http://schemas.microsoft.com/office/drawing/2014/main" id="{5D926F8E-4AED-DA43-9342-A4989090230E}"/>
                </a:ext>
              </a:extLst>
            </p:cNvPr>
            <p:cNvGrpSpPr/>
            <p:nvPr/>
          </p:nvGrpSpPr>
          <p:grpSpPr>
            <a:xfrm>
              <a:off x="8139990" y="1073829"/>
              <a:ext cx="210895" cy="210895"/>
              <a:chOff x="5049725" y="249400"/>
              <a:chExt cx="481825" cy="481825"/>
            </a:xfrm>
          </p:grpSpPr>
          <p:sp>
            <p:nvSpPr>
              <p:cNvPr id="29" name="Google Shape;227;p18">
                <a:extLst>
                  <a:ext uri="{FF2B5EF4-FFF2-40B4-BE49-F238E27FC236}">
                    <a16:creationId xmlns:a16="http://schemas.microsoft.com/office/drawing/2014/main" id="{109CAC16-A64B-2A4A-9A2E-9CAAB8E1311D}"/>
                  </a:ext>
                </a:extLst>
              </p:cNvPr>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0" name="Google Shape;228;p18">
                <a:extLst>
                  <a:ext uri="{FF2B5EF4-FFF2-40B4-BE49-F238E27FC236}">
                    <a16:creationId xmlns:a16="http://schemas.microsoft.com/office/drawing/2014/main" id="{EBDAA58E-9FB9-0D3C-4A4E-14A5D69AAED8}"/>
                  </a:ext>
                </a:extLst>
              </p:cNvPr>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0" name="Google Shape;233;p18">
              <a:extLst>
                <a:ext uri="{FF2B5EF4-FFF2-40B4-BE49-F238E27FC236}">
                  <a16:creationId xmlns:a16="http://schemas.microsoft.com/office/drawing/2014/main" id="{263921F6-331F-EB6C-6B69-4B7DB91BC73C}"/>
                </a:ext>
              </a:extLst>
            </p:cNvPr>
            <p:cNvGrpSpPr/>
            <p:nvPr/>
          </p:nvGrpSpPr>
          <p:grpSpPr>
            <a:xfrm>
              <a:off x="936151" y="1073855"/>
              <a:ext cx="185366" cy="210895"/>
              <a:chOff x="6264525" y="842250"/>
              <a:chExt cx="423500" cy="481825"/>
            </a:xfrm>
          </p:grpSpPr>
          <p:sp>
            <p:nvSpPr>
              <p:cNvPr id="22" name="Google Shape;234;p18">
                <a:extLst>
                  <a:ext uri="{FF2B5EF4-FFF2-40B4-BE49-F238E27FC236}">
                    <a16:creationId xmlns:a16="http://schemas.microsoft.com/office/drawing/2014/main" id="{362300B4-79F2-56B8-3ED2-D2F67AA38CBA}"/>
                  </a:ext>
                </a:extLst>
              </p:cNvPr>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 name="Google Shape;235;p18">
                <a:extLst>
                  <a:ext uri="{FF2B5EF4-FFF2-40B4-BE49-F238E27FC236}">
                    <a16:creationId xmlns:a16="http://schemas.microsoft.com/office/drawing/2014/main" id="{475518F9-118D-9948-1F32-78A0B2908246}"/>
                  </a:ext>
                </a:extLst>
              </p:cNvPr>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 name="Google Shape;236;p18">
                <a:extLst>
                  <a:ext uri="{FF2B5EF4-FFF2-40B4-BE49-F238E27FC236}">
                    <a16:creationId xmlns:a16="http://schemas.microsoft.com/office/drawing/2014/main" id="{91516BE5-0B4E-D725-9A73-84ABA60B13C8}"/>
                  </a:ext>
                </a:extLst>
              </p:cNvPr>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5" name="Google Shape;237;p18">
                <a:extLst>
                  <a:ext uri="{FF2B5EF4-FFF2-40B4-BE49-F238E27FC236}">
                    <a16:creationId xmlns:a16="http://schemas.microsoft.com/office/drawing/2014/main" id="{B96695ED-6214-B78B-0F2B-C38873002FCC}"/>
                  </a:ext>
                </a:extLst>
              </p:cNvPr>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 name="Google Shape;238;p18">
                <a:extLst>
                  <a:ext uri="{FF2B5EF4-FFF2-40B4-BE49-F238E27FC236}">
                    <a16:creationId xmlns:a16="http://schemas.microsoft.com/office/drawing/2014/main" id="{B7266899-9F55-21CC-B92A-78C6C20BC92D}"/>
                  </a:ext>
                </a:extLst>
              </p:cNvPr>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 name="Google Shape;239;p18">
                <a:extLst>
                  <a:ext uri="{FF2B5EF4-FFF2-40B4-BE49-F238E27FC236}">
                    <a16:creationId xmlns:a16="http://schemas.microsoft.com/office/drawing/2014/main" id="{6FB40D21-398D-2D3B-934B-FA5BA80A07CE}"/>
                  </a:ext>
                </a:extLst>
              </p:cNvPr>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 name="Google Shape;240;p18">
                <a:extLst>
                  <a:ext uri="{FF2B5EF4-FFF2-40B4-BE49-F238E27FC236}">
                    <a16:creationId xmlns:a16="http://schemas.microsoft.com/office/drawing/2014/main" id="{14B1ABF5-5345-112A-8387-2DCF220C7B68}"/>
                  </a:ext>
                </a:extLst>
              </p:cNvPr>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1" name="Google Shape;246;p18">
              <a:extLst>
                <a:ext uri="{FF2B5EF4-FFF2-40B4-BE49-F238E27FC236}">
                  <a16:creationId xmlns:a16="http://schemas.microsoft.com/office/drawing/2014/main" id="{70C3126C-B5A2-9F9B-A3E2-7E5F53E868B9}"/>
                </a:ext>
              </a:extLst>
            </p:cNvPr>
            <p:cNvSpPr/>
            <p:nvPr/>
          </p:nvSpPr>
          <p:spPr>
            <a:xfrm>
              <a:off x="4467447" y="1592815"/>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1" name="Google Shape;242;p18">
            <a:extLst>
              <a:ext uri="{FF2B5EF4-FFF2-40B4-BE49-F238E27FC236}">
                <a16:creationId xmlns:a16="http://schemas.microsoft.com/office/drawing/2014/main" id="{1DF621D1-7D7E-921C-02C7-B6D33A9C6AF6}"/>
              </a:ext>
            </a:extLst>
          </p:cNvPr>
          <p:cNvGrpSpPr/>
          <p:nvPr/>
        </p:nvGrpSpPr>
        <p:grpSpPr>
          <a:xfrm>
            <a:off x="3294430" y="905092"/>
            <a:ext cx="2685300" cy="2685300"/>
            <a:chOff x="3229375" y="1413975"/>
            <a:chExt cx="2685300" cy="2685300"/>
          </a:xfrm>
        </p:grpSpPr>
        <p:sp>
          <p:nvSpPr>
            <p:cNvPr id="72" name="Google Shape;243;p18">
              <a:extLst>
                <a:ext uri="{FF2B5EF4-FFF2-40B4-BE49-F238E27FC236}">
                  <a16:creationId xmlns:a16="http://schemas.microsoft.com/office/drawing/2014/main" id="{97F983B1-1D57-AE9F-6EA0-3E424996800C}"/>
                </a:ext>
              </a:extLst>
            </p:cNvPr>
            <p:cNvSpPr/>
            <p:nvPr/>
          </p:nvSpPr>
          <p:spPr>
            <a:xfrm>
              <a:off x="3229375" y="1413975"/>
              <a:ext cx="2685300" cy="26853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244;p18">
              <a:extLst>
                <a:ext uri="{FF2B5EF4-FFF2-40B4-BE49-F238E27FC236}">
                  <a16:creationId xmlns:a16="http://schemas.microsoft.com/office/drawing/2014/main" id="{29CE144D-3FD2-1C97-073C-BE206868EB93}"/>
                </a:ext>
              </a:extLst>
            </p:cNvPr>
            <p:cNvSpPr/>
            <p:nvPr/>
          </p:nvSpPr>
          <p:spPr>
            <a:xfrm>
              <a:off x="3479913" y="1664525"/>
              <a:ext cx="2184300" cy="2184300"/>
            </a:xfrm>
            <a:prstGeom prst="ellipse">
              <a:avLst/>
            </a:prstGeom>
            <a:noFill/>
            <a:ln w="9525" cap="flat" cmpd="sng">
              <a:solidFill>
                <a:srgbClr val="0000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245;p18">
              <a:extLst>
                <a:ext uri="{FF2B5EF4-FFF2-40B4-BE49-F238E27FC236}">
                  <a16:creationId xmlns:a16="http://schemas.microsoft.com/office/drawing/2014/main" id="{11ED164B-5ABB-EC57-6D0D-942FE9BCE260}"/>
                </a:ext>
              </a:extLst>
            </p:cNvPr>
            <p:cNvSpPr/>
            <p:nvPr/>
          </p:nvSpPr>
          <p:spPr>
            <a:xfrm>
              <a:off x="3666663" y="1851275"/>
              <a:ext cx="1810800" cy="1810800"/>
            </a:xfrm>
            <a:prstGeom prst="ellipse">
              <a:avLst/>
            </a:prstGeom>
            <a:solidFill>
              <a:schemeClr val="accent6"/>
            </a:solidFill>
            <a:ln>
              <a:noFill/>
            </a:ln>
          </p:spPr>
          <p:txBody>
            <a:bodyPr spcFirstLastPara="1" wrap="square" lIns="91425" tIns="457200" rIns="91425" bIns="91425" anchor="ctr" anchorCtr="0">
              <a:noAutofit/>
            </a:bodyPr>
            <a:lstStyle/>
            <a:p>
              <a:pPr lvl="0" algn="ctr">
                <a:buClr>
                  <a:schemeClr val="dk1"/>
                </a:buClr>
                <a:buSzPts val="1100"/>
              </a:pPr>
              <a:r>
                <a:rPr lang="fa-IR" sz="2400" dirty="0">
                  <a:solidFill>
                    <a:srgbClr val="FFFFFF"/>
                  </a:solidFill>
                  <a:latin typeface="Roboto"/>
                  <a:ea typeface="Roboto"/>
                  <a:cs typeface="IRAN Sans" panose="020B0400000000000000" pitchFamily="34" charset="-78"/>
                  <a:sym typeface="Roboto"/>
                </a:rPr>
                <a:t>انواع جوش</a:t>
              </a:r>
            </a:p>
          </p:txBody>
        </p:sp>
      </p:grpSp>
      <p:sp>
        <p:nvSpPr>
          <p:cNvPr id="76" name="Google Shape;317;p20">
            <a:hlinkClick r:id="rId3" action="ppaction://hlinksldjump"/>
            <a:extLst>
              <a:ext uri="{FF2B5EF4-FFF2-40B4-BE49-F238E27FC236}">
                <a16:creationId xmlns:a16="http://schemas.microsoft.com/office/drawing/2014/main" id="{BDB86BF9-C03C-B8AB-6460-B716AC1039CE}"/>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77" name="Google Shape;317;p20">
            <a:hlinkClick r:id="rId3" action="ppaction://hlinksldjump"/>
            <a:extLst>
              <a:ext uri="{FF2B5EF4-FFF2-40B4-BE49-F238E27FC236}">
                <a16:creationId xmlns:a16="http://schemas.microsoft.com/office/drawing/2014/main" id="{F2A71DBE-69C8-0D59-7110-6F0941AE5D07}"/>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79" name="Google Shape;317;p20">
            <a:hlinkClick r:id="rId3" action="ppaction://hlinksldjump"/>
            <a:extLst>
              <a:ext uri="{FF2B5EF4-FFF2-40B4-BE49-F238E27FC236}">
                <a16:creationId xmlns:a16="http://schemas.microsoft.com/office/drawing/2014/main" id="{73E69122-BB55-E6D6-40DE-7BEBA8A990E0}"/>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80" name="Google Shape;317;p20">
            <a:hlinkClick r:id="rId3" action="ppaction://hlinksldjump"/>
            <a:extLst>
              <a:ext uri="{FF2B5EF4-FFF2-40B4-BE49-F238E27FC236}">
                <a16:creationId xmlns:a16="http://schemas.microsoft.com/office/drawing/2014/main" id="{5E202823-934A-DAB9-701E-17F3D9264D6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81" name="Google Shape;324;p20">
            <a:hlinkClick r:id="rId4" action="ppaction://hlinksldjump"/>
            <a:extLst>
              <a:ext uri="{FF2B5EF4-FFF2-40B4-BE49-F238E27FC236}">
                <a16:creationId xmlns:a16="http://schemas.microsoft.com/office/drawing/2014/main" id="{DD86B9EF-7F4F-A111-2DBB-8A0B1536606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4799989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6" presetClass="entr" presetSubtype="32" fill="hold" nodeType="afterEffect">
                                  <p:stCondLst>
                                    <p:cond delay="0"/>
                                  </p:stCondLst>
                                  <p:childTnLst>
                                    <p:set>
                                      <p:cBhvr>
                                        <p:cTn id="33" dur="1" fill="hold">
                                          <p:stCondLst>
                                            <p:cond delay="0"/>
                                          </p:stCondLst>
                                        </p:cTn>
                                        <p:tgtEl>
                                          <p:spTgt spid="71"/>
                                        </p:tgtEl>
                                        <p:attrNameLst>
                                          <p:attrName>style.visibility</p:attrName>
                                        </p:attrNameLst>
                                      </p:cBhvr>
                                      <p:to>
                                        <p:strVal val="visible"/>
                                      </p:to>
                                    </p:set>
                                    <p:animEffect transition="in" filter="circle(out)">
                                      <p:cBhvr>
                                        <p:cTn id="34" dur="2000"/>
                                        <p:tgtEl>
                                          <p:spTgt spid="71"/>
                                        </p:tgtEl>
                                      </p:cBhvr>
                                    </p:animEffect>
                                  </p:childTnLst>
                                </p:cTn>
                              </p:par>
                            </p:childTnLst>
                          </p:cTn>
                        </p:par>
                        <p:par>
                          <p:cTn id="35" fill="hold">
                            <p:stCondLst>
                              <p:cond delay="4050"/>
                            </p:stCondLst>
                            <p:childTnLst>
                              <p:par>
                                <p:cTn id="36" presetID="16" presetClass="entr" presetSubtype="37" fill="hold" nodeType="after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barn(outVertical)">
                                      <p:cBhvr>
                                        <p:cTn id="38" dur="2000"/>
                                        <p:tgtEl>
                                          <p:spTgt spid="17"/>
                                        </p:tgtEl>
                                      </p:cBhvr>
                                    </p:animEffect>
                                  </p:childTnLst>
                                </p:cTn>
                              </p:par>
                              <p:par>
                                <p:cTn id="39" presetID="16" presetClass="entr" presetSubtype="37" fill="hold" nodeType="with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barn(outVertical)">
                                      <p:cBhvr>
                                        <p:cTn id="4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060458" y="230661"/>
            <a:ext cx="2767878"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sz="1600" b="1" dirty="0">
                <a:solidFill>
                  <a:schemeClr val="accent2"/>
                </a:solidFill>
                <a:cs typeface="IRAN Sans" panose="020B0400000000000000" pitchFamily="34" charset="-78"/>
              </a:rPr>
              <a:t>انواع جوش در کارهای ساختمانی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36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1FA20B12-35BF-499D-A2DC-46E3DF7E1C05}"/>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3B90910-6655-4682-B7D3-35FC1952200A}"/>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0582EBC2-259B-4D96-8B1B-95EA5F6A329E}"/>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D6A0E3F6-D0DB-48A8-BE40-D36AE26E169D}"/>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7184ABC6-98EB-4D73-91EB-15350983F201}"/>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FF32A6ED-8DA2-4DD4-91CC-CBF99DB1F8B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57AE6263-4C23-4063-8CB1-F5586AF997CD}"/>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13EDF234-2E27-4A83-A9ED-630C1576F0D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5E2AB0D5-5402-4262-8A5F-9F2FAA30EBE1}"/>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E084A446-3081-40A2-858B-93B05907EF4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034B8A80-DB45-4068-B553-102E43BBA11B}"/>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38C2CACB-A35B-45AB-A633-D0B915C8072F}"/>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6674F127-327E-4584-B34E-C3A3CCAAE989}"/>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3CEDB054-EB98-44E0-B1DE-2081AAA00166}"/>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730CFB8C-D49E-42B4-BBA1-63E68B9D9E71}"/>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11F5FC4-D235-4927-B29F-01DAFA8D5F57}"/>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262F5DC5-0C7B-4504-B719-288F7137F89F}"/>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D55B0353-3BAA-42FA-AC3C-69D1242F74C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DE78115A-0871-4205-B876-2B927E31309C}"/>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A6207801-731E-4754-AAFF-1343696EF71C}"/>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05EAD13-AE0F-4AAC-895B-C6E95A2CE79E}"/>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9FC0EDCE-27B7-4D1E-A127-6C71B1291B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5C80F00-6BF2-4DA4-B746-51E995FA76C8}"/>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E41D7A5D-68BB-4A04-AE9D-3126C9CD98A3}"/>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1572432-5B1C-4D21-A869-2E422934D44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A528385B-4032-4FF4-B471-C3163B06B4DD}"/>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51879011-021F-4B0E-9E64-3F05CFA318E4}"/>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2F6E313F-60EB-48C3-88A4-43B6A6885F7B}"/>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381F392A-C8A3-4595-8169-5BD160E5413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2DFE4CDA-C574-41EF-99F6-41A528316B8A}"/>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DF794DB9-6CBE-48CB-804A-1B435EAD6A62}"/>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FC0A68EF-CA4C-44F6-83EE-5DD8ECEE150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9FD60DA8-D49F-420E-BC8C-7947622F9A4B}"/>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4614C56-8849-4CD6-A38B-635EF5791E63}"/>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50B5FF-46C3-4B5F-83CF-6119166594D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C433FCAC-A15B-48FF-AF1A-9CFC1B7AED72}"/>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5434DCA6-4B35-4E8F-A6B3-CF1EEC31BB08}"/>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83057714-0734-47E5-9644-7EA56F3ABD2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361E14F7-C258-4A93-BDC2-69CE7833EB1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F5EB3492-8780-42D4-A7E1-968732D89C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FD8E9268-2458-4A1E-919D-108BA6646CBE}"/>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4CB70403-0013-4F97-BBC7-80FB0874BBD7}"/>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85D6F289-74EA-4598-B3A6-B0112987EB07}"/>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6EEE2A59-C377-43E2-B1AA-B5548F95D6B4}"/>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F615F8EC-4F7F-4FAB-A32C-C37098C72C49}"/>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96BF8F2A-9607-4BA3-A2DF-A983F7A35A8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1AE30A33-ACF8-4784-959E-3E57A4FDFF99}"/>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1EFAF6E7-6B63-4C5C-A768-84C2354E19FF}"/>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77D42995-C955-42BE-A66B-8F7B7D80598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719C85F2-E479-44AF-8513-188CE4611EF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D4D74A2D-1471-475C-B862-2D32F9C17371}"/>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84B3B068-118D-4074-A8A6-CC71DD646F54}"/>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8DE9D5F8-6084-49AF-8F52-B95728E5463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FB37903F-C089-4F79-A51E-2E9083CB8FE6}"/>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F13B47-5DD6-4979-9474-119AA001043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B3E858D4-7D3E-426F-8216-0FFD9EE829CD}"/>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96C2C34A-CA45-4090-B12C-15078E6DD5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146F33A8-18D1-484F-A6AA-7DB9223914B6}"/>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E7ACB7FB-C85C-4C01-9BE6-E1D75BCAA486}"/>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94357A9-7D7B-49C2-9838-8B4A307B892E}"/>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42ADAFC2-216C-4EA8-BD45-16CF58F987F0}"/>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2BA3FD1C-A29E-4748-A792-BC6130682180}"/>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40DACC2A-4E0E-4C48-B109-9AEBE278920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51B18348-3199-41DA-A947-07111700C51D}"/>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64B87F87-9626-4D69-8EDF-E0E47E5E047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6E8C0438-3A58-471C-90CC-2705E96BD24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9C6C4F70-6EF3-4817-9C11-AB56E4DBBFA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00BE84BA-385D-4339-AABF-01089A406B5B}"/>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29282DA3-E3D1-465C-9FEA-8CFA7F3F3D5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8CCDD8C1-5338-4C56-82C6-E29C9E9DC67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777AA8AE-E722-4508-8786-FF4A99AFC2F9}"/>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4BA03057-9C91-462A-A15A-2BFE4CFD169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71A2F9B4-1E00-47E3-828A-BB2B38E0F59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 name="Google Shape;317;p20">
            <a:hlinkClick r:id="rId3" action="ppaction://hlinksldjump"/>
            <a:extLst>
              <a:ext uri="{FF2B5EF4-FFF2-40B4-BE49-F238E27FC236}">
                <a16:creationId xmlns:a16="http://schemas.microsoft.com/office/drawing/2014/main" id="{BDB86BF9-C03C-B8AB-6460-B716AC1039CE}"/>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77" name="Google Shape;317;p20">
            <a:hlinkClick r:id="rId3" action="ppaction://hlinksldjump"/>
            <a:extLst>
              <a:ext uri="{FF2B5EF4-FFF2-40B4-BE49-F238E27FC236}">
                <a16:creationId xmlns:a16="http://schemas.microsoft.com/office/drawing/2014/main" id="{F2A71DBE-69C8-0D59-7110-6F0941AE5D07}"/>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گستره</a:t>
            </a:r>
          </a:p>
        </p:txBody>
      </p:sp>
      <p:sp>
        <p:nvSpPr>
          <p:cNvPr id="79" name="Google Shape;317;p20">
            <a:hlinkClick r:id="rId3" action="ppaction://hlinksldjump"/>
            <a:extLst>
              <a:ext uri="{FF2B5EF4-FFF2-40B4-BE49-F238E27FC236}">
                <a16:creationId xmlns:a16="http://schemas.microsoft.com/office/drawing/2014/main" id="{73E69122-BB55-E6D6-40DE-7BEBA8A990E0}"/>
              </a:ext>
            </a:extLst>
          </p:cNvPr>
          <p:cNvSpPr txBox="1"/>
          <p:nvPr/>
        </p:nvSpPr>
        <p:spPr>
          <a:xfrm>
            <a:off x="4695090" y="473197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فهرست</a:t>
            </a:r>
          </a:p>
        </p:txBody>
      </p:sp>
      <p:sp>
        <p:nvSpPr>
          <p:cNvPr id="80" name="Google Shape;317;p20">
            <a:hlinkClick r:id="rId3" action="ppaction://hlinksldjump"/>
            <a:extLst>
              <a:ext uri="{FF2B5EF4-FFF2-40B4-BE49-F238E27FC236}">
                <a16:creationId xmlns:a16="http://schemas.microsoft.com/office/drawing/2014/main" id="{5E202823-934A-DAB9-701E-17F3D9264D6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مسئولیت‌ها</a:t>
            </a:r>
          </a:p>
        </p:txBody>
      </p:sp>
      <p:sp>
        <p:nvSpPr>
          <p:cNvPr id="81" name="Google Shape;324;p20">
            <a:hlinkClick r:id="rId4" action="ppaction://hlinksldjump"/>
            <a:extLst>
              <a:ext uri="{FF2B5EF4-FFF2-40B4-BE49-F238E27FC236}">
                <a16:creationId xmlns:a16="http://schemas.microsoft.com/office/drawing/2014/main" id="{DD86B9EF-7F4F-A111-2DBB-8A0B1536606D}"/>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 جوش</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pic>
        <p:nvPicPr>
          <p:cNvPr id="84" name="Picture 83">
            <a:extLst>
              <a:ext uri="{FF2B5EF4-FFF2-40B4-BE49-F238E27FC236}">
                <a16:creationId xmlns:a16="http://schemas.microsoft.com/office/drawing/2014/main" id="{1E93E767-211D-F75D-F70E-C21DCB933B84}"/>
              </a:ext>
            </a:extLst>
          </p:cNvPr>
          <p:cNvPicPr>
            <a:picLocks noChangeAspect="1"/>
          </p:cNvPicPr>
          <p:nvPr/>
        </p:nvPicPr>
        <p:blipFill>
          <a:blip r:embed="rId5"/>
          <a:stretch>
            <a:fillRect/>
          </a:stretch>
        </p:blipFill>
        <p:spPr>
          <a:xfrm>
            <a:off x="2555317" y="849765"/>
            <a:ext cx="4457700" cy="2895600"/>
          </a:xfrm>
          <a:prstGeom prst="rect">
            <a:avLst/>
          </a:prstGeom>
          <a:ln>
            <a:noFill/>
          </a:ln>
          <a:effectLst>
            <a:softEdge rad="112500"/>
          </a:effectLst>
        </p:spPr>
      </p:pic>
    </p:spTree>
    <p:extLst>
      <p:ext uri="{BB962C8B-B14F-4D97-AF65-F5344CB8AC3E}">
        <p14:creationId xmlns:p14="http://schemas.microsoft.com/office/powerpoint/2010/main" val="295228874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84"/>
                                        </p:tgtEl>
                                        <p:attrNameLst>
                                          <p:attrName>style.visibility</p:attrName>
                                        </p:attrNameLst>
                                      </p:cBhvr>
                                      <p:to>
                                        <p:strVal val="visible"/>
                                      </p:to>
                                    </p:set>
                                    <p:animEffect transition="in" filter="fade">
                                      <p:cBhvr>
                                        <p:cTn id="33" dur="1000"/>
                                        <p:tgtEl>
                                          <p:spTgt spid="84"/>
                                        </p:tgtEl>
                                      </p:cBhvr>
                                    </p:animEffect>
                                    <p:anim calcmode="lin" valueType="num">
                                      <p:cBhvr>
                                        <p:cTn id="34" dur="1000" fill="hold"/>
                                        <p:tgtEl>
                                          <p:spTgt spid="84"/>
                                        </p:tgtEl>
                                        <p:attrNameLst>
                                          <p:attrName>ppt_x</p:attrName>
                                        </p:attrNameLst>
                                      </p:cBhvr>
                                      <p:tavLst>
                                        <p:tav tm="0">
                                          <p:val>
                                            <p:strVal val="#ppt_x"/>
                                          </p:val>
                                        </p:tav>
                                        <p:tav tm="100000">
                                          <p:val>
                                            <p:strVal val="#ppt_x"/>
                                          </p:val>
                                        </p:tav>
                                      </p:tavLst>
                                    </p:anim>
                                    <p:anim calcmode="lin" valueType="num">
                                      <p:cBhvr>
                                        <p:cTn id="35" dur="10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5103627" y="1992257"/>
            <a:ext cx="3556851"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سیمان پرتلند پوزولانی</a:t>
            </a:r>
            <a:endParaRPr sz="3600" b="1"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622367" y="2370873"/>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289153717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804298" y="230661"/>
            <a:ext cx="102403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تعاریف</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37</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 name="Rectangle: Rounded Corners 8">
            <a:extLst>
              <a:ext uri="{FF2B5EF4-FFF2-40B4-BE49-F238E27FC236}">
                <a16:creationId xmlns:a16="http://schemas.microsoft.com/office/drawing/2014/main" id="{E9C3EDC9-D53E-4254-A651-F6524ABD6F22}"/>
              </a:ext>
            </a:extLst>
          </p:cNvPr>
          <p:cNvSpPr/>
          <p:nvPr/>
        </p:nvSpPr>
        <p:spPr>
          <a:xfrm>
            <a:off x="696487" y="705311"/>
            <a:ext cx="7741701" cy="840643"/>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Low" rtl="1">
              <a:lnSpc>
                <a:spcPct val="150000"/>
              </a:lnSpc>
            </a:pPr>
            <a:r>
              <a:rPr lang="fa-IR" sz="1600" dirty="0">
                <a:solidFill>
                  <a:schemeClr val="tx1">
                    <a:lumMod val="95000"/>
                    <a:lumOff val="5000"/>
                  </a:schemeClr>
                </a:solidFill>
                <a:cs typeface="IRAN Sans" panose="020B0400000000000000" pitchFamily="34" charset="-78"/>
              </a:rPr>
              <a:t>هدف از تدوین این استاندارد تعریف،طبقه بندی و تعیین ویژگی های فیزیکی و شیمیایی انواع سیمان پرتلند پوزولانی است که با استفاده از پوزولانهای طبیعی ساخته میشوند.</a:t>
            </a:r>
          </a:p>
        </p:txBody>
      </p:sp>
      <p:sp>
        <p:nvSpPr>
          <p:cNvPr id="10" name="Rectangle: Rounded Corners 9">
            <a:extLst>
              <a:ext uri="{FF2B5EF4-FFF2-40B4-BE49-F238E27FC236}">
                <a16:creationId xmlns:a16="http://schemas.microsoft.com/office/drawing/2014/main" id="{886FE339-AE4D-47EE-9178-959C58F17A1E}"/>
              </a:ext>
            </a:extLst>
          </p:cNvPr>
          <p:cNvSpPr/>
          <p:nvPr/>
        </p:nvSpPr>
        <p:spPr>
          <a:xfrm>
            <a:off x="703060" y="1685095"/>
            <a:ext cx="7741701" cy="840643"/>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Low" rtl="1">
              <a:lnSpc>
                <a:spcPct val="150000"/>
              </a:lnSpc>
            </a:pPr>
            <a:r>
              <a:rPr lang="fa-IR" sz="1600" b="1" dirty="0">
                <a:solidFill>
                  <a:schemeClr val="tx1">
                    <a:lumMod val="95000"/>
                    <a:lumOff val="5000"/>
                  </a:schemeClr>
                </a:solidFill>
                <a:cs typeface="IRAN Sans" panose="020B0400000000000000" pitchFamily="34" charset="-78"/>
              </a:rPr>
              <a:t>سیمان پرتلند: </a:t>
            </a:r>
            <a:r>
              <a:rPr lang="fa-IR" sz="1600" dirty="0">
                <a:solidFill>
                  <a:schemeClr val="tx1">
                    <a:lumMod val="95000"/>
                    <a:lumOff val="5000"/>
                  </a:schemeClr>
                </a:solidFill>
                <a:cs typeface="IRAN Sans" panose="020B0400000000000000" pitchFamily="34" charset="-78"/>
              </a:rPr>
              <a:t>چسباننده ای ابی است که از پودر نموندن کلینکر سیمان پرتلند با مقدار مناسبی سنگ گچ در اسیاب بدست میاید.</a:t>
            </a:r>
          </a:p>
        </p:txBody>
      </p:sp>
      <p:sp>
        <p:nvSpPr>
          <p:cNvPr id="12" name="Rectangle: Rounded Corners 11">
            <a:extLst>
              <a:ext uri="{FF2B5EF4-FFF2-40B4-BE49-F238E27FC236}">
                <a16:creationId xmlns:a16="http://schemas.microsoft.com/office/drawing/2014/main" id="{B80F90CF-E1D7-4EE7-BBD5-DC76BA72344F}"/>
              </a:ext>
            </a:extLst>
          </p:cNvPr>
          <p:cNvSpPr/>
          <p:nvPr/>
        </p:nvSpPr>
        <p:spPr>
          <a:xfrm>
            <a:off x="703060" y="2631978"/>
            <a:ext cx="7741701" cy="1205383"/>
          </a:xfrm>
          <a:prstGeom prst="roundRect">
            <a:avLst>
              <a:gd name="adj" fmla="val 5978"/>
            </a:avLst>
          </a:prstGeom>
          <a:solidFill>
            <a:schemeClr val="bg1">
              <a:alpha val="90000"/>
            </a:schemeClr>
          </a:solidFill>
          <a:ln>
            <a:solidFill>
              <a:schemeClr val="bg1">
                <a:lumMod val="85000"/>
              </a:schemeClr>
            </a:solidFill>
          </a:ln>
          <a:effectLst>
            <a:outerShdw blurRad="190500" dist="127000" dir="8220000" algn="tr" rotWithShape="0">
              <a:schemeClr val="tx1">
                <a:lumMod val="75000"/>
                <a:lumOff val="25000"/>
                <a:alpha val="10000"/>
              </a:schemeClr>
            </a:outerShdw>
          </a:effectLst>
        </p:spPr>
        <p:txBody>
          <a:bodyPr wrap="square" tIns="0" bIns="10800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Low" rtl="1">
              <a:lnSpc>
                <a:spcPct val="150000"/>
              </a:lnSpc>
            </a:pPr>
            <a:r>
              <a:rPr lang="fa-IR" sz="1600" b="1" dirty="0">
                <a:solidFill>
                  <a:schemeClr val="tx1">
                    <a:lumMod val="95000"/>
                    <a:lumOff val="5000"/>
                  </a:schemeClr>
                </a:solidFill>
                <a:cs typeface="IRAN Sans" panose="020B0400000000000000" pitchFamily="34" charset="-78"/>
              </a:rPr>
              <a:t>پوزولان: </a:t>
            </a:r>
            <a:r>
              <a:rPr lang="fa-IR" sz="1600" dirty="0">
                <a:solidFill>
                  <a:schemeClr val="tx1">
                    <a:lumMod val="95000"/>
                    <a:lumOff val="5000"/>
                  </a:schemeClr>
                </a:solidFill>
                <a:cs typeface="IRAN Sans" panose="020B0400000000000000" pitchFamily="34" charset="-78"/>
              </a:rPr>
              <a:t>ماده ای سیلیسی یا سیلیسی و الومینی داری است که به خودی خود خاصیت چسبانندگی ندارد و یا کمی دارد ولی پودر نرم شده ان در مجاورت رطوبت و دمای معمولی با هیدروکسید کلسیم واکنش شیمیایی داده و ترکیباتی با خواص سیمانی به وجود میاورد.</a:t>
            </a:r>
          </a:p>
        </p:txBody>
      </p:sp>
      <p:sp>
        <p:nvSpPr>
          <p:cNvPr id="13" name="Google Shape;317;p20">
            <a:hlinkClick r:id="rId3" action="ppaction://hlinksldjump"/>
            <a:extLst>
              <a:ext uri="{FF2B5EF4-FFF2-40B4-BE49-F238E27FC236}">
                <a16:creationId xmlns:a16="http://schemas.microsoft.com/office/drawing/2014/main" id="{56A13F7F-5E26-DEF7-091D-300AB489A708}"/>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sp>
        <p:nvSpPr>
          <p:cNvPr id="15" name="Google Shape;317;p20">
            <a:hlinkClick r:id="rId3" action="ppaction://hlinksldjump"/>
            <a:extLst>
              <a:ext uri="{FF2B5EF4-FFF2-40B4-BE49-F238E27FC236}">
                <a16:creationId xmlns:a16="http://schemas.microsoft.com/office/drawing/2014/main" id="{38A460B7-BF78-70B7-84F1-F65EE5D98EF0}"/>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Tree>
    <p:extLst>
      <p:ext uri="{BB962C8B-B14F-4D97-AF65-F5344CB8AC3E}">
        <p14:creationId xmlns:p14="http://schemas.microsoft.com/office/powerpoint/2010/main" val="1621034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103490"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793665" y="230661"/>
            <a:ext cx="1034670"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تعاریف</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38</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4833367" y="1016091"/>
            <a:ext cx="3397406" cy="2284553"/>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کلینکر(به انگلیسی: </a:t>
            </a:r>
            <a:r>
              <a:rPr lang="en-US" sz="1600" dirty="0">
                <a:solidFill>
                  <a:schemeClr val="tx1">
                    <a:lumMod val="95000"/>
                    <a:lumOff val="5000"/>
                  </a:schemeClr>
                </a:solidFill>
                <a:cs typeface="IRAN Sans" panose="020B0400000000000000" pitchFamily="34" charset="-78"/>
              </a:rPr>
              <a:t>Clinker</a:t>
            </a:r>
            <a:r>
              <a:rPr lang="fa-IR" sz="1600" dirty="0">
                <a:solidFill>
                  <a:schemeClr val="tx1">
                    <a:lumMod val="95000"/>
                    <a:lumOff val="5000"/>
                  </a:schemeClr>
                </a:solidFill>
                <a:cs typeface="IRAN Sans" panose="020B0400000000000000" pitchFamily="34" charset="-78"/>
              </a:rPr>
              <a:t>) در تولید سیمان پُرتلَند، دانه‌های حرارت دیده‌ای است، که معمولاً ۳-۲۵ میلی‌متر(قطر) دارند و از حرارت دادن به سنگ آهک و آلومینیوم سیلیکات (خاک رس) در طی مرحله کوره سیمان به وجود می‌آیند.</a:t>
            </a:r>
          </a:p>
        </p:txBody>
      </p:sp>
      <p:sp>
        <p:nvSpPr>
          <p:cNvPr id="9" name="Rectangle: Rounded Corners 8">
            <a:extLst>
              <a:ext uri="{FF2B5EF4-FFF2-40B4-BE49-F238E27FC236}">
                <a16:creationId xmlns:a16="http://schemas.microsoft.com/office/drawing/2014/main" id="{370419BA-14D9-386C-5AA1-8B00BB35CCA9}"/>
              </a:ext>
            </a:extLst>
          </p:cNvPr>
          <p:cNvSpPr/>
          <p:nvPr/>
        </p:nvSpPr>
        <p:spPr>
          <a:xfrm>
            <a:off x="848385" y="1020327"/>
            <a:ext cx="3530333" cy="2284553"/>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سیمان پرتلند پوزولانی: چسباننده ای آبی است که متشکل از مخلوط کامل و یکنواخت سیمان پرتلند و پوزولان که یا با روش پودر کردن همزمان کلینکر سیمان پرتلند و پوزولان و سنگ گچ در آسیاب و یا سایش جداگانه پوزولان و سنگ گچ و اختلاط آن با سیمان پرتلند و ترکیبی از دو روش فوق بدست آید.</a:t>
            </a:r>
          </a:p>
        </p:txBody>
      </p:sp>
      <p:sp>
        <p:nvSpPr>
          <p:cNvPr id="10" name="Google Shape;317;p20">
            <a:hlinkClick r:id="rId3" action="ppaction://hlinksldjump"/>
            <a:extLst>
              <a:ext uri="{FF2B5EF4-FFF2-40B4-BE49-F238E27FC236}">
                <a16:creationId xmlns:a16="http://schemas.microsoft.com/office/drawing/2014/main" id="{3F50245B-3B90-0BCF-7536-A04BE672FC3C}"/>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2" name="Google Shape;317;p20">
            <a:hlinkClick r:id="rId3" action="ppaction://hlinksldjump"/>
            <a:extLst>
              <a:ext uri="{FF2B5EF4-FFF2-40B4-BE49-F238E27FC236}">
                <a16:creationId xmlns:a16="http://schemas.microsoft.com/office/drawing/2014/main" id="{ACF4E187-543F-4759-6986-F8CEF70957EF}"/>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sp>
        <p:nvSpPr>
          <p:cNvPr id="13" name="Google Shape;317;p20">
            <a:hlinkClick r:id="rId3" action="ppaction://hlinksldjump"/>
            <a:extLst>
              <a:ext uri="{FF2B5EF4-FFF2-40B4-BE49-F238E27FC236}">
                <a16:creationId xmlns:a16="http://schemas.microsoft.com/office/drawing/2014/main" id="{7178CC01-D9C8-5123-6BCA-A934FC1D5413}"/>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Tree>
    <p:extLst>
      <p:ext uri="{BB962C8B-B14F-4D97-AF65-F5344CB8AC3E}">
        <p14:creationId xmlns:p14="http://schemas.microsoft.com/office/powerpoint/2010/main" val="284185647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42"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1000"/>
                                        <p:tgtEl>
                                          <p:spTgt spid="9"/>
                                        </p:tgtEl>
                                      </p:cBhvr>
                                    </p:animEffect>
                                    <p:anim calcmode="lin" valueType="num">
                                      <p:cBhvr>
                                        <p:cTn id="32" dur="1000" fill="hold"/>
                                        <p:tgtEl>
                                          <p:spTgt spid="9"/>
                                        </p:tgtEl>
                                        <p:attrNameLst>
                                          <p:attrName>ppt_x</p:attrName>
                                        </p:attrNameLst>
                                      </p:cBhvr>
                                      <p:tavLst>
                                        <p:tav tm="0">
                                          <p:val>
                                            <p:strVal val="#ppt_x"/>
                                          </p:val>
                                        </p:tav>
                                        <p:tav tm="100000">
                                          <p:val>
                                            <p:strVal val="#ppt_x"/>
                                          </p:val>
                                        </p:tav>
                                      </p:tavLst>
                                    </p:anim>
                                    <p:anim calcmode="lin" valueType="num">
                                      <p:cBhvr>
                                        <p:cTn id="3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P spid="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103490"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793665" y="230661"/>
            <a:ext cx="1034670"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rtl="0">
              <a:spcBef>
                <a:spcPts val="0"/>
              </a:spcBef>
              <a:spcAft>
                <a:spcPts val="0"/>
              </a:spcAft>
              <a:buNone/>
            </a:pPr>
            <a:r>
              <a:rPr lang="fa-IR" b="1" dirty="0">
                <a:solidFill>
                  <a:schemeClr val="accent6"/>
                </a:solidFill>
                <a:cs typeface="IRAN Sans" panose="020B0400000000000000" pitchFamily="34" charset="-78"/>
              </a:rPr>
              <a:t>تعاریف</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39</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4833367" y="1016091"/>
            <a:ext cx="3397406" cy="2657457"/>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ctr" rtl="1">
              <a:lnSpc>
                <a:spcPct val="150000"/>
              </a:lnSpc>
            </a:pPr>
            <a:r>
              <a:rPr lang="fa-IR" sz="1600" dirty="0">
                <a:solidFill>
                  <a:schemeClr val="tx1">
                    <a:lumMod val="95000"/>
                    <a:lumOff val="5000"/>
                  </a:schemeClr>
                </a:solidFill>
                <a:cs typeface="IRAN Sans" panose="020B0400000000000000" pitchFamily="34" charset="-78"/>
              </a:rPr>
              <a:t>کلینکر</a:t>
            </a:r>
          </a:p>
        </p:txBody>
      </p:sp>
      <p:sp>
        <p:nvSpPr>
          <p:cNvPr id="9" name="Rectangle: Rounded Corners 8">
            <a:extLst>
              <a:ext uri="{FF2B5EF4-FFF2-40B4-BE49-F238E27FC236}">
                <a16:creationId xmlns:a16="http://schemas.microsoft.com/office/drawing/2014/main" id="{370419BA-14D9-386C-5AA1-8B00BB35CCA9}"/>
              </a:ext>
            </a:extLst>
          </p:cNvPr>
          <p:cNvSpPr/>
          <p:nvPr/>
        </p:nvSpPr>
        <p:spPr>
          <a:xfrm>
            <a:off x="848385" y="1020327"/>
            <a:ext cx="3530333" cy="2657457"/>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ctr" rtl="1">
              <a:lnSpc>
                <a:spcPct val="150000"/>
              </a:lnSpc>
            </a:pPr>
            <a:r>
              <a:rPr lang="fa-IR" sz="1600" dirty="0">
                <a:solidFill>
                  <a:schemeClr val="tx1">
                    <a:lumMod val="95000"/>
                    <a:lumOff val="5000"/>
                  </a:schemeClr>
                </a:solidFill>
                <a:cs typeface="IRAN Sans" panose="020B0400000000000000" pitchFamily="34" charset="-78"/>
              </a:rPr>
              <a:t>پوزولان</a:t>
            </a:r>
          </a:p>
        </p:txBody>
      </p:sp>
      <p:pic>
        <p:nvPicPr>
          <p:cNvPr id="12" name="Picture 11">
            <a:extLst>
              <a:ext uri="{FF2B5EF4-FFF2-40B4-BE49-F238E27FC236}">
                <a16:creationId xmlns:a16="http://schemas.microsoft.com/office/drawing/2014/main" id="{8660FD3E-996E-97CA-3730-F9EA3E9A249B}"/>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0000" l="10000" r="90000">
                        <a14:foregroundMark x1="64915" y1="63971" x2="23220" y2="77941"/>
                        <a14:foregroundMark x1="24576" y1="67647" x2="27797" y2="35478"/>
                        <a14:foregroundMark x1="33220" y1="35478" x2="63898" y2="41728"/>
                        <a14:foregroundMark x1="82542" y1="37132" x2="60847" y2="71140"/>
                        <a14:foregroundMark x1="34576" y1="20588" x2="82881" y2="17463"/>
                        <a14:foregroundMark x1="83898" y1="20588" x2="79322" y2="39154"/>
                      </a14:backgroundRemoval>
                    </a14:imgEffect>
                  </a14:imgLayer>
                </a14:imgProps>
              </a:ext>
            </a:extLst>
          </a:blip>
          <a:stretch>
            <a:fillRect/>
          </a:stretch>
        </p:blipFill>
        <p:spPr>
          <a:xfrm>
            <a:off x="5462621" y="1247134"/>
            <a:ext cx="2270754" cy="1985212"/>
          </a:xfrm>
          <a:prstGeom prst="rect">
            <a:avLst/>
          </a:prstGeom>
        </p:spPr>
      </p:pic>
      <p:pic>
        <p:nvPicPr>
          <p:cNvPr id="15" name="Picture 14">
            <a:extLst>
              <a:ext uri="{FF2B5EF4-FFF2-40B4-BE49-F238E27FC236}">
                <a16:creationId xmlns:a16="http://schemas.microsoft.com/office/drawing/2014/main" id="{690944EE-78D0-DA76-0EEC-2981B81C6946}"/>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000" b="90000" l="10000" r="90000"/>
                    </a14:imgEffect>
                  </a14:imgLayer>
                </a14:imgProps>
              </a:ext>
            </a:extLst>
          </a:blip>
          <a:stretch>
            <a:fillRect/>
          </a:stretch>
        </p:blipFill>
        <p:spPr>
          <a:xfrm>
            <a:off x="1580432" y="1175398"/>
            <a:ext cx="2052827" cy="2052827"/>
          </a:xfrm>
          <a:prstGeom prst="rect">
            <a:avLst/>
          </a:prstGeom>
        </p:spPr>
      </p:pic>
      <p:sp>
        <p:nvSpPr>
          <p:cNvPr id="16" name="Google Shape;317;p20">
            <a:hlinkClick r:id="rId3" action="ppaction://hlinksldjump"/>
            <a:extLst>
              <a:ext uri="{FF2B5EF4-FFF2-40B4-BE49-F238E27FC236}">
                <a16:creationId xmlns:a16="http://schemas.microsoft.com/office/drawing/2014/main" id="{27AB2B00-5A4A-E948-9E20-C82E30F6C48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8" name="Google Shape;317;p20">
            <a:hlinkClick r:id="rId3" action="ppaction://hlinksldjump"/>
            <a:extLst>
              <a:ext uri="{FF2B5EF4-FFF2-40B4-BE49-F238E27FC236}">
                <a16:creationId xmlns:a16="http://schemas.microsoft.com/office/drawing/2014/main" id="{1E12B9F8-9214-8D8F-E417-09214E614560}"/>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sp>
        <p:nvSpPr>
          <p:cNvPr id="19" name="Google Shape;317;p20">
            <a:hlinkClick r:id="rId3" action="ppaction://hlinksldjump"/>
            <a:extLst>
              <a:ext uri="{FF2B5EF4-FFF2-40B4-BE49-F238E27FC236}">
                <a16:creationId xmlns:a16="http://schemas.microsoft.com/office/drawing/2014/main" id="{6992B0BD-5183-D39B-DF79-D5D9938B14E7}"/>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Tree>
    <p:extLst>
      <p:ext uri="{BB962C8B-B14F-4D97-AF65-F5344CB8AC3E}">
        <p14:creationId xmlns:p14="http://schemas.microsoft.com/office/powerpoint/2010/main" val="345257028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42"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1000"/>
                                        <p:tgtEl>
                                          <p:spTgt spid="9"/>
                                        </p:tgtEl>
                                      </p:cBhvr>
                                    </p:animEffect>
                                    <p:anim calcmode="lin" valueType="num">
                                      <p:cBhvr>
                                        <p:cTn id="32" dur="1000" fill="hold"/>
                                        <p:tgtEl>
                                          <p:spTgt spid="9"/>
                                        </p:tgtEl>
                                        <p:attrNameLst>
                                          <p:attrName>ppt_x</p:attrName>
                                        </p:attrNameLst>
                                      </p:cBhvr>
                                      <p:tavLst>
                                        <p:tav tm="0">
                                          <p:val>
                                            <p:strVal val="#ppt_x"/>
                                          </p:val>
                                        </p:tav>
                                        <p:tav tm="100000">
                                          <p:val>
                                            <p:strVal val="#ppt_x"/>
                                          </p:val>
                                        </p:tav>
                                      </p:tavLst>
                                    </p:anim>
                                    <p:anim calcmode="lin" valueType="num">
                                      <p:cBhvr>
                                        <p:cTn id="33" dur="1000" fill="hold"/>
                                        <p:tgtEl>
                                          <p:spTgt spid="9"/>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1000"/>
                                        <p:tgtEl>
                                          <p:spTgt spid="15"/>
                                        </p:tgtEl>
                                      </p:cBhvr>
                                    </p:animEffect>
                                    <p:anim calcmode="lin" valueType="num">
                                      <p:cBhvr>
                                        <p:cTn id="37" dur="1000" fill="hold"/>
                                        <p:tgtEl>
                                          <p:spTgt spid="15"/>
                                        </p:tgtEl>
                                        <p:attrNameLst>
                                          <p:attrName>ppt_x</p:attrName>
                                        </p:attrNameLst>
                                      </p:cBhvr>
                                      <p:tavLst>
                                        <p:tav tm="0">
                                          <p:val>
                                            <p:strVal val="#ppt_x"/>
                                          </p:val>
                                        </p:tav>
                                        <p:tav tm="100000">
                                          <p:val>
                                            <p:strVal val="#ppt_x"/>
                                          </p:val>
                                        </p:tav>
                                      </p:tavLst>
                                    </p:anim>
                                    <p:anim calcmode="lin" valueType="num">
                                      <p:cBhvr>
                                        <p:cTn id="38" dur="1000" fill="hold"/>
                                        <p:tgtEl>
                                          <p:spTgt spid="15"/>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1000"/>
                                        <p:tgtEl>
                                          <p:spTgt spid="12"/>
                                        </p:tgtEl>
                                      </p:cBhvr>
                                    </p:animEffect>
                                    <p:anim calcmode="lin" valueType="num">
                                      <p:cBhvr>
                                        <p:cTn id="42" dur="1000" fill="hold"/>
                                        <p:tgtEl>
                                          <p:spTgt spid="12"/>
                                        </p:tgtEl>
                                        <p:attrNameLst>
                                          <p:attrName>ppt_x</p:attrName>
                                        </p:attrNameLst>
                                      </p:cBhvr>
                                      <p:tavLst>
                                        <p:tav tm="0">
                                          <p:val>
                                            <p:strVal val="#ppt_x"/>
                                          </p:val>
                                        </p:tav>
                                        <p:tav tm="100000">
                                          <p:val>
                                            <p:strVal val="#ppt_x"/>
                                          </p:val>
                                        </p:tav>
                                      </p:tavLst>
                                    </p:anim>
                                    <p:anim calcmode="lin" valueType="num">
                                      <p:cBhvr>
                                        <p:cTn id="43"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P spid="9"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053806" y="230661"/>
            <a:ext cx="1774529"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انواع سیمان پرتلند</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40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C4913245-D461-36BD-548B-2B0A3980EF13}"/>
              </a:ext>
            </a:extLst>
          </p:cNvPr>
          <p:cNvSpPr/>
          <p:nvPr/>
        </p:nvSpPr>
        <p:spPr>
          <a:xfrm>
            <a:off x="6325485" y="1244494"/>
            <a:ext cx="2680885" cy="2799838"/>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marL="342900" indent="-342900" algn="justLow" rtl="1">
              <a:lnSpc>
                <a:spcPct val="150000"/>
              </a:lnSpc>
              <a:buFont typeface="+mj-lt"/>
              <a:buAutoNum type="arabicPeriod"/>
            </a:pPr>
            <a:r>
              <a:rPr lang="fa-IR" b="1" dirty="0">
                <a:solidFill>
                  <a:schemeClr val="tx1">
                    <a:lumMod val="95000"/>
                    <a:lumOff val="5000"/>
                  </a:schemeClr>
                </a:solidFill>
                <a:cs typeface="IRAN Sans" panose="020B0400000000000000" pitchFamily="34" charset="-78"/>
              </a:rPr>
              <a:t>سیمان پرتلند پوزولانی: </a:t>
            </a:r>
            <a:r>
              <a:rPr lang="fa-IR" dirty="0">
                <a:solidFill>
                  <a:schemeClr val="tx1">
                    <a:lumMod val="95000"/>
                    <a:lumOff val="5000"/>
                  </a:schemeClr>
                </a:solidFill>
                <a:cs typeface="IRAN Sans" panose="020B0400000000000000" pitchFamily="34" charset="-78"/>
              </a:rPr>
              <a:t>در این نوع سیمان ماده پوزولانی حداقل 5درصد و حداکثر 15درصد وزنی سیمان را تشکیل میدهد.این سیمان برای مصارف عمومی در ساخت ملات و یا بتن به کار میرود و با نشانه(پ.پ) عرضه میگردد</a:t>
            </a:r>
          </a:p>
        </p:txBody>
      </p:sp>
      <p:sp>
        <p:nvSpPr>
          <p:cNvPr id="3" name="Rectangle 2">
            <a:extLst>
              <a:ext uri="{FF2B5EF4-FFF2-40B4-BE49-F238E27FC236}">
                <a16:creationId xmlns:a16="http://schemas.microsoft.com/office/drawing/2014/main" id="{697EA08E-2D76-3A02-1BA2-DC9DA2236CC4}"/>
              </a:ext>
            </a:extLst>
          </p:cNvPr>
          <p:cNvSpPr/>
          <p:nvPr/>
        </p:nvSpPr>
        <p:spPr>
          <a:xfrm>
            <a:off x="3731076" y="601087"/>
            <a:ext cx="4817845" cy="578139"/>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انواع سیمان پرتلند امیخته با پوزولانهای طبیعی دو دسته میشوند:</a:t>
            </a:r>
          </a:p>
        </p:txBody>
      </p:sp>
      <p:sp>
        <p:nvSpPr>
          <p:cNvPr id="5" name="Google Shape;317;p20">
            <a:hlinkClick r:id="rId3" action="ppaction://hlinksldjump"/>
            <a:extLst>
              <a:ext uri="{FF2B5EF4-FFF2-40B4-BE49-F238E27FC236}">
                <a16:creationId xmlns:a16="http://schemas.microsoft.com/office/drawing/2014/main" id="{39D65EE8-EEF9-1993-B245-542F283CFC44}"/>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6" name="Google Shape;317;p20">
            <a:hlinkClick r:id="rId3" action="ppaction://hlinksldjump"/>
            <a:extLst>
              <a:ext uri="{FF2B5EF4-FFF2-40B4-BE49-F238E27FC236}">
                <a16:creationId xmlns:a16="http://schemas.microsoft.com/office/drawing/2014/main" id="{88FF9686-AC1A-6F6E-BE8E-A4A2C7827C4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7" name="Rectangle 6">
            <a:extLst>
              <a:ext uri="{FF2B5EF4-FFF2-40B4-BE49-F238E27FC236}">
                <a16:creationId xmlns:a16="http://schemas.microsoft.com/office/drawing/2014/main" id="{DBA5D7AA-B6BB-700A-34CF-AC2BB8A0349E}"/>
              </a:ext>
            </a:extLst>
          </p:cNvPr>
          <p:cNvSpPr/>
          <p:nvPr/>
        </p:nvSpPr>
        <p:spPr>
          <a:xfrm>
            <a:off x="156884" y="1232435"/>
            <a:ext cx="6081671" cy="2799838"/>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marL="342900" indent="-342900" algn="justLow" rtl="1">
              <a:lnSpc>
                <a:spcPct val="150000"/>
              </a:lnSpc>
              <a:buFont typeface="+mj-lt"/>
              <a:buAutoNum type="arabicPeriod" startAt="2"/>
            </a:pPr>
            <a:r>
              <a:rPr lang="fa-IR" b="1" dirty="0">
                <a:solidFill>
                  <a:schemeClr val="tx1">
                    <a:lumMod val="95000"/>
                    <a:lumOff val="5000"/>
                  </a:schemeClr>
                </a:solidFill>
                <a:cs typeface="IRAN Sans" panose="020B0400000000000000" pitchFamily="34" charset="-78"/>
              </a:rPr>
              <a:t>سیمان پرتلند پوزولانی - ویژه:</a:t>
            </a:r>
          </a:p>
          <a:p>
            <a:pPr algn="justLow" rtl="1">
              <a:lnSpc>
                <a:spcPct val="150000"/>
              </a:lnSpc>
            </a:pPr>
            <a:r>
              <a:rPr lang="fa-IR" dirty="0">
                <a:solidFill>
                  <a:schemeClr val="tx1">
                    <a:lumMod val="95000"/>
                    <a:lumOff val="5000"/>
                  </a:schemeClr>
                </a:solidFill>
                <a:cs typeface="IRAN Sans" panose="020B0400000000000000" pitchFamily="34" charset="-78"/>
              </a:rPr>
              <a:t>در این نوع سیمان ماده پوزولانی بیش از ۱۵درصد تا ۴۰درصد وزنی سیمان پرتلند پوزولانی را تشکیل میدهد.این سیمان دارای مشخصات عمومی زیر است و با نشان(پ.پ.و)</a:t>
            </a:r>
          </a:p>
          <a:p>
            <a:pPr algn="justLow" rtl="1">
              <a:lnSpc>
                <a:spcPct val="150000"/>
              </a:lnSpc>
            </a:pPr>
            <a:r>
              <a:rPr lang="fa-IR" dirty="0">
                <a:solidFill>
                  <a:schemeClr val="tx1">
                    <a:lumMod val="95000"/>
                    <a:lumOff val="5000"/>
                  </a:schemeClr>
                </a:solidFill>
                <a:cs typeface="IRAN Sans" panose="020B0400000000000000" pitchFamily="34" charset="-78"/>
              </a:rPr>
              <a:t>عرضه میگردد</a:t>
            </a:r>
          </a:p>
          <a:p>
            <a:pPr marL="285750" indent="-285750" algn="justLow" rtl="1">
              <a:lnSpc>
                <a:spcPct val="150000"/>
              </a:lnSpc>
              <a:buFont typeface="Wingdings" panose="05000000000000000000" pitchFamily="2" charset="2"/>
              <a:buChar char="§"/>
            </a:pPr>
            <a:r>
              <a:rPr lang="fa-IR" dirty="0">
                <a:solidFill>
                  <a:schemeClr val="tx1">
                    <a:lumMod val="95000"/>
                    <a:lumOff val="5000"/>
                  </a:schemeClr>
                </a:solidFill>
                <a:cs typeface="IRAN Sans" panose="020B0400000000000000" pitchFamily="34" charset="-78"/>
              </a:rPr>
              <a:t>حرارت ناشی از ابگیری ان کم است.</a:t>
            </a:r>
          </a:p>
          <a:p>
            <a:pPr marL="285750" indent="-285750" algn="justLow" rtl="1">
              <a:lnSpc>
                <a:spcPct val="150000"/>
              </a:lnSpc>
              <a:buFont typeface="Wingdings" panose="05000000000000000000" pitchFamily="2" charset="2"/>
              <a:buChar char="§"/>
            </a:pPr>
            <a:r>
              <a:rPr lang="fa-IR" dirty="0">
                <a:solidFill>
                  <a:schemeClr val="tx1">
                    <a:lumMod val="95000"/>
                    <a:lumOff val="5000"/>
                  </a:schemeClr>
                </a:solidFill>
                <a:cs typeface="IRAN Sans" panose="020B0400000000000000" pitchFamily="34" charset="-78"/>
              </a:rPr>
              <a:t>در روز های اولیه (تا سه روز)مقاومت فشاری کمی دارد.</a:t>
            </a:r>
          </a:p>
          <a:p>
            <a:pPr marL="285750" indent="-285750" algn="justLow" rtl="1">
              <a:lnSpc>
                <a:spcPct val="150000"/>
              </a:lnSpc>
              <a:buFont typeface="Wingdings" panose="05000000000000000000" pitchFamily="2" charset="2"/>
              <a:buChar char="§"/>
            </a:pPr>
            <a:r>
              <a:rPr lang="fa-IR" dirty="0">
                <a:solidFill>
                  <a:schemeClr val="tx1">
                    <a:lumMod val="95000"/>
                    <a:lumOff val="5000"/>
                  </a:schemeClr>
                </a:solidFill>
                <a:cs typeface="IRAN Sans" panose="020B0400000000000000" pitchFamily="34" charset="-78"/>
              </a:rPr>
              <a:t>این سیمان معمولا برای ساخت بتن های حجیم و مواردی که بتن با شرایط تهاجم شیمیایی روبروست بکار میرود.</a:t>
            </a:r>
          </a:p>
        </p:txBody>
      </p:sp>
      <p:sp>
        <p:nvSpPr>
          <p:cNvPr id="8" name="Google Shape;317;p20">
            <a:hlinkClick r:id="rId3" action="ppaction://hlinksldjump"/>
            <a:extLst>
              <a:ext uri="{FF2B5EF4-FFF2-40B4-BE49-F238E27FC236}">
                <a16:creationId xmlns:a16="http://schemas.microsoft.com/office/drawing/2014/main" id="{5B71F1A7-BC2D-3EF5-6BC1-3F5BC8D87648}"/>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sp>
        <p:nvSpPr>
          <p:cNvPr id="10" name="Google Shape;317;p20">
            <a:hlinkClick r:id="rId3" action="ppaction://hlinksldjump"/>
            <a:extLst>
              <a:ext uri="{FF2B5EF4-FFF2-40B4-BE49-F238E27FC236}">
                <a16:creationId xmlns:a16="http://schemas.microsoft.com/office/drawing/2014/main" id="{2F71E20B-9B94-D542-BB3E-9066F8893AA2}"/>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Tree>
    <p:extLst>
      <p:ext uri="{BB962C8B-B14F-4D97-AF65-F5344CB8AC3E}">
        <p14:creationId xmlns:p14="http://schemas.microsoft.com/office/powerpoint/2010/main" val="349626110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fade">
                                      <p:cBhvr>
                                        <p:cTn id="40" dur="1000"/>
                                        <p:tgtEl>
                                          <p:spTgt spid="3"/>
                                        </p:tgtEl>
                                      </p:cBhvr>
                                    </p:animEffect>
                                    <p:anim calcmode="lin" valueType="num">
                                      <p:cBhvr>
                                        <p:cTn id="41" dur="1000" fill="hold"/>
                                        <p:tgtEl>
                                          <p:spTgt spid="3"/>
                                        </p:tgtEl>
                                        <p:attrNameLst>
                                          <p:attrName>ppt_x</p:attrName>
                                        </p:attrNameLst>
                                      </p:cBhvr>
                                      <p:tavLst>
                                        <p:tav tm="0">
                                          <p:val>
                                            <p:strVal val="#ppt_x"/>
                                          </p:val>
                                        </p:tav>
                                        <p:tav tm="100000">
                                          <p:val>
                                            <p:strVal val="#ppt_x"/>
                                          </p:val>
                                        </p:tav>
                                      </p:tavLst>
                                    </p:anim>
                                    <p:anim calcmode="lin" valueType="num">
                                      <p:cBhvr>
                                        <p:cTn id="42" dur="1000" fill="hold"/>
                                        <p:tgtEl>
                                          <p:spTgt spid="3"/>
                                        </p:tgtEl>
                                        <p:attrNameLst>
                                          <p:attrName>ppt_y</p:attrName>
                                        </p:attrNameLst>
                                      </p:cBhvr>
                                      <p:tavLst>
                                        <p:tav tm="0">
                                          <p:val>
                                            <p:strVal val="#ppt_y+.1"/>
                                          </p:val>
                                        </p:tav>
                                        <p:tav tm="100000">
                                          <p:val>
                                            <p:strVal val="#ppt_y"/>
                                          </p:val>
                                        </p:tav>
                                      </p:tavLst>
                                    </p:anim>
                                  </p:childTnLst>
                                </p:cTn>
                              </p:par>
                            </p:childTnLst>
                          </p:cTn>
                        </p:par>
                        <p:par>
                          <p:cTn id="43" fill="hold">
                            <p:stCondLst>
                              <p:cond delay="4050"/>
                            </p:stCondLst>
                            <p:childTnLst>
                              <p:par>
                                <p:cTn id="44" presetID="42" presetClass="entr" presetSubtype="0" fill="hold" grpId="0"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1000"/>
                                        <p:tgtEl>
                                          <p:spTgt spid="7"/>
                                        </p:tgtEl>
                                      </p:cBhvr>
                                    </p:animEffect>
                                    <p:anim calcmode="lin" valueType="num">
                                      <p:cBhvr>
                                        <p:cTn id="47" dur="1000" fill="hold"/>
                                        <p:tgtEl>
                                          <p:spTgt spid="7"/>
                                        </p:tgtEl>
                                        <p:attrNameLst>
                                          <p:attrName>ppt_x</p:attrName>
                                        </p:attrNameLst>
                                      </p:cBhvr>
                                      <p:tavLst>
                                        <p:tav tm="0">
                                          <p:val>
                                            <p:strVal val="#ppt_x"/>
                                          </p:val>
                                        </p:tav>
                                        <p:tav tm="100000">
                                          <p:val>
                                            <p:strVal val="#ppt_x"/>
                                          </p:val>
                                        </p:tav>
                                      </p:tavLst>
                                    </p:anim>
                                    <p:anim calcmode="lin" valueType="num">
                                      <p:cBhvr>
                                        <p:cTn id="4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763802" y="230661"/>
            <a:ext cx="3064534"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انواع روش های نمونه برداری سیمان</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41</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dirty="0">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406;p21">
            <a:extLst>
              <a:ext uri="{FF2B5EF4-FFF2-40B4-BE49-F238E27FC236}">
                <a16:creationId xmlns:a16="http://schemas.microsoft.com/office/drawing/2014/main" id="{B9CEA8B9-9ADB-F3BF-7AE7-84DA11231EA5}"/>
              </a:ext>
            </a:extLst>
          </p:cNvPr>
          <p:cNvSpPr/>
          <p:nvPr/>
        </p:nvSpPr>
        <p:spPr>
          <a:xfrm>
            <a:off x="4835211" y="831076"/>
            <a:ext cx="1867912" cy="456069"/>
          </a:xfrm>
          <a:prstGeom prst="round2SameRect">
            <a:avLst>
              <a:gd name="adj1" fmla="val 16667"/>
              <a:gd name="adj2" fmla="val 0"/>
            </a:avLst>
          </a:prstGeom>
          <a:solidFill>
            <a:schemeClr val="accent3"/>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chemeClr val="lt1"/>
                </a:solidFill>
                <a:latin typeface="Fira Sans Extra Condensed Medium"/>
                <a:ea typeface="Fira Sans Extra Condensed Medium"/>
                <a:cs typeface="IRAN Sans" panose="020B0400000000000000" pitchFamily="34" charset="-78"/>
                <a:sym typeface="Fira Sans Extra Condensed Medium"/>
              </a:rPr>
              <a:t>از محل تخلیه سیمان به سیلو:</a:t>
            </a:r>
            <a:endParaRPr lang="fa-IR" sz="1600" b="1" dirty="0"/>
          </a:p>
        </p:txBody>
      </p:sp>
      <p:sp>
        <p:nvSpPr>
          <p:cNvPr id="9" name="Google Shape;411;p21">
            <a:extLst>
              <a:ext uri="{FF2B5EF4-FFF2-40B4-BE49-F238E27FC236}">
                <a16:creationId xmlns:a16="http://schemas.microsoft.com/office/drawing/2014/main" id="{D55B257B-8900-80E4-37D0-0C50AEAF916D}"/>
              </a:ext>
            </a:extLst>
          </p:cNvPr>
          <p:cNvSpPr/>
          <p:nvPr/>
        </p:nvSpPr>
        <p:spPr>
          <a:xfrm>
            <a:off x="6857759" y="824332"/>
            <a:ext cx="1849749" cy="456069"/>
          </a:xfrm>
          <a:prstGeom prst="round2SameRect">
            <a:avLst>
              <a:gd name="adj1" fmla="val 16667"/>
              <a:gd name="adj2" fmla="val 0"/>
            </a:avLst>
          </a:prstGeom>
          <a:solidFill>
            <a:schemeClr val="accent6"/>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chemeClr val="lt1"/>
                </a:solidFill>
                <a:latin typeface="Fira Sans Extra Condensed Medium"/>
                <a:ea typeface="Fira Sans Extra Condensed Medium"/>
                <a:cs typeface="IRAN Sans" panose="020B0400000000000000" pitchFamily="34" charset="-78"/>
                <a:sym typeface="Fira Sans Extra Condensed Medium"/>
              </a:rPr>
              <a:t>از محل تسمه نقاله یا لوله انتقال سیمان به سیلو:</a:t>
            </a:r>
            <a:endParaRPr lang="fa-IR" sz="1600" b="1" dirty="0"/>
          </a:p>
        </p:txBody>
      </p:sp>
      <p:sp>
        <p:nvSpPr>
          <p:cNvPr id="11" name="Google Shape;416;p21">
            <a:extLst>
              <a:ext uri="{FF2B5EF4-FFF2-40B4-BE49-F238E27FC236}">
                <a16:creationId xmlns:a16="http://schemas.microsoft.com/office/drawing/2014/main" id="{DD400213-62F5-6B18-C782-E757737CA826}"/>
              </a:ext>
            </a:extLst>
          </p:cNvPr>
          <p:cNvSpPr/>
          <p:nvPr/>
        </p:nvSpPr>
        <p:spPr>
          <a:xfrm>
            <a:off x="640878" y="833082"/>
            <a:ext cx="1867913" cy="456069"/>
          </a:xfrm>
          <a:prstGeom prst="round2SameRect">
            <a:avLst>
              <a:gd name="adj1" fmla="val 16667"/>
              <a:gd name="adj2" fmla="val 0"/>
            </a:avLst>
          </a:prstGeom>
          <a:solidFill>
            <a:schemeClr val="accent1"/>
          </a:solidFill>
          <a:ln>
            <a:noFill/>
          </a:ln>
        </p:spPr>
        <p:txBody>
          <a:bodyPr spcFirstLastPara="1" wrap="square" lIns="91425" tIns="91425" rIns="91425" bIns="91425" anchor="ctr" anchorCtr="0">
            <a:noAutofit/>
          </a:bodyPr>
          <a:lstStyle/>
          <a:p>
            <a:pPr lvl="0" algn="ctr">
              <a:buClr>
                <a:schemeClr val="dk1"/>
              </a:buClr>
              <a:buSzPts val="1100"/>
            </a:pPr>
            <a:r>
              <a:rPr lang="fa-IR" b="1" dirty="0">
                <a:solidFill>
                  <a:schemeClr val="lt1"/>
                </a:solidFill>
                <a:latin typeface="Fira Sans Extra Condensed Medium"/>
                <a:ea typeface="Fira Sans Extra Condensed Medium"/>
                <a:cs typeface="IRAN Sans" panose="020B0400000000000000" pitchFamily="34" charset="-78"/>
                <a:sym typeface="Fira Sans Extra Condensed Medium"/>
              </a:rPr>
              <a:t>از انبار کیسه های سیمان:</a:t>
            </a:r>
            <a:endParaRPr sz="1200" b="1" dirty="0"/>
          </a:p>
        </p:txBody>
      </p:sp>
      <p:sp>
        <p:nvSpPr>
          <p:cNvPr id="12" name="Google Shape;421;p21">
            <a:extLst>
              <a:ext uri="{FF2B5EF4-FFF2-40B4-BE49-F238E27FC236}">
                <a16:creationId xmlns:a16="http://schemas.microsoft.com/office/drawing/2014/main" id="{4B43454A-3CF6-8226-B94E-D52CAD14E6F8}"/>
              </a:ext>
            </a:extLst>
          </p:cNvPr>
          <p:cNvSpPr/>
          <p:nvPr/>
        </p:nvSpPr>
        <p:spPr>
          <a:xfrm>
            <a:off x="2766990" y="814208"/>
            <a:ext cx="1867913" cy="456069"/>
          </a:xfrm>
          <a:prstGeom prst="round2SameRect">
            <a:avLst>
              <a:gd name="adj1" fmla="val 16667"/>
              <a:gd name="adj2" fmla="val 0"/>
            </a:avLst>
          </a:prstGeom>
          <a:solidFill>
            <a:schemeClr val="accent2"/>
          </a:solidFill>
          <a:ln>
            <a:noFill/>
          </a:ln>
        </p:spPr>
        <p:txBody>
          <a:bodyPr spcFirstLastPara="1" wrap="square" lIns="91425" tIns="91425" rIns="91425" bIns="91425" anchor="ctr" anchorCtr="0">
            <a:noAutofit/>
          </a:bodyPr>
          <a:lstStyle/>
          <a:p>
            <a:pPr lvl="0" algn="ctr">
              <a:buClr>
                <a:schemeClr val="dk1"/>
              </a:buClr>
              <a:buSzPts val="1100"/>
            </a:pPr>
            <a:r>
              <a:rPr lang="fa-IR" sz="1600" b="1" dirty="0">
                <a:solidFill>
                  <a:schemeClr val="lt1"/>
                </a:solidFill>
                <a:latin typeface="Fira Sans Extra Condensed Medium"/>
                <a:ea typeface="Fira Sans Extra Condensed Medium"/>
                <a:cs typeface="IRAN Sans" panose="020B0400000000000000" pitchFamily="34" charset="-78"/>
                <a:sym typeface="Fira Sans Extra Condensed Medium"/>
              </a:rPr>
              <a:t>از انبار سیمان فله:</a:t>
            </a:r>
            <a:endParaRPr lang="fa-IR" sz="1800" b="1" dirty="0"/>
          </a:p>
        </p:txBody>
      </p:sp>
      <p:grpSp>
        <p:nvGrpSpPr>
          <p:cNvPr id="13" name="Group 12">
            <a:extLst>
              <a:ext uri="{FF2B5EF4-FFF2-40B4-BE49-F238E27FC236}">
                <a16:creationId xmlns:a16="http://schemas.microsoft.com/office/drawing/2014/main" id="{970BD890-8617-0D12-B239-ECF773163558}"/>
              </a:ext>
            </a:extLst>
          </p:cNvPr>
          <p:cNvGrpSpPr/>
          <p:nvPr/>
        </p:nvGrpSpPr>
        <p:grpSpPr>
          <a:xfrm>
            <a:off x="4835211" y="1349853"/>
            <a:ext cx="1867912" cy="2657634"/>
            <a:chOff x="4666473" y="1340546"/>
            <a:chExt cx="1867912" cy="2418675"/>
          </a:xfrm>
        </p:grpSpPr>
        <p:sp>
          <p:nvSpPr>
            <p:cNvPr id="14" name="Google Shape;403;p21">
              <a:extLst>
                <a:ext uri="{FF2B5EF4-FFF2-40B4-BE49-F238E27FC236}">
                  <a16:creationId xmlns:a16="http://schemas.microsoft.com/office/drawing/2014/main" id="{96185075-CA52-E9BB-8DAB-C7A43132B504}"/>
                </a:ext>
              </a:extLst>
            </p:cNvPr>
            <p:cNvSpPr/>
            <p:nvPr/>
          </p:nvSpPr>
          <p:spPr>
            <a:xfrm rot="10800000" flipH="1">
              <a:off x="4666473" y="1340546"/>
              <a:ext cx="1867912" cy="2418675"/>
            </a:xfrm>
            <a:prstGeom prst="round2SameRect">
              <a:avLst>
                <a:gd name="adj1" fmla="val 5396"/>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5" name="Google Shape;405;p21">
              <a:extLst>
                <a:ext uri="{FF2B5EF4-FFF2-40B4-BE49-F238E27FC236}">
                  <a16:creationId xmlns:a16="http://schemas.microsoft.com/office/drawing/2014/main" id="{3852BADC-DB17-591B-705B-C76121155E79}"/>
                </a:ext>
              </a:extLst>
            </p:cNvPr>
            <p:cNvSpPr txBox="1"/>
            <p:nvPr/>
          </p:nvSpPr>
          <p:spPr>
            <a:xfrm>
              <a:off x="4749763" y="1544001"/>
              <a:ext cx="1701329" cy="2168399"/>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dirty="0">
                  <a:solidFill>
                    <a:schemeClr val="tx1">
                      <a:lumMod val="95000"/>
                      <a:lumOff val="5000"/>
                    </a:schemeClr>
                  </a:solidFill>
                  <a:cs typeface="IRAN Sans" panose="020B0400000000000000" pitchFamily="34" charset="-78"/>
                </a:rPr>
                <a:t>در این نمونه برداری،از جریان سیمان در لوله تخلیه و به فاصله زمانی معین به ازای هر یکصدتن سیمان داخل سیلو ۵کیلوگرم سیمان به عنوان نمونه برداشت میشود</a:t>
              </a:r>
            </a:p>
          </p:txBody>
        </p:sp>
      </p:grpSp>
      <p:grpSp>
        <p:nvGrpSpPr>
          <p:cNvPr id="16" name="Group 15">
            <a:extLst>
              <a:ext uri="{FF2B5EF4-FFF2-40B4-BE49-F238E27FC236}">
                <a16:creationId xmlns:a16="http://schemas.microsoft.com/office/drawing/2014/main" id="{5D853A7F-C62D-38A7-FF26-496C49F29F8D}"/>
              </a:ext>
            </a:extLst>
          </p:cNvPr>
          <p:cNvGrpSpPr/>
          <p:nvPr/>
        </p:nvGrpSpPr>
        <p:grpSpPr>
          <a:xfrm>
            <a:off x="6866548" y="1350637"/>
            <a:ext cx="1857211" cy="2680626"/>
            <a:chOff x="6944868" y="1358619"/>
            <a:chExt cx="1713536" cy="2361119"/>
          </a:xfrm>
        </p:grpSpPr>
        <p:sp>
          <p:nvSpPr>
            <p:cNvPr id="17" name="Google Shape;408;p21">
              <a:extLst>
                <a:ext uri="{FF2B5EF4-FFF2-40B4-BE49-F238E27FC236}">
                  <a16:creationId xmlns:a16="http://schemas.microsoft.com/office/drawing/2014/main" id="{7FCAB2B5-E741-E77A-3AF2-2A22D675DC5B}"/>
                </a:ext>
              </a:extLst>
            </p:cNvPr>
            <p:cNvSpPr/>
            <p:nvPr/>
          </p:nvSpPr>
          <p:spPr>
            <a:xfrm rot="10800000" flipH="1">
              <a:off x="6944868" y="1358619"/>
              <a:ext cx="1690432" cy="2361119"/>
            </a:xfrm>
            <a:prstGeom prst="round2SameRect">
              <a:avLst>
                <a:gd name="adj1" fmla="val 5556"/>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18" name="Google Shape;410;p21">
              <a:extLst>
                <a:ext uri="{FF2B5EF4-FFF2-40B4-BE49-F238E27FC236}">
                  <a16:creationId xmlns:a16="http://schemas.microsoft.com/office/drawing/2014/main" id="{1F1966A6-691D-7F5E-2DC5-57CB5D5A6D98}"/>
                </a:ext>
              </a:extLst>
            </p:cNvPr>
            <p:cNvSpPr txBox="1"/>
            <p:nvPr/>
          </p:nvSpPr>
          <p:spPr>
            <a:xfrm>
              <a:off x="6986472" y="1437919"/>
              <a:ext cx="1671932" cy="2006986"/>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dirty="0">
                  <a:solidFill>
                    <a:schemeClr val="tx1">
                      <a:lumMod val="95000"/>
                      <a:lumOff val="5000"/>
                    </a:schemeClr>
                  </a:solidFill>
                  <a:cs typeface="IRAN Sans" panose="020B0400000000000000" pitchFamily="34" charset="-78"/>
                </a:rPr>
                <a:t>در این نمونه برداری، وزن نمونه برای هر ۴۰ تن سیمان در حال انتقال به سلیو پنج کیلوگرم میباشد. که انرا میتوان بصورت پیوسته یا نا‌پیوسته برداشت نمود</a:t>
              </a:r>
            </a:p>
          </p:txBody>
        </p:sp>
      </p:grpSp>
      <p:grpSp>
        <p:nvGrpSpPr>
          <p:cNvPr id="19" name="Group 18">
            <a:extLst>
              <a:ext uri="{FF2B5EF4-FFF2-40B4-BE49-F238E27FC236}">
                <a16:creationId xmlns:a16="http://schemas.microsoft.com/office/drawing/2014/main" id="{6F2AE79B-476C-7948-8054-3E87523C0727}"/>
              </a:ext>
            </a:extLst>
          </p:cNvPr>
          <p:cNvGrpSpPr/>
          <p:nvPr/>
        </p:nvGrpSpPr>
        <p:grpSpPr>
          <a:xfrm>
            <a:off x="633639" y="1349852"/>
            <a:ext cx="1867913" cy="2648405"/>
            <a:chOff x="546167" y="1340547"/>
            <a:chExt cx="1867913" cy="2648405"/>
          </a:xfrm>
        </p:grpSpPr>
        <p:sp>
          <p:nvSpPr>
            <p:cNvPr id="20" name="Google Shape;413;p21">
              <a:extLst>
                <a:ext uri="{FF2B5EF4-FFF2-40B4-BE49-F238E27FC236}">
                  <a16:creationId xmlns:a16="http://schemas.microsoft.com/office/drawing/2014/main" id="{184EB7D1-33EF-9BCE-C3B5-483525618882}"/>
                </a:ext>
              </a:extLst>
            </p:cNvPr>
            <p:cNvSpPr/>
            <p:nvPr/>
          </p:nvSpPr>
          <p:spPr>
            <a:xfrm rot="10800000" flipH="1">
              <a:off x="546167" y="1340547"/>
              <a:ext cx="1867913" cy="2648405"/>
            </a:xfrm>
            <a:prstGeom prst="round2SameRect">
              <a:avLst>
                <a:gd name="adj1" fmla="val 5874"/>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1" name="Google Shape;415;p21">
              <a:extLst>
                <a:ext uri="{FF2B5EF4-FFF2-40B4-BE49-F238E27FC236}">
                  <a16:creationId xmlns:a16="http://schemas.microsoft.com/office/drawing/2014/main" id="{10990938-B8DE-E79F-E93C-CAE6E16D10A9}"/>
                </a:ext>
              </a:extLst>
            </p:cNvPr>
            <p:cNvSpPr txBox="1"/>
            <p:nvPr/>
          </p:nvSpPr>
          <p:spPr>
            <a:xfrm>
              <a:off x="597236" y="1644833"/>
              <a:ext cx="1701330" cy="2017743"/>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dirty="0">
                  <a:solidFill>
                    <a:schemeClr val="tx1">
                      <a:lumMod val="95000"/>
                      <a:lumOff val="5000"/>
                    </a:schemeClr>
                  </a:solidFill>
                  <a:cs typeface="IRAN Sans" panose="020B0400000000000000" pitchFamily="34" charset="-78"/>
                </a:rPr>
                <a:t>در این نمونه برداری ، به ازای هر ۵ تن یک کیسه سیمان انتخاب میشود و مقدار لازم برای نمونه توسط ابزار ویژه نمونه گیر تهیه میشود.</a:t>
              </a:r>
            </a:p>
          </p:txBody>
        </p:sp>
      </p:grpSp>
      <p:grpSp>
        <p:nvGrpSpPr>
          <p:cNvPr id="22" name="Group 21">
            <a:extLst>
              <a:ext uri="{FF2B5EF4-FFF2-40B4-BE49-F238E27FC236}">
                <a16:creationId xmlns:a16="http://schemas.microsoft.com/office/drawing/2014/main" id="{2D17026B-1910-23A2-3F0C-B85844DCFE7A}"/>
              </a:ext>
            </a:extLst>
          </p:cNvPr>
          <p:cNvGrpSpPr/>
          <p:nvPr/>
        </p:nvGrpSpPr>
        <p:grpSpPr>
          <a:xfrm>
            <a:off x="2766991" y="1340367"/>
            <a:ext cx="1867913" cy="2671552"/>
            <a:chOff x="410033" y="-809577"/>
            <a:chExt cx="1867913" cy="2505308"/>
          </a:xfrm>
        </p:grpSpPr>
        <p:sp>
          <p:nvSpPr>
            <p:cNvPr id="23" name="Google Shape;418;p21">
              <a:extLst>
                <a:ext uri="{FF2B5EF4-FFF2-40B4-BE49-F238E27FC236}">
                  <a16:creationId xmlns:a16="http://schemas.microsoft.com/office/drawing/2014/main" id="{85755AC4-127D-409A-DFAC-668BFDB5B646}"/>
                </a:ext>
              </a:extLst>
            </p:cNvPr>
            <p:cNvSpPr/>
            <p:nvPr/>
          </p:nvSpPr>
          <p:spPr>
            <a:xfrm rot="10800000" flipH="1">
              <a:off x="410033" y="-809577"/>
              <a:ext cx="1867913" cy="2505308"/>
            </a:xfrm>
            <a:prstGeom prst="round2SameRect">
              <a:avLst>
                <a:gd name="adj1" fmla="val 6301"/>
                <a:gd name="adj2" fmla="val 0"/>
              </a:avLst>
            </a:prstGeom>
            <a:solidFill>
              <a:srgbClr val="FBFBFB"/>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sp>
          <p:nvSpPr>
            <p:cNvPr id="24" name="Google Shape;420;p21">
              <a:extLst>
                <a:ext uri="{FF2B5EF4-FFF2-40B4-BE49-F238E27FC236}">
                  <a16:creationId xmlns:a16="http://schemas.microsoft.com/office/drawing/2014/main" id="{E7127EBC-B4E1-9D9E-9B15-744D537D2163}"/>
                </a:ext>
              </a:extLst>
            </p:cNvPr>
            <p:cNvSpPr txBox="1"/>
            <p:nvPr/>
          </p:nvSpPr>
          <p:spPr>
            <a:xfrm>
              <a:off x="493324" y="-611993"/>
              <a:ext cx="1701330" cy="1988847"/>
            </a:xfrm>
            <a:prstGeom prst="rect">
              <a:avLst/>
            </a:prstGeom>
            <a:noFill/>
            <a:ln>
              <a:noFill/>
            </a:ln>
          </p:spPr>
          <p:txBody>
            <a:bodyPr spcFirstLastPara="1" wrap="square" lIns="91425" tIns="91425" rIns="91425" bIns="91425" anchor="b" anchorCtr="0">
              <a:noAutofit/>
            </a:bodyPr>
            <a:lstStyle/>
            <a:p>
              <a:pPr algn="ctr" rtl="1">
                <a:lnSpc>
                  <a:spcPct val="150000"/>
                </a:lnSpc>
              </a:pPr>
              <a:r>
                <a:rPr lang="fa-IR" dirty="0">
                  <a:solidFill>
                    <a:schemeClr val="tx1">
                      <a:lumMod val="95000"/>
                      <a:lumOff val="5000"/>
                    </a:schemeClr>
                  </a:solidFill>
                  <a:cs typeface="IRAN Sans" panose="020B0400000000000000" pitchFamily="34" charset="-78"/>
                </a:rPr>
                <a:t>در این نمونه برداری چنانچه عمق انباشته سیمان موجود در انبار از دو متر کمتر باشد، نمونه را میتوان با ابزار ویژه نمونه گیر تهیه نمود.</a:t>
              </a:r>
            </a:p>
          </p:txBody>
        </p:sp>
      </p:grpSp>
      <p:sp>
        <p:nvSpPr>
          <p:cNvPr id="2" name="Google Shape;317;p20">
            <a:hlinkClick r:id="rId3" action="ppaction://hlinksldjump"/>
            <a:extLst>
              <a:ext uri="{FF2B5EF4-FFF2-40B4-BE49-F238E27FC236}">
                <a16:creationId xmlns:a16="http://schemas.microsoft.com/office/drawing/2014/main" id="{BE4EFF75-76A0-9272-E9FE-821F9DF58CD0}"/>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sp>
        <p:nvSpPr>
          <p:cNvPr id="3" name="Google Shape;317;p20">
            <a:hlinkClick r:id="rId3" action="ppaction://hlinksldjump"/>
            <a:extLst>
              <a:ext uri="{FF2B5EF4-FFF2-40B4-BE49-F238E27FC236}">
                <a16:creationId xmlns:a16="http://schemas.microsoft.com/office/drawing/2014/main" id="{AE5B7041-8E68-0437-7988-4A36EED46B6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6" name="Google Shape;317;p20">
            <a:hlinkClick r:id="rId3" action="ppaction://hlinksldjump"/>
            <a:extLst>
              <a:ext uri="{FF2B5EF4-FFF2-40B4-BE49-F238E27FC236}">
                <a16:creationId xmlns:a16="http://schemas.microsoft.com/office/drawing/2014/main" id="{F1BCFC73-AF62-B547-DFD0-85105055345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8" name="Google Shape;317;p20">
            <a:hlinkClick r:id="rId3" action="ppaction://hlinksldjump"/>
            <a:extLst>
              <a:ext uri="{FF2B5EF4-FFF2-40B4-BE49-F238E27FC236}">
                <a16:creationId xmlns:a16="http://schemas.microsoft.com/office/drawing/2014/main" id="{C68FBA73-CF23-DAC0-257C-C782D4E61821}"/>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Tree>
    <p:extLst>
      <p:ext uri="{BB962C8B-B14F-4D97-AF65-F5344CB8AC3E}">
        <p14:creationId xmlns:p14="http://schemas.microsoft.com/office/powerpoint/2010/main" val="12666416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1000"/>
                                        <p:tgtEl>
                                          <p:spTgt spid="19"/>
                                        </p:tgtEl>
                                      </p:cBhvr>
                                    </p:animEffect>
                                    <p:anim calcmode="lin" valueType="num">
                                      <p:cBhvr>
                                        <p:cTn id="35" dur="1000" fill="hold"/>
                                        <p:tgtEl>
                                          <p:spTgt spid="19"/>
                                        </p:tgtEl>
                                        <p:attrNameLst>
                                          <p:attrName>ppt_x</p:attrName>
                                        </p:attrNameLst>
                                      </p:cBhvr>
                                      <p:tavLst>
                                        <p:tav tm="0">
                                          <p:val>
                                            <p:strVal val="#ppt_x"/>
                                          </p:val>
                                        </p:tav>
                                        <p:tav tm="100000">
                                          <p:val>
                                            <p:strVal val="#ppt_x"/>
                                          </p:val>
                                        </p:tav>
                                      </p:tavLst>
                                    </p:anim>
                                    <p:anim calcmode="lin" valueType="num">
                                      <p:cBhvr>
                                        <p:cTn id="36" dur="1000" fill="hold"/>
                                        <p:tgtEl>
                                          <p:spTgt spid="19"/>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1000" fill="hold"/>
                                        <p:tgtEl>
                                          <p:spTgt spid="11"/>
                                        </p:tgtEl>
                                        <p:attrNameLst>
                                          <p:attrName>ppt_y</p:attrName>
                                        </p:attrNameLst>
                                      </p:cBhvr>
                                      <p:tavLst>
                                        <p:tav tm="0">
                                          <p:val>
                                            <p:strVal val="#ppt_y+.1"/>
                                          </p:val>
                                        </p:tav>
                                        <p:tav tm="100000">
                                          <p:val>
                                            <p:strVal val="#ppt_y"/>
                                          </p:val>
                                        </p:tav>
                                      </p:tavLst>
                                    </p:anim>
                                  </p:childTnLst>
                                </p:cTn>
                              </p:par>
                            </p:childTnLst>
                          </p:cTn>
                        </p:par>
                        <p:par>
                          <p:cTn id="43" fill="hold">
                            <p:stCondLst>
                              <p:cond delay="4050"/>
                            </p:stCondLst>
                            <p:childTnLst>
                              <p:par>
                                <p:cTn id="44" presetID="42" presetClass="entr" presetSubtype="0"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1000"/>
                                        <p:tgtEl>
                                          <p:spTgt spid="22"/>
                                        </p:tgtEl>
                                      </p:cBhvr>
                                    </p:animEffect>
                                    <p:anim calcmode="lin" valueType="num">
                                      <p:cBhvr>
                                        <p:cTn id="47" dur="1000" fill="hold"/>
                                        <p:tgtEl>
                                          <p:spTgt spid="22"/>
                                        </p:tgtEl>
                                        <p:attrNameLst>
                                          <p:attrName>ppt_x</p:attrName>
                                        </p:attrNameLst>
                                      </p:cBhvr>
                                      <p:tavLst>
                                        <p:tav tm="0">
                                          <p:val>
                                            <p:strVal val="#ppt_x"/>
                                          </p:val>
                                        </p:tav>
                                        <p:tav tm="100000">
                                          <p:val>
                                            <p:strVal val="#ppt_x"/>
                                          </p:val>
                                        </p:tav>
                                      </p:tavLst>
                                    </p:anim>
                                    <p:anim calcmode="lin" valueType="num">
                                      <p:cBhvr>
                                        <p:cTn id="48" dur="1000" fill="hold"/>
                                        <p:tgtEl>
                                          <p:spTgt spid="22"/>
                                        </p:tgtEl>
                                        <p:attrNameLst>
                                          <p:attrName>ppt_y</p:attrName>
                                        </p:attrNameLst>
                                      </p:cBhvr>
                                      <p:tavLst>
                                        <p:tav tm="0">
                                          <p:val>
                                            <p:strVal val="#ppt_y+.1"/>
                                          </p:val>
                                        </p:tav>
                                        <p:tav tm="100000">
                                          <p:val>
                                            <p:strVal val="#ppt_y"/>
                                          </p:val>
                                        </p:tav>
                                      </p:tavLst>
                                    </p:anim>
                                  </p:childTnLst>
                                </p:cTn>
                              </p:par>
                            </p:childTnLst>
                          </p:cTn>
                        </p:par>
                        <p:par>
                          <p:cTn id="49" fill="hold">
                            <p:stCondLst>
                              <p:cond delay="5050"/>
                            </p:stCondLst>
                            <p:childTnLst>
                              <p:par>
                                <p:cTn id="50" presetID="42" presetClass="entr" presetSubtype="0" fill="hold" grpId="0"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childTnLst>
                          </p:cTn>
                        </p:par>
                        <p:par>
                          <p:cTn id="55" fill="hold">
                            <p:stCondLst>
                              <p:cond delay="6050"/>
                            </p:stCondLst>
                            <p:childTnLst>
                              <p:par>
                                <p:cTn id="56" presetID="42" presetClass="entr" presetSubtype="0" fill="hold" nodeType="after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childTnLst>
                          </p:cTn>
                        </p:par>
                        <p:par>
                          <p:cTn id="61" fill="hold">
                            <p:stCondLst>
                              <p:cond delay="7050"/>
                            </p:stCondLst>
                            <p:childTnLst>
                              <p:par>
                                <p:cTn id="62" presetID="42" presetClass="entr" presetSubtype="0" fill="hold" grpId="0" nodeType="after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fade">
                                      <p:cBhvr>
                                        <p:cTn id="64" dur="1000"/>
                                        <p:tgtEl>
                                          <p:spTgt spid="7"/>
                                        </p:tgtEl>
                                      </p:cBhvr>
                                    </p:animEffect>
                                    <p:anim calcmode="lin" valueType="num">
                                      <p:cBhvr>
                                        <p:cTn id="65" dur="1000" fill="hold"/>
                                        <p:tgtEl>
                                          <p:spTgt spid="7"/>
                                        </p:tgtEl>
                                        <p:attrNameLst>
                                          <p:attrName>ppt_x</p:attrName>
                                        </p:attrNameLst>
                                      </p:cBhvr>
                                      <p:tavLst>
                                        <p:tav tm="0">
                                          <p:val>
                                            <p:strVal val="#ppt_x"/>
                                          </p:val>
                                        </p:tav>
                                        <p:tav tm="100000">
                                          <p:val>
                                            <p:strVal val="#ppt_x"/>
                                          </p:val>
                                        </p:tav>
                                      </p:tavLst>
                                    </p:anim>
                                    <p:anim calcmode="lin" valueType="num">
                                      <p:cBhvr>
                                        <p:cTn id="66" dur="1000" fill="hold"/>
                                        <p:tgtEl>
                                          <p:spTgt spid="7"/>
                                        </p:tgtEl>
                                        <p:attrNameLst>
                                          <p:attrName>ppt_y</p:attrName>
                                        </p:attrNameLst>
                                      </p:cBhvr>
                                      <p:tavLst>
                                        <p:tav tm="0">
                                          <p:val>
                                            <p:strVal val="#ppt_y+.1"/>
                                          </p:val>
                                        </p:tav>
                                        <p:tav tm="100000">
                                          <p:val>
                                            <p:strVal val="#ppt_y"/>
                                          </p:val>
                                        </p:tav>
                                      </p:tavLst>
                                    </p:anim>
                                  </p:childTnLst>
                                </p:cTn>
                              </p:par>
                            </p:childTnLst>
                          </p:cTn>
                        </p:par>
                        <p:par>
                          <p:cTn id="67" fill="hold">
                            <p:stCondLst>
                              <p:cond delay="8050"/>
                            </p:stCondLst>
                            <p:childTnLst>
                              <p:par>
                                <p:cTn id="68" presetID="42" presetClass="entr" presetSubtype="0" fill="hold" nodeType="after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1000"/>
                                        <p:tgtEl>
                                          <p:spTgt spid="16"/>
                                        </p:tgtEl>
                                      </p:cBhvr>
                                    </p:animEffect>
                                    <p:anim calcmode="lin" valueType="num">
                                      <p:cBhvr>
                                        <p:cTn id="71" dur="1000" fill="hold"/>
                                        <p:tgtEl>
                                          <p:spTgt spid="16"/>
                                        </p:tgtEl>
                                        <p:attrNameLst>
                                          <p:attrName>ppt_x</p:attrName>
                                        </p:attrNameLst>
                                      </p:cBhvr>
                                      <p:tavLst>
                                        <p:tav tm="0">
                                          <p:val>
                                            <p:strVal val="#ppt_x"/>
                                          </p:val>
                                        </p:tav>
                                        <p:tav tm="100000">
                                          <p:val>
                                            <p:strVal val="#ppt_x"/>
                                          </p:val>
                                        </p:tav>
                                      </p:tavLst>
                                    </p:anim>
                                    <p:anim calcmode="lin" valueType="num">
                                      <p:cBhvr>
                                        <p:cTn id="72" dur="1000" fill="hold"/>
                                        <p:tgtEl>
                                          <p:spTgt spid="16"/>
                                        </p:tgtEl>
                                        <p:attrNameLst>
                                          <p:attrName>ppt_y</p:attrName>
                                        </p:attrNameLst>
                                      </p:cBhvr>
                                      <p:tavLst>
                                        <p:tav tm="0">
                                          <p:val>
                                            <p:strVal val="#ppt_y+.1"/>
                                          </p:val>
                                        </p:tav>
                                        <p:tav tm="100000">
                                          <p:val>
                                            <p:strVal val="#ppt_y"/>
                                          </p:val>
                                        </p:tav>
                                      </p:tavLst>
                                    </p:anim>
                                  </p:childTnLst>
                                </p:cTn>
                              </p:par>
                            </p:childTnLst>
                          </p:cTn>
                        </p:par>
                        <p:par>
                          <p:cTn id="73" fill="hold">
                            <p:stCondLst>
                              <p:cond delay="9050"/>
                            </p:stCondLst>
                            <p:childTnLst>
                              <p:par>
                                <p:cTn id="74" presetID="42" presetClass="entr" presetSubtype="0" fill="hold" grpId="0" nodeType="afterEffect">
                                  <p:stCondLst>
                                    <p:cond delay="0"/>
                                  </p:stCondLst>
                                  <p:childTnLst>
                                    <p:set>
                                      <p:cBhvr>
                                        <p:cTn id="75" dur="1" fill="hold">
                                          <p:stCondLst>
                                            <p:cond delay="0"/>
                                          </p:stCondLst>
                                        </p:cTn>
                                        <p:tgtEl>
                                          <p:spTgt spid="9"/>
                                        </p:tgtEl>
                                        <p:attrNameLst>
                                          <p:attrName>style.visibility</p:attrName>
                                        </p:attrNameLst>
                                      </p:cBhvr>
                                      <p:to>
                                        <p:strVal val="visible"/>
                                      </p:to>
                                    </p:set>
                                    <p:animEffect transition="in" filter="fade">
                                      <p:cBhvr>
                                        <p:cTn id="76" dur="1000"/>
                                        <p:tgtEl>
                                          <p:spTgt spid="9"/>
                                        </p:tgtEl>
                                      </p:cBhvr>
                                    </p:animEffect>
                                    <p:anim calcmode="lin" valueType="num">
                                      <p:cBhvr>
                                        <p:cTn id="77" dur="1000" fill="hold"/>
                                        <p:tgtEl>
                                          <p:spTgt spid="9"/>
                                        </p:tgtEl>
                                        <p:attrNameLst>
                                          <p:attrName>ppt_x</p:attrName>
                                        </p:attrNameLst>
                                      </p:cBhvr>
                                      <p:tavLst>
                                        <p:tav tm="0">
                                          <p:val>
                                            <p:strVal val="#ppt_x"/>
                                          </p:val>
                                        </p:tav>
                                        <p:tav tm="100000">
                                          <p:val>
                                            <p:strVal val="#ppt_x"/>
                                          </p:val>
                                        </p:tav>
                                      </p:tavLst>
                                    </p:anim>
                                    <p:anim calcmode="lin" valueType="num">
                                      <p:cBhvr>
                                        <p:cTn id="7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7" grpId="0" animBg="1"/>
      <p:bldP spid="9" grpId="0" animBg="1"/>
      <p:bldP spid="11" grpId="0" animBg="1"/>
      <p:bldP spid="12"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1" y="230661"/>
            <a:ext cx="1277785"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نکته اخر</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42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نکته</a:t>
            </a:r>
          </a:p>
        </p:txBody>
      </p:sp>
      <p:sp>
        <p:nvSpPr>
          <p:cNvPr id="11" name="Google Shape;317;p20">
            <a:hlinkClick r:id="rId3" action="ppaction://hlinksldjump"/>
            <a:extLst>
              <a:ext uri="{FF2B5EF4-FFF2-40B4-BE49-F238E27FC236}">
                <a16:creationId xmlns:a16="http://schemas.microsoft.com/office/drawing/2014/main" id="{E6387FD0-90AE-9973-EE79-65F4F9A2B62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2" name="Google Shape;317;p20">
            <a:hlinkClick r:id="rId3" action="ppaction://hlinksldjump"/>
            <a:extLst>
              <a:ext uri="{FF2B5EF4-FFF2-40B4-BE49-F238E27FC236}">
                <a16:creationId xmlns:a16="http://schemas.microsoft.com/office/drawing/2014/main" id="{F154B5A4-B757-67F7-A4F9-2B6D7C72046F}"/>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3" name="Google Shape;317;p20">
            <a:hlinkClick r:id="rId3" action="ppaction://hlinksldjump"/>
            <a:extLst>
              <a:ext uri="{FF2B5EF4-FFF2-40B4-BE49-F238E27FC236}">
                <a16:creationId xmlns:a16="http://schemas.microsoft.com/office/drawing/2014/main" id="{00C2FF26-70CA-2FA9-1D36-9033A93CB975}"/>
              </a:ext>
            </a:extLst>
          </p:cNvPr>
          <p:cNvSpPr txBox="1"/>
          <p:nvPr/>
        </p:nvSpPr>
        <p:spPr>
          <a:xfrm>
            <a:off x="4695090" y="4750661"/>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نمونه برداری</a:t>
            </a:r>
          </a:p>
        </p:txBody>
      </p:sp>
      <p:pic>
        <p:nvPicPr>
          <p:cNvPr id="14" name="Picture 13">
            <a:extLst>
              <a:ext uri="{FF2B5EF4-FFF2-40B4-BE49-F238E27FC236}">
                <a16:creationId xmlns:a16="http://schemas.microsoft.com/office/drawing/2014/main" id="{5271B3CA-F19E-C416-DD5C-F1C226B8F49E}"/>
              </a:ext>
            </a:extLst>
          </p:cNvPr>
          <p:cNvPicPr>
            <a:picLocks noChangeAspect="1"/>
          </p:cNvPicPr>
          <p:nvPr/>
        </p:nvPicPr>
        <p:blipFill>
          <a:blip r:embed="rId4"/>
          <a:stretch>
            <a:fillRect/>
          </a:stretch>
        </p:blipFill>
        <p:spPr>
          <a:xfrm>
            <a:off x="-23012" y="47820"/>
            <a:ext cx="4854167" cy="3920738"/>
          </a:xfrm>
          <a:prstGeom prst="rect">
            <a:avLst/>
          </a:prstGeom>
          <a:ln>
            <a:noFill/>
          </a:ln>
          <a:effectLst>
            <a:softEdge rad="112500"/>
          </a:effectLst>
        </p:spPr>
      </p:pic>
      <p:sp>
        <p:nvSpPr>
          <p:cNvPr id="15" name="Rectangle 14">
            <a:extLst>
              <a:ext uri="{FF2B5EF4-FFF2-40B4-BE49-F238E27FC236}">
                <a16:creationId xmlns:a16="http://schemas.microsoft.com/office/drawing/2014/main" id="{75918CEC-06AF-1B65-4139-E44913B9D8D2}"/>
              </a:ext>
            </a:extLst>
          </p:cNvPr>
          <p:cNvSpPr/>
          <p:nvPr/>
        </p:nvSpPr>
        <p:spPr>
          <a:xfrm>
            <a:off x="4570352" y="1017748"/>
            <a:ext cx="3673710" cy="2794131"/>
          </a:xfrm>
          <a:prstGeom prst="rect">
            <a:avLst/>
          </a:prstGeom>
          <a:solidFill>
            <a:schemeClr val="bg1">
              <a:alpha val="90000"/>
            </a:schemeClr>
          </a:solidFill>
          <a:ln>
            <a:solidFill>
              <a:schemeClr val="accent2"/>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وزن اسمی هر کیسه سیمان پرتلند پوزولانی ۵۰ کیلوگرم میباشد. چنانکه وزن هر کیسه کمتر از       ۴۹کیلوگرم باشد، میتواند از سوی خریدار پذیرفته نشود و چنانکه وزن میانگین ۵۰ کیسه که بطور تصادفی از یک محموله انتخاب و توزیع میشود کمتر از ۵۰ کیلوگرم باشد کل محموله مردود و غیرقابل پذیرش میباشد.</a:t>
            </a:r>
          </a:p>
        </p:txBody>
      </p:sp>
    </p:spTree>
    <p:extLst>
      <p:ext uri="{BB962C8B-B14F-4D97-AF65-F5344CB8AC3E}">
        <p14:creationId xmlns:p14="http://schemas.microsoft.com/office/powerpoint/2010/main" val="344361039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10" presetClass="entr" presetSubtype="0" fill="hold"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par>
                          <p:cTn id="35" fill="hold">
                            <p:stCondLst>
                              <p:cond delay="2550"/>
                            </p:stCondLst>
                            <p:childTnLst>
                              <p:par>
                                <p:cTn id="36" presetID="42" presetClass="entr" presetSubtype="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1000"/>
                                        <p:tgtEl>
                                          <p:spTgt spid="15"/>
                                        </p:tgtEl>
                                      </p:cBhvr>
                                    </p:animEffect>
                                    <p:anim calcmode="lin" valueType="num">
                                      <p:cBhvr>
                                        <p:cTn id="39" dur="1000" fill="hold"/>
                                        <p:tgtEl>
                                          <p:spTgt spid="15"/>
                                        </p:tgtEl>
                                        <p:attrNameLst>
                                          <p:attrName>ppt_x</p:attrName>
                                        </p:attrNameLst>
                                      </p:cBhvr>
                                      <p:tavLst>
                                        <p:tav tm="0">
                                          <p:val>
                                            <p:strVal val="#ppt_x"/>
                                          </p:val>
                                        </p:tav>
                                        <p:tav tm="100000">
                                          <p:val>
                                            <p:strVal val="#ppt_x"/>
                                          </p:val>
                                        </p:tav>
                                      </p:tavLst>
                                    </p:anim>
                                    <p:anim calcmode="lin" valueType="num">
                                      <p:cBhvr>
                                        <p:cTn id="4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4530311" y="1992257"/>
            <a:ext cx="4130167"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مشخصات فنی عمومی کارهای ساختمانی</a:t>
            </a:r>
            <a:endParaRPr sz="3600" b="1"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416551" y="2074114"/>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11794640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5935166" y="230661"/>
            <a:ext cx="2893170"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مشخصات فنی عمومی ساختمان چیست</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43</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1" name="Google Shape;317;p20">
            <a:hlinkClick r:id="rId3" action="ppaction://hlinksldjump"/>
            <a:extLst>
              <a:ext uri="{FF2B5EF4-FFF2-40B4-BE49-F238E27FC236}">
                <a16:creationId xmlns:a16="http://schemas.microsoft.com/office/drawing/2014/main" id="{CE53F2F4-1729-3E95-9F09-CA90F53D29E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731397" y="835556"/>
            <a:ext cx="7841987" cy="2657457"/>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نشریه حاضر با عنوان «مشخصات فنی عمومی کار های ساختمانی» به منظور ایجاد هماهنگی و یکنواختی در دستورالعمل های اجرایی کار های ساختمانی کشور و همچنین رعایت اصول، روشها و فنون اجرایی متناسب با امکانات موجود و سازگار با شرایط و مقتضیات اقلیمی کشور، تهیه و تدوین گردیده است.</a:t>
            </a:r>
          </a:p>
          <a:p>
            <a:pPr algn="justLow" rtl="1">
              <a:lnSpc>
                <a:spcPct val="150000"/>
              </a:lnSpc>
            </a:pPr>
            <a:r>
              <a:rPr lang="fa-IR" sz="1600" dirty="0">
                <a:solidFill>
                  <a:schemeClr val="tx1">
                    <a:lumMod val="95000"/>
                    <a:lumOff val="5000"/>
                  </a:schemeClr>
                </a:solidFill>
                <a:cs typeface="IRAN Sans" panose="020B0400000000000000" pitchFamily="34" charset="-78"/>
              </a:rPr>
              <a:t>این نشریه به خودی خود کامل بوده و اجرا کنندگان باید با توجه به این مشخصات نسبت به اجرای عملیات ساختمانی زیر نظر دستگاه بپردازند. برای تکمیل این مشخصات،بسته به نیاز چنانچه مشخصات و ضوابطی در نشریه مشخصات خصوصی وجود داشته باشد که مغایر با مندرجات این نشریه باشد،اولویت با مشخصات فنی خصوصی است.</a:t>
            </a:r>
          </a:p>
        </p:txBody>
      </p:sp>
      <p:sp>
        <p:nvSpPr>
          <p:cNvPr id="13" name="Google Shape;309;p20">
            <a:hlinkClick r:id="rId4" action="ppaction://hlinksldjump"/>
            <a:extLst>
              <a:ext uri="{FF2B5EF4-FFF2-40B4-BE49-F238E27FC236}">
                <a16:creationId xmlns:a16="http://schemas.microsoft.com/office/drawing/2014/main" id="{D26D8E6A-2F96-1086-1AF0-EF63E977435F}"/>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15" name="Google Shape;317;p20">
            <a:hlinkClick r:id="rId3" action="ppaction://hlinksldjump"/>
            <a:extLst>
              <a:ext uri="{FF2B5EF4-FFF2-40B4-BE49-F238E27FC236}">
                <a16:creationId xmlns:a16="http://schemas.microsoft.com/office/drawing/2014/main" id="{AA6426E8-7353-F43F-6744-7F0BD1DDE700}"/>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16" name="Google Shape;324;p20">
            <a:hlinkClick r:id="rId5" action="ppaction://hlinksldjump"/>
            <a:extLst>
              <a:ext uri="{FF2B5EF4-FFF2-40B4-BE49-F238E27FC236}">
                <a16:creationId xmlns:a16="http://schemas.microsoft.com/office/drawing/2014/main" id="{995F17F8-0F3D-FD97-7F32-0FA57E24D4D1}"/>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 name="Google Shape;301;p20">
            <a:hlinkClick r:id="rId6" action="ppaction://hlinksldjump"/>
            <a:extLst>
              <a:ext uri="{FF2B5EF4-FFF2-40B4-BE49-F238E27FC236}">
                <a16:creationId xmlns:a16="http://schemas.microsoft.com/office/drawing/2014/main" id="{FD77068F-A3A5-E6D3-1CF5-5C9AB4D973F4}"/>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02435235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263828" y="230661"/>
            <a:ext cx="156450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آماده کردن کارگاه</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44</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3" name="Rectangle 12">
            <a:extLst>
              <a:ext uri="{FF2B5EF4-FFF2-40B4-BE49-F238E27FC236}">
                <a16:creationId xmlns:a16="http://schemas.microsoft.com/office/drawing/2014/main" id="{941CD57B-6AC3-EEAD-BC5F-3DC5F6C10A70}"/>
              </a:ext>
            </a:extLst>
          </p:cNvPr>
          <p:cNvSpPr/>
          <p:nvPr/>
        </p:nvSpPr>
        <p:spPr>
          <a:xfrm>
            <a:off x="4781794" y="1005829"/>
            <a:ext cx="3486748" cy="2424799"/>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پس از تحویل کارگاه، پیمانکار باید بر اساس بر اساس ضوابط و مندرجات قرار داد نسبت به اماده سازی کارگاه اقدام نماید</a:t>
            </a:r>
          </a:p>
          <a:p>
            <a:pPr algn="justLow" rtl="1">
              <a:lnSpc>
                <a:spcPct val="150000"/>
              </a:lnSpc>
            </a:pPr>
            <a:r>
              <a:rPr lang="fa-IR" sz="1600" dirty="0">
                <a:solidFill>
                  <a:schemeClr val="tx1">
                    <a:lumMod val="95000"/>
                    <a:lumOff val="5000"/>
                  </a:schemeClr>
                </a:solidFill>
                <a:cs typeface="IRAN Sans" panose="020B0400000000000000" pitchFamily="34" charset="-78"/>
              </a:rPr>
              <a:t>اماده سازی اولیه به منظور استقرار عوامل اجرایی و شروع کار به شرح صفحات بعد است:</a:t>
            </a:r>
          </a:p>
        </p:txBody>
      </p:sp>
      <p:pic>
        <p:nvPicPr>
          <p:cNvPr id="15" name="Picture 14">
            <a:extLst>
              <a:ext uri="{FF2B5EF4-FFF2-40B4-BE49-F238E27FC236}">
                <a16:creationId xmlns:a16="http://schemas.microsoft.com/office/drawing/2014/main" id="{593F16EA-9563-B7FC-388A-30B25053D219}"/>
              </a:ext>
            </a:extLst>
          </p:cNvPr>
          <p:cNvPicPr>
            <a:picLocks noChangeAspect="1"/>
          </p:cNvPicPr>
          <p:nvPr/>
        </p:nvPicPr>
        <p:blipFill>
          <a:blip r:embed="rId4"/>
          <a:stretch>
            <a:fillRect/>
          </a:stretch>
        </p:blipFill>
        <p:spPr>
          <a:xfrm>
            <a:off x="670354" y="371454"/>
            <a:ext cx="3512461" cy="3643913"/>
          </a:xfrm>
          <a:prstGeom prst="rect">
            <a:avLst/>
          </a:prstGeom>
          <a:ln>
            <a:noFill/>
          </a:ln>
          <a:effectLst>
            <a:softEdge rad="112500"/>
          </a:effectLst>
        </p:spPr>
      </p:pic>
      <p:sp>
        <p:nvSpPr>
          <p:cNvPr id="16" name="Google Shape;317;p20">
            <a:hlinkClick r:id="rId3" action="ppaction://hlinksldjump"/>
            <a:extLst>
              <a:ext uri="{FF2B5EF4-FFF2-40B4-BE49-F238E27FC236}">
                <a16:creationId xmlns:a16="http://schemas.microsoft.com/office/drawing/2014/main" id="{B0E41DCC-BE21-784E-D284-9D5A99AB987C}"/>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18" name="Google Shape;309;p20">
            <a:hlinkClick r:id="rId5" action="ppaction://hlinksldjump"/>
            <a:extLst>
              <a:ext uri="{FF2B5EF4-FFF2-40B4-BE49-F238E27FC236}">
                <a16:creationId xmlns:a16="http://schemas.microsoft.com/office/drawing/2014/main" id="{0421EC23-3F96-3D01-1469-CD0B01635BBF}"/>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19" name="Google Shape;317;p20">
            <a:hlinkClick r:id="rId3" action="ppaction://hlinksldjump"/>
            <a:extLst>
              <a:ext uri="{FF2B5EF4-FFF2-40B4-BE49-F238E27FC236}">
                <a16:creationId xmlns:a16="http://schemas.microsoft.com/office/drawing/2014/main" id="{AF1341DA-80F7-21A8-2AA6-0D37A89C2D30}"/>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20" name="Google Shape;324;p20">
            <a:hlinkClick r:id="rId6" action="ppaction://hlinksldjump"/>
            <a:extLst>
              <a:ext uri="{FF2B5EF4-FFF2-40B4-BE49-F238E27FC236}">
                <a16:creationId xmlns:a16="http://schemas.microsoft.com/office/drawing/2014/main" id="{F8CB0A4E-29A7-22AD-54BD-A0BB913CD28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1" name="Google Shape;301;p20">
            <a:hlinkClick r:id="rId7" action="ppaction://hlinksldjump"/>
            <a:extLst>
              <a:ext uri="{FF2B5EF4-FFF2-40B4-BE49-F238E27FC236}">
                <a16:creationId xmlns:a16="http://schemas.microsoft.com/office/drawing/2014/main" id="{2A6B5CE6-21DA-B5CB-A9CB-17E2490107B5}"/>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2028704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2" presetClass="entr" presetSubtype="4"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down)">
                                      <p:cBhvr>
                                        <p:cTn id="25" dur="500"/>
                                        <p:tgtEl>
                                          <p:spTgt spid="13"/>
                                        </p:tgtEl>
                                      </p:cBhvr>
                                    </p:animEffect>
                                  </p:childTnLst>
                                </p:cTn>
                              </p:par>
                            </p:childTnLst>
                          </p:cTn>
                        </p:par>
                        <p:par>
                          <p:cTn id="26" fill="hold">
                            <p:stCondLst>
                              <p:cond delay="2050"/>
                            </p:stCondLst>
                            <p:childTnLst>
                              <p:par>
                                <p:cTn id="27" presetID="10" presetClass="entr" presetSubtype="0" fill="hold"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472720" y="230661"/>
            <a:ext cx="2355616"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تخریب ساختمانهای موجود</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45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C4913245-D461-36BD-548B-2B0A3980EF13}"/>
              </a:ext>
            </a:extLst>
          </p:cNvPr>
          <p:cNvSpPr/>
          <p:nvPr/>
        </p:nvSpPr>
        <p:spPr>
          <a:xfrm>
            <a:off x="197976" y="772774"/>
            <a:ext cx="8891435" cy="3169170"/>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تخریب ساختمانهای موجود:</a:t>
            </a:r>
          </a:p>
          <a:p>
            <a:pPr algn="justLow" rtl="1">
              <a:lnSpc>
                <a:spcPct val="150000"/>
              </a:lnSpc>
            </a:pPr>
            <a:r>
              <a:rPr lang="fa-IR" dirty="0">
                <a:solidFill>
                  <a:schemeClr val="tx1">
                    <a:lumMod val="95000"/>
                    <a:lumOff val="5000"/>
                  </a:schemeClr>
                </a:solidFill>
                <a:cs typeface="IRAN Sans" panose="020B0400000000000000" pitchFamily="34" charset="-78"/>
              </a:rPr>
              <a:t>ساختمانهای موجود و قدیمی که در محدوده عملیاتی پروژه و در محل اجرا و استقرار بناهای جدید بوده و به منظور انجام کار تخریب آنها ضروری است باید با نظر کارفرما طبق دستورات دستگاه نظارت اندازه گیری، صورت مجلس و تخریب شوند. این موارد باید در مشخصات فنی خصوصی ذکر گردند. قبل از شروع به تخریب ساختمانها باید مسائل ایمنی و اصول فنی در مورد قطع و کنترل انشعابات خطوط اب،برق،تلفن و ...با هماهنگی سازمانهای مسئول مراعات گردد .در صورت لزوم باید مصالح حاصل از تخریب مطابق دستگاه نظارت دسته بندی و در محل های مناسب انبار شوند.</a:t>
            </a:r>
          </a:p>
          <a:p>
            <a:pPr algn="justLow" rtl="1">
              <a:lnSpc>
                <a:spcPct val="150000"/>
              </a:lnSpc>
            </a:pPr>
            <a:r>
              <a:rPr lang="fa-IR" dirty="0">
                <a:solidFill>
                  <a:schemeClr val="tx1">
                    <a:lumMod val="95000"/>
                    <a:lumOff val="5000"/>
                  </a:schemeClr>
                </a:solidFill>
                <a:cs typeface="IRAN Sans" panose="020B0400000000000000" pitchFamily="34" charset="-78"/>
              </a:rPr>
              <a:t>طور کلی تخریب و حذف ساختمانهای موجود در محل اجرای پروژه باید با نظر و تصویب قبلی صورت گیرد. ساختمانهای مربوط به آثار باستانی از شمول این قسمت خارج است و هیچ گونه دخل و تصرف در آنها مجاز نبوده و باید با کسب مجوز و زیر نظر مقامات رسمی ذی صلاح اقدام لازم صورت گیرد.</a:t>
            </a:r>
          </a:p>
        </p:txBody>
      </p:sp>
      <p:sp>
        <p:nvSpPr>
          <p:cNvPr id="6" name="Google Shape;317;p20">
            <a:hlinkClick r:id="rId3" action="ppaction://hlinksldjump"/>
            <a:extLst>
              <a:ext uri="{FF2B5EF4-FFF2-40B4-BE49-F238E27FC236}">
                <a16:creationId xmlns:a16="http://schemas.microsoft.com/office/drawing/2014/main" id="{88FF9686-AC1A-6F6E-BE8E-A4A2C7827C4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4" name="Google Shape;317;p20">
            <a:hlinkClick r:id="rId3" action="ppaction://hlinksldjump"/>
            <a:extLst>
              <a:ext uri="{FF2B5EF4-FFF2-40B4-BE49-F238E27FC236}">
                <a16:creationId xmlns:a16="http://schemas.microsoft.com/office/drawing/2014/main" id="{C8222D33-EE8F-FB72-BEC7-D17B0743545C}"/>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9" name="Google Shape;309;p20">
            <a:hlinkClick r:id="rId4" action="ppaction://hlinksldjump"/>
            <a:extLst>
              <a:ext uri="{FF2B5EF4-FFF2-40B4-BE49-F238E27FC236}">
                <a16:creationId xmlns:a16="http://schemas.microsoft.com/office/drawing/2014/main" id="{B41B4B7F-AF84-B484-037D-65A25A5197E2}"/>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11" name="Google Shape;317;p20">
            <a:hlinkClick r:id="rId3" action="ppaction://hlinksldjump"/>
            <a:extLst>
              <a:ext uri="{FF2B5EF4-FFF2-40B4-BE49-F238E27FC236}">
                <a16:creationId xmlns:a16="http://schemas.microsoft.com/office/drawing/2014/main" id="{B961F7D6-0962-AFA0-34C0-50255656034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12" name="Google Shape;324;p20">
            <a:hlinkClick r:id="rId5" action="ppaction://hlinksldjump"/>
            <a:extLst>
              <a:ext uri="{FF2B5EF4-FFF2-40B4-BE49-F238E27FC236}">
                <a16:creationId xmlns:a16="http://schemas.microsoft.com/office/drawing/2014/main" id="{9761E9B5-9A25-6498-B483-C5A0625218DE}"/>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3" name="Google Shape;301;p20">
            <a:hlinkClick r:id="rId6" action="ppaction://hlinksldjump"/>
            <a:extLst>
              <a:ext uri="{FF2B5EF4-FFF2-40B4-BE49-F238E27FC236}">
                <a16:creationId xmlns:a16="http://schemas.microsoft.com/office/drawing/2014/main" id="{F969F2CF-6146-66DB-F45C-4C8884F9C085}"/>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9406679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تسطیح محوطه، گود برداری‌ها و زهکشی</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46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3"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317;p20">
            <a:hlinkClick r:id="rId4" action="ppaction://hlinksldjump"/>
            <a:extLst>
              <a:ext uri="{FF2B5EF4-FFF2-40B4-BE49-F238E27FC236}">
                <a16:creationId xmlns:a16="http://schemas.microsoft.com/office/drawing/2014/main" id="{CF9DFF94-81BA-117B-0D3F-205764B9CF3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5" name="Google Shape;317;p20">
            <a:hlinkClick r:id="rId4" action="ppaction://hlinksldjump"/>
            <a:extLst>
              <a:ext uri="{FF2B5EF4-FFF2-40B4-BE49-F238E27FC236}">
                <a16:creationId xmlns:a16="http://schemas.microsoft.com/office/drawing/2014/main" id="{BC8350D3-BB61-D2F3-01BF-7A14B11F0E48}"/>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7" name="Rectangle 6">
            <a:extLst>
              <a:ext uri="{FF2B5EF4-FFF2-40B4-BE49-F238E27FC236}">
                <a16:creationId xmlns:a16="http://schemas.microsoft.com/office/drawing/2014/main" id="{92AE6D2D-CC17-C32D-8A91-377B0E67FBCF}"/>
              </a:ext>
            </a:extLst>
          </p:cNvPr>
          <p:cNvSpPr/>
          <p:nvPr/>
        </p:nvSpPr>
        <p:spPr>
          <a:xfrm>
            <a:off x="197976" y="740621"/>
            <a:ext cx="8756768" cy="3123003"/>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چنانچه محوطه کارگاه دارای پستی و بلندیهای زیاد باشد به نحوی که مانع از شروع اجرای عملیات گردد، پیمانکار باید با نظر دستگاه نظارت نسبت به تسطیح محوطه تا تراز مورد نظر و پاک کردن آن اقدام نماید.</a:t>
            </a:r>
          </a:p>
          <a:p>
            <a:pPr algn="justLow" rtl="1">
              <a:lnSpc>
                <a:spcPct val="150000"/>
              </a:lnSpc>
            </a:pPr>
            <a:r>
              <a:rPr lang="fa-IR" dirty="0">
                <a:solidFill>
                  <a:schemeClr val="tx1">
                    <a:lumMod val="95000"/>
                    <a:lumOff val="5000"/>
                  </a:schemeClr>
                </a:solidFill>
                <a:cs typeface="IRAN Sans" panose="020B0400000000000000" pitchFamily="34" charset="-78"/>
              </a:rPr>
              <a:t>گود برداری محل سازه ها باید با توجه به رعایت نکات ایمنی و حفظ ساختمانهای موجود همجوار و رعایت مقررات و دستورالعملهای شهرداریها و وزارت کار صورت گیرد و تدابیر لازم هنگام گودبرداریها و حین عملیات ساختمانی در مورد حفاظت ساختمانهای همجوار اتخاذ گردد. چنانچه محل اجرای پروژه در محدوده شهرها و در نقاط مسکونی باشد پیمانکار باید نسبت به ایجاد دیوارهای موقت و جدا کننده محل کارگاه در سواره روها و پیاده روها اقدام نموده و شرایط ایمن سازی محوطه را برای عبور عابرین و وسائط نقلیه کاملاً فراهم نماید. پیمانکار مسئول جبران خسارات وارده به شخص ثالث در اثر عدم رعایت نکات ایمنی فوق الذکر خواهد بود.</a:t>
            </a:r>
          </a:p>
          <a:p>
            <a:pPr algn="justLow" rtl="1">
              <a:lnSpc>
                <a:spcPct val="150000"/>
              </a:lnSpc>
            </a:pPr>
            <a:r>
              <a:rPr lang="fa-IR" dirty="0">
                <a:solidFill>
                  <a:schemeClr val="tx1">
                    <a:lumMod val="95000"/>
                    <a:lumOff val="5000"/>
                  </a:schemeClr>
                </a:solidFill>
                <a:cs typeface="IRAN Sans" panose="020B0400000000000000" pitchFamily="34" charset="-78"/>
              </a:rPr>
              <a:t>کنترل و هدایت اب های سطح الارضی به داخل گود ها و محل حفاریها باید با نظر دستگاه نظارت و بر اساس ضوابط و مندرجات قرار داد و سایر ضوابط قانونی در پروژه های شهری صورت بگیرد.</a:t>
            </a:r>
            <a:endParaRPr lang="fa-IR" sz="1200" dirty="0">
              <a:solidFill>
                <a:schemeClr val="tx1">
                  <a:lumMod val="95000"/>
                  <a:lumOff val="5000"/>
                </a:schemeClr>
              </a:solidFill>
              <a:cs typeface="IRAN Sans" panose="020B0400000000000000" pitchFamily="34" charset="-78"/>
            </a:endParaRPr>
          </a:p>
        </p:txBody>
      </p:sp>
      <p:sp>
        <p:nvSpPr>
          <p:cNvPr id="8" name="Google Shape;317;p20">
            <a:hlinkClick r:id="rId4" action="ppaction://hlinksldjump"/>
            <a:extLst>
              <a:ext uri="{FF2B5EF4-FFF2-40B4-BE49-F238E27FC236}">
                <a16:creationId xmlns:a16="http://schemas.microsoft.com/office/drawing/2014/main" id="{CCCEBC44-39DE-E006-17AA-DBD2E6F146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9" name="Google Shape;324;p20">
            <a:hlinkClick r:id="rId5" action="ppaction://hlinksldjump"/>
            <a:extLst>
              <a:ext uri="{FF2B5EF4-FFF2-40B4-BE49-F238E27FC236}">
                <a16:creationId xmlns:a16="http://schemas.microsoft.com/office/drawing/2014/main" id="{02EB10BF-3531-63B1-AB31-D3EDCA745027}"/>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1;p20">
            <a:hlinkClick r:id="rId6" action="ppaction://hlinksldjump"/>
            <a:extLst>
              <a:ext uri="{FF2B5EF4-FFF2-40B4-BE49-F238E27FC236}">
                <a16:creationId xmlns:a16="http://schemas.microsoft.com/office/drawing/2014/main" id="{2A8B361E-D6E4-CF38-0D3D-4DBAE73097EC}"/>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9840418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1000"/>
                                        <p:tgtEl>
                                          <p:spTgt spid="7"/>
                                        </p:tgtEl>
                                      </p:cBhvr>
                                    </p:animEffect>
                                    <p:anim calcmode="lin" valueType="num">
                                      <p:cBhvr>
                                        <p:cTn id="35" dur="1000" fill="hold"/>
                                        <p:tgtEl>
                                          <p:spTgt spid="7"/>
                                        </p:tgtEl>
                                        <p:attrNameLst>
                                          <p:attrName>ppt_x</p:attrName>
                                        </p:attrNameLst>
                                      </p:cBhvr>
                                      <p:tavLst>
                                        <p:tav tm="0">
                                          <p:val>
                                            <p:strVal val="#ppt_x"/>
                                          </p:val>
                                        </p:tav>
                                        <p:tav tm="100000">
                                          <p:val>
                                            <p:strVal val="#ppt_x"/>
                                          </p:val>
                                        </p:tav>
                                      </p:tavLst>
                                    </p:anim>
                                    <p:anim calcmode="lin" valueType="num">
                                      <p:cBhvr>
                                        <p:cTn id="3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053806" y="230661"/>
            <a:ext cx="1774530"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نقاط نشانه و مبدا</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47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10" name="Rectangle 9">
            <a:extLst>
              <a:ext uri="{FF2B5EF4-FFF2-40B4-BE49-F238E27FC236}">
                <a16:creationId xmlns:a16="http://schemas.microsoft.com/office/drawing/2014/main" id="{C9A15FCE-B16F-D5B0-B649-66D5D1C21241}"/>
              </a:ext>
            </a:extLst>
          </p:cNvPr>
          <p:cNvSpPr/>
          <p:nvPr/>
        </p:nvSpPr>
        <p:spPr>
          <a:xfrm>
            <a:off x="955789" y="905158"/>
            <a:ext cx="7229126" cy="2476672"/>
          </a:xfrm>
          <a:prstGeom prst="rect">
            <a:avLst/>
          </a:prstGeom>
          <a:solidFill>
            <a:schemeClr val="bg1">
              <a:alpha val="90000"/>
            </a:schemeClr>
          </a:solidFill>
          <a:ln>
            <a:solidFill>
              <a:schemeClr val="accent4"/>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برای پیاده کردن قسمتهای مختلف پروژه و تعیین حدود قانونی کار و مرز عملیات قرارداد بر اساس نقشه های اجرایی، مقدار کافی نقاط نشانه و مبدأ از طرف کارفرما و دستگاه نظارت طی صورتجلسه ای هنگام تحویل زمین در اختیار پیمانکار قرار داده خواهد شد.</a:t>
            </a:r>
          </a:p>
          <a:p>
            <a:pPr algn="justLow" rtl="1">
              <a:lnSpc>
                <a:spcPct val="150000"/>
              </a:lnSpc>
            </a:pPr>
            <a:r>
              <a:rPr lang="fa-IR" dirty="0">
                <a:solidFill>
                  <a:schemeClr val="tx1">
                    <a:lumMod val="95000"/>
                    <a:lumOff val="5000"/>
                  </a:schemeClr>
                </a:solidFill>
                <a:cs typeface="IRAN Sans" panose="020B0400000000000000" pitchFamily="34" charset="-78"/>
              </a:rPr>
              <a:t> پیمانکار موظف است نسبت به حفظ و حراست این نشانه‌ها ضمن عملیات اجرایی و تا پایان کار و تحویل موقت اقدام نماید. در صورت نیاز پیمانکار موظف است بر اساس نشانه‌های اصلی نسبت به ایجاد نشانه های فرعی و کمکی اقدام نماید.این نشانه ها باید توسط پایه های بتنی حداقل ۱۵× ۱۵ و ارتفاع ۷۰ سانتیمتر ساخته شود و حداقل ۲۰ سانتیمتر از آن از سطح زمین تسطیح شده اجرای عملیات بالاتر باشد.</a:t>
            </a:r>
            <a:endParaRPr lang="fa-IR" sz="1200" dirty="0">
              <a:solidFill>
                <a:schemeClr val="tx1">
                  <a:lumMod val="95000"/>
                  <a:lumOff val="5000"/>
                </a:schemeClr>
              </a:solidFill>
              <a:cs typeface="IRAN Sans" panose="020B0400000000000000" pitchFamily="34" charset="-78"/>
            </a:endParaRP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2" name="Google Shape;317;p20">
            <a:hlinkClick r:id="rId3" action="ppaction://hlinksldjump"/>
            <a:extLst>
              <a:ext uri="{FF2B5EF4-FFF2-40B4-BE49-F238E27FC236}">
                <a16:creationId xmlns:a16="http://schemas.microsoft.com/office/drawing/2014/main" id="{8F1FE5FC-B885-B5C4-5835-94193C958A05}"/>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13" name="Google Shape;309;p20">
            <a:hlinkClick r:id="rId4" action="ppaction://hlinksldjump"/>
            <a:extLst>
              <a:ext uri="{FF2B5EF4-FFF2-40B4-BE49-F238E27FC236}">
                <a16:creationId xmlns:a16="http://schemas.microsoft.com/office/drawing/2014/main" id="{40428FBD-4A20-ABCF-3940-38C52A7C0D3F}"/>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14" name="Google Shape;324;p20">
            <a:hlinkClick r:id="rId5" action="ppaction://hlinksldjump"/>
            <a:extLst>
              <a:ext uri="{FF2B5EF4-FFF2-40B4-BE49-F238E27FC236}">
                <a16:creationId xmlns:a16="http://schemas.microsoft.com/office/drawing/2014/main" id="{E6A1404B-5112-E046-8ABD-6AEDC011889C}"/>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5" name="Google Shape;301;p20">
            <a:hlinkClick r:id="rId6" action="ppaction://hlinksldjump"/>
            <a:extLst>
              <a:ext uri="{FF2B5EF4-FFF2-40B4-BE49-F238E27FC236}">
                <a16:creationId xmlns:a16="http://schemas.microsoft.com/office/drawing/2014/main" id="{F75F3776-79D1-F59C-D3DA-4D99DC3D0DC5}"/>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08353095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845996" y="230661"/>
            <a:ext cx="2982340"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پر کردن چاه ها، قنوات و قطع اشجار</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48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9AE1C37C-2030-469B-CAA3-E03DFE6D6FA8}"/>
              </a:ext>
            </a:extLst>
          </p:cNvPr>
          <p:cNvSpPr/>
          <p:nvPr/>
        </p:nvSpPr>
        <p:spPr>
          <a:xfrm>
            <a:off x="955789" y="905158"/>
            <a:ext cx="7229126" cy="2153507"/>
          </a:xfrm>
          <a:prstGeom prst="rect">
            <a:avLst/>
          </a:prstGeom>
          <a:solidFill>
            <a:schemeClr val="bg1">
              <a:alpha val="90000"/>
            </a:schemeClr>
          </a:solidFill>
          <a:ln>
            <a:solidFill>
              <a:schemeClr val="accent2"/>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چاههای آب و فاضلاب و قنوات متروکه که در محوطه عملیاتی پروژه واقع شده اند و پر کردن آنها ضروری است باید با نظر دستگاه نظارت پر و ساخته شوند. نحوه اجرای عملیات و چگونگی پرداخت حق الزحمه مربوط به آنها با نظر دستگاه نظارت و توافق پیمانکار صورت خواهد گرفت.</a:t>
            </a:r>
          </a:p>
          <a:p>
            <a:pPr algn="justLow" rtl="1">
              <a:lnSpc>
                <a:spcPct val="150000"/>
              </a:lnSpc>
            </a:pPr>
            <a:r>
              <a:rPr lang="fa-IR" dirty="0">
                <a:solidFill>
                  <a:schemeClr val="tx1">
                    <a:lumMod val="95000"/>
                    <a:lumOff val="5000"/>
                  </a:schemeClr>
                </a:solidFill>
                <a:cs typeface="IRAN Sans" panose="020B0400000000000000" pitchFamily="34" charset="-78"/>
              </a:rPr>
              <a:t>پاک کردن محوطه از ریشه درختان و اشجار باید با نظر دستگاه نظارت صورت گیرد. به طور کلی لزوم قطع اشجار باید قبلاً به تصویب کارفرما رسیده باشد جمع آوری درختان و ریشه ها و برداشت خاک زراعی خاک (نباتی) تا عمقهای خواسته شده و تخلیه آنها به نقاط مشخص طبق دستور دستگاه نظارت صورت خواهد گرفت.</a:t>
            </a:r>
            <a:endParaRPr lang="fa-IR" sz="1200" dirty="0">
              <a:solidFill>
                <a:schemeClr val="tx1">
                  <a:lumMod val="95000"/>
                  <a:lumOff val="5000"/>
                </a:schemeClr>
              </a:solidFill>
              <a:cs typeface="IRAN Sans" panose="020B0400000000000000" pitchFamily="34" charset="-78"/>
            </a:endParaRPr>
          </a:p>
        </p:txBody>
      </p:sp>
      <p:sp>
        <p:nvSpPr>
          <p:cNvPr id="3" name="Google Shape;301;p20">
            <a:hlinkClick r:id="rId5" action="ppaction://hlinksldjump"/>
            <a:extLst>
              <a:ext uri="{FF2B5EF4-FFF2-40B4-BE49-F238E27FC236}">
                <a16:creationId xmlns:a16="http://schemas.microsoft.com/office/drawing/2014/main" id="{4E5DEFF4-6C10-2514-35DC-DE19EA5EDDF1}"/>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2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کارگاه،تحویل و کنترل</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4" name="Google Shape;317;p20">
            <a:hlinkClick r:id="rId3" action="ppaction://hlinksldjump"/>
            <a:extLst>
              <a:ext uri="{FF2B5EF4-FFF2-40B4-BE49-F238E27FC236}">
                <a16:creationId xmlns:a16="http://schemas.microsoft.com/office/drawing/2014/main" id="{9D7EB03B-3274-FBB0-296B-FFFCBA2271D1}"/>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5" name="Google Shape;309;p20">
            <a:hlinkClick r:id="rId6" action="ppaction://hlinksldjump"/>
            <a:extLst>
              <a:ext uri="{FF2B5EF4-FFF2-40B4-BE49-F238E27FC236}">
                <a16:creationId xmlns:a16="http://schemas.microsoft.com/office/drawing/2014/main" id="{1FC8D12D-CBA4-8926-89D8-9460C3601083}"/>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6" name="Google Shape;317;p20">
            <a:hlinkClick r:id="rId3" action="ppaction://hlinksldjump"/>
            <a:extLst>
              <a:ext uri="{FF2B5EF4-FFF2-40B4-BE49-F238E27FC236}">
                <a16:creationId xmlns:a16="http://schemas.microsoft.com/office/drawing/2014/main" id="{AC77EDD3-5392-2911-F239-AADF16EF0C05}"/>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Tree>
    <p:extLst>
      <p:ext uri="{BB962C8B-B14F-4D97-AF65-F5344CB8AC3E}">
        <p14:creationId xmlns:p14="http://schemas.microsoft.com/office/powerpoint/2010/main" val="130239571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815173" y="230661"/>
            <a:ext cx="3013163" cy="335509"/>
          </a:xfrm>
          <a:prstGeom prst="roundRect">
            <a:avLst>
              <a:gd name="adj" fmla="val 42269"/>
            </a:avLst>
          </a:prstGeom>
          <a:noFill/>
          <a:ln>
            <a:solidFill>
              <a:schemeClr val="accent1"/>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1"/>
                </a:solidFill>
                <a:cs typeface="IRAN Sans" panose="020B0400000000000000" pitchFamily="34" charset="-78"/>
              </a:rPr>
              <a:t>ساختمان ها و تاسیسات تجهیز کارگاه</a:t>
            </a:r>
            <a:endParaRPr sz="1600" b="1" dirty="0">
              <a:solidFill>
                <a:schemeClr val="accent1"/>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1">
                  <a:lumMod val="60000"/>
                  <a:lumOff val="40000"/>
                </a:schemeClr>
              </a:gs>
              <a:gs pos="100000">
                <a:schemeClr val="accent1">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1"/>
                </a:solidFill>
                <a:cs typeface="IRAN Sans" panose="020B0400000000000000" pitchFamily="34" charset="-78"/>
              </a:rPr>
              <a:t>49</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9" name="Google Shape;307;p20">
            <a:extLst>
              <a:ext uri="{FF2B5EF4-FFF2-40B4-BE49-F238E27FC236}">
                <a16:creationId xmlns:a16="http://schemas.microsoft.com/office/drawing/2014/main" id="{F702D715-BF00-4BA7-AB3B-7DDA2FE4CD53}"/>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CDB73F00-0E72-438C-A67E-FDD61A4DBAF9}"/>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3FE8BA0D-3CD3-4503-A84E-B4EF1F6E1541}"/>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FA10F951-91BB-491F-A2B2-5799FD0D9F11}"/>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E42DC2D2-C965-4C0D-9193-077475F83904}"/>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758C689F-22AF-4EE2-8304-3B90B8CAC31F}"/>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299;p20">
            <a:extLst>
              <a:ext uri="{FF2B5EF4-FFF2-40B4-BE49-F238E27FC236}">
                <a16:creationId xmlns:a16="http://schemas.microsoft.com/office/drawing/2014/main" id="{95AF4D06-9DBE-4CA5-8F2E-7A9E6249B564}"/>
              </a:ext>
            </a:extLst>
          </p:cNvPr>
          <p:cNvSpPr/>
          <p:nvPr/>
        </p:nvSpPr>
        <p:spPr>
          <a:xfrm rot="16200000">
            <a:off x="668344" y="4137841"/>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1;p20">
            <a:hlinkClick r:id="rId4" action="ppaction://hlinksldjump"/>
            <a:extLst>
              <a:ext uri="{FF2B5EF4-FFF2-40B4-BE49-F238E27FC236}">
                <a16:creationId xmlns:a16="http://schemas.microsoft.com/office/drawing/2014/main" id="{948D6ADD-D4F9-4F86-B91C-F40D7295B0F1}"/>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تجهیز کارگاه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9" name="Google Shape;326;p20">
            <a:extLst>
              <a:ext uri="{FF2B5EF4-FFF2-40B4-BE49-F238E27FC236}">
                <a16:creationId xmlns:a16="http://schemas.microsoft.com/office/drawing/2014/main" id="{85DB9624-43AB-4F13-A095-3F511F442EA5}"/>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90B97BEB-D229-4B3D-A22B-7FDCB170861E}"/>
              </a:ext>
            </a:extLst>
          </p:cNvPr>
          <p:cNvSpPr>
            <a:spLocks noChangeAspect="1"/>
          </p:cNvSpPr>
          <p:nvPr/>
        </p:nvSpPr>
        <p:spPr>
          <a:xfrm>
            <a:off x="640878" y="4095828"/>
            <a:ext cx="415019" cy="415019"/>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099D9556-DEB4-44CC-ADC3-B536692575D5}"/>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EB631BDD-144D-4CC9-8160-CF82709F76EA}"/>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DEBB3690-079B-4F85-9B5F-BF0BA00BA458}"/>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83BFFD16-D2E4-4E6E-BE69-D68DCCBFE621}"/>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86B43379-2362-447D-A8FB-FFADA685A7F8}"/>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AF58E1E2-1C2C-4E36-8621-F0499D94CDB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B64C896A-1E6D-494B-BE3F-7DA5896574CE}"/>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8C278DC-C545-4BA8-B45B-62FC92D0D101}"/>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9AE9440B-7BBD-4B8C-9C55-72B75A3072E3}"/>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BD8C66C5-7124-45F8-927C-E320F1206A7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5F7DE2E6-60B9-4E02-B8BC-DB6E61835750}"/>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11D11D01-6C7E-4163-A9B3-E0A5F71860B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817E9A7A-86E2-46CA-9773-F28DF812C778}"/>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5EF3847A-2764-4873-9A4C-7A6529AF9E35}"/>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12DDBE55-3FFF-4DB8-B9B5-3686F023D5FC}"/>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D4DC9B6E-0454-416A-A057-66BE7E40DEE4}"/>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D56E35C9-8220-415F-B326-65355C5C8E93}"/>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D2747DB0-1B0C-4F81-9604-8098C4A5E064}"/>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7C4712D5-8BF2-45BE-ABB9-D8CB23B98D59}"/>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CFDF590A-B406-4B8B-BF64-638380925C6F}"/>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3D370A87-31EF-41DD-AE08-1CFF1432328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02F68101-7B21-4661-B2E6-13CB26117A7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3FBC9A34-53F3-45D6-8E79-1B5093E1B6D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5F6C1212-9F15-4953-8CC4-4E8EB3B79665}"/>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9CC88EA1-6094-425F-BF9C-02E72F6CCD73}"/>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6EA5F114-05B1-48EC-AA44-199C3D8304F8}"/>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E461A085-167D-4B06-8A40-F0CCF7A3DF20}"/>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834F1DF8-906E-4199-8FF9-1219FA3A182B}"/>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589CBF76-A2B0-4B5C-BC39-BE5C0DF5DDF0}"/>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85866F66-0EEB-4F5A-A539-4C8FB1CB4FC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C75B5A42-5430-4703-9FE5-B28789C01B9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BF7EBC39-CAE4-4126-B074-60A154B94EB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8739F2EF-788A-469B-8F02-E92A50D2D6F0}"/>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EFB0CB1B-2D40-4F13-A065-33BB619BBC3F}"/>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4CD48106-F076-4C0C-B1CB-1805358B0035}"/>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0D0141CC-8AD1-4750-A3DA-41FF30C1E7BF}"/>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F440B9A-9520-4781-A835-E6748DF57C37}"/>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CAA73800-F540-4B9B-AD2F-A2AF62D073CD}"/>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163797-42CF-406F-9926-622A9BB98084}"/>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DB53D676-F027-4115-B3C0-226144F73994}"/>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ADF5E7E0-F4AA-4633-8E5A-78A4AEA94BD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8A727579-4802-4101-A32B-004F12200E38}"/>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023B009A-E97D-459D-9584-0AB81E2CCA9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F60221CB-BD22-4C2D-9241-A13E9E2E5C5A}"/>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0E24F6F8-1EB3-4664-A933-F88AD2E6EE48}"/>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837F0EDF-70F2-4DA6-BD7E-DB8F42F06FA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D7086229-C882-43D8-B82E-7E921388594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2206FC9F-C9EC-4CD3-8C68-DA076A9C7538}"/>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E71CDD6F-9CF0-4C98-82B8-81A5C70051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A59B1BBC-9686-4BE0-8F6D-C9BA4085F568}"/>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4E86246A-4FDA-452D-89FF-75560F870E8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9CE55659-5F6A-4C9C-83EE-79F4215C2416}"/>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6E920686-121D-4465-952F-C5021E5F95D5}"/>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8C84ADBA-EAA6-4D13-A344-02CFF9D68B25}"/>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DB510E5-6ED1-43A4-8439-8DE661F7F39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590AC867-1C34-4B03-A746-2498CA5ABD3C}"/>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CA9CA7FC-46EB-49E1-83B8-DDC29E696CF7}"/>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0243D3FA-F833-4C80-A32F-1A15B6630C89}"/>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E2AE70D7-E6CD-4F20-A42B-6D57809FA2B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87BF267F-97A5-417E-9AA8-EFDBB7B6A5C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4C3FC347-66C9-4040-A3D8-028E13130D7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77A187F0-1F9D-463A-9D6E-BB12B3F6C21B}"/>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88B261C5-E884-4FFB-958C-6C94896B0A7A}"/>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5BD7D079-884D-480F-AC22-24D800EF5261}"/>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DAE17CDD-DE10-4439-861E-EE06A79EE34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5E09F800-96C3-960E-37CF-5E29F98D3D80}"/>
              </a:ext>
            </a:extLst>
          </p:cNvPr>
          <p:cNvSpPr/>
          <p:nvPr/>
        </p:nvSpPr>
        <p:spPr>
          <a:xfrm>
            <a:off x="2090313" y="953432"/>
            <a:ext cx="4976053" cy="2476672"/>
          </a:xfrm>
          <a:prstGeom prst="rect">
            <a:avLst/>
          </a:prstGeom>
          <a:ln/>
        </p:spPr>
        <p:style>
          <a:lnRef idx="2">
            <a:schemeClr val="accent1"/>
          </a:lnRef>
          <a:fillRef idx="1">
            <a:schemeClr val="lt1"/>
          </a:fillRef>
          <a:effectRef idx="0">
            <a:schemeClr val="accent1"/>
          </a:effectRef>
          <a:fontRef idx="minor">
            <a:schemeClr val="dk1"/>
          </a:fontRef>
        </p:style>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پیمانکار باید بر اساس دستورالعملها و مشخصات مندرج در مشخصات فنی خصوصی و فهرست مقادیر و بها نسبت به اجرای ساختمانها و تأسیسات مربوط به تجهیز کارگاه اقدام نماید. بدین منظور پیمانکار باید پس از امضای قرارداد و تحویل زمین، نقشه جانمایی و استقرار ساختمانها و تأسیسات کارگاه را تهیه و به تصویب دستگاه نظارت برساند. ساختمانهای مربوط به تجهیز کارگاه و تأسیسات مربوط باید دارای استحکام کافی و از نظر فضا جوابگوی نیازهای پروژه بوده و اصول ایمنی در آنها رعایت شده باشد.</a:t>
            </a:r>
            <a:endParaRPr lang="fa-IR" sz="1200" dirty="0">
              <a:solidFill>
                <a:schemeClr val="tx1">
                  <a:lumMod val="95000"/>
                  <a:lumOff val="5000"/>
                </a:schemeClr>
              </a:solidFill>
              <a:cs typeface="IRAN Sans" panose="020B0400000000000000" pitchFamily="34" charset="-78"/>
            </a:endParaRPr>
          </a:p>
        </p:txBody>
      </p:sp>
      <p:sp>
        <p:nvSpPr>
          <p:cNvPr id="3" name="Google Shape;309;p20">
            <a:hlinkClick r:id="rId5" action="ppaction://hlinksldjump"/>
            <a:extLst>
              <a:ext uri="{FF2B5EF4-FFF2-40B4-BE49-F238E27FC236}">
                <a16:creationId xmlns:a16="http://schemas.microsoft.com/office/drawing/2014/main" id="{3A2FC21D-3CAF-4FB3-4880-E04C1E7B59E3}"/>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4" name="Google Shape;317;p20">
            <a:hlinkClick r:id="rId3" action="ppaction://hlinksldjump"/>
            <a:extLst>
              <a:ext uri="{FF2B5EF4-FFF2-40B4-BE49-F238E27FC236}">
                <a16:creationId xmlns:a16="http://schemas.microsoft.com/office/drawing/2014/main" id="{0AFC8F98-1E77-9DD8-8E48-12A9A5A6C433}"/>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5" name="Google Shape;317;p20">
            <a:hlinkClick r:id="rId3" action="ppaction://hlinksldjump"/>
            <a:extLst>
              <a:ext uri="{FF2B5EF4-FFF2-40B4-BE49-F238E27FC236}">
                <a16:creationId xmlns:a16="http://schemas.microsoft.com/office/drawing/2014/main" id="{E7A02063-C20A-44C3-0964-B7692F6ACCE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6" name="Google Shape;324;p20">
            <a:hlinkClick r:id="rId6" action="ppaction://hlinksldjump"/>
            <a:extLst>
              <a:ext uri="{FF2B5EF4-FFF2-40B4-BE49-F238E27FC236}">
                <a16:creationId xmlns:a16="http://schemas.microsoft.com/office/drawing/2014/main" id="{E3C0DE96-3DD9-69A4-C79C-78443460D7DB}"/>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9058159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75230" y="230661"/>
            <a:ext cx="2053106" cy="335509"/>
          </a:xfrm>
          <a:prstGeom prst="roundRect">
            <a:avLst>
              <a:gd name="adj" fmla="val 42269"/>
            </a:avLst>
          </a:prstGeom>
          <a:noFill/>
          <a:ln>
            <a:solidFill>
              <a:schemeClr val="accent1"/>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1"/>
                </a:solidFill>
                <a:cs typeface="IRAN Sans" panose="020B0400000000000000" pitchFamily="34" charset="-78"/>
              </a:rPr>
              <a:t>تحویل و کنترل مصالح</a:t>
            </a:r>
            <a:endParaRPr sz="1600" b="1" dirty="0">
              <a:solidFill>
                <a:schemeClr val="accent1"/>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1">
                  <a:lumMod val="60000"/>
                  <a:lumOff val="40000"/>
                </a:schemeClr>
              </a:gs>
              <a:gs pos="100000">
                <a:schemeClr val="accent1">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1"/>
                </a:solidFill>
                <a:cs typeface="IRAN Sans" panose="020B0400000000000000" pitchFamily="34" charset="-78"/>
              </a:rPr>
              <a:t>50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9" name="Google Shape;307;p20">
            <a:extLst>
              <a:ext uri="{FF2B5EF4-FFF2-40B4-BE49-F238E27FC236}">
                <a16:creationId xmlns:a16="http://schemas.microsoft.com/office/drawing/2014/main" id="{F702D715-BF00-4BA7-AB3B-7DDA2FE4CD53}"/>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CDB73F00-0E72-438C-A67E-FDD61A4DBAF9}"/>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3FE8BA0D-3CD3-4503-A84E-B4EF1F6E1541}"/>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FA10F951-91BB-491F-A2B2-5799FD0D9F11}"/>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E42DC2D2-C965-4C0D-9193-077475F83904}"/>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758C689F-22AF-4EE2-8304-3B90B8CAC31F}"/>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299;p20">
            <a:extLst>
              <a:ext uri="{FF2B5EF4-FFF2-40B4-BE49-F238E27FC236}">
                <a16:creationId xmlns:a16="http://schemas.microsoft.com/office/drawing/2014/main" id="{95AF4D06-9DBE-4CA5-8F2E-7A9E6249B564}"/>
              </a:ext>
            </a:extLst>
          </p:cNvPr>
          <p:cNvSpPr/>
          <p:nvPr/>
        </p:nvSpPr>
        <p:spPr>
          <a:xfrm rot="16200000">
            <a:off x="668344" y="4137841"/>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1;p20">
            <a:hlinkClick r:id="rId4" action="ppaction://hlinksldjump"/>
            <a:extLst>
              <a:ext uri="{FF2B5EF4-FFF2-40B4-BE49-F238E27FC236}">
                <a16:creationId xmlns:a16="http://schemas.microsoft.com/office/drawing/2014/main" id="{948D6ADD-D4F9-4F86-B91C-F40D7295B0F1}"/>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 </a:t>
            </a: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تحویل و کنترل</a:t>
            </a:r>
            <a:endParaRP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9" name="Google Shape;326;p20">
            <a:extLst>
              <a:ext uri="{FF2B5EF4-FFF2-40B4-BE49-F238E27FC236}">
                <a16:creationId xmlns:a16="http://schemas.microsoft.com/office/drawing/2014/main" id="{85DB9624-43AB-4F13-A095-3F511F442EA5}"/>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90B97BEB-D229-4B3D-A22B-7FDCB170861E}"/>
              </a:ext>
            </a:extLst>
          </p:cNvPr>
          <p:cNvSpPr>
            <a:spLocks noChangeAspect="1"/>
          </p:cNvSpPr>
          <p:nvPr/>
        </p:nvSpPr>
        <p:spPr>
          <a:xfrm>
            <a:off x="640878" y="4095828"/>
            <a:ext cx="415019" cy="415019"/>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099D9556-DEB4-44CC-ADC3-B536692575D5}"/>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EB631BDD-144D-4CC9-8160-CF82709F76EA}"/>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DEBB3690-079B-4F85-9B5F-BF0BA00BA458}"/>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83BFFD16-D2E4-4E6E-BE69-D68DCCBFE621}"/>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86B43379-2362-447D-A8FB-FFADA685A7F8}"/>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AF58E1E2-1C2C-4E36-8621-F0499D94CDB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B64C896A-1E6D-494B-BE3F-7DA5896574CE}"/>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8C278DC-C545-4BA8-B45B-62FC92D0D101}"/>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9AE9440B-7BBD-4B8C-9C55-72B75A3072E3}"/>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BD8C66C5-7124-45F8-927C-E320F1206A7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5F7DE2E6-60B9-4E02-B8BC-DB6E61835750}"/>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11D11D01-6C7E-4163-A9B3-E0A5F71860B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817E9A7A-86E2-46CA-9773-F28DF812C778}"/>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5EF3847A-2764-4873-9A4C-7A6529AF9E35}"/>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12DDBE55-3FFF-4DB8-B9B5-3686F023D5FC}"/>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D4DC9B6E-0454-416A-A057-66BE7E40DEE4}"/>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D56E35C9-8220-415F-B326-65355C5C8E93}"/>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D2747DB0-1B0C-4F81-9604-8098C4A5E064}"/>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7C4712D5-8BF2-45BE-ABB9-D8CB23B98D59}"/>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CFDF590A-B406-4B8B-BF64-638380925C6F}"/>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3D370A87-31EF-41DD-AE08-1CFF1432328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02F68101-7B21-4661-B2E6-13CB26117A7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3FBC9A34-53F3-45D6-8E79-1B5093E1B6D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5F6C1212-9F15-4953-8CC4-4E8EB3B79665}"/>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9CC88EA1-6094-425F-BF9C-02E72F6CCD73}"/>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6EA5F114-05B1-48EC-AA44-199C3D8304F8}"/>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E461A085-167D-4B06-8A40-F0CCF7A3DF20}"/>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834F1DF8-906E-4199-8FF9-1219FA3A182B}"/>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589CBF76-A2B0-4B5C-BC39-BE5C0DF5DDF0}"/>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85866F66-0EEB-4F5A-A539-4C8FB1CB4FC2}"/>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C75B5A42-5430-4703-9FE5-B28789C01B99}"/>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BF7EBC39-CAE4-4126-B074-60A154B94EB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8739F2EF-788A-469B-8F02-E92A50D2D6F0}"/>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EFB0CB1B-2D40-4F13-A065-33BB619BBC3F}"/>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4CD48106-F076-4C0C-B1CB-1805358B0035}"/>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0D0141CC-8AD1-4750-A3DA-41FF30C1E7BF}"/>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F440B9A-9520-4781-A835-E6748DF57C37}"/>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CAA73800-F540-4B9B-AD2F-A2AF62D073CD}"/>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163797-42CF-406F-9926-622A9BB98084}"/>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DB53D676-F027-4115-B3C0-226144F73994}"/>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ADF5E7E0-F4AA-4633-8E5A-78A4AEA94BD4}"/>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8A727579-4802-4101-A32B-004F12200E38}"/>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023B009A-E97D-459D-9584-0AB81E2CCA9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F60221CB-BD22-4C2D-9241-A13E9E2E5C5A}"/>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0E24F6F8-1EB3-4664-A933-F88AD2E6EE48}"/>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837F0EDF-70F2-4DA6-BD7E-DB8F42F06FA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D7086229-C882-43D8-B82E-7E921388594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2206FC9F-C9EC-4CD3-8C68-DA076A9C7538}"/>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E71CDD6F-9CF0-4C98-82B8-81A5C70051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A59B1BBC-9686-4BE0-8F6D-C9BA4085F568}"/>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4E86246A-4FDA-452D-89FF-75560F870E8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9CE55659-5F6A-4C9C-83EE-79F4215C2416}"/>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6E920686-121D-4465-952F-C5021E5F95D5}"/>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8C84ADBA-EAA6-4D13-A344-02CFF9D68B25}"/>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DB510E5-6ED1-43A4-8439-8DE661F7F39D}"/>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590AC867-1C34-4B03-A746-2498CA5ABD3C}"/>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CA9CA7FC-46EB-49E1-83B8-DDC29E696CF7}"/>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0243D3FA-F833-4C80-A32F-1A15B6630C89}"/>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E2AE70D7-E6CD-4F20-A42B-6D57809FA2B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87BF267F-97A5-417E-9AA8-EFDBB7B6A5C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4C3FC347-66C9-4040-A3D8-028E13130D7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77A187F0-1F9D-463A-9D6E-BB12B3F6C21B}"/>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88B261C5-E884-4FFB-958C-6C94896B0A7A}"/>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5BD7D079-884D-480F-AC22-24D800EF5261}"/>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DAE17CDD-DE10-4439-861E-EE06A79EE34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 name="Rectangle 2">
            <a:extLst>
              <a:ext uri="{FF2B5EF4-FFF2-40B4-BE49-F238E27FC236}">
                <a16:creationId xmlns:a16="http://schemas.microsoft.com/office/drawing/2014/main" id="{6DB456C7-B2B9-FEED-DECA-450991C9290B}"/>
              </a:ext>
            </a:extLst>
          </p:cNvPr>
          <p:cNvSpPr/>
          <p:nvPr/>
        </p:nvSpPr>
        <p:spPr>
          <a:xfrm>
            <a:off x="741553" y="730066"/>
            <a:ext cx="7414768" cy="3123003"/>
          </a:xfrm>
          <a:prstGeom prst="rect">
            <a:avLst/>
          </a:prstGeom>
          <a:solidFill>
            <a:schemeClr val="bg1">
              <a:alpha val="90000"/>
            </a:schemeClr>
          </a:solidFill>
          <a:ln>
            <a:solidFill>
              <a:schemeClr val="accent1"/>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محل دپوی مصالح ساختمانی نظیرآجر ،سیمان شن و ماسه و آهن آلات باید در نقشه جانمایی کارگاه مشخص شود .کالاهای بسته بندی شده باید در محلهای سرپوشیده و انبارهای مناسب نگهداری و دپو شوند. مصالح خراب و نامرغوب کلاً نباید به کارگاه وارد شود در صورت ورود مصالح نامرغوب پیمانکار باید بلافاصله آن را از کارگاه خارج سازد مصالحی که در مرغوبیت آن شک و تردید باشد نیز باید مورد ارزیابی و آزمایش قرار گیرد تا در صورت اثبات عدم مرغوبیت سریعاً از کارگاه خارج شود.</a:t>
            </a:r>
          </a:p>
          <a:p>
            <a:pPr algn="justLow" rtl="1">
              <a:lnSpc>
                <a:spcPct val="150000"/>
              </a:lnSpc>
            </a:pPr>
            <a:r>
              <a:rPr lang="fa-IR" dirty="0">
                <a:solidFill>
                  <a:schemeClr val="tx1">
                    <a:lumMod val="95000"/>
                    <a:lumOff val="5000"/>
                  </a:schemeClr>
                </a:solidFill>
                <a:cs typeface="IRAN Sans" panose="020B0400000000000000" pitchFamily="34" charset="-78"/>
              </a:rPr>
              <a:t> ممکن است مصالح پای کار به هر دلیل بر اثر توقف زیاد در کارگاه بموقع مصرف نشود و در نتیجه خواص خود را از دست بدهد یا کلاً در مشخصات آن تغییر حاصل گردد در این قبیل موارد باید با حصول اطمینان از کیفیت این مصالح نسبت به استفاده از آنها اقدام گردد.</a:t>
            </a:r>
          </a:p>
          <a:p>
            <a:pPr algn="justLow" rtl="1">
              <a:lnSpc>
                <a:spcPct val="150000"/>
              </a:lnSpc>
            </a:pPr>
            <a:r>
              <a:rPr lang="fa-IR" dirty="0">
                <a:solidFill>
                  <a:schemeClr val="tx1">
                    <a:lumMod val="95000"/>
                    <a:lumOff val="5000"/>
                  </a:schemeClr>
                </a:solidFill>
                <a:cs typeface="IRAN Sans" panose="020B0400000000000000" pitchFamily="34" charset="-78"/>
              </a:rPr>
              <a:t>به طور کلی تمامی مصالح باید قبل از مصرف کنترل و مناسب بودن آن مورد تأیید قرار گیرد.</a:t>
            </a:r>
            <a:endParaRPr lang="fa-IR" sz="1200" dirty="0">
              <a:solidFill>
                <a:schemeClr val="tx1">
                  <a:lumMod val="95000"/>
                  <a:lumOff val="5000"/>
                </a:schemeClr>
              </a:solidFill>
              <a:cs typeface="IRAN Sans" panose="020B0400000000000000" pitchFamily="34" charset="-78"/>
            </a:endParaRPr>
          </a:p>
        </p:txBody>
      </p:sp>
      <p:sp>
        <p:nvSpPr>
          <p:cNvPr id="4" name="Google Shape;309;p20">
            <a:hlinkClick r:id="rId5" action="ppaction://hlinksldjump"/>
            <a:extLst>
              <a:ext uri="{FF2B5EF4-FFF2-40B4-BE49-F238E27FC236}">
                <a16:creationId xmlns:a16="http://schemas.microsoft.com/office/drawing/2014/main" id="{3E332638-B72A-1637-97FE-D6C095E7ED32}"/>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تسطیح محوطه</a:t>
            </a:r>
          </a:p>
        </p:txBody>
      </p:sp>
      <p:sp>
        <p:nvSpPr>
          <p:cNvPr id="5" name="Google Shape;317;p20">
            <a:hlinkClick r:id="rId3" action="ppaction://hlinksldjump"/>
            <a:extLst>
              <a:ext uri="{FF2B5EF4-FFF2-40B4-BE49-F238E27FC236}">
                <a16:creationId xmlns:a16="http://schemas.microsoft.com/office/drawing/2014/main" id="{3FB10B64-E9E4-9BFF-826F-0467363CDD84}"/>
              </a:ext>
            </a:extLst>
          </p:cNvPr>
          <p:cNvSpPr txBox="1"/>
          <p:nvPr/>
        </p:nvSpPr>
        <p:spPr>
          <a:xfrm>
            <a:off x="6211878"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تخریب</a:t>
            </a:r>
          </a:p>
        </p:txBody>
      </p:sp>
      <p:sp>
        <p:nvSpPr>
          <p:cNvPr id="6" name="Google Shape;317;p20">
            <a:hlinkClick r:id="rId3" action="ppaction://hlinksldjump"/>
            <a:extLst>
              <a:ext uri="{FF2B5EF4-FFF2-40B4-BE49-F238E27FC236}">
                <a16:creationId xmlns:a16="http://schemas.microsoft.com/office/drawing/2014/main" id="{EF337FBB-3336-DDD8-84BE-3D5F71B05AAA}"/>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نشانه و مبدا</a:t>
            </a:r>
          </a:p>
        </p:txBody>
      </p:sp>
      <p:sp>
        <p:nvSpPr>
          <p:cNvPr id="7" name="Google Shape;324;p20">
            <a:hlinkClick r:id="rId6" action="ppaction://hlinksldjump"/>
            <a:extLst>
              <a:ext uri="{FF2B5EF4-FFF2-40B4-BE49-F238E27FC236}">
                <a16:creationId xmlns:a16="http://schemas.microsoft.com/office/drawing/2014/main" id="{B1FB576D-3650-89F9-D0FA-7C9A4AFEFCA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چاه ها و قنوات</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08060157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fade">
                                      <p:cBhvr>
                                        <p:cTn id="34" dur="1000"/>
                                        <p:tgtEl>
                                          <p:spTgt spid="3"/>
                                        </p:tgtEl>
                                      </p:cBhvr>
                                    </p:animEffect>
                                    <p:anim calcmode="lin" valueType="num">
                                      <p:cBhvr>
                                        <p:cTn id="35" dur="1000" fill="hold"/>
                                        <p:tgtEl>
                                          <p:spTgt spid="3"/>
                                        </p:tgtEl>
                                        <p:attrNameLst>
                                          <p:attrName>ppt_x</p:attrName>
                                        </p:attrNameLst>
                                      </p:cBhvr>
                                      <p:tavLst>
                                        <p:tav tm="0">
                                          <p:val>
                                            <p:strVal val="#ppt_x"/>
                                          </p:val>
                                        </p:tav>
                                        <p:tav tm="100000">
                                          <p:val>
                                            <p:strVal val="#ppt_x"/>
                                          </p:val>
                                        </p:tav>
                                      </p:tavLst>
                                    </p:anim>
                                    <p:anim calcmode="lin" valueType="num">
                                      <p:cBhvr>
                                        <p:cTn id="3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3"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4530311" y="1992257"/>
            <a:ext cx="4130167"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 آیین نامه سازه های فضا کار </a:t>
            </a:r>
            <a:endParaRPr sz="3600" b="1"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416551" y="2074114"/>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149015191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145078" y="230661"/>
            <a:ext cx="168325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سازه های فضا کار</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51</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509099" y="770268"/>
            <a:ext cx="8169569" cy="3030361"/>
          </a:xfrm>
          <a:prstGeom prst="roundRect">
            <a:avLst>
              <a:gd name="adj" fmla="val 2148"/>
            </a:avLst>
          </a:prstGeom>
          <a:solidFill>
            <a:schemeClr val="bg1">
              <a:alpha val="90000"/>
            </a:schemeClr>
          </a:solidFill>
          <a:ln>
            <a:solidFill>
              <a:schemeClr val="accent1"/>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سازه های فضاکار گروهی از سازه ها هستند که دارای رفتار مسلط سه بعدی بوده، معمولاً در خور تولید صنعتی انبوه بوده و در این حالت، قیود فنی و اقتصادی را با تلفیق مناسبی از مفاهیم سازهای، اصول ایمنی، دیدگاه های زیبا شناختی و جنبه های اقتصادی ارضا مینمایند.</a:t>
            </a:r>
          </a:p>
          <a:p>
            <a:pPr algn="justLow" rtl="1">
              <a:lnSpc>
                <a:spcPct val="150000"/>
              </a:lnSpc>
            </a:pPr>
            <a:r>
              <a:rPr lang="fa-IR" sz="1600" dirty="0">
                <a:solidFill>
                  <a:schemeClr val="tx1">
                    <a:lumMod val="95000"/>
                    <a:lumOff val="5000"/>
                  </a:schemeClr>
                </a:solidFill>
                <a:cs typeface="IRAN Sans" panose="020B0400000000000000" pitchFamily="34" charset="-78"/>
              </a:rPr>
              <a:t>متداول‌ترین کاربرد سازه های فضاکار در ساخت پوشانه‌های بناهایی است که در آنها عملکرد ساختمان ایجاب مینماید که دارای دهانۀ آزاد نسبتاً بزرگ در دو جهت متعامد باشند. بدیهی است که این نوع از سازههای فضاکار در استادیوم های ورزشی و تالارهای اجتماعات، نمایشگاه های چندمنظوره، مراکز فرهنگی و هنری، مصلی ها و مساجد، آشیانه های هواپیما، سالن های صنعتی، انبارهای وسیع و انواع پایانه های مسافربری کاربرد فراوان دارند. در ایران به اینگونه سازه ها نیاز فراوان و روبه تزایدی وجود دارد و بهترین پـاسخ برای چنین کاربردی، بدون شک سازه هـای فضاکار میبـاشند</a:t>
            </a:r>
          </a:p>
        </p:txBody>
      </p:sp>
      <p:sp>
        <p:nvSpPr>
          <p:cNvPr id="9" name="Google Shape;309;p20">
            <a:hlinkClick r:id="" action="ppaction://noaction"/>
            <a:extLst>
              <a:ext uri="{FF2B5EF4-FFF2-40B4-BE49-F238E27FC236}">
                <a16:creationId xmlns:a16="http://schemas.microsoft.com/office/drawing/2014/main" id="{6F07BBEA-F354-C09F-BBB8-0A69876B33B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4" action="ppaction://hlinksldjump"/>
            <a:extLst>
              <a:ext uri="{FF2B5EF4-FFF2-40B4-BE49-F238E27FC236}">
                <a16:creationId xmlns:a16="http://schemas.microsoft.com/office/drawing/2014/main" id="{5FCFC53F-0FD3-1E82-5884-BA5677905F6B}"/>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0204411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338208" y="230661"/>
            <a:ext cx="149012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مباحث ایین نامه</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52</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grpSp>
        <p:nvGrpSpPr>
          <p:cNvPr id="9" name="Google Shape;1359;p41">
            <a:extLst>
              <a:ext uri="{FF2B5EF4-FFF2-40B4-BE49-F238E27FC236}">
                <a16:creationId xmlns:a16="http://schemas.microsoft.com/office/drawing/2014/main" id="{F879108C-4277-837D-7AB2-05988787B4E1}"/>
              </a:ext>
            </a:extLst>
          </p:cNvPr>
          <p:cNvGrpSpPr/>
          <p:nvPr/>
        </p:nvGrpSpPr>
        <p:grpSpPr>
          <a:xfrm>
            <a:off x="2335491" y="2088581"/>
            <a:ext cx="1863808" cy="388153"/>
            <a:chOff x="2111025" y="2627225"/>
            <a:chExt cx="1943563" cy="411300"/>
          </a:xfrm>
        </p:grpSpPr>
        <p:sp>
          <p:nvSpPr>
            <p:cNvPr id="10" name="Google Shape;1360;p41">
              <a:extLst>
                <a:ext uri="{FF2B5EF4-FFF2-40B4-BE49-F238E27FC236}">
                  <a16:creationId xmlns:a16="http://schemas.microsoft.com/office/drawing/2014/main" id="{9AD362A5-10DE-F98F-6B4B-BB91145C1C29}"/>
                </a:ext>
              </a:extLst>
            </p:cNvPr>
            <p:cNvSpPr/>
            <p:nvPr/>
          </p:nvSpPr>
          <p:spPr>
            <a:xfrm>
              <a:off x="2111025" y="2627225"/>
              <a:ext cx="1536300" cy="4113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اعضا، اتصالات و تکیه گاه ها</a:t>
              </a:r>
              <a:endParaRPr dirty="0"/>
            </a:p>
          </p:txBody>
        </p:sp>
        <p:cxnSp>
          <p:nvCxnSpPr>
            <p:cNvPr id="12" name="Google Shape;1361;p41">
              <a:extLst>
                <a:ext uri="{FF2B5EF4-FFF2-40B4-BE49-F238E27FC236}">
                  <a16:creationId xmlns:a16="http://schemas.microsoft.com/office/drawing/2014/main" id="{D3750877-9F6F-4E2A-86F2-EBA1E3FF2A34}"/>
                </a:ext>
              </a:extLst>
            </p:cNvPr>
            <p:cNvCxnSpPr/>
            <p:nvPr/>
          </p:nvCxnSpPr>
          <p:spPr>
            <a:xfrm>
              <a:off x="3731188" y="2832875"/>
              <a:ext cx="323400" cy="0"/>
            </a:xfrm>
            <a:prstGeom prst="straightConnector1">
              <a:avLst/>
            </a:prstGeom>
            <a:noFill/>
            <a:ln w="9525" cap="flat" cmpd="sng">
              <a:solidFill>
                <a:srgbClr val="000000"/>
              </a:solidFill>
              <a:prstDash val="solid"/>
              <a:round/>
              <a:headEnd type="none" w="med" len="med"/>
              <a:tailEnd type="none" w="med" len="med"/>
            </a:ln>
          </p:spPr>
        </p:cxnSp>
      </p:grpSp>
      <p:sp>
        <p:nvSpPr>
          <p:cNvPr id="20" name="Google Shape;1363;p41">
            <a:extLst>
              <a:ext uri="{FF2B5EF4-FFF2-40B4-BE49-F238E27FC236}">
                <a16:creationId xmlns:a16="http://schemas.microsoft.com/office/drawing/2014/main" id="{614267C3-390B-D326-D9DE-B0BB61F275FC}"/>
              </a:ext>
            </a:extLst>
          </p:cNvPr>
          <p:cNvSpPr/>
          <p:nvPr/>
        </p:nvSpPr>
        <p:spPr>
          <a:xfrm>
            <a:off x="4279707" y="1873556"/>
            <a:ext cx="831422" cy="818208"/>
          </a:xfrm>
          <a:prstGeom prst="ellipse">
            <a:avLst/>
          </a:prstGeom>
          <a:solidFill>
            <a:schemeClr val="lt2"/>
          </a:solidFill>
          <a:ln>
            <a:solidFill>
              <a:schemeClr val="tx1">
                <a:lumMod val="50000"/>
                <a:lumOff val="50000"/>
              </a:schemeClr>
            </a:solidFill>
          </a:ln>
        </p:spPr>
        <p:txBody>
          <a:bodyPr spcFirstLastPara="1" wrap="square" lIns="91425" tIns="91425" rIns="91425" bIns="91425" anchor="ctr" anchorCtr="0">
            <a:noAutofit/>
          </a:bodyPr>
          <a:lstStyle/>
          <a:p>
            <a:pPr lvl="0" algn="ctr">
              <a:buClr>
                <a:schemeClr val="dk1"/>
              </a:buClr>
              <a:buSzPts val="1100"/>
            </a:pPr>
            <a:r>
              <a:rPr lang="fa-IR" sz="1200" b="1" dirty="0"/>
              <a:t>فهرست سازه های فضا کار</a:t>
            </a:r>
            <a:endParaRPr sz="1200" b="1" dirty="0"/>
          </a:p>
        </p:txBody>
      </p:sp>
      <p:grpSp>
        <p:nvGrpSpPr>
          <p:cNvPr id="21" name="Google Shape;1364;p41">
            <a:extLst>
              <a:ext uri="{FF2B5EF4-FFF2-40B4-BE49-F238E27FC236}">
                <a16:creationId xmlns:a16="http://schemas.microsoft.com/office/drawing/2014/main" id="{335871AD-7680-9CCC-C12C-311CF9B207E8}"/>
              </a:ext>
            </a:extLst>
          </p:cNvPr>
          <p:cNvGrpSpPr/>
          <p:nvPr/>
        </p:nvGrpSpPr>
        <p:grpSpPr>
          <a:xfrm>
            <a:off x="5191573" y="2088581"/>
            <a:ext cx="1821442" cy="388153"/>
            <a:chOff x="5089325" y="2627225"/>
            <a:chExt cx="1899385" cy="411300"/>
          </a:xfrm>
        </p:grpSpPr>
        <p:sp>
          <p:nvSpPr>
            <p:cNvPr id="22" name="Google Shape;1365;p41">
              <a:extLst>
                <a:ext uri="{FF2B5EF4-FFF2-40B4-BE49-F238E27FC236}">
                  <a16:creationId xmlns:a16="http://schemas.microsoft.com/office/drawing/2014/main" id="{1A3A9394-DFC0-0047-7834-8C69C0DB7048}"/>
                </a:ext>
              </a:extLst>
            </p:cNvPr>
            <p:cNvSpPr/>
            <p:nvPr/>
          </p:nvSpPr>
          <p:spPr>
            <a:xfrm>
              <a:off x="5496625" y="2627225"/>
              <a:ext cx="1492085" cy="4113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کنش‌ها و بار های موثر</a:t>
              </a:r>
              <a:endParaRPr dirty="0"/>
            </a:p>
          </p:txBody>
        </p:sp>
        <p:cxnSp>
          <p:nvCxnSpPr>
            <p:cNvPr id="23" name="Google Shape;1366;p41">
              <a:extLst>
                <a:ext uri="{FF2B5EF4-FFF2-40B4-BE49-F238E27FC236}">
                  <a16:creationId xmlns:a16="http://schemas.microsoft.com/office/drawing/2014/main" id="{9C34DD86-A597-99E1-D374-042548C1E288}"/>
                </a:ext>
              </a:extLst>
            </p:cNvPr>
            <p:cNvCxnSpPr/>
            <p:nvPr/>
          </p:nvCxnSpPr>
          <p:spPr>
            <a:xfrm>
              <a:off x="5089325" y="2832875"/>
              <a:ext cx="323400" cy="0"/>
            </a:xfrm>
            <a:prstGeom prst="straightConnector1">
              <a:avLst/>
            </a:prstGeom>
            <a:noFill/>
            <a:ln w="9525" cap="flat" cmpd="sng">
              <a:solidFill>
                <a:srgbClr val="000000"/>
              </a:solidFill>
              <a:prstDash val="solid"/>
              <a:round/>
              <a:headEnd type="none" w="med" len="med"/>
              <a:tailEnd type="none" w="med" len="med"/>
            </a:ln>
          </p:spPr>
        </p:cxnSp>
      </p:grpSp>
      <p:grpSp>
        <p:nvGrpSpPr>
          <p:cNvPr id="25" name="Google Shape;1368;p41">
            <a:extLst>
              <a:ext uri="{FF2B5EF4-FFF2-40B4-BE49-F238E27FC236}">
                <a16:creationId xmlns:a16="http://schemas.microsoft.com/office/drawing/2014/main" id="{9895857A-823C-2522-6A14-8B82C43F0DAF}"/>
              </a:ext>
            </a:extLst>
          </p:cNvPr>
          <p:cNvGrpSpPr/>
          <p:nvPr/>
        </p:nvGrpSpPr>
        <p:grpSpPr>
          <a:xfrm>
            <a:off x="4850901" y="951492"/>
            <a:ext cx="2162114" cy="848246"/>
            <a:chOff x="4734075" y="1422325"/>
            <a:chExt cx="2254635" cy="898829"/>
          </a:xfrm>
        </p:grpSpPr>
        <p:sp>
          <p:nvSpPr>
            <p:cNvPr id="26" name="Google Shape;1369;p41">
              <a:extLst>
                <a:ext uri="{FF2B5EF4-FFF2-40B4-BE49-F238E27FC236}">
                  <a16:creationId xmlns:a16="http://schemas.microsoft.com/office/drawing/2014/main" id="{E530F574-6A8C-091C-75F9-03C21454C3B9}"/>
                </a:ext>
              </a:extLst>
            </p:cNvPr>
            <p:cNvSpPr/>
            <p:nvPr/>
          </p:nvSpPr>
          <p:spPr>
            <a:xfrm>
              <a:off x="5496624" y="1422325"/>
              <a:ext cx="1492086" cy="4113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طراحی و مبانی طراحی</a:t>
              </a:r>
              <a:endParaRPr dirty="0"/>
            </a:p>
          </p:txBody>
        </p:sp>
        <p:sp>
          <p:nvSpPr>
            <p:cNvPr id="27" name="Google Shape;1370;p41">
              <a:extLst>
                <a:ext uri="{FF2B5EF4-FFF2-40B4-BE49-F238E27FC236}">
                  <a16:creationId xmlns:a16="http://schemas.microsoft.com/office/drawing/2014/main" id="{3A69DA5C-27CE-5040-BCAE-886692017702}"/>
                </a:ext>
              </a:extLst>
            </p:cNvPr>
            <p:cNvSpPr/>
            <p:nvPr/>
          </p:nvSpPr>
          <p:spPr>
            <a:xfrm>
              <a:off x="4734075" y="1909825"/>
              <a:ext cx="1318708" cy="411329"/>
            </a:xfrm>
            <a:custGeom>
              <a:avLst/>
              <a:gdLst/>
              <a:ahLst/>
              <a:cxnLst/>
              <a:rect l="l" t="t" r="r" b="b"/>
              <a:pathLst>
                <a:path w="55507" h="15181" fill="none" extrusionOk="0">
                  <a:moveTo>
                    <a:pt x="0" y="15181"/>
                  </a:moveTo>
                  <a:lnTo>
                    <a:pt x="0" y="5810"/>
                  </a:lnTo>
                  <a:lnTo>
                    <a:pt x="55507" y="5810"/>
                  </a:lnTo>
                  <a:lnTo>
                    <a:pt x="55507" y="0"/>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 name="Google Shape;1372;p41">
            <a:extLst>
              <a:ext uri="{FF2B5EF4-FFF2-40B4-BE49-F238E27FC236}">
                <a16:creationId xmlns:a16="http://schemas.microsoft.com/office/drawing/2014/main" id="{10C2E4EE-08C9-D3AA-C259-68DE2A56965C}"/>
              </a:ext>
            </a:extLst>
          </p:cNvPr>
          <p:cNvGrpSpPr/>
          <p:nvPr/>
        </p:nvGrpSpPr>
        <p:grpSpPr>
          <a:xfrm>
            <a:off x="4850901" y="2765653"/>
            <a:ext cx="2162114" cy="848272"/>
            <a:chOff x="4734075" y="3344669"/>
            <a:chExt cx="2254635" cy="898856"/>
          </a:xfrm>
        </p:grpSpPr>
        <p:sp>
          <p:nvSpPr>
            <p:cNvPr id="30" name="Google Shape;1373;p41">
              <a:extLst>
                <a:ext uri="{FF2B5EF4-FFF2-40B4-BE49-F238E27FC236}">
                  <a16:creationId xmlns:a16="http://schemas.microsoft.com/office/drawing/2014/main" id="{EFC2A2F1-13C3-E9C6-56D6-B279B19A1CEE}"/>
                </a:ext>
              </a:extLst>
            </p:cNvPr>
            <p:cNvSpPr/>
            <p:nvPr/>
          </p:nvSpPr>
          <p:spPr>
            <a:xfrm>
              <a:off x="5496625" y="3832225"/>
              <a:ext cx="1492085" cy="4113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ctr">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طراحی مجموعه سازه فضا کار</a:t>
              </a:r>
              <a:endParaRPr dirty="0"/>
            </a:p>
          </p:txBody>
        </p:sp>
        <p:sp>
          <p:nvSpPr>
            <p:cNvPr id="31" name="Google Shape;1374;p41">
              <a:extLst>
                <a:ext uri="{FF2B5EF4-FFF2-40B4-BE49-F238E27FC236}">
                  <a16:creationId xmlns:a16="http://schemas.microsoft.com/office/drawing/2014/main" id="{19376167-12BF-58C9-9459-FEC1FDC43E43}"/>
                </a:ext>
              </a:extLst>
            </p:cNvPr>
            <p:cNvSpPr/>
            <p:nvPr/>
          </p:nvSpPr>
          <p:spPr>
            <a:xfrm>
              <a:off x="4734075" y="3344669"/>
              <a:ext cx="1318708" cy="411356"/>
            </a:xfrm>
            <a:custGeom>
              <a:avLst/>
              <a:gdLst/>
              <a:ahLst/>
              <a:cxnLst/>
              <a:rect l="l" t="t" r="r" b="b"/>
              <a:pathLst>
                <a:path w="55507" h="15182" fill="none" extrusionOk="0">
                  <a:moveTo>
                    <a:pt x="0" y="1"/>
                  </a:moveTo>
                  <a:lnTo>
                    <a:pt x="0" y="9371"/>
                  </a:lnTo>
                  <a:lnTo>
                    <a:pt x="55507" y="9371"/>
                  </a:lnTo>
                  <a:lnTo>
                    <a:pt x="55507" y="1518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 name="Google Shape;1376;p41">
            <a:extLst>
              <a:ext uri="{FF2B5EF4-FFF2-40B4-BE49-F238E27FC236}">
                <a16:creationId xmlns:a16="http://schemas.microsoft.com/office/drawing/2014/main" id="{FB30317F-0A00-EFB7-6E9E-CDFDA16145D8}"/>
              </a:ext>
            </a:extLst>
          </p:cNvPr>
          <p:cNvGrpSpPr/>
          <p:nvPr/>
        </p:nvGrpSpPr>
        <p:grpSpPr>
          <a:xfrm>
            <a:off x="2335491" y="951492"/>
            <a:ext cx="2198379" cy="848246"/>
            <a:chOff x="2111025" y="1422325"/>
            <a:chExt cx="2292451" cy="898829"/>
          </a:xfrm>
        </p:grpSpPr>
        <p:sp>
          <p:nvSpPr>
            <p:cNvPr id="290" name="Google Shape;1377;p41">
              <a:extLst>
                <a:ext uri="{FF2B5EF4-FFF2-40B4-BE49-F238E27FC236}">
                  <a16:creationId xmlns:a16="http://schemas.microsoft.com/office/drawing/2014/main" id="{5838A09E-D75B-9F94-D1ED-A4EC60D4CA2F}"/>
                </a:ext>
              </a:extLst>
            </p:cNvPr>
            <p:cNvSpPr/>
            <p:nvPr/>
          </p:nvSpPr>
          <p:spPr>
            <a:xfrm>
              <a:off x="2111025" y="1422325"/>
              <a:ext cx="1536300" cy="4113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اصول و شیوه اجرای سازه های فضاکار</a:t>
              </a:r>
              <a:endParaRPr dirty="0"/>
            </a:p>
          </p:txBody>
        </p:sp>
        <p:sp>
          <p:nvSpPr>
            <p:cNvPr id="291" name="Google Shape;1378;p41">
              <a:extLst>
                <a:ext uri="{FF2B5EF4-FFF2-40B4-BE49-F238E27FC236}">
                  <a16:creationId xmlns:a16="http://schemas.microsoft.com/office/drawing/2014/main" id="{BD9ED8DC-006C-9D35-1E2D-841669FF54FD}"/>
                </a:ext>
              </a:extLst>
            </p:cNvPr>
            <p:cNvSpPr/>
            <p:nvPr/>
          </p:nvSpPr>
          <p:spPr>
            <a:xfrm>
              <a:off x="3084776" y="1909825"/>
              <a:ext cx="1318700" cy="411329"/>
            </a:xfrm>
            <a:custGeom>
              <a:avLst/>
              <a:gdLst/>
              <a:ahLst/>
              <a:cxnLst/>
              <a:rect l="l" t="t" r="r" b="b"/>
              <a:pathLst>
                <a:path w="55495" h="15181" fill="none" extrusionOk="0">
                  <a:moveTo>
                    <a:pt x="0" y="0"/>
                  </a:moveTo>
                  <a:lnTo>
                    <a:pt x="0" y="6144"/>
                  </a:lnTo>
                  <a:lnTo>
                    <a:pt x="55495" y="6144"/>
                  </a:lnTo>
                  <a:lnTo>
                    <a:pt x="55495" y="1518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 name="Google Shape;1380;p41">
            <a:extLst>
              <a:ext uri="{FF2B5EF4-FFF2-40B4-BE49-F238E27FC236}">
                <a16:creationId xmlns:a16="http://schemas.microsoft.com/office/drawing/2014/main" id="{D6B4EC89-8CA3-8650-176C-3238E553C50B}"/>
              </a:ext>
            </a:extLst>
          </p:cNvPr>
          <p:cNvGrpSpPr/>
          <p:nvPr/>
        </p:nvGrpSpPr>
        <p:grpSpPr>
          <a:xfrm>
            <a:off x="2335488" y="2765653"/>
            <a:ext cx="2198379" cy="848272"/>
            <a:chOff x="2111024" y="3344669"/>
            <a:chExt cx="2292452" cy="898856"/>
          </a:xfrm>
        </p:grpSpPr>
        <p:sp>
          <p:nvSpPr>
            <p:cNvPr id="294" name="Google Shape;1381;p41">
              <a:extLst>
                <a:ext uri="{FF2B5EF4-FFF2-40B4-BE49-F238E27FC236}">
                  <a16:creationId xmlns:a16="http://schemas.microsoft.com/office/drawing/2014/main" id="{9B7C29E7-1C8D-DE60-5036-549DA7B0D1B0}"/>
                </a:ext>
              </a:extLst>
            </p:cNvPr>
            <p:cNvSpPr/>
            <p:nvPr/>
          </p:nvSpPr>
          <p:spPr>
            <a:xfrm>
              <a:off x="2111024" y="3832225"/>
              <a:ext cx="1536300" cy="4113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fa-IR" dirty="0">
                  <a:solidFill>
                    <a:schemeClr val="lt1"/>
                  </a:solidFill>
                  <a:latin typeface="Fira Sans Extra Condensed Medium"/>
                  <a:ea typeface="Fira Sans Extra Condensed Medium"/>
                  <a:cs typeface="IRAN Sans" panose="020B0400000000000000" pitchFamily="34" charset="-78"/>
                  <a:sym typeface="Fira Sans Extra Condensed Medium"/>
                </a:rPr>
                <a:t>تحلیل</a:t>
              </a:r>
              <a:endParaRPr sz="1200" dirty="0"/>
            </a:p>
          </p:txBody>
        </p:sp>
        <p:sp>
          <p:nvSpPr>
            <p:cNvPr id="295" name="Google Shape;1382;p41">
              <a:extLst>
                <a:ext uri="{FF2B5EF4-FFF2-40B4-BE49-F238E27FC236}">
                  <a16:creationId xmlns:a16="http://schemas.microsoft.com/office/drawing/2014/main" id="{2F3DCCF7-742F-6A4D-603F-5A8F9E9371D6}"/>
                </a:ext>
              </a:extLst>
            </p:cNvPr>
            <p:cNvSpPr/>
            <p:nvPr/>
          </p:nvSpPr>
          <p:spPr>
            <a:xfrm>
              <a:off x="3084776" y="3344669"/>
              <a:ext cx="1318700" cy="411356"/>
            </a:xfrm>
            <a:custGeom>
              <a:avLst/>
              <a:gdLst/>
              <a:ahLst/>
              <a:cxnLst/>
              <a:rect l="l" t="t" r="r" b="b"/>
              <a:pathLst>
                <a:path w="55495" h="15182" fill="none" extrusionOk="0">
                  <a:moveTo>
                    <a:pt x="0" y="15181"/>
                  </a:moveTo>
                  <a:lnTo>
                    <a:pt x="0" y="9026"/>
                  </a:lnTo>
                  <a:lnTo>
                    <a:pt x="55495" y="9026"/>
                  </a:lnTo>
                  <a:lnTo>
                    <a:pt x="55495" y="1"/>
                  </a:lnTo>
                </a:path>
              </a:pathLst>
            </a:custGeom>
            <a:noFill/>
            <a:ln w="9525" cap="flat" cmpd="sng">
              <a:solidFill>
                <a:srgbClr val="00000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 name="Google Shape;309;p20">
            <a:hlinkClick r:id="" action="ppaction://noaction"/>
            <a:extLst>
              <a:ext uri="{FF2B5EF4-FFF2-40B4-BE49-F238E27FC236}">
                <a16:creationId xmlns:a16="http://schemas.microsoft.com/office/drawing/2014/main" id="{7AC08F6F-33D3-17B3-8A86-2A5618FD58D0}"/>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1" name="Google Shape;309;p20">
            <a:hlinkClick r:id="rId4" action="ppaction://hlinksldjump"/>
            <a:extLst>
              <a:ext uri="{FF2B5EF4-FFF2-40B4-BE49-F238E27FC236}">
                <a16:creationId xmlns:a16="http://schemas.microsoft.com/office/drawing/2014/main" id="{EE473B0E-ACFE-173C-B240-3D72F3A46BDF}"/>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5043211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10" presetClass="entr" presetSubtype="0" fill="hold" grpId="0"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childTnLst>
                          </p:cTn>
                        </p:par>
                        <p:par>
                          <p:cTn id="26" fill="hold">
                            <p:stCondLst>
                              <p:cond delay="2050"/>
                            </p:stCondLst>
                            <p:childTnLst>
                              <p:par>
                                <p:cTn id="27" presetID="22" presetClass="entr" presetSubtype="4" fill="hold" nodeType="after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wipe(down)">
                                      <p:cBhvr>
                                        <p:cTn id="29" dur="1000"/>
                                        <p:tgtEl>
                                          <p:spTgt spid="25"/>
                                        </p:tgtEl>
                                      </p:cBhvr>
                                    </p:animEffect>
                                  </p:childTnLst>
                                </p:cTn>
                              </p:par>
                              <p:par>
                                <p:cTn id="30" presetID="22" presetClass="entr" presetSubtype="4" fill="hold" nodeType="withEffect">
                                  <p:stCondLst>
                                    <p:cond delay="0"/>
                                  </p:stCondLst>
                                  <p:childTnLst>
                                    <p:set>
                                      <p:cBhvr>
                                        <p:cTn id="31" dur="1" fill="hold">
                                          <p:stCondLst>
                                            <p:cond delay="0"/>
                                          </p:stCondLst>
                                        </p:cTn>
                                        <p:tgtEl>
                                          <p:spTgt spid="289"/>
                                        </p:tgtEl>
                                        <p:attrNameLst>
                                          <p:attrName>style.visibility</p:attrName>
                                        </p:attrNameLst>
                                      </p:cBhvr>
                                      <p:to>
                                        <p:strVal val="visible"/>
                                      </p:to>
                                    </p:set>
                                    <p:animEffect transition="in" filter="wipe(down)">
                                      <p:cBhvr>
                                        <p:cTn id="32" dur="1000"/>
                                        <p:tgtEl>
                                          <p:spTgt spid="289"/>
                                        </p:tgtEl>
                                      </p:cBhvr>
                                    </p:animEffect>
                                  </p:childTnLst>
                                </p:cTn>
                              </p:par>
                            </p:childTnLst>
                          </p:cTn>
                        </p:par>
                        <p:par>
                          <p:cTn id="33" fill="hold">
                            <p:stCondLst>
                              <p:cond delay="3050"/>
                            </p:stCondLst>
                            <p:childTnLst>
                              <p:par>
                                <p:cTn id="34" presetID="22" presetClass="entr" presetSubtype="8" fill="hold" nodeType="after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wipe(left)">
                                      <p:cBhvr>
                                        <p:cTn id="36" dur="1000"/>
                                        <p:tgtEl>
                                          <p:spTgt spid="21"/>
                                        </p:tgtEl>
                                      </p:cBhvr>
                                    </p:animEffect>
                                  </p:childTnLst>
                                </p:cTn>
                              </p:par>
                              <p:par>
                                <p:cTn id="37" presetID="22" presetClass="entr" presetSubtype="2"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right)">
                                      <p:cBhvr>
                                        <p:cTn id="39" dur="1000"/>
                                        <p:tgtEl>
                                          <p:spTgt spid="9"/>
                                        </p:tgtEl>
                                      </p:cBhvr>
                                    </p:animEffect>
                                  </p:childTnLst>
                                </p:cTn>
                              </p:par>
                            </p:childTnLst>
                          </p:cTn>
                        </p:par>
                        <p:par>
                          <p:cTn id="40" fill="hold">
                            <p:stCondLst>
                              <p:cond delay="4050"/>
                            </p:stCondLst>
                            <p:childTnLst>
                              <p:par>
                                <p:cTn id="41" presetID="22" presetClass="entr" presetSubtype="1" fill="hold"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up)">
                                      <p:cBhvr>
                                        <p:cTn id="43" dur="1000"/>
                                        <p:tgtEl>
                                          <p:spTgt spid="29"/>
                                        </p:tgtEl>
                                      </p:cBhvr>
                                    </p:animEffect>
                                  </p:childTnLst>
                                </p:cTn>
                              </p:par>
                              <p:par>
                                <p:cTn id="44" presetID="22" presetClass="entr" presetSubtype="1" fill="hold" nodeType="withEffect">
                                  <p:stCondLst>
                                    <p:cond delay="0"/>
                                  </p:stCondLst>
                                  <p:childTnLst>
                                    <p:set>
                                      <p:cBhvr>
                                        <p:cTn id="45" dur="1" fill="hold">
                                          <p:stCondLst>
                                            <p:cond delay="0"/>
                                          </p:stCondLst>
                                        </p:cTn>
                                        <p:tgtEl>
                                          <p:spTgt spid="293"/>
                                        </p:tgtEl>
                                        <p:attrNameLst>
                                          <p:attrName>style.visibility</p:attrName>
                                        </p:attrNameLst>
                                      </p:cBhvr>
                                      <p:to>
                                        <p:strVal val="visible"/>
                                      </p:to>
                                    </p:set>
                                    <p:animEffect transition="in" filter="wipe(up)">
                                      <p:cBhvr>
                                        <p:cTn id="46" dur="1000"/>
                                        <p:tgtEl>
                                          <p:spTgt spid="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145078" y="230661"/>
            <a:ext cx="1683257"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سازه های فضا کار</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53</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4" name="Google Shape;317;p20">
            <a:hlinkClick r:id="rId3" action="ppaction://hlinksldjump"/>
            <a:extLst>
              <a:ext uri="{FF2B5EF4-FFF2-40B4-BE49-F238E27FC236}">
                <a16:creationId xmlns:a16="http://schemas.microsoft.com/office/drawing/2014/main" id="{8B020920-78C8-2978-841A-A6748913916B}"/>
              </a:ext>
            </a:extLst>
          </p:cNvPr>
          <p:cNvSpPr txBox="1"/>
          <p:nvPr/>
        </p:nvSpPr>
        <p:spPr>
          <a:xfrm>
            <a:off x="1681423" y="4733569"/>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lang="fa-IR"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938331" y="580128"/>
            <a:ext cx="6227405" cy="3403265"/>
          </a:xfrm>
          <a:prstGeom prst="roundRect">
            <a:avLst>
              <a:gd name="adj" fmla="val 2148"/>
            </a:avLst>
          </a:prstGeom>
          <a:solidFill>
            <a:schemeClr val="bg1">
              <a:alpha val="90000"/>
            </a:schemeClr>
          </a:solidFill>
          <a:ln>
            <a:solidFill>
              <a:schemeClr val="accent1"/>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a:p>
            <a:pPr algn="justLow" rtl="1">
              <a:lnSpc>
                <a:spcPct val="150000"/>
              </a:lnSpc>
            </a:pPr>
            <a:endParaRPr lang="fa-IR" sz="1600" dirty="0">
              <a:solidFill>
                <a:schemeClr val="tx1">
                  <a:lumMod val="95000"/>
                  <a:lumOff val="5000"/>
                </a:schemeClr>
              </a:solidFill>
              <a:cs typeface="IRAN Sans" panose="020B0400000000000000" pitchFamily="34" charset="-78"/>
            </a:endParaRPr>
          </a:p>
        </p:txBody>
      </p:sp>
      <p:sp>
        <p:nvSpPr>
          <p:cNvPr id="345" name="Freeform: Shape 344">
            <a:extLst>
              <a:ext uri="{FF2B5EF4-FFF2-40B4-BE49-F238E27FC236}">
                <a16:creationId xmlns:a16="http://schemas.microsoft.com/office/drawing/2014/main" id="{29FB9C36-B54E-EBEC-B3C3-5A8EAA5289F9}"/>
              </a:ext>
            </a:extLst>
          </p:cNvPr>
          <p:cNvSpPr/>
          <p:nvPr/>
        </p:nvSpPr>
        <p:spPr>
          <a:xfrm>
            <a:off x="1468476" y="707246"/>
            <a:ext cx="4999239" cy="3171682"/>
          </a:xfrm>
          <a:custGeom>
            <a:avLst/>
            <a:gdLst>
              <a:gd name="connsiteX0" fmla="*/ 1685620 w 4999239"/>
              <a:gd name="connsiteY0" fmla="*/ 2582054 h 3035662"/>
              <a:gd name="connsiteX1" fmla="*/ 2182484 w 4999239"/>
              <a:gd name="connsiteY1" fmla="*/ 2582054 h 3035662"/>
              <a:gd name="connsiteX2" fmla="*/ 2182484 w 4999239"/>
              <a:gd name="connsiteY2" fmla="*/ 3035662 h 3035662"/>
              <a:gd name="connsiteX3" fmla="*/ 1685620 w 4999239"/>
              <a:gd name="connsiteY3" fmla="*/ 3035662 h 3035662"/>
              <a:gd name="connsiteX4" fmla="*/ 1132081 w 4999239"/>
              <a:gd name="connsiteY4" fmla="*/ 2582054 h 3035662"/>
              <a:gd name="connsiteX5" fmla="*/ 1628945 w 4999239"/>
              <a:gd name="connsiteY5" fmla="*/ 2582054 h 3035662"/>
              <a:gd name="connsiteX6" fmla="*/ 1628945 w 4999239"/>
              <a:gd name="connsiteY6" fmla="*/ 3035662 h 3035662"/>
              <a:gd name="connsiteX7" fmla="*/ 1132081 w 4999239"/>
              <a:gd name="connsiteY7" fmla="*/ 3035662 h 3035662"/>
              <a:gd name="connsiteX8" fmla="*/ 554226 w 4999239"/>
              <a:gd name="connsiteY8" fmla="*/ 2582054 h 3035662"/>
              <a:gd name="connsiteX9" fmla="*/ 1051089 w 4999239"/>
              <a:gd name="connsiteY9" fmla="*/ 2582054 h 3035662"/>
              <a:gd name="connsiteX10" fmla="*/ 1051089 w 4999239"/>
              <a:gd name="connsiteY10" fmla="*/ 3035662 h 3035662"/>
              <a:gd name="connsiteX11" fmla="*/ 554226 w 4999239"/>
              <a:gd name="connsiteY11" fmla="*/ 3035662 h 3035662"/>
              <a:gd name="connsiteX12" fmla="*/ 687 w 4999239"/>
              <a:gd name="connsiteY12" fmla="*/ 2582054 h 3035662"/>
              <a:gd name="connsiteX13" fmla="*/ 497550 w 4999239"/>
              <a:gd name="connsiteY13" fmla="*/ 2582054 h 3035662"/>
              <a:gd name="connsiteX14" fmla="*/ 497550 w 4999239"/>
              <a:gd name="connsiteY14" fmla="*/ 3035662 h 3035662"/>
              <a:gd name="connsiteX15" fmla="*/ 687 w 4999239"/>
              <a:gd name="connsiteY15" fmla="*/ 3035662 h 3035662"/>
              <a:gd name="connsiteX16" fmla="*/ 4502375 w 4999239"/>
              <a:gd name="connsiteY16" fmla="*/ 2570822 h 3035662"/>
              <a:gd name="connsiteX17" fmla="*/ 4999239 w 4999239"/>
              <a:gd name="connsiteY17" fmla="*/ 2570822 h 3035662"/>
              <a:gd name="connsiteX18" fmla="*/ 4999239 w 4999239"/>
              <a:gd name="connsiteY18" fmla="*/ 3024430 h 3035662"/>
              <a:gd name="connsiteX19" fmla="*/ 4502375 w 4999239"/>
              <a:gd name="connsiteY19" fmla="*/ 3024430 h 3035662"/>
              <a:gd name="connsiteX20" fmla="*/ 3925681 w 4999239"/>
              <a:gd name="connsiteY20" fmla="*/ 2570822 h 3035662"/>
              <a:gd name="connsiteX21" fmla="*/ 4422545 w 4999239"/>
              <a:gd name="connsiteY21" fmla="*/ 2570822 h 3035662"/>
              <a:gd name="connsiteX22" fmla="*/ 4422545 w 4999239"/>
              <a:gd name="connsiteY22" fmla="*/ 3024430 h 3035662"/>
              <a:gd name="connsiteX23" fmla="*/ 3925681 w 4999239"/>
              <a:gd name="connsiteY23" fmla="*/ 3024430 h 3035662"/>
              <a:gd name="connsiteX24" fmla="*/ 3372142 w 4999239"/>
              <a:gd name="connsiteY24" fmla="*/ 2570822 h 3035662"/>
              <a:gd name="connsiteX25" fmla="*/ 3869006 w 4999239"/>
              <a:gd name="connsiteY25" fmla="*/ 2570822 h 3035662"/>
              <a:gd name="connsiteX26" fmla="*/ 3869006 w 4999239"/>
              <a:gd name="connsiteY26" fmla="*/ 3024430 h 3035662"/>
              <a:gd name="connsiteX27" fmla="*/ 3372142 w 4999239"/>
              <a:gd name="connsiteY27" fmla="*/ 3024430 h 3035662"/>
              <a:gd name="connsiteX28" fmla="*/ 2794286 w 4999239"/>
              <a:gd name="connsiteY28" fmla="*/ 2570822 h 3035662"/>
              <a:gd name="connsiteX29" fmla="*/ 3291150 w 4999239"/>
              <a:gd name="connsiteY29" fmla="*/ 2570822 h 3035662"/>
              <a:gd name="connsiteX30" fmla="*/ 3291150 w 4999239"/>
              <a:gd name="connsiteY30" fmla="*/ 3024430 h 3035662"/>
              <a:gd name="connsiteX31" fmla="*/ 2794286 w 4999239"/>
              <a:gd name="connsiteY31" fmla="*/ 3024430 h 3035662"/>
              <a:gd name="connsiteX32" fmla="*/ 2240747 w 4999239"/>
              <a:gd name="connsiteY32" fmla="*/ 2570822 h 3035662"/>
              <a:gd name="connsiteX33" fmla="*/ 2737611 w 4999239"/>
              <a:gd name="connsiteY33" fmla="*/ 2570822 h 3035662"/>
              <a:gd name="connsiteX34" fmla="*/ 2737611 w 4999239"/>
              <a:gd name="connsiteY34" fmla="*/ 3024430 h 3035662"/>
              <a:gd name="connsiteX35" fmla="*/ 2240747 w 4999239"/>
              <a:gd name="connsiteY35" fmla="*/ 3024430 h 3035662"/>
              <a:gd name="connsiteX36" fmla="*/ 1691881 w 4999239"/>
              <a:gd name="connsiteY36" fmla="*/ 2064270 h 3035662"/>
              <a:gd name="connsiteX37" fmla="*/ 2188745 w 4999239"/>
              <a:gd name="connsiteY37" fmla="*/ 2064270 h 3035662"/>
              <a:gd name="connsiteX38" fmla="*/ 2188745 w 4999239"/>
              <a:gd name="connsiteY38" fmla="*/ 2517878 h 3035662"/>
              <a:gd name="connsiteX39" fmla="*/ 1691881 w 4999239"/>
              <a:gd name="connsiteY39" fmla="*/ 2517878 h 3035662"/>
              <a:gd name="connsiteX40" fmla="*/ 1138342 w 4999239"/>
              <a:gd name="connsiteY40" fmla="*/ 2064270 h 3035662"/>
              <a:gd name="connsiteX41" fmla="*/ 1635206 w 4999239"/>
              <a:gd name="connsiteY41" fmla="*/ 2064270 h 3035662"/>
              <a:gd name="connsiteX42" fmla="*/ 1635206 w 4999239"/>
              <a:gd name="connsiteY42" fmla="*/ 2517878 h 3035662"/>
              <a:gd name="connsiteX43" fmla="*/ 1138342 w 4999239"/>
              <a:gd name="connsiteY43" fmla="*/ 2517878 h 3035662"/>
              <a:gd name="connsiteX44" fmla="*/ 560487 w 4999239"/>
              <a:gd name="connsiteY44" fmla="*/ 2064270 h 3035662"/>
              <a:gd name="connsiteX45" fmla="*/ 1057350 w 4999239"/>
              <a:gd name="connsiteY45" fmla="*/ 2064270 h 3035662"/>
              <a:gd name="connsiteX46" fmla="*/ 1057350 w 4999239"/>
              <a:gd name="connsiteY46" fmla="*/ 2517878 h 3035662"/>
              <a:gd name="connsiteX47" fmla="*/ 560487 w 4999239"/>
              <a:gd name="connsiteY47" fmla="*/ 2517878 h 3035662"/>
              <a:gd name="connsiteX48" fmla="*/ 6948 w 4999239"/>
              <a:gd name="connsiteY48" fmla="*/ 2064270 h 3035662"/>
              <a:gd name="connsiteX49" fmla="*/ 503811 w 4999239"/>
              <a:gd name="connsiteY49" fmla="*/ 2064270 h 3035662"/>
              <a:gd name="connsiteX50" fmla="*/ 503811 w 4999239"/>
              <a:gd name="connsiteY50" fmla="*/ 2517878 h 3035662"/>
              <a:gd name="connsiteX51" fmla="*/ 6948 w 4999239"/>
              <a:gd name="connsiteY51" fmla="*/ 2517878 h 3035662"/>
              <a:gd name="connsiteX52" fmla="*/ 4502375 w 4999239"/>
              <a:gd name="connsiteY52" fmla="*/ 2040231 h 3035662"/>
              <a:gd name="connsiteX53" fmla="*/ 4999239 w 4999239"/>
              <a:gd name="connsiteY53" fmla="*/ 2040231 h 3035662"/>
              <a:gd name="connsiteX54" fmla="*/ 4999239 w 4999239"/>
              <a:gd name="connsiteY54" fmla="*/ 2493839 h 3035662"/>
              <a:gd name="connsiteX55" fmla="*/ 4502375 w 4999239"/>
              <a:gd name="connsiteY55" fmla="*/ 2493839 h 3035662"/>
              <a:gd name="connsiteX56" fmla="*/ 3925681 w 4999239"/>
              <a:gd name="connsiteY56" fmla="*/ 2040231 h 3035662"/>
              <a:gd name="connsiteX57" fmla="*/ 4422545 w 4999239"/>
              <a:gd name="connsiteY57" fmla="*/ 2040231 h 3035662"/>
              <a:gd name="connsiteX58" fmla="*/ 4422545 w 4999239"/>
              <a:gd name="connsiteY58" fmla="*/ 2493839 h 3035662"/>
              <a:gd name="connsiteX59" fmla="*/ 3925681 w 4999239"/>
              <a:gd name="connsiteY59" fmla="*/ 2493839 h 3035662"/>
              <a:gd name="connsiteX60" fmla="*/ 3372142 w 4999239"/>
              <a:gd name="connsiteY60" fmla="*/ 2040231 h 3035662"/>
              <a:gd name="connsiteX61" fmla="*/ 3869006 w 4999239"/>
              <a:gd name="connsiteY61" fmla="*/ 2040231 h 3035662"/>
              <a:gd name="connsiteX62" fmla="*/ 3869006 w 4999239"/>
              <a:gd name="connsiteY62" fmla="*/ 2493839 h 3035662"/>
              <a:gd name="connsiteX63" fmla="*/ 3372142 w 4999239"/>
              <a:gd name="connsiteY63" fmla="*/ 2493839 h 3035662"/>
              <a:gd name="connsiteX64" fmla="*/ 2794286 w 4999239"/>
              <a:gd name="connsiteY64" fmla="*/ 2040231 h 3035662"/>
              <a:gd name="connsiteX65" fmla="*/ 3291150 w 4999239"/>
              <a:gd name="connsiteY65" fmla="*/ 2040231 h 3035662"/>
              <a:gd name="connsiteX66" fmla="*/ 3291150 w 4999239"/>
              <a:gd name="connsiteY66" fmla="*/ 2493839 h 3035662"/>
              <a:gd name="connsiteX67" fmla="*/ 2794286 w 4999239"/>
              <a:gd name="connsiteY67" fmla="*/ 2493839 h 3035662"/>
              <a:gd name="connsiteX68" fmla="*/ 2240747 w 4999239"/>
              <a:gd name="connsiteY68" fmla="*/ 2040231 h 3035662"/>
              <a:gd name="connsiteX69" fmla="*/ 2737611 w 4999239"/>
              <a:gd name="connsiteY69" fmla="*/ 2040231 h 3035662"/>
              <a:gd name="connsiteX70" fmla="*/ 2737611 w 4999239"/>
              <a:gd name="connsiteY70" fmla="*/ 2493839 h 3035662"/>
              <a:gd name="connsiteX71" fmla="*/ 2240747 w 4999239"/>
              <a:gd name="connsiteY71" fmla="*/ 2493839 h 3035662"/>
              <a:gd name="connsiteX72" fmla="*/ 1685620 w 4999239"/>
              <a:gd name="connsiteY72" fmla="*/ 1541438 h 3035662"/>
              <a:gd name="connsiteX73" fmla="*/ 2182484 w 4999239"/>
              <a:gd name="connsiteY73" fmla="*/ 1541438 h 3035662"/>
              <a:gd name="connsiteX74" fmla="*/ 2182484 w 4999239"/>
              <a:gd name="connsiteY74" fmla="*/ 1995046 h 3035662"/>
              <a:gd name="connsiteX75" fmla="*/ 1685620 w 4999239"/>
              <a:gd name="connsiteY75" fmla="*/ 1995046 h 3035662"/>
              <a:gd name="connsiteX76" fmla="*/ 1132081 w 4999239"/>
              <a:gd name="connsiteY76" fmla="*/ 1541438 h 3035662"/>
              <a:gd name="connsiteX77" fmla="*/ 1628945 w 4999239"/>
              <a:gd name="connsiteY77" fmla="*/ 1541438 h 3035662"/>
              <a:gd name="connsiteX78" fmla="*/ 1628945 w 4999239"/>
              <a:gd name="connsiteY78" fmla="*/ 1995046 h 3035662"/>
              <a:gd name="connsiteX79" fmla="*/ 1132081 w 4999239"/>
              <a:gd name="connsiteY79" fmla="*/ 1995046 h 3035662"/>
              <a:gd name="connsiteX80" fmla="*/ 554226 w 4999239"/>
              <a:gd name="connsiteY80" fmla="*/ 1541438 h 3035662"/>
              <a:gd name="connsiteX81" fmla="*/ 1051089 w 4999239"/>
              <a:gd name="connsiteY81" fmla="*/ 1541438 h 3035662"/>
              <a:gd name="connsiteX82" fmla="*/ 1051089 w 4999239"/>
              <a:gd name="connsiteY82" fmla="*/ 1995046 h 3035662"/>
              <a:gd name="connsiteX83" fmla="*/ 554226 w 4999239"/>
              <a:gd name="connsiteY83" fmla="*/ 1995046 h 3035662"/>
              <a:gd name="connsiteX84" fmla="*/ 687 w 4999239"/>
              <a:gd name="connsiteY84" fmla="*/ 1541438 h 3035662"/>
              <a:gd name="connsiteX85" fmla="*/ 497550 w 4999239"/>
              <a:gd name="connsiteY85" fmla="*/ 1541438 h 3035662"/>
              <a:gd name="connsiteX86" fmla="*/ 497550 w 4999239"/>
              <a:gd name="connsiteY86" fmla="*/ 1995046 h 3035662"/>
              <a:gd name="connsiteX87" fmla="*/ 687 w 4999239"/>
              <a:gd name="connsiteY87" fmla="*/ 1995046 h 3035662"/>
              <a:gd name="connsiteX88" fmla="*/ 4492896 w 4999239"/>
              <a:gd name="connsiteY88" fmla="*/ 1538823 h 3035662"/>
              <a:gd name="connsiteX89" fmla="*/ 4989760 w 4999239"/>
              <a:gd name="connsiteY89" fmla="*/ 1538823 h 3035662"/>
              <a:gd name="connsiteX90" fmla="*/ 4989760 w 4999239"/>
              <a:gd name="connsiteY90" fmla="*/ 1992431 h 3035662"/>
              <a:gd name="connsiteX91" fmla="*/ 4492896 w 4999239"/>
              <a:gd name="connsiteY91" fmla="*/ 1992431 h 3035662"/>
              <a:gd name="connsiteX92" fmla="*/ 3916202 w 4999239"/>
              <a:gd name="connsiteY92" fmla="*/ 1538823 h 3035662"/>
              <a:gd name="connsiteX93" fmla="*/ 4413066 w 4999239"/>
              <a:gd name="connsiteY93" fmla="*/ 1538823 h 3035662"/>
              <a:gd name="connsiteX94" fmla="*/ 4413066 w 4999239"/>
              <a:gd name="connsiteY94" fmla="*/ 1992431 h 3035662"/>
              <a:gd name="connsiteX95" fmla="*/ 3916202 w 4999239"/>
              <a:gd name="connsiteY95" fmla="*/ 1992431 h 3035662"/>
              <a:gd name="connsiteX96" fmla="*/ 3362663 w 4999239"/>
              <a:gd name="connsiteY96" fmla="*/ 1538823 h 3035662"/>
              <a:gd name="connsiteX97" fmla="*/ 3859527 w 4999239"/>
              <a:gd name="connsiteY97" fmla="*/ 1538823 h 3035662"/>
              <a:gd name="connsiteX98" fmla="*/ 3859527 w 4999239"/>
              <a:gd name="connsiteY98" fmla="*/ 1992431 h 3035662"/>
              <a:gd name="connsiteX99" fmla="*/ 3362663 w 4999239"/>
              <a:gd name="connsiteY99" fmla="*/ 1992431 h 3035662"/>
              <a:gd name="connsiteX100" fmla="*/ 2784807 w 4999239"/>
              <a:gd name="connsiteY100" fmla="*/ 1538823 h 3035662"/>
              <a:gd name="connsiteX101" fmla="*/ 3281671 w 4999239"/>
              <a:gd name="connsiteY101" fmla="*/ 1538823 h 3035662"/>
              <a:gd name="connsiteX102" fmla="*/ 3281671 w 4999239"/>
              <a:gd name="connsiteY102" fmla="*/ 1992431 h 3035662"/>
              <a:gd name="connsiteX103" fmla="*/ 2784807 w 4999239"/>
              <a:gd name="connsiteY103" fmla="*/ 1992431 h 3035662"/>
              <a:gd name="connsiteX104" fmla="*/ 2231268 w 4999239"/>
              <a:gd name="connsiteY104" fmla="*/ 1538823 h 3035662"/>
              <a:gd name="connsiteX105" fmla="*/ 2728132 w 4999239"/>
              <a:gd name="connsiteY105" fmla="*/ 1538823 h 3035662"/>
              <a:gd name="connsiteX106" fmla="*/ 2728132 w 4999239"/>
              <a:gd name="connsiteY106" fmla="*/ 1992431 h 3035662"/>
              <a:gd name="connsiteX107" fmla="*/ 2231268 w 4999239"/>
              <a:gd name="connsiteY107" fmla="*/ 1992431 h 3035662"/>
              <a:gd name="connsiteX108" fmla="*/ 1684934 w 4999239"/>
              <a:gd name="connsiteY108" fmla="*/ 1043230 h 3035662"/>
              <a:gd name="connsiteX109" fmla="*/ 2181798 w 4999239"/>
              <a:gd name="connsiteY109" fmla="*/ 1043230 h 3035662"/>
              <a:gd name="connsiteX110" fmla="*/ 2181798 w 4999239"/>
              <a:gd name="connsiteY110" fmla="*/ 1496838 h 3035662"/>
              <a:gd name="connsiteX111" fmla="*/ 1684934 w 4999239"/>
              <a:gd name="connsiteY111" fmla="*/ 1496838 h 3035662"/>
              <a:gd name="connsiteX112" fmla="*/ 1131395 w 4999239"/>
              <a:gd name="connsiteY112" fmla="*/ 1043230 h 3035662"/>
              <a:gd name="connsiteX113" fmla="*/ 1628259 w 4999239"/>
              <a:gd name="connsiteY113" fmla="*/ 1043230 h 3035662"/>
              <a:gd name="connsiteX114" fmla="*/ 1628259 w 4999239"/>
              <a:gd name="connsiteY114" fmla="*/ 1496838 h 3035662"/>
              <a:gd name="connsiteX115" fmla="*/ 1131395 w 4999239"/>
              <a:gd name="connsiteY115" fmla="*/ 1496838 h 3035662"/>
              <a:gd name="connsiteX116" fmla="*/ 553540 w 4999239"/>
              <a:gd name="connsiteY116" fmla="*/ 1043230 h 3035662"/>
              <a:gd name="connsiteX117" fmla="*/ 1050403 w 4999239"/>
              <a:gd name="connsiteY117" fmla="*/ 1043230 h 3035662"/>
              <a:gd name="connsiteX118" fmla="*/ 1050403 w 4999239"/>
              <a:gd name="connsiteY118" fmla="*/ 1496838 h 3035662"/>
              <a:gd name="connsiteX119" fmla="*/ 553540 w 4999239"/>
              <a:gd name="connsiteY119" fmla="*/ 1496838 h 3035662"/>
              <a:gd name="connsiteX120" fmla="*/ 0 w 4999239"/>
              <a:gd name="connsiteY120" fmla="*/ 1043230 h 3035662"/>
              <a:gd name="connsiteX121" fmla="*/ 496864 w 4999239"/>
              <a:gd name="connsiteY121" fmla="*/ 1043230 h 3035662"/>
              <a:gd name="connsiteX122" fmla="*/ 496864 w 4999239"/>
              <a:gd name="connsiteY122" fmla="*/ 1496838 h 3035662"/>
              <a:gd name="connsiteX123" fmla="*/ 0 w 4999239"/>
              <a:gd name="connsiteY123" fmla="*/ 1496838 h 3035662"/>
              <a:gd name="connsiteX124" fmla="*/ 4501689 w 4999239"/>
              <a:gd name="connsiteY124" fmla="*/ 1031998 h 3035662"/>
              <a:gd name="connsiteX125" fmla="*/ 4998553 w 4999239"/>
              <a:gd name="connsiteY125" fmla="*/ 1031998 h 3035662"/>
              <a:gd name="connsiteX126" fmla="*/ 4998553 w 4999239"/>
              <a:gd name="connsiteY126" fmla="*/ 1485606 h 3035662"/>
              <a:gd name="connsiteX127" fmla="*/ 4501689 w 4999239"/>
              <a:gd name="connsiteY127" fmla="*/ 1485606 h 3035662"/>
              <a:gd name="connsiteX128" fmla="*/ 3924995 w 4999239"/>
              <a:gd name="connsiteY128" fmla="*/ 1031998 h 3035662"/>
              <a:gd name="connsiteX129" fmla="*/ 4421859 w 4999239"/>
              <a:gd name="connsiteY129" fmla="*/ 1031998 h 3035662"/>
              <a:gd name="connsiteX130" fmla="*/ 4421859 w 4999239"/>
              <a:gd name="connsiteY130" fmla="*/ 1485606 h 3035662"/>
              <a:gd name="connsiteX131" fmla="*/ 3924995 w 4999239"/>
              <a:gd name="connsiteY131" fmla="*/ 1485606 h 3035662"/>
              <a:gd name="connsiteX132" fmla="*/ 3371456 w 4999239"/>
              <a:gd name="connsiteY132" fmla="*/ 1031998 h 3035662"/>
              <a:gd name="connsiteX133" fmla="*/ 3868320 w 4999239"/>
              <a:gd name="connsiteY133" fmla="*/ 1031998 h 3035662"/>
              <a:gd name="connsiteX134" fmla="*/ 3868320 w 4999239"/>
              <a:gd name="connsiteY134" fmla="*/ 1485606 h 3035662"/>
              <a:gd name="connsiteX135" fmla="*/ 3371456 w 4999239"/>
              <a:gd name="connsiteY135" fmla="*/ 1485606 h 3035662"/>
              <a:gd name="connsiteX136" fmla="*/ 2793600 w 4999239"/>
              <a:gd name="connsiteY136" fmla="*/ 1031998 h 3035662"/>
              <a:gd name="connsiteX137" fmla="*/ 3290464 w 4999239"/>
              <a:gd name="connsiteY137" fmla="*/ 1031998 h 3035662"/>
              <a:gd name="connsiteX138" fmla="*/ 3290464 w 4999239"/>
              <a:gd name="connsiteY138" fmla="*/ 1485606 h 3035662"/>
              <a:gd name="connsiteX139" fmla="*/ 2793600 w 4999239"/>
              <a:gd name="connsiteY139" fmla="*/ 1485606 h 3035662"/>
              <a:gd name="connsiteX140" fmla="*/ 2240061 w 4999239"/>
              <a:gd name="connsiteY140" fmla="*/ 1031998 h 3035662"/>
              <a:gd name="connsiteX141" fmla="*/ 2736925 w 4999239"/>
              <a:gd name="connsiteY141" fmla="*/ 1031998 h 3035662"/>
              <a:gd name="connsiteX142" fmla="*/ 2736925 w 4999239"/>
              <a:gd name="connsiteY142" fmla="*/ 1485606 h 3035662"/>
              <a:gd name="connsiteX143" fmla="*/ 2240061 w 4999239"/>
              <a:gd name="connsiteY143" fmla="*/ 1485606 h 3035662"/>
              <a:gd name="connsiteX144" fmla="*/ 1691195 w 4999239"/>
              <a:gd name="connsiteY144" fmla="*/ 525446 h 3035662"/>
              <a:gd name="connsiteX145" fmla="*/ 2188059 w 4999239"/>
              <a:gd name="connsiteY145" fmla="*/ 525446 h 3035662"/>
              <a:gd name="connsiteX146" fmla="*/ 2188059 w 4999239"/>
              <a:gd name="connsiteY146" fmla="*/ 979054 h 3035662"/>
              <a:gd name="connsiteX147" fmla="*/ 1691195 w 4999239"/>
              <a:gd name="connsiteY147" fmla="*/ 979054 h 3035662"/>
              <a:gd name="connsiteX148" fmla="*/ 1137656 w 4999239"/>
              <a:gd name="connsiteY148" fmla="*/ 525446 h 3035662"/>
              <a:gd name="connsiteX149" fmla="*/ 1634520 w 4999239"/>
              <a:gd name="connsiteY149" fmla="*/ 525446 h 3035662"/>
              <a:gd name="connsiteX150" fmla="*/ 1634520 w 4999239"/>
              <a:gd name="connsiteY150" fmla="*/ 979054 h 3035662"/>
              <a:gd name="connsiteX151" fmla="*/ 1137656 w 4999239"/>
              <a:gd name="connsiteY151" fmla="*/ 979054 h 3035662"/>
              <a:gd name="connsiteX152" fmla="*/ 559801 w 4999239"/>
              <a:gd name="connsiteY152" fmla="*/ 525446 h 3035662"/>
              <a:gd name="connsiteX153" fmla="*/ 1056664 w 4999239"/>
              <a:gd name="connsiteY153" fmla="*/ 525446 h 3035662"/>
              <a:gd name="connsiteX154" fmla="*/ 1056664 w 4999239"/>
              <a:gd name="connsiteY154" fmla="*/ 979054 h 3035662"/>
              <a:gd name="connsiteX155" fmla="*/ 559801 w 4999239"/>
              <a:gd name="connsiteY155" fmla="*/ 979054 h 3035662"/>
              <a:gd name="connsiteX156" fmla="*/ 6261 w 4999239"/>
              <a:gd name="connsiteY156" fmla="*/ 525446 h 3035662"/>
              <a:gd name="connsiteX157" fmla="*/ 503125 w 4999239"/>
              <a:gd name="connsiteY157" fmla="*/ 525446 h 3035662"/>
              <a:gd name="connsiteX158" fmla="*/ 503125 w 4999239"/>
              <a:gd name="connsiteY158" fmla="*/ 979054 h 3035662"/>
              <a:gd name="connsiteX159" fmla="*/ 6261 w 4999239"/>
              <a:gd name="connsiteY159" fmla="*/ 979054 h 3035662"/>
              <a:gd name="connsiteX160" fmla="*/ 4501689 w 4999239"/>
              <a:gd name="connsiteY160" fmla="*/ 501407 h 3035662"/>
              <a:gd name="connsiteX161" fmla="*/ 4998553 w 4999239"/>
              <a:gd name="connsiteY161" fmla="*/ 501407 h 3035662"/>
              <a:gd name="connsiteX162" fmla="*/ 4998553 w 4999239"/>
              <a:gd name="connsiteY162" fmla="*/ 955016 h 3035662"/>
              <a:gd name="connsiteX163" fmla="*/ 4501689 w 4999239"/>
              <a:gd name="connsiteY163" fmla="*/ 955016 h 3035662"/>
              <a:gd name="connsiteX164" fmla="*/ 3924995 w 4999239"/>
              <a:gd name="connsiteY164" fmla="*/ 501407 h 3035662"/>
              <a:gd name="connsiteX165" fmla="*/ 4421859 w 4999239"/>
              <a:gd name="connsiteY165" fmla="*/ 501407 h 3035662"/>
              <a:gd name="connsiteX166" fmla="*/ 4421859 w 4999239"/>
              <a:gd name="connsiteY166" fmla="*/ 955016 h 3035662"/>
              <a:gd name="connsiteX167" fmla="*/ 3924995 w 4999239"/>
              <a:gd name="connsiteY167" fmla="*/ 955016 h 3035662"/>
              <a:gd name="connsiteX168" fmla="*/ 3371456 w 4999239"/>
              <a:gd name="connsiteY168" fmla="*/ 501407 h 3035662"/>
              <a:gd name="connsiteX169" fmla="*/ 3868320 w 4999239"/>
              <a:gd name="connsiteY169" fmla="*/ 501407 h 3035662"/>
              <a:gd name="connsiteX170" fmla="*/ 3868320 w 4999239"/>
              <a:gd name="connsiteY170" fmla="*/ 955016 h 3035662"/>
              <a:gd name="connsiteX171" fmla="*/ 3371456 w 4999239"/>
              <a:gd name="connsiteY171" fmla="*/ 955016 h 3035662"/>
              <a:gd name="connsiteX172" fmla="*/ 2793600 w 4999239"/>
              <a:gd name="connsiteY172" fmla="*/ 501407 h 3035662"/>
              <a:gd name="connsiteX173" fmla="*/ 3290464 w 4999239"/>
              <a:gd name="connsiteY173" fmla="*/ 501407 h 3035662"/>
              <a:gd name="connsiteX174" fmla="*/ 3290464 w 4999239"/>
              <a:gd name="connsiteY174" fmla="*/ 955016 h 3035662"/>
              <a:gd name="connsiteX175" fmla="*/ 2793600 w 4999239"/>
              <a:gd name="connsiteY175" fmla="*/ 955016 h 3035662"/>
              <a:gd name="connsiteX176" fmla="*/ 2240061 w 4999239"/>
              <a:gd name="connsiteY176" fmla="*/ 501407 h 3035662"/>
              <a:gd name="connsiteX177" fmla="*/ 2736925 w 4999239"/>
              <a:gd name="connsiteY177" fmla="*/ 501407 h 3035662"/>
              <a:gd name="connsiteX178" fmla="*/ 2736925 w 4999239"/>
              <a:gd name="connsiteY178" fmla="*/ 955015 h 3035662"/>
              <a:gd name="connsiteX179" fmla="*/ 2240061 w 4999239"/>
              <a:gd name="connsiteY179" fmla="*/ 955015 h 3035662"/>
              <a:gd name="connsiteX180" fmla="*/ 1684934 w 4999239"/>
              <a:gd name="connsiteY180" fmla="*/ 2615 h 3035662"/>
              <a:gd name="connsiteX181" fmla="*/ 2181798 w 4999239"/>
              <a:gd name="connsiteY181" fmla="*/ 2615 h 3035662"/>
              <a:gd name="connsiteX182" fmla="*/ 2181798 w 4999239"/>
              <a:gd name="connsiteY182" fmla="*/ 456222 h 3035662"/>
              <a:gd name="connsiteX183" fmla="*/ 1684934 w 4999239"/>
              <a:gd name="connsiteY183" fmla="*/ 456222 h 3035662"/>
              <a:gd name="connsiteX184" fmla="*/ 1131395 w 4999239"/>
              <a:gd name="connsiteY184" fmla="*/ 2615 h 3035662"/>
              <a:gd name="connsiteX185" fmla="*/ 1628259 w 4999239"/>
              <a:gd name="connsiteY185" fmla="*/ 2615 h 3035662"/>
              <a:gd name="connsiteX186" fmla="*/ 1628259 w 4999239"/>
              <a:gd name="connsiteY186" fmla="*/ 456222 h 3035662"/>
              <a:gd name="connsiteX187" fmla="*/ 1131395 w 4999239"/>
              <a:gd name="connsiteY187" fmla="*/ 456222 h 3035662"/>
              <a:gd name="connsiteX188" fmla="*/ 553540 w 4999239"/>
              <a:gd name="connsiteY188" fmla="*/ 2614 h 3035662"/>
              <a:gd name="connsiteX189" fmla="*/ 1050403 w 4999239"/>
              <a:gd name="connsiteY189" fmla="*/ 2614 h 3035662"/>
              <a:gd name="connsiteX190" fmla="*/ 1050403 w 4999239"/>
              <a:gd name="connsiteY190" fmla="*/ 456222 h 3035662"/>
              <a:gd name="connsiteX191" fmla="*/ 553540 w 4999239"/>
              <a:gd name="connsiteY191" fmla="*/ 456222 h 3035662"/>
              <a:gd name="connsiteX192" fmla="*/ 0 w 4999239"/>
              <a:gd name="connsiteY192" fmla="*/ 2614 h 3035662"/>
              <a:gd name="connsiteX193" fmla="*/ 496864 w 4999239"/>
              <a:gd name="connsiteY193" fmla="*/ 2614 h 3035662"/>
              <a:gd name="connsiteX194" fmla="*/ 496864 w 4999239"/>
              <a:gd name="connsiteY194" fmla="*/ 456222 h 3035662"/>
              <a:gd name="connsiteX195" fmla="*/ 0 w 4999239"/>
              <a:gd name="connsiteY195" fmla="*/ 456222 h 3035662"/>
              <a:gd name="connsiteX196" fmla="*/ 4492210 w 4999239"/>
              <a:gd name="connsiteY196" fmla="*/ 1 h 3035662"/>
              <a:gd name="connsiteX197" fmla="*/ 4989074 w 4999239"/>
              <a:gd name="connsiteY197" fmla="*/ 1 h 3035662"/>
              <a:gd name="connsiteX198" fmla="*/ 4989074 w 4999239"/>
              <a:gd name="connsiteY198" fmla="*/ 453607 h 3035662"/>
              <a:gd name="connsiteX199" fmla="*/ 4492210 w 4999239"/>
              <a:gd name="connsiteY199" fmla="*/ 453607 h 3035662"/>
              <a:gd name="connsiteX200" fmla="*/ 3915516 w 4999239"/>
              <a:gd name="connsiteY200" fmla="*/ 1 h 3035662"/>
              <a:gd name="connsiteX201" fmla="*/ 4412380 w 4999239"/>
              <a:gd name="connsiteY201" fmla="*/ 1 h 3035662"/>
              <a:gd name="connsiteX202" fmla="*/ 4412380 w 4999239"/>
              <a:gd name="connsiteY202" fmla="*/ 453607 h 3035662"/>
              <a:gd name="connsiteX203" fmla="*/ 3915516 w 4999239"/>
              <a:gd name="connsiteY203" fmla="*/ 453607 h 3035662"/>
              <a:gd name="connsiteX204" fmla="*/ 3361977 w 4999239"/>
              <a:gd name="connsiteY204" fmla="*/ 1 h 3035662"/>
              <a:gd name="connsiteX205" fmla="*/ 3858841 w 4999239"/>
              <a:gd name="connsiteY205" fmla="*/ 1 h 3035662"/>
              <a:gd name="connsiteX206" fmla="*/ 3858841 w 4999239"/>
              <a:gd name="connsiteY206" fmla="*/ 453607 h 3035662"/>
              <a:gd name="connsiteX207" fmla="*/ 3361977 w 4999239"/>
              <a:gd name="connsiteY207" fmla="*/ 453607 h 3035662"/>
              <a:gd name="connsiteX208" fmla="*/ 2784121 w 4999239"/>
              <a:gd name="connsiteY208" fmla="*/ 1 h 3035662"/>
              <a:gd name="connsiteX209" fmla="*/ 3280985 w 4999239"/>
              <a:gd name="connsiteY209" fmla="*/ 1 h 3035662"/>
              <a:gd name="connsiteX210" fmla="*/ 3280985 w 4999239"/>
              <a:gd name="connsiteY210" fmla="*/ 453607 h 3035662"/>
              <a:gd name="connsiteX211" fmla="*/ 2784121 w 4999239"/>
              <a:gd name="connsiteY211" fmla="*/ 453607 h 3035662"/>
              <a:gd name="connsiteX212" fmla="*/ 2230582 w 4999239"/>
              <a:gd name="connsiteY212" fmla="*/ 0 h 3035662"/>
              <a:gd name="connsiteX213" fmla="*/ 2727446 w 4999239"/>
              <a:gd name="connsiteY213" fmla="*/ 0 h 3035662"/>
              <a:gd name="connsiteX214" fmla="*/ 2727446 w 4999239"/>
              <a:gd name="connsiteY214" fmla="*/ 453607 h 3035662"/>
              <a:gd name="connsiteX215" fmla="*/ 2230582 w 4999239"/>
              <a:gd name="connsiteY215" fmla="*/ 453607 h 303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4999239" h="3035662">
                <a:moveTo>
                  <a:pt x="1685620" y="2582054"/>
                </a:moveTo>
                <a:lnTo>
                  <a:pt x="2182484" y="2582054"/>
                </a:lnTo>
                <a:lnTo>
                  <a:pt x="2182484" y="3035662"/>
                </a:lnTo>
                <a:lnTo>
                  <a:pt x="1685620" y="3035662"/>
                </a:lnTo>
                <a:close/>
                <a:moveTo>
                  <a:pt x="1132081" y="2582054"/>
                </a:moveTo>
                <a:lnTo>
                  <a:pt x="1628945" y="2582054"/>
                </a:lnTo>
                <a:lnTo>
                  <a:pt x="1628945" y="3035662"/>
                </a:lnTo>
                <a:lnTo>
                  <a:pt x="1132081" y="3035662"/>
                </a:lnTo>
                <a:close/>
                <a:moveTo>
                  <a:pt x="554226" y="2582054"/>
                </a:moveTo>
                <a:lnTo>
                  <a:pt x="1051089" y="2582054"/>
                </a:lnTo>
                <a:lnTo>
                  <a:pt x="1051089" y="3035662"/>
                </a:lnTo>
                <a:lnTo>
                  <a:pt x="554226" y="3035662"/>
                </a:lnTo>
                <a:close/>
                <a:moveTo>
                  <a:pt x="687" y="2582054"/>
                </a:moveTo>
                <a:lnTo>
                  <a:pt x="497550" y="2582054"/>
                </a:lnTo>
                <a:lnTo>
                  <a:pt x="497550" y="3035662"/>
                </a:lnTo>
                <a:lnTo>
                  <a:pt x="687" y="3035662"/>
                </a:lnTo>
                <a:close/>
                <a:moveTo>
                  <a:pt x="4502375" y="2570822"/>
                </a:moveTo>
                <a:lnTo>
                  <a:pt x="4999239" y="2570822"/>
                </a:lnTo>
                <a:lnTo>
                  <a:pt x="4999239" y="3024430"/>
                </a:lnTo>
                <a:lnTo>
                  <a:pt x="4502375" y="3024430"/>
                </a:lnTo>
                <a:close/>
                <a:moveTo>
                  <a:pt x="3925681" y="2570822"/>
                </a:moveTo>
                <a:lnTo>
                  <a:pt x="4422545" y="2570822"/>
                </a:lnTo>
                <a:lnTo>
                  <a:pt x="4422545" y="3024430"/>
                </a:lnTo>
                <a:lnTo>
                  <a:pt x="3925681" y="3024430"/>
                </a:lnTo>
                <a:close/>
                <a:moveTo>
                  <a:pt x="3372142" y="2570822"/>
                </a:moveTo>
                <a:lnTo>
                  <a:pt x="3869006" y="2570822"/>
                </a:lnTo>
                <a:lnTo>
                  <a:pt x="3869006" y="3024430"/>
                </a:lnTo>
                <a:lnTo>
                  <a:pt x="3372142" y="3024430"/>
                </a:lnTo>
                <a:close/>
                <a:moveTo>
                  <a:pt x="2794286" y="2570822"/>
                </a:moveTo>
                <a:lnTo>
                  <a:pt x="3291150" y="2570822"/>
                </a:lnTo>
                <a:lnTo>
                  <a:pt x="3291150" y="3024430"/>
                </a:lnTo>
                <a:lnTo>
                  <a:pt x="2794286" y="3024430"/>
                </a:lnTo>
                <a:close/>
                <a:moveTo>
                  <a:pt x="2240747" y="2570822"/>
                </a:moveTo>
                <a:lnTo>
                  <a:pt x="2737611" y="2570822"/>
                </a:lnTo>
                <a:lnTo>
                  <a:pt x="2737611" y="3024430"/>
                </a:lnTo>
                <a:lnTo>
                  <a:pt x="2240747" y="3024430"/>
                </a:lnTo>
                <a:close/>
                <a:moveTo>
                  <a:pt x="1691881" y="2064270"/>
                </a:moveTo>
                <a:lnTo>
                  <a:pt x="2188745" y="2064270"/>
                </a:lnTo>
                <a:lnTo>
                  <a:pt x="2188745" y="2517878"/>
                </a:lnTo>
                <a:lnTo>
                  <a:pt x="1691881" y="2517878"/>
                </a:lnTo>
                <a:close/>
                <a:moveTo>
                  <a:pt x="1138342" y="2064270"/>
                </a:moveTo>
                <a:lnTo>
                  <a:pt x="1635206" y="2064270"/>
                </a:lnTo>
                <a:lnTo>
                  <a:pt x="1635206" y="2517878"/>
                </a:lnTo>
                <a:lnTo>
                  <a:pt x="1138342" y="2517878"/>
                </a:lnTo>
                <a:close/>
                <a:moveTo>
                  <a:pt x="560487" y="2064270"/>
                </a:moveTo>
                <a:lnTo>
                  <a:pt x="1057350" y="2064270"/>
                </a:lnTo>
                <a:lnTo>
                  <a:pt x="1057350" y="2517878"/>
                </a:lnTo>
                <a:lnTo>
                  <a:pt x="560487" y="2517878"/>
                </a:lnTo>
                <a:close/>
                <a:moveTo>
                  <a:pt x="6948" y="2064270"/>
                </a:moveTo>
                <a:lnTo>
                  <a:pt x="503811" y="2064270"/>
                </a:lnTo>
                <a:lnTo>
                  <a:pt x="503811" y="2517878"/>
                </a:lnTo>
                <a:lnTo>
                  <a:pt x="6948" y="2517878"/>
                </a:lnTo>
                <a:close/>
                <a:moveTo>
                  <a:pt x="4502375" y="2040231"/>
                </a:moveTo>
                <a:lnTo>
                  <a:pt x="4999239" y="2040231"/>
                </a:lnTo>
                <a:lnTo>
                  <a:pt x="4999239" y="2493839"/>
                </a:lnTo>
                <a:lnTo>
                  <a:pt x="4502375" y="2493839"/>
                </a:lnTo>
                <a:close/>
                <a:moveTo>
                  <a:pt x="3925681" y="2040231"/>
                </a:moveTo>
                <a:lnTo>
                  <a:pt x="4422545" y="2040231"/>
                </a:lnTo>
                <a:lnTo>
                  <a:pt x="4422545" y="2493839"/>
                </a:lnTo>
                <a:lnTo>
                  <a:pt x="3925681" y="2493839"/>
                </a:lnTo>
                <a:close/>
                <a:moveTo>
                  <a:pt x="3372142" y="2040231"/>
                </a:moveTo>
                <a:lnTo>
                  <a:pt x="3869006" y="2040231"/>
                </a:lnTo>
                <a:lnTo>
                  <a:pt x="3869006" y="2493839"/>
                </a:lnTo>
                <a:lnTo>
                  <a:pt x="3372142" y="2493839"/>
                </a:lnTo>
                <a:close/>
                <a:moveTo>
                  <a:pt x="2794286" y="2040231"/>
                </a:moveTo>
                <a:lnTo>
                  <a:pt x="3291150" y="2040231"/>
                </a:lnTo>
                <a:lnTo>
                  <a:pt x="3291150" y="2493839"/>
                </a:lnTo>
                <a:lnTo>
                  <a:pt x="2794286" y="2493839"/>
                </a:lnTo>
                <a:close/>
                <a:moveTo>
                  <a:pt x="2240747" y="2040231"/>
                </a:moveTo>
                <a:lnTo>
                  <a:pt x="2737611" y="2040231"/>
                </a:lnTo>
                <a:lnTo>
                  <a:pt x="2737611" y="2493839"/>
                </a:lnTo>
                <a:lnTo>
                  <a:pt x="2240747" y="2493839"/>
                </a:lnTo>
                <a:close/>
                <a:moveTo>
                  <a:pt x="1685620" y="1541438"/>
                </a:moveTo>
                <a:lnTo>
                  <a:pt x="2182484" y="1541438"/>
                </a:lnTo>
                <a:lnTo>
                  <a:pt x="2182484" y="1995046"/>
                </a:lnTo>
                <a:lnTo>
                  <a:pt x="1685620" y="1995046"/>
                </a:lnTo>
                <a:close/>
                <a:moveTo>
                  <a:pt x="1132081" y="1541438"/>
                </a:moveTo>
                <a:lnTo>
                  <a:pt x="1628945" y="1541438"/>
                </a:lnTo>
                <a:lnTo>
                  <a:pt x="1628945" y="1995046"/>
                </a:lnTo>
                <a:lnTo>
                  <a:pt x="1132081" y="1995046"/>
                </a:lnTo>
                <a:close/>
                <a:moveTo>
                  <a:pt x="554226" y="1541438"/>
                </a:moveTo>
                <a:lnTo>
                  <a:pt x="1051089" y="1541438"/>
                </a:lnTo>
                <a:lnTo>
                  <a:pt x="1051089" y="1995046"/>
                </a:lnTo>
                <a:lnTo>
                  <a:pt x="554226" y="1995046"/>
                </a:lnTo>
                <a:close/>
                <a:moveTo>
                  <a:pt x="687" y="1541438"/>
                </a:moveTo>
                <a:lnTo>
                  <a:pt x="497550" y="1541438"/>
                </a:lnTo>
                <a:lnTo>
                  <a:pt x="497550" y="1995046"/>
                </a:lnTo>
                <a:lnTo>
                  <a:pt x="687" y="1995046"/>
                </a:lnTo>
                <a:close/>
                <a:moveTo>
                  <a:pt x="4492896" y="1538823"/>
                </a:moveTo>
                <a:lnTo>
                  <a:pt x="4989760" y="1538823"/>
                </a:lnTo>
                <a:lnTo>
                  <a:pt x="4989760" y="1992431"/>
                </a:lnTo>
                <a:lnTo>
                  <a:pt x="4492896" y="1992431"/>
                </a:lnTo>
                <a:close/>
                <a:moveTo>
                  <a:pt x="3916202" y="1538823"/>
                </a:moveTo>
                <a:lnTo>
                  <a:pt x="4413066" y="1538823"/>
                </a:lnTo>
                <a:lnTo>
                  <a:pt x="4413066" y="1992431"/>
                </a:lnTo>
                <a:lnTo>
                  <a:pt x="3916202" y="1992431"/>
                </a:lnTo>
                <a:close/>
                <a:moveTo>
                  <a:pt x="3362663" y="1538823"/>
                </a:moveTo>
                <a:lnTo>
                  <a:pt x="3859527" y="1538823"/>
                </a:lnTo>
                <a:lnTo>
                  <a:pt x="3859527" y="1992431"/>
                </a:lnTo>
                <a:lnTo>
                  <a:pt x="3362663" y="1992431"/>
                </a:lnTo>
                <a:close/>
                <a:moveTo>
                  <a:pt x="2784807" y="1538823"/>
                </a:moveTo>
                <a:lnTo>
                  <a:pt x="3281671" y="1538823"/>
                </a:lnTo>
                <a:lnTo>
                  <a:pt x="3281671" y="1992431"/>
                </a:lnTo>
                <a:lnTo>
                  <a:pt x="2784807" y="1992431"/>
                </a:lnTo>
                <a:close/>
                <a:moveTo>
                  <a:pt x="2231268" y="1538823"/>
                </a:moveTo>
                <a:lnTo>
                  <a:pt x="2728132" y="1538823"/>
                </a:lnTo>
                <a:lnTo>
                  <a:pt x="2728132" y="1992431"/>
                </a:lnTo>
                <a:lnTo>
                  <a:pt x="2231268" y="1992431"/>
                </a:lnTo>
                <a:close/>
                <a:moveTo>
                  <a:pt x="1684934" y="1043230"/>
                </a:moveTo>
                <a:lnTo>
                  <a:pt x="2181798" y="1043230"/>
                </a:lnTo>
                <a:lnTo>
                  <a:pt x="2181798" y="1496838"/>
                </a:lnTo>
                <a:lnTo>
                  <a:pt x="1684934" y="1496838"/>
                </a:lnTo>
                <a:close/>
                <a:moveTo>
                  <a:pt x="1131395" y="1043230"/>
                </a:moveTo>
                <a:lnTo>
                  <a:pt x="1628259" y="1043230"/>
                </a:lnTo>
                <a:lnTo>
                  <a:pt x="1628259" y="1496838"/>
                </a:lnTo>
                <a:lnTo>
                  <a:pt x="1131395" y="1496838"/>
                </a:lnTo>
                <a:close/>
                <a:moveTo>
                  <a:pt x="553540" y="1043230"/>
                </a:moveTo>
                <a:lnTo>
                  <a:pt x="1050403" y="1043230"/>
                </a:lnTo>
                <a:lnTo>
                  <a:pt x="1050403" y="1496838"/>
                </a:lnTo>
                <a:lnTo>
                  <a:pt x="553540" y="1496838"/>
                </a:lnTo>
                <a:close/>
                <a:moveTo>
                  <a:pt x="0" y="1043230"/>
                </a:moveTo>
                <a:lnTo>
                  <a:pt x="496864" y="1043230"/>
                </a:lnTo>
                <a:lnTo>
                  <a:pt x="496864" y="1496838"/>
                </a:lnTo>
                <a:lnTo>
                  <a:pt x="0" y="1496838"/>
                </a:lnTo>
                <a:close/>
                <a:moveTo>
                  <a:pt x="4501689" y="1031998"/>
                </a:moveTo>
                <a:lnTo>
                  <a:pt x="4998553" y="1031998"/>
                </a:lnTo>
                <a:lnTo>
                  <a:pt x="4998553" y="1485606"/>
                </a:lnTo>
                <a:lnTo>
                  <a:pt x="4501689" y="1485606"/>
                </a:lnTo>
                <a:close/>
                <a:moveTo>
                  <a:pt x="3924995" y="1031998"/>
                </a:moveTo>
                <a:lnTo>
                  <a:pt x="4421859" y="1031998"/>
                </a:lnTo>
                <a:lnTo>
                  <a:pt x="4421859" y="1485606"/>
                </a:lnTo>
                <a:lnTo>
                  <a:pt x="3924995" y="1485606"/>
                </a:lnTo>
                <a:close/>
                <a:moveTo>
                  <a:pt x="3371456" y="1031998"/>
                </a:moveTo>
                <a:lnTo>
                  <a:pt x="3868320" y="1031998"/>
                </a:lnTo>
                <a:lnTo>
                  <a:pt x="3868320" y="1485606"/>
                </a:lnTo>
                <a:lnTo>
                  <a:pt x="3371456" y="1485606"/>
                </a:lnTo>
                <a:close/>
                <a:moveTo>
                  <a:pt x="2793600" y="1031998"/>
                </a:moveTo>
                <a:lnTo>
                  <a:pt x="3290464" y="1031998"/>
                </a:lnTo>
                <a:lnTo>
                  <a:pt x="3290464" y="1485606"/>
                </a:lnTo>
                <a:lnTo>
                  <a:pt x="2793600" y="1485606"/>
                </a:lnTo>
                <a:close/>
                <a:moveTo>
                  <a:pt x="2240061" y="1031998"/>
                </a:moveTo>
                <a:lnTo>
                  <a:pt x="2736925" y="1031998"/>
                </a:lnTo>
                <a:lnTo>
                  <a:pt x="2736925" y="1485606"/>
                </a:lnTo>
                <a:lnTo>
                  <a:pt x="2240061" y="1485606"/>
                </a:lnTo>
                <a:close/>
                <a:moveTo>
                  <a:pt x="1691195" y="525446"/>
                </a:moveTo>
                <a:lnTo>
                  <a:pt x="2188059" y="525446"/>
                </a:lnTo>
                <a:lnTo>
                  <a:pt x="2188059" y="979054"/>
                </a:lnTo>
                <a:lnTo>
                  <a:pt x="1691195" y="979054"/>
                </a:lnTo>
                <a:close/>
                <a:moveTo>
                  <a:pt x="1137656" y="525446"/>
                </a:moveTo>
                <a:lnTo>
                  <a:pt x="1634520" y="525446"/>
                </a:lnTo>
                <a:lnTo>
                  <a:pt x="1634520" y="979054"/>
                </a:lnTo>
                <a:lnTo>
                  <a:pt x="1137656" y="979054"/>
                </a:lnTo>
                <a:close/>
                <a:moveTo>
                  <a:pt x="559801" y="525446"/>
                </a:moveTo>
                <a:lnTo>
                  <a:pt x="1056664" y="525446"/>
                </a:lnTo>
                <a:lnTo>
                  <a:pt x="1056664" y="979054"/>
                </a:lnTo>
                <a:lnTo>
                  <a:pt x="559801" y="979054"/>
                </a:lnTo>
                <a:close/>
                <a:moveTo>
                  <a:pt x="6261" y="525446"/>
                </a:moveTo>
                <a:lnTo>
                  <a:pt x="503125" y="525446"/>
                </a:lnTo>
                <a:lnTo>
                  <a:pt x="503125" y="979054"/>
                </a:lnTo>
                <a:lnTo>
                  <a:pt x="6261" y="979054"/>
                </a:lnTo>
                <a:close/>
                <a:moveTo>
                  <a:pt x="4501689" y="501407"/>
                </a:moveTo>
                <a:lnTo>
                  <a:pt x="4998553" y="501407"/>
                </a:lnTo>
                <a:lnTo>
                  <a:pt x="4998553" y="955016"/>
                </a:lnTo>
                <a:lnTo>
                  <a:pt x="4501689" y="955016"/>
                </a:lnTo>
                <a:close/>
                <a:moveTo>
                  <a:pt x="3924995" y="501407"/>
                </a:moveTo>
                <a:lnTo>
                  <a:pt x="4421859" y="501407"/>
                </a:lnTo>
                <a:lnTo>
                  <a:pt x="4421859" y="955016"/>
                </a:lnTo>
                <a:lnTo>
                  <a:pt x="3924995" y="955016"/>
                </a:lnTo>
                <a:close/>
                <a:moveTo>
                  <a:pt x="3371456" y="501407"/>
                </a:moveTo>
                <a:lnTo>
                  <a:pt x="3868320" y="501407"/>
                </a:lnTo>
                <a:lnTo>
                  <a:pt x="3868320" y="955016"/>
                </a:lnTo>
                <a:lnTo>
                  <a:pt x="3371456" y="955016"/>
                </a:lnTo>
                <a:close/>
                <a:moveTo>
                  <a:pt x="2793600" y="501407"/>
                </a:moveTo>
                <a:lnTo>
                  <a:pt x="3290464" y="501407"/>
                </a:lnTo>
                <a:lnTo>
                  <a:pt x="3290464" y="955016"/>
                </a:lnTo>
                <a:lnTo>
                  <a:pt x="2793600" y="955016"/>
                </a:lnTo>
                <a:close/>
                <a:moveTo>
                  <a:pt x="2240061" y="501407"/>
                </a:moveTo>
                <a:lnTo>
                  <a:pt x="2736925" y="501407"/>
                </a:lnTo>
                <a:lnTo>
                  <a:pt x="2736925" y="955015"/>
                </a:lnTo>
                <a:lnTo>
                  <a:pt x="2240061" y="955015"/>
                </a:lnTo>
                <a:close/>
                <a:moveTo>
                  <a:pt x="1684934" y="2615"/>
                </a:moveTo>
                <a:lnTo>
                  <a:pt x="2181798" y="2615"/>
                </a:lnTo>
                <a:lnTo>
                  <a:pt x="2181798" y="456222"/>
                </a:lnTo>
                <a:lnTo>
                  <a:pt x="1684934" y="456222"/>
                </a:lnTo>
                <a:close/>
                <a:moveTo>
                  <a:pt x="1131395" y="2615"/>
                </a:moveTo>
                <a:lnTo>
                  <a:pt x="1628259" y="2615"/>
                </a:lnTo>
                <a:lnTo>
                  <a:pt x="1628259" y="456222"/>
                </a:lnTo>
                <a:lnTo>
                  <a:pt x="1131395" y="456222"/>
                </a:lnTo>
                <a:close/>
                <a:moveTo>
                  <a:pt x="553540" y="2614"/>
                </a:moveTo>
                <a:lnTo>
                  <a:pt x="1050403" y="2614"/>
                </a:lnTo>
                <a:lnTo>
                  <a:pt x="1050403" y="456222"/>
                </a:lnTo>
                <a:lnTo>
                  <a:pt x="553540" y="456222"/>
                </a:lnTo>
                <a:close/>
                <a:moveTo>
                  <a:pt x="0" y="2614"/>
                </a:moveTo>
                <a:lnTo>
                  <a:pt x="496864" y="2614"/>
                </a:lnTo>
                <a:lnTo>
                  <a:pt x="496864" y="456222"/>
                </a:lnTo>
                <a:lnTo>
                  <a:pt x="0" y="456222"/>
                </a:lnTo>
                <a:close/>
                <a:moveTo>
                  <a:pt x="4492210" y="1"/>
                </a:moveTo>
                <a:lnTo>
                  <a:pt x="4989074" y="1"/>
                </a:lnTo>
                <a:lnTo>
                  <a:pt x="4989074" y="453607"/>
                </a:lnTo>
                <a:lnTo>
                  <a:pt x="4492210" y="453607"/>
                </a:lnTo>
                <a:close/>
                <a:moveTo>
                  <a:pt x="3915516" y="1"/>
                </a:moveTo>
                <a:lnTo>
                  <a:pt x="4412380" y="1"/>
                </a:lnTo>
                <a:lnTo>
                  <a:pt x="4412380" y="453607"/>
                </a:lnTo>
                <a:lnTo>
                  <a:pt x="3915516" y="453607"/>
                </a:lnTo>
                <a:close/>
                <a:moveTo>
                  <a:pt x="3361977" y="1"/>
                </a:moveTo>
                <a:lnTo>
                  <a:pt x="3858841" y="1"/>
                </a:lnTo>
                <a:lnTo>
                  <a:pt x="3858841" y="453607"/>
                </a:lnTo>
                <a:lnTo>
                  <a:pt x="3361977" y="453607"/>
                </a:lnTo>
                <a:close/>
                <a:moveTo>
                  <a:pt x="2784121" y="1"/>
                </a:moveTo>
                <a:lnTo>
                  <a:pt x="3280985" y="1"/>
                </a:lnTo>
                <a:lnTo>
                  <a:pt x="3280985" y="453607"/>
                </a:lnTo>
                <a:lnTo>
                  <a:pt x="2784121" y="453607"/>
                </a:lnTo>
                <a:close/>
                <a:moveTo>
                  <a:pt x="2230582" y="0"/>
                </a:moveTo>
                <a:lnTo>
                  <a:pt x="2727446" y="0"/>
                </a:lnTo>
                <a:lnTo>
                  <a:pt x="2727446" y="453607"/>
                </a:lnTo>
                <a:lnTo>
                  <a:pt x="2230582" y="453607"/>
                </a:lnTo>
                <a:close/>
              </a:path>
            </a:pathLst>
          </a:custGeom>
          <a:blipFill>
            <a:blip r:embed="rId4"/>
            <a:stretch>
              <a:fillRect/>
            </a:stretch>
          </a:bli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46" name="Google Shape;309;p20">
            <a:hlinkClick r:id="" action="ppaction://noaction"/>
            <a:extLst>
              <a:ext uri="{FF2B5EF4-FFF2-40B4-BE49-F238E27FC236}">
                <a16:creationId xmlns:a16="http://schemas.microsoft.com/office/drawing/2014/main" id="{AD158F79-96EB-824D-E227-0B3E54B41BA8}"/>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 name="Google Shape;309;p20">
            <a:hlinkClick r:id="rId5" action="ppaction://hlinksldjump"/>
            <a:extLst>
              <a:ext uri="{FF2B5EF4-FFF2-40B4-BE49-F238E27FC236}">
                <a16:creationId xmlns:a16="http://schemas.microsoft.com/office/drawing/2014/main" id="{167CA073-9F8B-01D7-129F-97DC264B3389}"/>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890326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345"/>
                                        </p:tgtEl>
                                        <p:attrNameLst>
                                          <p:attrName>style.visibility</p:attrName>
                                        </p:attrNameLst>
                                      </p:cBhvr>
                                      <p:to>
                                        <p:strVal val="visible"/>
                                      </p:to>
                                    </p:set>
                                    <p:animEffect transition="in" filter="fade">
                                      <p:cBhvr>
                                        <p:cTn id="30" dur="1000"/>
                                        <p:tgtEl>
                                          <p:spTgt spid="345"/>
                                        </p:tgtEl>
                                      </p:cBhvr>
                                    </p:animEffect>
                                    <p:anim calcmode="lin" valueType="num">
                                      <p:cBhvr>
                                        <p:cTn id="31" dur="1000" fill="hold"/>
                                        <p:tgtEl>
                                          <p:spTgt spid="345"/>
                                        </p:tgtEl>
                                        <p:attrNameLst>
                                          <p:attrName>ppt_x</p:attrName>
                                        </p:attrNameLst>
                                      </p:cBhvr>
                                      <p:tavLst>
                                        <p:tav tm="0">
                                          <p:val>
                                            <p:strVal val="#ppt_x"/>
                                          </p:val>
                                        </p:tav>
                                        <p:tav tm="100000">
                                          <p:val>
                                            <p:strVal val="#ppt_x"/>
                                          </p:val>
                                        </p:tav>
                                      </p:tavLst>
                                    </p:anim>
                                    <p:anim calcmode="lin" valueType="num">
                                      <p:cBhvr>
                                        <p:cTn id="32" dur="1000" fill="hold"/>
                                        <p:tgtEl>
                                          <p:spTgt spid="3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P spid="34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013016" y="230661"/>
            <a:ext cx="1815319"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مزایا و خصوصیات</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54</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 name="Google Shape;930;p32">
            <a:extLst>
              <a:ext uri="{FF2B5EF4-FFF2-40B4-BE49-F238E27FC236}">
                <a16:creationId xmlns:a16="http://schemas.microsoft.com/office/drawing/2014/main" id="{40E85FF0-516E-61E3-815C-333DE0C3BE67}"/>
              </a:ext>
            </a:extLst>
          </p:cNvPr>
          <p:cNvSpPr/>
          <p:nvPr/>
        </p:nvSpPr>
        <p:spPr>
          <a:xfrm>
            <a:off x="1204692" y="1336812"/>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endParaRPr lang="en-US"/>
          </a:p>
        </p:txBody>
      </p:sp>
      <p:grpSp>
        <p:nvGrpSpPr>
          <p:cNvPr id="22" name="Group 21">
            <a:extLst>
              <a:ext uri="{FF2B5EF4-FFF2-40B4-BE49-F238E27FC236}">
                <a16:creationId xmlns:a16="http://schemas.microsoft.com/office/drawing/2014/main" id="{5C9ADDC3-D9C9-D0E0-600B-C90BF2F6E491}"/>
              </a:ext>
            </a:extLst>
          </p:cNvPr>
          <p:cNvGrpSpPr/>
          <p:nvPr/>
        </p:nvGrpSpPr>
        <p:grpSpPr>
          <a:xfrm>
            <a:off x="1411811" y="1132871"/>
            <a:ext cx="5613117" cy="445054"/>
            <a:chOff x="591620" y="565822"/>
            <a:chExt cx="5613117" cy="445054"/>
          </a:xfrm>
        </p:grpSpPr>
        <p:sp>
          <p:nvSpPr>
            <p:cNvPr id="23" name="Google Shape;931;p32">
              <a:extLst>
                <a:ext uri="{FF2B5EF4-FFF2-40B4-BE49-F238E27FC236}">
                  <a16:creationId xmlns:a16="http://schemas.microsoft.com/office/drawing/2014/main" id="{4FD0BF8D-20CD-3DE7-B2B3-E084125D8DF9}"/>
                </a:ext>
              </a:extLst>
            </p:cNvPr>
            <p:cNvSpPr/>
            <p:nvPr/>
          </p:nvSpPr>
          <p:spPr>
            <a:xfrm>
              <a:off x="591620" y="565822"/>
              <a:ext cx="1323243" cy="445054"/>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endParaRPr dirty="0">
                <a:solidFill>
                  <a:srgbClr val="000000"/>
                </a:solidFill>
              </a:endParaRPr>
            </a:p>
          </p:txBody>
        </p:sp>
        <p:sp>
          <p:nvSpPr>
            <p:cNvPr id="24" name="Google Shape;932;p32">
              <a:extLst>
                <a:ext uri="{FF2B5EF4-FFF2-40B4-BE49-F238E27FC236}">
                  <a16:creationId xmlns:a16="http://schemas.microsoft.com/office/drawing/2014/main" id="{02850F77-4F18-8436-EEEC-E18C393C33F4}"/>
                </a:ext>
              </a:extLst>
            </p:cNvPr>
            <p:cNvSpPr/>
            <p:nvPr/>
          </p:nvSpPr>
          <p:spPr>
            <a:xfrm>
              <a:off x="2411460" y="565822"/>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ایجاد امکان ساخت دهانه های بزرگتر بدون پایه های میانی و ایجاد آزادی عمل برای معمار</a:t>
              </a:r>
              <a:endParaRPr sz="1200" dirty="0">
                <a:latin typeface="Roboto"/>
                <a:ea typeface="Roboto"/>
                <a:cs typeface="IRAN Sans" panose="020B0400000000000000" pitchFamily="34" charset="-78"/>
                <a:sym typeface="Roboto"/>
              </a:endParaRPr>
            </a:p>
          </p:txBody>
        </p:sp>
        <p:cxnSp>
          <p:nvCxnSpPr>
            <p:cNvPr id="25" name="Google Shape;933;p32">
              <a:extLst>
                <a:ext uri="{FF2B5EF4-FFF2-40B4-BE49-F238E27FC236}">
                  <a16:creationId xmlns:a16="http://schemas.microsoft.com/office/drawing/2014/main" id="{71E1CF24-7E52-8C1E-492C-1B5416702412}"/>
                </a:ext>
              </a:extLst>
            </p:cNvPr>
            <p:cNvCxnSpPr>
              <a:cxnSpLocks/>
            </p:cNvCxnSpPr>
            <p:nvPr/>
          </p:nvCxnSpPr>
          <p:spPr>
            <a:xfrm>
              <a:off x="1907382" y="78834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26" name="Google Shape;935;p32">
            <a:extLst>
              <a:ext uri="{FF2B5EF4-FFF2-40B4-BE49-F238E27FC236}">
                <a16:creationId xmlns:a16="http://schemas.microsoft.com/office/drawing/2014/main" id="{C12DB09C-7CDF-73C5-09EE-DED924C9CF19}"/>
              </a:ext>
            </a:extLst>
          </p:cNvPr>
          <p:cNvSpPr/>
          <p:nvPr/>
        </p:nvSpPr>
        <p:spPr>
          <a:xfrm>
            <a:off x="1503661" y="1949181"/>
            <a:ext cx="435857"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2"/>
            </a:solidFill>
            <a:prstDash val="solid"/>
            <a:round/>
            <a:headEnd type="none" w="med" len="med"/>
            <a:tailEnd type="oval" w="med" len="med"/>
          </a:ln>
        </p:spPr>
        <p:txBody>
          <a:bodyPr/>
          <a:lstStyle/>
          <a:p>
            <a:endParaRPr lang="en-US"/>
          </a:p>
        </p:txBody>
      </p:sp>
      <p:grpSp>
        <p:nvGrpSpPr>
          <p:cNvPr id="27" name="Group 26">
            <a:extLst>
              <a:ext uri="{FF2B5EF4-FFF2-40B4-BE49-F238E27FC236}">
                <a16:creationId xmlns:a16="http://schemas.microsoft.com/office/drawing/2014/main" id="{4CE18745-5B10-185E-1ECD-4CB8EC77FDE7}"/>
              </a:ext>
            </a:extLst>
          </p:cNvPr>
          <p:cNvGrpSpPr/>
          <p:nvPr/>
        </p:nvGrpSpPr>
        <p:grpSpPr>
          <a:xfrm>
            <a:off x="1680935" y="1698865"/>
            <a:ext cx="5613117" cy="445077"/>
            <a:chOff x="998665" y="1192619"/>
            <a:chExt cx="5613117" cy="445077"/>
          </a:xfrm>
        </p:grpSpPr>
        <p:sp>
          <p:nvSpPr>
            <p:cNvPr id="28" name="Google Shape;936;p32">
              <a:extLst>
                <a:ext uri="{FF2B5EF4-FFF2-40B4-BE49-F238E27FC236}">
                  <a16:creationId xmlns:a16="http://schemas.microsoft.com/office/drawing/2014/main" id="{8EA96847-1504-33A9-AB00-4254985E95AB}"/>
                </a:ext>
              </a:extLst>
            </p:cNvPr>
            <p:cNvSpPr/>
            <p:nvPr/>
          </p:nvSpPr>
          <p:spPr>
            <a:xfrm>
              <a:off x="2818504" y="1192642"/>
              <a:ext cx="3793278"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جدایی ناپذیربودن فرم سازه از معماری</a:t>
              </a:r>
            </a:p>
          </p:txBody>
        </p:sp>
        <p:sp>
          <p:nvSpPr>
            <p:cNvPr id="29" name="Google Shape;937;p32">
              <a:extLst>
                <a:ext uri="{FF2B5EF4-FFF2-40B4-BE49-F238E27FC236}">
                  <a16:creationId xmlns:a16="http://schemas.microsoft.com/office/drawing/2014/main" id="{B44C5C20-61FE-6C8E-8639-0252E46159FA}"/>
                </a:ext>
              </a:extLst>
            </p:cNvPr>
            <p:cNvSpPr/>
            <p:nvPr/>
          </p:nvSpPr>
          <p:spPr>
            <a:xfrm>
              <a:off x="998665" y="1192619"/>
              <a:ext cx="1323243" cy="445054"/>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endParaRPr dirty="0">
                <a:solidFill>
                  <a:srgbClr val="000000"/>
                </a:solidFill>
              </a:endParaRPr>
            </a:p>
          </p:txBody>
        </p:sp>
        <p:cxnSp>
          <p:nvCxnSpPr>
            <p:cNvPr id="30" name="Google Shape;938;p32">
              <a:extLst>
                <a:ext uri="{FF2B5EF4-FFF2-40B4-BE49-F238E27FC236}">
                  <a16:creationId xmlns:a16="http://schemas.microsoft.com/office/drawing/2014/main" id="{BCB74B38-A6DB-AB09-1AAC-898F07480783}"/>
                </a:ext>
              </a:extLst>
            </p:cNvPr>
            <p:cNvCxnSpPr>
              <a:cxnSpLocks/>
            </p:cNvCxnSpPr>
            <p:nvPr/>
          </p:nvCxnSpPr>
          <p:spPr>
            <a:xfrm>
              <a:off x="2301461" y="1418630"/>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31" name="Google Shape;940;p32">
            <a:extLst>
              <a:ext uri="{FF2B5EF4-FFF2-40B4-BE49-F238E27FC236}">
                <a16:creationId xmlns:a16="http://schemas.microsoft.com/office/drawing/2014/main" id="{62650C56-161A-0339-4551-17AC3CB64DC0}"/>
              </a:ext>
            </a:extLst>
          </p:cNvPr>
          <p:cNvSpPr/>
          <p:nvPr/>
        </p:nvSpPr>
        <p:spPr>
          <a:xfrm>
            <a:off x="1908557" y="2625529"/>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3"/>
            </a:solidFill>
            <a:prstDash val="solid"/>
            <a:round/>
            <a:headEnd type="none" w="med" len="med"/>
            <a:tailEnd type="oval" w="med" len="med"/>
          </a:ln>
        </p:spPr>
        <p:txBody>
          <a:bodyPr/>
          <a:lstStyle/>
          <a:p>
            <a:endParaRPr lang="en-US"/>
          </a:p>
        </p:txBody>
      </p:sp>
      <p:grpSp>
        <p:nvGrpSpPr>
          <p:cNvPr id="225" name="Group 224">
            <a:extLst>
              <a:ext uri="{FF2B5EF4-FFF2-40B4-BE49-F238E27FC236}">
                <a16:creationId xmlns:a16="http://schemas.microsoft.com/office/drawing/2014/main" id="{30080611-6340-587D-DD09-2B463318CC91}"/>
              </a:ext>
            </a:extLst>
          </p:cNvPr>
          <p:cNvGrpSpPr/>
          <p:nvPr/>
        </p:nvGrpSpPr>
        <p:grpSpPr>
          <a:xfrm>
            <a:off x="2000259" y="2285863"/>
            <a:ext cx="5613115" cy="445055"/>
            <a:chOff x="1405707" y="1819437"/>
            <a:chExt cx="5613115" cy="445055"/>
          </a:xfrm>
        </p:grpSpPr>
        <p:sp>
          <p:nvSpPr>
            <p:cNvPr id="226" name="Google Shape;941;p32">
              <a:extLst>
                <a:ext uri="{FF2B5EF4-FFF2-40B4-BE49-F238E27FC236}">
                  <a16:creationId xmlns:a16="http://schemas.microsoft.com/office/drawing/2014/main" id="{3C7AF2D6-A1FF-D3D5-1813-5C23FD95D39B}"/>
                </a:ext>
              </a:extLst>
            </p:cNvPr>
            <p:cNvSpPr/>
            <p:nvPr/>
          </p:nvSpPr>
          <p:spPr>
            <a:xfrm>
              <a:off x="1405707" y="1819438"/>
              <a:ext cx="1323242" cy="445054"/>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endParaRPr dirty="0">
                <a:solidFill>
                  <a:srgbClr val="000000"/>
                </a:solidFill>
              </a:endParaRPr>
            </a:p>
          </p:txBody>
        </p:sp>
        <p:sp>
          <p:nvSpPr>
            <p:cNvPr id="227" name="Google Shape;942;p32">
              <a:extLst>
                <a:ext uri="{FF2B5EF4-FFF2-40B4-BE49-F238E27FC236}">
                  <a16:creationId xmlns:a16="http://schemas.microsoft.com/office/drawing/2014/main" id="{22A5DBEE-3A56-BEFD-D303-1F995449D593}"/>
                </a:ext>
              </a:extLst>
            </p:cNvPr>
            <p:cNvSpPr/>
            <p:nvPr/>
          </p:nvSpPr>
          <p:spPr>
            <a:xfrm>
              <a:off x="3225547" y="1819437"/>
              <a:ext cx="3793275"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ایجاد فصل مشترکی برای بهره گیری معماران پیشرو از قابلیتهای مهندسان سازه مسلح به دانش نوین</a:t>
              </a:r>
            </a:p>
          </p:txBody>
        </p:sp>
        <p:cxnSp>
          <p:nvCxnSpPr>
            <p:cNvPr id="228" name="Google Shape;943;p32">
              <a:extLst>
                <a:ext uri="{FF2B5EF4-FFF2-40B4-BE49-F238E27FC236}">
                  <a16:creationId xmlns:a16="http://schemas.microsoft.com/office/drawing/2014/main" id="{7CB7E30D-C8B7-B4E1-6089-6468AFBC6204}"/>
                </a:ext>
              </a:extLst>
            </p:cNvPr>
            <p:cNvCxnSpPr>
              <a:cxnSpLocks/>
            </p:cNvCxnSpPr>
            <p:nvPr/>
          </p:nvCxnSpPr>
          <p:spPr>
            <a:xfrm>
              <a:off x="2714074" y="2048789"/>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229" name="Group 228">
            <a:extLst>
              <a:ext uri="{FF2B5EF4-FFF2-40B4-BE49-F238E27FC236}">
                <a16:creationId xmlns:a16="http://schemas.microsoft.com/office/drawing/2014/main" id="{AEE0730B-6C74-9FE4-2A25-F3504B55F713}"/>
              </a:ext>
            </a:extLst>
          </p:cNvPr>
          <p:cNvGrpSpPr/>
          <p:nvPr/>
        </p:nvGrpSpPr>
        <p:grpSpPr>
          <a:xfrm>
            <a:off x="2405155" y="2896270"/>
            <a:ext cx="5613114" cy="445065"/>
            <a:chOff x="1812751" y="2446247"/>
            <a:chExt cx="5613114" cy="445065"/>
          </a:xfrm>
        </p:grpSpPr>
        <p:sp>
          <p:nvSpPr>
            <p:cNvPr id="230" name="Google Shape;946;p32">
              <a:extLst>
                <a:ext uri="{FF2B5EF4-FFF2-40B4-BE49-F238E27FC236}">
                  <a16:creationId xmlns:a16="http://schemas.microsoft.com/office/drawing/2014/main" id="{0AF6C44A-2F29-32AC-77DC-588D601C6B0F}"/>
                </a:ext>
              </a:extLst>
            </p:cNvPr>
            <p:cNvSpPr/>
            <p:nvPr/>
          </p:nvSpPr>
          <p:spPr>
            <a:xfrm>
              <a:off x="1812751" y="2446247"/>
              <a:ext cx="1323243" cy="445055"/>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endParaRPr dirty="0">
                <a:solidFill>
                  <a:srgbClr val="000000"/>
                </a:solidFill>
              </a:endParaRPr>
            </a:p>
          </p:txBody>
        </p:sp>
        <p:sp>
          <p:nvSpPr>
            <p:cNvPr id="231" name="Google Shape;947;p32">
              <a:extLst>
                <a:ext uri="{FF2B5EF4-FFF2-40B4-BE49-F238E27FC236}">
                  <a16:creationId xmlns:a16="http://schemas.microsoft.com/office/drawing/2014/main" id="{32FEBA04-F5E6-3E31-ECA1-CDDB1DAD8F9A}"/>
                </a:ext>
              </a:extLst>
            </p:cNvPr>
            <p:cNvSpPr/>
            <p:nvPr/>
          </p:nvSpPr>
          <p:spPr>
            <a:xfrm>
              <a:off x="3632588" y="2446257"/>
              <a:ext cx="3793277" cy="445055"/>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p>
              <a:pPr lvl="0" algn="ctr">
                <a:buSzPts val="1100"/>
              </a:pPr>
              <a:r>
                <a:rPr lang="fa-IR" sz="1200" dirty="0">
                  <a:latin typeface="Roboto"/>
                  <a:ea typeface="Roboto"/>
                  <a:cs typeface="IRAN Sans" panose="020B0400000000000000" pitchFamily="34" charset="-78"/>
                  <a:sym typeface="Roboto"/>
                </a:rPr>
                <a:t> امکان احداث سازهها با کاربرد چند منظوره</a:t>
              </a:r>
            </a:p>
          </p:txBody>
        </p:sp>
        <p:cxnSp>
          <p:nvCxnSpPr>
            <p:cNvPr id="232" name="Google Shape;948;p32">
              <a:extLst>
                <a:ext uri="{FF2B5EF4-FFF2-40B4-BE49-F238E27FC236}">
                  <a16:creationId xmlns:a16="http://schemas.microsoft.com/office/drawing/2014/main" id="{4629C6C0-1CFC-CD41-81D5-A7BBFE61A981}"/>
                </a:ext>
              </a:extLst>
            </p:cNvPr>
            <p:cNvCxnSpPr>
              <a:cxnSpLocks/>
            </p:cNvCxnSpPr>
            <p:nvPr/>
          </p:nvCxnSpPr>
          <p:spPr>
            <a:xfrm>
              <a:off x="3124634" y="2671319"/>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233" name="Google Shape;4272;p54">
            <a:extLst>
              <a:ext uri="{FF2B5EF4-FFF2-40B4-BE49-F238E27FC236}">
                <a16:creationId xmlns:a16="http://schemas.microsoft.com/office/drawing/2014/main" id="{CF259F91-0767-656B-D268-7EBB9501D209}"/>
              </a:ext>
            </a:extLst>
          </p:cNvPr>
          <p:cNvGrpSpPr/>
          <p:nvPr/>
        </p:nvGrpSpPr>
        <p:grpSpPr>
          <a:xfrm>
            <a:off x="2008389" y="1271954"/>
            <a:ext cx="110683" cy="186106"/>
            <a:chOff x="5059700" y="2334775"/>
            <a:chExt cx="40775" cy="66025"/>
          </a:xfrm>
          <a:solidFill>
            <a:schemeClr val="bg1"/>
          </a:solidFill>
        </p:grpSpPr>
        <p:sp>
          <p:nvSpPr>
            <p:cNvPr id="234" name="Google Shape;4273;p54">
              <a:extLst>
                <a:ext uri="{FF2B5EF4-FFF2-40B4-BE49-F238E27FC236}">
                  <a16:creationId xmlns:a16="http://schemas.microsoft.com/office/drawing/2014/main" id="{63F1CEEB-B9CE-B39B-FDFE-E83AA9961858}"/>
                </a:ext>
              </a:extLst>
            </p:cNvPr>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4274;p54">
              <a:extLst>
                <a:ext uri="{FF2B5EF4-FFF2-40B4-BE49-F238E27FC236}">
                  <a16:creationId xmlns:a16="http://schemas.microsoft.com/office/drawing/2014/main" id="{7332CF8C-9FFF-5E70-608F-79B2F5DA8794}"/>
                </a:ext>
              </a:extLst>
            </p:cNvPr>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4275;p54">
              <a:extLst>
                <a:ext uri="{FF2B5EF4-FFF2-40B4-BE49-F238E27FC236}">
                  <a16:creationId xmlns:a16="http://schemas.microsoft.com/office/drawing/2014/main" id="{B7C656CC-7E31-A5C7-918B-1BC46077322E}"/>
                </a:ext>
              </a:extLst>
            </p:cNvPr>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4276;p54">
              <a:extLst>
                <a:ext uri="{FF2B5EF4-FFF2-40B4-BE49-F238E27FC236}">
                  <a16:creationId xmlns:a16="http://schemas.microsoft.com/office/drawing/2014/main" id="{75116BF1-83B5-B52E-FC44-812AF84FFBA3}"/>
                </a:ext>
              </a:extLst>
            </p:cNvPr>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4277;p54">
              <a:extLst>
                <a:ext uri="{FF2B5EF4-FFF2-40B4-BE49-F238E27FC236}">
                  <a16:creationId xmlns:a16="http://schemas.microsoft.com/office/drawing/2014/main" id="{629E676A-5B8B-E784-6847-C37B65EF438D}"/>
                </a:ext>
              </a:extLst>
            </p:cNvPr>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4278;p54">
              <a:extLst>
                <a:ext uri="{FF2B5EF4-FFF2-40B4-BE49-F238E27FC236}">
                  <a16:creationId xmlns:a16="http://schemas.microsoft.com/office/drawing/2014/main" id="{47A3CFEF-E7A7-A19E-B00E-5822211A6628}"/>
                </a:ext>
              </a:extLst>
            </p:cNvPr>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4279;p54">
              <a:extLst>
                <a:ext uri="{FF2B5EF4-FFF2-40B4-BE49-F238E27FC236}">
                  <a16:creationId xmlns:a16="http://schemas.microsoft.com/office/drawing/2014/main" id="{AD454E1B-2C1A-159A-2CA1-A989DC1E23F2}"/>
                </a:ext>
              </a:extLst>
            </p:cNvPr>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4280;p54">
              <a:extLst>
                <a:ext uri="{FF2B5EF4-FFF2-40B4-BE49-F238E27FC236}">
                  <a16:creationId xmlns:a16="http://schemas.microsoft.com/office/drawing/2014/main" id="{FF0665EA-879A-9F6C-9ACA-F449E86DAA70}"/>
                </a:ext>
              </a:extLst>
            </p:cNvPr>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4281;p54">
              <a:extLst>
                <a:ext uri="{FF2B5EF4-FFF2-40B4-BE49-F238E27FC236}">
                  <a16:creationId xmlns:a16="http://schemas.microsoft.com/office/drawing/2014/main" id="{F7823BBD-F650-987D-DA08-F7D2F11395D7}"/>
                </a:ext>
              </a:extLst>
            </p:cNvPr>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 name="Google Shape;4272;p54">
            <a:extLst>
              <a:ext uri="{FF2B5EF4-FFF2-40B4-BE49-F238E27FC236}">
                <a16:creationId xmlns:a16="http://schemas.microsoft.com/office/drawing/2014/main" id="{0C56BC26-8E37-BFF6-2FED-7D948888D46C}"/>
              </a:ext>
            </a:extLst>
          </p:cNvPr>
          <p:cNvGrpSpPr/>
          <p:nvPr/>
        </p:nvGrpSpPr>
        <p:grpSpPr>
          <a:xfrm>
            <a:off x="2276992" y="1824537"/>
            <a:ext cx="110683" cy="186106"/>
            <a:chOff x="5059700" y="2334775"/>
            <a:chExt cx="40775" cy="66025"/>
          </a:xfrm>
          <a:solidFill>
            <a:schemeClr val="bg1"/>
          </a:solidFill>
        </p:grpSpPr>
        <p:sp>
          <p:nvSpPr>
            <p:cNvPr id="244" name="Google Shape;4273;p54">
              <a:extLst>
                <a:ext uri="{FF2B5EF4-FFF2-40B4-BE49-F238E27FC236}">
                  <a16:creationId xmlns:a16="http://schemas.microsoft.com/office/drawing/2014/main" id="{218F5632-4B3F-372E-E267-D5F9B98CBEB8}"/>
                </a:ext>
              </a:extLst>
            </p:cNvPr>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4274;p54">
              <a:extLst>
                <a:ext uri="{FF2B5EF4-FFF2-40B4-BE49-F238E27FC236}">
                  <a16:creationId xmlns:a16="http://schemas.microsoft.com/office/drawing/2014/main" id="{7F898098-613A-4E10-7AA3-E7F639DA7AE8}"/>
                </a:ext>
              </a:extLst>
            </p:cNvPr>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4275;p54">
              <a:extLst>
                <a:ext uri="{FF2B5EF4-FFF2-40B4-BE49-F238E27FC236}">
                  <a16:creationId xmlns:a16="http://schemas.microsoft.com/office/drawing/2014/main" id="{BD96D421-F0EF-2975-E5E5-94C5D42FE81F}"/>
                </a:ext>
              </a:extLst>
            </p:cNvPr>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4276;p54">
              <a:extLst>
                <a:ext uri="{FF2B5EF4-FFF2-40B4-BE49-F238E27FC236}">
                  <a16:creationId xmlns:a16="http://schemas.microsoft.com/office/drawing/2014/main" id="{0CA42587-F510-2D24-05C1-7AB389A0A627}"/>
                </a:ext>
              </a:extLst>
            </p:cNvPr>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4277;p54">
              <a:extLst>
                <a:ext uri="{FF2B5EF4-FFF2-40B4-BE49-F238E27FC236}">
                  <a16:creationId xmlns:a16="http://schemas.microsoft.com/office/drawing/2014/main" id="{5B7EF8EB-6F35-2E04-2058-DCE3584AB146}"/>
                </a:ext>
              </a:extLst>
            </p:cNvPr>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4278;p54">
              <a:extLst>
                <a:ext uri="{FF2B5EF4-FFF2-40B4-BE49-F238E27FC236}">
                  <a16:creationId xmlns:a16="http://schemas.microsoft.com/office/drawing/2014/main" id="{2B7EE9B9-0BEC-E766-4057-A2AD3233B90B}"/>
                </a:ext>
              </a:extLst>
            </p:cNvPr>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4279;p54">
              <a:extLst>
                <a:ext uri="{FF2B5EF4-FFF2-40B4-BE49-F238E27FC236}">
                  <a16:creationId xmlns:a16="http://schemas.microsoft.com/office/drawing/2014/main" id="{CF2F94AF-BADF-1546-B1EC-D11618D3EA4F}"/>
                </a:ext>
              </a:extLst>
            </p:cNvPr>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4280;p54">
              <a:extLst>
                <a:ext uri="{FF2B5EF4-FFF2-40B4-BE49-F238E27FC236}">
                  <a16:creationId xmlns:a16="http://schemas.microsoft.com/office/drawing/2014/main" id="{73EAAFDF-E476-6B53-6087-B99A8EE5F0AA}"/>
                </a:ext>
              </a:extLst>
            </p:cNvPr>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4281;p54">
              <a:extLst>
                <a:ext uri="{FF2B5EF4-FFF2-40B4-BE49-F238E27FC236}">
                  <a16:creationId xmlns:a16="http://schemas.microsoft.com/office/drawing/2014/main" id="{A2BDC9D2-5649-BDE5-680F-974600276EF7}"/>
                </a:ext>
              </a:extLst>
            </p:cNvPr>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4272;p54">
            <a:extLst>
              <a:ext uri="{FF2B5EF4-FFF2-40B4-BE49-F238E27FC236}">
                <a16:creationId xmlns:a16="http://schemas.microsoft.com/office/drawing/2014/main" id="{92C58288-E2AC-5860-F444-4F090961D5C0}"/>
              </a:ext>
            </a:extLst>
          </p:cNvPr>
          <p:cNvGrpSpPr/>
          <p:nvPr/>
        </p:nvGrpSpPr>
        <p:grpSpPr>
          <a:xfrm>
            <a:off x="2606538" y="2411853"/>
            <a:ext cx="110683" cy="186106"/>
            <a:chOff x="5059700" y="2334775"/>
            <a:chExt cx="40775" cy="66025"/>
          </a:xfrm>
          <a:solidFill>
            <a:schemeClr val="bg1"/>
          </a:solidFill>
        </p:grpSpPr>
        <p:sp>
          <p:nvSpPr>
            <p:cNvPr id="254" name="Google Shape;4273;p54">
              <a:extLst>
                <a:ext uri="{FF2B5EF4-FFF2-40B4-BE49-F238E27FC236}">
                  <a16:creationId xmlns:a16="http://schemas.microsoft.com/office/drawing/2014/main" id="{73322E8D-6602-60EE-61D2-6CFF4BF9AA54}"/>
                </a:ext>
              </a:extLst>
            </p:cNvPr>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4274;p54">
              <a:extLst>
                <a:ext uri="{FF2B5EF4-FFF2-40B4-BE49-F238E27FC236}">
                  <a16:creationId xmlns:a16="http://schemas.microsoft.com/office/drawing/2014/main" id="{F71FD015-1B26-0E68-1066-DEFB1C2E98FA}"/>
                </a:ext>
              </a:extLst>
            </p:cNvPr>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4275;p54">
              <a:extLst>
                <a:ext uri="{FF2B5EF4-FFF2-40B4-BE49-F238E27FC236}">
                  <a16:creationId xmlns:a16="http://schemas.microsoft.com/office/drawing/2014/main" id="{28F0D266-F1ED-49D4-F172-787CEA51FC52}"/>
                </a:ext>
              </a:extLst>
            </p:cNvPr>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4276;p54">
              <a:extLst>
                <a:ext uri="{FF2B5EF4-FFF2-40B4-BE49-F238E27FC236}">
                  <a16:creationId xmlns:a16="http://schemas.microsoft.com/office/drawing/2014/main" id="{CCFE3F2E-4F2D-92E0-D849-7CF519C20A18}"/>
                </a:ext>
              </a:extLst>
            </p:cNvPr>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4277;p54">
              <a:extLst>
                <a:ext uri="{FF2B5EF4-FFF2-40B4-BE49-F238E27FC236}">
                  <a16:creationId xmlns:a16="http://schemas.microsoft.com/office/drawing/2014/main" id="{608DD859-E4B9-D909-19D1-E661FBB33D65}"/>
                </a:ext>
              </a:extLst>
            </p:cNvPr>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4278;p54">
              <a:extLst>
                <a:ext uri="{FF2B5EF4-FFF2-40B4-BE49-F238E27FC236}">
                  <a16:creationId xmlns:a16="http://schemas.microsoft.com/office/drawing/2014/main" id="{4C43DBAD-FF34-0148-9638-14392A1BB27A}"/>
                </a:ext>
              </a:extLst>
            </p:cNvPr>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4279;p54">
              <a:extLst>
                <a:ext uri="{FF2B5EF4-FFF2-40B4-BE49-F238E27FC236}">
                  <a16:creationId xmlns:a16="http://schemas.microsoft.com/office/drawing/2014/main" id="{BD229F06-680E-F6B0-8B3A-92097BC933ED}"/>
                </a:ext>
              </a:extLst>
            </p:cNvPr>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4280;p54">
              <a:extLst>
                <a:ext uri="{FF2B5EF4-FFF2-40B4-BE49-F238E27FC236}">
                  <a16:creationId xmlns:a16="http://schemas.microsoft.com/office/drawing/2014/main" id="{05787F54-D50D-03DC-1120-29C1B1C47349}"/>
                </a:ext>
              </a:extLst>
            </p:cNvPr>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281;p54">
              <a:extLst>
                <a:ext uri="{FF2B5EF4-FFF2-40B4-BE49-F238E27FC236}">
                  <a16:creationId xmlns:a16="http://schemas.microsoft.com/office/drawing/2014/main" id="{7C43792C-624B-4EA0-B48E-5241465E22FE}"/>
                </a:ext>
              </a:extLst>
            </p:cNvPr>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 name="Google Shape;4272;p54">
            <a:extLst>
              <a:ext uri="{FF2B5EF4-FFF2-40B4-BE49-F238E27FC236}">
                <a16:creationId xmlns:a16="http://schemas.microsoft.com/office/drawing/2014/main" id="{E5784770-BEC1-C583-74CB-FF1FD1EEDDDD}"/>
              </a:ext>
            </a:extLst>
          </p:cNvPr>
          <p:cNvGrpSpPr/>
          <p:nvPr/>
        </p:nvGrpSpPr>
        <p:grpSpPr>
          <a:xfrm>
            <a:off x="3026914" y="3018919"/>
            <a:ext cx="110683" cy="186106"/>
            <a:chOff x="5059700" y="2334775"/>
            <a:chExt cx="40775" cy="66025"/>
          </a:xfrm>
          <a:solidFill>
            <a:schemeClr val="bg1"/>
          </a:solidFill>
        </p:grpSpPr>
        <p:sp>
          <p:nvSpPr>
            <p:cNvPr id="72" name="Google Shape;4273;p54">
              <a:extLst>
                <a:ext uri="{FF2B5EF4-FFF2-40B4-BE49-F238E27FC236}">
                  <a16:creationId xmlns:a16="http://schemas.microsoft.com/office/drawing/2014/main" id="{930FB43F-F0F4-6A9F-6E35-3CF2631E7D8A}"/>
                </a:ext>
              </a:extLst>
            </p:cNvPr>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4274;p54">
              <a:extLst>
                <a:ext uri="{FF2B5EF4-FFF2-40B4-BE49-F238E27FC236}">
                  <a16:creationId xmlns:a16="http://schemas.microsoft.com/office/drawing/2014/main" id="{3806FBEF-05BD-5A0D-D92E-E5E5BBDCECC1}"/>
                </a:ext>
              </a:extLst>
            </p:cNvPr>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4275;p54">
              <a:extLst>
                <a:ext uri="{FF2B5EF4-FFF2-40B4-BE49-F238E27FC236}">
                  <a16:creationId xmlns:a16="http://schemas.microsoft.com/office/drawing/2014/main" id="{D69FE41E-6E3B-0396-D6AA-CFBE16368DBF}"/>
                </a:ext>
              </a:extLst>
            </p:cNvPr>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4276;p54">
              <a:extLst>
                <a:ext uri="{FF2B5EF4-FFF2-40B4-BE49-F238E27FC236}">
                  <a16:creationId xmlns:a16="http://schemas.microsoft.com/office/drawing/2014/main" id="{64FAB1C0-A6B1-8875-B47E-878747A36CDC}"/>
                </a:ext>
              </a:extLst>
            </p:cNvPr>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4277;p54">
              <a:extLst>
                <a:ext uri="{FF2B5EF4-FFF2-40B4-BE49-F238E27FC236}">
                  <a16:creationId xmlns:a16="http://schemas.microsoft.com/office/drawing/2014/main" id="{11811D68-E8E5-220E-D30D-869667D0D138}"/>
                </a:ext>
              </a:extLst>
            </p:cNvPr>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4278;p54">
              <a:extLst>
                <a:ext uri="{FF2B5EF4-FFF2-40B4-BE49-F238E27FC236}">
                  <a16:creationId xmlns:a16="http://schemas.microsoft.com/office/drawing/2014/main" id="{C43F8A8B-6A73-092C-43B0-2A392B09C0CB}"/>
                </a:ext>
              </a:extLst>
            </p:cNvPr>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4279;p54">
              <a:extLst>
                <a:ext uri="{FF2B5EF4-FFF2-40B4-BE49-F238E27FC236}">
                  <a16:creationId xmlns:a16="http://schemas.microsoft.com/office/drawing/2014/main" id="{C7F326F8-51C0-0FB7-21B6-87F2C31FD105}"/>
                </a:ext>
              </a:extLst>
            </p:cNvPr>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4280;p54">
              <a:extLst>
                <a:ext uri="{FF2B5EF4-FFF2-40B4-BE49-F238E27FC236}">
                  <a16:creationId xmlns:a16="http://schemas.microsoft.com/office/drawing/2014/main" id="{2950CBF8-A1E4-303E-9C06-BFF6C9DDEF69}"/>
                </a:ext>
              </a:extLst>
            </p:cNvPr>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4281;p54">
              <a:extLst>
                <a:ext uri="{FF2B5EF4-FFF2-40B4-BE49-F238E27FC236}">
                  <a16:creationId xmlns:a16="http://schemas.microsoft.com/office/drawing/2014/main" id="{31EC6AA8-E852-F9DE-C8C4-19986B8E559B}"/>
                </a:ext>
              </a:extLst>
            </p:cNvPr>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309;p20">
            <a:hlinkClick r:id="rId3" action="ppaction://hlinksldjump"/>
            <a:extLst>
              <a:ext uri="{FF2B5EF4-FFF2-40B4-BE49-F238E27FC236}">
                <a16:creationId xmlns:a16="http://schemas.microsoft.com/office/drawing/2014/main" id="{FFEA7D8B-6759-D4A9-7E64-4521700C93E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1016917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par>
                                <p:cTn id="9" presetID="6" presetClass="entr" presetSubtype="16" fill="hold" nodeType="withEffect">
                                  <p:stCondLst>
                                    <p:cond delay="0"/>
                                  </p:stCondLst>
                                  <p:childTnLst>
                                    <p:set>
                                      <p:cBhvr>
                                        <p:cTn id="10" dur="1" fill="hold">
                                          <p:stCondLst>
                                            <p:cond delay="0"/>
                                          </p:stCondLst>
                                        </p:cTn>
                                        <p:tgtEl>
                                          <p:spTgt spid="233"/>
                                        </p:tgtEl>
                                        <p:attrNameLst>
                                          <p:attrName>style.visibility</p:attrName>
                                        </p:attrNameLst>
                                      </p:cBhvr>
                                      <p:to>
                                        <p:strVal val="visible"/>
                                      </p:to>
                                    </p:set>
                                    <p:animEffect transition="in" filter="circle(in)">
                                      <p:cBhvr>
                                        <p:cTn id="11" dur="2000"/>
                                        <p:tgtEl>
                                          <p:spTgt spid="233"/>
                                        </p:tgtEl>
                                      </p:cBhvr>
                                    </p:animEffect>
                                  </p:childTnLst>
                                </p:cTn>
                              </p:par>
                            </p:childTnLst>
                          </p:cTn>
                        </p:par>
                        <p:par>
                          <p:cTn id="12" fill="hold">
                            <p:stCondLst>
                              <p:cond delay="2000"/>
                            </p:stCondLst>
                            <p:childTnLst>
                              <p:par>
                                <p:cTn id="13" presetID="6" presetClass="entr" presetSubtype="16" fill="hold" nodeType="afterEffect">
                                  <p:stCondLst>
                                    <p:cond delay="0"/>
                                  </p:stCondLst>
                                  <p:childTnLst>
                                    <p:set>
                                      <p:cBhvr>
                                        <p:cTn id="14" dur="1" fill="hold">
                                          <p:stCondLst>
                                            <p:cond delay="0"/>
                                          </p:stCondLst>
                                        </p:cTn>
                                        <p:tgtEl>
                                          <p:spTgt spid="243"/>
                                        </p:tgtEl>
                                        <p:attrNameLst>
                                          <p:attrName>style.visibility</p:attrName>
                                        </p:attrNameLst>
                                      </p:cBhvr>
                                      <p:to>
                                        <p:strVal val="visible"/>
                                      </p:to>
                                    </p:set>
                                    <p:animEffect transition="in" filter="circle(in)">
                                      <p:cBhvr>
                                        <p:cTn id="15" dur="2000"/>
                                        <p:tgtEl>
                                          <p:spTgt spid="243"/>
                                        </p:tgtEl>
                                      </p:cBhvr>
                                    </p:animEffect>
                                  </p:childTnLst>
                                </p:cTn>
                              </p:par>
                              <p:par>
                                <p:cTn id="16" presetID="6" presetClass="entr" presetSubtype="16" fill="hold" nodeType="withEffect">
                                  <p:stCondLst>
                                    <p:cond delay="0"/>
                                  </p:stCondLst>
                                  <p:childTnLst>
                                    <p:set>
                                      <p:cBhvr>
                                        <p:cTn id="17" dur="1" fill="hold">
                                          <p:stCondLst>
                                            <p:cond delay="0"/>
                                          </p:stCondLst>
                                        </p:cTn>
                                        <p:tgtEl>
                                          <p:spTgt spid="253"/>
                                        </p:tgtEl>
                                        <p:attrNameLst>
                                          <p:attrName>style.visibility</p:attrName>
                                        </p:attrNameLst>
                                      </p:cBhvr>
                                      <p:to>
                                        <p:strVal val="visible"/>
                                      </p:to>
                                    </p:set>
                                    <p:animEffect transition="in" filter="circle(in)">
                                      <p:cBhvr>
                                        <p:cTn id="18" dur="2000"/>
                                        <p:tgtEl>
                                          <p:spTgt spid="253"/>
                                        </p:tgtEl>
                                      </p:cBhvr>
                                    </p:animEffect>
                                  </p:childTnLst>
                                </p:cTn>
                              </p:par>
                              <p:par>
                                <p:cTn id="19" presetID="6" presetClass="entr" presetSubtype="16" fill="hold" nodeType="withEffect">
                                  <p:stCondLst>
                                    <p:cond delay="0"/>
                                  </p:stCondLst>
                                  <p:childTnLst>
                                    <p:set>
                                      <p:cBhvr>
                                        <p:cTn id="20" dur="1" fill="hold">
                                          <p:stCondLst>
                                            <p:cond delay="0"/>
                                          </p:stCondLst>
                                        </p:cTn>
                                        <p:tgtEl>
                                          <p:spTgt spid="71"/>
                                        </p:tgtEl>
                                        <p:attrNameLst>
                                          <p:attrName>style.visibility</p:attrName>
                                        </p:attrNameLst>
                                      </p:cBhvr>
                                      <p:to>
                                        <p:strVal val="visible"/>
                                      </p:to>
                                    </p:set>
                                    <p:animEffect transition="in" filter="circle(in)">
                                      <p:cBhvr>
                                        <p:cTn id="21" dur="2000"/>
                                        <p:tgtEl>
                                          <p:spTgt spid="71"/>
                                        </p:tgtEl>
                                      </p:cBhvr>
                                    </p:animEffect>
                                  </p:childTnLst>
                                </p:cTn>
                              </p:par>
                            </p:childTnLst>
                          </p:cTn>
                        </p:par>
                        <p:par>
                          <p:cTn id="22" fill="hold">
                            <p:stCondLst>
                              <p:cond delay="4000"/>
                            </p:stCondLst>
                            <p:childTnLst>
                              <p:par>
                                <p:cTn id="23" presetID="41" presetClass="entr" presetSubtype="0" fill="hold" grpId="0" nodeType="afterEffect">
                                  <p:stCondLst>
                                    <p:cond delay="0"/>
                                  </p:stCondLst>
                                  <p:iterate type="lt">
                                    <p:tmPct val="10000"/>
                                  </p:iterate>
                                  <p:childTnLst>
                                    <p:set>
                                      <p:cBhvr>
                                        <p:cTn id="24" dur="1" fill="hold">
                                          <p:stCondLst>
                                            <p:cond delay="0"/>
                                          </p:stCondLst>
                                        </p:cTn>
                                        <p:tgtEl>
                                          <p:spTgt spid="152"/>
                                        </p:tgtEl>
                                        <p:attrNameLst>
                                          <p:attrName>style.visibility</p:attrName>
                                        </p:attrNameLst>
                                      </p:cBhvr>
                                      <p:to>
                                        <p:strVal val="visible"/>
                                      </p:to>
                                    </p:set>
                                    <p:anim calcmode="lin" valueType="num">
                                      <p:cBhvr>
                                        <p:cTn id="25"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26" dur="500" fill="hold"/>
                                        <p:tgtEl>
                                          <p:spTgt spid="152"/>
                                        </p:tgtEl>
                                        <p:attrNameLst>
                                          <p:attrName>ppt_y</p:attrName>
                                        </p:attrNameLst>
                                      </p:cBhvr>
                                      <p:tavLst>
                                        <p:tav tm="0">
                                          <p:val>
                                            <p:strVal val="#ppt_y"/>
                                          </p:val>
                                        </p:tav>
                                        <p:tav tm="100000">
                                          <p:val>
                                            <p:strVal val="#ppt_y"/>
                                          </p:val>
                                        </p:tav>
                                      </p:tavLst>
                                    </p:anim>
                                    <p:anim calcmode="lin" valueType="num">
                                      <p:cBhvr>
                                        <p:cTn id="27"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28"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29" dur="500" tmFilter="0,0; .5, 1; 1, 1"/>
                                        <p:tgtEl>
                                          <p:spTgt spid="152"/>
                                        </p:tgtEl>
                                      </p:cBhvr>
                                    </p:animEffect>
                                  </p:childTnLst>
                                </p:cTn>
                              </p:par>
                            </p:childTnLst>
                          </p:cTn>
                        </p:par>
                        <p:par>
                          <p:cTn id="30" fill="hold">
                            <p:stCondLst>
                              <p:cond delay="4550"/>
                            </p:stCondLst>
                            <p:childTnLst>
                              <p:par>
                                <p:cTn id="31" presetID="2" presetClass="entr" presetSubtype="2" fill="hold" grpId="0" nodeType="afterEffect">
                                  <p:stCondLst>
                                    <p:cond delay="0"/>
                                  </p:stCondLst>
                                  <p:childTnLst>
                                    <p:set>
                                      <p:cBhvr>
                                        <p:cTn id="32" dur="1" fill="hold">
                                          <p:stCondLst>
                                            <p:cond delay="0"/>
                                          </p:stCondLst>
                                        </p:cTn>
                                        <p:tgtEl>
                                          <p:spTgt spid="150"/>
                                        </p:tgtEl>
                                        <p:attrNameLst>
                                          <p:attrName>style.visibility</p:attrName>
                                        </p:attrNameLst>
                                      </p:cBhvr>
                                      <p:to>
                                        <p:strVal val="visible"/>
                                      </p:to>
                                    </p:set>
                                    <p:anim calcmode="lin" valueType="num">
                                      <p:cBhvr additive="base">
                                        <p:cTn id="33" dur="500" fill="hold"/>
                                        <p:tgtEl>
                                          <p:spTgt spid="150"/>
                                        </p:tgtEl>
                                        <p:attrNameLst>
                                          <p:attrName>ppt_x</p:attrName>
                                        </p:attrNameLst>
                                      </p:cBhvr>
                                      <p:tavLst>
                                        <p:tav tm="0">
                                          <p:val>
                                            <p:strVal val="1+#ppt_w/2"/>
                                          </p:val>
                                        </p:tav>
                                        <p:tav tm="100000">
                                          <p:val>
                                            <p:strVal val="#ppt_x"/>
                                          </p:val>
                                        </p:tav>
                                      </p:tavLst>
                                    </p:anim>
                                    <p:anim calcmode="lin" valueType="num">
                                      <p:cBhvr additive="base">
                                        <p:cTn id="34" dur="500" fill="hold"/>
                                        <p:tgtEl>
                                          <p:spTgt spid="150"/>
                                        </p:tgtEl>
                                        <p:attrNameLst>
                                          <p:attrName>ppt_y</p:attrName>
                                        </p:attrNameLst>
                                      </p:cBhvr>
                                      <p:tavLst>
                                        <p:tav tm="0">
                                          <p:val>
                                            <p:strVal val="#ppt_y"/>
                                          </p:val>
                                        </p:tav>
                                        <p:tav tm="100000">
                                          <p:val>
                                            <p:strVal val="#ppt_y"/>
                                          </p:val>
                                        </p:tav>
                                      </p:tavLst>
                                    </p:anim>
                                  </p:childTnLst>
                                </p:cTn>
                              </p:par>
                            </p:childTnLst>
                          </p:cTn>
                        </p:par>
                        <p:par>
                          <p:cTn id="35" fill="hold">
                            <p:stCondLst>
                              <p:cond delay="5050"/>
                            </p:stCondLst>
                            <p:childTnLst>
                              <p:par>
                                <p:cTn id="36" presetID="2" presetClass="entr" presetSubtype="2" fill="hold" grpId="0" nodeType="afterEffect">
                                  <p:stCondLst>
                                    <p:cond delay="0"/>
                                  </p:stCondLst>
                                  <p:childTnLst>
                                    <p:set>
                                      <p:cBhvr>
                                        <p:cTn id="37" dur="1" fill="hold">
                                          <p:stCondLst>
                                            <p:cond delay="0"/>
                                          </p:stCondLst>
                                        </p:cTn>
                                        <p:tgtEl>
                                          <p:spTgt spid="200"/>
                                        </p:tgtEl>
                                        <p:attrNameLst>
                                          <p:attrName>style.visibility</p:attrName>
                                        </p:attrNameLst>
                                      </p:cBhvr>
                                      <p:to>
                                        <p:strVal val="visible"/>
                                      </p:to>
                                    </p:set>
                                    <p:anim calcmode="lin" valueType="num">
                                      <p:cBhvr additive="base">
                                        <p:cTn id="38" dur="500" fill="hold"/>
                                        <p:tgtEl>
                                          <p:spTgt spid="200"/>
                                        </p:tgtEl>
                                        <p:attrNameLst>
                                          <p:attrName>ppt_x</p:attrName>
                                        </p:attrNameLst>
                                      </p:cBhvr>
                                      <p:tavLst>
                                        <p:tav tm="0">
                                          <p:val>
                                            <p:strVal val="1+#ppt_w/2"/>
                                          </p:val>
                                        </p:tav>
                                        <p:tav tm="100000">
                                          <p:val>
                                            <p:strVal val="#ppt_x"/>
                                          </p:val>
                                        </p:tav>
                                      </p:tavLst>
                                    </p:anim>
                                    <p:anim calcmode="lin" valueType="num">
                                      <p:cBhvr additive="base">
                                        <p:cTn id="39" dur="500" fill="hold"/>
                                        <p:tgtEl>
                                          <p:spTgt spid="20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201"/>
                                        </p:tgtEl>
                                        <p:attrNameLst>
                                          <p:attrName>style.visibility</p:attrName>
                                        </p:attrNameLst>
                                      </p:cBhvr>
                                      <p:to>
                                        <p:strVal val="visible"/>
                                      </p:to>
                                    </p:set>
                                    <p:anim calcmode="lin" valueType="num">
                                      <p:cBhvr additive="base">
                                        <p:cTn id="42" dur="500" fill="hold"/>
                                        <p:tgtEl>
                                          <p:spTgt spid="201"/>
                                        </p:tgtEl>
                                        <p:attrNameLst>
                                          <p:attrName>ppt_x</p:attrName>
                                        </p:attrNameLst>
                                      </p:cBhvr>
                                      <p:tavLst>
                                        <p:tav tm="0">
                                          <p:val>
                                            <p:strVal val="0-#ppt_w/2"/>
                                          </p:val>
                                        </p:tav>
                                        <p:tav tm="100000">
                                          <p:val>
                                            <p:strVal val="#ppt_x"/>
                                          </p:val>
                                        </p:tav>
                                      </p:tavLst>
                                    </p:anim>
                                    <p:anim calcmode="lin" valueType="num">
                                      <p:cBhvr additive="base">
                                        <p:cTn id="43" dur="500" fill="hold"/>
                                        <p:tgtEl>
                                          <p:spTgt spid="201"/>
                                        </p:tgtEl>
                                        <p:attrNameLst>
                                          <p:attrName>ppt_y</p:attrName>
                                        </p:attrNameLst>
                                      </p:cBhvr>
                                      <p:tavLst>
                                        <p:tav tm="0">
                                          <p:val>
                                            <p:strVal val="#ppt_y"/>
                                          </p:val>
                                        </p:tav>
                                        <p:tav tm="100000">
                                          <p:val>
                                            <p:strVal val="#ppt_y"/>
                                          </p:val>
                                        </p:tav>
                                      </p:tavLst>
                                    </p:anim>
                                  </p:childTnLst>
                                </p:cTn>
                              </p:par>
                              <p:par>
                                <p:cTn id="44" presetID="22" presetClass="entr" presetSubtype="8" fill="hold"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2000"/>
                                        <p:tgtEl>
                                          <p:spTgt spid="22"/>
                                        </p:tgtEl>
                                      </p:cBhvr>
                                    </p:animEffect>
                                  </p:childTnLst>
                                </p:cTn>
                              </p:par>
                            </p:childTnLst>
                          </p:cTn>
                        </p:par>
                        <p:par>
                          <p:cTn id="47" fill="hold">
                            <p:stCondLst>
                              <p:cond delay="7050"/>
                            </p:stCondLst>
                            <p:childTnLst>
                              <p:par>
                                <p:cTn id="48" presetID="20" presetClass="entr" presetSubtype="0" fill="hold" nodeType="after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wedge">
                                      <p:cBhvr>
                                        <p:cTn id="50" dur="2000"/>
                                        <p:tgtEl>
                                          <p:spTgt spid="21"/>
                                        </p:tgtEl>
                                      </p:cBhvr>
                                    </p:animEffect>
                                  </p:childTnLst>
                                </p:cTn>
                              </p:par>
                            </p:childTnLst>
                          </p:cTn>
                        </p:par>
                        <p:par>
                          <p:cTn id="51" fill="hold">
                            <p:stCondLst>
                              <p:cond delay="9050"/>
                            </p:stCondLst>
                            <p:childTnLst>
                              <p:par>
                                <p:cTn id="52" presetID="22" presetClass="entr" presetSubtype="8" fill="hold" nodeType="after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wipe(left)">
                                      <p:cBhvr>
                                        <p:cTn id="54" dur="2000"/>
                                        <p:tgtEl>
                                          <p:spTgt spid="27"/>
                                        </p:tgtEl>
                                      </p:cBhvr>
                                    </p:animEffect>
                                  </p:childTnLst>
                                </p:cTn>
                              </p:par>
                            </p:childTnLst>
                          </p:cTn>
                        </p:par>
                        <p:par>
                          <p:cTn id="55" fill="hold">
                            <p:stCondLst>
                              <p:cond delay="11050"/>
                            </p:stCondLst>
                            <p:childTnLst>
                              <p:par>
                                <p:cTn id="56" presetID="20" presetClass="entr" presetSubtype="0" fill="hold" nodeType="after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wedge">
                                      <p:cBhvr>
                                        <p:cTn id="58" dur="2000"/>
                                        <p:tgtEl>
                                          <p:spTgt spid="26"/>
                                        </p:tgtEl>
                                      </p:cBhvr>
                                    </p:animEffect>
                                  </p:childTnLst>
                                </p:cTn>
                              </p:par>
                            </p:childTnLst>
                          </p:cTn>
                        </p:par>
                        <p:par>
                          <p:cTn id="59" fill="hold">
                            <p:stCondLst>
                              <p:cond delay="13050"/>
                            </p:stCondLst>
                            <p:childTnLst>
                              <p:par>
                                <p:cTn id="60" presetID="22" presetClass="entr" presetSubtype="8" fill="hold" nodeType="afterEffect">
                                  <p:stCondLst>
                                    <p:cond delay="0"/>
                                  </p:stCondLst>
                                  <p:childTnLst>
                                    <p:set>
                                      <p:cBhvr>
                                        <p:cTn id="61" dur="1" fill="hold">
                                          <p:stCondLst>
                                            <p:cond delay="0"/>
                                          </p:stCondLst>
                                        </p:cTn>
                                        <p:tgtEl>
                                          <p:spTgt spid="225"/>
                                        </p:tgtEl>
                                        <p:attrNameLst>
                                          <p:attrName>style.visibility</p:attrName>
                                        </p:attrNameLst>
                                      </p:cBhvr>
                                      <p:to>
                                        <p:strVal val="visible"/>
                                      </p:to>
                                    </p:set>
                                    <p:animEffect transition="in" filter="wipe(left)">
                                      <p:cBhvr>
                                        <p:cTn id="62" dur="2000"/>
                                        <p:tgtEl>
                                          <p:spTgt spid="225"/>
                                        </p:tgtEl>
                                      </p:cBhvr>
                                    </p:animEffect>
                                  </p:childTnLst>
                                </p:cTn>
                              </p:par>
                            </p:childTnLst>
                          </p:cTn>
                        </p:par>
                        <p:par>
                          <p:cTn id="63" fill="hold">
                            <p:stCondLst>
                              <p:cond delay="15050"/>
                            </p:stCondLst>
                            <p:childTnLst>
                              <p:par>
                                <p:cTn id="64" presetID="20" presetClass="entr" presetSubtype="0" fill="hold" nodeType="afterEffect">
                                  <p:stCondLst>
                                    <p:cond delay="0"/>
                                  </p:stCondLst>
                                  <p:childTnLst>
                                    <p:set>
                                      <p:cBhvr>
                                        <p:cTn id="65" dur="1" fill="hold">
                                          <p:stCondLst>
                                            <p:cond delay="0"/>
                                          </p:stCondLst>
                                        </p:cTn>
                                        <p:tgtEl>
                                          <p:spTgt spid="31"/>
                                        </p:tgtEl>
                                        <p:attrNameLst>
                                          <p:attrName>style.visibility</p:attrName>
                                        </p:attrNameLst>
                                      </p:cBhvr>
                                      <p:to>
                                        <p:strVal val="visible"/>
                                      </p:to>
                                    </p:set>
                                    <p:animEffect transition="in" filter="wedge">
                                      <p:cBhvr>
                                        <p:cTn id="66" dur="2000"/>
                                        <p:tgtEl>
                                          <p:spTgt spid="31"/>
                                        </p:tgtEl>
                                      </p:cBhvr>
                                    </p:animEffect>
                                  </p:childTnLst>
                                </p:cTn>
                              </p:par>
                            </p:childTnLst>
                          </p:cTn>
                        </p:par>
                        <p:par>
                          <p:cTn id="67" fill="hold">
                            <p:stCondLst>
                              <p:cond delay="17050"/>
                            </p:stCondLst>
                            <p:childTnLst>
                              <p:par>
                                <p:cTn id="68" presetID="22" presetClass="entr" presetSubtype="8" fill="hold" nodeType="afterEffect">
                                  <p:stCondLst>
                                    <p:cond delay="0"/>
                                  </p:stCondLst>
                                  <p:childTnLst>
                                    <p:set>
                                      <p:cBhvr>
                                        <p:cTn id="69" dur="1" fill="hold">
                                          <p:stCondLst>
                                            <p:cond delay="0"/>
                                          </p:stCondLst>
                                        </p:cTn>
                                        <p:tgtEl>
                                          <p:spTgt spid="229"/>
                                        </p:tgtEl>
                                        <p:attrNameLst>
                                          <p:attrName>style.visibility</p:attrName>
                                        </p:attrNameLst>
                                      </p:cBhvr>
                                      <p:to>
                                        <p:strVal val="visible"/>
                                      </p:to>
                                    </p:set>
                                    <p:animEffect transition="in" filter="wipe(left)">
                                      <p:cBhvr>
                                        <p:cTn id="70" dur="20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013016" y="230661"/>
            <a:ext cx="1815319"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مزایا و خصوصیات</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55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5B7CCEDD-7FEC-95BB-9A3A-4F2A5281985F}"/>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اثر رفتاری هیچ یک از سه بعد در جذب نیروهای وارده قابل صرف‌نظر کردن نیست</a:t>
            </a:r>
            <a:endParaRPr sz="1600"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9E00386D-297C-62B3-F753-97B8293AE4DC}"/>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اجزا و زیرمجموعه های ساده اغلب در خور پیشسازی و تولید انبوه میباشند و در ابعاد و اشکال استاندارد اختیار میگردند.</a:t>
            </a:r>
          </a:p>
        </p:txBody>
      </p:sp>
      <p:sp>
        <p:nvSpPr>
          <p:cNvPr id="4" name="Google Shape;1169;p37">
            <a:extLst>
              <a:ext uri="{FF2B5EF4-FFF2-40B4-BE49-F238E27FC236}">
                <a16:creationId xmlns:a16="http://schemas.microsoft.com/office/drawing/2014/main" id="{AD05C4EE-77C8-695D-4276-C0F4AD246B70}"/>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با استفاده ازقابلیت باربری در 3 بعد، امکان کاهش وزن فراهم میآید. از این‌رو سازه های فضا کار مشبک اسکلتی معمولاً سبک ولی بالنسبه صلب میباشند.</a:t>
            </a:r>
          </a:p>
        </p:txBody>
      </p:sp>
      <p:sp>
        <p:nvSpPr>
          <p:cNvPr id="5" name="Google Shape;1170;p37">
            <a:extLst>
              <a:ext uri="{FF2B5EF4-FFF2-40B4-BE49-F238E27FC236}">
                <a16:creationId xmlns:a16="http://schemas.microsoft.com/office/drawing/2014/main" id="{6D10CEFB-F656-84A9-503B-EEC7D8532024}"/>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عنوان قاعده (صـرفنظر از استثناها)، اغلب شامل تعداد قابل توجهی از اجزا و زیرمجموعه‌های ساده و تکرارشونده میباشد.</a:t>
            </a:r>
          </a:p>
        </p:txBody>
      </p:sp>
      <p:sp>
        <p:nvSpPr>
          <p:cNvPr id="6" name="Google Shape;1171;p37">
            <a:extLst>
              <a:ext uri="{FF2B5EF4-FFF2-40B4-BE49-F238E27FC236}">
                <a16:creationId xmlns:a16="http://schemas.microsoft.com/office/drawing/2014/main" id="{D1FA5F97-0123-D777-F982-6BEAC101FB1D}"/>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C14D9967-493D-E0ED-F8E5-E29307FC3D72}"/>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C771A5E4-6DE5-CB42-7BDA-6EA99D4786B2}"/>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F5DF28BD-280A-A5D6-A40D-1AAA874A1494}"/>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a:t>
              </a:r>
              <a:endParaRPr sz="1500" dirty="0"/>
            </a:p>
          </p:txBody>
        </p:sp>
      </p:grpSp>
      <p:grpSp>
        <p:nvGrpSpPr>
          <p:cNvPr id="10" name="Google Shape;1177;p37">
            <a:extLst>
              <a:ext uri="{FF2B5EF4-FFF2-40B4-BE49-F238E27FC236}">
                <a16:creationId xmlns:a16="http://schemas.microsoft.com/office/drawing/2014/main" id="{EE208A37-2008-AA71-0F64-759DAD987C5C}"/>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0CA98932-8A78-3DEA-E100-45E858AFFD12}"/>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ED705893-9E58-09D2-76E2-529594EEA8E6}"/>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2</a:t>
              </a:r>
              <a:endParaRPr sz="1500" dirty="0"/>
            </a:p>
          </p:txBody>
        </p:sp>
      </p:grpSp>
      <p:grpSp>
        <p:nvGrpSpPr>
          <p:cNvPr id="13" name="Google Shape;1180;p37">
            <a:extLst>
              <a:ext uri="{FF2B5EF4-FFF2-40B4-BE49-F238E27FC236}">
                <a16:creationId xmlns:a16="http://schemas.microsoft.com/office/drawing/2014/main" id="{DB85B706-A7AF-4E73-0AA6-52E94C4995D4}"/>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3EE28E49-54C1-F36B-C48D-FC90F32D1371}"/>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BBC4A208-8B2A-DDA6-1DEA-FB9E888FFB20}"/>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3</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B23046F3-572F-6B07-C68F-4340D4C2F81E}"/>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D1AAC89E-1B37-824B-439F-EBC14325E1E5}"/>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07BB3211-40B0-0711-CAC9-F67D1790CA5D}"/>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70F3E64E-63E2-EB2C-D702-F8193FE956FE}"/>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6E55015D-9258-AFD1-1F18-1546C8F1C89E}"/>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4</a:t>
              </a:r>
              <a:endParaRPr sz="1500" dirty="0"/>
            </a:p>
          </p:txBody>
        </p:sp>
      </p:grpSp>
      <p:sp>
        <p:nvSpPr>
          <p:cNvPr id="21" name="Google Shape;309;p20">
            <a:hlinkClick r:id="rId3" action="ppaction://hlinksldjump"/>
            <a:extLst>
              <a:ext uri="{FF2B5EF4-FFF2-40B4-BE49-F238E27FC236}">
                <a16:creationId xmlns:a16="http://schemas.microsoft.com/office/drawing/2014/main" id="{DD604A36-9A1D-B790-AF1E-34331B02051B}"/>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31261667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013016" y="230661"/>
            <a:ext cx="1815319"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مزایا و خصوصیات</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56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1167;p37">
            <a:extLst>
              <a:ext uri="{FF2B5EF4-FFF2-40B4-BE49-F238E27FC236}">
                <a16:creationId xmlns:a16="http://schemas.microsoft.com/office/drawing/2014/main" id="{5B7CCEDD-7FEC-95BB-9A3A-4F2A5281985F}"/>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dirty="0">
                <a:solidFill>
                  <a:srgbClr val="FFFFFF"/>
                </a:solidFill>
                <a:latin typeface="Roboto"/>
                <a:ea typeface="Roboto"/>
                <a:cs typeface="IRAN Sans" panose="020B0400000000000000" pitchFamily="34" charset="-78"/>
                <a:sym typeface="Roboto"/>
              </a:rPr>
              <a:t>متداولترین کاربرد این نوع سازه ها در ساخت پوشش یا سقف ابنیه‌ای است که در آنها عملکرد ساختمان ایجاب مینماید که دهانه های آزاد نسبتاً بزرگ در دو جهت در پلان ایجاد گردد</a:t>
            </a:r>
            <a:endParaRPr dirty="0">
              <a:solidFill>
                <a:srgbClr val="FFFFFF"/>
              </a:solidFill>
              <a:latin typeface="Roboto"/>
              <a:ea typeface="Roboto"/>
              <a:cs typeface="IRAN Sans" panose="020B0400000000000000" pitchFamily="34" charset="-78"/>
              <a:sym typeface="Roboto"/>
            </a:endParaRPr>
          </a:p>
        </p:txBody>
      </p:sp>
      <p:sp>
        <p:nvSpPr>
          <p:cNvPr id="3" name="Google Shape;1168;p37">
            <a:extLst>
              <a:ext uri="{FF2B5EF4-FFF2-40B4-BE49-F238E27FC236}">
                <a16:creationId xmlns:a16="http://schemas.microsoft.com/office/drawing/2014/main" id="{9E00386D-297C-62B3-F753-97B8293AE4DC}"/>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معمولاً از ذخیره ظرفیت مقاومتی قابل ملاحظه ای در مقایسه با سازه های سنتی برخوردارند</a:t>
            </a:r>
          </a:p>
        </p:txBody>
      </p:sp>
      <p:sp>
        <p:nvSpPr>
          <p:cNvPr id="4" name="Google Shape;1169;p37">
            <a:extLst>
              <a:ext uri="{FF2B5EF4-FFF2-40B4-BE49-F238E27FC236}">
                <a16:creationId xmlns:a16="http://schemas.microsoft.com/office/drawing/2014/main" id="{AD05C4EE-77C8-695D-4276-C0F4AD246B70}"/>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dirty="0">
                <a:solidFill>
                  <a:srgbClr val="FFFFFF"/>
                </a:solidFill>
                <a:latin typeface="Roboto"/>
                <a:ea typeface="Roboto"/>
                <a:cs typeface="IRAN Sans" panose="020B0400000000000000" pitchFamily="34" charset="-78"/>
                <a:sym typeface="Roboto"/>
              </a:rPr>
              <a:t>معمولاً بسیار اقتصادی بوده و نیازهای اقتصادی به علت امکان صنعتی شدن ساخت، افزایش سرعت تولید و نصب،کاهش وزن و صرفه جویی در مصالح را برآورده میسازند</a:t>
            </a:r>
          </a:p>
        </p:txBody>
      </p:sp>
      <p:sp>
        <p:nvSpPr>
          <p:cNvPr id="5" name="Google Shape;1170;p37">
            <a:extLst>
              <a:ext uri="{FF2B5EF4-FFF2-40B4-BE49-F238E27FC236}">
                <a16:creationId xmlns:a16="http://schemas.microsoft.com/office/drawing/2014/main" id="{6D10CEFB-F656-84A9-503B-EEC7D8532024}"/>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معمولاً از دیدگاه زیباشناختی دارای اهمیت هستند</a:t>
            </a:r>
          </a:p>
        </p:txBody>
      </p:sp>
      <p:sp>
        <p:nvSpPr>
          <p:cNvPr id="6" name="Google Shape;1171;p37">
            <a:extLst>
              <a:ext uri="{FF2B5EF4-FFF2-40B4-BE49-F238E27FC236}">
                <a16:creationId xmlns:a16="http://schemas.microsoft.com/office/drawing/2014/main" id="{D1FA5F97-0123-D777-F982-6BEAC101FB1D}"/>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172;p37">
            <a:extLst>
              <a:ext uri="{FF2B5EF4-FFF2-40B4-BE49-F238E27FC236}">
                <a16:creationId xmlns:a16="http://schemas.microsoft.com/office/drawing/2014/main" id="{C14D9967-493D-E0ED-F8E5-E29307FC3D72}"/>
              </a:ext>
            </a:extLst>
          </p:cNvPr>
          <p:cNvGrpSpPr/>
          <p:nvPr/>
        </p:nvGrpSpPr>
        <p:grpSpPr>
          <a:xfrm>
            <a:off x="1017449" y="822948"/>
            <a:ext cx="576000" cy="576000"/>
            <a:chOff x="710265" y="1121593"/>
            <a:chExt cx="715680" cy="715729"/>
          </a:xfrm>
        </p:grpSpPr>
        <p:sp>
          <p:nvSpPr>
            <p:cNvPr id="8" name="Google Shape;1173;p37">
              <a:extLst>
                <a:ext uri="{FF2B5EF4-FFF2-40B4-BE49-F238E27FC236}">
                  <a16:creationId xmlns:a16="http://schemas.microsoft.com/office/drawing/2014/main" id="{C771A5E4-6DE5-CB42-7BDA-6EA99D4786B2}"/>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174;p37">
              <a:extLst>
                <a:ext uri="{FF2B5EF4-FFF2-40B4-BE49-F238E27FC236}">
                  <a16:creationId xmlns:a16="http://schemas.microsoft.com/office/drawing/2014/main" id="{F5DF28BD-280A-A5D6-A40D-1AAA874A1494}"/>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5</a:t>
              </a:r>
              <a:endParaRPr sz="1500" dirty="0"/>
            </a:p>
          </p:txBody>
        </p:sp>
      </p:grpSp>
      <p:grpSp>
        <p:nvGrpSpPr>
          <p:cNvPr id="10" name="Google Shape;1177;p37">
            <a:extLst>
              <a:ext uri="{FF2B5EF4-FFF2-40B4-BE49-F238E27FC236}">
                <a16:creationId xmlns:a16="http://schemas.microsoft.com/office/drawing/2014/main" id="{EE208A37-2008-AA71-0F64-759DAD987C5C}"/>
              </a:ext>
            </a:extLst>
          </p:cNvPr>
          <p:cNvGrpSpPr/>
          <p:nvPr/>
        </p:nvGrpSpPr>
        <p:grpSpPr>
          <a:xfrm>
            <a:off x="1017449" y="1584708"/>
            <a:ext cx="576000" cy="576000"/>
            <a:chOff x="710265" y="2213902"/>
            <a:chExt cx="715680" cy="715729"/>
          </a:xfrm>
        </p:grpSpPr>
        <p:sp>
          <p:nvSpPr>
            <p:cNvPr id="11" name="Google Shape;1178;p37">
              <a:extLst>
                <a:ext uri="{FF2B5EF4-FFF2-40B4-BE49-F238E27FC236}">
                  <a16:creationId xmlns:a16="http://schemas.microsoft.com/office/drawing/2014/main" id="{0CA98932-8A78-3DEA-E100-45E858AFFD12}"/>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179;p37">
              <a:extLst>
                <a:ext uri="{FF2B5EF4-FFF2-40B4-BE49-F238E27FC236}">
                  <a16:creationId xmlns:a16="http://schemas.microsoft.com/office/drawing/2014/main" id="{ED705893-9E58-09D2-76E2-529594EEA8E6}"/>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6</a:t>
              </a:r>
              <a:endParaRPr sz="1500" dirty="0"/>
            </a:p>
          </p:txBody>
        </p:sp>
      </p:grpSp>
      <p:grpSp>
        <p:nvGrpSpPr>
          <p:cNvPr id="13" name="Google Shape;1180;p37">
            <a:extLst>
              <a:ext uri="{FF2B5EF4-FFF2-40B4-BE49-F238E27FC236}">
                <a16:creationId xmlns:a16="http://schemas.microsoft.com/office/drawing/2014/main" id="{DB85B706-A7AF-4E73-0AA6-52E94C4995D4}"/>
              </a:ext>
            </a:extLst>
          </p:cNvPr>
          <p:cNvGrpSpPr/>
          <p:nvPr/>
        </p:nvGrpSpPr>
        <p:grpSpPr>
          <a:xfrm>
            <a:off x="1017449" y="2361082"/>
            <a:ext cx="576000" cy="576000"/>
            <a:chOff x="710265" y="3306227"/>
            <a:chExt cx="715680" cy="715729"/>
          </a:xfrm>
        </p:grpSpPr>
        <p:sp>
          <p:nvSpPr>
            <p:cNvPr id="14" name="Google Shape;1181;p37">
              <a:extLst>
                <a:ext uri="{FF2B5EF4-FFF2-40B4-BE49-F238E27FC236}">
                  <a16:creationId xmlns:a16="http://schemas.microsoft.com/office/drawing/2014/main" id="{3EE28E49-54C1-F36B-C48D-FC90F32D1371}"/>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 name="Google Shape;1182;p37">
              <a:extLst>
                <a:ext uri="{FF2B5EF4-FFF2-40B4-BE49-F238E27FC236}">
                  <a16:creationId xmlns:a16="http://schemas.microsoft.com/office/drawing/2014/main" id="{BBC4A208-8B2A-DDA6-1DEA-FB9E888FFB20}"/>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7</a:t>
              </a:r>
              <a:endParaRPr dirty="0">
                <a:cs typeface="IRAN Sans" panose="020B0400000000000000" pitchFamily="34" charset="-78"/>
              </a:endParaRPr>
            </a:p>
          </p:txBody>
        </p:sp>
      </p:grpSp>
      <p:sp>
        <p:nvSpPr>
          <p:cNvPr id="16" name="Google Shape;1183;p37">
            <a:extLst>
              <a:ext uri="{FF2B5EF4-FFF2-40B4-BE49-F238E27FC236}">
                <a16:creationId xmlns:a16="http://schemas.microsoft.com/office/drawing/2014/main" id="{B23046F3-572F-6B07-C68F-4340D4C2F81E}"/>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4;p37">
            <a:extLst>
              <a:ext uri="{FF2B5EF4-FFF2-40B4-BE49-F238E27FC236}">
                <a16:creationId xmlns:a16="http://schemas.microsoft.com/office/drawing/2014/main" id="{D1AAC89E-1B37-824B-439F-EBC14325E1E5}"/>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180;p37">
            <a:extLst>
              <a:ext uri="{FF2B5EF4-FFF2-40B4-BE49-F238E27FC236}">
                <a16:creationId xmlns:a16="http://schemas.microsoft.com/office/drawing/2014/main" id="{07BB3211-40B0-0711-CAC9-F67D1790CA5D}"/>
              </a:ext>
            </a:extLst>
          </p:cNvPr>
          <p:cNvGrpSpPr/>
          <p:nvPr/>
        </p:nvGrpSpPr>
        <p:grpSpPr>
          <a:xfrm>
            <a:off x="1017449" y="3143006"/>
            <a:ext cx="576000" cy="576000"/>
            <a:chOff x="710265" y="3306227"/>
            <a:chExt cx="715680" cy="715729"/>
          </a:xfrm>
        </p:grpSpPr>
        <p:sp>
          <p:nvSpPr>
            <p:cNvPr id="19" name="Google Shape;1181;p37">
              <a:extLst>
                <a:ext uri="{FF2B5EF4-FFF2-40B4-BE49-F238E27FC236}">
                  <a16:creationId xmlns:a16="http://schemas.microsoft.com/office/drawing/2014/main" id="{70F3E64E-63E2-EB2C-D702-F8193FE956FE}"/>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82;p37">
              <a:extLst>
                <a:ext uri="{FF2B5EF4-FFF2-40B4-BE49-F238E27FC236}">
                  <a16:creationId xmlns:a16="http://schemas.microsoft.com/office/drawing/2014/main" id="{6E55015D-9258-AFD1-1F18-1546C8F1C89E}"/>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8</a:t>
              </a:r>
              <a:endParaRPr sz="1500" dirty="0"/>
            </a:p>
          </p:txBody>
        </p:sp>
      </p:grpSp>
      <p:sp>
        <p:nvSpPr>
          <p:cNvPr id="21" name="Google Shape;309;p20">
            <a:hlinkClick r:id="rId3" action="ppaction://hlinksldjump"/>
            <a:extLst>
              <a:ext uri="{FF2B5EF4-FFF2-40B4-BE49-F238E27FC236}">
                <a16:creationId xmlns:a16="http://schemas.microsoft.com/office/drawing/2014/main" id="{5685685F-D928-56DC-B718-0FECD1F01E96}"/>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07888721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up)">
                                      <p:cBhvr>
                                        <p:cTn id="41" dur="500"/>
                                        <p:tgtEl>
                                          <p:spTgt spid="6"/>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right)">
                                      <p:cBhvr>
                                        <p:cTn id="45" dur="500"/>
                                        <p:tgtEl>
                                          <p:spTgt spid="5"/>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right)">
                                      <p:cBhvr>
                                        <p:cTn id="57" dur="500"/>
                                        <p:tgtEl>
                                          <p:spTgt spid="3"/>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wipe(up)">
                                      <p:cBhvr>
                                        <p:cTn id="65" dur="500"/>
                                        <p:tgtEl>
                                          <p:spTgt spid="17"/>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4"/>
                                        </p:tgtEl>
                                        <p:attrNameLst>
                                          <p:attrName>style.visibility</p:attrName>
                                        </p:attrNameLst>
                                      </p:cBhvr>
                                      <p:to>
                                        <p:strVal val="visible"/>
                                      </p:to>
                                    </p:set>
                                    <p:animEffect transition="in" filter="wipe(right)">
                                      <p:cBhvr>
                                        <p:cTn id="69" dur="500"/>
                                        <p:tgtEl>
                                          <p:spTgt spid="4"/>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3" grpId="0" animBg="1"/>
      <p:bldP spid="4" grpId="0" animBg="1"/>
      <p:bldP spid="5" grpId="0" animBg="1"/>
      <p:bldP spid="6" grpId="0" animBg="1"/>
      <p:bldP spid="16" grpId="0" animBg="1"/>
      <p:bldP spid="17"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4806700" y="230661"/>
            <a:ext cx="402163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اهمیت سازه های فضا کار در محیط مصنوع یا طبیعی</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57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 name="Group 20">
            <a:extLst>
              <a:ext uri="{FF2B5EF4-FFF2-40B4-BE49-F238E27FC236}">
                <a16:creationId xmlns:a16="http://schemas.microsoft.com/office/drawing/2014/main" id="{9B3EF9CF-4D44-D120-1EF6-76596C8F3809}"/>
              </a:ext>
            </a:extLst>
          </p:cNvPr>
          <p:cNvGrpSpPr/>
          <p:nvPr/>
        </p:nvGrpSpPr>
        <p:grpSpPr>
          <a:xfrm>
            <a:off x="775333" y="2433881"/>
            <a:ext cx="7723537" cy="1118311"/>
            <a:chOff x="775333" y="2433881"/>
            <a:chExt cx="7723537" cy="1118311"/>
          </a:xfrm>
        </p:grpSpPr>
        <p:grpSp>
          <p:nvGrpSpPr>
            <p:cNvPr id="22" name="Group 21">
              <a:extLst>
                <a:ext uri="{FF2B5EF4-FFF2-40B4-BE49-F238E27FC236}">
                  <a16:creationId xmlns:a16="http://schemas.microsoft.com/office/drawing/2014/main" id="{8B98E864-2F3B-7F41-1ED9-C631BCF1A5AF}"/>
                </a:ext>
              </a:extLst>
            </p:cNvPr>
            <p:cNvGrpSpPr/>
            <p:nvPr/>
          </p:nvGrpSpPr>
          <p:grpSpPr>
            <a:xfrm>
              <a:off x="775333" y="2433881"/>
              <a:ext cx="7723537" cy="1118311"/>
              <a:chOff x="775333" y="2433881"/>
              <a:chExt cx="7723537" cy="1118311"/>
            </a:xfrm>
          </p:grpSpPr>
          <p:grpSp>
            <p:nvGrpSpPr>
              <p:cNvPr id="27" name="Google Shape;214;p18">
                <a:extLst>
                  <a:ext uri="{FF2B5EF4-FFF2-40B4-BE49-F238E27FC236}">
                    <a16:creationId xmlns:a16="http://schemas.microsoft.com/office/drawing/2014/main" id="{4328EF0D-6E5C-F37A-3CF2-1A763BE533B6}"/>
                  </a:ext>
                </a:extLst>
              </p:cNvPr>
              <p:cNvGrpSpPr/>
              <p:nvPr/>
            </p:nvGrpSpPr>
            <p:grpSpPr>
              <a:xfrm>
                <a:off x="775333" y="2433881"/>
                <a:ext cx="3861900" cy="1118311"/>
                <a:chOff x="710278" y="2942764"/>
                <a:chExt cx="3861900" cy="1118311"/>
              </a:xfrm>
            </p:grpSpPr>
            <p:sp>
              <p:nvSpPr>
                <p:cNvPr id="225" name="Google Shape;215;p18">
                  <a:extLst>
                    <a:ext uri="{FF2B5EF4-FFF2-40B4-BE49-F238E27FC236}">
                      <a16:creationId xmlns:a16="http://schemas.microsoft.com/office/drawing/2014/main" id="{307D15F9-FE3A-105A-3699-92068F46A61D}"/>
                    </a:ext>
                  </a:extLst>
                </p:cNvPr>
                <p:cNvSpPr/>
                <p:nvPr/>
              </p:nvSpPr>
              <p:spPr>
                <a:xfrm>
                  <a:off x="710278" y="3589175"/>
                  <a:ext cx="3861900" cy="471900"/>
                </a:xfrm>
                <a:prstGeom prst="roundRect">
                  <a:avLst>
                    <a:gd name="adj" fmla="val 50000"/>
                  </a:avLst>
                </a:prstGeom>
                <a:solidFill>
                  <a:schemeClr val="accent2"/>
                </a:solidFill>
                <a:ln>
                  <a:noFill/>
                </a:ln>
              </p:spPr>
              <p:txBody>
                <a:bodyPr spcFirstLastPara="1" wrap="square" lIns="640075" tIns="91425" rIns="91425" bIns="91425" anchor="ctr" anchorCtr="0">
                  <a:noAutofit/>
                </a:bodyPr>
                <a:lstStyle/>
                <a:p>
                  <a:pPr lvl="0">
                    <a:buClr>
                      <a:schemeClr val="dk1"/>
                    </a:buClr>
                    <a:buSzPts val="1100"/>
                  </a:pPr>
                  <a:endParaRPr lang="fa-IR" sz="2400" b="1" dirty="0">
                    <a:solidFill>
                      <a:srgbClr val="FFFFFF"/>
                    </a:solidFill>
                  </a:endParaRPr>
                </a:p>
              </p:txBody>
            </p:sp>
            <p:sp>
              <p:nvSpPr>
                <p:cNvPr id="226" name="Google Shape;216;p18">
                  <a:extLst>
                    <a:ext uri="{FF2B5EF4-FFF2-40B4-BE49-F238E27FC236}">
                      <a16:creationId xmlns:a16="http://schemas.microsoft.com/office/drawing/2014/main" id="{4E8B600C-3888-D8A2-813E-05ABD61F7556}"/>
                    </a:ext>
                  </a:extLst>
                </p:cNvPr>
                <p:cNvSpPr txBox="1"/>
                <p:nvPr/>
              </p:nvSpPr>
              <p:spPr>
                <a:xfrm>
                  <a:off x="823512" y="2942764"/>
                  <a:ext cx="2265000" cy="534900"/>
                </a:xfrm>
                <a:prstGeom prst="rect">
                  <a:avLst/>
                </a:prstGeom>
                <a:noFill/>
                <a:ln>
                  <a:noFill/>
                </a:ln>
              </p:spPr>
              <p:txBody>
                <a:bodyPr spcFirstLastPara="1" wrap="square" lIns="91425" tIns="91425" rIns="91425" bIns="91425" anchor="ctr" anchorCtr="0">
                  <a:noAutofit/>
                </a:bodyPr>
                <a:lstStyle/>
                <a:p>
                  <a:pPr lvl="0" algn="ctr"/>
                  <a:r>
                    <a:rPr lang="fa-IR" sz="1200" dirty="0">
                      <a:solidFill>
                        <a:schemeClr val="tx1">
                          <a:lumMod val="95000"/>
                          <a:lumOff val="5000"/>
                        </a:schemeClr>
                      </a:solidFill>
                      <a:cs typeface="IRAN Sans" panose="020B0400000000000000" pitchFamily="34" charset="-78"/>
                    </a:rPr>
                    <a:t>بیش از دیگر سازه‌ها، فضا را معرفی مینمایند.</a:t>
                  </a:r>
                </a:p>
                <a:p>
                  <a:pPr lvl="0" algn="ctr"/>
                  <a:r>
                    <a:rPr lang="fa-IR" sz="1200" dirty="0">
                      <a:solidFill>
                        <a:schemeClr val="dk1"/>
                      </a:solidFill>
                      <a:latin typeface="Roboto"/>
                      <a:ea typeface="Roboto"/>
                      <a:cs typeface="IRAN Sans" panose="020B0400000000000000" pitchFamily="34" charset="-78"/>
                      <a:sym typeface="Roboto"/>
                    </a:rPr>
                    <a:t>فرم پروژه توسط سازه تعریف میشود</a:t>
                  </a:r>
                  <a:r>
                    <a:rPr lang="fa-IR" sz="1200" dirty="0">
                      <a:solidFill>
                        <a:schemeClr val="tx1">
                          <a:lumMod val="95000"/>
                          <a:lumOff val="5000"/>
                        </a:schemeClr>
                      </a:solidFill>
                      <a:latin typeface="Roboto"/>
                      <a:ea typeface="Roboto"/>
                      <a:cs typeface="IRAN Sans" panose="020B0400000000000000" pitchFamily="34" charset="-78"/>
                      <a:sym typeface="Roboto"/>
                    </a:rPr>
                    <a:t>.</a:t>
                  </a:r>
                  <a:endParaRPr lang="fa-IR" sz="1200" dirty="0">
                    <a:solidFill>
                      <a:schemeClr val="dk1"/>
                    </a:solidFill>
                    <a:latin typeface="Roboto"/>
                    <a:ea typeface="Roboto"/>
                    <a:cs typeface="IRAN Sans" panose="020B0400000000000000" pitchFamily="34" charset="-78"/>
                    <a:sym typeface="Roboto"/>
                  </a:endParaRPr>
                </a:p>
              </p:txBody>
            </p:sp>
          </p:grpSp>
          <p:grpSp>
            <p:nvGrpSpPr>
              <p:cNvPr id="28" name="Google Shape;222;p18">
                <a:extLst>
                  <a:ext uri="{FF2B5EF4-FFF2-40B4-BE49-F238E27FC236}">
                    <a16:creationId xmlns:a16="http://schemas.microsoft.com/office/drawing/2014/main" id="{D456010C-0E24-353A-DB7D-64866A4A5C57}"/>
                  </a:ext>
                </a:extLst>
              </p:cNvPr>
              <p:cNvGrpSpPr/>
              <p:nvPr/>
            </p:nvGrpSpPr>
            <p:grpSpPr>
              <a:xfrm>
                <a:off x="4636970" y="2504790"/>
                <a:ext cx="3861900" cy="1047402"/>
                <a:chOff x="4571915" y="3013673"/>
                <a:chExt cx="3861900" cy="1047402"/>
              </a:xfrm>
            </p:grpSpPr>
            <p:sp>
              <p:nvSpPr>
                <p:cNvPr id="29" name="Google Shape;223;p18">
                  <a:extLst>
                    <a:ext uri="{FF2B5EF4-FFF2-40B4-BE49-F238E27FC236}">
                      <a16:creationId xmlns:a16="http://schemas.microsoft.com/office/drawing/2014/main" id="{1852859F-030D-42A8-ACE2-5B5703CADDAD}"/>
                    </a:ext>
                  </a:extLst>
                </p:cNvPr>
                <p:cNvSpPr/>
                <p:nvPr/>
              </p:nvSpPr>
              <p:spPr>
                <a:xfrm>
                  <a:off x="4571915" y="3589175"/>
                  <a:ext cx="3861900" cy="471900"/>
                </a:xfrm>
                <a:prstGeom prst="roundRect">
                  <a:avLst>
                    <a:gd name="adj" fmla="val 50000"/>
                  </a:avLst>
                </a:prstGeom>
                <a:solidFill>
                  <a:schemeClr val="accent4"/>
                </a:solidFill>
                <a:ln>
                  <a:noFill/>
                </a:ln>
              </p:spPr>
              <p:txBody>
                <a:bodyPr spcFirstLastPara="1" wrap="square" lIns="91425" tIns="91425" rIns="548625" bIns="91425" anchor="ctr" anchorCtr="0">
                  <a:noAutofit/>
                </a:bodyPr>
                <a:lstStyle/>
                <a:p>
                  <a:pPr lvl="0" algn="r">
                    <a:buClr>
                      <a:schemeClr val="dk1"/>
                    </a:buClr>
                    <a:buSzPts val="1100"/>
                  </a:pPr>
                  <a:endParaRPr lang="fa-IR" sz="2400" b="1" dirty="0">
                    <a:solidFill>
                      <a:srgbClr val="FFFFFF"/>
                    </a:solidFill>
                  </a:endParaRPr>
                </a:p>
              </p:txBody>
            </p:sp>
            <p:sp>
              <p:nvSpPr>
                <p:cNvPr id="30" name="Google Shape;224;p18">
                  <a:extLst>
                    <a:ext uri="{FF2B5EF4-FFF2-40B4-BE49-F238E27FC236}">
                      <a16:creationId xmlns:a16="http://schemas.microsoft.com/office/drawing/2014/main" id="{68E0AA1D-E2AF-5AF5-1D41-ACA36C91D7BC}"/>
                    </a:ext>
                  </a:extLst>
                </p:cNvPr>
                <p:cNvSpPr txBox="1"/>
                <p:nvPr/>
              </p:nvSpPr>
              <p:spPr>
                <a:xfrm>
                  <a:off x="5801619" y="3013673"/>
                  <a:ext cx="2519063" cy="534900"/>
                </a:xfrm>
                <a:prstGeom prst="rect">
                  <a:avLst/>
                </a:prstGeom>
                <a:noFill/>
                <a:ln>
                  <a:noFill/>
                </a:ln>
              </p:spPr>
              <p:txBody>
                <a:bodyPr spcFirstLastPara="1" wrap="square" lIns="91425" tIns="91425" rIns="91425" bIns="91425" anchor="ctr" anchorCtr="0">
                  <a:noAutofit/>
                </a:bodyPr>
                <a:lstStyle/>
                <a:p>
                  <a:pPr lvl="0" algn="ctr"/>
                  <a:r>
                    <a:rPr lang="fa-IR" sz="1200" dirty="0">
                      <a:solidFill>
                        <a:schemeClr val="dk1"/>
                      </a:solidFill>
                      <a:latin typeface="Roboto"/>
                      <a:ea typeface="Roboto"/>
                      <a:cs typeface="IRAN Sans" panose="020B0400000000000000" pitchFamily="34" charset="-78"/>
                      <a:sym typeface="Roboto"/>
                    </a:rPr>
                    <a:t>تمامی سازه ها باید از دیدگاه زیباشناسی و هماهنگی با محیط مصنوعی یا طبیعی مورد مطالعه قرار داده شوند</a:t>
                  </a:r>
                </a:p>
              </p:txBody>
            </p:sp>
          </p:grpSp>
        </p:grpSp>
        <p:sp>
          <p:nvSpPr>
            <p:cNvPr id="24" name="Google Shape;232;p18">
              <a:extLst>
                <a:ext uri="{FF2B5EF4-FFF2-40B4-BE49-F238E27FC236}">
                  <a16:creationId xmlns:a16="http://schemas.microsoft.com/office/drawing/2014/main" id="{F7E6CA1C-0054-45B6-D3A4-FB4A46DB5D2D}"/>
                </a:ext>
              </a:extLst>
            </p:cNvPr>
            <p:cNvSpPr/>
            <p:nvPr/>
          </p:nvSpPr>
          <p:spPr>
            <a:xfrm>
              <a:off x="934903" y="3210698"/>
              <a:ext cx="187861" cy="210895"/>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435D74"/>
                </a:solidFill>
              </a:endParaRPr>
            </a:p>
          </p:txBody>
        </p:sp>
      </p:grpSp>
      <p:grpSp>
        <p:nvGrpSpPr>
          <p:cNvPr id="228" name="Group 227">
            <a:extLst>
              <a:ext uri="{FF2B5EF4-FFF2-40B4-BE49-F238E27FC236}">
                <a16:creationId xmlns:a16="http://schemas.microsoft.com/office/drawing/2014/main" id="{038D164E-3968-4C88-4C2B-E50018684D5B}"/>
              </a:ext>
            </a:extLst>
          </p:cNvPr>
          <p:cNvGrpSpPr/>
          <p:nvPr/>
        </p:nvGrpSpPr>
        <p:grpSpPr>
          <a:xfrm>
            <a:off x="775330" y="943392"/>
            <a:ext cx="8047254" cy="1193870"/>
            <a:chOff x="775330" y="943392"/>
            <a:chExt cx="8047254" cy="1193870"/>
          </a:xfrm>
        </p:grpSpPr>
        <p:grpSp>
          <p:nvGrpSpPr>
            <p:cNvPr id="229" name="Group 228">
              <a:extLst>
                <a:ext uri="{FF2B5EF4-FFF2-40B4-BE49-F238E27FC236}">
                  <a16:creationId xmlns:a16="http://schemas.microsoft.com/office/drawing/2014/main" id="{19DFDFFE-EAE1-273A-3F3B-D0B662D6B379}"/>
                </a:ext>
              </a:extLst>
            </p:cNvPr>
            <p:cNvGrpSpPr/>
            <p:nvPr/>
          </p:nvGrpSpPr>
          <p:grpSpPr>
            <a:xfrm>
              <a:off x="775330" y="943392"/>
              <a:ext cx="8047254" cy="1193870"/>
              <a:chOff x="775330" y="943392"/>
              <a:chExt cx="8047254" cy="1193870"/>
            </a:xfrm>
          </p:grpSpPr>
          <p:grpSp>
            <p:nvGrpSpPr>
              <p:cNvPr id="242" name="Google Shape;210;p18">
                <a:extLst>
                  <a:ext uri="{FF2B5EF4-FFF2-40B4-BE49-F238E27FC236}">
                    <a16:creationId xmlns:a16="http://schemas.microsoft.com/office/drawing/2014/main" id="{C5B04F50-ECC9-148D-DD02-2DDC556B37BF}"/>
                  </a:ext>
                </a:extLst>
              </p:cNvPr>
              <p:cNvGrpSpPr/>
              <p:nvPr/>
            </p:nvGrpSpPr>
            <p:grpSpPr>
              <a:xfrm>
                <a:off x="775330" y="943392"/>
                <a:ext cx="3861900" cy="1044740"/>
                <a:chOff x="710275" y="1452275"/>
                <a:chExt cx="3861900" cy="1044740"/>
              </a:xfrm>
            </p:grpSpPr>
            <p:sp>
              <p:nvSpPr>
                <p:cNvPr id="247" name="Google Shape;211;p18">
                  <a:extLst>
                    <a:ext uri="{FF2B5EF4-FFF2-40B4-BE49-F238E27FC236}">
                      <a16:creationId xmlns:a16="http://schemas.microsoft.com/office/drawing/2014/main" id="{19364BD2-E863-36AF-B467-5E37CC71C8C3}"/>
                    </a:ext>
                  </a:extLst>
                </p:cNvPr>
                <p:cNvSpPr/>
                <p:nvPr/>
              </p:nvSpPr>
              <p:spPr>
                <a:xfrm>
                  <a:off x="710275" y="1452275"/>
                  <a:ext cx="3861900" cy="471900"/>
                </a:xfrm>
                <a:prstGeom prst="roundRect">
                  <a:avLst>
                    <a:gd name="adj" fmla="val 50000"/>
                  </a:avLst>
                </a:prstGeom>
                <a:solidFill>
                  <a:schemeClr val="accent1"/>
                </a:solidFill>
                <a:ln>
                  <a:noFill/>
                </a:ln>
              </p:spPr>
              <p:txBody>
                <a:bodyPr spcFirstLastPara="1" wrap="square" lIns="640075" tIns="91425" rIns="91425" bIns="91425" anchor="ctr" anchorCtr="0">
                  <a:noAutofit/>
                </a:bodyPr>
                <a:lstStyle/>
                <a:p>
                  <a:pPr lvl="0">
                    <a:buClr>
                      <a:schemeClr val="dk1"/>
                    </a:buClr>
                    <a:buSzPts val="1100"/>
                  </a:pPr>
                  <a:endParaRPr lang="fa-IR" sz="2400" b="1" dirty="0">
                    <a:solidFill>
                      <a:srgbClr val="FFFFFF"/>
                    </a:solidFill>
                  </a:endParaRPr>
                </a:p>
              </p:txBody>
            </p:sp>
            <p:sp>
              <p:nvSpPr>
                <p:cNvPr id="248" name="Google Shape;212;p18">
                  <a:extLst>
                    <a:ext uri="{FF2B5EF4-FFF2-40B4-BE49-F238E27FC236}">
                      <a16:creationId xmlns:a16="http://schemas.microsoft.com/office/drawing/2014/main" id="{32AAE047-4971-8151-F494-41F791D37BE4}"/>
                    </a:ext>
                  </a:extLst>
                </p:cNvPr>
                <p:cNvSpPr txBox="1"/>
                <p:nvPr/>
              </p:nvSpPr>
              <p:spPr>
                <a:xfrm>
                  <a:off x="847049" y="1962115"/>
                  <a:ext cx="2265000" cy="534900"/>
                </a:xfrm>
                <a:prstGeom prst="rect">
                  <a:avLst/>
                </a:prstGeom>
                <a:noFill/>
                <a:ln>
                  <a:noFill/>
                </a:ln>
              </p:spPr>
              <p:txBody>
                <a:bodyPr spcFirstLastPara="1" wrap="square" lIns="91425" tIns="91425" rIns="91425" bIns="91425" anchor="ctr" anchorCtr="0">
                  <a:noAutofit/>
                </a:bodyPr>
                <a:lstStyle/>
                <a:p>
                  <a:pPr lvl="0" algn="ctr"/>
                  <a:r>
                    <a:rPr lang="fa-IR" sz="1200" dirty="0">
                      <a:solidFill>
                        <a:schemeClr val="tx1">
                          <a:lumMod val="95000"/>
                          <a:lumOff val="5000"/>
                        </a:schemeClr>
                      </a:solidFill>
                      <a:cs typeface="IRAN Sans" panose="020B0400000000000000" pitchFamily="34" charset="-78"/>
                    </a:rPr>
                    <a:t>با توجه به آنکه اغلب سازه های فضاکار وسیع و بزرگ هستند، اثر قابل توجهی بر محیط باقی میگذارند</a:t>
                  </a:r>
                  <a:endParaRPr lang="fa-IR" sz="1200" dirty="0">
                    <a:solidFill>
                      <a:schemeClr val="dk1"/>
                    </a:solidFill>
                    <a:latin typeface="Roboto"/>
                    <a:ea typeface="Roboto"/>
                    <a:cs typeface="IRAN Sans" panose="020B0400000000000000" pitchFamily="34" charset="-78"/>
                    <a:sym typeface="Roboto"/>
                  </a:endParaRPr>
                </a:p>
              </p:txBody>
            </p:sp>
          </p:grpSp>
          <p:grpSp>
            <p:nvGrpSpPr>
              <p:cNvPr id="243" name="Google Shape;218;p18">
                <a:extLst>
                  <a:ext uri="{FF2B5EF4-FFF2-40B4-BE49-F238E27FC236}">
                    <a16:creationId xmlns:a16="http://schemas.microsoft.com/office/drawing/2014/main" id="{937AE0F5-D2FB-14C1-CCD4-19A289682583}"/>
                  </a:ext>
                </a:extLst>
              </p:cNvPr>
              <p:cNvGrpSpPr/>
              <p:nvPr/>
            </p:nvGrpSpPr>
            <p:grpSpPr>
              <a:xfrm>
                <a:off x="4637142" y="943392"/>
                <a:ext cx="4185442" cy="1193870"/>
                <a:chOff x="4572087" y="1452275"/>
                <a:chExt cx="4185442" cy="1193870"/>
              </a:xfrm>
            </p:grpSpPr>
            <p:sp>
              <p:nvSpPr>
                <p:cNvPr id="244" name="Google Shape;219;p18">
                  <a:extLst>
                    <a:ext uri="{FF2B5EF4-FFF2-40B4-BE49-F238E27FC236}">
                      <a16:creationId xmlns:a16="http://schemas.microsoft.com/office/drawing/2014/main" id="{1D5A24F9-0273-972C-A6BA-39018CCAB2EE}"/>
                    </a:ext>
                  </a:extLst>
                </p:cNvPr>
                <p:cNvSpPr/>
                <p:nvPr/>
              </p:nvSpPr>
              <p:spPr>
                <a:xfrm>
                  <a:off x="4572087" y="1452275"/>
                  <a:ext cx="3861900" cy="471900"/>
                </a:xfrm>
                <a:prstGeom prst="roundRect">
                  <a:avLst>
                    <a:gd name="adj" fmla="val 50000"/>
                  </a:avLst>
                </a:prstGeom>
                <a:solidFill>
                  <a:schemeClr val="accent3"/>
                </a:solidFill>
                <a:ln>
                  <a:noFill/>
                </a:ln>
              </p:spPr>
              <p:txBody>
                <a:bodyPr spcFirstLastPara="1" wrap="square" lIns="91425" tIns="91425" rIns="548625" bIns="91425" anchor="ctr" anchorCtr="0">
                  <a:noAutofit/>
                </a:bodyPr>
                <a:lstStyle/>
                <a:p>
                  <a:pPr marL="0" lvl="0" indent="0" algn="r" rtl="0">
                    <a:spcBef>
                      <a:spcPts val="0"/>
                    </a:spcBef>
                    <a:spcAft>
                      <a:spcPts val="0"/>
                    </a:spcAft>
                    <a:buClr>
                      <a:schemeClr val="dk1"/>
                    </a:buClr>
                    <a:buSzPts val="1100"/>
                    <a:buFont typeface="Arial"/>
                    <a:buNone/>
                  </a:pPr>
                  <a:endParaRPr sz="1800" b="1" dirty="0">
                    <a:solidFill>
                      <a:srgbClr val="FFFFFF"/>
                    </a:solidFill>
                  </a:endParaRPr>
                </a:p>
              </p:txBody>
            </p:sp>
            <p:sp>
              <p:nvSpPr>
                <p:cNvPr id="245" name="Google Shape;220;p18">
                  <a:extLst>
                    <a:ext uri="{FF2B5EF4-FFF2-40B4-BE49-F238E27FC236}">
                      <a16:creationId xmlns:a16="http://schemas.microsoft.com/office/drawing/2014/main" id="{BBE62CA8-CE4A-600A-B8B8-20A373B98767}"/>
                    </a:ext>
                  </a:extLst>
                </p:cNvPr>
                <p:cNvSpPr txBox="1"/>
                <p:nvPr/>
              </p:nvSpPr>
              <p:spPr>
                <a:xfrm>
                  <a:off x="5839155" y="2111245"/>
                  <a:ext cx="2918374" cy="534900"/>
                </a:xfrm>
                <a:prstGeom prst="rect">
                  <a:avLst/>
                </a:prstGeom>
                <a:noFill/>
                <a:ln>
                  <a:noFill/>
                </a:ln>
              </p:spPr>
              <p:txBody>
                <a:bodyPr spcFirstLastPara="1" wrap="square" lIns="91425" tIns="91425" rIns="91425" bIns="91425" anchor="ctr" anchorCtr="0">
                  <a:noAutofit/>
                </a:bodyPr>
                <a:lstStyle/>
                <a:p>
                  <a:pPr lvl="0" algn="ctr"/>
                  <a:r>
                    <a:rPr lang="fa-IR" sz="1200" dirty="0">
                      <a:solidFill>
                        <a:schemeClr val="tx1">
                          <a:lumMod val="95000"/>
                          <a:lumOff val="5000"/>
                        </a:schemeClr>
                      </a:solidFill>
                      <a:cs typeface="IRAN Sans" panose="020B0400000000000000" pitchFamily="34" charset="-78"/>
                    </a:rPr>
                    <a:t>سازه های فضاکار قابلیتها و امکانات عمدهای را در اختیار مهندسان و معمارها برای تلفیق اصول زیباشناختی و نوآوریها با جنبه های رفتاری، عملکردی، کاربری و سرویسدهی سازه قرار میدهند</a:t>
                  </a:r>
                  <a:endParaRPr lang="fa-IR" sz="1200" dirty="0">
                    <a:solidFill>
                      <a:schemeClr val="dk1"/>
                    </a:solidFill>
                    <a:latin typeface="Roboto"/>
                    <a:ea typeface="Roboto"/>
                    <a:cs typeface="IRAN Sans" panose="020B0400000000000000" pitchFamily="34" charset="-78"/>
                    <a:sym typeface="Roboto"/>
                  </a:endParaRPr>
                </a:p>
              </p:txBody>
            </p:sp>
          </p:grpSp>
        </p:grpSp>
        <p:sp>
          <p:nvSpPr>
            <p:cNvPr id="232" name="Google Shape;246;p18">
              <a:extLst>
                <a:ext uri="{FF2B5EF4-FFF2-40B4-BE49-F238E27FC236}">
                  <a16:creationId xmlns:a16="http://schemas.microsoft.com/office/drawing/2014/main" id="{3BFC04FE-26BF-0127-5A3D-830A37F9F19F}"/>
                </a:ext>
              </a:extLst>
            </p:cNvPr>
            <p:cNvSpPr/>
            <p:nvPr/>
          </p:nvSpPr>
          <p:spPr>
            <a:xfrm>
              <a:off x="4467447" y="1592815"/>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250" name="Google Shape;242;p18">
            <a:extLst>
              <a:ext uri="{FF2B5EF4-FFF2-40B4-BE49-F238E27FC236}">
                <a16:creationId xmlns:a16="http://schemas.microsoft.com/office/drawing/2014/main" id="{3BA7B1F0-57C9-8387-5D6B-D866238FCEFD}"/>
              </a:ext>
            </a:extLst>
          </p:cNvPr>
          <p:cNvGrpSpPr/>
          <p:nvPr/>
        </p:nvGrpSpPr>
        <p:grpSpPr>
          <a:xfrm>
            <a:off x="3294430" y="905092"/>
            <a:ext cx="2685300" cy="2685300"/>
            <a:chOff x="3229375" y="1413975"/>
            <a:chExt cx="2685300" cy="2685300"/>
          </a:xfrm>
        </p:grpSpPr>
        <p:sp>
          <p:nvSpPr>
            <p:cNvPr id="251" name="Google Shape;243;p18">
              <a:extLst>
                <a:ext uri="{FF2B5EF4-FFF2-40B4-BE49-F238E27FC236}">
                  <a16:creationId xmlns:a16="http://schemas.microsoft.com/office/drawing/2014/main" id="{D30680DA-9F14-B496-B6AB-DFE958CAFEB2}"/>
                </a:ext>
              </a:extLst>
            </p:cNvPr>
            <p:cNvSpPr/>
            <p:nvPr/>
          </p:nvSpPr>
          <p:spPr>
            <a:xfrm>
              <a:off x="3229375" y="1413975"/>
              <a:ext cx="2685300" cy="26853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44;p18">
              <a:extLst>
                <a:ext uri="{FF2B5EF4-FFF2-40B4-BE49-F238E27FC236}">
                  <a16:creationId xmlns:a16="http://schemas.microsoft.com/office/drawing/2014/main" id="{00ECE744-343D-DCB1-AA82-85A9697FD63D}"/>
                </a:ext>
              </a:extLst>
            </p:cNvPr>
            <p:cNvSpPr/>
            <p:nvPr/>
          </p:nvSpPr>
          <p:spPr>
            <a:xfrm>
              <a:off x="3479913" y="1664525"/>
              <a:ext cx="2184300" cy="2184300"/>
            </a:xfrm>
            <a:prstGeom prst="ellipse">
              <a:avLst/>
            </a:prstGeom>
            <a:noFill/>
            <a:ln w="9525" cap="flat" cmpd="sng">
              <a:solidFill>
                <a:srgbClr val="0000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45;p18">
              <a:extLst>
                <a:ext uri="{FF2B5EF4-FFF2-40B4-BE49-F238E27FC236}">
                  <a16:creationId xmlns:a16="http://schemas.microsoft.com/office/drawing/2014/main" id="{580753CD-D5AC-FD33-ABF8-99BAE957234D}"/>
                </a:ext>
              </a:extLst>
            </p:cNvPr>
            <p:cNvSpPr/>
            <p:nvPr/>
          </p:nvSpPr>
          <p:spPr>
            <a:xfrm>
              <a:off x="3666663" y="1851275"/>
              <a:ext cx="1810800" cy="1810800"/>
            </a:xfrm>
            <a:prstGeom prst="ellipse">
              <a:avLst/>
            </a:prstGeom>
            <a:solidFill>
              <a:schemeClr val="accent6"/>
            </a:solidFill>
            <a:ln>
              <a:noFill/>
            </a:ln>
          </p:spPr>
          <p:txBody>
            <a:bodyPr spcFirstLastPara="1" wrap="square" lIns="91425" tIns="457200" rIns="91425" bIns="91425" anchor="ctr" anchorCtr="0">
              <a:noAutofit/>
            </a:bodyPr>
            <a:lstStyle/>
            <a:p>
              <a:pPr lvl="0" algn="ctr">
                <a:buClr>
                  <a:schemeClr val="dk1"/>
                </a:buClr>
                <a:buSzPts val="1100"/>
              </a:pPr>
              <a:r>
                <a:rPr lang="fa-IR" sz="1800" dirty="0">
                  <a:solidFill>
                    <a:srgbClr val="FFFFFF"/>
                  </a:solidFill>
                  <a:latin typeface="Roboto"/>
                  <a:ea typeface="Roboto"/>
                  <a:cs typeface="IRAN Sans" panose="020B0400000000000000" pitchFamily="34" charset="-78"/>
                  <a:sym typeface="Roboto"/>
                </a:rPr>
                <a:t>اهمیت در محیط مصنوع یا طبیعی</a:t>
              </a:r>
            </a:p>
          </p:txBody>
        </p:sp>
      </p:grpSp>
      <p:sp>
        <p:nvSpPr>
          <p:cNvPr id="254" name="Google Shape;4251;p54">
            <a:extLst>
              <a:ext uri="{FF2B5EF4-FFF2-40B4-BE49-F238E27FC236}">
                <a16:creationId xmlns:a16="http://schemas.microsoft.com/office/drawing/2014/main" id="{E340FEE6-6998-C8DB-91CA-EDFD2FA65634}"/>
              </a:ext>
            </a:extLst>
          </p:cNvPr>
          <p:cNvSpPr/>
          <p:nvPr/>
        </p:nvSpPr>
        <p:spPr>
          <a:xfrm rot="5400000">
            <a:off x="7056161" y="1004301"/>
            <a:ext cx="322391" cy="292081"/>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4251;p54">
            <a:extLst>
              <a:ext uri="{FF2B5EF4-FFF2-40B4-BE49-F238E27FC236}">
                <a16:creationId xmlns:a16="http://schemas.microsoft.com/office/drawing/2014/main" id="{39DCF23A-2306-715C-2B7E-B470168FB92D}"/>
              </a:ext>
            </a:extLst>
          </p:cNvPr>
          <p:cNvSpPr/>
          <p:nvPr/>
        </p:nvSpPr>
        <p:spPr>
          <a:xfrm rot="16200000">
            <a:off x="7050247" y="3222961"/>
            <a:ext cx="293092" cy="250954"/>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4251;p54">
            <a:extLst>
              <a:ext uri="{FF2B5EF4-FFF2-40B4-BE49-F238E27FC236}">
                <a16:creationId xmlns:a16="http://schemas.microsoft.com/office/drawing/2014/main" id="{71661EC0-F3A4-07F2-EA68-03561EDA1EB7}"/>
              </a:ext>
            </a:extLst>
          </p:cNvPr>
          <p:cNvSpPr/>
          <p:nvPr/>
        </p:nvSpPr>
        <p:spPr>
          <a:xfrm rot="5400000">
            <a:off x="1963262" y="1018564"/>
            <a:ext cx="322391" cy="292081"/>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4251;p54">
            <a:extLst>
              <a:ext uri="{FF2B5EF4-FFF2-40B4-BE49-F238E27FC236}">
                <a16:creationId xmlns:a16="http://schemas.microsoft.com/office/drawing/2014/main" id="{6956D13C-3FE9-2C25-23AF-2F278D19230E}"/>
              </a:ext>
            </a:extLst>
          </p:cNvPr>
          <p:cNvSpPr/>
          <p:nvPr/>
        </p:nvSpPr>
        <p:spPr>
          <a:xfrm rot="16200000">
            <a:off x="1961744" y="3177744"/>
            <a:ext cx="322391" cy="292081"/>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 name="Google Shape;309;p20">
            <a:hlinkClick r:id="rId3" action="ppaction://hlinksldjump"/>
            <a:extLst>
              <a:ext uri="{FF2B5EF4-FFF2-40B4-BE49-F238E27FC236}">
                <a16:creationId xmlns:a16="http://schemas.microsoft.com/office/drawing/2014/main" id="{215ED7F9-FAD7-E5ED-93E7-A2AD1D8656E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7607451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6" presetClass="entr" presetSubtype="32" fill="hold" nodeType="afterEffect">
                                  <p:stCondLst>
                                    <p:cond delay="0"/>
                                  </p:stCondLst>
                                  <p:childTnLst>
                                    <p:set>
                                      <p:cBhvr>
                                        <p:cTn id="33" dur="1" fill="hold">
                                          <p:stCondLst>
                                            <p:cond delay="0"/>
                                          </p:stCondLst>
                                        </p:cTn>
                                        <p:tgtEl>
                                          <p:spTgt spid="250"/>
                                        </p:tgtEl>
                                        <p:attrNameLst>
                                          <p:attrName>style.visibility</p:attrName>
                                        </p:attrNameLst>
                                      </p:cBhvr>
                                      <p:to>
                                        <p:strVal val="visible"/>
                                      </p:to>
                                    </p:set>
                                    <p:animEffect transition="in" filter="circle(out)">
                                      <p:cBhvr>
                                        <p:cTn id="34" dur="2000"/>
                                        <p:tgtEl>
                                          <p:spTgt spid="250"/>
                                        </p:tgtEl>
                                      </p:cBhvr>
                                    </p:animEffect>
                                  </p:childTnLst>
                                </p:cTn>
                              </p:par>
                            </p:childTnLst>
                          </p:cTn>
                        </p:par>
                        <p:par>
                          <p:cTn id="35" fill="hold">
                            <p:stCondLst>
                              <p:cond delay="4050"/>
                            </p:stCondLst>
                            <p:childTnLst>
                              <p:par>
                                <p:cTn id="36" presetID="16" presetClass="entr" presetSubtype="37" fill="hold" nodeType="afterEffect">
                                  <p:stCondLst>
                                    <p:cond delay="0"/>
                                  </p:stCondLst>
                                  <p:childTnLst>
                                    <p:set>
                                      <p:cBhvr>
                                        <p:cTn id="37" dur="1" fill="hold">
                                          <p:stCondLst>
                                            <p:cond delay="0"/>
                                          </p:stCondLst>
                                        </p:cTn>
                                        <p:tgtEl>
                                          <p:spTgt spid="228"/>
                                        </p:tgtEl>
                                        <p:attrNameLst>
                                          <p:attrName>style.visibility</p:attrName>
                                        </p:attrNameLst>
                                      </p:cBhvr>
                                      <p:to>
                                        <p:strVal val="visible"/>
                                      </p:to>
                                    </p:set>
                                    <p:animEffect transition="in" filter="barn(outVertical)">
                                      <p:cBhvr>
                                        <p:cTn id="38" dur="2000"/>
                                        <p:tgtEl>
                                          <p:spTgt spid="228"/>
                                        </p:tgtEl>
                                      </p:cBhvr>
                                    </p:animEffect>
                                  </p:childTnLst>
                                </p:cTn>
                              </p:par>
                              <p:par>
                                <p:cTn id="39" presetID="16" presetClass="entr" presetSubtype="37" fill="hold"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barn(outVertical)">
                                      <p:cBhvr>
                                        <p:cTn id="41" dur="2000"/>
                                        <p:tgtEl>
                                          <p:spTgt spid="21"/>
                                        </p:tgtEl>
                                      </p:cBhvr>
                                    </p:animEffect>
                                  </p:childTnLst>
                                </p:cTn>
                              </p:par>
                              <p:par>
                                <p:cTn id="42" presetID="16" presetClass="entr" presetSubtype="21" fill="hold" grpId="0" nodeType="withEffect">
                                  <p:stCondLst>
                                    <p:cond delay="0"/>
                                  </p:stCondLst>
                                  <p:childTnLst>
                                    <p:set>
                                      <p:cBhvr>
                                        <p:cTn id="43" dur="1" fill="hold">
                                          <p:stCondLst>
                                            <p:cond delay="0"/>
                                          </p:stCondLst>
                                        </p:cTn>
                                        <p:tgtEl>
                                          <p:spTgt spid="255"/>
                                        </p:tgtEl>
                                        <p:attrNameLst>
                                          <p:attrName>style.visibility</p:attrName>
                                        </p:attrNameLst>
                                      </p:cBhvr>
                                      <p:to>
                                        <p:strVal val="visible"/>
                                      </p:to>
                                    </p:set>
                                    <p:animEffect transition="in" filter="barn(inVertical)">
                                      <p:cBhvr>
                                        <p:cTn id="44" dur="500"/>
                                        <p:tgtEl>
                                          <p:spTgt spid="255"/>
                                        </p:tgtEl>
                                      </p:cBhvr>
                                    </p:animEffect>
                                  </p:childTnLst>
                                </p:cTn>
                              </p:par>
                              <p:par>
                                <p:cTn id="45" presetID="16" presetClass="entr" presetSubtype="21" fill="hold" grpId="0" nodeType="withEffect">
                                  <p:stCondLst>
                                    <p:cond delay="0"/>
                                  </p:stCondLst>
                                  <p:childTnLst>
                                    <p:set>
                                      <p:cBhvr>
                                        <p:cTn id="46" dur="1" fill="hold">
                                          <p:stCondLst>
                                            <p:cond delay="0"/>
                                          </p:stCondLst>
                                        </p:cTn>
                                        <p:tgtEl>
                                          <p:spTgt spid="254"/>
                                        </p:tgtEl>
                                        <p:attrNameLst>
                                          <p:attrName>style.visibility</p:attrName>
                                        </p:attrNameLst>
                                      </p:cBhvr>
                                      <p:to>
                                        <p:strVal val="visible"/>
                                      </p:to>
                                    </p:set>
                                    <p:animEffect transition="in" filter="barn(inVertical)">
                                      <p:cBhvr>
                                        <p:cTn id="47" dur="500"/>
                                        <p:tgtEl>
                                          <p:spTgt spid="254"/>
                                        </p:tgtEl>
                                      </p:cBhvr>
                                    </p:animEffect>
                                  </p:childTnLst>
                                </p:cTn>
                              </p:par>
                              <p:par>
                                <p:cTn id="48" presetID="16" presetClass="entr" presetSubtype="21" fill="hold" grpId="0" nodeType="withEffect">
                                  <p:stCondLst>
                                    <p:cond delay="0"/>
                                  </p:stCondLst>
                                  <p:childTnLst>
                                    <p:set>
                                      <p:cBhvr>
                                        <p:cTn id="49" dur="1" fill="hold">
                                          <p:stCondLst>
                                            <p:cond delay="0"/>
                                          </p:stCondLst>
                                        </p:cTn>
                                        <p:tgtEl>
                                          <p:spTgt spid="64"/>
                                        </p:tgtEl>
                                        <p:attrNameLst>
                                          <p:attrName>style.visibility</p:attrName>
                                        </p:attrNameLst>
                                      </p:cBhvr>
                                      <p:to>
                                        <p:strVal val="visible"/>
                                      </p:to>
                                    </p:set>
                                    <p:animEffect transition="in" filter="barn(inVertical)">
                                      <p:cBhvr>
                                        <p:cTn id="50" dur="500"/>
                                        <p:tgtEl>
                                          <p:spTgt spid="64"/>
                                        </p:tgtEl>
                                      </p:cBhvr>
                                    </p:animEffect>
                                  </p:childTnLst>
                                </p:cTn>
                              </p:par>
                              <p:par>
                                <p:cTn id="51" presetID="16" presetClass="entr" presetSubtype="21" fill="hold" grpId="0" nodeType="withEffect">
                                  <p:stCondLst>
                                    <p:cond delay="0"/>
                                  </p:stCondLst>
                                  <p:childTnLst>
                                    <p:set>
                                      <p:cBhvr>
                                        <p:cTn id="52" dur="1" fill="hold">
                                          <p:stCondLst>
                                            <p:cond delay="0"/>
                                          </p:stCondLst>
                                        </p:cTn>
                                        <p:tgtEl>
                                          <p:spTgt spid="66"/>
                                        </p:tgtEl>
                                        <p:attrNameLst>
                                          <p:attrName>style.visibility</p:attrName>
                                        </p:attrNameLst>
                                      </p:cBhvr>
                                      <p:to>
                                        <p:strVal val="visible"/>
                                      </p:to>
                                    </p:set>
                                    <p:animEffect transition="in" filter="barn(inVertical)">
                                      <p:cBhvr>
                                        <p:cTn id="53"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54" grpId="0" animBg="1"/>
      <p:bldP spid="255" grpId="0" animBg="1"/>
      <p:bldP spid="64" grpId="0" animBg="1"/>
      <p:bldP spid="6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697415" y="230661"/>
            <a:ext cx="3130921"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پیوندها معرف منطق سازه فضا کاراند</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58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C09286B2-1544-4287-BA54-308A1F852028}"/>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07C44570-8438-445F-956A-0693BC809EBC}"/>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6CC32960-09BD-4196-BC9E-2F34832A986A}"/>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A36BEE7C-F175-4F20-BEF6-8ED48B9A8D25}"/>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BCF92E3B-DEA3-415A-830A-EC33B2663573}"/>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1C69DCD4-1601-4361-8F53-7308C4F124F4}"/>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5A13F38-F82B-4623-AE80-04792F3ADB6A}"/>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B9C535E5-15CA-488D-B7FD-8C78D3D33CC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77C888F9-9F44-4F51-B633-05290FE6CF1B}"/>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lvl="0" algn="ctr"/>
            <a:r>
              <a:rPr lang="fa-IR" sz="20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lang="fa-IR" sz="20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257D95E8-81C3-41AC-B828-90348E5C715D}"/>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64C6EE15-593F-4EBB-ABFB-0EB64880C1D8}"/>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A0E3878B-861E-4FAB-9A6A-E1107EE8D85E}"/>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C407CC2C-748A-4858-BF4D-CC339C31065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7DA598C5-7F64-48D9-BABD-7228689C69A6}"/>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6D1FDDF2-778E-4339-9A64-1BDB2B36801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8163DB3D-2C9D-4E82-AC44-CE17BA9C243C}"/>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A1E19EAA-7098-4EB1-BF9C-258F577310AF}"/>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2E4D8FE2-802B-4B83-9365-D11975CADCC0}"/>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8683CE8-013C-4EF9-AFAD-56CA75C3D9D8}"/>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7B3155BD-7F90-4662-AF97-3CFDF1FF291A}"/>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887FA3D6-CB91-40F8-95CB-062CDDB6167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6577F520-EDD1-406F-A989-0ADE6C9F6F5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F2739C7D-C313-4CD1-8632-35BA45BF05A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89F90CE9-7C51-4733-99E9-6CA37CF3F5F9}"/>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D8ED00FA-6637-4882-918A-4CAB8623F7C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251911B2-7A00-4C75-BF56-30E6F15E69D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84D2229E-D6DF-40C6-9664-999631C19C4D}"/>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C7B8E939-1BAC-4242-9E2F-49DE9FEA5B33}"/>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FEA37563-477D-447D-BEF5-79EE2D17F5B3}"/>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CDA9AEE1-E8BC-441F-81D2-206EC9E8F14E}"/>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7B499012-04D3-4701-93A9-82610593E5FD}"/>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161A1A6A-69AE-47EC-A715-671F4C90942C}"/>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057E34FF-6446-4915-878C-D4B5B9E4BC95}"/>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ACF913F0-EEB2-4035-9C60-61A3843002B3}"/>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00DFD984-D626-4151-9825-65557B18F18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8E85A427-B4AA-40B4-A4F3-8711E901F509}"/>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787DF653-BC96-4C48-B1D9-FDAC3B36BC9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0593BB1E-FA53-43A0-8987-8C24661EDD20}"/>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8DA5B4E4-0DA5-4651-B335-666BFADFC9AB}"/>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86A6E844-37DD-493E-96CA-D24CFC9AB89C}"/>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12863AB5-A5DB-4B6B-A7B0-43E5103ADA10}"/>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BA05B765-D806-40EF-A995-92388895F804}"/>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189CB1A8-6088-4739-A6A5-9D9938326CF6}"/>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E1D573ED-ED7A-4E41-B6BB-F82022549001}"/>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2B0B971B-AFD1-4F3F-ACB1-21EF4F01219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1B1AB824-F650-49F2-9017-E6229797A97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D58114D7-318E-4C99-9132-77D9A41B83D6}"/>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D48DEA49-EEB7-42FD-BDFB-F00834FA4D5E}"/>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3FCF79DE-7B4C-4A0E-952B-D5518F91127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DE4BEC0B-9AF3-4D01-B4BB-02DFEB4A5D1F}"/>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AF02B923-257E-44A3-9B3B-CBF71EED1B0A}"/>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053ED58D-6E1A-4F67-899D-901A523DD30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0A072DA4-858E-44F0-B33F-E972E3D88E7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1056544D-5239-4615-947B-BF6F58A89946}"/>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B38E421F-0D3E-4EC5-95E1-C2EE446AF090}"/>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6D720C97-EB6A-448D-B917-FA74EEA268C0}"/>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82A1048F-C8FB-49E6-A2E0-6CE5C3C11E6F}"/>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C2E822F3-BA74-4749-A59E-0316F345E78C}"/>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E5E15894-BB55-4EA4-AA4A-FA1C515F6D5E}"/>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321728C4-F5AC-4539-B8D1-B02A9C8401EC}"/>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2E2D3450-6F4F-425A-BD41-607E6BBE632E}"/>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F7415CDC-6184-4F9C-B793-37ACBBF941F8}"/>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3EAAEC6-E00B-42CA-A890-80243F8C7AE1}"/>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7087D82F-61B0-41DC-A5F1-550D71995563}"/>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0912A96D-439D-4D23-9632-3F51483119D9}"/>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EFE0A4AD-7722-4CCF-84B1-AF21868DE491}"/>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F75C9703-F51E-4D7B-B334-77F49BF66A7E}"/>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C60ED081-D4C6-41D0-AA4B-E0DF1275C1D0}"/>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AC4D95A7-DE01-4B9C-8F6A-5DECBCC43D17}"/>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F0A7ABDA-6674-454A-B8C2-67900A87D799}"/>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444CF747-FC1C-47D6-89C0-5A61236AB711}"/>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5C9A71EC-B088-4BE7-93FF-713D301C854A}"/>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D04A888F-B003-4692-8F9D-83C083B4C612}"/>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01947E16-B03B-451E-8097-65CE231C52A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F1BC9642-5B9E-46E2-93E3-BF4EE1663C12}"/>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058D9959-C398-42BD-98AB-DB527360F8E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B5CB0236-EBB4-E5E8-A48D-05F8871500AE}"/>
              </a:ext>
            </a:extLst>
          </p:cNvPr>
          <p:cNvGrpSpPr/>
          <p:nvPr/>
        </p:nvGrpSpPr>
        <p:grpSpPr>
          <a:xfrm>
            <a:off x="587577" y="1317508"/>
            <a:ext cx="1592943" cy="894178"/>
            <a:chOff x="587577" y="1317508"/>
            <a:chExt cx="1592943" cy="894178"/>
          </a:xfrm>
        </p:grpSpPr>
        <p:sp>
          <p:nvSpPr>
            <p:cNvPr id="9" name="Speech Bubble: Rectangle 8">
              <a:extLst>
                <a:ext uri="{FF2B5EF4-FFF2-40B4-BE49-F238E27FC236}">
                  <a16:creationId xmlns:a16="http://schemas.microsoft.com/office/drawing/2014/main" id="{6F94DB31-7FFE-9A52-7FB2-D4DF21FAB38B}"/>
                </a:ext>
              </a:extLst>
            </p:cNvPr>
            <p:cNvSpPr/>
            <p:nvPr/>
          </p:nvSpPr>
          <p:spPr>
            <a:xfrm>
              <a:off x="587577" y="1317508"/>
              <a:ext cx="1592943" cy="894178"/>
            </a:xfrm>
            <a:prstGeom prst="wedgeRectCallout">
              <a:avLst>
                <a:gd name="adj1" fmla="val -2390"/>
                <a:gd name="adj2" fmla="val 69223"/>
              </a:avLst>
            </a:prstGeom>
            <a:gradFill>
              <a:gsLst>
                <a:gs pos="20000">
                  <a:schemeClr val="accent1"/>
                </a:gs>
                <a:gs pos="100000">
                  <a:schemeClr val="accent1">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 name="TextBox 9">
              <a:extLst>
                <a:ext uri="{FF2B5EF4-FFF2-40B4-BE49-F238E27FC236}">
                  <a16:creationId xmlns:a16="http://schemas.microsoft.com/office/drawing/2014/main" id="{A5554CEF-A7EB-43BA-85BD-BEF8E2F1F514}"/>
                </a:ext>
              </a:extLst>
            </p:cNvPr>
            <p:cNvSpPr txBox="1"/>
            <p:nvPr/>
          </p:nvSpPr>
          <p:spPr>
            <a:xfrm>
              <a:off x="740934" y="1509425"/>
              <a:ext cx="1213752" cy="550407"/>
            </a:xfrm>
            <a:prstGeom prst="rect">
              <a:avLst/>
            </a:prstGeom>
            <a:noFill/>
          </p:spPr>
          <p:txBody>
            <a:bodyPr wrap="square" rtlCol="0">
              <a:spAutoFit/>
            </a:bodyPr>
            <a:lstStyle/>
            <a:p>
              <a:pPr algn="ctr" rtl="1">
                <a:lnSpc>
                  <a:spcPct val="120000"/>
                </a:lnSpc>
              </a:pPr>
              <a:r>
                <a:rPr lang="fa-IR" sz="1300" dirty="0">
                  <a:solidFill>
                    <a:schemeClr val="tx1">
                      <a:lumMod val="95000"/>
                      <a:lumOff val="5000"/>
                    </a:schemeClr>
                  </a:solidFill>
                  <a:cs typeface="IRAN Sans" panose="020B0400000000000000" pitchFamily="34" charset="-78"/>
                </a:rPr>
                <a:t>پیونده ها باید سخت و مقاوم باشند</a:t>
              </a:r>
              <a:endParaRPr lang="en-US" sz="1300" dirty="0">
                <a:solidFill>
                  <a:schemeClr val="bg1">
                    <a:lumMod val="65000"/>
                  </a:schemeClr>
                </a:solidFill>
                <a:cs typeface="IRAN Sans" panose="020B0400000000000000" pitchFamily="34" charset="-78"/>
              </a:endParaRPr>
            </a:p>
          </p:txBody>
        </p:sp>
      </p:grpSp>
      <p:sp>
        <p:nvSpPr>
          <p:cNvPr id="248" name="Rectangle: Rounded Corners 247">
            <a:extLst>
              <a:ext uri="{FF2B5EF4-FFF2-40B4-BE49-F238E27FC236}">
                <a16:creationId xmlns:a16="http://schemas.microsoft.com/office/drawing/2014/main" id="{66111948-E88D-893B-CE14-48C21CC3663B}"/>
              </a:ext>
            </a:extLst>
          </p:cNvPr>
          <p:cNvSpPr/>
          <p:nvPr/>
        </p:nvSpPr>
        <p:spPr>
          <a:xfrm>
            <a:off x="718826" y="2447979"/>
            <a:ext cx="7443642" cy="308494"/>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83" name="Rectangle 82">
            <a:extLst>
              <a:ext uri="{FF2B5EF4-FFF2-40B4-BE49-F238E27FC236}">
                <a16:creationId xmlns:a16="http://schemas.microsoft.com/office/drawing/2014/main" id="{CAA33E42-82EE-0B57-5A75-22843892E276}"/>
              </a:ext>
            </a:extLst>
          </p:cNvPr>
          <p:cNvSpPr/>
          <p:nvPr/>
        </p:nvSpPr>
        <p:spPr>
          <a:xfrm>
            <a:off x="1130317" y="2322840"/>
            <a:ext cx="338159" cy="494751"/>
          </a:xfrm>
          <a:prstGeom prst="rect">
            <a:avLst/>
          </a:prstGeom>
        </p:spPr>
        <p:txBody>
          <a:bodyPr wrap="square">
            <a:spAutoFit/>
          </a:bodyPr>
          <a:lstStyle/>
          <a:p>
            <a:pPr>
              <a:lnSpc>
                <a:spcPct val="120000"/>
              </a:lnSpc>
            </a:pPr>
            <a:r>
              <a:rPr lang="fa-IR" sz="2400" b="1" dirty="0">
                <a:solidFill>
                  <a:schemeClr val="accent1"/>
                </a:solidFill>
                <a:cs typeface="IRAN Sans" panose="020B0400000000000000" pitchFamily="34" charset="-78"/>
              </a:rPr>
              <a:t>1</a:t>
            </a:r>
            <a:endParaRPr lang="en-US" sz="2400" b="1" dirty="0">
              <a:solidFill>
                <a:schemeClr val="accent1"/>
              </a:solidFill>
              <a:cs typeface="IRAN Sans" panose="020B0400000000000000" pitchFamily="34" charset="-78"/>
            </a:endParaRPr>
          </a:p>
        </p:txBody>
      </p:sp>
      <p:grpSp>
        <p:nvGrpSpPr>
          <p:cNvPr id="87" name="Group 86">
            <a:extLst>
              <a:ext uri="{FF2B5EF4-FFF2-40B4-BE49-F238E27FC236}">
                <a16:creationId xmlns:a16="http://schemas.microsoft.com/office/drawing/2014/main" id="{C8226243-ED2E-8EF7-48AE-9035D5DC8724}"/>
              </a:ext>
            </a:extLst>
          </p:cNvPr>
          <p:cNvGrpSpPr/>
          <p:nvPr/>
        </p:nvGrpSpPr>
        <p:grpSpPr>
          <a:xfrm rot="10800000" flipV="1">
            <a:off x="941655" y="3060530"/>
            <a:ext cx="1466503" cy="968223"/>
            <a:chOff x="1871813" y="1121053"/>
            <a:chExt cx="1466503" cy="968223"/>
          </a:xfrm>
        </p:grpSpPr>
        <p:sp>
          <p:nvSpPr>
            <p:cNvPr id="88" name="Speech Bubble: Rectangle 87">
              <a:extLst>
                <a:ext uri="{FF2B5EF4-FFF2-40B4-BE49-F238E27FC236}">
                  <a16:creationId xmlns:a16="http://schemas.microsoft.com/office/drawing/2014/main" id="{098668DC-54D9-EF10-0434-C97C2C1E8985}"/>
                </a:ext>
              </a:extLst>
            </p:cNvPr>
            <p:cNvSpPr/>
            <p:nvPr/>
          </p:nvSpPr>
          <p:spPr>
            <a:xfrm>
              <a:off x="1871813" y="1121053"/>
              <a:ext cx="1466503" cy="954838"/>
            </a:xfrm>
            <a:prstGeom prst="wedgeRectCallout">
              <a:avLst>
                <a:gd name="adj1" fmla="val -9094"/>
                <a:gd name="adj2" fmla="val -75536"/>
              </a:avLst>
            </a:prstGeom>
            <a:gradFill>
              <a:gsLst>
                <a:gs pos="20000">
                  <a:schemeClr val="accent2"/>
                </a:gs>
                <a:gs pos="100000">
                  <a:schemeClr val="accent2">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89" name="TextBox 88">
              <a:extLst>
                <a:ext uri="{FF2B5EF4-FFF2-40B4-BE49-F238E27FC236}">
                  <a16:creationId xmlns:a16="http://schemas.microsoft.com/office/drawing/2014/main" id="{09C48A9D-4E4B-B468-7EC4-161A120D5077}"/>
                </a:ext>
              </a:extLst>
            </p:cNvPr>
            <p:cNvSpPr txBox="1"/>
            <p:nvPr/>
          </p:nvSpPr>
          <p:spPr>
            <a:xfrm>
              <a:off x="1997767" y="1196724"/>
              <a:ext cx="1213752" cy="892552"/>
            </a:xfrm>
            <a:prstGeom prst="rect">
              <a:avLst/>
            </a:prstGeom>
            <a:noFill/>
          </p:spPr>
          <p:txBody>
            <a:bodyPr wrap="square" rtlCol="0">
              <a:spAutoFit/>
            </a:bodyPr>
            <a:lstStyle/>
            <a:p>
              <a:pPr algn="ctr"/>
              <a:r>
                <a:rPr lang="fa-IR" sz="1300" dirty="0">
                  <a:solidFill>
                    <a:schemeClr val="tx1">
                      <a:lumMod val="95000"/>
                      <a:lumOff val="5000"/>
                    </a:schemeClr>
                  </a:solidFill>
                  <a:cs typeface="IRAN Sans" panose="020B0400000000000000" pitchFamily="34" charset="-78"/>
                </a:rPr>
                <a:t>اصلاح، تعمیر و نگهداری آنها به سهولت امکانپذیر باشد</a:t>
              </a:r>
              <a:endParaRPr lang="en-US" sz="1300" dirty="0">
                <a:solidFill>
                  <a:schemeClr val="bg1">
                    <a:lumMod val="65000"/>
                  </a:schemeClr>
                </a:solidFill>
                <a:cs typeface="IRAN Sans" panose="020B0400000000000000" pitchFamily="34" charset="-78"/>
              </a:endParaRPr>
            </a:p>
          </p:txBody>
        </p:sp>
      </p:grpSp>
      <p:sp>
        <p:nvSpPr>
          <p:cNvPr id="90" name="Rectangle 89">
            <a:extLst>
              <a:ext uri="{FF2B5EF4-FFF2-40B4-BE49-F238E27FC236}">
                <a16:creationId xmlns:a16="http://schemas.microsoft.com/office/drawing/2014/main" id="{1AD9448D-F6B9-B64C-9B8F-BF056B6D59E5}"/>
              </a:ext>
            </a:extLst>
          </p:cNvPr>
          <p:cNvSpPr/>
          <p:nvPr/>
        </p:nvSpPr>
        <p:spPr>
          <a:xfrm>
            <a:off x="1674906" y="2339873"/>
            <a:ext cx="345235" cy="494751"/>
          </a:xfrm>
          <a:prstGeom prst="rect">
            <a:avLst/>
          </a:prstGeom>
        </p:spPr>
        <p:txBody>
          <a:bodyPr wrap="square">
            <a:spAutoFit/>
          </a:bodyPr>
          <a:lstStyle/>
          <a:p>
            <a:pPr>
              <a:lnSpc>
                <a:spcPct val="120000"/>
              </a:lnSpc>
            </a:pPr>
            <a:r>
              <a:rPr lang="en-US" sz="2400" b="1" dirty="0">
                <a:solidFill>
                  <a:schemeClr val="accent2"/>
                </a:solidFill>
                <a:cs typeface="IRAN Sans" panose="020B0400000000000000" pitchFamily="34" charset="-78"/>
              </a:rPr>
              <a:t>2</a:t>
            </a:r>
          </a:p>
        </p:txBody>
      </p:sp>
      <p:grpSp>
        <p:nvGrpSpPr>
          <p:cNvPr id="91" name="Group 90">
            <a:extLst>
              <a:ext uri="{FF2B5EF4-FFF2-40B4-BE49-F238E27FC236}">
                <a16:creationId xmlns:a16="http://schemas.microsoft.com/office/drawing/2014/main" id="{3DB512C3-3C02-6A67-186B-C1DC712F42F7}"/>
              </a:ext>
            </a:extLst>
          </p:cNvPr>
          <p:cNvGrpSpPr/>
          <p:nvPr/>
        </p:nvGrpSpPr>
        <p:grpSpPr>
          <a:xfrm>
            <a:off x="2108043" y="1157171"/>
            <a:ext cx="1606286" cy="967476"/>
            <a:chOff x="3203279" y="983555"/>
            <a:chExt cx="1606286" cy="967476"/>
          </a:xfrm>
        </p:grpSpPr>
        <p:sp>
          <p:nvSpPr>
            <p:cNvPr id="92" name="Speech Bubble: Rectangle 91">
              <a:extLst>
                <a:ext uri="{FF2B5EF4-FFF2-40B4-BE49-F238E27FC236}">
                  <a16:creationId xmlns:a16="http://schemas.microsoft.com/office/drawing/2014/main" id="{5A2B2DA7-E6C5-6D63-E22B-4A65347616E4}"/>
                </a:ext>
              </a:extLst>
            </p:cNvPr>
            <p:cNvSpPr/>
            <p:nvPr/>
          </p:nvSpPr>
          <p:spPr>
            <a:xfrm>
              <a:off x="3203279" y="983555"/>
              <a:ext cx="1606286" cy="967476"/>
            </a:xfrm>
            <a:prstGeom prst="wedgeRectCallout">
              <a:avLst>
                <a:gd name="adj1" fmla="val -30119"/>
                <a:gd name="adj2" fmla="val 81520"/>
              </a:avLst>
            </a:prstGeom>
            <a:gradFill>
              <a:gsLst>
                <a:gs pos="20000">
                  <a:schemeClr val="accent3"/>
                </a:gs>
                <a:gs pos="100000">
                  <a:schemeClr val="accent3">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93" name="TextBox 92">
              <a:extLst>
                <a:ext uri="{FF2B5EF4-FFF2-40B4-BE49-F238E27FC236}">
                  <a16:creationId xmlns:a16="http://schemas.microsoft.com/office/drawing/2014/main" id="{C82F0D63-2293-4511-3D97-50C73A185AD9}"/>
                </a:ext>
              </a:extLst>
            </p:cNvPr>
            <p:cNvSpPr txBox="1"/>
            <p:nvPr/>
          </p:nvSpPr>
          <p:spPr>
            <a:xfrm>
              <a:off x="3353125" y="1186720"/>
              <a:ext cx="1213752" cy="692497"/>
            </a:xfrm>
            <a:prstGeom prst="rect">
              <a:avLst/>
            </a:prstGeom>
            <a:noFill/>
          </p:spPr>
          <p:txBody>
            <a:bodyPr wrap="square" rtlCol="0">
              <a:spAutoFit/>
            </a:bodyPr>
            <a:lstStyle/>
            <a:p>
              <a:pPr algn="ctr"/>
              <a:r>
                <a:rPr lang="fa-IR" sz="1300" dirty="0">
                  <a:solidFill>
                    <a:schemeClr val="tx1">
                      <a:lumMod val="95000"/>
                      <a:lumOff val="5000"/>
                    </a:schemeClr>
                  </a:solidFill>
                  <a:cs typeface="IRAN Sans" panose="020B0400000000000000" pitchFamily="34" charset="-78"/>
                </a:rPr>
                <a:t>باید ساده باشند (از نظر فرم و امکان برقراری اتصال)</a:t>
              </a:r>
              <a:endParaRPr lang="en-US" sz="1300" dirty="0">
                <a:solidFill>
                  <a:schemeClr val="bg1">
                    <a:lumMod val="65000"/>
                  </a:schemeClr>
                </a:solidFill>
                <a:cs typeface="IRAN Sans" panose="020B0400000000000000" pitchFamily="34" charset="-78"/>
              </a:endParaRPr>
            </a:p>
          </p:txBody>
        </p:sp>
      </p:grpSp>
      <p:sp>
        <p:nvSpPr>
          <p:cNvPr id="94" name="Rectangle 93">
            <a:extLst>
              <a:ext uri="{FF2B5EF4-FFF2-40B4-BE49-F238E27FC236}">
                <a16:creationId xmlns:a16="http://schemas.microsoft.com/office/drawing/2014/main" id="{8ED3052F-AE4C-5ED3-E495-49649F3E3F83}"/>
              </a:ext>
            </a:extLst>
          </p:cNvPr>
          <p:cNvSpPr/>
          <p:nvPr/>
        </p:nvSpPr>
        <p:spPr>
          <a:xfrm>
            <a:off x="2242903" y="2328480"/>
            <a:ext cx="338159" cy="494751"/>
          </a:xfrm>
          <a:prstGeom prst="rect">
            <a:avLst/>
          </a:prstGeom>
        </p:spPr>
        <p:txBody>
          <a:bodyPr wrap="square">
            <a:spAutoFit/>
          </a:bodyPr>
          <a:lstStyle/>
          <a:p>
            <a:pPr>
              <a:lnSpc>
                <a:spcPct val="120000"/>
              </a:lnSpc>
            </a:pPr>
            <a:r>
              <a:rPr lang="en-US" sz="2400" b="1" dirty="0">
                <a:solidFill>
                  <a:schemeClr val="accent3"/>
                </a:solidFill>
                <a:cs typeface="IRAN Sans" panose="020B0400000000000000" pitchFamily="34" charset="-78"/>
              </a:rPr>
              <a:t>3</a:t>
            </a:r>
          </a:p>
        </p:txBody>
      </p:sp>
      <p:grpSp>
        <p:nvGrpSpPr>
          <p:cNvPr id="96" name="Group 95">
            <a:extLst>
              <a:ext uri="{FF2B5EF4-FFF2-40B4-BE49-F238E27FC236}">
                <a16:creationId xmlns:a16="http://schemas.microsoft.com/office/drawing/2014/main" id="{8CA54059-3FAE-C002-873D-9C407B467A9F}"/>
              </a:ext>
            </a:extLst>
          </p:cNvPr>
          <p:cNvGrpSpPr/>
          <p:nvPr/>
        </p:nvGrpSpPr>
        <p:grpSpPr>
          <a:xfrm rot="10800000" flipV="1">
            <a:off x="2336933" y="2970495"/>
            <a:ext cx="1401796" cy="1013564"/>
            <a:chOff x="4653396" y="1225593"/>
            <a:chExt cx="1401796" cy="1013564"/>
          </a:xfrm>
        </p:grpSpPr>
        <p:sp>
          <p:nvSpPr>
            <p:cNvPr id="154" name="Speech Bubble: Rectangle 153">
              <a:extLst>
                <a:ext uri="{FF2B5EF4-FFF2-40B4-BE49-F238E27FC236}">
                  <a16:creationId xmlns:a16="http://schemas.microsoft.com/office/drawing/2014/main" id="{E77DFD25-09CD-C926-006B-CB9AA6DA23A3}"/>
                </a:ext>
              </a:extLst>
            </p:cNvPr>
            <p:cNvSpPr/>
            <p:nvPr/>
          </p:nvSpPr>
          <p:spPr>
            <a:xfrm>
              <a:off x="4653396" y="1225593"/>
              <a:ext cx="1401796" cy="1013564"/>
            </a:xfrm>
            <a:prstGeom prst="wedgeRectCallout">
              <a:avLst>
                <a:gd name="adj1" fmla="val 2191"/>
                <a:gd name="adj2" fmla="val -67445"/>
              </a:avLst>
            </a:prstGeom>
            <a:gradFill>
              <a:gsLst>
                <a:gs pos="20000">
                  <a:schemeClr val="accent4"/>
                </a:gs>
                <a:gs pos="100000">
                  <a:schemeClr val="accent4">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58" name="TextBox 157">
              <a:extLst>
                <a:ext uri="{FF2B5EF4-FFF2-40B4-BE49-F238E27FC236}">
                  <a16:creationId xmlns:a16="http://schemas.microsoft.com/office/drawing/2014/main" id="{560BBA79-9883-D4C8-B62E-5177EAA3EB20}"/>
                </a:ext>
              </a:extLst>
            </p:cNvPr>
            <p:cNvSpPr txBox="1"/>
            <p:nvPr/>
          </p:nvSpPr>
          <p:spPr>
            <a:xfrm>
              <a:off x="4774955" y="1284311"/>
              <a:ext cx="1213752" cy="892552"/>
            </a:xfrm>
            <a:prstGeom prst="rect">
              <a:avLst/>
            </a:prstGeom>
            <a:noFill/>
          </p:spPr>
          <p:txBody>
            <a:bodyPr wrap="square" rtlCol="0">
              <a:spAutoFit/>
            </a:bodyPr>
            <a:lstStyle/>
            <a:p>
              <a:pPr algn="ctr"/>
              <a:r>
                <a:rPr lang="fa-IR" sz="1300" dirty="0">
                  <a:solidFill>
                    <a:schemeClr val="tx1">
                      <a:lumMod val="95000"/>
                      <a:lumOff val="5000"/>
                    </a:schemeClr>
                  </a:solidFill>
                  <a:cs typeface="IRAN Sans" panose="020B0400000000000000" pitchFamily="34" charset="-78"/>
                </a:rPr>
                <a:t>قابلیت پذیرش تعداد قابل توجهی عضو را بر حسب نیاز دارا باشند.</a:t>
              </a:r>
              <a:endParaRPr lang="en-US" sz="1300" dirty="0">
                <a:solidFill>
                  <a:schemeClr val="bg1">
                    <a:lumMod val="65000"/>
                  </a:schemeClr>
                </a:solidFill>
                <a:cs typeface="IRAN Sans" panose="020B0400000000000000" pitchFamily="34" charset="-78"/>
              </a:endParaRPr>
            </a:p>
          </p:txBody>
        </p:sp>
      </p:grpSp>
      <p:sp>
        <p:nvSpPr>
          <p:cNvPr id="159" name="Rectangle 158">
            <a:extLst>
              <a:ext uri="{FF2B5EF4-FFF2-40B4-BE49-F238E27FC236}">
                <a16:creationId xmlns:a16="http://schemas.microsoft.com/office/drawing/2014/main" id="{04E3D44A-1700-C3B3-0A08-4FB5503972A0}"/>
              </a:ext>
            </a:extLst>
          </p:cNvPr>
          <p:cNvSpPr/>
          <p:nvPr/>
        </p:nvSpPr>
        <p:spPr>
          <a:xfrm>
            <a:off x="2942331" y="2322839"/>
            <a:ext cx="331921" cy="494751"/>
          </a:xfrm>
          <a:prstGeom prst="rect">
            <a:avLst/>
          </a:prstGeom>
        </p:spPr>
        <p:txBody>
          <a:bodyPr wrap="square">
            <a:spAutoFit/>
          </a:bodyPr>
          <a:lstStyle/>
          <a:p>
            <a:pPr>
              <a:lnSpc>
                <a:spcPct val="120000"/>
              </a:lnSpc>
            </a:pPr>
            <a:r>
              <a:rPr lang="en-US" sz="2400" b="1" dirty="0">
                <a:solidFill>
                  <a:schemeClr val="accent4"/>
                </a:solidFill>
                <a:cs typeface="IRAN Sans" panose="020B0400000000000000" pitchFamily="34" charset="-78"/>
              </a:rPr>
              <a:t>4</a:t>
            </a:r>
          </a:p>
        </p:txBody>
      </p:sp>
      <p:grpSp>
        <p:nvGrpSpPr>
          <p:cNvPr id="193" name="Group 192">
            <a:extLst>
              <a:ext uri="{FF2B5EF4-FFF2-40B4-BE49-F238E27FC236}">
                <a16:creationId xmlns:a16="http://schemas.microsoft.com/office/drawing/2014/main" id="{46E58F40-FECE-CF35-2790-6AFCEE965204}"/>
              </a:ext>
            </a:extLst>
          </p:cNvPr>
          <p:cNvGrpSpPr/>
          <p:nvPr/>
        </p:nvGrpSpPr>
        <p:grpSpPr>
          <a:xfrm>
            <a:off x="3670666" y="1252955"/>
            <a:ext cx="1474218" cy="980300"/>
            <a:chOff x="5981941" y="1053146"/>
            <a:chExt cx="1474218" cy="980300"/>
          </a:xfrm>
        </p:grpSpPr>
        <p:sp>
          <p:nvSpPr>
            <p:cNvPr id="194" name="Speech Bubble: Rectangle 193">
              <a:extLst>
                <a:ext uri="{FF2B5EF4-FFF2-40B4-BE49-F238E27FC236}">
                  <a16:creationId xmlns:a16="http://schemas.microsoft.com/office/drawing/2014/main" id="{B680058F-D1CE-4306-D3FA-D4A21251FC8F}"/>
                </a:ext>
              </a:extLst>
            </p:cNvPr>
            <p:cNvSpPr/>
            <p:nvPr/>
          </p:nvSpPr>
          <p:spPr>
            <a:xfrm>
              <a:off x="5981941" y="1053146"/>
              <a:ext cx="1474218" cy="980300"/>
            </a:xfrm>
            <a:prstGeom prst="wedgeRectCallout">
              <a:avLst>
                <a:gd name="adj1" fmla="val -30217"/>
                <a:gd name="adj2" fmla="val 72833"/>
              </a:avLst>
            </a:prstGeom>
            <a:gradFill>
              <a:gsLst>
                <a:gs pos="20000">
                  <a:schemeClr val="accent5"/>
                </a:gs>
                <a:gs pos="100000">
                  <a:schemeClr val="accent5">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56" name="TextBox 255">
              <a:extLst>
                <a:ext uri="{FF2B5EF4-FFF2-40B4-BE49-F238E27FC236}">
                  <a16:creationId xmlns:a16="http://schemas.microsoft.com/office/drawing/2014/main" id="{07944F69-AB4D-415D-5620-50C02737EEED}"/>
                </a:ext>
              </a:extLst>
            </p:cNvPr>
            <p:cNvSpPr txBox="1"/>
            <p:nvPr/>
          </p:nvSpPr>
          <p:spPr>
            <a:xfrm>
              <a:off x="6131787" y="1220130"/>
              <a:ext cx="1213752" cy="692497"/>
            </a:xfrm>
            <a:prstGeom prst="rect">
              <a:avLst/>
            </a:prstGeom>
            <a:noFill/>
          </p:spPr>
          <p:txBody>
            <a:bodyPr wrap="square" rtlCol="0">
              <a:spAutoFit/>
            </a:bodyPr>
            <a:lstStyle/>
            <a:p>
              <a:pPr algn="ctr"/>
              <a:r>
                <a:rPr lang="fa-IR" sz="1300" dirty="0">
                  <a:solidFill>
                    <a:schemeClr val="tx1">
                      <a:lumMod val="95000"/>
                      <a:lumOff val="5000"/>
                    </a:schemeClr>
                  </a:solidFill>
                  <a:cs typeface="IRAN Sans" panose="020B0400000000000000" pitchFamily="34" charset="-78"/>
                </a:rPr>
                <a:t>به سهولت ساخته شوند و قابلیت تولید صنعتی داشته باشند</a:t>
              </a:r>
              <a:endParaRPr lang="en-US" sz="1300" dirty="0">
                <a:solidFill>
                  <a:schemeClr val="bg1">
                    <a:lumMod val="65000"/>
                  </a:schemeClr>
                </a:solidFill>
                <a:cs typeface="IRAN Sans" panose="020B0400000000000000" pitchFamily="34" charset="-78"/>
              </a:endParaRPr>
            </a:p>
          </p:txBody>
        </p:sp>
      </p:grpSp>
      <p:sp>
        <p:nvSpPr>
          <p:cNvPr id="257" name="Rectangle 256">
            <a:extLst>
              <a:ext uri="{FF2B5EF4-FFF2-40B4-BE49-F238E27FC236}">
                <a16:creationId xmlns:a16="http://schemas.microsoft.com/office/drawing/2014/main" id="{1A8390EF-C069-4D20-4845-CDFE289AC3B2}"/>
              </a:ext>
            </a:extLst>
          </p:cNvPr>
          <p:cNvSpPr/>
          <p:nvPr/>
        </p:nvSpPr>
        <p:spPr>
          <a:xfrm>
            <a:off x="3759459" y="2354850"/>
            <a:ext cx="331920" cy="494751"/>
          </a:xfrm>
          <a:prstGeom prst="rect">
            <a:avLst/>
          </a:prstGeom>
        </p:spPr>
        <p:txBody>
          <a:bodyPr wrap="square">
            <a:spAutoFit/>
          </a:bodyPr>
          <a:lstStyle/>
          <a:p>
            <a:pPr>
              <a:lnSpc>
                <a:spcPct val="120000"/>
              </a:lnSpc>
            </a:pPr>
            <a:r>
              <a:rPr lang="en-US" sz="2400" b="1" dirty="0">
                <a:solidFill>
                  <a:schemeClr val="accent5"/>
                </a:solidFill>
                <a:cs typeface="IRAN Sans" panose="020B0400000000000000" pitchFamily="34" charset="-78"/>
              </a:rPr>
              <a:t>5</a:t>
            </a:r>
          </a:p>
        </p:txBody>
      </p:sp>
      <p:grpSp>
        <p:nvGrpSpPr>
          <p:cNvPr id="258" name="Group 257">
            <a:extLst>
              <a:ext uri="{FF2B5EF4-FFF2-40B4-BE49-F238E27FC236}">
                <a16:creationId xmlns:a16="http://schemas.microsoft.com/office/drawing/2014/main" id="{8827FFC6-9C26-9B13-8F73-04CF93CE0471}"/>
              </a:ext>
            </a:extLst>
          </p:cNvPr>
          <p:cNvGrpSpPr/>
          <p:nvPr/>
        </p:nvGrpSpPr>
        <p:grpSpPr>
          <a:xfrm rot="10800000" flipV="1">
            <a:off x="3617170" y="2969324"/>
            <a:ext cx="1363740" cy="872863"/>
            <a:chOff x="7227569" y="1317509"/>
            <a:chExt cx="1363740" cy="872863"/>
          </a:xfrm>
        </p:grpSpPr>
        <p:sp>
          <p:nvSpPr>
            <p:cNvPr id="259" name="Speech Bubble: Rectangle 258">
              <a:extLst>
                <a:ext uri="{FF2B5EF4-FFF2-40B4-BE49-F238E27FC236}">
                  <a16:creationId xmlns:a16="http://schemas.microsoft.com/office/drawing/2014/main" id="{0FB07440-BD0A-5060-4FF6-B423F518FC2C}"/>
                </a:ext>
              </a:extLst>
            </p:cNvPr>
            <p:cNvSpPr/>
            <p:nvPr/>
          </p:nvSpPr>
          <p:spPr>
            <a:xfrm>
              <a:off x="7227569" y="1317509"/>
              <a:ext cx="1363740" cy="872863"/>
            </a:xfrm>
            <a:prstGeom prst="wedgeRectCallout">
              <a:avLst>
                <a:gd name="adj1" fmla="val -34405"/>
                <a:gd name="adj2" fmla="val -73541"/>
              </a:avLst>
            </a:prstGeom>
            <a:gradFill>
              <a:gsLst>
                <a:gs pos="20000">
                  <a:schemeClr val="accent6"/>
                </a:gs>
                <a:gs pos="100000">
                  <a:schemeClr val="accent6">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60" name="TextBox 259">
              <a:extLst>
                <a:ext uri="{FF2B5EF4-FFF2-40B4-BE49-F238E27FC236}">
                  <a16:creationId xmlns:a16="http://schemas.microsoft.com/office/drawing/2014/main" id="{35487980-60F4-16F3-118F-B2529C843ED3}"/>
                </a:ext>
              </a:extLst>
            </p:cNvPr>
            <p:cNvSpPr txBox="1"/>
            <p:nvPr/>
          </p:nvSpPr>
          <p:spPr>
            <a:xfrm>
              <a:off x="7262741" y="1424929"/>
              <a:ext cx="1268427" cy="692497"/>
            </a:xfrm>
            <a:prstGeom prst="rect">
              <a:avLst/>
            </a:prstGeom>
            <a:noFill/>
          </p:spPr>
          <p:txBody>
            <a:bodyPr wrap="square" rtlCol="0">
              <a:spAutoFit/>
            </a:bodyPr>
            <a:lstStyle/>
            <a:p>
              <a:pPr algn="ctr"/>
              <a:r>
                <a:rPr lang="fa-IR" sz="1300" dirty="0">
                  <a:solidFill>
                    <a:schemeClr val="tx1">
                      <a:lumMod val="95000"/>
                      <a:lumOff val="5000"/>
                    </a:schemeClr>
                  </a:solidFill>
                  <a:cs typeface="IRAN Sans" panose="020B0400000000000000" pitchFamily="34" charset="-78"/>
                </a:rPr>
                <a:t>ترجیحاً هر عضو مستقلاً به پیونده متصل گردد</a:t>
              </a:r>
              <a:endParaRPr lang="en-US" sz="1300" dirty="0">
                <a:solidFill>
                  <a:schemeClr val="bg1">
                    <a:lumMod val="65000"/>
                  </a:schemeClr>
                </a:solidFill>
                <a:cs typeface="IRAN Sans" panose="020B0400000000000000" pitchFamily="34" charset="-78"/>
              </a:endParaRPr>
            </a:p>
          </p:txBody>
        </p:sp>
      </p:grpSp>
      <p:sp>
        <p:nvSpPr>
          <p:cNvPr id="261" name="Rectangle 260">
            <a:extLst>
              <a:ext uri="{FF2B5EF4-FFF2-40B4-BE49-F238E27FC236}">
                <a16:creationId xmlns:a16="http://schemas.microsoft.com/office/drawing/2014/main" id="{DA7C8B24-5837-8792-6EB4-7E4FDF5D68C3}"/>
              </a:ext>
            </a:extLst>
          </p:cNvPr>
          <p:cNvSpPr/>
          <p:nvPr/>
        </p:nvSpPr>
        <p:spPr>
          <a:xfrm>
            <a:off x="4648989" y="2332701"/>
            <a:ext cx="331921" cy="494751"/>
          </a:xfrm>
          <a:prstGeom prst="rect">
            <a:avLst/>
          </a:prstGeom>
        </p:spPr>
        <p:txBody>
          <a:bodyPr wrap="square">
            <a:spAutoFit/>
          </a:bodyPr>
          <a:lstStyle/>
          <a:p>
            <a:pPr>
              <a:lnSpc>
                <a:spcPct val="120000"/>
              </a:lnSpc>
            </a:pPr>
            <a:r>
              <a:rPr lang="en-US" sz="2400" b="1" dirty="0">
                <a:solidFill>
                  <a:schemeClr val="accent6"/>
                </a:solidFill>
                <a:cs typeface="IRAN Sans" panose="020B0400000000000000" pitchFamily="34" charset="-78"/>
              </a:rPr>
              <a:t>6</a:t>
            </a:r>
          </a:p>
        </p:txBody>
      </p:sp>
      <p:grpSp>
        <p:nvGrpSpPr>
          <p:cNvPr id="262" name="Group 261">
            <a:extLst>
              <a:ext uri="{FF2B5EF4-FFF2-40B4-BE49-F238E27FC236}">
                <a16:creationId xmlns:a16="http://schemas.microsoft.com/office/drawing/2014/main" id="{AFC9EB5D-AE47-CF8C-2392-E57FBE6919FE}"/>
              </a:ext>
            </a:extLst>
          </p:cNvPr>
          <p:cNvGrpSpPr/>
          <p:nvPr/>
        </p:nvGrpSpPr>
        <p:grpSpPr>
          <a:xfrm>
            <a:off x="5034264" y="1097960"/>
            <a:ext cx="1466503" cy="954838"/>
            <a:chOff x="1871813" y="1121053"/>
            <a:chExt cx="1466503" cy="954838"/>
          </a:xfrm>
        </p:grpSpPr>
        <p:sp>
          <p:nvSpPr>
            <p:cNvPr id="263" name="Speech Bubble: Rectangle 262">
              <a:extLst>
                <a:ext uri="{FF2B5EF4-FFF2-40B4-BE49-F238E27FC236}">
                  <a16:creationId xmlns:a16="http://schemas.microsoft.com/office/drawing/2014/main" id="{5D1CE793-AAC5-8FBC-1E9E-56BE03EB5285}"/>
                </a:ext>
              </a:extLst>
            </p:cNvPr>
            <p:cNvSpPr/>
            <p:nvPr/>
          </p:nvSpPr>
          <p:spPr>
            <a:xfrm>
              <a:off x="1871813" y="1121053"/>
              <a:ext cx="1466503" cy="954838"/>
            </a:xfrm>
            <a:prstGeom prst="wedgeRectCallout">
              <a:avLst>
                <a:gd name="adj1" fmla="val -4298"/>
                <a:gd name="adj2" fmla="val 83370"/>
              </a:avLst>
            </a:prstGeom>
            <a:gradFill>
              <a:gsLst>
                <a:gs pos="20000">
                  <a:schemeClr val="accent2"/>
                </a:gs>
                <a:gs pos="100000">
                  <a:schemeClr val="accent2">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64" name="TextBox 263">
              <a:extLst>
                <a:ext uri="{FF2B5EF4-FFF2-40B4-BE49-F238E27FC236}">
                  <a16:creationId xmlns:a16="http://schemas.microsoft.com/office/drawing/2014/main" id="{D1DE8818-E4DB-7D1B-B8D5-CBD3A5286FAB}"/>
                </a:ext>
              </a:extLst>
            </p:cNvPr>
            <p:cNvSpPr txBox="1"/>
            <p:nvPr/>
          </p:nvSpPr>
          <p:spPr>
            <a:xfrm>
              <a:off x="2009184" y="1264601"/>
              <a:ext cx="1213752" cy="692497"/>
            </a:xfrm>
            <a:prstGeom prst="rect">
              <a:avLst/>
            </a:prstGeom>
            <a:noFill/>
          </p:spPr>
          <p:txBody>
            <a:bodyPr wrap="square" rtlCol="0">
              <a:spAutoFit/>
            </a:bodyPr>
            <a:lstStyle/>
            <a:p>
              <a:r>
                <a:rPr lang="fa-IR" sz="1300" dirty="0">
                  <a:solidFill>
                    <a:schemeClr val="tx1"/>
                  </a:solidFill>
                  <a:cs typeface="IRAN Sans" panose="020B0400000000000000" pitchFamily="34" charset="-78"/>
                </a:rPr>
                <a:t>برون محوری در پیونده ها باید به حداقل ممکن برسد</a:t>
              </a:r>
              <a:endParaRPr lang="en-US" sz="1300" dirty="0">
                <a:solidFill>
                  <a:schemeClr val="bg1"/>
                </a:solidFill>
                <a:cs typeface="IRAN Sans" panose="020B0400000000000000" pitchFamily="34" charset="-78"/>
              </a:endParaRPr>
            </a:p>
          </p:txBody>
        </p:sp>
      </p:grpSp>
      <p:sp>
        <p:nvSpPr>
          <p:cNvPr id="265" name="Rectangle 264">
            <a:extLst>
              <a:ext uri="{FF2B5EF4-FFF2-40B4-BE49-F238E27FC236}">
                <a16:creationId xmlns:a16="http://schemas.microsoft.com/office/drawing/2014/main" id="{40C95977-62E3-1287-9904-EB880A790BAE}"/>
              </a:ext>
            </a:extLst>
          </p:cNvPr>
          <p:cNvSpPr/>
          <p:nvPr/>
        </p:nvSpPr>
        <p:spPr>
          <a:xfrm>
            <a:off x="5522911" y="2321292"/>
            <a:ext cx="331921" cy="494751"/>
          </a:xfrm>
          <a:prstGeom prst="rect">
            <a:avLst/>
          </a:prstGeom>
        </p:spPr>
        <p:txBody>
          <a:bodyPr wrap="square">
            <a:spAutoFit/>
          </a:bodyPr>
          <a:lstStyle/>
          <a:p>
            <a:pPr>
              <a:lnSpc>
                <a:spcPct val="120000"/>
              </a:lnSpc>
            </a:pPr>
            <a:r>
              <a:rPr lang="en-US" sz="2400" b="1" dirty="0">
                <a:solidFill>
                  <a:schemeClr val="accent2"/>
                </a:solidFill>
                <a:cs typeface="IRAN Sans" panose="020B0400000000000000" pitchFamily="34" charset="-78"/>
              </a:rPr>
              <a:t>7</a:t>
            </a:r>
          </a:p>
        </p:txBody>
      </p:sp>
      <p:grpSp>
        <p:nvGrpSpPr>
          <p:cNvPr id="266" name="Group 265">
            <a:extLst>
              <a:ext uri="{FF2B5EF4-FFF2-40B4-BE49-F238E27FC236}">
                <a16:creationId xmlns:a16="http://schemas.microsoft.com/office/drawing/2014/main" id="{C466079D-A33C-5770-2BAB-11A6BF94CC32}"/>
              </a:ext>
            </a:extLst>
          </p:cNvPr>
          <p:cNvGrpSpPr/>
          <p:nvPr/>
        </p:nvGrpSpPr>
        <p:grpSpPr>
          <a:xfrm rot="10800000">
            <a:off x="4938032" y="3016584"/>
            <a:ext cx="1562735" cy="967476"/>
            <a:chOff x="3203280" y="983555"/>
            <a:chExt cx="1562735" cy="967476"/>
          </a:xfrm>
        </p:grpSpPr>
        <p:sp>
          <p:nvSpPr>
            <p:cNvPr id="267" name="Speech Bubble: Rectangle 266">
              <a:extLst>
                <a:ext uri="{FF2B5EF4-FFF2-40B4-BE49-F238E27FC236}">
                  <a16:creationId xmlns:a16="http://schemas.microsoft.com/office/drawing/2014/main" id="{3616D42E-E0ED-BCF2-8A03-58EEEA5BB8B5}"/>
                </a:ext>
              </a:extLst>
            </p:cNvPr>
            <p:cNvSpPr/>
            <p:nvPr/>
          </p:nvSpPr>
          <p:spPr>
            <a:xfrm flipV="1">
              <a:off x="3203280" y="983555"/>
              <a:ext cx="1562735" cy="967476"/>
            </a:xfrm>
            <a:prstGeom prst="wedgeRectCallout">
              <a:avLst>
                <a:gd name="adj1" fmla="val -44725"/>
                <a:gd name="adj2" fmla="val -77365"/>
              </a:avLst>
            </a:prstGeom>
            <a:gradFill>
              <a:gsLst>
                <a:gs pos="20000">
                  <a:schemeClr val="accent3"/>
                </a:gs>
                <a:gs pos="100000">
                  <a:schemeClr val="accent3">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a-IR" sz="1300" dirty="0">
                  <a:solidFill>
                    <a:schemeClr val="tx1">
                      <a:lumMod val="95000"/>
                      <a:lumOff val="5000"/>
                    </a:schemeClr>
                  </a:solidFill>
                  <a:cs typeface="IRAN Sans" panose="020B0400000000000000" pitchFamily="34" charset="-78"/>
                </a:rPr>
                <a:t>زاویه فضایی بین اعضا قابل توجه باشد</a:t>
              </a:r>
              <a:endParaRPr lang="en-US" sz="1300" dirty="0">
                <a:solidFill>
                  <a:schemeClr val="bg1">
                    <a:lumMod val="65000"/>
                  </a:schemeClr>
                </a:solidFill>
                <a:cs typeface="IRAN Sans" panose="020B0400000000000000" pitchFamily="34" charset="-78"/>
              </a:endParaRPr>
            </a:p>
          </p:txBody>
        </p:sp>
        <p:sp>
          <p:nvSpPr>
            <p:cNvPr id="268" name="TextBox 267">
              <a:extLst>
                <a:ext uri="{FF2B5EF4-FFF2-40B4-BE49-F238E27FC236}">
                  <a16:creationId xmlns:a16="http://schemas.microsoft.com/office/drawing/2014/main" id="{0148398F-78D1-CF40-3236-E92344A4F712}"/>
                </a:ext>
              </a:extLst>
            </p:cNvPr>
            <p:cNvSpPr txBox="1"/>
            <p:nvPr/>
          </p:nvSpPr>
          <p:spPr>
            <a:xfrm>
              <a:off x="3307304" y="1532325"/>
              <a:ext cx="1213752" cy="292388"/>
            </a:xfrm>
            <a:prstGeom prst="rect">
              <a:avLst/>
            </a:prstGeom>
            <a:noFill/>
          </p:spPr>
          <p:txBody>
            <a:bodyPr wrap="square" rtlCol="0">
              <a:spAutoFit/>
            </a:bodyPr>
            <a:lstStyle/>
            <a:p>
              <a:endParaRPr lang="en-US" sz="1300" dirty="0">
                <a:solidFill>
                  <a:schemeClr val="bg1"/>
                </a:solidFill>
                <a:cs typeface="IRAN Sans" panose="020B0400000000000000" pitchFamily="34" charset="-78"/>
              </a:endParaRPr>
            </a:p>
          </p:txBody>
        </p:sp>
      </p:grpSp>
      <p:sp>
        <p:nvSpPr>
          <p:cNvPr id="269" name="Rectangle 268">
            <a:extLst>
              <a:ext uri="{FF2B5EF4-FFF2-40B4-BE49-F238E27FC236}">
                <a16:creationId xmlns:a16="http://schemas.microsoft.com/office/drawing/2014/main" id="{91EC3135-4AEF-52F8-2A37-ABC504E5CDCC}"/>
              </a:ext>
            </a:extLst>
          </p:cNvPr>
          <p:cNvSpPr/>
          <p:nvPr/>
        </p:nvSpPr>
        <p:spPr>
          <a:xfrm>
            <a:off x="6266078" y="2321292"/>
            <a:ext cx="331920" cy="494751"/>
          </a:xfrm>
          <a:prstGeom prst="rect">
            <a:avLst/>
          </a:prstGeom>
        </p:spPr>
        <p:txBody>
          <a:bodyPr wrap="square">
            <a:spAutoFit/>
          </a:bodyPr>
          <a:lstStyle/>
          <a:p>
            <a:pPr>
              <a:lnSpc>
                <a:spcPct val="120000"/>
              </a:lnSpc>
            </a:pPr>
            <a:r>
              <a:rPr lang="en-US" sz="2400" b="1" dirty="0">
                <a:solidFill>
                  <a:schemeClr val="accent3"/>
                </a:solidFill>
                <a:cs typeface="IRAN Sans" panose="020B0400000000000000" pitchFamily="34" charset="-78"/>
              </a:rPr>
              <a:t>8</a:t>
            </a:r>
          </a:p>
        </p:txBody>
      </p:sp>
      <p:grpSp>
        <p:nvGrpSpPr>
          <p:cNvPr id="270" name="Group 269">
            <a:extLst>
              <a:ext uri="{FF2B5EF4-FFF2-40B4-BE49-F238E27FC236}">
                <a16:creationId xmlns:a16="http://schemas.microsoft.com/office/drawing/2014/main" id="{F90B5860-C0D4-4758-B6D3-D6F151FEC608}"/>
              </a:ext>
            </a:extLst>
          </p:cNvPr>
          <p:cNvGrpSpPr/>
          <p:nvPr/>
        </p:nvGrpSpPr>
        <p:grpSpPr>
          <a:xfrm>
            <a:off x="6432038" y="1064094"/>
            <a:ext cx="1715113" cy="980300"/>
            <a:chOff x="5534105" y="1070058"/>
            <a:chExt cx="1715113" cy="980300"/>
          </a:xfrm>
        </p:grpSpPr>
        <p:sp>
          <p:nvSpPr>
            <p:cNvPr id="271" name="Speech Bubble: Rectangle 270">
              <a:extLst>
                <a:ext uri="{FF2B5EF4-FFF2-40B4-BE49-F238E27FC236}">
                  <a16:creationId xmlns:a16="http://schemas.microsoft.com/office/drawing/2014/main" id="{F0ECA6D0-6E2B-8EAB-C154-EA9D577D090A}"/>
                </a:ext>
              </a:extLst>
            </p:cNvPr>
            <p:cNvSpPr/>
            <p:nvPr/>
          </p:nvSpPr>
          <p:spPr>
            <a:xfrm>
              <a:off x="5534105" y="1070058"/>
              <a:ext cx="1474218" cy="980300"/>
            </a:xfrm>
            <a:prstGeom prst="wedgeRectCallout">
              <a:avLst>
                <a:gd name="adj1" fmla="val 14683"/>
                <a:gd name="adj2" fmla="val 87023"/>
              </a:avLst>
            </a:prstGeom>
            <a:gradFill>
              <a:gsLst>
                <a:gs pos="20000">
                  <a:schemeClr val="accent5"/>
                </a:gs>
                <a:gs pos="100000">
                  <a:schemeClr val="accent5">
                    <a:lumMod val="75000"/>
                  </a:schemeClr>
                </a:gs>
              </a:gsLst>
              <a:lin ang="2700000" scaled="1"/>
            </a:gradFill>
            <a:ln>
              <a:noFill/>
            </a:ln>
            <a:effectLst>
              <a:outerShdw blurRad="635000" dist="381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a-IR" sz="1300" dirty="0">
                  <a:solidFill>
                    <a:schemeClr val="tx1">
                      <a:lumMod val="95000"/>
                      <a:lumOff val="5000"/>
                    </a:schemeClr>
                  </a:solidFill>
                  <a:cs typeface="IRAN Sans" panose="020B0400000000000000" pitchFamily="34" charset="-78"/>
                </a:rPr>
                <a:t>روا داری اجرایی لازم در طراحی پیونده ها باید پیشبینی شده باشد.</a:t>
              </a:r>
              <a:endParaRPr lang="en-US" sz="1300" dirty="0">
                <a:solidFill>
                  <a:schemeClr val="bg1">
                    <a:lumMod val="65000"/>
                  </a:schemeClr>
                </a:solidFill>
                <a:cs typeface="IRAN Sans" panose="020B0400000000000000" pitchFamily="34" charset="-78"/>
              </a:endParaRPr>
            </a:p>
          </p:txBody>
        </p:sp>
        <p:sp>
          <p:nvSpPr>
            <p:cNvPr id="272" name="TextBox 271">
              <a:extLst>
                <a:ext uri="{FF2B5EF4-FFF2-40B4-BE49-F238E27FC236}">
                  <a16:creationId xmlns:a16="http://schemas.microsoft.com/office/drawing/2014/main" id="{DBDE7C70-D2EC-5043-704E-0387C6E4C397}"/>
                </a:ext>
              </a:extLst>
            </p:cNvPr>
            <p:cNvSpPr txBox="1"/>
            <p:nvPr/>
          </p:nvSpPr>
          <p:spPr>
            <a:xfrm>
              <a:off x="6035466" y="1612074"/>
              <a:ext cx="1213752" cy="292388"/>
            </a:xfrm>
            <a:prstGeom prst="rect">
              <a:avLst/>
            </a:prstGeom>
            <a:noFill/>
          </p:spPr>
          <p:txBody>
            <a:bodyPr wrap="square" rtlCol="0">
              <a:spAutoFit/>
            </a:bodyPr>
            <a:lstStyle/>
            <a:p>
              <a:endParaRPr lang="en-US" sz="1300" dirty="0">
                <a:solidFill>
                  <a:schemeClr val="bg1"/>
                </a:solidFill>
                <a:cs typeface="IRAN Sans" panose="020B0400000000000000" pitchFamily="34" charset="-78"/>
              </a:endParaRPr>
            </a:p>
          </p:txBody>
        </p:sp>
      </p:grpSp>
      <p:sp>
        <p:nvSpPr>
          <p:cNvPr id="273" name="Rectangle 272">
            <a:extLst>
              <a:ext uri="{FF2B5EF4-FFF2-40B4-BE49-F238E27FC236}">
                <a16:creationId xmlns:a16="http://schemas.microsoft.com/office/drawing/2014/main" id="{99BC4A30-F41E-D709-B0A1-7CFEE650E5C6}"/>
              </a:ext>
            </a:extLst>
          </p:cNvPr>
          <p:cNvSpPr/>
          <p:nvPr/>
        </p:nvSpPr>
        <p:spPr>
          <a:xfrm>
            <a:off x="7208354" y="2319745"/>
            <a:ext cx="331921" cy="494751"/>
          </a:xfrm>
          <a:prstGeom prst="rect">
            <a:avLst/>
          </a:prstGeom>
        </p:spPr>
        <p:txBody>
          <a:bodyPr wrap="square">
            <a:spAutoFit/>
          </a:bodyPr>
          <a:lstStyle/>
          <a:p>
            <a:pPr>
              <a:lnSpc>
                <a:spcPct val="120000"/>
              </a:lnSpc>
            </a:pPr>
            <a:r>
              <a:rPr lang="en-US" sz="2400" b="1" dirty="0">
                <a:solidFill>
                  <a:schemeClr val="accent5"/>
                </a:solidFill>
                <a:cs typeface="IRAN Sans" panose="020B0400000000000000" pitchFamily="34" charset="-78"/>
              </a:rPr>
              <a:t>9</a:t>
            </a:r>
          </a:p>
        </p:txBody>
      </p:sp>
    </p:spTree>
    <p:extLst>
      <p:ext uri="{BB962C8B-B14F-4D97-AF65-F5344CB8AC3E}">
        <p14:creationId xmlns:p14="http://schemas.microsoft.com/office/powerpoint/2010/main" val="90299490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childTnLst>
                          </p:cTn>
                        </p:par>
                        <p:par>
                          <p:cTn id="27" fill="hold">
                            <p:stCondLst>
                              <p:cond delay="2050"/>
                            </p:stCondLst>
                            <p:childTnLst>
                              <p:par>
                                <p:cTn id="28" presetID="22" presetClass="entr" presetSubtype="8" fill="hold" grpId="0" nodeType="afterEffect">
                                  <p:stCondLst>
                                    <p:cond delay="0"/>
                                  </p:stCondLst>
                                  <p:childTnLst>
                                    <p:set>
                                      <p:cBhvr>
                                        <p:cTn id="29" dur="1" fill="hold">
                                          <p:stCondLst>
                                            <p:cond delay="0"/>
                                          </p:stCondLst>
                                        </p:cTn>
                                        <p:tgtEl>
                                          <p:spTgt spid="248"/>
                                        </p:tgtEl>
                                        <p:attrNameLst>
                                          <p:attrName>style.visibility</p:attrName>
                                        </p:attrNameLst>
                                      </p:cBhvr>
                                      <p:to>
                                        <p:strVal val="visible"/>
                                      </p:to>
                                    </p:set>
                                    <p:animEffect transition="in" filter="wipe(left)">
                                      <p:cBhvr>
                                        <p:cTn id="30" dur="500"/>
                                        <p:tgtEl>
                                          <p:spTgt spid="248"/>
                                        </p:tgtEl>
                                      </p:cBhvr>
                                    </p:animEffect>
                                  </p:childTnLst>
                                </p:cTn>
                              </p:par>
                              <p:par>
                                <p:cTn id="31" presetID="2" presetClass="entr" presetSubtype="8" fill="hold" grpId="0" nodeType="withEffect">
                                  <p:stCondLst>
                                    <p:cond delay="0"/>
                                  </p:stCondLst>
                                  <p:childTnLst>
                                    <p:set>
                                      <p:cBhvr>
                                        <p:cTn id="32" dur="1" fill="hold">
                                          <p:stCondLst>
                                            <p:cond delay="0"/>
                                          </p:stCondLst>
                                        </p:cTn>
                                        <p:tgtEl>
                                          <p:spTgt spid="201"/>
                                        </p:tgtEl>
                                        <p:attrNameLst>
                                          <p:attrName>style.visibility</p:attrName>
                                        </p:attrNameLst>
                                      </p:cBhvr>
                                      <p:to>
                                        <p:strVal val="visible"/>
                                      </p:to>
                                    </p:set>
                                    <p:anim calcmode="lin" valueType="num">
                                      <p:cBhvr additive="base">
                                        <p:cTn id="33" dur="500" fill="hold"/>
                                        <p:tgtEl>
                                          <p:spTgt spid="201"/>
                                        </p:tgtEl>
                                        <p:attrNameLst>
                                          <p:attrName>ppt_x</p:attrName>
                                        </p:attrNameLst>
                                      </p:cBhvr>
                                      <p:tavLst>
                                        <p:tav tm="0">
                                          <p:val>
                                            <p:strVal val="0-#ppt_w/2"/>
                                          </p:val>
                                        </p:tav>
                                        <p:tav tm="100000">
                                          <p:val>
                                            <p:strVal val="#ppt_x"/>
                                          </p:val>
                                        </p:tav>
                                      </p:tavLst>
                                    </p:anim>
                                    <p:anim calcmode="lin" valueType="num">
                                      <p:cBhvr additive="base">
                                        <p:cTn id="34" dur="500" fill="hold"/>
                                        <p:tgtEl>
                                          <p:spTgt spid="201"/>
                                        </p:tgtEl>
                                        <p:attrNameLst>
                                          <p:attrName>ppt_y</p:attrName>
                                        </p:attrNameLst>
                                      </p:cBhvr>
                                      <p:tavLst>
                                        <p:tav tm="0">
                                          <p:val>
                                            <p:strVal val="#ppt_y"/>
                                          </p:val>
                                        </p:tav>
                                        <p:tav tm="100000">
                                          <p:val>
                                            <p:strVal val="#ppt_y"/>
                                          </p:val>
                                        </p:tav>
                                      </p:tavLst>
                                    </p:anim>
                                  </p:childTnLst>
                                </p:cTn>
                              </p:par>
                            </p:childTnLst>
                          </p:cTn>
                        </p:par>
                        <p:par>
                          <p:cTn id="35" fill="hold">
                            <p:stCondLst>
                              <p:cond delay="2550"/>
                            </p:stCondLst>
                            <p:childTnLst>
                              <p:par>
                                <p:cTn id="36" presetID="42" presetClass="entr" presetSubtype="0"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1000"/>
                                        <p:tgtEl>
                                          <p:spTgt spid="8"/>
                                        </p:tgtEl>
                                      </p:cBhvr>
                                    </p:animEffect>
                                    <p:anim calcmode="lin" valueType="num">
                                      <p:cBhvr>
                                        <p:cTn id="39" dur="1000" fill="hold"/>
                                        <p:tgtEl>
                                          <p:spTgt spid="8"/>
                                        </p:tgtEl>
                                        <p:attrNameLst>
                                          <p:attrName>ppt_x</p:attrName>
                                        </p:attrNameLst>
                                      </p:cBhvr>
                                      <p:tavLst>
                                        <p:tav tm="0">
                                          <p:val>
                                            <p:strVal val="#ppt_x"/>
                                          </p:val>
                                        </p:tav>
                                        <p:tav tm="100000">
                                          <p:val>
                                            <p:strVal val="#ppt_x"/>
                                          </p:val>
                                        </p:tav>
                                      </p:tavLst>
                                    </p:anim>
                                    <p:anim calcmode="lin" valueType="num">
                                      <p:cBhvr>
                                        <p:cTn id="40" dur="1000" fill="hold"/>
                                        <p:tgtEl>
                                          <p:spTgt spid="8"/>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83"/>
                                        </p:tgtEl>
                                        <p:attrNameLst>
                                          <p:attrName>style.visibility</p:attrName>
                                        </p:attrNameLst>
                                      </p:cBhvr>
                                      <p:to>
                                        <p:strVal val="visible"/>
                                      </p:to>
                                    </p:set>
                                    <p:animEffect transition="in" filter="fade">
                                      <p:cBhvr>
                                        <p:cTn id="43" dur="1000"/>
                                        <p:tgtEl>
                                          <p:spTgt spid="83"/>
                                        </p:tgtEl>
                                      </p:cBhvr>
                                    </p:animEffect>
                                    <p:anim calcmode="lin" valueType="num">
                                      <p:cBhvr>
                                        <p:cTn id="44" dur="1000" fill="hold"/>
                                        <p:tgtEl>
                                          <p:spTgt spid="83"/>
                                        </p:tgtEl>
                                        <p:attrNameLst>
                                          <p:attrName>ppt_x</p:attrName>
                                        </p:attrNameLst>
                                      </p:cBhvr>
                                      <p:tavLst>
                                        <p:tav tm="0">
                                          <p:val>
                                            <p:strVal val="#ppt_x"/>
                                          </p:val>
                                        </p:tav>
                                        <p:tav tm="100000">
                                          <p:val>
                                            <p:strVal val="#ppt_x"/>
                                          </p:val>
                                        </p:tav>
                                      </p:tavLst>
                                    </p:anim>
                                    <p:anim calcmode="lin" valueType="num">
                                      <p:cBhvr>
                                        <p:cTn id="45" dur="1000" fill="hold"/>
                                        <p:tgtEl>
                                          <p:spTgt spid="83"/>
                                        </p:tgtEl>
                                        <p:attrNameLst>
                                          <p:attrName>ppt_y</p:attrName>
                                        </p:attrNameLst>
                                      </p:cBhvr>
                                      <p:tavLst>
                                        <p:tav tm="0">
                                          <p:val>
                                            <p:strVal val="#ppt_y+.1"/>
                                          </p:val>
                                        </p:tav>
                                        <p:tav tm="100000">
                                          <p:val>
                                            <p:strVal val="#ppt_y"/>
                                          </p:val>
                                        </p:tav>
                                      </p:tavLst>
                                    </p:anim>
                                  </p:childTnLst>
                                </p:cTn>
                              </p:par>
                            </p:childTnLst>
                          </p:cTn>
                        </p:par>
                        <p:par>
                          <p:cTn id="46" fill="hold">
                            <p:stCondLst>
                              <p:cond delay="3550"/>
                            </p:stCondLst>
                            <p:childTnLst>
                              <p:par>
                                <p:cTn id="47" presetID="42" presetClass="entr" presetSubtype="0" fill="hold" nodeType="afterEffect">
                                  <p:stCondLst>
                                    <p:cond delay="0"/>
                                  </p:stCondLst>
                                  <p:childTnLst>
                                    <p:set>
                                      <p:cBhvr>
                                        <p:cTn id="48" dur="1" fill="hold">
                                          <p:stCondLst>
                                            <p:cond delay="0"/>
                                          </p:stCondLst>
                                        </p:cTn>
                                        <p:tgtEl>
                                          <p:spTgt spid="87"/>
                                        </p:tgtEl>
                                        <p:attrNameLst>
                                          <p:attrName>style.visibility</p:attrName>
                                        </p:attrNameLst>
                                      </p:cBhvr>
                                      <p:to>
                                        <p:strVal val="visible"/>
                                      </p:to>
                                    </p:set>
                                    <p:animEffect transition="in" filter="fade">
                                      <p:cBhvr>
                                        <p:cTn id="49" dur="1000"/>
                                        <p:tgtEl>
                                          <p:spTgt spid="87"/>
                                        </p:tgtEl>
                                      </p:cBhvr>
                                    </p:animEffect>
                                    <p:anim calcmode="lin" valueType="num">
                                      <p:cBhvr>
                                        <p:cTn id="50" dur="1000" fill="hold"/>
                                        <p:tgtEl>
                                          <p:spTgt spid="87"/>
                                        </p:tgtEl>
                                        <p:attrNameLst>
                                          <p:attrName>ppt_x</p:attrName>
                                        </p:attrNameLst>
                                      </p:cBhvr>
                                      <p:tavLst>
                                        <p:tav tm="0">
                                          <p:val>
                                            <p:strVal val="#ppt_x"/>
                                          </p:val>
                                        </p:tav>
                                        <p:tav tm="100000">
                                          <p:val>
                                            <p:strVal val="#ppt_x"/>
                                          </p:val>
                                        </p:tav>
                                      </p:tavLst>
                                    </p:anim>
                                    <p:anim calcmode="lin" valueType="num">
                                      <p:cBhvr>
                                        <p:cTn id="51" dur="1000" fill="hold"/>
                                        <p:tgtEl>
                                          <p:spTgt spid="87"/>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90"/>
                                        </p:tgtEl>
                                        <p:attrNameLst>
                                          <p:attrName>style.visibility</p:attrName>
                                        </p:attrNameLst>
                                      </p:cBhvr>
                                      <p:to>
                                        <p:strVal val="visible"/>
                                      </p:to>
                                    </p:set>
                                    <p:animEffect transition="in" filter="fade">
                                      <p:cBhvr>
                                        <p:cTn id="54" dur="1000"/>
                                        <p:tgtEl>
                                          <p:spTgt spid="90"/>
                                        </p:tgtEl>
                                      </p:cBhvr>
                                    </p:animEffect>
                                    <p:anim calcmode="lin" valueType="num">
                                      <p:cBhvr>
                                        <p:cTn id="55" dur="1000" fill="hold"/>
                                        <p:tgtEl>
                                          <p:spTgt spid="90"/>
                                        </p:tgtEl>
                                        <p:attrNameLst>
                                          <p:attrName>ppt_x</p:attrName>
                                        </p:attrNameLst>
                                      </p:cBhvr>
                                      <p:tavLst>
                                        <p:tav tm="0">
                                          <p:val>
                                            <p:strVal val="#ppt_x"/>
                                          </p:val>
                                        </p:tav>
                                        <p:tav tm="100000">
                                          <p:val>
                                            <p:strVal val="#ppt_x"/>
                                          </p:val>
                                        </p:tav>
                                      </p:tavLst>
                                    </p:anim>
                                    <p:anim calcmode="lin" valueType="num">
                                      <p:cBhvr>
                                        <p:cTn id="56" dur="1000" fill="hold"/>
                                        <p:tgtEl>
                                          <p:spTgt spid="90"/>
                                        </p:tgtEl>
                                        <p:attrNameLst>
                                          <p:attrName>ppt_y</p:attrName>
                                        </p:attrNameLst>
                                      </p:cBhvr>
                                      <p:tavLst>
                                        <p:tav tm="0">
                                          <p:val>
                                            <p:strVal val="#ppt_y+.1"/>
                                          </p:val>
                                        </p:tav>
                                        <p:tav tm="100000">
                                          <p:val>
                                            <p:strVal val="#ppt_y"/>
                                          </p:val>
                                        </p:tav>
                                      </p:tavLst>
                                    </p:anim>
                                  </p:childTnLst>
                                </p:cTn>
                              </p:par>
                            </p:childTnLst>
                          </p:cTn>
                        </p:par>
                        <p:par>
                          <p:cTn id="57" fill="hold">
                            <p:stCondLst>
                              <p:cond delay="4550"/>
                            </p:stCondLst>
                            <p:childTnLst>
                              <p:par>
                                <p:cTn id="58" presetID="42" presetClass="entr" presetSubtype="0" fill="hold" nodeType="afterEffect">
                                  <p:stCondLst>
                                    <p:cond delay="0"/>
                                  </p:stCondLst>
                                  <p:childTnLst>
                                    <p:set>
                                      <p:cBhvr>
                                        <p:cTn id="59" dur="1" fill="hold">
                                          <p:stCondLst>
                                            <p:cond delay="0"/>
                                          </p:stCondLst>
                                        </p:cTn>
                                        <p:tgtEl>
                                          <p:spTgt spid="91"/>
                                        </p:tgtEl>
                                        <p:attrNameLst>
                                          <p:attrName>style.visibility</p:attrName>
                                        </p:attrNameLst>
                                      </p:cBhvr>
                                      <p:to>
                                        <p:strVal val="visible"/>
                                      </p:to>
                                    </p:set>
                                    <p:animEffect transition="in" filter="fade">
                                      <p:cBhvr>
                                        <p:cTn id="60" dur="1000"/>
                                        <p:tgtEl>
                                          <p:spTgt spid="91"/>
                                        </p:tgtEl>
                                      </p:cBhvr>
                                    </p:animEffect>
                                    <p:anim calcmode="lin" valueType="num">
                                      <p:cBhvr>
                                        <p:cTn id="61" dur="1000" fill="hold"/>
                                        <p:tgtEl>
                                          <p:spTgt spid="91"/>
                                        </p:tgtEl>
                                        <p:attrNameLst>
                                          <p:attrName>ppt_x</p:attrName>
                                        </p:attrNameLst>
                                      </p:cBhvr>
                                      <p:tavLst>
                                        <p:tav tm="0">
                                          <p:val>
                                            <p:strVal val="#ppt_x"/>
                                          </p:val>
                                        </p:tav>
                                        <p:tav tm="100000">
                                          <p:val>
                                            <p:strVal val="#ppt_x"/>
                                          </p:val>
                                        </p:tav>
                                      </p:tavLst>
                                    </p:anim>
                                    <p:anim calcmode="lin" valueType="num">
                                      <p:cBhvr>
                                        <p:cTn id="62" dur="1000" fill="hold"/>
                                        <p:tgtEl>
                                          <p:spTgt spid="91"/>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94"/>
                                        </p:tgtEl>
                                        <p:attrNameLst>
                                          <p:attrName>style.visibility</p:attrName>
                                        </p:attrNameLst>
                                      </p:cBhvr>
                                      <p:to>
                                        <p:strVal val="visible"/>
                                      </p:to>
                                    </p:set>
                                    <p:animEffect transition="in" filter="fade">
                                      <p:cBhvr>
                                        <p:cTn id="65" dur="1000"/>
                                        <p:tgtEl>
                                          <p:spTgt spid="94"/>
                                        </p:tgtEl>
                                      </p:cBhvr>
                                    </p:animEffect>
                                    <p:anim calcmode="lin" valueType="num">
                                      <p:cBhvr>
                                        <p:cTn id="66" dur="1000" fill="hold"/>
                                        <p:tgtEl>
                                          <p:spTgt spid="94"/>
                                        </p:tgtEl>
                                        <p:attrNameLst>
                                          <p:attrName>ppt_x</p:attrName>
                                        </p:attrNameLst>
                                      </p:cBhvr>
                                      <p:tavLst>
                                        <p:tav tm="0">
                                          <p:val>
                                            <p:strVal val="#ppt_x"/>
                                          </p:val>
                                        </p:tav>
                                        <p:tav tm="100000">
                                          <p:val>
                                            <p:strVal val="#ppt_x"/>
                                          </p:val>
                                        </p:tav>
                                      </p:tavLst>
                                    </p:anim>
                                    <p:anim calcmode="lin" valueType="num">
                                      <p:cBhvr>
                                        <p:cTn id="67" dur="1000" fill="hold"/>
                                        <p:tgtEl>
                                          <p:spTgt spid="94"/>
                                        </p:tgtEl>
                                        <p:attrNameLst>
                                          <p:attrName>ppt_y</p:attrName>
                                        </p:attrNameLst>
                                      </p:cBhvr>
                                      <p:tavLst>
                                        <p:tav tm="0">
                                          <p:val>
                                            <p:strVal val="#ppt_y+.1"/>
                                          </p:val>
                                        </p:tav>
                                        <p:tav tm="100000">
                                          <p:val>
                                            <p:strVal val="#ppt_y"/>
                                          </p:val>
                                        </p:tav>
                                      </p:tavLst>
                                    </p:anim>
                                  </p:childTnLst>
                                </p:cTn>
                              </p:par>
                            </p:childTnLst>
                          </p:cTn>
                        </p:par>
                        <p:par>
                          <p:cTn id="68" fill="hold">
                            <p:stCondLst>
                              <p:cond delay="5550"/>
                            </p:stCondLst>
                            <p:childTnLst>
                              <p:par>
                                <p:cTn id="69" presetID="42" presetClass="entr" presetSubtype="0" fill="hold" nodeType="afterEffect">
                                  <p:stCondLst>
                                    <p:cond delay="0"/>
                                  </p:stCondLst>
                                  <p:childTnLst>
                                    <p:set>
                                      <p:cBhvr>
                                        <p:cTn id="70" dur="1" fill="hold">
                                          <p:stCondLst>
                                            <p:cond delay="0"/>
                                          </p:stCondLst>
                                        </p:cTn>
                                        <p:tgtEl>
                                          <p:spTgt spid="96"/>
                                        </p:tgtEl>
                                        <p:attrNameLst>
                                          <p:attrName>style.visibility</p:attrName>
                                        </p:attrNameLst>
                                      </p:cBhvr>
                                      <p:to>
                                        <p:strVal val="visible"/>
                                      </p:to>
                                    </p:set>
                                    <p:animEffect transition="in" filter="fade">
                                      <p:cBhvr>
                                        <p:cTn id="71" dur="1000"/>
                                        <p:tgtEl>
                                          <p:spTgt spid="96"/>
                                        </p:tgtEl>
                                      </p:cBhvr>
                                    </p:animEffect>
                                    <p:anim calcmode="lin" valueType="num">
                                      <p:cBhvr>
                                        <p:cTn id="72" dur="1000" fill="hold"/>
                                        <p:tgtEl>
                                          <p:spTgt spid="96"/>
                                        </p:tgtEl>
                                        <p:attrNameLst>
                                          <p:attrName>ppt_x</p:attrName>
                                        </p:attrNameLst>
                                      </p:cBhvr>
                                      <p:tavLst>
                                        <p:tav tm="0">
                                          <p:val>
                                            <p:strVal val="#ppt_x"/>
                                          </p:val>
                                        </p:tav>
                                        <p:tav tm="100000">
                                          <p:val>
                                            <p:strVal val="#ppt_x"/>
                                          </p:val>
                                        </p:tav>
                                      </p:tavLst>
                                    </p:anim>
                                    <p:anim calcmode="lin" valueType="num">
                                      <p:cBhvr>
                                        <p:cTn id="73" dur="1000" fill="hold"/>
                                        <p:tgtEl>
                                          <p:spTgt spid="96"/>
                                        </p:tgtEl>
                                        <p:attrNameLst>
                                          <p:attrName>ppt_y</p:attrName>
                                        </p:attrNameLst>
                                      </p:cBhvr>
                                      <p:tavLst>
                                        <p:tav tm="0">
                                          <p:val>
                                            <p:strVal val="#ppt_y+.1"/>
                                          </p:val>
                                        </p:tav>
                                        <p:tav tm="100000">
                                          <p:val>
                                            <p:strVal val="#ppt_y"/>
                                          </p:val>
                                        </p:tav>
                                      </p:tavLst>
                                    </p:anim>
                                  </p:childTnLst>
                                </p:cTn>
                              </p:par>
                              <p:par>
                                <p:cTn id="74" presetID="42" presetClass="entr" presetSubtype="0" fill="hold" nodeType="withEffect">
                                  <p:stCondLst>
                                    <p:cond delay="0"/>
                                  </p:stCondLst>
                                  <p:childTnLst>
                                    <p:set>
                                      <p:cBhvr>
                                        <p:cTn id="75" dur="1" fill="hold">
                                          <p:stCondLst>
                                            <p:cond delay="0"/>
                                          </p:stCondLst>
                                        </p:cTn>
                                        <p:tgtEl>
                                          <p:spTgt spid="159">
                                            <p:txEl>
                                              <p:pRg st="0" end="0"/>
                                            </p:txEl>
                                          </p:spTgt>
                                        </p:tgtEl>
                                        <p:attrNameLst>
                                          <p:attrName>style.visibility</p:attrName>
                                        </p:attrNameLst>
                                      </p:cBhvr>
                                      <p:to>
                                        <p:strVal val="visible"/>
                                      </p:to>
                                    </p:set>
                                    <p:animEffect transition="in" filter="fade">
                                      <p:cBhvr>
                                        <p:cTn id="76" dur="1000"/>
                                        <p:tgtEl>
                                          <p:spTgt spid="159">
                                            <p:txEl>
                                              <p:pRg st="0" end="0"/>
                                            </p:txEl>
                                          </p:spTgt>
                                        </p:tgtEl>
                                      </p:cBhvr>
                                    </p:animEffect>
                                    <p:anim calcmode="lin" valueType="num">
                                      <p:cBhvr>
                                        <p:cTn id="77" dur="1000" fill="hold"/>
                                        <p:tgtEl>
                                          <p:spTgt spid="159">
                                            <p:txEl>
                                              <p:pRg st="0" end="0"/>
                                            </p:txEl>
                                          </p:spTgt>
                                        </p:tgtEl>
                                        <p:attrNameLst>
                                          <p:attrName>ppt_x</p:attrName>
                                        </p:attrNameLst>
                                      </p:cBhvr>
                                      <p:tavLst>
                                        <p:tav tm="0">
                                          <p:val>
                                            <p:strVal val="#ppt_x"/>
                                          </p:val>
                                        </p:tav>
                                        <p:tav tm="100000">
                                          <p:val>
                                            <p:strVal val="#ppt_x"/>
                                          </p:val>
                                        </p:tav>
                                      </p:tavLst>
                                    </p:anim>
                                    <p:anim calcmode="lin" valueType="num">
                                      <p:cBhvr>
                                        <p:cTn id="78" dur="1000" fill="hold"/>
                                        <p:tgtEl>
                                          <p:spTgt spid="159">
                                            <p:txEl>
                                              <p:pRg st="0" end="0"/>
                                            </p:txEl>
                                          </p:spTgt>
                                        </p:tgtEl>
                                        <p:attrNameLst>
                                          <p:attrName>ppt_y</p:attrName>
                                        </p:attrNameLst>
                                      </p:cBhvr>
                                      <p:tavLst>
                                        <p:tav tm="0">
                                          <p:val>
                                            <p:strVal val="#ppt_y+.1"/>
                                          </p:val>
                                        </p:tav>
                                        <p:tav tm="100000">
                                          <p:val>
                                            <p:strVal val="#ppt_y"/>
                                          </p:val>
                                        </p:tav>
                                      </p:tavLst>
                                    </p:anim>
                                  </p:childTnLst>
                                </p:cTn>
                              </p:par>
                            </p:childTnLst>
                          </p:cTn>
                        </p:par>
                        <p:par>
                          <p:cTn id="79" fill="hold">
                            <p:stCondLst>
                              <p:cond delay="6550"/>
                            </p:stCondLst>
                            <p:childTnLst>
                              <p:par>
                                <p:cTn id="80" presetID="42" presetClass="entr" presetSubtype="0" fill="hold" nodeType="afterEffect">
                                  <p:stCondLst>
                                    <p:cond delay="0"/>
                                  </p:stCondLst>
                                  <p:childTnLst>
                                    <p:set>
                                      <p:cBhvr>
                                        <p:cTn id="81" dur="1" fill="hold">
                                          <p:stCondLst>
                                            <p:cond delay="0"/>
                                          </p:stCondLst>
                                        </p:cTn>
                                        <p:tgtEl>
                                          <p:spTgt spid="193"/>
                                        </p:tgtEl>
                                        <p:attrNameLst>
                                          <p:attrName>style.visibility</p:attrName>
                                        </p:attrNameLst>
                                      </p:cBhvr>
                                      <p:to>
                                        <p:strVal val="visible"/>
                                      </p:to>
                                    </p:set>
                                    <p:animEffect transition="in" filter="fade">
                                      <p:cBhvr>
                                        <p:cTn id="82" dur="1000"/>
                                        <p:tgtEl>
                                          <p:spTgt spid="193"/>
                                        </p:tgtEl>
                                      </p:cBhvr>
                                    </p:animEffect>
                                    <p:anim calcmode="lin" valueType="num">
                                      <p:cBhvr>
                                        <p:cTn id="83" dur="1000" fill="hold"/>
                                        <p:tgtEl>
                                          <p:spTgt spid="193"/>
                                        </p:tgtEl>
                                        <p:attrNameLst>
                                          <p:attrName>ppt_x</p:attrName>
                                        </p:attrNameLst>
                                      </p:cBhvr>
                                      <p:tavLst>
                                        <p:tav tm="0">
                                          <p:val>
                                            <p:strVal val="#ppt_x"/>
                                          </p:val>
                                        </p:tav>
                                        <p:tav tm="100000">
                                          <p:val>
                                            <p:strVal val="#ppt_x"/>
                                          </p:val>
                                        </p:tav>
                                      </p:tavLst>
                                    </p:anim>
                                    <p:anim calcmode="lin" valueType="num">
                                      <p:cBhvr>
                                        <p:cTn id="84" dur="1000" fill="hold"/>
                                        <p:tgtEl>
                                          <p:spTgt spid="193"/>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57"/>
                                        </p:tgtEl>
                                        <p:attrNameLst>
                                          <p:attrName>style.visibility</p:attrName>
                                        </p:attrNameLst>
                                      </p:cBhvr>
                                      <p:to>
                                        <p:strVal val="visible"/>
                                      </p:to>
                                    </p:set>
                                    <p:animEffect transition="in" filter="fade">
                                      <p:cBhvr>
                                        <p:cTn id="87" dur="1000"/>
                                        <p:tgtEl>
                                          <p:spTgt spid="257"/>
                                        </p:tgtEl>
                                      </p:cBhvr>
                                    </p:animEffect>
                                    <p:anim calcmode="lin" valueType="num">
                                      <p:cBhvr>
                                        <p:cTn id="88" dur="1000" fill="hold"/>
                                        <p:tgtEl>
                                          <p:spTgt spid="257"/>
                                        </p:tgtEl>
                                        <p:attrNameLst>
                                          <p:attrName>ppt_x</p:attrName>
                                        </p:attrNameLst>
                                      </p:cBhvr>
                                      <p:tavLst>
                                        <p:tav tm="0">
                                          <p:val>
                                            <p:strVal val="#ppt_x"/>
                                          </p:val>
                                        </p:tav>
                                        <p:tav tm="100000">
                                          <p:val>
                                            <p:strVal val="#ppt_x"/>
                                          </p:val>
                                        </p:tav>
                                      </p:tavLst>
                                    </p:anim>
                                    <p:anim calcmode="lin" valueType="num">
                                      <p:cBhvr>
                                        <p:cTn id="89" dur="1000" fill="hold"/>
                                        <p:tgtEl>
                                          <p:spTgt spid="257"/>
                                        </p:tgtEl>
                                        <p:attrNameLst>
                                          <p:attrName>ppt_y</p:attrName>
                                        </p:attrNameLst>
                                      </p:cBhvr>
                                      <p:tavLst>
                                        <p:tav tm="0">
                                          <p:val>
                                            <p:strVal val="#ppt_y+.1"/>
                                          </p:val>
                                        </p:tav>
                                        <p:tav tm="100000">
                                          <p:val>
                                            <p:strVal val="#ppt_y"/>
                                          </p:val>
                                        </p:tav>
                                      </p:tavLst>
                                    </p:anim>
                                  </p:childTnLst>
                                </p:cTn>
                              </p:par>
                            </p:childTnLst>
                          </p:cTn>
                        </p:par>
                        <p:par>
                          <p:cTn id="90" fill="hold">
                            <p:stCondLst>
                              <p:cond delay="7550"/>
                            </p:stCondLst>
                            <p:childTnLst>
                              <p:par>
                                <p:cTn id="91" presetID="42" presetClass="entr" presetSubtype="0" fill="hold" nodeType="afterEffect">
                                  <p:stCondLst>
                                    <p:cond delay="0"/>
                                  </p:stCondLst>
                                  <p:childTnLst>
                                    <p:set>
                                      <p:cBhvr>
                                        <p:cTn id="92" dur="1" fill="hold">
                                          <p:stCondLst>
                                            <p:cond delay="0"/>
                                          </p:stCondLst>
                                        </p:cTn>
                                        <p:tgtEl>
                                          <p:spTgt spid="258"/>
                                        </p:tgtEl>
                                        <p:attrNameLst>
                                          <p:attrName>style.visibility</p:attrName>
                                        </p:attrNameLst>
                                      </p:cBhvr>
                                      <p:to>
                                        <p:strVal val="visible"/>
                                      </p:to>
                                    </p:set>
                                    <p:animEffect transition="in" filter="fade">
                                      <p:cBhvr>
                                        <p:cTn id="93" dur="1000"/>
                                        <p:tgtEl>
                                          <p:spTgt spid="258"/>
                                        </p:tgtEl>
                                      </p:cBhvr>
                                    </p:animEffect>
                                    <p:anim calcmode="lin" valueType="num">
                                      <p:cBhvr>
                                        <p:cTn id="94" dur="1000" fill="hold"/>
                                        <p:tgtEl>
                                          <p:spTgt spid="258"/>
                                        </p:tgtEl>
                                        <p:attrNameLst>
                                          <p:attrName>ppt_x</p:attrName>
                                        </p:attrNameLst>
                                      </p:cBhvr>
                                      <p:tavLst>
                                        <p:tav tm="0">
                                          <p:val>
                                            <p:strVal val="#ppt_x"/>
                                          </p:val>
                                        </p:tav>
                                        <p:tav tm="100000">
                                          <p:val>
                                            <p:strVal val="#ppt_x"/>
                                          </p:val>
                                        </p:tav>
                                      </p:tavLst>
                                    </p:anim>
                                    <p:anim calcmode="lin" valueType="num">
                                      <p:cBhvr>
                                        <p:cTn id="95" dur="1000" fill="hold"/>
                                        <p:tgtEl>
                                          <p:spTgt spid="258"/>
                                        </p:tgtEl>
                                        <p:attrNameLst>
                                          <p:attrName>ppt_y</p:attrName>
                                        </p:attrNameLst>
                                      </p:cBhvr>
                                      <p:tavLst>
                                        <p:tav tm="0">
                                          <p:val>
                                            <p:strVal val="#ppt_y+.1"/>
                                          </p:val>
                                        </p:tav>
                                        <p:tav tm="100000">
                                          <p:val>
                                            <p:strVal val="#ppt_y"/>
                                          </p:val>
                                        </p:tav>
                                      </p:tavLst>
                                    </p:anim>
                                  </p:childTnLst>
                                </p:cTn>
                              </p:par>
                              <p:par>
                                <p:cTn id="96" presetID="42" presetClass="entr" presetSubtype="0" fill="hold" grpId="0" nodeType="withEffect">
                                  <p:stCondLst>
                                    <p:cond delay="0"/>
                                  </p:stCondLst>
                                  <p:childTnLst>
                                    <p:set>
                                      <p:cBhvr>
                                        <p:cTn id="97" dur="1" fill="hold">
                                          <p:stCondLst>
                                            <p:cond delay="0"/>
                                          </p:stCondLst>
                                        </p:cTn>
                                        <p:tgtEl>
                                          <p:spTgt spid="261"/>
                                        </p:tgtEl>
                                        <p:attrNameLst>
                                          <p:attrName>style.visibility</p:attrName>
                                        </p:attrNameLst>
                                      </p:cBhvr>
                                      <p:to>
                                        <p:strVal val="visible"/>
                                      </p:to>
                                    </p:set>
                                    <p:animEffect transition="in" filter="fade">
                                      <p:cBhvr>
                                        <p:cTn id="98" dur="1000"/>
                                        <p:tgtEl>
                                          <p:spTgt spid="261"/>
                                        </p:tgtEl>
                                      </p:cBhvr>
                                    </p:animEffect>
                                    <p:anim calcmode="lin" valueType="num">
                                      <p:cBhvr>
                                        <p:cTn id="99" dur="1000" fill="hold"/>
                                        <p:tgtEl>
                                          <p:spTgt spid="261"/>
                                        </p:tgtEl>
                                        <p:attrNameLst>
                                          <p:attrName>ppt_x</p:attrName>
                                        </p:attrNameLst>
                                      </p:cBhvr>
                                      <p:tavLst>
                                        <p:tav tm="0">
                                          <p:val>
                                            <p:strVal val="#ppt_x"/>
                                          </p:val>
                                        </p:tav>
                                        <p:tav tm="100000">
                                          <p:val>
                                            <p:strVal val="#ppt_x"/>
                                          </p:val>
                                        </p:tav>
                                      </p:tavLst>
                                    </p:anim>
                                    <p:anim calcmode="lin" valueType="num">
                                      <p:cBhvr>
                                        <p:cTn id="100" dur="1000" fill="hold"/>
                                        <p:tgtEl>
                                          <p:spTgt spid="261"/>
                                        </p:tgtEl>
                                        <p:attrNameLst>
                                          <p:attrName>ppt_y</p:attrName>
                                        </p:attrNameLst>
                                      </p:cBhvr>
                                      <p:tavLst>
                                        <p:tav tm="0">
                                          <p:val>
                                            <p:strVal val="#ppt_y+.1"/>
                                          </p:val>
                                        </p:tav>
                                        <p:tav tm="100000">
                                          <p:val>
                                            <p:strVal val="#ppt_y"/>
                                          </p:val>
                                        </p:tav>
                                      </p:tavLst>
                                    </p:anim>
                                  </p:childTnLst>
                                </p:cTn>
                              </p:par>
                            </p:childTnLst>
                          </p:cTn>
                        </p:par>
                        <p:par>
                          <p:cTn id="101" fill="hold">
                            <p:stCondLst>
                              <p:cond delay="8550"/>
                            </p:stCondLst>
                            <p:childTnLst>
                              <p:par>
                                <p:cTn id="102" presetID="42" presetClass="entr" presetSubtype="0" fill="hold" nodeType="afterEffect">
                                  <p:stCondLst>
                                    <p:cond delay="0"/>
                                  </p:stCondLst>
                                  <p:childTnLst>
                                    <p:set>
                                      <p:cBhvr>
                                        <p:cTn id="103" dur="1" fill="hold">
                                          <p:stCondLst>
                                            <p:cond delay="0"/>
                                          </p:stCondLst>
                                        </p:cTn>
                                        <p:tgtEl>
                                          <p:spTgt spid="262"/>
                                        </p:tgtEl>
                                        <p:attrNameLst>
                                          <p:attrName>style.visibility</p:attrName>
                                        </p:attrNameLst>
                                      </p:cBhvr>
                                      <p:to>
                                        <p:strVal val="visible"/>
                                      </p:to>
                                    </p:set>
                                    <p:animEffect transition="in" filter="fade">
                                      <p:cBhvr>
                                        <p:cTn id="104" dur="1000"/>
                                        <p:tgtEl>
                                          <p:spTgt spid="262"/>
                                        </p:tgtEl>
                                      </p:cBhvr>
                                    </p:animEffect>
                                    <p:anim calcmode="lin" valueType="num">
                                      <p:cBhvr>
                                        <p:cTn id="105" dur="1000" fill="hold"/>
                                        <p:tgtEl>
                                          <p:spTgt spid="262"/>
                                        </p:tgtEl>
                                        <p:attrNameLst>
                                          <p:attrName>ppt_x</p:attrName>
                                        </p:attrNameLst>
                                      </p:cBhvr>
                                      <p:tavLst>
                                        <p:tav tm="0">
                                          <p:val>
                                            <p:strVal val="#ppt_x"/>
                                          </p:val>
                                        </p:tav>
                                        <p:tav tm="100000">
                                          <p:val>
                                            <p:strVal val="#ppt_x"/>
                                          </p:val>
                                        </p:tav>
                                      </p:tavLst>
                                    </p:anim>
                                    <p:anim calcmode="lin" valueType="num">
                                      <p:cBhvr>
                                        <p:cTn id="106" dur="1000" fill="hold"/>
                                        <p:tgtEl>
                                          <p:spTgt spid="262"/>
                                        </p:tgtEl>
                                        <p:attrNameLst>
                                          <p:attrName>ppt_y</p:attrName>
                                        </p:attrNameLst>
                                      </p:cBhvr>
                                      <p:tavLst>
                                        <p:tav tm="0">
                                          <p:val>
                                            <p:strVal val="#ppt_y+.1"/>
                                          </p:val>
                                        </p:tav>
                                        <p:tav tm="100000">
                                          <p:val>
                                            <p:strVal val="#ppt_y"/>
                                          </p:val>
                                        </p:tav>
                                      </p:tavLst>
                                    </p:anim>
                                  </p:childTnLst>
                                </p:cTn>
                              </p:par>
                              <p:par>
                                <p:cTn id="107" presetID="42" presetClass="entr" presetSubtype="0" fill="hold" grpId="0" nodeType="withEffect">
                                  <p:stCondLst>
                                    <p:cond delay="0"/>
                                  </p:stCondLst>
                                  <p:childTnLst>
                                    <p:set>
                                      <p:cBhvr>
                                        <p:cTn id="108" dur="1" fill="hold">
                                          <p:stCondLst>
                                            <p:cond delay="0"/>
                                          </p:stCondLst>
                                        </p:cTn>
                                        <p:tgtEl>
                                          <p:spTgt spid="265"/>
                                        </p:tgtEl>
                                        <p:attrNameLst>
                                          <p:attrName>style.visibility</p:attrName>
                                        </p:attrNameLst>
                                      </p:cBhvr>
                                      <p:to>
                                        <p:strVal val="visible"/>
                                      </p:to>
                                    </p:set>
                                    <p:animEffect transition="in" filter="fade">
                                      <p:cBhvr>
                                        <p:cTn id="109" dur="1000"/>
                                        <p:tgtEl>
                                          <p:spTgt spid="265"/>
                                        </p:tgtEl>
                                      </p:cBhvr>
                                    </p:animEffect>
                                    <p:anim calcmode="lin" valueType="num">
                                      <p:cBhvr>
                                        <p:cTn id="110" dur="1000" fill="hold"/>
                                        <p:tgtEl>
                                          <p:spTgt spid="265"/>
                                        </p:tgtEl>
                                        <p:attrNameLst>
                                          <p:attrName>ppt_x</p:attrName>
                                        </p:attrNameLst>
                                      </p:cBhvr>
                                      <p:tavLst>
                                        <p:tav tm="0">
                                          <p:val>
                                            <p:strVal val="#ppt_x"/>
                                          </p:val>
                                        </p:tav>
                                        <p:tav tm="100000">
                                          <p:val>
                                            <p:strVal val="#ppt_x"/>
                                          </p:val>
                                        </p:tav>
                                      </p:tavLst>
                                    </p:anim>
                                    <p:anim calcmode="lin" valueType="num">
                                      <p:cBhvr>
                                        <p:cTn id="111" dur="1000" fill="hold"/>
                                        <p:tgtEl>
                                          <p:spTgt spid="265"/>
                                        </p:tgtEl>
                                        <p:attrNameLst>
                                          <p:attrName>ppt_y</p:attrName>
                                        </p:attrNameLst>
                                      </p:cBhvr>
                                      <p:tavLst>
                                        <p:tav tm="0">
                                          <p:val>
                                            <p:strVal val="#ppt_y+.1"/>
                                          </p:val>
                                        </p:tav>
                                        <p:tav tm="100000">
                                          <p:val>
                                            <p:strVal val="#ppt_y"/>
                                          </p:val>
                                        </p:tav>
                                      </p:tavLst>
                                    </p:anim>
                                  </p:childTnLst>
                                </p:cTn>
                              </p:par>
                            </p:childTnLst>
                          </p:cTn>
                        </p:par>
                        <p:par>
                          <p:cTn id="112" fill="hold">
                            <p:stCondLst>
                              <p:cond delay="9550"/>
                            </p:stCondLst>
                            <p:childTnLst>
                              <p:par>
                                <p:cTn id="113" presetID="42" presetClass="entr" presetSubtype="0" fill="hold" nodeType="afterEffect">
                                  <p:stCondLst>
                                    <p:cond delay="0"/>
                                  </p:stCondLst>
                                  <p:childTnLst>
                                    <p:set>
                                      <p:cBhvr>
                                        <p:cTn id="114" dur="1" fill="hold">
                                          <p:stCondLst>
                                            <p:cond delay="0"/>
                                          </p:stCondLst>
                                        </p:cTn>
                                        <p:tgtEl>
                                          <p:spTgt spid="266"/>
                                        </p:tgtEl>
                                        <p:attrNameLst>
                                          <p:attrName>style.visibility</p:attrName>
                                        </p:attrNameLst>
                                      </p:cBhvr>
                                      <p:to>
                                        <p:strVal val="visible"/>
                                      </p:to>
                                    </p:set>
                                    <p:animEffect transition="in" filter="fade">
                                      <p:cBhvr>
                                        <p:cTn id="115" dur="1000"/>
                                        <p:tgtEl>
                                          <p:spTgt spid="266"/>
                                        </p:tgtEl>
                                      </p:cBhvr>
                                    </p:animEffect>
                                    <p:anim calcmode="lin" valueType="num">
                                      <p:cBhvr>
                                        <p:cTn id="116" dur="1000" fill="hold"/>
                                        <p:tgtEl>
                                          <p:spTgt spid="266"/>
                                        </p:tgtEl>
                                        <p:attrNameLst>
                                          <p:attrName>ppt_x</p:attrName>
                                        </p:attrNameLst>
                                      </p:cBhvr>
                                      <p:tavLst>
                                        <p:tav tm="0">
                                          <p:val>
                                            <p:strVal val="#ppt_x"/>
                                          </p:val>
                                        </p:tav>
                                        <p:tav tm="100000">
                                          <p:val>
                                            <p:strVal val="#ppt_x"/>
                                          </p:val>
                                        </p:tav>
                                      </p:tavLst>
                                    </p:anim>
                                    <p:anim calcmode="lin" valueType="num">
                                      <p:cBhvr>
                                        <p:cTn id="117" dur="1000" fill="hold"/>
                                        <p:tgtEl>
                                          <p:spTgt spid="266"/>
                                        </p:tgtEl>
                                        <p:attrNameLst>
                                          <p:attrName>ppt_y</p:attrName>
                                        </p:attrNameLst>
                                      </p:cBhvr>
                                      <p:tavLst>
                                        <p:tav tm="0">
                                          <p:val>
                                            <p:strVal val="#ppt_y+.1"/>
                                          </p:val>
                                        </p:tav>
                                        <p:tav tm="100000">
                                          <p:val>
                                            <p:strVal val="#ppt_y"/>
                                          </p:val>
                                        </p:tav>
                                      </p:tavLst>
                                    </p:anim>
                                  </p:childTnLst>
                                </p:cTn>
                              </p:par>
                              <p:par>
                                <p:cTn id="118" presetID="42" presetClass="entr" presetSubtype="0" fill="hold" grpId="0" nodeType="withEffect">
                                  <p:stCondLst>
                                    <p:cond delay="0"/>
                                  </p:stCondLst>
                                  <p:childTnLst>
                                    <p:set>
                                      <p:cBhvr>
                                        <p:cTn id="119" dur="1" fill="hold">
                                          <p:stCondLst>
                                            <p:cond delay="0"/>
                                          </p:stCondLst>
                                        </p:cTn>
                                        <p:tgtEl>
                                          <p:spTgt spid="269"/>
                                        </p:tgtEl>
                                        <p:attrNameLst>
                                          <p:attrName>style.visibility</p:attrName>
                                        </p:attrNameLst>
                                      </p:cBhvr>
                                      <p:to>
                                        <p:strVal val="visible"/>
                                      </p:to>
                                    </p:set>
                                    <p:animEffect transition="in" filter="fade">
                                      <p:cBhvr>
                                        <p:cTn id="120" dur="1000"/>
                                        <p:tgtEl>
                                          <p:spTgt spid="269"/>
                                        </p:tgtEl>
                                      </p:cBhvr>
                                    </p:animEffect>
                                    <p:anim calcmode="lin" valueType="num">
                                      <p:cBhvr>
                                        <p:cTn id="121" dur="1000" fill="hold"/>
                                        <p:tgtEl>
                                          <p:spTgt spid="269"/>
                                        </p:tgtEl>
                                        <p:attrNameLst>
                                          <p:attrName>ppt_x</p:attrName>
                                        </p:attrNameLst>
                                      </p:cBhvr>
                                      <p:tavLst>
                                        <p:tav tm="0">
                                          <p:val>
                                            <p:strVal val="#ppt_x"/>
                                          </p:val>
                                        </p:tav>
                                        <p:tav tm="100000">
                                          <p:val>
                                            <p:strVal val="#ppt_x"/>
                                          </p:val>
                                        </p:tav>
                                      </p:tavLst>
                                    </p:anim>
                                    <p:anim calcmode="lin" valueType="num">
                                      <p:cBhvr>
                                        <p:cTn id="122" dur="1000" fill="hold"/>
                                        <p:tgtEl>
                                          <p:spTgt spid="269"/>
                                        </p:tgtEl>
                                        <p:attrNameLst>
                                          <p:attrName>ppt_y</p:attrName>
                                        </p:attrNameLst>
                                      </p:cBhvr>
                                      <p:tavLst>
                                        <p:tav tm="0">
                                          <p:val>
                                            <p:strVal val="#ppt_y+.1"/>
                                          </p:val>
                                        </p:tav>
                                        <p:tav tm="100000">
                                          <p:val>
                                            <p:strVal val="#ppt_y"/>
                                          </p:val>
                                        </p:tav>
                                      </p:tavLst>
                                    </p:anim>
                                  </p:childTnLst>
                                </p:cTn>
                              </p:par>
                            </p:childTnLst>
                          </p:cTn>
                        </p:par>
                        <p:par>
                          <p:cTn id="123" fill="hold">
                            <p:stCondLst>
                              <p:cond delay="10550"/>
                            </p:stCondLst>
                            <p:childTnLst>
                              <p:par>
                                <p:cTn id="124" presetID="42" presetClass="entr" presetSubtype="0" fill="hold" nodeType="afterEffect">
                                  <p:stCondLst>
                                    <p:cond delay="0"/>
                                  </p:stCondLst>
                                  <p:childTnLst>
                                    <p:set>
                                      <p:cBhvr>
                                        <p:cTn id="125" dur="1" fill="hold">
                                          <p:stCondLst>
                                            <p:cond delay="0"/>
                                          </p:stCondLst>
                                        </p:cTn>
                                        <p:tgtEl>
                                          <p:spTgt spid="270"/>
                                        </p:tgtEl>
                                        <p:attrNameLst>
                                          <p:attrName>style.visibility</p:attrName>
                                        </p:attrNameLst>
                                      </p:cBhvr>
                                      <p:to>
                                        <p:strVal val="visible"/>
                                      </p:to>
                                    </p:set>
                                    <p:animEffect transition="in" filter="fade">
                                      <p:cBhvr>
                                        <p:cTn id="126" dur="1000"/>
                                        <p:tgtEl>
                                          <p:spTgt spid="270"/>
                                        </p:tgtEl>
                                      </p:cBhvr>
                                    </p:animEffect>
                                    <p:anim calcmode="lin" valueType="num">
                                      <p:cBhvr>
                                        <p:cTn id="127" dur="1000" fill="hold"/>
                                        <p:tgtEl>
                                          <p:spTgt spid="270"/>
                                        </p:tgtEl>
                                        <p:attrNameLst>
                                          <p:attrName>ppt_x</p:attrName>
                                        </p:attrNameLst>
                                      </p:cBhvr>
                                      <p:tavLst>
                                        <p:tav tm="0">
                                          <p:val>
                                            <p:strVal val="#ppt_x"/>
                                          </p:val>
                                        </p:tav>
                                        <p:tav tm="100000">
                                          <p:val>
                                            <p:strVal val="#ppt_x"/>
                                          </p:val>
                                        </p:tav>
                                      </p:tavLst>
                                    </p:anim>
                                    <p:anim calcmode="lin" valueType="num">
                                      <p:cBhvr>
                                        <p:cTn id="128" dur="1000" fill="hold"/>
                                        <p:tgtEl>
                                          <p:spTgt spid="270"/>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273"/>
                                        </p:tgtEl>
                                        <p:attrNameLst>
                                          <p:attrName>style.visibility</p:attrName>
                                        </p:attrNameLst>
                                      </p:cBhvr>
                                      <p:to>
                                        <p:strVal val="visible"/>
                                      </p:to>
                                    </p:set>
                                    <p:animEffect transition="in" filter="fade">
                                      <p:cBhvr>
                                        <p:cTn id="131" dur="1000"/>
                                        <p:tgtEl>
                                          <p:spTgt spid="273"/>
                                        </p:tgtEl>
                                      </p:cBhvr>
                                    </p:animEffect>
                                    <p:anim calcmode="lin" valueType="num">
                                      <p:cBhvr>
                                        <p:cTn id="132" dur="1000" fill="hold"/>
                                        <p:tgtEl>
                                          <p:spTgt spid="273"/>
                                        </p:tgtEl>
                                        <p:attrNameLst>
                                          <p:attrName>ppt_x</p:attrName>
                                        </p:attrNameLst>
                                      </p:cBhvr>
                                      <p:tavLst>
                                        <p:tav tm="0">
                                          <p:val>
                                            <p:strVal val="#ppt_x"/>
                                          </p:val>
                                        </p:tav>
                                        <p:tav tm="100000">
                                          <p:val>
                                            <p:strVal val="#ppt_x"/>
                                          </p:val>
                                        </p:tav>
                                      </p:tavLst>
                                    </p:anim>
                                    <p:anim calcmode="lin" valueType="num">
                                      <p:cBhvr>
                                        <p:cTn id="133" dur="1000" fill="hold"/>
                                        <p:tgtEl>
                                          <p:spTgt spid="27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48" grpId="0" animBg="1"/>
      <p:bldP spid="83" grpId="0"/>
      <p:bldP spid="90" grpId="0"/>
      <p:bldP spid="94" grpId="0"/>
      <p:bldP spid="257" grpId="0"/>
      <p:bldP spid="261" grpId="0"/>
      <p:bldP spid="265" grpId="0"/>
      <p:bldP spid="269" grpId="0"/>
      <p:bldP spid="273"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697415" y="230661"/>
            <a:ext cx="3130921"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پیوندها معرف منطق سازه فضا کاراند</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58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C09286B2-1544-4287-BA54-308A1F852028}"/>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07C44570-8438-445F-956A-0693BC809EBC}"/>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6CC32960-09BD-4196-BC9E-2F34832A986A}"/>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3" action="ppaction://hlinksldjump"/>
            <a:extLst>
              <a:ext uri="{FF2B5EF4-FFF2-40B4-BE49-F238E27FC236}">
                <a16:creationId xmlns:a16="http://schemas.microsoft.com/office/drawing/2014/main" id="{A36BEE7C-F175-4F20-BEF6-8ED48B9A8D25}"/>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BCF92E3B-DEA3-415A-830A-EC33B2663573}"/>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1C69DCD4-1601-4361-8F53-7308C4F124F4}"/>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4" action="ppaction://hlinksldjump"/>
            <a:extLst>
              <a:ext uri="{FF2B5EF4-FFF2-40B4-BE49-F238E27FC236}">
                <a16:creationId xmlns:a16="http://schemas.microsoft.com/office/drawing/2014/main" id="{D5A13F38-F82B-4623-AE80-04792F3ADB6A}"/>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پیوندها</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6" name="Google Shape;307;p20">
            <a:extLst>
              <a:ext uri="{FF2B5EF4-FFF2-40B4-BE49-F238E27FC236}">
                <a16:creationId xmlns:a16="http://schemas.microsoft.com/office/drawing/2014/main" id="{B9C535E5-15CA-488D-B7FD-8C78D3D33CC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77C888F9-9F44-4F51-B633-05290FE6CF1B}"/>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lvl="0" algn="ctr"/>
            <a:r>
              <a:rPr lang="fa-IR" sz="20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خصوصیات</a:t>
            </a:r>
            <a:endParaRPr lang="fa-IR" sz="20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257D95E8-81C3-41AC-B828-90348E5C715D}"/>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64C6EE15-593F-4EBB-ABFB-0EB64880C1D8}"/>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A0E3878B-861E-4FAB-9A6A-E1107EE8D85E}"/>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C407CC2C-748A-4858-BF4D-CC339C310653}"/>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7DA598C5-7F64-48D9-BABD-7228689C69A6}"/>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6D1FDDF2-778E-4339-9A64-1BDB2B36801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8163DB3D-2C9D-4E82-AC44-CE17BA9C243C}"/>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A1E19EAA-7098-4EB1-BF9C-258F577310AF}"/>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2E4D8FE2-802B-4B83-9365-D11975CADCC0}"/>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78683CE8-013C-4EF9-AFAD-56CA75C3D9D8}"/>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7B3155BD-7F90-4662-AF97-3CFDF1FF291A}"/>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887FA3D6-CB91-40F8-95CB-062CDDB61674}"/>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6577F520-EDD1-406F-A989-0ADE6C9F6F5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F2739C7D-C313-4CD1-8632-35BA45BF05A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89F90CE9-7C51-4733-99E9-6CA37CF3F5F9}"/>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D8ED00FA-6637-4882-918A-4CAB8623F7C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251911B2-7A00-4C75-BF56-30E6F15E69D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84D2229E-D6DF-40C6-9664-999631C19C4D}"/>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C7B8E939-1BAC-4242-9E2F-49DE9FEA5B33}"/>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FEA37563-477D-447D-BEF5-79EE2D17F5B3}"/>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CDA9AEE1-E8BC-441F-81D2-206EC9E8F14E}"/>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7B499012-04D3-4701-93A9-82610593E5FD}"/>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161A1A6A-69AE-47EC-A715-671F4C90942C}"/>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057E34FF-6446-4915-878C-D4B5B9E4BC95}"/>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ACF913F0-EEB2-4035-9C60-61A3843002B3}"/>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00DFD984-D626-4151-9825-65557B18F180}"/>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8E85A427-B4AA-40B4-A4F3-8711E901F509}"/>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787DF653-BC96-4C48-B1D9-FDAC3B36BC9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0593BB1E-FA53-43A0-8987-8C24661EDD20}"/>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8DA5B4E4-0DA5-4651-B335-666BFADFC9AB}"/>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86A6E844-37DD-493E-96CA-D24CFC9AB89C}"/>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12863AB5-A5DB-4B6B-A7B0-43E5103ADA10}"/>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BA05B765-D806-40EF-A995-92388895F804}"/>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189CB1A8-6088-4739-A6A5-9D9938326CF6}"/>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E1D573ED-ED7A-4E41-B6BB-F82022549001}"/>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2B0B971B-AFD1-4F3F-ACB1-21EF4F01219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1B1AB824-F650-49F2-9017-E6229797A97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D58114D7-318E-4C99-9132-77D9A41B83D6}"/>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D48DEA49-EEB7-42FD-BDFB-F00834FA4D5E}"/>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3FCF79DE-7B4C-4A0E-952B-D5518F91127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DE4BEC0B-9AF3-4D01-B4BB-02DFEB4A5D1F}"/>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AF02B923-257E-44A3-9B3B-CBF71EED1B0A}"/>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053ED58D-6E1A-4F67-899D-901A523DD30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0A072DA4-858E-44F0-B33F-E972E3D88E7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1056544D-5239-4615-947B-BF6F58A89946}"/>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B38E421F-0D3E-4EC5-95E1-C2EE446AF090}"/>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6D720C97-EB6A-448D-B917-FA74EEA268C0}"/>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82A1048F-C8FB-49E6-A2E0-6CE5C3C11E6F}"/>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C2E822F3-BA74-4749-A59E-0316F345E78C}"/>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E5E15894-BB55-4EA4-AA4A-FA1C515F6D5E}"/>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321728C4-F5AC-4539-B8D1-B02A9C8401EC}"/>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2E2D3450-6F4F-425A-BD41-607E6BBE632E}"/>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F7415CDC-6184-4F9C-B793-37ACBBF941F8}"/>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D3EAAEC6-E00B-42CA-A890-80243F8C7AE1}"/>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7087D82F-61B0-41DC-A5F1-550D71995563}"/>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0912A96D-439D-4D23-9632-3F51483119D9}"/>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EFE0A4AD-7722-4CCF-84B1-AF21868DE491}"/>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F75C9703-F51E-4D7B-B334-77F49BF66A7E}"/>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C60ED081-D4C6-41D0-AA4B-E0DF1275C1D0}"/>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AC4D95A7-DE01-4B9C-8F6A-5DECBCC43D17}"/>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F0A7ABDA-6674-454A-B8C2-67900A87D799}"/>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444CF747-FC1C-47D6-89C0-5A61236AB711}"/>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5C9A71EC-B088-4BE7-93FF-713D301C854A}"/>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D04A888F-B003-4692-8F9D-83C083B4C612}"/>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01947E16-B03B-451E-8097-65CE231C52A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F1BC9642-5B9E-46E2-93E3-BF4EE1663C12}"/>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058D9959-C398-42BD-98AB-DB527360F8E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 name="Picture 2">
            <a:extLst>
              <a:ext uri="{FF2B5EF4-FFF2-40B4-BE49-F238E27FC236}">
                <a16:creationId xmlns:a16="http://schemas.microsoft.com/office/drawing/2014/main" id="{FA8732DB-05DB-BC5F-A2D6-62385A45F3C5}"/>
              </a:ext>
            </a:extLst>
          </p:cNvPr>
          <p:cNvPicPr>
            <a:picLocks noChangeAspect="1"/>
          </p:cNvPicPr>
          <p:nvPr/>
        </p:nvPicPr>
        <p:blipFill>
          <a:blip r:embed="rId5"/>
          <a:stretch>
            <a:fillRect/>
          </a:stretch>
        </p:blipFill>
        <p:spPr>
          <a:xfrm>
            <a:off x="1944993" y="681799"/>
            <a:ext cx="4817534" cy="3222013"/>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39992928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1000"/>
                                        <p:tgtEl>
                                          <p:spTgt spid="3"/>
                                        </p:tgtEl>
                                      </p:cBhvr>
                                    </p:animEffect>
                                    <p:anim calcmode="lin" valueType="num">
                                      <p:cBhvr>
                                        <p:cTn id="34" dur="1000" fill="hold"/>
                                        <p:tgtEl>
                                          <p:spTgt spid="3"/>
                                        </p:tgtEl>
                                        <p:attrNameLst>
                                          <p:attrName>ppt_x</p:attrName>
                                        </p:attrNameLst>
                                      </p:cBhvr>
                                      <p:tavLst>
                                        <p:tav tm="0">
                                          <p:val>
                                            <p:strVal val="#ppt_x"/>
                                          </p:val>
                                        </p:tav>
                                        <p:tav tm="100000">
                                          <p:val>
                                            <p:strVal val="#ppt_x"/>
                                          </p:val>
                                        </p:tav>
                                      </p:tavLst>
                                    </p:anim>
                                    <p:anim calcmode="lin" valueType="num">
                                      <p:cBhvr>
                                        <p:cTn id="35"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4530311" y="1992257"/>
            <a:ext cx="4130167"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 دستور العمل طراحی و اجرای سقف های تیرچه و بلوک</a:t>
            </a:r>
            <a:endParaRPr sz="3600" b="1"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347334" y="1800908"/>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117338890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6933780" y="230661"/>
            <a:ext cx="1894556"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سقف های تیرچه بلوک</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59</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410733" y="770752"/>
            <a:ext cx="8319237" cy="3030361"/>
          </a:xfrm>
          <a:prstGeom prst="roundRect">
            <a:avLst>
              <a:gd name="adj" fmla="val 2148"/>
            </a:avLst>
          </a:prstGeom>
          <a:solidFill>
            <a:schemeClr val="bg1">
              <a:alpha val="90000"/>
            </a:schemeClr>
          </a:solidFill>
          <a:ln>
            <a:solidFill>
              <a:schemeClr val="accent1"/>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يكی از انواع متداول سقف هاي بتنی، سقف هاي تيرچه و بلوك هستند. طرح و اجراي آسانتر و صرفه ي اقتصادی، فلسفه ی اصلی رجوع به سقف های تيرچه و بلوك است. در اين دستورالعمل ضمن معرفی انواع سقف های تيرچه و بلوك، خصوصيات رفتاری،جزئيات و ضوابط طراحی و اجرای آنها ارائه ميشود. از آنجا كه مقاومت بتن در برابر نيروهای فشاری،بسيار خوب ولی در برابر نيروهای كششی كم است، در قطعات بتن مسلح، نيروهای كششی به طور عمده توسط آرماتورهای فولادی تحمل ميشوند. به همين دليل، در تيرهای تحت خمش و دال ها، سعی بر اين است كه قسمتي از بتن تحت كشش، حذف شده و تنها آن مقدار از سطح بتن كه برای جايگذاری خاموت ها و آرماتورهای كششی لازم است، باقی بماند. اين كار به ويژه برای كاهش بار مرده سقف، دارای اهميت بوده و در عمل منجر به طرح دالهای مجوف، دال های با پشت بند، دال مشبك و در نهايت سقفهای تيرچه و بلوك شده است. اين سقف ها نوعی از دالهای با پشتبند محسوب ميشوند.</a:t>
            </a:r>
          </a:p>
        </p:txBody>
      </p:sp>
      <p:sp>
        <p:nvSpPr>
          <p:cNvPr id="9" name="Google Shape;309;p20">
            <a:hlinkClick r:id="" action="ppaction://noaction"/>
            <a:extLst>
              <a:ext uri="{FF2B5EF4-FFF2-40B4-BE49-F238E27FC236}">
                <a16:creationId xmlns:a16="http://schemas.microsoft.com/office/drawing/2014/main" id="{6F07BBEA-F354-C09F-BBB8-0A69876B33B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17;p20">
            <a:hlinkClick r:id="rId3" action="ppaction://hlinksldjump"/>
            <a:extLst>
              <a:ext uri="{FF2B5EF4-FFF2-40B4-BE49-F238E27FC236}">
                <a16:creationId xmlns:a16="http://schemas.microsoft.com/office/drawing/2014/main" id="{BFB076C4-9BF5-A0B8-3932-A5E1AA77C5F5}"/>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12" name="Google Shape;324;p20">
            <a:hlinkClick r:id="rId4" action="ppaction://hlinksldjump"/>
            <a:extLst>
              <a:ext uri="{FF2B5EF4-FFF2-40B4-BE49-F238E27FC236}">
                <a16:creationId xmlns:a16="http://schemas.microsoft.com/office/drawing/2014/main" id="{4182F86B-A59B-09C1-833C-099DD22A9CE2}"/>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3" name="Google Shape;309;p20">
            <a:hlinkClick r:id="rId5" action="ppaction://hlinksldjump"/>
            <a:extLst>
              <a:ext uri="{FF2B5EF4-FFF2-40B4-BE49-F238E27FC236}">
                <a16:creationId xmlns:a16="http://schemas.microsoft.com/office/drawing/2014/main" id="{A25125F4-2D61-711C-9B15-D123928EAAB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Tree>
    <p:extLst>
      <p:ext uri="{BB962C8B-B14F-4D97-AF65-F5344CB8AC3E}">
        <p14:creationId xmlns:p14="http://schemas.microsoft.com/office/powerpoint/2010/main" val="34607412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75230" y="230661"/>
            <a:ext cx="2053106"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سقف های تیرچه بلوک</a:t>
            </a:r>
            <a:endParaRPr sz="1600" b="1" dirty="0">
              <a:solidFill>
                <a:schemeClr val="accent5"/>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60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Rectangle 96">
            <a:extLst>
              <a:ext uri="{FF2B5EF4-FFF2-40B4-BE49-F238E27FC236}">
                <a16:creationId xmlns:a16="http://schemas.microsoft.com/office/drawing/2014/main" id="{2C14DAC2-D9BC-443E-A78B-CC5B98D6D98D}"/>
              </a:ext>
            </a:extLst>
          </p:cNvPr>
          <p:cNvSpPr/>
          <p:nvPr/>
        </p:nvSpPr>
        <p:spPr>
          <a:xfrm>
            <a:off x="4658595" y="1063308"/>
            <a:ext cx="3851215" cy="2794131"/>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دال با پشت بند را ميتوان مطابق شكل به صورت مجموعه ای متشكل از تيرهای موازی با مقطع </a:t>
            </a:r>
            <a:r>
              <a:rPr lang="en-US" sz="1600" dirty="0">
                <a:solidFill>
                  <a:schemeClr val="tx1">
                    <a:lumMod val="95000"/>
                    <a:lumOff val="5000"/>
                  </a:schemeClr>
                </a:solidFill>
                <a:cs typeface="IRAN Sans" panose="020B0400000000000000" pitchFamily="34" charset="-78"/>
              </a:rPr>
              <a:t>T </a:t>
            </a:r>
            <a:r>
              <a:rPr lang="fa-IR" sz="1600" dirty="0">
                <a:solidFill>
                  <a:schemeClr val="tx1">
                    <a:lumMod val="95000"/>
                    <a:lumOff val="5000"/>
                  </a:schemeClr>
                </a:solidFill>
                <a:cs typeface="IRAN Sans" panose="020B0400000000000000" pitchFamily="34" charset="-78"/>
              </a:rPr>
              <a:t>شكل در نظر گرفت كه در هر تير، آرماتورهای كششی در پايين جان تير قرار دارد . در عمل برای تأمين يكپارچگی سقف و تحمل نيروهای كششی ناشی از افت بتن و تغيير دما، آرماتورهايی در دو جهت در دال فوقانی قرار داده ميشود.</a:t>
            </a:r>
          </a:p>
        </p:txBody>
      </p:sp>
      <p:sp>
        <p:nvSpPr>
          <p:cNvPr id="95" name="Google Shape;299;p20">
            <a:extLst>
              <a:ext uri="{FF2B5EF4-FFF2-40B4-BE49-F238E27FC236}">
                <a16:creationId xmlns:a16="http://schemas.microsoft.com/office/drawing/2014/main" id="{05559AB3-CDCC-4C3E-B959-1E137B18C7E7}"/>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6" name="Google Shape;301;p20">
            <a:hlinkClick r:id="rId3" action="ppaction://hlinksldjump"/>
            <a:extLst>
              <a:ext uri="{FF2B5EF4-FFF2-40B4-BE49-F238E27FC236}">
                <a16:creationId xmlns:a16="http://schemas.microsoft.com/office/drawing/2014/main" id="{2E083EF0-9789-4D5C-B966-D09D55E0B3E3}"/>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8" name="Google Shape;307;p20">
            <a:extLst>
              <a:ext uri="{FF2B5EF4-FFF2-40B4-BE49-F238E27FC236}">
                <a16:creationId xmlns:a16="http://schemas.microsoft.com/office/drawing/2014/main" id="{56B3C38E-9A4E-4265-988A-2CA290A4CA23}"/>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4" action="ppaction://hlinksldjump"/>
            <a:extLst>
              <a:ext uri="{FF2B5EF4-FFF2-40B4-BE49-F238E27FC236}">
                <a16:creationId xmlns:a16="http://schemas.microsoft.com/office/drawing/2014/main" id="{6C96D52A-2CF4-4881-A3BE-0687F9B32155}"/>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9867CBDD-48BF-4B3F-A0D8-9DDF956F69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5" action="ppaction://hlinksldjump"/>
            <a:extLst>
              <a:ext uri="{FF2B5EF4-FFF2-40B4-BE49-F238E27FC236}">
                <a16:creationId xmlns:a16="http://schemas.microsoft.com/office/drawing/2014/main" id="{5529F7B2-E9DF-4679-A77F-C14C1BCF846C}"/>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9B3EF593-AFA7-4619-8128-8B76CC3932F6}"/>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F5B579E0-7CD5-4243-8694-CFE3F411BA73}"/>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A87F6201-7A2F-4F08-95AD-7A42F36548B9}"/>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2864B5D7-C78A-4926-9AED-FCA07BD0F255}"/>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8" name="Google Shape;326;p20">
            <a:extLst>
              <a:ext uri="{FF2B5EF4-FFF2-40B4-BE49-F238E27FC236}">
                <a16:creationId xmlns:a16="http://schemas.microsoft.com/office/drawing/2014/main" id="{C95660B3-ADB4-45D6-89B1-6A13D1474E97}"/>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F47AE61C-5B49-4DB1-BEB1-1EFB341F8B2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EE487D9D-BD67-4B8E-9EF1-61D5077369DB}"/>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4B3A63C8-64CC-4CEC-9420-FCCD13C6E63E}"/>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9EC99B3C-F658-4F0B-880E-5D654FD4009E}"/>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438B50C1-DA17-4C50-ACBC-51BCE886D203}"/>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360A3589-1ED7-4917-AB77-348294C5D686}"/>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9399A2D3-97D2-4BDD-B3F5-B6A2271DD83D}"/>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A822FC5C-9091-4988-9C00-EDE8E651B7EF}"/>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5D02F09E-E6AD-4D0A-8F99-5CF102854955}"/>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93D83A92-AAB9-4236-8B16-98A989B48364}"/>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92197BE6-7594-449D-9C56-8B395AE46CF5}"/>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9A965C90-8B28-4B12-97BF-F93B630B2596}"/>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1550BC3F-F136-4339-B7F6-679067B6BD10}"/>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2CD2DF2-E6EE-42BC-B481-BF08C80B3358}"/>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C137178D-D72E-4CCD-BDC6-485068DEE3CB}"/>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FCB6442-97DB-4390-80CC-983E1F19D026}"/>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1600519B-A869-4C42-9CB7-92ECA7315188}"/>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38BFA3F-C65E-4F76-92A9-45839BFBC6C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2B4B1ABD-C04D-48D5-AE66-AC540F23D02A}"/>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4DCDC886-F741-4FED-881C-FBE00E8B62D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C948E608-E016-4113-BADC-1925C086308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6E3B5871-61B0-4438-992D-FA61B28E3101}"/>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8322752B-32B9-4B60-84C4-B687FB972497}"/>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311D1D7A-D518-43BD-96A2-906937F7B883}"/>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2466F954-909D-4ED1-AD81-4703FCC268B3}"/>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D0A56848-6ED8-476B-87BA-D130BCE19FC1}"/>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E2D29F9-8B5D-4F02-AE47-4830354538A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B2A16B-28BC-4FA4-A19A-4260DDCF174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F03BF9FA-111C-40D7-A53B-0C72FF097DD6}"/>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BFB1BD0B-185A-4DD4-8508-EF75090D5720}"/>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5C646E29-8E69-4315-9D36-585663B4B200}"/>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8214A22C-4334-456C-B18D-6FD351ACBF10}"/>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D693FC4C-F246-420E-AC8E-0B85D41B2B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27BACAEA-75F1-4B80-B1CB-D704D5BAA021}"/>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12267FE2-62D1-417C-8D60-FB4CB342FDAD}"/>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E959F783-25D6-4AFC-8BF0-39F15ACEE99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00B33B72-D093-48A1-874B-B3A81C7F26D3}"/>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C342FC5D-C684-4B35-9870-0599687F38C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CC300EFF-D87E-4989-929D-73B681F604C5}"/>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3D7AB8F0-B043-4ECA-A59F-CAF7AD671250}"/>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C4BA5F5C-FDF3-4BBF-97C9-79740E9E465E}"/>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AB8D940F-FD45-4FAE-BCC1-5CC2587CC300}"/>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569338D5-4CBA-4D79-90AC-46A06E21C82E}"/>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A533F783-A9B3-4D1F-9A7C-37D14611B60E}"/>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B2361D01-4587-42B1-AAC2-4FA898B5DA86}"/>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08C2CE9A-3D5B-4E02-9632-FF94A9B6BF8E}"/>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4E7A9551-7357-40B6-8B64-33C3F1EB2B3F}"/>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3FC3EE-5DA2-445B-8213-B63F9842817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2381CA82-238B-4B7D-8F15-56D67BF4CBB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0F90A91B-2623-4ADF-86A5-077C2E3FA88E}"/>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A508F00C-089A-4DF4-8BF0-A2A80524AD23}"/>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D068D351-D186-44C3-B2C4-A0E7147A64C3}"/>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CC4A9878-34B6-48E8-8E68-FC361E7B68BA}"/>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D5502A32-52DC-401A-A351-A357D166C96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B2A6768E-9E31-4777-BB22-E5DC87F3D227}"/>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983A848A-638B-4F46-82B7-678A73CEF0B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F46FB80B-B27C-4FFE-A47F-38FB1B010E7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BEB00717-7955-4CC9-A443-78EF8E8BDC08}"/>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E6EAB1FB-BB98-4DB0-81BB-86996791B266}"/>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B1AC9ACD-CB9C-41FB-BAC9-CE801D51210D}"/>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5B5D9234-F193-4CE6-BA16-66FDA00D78A9}"/>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0C8B6A13-CE61-4E30-BB99-27B097BB82DD}"/>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7709BAE1-F0E4-4D70-B06D-508CF82586A5}"/>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CB35254C-2BFF-48D4-856E-84E1F0B7634D}"/>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C61A5BD1-6D20-4640-9580-7C7AC89A9CB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AA192942-4261-4969-8D58-95D71DBEDEC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5" name="Picture 4">
            <a:extLst>
              <a:ext uri="{FF2B5EF4-FFF2-40B4-BE49-F238E27FC236}">
                <a16:creationId xmlns:a16="http://schemas.microsoft.com/office/drawing/2014/main" id="{31CBA500-1671-5C05-0069-1BCC90C9FFF0}"/>
              </a:ext>
            </a:extLst>
          </p:cNvPr>
          <p:cNvPicPr>
            <a:picLocks noChangeAspect="1"/>
          </p:cNvPicPr>
          <p:nvPr/>
        </p:nvPicPr>
        <p:blipFill>
          <a:blip r:embed="rId6"/>
          <a:stretch>
            <a:fillRect/>
          </a:stretch>
        </p:blipFill>
        <p:spPr>
          <a:xfrm>
            <a:off x="154945" y="1125941"/>
            <a:ext cx="4498253" cy="2372272"/>
          </a:xfrm>
          <a:prstGeom prst="rect">
            <a:avLst/>
          </a:prstGeom>
        </p:spPr>
      </p:pic>
      <p:sp>
        <p:nvSpPr>
          <p:cNvPr id="6" name="Google Shape;324;p20">
            <a:hlinkClick r:id="rId7" action="ppaction://hlinksldjump"/>
            <a:extLst>
              <a:ext uri="{FF2B5EF4-FFF2-40B4-BE49-F238E27FC236}">
                <a16:creationId xmlns:a16="http://schemas.microsoft.com/office/drawing/2014/main" id="{6CC0EC55-0B62-5802-021E-84680BFB9C09}"/>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7" name="Google Shape;317;p20">
            <a:hlinkClick r:id="rId5" action="ppaction://hlinksldjump"/>
            <a:extLst>
              <a:ext uri="{FF2B5EF4-FFF2-40B4-BE49-F238E27FC236}">
                <a16:creationId xmlns:a16="http://schemas.microsoft.com/office/drawing/2014/main" id="{01F6F0E1-1EB0-668C-2C9F-B07FE2C26A40}"/>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8" name="Google Shape;309;p20">
            <a:hlinkClick r:id="rId8" action="ppaction://hlinksldjump"/>
            <a:extLst>
              <a:ext uri="{FF2B5EF4-FFF2-40B4-BE49-F238E27FC236}">
                <a16:creationId xmlns:a16="http://schemas.microsoft.com/office/drawing/2014/main" id="{1CCBF2BC-F49D-0081-4A51-794F00E20F13}"/>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Tree>
    <p:extLst>
      <p:ext uri="{BB962C8B-B14F-4D97-AF65-F5344CB8AC3E}">
        <p14:creationId xmlns:p14="http://schemas.microsoft.com/office/powerpoint/2010/main" val="5104740"/>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4" fill="hold" grpId="0" nodeType="afterEffect">
                                  <p:stCondLst>
                                    <p:cond delay="0"/>
                                  </p:stCondLst>
                                  <p:childTnLst>
                                    <p:set>
                                      <p:cBhvr>
                                        <p:cTn id="33" dur="1" fill="hold">
                                          <p:stCondLst>
                                            <p:cond delay="0"/>
                                          </p:stCondLst>
                                        </p:cTn>
                                        <p:tgtEl>
                                          <p:spTgt spid="97"/>
                                        </p:tgtEl>
                                        <p:attrNameLst>
                                          <p:attrName>style.visibility</p:attrName>
                                        </p:attrNameLst>
                                      </p:cBhvr>
                                      <p:to>
                                        <p:strVal val="visible"/>
                                      </p:to>
                                    </p:set>
                                    <p:animEffect transition="in" filter="wipe(down)">
                                      <p:cBhvr>
                                        <p:cTn id="34" dur="500"/>
                                        <p:tgtEl>
                                          <p:spTgt spid="97"/>
                                        </p:tgtEl>
                                      </p:cBhvr>
                                    </p:animEffect>
                                  </p:childTnLst>
                                </p:cTn>
                              </p:par>
                              <p:par>
                                <p:cTn id="35" presetID="22" presetClass="entr" presetSubtype="4"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wipe(down)">
                                      <p:cBhvr>
                                        <p:cTn id="3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97"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87411" y="230661"/>
            <a:ext cx="204092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سقف های تیرچه بلوک</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61</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05559AB3-CDCC-4C3E-B959-1E137B18C7E7}"/>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6" name="Google Shape;301;p20">
            <a:hlinkClick r:id="rId3" action="ppaction://hlinksldjump"/>
            <a:extLst>
              <a:ext uri="{FF2B5EF4-FFF2-40B4-BE49-F238E27FC236}">
                <a16:creationId xmlns:a16="http://schemas.microsoft.com/office/drawing/2014/main" id="{2E083EF0-9789-4D5C-B966-D09D55E0B3E3}"/>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8" name="Google Shape;307;p20">
            <a:extLst>
              <a:ext uri="{FF2B5EF4-FFF2-40B4-BE49-F238E27FC236}">
                <a16:creationId xmlns:a16="http://schemas.microsoft.com/office/drawing/2014/main" id="{56B3C38E-9A4E-4265-988A-2CA290A4CA23}"/>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4" action="ppaction://hlinksldjump"/>
            <a:extLst>
              <a:ext uri="{FF2B5EF4-FFF2-40B4-BE49-F238E27FC236}">
                <a16:creationId xmlns:a16="http://schemas.microsoft.com/office/drawing/2014/main" id="{6C96D52A-2CF4-4881-A3BE-0687F9B32155}"/>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9867CBDD-48BF-4B3F-A0D8-9DDF956F69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5" action="ppaction://hlinksldjump"/>
            <a:extLst>
              <a:ext uri="{FF2B5EF4-FFF2-40B4-BE49-F238E27FC236}">
                <a16:creationId xmlns:a16="http://schemas.microsoft.com/office/drawing/2014/main" id="{5529F7B2-E9DF-4679-A77F-C14C1BCF846C}"/>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9B3EF593-AFA7-4619-8128-8B76CC3932F6}"/>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F5B579E0-7CD5-4243-8694-CFE3F411BA73}"/>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A87F6201-7A2F-4F08-95AD-7A42F36548B9}"/>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2864B5D7-C78A-4926-9AED-FCA07BD0F255}"/>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pic>
        <p:nvPicPr>
          <p:cNvPr id="2" name="Picture 1">
            <a:extLst>
              <a:ext uri="{FF2B5EF4-FFF2-40B4-BE49-F238E27FC236}">
                <a16:creationId xmlns:a16="http://schemas.microsoft.com/office/drawing/2014/main" id="{6008C311-D75C-5ABE-1B6D-03D593DD3235}"/>
              </a:ext>
            </a:extLst>
          </p:cNvPr>
          <p:cNvPicPr>
            <a:picLocks noChangeAspect="1"/>
          </p:cNvPicPr>
          <p:nvPr/>
        </p:nvPicPr>
        <p:blipFill>
          <a:blip r:embed="rId6"/>
          <a:stretch>
            <a:fillRect/>
          </a:stretch>
        </p:blipFill>
        <p:spPr>
          <a:xfrm>
            <a:off x="-68867" y="927369"/>
            <a:ext cx="3074685" cy="2983468"/>
          </a:xfrm>
          <a:prstGeom prst="rect">
            <a:avLst/>
          </a:prstGeom>
          <a:ln>
            <a:noFill/>
          </a:ln>
          <a:effectLst>
            <a:softEdge rad="112500"/>
          </a:effectLst>
        </p:spPr>
      </p:pic>
      <p:sp>
        <p:nvSpPr>
          <p:cNvPr id="97" name="Rectangle 96">
            <a:extLst>
              <a:ext uri="{FF2B5EF4-FFF2-40B4-BE49-F238E27FC236}">
                <a16:creationId xmlns:a16="http://schemas.microsoft.com/office/drawing/2014/main" id="{2C14DAC2-D9BC-443E-A78B-CC5B98D6D98D}"/>
              </a:ext>
            </a:extLst>
          </p:cNvPr>
          <p:cNvSpPr/>
          <p:nvPr/>
        </p:nvSpPr>
        <p:spPr>
          <a:xfrm>
            <a:off x="2586909" y="793735"/>
            <a:ext cx="6180225" cy="3163462"/>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در ساختمان های مسكونی و اداری، معمول است كه سطح زيرين سقف، هم سطح شده و سپس برای اندودكاری آماده شود. اين كار مطابق شكل به دو روش زيرانجام ميگيرد: </a:t>
            </a:r>
          </a:p>
          <a:p>
            <a:pPr marL="400050" indent="-400050" algn="justLow" rtl="1">
              <a:lnSpc>
                <a:spcPct val="150000"/>
              </a:lnSpc>
              <a:buFont typeface="+mj-lt"/>
              <a:buAutoNum type="romanUcPeriod"/>
            </a:pPr>
            <a:r>
              <a:rPr lang="fa-IR" sz="1600" dirty="0">
                <a:solidFill>
                  <a:schemeClr val="tx1">
                    <a:lumMod val="95000"/>
                    <a:lumOff val="5000"/>
                  </a:schemeClr>
                </a:solidFill>
                <a:cs typeface="IRAN Sans" panose="020B0400000000000000" pitchFamily="34" charset="-78"/>
              </a:rPr>
              <a:t>سطح زيرين با نصب سقف كاذب پوشانده مي شود.</a:t>
            </a:r>
          </a:p>
          <a:p>
            <a:pPr marL="400050" indent="-400050" algn="justLow" rtl="1">
              <a:lnSpc>
                <a:spcPct val="150000"/>
              </a:lnSpc>
              <a:buFont typeface="+mj-lt"/>
              <a:buAutoNum type="romanUcPeriod"/>
            </a:pPr>
            <a:r>
              <a:rPr lang="fa-IR" sz="1600" dirty="0">
                <a:solidFill>
                  <a:schemeClr val="tx1">
                    <a:lumMod val="95000"/>
                    <a:lumOff val="5000"/>
                  </a:schemeClr>
                </a:solidFill>
                <a:cs typeface="IRAN Sans" panose="020B0400000000000000" pitchFamily="34" charset="-78"/>
              </a:rPr>
              <a:t>فضای خالی بين پشتبندها، با مصالح سبك و در عين حال عايق حرارت مانند بلوكهای سفالی يا بتنی توخالی يا قطعات پلی استايرن و نظاير آنها پر ميشود.</a:t>
            </a:r>
          </a:p>
          <a:p>
            <a:pPr algn="justLow" rtl="1">
              <a:lnSpc>
                <a:spcPct val="150000"/>
              </a:lnSpc>
            </a:pPr>
            <a:r>
              <a:rPr lang="fa-IR" sz="1600" dirty="0">
                <a:solidFill>
                  <a:schemeClr val="tx1">
                    <a:lumMod val="95000"/>
                    <a:lumOff val="5000"/>
                  </a:schemeClr>
                </a:solidFill>
                <a:cs typeface="IRAN Sans" panose="020B0400000000000000" pitchFamily="34" charset="-78"/>
              </a:rPr>
              <a:t>لازم به ذكر است كه اين مصالح، تنها نقش پركننده در سقف را دارند و اگر به هر دليلي از بين بروند و يا تخريب گردند، به لحاظ سازهاي خللي ايجاد نميگردد و تنها به لحاظ معماري ممكن است نياز به بازسازي آن باشد</a:t>
            </a:r>
          </a:p>
        </p:txBody>
      </p:sp>
      <p:sp>
        <p:nvSpPr>
          <p:cNvPr id="108" name="Google Shape;326;p20">
            <a:extLst>
              <a:ext uri="{FF2B5EF4-FFF2-40B4-BE49-F238E27FC236}">
                <a16:creationId xmlns:a16="http://schemas.microsoft.com/office/drawing/2014/main" id="{C95660B3-ADB4-45D6-89B1-6A13D1474E97}"/>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F47AE61C-5B49-4DB1-BEB1-1EFB341F8B2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EE487D9D-BD67-4B8E-9EF1-61D5077369DB}"/>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4B3A63C8-64CC-4CEC-9420-FCCD13C6E63E}"/>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9EC99B3C-F658-4F0B-880E-5D654FD4009E}"/>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438B50C1-DA17-4C50-ACBC-51BCE886D203}"/>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360A3589-1ED7-4917-AB77-348294C5D686}"/>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9399A2D3-97D2-4BDD-B3F5-B6A2271DD83D}"/>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A822FC5C-9091-4988-9C00-EDE8E651B7EF}"/>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5D02F09E-E6AD-4D0A-8F99-5CF102854955}"/>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93D83A92-AAB9-4236-8B16-98A989B48364}"/>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92197BE6-7594-449D-9C56-8B395AE46CF5}"/>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9A965C90-8B28-4B12-97BF-F93B630B2596}"/>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1550BC3F-F136-4339-B7F6-679067B6BD10}"/>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2CD2DF2-E6EE-42BC-B481-BF08C80B3358}"/>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C137178D-D72E-4CCD-BDC6-485068DEE3CB}"/>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FCB6442-97DB-4390-80CC-983E1F19D026}"/>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1600519B-A869-4C42-9CB7-92ECA7315188}"/>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38BFA3F-C65E-4F76-92A9-45839BFBC6C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2B4B1ABD-C04D-48D5-AE66-AC540F23D02A}"/>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4DCDC886-F741-4FED-881C-FBE00E8B62D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C948E608-E016-4113-BADC-1925C086308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6E3B5871-61B0-4438-992D-FA61B28E3101}"/>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8322752B-32B9-4B60-84C4-B687FB972497}"/>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311D1D7A-D518-43BD-96A2-906937F7B883}"/>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2466F954-909D-4ED1-AD81-4703FCC268B3}"/>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D0A56848-6ED8-476B-87BA-D130BCE19FC1}"/>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E2D29F9-8B5D-4F02-AE47-4830354538A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B2A16B-28BC-4FA4-A19A-4260DDCF174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F03BF9FA-111C-40D7-A53B-0C72FF097DD6}"/>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BFB1BD0B-185A-4DD4-8508-EF75090D5720}"/>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5C646E29-8E69-4315-9D36-585663B4B200}"/>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8214A22C-4334-456C-B18D-6FD351ACBF10}"/>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D693FC4C-F246-420E-AC8E-0B85D41B2B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27BACAEA-75F1-4B80-B1CB-D704D5BAA021}"/>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12267FE2-62D1-417C-8D60-FB4CB342FDAD}"/>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E959F783-25D6-4AFC-8BF0-39F15ACEE99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00B33B72-D093-48A1-874B-B3A81C7F26D3}"/>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C342FC5D-C684-4B35-9870-0599687F38C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CC300EFF-D87E-4989-929D-73B681F604C5}"/>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3D7AB8F0-B043-4ECA-A59F-CAF7AD671250}"/>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C4BA5F5C-FDF3-4BBF-97C9-79740E9E465E}"/>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AB8D940F-FD45-4FAE-BCC1-5CC2587CC300}"/>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569338D5-4CBA-4D79-90AC-46A06E21C82E}"/>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A533F783-A9B3-4D1F-9A7C-37D14611B60E}"/>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B2361D01-4587-42B1-AAC2-4FA898B5DA86}"/>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08C2CE9A-3D5B-4E02-9632-FF94A9B6BF8E}"/>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4E7A9551-7357-40B6-8B64-33C3F1EB2B3F}"/>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3FC3EE-5DA2-445B-8213-B63F9842817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2381CA82-238B-4B7D-8F15-56D67BF4CBB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0F90A91B-2623-4ADF-86A5-077C2E3FA88E}"/>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A508F00C-089A-4DF4-8BF0-A2A80524AD23}"/>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D068D351-D186-44C3-B2C4-A0E7147A64C3}"/>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CC4A9878-34B6-48E8-8E68-FC361E7B68BA}"/>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D5502A32-52DC-401A-A351-A357D166C96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B2A6768E-9E31-4777-BB22-E5DC87F3D227}"/>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983A848A-638B-4F46-82B7-678A73CEF0B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F46FB80B-B27C-4FFE-A47F-38FB1B010E7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BEB00717-7955-4CC9-A443-78EF8E8BDC08}"/>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E6EAB1FB-BB98-4DB0-81BB-86996791B266}"/>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B1AC9ACD-CB9C-41FB-BAC9-CE801D51210D}"/>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5B5D9234-F193-4CE6-BA16-66FDA00D78A9}"/>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0C8B6A13-CE61-4E30-BB99-27B097BB82DD}"/>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7709BAE1-F0E4-4D70-B06D-508CF82586A5}"/>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CB35254C-2BFF-48D4-856E-84E1F0B7634D}"/>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C61A5BD1-6D20-4640-9580-7C7AC89A9CB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AA192942-4261-4969-8D58-95D71DBEDEC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 name="Google Shape;317;p20">
            <a:hlinkClick r:id="rId5" action="ppaction://hlinksldjump"/>
            <a:extLst>
              <a:ext uri="{FF2B5EF4-FFF2-40B4-BE49-F238E27FC236}">
                <a16:creationId xmlns:a16="http://schemas.microsoft.com/office/drawing/2014/main" id="{88E82C39-D9E7-A67A-5222-6BEBD35FB9E8}"/>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4" name="Google Shape;309;p20">
            <a:hlinkClick r:id="rId7" action="ppaction://hlinksldjump"/>
            <a:extLst>
              <a:ext uri="{FF2B5EF4-FFF2-40B4-BE49-F238E27FC236}">
                <a16:creationId xmlns:a16="http://schemas.microsoft.com/office/drawing/2014/main" id="{14E6A5B9-8DD5-11EA-90DC-5341D81A7D78}"/>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5" name="Google Shape;324;p20">
            <a:hlinkClick r:id="rId8" action="ppaction://hlinksldjump"/>
            <a:extLst>
              <a:ext uri="{FF2B5EF4-FFF2-40B4-BE49-F238E27FC236}">
                <a16:creationId xmlns:a16="http://schemas.microsoft.com/office/drawing/2014/main" id="{F53BAE9C-DF3B-2D2E-E294-C6189C0481F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4082265939"/>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4" fill="hold" grpId="0" nodeType="afterEffect">
                                  <p:stCondLst>
                                    <p:cond delay="0"/>
                                  </p:stCondLst>
                                  <p:childTnLst>
                                    <p:set>
                                      <p:cBhvr>
                                        <p:cTn id="33" dur="1" fill="hold">
                                          <p:stCondLst>
                                            <p:cond delay="0"/>
                                          </p:stCondLst>
                                        </p:cTn>
                                        <p:tgtEl>
                                          <p:spTgt spid="97"/>
                                        </p:tgtEl>
                                        <p:attrNameLst>
                                          <p:attrName>style.visibility</p:attrName>
                                        </p:attrNameLst>
                                      </p:cBhvr>
                                      <p:to>
                                        <p:strVal val="visible"/>
                                      </p:to>
                                    </p:set>
                                    <p:animEffect transition="in" filter="wipe(down)">
                                      <p:cBhvr>
                                        <p:cTn id="34" dur="500"/>
                                        <p:tgtEl>
                                          <p:spTgt spid="97"/>
                                        </p:tgtEl>
                                      </p:cBhvr>
                                    </p:animEffect>
                                  </p:childTnLst>
                                </p:cTn>
                              </p:par>
                            </p:childTnLst>
                          </p:cTn>
                        </p:par>
                        <p:par>
                          <p:cTn id="35" fill="hold">
                            <p:stCondLst>
                              <p:cond delay="2550"/>
                            </p:stCondLst>
                            <p:childTnLst>
                              <p:par>
                                <p:cTn id="36" presetID="10" presetClass="entr" presetSubtype="0" fill="hold" nodeType="after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fade">
                                      <p:cBhvr>
                                        <p:cTn id="3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97"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787411" y="230661"/>
            <a:ext cx="2040925"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سقف های تیرچه بلوک</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62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05559AB3-CDCC-4C3E-B959-1E137B18C7E7}"/>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6" name="Google Shape;301;p20">
            <a:hlinkClick r:id="rId3" action="ppaction://hlinksldjump"/>
            <a:extLst>
              <a:ext uri="{FF2B5EF4-FFF2-40B4-BE49-F238E27FC236}">
                <a16:creationId xmlns:a16="http://schemas.microsoft.com/office/drawing/2014/main" id="{2E083EF0-9789-4D5C-B966-D09D55E0B3E3}"/>
              </a:ext>
            </a:extLst>
          </p:cNvPr>
          <p:cNvSpPr txBox="1"/>
          <p:nvPr/>
        </p:nvSpPr>
        <p:spPr>
          <a:xfrm>
            <a:off x="22840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8" name="Google Shape;307;p20">
            <a:extLst>
              <a:ext uri="{FF2B5EF4-FFF2-40B4-BE49-F238E27FC236}">
                <a16:creationId xmlns:a16="http://schemas.microsoft.com/office/drawing/2014/main" id="{56B3C38E-9A4E-4265-988A-2CA290A4CA23}"/>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9;p20">
            <a:hlinkClick r:id="rId4" action="ppaction://hlinksldjump"/>
            <a:extLst>
              <a:ext uri="{FF2B5EF4-FFF2-40B4-BE49-F238E27FC236}">
                <a16:creationId xmlns:a16="http://schemas.microsoft.com/office/drawing/2014/main" id="{6C96D52A-2CF4-4881-A3BE-0687F9B32155}"/>
              </a:ext>
            </a:extLst>
          </p:cNvPr>
          <p:cNvSpPr txBox="1"/>
          <p:nvPr/>
        </p:nvSpPr>
        <p:spPr>
          <a:xfrm>
            <a:off x="3208862"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0" name="Google Shape;315;p20">
            <a:extLst>
              <a:ext uri="{FF2B5EF4-FFF2-40B4-BE49-F238E27FC236}">
                <a16:creationId xmlns:a16="http://schemas.microsoft.com/office/drawing/2014/main" id="{9867CBDD-48BF-4B3F-A0D8-9DDF956F69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7;p20">
            <a:hlinkClick r:id="rId5" action="ppaction://hlinksldjump"/>
            <a:extLst>
              <a:ext uri="{FF2B5EF4-FFF2-40B4-BE49-F238E27FC236}">
                <a16:creationId xmlns:a16="http://schemas.microsoft.com/office/drawing/2014/main" id="{5529F7B2-E9DF-4679-A77F-C14C1BCF846C}"/>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2" name="Google Shape;322;p20">
            <a:extLst>
              <a:ext uri="{FF2B5EF4-FFF2-40B4-BE49-F238E27FC236}">
                <a16:creationId xmlns:a16="http://schemas.microsoft.com/office/drawing/2014/main" id="{9B3EF593-AFA7-4619-8128-8B76CC3932F6}"/>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F5B579E0-7CD5-4243-8694-CFE3F411BA73}"/>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7;p20">
            <a:extLst>
              <a:ext uri="{FF2B5EF4-FFF2-40B4-BE49-F238E27FC236}">
                <a16:creationId xmlns:a16="http://schemas.microsoft.com/office/drawing/2014/main" id="{A87F6201-7A2F-4F08-95AD-7A42F36548B9}"/>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9;p20">
            <a:hlinkClick r:id="" action="ppaction://noaction"/>
            <a:extLst>
              <a:ext uri="{FF2B5EF4-FFF2-40B4-BE49-F238E27FC236}">
                <a16:creationId xmlns:a16="http://schemas.microsoft.com/office/drawing/2014/main" id="{2864B5D7-C78A-4926-9AED-FCA07BD0F255}"/>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97" name="Rectangle 96">
            <a:extLst>
              <a:ext uri="{FF2B5EF4-FFF2-40B4-BE49-F238E27FC236}">
                <a16:creationId xmlns:a16="http://schemas.microsoft.com/office/drawing/2014/main" id="{2C14DAC2-D9BC-443E-A78B-CC5B98D6D98D}"/>
              </a:ext>
            </a:extLst>
          </p:cNvPr>
          <p:cNvSpPr/>
          <p:nvPr/>
        </p:nvSpPr>
        <p:spPr>
          <a:xfrm>
            <a:off x="3823266" y="772029"/>
            <a:ext cx="5186598" cy="3163462"/>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همانطور كه مشاهده ميشود، بلوك هاي توخالي به صورت قالب قسمت عمده اي از سطح زيرين دال عمل ميكنند و قالب سرتاسري زيرين، تنها براي سطح پايين جان تيرها و همچنين نگهداري خود بلوك ها لازم است. </a:t>
            </a:r>
          </a:p>
          <a:p>
            <a:pPr algn="justLow" rtl="1">
              <a:lnSpc>
                <a:spcPct val="150000"/>
              </a:lnSpc>
            </a:pPr>
            <a:r>
              <a:rPr lang="fa-IR" sz="1600" dirty="0">
                <a:solidFill>
                  <a:schemeClr val="tx1">
                    <a:lumMod val="95000"/>
                    <a:lumOff val="5000"/>
                  </a:schemeClr>
                </a:solidFill>
                <a:cs typeface="IRAN Sans" panose="020B0400000000000000" pitchFamily="34" charset="-78"/>
              </a:rPr>
              <a:t>درصورت استفاده از بلوك به عنوان مصالح پركنندة سقف، همانطور كه در نشان داده شده است، اين اعضا به عنوان قالب بخش وسيعي از سطح زيرين دال عمل ميكند و قالب سرتاسري زيرين تنها براي سطح پايين جان تيرها و نيز نگهداري خود بلوك ها لازم است.</a:t>
            </a:r>
          </a:p>
        </p:txBody>
      </p:sp>
      <p:sp>
        <p:nvSpPr>
          <p:cNvPr id="108" name="Google Shape;326;p20">
            <a:extLst>
              <a:ext uri="{FF2B5EF4-FFF2-40B4-BE49-F238E27FC236}">
                <a16:creationId xmlns:a16="http://schemas.microsoft.com/office/drawing/2014/main" id="{C95660B3-ADB4-45D6-89B1-6A13D1474E97}"/>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03;p20">
            <a:extLst>
              <a:ext uri="{FF2B5EF4-FFF2-40B4-BE49-F238E27FC236}">
                <a16:creationId xmlns:a16="http://schemas.microsoft.com/office/drawing/2014/main" id="{F47AE61C-5B49-4DB1-BEB1-1EFB341F8B2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11;p20">
            <a:extLst>
              <a:ext uri="{FF2B5EF4-FFF2-40B4-BE49-F238E27FC236}">
                <a16:creationId xmlns:a16="http://schemas.microsoft.com/office/drawing/2014/main" id="{EE487D9D-BD67-4B8E-9EF1-61D5077369DB}"/>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29;p20">
            <a:extLst>
              <a:ext uri="{FF2B5EF4-FFF2-40B4-BE49-F238E27FC236}">
                <a16:creationId xmlns:a16="http://schemas.microsoft.com/office/drawing/2014/main" id="{4B3A63C8-64CC-4CEC-9420-FCCD13C6E63E}"/>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9EC99B3C-F658-4F0B-880E-5D654FD4009E}"/>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438B50C1-DA17-4C50-ACBC-51BCE886D203}"/>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4" name="Group 113">
            <a:extLst>
              <a:ext uri="{FF2B5EF4-FFF2-40B4-BE49-F238E27FC236}">
                <a16:creationId xmlns:a16="http://schemas.microsoft.com/office/drawing/2014/main" id="{360A3589-1ED7-4917-AB77-348294C5D686}"/>
              </a:ext>
            </a:extLst>
          </p:cNvPr>
          <p:cNvGrpSpPr/>
          <p:nvPr/>
        </p:nvGrpSpPr>
        <p:grpSpPr>
          <a:xfrm>
            <a:off x="2090313" y="4055040"/>
            <a:ext cx="496596" cy="647522"/>
            <a:chOff x="2090313" y="4055040"/>
            <a:chExt cx="496596" cy="647522"/>
          </a:xfrm>
        </p:grpSpPr>
        <p:cxnSp>
          <p:nvCxnSpPr>
            <p:cNvPr id="115" name="Google Shape;327;p20">
              <a:extLst>
                <a:ext uri="{FF2B5EF4-FFF2-40B4-BE49-F238E27FC236}">
                  <a16:creationId xmlns:a16="http://schemas.microsoft.com/office/drawing/2014/main" id="{9399A2D3-97D2-4BDD-B3F5-B6A2271DD83D}"/>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6" name="Google Shape;325;p20">
              <a:extLst>
                <a:ext uri="{FF2B5EF4-FFF2-40B4-BE49-F238E27FC236}">
                  <a16:creationId xmlns:a16="http://schemas.microsoft.com/office/drawing/2014/main" id="{A822FC5C-9091-4988-9C00-EDE8E651B7EF}"/>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5D02F09E-E6AD-4D0A-8F99-5CF102854955}"/>
                </a:ext>
              </a:extLst>
            </p:cNvPr>
            <p:cNvGrpSpPr/>
            <p:nvPr/>
          </p:nvGrpSpPr>
          <p:grpSpPr>
            <a:xfrm>
              <a:off x="2221611" y="4179917"/>
              <a:ext cx="234000" cy="234000"/>
              <a:chOff x="2247014" y="4211643"/>
              <a:chExt cx="183194" cy="183390"/>
            </a:xfrm>
          </p:grpSpPr>
          <p:sp>
            <p:nvSpPr>
              <p:cNvPr id="118" name="Google Shape;331;p20">
                <a:extLst>
                  <a:ext uri="{FF2B5EF4-FFF2-40B4-BE49-F238E27FC236}">
                    <a16:creationId xmlns:a16="http://schemas.microsoft.com/office/drawing/2014/main" id="{93D83A92-AAB9-4236-8B16-98A989B48364}"/>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2;p20">
                <a:extLst>
                  <a:ext uri="{FF2B5EF4-FFF2-40B4-BE49-F238E27FC236}">
                    <a16:creationId xmlns:a16="http://schemas.microsoft.com/office/drawing/2014/main" id="{92197BE6-7594-449D-9C56-8B395AE46CF5}"/>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3;p20">
                <a:extLst>
                  <a:ext uri="{FF2B5EF4-FFF2-40B4-BE49-F238E27FC236}">
                    <a16:creationId xmlns:a16="http://schemas.microsoft.com/office/drawing/2014/main" id="{9A965C90-8B28-4B12-97BF-F93B630B2596}"/>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4;p20">
                <a:extLst>
                  <a:ext uri="{FF2B5EF4-FFF2-40B4-BE49-F238E27FC236}">
                    <a16:creationId xmlns:a16="http://schemas.microsoft.com/office/drawing/2014/main" id="{1550BC3F-F136-4339-B7F6-679067B6BD10}"/>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5;p20">
                <a:extLst>
                  <a:ext uri="{FF2B5EF4-FFF2-40B4-BE49-F238E27FC236}">
                    <a16:creationId xmlns:a16="http://schemas.microsoft.com/office/drawing/2014/main" id="{62CD2DF2-E6EE-42BC-B481-BF08C80B3358}"/>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6;p20">
                <a:extLst>
                  <a:ext uri="{FF2B5EF4-FFF2-40B4-BE49-F238E27FC236}">
                    <a16:creationId xmlns:a16="http://schemas.microsoft.com/office/drawing/2014/main" id="{C137178D-D72E-4CCD-BDC6-485068DEE3CB}"/>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7;p20">
                <a:extLst>
                  <a:ext uri="{FF2B5EF4-FFF2-40B4-BE49-F238E27FC236}">
                    <a16:creationId xmlns:a16="http://schemas.microsoft.com/office/drawing/2014/main" id="{7FCB6442-97DB-4390-80CC-983E1F19D026}"/>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8;p20">
                <a:extLst>
                  <a:ext uri="{FF2B5EF4-FFF2-40B4-BE49-F238E27FC236}">
                    <a16:creationId xmlns:a16="http://schemas.microsoft.com/office/drawing/2014/main" id="{1600519B-A869-4C42-9CB7-92ECA7315188}"/>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9;p20">
                <a:extLst>
                  <a:ext uri="{FF2B5EF4-FFF2-40B4-BE49-F238E27FC236}">
                    <a16:creationId xmlns:a16="http://schemas.microsoft.com/office/drawing/2014/main" id="{838BFA3F-C65E-4F76-92A9-45839BFBC6C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0;p20">
                <a:extLst>
                  <a:ext uri="{FF2B5EF4-FFF2-40B4-BE49-F238E27FC236}">
                    <a16:creationId xmlns:a16="http://schemas.microsoft.com/office/drawing/2014/main" id="{2B4B1ABD-C04D-48D5-AE66-AC540F23D02A}"/>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1;p20">
                <a:extLst>
                  <a:ext uri="{FF2B5EF4-FFF2-40B4-BE49-F238E27FC236}">
                    <a16:creationId xmlns:a16="http://schemas.microsoft.com/office/drawing/2014/main" id="{4DCDC886-F741-4FED-881C-FBE00E8B62D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2;p20">
                <a:extLst>
                  <a:ext uri="{FF2B5EF4-FFF2-40B4-BE49-F238E27FC236}">
                    <a16:creationId xmlns:a16="http://schemas.microsoft.com/office/drawing/2014/main" id="{C948E608-E016-4113-BADC-1925C086308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3;p20">
                <a:extLst>
                  <a:ext uri="{FF2B5EF4-FFF2-40B4-BE49-F238E27FC236}">
                    <a16:creationId xmlns:a16="http://schemas.microsoft.com/office/drawing/2014/main" id="{6E3B5871-61B0-4438-992D-FA61B28E3101}"/>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1" name="Group 130">
            <a:extLst>
              <a:ext uri="{FF2B5EF4-FFF2-40B4-BE49-F238E27FC236}">
                <a16:creationId xmlns:a16="http://schemas.microsoft.com/office/drawing/2014/main" id="{8322752B-32B9-4B60-84C4-B687FB972497}"/>
              </a:ext>
            </a:extLst>
          </p:cNvPr>
          <p:cNvGrpSpPr/>
          <p:nvPr/>
        </p:nvGrpSpPr>
        <p:grpSpPr>
          <a:xfrm>
            <a:off x="600089" y="4055040"/>
            <a:ext cx="496596" cy="647483"/>
            <a:chOff x="600089" y="4055040"/>
            <a:chExt cx="496596" cy="647483"/>
          </a:xfrm>
        </p:grpSpPr>
        <p:cxnSp>
          <p:nvCxnSpPr>
            <p:cNvPr id="132" name="Google Shape;304;p20">
              <a:extLst>
                <a:ext uri="{FF2B5EF4-FFF2-40B4-BE49-F238E27FC236}">
                  <a16:creationId xmlns:a16="http://schemas.microsoft.com/office/drawing/2014/main" id="{311D1D7A-D518-43BD-96A2-906937F7B883}"/>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3" name="Google Shape;302;p20">
              <a:extLst>
                <a:ext uri="{FF2B5EF4-FFF2-40B4-BE49-F238E27FC236}">
                  <a16:creationId xmlns:a16="http://schemas.microsoft.com/office/drawing/2014/main" id="{2466F954-909D-4ED1-AD81-4703FCC268B3}"/>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4" name="Group 133">
              <a:extLst>
                <a:ext uri="{FF2B5EF4-FFF2-40B4-BE49-F238E27FC236}">
                  <a16:creationId xmlns:a16="http://schemas.microsoft.com/office/drawing/2014/main" id="{D0A56848-6ED8-476B-87BA-D130BCE19FC1}"/>
                </a:ext>
              </a:extLst>
            </p:cNvPr>
            <p:cNvGrpSpPr/>
            <p:nvPr/>
          </p:nvGrpSpPr>
          <p:grpSpPr>
            <a:xfrm>
              <a:off x="718825" y="4179544"/>
              <a:ext cx="252000" cy="234000"/>
              <a:chOff x="760166" y="4216727"/>
              <a:chExt cx="176529" cy="173221"/>
            </a:xfrm>
          </p:grpSpPr>
          <p:sp>
            <p:nvSpPr>
              <p:cNvPr id="135" name="Google Shape;345;p20">
                <a:extLst>
                  <a:ext uri="{FF2B5EF4-FFF2-40B4-BE49-F238E27FC236}">
                    <a16:creationId xmlns:a16="http://schemas.microsoft.com/office/drawing/2014/main" id="{AE2D29F9-8B5D-4F02-AE47-4830354538A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6;p20">
                <a:extLst>
                  <a:ext uri="{FF2B5EF4-FFF2-40B4-BE49-F238E27FC236}">
                    <a16:creationId xmlns:a16="http://schemas.microsoft.com/office/drawing/2014/main" id="{2AB2A16B-28BC-4FA4-A19A-4260DDCF174D}"/>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7;p20">
                <a:extLst>
                  <a:ext uri="{FF2B5EF4-FFF2-40B4-BE49-F238E27FC236}">
                    <a16:creationId xmlns:a16="http://schemas.microsoft.com/office/drawing/2014/main" id="{F03BF9FA-111C-40D7-A53B-0C72FF097DD6}"/>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8" name="Group 137">
            <a:extLst>
              <a:ext uri="{FF2B5EF4-FFF2-40B4-BE49-F238E27FC236}">
                <a16:creationId xmlns:a16="http://schemas.microsoft.com/office/drawing/2014/main" id="{BFB1BD0B-185A-4DD4-8508-EF75090D5720}"/>
              </a:ext>
            </a:extLst>
          </p:cNvPr>
          <p:cNvGrpSpPr/>
          <p:nvPr/>
        </p:nvGrpSpPr>
        <p:grpSpPr>
          <a:xfrm>
            <a:off x="3580536" y="4055040"/>
            <a:ext cx="496596" cy="647522"/>
            <a:chOff x="3580536" y="4055040"/>
            <a:chExt cx="496596" cy="647522"/>
          </a:xfrm>
        </p:grpSpPr>
        <p:cxnSp>
          <p:nvCxnSpPr>
            <p:cNvPr id="139" name="Google Shape;312;p20">
              <a:extLst>
                <a:ext uri="{FF2B5EF4-FFF2-40B4-BE49-F238E27FC236}">
                  <a16:creationId xmlns:a16="http://schemas.microsoft.com/office/drawing/2014/main" id="{5C646E29-8E69-4315-9D36-585663B4B200}"/>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0" name="Google Shape;310;p20">
              <a:extLst>
                <a:ext uri="{FF2B5EF4-FFF2-40B4-BE49-F238E27FC236}">
                  <a16:creationId xmlns:a16="http://schemas.microsoft.com/office/drawing/2014/main" id="{8214A22C-4334-456C-B18D-6FD351ACBF10}"/>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1" name="Google Shape;348;p20">
              <a:extLst>
                <a:ext uri="{FF2B5EF4-FFF2-40B4-BE49-F238E27FC236}">
                  <a16:creationId xmlns:a16="http://schemas.microsoft.com/office/drawing/2014/main" id="{D693FC4C-F246-420E-AC8E-0B85D41B2B6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2" name="Group 141">
            <a:extLst>
              <a:ext uri="{FF2B5EF4-FFF2-40B4-BE49-F238E27FC236}">
                <a16:creationId xmlns:a16="http://schemas.microsoft.com/office/drawing/2014/main" id="{27BACAEA-75F1-4B80-B1CB-D704D5BAA021}"/>
              </a:ext>
            </a:extLst>
          </p:cNvPr>
          <p:cNvGrpSpPr/>
          <p:nvPr/>
        </p:nvGrpSpPr>
        <p:grpSpPr>
          <a:xfrm>
            <a:off x="5067104" y="4055039"/>
            <a:ext cx="496596" cy="647522"/>
            <a:chOff x="5067104" y="4055039"/>
            <a:chExt cx="496596" cy="647522"/>
          </a:xfrm>
        </p:grpSpPr>
        <p:cxnSp>
          <p:nvCxnSpPr>
            <p:cNvPr id="143" name="Google Shape;312;p20">
              <a:extLst>
                <a:ext uri="{FF2B5EF4-FFF2-40B4-BE49-F238E27FC236}">
                  <a16:creationId xmlns:a16="http://schemas.microsoft.com/office/drawing/2014/main" id="{12267FE2-62D1-417C-8D60-FB4CB342FDAD}"/>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4" name="Google Shape;310;p20">
              <a:extLst>
                <a:ext uri="{FF2B5EF4-FFF2-40B4-BE49-F238E27FC236}">
                  <a16:creationId xmlns:a16="http://schemas.microsoft.com/office/drawing/2014/main" id="{E959F783-25D6-4AFC-8BF0-39F15ACEE991}"/>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5" name="Google Shape;364;p21">
              <a:extLst>
                <a:ext uri="{FF2B5EF4-FFF2-40B4-BE49-F238E27FC236}">
                  <a16:creationId xmlns:a16="http://schemas.microsoft.com/office/drawing/2014/main" id="{00B33B72-D093-48A1-874B-B3A81C7F26D3}"/>
                </a:ext>
              </a:extLst>
            </p:cNvPr>
            <p:cNvGrpSpPr/>
            <p:nvPr/>
          </p:nvGrpSpPr>
          <p:grpSpPr>
            <a:xfrm>
              <a:off x="5191745" y="4172810"/>
              <a:ext cx="247311" cy="230069"/>
              <a:chOff x="6577238" y="2457221"/>
              <a:chExt cx="332019" cy="310788"/>
            </a:xfrm>
            <a:solidFill>
              <a:schemeClr val="bg1"/>
            </a:solidFill>
          </p:grpSpPr>
          <p:sp>
            <p:nvSpPr>
              <p:cNvPr id="146" name="Google Shape;365;p21">
                <a:extLst>
                  <a:ext uri="{FF2B5EF4-FFF2-40B4-BE49-F238E27FC236}">
                    <a16:creationId xmlns:a16="http://schemas.microsoft.com/office/drawing/2014/main" id="{C342FC5D-C684-4B35-9870-0599687F38C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66;p21">
                <a:extLst>
                  <a:ext uri="{FF2B5EF4-FFF2-40B4-BE49-F238E27FC236}">
                    <a16:creationId xmlns:a16="http://schemas.microsoft.com/office/drawing/2014/main" id="{CC300EFF-D87E-4989-929D-73B681F604C5}"/>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7;p21">
                <a:extLst>
                  <a:ext uri="{FF2B5EF4-FFF2-40B4-BE49-F238E27FC236}">
                    <a16:creationId xmlns:a16="http://schemas.microsoft.com/office/drawing/2014/main" id="{3D7AB8F0-B043-4ECA-A59F-CAF7AD671250}"/>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8;p21">
                <a:extLst>
                  <a:ext uri="{FF2B5EF4-FFF2-40B4-BE49-F238E27FC236}">
                    <a16:creationId xmlns:a16="http://schemas.microsoft.com/office/drawing/2014/main" id="{C4BA5F5C-FDF3-4BBF-97C9-79740E9E465E}"/>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9;p21">
                <a:extLst>
                  <a:ext uri="{FF2B5EF4-FFF2-40B4-BE49-F238E27FC236}">
                    <a16:creationId xmlns:a16="http://schemas.microsoft.com/office/drawing/2014/main" id="{AB8D940F-FD45-4FAE-BCC1-5CC2587CC300}"/>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70;p21">
                <a:extLst>
                  <a:ext uri="{FF2B5EF4-FFF2-40B4-BE49-F238E27FC236}">
                    <a16:creationId xmlns:a16="http://schemas.microsoft.com/office/drawing/2014/main" id="{569338D5-4CBA-4D79-90AC-46A06E21C82E}"/>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 name="Group 198">
            <a:extLst>
              <a:ext uri="{FF2B5EF4-FFF2-40B4-BE49-F238E27FC236}">
                <a16:creationId xmlns:a16="http://schemas.microsoft.com/office/drawing/2014/main" id="{A533F783-A9B3-4D1F-9A7C-37D14611B60E}"/>
              </a:ext>
            </a:extLst>
          </p:cNvPr>
          <p:cNvGrpSpPr/>
          <p:nvPr/>
        </p:nvGrpSpPr>
        <p:grpSpPr>
          <a:xfrm>
            <a:off x="6557210" y="4055039"/>
            <a:ext cx="496596" cy="647522"/>
            <a:chOff x="6557210" y="4055039"/>
            <a:chExt cx="496596" cy="647522"/>
          </a:xfrm>
        </p:grpSpPr>
        <p:cxnSp>
          <p:nvCxnSpPr>
            <p:cNvPr id="202" name="Google Shape;312;p20">
              <a:extLst>
                <a:ext uri="{FF2B5EF4-FFF2-40B4-BE49-F238E27FC236}">
                  <a16:creationId xmlns:a16="http://schemas.microsoft.com/office/drawing/2014/main" id="{B2361D01-4587-42B1-AAC2-4FA898B5DA86}"/>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3" name="Google Shape;310;p20">
              <a:extLst>
                <a:ext uri="{FF2B5EF4-FFF2-40B4-BE49-F238E27FC236}">
                  <a16:creationId xmlns:a16="http://schemas.microsoft.com/office/drawing/2014/main" id="{08C2CE9A-3D5B-4E02-9632-FF94A9B6BF8E}"/>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4" name="Google Shape;492;p23">
              <a:extLst>
                <a:ext uri="{FF2B5EF4-FFF2-40B4-BE49-F238E27FC236}">
                  <a16:creationId xmlns:a16="http://schemas.microsoft.com/office/drawing/2014/main" id="{4E7A9551-7357-40B6-8B64-33C3F1EB2B3F}"/>
                </a:ext>
              </a:extLst>
            </p:cNvPr>
            <p:cNvGrpSpPr/>
            <p:nvPr/>
          </p:nvGrpSpPr>
          <p:grpSpPr>
            <a:xfrm>
              <a:off x="6681779" y="4170275"/>
              <a:ext cx="252000" cy="252000"/>
              <a:chOff x="2280029" y="1970604"/>
              <a:chExt cx="353631" cy="354395"/>
            </a:xfrm>
          </p:grpSpPr>
          <p:sp>
            <p:nvSpPr>
              <p:cNvPr id="205" name="Google Shape;493;p23">
                <a:extLst>
                  <a:ext uri="{FF2B5EF4-FFF2-40B4-BE49-F238E27FC236}">
                    <a16:creationId xmlns:a16="http://schemas.microsoft.com/office/drawing/2014/main" id="{A03FC3EE-5DA2-445B-8213-B63F9842817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94;p23">
                <a:extLst>
                  <a:ext uri="{FF2B5EF4-FFF2-40B4-BE49-F238E27FC236}">
                    <a16:creationId xmlns:a16="http://schemas.microsoft.com/office/drawing/2014/main" id="{2381CA82-238B-4B7D-8F15-56D67BF4CBB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5;p23">
                <a:extLst>
                  <a:ext uri="{FF2B5EF4-FFF2-40B4-BE49-F238E27FC236}">
                    <a16:creationId xmlns:a16="http://schemas.microsoft.com/office/drawing/2014/main" id="{0F90A91B-2623-4ADF-86A5-077C2E3FA88E}"/>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6;p23">
                <a:extLst>
                  <a:ext uri="{FF2B5EF4-FFF2-40B4-BE49-F238E27FC236}">
                    <a16:creationId xmlns:a16="http://schemas.microsoft.com/office/drawing/2014/main" id="{A508F00C-089A-4DF4-8BF0-A2A80524AD23}"/>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9" name="Group 208">
            <a:extLst>
              <a:ext uri="{FF2B5EF4-FFF2-40B4-BE49-F238E27FC236}">
                <a16:creationId xmlns:a16="http://schemas.microsoft.com/office/drawing/2014/main" id="{D068D351-D186-44C3-B2C4-A0E7147A64C3}"/>
              </a:ext>
            </a:extLst>
          </p:cNvPr>
          <p:cNvGrpSpPr/>
          <p:nvPr/>
        </p:nvGrpSpPr>
        <p:grpSpPr>
          <a:xfrm>
            <a:off x="8047295" y="4055039"/>
            <a:ext cx="496596" cy="647522"/>
            <a:chOff x="8047295" y="4055039"/>
            <a:chExt cx="496596" cy="647522"/>
          </a:xfrm>
        </p:grpSpPr>
        <p:cxnSp>
          <p:nvCxnSpPr>
            <p:cNvPr id="210" name="Google Shape;319;p20">
              <a:extLst>
                <a:ext uri="{FF2B5EF4-FFF2-40B4-BE49-F238E27FC236}">
                  <a16:creationId xmlns:a16="http://schemas.microsoft.com/office/drawing/2014/main" id="{CC4A9878-34B6-48E8-8E68-FC361E7B68BA}"/>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1" name="Google Shape;318;p20">
              <a:extLst>
                <a:ext uri="{FF2B5EF4-FFF2-40B4-BE49-F238E27FC236}">
                  <a16:creationId xmlns:a16="http://schemas.microsoft.com/office/drawing/2014/main" id="{D5502A32-52DC-401A-A351-A357D166C96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2" name="Google Shape;764;p28">
              <a:extLst>
                <a:ext uri="{FF2B5EF4-FFF2-40B4-BE49-F238E27FC236}">
                  <a16:creationId xmlns:a16="http://schemas.microsoft.com/office/drawing/2014/main" id="{B2A6768E-9E31-4777-BB22-E5DC87F3D227}"/>
                </a:ext>
              </a:extLst>
            </p:cNvPr>
            <p:cNvGrpSpPr/>
            <p:nvPr/>
          </p:nvGrpSpPr>
          <p:grpSpPr>
            <a:xfrm>
              <a:off x="8205593" y="4170275"/>
              <a:ext cx="180000" cy="252000"/>
              <a:chOff x="1333682" y="3344330"/>
              <a:chExt cx="271213" cy="383088"/>
            </a:xfrm>
            <a:solidFill>
              <a:schemeClr val="bg1"/>
            </a:solidFill>
          </p:grpSpPr>
          <p:sp>
            <p:nvSpPr>
              <p:cNvPr id="213" name="Google Shape;765;p28">
                <a:extLst>
                  <a:ext uri="{FF2B5EF4-FFF2-40B4-BE49-F238E27FC236}">
                    <a16:creationId xmlns:a16="http://schemas.microsoft.com/office/drawing/2014/main" id="{983A848A-638B-4F46-82B7-678A73CEF0B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66;p28">
                <a:extLst>
                  <a:ext uri="{FF2B5EF4-FFF2-40B4-BE49-F238E27FC236}">
                    <a16:creationId xmlns:a16="http://schemas.microsoft.com/office/drawing/2014/main" id="{F46FB80B-B27C-4FFE-A47F-38FB1B010E7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7;p28">
                <a:extLst>
                  <a:ext uri="{FF2B5EF4-FFF2-40B4-BE49-F238E27FC236}">
                    <a16:creationId xmlns:a16="http://schemas.microsoft.com/office/drawing/2014/main" id="{BEB00717-7955-4CC9-A443-78EF8E8BDC08}"/>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8;p28">
                <a:extLst>
                  <a:ext uri="{FF2B5EF4-FFF2-40B4-BE49-F238E27FC236}">
                    <a16:creationId xmlns:a16="http://schemas.microsoft.com/office/drawing/2014/main" id="{E6EAB1FB-BB98-4DB0-81BB-86996791B266}"/>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9;p28">
                <a:extLst>
                  <a:ext uri="{FF2B5EF4-FFF2-40B4-BE49-F238E27FC236}">
                    <a16:creationId xmlns:a16="http://schemas.microsoft.com/office/drawing/2014/main" id="{B1AC9ACD-CB9C-41FB-BAC9-CE801D51210D}"/>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70;p28">
                <a:extLst>
                  <a:ext uri="{FF2B5EF4-FFF2-40B4-BE49-F238E27FC236}">
                    <a16:creationId xmlns:a16="http://schemas.microsoft.com/office/drawing/2014/main" id="{5B5D9234-F193-4CE6-BA16-66FDA00D78A9}"/>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1;p28">
                <a:extLst>
                  <a:ext uri="{FF2B5EF4-FFF2-40B4-BE49-F238E27FC236}">
                    <a16:creationId xmlns:a16="http://schemas.microsoft.com/office/drawing/2014/main" id="{0C8B6A13-CE61-4E30-BB99-27B097BB82DD}"/>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2;p28">
                <a:extLst>
                  <a:ext uri="{FF2B5EF4-FFF2-40B4-BE49-F238E27FC236}">
                    <a16:creationId xmlns:a16="http://schemas.microsoft.com/office/drawing/2014/main" id="{7709BAE1-F0E4-4D70-B06D-508CF82586A5}"/>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3;p28">
                <a:extLst>
                  <a:ext uri="{FF2B5EF4-FFF2-40B4-BE49-F238E27FC236}">
                    <a16:creationId xmlns:a16="http://schemas.microsoft.com/office/drawing/2014/main" id="{CB35254C-2BFF-48D4-856E-84E1F0B7634D}"/>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4;p28">
                <a:extLst>
                  <a:ext uri="{FF2B5EF4-FFF2-40B4-BE49-F238E27FC236}">
                    <a16:creationId xmlns:a16="http://schemas.microsoft.com/office/drawing/2014/main" id="{C61A5BD1-6D20-4640-9580-7C7AC89A9CB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5;p28">
                <a:extLst>
                  <a:ext uri="{FF2B5EF4-FFF2-40B4-BE49-F238E27FC236}">
                    <a16:creationId xmlns:a16="http://schemas.microsoft.com/office/drawing/2014/main" id="{AA192942-4261-4969-8D58-95D71DBEDEC4}"/>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4" name="Picture 3">
            <a:extLst>
              <a:ext uri="{FF2B5EF4-FFF2-40B4-BE49-F238E27FC236}">
                <a16:creationId xmlns:a16="http://schemas.microsoft.com/office/drawing/2014/main" id="{0AE6E843-45FD-1C8E-A3F4-D2B2754613B0}"/>
              </a:ext>
            </a:extLst>
          </p:cNvPr>
          <p:cNvPicPr>
            <a:picLocks noChangeAspect="1"/>
          </p:cNvPicPr>
          <p:nvPr/>
        </p:nvPicPr>
        <p:blipFill>
          <a:blip r:embed="rId6"/>
          <a:stretch>
            <a:fillRect/>
          </a:stretch>
        </p:blipFill>
        <p:spPr>
          <a:xfrm>
            <a:off x="71939" y="848133"/>
            <a:ext cx="3751327" cy="2889776"/>
          </a:xfrm>
          <a:prstGeom prst="rect">
            <a:avLst/>
          </a:prstGeom>
        </p:spPr>
      </p:pic>
      <p:sp>
        <p:nvSpPr>
          <p:cNvPr id="5" name="Google Shape;317;p20">
            <a:hlinkClick r:id="rId5" action="ppaction://hlinksldjump"/>
            <a:extLst>
              <a:ext uri="{FF2B5EF4-FFF2-40B4-BE49-F238E27FC236}">
                <a16:creationId xmlns:a16="http://schemas.microsoft.com/office/drawing/2014/main" id="{500E0819-6EDD-4E74-6978-B76F209C64F4}"/>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6" name="Google Shape;309;p20">
            <a:hlinkClick r:id="rId7" action="ppaction://hlinksldjump"/>
            <a:extLst>
              <a:ext uri="{FF2B5EF4-FFF2-40B4-BE49-F238E27FC236}">
                <a16:creationId xmlns:a16="http://schemas.microsoft.com/office/drawing/2014/main" id="{B8F7DCDD-D761-88B3-581D-AE2CD8DCC33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9" name="Google Shape;324;p20">
            <a:hlinkClick r:id="rId8" action="ppaction://hlinksldjump"/>
            <a:extLst>
              <a:ext uri="{FF2B5EF4-FFF2-40B4-BE49-F238E27FC236}">
                <a16:creationId xmlns:a16="http://schemas.microsoft.com/office/drawing/2014/main" id="{6E865700-43CA-20A5-AFEC-8BE631D2EA70}"/>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683886596"/>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4" fill="hold" grpId="0" nodeType="afterEffect">
                                  <p:stCondLst>
                                    <p:cond delay="0"/>
                                  </p:stCondLst>
                                  <p:childTnLst>
                                    <p:set>
                                      <p:cBhvr>
                                        <p:cTn id="33" dur="1" fill="hold">
                                          <p:stCondLst>
                                            <p:cond delay="0"/>
                                          </p:stCondLst>
                                        </p:cTn>
                                        <p:tgtEl>
                                          <p:spTgt spid="97"/>
                                        </p:tgtEl>
                                        <p:attrNameLst>
                                          <p:attrName>style.visibility</p:attrName>
                                        </p:attrNameLst>
                                      </p:cBhvr>
                                      <p:to>
                                        <p:strVal val="visible"/>
                                      </p:to>
                                    </p:set>
                                    <p:animEffect transition="in" filter="wipe(down)">
                                      <p:cBhvr>
                                        <p:cTn id="34"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97"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330462" y="230661"/>
            <a:ext cx="2497874"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انواع سقف های تیرچه بلوک</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63</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3"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317;p20">
            <a:hlinkClick r:id="rId4" action="ppaction://hlinksldjump"/>
            <a:extLst>
              <a:ext uri="{FF2B5EF4-FFF2-40B4-BE49-F238E27FC236}">
                <a16:creationId xmlns:a16="http://schemas.microsoft.com/office/drawing/2014/main" id="{CF9DFF94-81BA-117B-0D3F-205764B9CF3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2" name="Rectangle: Rounded Corners 1">
            <a:extLst>
              <a:ext uri="{FF2B5EF4-FFF2-40B4-BE49-F238E27FC236}">
                <a16:creationId xmlns:a16="http://schemas.microsoft.com/office/drawing/2014/main" id="{DBAF5179-B819-CDC3-4324-C737E862996A}"/>
              </a:ext>
            </a:extLst>
          </p:cNvPr>
          <p:cNvSpPr/>
          <p:nvPr/>
        </p:nvSpPr>
        <p:spPr>
          <a:xfrm>
            <a:off x="584534" y="682603"/>
            <a:ext cx="7797396" cy="1358056"/>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سقف هاي تيرچه و بلوك به دو دسته ي كلي سقف هاي با تيرچه هاي بتني و سقف هاي با تيرچه هاي فولادي با جان باز</a:t>
            </a:r>
          </a:p>
          <a:p>
            <a:pPr algn="justLow" rtl="1">
              <a:lnSpc>
                <a:spcPct val="150000"/>
              </a:lnSpc>
            </a:pPr>
            <a:r>
              <a:rPr lang="fa-IR" dirty="0">
                <a:solidFill>
                  <a:schemeClr val="tx1">
                    <a:lumMod val="95000"/>
                    <a:lumOff val="5000"/>
                  </a:schemeClr>
                </a:solidFill>
                <a:cs typeface="IRAN Sans" panose="020B0400000000000000" pitchFamily="34" charset="-78"/>
              </a:rPr>
              <a:t>تقسيم بندي ميشوند. حال آنكه هر يك از اين نوع سقف ها به لحاظ جزئيات اجرايي و نيز نوع بلوك مصرفي تنوع دارند. (مانند</a:t>
            </a:r>
          </a:p>
          <a:p>
            <a:pPr algn="justLow" rtl="1">
              <a:lnSpc>
                <a:spcPct val="150000"/>
              </a:lnSpc>
            </a:pPr>
            <a:r>
              <a:rPr lang="fa-IR" dirty="0">
                <a:solidFill>
                  <a:schemeClr val="tx1">
                    <a:lumMod val="95000"/>
                    <a:lumOff val="5000"/>
                  </a:schemeClr>
                </a:solidFill>
                <a:cs typeface="IRAN Sans" panose="020B0400000000000000" pitchFamily="34" charset="-78"/>
              </a:rPr>
              <a:t>سقفهاي با بلوك بتني، بلوك سفالي، بلوك پلي استايرن و.....). لذا در اين دستورالعمل انواع سقف هاي تيرچه و بلوك براساس اين تقسيم بندي بررسي ميشوند.</a:t>
            </a:r>
          </a:p>
        </p:txBody>
      </p:sp>
      <p:sp>
        <p:nvSpPr>
          <p:cNvPr id="20" name="Rectangle: Rounded Corners 19">
            <a:extLst>
              <a:ext uri="{FF2B5EF4-FFF2-40B4-BE49-F238E27FC236}">
                <a16:creationId xmlns:a16="http://schemas.microsoft.com/office/drawing/2014/main" id="{18A103D5-E878-0DE3-5169-EC12F03DEB54}"/>
              </a:ext>
            </a:extLst>
          </p:cNvPr>
          <p:cNvSpPr/>
          <p:nvPr/>
        </p:nvSpPr>
        <p:spPr>
          <a:xfrm>
            <a:off x="3476730" y="2481782"/>
            <a:ext cx="1662545" cy="379184"/>
          </a:xfrm>
          <a:prstGeom prst="roundRect">
            <a:avLst>
              <a:gd name="adj" fmla="val 2148"/>
            </a:avLst>
          </a:prstGeom>
          <a:noFill/>
          <a:ln>
            <a:no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   </a:t>
            </a:r>
            <a:r>
              <a:rPr lang="fa-IR" sz="1300" b="1" dirty="0">
                <a:solidFill>
                  <a:schemeClr val="tx1">
                    <a:lumMod val="95000"/>
                    <a:lumOff val="5000"/>
                  </a:schemeClr>
                </a:solidFill>
                <a:cs typeface="IRAN Sans" panose="020B0400000000000000" pitchFamily="34" charset="-78"/>
              </a:rPr>
              <a:t>تیرچه فولادی با جان باز </a:t>
            </a:r>
          </a:p>
        </p:txBody>
      </p:sp>
      <p:sp>
        <p:nvSpPr>
          <p:cNvPr id="21" name="Arrow: Notched Right 20">
            <a:extLst>
              <a:ext uri="{FF2B5EF4-FFF2-40B4-BE49-F238E27FC236}">
                <a16:creationId xmlns:a16="http://schemas.microsoft.com/office/drawing/2014/main" id="{CAC39EFF-AB5A-4937-C22F-39D55683AB7E}"/>
              </a:ext>
            </a:extLst>
          </p:cNvPr>
          <p:cNvSpPr/>
          <p:nvPr/>
        </p:nvSpPr>
        <p:spPr>
          <a:xfrm>
            <a:off x="4936691" y="2644087"/>
            <a:ext cx="260826" cy="155875"/>
          </a:xfrm>
          <a:prstGeom prst="notchedRightArrow">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2" name="Picture 21">
            <a:extLst>
              <a:ext uri="{FF2B5EF4-FFF2-40B4-BE49-F238E27FC236}">
                <a16:creationId xmlns:a16="http://schemas.microsoft.com/office/drawing/2014/main" id="{310A7F01-D525-0CA7-C31D-A8BBA690916F}"/>
              </a:ext>
            </a:extLst>
          </p:cNvPr>
          <p:cNvPicPr>
            <a:picLocks noChangeAspect="1"/>
          </p:cNvPicPr>
          <p:nvPr/>
        </p:nvPicPr>
        <p:blipFill>
          <a:blip r:embed="rId5"/>
          <a:stretch>
            <a:fillRect/>
          </a:stretch>
        </p:blipFill>
        <p:spPr>
          <a:xfrm>
            <a:off x="5315401" y="2129492"/>
            <a:ext cx="2600635" cy="1875976"/>
          </a:xfrm>
          <a:prstGeom prst="rect">
            <a:avLst/>
          </a:prstGeom>
          <a:ln>
            <a:noFill/>
          </a:ln>
          <a:effectLst>
            <a:outerShdw blurRad="292100" dist="139700" dir="2700000" algn="tl" rotWithShape="0">
              <a:srgbClr val="333333">
                <a:alpha val="65000"/>
              </a:srgbClr>
            </a:outerShdw>
          </a:effectLst>
        </p:spPr>
      </p:pic>
      <p:sp>
        <p:nvSpPr>
          <p:cNvPr id="23" name="Rectangle: Rounded Corners 22">
            <a:extLst>
              <a:ext uri="{FF2B5EF4-FFF2-40B4-BE49-F238E27FC236}">
                <a16:creationId xmlns:a16="http://schemas.microsoft.com/office/drawing/2014/main" id="{3B930AE0-C880-3CDD-D331-F0B0B4F8C88D}"/>
              </a:ext>
            </a:extLst>
          </p:cNvPr>
          <p:cNvSpPr/>
          <p:nvPr/>
        </p:nvSpPr>
        <p:spPr>
          <a:xfrm>
            <a:off x="3806660" y="3067480"/>
            <a:ext cx="930513" cy="379184"/>
          </a:xfrm>
          <a:prstGeom prst="roundRect">
            <a:avLst>
              <a:gd name="adj" fmla="val 2148"/>
            </a:avLst>
          </a:prstGeom>
          <a:noFill/>
          <a:ln>
            <a:no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dirty="0">
                <a:solidFill>
                  <a:schemeClr val="tx1">
                    <a:lumMod val="95000"/>
                    <a:lumOff val="5000"/>
                  </a:schemeClr>
                </a:solidFill>
                <a:cs typeface="IRAN Sans" panose="020B0400000000000000" pitchFamily="34" charset="-78"/>
              </a:rPr>
              <a:t>   </a:t>
            </a:r>
            <a:r>
              <a:rPr lang="fa-IR" sz="1300" b="1" dirty="0">
                <a:solidFill>
                  <a:schemeClr val="tx1">
                    <a:lumMod val="95000"/>
                    <a:lumOff val="5000"/>
                  </a:schemeClr>
                </a:solidFill>
                <a:cs typeface="IRAN Sans" panose="020B0400000000000000" pitchFamily="34" charset="-78"/>
              </a:rPr>
              <a:t>تیرچه بتنی </a:t>
            </a:r>
          </a:p>
        </p:txBody>
      </p:sp>
      <p:sp>
        <p:nvSpPr>
          <p:cNvPr id="24" name="Arrow: Notched Right 23">
            <a:extLst>
              <a:ext uri="{FF2B5EF4-FFF2-40B4-BE49-F238E27FC236}">
                <a16:creationId xmlns:a16="http://schemas.microsoft.com/office/drawing/2014/main" id="{54CA225E-0DEB-C5C2-A02F-CEF1885A1786}"/>
              </a:ext>
            </a:extLst>
          </p:cNvPr>
          <p:cNvSpPr/>
          <p:nvPr/>
        </p:nvSpPr>
        <p:spPr>
          <a:xfrm rot="10800000">
            <a:off x="3594614" y="3262257"/>
            <a:ext cx="260826" cy="155875"/>
          </a:xfrm>
          <a:prstGeom prst="notchedRightArrow">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24">
            <a:extLst>
              <a:ext uri="{FF2B5EF4-FFF2-40B4-BE49-F238E27FC236}">
                <a16:creationId xmlns:a16="http://schemas.microsoft.com/office/drawing/2014/main" id="{BE00356A-3007-82F1-9173-02504D71AB41}"/>
              </a:ext>
            </a:extLst>
          </p:cNvPr>
          <p:cNvPicPr>
            <a:picLocks noChangeAspect="1"/>
          </p:cNvPicPr>
          <p:nvPr/>
        </p:nvPicPr>
        <p:blipFill>
          <a:blip r:embed="rId6"/>
          <a:stretch>
            <a:fillRect/>
          </a:stretch>
        </p:blipFill>
        <p:spPr>
          <a:xfrm>
            <a:off x="797303" y="2108590"/>
            <a:ext cx="2679427" cy="1940458"/>
          </a:xfrm>
          <a:prstGeom prst="rect">
            <a:avLst/>
          </a:prstGeom>
        </p:spPr>
      </p:pic>
      <p:sp>
        <p:nvSpPr>
          <p:cNvPr id="26" name="Google Shape;309;p20">
            <a:hlinkClick r:id="" action="ppaction://noaction"/>
            <a:extLst>
              <a:ext uri="{FF2B5EF4-FFF2-40B4-BE49-F238E27FC236}">
                <a16:creationId xmlns:a16="http://schemas.microsoft.com/office/drawing/2014/main" id="{52DF54DC-2374-EF47-6DE7-1C8C251643D3}"/>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7" name="Google Shape;317;p20">
            <a:hlinkClick r:id="rId4" action="ppaction://hlinksldjump"/>
            <a:extLst>
              <a:ext uri="{FF2B5EF4-FFF2-40B4-BE49-F238E27FC236}">
                <a16:creationId xmlns:a16="http://schemas.microsoft.com/office/drawing/2014/main" id="{EF83CCAC-E125-50DA-3471-30A9187876A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28" name="Google Shape;324;p20">
            <a:hlinkClick r:id="rId7" action="ppaction://hlinksldjump"/>
            <a:extLst>
              <a:ext uri="{FF2B5EF4-FFF2-40B4-BE49-F238E27FC236}">
                <a16:creationId xmlns:a16="http://schemas.microsoft.com/office/drawing/2014/main" id="{226CE71D-64DF-923B-58FD-6927B89EE955}"/>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7110885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1000"/>
                                        <p:tgtEl>
                                          <p:spTgt spid="20"/>
                                        </p:tgtEl>
                                      </p:cBhvr>
                                    </p:animEffect>
                                    <p:anim calcmode="lin" valueType="num">
                                      <p:cBhvr>
                                        <p:cTn id="41" dur="1000" fill="hold"/>
                                        <p:tgtEl>
                                          <p:spTgt spid="20"/>
                                        </p:tgtEl>
                                        <p:attrNameLst>
                                          <p:attrName>ppt_x</p:attrName>
                                        </p:attrNameLst>
                                      </p:cBhvr>
                                      <p:tavLst>
                                        <p:tav tm="0">
                                          <p:val>
                                            <p:strVal val="#ppt_x"/>
                                          </p:val>
                                        </p:tav>
                                        <p:tav tm="100000">
                                          <p:val>
                                            <p:strVal val="#ppt_x"/>
                                          </p:val>
                                        </p:tav>
                                      </p:tavLst>
                                    </p:anim>
                                    <p:anim calcmode="lin" valueType="num">
                                      <p:cBhvr>
                                        <p:cTn id="42" dur="1000" fill="hold"/>
                                        <p:tgtEl>
                                          <p:spTgt spid="20"/>
                                        </p:tgtEl>
                                        <p:attrNameLst>
                                          <p:attrName>ppt_y</p:attrName>
                                        </p:attrNameLst>
                                      </p:cBhvr>
                                      <p:tavLst>
                                        <p:tav tm="0">
                                          <p:val>
                                            <p:strVal val="#ppt_y+.1"/>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1000"/>
                                        <p:tgtEl>
                                          <p:spTgt spid="21"/>
                                        </p:tgtEl>
                                      </p:cBhvr>
                                    </p:animEffect>
                                    <p:anim calcmode="lin" valueType="num">
                                      <p:cBhvr>
                                        <p:cTn id="46" dur="1000" fill="hold"/>
                                        <p:tgtEl>
                                          <p:spTgt spid="21"/>
                                        </p:tgtEl>
                                        <p:attrNameLst>
                                          <p:attrName>ppt_x</p:attrName>
                                        </p:attrNameLst>
                                      </p:cBhvr>
                                      <p:tavLst>
                                        <p:tav tm="0">
                                          <p:val>
                                            <p:strVal val="#ppt_x"/>
                                          </p:val>
                                        </p:tav>
                                        <p:tav tm="100000">
                                          <p:val>
                                            <p:strVal val="#ppt_x"/>
                                          </p:val>
                                        </p:tav>
                                      </p:tavLst>
                                    </p:anim>
                                    <p:anim calcmode="lin" valueType="num">
                                      <p:cBhvr>
                                        <p:cTn id="47" dur="1000" fill="hold"/>
                                        <p:tgtEl>
                                          <p:spTgt spid="21"/>
                                        </p:tgtEl>
                                        <p:attrNameLst>
                                          <p:attrName>ppt_y</p:attrName>
                                        </p:attrNameLst>
                                      </p:cBhvr>
                                      <p:tavLst>
                                        <p:tav tm="0">
                                          <p:val>
                                            <p:strVal val="#ppt_y+.1"/>
                                          </p:val>
                                        </p:tav>
                                        <p:tav tm="100000">
                                          <p:val>
                                            <p:strVal val="#ppt_y"/>
                                          </p:val>
                                        </p:tav>
                                      </p:tavLst>
                                    </p:anim>
                                  </p:childTnLst>
                                </p:cTn>
                              </p:par>
                            </p:childTnLst>
                          </p:cTn>
                        </p:par>
                        <p:par>
                          <p:cTn id="48" fill="hold">
                            <p:stCondLst>
                              <p:cond delay="4050"/>
                            </p:stCondLst>
                            <p:childTnLst>
                              <p:par>
                                <p:cTn id="49" presetID="42" presetClass="entr" presetSubtype="0" fill="hold" nodeType="after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1000"/>
                                        <p:tgtEl>
                                          <p:spTgt spid="22"/>
                                        </p:tgtEl>
                                      </p:cBhvr>
                                    </p:animEffect>
                                    <p:anim calcmode="lin" valueType="num">
                                      <p:cBhvr>
                                        <p:cTn id="52" dur="1000" fill="hold"/>
                                        <p:tgtEl>
                                          <p:spTgt spid="22"/>
                                        </p:tgtEl>
                                        <p:attrNameLst>
                                          <p:attrName>ppt_x</p:attrName>
                                        </p:attrNameLst>
                                      </p:cBhvr>
                                      <p:tavLst>
                                        <p:tav tm="0">
                                          <p:val>
                                            <p:strVal val="#ppt_x"/>
                                          </p:val>
                                        </p:tav>
                                        <p:tav tm="100000">
                                          <p:val>
                                            <p:strVal val="#ppt_x"/>
                                          </p:val>
                                        </p:tav>
                                      </p:tavLst>
                                    </p:anim>
                                    <p:anim calcmode="lin" valueType="num">
                                      <p:cBhvr>
                                        <p:cTn id="53" dur="1000" fill="hold"/>
                                        <p:tgtEl>
                                          <p:spTgt spid="22"/>
                                        </p:tgtEl>
                                        <p:attrNameLst>
                                          <p:attrName>ppt_y</p:attrName>
                                        </p:attrNameLst>
                                      </p:cBhvr>
                                      <p:tavLst>
                                        <p:tav tm="0">
                                          <p:val>
                                            <p:strVal val="#ppt_y+.1"/>
                                          </p:val>
                                        </p:tav>
                                        <p:tav tm="100000">
                                          <p:val>
                                            <p:strVal val="#ppt_y"/>
                                          </p:val>
                                        </p:tav>
                                      </p:tavLst>
                                    </p:anim>
                                  </p:childTnLst>
                                </p:cTn>
                              </p:par>
                            </p:childTnLst>
                          </p:cTn>
                        </p:par>
                        <p:par>
                          <p:cTn id="54" fill="hold">
                            <p:stCondLst>
                              <p:cond delay="5050"/>
                            </p:stCondLst>
                            <p:childTnLst>
                              <p:par>
                                <p:cTn id="55" presetID="42" presetClass="entr" presetSubtype="0" fill="hold" grpId="0" nodeType="after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1000"/>
                                        <p:tgtEl>
                                          <p:spTgt spid="23"/>
                                        </p:tgtEl>
                                      </p:cBhvr>
                                    </p:animEffect>
                                    <p:anim calcmode="lin" valueType="num">
                                      <p:cBhvr>
                                        <p:cTn id="58" dur="1000" fill="hold"/>
                                        <p:tgtEl>
                                          <p:spTgt spid="23"/>
                                        </p:tgtEl>
                                        <p:attrNameLst>
                                          <p:attrName>ppt_x</p:attrName>
                                        </p:attrNameLst>
                                      </p:cBhvr>
                                      <p:tavLst>
                                        <p:tav tm="0">
                                          <p:val>
                                            <p:strVal val="#ppt_x"/>
                                          </p:val>
                                        </p:tav>
                                        <p:tav tm="100000">
                                          <p:val>
                                            <p:strVal val="#ppt_x"/>
                                          </p:val>
                                        </p:tav>
                                      </p:tavLst>
                                    </p:anim>
                                    <p:anim calcmode="lin" valueType="num">
                                      <p:cBhvr>
                                        <p:cTn id="59" dur="1000" fill="hold"/>
                                        <p:tgtEl>
                                          <p:spTgt spid="23"/>
                                        </p:tgtEl>
                                        <p:attrNameLst>
                                          <p:attrName>ppt_y</p:attrName>
                                        </p:attrNameLst>
                                      </p:cBhvr>
                                      <p:tavLst>
                                        <p:tav tm="0">
                                          <p:val>
                                            <p:strVal val="#ppt_y+.1"/>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1000"/>
                                        <p:tgtEl>
                                          <p:spTgt spid="24"/>
                                        </p:tgtEl>
                                      </p:cBhvr>
                                    </p:animEffect>
                                    <p:anim calcmode="lin" valueType="num">
                                      <p:cBhvr>
                                        <p:cTn id="63" dur="1000" fill="hold"/>
                                        <p:tgtEl>
                                          <p:spTgt spid="24"/>
                                        </p:tgtEl>
                                        <p:attrNameLst>
                                          <p:attrName>ppt_x</p:attrName>
                                        </p:attrNameLst>
                                      </p:cBhvr>
                                      <p:tavLst>
                                        <p:tav tm="0">
                                          <p:val>
                                            <p:strVal val="#ppt_x"/>
                                          </p:val>
                                        </p:tav>
                                        <p:tav tm="100000">
                                          <p:val>
                                            <p:strVal val="#ppt_x"/>
                                          </p:val>
                                        </p:tav>
                                      </p:tavLst>
                                    </p:anim>
                                    <p:anim calcmode="lin" valueType="num">
                                      <p:cBhvr>
                                        <p:cTn id="64" dur="1000" fill="hold"/>
                                        <p:tgtEl>
                                          <p:spTgt spid="24"/>
                                        </p:tgtEl>
                                        <p:attrNameLst>
                                          <p:attrName>ppt_y</p:attrName>
                                        </p:attrNameLst>
                                      </p:cBhvr>
                                      <p:tavLst>
                                        <p:tav tm="0">
                                          <p:val>
                                            <p:strVal val="#ppt_y+.1"/>
                                          </p:val>
                                        </p:tav>
                                        <p:tav tm="100000">
                                          <p:val>
                                            <p:strVal val="#ppt_y"/>
                                          </p:val>
                                        </p:tav>
                                      </p:tavLst>
                                    </p:anim>
                                  </p:childTnLst>
                                </p:cTn>
                              </p:par>
                            </p:childTnLst>
                          </p:cTn>
                        </p:par>
                        <p:par>
                          <p:cTn id="65" fill="hold">
                            <p:stCondLst>
                              <p:cond delay="6050"/>
                            </p:stCondLst>
                            <p:childTnLst>
                              <p:par>
                                <p:cTn id="66" presetID="42" presetClass="entr" presetSubtype="0" fill="hold" nodeType="after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fade">
                                      <p:cBhvr>
                                        <p:cTn id="68" dur="1000"/>
                                        <p:tgtEl>
                                          <p:spTgt spid="25"/>
                                        </p:tgtEl>
                                      </p:cBhvr>
                                    </p:animEffect>
                                    <p:anim calcmode="lin" valueType="num">
                                      <p:cBhvr>
                                        <p:cTn id="69" dur="1000" fill="hold"/>
                                        <p:tgtEl>
                                          <p:spTgt spid="25"/>
                                        </p:tgtEl>
                                        <p:attrNameLst>
                                          <p:attrName>ppt_x</p:attrName>
                                        </p:attrNameLst>
                                      </p:cBhvr>
                                      <p:tavLst>
                                        <p:tav tm="0">
                                          <p:val>
                                            <p:strVal val="#ppt_x"/>
                                          </p:val>
                                        </p:tav>
                                        <p:tav tm="100000">
                                          <p:val>
                                            <p:strVal val="#ppt_x"/>
                                          </p:val>
                                        </p:tav>
                                      </p:tavLst>
                                    </p:anim>
                                    <p:anim calcmode="lin" valueType="num">
                                      <p:cBhvr>
                                        <p:cTn id="70"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P spid="20" grpId="0" animBg="1"/>
      <p:bldP spid="21" grpId="0" animBg="1"/>
      <p:bldP spid="23" grpId="0" animBg="1"/>
      <p:bldP spid="24"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728771" y="230661"/>
            <a:ext cx="3099565"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مزایای استفاده از سقف تیرچه و بلوک</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64</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2" name="Google Shape;309;p20">
            <a:hlinkClick r:id="" action="ppaction://noaction"/>
            <a:extLst>
              <a:ext uri="{FF2B5EF4-FFF2-40B4-BE49-F238E27FC236}">
                <a16:creationId xmlns:a16="http://schemas.microsoft.com/office/drawing/2014/main" id="{2011A298-D923-D86A-6957-38CF3EA4962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3" name="Google Shape;309;p20">
            <a:hlinkClick r:id="rId4" action="ppaction://hlinksldjump"/>
            <a:extLst>
              <a:ext uri="{FF2B5EF4-FFF2-40B4-BE49-F238E27FC236}">
                <a16:creationId xmlns:a16="http://schemas.microsoft.com/office/drawing/2014/main" id="{AB644A47-974F-572D-1B4F-C24AE7536F16}"/>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4" name="Google Shape;1167;p37">
            <a:extLst>
              <a:ext uri="{FF2B5EF4-FFF2-40B4-BE49-F238E27FC236}">
                <a16:creationId xmlns:a16="http://schemas.microsoft.com/office/drawing/2014/main" id="{C5DD0C78-D0C3-BBD7-E80F-A1AD1DE06D04}"/>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sz="1600">
                <a:solidFill>
                  <a:srgbClr val="FFFFFF"/>
                </a:solidFill>
                <a:latin typeface="Roboto"/>
                <a:ea typeface="Roboto"/>
                <a:cs typeface="IRAN Sans" panose="020B0400000000000000" pitchFamily="34" charset="-78"/>
                <a:sym typeface="Roboto"/>
              </a:rPr>
              <a:t>به علت استفاده از بلوكهاي توخالي و حذف بتن منطقه كششي، در مصرف بتن صرفه جويي قابل توجهي ميشود.</a:t>
            </a:r>
            <a:endParaRPr sz="1600" dirty="0">
              <a:solidFill>
                <a:srgbClr val="FFFFFF"/>
              </a:solidFill>
              <a:latin typeface="Roboto"/>
              <a:ea typeface="Roboto"/>
              <a:cs typeface="IRAN Sans" panose="020B0400000000000000" pitchFamily="34" charset="-78"/>
              <a:sym typeface="Roboto"/>
            </a:endParaRPr>
          </a:p>
        </p:txBody>
      </p:sp>
      <p:sp>
        <p:nvSpPr>
          <p:cNvPr id="5" name="Google Shape;1168;p37">
            <a:extLst>
              <a:ext uri="{FF2B5EF4-FFF2-40B4-BE49-F238E27FC236}">
                <a16:creationId xmlns:a16="http://schemas.microsoft.com/office/drawing/2014/main" id="{18E7FB23-298B-ACB4-C98C-DCF6A4AC692A}"/>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a:solidFill>
                  <a:srgbClr val="FFFFFF"/>
                </a:solidFill>
                <a:latin typeface="Roboto"/>
                <a:ea typeface="Roboto"/>
                <a:cs typeface="IRAN Sans" panose="020B0400000000000000" pitchFamily="34" charset="-78"/>
                <a:sym typeface="Roboto"/>
              </a:rPr>
              <a:t>به علت توليد صنعتي تيرچه و بلوك در كارخانه، كيفيت مناسب تري حاصل شده و نيروي انساني كمتري مورد نياز است.</a:t>
            </a:r>
            <a:endParaRPr lang="fa-IR" sz="1600" dirty="0">
              <a:solidFill>
                <a:srgbClr val="FFFFFF"/>
              </a:solidFill>
              <a:latin typeface="Roboto"/>
              <a:ea typeface="Roboto"/>
              <a:cs typeface="IRAN Sans" panose="020B0400000000000000" pitchFamily="34" charset="-78"/>
              <a:sym typeface="Roboto"/>
            </a:endParaRPr>
          </a:p>
        </p:txBody>
      </p:sp>
      <p:sp>
        <p:nvSpPr>
          <p:cNvPr id="6" name="Google Shape;1169;p37">
            <a:extLst>
              <a:ext uri="{FF2B5EF4-FFF2-40B4-BE49-F238E27FC236}">
                <a16:creationId xmlns:a16="http://schemas.microsoft.com/office/drawing/2014/main" id="{5EF777EC-825E-050A-52F5-A3434244F458}"/>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با توجه به وزن كم تيرچه ها، حمل و نصب آنها توسط كارگران امكان پذير بوده و در ساختمان هاي با طبقات كم، نياز به استفاده از جرثقيل را منتفي مينمايد.</a:t>
            </a:r>
          </a:p>
        </p:txBody>
      </p:sp>
      <p:sp>
        <p:nvSpPr>
          <p:cNvPr id="8" name="Google Shape;1170;p37">
            <a:extLst>
              <a:ext uri="{FF2B5EF4-FFF2-40B4-BE49-F238E27FC236}">
                <a16:creationId xmlns:a16="http://schemas.microsoft.com/office/drawing/2014/main" id="{CFC80353-421F-2C79-5916-6329FA3715C9}"/>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دليل كاهش فضاي بتني با استفاده از بلوكها در منطقه ي كششي، از مصرف آرماتورهاي فولادي كاسته مي شود كه اين امر به لحاظ اقتصادي بسيار مناسب است</a:t>
            </a:r>
          </a:p>
        </p:txBody>
      </p:sp>
      <p:sp>
        <p:nvSpPr>
          <p:cNvPr id="9" name="Google Shape;1171;p37">
            <a:extLst>
              <a:ext uri="{FF2B5EF4-FFF2-40B4-BE49-F238E27FC236}">
                <a16:creationId xmlns:a16="http://schemas.microsoft.com/office/drawing/2014/main" id="{B8483865-C333-19C2-E1F9-7257AA51CFF9}"/>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172;p37">
            <a:extLst>
              <a:ext uri="{FF2B5EF4-FFF2-40B4-BE49-F238E27FC236}">
                <a16:creationId xmlns:a16="http://schemas.microsoft.com/office/drawing/2014/main" id="{EBF48303-9580-09B5-6629-E9C0C29600C7}"/>
              </a:ext>
            </a:extLst>
          </p:cNvPr>
          <p:cNvGrpSpPr/>
          <p:nvPr/>
        </p:nvGrpSpPr>
        <p:grpSpPr>
          <a:xfrm>
            <a:off x="1017449" y="822948"/>
            <a:ext cx="576000" cy="576000"/>
            <a:chOff x="710265" y="1121593"/>
            <a:chExt cx="715680" cy="715729"/>
          </a:xfrm>
        </p:grpSpPr>
        <p:sp>
          <p:nvSpPr>
            <p:cNvPr id="17" name="Google Shape;1173;p37">
              <a:extLst>
                <a:ext uri="{FF2B5EF4-FFF2-40B4-BE49-F238E27FC236}">
                  <a16:creationId xmlns:a16="http://schemas.microsoft.com/office/drawing/2014/main" id="{DAD22780-3173-77FD-94C5-4B07B5C98960}"/>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74;p37">
              <a:extLst>
                <a:ext uri="{FF2B5EF4-FFF2-40B4-BE49-F238E27FC236}">
                  <a16:creationId xmlns:a16="http://schemas.microsoft.com/office/drawing/2014/main" id="{BCF891C2-A06C-7DCD-06B0-106913022803}"/>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1</a:t>
              </a:r>
              <a:endParaRPr sz="1500" dirty="0"/>
            </a:p>
          </p:txBody>
        </p:sp>
      </p:grpSp>
      <p:grpSp>
        <p:nvGrpSpPr>
          <p:cNvPr id="19" name="Google Shape;1177;p37">
            <a:extLst>
              <a:ext uri="{FF2B5EF4-FFF2-40B4-BE49-F238E27FC236}">
                <a16:creationId xmlns:a16="http://schemas.microsoft.com/office/drawing/2014/main" id="{E479FA86-7DA3-C807-CD8C-A0CEA266327D}"/>
              </a:ext>
            </a:extLst>
          </p:cNvPr>
          <p:cNvGrpSpPr/>
          <p:nvPr/>
        </p:nvGrpSpPr>
        <p:grpSpPr>
          <a:xfrm>
            <a:off x="1017449" y="1584708"/>
            <a:ext cx="576000" cy="576000"/>
            <a:chOff x="710265" y="2213902"/>
            <a:chExt cx="715680" cy="715729"/>
          </a:xfrm>
        </p:grpSpPr>
        <p:sp>
          <p:nvSpPr>
            <p:cNvPr id="20" name="Google Shape;1178;p37">
              <a:extLst>
                <a:ext uri="{FF2B5EF4-FFF2-40B4-BE49-F238E27FC236}">
                  <a16:creationId xmlns:a16="http://schemas.microsoft.com/office/drawing/2014/main" id="{5C5C1AEF-9278-29F6-64E4-8EFFB11E9A1A}"/>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79;p37">
              <a:extLst>
                <a:ext uri="{FF2B5EF4-FFF2-40B4-BE49-F238E27FC236}">
                  <a16:creationId xmlns:a16="http://schemas.microsoft.com/office/drawing/2014/main" id="{D9C1EDA4-66C5-AC94-A9E4-148B165F29A3}"/>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ea typeface="Fira Sans Extra Condensed Medium"/>
                  <a:cs typeface="IRAN Sans" panose="020B0400000000000000" pitchFamily="34" charset="-78"/>
                  <a:sym typeface="Fira Sans Extra Condensed Medium"/>
                </a:rPr>
                <a:t>2</a:t>
              </a:r>
              <a:endParaRPr sz="1500" dirty="0"/>
            </a:p>
          </p:txBody>
        </p:sp>
      </p:grpSp>
      <p:grpSp>
        <p:nvGrpSpPr>
          <p:cNvPr id="22" name="Google Shape;1180;p37">
            <a:extLst>
              <a:ext uri="{FF2B5EF4-FFF2-40B4-BE49-F238E27FC236}">
                <a16:creationId xmlns:a16="http://schemas.microsoft.com/office/drawing/2014/main" id="{93A07986-5195-16E5-0464-B8BECF6A5EF5}"/>
              </a:ext>
            </a:extLst>
          </p:cNvPr>
          <p:cNvGrpSpPr/>
          <p:nvPr/>
        </p:nvGrpSpPr>
        <p:grpSpPr>
          <a:xfrm>
            <a:off x="1017449" y="2361082"/>
            <a:ext cx="576000" cy="576000"/>
            <a:chOff x="710265" y="3306227"/>
            <a:chExt cx="715680" cy="715729"/>
          </a:xfrm>
        </p:grpSpPr>
        <p:sp>
          <p:nvSpPr>
            <p:cNvPr id="23" name="Google Shape;1181;p37">
              <a:extLst>
                <a:ext uri="{FF2B5EF4-FFF2-40B4-BE49-F238E27FC236}">
                  <a16:creationId xmlns:a16="http://schemas.microsoft.com/office/drawing/2014/main" id="{2A9002BC-C351-4694-282F-85DA21E5828A}"/>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 name="Google Shape;1182;p37">
              <a:extLst>
                <a:ext uri="{FF2B5EF4-FFF2-40B4-BE49-F238E27FC236}">
                  <a16:creationId xmlns:a16="http://schemas.microsoft.com/office/drawing/2014/main" id="{61D5332B-0620-3557-7EDD-39CE133B4615}"/>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dirty="0">
                  <a:cs typeface="IRAN Sans" panose="020B0400000000000000" pitchFamily="34" charset="-78"/>
                  <a:sym typeface="Fira Sans Extra Condensed Medium"/>
                </a:rPr>
                <a:t>3</a:t>
              </a:r>
              <a:endParaRPr dirty="0">
                <a:cs typeface="IRAN Sans" panose="020B0400000000000000" pitchFamily="34" charset="-78"/>
              </a:endParaRPr>
            </a:p>
          </p:txBody>
        </p:sp>
      </p:grpSp>
      <p:sp>
        <p:nvSpPr>
          <p:cNvPr id="25" name="Google Shape;1183;p37">
            <a:extLst>
              <a:ext uri="{FF2B5EF4-FFF2-40B4-BE49-F238E27FC236}">
                <a16:creationId xmlns:a16="http://schemas.microsoft.com/office/drawing/2014/main" id="{9A1BF56A-DEDD-29FD-142A-DE3E1FFF0008}"/>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84;p37">
            <a:extLst>
              <a:ext uri="{FF2B5EF4-FFF2-40B4-BE49-F238E27FC236}">
                <a16:creationId xmlns:a16="http://schemas.microsoft.com/office/drawing/2014/main" id="{29ABB1F8-862C-7DFA-87D2-F64A24C4904C}"/>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1180;p37">
            <a:extLst>
              <a:ext uri="{FF2B5EF4-FFF2-40B4-BE49-F238E27FC236}">
                <a16:creationId xmlns:a16="http://schemas.microsoft.com/office/drawing/2014/main" id="{B261B5ED-12DF-79DC-87D2-5A785E0EF8D4}"/>
              </a:ext>
            </a:extLst>
          </p:cNvPr>
          <p:cNvGrpSpPr/>
          <p:nvPr/>
        </p:nvGrpSpPr>
        <p:grpSpPr>
          <a:xfrm>
            <a:off x="1017449" y="3143006"/>
            <a:ext cx="576000" cy="576000"/>
            <a:chOff x="710265" y="3306227"/>
            <a:chExt cx="715680" cy="715729"/>
          </a:xfrm>
        </p:grpSpPr>
        <p:sp>
          <p:nvSpPr>
            <p:cNvPr id="28" name="Google Shape;1181;p37">
              <a:extLst>
                <a:ext uri="{FF2B5EF4-FFF2-40B4-BE49-F238E27FC236}">
                  <a16:creationId xmlns:a16="http://schemas.microsoft.com/office/drawing/2014/main" id="{7DB7F2AD-D4B4-7490-537D-02E31201B917}"/>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182;p37">
              <a:extLst>
                <a:ext uri="{FF2B5EF4-FFF2-40B4-BE49-F238E27FC236}">
                  <a16:creationId xmlns:a16="http://schemas.microsoft.com/office/drawing/2014/main" id="{D0D485C2-4DE7-0CB2-585D-FA960E262014}"/>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fa-IR" sz="1500" dirty="0">
                  <a:latin typeface="Fira Sans Extra Condensed Medium"/>
                  <a:cs typeface="IRAN Sans" panose="020B0400000000000000" pitchFamily="34" charset="-78"/>
                  <a:sym typeface="Fira Sans Extra Condensed Medium"/>
                </a:rPr>
                <a:t>4</a:t>
              </a:r>
              <a:endParaRPr sz="1500" dirty="0"/>
            </a:p>
          </p:txBody>
        </p:sp>
      </p:grpSp>
      <p:sp>
        <p:nvSpPr>
          <p:cNvPr id="30" name="Google Shape;324;p20">
            <a:hlinkClick r:id="rId5" action="ppaction://hlinksldjump"/>
            <a:extLst>
              <a:ext uri="{FF2B5EF4-FFF2-40B4-BE49-F238E27FC236}">
                <a16:creationId xmlns:a16="http://schemas.microsoft.com/office/drawing/2014/main" id="{812B924B-6B74-758F-67BF-013034367819}"/>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59470498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wipe(up)">
                                      <p:cBhvr>
                                        <p:cTn id="41" dur="500"/>
                                        <p:tgtEl>
                                          <p:spTgt spid="9"/>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wipe(right)">
                                      <p:cBhvr>
                                        <p:cTn id="45" dur="500"/>
                                        <p:tgtEl>
                                          <p:spTgt spid="8"/>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up)">
                                      <p:cBhvr>
                                        <p:cTn id="53" dur="500"/>
                                        <p:tgtEl>
                                          <p:spTgt spid="25"/>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right)">
                                      <p:cBhvr>
                                        <p:cTn id="57" dur="500"/>
                                        <p:tgtEl>
                                          <p:spTgt spid="5"/>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wipe(up)">
                                      <p:cBhvr>
                                        <p:cTn id="65" dur="500"/>
                                        <p:tgtEl>
                                          <p:spTgt spid="26"/>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wipe(right)">
                                      <p:cBhvr>
                                        <p:cTn id="69" dur="500"/>
                                        <p:tgtEl>
                                          <p:spTgt spid="6"/>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4" grpId="0" animBg="1"/>
      <p:bldP spid="5" grpId="0" animBg="1"/>
      <p:bldP spid="6" grpId="0" animBg="1"/>
      <p:bldP spid="8" grpId="0" animBg="1"/>
      <p:bldP spid="9" grpId="0" animBg="1"/>
      <p:bldP spid="25" grpId="0" animBg="1"/>
      <p:bldP spid="2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728771" y="230661"/>
            <a:ext cx="3099565"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مزایای استفاده از سقف تیرچه و بلوک</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65</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2" name="Google Shape;309;p20">
            <a:hlinkClick r:id="" action="ppaction://noaction"/>
            <a:extLst>
              <a:ext uri="{FF2B5EF4-FFF2-40B4-BE49-F238E27FC236}">
                <a16:creationId xmlns:a16="http://schemas.microsoft.com/office/drawing/2014/main" id="{2011A298-D923-D86A-6957-38CF3EA4962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3" name="Google Shape;309;p20">
            <a:hlinkClick r:id="rId4" action="ppaction://hlinksldjump"/>
            <a:extLst>
              <a:ext uri="{FF2B5EF4-FFF2-40B4-BE49-F238E27FC236}">
                <a16:creationId xmlns:a16="http://schemas.microsoft.com/office/drawing/2014/main" id="{AB644A47-974F-572D-1B4F-C24AE7536F16}"/>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4" name="Google Shape;1167;p37">
            <a:extLst>
              <a:ext uri="{FF2B5EF4-FFF2-40B4-BE49-F238E27FC236}">
                <a16:creationId xmlns:a16="http://schemas.microsoft.com/office/drawing/2014/main" id="{C5DD0C78-D0C3-BBD7-E80F-A1AD1DE06D04}"/>
              </a:ext>
            </a:extLst>
          </p:cNvPr>
          <p:cNvSpPr/>
          <p:nvPr/>
        </p:nvSpPr>
        <p:spPr>
          <a:xfrm>
            <a:off x="1313026" y="803088"/>
            <a:ext cx="6551078" cy="595860"/>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b="1" dirty="0">
                <a:solidFill>
                  <a:srgbClr val="FFFFFF"/>
                </a:solidFill>
                <a:latin typeface="Roboto"/>
                <a:ea typeface="Roboto"/>
                <a:cs typeface="IRAN Sans" panose="020B0400000000000000" pitchFamily="34" charset="-78"/>
                <a:sym typeface="Roboto"/>
              </a:rPr>
              <a:t>به علت پيش ساخته بودن تيرچه و بلوك، نصب سقف بسيار سريع و آسان بوده و به كارگران متخصص كه براي قالب بندي و آرماتوربندي سقف هاي بتن آرمه استخدام ميشوند، نيازي نيست</a:t>
            </a:r>
            <a:r>
              <a:rPr lang="fa-IR" sz="1600" b="1" dirty="0">
                <a:solidFill>
                  <a:srgbClr val="FFFFFF"/>
                </a:solidFill>
                <a:latin typeface="Roboto"/>
                <a:ea typeface="Roboto"/>
                <a:cs typeface="IRAN Sans" panose="020B0400000000000000" pitchFamily="34" charset="-78"/>
                <a:sym typeface="Roboto"/>
              </a:rPr>
              <a:t>.</a:t>
            </a:r>
            <a:endParaRPr sz="1600" b="1" dirty="0">
              <a:solidFill>
                <a:srgbClr val="FFFFFF"/>
              </a:solidFill>
              <a:latin typeface="Roboto"/>
              <a:ea typeface="Roboto"/>
              <a:cs typeface="IRAN Sans" panose="020B0400000000000000" pitchFamily="34" charset="-78"/>
              <a:sym typeface="Roboto"/>
            </a:endParaRPr>
          </a:p>
        </p:txBody>
      </p:sp>
      <p:sp>
        <p:nvSpPr>
          <p:cNvPr id="5" name="Google Shape;1168;p37">
            <a:extLst>
              <a:ext uri="{FF2B5EF4-FFF2-40B4-BE49-F238E27FC236}">
                <a16:creationId xmlns:a16="http://schemas.microsoft.com/office/drawing/2014/main" id="{18E7FB23-298B-ACB4-C98C-DCF6A4AC692A}"/>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از نقطه نظر اجرايي، به كارگيري سقف هاي تيرچه و بلوك سرعت عمل بيشتري را موجب خواهد شد و به كارهاي پرهزينه و وقت‌گير كارگاهي نيازي نيست.</a:t>
            </a:r>
          </a:p>
        </p:txBody>
      </p:sp>
      <p:sp>
        <p:nvSpPr>
          <p:cNvPr id="6" name="Google Shape;1169;p37">
            <a:extLst>
              <a:ext uri="{FF2B5EF4-FFF2-40B4-BE49-F238E27FC236}">
                <a16:creationId xmlns:a16="http://schemas.microsoft.com/office/drawing/2014/main" id="{5EF777EC-825E-050A-52F5-A3434244F458}"/>
              </a:ext>
            </a:extLst>
          </p:cNvPr>
          <p:cNvSpPr/>
          <p:nvPr/>
        </p:nvSpPr>
        <p:spPr>
          <a:xfrm>
            <a:off x="1313025" y="3075724"/>
            <a:ext cx="6551078" cy="97239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b="1" dirty="0">
                <a:solidFill>
                  <a:srgbClr val="FFFFFF"/>
                </a:solidFill>
                <a:latin typeface="Roboto"/>
                <a:ea typeface="Roboto"/>
                <a:cs typeface="IRAN Sans" panose="020B0400000000000000" pitchFamily="34" charset="-78"/>
                <a:sym typeface="Roboto"/>
              </a:rPr>
              <a:t>در سقفهاي تيرچه و بلوك، بتن ريزي به طور يكپارچه انجام ميشود و بتن كمتري نسبت به سقفهاي بتن آرمه متداول مورد نياز است. به عنوان مثال براي سقف بتني متداول با ضخامت 14 سانتيمتر، 14 /0 مترمكعب بتن در هر مترمورد نياز است كه در سقف تيرچه و بلوك، اين مقدار به حدود متوسط 0/6 مترمکعب کاهش می یابد. </a:t>
            </a:r>
          </a:p>
        </p:txBody>
      </p:sp>
      <p:sp>
        <p:nvSpPr>
          <p:cNvPr id="8" name="Google Shape;1170;p37">
            <a:extLst>
              <a:ext uri="{FF2B5EF4-FFF2-40B4-BE49-F238E27FC236}">
                <a16:creationId xmlns:a16="http://schemas.microsoft.com/office/drawing/2014/main" id="{CFC80353-421F-2C79-5916-6329FA3715C9}"/>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قالب بندي زير سقف، تنها به شمع بندي و نصب چهارتراش در فواصل معين، جهت تأمين تكيهگاه هاي موقت تيرچه ها، محدود ميشود.</a:t>
            </a:r>
          </a:p>
        </p:txBody>
      </p:sp>
      <p:sp>
        <p:nvSpPr>
          <p:cNvPr id="9" name="Google Shape;1171;p37">
            <a:extLst>
              <a:ext uri="{FF2B5EF4-FFF2-40B4-BE49-F238E27FC236}">
                <a16:creationId xmlns:a16="http://schemas.microsoft.com/office/drawing/2014/main" id="{B8483865-C333-19C2-E1F9-7257AA51CFF9}"/>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172;p37">
            <a:extLst>
              <a:ext uri="{FF2B5EF4-FFF2-40B4-BE49-F238E27FC236}">
                <a16:creationId xmlns:a16="http://schemas.microsoft.com/office/drawing/2014/main" id="{EBF48303-9580-09B5-6629-E9C0C29600C7}"/>
              </a:ext>
            </a:extLst>
          </p:cNvPr>
          <p:cNvGrpSpPr/>
          <p:nvPr/>
        </p:nvGrpSpPr>
        <p:grpSpPr>
          <a:xfrm>
            <a:off x="1017449" y="822948"/>
            <a:ext cx="576000" cy="576000"/>
            <a:chOff x="710265" y="1121593"/>
            <a:chExt cx="715680" cy="715729"/>
          </a:xfrm>
        </p:grpSpPr>
        <p:sp>
          <p:nvSpPr>
            <p:cNvPr id="17" name="Google Shape;1173;p37">
              <a:extLst>
                <a:ext uri="{FF2B5EF4-FFF2-40B4-BE49-F238E27FC236}">
                  <a16:creationId xmlns:a16="http://schemas.microsoft.com/office/drawing/2014/main" id="{DAD22780-3173-77FD-94C5-4B07B5C98960}"/>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74;p37">
              <a:extLst>
                <a:ext uri="{FF2B5EF4-FFF2-40B4-BE49-F238E27FC236}">
                  <a16:creationId xmlns:a16="http://schemas.microsoft.com/office/drawing/2014/main" id="{BCF891C2-A06C-7DCD-06B0-106913022803}"/>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5</a:t>
              </a:r>
              <a:endParaRPr sz="1500" dirty="0"/>
            </a:p>
          </p:txBody>
        </p:sp>
      </p:grpSp>
      <p:grpSp>
        <p:nvGrpSpPr>
          <p:cNvPr id="19" name="Google Shape;1177;p37">
            <a:extLst>
              <a:ext uri="{FF2B5EF4-FFF2-40B4-BE49-F238E27FC236}">
                <a16:creationId xmlns:a16="http://schemas.microsoft.com/office/drawing/2014/main" id="{E479FA86-7DA3-C807-CD8C-A0CEA266327D}"/>
              </a:ext>
            </a:extLst>
          </p:cNvPr>
          <p:cNvGrpSpPr/>
          <p:nvPr/>
        </p:nvGrpSpPr>
        <p:grpSpPr>
          <a:xfrm>
            <a:off x="1017449" y="1584708"/>
            <a:ext cx="576000" cy="576000"/>
            <a:chOff x="710265" y="2213902"/>
            <a:chExt cx="715680" cy="715729"/>
          </a:xfrm>
        </p:grpSpPr>
        <p:sp>
          <p:nvSpPr>
            <p:cNvPr id="20" name="Google Shape;1178;p37">
              <a:extLst>
                <a:ext uri="{FF2B5EF4-FFF2-40B4-BE49-F238E27FC236}">
                  <a16:creationId xmlns:a16="http://schemas.microsoft.com/office/drawing/2014/main" id="{5C5C1AEF-9278-29F6-64E4-8EFFB11E9A1A}"/>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79;p37">
              <a:extLst>
                <a:ext uri="{FF2B5EF4-FFF2-40B4-BE49-F238E27FC236}">
                  <a16:creationId xmlns:a16="http://schemas.microsoft.com/office/drawing/2014/main" id="{D9C1EDA4-66C5-AC94-A9E4-148B165F29A3}"/>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6</a:t>
              </a:r>
              <a:endParaRPr sz="1500" dirty="0"/>
            </a:p>
          </p:txBody>
        </p:sp>
      </p:grpSp>
      <p:grpSp>
        <p:nvGrpSpPr>
          <p:cNvPr id="22" name="Google Shape;1180;p37">
            <a:extLst>
              <a:ext uri="{FF2B5EF4-FFF2-40B4-BE49-F238E27FC236}">
                <a16:creationId xmlns:a16="http://schemas.microsoft.com/office/drawing/2014/main" id="{93A07986-5195-16E5-0464-B8BECF6A5EF5}"/>
              </a:ext>
            </a:extLst>
          </p:cNvPr>
          <p:cNvGrpSpPr/>
          <p:nvPr/>
        </p:nvGrpSpPr>
        <p:grpSpPr>
          <a:xfrm>
            <a:off x="1017449" y="2361082"/>
            <a:ext cx="576000" cy="576000"/>
            <a:chOff x="710265" y="3306227"/>
            <a:chExt cx="715680" cy="715729"/>
          </a:xfrm>
        </p:grpSpPr>
        <p:sp>
          <p:nvSpPr>
            <p:cNvPr id="23" name="Google Shape;1181;p37">
              <a:extLst>
                <a:ext uri="{FF2B5EF4-FFF2-40B4-BE49-F238E27FC236}">
                  <a16:creationId xmlns:a16="http://schemas.microsoft.com/office/drawing/2014/main" id="{2A9002BC-C351-4694-282F-85DA21E5828A}"/>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 name="Google Shape;1182;p37">
              <a:extLst>
                <a:ext uri="{FF2B5EF4-FFF2-40B4-BE49-F238E27FC236}">
                  <a16:creationId xmlns:a16="http://schemas.microsoft.com/office/drawing/2014/main" id="{61D5332B-0620-3557-7EDD-39CE133B4615}"/>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dirty="0">
                  <a:cs typeface="IRAN Sans" panose="020B0400000000000000" pitchFamily="34" charset="-78"/>
                  <a:sym typeface="Fira Sans Extra Condensed Medium"/>
                </a:rPr>
                <a:t>7</a:t>
              </a:r>
              <a:endParaRPr dirty="0">
                <a:cs typeface="IRAN Sans" panose="020B0400000000000000" pitchFamily="34" charset="-78"/>
              </a:endParaRPr>
            </a:p>
          </p:txBody>
        </p:sp>
      </p:grpSp>
      <p:sp>
        <p:nvSpPr>
          <p:cNvPr id="25" name="Google Shape;1183;p37">
            <a:extLst>
              <a:ext uri="{FF2B5EF4-FFF2-40B4-BE49-F238E27FC236}">
                <a16:creationId xmlns:a16="http://schemas.microsoft.com/office/drawing/2014/main" id="{9A1BF56A-DEDD-29FD-142A-DE3E1FFF0008}"/>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84;p37">
            <a:extLst>
              <a:ext uri="{FF2B5EF4-FFF2-40B4-BE49-F238E27FC236}">
                <a16:creationId xmlns:a16="http://schemas.microsoft.com/office/drawing/2014/main" id="{29ABB1F8-862C-7DFA-87D2-F64A24C4904C}"/>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1180;p37">
            <a:extLst>
              <a:ext uri="{FF2B5EF4-FFF2-40B4-BE49-F238E27FC236}">
                <a16:creationId xmlns:a16="http://schemas.microsoft.com/office/drawing/2014/main" id="{B261B5ED-12DF-79DC-87D2-5A785E0EF8D4}"/>
              </a:ext>
            </a:extLst>
          </p:cNvPr>
          <p:cNvGrpSpPr/>
          <p:nvPr/>
        </p:nvGrpSpPr>
        <p:grpSpPr>
          <a:xfrm>
            <a:off x="1017449" y="3259728"/>
            <a:ext cx="576000" cy="576000"/>
            <a:chOff x="710265" y="3306227"/>
            <a:chExt cx="715680" cy="715729"/>
          </a:xfrm>
        </p:grpSpPr>
        <p:sp>
          <p:nvSpPr>
            <p:cNvPr id="28" name="Google Shape;1181;p37">
              <a:extLst>
                <a:ext uri="{FF2B5EF4-FFF2-40B4-BE49-F238E27FC236}">
                  <a16:creationId xmlns:a16="http://schemas.microsoft.com/office/drawing/2014/main" id="{7DB7F2AD-D4B4-7490-537D-02E31201B917}"/>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182;p37">
              <a:extLst>
                <a:ext uri="{FF2B5EF4-FFF2-40B4-BE49-F238E27FC236}">
                  <a16:creationId xmlns:a16="http://schemas.microsoft.com/office/drawing/2014/main" id="{D0D485C2-4DE7-0CB2-585D-FA960E262014}"/>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8</a:t>
              </a:r>
              <a:endParaRPr sz="1500" dirty="0"/>
            </a:p>
          </p:txBody>
        </p:sp>
      </p:grpSp>
      <p:sp>
        <p:nvSpPr>
          <p:cNvPr id="10" name="Google Shape;324;p20">
            <a:hlinkClick r:id="rId5" action="ppaction://hlinksldjump"/>
            <a:extLst>
              <a:ext uri="{FF2B5EF4-FFF2-40B4-BE49-F238E27FC236}">
                <a16:creationId xmlns:a16="http://schemas.microsoft.com/office/drawing/2014/main" id="{11112D6D-9169-8002-6E45-1B6E09713316}"/>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8062477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wipe(up)">
                                      <p:cBhvr>
                                        <p:cTn id="41" dur="500"/>
                                        <p:tgtEl>
                                          <p:spTgt spid="9"/>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wipe(right)">
                                      <p:cBhvr>
                                        <p:cTn id="45" dur="500"/>
                                        <p:tgtEl>
                                          <p:spTgt spid="8"/>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up)">
                                      <p:cBhvr>
                                        <p:cTn id="53" dur="500"/>
                                        <p:tgtEl>
                                          <p:spTgt spid="25"/>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right)">
                                      <p:cBhvr>
                                        <p:cTn id="57" dur="500"/>
                                        <p:tgtEl>
                                          <p:spTgt spid="5"/>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wipe(up)">
                                      <p:cBhvr>
                                        <p:cTn id="65" dur="500"/>
                                        <p:tgtEl>
                                          <p:spTgt spid="26"/>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wipe(right)">
                                      <p:cBhvr>
                                        <p:cTn id="69" dur="500"/>
                                        <p:tgtEl>
                                          <p:spTgt spid="6"/>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4" grpId="0" animBg="1"/>
      <p:bldP spid="5" grpId="0" animBg="1"/>
      <p:bldP spid="6" grpId="0" animBg="1"/>
      <p:bldP spid="8" grpId="0" animBg="1"/>
      <p:bldP spid="9" grpId="0" animBg="1"/>
      <p:bldP spid="25" grpId="0" animBg="1"/>
      <p:bldP spid="2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728771" y="230661"/>
            <a:ext cx="3099565"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مزایای استفاده از سقف تیرچه و بلوک</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66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2" name="Google Shape;309;p20">
            <a:hlinkClick r:id="" action="ppaction://noaction"/>
            <a:extLst>
              <a:ext uri="{FF2B5EF4-FFF2-40B4-BE49-F238E27FC236}">
                <a16:creationId xmlns:a16="http://schemas.microsoft.com/office/drawing/2014/main" id="{2011A298-D923-D86A-6957-38CF3EA4962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3" name="Google Shape;309;p20">
            <a:hlinkClick r:id="rId4" action="ppaction://hlinksldjump"/>
            <a:extLst>
              <a:ext uri="{FF2B5EF4-FFF2-40B4-BE49-F238E27FC236}">
                <a16:creationId xmlns:a16="http://schemas.microsoft.com/office/drawing/2014/main" id="{AB644A47-974F-572D-1B4F-C24AE7536F16}"/>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4" name="Google Shape;1167;p37">
            <a:extLst>
              <a:ext uri="{FF2B5EF4-FFF2-40B4-BE49-F238E27FC236}">
                <a16:creationId xmlns:a16="http://schemas.microsoft.com/office/drawing/2014/main" id="{C5DD0C78-D0C3-BBD7-E80F-A1AD1DE06D04}"/>
              </a:ext>
            </a:extLst>
          </p:cNvPr>
          <p:cNvSpPr/>
          <p:nvPr/>
        </p:nvSpPr>
        <p:spPr>
          <a:xfrm>
            <a:off x="1313026" y="726139"/>
            <a:ext cx="6551078" cy="672809"/>
          </a:xfrm>
          <a:custGeom>
            <a:avLst/>
            <a:gdLst/>
            <a:ahLst/>
            <a:cxnLst/>
            <a:rect l="l" t="t" r="r" b="b"/>
            <a:pathLst>
              <a:path w="80333" h="27766" extrusionOk="0">
                <a:moveTo>
                  <a:pt x="1" y="0"/>
                </a:moveTo>
                <a:lnTo>
                  <a:pt x="1" y="27766"/>
                </a:lnTo>
                <a:lnTo>
                  <a:pt x="80332" y="27766"/>
                </a:lnTo>
                <a:lnTo>
                  <a:pt x="80332" y="0"/>
                </a:lnTo>
                <a:close/>
              </a:path>
            </a:pathLst>
          </a:custGeom>
          <a:solidFill>
            <a:schemeClr val="accent1"/>
          </a:solidFill>
          <a:ln>
            <a:noFill/>
          </a:ln>
        </p:spPr>
        <p:txBody>
          <a:bodyPr spcFirstLastPara="1" wrap="square" lIns="457200" tIns="91425" rIns="457200" bIns="91425" anchor="ctr" anchorCtr="0">
            <a:noAutofit/>
          </a:bodyPr>
          <a:lstStyle/>
          <a:p>
            <a:pPr lvl="0" algn="ctr">
              <a:buClr>
                <a:schemeClr val="dk1"/>
              </a:buClr>
              <a:buSzPts val="1100"/>
            </a:pPr>
            <a:r>
              <a:rPr lang="fa-IR" b="1" dirty="0">
                <a:solidFill>
                  <a:srgbClr val="FFFFFF"/>
                </a:solidFill>
                <a:latin typeface="Roboto"/>
                <a:ea typeface="Roboto"/>
                <a:cs typeface="IRAN Sans" panose="020B0400000000000000" pitchFamily="34" charset="-78"/>
                <a:sym typeface="Roboto"/>
              </a:rPr>
              <a:t>با توجه به امكان ايجاد يك ديافراگم صلب يا نيمه صلب در سقف هاي تيرچه و بلوك، با اعمال تمهيدات لازم، اين نوع سقف ها نسبت به ساير سقف ها از عملكرد لرزه اي بهتري نسبت به ساير سقف‌ها برخوردار هستند.</a:t>
            </a:r>
            <a:endParaRPr b="1" dirty="0">
              <a:solidFill>
                <a:srgbClr val="FFFFFF"/>
              </a:solidFill>
              <a:latin typeface="Roboto"/>
              <a:ea typeface="Roboto"/>
              <a:cs typeface="IRAN Sans" panose="020B0400000000000000" pitchFamily="34" charset="-78"/>
              <a:sym typeface="Roboto"/>
            </a:endParaRPr>
          </a:p>
        </p:txBody>
      </p:sp>
      <p:sp>
        <p:nvSpPr>
          <p:cNvPr id="5" name="Google Shape;1168;p37">
            <a:extLst>
              <a:ext uri="{FF2B5EF4-FFF2-40B4-BE49-F238E27FC236}">
                <a16:creationId xmlns:a16="http://schemas.microsoft.com/office/drawing/2014/main" id="{18E7FB23-298B-ACB4-C98C-DCF6A4AC692A}"/>
              </a:ext>
            </a:extLst>
          </p:cNvPr>
          <p:cNvSpPr/>
          <p:nvPr/>
        </p:nvSpPr>
        <p:spPr>
          <a:xfrm>
            <a:off x="1313026" y="235430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3"/>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دليل توليد تيرچه ها در كارخانه و پيش ساخته بودن آنها، كنترل دقيق بر مقدار بتن پوششي روي آرماتورهاي كششي انجام ميشود.</a:t>
            </a:r>
          </a:p>
        </p:txBody>
      </p:sp>
      <p:sp>
        <p:nvSpPr>
          <p:cNvPr id="6" name="Google Shape;1169;p37">
            <a:extLst>
              <a:ext uri="{FF2B5EF4-FFF2-40B4-BE49-F238E27FC236}">
                <a16:creationId xmlns:a16="http://schemas.microsoft.com/office/drawing/2014/main" id="{5EF777EC-825E-050A-52F5-A3434244F458}"/>
              </a:ext>
            </a:extLst>
          </p:cNvPr>
          <p:cNvSpPr/>
          <p:nvPr/>
        </p:nvSpPr>
        <p:spPr>
          <a:xfrm>
            <a:off x="1313025" y="312991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4"/>
          </a:solidFill>
          <a:ln>
            <a:noFill/>
          </a:ln>
        </p:spPr>
        <p:txBody>
          <a:bodyPr spcFirstLastPara="1" wrap="square" lIns="457200" tIns="91425" rIns="457200" bIns="91425" anchor="ctr" anchorCtr="0">
            <a:noAutofit/>
          </a:bodyPr>
          <a:lstStyle/>
          <a:p>
            <a:pPr lvl="0" algn="ctr">
              <a:buClr>
                <a:schemeClr val="dk1"/>
              </a:buClr>
              <a:buSzPts val="1100"/>
            </a:pPr>
            <a:r>
              <a:rPr lang="fa-IR" sz="1600" dirty="0">
                <a:solidFill>
                  <a:srgbClr val="FFFFFF"/>
                </a:solidFill>
                <a:latin typeface="Roboto"/>
                <a:ea typeface="Roboto"/>
                <a:cs typeface="IRAN Sans" panose="020B0400000000000000" pitchFamily="34" charset="-78"/>
                <a:sym typeface="Roboto"/>
              </a:rPr>
              <a:t>به علت مسطح بودن زير سقف در مقايسه با ساير سقف ها نظير (طاق ضربي)، ضخامت نازك کاري به حداقل ميرسد و در نتيجه بار مرده سقف كاهش مييابد.</a:t>
            </a:r>
          </a:p>
        </p:txBody>
      </p:sp>
      <p:sp>
        <p:nvSpPr>
          <p:cNvPr id="8" name="Google Shape;1170;p37">
            <a:extLst>
              <a:ext uri="{FF2B5EF4-FFF2-40B4-BE49-F238E27FC236}">
                <a16:creationId xmlns:a16="http://schemas.microsoft.com/office/drawing/2014/main" id="{CFC80353-421F-2C79-5916-6329FA3715C9}"/>
              </a:ext>
            </a:extLst>
          </p:cNvPr>
          <p:cNvSpPr/>
          <p:nvPr/>
        </p:nvSpPr>
        <p:spPr>
          <a:xfrm>
            <a:off x="1313026" y="1578699"/>
            <a:ext cx="6551078" cy="595860"/>
          </a:xfrm>
          <a:custGeom>
            <a:avLst/>
            <a:gdLst/>
            <a:ahLst/>
            <a:cxnLst/>
            <a:rect l="l" t="t" r="r" b="b"/>
            <a:pathLst>
              <a:path w="80333" h="27766" extrusionOk="0">
                <a:moveTo>
                  <a:pt x="1" y="0"/>
                </a:moveTo>
                <a:lnTo>
                  <a:pt x="1" y="27765"/>
                </a:lnTo>
                <a:lnTo>
                  <a:pt x="80332" y="27765"/>
                </a:lnTo>
                <a:lnTo>
                  <a:pt x="80332" y="0"/>
                </a:lnTo>
                <a:close/>
              </a:path>
            </a:pathLst>
          </a:custGeom>
          <a:solidFill>
            <a:schemeClr val="accent2"/>
          </a:solidFill>
          <a:ln>
            <a:noFill/>
          </a:ln>
        </p:spPr>
        <p:txBody>
          <a:bodyPr spcFirstLastPara="1" wrap="square" lIns="457200" tIns="91425" rIns="457200" bIns="91425" anchor="ctr" anchorCtr="0">
            <a:noAutofit/>
          </a:bodyPr>
          <a:lstStyle/>
          <a:p>
            <a:pPr lvl="0" algn="ctr">
              <a:buClr>
                <a:schemeClr val="dk1"/>
              </a:buClr>
              <a:buSzPts val="1100"/>
            </a:pPr>
            <a:r>
              <a:rPr lang="fa-IR" sz="1600">
                <a:solidFill>
                  <a:srgbClr val="FFFFFF"/>
                </a:solidFill>
                <a:latin typeface="Roboto"/>
                <a:ea typeface="Roboto"/>
                <a:cs typeface="IRAN Sans" panose="020B0400000000000000" pitchFamily="34" charset="-78"/>
                <a:sym typeface="Roboto"/>
              </a:rPr>
              <a:t>بلوك هاي مجوف در سقف هاي تيرچه و بلوك به عنوان عايق حرارتي عمل ميكنند.</a:t>
            </a:r>
            <a:endParaRPr lang="fa-IR" sz="1600" dirty="0">
              <a:solidFill>
                <a:srgbClr val="FFFFFF"/>
              </a:solidFill>
              <a:latin typeface="Roboto"/>
              <a:ea typeface="Roboto"/>
              <a:cs typeface="IRAN Sans" panose="020B0400000000000000" pitchFamily="34" charset="-78"/>
              <a:sym typeface="Roboto"/>
            </a:endParaRPr>
          </a:p>
        </p:txBody>
      </p:sp>
      <p:sp>
        <p:nvSpPr>
          <p:cNvPr id="9" name="Google Shape;1171;p37">
            <a:extLst>
              <a:ext uri="{FF2B5EF4-FFF2-40B4-BE49-F238E27FC236}">
                <a16:creationId xmlns:a16="http://schemas.microsoft.com/office/drawing/2014/main" id="{B8483865-C333-19C2-E1F9-7257AA51CFF9}"/>
              </a:ext>
            </a:extLst>
          </p:cNvPr>
          <p:cNvSpPr/>
          <p:nvPr/>
        </p:nvSpPr>
        <p:spPr>
          <a:xfrm>
            <a:off x="7516551" y="1080042"/>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172;p37">
            <a:extLst>
              <a:ext uri="{FF2B5EF4-FFF2-40B4-BE49-F238E27FC236}">
                <a16:creationId xmlns:a16="http://schemas.microsoft.com/office/drawing/2014/main" id="{EBF48303-9580-09B5-6629-E9C0C29600C7}"/>
              </a:ext>
            </a:extLst>
          </p:cNvPr>
          <p:cNvGrpSpPr/>
          <p:nvPr/>
        </p:nvGrpSpPr>
        <p:grpSpPr>
          <a:xfrm>
            <a:off x="1017449" y="780747"/>
            <a:ext cx="576000" cy="576000"/>
            <a:chOff x="710265" y="1121593"/>
            <a:chExt cx="715680" cy="715729"/>
          </a:xfrm>
        </p:grpSpPr>
        <p:sp>
          <p:nvSpPr>
            <p:cNvPr id="17" name="Google Shape;1173;p37">
              <a:extLst>
                <a:ext uri="{FF2B5EF4-FFF2-40B4-BE49-F238E27FC236}">
                  <a16:creationId xmlns:a16="http://schemas.microsoft.com/office/drawing/2014/main" id="{DAD22780-3173-77FD-94C5-4B07B5C98960}"/>
                </a:ext>
              </a:extLst>
            </p:cNvPr>
            <p:cNvSpPr/>
            <p:nvPr/>
          </p:nvSpPr>
          <p:spPr>
            <a:xfrm>
              <a:off x="710265" y="1121593"/>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74;p37">
              <a:extLst>
                <a:ext uri="{FF2B5EF4-FFF2-40B4-BE49-F238E27FC236}">
                  <a16:creationId xmlns:a16="http://schemas.microsoft.com/office/drawing/2014/main" id="{BCF891C2-A06C-7DCD-06B0-106913022803}"/>
                </a:ext>
              </a:extLst>
            </p:cNvPr>
            <p:cNvSpPr/>
            <p:nvPr/>
          </p:nvSpPr>
          <p:spPr>
            <a:xfrm>
              <a:off x="763976" y="117526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9</a:t>
              </a:r>
              <a:endParaRPr sz="1500" dirty="0"/>
            </a:p>
          </p:txBody>
        </p:sp>
      </p:grpSp>
      <p:grpSp>
        <p:nvGrpSpPr>
          <p:cNvPr id="19" name="Google Shape;1177;p37">
            <a:extLst>
              <a:ext uri="{FF2B5EF4-FFF2-40B4-BE49-F238E27FC236}">
                <a16:creationId xmlns:a16="http://schemas.microsoft.com/office/drawing/2014/main" id="{E479FA86-7DA3-C807-CD8C-A0CEA266327D}"/>
              </a:ext>
            </a:extLst>
          </p:cNvPr>
          <p:cNvGrpSpPr/>
          <p:nvPr/>
        </p:nvGrpSpPr>
        <p:grpSpPr>
          <a:xfrm>
            <a:off x="1017449" y="1584708"/>
            <a:ext cx="576000" cy="576000"/>
            <a:chOff x="710265" y="2213902"/>
            <a:chExt cx="715680" cy="715729"/>
          </a:xfrm>
        </p:grpSpPr>
        <p:sp>
          <p:nvSpPr>
            <p:cNvPr id="20" name="Google Shape;1178;p37">
              <a:extLst>
                <a:ext uri="{FF2B5EF4-FFF2-40B4-BE49-F238E27FC236}">
                  <a16:creationId xmlns:a16="http://schemas.microsoft.com/office/drawing/2014/main" id="{5C5C1AEF-9278-29F6-64E4-8EFFB11E9A1A}"/>
                </a:ext>
              </a:extLst>
            </p:cNvPr>
            <p:cNvSpPr/>
            <p:nvPr/>
          </p:nvSpPr>
          <p:spPr>
            <a:xfrm>
              <a:off x="710265" y="2213902"/>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79;p37">
              <a:extLst>
                <a:ext uri="{FF2B5EF4-FFF2-40B4-BE49-F238E27FC236}">
                  <a16:creationId xmlns:a16="http://schemas.microsoft.com/office/drawing/2014/main" id="{D9C1EDA4-66C5-AC94-A9E4-148B165F29A3}"/>
                </a:ext>
              </a:extLst>
            </p:cNvPr>
            <p:cNvSpPr/>
            <p:nvPr/>
          </p:nvSpPr>
          <p:spPr>
            <a:xfrm>
              <a:off x="763976" y="2267355"/>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10</a:t>
              </a:r>
              <a:endParaRPr sz="1500" dirty="0"/>
            </a:p>
          </p:txBody>
        </p:sp>
      </p:grpSp>
      <p:grpSp>
        <p:nvGrpSpPr>
          <p:cNvPr id="22" name="Google Shape;1180;p37">
            <a:extLst>
              <a:ext uri="{FF2B5EF4-FFF2-40B4-BE49-F238E27FC236}">
                <a16:creationId xmlns:a16="http://schemas.microsoft.com/office/drawing/2014/main" id="{93A07986-5195-16E5-0464-B8BECF6A5EF5}"/>
              </a:ext>
            </a:extLst>
          </p:cNvPr>
          <p:cNvGrpSpPr/>
          <p:nvPr/>
        </p:nvGrpSpPr>
        <p:grpSpPr>
          <a:xfrm>
            <a:off x="1017449" y="2361082"/>
            <a:ext cx="576000" cy="576000"/>
            <a:chOff x="710265" y="3306227"/>
            <a:chExt cx="715680" cy="715729"/>
          </a:xfrm>
        </p:grpSpPr>
        <p:sp>
          <p:nvSpPr>
            <p:cNvPr id="23" name="Google Shape;1181;p37">
              <a:extLst>
                <a:ext uri="{FF2B5EF4-FFF2-40B4-BE49-F238E27FC236}">
                  <a16:creationId xmlns:a16="http://schemas.microsoft.com/office/drawing/2014/main" id="{2A9002BC-C351-4694-282F-85DA21E5828A}"/>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 name="Google Shape;1182;p37">
              <a:extLst>
                <a:ext uri="{FF2B5EF4-FFF2-40B4-BE49-F238E27FC236}">
                  <a16:creationId xmlns:a16="http://schemas.microsoft.com/office/drawing/2014/main" id="{61D5332B-0620-3557-7EDD-39CE133B4615}"/>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dirty="0">
                  <a:cs typeface="IRAN Sans" panose="020B0400000000000000" pitchFamily="34" charset="-78"/>
                  <a:sym typeface="Fira Sans Extra Condensed Medium"/>
                </a:rPr>
                <a:t>11</a:t>
              </a:r>
              <a:endParaRPr dirty="0">
                <a:cs typeface="IRAN Sans" panose="020B0400000000000000" pitchFamily="34" charset="-78"/>
              </a:endParaRPr>
            </a:p>
          </p:txBody>
        </p:sp>
      </p:grpSp>
      <p:sp>
        <p:nvSpPr>
          <p:cNvPr id="25" name="Google Shape;1183;p37">
            <a:extLst>
              <a:ext uri="{FF2B5EF4-FFF2-40B4-BE49-F238E27FC236}">
                <a16:creationId xmlns:a16="http://schemas.microsoft.com/office/drawing/2014/main" id="{9A1BF56A-DEDD-29FD-142A-DE3E1FFF0008}"/>
              </a:ext>
            </a:extLst>
          </p:cNvPr>
          <p:cNvSpPr/>
          <p:nvPr/>
        </p:nvSpPr>
        <p:spPr>
          <a:xfrm>
            <a:off x="7512732" y="1936870"/>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184;p37">
            <a:extLst>
              <a:ext uri="{FF2B5EF4-FFF2-40B4-BE49-F238E27FC236}">
                <a16:creationId xmlns:a16="http://schemas.microsoft.com/office/drawing/2014/main" id="{29ABB1F8-862C-7DFA-87D2-F64A24C4904C}"/>
              </a:ext>
            </a:extLst>
          </p:cNvPr>
          <p:cNvSpPr/>
          <p:nvPr/>
        </p:nvSpPr>
        <p:spPr>
          <a:xfrm>
            <a:off x="7512732" y="2813318"/>
            <a:ext cx="695104" cy="680006"/>
          </a:xfrm>
          <a:prstGeom prst="arc">
            <a:avLst>
              <a:gd name="adj1" fmla="val 16200000"/>
              <a:gd name="adj2" fmla="val 5396403"/>
            </a:avLst>
          </a:prstGeom>
          <a:noFill/>
          <a:ln w="9525" cap="flat" cmpd="sng">
            <a:solidFill>
              <a:srgbClr val="000000"/>
            </a:solidFill>
            <a:prstDash val="dash"/>
            <a:round/>
            <a:headEnd type="none" w="sm" len="sm"/>
            <a:tailEnd type="stealth"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1180;p37">
            <a:extLst>
              <a:ext uri="{FF2B5EF4-FFF2-40B4-BE49-F238E27FC236}">
                <a16:creationId xmlns:a16="http://schemas.microsoft.com/office/drawing/2014/main" id="{B261B5ED-12DF-79DC-87D2-5A785E0EF8D4}"/>
              </a:ext>
            </a:extLst>
          </p:cNvPr>
          <p:cNvGrpSpPr/>
          <p:nvPr/>
        </p:nvGrpSpPr>
        <p:grpSpPr>
          <a:xfrm>
            <a:off x="1017449" y="3143006"/>
            <a:ext cx="576000" cy="576000"/>
            <a:chOff x="710265" y="3306227"/>
            <a:chExt cx="715680" cy="715729"/>
          </a:xfrm>
        </p:grpSpPr>
        <p:sp>
          <p:nvSpPr>
            <p:cNvPr id="28" name="Google Shape;1181;p37">
              <a:extLst>
                <a:ext uri="{FF2B5EF4-FFF2-40B4-BE49-F238E27FC236}">
                  <a16:creationId xmlns:a16="http://schemas.microsoft.com/office/drawing/2014/main" id="{7DB7F2AD-D4B4-7490-537D-02E31201B917}"/>
                </a:ext>
              </a:extLst>
            </p:cNvPr>
            <p:cNvSpPr/>
            <p:nvPr/>
          </p:nvSpPr>
          <p:spPr>
            <a:xfrm>
              <a:off x="710265" y="3306227"/>
              <a:ext cx="715680" cy="715729"/>
            </a:xfrm>
            <a:custGeom>
              <a:avLst/>
              <a:gdLst/>
              <a:ahLst/>
              <a:cxnLst/>
              <a:rect l="l" t="t" r="r" b="b"/>
              <a:pathLst>
                <a:path w="19694" h="19694" extrusionOk="0">
                  <a:moveTo>
                    <a:pt x="9847" y="1"/>
                  </a:moveTo>
                  <a:cubicBezTo>
                    <a:pt x="4417" y="1"/>
                    <a:pt x="0" y="4418"/>
                    <a:pt x="0" y="9847"/>
                  </a:cubicBezTo>
                  <a:cubicBezTo>
                    <a:pt x="0" y="15276"/>
                    <a:pt x="4417" y="19694"/>
                    <a:pt x="9847" y="19694"/>
                  </a:cubicBezTo>
                  <a:cubicBezTo>
                    <a:pt x="15276" y="19694"/>
                    <a:pt x="19693" y="15276"/>
                    <a:pt x="19693" y="9847"/>
                  </a:cubicBezTo>
                  <a:cubicBezTo>
                    <a:pt x="19693" y="4418"/>
                    <a:pt x="15276" y="1"/>
                    <a:pt x="9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182;p37">
              <a:extLst>
                <a:ext uri="{FF2B5EF4-FFF2-40B4-BE49-F238E27FC236}">
                  <a16:creationId xmlns:a16="http://schemas.microsoft.com/office/drawing/2014/main" id="{D0D485C2-4DE7-0CB2-585D-FA960E262014}"/>
                </a:ext>
              </a:extLst>
            </p:cNvPr>
            <p:cNvSpPr/>
            <p:nvPr/>
          </p:nvSpPr>
          <p:spPr>
            <a:xfrm>
              <a:off x="763976" y="3359680"/>
              <a:ext cx="608292" cy="608822"/>
            </a:xfrm>
            <a:custGeom>
              <a:avLst/>
              <a:gdLst/>
              <a:ahLst/>
              <a:cxnLst/>
              <a:rect l="l" t="t" r="r" b="b"/>
              <a:pathLst>
                <a:path w="14812" h="14824" extrusionOk="0">
                  <a:moveTo>
                    <a:pt x="7406" y="0"/>
                  </a:moveTo>
                  <a:cubicBezTo>
                    <a:pt x="3322" y="0"/>
                    <a:pt x="0" y="3322"/>
                    <a:pt x="0" y="7406"/>
                  </a:cubicBezTo>
                  <a:cubicBezTo>
                    <a:pt x="0" y="11490"/>
                    <a:pt x="3322" y="14824"/>
                    <a:pt x="7406" y="14824"/>
                  </a:cubicBezTo>
                  <a:cubicBezTo>
                    <a:pt x="11490" y="14824"/>
                    <a:pt x="14811" y="11490"/>
                    <a:pt x="14811" y="7406"/>
                  </a:cubicBezTo>
                  <a:cubicBezTo>
                    <a:pt x="14811" y="3322"/>
                    <a:pt x="11490" y="0"/>
                    <a:pt x="7406" y="0"/>
                  </a:cubicBez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US" sz="1500" dirty="0">
                  <a:latin typeface="Fira Sans Extra Condensed Medium"/>
                  <a:cs typeface="IRAN Sans" panose="020B0400000000000000" pitchFamily="34" charset="-78"/>
                  <a:sym typeface="Fira Sans Extra Condensed Medium"/>
                </a:rPr>
                <a:t>12</a:t>
              </a:r>
              <a:endParaRPr sz="1500" dirty="0"/>
            </a:p>
          </p:txBody>
        </p:sp>
      </p:grpSp>
      <p:sp>
        <p:nvSpPr>
          <p:cNvPr id="10" name="Google Shape;324;p20">
            <a:hlinkClick r:id="rId5" action="ppaction://hlinksldjump"/>
            <a:extLst>
              <a:ext uri="{FF2B5EF4-FFF2-40B4-BE49-F238E27FC236}">
                <a16:creationId xmlns:a16="http://schemas.microsoft.com/office/drawing/2014/main" id="{B288C6AA-43A1-DA27-060B-160F3949B729}"/>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317212292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par>
                          <p:cTn id="34" fill="hold">
                            <p:stCondLst>
                              <p:cond delay="2050"/>
                            </p:stCondLst>
                            <p:childTnLst>
                              <p:par>
                                <p:cTn id="35" presetID="22" presetClass="entr" presetSubtype="8"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wipe(up)">
                                      <p:cBhvr>
                                        <p:cTn id="41" dur="500"/>
                                        <p:tgtEl>
                                          <p:spTgt spid="9"/>
                                        </p:tgtEl>
                                      </p:cBhvr>
                                    </p:animEffect>
                                  </p:childTnLst>
                                </p:cTn>
                              </p:par>
                            </p:childTnLst>
                          </p:cTn>
                        </p:par>
                        <p:par>
                          <p:cTn id="42" fill="hold">
                            <p:stCondLst>
                              <p:cond delay="3050"/>
                            </p:stCondLst>
                            <p:childTnLst>
                              <p:par>
                                <p:cTn id="43" presetID="22" presetClass="entr" presetSubtype="2" fill="hold" grpId="0" nodeType="after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wipe(right)">
                                      <p:cBhvr>
                                        <p:cTn id="45" dur="500"/>
                                        <p:tgtEl>
                                          <p:spTgt spid="8"/>
                                        </p:tgtEl>
                                      </p:cBhvr>
                                    </p:animEffect>
                                  </p:childTnLst>
                                </p:cTn>
                              </p:par>
                            </p:childTnLst>
                          </p:cTn>
                        </p:par>
                        <p:par>
                          <p:cTn id="46" fill="hold">
                            <p:stCondLst>
                              <p:cond delay="3550"/>
                            </p:stCondLst>
                            <p:childTnLst>
                              <p:par>
                                <p:cTn id="47" presetID="10" presetClass="entr" presetSubtype="0"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childTnLst>
                          </p:cTn>
                        </p:par>
                        <p:par>
                          <p:cTn id="50" fill="hold">
                            <p:stCondLst>
                              <p:cond delay="4050"/>
                            </p:stCondLst>
                            <p:childTnLst>
                              <p:par>
                                <p:cTn id="51" presetID="22" presetClass="entr" presetSubtype="1" fill="hold" grpId="0" nodeType="after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up)">
                                      <p:cBhvr>
                                        <p:cTn id="53" dur="500"/>
                                        <p:tgtEl>
                                          <p:spTgt spid="25"/>
                                        </p:tgtEl>
                                      </p:cBhvr>
                                    </p:animEffect>
                                  </p:childTnLst>
                                </p:cTn>
                              </p:par>
                            </p:childTnLst>
                          </p:cTn>
                        </p:par>
                        <p:par>
                          <p:cTn id="54" fill="hold">
                            <p:stCondLst>
                              <p:cond delay="4550"/>
                            </p:stCondLst>
                            <p:childTnLst>
                              <p:par>
                                <p:cTn id="55" presetID="22" presetClass="entr" presetSubtype="2" fill="hold" grpId="0" nodeType="after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right)">
                                      <p:cBhvr>
                                        <p:cTn id="57" dur="500"/>
                                        <p:tgtEl>
                                          <p:spTgt spid="5"/>
                                        </p:tgtEl>
                                      </p:cBhvr>
                                    </p:animEffect>
                                  </p:childTnLst>
                                </p:cTn>
                              </p:par>
                            </p:childTnLst>
                          </p:cTn>
                        </p:par>
                        <p:par>
                          <p:cTn id="58" fill="hold">
                            <p:stCondLst>
                              <p:cond delay="5050"/>
                            </p:stCondLst>
                            <p:childTnLst>
                              <p:par>
                                <p:cTn id="59" presetID="10" presetClass="entr" presetSubtype="0" fill="hold" nodeType="after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par>
                          <p:cTn id="62" fill="hold">
                            <p:stCondLst>
                              <p:cond delay="5550"/>
                            </p:stCondLst>
                            <p:childTnLst>
                              <p:par>
                                <p:cTn id="63" presetID="22" presetClass="entr" presetSubtype="1" fill="hold" grpId="0"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wipe(up)">
                                      <p:cBhvr>
                                        <p:cTn id="65" dur="500"/>
                                        <p:tgtEl>
                                          <p:spTgt spid="26"/>
                                        </p:tgtEl>
                                      </p:cBhvr>
                                    </p:animEffect>
                                  </p:childTnLst>
                                </p:cTn>
                              </p:par>
                            </p:childTnLst>
                          </p:cTn>
                        </p:par>
                        <p:par>
                          <p:cTn id="66" fill="hold">
                            <p:stCondLst>
                              <p:cond delay="6050"/>
                            </p:stCondLst>
                            <p:childTnLst>
                              <p:par>
                                <p:cTn id="67" presetID="22" presetClass="entr" presetSubtype="2" fill="hold" grpId="0" nodeType="after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wipe(right)">
                                      <p:cBhvr>
                                        <p:cTn id="69" dur="500"/>
                                        <p:tgtEl>
                                          <p:spTgt spid="6"/>
                                        </p:tgtEl>
                                      </p:cBhvr>
                                    </p:animEffect>
                                  </p:childTnLst>
                                </p:cTn>
                              </p:par>
                            </p:childTnLst>
                          </p:cTn>
                        </p:par>
                        <p:par>
                          <p:cTn id="70" fill="hold">
                            <p:stCondLst>
                              <p:cond delay="6550"/>
                            </p:stCondLst>
                            <p:childTnLst>
                              <p:par>
                                <p:cTn id="71" presetID="10" presetClass="entr" presetSubtype="0" fill="hold" nodeType="after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4" grpId="0" animBg="1"/>
      <p:bldP spid="5" grpId="0" animBg="1"/>
      <p:bldP spid="6" grpId="0" animBg="1"/>
      <p:bldP spid="8" grpId="0" animBg="1"/>
      <p:bldP spid="9" grpId="0" animBg="1"/>
      <p:bldP spid="25" grpId="0" animBg="1"/>
      <p:bldP spid="2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اجزای تشکیل دهنده سقف تیرچه و بلوک</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67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8" name="Picture 7">
            <a:extLst>
              <a:ext uri="{FF2B5EF4-FFF2-40B4-BE49-F238E27FC236}">
                <a16:creationId xmlns:a16="http://schemas.microsoft.com/office/drawing/2014/main" id="{A5D58E0D-91C5-5CB1-2094-1D722B860B2D}"/>
              </a:ext>
            </a:extLst>
          </p:cNvPr>
          <p:cNvPicPr>
            <a:picLocks noChangeAspect="1"/>
          </p:cNvPicPr>
          <p:nvPr/>
        </p:nvPicPr>
        <p:blipFill>
          <a:blip r:embed="rId5"/>
          <a:stretch>
            <a:fillRect/>
          </a:stretch>
        </p:blipFill>
        <p:spPr>
          <a:xfrm>
            <a:off x="41149" y="1067929"/>
            <a:ext cx="4565162" cy="2193251"/>
          </a:xfrm>
          <a:prstGeom prst="rect">
            <a:avLst/>
          </a:prstGeom>
        </p:spPr>
      </p:pic>
      <p:sp>
        <p:nvSpPr>
          <p:cNvPr id="2" name="Rectangle 1">
            <a:extLst>
              <a:ext uri="{FF2B5EF4-FFF2-40B4-BE49-F238E27FC236}">
                <a16:creationId xmlns:a16="http://schemas.microsoft.com/office/drawing/2014/main" id="{9AE1C37C-2030-469B-CAA3-E03DFE6D6FA8}"/>
              </a:ext>
            </a:extLst>
          </p:cNvPr>
          <p:cNvSpPr/>
          <p:nvPr/>
        </p:nvSpPr>
        <p:spPr>
          <a:xfrm>
            <a:off x="4570352" y="606010"/>
            <a:ext cx="4132906" cy="3446169"/>
          </a:xfrm>
          <a:prstGeom prst="rect">
            <a:avLst/>
          </a:prstGeom>
          <a:solidFill>
            <a:schemeClr val="bg1">
              <a:alpha val="90000"/>
            </a:schemeClr>
          </a:solidFill>
          <a:ln>
            <a:solidFill>
              <a:schemeClr val="accent2"/>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b="1" dirty="0">
                <a:solidFill>
                  <a:schemeClr val="tx1">
                    <a:lumMod val="95000"/>
                    <a:lumOff val="5000"/>
                  </a:schemeClr>
                </a:solidFill>
                <a:cs typeface="IRAN Sans" panose="020B0400000000000000" pitchFamily="34" charset="-78"/>
              </a:rPr>
              <a:t>سقف هاي تيرچه و بلوك، تلفيقي از دو روش پيش ساختگي و بتن ريزي در محل است كه در آن قالب تحتاني به كلي حذف</a:t>
            </a:r>
            <a:r>
              <a:rPr lang="en-US" b="1" dirty="0">
                <a:solidFill>
                  <a:schemeClr val="tx1">
                    <a:lumMod val="95000"/>
                    <a:lumOff val="5000"/>
                  </a:schemeClr>
                </a:solidFill>
                <a:cs typeface="IRAN Sans" panose="020B0400000000000000" pitchFamily="34" charset="-78"/>
              </a:rPr>
              <a:t> </a:t>
            </a:r>
            <a:r>
              <a:rPr lang="fa-IR" b="1" dirty="0">
                <a:solidFill>
                  <a:schemeClr val="tx1">
                    <a:lumMod val="95000"/>
                    <a:lumOff val="5000"/>
                  </a:schemeClr>
                </a:solidFill>
                <a:cs typeface="IRAN Sans" panose="020B0400000000000000" pitchFamily="34" charset="-78"/>
              </a:rPr>
              <a:t>ميشود . در اين سقف ها در نوع تيرچه ي فولادي با جان باز، تيرچه ي فولادي و در نوع تيرچه ي بتني آن، آرماتورهاي كششي و برشي(عرضي) و نيز پوشش بتن آرماتورهاي اصلي، به صورت تيرچه هاي پيش ساخته، در كارخانه توليد ميشوند. در كارگاه، پس از قراردادن تيرچه ها در فواصل معين و شمع بندي زير تيرچه ها، بلوك ها را بين دو تيرچه مجاور قرار داده و سپس آرماتورهاي حرارتي را جايگذاري نموده و بتن ريزي را انجام ميدهند.</a:t>
            </a:r>
            <a:endParaRPr lang="fa-IR" sz="1200" b="1" dirty="0">
              <a:solidFill>
                <a:schemeClr val="tx1">
                  <a:lumMod val="95000"/>
                  <a:lumOff val="5000"/>
                </a:schemeClr>
              </a:solidFill>
              <a:cs typeface="IRAN Sans" panose="020B0400000000000000" pitchFamily="34" charset="-78"/>
            </a:endParaRPr>
          </a:p>
        </p:txBody>
      </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6"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Tree>
    <p:extLst>
      <p:ext uri="{BB962C8B-B14F-4D97-AF65-F5344CB8AC3E}">
        <p14:creationId xmlns:p14="http://schemas.microsoft.com/office/powerpoint/2010/main" val="19393240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اجزای تشکیل دهنده سقف تیرچه و بلوک</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68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9AE1C37C-2030-469B-CAA3-E03DFE6D6FA8}"/>
              </a:ext>
            </a:extLst>
          </p:cNvPr>
          <p:cNvSpPr/>
          <p:nvPr/>
        </p:nvSpPr>
        <p:spPr>
          <a:xfrm>
            <a:off x="3700948" y="604557"/>
            <a:ext cx="5262716" cy="3446169"/>
          </a:xfrm>
          <a:prstGeom prst="rect">
            <a:avLst/>
          </a:prstGeom>
          <a:solidFill>
            <a:schemeClr val="bg1">
              <a:alpha val="90000"/>
            </a:schemeClr>
          </a:solidFill>
          <a:ln>
            <a:solidFill>
              <a:schemeClr val="accent2"/>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b="1" dirty="0">
                <a:solidFill>
                  <a:schemeClr val="tx1">
                    <a:lumMod val="95000"/>
                    <a:lumOff val="5000"/>
                  </a:schemeClr>
                </a:solidFill>
                <a:cs typeface="IRAN Sans" panose="020B0400000000000000" pitchFamily="34" charset="-78"/>
              </a:rPr>
              <a:t>در فرآيند اجراي سقف، پيش از حصول مقاومت بتن ريخته شده، وزن بلوك ها و بتن، توسط تكيه گاه هاي موقت(شمعبندي) </a:t>
            </a:r>
          </a:p>
          <a:p>
            <a:pPr algn="justLow" rtl="1">
              <a:lnSpc>
                <a:spcPct val="150000"/>
              </a:lnSpc>
            </a:pPr>
            <a:r>
              <a:rPr lang="fa-IR" b="1" dirty="0">
                <a:solidFill>
                  <a:schemeClr val="tx1">
                    <a:lumMod val="95000"/>
                    <a:lumOff val="5000"/>
                  </a:schemeClr>
                </a:solidFill>
                <a:cs typeface="IRAN Sans" panose="020B0400000000000000" pitchFamily="34" charset="-78"/>
              </a:rPr>
              <a:t>تحمل ميشود و پس از حصول مقاومت بتن ريخته شده، تيرچه ها لنگر خمشي حاصل از بارهاي قائم سقف را تحمل كرده و به تيرهاي اصلي يا تكيه گاه ها منتقل ميكنند .بتن فوقاني، همانند يك دال نازك با دهانه اي برابر فاصله بين دو تيرچه، خمش موضعي را در محل بين دو تيرچه تحمل ميكند. براي پر كردن فاصله تيرچه ها، از قطعاتي نظير آجرهاي توخالي سفالي، بلوك هاي بتني، بلوك هاي پلي استايرن و نظاير آنها استفاده ميشود. اين عناصر پركننده در سقف، باربر نبوده و متحمل نيرويي نيستند.شکل زیر شمای کلی از نحوه اجرای تکیه گاه های موقت مورد استفاده در سقف های تیرچه بلوک نمایش داده شده</a:t>
            </a:r>
            <a:endParaRPr lang="fa-IR" sz="1200" b="1" dirty="0">
              <a:solidFill>
                <a:schemeClr val="tx1">
                  <a:lumMod val="95000"/>
                  <a:lumOff val="5000"/>
                </a:schemeClr>
              </a:solidFill>
              <a:cs typeface="IRAN Sans" panose="020B0400000000000000" pitchFamily="34" charset="-78"/>
            </a:endParaRPr>
          </a:p>
        </p:txBody>
      </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pic>
        <p:nvPicPr>
          <p:cNvPr id="5" name="Picture 4">
            <a:extLst>
              <a:ext uri="{FF2B5EF4-FFF2-40B4-BE49-F238E27FC236}">
                <a16:creationId xmlns:a16="http://schemas.microsoft.com/office/drawing/2014/main" id="{D62EC6EF-AB85-24B9-4942-1B38FBCCB6DB}"/>
              </a:ext>
            </a:extLst>
          </p:cNvPr>
          <p:cNvPicPr>
            <a:picLocks noChangeAspect="1"/>
          </p:cNvPicPr>
          <p:nvPr/>
        </p:nvPicPr>
        <p:blipFill>
          <a:blip r:embed="rId6"/>
          <a:stretch>
            <a:fillRect/>
          </a:stretch>
        </p:blipFill>
        <p:spPr>
          <a:xfrm>
            <a:off x="0" y="962287"/>
            <a:ext cx="3683428" cy="2331756"/>
          </a:xfrm>
          <a:prstGeom prst="rect">
            <a:avLst/>
          </a:prstGeom>
        </p:spPr>
      </p:pic>
    </p:spTree>
    <p:extLst>
      <p:ext uri="{BB962C8B-B14F-4D97-AF65-F5344CB8AC3E}">
        <p14:creationId xmlns:p14="http://schemas.microsoft.com/office/powerpoint/2010/main" val="103993131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1000"/>
                                        <p:tgtEl>
                                          <p:spTgt spid="5"/>
                                        </p:tgtEl>
                                      </p:cBhvr>
                                    </p:animEffect>
                                    <p:anim calcmode="lin" valueType="num">
                                      <p:cBhvr>
                                        <p:cTn id="40" dur="1000" fill="hold"/>
                                        <p:tgtEl>
                                          <p:spTgt spid="5"/>
                                        </p:tgtEl>
                                        <p:attrNameLst>
                                          <p:attrName>ppt_x</p:attrName>
                                        </p:attrNameLst>
                                      </p:cBhvr>
                                      <p:tavLst>
                                        <p:tav tm="0">
                                          <p:val>
                                            <p:strVal val="#ppt_x"/>
                                          </p:val>
                                        </p:tav>
                                        <p:tav tm="100000">
                                          <p:val>
                                            <p:strVal val="#ppt_x"/>
                                          </p:val>
                                        </p:tav>
                                      </p:tavLst>
                                    </p:anim>
                                    <p:anim calcmode="lin" valueType="num">
                                      <p:cBhvr>
                                        <p:cTn id="4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اجزای تشکیل دهنده سقف تیرچه و بلوک</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2"/>
                </a:solidFill>
                <a:cs typeface="IRAN Sans" panose="020B0400000000000000" pitchFamily="34" charset="-78"/>
              </a:rPr>
              <a:t>6</a:t>
            </a:r>
            <a:r>
              <a:rPr lang="en-US" sz="1600" b="1" dirty="0">
                <a:solidFill>
                  <a:schemeClr val="accent2"/>
                </a:solidFill>
                <a:cs typeface="IRAN Sans" panose="020B0400000000000000" pitchFamily="34" charset="-78"/>
              </a:rPr>
              <a:t>9</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grpSp>
        <p:nvGrpSpPr>
          <p:cNvPr id="3" name="Group 2">
            <a:extLst>
              <a:ext uri="{FF2B5EF4-FFF2-40B4-BE49-F238E27FC236}">
                <a16:creationId xmlns:a16="http://schemas.microsoft.com/office/drawing/2014/main" id="{1ED901BA-CEF2-8E8C-F5EB-1CEB0A2474E4}"/>
              </a:ext>
            </a:extLst>
          </p:cNvPr>
          <p:cNvGrpSpPr/>
          <p:nvPr/>
        </p:nvGrpSpPr>
        <p:grpSpPr>
          <a:xfrm>
            <a:off x="2298335" y="1003206"/>
            <a:ext cx="3270089" cy="322560"/>
            <a:chOff x="2298335" y="1003206"/>
            <a:chExt cx="3270089" cy="322560"/>
          </a:xfrm>
        </p:grpSpPr>
        <p:cxnSp>
          <p:nvCxnSpPr>
            <p:cNvPr id="4" name="Google Shape;1326;p40">
              <a:extLst>
                <a:ext uri="{FF2B5EF4-FFF2-40B4-BE49-F238E27FC236}">
                  <a16:creationId xmlns:a16="http://schemas.microsoft.com/office/drawing/2014/main" id="{C6C0FFC6-81F4-1789-F68A-4C912F437CCB}"/>
                </a:ext>
              </a:extLst>
            </p:cNvPr>
            <p:cNvCxnSpPr>
              <a:stCxn id="6" idx="1"/>
            </p:cNvCxnSpPr>
            <p:nvPr/>
          </p:nvCxnSpPr>
          <p:spPr>
            <a:xfrm rot="10800000">
              <a:off x="2298335" y="1164486"/>
              <a:ext cx="2058048" cy="0"/>
            </a:xfrm>
            <a:prstGeom prst="straightConnector1">
              <a:avLst/>
            </a:prstGeom>
            <a:noFill/>
            <a:ln w="9525" cap="flat" cmpd="sng">
              <a:solidFill>
                <a:srgbClr val="000000"/>
              </a:solidFill>
              <a:prstDash val="solid"/>
              <a:round/>
              <a:headEnd type="none" w="med" len="med"/>
              <a:tailEnd type="none" w="med" len="med"/>
            </a:ln>
          </p:spPr>
        </p:cxnSp>
        <p:sp>
          <p:nvSpPr>
            <p:cNvPr id="6" name="Google Shape;1327;p40">
              <a:extLst>
                <a:ext uri="{FF2B5EF4-FFF2-40B4-BE49-F238E27FC236}">
                  <a16:creationId xmlns:a16="http://schemas.microsoft.com/office/drawing/2014/main" id="{C6D9795A-C19D-A95B-6002-43EABBAFADEE}"/>
                </a:ext>
              </a:extLst>
            </p:cNvPr>
            <p:cNvSpPr/>
            <p:nvPr/>
          </p:nvSpPr>
          <p:spPr>
            <a:xfrm>
              <a:off x="4356382" y="1003206"/>
              <a:ext cx="1212042" cy="32256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تیرچه</a:t>
              </a:r>
              <a:endParaRPr sz="1700" dirty="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
        <p:nvSpPr>
          <p:cNvPr id="7" name="Google Shape;1329;p40">
            <a:extLst>
              <a:ext uri="{FF2B5EF4-FFF2-40B4-BE49-F238E27FC236}">
                <a16:creationId xmlns:a16="http://schemas.microsoft.com/office/drawing/2014/main" id="{6DFF0E5B-52E1-EC09-BAF6-60A70C46D439}"/>
              </a:ext>
            </a:extLst>
          </p:cNvPr>
          <p:cNvSpPr/>
          <p:nvPr/>
        </p:nvSpPr>
        <p:spPr>
          <a:xfrm>
            <a:off x="1885704" y="875925"/>
            <a:ext cx="628788" cy="529475"/>
          </a:xfrm>
          <a:custGeom>
            <a:avLst/>
            <a:gdLst/>
            <a:ahLst/>
            <a:cxnLst/>
            <a:rect l="l" t="t" r="r" b="b"/>
            <a:pathLst>
              <a:path w="26230" h="22694" extrusionOk="0">
                <a:moveTo>
                  <a:pt x="13109" y="0"/>
                </a:moveTo>
                <a:lnTo>
                  <a:pt x="0" y="22694"/>
                </a:lnTo>
                <a:lnTo>
                  <a:pt x="26230" y="22694"/>
                </a:lnTo>
                <a:lnTo>
                  <a:pt x="131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 name="Group 7">
            <a:extLst>
              <a:ext uri="{FF2B5EF4-FFF2-40B4-BE49-F238E27FC236}">
                <a16:creationId xmlns:a16="http://schemas.microsoft.com/office/drawing/2014/main" id="{36F9DB36-42C3-42BD-301B-23287D136B05}"/>
              </a:ext>
            </a:extLst>
          </p:cNvPr>
          <p:cNvGrpSpPr/>
          <p:nvPr/>
        </p:nvGrpSpPr>
        <p:grpSpPr>
          <a:xfrm>
            <a:off x="2596585" y="1581920"/>
            <a:ext cx="2971839" cy="322560"/>
            <a:chOff x="2596585" y="1581920"/>
            <a:chExt cx="2971839" cy="322560"/>
          </a:xfrm>
        </p:grpSpPr>
        <p:cxnSp>
          <p:nvCxnSpPr>
            <p:cNvPr id="12" name="Google Shape;1332;p40">
              <a:extLst>
                <a:ext uri="{FF2B5EF4-FFF2-40B4-BE49-F238E27FC236}">
                  <a16:creationId xmlns:a16="http://schemas.microsoft.com/office/drawing/2014/main" id="{142D9E55-28EC-5617-5CF3-A0844E67C37C}"/>
                </a:ext>
              </a:extLst>
            </p:cNvPr>
            <p:cNvCxnSpPr>
              <a:stCxn id="13" idx="1"/>
            </p:cNvCxnSpPr>
            <p:nvPr/>
          </p:nvCxnSpPr>
          <p:spPr>
            <a:xfrm rot="10800000">
              <a:off x="2596585" y="1743200"/>
              <a:ext cx="1759797" cy="0"/>
            </a:xfrm>
            <a:prstGeom prst="straightConnector1">
              <a:avLst/>
            </a:prstGeom>
            <a:noFill/>
            <a:ln w="9525" cap="flat" cmpd="sng">
              <a:solidFill>
                <a:srgbClr val="000000"/>
              </a:solidFill>
              <a:prstDash val="solid"/>
              <a:round/>
              <a:headEnd type="none" w="med" len="med"/>
              <a:tailEnd type="none" w="med" len="med"/>
            </a:ln>
          </p:spPr>
        </p:cxnSp>
        <p:sp>
          <p:nvSpPr>
            <p:cNvPr id="13" name="Google Shape;1333;p40">
              <a:extLst>
                <a:ext uri="{FF2B5EF4-FFF2-40B4-BE49-F238E27FC236}">
                  <a16:creationId xmlns:a16="http://schemas.microsoft.com/office/drawing/2014/main" id="{25EC2E7C-C829-8D2F-8FD9-D10F3490C829}"/>
                </a:ext>
              </a:extLst>
            </p:cNvPr>
            <p:cNvSpPr/>
            <p:nvPr/>
          </p:nvSpPr>
          <p:spPr>
            <a:xfrm>
              <a:off x="4356382" y="1581920"/>
              <a:ext cx="1212042" cy="32256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بلوک</a:t>
              </a:r>
              <a:endParaRPr sz="1700" dirty="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
        <p:nvSpPr>
          <p:cNvPr id="14" name="Google Shape;1335;p40">
            <a:extLst>
              <a:ext uri="{FF2B5EF4-FFF2-40B4-BE49-F238E27FC236}">
                <a16:creationId xmlns:a16="http://schemas.microsoft.com/office/drawing/2014/main" id="{8992F515-5000-07F0-FF32-042FAECA877F}"/>
              </a:ext>
            </a:extLst>
          </p:cNvPr>
          <p:cNvSpPr/>
          <p:nvPr/>
        </p:nvSpPr>
        <p:spPr>
          <a:xfrm>
            <a:off x="1571586" y="1459293"/>
            <a:ext cx="1257001" cy="529475"/>
          </a:xfrm>
          <a:custGeom>
            <a:avLst/>
            <a:gdLst/>
            <a:ahLst/>
            <a:cxnLst/>
            <a:rect l="l" t="t" r="r" b="b"/>
            <a:pathLst>
              <a:path w="52436" h="22694" extrusionOk="0">
                <a:moveTo>
                  <a:pt x="13097" y="1"/>
                </a:moveTo>
                <a:lnTo>
                  <a:pt x="0" y="22694"/>
                </a:lnTo>
                <a:lnTo>
                  <a:pt x="52436" y="22694"/>
                </a:lnTo>
                <a:lnTo>
                  <a:pt x="3932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 name="Group 14">
            <a:extLst>
              <a:ext uri="{FF2B5EF4-FFF2-40B4-BE49-F238E27FC236}">
                <a16:creationId xmlns:a16="http://schemas.microsoft.com/office/drawing/2014/main" id="{C62DDBB1-C648-2BB1-E761-35B1E054536D}"/>
              </a:ext>
            </a:extLst>
          </p:cNvPr>
          <p:cNvGrpSpPr/>
          <p:nvPr/>
        </p:nvGrpSpPr>
        <p:grpSpPr>
          <a:xfrm>
            <a:off x="2785806" y="2160635"/>
            <a:ext cx="5758085" cy="322560"/>
            <a:chOff x="2785806" y="2160635"/>
            <a:chExt cx="5758085" cy="322560"/>
          </a:xfrm>
        </p:grpSpPr>
        <p:cxnSp>
          <p:nvCxnSpPr>
            <p:cNvPr id="16" name="Google Shape;1338;p40">
              <a:extLst>
                <a:ext uri="{FF2B5EF4-FFF2-40B4-BE49-F238E27FC236}">
                  <a16:creationId xmlns:a16="http://schemas.microsoft.com/office/drawing/2014/main" id="{F97B70CF-22F4-0A56-64C6-468C6F5A7DAF}"/>
                </a:ext>
              </a:extLst>
            </p:cNvPr>
            <p:cNvCxnSpPr>
              <a:cxnSpLocks/>
              <a:stCxn id="17" idx="1"/>
            </p:cNvCxnSpPr>
            <p:nvPr/>
          </p:nvCxnSpPr>
          <p:spPr>
            <a:xfrm flipH="1" flipV="1">
              <a:off x="2785806" y="2321914"/>
              <a:ext cx="1570576" cy="1"/>
            </a:xfrm>
            <a:prstGeom prst="straightConnector1">
              <a:avLst/>
            </a:prstGeom>
            <a:noFill/>
            <a:ln w="9525" cap="flat" cmpd="sng">
              <a:solidFill>
                <a:srgbClr val="000000"/>
              </a:solidFill>
              <a:prstDash val="solid"/>
              <a:round/>
              <a:headEnd type="none" w="med" len="med"/>
              <a:tailEnd type="none" w="med" len="med"/>
            </a:ln>
          </p:spPr>
        </p:cxnSp>
        <p:sp>
          <p:nvSpPr>
            <p:cNvPr id="17" name="Google Shape;1339;p40">
              <a:extLst>
                <a:ext uri="{FF2B5EF4-FFF2-40B4-BE49-F238E27FC236}">
                  <a16:creationId xmlns:a16="http://schemas.microsoft.com/office/drawing/2014/main" id="{83D9A16C-333F-B883-3D26-57F80DD14A30}"/>
                </a:ext>
              </a:extLst>
            </p:cNvPr>
            <p:cNvSpPr/>
            <p:nvPr/>
          </p:nvSpPr>
          <p:spPr>
            <a:xfrm>
              <a:off x="4356382" y="2160635"/>
              <a:ext cx="4187509" cy="32256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dirty="0">
                  <a:solidFill>
                    <a:srgbClr val="FFFFFF"/>
                  </a:solidFill>
                  <a:latin typeface="Fira Sans Extra Condensed Medium"/>
                  <a:ea typeface="Fira Sans Extra Condensed Medium"/>
                  <a:cs typeface="IRAN Sans" panose="020B0400000000000000" pitchFamily="34" charset="-78"/>
                  <a:sym typeface="Fira Sans Extra Condensed Medium"/>
                </a:rPr>
                <a:t>ارماتور های افت و حرارت (حرارت و جمع شدگی)و ارماتور منفی</a:t>
              </a:r>
              <a:endParaRPr dirty="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
        <p:nvSpPr>
          <p:cNvPr id="18" name="Google Shape;1341;p40">
            <a:extLst>
              <a:ext uri="{FF2B5EF4-FFF2-40B4-BE49-F238E27FC236}">
                <a16:creationId xmlns:a16="http://schemas.microsoft.com/office/drawing/2014/main" id="{D4687513-6AA1-F67A-F51E-D03AD45802D0}"/>
              </a:ext>
            </a:extLst>
          </p:cNvPr>
          <p:cNvSpPr/>
          <p:nvPr/>
        </p:nvSpPr>
        <p:spPr>
          <a:xfrm>
            <a:off x="1257470" y="2039604"/>
            <a:ext cx="1885214" cy="529475"/>
          </a:xfrm>
          <a:custGeom>
            <a:avLst/>
            <a:gdLst/>
            <a:ahLst/>
            <a:cxnLst/>
            <a:rect l="l" t="t" r="r" b="b"/>
            <a:pathLst>
              <a:path w="78642" h="22694" extrusionOk="0">
                <a:moveTo>
                  <a:pt x="13109" y="1"/>
                </a:moveTo>
                <a:lnTo>
                  <a:pt x="1" y="22694"/>
                </a:lnTo>
                <a:lnTo>
                  <a:pt x="78641" y="22694"/>
                </a:lnTo>
                <a:lnTo>
                  <a:pt x="655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 name="Group 18">
            <a:extLst>
              <a:ext uri="{FF2B5EF4-FFF2-40B4-BE49-F238E27FC236}">
                <a16:creationId xmlns:a16="http://schemas.microsoft.com/office/drawing/2014/main" id="{D03DB999-76AA-B419-34DF-C532852046DC}"/>
              </a:ext>
            </a:extLst>
          </p:cNvPr>
          <p:cNvGrpSpPr/>
          <p:nvPr/>
        </p:nvGrpSpPr>
        <p:grpSpPr>
          <a:xfrm>
            <a:off x="3069633" y="2739349"/>
            <a:ext cx="2498791" cy="322560"/>
            <a:chOff x="3069633" y="2739349"/>
            <a:chExt cx="2498791" cy="322560"/>
          </a:xfrm>
        </p:grpSpPr>
        <p:cxnSp>
          <p:nvCxnSpPr>
            <p:cNvPr id="20" name="Google Shape;1344;p40">
              <a:extLst>
                <a:ext uri="{FF2B5EF4-FFF2-40B4-BE49-F238E27FC236}">
                  <a16:creationId xmlns:a16="http://schemas.microsoft.com/office/drawing/2014/main" id="{7BB33BD9-887E-9543-851A-3E69F5AB4E4F}"/>
                </a:ext>
              </a:extLst>
            </p:cNvPr>
            <p:cNvCxnSpPr>
              <a:stCxn id="21" idx="1"/>
            </p:cNvCxnSpPr>
            <p:nvPr/>
          </p:nvCxnSpPr>
          <p:spPr>
            <a:xfrm rot="10800000">
              <a:off x="3069633" y="2900629"/>
              <a:ext cx="1286749" cy="0"/>
            </a:xfrm>
            <a:prstGeom prst="straightConnector1">
              <a:avLst/>
            </a:prstGeom>
            <a:noFill/>
            <a:ln w="9525" cap="flat" cmpd="sng">
              <a:solidFill>
                <a:srgbClr val="000000"/>
              </a:solidFill>
              <a:prstDash val="solid"/>
              <a:round/>
              <a:headEnd type="none" w="med" len="med"/>
              <a:tailEnd type="none" w="med" len="med"/>
            </a:ln>
          </p:spPr>
        </p:cxnSp>
        <p:sp>
          <p:nvSpPr>
            <p:cNvPr id="21" name="Google Shape;1345;p40">
              <a:extLst>
                <a:ext uri="{FF2B5EF4-FFF2-40B4-BE49-F238E27FC236}">
                  <a16:creationId xmlns:a16="http://schemas.microsoft.com/office/drawing/2014/main" id="{D5D17384-A938-2841-963F-6A697C589D68}"/>
                </a:ext>
              </a:extLst>
            </p:cNvPr>
            <p:cNvSpPr/>
            <p:nvPr/>
          </p:nvSpPr>
          <p:spPr>
            <a:xfrm>
              <a:off x="4356382" y="2739349"/>
              <a:ext cx="1212042" cy="32256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کلاف میانی</a:t>
              </a:r>
              <a:endParaRPr sz="1700" dirty="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
        <p:nvSpPr>
          <p:cNvPr id="22" name="Google Shape;1347;p40">
            <a:extLst>
              <a:ext uri="{FF2B5EF4-FFF2-40B4-BE49-F238E27FC236}">
                <a16:creationId xmlns:a16="http://schemas.microsoft.com/office/drawing/2014/main" id="{E789327E-6B3E-2FE2-665C-31E802212778}"/>
              </a:ext>
            </a:extLst>
          </p:cNvPr>
          <p:cNvSpPr/>
          <p:nvPr/>
        </p:nvSpPr>
        <p:spPr>
          <a:xfrm>
            <a:off x="943352" y="2626869"/>
            <a:ext cx="2513427" cy="529475"/>
          </a:xfrm>
          <a:custGeom>
            <a:avLst/>
            <a:gdLst/>
            <a:ahLst/>
            <a:cxnLst/>
            <a:rect l="l" t="t" r="r" b="b"/>
            <a:pathLst>
              <a:path w="104848" h="22694" extrusionOk="0">
                <a:moveTo>
                  <a:pt x="13098" y="0"/>
                </a:moveTo>
                <a:lnTo>
                  <a:pt x="1" y="22694"/>
                </a:lnTo>
                <a:lnTo>
                  <a:pt x="104847" y="22694"/>
                </a:lnTo>
                <a:lnTo>
                  <a:pt x="917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 name="Group 22">
            <a:extLst>
              <a:ext uri="{FF2B5EF4-FFF2-40B4-BE49-F238E27FC236}">
                <a16:creationId xmlns:a16="http://schemas.microsoft.com/office/drawing/2014/main" id="{AE2A77B4-4C3D-0D6C-F54A-7EC16D5CD347}"/>
              </a:ext>
            </a:extLst>
          </p:cNvPr>
          <p:cNvGrpSpPr/>
          <p:nvPr/>
        </p:nvGrpSpPr>
        <p:grpSpPr>
          <a:xfrm>
            <a:off x="3448360" y="3318064"/>
            <a:ext cx="2398148" cy="322560"/>
            <a:chOff x="3448360" y="3318064"/>
            <a:chExt cx="2398148" cy="322560"/>
          </a:xfrm>
        </p:grpSpPr>
        <p:cxnSp>
          <p:nvCxnSpPr>
            <p:cNvPr id="24" name="Google Shape;1350;p40">
              <a:extLst>
                <a:ext uri="{FF2B5EF4-FFF2-40B4-BE49-F238E27FC236}">
                  <a16:creationId xmlns:a16="http://schemas.microsoft.com/office/drawing/2014/main" id="{244A70F5-D097-0E90-2B09-50A9701EE921}"/>
                </a:ext>
              </a:extLst>
            </p:cNvPr>
            <p:cNvCxnSpPr>
              <a:cxnSpLocks/>
              <a:stCxn id="25" idx="1"/>
            </p:cNvCxnSpPr>
            <p:nvPr/>
          </p:nvCxnSpPr>
          <p:spPr>
            <a:xfrm flipH="1">
              <a:off x="3448360" y="3479344"/>
              <a:ext cx="908021" cy="0"/>
            </a:xfrm>
            <a:prstGeom prst="straightConnector1">
              <a:avLst/>
            </a:prstGeom>
            <a:noFill/>
            <a:ln w="9525" cap="flat" cmpd="sng">
              <a:solidFill>
                <a:srgbClr val="000000"/>
              </a:solidFill>
              <a:prstDash val="solid"/>
              <a:round/>
              <a:headEnd type="none" w="med" len="med"/>
              <a:tailEnd type="none" w="med" len="med"/>
            </a:ln>
          </p:spPr>
        </p:cxnSp>
        <p:sp>
          <p:nvSpPr>
            <p:cNvPr id="25" name="Google Shape;1351;p40">
              <a:extLst>
                <a:ext uri="{FF2B5EF4-FFF2-40B4-BE49-F238E27FC236}">
                  <a16:creationId xmlns:a16="http://schemas.microsoft.com/office/drawing/2014/main" id="{9FC0B782-0E0C-B2A4-51A5-03E1A9D1DD69}"/>
                </a:ext>
              </a:extLst>
            </p:cNvPr>
            <p:cNvSpPr/>
            <p:nvPr/>
          </p:nvSpPr>
          <p:spPr>
            <a:xfrm>
              <a:off x="4356381" y="3318064"/>
              <a:ext cx="1490127" cy="322560"/>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بتن پوششی درجا</a:t>
              </a:r>
              <a:endParaRPr sz="1700" dirty="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
        <p:nvSpPr>
          <p:cNvPr id="26" name="Google Shape;1352;p40">
            <a:extLst>
              <a:ext uri="{FF2B5EF4-FFF2-40B4-BE49-F238E27FC236}">
                <a16:creationId xmlns:a16="http://schemas.microsoft.com/office/drawing/2014/main" id="{2408D9C7-901A-5C32-3C31-6FFA356EC948}"/>
              </a:ext>
            </a:extLst>
          </p:cNvPr>
          <p:cNvSpPr/>
          <p:nvPr/>
        </p:nvSpPr>
        <p:spPr>
          <a:xfrm>
            <a:off x="629259" y="3214414"/>
            <a:ext cx="3141591" cy="529475"/>
          </a:xfrm>
          <a:custGeom>
            <a:avLst/>
            <a:gdLst/>
            <a:ahLst/>
            <a:cxnLst/>
            <a:rect l="l" t="t" r="r" b="b"/>
            <a:pathLst>
              <a:path w="131052" h="22694" extrusionOk="0">
                <a:moveTo>
                  <a:pt x="13109" y="0"/>
                </a:moveTo>
                <a:lnTo>
                  <a:pt x="0" y="22693"/>
                </a:lnTo>
                <a:lnTo>
                  <a:pt x="131052" y="22693"/>
                </a:lnTo>
                <a:lnTo>
                  <a:pt x="1179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83359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1"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ipe(up)">
                                      <p:cBhvr>
                                        <p:cTn id="34" dur="500"/>
                                        <p:tgtEl>
                                          <p:spTgt spid="7"/>
                                        </p:tgtEl>
                                      </p:cBhvr>
                                    </p:animEffect>
                                  </p:childTnLst>
                                </p:cTn>
                              </p:par>
                              <p:par>
                                <p:cTn id="35" presetID="22" presetClass="entr" presetSubtype="8"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childTnLst>
                          </p:cTn>
                        </p:par>
                        <p:par>
                          <p:cTn id="38" fill="hold">
                            <p:stCondLst>
                              <p:cond delay="2550"/>
                            </p:stCondLst>
                            <p:childTnLst>
                              <p:par>
                                <p:cTn id="39" presetID="22" presetClass="entr" presetSubtype="1"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wipe(up)">
                                      <p:cBhvr>
                                        <p:cTn id="41" dur="500"/>
                                        <p:tgtEl>
                                          <p:spTgt spid="14"/>
                                        </p:tgtEl>
                                      </p:cBhvr>
                                    </p:animEffect>
                                  </p:childTnLst>
                                </p:cTn>
                              </p:par>
                              <p:par>
                                <p:cTn id="42" presetID="22" presetClass="entr" presetSubtype="8"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left)">
                                      <p:cBhvr>
                                        <p:cTn id="44" dur="500"/>
                                        <p:tgtEl>
                                          <p:spTgt spid="8"/>
                                        </p:tgtEl>
                                      </p:cBhvr>
                                    </p:animEffect>
                                  </p:childTnLst>
                                </p:cTn>
                              </p:par>
                            </p:childTnLst>
                          </p:cTn>
                        </p:par>
                        <p:par>
                          <p:cTn id="45" fill="hold">
                            <p:stCondLst>
                              <p:cond delay="3050"/>
                            </p:stCondLst>
                            <p:childTnLst>
                              <p:par>
                                <p:cTn id="46" presetID="22" presetClass="entr" presetSubtype="1" fill="hold" grpId="0" nodeType="after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wipe(up)">
                                      <p:cBhvr>
                                        <p:cTn id="48" dur="500"/>
                                        <p:tgtEl>
                                          <p:spTgt spid="18"/>
                                        </p:tgtEl>
                                      </p:cBhvr>
                                    </p:animEffect>
                                  </p:childTnLst>
                                </p:cTn>
                              </p:par>
                              <p:par>
                                <p:cTn id="49" presetID="22" presetClass="entr" presetSubtype="8" fill="hold"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wipe(left)">
                                      <p:cBhvr>
                                        <p:cTn id="51" dur="500"/>
                                        <p:tgtEl>
                                          <p:spTgt spid="15"/>
                                        </p:tgtEl>
                                      </p:cBhvr>
                                    </p:animEffect>
                                  </p:childTnLst>
                                </p:cTn>
                              </p:par>
                            </p:childTnLst>
                          </p:cTn>
                        </p:par>
                        <p:par>
                          <p:cTn id="52" fill="hold">
                            <p:stCondLst>
                              <p:cond delay="3550"/>
                            </p:stCondLst>
                            <p:childTnLst>
                              <p:par>
                                <p:cTn id="53" presetID="22" presetClass="entr" presetSubtype="1" fill="hold" grpId="0" nodeType="after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wipe(up)">
                                      <p:cBhvr>
                                        <p:cTn id="55" dur="500"/>
                                        <p:tgtEl>
                                          <p:spTgt spid="22"/>
                                        </p:tgtEl>
                                      </p:cBhvr>
                                    </p:animEffect>
                                  </p:childTnLst>
                                </p:cTn>
                              </p:par>
                              <p:par>
                                <p:cTn id="56" presetID="22" presetClass="entr" presetSubtype="8" fill="hold" nodeType="with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wipe(left)">
                                      <p:cBhvr>
                                        <p:cTn id="58" dur="500"/>
                                        <p:tgtEl>
                                          <p:spTgt spid="19"/>
                                        </p:tgtEl>
                                      </p:cBhvr>
                                    </p:animEffect>
                                  </p:childTnLst>
                                </p:cTn>
                              </p:par>
                            </p:childTnLst>
                          </p:cTn>
                        </p:par>
                        <p:par>
                          <p:cTn id="59" fill="hold">
                            <p:stCondLst>
                              <p:cond delay="4050"/>
                            </p:stCondLst>
                            <p:childTnLst>
                              <p:par>
                                <p:cTn id="60" presetID="22" presetClass="entr" presetSubtype="1" fill="hold" grpId="0" nodeType="after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wipe(up)">
                                      <p:cBhvr>
                                        <p:cTn id="62" dur="500"/>
                                        <p:tgtEl>
                                          <p:spTgt spid="26"/>
                                        </p:tgtEl>
                                      </p:cBhvr>
                                    </p:animEffect>
                                  </p:childTnLst>
                                </p:cTn>
                              </p:par>
                              <p:par>
                                <p:cTn id="63" presetID="22" presetClass="entr" presetSubtype="8" fill="hold" nodeType="with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wipe(left)">
                                      <p:cBhvr>
                                        <p:cTn id="6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7" grpId="0" animBg="1"/>
      <p:bldP spid="14" grpId="0" animBg="1"/>
      <p:bldP spid="18" grpId="0" animBg="1"/>
      <p:bldP spid="22" grpId="0" animBg="1"/>
      <p:bldP spid="26"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425610" y="230661"/>
            <a:ext cx="1402725"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تیرچه بتنی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en-US" sz="1600" b="1" dirty="0">
                <a:solidFill>
                  <a:schemeClr val="accent2"/>
                </a:solidFill>
                <a:cs typeface="IRAN Sans" panose="020B0400000000000000" pitchFamily="34" charset="-78"/>
              </a:rPr>
              <a:t>70</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3" name="Rectangle: Rounded Corners 2">
            <a:extLst>
              <a:ext uri="{FF2B5EF4-FFF2-40B4-BE49-F238E27FC236}">
                <a16:creationId xmlns:a16="http://schemas.microsoft.com/office/drawing/2014/main" id="{A9EA0ADD-8673-3E05-DA41-FBD38179936B}"/>
              </a:ext>
            </a:extLst>
          </p:cNvPr>
          <p:cNvSpPr/>
          <p:nvPr/>
        </p:nvSpPr>
        <p:spPr>
          <a:xfrm>
            <a:off x="337921" y="741415"/>
            <a:ext cx="7993571" cy="1165842"/>
          </a:xfrm>
          <a:prstGeom prst="roundRect">
            <a:avLst>
              <a:gd name="adj" fmla="val 2148"/>
            </a:avLst>
          </a:prstGeom>
          <a:solidFill>
            <a:schemeClr val="bg1">
              <a:alpha val="90000"/>
            </a:schemeClr>
          </a:solidFill>
          <a:ln>
            <a:solidFill>
              <a:schemeClr val="bg1">
                <a:lumMod val="85000"/>
              </a:schemeClr>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عضو پيش ساخته اي است متشكل از بتن و آرماتورهاي فولادي كه با قرارگيري بلوك ها مابين تيرچه ها به عنوان قالب و با بتن پوششي درجا ريخته شده، مقطع مركب</a:t>
            </a:r>
            <a:r>
              <a:rPr lang="en-US" sz="1600" dirty="0">
                <a:solidFill>
                  <a:schemeClr val="tx1">
                    <a:lumMod val="95000"/>
                    <a:lumOff val="5000"/>
                  </a:schemeClr>
                </a:solidFill>
                <a:cs typeface="IRAN Sans" panose="020B0400000000000000" pitchFamily="34" charset="-78"/>
              </a:rPr>
              <a:t>T </a:t>
            </a:r>
            <a:r>
              <a:rPr lang="fa-IR" sz="1600" dirty="0">
                <a:solidFill>
                  <a:schemeClr val="tx1">
                    <a:lumMod val="95000"/>
                    <a:lumOff val="5000"/>
                  </a:schemeClr>
                </a:solidFill>
                <a:cs typeface="IRAN Sans" panose="020B0400000000000000" pitchFamily="34" charset="-78"/>
              </a:rPr>
              <a:t> شكل مناسبي را تشكيل ميدهند. تيرچه ها در دو نوع تيرچه خرپايي و تيرچه پيش تنيده، توليد ميشوند. در شكل زیر شماتيكي از انواع تيرچه هاي پيش ساخته، نشان داده شده است.</a:t>
            </a:r>
          </a:p>
        </p:txBody>
      </p:sp>
      <p:pic>
        <p:nvPicPr>
          <p:cNvPr id="8" name="Picture 7">
            <a:extLst>
              <a:ext uri="{FF2B5EF4-FFF2-40B4-BE49-F238E27FC236}">
                <a16:creationId xmlns:a16="http://schemas.microsoft.com/office/drawing/2014/main" id="{0CE23848-261F-A918-C2EE-27B2B812F00D}"/>
              </a:ext>
            </a:extLst>
          </p:cNvPr>
          <p:cNvPicPr>
            <a:picLocks noChangeAspect="1"/>
          </p:cNvPicPr>
          <p:nvPr/>
        </p:nvPicPr>
        <p:blipFill>
          <a:blip r:embed="rId6"/>
          <a:stretch>
            <a:fillRect/>
          </a:stretch>
        </p:blipFill>
        <p:spPr>
          <a:xfrm>
            <a:off x="4952565" y="2096485"/>
            <a:ext cx="3278208" cy="1862882"/>
          </a:xfrm>
          <a:prstGeom prst="rect">
            <a:avLst/>
          </a:prstGeom>
        </p:spPr>
      </p:pic>
      <p:pic>
        <p:nvPicPr>
          <p:cNvPr id="13" name="Picture 12">
            <a:extLst>
              <a:ext uri="{FF2B5EF4-FFF2-40B4-BE49-F238E27FC236}">
                <a16:creationId xmlns:a16="http://schemas.microsoft.com/office/drawing/2014/main" id="{C8954823-5AA8-42D4-BB9C-E7AB9D8C2801}"/>
              </a:ext>
            </a:extLst>
          </p:cNvPr>
          <p:cNvPicPr>
            <a:picLocks noChangeAspect="1"/>
          </p:cNvPicPr>
          <p:nvPr/>
        </p:nvPicPr>
        <p:blipFill>
          <a:blip r:embed="rId7"/>
          <a:stretch>
            <a:fillRect/>
          </a:stretch>
        </p:blipFill>
        <p:spPr>
          <a:xfrm>
            <a:off x="337920" y="2120870"/>
            <a:ext cx="4480835" cy="1884971"/>
          </a:xfrm>
          <a:prstGeom prst="rect">
            <a:avLst/>
          </a:prstGeom>
        </p:spPr>
      </p:pic>
    </p:spTree>
    <p:extLst>
      <p:ext uri="{BB962C8B-B14F-4D97-AF65-F5344CB8AC3E}">
        <p14:creationId xmlns:p14="http://schemas.microsoft.com/office/powerpoint/2010/main" val="29761680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fade">
                                      <p:cBhvr>
                                        <p:cTn id="34" dur="1000"/>
                                        <p:tgtEl>
                                          <p:spTgt spid="3"/>
                                        </p:tgtEl>
                                      </p:cBhvr>
                                    </p:animEffect>
                                    <p:anim calcmode="lin" valueType="num">
                                      <p:cBhvr>
                                        <p:cTn id="35" dur="1000" fill="hold"/>
                                        <p:tgtEl>
                                          <p:spTgt spid="3"/>
                                        </p:tgtEl>
                                        <p:attrNameLst>
                                          <p:attrName>ppt_x</p:attrName>
                                        </p:attrNameLst>
                                      </p:cBhvr>
                                      <p:tavLst>
                                        <p:tav tm="0">
                                          <p:val>
                                            <p:strVal val="#ppt_x"/>
                                          </p:val>
                                        </p:tav>
                                        <p:tav tm="100000">
                                          <p:val>
                                            <p:strVal val="#ppt_x"/>
                                          </p:val>
                                        </p:tav>
                                      </p:tavLst>
                                    </p:anim>
                                    <p:anim calcmode="lin" valueType="num">
                                      <p:cBhvr>
                                        <p:cTn id="36" dur="1000" fill="hold"/>
                                        <p:tgtEl>
                                          <p:spTgt spid="3"/>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1000"/>
                                        <p:tgtEl>
                                          <p:spTgt spid="13"/>
                                        </p:tgtEl>
                                      </p:cBhvr>
                                    </p:animEffect>
                                    <p:anim calcmode="lin" valueType="num">
                                      <p:cBhvr>
                                        <p:cTn id="45" dur="1000" fill="hold"/>
                                        <p:tgtEl>
                                          <p:spTgt spid="13"/>
                                        </p:tgtEl>
                                        <p:attrNameLst>
                                          <p:attrName>ppt_x</p:attrName>
                                        </p:attrNameLst>
                                      </p:cBhvr>
                                      <p:tavLst>
                                        <p:tav tm="0">
                                          <p:val>
                                            <p:strVal val="#ppt_x"/>
                                          </p:val>
                                        </p:tav>
                                        <p:tav tm="100000">
                                          <p:val>
                                            <p:strVal val="#ppt_x"/>
                                          </p:val>
                                        </p:tav>
                                      </p:tavLst>
                                    </p:anim>
                                    <p:anim calcmode="lin" valueType="num">
                                      <p:cBhvr>
                                        <p:cTn id="4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3"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557210" y="230661"/>
            <a:ext cx="2271125"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تیرچه پیش ساخته خرپایی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en-US" sz="1600" b="1" dirty="0">
                <a:solidFill>
                  <a:schemeClr val="accent2"/>
                </a:solidFill>
                <a:cs typeface="IRAN Sans" panose="020B0400000000000000" pitchFamily="34" charset="-78"/>
              </a:rPr>
              <a:t>71</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pic>
        <p:nvPicPr>
          <p:cNvPr id="6" name="Picture 5">
            <a:extLst>
              <a:ext uri="{FF2B5EF4-FFF2-40B4-BE49-F238E27FC236}">
                <a16:creationId xmlns:a16="http://schemas.microsoft.com/office/drawing/2014/main" id="{2142F795-14E0-BA4D-FC48-FF454B815474}"/>
              </a:ext>
            </a:extLst>
          </p:cNvPr>
          <p:cNvPicPr>
            <a:picLocks noChangeAspect="1"/>
          </p:cNvPicPr>
          <p:nvPr/>
        </p:nvPicPr>
        <p:blipFill>
          <a:blip r:embed="rId6"/>
          <a:stretch>
            <a:fillRect/>
          </a:stretch>
        </p:blipFill>
        <p:spPr>
          <a:xfrm>
            <a:off x="805404" y="649104"/>
            <a:ext cx="7425369" cy="3317026"/>
          </a:xfrm>
          <a:prstGeom prst="rect">
            <a:avLst/>
          </a:prstGeom>
        </p:spPr>
      </p:pic>
    </p:spTree>
    <p:extLst>
      <p:ext uri="{BB962C8B-B14F-4D97-AF65-F5344CB8AC3E}">
        <p14:creationId xmlns:p14="http://schemas.microsoft.com/office/powerpoint/2010/main" val="34294583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557210" y="230661"/>
            <a:ext cx="2271125"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تیرچه پیش ساخته خرپایی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en-US" sz="1600" b="1" dirty="0">
                <a:solidFill>
                  <a:schemeClr val="accent2"/>
                </a:solidFill>
                <a:cs typeface="IRAN Sans" panose="020B0400000000000000" pitchFamily="34" charset="-78"/>
              </a:rPr>
              <a:t>72</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2" name="Rectangle 1">
            <a:extLst>
              <a:ext uri="{FF2B5EF4-FFF2-40B4-BE49-F238E27FC236}">
                <a16:creationId xmlns:a16="http://schemas.microsoft.com/office/drawing/2014/main" id="{C6123349-13BB-B639-C467-8FC41EB3217A}"/>
              </a:ext>
            </a:extLst>
          </p:cNvPr>
          <p:cNvSpPr/>
          <p:nvPr/>
        </p:nvSpPr>
        <p:spPr>
          <a:xfrm>
            <a:off x="1147320" y="683452"/>
            <a:ext cx="7198505" cy="3163462"/>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اين نوع تيرچه كه فقط در كارخانه هاي مجهز توليد ميشود، از مقطع بتني </a:t>
            </a:r>
            <a:r>
              <a:rPr lang="en-US" sz="1600" dirty="0">
                <a:solidFill>
                  <a:schemeClr val="tx1">
                    <a:lumMod val="95000"/>
                    <a:lumOff val="5000"/>
                  </a:schemeClr>
                </a:solidFill>
                <a:cs typeface="IRAN Sans" panose="020B0400000000000000" pitchFamily="34" charset="-78"/>
              </a:rPr>
              <a:t>T</a:t>
            </a:r>
            <a:r>
              <a:rPr lang="fa-IR" sz="1600" dirty="0">
                <a:solidFill>
                  <a:schemeClr val="tx1">
                    <a:lumMod val="95000"/>
                    <a:lumOff val="5000"/>
                  </a:schemeClr>
                </a:solidFill>
                <a:cs typeface="IRAN Sans" panose="020B0400000000000000" pitchFamily="34" charset="-78"/>
              </a:rPr>
              <a:t> شكل با رده مقاومتي </a:t>
            </a:r>
            <a:r>
              <a:rPr lang="en-US" sz="1600" dirty="0">
                <a:solidFill>
                  <a:schemeClr val="tx1">
                    <a:lumMod val="95000"/>
                    <a:lumOff val="5000"/>
                  </a:schemeClr>
                </a:solidFill>
                <a:cs typeface="IRAN Sans" panose="020B0400000000000000" pitchFamily="34" charset="-78"/>
              </a:rPr>
              <a:t>C</a:t>
            </a:r>
            <a:r>
              <a:rPr lang="fa-IR" sz="1600" dirty="0">
                <a:solidFill>
                  <a:schemeClr val="tx1">
                    <a:lumMod val="95000"/>
                    <a:lumOff val="5000"/>
                  </a:schemeClr>
                </a:solidFill>
                <a:cs typeface="IRAN Sans" panose="020B0400000000000000" pitchFamily="34" charset="-78"/>
              </a:rPr>
              <a:t>35</a:t>
            </a:r>
            <a:r>
              <a:rPr lang="en-US" sz="1600" dirty="0">
                <a:solidFill>
                  <a:schemeClr val="tx1">
                    <a:lumMod val="95000"/>
                    <a:lumOff val="5000"/>
                  </a:schemeClr>
                </a:solidFill>
                <a:cs typeface="IRAN Sans" panose="020B0400000000000000" pitchFamily="34" charset="-78"/>
              </a:rPr>
              <a:t> </a:t>
            </a:r>
            <a:r>
              <a:rPr lang="fa-IR" sz="1600" dirty="0">
                <a:solidFill>
                  <a:schemeClr val="tx1">
                    <a:lumMod val="95000"/>
                    <a:lumOff val="5000"/>
                  </a:schemeClr>
                </a:solidFill>
                <a:cs typeface="IRAN Sans" panose="020B0400000000000000" pitchFamily="34" charset="-78"/>
              </a:rPr>
              <a:t>و بالاتر و مفتول هاي فولادي با مقاومت بالا (1750 تا 1900 نيوتن بر ميليمترمربع) تشكيل ميشود. در اين نوع تيرچه، مفتول ها را پيش از بتن ريزي تيرچه، توسط جك هايي تحت كشش معين قرار داده و سپس بتن ريزي مقطع اجرا ميشود. پس از عمل اوري بتن و اطمينان از كسب مقاومت لازم، مفتول ها را آزاد ميكنند. در نتيجه بتن تيرچه تحت تنش فشاري قرار ميگيرد. از آنجا كه تيرچه هاي پيش ساخته ي پيش تنيده در محدوده ي اين دستورالعمل نميباشند، از توضيحات بيشتر در اين خصوص اجتناب ميشود. به منظور دستيابي شرح مفصل تري از اين نوع تيرچه ها ميتوان به نشريه شماره 250 با عنوان «آيين نامه طرح و محاسبه قطعات بتن پيش تنيده » مراجعه كرد.</a:t>
            </a:r>
          </a:p>
        </p:txBody>
      </p:sp>
    </p:spTree>
    <p:extLst>
      <p:ext uri="{BB962C8B-B14F-4D97-AF65-F5344CB8AC3E}">
        <p14:creationId xmlns:p14="http://schemas.microsoft.com/office/powerpoint/2010/main" val="3830233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4"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wipe(down)">
                                      <p:cBhvr>
                                        <p:cTn id="3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1" y="230661"/>
            <a:ext cx="1277784"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کلاف میانی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en-US" sz="1600" b="1" dirty="0">
                <a:solidFill>
                  <a:schemeClr val="accent2"/>
                </a:solidFill>
                <a:cs typeface="IRAN Sans" panose="020B0400000000000000" pitchFamily="34" charset="-78"/>
              </a:rPr>
              <a:t>73</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sp>
        <p:nvSpPr>
          <p:cNvPr id="3" name="Rectangle 2">
            <a:extLst>
              <a:ext uri="{FF2B5EF4-FFF2-40B4-BE49-F238E27FC236}">
                <a16:creationId xmlns:a16="http://schemas.microsoft.com/office/drawing/2014/main" id="{D49FFB65-4CFA-EA55-C354-FF9050C835FB}"/>
              </a:ext>
            </a:extLst>
          </p:cNvPr>
          <p:cNvSpPr/>
          <p:nvPr/>
        </p:nvSpPr>
        <p:spPr>
          <a:xfrm>
            <a:off x="462295" y="851506"/>
            <a:ext cx="8207762" cy="2794131"/>
          </a:xfrm>
          <a:prstGeom prst="rect">
            <a:avLst/>
          </a:prstGeom>
          <a:solidFill>
            <a:schemeClr val="bg1">
              <a:alpha val="90000"/>
            </a:schemeClr>
          </a:solidFill>
          <a:ln>
            <a:solidFill>
              <a:schemeClr val="accent5"/>
            </a:solidFill>
            <a:prstDash val="lgDashDot"/>
          </a:ln>
          <a:effectLst>
            <a:outerShdw blurRad="190500" dist="190500" dir="2340000" algn="bl" rotWithShape="0">
              <a:schemeClr val="tx1">
                <a:lumMod val="65000"/>
                <a:lumOff val="35000"/>
                <a:alpha val="20000"/>
              </a:schemeClr>
            </a:outerShdw>
          </a:effectLst>
        </p:spPr>
        <p:txBody>
          <a:bodyPr wrap="square" lIns="252000" tIns="72000" rIns="252000" bIns="180000">
            <a:spAutoFit/>
          </a:bodyPr>
          <a:lstStyle/>
          <a:p>
            <a:pPr algn="justLow" rtl="1">
              <a:lnSpc>
                <a:spcPct val="150000"/>
              </a:lnSpc>
            </a:pPr>
            <a:r>
              <a:rPr lang="fa-IR" sz="1600" dirty="0">
                <a:solidFill>
                  <a:schemeClr val="tx1">
                    <a:lumMod val="95000"/>
                    <a:lumOff val="5000"/>
                  </a:schemeClr>
                </a:solidFill>
                <a:cs typeface="IRAN Sans" panose="020B0400000000000000" pitchFamily="34" charset="-78"/>
              </a:rPr>
              <a:t>براي تقويت ديافراگم افقي ساختمان در امتداد عمود بر امتداد تيرچه ها و براي توزيع يكنواخت بار روي سقف تيرچه و بلوك و همچنين در محل هايي كه بار منفرد موجود باشد، كلاف مياني بتني كه جهت آن عمود بر جهت تيرچه هاست در سقف تعبيه ميشود.</a:t>
            </a:r>
          </a:p>
          <a:p>
            <a:pPr algn="justLow" rtl="1">
              <a:lnSpc>
                <a:spcPct val="150000"/>
              </a:lnSpc>
            </a:pPr>
            <a:r>
              <a:rPr lang="fa-IR" sz="1600" dirty="0">
                <a:solidFill>
                  <a:schemeClr val="tx1">
                    <a:lumMod val="95000"/>
                    <a:lumOff val="5000"/>
                  </a:schemeClr>
                </a:solidFill>
                <a:cs typeface="IRAN Sans" panose="020B0400000000000000" pitchFamily="34" charset="-78"/>
              </a:rPr>
              <a:t>در صورتی که بار سقف کمتر از ۳۵۰ کیلوگرم بر متر مربع باشد و طول تیرچه نیز کمتر از ۴متر باشد احتیاجی به کلاف میانی نخواهد بود اما اگر طول تیرچه بیش از ۴متر باشد به یک کلاف احیتاج خواهد بود. و در صورتی که بار سقف بیش از ۳۵۰ کیلوگرم بر مترمکعب و طول تیرچه کمتر از ۴متر باشد به یک کلاف و اگر بین ۴تا۷متر باشد دو کلاف و بیش از ۷متر سه کلاف احتیاج خواهد بود</a:t>
            </a:r>
            <a:r>
              <a:rPr lang="en-US" sz="1600" dirty="0">
                <a:solidFill>
                  <a:schemeClr val="tx1">
                    <a:lumMod val="95000"/>
                    <a:lumOff val="5000"/>
                  </a:schemeClr>
                </a:solidFill>
                <a:cs typeface="IRAN Sans" panose="020B0400000000000000" pitchFamily="34" charset="-78"/>
              </a:rPr>
              <a:t>.</a:t>
            </a:r>
            <a:endParaRPr lang="fa-IR" sz="1600" dirty="0">
              <a:solidFill>
                <a:schemeClr val="tx1">
                  <a:lumMod val="95000"/>
                  <a:lumOff val="5000"/>
                </a:schemeClr>
              </a:solidFill>
              <a:cs typeface="IRAN Sans" panose="020B0400000000000000" pitchFamily="34" charset="-78"/>
            </a:endParaRPr>
          </a:p>
        </p:txBody>
      </p:sp>
    </p:spTree>
    <p:extLst>
      <p:ext uri="{BB962C8B-B14F-4D97-AF65-F5344CB8AC3E}">
        <p14:creationId xmlns:p14="http://schemas.microsoft.com/office/powerpoint/2010/main" val="29487206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22" presetClass="entr" presetSubtype="4" fill="hold" grpId="0"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wipe(down)">
                                      <p:cBhvr>
                                        <p:cTn id="3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7550551" y="230661"/>
            <a:ext cx="1277784" cy="335509"/>
          </a:xfrm>
          <a:prstGeom prst="roundRect">
            <a:avLst>
              <a:gd name="adj" fmla="val 42269"/>
            </a:avLst>
          </a:prstGeom>
          <a:noFill/>
          <a:ln>
            <a:solidFill>
              <a:schemeClr val="accent2"/>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2"/>
                </a:solidFill>
                <a:cs typeface="IRAN Sans" panose="020B0400000000000000" pitchFamily="34" charset="-78"/>
              </a:rPr>
              <a:t>کلاف میانی</a:t>
            </a:r>
            <a:endParaRPr sz="1600" b="1" dirty="0">
              <a:solidFill>
                <a:schemeClr val="accent2"/>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2">
                  <a:lumMod val="60000"/>
                  <a:lumOff val="40000"/>
                </a:schemeClr>
              </a:gs>
              <a:gs pos="100000">
                <a:schemeClr val="accent2">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en-US" sz="1600" b="1" dirty="0">
                <a:solidFill>
                  <a:schemeClr val="accent2"/>
                </a:solidFill>
                <a:cs typeface="IRAN Sans" panose="020B0400000000000000" pitchFamily="34" charset="-78"/>
              </a:rPr>
              <a:t>74</a:t>
            </a:r>
            <a:endParaRPr lang="fa-IR" sz="1600" b="1" dirty="0">
              <a:solidFill>
                <a:schemeClr val="accent2"/>
              </a:solidFill>
              <a:cs typeface="IRAN Sans" panose="020B0400000000000000" pitchFamily="34" charset="-78"/>
            </a:endParaRP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7" name="Google Shape;299;p20">
            <a:extLst>
              <a:ext uri="{FF2B5EF4-FFF2-40B4-BE49-F238E27FC236}">
                <a16:creationId xmlns:a16="http://schemas.microsoft.com/office/drawing/2014/main" id="{759B9388-148E-4788-9F28-937ABA63530E}"/>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07;p20">
            <a:extLst>
              <a:ext uri="{FF2B5EF4-FFF2-40B4-BE49-F238E27FC236}">
                <a16:creationId xmlns:a16="http://schemas.microsoft.com/office/drawing/2014/main" id="{3EFAF9FD-0814-4EE0-B4E7-58C011371BE5}"/>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1" name="Google Shape;315;p20">
            <a:extLst>
              <a:ext uri="{FF2B5EF4-FFF2-40B4-BE49-F238E27FC236}">
                <a16:creationId xmlns:a16="http://schemas.microsoft.com/office/drawing/2014/main" id="{49C73F95-976D-454F-AC19-B0BA3EF14DD8}"/>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17;p20">
            <a:hlinkClick r:id="rId3" action="ppaction://hlinksldjump"/>
            <a:extLst>
              <a:ext uri="{FF2B5EF4-FFF2-40B4-BE49-F238E27FC236}">
                <a16:creationId xmlns:a16="http://schemas.microsoft.com/office/drawing/2014/main" id="{E7D98DA7-11CE-4558-92AE-FEE8F6A6190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3" name="Google Shape;322;p20">
            <a:extLst>
              <a:ext uri="{FF2B5EF4-FFF2-40B4-BE49-F238E27FC236}">
                <a16:creationId xmlns:a16="http://schemas.microsoft.com/office/drawing/2014/main" id="{B6F88D4B-0BE0-44BA-99EC-F850863BD2FC}"/>
              </a:ext>
            </a:extLst>
          </p:cNvPr>
          <p:cNvSpPr/>
          <p:nvPr/>
        </p:nvSpPr>
        <p:spPr>
          <a:xfrm rot="16200000">
            <a:off x="2158575" y="4137841"/>
            <a:ext cx="360083" cy="1490127"/>
          </a:xfrm>
          <a:prstGeom prst="round2SameRect">
            <a:avLst>
              <a:gd name="adj1" fmla="val 0"/>
              <a:gd name="adj2" fmla="val 0"/>
            </a:avLst>
          </a:prstGeom>
          <a:solidFill>
            <a:schemeClr val="accent2">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24;p20">
            <a:hlinkClick r:id="rId4" action="ppaction://hlinksldjump"/>
            <a:extLst>
              <a:ext uri="{FF2B5EF4-FFF2-40B4-BE49-F238E27FC236}">
                <a16:creationId xmlns:a16="http://schemas.microsoft.com/office/drawing/2014/main" id="{CBEC7C70-99D2-4530-9AE8-FDCDC9B6154A}"/>
              </a:ext>
            </a:extLst>
          </p:cNvPr>
          <p:cNvSpPr txBox="1"/>
          <p:nvPr/>
        </p:nvSpPr>
        <p:spPr>
          <a:xfrm>
            <a:off x="1718631" y="4737815"/>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اجزا</a:t>
            </a:r>
            <a:endParaRPr sz="16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5" name="Google Shape;307;p20">
            <a:extLst>
              <a:ext uri="{FF2B5EF4-FFF2-40B4-BE49-F238E27FC236}">
                <a16:creationId xmlns:a16="http://schemas.microsoft.com/office/drawing/2014/main" id="{6CA384B2-9721-44F1-9A0C-4065A1192A2B}"/>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7" name="Google Shape;307;p20">
            <a:extLst>
              <a:ext uri="{FF2B5EF4-FFF2-40B4-BE49-F238E27FC236}">
                <a16:creationId xmlns:a16="http://schemas.microsoft.com/office/drawing/2014/main" id="{A0109FB9-1B79-4C35-9547-5BC8EB2EDD64}"/>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26;p20">
            <a:extLst>
              <a:ext uri="{FF2B5EF4-FFF2-40B4-BE49-F238E27FC236}">
                <a16:creationId xmlns:a16="http://schemas.microsoft.com/office/drawing/2014/main" id="{ED03A759-D834-4F16-B492-8E0548C3EE92}"/>
              </a:ext>
            </a:extLst>
          </p:cNvPr>
          <p:cNvSpPr>
            <a:spLocks noChangeAspect="1"/>
          </p:cNvSpPr>
          <p:nvPr/>
        </p:nvSpPr>
        <p:spPr>
          <a:xfrm>
            <a:off x="2129214" y="4100572"/>
            <a:ext cx="415019" cy="415019"/>
          </a:xfrm>
          <a:prstGeom prst="ellipse">
            <a:avLst/>
          </a:pr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1B73C055-BF93-4A10-B313-89FA28F748F0}"/>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2C63220D-9EF1-4A1C-8433-F8388F122604}"/>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7B382753-BC02-4958-AD69-B9A86DE85B9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3" name="Google Shape;311;p20">
            <a:extLst>
              <a:ext uri="{FF2B5EF4-FFF2-40B4-BE49-F238E27FC236}">
                <a16:creationId xmlns:a16="http://schemas.microsoft.com/office/drawing/2014/main" id="{CDDED319-11F1-4F65-95D9-E95C0BBA4271}"/>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4" name="Google Shape;311;p20">
            <a:extLst>
              <a:ext uri="{FF2B5EF4-FFF2-40B4-BE49-F238E27FC236}">
                <a16:creationId xmlns:a16="http://schemas.microsoft.com/office/drawing/2014/main" id="{DF624341-BD07-43CB-8A2E-4B8A5F173A38}"/>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5" name="Group 114">
            <a:extLst>
              <a:ext uri="{FF2B5EF4-FFF2-40B4-BE49-F238E27FC236}">
                <a16:creationId xmlns:a16="http://schemas.microsoft.com/office/drawing/2014/main" id="{EE365CFC-5293-4A58-83FB-08A844576C3A}"/>
              </a:ext>
            </a:extLst>
          </p:cNvPr>
          <p:cNvGrpSpPr/>
          <p:nvPr/>
        </p:nvGrpSpPr>
        <p:grpSpPr>
          <a:xfrm>
            <a:off x="2090313" y="4055040"/>
            <a:ext cx="496596" cy="647522"/>
            <a:chOff x="2090313" y="4055040"/>
            <a:chExt cx="496596" cy="647522"/>
          </a:xfrm>
        </p:grpSpPr>
        <p:cxnSp>
          <p:nvCxnSpPr>
            <p:cNvPr id="116" name="Google Shape;327;p20">
              <a:extLst>
                <a:ext uri="{FF2B5EF4-FFF2-40B4-BE49-F238E27FC236}">
                  <a16:creationId xmlns:a16="http://schemas.microsoft.com/office/drawing/2014/main" id="{CC4429BD-1BA5-4612-9078-62EEB70939C9}"/>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7" name="Google Shape;325;p20">
              <a:extLst>
                <a:ext uri="{FF2B5EF4-FFF2-40B4-BE49-F238E27FC236}">
                  <a16:creationId xmlns:a16="http://schemas.microsoft.com/office/drawing/2014/main" id="{403FE923-2AF1-41DC-87AF-BE83D82DA67D}"/>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8" name="Group 117">
              <a:extLst>
                <a:ext uri="{FF2B5EF4-FFF2-40B4-BE49-F238E27FC236}">
                  <a16:creationId xmlns:a16="http://schemas.microsoft.com/office/drawing/2014/main" id="{238105B1-AF29-45EF-8BB0-DE1A46D1BAF9}"/>
                </a:ext>
              </a:extLst>
            </p:cNvPr>
            <p:cNvGrpSpPr/>
            <p:nvPr/>
          </p:nvGrpSpPr>
          <p:grpSpPr>
            <a:xfrm>
              <a:off x="2221611" y="4179917"/>
              <a:ext cx="234000" cy="234000"/>
              <a:chOff x="2247014" y="4211643"/>
              <a:chExt cx="183194" cy="183390"/>
            </a:xfrm>
          </p:grpSpPr>
          <p:sp>
            <p:nvSpPr>
              <p:cNvPr id="119" name="Google Shape;331;p20">
                <a:extLst>
                  <a:ext uri="{FF2B5EF4-FFF2-40B4-BE49-F238E27FC236}">
                    <a16:creationId xmlns:a16="http://schemas.microsoft.com/office/drawing/2014/main" id="{05219C63-BF84-47B7-81CE-1F0C3F8A59A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2;p20">
                <a:extLst>
                  <a:ext uri="{FF2B5EF4-FFF2-40B4-BE49-F238E27FC236}">
                    <a16:creationId xmlns:a16="http://schemas.microsoft.com/office/drawing/2014/main" id="{A5BB1C0C-F62B-4CB6-ADE5-50106EDBE91D}"/>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3;p20">
                <a:extLst>
                  <a:ext uri="{FF2B5EF4-FFF2-40B4-BE49-F238E27FC236}">
                    <a16:creationId xmlns:a16="http://schemas.microsoft.com/office/drawing/2014/main" id="{DA6A503B-BC33-48F2-A97A-B58F4C9EB9B7}"/>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4;p20">
                <a:extLst>
                  <a:ext uri="{FF2B5EF4-FFF2-40B4-BE49-F238E27FC236}">
                    <a16:creationId xmlns:a16="http://schemas.microsoft.com/office/drawing/2014/main" id="{9EF1936A-5996-4FC8-AF6D-5ABDF529527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5;p20">
                <a:extLst>
                  <a:ext uri="{FF2B5EF4-FFF2-40B4-BE49-F238E27FC236}">
                    <a16:creationId xmlns:a16="http://schemas.microsoft.com/office/drawing/2014/main" id="{14DF2E9A-51E8-480D-98FE-660201DAF65D}"/>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6;p20">
                <a:extLst>
                  <a:ext uri="{FF2B5EF4-FFF2-40B4-BE49-F238E27FC236}">
                    <a16:creationId xmlns:a16="http://schemas.microsoft.com/office/drawing/2014/main" id="{8BEA274B-D9EA-4BC9-8A27-6641999E9713}"/>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7;p20">
                <a:extLst>
                  <a:ext uri="{FF2B5EF4-FFF2-40B4-BE49-F238E27FC236}">
                    <a16:creationId xmlns:a16="http://schemas.microsoft.com/office/drawing/2014/main" id="{E69F7DFC-6826-4F36-B662-413E2F50C07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8;p20">
                <a:extLst>
                  <a:ext uri="{FF2B5EF4-FFF2-40B4-BE49-F238E27FC236}">
                    <a16:creationId xmlns:a16="http://schemas.microsoft.com/office/drawing/2014/main" id="{6084C995-EFAE-4D57-B5C2-A804A3125656}"/>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9;p20">
                <a:extLst>
                  <a:ext uri="{FF2B5EF4-FFF2-40B4-BE49-F238E27FC236}">
                    <a16:creationId xmlns:a16="http://schemas.microsoft.com/office/drawing/2014/main" id="{68548F13-6245-489F-BD0A-B78A0C3936C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0;p20">
                <a:extLst>
                  <a:ext uri="{FF2B5EF4-FFF2-40B4-BE49-F238E27FC236}">
                    <a16:creationId xmlns:a16="http://schemas.microsoft.com/office/drawing/2014/main" id="{87D8F148-194E-4135-89E8-18660387AF65}"/>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1;p20">
                <a:extLst>
                  <a:ext uri="{FF2B5EF4-FFF2-40B4-BE49-F238E27FC236}">
                    <a16:creationId xmlns:a16="http://schemas.microsoft.com/office/drawing/2014/main" id="{C63859A9-5B83-4B4E-ACFF-A27CF8DB757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2;p20">
                <a:extLst>
                  <a:ext uri="{FF2B5EF4-FFF2-40B4-BE49-F238E27FC236}">
                    <a16:creationId xmlns:a16="http://schemas.microsoft.com/office/drawing/2014/main" id="{9BEC9A89-1740-4A10-BDCD-E691D4BAA14A}"/>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3;p20">
                <a:extLst>
                  <a:ext uri="{FF2B5EF4-FFF2-40B4-BE49-F238E27FC236}">
                    <a16:creationId xmlns:a16="http://schemas.microsoft.com/office/drawing/2014/main" id="{FB0922AE-02C2-4608-8BB6-422F490E31E2}"/>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2" name="Group 131">
            <a:extLst>
              <a:ext uri="{FF2B5EF4-FFF2-40B4-BE49-F238E27FC236}">
                <a16:creationId xmlns:a16="http://schemas.microsoft.com/office/drawing/2014/main" id="{525C56C2-5C4D-4714-AB38-7847DA9D0059}"/>
              </a:ext>
            </a:extLst>
          </p:cNvPr>
          <p:cNvGrpSpPr/>
          <p:nvPr/>
        </p:nvGrpSpPr>
        <p:grpSpPr>
          <a:xfrm>
            <a:off x="600089" y="4055040"/>
            <a:ext cx="496596" cy="647483"/>
            <a:chOff x="600089" y="4055040"/>
            <a:chExt cx="496596" cy="647483"/>
          </a:xfrm>
        </p:grpSpPr>
        <p:cxnSp>
          <p:nvCxnSpPr>
            <p:cNvPr id="133" name="Google Shape;304;p20">
              <a:extLst>
                <a:ext uri="{FF2B5EF4-FFF2-40B4-BE49-F238E27FC236}">
                  <a16:creationId xmlns:a16="http://schemas.microsoft.com/office/drawing/2014/main" id="{83936EBA-CC6A-4187-8635-055A0AD56DF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4" name="Google Shape;302;p20">
              <a:extLst>
                <a:ext uri="{FF2B5EF4-FFF2-40B4-BE49-F238E27FC236}">
                  <a16:creationId xmlns:a16="http://schemas.microsoft.com/office/drawing/2014/main" id="{1C70BB15-9872-412B-A74A-990DEFF8903E}"/>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5" name="Group 134">
              <a:extLst>
                <a:ext uri="{FF2B5EF4-FFF2-40B4-BE49-F238E27FC236}">
                  <a16:creationId xmlns:a16="http://schemas.microsoft.com/office/drawing/2014/main" id="{57E201BB-C42E-458A-A3EF-CB92CBB22417}"/>
                </a:ext>
              </a:extLst>
            </p:cNvPr>
            <p:cNvGrpSpPr/>
            <p:nvPr/>
          </p:nvGrpSpPr>
          <p:grpSpPr>
            <a:xfrm>
              <a:off x="718825" y="4179544"/>
              <a:ext cx="252000" cy="234000"/>
              <a:chOff x="760166" y="4216727"/>
              <a:chExt cx="176529" cy="173221"/>
            </a:xfrm>
          </p:grpSpPr>
          <p:sp>
            <p:nvSpPr>
              <p:cNvPr id="136" name="Google Shape;345;p20">
                <a:extLst>
                  <a:ext uri="{FF2B5EF4-FFF2-40B4-BE49-F238E27FC236}">
                    <a16:creationId xmlns:a16="http://schemas.microsoft.com/office/drawing/2014/main" id="{0A4D29CE-8C5B-4C0C-8E52-12B5AE9A137F}"/>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7" name="Google Shape;346;p20">
                <a:extLst>
                  <a:ext uri="{FF2B5EF4-FFF2-40B4-BE49-F238E27FC236}">
                    <a16:creationId xmlns:a16="http://schemas.microsoft.com/office/drawing/2014/main" id="{6D4AA135-72F7-4C5C-B4AF-34A3FD778F6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8" name="Google Shape;347;p20">
                <a:extLst>
                  <a:ext uri="{FF2B5EF4-FFF2-40B4-BE49-F238E27FC236}">
                    <a16:creationId xmlns:a16="http://schemas.microsoft.com/office/drawing/2014/main" id="{956B696F-1703-4A9A-B9EE-DAEA1F2BE837}"/>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9" name="Group 138">
            <a:extLst>
              <a:ext uri="{FF2B5EF4-FFF2-40B4-BE49-F238E27FC236}">
                <a16:creationId xmlns:a16="http://schemas.microsoft.com/office/drawing/2014/main" id="{970638CD-7A17-4EDC-9113-45FCAB6AA398}"/>
              </a:ext>
            </a:extLst>
          </p:cNvPr>
          <p:cNvGrpSpPr/>
          <p:nvPr/>
        </p:nvGrpSpPr>
        <p:grpSpPr>
          <a:xfrm>
            <a:off x="3580536" y="4055040"/>
            <a:ext cx="496596" cy="647522"/>
            <a:chOff x="3580536" y="4055040"/>
            <a:chExt cx="496596" cy="647522"/>
          </a:xfrm>
        </p:grpSpPr>
        <p:cxnSp>
          <p:nvCxnSpPr>
            <p:cNvPr id="140" name="Google Shape;312;p20">
              <a:extLst>
                <a:ext uri="{FF2B5EF4-FFF2-40B4-BE49-F238E27FC236}">
                  <a16:creationId xmlns:a16="http://schemas.microsoft.com/office/drawing/2014/main" id="{558B3B61-B608-4076-B452-8B100504C56A}"/>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1" name="Google Shape;310;p20">
              <a:extLst>
                <a:ext uri="{FF2B5EF4-FFF2-40B4-BE49-F238E27FC236}">
                  <a16:creationId xmlns:a16="http://schemas.microsoft.com/office/drawing/2014/main" id="{9057C696-8C74-43A5-8F69-EB18F7555961}"/>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2" name="Google Shape;348;p20">
              <a:extLst>
                <a:ext uri="{FF2B5EF4-FFF2-40B4-BE49-F238E27FC236}">
                  <a16:creationId xmlns:a16="http://schemas.microsoft.com/office/drawing/2014/main" id="{4B76A65E-8E8C-415A-AA9C-47253B7C3171}"/>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3" name="Group 142">
            <a:extLst>
              <a:ext uri="{FF2B5EF4-FFF2-40B4-BE49-F238E27FC236}">
                <a16:creationId xmlns:a16="http://schemas.microsoft.com/office/drawing/2014/main" id="{11E5A038-E624-4707-B6DA-BD8A551F7E1F}"/>
              </a:ext>
            </a:extLst>
          </p:cNvPr>
          <p:cNvGrpSpPr/>
          <p:nvPr/>
        </p:nvGrpSpPr>
        <p:grpSpPr>
          <a:xfrm>
            <a:off x="5067104" y="4055039"/>
            <a:ext cx="496596" cy="647522"/>
            <a:chOff x="5067104" y="4055039"/>
            <a:chExt cx="496596" cy="647522"/>
          </a:xfrm>
        </p:grpSpPr>
        <p:cxnSp>
          <p:nvCxnSpPr>
            <p:cNvPr id="144" name="Google Shape;312;p20">
              <a:extLst>
                <a:ext uri="{FF2B5EF4-FFF2-40B4-BE49-F238E27FC236}">
                  <a16:creationId xmlns:a16="http://schemas.microsoft.com/office/drawing/2014/main" id="{678E8F6B-DF29-4D6A-825D-6D9D52B52E08}"/>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A3B870D9-827C-4BD0-99D5-EC83409CDEC9}"/>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5E674FD7-A7A0-4C3F-833F-8EAADA3BF1A1}"/>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C6A6A662-C39A-495A-82D1-AC7B7CDA94A1}"/>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60AE8192-02A4-4BC2-A305-9E5AF997B84F}"/>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F2A309AF-6A5E-47CC-9BBB-C2AECA4AF0F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E9E27E7-7E97-4720-AEDE-C42E6368F58D}"/>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CE23B67E-F55C-49C5-BC0D-1A8BFF25B1ED}"/>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7E339C2F-A5EA-40E9-864D-FC2D6E088B8A}"/>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7F5ACFBF-91B6-4923-95C1-354347151533}"/>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10429136-F1EF-4577-A451-A7809819EF83}"/>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E71E47F0-6ACB-4874-8EDF-B559E2EB0F34}"/>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694A7632-B141-460C-B505-AAAC85755E17}"/>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C444E899-A887-4043-96D5-BE2C45531DBE}"/>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6AF823C5-361F-4BF4-B4C8-D3093F7631B2}"/>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CBB6A398-7197-41CC-994B-2F18F0BBEA1A}"/>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85FF9941-3762-4FB5-8628-67FF2D35416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B83CDBAD-0138-4D68-9638-93AE03E2CBE1}"/>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67D0CDAF-1E21-44FA-BF4D-A15444111088}"/>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96564EB7-AC7F-415B-84BA-4029E40AF21C}"/>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F4800756-8021-440B-A57E-3BABD01807EF}"/>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73933380-C176-4C09-B1A5-A5C1B0F66EC2}"/>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F5C140AD-FF08-4357-B0BD-6A464397777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B7B8CF9E-2CB5-4176-9A15-E2BCE841EEB2}"/>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349AB7CE-3503-4F53-9D6B-15CAF7DA55FA}"/>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5976C2FD-AB0E-4B66-B79B-37DA558EC2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36A0B28F-B5E7-42B5-ADBE-9E382947E1D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EA3AA661-912C-4F0F-9288-A9D53F57A10E}"/>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9A5A464C-3427-4F6A-98B5-F29F400F2A9C}"/>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604D62D7-5DB8-4983-A8AD-D58AD457E6B4}"/>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6723AEEB-B149-4E50-94FE-30048EA55C30}"/>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29F8EBAD-9A74-4A2F-8B6C-3425A070E50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 name="Google Shape;309;p20">
            <a:hlinkClick r:id="" action="ppaction://noaction"/>
            <a:extLst>
              <a:ext uri="{FF2B5EF4-FFF2-40B4-BE49-F238E27FC236}">
                <a16:creationId xmlns:a16="http://schemas.microsoft.com/office/drawing/2014/main" id="{00065177-2959-73C1-588D-085ABAA5015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 name="Google Shape;309;p20">
            <a:hlinkClick r:id="rId5" action="ppaction://hlinksldjump"/>
            <a:extLst>
              <a:ext uri="{FF2B5EF4-FFF2-40B4-BE49-F238E27FC236}">
                <a16:creationId xmlns:a16="http://schemas.microsoft.com/office/drawing/2014/main" id="{EDFA9718-2318-5D98-6B9C-9923DB4CB69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انواع</a:t>
            </a:r>
          </a:p>
        </p:txBody>
      </p:sp>
      <p:sp>
        <p:nvSpPr>
          <p:cNvPr id="11" name="Google Shape;317;p20">
            <a:hlinkClick r:id="rId3" action="ppaction://hlinksldjump"/>
            <a:extLst>
              <a:ext uri="{FF2B5EF4-FFF2-40B4-BE49-F238E27FC236}">
                <a16:creationId xmlns:a16="http://schemas.microsoft.com/office/drawing/2014/main" id="{06B7C1E0-AEBF-E7DA-9EC4-28D1C6FFDB4D}"/>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مزایا</a:t>
            </a:r>
          </a:p>
        </p:txBody>
      </p:sp>
      <p:pic>
        <p:nvPicPr>
          <p:cNvPr id="4" name="Picture 3">
            <a:extLst>
              <a:ext uri="{FF2B5EF4-FFF2-40B4-BE49-F238E27FC236}">
                <a16:creationId xmlns:a16="http://schemas.microsoft.com/office/drawing/2014/main" id="{8FE4663F-554A-EF28-2225-5DE47745C3B7}"/>
              </a:ext>
            </a:extLst>
          </p:cNvPr>
          <p:cNvPicPr>
            <a:picLocks noChangeAspect="1"/>
          </p:cNvPicPr>
          <p:nvPr/>
        </p:nvPicPr>
        <p:blipFill>
          <a:blip r:embed="rId6"/>
          <a:stretch>
            <a:fillRect/>
          </a:stretch>
        </p:blipFill>
        <p:spPr>
          <a:xfrm>
            <a:off x="2129214" y="665368"/>
            <a:ext cx="4514850" cy="3009900"/>
          </a:xfrm>
          <a:prstGeom prst="rect">
            <a:avLst/>
          </a:prstGeom>
          <a:ln w="19050">
            <a:solidFill>
              <a:schemeClr val="accent2"/>
            </a:solidFill>
          </a:ln>
        </p:spPr>
      </p:pic>
    </p:spTree>
    <p:extLst>
      <p:ext uri="{BB962C8B-B14F-4D97-AF65-F5344CB8AC3E}">
        <p14:creationId xmlns:p14="http://schemas.microsoft.com/office/powerpoint/2010/main" val="29981727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179" name="Group 178">
            <a:extLst>
              <a:ext uri="{FF2B5EF4-FFF2-40B4-BE49-F238E27FC236}">
                <a16:creationId xmlns:a16="http://schemas.microsoft.com/office/drawing/2014/main" id="{9F4B64CF-8E26-47C6-9707-0E0A5DCE1341}"/>
              </a:ext>
            </a:extLst>
          </p:cNvPr>
          <p:cNvGrpSpPr/>
          <p:nvPr/>
        </p:nvGrpSpPr>
        <p:grpSpPr>
          <a:xfrm>
            <a:off x="-46978" y="512"/>
            <a:ext cx="9144000" cy="5146418"/>
            <a:chOff x="0" y="0"/>
            <a:chExt cx="9144000" cy="5146418"/>
          </a:xfrm>
        </p:grpSpPr>
        <p:pic>
          <p:nvPicPr>
            <p:cNvPr id="180" name="Picture 179">
              <a:extLst>
                <a:ext uri="{FF2B5EF4-FFF2-40B4-BE49-F238E27FC236}">
                  <a16:creationId xmlns:a16="http://schemas.microsoft.com/office/drawing/2014/main" id="{B2D62963-92AF-4F7E-88AD-A91C9B38158D}"/>
                </a:ext>
              </a:extLst>
            </p:cNvPr>
            <p:cNvPicPr>
              <a:picLocks noChangeAspect="1"/>
            </p:cNvPicPr>
            <p:nvPr/>
          </p:nvPicPr>
          <p:blipFill>
            <a:blip r:embed="rId3"/>
            <a:stretch>
              <a:fillRect/>
            </a:stretch>
          </p:blipFill>
          <p:spPr>
            <a:xfrm>
              <a:off x="0" y="0"/>
              <a:ext cx="9144000" cy="5146418"/>
            </a:xfrm>
            <a:prstGeom prst="rect">
              <a:avLst/>
            </a:prstGeom>
          </p:spPr>
        </p:pic>
        <p:sp>
          <p:nvSpPr>
            <p:cNvPr id="181" name="Rectangle 180">
              <a:extLst>
                <a:ext uri="{FF2B5EF4-FFF2-40B4-BE49-F238E27FC236}">
                  <a16:creationId xmlns:a16="http://schemas.microsoft.com/office/drawing/2014/main" id="{FCEC1D7D-02B6-4112-A5E3-A7863FDD6558}"/>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7" name="Group 6">
            <a:extLst>
              <a:ext uri="{FF2B5EF4-FFF2-40B4-BE49-F238E27FC236}">
                <a16:creationId xmlns:a16="http://schemas.microsoft.com/office/drawing/2014/main" id="{12C93428-7959-4611-84B6-1ABBD3F12AFE}"/>
              </a:ext>
            </a:extLst>
          </p:cNvPr>
          <p:cNvGrpSpPr/>
          <p:nvPr/>
        </p:nvGrpSpPr>
        <p:grpSpPr>
          <a:xfrm>
            <a:off x="-1255820" y="-868411"/>
            <a:ext cx="5390004" cy="5422265"/>
            <a:chOff x="-1255820" y="-868411"/>
            <a:chExt cx="5390004" cy="5422265"/>
          </a:xfrm>
        </p:grpSpPr>
        <p:grpSp>
          <p:nvGrpSpPr>
            <p:cNvPr id="6" name="Group 5">
              <a:extLst>
                <a:ext uri="{FF2B5EF4-FFF2-40B4-BE49-F238E27FC236}">
                  <a16:creationId xmlns:a16="http://schemas.microsoft.com/office/drawing/2014/main" id="{D174AD3F-F583-4FDD-8536-91929A14FDA7}"/>
                </a:ext>
              </a:extLst>
            </p:cNvPr>
            <p:cNvGrpSpPr/>
            <p:nvPr/>
          </p:nvGrpSpPr>
          <p:grpSpPr>
            <a:xfrm>
              <a:off x="-1255820" y="-868411"/>
              <a:ext cx="5390004" cy="5422265"/>
              <a:chOff x="-1255820" y="-868411"/>
              <a:chExt cx="5390004" cy="5422265"/>
            </a:xfrm>
          </p:grpSpPr>
          <p:cxnSp>
            <p:nvCxnSpPr>
              <p:cNvPr id="58" name="Google Shape;58;p15"/>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5"/>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64" name="Google Shape;64;p15"/>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67" name="Google Shape;67;p15"/>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70" name="Google Shape;70;p15"/>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73" name="Google Shape;73;p15"/>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76" name="Google Shape;76;p15"/>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5"/>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82" name="Google Shape;82;p15"/>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85" name="Google Shape;85;p15"/>
            <p:cNvSpPr/>
            <p:nvPr/>
          </p:nvSpPr>
          <p:spPr>
            <a:xfrm rot="1578595" flipH="1">
              <a:off x="361877" y="469201"/>
              <a:ext cx="2376084" cy="2376084"/>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15"/>
          <p:cNvSpPr txBox="1">
            <a:spLocks noGrp="1"/>
          </p:cNvSpPr>
          <p:nvPr>
            <p:ph type="ctrTitle"/>
          </p:nvPr>
        </p:nvSpPr>
        <p:spPr>
          <a:xfrm>
            <a:off x="4530311" y="1992257"/>
            <a:ext cx="4130167" cy="8883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fa-IR" sz="3600" b="1" dirty="0"/>
              <a:t> دستور العمل ارزیابی کیفیت و مشخصات فنی عملیات اجرا شده</a:t>
            </a:r>
            <a:endParaRPr sz="3600" b="1" dirty="0"/>
          </a:p>
        </p:txBody>
      </p:sp>
      <p:sp>
        <p:nvSpPr>
          <p:cNvPr id="59" name="Google Shape;59;p15"/>
          <p:cNvSpPr/>
          <p:nvPr/>
        </p:nvSpPr>
        <p:spPr>
          <a:xfrm rot="1578595" flipH="1">
            <a:off x="3676186" y="-409612"/>
            <a:ext cx="1677379" cy="1677379"/>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62" name="Google Shape;62;p15"/>
          <p:cNvSpPr/>
          <p:nvPr/>
        </p:nvSpPr>
        <p:spPr>
          <a:xfrm rot="1578595" flipH="1">
            <a:off x="-1175989" y="273033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1" name="Google Shape;71;p15"/>
          <p:cNvSpPr/>
          <p:nvPr/>
        </p:nvSpPr>
        <p:spPr>
          <a:xfrm rot="1578595" flipH="1">
            <a:off x="3024022" y="3375988"/>
            <a:ext cx="1348111" cy="1348111"/>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74" name="Google Shape;74;p15"/>
          <p:cNvSpPr/>
          <p:nvPr/>
        </p:nvSpPr>
        <p:spPr>
          <a:xfrm rot="1578595" flipH="1">
            <a:off x="1266250" y="4064743"/>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80" name="Google Shape;80;p15"/>
          <p:cNvSpPr/>
          <p:nvPr/>
        </p:nvSpPr>
        <p:spPr>
          <a:xfrm rot="1578595" flipH="1">
            <a:off x="3515937" y="1909594"/>
            <a:ext cx="921463" cy="921463"/>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5"/>
          <p:cNvSpPr/>
          <p:nvPr/>
        </p:nvSpPr>
        <p:spPr>
          <a:xfrm rot="1578595" flipH="1">
            <a:off x="536385" y="643527"/>
            <a:ext cx="2027340" cy="202734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68" name="Google Shape;301;p20">
            <a:extLst>
              <a:ext uri="{FF2B5EF4-FFF2-40B4-BE49-F238E27FC236}">
                <a16:creationId xmlns:a16="http://schemas.microsoft.com/office/drawing/2014/main" id="{519C8674-C23F-4FF0-A038-9031B7F66AC5}"/>
              </a:ext>
            </a:extLst>
          </p:cNvPr>
          <p:cNvSpPr txBox="1"/>
          <p:nvPr/>
        </p:nvSpPr>
        <p:spPr>
          <a:xfrm>
            <a:off x="11299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نتایج</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0" name="Google Shape;309;p20">
            <a:extLst>
              <a:ext uri="{FF2B5EF4-FFF2-40B4-BE49-F238E27FC236}">
                <a16:creationId xmlns:a16="http://schemas.microsoft.com/office/drawing/2014/main" id="{FF2239C9-D44D-48DC-9342-929E9C7F1C31}"/>
              </a:ext>
            </a:extLst>
          </p:cNvPr>
          <p:cNvSpPr txBox="1"/>
          <p:nvPr/>
        </p:nvSpPr>
        <p:spPr>
          <a:xfrm>
            <a:off x="3093451"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روش</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2" name="Google Shape;317;p20">
            <a:hlinkClick r:id="rId4" action="ppaction://hlinksldjump"/>
            <a:extLst>
              <a:ext uri="{FF2B5EF4-FFF2-40B4-BE49-F238E27FC236}">
                <a16:creationId xmlns:a16="http://schemas.microsoft.com/office/drawing/2014/main" id="{C18CF9B8-C87F-43DC-A8EE-F0DB2FDFED46}"/>
              </a:ext>
            </a:extLst>
          </p:cNvPr>
          <p:cNvSpPr txBox="1"/>
          <p:nvPr/>
        </p:nvSpPr>
        <p:spPr>
          <a:xfrm>
            <a:off x="693091" y="1432832"/>
            <a:ext cx="1649719" cy="333271"/>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44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4" name="Google Shape;324;p20">
            <a:extLst>
              <a:ext uri="{FF2B5EF4-FFF2-40B4-BE49-F238E27FC236}">
                <a16:creationId xmlns:a16="http://schemas.microsoft.com/office/drawing/2014/main" id="{DBBC2701-9A6D-48C9-972A-F4D0112A5A14}"/>
              </a:ext>
            </a:extLst>
          </p:cNvPr>
          <p:cNvSpPr txBox="1"/>
          <p:nvPr/>
        </p:nvSpPr>
        <p:spPr>
          <a:xfrm>
            <a:off x="1603220" y="611765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تحلیل</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6" name="Google Shape;309;p20">
            <a:extLst>
              <a:ext uri="{FF2B5EF4-FFF2-40B4-BE49-F238E27FC236}">
                <a16:creationId xmlns:a16="http://schemas.microsoft.com/office/drawing/2014/main" id="{2678D4FD-D62F-4B51-8511-78D2FD3F40E5}"/>
              </a:ext>
            </a:extLst>
          </p:cNvPr>
          <p:cNvSpPr txBox="1"/>
          <p:nvPr/>
        </p:nvSpPr>
        <p:spPr>
          <a:xfrm>
            <a:off x="4580019"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پیشینه</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78" name="Google Shape;309;p20">
            <a:extLst>
              <a:ext uri="{FF2B5EF4-FFF2-40B4-BE49-F238E27FC236}">
                <a16:creationId xmlns:a16="http://schemas.microsoft.com/office/drawing/2014/main" id="{548A4B85-5AE5-4D43-B79B-8377D429E826}"/>
              </a:ext>
            </a:extLst>
          </p:cNvPr>
          <p:cNvSpPr txBox="1"/>
          <p:nvPr/>
        </p:nvSpPr>
        <p:spPr>
          <a:xfrm>
            <a:off x="6070125" y="6117653"/>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کلیات</a:t>
            </a:r>
            <a:endParaRPr sz="200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6" name="Google Shape;299;p20">
            <a:extLst>
              <a:ext uri="{FF2B5EF4-FFF2-40B4-BE49-F238E27FC236}">
                <a16:creationId xmlns:a16="http://schemas.microsoft.com/office/drawing/2014/main" id="{4C6FCFD3-8E4B-4528-B9C8-0BEBA9D71D21}"/>
              </a:ext>
            </a:extLst>
          </p:cNvPr>
          <p:cNvSpPr/>
          <p:nvPr/>
        </p:nvSpPr>
        <p:spPr>
          <a:xfrm rot="16200000">
            <a:off x="427960" y="6985402"/>
            <a:ext cx="360083" cy="1490127"/>
          </a:xfrm>
          <a:prstGeom prst="round2SameRect">
            <a:avLst>
              <a:gd name="adj1" fmla="val 50000"/>
              <a:gd name="adj2" fmla="val 0"/>
            </a:avLst>
          </a:prstGeom>
          <a:solidFill>
            <a:schemeClr val="accent1"/>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89" name="Google Shape;307;p20">
            <a:extLst>
              <a:ext uri="{FF2B5EF4-FFF2-40B4-BE49-F238E27FC236}">
                <a16:creationId xmlns:a16="http://schemas.microsoft.com/office/drawing/2014/main" id="{BB02A727-DE9E-4FB1-8566-9B5A3A5C0229}"/>
              </a:ext>
            </a:extLst>
          </p:cNvPr>
          <p:cNvSpPr/>
          <p:nvPr/>
        </p:nvSpPr>
        <p:spPr>
          <a:xfrm rot="16200000">
            <a:off x="3488307" y="6264440"/>
            <a:ext cx="360083" cy="1490127"/>
          </a:xfrm>
          <a:prstGeom prst="round2SameRect">
            <a:avLst>
              <a:gd name="adj1" fmla="val 0"/>
              <a:gd name="adj2" fmla="val 0"/>
            </a:avLst>
          </a:prstGeom>
          <a:solidFill>
            <a:schemeClr val="accent3"/>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2" name="Google Shape;315;p20">
            <a:extLst>
              <a:ext uri="{FF2B5EF4-FFF2-40B4-BE49-F238E27FC236}">
                <a16:creationId xmlns:a16="http://schemas.microsoft.com/office/drawing/2014/main" id="{12AF320F-10ED-40D1-8345-ABE921247DCC}"/>
              </a:ext>
            </a:extLst>
          </p:cNvPr>
          <p:cNvSpPr/>
          <p:nvPr/>
        </p:nvSpPr>
        <p:spPr>
          <a:xfrm rot="16200000">
            <a:off x="7997642" y="5083156"/>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5" name="Google Shape;322;p20">
            <a:extLst>
              <a:ext uri="{FF2B5EF4-FFF2-40B4-BE49-F238E27FC236}">
                <a16:creationId xmlns:a16="http://schemas.microsoft.com/office/drawing/2014/main" id="{35DCDC1F-7986-4BE4-AC7D-8E1ECA7512EC}"/>
              </a:ext>
            </a:extLst>
          </p:cNvPr>
          <p:cNvSpPr/>
          <p:nvPr/>
        </p:nvSpPr>
        <p:spPr>
          <a:xfrm rot="16200000">
            <a:off x="1973670" y="6625318"/>
            <a:ext cx="360083" cy="1490127"/>
          </a:xfrm>
          <a:prstGeom prst="round2SameRect">
            <a:avLst>
              <a:gd name="adj1" fmla="val 0"/>
              <a:gd name="adj2" fmla="val 0"/>
            </a:avLst>
          </a:prstGeom>
          <a:solidFill>
            <a:schemeClr val="accent2"/>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98" name="Google Shape;307;p20">
            <a:extLst>
              <a:ext uri="{FF2B5EF4-FFF2-40B4-BE49-F238E27FC236}">
                <a16:creationId xmlns:a16="http://schemas.microsoft.com/office/drawing/2014/main" id="{09CD7F32-720B-4147-8E54-1ACDD7A60B50}"/>
              </a:ext>
            </a:extLst>
          </p:cNvPr>
          <p:cNvSpPr/>
          <p:nvPr/>
        </p:nvSpPr>
        <p:spPr>
          <a:xfrm rot="16200000">
            <a:off x="5017180" y="5904549"/>
            <a:ext cx="360083" cy="1490127"/>
          </a:xfrm>
          <a:prstGeom prst="round2SameRect">
            <a:avLst>
              <a:gd name="adj1" fmla="val 0"/>
              <a:gd name="adj2" fmla="val 0"/>
            </a:avLst>
          </a:prstGeom>
          <a:solidFill>
            <a:schemeClr val="accent4"/>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1" name="Google Shape;307;p20">
            <a:extLst>
              <a:ext uri="{FF2B5EF4-FFF2-40B4-BE49-F238E27FC236}">
                <a16:creationId xmlns:a16="http://schemas.microsoft.com/office/drawing/2014/main" id="{CEE710BA-2F08-4815-A493-36047EC4B32F}"/>
              </a:ext>
            </a:extLst>
          </p:cNvPr>
          <p:cNvSpPr/>
          <p:nvPr/>
        </p:nvSpPr>
        <p:spPr>
          <a:xfrm rot="16200000">
            <a:off x="6507307" y="5488878"/>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 name="Google Shape;86;p15">
            <a:extLst>
              <a:ext uri="{FF2B5EF4-FFF2-40B4-BE49-F238E27FC236}">
                <a16:creationId xmlns:a16="http://schemas.microsoft.com/office/drawing/2014/main" id="{567E0C09-0BB3-A66C-7E92-87E210155EBF}"/>
              </a:ext>
            </a:extLst>
          </p:cNvPr>
          <p:cNvSpPr/>
          <p:nvPr/>
        </p:nvSpPr>
        <p:spPr>
          <a:xfrm rot="1578595" flipH="1">
            <a:off x="8234390" y="1800907"/>
            <a:ext cx="207150" cy="214365"/>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6036755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9" name="Google Shape;299;p20"/>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7" name="Google Shape;307;p20"/>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5" name="Google Shape;315;p20"/>
          <p:cNvSpPr/>
          <p:nvPr/>
        </p:nvSpPr>
        <p:spPr>
          <a:xfrm rot="16200000">
            <a:off x="8115573" y="4137839"/>
            <a:ext cx="360083" cy="1490127"/>
          </a:xfrm>
          <a:prstGeom prst="round2SameRect">
            <a:avLst>
              <a:gd name="adj1" fmla="val 0"/>
              <a:gd name="adj2" fmla="val 50000"/>
            </a:avLst>
          </a:prstGeom>
          <a:solidFill>
            <a:schemeClr val="accent6"/>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2" name="Google Shape;322;p20"/>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0" name="Google Shape;307;p20">
            <a:extLst>
              <a:ext uri="{FF2B5EF4-FFF2-40B4-BE49-F238E27FC236}">
                <a16:creationId xmlns:a16="http://schemas.microsoft.com/office/drawing/2014/main" id="{1DDFB795-0245-41B4-8928-F9EC9ECD70A6}"/>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8" name="Google Shape;307;p20">
            <a:extLst>
              <a:ext uri="{FF2B5EF4-FFF2-40B4-BE49-F238E27FC236}">
                <a16:creationId xmlns:a16="http://schemas.microsoft.com/office/drawing/2014/main" id="{9903D51B-969F-4868-8986-3449D4EDCBD3}"/>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lang="en-US">
              <a:cs typeface="IRAN Sans" panose="020B0400000000000000" pitchFamily="34" charset="-78"/>
            </a:endParaRPr>
          </a:p>
        </p:txBody>
      </p:sp>
      <p:sp>
        <p:nvSpPr>
          <p:cNvPr id="326" name="Google Shape;326;p20"/>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03" name="Google Shape;303;p20"/>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11" name="Google Shape;311;p20"/>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329" name="Google Shape;329;p20"/>
          <p:cNvSpPr>
            <a:spLocks noChangeAspect="1"/>
          </p:cNvSpPr>
          <p:nvPr/>
        </p:nvSpPr>
        <p:spPr>
          <a:xfrm>
            <a:off x="8088084" y="4095827"/>
            <a:ext cx="415019" cy="415019"/>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73" name="Google Shape;311;p20">
            <a:extLst>
              <a:ext uri="{FF2B5EF4-FFF2-40B4-BE49-F238E27FC236}">
                <a16:creationId xmlns:a16="http://schemas.microsoft.com/office/drawing/2014/main" id="{2F6453EB-432E-4624-99BF-BDB176AB9C33}"/>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81" name="Google Shape;311;p20">
            <a:extLst>
              <a:ext uri="{FF2B5EF4-FFF2-40B4-BE49-F238E27FC236}">
                <a16:creationId xmlns:a16="http://schemas.microsoft.com/office/drawing/2014/main" id="{19E5D02E-6AF5-4395-BDD7-C987B13302D9}"/>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0" name="Google Shape;322;p20">
            <a:extLst>
              <a:ext uri="{FF2B5EF4-FFF2-40B4-BE49-F238E27FC236}">
                <a16:creationId xmlns:a16="http://schemas.microsoft.com/office/drawing/2014/main" id="{CFB8EA47-71C6-44D8-ADE7-B7B1AF8CBFAD}"/>
              </a:ext>
            </a:extLst>
          </p:cNvPr>
          <p:cNvSpPr/>
          <p:nvPr/>
        </p:nvSpPr>
        <p:spPr>
          <a:xfrm>
            <a:off x="7053806" y="230661"/>
            <a:ext cx="1774530" cy="335509"/>
          </a:xfrm>
          <a:prstGeom prst="roundRect">
            <a:avLst>
              <a:gd name="adj" fmla="val 42269"/>
            </a:avLst>
          </a:prstGeom>
          <a:noFill/>
          <a:ln>
            <a:solidFill>
              <a:schemeClr val="accent6"/>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b="1" dirty="0">
                <a:solidFill>
                  <a:schemeClr val="accent6"/>
                </a:solidFill>
                <a:cs typeface="IRAN Sans" panose="020B0400000000000000" pitchFamily="34" charset="-78"/>
              </a:rPr>
              <a:t>هدف و دامنه کاربرد</a:t>
            </a:r>
            <a:endParaRPr b="1" dirty="0">
              <a:solidFill>
                <a:schemeClr val="accent6"/>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6">
                  <a:lumMod val="60000"/>
                  <a:lumOff val="40000"/>
                </a:schemeClr>
              </a:gs>
              <a:gs pos="100000">
                <a:schemeClr val="accent6">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6"/>
                </a:solidFill>
                <a:cs typeface="IRAN Sans" panose="020B0400000000000000" pitchFamily="34" charset="-78"/>
              </a:rPr>
              <a:t>75</a:t>
            </a:r>
          </a:p>
        </p:txBody>
      </p:sp>
      <p:grpSp>
        <p:nvGrpSpPr>
          <p:cNvPr id="4" name="Group 3">
            <a:extLst>
              <a:ext uri="{FF2B5EF4-FFF2-40B4-BE49-F238E27FC236}">
                <a16:creationId xmlns:a16="http://schemas.microsoft.com/office/drawing/2014/main" id="{AA9CC20F-8BD2-41BB-98ED-C4BA3A231273}"/>
              </a:ext>
            </a:extLst>
          </p:cNvPr>
          <p:cNvGrpSpPr/>
          <p:nvPr/>
        </p:nvGrpSpPr>
        <p:grpSpPr>
          <a:xfrm>
            <a:off x="2090313" y="4055040"/>
            <a:ext cx="496596" cy="647522"/>
            <a:chOff x="2090313" y="4055040"/>
            <a:chExt cx="496596" cy="647522"/>
          </a:xfrm>
        </p:grpSpPr>
        <p:cxnSp>
          <p:nvCxnSpPr>
            <p:cNvPr id="327" name="Google Shape;327;p20"/>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25" name="Google Shape;325;p20"/>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54" name="Group 153">
              <a:extLst>
                <a:ext uri="{FF2B5EF4-FFF2-40B4-BE49-F238E27FC236}">
                  <a16:creationId xmlns:a16="http://schemas.microsoft.com/office/drawing/2014/main" id="{10E126ED-4F17-4866-AB7C-6EFE82058894}"/>
                </a:ext>
              </a:extLst>
            </p:cNvPr>
            <p:cNvGrpSpPr/>
            <p:nvPr/>
          </p:nvGrpSpPr>
          <p:grpSpPr>
            <a:xfrm>
              <a:off x="2221611" y="4179917"/>
              <a:ext cx="234000" cy="234000"/>
              <a:chOff x="2247014" y="4211643"/>
              <a:chExt cx="183194" cy="183390"/>
            </a:xfrm>
          </p:grpSpPr>
          <p:sp>
            <p:nvSpPr>
              <p:cNvPr id="155" name="Google Shape;331;p20">
                <a:extLst>
                  <a:ext uri="{FF2B5EF4-FFF2-40B4-BE49-F238E27FC236}">
                    <a16:creationId xmlns:a16="http://schemas.microsoft.com/office/drawing/2014/main" id="{87AAAB41-D2FC-476B-93F4-C5CD26B1C320}"/>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6" name="Google Shape;332;p20">
                <a:extLst>
                  <a:ext uri="{FF2B5EF4-FFF2-40B4-BE49-F238E27FC236}">
                    <a16:creationId xmlns:a16="http://schemas.microsoft.com/office/drawing/2014/main" id="{D38DB15F-1D8A-4C7A-80C6-EB04F409342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7" name="Google Shape;333;p20">
                <a:extLst>
                  <a:ext uri="{FF2B5EF4-FFF2-40B4-BE49-F238E27FC236}">
                    <a16:creationId xmlns:a16="http://schemas.microsoft.com/office/drawing/2014/main" id="{D80FABD6-73C8-4AB3-9FC5-2B8AFEAE2998}"/>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8" name="Google Shape;334;p20">
                <a:extLst>
                  <a:ext uri="{FF2B5EF4-FFF2-40B4-BE49-F238E27FC236}">
                    <a16:creationId xmlns:a16="http://schemas.microsoft.com/office/drawing/2014/main" id="{2709BC95-02C2-4358-A7A7-B9CE663A2573}"/>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59" name="Google Shape;335;p20">
                <a:extLst>
                  <a:ext uri="{FF2B5EF4-FFF2-40B4-BE49-F238E27FC236}">
                    <a16:creationId xmlns:a16="http://schemas.microsoft.com/office/drawing/2014/main" id="{DA3274B2-9B9C-41BA-B770-6D67F5502B1A}"/>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0" name="Google Shape;336;p20">
                <a:extLst>
                  <a:ext uri="{FF2B5EF4-FFF2-40B4-BE49-F238E27FC236}">
                    <a16:creationId xmlns:a16="http://schemas.microsoft.com/office/drawing/2014/main" id="{D4A4B84C-2E1D-45E6-BB3D-085087A1D5E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1" name="Google Shape;337;p20">
                <a:extLst>
                  <a:ext uri="{FF2B5EF4-FFF2-40B4-BE49-F238E27FC236}">
                    <a16:creationId xmlns:a16="http://schemas.microsoft.com/office/drawing/2014/main" id="{E43E0896-F831-41EF-A816-E144079D4F39}"/>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2" name="Google Shape;338;p20">
                <a:extLst>
                  <a:ext uri="{FF2B5EF4-FFF2-40B4-BE49-F238E27FC236}">
                    <a16:creationId xmlns:a16="http://schemas.microsoft.com/office/drawing/2014/main" id="{FDADA9C4-6267-4A6F-A372-25337BCCEF97}"/>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3" name="Google Shape;339;p20">
                <a:extLst>
                  <a:ext uri="{FF2B5EF4-FFF2-40B4-BE49-F238E27FC236}">
                    <a16:creationId xmlns:a16="http://schemas.microsoft.com/office/drawing/2014/main" id="{A846B2CC-676D-4C33-B717-D14B8863125C}"/>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4" name="Google Shape;340;p20">
                <a:extLst>
                  <a:ext uri="{FF2B5EF4-FFF2-40B4-BE49-F238E27FC236}">
                    <a16:creationId xmlns:a16="http://schemas.microsoft.com/office/drawing/2014/main" id="{77506C05-0A7E-45EB-A6EA-E9A6827464F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5" name="Google Shape;341;p20">
                <a:extLst>
                  <a:ext uri="{FF2B5EF4-FFF2-40B4-BE49-F238E27FC236}">
                    <a16:creationId xmlns:a16="http://schemas.microsoft.com/office/drawing/2014/main" id="{3ECBEAAA-33E1-4BB8-9752-DFB3E3DAA808}"/>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6" name="Google Shape;342;p20">
                <a:extLst>
                  <a:ext uri="{FF2B5EF4-FFF2-40B4-BE49-F238E27FC236}">
                    <a16:creationId xmlns:a16="http://schemas.microsoft.com/office/drawing/2014/main" id="{FEF1F583-35A6-4B83-9B8E-6BEEBCBC7B7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67" name="Google Shape;343;p20">
                <a:extLst>
                  <a:ext uri="{FF2B5EF4-FFF2-40B4-BE49-F238E27FC236}">
                    <a16:creationId xmlns:a16="http://schemas.microsoft.com/office/drawing/2014/main" id="{6C3C3733-9ED3-483F-8BF7-A682CC2E574A}"/>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3" name="Group 2">
            <a:extLst>
              <a:ext uri="{FF2B5EF4-FFF2-40B4-BE49-F238E27FC236}">
                <a16:creationId xmlns:a16="http://schemas.microsoft.com/office/drawing/2014/main" id="{9506C460-270A-4E40-B2C5-010608878021}"/>
              </a:ext>
            </a:extLst>
          </p:cNvPr>
          <p:cNvGrpSpPr/>
          <p:nvPr/>
        </p:nvGrpSpPr>
        <p:grpSpPr>
          <a:xfrm>
            <a:off x="600089" y="4055040"/>
            <a:ext cx="496596" cy="647483"/>
            <a:chOff x="600089" y="4055040"/>
            <a:chExt cx="496596" cy="647483"/>
          </a:xfrm>
        </p:grpSpPr>
        <p:cxnSp>
          <p:nvCxnSpPr>
            <p:cNvPr id="304" name="Google Shape;304;p20"/>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302" name="Google Shape;302;p20"/>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68" name="Group 167">
              <a:extLst>
                <a:ext uri="{FF2B5EF4-FFF2-40B4-BE49-F238E27FC236}">
                  <a16:creationId xmlns:a16="http://schemas.microsoft.com/office/drawing/2014/main" id="{51044DD5-E029-41C5-9485-EA9E4B03C3F8}"/>
                </a:ext>
              </a:extLst>
            </p:cNvPr>
            <p:cNvGrpSpPr/>
            <p:nvPr/>
          </p:nvGrpSpPr>
          <p:grpSpPr>
            <a:xfrm>
              <a:off x="718825" y="4179544"/>
              <a:ext cx="252000" cy="234000"/>
              <a:chOff x="760166" y="4216727"/>
              <a:chExt cx="176529" cy="173221"/>
            </a:xfrm>
          </p:grpSpPr>
          <p:sp>
            <p:nvSpPr>
              <p:cNvPr id="169" name="Google Shape;345;p20">
                <a:extLst>
                  <a:ext uri="{FF2B5EF4-FFF2-40B4-BE49-F238E27FC236}">
                    <a16:creationId xmlns:a16="http://schemas.microsoft.com/office/drawing/2014/main" id="{FF3A3A36-3DE0-4679-8BF8-8A5C48EE6DB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0" name="Google Shape;346;p20">
                <a:extLst>
                  <a:ext uri="{FF2B5EF4-FFF2-40B4-BE49-F238E27FC236}">
                    <a16:creationId xmlns:a16="http://schemas.microsoft.com/office/drawing/2014/main" id="{8AA8D9D3-3BE6-4A0B-8856-E88458D4DDB7}"/>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1" name="Google Shape;347;p20">
                <a:extLst>
                  <a:ext uri="{FF2B5EF4-FFF2-40B4-BE49-F238E27FC236}">
                    <a16:creationId xmlns:a16="http://schemas.microsoft.com/office/drawing/2014/main" id="{9AEC7984-6D99-4E1C-A238-B5DA748F33EF}"/>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5" name="Group 4">
            <a:extLst>
              <a:ext uri="{FF2B5EF4-FFF2-40B4-BE49-F238E27FC236}">
                <a16:creationId xmlns:a16="http://schemas.microsoft.com/office/drawing/2014/main" id="{A4C3837D-FE14-42E2-93B4-E99D00DEE9E8}"/>
              </a:ext>
            </a:extLst>
          </p:cNvPr>
          <p:cNvGrpSpPr/>
          <p:nvPr/>
        </p:nvGrpSpPr>
        <p:grpSpPr>
          <a:xfrm>
            <a:off x="3580536" y="4055040"/>
            <a:ext cx="496596" cy="647522"/>
            <a:chOff x="3580536" y="4055040"/>
            <a:chExt cx="496596" cy="647522"/>
          </a:xfrm>
        </p:grpSpPr>
        <p:cxnSp>
          <p:nvCxnSpPr>
            <p:cNvPr id="312" name="Google Shape;312;p20"/>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310" name="Google Shape;310;p20"/>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72" name="Google Shape;348;p20">
              <a:extLst>
                <a:ext uri="{FF2B5EF4-FFF2-40B4-BE49-F238E27FC236}">
                  <a16:creationId xmlns:a16="http://schemas.microsoft.com/office/drawing/2014/main" id="{B2A7CC0A-682B-4A28-AE77-0EC9391576DD}"/>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6" name="Group 5">
            <a:extLst>
              <a:ext uri="{FF2B5EF4-FFF2-40B4-BE49-F238E27FC236}">
                <a16:creationId xmlns:a16="http://schemas.microsoft.com/office/drawing/2014/main" id="{873ECDA0-CFF6-47E0-AE71-904B807B136F}"/>
              </a:ext>
            </a:extLst>
          </p:cNvPr>
          <p:cNvGrpSpPr/>
          <p:nvPr/>
        </p:nvGrpSpPr>
        <p:grpSpPr>
          <a:xfrm>
            <a:off x="5067104" y="4055039"/>
            <a:ext cx="496596" cy="647522"/>
            <a:chOff x="5067104" y="4055039"/>
            <a:chExt cx="496596" cy="647522"/>
          </a:xfrm>
        </p:grpSpPr>
        <p:cxnSp>
          <p:nvCxnSpPr>
            <p:cNvPr id="74" name="Google Shape;312;p20">
              <a:extLst>
                <a:ext uri="{FF2B5EF4-FFF2-40B4-BE49-F238E27FC236}">
                  <a16:creationId xmlns:a16="http://schemas.microsoft.com/office/drawing/2014/main" id="{84B8FB43-C11C-453E-86AC-49F5486E6EE0}"/>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72" name="Google Shape;310;p20">
              <a:extLst>
                <a:ext uri="{FF2B5EF4-FFF2-40B4-BE49-F238E27FC236}">
                  <a16:creationId xmlns:a16="http://schemas.microsoft.com/office/drawing/2014/main" id="{2B56306E-767B-4DE8-A2A4-014980E8088A}"/>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73" name="Google Shape;364;p21">
              <a:extLst>
                <a:ext uri="{FF2B5EF4-FFF2-40B4-BE49-F238E27FC236}">
                  <a16:creationId xmlns:a16="http://schemas.microsoft.com/office/drawing/2014/main" id="{BAFAA8DE-CED8-4D12-B1D6-495F0583A928}"/>
                </a:ext>
              </a:extLst>
            </p:cNvPr>
            <p:cNvGrpSpPr/>
            <p:nvPr/>
          </p:nvGrpSpPr>
          <p:grpSpPr>
            <a:xfrm>
              <a:off x="5191745" y="4172810"/>
              <a:ext cx="247311" cy="230069"/>
              <a:chOff x="6577238" y="2457221"/>
              <a:chExt cx="332019" cy="310788"/>
            </a:xfrm>
            <a:solidFill>
              <a:schemeClr val="bg1"/>
            </a:solidFill>
          </p:grpSpPr>
          <p:sp>
            <p:nvSpPr>
              <p:cNvPr id="174" name="Google Shape;365;p21">
                <a:extLst>
                  <a:ext uri="{FF2B5EF4-FFF2-40B4-BE49-F238E27FC236}">
                    <a16:creationId xmlns:a16="http://schemas.microsoft.com/office/drawing/2014/main" id="{CF88CFC5-C488-4F7C-A18A-5486E3059E1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66;p21">
                <a:extLst>
                  <a:ext uri="{FF2B5EF4-FFF2-40B4-BE49-F238E27FC236}">
                    <a16:creationId xmlns:a16="http://schemas.microsoft.com/office/drawing/2014/main" id="{20AAF888-D8A5-4B4C-9C79-7D52DE162F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67;p21">
                <a:extLst>
                  <a:ext uri="{FF2B5EF4-FFF2-40B4-BE49-F238E27FC236}">
                    <a16:creationId xmlns:a16="http://schemas.microsoft.com/office/drawing/2014/main" id="{D0FF7959-7F5A-4F95-AEEC-5CBD0FF3AF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68;p21">
                <a:extLst>
                  <a:ext uri="{FF2B5EF4-FFF2-40B4-BE49-F238E27FC236}">
                    <a16:creationId xmlns:a16="http://schemas.microsoft.com/office/drawing/2014/main" id="{1C57F711-0C87-478F-ACE1-17944906ACF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69;p21">
                <a:extLst>
                  <a:ext uri="{FF2B5EF4-FFF2-40B4-BE49-F238E27FC236}">
                    <a16:creationId xmlns:a16="http://schemas.microsoft.com/office/drawing/2014/main" id="{ABD89EA6-A107-4B34-9268-001A672C8181}"/>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70;p21">
                <a:extLst>
                  <a:ext uri="{FF2B5EF4-FFF2-40B4-BE49-F238E27FC236}">
                    <a16:creationId xmlns:a16="http://schemas.microsoft.com/office/drawing/2014/main" id="{548BB9AD-FFEE-4A91-B051-D3D5E855783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 name="Group 6">
            <a:extLst>
              <a:ext uri="{FF2B5EF4-FFF2-40B4-BE49-F238E27FC236}">
                <a16:creationId xmlns:a16="http://schemas.microsoft.com/office/drawing/2014/main" id="{D7AFF06F-3515-401B-8225-738A7718F0F0}"/>
              </a:ext>
            </a:extLst>
          </p:cNvPr>
          <p:cNvGrpSpPr/>
          <p:nvPr/>
        </p:nvGrpSpPr>
        <p:grpSpPr>
          <a:xfrm>
            <a:off x="6557210" y="4055039"/>
            <a:ext cx="496596" cy="647522"/>
            <a:chOff x="6557210" y="4055039"/>
            <a:chExt cx="496596" cy="647522"/>
          </a:xfrm>
        </p:grpSpPr>
        <p:cxnSp>
          <p:nvCxnSpPr>
            <p:cNvPr id="82" name="Google Shape;312;p20">
              <a:extLst>
                <a:ext uri="{FF2B5EF4-FFF2-40B4-BE49-F238E27FC236}">
                  <a16:creationId xmlns:a16="http://schemas.microsoft.com/office/drawing/2014/main" id="{464E7986-7541-40BC-A9B8-364C895AFFAD}"/>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80" name="Google Shape;310;p20">
              <a:extLst>
                <a:ext uri="{FF2B5EF4-FFF2-40B4-BE49-F238E27FC236}">
                  <a16:creationId xmlns:a16="http://schemas.microsoft.com/office/drawing/2014/main" id="{BC1D6801-7DF3-418A-B2A1-C7D104C2B72D}"/>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0" name="Google Shape;492;p23">
              <a:extLst>
                <a:ext uri="{FF2B5EF4-FFF2-40B4-BE49-F238E27FC236}">
                  <a16:creationId xmlns:a16="http://schemas.microsoft.com/office/drawing/2014/main" id="{CDFE8D14-7142-49B9-BB42-520D999DC11C}"/>
                </a:ext>
              </a:extLst>
            </p:cNvPr>
            <p:cNvGrpSpPr/>
            <p:nvPr/>
          </p:nvGrpSpPr>
          <p:grpSpPr>
            <a:xfrm>
              <a:off x="6681779" y="4170275"/>
              <a:ext cx="252000" cy="252000"/>
              <a:chOff x="2280029" y="1970604"/>
              <a:chExt cx="353631" cy="354395"/>
            </a:xfrm>
          </p:grpSpPr>
          <p:sp>
            <p:nvSpPr>
              <p:cNvPr id="181" name="Google Shape;493;p23">
                <a:extLst>
                  <a:ext uri="{FF2B5EF4-FFF2-40B4-BE49-F238E27FC236}">
                    <a16:creationId xmlns:a16="http://schemas.microsoft.com/office/drawing/2014/main" id="{AF694578-D27F-4E43-8C86-238693174846}"/>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94;p23">
                <a:extLst>
                  <a:ext uri="{FF2B5EF4-FFF2-40B4-BE49-F238E27FC236}">
                    <a16:creationId xmlns:a16="http://schemas.microsoft.com/office/drawing/2014/main" id="{A2344269-A919-466E-A729-30BDB74D1660}"/>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95;p23">
                <a:extLst>
                  <a:ext uri="{FF2B5EF4-FFF2-40B4-BE49-F238E27FC236}">
                    <a16:creationId xmlns:a16="http://schemas.microsoft.com/office/drawing/2014/main" id="{F0DFBDD2-66AC-4084-9F9B-93610A821077}"/>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96;p23">
                <a:extLst>
                  <a:ext uri="{FF2B5EF4-FFF2-40B4-BE49-F238E27FC236}">
                    <a16:creationId xmlns:a16="http://schemas.microsoft.com/office/drawing/2014/main" id="{0AF572D4-BD73-437F-8AA2-74EE5AC1A75A}"/>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roup 7">
            <a:extLst>
              <a:ext uri="{FF2B5EF4-FFF2-40B4-BE49-F238E27FC236}">
                <a16:creationId xmlns:a16="http://schemas.microsoft.com/office/drawing/2014/main" id="{E796DEC1-1DE2-4118-8BF1-85CBB7B3C6AE}"/>
              </a:ext>
            </a:extLst>
          </p:cNvPr>
          <p:cNvGrpSpPr/>
          <p:nvPr/>
        </p:nvGrpSpPr>
        <p:grpSpPr>
          <a:xfrm>
            <a:off x="8047295" y="4055039"/>
            <a:ext cx="496596" cy="647522"/>
            <a:chOff x="8047295" y="4055039"/>
            <a:chExt cx="496596" cy="647522"/>
          </a:xfrm>
        </p:grpSpPr>
        <p:cxnSp>
          <p:nvCxnSpPr>
            <p:cNvPr id="319" name="Google Shape;319;p20"/>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318" name="Google Shape;318;p20"/>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85" name="Google Shape;764;p28">
              <a:extLst>
                <a:ext uri="{FF2B5EF4-FFF2-40B4-BE49-F238E27FC236}">
                  <a16:creationId xmlns:a16="http://schemas.microsoft.com/office/drawing/2014/main" id="{5B0CCC68-8989-4B03-9C3F-6AB3936A45BB}"/>
                </a:ext>
              </a:extLst>
            </p:cNvPr>
            <p:cNvGrpSpPr/>
            <p:nvPr/>
          </p:nvGrpSpPr>
          <p:grpSpPr>
            <a:xfrm>
              <a:off x="8205593" y="4170275"/>
              <a:ext cx="180000" cy="252000"/>
              <a:chOff x="1333682" y="3344330"/>
              <a:chExt cx="271213" cy="383088"/>
            </a:xfrm>
            <a:solidFill>
              <a:schemeClr val="bg1"/>
            </a:solidFill>
          </p:grpSpPr>
          <p:sp>
            <p:nvSpPr>
              <p:cNvPr id="186" name="Google Shape;765;p28">
                <a:extLst>
                  <a:ext uri="{FF2B5EF4-FFF2-40B4-BE49-F238E27FC236}">
                    <a16:creationId xmlns:a16="http://schemas.microsoft.com/office/drawing/2014/main" id="{50C1AB98-5268-4B49-8CE6-27A914A58284}"/>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66;p28">
                <a:extLst>
                  <a:ext uri="{FF2B5EF4-FFF2-40B4-BE49-F238E27FC236}">
                    <a16:creationId xmlns:a16="http://schemas.microsoft.com/office/drawing/2014/main" id="{92517498-C0AF-45E8-8699-50988B6304D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67;p28">
                <a:extLst>
                  <a:ext uri="{FF2B5EF4-FFF2-40B4-BE49-F238E27FC236}">
                    <a16:creationId xmlns:a16="http://schemas.microsoft.com/office/drawing/2014/main" id="{E916C20A-2950-4152-A207-4ADC8CF3B1C6}"/>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68;p28">
                <a:extLst>
                  <a:ext uri="{FF2B5EF4-FFF2-40B4-BE49-F238E27FC236}">
                    <a16:creationId xmlns:a16="http://schemas.microsoft.com/office/drawing/2014/main" id="{407BFEE4-CCBE-416B-951A-5A1013F1F902}"/>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69;p28">
                <a:extLst>
                  <a:ext uri="{FF2B5EF4-FFF2-40B4-BE49-F238E27FC236}">
                    <a16:creationId xmlns:a16="http://schemas.microsoft.com/office/drawing/2014/main" id="{E7FC6481-E2FA-40BE-879A-262409D53221}"/>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70;p28">
                <a:extLst>
                  <a:ext uri="{FF2B5EF4-FFF2-40B4-BE49-F238E27FC236}">
                    <a16:creationId xmlns:a16="http://schemas.microsoft.com/office/drawing/2014/main" id="{A3418318-A020-42BB-8C70-D77FA1C97A9F}"/>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71;p28">
                <a:extLst>
                  <a:ext uri="{FF2B5EF4-FFF2-40B4-BE49-F238E27FC236}">
                    <a16:creationId xmlns:a16="http://schemas.microsoft.com/office/drawing/2014/main" id="{9EED927D-ADA7-41B6-9A11-7F977431F79C}"/>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72;p28">
                <a:extLst>
                  <a:ext uri="{FF2B5EF4-FFF2-40B4-BE49-F238E27FC236}">
                    <a16:creationId xmlns:a16="http://schemas.microsoft.com/office/drawing/2014/main" id="{99080862-B173-4AA4-B4A7-8F4B49570BE1}"/>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73;p28">
                <a:extLst>
                  <a:ext uri="{FF2B5EF4-FFF2-40B4-BE49-F238E27FC236}">
                    <a16:creationId xmlns:a16="http://schemas.microsoft.com/office/drawing/2014/main" id="{CC83E3F2-554D-4C08-B6B7-8A52FB94B7D1}"/>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74;p28">
                <a:extLst>
                  <a:ext uri="{FF2B5EF4-FFF2-40B4-BE49-F238E27FC236}">
                    <a16:creationId xmlns:a16="http://schemas.microsoft.com/office/drawing/2014/main" id="{9E1F72C3-A5AF-4DED-AA44-D348E846FC4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75;p28">
                <a:extLst>
                  <a:ext uri="{FF2B5EF4-FFF2-40B4-BE49-F238E27FC236}">
                    <a16:creationId xmlns:a16="http://schemas.microsoft.com/office/drawing/2014/main" id="{093A607B-CA4D-468F-901F-B33E735327A8}"/>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 name="Google Shape;317;p20">
            <a:hlinkClick r:id="rId3" action="ppaction://hlinksldjump"/>
            <a:extLst>
              <a:ext uri="{FF2B5EF4-FFF2-40B4-BE49-F238E27FC236}">
                <a16:creationId xmlns:a16="http://schemas.microsoft.com/office/drawing/2014/main" id="{0D36D53D-4E25-EA33-2D6F-9350B4DA71C3}"/>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7" name="Rectangle: Rounded Corners 16">
            <a:extLst>
              <a:ext uri="{FF2B5EF4-FFF2-40B4-BE49-F238E27FC236}">
                <a16:creationId xmlns:a16="http://schemas.microsoft.com/office/drawing/2014/main" id="{04C294A0-79AA-0944-08D8-3270385FC886}"/>
              </a:ext>
            </a:extLst>
          </p:cNvPr>
          <p:cNvSpPr/>
          <p:nvPr/>
        </p:nvSpPr>
        <p:spPr>
          <a:xfrm>
            <a:off x="410733" y="770752"/>
            <a:ext cx="8319237" cy="792938"/>
          </a:xfrm>
          <a:prstGeom prst="roundRect">
            <a:avLst>
              <a:gd name="adj" fmla="val 2148"/>
            </a:avLst>
          </a:prstGeom>
          <a:solidFill>
            <a:schemeClr val="bg1">
              <a:alpha val="90000"/>
            </a:schemeClr>
          </a:solidFill>
          <a:ln>
            <a:solidFill>
              <a:schemeClr val="accent1"/>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b="1" dirty="0">
                <a:solidFill>
                  <a:schemeClr val="tx1">
                    <a:lumMod val="95000"/>
                    <a:lumOff val="5000"/>
                  </a:schemeClr>
                </a:solidFill>
                <a:cs typeface="IRAN Sans" panose="020B0400000000000000" pitchFamily="34" charset="-78"/>
              </a:rPr>
              <a:t>هدف: </a:t>
            </a:r>
            <a:r>
              <a:rPr lang="fa-IR" sz="1600" dirty="0">
                <a:solidFill>
                  <a:schemeClr val="tx1">
                    <a:lumMod val="95000"/>
                    <a:lumOff val="5000"/>
                  </a:schemeClr>
                </a:solidFill>
                <a:cs typeface="IRAN Sans" panose="020B0400000000000000" pitchFamily="34" charset="-78"/>
              </a:rPr>
              <a:t>هدف از ابلاغ اين دستورالعمل، ارتقاي كيفيت احداث طرح ها و پروژه ها، با تاكيد بر رعايت كامل ضوابط و مشخصات فني است</a:t>
            </a:r>
          </a:p>
        </p:txBody>
      </p:sp>
      <p:sp>
        <p:nvSpPr>
          <p:cNvPr id="9" name="Google Shape;309;p20">
            <a:hlinkClick r:id="" action="ppaction://noaction"/>
            <a:extLst>
              <a:ext uri="{FF2B5EF4-FFF2-40B4-BE49-F238E27FC236}">
                <a16:creationId xmlns:a16="http://schemas.microsoft.com/office/drawing/2014/main" id="{6F07BBEA-F354-C09F-BBB8-0A69876B33B2}"/>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p>
        </p:txBody>
      </p:sp>
      <p:sp>
        <p:nvSpPr>
          <p:cNvPr id="11" name="Rectangle: Rounded Corners 10">
            <a:extLst>
              <a:ext uri="{FF2B5EF4-FFF2-40B4-BE49-F238E27FC236}">
                <a16:creationId xmlns:a16="http://schemas.microsoft.com/office/drawing/2014/main" id="{44DFCE6A-105E-A3A6-D84C-33D9A069F3D1}"/>
              </a:ext>
            </a:extLst>
          </p:cNvPr>
          <p:cNvSpPr/>
          <p:nvPr/>
        </p:nvSpPr>
        <p:spPr>
          <a:xfrm>
            <a:off x="410732" y="1647406"/>
            <a:ext cx="8319237" cy="1911650"/>
          </a:xfrm>
          <a:prstGeom prst="roundRect">
            <a:avLst>
              <a:gd name="adj" fmla="val 2148"/>
            </a:avLst>
          </a:prstGeom>
          <a:solidFill>
            <a:schemeClr val="bg1">
              <a:alpha val="90000"/>
            </a:schemeClr>
          </a:solidFill>
          <a:ln>
            <a:solidFill>
              <a:schemeClr val="accent1"/>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b="1" dirty="0">
                <a:solidFill>
                  <a:schemeClr val="tx1">
                    <a:lumMod val="95000"/>
                    <a:lumOff val="5000"/>
                  </a:schemeClr>
                </a:solidFill>
                <a:cs typeface="IRAN Sans" panose="020B0400000000000000" pitchFamily="34" charset="-78"/>
              </a:rPr>
              <a:t>محدوده کاربرد: </a:t>
            </a:r>
            <a:r>
              <a:rPr lang="fa-IR" sz="1600" dirty="0">
                <a:solidFill>
                  <a:schemeClr val="tx1">
                    <a:lumMod val="95000"/>
                    <a:lumOff val="5000"/>
                  </a:schemeClr>
                </a:solidFill>
                <a:cs typeface="IRAN Sans" panose="020B0400000000000000" pitchFamily="34" charset="-78"/>
              </a:rPr>
              <a:t>به کارگیري اين دستورالعمل در پيمان هاي مشروح زير و براي رسيدگي به مشخصات فني تمامي عمليات اجرا شده پروژه هاي ساخت و ساز كشور از جمله عمليات خاكي، تثبيت (با آهک، سيمان يا امولسيون قيری) زيراساس، اساس، پريمکت، تک كت، بالاست و عمليات آسفالتي (از جمله آسفالت گرم، حفاظتي، سرد، بازيافت سرد و گرم آسفالت) انواع رويه هاي بتني، عمليات بتني (سازه ای) و ساير عملياتي كه كارفرما مشخص ميكند و پس از تاريخ1399/04/01 اجرا ميشوند، الزامي است.</a:t>
            </a:r>
          </a:p>
        </p:txBody>
      </p:sp>
      <p:sp>
        <p:nvSpPr>
          <p:cNvPr id="16" name="Google Shape;309;p20">
            <a:hlinkClick r:id="" action="ppaction://noaction"/>
            <a:extLst>
              <a:ext uri="{FF2B5EF4-FFF2-40B4-BE49-F238E27FC236}">
                <a16:creationId xmlns:a16="http://schemas.microsoft.com/office/drawing/2014/main" id="{BF00FA8C-469F-157F-8794-33E446385715}"/>
              </a:ext>
            </a:extLst>
          </p:cNvPr>
          <p:cNvSpPr txBox="1"/>
          <p:nvPr/>
        </p:nvSpPr>
        <p:spPr>
          <a:xfrm>
            <a:off x="4695368"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8" name="Google Shape;317;p20">
            <a:hlinkClick r:id="rId3" action="ppaction://hlinksldjump"/>
            <a:extLst>
              <a:ext uri="{FF2B5EF4-FFF2-40B4-BE49-F238E27FC236}">
                <a16:creationId xmlns:a16="http://schemas.microsoft.com/office/drawing/2014/main" id="{5FD4D952-F0B8-5A10-6CE3-8CED7B9DBCDF}"/>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Tree>
    <p:extLst>
      <p:ext uri="{BB962C8B-B14F-4D97-AF65-F5344CB8AC3E}">
        <p14:creationId xmlns:p14="http://schemas.microsoft.com/office/powerpoint/2010/main" val="36678958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iterate type="lt">
                                    <p:tmPct val="0"/>
                                  </p:iterate>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42"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1000"/>
                                        <p:tgtEl>
                                          <p:spTgt spid="17"/>
                                        </p:tgtEl>
                                      </p:cBhvr>
                                    </p:animEffect>
                                    <p:anim calcmode="lin" valueType="num">
                                      <p:cBhvr>
                                        <p:cTn id="26" dur="1000" fill="hold"/>
                                        <p:tgtEl>
                                          <p:spTgt spid="17"/>
                                        </p:tgtEl>
                                        <p:attrNameLst>
                                          <p:attrName>ppt_x</p:attrName>
                                        </p:attrNameLst>
                                      </p:cBhvr>
                                      <p:tavLst>
                                        <p:tav tm="0">
                                          <p:val>
                                            <p:strVal val="#ppt_x"/>
                                          </p:val>
                                        </p:tav>
                                        <p:tav tm="100000">
                                          <p:val>
                                            <p:strVal val="#ppt_x"/>
                                          </p:val>
                                        </p:tav>
                                      </p:tavLst>
                                    </p:anim>
                                    <p:anim calcmode="lin" valueType="num">
                                      <p:cBhvr>
                                        <p:cTn id="27" dur="1000" fill="hold"/>
                                        <p:tgtEl>
                                          <p:spTgt spid="17"/>
                                        </p:tgtEl>
                                        <p:attrNameLst>
                                          <p:attrName>ppt_y</p:attrName>
                                        </p:attrNameLst>
                                      </p:cBhvr>
                                      <p:tavLst>
                                        <p:tav tm="0">
                                          <p:val>
                                            <p:strVal val="#ppt_y+.1"/>
                                          </p:val>
                                        </p:tav>
                                        <p:tav tm="100000">
                                          <p:val>
                                            <p:strVal val="#ppt_y"/>
                                          </p:val>
                                        </p:tav>
                                      </p:tavLst>
                                    </p:anim>
                                  </p:childTnLst>
                                </p:cTn>
                              </p:par>
                            </p:childTnLst>
                          </p:cTn>
                        </p:par>
                        <p:par>
                          <p:cTn id="28" fill="hold">
                            <p:stCondLst>
                              <p:cond delay="2550"/>
                            </p:stCondLst>
                            <p:childTnLst>
                              <p:par>
                                <p:cTn id="29" presetID="42" presetClass="entr" presetSubtype="0"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1000"/>
                                        <p:tgtEl>
                                          <p:spTgt spid="11"/>
                                        </p:tgtEl>
                                      </p:cBhvr>
                                    </p:animEffect>
                                    <p:anim calcmode="lin" valueType="num">
                                      <p:cBhvr>
                                        <p:cTn id="32" dur="1000" fill="hold"/>
                                        <p:tgtEl>
                                          <p:spTgt spid="11"/>
                                        </p:tgtEl>
                                        <p:attrNameLst>
                                          <p:attrName>ppt_x</p:attrName>
                                        </p:attrNameLst>
                                      </p:cBhvr>
                                      <p:tavLst>
                                        <p:tav tm="0">
                                          <p:val>
                                            <p:strVal val="#ppt_x"/>
                                          </p:val>
                                        </p:tav>
                                        <p:tav tm="100000">
                                          <p:val>
                                            <p:strVal val="#ppt_x"/>
                                          </p:val>
                                        </p:tav>
                                      </p:tavLst>
                                    </p:anim>
                                    <p:anim calcmode="lin" valueType="num">
                                      <p:cBhvr>
                                        <p:cTn id="3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17" grpId="0" animBg="1"/>
      <p:bldP spid="11"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911642" y="230661"/>
            <a:ext cx="1916694" cy="335509"/>
          </a:xfrm>
          <a:prstGeom prst="roundRect">
            <a:avLst>
              <a:gd name="adj" fmla="val 42269"/>
            </a:avLst>
          </a:prstGeom>
          <a:noFill/>
          <a:ln>
            <a:solidFill>
              <a:schemeClr val="accent5"/>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5"/>
                </a:solidFill>
                <a:cs typeface="IRAN Sans" panose="020B0400000000000000" pitchFamily="34" charset="-78"/>
              </a:rPr>
              <a:t>تعاریف و اختصارات</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5">
                  <a:lumMod val="60000"/>
                  <a:lumOff val="40000"/>
                </a:schemeClr>
              </a:gs>
              <a:gs pos="100000">
                <a:schemeClr val="accent5">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5"/>
                </a:solidFill>
                <a:cs typeface="IRAN Sans" panose="020B0400000000000000" pitchFamily="34" charset="-78"/>
              </a:rPr>
              <a:t>76</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5" name="Google Shape;299;p20">
            <a:extLst>
              <a:ext uri="{FF2B5EF4-FFF2-40B4-BE49-F238E27FC236}">
                <a16:creationId xmlns:a16="http://schemas.microsoft.com/office/drawing/2014/main" id="{6981E0D5-0F5E-4A2F-8293-D7E7C5EB28CA}"/>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7" name="Google Shape;307;p20">
            <a:extLst>
              <a:ext uri="{FF2B5EF4-FFF2-40B4-BE49-F238E27FC236}">
                <a16:creationId xmlns:a16="http://schemas.microsoft.com/office/drawing/2014/main" id="{D322EEEC-4139-4F94-ABDC-A2827D60ADB2}"/>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9" name="Google Shape;315;p20">
            <a:extLst>
              <a:ext uri="{FF2B5EF4-FFF2-40B4-BE49-F238E27FC236}">
                <a16:creationId xmlns:a16="http://schemas.microsoft.com/office/drawing/2014/main" id="{561DB41C-0502-491C-9A3F-770FD9E5018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7;p20">
            <a:hlinkClick r:id="" action="ppaction://noaction"/>
            <a:extLst>
              <a:ext uri="{FF2B5EF4-FFF2-40B4-BE49-F238E27FC236}">
                <a16:creationId xmlns:a16="http://schemas.microsoft.com/office/drawing/2014/main" id="{7B5E496F-D0F8-40BC-906B-E90A40E85FDD}"/>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endParaRP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1" name="Google Shape;322;p20">
            <a:extLst>
              <a:ext uri="{FF2B5EF4-FFF2-40B4-BE49-F238E27FC236}">
                <a16:creationId xmlns:a16="http://schemas.microsoft.com/office/drawing/2014/main" id="{0D2A1E47-F5B5-4D4B-8D7A-79470FD168BF}"/>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3" name="Google Shape;307;p20">
            <a:extLst>
              <a:ext uri="{FF2B5EF4-FFF2-40B4-BE49-F238E27FC236}">
                <a16:creationId xmlns:a16="http://schemas.microsoft.com/office/drawing/2014/main" id="{C0A3EFAE-2371-4740-822B-1799F0A4037D}"/>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7;p20">
            <a:extLst>
              <a:ext uri="{FF2B5EF4-FFF2-40B4-BE49-F238E27FC236}">
                <a16:creationId xmlns:a16="http://schemas.microsoft.com/office/drawing/2014/main" id="{415E74FD-5F11-404E-98CF-BEF1FBA2D846}"/>
              </a:ext>
            </a:extLst>
          </p:cNvPr>
          <p:cNvSpPr/>
          <p:nvPr/>
        </p:nvSpPr>
        <p:spPr>
          <a:xfrm rot="16200000">
            <a:off x="6625480" y="4137840"/>
            <a:ext cx="360083" cy="1490127"/>
          </a:xfrm>
          <a:prstGeom prst="round2SameRect">
            <a:avLst>
              <a:gd name="adj1" fmla="val 0"/>
              <a:gd name="adj2" fmla="val 0"/>
            </a:avLst>
          </a:prstGeom>
          <a:solidFill>
            <a:schemeClr val="accent5"/>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6" name="Google Shape;309;p20">
            <a:hlinkClick r:id="" action="ppaction://noaction"/>
            <a:extLst>
              <a:ext uri="{FF2B5EF4-FFF2-40B4-BE49-F238E27FC236}">
                <a16:creationId xmlns:a16="http://schemas.microsoft.com/office/drawing/2014/main" id="{AA9FCE62-EB47-4DB2-963B-1240673BEE37}"/>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07" name="Google Shape;326;p20">
            <a:extLst>
              <a:ext uri="{FF2B5EF4-FFF2-40B4-BE49-F238E27FC236}">
                <a16:creationId xmlns:a16="http://schemas.microsoft.com/office/drawing/2014/main" id="{2884D017-C2B9-496A-8E65-417F5C10AFC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03;p20">
            <a:extLst>
              <a:ext uri="{FF2B5EF4-FFF2-40B4-BE49-F238E27FC236}">
                <a16:creationId xmlns:a16="http://schemas.microsoft.com/office/drawing/2014/main" id="{83B9FFA2-3021-4497-A76E-42F4054855CF}"/>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9" name="Google Shape;311;p20">
            <a:extLst>
              <a:ext uri="{FF2B5EF4-FFF2-40B4-BE49-F238E27FC236}">
                <a16:creationId xmlns:a16="http://schemas.microsoft.com/office/drawing/2014/main" id="{458DD192-1FC4-4DF5-880D-E71B3A99F960}"/>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29;p20">
            <a:extLst>
              <a:ext uri="{FF2B5EF4-FFF2-40B4-BE49-F238E27FC236}">
                <a16:creationId xmlns:a16="http://schemas.microsoft.com/office/drawing/2014/main" id="{B9786CC2-AEEB-4AC9-B0F3-BBA101328A47}"/>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F749B832-8063-4592-9C62-63918866AE45}"/>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11;p20">
            <a:extLst>
              <a:ext uri="{FF2B5EF4-FFF2-40B4-BE49-F238E27FC236}">
                <a16:creationId xmlns:a16="http://schemas.microsoft.com/office/drawing/2014/main" id="{252E2594-4F88-4731-A3AE-8BBC77765810}"/>
              </a:ext>
            </a:extLst>
          </p:cNvPr>
          <p:cNvSpPr>
            <a:spLocks noChangeAspect="1"/>
          </p:cNvSpPr>
          <p:nvPr/>
        </p:nvSpPr>
        <p:spPr>
          <a:xfrm>
            <a:off x="6597998" y="4095827"/>
            <a:ext cx="415019" cy="415019"/>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3" name="Group 112">
            <a:extLst>
              <a:ext uri="{FF2B5EF4-FFF2-40B4-BE49-F238E27FC236}">
                <a16:creationId xmlns:a16="http://schemas.microsoft.com/office/drawing/2014/main" id="{D4B2420D-CAAD-413B-A1C1-A12287EDCDBD}"/>
              </a:ext>
            </a:extLst>
          </p:cNvPr>
          <p:cNvGrpSpPr/>
          <p:nvPr/>
        </p:nvGrpSpPr>
        <p:grpSpPr>
          <a:xfrm>
            <a:off x="2090313" y="4055040"/>
            <a:ext cx="496596" cy="647522"/>
            <a:chOff x="2090313" y="4055040"/>
            <a:chExt cx="496596" cy="647522"/>
          </a:xfrm>
        </p:grpSpPr>
        <p:cxnSp>
          <p:nvCxnSpPr>
            <p:cNvPr id="114" name="Google Shape;327;p20">
              <a:extLst>
                <a:ext uri="{FF2B5EF4-FFF2-40B4-BE49-F238E27FC236}">
                  <a16:creationId xmlns:a16="http://schemas.microsoft.com/office/drawing/2014/main" id="{DB2EB84C-2B86-4F8B-9F64-61AA7AFEFDD0}"/>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5" name="Google Shape;325;p20">
              <a:extLst>
                <a:ext uri="{FF2B5EF4-FFF2-40B4-BE49-F238E27FC236}">
                  <a16:creationId xmlns:a16="http://schemas.microsoft.com/office/drawing/2014/main" id="{1FFED630-4666-44B1-AC1C-D29E4A287216}"/>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6" name="Group 115">
              <a:extLst>
                <a:ext uri="{FF2B5EF4-FFF2-40B4-BE49-F238E27FC236}">
                  <a16:creationId xmlns:a16="http://schemas.microsoft.com/office/drawing/2014/main" id="{4614E520-C804-47CC-862E-7394E85EC59A}"/>
                </a:ext>
              </a:extLst>
            </p:cNvPr>
            <p:cNvGrpSpPr/>
            <p:nvPr/>
          </p:nvGrpSpPr>
          <p:grpSpPr>
            <a:xfrm>
              <a:off x="2221611" y="4179917"/>
              <a:ext cx="234000" cy="234000"/>
              <a:chOff x="2247014" y="4211643"/>
              <a:chExt cx="183194" cy="183390"/>
            </a:xfrm>
          </p:grpSpPr>
          <p:sp>
            <p:nvSpPr>
              <p:cNvPr id="117" name="Google Shape;331;p20">
                <a:extLst>
                  <a:ext uri="{FF2B5EF4-FFF2-40B4-BE49-F238E27FC236}">
                    <a16:creationId xmlns:a16="http://schemas.microsoft.com/office/drawing/2014/main" id="{66B1CDBB-D160-4635-918D-D94F76B59FC2}"/>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8" name="Google Shape;332;p20">
                <a:extLst>
                  <a:ext uri="{FF2B5EF4-FFF2-40B4-BE49-F238E27FC236}">
                    <a16:creationId xmlns:a16="http://schemas.microsoft.com/office/drawing/2014/main" id="{7F77DE67-E21B-4523-A953-7917504C1C52}"/>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9" name="Google Shape;333;p20">
                <a:extLst>
                  <a:ext uri="{FF2B5EF4-FFF2-40B4-BE49-F238E27FC236}">
                    <a16:creationId xmlns:a16="http://schemas.microsoft.com/office/drawing/2014/main" id="{CAD3FB4F-E5B3-49C4-9094-752D32DD2D21}"/>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0" name="Google Shape;334;p20">
                <a:extLst>
                  <a:ext uri="{FF2B5EF4-FFF2-40B4-BE49-F238E27FC236}">
                    <a16:creationId xmlns:a16="http://schemas.microsoft.com/office/drawing/2014/main" id="{AA1D2B43-E552-439C-B654-AC6114900896}"/>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1" name="Google Shape;335;p20">
                <a:extLst>
                  <a:ext uri="{FF2B5EF4-FFF2-40B4-BE49-F238E27FC236}">
                    <a16:creationId xmlns:a16="http://schemas.microsoft.com/office/drawing/2014/main" id="{5F249045-E581-47A2-8092-2A4E0718CB34}"/>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6;p20">
                <a:extLst>
                  <a:ext uri="{FF2B5EF4-FFF2-40B4-BE49-F238E27FC236}">
                    <a16:creationId xmlns:a16="http://schemas.microsoft.com/office/drawing/2014/main" id="{9159130D-54E9-4779-948C-B39F03E64F8D}"/>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7;p20">
                <a:extLst>
                  <a:ext uri="{FF2B5EF4-FFF2-40B4-BE49-F238E27FC236}">
                    <a16:creationId xmlns:a16="http://schemas.microsoft.com/office/drawing/2014/main" id="{D6FC36FA-83D5-4936-B591-E9C9F1DBCFC0}"/>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8;p20">
                <a:extLst>
                  <a:ext uri="{FF2B5EF4-FFF2-40B4-BE49-F238E27FC236}">
                    <a16:creationId xmlns:a16="http://schemas.microsoft.com/office/drawing/2014/main" id="{361EAFE3-1D7F-47BF-A2A5-B00C6056703F}"/>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9;p20">
                <a:extLst>
                  <a:ext uri="{FF2B5EF4-FFF2-40B4-BE49-F238E27FC236}">
                    <a16:creationId xmlns:a16="http://schemas.microsoft.com/office/drawing/2014/main" id="{78594221-C191-49A6-909D-82DF0F2B1F49}"/>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40;p20">
                <a:extLst>
                  <a:ext uri="{FF2B5EF4-FFF2-40B4-BE49-F238E27FC236}">
                    <a16:creationId xmlns:a16="http://schemas.microsoft.com/office/drawing/2014/main" id="{C27D9475-B297-478C-9FCE-AF5F781AF130}"/>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41;p20">
                <a:extLst>
                  <a:ext uri="{FF2B5EF4-FFF2-40B4-BE49-F238E27FC236}">
                    <a16:creationId xmlns:a16="http://schemas.microsoft.com/office/drawing/2014/main" id="{7098C457-EFE5-4411-B127-6BB090882BCD}"/>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42;p20">
                <a:extLst>
                  <a:ext uri="{FF2B5EF4-FFF2-40B4-BE49-F238E27FC236}">
                    <a16:creationId xmlns:a16="http://schemas.microsoft.com/office/drawing/2014/main" id="{63FAC5D7-E668-43B6-B64B-EF2954033EEE}"/>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43;p20">
                <a:extLst>
                  <a:ext uri="{FF2B5EF4-FFF2-40B4-BE49-F238E27FC236}">
                    <a16:creationId xmlns:a16="http://schemas.microsoft.com/office/drawing/2014/main" id="{3C4F2CD1-CB54-4B99-95D5-1041DFC79285}"/>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0" name="Group 129">
            <a:extLst>
              <a:ext uri="{FF2B5EF4-FFF2-40B4-BE49-F238E27FC236}">
                <a16:creationId xmlns:a16="http://schemas.microsoft.com/office/drawing/2014/main" id="{D59E13E4-C983-4E1F-AAF9-6435C186F5E0}"/>
              </a:ext>
            </a:extLst>
          </p:cNvPr>
          <p:cNvGrpSpPr/>
          <p:nvPr/>
        </p:nvGrpSpPr>
        <p:grpSpPr>
          <a:xfrm>
            <a:off x="600089" y="4055040"/>
            <a:ext cx="496596" cy="647483"/>
            <a:chOff x="600089" y="4055040"/>
            <a:chExt cx="496596" cy="647483"/>
          </a:xfrm>
        </p:grpSpPr>
        <p:cxnSp>
          <p:nvCxnSpPr>
            <p:cNvPr id="131" name="Google Shape;304;p20">
              <a:extLst>
                <a:ext uri="{FF2B5EF4-FFF2-40B4-BE49-F238E27FC236}">
                  <a16:creationId xmlns:a16="http://schemas.microsoft.com/office/drawing/2014/main" id="{33D30017-2732-431F-8B00-762EC5C589C5}"/>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2" name="Google Shape;302;p20">
              <a:extLst>
                <a:ext uri="{FF2B5EF4-FFF2-40B4-BE49-F238E27FC236}">
                  <a16:creationId xmlns:a16="http://schemas.microsoft.com/office/drawing/2014/main" id="{F77D3350-4305-428E-A9A4-11C73FCF10BD}"/>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3" name="Group 132">
              <a:extLst>
                <a:ext uri="{FF2B5EF4-FFF2-40B4-BE49-F238E27FC236}">
                  <a16:creationId xmlns:a16="http://schemas.microsoft.com/office/drawing/2014/main" id="{8C09E66E-62D7-422D-B015-E4CA780486AC}"/>
                </a:ext>
              </a:extLst>
            </p:cNvPr>
            <p:cNvGrpSpPr/>
            <p:nvPr/>
          </p:nvGrpSpPr>
          <p:grpSpPr>
            <a:xfrm>
              <a:off x="718825" y="4179544"/>
              <a:ext cx="252000" cy="234000"/>
              <a:chOff x="760166" y="4216727"/>
              <a:chExt cx="176529" cy="173221"/>
            </a:xfrm>
          </p:grpSpPr>
          <p:sp>
            <p:nvSpPr>
              <p:cNvPr id="134" name="Google Shape;345;p20">
                <a:extLst>
                  <a:ext uri="{FF2B5EF4-FFF2-40B4-BE49-F238E27FC236}">
                    <a16:creationId xmlns:a16="http://schemas.microsoft.com/office/drawing/2014/main" id="{81ECAEA1-6B80-4CF5-8FB5-B5BA6B77B817}"/>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5" name="Google Shape;346;p20">
                <a:extLst>
                  <a:ext uri="{FF2B5EF4-FFF2-40B4-BE49-F238E27FC236}">
                    <a16:creationId xmlns:a16="http://schemas.microsoft.com/office/drawing/2014/main" id="{38816A3F-8D53-431A-871E-6207F234688A}"/>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6" name="Google Shape;347;p20">
                <a:extLst>
                  <a:ext uri="{FF2B5EF4-FFF2-40B4-BE49-F238E27FC236}">
                    <a16:creationId xmlns:a16="http://schemas.microsoft.com/office/drawing/2014/main" id="{F4517613-3BF4-4249-9B65-B7DD9A9F0F2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7" name="Group 136">
            <a:extLst>
              <a:ext uri="{FF2B5EF4-FFF2-40B4-BE49-F238E27FC236}">
                <a16:creationId xmlns:a16="http://schemas.microsoft.com/office/drawing/2014/main" id="{F3D4AA67-221A-4518-9BCA-34960CA9D4D4}"/>
              </a:ext>
            </a:extLst>
          </p:cNvPr>
          <p:cNvGrpSpPr/>
          <p:nvPr/>
        </p:nvGrpSpPr>
        <p:grpSpPr>
          <a:xfrm>
            <a:off x="3580536" y="4055040"/>
            <a:ext cx="496596" cy="647522"/>
            <a:chOff x="3580536" y="4055040"/>
            <a:chExt cx="496596" cy="647522"/>
          </a:xfrm>
        </p:grpSpPr>
        <p:cxnSp>
          <p:nvCxnSpPr>
            <p:cNvPr id="138" name="Google Shape;312;p20">
              <a:extLst>
                <a:ext uri="{FF2B5EF4-FFF2-40B4-BE49-F238E27FC236}">
                  <a16:creationId xmlns:a16="http://schemas.microsoft.com/office/drawing/2014/main" id="{02ECB577-DDF7-48AC-8E8D-D521F928FDBE}"/>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39" name="Google Shape;310;p20">
              <a:extLst>
                <a:ext uri="{FF2B5EF4-FFF2-40B4-BE49-F238E27FC236}">
                  <a16:creationId xmlns:a16="http://schemas.microsoft.com/office/drawing/2014/main" id="{6E5388EC-8278-4DF4-81F0-AEE459142E6F}"/>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8;p20">
              <a:extLst>
                <a:ext uri="{FF2B5EF4-FFF2-40B4-BE49-F238E27FC236}">
                  <a16:creationId xmlns:a16="http://schemas.microsoft.com/office/drawing/2014/main" id="{D4F2C443-54A5-42FF-964D-7244C6184ED2}"/>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1" name="Group 140">
            <a:extLst>
              <a:ext uri="{FF2B5EF4-FFF2-40B4-BE49-F238E27FC236}">
                <a16:creationId xmlns:a16="http://schemas.microsoft.com/office/drawing/2014/main" id="{B605284B-BD7B-4154-B6A1-D09AB4FCAB6B}"/>
              </a:ext>
            </a:extLst>
          </p:cNvPr>
          <p:cNvGrpSpPr/>
          <p:nvPr/>
        </p:nvGrpSpPr>
        <p:grpSpPr>
          <a:xfrm>
            <a:off x="5067104" y="4055039"/>
            <a:ext cx="496596" cy="647522"/>
            <a:chOff x="5067104" y="4055039"/>
            <a:chExt cx="496596" cy="647522"/>
          </a:xfrm>
        </p:grpSpPr>
        <p:cxnSp>
          <p:nvCxnSpPr>
            <p:cNvPr id="142" name="Google Shape;312;p20">
              <a:extLst>
                <a:ext uri="{FF2B5EF4-FFF2-40B4-BE49-F238E27FC236}">
                  <a16:creationId xmlns:a16="http://schemas.microsoft.com/office/drawing/2014/main" id="{9DD320E3-186F-4D45-8BEA-C96599F21549}"/>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5" name="Google Shape;310;p20">
              <a:extLst>
                <a:ext uri="{FF2B5EF4-FFF2-40B4-BE49-F238E27FC236}">
                  <a16:creationId xmlns:a16="http://schemas.microsoft.com/office/drawing/2014/main" id="{5D56E633-3A48-4470-A021-F0AFBE7EBBC4}"/>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6" name="Google Shape;364;p21">
              <a:extLst>
                <a:ext uri="{FF2B5EF4-FFF2-40B4-BE49-F238E27FC236}">
                  <a16:creationId xmlns:a16="http://schemas.microsoft.com/office/drawing/2014/main" id="{B18ABDD2-9A66-4AEB-9785-B1C17EC838C7}"/>
                </a:ext>
              </a:extLst>
            </p:cNvPr>
            <p:cNvGrpSpPr/>
            <p:nvPr/>
          </p:nvGrpSpPr>
          <p:grpSpPr>
            <a:xfrm>
              <a:off x="5191745" y="4172810"/>
              <a:ext cx="247311" cy="230069"/>
              <a:chOff x="6577238" y="2457221"/>
              <a:chExt cx="332019" cy="310788"/>
            </a:xfrm>
            <a:solidFill>
              <a:schemeClr val="bg1"/>
            </a:solidFill>
          </p:grpSpPr>
          <p:sp>
            <p:nvSpPr>
              <p:cNvPr id="147" name="Google Shape;365;p21">
                <a:extLst>
                  <a:ext uri="{FF2B5EF4-FFF2-40B4-BE49-F238E27FC236}">
                    <a16:creationId xmlns:a16="http://schemas.microsoft.com/office/drawing/2014/main" id="{A0ADB697-F2C7-41F3-AABA-F37764AD94A6}"/>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66;p21">
                <a:extLst>
                  <a:ext uri="{FF2B5EF4-FFF2-40B4-BE49-F238E27FC236}">
                    <a16:creationId xmlns:a16="http://schemas.microsoft.com/office/drawing/2014/main" id="{0739B1C7-571A-46B7-A8E9-75B44EB61622}"/>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67;p21">
                <a:extLst>
                  <a:ext uri="{FF2B5EF4-FFF2-40B4-BE49-F238E27FC236}">
                    <a16:creationId xmlns:a16="http://schemas.microsoft.com/office/drawing/2014/main" id="{6305D7EA-078D-4E3F-86E9-0EA09E85880E}"/>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8;p21">
                <a:extLst>
                  <a:ext uri="{FF2B5EF4-FFF2-40B4-BE49-F238E27FC236}">
                    <a16:creationId xmlns:a16="http://schemas.microsoft.com/office/drawing/2014/main" id="{5D2D82DA-DC85-481B-9713-F4B93273B060}"/>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9;p21">
                <a:extLst>
                  <a:ext uri="{FF2B5EF4-FFF2-40B4-BE49-F238E27FC236}">
                    <a16:creationId xmlns:a16="http://schemas.microsoft.com/office/drawing/2014/main" id="{26715494-C075-4B70-9008-C03368AAE47C}"/>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70;p21">
                <a:extLst>
                  <a:ext uri="{FF2B5EF4-FFF2-40B4-BE49-F238E27FC236}">
                    <a16:creationId xmlns:a16="http://schemas.microsoft.com/office/drawing/2014/main" id="{0855B56E-ACAC-40F4-AF87-A9D50CC52D64}"/>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roup 201">
            <a:extLst>
              <a:ext uri="{FF2B5EF4-FFF2-40B4-BE49-F238E27FC236}">
                <a16:creationId xmlns:a16="http://schemas.microsoft.com/office/drawing/2014/main" id="{C81FEF32-F7CD-46EA-A046-D89BF9EDC306}"/>
              </a:ext>
            </a:extLst>
          </p:cNvPr>
          <p:cNvGrpSpPr/>
          <p:nvPr/>
        </p:nvGrpSpPr>
        <p:grpSpPr>
          <a:xfrm>
            <a:off x="6557210" y="4055039"/>
            <a:ext cx="496596" cy="647522"/>
            <a:chOff x="6557210" y="4055039"/>
            <a:chExt cx="496596" cy="647522"/>
          </a:xfrm>
        </p:grpSpPr>
        <p:cxnSp>
          <p:nvCxnSpPr>
            <p:cNvPr id="203" name="Google Shape;312;p20">
              <a:extLst>
                <a:ext uri="{FF2B5EF4-FFF2-40B4-BE49-F238E27FC236}">
                  <a16:creationId xmlns:a16="http://schemas.microsoft.com/office/drawing/2014/main" id="{463D6BFE-2313-401A-9D38-24304E03022C}"/>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4" name="Google Shape;310;p20">
              <a:extLst>
                <a:ext uri="{FF2B5EF4-FFF2-40B4-BE49-F238E27FC236}">
                  <a16:creationId xmlns:a16="http://schemas.microsoft.com/office/drawing/2014/main" id="{CDC3CE26-31FD-4E97-B7A2-90D0B2E52A9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5" name="Google Shape;492;p23">
              <a:extLst>
                <a:ext uri="{FF2B5EF4-FFF2-40B4-BE49-F238E27FC236}">
                  <a16:creationId xmlns:a16="http://schemas.microsoft.com/office/drawing/2014/main" id="{DF22C8BF-9FD1-4F07-BEF4-247E3C094F9F}"/>
                </a:ext>
              </a:extLst>
            </p:cNvPr>
            <p:cNvGrpSpPr/>
            <p:nvPr/>
          </p:nvGrpSpPr>
          <p:grpSpPr>
            <a:xfrm>
              <a:off x="6681779" y="4170275"/>
              <a:ext cx="252000" cy="252000"/>
              <a:chOff x="2280029" y="1970604"/>
              <a:chExt cx="353631" cy="354395"/>
            </a:xfrm>
          </p:grpSpPr>
          <p:sp>
            <p:nvSpPr>
              <p:cNvPr id="206" name="Google Shape;493;p23">
                <a:extLst>
                  <a:ext uri="{FF2B5EF4-FFF2-40B4-BE49-F238E27FC236}">
                    <a16:creationId xmlns:a16="http://schemas.microsoft.com/office/drawing/2014/main" id="{3A41D4E4-AC1C-4A37-998E-4E967E8DC518}"/>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94;p23">
                <a:extLst>
                  <a:ext uri="{FF2B5EF4-FFF2-40B4-BE49-F238E27FC236}">
                    <a16:creationId xmlns:a16="http://schemas.microsoft.com/office/drawing/2014/main" id="{3F26E88D-F649-434D-AA88-06A723190A61}"/>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95;p23">
                <a:extLst>
                  <a:ext uri="{FF2B5EF4-FFF2-40B4-BE49-F238E27FC236}">
                    <a16:creationId xmlns:a16="http://schemas.microsoft.com/office/drawing/2014/main" id="{54AA1207-D497-4804-A4B7-77F62BE917A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6;p23">
                <a:extLst>
                  <a:ext uri="{FF2B5EF4-FFF2-40B4-BE49-F238E27FC236}">
                    <a16:creationId xmlns:a16="http://schemas.microsoft.com/office/drawing/2014/main" id="{051FF43D-3F33-4541-AD15-6268332A7FA1}"/>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 name="Group 209">
            <a:extLst>
              <a:ext uri="{FF2B5EF4-FFF2-40B4-BE49-F238E27FC236}">
                <a16:creationId xmlns:a16="http://schemas.microsoft.com/office/drawing/2014/main" id="{C1773638-4D46-4572-8DAA-CD51C54CA527}"/>
              </a:ext>
            </a:extLst>
          </p:cNvPr>
          <p:cNvGrpSpPr/>
          <p:nvPr/>
        </p:nvGrpSpPr>
        <p:grpSpPr>
          <a:xfrm>
            <a:off x="8047295" y="4055039"/>
            <a:ext cx="496596" cy="647522"/>
            <a:chOff x="8047295" y="4055039"/>
            <a:chExt cx="496596" cy="647522"/>
          </a:xfrm>
        </p:grpSpPr>
        <p:cxnSp>
          <p:nvCxnSpPr>
            <p:cNvPr id="211" name="Google Shape;319;p20">
              <a:extLst>
                <a:ext uri="{FF2B5EF4-FFF2-40B4-BE49-F238E27FC236}">
                  <a16:creationId xmlns:a16="http://schemas.microsoft.com/office/drawing/2014/main" id="{CB56DD7A-4E78-4D4D-BF02-738E175BF915}"/>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2" name="Google Shape;318;p20">
              <a:extLst>
                <a:ext uri="{FF2B5EF4-FFF2-40B4-BE49-F238E27FC236}">
                  <a16:creationId xmlns:a16="http://schemas.microsoft.com/office/drawing/2014/main" id="{AF725DD3-46D5-488F-9E63-19AE983F18D9}"/>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3" name="Google Shape;764;p28">
              <a:extLst>
                <a:ext uri="{FF2B5EF4-FFF2-40B4-BE49-F238E27FC236}">
                  <a16:creationId xmlns:a16="http://schemas.microsoft.com/office/drawing/2014/main" id="{3E558752-D701-4471-9EF3-752AAB851036}"/>
                </a:ext>
              </a:extLst>
            </p:cNvPr>
            <p:cNvGrpSpPr/>
            <p:nvPr/>
          </p:nvGrpSpPr>
          <p:grpSpPr>
            <a:xfrm>
              <a:off x="8205593" y="4170275"/>
              <a:ext cx="180000" cy="252000"/>
              <a:chOff x="1333682" y="3344330"/>
              <a:chExt cx="271213" cy="383088"/>
            </a:xfrm>
            <a:solidFill>
              <a:schemeClr val="bg1"/>
            </a:solidFill>
          </p:grpSpPr>
          <p:sp>
            <p:nvSpPr>
              <p:cNvPr id="214" name="Google Shape;765;p28">
                <a:extLst>
                  <a:ext uri="{FF2B5EF4-FFF2-40B4-BE49-F238E27FC236}">
                    <a16:creationId xmlns:a16="http://schemas.microsoft.com/office/drawing/2014/main" id="{D1242D78-0514-46F8-B1C6-4157E7C09916}"/>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66;p28">
                <a:extLst>
                  <a:ext uri="{FF2B5EF4-FFF2-40B4-BE49-F238E27FC236}">
                    <a16:creationId xmlns:a16="http://schemas.microsoft.com/office/drawing/2014/main" id="{B5C534CA-7312-4FC8-9552-1ACFF6ED6434}"/>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67;p28">
                <a:extLst>
                  <a:ext uri="{FF2B5EF4-FFF2-40B4-BE49-F238E27FC236}">
                    <a16:creationId xmlns:a16="http://schemas.microsoft.com/office/drawing/2014/main" id="{AD9C0CD0-5886-4E4B-AE97-32B9DA3E3A49}"/>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8;p28">
                <a:extLst>
                  <a:ext uri="{FF2B5EF4-FFF2-40B4-BE49-F238E27FC236}">
                    <a16:creationId xmlns:a16="http://schemas.microsoft.com/office/drawing/2014/main" id="{942DFBB5-0019-453B-9335-0055F21B5BD3}"/>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9;p28">
                <a:extLst>
                  <a:ext uri="{FF2B5EF4-FFF2-40B4-BE49-F238E27FC236}">
                    <a16:creationId xmlns:a16="http://schemas.microsoft.com/office/drawing/2014/main" id="{B934CE28-0ED5-4BF9-98D7-2AA44CED37D5}"/>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70;p28">
                <a:extLst>
                  <a:ext uri="{FF2B5EF4-FFF2-40B4-BE49-F238E27FC236}">
                    <a16:creationId xmlns:a16="http://schemas.microsoft.com/office/drawing/2014/main" id="{7C492B75-795A-4E45-8661-348A324D9588}"/>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71;p28">
                <a:extLst>
                  <a:ext uri="{FF2B5EF4-FFF2-40B4-BE49-F238E27FC236}">
                    <a16:creationId xmlns:a16="http://schemas.microsoft.com/office/drawing/2014/main" id="{1ABCCEB2-5916-47B7-BAA1-393F6F689E63}"/>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2;p28">
                <a:extLst>
                  <a:ext uri="{FF2B5EF4-FFF2-40B4-BE49-F238E27FC236}">
                    <a16:creationId xmlns:a16="http://schemas.microsoft.com/office/drawing/2014/main" id="{CD3F5DCE-F147-4060-AF00-6FB960F5D8EF}"/>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3;p28">
                <a:extLst>
                  <a:ext uri="{FF2B5EF4-FFF2-40B4-BE49-F238E27FC236}">
                    <a16:creationId xmlns:a16="http://schemas.microsoft.com/office/drawing/2014/main" id="{C052924F-D810-461B-A4BE-5CDC5258898C}"/>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4;p28">
                <a:extLst>
                  <a:ext uri="{FF2B5EF4-FFF2-40B4-BE49-F238E27FC236}">
                    <a16:creationId xmlns:a16="http://schemas.microsoft.com/office/drawing/2014/main" id="{48D3F7EF-B19D-4461-9F5A-0A6CCC46C3B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5;p28">
                <a:extLst>
                  <a:ext uri="{FF2B5EF4-FFF2-40B4-BE49-F238E27FC236}">
                    <a16:creationId xmlns:a16="http://schemas.microsoft.com/office/drawing/2014/main" id="{9407DF5E-EA00-405F-B36A-6B1938F1DC01}"/>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6" name="Google Shape;930;p32">
            <a:extLst>
              <a:ext uri="{FF2B5EF4-FFF2-40B4-BE49-F238E27FC236}">
                <a16:creationId xmlns:a16="http://schemas.microsoft.com/office/drawing/2014/main" id="{0F9AB217-E9C2-46AF-91D5-D8E0F5E8441A}"/>
              </a:ext>
            </a:extLst>
          </p:cNvPr>
          <p:cNvSpPr/>
          <p:nvPr/>
        </p:nvSpPr>
        <p:spPr>
          <a:xfrm>
            <a:off x="676679" y="857041"/>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endParaRPr lang="en-US"/>
          </a:p>
        </p:txBody>
      </p:sp>
      <p:grpSp>
        <p:nvGrpSpPr>
          <p:cNvPr id="87" name="Group 86">
            <a:extLst>
              <a:ext uri="{FF2B5EF4-FFF2-40B4-BE49-F238E27FC236}">
                <a16:creationId xmlns:a16="http://schemas.microsoft.com/office/drawing/2014/main" id="{25BF45E6-0066-46AE-9B6A-771EACDE839D}"/>
              </a:ext>
            </a:extLst>
          </p:cNvPr>
          <p:cNvGrpSpPr/>
          <p:nvPr/>
        </p:nvGrpSpPr>
        <p:grpSpPr>
          <a:xfrm>
            <a:off x="806004" y="634514"/>
            <a:ext cx="5613117" cy="445054"/>
            <a:chOff x="591620" y="565822"/>
            <a:chExt cx="5613117" cy="445054"/>
          </a:xfrm>
        </p:grpSpPr>
        <p:sp>
          <p:nvSpPr>
            <p:cNvPr id="192" name="Google Shape;931;p32">
              <a:extLst>
                <a:ext uri="{FF2B5EF4-FFF2-40B4-BE49-F238E27FC236}">
                  <a16:creationId xmlns:a16="http://schemas.microsoft.com/office/drawing/2014/main" id="{1E49AAC4-C3D9-4382-877C-DF86DCAB14A6}"/>
                </a:ext>
              </a:extLst>
            </p:cNvPr>
            <p:cNvSpPr/>
            <p:nvPr/>
          </p:nvSpPr>
          <p:spPr>
            <a:xfrm>
              <a:off x="591620" y="565822"/>
              <a:ext cx="1323243" cy="445054"/>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مهندس مشاور</a:t>
              </a:r>
              <a:endParaRPr dirty="0">
                <a:solidFill>
                  <a:srgbClr val="000000"/>
                </a:solidFill>
              </a:endParaRPr>
            </a:p>
          </p:txBody>
        </p:sp>
        <p:sp>
          <p:nvSpPr>
            <p:cNvPr id="193" name="Google Shape;932;p32">
              <a:extLst>
                <a:ext uri="{FF2B5EF4-FFF2-40B4-BE49-F238E27FC236}">
                  <a16:creationId xmlns:a16="http://schemas.microsoft.com/office/drawing/2014/main" id="{5506DC43-9905-43B8-9443-D46EFA2E5ABE}"/>
                </a:ext>
              </a:extLst>
            </p:cNvPr>
            <p:cNvSpPr/>
            <p:nvPr/>
          </p:nvSpPr>
          <p:spPr>
            <a:xfrm>
              <a:off x="2411460" y="565822"/>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مهندس مشاور صاحب صلاحيتي كه از طرف كارفرما براي نظارت بر عمليات اجرايي انتخاب شده است.</a:t>
              </a:r>
              <a:endParaRPr sz="1200" dirty="0">
                <a:latin typeface="Roboto"/>
                <a:ea typeface="Roboto"/>
                <a:cs typeface="IRAN Sans" panose="020B0400000000000000" pitchFamily="34" charset="-78"/>
                <a:sym typeface="Roboto"/>
              </a:endParaRPr>
            </a:p>
          </p:txBody>
        </p:sp>
        <p:cxnSp>
          <p:nvCxnSpPr>
            <p:cNvPr id="194" name="Google Shape;933;p32">
              <a:extLst>
                <a:ext uri="{FF2B5EF4-FFF2-40B4-BE49-F238E27FC236}">
                  <a16:creationId xmlns:a16="http://schemas.microsoft.com/office/drawing/2014/main" id="{7642F792-04C2-4C4A-AA4C-D413A36C9ECD}"/>
                </a:ext>
              </a:extLst>
            </p:cNvPr>
            <p:cNvCxnSpPr>
              <a:cxnSpLocks/>
            </p:cNvCxnSpPr>
            <p:nvPr/>
          </p:nvCxnSpPr>
          <p:spPr>
            <a:xfrm>
              <a:off x="1907382" y="78834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88" name="Google Shape;935;p32">
            <a:extLst>
              <a:ext uri="{FF2B5EF4-FFF2-40B4-BE49-F238E27FC236}">
                <a16:creationId xmlns:a16="http://schemas.microsoft.com/office/drawing/2014/main" id="{6C2F9E0D-D943-4F14-8970-988957EECDAF}"/>
              </a:ext>
            </a:extLst>
          </p:cNvPr>
          <p:cNvSpPr/>
          <p:nvPr/>
        </p:nvSpPr>
        <p:spPr>
          <a:xfrm>
            <a:off x="1064655" y="1483838"/>
            <a:ext cx="435857"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2"/>
            </a:solidFill>
            <a:prstDash val="solid"/>
            <a:round/>
            <a:headEnd type="none" w="med" len="med"/>
            <a:tailEnd type="oval" w="med" len="med"/>
          </a:ln>
        </p:spPr>
        <p:txBody>
          <a:bodyPr/>
          <a:lstStyle/>
          <a:p>
            <a:endParaRPr lang="en-US"/>
          </a:p>
        </p:txBody>
      </p:sp>
      <p:grpSp>
        <p:nvGrpSpPr>
          <p:cNvPr id="89" name="Group 88">
            <a:extLst>
              <a:ext uri="{FF2B5EF4-FFF2-40B4-BE49-F238E27FC236}">
                <a16:creationId xmlns:a16="http://schemas.microsoft.com/office/drawing/2014/main" id="{F85F823E-C31C-494F-B2AA-A24A2C4736EB}"/>
              </a:ext>
            </a:extLst>
          </p:cNvPr>
          <p:cNvGrpSpPr/>
          <p:nvPr/>
        </p:nvGrpSpPr>
        <p:grpSpPr>
          <a:xfrm>
            <a:off x="1213049" y="1261311"/>
            <a:ext cx="5613117" cy="445077"/>
            <a:chOff x="998665" y="1192619"/>
            <a:chExt cx="5613117" cy="445077"/>
          </a:xfrm>
        </p:grpSpPr>
        <p:sp>
          <p:nvSpPr>
            <p:cNvPr id="157" name="Google Shape;936;p32">
              <a:extLst>
                <a:ext uri="{FF2B5EF4-FFF2-40B4-BE49-F238E27FC236}">
                  <a16:creationId xmlns:a16="http://schemas.microsoft.com/office/drawing/2014/main" id="{4D266D6F-FE78-4059-8C5B-EA2452070BD3}"/>
                </a:ext>
              </a:extLst>
            </p:cNvPr>
            <p:cNvSpPr/>
            <p:nvPr/>
          </p:nvSpPr>
          <p:spPr>
            <a:xfrm>
              <a:off x="2818504" y="1192642"/>
              <a:ext cx="3793278"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مشاور صاحب صلاحيت خدمات جنبي كه از طرف كارفرما براي انجام آزمايش هاي ارزيابي كيفيت در دوره اجرا،انتخاب شده است.</a:t>
              </a:r>
            </a:p>
          </p:txBody>
        </p:sp>
        <p:sp>
          <p:nvSpPr>
            <p:cNvPr id="158" name="Google Shape;937;p32">
              <a:extLst>
                <a:ext uri="{FF2B5EF4-FFF2-40B4-BE49-F238E27FC236}">
                  <a16:creationId xmlns:a16="http://schemas.microsoft.com/office/drawing/2014/main" id="{B237F1F7-60E2-4477-A060-55476AD9B842}"/>
                </a:ext>
              </a:extLst>
            </p:cNvPr>
            <p:cNvSpPr/>
            <p:nvPr/>
          </p:nvSpPr>
          <p:spPr>
            <a:xfrm>
              <a:off x="998665" y="1192619"/>
              <a:ext cx="1323243" cy="445054"/>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آزمايشگاه</a:t>
              </a:r>
              <a:endParaRPr dirty="0">
                <a:solidFill>
                  <a:srgbClr val="000000"/>
                </a:solidFill>
              </a:endParaRPr>
            </a:p>
          </p:txBody>
        </p:sp>
        <p:cxnSp>
          <p:nvCxnSpPr>
            <p:cNvPr id="159" name="Google Shape;938;p32">
              <a:extLst>
                <a:ext uri="{FF2B5EF4-FFF2-40B4-BE49-F238E27FC236}">
                  <a16:creationId xmlns:a16="http://schemas.microsoft.com/office/drawing/2014/main" id="{D39D7DB9-7FAC-45B2-AEBD-A3385F882229}"/>
                </a:ext>
              </a:extLst>
            </p:cNvPr>
            <p:cNvCxnSpPr>
              <a:cxnSpLocks/>
            </p:cNvCxnSpPr>
            <p:nvPr/>
          </p:nvCxnSpPr>
          <p:spPr>
            <a:xfrm>
              <a:off x="2301461" y="1418630"/>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90" name="Google Shape;940;p32">
            <a:extLst>
              <a:ext uri="{FF2B5EF4-FFF2-40B4-BE49-F238E27FC236}">
                <a16:creationId xmlns:a16="http://schemas.microsoft.com/office/drawing/2014/main" id="{99F7E3F9-BD32-47FF-B82B-8BB13960A115}"/>
              </a:ext>
            </a:extLst>
          </p:cNvPr>
          <p:cNvSpPr/>
          <p:nvPr/>
        </p:nvSpPr>
        <p:spPr>
          <a:xfrm>
            <a:off x="1471757" y="2110634"/>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3"/>
            </a:solidFill>
            <a:prstDash val="solid"/>
            <a:round/>
            <a:headEnd type="none" w="med" len="med"/>
            <a:tailEnd type="oval" w="med" len="med"/>
          </a:ln>
        </p:spPr>
        <p:txBody>
          <a:bodyPr/>
          <a:lstStyle/>
          <a:p>
            <a:endParaRPr lang="en-US"/>
          </a:p>
        </p:txBody>
      </p:sp>
      <p:grpSp>
        <p:nvGrpSpPr>
          <p:cNvPr id="91" name="Group 90">
            <a:extLst>
              <a:ext uri="{FF2B5EF4-FFF2-40B4-BE49-F238E27FC236}">
                <a16:creationId xmlns:a16="http://schemas.microsoft.com/office/drawing/2014/main" id="{C1191DD2-77C1-46BD-B046-CC004918E709}"/>
              </a:ext>
            </a:extLst>
          </p:cNvPr>
          <p:cNvGrpSpPr/>
          <p:nvPr/>
        </p:nvGrpSpPr>
        <p:grpSpPr>
          <a:xfrm>
            <a:off x="1620091" y="1888129"/>
            <a:ext cx="5613115" cy="445055"/>
            <a:chOff x="1405707" y="1819437"/>
            <a:chExt cx="5613115" cy="445055"/>
          </a:xfrm>
        </p:grpSpPr>
        <p:sp>
          <p:nvSpPr>
            <p:cNvPr id="154" name="Google Shape;941;p32">
              <a:extLst>
                <a:ext uri="{FF2B5EF4-FFF2-40B4-BE49-F238E27FC236}">
                  <a16:creationId xmlns:a16="http://schemas.microsoft.com/office/drawing/2014/main" id="{B9FD4D39-1530-42F1-8B92-A38DC82AE752}"/>
                </a:ext>
              </a:extLst>
            </p:cNvPr>
            <p:cNvSpPr/>
            <p:nvPr/>
          </p:nvSpPr>
          <p:spPr>
            <a:xfrm>
              <a:off x="1405707" y="1819438"/>
              <a:ext cx="1323242" cy="445054"/>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600" dirty="0">
                  <a:solidFill>
                    <a:srgbClr val="FFFFFF"/>
                  </a:solidFill>
                  <a:latin typeface="Fira Sans Extra Condensed Medium"/>
                  <a:ea typeface="Fira Sans Extra Condensed Medium"/>
                  <a:cs typeface="IRAN Sans" panose="020B0400000000000000" pitchFamily="34" charset="-78"/>
                  <a:sym typeface="Fira Sans Extra Condensed Medium"/>
                </a:rPr>
                <a:t>آزمايشگاه پيمانکار</a:t>
              </a:r>
              <a:endParaRPr sz="1600" dirty="0">
                <a:solidFill>
                  <a:srgbClr val="000000"/>
                </a:solidFill>
              </a:endParaRPr>
            </a:p>
          </p:txBody>
        </p:sp>
        <p:sp>
          <p:nvSpPr>
            <p:cNvPr id="155" name="Google Shape;942;p32">
              <a:extLst>
                <a:ext uri="{FF2B5EF4-FFF2-40B4-BE49-F238E27FC236}">
                  <a16:creationId xmlns:a16="http://schemas.microsoft.com/office/drawing/2014/main" id="{769134A9-5BA4-45EB-B1A8-21909AC0805F}"/>
                </a:ext>
              </a:extLst>
            </p:cNvPr>
            <p:cNvSpPr/>
            <p:nvPr/>
          </p:nvSpPr>
          <p:spPr>
            <a:xfrm>
              <a:off x="3225547" y="1819437"/>
              <a:ext cx="3793275"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آزمايشگاه كنترل كيفي پيمانکار مستقر در كارگاه كه صلاحيت عوامل و صحت و دقت تجهيزات آن به تاييد مهندس مشاور رسيده باشد.</a:t>
              </a:r>
            </a:p>
          </p:txBody>
        </p:sp>
        <p:cxnSp>
          <p:nvCxnSpPr>
            <p:cNvPr id="156" name="Google Shape;943;p32">
              <a:extLst>
                <a:ext uri="{FF2B5EF4-FFF2-40B4-BE49-F238E27FC236}">
                  <a16:creationId xmlns:a16="http://schemas.microsoft.com/office/drawing/2014/main" id="{5AAD4763-3880-4DC7-9909-F808D4DCC952}"/>
                </a:ext>
              </a:extLst>
            </p:cNvPr>
            <p:cNvCxnSpPr>
              <a:cxnSpLocks/>
            </p:cNvCxnSpPr>
            <p:nvPr/>
          </p:nvCxnSpPr>
          <p:spPr>
            <a:xfrm>
              <a:off x="2714074" y="204878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92" name="Google Shape;945;p32">
            <a:extLst>
              <a:ext uri="{FF2B5EF4-FFF2-40B4-BE49-F238E27FC236}">
                <a16:creationId xmlns:a16="http://schemas.microsoft.com/office/drawing/2014/main" id="{A76B7353-BB14-47BE-AED5-99D87E5CEB95}"/>
              </a:ext>
            </a:extLst>
          </p:cNvPr>
          <p:cNvSpPr/>
          <p:nvPr/>
        </p:nvSpPr>
        <p:spPr>
          <a:xfrm>
            <a:off x="1878884" y="2737431"/>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4"/>
            </a:solidFill>
            <a:prstDash val="solid"/>
            <a:round/>
            <a:headEnd type="none" w="med" len="med"/>
            <a:tailEnd type="oval" w="med" len="med"/>
          </a:ln>
        </p:spPr>
        <p:txBody>
          <a:bodyPr/>
          <a:lstStyle/>
          <a:p>
            <a:endParaRPr lang="en-US"/>
          </a:p>
        </p:txBody>
      </p:sp>
      <p:grpSp>
        <p:nvGrpSpPr>
          <p:cNvPr id="93" name="Group 92">
            <a:extLst>
              <a:ext uri="{FF2B5EF4-FFF2-40B4-BE49-F238E27FC236}">
                <a16:creationId xmlns:a16="http://schemas.microsoft.com/office/drawing/2014/main" id="{F3303038-1E9F-448F-A523-4CA49835F5D3}"/>
              </a:ext>
            </a:extLst>
          </p:cNvPr>
          <p:cNvGrpSpPr/>
          <p:nvPr/>
        </p:nvGrpSpPr>
        <p:grpSpPr>
          <a:xfrm>
            <a:off x="2027135" y="2514939"/>
            <a:ext cx="5613114" cy="445065"/>
            <a:chOff x="1812751" y="2446247"/>
            <a:chExt cx="5613114" cy="445065"/>
          </a:xfrm>
        </p:grpSpPr>
        <p:sp>
          <p:nvSpPr>
            <p:cNvPr id="104" name="Google Shape;946;p32">
              <a:extLst>
                <a:ext uri="{FF2B5EF4-FFF2-40B4-BE49-F238E27FC236}">
                  <a16:creationId xmlns:a16="http://schemas.microsoft.com/office/drawing/2014/main" id="{42A92E4B-446F-4033-BF47-40193A4EBBCB}"/>
                </a:ext>
              </a:extLst>
            </p:cNvPr>
            <p:cNvSpPr/>
            <p:nvPr/>
          </p:nvSpPr>
          <p:spPr>
            <a:xfrm>
              <a:off x="1812751" y="2446247"/>
              <a:ext cx="1323243" cy="445055"/>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700" dirty="0">
                  <a:solidFill>
                    <a:srgbClr val="FFFFFF"/>
                  </a:solidFill>
                  <a:latin typeface="Fira Sans Extra Condensed Medium"/>
                  <a:ea typeface="Fira Sans Extra Condensed Medium"/>
                  <a:cs typeface="IRAN Sans" panose="020B0400000000000000" pitchFamily="34" charset="-78"/>
                  <a:sym typeface="Fira Sans Extra Condensed Medium"/>
                </a:rPr>
                <a:t>برگه آزمايش </a:t>
              </a:r>
              <a:endParaRPr dirty="0">
                <a:solidFill>
                  <a:srgbClr val="000000"/>
                </a:solidFill>
              </a:endParaRPr>
            </a:p>
          </p:txBody>
        </p:sp>
        <p:sp>
          <p:nvSpPr>
            <p:cNvPr id="143" name="Google Shape;947;p32">
              <a:extLst>
                <a:ext uri="{FF2B5EF4-FFF2-40B4-BE49-F238E27FC236}">
                  <a16:creationId xmlns:a16="http://schemas.microsoft.com/office/drawing/2014/main" id="{932CF27B-F082-45AB-AE49-04E3BAFC0B57}"/>
                </a:ext>
              </a:extLst>
            </p:cNvPr>
            <p:cNvSpPr/>
            <p:nvPr/>
          </p:nvSpPr>
          <p:spPr>
            <a:xfrm>
              <a:off x="3632588" y="2446257"/>
              <a:ext cx="3793277" cy="445055"/>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برگه هاي اعلام نتايج آزمايش كه به طور رسمي و مهرشده توسط آزمايشگاه تهيه و مهندس ناظر بر روي آن اعلام نظر كرده باشد</a:t>
              </a:r>
            </a:p>
          </p:txBody>
        </p:sp>
        <p:cxnSp>
          <p:nvCxnSpPr>
            <p:cNvPr id="144" name="Google Shape;948;p32">
              <a:extLst>
                <a:ext uri="{FF2B5EF4-FFF2-40B4-BE49-F238E27FC236}">
                  <a16:creationId xmlns:a16="http://schemas.microsoft.com/office/drawing/2014/main" id="{5C283512-5838-463A-9DB3-24927365C078}"/>
                </a:ext>
              </a:extLst>
            </p:cNvPr>
            <p:cNvCxnSpPr>
              <a:cxnSpLocks/>
            </p:cNvCxnSpPr>
            <p:nvPr/>
          </p:nvCxnSpPr>
          <p:spPr>
            <a:xfrm>
              <a:off x="3124634" y="2671319"/>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94" name="Group 93">
            <a:extLst>
              <a:ext uri="{FF2B5EF4-FFF2-40B4-BE49-F238E27FC236}">
                <a16:creationId xmlns:a16="http://schemas.microsoft.com/office/drawing/2014/main" id="{182F8C48-378F-4870-A993-8DCB7444DFF7}"/>
              </a:ext>
            </a:extLst>
          </p:cNvPr>
          <p:cNvGrpSpPr/>
          <p:nvPr/>
        </p:nvGrpSpPr>
        <p:grpSpPr>
          <a:xfrm>
            <a:off x="2434179" y="3141746"/>
            <a:ext cx="5613116" cy="445055"/>
            <a:chOff x="2219795" y="3073054"/>
            <a:chExt cx="5613116" cy="445055"/>
          </a:xfrm>
        </p:grpSpPr>
        <p:sp>
          <p:nvSpPr>
            <p:cNvPr id="96" name="Google Shape;950;p32">
              <a:extLst>
                <a:ext uri="{FF2B5EF4-FFF2-40B4-BE49-F238E27FC236}">
                  <a16:creationId xmlns:a16="http://schemas.microsoft.com/office/drawing/2014/main" id="{73806DE3-412C-4E02-BC7D-5C2FEBD31529}"/>
                </a:ext>
              </a:extLst>
            </p:cNvPr>
            <p:cNvSpPr/>
            <p:nvPr/>
          </p:nvSpPr>
          <p:spPr>
            <a:xfrm>
              <a:off x="2219795" y="3073055"/>
              <a:ext cx="1323243" cy="445054"/>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600" dirty="0">
                  <a:solidFill>
                    <a:srgbClr val="FFFFFF"/>
                  </a:solidFill>
                  <a:latin typeface="Fira Sans Extra Condensed Medium"/>
                  <a:ea typeface="Fira Sans Extra Condensed Medium"/>
                  <a:cs typeface="IRAN Sans" panose="020B0400000000000000" pitchFamily="34" charset="-78"/>
                  <a:sym typeface="Fira Sans Extra Condensed Medium"/>
                </a:rPr>
                <a:t>برگه آزمايش پيمانکار</a:t>
              </a:r>
              <a:endParaRPr sz="1200" dirty="0">
                <a:solidFill>
                  <a:srgbClr val="000000"/>
                </a:solidFill>
              </a:endParaRPr>
            </a:p>
          </p:txBody>
        </p:sp>
        <p:sp>
          <p:nvSpPr>
            <p:cNvPr id="98" name="Google Shape;951;p32">
              <a:extLst>
                <a:ext uri="{FF2B5EF4-FFF2-40B4-BE49-F238E27FC236}">
                  <a16:creationId xmlns:a16="http://schemas.microsoft.com/office/drawing/2014/main" id="{2A7766DE-A6BB-4416-9844-2176FE9ADCF3}"/>
                </a:ext>
              </a:extLst>
            </p:cNvPr>
            <p:cNvSpPr/>
            <p:nvPr/>
          </p:nvSpPr>
          <p:spPr>
            <a:xfrm>
              <a:off x="4039634" y="3073054"/>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برگه هاي اعلام نتايج آزمايش كه توسط آزمايشگاه پيمانکار، تهيه و مهندس ناظر بر روي آن اعلام نظر كرده باشد.</a:t>
              </a:r>
            </a:p>
          </p:txBody>
        </p:sp>
        <p:cxnSp>
          <p:nvCxnSpPr>
            <p:cNvPr id="102" name="Google Shape;952;p32">
              <a:extLst>
                <a:ext uri="{FF2B5EF4-FFF2-40B4-BE49-F238E27FC236}">
                  <a16:creationId xmlns:a16="http://schemas.microsoft.com/office/drawing/2014/main" id="{1EA6A652-D4C6-4EDB-99F5-D6A09DD61698}"/>
                </a:ext>
              </a:extLst>
            </p:cNvPr>
            <p:cNvCxnSpPr>
              <a:cxnSpLocks/>
            </p:cNvCxnSpPr>
            <p:nvPr/>
          </p:nvCxnSpPr>
          <p:spPr>
            <a:xfrm>
              <a:off x="3539653" y="3295581"/>
              <a:ext cx="496690" cy="0"/>
            </a:xfrm>
            <a:prstGeom prst="straightConnector1">
              <a:avLst/>
            </a:prstGeom>
            <a:noFill/>
            <a:ln w="9525" cap="flat" cmpd="sng">
              <a:solidFill>
                <a:srgbClr val="000000"/>
              </a:solidFill>
              <a:prstDash val="solid"/>
              <a:round/>
              <a:headEnd type="none" w="med" len="med"/>
              <a:tailEnd type="oval" w="med" len="med"/>
            </a:ln>
          </p:spPr>
        </p:cxnSp>
      </p:grpSp>
      <p:grpSp>
        <p:nvGrpSpPr>
          <p:cNvPr id="259" name="Group 258">
            <a:extLst>
              <a:ext uri="{FF2B5EF4-FFF2-40B4-BE49-F238E27FC236}">
                <a16:creationId xmlns:a16="http://schemas.microsoft.com/office/drawing/2014/main" id="{3DAA94A7-6DFB-B1CF-6118-6798B3B6F2BE}"/>
              </a:ext>
            </a:extLst>
          </p:cNvPr>
          <p:cNvGrpSpPr/>
          <p:nvPr/>
        </p:nvGrpSpPr>
        <p:grpSpPr>
          <a:xfrm>
            <a:off x="2722208" y="3697020"/>
            <a:ext cx="5613117" cy="445054"/>
            <a:chOff x="591620" y="565822"/>
            <a:chExt cx="5613117" cy="445054"/>
          </a:xfrm>
        </p:grpSpPr>
        <p:sp>
          <p:nvSpPr>
            <p:cNvPr id="260" name="Google Shape;931;p32">
              <a:extLst>
                <a:ext uri="{FF2B5EF4-FFF2-40B4-BE49-F238E27FC236}">
                  <a16:creationId xmlns:a16="http://schemas.microsoft.com/office/drawing/2014/main" id="{E6FBAB99-F2A9-1E21-1884-3E84FB717B85}"/>
                </a:ext>
              </a:extLst>
            </p:cNvPr>
            <p:cNvSpPr/>
            <p:nvPr/>
          </p:nvSpPr>
          <p:spPr>
            <a:xfrm>
              <a:off x="591620" y="565822"/>
              <a:ext cx="1323243" cy="445054"/>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Clr>
                  <a:srgbClr val="000000"/>
                </a:buClr>
                <a:buSzPts val="1100"/>
                <a:buFont typeface="Arial"/>
                <a:buNone/>
              </a:pPr>
              <a:r>
                <a:rPr lang="fa-IR" sz="1600" dirty="0">
                  <a:solidFill>
                    <a:srgbClr val="FFFFFF"/>
                  </a:solidFill>
                  <a:latin typeface="Fira Sans Extra Condensed Medium"/>
                  <a:ea typeface="Fira Sans Extra Condensed Medium"/>
                  <a:cs typeface="IRAN Sans" panose="020B0400000000000000" pitchFamily="34" charset="-78"/>
                  <a:sym typeface="Fira Sans Extra Condensed Medium"/>
                </a:rPr>
                <a:t>مشخصات فني پيمان</a:t>
              </a:r>
              <a:endParaRPr sz="1200" dirty="0">
                <a:solidFill>
                  <a:srgbClr val="000000"/>
                </a:solidFill>
              </a:endParaRPr>
            </a:p>
          </p:txBody>
        </p:sp>
        <p:sp>
          <p:nvSpPr>
            <p:cNvPr id="261" name="Google Shape;932;p32">
              <a:extLst>
                <a:ext uri="{FF2B5EF4-FFF2-40B4-BE49-F238E27FC236}">
                  <a16:creationId xmlns:a16="http://schemas.microsoft.com/office/drawing/2014/main" id="{EF731ACE-8BE8-B603-25BC-4F26B1D28DFD}"/>
                </a:ext>
              </a:extLst>
            </p:cNvPr>
            <p:cNvSpPr/>
            <p:nvPr/>
          </p:nvSpPr>
          <p:spPr>
            <a:xfrm>
              <a:off x="2411460" y="565822"/>
              <a:ext cx="3793277" cy="445054"/>
            </a:xfrm>
            <a:prstGeom prst="roundRect">
              <a:avLst>
                <a:gd name="adj" fmla="val 50000"/>
              </a:avLst>
            </a:prstGeom>
            <a:solidFill>
              <a:srgbClr val="EEEEEE"/>
            </a:solidFill>
            <a:ln>
              <a:noFill/>
            </a:ln>
          </p:spPr>
          <p:txBody>
            <a:bodyPr spcFirstLastPara="1" wrap="square" lIns="18287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lvl="0" algn="ctr">
                <a:buSzPts val="1100"/>
              </a:pPr>
              <a:r>
                <a:rPr lang="fa-IR" sz="1200" dirty="0">
                  <a:latin typeface="Roboto"/>
                  <a:ea typeface="Roboto"/>
                  <a:cs typeface="IRAN Sans" panose="020B0400000000000000" pitchFamily="34" charset="-78"/>
                  <a:sym typeface="Roboto"/>
                </a:rPr>
                <a:t>مشخصات فني عمومي  و ساير ضوابط تصريح شده در پيمان حسب مورد مشخصات فني خصوصي منضم به پيمان</a:t>
              </a:r>
              <a:endParaRPr sz="1200" dirty="0">
                <a:latin typeface="Roboto"/>
                <a:ea typeface="Roboto"/>
                <a:cs typeface="IRAN Sans" panose="020B0400000000000000" pitchFamily="34" charset="-78"/>
                <a:sym typeface="Roboto"/>
              </a:endParaRPr>
            </a:p>
          </p:txBody>
        </p:sp>
        <p:cxnSp>
          <p:nvCxnSpPr>
            <p:cNvPr id="262" name="Google Shape;933;p32">
              <a:extLst>
                <a:ext uri="{FF2B5EF4-FFF2-40B4-BE49-F238E27FC236}">
                  <a16:creationId xmlns:a16="http://schemas.microsoft.com/office/drawing/2014/main" id="{D78205DB-762C-85FA-13A9-087F3CE74865}"/>
                </a:ext>
              </a:extLst>
            </p:cNvPr>
            <p:cNvCxnSpPr>
              <a:cxnSpLocks/>
            </p:cNvCxnSpPr>
            <p:nvPr/>
          </p:nvCxnSpPr>
          <p:spPr>
            <a:xfrm>
              <a:off x="1907382" y="788349"/>
              <a:ext cx="496690" cy="0"/>
            </a:xfrm>
            <a:prstGeom prst="straightConnector1">
              <a:avLst/>
            </a:prstGeom>
            <a:noFill/>
            <a:ln w="9525" cap="flat" cmpd="sng">
              <a:solidFill>
                <a:srgbClr val="000000"/>
              </a:solidFill>
              <a:prstDash val="solid"/>
              <a:round/>
              <a:headEnd type="none" w="med" len="med"/>
              <a:tailEnd type="oval" w="med" len="med"/>
            </a:ln>
          </p:spPr>
        </p:cxnSp>
      </p:grpSp>
      <p:sp>
        <p:nvSpPr>
          <p:cNvPr id="263" name="Google Shape;930;p32">
            <a:extLst>
              <a:ext uri="{FF2B5EF4-FFF2-40B4-BE49-F238E27FC236}">
                <a16:creationId xmlns:a16="http://schemas.microsoft.com/office/drawing/2014/main" id="{285E65DD-7B5E-DFA7-52CC-FEED17F1CD23}"/>
              </a:ext>
            </a:extLst>
          </p:cNvPr>
          <p:cNvSpPr/>
          <p:nvPr/>
        </p:nvSpPr>
        <p:spPr>
          <a:xfrm>
            <a:off x="2189988" y="3334004"/>
            <a:ext cx="435856" cy="513231"/>
          </a:xfrm>
          <a:custGeom>
            <a:avLst/>
            <a:gdLst/>
            <a:ahLst/>
            <a:cxnLst/>
            <a:rect l="l" t="t" r="r" b="b"/>
            <a:pathLst>
              <a:path w="17933" h="22072" extrusionOk="0">
                <a:moveTo>
                  <a:pt x="6109" y="0"/>
                </a:moveTo>
                <a:lnTo>
                  <a:pt x="0" y="0"/>
                </a:lnTo>
                <a:lnTo>
                  <a:pt x="0" y="22072"/>
                </a:lnTo>
                <a:lnTo>
                  <a:pt x="17933" y="22072"/>
                </a:lnTo>
              </a:path>
            </a:pathLst>
          </a:custGeom>
          <a:noFill/>
          <a:ln w="9525" cap="flat" cmpd="sng">
            <a:solidFill>
              <a:schemeClr val="accent1"/>
            </a:solidFill>
            <a:prstDash val="solid"/>
            <a:round/>
            <a:headEnd type="none" w="med" len="med"/>
            <a:tailEnd type="oval" w="med" len="med"/>
          </a:ln>
        </p:spPr>
        <p:txBody>
          <a:bodyPr/>
          <a:lstStyle/>
          <a:p>
            <a:endParaRPr lang="en-US"/>
          </a:p>
        </p:txBody>
      </p:sp>
      <p:sp>
        <p:nvSpPr>
          <p:cNvPr id="264" name="Google Shape;309;p20">
            <a:hlinkClick r:id="" action="ppaction://noaction"/>
            <a:extLst>
              <a:ext uri="{FF2B5EF4-FFF2-40B4-BE49-F238E27FC236}">
                <a16:creationId xmlns:a16="http://schemas.microsoft.com/office/drawing/2014/main" id="{EE87DAF8-1B21-D18D-4BC7-8485D3A45496}"/>
              </a:ext>
            </a:extLst>
          </p:cNvPr>
          <p:cNvSpPr txBox="1"/>
          <p:nvPr/>
        </p:nvSpPr>
        <p:spPr>
          <a:xfrm>
            <a:off x="4695368"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65" name="Google Shape;317;p20">
            <a:hlinkClick r:id="rId3" action="ppaction://hlinksldjump"/>
            <a:extLst>
              <a:ext uri="{FF2B5EF4-FFF2-40B4-BE49-F238E27FC236}">
                <a16:creationId xmlns:a16="http://schemas.microsoft.com/office/drawing/2014/main" id="{41D59950-F129-1F3F-5649-894C61827114}"/>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Tree>
    <p:extLst>
      <p:ext uri="{BB962C8B-B14F-4D97-AF65-F5344CB8AC3E}">
        <p14:creationId xmlns:p14="http://schemas.microsoft.com/office/powerpoint/2010/main" val="356157415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par>
                                <p:cTn id="31" presetID="22" presetClass="entr" presetSubtype="4" fill="hold" nodeType="withEffect">
                                  <p:stCondLst>
                                    <p:cond delay="0"/>
                                  </p:stCondLst>
                                  <p:childTnLst>
                                    <p:set>
                                      <p:cBhvr>
                                        <p:cTn id="32" dur="1" fill="hold">
                                          <p:stCondLst>
                                            <p:cond delay="0"/>
                                          </p:stCondLst>
                                        </p:cTn>
                                        <p:tgtEl>
                                          <p:spTgt spid="87"/>
                                        </p:tgtEl>
                                        <p:attrNameLst>
                                          <p:attrName>style.visibility</p:attrName>
                                        </p:attrNameLst>
                                      </p:cBhvr>
                                      <p:to>
                                        <p:strVal val="visible"/>
                                      </p:to>
                                    </p:set>
                                    <p:animEffect transition="in" filter="wipe(down)">
                                      <p:cBhvr>
                                        <p:cTn id="33" dur="500"/>
                                        <p:tgtEl>
                                          <p:spTgt spid="87"/>
                                        </p:tgtEl>
                                      </p:cBhvr>
                                    </p:animEffect>
                                  </p:childTnLst>
                                </p:cTn>
                              </p:par>
                            </p:childTnLst>
                          </p:cTn>
                        </p:par>
                        <p:par>
                          <p:cTn id="34" fill="hold">
                            <p:stCondLst>
                              <p:cond delay="2050"/>
                            </p:stCondLst>
                            <p:childTnLst>
                              <p:par>
                                <p:cTn id="35" presetID="6" presetClass="entr" presetSubtype="16" fill="hold" grpId="0" nodeType="afterEffect">
                                  <p:stCondLst>
                                    <p:cond delay="0"/>
                                  </p:stCondLst>
                                  <p:childTnLst>
                                    <p:set>
                                      <p:cBhvr>
                                        <p:cTn id="36" dur="1" fill="hold">
                                          <p:stCondLst>
                                            <p:cond delay="0"/>
                                          </p:stCondLst>
                                        </p:cTn>
                                        <p:tgtEl>
                                          <p:spTgt spid="86"/>
                                        </p:tgtEl>
                                        <p:attrNameLst>
                                          <p:attrName>style.visibility</p:attrName>
                                        </p:attrNameLst>
                                      </p:cBhvr>
                                      <p:to>
                                        <p:strVal val="visible"/>
                                      </p:to>
                                    </p:set>
                                    <p:animEffect transition="in" filter="circle(in)">
                                      <p:cBhvr>
                                        <p:cTn id="37" dur="2000"/>
                                        <p:tgtEl>
                                          <p:spTgt spid="86"/>
                                        </p:tgtEl>
                                      </p:cBhvr>
                                    </p:animEffect>
                                  </p:childTnLst>
                                </p:cTn>
                              </p:par>
                            </p:childTnLst>
                          </p:cTn>
                        </p:par>
                        <p:par>
                          <p:cTn id="38" fill="hold">
                            <p:stCondLst>
                              <p:cond delay="4050"/>
                            </p:stCondLst>
                            <p:childTnLst>
                              <p:par>
                                <p:cTn id="39" presetID="22" presetClass="entr" presetSubtype="4" fill="hold" nodeType="afterEffect">
                                  <p:stCondLst>
                                    <p:cond delay="0"/>
                                  </p:stCondLst>
                                  <p:childTnLst>
                                    <p:set>
                                      <p:cBhvr>
                                        <p:cTn id="40" dur="1" fill="hold">
                                          <p:stCondLst>
                                            <p:cond delay="0"/>
                                          </p:stCondLst>
                                        </p:cTn>
                                        <p:tgtEl>
                                          <p:spTgt spid="89"/>
                                        </p:tgtEl>
                                        <p:attrNameLst>
                                          <p:attrName>style.visibility</p:attrName>
                                        </p:attrNameLst>
                                      </p:cBhvr>
                                      <p:to>
                                        <p:strVal val="visible"/>
                                      </p:to>
                                    </p:set>
                                    <p:animEffect transition="in" filter="wipe(down)">
                                      <p:cBhvr>
                                        <p:cTn id="41" dur="500"/>
                                        <p:tgtEl>
                                          <p:spTgt spid="89"/>
                                        </p:tgtEl>
                                      </p:cBhvr>
                                    </p:animEffect>
                                  </p:childTnLst>
                                </p:cTn>
                              </p:par>
                            </p:childTnLst>
                          </p:cTn>
                        </p:par>
                        <p:par>
                          <p:cTn id="42" fill="hold">
                            <p:stCondLst>
                              <p:cond delay="4550"/>
                            </p:stCondLst>
                            <p:childTnLst>
                              <p:par>
                                <p:cTn id="43" presetID="22" presetClass="entr" presetSubtype="4" fill="hold" grpId="0" nodeType="afterEffect">
                                  <p:stCondLst>
                                    <p:cond delay="0"/>
                                  </p:stCondLst>
                                  <p:childTnLst>
                                    <p:set>
                                      <p:cBhvr>
                                        <p:cTn id="44" dur="1" fill="hold">
                                          <p:stCondLst>
                                            <p:cond delay="0"/>
                                          </p:stCondLst>
                                        </p:cTn>
                                        <p:tgtEl>
                                          <p:spTgt spid="88"/>
                                        </p:tgtEl>
                                        <p:attrNameLst>
                                          <p:attrName>style.visibility</p:attrName>
                                        </p:attrNameLst>
                                      </p:cBhvr>
                                      <p:to>
                                        <p:strVal val="visible"/>
                                      </p:to>
                                    </p:set>
                                    <p:animEffect transition="in" filter="wipe(down)">
                                      <p:cBhvr>
                                        <p:cTn id="45" dur="500"/>
                                        <p:tgtEl>
                                          <p:spTgt spid="88"/>
                                        </p:tgtEl>
                                      </p:cBhvr>
                                    </p:animEffect>
                                  </p:childTnLst>
                                </p:cTn>
                              </p:par>
                            </p:childTnLst>
                          </p:cTn>
                        </p:par>
                        <p:par>
                          <p:cTn id="46" fill="hold">
                            <p:stCondLst>
                              <p:cond delay="5050"/>
                            </p:stCondLst>
                            <p:childTnLst>
                              <p:par>
                                <p:cTn id="47" presetID="22" presetClass="entr" presetSubtype="4" fill="hold" nodeType="afterEffect">
                                  <p:stCondLst>
                                    <p:cond delay="0"/>
                                  </p:stCondLst>
                                  <p:childTnLst>
                                    <p:set>
                                      <p:cBhvr>
                                        <p:cTn id="48" dur="1" fill="hold">
                                          <p:stCondLst>
                                            <p:cond delay="0"/>
                                          </p:stCondLst>
                                        </p:cTn>
                                        <p:tgtEl>
                                          <p:spTgt spid="91"/>
                                        </p:tgtEl>
                                        <p:attrNameLst>
                                          <p:attrName>style.visibility</p:attrName>
                                        </p:attrNameLst>
                                      </p:cBhvr>
                                      <p:to>
                                        <p:strVal val="visible"/>
                                      </p:to>
                                    </p:set>
                                    <p:animEffect transition="in" filter="wipe(down)">
                                      <p:cBhvr>
                                        <p:cTn id="49" dur="500"/>
                                        <p:tgtEl>
                                          <p:spTgt spid="91"/>
                                        </p:tgtEl>
                                      </p:cBhvr>
                                    </p:animEffect>
                                  </p:childTnLst>
                                </p:cTn>
                              </p:par>
                            </p:childTnLst>
                          </p:cTn>
                        </p:par>
                        <p:par>
                          <p:cTn id="50" fill="hold">
                            <p:stCondLst>
                              <p:cond delay="5550"/>
                            </p:stCondLst>
                            <p:childTnLst>
                              <p:par>
                                <p:cTn id="51" presetID="22" presetClass="entr" presetSubtype="4" fill="hold" grpId="0" nodeType="afterEffect">
                                  <p:stCondLst>
                                    <p:cond delay="0"/>
                                  </p:stCondLst>
                                  <p:childTnLst>
                                    <p:set>
                                      <p:cBhvr>
                                        <p:cTn id="52" dur="1" fill="hold">
                                          <p:stCondLst>
                                            <p:cond delay="0"/>
                                          </p:stCondLst>
                                        </p:cTn>
                                        <p:tgtEl>
                                          <p:spTgt spid="90"/>
                                        </p:tgtEl>
                                        <p:attrNameLst>
                                          <p:attrName>style.visibility</p:attrName>
                                        </p:attrNameLst>
                                      </p:cBhvr>
                                      <p:to>
                                        <p:strVal val="visible"/>
                                      </p:to>
                                    </p:set>
                                    <p:animEffect transition="in" filter="wipe(down)">
                                      <p:cBhvr>
                                        <p:cTn id="53" dur="500"/>
                                        <p:tgtEl>
                                          <p:spTgt spid="90"/>
                                        </p:tgtEl>
                                      </p:cBhvr>
                                    </p:animEffect>
                                  </p:childTnLst>
                                </p:cTn>
                              </p:par>
                            </p:childTnLst>
                          </p:cTn>
                        </p:par>
                        <p:par>
                          <p:cTn id="54" fill="hold">
                            <p:stCondLst>
                              <p:cond delay="6050"/>
                            </p:stCondLst>
                            <p:childTnLst>
                              <p:par>
                                <p:cTn id="55" presetID="22" presetClass="entr" presetSubtype="4" fill="hold" nodeType="afterEffect">
                                  <p:stCondLst>
                                    <p:cond delay="0"/>
                                  </p:stCondLst>
                                  <p:childTnLst>
                                    <p:set>
                                      <p:cBhvr>
                                        <p:cTn id="56" dur="1" fill="hold">
                                          <p:stCondLst>
                                            <p:cond delay="0"/>
                                          </p:stCondLst>
                                        </p:cTn>
                                        <p:tgtEl>
                                          <p:spTgt spid="93"/>
                                        </p:tgtEl>
                                        <p:attrNameLst>
                                          <p:attrName>style.visibility</p:attrName>
                                        </p:attrNameLst>
                                      </p:cBhvr>
                                      <p:to>
                                        <p:strVal val="visible"/>
                                      </p:to>
                                    </p:set>
                                    <p:animEffect transition="in" filter="wipe(down)">
                                      <p:cBhvr>
                                        <p:cTn id="57" dur="500"/>
                                        <p:tgtEl>
                                          <p:spTgt spid="93"/>
                                        </p:tgtEl>
                                      </p:cBhvr>
                                    </p:animEffect>
                                  </p:childTnLst>
                                </p:cTn>
                              </p:par>
                            </p:childTnLst>
                          </p:cTn>
                        </p:par>
                        <p:par>
                          <p:cTn id="58" fill="hold">
                            <p:stCondLst>
                              <p:cond delay="6550"/>
                            </p:stCondLst>
                            <p:childTnLst>
                              <p:par>
                                <p:cTn id="59" presetID="22" presetClass="entr" presetSubtype="4" fill="hold" grpId="0" nodeType="afterEffect">
                                  <p:stCondLst>
                                    <p:cond delay="0"/>
                                  </p:stCondLst>
                                  <p:childTnLst>
                                    <p:set>
                                      <p:cBhvr>
                                        <p:cTn id="60" dur="1" fill="hold">
                                          <p:stCondLst>
                                            <p:cond delay="0"/>
                                          </p:stCondLst>
                                        </p:cTn>
                                        <p:tgtEl>
                                          <p:spTgt spid="92"/>
                                        </p:tgtEl>
                                        <p:attrNameLst>
                                          <p:attrName>style.visibility</p:attrName>
                                        </p:attrNameLst>
                                      </p:cBhvr>
                                      <p:to>
                                        <p:strVal val="visible"/>
                                      </p:to>
                                    </p:set>
                                    <p:animEffect transition="in" filter="wipe(down)">
                                      <p:cBhvr>
                                        <p:cTn id="61" dur="500"/>
                                        <p:tgtEl>
                                          <p:spTgt spid="92"/>
                                        </p:tgtEl>
                                      </p:cBhvr>
                                    </p:animEffect>
                                  </p:childTnLst>
                                </p:cTn>
                              </p:par>
                            </p:childTnLst>
                          </p:cTn>
                        </p:par>
                        <p:par>
                          <p:cTn id="62" fill="hold">
                            <p:stCondLst>
                              <p:cond delay="7050"/>
                            </p:stCondLst>
                            <p:childTnLst>
                              <p:par>
                                <p:cTn id="63" presetID="22" presetClass="entr" presetSubtype="4" fill="hold" nodeType="afterEffect">
                                  <p:stCondLst>
                                    <p:cond delay="0"/>
                                  </p:stCondLst>
                                  <p:childTnLst>
                                    <p:set>
                                      <p:cBhvr>
                                        <p:cTn id="64" dur="1" fill="hold">
                                          <p:stCondLst>
                                            <p:cond delay="0"/>
                                          </p:stCondLst>
                                        </p:cTn>
                                        <p:tgtEl>
                                          <p:spTgt spid="94"/>
                                        </p:tgtEl>
                                        <p:attrNameLst>
                                          <p:attrName>style.visibility</p:attrName>
                                        </p:attrNameLst>
                                      </p:cBhvr>
                                      <p:to>
                                        <p:strVal val="visible"/>
                                      </p:to>
                                    </p:set>
                                    <p:animEffect transition="in" filter="wipe(down)">
                                      <p:cBhvr>
                                        <p:cTn id="65" dur="500"/>
                                        <p:tgtEl>
                                          <p:spTgt spid="94"/>
                                        </p:tgtEl>
                                      </p:cBhvr>
                                    </p:animEffect>
                                  </p:childTnLst>
                                </p:cTn>
                              </p:par>
                            </p:childTnLst>
                          </p:cTn>
                        </p:par>
                        <p:par>
                          <p:cTn id="66" fill="hold">
                            <p:stCondLst>
                              <p:cond delay="7550"/>
                            </p:stCondLst>
                            <p:childTnLst>
                              <p:par>
                                <p:cTn id="67" presetID="22" presetClass="entr" presetSubtype="4" fill="hold" grpId="0" nodeType="afterEffect">
                                  <p:stCondLst>
                                    <p:cond delay="0"/>
                                  </p:stCondLst>
                                  <p:childTnLst>
                                    <p:set>
                                      <p:cBhvr>
                                        <p:cTn id="68" dur="1" fill="hold">
                                          <p:stCondLst>
                                            <p:cond delay="0"/>
                                          </p:stCondLst>
                                        </p:cTn>
                                        <p:tgtEl>
                                          <p:spTgt spid="263"/>
                                        </p:tgtEl>
                                        <p:attrNameLst>
                                          <p:attrName>style.visibility</p:attrName>
                                        </p:attrNameLst>
                                      </p:cBhvr>
                                      <p:to>
                                        <p:strVal val="visible"/>
                                      </p:to>
                                    </p:set>
                                    <p:animEffect transition="in" filter="wipe(down)">
                                      <p:cBhvr>
                                        <p:cTn id="69" dur="500"/>
                                        <p:tgtEl>
                                          <p:spTgt spid="263"/>
                                        </p:tgtEl>
                                      </p:cBhvr>
                                    </p:animEffect>
                                  </p:childTnLst>
                                </p:cTn>
                              </p:par>
                            </p:childTnLst>
                          </p:cTn>
                        </p:par>
                        <p:par>
                          <p:cTn id="70" fill="hold">
                            <p:stCondLst>
                              <p:cond delay="8050"/>
                            </p:stCondLst>
                            <p:childTnLst>
                              <p:par>
                                <p:cTn id="71" presetID="22" presetClass="entr" presetSubtype="4" fill="hold" nodeType="afterEffect">
                                  <p:stCondLst>
                                    <p:cond delay="0"/>
                                  </p:stCondLst>
                                  <p:childTnLst>
                                    <p:set>
                                      <p:cBhvr>
                                        <p:cTn id="72" dur="1" fill="hold">
                                          <p:stCondLst>
                                            <p:cond delay="0"/>
                                          </p:stCondLst>
                                        </p:cTn>
                                        <p:tgtEl>
                                          <p:spTgt spid="259"/>
                                        </p:tgtEl>
                                        <p:attrNameLst>
                                          <p:attrName>style.visibility</p:attrName>
                                        </p:attrNameLst>
                                      </p:cBhvr>
                                      <p:to>
                                        <p:strVal val="visible"/>
                                      </p:to>
                                    </p:set>
                                    <p:animEffect transition="in" filter="wipe(down)">
                                      <p:cBhvr>
                                        <p:cTn id="73"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86" grpId="0" animBg="1"/>
      <p:bldP spid="88" grpId="0" animBg="1"/>
      <p:bldP spid="90" grpId="0" animBg="1"/>
      <p:bldP spid="92" grpId="0" animBg="1"/>
      <p:bldP spid="263"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933778" y="230661"/>
            <a:ext cx="1894557" cy="335509"/>
          </a:xfrm>
          <a:prstGeom prst="roundRect">
            <a:avLst>
              <a:gd name="adj" fmla="val 42269"/>
            </a:avLst>
          </a:prstGeom>
          <a:noFill/>
          <a:ln>
            <a:solidFill>
              <a:schemeClr val="accent4"/>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4"/>
                </a:solidFill>
                <a:cs typeface="IRAN Sans" panose="020B0400000000000000" pitchFamily="34" charset="-78"/>
              </a:rPr>
              <a:t>مشخصات فنی پیمان</a:t>
            </a:r>
            <a:endParaRPr sz="1600" b="1" dirty="0">
              <a:solidFill>
                <a:schemeClr val="accent4"/>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4">
                  <a:lumMod val="60000"/>
                  <a:lumOff val="40000"/>
                </a:schemeClr>
              </a:gs>
              <a:gs pos="100000">
                <a:schemeClr val="accent4">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4"/>
                </a:solidFill>
                <a:cs typeface="IRAN Sans" panose="020B0400000000000000" pitchFamily="34" charset="-78"/>
              </a:rPr>
              <a:t>77</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96" name="Google Shape;299;p20">
            <a:extLst>
              <a:ext uri="{FF2B5EF4-FFF2-40B4-BE49-F238E27FC236}">
                <a16:creationId xmlns:a16="http://schemas.microsoft.com/office/drawing/2014/main" id="{F52CC1D6-4D48-4FFF-8DA0-B29F13875D1D}"/>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98" name="Google Shape;307;p20">
            <a:extLst>
              <a:ext uri="{FF2B5EF4-FFF2-40B4-BE49-F238E27FC236}">
                <a16:creationId xmlns:a16="http://schemas.microsoft.com/office/drawing/2014/main" id="{5BBD9BCC-1541-4B44-BBE0-2D820D075641}"/>
              </a:ext>
            </a:extLst>
          </p:cNvPr>
          <p:cNvSpPr/>
          <p:nvPr/>
        </p:nvSpPr>
        <p:spPr>
          <a:xfrm rot="16200000">
            <a:off x="3648806" y="4137841"/>
            <a:ext cx="360083" cy="1490127"/>
          </a:xfrm>
          <a:prstGeom prst="round2SameRect">
            <a:avLst>
              <a:gd name="adj1" fmla="val 0"/>
              <a:gd name="adj2" fmla="val 0"/>
            </a:avLst>
          </a:prstGeom>
          <a:solidFill>
            <a:schemeClr val="accent3">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0" name="Google Shape;315;p20">
            <a:extLst>
              <a:ext uri="{FF2B5EF4-FFF2-40B4-BE49-F238E27FC236}">
                <a16:creationId xmlns:a16="http://schemas.microsoft.com/office/drawing/2014/main" id="{B3A5686C-07DF-43F4-A6F4-468805993FB2}"/>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2" name="Google Shape;322;p20">
            <a:extLst>
              <a:ext uri="{FF2B5EF4-FFF2-40B4-BE49-F238E27FC236}">
                <a16:creationId xmlns:a16="http://schemas.microsoft.com/office/drawing/2014/main" id="{0711DC43-2199-4738-8AFD-E0AB0BF58615}"/>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4" name="Google Shape;307;p20">
            <a:extLst>
              <a:ext uri="{FF2B5EF4-FFF2-40B4-BE49-F238E27FC236}">
                <a16:creationId xmlns:a16="http://schemas.microsoft.com/office/drawing/2014/main" id="{B1EAE88A-DCC9-408F-98C8-9FEB067DD478}"/>
              </a:ext>
            </a:extLst>
          </p:cNvPr>
          <p:cNvSpPr/>
          <p:nvPr/>
        </p:nvSpPr>
        <p:spPr>
          <a:xfrm rot="16200000">
            <a:off x="5135374" y="4137840"/>
            <a:ext cx="360083" cy="1490127"/>
          </a:xfrm>
          <a:prstGeom prst="round2SameRect">
            <a:avLst>
              <a:gd name="adj1" fmla="val 0"/>
              <a:gd name="adj2" fmla="val 0"/>
            </a:avLst>
          </a:prstGeom>
          <a:solidFill>
            <a:schemeClr val="accent4">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5" name="Google Shape;309;p20">
            <a:hlinkClick r:id="rId3" action="ppaction://hlinksldjump"/>
            <a:extLst>
              <a:ext uri="{FF2B5EF4-FFF2-40B4-BE49-F238E27FC236}">
                <a16:creationId xmlns:a16="http://schemas.microsoft.com/office/drawing/2014/main" id="{DF12B39C-2FD6-4F78-979D-65A551F471E0}"/>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106" name="Google Shape;307;p20">
            <a:extLst>
              <a:ext uri="{FF2B5EF4-FFF2-40B4-BE49-F238E27FC236}">
                <a16:creationId xmlns:a16="http://schemas.microsoft.com/office/drawing/2014/main" id="{AB8907B8-9502-4D94-96FC-BD5B385662A7}"/>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08" name="Google Shape;326;p20">
            <a:extLst>
              <a:ext uri="{FF2B5EF4-FFF2-40B4-BE49-F238E27FC236}">
                <a16:creationId xmlns:a16="http://schemas.microsoft.com/office/drawing/2014/main" id="{0606F9F3-EEE4-48D3-998D-4BEA003D036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0" name="Google Shape;303;p20">
            <a:extLst>
              <a:ext uri="{FF2B5EF4-FFF2-40B4-BE49-F238E27FC236}">
                <a16:creationId xmlns:a16="http://schemas.microsoft.com/office/drawing/2014/main" id="{C8111D10-3624-44BE-A335-8C8B0829B309}"/>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1" name="Google Shape;311;p20">
            <a:extLst>
              <a:ext uri="{FF2B5EF4-FFF2-40B4-BE49-F238E27FC236}">
                <a16:creationId xmlns:a16="http://schemas.microsoft.com/office/drawing/2014/main" id="{D828C358-F660-46F3-A558-97CBAC0850B7}"/>
              </a:ext>
            </a:extLst>
          </p:cNvPr>
          <p:cNvSpPr>
            <a:spLocks noChangeAspect="1"/>
          </p:cNvSpPr>
          <p:nvPr/>
        </p:nvSpPr>
        <p:spPr>
          <a:xfrm>
            <a:off x="3621324" y="4095828"/>
            <a:ext cx="415019" cy="415019"/>
          </a:xfrm>
          <a:prstGeom prst="ellipse">
            <a:avLst/>
          </a:prstGeom>
          <a:solidFill>
            <a:schemeClr val="accent3">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2" name="Google Shape;329;p20">
            <a:extLst>
              <a:ext uri="{FF2B5EF4-FFF2-40B4-BE49-F238E27FC236}">
                <a16:creationId xmlns:a16="http://schemas.microsoft.com/office/drawing/2014/main" id="{C8A39842-A518-4F53-898B-A61527400155}"/>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5" name="Google Shape;311;p20">
            <a:extLst>
              <a:ext uri="{FF2B5EF4-FFF2-40B4-BE49-F238E27FC236}">
                <a16:creationId xmlns:a16="http://schemas.microsoft.com/office/drawing/2014/main" id="{C16A44E6-ED2F-4D6D-9A50-BE7B2878D6A8}"/>
              </a:ext>
            </a:extLst>
          </p:cNvPr>
          <p:cNvSpPr>
            <a:spLocks noChangeAspect="1"/>
          </p:cNvSpPr>
          <p:nvPr/>
        </p:nvSpPr>
        <p:spPr>
          <a:xfrm>
            <a:off x="5107892" y="4095827"/>
            <a:ext cx="415019" cy="415019"/>
          </a:xfrm>
          <a:prstGeom prst="ellipse">
            <a:avLst/>
          </a:pr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16" name="Google Shape;311;p20">
            <a:extLst>
              <a:ext uri="{FF2B5EF4-FFF2-40B4-BE49-F238E27FC236}">
                <a16:creationId xmlns:a16="http://schemas.microsoft.com/office/drawing/2014/main" id="{2C4A0A71-3DEE-42C2-9163-C9BC3B4C2D4E}"/>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17" name="Group 116">
            <a:extLst>
              <a:ext uri="{FF2B5EF4-FFF2-40B4-BE49-F238E27FC236}">
                <a16:creationId xmlns:a16="http://schemas.microsoft.com/office/drawing/2014/main" id="{3487E77C-E253-4DE4-BB3E-57586396A67E}"/>
              </a:ext>
            </a:extLst>
          </p:cNvPr>
          <p:cNvGrpSpPr/>
          <p:nvPr/>
        </p:nvGrpSpPr>
        <p:grpSpPr>
          <a:xfrm>
            <a:off x="2090313" y="4055040"/>
            <a:ext cx="496596" cy="647522"/>
            <a:chOff x="2090313" y="4055040"/>
            <a:chExt cx="496596" cy="647522"/>
          </a:xfrm>
        </p:grpSpPr>
        <p:cxnSp>
          <p:nvCxnSpPr>
            <p:cNvPr id="118" name="Google Shape;327;p20">
              <a:extLst>
                <a:ext uri="{FF2B5EF4-FFF2-40B4-BE49-F238E27FC236}">
                  <a16:creationId xmlns:a16="http://schemas.microsoft.com/office/drawing/2014/main" id="{3E7C9641-0B0E-4051-8AE0-300D84191E68}"/>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19" name="Google Shape;325;p20">
              <a:extLst>
                <a:ext uri="{FF2B5EF4-FFF2-40B4-BE49-F238E27FC236}">
                  <a16:creationId xmlns:a16="http://schemas.microsoft.com/office/drawing/2014/main" id="{DEAE61B4-1A88-4F0C-9405-A15C4C07C14B}"/>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20" name="Group 119">
              <a:extLst>
                <a:ext uri="{FF2B5EF4-FFF2-40B4-BE49-F238E27FC236}">
                  <a16:creationId xmlns:a16="http://schemas.microsoft.com/office/drawing/2014/main" id="{0C5B56EF-0E62-4923-A631-06E69D00B951}"/>
                </a:ext>
              </a:extLst>
            </p:cNvPr>
            <p:cNvGrpSpPr/>
            <p:nvPr/>
          </p:nvGrpSpPr>
          <p:grpSpPr>
            <a:xfrm>
              <a:off x="2221611" y="4179917"/>
              <a:ext cx="234000" cy="234000"/>
              <a:chOff x="2247014" y="4211643"/>
              <a:chExt cx="183194" cy="183390"/>
            </a:xfrm>
          </p:grpSpPr>
          <p:sp>
            <p:nvSpPr>
              <p:cNvPr id="121" name="Google Shape;331;p20">
                <a:extLst>
                  <a:ext uri="{FF2B5EF4-FFF2-40B4-BE49-F238E27FC236}">
                    <a16:creationId xmlns:a16="http://schemas.microsoft.com/office/drawing/2014/main" id="{E1DFB8CE-F9C7-400D-9B6C-5C5B4D94EB9E}"/>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2" name="Google Shape;332;p20">
                <a:extLst>
                  <a:ext uri="{FF2B5EF4-FFF2-40B4-BE49-F238E27FC236}">
                    <a16:creationId xmlns:a16="http://schemas.microsoft.com/office/drawing/2014/main" id="{E0ECEC70-D75E-42C3-AEA8-8592C6720591}"/>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3" name="Google Shape;333;p20">
                <a:extLst>
                  <a:ext uri="{FF2B5EF4-FFF2-40B4-BE49-F238E27FC236}">
                    <a16:creationId xmlns:a16="http://schemas.microsoft.com/office/drawing/2014/main" id="{E935AFC1-8CD4-4EBC-8C46-E583DCABF4CE}"/>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4" name="Google Shape;334;p20">
                <a:extLst>
                  <a:ext uri="{FF2B5EF4-FFF2-40B4-BE49-F238E27FC236}">
                    <a16:creationId xmlns:a16="http://schemas.microsoft.com/office/drawing/2014/main" id="{9EF33F71-5EE9-4D42-9415-39FA10707C07}"/>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5" name="Google Shape;335;p20">
                <a:extLst>
                  <a:ext uri="{FF2B5EF4-FFF2-40B4-BE49-F238E27FC236}">
                    <a16:creationId xmlns:a16="http://schemas.microsoft.com/office/drawing/2014/main" id="{BF4D959A-14E9-49B6-B9DE-029FA8D0DB12}"/>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6" name="Google Shape;336;p20">
                <a:extLst>
                  <a:ext uri="{FF2B5EF4-FFF2-40B4-BE49-F238E27FC236}">
                    <a16:creationId xmlns:a16="http://schemas.microsoft.com/office/drawing/2014/main" id="{7D22DBD6-8D36-403A-8489-98019489A297}"/>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7" name="Google Shape;337;p20">
                <a:extLst>
                  <a:ext uri="{FF2B5EF4-FFF2-40B4-BE49-F238E27FC236}">
                    <a16:creationId xmlns:a16="http://schemas.microsoft.com/office/drawing/2014/main" id="{3D93A108-752D-4753-8E3B-3AE282A6D695}"/>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8" name="Google Shape;338;p20">
                <a:extLst>
                  <a:ext uri="{FF2B5EF4-FFF2-40B4-BE49-F238E27FC236}">
                    <a16:creationId xmlns:a16="http://schemas.microsoft.com/office/drawing/2014/main" id="{CFD0D7B6-386E-4CEC-B0F3-15FD2FDC9805}"/>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29" name="Google Shape;339;p20">
                <a:extLst>
                  <a:ext uri="{FF2B5EF4-FFF2-40B4-BE49-F238E27FC236}">
                    <a16:creationId xmlns:a16="http://schemas.microsoft.com/office/drawing/2014/main" id="{F6B3BDEA-FAEB-482D-AB49-2497C3F843BE}"/>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0" name="Google Shape;340;p20">
                <a:extLst>
                  <a:ext uri="{FF2B5EF4-FFF2-40B4-BE49-F238E27FC236}">
                    <a16:creationId xmlns:a16="http://schemas.microsoft.com/office/drawing/2014/main" id="{C787C8B7-F6C7-4EEC-B33E-A26DDC03D099}"/>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1" name="Google Shape;341;p20">
                <a:extLst>
                  <a:ext uri="{FF2B5EF4-FFF2-40B4-BE49-F238E27FC236}">
                    <a16:creationId xmlns:a16="http://schemas.microsoft.com/office/drawing/2014/main" id="{14BF4D67-8D3C-4B22-9919-051D9BCFD967}"/>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2" name="Google Shape;342;p20">
                <a:extLst>
                  <a:ext uri="{FF2B5EF4-FFF2-40B4-BE49-F238E27FC236}">
                    <a16:creationId xmlns:a16="http://schemas.microsoft.com/office/drawing/2014/main" id="{5569D9EF-D256-499C-9241-4A5573C35CA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3" name="Google Shape;343;p20">
                <a:extLst>
                  <a:ext uri="{FF2B5EF4-FFF2-40B4-BE49-F238E27FC236}">
                    <a16:creationId xmlns:a16="http://schemas.microsoft.com/office/drawing/2014/main" id="{D0154DA5-4506-411F-8353-03DC84ABEE0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34" name="Group 133">
            <a:extLst>
              <a:ext uri="{FF2B5EF4-FFF2-40B4-BE49-F238E27FC236}">
                <a16:creationId xmlns:a16="http://schemas.microsoft.com/office/drawing/2014/main" id="{1E0B975B-5885-4B87-8518-74EB197A61A7}"/>
              </a:ext>
            </a:extLst>
          </p:cNvPr>
          <p:cNvGrpSpPr/>
          <p:nvPr/>
        </p:nvGrpSpPr>
        <p:grpSpPr>
          <a:xfrm>
            <a:off x="600089" y="4055040"/>
            <a:ext cx="496596" cy="647483"/>
            <a:chOff x="600089" y="4055040"/>
            <a:chExt cx="496596" cy="647483"/>
          </a:xfrm>
        </p:grpSpPr>
        <p:cxnSp>
          <p:nvCxnSpPr>
            <p:cNvPr id="135" name="Google Shape;304;p20">
              <a:extLst>
                <a:ext uri="{FF2B5EF4-FFF2-40B4-BE49-F238E27FC236}">
                  <a16:creationId xmlns:a16="http://schemas.microsoft.com/office/drawing/2014/main" id="{756115E8-6B15-48FB-B4A8-733FE23DEB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136" name="Google Shape;302;p20">
              <a:extLst>
                <a:ext uri="{FF2B5EF4-FFF2-40B4-BE49-F238E27FC236}">
                  <a16:creationId xmlns:a16="http://schemas.microsoft.com/office/drawing/2014/main" id="{FDC42A8A-16CC-45D3-8287-B06B03FCFA7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37" name="Group 136">
              <a:extLst>
                <a:ext uri="{FF2B5EF4-FFF2-40B4-BE49-F238E27FC236}">
                  <a16:creationId xmlns:a16="http://schemas.microsoft.com/office/drawing/2014/main" id="{A2ECA06C-2414-4037-B417-92AA2CB50766}"/>
                </a:ext>
              </a:extLst>
            </p:cNvPr>
            <p:cNvGrpSpPr/>
            <p:nvPr/>
          </p:nvGrpSpPr>
          <p:grpSpPr>
            <a:xfrm>
              <a:off x="718825" y="4179544"/>
              <a:ext cx="252000" cy="234000"/>
              <a:chOff x="760166" y="4216727"/>
              <a:chExt cx="176529" cy="173221"/>
            </a:xfrm>
          </p:grpSpPr>
          <p:sp>
            <p:nvSpPr>
              <p:cNvPr id="138" name="Google Shape;345;p20">
                <a:extLst>
                  <a:ext uri="{FF2B5EF4-FFF2-40B4-BE49-F238E27FC236}">
                    <a16:creationId xmlns:a16="http://schemas.microsoft.com/office/drawing/2014/main" id="{2669B990-7C6F-4E4D-91D1-0D83F03C97C1}"/>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39" name="Google Shape;346;p20">
                <a:extLst>
                  <a:ext uri="{FF2B5EF4-FFF2-40B4-BE49-F238E27FC236}">
                    <a16:creationId xmlns:a16="http://schemas.microsoft.com/office/drawing/2014/main" id="{5D1653A0-34C1-4B63-89E6-97019DE2C37F}"/>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0" name="Google Shape;347;p20">
                <a:extLst>
                  <a:ext uri="{FF2B5EF4-FFF2-40B4-BE49-F238E27FC236}">
                    <a16:creationId xmlns:a16="http://schemas.microsoft.com/office/drawing/2014/main" id="{6128D71A-2DD4-4B26-B182-6D357CA776DC}"/>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141" name="Group 140">
            <a:extLst>
              <a:ext uri="{FF2B5EF4-FFF2-40B4-BE49-F238E27FC236}">
                <a16:creationId xmlns:a16="http://schemas.microsoft.com/office/drawing/2014/main" id="{3C4017C9-54F3-49C4-84FE-3ACA5E93F111}"/>
              </a:ext>
            </a:extLst>
          </p:cNvPr>
          <p:cNvGrpSpPr/>
          <p:nvPr/>
        </p:nvGrpSpPr>
        <p:grpSpPr>
          <a:xfrm>
            <a:off x="3580536" y="4055040"/>
            <a:ext cx="496596" cy="647522"/>
            <a:chOff x="3580536" y="4055040"/>
            <a:chExt cx="496596" cy="647522"/>
          </a:xfrm>
        </p:grpSpPr>
        <p:cxnSp>
          <p:nvCxnSpPr>
            <p:cNvPr id="142" name="Google Shape;312;p20">
              <a:extLst>
                <a:ext uri="{FF2B5EF4-FFF2-40B4-BE49-F238E27FC236}">
                  <a16:creationId xmlns:a16="http://schemas.microsoft.com/office/drawing/2014/main" id="{DC27EF53-D5CC-4C52-9918-D939BA674CBF}"/>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143" name="Google Shape;310;p20">
              <a:extLst>
                <a:ext uri="{FF2B5EF4-FFF2-40B4-BE49-F238E27FC236}">
                  <a16:creationId xmlns:a16="http://schemas.microsoft.com/office/drawing/2014/main" id="{1FC5004D-55F1-40EA-8DED-53356225D78A}"/>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144" name="Google Shape;348;p20">
              <a:extLst>
                <a:ext uri="{FF2B5EF4-FFF2-40B4-BE49-F238E27FC236}">
                  <a16:creationId xmlns:a16="http://schemas.microsoft.com/office/drawing/2014/main" id="{2211C995-22FD-4955-AC75-31C4196D16D5}"/>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145" name="Group 144">
            <a:extLst>
              <a:ext uri="{FF2B5EF4-FFF2-40B4-BE49-F238E27FC236}">
                <a16:creationId xmlns:a16="http://schemas.microsoft.com/office/drawing/2014/main" id="{263A10E2-7DDD-40C1-9582-D59D44ACDAD3}"/>
              </a:ext>
            </a:extLst>
          </p:cNvPr>
          <p:cNvGrpSpPr/>
          <p:nvPr/>
        </p:nvGrpSpPr>
        <p:grpSpPr>
          <a:xfrm>
            <a:off x="5067104" y="4055039"/>
            <a:ext cx="496596" cy="647522"/>
            <a:chOff x="5067104" y="4055039"/>
            <a:chExt cx="496596" cy="647522"/>
          </a:xfrm>
        </p:grpSpPr>
        <p:cxnSp>
          <p:nvCxnSpPr>
            <p:cNvPr id="146" name="Google Shape;312;p20">
              <a:extLst>
                <a:ext uri="{FF2B5EF4-FFF2-40B4-BE49-F238E27FC236}">
                  <a16:creationId xmlns:a16="http://schemas.microsoft.com/office/drawing/2014/main" id="{229E5DB6-6E2E-42F2-8AE9-B593105C7674}"/>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147" name="Google Shape;310;p20">
              <a:extLst>
                <a:ext uri="{FF2B5EF4-FFF2-40B4-BE49-F238E27FC236}">
                  <a16:creationId xmlns:a16="http://schemas.microsoft.com/office/drawing/2014/main" id="{0FF1FC67-2F85-4647-93FB-655D2C51DA2E}"/>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148" name="Google Shape;364;p21">
              <a:extLst>
                <a:ext uri="{FF2B5EF4-FFF2-40B4-BE49-F238E27FC236}">
                  <a16:creationId xmlns:a16="http://schemas.microsoft.com/office/drawing/2014/main" id="{947064B4-E2CF-4055-A537-F303BA034C35}"/>
                </a:ext>
              </a:extLst>
            </p:cNvPr>
            <p:cNvGrpSpPr/>
            <p:nvPr/>
          </p:nvGrpSpPr>
          <p:grpSpPr>
            <a:xfrm>
              <a:off x="5191745" y="4172810"/>
              <a:ext cx="247311" cy="230069"/>
              <a:chOff x="6577238" y="2457221"/>
              <a:chExt cx="332019" cy="310788"/>
            </a:xfrm>
            <a:solidFill>
              <a:schemeClr val="bg1"/>
            </a:solidFill>
          </p:grpSpPr>
          <p:sp>
            <p:nvSpPr>
              <p:cNvPr id="149" name="Google Shape;365;p21">
                <a:extLst>
                  <a:ext uri="{FF2B5EF4-FFF2-40B4-BE49-F238E27FC236}">
                    <a16:creationId xmlns:a16="http://schemas.microsoft.com/office/drawing/2014/main" id="{4DEC13FE-F19A-4434-988A-1A501866C99B}"/>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66;p21">
                <a:extLst>
                  <a:ext uri="{FF2B5EF4-FFF2-40B4-BE49-F238E27FC236}">
                    <a16:creationId xmlns:a16="http://schemas.microsoft.com/office/drawing/2014/main" id="{44E336C6-34CD-4370-AA88-BE482D958E83}"/>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67;p21">
                <a:extLst>
                  <a:ext uri="{FF2B5EF4-FFF2-40B4-BE49-F238E27FC236}">
                    <a16:creationId xmlns:a16="http://schemas.microsoft.com/office/drawing/2014/main" id="{715B7FCC-C11E-482A-B9B6-E8ADE66122AB}"/>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68;p21">
                <a:extLst>
                  <a:ext uri="{FF2B5EF4-FFF2-40B4-BE49-F238E27FC236}">
                    <a16:creationId xmlns:a16="http://schemas.microsoft.com/office/drawing/2014/main" id="{1CEE26FB-AF67-480D-B59D-D030E2EE0D35}"/>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69;p21">
                <a:extLst>
                  <a:ext uri="{FF2B5EF4-FFF2-40B4-BE49-F238E27FC236}">
                    <a16:creationId xmlns:a16="http://schemas.microsoft.com/office/drawing/2014/main" id="{51E074C5-9A2D-4BFC-9B5E-F0F0878B0362}"/>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70;p21">
                <a:extLst>
                  <a:ext uri="{FF2B5EF4-FFF2-40B4-BE49-F238E27FC236}">
                    <a16:creationId xmlns:a16="http://schemas.microsoft.com/office/drawing/2014/main" id="{F39C46E3-1D74-4543-B53D-167744AA4090}"/>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 name="Group 203">
            <a:extLst>
              <a:ext uri="{FF2B5EF4-FFF2-40B4-BE49-F238E27FC236}">
                <a16:creationId xmlns:a16="http://schemas.microsoft.com/office/drawing/2014/main" id="{3604BFFB-A83C-44D3-A8CD-A62E6CD7C4C3}"/>
              </a:ext>
            </a:extLst>
          </p:cNvPr>
          <p:cNvGrpSpPr/>
          <p:nvPr/>
        </p:nvGrpSpPr>
        <p:grpSpPr>
          <a:xfrm>
            <a:off x="6557210" y="4055039"/>
            <a:ext cx="496596" cy="647522"/>
            <a:chOff x="6557210" y="4055039"/>
            <a:chExt cx="496596" cy="647522"/>
          </a:xfrm>
        </p:grpSpPr>
        <p:cxnSp>
          <p:nvCxnSpPr>
            <p:cNvPr id="205" name="Google Shape;312;p20">
              <a:extLst>
                <a:ext uri="{FF2B5EF4-FFF2-40B4-BE49-F238E27FC236}">
                  <a16:creationId xmlns:a16="http://schemas.microsoft.com/office/drawing/2014/main" id="{39D376AB-BAB5-4BAD-9C6F-D6B977EA6B07}"/>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06" name="Google Shape;310;p20">
              <a:extLst>
                <a:ext uri="{FF2B5EF4-FFF2-40B4-BE49-F238E27FC236}">
                  <a16:creationId xmlns:a16="http://schemas.microsoft.com/office/drawing/2014/main" id="{B662136F-B123-4F45-9444-B03D37595D57}"/>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07" name="Google Shape;492;p23">
              <a:extLst>
                <a:ext uri="{FF2B5EF4-FFF2-40B4-BE49-F238E27FC236}">
                  <a16:creationId xmlns:a16="http://schemas.microsoft.com/office/drawing/2014/main" id="{3D3E4626-75EE-47F3-B811-DBEBEC1B5840}"/>
                </a:ext>
              </a:extLst>
            </p:cNvPr>
            <p:cNvGrpSpPr/>
            <p:nvPr/>
          </p:nvGrpSpPr>
          <p:grpSpPr>
            <a:xfrm>
              <a:off x="6681779" y="4170275"/>
              <a:ext cx="252000" cy="252000"/>
              <a:chOff x="2280029" y="1970604"/>
              <a:chExt cx="353631" cy="354395"/>
            </a:xfrm>
          </p:grpSpPr>
          <p:sp>
            <p:nvSpPr>
              <p:cNvPr id="208" name="Google Shape;493;p23">
                <a:extLst>
                  <a:ext uri="{FF2B5EF4-FFF2-40B4-BE49-F238E27FC236}">
                    <a16:creationId xmlns:a16="http://schemas.microsoft.com/office/drawing/2014/main" id="{0EF1F878-4183-4E87-8761-579DCAF407B1}"/>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94;p23">
                <a:extLst>
                  <a:ext uri="{FF2B5EF4-FFF2-40B4-BE49-F238E27FC236}">
                    <a16:creationId xmlns:a16="http://schemas.microsoft.com/office/drawing/2014/main" id="{A1CD8E96-8522-40ED-BBB5-A59372BFE757}"/>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95;p23">
                <a:extLst>
                  <a:ext uri="{FF2B5EF4-FFF2-40B4-BE49-F238E27FC236}">
                    <a16:creationId xmlns:a16="http://schemas.microsoft.com/office/drawing/2014/main" id="{24D56BBF-056A-477F-ADBF-A6E8CC1FBF44}"/>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96;p23">
                <a:extLst>
                  <a:ext uri="{FF2B5EF4-FFF2-40B4-BE49-F238E27FC236}">
                    <a16:creationId xmlns:a16="http://schemas.microsoft.com/office/drawing/2014/main" id="{0063282A-7619-4668-878C-36370B5CD252}"/>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 name="Group 211">
            <a:extLst>
              <a:ext uri="{FF2B5EF4-FFF2-40B4-BE49-F238E27FC236}">
                <a16:creationId xmlns:a16="http://schemas.microsoft.com/office/drawing/2014/main" id="{11B8F5DC-6062-4D76-93FA-48FC83D915E4}"/>
              </a:ext>
            </a:extLst>
          </p:cNvPr>
          <p:cNvGrpSpPr/>
          <p:nvPr/>
        </p:nvGrpSpPr>
        <p:grpSpPr>
          <a:xfrm>
            <a:off x="8047295" y="4055039"/>
            <a:ext cx="496596" cy="647522"/>
            <a:chOff x="8047295" y="4055039"/>
            <a:chExt cx="496596" cy="647522"/>
          </a:xfrm>
        </p:grpSpPr>
        <p:cxnSp>
          <p:nvCxnSpPr>
            <p:cNvPr id="213" name="Google Shape;319;p20">
              <a:extLst>
                <a:ext uri="{FF2B5EF4-FFF2-40B4-BE49-F238E27FC236}">
                  <a16:creationId xmlns:a16="http://schemas.microsoft.com/office/drawing/2014/main" id="{9E5CF5B3-1E51-476F-9EEF-40E8A1780C2F}"/>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14" name="Google Shape;318;p20">
              <a:extLst>
                <a:ext uri="{FF2B5EF4-FFF2-40B4-BE49-F238E27FC236}">
                  <a16:creationId xmlns:a16="http://schemas.microsoft.com/office/drawing/2014/main" id="{60E25E9A-8580-46AC-B827-867B217CB7F1}"/>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15" name="Google Shape;764;p28">
              <a:extLst>
                <a:ext uri="{FF2B5EF4-FFF2-40B4-BE49-F238E27FC236}">
                  <a16:creationId xmlns:a16="http://schemas.microsoft.com/office/drawing/2014/main" id="{40673E57-13AC-49B1-9287-4A77DB688F1C}"/>
                </a:ext>
              </a:extLst>
            </p:cNvPr>
            <p:cNvGrpSpPr/>
            <p:nvPr/>
          </p:nvGrpSpPr>
          <p:grpSpPr>
            <a:xfrm>
              <a:off x="8205593" y="4170275"/>
              <a:ext cx="180000" cy="252000"/>
              <a:chOff x="1333682" y="3344330"/>
              <a:chExt cx="271213" cy="383088"/>
            </a:xfrm>
            <a:solidFill>
              <a:schemeClr val="bg1"/>
            </a:solidFill>
          </p:grpSpPr>
          <p:sp>
            <p:nvSpPr>
              <p:cNvPr id="216" name="Google Shape;765;p28">
                <a:extLst>
                  <a:ext uri="{FF2B5EF4-FFF2-40B4-BE49-F238E27FC236}">
                    <a16:creationId xmlns:a16="http://schemas.microsoft.com/office/drawing/2014/main" id="{CAE0645D-E850-4040-8649-F2AA298B4B65}"/>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66;p28">
                <a:extLst>
                  <a:ext uri="{FF2B5EF4-FFF2-40B4-BE49-F238E27FC236}">
                    <a16:creationId xmlns:a16="http://schemas.microsoft.com/office/drawing/2014/main" id="{E8F57B38-A6F6-4833-BA36-949D5C825BD9}"/>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67;p28">
                <a:extLst>
                  <a:ext uri="{FF2B5EF4-FFF2-40B4-BE49-F238E27FC236}">
                    <a16:creationId xmlns:a16="http://schemas.microsoft.com/office/drawing/2014/main" id="{7BB81CF5-95D2-4775-858F-0CAC52F288EC}"/>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68;p28">
                <a:extLst>
                  <a:ext uri="{FF2B5EF4-FFF2-40B4-BE49-F238E27FC236}">
                    <a16:creationId xmlns:a16="http://schemas.microsoft.com/office/drawing/2014/main" id="{C09A1F64-A3E8-4D98-8A32-08B45E7EF50D}"/>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69;p28">
                <a:extLst>
                  <a:ext uri="{FF2B5EF4-FFF2-40B4-BE49-F238E27FC236}">
                    <a16:creationId xmlns:a16="http://schemas.microsoft.com/office/drawing/2014/main" id="{7FBA0E49-A585-4745-84F2-91FBF78EBC46}"/>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70;p28">
                <a:extLst>
                  <a:ext uri="{FF2B5EF4-FFF2-40B4-BE49-F238E27FC236}">
                    <a16:creationId xmlns:a16="http://schemas.microsoft.com/office/drawing/2014/main" id="{65912C7E-C98B-402C-8CF6-488CAE58EB5A}"/>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71;p28">
                <a:extLst>
                  <a:ext uri="{FF2B5EF4-FFF2-40B4-BE49-F238E27FC236}">
                    <a16:creationId xmlns:a16="http://schemas.microsoft.com/office/drawing/2014/main" id="{6BA2CCD2-4B44-4283-B51F-917E23899689}"/>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72;p28">
                <a:extLst>
                  <a:ext uri="{FF2B5EF4-FFF2-40B4-BE49-F238E27FC236}">
                    <a16:creationId xmlns:a16="http://schemas.microsoft.com/office/drawing/2014/main" id="{5404F941-5A60-44B4-9681-B81E276FE91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73;p28">
                <a:extLst>
                  <a:ext uri="{FF2B5EF4-FFF2-40B4-BE49-F238E27FC236}">
                    <a16:creationId xmlns:a16="http://schemas.microsoft.com/office/drawing/2014/main" id="{99845BF5-C252-4B58-B53A-A144E8962F6E}"/>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74;p28">
                <a:extLst>
                  <a:ext uri="{FF2B5EF4-FFF2-40B4-BE49-F238E27FC236}">
                    <a16:creationId xmlns:a16="http://schemas.microsoft.com/office/drawing/2014/main" id="{BC837B2E-16EF-4600-908C-46ECB40C161F}"/>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75;p28">
                <a:extLst>
                  <a:ext uri="{FF2B5EF4-FFF2-40B4-BE49-F238E27FC236}">
                    <a16:creationId xmlns:a16="http://schemas.microsoft.com/office/drawing/2014/main" id="{A327096E-32F3-49BE-86F3-0B17649E43A2}"/>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 name="Google Shape;317;p20">
            <a:hlinkClick r:id="rId4" action="ppaction://hlinksldjump"/>
            <a:extLst>
              <a:ext uri="{FF2B5EF4-FFF2-40B4-BE49-F238E27FC236}">
                <a16:creationId xmlns:a16="http://schemas.microsoft.com/office/drawing/2014/main" id="{CF9DFF94-81BA-117B-0D3F-205764B9CF3A}"/>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2" name="Rectangle: Rounded Corners 1">
            <a:extLst>
              <a:ext uri="{FF2B5EF4-FFF2-40B4-BE49-F238E27FC236}">
                <a16:creationId xmlns:a16="http://schemas.microsoft.com/office/drawing/2014/main" id="{DBAF5179-B819-CDC3-4324-C737E862996A}"/>
              </a:ext>
            </a:extLst>
          </p:cNvPr>
          <p:cNvSpPr/>
          <p:nvPr/>
        </p:nvSpPr>
        <p:spPr>
          <a:xfrm>
            <a:off x="1096685" y="1094772"/>
            <a:ext cx="6993805" cy="1911650"/>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algn="justLow" rtl="1">
              <a:lnSpc>
                <a:spcPct val="150000"/>
              </a:lnSpc>
            </a:pPr>
            <a:r>
              <a:rPr lang="fa-IR" sz="1600" b="1" dirty="0">
                <a:solidFill>
                  <a:schemeClr val="tx1">
                    <a:lumMod val="95000"/>
                    <a:lumOff val="5000"/>
                  </a:schemeClr>
                </a:solidFill>
                <a:cs typeface="IRAN Sans" panose="020B0400000000000000" pitchFamily="34" charset="-78"/>
              </a:rPr>
              <a:t>مشخصات فنی پيمان:</a:t>
            </a:r>
          </a:p>
          <a:p>
            <a:pPr algn="justLow" rtl="1">
              <a:lnSpc>
                <a:spcPct val="150000"/>
              </a:lnSpc>
            </a:pPr>
            <a:r>
              <a:rPr lang="fa-IR" sz="1600" dirty="0">
                <a:solidFill>
                  <a:schemeClr val="tx1">
                    <a:lumMod val="95000"/>
                    <a:lumOff val="5000"/>
                  </a:schemeClr>
                </a:solidFill>
                <a:cs typeface="IRAN Sans" panose="020B0400000000000000" pitchFamily="34" charset="-78"/>
              </a:rPr>
              <a:t>عمليات اجرا شده بايد مطابق با نقشه هاي ابلاغي و مشخصات فني پيمان باشد. چنانچه در زمان اجرا و در چارچوب پيمان، تغيير در مشخصات فني مورد نياز باشد، دستوركار مربوط به آن، طبق روال تعيين شده در پيمان و مشتمل بر مشخصات فني مربوطه به پيمانکار ابلاغ ميشود. مشاور موظف است مشخصات فني كار را به آزمايشگاه اعلام كند</a:t>
            </a:r>
          </a:p>
        </p:txBody>
      </p:sp>
      <p:sp>
        <p:nvSpPr>
          <p:cNvPr id="3" name="Google Shape;309;p20">
            <a:hlinkClick r:id="" action="ppaction://noaction"/>
            <a:extLst>
              <a:ext uri="{FF2B5EF4-FFF2-40B4-BE49-F238E27FC236}">
                <a16:creationId xmlns:a16="http://schemas.microsoft.com/office/drawing/2014/main" id="{FE3700E3-77CE-A08E-CAAF-344F4FECF66F}"/>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6" name="Google Shape;317;p20">
            <a:hlinkClick r:id="rId4" action="ppaction://hlinksldjump"/>
            <a:extLst>
              <a:ext uri="{FF2B5EF4-FFF2-40B4-BE49-F238E27FC236}">
                <a16:creationId xmlns:a16="http://schemas.microsoft.com/office/drawing/2014/main" id="{15FB0093-6570-289C-F36A-4F8D3BC5DFCA}"/>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Tree>
    <p:extLst>
      <p:ext uri="{BB962C8B-B14F-4D97-AF65-F5344CB8AC3E}">
        <p14:creationId xmlns:p14="http://schemas.microsoft.com/office/powerpoint/2010/main" val="29532534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1000"/>
                                        <p:tgtEl>
                                          <p:spTgt spid="2"/>
                                        </p:tgtEl>
                                      </p:cBhvr>
                                    </p:animEffect>
                                    <p:anim calcmode="lin" valueType="num">
                                      <p:cBhvr>
                                        <p:cTn id="35" dur="1000" fill="hold"/>
                                        <p:tgtEl>
                                          <p:spTgt spid="2"/>
                                        </p:tgtEl>
                                        <p:attrNameLst>
                                          <p:attrName>ppt_x</p:attrName>
                                        </p:attrNameLst>
                                      </p:cBhvr>
                                      <p:tavLst>
                                        <p:tav tm="0">
                                          <p:val>
                                            <p:strVal val="#ppt_x"/>
                                          </p:val>
                                        </p:tav>
                                        <p:tav tm="100000">
                                          <p:val>
                                            <p:strVal val="#ppt_x"/>
                                          </p:val>
                                        </p:tav>
                                      </p:tavLst>
                                    </p:anim>
                                    <p:anim calcmode="lin" valueType="num">
                                      <p:cBhvr>
                                        <p:cTn id="3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2"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6455884" y="230661"/>
            <a:ext cx="2372452"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ازمایش های ارزیابی کیفیت</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78</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 name="Rectangle: Rounded Corners 9">
            <a:extLst>
              <a:ext uri="{FF2B5EF4-FFF2-40B4-BE49-F238E27FC236}">
                <a16:creationId xmlns:a16="http://schemas.microsoft.com/office/drawing/2014/main" id="{7E80DB78-9C44-AEA0-851A-7A2C0608E5BE}"/>
              </a:ext>
            </a:extLst>
          </p:cNvPr>
          <p:cNvSpPr/>
          <p:nvPr/>
        </p:nvSpPr>
        <p:spPr>
          <a:xfrm>
            <a:off x="4322549" y="716731"/>
            <a:ext cx="4187262" cy="3030361"/>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342900" indent="-342900" algn="justLow" rtl="1">
              <a:lnSpc>
                <a:spcPct val="150000"/>
              </a:lnSpc>
              <a:buFont typeface="+mj-lt"/>
              <a:buAutoNum type="arabicParenR"/>
            </a:pPr>
            <a:r>
              <a:rPr lang="fa-IR" sz="1600" dirty="0">
                <a:solidFill>
                  <a:schemeClr val="tx1">
                    <a:lumMod val="95000"/>
                    <a:lumOff val="5000"/>
                  </a:schemeClr>
                </a:solidFill>
                <a:cs typeface="IRAN Sans" panose="020B0400000000000000" pitchFamily="34" charset="-78"/>
              </a:rPr>
              <a:t>آزمايش هاي ارزيابي كيفيت عمليات اجرايي، توسط آزمايشگاه مورد تاييد كارفرما و آزمايشگاه پيمانکار (در صورت استقرار توسط پيمانکار) انجام ميشود. نمونه برداري ها بايد با نظر مهندس مشاور و با تواتر تعيين شده در اسناد و مدارک پيمان صورت گيرد. نحوه محاسبه ضريب پرداخت براساس نتايج آزمايشات انجام شده توسط آزمايشگاه طرف قرارداد كارفرما و آزمايشگاه پيمانکار بايد مطابق با پيوست شماره 5 باشد.</a:t>
            </a:r>
          </a:p>
        </p:txBody>
      </p:sp>
      <p:sp>
        <p:nvSpPr>
          <p:cNvPr id="12" name="Rectangle: Rounded Corners 11">
            <a:extLst>
              <a:ext uri="{FF2B5EF4-FFF2-40B4-BE49-F238E27FC236}">
                <a16:creationId xmlns:a16="http://schemas.microsoft.com/office/drawing/2014/main" id="{DA14AE8A-CA0E-645A-29AD-84F58CCD31B2}"/>
              </a:ext>
            </a:extLst>
          </p:cNvPr>
          <p:cNvSpPr/>
          <p:nvPr/>
        </p:nvSpPr>
        <p:spPr>
          <a:xfrm>
            <a:off x="799113" y="729583"/>
            <a:ext cx="3461913" cy="1911650"/>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342900" indent="-342900" algn="justLow" rtl="1">
              <a:lnSpc>
                <a:spcPct val="150000"/>
              </a:lnSpc>
              <a:buFont typeface="+mj-lt"/>
              <a:buAutoNum type="arabicParenR" startAt="2"/>
            </a:pPr>
            <a:r>
              <a:rPr lang="fa-IR" sz="1600" dirty="0">
                <a:solidFill>
                  <a:schemeClr val="tx1">
                    <a:lumMod val="95000"/>
                    <a:lumOff val="5000"/>
                  </a:schemeClr>
                </a:solidFill>
                <a:cs typeface="IRAN Sans" panose="020B0400000000000000" pitchFamily="34" charset="-78"/>
              </a:rPr>
              <a:t>چنانچه پيمانکار به نتايج آزمايش ها معترض باشد قبل از ارائه صورت وضعيت مربوط به آن عمليات ميتواند اعتراض خود را به مشاور اعلام كند، فرايند رسيدگي بايد طبق مراحل صفحه بعد انجام شود :</a:t>
            </a:r>
          </a:p>
        </p:txBody>
      </p:sp>
      <p:sp>
        <p:nvSpPr>
          <p:cNvPr id="13" name="Google Shape;309;p20">
            <a:hlinkClick r:id="" action="ppaction://noaction"/>
            <a:extLst>
              <a:ext uri="{FF2B5EF4-FFF2-40B4-BE49-F238E27FC236}">
                <a16:creationId xmlns:a16="http://schemas.microsoft.com/office/drawing/2014/main" id="{E3805EB2-DAAE-54FE-EA92-3CA6304CC27A}"/>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15" name="Google Shape;309;p20">
            <a:hlinkClick r:id="rId4" action="ppaction://hlinksldjump"/>
            <a:extLst>
              <a:ext uri="{FF2B5EF4-FFF2-40B4-BE49-F238E27FC236}">
                <a16:creationId xmlns:a16="http://schemas.microsoft.com/office/drawing/2014/main" id="{CDFFD278-98FB-EB9D-307E-5F67C38DBE82}"/>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Tree>
    <p:extLst>
      <p:ext uri="{BB962C8B-B14F-4D97-AF65-F5344CB8AC3E}">
        <p14:creationId xmlns:p14="http://schemas.microsoft.com/office/powerpoint/2010/main" val="2102090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par>
                          <p:cTn id="37" fill="hold">
                            <p:stCondLst>
                              <p:cond delay="3050"/>
                            </p:stCondLst>
                            <p:childTnLst>
                              <p:par>
                                <p:cTn id="38" presetID="42" presetClass="entr" presetSubtype="0" fill="hold" grpId="0" nodeType="after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1000"/>
                                        <p:tgtEl>
                                          <p:spTgt spid="12"/>
                                        </p:tgtEl>
                                      </p:cBhvr>
                                    </p:animEffect>
                                    <p:anim calcmode="lin" valueType="num">
                                      <p:cBhvr>
                                        <p:cTn id="41" dur="1000" fill="hold"/>
                                        <p:tgtEl>
                                          <p:spTgt spid="12"/>
                                        </p:tgtEl>
                                        <p:attrNameLst>
                                          <p:attrName>ppt_x</p:attrName>
                                        </p:attrNameLst>
                                      </p:cBhvr>
                                      <p:tavLst>
                                        <p:tav tm="0">
                                          <p:val>
                                            <p:strVal val="#ppt_x"/>
                                          </p:val>
                                        </p:tav>
                                        <p:tav tm="100000">
                                          <p:val>
                                            <p:strVal val="#ppt_x"/>
                                          </p:val>
                                        </p:tav>
                                      </p:tavLst>
                                    </p:anim>
                                    <p:anim calcmode="lin" valueType="num">
                                      <p:cBhvr>
                                        <p:cTn id="42"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P spid="12"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ازمایش های ارزیابی کیفیت (مرحله اول)</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79</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 name="Rectangle: Rounded Corners 9">
            <a:extLst>
              <a:ext uri="{FF2B5EF4-FFF2-40B4-BE49-F238E27FC236}">
                <a16:creationId xmlns:a16="http://schemas.microsoft.com/office/drawing/2014/main" id="{7E80DB78-9C44-AEA0-851A-7A2C0608E5BE}"/>
              </a:ext>
            </a:extLst>
          </p:cNvPr>
          <p:cNvSpPr/>
          <p:nvPr/>
        </p:nvSpPr>
        <p:spPr>
          <a:xfrm>
            <a:off x="640878" y="929863"/>
            <a:ext cx="7943993" cy="2657457"/>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342900" indent="-342900" algn="r" rtl="1">
              <a:lnSpc>
                <a:spcPct val="150000"/>
              </a:lnSpc>
              <a:buFont typeface="+mj-lt"/>
              <a:buAutoNum type="arabicPeriod"/>
            </a:pPr>
            <a:r>
              <a:rPr lang="fa-IR" sz="1600" b="1" dirty="0">
                <a:solidFill>
                  <a:schemeClr val="tx1">
                    <a:lumMod val="95000"/>
                    <a:lumOff val="5000"/>
                  </a:schemeClr>
                </a:solidFill>
                <a:cs typeface="IRAN Sans" panose="020B0400000000000000" pitchFamily="34" charset="-78"/>
              </a:rPr>
              <a:t>مرحله اول، تکرار آزمايش توسط آزمايشگاه: </a:t>
            </a:r>
            <a:r>
              <a:rPr lang="fa-IR" sz="1600" dirty="0">
                <a:solidFill>
                  <a:schemeClr val="tx1">
                    <a:lumMod val="95000"/>
                    <a:lumOff val="5000"/>
                  </a:schemeClr>
                </a:solidFill>
                <a:cs typeface="IRAN Sans" panose="020B0400000000000000" pitchFamily="34" charset="-78"/>
              </a:rPr>
              <a:t>درخواست انجام مجدد آزمايش ها توسط پيمان کار به طور كتبي به مهندس مشاور ارائه ميشود، مهندس مشاور با اطلاع كارفرما درخواست انجام مجدد آزمايش را به آزمايشگاه اعلام ميكند، آزمايشگاه با دعوت از نمايندگان پيمانکار، مهندس مشاور و كارفرما و با حضور آنها نسبت به نمونه برداري، انجام آزمايش و محاسبات فني و صدور برگه آزمايش جديد اقدام ميكند، چنانچه با تشخيص مشاور نتايج آزمايش مجدد با نتايج اوليه مطابقت داشته باشد هزينه انجام آزمايشات مجدد با اعمال ضريب 1/25 به حساب بدهکاري پيمانکار منظور ميشود. اگر نتايج آزمايش مجدد (با تشخيص مشاور)با نتايج اوليه مطابقت نکند نتايج آزمايشات مجدد در محاسبه ضريب پرداخت استفاده ميشود.</a:t>
            </a:r>
          </a:p>
        </p:txBody>
      </p:sp>
      <p:sp>
        <p:nvSpPr>
          <p:cNvPr id="4" name="Google Shape;309;p20">
            <a:hlinkClick r:id="rId4" action="ppaction://hlinksldjump"/>
            <a:extLst>
              <a:ext uri="{FF2B5EF4-FFF2-40B4-BE49-F238E27FC236}">
                <a16:creationId xmlns:a16="http://schemas.microsoft.com/office/drawing/2014/main" id="{356E25E2-A627-F992-BF6F-F867C2F959D5}"/>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5" name="Google Shape;309;p20">
            <a:hlinkClick r:id="" action="ppaction://noaction"/>
            <a:extLst>
              <a:ext uri="{FF2B5EF4-FFF2-40B4-BE49-F238E27FC236}">
                <a16:creationId xmlns:a16="http://schemas.microsoft.com/office/drawing/2014/main" id="{5FDA1719-7FD9-417F-5826-834E738327DD}"/>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959726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ازمایش های ارزیابی کیفیت (مرحله اول)</a:t>
            </a: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80</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 name="Rectangle: Rounded Corners 9">
            <a:extLst>
              <a:ext uri="{FF2B5EF4-FFF2-40B4-BE49-F238E27FC236}">
                <a16:creationId xmlns:a16="http://schemas.microsoft.com/office/drawing/2014/main" id="{7E80DB78-9C44-AEA0-851A-7A2C0608E5BE}"/>
              </a:ext>
            </a:extLst>
          </p:cNvPr>
          <p:cNvSpPr/>
          <p:nvPr/>
        </p:nvSpPr>
        <p:spPr>
          <a:xfrm>
            <a:off x="1408967" y="853818"/>
            <a:ext cx="6141584" cy="2657457"/>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285750" indent="-285750" algn="r" rtl="1">
              <a:lnSpc>
                <a:spcPct val="150000"/>
              </a:lnSpc>
              <a:buFont typeface="Wingdings" panose="05000000000000000000" pitchFamily="2" charset="2"/>
              <a:buChar char="ü"/>
            </a:pPr>
            <a:r>
              <a:rPr lang="fa-IR" sz="1600" dirty="0">
                <a:solidFill>
                  <a:schemeClr val="tx1">
                    <a:lumMod val="95000"/>
                    <a:lumOff val="5000"/>
                  </a:schemeClr>
                </a:solidFill>
                <a:cs typeface="IRAN Sans" panose="020B0400000000000000" pitchFamily="34" charset="-78"/>
              </a:rPr>
              <a:t>اگر پيمانکار به نتايج يک نمونه معترض باشد، آزمايش مجدد از مجاورت محل نمونه اوليه و نمونه قبل و بعد (در مجموع سه نمونه)انجام ميشود. چنانچه پيمانکار به نتايج يک نمونه تراكم آسفالت يا رويه بتني معترض باشد نمونه برداري از محل نمونه قبل و بعد الزامي نيست.</a:t>
            </a:r>
          </a:p>
          <a:p>
            <a:pPr marL="285750" indent="-285750" algn="r" rtl="1">
              <a:lnSpc>
                <a:spcPct val="150000"/>
              </a:lnSpc>
              <a:buFont typeface="Wingdings" panose="05000000000000000000" pitchFamily="2" charset="2"/>
              <a:buChar char="ü"/>
            </a:pPr>
            <a:r>
              <a:rPr lang="fa-IR" sz="1600" dirty="0">
                <a:solidFill>
                  <a:schemeClr val="tx1">
                    <a:lumMod val="95000"/>
                    <a:lumOff val="5000"/>
                  </a:schemeClr>
                </a:solidFill>
                <a:cs typeface="IRAN Sans" panose="020B0400000000000000" pitchFamily="34" charset="-78"/>
              </a:rPr>
              <a:t>اگر پیمانکار طبق پیوست شماره ۵ به نتایج یک مجموعه برگه آزمایش معترض باشد، انجام آزمایش مجدد باید صورت تصادفی طبق پیوست شماره (۲) و به تعداد اعلام شده در مشخصات فنی پیمان، نمونه برداری و آزمایش تکرار شود.</a:t>
            </a:r>
          </a:p>
        </p:txBody>
      </p:sp>
      <p:sp>
        <p:nvSpPr>
          <p:cNvPr id="4" name="Google Shape;309;p20">
            <a:hlinkClick r:id="rId4" action="ppaction://hlinksldjump"/>
            <a:extLst>
              <a:ext uri="{FF2B5EF4-FFF2-40B4-BE49-F238E27FC236}">
                <a16:creationId xmlns:a16="http://schemas.microsoft.com/office/drawing/2014/main" id="{28C022BE-C5B7-AC53-DA03-B9D88AE4D297}"/>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5" name="Google Shape;309;p20">
            <a:hlinkClick r:id="" action="ppaction://noaction"/>
            <a:extLst>
              <a:ext uri="{FF2B5EF4-FFF2-40B4-BE49-F238E27FC236}">
                <a16:creationId xmlns:a16="http://schemas.microsoft.com/office/drawing/2014/main" id="{940CECEC-4420-1341-FDE5-44CF0F5CE154}"/>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76182716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5563700" y="230661"/>
            <a:ext cx="3264636"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ازمایش های ارزیابی کیفیت (مرحله دوم)</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81</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 name="Rectangle: Rounded Corners 9">
            <a:extLst>
              <a:ext uri="{FF2B5EF4-FFF2-40B4-BE49-F238E27FC236}">
                <a16:creationId xmlns:a16="http://schemas.microsoft.com/office/drawing/2014/main" id="{7E80DB78-9C44-AEA0-851A-7A2C0608E5BE}"/>
              </a:ext>
            </a:extLst>
          </p:cNvPr>
          <p:cNvSpPr/>
          <p:nvPr/>
        </p:nvSpPr>
        <p:spPr>
          <a:xfrm>
            <a:off x="103322" y="665907"/>
            <a:ext cx="8937355" cy="3403265"/>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342900" indent="-342900" algn="r" rtl="1">
              <a:lnSpc>
                <a:spcPct val="150000"/>
              </a:lnSpc>
              <a:buFont typeface="+mj-lt"/>
              <a:buAutoNum type="arabicPeriod" startAt="2"/>
            </a:pPr>
            <a:r>
              <a:rPr lang="fa-IR" sz="1600" b="1" dirty="0">
                <a:solidFill>
                  <a:schemeClr val="tx1">
                    <a:lumMod val="95000"/>
                    <a:lumOff val="5000"/>
                  </a:schemeClr>
                </a:solidFill>
                <a:cs typeface="IRAN Sans" panose="020B0400000000000000" pitchFamily="34" charset="-78"/>
              </a:rPr>
              <a:t>تکرار آزمایش توسط آزمایشگاه دیگر: </a:t>
            </a:r>
            <a:r>
              <a:rPr lang="fa-IR" sz="1600" dirty="0">
                <a:solidFill>
                  <a:schemeClr val="tx1">
                    <a:lumMod val="95000"/>
                    <a:lumOff val="5000"/>
                  </a:schemeClr>
                </a:solidFill>
                <a:cs typeface="IRAN Sans" panose="020B0400000000000000" pitchFamily="34" charset="-78"/>
              </a:rPr>
              <a:t>اگر با انجام مرحله اول،نتایج آزمایشات مجدد با نتایج اولیه مطابقت نداشته باشد و همچنان پیمانکار متقاضی بررسی دوباره باشد،پیمانکار با اطلاع و هماهنگی کارفرما و مهندس مشاور از آزمایشگاه صلاحیت دار دیگری( که مورد تایید کارفرما نیز باشد) برای انجام آزمایش مجدد دعوت به عمل می آورد. اگر با انجام آزمایش مجدد، وجود مغایرت معنادار (با تشخیص مهندس مشاور) محرز شود،نتایج آن مبنای رسیدگی کنترل کیفیت کار خواهد بود. در انجام آزمایش توسط آزمایشگاه دیگر،باید تمام اقدامات نمونه برداری، انجام آزمایش، محاسبات فنی و تنظیم گزارش با حضور نمایندگان مشاور ،کارفرما،پیمانکار و آزمایشگاه اولیه باشد. اگر با انجام آزمایشات مجدد ،اعتراض پیمانکار قابل قبول واقع نشود، چنانچه وقفه ای در روند اجرای عملیات پیش آید، تاخیر مجاز محسوب نمیشود و هزینه انجام آزمایشات نیز توسط پیمانکار پرداخت میشود و در صورت قابل قبول بودن ادعای پیمانکار ،هزینه پرداخت شده توسط پیمانکار با اعمال ضریب ۱/۲۵،به حساب بدهکاری آزمایشگاه مستقر در کارگاه و بستانکاری پیمانکار منظور میشود </a:t>
            </a:r>
          </a:p>
        </p:txBody>
      </p:sp>
      <p:sp>
        <p:nvSpPr>
          <p:cNvPr id="4" name="Google Shape;309;p20">
            <a:hlinkClick r:id="rId4" action="ppaction://hlinksldjump"/>
            <a:extLst>
              <a:ext uri="{FF2B5EF4-FFF2-40B4-BE49-F238E27FC236}">
                <a16:creationId xmlns:a16="http://schemas.microsoft.com/office/drawing/2014/main" id="{C111FEEA-508F-5DFC-A2E9-646F20DE316C}"/>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5" name="Google Shape;309;p20">
            <a:hlinkClick r:id="" action="ppaction://noaction"/>
            <a:extLst>
              <a:ext uri="{FF2B5EF4-FFF2-40B4-BE49-F238E27FC236}">
                <a16:creationId xmlns:a16="http://schemas.microsoft.com/office/drawing/2014/main" id="{B1BC0435-7294-C3C8-01BE-B7AF669D5C71}"/>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10419068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150" name="Google Shape;322;p20">
            <a:extLst>
              <a:ext uri="{FF2B5EF4-FFF2-40B4-BE49-F238E27FC236}">
                <a16:creationId xmlns:a16="http://schemas.microsoft.com/office/drawing/2014/main" id="{CFB8EA47-71C6-44D8-ADE7-B7B1AF8CBFAD}"/>
              </a:ext>
            </a:extLst>
          </p:cNvPr>
          <p:cNvSpPr/>
          <p:nvPr/>
        </p:nvSpPr>
        <p:spPr>
          <a:xfrm>
            <a:off x="4924540" y="230661"/>
            <a:ext cx="3903796" cy="335509"/>
          </a:xfrm>
          <a:prstGeom prst="roundRect">
            <a:avLst>
              <a:gd name="adj" fmla="val 42269"/>
            </a:avLst>
          </a:prstGeom>
          <a:noFill/>
          <a:ln>
            <a:solidFill>
              <a:schemeClr val="accent3"/>
            </a:solidFill>
          </a:ln>
          <a:effectLst>
            <a:outerShdw blurRad="190500" dist="38100" dir="5400000" algn="t" rotWithShape="0">
              <a:schemeClr val="tx1">
                <a:lumMod val="75000"/>
                <a:lumOff val="25000"/>
                <a:alpha val="30000"/>
              </a:schemeClr>
            </a:outerShdw>
          </a:effectLst>
        </p:spPr>
        <p:txBody>
          <a:bodyPr spcFirstLastPara="1" wrap="square" lIns="91425" tIns="91425" rIns="91425" bIns="91425" anchor="ctr" anchorCtr="0">
            <a:noAutofit/>
          </a:bodyPr>
          <a:lstStyle/>
          <a:p>
            <a:pPr lvl="0"/>
            <a:r>
              <a:rPr lang="fa-IR" sz="1600" b="1" dirty="0">
                <a:solidFill>
                  <a:schemeClr val="accent3"/>
                </a:solidFill>
                <a:cs typeface="IRAN Sans" panose="020B0400000000000000" pitchFamily="34" charset="-78"/>
              </a:rPr>
              <a:t>ازمایش های ارزیابی کیفیت (مرحله سوم و چهارم)</a:t>
            </a:r>
            <a:endParaRPr sz="1600" b="1" dirty="0">
              <a:solidFill>
                <a:schemeClr val="accent3"/>
              </a:solidFill>
              <a:cs typeface="IRAN Sans" panose="020B0400000000000000" pitchFamily="34" charset="-78"/>
            </a:endParaRPr>
          </a:p>
        </p:txBody>
      </p:sp>
      <p:sp>
        <p:nvSpPr>
          <p:cNvPr id="153" name="Google Shape;322;p20">
            <a:extLst>
              <a:ext uri="{FF2B5EF4-FFF2-40B4-BE49-F238E27FC236}">
                <a16:creationId xmlns:a16="http://schemas.microsoft.com/office/drawing/2014/main" id="{35E6FD53-A48C-4790-AE0C-AAD93DFF24DA}"/>
              </a:ext>
            </a:extLst>
          </p:cNvPr>
          <p:cNvSpPr/>
          <p:nvPr/>
        </p:nvSpPr>
        <p:spPr>
          <a:xfrm>
            <a:off x="8678668" y="80013"/>
            <a:ext cx="465332" cy="628105"/>
          </a:xfrm>
          <a:prstGeom prst="roundRect">
            <a:avLst>
              <a:gd name="adj" fmla="val 0"/>
            </a:avLst>
          </a:prstGeom>
          <a:solidFill>
            <a:srgbClr val="FBFBFB"/>
          </a:solidFill>
          <a:ln>
            <a:noFill/>
          </a:ln>
          <a:effectLst/>
        </p:spPr>
        <p:txBody>
          <a:bodyPr spcFirstLastPara="1" wrap="square" lIns="91425" tIns="91425" rIns="91425" bIns="91425" anchor="ctr" anchorCtr="0">
            <a:noAutofit/>
          </a:bodyPr>
          <a:lstStyle/>
          <a:p>
            <a:pPr marL="0" lvl="0" indent="0" rtl="0">
              <a:spcBef>
                <a:spcPts val="0"/>
              </a:spcBef>
              <a:spcAft>
                <a:spcPts val="0"/>
              </a:spcAft>
              <a:buNone/>
            </a:pPr>
            <a:endParaRPr sz="1600" b="1">
              <a:solidFill>
                <a:schemeClr val="accent6"/>
              </a:solidFill>
              <a:cs typeface="IRAN Sans" panose="020B0400000000000000" pitchFamily="34" charset="-78"/>
            </a:endParaRPr>
          </a:p>
        </p:txBody>
      </p:sp>
      <p:sp>
        <p:nvSpPr>
          <p:cNvPr id="151" name="Isosceles Triangle 150">
            <a:extLst>
              <a:ext uri="{FF2B5EF4-FFF2-40B4-BE49-F238E27FC236}">
                <a16:creationId xmlns:a16="http://schemas.microsoft.com/office/drawing/2014/main" id="{3782636F-12EE-4351-A442-DB54DA62DA4B}"/>
              </a:ext>
            </a:extLst>
          </p:cNvPr>
          <p:cNvSpPr/>
          <p:nvPr/>
        </p:nvSpPr>
        <p:spPr>
          <a:xfrm rot="5400000">
            <a:off x="8569988" y="189236"/>
            <a:ext cx="628104" cy="410744"/>
          </a:xfrm>
          <a:prstGeom prst="triangle">
            <a:avLst/>
          </a:prstGeom>
          <a:gradFill>
            <a:gsLst>
              <a:gs pos="0">
                <a:schemeClr val="accent3">
                  <a:lumMod val="60000"/>
                  <a:lumOff val="40000"/>
                </a:schemeClr>
              </a:gs>
              <a:gs pos="100000">
                <a:schemeClr val="accent3">
                  <a:lumMod val="5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sp>
        <p:nvSpPr>
          <p:cNvPr id="152" name="Oval 151">
            <a:extLst>
              <a:ext uri="{FF2B5EF4-FFF2-40B4-BE49-F238E27FC236}">
                <a16:creationId xmlns:a16="http://schemas.microsoft.com/office/drawing/2014/main" id="{3D8C007F-6BD1-4C10-8869-98ABE332B5BD}"/>
              </a:ext>
            </a:extLst>
          </p:cNvPr>
          <p:cNvSpPr/>
          <p:nvPr/>
        </p:nvSpPr>
        <p:spPr>
          <a:xfrm>
            <a:off x="8509811" y="222311"/>
            <a:ext cx="337714" cy="343511"/>
          </a:xfrm>
          <a:prstGeom prst="ellipse">
            <a:avLst/>
          </a:prstGeom>
          <a:solidFill>
            <a:schemeClr val="bg1"/>
          </a:solidFill>
          <a:ln>
            <a:noFill/>
          </a:ln>
          <a:effectLst>
            <a:outerShdw blurRad="50800" dist="127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rtlCol="1" anchor="ctr" anchorCtr="1">
            <a:noAutofit/>
          </a:bodyPr>
          <a:lstStyle/>
          <a:p>
            <a:pPr algn="ctr"/>
            <a:r>
              <a:rPr lang="fa-IR" sz="1600" b="1" dirty="0">
                <a:solidFill>
                  <a:schemeClr val="accent3"/>
                </a:solidFill>
                <a:cs typeface="IRAN Sans" panose="020B0400000000000000" pitchFamily="34" charset="-78"/>
              </a:rPr>
              <a:t>82</a:t>
            </a:r>
          </a:p>
        </p:txBody>
      </p:sp>
      <p:sp>
        <p:nvSpPr>
          <p:cNvPr id="200" name="Freeform 117">
            <a:hlinkClick r:id="" action="ppaction://hlinkshowjump?jump=nextslide"/>
            <a:extLst>
              <a:ext uri="{FF2B5EF4-FFF2-40B4-BE49-F238E27FC236}">
                <a16:creationId xmlns:a16="http://schemas.microsoft.com/office/drawing/2014/main" id="{4B16CB26-B595-4169-9CC9-7DB5B0B8E11E}"/>
              </a:ext>
            </a:extLst>
          </p:cNvPr>
          <p:cNvSpPr>
            <a:spLocks noChangeArrowheads="1"/>
          </p:cNvSpPr>
          <p:nvPr/>
        </p:nvSpPr>
        <p:spPr bwMode="auto">
          <a:xfrm>
            <a:off x="8690425" y="4190713"/>
            <a:ext cx="264319" cy="273050"/>
          </a:xfrm>
          <a:custGeom>
            <a:avLst/>
            <a:gdLst>
              <a:gd name="T0" fmla="*/ 527872 w 458"/>
              <a:gd name="T1" fmla="*/ 255696 h 472"/>
              <a:gd name="T2" fmla="*/ 527872 w 458"/>
              <a:gd name="T3" fmla="*/ 255696 h 472"/>
              <a:gd name="T4" fmla="*/ 272599 w 458"/>
              <a:gd name="T5" fmla="*/ 17355 h 472"/>
              <a:gd name="T6" fmla="*/ 237947 w 458"/>
              <a:gd name="T7" fmla="*/ 17355 h 472"/>
              <a:gd name="T8" fmla="*/ 237947 w 458"/>
              <a:gd name="T9" fmla="*/ 50908 h 472"/>
              <a:gd name="T10" fmla="*/ 475893 w 458"/>
              <a:gd name="T11" fmla="*/ 271894 h 472"/>
              <a:gd name="T12" fmla="*/ 237947 w 458"/>
              <a:gd name="T13" fmla="*/ 511391 h 472"/>
              <a:gd name="T14" fmla="*/ 237947 w 458"/>
              <a:gd name="T15" fmla="*/ 544944 h 472"/>
              <a:gd name="T16" fmla="*/ 272599 w 458"/>
              <a:gd name="T17" fmla="*/ 544944 h 472"/>
              <a:gd name="T18" fmla="*/ 527872 w 458"/>
              <a:gd name="T19" fmla="*/ 289248 h 472"/>
              <a:gd name="T20" fmla="*/ 527872 w 458"/>
              <a:gd name="T21" fmla="*/ 271894 h 472"/>
              <a:gd name="T22" fmla="*/ 527872 w 458"/>
              <a:gd name="T23" fmla="*/ 255696 h 472"/>
              <a:gd name="T24" fmla="*/ 255273 w 458"/>
              <a:gd name="T25" fmla="*/ 271894 h 472"/>
              <a:gd name="T26" fmla="*/ 255273 w 458"/>
              <a:gd name="T27" fmla="*/ 271894 h 472"/>
              <a:gd name="T28" fmla="*/ 255273 w 458"/>
              <a:gd name="T29" fmla="*/ 255696 h 472"/>
              <a:gd name="T30" fmla="*/ 50824 w 458"/>
              <a:gd name="T31" fmla="*/ 50908 h 472"/>
              <a:gd name="T32" fmla="*/ 17326 w 458"/>
              <a:gd name="T33" fmla="*/ 50908 h 472"/>
              <a:gd name="T34" fmla="*/ 17326 w 458"/>
              <a:gd name="T35" fmla="*/ 85618 h 472"/>
              <a:gd name="T36" fmla="*/ 204449 w 458"/>
              <a:gd name="T37" fmla="*/ 271894 h 472"/>
              <a:gd name="T38" fmla="*/ 17326 w 458"/>
              <a:gd name="T39" fmla="*/ 459326 h 472"/>
              <a:gd name="T40" fmla="*/ 17326 w 458"/>
              <a:gd name="T41" fmla="*/ 494036 h 472"/>
              <a:gd name="T42" fmla="*/ 50824 w 458"/>
              <a:gd name="T43" fmla="*/ 494036 h 472"/>
              <a:gd name="T44" fmla="*/ 255273 w 458"/>
              <a:gd name="T45" fmla="*/ 289248 h 472"/>
              <a:gd name="T46" fmla="*/ 255273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57" y="221"/>
                </a:moveTo>
                <a:lnTo>
                  <a:pt x="457" y="221"/>
                </a:lnTo>
                <a:cubicBezTo>
                  <a:pt x="236" y="15"/>
                  <a:pt x="236" y="15"/>
                  <a:pt x="236" y="15"/>
                </a:cubicBezTo>
                <a:cubicBezTo>
                  <a:pt x="236" y="0"/>
                  <a:pt x="221" y="0"/>
                  <a:pt x="206" y="15"/>
                </a:cubicBezTo>
                <a:cubicBezTo>
                  <a:pt x="206" y="15"/>
                  <a:pt x="206" y="30"/>
                  <a:pt x="206" y="44"/>
                </a:cubicBezTo>
                <a:cubicBezTo>
                  <a:pt x="412" y="235"/>
                  <a:pt x="412" y="235"/>
                  <a:pt x="412" y="235"/>
                </a:cubicBezTo>
                <a:cubicBezTo>
                  <a:pt x="206" y="442"/>
                  <a:pt x="206" y="442"/>
                  <a:pt x="206" y="442"/>
                </a:cubicBezTo>
                <a:cubicBezTo>
                  <a:pt x="206" y="456"/>
                  <a:pt x="206" y="456"/>
                  <a:pt x="206" y="471"/>
                </a:cubicBezTo>
                <a:cubicBezTo>
                  <a:pt x="221" y="471"/>
                  <a:pt x="236" y="471"/>
                  <a:pt x="236" y="471"/>
                </a:cubicBezTo>
                <a:cubicBezTo>
                  <a:pt x="457" y="250"/>
                  <a:pt x="457" y="250"/>
                  <a:pt x="457" y="250"/>
                </a:cubicBezTo>
                <a:cubicBezTo>
                  <a:pt x="457" y="250"/>
                  <a:pt x="457" y="250"/>
                  <a:pt x="457" y="235"/>
                </a:cubicBezTo>
                <a:cubicBezTo>
                  <a:pt x="457" y="235"/>
                  <a:pt x="457" y="235"/>
                  <a:pt x="457" y="221"/>
                </a:cubicBezTo>
                <a:close/>
                <a:moveTo>
                  <a:pt x="221" y="235"/>
                </a:moveTo>
                <a:lnTo>
                  <a:pt x="221" y="235"/>
                </a:lnTo>
                <a:cubicBezTo>
                  <a:pt x="221" y="235"/>
                  <a:pt x="221" y="235"/>
                  <a:pt x="221" y="221"/>
                </a:cubicBezTo>
                <a:cubicBezTo>
                  <a:pt x="44" y="44"/>
                  <a:pt x="44" y="44"/>
                  <a:pt x="44" y="44"/>
                </a:cubicBezTo>
                <a:cubicBezTo>
                  <a:pt x="30" y="44"/>
                  <a:pt x="15" y="44"/>
                  <a:pt x="15" y="44"/>
                </a:cubicBezTo>
                <a:cubicBezTo>
                  <a:pt x="0" y="59"/>
                  <a:pt x="0" y="74"/>
                  <a:pt x="15" y="74"/>
                </a:cubicBezTo>
                <a:cubicBezTo>
                  <a:pt x="177" y="235"/>
                  <a:pt x="177" y="235"/>
                  <a:pt x="177" y="235"/>
                </a:cubicBezTo>
                <a:cubicBezTo>
                  <a:pt x="15" y="397"/>
                  <a:pt x="15" y="397"/>
                  <a:pt x="15" y="397"/>
                </a:cubicBezTo>
                <a:cubicBezTo>
                  <a:pt x="0" y="412"/>
                  <a:pt x="0" y="427"/>
                  <a:pt x="15" y="427"/>
                </a:cubicBezTo>
                <a:cubicBezTo>
                  <a:pt x="15" y="442"/>
                  <a:pt x="30" y="442"/>
                  <a:pt x="44" y="427"/>
                </a:cubicBezTo>
                <a:cubicBezTo>
                  <a:pt x="221" y="250"/>
                  <a:pt x="221" y="250"/>
                  <a:pt x="221" y="250"/>
                </a:cubicBezTo>
                <a:cubicBezTo>
                  <a:pt x="221" y="250"/>
                  <a:pt x="221" y="250"/>
                  <a:pt x="221" y="235"/>
                </a:cubicBezTo>
                <a:close/>
              </a:path>
            </a:pathLst>
          </a:custGeom>
          <a:solidFill>
            <a:schemeClr val="tx1">
              <a:lumMod val="85000"/>
              <a:lumOff val="15000"/>
            </a:schemeClr>
          </a:solidFill>
          <a:ln>
            <a:noFill/>
          </a:ln>
        </p:spPr>
        <p:txBody>
          <a:bodyPr wrap="none" anchor="ctr"/>
          <a:lstStyle/>
          <a:p>
            <a:endParaRPr lang="en-US" sz="900"/>
          </a:p>
        </p:txBody>
      </p:sp>
      <p:sp>
        <p:nvSpPr>
          <p:cNvPr id="201" name="Freeform 118">
            <a:hlinkClick r:id="" action="ppaction://hlinkshowjump?jump=previousslide"/>
            <a:extLst>
              <a:ext uri="{FF2B5EF4-FFF2-40B4-BE49-F238E27FC236}">
                <a16:creationId xmlns:a16="http://schemas.microsoft.com/office/drawing/2014/main" id="{1AA429D4-15DC-41DF-B049-CC95A5E459EA}"/>
              </a:ext>
            </a:extLst>
          </p:cNvPr>
          <p:cNvSpPr>
            <a:spLocks noChangeArrowheads="1"/>
          </p:cNvSpPr>
          <p:nvPr/>
        </p:nvSpPr>
        <p:spPr bwMode="auto">
          <a:xfrm>
            <a:off x="197976" y="4190713"/>
            <a:ext cx="264319" cy="273050"/>
          </a:xfrm>
          <a:custGeom>
            <a:avLst/>
            <a:gdLst>
              <a:gd name="T0" fmla="*/ 50824 w 458"/>
              <a:gd name="T1" fmla="*/ 271894 h 472"/>
              <a:gd name="T2" fmla="*/ 50824 w 458"/>
              <a:gd name="T3" fmla="*/ 271894 h 472"/>
              <a:gd name="T4" fmla="*/ 289925 w 458"/>
              <a:gd name="T5" fmla="*/ 50908 h 472"/>
              <a:gd name="T6" fmla="*/ 289925 w 458"/>
              <a:gd name="T7" fmla="*/ 17355 h 472"/>
              <a:gd name="T8" fmla="*/ 255273 w 458"/>
              <a:gd name="T9" fmla="*/ 17355 h 472"/>
              <a:gd name="T10" fmla="*/ 17326 w 458"/>
              <a:gd name="T11" fmla="*/ 255696 h 472"/>
              <a:gd name="T12" fmla="*/ 0 w 458"/>
              <a:gd name="T13" fmla="*/ 271894 h 472"/>
              <a:gd name="T14" fmla="*/ 17326 w 458"/>
              <a:gd name="T15" fmla="*/ 289248 h 472"/>
              <a:gd name="T16" fmla="*/ 255273 w 458"/>
              <a:gd name="T17" fmla="*/ 544944 h 472"/>
              <a:gd name="T18" fmla="*/ 289925 w 458"/>
              <a:gd name="T19" fmla="*/ 544944 h 472"/>
              <a:gd name="T20" fmla="*/ 289925 w 458"/>
              <a:gd name="T21" fmla="*/ 511391 h 472"/>
              <a:gd name="T22" fmla="*/ 50824 w 458"/>
              <a:gd name="T23" fmla="*/ 271894 h 472"/>
              <a:gd name="T24" fmla="*/ 339594 w 458"/>
              <a:gd name="T25" fmla="*/ 271894 h 472"/>
              <a:gd name="T26" fmla="*/ 339594 w 458"/>
              <a:gd name="T27" fmla="*/ 271894 h 472"/>
              <a:gd name="T28" fmla="*/ 527872 w 458"/>
              <a:gd name="T29" fmla="*/ 85618 h 472"/>
              <a:gd name="T30" fmla="*/ 527872 w 458"/>
              <a:gd name="T31" fmla="*/ 50908 h 472"/>
              <a:gd name="T32" fmla="*/ 493219 w 458"/>
              <a:gd name="T33" fmla="*/ 50908 h 472"/>
              <a:gd name="T34" fmla="*/ 289925 w 458"/>
              <a:gd name="T35" fmla="*/ 255696 h 472"/>
              <a:gd name="T36" fmla="*/ 272599 w 458"/>
              <a:gd name="T37" fmla="*/ 271894 h 472"/>
              <a:gd name="T38" fmla="*/ 289925 w 458"/>
              <a:gd name="T39" fmla="*/ 289248 h 472"/>
              <a:gd name="T40" fmla="*/ 493219 w 458"/>
              <a:gd name="T41" fmla="*/ 494036 h 472"/>
              <a:gd name="T42" fmla="*/ 527872 w 458"/>
              <a:gd name="T43" fmla="*/ 494036 h 472"/>
              <a:gd name="T44" fmla="*/ 527872 w 458"/>
              <a:gd name="T45" fmla="*/ 459326 h 472"/>
              <a:gd name="T46" fmla="*/ 339594 w 458"/>
              <a:gd name="T47" fmla="*/ 271894 h 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58" h="472">
                <a:moveTo>
                  <a:pt x="44" y="235"/>
                </a:moveTo>
                <a:lnTo>
                  <a:pt x="44" y="235"/>
                </a:lnTo>
                <a:cubicBezTo>
                  <a:pt x="251" y="44"/>
                  <a:pt x="251" y="44"/>
                  <a:pt x="251" y="44"/>
                </a:cubicBezTo>
                <a:cubicBezTo>
                  <a:pt x="265" y="30"/>
                  <a:pt x="265" y="15"/>
                  <a:pt x="251" y="15"/>
                </a:cubicBezTo>
                <a:cubicBezTo>
                  <a:pt x="251" y="0"/>
                  <a:pt x="236" y="0"/>
                  <a:pt x="221" y="15"/>
                </a:cubicBezTo>
                <a:cubicBezTo>
                  <a:pt x="15" y="221"/>
                  <a:pt x="15" y="221"/>
                  <a:pt x="15" y="221"/>
                </a:cubicBezTo>
                <a:cubicBezTo>
                  <a:pt x="0" y="235"/>
                  <a:pt x="0" y="235"/>
                  <a:pt x="0" y="235"/>
                </a:cubicBezTo>
                <a:cubicBezTo>
                  <a:pt x="0" y="250"/>
                  <a:pt x="0" y="250"/>
                  <a:pt x="15" y="250"/>
                </a:cubicBezTo>
                <a:cubicBezTo>
                  <a:pt x="221" y="471"/>
                  <a:pt x="221" y="471"/>
                  <a:pt x="221" y="471"/>
                </a:cubicBezTo>
                <a:cubicBezTo>
                  <a:pt x="236" y="471"/>
                  <a:pt x="251" y="471"/>
                  <a:pt x="251" y="471"/>
                </a:cubicBezTo>
                <a:cubicBezTo>
                  <a:pt x="265" y="456"/>
                  <a:pt x="265" y="456"/>
                  <a:pt x="251" y="442"/>
                </a:cubicBezTo>
                <a:lnTo>
                  <a:pt x="44" y="235"/>
                </a:lnTo>
                <a:close/>
                <a:moveTo>
                  <a:pt x="294" y="235"/>
                </a:moveTo>
                <a:lnTo>
                  <a:pt x="294" y="235"/>
                </a:lnTo>
                <a:cubicBezTo>
                  <a:pt x="457" y="74"/>
                  <a:pt x="457" y="74"/>
                  <a:pt x="457" y="74"/>
                </a:cubicBezTo>
                <a:cubicBezTo>
                  <a:pt x="457" y="74"/>
                  <a:pt x="457" y="59"/>
                  <a:pt x="457" y="44"/>
                </a:cubicBezTo>
                <a:cubicBezTo>
                  <a:pt x="442" y="44"/>
                  <a:pt x="427" y="44"/>
                  <a:pt x="427" y="44"/>
                </a:cubicBezTo>
                <a:cubicBezTo>
                  <a:pt x="251" y="221"/>
                  <a:pt x="251" y="221"/>
                  <a:pt x="251" y="221"/>
                </a:cubicBezTo>
                <a:cubicBezTo>
                  <a:pt x="251" y="235"/>
                  <a:pt x="236" y="235"/>
                  <a:pt x="236" y="235"/>
                </a:cubicBezTo>
                <a:cubicBezTo>
                  <a:pt x="236" y="250"/>
                  <a:pt x="251" y="250"/>
                  <a:pt x="251" y="250"/>
                </a:cubicBezTo>
                <a:cubicBezTo>
                  <a:pt x="427" y="427"/>
                  <a:pt x="427" y="427"/>
                  <a:pt x="427" y="427"/>
                </a:cubicBezTo>
                <a:cubicBezTo>
                  <a:pt x="427" y="442"/>
                  <a:pt x="442" y="442"/>
                  <a:pt x="457" y="427"/>
                </a:cubicBezTo>
                <a:cubicBezTo>
                  <a:pt x="457" y="427"/>
                  <a:pt x="457" y="412"/>
                  <a:pt x="457" y="397"/>
                </a:cubicBezTo>
                <a:lnTo>
                  <a:pt x="294" y="235"/>
                </a:lnTo>
                <a:close/>
              </a:path>
            </a:pathLst>
          </a:custGeom>
          <a:solidFill>
            <a:schemeClr val="tx1">
              <a:lumMod val="85000"/>
              <a:lumOff val="15000"/>
            </a:schemeClr>
          </a:solidFill>
          <a:ln>
            <a:noFill/>
          </a:ln>
        </p:spPr>
        <p:txBody>
          <a:bodyPr wrap="none" anchor="ctr"/>
          <a:lstStyle/>
          <a:p>
            <a:endParaRPr lang="en-US" sz="900"/>
          </a:p>
        </p:txBody>
      </p:sp>
      <p:sp>
        <p:nvSpPr>
          <p:cNvPr id="203" name="Google Shape;299;p20">
            <a:extLst>
              <a:ext uri="{FF2B5EF4-FFF2-40B4-BE49-F238E27FC236}">
                <a16:creationId xmlns:a16="http://schemas.microsoft.com/office/drawing/2014/main" id="{9AD6C10B-888E-4C5A-A248-C6876084B179}"/>
              </a:ext>
            </a:extLst>
          </p:cNvPr>
          <p:cNvSpPr/>
          <p:nvPr/>
        </p:nvSpPr>
        <p:spPr>
          <a:xfrm rot="16200000">
            <a:off x="668344" y="4137841"/>
            <a:ext cx="360083" cy="1490127"/>
          </a:xfrm>
          <a:prstGeom prst="round2SameRect">
            <a:avLst>
              <a:gd name="adj1" fmla="val 50000"/>
              <a:gd name="adj2" fmla="val 0"/>
            </a:avLst>
          </a:prstGeom>
          <a:solidFill>
            <a:schemeClr val="accent1">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5" name="Google Shape;307;p20">
            <a:extLst>
              <a:ext uri="{FF2B5EF4-FFF2-40B4-BE49-F238E27FC236}">
                <a16:creationId xmlns:a16="http://schemas.microsoft.com/office/drawing/2014/main" id="{9EACFED8-2562-404D-82AA-1CD970D51BFE}"/>
              </a:ext>
            </a:extLst>
          </p:cNvPr>
          <p:cNvSpPr/>
          <p:nvPr/>
        </p:nvSpPr>
        <p:spPr>
          <a:xfrm rot="16200000">
            <a:off x="3648806" y="4137841"/>
            <a:ext cx="360083" cy="1490127"/>
          </a:xfrm>
          <a:prstGeom prst="round2SameRect">
            <a:avLst>
              <a:gd name="adj1" fmla="val 0"/>
              <a:gd name="adj2" fmla="val 0"/>
            </a:avLst>
          </a:prstGeom>
          <a:solidFill>
            <a:schemeClr val="accent3">
              <a:lumMod val="75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7" name="Google Shape;315;p20">
            <a:extLst>
              <a:ext uri="{FF2B5EF4-FFF2-40B4-BE49-F238E27FC236}">
                <a16:creationId xmlns:a16="http://schemas.microsoft.com/office/drawing/2014/main" id="{C7AAD7E8-FC99-4273-963A-CF6D2C7C79F6}"/>
              </a:ext>
            </a:extLst>
          </p:cNvPr>
          <p:cNvSpPr/>
          <p:nvPr/>
        </p:nvSpPr>
        <p:spPr>
          <a:xfrm rot="16200000">
            <a:off x="8115573" y="4137839"/>
            <a:ext cx="360083" cy="1490127"/>
          </a:xfrm>
          <a:prstGeom prst="round2SameRect">
            <a:avLst>
              <a:gd name="adj1" fmla="val 0"/>
              <a:gd name="adj2" fmla="val 50000"/>
            </a:avLst>
          </a:prstGeom>
          <a:solidFill>
            <a:schemeClr val="accent6">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09" name="Google Shape;322;p20">
            <a:extLst>
              <a:ext uri="{FF2B5EF4-FFF2-40B4-BE49-F238E27FC236}">
                <a16:creationId xmlns:a16="http://schemas.microsoft.com/office/drawing/2014/main" id="{84F98449-4815-49FA-9A7E-606C93E50FEE}"/>
              </a:ext>
            </a:extLst>
          </p:cNvPr>
          <p:cNvSpPr/>
          <p:nvPr/>
        </p:nvSpPr>
        <p:spPr>
          <a:xfrm rot="16200000">
            <a:off x="2158575" y="4137841"/>
            <a:ext cx="360083" cy="1490127"/>
          </a:xfrm>
          <a:prstGeom prst="round2SameRect">
            <a:avLst>
              <a:gd name="adj1" fmla="val 0"/>
              <a:gd name="adj2" fmla="val 0"/>
            </a:avLst>
          </a:prstGeom>
          <a:solidFill>
            <a:schemeClr val="accent2">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1" name="Google Shape;307;p20">
            <a:extLst>
              <a:ext uri="{FF2B5EF4-FFF2-40B4-BE49-F238E27FC236}">
                <a16:creationId xmlns:a16="http://schemas.microsoft.com/office/drawing/2014/main" id="{15491676-AF59-4040-AEFE-D6A11B92BB49}"/>
              </a:ext>
            </a:extLst>
          </p:cNvPr>
          <p:cNvSpPr/>
          <p:nvPr/>
        </p:nvSpPr>
        <p:spPr>
          <a:xfrm rot="16200000">
            <a:off x="5135374" y="4137840"/>
            <a:ext cx="360083" cy="1490127"/>
          </a:xfrm>
          <a:prstGeom prst="round2SameRect">
            <a:avLst>
              <a:gd name="adj1" fmla="val 0"/>
              <a:gd name="adj2" fmla="val 0"/>
            </a:avLst>
          </a:prstGeom>
          <a:solidFill>
            <a:schemeClr val="accent4">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3" name="Google Shape;307;p20">
            <a:extLst>
              <a:ext uri="{FF2B5EF4-FFF2-40B4-BE49-F238E27FC236}">
                <a16:creationId xmlns:a16="http://schemas.microsoft.com/office/drawing/2014/main" id="{185566A7-55E7-4041-A5F6-16AF43AC933E}"/>
              </a:ext>
            </a:extLst>
          </p:cNvPr>
          <p:cNvSpPr/>
          <p:nvPr/>
        </p:nvSpPr>
        <p:spPr>
          <a:xfrm rot="16200000">
            <a:off x="6625480" y="4137840"/>
            <a:ext cx="360083" cy="1490127"/>
          </a:xfrm>
          <a:prstGeom prst="round2SameRect">
            <a:avLst>
              <a:gd name="adj1" fmla="val 0"/>
              <a:gd name="adj2" fmla="val 0"/>
            </a:avLst>
          </a:prstGeom>
          <a:solidFill>
            <a:schemeClr val="accent5">
              <a:lumMod val="40000"/>
              <a:lumOff val="60000"/>
            </a:schemeClr>
          </a:solidFill>
          <a:ln>
            <a:noFill/>
          </a:ln>
          <a:effectLst>
            <a:outerShdw blurRad="127000" dist="38100" dir="16200000" rotWithShape="0">
              <a:schemeClr val="tx1">
                <a:lumMod val="75000"/>
                <a:lumOff val="25000"/>
                <a:alpha val="3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5" name="Google Shape;326;p20">
            <a:extLst>
              <a:ext uri="{FF2B5EF4-FFF2-40B4-BE49-F238E27FC236}">
                <a16:creationId xmlns:a16="http://schemas.microsoft.com/office/drawing/2014/main" id="{C9557FA2-BC22-4D0E-9671-47312E63E324}"/>
              </a:ext>
            </a:extLst>
          </p:cNvPr>
          <p:cNvSpPr>
            <a:spLocks noChangeAspect="1"/>
          </p:cNvSpPr>
          <p:nvPr/>
        </p:nvSpPr>
        <p:spPr>
          <a:xfrm>
            <a:off x="2129214" y="4100572"/>
            <a:ext cx="415019" cy="415019"/>
          </a:xfrm>
          <a:prstGeom prst="ellipse">
            <a:avLst/>
          </a:prstGeom>
          <a:solidFill>
            <a:schemeClr val="accent2">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6" name="Google Shape;303;p20">
            <a:extLst>
              <a:ext uri="{FF2B5EF4-FFF2-40B4-BE49-F238E27FC236}">
                <a16:creationId xmlns:a16="http://schemas.microsoft.com/office/drawing/2014/main" id="{391BF06C-1CB0-44FA-9CC2-28482BB8FC22}"/>
              </a:ext>
            </a:extLst>
          </p:cNvPr>
          <p:cNvSpPr>
            <a:spLocks noChangeAspect="1"/>
          </p:cNvSpPr>
          <p:nvPr/>
        </p:nvSpPr>
        <p:spPr>
          <a:xfrm>
            <a:off x="640878" y="4095828"/>
            <a:ext cx="415019" cy="415019"/>
          </a:xfrm>
          <a:prstGeom prst="ellipse">
            <a:avLst/>
          </a:prstGeom>
          <a:solidFill>
            <a:schemeClr val="accent1">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7" name="Google Shape;311;p20">
            <a:extLst>
              <a:ext uri="{FF2B5EF4-FFF2-40B4-BE49-F238E27FC236}">
                <a16:creationId xmlns:a16="http://schemas.microsoft.com/office/drawing/2014/main" id="{A6827BF6-47CA-4209-9E85-12930F8F2415}"/>
              </a:ext>
            </a:extLst>
          </p:cNvPr>
          <p:cNvSpPr>
            <a:spLocks noChangeAspect="1"/>
          </p:cNvSpPr>
          <p:nvPr/>
        </p:nvSpPr>
        <p:spPr>
          <a:xfrm>
            <a:off x="3621324" y="4095828"/>
            <a:ext cx="415019" cy="415019"/>
          </a:xfrm>
          <a:prstGeom prst="ellipse">
            <a:avLst/>
          </a:pr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8" name="Google Shape;329;p20">
            <a:extLst>
              <a:ext uri="{FF2B5EF4-FFF2-40B4-BE49-F238E27FC236}">
                <a16:creationId xmlns:a16="http://schemas.microsoft.com/office/drawing/2014/main" id="{C7206F66-82BA-4762-A98A-2F6B7425B00F}"/>
              </a:ext>
            </a:extLst>
          </p:cNvPr>
          <p:cNvSpPr>
            <a:spLocks noChangeAspect="1"/>
          </p:cNvSpPr>
          <p:nvPr/>
        </p:nvSpPr>
        <p:spPr>
          <a:xfrm>
            <a:off x="8088084" y="4095827"/>
            <a:ext cx="415019" cy="415019"/>
          </a:xfrm>
          <a:prstGeom prst="ellipse">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19" name="Google Shape;311;p20">
            <a:extLst>
              <a:ext uri="{FF2B5EF4-FFF2-40B4-BE49-F238E27FC236}">
                <a16:creationId xmlns:a16="http://schemas.microsoft.com/office/drawing/2014/main" id="{C9B5A8AA-9077-408B-A705-D7C0FF25AA1A}"/>
              </a:ext>
            </a:extLst>
          </p:cNvPr>
          <p:cNvSpPr>
            <a:spLocks noChangeAspect="1"/>
          </p:cNvSpPr>
          <p:nvPr/>
        </p:nvSpPr>
        <p:spPr>
          <a:xfrm>
            <a:off x="5107892" y="4095827"/>
            <a:ext cx="415019" cy="415019"/>
          </a:xfrm>
          <a:prstGeom prst="ellipse">
            <a:avLst/>
          </a:prstGeom>
          <a:solidFill>
            <a:schemeClr val="accent4">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0" name="Google Shape;311;p20">
            <a:extLst>
              <a:ext uri="{FF2B5EF4-FFF2-40B4-BE49-F238E27FC236}">
                <a16:creationId xmlns:a16="http://schemas.microsoft.com/office/drawing/2014/main" id="{42CF5E47-E352-4F9D-836C-160AFF95605C}"/>
              </a:ext>
            </a:extLst>
          </p:cNvPr>
          <p:cNvSpPr>
            <a:spLocks noChangeAspect="1"/>
          </p:cNvSpPr>
          <p:nvPr/>
        </p:nvSpPr>
        <p:spPr>
          <a:xfrm>
            <a:off x="6597998" y="4095827"/>
            <a:ext cx="415019" cy="415019"/>
          </a:xfrm>
          <a:prstGeom prst="ellipse">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1" name="Group 220">
            <a:extLst>
              <a:ext uri="{FF2B5EF4-FFF2-40B4-BE49-F238E27FC236}">
                <a16:creationId xmlns:a16="http://schemas.microsoft.com/office/drawing/2014/main" id="{4C84B58A-6B59-4371-8A59-771AE0D4CE7B}"/>
              </a:ext>
            </a:extLst>
          </p:cNvPr>
          <p:cNvGrpSpPr/>
          <p:nvPr/>
        </p:nvGrpSpPr>
        <p:grpSpPr>
          <a:xfrm>
            <a:off x="2090313" y="4055040"/>
            <a:ext cx="496596" cy="647522"/>
            <a:chOff x="2090313" y="4055040"/>
            <a:chExt cx="496596" cy="647522"/>
          </a:xfrm>
        </p:grpSpPr>
        <p:cxnSp>
          <p:nvCxnSpPr>
            <p:cNvPr id="222" name="Google Shape;327;p20">
              <a:extLst>
                <a:ext uri="{FF2B5EF4-FFF2-40B4-BE49-F238E27FC236}">
                  <a16:creationId xmlns:a16="http://schemas.microsoft.com/office/drawing/2014/main" id="{744F1764-CA2D-4AE5-92FC-F38A5DA76885}"/>
                </a:ext>
              </a:extLst>
            </p:cNvPr>
            <p:cNvCxnSpPr>
              <a:cxnSpLocks/>
            </p:cNvCxnSpPr>
            <p:nvPr/>
          </p:nvCxnSpPr>
          <p:spPr>
            <a:xfrm>
              <a:off x="2338611"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23" name="Google Shape;325;p20">
              <a:extLst>
                <a:ext uri="{FF2B5EF4-FFF2-40B4-BE49-F238E27FC236}">
                  <a16:creationId xmlns:a16="http://schemas.microsoft.com/office/drawing/2014/main" id="{2B05CFAC-DCF1-4AEC-8B31-1388546F71F2}"/>
                </a:ext>
              </a:extLst>
            </p:cNvPr>
            <p:cNvSpPr>
              <a:spLocks noChangeAspect="1"/>
            </p:cNvSpPr>
            <p:nvPr/>
          </p:nvSpPr>
          <p:spPr>
            <a:xfrm>
              <a:off x="2090313"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24" name="Group 223">
              <a:extLst>
                <a:ext uri="{FF2B5EF4-FFF2-40B4-BE49-F238E27FC236}">
                  <a16:creationId xmlns:a16="http://schemas.microsoft.com/office/drawing/2014/main" id="{77A6BB00-220A-497B-8176-9D19C40C6507}"/>
                </a:ext>
              </a:extLst>
            </p:cNvPr>
            <p:cNvGrpSpPr/>
            <p:nvPr/>
          </p:nvGrpSpPr>
          <p:grpSpPr>
            <a:xfrm>
              <a:off x="2221611" y="4179917"/>
              <a:ext cx="234000" cy="234000"/>
              <a:chOff x="2247014" y="4211643"/>
              <a:chExt cx="183194" cy="183390"/>
            </a:xfrm>
          </p:grpSpPr>
          <p:sp>
            <p:nvSpPr>
              <p:cNvPr id="225" name="Google Shape;331;p20">
                <a:extLst>
                  <a:ext uri="{FF2B5EF4-FFF2-40B4-BE49-F238E27FC236}">
                    <a16:creationId xmlns:a16="http://schemas.microsoft.com/office/drawing/2014/main" id="{CCDA3BBF-E107-4F85-BDD4-D5FEED1E36A8}"/>
                  </a:ext>
                </a:extLst>
              </p:cNvPr>
              <p:cNvSpPr>
                <a:spLocks noChangeAspect="1"/>
              </p:cNvSpPr>
              <p:nvPr/>
            </p:nvSpPr>
            <p:spPr>
              <a:xfrm>
                <a:off x="2247014" y="4291828"/>
                <a:ext cx="68584" cy="103025"/>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6" name="Google Shape;332;p20">
                <a:extLst>
                  <a:ext uri="{FF2B5EF4-FFF2-40B4-BE49-F238E27FC236}">
                    <a16:creationId xmlns:a16="http://schemas.microsoft.com/office/drawing/2014/main" id="{11DE39D1-5043-4D2D-8070-9F3CFCAF0E3E}"/>
                  </a:ext>
                </a:extLst>
              </p:cNvPr>
              <p:cNvSpPr>
                <a:spLocks noChangeAspect="1"/>
              </p:cNvSpPr>
              <p:nvPr/>
            </p:nvSpPr>
            <p:spPr>
              <a:xfrm>
                <a:off x="2258385" y="4377985"/>
                <a:ext cx="5298" cy="16867"/>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7" name="Google Shape;333;p20">
                <a:extLst>
                  <a:ext uri="{FF2B5EF4-FFF2-40B4-BE49-F238E27FC236}">
                    <a16:creationId xmlns:a16="http://schemas.microsoft.com/office/drawing/2014/main" id="{68AEF29A-7DF1-4ACC-AD06-9A37563959DD}"/>
                  </a:ext>
                </a:extLst>
              </p:cNvPr>
              <p:cNvSpPr>
                <a:spLocks noChangeAspect="1"/>
              </p:cNvSpPr>
              <p:nvPr/>
            </p:nvSpPr>
            <p:spPr>
              <a:xfrm>
                <a:off x="2298534" y="4377985"/>
                <a:ext cx="5315" cy="16867"/>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8" name="Google Shape;334;p20">
                <a:extLst>
                  <a:ext uri="{FF2B5EF4-FFF2-40B4-BE49-F238E27FC236}">
                    <a16:creationId xmlns:a16="http://schemas.microsoft.com/office/drawing/2014/main" id="{8F9D1A04-C221-4EFC-8F36-10278D644D54}"/>
                  </a:ext>
                </a:extLst>
              </p:cNvPr>
              <p:cNvSpPr>
                <a:spLocks noChangeAspect="1"/>
              </p:cNvSpPr>
              <p:nvPr/>
            </p:nvSpPr>
            <p:spPr>
              <a:xfrm>
                <a:off x="2378671" y="4311458"/>
                <a:ext cx="28813" cy="9528"/>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29" name="Google Shape;335;p20">
                <a:extLst>
                  <a:ext uri="{FF2B5EF4-FFF2-40B4-BE49-F238E27FC236}">
                    <a16:creationId xmlns:a16="http://schemas.microsoft.com/office/drawing/2014/main" id="{1E629DB6-F0CF-4A0A-B5BC-5F89B13B3401}"/>
                  </a:ext>
                </a:extLst>
              </p:cNvPr>
              <p:cNvSpPr>
                <a:spLocks noChangeAspect="1"/>
              </p:cNvSpPr>
              <p:nvPr/>
            </p:nvSpPr>
            <p:spPr>
              <a:xfrm>
                <a:off x="2355749" y="4294905"/>
                <a:ext cx="74459" cy="99749"/>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0" name="Google Shape;336;p20">
                <a:extLst>
                  <a:ext uri="{FF2B5EF4-FFF2-40B4-BE49-F238E27FC236}">
                    <a16:creationId xmlns:a16="http://schemas.microsoft.com/office/drawing/2014/main" id="{EF76D34B-FDA3-43E2-B388-0E6035641244}"/>
                  </a:ext>
                </a:extLst>
              </p:cNvPr>
              <p:cNvSpPr>
                <a:spLocks noChangeAspect="1"/>
              </p:cNvSpPr>
              <p:nvPr/>
            </p:nvSpPr>
            <p:spPr>
              <a:xfrm>
                <a:off x="2370245" y="4375238"/>
                <a:ext cx="5496" cy="19795"/>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1" name="Google Shape;337;p20">
                <a:extLst>
                  <a:ext uri="{FF2B5EF4-FFF2-40B4-BE49-F238E27FC236}">
                    <a16:creationId xmlns:a16="http://schemas.microsoft.com/office/drawing/2014/main" id="{908B5A8E-4148-4432-B721-B4C1E2282F01}"/>
                  </a:ext>
                </a:extLst>
              </p:cNvPr>
              <p:cNvSpPr>
                <a:spLocks noChangeAspect="1"/>
              </p:cNvSpPr>
              <p:nvPr/>
            </p:nvSpPr>
            <p:spPr>
              <a:xfrm>
                <a:off x="2410214" y="4375238"/>
                <a:ext cx="5298" cy="19795"/>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2" name="Google Shape;338;p20">
                <a:extLst>
                  <a:ext uri="{FF2B5EF4-FFF2-40B4-BE49-F238E27FC236}">
                    <a16:creationId xmlns:a16="http://schemas.microsoft.com/office/drawing/2014/main" id="{BF9736D9-65DE-40C8-9AB7-0E458FB2831A}"/>
                  </a:ext>
                </a:extLst>
              </p:cNvPr>
              <p:cNvSpPr>
                <a:spLocks noChangeAspect="1"/>
              </p:cNvSpPr>
              <p:nvPr/>
            </p:nvSpPr>
            <p:spPr>
              <a:xfrm>
                <a:off x="2275415" y="4211643"/>
                <a:ext cx="114444" cy="95817"/>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3" name="Google Shape;339;p20">
                <a:extLst>
                  <a:ext uri="{FF2B5EF4-FFF2-40B4-BE49-F238E27FC236}">
                    <a16:creationId xmlns:a16="http://schemas.microsoft.com/office/drawing/2014/main" id="{6A3DBA80-2459-4572-82FF-6A50A0C9D230}"/>
                  </a:ext>
                </a:extLst>
              </p:cNvPr>
              <p:cNvSpPr>
                <a:spLocks noChangeAspect="1"/>
              </p:cNvSpPr>
              <p:nvPr/>
            </p:nvSpPr>
            <p:spPr>
              <a:xfrm>
                <a:off x="2295606" y="4229085"/>
                <a:ext cx="13921" cy="5298"/>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4" name="Google Shape;340;p20">
                <a:extLst>
                  <a:ext uri="{FF2B5EF4-FFF2-40B4-BE49-F238E27FC236}">
                    <a16:creationId xmlns:a16="http://schemas.microsoft.com/office/drawing/2014/main" id="{1995965B-21DB-4D46-903D-BD3F38FE1867}"/>
                  </a:ext>
                </a:extLst>
              </p:cNvPr>
              <p:cNvSpPr>
                <a:spLocks noChangeAspect="1"/>
              </p:cNvSpPr>
              <p:nvPr/>
            </p:nvSpPr>
            <p:spPr>
              <a:xfrm>
                <a:off x="2315582" y="4229085"/>
                <a:ext cx="42734" cy="5298"/>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5" name="Google Shape;341;p20">
                <a:extLst>
                  <a:ext uri="{FF2B5EF4-FFF2-40B4-BE49-F238E27FC236}">
                    <a16:creationId xmlns:a16="http://schemas.microsoft.com/office/drawing/2014/main" id="{D8BC4F62-241C-4C9D-B9CC-1F2C8A3B0EBA}"/>
                  </a:ext>
                </a:extLst>
              </p:cNvPr>
              <p:cNvSpPr>
                <a:spLocks noChangeAspect="1"/>
              </p:cNvSpPr>
              <p:nvPr/>
            </p:nvSpPr>
            <p:spPr>
              <a:xfrm>
                <a:off x="2295606" y="4243187"/>
                <a:ext cx="62710" cy="5496"/>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6" name="Google Shape;342;p20">
                <a:extLst>
                  <a:ext uri="{FF2B5EF4-FFF2-40B4-BE49-F238E27FC236}">
                    <a16:creationId xmlns:a16="http://schemas.microsoft.com/office/drawing/2014/main" id="{F55A0739-F71B-4187-97F4-0844D154E4E2}"/>
                  </a:ext>
                </a:extLst>
              </p:cNvPr>
              <p:cNvSpPr>
                <a:spLocks noChangeAspect="1"/>
              </p:cNvSpPr>
              <p:nvPr/>
            </p:nvSpPr>
            <p:spPr>
              <a:xfrm>
                <a:off x="2295606" y="4257683"/>
                <a:ext cx="42520" cy="5512"/>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37" name="Google Shape;343;p20">
                <a:extLst>
                  <a:ext uri="{FF2B5EF4-FFF2-40B4-BE49-F238E27FC236}">
                    <a16:creationId xmlns:a16="http://schemas.microsoft.com/office/drawing/2014/main" id="{27541B32-04AD-47A1-9B9D-BB9F3E6ABC94}"/>
                  </a:ext>
                </a:extLst>
              </p:cNvPr>
              <p:cNvSpPr>
                <a:spLocks noChangeAspect="1"/>
              </p:cNvSpPr>
              <p:nvPr/>
            </p:nvSpPr>
            <p:spPr>
              <a:xfrm>
                <a:off x="2344379" y="4257683"/>
                <a:ext cx="13937" cy="5512"/>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38" name="Group 237">
            <a:extLst>
              <a:ext uri="{FF2B5EF4-FFF2-40B4-BE49-F238E27FC236}">
                <a16:creationId xmlns:a16="http://schemas.microsoft.com/office/drawing/2014/main" id="{865BF604-DF63-488E-A8A4-7EA0ACCDFB78}"/>
              </a:ext>
            </a:extLst>
          </p:cNvPr>
          <p:cNvGrpSpPr/>
          <p:nvPr/>
        </p:nvGrpSpPr>
        <p:grpSpPr>
          <a:xfrm>
            <a:off x="600089" y="4055040"/>
            <a:ext cx="496596" cy="647483"/>
            <a:chOff x="600089" y="4055040"/>
            <a:chExt cx="496596" cy="647483"/>
          </a:xfrm>
        </p:grpSpPr>
        <p:cxnSp>
          <p:nvCxnSpPr>
            <p:cNvPr id="239" name="Google Shape;304;p20">
              <a:extLst>
                <a:ext uri="{FF2B5EF4-FFF2-40B4-BE49-F238E27FC236}">
                  <a16:creationId xmlns:a16="http://schemas.microsoft.com/office/drawing/2014/main" id="{03499D54-2653-45B8-BDD8-6B2641C5699F}"/>
                </a:ext>
              </a:extLst>
            </p:cNvPr>
            <p:cNvCxnSpPr>
              <a:cxnSpLocks/>
            </p:cNvCxnSpPr>
            <p:nvPr/>
          </p:nvCxnSpPr>
          <p:spPr>
            <a:xfrm>
              <a:off x="848438" y="4558523"/>
              <a:ext cx="0" cy="144000"/>
            </a:xfrm>
            <a:prstGeom prst="straightConnector1">
              <a:avLst/>
            </a:prstGeom>
            <a:noFill/>
            <a:ln w="9525" cap="flat" cmpd="sng">
              <a:solidFill>
                <a:srgbClr val="000000"/>
              </a:solidFill>
              <a:prstDash val="solid"/>
              <a:round/>
              <a:headEnd type="none" w="med" len="med"/>
              <a:tailEnd type="none" w="med" len="med"/>
            </a:ln>
          </p:spPr>
        </p:cxnSp>
        <p:sp>
          <p:nvSpPr>
            <p:cNvPr id="240" name="Google Shape;302;p20">
              <a:extLst>
                <a:ext uri="{FF2B5EF4-FFF2-40B4-BE49-F238E27FC236}">
                  <a16:creationId xmlns:a16="http://schemas.microsoft.com/office/drawing/2014/main" id="{6A8E0936-7CAD-4DF3-95B1-1FDE13D36E58}"/>
                </a:ext>
              </a:extLst>
            </p:cNvPr>
            <p:cNvSpPr>
              <a:spLocks noChangeAspect="1"/>
            </p:cNvSpPr>
            <p:nvPr/>
          </p:nvSpPr>
          <p:spPr>
            <a:xfrm>
              <a:off x="600089"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41" name="Group 240">
              <a:extLst>
                <a:ext uri="{FF2B5EF4-FFF2-40B4-BE49-F238E27FC236}">
                  <a16:creationId xmlns:a16="http://schemas.microsoft.com/office/drawing/2014/main" id="{AB0647C9-CA2D-4790-A706-8A1EFF9FB355}"/>
                </a:ext>
              </a:extLst>
            </p:cNvPr>
            <p:cNvGrpSpPr/>
            <p:nvPr/>
          </p:nvGrpSpPr>
          <p:grpSpPr>
            <a:xfrm>
              <a:off x="718825" y="4179544"/>
              <a:ext cx="252000" cy="234000"/>
              <a:chOff x="760166" y="4216727"/>
              <a:chExt cx="176529" cy="173221"/>
            </a:xfrm>
          </p:grpSpPr>
          <p:sp>
            <p:nvSpPr>
              <p:cNvPr id="242" name="Google Shape;345;p20">
                <a:extLst>
                  <a:ext uri="{FF2B5EF4-FFF2-40B4-BE49-F238E27FC236}">
                    <a16:creationId xmlns:a16="http://schemas.microsoft.com/office/drawing/2014/main" id="{01448A5F-FE19-4582-879B-E3AEE3CEBB89}"/>
                  </a:ext>
                </a:extLst>
              </p:cNvPr>
              <p:cNvSpPr>
                <a:spLocks noChangeAspect="1"/>
              </p:cNvSpPr>
              <p:nvPr/>
            </p:nvSpPr>
            <p:spPr>
              <a:xfrm>
                <a:off x="880452" y="4272575"/>
                <a:ext cx="56243" cy="117175"/>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3" name="Google Shape;346;p20">
                <a:extLst>
                  <a:ext uri="{FF2B5EF4-FFF2-40B4-BE49-F238E27FC236}">
                    <a16:creationId xmlns:a16="http://schemas.microsoft.com/office/drawing/2014/main" id="{3160C29B-2A98-493B-8839-ED0F58E7C7BE}"/>
                  </a:ext>
                </a:extLst>
              </p:cNvPr>
              <p:cNvSpPr>
                <a:spLocks noChangeAspect="1"/>
              </p:cNvSpPr>
              <p:nvPr/>
            </p:nvSpPr>
            <p:spPr>
              <a:xfrm>
                <a:off x="799740" y="4216727"/>
                <a:ext cx="102663" cy="173221"/>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4" name="Google Shape;347;p20">
                <a:extLst>
                  <a:ext uri="{FF2B5EF4-FFF2-40B4-BE49-F238E27FC236}">
                    <a16:creationId xmlns:a16="http://schemas.microsoft.com/office/drawing/2014/main" id="{26BBA7F3-40A0-4425-853A-14F48F27C850}"/>
                  </a:ext>
                </a:extLst>
              </p:cNvPr>
              <p:cNvSpPr>
                <a:spLocks noChangeAspect="1"/>
              </p:cNvSpPr>
              <p:nvPr/>
            </p:nvSpPr>
            <p:spPr>
              <a:xfrm>
                <a:off x="760166" y="4287845"/>
                <a:ext cx="56243" cy="101906"/>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grpSp>
        <p:nvGrpSpPr>
          <p:cNvPr id="245" name="Group 244">
            <a:extLst>
              <a:ext uri="{FF2B5EF4-FFF2-40B4-BE49-F238E27FC236}">
                <a16:creationId xmlns:a16="http://schemas.microsoft.com/office/drawing/2014/main" id="{4A9F6DBB-5613-46D1-BCC7-9DDD52533D34}"/>
              </a:ext>
            </a:extLst>
          </p:cNvPr>
          <p:cNvGrpSpPr/>
          <p:nvPr/>
        </p:nvGrpSpPr>
        <p:grpSpPr>
          <a:xfrm>
            <a:off x="3580536" y="4055040"/>
            <a:ext cx="496596" cy="647522"/>
            <a:chOff x="3580536" y="4055040"/>
            <a:chExt cx="496596" cy="647522"/>
          </a:xfrm>
        </p:grpSpPr>
        <p:cxnSp>
          <p:nvCxnSpPr>
            <p:cNvPr id="246" name="Google Shape;312;p20">
              <a:extLst>
                <a:ext uri="{FF2B5EF4-FFF2-40B4-BE49-F238E27FC236}">
                  <a16:creationId xmlns:a16="http://schemas.microsoft.com/office/drawing/2014/main" id="{F24FAC4E-4A15-473D-BF80-938EF31F7EA3}"/>
                </a:ext>
              </a:extLst>
            </p:cNvPr>
            <p:cNvCxnSpPr>
              <a:cxnSpLocks/>
            </p:cNvCxnSpPr>
            <p:nvPr/>
          </p:nvCxnSpPr>
          <p:spPr>
            <a:xfrm>
              <a:off x="3828834" y="4558562"/>
              <a:ext cx="0" cy="144000"/>
            </a:xfrm>
            <a:prstGeom prst="straightConnector1">
              <a:avLst/>
            </a:prstGeom>
            <a:noFill/>
            <a:ln w="9525" cap="flat" cmpd="sng">
              <a:solidFill>
                <a:srgbClr val="000000"/>
              </a:solidFill>
              <a:prstDash val="solid"/>
              <a:round/>
              <a:headEnd type="none" w="med" len="med"/>
              <a:tailEnd type="none" w="med" len="med"/>
            </a:ln>
          </p:spPr>
        </p:cxnSp>
        <p:sp>
          <p:nvSpPr>
            <p:cNvPr id="247" name="Google Shape;310;p20">
              <a:extLst>
                <a:ext uri="{FF2B5EF4-FFF2-40B4-BE49-F238E27FC236}">
                  <a16:creationId xmlns:a16="http://schemas.microsoft.com/office/drawing/2014/main" id="{15001FEC-3D62-4397-9988-68AFB3A2B4D6}"/>
                </a:ext>
              </a:extLst>
            </p:cNvPr>
            <p:cNvSpPr>
              <a:spLocks noChangeAspect="1"/>
            </p:cNvSpPr>
            <p:nvPr/>
          </p:nvSpPr>
          <p:spPr>
            <a:xfrm>
              <a:off x="3580536" y="4055040"/>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sp>
          <p:nvSpPr>
            <p:cNvPr id="248" name="Google Shape;348;p20">
              <a:extLst>
                <a:ext uri="{FF2B5EF4-FFF2-40B4-BE49-F238E27FC236}">
                  <a16:creationId xmlns:a16="http://schemas.microsoft.com/office/drawing/2014/main" id="{07945BE9-FF2B-48F4-8980-968C410F3CE7}"/>
                </a:ext>
              </a:extLst>
            </p:cNvPr>
            <p:cNvSpPr>
              <a:spLocks noChangeAspect="1"/>
            </p:cNvSpPr>
            <p:nvPr/>
          </p:nvSpPr>
          <p:spPr>
            <a:xfrm>
              <a:off x="3700948" y="4182071"/>
              <a:ext cx="252000" cy="23047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grpSp>
        <p:nvGrpSpPr>
          <p:cNvPr id="249" name="Group 248">
            <a:extLst>
              <a:ext uri="{FF2B5EF4-FFF2-40B4-BE49-F238E27FC236}">
                <a16:creationId xmlns:a16="http://schemas.microsoft.com/office/drawing/2014/main" id="{EF71140B-B38E-4DB1-8F88-C5D45FF6E603}"/>
              </a:ext>
            </a:extLst>
          </p:cNvPr>
          <p:cNvGrpSpPr/>
          <p:nvPr/>
        </p:nvGrpSpPr>
        <p:grpSpPr>
          <a:xfrm>
            <a:off x="5067104" y="4055039"/>
            <a:ext cx="496596" cy="647522"/>
            <a:chOff x="5067104" y="4055039"/>
            <a:chExt cx="496596" cy="647522"/>
          </a:xfrm>
        </p:grpSpPr>
        <p:cxnSp>
          <p:nvCxnSpPr>
            <p:cNvPr id="250" name="Google Shape;312;p20">
              <a:extLst>
                <a:ext uri="{FF2B5EF4-FFF2-40B4-BE49-F238E27FC236}">
                  <a16:creationId xmlns:a16="http://schemas.microsoft.com/office/drawing/2014/main" id="{3AAE1D3A-B9BF-487D-9D01-44F28D3E6E61}"/>
                </a:ext>
              </a:extLst>
            </p:cNvPr>
            <p:cNvCxnSpPr>
              <a:cxnSpLocks/>
            </p:cNvCxnSpPr>
            <p:nvPr/>
          </p:nvCxnSpPr>
          <p:spPr>
            <a:xfrm>
              <a:off x="5315402"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51" name="Google Shape;310;p20">
              <a:extLst>
                <a:ext uri="{FF2B5EF4-FFF2-40B4-BE49-F238E27FC236}">
                  <a16:creationId xmlns:a16="http://schemas.microsoft.com/office/drawing/2014/main" id="{8F531BB1-FEB5-4FB5-BF71-46509983F1BB}"/>
                </a:ext>
              </a:extLst>
            </p:cNvPr>
            <p:cNvSpPr>
              <a:spLocks noChangeAspect="1"/>
            </p:cNvSpPr>
            <p:nvPr/>
          </p:nvSpPr>
          <p:spPr>
            <a:xfrm>
              <a:off x="5067104"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52" name="Google Shape;364;p21">
              <a:extLst>
                <a:ext uri="{FF2B5EF4-FFF2-40B4-BE49-F238E27FC236}">
                  <a16:creationId xmlns:a16="http://schemas.microsoft.com/office/drawing/2014/main" id="{8B68DCE1-185E-48A1-95BD-2FCCF456661E}"/>
                </a:ext>
              </a:extLst>
            </p:cNvPr>
            <p:cNvGrpSpPr/>
            <p:nvPr/>
          </p:nvGrpSpPr>
          <p:grpSpPr>
            <a:xfrm>
              <a:off x="5191745" y="4172810"/>
              <a:ext cx="247311" cy="230069"/>
              <a:chOff x="6577238" y="2457221"/>
              <a:chExt cx="332019" cy="310788"/>
            </a:xfrm>
            <a:solidFill>
              <a:schemeClr val="bg1"/>
            </a:solidFill>
          </p:grpSpPr>
          <p:sp>
            <p:nvSpPr>
              <p:cNvPr id="253" name="Google Shape;365;p21">
                <a:extLst>
                  <a:ext uri="{FF2B5EF4-FFF2-40B4-BE49-F238E27FC236}">
                    <a16:creationId xmlns:a16="http://schemas.microsoft.com/office/drawing/2014/main" id="{8B421ECC-C3D7-4F7F-BEA2-4691ADAB7AAC}"/>
                  </a:ext>
                </a:extLst>
              </p:cNvPr>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66;p21">
                <a:extLst>
                  <a:ext uri="{FF2B5EF4-FFF2-40B4-BE49-F238E27FC236}">
                    <a16:creationId xmlns:a16="http://schemas.microsoft.com/office/drawing/2014/main" id="{F224F63E-869F-475E-9184-ACDE548C297E}"/>
                  </a:ext>
                </a:extLst>
              </p:cNvPr>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67;p21">
                <a:extLst>
                  <a:ext uri="{FF2B5EF4-FFF2-40B4-BE49-F238E27FC236}">
                    <a16:creationId xmlns:a16="http://schemas.microsoft.com/office/drawing/2014/main" id="{B9FD312A-0984-47E4-8311-BE2E419AAF67}"/>
                  </a:ext>
                </a:extLst>
              </p:cNvPr>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68;p21">
                <a:extLst>
                  <a:ext uri="{FF2B5EF4-FFF2-40B4-BE49-F238E27FC236}">
                    <a16:creationId xmlns:a16="http://schemas.microsoft.com/office/drawing/2014/main" id="{B23029E7-A4DF-477F-9073-12CAF76ACF59}"/>
                  </a:ext>
                </a:extLst>
              </p:cNvPr>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69;p21">
                <a:extLst>
                  <a:ext uri="{FF2B5EF4-FFF2-40B4-BE49-F238E27FC236}">
                    <a16:creationId xmlns:a16="http://schemas.microsoft.com/office/drawing/2014/main" id="{6F6DE269-B57B-47FB-B474-C519905DB815}"/>
                  </a:ext>
                </a:extLst>
              </p:cNvPr>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70;p21">
                <a:extLst>
                  <a:ext uri="{FF2B5EF4-FFF2-40B4-BE49-F238E27FC236}">
                    <a16:creationId xmlns:a16="http://schemas.microsoft.com/office/drawing/2014/main" id="{95DE44D3-8394-4E4F-95B6-141F0659D0CD}"/>
                  </a:ext>
                </a:extLst>
              </p:cNvPr>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 name="Group 258">
            <a:extLst>
              <a:ext uri="{FF2B5EF4-FFF2-40B4-BE49-F238E27FC236}">
                <a16:creationId xmlns:a16="http://schemas.microsoft.com/office/drawing/2014/main" id="{F8FECB79-125A-4768-BEA5-09F55B6F672D}"/>
              </a:ext>
            </a:extLst>
          </p:cNvPr>
          <p:cNvGrpSpPr/>
          <p:nvPr/>
        </p:nvGrpSpPr>
        <p:grpSpPr>
          <a:xfrm>
            <a:off x="6557210" y="4055039"/>
            <a:ext cx="496596" cy="647522"/>
            <a:chOff x="6557210" y="4055039"/>
            <a:chExt cx="496596" cy="647522"/>
          </a:xfrm>
        </p:grpSpPr>
        <p:cxnSp>
          <p:nvCxnSpPr>
            <p:cNvPr id="260" name="Google Shape;312;p20">
              <a:extLst>
                <a:ext uri="{FF2B5EF4-FFF2-40B4-BE49-F238E27FC236}">
                  <a16:creationId xmlns:a16="http://schemas.microsoft.com/office/drawing/2014/main" id="{6F159F5D-E93A-47A7-B5B5-C36DE1082F32}"/>
                </a:ext>
              </a:extLst>
            </p:cNvPr>
            <p:cNvCxnSpPr>
              <a:cxnSpLocks/>
            </p:cNvCxnSpPr>
            <p:nvPr/>
          </p:nvCxnSpPr>
          <p:spPr>
            <a:xfrm>
              <a:off x="6805508"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1" name="Google Shape;310;p20">
              <a:extLst>
                <a:ext uri="{FF2B5EF4-FFF2-40B4-BE49-F238E27FC236}">
                  <a16:creationId xmlns:a16="http://schemas.microsoft.com/office/drawing/2014/main" id="{0F2D1251-7978-4C82-8C30-59C95C099DB3}"/>
                </a:ext>
              </a:extLst>
            </p:cNvPr>
            <p:cNvSpPr>
              <a:spLocks noChangeAspect="1"/>
            </p:cNvSpPr>
            <p:nvPr/>
          </p:nvSpPr>
          <p:spPr>
            <a:xfrm>
              <a:off x="6557210"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62" name="Google Shape;492;p23">
              <a:extLst>
                <a:ext uri="{FF2B5EF4-FFF2-40B4-BE49-F238E27FC236}">
                  <a16:creationId xmlns:a16="http://schemas.microsoft.com/office/drawing/2014/main" id="{3B876A8C-D533-4437-B46E-C3745E4BC145}"/>
                </a:ext>
              </a:extLst>
            </p:cNvPr>
            <p:cNvGrpSpPr/>
            <p:nvPr/>
          </p:nvGrpSpPr>
          <p:grpSpPr>
            <a:xfrm>
              <a:off x="6681779" y="4170275"/>
              <a:ext cx="252000" cy="252000"/>
              <a:chOff x="2280029" y="1970604"/>
              <a:chExt cx="353631" cy="354395"/>
            </a:xfrm>
          </p:grpSpPr>
          <p:sp>
            <p:nvSpPr>
              <p:cNvPr id="263" name="Google Shape;493;p23">
                <a:extLst>
                  <a:ext uri="{FF2B5EF4-FFF2-40B4-BE49-F238E27FC236}">
                    <a16:creationId xmlns:a16="http://schemas.microsoft.com/office/drawing/2014/main" id="{8DF34C79-65AE-4555-8AEE-52B58D21F780}"/>
                  </a:ext>
                </a:extLst>
              </p:cNvPr>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4;p23">
                <a:extLst>
                  <a:ext uri="{FF2B5EF4-FFF2-40B4-BE49-F238E27FC236}">
                    <a16:creationId xmlns:a16="http://schemas.microsoft.com/office/drawing/2014/main" id="{0D98E91D-F841-44D4-89CA-192E92D0777A}"/>
                  </a:ext>
                </a:extLst>
              </p:cNvPr>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5;p23">
                <a:extLst>
                  <a:ext uri="{FF2B5EF4-FFF2-40B4-BE49-F238E27FC236}">
                    <a16:creationId xmlns:a16="http://schemas.microsoft.com/office/drawing/2014/main" id="{D0261F18-E954-4831-8A44-B80599396218}"/>
                  </a:ext>
                </a:extLst>
              </p:cNvPr>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6;p23">
                <a:extLst>
                  <a:ext uri="{FF2B5EF4-FFF2-40B4-BE49-F238E27FC236}">
                    <a16:creationId xmlns:a16="http://schemas.microsoft.com/office/drawing/2014/main" id="{FBA3FE66-E27A-4E48-934F-18BEB621448C}"/>
                  </a:ext>
                </a:extLst>
              </p:cNvPr>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 name="Group 266">
            <a:extLst>
              <a:ext uri="{FF2B5EF4-FFF2-40B4-BE49-F238E27FC236}">
                <a16:creationId xmlns:a16="http://schemas.microsoft.com/office/drawing/2014/main" id="{CA9FF7B8-FA80-433B-99DB-CEAFED587C2E}"/>
              </a:ext>
            </a:extLst>
          </p:cNvPr>
          <p:cNvGrpSpPr/>
          <p:nvPr/>
        </p:nvGrpSpPr>
        <p:grpSpPr>
          <a:xfrm>
            <a:off x="8047295" y="4055039"/>
            <a:ext cx="496596" cy="647522"/>
            <a:chOff x="8047295" y="4055039"/>
            <a:chExt cx="496596" cy="647522"/>
          </a:xfrm>
        </p:grpSpPr>
        <p:cxnSp>
          <p:nvCxnSpPr>
            <p:cNvPr id="268" name="Google Shape;319;p20">
              <a:extLst>
                <a:ext uri="{FF2B5EF4-FFF2-40B4-BE49-F238E27FC236}">
                  <a16:creationId xmlns:a16="http://schemas.microsoft.com/office/drawing/2014/main" id="{01DDA432-3727-438E-9479-44510C44EE50}"/>
                </a:ext>
              </a:extLst>
            </p:cNvPr>
            <p:cNvCxnSpPr>
              <a:cxnSpLocks/>
            </p:cNvCxnSpPr>
            <p:nvPr/>
          </p:nvCxnSpPr>
          <p:spPr>
            <a:xfrm>
              <a:off x="8295594" y="4558561"/>
              <a:ext cx="0" cy="144000"/>
            </a:xfrm>
            <a:prstGeom prst="straightConnector1">
              <a:avLst/>
            </a:prstGeom>
            <a:noFill/>
            <a:ln w="9525" cap="flat" cmpd="sng">
              <a:solidFill>
                <a:srgbClr val="000000"/>
              </a:solidFill>
              <a:prstDash val="solid"/>
              <a:round/>
              <a:headEnd type="none" w="med" len="med"/>
              <a:tailEnd type="none" w="med" len="med"/>
            </a:ln>
          </p:spPr>
        </p:cxnSp>
        <p:sp>
          <p:nvSpPr>
            <p:cNvPr id="269" name="Google Shape;318;p20">
              <a:extLst>
                <a:ext uri="{FF2B5EF4-FFF2-40B4-BE49-F238E27FC236}">
                  <a16:creationId xmlns:a16="http://schemas.microsoft.com/office/drawing/2014/main" id="{318FB2DA-9D42-42F6-886B-E4F5AA451C2A}"/>
                </a:ext>
              </a:extLst>
            </p:cNvPr>
            <p:cNvSpPr>
              <a:spLocks noChangeAspect="1"/>
            </p:cNvSpPr>
            <p:nvPr/>
          </p:nvSpPr>
          <p:spPr>
            <a:xfrm>
              <a:off x="8047295" y="4055039"/>
              <a:ext cx="496596" cy="496596"/>
            </a:xfrm>
            <a:prstGeom prst="ellipse">
              <a:avLst/>
            </a:pr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cs typeface="IRAN Sans" panose="020B0400000000000000" pitchFamily="34" charset="-78"/>
              </a:endParaRPr>
            </a:p>
          </p:txBody>
        </p:sp>
        <p:grpSp>
          <p:nvGrpSpPr>
            <p:cNvPr id="270" name="Google Shape;764;p28">
              <a:extLst>
                <a:ext uri="{FF2B5EF4-FFF2-40B4-BE49-F238E27FC236}">
                  <a16:creationId xmlns:a16="http://schemas.microsoft.com/office/drawing/2014/main" id="{FFBACDAB-F561-4669-8ADF-69BDFB3A718B}"/>
                </a:ext>
              </a:extLst>
            </p:cNvPr>
            <p:cNvGrpSpPr/>
            <p:nvPr/>
          </p:nvGrpSpPr>
          <p:grpSpPr>
            <a:xfrm>
              <a:off x="8205593" y="4170275"/>
              <a:ext cx="180000" cy="252000"/>
              <a:chOff x="1333682" y="3344330"/>
              <a:chExt cx="271213" cy="383088"/>
            </a:xfrm>
            <a:solidFill>
              <a:schemeClr val="bg1"/>
            </a:solidFill>
          </p:grpSpPr>
          <p:sp>
            <p:nvSpPr>
              <p:cNvPr id="271" name="Google Shape;765;p28">
                <a:extLst>
                  <a:ext uri="{FF2B5EF4-FFF2-40B4-BE49-F238E27FC236}">
                    <a16:creationId xmlns:a16="http://schemas.microsoft.com/office/drawing/2014/main" id="{6F825BB4-9272-4A99-B066-DCE05E0369EF}"/>
                  </a:ext>
                </a:extLst>
              </p:cNvPr>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66;p28">
                <a:extLst>
                  <a:ext uri="{FF2B5EF4-FFF2-40B4-BE49-F238E27FC236}">
                    <a16:creationId xmlns:a16="http://schemas.microsoft.com/office/drawing/2014/main" id="{D7887DB9-692C-4491-B578-341D7D10006A}"/>
                  </a:ext>
                </a:extLst>
              </p:cNvPr>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67;p28">
                <a:extLst>
                  <a:ext uri="{FF2B5EF4-FFF2-40B4-BE49-F238E27FC236}">
                    <a16:creationId xmlns:a16="http://schemas.microsoft.com/office/drawing/2014/main" id="{7834EA78-5E6E-47FE-A5CC-1EE6B4143785}"/>
                  </a:ext>
                </a:extLst>
              </p:cNvPr>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68;p28">
                <a:extLst>
                  <a:ext uri="{FF2B5EF4-FFF2-40B4-BE49-F238E27FC236}">
                    <a16:creationId xmlns:a16="http://schemas.microsoft.com/office/drawing/2014/main" id="{D71671DE-3BA3-492C-8711-BEF285B7BEB1}"/>
                  </a:ext>
                </a:extLst>
              </p:cNvPr>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69;p28">
                <a:extLst>
                  <a:ext uri="{FF2B5EF4-FFF2-40B4-BE49-F238E27FC236}">
                    <a16:creationId xmlns:a16="http://schemas.microsoft.com/office/drawing/2014/main" id="{70D2BBB5-DBE5-4341-B6A9-D00EEC6E0D32}"/>
                  </a:ext>
                </a:extLst>
              </p:cNvPr>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70;p28">
                <a:extLst>
                  <a:ext uri="{FF2B5EF4-FFF2-40B4-BE49-F238E27FC236}">
                    <a16:creationId xmlns:a16="http://schemas.microsoft.com/office/drawing/2014/main" id="{7B5CB5B9-7A3C-4475-B1DD-C4DB49056E3D}"/>
                  </a:ext>
                </a:extLst>
              </p:cNvPr>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71;p28">
                <a:extLst>
                  <a:ext uri="{FF2B5EF4-FFF2-40B4-BE49-F238E27FC236}">
                    <a16:creationId xmlns:a16="http://schemas.microsoft.com/office/drawing/2014/main" id="{F3274AB1-A7F2-4C3B-B236-A002D43FCC3F}"/>
                  </a:ext>
                </a:extLst>
              </p:cNvPr>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72;p28">
                <a:extLst>
                  <a:ext uri="{FF2B5EF4-FFF2-40B4-BE49-F238E27FC236}">
                    <a16:creationId xmlns:a16="http://schemas.microsoft.com/office/drawing/2014/main" id="{026C3B8C-4002-4CC8-90DF-2FD67B42F590}"/>
                  </a:ext>
                </a:extLst>
              </p:cNvPr>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73;p28">
                <a:extLst>
                  <a:ext uri="{FF2B5EF4-FFF2-40B4-BE49-F238E27FC236}">
                    <a16:creationId xmlns:a16="http://schemas.microsoft.com/office/drawing/2014/main" id="{7404E3DA-F63B-4326-A4F1-F2ACC56050B8}"/>
                  </a:ext>
                </a:extLst>
              </p:cNvPr>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74;p28">
                <a:extLst>
                  <a:ext uri="{FF2B5EF4-FFF2-40B4-BE49-F238E27FC236}">
                    <a16:creationId xmlns:a16="http://schemas.microsoft.com/office/drawing/2014/main" id="{C2957FBA-4F74-4791-A050-F2B77FA2A998}"/>
                  </a:ext>
                </a:extLst>
              </p:cNvPr>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75;p28">
                <a:extLst>
                  <a:ext uri="{FF2B5EF4-FFF2-40B4-BE49-F238E27FC236}">
                    <a16:creationId xmlns:a16="http://schemas.microsoft.com/office/drawing/2014/main" id="{18CD43F8-66FC-4318-97AC-E0F155AC4590}"/>
                  </a:ext>
                </a:extLst>
              </p:cNvPr>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Google Shape;317;p20">
            <a:hlinkClick r:id="rId3" action="ppaction://hlinksldjump"/>
            <a:extLst>
              <a:ext uri="{FF2B5EF4-FFF2-40B4-BE49-F238E27FC236}">
                <a16:creationId xmlns:a16="http://schemas.microsoft.com/office/drawing/2014/main" id="{E640C16A-0380-46D9-D14D-F88020CDF569}"/>
              </a:ext>
            </a:extLst>
          </p:cNvPr>
          <p:cNvSpPr txBox="1"/>
          <p:nvPr/>
        </p:nvSpPr>
        <p:spPr>
          <a:xfrm>
            <a:off x="3231559" y="4750662"/>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ازمایش</a:t>
            </a:r>
          </a:p>
        </p:txBody>
      </p:sp>
      <p:sp>
        <p:nvSpPr>
          <p:cNvPr id="11" name="Google Shape;317;p20">
            <a:hlinkClick r:id="rId3" action="ppaction://hlinksldjump"/>
            <a:extLst>
              <a:ext uri="{FF2B5EF4-FFF2-40B4-BE49-F238E27FC236}">
                <a16:creationId xmlns:a16="http://schemas.microsoft.com/office/drawing/2014/main" id="{E011A8F9-A5A0-A3A3-8433-4B7E6EF794E2}"/>
              </a:ext>
            </a:extLst>
          </p:cNvPr>
          <p:cNvSpPr txBox="1"/>
          <p:nvPr/>
        </p:nvSpPr>
        <p:spPr>
          <a:xfrm>
            <a:off x="7675577"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مقدمه</a:t>
            </a:r>
          </a:p>
        </p:txBody>
      </p:sp>
      <p:sp>
        <p:nvSpPr>
          <p:cNvPr id="10" name="Rectangle: Rounded Corners 9">
            <a:extLst>
              <a:ext uri="{FF2B5EF4-FFF2-40B4-BE49-F238E27FC236}">
                <a16:creationId xmlns:a16="http://schemas.microsoft.com/office/drawing/2014/main" id="{7E80DB78-9C44-AEA0-851A-7A2C0608E5BE}"/>
              </a:ext>
            </a:extLst>
          </p:cNvPr>
          <p:cNvSpPr/>
          <p:nvPr/>
        </p:nvSpPr>
        <p:spPr>
          <a:xfrm>
            <a:off x="1554749" y="1094772"/>
            <a:ext cx="6281361" cy="1911650"/>
          </a:xfrm>
          <a:prstGeom prst="roundRect">
            <a:avLst>
              <a:gd name="adj" fmla="val 2148"/>
            </a:avLst>
          </a:prstGeom>
          <a:solidFill>
            <a:schemeClr val="bg1">
              <a:alpha val="90000"/>
            </a:schemeClr>
          </a:solidFill>
          <a:ln>
            <a:solidFill>
              <a:schemeClr val="accent4"/>
            </a:solidFill>
          </a:ln>
          <a:effectLst>
            <a:outerShdw blurRad="190500" dist="127000" dir="8100000" algn="tr" rotWithShape="0">
              <a:schemeClr val="tx1">
                <a:lumMod val="75000"/>
                <a:lumOff val="25000"/>
                <a:alpha val="10000"/>
              </a:schemeClr>
            </a:outerShdw>
          </a:effectLst>
        </p:spPr>
        <p:txBody>
          <a:bodyPr wrap="square">
            <a:spAutoFit/>
          </a:bodyPr>
          <a:lstStyle/>
          <a:p>
            <a:pPr marL="342900" indent="-342900" algn="r" rtl="1">
              <a:lnSpc>
                <a:spcPct val="150000"/>
              </a:lnSpc>
              <a:buFont typeface="+mj-lt"/>
              <a:buAutoNum type="arabicPeriod" startAt="3"/>
            </a:pPr>
            <a:r>
              <a:rPr lang="fa-IR" sz="1600" dirty="0">
                <a:solidFill>
                  <a:schemeClr val="tx1">
                    <a:lumMod val="95000"/>
                    <a:lumOff val="5000"/>
                  </a:schemeClr>
                </a:solidFill>
                <a:cs typeface="IRAN Sans" panose="020B0400000000000000" pitchFamily="34" charset="-78"/>
              </a:rPr>
              <a:t>برای اعتراض به یک نمونه آزمایش یا یک مجموعه آزمایش ،مانند شیوه اعلامی در بند  «آ» عمل میشود.</a:t>
            </a:r>
          </a:p>
          <a:p>
            <a:pPr marL="342900" indent="-342900" algn="r" rtl="1">
              <a:lnSpc>
                <a:spcPct val="150000"/>
              </a:lnSpc>
              <a:buFont typeface="+mj-lt"/>
              <a:buAutoNum type="arabicPeriod" startAt="3"/>
            </a:pPr>
            <a:r>
              <a:rPr lang="fa-IR" sz="1600" dirty="0">
                <a:solidFill>
                  <a:schemeClr val="tx1">
                    <a:lumMod val="95000"/>
                    <a:lumOff val="5000"/>
                  </a:schemeClr>
                </a:solidFill>
                <a:cs typeface="IRAN Sans" panose="020B0400000000000000" pitchFamily="34" charset="-78"/>
              </a:rPr>
              <a:t>چنانچه اعتراض پیمانکار در سه نوبت پس از بررسی در مرحله مربوط به بند( به طور جداگانه)«آ» یا «ب» نادرست تشخیص داده شود اعتراض های بعدی قابل رسیدگی نخواهد بود. </a:t>
            </a:r>
          </a:p>
        </p:txBody>
      </p:sp>
      <p:sp>
        <p:nvSpPr>
          <p:cNvPr id="4" name="Google Shape;309;p20">
            <a:hlinkClick r:id="rId4" action="ppaction://hlinksldjump"/>
            <a:extLst>
              <a:ext uri="{FF2B5EF4-FFF2-40B4-BE49-F238E27FC236}">
                <a16:creationId xmlns:a16="http://schemas.microsoft.com/office/drawing/2014/main" id="{A53F40C3-10C7-DB8F-9740-FA30A8E99438}"/>
              </a:ext>
            </a:extLst>
          </p:cNvPr>
          <p:cNvSpPr txBox="1"/>
          <p:nvPr/>
        </p:nvSpPr>
        <p:spPr>
          <a:xfrm>
            <a:off x="4695430"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2000"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مشخصات</a:t>
            </a:r>
          </a:p>
        </p:txBody>
      </p:sp>
      <p:sp>
        <p:nvSpPr>
          <p:cNvPr id="5" name="Google Shape;309;p20">
            <a:hlinkClick r:id="" action="ppaction://noaction"/>
            <a:extLst>
              <a:ext uri="{FF2B5EF4-FFF2-40B4-BE49-F238E27FC236}">
                <a16:creationId xmlns:a16="http://schemas.microsoft.com/office/drawing/2014/main" id="{73FAB6D9-4662-217A-7BD2-ED75CCF24F76}"/>
              </a:ext>
            </a:extLst>
          </p:cNvPr>
          <p:cNvSpPr txBox="1"/>
          <p:nvPr/>
        </p:nvSpPr>
        <p:spPr>
          <a:xfrm>
            <a:off x="6185536" y="4737814"/>
            <a:ext cx="1240075" cy="29126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تعاریف</a:t>
            </a:r>
            <a:endParaRPr sz="1800" b="1" dirty="0">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Tree>
    <p:extLst>
      <p:ext uri="{BB962C8B-B14F-4D97-AF65-F5344CB8AC3E}">
        <p14:creationId xmlns:p14="http://schemas.microsoft.com/office/powerpoint/2010/main" val="20472373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1+#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1" presetClass="entr" presetSubtype="0" fill="hold" grpId="0" nodeType="afterEffect">
                                  <p:stCondLst>
                                    <p:cond delay="0"/>
                                  </p:stCondLst>
                                  <p:iterate type="lt">
                                    <p:tmPct val="10000"/>
                                  </p:iterate>
                                  <p:childTnLst>
                                    <p:set>
                                      <p:cBhvr>
                                        <p:cTn id="11" dur="1" fill="hold">
                                          <p:stCondLst>
                                            <p:cond delay="0"/>
                                          </p:stCondLst>
                                        </p:cTn>
                                        <p:tgtEl>
                                          <p:spTgt spid="152"/>
                                        </p:tgtEl>
                                        <p:attrNameLst>
                                          <p:attrName>style.visibility</p:attrName>
                                        </p:attrNameLst>
                                      </p:cBhvr>
                                      <p:to>
                                        <p:strVal val="visible"/>
                                      </p:to>
                                    </p:set>
                                    <p:anim calcmode="lin" valueType="num">
                                      <p:cBhvr>
                                        <p:cTn id="12"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152"/>
                                        </p:tgtEl>
                                        <p:attrNameLst>
                                          <p:attrName>ppt_y</p:attrName>
                                        </p:attrNameLst>
                                      </p:cBhvr>
                                      <p:tavLst>
                                        <p:tav tm="0">
                                          <p:val>
                                            <p:strVal val="#ppt_y"/>
                                          </p:val>
                                        </p:tav>
                                        <p:tav tm="100000">
                                          <p:val>
                                            <p:strVal val="#ppt_y"/>
                                          </p:val>
                                        </p:tav>
                                      </p:tavLst>
                                    </p:anim>
                                    <p:anim calcmode="lin" valueType="num">
                                      <p:cBhvr>
                                        <p:cTn id="14"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152"/>
                                        </p:tgtEl>
                                      </p:cBhvr>
                                    </p:animEffect>
                                  </p:childTnLst>
                                </p:cTn>
                              </p:par>
                            </p:childTnLst>
                          </p:cTn>
                        </p:par>
                        <p:par>
                          <p:cTn id="17" fill="hold">
                            <p:stCondLst>
                              <p:cond delay="1050"/>
                            </p:stCondLst>
                            <p:childTnLst>
                              <p:par>
                                <p:cTn id="18" presetID="2" presetClass="entr" presetSubtype="2" fill="hold" grpId="0" nodeType="afterEffect">
                                  <p:stCondLst>
                                    <p:cond delay="0"/>
                                  </p:stCondLst>
                                  <p:childTnLst>
                                    <p:set>
                                      <p:cBhvr>
                                        <p:cTn id="19" dur="1" fill="hold">
                                          <p:stCondLst>
                                            <p:cond delay="0"/>
                                          </p:stCondLst>
                                        </p:cTn>
                                        <p:tgtEl>
                                          <p:spTgt spid="150"/>
                                        </p:tgtEl>
                                        <p:attrNameLst>
                                          <p:attrName>style.visibility</p:attrName>
                                        </p:attrNameLst>
                                      </p:cBhvr>
                                      <p:to>
                                        <p:strVal val="visible"/>
                                      </p:to>
                                    </p:set>
                                    <p:anim calcmode="lin" valueType="num">
                                      <p:cBhvr additive="base">
                                        <p:cTn id="20" dur="500" fill="hold"/>
                                        <p:tgtEl>
                                          <p:spTgt spid="150"/>
                                        </p:tgtEl>
                                        <p:attrNameLst>
                                          <p:attrName>ppt_x</p:attrName>
                                        </p:attrNameLst>
                                      </p:cBhvr>
                                      <p:tavLst>
                                        <p:tav tm="0">
                                          <p:val>
                                            <p:strVal val="1+#ppt_w/2"/>
                                          </p:val>
                                        </p:tav>
                                        <p:tav tm="100000">
                                          <p:val>
                                            <p:strVal val="#ppt_x"/>
                                          </p:val>
                                        </p:tav>
                                      </p:tavLst>
                                    </p:anim>
                                    <p:anim calcmode="lin" valueType="num">
                                      <p:cBhvr additive="base">
                                        <p:cTn id="21" dur="500" fill="hold"/>
                                        <p:tgtEl>
                                          <p:spTgt spid="150"/>
                                        </p:tgtEl>
                                        <p:attrNameLst>
                                          <p:attrName>ppt_y</p:attrName>
                                        </p:attrNameLst>
                                      </p:cBhvr>
                                      <p:tavLst>
                                        <p:tav tm="0">
                                          <p:val>
                                            <p:strVal val="#ppt_y"/>
                                          </p:val>
                                        </p:tav>
                                        <p:tav tm="100000">
                                          <p:val>
                                            <p:strVal val="#ppt_y"/>
                                          </p:val>
                                        </p:tav>
                                      </p:tavLst>
                                    </p:anim>
                                  </p:childTnLst>
                                </p:cTn>
                              </p:par>
                            </p:childTnLst>
                          </p:cTn>
                        </p:par>
                        <p:par>
                          <p:cTn id="22" fill="hold">
                            <p:stCondLst>
                              <p:cond delay="1550"/>
                            </p:stCondLst>
                            <p:childTnLst>
                              <p:par>
                                <p:cTn id="23" presetID="2" presetClass="entr" presetSubtype="2"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anim calcmode="lin" valueType="num">
                                      <p:cBhvr additive="base">
                                        <p:cTn id="25" dur="500" fill="hold"/>
                                        <p:tgtEl>
                                          <p:spTgt spid="200"/>
                                        </p:tgtEl>
                                        <p:attrNameLst>
                                          <p:attrName>ppt_x</p:attrName>
                                        </p:attrNameLst>
                                      </p:cBhvr>
                                      <p:tavLst>
                                        <p:tav tm="0">
                                          <p:val>
                                            <p:strVal val="1+#ppt_w/2"/>
                                          </p:val>
                                        </p:tav>
                                        <p:tav tm="100000">
                                          <p:val>
                                            <p:strVal val="#ppt_x"/>
                                          </p:val>
                                        </p:tav>
                                      </p:tavLst>
                                    </p:anim>
                                    <p:anim calcmode="lin" valueType="num">
                                      <p:cBhvr additive="base">
                                        <p:cTn id="26" dur="500" fill="hold"/>
                                        <p:tgtEl>
                                          <p:spTgt spid="20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1"/>
                                        </p:tgtEl>
                                        <p:attrNameLst>
                                          <p:attrName>style.visibility</p:attrName>
                                        </p:attrNameLst>
                                      </p:cBhvr>
                                      <p:to>
                                        <p:strVal val="visible"/>
                                      </p:to>
                                    </p:set>
                                    <p:anim calcmode="lin" valueType="num">
                                      <p:cBhvr additive="base">
                                        <p:cTn id="29" dur="500" fill="hold"/>
                                        <p:tgtEl>
                                          <p:spTgt spid="201"/>
                                        </p:tgtEl>
                                        <p:attrNameLst>
                                          <p:attrName>ppt_x</p:attrName>
                                        </p:attrNameLst>
                                      </p:cBhvr>
                                      <p:tavLst>
                                        <p:tav tm="0">
                                          <p:val>
                                            <p:strVal val="0-#ppt_w/2"/>
                                          </p:val>
                                        </p:tav>
                                        <p:tav tm="100000">
                                          <p:val>
                                            <p:strVal val="#ppt_x"/>
                                          </p:val>
                                        </p:tav>
                                      </p:tavLst>
                                    </p:anim>
                                    <p:anim calcmode="lin" valueType="num">
                                      <p:cBhvr additive="base">
                                        <p:cTn id="30" dur="500" fill="hold"/>
                                        <p:tgtEl>
                                          <p:spTgt spid="201"/>
                                        </p:tgtEl>
                                        <p:attrNameLst>
                                          <p:attrName>ppt_y</p:attrName>
                                        </p:attrNameLst>
                                      </p:cBhvr>
                                      <p:tavLst>
                                        <p:tav tm="0">
                                          <p:val>
                                            <p:strVal val="#ppt_y"/>
                                          </p:val>
                                        </p:tav>
                                        <p:tav tm="100000">
                                          <p:val>
                                            <p:strVal val="#ppt_y"/>
                                          </p:val>
                                        </p:tav>
                                      </p:tavLst>
                                    </p:anim>
                                  </p:childTnLst>
                                </p:cTn>
                              </p:par>
                            </p:childTnLst>
                          </p:cTn>
                        </p:par>
                        <p:par>
                          <p:cTn id="31" fill="hold">
                            <p:stCondLst>
                              <p:cond delay="2050"/>
                            </p:stCondLst>
                            <p:childTnLst>
                              <p:par>
                                <p:cTn id="32" presetID="42"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animBg="1"/>
      <p:bldP spid="152" grpId="0" animBg="1"/>
      <p:bldP spid="200" grpId="0" animBg="1"/>
      <p:bldP spid="201" grpId="0" animBg="1"/>
      <p:bldP spid="10"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39B142B0-7938-4DDC-B38B-238F07230E91}"/>
              </a:ext>
            </a:extLst>
          </p:cNvPr>
          <p:cNvGrpSpPr/>
          <p:nvPr/>
        </p:nvGrpSpPr>
        <p:grpSpPr>
          <a:xfrm>
            <a:off x="0" y="0"/>
            <a:ext cx="9144000" cy="5146418"/>
            <a:chOff x="0" y="0"/>
            <a:chExt cx="9144000" cy="5146418"/>
          </a:xfrm>
        </p:grpSpPr>
        <p:pic>
          <p:nvPicPr>
            <p:cNvPr id="27" name="Picture 26">
              <a:extLst>
                <a:ext uri="{FF2B5EF4-FFF2-40B4-BE49-F238E27FC236}">
                  <a16:creationId xmlns:a16="http://schemas.microsoft.com/office/drawing/2014/main" id="{152AB024-CBCE-4D4D-9F4A-8D21B4702CEE}"/>
                </a:ext>
              </a:extLst>
            </p:cNvPr>
            <p:cNvPicPr>
              <a:picLocks noChangeAspect="1"/>
            </p:cNvPicPr>
            <p:nvPr/>
          </p:nvPicPr>
          <p:blipFill>
            <a:blip r:embed="rId2"/>
            <a:stretch>
              <a:fillRect/>
            </a:stretch>
          </p:blipFill>
          <p:spPr>
            <a:xfrm>
              <a:off x="0" y="0"/>
              <a:ext cx="9144000" cy="5146418"/>
            </a:xfrm>
            <a:prstGeom prst="rect">
              <a:avLst/>
            </a:prstGeom>
          </p:spPr>
        </p:pic>
        <p:sp>
          <p:nvSpPr>
            <p:cNvPr id="28" name="Rectangle 27">
              <a:extLst>
                <a:ext uri="{FF2B5EF4-FFF2-40B4-BE49-F238E27FC236}">
                  <a16:creationId xmlns:a16="http://schemas.microsoft.com/office/drawing/2014/main" id="{D053A87A-F353-455A-8590-08D71DCAC3E6}"/>
                </a:ext>
              </a:extLst>
            </p:cNvPr>
            <p:cNvSpPr/>
            <p:nvPr/>
          </p:nvSpPr>
          <p:spPr>
            <a:xfrm>
              <a:off x="0" y="2364"/>
              <a:ext cx="9144000" cy="5141136"/>
            </a:xfrm>
            <a:prstGeom prst="rect">
              <a:avLst/>
            </a:prstGeom>
            <a:solidFill>
              <a:srgbClr val="FBFBF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fa-IR"/>
            </a:p>
          </p:txBody>
        </p:sp>
      </p:grpSp>
      <p:grpSp>
        <p:nvGrpSpPr>
          <p:cNvPr id="3" name="Group 2">
            <a:extLst>
              <a:ext uri="{FF2B5EF4-FFF2-40B4-BE49-F238E27FC236}">
                <a16:creationId xmlns:a16="http://schemas.microsoft.com/office/drawing/2014/main" id="{0F6F0DD8-DE40-4B86-BD06-AAF5DD8A68F4}"/>
              </a:ext>
            </a:extLst>
          </p:cNvPr>
          <p:cNvGrpSpPr/>
          <p:nvPr/>
        </p:nvGrpSpPr>
        <p:grpSpPr>
          <a:xfrm>
            <a:off x="1562331" y="-1"/>
            <a:ext cx="5390004" cy="5422265"/>
            <a:chOff x="-1255820" y="-868411"/>
            <a:chExt cx="5390004" cy="5422265"/>
          </a:xfrm>
        </p:grpSpPr>
        <p:grpSp>
          <p:nvGrpSpPr>
            <p:cNvPr id="4" name="Group 3">
              <a:extLst>
                <a:ext uri="{FF2B5EF4-FFF2-40B4-BE49-F238E27FC236}">
                  <a16:creationId xmlns:a16="http://schemas.microsoft.com/office/drawing/2014/main" id="{1EAEE9D7-2406-432F-B6F5-09A413E26BA8}"/>
                </a:ext>
              </a:extLst>
            </p:cNvPr>
            <p:cNvGrpSpPr/>
            <p:nvPr/>
          </p:nvGrpSpPr>
          <p:grpSpPr>
            <a:xfrm>
              <a:off x="-1255820" y="-868411"/>
              <a:ext cx="5390004" cy="5422265"/>
              <a:chOff x="-1255820" y="-868411"/>
              <a:chExt cx="5390004" cy="5422265"/>
            </a:xfrm>
          </p:grpSpPr>
          <p:cxnSp>
            <p:nvCxnSpPr>
              <p:cNvPr id="6" name="Google Shape;58;p15">
                <a:extLst>
                  <a:ext uri="{FF2B5EF4-FFF2-40B4-BE49-F238E27FC236}">
                    <a16:creationId xmlns:a16="http://schemas.microsoft.com/office/drawing/2014/main" id="{A92BBC1B-156C-4B56-95C8-36D771DDA354}"/>
                  </a:ext>
                </a:extLst>
              </p:cNvPr>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7" name="Google Shape;61;p15">
                <a:extLst>
                  <a:ext uri="{FF2B5EF4-FFF2-40B4-BE49-F238E27FC236}">
                    <a16:creationId xmlns:a16="http://schemas.microsoft.com/office/drawing/2014/main" id="{E2D0DE38-A3C7-46FC-B9B4-4F8B051673D7}"/>
                  </a:ext>
                </a:extLst>
              </p:cNvPr>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8" name="Google Shape;64;p15">
                <a:extLst>
                  <a:ext uri="{FF2B5EF4-FFF2-40B4-BE49-F238E27FC236}">
                    <a16:creationId xmlns:a16="http://schemas.microsoft.com/office/drawing/2014/main" id="{5A4BE08A-F934-47ED-994B-1DE2A92F181E}"/>
                  </a:ext>
                </a:extLst>
              </p:cNvPr>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9" name="Google Shape;67;p15">
                <a:extLst>
                  <a:ext uri="{FF2B5EF4-FFF2-40B4-BE49-F238E27FC236}">
                    <a16:creationId xmlns:a16="http://schemas.microsoft.com/office/drawing/2014/main" id="{0B677817-C3F7-48D2-A277-43F58AD8B6E9}"/>
                  </a:ext>
                </a:extLst>
              </p:cNvPr>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10" name="Google Shape;70;p15">
                <a:extLst>
                  <a:ext uri="{FF2B5EF4-FFF2-40B4-BE49-F238E27FC236}">
                    <a16:creationId xmlns:a16="http://schemas.microsoft.com/office/drawing/2014/main" id="{66DFA88C-0929-4320-8741-CC01ABD97130}"/>
                  </a:ext>
                </a:extLst>
              </p:cNvPr>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11" name="Google Shape;73;p15">
                <a:extLst>
                  <a:ext uri="{FF2B5EF4-FFF2-40B4-BE49-F238E27FC236}">
                    <a16:creationId xmlns:a16="http://schemas.microsoft.com/office/drawing/2014/main" id="{09FD7D3D-53B9-4667-9B2D-DBD5B655CC76}"/>
                  </a:ext>
                </a:extLst>
              </p:cNvPr>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12" name="Google Shape;76;p15">
                <a:extLst>
                  <a:ext uri="{FF2B5EF4-FFF2-40B4-BE49-F238E27FC236}">
                    <a16:creationId xmlns:a16="http://schemas.microsoft.com/office/drawing/2014/main" id="{CAE41771-1593-40C8-89F8-E3B4147D746D}"/>
                  </a:ext>
                </a:extLst>
              </p:cNvPr>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13" name="Google Shape;79;p15">
                <a:extLst>
                  <a:ext uri="{FF2B5EF4-FFF2-40B4-BE49-F238E27FC236}">
                    <a16:creationId xmlns:a16="http://schemas.microsoft.com/office/drawing/2014/main" id="{0A28279A-8F7B-4BE2-B822-5F202DB3B187}"/>
                  </a:ext>
                </a:extLst>
              </p:cNvPr>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14" name="Google Shape;82;p15">
                <a:extLst>
                  <a:ext uri="{FF2B5EF4-FFF2-40B4-BE49-F238E27FC236}">
                    <a16:creationId xmlns:a16="http://schemas.microsoft.com/office/drawing/2014/main" id="{67FE41AF-C90E-46F7-AC83-A60B465EF939}"/>
                  </a:ext>
                </a:extLst>
              </p:cNvPr>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5" name="Google Shape;85;p15">
              <a:extLst>
                <a:ext uri="{FF2B5EF4-FFF2-40B4-BE49-F238E27FC236}">
                  <a16:creationId xmlns:a16="http://schemas.microsoft.com/office/drawing/2014/main" id="{BAC4A5E5-A73B-4B8F-B5BA-D1624DD93ABE}"/>
                </a:ext>
              </a:extLst>
            </p:cNvPr>
            <p:cNvSpPr/>
            <p:nvPr/>
          </p:nvSpPr>
          <p:spPr>
            <a:xfrm rot="1578595" flipH="1">
              <a:off x="260048" y="287875"/>
              <a:ext cx="2700000" cy="2700000"/>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Google Shape;59;p15">
            <a:extLst>
              <a:ext uri="{FF2B5EF4-FFF2-40B4-BE49-F238E27FC236}">
                <a16:creationId xmlns:a16="http://schemas.microsoft.com/office/drawing/2014/main" id="{DF8C482C-1ABC-4DB8-9658-FD49157CBCFB}"/>
              </a:ext>
            </a:extLst>
          </p:cNvPr>
          <p:cNvSpPr/>
          <p:nvPr/>
        </p:nvSpPr>
        <p:spPr>
          <a:xfrm rot="1578595" flipH="1">
            <a:off x="6494337" y="458798"/>
            <a:ext cx="1677379" cy="1677379"/>
          </a:xfrm>
          <a:prstGeom prst="ellipse">
            <a:avLst/>
          </a:prstGeom>
          <a:solidFill>
            <a:schemeClr val="accent2"/>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16" name="Google Shape;62;p15">
            <a:extLst>
              <a:ext uri="{FF2B5EF4-FFF2-40B4-BE49-F238E27FC236}">
                <a16:creationId xmlns:a16="http://schemas.microsoft.com/office/drawing/2014/main" id="{1292E2F1-B053-4577-8018-714A8D5DFEB4}"/>
              </a:ext>
            </a:extLst>
          </p:cNvPr>
          <p:cNvSpPr/>
          <p:nvPr/>
        </p:nvSpPr>
        <p:spPr>
          <a:xfrm rot="1578595" flipH="1">
            <a:off x="1642162" y="359874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17" name="Google Shape;71;p15">
            <a:extLst>
              <a:ext uri="{FF2B5EF4-FFF2-40B4-BE49-F238E27FC236}">
                <a16:creationId xmlns:a16="http://schemas.microsoft.com/office/drawing/2014/main" id="{99D97317-6EAB-4902-926A-C5205DD6E331}"/>
              </a:ext>
            </a:extLst>
          </p:cNvPr>
          <p:cNvSpPr/>
          <p:nvPr/>
        </p:nvSpPr>
        <p:spPr>
          <a:xfrm rot="1578595" flipH="1">
            <a:off x="5842173" y="4244398"/>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18" name="Google Shape;74;p15">
            <a:extLst>
              <a:ext uri="{FF2B5EF4-FFF2-40B4-BE49-F238E27FC236}">
                <a16:creationId xmlns:a16="http://schemas.microsoft.com/office/drawing/2014/main" id="{95AD1472-22CF-471F-90D7-FA5B6399D68F}"/>
              </a:ext>
            </a:extLst>
          </p:cNvPr>
          <p:cNvSpPr/>
          <p:nvPr/>
        </p:nvSpPr>
        <p:spPr>
          <a:xfrm rot="1578595" flipH="1">
            <a:off x="4084401" y="4933153"/>
            <a:ext cx="1348111" cy="1348111"/>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19" name="Google Shape;80;p15">
            <a:extLst>
              <a:ext uri="{FF2B5EF4-FFF2-40B4-BE49-F238E27FC236}">
                <a16:creationId xmlns:a16="http://schemas.microsoft.com/office/drawing/2014/main" id="{1C4BD08C-575B-48F9-B0E4-0CAB59FB78CE}"/>
              </a:ext>
            </a:extLst>
          </p:cNvPr>
          <p:cNvSpPr/>
          <p:nvPr/>
        </p:nvSpPr>
        <p:spPr>
          <a:xfrm rot="1578595" flipH="1">
            <a:off x="6334088" y="2778004"/>
            <a:ext cx="921463" cy="921463"/>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86;p15">
            <a:extLst>
              <a:ext uri="{FF2B5EF4-FFF2-40B4-BE49-F238E27FC236}">
                <a16:creationId xmlns:a16="http://schemas.microsoft.com/office/drawing/2014/main" id="{54C9CCB6-7973-4F8C-856B-2B20D708E9CF}"/>
              </a:ext>
            </a:extLst>
          </p:cNvPr>
          <p:cNvSpPr/>
          <p:nvPr/>
        </p:nvSpPr>
        <p:spPr>
          <a:xfrm rot="1578595" flipH="1">
            <a:off x="3233403" y="1310676"/>
            <a:ext cx="2412000" cy="2412000"/>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21" name="Google Shape;317;p20">
            <a:hlinkClick r:id="rId3" action="ppaction://hlinksldjump"/>
            <a:extLst>
              <a:ext uri="{FF2B5EF4-FFF2-40B4-BE49-F238E27FC236}">
                <a16:creationId xmlns:a16="http://schemas.microsoft.com/office/drawing/2014/main" id="{1C733931-F38F-4A3B-8FD7-0D0A9013A0C7}"/>
              </a:ext>
            </a:extLst>
          </p:cNvPr>
          <p:cNvSpPr txBox="1"/>
          <p:nvPr/>
        </p:nvSpPr>
        <p:spPr>
          <a:xfrm>
            <a:off x="3407892" y="2301114"/>
            <a:ext cx="2095683" cy="26034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54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متشکرم</a:t>
            </a:r>
            <a:endParaRPr sz="54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22" name="Google Shape;59;p15">
            <a:extLst>
              <a:ext uri="{FF2B5EF4-FFF2-40B4-BE49-F238E27FC236}">
                <a16:creationId xmlns:a16="http://schemas.microsoft.com/office/drawing/2014/main" id="{9E72EB5F-8DE7-48B9-8323-87F1895A2E7B}"/>
              </a:ext>
            </a:extLst>
          </p:cNvPr>
          <p:cNvSpPr/>
          <p:nvPr/>
        </p:nvSpPr>
        <p:spPr>
          <a:xfrm rot="1578595" flipH="1">
            <a:off x="923336" y="1730798"/>
            <a:ext cx="1080000" cy="1080000"/>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23" name="Google Shape;59;p15">
            <a:extLst>
              <a:ext uri="{FF2B5EF4-FFF2-40B4-BE49-F238E27FC236}">
                <a16:creationId xmlns:a16="http://schemas.microsoft.com/office/drawing/2014/main" id="{A34F1455-D3B8-43FC-B286-A5A8554A819F}"/>
              </a:ext>
            </a:extLst>
          </p:cNvPr>
          <p:cNvSpPr/>
          <p:nvPr/>
        </p:nvSpPr>
        <p:spPr>
          <a:xfrm rot="1578595" flipH="1">
            <a:off x="1048378" y="-255493"/>
            <a:ext cx="1512000" cy="1512000"/>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24" name="Google Shape;59;p15">
            <a:extLst>
              <a:ext uri="{FF2B5EF4-FFF2-40B4-BE49-F238E27FC236}">
                <a16:creationId xmlns:a16="http://schemas.microsoft.com/office/drawing/2014/main" id="{DE69751F-3FF8-4A01-98B8-1CF8CDB2F37F}"/>
              </a:ext>
            </a:extLst>
          </p:cNvPr>
          <p:cNvSpPr/>
          <p:nvPr/>
        </p:nvSpPr>
        <p:spPr>
          <a:xfrm rot="1578595" flipH="1">
            <a:off x="2966339" y="-432333"/>
            <a:ext cx="900000" cy="900000"/>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25" name="Google Shape;59;p15">
            <a:extLst>
              <a:ext uri="{FF2B5EF4-FFF2-40B4-BE49-F238E27FC236}">
                <a16:creationId xmlns:a16="http://schemas.microsoft.com/office/drawing/2014/main" id="{4F691E22-238A-4101-AD11-62BFE48F5EE9}"/>
              </a:ext>
            </a:extLst>
          </p:cNvPr>
          <p:cNvSpPr/>
          <p:nvPr/>
        </p:nvSpPr>
        <p:spPr>
          <a:xfrm rot="1578595" flipH="1">
            <a:off x="4641626" y="-603321"/>
            <a:ext cx="1188000" cy="118800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nvGrpSpPr>
          <p:cNvPr id="29" name="Group 28">
            <a:extLst>
              <a:ext uri="{FF2B5EF4-FFF2-40B4-BE49-F238E27FC236}">
                <a16:creationId xmlns:a16="http://schemas.microsoft.com/office/drawing/2014/main" id="{0D77FB0A-58D4-4E73-BA61-5A03760D99F1}"/>
              </a:ext>
            </a:extLst>
          </p:cNvPr>
          <p:cNvGrpSpPr/>
          <p:nvPr/>
        </p:nvGrpSpPr>
        <p:grpSpPr>
          <a:xfrm>
            <a:off x="923336" y="-603321"/>
            <a:ext cx="7248380" cy="6884585"/>
            <a:chOff x="923336" y="-603321"/>
            <a:chExt cx="7248380" cy="6884585"/>
          </a:xfrm>
        </p:grpSpPr>
        <p:grpSp>
          <p:nvGrpSpPr>
            <p:cNvPr id="30" name="Group 29">
              <a:extLst>
                <a:ext uri="{FF2B5EF4-FFF2-40B4-BE49-F238E27FC236}">
                  <a16:creationId xmlns:a16="http://schemas.microsoft.com/office/drawing/2014/main" id="{077DEF02-EE42-49DC-872E-6FEB6A12875E}"/>
                </a:ext>
              </a:extLst>
            </p:cNvPr>
            <p:cNvGrpSpPr/>
            <p:nvPr/>
          </p:nvGrpSpPr>
          <p:grpSpPr>
            <a:xfrm>
              <a:off x="1562331" y="-1"/>
              <a:ext cx="5390004" cy="5422265"/>
              <a:chOff x="-1255820" y="-868411"/>
              <a:chExt cx="5390004" cy="5422265"/>
            </a:xfrm>
          </p:grpSpPr>
          <p:grpSp>
            <p:nvGrpSpPr>
              <p:cNvPr id="42" name="Group 41">
                <a:extLst>
                  <a:ext uri="{FF2B5EF4-FFF2-40B4-BE49-F238E27FC236}">
                    <a16:creationId xmlns:a16="http://schemas.microsoft.com/office/drawing/2014/main" id="{BA1694D6-A2D2-4701-A4DE-2FE9A7CD667C}"/>
                  </a:ext>
                </a:extLst>
              </p:cNvPr>
              <p:cNvGrpSpPr/>
              <p:nvPr/>
            </p:nvGrpSpPr>
            <p:grpSpPr>
              <a:xfrm>
                <a:off x="-1255820" y="-868411"/>
                <a:ext cx="5390004" cy="5422265"/>
                <a:chOff x="-1255820" y="-868411"/>
                <a:chExt cx="5390004" cy="5422265"/>
              </a:xfrm>
            </p:grpSpPr>
            <p:cxnSp>
              <p:nvCxnSpPr>
                <p:cNvPr id="44" name="Google Shape;58;p15">
                  <a:extLst>
                    <a:ext uri="{FF2B5EF4-FFF2-40B4-BE49-F238E27FC236}">
                      <a16:creationId xmlns:a16="http://schemas.microsoft.com/office/drawing/2014/main" id="{767757AA-5F83-4EFA-A8A3-17477FA203A0}"/>
                    </a:ext>
                  </a:extLst>
                </p:cNvPr>
                <p:cNvCxnSpPr/>
                <p:nvPr/>
              </p:nvCxnSpPr>
              <p:spPr>
                <a:xfrm rot="1578595" flipH="1">
                  <a:off x="1964581" y="-224689"/>
                  <a:ext cx="2162455" cy="2482594"/>
                </a:xfrm>
                <a:prstGeom prst="straightConnector1">
                  <a:avLst/>
                </a:prstGeom>
                <a:noFill/>
                <a:ln w="9525" cap="flat" cmpd="sng">
                  <a:solidFill>
                    <a:srgbClr val="000000"/>
                  </a:solidFill>
                  <a:prstDash val="solid"/>
                  <a:round/>
                  <a:headEnd type="none" w="med" len="med"/>
                  <a:tailEnd type="none" w="med" len="med"/>
                </a:ln>
              </p:spPr>
            </p:cxnSp>
            <p:cxnSp>
              <p:nvCxnSpPr>
                <p:cNvPr id="45" name="Google Shape;61;p15">
                  <a:extLst>
                    <a:ext uri="{FF2B5EF4-FFF2-40B4-BE49-F238E27FC236}">
                      <a16:creationId xmlns:a16="http://schemas.microsoft.com/office/drawing/2014/main" id="{5ABCD737-8A2D-4A59-916F-10906C02D21C}"/>
                    </a:ext>
                  </a:extLst>
                </p:cNvPr>
                <p:cNvCxnSpPr/>
                <p:nvPr/>
              </p:nvCxnSpPr>
              <p:spPr>
                <a:xfrm rot="12378595" flipH="1">
                  <a:off x="159915" y="1328609"/>
                  <a:ext cx="824082" cy="2598842"/>
                </a:xfrm>
                <a:prstGeom prst="straightConnector1">
                  <a:avLst/>
                </a:prstGeom>
                <a:noFill/>
                <a:ln w="9525" cap="flat" cmpd="sng">
                  <a:solidFill>
                    <a:srgbClr val="000000"/>
                  </a:solidFill>
                  <a:prstDash val="solid"/>
                  <a:round/>
                  <a:headEnd type="none" w="med" len="med"/>
                  <a:tailEnd type="none" w="med" len="med"/>
                </a:ln>
              </p:spPr>
            </p:cxnSp>
            <p:cxnSp>
              <p:nvCxnSpPr>
                <p:cNvPr id="46" name="Google Shape;64;p15">
                  <a:extLst>
                    <a:ext uri="{FF2B5EF4-FFF2-40B4-BE49-F238E27FC236}">
                      <a16:creationId xmlns:a16="http://schemas.microsoft.com/office/drawing/2014/main" id="{39867AF8-0365-4196-B706-D6581337273C}"/>
                    </a:ext>
                  </a:extLst>
                </p:cNvPr>
                <p:cNvCxnSpPr/>
                <p:nvPr/>
              </p:nvCxnSpPr>
              <p:spPr>
                <a:xfrm rot="1578595">
                  <a:off x="1714894" y="-868411"/>
                  <a:ext cx="387696" cy="2570236"/>
                </a:xfrm>
                <a:prstGeom prst="straightConnector1">
                  <a:avLst/>
                </a:prstGeom>
                <a:noFill/>
                <a:ln w="9525" cap="flat" cmpd="sng">
                  <a:solidFill>
                    <a:srgbClr val="000000"/>
                  </a:solidFill>
                  <a:prstDash val="solid"/>
                  <a:round/>
                  <a:headEnd type="none" w="med" len="med"/>
                  <a:tailEnd type="none" w="med" len="med"/>
                </a:ln>
              </p:spPr>
            </p:cxnSp>
            <p:cxnSp>
              <p:nvCxnSpPr>
                <p:cNvPr id="47" name="Google Shape;67;p15">
                  <a:extLst>
                    <a:ext uri="{FF2B5EF4-FFF2-40B4-BE49-F238E27FC236}">
                      <a16:creationId xmlns:a16="http://schemas.microsoft.com/office/drawing/2014/main" id="{D443FF39-7275-404C-B2B8-E5CE4C9A9AFF}"/>
                    </a:ext>
                  </a:extLst>
                </p:cNvPr>
                <p:cNvCxnSpPr/>
                <p:nvPr/>
              </p:nvCxnSpPr>
              <p:spPr>
                <a:xfrm rot="1578595">
                  <a:off x="-1255820" y="224071"/>
                  <a:ext cx="3113132" cy="785739"/>
                </a:xfrm>
                <a:prstGeom prst="straightConnector1">
                  <a:avLst/>
                </a:prstGeom>
                <a:noFill/>
                <a:ln w="9525" cap="flat" cmpd="sng">
                  <a:solidFill>
                    <a:srgbClr val="000000"/>
                  </a:solidFill>
                  <a:prstDash val="solid"/>
                  <a:round/>
                  <a:headEnd type="none" w="med" len="med"/>
                  <a:tailEnd type="none" w="med" len="med"/>
                </a:ln>
              </p:spPr>
            </p:cxnSp>
            <p:cxnSp>
              <p:nvCxnSpPr>
                <p:cNvPr id="48" name="Google Shape;70;p15">
                  <a:extLst>
                    <a:ext uri="{FF2B5EF4-FFF2-40B4-BE49-F238E27FC236}">
                      <a16:creationId xmlns:a16="http://schemas.microsoft.com/office/drawing/2014/main" id="{977FD039-0EBA-4C00-98F5-77036431EF26}"/>
                    </a:ext>
                  </a:extLst>
                </p:cNvPr>
                <p:cNvCxnSpPr/>
                <p:nvPr/>
              </p:nvCxnSpPr>
              <p:spPr>
                <a:xfrm rot="12378595">
                  <a:off x="1089218" y="2266948"/>
                  <a:ext cx="3044966" cy="1202649"/>
                </a:xfrm>
                <a:prstGeom prst="straightConnector1">
                  <a:avLst/>
                </a:prstGeom>
                <a:noFill/>
                <a:ln w="9525" cap="flat" cmpd="sng">
                  <a:solidFill>
                    <a:srgbClr val="000000"/>
                  </a:solidFill>
                  <a:prstDash val="solid"/>
                  <a:round/>
                  <a:headEnd type="none" w="med" len="med"/>
                  <a:tailEnd type="none" w="med" len="med"/>
                </a:ln>
              </p:spPr>
            </p:cxnSp>
            <p:cxnSp>
              <p:nvCxnSpPr>
                <p:cNvPr id="49" name="Google Shape;73;p15">
                  <a:extLst>
                    <a:ext uri="{FF2B5EF4-FFF2-40B4-BE49-F238E27FC236}">
                      <a16:creationId xmlns:a16="http://schemas.microsoft.com/office/drawing/2014/main" id="{CAD78DAA-7B1E-4696-AEE7-497EE1C69345}"/>
                    </a:ext>
                  </a:extLst>
                </p:cNvPr>
                <p:cNvCxnSpPr/>
                <p:nvPr/>
              </p:nvCxnSpPr>
              <p:spPr>
                <a:xfrm rot="12378595">
                  <a:off x="835631" y="1906322"/>
                  <a:ext cx="1755283" cy="2647532"/>
                </a:xfrm>
                <a:prstGeom prst="straightConnector1">
                  <a:avLst/>
                </a:prstGeom>
                <a:noFill/>
                <a:ln w="9525" cap="flat" cmpd="sng">
                  <a:solidFill>
                    <a:srgbClr val="000000"/>
                  </a:solidFill>
                  <a:prstDash val="solid"/>
                  <a:round/>
                  <a:headEnd type="none" w="med" len="med"/>
                  <a:tailEnd type="none" w="med" len="med"/>
                </a:ln>
              </p:spPr>
            </p:cxnSp>
            <p:cxnSp>
              <p:nvCxnSpPr>
                <p:cNvPr id="50" name="Google Shape;76;p15">
                  <a:extLst>
                    <a:ext uri="{FF2B5EF4-FFF2-40B4-BE49-F238E27FC236}">
                      <a16:creationId xmlns:a16="http://schemas.microsoft.com/office/drawing/2014/main" id="{3C74EDAC-9FE3-43B9-A07E-2A6A2E2A3591}"/>
                    </a:ext>
                  </a:extLst>
                </p:cNvPr>
                <p:cNvCxnSpPr/>
                <p:nvPr/>
              </p:nvCxnSpPr>
              <p:spPr>
                <a:xfrm rot="12378595" flipH="1">
                  <a:off x="-754761" y="1124667"/>
                  <a:ext cx="2201407" cy="814344"/>
                </a:xfrm>
                <a:prstGeom prst="straightConnector1">
                  <a:avLst/>
                </a:prstGeom>
                <a:noFill/>
                <a:ln w="9525" cap="flat" cmpd="sng">
                  <a:solidFill>
                    <a:srgbClr val="000000"/>
                  </a:solidFill>
                  <a:prstDash val="solid"/>
                  <a:round/>
                  <a:headEnd type="none" w="med" len="med"/>
                  <a:tailEnd type="none" w="med" len="med"/>
                </a:ln>
              </p:spPr>
            </p:cxnSp>
            <p:cxnSp>
              <p:nvCxnSpPr>
                <p:cNvPr id="51" name="Google Shape;79;p15">
                  <a:extLst>
                    <a:ext uri="{FF2B5EF4-FFF2-40B4-BE49-F238E27FC236}">
                      <a16:creationId xmlns:a16="http://schemas.microsoft.com/office/drawing/2014/main" id="{42DA0A72-9E5F-4979-9760-A23F8C78A17C}"/>
                    </a:ext>
                  </a:extLst>
                </p:cNvPr>
                <p:cNvCxnSpPr/>
                <p:nvPr/>
              </p:nvCxnSpPr>
              <p:spPr>
                <a:xfrm rot="1578595" flipH="1">
                  <a:off x="1497778" y="1813446"/>
                  <a:ext cx="2502069" cy="416910"/>
                </a:xfrm>
                <a:prstGeom prst="straightConnector1">
                  <a:avLst/>
                </a:prstGeom>
                <a:noFill/>
                <a:ln w="9525" cap="flat" cmpd="sng">
                  <a:solidFill>
                    <a:srgbClr val="000000"/>
                  </a:solidFill>
                  <a:prstDash val="solid"/>
                  <a:round/>
                  <a:headEnd type="none" w="med" len="med"/>
                  <a:tailEnd type="none" w="med" len="med"/>
                </a:ln>
              </p:spPr>
            </p:cxnSp>
            <p:cxnSp>
              <p:nvCxnSpPr>
                <p:cNvPr id="52" name="Google Shape;82;p15">
                  <a:extLst>
                    <a:ext uri="{FF2B5EF4-FFF2-40B4-BE49-F238E27FC236}">
                      <a16:creationId xmlns:a16="http://schemas.microsoft.com/office/drawing/2014/main" id="{65868555-CC1F-4535-89DD-F7EDCA9A7C4E}"/>
                    </a:ext>
                  </a:extLst>
                </p:cNvPr>
                <p:cNvCxnSpPr/>
                <p:nvPr/>
              </p:nvCxnSpPr>
              <p:spPr>
                <a:xfrm rot="1578595">
                  <a:off x="301350" y="-245988"/>
                  <a:ext cx="1668249" cy="1609821"/>
                </a:xfrm>
                <a:prstGeom prst="straightConnector1">
                  <a:avLst/>
                </a:prstGeom>
                <a:noFill/>
                <a:ln w="9525" cap="flat" cmpd="sng">
                  <a:solidFill>
                    <a:srgbClr val="000000"/>
                  </a:solidFill>
                  <a:prstDash val="solid"/>
                  <a:round/>
                  <a:headEnd type="none" w="med" len="med"/>
                  <a:tailEnd type="none" w="med" len="med"/>
                </a:ln>
              </p:spPr>
            </p:cxnSp>
          </p:grpSp>
          <p:sp>
            <p:nvSpPr>
              <p:cNvPr id="43" name="Google Shape;85;p15">
                <a:extLst>
                  <a:ext uri="{FF2B5EF4-FFF2-40B4-BE49-F238E27FC236}">
                    <a16:creationId xmlns:a16="http://schemas.microsoft.com/office/drawing/2014/main" id="{9DA6688A-A40E-44A7-A98E-7BB6F330FEF8}"/>
                  </a:ext>
                </a:extLst>
              </p:cNvPr>
              <p:cNvSpPr/>
              <p:nvPr/>
            </p:nvSpPr>
            <p:spPr>
              <a:xfrm rot="1578595" flipH="1">
                <a:off x="260048" y="287875"/>
                <a:ext cx="2700000" cy="2700000"/>
              </a:xfrm>
              <a:prstGeom prst="ellipse">
                <a:avLst/>
              </a:prstGeom>
              <a:solidFill>
                <a:srgbClr val="FFFFFF"/>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 name="Google Shape;59;p15">
              <a:extLst>
                <a:ext uri="{FF2B5EF4-FFF2-40B4-BE49-F238E27FC236}">
                  <a16:creationId xmlns:a16="http://schemas.microsoft.com/office/drawing/2014/main" id="{F0A4F3FB-734B-4A3A-9813-1B5828CC590A}"/>
                </a:ext>
              </a:extLst>
            </p:cNvPr>
            <p:cNvSpPr/>
            <p:nvPr/>
          </p:nvSpPr>
          <p:spPr>
            <a:xfrm rot="1578595" flipH="1">
              <a:off x="6494337" y="458798"/>
              <a:ext cx="1677379" cy="1677379"/>
            </a:xfrm>
            <a:prstGeom prst="ellipse">
              <a:avLst/>
            </a:prstGeom>
            <a:solidFill>
              <a:schemeClr val="accent2"/>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32" name="Google Shape;62;p15">
              <a:extLst>
                <a:ext uri="{FF2B5EF4-FFF2-40B4-BE49-F238E27FC236}">
                  <a16:creationId xmlns:a16="http://schemas.microsoft.com/office/drawing/2014/main" id="{92001417-0D4E-45C7-890E-1CA5002EBBC6}"/>
                </a:ext>
              </a:extLst>
            </p:cNvPr>
            <p:cNvSpPr/>
            <p:nvPr/>
          </p:nvSpPr>
          <p:spPr>
            <a:xfrm rot="1578595" flipH="1">
              <a:off x="1642162" y="3598743"/>
              <a:ext cx="1677379" cy="1677379"/>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33" name="Google Shape;71;p15">
              <a:extLst>
                <a:ext uri="{FF2B5EF4-FFF2-40B4-BE49-F238E27FC236}">
                  <a16:creationId xmlns:a16="http://schemas.microsoft.com/office/drawing/2014/main" id="{1391324A-3636-484A-B6C4-73D9756C3FD3}"/>
                </a:ext>
              </a:extLst>
            </p:cNvPr>
            <p:cNvSpPr/>
            <p:nvPr/>
          </p:nvSpPr>
          <p:spPr>
            <a:xfrm rot="1578595" flipH="1">
              <a:off x="5842173" y="4244398"/>
              <a:ext cx="1348111" cy="1348111"/>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34" name="Google Shape;74;p15">
              <a:extLst>
                <a:ext uri="{FF2B5EF4-FFF2-40B4-BE49-F238E27FC236}">
                  <a16:creationId xmlns:a16="http://schemas.microsoft.com/office/drawing/2014/main" id="{44E155CD-1C56-4B33-9E74-C2126C4169FC}"/>
                </a:ext>
              </a:extLst>
            </p:cNvPr>
            <p:cNvSpPr/>
            <p:nvPr/>
          </p:nvSpPr>
          <p:spPr>
            <a:xfrm rot="1578595" flipH="1">
              <a:off x="4084401" y="4933153"/>
              <a:ext cx="1348111" cy="1348111"/>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35" name="Google Shape;80;p15">
              <a:extLst>
                <a:ext uri="{FF2B5EF4-FFF2-40B4-BE49-F238E27FC236}">
                  <a16:creationId xmlns:a16="http://schemas.microsoft.com/office/drawing/2014/main" id="{66413694-93D3-46B2-ABA6-66CEA4DC5BF8}"/>
                </a:ext>
              </a:extLst>
            </p:cNvPr>
            <p:cNvSpPr/>
            <p:nvPr/>
          </p:nvSpPr>
          <p:spPr>
            <a:xfrm rot="1578595" flipH="1">
              <a:off x="6334088" y="2778004"/>
              <a:ext cx="921463" cy="921463"/>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86;p15">
              <a:extLst>
                <a:ext uri="{FF2B5EF4-FFF2-40B4-BE49-F238E27FC236}">
                  <a16:creationId xmlns:a16="http://schemas.microsoft.com/office/drawing/2014/main" id="{1675070E-DE66-4ED4-A51F-2F44708ED5A5}"/>
                </a:ext>
              </a:extLst>
            </p:cNvPr>
            <p:cNvSpPr/>
            <p:nvPr/>
          </p:nvSpPr>
          <p:spPr>
            <a:xfrm rot="1578595" flipH="1">
              <a:off x="3233403" y="1310676"/>
              <a:ext cx="2412000" cy="2412000"/>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37" name="Google Shape;317;p20">
              <a:hlinkClick r:id="rId3" action="ppaction://hlinksldjump"/>
              <a:extLst>
                <a:ext uri="{FF2B5EF4-FFF2-40B4-BE49-F238E27FC236}">
                  <a16:creationId xmlns:a16="http://schemas.microsoft.com/office/drawing/2014/main" id="{0121F4F3-1C7C-42B9-8865-FB0164BED9B1}"/>
                </a:ext>
              </a:extLst>
            </p:cNvPr>
            <p:cNvSpPr txBox="1"/>
            <p:nvPr/>
          </p:nvSpPr>
          <p:spPr>
            <a:xfrm>
              <a:off x="3407892" y="2301114"/>
              <a:ext cx="2095683" cy="260345"/>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fa-IR" sz="54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rPr>
                <a:t>متشکرم</a:t>
              </a:r>
              <a:endParaRPr sz="5400" b="1">
                <a:solidFill>
                  <a:srgbClr val="FFFFFF"/>
                </a:solidFill>
                <a:effectLst>
                  <a:outerShdw blurRad="50800" dist="38100" dir="5400000" algn="t" rotWithShape="0">
                    <a:prstClr val="black">
                      <a:alpha val="40000"/>
                    </a:prstClr>
                  </a:outerShdw>
                </a:effectLst>
                <a:latin typeface="Fira Sans Extra Condensed Medium"/>
                <a:ea typeface="Fira Sans Extra Condensed Medium"/>
                <a:cs typeface="IRAN Sans" panose="020B0400000000000000" pitchFamily="34" charset="-78"/>
                <a:sym typeface="Fira Sans Extra Condensed Medium"/>
              </a:endParaRPr>
            </a:p>
          </p:txBody>
        </p:sp>
        <p:sp>
          <p:nvSpPr>
            <p:cNvPr id="38" name="Google Shape;59;p15">
              <a:extLst>
                <a:ext uri="{FF2B5EF4-FFF2-40B4-BE49-F238E27FC236}">
                  <a16:creationId xmlns:a16="http://schemas.microsoft.com/office/drawing/2014/main" id="{51E24167-F99E-4C3A-8034-EC9CE3310860}"/>
                </a:ext>
              </a:extLst>
            </p:cNvPr>
            <p:cNvSpPr/>
            <p:nvPr/>
          </p:nvSpPr>
          <p:spPr>
            <a:xfrm rot="1578595" flipH="1">
              <a:off x="923336" y="1730798"/>
              <a:ext cx="1080000" cy="1080000"/>
            </a:xfrm>
            <a:prstGeom prst="ellipse">
              <a:avLst/>
            </a:pr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39" name="Google Shape;59;p15">
              <a:extLst>
                <a:ext uri="{FF2B5EF4-FFF2-40B4-BE49-F238E27FC236}">
                  <a16:creationId xmlns:a16="http://schemas.microsoft.com/office/drawing/2014/main" id="{43DEA356-6062-491C-BD81-04F28D8AED9B}"/>
                </a:ext>
              </a:extLst>
            </p:cNvPr>
            <p:cNvSpPr/>
            <p:nvPr/>
          </p:nvSpPr>
          <p:spPr>
            <a:xfrm rot="1578595" flipH="1">
              <a:off x="1048378" y="-255493"/>
              <a:ext cx="1512000" cy="1512000"/>
            </a:xfrm>
            <a:prstGeom prst="ellipse">
              <a:avLst/>
            </a:pr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40" name="Google Shape;59;p15">
              <a:extLst>
                <a:ext uri="{FF2B5EF4-FFF2-40B4-BE49-F238E27FC236}">
                  <a16:creationId xmlns:a16="http://schemas.microsoft.com/office/drawing/2014/main" id="{78BE577A-119B-4096-AFB6-FEA12719BD33}"/>
                </a:ext>
              </a:extLst>
            </p:cNvPr>
            <p:cNvSpPr/>
            <p:nvPr/>
          </p:nvSpPr>
          <p:spPr>
            <a:xfrm rot="1578595" flipH="1">
              <a:off x="2966339" y="-432333"/>
              <a:ext cx="900000" cy="900000"/>
            </a:xfrm>
            <a:prstGeom prst="ellipse">
              <a:avLst/>
            </a:pr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sp>
          <p:nvSpPr>
            <p:cNvPr id="41" name="Google Shape;59;p15">
              <a:extLst>
                <a:ext uri="{FF2B5EF4-FFF2-40B4-BE49-F238E27FC236}">
                  <a16:creationId xmlns:a16="http://schemas.microsoft.com/office/drawing/2014/main" id="{4BC37A81-0ABA-402A-BBDF-DAFE7E8BC512}"/>
                </a:ext>
              </a:extLst>
            </p:cNvPr>
            <p:cNvSpPr/>
            <p:nvPr/>
          </p:nvSpPr>
          <p:spPr>
            <a:xfrm rot="1578595" flipH="1">
              <a:off x="4641626" y="-603321"/>
              <a:ext cx="1188000" cy="1188000"/>
            </a:xfrm>
            <a:prstGeom prst="ellipse">
              <a:avLst/>
            </a:prstGeom>
            <a:solidFill>
              <a:schemeClr val="accent6"/>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endParaRPr sz="1500">
                <a:solidFill>
                  <a:srgbClr val="FFFFFF"/>
                </a:solidFill>
                <a:latin typeface="Fira Sans Extra Condensed Medium"/>
                <a:ea typeface="Fira Sans Extra Condensed Medium"/>
                <a:cs typeface="IRAN Sans" panose="020B0400000000000000" pitchFamily="34" charset="-78"/>
                <a:sym typeface="Fira Sans Extra Condensed Medium"/>
              </a:endParaRPr>
            </a:p>
          </p:txBody>
        </p:sp>
      </p:grpSp>
    </p:spTree>
    <p:extLst>
      <p:ext uri="{BB962C8B-B14F-4D97-AF65-F5344CB8AC3E}">
        <p14:creationId xmlns:p14="http://schemas.microsoft.com/office/powerpoint/2010/main" val="21523000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afterEffect">
                                  <p:stCondLst>
                                    <p:cond delay="0"/>
                                  </p:stCondLst>
                                  <p:childTnLst>
                                    <p:set>
                                      <p:cBhvr>
                                        <p:cTn id="6" dur="1" fill="hold">
                                          <p:stCondLst>
                                            <p:cond delay="0"/>
                                          </p:stCondLst>
                                        </p:cTn>
                                        <p:tgtEl>
                                          <p:spTgt spid="3"/>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5"/>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16"/>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hidden"/>
                                      </p:to>
                                    </p:set>
                                  </p:childTnLst>
                                </p:cTn>
                              </p:par>
                              <p:par>
                                <p:cTn id="15" presetID="1" presetClass="exit" presetSubtype="0" fill="hold" grpId="0" nodeType="withEffect">
                                  <p:stCondLst>
                                    <p:cond delay="0"/>
                                  </p:stCondLst>
                                  <p:childTnLst>
                                    <p:set>
                                      <p:cBhvr>
                                        <p:cTn id="16" dur="1" fill="hold">
                                          <p:stCondLst>
                                            <p:cond delay="0"/>
                                          </p:stCondLst>
                                        </p:cTn>
                                        <p:tgtEl>
                                          <p:spTgt spid="19"/>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21"/>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3"/>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24"/>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25"/>
                                        </p:tgtEl>
                                        <p:attrNameLst>
                                          <p:attrName>style.visibility</p:attrName>
                                        </p:attrNameLst>
                                      </p:cBhvr>
                                      <p:to>
                                        <p:strVal val="hidden"/>
                                      </p:to>
                                    </p:set>
                                  </p:childTnLst>
                                </p:cTn>
                              </p:par>
                            </p:childTnLst>
                          </p:cTn>
                        </p:par>
                        <p:par>
                          <p:cTn id="29" fill="hold">
                            <p:stCondLst>
                              <p:cond delay="0"/>
                            </p:stCondLst>
                            <p:childTnLst>
                              <p:par>
                                <p:cTn id="30" presetID="6" presetClass="emph" presetSubtype="0" fill="hold" nodeType="afterEffect">
                                  <p:stCondLst>
                                    <p:cond delay="0"/>
                                  </p:stCondLst>
                                  <p:childTnLst>
                                    <p:animScale>
                                      <p:cBhvr>
                                        <p:cTn id="31" dur="2000" fill="hold"/>
                                        <p:tgtEl>
                                          <p:spTgt spid="29"/>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1" grpId="0"/>
      <p:bldP spid="22" grpId="0" animBg="1"/>
      <p:bldP spid="23" grpId="0" animBg="1"/>
      <p:bldP spid="24" grpId="0" animBg="1"/>
      <p:bldP spid="25" grpId="0" animBg="1"/>
    </p:bldLst>
  </p:timing>
</p:sld>
</file>

<file path=ppt/theme/_rels/them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image" Target="../media/image1.jpeg"/></Relationships>
</file>

<file path=ppt/theme/theme1.xml><?xml version="1.0" encoding="utf-8"?>
<a:theme xmlns:a="http://schemas.openxmlformats.org/drawingml/2006/main" name="Project Management Infographics by Slidesgo">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rganic">
  <a:themeElements>
    <a:clrScheme name="Organic">
      <a:dk1>
        <a:sysClr val="windowText" lastClr="000000"/>
      </a:dk1>
      <a:lt1>
        <a:sysClr val="window" lastClr="FFFFFF"/>
      </a:lt1>
      <a:dk2>
        <a:srgbClr val="212121"/>
      </a:dk2>
      <a:lt2>
        <a:srgbClr val="DADADA"/>
      </a:lt2>
      <a:accent1>
        <a:srgbClr val="83992A"/>
      </a:accent1>
      <a:accent2>
        <a:srgbClr val="3C9770"/>
      </a:accent2>
      <a:accent3>
        <a:srgbClr val="44709D"/>
      </a:accent3>
      <a:accent4>
        <a:srgbClr val="A23C33"/>
      </a:accent4>
      <a:accent5>
        <a:srgbClr val="D97828"/>
      </a:accent5>
      <a:accent6>
        <a:srgbClr val="DEB340"/>
      </a:accent6>
      <a:hlink>
        <a:srgbClr val="A8BF4D"/>
      </a:hlink>
      <a:folHlink>
        <a:srgbClr val="B4CA80"/>
      </a:folHlink>
    </a:clrScheme>
    <a:fontScheme name="Organic">
      <a:majorFont>
        <a:latin typeface="Garamond" panose="02020404030301010803"/>
        <a:ea typeface=""/>
        <a:cs typeface=""/>
        <a:font script="Jpan" typeface="ＭＳ Ｐゴシック"/>
        <a:font script="Hang" typeface="돋움"/>
        <a:font script="Hans" typeface="方正舒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Garamond" panose="02020404030301010803"/>
        <a:ea typeface=""/>
        <a:cs typeface=""/>
        <a:font script="Jpan" typeface="ＭＳ Ｐ明朝"/>
        <a:font script="Hang" typeface="바탕"/>
        <a:font script="Hans" typeface="方正舒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rganic">
      <a:fillStyleLst>
        <a:solidFill>
          <a:schemeClr val="phClr"/>
        </a:solidFill>
        <a:gradFill rotWithShape="1">
          <a:gsLst>
            <a:gs pos="0">
              <a:schemeClr val="phClr">
                <a:tint val="60000"/>
                <a:lumMod val="110000"/>
              </a:schemeClr>
            </a:gs>
            <a:gs pos="100000">
              <a:schemeClr val="phClr">
                <a:tint val="82000"/>
              </a:schemeClr>
            </a:gs>
          </a:gsLst>
          <a:lin ang="5400000" scaled="0"/>
        </a:gradFill>
        <a:blipFill>
          <a:blip xmlns:r="http://schemas.openxmlformats.org/officeDocument/2006/relationships" r:embed="rId1">
            <a:duotone>
              <a:schemeClr val="phClr">
                <a:shade val="74000"/>
                <a:satMod val="130000"/>
                <a:lumMod val="90000"/>
              </a:schemeClr>
              <a:schemeClr val="phClr">
                <a:tint val="94000"/>
                <a:satMod val="120000"/>
                <a:lumMod val="104000"/>
              </a:schemeClr>
            </a:duotone>
          </a:blip>
          <a:tile tx="0" ty="0" sx="100000" sy="100000" flip="none" algn="tl"/>
        </a:blipFill>
      </a:fillStyleLst>
      <a:lnStyleLst>
        <a:ln w="9525"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innerShdw blurRad="25400" dist="12700" dir="13500000">
              <a:srgbClr val="000000">
                <a:alpha val="45000"/>
              </a:srgbClr>
            </a:innerShdw>
          </a:effectLst>
        </a:effectStyle>
        <a:effectStyle>
          <a:effectLst>
            <a:outerShdw blurRad="38100" dist="25400" dir="5400000" rotWithShape="0">
              <a:srgbClr val="000000">
                <a:alpha val="60000"/>
              </a:srgbClr>
            </a:outerShdw>
          </a:effectLst>
        </a:effectStyle>
      </a:effectStyleLst>
      <a:bgFillStyleLst>
        <a:solidFill>
          <a:schemeClr val="phClr"/>
        </a:solidFill>
        <a:gradFill rotWithShape="1">
          <a:gsLst>
            <a:gs pos="0">
              <a:schemeClr val="phClr">
                <a:tint val="90000"/>
                <a:lumMod val="110000"/>
              </a:schemeClr>
            </a:gs>
            <a:gs pos="100000">
              <a:schemeClr val="phClr">
                <a:shade val="88000"/>
                <a:lumMod val="98000"/>
              </a:schemeClr>
            </a:gs>
          </a:gsLst>
          <a:lin ang="5400000" scaled="0"/>
        </a:gradFill>
        <a:blipFill>
          <a:blip xmlns:r="http://schemas.openxmlformats.org/officeDocument/2006/relationships" r:embed="rId2"/>
          <a:stretch/>
        </a:blipFill>
      </a:bgFillStyleLst>
    </a:fmtScheme>
  </a:themeElements>
  <a:objectDefaults/>
  <a:extraClrSchemeLst/>
  <a:extLst>
    <a:ext uri="{05A4C25C-085E-4340-85A3-A5531E510DB2}">
      <thm15:themeFamily xmlns:thm15="http://schemas.microsoft.com/office/thememl/2012/main" name="Organic" id="{28CDC826-8792-45C0-861B-85EB3ADEDA33}" vid="{7DAC20F1-423D-49E2-BD0B-50532748BAD0}"/>
    </a:ext>
  </a:ext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2715</TotalTime>
  <Words>8734</Words>
  <Application>Microsoft Office PowerPoint</Application>
  <PresentationFormat>On-screen Show (16:9)</PresentationFormat>
  <Paragraphs>985</Paragraphs>
  <Slides>96</Slides>
  <Notes>94</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96</vt:i4>
      </vt:variant>
    </vt:vector>
  </HeadingPairs>
  <TitlesOfParts>
    <vt:vector size="107" baseType="lpstr">
      <vt:lpstr>B Titr</vt:lpstr>
      <vt:lpstr>Wingdings</vt:lpstr>
      <vt:lpstr>Garamond</vt:lpstr>
      <vt:lpstr>Roboto</vt:lpstr>
      <vt:lpstr>Arial</vt:lpstr>
      <vt:lpstr>IRAN Sans</vt:lpstr>
      <vt:lpstr>B Nazanin</vt:lpstr>
      <vt:lpstr>Fira Sans Extra Condensed Medium</vt:lpstr>
      <vt:lpstr>Calibri</vt:lpstr>
      <vt:lpstr>Project Management Infographics by Slidesgo</vt:lpstr>
      <vt:lpstr>Organic</vt:lpstr>
      <vt:lpstr>درس مدیریت تشکیلات کارگاهی موضوع: استانداردهای صنعت ساخت </vt:lpstr>
      <vt:lpstr>PowerPoint Presentation</vt:lpstr>
      <vt:lpstr>آئین نامه استانداردهای اجرایی طرحهای عمرانی</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استانداردهای سنگی</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استاندارد 7122 : اجرهای رسی سبک غیر باربر</vt:lpstr>
      <vt:lpstr>PowerPoint Presentation</vt:lpstr>
      <vt:lpstr>PowerPoint Presentation</vt:lpstr>
      <vt:lpstr>PowerPoint Presentation</vt:lpstr>
      <vt:lpstr>PowerPoint Presentation</vt:lpstr>
      <vt:lpstr>روش نصب عایق رطوبتی پیش ساخته</vt:lpstr>
      <vt:lpstr>PowerPoint Presentation</vt:lpstr>
      <vt:lpstr>PowerPoint Presentation</vt:lpstr>
      <vt:lpstr>PowerPoint Presentation</vt:lpstr>
      <vt:lpstr>نحوه اجرا </vt:lpstr>
      <vt:lpstr> </vt:lpstr>
      <vt:lpstr>PowerPoint Presentation</vt:lpstr>
      <vt:lpstr>آیین نامه جوشکاری ساختمانی ایران</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سیمان پرتلند پوزولانی</vt:lpstr>
      <vt:lpstr>PowerPoint Presentation</vt:lpstr>
      <vt:lpstr>PowerPoint Presentation</vt:lpstr>
      <vt:lpstr>PowerPoint Presentation</vt:lpstr>
      <vt:lpstr>PowerPoint Presentation</vt:lpstr>
      <vt:lpstr>PowerPoint Presentation</vt:lpstr>
      <vt:lpstr>PowerPoint Presentation</vt:lpstr>
      <vt:lpstr>مشخصات فنی عمومی کارهای ساختمانی</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آیین نامه سازه های فضا کار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دستور العمل طراحی و اجرای سقف های تیرچه و بلوک</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دستور العمل ارزیابی کیفیت و مشخصات فنی عملیات اجرا شده</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Project Management Infographics</dc:title>
  <dc:creator>amiros</dc:creator>
  <cp:lastModifiedBy>maryam khodaparast</cp:lastModifiedBy>
  <cp:revision>97</cp:revision>
  <dcterms:modified xsi:type="dcterms:W3CDTF">2024-01-27T00:36:56Z</dcterms:modified>
</cp:coreProperties>
</file>