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281" r:id="rId2"/>
    <p:sldId id="280" r:id="rId3"/>
    <p:sldId id="256" r:id="rId4"/>
    <p:sldId id="257" r:id="rId5"/>
    <p:sldId id="258" r:id="rId6"/>
    <p:sldId id="259" r:id="rId7"/>
    <p:sldId id="260" r:id="rId8"/>
    <p:sldId id="272" r:id="rId9"/>
    <p:sldId id="273" r:id="rId10"/>
    <p:sldId id="278" r:id="rId11"/>
    <p:sldId id="279" r:id="rId12"/>
    <p:sldId id="261" r:id="rId13"/>
    <p:sldId id="262" r:id="rId14"/>
    <p:sldId id="263" r:id="rId15"/>
    <p:sldId id="264" r:id="rId16"/>
    <p:sldId id="265" r:id="rId17"/>
    <p:sldId id="266" r:id="rId18"/>
    <p:sldId id="267" r:id="rId19"/>
    <p:sldId id="268" r:id="rId20"/>
    <p:sldId id="269" r:id="rId21"/>
    <p:sldId id="270" r:id="rId22"/>
    <p:sldId id="271" r:id="rId23"/>
    <p:sldId id="274" r:id="rId24"/>
    <p:sldId id="275" r:id="rId25"/>
    <p:sldId id="276" r:id="rId26"/>
    <p:sldId id="277"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fa-IR"/>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23FD7083-2B3E-4642-AECD-48E87E84DE52}" type="datetimeFigureOut">
              <a:rPr lang="fa-IR" smtClean="0"/>
              <a:t>05/05/1444</a:t>
            </a:fld>
            <a:endParaRPr lang="fa-I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fa-I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fa-IR"/>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25A8BA3B-DD51-44BC-9894-0C1BEFD5D3D9}" type="slidenum">
              <a:rPr lang="fa-IR" smtClean="0"/>
              <a:t>‹#›</a:t>
            </a:fld>
            <a:endParaRPr lang="fa-IR"/>
          </a:p>
        </p:txBody>
      </p:sp>
    </p:spTree>
    <p:extLst>
      <p:ext uri="{BB962C8B-B14F-4D97-AF65-F5344CB8AC3E}">
        <p14:creationId xmlns:p14="http://schemas.microsoft.com/office/powerpoint/2010/main" val="119133080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09442" y="3307355"/>
            <a:ext cx="7117180" cy="1470025"/>
          </a:xfrm>
        </p:spPr>
        <p:txBody>
          <a:bodyPr anchor="b"/>
          <a:lstStyle>
            <a:lvl1pPr>
              <a:defRPr sz="4000"/>
            </a:lvl1pPr>
          </a:lstStyle>
          <a:p>
            <a:r>
              <a:rPr lang="en-US"/>
              <a:t>Click to edit Master title style</a:t>
            </a:r>
            <a:endParaRPr lang="en-US" dirty="0"/>
          </a:p>
        </p:txBody>
      </p:sp>
      <p:sp>
        <p:nvSpPr>
          <p:cNvPr id="3" name="Subtitle 2"/>
          <p:cNvSpPr>
            <a:spLocks noGrp="1"/>
          </p:cNvSpPr>
          <p:nvPr>
            <p:ph type="subTitle" idx="1"/>
          </p:nvPr>
        </p:nvSpPr>
        <p:spPr>
          <a:xfrm>
            <a:off x="1009442" y="4777380"/>
            <a:ext cx="7117180" cy="861420"/>
          </a:xfrm>
        </p:spPr>
        <p:txBody>
          <a:bodyPr anchor="t">
            <a:normAutofit/>
          </a:bodyPr>
          <a:lstStyle>
            <a:lvl1pPr marL="0" indent="0" algn="l">
              <a:buNone/>
              <a:defRPr sz="20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eaLnBrk="1" latinLnBrk="0" hangingPunct="1"/>
            <a:fld id="{3758195F-F04F-4168-A055-B4A3D4C54F49}" type="datetime1">
              <a:rPr lang="en-US" smtClean="0"/>
              <a:t>11/28/2022</a:t>
            </a:fld>
            <a:endParaRPr lang="en-US"/>
          </a:p>
        </p:txBody>
      </p:sp>
      <p:sp>
        <p:nvSpPr>
          <p:cNvPr id="5" name="Footer Placeholder 4"/>
          <p:cNvSpPr>
            <a:spLocks noGrp="1"/>
          </p:cNvSpPr>
          <p:nvPr>
            <p:ph type="ftr" sz="quarter" idx="11"/>
          </p:nvPr>
        </p:nvSpPr>
        <p:spPr/>
        <p:txBody>
          <a:bodyPr/>
          <a:lstStyle/>
          <a:p>
            <a:r>
              <a:rPr kumimoji="0" lang="en-US"/>
              <a:t>www.SaberiMiT.Blogfa.Com</a:t>
            </a:r>
          </a:p>
        </p:txBody>
      </p:sp>
      <p:sp>
        <p:nvSpPr>
          <p:cNvPr id="6" name="Slide Number Placeholder 5"/>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eaLnBrk="1" latinLnBrk="0" hangingPunct="1"/>
            <a:fld id="{8813E096-3754-4E2C-8715-8826B60EF3BF}" type="datetime1">
              <a:rPr lang="en-US" smtClean="0"/>
              <a:t>11/28/2022</a:t>
            </a:fld>
            <a:endParaRPr lang="en-US"/>
          </a:p>
        </p:txBody>
      </p:sp>
      <p:sp>
        <p:nvSpPr>
          <p:cNvPr id="5" name="Footer Placeholder 4"/>
          <p:cNvSpPr>
            <a:spLocks noGrp="1"/>
          </p:cNvSpPr>
          <p:nvPr>
            <p:ph type="ftr" sz="quarter" idx="11"/>
          </p:nvPr>
        </p:nvSpPr>
        <p:spPr/>
        <p:txBody>
          <a:bodyPr/>
          <a:lstStyle/>
          <a:p>
            <a:r>
              <a:rPr kumimoji="0" lang="en-US"/>
              <a:t>www.SaberiMiT.Blogfa.Com</a:t>
            </a:r>
          </a:p>
        </p:txBody>
      </p:sp>
      <p:sp>
        <p:nvSpPr>
          <p:cNvPr id="6" name="Slide Number Placeholder 5"/>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09443" y="3308581"/>
            <a:ext cx="7117178" cy="1468800"/>
          </a:xfrm>
        </p:spPr>
        <p:txBody>
          <a:bodyPr anchor="b"/>
          <a:lstStyle>
            <a:lvl1pPr algn="r">
              <a:defRPr sz="3200" b="0" cap="none"/>
            </a:lvl1pPr>
          </a:lstStyle>
          <a:p>
            <a:r>
              <a:rPr lang="en-US"/>
              <a:t>Click to edit Master title style</a:t>
            </a:r>
          </a:p>
        </p:txBody>
      </p:sp>
      <p:sp>
        <p:nvSpPr>
          <p:cNvPr id="3" name="Text Placeholder 2"/>
          <p:cNvSpPr>
            <a:spLocks noGrp="1"/>
          </p:cNvSpPr>
          <p:nvPr>
            <p:ph type="body" idx="1"/>
          </p:nvPr>
        </p:nvSpPr>
        <p:spPr>
          <a:xfrm>
            <a:off x="1009443" y="4777381"/>
            <a:ext cx="7117178" cy="860400"/>
          </a:xfrm>
        </p:spPr>
        <p:txBody>
          <a:bodyPr anchor="t">
            <a:normAutofit/>
          </a:bodyPr>
          <a:lstStyle>
            <a:lvl1pPr marL="0" indent="0" algn="r">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eaLnBrk="1" latinLnBrk="0" hangingPunct="1"/>
            <a:fld id="{208F8CD7-3EB7-42C4-89F3-F40ABCC5C07E}" type="datetime1">
              <a:rPr lang="en-US" smtClean="0"/>
              <a:t>11/28/2022</a:t>
            </a:fld>
            <a:endParaRPr lang="en-US"/>
          </a:p>
        </p:txBody>
      </p:sp>
      <p:sp>
        <p:nvSpPr>
          <p:cNvPr id="5" name="Footer Placeholder 4"/>
          <p:cNvSpPr>
            <a:spLocks noGrp="1"/>
          </p:cNvSpPr>
          <p:nvPr>
            <p:ph type="ftr" sz="quarter" idx="11"/>
          </p:nvPr>
        </p:nvSpPr>
        <p:spPr/>
        <p:txBody>
          <a:bodyPr/>
          <a:lstStyle/>
          <a:p>
            <a:r>
              <a:rPr kumimoji="0" lang="en-US"/>
              <a:t>www.SaberiMiT.Blogfa.Com</a:t>
            </a:r>
          </a:p>
        </p:txBody>
      </p:sp>
      <p:sp>
        <p:nvSpPr>
          <p:cNvPr id="6" name="Slide Number Placeholder 5"/>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09443" y="675724"/>
            <a:ext cx="7123080" cy="924475"/>
          </a:xfrm>
        </p:spPr>
        <p:txBody>
          <a:bodyPr/>
          <a:lstStyle/>
          <a:p>
            <a:r>
              <a:rPr lang="en-US"/>
              <a:t>Click to edit Master title style</a:t>
            </a:r>
          </a:p>
        </p:txBody>
      </p:sp>
      <p:sp>
        <p:nvSpPr>
          <p:cNvPr id="3" name="Content Placeholder 2"/>
          <p:cNvSpPr>
            <a:spLocks noGrp="1"/>
          </p:cNvSpPr>
          <p:nvPr>
            <p:ph sz="half" idx="1"/>
          </p:nvPr>
        </p:nvSpPr>
        <p:spPr>
          <a:xfrm>
            <a:off x="1009442" y="1809749"/>
            <a:ext cx="3471277" cy="405130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3281" y="1809749"/>
            <a:ext cx="3469242" cy="4051302"/>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eaLnBrk="1" latinLnBrk="0" hangingPunct="1"/>
            <a:fld id="{BEAC7760-934A-4524-A500-BE1B9136AAB4}" type="datetime1">
              <a:rPr lang="en-US" smtClean="0"/>
              <a:t>11/28/2022</a:t>
            </a:fld>
            <a:endParaRPr lang="en-US"/>
          </a:p>
        </p:txBody>
      </p:sp>
      <p:sp>
        <p:nvSpPr>
          <p:cNvPr id="6" name="Footer Placeholder 5"/>
          <p:cNvSpPr>
            <a:spLocks noGrp="1"/>
          </p:cNvSpPr>
          <p:nvPr>
            <p:ph type="ftr" sz="quarter" idx="11"/>
          </p:nvPr>
        </p:nvSpPr>
        <p:spPr/>
        <p:txBody>
          <a:bodyPr/>
          <a:lstStyle/>
          <a:p>
            <a:r>
              <a:rPr kumimoji="0" lang="en-US"/>
              <a:t>www.SaberiMiT.Blogfa.Com</a:t>
            </a:r>
          </a:p>
        </p:txBody>
      </p:sp>
      <p:sp>
        <p:nvSpPr>
          <p:cNvPr id="7" name="Slide Number Placeholder 6"/>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09442" y="1812927"/>
            <a:ext cx="347127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9442" y="2389189"/>
            <a:ext cx="3471277" cy="347186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63280" y="1812927"/>
            <a:ext cx="347127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0" y="2389189"/>
            <a:ext cx="3471275" cy="347186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eaLnBrk="1" latinLnBrk="0" hangingPunct="1"/>
            <a:fld id="{1FBC6FA8-B821-40F9-B9EE-67120C80332F}" type="datetime1">
              <a:rPr lang="en-US" smtClean="0"/>
              <a:t>11/28/2022</a:t>
            </a:fld>
            <a:endParaRPr lang="en-US"/>
          </a:p>
        </p:txBody>
      </p:sp>
      <p:sp>
        <p:nvSpPr>
          <p:cNvPr id="8" name="Footer Placeholder 7"/>
          <p:cNvSpPr>
            <a:spLocks noGrp="1"/>
          </p:cNvSpPr>
          <p:nvPr>
            <p:ph type="ftr" sz="quarter" idx="11"/>
          </p:nvPr>
        </p:nvSpPr>
        <p:spPr/>
        <p:txBody>
          <a:bodyPr/>
          <a:lstStyle/>
          <a:p>
            <a:r>
              <a:rPr kumimoji="0" lang="en-US"/>
              <a:t>www.SaberiMiT.Blogfa.Com</a:t>
            </a:r>
          </a:p>
        </p:txBody>
      </p:sp>
      <p:sp>
        <p:nvSpPr>
          <p:cNvPr id="9" name="Slide Number Placeholder 8"/>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eaLnBrk="1" latinLnBrk="0" hangingPunct="1"/>
            <a:fld id="{C74DA9B4-51AE-4FE9-BBF0-DFD022921E43}" type="datetime1">
              <a:rPr lang="en-US" smtClean="0"/>
              <a:t>11/28/2022</a:t>
            </a:fld>
            <a:endParaRPr lang="en-US"/>
          </a:p>
        </p:txBody>
      </p:sp>
      <p:sp>
        <p:nvSpPr>
          <p:cNvPr id="4" name="Footer Placeholder 3"/>
          <p:cNvSpPr>
            <a:spLocks noGrp="1"/>
          </p:cNvSpPr>
          <p:nvPr>
            <p:ph type="ftr" sz="quarter" idx="11"/>
          </p:nvPr>
        </p:nvSpPr>
        <p:spPr/>
        <p:txBody>
          <a:bodyPr/>
          <a:lstStyle/>
          <a:p>
            <a:r>
              <a:rPr kumimoji="0" lang="en-US"/>
              <a:t>www.SaberiMiT.Blogfa.Com</a:t>
            </a:r>
          </a:p>
        </p:txBody>
      </p:sp>
      <p:sp>
        <p:nvSpPr>
          <p:cNvPr id="5" name="Slide Number Placeholder 4"/>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C8680A88-FD46-4758-AF99-2FAB825284BF}" type="datetime1">
              <a:rPr lang="en-US" smtClean="0"/>
              <a:t>11/28/2022</a:t>
            </a:fld>
            <a:endParaRPr lang="en-US"/>
          </a:p>
        </p:txBody>
      </p:sp>
      <p:sp>
        <p:nvSpPr>
          <p:cNvPr id="3" name="Footer Placeholder 2"/>
          <p:cNvSpPr>
            <a:spLocks noGrp="1"/>
          </p:cNvSpPr>
          <p:nvPr>
            <p:ph type="ftr" sz="quarter" idx="11"/>
          </p:nvPr>
        </p:nvSpPr>
        <p:spPr/>
        <p:txBody>
          <a:bodyPr/>
          <a:lstStyle/>
          <a:p>
            <a:r>
              <a:rPr kumimoji="0" lang="en-US"/>
              <a:t>www.SaberiMiT.Blogfa.Com</a:t>
            </a:r>
          </a:p>
        </p:txBody>
      </p:sp>
      <p:sp>
        <p:nvSpPr>
          <p:cNvPr id="4" name="Slide Number Placeholder 3"/>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9442" y="446087"/>
            <a:ext cx="2660650" cy="1185861"/>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3852654" y="446087"/>
            <a:ext cx="4279869" cy="5414963"/>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09442" y="1631949"/>
            <a:ext cx="2660650" cy="4229099"/>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eaLnBrk="1" latinLnBrk="0" hangingPunct="1"/>
            <a:fld id="{DF18FDD2-EA14-4EE5-991E-E0C1A57E67FE}" type="datetime1">
              <a:rPr lang="en-US" smtClean="0"/>
              <a:t>11/28/2022</a:t>
            </a:fld>
            <a:endParaRPr lang="en-US"/>
          </a:p>
        </p:txBody>
      </p:sp>
      <p:sp>
        <p:nvSpPr>
          <p:cNvPr id="6" name="Footer Placeholder 5"/>
          <p:cNvSpPr>
            <a:spLocks noGrp="1"/>
          </p:cNvSpPr>
          <p:nvPr>
            <p:ph type="ftr" sz="quarter" idx="11"/>
          </p:nvPr>
        </p:nvSpPr>
        <p:spPr/>
        <p:txBody>
          <a:bodyPr/>
          <a:lstStyle/>
          <a:p>
            <a:r>
              <a:rPr kumimoji="0" lang="en-US"/>
              <a:t>www.SaberiMiT.Blogfa.Com</a:t>
            </a:r>
          </a:p>
        </p:txBody>
      </p:sp>
      <p:sp>
        <p:nvSpPr>
          <p:cNvPr id="7" name="Slide Number Placeholder 6"/>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9443" y="1387058"/>
            <a:ext cx="3297953" cy="1113254"/>
          </a:xfrm>
        </p:spPr>
        <p:txBody>
          <a:bodyPr anchor="b">
            <a:normAutofit/>
          </a:bodyPr>
          <a:lstStyle>
            <a:lvl1pPr algn="l">
              <a:defRPr sz="2400" b="0"/>
            </a:lvl1pPr>
          </a:lstStyle>
          <a:p>
            <a:r>
              <a:rPr lang="en-US"/>
              <a:t>Click to edit Master title style</a:t>
            </a:r>
          </a:p>
        </p:txBody>
      </p:sp>
      <p:sp>
        <p:nvSpPr>
          <p:cNvPr id="4" name="Text Placeholder 3"/>
          <p:cNvSpPr>
            <a:spLocks noGrp="1"/>
          </p:cNvSpPr>
          <p:nvPr>
            <p:ph type="body" sz="half" idx="2"/>
          </p:nvPr>
        </p:nvSpPr>
        <p:spPr>
          <a:xfrm>
            <a:off x="1009443" y="2500312"/>
            <a:ext cx="3297954" cy="2530200"/>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eaLnBrk="1" latinLnBrk="0" hangingPunct="1"/>
            <a:fld id="{C86EFA59-A25A-4F78-ABC5-6D7624C55236}" type="datetime1">
              <a:rPr lang="en-US" smtClean="0"/>
              <a:t>11/28/2022</a:t>
            </a:fld>
            <a:endParaRPr lang="en-US"/>
          </a:p>
        </p:txBody>
      </p:sp>
      <p:sp>
        <p:nvSpPr>
          <p:cNvPr id="6" name="Footer Placeholder 5"/>
          <p:cNvSpPr>
            <a:spLocks noGrp="1"/>
          </p:cNvSpPr>
          <p:nvPr>
            <p:ph type="ftr" sz="quarter" idx="11"/>
          </p:nvPr>
        </p:nvSpPr>
        <p:spPr/>
        <p:txBody>
          <a:bodyPr/>
          <a:lstStyle/>
          <a:p>
            <a:r>
              <a:rPr kumimoji="0" lang="en-US"/>
              <a:t>www.SaberiMiT.Blogfa.Com</a:t>
            </a:r>
          </a:p>
        </p:txBody>
      </p:sp>
      <p:sp>
        <p:nvSpPr>
          <p:cNvPr id="7" name="Slide Number Placeholder 6"/>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grpSp>
        <p:nvGrpSpPr>
          <p:cNvPr id="16" name="Group 15"/>
          <p:cNvGrpSpPr/>
          <p:nvPr/>
        </p:nvGrpSpPr>
        <p:grpSpPr>
          <a:xfrm>
            <a:off x="4516154" y="994387"/>
            <a:ext cx="1847138" cy="1530439"/>
            <a:chOff x="4718762" y="993075"/>
            <a:chExt cx="1847138" cy="1530439"/>
          </a:xfrm>
        </p:grpSpPr>
        <p:sp>
          <p:nvSpPr>
            <p:cNvPr id="32" name="Oval 31"/>
            <p:cNvSpPr/>
            <p:nvPr/>
          </p:nvSpPr>
          <p:spPr>
            <a:xfrm>
              <a:off x="5479247" y="1436861"/>
              <a:ext cx="1086653" cy="1086653"/>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5650541" y="1411791"/>
              <a:ext cx="830365" cy="830365"/>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p:cNvSpPr/>
            <p:nvPr/>
          </p:nvSpPr>
          <p:spPr>
            <a:xfrm>
              <a:off x="5256184" y="1894454"/>
              <a:ext cx="602364" cy="602364"/>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5424145" y="1811313"/>
              <a:ext cx="489588" cy="489588"/>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p:cNvSpPr/>
            <p:nvPr/>
          </p:nvSpPr>
          <p:spPr>
            <a:xfrm>
              <a:off x="4718762" y="2083426"/>
              <a:ext cx="256601" cy="256601"/>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p:cNvSpPr/>
            <p:nvPr/>
          </p:nvSpPr>
          <p:spPr>
            <a:xfrm>
              <a:off x="6132091" y="993075"/>
              <a:ext cx="256601" cy="256601"/>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5059596" y="1894454"/>
              <a:ext cx="197439" cy="197439"/>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p:cNvSpPr/>
            <p:nvPr/>
          </p:nvSpPr>
          <p:spPr>
            <a:xfrm>
              <a:off x="6148801" y="1060593"/>
              <a:ext cx="197439" cy="197439"/>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Picture Placeholder 17"/>
          <p:cNvSpPr>
            <a:spLocks noGrp="1"/>
          </p:cNvSpPr>
          <p:nvPr>
            <p:ph type="pic" sz="quarter" idx="14"/>
          </p:nvPr>
        </p:nvSpPr>
        <p:spPr>
          <a:xfrm>
            <a:off x="4674192" y="1601512"/>
            <a:ext cx="3429000" cy="3429000"/>
          </a:xfrm>
          <a:prstGeom prst="ellipse">
            <a:avLst/>
          </a:prstGeom>
          <a:ln w="76200">
            <a:solidFill>
              <a:schemeClr val="tx2">
                <a:lumMod val="75000"/>
              </a:schemeClr>
            </a:solidFill>
          </a:ln>
        </p:spPr>
        <p:txBody>
          <a:bodyPr/>
          <a:lstStyle/>
          <a:p>
            <a:r>
              <a:rPr lang="en-US"/>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009443" y="1807361"/>
            <a:ext cx="7123080" cy="40514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eaLnBrk="1" latinLnBrk="0" hangingPunct="1"/>
            <a:fld id="{1ABB1E63-A079-420C-8A8F-DF8CAA02528F}" type="datetime1">
              <a:rPr lang="en-US" smtClean="0"/>
              <a:t>11/28/2022</a:t>
            </a:fld>
            <a:endParaRPr lang="en-US" dirty="0"/>
          </a:p>
        </p:txBody>
      </p:sp>
      <p:sp>
        <p:nvSpPr>
          <p:cNvPr id="5" name="Footer Placeholder 4"/>
          <p:cNvSpPr>
            <a:spLocks noGrp="1"/>
          </p:cNvSpPr>
          <p:nvPr>
            <p:ph type="ftr" sz="quarter" idx="11"/>
          </p:nvPr>
        </p:nvSpPr>
        <p:spPr/>
        <p:txBody>
          <a:bodyPr/>
          <a:lstStyle/>
          <a:p>
            <a:r>
              <a:rPr kumimoji="0" lang="en-US"/>
              <a:t>www.SaberiMiT.Blogfa.Com</a:t>
            </a:r>
          </a:p>
        </p:txBody>
      </p:sp>
      <p:sp>
        <p:nvSpPr>
          <p:cNvPr id="6" name="Slide Number Placeholder 5"/>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9561" y="675723"/>
            <a:ext cx="1472962" cy="518532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09442" y="675723"/>
            <a:ext cx="5467557" cy="51853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eaLnBrk="1" latinLnBrk="0" hangingPunct="1"/>
            <a:fld id="{68A25623-C828-4347-B943-4CB8AF9A06A1}" type="datetime1">
              <a:rPr lang="en-US" smtClean="0"/>
              <a:t>11/28/2022</a:t>
            </a:fld>
            <a:endParaRPr lang="en-US"/>
          </a:p>
        </p:txBody>
      </p:sp>
      <p:sp>
        <p:nvSpPr>
          <p:cNvPr id="5" name="Footer Placeholder 4"/>
          <p:cNvSpPr>
            <a:spLocks noGrp="1"/>
          </p:cNvSpPr>
          <p:nvPr>
            <p:ph type="ftr" sz="quarter" idx="11"/>
          </p:nvPr>
        </p:nvSpPr>
        <p:spPr/>
        <p:txBody>
          <a:bodyPr/>
          <a:lstStyle/>
          <a:p>
            <a:r>
              <a:rPr kumimoji="0" lang="en-US"/>
              <a:t>www.SaberiMiT.Blogfa.Com</a:t>
            </a:r>
          </a:p>
        </p:txBody>
      </p:sp>
      <p:sp>
        <p:nvSpPr>
          <p:cNvPr id="6" name="Slide Number Placeholder 5"/>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3"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9"/>
          <p:cNvSpPr>
            <a:spLocks noGrp="1" noChangeArrowheads="1"/>
          </p:cNvSpPr>
          <p:nvPr>
            <p:ph type="sldNum" sz="quarter" idx="12"/>
          </p:nvPr>
        </p:nvSpPr>
        <p:spPr>
          <a:ln/>
        </p:spPr>
        <p:txBody>
          <a:bodyPr/>
          <a:lstStyle>
            <a:lvl1pPr>
              <a:defRPr/>
            </a:lvl1pPr>
          </a:lstStyle>
          <a:p>
            <a:fld id="{96328613-8456-489E-982A-31EAD95B21AB}" type="slidenum">
              <a:rPr lang="ar-SA" altLang="en-US"/>
              <a:pPr/>
              <a:t>‹#›</a:t>
            </a:fld>
            <a:endParaRPr lang="en-US" altLang="en-US"/>
          </a:p>
        </p:txBody>
      </p:sp>
    </p:spTree>
    <p:extLst>
      <p:ext uri="{BB962C8B-B14F-4D97-AF65-F5344CB8AC3E}">
        <p14:creationId xmlns:p14="http://schemas.microsoft.com/office/powerpoint/2010/main" val="532264529"/>
      </p:ext>
    </p:extLst>
  </p:cSld>
  <p:clrMapOvr>
    <a:masterClrMapping/>
  </p:clrMapOvr>
  <p:transition>
    <p:zoom dir="in"/>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56" name="Oval 55"/>
          <p:cNvSpPr>
            <a:spLocks noChangeAspect="1"/>
          </p:cNvSpPr>
          <p:nvPr/>
        </p:nvSpPr>
        <p:spPr>
          <a:xfrm>
            <a:off x="-69625" y="4042576"/>
            <a:ext cx="1743945" cy="1909234"/>
          </a:xfrm>
          <a:custGeom>
            <a:avLst/>
            <a:gdLst/>
            <a:ahLst/>
            <a:cxnLst/>
            <a:rect l="l" t="t" r="r" b="b"/>
            <a:pathLst>
              <a:path w="1743945" h="1909234">
                <a:moveTo>
                  <a:pt x="789328" y="0"/>
                </a:moveTo>
                <a:cubicBezTo>
                  <a:pt x="1316548" y="0"/>
                  <a:pt x="1743945" y="427397"/>
                  <a:pt x="1743945" y="954617"/>
                </a:cubicBezTo>
                <a:cubicBezTo>
                  <a:pt x="1743945" y="1481837"/>
                  <a:pt x="1316548" y="1909234"/>
                  <a:pt x="789328" y="1909234"/>
                </a:cubicBezTo>
                <a:cubicBezTo>
                  <a:pt x="461080" y="1909234"/>
                  <a:pt x="171527" y="1743562"/>
                  <a:pt x="0" y="1491086"/>
                </a:cubicBezTo>
                <a:lnTo>
                  <a:pt x="0" y="418149"/>
                </a:lnTo>
                <a:cubicBezTo>
                  <a:pt x="171527" y="165673"/>
                  <a:pt x="461080" y="0"/>
                  <a:pt x="789328" y="0"/>
                </a:cubicBezTo>
                <a:close/>
              </a:path>
            </a:pathLst>
          </a:custGeom>
          <a:solidFill>
            <a:schemeClr val="tx2">
              <a:lumMod val="75000"/>
              <a:alpha val="8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53" name="Oval 52"/>
          <p:cNvSpPr>
            <a:spLocks noChangeAspect="1"/>
          </p:cNvSpPr>
          <p:nvPr/>
        </p:nvSpPr>
        <p:spPr>
          <a:xfrm>
            <a:off x="520638" y="1095310"/>
            <a:ext cx="1909233" cy="1909233"/>
          </a:xfrm>
          <a:prstGeom prst="ellipse">
            <a:avLst/>
          </a:prstGeom>
          <a:solidFill>
            <a:schemeClr val="tx2">
              <a:lumMod val="75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52" name="Oval 51"/>
          <p:cNvSpPr>
            <a:spLocks noChangeAspect="1"/>
          </p:cNvSpPr>
          <p:nvPr/>
        </p:nvSpPr>
        <p:spPr>
          <a:xfrm>
            <a:off x="1878729" y="282933"/>
            <a:ext cx="1909233" cy="1909233"/>
          </a:xfrm>
          <a:prstGeom prst="ellipse">
            <a:avLst/>
          </a:prstGeom>
          <a:solidFill>
            <a:schemeClr val="tx2">
              <a:lumMod val="75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54" name="Oval 53"/>
          <p:cNvSpPr>
            <a:spLocks noChangeAspect="1"/>
          </p:cNvSpPr>
          <p:nvPr/>
        </p:nvSpPr>
        <p:spPr>
          <a:xfrm>
            <a:off x="520637" y="5729135"/>
            <a:ext cx="1909234" cy="1193756"/>
          </a:xfrm>
          <a:custGeom>
            <a:avLst/>
            <a:gdLst/>
            <a:ahLst/>
            <a:cxnLst/>
            <a:rect l="l" t="t" r="r" b="b"/>
            <a:pathLst>
              <a:path w="1909234" h="1193756">
                <a:moveTo>
                  <a:pt x="954617" y="0"/>
                </a:moveTo>
                <a:cubicBezTo>
                  <a:pt x="1481837" y="0"/>
                  <a:pt x="1909234" y="427397"/>
                  <a:pt x="1909234" y="954617"/>
                </a:cubicBezTo>
                <a:cubicBezTo>
                  <a:pt x="1909234" y="1037305"/>
                  <a:pt x="1898721" y="1117537"/>
                  <a:pt x="1877819" y="1193756"/>
                </a:cubicBezTo>
                <a:lnTo>
                  <a:pt x="31415" y="1193756"/>
                </a:lnTo>
                <a:cubicBezTo>
                  <a:pt x="10513" y="1117537"/>
                  <a:pt x="0" y="1037305"/>
                  <a:pt x="0" y="954617"/>
                </a:cubicBezTo>
                <a:cubicBezTo>
                  <a:pt x="0" y="427397"/>
                  <a:pt x="427397" y="0"/>
                  <a:pt x="954617" y="0"/>
                </a:cubicBezTo>
                <a:close/>
              </a:path>
            </a:pathLst>
          </a:custGeom>
          <a:solidFill>
            <a:schemeClr val="tx2">
              <a:lumMod val="75000"/>
              <a:alpha val="16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0" name="Oval 129"/>
          <p:cNvSpPr>
            <a:spLocks noChangeAspect="1"/>
          </p:cNvSpPr>
          <p:nvPr/>
        </p:nvSpPr>
        <p:spPr>
          <a:xfrm>
            <a:off x="-46711" y="-61709"/>
            <a:ext cx="1449107" cy="1677064"/>
          </a:xfrm>
          <a:custGeom>
            <a:avLst/>
            <a:gdLst/>
            <a:ahLst/>
            <a:cxnLst/>
            <a:rect l="l" t="t" r="r" b="b"/>
            <a:pathLst>
              <a:path w="1449107" h="1677064">
                <a:moveTo>
                  <a:pt x="0" y="0"/>
                </a:moveTo>
                <a:lnTo>
                  <a:pt x="1112019" y="0"/>
                </a:lnTo>
                <a:cubicBezTo>
                  <a:pt x="1319407" y="171874"/>
                  <a:pt x="1449107" y="432014"/>
                  <a:pt x="1449107" y="722447"/>
                </a:cubicBezTo>
                <a:cubicBezTo>
                  <a:pt x="1449107" y="1249667"/>
                  <a:pt x="1021710" y="1677064"/>
                  <a:pt x="494490" y="1677064"/>
                </a:cubicBezTo>
                <a:cubicBezTo>
                  <a:pt x="313232" y="1677064"/>
                  <a:pt x="143772" y="1626546"/>
                  <a:pt x="0" y="1537872"/>
                </a:cubicBezTo>
                <a:close/>
              </a:path>
            </a:pathLst>
          </a:custGeom>
          <a:solidFill>
            <a:schemeClr val="tx2">
              <a:lumMod val="75000"/>
              <a:alpha val="14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1" name="Oval 130"/>
          <p:cNvSpPr>
            <a:spLocks noChangeAspect="1"/>
          </p:cNvSpPr>
          <p:nvPr/>
        </p:nvSpPr>
        <p:spPr>
          <a:xfrm>
            <a:off x="924113" y="-161623"/>
            <a:ext cx="1909233" cy="1909233"/>
          </a:xfrm>
          <a:prstGeom prst="ellipse">
            <a:avLst/>
          </a:prstGeom>
          <a:solidFill>
            <a:schemeClr val="tx2">
              <a:lumMod val="75000"/>
              <a:alpha val="2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2" name="Oval 131"/>
          <p:cNvSpPr>
            <a:spLocks noChangeAspect="1"/>
          </p:cNvSpPr>
          <p:nvPr/>
        </p:nvSpPr>
        <p:spPr>
          <a:xfrm>
            <a:off x="0" y="660738"/>
            <a:ext cx="1909233" cy="1909233"/>
          </a:xfrm>
          <a:prstGeom prst="ellipse">
            <a:avLst/>
          </a:prstGeom>
          <a:solidFill>
            <a:schemeClr val="tx2">
              <a:lumMod val="75000"/>
              <a:alpha val="15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3" name="Oval 132"/>
          <p:cNvSpPr>
            <a:spLocks noChangeAspect="1"/>
          </p:cNvSpPr>
          <p:nvPr/>
        </p:nvSpPr>
        <p:spPr>
          <a:xfrm>
            <a:off x="7497531" y="-61709"/>
            <a:ext cx="1694467" cy="1677064"/>
          </a:xfrm>
          <a:custGeom>
            <a:avLst/>
            <a:gdLst/>
            <a:ahLst/>
            <a:cxnLst/>
            <a:rect l="l" t="t" r="r" b="b"/>
            <a:pathLst>
              <a:path w="1694467" h="1677064">
                <a:moveTo>
                  <a:pt x="337088" y="0"/>
                </a:moveTo>
                <a:lnTo>
                  <a:pt x="1573463" y="0"/>
                </a:lnTo>
                <a:cubicBezTo>
                  <a:pt x="1618202" y="37449"/>
                  <a:pt x="1658454" y="79950"/>
                  <a:pt x="1694467" y="126010"/>
                </a:cubicBezTo>
                <a:lnTo>
                  <a:pt x="1694467" y="1318884"/>
                </a:lnTo>
                <a:cubicBezTo>
                  <a:pt x="1522840" y="1538397"/>
                  <a:pt x="1254922" y="1677064"/>
                  <a:pt x="954617" y="1677064"/>
                </a:cubicBezTo>
                <a:cubicBezTo>
                  <a:pt x="427397" y="1677064"/>
                  <a:pt x="0" y="1249667"/>
                  <a:pt x="0" y="722447"/>
                </a:cubicBezTo>
                <a:cubicBezTo>
                  <a:pt x="0" y="432014"/>
                  <a:pt x="129700" y="171874"/>
                  <a:pt x="337088" y="0"/>
                </a:cubicBezTo>
                <a:close/>
              </a:path>
            </a:pathLst>
          </a:custGeom>
          <a:solidFill>
            <a:schemeClr val="accent3">
              <a:lumMod val="60000"/>
              <a:lumOff val="40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4" name="Oval 133"/>
          <p:cNvSpPr>
            <a:spLocks noChangeAspect="1"/>
          </p:cNvSpPr>
          <p:nvPr/>
        </p:nvSpPr>
        <p:spPr>
          <a:xfrm>
            <a:off x="6117502" y="-61708"/>
            <a:ext cx="1909234" cy="1705448"/>
          </a:xfrm>
          <a:custGeom>
            <a:avLst/>
            <a:gdLst/>
            <a:ahLst/>
            <a:cxnLst/>
            <a:rect l="l" t="t" r="r" b="b"/>
            <a:pathLst>
              <a:path w="1909234" h="1705448">
                <a:moveTo>
                  <a:pt x="371490" y="0"/>
                </a:moveTo>
                <a:lnTo>
                  <a:pt x="1537745" y="0"/>
                </a:lnTo>
                <a:cubicBezTo>
                  <a:pt x="1764760" y="171517"/>
                  <a:pt x="1909234" y="444302"/>
                  <a:pt x="1909234" y="750831"/>
                </a:cubicBezTo>
                <a:cubicBezTo>
                  <a:pt x="1909234" y="1278051"/>
                  <a:pt x="1481837" y="1705448"/>
                  <a:pt x="954617" y="1705448"/>
                </a:cubicBezTo>
                <a:cubicBezTo>
                  <a:pt x="427397" y="1705448"/>
                  <a:pt x="0" y="1278051"/>
                  <a:pt x="0" y="750831"/>
                </a:cubicBezTo>
                <a:cubicBezTo>
                  <a:pt x="0" y="444302"/>
                  <a:pt x="144474" y="171517"/>
                  <a:pt x="371490" y="0"/>
                </a:cubicBezTo>
                <a:close/>
              </a:path>
            </a:pathLst>
          </a:custGeom>
          <a:solidFill>
            <a:schemeClr val="tx2">
              <a:lumMod val="75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5" name="Oval 134"/>
          <p:cNvSpPr>
            <a:spLocks noChangeAspect="1"/>
          </p:cNvSpPr>
          <p:nvPr/>
        </p:nvSpPr>
        <p:spPr>
          <a:xfrm>
            <a:off x="7494454" y="1095309"/>
            <a:ext cx="1697544" cy="1909234"/>
          </a:xfrm>
          <a:custGeom>
            <a:avLst/>
            <a:gdLst/>
            <a:ahLst/>
            <a:cxnLst/>
            <a:rect l="l" t="t" r="r" b="b"/>
            <a:pathLst>
              <a:path w="1697544" h="1909234">
                <a:moveTo>
                  <a:pt x="954617" y="0"/>
                </a:moveTo>
                <a:cubicBezTo>
                  <a:pt x="1256666" y="0"/>
                  <a:pt x="1525952" y="140283"/>
                  <a:pt x="1697544" y="361910"/>
                </a:cubicBezTo>
                <a:lnTo>
                  <a:pt x="1697544" y="1547324"/>
                </a:lnTo>
                <a:cubicBezTo>
                  <a:pt x="1525952" y="1768951"/>
                  <a:pt x="1256666" y="1909234"/>
                  <a:pt x="954617" y="1909234"/>
                </a:cubicBezTo>
                <a:cubicBezTo>
                  <a:pt x="427397" y="1909234"/>
                  <a:pt x="0" y="1481837"/>
                  <a:pt x="0" y="954617"/>
                </a:cubicBezTo>
                <a:cubicBezTo>
                  <a:pt x="0" y="427397"/>
                  <a:pt x="427397" y="0"/>
                  <a:pt x="954617" y="0"/>
                </a:cubicBezTo>
                <a:close/>
              </a:path>
            </a:pathLst>
          </a:custGeom>
          <a:solidFill>
            <a:schemeClr val="tx2">
              <a:lumMod val="75000"/>
              <a:alpha val="15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6" name="Oval 135"/>
          <p:cNvSpPr>
            <a:spLocks noChangeAspect="1"/>
          </p:cNvSpPr>
          <p:nvPr/>
        </p:nvSpPr>
        <p:spPr>
          <a:xfrm>
            <a:off x="8056674" y="5140346"/>
            <a:ext cx="1137194" cy="1759729"/>
          </a:xfrm>
          <a:custGeom>
            <a:avLst/>
            <a:gdLst/>
            <a:ahLst/>
            <a:cxnLst/>
            <a:rect l="l" t="t" r="r" b="b"/>
            <a:pathLst>
              <a:path w="1137194" h="1759729">
                <a:moveTo>
                  <a:pt x="954617" y="0"/>
                </a:moveTo>
                <a:cubicBezTo>
                  <a:pt x="1017088" y="0"/>
                  <a:pt x="1078157" y="6001"/>
                  <a:pt x="1137194" y="17897"/>
                </a:cubicBezTo>
                <a:lnTo>
                  <a:pt x="1137194" y="1759729"/>
                </a:lnTo>
                <a:lnTo>
                  <a:pt x="443151" y="1759729"/>
                </a:lnTo>
                <a:cubicBezTo>
                  <a:pt x="176544" y="1591075"/>
                  <a:pt x="0" y="1293463"/>
                  <a:pt x="0" y="954617"/>
                </a:cubicBezTo>
                <a:cubicBezTo>
                  <a:pt x="0" y="427397"/>
                  <a:pt x="427397" y="0"/>
                  <a:pt x="954617" y="0"/>
                </a:cubicBezTo>
                <a:close/>
              </a:path>
            </a:pathLst>
          </a:custGeom>
          <a:solidFill>
            <a:schemeClr val="tx2">
              <a:lumMod val="75000"/>
              <a:alpha val="16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7" name="Oval 136"/>
          <p:cNvSpPr>
            <a:spLocks noChangeAspect="1"/>
          </p:cNvSpPr>
          <p:nvPr/>
        </p:nvSpPr>
        <p:spPr>
          <a:xfrm>
            <a:off x="6661711" y="4362912"/>
            <a:ext cx="1909233" cy="1909233"/>
          </a:xfrm>
          <a:prstGeom prst="ellipse">
            <a:avLst/>
          </a:prstGeom>
          <a:solidFill>
            <a:schemeClr val="tx2">
              <a:lumMod val="75000"/>
              <a:alpha val="5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8" name="Oval 137"/>
          <p:cNvSpPr>
            <a:spLocks noChangeAspect="1"/>
          </p:cNvSpPr>
          <p:nvPr/>
        </p:nvSpPr>
        <p:spPr>
          <a:xfrm>
            <a:off x="-69625" y="4948766"/>
            <a:ext cx="1353860" cy="1909234"/>
          </a:xfrm>
          <a:custGeom>
            <a:avLst/>
            <a:gdLst/>
            <a:ahLst/>
            <a:cxnLst/>
            <a:rect l="l" t="t" r="r" b="b"/>
            <a:pathLst>
              <a:path w="1353860" h="1909234">
                <a:moveTo>
                  <a:pt x="399243" y="0"/>
                </a:moveTo>
                <a:cubicBezTo>
                  <a:pt x="926463" y="0"/>
                  <a:pt x="1353860" y="427397"/>
                  <a:pt x="1353860" y="954617"/>
                </a:cubicBezTo>
                <a:cubicBezTo>
                  <a:pt x="1353860" y="1481837"/>
                  <a:pt x="926463" y="1909234"/>
                  <a:pt x="399243" y="1909234"/>
                </a:cubicBezTo>
                <a:cubicBezTo>
                  <a:pt x="256544" y="1909234"/>
                  <a:pt x="121158" y="1877924"/>
                  <a:pt x="0" y="1820890"/>
                </a:cubicBezTo>
                <a:lnTo>
                  <a:pt x="0" y="88345"/>
                </a:lnTo>
                <a:cubicBezTo>
                  <a:pt x="121158" y="31311"/>
                  <a:pt x="256544" y="0"/>
                  <a:pt x="399243" y="0"/>
                </a:cubicBezTo>
                <a:close/>
              </a:path>
            </a:pathLst>
          </a:custGeom>
          <a:solidFill>
            <a:schemeClr val="tx2">
              <a:lumMod val="75000"/>
              <a:alpha val="16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9" name="Oval 138"/>
          <p:cNvSpPr>
            <a:spLocks noChangeAspect="1"/>
          </p:cNvSpPr>
          <p:nvPr/>
        </p:nvSpPr>
        <p:spPr>
          <a:xfrm>
            <a:off x="708471" y="4790336"/>
            <a:ext cx="1909233" cy="1909233"/>
          </a:xfrm>
          <a:prstGeom prst="ellipse">
            <a:avLst/>
          </a:prstGeom>
          <a:solidFill>
            <a:schemeClr val="tx2">
              <a:lumMod val="75000"/>
              <a:alpha val="8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40" name="Oval 139"/>
          <p:cNvSpPr>
            <a:spLocks noChangeAspect="1"/>
          </p:cNvSpPr>
          <p:nvPr/>
        </p:nvSpPr>
        <p:spPr>
          <a:xfrm>
            <a:off x="6117503" y="783988"/>
            <a:ext cx="1909233" cy="1909233"/>
          </a:xfrm>
          <a:prstGeom prst="ellipse">
            <a:avLst/>
          </a:prstGeom>
          <a:solidFill>
            <a:schemeClr val="tx2">
              <a:lumMod val="75000"/>
              <a:alpha val="15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41" name="Oval 140"/>
          <p:cNvSpPr>
            <a:spLocks noChangeAspect="1"/>
          </p:cNvSpPr>
          <p:nvPr/>
        </p:nvSpPr>
        <p:spPr>
          <a:xfrm>
            <a:off x="6459053" y="5140346"/>
            <a:ext cx="1909233" cy="1909233"/>
          </a:xfrm>
          <a:prstGeom prst="ellipse">
            <a:avLst/>
          </a:prstGeom>
          <a:solidFill>
            <a:schemeClr val="tx2">
              <a:lumMod val="75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18" name="Oval 117"/>
          <p:cNvSpPr>
            <a:spLocks noChangeAspect="1"/>
          </p:cNvSpPr>
          <p:nvPr/>
        </p:nvSpPr>
        <p:spPr>
          <a:xfrm>
            <a:off x="8398204" y="597861"/>
            <a:ext cx="793794" cy="1252918"/>
          </a:xfrm>
          <a:custGeom>
            <a:avLst/>
            <a:gdLst/>
            <a:ahLst/>
            <a:cxnLst/>
            <a:rect l="l" t="t" r="r" b="b"/>
            <a:pathLst>
              <a:path w="793794" h="1252918">
                <a:moveTo>
                  <a:pt x="626459" y="0"/>
                </a:moveTo>
                <a:cubicBezTo>
                  <a:pt x="684682" y="0"/>
                  <a:pt x="741049" y="7943"/>
                  <a:pt x="793794" y="25480"/>
                </a:cubicBezTo>
                <a:lnTo>
                  <a:pt x="793794" y="1227438"/>
                </a:lnTo>
                <a:cubicBezTo>
                  <a:pt x="741049" y="1244975"/>
                  <a:pt x="684682" y="1252918"/>
                  <a:pt x="626459" y="1252918"/>
                </a:cubicBezTo>
                <a:cubicBezTo>
                  <a:pt x="280475" y="1252918"/>
                  <a:pt x="0" y="972443"/>
                  <a:pt x="0" y="626459"/>
                </a:cubicBezTo>
                <a:cubicBezTo>
                  <a:pt x="0" y="280475"/>
                  <a:pt x="280475" y="0"/>
                  <a:pt x="626459" y="0"/>
                </a:cubicBezTo>
                <a:close/>
              </a:path>
            </a:pathLst>
          </a:cu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9" name="Oval 118"/>
          <p:cNvSpPr>
            <a:spLocks noChangeAspect="1"/>
          </p:cNvSpPr>
          <p:nvPr/>
        </p:nvSpPr>
        <p:spPr>
          <a:xfrm>
            <a:off x="6350100" y="206512"/>
            <a:ext cx="1041276" cy="1041276"/>
          </a:xfrm>
          <a:prstGeom prst="ellipse">
            <a:avLst/>
          </a:pr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0" name="Oval 119"/>
          <p:cNvSpPr>
            <a:spLocks noChangeAspect="1"/>
          </p:cNvSpPr>
          <p:nvPr/>
        </p:nvSpPr>
        <p:spPr>
          <a:xfrm>
            <a:off x="6872127" y="1450645"/>
            <a:ext cx="1218253" cy="1218253"/>
          </a:xfrm>
          <a:prstGeom prst="ellipse">
            <a:avLst/>
          </a:pr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1" name="Oval 120"/>
          <p:cNvSpPr>
            <a:spLocks noChangeAspect="1"/>
          </p:cNvSpPr>
          <p:nvPr/>
        </p:nvSpPr>
        <p:spPr>
          <a:xfrm>
            <a:off x="7219068" y="2049927"/>
            <a:ext cx="1041276" cy="1041276"/>
          </a:xfrm>
          <a:prstGeom prst="ellipse">
            <a:avLst/>
          </a:pr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2" name="Oval 121"/>
          <p:cNvSpPr>
            <a:spLocks noChangeAspect="1"/>
          </p:cNvSpPr>
          <p:nvPr/>
        </p:nvSpPr>
        <p:spPr>
          <a:xfrm>
            <a:off x="7749416" y="2661634"/>
            <a:ext cx="721308" cy="721308"/>
          </a:xfrm>
          <a:prstGeom prst="ellipse">
            <a:avLst/>
          </a:pr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3" name="Oval 122"/>
          <p:cNvSpPr>
            <a:spLocks noChangeAspect="1"/>
          </p:cNvSpPr>
          <p:nvPr/>
        </p:nvSpPr>
        <p:spPr>
          <a:xfrm>
            <a:off x="685054" y="-100976"/>
            <a:ext cx="1193676" cy="697815"/>
          </a:xfrm>
          <a:custGeom>
            <a:avLst/>
            <a:gdLst/>
            <a:ahLst/>
            <a:cxnLst/>
            <a:rect l="l" t="t" r="r" b="b"/>
            <a:pathLst>
              <a:path w="1193676" h="697815">
                <a:moveTo>
                  <a:pt x="10179" y="0"/>
                </a:moveTo>
                <a:lnTo>
                  <a:pt x="1183497" y="0"/>
                </a:lnTo>
                <a:cubicBezTo>
                  <a:pt x="1190746" y="32633"/>
                  <a:pt x="1193676" y="66463"/>
                  <a:pt x="1193676" y="100977"/>
                </a:cubicBezTo>
                <a:cubicBezTo>
                  <a:pt x="1193676" y="430602"/>
                  <a:pt x="926463" y="697815"/>
                  <a:pt x="596838" y="697815"/>
                </a:cubicBezTo>
                <a:cubicBezTo>
                  <a:pt x="267213" y="697815"/>
                  <a:pt x="0" y="430602"/>
                  <a:pt x="0" y="100977"/>
                </a:cubicBezTo>
                <a:close/>
              </a:path>
            </a:pathLst>
          </a:cu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4" name="Oval 123"/>
          <p:cNvSpPr>
            <a:spLocks noChangeAspect="1"/>
          </p:cNvSpPr>
          <p:nvPr/>
        </p:nvSpPr>
        <p:spPr>
          <a:xfrm>
            <a:off x="1502638" y="-100976"/>
            <a:ext cx="1029028" cy="459889"/>
          </a:xfrm>
          <a:custGeom>
            <a:avLst/>
            <a:gdLst/>
            <a:ahLst/>
            <a:cxnLst/>
            <a:rect l="l" t="t" r="r" b="b"/>
            <a:pathLst>
              <a:path w="1029028" h="459889">
                <a:moveTo>
                  <a:pt x="0" y="0"/>
                </a:moveTo>
                <a:lnTo>
                  <a:pt x="1029028" y="0"/>
                </a:lnTo>
                <a:cubicBezTo>
                  <a:pt x="1001386" y="259074"/>
                  <a:pt x="781401" y="459889"/>
                  <a:pt x="514514" y="459889"/>
                </a:cubicBezTo>
                <a:cubicBezTo>
                  <a:pt x="247627" y="459889"/>
                  <a:pt x="27642" y="259074"/>
                  <a:pt x="0" y="0"/>
                </a:cubicBezTo>
                <a:close/>
              </a:path>
            </a:pathLst>
          </a:cu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5" name="Oval 124"/>
          <p:cNvSpPr>
            <a:spLocks noChangeAspect="1"/>
          </p:cNvSpPr>
          <p:nvPr/>
        </p:nvSpPr>
        <p:spPr>
          <a:xfrm>
            <a:off x="-69624" y="-100976"/>
            <a:ext cx="590263" cy="612289"/>
          </a:xfrm>
          <a:custGeom>
            <a:avLst/>
            <a:gdLst/>
            <a:ahLst/>
            <a:cxnLst/>
            <a:rect l="l" t="t" r="r" b="b"/>
            <a:pathLst>
              <a:path w="590263" h="612289">
                <a:moveTo>
                  <a:pt x="0" y="0"/>
                </a:moveTo>
                <a:lnTo>
                  <a:pt x="581024" y="0"/>
                </a:lnTo>
                <a:cubicBezTo>
                  <a:pt x="587493" y="29611"/>
                  <a:pt x="590263" y="60308"/>
                  <a:pt x="590263" y="91651"/>
                </a:cubicBezTo>
                <a:cubicBezTo>
                  <a:pt x="590263" y="379191"/>
                  <a:pt x="357165" y="612289"/>
                  <a:pt x="69625" y="612289"/>
                </a:cubicBezTo>
                <a:lnTo>
                  <a:pt x="0" y="605270"/>
                </a:lnTo>
                <a:close/>
              </a:path>
            </a:pathLst>
          </a:cu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6" name="Oval 125"/>
          <p:cNvSpPr>
            <a:spLocks noChangeAspect="1"/>
          </p:cNvSpPr>
          <p:nvPr/>
        </p:nvSpPr>
        <p:spPr>
          <a:xfrm>
            <a:off x="277432" y="4321783"/>
            <a:ext cx="1396887" cy="1396887"/>
          </a:xfrm>
          <a:prstGeom prst="ellipse">
            <a:avLst/>
          </a:prstGeom>
          <a:solidFill>
            <a:schemeClr val="tx2">
              <a:lumMod val="75000"/>
              <a:alpha val="6000"/>
            </a:schemeClr>
          </a:solidFill>
          <a:ln w="177800" cap="rnd" cmpd="sng" algn="ctr">
            <a:solidFill>
              <a:schemeClr val="tx2">
                <a:lumMod val="60000"/>
                <a:lumOff val="40000"/>
                <a:alpha val="4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7" name="Oval 126"/>
          <p:cNvSpPr>
            <a:spLocks noChangeAspect="1"/>
          </p:cNvSpPr>
          <p:nvPr/>
        </p:nvSpPr>
        <p:spPr>
          <a:xfrm>
            <a:off x="5792131" y="6489965"/>
            <a:ext cx="1115939" cy="443769"/>
          </a:xfrm>
          <a:custGeom>
            <a:avLst/>
            <a:gdLst/>
            <a:ahLst/>
            <a:cxnLst/>
            <a:rect l="l" t="t" r="r" b="b"/>
            <a:pathLst>
              <a:path w="1115939" h="443769">
                <a:moveTo>
                  <a:pt x="557969" y="0"/>
                </a:moveTo>
                <a:cubicBezTo>
                  <a:pt x="830120" y="0"/>
                  <a:pt x="1058049" y="189335"/>
                  <a:pt x="1115939" y="443769"/>
                </a:cubicBezTo>
                <a:lnTo>
                  <a:pt x="0" y="443769"/>
                </a:lnTo>
                <a:cubicBezTo>
                  <a:pt x="57889" y="189335"/>
                  <a:pt x="285818" y="0"/>
                  <a:pt x="557969" y="0"/>
                </a:cubicBezTo>
                <a:close/>
              </a:path>
            </a:pathLst>
          </a:custGeom>
          <a:solidFill>
            <a:schemeClr val="tx2">
              <a:lumMod val="75000"/>
              <a:alpha val="6000"/>
            </a:schemeClr>
          </a:solidFill>
          <a:ln w="177800" cap="rnd" cmpd="sng" algn="ctr">
            <a:solidFill>
              <a:schemeClr val="tx2">
                <a:lumMod val="60000"/>
                <a:lumOff val="40000"/>
                <a:alpha val="4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8" name="Oval 127"/>
          <p:cNvSpPr>
            <a:spLocks noChangeAspect="1"/>
          </p:cNvSpPr>
          <p:nvPr/>
        </p:nvSpPr>
        <p:spPr>
          <a:xfrm>
            <a:off x="6127999" y="6408840"/>
            <a:ext cx="1237019" cy="524894"/>
          </a:xfrm>
          <a:custGeom>
            <a:avLst/>
            <a:gdLst/>
            <a:ahLst/>
            <a:cxnLst/>
            <a:rect l="l" t="t" r="r" b="b"/>
            <a:pathLst>
              <a:path w="1237019" h="524894">
                <a:moveTo>
                  <a:pt x="618509" y="0"/>
                </a:moveTo>
                <a:cubicBezTo>
                  <a:pt x="930325" y="0"/>
                  <a:pt x="1189147" y="226891"/>
                  <a:pt x="1237019" y="524894"/>
                </a:cubicBezTo>
                <a:lnTo>
                  <a:pt x="0" y="524894"/>
                </a:lnTo>
                <a:cubicBezTo>
                  <a:pt x="47872" y="226891"/>
                  <a:pt x="306694" y="0"/>
                  <a:pt x="618509" y="0"/>
                </a:cubicBezTo>
                <a:close/>
              </a:path>
            </a:pathLst>
          </a:custGeom>
          <a:solidFill>
            <a:schemeClr val="tx2">
              <a:lumMod val="75000"/>
              <a:alpha val="6000"/>
            </a:schemeClr>
          </a:solidFill>
          <a:ln w="177800" cap="rnd" cmpd="sng" algn="ctr">
            <a:solidFill>
              <a:schemeClr val="tx2">
                <a:lumMod val="60000"/>
                <a:lumOff val="40000"/>
                <a:alpha val="4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9" name="Oval 128"/>
          <p:cNvSpPr>
            <a:spLocks noChangeAspect="1"/>
          </p:cNvSpPr>
          <p:nvPr/>
        </p:nvSpPr>
        <p:spPr>
          <a:xfrm>
            <a:off x="7577655" y="6408841"/>
            <a:ext cx="1211408" cy="524893"/>
          </a:xfrm>
          <a:custGeom>
            <a:avLst/>
            <a:gdLst/>
            <a:ahLst/>
            <a:cxnLst/>
            <a:rect l="l" t="t" r="r" b="b"/>
            <a:pathLst>
              <a:path w="1211408" h="524893">
                <a:moveTo>
                  <a:pt x="605704" y="0"/>
                </a:moveTo>
                <a:cubicBezTo>
                  <a:pt x="914574" y="0"/>
                  <a:pt x="1170243" y="227782"/>
                  <a:pt x="1211408" y="524893"/>
                </a:cubicBezTo>
                <a:lnTo>
                  <a:pt x="0" y="524893"/>
                </a:lnTo>
                <a:cubicBezTo>
                  <a:pt x="41165" y="227782"/>
                  <a:pt x="296834" y="0"/>
                  <a:pt x="605704" y="0"/>
                </a:cubicBezTo>
                <a:close/>
              </a:path>
            </a:pathLst>
          </a:custGeom>
          <a:solidFill>
            <a:schemeClr val="tx2">
              <a:lumMod val="75000"/>
              <a:alpha val="6000"/>
            </a:schemeClr>
          </a:solidFill>
          <a:ln w="177800" cap="rnd" cmpd="sng" algn="ctr">
            <a:solidFill>
              <a:schemeClr val="tx2">
                <a:lumMod val="60000"/>
                <a:lumOff val="40000"/>
                <a:alpha val="4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97" name="Oval 96"/>
          <p:cNvSpPr>
            <a:spLocks noChangeAspect="1"/>
          </p:cNvSpPr>
          <p:nvPr/>
        </p:nvSpPr>
        <p:spPr>
          <a:xfrm>
            <a:off x="11073" y="4941986"/>
            <a:ext cx="611230" cy="611230"/>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98" name="Oval 97"/>
          <p:cNvSpPr>
            <a:spLocks noChangeAspect="1"/>
          </p:cNvSpPr>
          <p:nvPr/>
        </p:nvSpPr>
        <p:spPr>
          <a:xfrm>
            <a:off x="-69625" y="6172569"/>
            <a:ext cx="778097" cy="750322"/>
          </a:xfrm>
          <a:custGeom>
            <a:avLst/>
            <a:gdLst/>
            <a:ahLst/>
            <a:cxnLst/>
            <a:rect l="l" t="t" r="r" b="b"/>
            <a:pathLst>
              <a:path w="778097" h="750322">
                <a:moveTo>
                  <a:pt x="261411" y="0"/>
                </a:moveTo>
                <a:cubicBezTo>
                  <a:pt x="546769" y="0"/>
                  <a:pt x="778097" y="231328"/>
                  <a:pt x="778097" y="516686"/>
                </a:cubicBezTo>
                <a:cubicBezTo>
                  <a:pt x="778097" y="601179"/>
                  <a:pt x="757816" y="680934"/>
                  <a:pt x="719843" y="750322"/>
                </a:cubicBezTo>
                <a:lnTo>
                  <a:pt x="0" y="750322"/>
                </a:lnTo>
                <a:lnTo>
                  <a:pt x="0" y="73330"/>
                </a:lnTo>
                <a:cubicBezTo>
                  <a:pt x="75863" y="26083"/>
                  <a:pt x="165591" y="0"/>
                  <a:pt x="261411" y="0"/>
                </a:cubicBezTo>
                <a:close/>
              </a:path>
            </a:pathLst>
          </a:cu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99" name="Oval 98"/>
          <p:cNvSpPr>
            <a:spLocks noChangeAspect="1"/>
          </p:cNvSpPr>
          <p:nvPr/>
        </p:nvSpPr>
        <p:spPr>
          <a:xfrm>
            <a:off x="-69625" y="5158575"/>
            <a:ext cx="563524" cy="897560"/>
          </a:xfrm>
          <a:custGeom>
            <a:avLst/>
            <a:gdLst/>
            <a:ahLst/>
            <a:cxnLst/>
            <a:rect l="l" t="t" r="r" b="b"/>
            <a:pathLst>
              <a:path w="563524" h="897560">
                <a:moveTo>
                  <a:pt x="114744" y="0"/>
                </a:moveTo>
                <a:cubicBezTo>
                  <a:pt x="362598" y="0"/>
                  <a:pt x="563524" y="200926"/>
                  <a:pt x="563524" y="448780"/>
                </a:cubicBezTo>
                <a:cubicBezTo>
                  <a:pt x="563524" y="696634"/>
                  <a:pt x="362598" y="897560"/>
                  <a:pt x="114744" y="897560"/>
                </a:cubicBezTo>
                <a:cubicBezTo>
                  <a:pt x="74918" y="897560"/>
                  <a:pt x="36304" y="892373"/>
                  <a:pt x="0" y="880900"/>
                </a:cubicBezTo>
                <a:lnTo>
                  <a:pt x="0" y="16661"/>
                </a:lnTo>
                <a:cubicBezTo>
                  <a:pt x="36304" y="5188"/>
                  <a:pt x="74918" y="0"/>
                  <a:pt x="114744" y="0"/>
                </a:cubicBezTo>
                <a:close/>
              </a:path>
            </a:pathLst>
          </a:cu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0" name="Oval 99"/>
          <p:cNvSpPr>
            <a:spLocks noChangeAspect="1"/>
          </p:cNvSpPr>
          <p:nvPr/>
        </p:nvSpPr>
        <p:spPr>
          <a:xfrm>
            <a:off x="-25758" y="482386"/>
            <a:ext cx="598416" cy="905704"/>
          </a:xfrm>
          <a:custGeom>
            <a:avLst/>
            <a:gdLst/>
            <a:ahLst/>
            <a:cxnLst/>
            <a:rect l="l" t="t" r="r" b="b"/>
            <a:pathLst>
              <a:path w="598416" h="905704">
                <a:moveTo>
                  <a:pt x="145564" y="0"/>
                </a:moveTo>
                <a:cubicBezTo>
                  <a:pt x="395667" y="0"/>
                  <a:pt x="598416" y="202749"/>
                  <a:pt x="598416" y="452852"/>
                </a:cubicBezTo>
                <a:cubicBezTo>
                  <a:pt x="598416" y="702955"/>
                  <a:pt x="395667" y="905704"/>
                  <a:pt x="145564" y="905704"/>
                </a:cubicBezTo>
                <a:cubicBezTo>
                  <a:pt x="94398" y="905704"/>
                  <a:pt x="45214" y="897218"/>
                  <a:pt x="0" y="879648"/>
                </a:cubicBezTo>
                <a:lnTo>
                  <a:pt x="0" y="26056"/>
                </a:lnTo>
                <a:cubicBezTo>
                  <a:pt x="45214" y="8486"/>
                  <a:pt x="94398" y="0"/>
                  <a:pt x="145564" y="0"/>
                </a:cubicBezTo>
                <a:close/>
              </a:path>
            </a:pathLst>
          </a:custGeom>
          <a:solidFill>
            <a:schemeClr val="accent3">
              <a:lumMod val="60000"/>
              <a:lumOff val="40000"/>
              <a:alpha val="5000"/>
            </a:schemeClr>
          </a:solidFill>
          <a:ln w="12700" cap="rnd" cmpd="sng" algn="ctr">
            <a:solidFill>
              <a:schemeClr val="accent3">
                <a:lumMod val="60000"/>
                <a:lumOff val="40000"/>
                <a:alpha val="30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1" name="Oval 100"/>
          <p:cNvSpPr>
            <a:spLocks noChangeAspect="1"/>
          </p:cNvSpPr>
          <p:nvPr/>
        </p:nvSpPr>
        <p:spPr>
          <a:xfrm>
            <a:off x="474208" y="836793"/>
            <a:ext cx="910817" cy="910817"/>
          </a:xfrm>
          <a:prstGeom prst="ellipse">
            <a:avLst/>
          </a:pr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2" name="Oval 101"/>
          <p:cNvSpPr>
            <a:spLocks noChangeAspect="1"/>
          </p:cNvSpPr>
          <p:nvPr/>
        </p:nvSpPr>
        <p:spPr>
          <a:xfrm>
            <a:off x="319223" y="1452260"/>
            <a:ext cx="772993" cy="772993"/>
          </a:xfrm>
          <a:prstGeom prst="ellipse">
            <a:avLst/>
          </a:pr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3" name="Oval 102"/>
          <p:cNvSpPr>
            <a:spLocks noChangeAspect="1"/>
          </p:cNvSpPr>
          <p:nvPr/>
        </p:nvSpPr>
        <p:spPr>
          <a:xfrm>
            <a:off x="371257" y="1886983"/>
            <a:ext cx="610366" cy="610366"/>
          </a:xfrm>
          <a:prstGeom prst="ellipse">
            <a:avLst/>
          </a:prstGeom>
          <a:solidFill>
            <a:schemeClr val="accent3">
              <a:lumMod val="60000"/>
              <a:lumOff val="40000"/>
              <a:alpha val="5000"/>
            </a:schemeClr>
          </a:solidFill>
          <a:ln w="12700" cap="rnd" cmpd="sng" algn="ctr">
            <a:solidFill>
              <a:schemeClr val="accent3">
                <a:lumMod val="60000"/>
                <a:lumOff val="40000"/>
                <a:alpha val="30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4" name="Oval 103"/>
          <p:cNvSpPr>
            <a:spLocks noChangeAspect="1"/>
          </p:cNvSpPr>
          <p:nvPr/>
        </p:nvSpPr>
        <p:spPr>
          <a:xfrm>
            <a:off x="154676" y="1919682"/>
            <a:ext cx="521764" cy="521764"/>
          </a:xfrm>
          <a:prstGeom prst="ellipse">
            <a:avLst/>
          </a:pr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5" name="Oval 104"/>
          <p:cNvSpPr>
            <a:spLocks noChangeAspect="1"/>
          </p:cNvSpPr>
          <p:nvPr/>
        </p:nvSpPr>
        <p:spPr>
          <a:xfrm>
            <a:off x="7302517" y="-61709"/>
            <a:ext cx="910818" cy="750833"/>
          </a:xfrm>
          <a:custGeom>
            <a:avLst/>
            <a:gdLst/>
            <a:ahLst/>
            <a:cxnLst/>
            <a:rect l="l" t="t" r="r" b="b"/>
            <a:pathLst>
              <a:path w="910818" h="750833">
                <a:moveTo>
                  <a:pt x="111441" y="0"/>
                </a:moveTo>
                <a:lnTo>
                  <a:pt x="799378" y="0"/>
                </a:lnTo>
                <a:cubicBezTo>
                  <a:pt x="869408" y="78400"/>
                  <a:pt x="910818" y="182076"/>
                  <a:pt x="910818" y="295424"/>
                </a:cubicBezTo>
                <a:cubicBezTo>
                  <a:pt x="910818" y="546939"/>
                  <a:pt x="706924" y="750833"/>
                  <a:pt x="455409" y="750833"/>
                </a:cubicBezTo>
                <a:cubicBezTo>
                  <a:pt x="203894" y="750833"/>
                  <a:pt x="0" y="546939"/>
                  <a:pt x="0" y="295424"/>
                </a:cubicBezTo>
                <a:cubicBezTo>
                  <a:pt x="0" y="182076"/>
                  <a:pt x="41410" y="78400"/>
                  <a:pt x="111441" y="0"/>
                </a:cubicBezTo>
                <a:close/>
              </a:path>
            </a:pathLst>
          </a:cu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6" name="Oval 105"/>
          <p:cNvSpPr>
            <a:spLocks noChangeAspect="1"/>
          </p:cNvSpPr>
          <p:nvPr/>
        </p:nvSpPr>
        <p:spPr>
          <a:xfrm>
            <a:off x="8718124" y="-61709"/>
            <a:ext cx="473874" cy="613011"/>
          </a:xfrm>
          <a:custGeom>
            <a:avLst/>
            <a:gdLst/>
            <a:ahLst/>
            <a:cxnLst/>
            <a:rect l="l" t="t" r="r" b="b"/>
            <a:pathLst>
              <a:path w="473874" h="613011">
                <a:moveTo>
                  <a:pt x="29684" y="0"/>
                </a:moveTo>
                <a:lnTo>
                  <a:pt x="473874" y="0"/>
                </a:lnTo>
                <a:lnTo>
                  <a:pt x="473874" y="611150"/>
                </a:lnTo>
                <a:cubicBezTo>
                  <a:pt x="467789" y="612887"/>
                  <a:pt x="461614" y="613011"/>
                  <a:pt x="455409" y="613011"/>
                </a:cubicBezTo>
                <a:cubicBezTo>
                  <a:pt x="203894" y="613011"/>
                  <a:pt x="0" y="409117"/>
                  <a:pt x="0" y="157602"/>
                </a:cubicBezTo>
                <a:cubicBezTo>
                  <a:pt x="0" y="101995"/>
                  <a:pt x="9966" y="48716"/>
                  <a:pt x="29684" y="0"/>
                </a:cubicBezTo>
                <a:close/>
              </a:path>
            </a:pathLst>
          </a:cu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7" name="Oval 106"/>
          <p:cNvSpPr>
            <a:spLocks noChangeAspect="1"/>
          </p:cNvSpPr>
          <p:nvPr/>
        </p:nvSpPr>
        <p:spPr>
          <a:xfrm>
            <a:off x="7748238" y="282933"/>
            <a:ext cx="1128521" cy="1128521"/>
          </a:xfrm>
          <a:prstGeom prst="ellipse">
            <a:avLst/>
          </a:prstGeom>
          <a:solidFill>
            <a:schemeClr val="accent3">
              <a:lumMod val="60000"/>
              <a:lumOff val="40000"/>
              <a:alpha val="5000"/>
            </a:schemeClr>
          </a:solidFill>
          <a:ln w="12700" cap="rnd" cmpd="sng" algn="ctr">
            <a:solidFill>
              <a:schemeClr val="accent3">
                <a:lumMod val="60000"/>
                <a:lumOff val="40000"/>
                <a:alpha val="30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8" name="Oval 107"/>
          <p:cNvSpPr>
            <a:spLocks noChangeAspect="1"/>
          </p:cNvSpPr>
          <p:nvPr/>
        </p:nvSpPr>
        <p:spPr>
          <a:xfrm>
            <a:off x="8914718" y="749603"/>
            <a:ext cx="277280" cy="907992"/>
          </a:xfrm>
          <a:custGeom>
            <a:avLst/>
            <a:gdLst/>
            <a:ahLst/>
            <a:cxnLst/>
            <a:rect l="l" t="t" r="r" b="b"/>
            <a:pathLst>
              <a:path w="277280" h="907992">
                <a:moveTo>
                  <a:pt x="277280" y="0"/>
                </a:moveTo>
                <a:lnTo>
                  <a:pt x="277280" y="907992"/>
                </a:lnTo>
                <a:cubicBezTo>
                  <a:pt x="112021" y="824131"/>
                  <a:pt x="0" y="652146"/>
                  <a:pt x="0" y="453996"/>
                </a:cubicBezTo>
                <a:cubicBezTo>
                  <a:pt x="0" y="255847"/>
                  <a:pt x="112021" y="83861"/>
                  <a:pt x="277280" y="0"/>
                </a:cubicBezTo>
                <a:close/>
              </a:path>
            </a:pathLst>
          </a:cu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9" name="Oval 108"/>
          <p:cNvSpPr>
            <a:spLocks noChangeAspect="1"/>
          </p:cNvSpPr>
          <p:nvPr/>
        </p:nvSpPr>
        <p:spPr>
          <a:xfrm>
            <a:off x="7590871" y="728498"/>
            <a:ext cx="969734" cy="969734"/>
          </a:xfrm>
          <a:prstGeom prst="ellipse">
            <a:avLst/>
          </a:pr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0" name="Oval 109"/>
          <p:cNvSpPr>
            <a:spLocks noChangeAspect="1"/>
          </p:cNvSpPr>
          <p:nvPr/>
        </p:nvSpPr>
        <p:spPr>
          <a:xfrm>
            <a:off x="7470041" y="1326476"/>
            <a:ext cx="608190" cy="608190"/>
          </a:xfrm>
          <a:prstGeom prst="ellipse">
            <a:avLst/>
          </a:prstGeom>
          <a:solidFill>
            <a:schemeClr val="accent3">
              <a:lumMod val="60000"/>
              <a:lumOff val="40000"/>
              <a:alpha val="5000"/>
            </a:schemeClr>
          </a:solidFill>
          <a:ln w="12700" cap="rnd" cmpd="sng" algn="ctr">
            <a:solidFill>
              <a:schemeClr val="accent3">
                <a:lumMod val="60000"/>
                <a:lumOff val="40000"/>
                <a:alpha val="30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1" name="Oval 110"/>
          <p:cNvSpPr>
            <a:spLocks noChangeAspect="1"/>
          </p:cNvSpPr>
          <p:nvPr/>
        </p:nvSpPr>
        <p:spPr>
          <a:xfrm>
            <a:off x="7629941" y="5611427"/>
            <a:ext cx="738345" cy="738345"/>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2" name="Oval 111"/>
          <p:cNvSpPr>
            <a:spLocks noChangeAspect="1"/>
          </p:cNvSpPr>
          <p:nvPr/>
        </p:nvSpPr>
        <p:spPr>
          <a:xfrm>
            <a:off x="6972882" y="5242254"/>
            <a:ext cx="738345" cy="738345"/>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3" name="Oval 112"/>
          <p:cNvSpPr>
            <a:spLocks noChangeAspect="1"/>
          </p:cNvSpPr>
          <p:nvPr/>
        </p:nvSpPr>
        <p:spPr>
          <a:xfrm>
            <a:off x="7494454" y="4928166"/>
            <a:ext cx="738345" cy="738345"/>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4" name="Oval 113"/>
          <p:cNvSpPr>
            <a:spLocks noChangeAspect="1"/>
          </p:cNvSpPr>
          <p:nvPr/>
        </p:nvSpPr>
        <p:spPr>
          <a:xfrm>
            <a:off x="8229034" y="5666511"/>
            <a:ext cx="605634" cy="605634"/>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5" name="Oval 114"/>
          <p:cNvSpPr>
            <a:spLocks noChangeAspect="1"/>
          </p:cNvSpPr>
          <p:nvPr/>
        </p:nvSpPr>
        <p:spPr>
          <a:xfrm>
            <a:off x="8078231" y="4097842"/>
            <a:ext cx="553549" cy="553549"/>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6" name="Oval 115"/>
          <p:cNvSpPr>
            <a:spLocks noChangeAspect="1"/>
          </p:cNvSpPr>
          <p:nvPr/>
        </p:nvSpPr>
        <p:spPr>
          <a:xfrm>
            <a:off x="8411816" y="5057878"/>
            <a:ext cx="553549" cy="553549"/>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7" name="Oval 116"/>
          <p:cNvSpPr>
            <a:spLocks noChangeAspect="1"/>
          </p:cNvSpPr>
          <p:nvPr/>
        </p:nvSpPr>
        <p:spPr>
          <a:xfrm>
            <a:off x="8688590" y="4790335"/>
            <a:ext cx="503408" cy="553550"/>
          </a:xfrm>
          <a:custGeom>
            <a:avLst/>
            <a:gdLst/>
            <a:ahLst/>
            <a:cxnLst/>
            <a:rect l="l" t="t" r="r" b="b"/>
            <a:pathLst>
              <a:path w="503408" h="553550">
                <a:moveTo>
                  <a:pt x="276775" y="0"/>
                </a:moveTo>
                <a:cubicBezTo>
                  <a:pt x="370698" y="0"/>
                  <a:pt x="453694" y="46784"/>
                  <a:pt x="503408" y="118545"/>
                </a:cubicBezTo>
                <a:lnTo>
                  <a:pt x="503408" y="435005"/>
                </a:lnTo>
                <a:cubicBezTo>
                  <a:pt x="453694" y="506767"/>
                  <a:pt x="370698" y="553550"/>
                  <a:pt x="276775" y="553550"/>
                </a:cubicBezTo>
                <a:cubicBezTo>
                  <a:pt x="123916" y="553550"/>
                  <a:pt x="0" y="429634"/>
                  <a:pt x="0" y="276775"/>
                </a:cubicBezTo>
                <a:cubicBezTo>
                  <a:pt x="0" y="123916"/>
                  <a:pt x="123916" y="0"/>
                  <a:pt x="276775" y="0"/>
                </a:cubicBezTo>
                <a:close/>
              </a:path>
            </a:pathLst>
          </a:cu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09442" y="675724"/>
            <a:ext cx="7125113" cy="92447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009443" y="1807361"/>
            <a:ext cx="7125112" cy="405143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37344" y="5951810"/>
            <a:ext cx="2133600" cy="365125"/>
          </a:xfrm>
          <a:prstGeom prst="rect">
            <a:avLst/>
          </a:prstGeom>
        </p:spPr>
        <p:txBody>
          <a:bodyPr vert="horz" lIns="91440" tIns="45720" rIns="91440" bIns="45720" rtlCol="0" anchor="b"/>
          <a:lstStyle>
            <a:lvl1pPr algn="r">
              <a:defRPr sz="900">
                <a:solidFill>
                  <a:schemeClr val="tx1">
                    <a:tint val="75000"/>
                  </a:schemeClr>
                </a:solidFill>
              </a:defRPr>
            </a:lvl1pPr>
          </a:lstStyle>
          <a:p>
            <a:pPr eaLnBrk="1" latinLnBrk="0" hangingPunct="1"/>
            <a:fld id="{6962C8C9-B6B7-4BC7-BEE4-209594A44176}" type="datetime1">
              <a:rPr lang="en-US" smtClean="0"/>
              <a:t>11/28/2022</a:t>
            </a:fld>
            <a:endParaRPr lang="en-US" sz="1000">
              <a:solidFill>
                <a:schemeClr val="tx2">
                  <a:shade val="50000"/>
                </a:schemeClr>
              </a:solidFill>
            </a:endParaRPr>
          </a:p>
        </p:txBody>
      </p:sp>
      <p:sp>
        <p:nvSpPr>
          <p:cNvPr id="5" name="Footer Placeholder 4"/>
          <p:cNvSpPr>
            <a:spLocks noGrp="1"/>
          </p:cNvSpPr>
          <p:nvPr>
            <p:ph type="ftr" sz="quarter" idx="3"/>
          </p:nvPr>
        </p:nvSpPr>
        <p:spPr>
          <a:xfrm>
            <a:off x="1180945" y="5951810"/>
            <a:ext cx="5256399" cy="365125"/>
          </a:xfrm>
          <a:prstGeom prst="rect">
            <a:avLst/>
          </a:prstGeom>
        </p:spPr>
        <p:txBody>
          <a:bodyPr vert="horz" lIns="91440" tIns="45720" rIns="91440" bIns="45720" rtlCol="0" anchor="b"/>
          <a:lstStyle>
            <a:lvl1pPr algn="l">
              <a:defRPr sz="900">
                <a:solidFill>
                  <a:schemeClr val="tx1">
                    <a:tint val="75000"/>
                  </a:schemeClr>
                </a:solidFill>
              </a:defRPr>
            </a:lvl1pPr>
          </a:lstStyle>
          <a:p>
            <a:pPr algn="ctr" eaLnBrk="1" latinLnBrk="0" hangingPunct="1"/>
            <a:r>
              <a:rPr kumimoji="0" lang="en-US" sz="1000">
                <a:solidFill>
                  <a:schemeClr val="tx2">
                    <a:shade val="50000"/>
                  </a:schemeClr>
                </a:solidFill>
              </a:rPr>
              <a:t>www.SaberiMiT.Blogfa.Com</a:t>
            </a:r>
            <a:endParaRPr kumimoji="0" lang="en-US" sz="1000" dirty="0">
              <a:solidFill>
                <a:schemeClr val="tx2">
                  <a:shade val="50000"/>
                </a:schemeClr>
              </a:solidFill>
            </a:endParaRPr>
          </a:p>
        </p:txBody>
      </p:sp>
      <p:sp>
        <p:nvSpPr>
          <p:cNvPr id="6" name="Slide Number Placeholder 5"/>
          <p:cNvSpPr>
            <a:spLocks noGrp="1"/>
          </p:cNvSpPr>
          <p:nvPr>
            <p:ph type="sldNum" sz="quarter" idx="4"/>
          </p:nvPr>
        </p:nvSpPr>
        <p:spPr>
          <a:xfrm>
            <a:off x="572658" y="5951810"/>
            <a:ext cx="608287" cy="365125"/>
          </a:xfrm>
          <a:prstGeom prst="rect">
            <a:avLst/>
          </a:prstGeom>
        </p:spPr>
        <p:txBody>
          <a:bodyPr vert="horz" lIns="91440" tIns="45720" rIns="91440" bIns="45720" rtlCol="0" anchor="b"/>
          <a:lstStyle>
            <a:lvl1pPr algn="l">
              <a:defRPr sz="1800">
                <a:solidFill>
                  <a:schemeClr val="tx1">
                    <a:tint val="75000"/>
                  </a:schemeClr>
                </a:solidFill>
              </a:defRPr>
            </a:lvl1pPr>
          </a:lstStyle>
          <a:p>
            <a:fld id="{2AA957AF-53C0-420B-9C2D-77DB1416566C}" type="slidenum">
              <a:rPr kumimoji="0" lang="en-US" smtClean="0"/>
              <a:pPr eaLnBrk="1" latinLnBrk="0" hangingPunct="1"/>
              <a:t>‹#›</a:t>
            </a:fld>
            <a:endParaRPr kumimoji="0" lang="en-US" sz="1000" dirty="0">
              <a:solidFill>
                <a:schemeClr val="tx2">
                  <a:shade val="50000"/>
                </a:schemeClr>
              </a:solidFill>
            </a:endParaRPr>
          </a:p>
        </p:txBody>
      </p:sp>
      <p:sp>
        <p:nvSpPr>
          <p:cNvPr id="55" name="Oval 54"/>
          <p:cNvSpPr>
            <a:spLocks noChangeAspect="1"/>
          </p:cNvSpPr>
          <p:nvPr/>
        </p:nvSpPr>
        <p:spPr>
          <a:xfrm>
            <a:off x="1583172" y="5454223"/>
            <a:ext cx="1909234" cy="1468668"/>
          </a:xfrm>
          <a:custGeom>
            <a:avLst/>
            <a:gdLst/>
            <a:ahLst/>
            <a:cxnLst/>
            <a:rect l="l" t="t" r="r" b="b"/>
            <a:pathLst>
              <a:path w="1909234" h="1468668">
                <a:moveTo>
                  <a:pt x="954617" y="0"/>
                </a:moveTo>
                <a:cubicBezTo>
                  <a:pt x="1481837" y="0"/>
                  <a:pt x="1909234" y="427397"/>
                  <a:pt x="1909234" y="954617"/>
                </a:cubicBezTo>
                <a:cubicBezTo>
                  <a:pt x="1909234" y="1144075"/>
                  <a:pt x="1854043" y="1320642"/>
                  <a:pt x="1758159" y="1468668"/>
                </a:cubicBezTo>
                <a:lnTo>
                  <a:pt x="151075" y="1468668"/>
                </a:lnTo>
                <a:cubicBezTo>
                  <a:pt x="55192" y="1320642"/>
                  <a:pt x="0" y="1144075"/>
                  <a:pt x="0" y="954617"/>
                </a:cubicBezTo>
                <a:cubicBezTo>
                  <a:pt x="0" y="427397"/>
                  <a:pt x="427397" y="0"/>
                  <a:pt x="954617" y="0"/>
                </a:cubicBezTo>
                <a:close/>
              </a:path>
            </a:pathLst>
          </a:custGeom>
          <a:solidFill>
            <a:schemeClr val="tx2">
              <a:lumMod val="75000"/>
              <a:alpha val="8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57" name="Oval 56"/>
          <p:cNvSpPr>
            <a:spLocks noChangeAspect="1"/>
          </p:cNvSpPr>
          <p:nvPr/>
        </p:nvSpPr>
        <p:spPr>
          <a:xfrm>
            <a:off x="8570944" y="3382942"/>
            <a:ext cx="306310" cy="306310"/>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58" name="Oval 57"/>
          <p:cNvSpPr>
            <a:spLocks noChangeAspect="1"/>
          </p:cNvSpPr>
          <p:nvPr/>
        </p:nvSpPr>
        <p:spPr>
          <a:xfrm>
            <a:off x="8398204" y="3536097"/>
            <a:ext cx="306310" cy="306310"/>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59" name="Oval 58"/>
          <p:cNvSpPr>
            <a:spLocks noChangeAspect="1"/>
          </p:cNvSpPr>
          <p:nvPr/>
        </p:nvSpPr>
        <p:spPr>
          <a:xfrm>
            <a:off x="8608408" y="3688497"/>
            <a:ext cx="306310" cy="306310"/>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0" name="Oval 59"/>
          <p:cNvSpPr>
            <a:spLocks noChangeAspect="1"/>
          </p:cNvSpPr>
          <p:nvPr/>
        </p:nvSpPr>
        <p:spPr>
          <a:xfrm>
            <a:off x="154676" y="2698928"/>
            <a:ext cx="467627" cy="467627"/>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1" name="Oval 60"/>
          <p:cNvSpPr>
            <a:spLocks noChangeAspect="1"/>
          </p:cNvSpPr>
          <p:nvPr/>
        </p:nvSpPr>
        <p:spPr>
          <a:xfrm>
            <a:off x="474208" y="3166555"/>
            <a:ext cx="458770" cy="458770"/>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2" name="Oval 61"/>
          <p:cNvSpPr>
            <a:spLocks noChangeAspect="1"/>
          </p:cNvSpPr>
          <p:nvPr/>
        </p:nvSpPr>
        <p:spPr>
          <a:xfrm>
            <a:off x="270258" y="3382942"/>
            <a:ext cx="352045" cy="352045"/>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3" name="Oval 62"/>
          <p:cNvSpPr>
            <a:spLocks noChangeAspect="1"/>
          </p:cNvSpPr>
          <p:nvPr/>
        </p:nvSpPr>
        <p:spPr>
          <a:xfrm>
            <a:off x="-86601" y="2581479"/>
            <a:ext cx="1360441" cy="1909234"/>
          </a:xfrm>
          <a:custGeom>
            <a:avLst/>
            <a:gdLst/>
            <a:ahLst/>
            <a:cxnLst/>
            <a:rect l="l" t="t" r="r" b="b"/>
            <a:pathLst>
              <a:path w="1360441" h="1909234">
                <a:moveTo>
                  <a:pt x="405824" y="0"/>
                </a:moveTo>
                <a:cubicBezTo>
                  <a:pt x="933044" y="0"/>
                  <a:pt x="1360441" y="427397"/>
                  <a:pt x="1360441" y="954617"/>
                </a:cubicBezTo>
                <a:cubicBezTo>
                  <a:pt x="1360441" y="1481837"/>
                  <a:pt x="933044" y="1909234"/>
                  <a:pt x="405824" y="1909234"/>
                </a:cubicBezTo>
                <a:cubicBezTo>
                  <a:pt x="260527" y="1909234"/>
                  <a:pt x="122812" y="1876773"/>
                  <a:pt x="0" y="1817719"/>
                </a:cubicBezTo>
                <a:lnTo>
                  <a:pt x="0" y="91515"/>
                </a:lnTo>
                <a:cubicBezTo>
                  <a:pt x="122812" y="32461"/>
                  <a:pt x="260527" y="0"/>
                  <a:pt x="405824" y="0"/>
                </a:cubicBezTo>
                <a:close/>
              </a:path>
            </a:pathLst>
          </a:custGeom>
          <a:solidFill>
            <a:schemeClr val="tx2">
              <a:lumMod val="75000"/>
              <a:alpha val="8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64" name="Oval 63"/>
          <p:cNvSpPr>
            <a:spLocks noChangeAspect="1"/>
          </p:cNvSpPr>
          <p:nvPr/>
        </p:nvSpPr>
        <p:spPr>
          <a:xfrm>
            <a:off x="6173123" y="2395416"/>
            <a:ext cx="1218253" cy="1218253"/>
          </a:xfrm>
          <a:prstGeom prst="ellipse">
            <a:avLst/>
          </a:prstGeom>
          <a:solidFill>
            <a:schemeClr val="tx2">
              <a:lumMod val="75000"/>
              <a:alpha val="10000"/>
            </a:schemeClr>
          </a:solidFill>
          <a:ln w="177800" cap="rnd" cmpd="sng" algn="ctr">
            <a:solidFill>
              <a:schemeClr val="tx2">
                <a:lumMod val="60000"/>
                <a:lumOff val="40000"/>
                <a:alpha val="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5" name="Rectangle 64"/>
          <p:cNvSpPr/>
          <p:nvPr userDrawn="1"/>
        </p:nvSpPr>
        <p:spPr>
          <a:xfrm>
            <a:off x="-216567" y="-48126"/>
            <a:ext cx="4572543" cy="461665"/>
          </a:xfrm>
          <a:prstGeom prst="rect">
            <a:avLst/>
          </a:prstGeom>
        </p:spPr>
        <p:txBody>
          <a:bodyPr wrap="square">
            <a:spAutoFit/>
          </a:bodyPr>
          <a:lstStyle/>
          <a:p>
            <a:pPr algn="ctr" rtl="0">
              <a:spcBef>
                <a:spcPct val="0"/>
              </a:spcBef>
              <a:buFontTx/>
              <a:buNone/>
            </a:pPr>
            <a:r>
              <a:rPr lang="en-US" altLang="fa-IR" sz="2400" b="1" dirty="0">
                <a:solidFill>
                  <a:srgbClr val="FF0000"/>
                </a:solidFill>
                <a:latin typeface="Tahoma" panose="020B0604030504040204" pitchFamily="34" charset="0"/>
                <a:cs typeface="B Titr" panose="00000700000000000000" pitchFamily="2" charset="-78"/>
              </a:rPr>
              <a:t>@</a:t>
            </a:r>
            <a:r>
              <a:rPr lang="en-US" altLang="fa-IR" sz="2400" b="1" dirty="0" err="1">
                <a:solidFill>
                  <a:srgbClr val="FF0000"/>
                </a:solidFill>
                <a:latin typeface="Tahoma" panose="020B0604030504040204" pitchFamily="34" charset="0"/>
                <a:cs typeface="B Titr" panose="00000700000000000000" pitchFamily="2" charset="-78"/>
              </a:rPr>
              <a:t>PptBank</a:t>
            </a:r>
            <a:r>
              <a:rPr lang="en-US" altLang="fa-IR" sz="2400" b="1" baseline="0" dirty="0">
                <a:solidFill>
                  <a:srgbClr val="FF0000"/>
                </a:solidFill>
                <a:latin typeface="Tahoma" panose="020B0604030504040204" pitchFamily="34" charset="0"/>
                <a:cs typeface="B Titr" panose="00000700000000000000" pitchFamily="2" charset="-78"/>
              </a:rPr>
              <a:t> </a:t>
            </a:r>
            <a:r>
              <a:rPr lang="fa-IR" altLang="fa-IR" sz="2400" b="1" dirty="0">
                <a:solidFill>
                  <a:srgbClr val="FF0000"/>
                </a:solidFill>
                <a:latin typeface="Tahoma" panose="020B0604030504040204" pitchFamily="34" charset="0"/>
                <a:cs typeface="B Titr" panose="00000700000000000000" pitchFamily="2" charset="-78"/>
              </a:rPr>
              <a:t> کانال بانک پاور پوینت</a:t>
            </a:r>
            <a:endParaRPr lang="en-US" altLang="fa-IR" sz="2400" b="1" dirty="0">
              <a:solidFill>
                <a:srgbClr val="FF0000"/>
              </a:solidFill>
              <a:latin typeface="Tahoma" panose="020B0604030504040204" pitchFamily="34" charset="0"/>
              <a:cs typeface="B Titr" panose="00000700000000000000" pitchFamily="2" charset="-78"/>
            </a:endParaRPr>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dt="0"/>
  <p:txStyles>
    <p:titleStyle>
      <a:lvl1pPr algn="l" defTabSz="457200" rtl="1" eaLnBrk="1" latinLnBrk="0" hangingPunct="1">
        <a:spcBef>
          <a:spcPct val="0"/>
        </a:spcBef>
        <a:buNone/>
        <a:defRPr sz="3200" kern="1200">
          <a:solidFill>
            <a:schemeClr val="tx1"/>
          </a:solidFill>
          <a:latin typeface="+mj-lt"/>
          <a:ea typeface="+mj-ea"/>
          <a:cs typeface="Trebuchet M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ct val="20000"/>
        </a:spcBef>
        <a:spcAft>
          <a:spcPts val="600"/>
        </a:spcAft>
        <a:buClr>
          <a:schemeClr val="tx2"/>
        </a:buClr>
        <a:buFont typeface="Wingdings 2" charset="2"/>
        <a:buChar char=""/>
        <a:defRPr sz="1800" kern="1200">
          <a:solidFill>
            <a:schemeClr val="tx1"/>
          </a:solidFill>
          <a:latin typeface="+mn-lt"/>
          <a:ea typeface="+mn-ea"/>
          <a:cs typeface="+mn-cs"/>
        </a:defRPr>
      </a:lvl1pPr>
      <a:lvl2pPr marL="742950" indent="-285750" algn="r" defTabSz="457200" rtl="1" eaLnBrk="1" latinLnBrk="0" hangingPunct="1">
        <a:spcBef>
          <a:spcPct val="20000"/>
        </a:spcBef>
        <a:spcAft>
          <a:spcPts val="600"/>
        </a:spcAft>
        <a:buClr>
          <a:schemeClr val="tx2"/>
        </a:buClr>
        <a:buFont typeface="Wingdings 2" charset="2"/>
        <a:buChar char=""/>
        <a:defRPr sz="1600" kern="1200">
          <a:solidFill>
            <a:schemeClr val="tx1"/>
          </a:solidFill>
          <a:latin typeface="+mn-lt"/>
          <a:ea typeface="+mn-ea"/>
          <a:cs typeface="+mn-cs"/>
        </a:defRPr>
      </a:lvl2pPr>
      <a:lvl3pPr marL="1143000" indent="-228600" algn="r" defTabSz="457200" rtl="1" eaLnBrk="1" latinLnBrk="0" hangingPunct="1">
        <a:spcBef>
          <a:spcPct val="20000"/>
        </a:spcBef>
        <a:spcAft>
          <a:spcPts val="600"/>
        </a:spcAft>
        <a:buClr>
          <a:schemeClr val="tx2"/>
        </a:buClr>
        <a:buFont typeface="Wingdings 2" charset="2"/>
        <a:buChar char=""/>
        <a:defRPr sz="1400" kern="1200">
          <a:solidFill>
            <a:schemeClr val="tx1"/>
          </a:solidFill>
          <a:latin typeface="+mn-lt"/>
          <a:ea typeface="+mn-ea"/>
          <a:cs typeface="+mn-cs"/>
        </a:defRPr>
      </a:lvl3pPr>
      <a:lvl4pPr marL="1600200" indent="-228600" algn="r" defTabSz="457200" rtl="1" eaLnBrk="1" latinLnBrk="0" hangingPunct="1">
        <a:spcBef>
          <a:spcPct val="20000"/>
        </a:spcBef>
        <a:spcAft>
          <a:spcPts val="600"/>
        </a:spcAft>
        <a:buClr>
          <a:schemeClr val="tx2"/>
        </a:buClr>
        <a:buFont typeface="Wingdings 2" charset="2"/>
        <a:buChar char=""/>
        <a:defRPr sz="1200" kern="1200">
          <a:solidFill>
            <a:schemeClr val="tx1"/>
          </a:solidFill>
          <a:latin typeface="+mn-lt"/>
          <a:ea typeface="+mn-ea"/>
          <a:cs typeface="+mn-cs"/>
        </a:defRPr>
      </a:lvl4pPr>
      <a:lvl5pPr marL="2057400" indent="-228600" algn="r" defTabSz="457200" rtl="1" eaLnBrk="1" latinLnBrk="0" hangingPunct="1">
        <a:spcBef>
          <a:spcPct val="20000"/>
        </a:spcBef>
        <a:spcAft>
          <a:spcPts val="600"/>
        </a:spcAft>
        <a:buClr>
          <a:schemeClr val="tx2"/>
        </a:buClr>
        <a:buFont typeface="Wingdings 2" charset="2"/>
        <a:buChar char=""/>
        <a:defRPr sz="1200" kern="1200">
          <a:solidFill>
            <a:schemeClr val="tx1"/>
          </a:solidFill>
          <a:latin typeface="+mn-lt"/>
          <a:ea typeface="+mn-ea"/>
          <a:cs typeface="+mn-cs"/>
        </a:defRPr>
      </a:lvl5pPr>
      <a:lvl6pPr marL="2514600" indent="-228600" algn="r" defTabSz="457200" rtl="1" eaLnBrk="1" latinLnBrk="0" hangingPunct="1">
        <a:spcBef>
          <a:spcPct val="20000"/>
        </a:spcBef>
        <a:buFont typeface="Arial"/>
        <a:buChar char="•"/>
        <a:defRPr sz="2000" kern="1200">
          <a:solidFill>
            <a:schemeClr val="tx1"/>
          </a:solidFill>
          <a:latin typeface="+mn-lt"/>
          <a:ea typeface="+mn-ea"/>
          <a:cs typeface="+mn-cs"/>
        </a:defRPr>
      </a:lvl6pPr>
      <a:lvl7pPr marL="2971800" indent="-228600" algn="r" defTabSz="457200" rtl="1" eaLnBrk="1" latinLnBrk="0" hangingPunct="1">
        <a:spcBef>
          <a:spcPct val="20000"/>
        </a:spcBef>
        <a:buFont typeface="Arial"/>
        <a:buChar char="•"/>
        <a:defRPr sz="2000" kern="1200">
          <a:solidFill>
            <a:schemeClr val="tx1"/>
          </a:solidFill>
          <a:latin typeface="+mn-lt"/>
          <a:ea typeface="+mn-ea"/>
          <a:cs typeface="+mn-cs"/>
        </a:defRPr>
      </a:lvl7pPr>
      <a:lvl8pPr marL="3429000" indent="-228600" algn="r" defTabSz="457200" rtl="1" eaLnBrk="1" latinLnBrk="0" hangingPunct="1">
        <a:spcBef>
          <a:spcPct val="20000"/>
        </a:spcBef>
        <a:buFont typeface="Arial"/>
        <a:buChar char="•"/>
        <a:defRPr sz="2000" kern="1200">
          <a:solidFill>
            <a:schemeClr val="tx1"/>
          </a:solidFill>
          <a:latin typeface="+mn-lt"/>
          <a:ea typeface="+mn-ea"/>
          <a:cs typeface="+mn-cs"/>
        </a:defRPr>
      </a:lvl8pPr>
      <a:lvl9pPr marL="3886200" indent="-228600" algn="r" defTabSz="457200" rtl="1"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2" descr="C:\Users\sina\Desktop\37351081517069117923.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411510"/>
            <a:ext cx="7200800" cy="4169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707973"/>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09442" y="675724"/>
            <a:ext cx="7125113" cy="4265444"/>
          </a:xfrm>
        </p:spPr>
        <p:txBody>
          <a:bodyPr/>
          <a:lstStyle/>
          <a:p>
            <a:pPr algn="ctr"/>
            <a:r>
              <a:rPr lang="fa-IR" sz="13800" b="1" dirty="0">
                <a:solidFill>
                  <a:schemeClr val="bg1"/>
                </a:solidFill>
                <a:cs typeface="B Titr" pitchFamily="2" charset="-78"/>
              </a:rPr>
              <a:t>سقف کاذب</a:t>
            </a:r>
            <a:endParaRPr lang="fa-IR" sz="13800" dirty="0"/>
          </a:p>
        </p:txBody>
      </p:sp>
    </p:spTree>
    <p:extLst>
      <p:ext uri="{BB962C8B-B14F-4D97-AF65-F5344CB8AC3E}">
        <p14:creationId xmlns:p14="http://schemas.microsoft.com/office/powerpoint/2010/main" val="3376650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a:xfrm>
            <a:off x="432008" y="-15240"/>
            <a:ext cx="8686800" cy="838200"/>
          </a:xfrm>
          <a:prstGeom prst="rect">
            <a:avLst/>
          </a:prstGeom>
          <a:effectLst/>
        </p:spPr>
        <p:txBody>
          <a:bodyPr vert="horz" lIns="91440" tIns="45720" rIns="91440" bIns="45720" rtlCol="0" anchor="b">
            <a:normAutofit/>
          </a:bodyPr>
          <a:lstStyle>
            <a:lvl1pPr algn="l" defTabSz="457200" rtl="1" eaLnBrk="1" latinLnBrk="0" hangingPunct="1">
              <a:spcBef>
                <a:spcPct val="0"/>
              </a:spcBef>
              <a:buNone/>
              <a:defRPr sz="4000" kern="1200">
                <a:solidFill>
                  <a:schemeClr val="tx1"/>
                </a:solidFill>
                <a:latin typeface="+mj-lt"/>
                <a:ea typeface="+mj-ea"/>
                <a:cs typeface="Trebuchet M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a:lstStyle>
          <a:p>
            <a:pPr algn="r"/>
            <a:r>
              <a:rPr lang="fa-IR" b="1" dirty="0">
                <a:solidFill>
                  <a:schemeClr val="bg1"/>
                </a:solidFill>
                <a:cs typeface="B Titr" pitchFamily="2" charset="-78"/>
              </a:rPr>
              <a:t>تعریف سقف کاذب</a:t>
            </a:r>
            <a:endParaRPr lang="en-US" sz="3200" b="1" dirty="0">
              <a:solidFill>
                <a:schemeClr val="bg1"/>
              </a:solidFill>
              <a:cs typeface="B Titr" pitchFamily="2" charset="-78"/>
            </a:endParaRPr>
          </a:p>
        </p:txBody>
      </p:sp>
      <p:pic>
        <p:nvPicPr>
          <p:cNvPr id="5" name="Content Placeholder 3" descr="IMG_0024.JPG"/>
          <p:cNvPicPr>
            <a:picLocks noChangeAspect="1"/>
          </p:cNvPicPr>
          <p:nvPr/>
        </p:nvPicPr>
        <p:blipFill>
          <a:blip r:embed="rId2"/>
          <a:srcRect t="15000"/>
          <a:stretch>
            <a:fillRect/>
          </a:stretch>
        </p:blipFill>
        <p:spPr>
          <a:xfrm>
            <a:off x="0" y="4019520"/>
            <a:ext cx="4099496" cy="2819400"/>
          </a:xfrm>
          <a:prstGeom prst="rect">
            <a:avLst/>
          </a:prstGeom>
        </p:spPr>
      </p:pic>
      <p:pic>
        <p:nvPicPr>
          <p:cNvPr id="6" name="Picture 5" descr="IMG_0026.JPG"/>
          <p:cNvPicPr>
            <a:picLocks noChangeAspect="1"/>
          </p:cNvPicPr>
          <p:nvPr/>
        </p:nvPicPr>
        <p:blipFill>
          <a:blip r:embed="rId3"/>
          <a:srcRect t="12500" b="2500"/>
          <a:stretch>
            <a:fillRect/>
          </a:stretch>
        </p:blipFill>
        <p:spPr>
          <a:xfrm>
            <a:off x="0" y="822960"/>
            <a:ext cx="4099496" cy="3215640"/>
          </a:xfrm>
          <a:prstGeom prst="rect">
            <a:avLst/>
          </a:prstGeom>
        </p:spPr>
      </p:pic>
      <p:sp>
        <p:nvSpPr>
          <p:cNvPr id="7" name="TextBox 6"/>
          <p:cNvSpPr txBox="1"/>
          <p:nvPr/>
        </p:nvSpPr>
        <p:spPr>
          <a:xfrm>
            <a:off x="4089544" y="1061388"/>
            <a:ext cx="5044504" cy="5649624"/>
          </a:xfrm>
          <a:prstGeom prst="rect">
            <a:avLst/>
          </a:prstGeom>
          <a:noFill/>
        </p:spPr>
        <p:txBody>
          <a:bodyPr wrap="square" rtlCol="0">
            <a:spAutoFit/>
          </a:bodyPr>
          <a:lstStyle/>
          <a:p>
            <a:pPr algn="just" rtl="1">
              <a:lnSpc>
                <a:spcPct val="150000"/>
              </a:lnSpc>
            </a:pPr>
            <a:r>
              <a:rPr lang="fa-IR" sz="2400" dirty="0">
                <a:solidFill>
                  <a:schemeClr val="bg1"/>
                </a:solidFill>
                <a:cs typeface="B Nazanin" pitchFamily="2" charset="-78"/>
              </a:rPr>
              <a:t>سقف‌های کاذب به سقف‌هایی اطلاق می‌شوند که: بر حسب ظاهر شبیه به سقف‌های معمولی بوده اما، وظایف یک سقف را که تحمل نیروها و بارهای مرده یا زنده و انتقال آن به ستون، دیوار‌ها یا تیرهای حمال است را انجام نمی‌دهد. معمولا سقف‌های کاذب حدود </a:t>
            </a:r>
            <a:r>
              <a:rPr lang="en-US" sz="2400" dirty="0">
                <a:solidFill>
                  <a:schemeClr val="bg1"/>
                </a:solidFill>
                <a:cs typeface="B Nazanin" pitchFamily="2" charset="-78"/>
              </a:rPr>
              <a:t>cm</a:t>
            </a:r>
            <a:r>
              <a:rPr lang="fa-IR" sz="2400" dirty="0">
                <a:solidFill>
                  <a:schemeClr val="bg1"/>
                </a:solidFill>
                <a:cs typeface="B Nazanin" pitchFamily="2" charset="-78"/>
              </a:rPr>
              <a:t>30 تا </a:t>
            </a:r>
            <a:r>
              <a:rPr lang="en-US" sz="2400" dirty="0">
                <a:solidFill>
                  <a:schemeClr val="bg1"/>
                </a:solidFill>
                <a:cs typeface="B Nazanin" pitchFamily="2" charset="-78"/>
              </a:rPr>
              <a:t>cm</a:t>
            </a:r>
            <a:r>
              <a:rPr lang="fa-IR" sz="2400" dirty="0">
                <a:solidFill>
                  <a:schemeClr val="bg1"/>
                </a:solidFill>
                <a:cs typeface="B Nazanin" pitchFamily="2" charset="-78"/>
              </a:rPr>
              <a:t>50 پایین‌تر از سقف اصلی قرار داشته و اکثرا به منظور پوشاندن لوله‌های آب فاضلاب، کانال کولر، تاسیسات و نظایر آن ساخته می‌شود و از نظر رایزرهای تاسیساتی و عبور اجزای  تاسیساتی نقش مهمی‌را دارا می‌باشند. </a:t>
            </a:r>
            <a:endParaRPr lang="en-US" sz="2400" dirty="0">
              <a:solidFill>
                <a:schemeClr val="bg1"/>
              </a:solidFill>
              <a:cs typeface="B Nazanin" pitchFamily="2" charset="-78"/>
            </a:endParaRPr>
          </a:p>
        </p:txBody>
      </p:sp>
    </p:spTree>
    <p:extLst>
      <p:ext uri="{BB962C8B-B14F-4D97-AF65-F5344CB8AC3E}">
        <p14:creationId xmlns:p14="http://schemas.microsoft.com/office/powerpoint/2010/main" val="171570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3000"/>
                                        <p:tgtEl>
                                          <p:spTgt spid="7"/>
                                        </p:tgtEl>
                                      </p:cBhvr>
                                    </p:animEffect>
                                  </p:childTnLst>
                                </p:cTn>
                              </p:par>
                            </p:childTnLst>
                          </p:cTn>
                        </p:par>
                        <p:par>
                          <p:cTn id="12" fill="hold">
                            <p:stCondLst>
                              <p:cond delay="5000"/>
                            </p:stCondLst>
                            <p:childTnLst>
                              <p:par>
                                <p:cTn id="13" presetID="6" presetClass="entr" presetSubtype="32"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circle(out)">
                                      <p:cBhvr>
                                        <p:cTn id="15" dur="2000"/>
                                        <p:tgtEl>
                                          <p:spTgt spid="6"/>
                                        </p:tgtEl>
                                      </p:cBhvr>
                                    </p:animEffect>
                                  </p:childTnLst>
                                </p:cTn>
                              </p:par>
                            </p:childTnLst>
                          </p:cTn>
                        </p:par>
                        <p:par>
                          <p:cTn id="16" fill="hold">
                            <p:stCondLst>
                              <p:cond delay="7000"/>
                            </p:stCondLst>
                            <p:childTnLst>
                              <p:par>
                                <p:cTn id="17" presetID="6" presetClass="entr" presetSubtype="32"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circle(out)">
                                      <p:cBhvr>
                                        <p:cTn id="19"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23528" y="0"/>
            <a:ext cx="8686800" cy="838200"/>
          </a:xfrm>
          <a:effectLst/>
        </p:spPr>
        <p:txBody>
          <a:bodyPr>
            <a:normAutofit/>
          </a:bodyPr>
          <a:lstStyle/>
          <a:p>
            <a:pPr algn="just" rtl="1"/>
            <a:r>
              <a:rPr lang="fa-IR" sz="4000" dirty="0">
                <a:solidFill>
                  <a:schemeClr val="bg1"/>
                </a:solidFill>
                <a:cs typeface="B Titr" pitchFamily="2" charset="-78"/>
              </a:rPr>
              <a:t>تعریف سقف کاذب</a:t>
            </a:r>
            <a:endParaRPr lang="en-US" sz="3200" dirty="0">
              <a:solidFill>
                <a:schemeClr val="bg1"/>
              </a:solidFill>
              <a:cs typeface="B Titr" pitchFamily="2" charset="-78"/>
            </a:endParaRPr>
          </a:p>
        </p:txBody>
      </p:sp>
      <p:sp>
        <p:nvSpPr>
          <p:cNvPr id="5" name="Content Placeholder 5"/>
          <p:cNvSpPr>
            <a:spLocks noGrp="1"/>
          </p:cNvSpPr>
          <p:nvPr>
            <p:ph idx="1"/>
          </p:nvPr>
        </p:nvSpPr>
        <p:spPr>
          <a:xfrm>
            <a:off x="539552" y="908720"/>
            <a:ext cx="8229600" cy="2332038"/>
          </a:xfrm>
        </p:spPr>
        <p:txBody>
          <a:bodyPr>
            <a:noAutofit/>
          </a:bodyPr>
          <a:lstStyle/>
          <a:p>
            <a:pPr marL="0" indent="457200" algn="just" rtl="1">
              <a:lnSpc>
                <a:spcPct val="150000"/>
              </a:lnSpc>
              <a:buNone/>
            </a:pPr>
            <a:r>
              <a:rPr lang="fa-IR" sz="3200" dirty="0">
                <a:solidFill>
                  <a:schemeClr val="bg1"/>
                </a:solidFill>
                <a:cs typeface="B Nazanin" pitchFamily="2" charset="-78"/>
              </a:rPr>
              <a:t>طراحان از نظر معماری داخلی به کمک ارتباط خطوط و ایجاد شکستگی با تنوع اختلاف سطح و به کارگیری نورهای مخفی سعی در زیباتر جلوه نمودن سقف کاذب می‌نماید. سیستم‌های مختلف سقف کاذب علاوه بر زیبایی، نقش بسیار موثری در کاهش انعکاس صدا دارند.</a:t>
            </a:r>
            <a:endParaRPr lang="en-US" sz="3200" dirty="0">
              <a:solidFill>
                <a:schemeClr val="bg1"/>
              </a:solidFill>
              <a:cs typeface="B Nazanin" pitchFamily="2" charset="-78"/>
            </a:endParaRPr>
          </a:p>
        </p:txBody>
      </p:sp>
      <p:pic>
        <p:nvPicPr>
          <p:cNvPr id="6" name="Picture 5" descr="DSC01027.JPG"/>
          <p:cNvPicPr/>
          <p:nvPr/>
        </p:nvPicPr>
        <p:blipFill>
          <a:blip r:embed="rId2" cstate="print"/>
          <a:srcRect/>
          <a:stretch>
            <a:fillRect/>
          </a:stretch>
        </p:blipFill>
        <p:spPr>
          <a:xfrm>
            <a:off x="0" y="3460616"/>
            <a:ext cx="9143999" cy="3397384"/>
          </a:xfrm>
          <a:prstGeom prst="rect">
            <a:avLst/>
          </a:prstGeom>
        </p:spPr>
      </p:pic>
      <p:sp>
        <p:nvSpPr>
          <p:cNvPr id="7" name="Footer Placeholder 1"/>
          <p:cNvSpPr>
            <a:spLocks noGrp="1"/>
          </p:cNvSpPr>
          <p:nvPr>
            <p:ph type="ftr" sz="quarter" idx="11"/>
          </p:nvPr>
        </p:nvSpPr>
        <p:spPr>
          <a:xfrm>
            <a:off x="8927" y="6543273"/>
            <a:ext cx="1806879" cy="295647"/>
          </a:xfrm>
        </p:spPr>
        <p:txBody>
          <a:bodyPr/>
          <a:lstStyle/>
          <a:p>
            <a:endParaRPr kumimoji="0" lang="en-US" sz="1600" dirty="0"/>
          </a:p>
        </p:txBody>
      </p:sp>
    </p:spTree>
    <p:extLst>
      <p:ext uri="{BB962C8B-B14F-4D97-AF65-F5344CB8AC3E}">
        <p14:creationId xmlns:p14="http://schemas.microsoft.com/office/powerpoint/2010/main" val="2939135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3000"/>
                                        <p:tgtEl>
                                          <p:spTgt spid="5">
                                            <p:txEl>
                                              <p:pRg st="0" end="0"/>
                                            </p:txEl>
                                          </p:spTgt>
                                        </p:tgtEl>
                                      </p:cBhvr>
                                    </p:animEffect>
                                  </p:childTnLst>
                                </p:cTn>
                              </p:par>
                            </p:childTnLst>
                          </p:cTn>
                        </p:par>
                        <p:par>
                          <p:cTn id="12" fill="hold">
                            <p:stCondLst>
                              <p:cond delay="5000"/>
                            </p:stCondLst>
                            <p:childTnLst>
                              <p:par>
                                <p:cTn id="13" presetID="3" presetClass="entr" presetSubtype="1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04800"/>
            <a:ext cx="8686800" cy="838200"/>
          </a:xfrm>
          <a:effectLst/>
        </p:spPr>
        <p:txBody>
          <a:bodyPr>
            <a:normAutofit/>
          </a:bodyPr>
          <a:lstStyle/>
          <a:p>
            <a:pPr algn="just" rtl="1"/>
            <a:r>
              <a:rPr lang="fa-IR" sz="4000" b="1" dirty="0">
                <a:solidFill>
                  <a:schemeClr val="bg1"/>
                </a:solidFill>
                <a:cs typeface="B Titr" pitchFamily="2" charset="-78"/>
              </a:rPr>
              <a:t>زیرسازی سقف کاذب</a:t>
            </a:r>
            <a:endParaRPr lang="en-US" sz="4000" dirty="0">
              <a:solidFill>
                <a:schemeClr val="bg1"/>
              </a:solidFill>
              <a:cs typeface="B Titr" pitchFamily="2" charset="-78"/>
            </a:endParaRPr>
          </a:p>
        </p:txBody>
      </p:sp>
      <p:sp>
        <p:nvSpPr>
          <p:cNvPr id="5" name="Content Placeholder 5"/>
          <p:cNvSpPr>
            <a:spLocks noGrp="1"/>
          </p:cNvSpPr>
          <p:nvPr>
            <p:ph idx="1"/>
          </p:nvPr>
        </p:nvSpPr>
        <p:spPr>
          <a:xfrm>
            <a:off x="0" y="1124744"/>
            <a:ext cx="9144000" cy="5115197"/>
          </a:xfrm>
        </p:spPr>
        <p:txBody>
          <a:bodyPr>
            <a:noAutofit/>
          </a:bodyPr>
          <a:lstStyle/>
          <a:p>
            <a:pPr marL="0" indent="457200" algn="just" rtl="1">
              <a:lnSpc>
                <a:spcPct val="150000"/>
              </a:lnSpc>
              <a:buNone/>
            </a:pPr>
            <a:r>
              <a:rPr lang="fa-IR" sz="3000" dirty="0">
                <a:solidFill>
                  <a:schemeClr val="bg1"/>
                </a:solidFill>
                <a:cs typeface="B Nazanin" pitchFamily="2" charset="-78"/>
              </a:rPr>
              <a:t>زیرسازی برای نگه داشتن سقف کاذب است. به مجموعه‌ای از اجزا گفته می‌شود که در کنار هم و با اتصال به هم اسکلتی را به وجود می‌آورند که سقف کاذب (سازه‌های سقف کاذب) بر روی آن متصل می‌شود که خود این اتصال ممکن است به گونه‌های مختلفی صورت گیرد.</a:t>
            </a:r>
            <a:r>
              <a:rPr lang="en-US" sz="3000" dirty="0">
                <a:solidFill>
                  <a:schemeClr val="bg1"/>
                </a:solidFill>
                <a:cs typeface="B Nazanin" pitchFamily="2" charset="-78"/>
              </a:rPr>
              <a:t> </a:t>
            </a:r>
            <a:r>
              <a:rPr lang="fa-IR" sz="3000" dirty="0">
                <a:solidFill>
                  <a:schemeClr val="bg1"/>
                </a:solidFill>
                <a:cs typeface="B Nazanin" pitchFamily="2" charset="-78"/>
              </a:rPr>
              <a:t>وظیفه اصلی زیرسازی نگه داشتن سازه‌های سقف کاذب به سقف اصلی است. این نگه داشتن به صورت افقی، عمودی، زاویه دار و قوسی است. زیرسازی تمامی‌سقف کاذب‌ها در مواردی با هم مشترک است و در واقع می‌توان گفت همان عواملی هستند که رقابت بین تولیدکنندگان را به وجود می‌آورند.</a:t>
            </a:r>
            <a:endParaRPr lang="en-US" sz="3000" dirty="0">
              <a:solidFill>
                <a:schemeClr val="bg1"/>
              </a:solidFill>
              <a:cs typeface="B Nazanin" pitchFamily="2" charset="-78"/>
            </a:endParaRPr>
          </a:p>
        </p:txBody>
      </p:sp>
      <p:sp>
        <p:nvSpPr>
          <p:cNvPr id="6" name="Footer Placeholder 1"/>
          <p:cNvSpPr>
            <a:spLocks noGrp="1"/>
          </p:cNvSpPr>
          <p:nvPr>
            <p:ph type="ftr" sz="quarter" idx="11"/>
          </p:nvPr>
        </p:nvSpPr>
        <p:spPr>
          <a:xfrm>
            <a:off x="8927" y="6543273"/>
            <a:ext cx="1806879" cy="295647"/>
          </a:xfrm>
        </p:spPr>
        <p:txBody>
          <a:bodyPr/>
          <a:lstStyle/>
          <a:p>
            <a:endParaRPr kumimoji="0" lang="en-US" sz="1600" dirty="0"/>
          </a:p>
        </p:txBody>
      </p:sp>
    </p:spTree>
    <p:extLst>
      <p:ext uri="{BB962C8B-B14F-4D97-AF65-F5344CB8AC3E}">
        <p14:creationId xmlns:p14="http://schemas.microsoft.com/office/powerpoint/2010/main" val="251636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3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04800"/>
            <a:ext cx="8686800" cy="838200"/>
          </a:xfrm>
          <a:effectLst/>
        </p:spPr>
        <p:txBody>
          <a:bodyPr>
            <a:normAutofit/>
          </a:bodyPr>
          <a:lstStyle/>
          <a:p>
            <a:pPr algn="just" rtl="1"/>
            <a:r>
              <a:rPr lang="fa-IR" sz="4800" b="1" dirty="0">
                <a:solidFill>
                  <a:schemeClr val="bg1"/>
                </a:solidFill>
                <a:cs typeface="B Titr" pitchFamily="2" charset="-78"/>
              </a:rPr>
              <a:t>انواع سقف‌های کاذب رایج در ایران</a:t>
            </a:r>
            <a:endParaRPr lang="en-US" sz="4800" dirty="0">
              <a:solidFill>
                <a:schemeClr val="bg1"/>
              </a:solidFill>
              <a:cs typeface="B Titr" pitchFamily="2" charset="-78"/>
            </a:endParaRPr>
          </a:p>
        </p:txBody>
      </p:sp>
      <p:sp>
        <p:nvSpPr>
          <p:cNvPr id="5" name="Content Placeholder 5"/>
          <p:cNvSpPr>
            <a:spLocks noGrp="1"/>
          </p:cNvSpPr>
          <p:nvPr>
            <p:ph idx="1"/>
          </p:nvPr>
        </p:nvSpPr>
        <p:spPr>
          <a:xfrm>
            <a:off x="304800" y="1554163"/>
            <a:ext cx="8382000" cy="4770438"/>
          </a:xfrm>
        </p:spPr>
        <p:txBody>
          <a:bodyPr>
            <a:normAutofit/>
          </a:bodyPr>
          <a:lstStyle/>
          <a:p>
            <a:pPr marL="514350" lvl="0" indent="-514350" algn="just" rtl="1">
              <a:lnSpc>
                <a:spcPct val="150000"/>
              </a:lnSpc>
              <a:buNone/>
            </a:pPr>
            <a:r>
              <a:rPr lang="fa-IR" sz="4400" dirty="0">
                <a:solidFill>
                  <a:schemeClr val="bg1"/>
                </a:solidFill>
                <a:cs typeface="B Nazanin" pitchFamily="2" charset="-78"/>
              </a:rPr>
              <a:t>1) سقف کاذب رابیتس</a:t>
            </a:r>
            <a:endParaRPr lang="en-US" sz="4400" dirty="0">
              <a:solidFill>
                <a:schemeClr val="bg1"/>
              </a:solidFill>
              <a:cs typeface="B Nazanin" pitchFamily="2" charset="-78"/>
            </a:endParaRPr>
          </a:p>
          <a:p>
            <a:pPr marL="514350" lvl="0" indent="-514350" algn="just" rtl="1">
              <a:lnSpc>
                <a:spcPct val="150000"/>
              </a:lnSpc>
              <a:buNone/>
            </a:pPr>
            <a:r>
              <a:rPr lang="fa-IR" sz="4400" dirty="0">
                <a:solidFill>
                  <a:schemeClr val="bg1"/>
                </a:solidFill>
                <a:cs typeface="B Nazanin" pitchFamily="2" charset="-78"/>
              </a:rPr>
              <a:t>2) سقف کاذب آکوستیکی</a:t>
            </a:r>
            <a:endParaRPr lang="en-US" sz="4400" dirty="0">
              <a:solidFill>
                <a:schemeClr val="bg1"/>
              </a:solidFill>
              <a:cs typeface="B Nazanin" pitchFamily="2" charset="-78"/>
            </a:endParaRPr>
          </a:p>
          <a:p>
            <a:pPr marL="514350" lvl="0" indent="-514350" algn="just" rtl="1">
              <a:lnSpc>
                <a:spcPct val="150000"/>
              </a:lnSpc>
              <a:buNone/>
            </a:pPr>
            <a:r>
              <a:rPr lang="fa-IR" sz="4400" dirty="0">
                <a:solidFill>
                  <a:schemeClr val="bg1"/>
                </a:solidFill>
                <a:cs typeface="B Nazanin" pitchFamily="2" charset="-78"/>
              </a:rPr>
              <a:t>3) سقف کاذب پیش ساخته گچی</a:t>
            </a:r>
            <a:endParaRPr lang="en-US" sz="4400" dirty="0">
              <a:solidFill>
                <a:schemeClr val="bg1"/>
              </a:solidFill>
              <a:cs typeface="B Nazanin" pitchFamily="2" charset="-78"/>
            </a:endParaRPr>
          </a:p>
          <a:p>
            <a:pPr marL="514350" lvl="0" indent="-514350" algn="just" rtl="1">
              <a:lnSpc>
                <a:spcPct val="150000"/>
              </a:lnSpc>
              <a:buNone/>
            </a:pPr>
            <a:r>
              <a:rPr lang="fa-IR" sz="4400" dirty="0">
                <a:solidFill>
                  <a:schemeClr val="bg1"/>
                </a:solidFill>
                <a:cs typeface="B Nazanin" pitchFamily="2" charset="-78"/>
              </a:rPr>
              <a:t>4) سقف کاذب آلومینیومی‌(دامپا یا لمبه ای)</a:t>
            </a:r>
            <a:endParaRPr lang="en-US" sz="4400" dirty="0">
              <a:solidFill>
                <a:schemeClr val="bg1"/>
              </a:solidFill>
              <a:cs typeface="B Nazanin" pitchFamily="2" charset="-78"/>
            </a:endParaRPr>
          </a:p>
        </p:txBody>
      </p:sp>
      <p:sp>
        <p:nvSpPr>
          <p:cNvPr id="6" name="Footer Placeholder 1"/>
          <p:cNvSpPr>
            <a:spLocks noGrp="1"/>
          </p:cNvSpPr>
          <p:nvPr>
            <p:ph type="ftr" sz="quarter" idx="11"/>
          </p:nvPr>
        </p:nvSpPr>
        <p:spPr>
          <a:xfrm>
            <a:off x="8927" y="6543273"/>
            <a:ext cx="1806879" cy="295647"/>
          </a:xfrm>
        </p:spPr>
        <p:txBody>
          <a:bodyPr/>
          <a:lstStyle/>
          <a:p>
            <a:endParaRPr kumimoji="0" lang="en-US" sz="1600" dirty="0"/>
          </a:p>
        </p:txBody>
      </p:sp>
    </p:spTree>
    <p:extLst>
      <p:ext uri="{BB962C8B-B14F-4D97-AF65-F5344CB8AC3E}">
        <p14:creationId xmlns:p14="http://schemas.microsoft.com/office/powerpoint/2010/main" val="81312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2"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right)">
                                      <p:cBhvr>
                                        <p:cTn id="11" dur="1000"/>
                                        <p:tgtEl>
                                          <p:spTgt spid="5">
                                            <p:txEl>
                                              <p:pRg st="0" end="0"/>
                                            </p:txEl>
                                          </p:spTgt>
                                        </p:tgtEl>
                                      </p:cBhvr>
                                    </p:animEffect>
                                  </p:childTnLst>
                                </p:cTn>
                              </p:par>
                            </p:childTnLst>
                          </p:cTn>
                        </p:par>
                        <p:par>
                          <p:cTn id="12" fill="hold">
                            <p:stCondLst>
                              <p:cond delay="3000"/>
                            </p:stCondLst>
                            <p:childTnLst>
                              <p:par>
                                <p:cTn id="13" presetID="22" presetClass="entr" presetSubtype="2" fill="hold" grpId="0"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right)">
                                      <p:cBhvr>
                                        <p:cTn id="15" dur="1000"/>
                                        <p:tgtEl>
                                          <p:spTgt spid="5">
                                            <p:txEl>
                                              <p:pRg st="1" end="1"/>
                                            </p:txEl>
                                          </p:spTgt>
                                        </p:tgtEl>
                                      </p:cBhvr>
                                    </p:animEffect>
                                  </p:childTnLst>
                                </p:cTn>
                              </p:par>
                            </p:childTnLst>
                          </p:cTn>
                        </p:par>
                        <p:par>
                          <p:cTn id="16" fill="hold">
                            <p:stCondLst>
                              <p:cond delay="4000"/>
                            </p:stCondLst>
                            <p:childTnLst>
                              <p:par>
                                <p:cTn id="17" presetID="22" presetClass="entr" presetSubtype="2" fill="hold" grpId="0" nodeType="after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wipe(right)">
                                      <p:cBhvr>
                                        <p:cTn id="19" dur="1000"/>
                                        <p:tgtEl>
                                          <p:spTgt spid="5">
                                            <p:txEl>
                                              <p:pRg st="2" end="2"/>
                                            </p:txEl>
                                          </p:spTgt>
                                        </p:tgtEl>
                                      </p:cBhvr>
                                    </p:animEffect>
                                  </p:childTnLst>
                                </p:cTn>
                              </p:par>
                            </p:childTnLst>
                          </p:cTn>
                        </p:par>
                        <p:par>
                          <p:cTn id="20" fill="hold">
                            <p:stCondLst>
                              <p:cond delay="5000"/>
                            </p:stCondLst>
                            <p:childTnLst>
                              <p:par>
                                <p:cTn id="21" presetID="22" presetClass="entr" presetSubtype="2" fill="hold" grpId="0" nodeType="after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wipe(right)">
                                      <p:cBhvr>
                                        <p:cTn id="23" dur="1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04800"/>
            <a:ext cx="8686800" cy="838200"/>
          </a:xfrm>
          <a:effectLst/>
        </p:spPr>
        <p:txBody>
          <a:bodyPr>
            <a:normAutofit/>
          </a:bodyPr>
          <a:lstStyle/>
          <a:p>
            <a:pPr algn="just" rtl="1"/>
            <a:r>
              <a:rPr lang="fa-IR" sz="4400" b="1" dirty="0">
                <a:solidFill>
                  <a:schemeClr val="bg1"/>
                </a:solidFill>
                <a:cs typeface="B Titr" pitchFamily="2" charset="-78"/>
              </a:rPr>
              <a:t>1) سقف کاذب رابیتس</a:t>
            </a:r>
            <a:endParaRPr lang="en-US" sz="4400" dirty="0">
              <a:solidFill>
                <a:schemeClr val="bg1"/>
              </a:solidFill>
              <a:cs typeface="B Titr" pitchFamily="2" charset="-78"/>
            </a:endParaRPr>
          </a:p>
        </p:txBody>
      </p:sp>
      <p:sp>
        <p:nvSpPr>
          <p:cNvPr id="5" name="Content Placeholder 5"/>
          <p:cNvSpPr>
            <a:spLocks noGrp="1"/>
          </p:cNvSpPr>
          <p:nvPr>
            <p:ph idx="1"/>
          </p:nvPr>
        </p:nvSpPr>
        <p:spPr>
          <a:xfrm>
            <a:off x="457200" y="1554163"/>
            <a:ext cx="8229600" cy="4770438"/>
          </a:xfrm>
        </p:spPr>
        <p:txBody>
          <a:bodyPr>
            <a:normAutofit fontScale="92500" lnSpcReduction="10000"/>
          </a:bodyPr>
          <a:lstStyle/>
          <a:p>
            <a:pPr marL="0" indent="457200" algn="just" rtl="1">
              <a:lnSpc>
                <a:spcPct val="150000"/>
              </a:lnSpc>
              <a:buNone/>
            </a:pPr>
            <a:r>
              <a:rPr lang="fa-IR" sz="3600" dirty="0">
                <a:solidFill>
                  <a:schemeClr val="bg1"/>
                </a:solidFill>
                <a:latin typeface="Calibri"/>
                <a:ea typeface="Times New Roman"/>
                <a:cs typeface="B Nazanin"/>
              </a:rPr>
              <a:t>اتصال سقف رابیتس در غالب میلگردهایی رابط که از سقف اصلی آویزان می‌باشد صورت می‌گیرد.</a:t>
            </a:r>
          </a:p>
          <a:p>
            <a:pPr marL="0" indent="457200" algn="just" rtl="1">
              <a:lnSpc>
                <a:spcPct val="150000"/>
              </a:lnSpc>
              <a:buNone/>
            </a:pPr>
            <a:r>
              <a:rPr lang="fa-IR" sz="3600" dirty="0">
                <a:solidFill>
                  <a:schemeClr val="bg1"/>
                </a:solidFill>
                <a:latin typeface="Calibri"/>
                <a:ea typeface="Times New Roman"/>
                <a:cs typeface="B Nazanin"/>
              </a:rPr>
              <a:t>فاصله مورد نظر از سقف اصلی بر اساس ارتفاع بزرگترین کانال تاسیساتی تعیین می‌گردد. در این راستا نقشه‌های تاسیساتی در هماهنگی کامل با نقشه‌های معماری شکل می‌گیرد.</a:t>
            </a:r>
            <a:endParaRPr lang="en-US" sz="3600" dirty="0">
              <a:solidFill>
                <a:schemeClr val="bg1"/>
              </a:solidFill>
              <a:latin typeface="Calibri"/>
              <a:ea typeface="Times New Roman"/>
              <a:cs typeface="B Nazanin"/>
            </a:endParaRPr>
          </a:p>
        </p:txBody>
      </p:sp>
      <p:sp>
        <p:nvSpPr>
          <p:cNvPr id="6" name="Footer Placeholder 1"/>
          <p:cNvSpPr>
            <a:spLocks noGrp="1"/>
          </p:cNvSpPr>
          <p:nvPr>
            <p:ph type="ftr" sz="quarter" idx="11"/>
          </p:nvPr>
        </p:nvSpPr>
        <p:spPr>
          <a:xfrm>
            <a:off x="8927" y="6543273"/>
            <a:ext cx="1806879" cy="295647"/>
          </a:xfrm>
        </p:spPr>
        <p:txBody>
          <a:bodyPr/>
          <a:lstStyle/>
          <a:p>
            <a:endParaRPr kumimoji="0" lang="en-US" sz="1600" dirty="0"/>
          </a:p>
        </p:txBody>
      </p:sp>
    </p:spTree>
    <p:extLst>
      <p:ext uri="{BB962C8B-B14F-4D97-AF65-F5344CB8AC3E}">
        <p14:creationId xmlns:p14="http://schemas.microsoft.com/office/powerpoint/2010/main" val="2557227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3000"/>
                                        <p:tgtEl>
                                          <p:spTgt spid="5">
                                            <p:txEl>
                                              <p:pRg st="0" end="0"/>
                                            </p:txEl>
                                          </p:spTgt>
                                        </p:tgtEl>
                                      </p:cBhvr>
                                    </p:animEffect>
                                  </p:childTnLst>
                                </p:cTn>
                              </p:par>
                            </p:childTnLst>
                          </p:cTn>
                        </p:par>
                        <p:par>
                          <p:cTn id="12" fill="hold">
                            <p:stCondLst>
                              <p:cond delay="5000"/>
                            </p:stCondLst>
                            <p:childTnLst>
                              <p:par>
                                <p:cTn id="13" presetID="22" presetClass="entr" presetSubtype="1" fill="hold" grpId="0"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up)">
                                      <p:cBhvr>
                                        <p:cTn id="15" dur="3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686800" cy="838200"/>
          </a:xfrm>
          <a:effectLst/>
        </p:spPr>
        <p:txBody>
          <a:bodyPr>
            <a:normAutofit/>
          </a:bodyPr>
          <a:lstStyle/>
          <a:p>
            <a:pPr algn="just" rtl="1"/>
            <a:r>
              <a:rPr lang="fa-IR" sz="4000" b="1" dirty="0">
                <a:solidFill>
                  <a:schemeClr val="bg1"/>
                </a:solidFill>
                <a:cs typeface="B Titr" pitchFamily="2" charset="-78"/>
              </a:rPr>
              <a:t>روش اجرای زیرسازی به کمک نبشی و سپری</a:t>
            </a:r>
            <a:endParaRPr lang="en-US" sz="4000" b="1" dirty="0">
              <a:solidFill>
                <a:schemeClr val="bg1"/>
              </a:solidFill>
              <a:cs typeface="B Titr" pitchFamily="2" charset="-78"/>
            </a:endParaRPr>
          </a:p>
        </p:txBody>
      </p:sp>
      <p:sp>
        <p:nvSpPr>
          <p:cNvPr id="3" name="Content Placeholder 5"/>
          <p:cNvSpPr>
            <a:spLocks noGrp="1"/>
          </p:cNvSpPr>
          <p:nvPr>
            <p:ph idx="1"/>
          </p:nvPr>
        </p:nvSpPr>
        <p:spPr>
          <a:xfrm>
            <a:off x="0" y="1124744"/>
            <a:ext cx="9144000" cy="5589240"/>
          </a:xfrm>
        </p:spPr>
        <p:txBody>
          <a:bodyPr>
            <a:noAutofit/>
          </a:bodyPr>
          <a:lstStyle/>
          <a:p>
            <a:pPr marL="0" indent="457200" algn="just" rtl="1">
              <a:lnSpc>
                <a:spcPct val="150000"/>
              </a:lnSpc>
              <a:spcAft>
                <a:spcPts val="1000"/>
              </a:spcAft>
              <a:buNone/>
            </a:pPr>
            <a:r>
              <a:rPr lang="fa-IR" sz="3200" dirty="0">
                <a:solidFill>
                  <a:schemeClr val="bg1"/>
                </a:solidFill>
                <a:latin typeface="Calibri"/>
                <a:ea typeface="Times New Roman"/>
                <a:cs typeface="B Nazanin"/>
              </a:rPr>
              <a:t>مهم ترین مسئله ای که در سقف‌های کاذب مطرح است این است که، باید در تنظیم (هم ارتفاع یا هم تراز بودن) میلگردهای آویز دقت لازم را مبذول نمود. در غیر این صورت پس از نازک کاری سقف کاذب، اندودکاری دارای اعوجاج خواهد شد که این پدیده از زیبایی سقف خواهد کاست. در این روش، در گوشه‌ها از نبشی و در وسط از سپری استفاده می‌شود. سپری‌ها در جهت تیرهای اصلی پوششی، به میلگردهای آویز متصل می‌شوند. </a:t>
            </a:r>
            <a:r>
              <a:rPr lang="fa-IR" sz="3200" dirty="0">
                <a:solidFill>
                  <a:schemeClr val="bg1"/>
                </a:solidFill>
                <a:cs typeface="B Nazanin" pitchFamily="2" charset="-78"/>
              </a:rPr>
              <a:t>در جهت فرعی و عمودی بر سپری میلگردهای شبکه بصورت مش در فواصل معیین به سپری اتصال می‌یابند. پس از اتمام اجراء شبکه میلگردها صفحات رابیتس به منظور پوشش چسبندگی اندود در زیر سقف نصب می‌شود. </a:t>
            </a:r>
            <a:endParaRPr lang="fa-IR" sz="3200" dirty="0">
              <a:solidFill>
                <a:schemeClr val="bg1"/>
              </a:solidFill>
              <a:latin typeface="Calibri"/>
              <a:ea typeface="Times New Roman"/>
              <a:cs typeface="B Nazanin"/>
            </a:endParaRPr>
          </a:p>
        </p:txBody>
      </p:sp>
      <p:sp>
        <p:nvSpPr>
          <p:cNvPr id="5" name="Footer Placeholder 1"/>
          <p:cNvSpPr txBox="1">
            <a:spLocks/>
          </p:cNvSpPr>
          <p:nvPr/>
        </p:nvSpPr>
        <p:spPr>
          <a:xfrm>
            <a:off x="8927" y="6543273"/>
            <a:ext cx="1806879" cy="295647"/>
          </a:xfrm>
          <a:prstGeom prst="rect">
            <a:avLst/>
          </a:prstGeom>
        </p:spPr>
        <p:txBody>
          <a:bodyPr vert="horz" lIns="91440" tIns="45720" rIns="91440" bIns="45720" rtlCol="0" anchor="b"/>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dirty="0"/>
          </a:p>
        </p:txBody>
      </p:sp>
    </p:spTree>
    <p:extLst>
      <p:ext uri="{BB962C8B-B14F-4D97-AF65-F5344CB8AC3E}">
        <p14:creationId xmlns:p14="http://schemas.microsoft.com/office/powerpoint/2010/main" val="247006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up)">
                                      <p:cBhvr>
                                        <p:cTn id="11" dur="3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1"/>
          <p:cNvSpPr>
            <a:spLocks noGrp="1"/>
          </p:cNvSpPr>
          <p:nvPr>
            <p:ph type="title"/>
          </p:nvPr>
        </p:nvSpPr>
        <p:spPr>
          <a:xfrm>
            <a:off x="304800" y="304800"/>
            <a:ext cx="8686800" cy="838200"/>
          </a:xfrm>
          <a:effectLst/>
        </p:spPr>
        <p:txBody>
          <a:bodyPr>
            <a:normAutofit/>
          </a:bodyPr>
          <a:lstStyle/>
          <a:p>
            <a:pPr algn="just" rtl="1"/>
            <a:r>
              <a:rPr lang="fa-IR" sz="4000" b="1" dirty="0">
                <a:solidFill>
                  <a:schemeClr val="bg1"/>
                </a:solidFill>
                <a:cs typeface="B Titr" pitchFamily="2" charset="-78"/>
              </a:rPr>
              <a:t>روش اجرای زیرسازی به کمک نبشی و سپری</a:t>
            </a:r>
            <a:endParaRPr lang="en-US" sz="4000" b="1" dirty="0">
              <a:solidFill>
                <a:schemeClr val="bg1"/>
              </a:solidFill>
              <a:cs typeface="B Titr" pitchFamily="2" charset="-78"/>
            </a:endParaRPr>
          </a:p>
        </p:txBody>
      </p:sp>
      <p:sp>
        <p:nvSpPr>
          <p:cNvPr id="4" name="Content Placeholder 5"/>
          <p:cNvSpPr>
            <a:spLocks noGrp="1"/>
          </p:cNvSpPr>
          <p:nvPr>
            <p:ph idx="1"/>
          </p:nvPr>
        </p:nvSpPr>
        <p:spPr>
          <a:xfrm>
            <a:off x="0" y="1524000"/>
            <a:ext cx="9144000" cy="2560637"/>
          </a:xfrm>
        </p:spPr>
        <p:txBody>
          <a:bodyPr>
            <a:noAutofit/>
          </a:bodyPr>
          <a:lstStyle/>
          <a:p>
            <a:pPr marL="0" indent="457200" algn="just" rtl="1">
              <a:lnSpc>
                <a:spcPct val="150000"/>
              </a:lnSpc>
              <a:buNone/>
            </a:pPr>
            <a:r>
              <a:rPr lang="fa-IR" sz="3200" dirty="0">
                <a:solidFill>
                  <a:schemeClr val="bg1"/>
                </a:solidFill>
                <a:cs typeface="B Nazanin" pitchFamily="2" charset="-78"/>
              </a:rPr>
              <a:t>صفحات رابیتس وظیفه نگهداری از اندود را بر عهده دارند. اگر اندود در محیط مرطوب اجراء شود اندود سیمان سفید و اگر در داخل اتاق اجراء شود، نوع اندود گچ دو رویه پرداختی خواهد بود.</a:t>
            </a:r>
            <a:endParaRPr lang="en-US" sz="3200" dirty="0">
              <a:solidFill>
                <a:schemeClr val="bg1"/>
              </a:solidFill>
              <a:cs typeface="B Nazanin" pitchFamily="2" charset="-78"/>
            </a:endParaRPr>
          </a:p>
          <a:p>
            <a:pPr marL="0" indent="457200" algn="just" rtl="1">
              <a:lnSpc>
                <a:spcPct val="150000"/>
              </a:lnSpc>
              <a:spcAft>
                <a:spcPts val="1000"/>
              </a:spcAft>
              <a:buNone/>
            </a:pPr>
            <a:endParaRPr lang="fa-IR" sz="3200" dirty="0">
              <a:solidFill>
                <a:schemeClr val="bg1"/>
              </a:solidFill>
              <a:latin typeface="Calibri"/>
              <a:ea typeface="Times New Roman"/>
              <a:cs typeface="B Nazanin" pitchFamily="2" charset="-78"/>
            </a:endParaRPr>
          </a:p>
        </p:txBody>
      </p:sp>
      <p:pic>
        <p:nvPicPr>
          <p:cNvPr id="5" name="Picture 4" descr="E:\Word\Saeb\مقالات\عناصر و جزییات-سقف-\کاذب\Photo\DSC01073.JPG"/>
          <p:cNvPicPr/>
          <p:nvPr/>
        </p:nvPicPr>
        <p:blipFill>
          <a:blip r:embed="rId2" cstate="print"/>
          <a:srcRect l="6122"/>
          <a:stretch>
            <a:fillRect/>
          </a:stretch>
        </p:blipFill>
        <p:spPr bwMode="auto">
          <a:xfrm>
            <a:off x="0" y="3356992"/>
            <a:ext cx="9144000" cy="3501008"/>
          </a:xfrm>
          <a:prstGeom prst="rect">
            <a:avLst/>
          </a:prstGeom>
          <a:noFill/>
          <a:ln w="9525">
            <a:noFill/>
            <a:miter lim="800000"/>
            <a:headEnd/>
            <a:tailEnd/>
          </a:ln>
        </p:spPr>
      </p:pic>
      <p:sp>
        <p:nvSpPr>
          <p:cNvPr id="6" name="Footer Placeholder 1"/>
          <p:cNvSpPr txBox="1">
            <a:spLocks/>
          </p:cNvSpPr>
          <p:nvPr/>
        </p:nvSpPr>
        <p:spPr>
          <a:xfrm>
            <a:off x="8927" y="6543273"/>
            <a:ext cx="1806879" cy="295647"/>
          </a:xfrm>
          <a:prstGeom prst="rect">
            <a:avLst/>
          </a:prstGeom>
        </p:spPr>
        <p:txBody>
          <a:bodyPr vert="horz" lIns="91440" tIns="45720" rIns="91440" bIns="45720" rtlCol="0" anchor="b"/>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dirty="0">
              <a:solidFill>
                <a:schemeClr val="bg1"/>
              </a:solidFill>
            </a:endParaRPr>
          </a:p>
        </p:txBody>
      </p:sp>
    </p:spTree>
    <p:extLst>
      <p:ext uri="{BB962C8B-B14F-4D97-AF65-F5344CB8AC3E}">
        <p14:creationId xmlns:p14="http://schemas.microsoft.com/office/powerpoint/2010/main" val="247006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wipe(up)">
                                      <p:cBhvr>
                                        <p:cTn id="11" dur="3000"/>
                                        <p:tgtEl>
                                          <p:spTgt spid="4">
                                            <p:txEl>
                                              <p:pRg st="0" end="0"/>
                                            </p:txEl>
                                          </p:spTgt>
                                        </p:tgtEl>
                                      </p:cBhvr>
                                    </p:animEffect>
                                  </p:childTnLst>
                                </p:cTn>
                              </p:par>
                            </p:childTnLst>
                          </p:cTn>
                        </p:par>
                        <p:par>
                          <p:cTn id="12" fill="hold">
                            <p:stCondLst>
                              <p:cond delay="5000"/>
                            </p:stCondLst>
                            <p:childTnLst>
                              <p:par>
                                <p:cTn id="13" presetID="8" presetClass="entr" presetSubtype="16"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amond(in)">
                                      <p:cBhvr>
                                        <p:cTn id="15"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DSC01074.JPG"/>
          <p:cNvPicPr>
            <a:picLocks noChangeAspect="1"/>
          </p:cNvPicPr>
          <p:nvPr/>
        </p:nvPicPr>
        <p:blipFill>
          <a:blip r:embed="rId2" cstate="print"/>
          <a:srcRect l="9722"/>
          <a:stretch>
            <a:fillRect/>
          </a:stretch>
        </p:blipFill>
        <p:spPr>
          <a:xfrm>
            <a:off x="0" y="-1"/>
            <a:ext cx="9144000" cy="6889881"/>
          </a:xfrm>
          <a:prstGeom prst="rect">
            <a:avLst/>
          </a:prstGeom>
        </p:spPr>
      </p:pic>
      <p:sp>
        <p:nvSpPr>
          <p:cNvPr id="5" name="Footer Placeholder 1"/>
          <p:cNvSpPr txBox="1">
            <a:spLocks/>
          </p:cNvSpPr>
          <p:nvPr/>
        </p:nvSpPr>
        <p:spPr>
          <a:xfrm>
            <a:off x="8927" y="6543273"/>
            <a:ext cx="1806879" cy="295647"/>
          </a:xfrm>
          <a:prstGeom prst="rect">
            <a:avLst/>
          </a:prstGeom>
        </p:spPr>
        <p:txBody>
          <a:bodyPr vert="horz" lIns="91440" tIns="45720" rIns="91440" bIns="45720" rtlCol="0" anchor="b"/>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dirty="0">
              <a:solidFill>
                <a:schemeClr val="bg1"/>
              </a:solidFill>
            </a:endParaRPr>
          </a:p>
        </p:txBody>
      </p:sp>
    </p:spTree>
    <p:extLst>
      <p:ext uri="{BB962C8B-B14F-4D97-AF65-F5344CB8AC3E}">
        <p14:creationId xmlns:p14="http://schemas.microsoft.com/office/powerpoint/2010/main" val="3750266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out)">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E:\Word\Saeb\مقالات\عناصر و جزییات-سقف-\کاذب\Photo\DSC01071.JPG"/>
          <p:cNvPicPr/>
          <p:nvPr/>
        </p:nvPicPr>
        <p:blipFill>
          <a:blip r:embed="rId2" cstate="print"/>
          <a:srcRect l="10256"/>
          <a:stretch>
            <a:fillRect/>
          </a:stretch>
        </p:blipFill>
        <p:spPr bwMode="auto">
          <a:xfrm>
            <a:off x="0" y="0"/>
            <a:ext cx="9144000" cy="6858000"/>
          </a:xfrm>
          <a:prstGeom prst="rect">
            <a:avLst/>
          </a:prstGeom>
          <a:noFill/>
          <a:ln w="9525">
            <a:noFill/>
            <a:miter lim="800000"/>
            <a:headEnd/>
            <a:tailEnd/>
          </a:ln>
        </p:spPr>
      </p:pic>
      <p:sp>
        <p:nvSpPr>
          <p:cNvPr id="5" name="Footer Placeholder 1"/>
          <p:cNvSpPr txBox="1">
            <a:spLocks/>
          </p:cNvSpPr>
          <p:nvPr/>
        </p:nvSpPr>
        <p:spPr>
          <a:xfrm>
            <a:off x="8927" y="6543273"/>
            <a:ext cx="1806879" cy="295647"/>
          </a:xfrm>
          <a:prstGeom prst="rect">
            <a:avLst/>
          </a:prstGeom>
        </p:spPr>
        <p:txBody>
          <a:bodyPr vert="horz" lIns="91440" tIns="45720" rIns="91440" bIns="45720" rtlCol="0" anchor="b"/>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dirty="0">
              <a:solidFill>
                <a:schemeClr val="bg1"/>
              </a:solidFill>
            </a:endParaRPr>
          </a:p>
        </p:txBody>
      </p:sp>
    </p:spTree>
    <p:extLst>
      <p:ext uri="{BB962C8B-B14F-4D97-AF65-F5344CB8AC3E}">
        <p14:creationId xmlns:p14="http://schemas.microsoft.com/office/powerpoint/2010/main" val="1433408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04800"/>
            <a:ext cx="8686800" cy="838200"/>
          </a:xfrm>
          <a:effectLst/>
        </p:spPr>
        <p:txBody>
          <a:bodyPr>
            <a:normAutofit/>
          </a:bodyPr>
          <a:lstStyle/>
          <a:p>
            <a:pPr algn="just" rtl="1"/>
            <a:r>
              <a:rPr lang="fa-IR" sz="3200" b="1" dirty="0">
                <a:solidFill>
                  <a:schemeClr val="bg1"/>
                </a:solidFill>
                <a:cs typeface="B Titr" pitchFamily="2" charset="-78"/>
              </a:rPr>
              <a:t>2) سقف کاذب آکوستیکی</a:t>
            </a:r>
            <a:endParaRPr lang="en-US" sz="3200" b="1" dirty="0">
              <a:solidFill>
                <a:schemeClr val="bg1"/>
              </a:solidFill>
              <a:cs typeface="B Titr" pitchFamily="2" charset="-78"/>
            </a:endParaRPr>
          </a:p>
        </p:txBody>
      </p:sp>
      <p:sp>
        <p:nvSpPr>
          <p:cNvPr id="5" name="Content Placeholder 5"/>
          <p:cNvSpPr>
            <a:spLocks noGrp="1"/>
          </p:cNvSpPr>
          <p:nvPr>
            <p:ph idx="1"/>
          </p:nvPr>
        </p:nvSpPr>
        <p:spPr>
          <a:xfrm>
            <a:off x="457200" y="1554163"/>
            <a:ext cx="8229600" cy="3856037"/>
          </a:xfrm>
        </p:spPr>
        <p:txBody>
          <a:bodyPr>
            <a:noAutofit/>
          </a:bodyPr>
          <a:lstStyle/>
          <a:p>
            <a:pPr marL="0" indent="457200" algn="just" rtl="1">
              <a:lnSpc>
                <a:spcPct val="150000"/>
              </a:lnSpc>
              <a:buNone/>
            </a:pPr>
            <a:r>
              <a:rPr lang="fa-IR" sz="3200" dirty="0">
                <a:solidFill>
                  <a:schemeClr val="bg1"/>
                </a:solidFill>
                <a:cs typeface="B Nazanin" pitchFamily="2" charset="-78"/>
              </a:rPr>
              <a:t>سقف‌های آکوستیکی از زیباترین سقف‌های کاذب به شمار می‌آیند. مهمترین دلیل استفاده از آن را می‌توان خاصیت عایق صدا دانست.</a:t>
            </a:r>
          </a:p>
          <a:p>
            <a:pPr marL="0" indent="457200" algn="just" rtl="1">
              <a:lnSpc>
                <a:spcPct val="150000"/>
              </a:lnSpc>
              <a:buNone/>
            </a:pPr>
            <a:r>
              <a:rPr lang="fa-IR" sz="3200" dirty="0">
                <a:solidFill>
                  <a:schemeClr val="bg1"/>
                </a:solidFill>
                <a:cs typeface="B Nazanin" pitchFamily="2" charset="-78"/>
              </a:rPr>
              <a:t>موارد کاربرد آن در سالن سینما، آنفی تئاتر، سالن‌های سخنرانی، سالن‌های ضبط برنامه‌های رادیو و تلویزیون می‌باشد.</a:t>
            </a:r>
          </a:p>
          <a:p>
            <a:pPr marL="0" indent="457200" algn="just" rtl="1">
              <a:lnSpc>
                <a:spcPct val="150000"/>
              </a:lnSpc>
              <a:buNone/>
            </a:pPr>
            <a:r>
              <a:rPr lang="fa-IR" sz="3200" dirty="0">
                <a:solidFill>
                  <a:schemeClr val="bg1"/>
                </a:solidFill>
                <a:cs typeface="B Nazanin" pitchFamily="2" charset="-78"/>
              </a:rPr>
              <a:t>جنس ورق‌های آکوستیک از آزبست، چوب پنبه و پشم شیشه بوده که به عنوان پوشش نهایی با رنگ سفید رنگ آمیزی می‌شود. </a:t>
            </a:r>
            <a:endParaRPr lang="en-US" sz="3200" dirty="0">
              <a:solidFill>
                <a:schemeClr val="bg1"/>
              </a:solidFill>
              <a:cs typeface="B Nazanin" pitchFamily="2" charset="-78"/>
            </a:endParaRPr>
          </a:p>
        </p:txBody>
      </p:sp>
      <p:sp>
        <p:nvSpPr>
          <p:cNvPr id="6" name="Footer Placeholder 1"/>
          <p:cNvSpPr txBox="1">
            <a:spLocks/>
          </p:cNvSpPr>
          <p:nvPr/>
        </p:nvSpPr>
        <p:spPr>
          <a:xfrm>
            <a:off x="8927" y="6543273"/>
            <a:ext cx="1806879" cy="295647"/>
          </a:xfrm>
          <a:prstGeom prst="rect">
            <a:avLst/>
          </a:prstGeom>
        </p:spPr>
        <p:txBody>
          <a:bodyPr vert="horz" lIns="91440" tIns="45720" rIns="91440" bIns="45720" rtlCol="0" anchor="b"/>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dirty="0"/>
          </a:p>
        </p:txBody>
      </p:sp>
    </p:spTree>
    <p:extLst>
      <p:ext uri="{BB962C8B-B14F-4D97-AF65-F5344CB8AC3E}">
        <p14:creationId xmlns:p14="http://schemas.microsoft.com/office/powerpoint/2010/main" val="316977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3000"/>
                                        <p:tgtEl>
                                          <p:spTgt spid="5">
                                            <p:txEl>
                                              <p:pRg st="0" end="0"/>
                                            </p:txEl>
                                          </p:spTgt>
                                        </p:tgtEl>
                                      </p:cBhvr>
                                    </p:animEffect>
                                  </p:childTnLst>
                                </p:cTn>
                              </p:par>
                            </p:childTnLst>
                          </p:cTn>
                        </p:par>
                        <p:par>
                          <p:cTn id="12" fill="hold">
                            <p:stCondLst>
                              <p:cond delay="5000"/>
                            </p:stCondLst>
                            <p:childTnLst>
                              <p:par>
                                <p:cTn id="13" presetID="22" presetClass="entr" presetSubtype="1" fill="hold" grpId="0"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up)">
                                      <p:cBhvr>
                                        <p:cTn id="15" dur="3000"/>
                                        <p:tgtEl>
                                          <p:spTgt spid="5">
                                            <p:txEl>
                                              <p:pRg st="1" end="1"/>
                                            </p:txEl>
                                          </p:spTgt>
                                        </p:tgtEl>
                                      </p:cBhvr>
                                    </p:animEffect>
                                  </p:childTnLst>
                                </p:cTn>
                              </p:par>
                            </p:childTnLst>
                          </p:cTn>
                        </p:par>
                        <p:par>
                          <p:cTn id="16" fill="hold">
                            <p:stCondLst>
                              <p:cond delay="8000"/>
                            </p:stCondLst>
                            <p:childTnLst>
                              <p:par>
                                <p:cTn id="17" presetID="22" presetClass="entr" presetSubtype="1" fill="hold" grpId="0" nodeType="after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wipe(up)">
                                      <p:cBhvr>
                                        <p:cTn id="19" dur="3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04800"/>
            <a:ext cx="8686800" cy="838200"/>
          </a:xfrm>
          <a:effectLst/>
        </p:spPr>
        <p:txBody>
          <a:bodyPr>
            <a:normAutofit/>
          </a:bodyPr>
          <a:lstStyle/>
          <a:p>
            <a:pPr algn="just" rtl="1"/>
            <a:r>
              <a:rPr lang="fa-IR" sz="3600" b="1" dirty="0">
                <a:solidFill>
                  <a:schemeClr val="bg1"/>
                </a:solidFill>
                <a:cs typeface="B Titr" pitchFamily="2" charset="-78"/>
              </a:rPr>
              <a:t>سقف کاذب آکوستیکی</a:t>
            </a:r>
            <a:endParaRPr lang="en-US" sz="3600" b="1" dirty="0">
              <a:solidFill>
                <a:schemeClr val="bg1"/>
              </a:solidFill>
              <a:cs typeface="B Titr" pitchFamily="2" charset="-78"/>
            </a:endParaRPr>
          </a:p>
        </p:txBody>
      </p:sp>
      <p:sp>
        <p:nvSpPr>
          <p:cNvPr id="5" name="Content Placeholder 5"/>
          <p:cNvSpPr>
            <a:spLocks noGrp="1"/>
          </p:cNvSpPr>
          <p:nvPr>
            <p:ph idx="1"/>
          </p:nvPr>
        </p:nvSpPr>
        <p:spPr>
          <a:xfrm>
            <a:off x="19000" y="1124744"/>
            <a:ext cx="9144000" cy="1417637"/>
          </a:xfrm>
        </p:spPr>
        <p:txBody>
          <a:bodyPr>
            <a:noAutofit/>
          </a:bodyPr>
          <a:lstStyle/>
          <a:p>
            <a:pPr marL="0" indent="457200" algn="just" rtl="1">
              <a:lnSpc>
                <a:spcPct val="150000"/>
              </a:lnSpc>
              <a:buNone/>
            </a:pPr>
            <a:r>
              <a:rPr lang="fa-IR" sz="3200" dirty="0">
                <a:solidFill>
                  <a:schemeClr val="bg1"/>
                </a:solidFill>
                <a:cs typeface="B Nazanin" pitchFamily="2" charset="-78"/>
              </a:rPr>
              <a:t>اجراء سقف کاذب آکوستیکی نظیر سقف کاذب رابیتس بوده تنها تفاوت آن در نظرگیری قیدهای نازک در سقف می‌باشد. </a:t>
            </a:r>
            <a:endParaRPr lang="en-US" sz="3200" dirty="0">
              <a:solidFill>
                <a:schemeClr val="bg1"/>
              </a:solidFill>
              <a:cs typeface="B Nazanin" pitchFamily="2" charset="-78"/>
            </a:endParaRPr>
          </a:p>
        </p:txBody>
      </p:sp>
      <p:pic>
        <p:nvPicPr>
          <p:cNvPr id="6" name="Picture 5" descr="DSC01075.JPG"/>
          <p:cNvPicPr>
            <a:picLocks noChangeAspect="1"/>
          </p:cNvPicPr>
          <p:nvPr/>
        </p:nvPicPr>
        <p:blipFill>
          <a:blip r:embed="rId2" cstate="print"/>
          <a:stretch>
            <a:fillRect/>
          </a:stretch>
        </p:blipFill>
        <p:spPr>
          <a:xfrm>
            <a:off x="0" y="2667000"/>
            <a:ext cx="9144000" cy="4191000"/>
          </a:xfrm>
          <a:prstGeom prst="rect">
            <a:avLst/>
          </a:prstGeom>
        </p:spPr>
      </p:pic>
      <p:sp>
        <p:nvSpPr>
          <p:cNvPr id="7" name="Footer Placeholder 1"/>
          <p:cNvSpPr>
            <a:spLocks noGrp="1"/>
          </p:cNvSpPr>
          <p:nvPr>
            <p:ph type="ftr" sz="quarter" idx="11"/>
          </p:nvPr>
        </p:nvSpPr>
        <p:spPr>
          <a:xfrm>
            <a:off x="8927" y="6543273"/>
            <a:ext cx="1806879" cy="295647"/>
          </a:xfrm>
        </p:spPr>
        <p:txBody>
          <a:bodyPr/>
          <a:lstStyle/>
          <a:p>
            <a:endParaRPr kumimoji="0" lang="en-US" sz="1600" dirty="0">
              <a:solidFill>
                <a:schemeClr val="bg1"/>
              </a:solidFill>
            </a:endParaRPr>
          </a:p>
        </p:txBody>
      </p:sp>
    </p:spTree>
    <p:extLst>
      <p:ext uri="{BB962C8B-B14F-4D97-AF65-F5344CB8AC3E}">
        <p14:creationId xmlns:p14="http://schemas.microsoft.com/office/powerpoint/2010/main" val="141264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3000"/>
                                        <p:tgtEl>
                                          <p:spTgt spid="5">
                                            <p:txEl>
                                              <p:pRg st="0" end="0"/>
                                            </p:txEl>
                                          </p:spTgt>
                                        </p:tgtEl>
                                      </p:cBhvr>
                                    </p:animEffect>
                                  </p:childTnLst>
                                </p:cTn>
                              </p:par>
                            </p:childTnLst>
                          </p:cTn>
                        </p:par>
                        <p:par>
                          <p:cTn id="12" fill="hold">
                            <p:stCondLst>
                              <p:cond delay="5000"/>
                            </p:stCondLst>
                            <p:childTnLst>
                              <p:par>
                                <p:cTn id="13" presetID="3" presetClass="entr" presetSubtype="5"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vertical)">
                                      <p:cBhvr>
                                        <p:cTn id="15"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04800"/>
            <a:ext cx="8686800" cy="838200"/>
          </a:xfrm>
          <a:effectLst/>
        </p:spPr>
        <p:txBody>
          <a:bodyPr>
            <a:normAutofit/>
          </a:bodyPr>
          <a:lstStyle/>
          <a:p>
            <a:pPr algn="just" rtl="1"/>
            <a:r>
              <a:rPr lang="fa-IR" sz="3600" b="1" dirty="0">
                <a:solidFill>
                  <a:schemeClr val="bg1"/>
                </a:solidFill>
                <a:cs typeface="B Titr" pitchFamily="2" charset="-78"/>
              </a:rPr>
              <a:t>سقف کاذب پیش ساخته گچی</a:t>
            </a:r>
            <a:endParaRPr lang="en-US" sz="3600" b="1" dirty="0">
              <a:solidFill>
                <a:schemeClr val="bg1"/>
              </a:solidFill>
              <a:cs typeface="B Titr" pitchFamily="2" charset="-78"/>
            </a:endParaRPr>
          </a:p>
        </p:txBody>
      </p:sp>
      <p:sp>
        <p:nvSpPr>
          <p:cNvPr id="5" name="Content Placeholder 4"/>
          <p:cNvSpPr>
            <a:spLocks noGrp="1"/>
          </p:cNvSpPr>
          <p:nvPr>
            <p:ph idx="1"/>
          </p:nvPr>
        </p:nvSpPr>
        <p:spPr>
          <a:xfrm>
            <a:off x="0" y="1196752"/>
            <a:ext cx="9144000" cy="5487888"/>
          </a:xfrm>
        </p:spPr>
        <p:txBody>
          <a:bodyPr>
            <a:noAutofit/>
          </a:bodyPr>
          <a:lstStyle/>
          <a:p>
            <a:pPr marL="0" indent="457200" algn="just" rtl="1">
              <a:lnSpc>
                <a:spcPct val="150000"/>
              </a:lnSpc>
              <a:buNone/>
            </a:pPr>
            <a:r>
              <a:rPr lang="fa-IR" sz="3000" dirty="0">
                <a:solidFill>
                  <a:schemeClr val="bg1"/>
                </a:solidFill>
                <a:cs typeface="B Nazanin" pitchFamily="2" charset="-78"/>
              </a:rPr>
              <a:t>سقف پوشش‌های پیش ساخته گچی به ابعاد </a:t>
            </a:r>
            <a:r>
              <a:rPr lang="en-US" sz="3000" dirty="0">
                <a:solidFill>
                  <a:schemeClr val="bg1"/>
                </a:solidFill>
                <a:cs typeface="B Nazanin" pitchFamily="2" charset="-78"/>
              </a:rPr>
              <a:t>cm</a:t>
            </a:r>
            <a:r>
              <a:rPr lang="fa-IR" sz="3000" dirty="0">
                <a:solidFill>
                  <a:schemeClr val="bg1"/>
                </a:solidFill>
                <a:cs typeface="B Nazanin" pitchFamily="2" charset="-78"/>
              </a:rPr>
              <a:t> </a:t>
            </a:r>
            <a:r>
              <a:rPr lang="en-US" sz="3000" dirty="0">
                <a:solidFill>
                  <a:schemeClr val="bg1"/>
                </a:solidFill>
                <a:cs typeface="B Nazanin" pitchFamily="2" charset="-78"/>
              </a:rPr>
              <a:t> </a:t>
            </a:r>
            <a:r>
              <a:rPr lang="fa-IR" sz="3000" dirty="0">
                <a:solidFill>
                  <a:schemeClr val="bg1"/>
                </a:solidFill>
                <a:cs typeface="B Nazanin" pitchFamily="2" charset="-78"/>
              </a:rPr>
              <a:t>5/62 × 5/62  و </a:t>
            </a:r>
            <a:r>
              <a:rPr lang="en-US" sz="3000" dirty="0">
                <a:solidFill>
                  <a:schemeClr val="bg1"/>
                </a:solidFill>
                <a:cs typeface="B Nazanin" pitchFamily="2" charset="-78"/>
              </a:rPr>
              <a:t>cm</a:t>
            </a:r>
            <a:r>
              <a:rPr lang="fa-IR" sz="3000" dirty="0">
                <a:solidFill>
                  <a:schemeClr val="bg1"/>
                </a:solidFill>
                <a:cs typeface="B Nazanin" pitchFamily="2" charset="-78"/>
              </a:rPr>
              <a:t> 60 ×60 و در ضخامت </a:t>
            </a:r>
            <a:r>
              <a:rPr lang="en-US" sz="3000" dirty="0">
                <a:solidFill>
                  <a:schemeClr val="bg1"/>
                </a:solidFill>
                <a:cs typeface="B Nazanin" pitchFamily="2" charset="-78"/>
              </a:rPr>
              <a:t>mm</a:t>
            </a:r>
            <a:r>
              <a:rPr lang="fa-IR" sz="3000" dirty="0">
                <a:solidFill>
                  <a:schemeClr val="bg1"/>
                </a:solidFill>
                <a:cs typeface="B Nazanin" pitchFamily="2" charset="-78"/>
              </a:rPr>
              <a:t>30 الی</a:t>
            </a:r>
            <a:r>
              <a:rPr lang="en-US" sz="3000" dirty="0">
                <a:solidFill>
                  <a:schemeClr val="bg1"/>
                </a:solidFill>
                <a:cs typeface="B Nazanin" pitchFamily="2" charset="-78"/>
              </a:rPr>
              <a:t>mm  </a:t>
            </a:r>
            <a:r>
              <a:rPr lang="fa-IR" sz="3000" dirty="0">
                <a:solidFill>
                  <a:schemeClr val="bg1"/>
                </a:solidFill>
                <a:cs typeface="B Nazanin" pitchFamily="2" charset="-78"/>
              </a:rPr>
              <a:t>55 به بازار تولید عرضه می‌شوند. این سقف پوش‌ها در ساختمان‌های اداری، آموزشی، درمانی، مسکونی، صنعتی، هتل‌ها، رستوران‌ها و مکان‌های تجاری کاربرد بیشتری دارد. این سقف پوش‌ها نسوز بوده و ضریب صوت گیری قطعات آن، بین </a:t>
            </a:r>
            <a:r>
              <a:rPr lang="en-US" sz="3000" dirty="0">
                <a:solidFill>
                  <a:schemeClr val="bg1"/>
                </a:solidFill>
                <a:cs typeface="B Nazanin" pitchFamily="2" charset="-78"/>
              </a:rPr>
              <a:t>db</a:t>
            </a:r>
            <a:r>
              <a:rPr lang="fa-IR" sz="3000" dirty="0">
                <a:solidFill>
                  <a:schemeClr val="bg1"/>
                </a:solidFill>
                <a:cs typeface="B Nazanin" pitchFamily="2" charset="-78"/>
              </a:rPr>
              <a:t> 42 الی </a:t>
            </a:r>
            <a:r>
              <a:rPr lang="en-US" sz="3000" dirty="0">
                <a:solidFill>
                  <a:schemeClr val="bg1"/>
                </a:solidFill>
                <a:cs typeface="B Nazanin" pitchFamily="2" charset="-78"/>
              </a:rPr>
              <a:t>db</a:t>
            </a:r>
            <a:r>
              <a:rPr lang="fa-IR" sz="3000" dirty="0">
                <a:solidFill>
                  <a:schemeClr val="bg1"/>
                </a:solidFill>
                <a:cs typeface="B Nazanin" pitchFamily="2" charset="-78"/>
              </a:rPr>
              <a:t> 53 متغیر می‌باشد. </a:t>
            </a:r>
            <a:endParaRPr lang="en-US" sz="3000" dirty="0">
              <a:solidFill>
                <a:schemeClr val="bg1"/>
              </a:solidFill>
              <a:cs typeface="B Nazanin" pitchFamily="2" charset="-78"/>
            </a:endParaRPr>
          </a:p>
          <a:p>
            <a:pPr marL="0" indent="457200" algn="just" rtl="1">
              <a:lnSpc>
                <a:spcPct val="150000"/>
              </a:lnSpc>
              <a:buNone/>
            </a:pPr>
            <a:r>
              <a:rPr lang="fa-IR" sz="3000" dirty="0">
                <a:solidFill>
                  <a:schemeClr val="bg1"/>
                </a:solidFill>
                <a:cs typeface="B Nazanin" pitchFamily="2" charset="-78"/>
              </a:rPr>
              <a:t>حداقل فاصله از سقف </a:t>
            </a:r>
            <a:r>
              <a:rPr lang="en-US" sz="3000" dirty="0">
                <a:solidFill>
                  <a:schemeClr val="bg1"/>
                </a:solidFill>
                <a:cs typeface="B Nazanin" pitchFamily="2" charset="-78"/>
              </a:rPr>
              <a:t>cm</a:t>
            </a:r>
            <a:r>
              <a:rPr lang="fa-IR" sz="3000" dirty="0">
                <a:solidFill>
                  <a:schemeClr val="bg1"/>
                </a:solidFill>
                <a:cs typeface="B Nazanin" pitchFamily="2" charset="-78"/>
              </a:rPr>
              <a:t> 15 در نظر گرفته می‌شود. وزن هر متر مربع سقف پوش پیش ساخته با زیر سازی آلمینیومی‌</a:t>
            </a:r>
            <a:r>
              <a:rPr lang="en-US" sz="3000" dirty="0">
                <a:solidFill>
                  <a:schemeClr val="bg1"/>
                </a:solidFill>
                <a:cs typeface="B Nazanin" pitchFamily="2" charset="-78"/>
              </a:rPr>
              <a:t>kg</a:t>
            </a:r>
            <a:r>
              <a:rPr lang="fa-IR" sz="3000" dirty="0">
                <a:solidFill>
                  <a:schemeClr val="bg1"/>
                </a:solidFill>
                <a:cs typeface="B Nazanin" pitchFamily="2" charset="-78"/>
              </a:rPr>
              <a:t> 20 الی 30 متغیر بوده و نوع سبک </a:t>
            </a:r>
            <a:r>
              <a:rPr lang="en-US" sz="3000" dirty="0">
                <a:solidFill>
                  <a:schemeClr val="bg1"/>
                </a:solidFill>
                <a:cs typeface="B Nazanin" pitchFamily="2" charset="-78"/>
              </a:rPr>
              <a:t>kg</a:t>
            </a:r>
            <a:r>
              <a:rPr lang="fa-IR" sz="3000" dirty="0">
                <a:solidFill>
                  <a:schemeClr val="bg1"/>
                </a:solidFill>
                <a:cs typeface="B Nazanin" pitchFamily="2" charset="-78"/>
              </a:rPr>
              <a:t> 15 الی 19 وزن را دارا می‌باشد. هر سه قطعه </a:t>
            </a:r>
            <a:r>
              <a:rPr lang="en-US" sz="3000" dirty="0">
                <a:solidFill>
                  <a:schemeClr val="bg1"/>
                </a:solidFill>
                <a:cs typeface="B Nazanin" pitchFamily="2" charset="-78"/>
              </a:rPr>
              <a:t>m</a:t>
            </a:r>
            <a:r>
              <a:rPr lang="en-US" sz="3000" baseline="30000" dirty="0">
                <a:solidFill>
                  <a:schemeClr val="bg1"/>
                </a:solidFill>
                <a:cs typeface="B Nazanin" pitchFamily="2" charset="-78"/>
              </a:rPr>
              <a:t>2</a:t>
            </a:r>
            <a:r>
              <a:rPr lang="fa-IR" sz="3000" dirty="0">
                <a:solidFill>
                  <a:schemeClr val="bg1"/>
                </a:solidFill>
                <a:cs typeface="B Nazanin" pitchFamily="2" charset="-78"/>
              </a:rPr>
              <a:t>17/1 سطح را پوشش می‌دهد.</a:t>
            </a:r>
            <a:endParaRPr lang="en-US" sz="3000" dirty="0">
              <a:solidFill>
                <a:schemeClr val="bg1"/>
              </a:solidFill>
              <a:cs typeface="B Nazanin" pitchFamily="2" charset="-78"/>
            </a:endParaRPr>
          </a:p>
        </p:txBody>
      </p:sp>
      <p:sp>
        <p:nvSpPr>
          <p:cNvPr id="6" name="Footer Placeholder 1"/>
          <p:cNvSpPr txBox="1">
            <a:spLocks/>
          </p:cNvSpPr>
          <p:nvPr/>
        </p:nvSpPr>
        <p:spPr>
          <a:xfrm>
            <a:off x="8927" y="6543273"/>
            <a:ext cx="1806879" cy="295647"/>
          </a:xfrm>
          <a:prstGeom prst="rect">
            <a:avLst/>
          </a:prstGeom>
        </p:spPr>
        <p:txBody>
          <a:bodyPr vert="horz" lIns="91440" tIns="45720" rIns="91440" bIns="45720" rtlCol="0" anchor="b"/>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dirty="0"/>
          </a:p>
        </p:txBody>
      </p:sp>
    </p:spTree>
    <p:extLst>
      <p:ext uri="{BB962C8B-B14F-4D97-AF65-F5344CB8AC3E}">
        <p14:creationId xmlns:p14="http://schemas.microsoft.com/office/powerpoint/2010/main" val="4110827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3000"/>
                                        <p:tgtEl>
                                          <p:spTgt spid="5">
                                            <p:txEl>
                                              <p:pRg st="0" end="0"/>
                                            </p:txEl>
                                          </p:spTgt>
                                        </p:tgtEl>
                                      </p:cBhvr>
                                    </p:animEffect>
                                  </p:childTnLst>
                                </p:cTn>
                              </p:par>
                            </p:childTnLst>
                          </p:cTn>
                        </p:par>
                        <p:par>
                          <p:cTn id="12" fill="hold">
                            <p:stCondLst>
                              <p:cond delay="5000"/>
                            </p:stCondLst>
                            <p:childTnLst>
                              <p:par>
                                <p:cTn id="13" presetID="22" presetClass="entr" presetSubtype="1" fill="hold" grpId="0"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up)">
                                      <p:cBhvr>
                                        <p:cTn id="15" dur="3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04800"/>
            <a:ext cx="8686800" cy="838200"/>
          </a:xfrm>
          <a:effectLst/>
        </p:spPr>
        <p:txBody>
          <a:bodyPr>
            <a:normAutofit/>
          </a:bodyPr>
          <a:lstStyle/>
          <a:p>
            <a:pPr algn="just" rtl="1"/>
            <a:r>
              <a:rPr lang="fa-IR" sz="3600" b="1" dirty="0">
                <a:solidFill>
                  <a:schemeClr val="bg1"/>
                </a:solidFill>
                <a:cs typeface="B Titr" pitchFamily="2" charset="-78"/>
              </a:rPr>
              <a:t>روش اجرای سقف پوش گچی </a:t>
            </a:r>
            <a:endParaRPr lang="en-US" sz="3600" b="1" dirty="0">
              <a:solidFill>
                <a:schemeClr val="bg1"/>
              </a:solidFill>
              <a:cs typeface="B Titr" pitchFamily="2" charset="-78"/>
            </a:endParaRPr>
          </a:p>
        </p:txBody>
      </p:sp>
      <p:sp>
        <p:nvSpPr>
          <p:cNvPr id="5" name="Content Placeholder 4"/>
          <p:cNvSpPr>
            <a:spLocks noGrp="1"/>
          </p:cNvSpPr>
          <p:nvPr>
            <p:ph idx="1"/>
          </p:nvPr>
        </p:nvSpPr>
        <p:spPr>
          <a:xfrm>
            <a:off x="304800" y="1554162"/>
            <a:ext cx="8686800" cy="4922838"/>
          </a:xfrm>
        </p:spPr>
        <p:txBody>
          <a:bodyPr>
            <a:noAutofit/>
          </a:bodyPr>
          <a:lstStyle/>
          <a:p>
            <a:pPr marL="0" indent="457200" algn="just" rtl="1">
              <a:lnSpc>
                <a:spcPct val="150000"/>
              </a:lnSpc>
              <a:buNone/>
            </a:pPr>
            <a:r>
              <a:rPr lang="fa-IR" sz="2800" b="1" dirty="0">
                <a:solidFill>
                  <a:schemeClr val="bg1"/>
                </a:solidFill>
                <a:cs typeface="B Nazanin" pitchFamily="2" charset="-78"/>
              </a:rPr>
              <a:t>1- ایجاد شبکه بندی سپری و نبشی آلومینیوم.</a:t>
            </a:r>
          </a:p>
          <a:p>
            <a:pPr marL="0" indent="457200" algn="just" rtl="1">
              <a:lnSpc>
                <a:spcPct val="150000"/>
              </a:lnSpc>
              <a:buNone/>
            </a:pPr>
            <a:endParaRPr lang="fa-IR" sz="3200" b="1" dirty="0">
              <a:solidFill>
                <a:schemeClr val="bg1"/>
              </a:solidFill>
              <a:cs typeface="B Nazanin" pitchFamily="2" charset="-78"/>
            </a:endParaRPr>
          </a:p>
          <a:p>
            <a:pPr marL="0" indent="457200" algn="just" rtl="1">
              <a:lnSpc>
                <a:spcPct val="150000"/>
              </a:lnSpc>
              <a:buNone/>
            </a:pPr>
            <a:r>
              <a:rPr lang="fa-IR" sz="2800" b="1" dirty="0">
                <a:solidFill>
                  <a:schemeClr val="bg1"/>
                </a:solidFill>
                <a:cs typeface="B Nazanin" pitchFamily="2" charset="-78"/>
              </a:rPr>
              <a:t>2- اتصال آویزها به سقف اصلی.</a:t>
            </a:r>
          </a:p>
          <a:p>
            <a:pPr marL="0" indent="457200" algn="just" rtl="1">
              <a:lnSpc>
                <a:spcPct val="150000"/>
              </a:lnSpc>
              <a:buNone/>
            </a:pPr>
            <a:r>
              <a:rPr lang="fa-IR" sz="2800" b="1" dirty="0">
                <a:solidFill>
                  <a:schemeClr val="bg1"/>
                </a:solidFill>
                <a:cs typeface="B Nazanin" pitchFamily="2" charset="-78"/>
              </a:rPr>
              <a:t> (در صورت پیش‌بینی نشدن از قبل)</a:t>
            </a:r>
            <a:endParaRPr lang="en-US" sz="2800" b="1" dirty="0">
              <a:solidFill>
                <a:schemeClr val="bg1"/>
              </a:solidFill>
              <a:cs typeface="B Nazanin" pitchFamily="2" charset="-78"/>
            </a:endParaRPr>
          </a:p>
        </p:txBody>
      </p:sp>
      <p:pic>
        <p:nvPicPr>
          <p:cNvPr id="6" name="Picture 5" descr="E:\Word\Saeb\مقالات\عناصر و جزییات-سقف-\کاذب\Photo\کناف\ceil02.jpg"/>
          <p:cNvPicPr/>
          <p:nvPr/>
        </p:nvPicPr>
        <p:blipFill>
          <a:blip r:embed="rId2"/>
          <a:srcRect/>
          <a:stretch>
            <a:fillRect/>
          </a:stretch>
        </p:blipFill>
        <p:spPr bwMode="auto">
          <a:xfrm>
            <a:off x="0" y="0"/>
            <a:ext cx="4355976" cy="3581400"/>
          </a:xfrm>
          <a:prstGeom prst="rect">
            <a:avLst/>
          </a:prstGeom>
          <a:noFill/>
          <a:ln w="9525">
            <a:noFill/>
            <a:miter lim="800000"/>
            <a:headEnd/>
            <a:tailEnd/>
          </a:ln>
        </p:spPr>
      </p:pic>
      <p:pic>
        <p:nvPicPr>
          <p:cNvPr id="7" name="Picture 6" descr="E:\Word\Saeb\مقالات\عناصر و جزییات-سقف-\کاذب\Photo\کناف\ceil03.jpg"/>
          <p:cNvPicPr/>
          <p:nvPr/>
        </p:nvPicPr>
        <p:blipFill>
          <a:blip r:embed="rId3"/>
          <a:srcRect/>
          <a:stretch>
            <a:fillRect/>
          </a:stretch>
        </p:blipFill>
        <p:spPr bwMode="auto">
          <a:xfrm>
            <a:off x="0" y="3581400"/>
            <a:ext cx="4355976" cy="3276600"/>
          </a:xfrm>
          <a:prstGeom prst="rect">
            <a:avLst/>
          </a:prstGeom>
          <a:noFill/>
          <a:ln w="9525">
            <a:noFill/>
            <a:miter lim="800000"/>
            <a:headEnd/>
            <a:tailEnd/>
          </a:ln>
        </p:spPr>
      </p:pic>
      <p:sp>
        <p:nvSpPr>
          <p:cNvPr id="8" name="Footer Placeholder 1"/>
          <p:cNvSpPr>
            <a:spLocks noGrp="1"/>
          </p:cNvSpPr>
          <p:nvPr>
            <p:ph type="ftr" sz="quarter" idx="11"/>
          </p:nvPr>
        </p:nvSpPr>
        <p:spPr>
          <a:xfrm>
            <a:off x="8927" y="6543273"/>
            <a:ext cx="1806879" cy="295647"/>
          </a:xfrm>
        </p:spPr>
        <p:txBody>
          <a:bodyPr/>
          <a:lstStyle/>
          <a:p>
            <a:endParaRPr kumimoji="0" lang="en-US" sz="1600" dirty="0"/>
          </a:p>
        </p:txBody>
      </p:sp>
    </p:spTree>
    <p:extLst>
      <p:ext uri="{BB962C8B-B14F-4D97-AF65-F5344CB8AC3E}">
        <p14:creationId xmlns:p14="http://schemas.microsoft.com/office/powerpoint/2010/main" val="451551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2"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right)">
                                      <p:cBhvr>
                                        <p:cTn id="11" dur="2000"/>
                                        <p:tgtEl>
                                          <p:spTgt spid="5">
                                            <p:txEl>
                                              <p:pRg st="0" end="0"/>
                                            </p:txEl>
                                          </p:spTgt>
                                        </p:tgtEl>
                                      </p:cBhvr>
                                    </p:animEffect>
                                  </p:childTnLst>
                                </p:cTn>
                              </p:par>
                              <p:par>
                                <p:cTn id="12" presetID="22" presetClass="entr" presetSubtype="2" fill="hold" grpId="0" nodeType="with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wipe(right)">
                                      <p:cBhvr>
                                        <p:cTn id="14" dur="2000"/>
                                        <p:tgtEl>
                                          <p:spTgt spid="5">
                                            <p:txEl>
                                              <p:pRg st="2" end="2"/>
                                            </p:txEl>
                                          </p:spTgt>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right)">
                                      <p:cBhvr>
                                        <p:cTn id="17" dur="2000"/>
                                        <p:tgtEl>
                                          <p:spTgt spid="5">
                                            <p:txEl>
                                              <p:pRg st="3" end="3"/>
                                            </p:txEl>
                                          </p:spTgt>
                                        </p:tgtEl>
                                      </p:cBhvr>
                                    </p:animEffect>
                                  </p:childTnLst>
                                </p:cTn>
                              </p:par>
                              <p:par>
                                <p:cTn id="18" presetID="22" presetClass="entr" presetSubtype="2"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right)">
                                      <p:cBhvr>
                                        <p:cTn id="20" dur="2000"/>
                                        <p:tgtEl>
                                          <p:spTgt spid="6"/>
                                        </p:tgtEl>
                                      </p:cBhvr>
                                    </p:animEffect>
                                  </p:childTnLst>
                                </p:cTn>
                              </p:par>
                              <p:par>
                                <p:cTn id="21" presetID="22" presetClass="entr" presetSubtype="2"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right)">
                                      <p:cBhvr>
                                        <p:cTn id="23"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04800"/>
            <a:ext cx="8686800" cy="838200"/>
          </a:xfrm>
          <a:effectLst/>
        </p:spPr>
        <p:txBody>
          <a:bodyPr>
            <a:normAutofit/>
          </a:bodyPr>
          <a:lstStyle/>
          <a:p>
            <a:pPr algn="just" rtl="1"/>
            <a:r>
              <a:rPr lang="fa-IR" sz="3600" b="1" dirty="0">
                <a:solidFill>
                  <a:schemeClr val="bg1"/>
                </a:solidFill>
                <a:cs typeface="B Titr" pitchFamily="2" charset="-78"/>
              </a:rPr>
              <a:t>روش اجرای سقف پوش گچی </a:t>
            </a:r>
            <a:endParaRPr lang="en-US" sz="3600" b="1" dirty="0">
              <a:solidFill>
                <a:schemeClr val="bg1"/>
              </a:solidFill>
              <a:cs typeface="B Titr" pitchFamily="2" charset="-78"/>
            </a:endParaRPr>
          </a:p>
        </p:txBody>
      </p:sp>
      <p:sp>
        <p:nvSpPr>
          <p:cNvPr id="5" name="Content Placeholder 4"/>
          <p:cNvSpPr>
            <a:spLocks noGrp="1"/>
          </p:cNvSpPr>
          <p:nvPr>
            <p:ph idx="1"/>
          </p:nvPr>
        </p:nvSpPr>
        <p:spPr>
          <a:xfrm>
            <a:off x="304800" y="1554162"/>
            <a:ext cx="8686800" cy="4922838"/>
          </a:xfrm>
        </p:spPr>
        <p:txBody>
          <a:bodyPr>
            <a:noAutofit/>
          </a:bodyPr>
          <a:lstStyle/>
          <a:p>
            <a:pPr marL="0" indent="457200" algn="just" rtl="1">
              <a:lnSpc>
                <a:spcPct val="150000"/>
              </a:lnSpc>
              <a:buNone/>
            </a:pPr>
            <a:r>
              <a:rPr lang="fa-IR" sz="3200" dirty="0">
                <a:solidFill>
                  <a:schemeClr val="bg1"/>
                </a:solidFill>
                <a:cs typeface="B Nazanin" pitchFamily="2" charset="-78"/>
              </a:rPr>
              <a:t>3- تنظیم فاصله بین پروفیل‌ها بر </a:t>
            </a:r>
          </a:p>
          <a:p>
            <a:pPr marL="0" indent="457200" algn="just" rtl="1">
              <a:lnSpc>
                <a:spcPct val="150000"/>
              </a:lnSpc>
              <a:buNone/>
            </a:pPr>
            <a:r>
              <a:rPr lang="fa-IR" sz="3200" dirty="0">
                <a:solidFill>
                  <a:schemeClr val="bg1"/>
                </a:solidFill>
                <a:cs typeface="B Nazanin" pitchFamily="2" charset="-78"/>
              </a:rPr>
              <a:t>حسب ابعاد شبکه مورد نظر.</a:t>
            </a:r>
          </a:p>
          <a:p>
            <a:pPr marL="0" indent="457200" algn="just" rtl="1">
              <a:lnSpc>
                <a:spcPct val="150000"/>
              </a:lnSpc>
              <a:buNone/>
            </a:pPr>
            <a:endParaRPr lang="fa-IR" sz="3200" dirty="0">
              <a:solidFill>
                <a:schemeClr val="bg1"/>
              </a:solidFill>
              <a:cs typeface="B Nazanin" pitchFamily="2" charset="-78"/>
            </a:endParaRPr>
          </a:p>
          <a:p>
            <a:pPr marL="0" indent="457200" algn="just" rtl="1">
              <a:lnSpc>
                <a:spcPct val="150000"/>
              </a:lnSpc>
              <a:buNone/>
            </a:pPr>
            <a:r>
              <a:rPr lang="fa-IR" sz="3200" dirty="0">
                <a:solidFill>
                  <a:schemeClr val="bg1"/>
                </a:solidFill>
                <a:cs typeface="B Nazanin" pitchFamily="2" charset="-78"/>
              </a:rPr>
              <a:t>4- قرار دادن صفحات گچی داخل شبکه‌ها.</a:t>
            </a:r>
            <a:endParaRPr lang="en-US" sz="3200" dirty="0">
              <a:solidFill>
                <a:schemeClr val="bg1"/>
              </a:solidFill>
              <a:cs typeface="B Nazanin" pitchFamily="2" charset="-78"/>
            </a:endParaRPr>
          </a:p>
        </p:txBody>
      </p:sp>
      <p:pic>
        <p:nvPicPr>
          <p:cNvPr id="6" name="Picture 5" descr="E:\Word\Saeb\مقالات\عناصر و جزییات-سقف-\کاذب\Photo\کناف\ceil04.jpg"/>
          <p:cNvPicPr/>
          <p:nvPr/>
        </p:nvPicPr>
        <p:blipFill>
          <a:blip r:embed="rId2"/>
          <a:srcRect/>
          <a:stretch>
            <a:fillRect/>
          </a:stretch>
        </p:blipFill>
        <p:spPr bwMode="auto">
          <a:xfrm>
            <a:off x="0" y="0"/>
            <a:ext cx="4211960" cy="3414936"/>
          </a:xfrm>
          <a:prstGeom prst="rect">
            <a:avLst/>
          </a:prstGeom>
          <a:noFill/>
          <a:ln w="9525">
            <a:noFill/>
            <a:miter lim="800000"/>
            <a:headEnd/>
            <a:tailEnd/>
          </a:ln>
        </p:spPr>
      </p:pic>
      <p:pic>
        <p:nvPicPr>
          <p:cNvPr id="7" name="Picture 6" descr="E:\Word\Saeb\مقالات\عناصر و جزییات-سقف-\کاذب\Photo\کناف\ceil05.jpg"/>
          <p:cNvPicPr/>
          <p:nvPr/>
        </p:nvPicPr>
        <p:blipFill>
          <a:blip r:embed="rId3"/>
          <a:srcRect/>
          <a:stretch>
            <a:fillRect/>
          </a:stretch>
        </p:blipFill>
        <p:spPr bwMode="auto">
          <a:xfrm>
            <a:off x="0" y="3414936"/>
            <a:ext cx="4211960" cy="3443064"/>
          </a:xfrm>
          <a:prstGeom prst="rect">
            <a:avLst/>
          </a:prstGeom>
          <a:noFill/>
          <a:ln w="9525">
            <a:noFill/>
            <a:miter lim="800000"/>
            <a:headEnd/>
            <a:tailEnd/>
          </a:ln>
        </p:spPr>
      </p:pic>
      <p:sp>
        <p:nvSpPr>
          <p:cNvPr id="8" name="Footer Placeholder 1"/>
          <p:cNvSpPr>
            <a:spLocks noGrp="1"/>
          </p:cNvSpPr>
          <p:nvPr>
            <p:ph type="ftr" sz="quarter" idx="11"/>
          </p:nvPr>
        </p:nvSpPr>
        <p:spPr>
          <a:xfrm>
            <a:off x="8927" y="6543273"/>
            <a:ext cx="1806879" cy="295647"/>
          </a:xfrm>
        </p:spPr>
        <p:txBody>
          <a:bodyPr/>
          <a:lstStyle/>
          <a:p>
            <a:endParaRPr kumimoji="0" lang="en-US" sz="1600" dirty="0"/>
          </a:p>
        </p:txBody>
      </p:sp>
    </p:spTree>
    <p:extLst>
      <p:ext uri="{BB962C8B-B14F-4D97-AF65-F5344CB8AC3E}">
        <p14:creationId xmlns:p14="http://schemas.microsoft.com/office/powerpoint/2010/main" val="3309436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2000"/>
                                        <p:tgtEl>
                                          <p:spTgt spid="5">
                                            <p:txEl>
                                              <p:pRg st="0" end="0"/>
                                            </p:txEl>
                                          </p:spTgt>
                                        </p:tgtEl>
                                      </p:cBhvr>
                                    </p:animEffect>
                                  </p:childTnLst>
                                </p:cTn>
                              </p:par>
                            </p:childTnLst>
                          </p:cTn>
                        </p:par>
                        <p:par>
                          <p:cTn id="12" fill="hold">
                            <p:stCondLst>
                              <p:cond delay="4000"/>
                            </p:stCondLst>
                            <p:childTnLst>
                              <p:par>
                                <p:cTn id="13" presetID="22" presetClass="entr" presetSubtype="1" fill="hold" grpId="0"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up)">
                                      <p:cBhvr>
                                        <p:cTn id="15" dur="2000"/>
                                        <p:tgtEl>
                                          <p:spTgt spid="5">
                                            <p:txEl>
                                              <p:pRg st="1" end="1"/>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wipe(up)">
                                      <p:cBhvr>
                                        <p:cTn id="18" dur="2000"/>
                                        <p:tgtEl>
                                          <p:spTgt spid="5">
                                            <p:txEl>
                                              <p:pRg st="3" end="3"/>
                                            </p:txEl>
                                          </p:spTgt>
                                        </p:tgtEl>
                                      </p:cBhvr>
                                    </p:animEffect>
                                  </p:childTnLst>
                                </p:cTn>
                              </p:par>
                              <p:par>
                                <p:cTn id="19" presetID="22" presetClass="entr" presetSubtype="1"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2000"/>
                                        <p:tgtEl>
                                          <p:spTgt spid="6"/>
                                        </p:tgtEl>
                                      </p:cBhvr>
                                    </p:animEffect>
                                  </p:childTnLst>
                                </p:cTn>
                              </p:par>
                              <p:par>
                                <p:cTn id="22" presetID="22" presetClass="entr" presetSubtype="1"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44624"/>
            <a:ext cx="9144000" cy="3240360"/>
          </a:xfrm>
        </p:spPr>
        <p:txBody>
          <a:bodyPr>
            <a:noAutofit/>
          </a:bodyPr>
          <a:lstStyle/>
          <a:p>
            <a:pPr marL="0" indent="457200" algn="just" rtl="1">
              <a:lnSpc>
                <a:spcPct val="150000"/>
              </a:lnSpc>
              <a:buNone/>
            </a:pPr>
            <a:r>
              <a:rPr lang="fa-IR" sz="3200" b="1" dirty="0">
                <a:solidFill>
                  <a:schemeClr val="bg1"/>
                </a:solidFill>
                <a:cs typeface="B Nazanin" pitchFamily="2" charset="-78"/>
              </a:rPr>
              <a:t>اتصال مفتول به سه روش ذیل صورت می‌گیرد :</a:t>
            </a:r>
            <a:endParaRPr lang="en-US" sz="3200" dirty="0">
              <a:solidFill>
                <a:schemeClr val="bg1"/>
              </a:solidFill>
              <a:cs typeface="B Nazanin" pitchFamily="2" charset="-78"/>
            </a:endParaRPr>
          </a:p>
          <a:p>
            <a:pPr marL="0" lvl="0" indent="457200" algn="just" rtl="1">
              <a:lnSpc>
                <a:spcPct val="150000"/>
              </a:lnSpc>
              <a:buNone/>
            </a:pPr>
            <a:r>
              <a:rPr lang="fa-IR" sz="3200" dirty="0">
                <a:solidFill>
                  <a:schemeClr val="bg1"/>
                </a:solidFill>
                <a:cs typeface="B Nazanin" pitchFamily="2" charset="-78"/>
              </a:rPr>
              <a:t>1- اتصال مستقیم مفتول گالوانیزه به سپری ،</a:t>
            </a:r>
            <a:r>
              <a:rPr lang="en-US" sz="3200" dirty="0">
                <a:solidFill>
                  <a:schemeClr val="bg1"/>
                </a:solidFill>
                <a:cs typeface="B Nazanin" pitchFamily="2" charset="-78"/>
              </a:rPr>
              <a:t> </a:t>
            </a:r>
            <a:r>
              <a:rPr lang="fa-IR" sz="3200" dirty="0">
                <a:solidFill>
                  <a:schemeClr val="bg1"/>
                </a:solidFill>
                <a:cs typeface="B Nazanin" pitchFamily="2" charset="-78"/>
              </a:rPr>
              <a:t>2- اتصال مفتول گالوانیزه به تسمه کشویی و سپری3- اتصال میلگرد به فنر تنظیم کننده </a:t>
            </a:r>
            <a:endParaRPr lang="en-US" sz="3200" dirty="0">
              <a:solidFill>
                <a:schemeClr val="bg1"/>
              </a:solidFill>
              <a:cs typeface="B Nazanin" pitchFamily="2" charset="-78"/>
            </a:endParaRPr>
          </a:p>
        </p:txBody>
      </p:sp>
      <p:pic>
        <p:nvPicPr>
          <p:cNvPr id="6" name="Picture 5" descr="E:\Word\Saeb\مقالات\عناصر و جزییات-سقف-\کاذب\Photo\DSC01077.JPG"/>
          <p:cNvPicPr/>
          <p:nvPr/>
        </p:nvPicPr>
        <p:blipFill>
          <a:blip r:embed="rId2" cstate="email"/>
          <a:srcRect/>
          <a:stretch>
            <a:fillRect/>
          </a:stretch>
        </p:blipFill>
        <p:spPr bwMode="auto">
          <a:xfrm>
            <a:off x="0" y="2852936"/>
            <a:ext cx="9144000" cy="4005064"/>
          </a:xfrm>
          <a:prstGeom prst="rect">
            <a:avLst/>
          </a:prstGeom>
          <a:noFill/>
          <a:ln w="9525">
            <a:noFill/>
            <a:miter lim="800000"/>
            <a:headEnd/>
            <a:tailEnd/>
          </a:ln>
        </p:spPr>
      </p:pic>
      <p:sp>
        <p:nvSpPr>
          <p:cNvPr id="7" name="Footer Placeholder 1"/>
          <p:cNvSpPr>
            <a:spLocks noGrp="1"/>
          </p:cNvSpPr>
          <p:nvPr>
            <p:ph type="ftr" sz="quarter" idx="11"/>
          </p:nvPr>
        </p:nvSpPr>
        <p:spPr>
          <a:xfrm>
            <a:off x="8927" y="6661745"/>
            <a:ext cx="1806879" cy="295647"/>
          </a:xfrm>
        </p:spPr>
        <p:txBody>
          <a:bodyPr/>
          <a:lstStyle/>
          <a:p>
            <a:endParaRPr kumimoji="0" lang="en-US" sz="1600" dirty="0">
              <a:solidFill>
                <a:schemeClr val="bg1"/>
              </a:solidFill>
            </a:endParaRPr>
          </a:p>
        </p:txBody>
      </p:sp>
    </p:spTree>
    <p:extLst>
      <p:ext uri="{BB962C8B-B14F-4D97-AF65-F5344CB8AC3E}">
        <p14:creationId xmlns:p14="http://schemas.microsoft.com/office/powerpoint/2010/main" val="2083890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right)">
                                      <p:cBhvr>
                                        <p:cTn id="7" dur="1000"/>
                                        <p:tgtEl>
                                          <p:spTgt spid="5">
                                            <p:txEl>
                                              <p:pRg st="0" end="0"/>
                                            </p:txEl>
                                          </p:spTgt>
                                        </p:tgtEl>
                                      </p:cBhvr>
                                    </p:animEffect>
                                  </p:childTnLst>
                                </p:cTn>
                              </p:par>
                            </p:childTnLst>
                          </p:cTn>
                        </p:par>
                        <p:par>
                          <p:cTn id="8" fill="hold">
                            <p:stCondLst>
                              <p:cond delay="1000"/>
                            </p:stCondLst>
                            <p:childTnLst>
                              <p:par>
                                <p:cTn id="9" presetID="22" presetClass="entr" presetSubtype="2"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right)">
                                      <p:cBhvr>
                                        <p:cTn id="11" dur="1000"/>
                                        <p:tgtEl>
                                          <p:spTgt spid="5">
                                            <p:txEl>
                                              <p:pRg st="1" end="1"/>
                                            </p:txEl>
                                          </p:spTgt>
                                        </p:tgtEl>
                                      </p:cBhvr>
                                    </p:animEffect>
                                  </p:childTnLst>
                                </p:cTn>
                              </p:par>
                            </p:childTnLst>
                          </p:cTn>
                        </p:par>
                        <p:par>
                          <p:cTn id="12" fill="hold">
                            <p:stCondLst>
                              <p:cond delay="2000"/>
                            </p:stCondLst>
                            <p:childTnLst>
                              <p:par>
                                <p:cTn id="13" presetID="22" presetClass="entr" presetSubtype="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04800"/>
            <a:ext cx="8686800" cy="838200"/>
          </a:xfrm>
          <a:effectLst/>
        </p:spPr>
        <p:txBody>
          <a:bodyPr>
            <a:normAutofit/>
          </a:bodyPr>
          <a:lstStyle/>
          <a:p>
            <a:pPr algn="just" rtl="1"/>
            <a:r>
              <a:rPr lang="fa-IR" sz="4000" b="1" dirty="0">
                <a:solidFill>
                  <a:schemeClr val="bg1"/>
                </a:solidFill>
                <a:cs typeface="B Titr" pitchFamily="2" charset="-78"/>
              </a:rPr>
              <a:t>4) سقف کاذب آلومینیمی ‌(دامپا یا لمبه‌ای)</a:t>
            </a:r>
            <a:endParaRPr lang="en-US" sz="4000" b="1" dirty="0">
              <a:solidFill>
                <a:schemeClr val="bg1"/>
              </a:solidFill>
              <a:cs typeface="B Titr" pitchFamily="2" charset="-78"/>
            </a:endParaRPr>
          </a:p>
        </p:txBody>
      </p:sp>
      <p:pic>
        <p:nvPicPr>
          <p:cNvPr id="5" name="Picture 4"/>
          <p:cNvPicPr/>
          <p:nvPr/>
        </p:nvPicPr>
        <p:blipFill>
          <a:blip r:embed="rId2"/>
          <a:srcRect/>
          <a:stretch>
            <a:fillRect/>
          </a:stretch>
        </p:blipFill>
        <p:spPr bwMode="auto">
          <a:xfrm>
            <a:off x="0" y="4430603"/>
            <a:ext cx="9144000" cy="2447925"/>
          </a:xfrm>
          <a:prstGeom prst="rect">
            <a:avLst/>
          </a:prstGeom>
          <a:noFill/>
          <a:ln w="9525">
            <a:noFill/>
            <a:miter lim="800000"/>
            <a:headEnd/>
            <a:tailEnd/>
          </a:ln>
        </p:spPr>
      </p:pic>
      <p:pic>
        <p:nvPicPr>
          <p:cNvPr id="6" name="Picture 5" descr="E:\Word\Saeb\مقالات\عناصر و جزییات-سقف-\کاذب\Photo\DSC01079.JPG"/>
          <p:cNvPicPr/>
          <p:nvPr/>
        </p:nvPicPr>
        <p:blipFill>
          <a:blip r:embed="rId3"/>
          <a:srcRect/>
          <a:stretch>
            <a:fillRect/>
          </a:stretch>
        </p:blipFill>
        <p:spPr bwMode="auto">
          <a:xfrm>
            <a:off x="0" y="1219200"/>
            <a:ext cx="9144000" cy="3190875"/>
          </a:xfrm>
          <a:prstGeom prst="rect">
            <a:avLst/>
          </a:prstGeom>
          <a:noFill/>
          <a:ln w="9525">
            <a:noFill/>
            <a:miter lim="800000"/>
            <a:headEnd/>
            <a:tailEnd/>
          </a:ln>
        </p:spPr>
      </p:pic>
      <p:sp>
        <p:nvSpPr>
          <p:cNvPr id="7" name="Footer Placeholder 1"/>
          <p:cNvSpPr txBox="1">
            <a:spLocks/>
          </p:cNvSpPr>
          <p:nvPr/>
        </p:nvSpPr>
        <p:spPr>
          <a:xfrm>
            <a:off x="8927" y="6543273"/>
            <a:ext cx="1806879" cy="295647"/>
          </a:xfrm>
          <a:prstGeom prst="rect">
            <a:avLst/>
          </a:prstGeom>
        </p:spPr>
        <p:txBody>
          <a:bodyPr vert="horz" lIns="91440" tIns="45720" rIns="91440" bIns="45720" rtlCol="0" anchor="b"/>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dirty="0"/>
          </a:p>
        </p:txBody>
      </p:sp>
    </p:spTree>
    <p:extLst>
      <p:ext uri="{BB962C8B-B14F-4D97-AF65-F5344CB8AC3E}">
        <p14:creationId xmlns:p14="http://schemas.microsoft.com/office/powerpoint/2010/main" val="92460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6" presetClass="entr" presetSubtype="3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circle(out)">
                                      <p:cBhvr>
                                        <p:cTn id="11" dur="2000"/>
                                        <p:tgtEl>
                                          <p:spTgt spid="6"/>
                                        </p:tgtEl>
                                      </p:cBhvr>
                                    </p:animEffect>
                                  </p:childTnLst>
                                </p:cTn>
                              </p:par>
                            </p:childTnLst>
                          </p:cTn>
                        </p:par>
                        <p:par>
                          <p:cTn id="12" fill="hold">
                            <p:stCondLst>
                              <p:cond delay="4000"/>
                            </p:stCondLst>
                            <p:childTnLst>
                              <p:par>
                                <p:cTn id="13" presetID="8" presetClass="entr" presetSubtype="16"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amond(in)">
                                      <p:cBhvr>
                                        <p:cTn id="15"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53144"/>
            <a:ext cx="8686800" cy="838200"/>
          </a:xfrm>
          <a:effectLst/>
        </p:spPr>
        <p:txBody>
          <a:bodyPr>
            <a:normAutofit/>
          </a:bodyPr>
          <a:lstStyle/>
          <a:p>
            <a:pPr algn="just" rtl="1"/>
            <a:r>
              <a:rPr lang="fa-IR" sz="3600" b="1" dirty="0">
                <a:solidFill>
                  <a:schemeClr val="bg1"/>
                </a:solidFill>
                <a:cs typeface="B Titr" pitchFamily="2" charset="-78"/>
              </a:rPr>
              <a:t>سقف کاذب آلومینیمی ‌(دامپا یا لمبه‌ای)</a:t>
            </a:r>
            <a:endParaRPr lang="en-US" sz="3600" b="1" dirty="0">
              <a:solidFill>
                <a:schemeClr val="bg1"/>
              </a:solidFill>
              <a:cs typeface="B Titr" pitchFamily="2" charset="-78"/>
            </a:endParaRPr>
          </a:p>
        </p:txBody>
      </p:sp>
      <p:sp>
        <p:nvSpPr>
          <p:cNvPr id="5" name="Content Placeholder 4"/>
          <p:cNvSpPr>
            <a:spLocks noGrp="1"/>
          </p:cNvSpPr>
          <p:nvPr>
            <p:ph idx="1"/>
          </p:nvPr>
        </p:nvSpPr>
        <p:spPr>
          <a:xfrm>
            <a:off x="0" y="1602506"/>
            <a:ext cx="9144000" cy="5255494"/>
          </a:xfrm>
        </p:spPr>
        <p:txBody>
          <a:bodyPr>
            <a:noAutofit/>
          </a:bodyPr>
          <a:lstStyle/>
          <a:p>
            <a:pPr marL="0" indent="457200" algn="just" rtl="1">
              <a:lnSpc>
                <a:spcPct val="150000"/>
              </a:lnSpc>
              <a:buNone/>
            </a:pPr>
            <a:r>
              <a:rPr lang="fa-IR" sz="3200" dirty="0">
                <a:solidFill>
                  <a:schemeClr val="bg1"/>
                </a:solidFill>
                <a:cs typeface="B Nazanin" pitchFamily="2" charset="-78"/>
              </a:rPr>
              <a:t>حدود چهل سال پيش يك مهندس سوئدي در دانمارك كار مي‌كرد كه كار ايزوله كردن خانه‌هاي را به عهده داشت كه براي اجاره مي ساختند. تمام سعي او اين بود كه اين خانه‌ها سبك، ارزان، سريع ساخته شود. او طرحي سقف كاذبی را ارائه داد كه چند سال بعد در 1968 جايزه بهترين طراحي داخلي را کسب کرد. اسم اين طرح دامپا 10 بود.</a:t>
            </a:r>
            <a:r>
              <a:rPr lang="en-US" sz="3200" dirty="0">
                <a:solidFill>
                  <a:schemeClr val="bg1"/>
                </a:solidFill>
                <a:cs typeface="B Nazanin" pitchFamily="2" charset="-78"/>
              </a:rPr>
              <a:t> </a:t>
            </a:r>
            <a:r>
              <a:rPr lang="fa-IR" sz="3200" dirty="0">
                <a:solidFill>
                  <a:schemeClr val="bg1"/>
                </a:solidFill>
                <a:cs typeface="B Nazanin" pitchFamily="2" charset="-78"/>
              </a:rPr>
              <a:t>اسم دامپا از تركيب دو كلمه دانماركي درست شده و به اين صورت تلفظ می‌شده است: دامپ اوف. این نوع سقف به جهت سبکی وزن و جلای زیبای آن و استفاده فراوان خصوصا در شمال ایران چه در داخل و چه در خارج از ساختمان کاربرد فراوانی پیدا نموده است. </a:t>
            </a:r>
            <a:endParaRPr lang="en-US" sz="3200" dirty="0">
              <a:solidFill>
                <a:schemeClr val="bg1"/>
              </a:solidFill>
              <a:cs typeface="B Nazanin" pitchFamily="2" charset="-78"/>
            </a:endParaRPr>
          </a:p>
        </p:txBody>
      </p:sp>
      <p:sp>
        <p:nvSpPr>
          <p:cNvPr id="6" name="Footer Placeholder 1"/>
          <p:cNvSpPr>
            <a:spLocks noGrp="1"/>
          </p:cNvSpPr>
          <p:nvPr>
            <p:ph type="ftr" sz="quarter" idx="11"/>
          </p:nvPr>
        </p:nvSpPr>
        <p:spPr>
          <a:xfrm>
            <a:off x="8927" y="6543273"/>
            <a:ext cx="1806879" cy="295647"/>
          </a:xfrm>
        </p:spPr>
        <p:txBody>
          <a:bodyPr/>
          <a:lstStyle/>
          <a:p>
            <a:endParaRPr kumimoji="0" lang="en-US" sz="1600" dirty="0"/>
          </a:p>
        </p:txBody>
      </p:sp>
    </p:spTree>
    <p:extLst>
      <p:ext uri="{BB962C8B-B14F-4D97-AF65-F5344CB8AC3E}">
        <p14:creationId xmlns:p14="http://schemas.microsoft.com/office/powerpoint/2010/main" val="325962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3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0"/>
            <a:ext cx="9144000" cy="6858000"/>
          </a:xfrm>
        </p:spPr>
        <p:txBody>
          <a:bodyPr>
            <a:noAutofit/>
          </a:bodyPr>
          <a:lstStyle/>
          <a:p>
            <a:pPr marL="0" indent="457200" algn="just" rtl="1">
              <a:lnSpc>
                <a:spcPct val="150000"/>
              </a:lnSpc>
              <a:buNone/>
            </a:pPr>
            <a:r>
              <a:rPr lang="fa-IR" sz="2900" dirty="0">
                <a:solidFill>
                  <a:schemeClr val="bg1"/>
                </a:solidFill>
                <a:cs typeface="B Nazanin" pitchFamily="2" charset="-78"/>
              </a:rPr>
              <a:t>از مزایای این سقف عدم اکسیدایسون (زنگ زدگی) آلومینیم بوده و فاقد هزینه نگهداری و تعمیرات است. یکی دیگر از موارد کاربرد این سقف در مکان‌هایی که، به نوعی با رطوبت سر وکار دارند می‌باشد به عنوان مثال : سرویس بهداشتی. چون از ورق آلومینیوم 0/5 و 0/7یا گالوانیزه تهیه می‌گردد نه تنها آتشگیر نیست، بلكه در قبال آتش سوزی مقاوم هم می‌باشد. از خصوصیات دیگر آن ضریب جذب صوت بالا و قابلیت نصب هر نوع چراغ و دریچه بر روی آن است. وزن سقف تمام شده حدود سه كیلوگرم بر متر مربع می‌باشد و در قیاس با بقیه سقفها (نظیر رابیتس و گچ و خاك و پانلهای گچی) عملا بار مرده‌ای برای ساختمان محسوب نمی‌گردد. این نوع سقفها در دو نوع ساده ( بدون سوراخ) و سوراخدار (آكوستیك) تولید شده و به سادگی با رولهای پشم سنگ كه داخل پانلها تعبیه شده ایزوله می‌گردند كه برای مراكز حساس نظیر اتاق‌های فرمان و غیره بسیار مناسب هستند. </a:t>
            </a:r>
            <a:endParaRPr lang="en-US" sz="2900" dirty="0">
              <a:solidFill>
                <a:schemeClr val="bg1"/>
              </a:solidFill>
              <a:cs typeface="B Nazanin" pitchFamily="2" charset="-78"/>
            </a:endParaRPr>
          </a:p>
        </p:txBody>
      </p:sp>
      <p:sp>
        <p:nvSpPr>
          <p:cNvPr id="4" name="Footer Placeholder 1"/>
          <p:cNvSpPr>
            <a:spLocks noGrp="1"/>
          </p:cNvSpPr>
          <p:nvPr>
            <p:ph type="ftr" sz="quarter" idx="11"/>
          </p:nvPr>
        </p:nvSpPr>
        <p:spPr>
          <a:xfrm>
            <a:off x="8927" y="6543273"/>
            <a:ext cx="1806879" cy="295647"/>
          </a:xfrm>
        </p:spPr>
        <p:txBody>
          <a:bodyPr/>
          <a:lstStyle/>
          <a:p>
            <a:endParaRPr kumimoji="0" lang="en-US" sz="1600" dirty="0"/>
          </a:p>
        </p:txBody>
      </p:sp>
    </p:spTree>
    <p:extLst>
      <p:ext uri="{BB962C8B-B14F-4D97-AF65-F5344CB8AC3E}">
        <p14:creationId xmlns:p14="http://schemas.microsoft.com/office/powerpoint/2010/main" val="3136158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3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836712"/>
            <a:ext cx="9144000" cy="4922838"/>
          </a:xfrm>
        </p:spPr>
        <p:txBody>
          <a:bodyPr>
            <a:noAutofit/>
          </a:bodyPr>
          <a:lstStyle/>
          <a:p>
            <a:pPr marL="0" indent="457200" algn="just" rtl="1">
              <a:lnSpc>
                <a:spcPct val="150000"/>
              </a:lnSpc>
              <a:buNone/>
            </a:pPr>
            <a:r>
              <a:rPr lang="fa-IR" sz="3200" dirty="0">
                <a:solidFill>
                  <a:schemeClr val="bg1"/>
                </a:solidFill>
                <a:cs typeface="B Nazanin" pitchFamily="2" charset="-78"/>
              </a:rPr>
              <a:t>زیر سازی این سقف‌ها همگی گالوانیزه و ضد زنگ بوده كه مخصوص این سقف‌ها ساخته شده است.</a:t>
            </a:r>
          </a:p>
          <a:p>
            <a:pPr marL="0" indent="457200" algn="just" rtl="1">
              <a:lnSpc>
                <a:spcPct val="150000"/>
              </a:lnSpc>
              <a:buNone/>
            </a:pPr>
            <a:r>
              <a:rPr lang="fa-IR" sz="3200" dirty="0">
                <a:solidFill>
                  <a:schemeClr val="bg1"/>
                </a:solidFill>
                <a:cs typeface="B Nazanin" pitchFamily="2" charset="-78"/>
              </a:rPr>
              <a:t>روش اجرای سقف دامپا یا لمبه ای بدین صورت است که، پس از اجرای میلگردهای آویز و نصب سپری به فواصل معین از پروفیل‌های قوطی به ابعاد </a:t>
            </a:r>
            <a:r>
              <a:rPr lang="en-US" sz="3200" dirty="0">
                <a:solidFill>
                  <a:schemeClr val="bg1"/>
                </a:solidFill>
                <a:cs typeface="B Nazanin" pitchFamily="2" charset="-78"/>
              </a:rPr>
              <a:t>cm </a:t>
            </a:r>
            <a:r>
              <a:rPr lang="fa-IR" sz="3200" dirty="0">
                <a:solidFill>
                  <a:schemeClr val="bg1"/>
                </a:solidFill>
                <a:cs typeface="B Nazanin" pitchFamily="2" charset="-78"/>
              </a:rPr>
              <a:t>3×3 یا </a:t>
            </a:r>
            <a:r>
              <a:rPr lang="en-US" sz="3200" dirty="0">
                <a:solidFill>
                  <a:schemeClr val="bg1"/>
                </a:solidFill>
                <a:cs typeface="B Nazanin" pitchFamily="2" charset="-78"/>
              </a:rPr>
              <a:t>cm </a:t>
            </a:r>
            <a:r>
              <a:rPr lang="fa-IR" sz="3200" dirty="0">
                <a:solidFill>
                  <a:schemeClr val="bg1"/>
                </a:solidFill>
                <a:cs typeface="B Nazanin" pitchFamily="2" charset="-78"/>
              </a:rPr>
              <a:t>4×4 که به سپری‌ها اتصال می‌یابند، استفاده می‌شوند. سپس ورق‌‌های آلمینیومی‌با پرچ یا پیچ به پرفیل زیرین نصب می‌شوند. معمولا اشکال این ورق‌های آلمینیومی‌شادولاین، ذوزنقه‌ای و کنگره‌ای می‌باشند.</a:t>
            </a:r>
            <a:endParaRPr lang="en-US" sz="3200" dirty="0">
              <a:solidFill>
                <a:schemeClr val="bg1"/>
              </a:solidFill>
              <a:cs typeface="B Nazanin" pitchFamily="2" charset="-78"/>
            </a:endParaRPr>
          </a:p>
        </p:txBody>
      </p:sp>
      <p:sp>
        <p:nvSpPr>
          <p:cNvPr id="4" name="Footer Placeholder 1"/>
          <p:cNvSpPr>
            <a:spLocks noGrp="1"/>
          </p:cNvSpPr>
          <p:nvPr>
            <p:ph type="ftr" sz="quarter" idx="11"/>
          </p:nvPr>
        </p:nvSpPr>
        <p:spPr>
          <a:xfrm>
            <a:off x="8927" y="6543273"/>
            <a:ext cx="1806879" cy="295647"/>
          </a:xfrm>
        </p:spPr>
        <p:txBody>
          <a:bodyPr/>
          <a:lstStyle/>
          <a:p>
            <a:endParaRPr kumimoji="0" lang="en-US" sz="1600" dirty="0"/>
          </a:p>
        </p:txBody>
      </p:sp>
    </p:spTree>
    <p:extLst>
      <p:ext uri="{BB962C8B-B14F-4D97-AF65-F5344CB8AC3E}">
        <p14:creationId xmlns:p14="http://schemas.microsoft.com/office/powerpoint/2010/main" val="286942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3000"/>
                                        <p:tgtEl>
                                          <p:spTgt spid="5">
                                            <p:txEl>
                                              <p:pRg st="0" end="0"/>
                                            </p:txEl>
                                          </p:spTgt>
                                        </p:tgtEl>
                                      </p:cBhvr>
                                    </p:animEffect>
                                  </p:childTnLst>
                                </p:cTn>
                              </p:par>
                            </p:childTnLst>
                          </p:cTn>
                        </p:par>
                        <p:par>
                          <p:cTn id="8" fill="hold">
                            <p:stCondLst>
                              <p:cond delay="3000"/>
                            </p:stCondLst>
                            <p:childTnLst>
                              <p:par>
                                <p:cTn id="9" presetID="22" presetClass="entr" presetSubtype="1"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up)">
                                      <p:cBhvr>
                                        <p:cTn id="11" dur="3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04800"/>
            <a:ext cx="8686800" cy="838200"/>
          </a:xfrm>
          <a:effectLst/>
        </p:spPr>
        <p:txBody>
          <a:bodyPr>
            <a:normAutofit/>
          </a:bodyPr>
          <a:lstStyle/>
          <a:p>
            <a:pPr algn="just" rtl="1"/>
            <a:r>
              <a:rPr lang="fa-IR" sz="4000" b="1" dirty="0">
                <a:solidFill>
                  <a:schemeClr val="bg1"/>
                </a:solidFill>
                <a:cs typeface="B Titr" pitchFamily="2" charset="-78"/>
              </a:rPr>
              <a:t>محل تعبیه آویز در سقف‌ها</a:t>
            </a:r>
            <a:endParaRPr lang="en-US" sz="4000" dirty="0">
              <a:solidFill>
                <a:schemeClr val="bg1"/>
              </a:solidFill>
              <a:cs typeface="B Titr" pitchFamily="2" charset="-78"/>
            </a:endParaRPr>
          </a:p>
        </p:txBody>
      </p:sp>
      <p:sp>
        <p:nvSpPr>
          <p:cNvPr id="5" name="Content Placeholder 4"/>
          <p:cNvSpPr>
            <a:spLocks noGrp="1"/>
          </p:cNvSpPr>
          <p:nvPr>
            <p:ph idx="1"/>
          </p:nvPr>
        </p:nvSpPr>
        <p:spPr>
          <a:xfrm>
            <a:off x="0" y="1052736"/>
            <a:ext cx="9144000" cy="5303838"/>
          </a:xfrm>
        </p:spPr>
        <p:txBody>
          <a:bodyPr>
            <a:noAutofit/>
          </a:bodyPr>
          <a:lstStyle/>
          <a:p>
            <a:pPr marL="0" indent="465138" algn="just" rtl="1">
              <a:lnSpc>
                <a:spcPct val="150000"/>
              </a:lnSpc>
              <a:buNone/>
            </a:pPr>
            <a:r>
              <a:rPr lang="fa-IR" sz="3600" b="1" dirty="0">
                <a:solidFill>
                  <a:schemeClr val="bg1"/>
                </a:solidFill>
                <a:cs typeface="B Nazanin" pitchFamily="2" charset="-78"/>
              </a:rPr>
              <a:t>1) اتصال آویز در سقف طاق ضربی:</a:t>
            </a:r>
          </a:p>
          <a:p>
            <a:pPr marL="0" indent="465138" algn="just" rtl="1">
              <a:lnSpc>
                <a:spcPct val="150000"/>
              </a:lnSpc>
              <a:buNone/>
            </a:pPr>
            <a:r>
              <a:rPr lang="fa-IR" sz="3200" dirty="0">
                <a:solidFill>
                  <a:schemeClr val="bg1"/>
                </a:solidFill>
                <a:cs typeface="B Nazanin" pitchFamily="2" charset="-78"/>
              </a:rPr>
              <a:t>اتصال میلگرد‌های آویز معمولا از میلگرد ساده </a:t>
            </a:r>
            <a:r>
              <a:rPr lang="en-US" sz="2800" dirty="0">
                <a:solidFill>
                  <a:schemeClr val="bg1"/>
                </a:solidFill>
                <a:cs typeface="B Nazanin" pitchFamily="2" charset="-78"/>
              </a:rPr>
              <a:t>mm</a:t>
            </a:r>
            <a:r>
              <a:rPr lang="fa-IR" sz="2800" dirty="0">
                <a:solidFill>
                  <a:schemeClr val="bg1"/>
                </a:solidFill>
                <a:cs typeface="B Nazanin" pitchFamily="2" charset="-78"/>
              </a:rPr>
              <a:t> </a:t>
            </a:r>
            <a:r>
              <a:rPr lang="fa-IR" sz="3200" dirty="0">
                <a:solidFill>
                  <a:schemeClr val="bg1"/>
                </a:solidFill>
                <a:cs typeface="B Nazanin" pitchFamily="2" charset="-78"/>
              </a:rPr>
              <a:t>8 انتخاب می‌شود. معمولا پس از خم نمودن میلگردها اتصال از ناحیه زیر بال تیر آهن‌های پوششی صورت می‌گیرد. این میلگردها به ارتفاع مورد نظر و به فواصل معین در طول سقف اجرا می‌شوند. اتصال میلگرد به بال زیرین تیر آهن‌های پوششی سقف به کمک جوش از نکات مهم و حائز اهمیت می‌باشد. معمولا از آن جا که جوش، سر بالا می‌باشد و احتمال قطره‌ای شدن آن زیاد است نوع الکترود تعویض شده و طول جوش با بعد بیشتری صورت می‌گیرد.</a:t>
            </a:r>
            <a:endParaRPr lang="en-US" sz="3200" dirty="0">
              <a:solidFill>
                <a:schemeClr val="bg1"/>
              </a:solidFill>
              <a:cs typeface="B Nazanin" pitchFamily="2" charset="-78"/>
            </a:endParaRPr>
          </a:p>
        </p:txBody>
      </p:sp>
      <p:sp>
        <p:nvSpPr>
          <p:cNvPr id="6" name="Footer Placeholder 1"/>
          <p:cNvSpPr>
            <a:spLocks noGrp="1"/>
          </p:cNvSpPr>
          <p:nvPr>
            <p:ph type="ftr" sz="quarter" idx="11"/>
          </p:nvPr>
        </p:nvSpPr>
        <p:spPr>
          <a:xfrm>
            <a:off x="8927" y="6543273"/>
            <a:ext cx="1806879" cy="295647"/>
          </a:xfrm>
        </p:spPr>
        <p:txBody>
          <a:bodyPr/>
          <a:lstStyle/>
          <a:p>
            <a:endParaRPr kumimoji="0" lang="en-US" sz="1600" dirty="0"/>
          </a:p>
        </p:txBody>
      </p:sp>
    </p:spTree>
    <p:extLst>
      <p:ext uri="{BB962C8B-B14F-4D97-AF65-F5344CB8AC3E}">
        <p14:creationId xmlns:p14="http://schemas.microsoft.com/office/powerpoint/2010/main" val="1307481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3000"/>
                                        <p:tgtEl>
                                          <p:spTgt spid="5">
                                            <p:txEl>
                                              <p:pRg st="0" end="0"/>
                                            </p:txEl>
                                          </p:spTgt>
                                        </p:tgtEl>
                                      </p:cBhvr>
                                    </p:animEffect>
                                  </p:childTnLst>
                                </p:cTn>
                              </p:par>
                            </p:childTnLst>
                          </p:cTn>
                        </p:par>
                        <p:par>
                          <p:cTn id="12" fill="hold">
                            <p:stCondLst>
                              <p:cond delay="5000"/>
                            </p:stCondLst>
                            <p:childTnLst>
                              <p:par>
                                <p:cTn id="13" presetID="22" presetClass="entr" presetSubtype="1" fill="hold" grpId="0"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up)">
                                      <p:cBhvr>
                                        <p:cTn id="15" dur="3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Content Placeholder 4"/>
          <p:cNvSpPr>
            <a:spLocks noGrp="1"/>
          </p:cNvSpPr>
          <p:nvPr>
            <p:ph idx="1"/>
          </p:nvPr>
        </p:nvSpPr>
        <p:spPr>
          <a:xfrm>
            <a:off x="0" y="0"/>
            <a:ext cx="9144000" cy="6858000"/>
          </a:xfrm>
        </p:spPr>
        <p:txBody>
          <a:bodyPr>
            <a:noAutofit/>
          </a:bodyPr>
          <a:lstStyle/>
          <a:p>
            <a:pPr marL="0" indent="465138" algn="just" rtl="1">
              <a:lnSpc>
                <a:spcPct val="150000"/>
              </a:lnSpc>
              <a:buNone/>
            </a:pPr>
            <a:r>
              <a:rPr lang="fa-IR" sz="2900" b="1" dirty="0">
                <a:solidFill>
                  <a:schemeClr val="bg1"/>
                </a:solidFill>
                <a:cs typeface="B Nazanin" pitchFamily="2" charset="-78"/>
              </a:rPr>
              <a:t>2) اتصال آویز در سقف بتنی:</a:t>
            </a:r>
          </a:p>
          <a:p>
            <a:pPr marL="0" indent="465138" algn="just" rtl="1">
              <a:lnSpc>
                <a:spcPct val="150000"/>
              </a:lnSpc>
              <a:buNone/>
            </a:pPr>
            <a:r>
              <a:rPr lang="fa-IR" sz="2900" b="1" dirty="0">
                <a:solidFill>
                  <a:schemeClr val="bg1"/>
                </a:solidFill>
                <a:cs typeface="B Nazanin" pitchFamily="2" charset="-78"/>
              </a:rPr>
              <a:t>به دو روش انجام می‌شود:</a:t>
            </a:r>
            <a:endParaRPr lang="en-US" sz="2900" b="1" dirty="0">
              <a:solidFill>
                <a:schemeClr val="bg1"/>
              </a:solidFill>
              <a:cs typeface="B Nazanin" pitchFamily="2" charset="-78"/>
            </a:endParaRPr>
          </a:p>
          <a:p>
            <a:pPr marL="0" indent="465138" algn="just" rtl="1">
              <a:lnSpc>
                <a:spcPct val="150000"/>
              </a:lnSpc>
              <a:buNone/>
            </a:pPr>
            <a:r>
              <a:rPr lang="fa-IR" sz="2900" b="1" dirty="0">
                <a:solidFill>
                  <a:schemeClr val="bg1"/>
                </a:solidFill>
                <a:cs typeface="B Nazanin" pitchFamily="2" charset="-78"/>
              </a:rPr>
              <a:t>الف)</a:t>
            </a:r>
            <a:r>
              <a:rPr lang="fa-IR" sz="2900" dirty="0">
                <a:solidFill>
                  <a:schemeClr val="bg1"/>
                </a:solidFill>
                <a:cs typeface="B Nazanin" pitchFamily="2" charset="-78"/>
              </a:rPr>
              <a:t> در این روش، میلگرد‌های آویز در سقف بتنی، هنگام قالب بندی با فواصل معین به آرماتور اصلی سقف متصل می‌شوند.بدهی است بهینه ترین حالت، آن است که محل نصب آویزها به طریقی اجرا شود که میلگردهای آویز از درزهای کفراژ عبور نمایند. در غیر این صورت ابتدا قالب (چوبی) سوراخ شده و پس از عبور آویز از آن و مهار نمودن قالب، قبل از بتن ریزی اطراف سوراخ پر شده تا، از عبور شیره بتن جلوگیری به عمل آید. پس از بتن ریزی. مرحله باز نمودن قالب‌ها آویزها سرنج ( ضد زنگ ) آغشته شده تا در اثر رطوبت اکسیده نشوند.</a:t>
            </a:r>
            <a:endParaRPr lang="en-US" sz="2900" dirty="0">
              <a:solidFill>
                <a:schemeClr val="bg1"/>
              </a:solidFill>
              <a:cs typeface="B Nazanin" pitchFamily="2" charset="-78"/>
            </a:endParaRPr>
          </a:p>
        </p:txBody>
      </p:sp>
      <p:sp>
        <p:nvSpPr>
          <p:cNvPr id="4" name="Footer Placeholder 1"/>
          <p:cNvSpPr>
            <a:spLocks noGrp="1"/>
          </p:cNvSpPr>
          <p:nvPr>
            <p:ph type="ftr" sz="quarter" idx="11"/>
          </p:nvPr>
        </p:nvSpPr>
        <p:spPr>
          <a:xfrm>
            <a:off x="8927" y="6543273"/>
            <a:ext cx="1806879" cy="295647"/>
          </a:xfrm>
        </p:spPr>
        <p:txBody>
          <a:bodyPr/>
          <a:lstStyle/>
          <a:p>
            <a:endParaRPr kumimoji="0" lang="en-US" sz="1600" dirty="0"/>
          </a:p>
        </p:txBody>
      </p:sp>
    </p:spTree>
    <p:extLst>
      <p:ext uri="{BB962C8B-B14F-4D97-AF65-F5344CB8AC3E}">
        <p14:creationId xmlns:p14="http://schemas.microsoft.com/office/powerpoint/2010/main" val="2524533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up)">
                                      <p:cBhvr>
                                        <p:cTn id="7" dur="3000"/>
                                        <p:tgtEl>
                                          <p:spTgt spid="7">
                                            <p:txEl>
                                              <p:pRg st="0" end="0"/>
                                            </p:txEl>
                                          </p:spTgt>
                                        </p:tgtEl>
                                      </p:cBhvr>
                                    </p:animEffect>
                                  </p:childTnLst>
                                </p:cTn>
                              </p:par>
                            </p:childTnLst>
                          </p:cTn>
                        </p:par>
                        <p:par>
                          <p:cTn id="8" fill="hold">
                            <p:stCondLst>
                              <p:cond delay="3000"/>
                            </p:stCondLst>
                            <p:childTnLst>
                              <p:par>
                                <p:cTn id="9" presetID="22" presetClass="entr" presetSubtype="1" fill="hold" grpId="0" nodeType="after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wipe(up)">
                                      <p:cBhvr>
                                        <p:cTn id="11" dur="3000"/>
                                        <p:tgtEl>
                                          <p:spTgt spid="7">
                                            <p:txEl>
                                              <p:pRg st="1" end="1"/>
                                            </p:txEl>
                                          </p:spTgt>
                                        </p:tgtEl>
                                      </p:cBhvr>
                                    </p:animEffect>
                                  </p:childTnLst>
                                </p:cTn>
                              </p:par>
                            </p:childTnLst>
                          </p:cTn>
                        </p:par>
                        <p:par>
                          <p:cTn id="12" fill="hold">
                            <p:stCondLst>
                              <p:cond delay="6000"/>
                            </p:stCondLst>
                            <p:childTnLst>
                              <p:par>
                                <p:cTn id="13" presetID="22" presetClass="entr" presetSubtype="1" fill="hold" grpId="0" nodeType="after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wipe(up)">
                                      <p:cBhvr>
                                        <p:cTn id="15" dur="3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85" y="86544"/>
            <a:ext cx="9144000" cy="1902296"/>
          </a:xfrm>
        </p:spPr>
        <p:txBody>
          <a:bodyPr>
            <a:noAutofit/>
          </a:bodyPr>
          <a:lstStyle/>
          <a:p>
            <a:pPr marL="0" indent="465138" algn="just" rtl="1">
              <a:lnSpc>
                <a:spcPct val="150000"/>
              </a:lnSpc>
              <a:buNone/>
            </a:pPr>
            <a:r>
              <a:rPr lang="fa-IR" sz="3200" b="1" dirty="0">
                <a:solidFill>
                  <a:schemeClr val="bg1"/>
                </a:solidFill>
                <a:cs typeface="B Nazanin" pitchFamily="2" charset="-78"/>
              </a:rPr>
              <a:t>ب) </a:t>
            </a:r>
            <a:r>
              <a:rPr lang="fa-IR" sz="3200" dirty="0">
                <a:solidFill>
                  <a:schemeClr val="bg1"/>
                </a:solidFill>
                <a:cs typeface="B Nazanin" pitchFamily="2" charset="-78"/>
              </a:rPr>
              <a:t>در این روش، صفحاتی فلزی در کف قالب‌های سقف و تیر قرار داده می‌شود تا پس از اجرای سقف و قالب برداری، میلگردهای سقف کاذب به این صفحات متصل شود.</a:t>
            </a:r>
            <a:endParaRPr lang="en-US" sz="3200" dirty="0">
              <a:solidFill>
                <a:schemeClr val="bg1"/>
              </a:solidFill>
              <a:cs typeface="B Nazanin" pitchFamily="2" charset="-78"/>
            </a:endParaRPr>
          </a:p>
        </p:txBody>
      </p:sp>
      <p:pic>
        <p:nvPicPr>
          <p:cNvPr id="6" name="Picture 5" descr="E:\Word\Saeb\Picture\عمران\دارالشفاء\کارآموزی\دارالشفاء (189).JPG"/>
          <p:cNvPicPr/>
          <p:nvPr/>
        </p:nvPicPr>
        <p:blipFill>
          <a:blip r:embed="rId2"/>
          <a:srcRect l="321" t="5867"/>
          <a:stretch>
            <a:fillRect/>
          </a:stretch>
        </p:blipFill>
        <p:spPr bwMode="auto">
          <a:xfrm>
            <a:off x="0" y="1988840"/>
            <a:ext cx="9143999" cy="4896544"/>
          </a:xfrm>
          <a:prstGeom prst="rect">
            <a:avLst/>
          </a:prstGeom>
          <a:noFill/>
          <a:ln w="9525">
            <a:noFill/>
            <a:miter lim="800000"/>
            <a:headEnd/>
            <a:tailEnd/>
          </a:ln>
        </p:spPr>
      </p:pic>
      <p:sp>
        <p:nvSpPr>
          <p:cNvPr id="7" name="Footer Placeholder 1"/>
          <p:cNvSpPr txBox="1">
            <a:spLocks/>
          </p:cNvSpPr>
          <p:nvPr/>
        </p:nvSpPr>
        <p:spPr>
          <a:xfrm>
            <a:off x="8927" y="6543273"/>
            <a:ext cx="1806879" cy="295647"/>
          </a:xfrm>
          <a:prstGeom prst="rect">
            <a:avLst/>
          </a:prstGeom>
        </p:spPr>
        <p:txBody>
          <a:bodyPr vert="horz" lIns="91440" tIns="45720" rIns="91440" bIns="45720" rtlCol="0" anchor="b"/>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dirty="0"/>
          </a:p>
        </p:txBody>
      </p:sp>
    </p:spTree>
    <p:extLst>
      <p:ext uri="{BB962C8B-B14F-4D97-AF65-F5344CB8AC3E}">
        <p14:creationId xmlns:p14="http://schemas.microsoft.com/office/powerpoint/2010/main" val="4031987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right)">
                                      <p:cBhvr>
                                        <p:cTn id="7" dur="3000"/>
                                        <p:tgtEl>
                                          <p:spTgt spid="5">
                                            <p:txEl>
                                              <p:pRg st="0" end="0"/>
                                            </p:txEl>
                                          </p:spTgt>
                                        </p:tgtEl>
                                      </p:cBhvr>
                                    </p:animEffect>
                                  </p:childTnLst>
                                </p:cTn>
                              </p:par>
                            </p:childTnLst>
                          </p:cTn>
                        </p:par>
                        <p:par>
                          <p:cTn id="8" fill="hold">
                            <p:stCondLst>
                              <p:cond delay="3000"/>
                            </p:stCondLst>
                            <p:childTnLst>
                              <p:par>
                                <p:cTn id="9" presetID="6" presetClass="entr" presetSubtype="3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circle(out)">
                                      <p:cBhvr>
                                        <p:cTn id="1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476672"/>
            <a:ext cx="9144000" cy="5847928"/>
          </a:xfrm>
        </p:spPr>
        <p:txBody>
          <a:bodyPr>
            <a:noAutofit/>
          </a:bodyPr>
          <a:lstStyle/>
          <a:p>
            <a:pPr marL="0" indent="465138" algn="just" rtl="1">
              <a:lnSpc>
                <a:spcPct val="150000"/>
              </a:lnSpc>
              <a:buNone/>
            </a:pPr>
            <a:r>
              <a:rPr lang="fa-IR" sz="3600" b="1" dirty="0">
                <a:solidFill>
                  <a:schemeClr val="bg1"/>
                </a:solidFill>
                <a:cs typeface="B Nazanin" pitchFamily="2" charset="-78"/>
              </a:rPr>
              <a:t>3) اتصال آویز در تیرچه بلوک :</a:t>
            </a:r>
            <a:endParaRPr lang="fa-IR" sz="3600" dirty="0">
              <a:solidFill>
                <a:schemeClr val="bg1"/>
              </a:solidFill>
              <a:cs typeface="B Nazanin" pitchFamily="2" charset="-78"/>
            </a:endParaRPr>
          </a:p>
          <a:p>
            <a:pPr marL="0" indent="465138" algn="just" rtl="1">
              <a:lnSpc>
                <a:spcPct val="150000"/>
              </a:lnSpc>
              <a:buNone/>
            </a:pPr>
            <a:r>
              <a:rPr lang="fa-IR" sz="3200" dirty="0">
                <a:solidFill>
                  <a:schemeClr val="bg1"/>
                </a:solidFill>
                <a:cs typeface="B Nazanin" pitchFamily="2" charset="-78"/>
              </a:rPr>
              <a:t>قبل از بتن ریزی سقف تیرچه بلوک، مکان‌‌های سقف کاذب در زیر سقف مشخص می‌شود. مناسب ترین محل عبور میلگرد فاصله مختصر بین بلوک با تیرچه می‌باشد. </a:t>
            </a:r>
            <a:endParaRPr lang="en-US" sz="3200" dirty="0">
              <a:solidFill>
                <a:schemeClr val="bg1"/>
              </a:solidFill>
              <a:cs typeface="B Nazanin" pitchFamily="2" charset="-78"/>
            </a:endParaRPr>
          </a:p>
          <a:p>
            <a:pPr marL="0" indent="465138" algn="just" rtl="1">
              <a:lnSpc>
                <a:spcPct val="150000"/>
              </a:lnSpc>
              <a:buNone/>
            </a:pPr>
            <a:r>
              <a:rPr lang="fa-IR" sz="3200" dirty="0">
                <a:solidFill>
                  <a:schemeClr val="bg1"/>
                </a:solidFill>
                <a:cs typeface="B Nazanin" pitchFamily="2" charset="-78"/>
              </a:rPr>
              <a:t>میلگردهای آویز در این حالت خم شده و به آرماتور تیرچه اتصال می‌یابند. طول مشخص آویزها به اندازه ارتفاع سقف کاذب به علاوه میزان بسته شدن در بالای سقف تعیین می‌شود. هنگام بتن ریزی به علت نفوذ کامل بتن در حد فاصل تیرچه و بلوک آویز در جای خود تثبیت شده و از حرکت احتمالی آن جلوگیری به عمل می‌آید.</a:t>
            </a:r>
            <a:endParaRPr lang="en-US" sz="3600" dirty="0">
              <a:solidFill>
                <a:schemeClr val="bg1"/>
              </a:solidFill>
              <a:cs typeface="B Nazanin" pitchFamily="2" charset="-78"/>
            </a:endParaRPr>
          </a:p>
          <a:p>
            <a:pPr marL="0" indent="465138" algn="just" rtl="1">
              <a:lnSpc>
                <a:spcPct val="150000"/>
              </a:lnSpc>
              <a:buNone/>
            </a:pPr>
            <a:endParaRPr lang="fa-IR" sz="3600" b="1" dirty="0">
              <a:solidFill>
                <a:schemeClr val="bg1"/>
              </a:solidFill>
              <a:cs typeface="B Nazanin" pitchFamily="2" charset="-78"/>
            </a:endParaRPr>
          </a:p>
        </p:txBody>
      </p:sp>
      <p:sp>
        <p:nvSpPr>
          <p:cNvPr id="4" name="Footer Placeholder 1"/>
          <p:cNvSpPr>
            <a:spLocks noGrp="1"/>
          </p:cNvSpPr>
          <p:nvPr>
            <p:ph type="ftr" sz="quarter" idx="11"/>
          </p:nvPr>
        </p:nvSpPr>
        <p:spPr>
          <a:xfrm>
            <a:off x="8927" y="6543273"/>
            <a:ext cx="1806879" cy="295647"/>
          </a:xfrm>
        </p:spPr>
        <p:txBody>
          <a:bodyPr/>
          <a:lstStyle/>
          <a:p>
            <a:endParaRPr kumimoji="0" lang="en-US" sz="1600" dirty="0"/>
          </a:p>
        </p:txBody>
      </p:sp>
    </p:spTree>
    <p:extLst>
      <p:ext uri="{BB962C8B-B14F-4D97-AF65-F5344CB8AC3E}">
        <p14:creationId xmlns:p14="http://schemas.microsoft.com/office/powerpoint/2010/main" val="226684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3000"/>
                                        <p:tgtEl>
                                          <p:spTgt spid="5">
                                            <p:txEl>
                                              <p:pRg st="0" end="0"/>
                                            </p:txEl>
                                          </p:spTgt>
                                        </p:tgtEl>
                                      </p:cBhvr>
                                    </p:animEffect>
                                  </p:childTnLst>
                                </p:cTn>
                              </p:par>
                            </p:childTnLst>
                          </p:cTn>
                        </p:par>
                        <p:par>
                          <p:cTn id="8" fill="hold">
                            <p:stCondLst>
                              <p:cond delay="3000"/>
                            </p:stCondLst>
                            <p:childTnLst>
                              <p:par>
                                <p:cTn id="9" presetID="22" presetClass="entr" presetSubtype="1"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up)">
                                      <p:cBhvr>
                                        <p:cTn id="11" dur="3000"/>
                                        <p:tgtEl>
                                          <p:spTgt spid="5">
                                            <p:txEl>
                                              <p:pRg st="1" end="1"/>
                                            </p:txEl>
                                          </p:spTgt>
                                        </p:tgtEl>
                                      </p:cBhvr>
                                    </p:animEffect>
                                  </p:childTnLst>
                                </p:cTn>
                              </p:par>
                            </p:childTnLst>
                          </p:cTn>
                        </p:par>
                        <p:par>
                          <p:cTn id="12" fill="hold">
                            <p:stCondLst>
                              <p:cond delay="6000"/>
                            </p:stCondLst>
                            <p:childTnLst>
                              <p:par>
                                <p:cTn id="13" presetID="22" presetClass="entr" presetSubtype="1" fill="hold" grpId="0"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up)">
                                      <p:cBhvr>
                                        <p:cTn id="15" dur="3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27384"/>
            <a:ext cx="8686800" cy="838200"/>
          </a:xfrm>
          <a:effectLst/>
        </p:spPr>
        <p:txBody>
          <a:bodyPr>
            <a:normAutofit/>
          </a:bodyPr>
          <a:lstStyle/>
          <a:p>
            <a:pPr algn="just" rtl="1"/>
            <a:r>
              <a:rPr lang="fa-IR" sz="4000" b="1" dirty="0">
                <a:solidFill>
                  <a:schemeClr val="bg1"/>
                </a:solidFill>
                <a:cs typeface="B Titr" pitchFamily="2" charset="-78"/>
              </a:rPr>
              <a:t>محل تعبیه آویز در سقف‌ها</a:t>
            </a:r>
            <a:endParaRPr lang="en-US" sz="4000" dirty="0">
              <a:solidFill>
                <a:schemeClr val="bg1"/>
              </a:solidFill>
              <a:cs typeface="B Titr" pitchFamily="2" charset="-78"/>
            </a:endParaRPr>
          </a:p>
        </p:txBody>
      </p:sp>
      <p:pic>
        <p:nvPicPr>
          <p:cNvPr id="5" name="Content Placeholder 3" descr="E:\Word\Saeb\مقالات\عناصر و جزییات-سقف-\تیرچه و بلوک\Photo\Picture 027.jpg"/>
          <p:cNvPicPr>
            <a:picLocks noGrp="1"/>
          </p:cNvPicPr>
          <p:nvPr>
            <p:ph idx="1"/>
          </p:nvPr>
        </p:nvPicPr>
        <p:blipFill>
          <a:blip r:embed="rId2" cstate="print"/>
          <a:srcRect r="32653" b="34188"/>
          <a:stretch>
            <a:fillRect/>
          </a:stretch>
        </p:blipFill>
        <p:spPr bwMode="auto">
          <a:xfrm>
            <a:off x="0" y="692696"/>
            <a:ext cx="9144000" cy="3200400"/>
          </a:xfrm>
          <a:prstGeom prst="rect">
            <a:avLst/>
          </a:prstGeom>
          <a:noFill/>
          <a:ln w="9525">
            <a:noFill/>
            <a:miter lim="800000"/>
            <a:headEnd/>
            <a:tailEnd/>
          </a:ln>
        </p:spPr>
      </p:pic>
      <p:pic>
        <p:nvPicPr>
          <p:cNvPr id="6" name="Picture 5" descr="DSC00956.JPG"/>
          <p:cNvPicPr>
            <a:picLocks noChangeAspect="1"/>
          </p:cNvPicPr>
          <p:nvPr/>
        </p:nvPicPr>
        <p:blipFill>
          <a:blip r:embed="rId3"/>
          <a:srcRect t="1953" b="35000"/>
          <a:stretch>
            <a:fillRect/>
          </a:stretch>
        </p:blipFill>
        <p:spPr>
          <a:xfrm>
            <a:off x="0" y="3861048"/>
            <a:ext cx="9144000" cy="2996952"/>
          </a:xfrm>
          <a:prstGeom prst="rect">
            <a:avLst/>
          </a:prstGeom>
        </p:spPr>
      </p:pic>
      <p:sp>
        <p:nvSpPr>
          <p:cNvPr id="7" name="Footer Placeholder 1"/>
          <p:cNvSpPr>
            <a:spLocks noGrp="1"/>
          </p:cNvSpPr>
          <p:nvPr>
            <p:ph type="ftr" sz="quarter" idx="11"/>
          </p:nvPr>
        </p:nvSpPr>
        <p:spPr>
          <a:xfrm>
            <a:off x="8927" y="6543273"/>
            <a:ext cx="1806879" cy="295647"/>
          </a:xfrm>
        </p:spPr>
        <p:txBody>
          <a:bodyPr/>
          <a:lstStyle/>
          <a:p>
            <a:endParaRPr kumimoji="0" lang="en-US" sz="1600" dirty="0">
              <a:solidFill>
                <a:schemeClr val="bg1"/>
              </a:solidFill>
            </a:endParaRPr>
          </a:p>
        </p:txBody>
      </p:sp>
    </p:spTree>
    <p:extLst>
      <p:ext uri="{BB962C8B-B14F-4D97-AF65-F5344CB8AC3E}">
        <p14:creationId xmlns:p14="http://schemas.microsoft.com/office/powerpoint/2010/main" val="335893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2000"/>
                                        <p:tgtEl>
                                          <p:spTgt spid="5"/>
                                        </p:tgtEl>
                                      </p:cBhvr>
                                    </p:animEffect>
                                  </p:childTnLst>
                                </p:cTn>
                              </p:par>
                            </p:childTnLst>
                          </p:cTn>
                        </p:par>
                        <p:par>
                          <p:cTn id="12" fill="hold">
                            <p:stCondLst>
                              <p:cond delay="4000"/>
                            </p:stCondLst>
                            <p:childTnLst>
                              <p:par>
                                <p:cTn id="13" presetID="3" presetClass="entr" presetSubtype="1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ummer">
  <a:themeElements>
    <a:clrScheme name="Summer">
      <a:dk1>
        <a:sysClr val="windowText" lastClr="000000"/>
      </a:dk1>
      <a:lt1>
        <a:sysClr val="window" lastClr="FFFFFF"/>
      </a:lt1>
      <a:dk2>
        <a:srgbClr val="E89117"/>
      </a:dk2>
      <a:lt2>
        <a:srgbClr val="FEDD78"/>
      </a:lt2>
      <a:accent1>
        <a:srgbClr val="A1B633"/>
      </a:accent1>
      <a:accent2>
        <a:srgbClr val="C4D73F"/>
      </a:accent2>
      <a:accent3>
        <a:srgbClr val="FFCE2D"/>
      </a:accent3>
      <a:accent4>
        <a:srgbClr val="FFA600"/>
      </a:accent4>
      <a:accent5>
        <a:srgbClr val="ED5E00"/>
      </a:accent5>
      <a:accent6>
        <a:srgbClr val="C62D03"/>
      </a:accent6>
      <a:hlink>
        <a:srgbClr val="408080"/>
      </a:hlink>
      <a:folHlink>
        <a:srgbClr val="5EAEAE"/>
      </a:folHlink>
    </a:clrScheme>
    <a:fontScheme name="Summer">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ummer">
      <a:fillStyleLst>
        <a:solidFill>
          <a:schemeClr val="phClr"/>
        </a:solidFill>
        <a:gradFill rotWithShape="1">
          <a:gsLst>
            <a:gs pos="0">
              <a:schemeClr val="phClr">
                <a:tint val="70000"/>
                <a:lumMod val="110000"/>
              </a:schemeClr>
            </a:gs>
            <a:gs pos="100000">
              <a:schemeClr val="phClr">
                <a:tint val="90000"/>
              </a:schemeClr>
            </a:gs>
          </a:gsLst>
          <a:lin ang="5400000" scaled="1"/>
        </a:gradFill>
        <a:gradFill rotWithShape="1">
          <a:gsLst>
            <a:gs pos="0">
              <a:schemeClr val="phClr">
                <a:tint val="98000"/>
                <a:satMod val="120000"/>
                <a:lumMod val="110000"/>
              </a:schemeClr>
            </a:gs>
            <a:gs pos="100000">
              <a:schemeClr val="phClr">
                <a:shade val="90000"/>
                <a:lumMod val="90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88900" dist="38100" dir="5400000" algn="ctr" rotWithShape="0">
              <a:srgbClr val="000000">
                <a:alpha val="65000"/>
              </a:srgbClr>
            </a:outerShdw>
          </a:effectLst>
          <a:scene3d>
            <a:camera prst="orthographicFront">
              <a:rot lat="0" lon="0" rev="0"/>
            </a:camera>
            <a:lightRig rig="threePt" dir="tl">
              <a:rot lat="0" lon="0" rev="5400000"/>
            </a:lightRig>
          </a:scene3d>
          <a:sp3d>
            <a:bevelT w="25400" h="38100"/>
          </a:sp3d>
        </a:effectStyle>
      </a:effectStyleLst>
      <a:bgFillStyleLst>
        <a:solidFill>
          <a:schemeClr val="phClr"/>
        </a:solidFill>
        <a:gradFill rotWithShape="1">
          <a:gsLst>
            <a:gs pos="0">
              <a:schemeClr val="phClr">
                <a:tint val="97000"/>
                <a:shade val="80000"/>
                <a:hueMod val="110000"/>
                <a:satMod val="120000"/>
              </a:schemeClr>
            </a:gs>
            <a:gs pos="100000">
              <a:schemeClr val="phClr">
                <a:shade val="60000"/>
                <a:hueMod val="40000"/>
                <a:satMod val="120000"/>
                <a:lumMod val="103000"/>
              </a:schemeClr>
            </a:gs>
          </a:gsLst>
          <a:lin ang="5400000" scaled="1"/>
        </a:gradFill>
        <a:gradFill rotWithShape="1">
          <a:gsLst>
            <a:gs pos="0">
              <a:schemeClr val="phClr">
                <a:tint val="97000"/>
                <a:shade val="80000"/>
                <a:hueMod val="110000"/>
                <a:satMod val="130000"/>
                <a:lumMod val="100000"/>
              </a:schemeClr>
            </a:gs>
            <a:gs pos="100000">
              <a:schemeClr val="phClr">
                <a:shade val="60000"/>
                <a:hueMod val="40000"/>
                <a:satMod val="120000"/>
                <a:lumMod val="103000"/>
              </a:schemeClr>
            </a:gs>
          </a:gsLst>
          <a:path path="circle">
            <a:fillToRect l="50000" t="50000" r="100000" b="10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Summer</Template>
  <TotalTime>69</TotalTime>
  <Words>1612</Words>
  <Application>Microsoft Office PowerPoint</Application>
  <PresentationFormat>On-screen Show (4:3)</PresentationFormat>
  <Paragraphs>57</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Courier New</vt:lpstr>
      <vt:lpstr>Tahoma</vt:lpstr>
      <vt:lpstr>Verdana</vt:lpstr>
      <vt:lpstr>Wingdings 2</vt:lpstr>
      <vt:lpstr>Summer</vt:lpstr>
      <vt:lpstr>PowerPoint Presentation</vt:lpstr>
      <vt:lpstr>سقف کاذب</vt:lpstr>
      <vt:lpstr>PowerPoint Presentation</vt:lpstr>
      <vt:lpstr>تعریف سقف کاذب</vt:lpstr>
      <vt:lpstr>زیرسازی سقف کاذب</vt:lpstr>
      <vt:lpstr>انواع سقف‌های کاذب رایج در ایران</vt:lpstr>
      <vt:lpstr>1) سقف کاذب رابیتس</vt:lpstr>
      <vt:lpstr>روش اجرای زیرسازی به کمک نبشی و سپری</vt:lpstr>
      <vt:lpstr>روش اجرای زیرسازی به کمک نبشی و سپری</vt:lpstr>
      <vt:lpstr>PowerPoint Presentation</vt:lpstr>
      <vt:lpstr>PowerPoint Presentation</vt:lpstr>
      <vt:lpstr>2) سقف کاذب آکوستیکی</vt:lpstr>
      <vt:lpstr>سقف کاذب آکوستیکی</vt:lpstr>
      <vt:lpstr>سقف کاذب پیش ساخته گچی</vt:lpstr>
      <vt:lpstr>روش اجرای سقف پوش گچی </vt:lpstr>
      <vt:lpstr>روش اجرای سقف پوش گچی </vt:lpstr>
      <vt:lpstr>PowerPoint Presentation</vt:lpstr>
      <vt:lpstr>4) سقف کاذب آلومینیمی ‌(دامپا یا لمبه‌ای)</vt:lpstr>
      <vt:lpstr>سقف کاذب آلومینیمی ‌(دامپا یا لمبه‌ای)</vt:lpstr>
      <vt:lpstr>PowerPoint Presentation</vt:lpstr>
      <vt:lpstr>PowerPoint Presentation</vt:lpstr>
      <vt:lpstr>محل تعبیه آویز در سقف‌ها</vt:lpstr>
      <vt:lpstr>PowerPoint Presentation</vt:lpstr>
      <vt:lpstr>PowerPoint Presentation</vt:lpstr>
      <vt:lpstr>PowerPoint Presentation</vt:lpstr>
      <vt:lpstr>محل تعبیه آویز در سقف‌ها</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monfared</dc:creator>
  <cp:lastModifiedBy>Admin</cp:lastModifiedBy>
  <cp:revision>13</cp:revision>
  <dcterms:created xsi:type="dcterms:W3CDTF">2012-12-22T11:16:25Z</dcterms:created>
  <dcterms:modified xsi:type="dcterms:W3CDTF">2022-11-28T09:43:28Z</dcterms:modified>
</cp:coreProperties>
</file>