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310" r:id="rId5"/>
    <p:sldId id="311" r:id="rId6"/>
    <p:sldId id="305" r:id="rId7"/>
    <p:sldId id="312" r:id="rId8"/>
    <p:sldId id="274" r:id="rId9"/>
    <p:sldId id="286" r:id="rId10"/>
    <p:sldId id="279" r:id="rId11"/>
    <p:sldId id="306" r:id="rId12"/>
    <p:sldId id="335" r:id="rId13"/>
    <p:sldId id="336" r:id="rId14"/>
    <p:sldId id="313" r:id="rId15"/>
    <p:sldId id="314" r:id="rId16"/>
    <p:sldId id="337" r:id="rId17"/>
    <p:sldId id="315" r:id="rId18"/>
    <p:sldId id="338" r:id="rId19"/>
    <p:sldId id="339" r:id="rId20"/>
    <p:sldId id="329" r:id="rId21"/>
    <p:sldId id="340" r:id="rId22"/>
    <p:sldId id="330" r:id="rId23"/>
    <p:sldId id="331" r:id="rId24"/>
    <p:sldId id="341" r:id="rId25"/>
    <p:sldId id="332" r:id="rId26"/>
    <p:sldId id="333" r:id="rId27"/>
    <p:sldId id="342" r:id="rId28"/>
    <p:sldId id="316" r:id="rId29"/>
    <p:sldId id="302" r:id="rId30"/>
    <p:sldId id="317" r:id="rId31"/>
    <p:sldId id="307" r:id="rId32"/>
    <p:sldId id="352" r:id="rId33"/>
    <p:sldId id="348" r:id="rId34"/>
    <p:sldId id="349" r:id="rId35"/>
    <p:sldId id="350" r:id="rId36"/>
    <p:sldId id="351" r:id="rId37"/>
    <p:sldId id="309" r:id="rId38"/>
    <p:sldId id="343" r:id="rId39"/>
    <p:sldId id="344" r:id="rId40"/>
    <p:sldId id="345" r:id="rId41"/>
    <p:sldId id="320" r:id="rId42"/>
    <p:sldId id="321" r:id="rId43"/>
    <p:sldId id="322" r:id="rId44"/>
    <p:sldId id="323" r:id="rId45"/>
    <p:sldId id="324" r:id="rId46"/>
    <p:sldId id="325" r:id="rId47"/>
    <p:sldId id="326" r:id="rId48"/>
    <p:sldId id="347" r:id="rId49"/>
    <p:sldId id="327" r:id="rId50"/>
    <p:sldId id="308" r:id="rId51"/>
    <p:sldId id="346" r:id="rId52"/>
    <p:sldId id="328" r:id="rId53"/>
    <p:sldId id="353" r:id="rId54"/>
    <p:sldId id="27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 id="4" name="zahra" initials="z" lastIdx="1" clrIdx="3">
    <p:extLst>
      <p:ext uri="{19B8F6BF-5375-455C-9EA6-DF929625EA0E}">
        <p15:presenceInfo xmlns:p15="http://schemas.microsoft.com/office/powerpoint/2012/main" userId="zahr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CF3D1"/>
    <a:srgbClr val="4A5EE6"/>
    <a:srgbClr val="132BDC"/>
    <a:srgbClr val="DCE0FC"/>
    <a:srgbClr val="FDF200"/>
    <a:srgbClr val="80FB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26"/>
  </p:normalViewPr>
  <p:slideViewPr>
    <p:cSldViewPr snapToGrid="0">
      <p:cViewPr varScale="1">
        <p:scale>
          <a:sx n="80" d="100"/>
          <a:sy n="80" d="100"/>
        </p:scale>
        <p:origin x="845" y="67"/>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5F2CA3-936A-4392-BB02-D8550B1BA39E}" type="doc">
      <dgm:prSet loTypeId="urn:microsoft.com/office/officeart/2005/8/layout/vList3" loCatId="picture" qsTypeId="urn:microsoft.com/office/officeart/2005/8/quickstyle/simple1" qsCatId="simple" csTypeId="urn:microsoft.com/office/officeart/2005/8/colors/accent1_2" csCatId="accent1" phldr="1"/>
      <dgm:spPr/>
    </dgm:pt>
    <dgm:pt modelId="{7DC39341-AF54-4EC6-9E25-AB060DABA2B3}" type="pres">
      <dgm:prSet presAssocID="{C95F2CA3-936A-4392-BB02-D8550B1BA39E}" presName="linearFlow" presStyleCnt="0">
        <dgm:presLayoutVars>
          <dgm:dir/>
          <dgm:resizeHandles val="exact"/>
        </dgm:presLayoutVars>
      </dgm:prSet>
      <dgm:spPr/>
    </dgm:pt>
  </dgm:ptLst>
  <dgm:cxnLst>
    <dgm:cxn modelId="{D9B71BC2-B999-4E09-B255-46B8FA326071}" type="presOf" srcId="{C95F2CA3-936A-4392-BB02-D8550B1BA39E}" destId="{7DC39341-AF54-4EC6-9E25-AB060DABA2B3}" srcOrd="0"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5F2CA3-936A-4392-BB02-D8550B1BA39E}" type="doc">
      <dgm:prSet loTypeId="urn:microsoft.com/office/officeart/2005/8/layout/vList3" loCatId="picture" qsTypeId="urn:microsoft.com/office/officeart/2005/8/quickstyle/simple1" qsCatId="simple" csTypeId="urn:microsoft.com/office/officeart/2005/8/colors/accent1_2" csCatId="accent1" phldr="1"/>
      <dgm:spPr/>
    </dgm:pt>
    <dgm:pt modelId="{16CA1B6A-9748-45F8-8609-4B9686AC9037}">
      <dgm:prSet custT="1"/>
      <dgm:spPr/>
      <dgm:t>
        <a:bodyPr/>
        <a:lstStyle/>
        <a:p>
          <a:r>
            <a:rPr lang="ar-SA" sz="2400" dirty="0">
              <a:solidFill>
                <a:srgbClr val="000000"/>
              </a:solidFill>
              <a:cs typeface="B Yekan" panose="00000400000000000000" pitchFamily="2" charset="-78"/>
            </a:rPr>
            <a:t>بخشی از فرآیند طراحی است که براساس نتایج طراحی پایه و انجام محاسبات مهندسی, مشخصات و جزییات اجرایی طرح یا پروژه در بخشهای مختلف طراحی شده و مدارک لازم برای عملیات اجرایی و نصب و راه اندازی مبتنی بر مهندسی ارزش تهیه می شود.</a:t>
          </a:r>
          <a:endParaRPr lang="en-US" sz="2400" dirty="0">
            <a:solidFill>
              <a:srgbClr val="000000"/>
            </a:solidFill>
            <a:cs typeface="B Yekan" panose="00000400000000000000" pitchFamily="2" charset="-78"/>
          </a:endParaRPr>
        </a:p>
      </dgm:t>
    </dgm:pt>
    <dgm:pt modelId="{E7BB3036-5D8D-4476-905A-F5C001B3AD45}" type="parTrans" cxnId="{4FB28FDD-FB24-4E52-872D-4BFDEA7A0A35}">
      <dgm:prSet/>
      <dgm:spPr/>
      <dgm:t>
        <a:bodyPr/>
        <a:lstStyle/>
        <a:p>
          <a:endParaRPr lang="en-US"/>
        </a:p>
      </dgm:t>
    </dgm:pt>
    <dgm:pt modelId="{7AAAA375-A650-4E22-8B06-32E0B4104D21}" type="sibTrans" cxnId="{4FB28FDD-FB24-4E52-872D-4BFDEA7A0A35}">
      <dgm:prSet/>
      <dgm:spPr/>
      <dgm:t>
        <a:bodyPr/>
        <a:lstStyle/>
        <a:p>
          <a:endParaRPr lang="en-US"/>
        </a:p>
      </dgm:t>
    </dgm:pt>
    <dgm:pt modelId="{7DC39341-AF54-4EC6-9E25-AB060DABA2B3}" type="pres">
      <dgm:prSet presAssocID="{C95F2CA3-936A-4392-BB02-D8550B1BA39E}" presName="linearFlow" presStyleCnt="0">
        <dgm:presLayoutVars>
          <dgm:dir/>
          <dgm:resizeHandles val="exact"/>
        </dgm:presLayoutVars>
      </dgm:prSet>
      <dgm:spPr/>
    </dgm:pt>
    <dgm:pt modelId="{AEF8BE9B-92F1-4A9E-B903-4E1208366C2D}" type="pres">
      <dgm:prSet presAssocID="{16CA1B6A-9748-45F8-8609-4B9686AC9037}" presName="composite" presStyleCnt="0"/>
      <dgm:spPr/>
    </dgm:pt>
    <dgm:pt modelId="{C6A66AA6-8CAC-4E95-A866-C50FD978F644}" type="pres">
      <dgm:prSet presAssocID="{16CA1B6A-9748-45F8-8609-4B9686AC9037}" presName="imgShp" presStyleLbl="fgImgPlace1" presStyleIdx="0" presStyleCnt="1"/>
      <dgm:spPr/>
    </dgm:pt>
    <dgm:pt modelId="{2442A950-FAAF-4EAA-94A1-26250907EF3A}" type="pres">
      <dgm:prSet presAssocID="{16CA1B6A-9748-45F8-8609-4B9686AC9037}" presName="txShp" presStyleLbl="node1" presStyleIdx="0" presStyleCnt="1">
        <dgm:presLayoutVars>
          <dgm:bulletEnabled val="1"/>
        </dgm:presLayoutVars>
      </dgm:prSet>
      <dgm:spPr/>
    </dgm:pt>
  </dgm:ptLst>
  <dgm:cxnLst>
    <dgm:cxn modelId="{D9B71BC2-B999-4E09-B255-46B8FA326071}" type="presOf" srcId="{C95F2CA3-936A-4392-BB02-D8550B1BA39E}" destId="{7DC39341-AF54-4EC6-9E25-AB060DABA2B3}" srcOrd="0" destOrd="0" presId="urn:microsoft.com/office/officeart/2005/8/layout/vList3"/>
    <dgm:cxn modelId="{4FB28FDD-FB24-4E52-872D-4BFDEA7A0A35}" srcId="{C95F2CA3-936A-4392-BB02-D8550B1BA39E}" destId="{16CA1B6A-9748-45F8-8609-4B9686AC9037}" srcOrd="0" destOrd="0" parTransId="{E7BB3036-5D8D-4476-905A-F5C001B3AD45}" sibTransId="{7AAAA375-A650-4E22-8B06-32E0B4104D21}"/>
    <dgm:cxn modelId="{FE26C2E0-689B-4485-8F73-AA7CBBD6A1D4}" type="presOf" srcId="{16CA1B6A-9748-45F8-8609-4B9686AC9037}" destId="{2442A950-FAAF-4EAA-94A1-26250907EF3A}" srcOrd="0" destOrd="0" presId="urn:microsoft.com/office/officeart/2005/8/layout/vList3"/>
    <dgm:cxn modelId="{D27311C4-C2AA-47BD-80C7-A64BE7567652}" type="presParOf" srcId="{7DC39341-AF54-4EC6-9E25-AB060DABA2B3}" destId="{AEF8BE9B-92F1-4A9E-B903-4E1208366C2D}" srcOrd="0" destOrd="0" presId="urn:microsoft.com/office/officeart/2005/8/layout/vList3"/>
    <dgm:cxn modelId="{A1F610ED-042E-47F3-856D-1EBE80BB7EC3}" type="presParOf" srcId="{AEF8BE9B-92F1-4A9E-B903-4E1208366C2D}" destId="{C6A66AA6-8CAC-4E95-A866-C50FD978F644}" srcOrd="0" destOrd="0" presId="urn:microsoft.com/office/officeart/2005/8/layout/vList3"/>
    <dgm:cxn modelId="{770DCCF5-C57A-4A67-8EB3-75B3C82C5EDB}" type="presParOf" srcId="{AEF8BE9B-92F1-4A9E-B903-4E1208366C2D}" destId="{2442A950-FAAF-4EAA-94A1-26250907EF3A}"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5F2CA3-936A-4392-BB02-D8550B1BA39E}" type="doc">
      <dgm:prSet loTypeId="urn:microsoft.com/office/officeart/2005/8/layout/vList3" loCatId="picture" qsTypeId="urn:microsoft.com/office/officeart/2005/8/quickstyle/simple1" qsCatId="simple" csTypeId="urn:microsoft.com/office/officeart/2005/8/colors/accent1_2" csCatId="accent1" phldr="1"/>
      <dgm:spPr/>
    </dgm:pt>
    <dgm:pt modelId="{4F9F2BDA-A19C-47DD-862B-B475D2ECD156}">
      <dgm:prSet custT="1"/>
      <dgm:spPr/>
      <dgm:t>
        <a:bodyPr/>
        <a:lstStyle/>
        <a:p>
          <a:pPr>
            <a:buNone/>
          </a:pPr>
          <a:r>
            <a:rPr lang="fa-IR" sz="2400" dirty="0">
              <a:solidFill>
                <a:srgbClr val="000000"/>
              </a:solidFill>
              <a:cs typeface="B Yekan" panose="00000400000000000000" pitchFamily="2" charset="-78"/>
            </a:rPr>
            <a:t>انجام فعالیتهای مربوط به تامین کالا, عمیات اجرایی (ساختمان و نصب) و سازماندهی برای بهره برداری است.</a:t>
          </a:r>
        </a:p>
      </dgm:t>
    </dgm:pt>
    <dgm:pt modelId="{048618C3-DD9A-48D1-9221-2F847D5BEE9C}" type="parTrans" cxnId="{9AC2F5CC-E44F-4A1C-B337-64FE1CAC24DA}">
      <dgm:prSet/>
      <dgm:spPr/>
      <dgm:t>
        <a:bodyPr/>
        <a:lstStyle/>
        <a:p>
          <a:endParaRPr lang="en-US"/>
        </a:p>
      </dgm:t>
    </dgm:pt>
    <dgm:pt modelId="{3E579909-2A26-4C6B-9BCA-856B9CA252AD}" type="sibTrans" cxnId="{9AC2F5CC-E44F-4A1C-B337-64FE1CAC24DA}">
      <dgm:prSet/>
      <dgm:spPr/>
      <dgm:t>
        <a:bodyPr/>
        <a:lstStyle/>
        <a:p>
          <a:endParaRPr lang="en-US"/>
        </a:p>
      </dgm:t>
    </dgm:pt>
    <dgm:pt modelId="{7DC39341-AF54-4EC6-9E25-AB060DABA2B3}" type="pres">
      <dgm:prSet presAssocID="{C95F2CA3-936A-4392-BB02-D8550B1BA39E}" presName="linearFlow" presStyleCnt="0">
        <dgm:presLayoutVars>
          <dgm:dir/>
          <dgm:resizeHandles val="exact"/>
        </dgm:presLayoutVars>
      </dgm:prSet>
      <dgm:spPr/>
    </dgm:pt>
    <dgm:pt modelId="{47EC77AA-A46B-42CF-836C-2F8BCDDB7BA7}" type="pres">
      <dgm:prSet presAssocID="{4F9F2BDA-A19C-47DD-862B-B475D2ECD156}" presName="composite" presStyleCnt="0"/>
      <dgm:spPr/>
    </dgm:pt>
    <dgm:pt modelId="{1FBF462F-9ECD-42A8-BC56-FE8E69463A8B}" type="pres">
      <dgm:prSet presAssocID="{4F9F2BDA-A19C-47DD-862B-B475D2ECD156}" presName="imgShp" presStyleLbl="fgImgPlace1" presStyleIdx="0" presStyleCnt="1"/>
      <dgm:spPr/>
    </dgm:pt>
    <dgm:pt modelId="{2393A164-413D-4F44-954B-47AFA6B33A28}" type="pres">
      <dgm:prSet presAssocID="{4F9F2BDA-A19C-47DD-862B-B475D2ECD156}" presName="txShp" presStyleLbl="node1" presStyleIdx="0" presStyleCnt="1">
        <dgm:presLayoutVars>
          <dgm:bulletEnabled val="1"/>
        </dgm:presLayoutVars>
      </dgm:prSet>
      <dgm:spPr/>
    </dgm:pt>
  </dgm:ptLst>
  <dgm:cxnLst>
    <dgm:cxn modelId="{FEEA325D-45C0-4A97-B54F-4AF95BED69AE}" type="presOf" srcId="{4F9F2BDA-A19C-47DD-862B-B475D2ECD156}" destId="{2393A164-413D-4F44-954B-47AFA6B33A28}" srcOrd="0" destOrd="0" presId="urn:microsoft.com/office/officeart/2005/8/layout/vList3"/>
    <dgm:cxn modelId="{D9B71BC2-B999-4E09-B255-46B8FA326071}" type="presOf" srcId="{C95F2CA3-936A-4392-BB02-D8550B1BA39E}" destId="{7DC39341-AF54-4EC6-9E25-AB060DABA2B3}" srcOrd="0" destOrd="0" presId="urn:microsoft.com/office/officeart/2005/8/layout/vList3"/>
    <dgm:cxn modelId="{9AC2F5CC-E44F-4A1C-B337-64FE1CAC24DA}" srcId="{C95F2CA3-936A-4392-BB02-D8550B1BA39E}" destId="{4F9F2BDA-A19C-47DD-862B-B475D2ECD156}" srcOrd="0" destOrd="0" parTransId="{048618C3-DD9A-48D1-9221-2F847D5BEE9C}" sibTransId="{3E579909-2A26-4C6B-9BCA-856B9CA252AD}"/>
    <dgm:cxn modelId="{A4A00DBF-E448-47E4-95D9-20E1B7496E36}" type="presParOf" srcId="{7DC39341-AF54-4EC6-9E25-AB060DABA2B3}" destId="{47EC77AA-A46B-42CF-836C-2F8BCDDB7BA7}" srcOrd="0" destOrd="0" presId="urn:microsoft.com/office/officeart/2005/8/layout/vList3"/>
    <dgm:cxn modelId="{B97CACA3-6287-48BE-913B-0675137AE0E7}" type="presParOf" srcId="{47EC77AA-A46B-42CF-836C-2F8BCDDB7BA7}" destId="{1FBF462F-9ECD-42A8-BC56-FE8E69463A8B}" srcOrd="0" destOrd="0" presId="urn:microsoft.com/office/officeart/2005/8/layout/vList3"/>
    <dgm:cxn modelId="{38A993C7-1B5B-467E-AAE6-FD0DD5D8141E}" type="presParOf" srcId="{47EC77AA-A46B-42CF-836C-2F8BCDDB7BA7}" destId="{2393A164-413D-4F44-954B-47AFA6B33A28}"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A966AA-C2D0-420D-89FC-1A1AB0AD4072}" type="doc">
      <dgm:prSet loTypeId="urn:microsoft.com/office/officeart/2005/8/layout/chevronAccent+Icon" loCatId="process" qsTypeId="urn:microsoft.com/office/officeart/2005/8/quickstyle/simple1" qsCatId="simple" csTypeId="urn:microsoft.com/office/officeart/2005/8/colors/accent1_2" csCatId="accent1" phldr="1"/>
      <dgm:spPr/>
      <dgm:t>
        <a:bodyPr/>
        <a:lstStyle/>
        <a:p>
          <a:endParaRPr lang="en-US"/>
        </a:p>
      </dgm:t>
    </dgm:pt>
    <dgm:pt modelId="{AD372965-3A73-486D-ABE7-C347DAB22EFA}">
      <dgm:prSet custT="1"/>
      <dgm:spPr/>
      <dgm:t>
        <a:bodyPr/>
        <a:lstStyle/>
        <a:p>
          <a:pPr algn="ctr">
            <a:buNone/>
          </a:pPr>
          <a:r>
            <a:rPr lang="ar-SA" sz="2000" b="1">
              <a:solidFill>
                <a:schemeClr val="tx1"/>
              </a:solidFill>
              <a:latin typeface="+mj-lt"/>
              <a:cs typeface="B Yekan" panose="00000400000000000000" pitchFamily="2" charset="-78"/>
            </a:rPr>
            <a:t>واژههای مدیریت پروژه</a:t>
          </a:r>
          <a:endParaRPr lang="en-US" sz="2000" b="1" dirty="0">
            <a:solidFill>
              <a:schemeClr val="tx1"/>
            </a:solidFill>
            <a:latin typeface="+mj-lt"/>
            <a:cs typeface="B Yekan" panose="00000400000000000000" pitchFamily="2" charset="-78"/>
          </a:endParaRPr>
        </a:p>
      </dgm:t>
    </dgm:pt>
    <dgm:pt modelId="{D8C7F6F5-FBFF-44AF-8E86-DA4BF89B3B55}" type="parTrans" cxnId="{2650E9B1-9792-4220-A5D3-EA9DAA022A18}">
      <dgm:prSet/>
      <dgm:spPr/>
      <dgm:t>
        <a:bodyPr/>
        <a:lstStyle/>
        <a:p>
          <a:endParaRPr lang="en-US"/>
        </a:p>
      </dgm:t>
    </dgm:pt>
    <dgm:pt modelId="{4614302A-EBE9-4F74-8C2B-B301A1BC1FF8}" type="sibTrans" cxnId="{2650E9B1-9792-4220-A5D3-EA9DAA022A18}">
      <dgm:prSet/>
      <dgm:spPr/>
      <dgm:t>
        <a:bodyPr/>
        <a:lstStyle/>
        <a:p>
          <a:endParaRPr lang="en-US"/>
        </a:p>
      </dgm:t>
    </dgm:pt>
    <dgm:pt modelId="{92C44BE6-337F-4B09-B331-943784BAE9E8}">
      <dgm:prSet custT="1"/>
      <dgm:spPr/>
      <dgm:t>
        <a:bodyPr/>
        <a:lstStyle/>
        <a:p>
          <a:pPr algn="ctr">
            <a:buNone/>
          </a:pPr>
          <a:r>
            <a:rPr lang="ar-SA" sz="2000" b="1">
              <a:solidFill>
                <a:schemeClr val="tx1"/>
              </a:solidFill>
              <a:latin typeface="+mj-lt"/>
              <a:cs typeface="B Yekan" panose="00000400000000000000" pitchFamily="2" charset="-78"/>
            </a:rPr>
            <a:t>واژههای معیارهای فنی</a:t>
          </a:r>
          <a:endParaRPr lang="en-US" sz="2000" b="1" dirty="0">
            <a:solidFill>
              <a:schemeClr val="tx1"/>
            </a:solidFill>
            <a:latin typeface="+mj-lt"/>
            <a:cs typeface="B Yekan" panose="00000400000000000000" pitchFamily="2" charset="-78"/>
          </a:endParaRPr>
        </a:p>
      </dgm:t>
    </dgm:pt>
    <dgm:pt modelId="{4DD95D32-AFA2-49C5-8BA2-045F6B8591AE}" type="parTrans" cxnId="{AE45624F-6780-478C-8BD1-DCEC1858DEC3}">
      <dgm:prSet/>
      <dgm:spPr/>
      <dgm:t>
        <a:bodyPr/>
        <a:lstStyle/>
        <a:p>
          <a:endParaRPr lang="en-US"/>
        </a:p>
      </dgm:t>
    </dgm:pt>
    <dgm:pt modelId="{44F303BD-D130-4B4A-A827-60F93F0516AE}" type="sibTrans" cxnId="{AE45624F-6780-478C-8BD1-DCEC1858DEC3}">
      <dgm:prSet/>
      <dgm:spPr/>
      <dgm:t>
        <a:bodyPr/>
        <a:lstStyle/>
        <a:p>
          <a:endParaRPr lang="en-US"/>
        </a:p>
      </dgm:t>
    </dgm:pt>
    <dgm:pt modelId="{C5884786-1686-4E4A-B202-B682CD603B7F}">
      <dgm:prSet custT="1"/>
      <dgm:spPr/>
      <dgm:t>
        <a:bodyPr/>
        <a:lstStyle/>
        <a:p>
          <a:pPr algn="ctr">
            <a:buNone/>
          </a:pPr>
          <a:r>
            <a:rPr lang="ar-SA" sz="2000" b="1">
              <a:solidFill>
                <a:schemeClr val="tx1"/>
              </a:solidFill>
              <a:latin typeface="+mj-lt"/>
              <a:cs typeface="B Yekan" panose="00000400000000000000" pitchFamily="2" charset="-78"/>
            </a:rPr>
            <a:t>واژههای قراردادها و شرح خدمات</a:t>
          </a:r>
          <a:endParaRPr lang="en-US" sz="2000" b="1" dirty="0">
            <a:solidFill>
              <a:schemeClr val="tx1"/>
            </a:solidFill>
            <a:latin typeface="+mj-lt"/>
            <a:cs typeface="B Yekan" panose="00000400000000000000" pitchFamily="2" charset="-78"/>
          </a:endParaRPr>
        </a:p>
      </dgm:t>
    </dgm:pt>
    <dgm:pt modelId="{5A6322A5-C30B-4B7C-B84C-7983520C5B66}" type="sibTrans" cxnId="{0C9EA85F-5B2D-4CFB-8187-BB9AA77D8A3F}">
      <dgm:prSet/>
      <dgm:spPr/>
      <dgm:t>
        <a:bodyPr/>
        <a:lstStyle/>
        <a:p>
          <a:endParaRPr lang="en-US"/>
        </a:p>
      </dgm:t>
    </dgm:pt>
    <dgm:pt modelId="{B585BFBE-8E9D-46FA-854C-13E618560402}" type="parTrans" cxnId="{0C9EA85F-5B2D-4CFB-8187-BB9AA77D8A3F}">
      <dgm:prSet/>
      <dgm:spPr/>
      <dgm:t>
        <a:bodyPr/>
        <a:lstStyle/>
        <a:p>
          <a:endParaRPr lang="en-US"/>
        </a:p>
      </dgm:t>
    </dgm:pt>
    <dgm:pt modelId="{A3703FC4-0706-4114-A174-7D0ACDE803B0}" type="pres">
      <dgm:prSet presAssocID="{B6A966AA-C2D0-420D-89FC-1A1AB0AD4072}" presName="Name0" presStyleCnt="0">
        <dgm:presLayoutVars>
          <dgm:dir/>
          <dgm:resizeHandles val="exact"/>
        </dgm:presLayoutVars>
      </dgm:prSet>
      <dgm:spPr/>
    </dgm:pt>
    <dgm:pt modelId="{D032243E-4A30-4DBB-AFA5-AD791A47C2E7}" type="pres">
      <dgm:prSet presAssocID="{AD372965-3A73-486D-ABE7-C347DAB22EFA}" presName="composite" presStyleCnt="0"/>
      <dgm:spPr/>
    </dgm:pt>
    <dgm:pt modelId="{CF060867-AAE6-43EB-9535-4E8B5E51BE5F}" type="pres">
      <dgm:prSet presAssocID="{AD372965-3A73-486D-ABE7-C347DAB22EFA}" presName="bgChev" presStyleLbl="node1" presStyleIdx="0" presStyleCnt="3"/>
      <dgm:spPr/>
    </dgm:pt>
    <dgm:pt modelId="{397AF1BB-6005-4B0C-A52E-978638D77AE9}" type="pres">
      <dgm:prSet presAssocID="{AD372965-3A73-486D-ABE7-C347DAB22EFA}" presName="txNode" presStyleLbl="fgAcc1" presStyleIdx="0" presStyleCnt="3">
        <dgm:presLayoutVars>
          <dgm:bulletEnabled val="1"/>
        </dgm:presLayoutVars>
      </dgm:prSet>
      <dgm:spPr/>
    </dgm:pt>
    <dgm:pt modelId="{57A46F02-2B82-4C6C-B51C-204C7485E71C}" type="pres">
      <dgm:prSet presAssocID="{4614302A-EBE9-4F74-8C2B-B301A1BC1FF8}" presName="compositeSpace" presStyleCnt="0"/>
      <dgm:spPr/>
    </dgm:pt>
    <dgm:pt modelId="{C1027F24-36C5-42B0-8F42-59518B1D165A}" type="pres">
      <dgm:prSet presAssocID="{92C44BE6-337F-4B09-B331-943784BAE9E8}" presName="composite" presStyleCnt="0"/>
      <dgm:spPr/>
    </dgm:pt>
    <dgm:pt modelId="{5EF4C1C7-89E6-479D-A90D-FA1792D27BB0}" type="pres">
      <dgm:prSet presAssocID="{92C44BE6-337F-4B09-B331-943784BAE9E8}" presName="bgChev" presStyleLbl="node1" presStyleIdx="1" presStyleCnt="3"/>
      <dgm:spPr/>
    </dgm:pt>
    <dgm:pt modelId="{807F7956-A66C-4540-ADFD-93D306C083BB}" type="pres">
      <dgm:prSet presAssocID="{92C44BE6-337F-4B09-B331-943784BAE9E8}" presName="txNode" presStyleLbl="fgAcc1" presStyleIdx="1" presStyleCnt="3">
        <dgm:presLayoutVars>
          <dgm:bulletEnabled val="1"/>
        </dgm:presLayoutVars>
      </dgm:prSet>
      <dgm:spPr/>
    </dgm:pt>
    <dgm:pt modelId="{502888C5-BB3B-4BD1-9A41-38B818CAC073}" type="pres">
      <dgm:prSet presAssocID="{44F303BD-D130-4B4A-A827-60F93F0516AE}" presName="compositeSpace" presStyleCnt="0"/>
      <dgm:spPr/>
    </dgm:pt>
    <dgm:pt modelId="{A7508F8C-653C-44F4-9107-022C824FD23D}" type="pres">
      <dgm:prSet presAssocID="{C5884786-1686-4E4A-B202-B682CD603B7F}" presName="composite" presStyleCnt="0"/>
      <dgm:spPr/>
    </dgm:pt>
    <dgm:pt modelId="{BFB96682-62C9-4191-BBC1-E3B21F275FB6}" type="pres">
      <dgm:prSet presAssocID="{C5884786-1686-4E4A-B202-B682CD603B7F}" presName="bgChev" presStyleLbl="node1" presStyleIdx="2" presStyleCnt="3"/>
      <dgm:spPr/>
    </dgm:pt>
    <dgm:pt modelId="{969E3199-3EE7-45AB-99A6-3D3419B94A2A}" type="pres">
      <dgm:prSet presAssocID="{C5884786-1686-4E4A-B202-B682CD603B7F}" presName="txNode" presStyleLbl="fgAcc1" presStyleIdx="2" presStyleCnt="3">
        <dgm:presLayoutVars>
          <dgm:bulletEnabled val="1"/>
        </dgm:presLayoutVars>
      </dgm:prSet>
      <dgm:spPr/>
    </dgm:pt>
  </dgm:ptLst>
  <dgm:cxnLst>
    <dgm:cxn modelId="{0C9EA85F-5B2D-4CFB-8187-BB9AA77D8A3F}" srcId="{B6A966AA-C2D0-420D-89FC-1A1AB0AD4072}" destId="{C5884786-1686-4E4A-B202-B682CD603B7F}" srcOrd="2" destOrd="0" parTransId="{B585BFBE-8E9D-46FA-854C-13E618560402}" sibTransId="{5A6322A5-C30B-4B7C-B84C-7983520C5B66}"/>
    <dgm:cxn modelId="{954DA962-075F-4FD2-93E7-47D48D5B8F21}" type="presOf" srcId="{AD372965-3A73-486D-ABE7-C347DAB22EFA}" destId="{397AF1BB-6005-4B0C-A52E-978638D77AE9}" srcOrd="0" destOrd="0" presId="urn:microsoft.com/office/officeart/2005/8/layout/chevronAccent+Icon"/>
    <dgm:cxn modelId="{7A826F64-2FEE-4C9A-BBA8-9450966753C3}" type="presOf" srcId="{B6A966AA-C2D0-420D-89FC-1A1AB0AD4072}" destId="{A3703FC4-0706-4114-A174-7D0ACDE803B0}" srcOrd="0" destOrd="0" presId="urn:microsoft.com/office/officeart/2005/8/layout/chevronAccent+Icon"/>
    <dgm:cxn modelId="{AE45624F-6780-478C-8BD1-DCEC1858DEC3}" srcId="{B6A966AA-C2D0-420D-89FC-1A1AB0AD4072}" destId="{92C44BE6-337F-4B09-B331-943784BAE9E8}" srcOrd="1" destOrd="0" parTransId="{4DD95D32-AFA2-49C5-8BA2-045F6B8591AE}" sibTransId="{44F303BD-D130-4B4A-A827-60F93F0516AE}"/>
    <dgm:cxn modelId="{79FC135A-A11E-421E-B944-AAD10210A1DE}" type="presOf" srcId="{C5884786-1686-4E4A-B202-B682CD603B7F}" destId="{969E3199-3EE7-45AB-99A6-3D3419B94A2A}" srcOrd="0" destOrd="0" presId="urn:microsoft.com/office/officeart/2005/8/layout/chevronAccent+Icon"/>
    <dgm:cxn modelId="{2650E9B1-9792-4220-A5D3-EA9DAA022A18}" srcId="{B6A966AA-C2D0-420D-89FC-1A1AB0AD4072}" destId="{AD372965-3A73-486D-ABE7-C347DAB22EFA}" srcOrd="0" destOrd="0" parTransId="{D8C7F6F5-FBFF-44AF-8E86-DA4BF89B3B55}" sibTransId="{4614302A-EBE9-4F74-8C2B-B301A1BC1FF8}"/>
    <dgm:cxn modelId="{B91097E0-6784-42CB-B108-4EBB79CD5CAE}" type="presOf" srcId="{92C44BE6-337F-4B09-B331-943784BAE9E8}" destId="{807F7956-A66C-4540-ADFD-93D306C083BB}" srcOrd="0" destOrd="0" presId="urn:microsoft.com/office/officeart/2005/8/layout/chevronAccent+Icon"/>
    <dgm:cxn modelId="{C8721B62-1CFB-4F38-8FBA-8AC15EB01270}" type="presParOf" srcId="{A3703FC4-0706-4114-A174-7D0ACDE803B0}" destId="{D032243E-4A30-4DBB-AFA5-AD791A47C2E7}" srcOrd="0" destOrd="0" presId="urn:microsoft.com/office/officeart/2005/8/layout/chevronAccent+Icon"/>
    <dgm:cxn modelId="{F2D59902-6293-4491-ADE6-84159C6E20CD}" type="presParOf" srcId="{D032243E-4A30-4DBB-AFA5-AD791A47C2E7}" destId="{CF060867-AAE6-43EB-9535-4E8B5E51BE5F}" srcOrd="0" destOrd="0" presId="urn:microsoft.com/office/officeart/2005/8/layout/chevronAccent+Icon"/>
    <dgm:cxn modelId="{99C51B94-2E9B-4834-B187-ADAF1FCF6928}" type="presParOf" srcId="{D032243E-4A30-4DBB-AFA5-AD791A47C2E7}" destId="{397AF1BB-6005-4B0C-A52E-978638D77AE9}" srcOrd="1" destOrd="0" presId="urn:microsoft.com/office/officeart/2005/8/layout/chevronAccent+Icon"/>
    <dgm:cxn modelId="{AAF574EC-116A-425E-914D-66CBA32D32E3}" type="presParOf" srcId="{A3703FC4-0706-4114-A174-7D0ACDE803B0}" destId="{57A46F02-2B82-4C6C-B51C-204C7485E71C}" srcOrd="1" destOrd="0" presId="urn:microsoft.com/office/officeart/2005/8/layout/chevronAccent+Icon"/>
    <dgm:cxn modelId="{9FE6018D-65E4-400E-9D03-B909780A2687}" type="presParOf" srcId="{A3703FC4-0706-4114-A174-7D0ACDE803B0}" destId="{C1027F24-36C5-42B0-8F42-59518B1D165A}" srcOrd="2" destOrd="0" presId="urn:microsoft.com/office/officeart/2005/8/layout/chevronAccent+Icon"/>
    <dgm:cxn modelId="{F0415478-CAF9-428A-A10B-B0BD5E66EF87}" type="presParOf" srcId="{C1027F24-36C5-42B0-8F42-59518B1D165A}" destId="{5EF4C1C7-89E6-479D-A90D-FA1792D27BB0}" srcOrd="0" destOrd="0" presId="urn:microsoft.com/office/officeart/2005/8/layout/chevronAccent+Icon"/>
    <dgm:cxn modelId="{1DE9FBDF-CD32-4E4C-B126-EA2FB7D73CB4}" type="presParOf" srcId="{C1027F24-36C5-42B0-8F42-59518B1D165A}" destId="{807F7956-A66C-4540-ADFD-93D306C083BB}" srcOrd="1" destOrd="0" presId="urn:microsoft.com/office/officeart/2005/8/layout/chevronAccent+Icon"/>
    <dgm:cxn modelId="{831AEE37-A9F5-4BA5-A811-F2D6134BDB0E}" type="presParOf" srcId="{A3703FC4-0706-4114-A174-7D0ACDE803B0}" destId="{502888C5-BB3B-4BD1-9A41-38B818CAC073}" srcOrd="3" destOrd="0" presId="urn:microsoft.com/office/officeart/2005/8/layout/chevronAccent+Icon"/>
    <dgm:cxn modelId="{3FBB546C-4E79-42A8-95C4-910D92018B9D}" type="presParOf" srcId="{A3703FC4-0706-4114-A174-7D0ACDE803B0}" destId="{A7508F8C-653C-44F4-9107-022C824FD23D}" srcOrd="4" destOrd="0" presId="urn:microsoft.com/office/officeart/2005/8/layout/chevronAccent+Icon"/>
    <dgm:cxn modelId="{215B4D9E-E723-491D-8D48-DFF8180D8A01}" type="presParOf" srcId="{A7508F8C-653C-44F4-9107-022C824FD23D}" destId="{BFB96682-62C9-4191-BBC1-E3B21F275FB6}" srcOrd="0" destOrd="0" presId="urn:microsoft.com/office/officeart/2005/8/layout/chevronAccent+Icon"/>
    <dgm:cxn modelId="{D16E5F0B-C9F9-4485-B1CE-C2675F04D8D8}" type="presParOf" srcId="{A7508F8C-653C-44F4-9107-022C824FD23D}" destId="{969E3199-3EE7-45AB-99A6-3D3419B94A2A}" srcOrd="1" destOrd="0" presId="urn:microsoft.com/office/officeart/2005/8/layout/chevronAccent+Icon"/>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7E7142-7C11-4E13-B269-262F65D9BFB7}" type="doc">
      <dgm:prSet loTypeId="urn:microsoft.com/office/officeart/2005/8/layout/pList2" loCatId="list" qsTypeId="urn:microsoft.com/office/officeart/2005/8/quickstyle/simple1" qsCatId="simple" csTypeId="urn:microsoft.com/office/officeart/2005/8/colors/accent1_2" csCatId="accent1" phldr="1"/>
      <dgm:spPr/>
    </dgm:pt>
    <dgm:pt modelId="{6FF97FA9-4987-46A9-B7B0-F8E16744BEB7}">
      <dgm:prSet phldrT="[Text]" custT="1"/>
      <dgm:spPr/>
      <dgm:t>
        <a:bodyPr/>
        <a:lstStyle/>
        <a:p>
          <a:r>
            <a:rPr lang="fa-IR" sz="1400" dirty="0">
              <a:solidFill>
                <a:srgbClr val="000000"/>
              </a:solidFill>
              <a:cs typeface="B Yekan" panose="00000400000000000000" pitchFamily="2" charset="-78"/>
            </a:rPr>
            <a:t>دستگاه های اجرایی</a:t>
          </a:r>
          <a:endParaRPr lang="en-US" sz="1400" dirty="0">
            <a:solidFill>
              <a:srgbClr val="000000"/>
            </a:solidFill>
            <a:cs typeface="B Yekan" panose="00000400000000000000" pitchFamily="2" charset="-78"/>
          </a:endParaRPr>
        </a:p>
      </dgm:t>
    </dgm:pt>
    <dgm:pt modelId="{A24FD239-4FC2-4EF4-B927-039F4A0090A9}" type="sibTrans" cxnId="{B2BDE329-2785-4EB5-B715-87F8E36A4A48}">
      <dgm:prSet/>
      <dgm:spPr/>
      <dgm:t>
        <a:bodyPr/>
        <a:lstStyle/>
        <a:p>
          <a:endParaRPr lang="en-US"/>
        </a:p>
      </dgm:t>
    </dgm:pt>
    <dgm:pt modelId="{56DB1B8B-495B-4B2B-82FA-E243AE4D8C50}" type="parTrans" cxnId="{B2BDE329-2785-4EB5-B715-87F8E36A4A48}">
      <dgm:prSet/>
      <dgm:spPr/>
      <dgm:t>
        <a:bodyPr/>
        <a:lstStyle/>
        <a:p>
          <a:endParaRPr lang="en-US"/>
        </a:p>
      </dgm:t>
    </dgm:pt>
    <dgm:pt modelId="{F47C4D51-A7F0-4BEE-A25C-30F5C6CC0445}">
      <dgm:prSet custT="1"/>
      <dgm:spPr/>
      <dgm:t>
        <a:bodyPr/>
        <a:lstStyle/>
        <a:p>
          <a:r>
            <a:rPr lang="ar-SA" sz="2400" dirty="0">
              <a:solidFill>
                <a:srgbClr val="000000"/>
              </a:solidFill>
              <a:cs typeface="B Yekan" panose="00000400000000000000" pitchFamily="2" charset="-78"/>
            </a:rPr>
            <a:t>مشاوران، پیمانکاران، سازندگان و عرضه‌کنندگان کالا، اشخاص واجد صلاحیتی هستند که خدمات و یا کالا را برای دستگاه‌های اجرایی تأمین می‌کنند.</a:t>
          </a:r>
          <a:endParaRPr lang="en-US" sz="2400" dirty="0">
            <a:solidFill>
              <a:srgbClr val="000000"/>
            </a:solidFill>
            <a:cs typeface="B Yekan" panose="00000400000000000000" pitchFamily="2" charset="-78"/>
          </a:endParaRPr>
        </a:p>
      </dgm:t>
    </dgm:pt>
    <dgm:pt modelId="{06F12160-4322-4389-A0B1-13AF03AB8048}" type="parTrans" cxnId="{DA7785AA-55DD-413C-BE78-1A0970A2B904}">
      <dgm:prSet/>
      <dgm:spPr/>
      <dgm:t>
        <a:bodyPr/>
        <a:lstStyle/>
        <a:p>
          <a:endParaRPr lang="en-US"/>
        </a:p>
      </dgm:t>
    </dgm:pt>
    <dgm:pt modelId="{E1C7377C-26E1-4C56-83D2-A1B6CF6321C0}" type="sibTrans" cxnId="{DA7785AA-55DD-413C-BE78-1A0970A2B904}">
      <dgm:prSet/>
      <dgm:spPr/>
      <dgm:t>
        <a:bodyPr/>
        <a:lstStyle/>
        <a:p>
          <a:endParaRPr lang="en-US"/>
        </a:p>
      </dgm:t>
    </dgm:pt>
    <dgm:pt modelId="{C696D747-61F0-4795-8781-8B031B33045E}" type="pres">
      <dgm:prSet presAssocID="{E47E7142-7C11-4E13-B269-262F65D9BFB7}" presName="Name0" presStyleCnt="0">
        <dgm:presLayoutVars>
          <dgm:dir/>
          <dgm:resizeHandles val="exact"/>
        </dgm:presLayoutVars>
      </dgm:prSet>
      <dgm:spPr/>
    </dgm:pt>
    <dgm:pt modelId="{EF2CD6C6-DE03-4AFA-9E09-016249AF5949}" type="pres">
      <dgm:prSet presAssocID="{E47E7142-7C11-4E13-B269-262F65D9BFB7}" presName="bkgdShp" presStyleLbl="alignAccFollowNode1" presStyleIdx="0" presStyleCnt="1"/>
      <dgm:spPr/>
    </dgm:pt>
    <dgm:pt modelId="{ACC69E47-4EEB-44DB-992A-6DC9C45F6764}" type="pres">
      <dgm:prSet presAssocID="{E47E7142-7C11-4E13-B269-262F65D9BFB7}" presName="linComp" presStyleCnt="0"/>
      <dgm:spPr/>
    </dgm:pt>
    <dgm:pt modelId="{E9A454AB-1C94-4E96-A0DA-E7E6BB77797F}" type="pres">
      <dgm:prSet presAssocID="{6FF97FA9-4987-46A9-B7B0-F8E16744BEB7}" presName="compNode" presStyleCnt="0"/>
      <dgm:spPr/>
    </dgm:pt>
    <dgm:pt modelId="{11B6DDEB-D0AC-49C7-9A9D-0EE54BB08C8F}" type="pres">
      <dgm:prSet presAssocID="{6FF97FA9-4987-46A9-B7B0-F8E16744BEB7}" presName="node" presStyleLbl="node1" presStyleIdx="0" presStyleCnt="2">
        <dgm:presLayoutVars>
          <dgm:bulletEnabled val="1"/>
        </dgm:presLayoutVars>
      </dgm:prSet>
      <dgm:spPr/>
    </dgm:pt>
    <dgm:pt modelId="{F31B37A1-B7C0-445B-B580-84F44CC9E8F8}" type="pres">
      <dgm:prSet presAssocID="{6FF97FA9-4987-46A9-B7B0-F8E16744BEB7}" presName="invisiNode" presStyleLbl="node1" presStyleIdx="0" presStyleCnt="2"/>
      <dgm:spPr/>
    </dgm:pt>
    <dgm:pt modelId="{1F74C487-371C-4349-9A49-E9D562953E0C}" type="pres">
      <dgm:prSet presAssocID="{6FF97FA9-4987-46A9-B7B0-F8E16744BEB7}" presName="imagNode" presStyleLbl="fgImgPlace1" presStyleIdx="0" presStyleCnt="2" custLinFactNeighborX="339" custLinFactNeighborY="1582"/>
      <dgm:spPr/>
    </dgm:pt>
    <dgm:pt modelId="{03CC58FA-59B4-4DAD-B5E5-CF0AFC99D07A}" type="pres">
      <dgm:prSet presAssocID="{A24FD239-4FC2-4EF4-B927-039F4A0090A9}" presName="sibTrans" presStyleLbl="sibTrans2D1" presStyleIdx="0" presStyleCnt="0"/>
      <dgm:spPr/>
    </dgm:pt>
    <dgm:pt modelId="{596C6646-05AB-4CD1-A131-F5F03390F4EA}" type="pres">
      <dgm:prSet presAssocID="{F47C4D51-A7F0-4BEE-A25C-30F5C6CC0445}" presName="compNode" presStyleCnt="0"/>
      <dgm:spPr/>
    </dgm:pt>
    <dgm:pt modelId="{CD0D799A-F667-4C30-AEDC-87B8AB50E2AB}" type="pres">
      <dgm:prSet presAssocID="{F47C4D51-A7F0-4BEE-A25C-30F5C6CC0445}" presName="node" presStyleLbl="node1" presStyleIdx="1" presStyleCnt="2" custLinFactNeighborX="657" custLinFactNeighborY="0">
        <dgm:presLayoutVars>
          <dgm:bulletEnabled val="1"/>
        </dgm:presLayoutVars>
      </dgm:prSet>
      <dgm:spPr/>
    </dgm:pt>
    <dgm:pt modelId="{390BEEDC-1AF0-4702-8D9F-4280E5892B3D}" type="pres">
      <dgm:prSet presAssocID="{F47C4D51-A7F0-4BEE-A25C-30F5C6CC0445}" presName="invisiNode" presStyleLbl="node1" presStyleIdx="1" presStyleCnt="2"/>
      <dgm:spPr/>
    </dgm:pt>
    <dgm:pt modelId="{1CD32333-18E2-4011-BE78-B3150B310C85}" type="pres">
      <dgm:prSet presAssocID="{F47C4D51-A7F0-4BEE-A25C-30F5C6CC0445}" presName="imagNode" presStyleLbl="fgImgPlace1" presStyleIdx="1" presStyleCnt="2"/>
      <dgm:spPr/>
    </dgm:pt>
  </dgm:ptLst>
  <dgm:cxnLst>
    <dgm:cxn modelId="{7791360A-9C8C-4870-91DB-B9CD71019268}" type="presOf" srcId="{A24FD239-4FC2-4EF4-B927-039F4A0090A9}" destId="{03CC58FA-59B4-4DAD-B5E5-CF0AFC99D07A}" srcOrd="0" destOrd="0" presId="urn:microsoft.com/office/officeart/2005/8/layout/pList2"/>
    <dgm:cxn modelId="{9009F810-2233-4338-A005-AADE4C321DB1}" type="presOf" srcId="{E47E7142-7C11-4E13-B269-262F65D9BFB7}" destId="{C696D747-61F0-4795-8781-8B031B33045E}" srcOrd="0" destOrd="0" presId="urn:microsoft.com/office/officeart/2005/8/layout/pList2"/>
    <dgm:cxn modelId="{B2BDE329-2785-4EB5-B715-87F8E36A4A48}" srcId="{E47E7142-7C11-4E13-B269-262F65D9BFB7}" destId="{6FF97FA9-4987-46A9-B7B0-F8E16744BEB7}" srcOrd="0" destOrd="0" parTransId="{56DB1B8B-495B-4B2B-82FA-E243AE4D8C50}" sibTransId="{A24FD239-4FC2-4EF4-B927-039F4A0090A9}"/>
    <dgm:cxn modelId="{B5562691-4B8C-456D-8FD8-2CC4AD08A2DA}" type="presOf" srcId="{6FF97FA9-4987-46A9-B7B0-F8E16744BEB7}" destId="{11B6DDEB-D0AC-49C7-9A9D-0EE54BB08C8F}" srcOrd="0" destOrd="0" presId="urn:microsoft.com/office/officeart/2005/8/layout/pList2"/>
    <dgm:cxn modelId="{20ED5194-49E4-4EE8-AEBC-D66963F9FB1D}" type="presOf" srcId="{F47C4D51-A7F0-4BEE-A25C-30F5C6CC0445}" destId="{CD0D799A-F667-4C30-AEDC-87B8AB50E2AB}" srcOrd="0" destOrd="0" presId="urn:microsoft.com/office/officeart/2005/8/layout/pList2"/>
    <dgm:cxn modelId="{DA7785AA-55DD-413C-BE78-1A0970A2B904}" srcId="{E47E7142-7C11-4E13-B269-262F65D9BFB7}" destId="{F47C4D51-A7F0-4BEE-A25C-30F5C6CC0445}" srcOrd="1" destOrd="0" parTransId="{06F12160-4322-4389-A0B1-13AF03AB8048}" sibTransId="{E1C7377C-26E1-4C56-83D2-A1B6CF6321C0}"/>
    <dgm:cxn modelId="{2D56D4AA-3987-43C4-8564-1D8A5A5DC207}" type="presParOf" srcId="{C696D747-61F0-4795-8781-8B031B33045E}" destId="{EF2CD6C6-DE03-4AFA-9E09-016249AF5949}" srcOrd="0" destOrd="0" presId="urn:microsoft.com/office/officeart/2005/8/layout/pList2"/>
    <dgm:cxn modelId="{F511B93C-12EE-41A4-906E-05E7009EDE75}" type="presParOf" srcId="{C696D747-61F0-4795-8781-8B031B33045E}" destId="{ACC69E47-4EEB-44DB-992A-6DC9C45F6764}" srcOrd="1" destOrd="0" presId="urn:microsoft.com/office/officeart/2005/8/layout/pList2"/>
    <dgm:cxn modelId="{DCDD2901-ED60-403A-BBA2-09A0330D9B75}" type="presParOf" srcId="{ACC69E47-4EEB-44DB-992A-6DC9C45F6764}" destId="{E9A454AB-1C94-4E96-A0DA-E7E6BB77797F}" srcOrd="0" destOrd="0" presId="urn:microsoft.com/office/officeart/2005/8/layout/pList2"/>
    <dgm:cxn modelId="{F2C4C09F-6790-4A63-B928-DBCD63B8EF7F}" type="presParOf" srcId="{E9A454AB-1C94-4E96-A0DA-E7E6BB77797F}" destId="{11B6DDEB-D0AC-49C7-9A9D-0EE54BB08C8F}" srcOrd="0" destOrd="0" presId="urn:microsoft.com/office/officeart/2005/8/layout/pList2"/>
    <dgm:cxn modelId="{C94849A3-5906-4E67-8F28-2DF15F36C97E}" type="presParOf" srcId="{E9A454AB-1C94-4E96-A0DA-E7E6BB77797F}" destId="{F31B37A1-B7C0-445B-B580-84F44CC9E8F8}" srcOrd="1" destOrd="0" presId="urn:microsoft.com/office/officeart/2005/8/layout/pList2"/>
    <dgm:cxn modelId="{A728BB87-B3C6-424B-B869-3C6BA6BFF12C}" type="presParOf" srcId="{E9A454AB-1C94-4E96-A0DA-E7E6BB77797F}" destId="{1F74C487-371C-4349-9A49-E9D562953E0C}" srcOrd="2" destOrd="0" presId="urn:microsoft.com/office/officeart/2005/8/layout/pList2"/>
    <dgm:cxn modelId="{57E930AA-F3E3-45FF-9B96-ED4029100D67}" type="presParOf" srcId="{ACC69E47-4EEB-44DB-992A-6DC9C45F6764}" destId="{03CC58FA-59B4-4DAD-B5E5-CF0AFC99D07A}" srcOrd="1" destOrd="0" presId="urn:microsoft.com/office/officeart/2005/8/layout/pList2"/>
    <dgm:cxn modelId="{5B5BAC58-FAFF-41DF-A58C-FDC57716C309}" type="presParOf" srcId="{ACC69E47-4EEB-44DB-992A-6DC9C45F6764}" destId="{596C6646-05AB-4CD1-A131-F5F03390F4EA}" srcOrd="2" destOrd="0" presId="urn:microsoft.com/office/officeart/2005/8/layout/pList2"/>
    <dgm:cxn modelId="{4115017D-6222-4EEF-BA9A-A1EFCB61B843}" type="presParOf" srcId="{596C6646-05AB-4CD1-A131-F5F03390F4EA}" destId="{CD0D799A-F667-4C30-AEDC-87B8AB50E2AB}" srcOrd="0" destOrd="0" presId="urn:microsoft.com/office/officeart/2005/8/layout/pList2"/>
    <dgm:cxn modelId="{778BC3D9-888A-449B-B934-6BCD7A05B70A}" type="presParOf" srcId="{596C6646-05AB-4CD1-A131-F5F03390F4EA}" destId="{390BEEDC-1AF0-4702-8D9F-4280E5892B3D}" srcOrd="1" destOrd="0" presId="urn:microsoft.com/office/officeart/2005/8/layout/pList2"/>
    <dgm:cxn modelId="{2A356B44-5AB2-4B97-8A95-FBD1897738BE}" type="presParOf" srcId="{596C6646-05AB-4CD1-A131-F5F03390F4EA}" destId="{1CD32333-18E2-4011-BE78-B3150B310C85}"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7E7142-7C11-4E13-B269-262F65D9BFB7}" type="doc">
      <dgm:prSet loTypeId="urn:microsoft.com/office/officeart/2005/8/layout/pList2" loCatId="list" qsTypeId="urn:microsoft.com/office/officeart/2005/8/quickstyle/simple1" qsCatId="simple" csTypeId="urn:microsoft.com/office/officeart/2005/8/colors/accent1_2" csCatId="accent1" phldr="1"/>
      <dgm:spPr/>
    </dgm:pt>
    <dgm:pt modelId="{60CA6305-35B4-4144-AF74-836E91EBF2F6}">
      <dgm:prSet custT="1"/>
      <dgm:spPr/>
      <dgm:t>
        <a:bodyPr/>
        <a:lstStyle/>
        <a:p>
          <a:r>
            <a:rPr lang="ar-SA" sz="2400" dirty="0">
              <a:solidFill>
                <a:srgbClr val="000000"/>
              </a:solidFill>
              <a:cs typeface="B Yekan" panose="00000400000000000000" pitchFamily="2" charset="-78"/>
            </a:rPr>
            <a:t>سازمان‌ها، واحدها و اشخاص تأمین‌کننده منابع مالی که در چارچوب قانون، اختیار تصویب طرح‌ها و پروژه‌های سرمایه‌گذاری، تأمین و تخصیص منابع مالی، نظارت برنامه‌ای و ارزشیابی آنها را برعهده دارند.</a:t>
          </a:r>
          <a:endParaRPr lang="en-US" sz="2400" dirty="0">
            <a:solidFill>
              <a:srgbClr val="000000"/>
            </a:solidFill>
            <a:cs typeface="B Yekan" panose="00000400000000000000" pitchFamily="2" charset="-78"/>
          </a:endParaRPr>
        </a:p>
      </dgm:t>
    </dgm:pt>
    <dgm:pt modelId="{06C0C8CE-A070-4DF3-897A-149248883772}" type="parTrans" cxnId="{66E50B5B-6D24-4739-83FE-51769F61F4CB}">
      <dgm:prSet/>
      <dgm:spPr/>
      <dgm:t>
        <a:bodyPr/>
        <a:lstStyle/>
        <a:p>
          <a:endParaRPr lang="en-US"/>
        </a:p>
      </dgm:t>
    </dgm:pt>
    <dgm:pt modelId="{11312E3A-D5D3-442A-A463-930CD4CCE01D}" type="sibTrans" cxnId="{66E50B5B-6D24-4739-83FE-51769F61F4CB}">
      <dgm:prSet/>
      <dgm:spPr/>
      <dgm:t>
        <a:bodyPr/>
        <a:lstStyle/>
        <a:p>
          <a:endParaRPr lang="en-US"/>
        </a:p>
      </dgm:t>
    </dgm:pt>
    <dgm:pt modelId="{08333FDE-0495-49DB-B96E-39D0260F26ED}">
      <dgm:prSet custT="1"/>
      <dgm:spPr/>
      <dgm:t>
        <a:bodyPr/>
        <a:lstStyle/>
        <a:p>
          <a:r>
            <a:rPr lang="ar-SA" sz="2400" dirty="0">
              <a:solidFill>
                <a:srgbClr val="000000"/>
              </a:solidFill>
              <a:cs typeface="B Yekan" panose="00000400000000000000" pitchFamily="2" charset="-78"/>
            </a:rPr>
            <a:t>سازمان‌ها، واحدها و اشخاص دریافت‌کننده نتیجه طرح‌ها و پروژه‌ها که متصدی بهره‌برداری و نگهداری آن هستند و در تمامی فرایندهای پدیدآوری طرح یا پروژه با دستگاه‌های اجرایی برای ایفای الزامات خود هماهنگی و مشارکت دارند.</a:t>
          </a:r>
          <a:endParaRPr lang="en-US" sz="2400" dirty="0">
            <a:solidFill>
              <a:srgbClr val="000000"/>
            </a:solidFill>
            <a:cs typeface="B Yekan" panose="00000400000000000000" pitchFamily="2" charset="-78"/>
          </a:endParaRPr>
        </a:p>
      </dgm:t>
    </dgm:pt>
    <dgm:pt modelId="{F9836053-68DB-48D4-BDA0-4D1584C29DC8}" type="parTrans" cxnId="{7B526B2D-B8D4-42C7-8AB6-2590A2F9EABC}">
      <dgm:prSet/>
      <dgm:spPr/>
      <dgm:t>
        <a:bodyPr/>
        <a:lstStyle/>
        <a:p>
          <a:endParaRPr lang="en-US"/>
        </a:p>
      </dgm:t>
    </dgm:pt>
    <dgm:pt modelId="{CE3A8F40-B708-4577-95A0-305F385C67B3}" type="sibTrans" cxnId="{7B526B2D-B8D4-42C7-8AB6-2590A2F9EABC}">
      <dgm:prSet/>
      <dgm:spPr/>
      <dgm:t>
        <a:bodyPr/>
        <a:lstStyle/>
        <a:p>
          <a:endParaRPr lang="en-US"/>
        </a:p>
      </dgm:t>
    </dgm:pt>
    <dgm:pt modelId="{C696D747-61F0-4795-8781-8B031B33045E}" type="pres">
      <dgm:prSet presAssocID="{E47E7142-7C11-4E13-B269-262F65D9BFB7}" presName="Name0" presStyleCnt="0">
        <dgm:presLayoutVars>
          <dgm:dir/>
          <dgm:resizeHandles val="exact"/>
        </dgm:presLayoutVars>
      </dgm:prSet>
      <dgm:spPr/>
    </dgm:pt>
    <dgm:pt modelId="{EF2CD6C6-DE03-4AFA-9E09-016249AF5949}" type="pres">
      <dgm:prSet presAssocID="{E47E7142-7C11-4E13-B269-262F65D9BFB7}" presName="bkgdShp" presStyleLbl="alignAccFollowNode1" presStyleIdx="0" presStyleCnt="1"/>
      <dgm:spPr/>
    </dgm:pt>
    <dgm:pt modelId="{ACC69E47-4EEB-44DB-992A-6DC9C45F6764}" type="pres">
      <dgm:prSet presAssocID="{E47E7142-7C11-4E13-B269-262F65D9BFB7}" presName="linComp" presStyleCnt="0"/>
      <dgm:spPr/>
    </dgm:pt>
    <dgm:pt modelId="{C9E1E3CB-87D7-497D-B023-7DBC7E9A2B4C}" type="pres">
      <dgm:prSet presAssocID="{08333FDE-0495-49DB-B96E-39D0260F26ED}" presName="compNode" presStyleCnt="0"/>
      <dgm:spPr/>
    </dgm:pt>
    <dgm:pt modelId="{152A9BC5-FE1E-4432-B5DB-0F6646505349}" type="pres">
      <dgm:prSet presAssocID="{08333FDE-0495-49DB-B96E-39D0260F26ED}" presName="node" presStyleLbl="node1" presStyleIdx="0" presStyleCnt="2" custScaleX="107580" custScaleY="107019">
        <dgm:presLayoutVars>
          <dgm:bulletEnabled val="1"/>
        </dgm:presLayoutVars>
      </dgm:prSet>
      <dgm:spPr/>
    </dgm:pt>
    <dgm:pt modelId="{AB8B6FCA-AF64-45D6-A207-A37709C49DCE}" type="pres">
      <dgm:prSet presAssocID="{08333FDE-0495-49DB-B96E-39D0260F26ED}" presName="invisiNode" presStyleLbl="node1" presStyleIdx="0" presStyleCnt="2"/>
      <dgm:spPr/>
    </dgm:pt>
    <dgm:pt modelId="{E5FC603C-6F78-4BC6-B8C1-C416FDE78663}" type="pres">
      <dgm:prSet presAssocID="{08333FDE-0495-49DB-B96E-39D0260F26ED}" presName="imagNode" presStyleLbl="fgImgPlace1" presStyleIdx="0" presStyleCnt="2"/>
      <dgm:spPr/>
    </dgm:pt>
    <dgm:pt modelId="{15B0FED0-B1AA-4066-BE8B-C110C02B4DCC}" type="pres">
      <dgm:prSet presAssocID="{CE3A8F40-B708-4577-95A0-305F385C67B3}" presName="sibTrans" presStyleLbl="sibTrans2D1" presStyleIdx="0" presStyleCnt="0"/>
      <dgm:spPr/>
    </dgm:pt>
    <dgm:pt modelId="{4817EAFF-C349-48EF-9BDC-4D5213F6F0E3}" type="pres">
      <dgm:prSet presAssocID="{60CA6305-35B4-4144-AF74-836E91EBF2F6}" presName="compNode" presStyleCnt="0"/>
      <dgm:spPr/>
    </dgm:pt>
    <dgm:pt modelId="{82FA0D9F-859C-41FB-9F57-30B1826071FE}" type="pres">
      <dgm:prSet presAssocID="{60CA6305-35B4-4144-AF74-836E91EBF2F6}" presName="node" presStyleLbl="node1" presStyleIdx="1" presStyleCnt="2">
        <dgm:presLayoutVars>
          <dgm:bulletEnabled val="1"/>
        </dgm:presLayoutVars>
      </dgm:prSet>
      <dgm:spPr/>
    </dgm:pt>
    <dgm:pt modelId="{DB49D3DB-F00C-49A3-8F83-8365D99DE611}" type="pres">
      <dgm:prSet presAssocID="{60CA6305-35B4-4144-AF74-836E91EBF2F6}" presName="invisiNode" presStyleLbl="node1" presStyleIdx="1" presStyleCnt="2"/>
      <dgm:spPr/>
    </dgm:pt>
    <dgm:pt modelId="{36273B3D-13CE-49DC-BF81-C025EBA63EE3}" type="pres">
      <dgm:prSet presAssocID="{60CA6305-35B4-4144-AF74-836E91EBF2F6}" presName="imagNode" presStyleLbl="fgImgPlace1" presStyleIdx="1" presStyleCnt="2"/>
      <dgm:spPr/>
    </dgm:pt>
  </dgm:ptLst>
  <dgm:cxnLst>
    <dgm:cxn modelId="{9009F810-2233-4338-A005-AADE4C321DB1}" type="presOf" srcId="{E47E7142-7C11-4E13-B269-262F65D9BFB7}" destId="{C696D747-61F0-4795-8781-8B031B33045E}" srcOrd="0" destOrd="0" presId="urn:microsoft.com/office/officeart/2005/8/layout/pList2"/>
    <dgm:cxn modelId="{7B526B2D-B8D4-42C7-8AB6-2590A2F9EABC}" srcId="{E47E7142-7C11-4E13-B269-262F65D9BFB7}" destId="{08333FDE-0495-49DB-B96E-39D0260F26ED}" srcOrd="0" destOrd="0" parTransId="{F9836053-68DB-48D4-BDA0-4D1584C29DC8}" sibTransId="{CE3A8F40-B708-4577-95A0-305F385C67B3}"/>
    <dgm:cxn modelId="{66E50B5B-6D24-4739-83FE-51769F61F4CB}" srcId="{E47E7142-7C11-4E13-B269-262F65D9BFB7}" destId="{60CA6305-35B4-4144-AF74-836E91EBF2F6}" srcOrd="1" destOrd="0" parTransId="{06C0C8CE-A070-4DF3-897A-149248883772}" sibTransId="{11312E3A-D5D3-442A-A463-930CD4CCE01D}"/>
    <dgm:cxn modelId="{5374A36F-0C0C-490A-8843-F665D7667D0C}" type="presOf" srcId="{CE3A8F40-B708-4577-95A0-305F385C67B3}" destId="{15B0FED0-B1AA-4066-BE8B-C110C02B4DCC}" srcOrd="0" destOrd="0" presId="urn:microsoft.com/office/officeart/2005/8/layout/pList2"/>
    <dgm:cxn modelId="{CC28909A-01A4-4E4D-A027-B0FEEEB4F8AF}" type="presOf" srcId="{08333FDE-0495-49DB-B96E-39D0260F26ED}" destId="{152A9BC5-FE1E-4432-B5DB-0F6646505349}" srcOrd="0" destOrd="0" presId="urn:microsoft.com/office/officeart/2005/8/layout/pList2"/>
    <dgm:cxn modelId="{C86261B9-10EC-4236-9BBA-2DBD0B638C3A}" type="presOf" srcId="{60CA6305-35B4-4144-AF74-836E91EBF2F6}" destId="{82FA0D9F-859C-41FB-9F57-30B1826071FE}" srcOrd="0" destOrd="0" presId="urn:microsoft.com/office/officeart/2005/8/layout/pList2"/>
    <dgm:cxn modelId="{2D56D4AA-3987-43C4-8564-1D8A5A5DC207}" type="presParOf" srcId="{C696D747-61F0-4795-8781-8B031B33045E}" destId="{EF2CD6C6-DE03-4AFA-9E09-016249AF5949}" srcOrd="0" destOrd="0" presId="urn:microsoft.com/office/officeart/2005/8/layout/pList2"/>
    <dgm:cxn modelId="{F511B93C-12EE-41A4-906E-05E7009EDE75}" type="presParOf" srcId="{C696D747-61F0-4795-8781-8B031B33045E}" destId="{ACC69E47-4EEB-44DB-992A-6DC9C45F6764}" srcOrd="1" destOrd="0" presId="urn:microsoft.com/office/officeart/2005/8/layout/pList2"/>
    <dgm:cxn modelId="{3EA1237D-F244-4E38-B42E-F76C7F758190}" type="presParOf" srcId="{ACC69E47-4EEB-44DB-992A-6DC9C45F6764}" destId="{C9E1E3CB-87D7-497D-B023-7DBC7E9A2B4C}" srcOrd="0" destOrd="0" presId="urn:microsoft.com/office/officeart/2005/8/layout/pList2"/>
    <dgm:cxn modelId="{F55DCD67-BA06-404D-997B-F3C27AEBC234}" type="presParOf" srcId="{C9E1E3CB-87D7-497D-B023-7DBC7E9A2B4C}" destId="{152A9BC5-FE1E-4432-B5DB-0F6646505349}" srcOrd="0" destOrd="0" presId="urn:microsoft.com/office/officeart/2005/8/layout/pList2"/>
    <dgm:cxn modelId="{F85640C2-8DE2-4F46-AC01-AEABD319A34E}" type="presParOf" srcId="{C9E1E3CB-87D7-497D-B023-7DBC7E9A2B4C}" destId="{AB8B6FCA-AF64-45D6-A207-A37709C49DCE}" srcOrd="1" destOrd="0" presId="urn:microsoft.com/office/officeart/2005/8/layout/pList2"/>
    <dgm:cxn modelId="{E8A21FD3-8368-4007-8F79-7D7026381566}" type="presParOf" srcId="{C9E1E3CB-87D7-497D-B023-7DBC7E9A2B4C}" destId="{E5FC603C-6F78-4BC6-B8C1-C416FDE78663}" srcOrd="2" destOrd="0" presId="urn:microsoft.com/office/officeart/2005/8/layout/pList2"/>
    <dgm:cxn modelId="{954A8ABD-2554-4F1B-9341-FFD0CEADEF6C}" type="presParOf" srcId="{ACC69E47-4EEB-44DB-992A-6DC9C45F6764}" destId="{15B0FED0-B1AA-4066-BE8B-C110C02B4DCC}" srcOrd="1" destOrd="0" presId="urn:microsoft.com/office/officeart/2005/8/layout/pList2"/>
    <dgm:cxn modelId="{7886B224-8757-40E0-A226-9DC953998872}" type="presParOf" srcId="{ACC69E47-4EEB-44DB-992A-6DC9C45F6764}" destId="{4817EAFF-C349-48EF-9BDC-4D5213F6F0E3}" srcOrd="2" destOrd="0" presId="urn:microsoft.com/office/officeart/2005/8/layout/pList2"/>
    <dgm:cxn modelId="{FAB83EB6-5435-4758-B143-05F18915D8BC}" type="presParOf" srcId="{4817EAFF-C349-48EF-9BDC-4D5213F6F0E3}" destId="{82FA0D9F-859C-41FB-9F57-30B1826071FE}" srcOrd="0" destOrd="0" presId="urn:microsoft.com/office/officeart/2005/8/layout/pList2"/>
    <dgm:cxn modelId="{F334C663-1700-43BF-8145-89ECBF9ABF62}" type="presParOf" srcId="{4817EAFF-C349-48EF-9BDC-4D5213F6F0E3}" destId="{DB49D3DB-F00C-49A3-8F83-8365D99DE611}" srcOrd="1" destOrd="0" presId="urn:microsoft.com/office/officeart/2005/8/layout/pList2"/>
    <dgm:cxn modelId="{5206DDA5-229D-4E15-8EC1-6695DA82C4C1}" type="presParOf" srcId="{4817EAFF-C349-48EF-9BDC-4D5213F6F0E3}" destId="{36273B3D-13CE-49DC-BF81-C025EBA63EE3}"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2A950-FAAF-4EAA-94A1-26250907EF3A}">
      <dsp:nvSpPr>
        <dsp:cNvPr id="0" name=""/>
        <dsp:cNvSpPr/>
      </dsp:nvSpPr>
      <dsp:spPr>
        <a:xfrm rot="10800000">
          <a:off x="2710206" y="817523"/>
          <a:ext cx="7173283" cy="361360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3501" tIns="91440" rIns="170688" bIns="91440" numCol="1" spcCol="1270" anchor="ctr" anchorCtr="0">
          <a:noAutofit/>
        </a:bodyPr>
        <a:lstStyle/>
        <a:p>
          <a:pPr marL="0" lvl="0" indent="0" algn="ctr" defTabSz="1066800">
            <a:lnSpc>
              <a:spcPct val="90000"/>
            </a:lnSpc>
            <a:spcBef>
              <a:spcPct val="0"/>
            </a:spcBef>
            <a:spcAft>
              <a:spcPct val="35000"/>
            </a:spcAft>
            <a:buNone/>
          </a:pPr>
          <a:r>
            <a:rPr lang="ar-SA" sz="2400" kern="1200" dirty="0">
              <a:solidFill>
                <a:srgbClr val="000000"/>
              </a:solidFill>
              <a:cs typeface="B Yekan" panose="00000400000000000000" pitchFamily="2" charset="-78"/>
            </a:rPr>
            <a:t>بخشی از فرآیند طراحی است که براساس نتایج طراحی پایه و انجام محاسبات مهندسی, مشخصات و جزییات اجرایی طرح یا پروژه در بخشهای مختلف طراحی شده و مدارک لازم برای عملیات اجرایی و نصب و راه اندازی مبتنی بر مهندسی ارزش تهیه می شود.</a:t>
          </a:r>
          <a:endParaRPr lang="en-US" sz="2400" kern="1200" dirty="0">
            <a:solidFill>
              <a:srgbClr val="000000"/>
            </a:solidFill>
            <a:cs typeface="B Yekan" panose="00000400000000000000" pitchFamily="2" charset="-78"/>
          </a:endParaRPr>
        </a:p>
      </dsp:txBody>
      <dsp:txXfrm rot="10800000">
        <a:off x="3613608" y="817523"/>
        <a:ext cx="6269881" cy="3613608"/>
      </dsp:txXfrm>
    </dsp:sp>
    <dsp:sp modelId="{C6A66AA6-8CAC-4E95-A866-C50FD978F644}">
      <dsp:nvSpPr>
        <dsp:cNvPr id="0" name=""/>
        <dsp:cNvSpPr/>
      </dsp:nvSpPr>
      <dsp:spPr>
        <a:xfrm>
          <a:off x="903402" y="817523"/>
          <a:ext cx="3613608" cy="361360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3A164-413D-4F44-954B-47AFA6B33A28}">
      <dsp:nvSpPr>
        <dsp:cNvPr id="0" name=""/>
        <dsp:cNvSpPr/>
      </dsp:nvSpPr>
      <dsp:spPr>
        <a:xfrm rot="10800000">
          <a:off x="2710206" y="817523"/>
          <a:ext cx="7173283" cy="361360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3501" tIns="91440" rIns="170688" bIns="91440" numCol="1" spcCol="1270" anchor="ctr" anchorCtr="0">
          <a:noAutofit/>
        </a:bodyPr>
        <a:lstStyle/>
        <a:p>
          <a:pPr marL="0" lvl="0" indent="0" algn="ctr" defTabSz="1066800">
            <a:lnSpc>
              <a:spcPct val="90000"/>
            </a:lnSpc>
            <a:spcBef>
              <a:spcPct val="0"/>
            </a:spcBef>
            <a:spcAft>
              <a:spcPct val="35000"/>
            </a:spcAft>
            <a:buNone/>
          </a:pPr>
          <a:r>
            <a:rPr lang="fa-IR" sz="2400" kern="1200" dirty="0">
              <a:solidFill>
                <a:srgbClr val="000000"/>
              </a:solidFill>
              <a:cs typeface="B Yekan" panose="00000400000000000000" pitchFamily="2" charset="-78"/>
            </a:rPr>
            <a:t>انجام فعالیتهای مربوط به تامین کالا, عمیات اجرایی (ساختمان و نصب) و سازماندهی برای بهره برداری است.</a:t>
          </a:r>
        </a:p>
      </dsp:txBody>
      <dsp:txXfrm rot="10800000">
        <a:off x="3613608" y="817523"/>
        <a:ext cx="6269881" cy="3613608"/>
      </dsp:txXfrm>
    </dsp:sp>
    <dsp:sp modelId="{1FBF462F-9ECD-42A8-BC56-FE8E69463A8B}">
      <dsp:nvSpPr>
        <dsp:cNvPr id="0" name=""/>
        <dsp:cNvSpPr/>
      </dsp:nvSpPr>
      <dsp:spPr>
        <a:xfrm>
          <a:off x="903402" y="817523"/>
          <a:ext cx="3613608" cy="3613608"/>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60867-AAE6-43EB-9535-4E8B5E51BE5F}">
      <dsp:nvSpPr>
        <dsp:cNvPr id="0" name=""/>
        <dsp:cNvSpPr/>
      </dsp:nvSpPr>
      <dsp:spPr>
        <a:xfrm>
          <a:off x="1181" y="449632"/>
          <a:ext cx="2969477" cy="1146218"/>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7AF1BB-6005-4B0C-A52E-978638D77AE9}">
      <dsp:nvSpPr>
        <dsp:cNvPr id="0" name=""/>
        <dsp:cNvSpPr/>
      </dsp:nvSpPr>
      <dsp:spPr>
        <a:xfrm>
          <a:off x="793042" y="736187"/>
          <a:ext cx="2507558" cy="1146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ar-SA" sz="2000" b="1" kern="1200">
              <a:solidFill>
                <a:schemeClr val="tx1"/>
              </a:solidFill>
              <a:latin typeface="+mj-lt"/>
              <a:cs typeface="B Yekan" panose="00000400000000000000" pitchFamily="2" charset="-78"/>
            </a:rPr>
            <a:t>واژههای مدیریت پروژه</a:t>
          </a:r>
          <a:endParaRPr lang="en-US" sz="2000" b="1" kern="1200" dirty="0">
            <a:solidFill>
              <a:schemeClr val="tx1"/>
            </a:solidFill>
            <a:latin typeface="+mj-lt"/>
            <a:cs typeface="B Yekan" panose="00000400000000000000" pitchFamily="2" charset="-78"/>
          </a:endParaRPr>
        </a:p>
      </dsp:txBody>
      <dsp:txXfrm>
        <a:off x="826614" y="769759"/>
        <a:ext cx="2440414" cy="1079074"/>
      </dsp:txXfrm>
    </dsp:sp>
    <dsp:sp modelId="{5EF4C1C7-89E6-479D-A90D-FA1792D27BB0}">
      <dsp:nvSpPr>
        <dsp:cNvPr id="0" name=""/>
        <dsp:cNvSpPr/>
      </dsp:nvSpPr>
      <dsp:spPr>
        <a:xfrm>
          <a:off x="3392984" y="449632"/>
          <a:ext cx="2969477" cy="1146218"/>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7F7956-A66C-4540-ADFD-93D306C083BB}">
      <dsp:nvSpPr>
        <dsp:cNvPr id="0" name=""/>
        <dsp:cNvSpPr/>
      </dsp:nvSpPr>
      <dsp:spPr>
        <a:xfrm>
          <a:off x="4184845" y="736187"/>
          <a:ext cx="2507558" cy="1146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ar-SA" sz="2000" b="1" kern="1200">
              <a:solidFill>
                <a:schemeClr val="tx1"/>
              </a:solidFill>
              <a:latin typeface="+mj-lt"/>
              <a:cs typeface="B Yekan" panose="00000400000000000000" pitchFamily="2" charset="-78"/>
            </a:rPr>
            <a:t>واژههای معیارهای فنی</a:t>
          </a:r>
          <a:endParaRPr lang="en-US" sz="2000" b="1" kern="1200" dirty="0">
            <a:solidFill>
              <a:schemeClr val="tx1"/>
            </a:solidFill>
            <a:latin typeface="+mj-lt"/>
            <a:cs typeface="B Yekan" panose="00000400000000000000" pitchFamily="2" charset="-78"/>
          </a:endParaRPr>
        </a:p>
      </dsp:txBody>
      <dsp:txXfrm>
        <a:off x="4218417" y="769759"/>
        <a:ext cx="2440414" cy="1079074"/>
      </dsp:txXfrm>
    </dsp:sp>
    <dsp:sp modelId="{BFB96682-62C9-4191-BBC1-E3B21F275FB6}">
      <dsp:nvSpPr>
        <dsp:cNvPr id="0" name=""/>
        <dsp:cNvSpPr/>
      </dsp:nvSpPr>
      <dsp:spPr>
        <a:xfrm>
          <a:off x="6784787" y="449632"/>
          <a:ext cx="2969477" cy="1146218"/>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9E3199-3EE7-45AB-99A6-3D3419B94A2A}">
      <dsp:nvSpPr>
        <dsp:cNvPr id="0" name=""/>
        <dsp:cNvSpPr/>
      </dsp:nvSpPr>
      <dsp:spPr>
        <a:xfrm>
          <a:off x="7576647" y="736187"/>
          <a:ext cx="2507558" cy="11462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ar-SA" sz="2000" b="1" kern="1200">
              <a:solidFill>
                <a:schemeClr val="tx1"/>
              </a:solidFill>
              <a:latin typeface="+mj-lt"/>
              <a:cs typeface="B Yekan" panose="00000400000000000000" pitchFamily="2" charset="-78"/>
            </a:rPr>
            <a:t>واژههای قراردادها و شرح خدمات</a:t>
          </a:r>
          <a:endParaRPr lang="en-US" sz="2000" b="1" kern="1200" dirty="0">
            <a:solidFill>
              <a:schemeClr val="tx1"/>
            </a:solidFill>
            <a:latin typeface="+mj-lt"/>
            <a:cs typeface="B Yekan" panose="00000400000000000000" pitchFamily="2" charset="-78"/>
          </a:endParaRPr>
        </a:p>
      </dsp:txBody>
      <dsp:txXfrm>
        <a:off x="7610219" y="769759"/>
        <a:ext cx="2440414" cy="10790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CD6C6-DE03-4AFA-9E09-016249AF5949}">
      <dsp:nvSpPr>
        <dsp:cNvPr id="0" name=""/>
        <dsp:cNvSpPr/>
      </dsp:nvSpPr>
      <dsp:spPr>
        <a:xfrm>
          <a:off x="0" y="0"/>
          <a:ext cx="9725024" cy="2605011"/>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74C487-371C-4349-9A49-E9D562953E0C}">
      <dsp:nvSpPr>
        <dsp:cNvPr id="0" name=""/>
        <dsp:cNvSpPr/>
      </dsp:nvSpPr>
      <dsp:spPr>
        <a:xfrm>
          <a:off x="307620" y="377556"/>
          <a:ext cx="4352043" cy="1910341"/>
        </a:xfrm>
        <a:prstGeom prst="roundRect">
          <a:avLst>
            <a:gd name="adj" fmla="val 1000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B6DDEB-D0AC-49C7-9A9D-0EE54BB08C8F}">
      <dsp:nvSpPr>
        <dsp:cNvPr id="0" name=""/>
        <dsp:cNvSpPr/>
      </dsp:nvSpPr>
      <dsp:spPr>
        <a:xfrm rot="10800000">
          <a:off x="292866" y="2605011"/>
          <a:ext cx="4352043" cy="3183903"/>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fa-IR" sz="1400" kern="1200" dirty="0">
              <a:solidFill>
                <a:srgbClr val="000000"/>
              </a:solidFill>
              <a:cs typeface="B Yekan" panose="00000400000000000000" pitchFamily="2" charset="-78"/>
            </a:rPr>
            <a:t>دستگاه های اجرایی</a:t>
          </a:r>
          <a:endParaRPr lang="en-US" sz="1400" kern="1200" dirty="0">
            <a:solidFill>
              <a:srgbClr val="000000"/>
            </a:solidFill>
            <a:cs typeface="B Yekan" panose="00000400000000000000" pitchFamily="2" charset="-78"/>
          </a:endParaRPr>
        </a:p>
      </dsp:txBody>
      <dsp:txXfrm rot="10800000">
        <a:off x="390782" y="2605011"/>
        <a:ext cx="4156211" cy="3085987"/>
      </dsp:txXfrm>
    </dsp:sp>
    <dsp:sp modelId="{1CD32333-18E2-4011-BE78-B3150B310C85}">
      <dsp:nvSpPr>
        <dsp:cNvPr id="0" name=""/>
        <dsp:cNvSpPr/>
      </dsp:nvSpPr>
      <dsp:spPr>
        <a:xfrm>
          <a:off x="5080114" y="347334"/>
          <a:ext cx="4352043" cy="1910341"/>
        </a:xfrm>
        <a:prstGeom prst="roundRect">
          <a:avLst>
            <a:gd name="adj" fmla="val 1000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0D799A-F667-4C30-AEDC-87B8AB50E2AB}">
      <dsp:nvSpPr>
        <dsp:cNvPr id="0" name=""/>
        <dsp:cNvSpPr/>
      </dsp:nvSpPr>
      <dsp:spPr>
        <a:xfrm rot="10800000">
          <a:off x="5108707" y="2605011"/>
          <a:ext cx="4352043" cy="3183903"/>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ar-SA" sz="2400" kern="1200" dirty="0">
              <a:solidFill>
                <a:srgbClr val="000000"/>
              </a:solidFill>
              <a:cs typeface="B Yekan" panose="00000400000000000000" pitchFamily="2" charset="-78"/>
            </a:rPr>
            <a:t>مشاوران، پیمانکاران، سازندگان و عرضه‌کنندگان کالا، اشخاص واجد صلاحیتی هستند که خدمات و یا کالا را برای دستگاه‌های اجرایی تأمین می‌کنند.</a:t>
          </a:r>
          <a:endParaRPr lang="en-US" sz="2400" kern="1200" dirty="0">
            <a:solidFill>
              <a:srgbClr val="000000"/>
            </a:solidFill>
            <a:cs typeface="B Yekan" panose="00000400000000000000" pitchFamily="2" charset="-78"/>
          </a:endParaRPr>
        </a:p>
      </dsp:txBody>
      <dsp:txXfrm rot="10800000">
        <a:off x="5206623" y="2605011"/>
        <a:ext cx="4156211" cy="30859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CD6C6-DE03-4AFA-9E09-016249AF5949}">
      <dsp:nvSpPr>
        <dsp:cNvPr id="0" name=""/>
        <dsp:cNvSpPr/>
      </dsp:nvSpPr>
      <dsp:spPr>
        <a:xfrm>
          <a:off x="0" y="0"/>
          <a:ext cx="9725024" cy="2605011"/>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FC603C-6F78-4BC6-B8C1-C416FDE78663}">
      <dsp:nvSpPr>
        <dsp:cNvPr id="0" name=""/>
        <dsp:cNvSpPr/>
      </dsp:nvSpPr>
      <dsp:spPr>
        <a:xfrm>
          <a:off x="452218" y="291465"/>
          <a:ext cx="4200279" cy="1910341"/>
        </a:xfrm>
        <a:prstGeom prst="roundRect">
          <a:avLst>
            <a:gd name="adj" fmla="val 1000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2A9BC5-FE1E-4432-B5DB-0F6646505349}">
      <dsp:nvSpPr>
        <dsp:cNvPr id="0" name=""/>
        <dsp:cNvSpPr/>
      </dsp:nvSpPr>
      <dsp:spPr>
        <a:xfrm rot="10800000">
          <a:off x="293027" y="2437403"/>
          <a:ext cx="4518660" cy="3407381"/>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ar-SA" sz="2400" kern="1200" dirty="0">
              <a:solidFill>
                <a:srgbClr val="000000"/>
              </a:solidFill>
              <a:cs typeface="B Yekan" panose="00000400000000000000" pitchFamily="2" charset="-78"/>
            </a:rPr>
            <a:t>سازمان‌ها، واحدها و اشخاص دریافت‌کننده نتیجه طرح‌ها و پروژه‌ها که متصدی بهره‌برداری و نگهداری آن هستند و در تمامی فرایندهای پدیدآوری طرح یا پروژه با دستگاه‌های اجرایی برای ایفای الزامات خود هماهنگی و مشارکت دارند.</a:t>
          </a:r>
          <a:endParaRPr lang="en-US" sz="2400" kern="1200" dirty="0">
            <a:solidFill>
              <a:srgbClr val="000000"/>
            </a:solidFill>
            <a:cs typeface="B Yekan" panose="00000400000000000000" pitchFamily="2" charset="-78"/>
          </a:endParaRPr>
        </a:p>
      </dsp:txBody>
      <dsp:txXfrm rot="10800000">
        <a:off x="397816" y="2437403"/>
        <a:ext cx="4309082" cy="3302592"/>
      </dsp:txXfrm>
    </dsp:sp>
    <dsp:sp modelId="{36273B3D-13CE-49DC-BF81-C025EBA63EE3}">
      <dsp:nvSpPr>
        <dsp:cNvPr id="0" name=""/>
        <dsp:cNvSpPr/>
      </dsp:nvSpPr>
      <dsp:spPr>
        <a:xfrm>
          <a:off x="5231716" y="347334"/>
          <a:ext cx="4200279" cy="1910341"/>
        </a:xfrm>
        <a:prstGeom prst="roundRect">
          <a:avLst>
            <a:gd name="adj" fmla="val 1000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FA0D9F-859C-41FB-9F57-30B1826071FE}">
      <dsp:nvSpPr>
        <dsp:cNvPr id="0" name=""/>
        <dsp:cNvSpPr/>
      </dsp:nvSpPr>
      <dsp:spPr>
        <a:xfrm rot="10800000">
          <a:off x="5231716" y="2605011"/>
          <a:ext cx="4200279" cy="3183903"/>
        </a:xfrm>
        <a:prstGeom prst="round2SameRect">
          <a:avLst>
            <a:gd name="adj1" fmla="val 105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ar-SA" sz="2400" kern="1200" dirty="0">
              <a:solidFill>
                <a:srgbClr val="000000"/>
              </a:solidFill>
              <a:cs typeface="B Yekan" panose="00000400000000000000" pitchFamily="2" charset="-78"/>
            </a:rPr>
            <a:t>سازمان‌ها، واحدها و اشخاص تأمین‌کننده منابع مالی که در چارچوب قانون، اختیار تصویب طرح‌ها و پروژه‌های سرمایه‌گذاری، تأمین و تخصیص منابع مالی، نظارت برنامه‌ای و ارزشیابی آنها را برعهده دارند.</a:t>
          </a:r>
          <a:endParaRPr lang="en-US" sz="2400" kern="1200" dirty="0">
            <a:solidFill>
              <a:srgbClr val="000000"/>
            </a:solidFill>
            <a:cs typeface="B Yekan" panose="00000400000000000000" pitchFamily="2" charset="-78"/>
          </a:endParaRPr>
        </a:p>
      </dsp:txBody>
      <dsp:txXfrm rot="10800000">
        <a:off x="5329632" y="2605011"/>
        <a:ext cx="4004447" cy="3085987"/>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6.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12/21/2024</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12/21/2024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3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32DC9-4E9F-656B-1804-550464D07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21690-60DC-C77C-6BFA-318CC5F4B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FCD34-B025-15E6-5372-7385D7D3DA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DC2F06-F9CB-A548-D4A1-18452B4E75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600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EE213-0B9D-7C4E-407E-9B7C1C102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F5E42-DD57-E869-8F29-DA53492A6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3B3BE-A29B-471D-FF39-CF1D8013D3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0271E-44D8-A43D-32E8-33547C5DC2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519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FED3-4486-7714-4E63-0B6BAA94B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1B71D-00FB-4D4C-0426-DE45AA8C1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D582F-CD40-12E7-9812-288C0852B4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F84F9C-2F7A-E4B6-CD00-7FADA4A487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6567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47</a:t>
            </a:fld>
            <a:endParaRPr lang="en-US" dirty="0"/>
          </a:p>
        </p:txBody>
      </p:sp>
    </p:spTree>
    <p:extLst>
      <p:ext uri="{BB962C8B-B14F-4D97-AF65-F5344CB8AC3E}">
        <p14:creationId xmlns:p14="http://schemas.microsoft.com/office/powerpoint/2010/main" val="3996833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482FB-C2EB-A9F1-EBA7-CA5B77A70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B9184-99A8-DB1D-7053-D44694CDB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C0A31-D528-3CF2-CD44-684A365108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87E3A9-B3BA-CE55-4164-50BBFD5F10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251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2053-F80C-8E5F-1543-6C1D6604F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74F03-88D3-771D-1591-629E36188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498F8-81C7-B4C7-DE84-9046956D33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68543A-BA4D-646F-9E8F-AFE259DB63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927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51</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r>
              <a:rPr lang="en-US"/>
              <a:t>Click icon to add picture</a:t>
            </a:r>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6.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9.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6.wdp"/><Relationship Id="rId9" Type="http://schemas.microsoft.com/office/2007/relationships/diagramDrawing" Target="../diagrams/drawing1.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9.png"/><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Layout" Target="../diagrams/layout2.xml"/><Relationship Id="rId5" Type="http://schemas.openxmlformats.org/officeDocument/2006/relationships/diagramData" Target="../diagrams/data2.xml"/><Relationship Id="rId4" Type="http://schemas.microsoft.com/office/2007/relationships/hdphoto" Target="../media/hdphoto6.wdp"/><Relationship Id="rId9" Type="http://schemas.microsoft.com/office/2007/relationships/diagramDrawing" Target="../diagrams/drawing2.xml"/></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9.png"/><Relationship Id="rId7" Type="http://schemas.openxmlformats.org/officeDocument/2006/relationships/diagramQuickStyle" Target="../diagrams/quickStyle3.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Layout" Target="../diagrams/layout3.xml"/><Relationship Id="rId5" Type="http://schemas.openxmlformats.org/officeDocument/2006/relationships/diagramData" Target="../diagrams/data3.xml"/><Relationship Id="rId4" Type="http://schemas.microsoft.com/office/2007/relationships/hdphoto" Target="../media/hdphoto6.wdp"/><Relationship Id="rId9" Type="http://schemas.microsoft.com/office/2007/relationships/diagramDrawing" Target="../diagrams/drawin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hyperlink" Target="https://drmostafanajafi.ir/nezamfanni"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5D7059-97A8-70F1-8C68-528AE943AF57}"/>
              </a:ext>
            </a:extLst>
          </p:cNvPr>
          <p:cNvSpPr txBox="1"/>
          <p:nvPr/>
        </p:nvSpPr>
        <p:spPr>
          <a:xfrm>
            <a:off x="2822712" y="298174"/>
            <a:ext cx="4303644" cy="584775"/>
          </a:xfrm>
          <a:prstGeom prst="rect">
            <a:avLst/>
          </a:prstGeom>
          <a:noFill/>
        </p:spPr>
        <p:txBody>
          <a:bodyPr wrap="square" rtlCol="0">
            <a:spAutoFit/>
          </a:bodyPr>
          <a:lstStyle/>
          <a:p>
            <a:pPr algn="ctr"/>
            <a:r>
              <a:rPr lang="fa-IR" sz="3200" dirty="0">
                <a:cs typeface="B Titr" panose="00000700000000000000" pitchFamily="2" charset="-78"/>
              </a:rPr>
              <a:t>به نام خدا</a:t>
            </a:r>
            <a:endParaRPr lang="en-US" sz="3200" dirty="0">
              <a:cs typeface="B Titr" panose="00000700000000000000" pitchFamily="2" charset="-78"/>
            </a:endParaRPr>
          </a:p>
        </p:txBody>
      </p:sp>
      <p:sp>
        <p:nvSpPr>
          <p:cNvPr id="6" name="TextBox 5">
            <a:extLst>
              <a:ext uri="{FF2B5EF4-FFF2-40B4-BE49-F238E27FC236}">
                <a16:creationId xmlns:a16="http://schemas.microsoft.com/office/drawing/2014/main" id="{0CDDE0B9-FC4D-3739-A866-ACA0EA424040}"/>
              </a:ext>
            </a:extLst>
          </p:cNvPr>
          <p:cNvSpPr txBox="1"/>
          <p:nvPr/>
        </p:nvSpPr>
        <p:spPr>
          <a:xfrm>
            <a:off x="2898485" y="1254982"/>
            <a:ext cx="4023858" cy="461665"/>
          </a:xfrm>
          <a:prstGeom prst="rect">
            <a:avLst/>
          </a:prstGeom>
          <a:noFill/>
        </p:spPr>
        <p:txBody>
          <a:bodyPr wrap="none" rtlCol="0">
            <a:spAutoFit/>
          </a:bodyPr>
          <a:lstStyle/>
          <a:p>
            <a:pPr marL="285750" indent="-285750" algn="r" rtl="1">
              <a:buFont typeface="Arial" panose="020B0604020202020204" pitchFamily="34" charset="0"/>
              <a:buChar char="•"/>
            </a:pPr>
            <a:r>
              <a:rPr lang="fa-IR" u="sng" dirty="0">
                <a:cs typeface="B Titr" panose="00000700000000000000" pitchFamily="2" charset="-78"/>
              </a:rPr>
              <a:t>درس  : </a:t>
            </a:r>
            <a:r>
              <a:rPr lang="fa-IR" sz="2400" dirty="0">
                <a:cs typeface="B Titr" panose="00000700000000000000" pitchFamily="2" charset="-78"/>
              </a:rPr>
              <a:t>مدیریت تشکیلات کارگاهی </a:t>
            </a:r>
            <a:endParaRPr lang="en-US" dirty="0">
              <a:cs typeface="B Titr" panose="00000700000000000000" pitchFamily="2" charset="-78"/>
            </a:endParaRPr>
          </a:p>
        </p:txBody>
      </p:sp>
      <p:sp>
        <p:nvSpPr>
          <p:cNvPr id="7" name="TextBox 6">
            <a:extLst>
              <a:ext uri="{FF2B5EF4-FFF2-40B4-BE49-F238E27FC236}">
                <a16:creationId xmlns:a16="http://schemas.microsoft.com/office/drawing/2014/main" id="{0225F44D-A360-B732-E9E6-B3DE34F444B6}"/>
              </a:ext>
            </a:extLst>
          </p:cNvPr>
          <p:cNvSpPr txBox="1"/>
          <p:nvPr/>
        </p:nvSpPr>
        <p:spPr>
          <a:xfrm>
            <a:off x="2620425" y="1977887"/>
            <a:ext cx="4708217" cy="584775"/>
          </a:xfrm>
          <a:prstGeom prst="rect">
            <a:avLst/>
          </a:prstGeom>
          <a:noFill/>
        </p:spPr>
        <p:txBody>
          <a:bodyPr wrap="square" rtlCol="0">
            <a:spAutoFit/>
          </a:bodyPr>
          <a:lstStyle/>
          <a:p>
            <a:pPr marL="285750" indent="-285750" algn="ctr" rtl="1">
              <a:buFont typeface="Arial" panose="020B0604020202020204" pitchFamily="34" charset="0"/>
              <a:buChar char="•"/>
            </a:pPr>
            <a:r>
              <a:rPr lang="fa-IR" u="sng" dirty="0">
                <a:cs typeface="B Titr" panose="00000700000000000000" pitchFamily="2" charset="-78"/>
              </a:rPr>
              <a:t>موضوع :  </a:t>
            </a:r>
            <a:r>
              <a:rPr lang="fa-IR" dirty="0">
                <a:cs typeface="B Titr" panose="00000700000000000000" pitchFamily="2" charset="-78"/>
              </a:rPr>
              <a:t> </a:t>
            </a:r>
            <a:r>
              <a:rPr lang="fa-IR" sz="3200" dirty="0">
                <a:solidFill>
                  <a:schemeClr val="tx1">
                    <a:lumMod val="50000"/>
                  </a:schemeClr>
                </a:solidFill>
                <a:cs typeface="B Titr" panose="00000700000000000000" pitchFamily="2" charset="-78"/>
              </a:rPr>
              <a:t>نظام فنی و اجرایی</a:t>
            </a:r>
            <a:endParaRPr lang="en-US" u="sng" dirty="0">
              <a:solidFill>
                <a:schemeClr val="tx1">
                  <a:lumMod val="50000"/>
                </a:schemeClr>
              </a:solidFill>
              <a:cs typeface="B Titr" panose="00000700000000000000" pitchFamily="2" charset="-78"/>
            </a:endParaRPr>
          </a:p>
        </p:txBody>
      </p:sp>
      <p:sp>
        <p:nvSpPr>
          <p:cNvPr id="8" name="TextBox 7">
            <a:extLst>
              <a:ext uri="{FF2B5EF4-FFF2-40B4-BE49-F238E27FC236}">
                <a16:creationId xmlns:a16="http://schemas.microsoft.com/office/drawing/2014/main" id="{262E3189-5FA1-E5C9-0345-078140183857}"/>
              </a:ext>
            </a:extLst>
          </p:cNvPr>
          <p:cNvSpPr txBox="1"/>
          <p:nvPr/>
        </p:nvSpPr>
        <p:spPr>
          <a:xfrm>
            <a:off x="3808188" y="3472934"/>
            <a:ext cx="2332690" cy="923330"/>
          </a:xfrm>
          <a:prstGeom prst="rect">
            <a:avLst/>
          </a:prstGeom>
          <a:noFill/>
        </p:spPr>
        <p:txBody>
          <a:bodyPr wrap="none" rtlCol="0">
            <a:spAutoFit/>
          </a:bodyPr>
          <a:lstStyle/>
          <a:p>
            <a:pPr algn="ctr"/>
            <a:r>
              <a:rPr lang="fa-IR" dirty="0">
                <a:cs typeface="B Titr" panose="00000700000000000000" pitchFamily="2" charset="-78"/>
              </a:rPr>
              <a:t>استاد : دکتر مصطفی نجفی</a:t>
            </a:r>
          </a:p>
          <a:p>
            <a:pPr algn="ctr"/>
            <a:endParaRPr lang="fa-IR" dirty="0">
              <a:cs typeface="B Titr" panose="00000700000000000000" pitchFamily="2" charset="-78"/>
            </a:endParaRPr>
          </a:p>
          <a:p>
            <a:pPr algn="ctr"/>
            <a:r>
              <a:rPr lang="fa-IR" dirty="0">
                <a:cs typeface="B Titr" panose="00000700000000000000" pitchFamily="2" charset="-78"/>
              </a:rPr>
              <a:t>دانشجو : مسیحا حیدری</a:t>
            </a:r>
            <a:endParaRPr lang="en-US" dirty="0">
              <a:cs typeface="B Titr" panose="00000700000000000000" pitchFamily="2" charset="-78"/>
            </a:endParaRPr>
          </a:p>
        </p:txBody>
      </p:sp>
      <p:pic>
        <p:nvPicPr>
          <p:cNvPr id="9" name="Picture 8">
            <a:extLst>
              <a:ext uri="{FF2B5EF4-FFF2-40B4-BE49-F238E27FC236}">
                <a16:creationId xmlns:a16="http://schemas.microsoft.com/office/drawing/2014/main" id="{3E92C49B-3AC8-5AB6-A415-F66BA0FB2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9294" y="5394806"/>
            <a:ext cx="1352013" cy="1256305"/>
          </a:xfrm>
          <a:prstGeom prst="rect">
            <a:avLst/>
          </a:prstGeom>
        </p:spPr>
      </p:pic>
      <p:pic>
        <p:nvPicPr>
          <p:cNvPr id="10" name="Picture 9">
            <a:extLst>
              <a:ext uri="{FF2B5EF4-FFF2-40B4-BE49-F238E27FC236}">
                <a16:creationId xmlns:a16="http://schemas.microsoft.com/office/drawing/2014/main" id="{D476546E-C311-D307-59F6-35385EE38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14" y="590561"/>
            <a:ext cx="2511711" cy="2511711"/>
          </a:xfrm>
          <a:prstGeom prst="rect">
            <a:avLst/>
          </a:prstGeom>
        </p:spPr>
      </p:pic>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2B0A-5BC8-6C0A-AFC7-DA010A5E9D9F}"/>
              </a:ext>
            </a:extLst>
          </p:cNvPr>
          <p:cNvSpPr>
            <a:spLocks noGrp="1"/>
          </p:cNvSpPr>
          <p:nvPr>
            <p:ph type="title"/>
          </p:nvPr>
        </p:nvSpPr>
        <p:spPr>
          <a:xfrm>
            <a:off x="850168" y="4595854"/>
            <a:ext cx="10122632" cy="1307592"/>
          </a:xfrm>
        </p:spPr>
        <p:txBody>
          <a:bodyPr/>
          <a:lstStyle/>
          <a:p>
            <a:pPr algn="ctr"/>
            <a:endParaRPr lang="en-US" dirty="0">
              <a:cs typeface="B Yekan" panose="00000400000000000000" pitchFamily="2" charset="-78"/>
            </a:endParaRPr>
          </a:p>
        </p:txBody>
      </p:sp>
      <p:sp>
        <p:nvSpPr>
          <p:cNvPr id="3" name="Content Placeholder 2">
            <a:extLst>
              <a:ext uri="{FF2B5EF4-FFF2-40B4-BE49-F238E27FC236}">
                <a16:creationId xmlns:a16="http://schemas.microsoft.com/office/drawing/2014/main" id="{3B2A3780-AF1F-F79A-D02D-FDCC23A443EA}"/>
              </a:ext>
            </a:extLst>
          </p:cNvPr>
          <p:cNvSpPr>
            <a:spLocks noGrp="1"/>
          </p:cNvSpPr>
          <p:nvPr>
            <p:ph sz="half" idx="2"/>
          </p:nvPr>
        </p:nvSpPr>
        <p:spPr>
          <a:xfrm>
            <a:off x="850168" y="5506278"/>
            <a:ext cx="2658345" cy="673860"/>
          </a:xfrm>
        </p:spPr>
        <p:txBody>
          <a:bodyPr/>
          <a:lstStyle/>
          <a:p>
            <a:endParaRPr lang="en-US" dirty="0"/>
          </a:p>
        </p:txBody>
      </p:sp>
      <p:sp>
        <p:nvSpPr>
          <p:cNvPr id="4" name="Slide Number Placeholder 3">
            <a:extLst>
              <a:ext uri="{FF2B5EF4-FFF2-40B4-BE49-F238E27FC236}">
                <a16:creationId xmlns:a16="http://schemas.microsoft.com/office/drawing/2014/main" id="{4AEEE9CB-8BBC-3D5B-D148-F2DA7F97E210}"/>
              </a:ext>
            </a:extLst>
          </p:cNvPr>
          <p:cNvSpPr>
            <a:spLocks noGrp="1"/>
          </p:cNvSpPr>
          <p:nvPr>
            <p:ph type="sldNum" sz="quarter" idx="11"/>
          </p:nvPr>
        </p:nvSpPr>
        <p:spPr/>
        <p:txBody>
          <a:bodyPr/>
          <a:lstStyle/>
          <a:p>
            <a:fld id="{09A01C0A-2BB6-49E7-91A3-DCB9F9F59583}" type="slidenum">
              <a:rPr lang="en-US" smtClean="0"/>
              <a:pPr/>
              <a:t>2</a:t>
            </a:fld>
            <a:endParaRPr lang="en-US" dirty="0"/>
          </a:p>
        </p:txBody>
      </p:sp>
      <p:sp>
        <p:nvSpPr>
          <p:cNvPr id="8" name="TextBox 7">
            <a:extLst>
              <a:ext uri="{FF2B5EF4-FFF2-40B4-BE49-F238E27FC236}">
                <a16:creationId xmlns:a16="http://schemas.microsoft.com/office/drawing/2014/main" id="{96DC8810-7E46-2B0E-059D-0D81C8DD5BDC}"/>
              </a:ext>
            </a:extLst>
          </p:cNvPr>
          <p:cNvSpPr txBox="1"/>
          <p:nvPr/>
        </p:nvSpPr>
        <p:spPr>
          <a:xfrm>
            <a:off x="3516795" y="2667664"/>
            <a:ext cx="5158409" cy="923330"/>
          </a:xfrm>
          <a:prstGeom prst="rect">
            <a:avLst/>
          </a:prstGeom>
          <a:noFill/>
        </p:spPr>
        <p:txBody>
          <a:bodyPr wrap="square" rtlCol="0">
            <a:spAutoFit/>
          </a:bodyPr>
          <a:lstStyle/>
          <a:p>
            <a:pPr algn="ctr"/>
            <a:r>
              <a:rPr lang="fa-IR" sz="5400" b="1" dirty="0">
                <a:solidFill>
                  <a:srgbClr val="3CF3D1"/>
                </a:solidFill>
                <a:cs typeface="B Yekan" panose="00000400000000000000" pitchFamily="2" charset="-78"/>
              </a:rPr>
              <a:t>نظام فنی و اجرایی</a:t>
            </a:r>
            <a:endParaRPr lang="en-US" sz="5400" b="1" dirty="0">
              <a:solidFill>
                <a:srgbClr val="3CF3D1"/>
              </a:solidFill>
              <a:cs typeface="B Yekan" panose="00000400000000000000" pitchFamily="2" charset="-78"/>
            </a:endParaRPr>
          </a:p>
        </p:txBody>
      </p:sp>
    </p:spTree>
    <p:extLst>
      <p:ext uri="{BB962C8B-B14F-4D97-AF65-F5344CB8AC3E}">
        <p14:creationId xmlns:p14="http://schemas.microsoft.com/office/powerpoint/2010/main" val="2741941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11360279" y="640080"/>
            <a:ext cx="365141" cy="284259"/>
          </a:xfrm>
        </p:spPr>
        <p:txBody>
          <a:bodyPr/>
          <a:lstStyle/>
          <a:p>
            <a:endParaRPr lang="en-US" dirty="0">
              <a:cs typeface="B Yekan" panose="00000400000000000000" pitchFamily="2" charset="-78"/>
            </a:endParaRPr>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708332" y="2918526"/>
            <a:ext cx="4834517" cy="1911892"/>
          </a:xfrm>
        </p:spPr>
        <p:txBody>
          <a:bodyPr/>
          <a:lstStyle/>
          <a:p>
            <a:pPr marL="342900" indent="-342900" algn="r" rtl="1">
              <a:buFont typeface="+mj-lt"/>
              <a:buAutoNum type="arabicPeriod"/>
            </a:pPr>
            <a:r>
              <a:rPr lang="fa-IR" sz="2000" dirty="0">
                <a:cs typeface="B Titr" panose="00000700000000000000" pitchFamily="2" charset="-78"/>
              </a:rPr>
              <a:t>نظام فنی و اجرایی کشور</a:t>
            </a:r>
          </a:p>
          <a:p>
            <a:pPr marL="342900" indent="-342900" algn="r" rtl="1">
              <a:buFont typeface="+mj-lt"/>
              <a:buAutoNum type="arabicPeriod"/>
            </a:pPr>
            <a:r>
              <a:rPr lang="ar-SA" sz="2000" dirty="0">
                <a:cs typeface="B Titr" panose="00000700000000000000" pitchFamily="2" charset="-78"/>
              </a:rPr>
              <a:t>فرهنگ واژگان نظام فني واجرايي كشور</a:t>
            </a:r>
          </a:p>
          <a:p>
            <a:pPr marL="342900" indent="-342900" algn="r" rtl="1">
              <a:buFont typeface="+mj-lt"/>
              <a:buAutoNum type="arabicPeriod"/>
            </a:pPr>
            <a:r>
              <a:rPr lang="ar-SA" sz="2000" dirty="0">
                <a:cs typeface="B Titr" panose="00000700000000000000" pitchFamily="2" charset="-78"/>
              </a:rPr>
              <a:t>مشخصات فنی عمومی کارهای ساختمانی </a:t>
            </a:r>
          </a:p>
          <a:p>
            <a:pPr marL="342900" indent="-342900" algn="r" rtl="1">
              <a:buFont typeface="+mj-lt"/>
              <a:buAutoNum type="arabicPeriod"/>
            </a:pPr>
            <a:endParaRPr lang="en-US" dirty="0">
              <a:cs typeface="B Titr" panose="00000700000000000000" pitchFamily="2" charset="-78"/>
            </a:endParaRPr>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3</a:t>
            </a:fld>
            <a:endParaRPr lang="en-US" dirty="0"/>
          </a:p>
        </p:txBody>
      </p:sp>
      <p:sp>
        <p:nvSpPr>
          <p:cNvPr id="3" name="TextBox 2">
            <a:extLst>
              <a:ext uri="{FF2B5EF4-FFF2-40B4-BE49-F238E27FC236}">
                <a16:creationId xmlns:a16="http://schemas.microsoft.com/office/drawing/2014/main" id="{BB0C3BF1-C80F-5A78-A15D-3BDC54A64ED2}"/>
              </a:ext>
            </a:extLst>
          </p:cNvPr>
          <p:cNvSpPr txBox="1"/>
          <p:nvPr/>
        </p:nvSpPr>
        <p:spPr>
          <a:xfrm>
            <a:off x="9113479" y="1490869"/>
            <a:ext cx="2254676" cy="707886"/>
          </a:xfrm>
          <a:prstGeom prst="rect">
            <a:avLst/>
          </a:prstGeom>
          <a:noFill/>
        </p:spPr>
        <p:txBody>
          <a:bodyPr wrap="square" rtlCol="0">
            <a:spAutoFit/>
          </a:bodyPr>
          <a:lstStyle/>
          <a:p>
            <a:r>
              <a:rPr lang="fa-IR" sz="4000" b="1" dirty="0">
                <a:cs typeface="B Yekan" panose="00000400000000000000" pitchFamily="2" charset="-78"/>
              </a:rPr>
              <a:t>فهرست :</a:t>
            </a:r>
            <a:endParaRPr lang="en-US" sz="4000" b="1" dirty="0">
              <a:cs typeface="B Yekan" panose="00000400000000000000" pitchFamily="2" charset="-78"/>
            </a:endParaRPr>
          </a:p>
        </p:txBody>
      </p:sp>
    </p:spTree>
    <p:extLst>
      <p:ext uri="{BB962C8B-B14F-4D97-AF65-F5344CB8AC3E}">
        <p14:creationId xmlns:p14="http://schemas.microsoft.com/office/powerpoint/2010/main" val="115181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48EF-5663-E0E8-D538-08589C48C6A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C327B76-A00F-5F2C-5775-23A252A3C524}"/>
              </a:ext>
            </a:extLst>
          </p:cNvPr>
          <p:cNvSpPr>
            <a:spLocks noGrp="1"/>
          </p:cNvSpPr>
          <p:nvPr>
            <p:ph sz="half" idx="2"/>
          </p:nvPr>
        </p:nvSpPr>
        <p:spPr>
          <a:xfrm>
            <a:off x="850392" y="2552700"/>
            <a:ext cx="10126362" cy="1752600"/>
          </a:xfrm>
        </p:spPr>
        <p:txBody>
          <a:bodyPr/>
          <a:lstStyle/>
          <a:p>
            <a:pPr algn="ctr"/>
            <a:r>
              <a:rPr lang="fa-IR" sz="4800" dirty="0">
                <a:cs typeface="B Titr" panose="00000700000000000000" pitchFamily="2" charset="-78"/>
              </a:rPr>
              <a:t>1. نظام فنی و اجرایی کشور</a:t>
            </a:r>
            <a:endParaRPr lang="en-US" sz="4800" dirty="0">
              <a:cs typeface="B Titr" panose="00000700000000000000" pitchFamily="2" charset="-78"/>
            </a:endParaRPr>
          </a:p>
        </p:txBody>
      </p:sp>
      <p:sp>
        <p:nvSpPr>
          <p:cNvPr id="4" name="Slide Number Placeholder 3">
            <a:extLst>
              <a:ext uri="{FF2B5EF4-FFF2-40B4-BE49-F238E27FC236}">
                <a16:creationId xmlns:a16="http://schemas.microsoft.com/office/drawing/2014/main" id="{5C058147-3D39-8437-E35D-818D84EEEFBA}"/>
              </a:ext>
            </a:extLst>
          </p:cNvPr>
          <p:cNvSpPr>
            <a:spLocks noGrp="1"/>
          </p:cNvSpPr>
          <p:nvPr>
            <p:ph type="sldNum" sz="quarter" idx="11"/>
          </p:nvPr>
        </p:nvSpPr>
        <p:spPr/>
        <p:txBody>
          <a:bodyPr/>
          <a:lstStyle/>
          <a:p>
            <a:fld id="{09A01C0A-2BB6-49E7-91A3-DCB9F9F59583}" type="slidenum">
              <a:rPr lang="en-US" smtClean="0"/>
              <a:pPr/>
              <a:t>4</a:t>
            </a:fld>
            <a:endParaRPr lang="en-US" dirty="0"/>
          </a:p>
        </p:txBody>
      </p:sp>
    </p:spTree>
    <p:extLst>
      <p:ext uri="{BB962C8B-B14F-4D97-AF65-F5344CB8AC3E}">
        <p14:creationId xmlns:p14="http://schemas.microsoft.com/office/powerpoint/2010/main" val="363466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a:xfrm>
            <a:off x="7641375" y="1106424"/>
            <a:ext cx="45719" cy="1746504"/>
          </a:xfrm>
        </p:spPr>
        <p:txBody>
          <a:bodyPr anchor="b"/>
          <a:lstStyle/>
          <a:p>
            <a:endParaRPr lang="en-US" dirty="0"/>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a:xfrm>
            <a:off x="789451" y="2098548"/>
            <a:ext cx="5832903" cy="2660904"/>
          </a:xfrm>
        </p:spPr>
        <p:txBody>
          <a:bodyPr anchor="b"/>
          <a:lstStyle/>
          <a:p>
            <a:pPr algn="r"/>
            <a:r>
              <a:rPr lang="ar-SA" sz="2000" dirty="0">
                <a:cs typeface="B Yekan" panose="00000400000000000000" pitchFamily="2" charset="-78"/>
              </a:rPr>
              <a:t>بدلیل گسترده بودن  ابعاد و ماهیت فعالیت هایی که مربوط به تهیه ,اجرا ,نگهداری و بهره برداری از طرح های عمرانی و آثاری که از چگونگی انجام آن و همین طور مصرف حجم قابل توجهی از منابع اقتصادی آن, لزوم تنظیم این امور و هماهنگ کردن آن با دیگر امور کشور ضرورت نیازمندی به تصویت نظام فنی و اجرایی طرح های عمرای کشور را نشان میدهد. </a:t>
            </a:r>
          </a:p>
          <a:p>
            <a:pPr algn="r"/>
            <a:endParaRPr lang="en-US" sz="2000" dirty="0">
              <a:cs typeface="B Yekan" panose="00000400000000000000" pitchFamily="2" charset="-78"/>
            </a:endParaRP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104F5115-4987-5C8E-E191-E06A29A553D3}"/>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1EA969D2-43E7-374C-2BD3-3ED94ADEAE97}"/>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CCB2D080-C33E-7ABA-4BFC-D6F8F922FF10}"/>
              </a:ext>
            </a:extLst>
          </p:cNvPr>
          <p:cNvSpPr>
            <a:spLocks noGrp="1"/>
          </p:cNvSpPr>
          <p:nvPr>
            <p:ph type="sldNum" sz="quarter" idx="11"/>
          </p:nvPr>
        </p:nvSpPr>
        <p:spPr/>
        <p:txBody>
          <a:bodyPr/>
          <a:lstStyle/>
          <a:p>
            <a:fld id="{09A01C0A-2BB6-49E7-91A3-DCB9F9F59583}" type="slidenum">
              <a:rPr lang="en-US" smtClean="0"/>
              <a:pPr/>
              <a:t>5</a:t>
            </a:fld>
            <a:endParaRPr lang="en-US" dirty="0"/>
          </a:p>
        </p:txBody>
      </p:sp>
      <p:sp>
        <p:nvSpPr>
          <p:cNvPr id="2" name="TextBox 1">
            <a:extLst>
              <a:ext uri="{FF2B5EF4-FFF2-40B4-BE49-F238E27FC236}">
                <a16:creationId xmlns:a16="http://schemas.microsoft.com/office/drawing/2014/main" id="{06350C43-0287-C52F-B48F-269AEC22EC42}"/>
              </a:ext>
            </a:extLst>
          </p:cNvPr>
          <p:cNvSpPr txBox="1"/>
          <p:nvPr/>
        </p:nvSpPr>
        <p:spPr>
          <a:xfrm>
            <a:off x="2449314" y="1025541"/>
            <a:ext cx="2780999" cy="584775"/>
          </a:xfrm>
          <a:prstGeom prst="rect">
            <a:avLst/>
          </a:prstGeom>
          <a:noFill/>
        </p:spPr>
        <p:txBody>
          <a:bodyPr wrap="square" rtlCol="0">
            <a:spAutoFit/>
          </a:bodyPr>
          <a:lstStyle/>
          <a:p>
            <a:pPr algn="ctr"/>
            <a:r>
              <a:rPr lang="fa-IR" sz="3200" b="1" dirty="0">
                <a:cs typeface="B Titr" panose="00000700000000000000" pitchFamily="2" charset="-78"/>
              </a:rPr>
              <a:t>کلیات :</a:t>
            </a:r>
            <a:endParaRPr lang="en-US" sz="3200" b="1" dirty="0">
              <a:cs typeface="B Titr" panose="00000700000000000000" pitchFamily="2" charset="-78"/>
            </a:endParaRPr>
          </a:p>
        </p:txBody>
      </p:sp>
    </p:spTree>
    <p:extLst>
      <p:ext uri="{BB962C8B-B14F-4D97-AF65-F5344CB8AC3E}">
        <p14:creationId xmlns:p14="http://schemas.microsoft.com/office/powerpoint/2010/main" val="4278401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3C5A-CEA8-6DDC-B3F1-41D07C4FA704}"/>
              </a:ext>
            </a:extLst>
          </p:cNvPr>
          <p:cNvSpPr>
            <a:spLocks noGrp="1"/>
          </p:cNvSpPr>
          <p:nvPr>
            <p:ph type="title"/>
          </p:nvPr>
        </p:nvSpPr>
        <p:spPr>
          <a:xfrm flipH="1">
            <a:off x="11786616" y="1325880"/>
            <a:ext cx="405384" cy="2816352"/>
          </a:xfrm>
        </p:spPr>
        <p:txBody>
          <a:bodyPr/>
          <a:lstStyle/>
          <a:p>
            <a:endParaRPr lang="en-US" dirty="0"/>
          </a:p>
        </p:txBody>
      </p:sp>
      <p:sp>
        <p:nvSpPr>
          <p:cNvPr id="5" name="Subtitle 4">
            <a:extLst>
              <a:ext uri="{FF2B5EF4-FFF2-40B4-BE49-F238E27FC236}">
                <a16:creationId xmlns:a16="http://schemas.microsoft.com/office/drawing/2014/main" id="{0E8B56C7-C38F-E96E-3C19-8ACF8AF9E716}"/>
              </a:ext>
            </a:extLst>
          </p:cNvPr>
          <p:cNvSpPr>
            <a:spLocks noGrp="1"/>
          </p:cNvSpPr>
          <p:nvPr>
            <p:ph type="subTitle" idx="1"/>
          </p:nvPr>
        </p:nvSpPr>
        <p:spPr>
          <a:xfrm>
            <a:off x="4919870" y="1755648"/>
            <a:ext cx="6162260" cy="1956816"/>
          </a:xfrm>
        </p:spPr>
        <p:txBody>
          <a:bodyPr/>
          <a:lstStyle/>
          <a:p>
            <a:pPr algn="r"/>
            <a:r>
              <a:rPr lang="ar-SA" sz="2400" dirty="0">
                <a:cs typeface="B Yekan" panose="00000400000000000000" pitchFamily="2" charset="-78"/>
              </a:rPr>
              <a:t>نظام فني واجرايي , عبارت است از مجموعه اصول , روشها , مقررات و ضوابط فني وحقوقي ومالي حاكم بر تهييه واجرا وارزشيابي طرحهاي عمراني كشور , و چگونگی انتخاب و بکارگیری عوامل دست اندر کار مربوط به آن ونیز تبیین مشخصات عوامل یاد شده ونحوه ارتباط بین انها .</a:t>
            </a:r>
          </a:p>
          <a:p>
            <a:pPr algn="r"/>
            <a:endParaRPr lang="en-US" sz="2400" dirty="0">
              <a:cs typeface="B Yekan" panose="00000400000000000000" pitchFamily="2" charset="-78"/>
            </a:endParaRPr>
          </a:p>
        </p:txBody>
      </p:sp>
      <p:sp>
        <p:nvSpPr>
          <p:cNvPr id="3" name="TextBox 2">
            <a:extLst>
              <a:ext uri="{FF2B5EF4-FFF2-40B4-BE49-F238E27FC236}">
                <a16:creationId xmlns:a16="http://schemas.microsoft.com/office/drawing/2014/main" id="{038EB79F-0027-3FAC-1396-84C0FD14497F}"/>
              </a:ext>
            </a:extLst>
          </p:cNvPr>
          <p:cNvSpPr txBox="1"/>
          <p:nvPr/>
        </p:nvSpPr>
        <p:spPr>
          <a:xfrm>
            <a:off x="9223513" y="556439"/>
            <a:ext cx="1701107" cy="769441"/>
          </a:xfrm>
          <a:prstGeom prst="rect">
            <a:avLst/>
          </a:prstGeom>
          <a:noFill/>
        </p:spPr>
        <p:txBody>
          <a:bodyPr wrap="none" rtlCol="0">
            <a:spAutoFit/>
          </a:bodyPr>
          <a:lstStyle/>
          <a:p>
            <a:r>
              <a:rPr lang="fa-IR" sz="4400" b="1" dirty="0">
                <a:cs typeface="B Titr" panose="00000700000000000000" pitchFamily="2" charset="-78"/>
              </a:rPr>
              <a:t>تعریف :</a:t>
            </a:r>
            <a:endParaRPr lang="en-US" sz="4400" b="1" dirty="0">
              <a:cs typeface="B Titr" panose="00000700000000000000" pitchFamily="2" charset="-78"/>
            </a:endParaRPr>
          </a:p>
        </p:txBody>
      </p:sp>
    </p:spTree>
    <p:extLst>
      <p:ext uri="{BB962C8B-B14F-4D97-AF65-F5344CB8AC3E}">
        <p14:creationId xmlns:p14="http://schemas.microsoft.com/office/powerpoint/2010/main" val="2521615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11201400" y="420624"/>
            <a:ext cx="603504" cy="1463040"/>
          </a:xfrm>
        </p:spPr>
        <p:txBody>
          <a:bodyPr/>
          <a:lstStyle/>
          <a:p>
            <a:endParaRPr lang="en-US" dirty="0"/>
          </a:p>
        </p:txBody>
      </p:sp>
      <p:sp>
        <p:nvSpPr>
          <p:cNvPr id="7" name="Text Placeholder 6">
            <a:extLst>
              <a:ext uri="{FF2B5EF4-FFF2-40B4-BE49-F238E27FC236}">
                <a16:creationId xmlns:a16="http://schemas.microsoft.com/office/drawing/2014/main" id="{F74321E3-704E-37A8-CFB9-768FCE6AD758}"/>
              </a:ext>
            </a:extLst>
          </p:cNvPr>
          <p:cNvSpPr>
            <a:spLocks noGrp="1"/>
          </p:cNvSpPr>
          <p:nvPr>
            <p:ph type="body" sz="quarter" idx="12"/>
          </p:nvPr>
        </p:nvSpPr>
        <p:spPr>
          <a:xfrm>
            <a:off x="368383" y="1684483"/>
            <a:ext cx="5271397" cy="3126058"/>
          </a:xfrm>
        </p:spPr>
        <p:txBody>
          <a:bodyPr/>
          <a:lstStyle/>
          <a:p>
            <a:pPr algn="r" rtl="1"/>
            <a:r>
              <a:rPr lang="fa-IR" dirty="0">
                <a:cs typeface="B Yekan" panose="00000400000000000000" pitchFamily="2" charset="-78"/>
              </a:rPr>
              <a:t>تعیین اهداف کلان و سیاست کلی</a:t>
            </a:r>
          </a:p>
          <a:p>
            <a:pPr algn="r" rtl="1"/>
            <a:r>
              <a:rPr lang="fa-IR" dirty="0">
                <a:cs typeface="B Yekan" panose="00000400000000000000" pitchFamily="2" charset="-78"/>
              </a:rPr>
              <a:t>مطالعات بنیادی, تحقیقاتی , پایه ای و منطقه ای</a:t>
            </a:r>
          </a:p>
          <a:p>
            <a:pPr algn="r" rtl="1"/>
            <a:r>
              <a:rPr lang="fa-IR" dirty="0">
                <a:cs typeface="B Yekan" panose="00000400000000000000" pitchFamily="2" charset="-78"/>
              </a:rPr>
              <a:t>تهیه طرح ها</a:t>
            </a:r>
          </a:p>
          <a:p>
            <a:pPr algn="r" rtl="1"/>
            <a:r>
              <a:rPr lang="fa-IR" dirty="0">
                <a:cs typeface="B Yekan" panose="00000400000000000000" pitchFamily="2" charset="-78"/>
              </a:rPr>
              <a:t>اجرای طرح ها ( ساخت )</a:t>
            </a:r>
          </a:p>
          <a:p>
            <a:pPr algn="r" rtl="1"/>
            <a:r>
              <a:rPr lang="fa-IR" dirty="0">
                <a:cs typeface="B Yekan" panose="00000400000000000000" pitchFamily="2" charset="-78"/>
              </a:rPr>
              <a:t>ارزشیابی</a:t>
            </a:r>
            <a:endParaRPr lang="en-US" dirty="0">
              <a:cs typeface="B Yekan" panose="00000400000000000000" pitchFamily="2" charset="-78"/>
            </a:endParaRPr>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7</a:t>
            </a:fld>
            <a:endParaRPr lang="en-US" dirty="0"/>
          </a:p>
        </p:txBody>
      </p:sp>
      <p:sp>
        <p:nvSpPr>
          <p:cNvPr id="3" name="TextBox 2">
            <a:extLst>
              <a:ext uri="{FF2B5EF4-FFF2-40B4-BE49-F238E27FC236}">
                <a16:creationId xmlns:a16="http://schemas.microsoft.com/office/drawing/2014/main" id="{F37FF2FD-0D6C-0C29-B90F-A412B543190C}"/>
              </a:ext>
            </a:extLst>
          </p:cNvPr>
          <p:cNvSpPr txBox="1"/>
          <p:nvPr/>
        </p:nvSpPr>
        <p:spPr>
          <a:xfrm>
            <a:off x="1758589" y="658986"/>
            <a:ext cx="3881191" cy="584775"/>
          </a:xfrm>
          <a:prstGeom prst="rect">
            <a:avLst/>
          </a:prstGeom>
          <a:noFill/>
        </p:spPr>
        <p:txBody>
          <a:bodyPr wrap="none" rtlCol="0">
            <a:spAutoFit/>
          </a:bodyPr>
          <a:lstStyle/>
          <a:p>
            <a:r>
              <a:rPr lang="fa-IR" sz="3200" dirty="0">
                <a:cs typeface="B Titr" panose="00000700000000000000" pitchFamily="2" charset="-78"/>
              </a:rPr>
              <a:t>نقش نظام فنی و اجرایی :</a:t>
            </a:r>
            <a:endParaRPr lang="en-US" sz="3200" dirty="0">
              <a:cs typeface="B Titr" panose="00000700000000000000" pitchFamily="2" charset="-78"/>
            </a:endParaRPr>
          </a:p>
        </p:txBody>
      </p:sp>
    </p:spTree>
    <p:extLst>
      <p:ext uri="{BB962C8B-B14F-4D97-AF65-F5344CB8AC3E}">
        <p14:creationId xmlns:p14="http://schemas.microsoft.com/office/powerpoint/2010/main" val="157209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74D0CE-3040-CE4D-786D-CE7C310507E2}"/>
              </a:ext>
            </a:extLst>
          </p:cNvPr>
          <p:cNvSpPr txBox="1"/>
          <p:nvPr/>
        </p:nvSpPr>
        <p:spPr>
          <a:xfrm>
            <a:off x="2763078" y="2782669"/>
            <a:ext cx="6082748" cy="646331"/>
          </a:xfrm>
          <a:prstGeom prst="rect">
            <a:avLst/>
          </a:prstGeom>
          <a:noFill/>
        </p:spPr>
        <p:txBody>
          <a:bodyPr wrap="square" rtlCol="0">
            <a:spAutoFit/>
          </a:bodyPr>
          <a:lstStyle/>
          <a:p>
            <a:pPr algn="r"/>
            <a:r>
              <a:rPr lang="fa-IR" sz="3600" dirty="0">
                <a:cs typeface="B Titr" panose="00000700000000000000" pitchFamily="2" charset="-78"/>
              </a:rPr>
              <a:t>1. معیارها , استاندارها وضوابط فنی</a:t>
            </a:r>
          </a:p>
        </p:txBody>
      </p:sp>
      <p:sp>
        <p:nvSpPr>
          <p:cNvPr id="5" name="Rectangle 4">
            <a:extLst>
              <a:ext uri="{FF2B5EF4-FFF2-40B4-BE49-F238E27FC236}">
                <a16:creationId xmlns:a16="http://schemas.microsoft.com/office/drawing/2014/main" id="{65F7A718-B9EB-380E-5B3B-7FFCD181C8AE}"/>
              </a:ext>
            </a:extLst>
          </p:cNvPr>
          <p:cNvSpPr/>
          <p:nvPr/>
        </p:nvSpPr>
        <p:spPr>
          <a:xfrm>
            <a:off x="10336696" y="0"/>
            <a:ext cx="185530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3578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CF4CD-8A5D-E732-08B0-956F1D3E06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F78BF9-EA78-ECB3-1158-89A790C32A62}"/>
              </a:ext>
            </a:extLst>
          </p:cNvPr>
          <p:cNvSpPr txBox="1"/>
          <p:nvPr/>
        </p:nvSpPr>
        <p:spPr>
          <a:xfrm>
            <a:off x="2534479" y="1962547"/>
            <a:ext cx="6500190" cy="267765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این</a:t>
            </a:r>
            <a:r>
              <a:rPr kumimoji="0" lang="fa-IR"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 </a:t>
            </a:r>
            <a:r>
              <a:rPr kumimoji="0" lang="ar-SA"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ها عبارت</a:t>
            </a:r>
            <a:r>
              <a:rPr kumimoji="0" lang="fa-IR"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 ا</a:t>
            </a:r>
            <a:r>
              <a:rPr kumimoji="0" lang="ar-SA"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ند از مجموعه اي از مشخصات فني , روشها , ضوابط و دستور العمل هايي كه بر اساس اصول علمي وفني موجود در كشور وجهان , با توجه به شرايط اقليمي , زيست محيطي , اجتماعى وامكانات موجود براي پذيرش طرح از نظر فني واقتصادي , تضمين ايمني , حفاظت اطلاعات وبهبود كيفيت طراحي , اجرا , نگهداري وبهره برداري طرحها , تهيه وتدوين مي شود .</a:t>
            </a:r>
          </a:p>
        </p:txBody>
      </p:sp>
      <p:sp>
        <p:nvSpPr>
          <p:cNvPr id="5" name="Rectangle 4">
            <a:extLst>
              <a:ext uri="{FF2B5EF4-FFF2-40B4-BE49-F238E27FC236}">
                <a16:creationId xmlns:a16="http://schemas.microsoft.com/office/drawing/2014/main" id="{E0468266-BBCA-28A0-0B9B-708E0E7F87B9}"/>
              </a:ext>
            </a:extLst>
          </p:cNvPr>
          <p:cNvSpPr/>
          <p:nvPr/>
        </p:nvSpPr>
        <p:spPr>
          <a:xfrm>
            <a:off x="10336696" y="0"/>
            <a:ext cx="185530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Light"/>
              <a:ea typeface="+mn-ea"/>
              <a:cs typeface="+mn-cs"/>
            </a:endParaRPr>
          </a:p>
        </p:txBody>
      </p:sp>
    </p:spTree>
    <p:extLst>
      <p:ext uri="{BB962C8B-B14F-4D97-AF65-F5344CB8AC3E}">
        <p14:creationId xmlns:p14="http://schemas.microsoft.com/office/powerpoint/2010/main" val="1223352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54421-7E4D-8488-4821-ABC6568FB84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35AE90-EC19-9064-E66C-62FD8A368449}"/>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6" name="TextBox 5">
            <a:extLst>
              <a:ext uri="{FF2B5EF4-FFF2-40B4-BE49-F238E27FC236}">
                <a16:creationId xmlns:a16="http://schemas.microsoft.com/office/drawing/2014/main" id="{2C3A5CDE-9CDE-42FC-F3AD-A44A9969387F}"/>
              </a:ext>
            </a:extLst>
          </p:cNvPr>
          <p:cNvSpPr txBox="1"/>
          <p:nvPr/>
        </p:nvSpPr>
        <p:spPr>
          <a:xfrm>
            <a:off x="2961709" y="2782669"/>
            <a:ext cx="592387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2</a:t>
            </a:r>
            <a:r>
              <a:rPr kumimoji="0" lang="ar-SA"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 مطالعات بنیادی و تحقیقاتی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Tree>
    <p:extLst>
      <p:ext uri="{BB962C8B-B14F-4D97-AF65-F5344CB8AC3E}">
        <p14:creationId xmlns:p14="http://schemas.microsoft.com/office/powerpoint/2010/main" val="246315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C1333C-5F5A-4A64-2D9E-329798928A0E}"/>
              </a:ext>
            </a:extLst>
          </p:cNvPr>
          <p:cNvSpPr>
            <a:spLocks noGrp="1"/>
          </p:cNvSpPr>
          <p:nvPr>
            <p:ph type="body" idx="1"/>
          </p:nvPr>
        </p:nvSpPr>
        <p:spPr>
          <a:xfrm>
            <a:off x="3021344" y="2069669"/>
            <a:ext cx="5437177" cy="2185868"/>
          </a:xfrm>
        </p:spPr>
        <p:txBody>
          <a:bodyPr/>
          <a:lstStyle/>
          <a:p>
            <a:pPr algn="r"/>
            <a:r>
              <a:rPr lang="ar-SA" sz="2400" dirty="0">
                <a:cs typeface="B Yekan" panose="00000400000000000000" pitchFamily="2" charset="-78"/>
              </a:rPr>
              <a:t>شامل مطالعات پايه , جامع بخشي , منطقه اي , امايش سرزمين , تحقيقات ونظاير ان . </a:t>
            </a:r>
          </a:p>
          <a:p>
            <a:pPr algn="r"/>
            <a:r>
              <a:rPr lang="ar-SA" sz="2400" dirty="0">
                <a:cs typeface="B Yekan" panose="00000400000000000000" pitchFamily="2" charset="-78"/>
              </a:rPr>
              <a:t>مطالعاتي است كه نتايج حاصل از انها منجر به تصميم گیری کلی در مورد برنامه ها وشناخت طرحها ومدیریت انها می شود .</a:t>
            </a:r>
          </a:p>
          <a:p>
            <a:pPr algn="r"/>
            <a:endParaRPr lang="en-US" sz="2400" dirty="0">
              <a:cs typeface="B Yekan" panose="00000400000000000000" pitchFamily="2" charset="-78"/>
            </a:endParaRPr>
          </a:p>
        </p:txBody>
      </p:sp>
      <p:sp>
        <p:nvSpPr>
          <p:cNvPr id="5" name="Slide Number Placeholder 4">
            <a:extLst>
              <a:ext uri="{FF2B5EF4-FFF2-40B4-BE49-F238E27FC236}">
                <a16:creationId xmlns:a16="http://schemas.microsoft.com/office/drawing/2014/main" id="{AD5D26E9-7DBE-A485-DF63-177C37B28E59}"/>
              </a:ext>
            </a:extLst>
          </p:cNvPr>
          <p:cNvSpPr>
            <a:spLocks noGrp="1"/>
          </p:cNvSpPr>
          <p:nvPr>
            <p:ph type="sldNum" sz="quarter" idx="11"/>
          </p:nvPr>
        </p:nvSpPr>
        <p:spPr/>
        <p:txBody>
          <a:bodyPr/>
          <a:lstStyle/>
          <a:p>
            <a:fld id="{09A01C0A-2BB6-49E7-91A3-DCB9F9F59583}" type="slidenum">
              <a:rPr lang="en-US" smtClean="0"/>
              <a:pPr/>
              <a:t>11</a:t>
            </a:fld>
            <a:endParaRPr lang="en-US" dirty="0"/>
          </a:p>
        </p:txBody>
      </p:sp>
    </p:spTree>
    <p:extLst>
      <p:ext uri="{BB962C8B-B14F-4D97-AF65-F5344CB8AC3E}">
        <p14:creationId xmlns:p14="http://schemas.microsoft.com/office/powerpoint/2010/main" val="217300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DD397E-DDC5-CB94-B7E7-055FC6E6F2EE}"/>
              </a:ext>
            </a:extLst>
          </p:cNvPr>
          <p:cNvSpPr txBox="1"/>
          <p:nvPr/>
        </p:nvSpPr>
        <p:spPr>
          <a:xfrm>
            <a:off x="3990960" y="3105834"/>
            <a:ext cx="4210079" cy="646331"/>
          </a:xfrm>
          <a:prstGeom prst="rect">
            <a:avLst/>
          </a:prstGeom>
          <a:noFill/>
        </p:spPr>
        <p:txBody>
          <a:bodyPr wrap="square" rtlCol="0">
            <a:spAutoFit/>
          </a:bodyPr>
          <a:lstStyle/>
          <a:p>
            <a:pPr algn="ctr"/>
            <a:r>
              <a:rPr lang="ar-SA" sz="3600" dirty="0">
                <a:cs typeface="B Titr" panose="00000700000000000000" pitchFamily="2" charset="-78"/>
              </a:rPr>
              <a:t>3. تهیه طرح</a:t>
            </a:r>
            <a:r>
              <a:rPr lang="fa-IR" sz="3600" dirty="0">
                <a:cs typeface="B Titr" panose="00000700000000000000" pitchFamily="2" charset="-78"/>
              </a:rPr>
              <a:t> </a:t>
            </a:r>
            <a:r>
              <a:rPr lang="ar-SA" sz="3600" dirty="0">
                <a:cs typeface="B Titr" panose="00000700000000000000" pitchFamily="2" charset="-78"/>
              </a:rPr>
              <a:t>ها</a:t>
            </a:r>
            <a:endParaRPr lang="en-US" sz="3600" dirty="0">
              <a:cs typeface="B Titr" panose="00000700000000000000" pitchFamily="2" charset="-78"/>
            </a:endParaRPr>
          </a:p>
        </p:txBody>
      </p:sp>
      <p:sp>
        <p:nvSpPr>
          <p:cNvPr id="6" name="Rectangle 5">
            <a:extLst>
              <a:ext uri="{FF2B5EF4-FFF2-40B4-BE49-F238E27FC236}">
                <a16:creationId xmlns:a16="http://schemas.microsoft.com/office/drawing/2014/main" id="{26F92813-E128-DF86-9B9B-13A654D2DF16}"/>
              </a:ext>
            </a:extLst>
          </p:cNvPr>
          <p:cNvSpPr/>
          <p:nvPr/>
        </p:nvSpPr>
        <p:spPr>
          <a:xfrm>
            <a:off x="9889435" y="0"/>
            <a:ext cx="230256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66400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71F5-82D0-1098-1832-3B814C5AA9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03DF01-7680-15AD-F6BC-0F6CE6D4848C}"/>
              </a:ext>
            </a:extLst>
          </p:cNvPr>
          <p:cNvSpPr txBox="1"/>
          <p:nvPr/>
        </p:nvSpPr>
        <p:spPr>
          <a:xfrm>
            <a:off x="3990960" y="1878495"/>
            <a:ext cx="421007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3. تهیه طرح</a:t>
            </a: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 </a:t>
            </a:r>
            <a:r>
              <a:rPr kumimoji="0" lang="ar-SA"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ها</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
        <p:nvSpPr>
          <p:cNvPr id="5" name="TextBox 4">
            <a:extLst>
              <a:ext uri="{FF2B5EF4-FFF2-40B4-BE49-F238E27FC236}">
                <a16:creationId xmlns:a16="http://schemas.microsoft.com/office/drawing/2014/main" id="{A606AB94-A877-700E-430C-C5A441AF469F}"/>
              </a:ext>
            </a:extLst>
          </p:cNvPr>
          <p:cNvSpPr txBox="1"/>
          <p:nvPr/>
        </p:nvSpPr>
        <p:spPr>
          <a:xfrm>
            <a:off x="1391478" y="2842879"/>
            <a:ext cx="6529209" cy="193899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24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تهیه طرح عبارت است از انجام تحقيق , بررسي , مطالعه وطراحي مورد لزوم براي شناسايى , توجيه فنى , اقتصادي , اجتماعى , زيست محيطى وبه طور كلى , فعاليتهاى كه منجر به پذيرش يا رد طرح ( به معناى توصيه به سرمايه گذاری یا عدم سرمایه گذاری در طرح ) می شوند . </a:t>
            </a:r>
          </a:p>
        </p:txBody>
      </p:sp>
      <p:sp>
        <p:nvSpPr>
          <p:cNvPr id="6" name="Rectangle 5">
            <a:extLst>
              <a:ext uri="{FF2B5EF4-FFF2-40B4-BE49-F238E27FC236}">
                <a16:creationId xmlns:a16="http://schemas.microsoft.com/office/drawing/2014/main" id="{21E940E8-BEF7-E968-A853-5E721F73E936}"/>
              </a:ext>
            </a:extLst>
          </p:cNvPr>
          <p:cNvSpPr/>
          <p:nvPr/>
        </p:nvSpPr>
        <p:spPr>
          <a:xfrm>
            <a:off x="9889435" y="0"/>
            <a:ext cx="230256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noFill/>
              <a:effectLst/>
              <a:uLnTx/>
              <a:uFillTx/>
              <a:latin typeface="Avenir Next LT Pro Light"/>
              <a:ea typeface="+mn-ea"/>
              <a:cs typeface="+mn-cs"/>
            </a:endParaRPr>
          </a:p>
        </p:txBody>
      </p:sp>
    </p:spTree>
    <p:extLst>
      <p:ext uri="{BB962C8B-B14F-4D97-AF65-F5344CB8AC3E}">
        <p14:creationId xmlns:p14="http://schemas.microsoft.com/office/powerpoint/2010/main" val="2326717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3807CE3-B891-789E-8939-5CD800CAEFF0}"/>
              </a:ext>
            </a:extLst>
          </p:cNvPr>
          <p:cNvSpPr>
            <a:spLocks noGrp="1"/>
          </p:cNvSpPr>
          <p:nvPr>
            <p:ph type="sldNum" sz="quarter" idx="11"/>
          </p:nvPr>
        </p:nvSpPr>
        <p:spPr>
          <a:xfrm rot="16200000">
            <a:off x="11716512" y="6382512"/>
            <a:ext cx="566928" cy="384048"/>
          </a:xfrm>
        </p:spPr>
        <p:txBody>
          <a:bodyPr/>
          <a:lstStyle/>
          <a:p>
            <a:fld id="{09A01C0A-2BB6-49E7-91A3-DCB9F9F59583}" type="slidenum">
              <a:rPr lang="en-US" smtClean="0"/>
              <a:pPr/>
              <a:t>14</a:t>
            </a:fld>
            <a:endParaRPr lang="en-US" dirty="0"/>
          </a:p>
        </p:txBody>
      </p:sp>
      <p:sp>
        <p:nvSpPr>
          <p:cNvPr id="6" name="TextBox 5">
            <a:extLst>
              <a:ext uri="{FF2B5EF4-FFF2-40B4-BE49-F238E27FC236}">
                <a16:creationId xmlns:a16="http://schemas.microsoft.com/office/drawing/2014/main" id="{77BA6D28-078E-DBE2-C2F3-8CBCB75FC71A}"/>
              </a:ext>
            </a:extLst>
          </p:cNvPr>
          <p:cNvSpPr txBox="1"/>
          <p:nvPr/>
        </p:nvSpPr>
        <p:spPr>
          <a:xfrm>
            <a:off x="4547551" y="655984"/>
            <a:ext cx="3096897" cy="646331"/>
          </a:xfrm>
          <a:prstGeom prst="rect">
            <a:avLst/>
          </a:prstGeom>
          <a:noFill/>
        </p:spPr>
        <p:txBody>
          <a:bodyPr wrap="square" rtlCol="0">
            <a:spAutoFit/>
          </a:bodyPr>
          <a:lstStyle/>
          <a:p>
            <a:r>
              <a:rPr lang="fa-IR" sz="3600" dirty="0">
                <a:cs typeface="B Titr" panose="00000700000000000000" pitchFamily="2" charset="-78"/>
              </a:rPr>
              <a:t>4. اجرای طرح ها</a:t>
            </a:r>
            <a:endParaRPr lang="en-US" sz="3600" dirty="0">
              <a:cs typeface="B Titr" panose="00000700000000000000" pitchFamily="2" charset="-78"/>
            </a:endParaRPr>
          </a:p>
        </p:txBody>
      </p:sp>
      <p:sp>
        <p:nvSpPr>
          <p:cNvPr id="7" name="Flowchart: Connector 6">
            <a:extLst>
              <a:ext uri="{FF2B5EF4-FFF2-40B4-BE49-F238E27FC236}">
                <a16:creationId xmlns:a16="http://schemas.microsoft.com/office/drawing/2014/main" id="{732042F8-1C07-A2E0-4F36-ED2257778333}"/>
              </a:ext>
            </a:extLst>
          </p:cNvPr>
          <p:cNvSpPr/>
          <p:nvPr/>
        </p:nvSpPr>
        <p:spPr>
          <a:xfrm>
            <a:off x="9566413" y="1766625"/>
            <a:ext cx="367748" cy="367748"/>
          </a:xfrm>
          <a:prstGeom prst="flowChartConnector">
            <a:avLst/>
          </a:prstGeom>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41C7952-A24B-A4DA-9FD9-BEB0C5658E5D}"/>
              </a:ext>
            </a:extLst>
          </p:cNvPr>
          <p:cNvSpPr txBox="1"/>
          <p:nvPr/>
        </p:nvSpPr>
        <p:spPr>
          <a:xfrm>
            <a:off x="5029200" y="1766625"/>
            <a:ext cx="4269714" cy="400110"/>
          </a:xfrm>
          <a:prstGeom prst="rect">
            <a:avLst/>
          </a:prstGeom>
          <a:noFill/>
        </p:spPr>
        <p:txBody>
          <a:bodyPr wrap="square" rtlCol="0">
            <a:spAutoFit/>
          </a:bodyPr>
          <a:lstStyle/>
          <a:p>
            <a:pPr algn="r"/>
            <a:r>
              <a:rPr lang="ar-SA" sz="2000" dirty="0">
                <a:cs typeface="B Yekan" panose="00000400000000000000" pitchFamily="2" charset="-78"/>
              </a:rPr>
              <a:t>انجام وظایف قانونی غیر قابل واگذاری</a:t>
            </a:r>
          </a:p>
        </p:txBody>
      </p:sp>
      <p:cxnSp>
        <p:nvCxnSpPr>
          <p:cNvPr id="11" name="Straight Connector 10">
            <a:extLst>
              <a:ext uri="{FF2B5EF4-FFF2-40B4-BE49-F238E27FC236}">
                <a16:creationId xmlns:a16="http://schemas.microsoft.com/office/drawing/2014/main" id="{3324CCF2-8AFF-71C5-42AA-E5221C7BC4DC}"/>
              </a:ext>
            </a:extLst>
          </p:cNvPr>
          <p:cNvCxnSpPr>
            <a:cxnSpLocks/>
            <a:stCxn id="7" idx="4"/>
          </p:cNvCxnSpPr>
          <p:nvPr/>
        </p:nvCxnSpPr>
        <p:spPr>
          <a:xfrm>
            <a:off x="9750287" y="2134373"/>
            <a:ext cx="0" cy="566530"/>
          </a:xfrm>
          <a:prstGeom prst="line">
            <a:avLst/>
          </a:prstGeom>
          <a:ln w="38100">
            <a:solidFill>
              <a:srgbClr val="000000"/>
            </a:solidFill>
          </a:ln>
        </p:spPr>
        <p:style>
          <a:lnRef idx="1">
            <a:schemeClr val="accent1"/>
          </a:lnRef>
          <a:fillRef idx="0">
            <a:schemeClr val="accent1"/>
          </a:fillRef>
          <a:effectRef idx="0">
            <a:schemeClr val="accent1"/>
          </a:effectRef>
          <a:fontRef idx="minor">
            <a:schemeClr val="tx1"/>
          </a:fontRef>
        </p:style>
      </p:cxnSp>
      <p:sp>
        <p:nvSpPr>
          <p:cNvPr id="13" name="Flowchart: Connector 12">
            <a:extLst>
              <a:ext uri="{FF2B5EF4-FFF2-40B4-BE49-F238E27FC236}">
                <a16:creationId xmlns:a16="http://schemas.microsoft.com/office/drawing/2014/main" id="{B335EBD5-1140-999A-5C47-369F3C1841D2}"/>
              </a:ext>
            </a:extLst>
          </p:cNvPr>
          <p:cNvSpPr/>
          <p:nvPr/>
        </p:nvSpPr>
        <p:spPr>
          <a:xfrm>
            <a:off x="9566413" y="2631331"/>
            <a:ext cx="367748" cy="367748"/>
          </a:xfrm>
          <a:prstGeom prst="flowChartConnector">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3D37C62-D741-CF25-AEED-327BC7EEFAE8}"/>
              </a:ext>
            </a:extLst>
          </p:cNvPr>
          <p:cNvSpPr txBox="1"/>
          <p:nvPr/>
        </p:nvSpPr>
        <p:spPr>
          <a:xfrm>
            <a:off x="3651773" y="2631045"/>
            <a:ext cx="5647141" cy="1938992"/>
          </a:xfrm>
          <a:prstGeom prst="rect">
            <a:avLst/>
          </a:prstGeom>
          <a:noFill/>
        </p:spPr>
        <p:txBody>
          <a:bodyPr wrap="square" rtlCol="0">
            <a:spAutoFit/>
          </a:bodyPr>
          <a:lstStyle/>
          <a:p>
            <a:pPr algn="r"/>
            <a:r>
              <a:rPr lang="ar-SA" sz="2000" dirty="0">
                <a:cs typeface="B Yekan" panose="00000400000000000000" pitchFamily="2" charset="-78"/>
              </a:rPr>
              <a:t>خدمات مدیریت وکنترل</a:t>
            </a:r>
            <a:endParaRPr lang="fa-IR" sz="2000" dirty="0">
              <a:cs typeface="B Yekan" panose="00000400000000000000" pitchFamily="2" charset="-78"/>
            </a:endParaRPr>
          </a:p>
          <a:p>
            <a:pPr algn="r"/>
            <a:r>
              <a:rPr lang="fa-IR" sz="2000" dirty="0">
                <a:cs typeface="B Yekan" panose="00000400000000000000" pitchFamily="2" charset="-78"/>
              </a:rPr>
              <a:t>1. </a:t>
            </a:r>
            <a:r>
              <a:rPr lang="ar-SA" sz="2000" dirty="0">
                <a:cs typeface="B Yekan" panose="00000400000000000000" pitchFamily="2" charset="-78"/>
              </a:rPr>
              <a:t>مديريت اجرا</a:t>
            </a:r>
            <a:r>
              <a:rPr lang="fa-IR" sz="2000" dirty="0">
                <a:cs typeface="B Yekan" panose="00000400000000000000" pitchFamily="2" charset="-78"/>
              </a:rPr>
              <a:t> </a:t>
            </a:r>
            <a:endParaRPr lang="ar-SA" sz="2000" dirty="0">
              <a:cs typeface="B Yekan" panose="00000400000000000000" pitchFamily="2" charset="-78"/>
            </a:endParaRPr>
          </a:p>
          <a:p>
            <a:pPr algn="r"/>
            <a:r>
              <a:rPr lang="fa-IR" sz="2000" dirty="0">
                <a:cs typeface="B Yekan" panose="00000400000000000000" pitchFamily="2" charset="-78"/>
              </a:rPr>
              <a:t>2. </a:t>
            </a:r>
            <a:r>
              <a:rPr lang="ar-SA" sz="2000" dirty="0">
                <a:cs typeface="B Yekan" panose="00000400000000000000" pitchFamily="2" charset="-78"/>
              </a:rPr>
              <a:t>كنترل هاي مهندسي</a:t>
            </a:r>
          </a:p>
          <a:p>
            <a:pPr algn="r"/>
            <a:r>
              <a:rPr lang="fa-IR" sz="2000" dirty="0">
                <a:cs typeface="B Yekan" panose="00000400000000000000" pitchFamily="2" charset="-78"/>
              </a:rPr>
              <a:t>3. </a:t>
            </a:r>
            <a:r>
              <a:rPr lang="ar-SA" sz="2000" dirty="0">
                <a:cs typeface="B Yekan" panose="00000400000000000000" pitchFamily="2" charset="-78"/>
              </a:rPr>
              <a:t>كنترل پروژه</a:t>
            </a:r>
          </a:p>
          <a:p>
            <a:pPr algn="r"/>
            <a:r>
              <a:rPr lang="fa-IR" sz="2000" dirty="0">
                <a:cs typeface="B Yekan" panose="00000400000000000000" pitchFamily="2" charset="-78"/>
              </a:rPr>
              <a:t>4. </a:t>
            </a:r>
            <a:r>
              <a:rPr lang="ar-SA" sz="2000" dirty="0">
                <a:cs typeface="B Yekan" panose="00000400000000000000" pitchFamily="2" charset="-78"/>
              </a:rPr>
              <a:t>نظارت</a:t>
            </a:r>
          </a:p>
          <a:p>
            <a:pPr algn="r"/>
            <a:endParaRPr lang="ar-SA" sz="2000" dirty="0">
              <a:cs typeface="B Yekan" panose="00000400000000000000" pitchFamily="2" charset="-78"/>
            </a:endParaRPr>
          </a:p>
        </p:txBody>
      </p:sp>
      <p:cxnSp>
        <p:nvCxnSpPr>
          <p:cNvPr id="16" name="Straight Connector 15">
            <a:extLst>
              <a:ext uri="{FF2B5EF4-FFF2-40B4-BE49-F238E27FC236}">
                <a16:creationId xmlns:a16="http://schemas.microsoft.com/office/drawing/2014/main" id="{CF9AECE1-35BA-F932-F9D2-DF24B7EAA729}"/>
              </a:ext>
            </a:extLst>
          </p:cNvPr>
          <p:cNvCxnSpPr>
            <a:cxnSpLocks/>
            <a:stCxn id="13" idx="4"/>
          </p:cNvCxnSpPr>
          <p:nvPr/>
        </p:nvCxnSpPr>
        <p:spPr>
          <a:xfrm>
            <a:off x="9750287" y="2999079"/>
            <a:ext cx="0" cy="1642495"/>
          </a:xfrm>
          <a:prstGeom prst="line">
            <a:avLst/>
          </a:prstGeom>
          <a:ln w="38100">
            <a:solidFill>
              <a:srgbClr val="000000"/>
            </a:solidFill>
          </a:ln>
        </p:spPr>
        <p:style>
          <a:lnRef idx="1">
            <a:schemeClr val="accent1"/>
          </a:lnRef>
          <a:fillRef idx="0">
            <a:schemeClr val="accent1"/>
          </a:fillRef>
          <a:effectRef idx="0">
            <a:schemeClr val="accent1"/>
          </a:effectRef>
          <a:fontRef idx="minor">
            <a:schemeClr val="tx1"/>
          </a:fontRef>
        </p:style>
      </p:cxnSp>
      <p:sp>
        <p:nvSpPr>
          <p:cNvPr id="17" name="Flowchart: Connector 16">
            <a:extLst>
              <a:ext uri="{FF2B5EF4-FFF2-40B4-BE49-F238E27FC236}">
                <a16:creationId xmlns:a16="http://schemas.microsoft.com/office/drawing/2014/main" id="{00146D90-1D12-40BE-0E95-56FA1C3E347A}"/>
              </a:ext>
            </a:extLst>
          </p:cNvPr>
          <p:cNvSpPr/>
          <p:nvPr/>
        </p:nvSpPr>
        <p:spPr>
          <a:xfrm>
            <a:off x="9566413" y="4457700"/>
            <a:ext cx="367748" cy="367748"/>
          </a:xfrm>
          <a:prstGeom prst="flowChartConnector">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CBCFDAF-B3FE-7E02-B19F-A7728D51BEFE}"/>
              </a:ext>
            </a:extLst>
          </p:cNvPr>
          <p:cNvSpPr txBox="1"/>
          <p:nvPr/>
        </p:nvSpPr>
        <p:spPr>
          <a:xfrm>
            <a:off x="4446446" y="4506600"/>
            <a:ext cx="4936094" cy="1938992"/>
          </a:xfrm>
          <a:prstGeom prst="rect">
            <a:avLst/>
          </a:prstGeom>
          <a:noFill/>
        </p:spPr>
        <p:txBody>
          <a:bodyPr wrap="square" rtlCol="0">
            <a:spAutoFit/>
          </a:bodyPr>
          <a:lstStyle/>
          <a:p>
            <a:pPr algn="r"/>
            <a:r>
              <a:rPr lang="ar-SA" sz="2000" dirty="0">
                <a:cs typeface="B Yekan" panose="00000400000000000000" pitchFamily="2" charset="-78"/>
              </a:rPr>
              <a:t>خدمات و فعالیت های اجرایی</a:t>
            </a:r>
            <a:endParaRPr lang="fa-IR" sz="2000" dirty="0">
              <a:cs typeface="B Yekan" panose="00000400000000000000" pitchFamily="2" charset="-78"/>
            </a:endParaRPr>
          </a:p>
          <a:p>
            <a:pPr algn="r"/>
            <a:r>
              <a:rPr lang="fa-IR" sz="2000" dirty="0">
                <a:cs typeface="B Yekan" panose="00000400000000000000" pitchFamily="2" charset="-78"/>
              </a:rPr>
              <a:t>1. </a:t>
            </a:r>
            <a:r>
              <a:rPr lang="ar-SA" sz="2000" dirty="0">
                <a:cs typeface="B Yekan" panose="00000400000000000000" pitchFamily="2" charset="-78"/>
              </a:rPr>
              <a:t>طراحي تفصيلي و اجرايي</a:t>
            </a:r>
          </a:p>
          <a:p>
            <a:pPr algn="r"/>
            <a:r>
              <a:rPr lang="fa-IR" sz="2000" dirty="0">
                <a:cs typeface="B Yekan" panose="00000400000000000000" pitchFamily="2" charset="-78"/>
              </a:rPr>
              <a:t>2. </a:t>
            </a:r>
            <a:r>
              <a:rPr lang="ar-SA" sz="2000" dirty="0">
                <a:cs typeface="B Yekan" panose="00000400000000000000" pitchFamily="2" charset="-78"/>
              </a:rPr>
              <a:t>تهيه با ساخن كالا و تجهيزات</a:t>
            </a:r>
          </a:p>
          <a:p>
            <a:pPr algn="r"/>
            <a:r>
              <a:rPr lang="fa-IR" sz="2000" dirty="0">
                <a:cs typeface="B Yekan" panose="00000400000000000000" pitchFamily="2" charset="-78"/>
              </a:rPr>
              <a:t>3. </a:t>
            </a:r>
            <a:r>
              <a:rPr lang="ar-SA" sz="2000" dirty="0">
                <a:cs typeface="B Yekan" panose="00000400000000000000" pitchFamily="2" charset="-78"/>
              </a:rPr>
              <a:t>پيمانكاري اجرا</a:t>
            </a:r>
          </a:p>
          <a:p>
            <a:pPr algn="r"/>
            <a:r>
              <a:rPr lang="fa-IR" sz="2000" dirty="0">
                <a:cs typeface="B Yekan" panose="00000400000000000000" pitchFamily="2" charset="-78"/>
              </a:rPr>
              <a:t>4.</a:t>
            </a:r>
            <a:r>
              <a:rPr lang="ar-SA" sz="2000" dirty="0">
                <a:cs typeface="B Yekan" panose="00000400000000000000" pitchFamily="2" charset="-78"/>
              </a:rPr>
              <a:t>اماده سازي براي شروع بهره برداري</a:t>
            </a:r>
          </a:p>
          <a:p>
            <a:pPr algn="r"/>
            <a:endParaRPr lang="ar-SA" sz="2000" dirty="0">
              <a:cs typeface="B Yekan" panose="00000400000000000000" pitchFamily="2" charset="-78"/>
            </a:endParaRPr>
          </a:p>
        </p:txBody>
      </p:sp>
      <p:sp>
        <p:nvSpPr>
          <p:cNvPr id="21" name="Rectangle 20">
            <a:extLst>
              <a:ext uri="{FF2B5EF4-FFF2-40B4-BE49-F238E27FC236}">
                <a16:creationId xmlns:a16="http://schemas.microsoft.com/office/drawing/2014/main" id="{8A48C8A3-FD96-7B33-0735-783E4A0D0B11}"/>
              </a:ext>
            </a:extLst>
          </p:cNvPr>
          <p:cNvSpPr/>
          <p:nvPr/>
        </p:nvSpPr>
        <p:spPr>
          <a:xfrm>
            <a:off x="0" y="0"/>
            <a:ext cx="385208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89FD2574-AB18-DD83-9441-E2876F104291}"/>
              </a:ext>
            </a:extLst>
          </p:cNvPr>
          <p:cNvPicPr>
            <a:picLocks noChangeAspect="1"/>
          </p:cNvPicPr>
          <p:nvPr/>
        </p:nvPicPr>
        <p:blipFill>
          <a:blip r:embed="rId2"/>
          <a:stretch>
            <a:fillRect/>
          </a:stretch>
        </p:blipFill>
        <p:spPr>
          <a:xfrm>
            <a:off x="516835" y="1487135"/>
            <a:ext cx="2540573" cy="4009204"/>
          </a:xfrm>
          <a:prstGeom prst="rect">
            <a:avLst/>
          </a:prstGeom>
        </p:spPr>
      </p:pic>
    </p:spTree>
    <p:extLst>
      <p:ext uri="{BB962C8B-B14F-4D97-AF65-F5344CB8AC3E}">
        <p14:creationId xmlns:p14="http://schemas.microsoft.com/office/powerpoint/2010/main" val="3951116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6F42-3E8D-7353-AB6E-770541FFF83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9B0D0C1-F021-FCE3-5A74-D9B143300B21}"/>
              </a:ext>
            </a:extLst>
          </p:cNvPr>
          <p:cNvSpPr>
            <a:spLocks noGrp="1"/>
          </p:cNvSpPr>
          <p:nvPr>
            <p:ph type="sldNum" sz="quarter" idx="11"/>
          </p:nvPr>
        </p:nvSpPr>
        <p:spPr>
          <a:xfrm rot="16200000">
            <a:off x="11716512" y="6382512"/>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6" name="TextBox 5">
            <a:extLst>
              <a:ext uri="{FF2B5EF4-FFF2-40B4-BE49-F238E27FC236}">
                <a16:creationId xmlns:a16="http://schemas.microsoft.com/office/drawing/2014/main" id="{EBA5571F-F2C4-737C-7863-7AAE3B08BFC8}"/>
              </a:ext>
            </a:extLst>
          </p:cNvPr>
          <p:cNvSpPr txBox="1"/>
          <p:nvPr/>
        </p:nvSpPr>
        <p:spPr>
          <a:xfrm>
            <a:off x="3852081" y="2763078"/>
            <a:ext cx="448784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4. اجرای طرح ها</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
        <p:nvSpPr>
          <p:cNvPr id="21" name="Rectangle 20">
            <a:extLst>
              <a:ext uri="{FF2B5EF4-FFF2-40B4-BE49-F238E27FC236}">
                <a16:creationId xmlns:a16="http://schemas.microsoft.com/office/drawing/2014/main" id="{3407A665-F71E-DB45-23A5-5A6F33BF3B89}"/>
              </a:ext>
            </a:extLst>
          </p:cNvPr>
          <p:cNvSpPr/>
          <p:nvPr/>
        </p:nvSpPr>
        <p:spPr>
          <a:xfrm>
            <a:off x="0" y="1480930"/>
            <a:ext cx="11887200" cy="371723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Light"/>
              <a:ea typeface="+mn-ea"/>
              <a:cs typeface="+mn-cs"/>
            </a:endParaRPr>
          </a:p>
        </p:txBody>
      </p:sp>
    </p:spTree>
    <p:extLst>
      <p:ext uri="{BB962C8B-B14F-4D97-AF65-F5344CB8AC3E}">
        <p14:creationId xmlns:p14="http://schemas.microsoft.com/office/powerpoint/2010/main" val="1321306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9B8C8-9852-4208-C048-CE7CE5E916D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3276E86-2F69-A864-FE67-EFAF222531A3}"/>
              </a:ext>
            </a:extLst>
          </p:cNvPr>
          <p:cNvSpPr>
            <a:spLocks noGrp="1"/>
          </p:cNvSpPr>
          <p:nvPr>
            <p:ph type="body" idx="1"/>
          </p:nvPr>
        </p:nvSpPr>
        <p:spPr>
          <a:xfrm>
            <a:off x="2445026" y="2694813"/>
            <a:ext cx="7611303" cy="1468374"/>
          </a:xfrm>
        </p:spPr>
        <p:txBody>
          <a:bodyPr/>
          <a:lstStyle/>
          <a:p>
            <a:pPr algn="ctr"/>
            <a:r>
              <a:rPr lang="fa-IR" sz="2800" dirty="0">
                <a:cs typeface="B Titr" panose="00000700000000000000" pitchFamily="2" charset="-78"/>
              </a:rPr>
              <a:t>مدیریت , کنترل , نظارت بر اجرای طرح یعنی چه ؟</a:t>
            </a:r>
            <a:endParaRPr lang="en-US" sz="2800" dirty="0">
              <a:cs typeface="B Titr" panose="00000700000000000000" pitchFamily="2" charset="-78"/>
            </a:endParaRPr>
          </a:p>
        </p:txBody>
      </p:sp>
      <p:sp>
        <p:nvSpPr>
          <p:cNvPr id="5" name="Slide Number Placeholder 4">
            <a:extLst>
              <a:ext uri="{FF2B5EF4-FFF2-40B4-BE49-F238E27FC236}">
                <a16:creationId xmlns:a16="http://schemas.microsoft.com/office/drawing/2014/main" id="{95B897E3-B90B-56EA-5395-0513115FC708}"/>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Tree>
    <p:extLst>
      <p:ext uri="{BB962C8B-B14F-4D97-AF65-F5344CB8AC3E}">
        <p14:creationId xmlns:p14="http://schemas.microsoft.com/office/powerpoint/2010/main" val="4215146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04C07BB-9C52-4292-FB16-F02A80D6A226}"/>
              </a:ext>
            </a:extLst>
          </p:cNvPr>
          <p:cNvSpPr>
            <a:spLocks noGrp="1"/>
          </p:cNvSpPr>
          <p:nvPr>
            <p:ph type="pic" sz="quarter" idx="12"/>
          </p:nvPr>
        </p:nvSpPr>
        <p:spPr>
          <a:xfrm>
            <a:off x="920025" y="950032"/>
            <a:ext cx="9983201" cy="5248656"/>
          </a:xfrm>
        </p:spPr>
      </p:sp>
      <p:sp>
        <p:nvSpPr>
          <p:cNvPr id="5" name="Slide Number Placeholder 4">
            <a:extLst>
              <a:ext uri="{FF2B5EF4-FFF2-40B4-BE49-F238E27FC236}">
                <a16:creationId xmlns:a16="http://schemas.microsoft.com/office/drawing/2014/main" id="{3D37DC65-464C-E065-727B-75A3932FE40E}"/>
              </a:ext>
            </a:extLst>
          </p:cNvPr>
          <p:cNvSpPr>
            <a:spLocks noGrp="1"/>
          </p:cNvSpPr>
          <p:nvPr>
            <p:ph type="sldNum" sz="quarter" idx="11"/>
          </p:nvPr>
        </p:nvSpPr>
        <p:spPr/>
        <p:txBody>
          <a:bodyPr/>
          <a:lstStyle/>
          <a:p>
            <a:fld id="{09A01C0A-2BB6-49E7-91A3-DCB9F9F59583}" type="slidenum">
              <a:rPr lang="en-US" smtClean="0"/>
              <a:pPr/>
              <a:t>17</a:t>
            </a:fld>
            <a:endParaRPr lang="en-US" dirty="0"/>
          </a:p>
        </p:txBody>
      </p:sp>
      <p:sp>
        <p:nvSpPr>
          <p:cNvPr id="7" name="TextBox 6">
            <a:extLst>
              <a:ext uri="{FF2B5EF4-FFF2-40B4-BE49-F238E27FC236}">
                <a16:creationId xmlns:a16="http://schemas.microsoft.com/office/drawing/2014/main" id="{3CFD24B5-CB06-7961-8392-012E9C00D691}"/>
              </a:ext>
            </a:extLst>
          </p:cNvPr>
          <p:cNvSpPr txBox="1"/>
          <p:nvPr/>
        </p:nvSpPr>
        <p:spPr>
          <a:xfrm>
            <a:off x="2612869" y="2459504"/>
            <a:ext cx="6597512" cy="1938992"/>
          </a:xfrm>
          <a:prstGeom prst="rect">
            <a:avLst/>
          </a:prstGeom>
          <a:noFill/>
        </p:spPr>
        <p:txBody>
          <a:bodyPr wrap="square">
            <a:spAutoFit/>
          </a:bodyPr>
          <a:lstStyle/>
          <a:p>
            <a:pPr marL="0" marR="0" lvl="0" indent="0" algn="r" defTabSz="457200" rtl="1" eaLnBrk="1" fontAlgn="auto" latinLnBrk="0" hangingPunct="1">
              <a:lnSpc>
                <a:spcPct val="100000"/>
              </a:lnSpc>
              <a:spcBef>
                <a:spcPct val="20000"/>
              </a:spcBef>
              <a:spcAft>
                <a:spcPts val="600"/>
              </a:spcAft>
              <a:buClr>
                <a:srgbClr val="903163"/>
              </a:buClr>
              <a:buSzPct val="92000"/>
              <a:buFont typeface="Wingdings 2" panose="05020102010507070707" pitchFamily="18" charset="2"/>
              <a:buNone/>
              <a:tabLst/>
              <a:defRPr/>
            </a:pPr>
            <a:r>
              <a:rPr kumimoji="0" lang="fa-IR" sz="2400" b="0" i="0" u="none" strike="noStrike" kern="1200" cap="none" spc="0" normalizeH="0" baseline="0" noProof="0" dirty="0">
                <a:ln>
                  <a:noFill/>
                </a:ln>
                <a:solidFill>
                  <a:srgbClr val="000000"/>
                </a:solidFill>
                <a:effectLst/>
                <a:uLnTx/>
                <a:uFillTx/>
                <a:latin typeface="Gill Sans MT" panose="020B0502020104020203"/>
                <a:cs typeface="B Yekan" panose="00000400000000000000" pitchFamily="2" charset="-78"/>
              </a:rPr>
              <a:t>فعالیت هایی است که برای مدیریت و کنترل کمی و کیفی اجرای طرح ها از طریق اجام هماهنگی لازم و اعمال کنترلهای فنی و نظارت مستقیم برکار بر اساس مشخصات فنی , استاندارد ها و معیارها در چهارچوب برنامه زمانبندی مربوط صورت می گیرد.</a:t>
            </a:r>
            <a:endParaRPr kumimoji="0" lang="en-US" sz="2400" b="0" i="0" u="none" strike="noStrike" kern="1200" cap="none" spc="0" normalizeH="0" baseline="0" noProof="0" dirty="0">
              <a:ln>
                <a:noFill/>
              </a:ln>
              <a:solidFill>
                <a:srgbClr val="000000"/>
              </a:solidFill>
              <a:effectLst/>
              <a:uLnTx/>
              <a:uFillTx/>
              <a:latin typeface="Gill Sans MT" panose="020B0502020104020203"/>
              <a:cs typeface="B Yekan" panose="00000400000000000000" pitchFamily="2" charset="-78"/>
            </a:endParaRPr>
          </a:p>
        </p:txBody>
      </p:sp>
    </p:spTree>
    <p:extLst>
      <p:ext uri="{BB962C8B-B14F-4D97-AF65-F5344CB8AC3E}">
        <p14:creationId xmlns:p14="http://schemas.microsoft.com/office/powerpoint/2010/main" val="94628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3549C-AF56-22FE-CC71-B36180407798}"/>
            </a:ext>
          </a:extLst>
        </p:cNvPr>
        <p:cNvGrpSpPr/>
        <p:nvPr/>
      </p:nvGrpSpPr>
      <p:grpSpPr>
        <a:xfrm>
          <a:off x="0" y="0"/>
          <a:ext cx="0" cy="0"/>
          <a:chOff x="0" y="0"/>
          <a:chExt cx="0" cy="0"/>
        </a:xfrm>
      </p:grpSpPr>
      <p:pic>
        <p:nvPicPr>
          <p:cNvPr id="14" name="Picture Placeholder 14" descr="White modern architecture">
            <a:extLst>
              <a:ext uri="{FF2B5EF4-FFF2-40B4-BE49-F238E27FC236}">
                <a16:creationId xmlns:a16="http://schemas.microsoft.com/office/drawing/2014/main" id="{1BA21F86-ED89-6B85-67FB-0B8D921F4B1D}"/>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3058" y="1041406"/>
            <a:ext cx="3475649" cy="5248656"/>
          </a:xfrm>
        </p:spPr>
      </p:pic>
      <p:sp>
        <p:nvSpPr>
          <p:cNvPr id="4" name="Text Placeholder 10">
            <a:extLst>
              <a:ext uri="{FF2B5EF4-FFF2-40B4-BE49-F238E27FC236}">
                <a16:creationId xmlns:a16="http://schemas.microsoft.com/office/drawing/2014/main" id="{99307470-9F27-5583-AE09-FCC9AF250D1E}"/>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8" name="Text Placeholder 10">
            <a:extLst>
              <a:ext uri="{FF2B5EF4-FFF2-40B4-BE49-F238E27FC236}">
                <a16:creationId xmlns:a16="http://schemas.microsoft.com/office/drawing/2014/main" id="{E74DFFAC-1D1A-BE96-F8F4-1AC90E5E6202}"/>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16" name="Slide Number Placeholder 15">
            <a:extLst>
              <a:ext uri="{FF2B5EF4-FFF2-40B4-BE49-F238E27FC236}">
                <a16:creationId xmlns:a16="http://schemas.microsoft.com/office/drawing/2014/main" id="{32F239DF-C9D9-4BEE-FB38-F29384E9BCD4}"/>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E86271A0-21C3-5C7C-F5E1-8227C1585001}"/>
              </a:ext>
            </a:extLst>
          </p:cNvPr>
          <p:cNvSpPr txBox="1"/>
          <p:nvPr/>
        </p:nvSpPr>
        <p:spPr>
          <a:xfrm>
            <a:off x="2779315" y="2776500"/>
            <a:ext cx="596444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3200" b="1"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طراحی تفصیلی و اجرایی چیست ؟</a:t>
            </a:r>
            <a:endParaRPr kumimoji="0" lang="en-US" sz="3200" b="1"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graphicFrame>
        <p:nvGraphicFramePr>
          <p:cNvPr id="9" name="Diagram 8">
            <a:extLst>
              <a:ext uri="{FF2B5EF4-FFF2-40B4-BE49-F238E27FC236}">
                <a16:creationId xmlns:a16="http://schemas.microsoft.com/office/drawing/2014/main" id="{20E026B2-7064-6833-4F9F-88549271DBA2}"/>
              </a:ext>
            </a:extLst>
          </p:cNvPr>
          <p:cNvGraphicFramePr/>
          <p:nvPr>
            <p:extLst>
              <p:ext uri="{D42A27DB-BD31-4B8C-83A1-F6EECF244321}">
                <p14:modId xmlns:p14="http://schemas.microsoft.com/office/powerpoint/2010/main" val="968756601"/>
              </p:ext>
            </p:extLst>
          </p:nvPr>
        </p:nvGraphicFramePr>
        <p:xfrm>
          <a:off x="0" y="1211417"/>
          <a:ext cx="10786892" cy="52486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36921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E284-9693-2F94-D034-1D72D71B71ED}"/>
            </a:ext>
          </a:extLst>
        </p:cNvPr>
        <p:cNvGrpSpPr/>
        <p:nvPr/>
      </p:nvGrpSpPr>
      <p:grpSpPr>
        <a:xfrm>
          <a:off x="0" y="0"/>
          <a:ext cx="0" cy="0"/>
          <a:chOff x="0" y="0"/>
          <a:chExt cx="0" cy="0"/>
        </a:xfrm>
      </p:grpSpPr>
      <p:pic>
        <p:nvPicPr>
          <p:cNvPr id="14" name="Picture Placeholder 14" descr="White modern architecture">
            <a:extLst>
              <a:ext uri="{FF2B5EF4-FFF2-40B4-BE49-F238E27FC236}">
                <a16:creationId xmlns:a16="http://schemas.microsoft.com/office/drawing/2014/main" id="{0853D514-BAAF-E21E-46C5-EEF20867ED25}"/>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3058" y="1041406"/>
            <a:ext cx="3475649" cy="5248656"/>
          </a:xfrm>
        </p:spPr>
      </p:pic>
      <p:sp>
        <p:nvSpPr>
          <p:cNvPr id="4" name="Text Placeholder 10">
            <a:extLst>
              <a:ext uri="{FF2B5EF4-FFF2-40B4-BE49-F238E27FC236}">
                <a16:creationId xmlns:a16="http://schemas.microsoft.com/office/drawing/2014/main" id="{C208E91C-F0AA-1B4B-5C13-13785DCFD006}"/>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8" name="Text Placeholder 10">
            <a:extLst>
              <a:ext uri="{FF2B5EF4-FFF2-40B4-BE49-F238E27FC236}">
                <a16:creationId xmlns:a16="http://schemas.microsoft.com/office/drawing/2014/main" id="{8A8ED082-8F80-5077-5E90-A40959987ADB}"/>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16" name="Slide Number Placeholder 15">
            <a:extLst>
              <a:ext uri="{FF2B5EF4-FFF2-40B4-BE49-F238E27FC236}">
                <a16:creationId xmlns:a16="http://schemas.microsoft.com/office/drawing/2014/main" id="{D4F223ED-DD6E-E4DF-2ECF-E8F88E0A6537}"/>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graphicFrame>
        <p:nvGraphicFramePr>
          <p:cNvPr id="9" name="Diagram 8">
            <a:extLst>
              <a:ext uri="{FF2B5EF4-FFF2-40B4-BE49-F238E27FC236}">
                <a16:creationId xmlns:a16="http://schemas.microsoft.com/office/drawing/2014/main" id="{B72DBAC1-D5BE-4896-A8AF-5523ADFE9D1B}"/>
              </a:ext>
            </a:extLst>
          </p:cNvPr>
          <p:cNvGraphicFramePr/>
          <p:nvPr>
            <p:extLst>
              <p:ext uri="{D42A27DB-BD31-4B8C-83A1-F6EECF244321}">
                <p14:modId xmlns:p14="http://schemas.microsoft.com/office/powerpoint/2010/main" val="2723371476"/>
              </p:ext>
            </p:extLst>
          </p:nvPr>
        </p:nvGraphicFramePr>
        <p:xfrm>
          <a:off x="69574" y="560690"/>
          <a:ext cx="10786892" cy="52486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F5C73ACD-031B-10F8-ECE0-3AAC242CA5DF}"/>
              </a:ext>
            </a:extLst>
          </p:cNvPr>
          <p:cNvSpPr txBox="1"/>
          <p:nvPr/>
        </p:nvSpPr>
        <p:spPr>
          <a:xfrm>
            <a:off x="1575529" y="2844225"/>
            <a:ext cx="2480166" cy="584775"/>
          </a:xfrm>
          <a:prstGeom prst="rect">
            <a:avLst/>
          </a:prstGeom>
          <a:noFill/>
        </p:spPr>
        <p:txBody>
          <a:bodyPr wrap="none" rtlCol="0">
            <a:spAutoFit/>
          </a:bodyPr>
          <a:lstStyle/>
          <a:p>
            <a:r>
              <a:rPr lang="fa-IR" sz="3200" dirty="0">
                <a:cs typeface="B Yekan" panose="00000400000000000000" pitchFamily="2" charset="-78"/>
              </a:rPr>
              <a:t>طراحی تفصیلی </a:t>
            </a:r>
            <a:endParaRPr lang="en-US" sz="3200" dirty="0">
              <a:cs typeface="B Yekan" panose="00000400000000000000" pitchFamily="2" charset="-78"/>
            </a:endParaRPr>
          </a:p>
        </p:txBody>
      </p:sp>
    </p:spTree>
    <p:extLst>
      <p:ext uri="{BB962C8B-B14F-4D97-AF65-F5344CB8AC3E}">
        <p14:creationId xmlns:p14="http://schemas.microsoft.com/office/powerpoint/2010/main" val="2639498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6552-02FE-ECC3-168A-5107994239BC}"/>
            </a:ext>
          </a:extLst>
        </p:cNvPr>
        <p:cNvGrpSpPr/>
        <p:nvPr/>
      </p:nvGrpSpPr>
      <p:grpSpPr>
        <a:xfrm>
          <a:off x="0" y="0"/>
          <a:ext cx="0" cy="0"/>
          <a:chOff x="0" y="0"/>
          <a:chExt cx="0" cy="0"/>
        </a:xfrm>
      </p:grpSpPr>
      <p:pic>
        <p:nvPicPr>
          <p:cNvPr id="14" name="Picture Placeholder 14" descr="White modern architecture">
            <a:extLst>
              <a:ext uri="{FF2B5EF4-FFF2-40B4-BE49-F238E27FC236}">
                <a16:creationId xmlns:a16="http://schemas.microsoft.com/office/drawing/2014/main" id="{F256457F-DA6E-11F3-0A8B-3FA8B27B89F4}"/>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3058" y="1041406"/>
            <a:ext cx="3475649" cy="5248656"/>
          </a:xfrm>
        </p:spPr>
      </p:pic>
      <p:sp>
        <p:nvSpPr>
          <p:cNvPr id="4" name="Text Placeholder 10">
            <a:extLst>
              <a:ext uri="{FF2B5EF4-FFF2-40B4-BE49-F238E27FC236}">
                <a16:creationId xmlns:a16="http://schemas.microsoft.com/office/drawing/2014/main" id="{579733F5-7D85-23C9-D11F-699060158520}"/>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8" name="Text Placeholder 10">
            <a:extLst>
              <a:ext uri="{FF2B5EF4-FFF2-40B4-BE49-F238E27FC236}">
                <a16:creationId xmlns:a16="http://schemas.microsoft.com/office/drawing/2014/main" id="{FE03C6EC-FF37-6EE8-3416-9438FFDD2B4E}"/>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Tx/>
              <a:buNone/>
              <a:tabLst/>
              <a:defRPr/>
            </a:pPr>
            <a:r>
              <a:rPr kumimoji="0" lang="en-US" sz="300" b="0" i="0" u="none" strike="noStrike" kern="1200" cap="none" spc="0" normalizeH="0" baseline="0" noProof="0" dirty="0">
                <a:ln>
                  <a:noFill/>
                </a:ln>
                <a:solidFill>
                  <a:srgbClr val="3AEFCC">
                    <a:alpha val="0"/>
                  </a:srgbClr>
                </a:solidFill>
                <a:effectLst/>
                <a:uLnTx/>
                <a:uFillTx/>
                <a:latin typeface="Avenir Next LT Pro Light"/>
                <a:ea typeface="+mn-ea"/>
                <a:cs typeface="+mn-cs"/>
              </a:rPr>
              <a:t>Click to edit Master text styles</a:t>
            </a:r>
          </a:p>
        </p:txBody>
      </p:sp>
      <p:sp>
        <p:nvSpPr>
          <p:cNvPr id="16" name="Slide Number Placeholder 15">
            <a:extLst>
              <a:ext uri="{FF2B5EF4-FFF2-40B4-BE49-F238E27FC236}">
                <a16:creationId xmlns:a16="http://schemas.microsoft.com/office/drawing/2014/main" id="{595CE582-4B89-E4EA-432D-3E0877FE2CFD}"/>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graphicFrame>
        <p:nvGraphicFramePr>
          <p:cNvPr id="9" name="Diagram 8">
            <a:extLst>
              <a:ext uri="{FF2B5EF4-FFF2-40B4-BE49-F238E27FC236}">
                <a16:creationId xmlns:a16="http://schemas.microsoft.com/office/drawing/2014/main" id="{2DBC8A9B-D789-B183-879E-B50A031BDCD1}"/>
              </a:ext>
            </a:extLst>
          </p:cNvPr>
          <p:cNvGraphicFramePr/>
          <p:nvPr>
            <p:extLst>
              <p:ext uri="{D42A27DB-BD31-4B8C-83A1-F6EECF244321}">
                <p14:modId xmlns:p14="http://schemas.microsoft.com/office/powerpoint/2010/main" val="2179880383"/>
              </p:ext>
            </p:extLst>
          </p:nvPr>
        </p:nvGraphicFramePr>
        <p:xfrm>
          <a:off x="0" y="560690"/>
          <a:ext cx="10786892" cy="52486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F2BE4D1F-4A72-B82F-D32A-4BE791F6A39E}"/>
              </a:ext>
            </a:extLst>
          </p:cNvPr>
          <p:cNvSpPr txBox="1"/>
          <p:nvPr/>
        </p:nvSpPr>
        <p:spPr>
          <a:xfrm>
            <a:off x="1788806" y="2844225"/>
            <a:ext cx="17844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rPr>
              <a:t>مرحله اجرا</a:t>
            </a:r>
            <a:endParaRPr kumimoji="0" lang="en-US" sz="32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endParaRPr>
          </a:p>
        </p:txBody>
      </p:sp>
    </p:spTree>
    <p:extLst>
      <p:ext uri="{BB962C8B-B14F-4D97-AF65-F5344CB8AC3E}">
        <p14:creationId xmlns:p14="http://schemas.microsoft.com/office/powerpoint/2010/main" val="388203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2707D-6C6C-6135-656A-55B889A2AFCC}"/>
            </a:ext>
          </a:extLst>
        </p:cNvPr>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914B5E95-B0D2-A097-52F6-34C7D6D104A7}"/>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 name="TextBox 2">
            <a:extLst>
              <a:ext uri="{FF2B5EF4-FFF2-40B4-BE49-F238E27FC236}">
                <a16:creationId xmlns:a16="http://schemas.microsoft.com/office/drawing/2014/main" id="{0B1E957D-3E05-9538-2EA3-9B627B06DDF9}"/>
              </a:ext>
            </a:extLst>
          </p:cNvPr>
          <p:cNvSpPr txBox="1"/>
          <p:nvPr/>
        </p:nvSpPr>
        <p:spPr>
          <a:xfrm>
            <a:off x="2604499" y="2082517"/>
            <a:ext cx="69830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آماده سازی برای شروع بهره برداری یعنی چه ؟</a:t>
            </a:r>
            <a:endParaRPr kumimoji="0" lang="en-US" sz="32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Tree>
    <p:extLst>
      <p:ext uri="{BB962C8B-B14F-4D97-AF65-F5344CB8AC3E}">
        <p14:creationId xmlns:p14="http://schemas.microsoft.com/office/powerpoint/2010/main" val="3112028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7F09E-A0FB-BF3D-04C6-C327D87E153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38D03B3-E0A9-0970-4EE6-94848293971A}"/>
              </a:ext>
            </a:extLst>
          </p:cNvPr>
          <p:cNvSpPr>
            <a:spLocks noGrp="1"/>
          </p:cNvSpPr>
          <p:nvPr>
            <p:ph type="body" sz="quarter" idx="12"/>
          </p:nvPr>
        </p:nvSpPr>
        <p:spPr>
          <a:xfrm>
            <a:off x="716860" y="1530503"/>
            <a:ext cx="9554555" cy="1458767"/>
          </a:xfrm>
        </p:spPr>
        <p:txBody>
          <a:bodyPr/>
          <a:lstStyle/>
          <a:p>
            <a:pPr algn="r" defTabSz="457200" rtl="1">
              <a:lnSpc>
                <a:spcPct val="100000"/>
              </a:lnSpc>
              <a:spcBef>
                <a:spcPct val="20000"/>
              </a:spcBef>
              <a:spcAft>
                <a:spcPts val="600"/>
              </a:spcAft>
              <a:buClr>
                <a:srgbClr val="903163"/>
              </a:buClr>
              <a:buSzPct val="92000"/>
              <a:defRPr/>
            </a:pPr>
            <a:r>
              <a:rPr kumimoji="0" lang="fa-IR" i="0" u="none" strike="noStrike" kern="1200" cap="none" spc="0" normalizeH="0" baseline="0" noProof="0" dirty="0">
                <a:ln>
                  <a:noFill/>
                </a:ln>
                <a:solidFill>
                  <a:prstClr val="black"/>
                </a:solidFill>
                <a:effectLst/>
                <a:uLnTx/>
                <a:uFillTx/>
                <a:latin typeface="Gill Sans MT" panose="020B0502020104020203"/>
                <a:cs typeface="B Yekan" panose="00000400000000000000" pitchFamily="2" charset="-78"/>
              </a:rPr>
              <a:t>فعالیتهایی که پس از تکمیل عملیات اجرا (ساخت و نصب ) از قبیل اخذ مجوزها , آزمایشها , بازرسیها , کنترلها و به طور کلی انجام کارهای لازم برای قرار دادن طرح یا پروژه در شرایط عملیاتی به منظور شروع بهره برداری و صدور گواهی تحویل است.</a:t>
            </a:r>
            <a:endParaRPr kumimoji="0" lang="en-US" i="0" u="none" strike="noStrike" kern="1200" cap="none" spc="0" normalizeH="0" baseline="0" noProof="0" dirty="0">
              <a:ln>
                <a:noFill/>
              </a:ln>
              <a:solidFill>
                <a:prstClr val="black"/>
              </a:solidFill>
              <a:effectLst/>
              <a:uLnTx/>
              <a:uFillTx/>
              <a:latin typeface="Gill Sans MT" panose="020B0502020104020203"/>
              <a:cs typeface="B Yekan" panose="00000400000000000000" pitchFamily="2" charset="-78"/>
            </a:endParaRPr>
          </a:p>
          <a:p>
            <a:pPr algn="r" rtl="1"/>
            <a:endParaRPr lang="en-US" sz="3200" dirty="0">
              <a:cs typeface="B Yekan" panose="00000400000000000000" pitchFamily="2" charset="-78"/>
            </a:endParaRPr>
          </a:p>
        </p:txBody>
      </p:sp>
      <p:sp>
        <p:nvSpPr>
          <p:cNvPr id="12" name="Slide Number Placeholder 11">
            <a:extLst>
              <a:ext uri="{FF2B5EF4-FFF2-40B4-BE49-F238E27FC236}">
                <a16:creationId xmlns:a16="http://schemas.microsoft.com/office/drawing/2014/main" id="{D1CF2166-2A0F-C26F-4673-B71447E40C5D}"/>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2" name="Oval 1">
            <a:extLst>
              <a:ext uri="{FF2B5EF4-FFF2-40B4-BE49-F238E27FC236}">
                <a16:creationId xmlns:a16="http://schemas.microsoft.com/office/drawing/2014/main" id="{D04719E9-3D5A-F06B-0B1A-924EF35B2D02}"/>
              </a:ext>
            </a:extLst>
          </p:cNvPr>
          <p:cNvSpPr/>
          <p:nvPr/>
        </p:nvSpPr>
        <p:spPr>
          <a:xfrm>
            <a:off x="10436087" y="-443495"/>
            <a:ext cx="2044148" cy="193813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4290878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0DE3253-8EA8-E493-7604-70B893078B6A}"/>
              </a:ext>
            </a:extLst>
          </p:cNvPr>
          <p:cNvSpPr>
            <a:spLocks noGrp="1"/>
          </p:cNvSpPr>
          <p:nvPr>
            <p:ph type="subTitle" idx="1"/>
          </p:nvPr>
        </p:nvSpPr>
        <p:spPr>
          <a:xfrm>
            <a:off x="5667373" y="1457325"/>
            <a:ext cx="5791201" cy="4448175"/>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306000" marR="0" lvl="0" indent="-306000" algn="r" defTabSz="457200" rtl="1" eaLnBrk="1" fontAlgn="auto" latinLnBrk="0" hangingPunct="1">
              <a:lnSpc>
                <a:spcPct val="100000"/>
              </a:lnSpc>
              <a:spcBef>
                <a:spcPct val="20000"/>
              </a:spcBef>
              <a:spcAft>
                <a:spcPts val="600"/>
              </a:spcAft>
              <a:buClr>
                <a:srgbClr val="903163"/>
              </a:buClr>
              <a:buSzPct val="92000"/>
              <a:buFont typeface="Wingdings 2" panose="05020102010507070707" pitchFamily="18" charset="2"/>
              <a:buChar char=""/>
              <a:tabLst/>
              <a:defRPr/>
            </a:pPr>
            <a:endParaRPr kumimoji="0" lang="fa-IR" sz="2400" i="0" u="none" strike="noStrike" kern="1200" cap="none" spc="0" normalizeH="0" baseline="0" noProof="0" dirty="0">
              <a:ln>
                <a:noFill/>
              </a:ln>
              <a:solidFill>
                <a:prstClr val="black"/>
              </a:solidFill>
              <a:effectLst/>
              <a:uLnTx/>
              <a:uFillTx/>
              <a:latin typeface="Gill Sans MT" panose="020B0502020104020203"/>
              <a:cs typeface="B Yekan" panose="00000400000000000000" pitchFamily="2" charset="-78"/>
            </a:endParaRPr>
          </a:p>
          <a:p>
            <a:pPr marL="342900" marR="0" lvl="0" indent="-342900" algn="r" defTabSz="457200" rtl="1" eaLnBrk="1" fontAlgn="auto" latinLnBrk="0" hangingPunct="1">
              <a:lnSpc>
                <a:spcPct val="100000"/>
              </a:lnSpc>
              <a:spcBef>
                <a:spcPct val="20000"/>
              </a:spcBef>
              <a:spcAft>
                <a:spcPts val="600"/>
              </a:spcAft>
              <a:buClr>
                <a:srgbClr val="903163"/>
              </a:buClr>
              <a:buSzPct val="92000"/>
              <a:buFont typeface="Arial" panose="020B0604020202020204" pitchFamily="34" charset="0"/>
              <a:buChar char="•"/>
              <a:tabLst/>
              <a:defRPr/>
            </a:pPr>
            <a:r>
              <a:rPr kumimoji="0" lang="fa-IR" sz="2400" i="0" u="none" strike="noStrike" kern="1200" cap="none" spc="0" normalizeH="0" baseline="0" noProof="0" dirty="0">
                <a:ln>
                  <a:noFill/>
                </a:ln>
                <a:solidFill>
                  <a:prstClr val="black"/>
                </a:solidFill>
                <a:effectLst/>
                <a:uLnTx/>
                <a:uFillTx/>
                <a:latin typeface="Gill Sans MT" panose="020B0502020104020203"/>
                <a:cs typeface="B Yekan" panose="00000400000000000000" pitchFamily="2" charset="-78"/>
              </a:rPr>
              <a:t>نظارت فنی بر ساخت مشتمل است برفعالیتهایی که به جهت کنترل کمی و کیفی عملیات ساخت طرح های عمرانی از طریق اعمال نظارت عالیه و با نظارت مستقیم برکارها صورت میگیرد و هدف آن تطبق کمی و کیفی عملیات ساخت با مشخصات فنی و نقشه های اجرایی و برنامه زمانی اجرای کار می باشد.</a:t>
            </a:r>
            <a:endParaRPr kumimoji="0" lang="en-US" sz="2400" i="0" u="none" strike="noStrike" kern="1200" cap="none" spc="0" normalizeH="0" baseline="0" noProof="0" dirty="0">
              <a:ln>
                <a:noFill/>
              </a:ln>
              <a:solidFill>
                <a:prstClr val="black"/>
              </a:solidFill>
              <a:effectLst/>
              <a:uLnTx/>
              <a:uFillTx/>
              <a:latin typeface="Gill Sans MT" panose="020B0502020104020203"/>
              <a:cs typeface="B Yekan" panose="00000400000000000000" pitchFamily="2" charset="-78"/>
            </a:endParaRPr>
          </a:p>
          <a:p>
            <a:pPr algn="r"/>
            <a:endParaRPr lang="en-US" sz="3200" dirty="0">
              <a:cs typeface="B Yekan" panose="00000400000000000000" pitchFamily="2" charset="-78"/>
            </a:endParaRPr>
          </a:p>
        </p:txBody>
      </p:sp>
      <p:sp>
        <p:nvSpPr>
          <p:cNvPr id="4" name="TextBox 3">
            <a:extLst>
              <a:ext uri="{FF2B5EF4-FFF2-40B4-BE49-F238E27FC236}">
                <a16:creationId xmlns:a16="http://schemas.microsoft.com/office/drawing/2014/main" id="{5EECFB6C-CA52-C33A-316C-FCECD7D20761}"/>
              </a:ext>
            </a:extLst>
          </p:cNvPr>
          <p:cNvSpPr txBox="1"/>
          <p:nvPr/>
        </p:nvSpPr>
        <p:spPr>
          <a:xfrm>
            <a:off x="6829425" y="619125"/>
            <a:ext cx="4147131" cy="584775"/>
          </a:xfrm>
          <a:prstGeom prst="rect">
            <a:avLst/>
          </a:prstGeom>
          <a:noFill/>
        </p:spPr>
        <p:txBody>
          <a:bodyPr wrap="square" rtlCol="0">
            <a:spAutoFit/>
          </a:bodyPr>
          <a:lstStyle/>
          <a:p>
            <a:pPr algn="ctr"/>
            <a:r>
              <a:rPr lang="fa-IR" sz="3200" dirty="0">
                <a:cs typeface="B Titr" panose="00000700000000000000" pitchFamily="2" charset="-78"/>
              </a:rPr>
              <a:t>نظارت بر ساخت یعنی چه ؟</a:t>
            </a:r>
            <a:endParaRPr lang="en-US" sz="3200" dirty="0">
              <a:cs typeface="B Titr" panose="00000700000000000000" pitchFamily="2" charset="-78"/>
            </a:endParaRPr>
          </a:p>
        </p:txBody>
      </p:sp>
    </p:spTree>
    <p:extLst>
      <p:ext uri="{BB962C8B-B14F-4D97-AF65-F5344CB8AC3E}">
        <p14:creationId xmlns:p14="http://schemas.microsoft.com/office/powerpoint/2010/main" val="3779810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BF1C3-2BF1-36E4-882D-AE3B35F5A684}"/>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90CAA212-1E5B-C686-3165-2400CDFEE557}"/>
              </a:ext>
            </a:extLst>
          </p:cNvPr>
          <p:cNvSpPr/>
          <p:nvPr/>
        </p:nvSpPr>
        <p:spPr>
          <a:xfrm>
            <a:off x="2751483" y="268356"/>
            <a:ext cx="6689033" cy="63212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4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5. ارزیابی</a:t>
            </a:r>
            <a:endParaRPr kumimoji="0" lang="fa-IR" sz="40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a-IR" sz="2800" b="0" i="0" u="none" strike="noStrike" kern="1200" cap="none" spc="0" normalizeH="0" baseline="0" noProof="0" dirty="0">
              <a:ln>
                <a:noFill/>
              </a:ln>
              <a:solidFill>
                <a:srgbClr val="36393B"/>
              </a:solidFill>
              <a:effectLst/>
              <a:uLnTx/>
              <a:uFillTx/>
              <a:latin typeface="Avenir Next LT Pro Light"/>
              <a:ea typeface="+mn-ea"/>
              <a:cs typeface="B Yekan" panose="00000400000000000000" pitchFamily="2" charset="-78"/>
            </a:endParaRPr>
          </a:p>
        </p:txBody>
      </p:sp>
    </p:spTree>
    <p:extLst>
      <p:ext uri="{BB962C8B-B14F-4D97-AF65-F5344CB8AC3E}">
        <p14:creationId xmlns:p14="http://schemas.microsoft.com/office/powerpoint/2010/main" val="4050123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AAF39F6C-B1E3-6F93-17E4-4203AA3279F9}"/>
              </a:ext>
            </a:extLst>
          </p:cNvPr>
          <p:cNvSpPr/>
          <p:nvPr/>
        </p:nvSpPr>
        <p:spPr>
          <a:xfrm>
            <a:off x="2751483" y="268356"/>
            <a:ext cx="6689033" cy="63212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a-IR" sz="2800" dirty="0">
              <a:solidFill>
                <a:schemeClr val="tx1"/>
              </a:solidFill>
              <a:cs typeface="B Yekan" panose="00000400000000000000" pitchFamily="2" charset="-78"/>
            </a:endParaRPr>
          </a:p>
          <a:p>
            <a:pPr algn="ctr"/>
            <a:endParaRPr lang="fa-IR" dirty="0">
              <a:solidFill>
                <a:schemeClr val="tx1"/>
              </a:solidFill>
              <a:cs typeface="B Yekan" panose="00000400000000000000" pitchFamily="2" charset="-78"/>
            </a:endParaRPr>
          </a:p>
          <a:p>
            <a:pPr algn="ctr"/>
            <a:r>
              <a:rPr lang="fa-IR" sz="2800" dirty="0">
                <a:solidFill>
                  <a:schemeClr val="tx1"/>
                </a:solidFill>
                <a:cs typeface="B Yekan" panose="00000400000000000000" pitchFamily="2" charset="-78"/>
              </a:rPr>
              <a:t>منظور از ارزشيابي در اين نظام مجموعه فعاليت هاي است كه به منظور سنجش عملكرد تهيه و اجراي طرحها وعوامل دست انداز كار مربوط به ان براي وصول به هدفهاى تصريح شده در نظام فني واجرايي وطرحاي عمراني كشور انجام مي شود .</a:t>
            </a:r>
          </a:p>
        </p:txBody>
      </p:sp>
    </p:spTree>
    <p:extLst>
      <p:ext uri="{BB962C8B-B14F-4D97-AF65-F5344CB8AC3E}">
        <p14:creationId xmlns:p14="http://schemas.microsoft.com/office/powerpoint/2010/main" val="1252028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2"/>
          <a:srcRect l="523" r="523"/>
          <a:stretch/>
        </p:blipFill>
        <p:spPr>
          <a:xfrm>
            <a:off x="0" y="3159126"/>
            <a:ext cx="4577463" cy="3698875"/>
          </a:xfrm>
        </p:spPr>
      </p:pic>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4701209" y="786384"/>
            <a:ext cx="6646495" cy="1241199"/>
          </a:xfrm>
        </p:spPr>
        <p:txBody>
          <a:bodyPr>
            <a:normAutofit/>
          </a:bodyPr>
          <a:lstStyle/>
          <a:p>
            <a:pPr algn="r"/>
            <a:r>
              <a:rPr lang="fa-IR" sz="3200" b="0" dirty="0">
                <a:cs typeface="B Titr" panose="00000700000000000000" pitchFamily="2" charset="-78"/>
              </a:rPr>
              <a:t>اصول نظام فنی و اجرایی کشور:</a:t>
            </a:r>
            <a:endParaRPr lang="en-US" sz="3200" b="0" dirty="0">
              <a:cs typeface="B Titr" panose="00000700000000000000" pitchFamily="2" charset="-78"/>
            </a:endParaRPr>
          </a:p>
        </p:txBody>
      </p:sp>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3389243" y="2027583"/>
            <a:ext cx="7958461" cy="3429000"/>
          </a:xfrm>
          <a:noFill/>
        </p:spPr>
        <p:txBody>
          <a:bodyPr vert="horz" lIns="91440" tIns="45720" rIns="91440" bIns="45720" rtlCol="0" anchor="t">
            <a:noAutofit/>
          </a:bodyPr>
          <a:lstStyle/>
          <a:p>
            <a:pPr marL="285750" indent="-285750" algn="r" rtl="1">
              <a:buFont typeface="Arial" panose="020B0604020202020204" pitchFamily="34" charset="0"/>
              <a:buChar char="•"/>
            </a:pPr>
            <a:r>
              <a:rPr lang="ar-SA" sz="2400" dirty="0">
                <a:cs typeface="B Yekan" panose="00000400000000000000" pitchFamily="2" charset="-78"/>
              </a:rPr>
              <a:t>مدنظر قرار دادن بیشترین فایده ملی در تهیه اسناد .</a:t>
            </a:r>
          </a:p>
          <a:p>
            <a:pPr marL="285750" indent="-285750" algn="r" rtl="1">
              <a:buFont typeface="Arial" panose="020B0604020202020204" pitchFamily="34" charset="0"/>
              <a:buChar char="•"/>
            </a:pPr>
            <a:r>
              <a:rPr lang="ar-SA" sz="2400" dirty="0">
                <a:cs typeface="B Yekan" panose="00000400000000000000" pitchFamily="2" charset="-78"/>
              </a:rPr>
              <a:t>استفاده از استاندارد های معتبر وشناخته شده ملی وبین المللی .</a:t>
            </a:r>
          </a:p>
          <a:p>
            <a:pPr marL="285750" indent="-285750" algn="r" rtl="1">
              <a:buFont typeface="Arial" panose="020B0604020202020204" pitchFamily="34" charset="0"/>
              <a:buChar char="•"/>
            </a:pPr>
            <a:r>
              <a:rPr lang="ar-SA" sz="2400" dirty="0">
                <a:cs typeface="B Yekan" panose="00000400000000000000" pitchFamily="2" charset="-78"/>
              </a:rPr>
              <a:t>ارتقا واستفاده از حد اکثر توان فنی ومهندسی کشور .</a:t>
            </a:r>
          </a:p>
          <a:p>
            <a:pPr marL="285750" indent="-285750" algn="r" rtl="1">
              <a:buFont typeface="Arial" panose="020B0604020202020204" pitchFamily="34" charset="0"/>
              <a:buChar char="•"/>
            </a:pPr>
            <a:r>
              <a:rPr lang="ar-SA" sz="2400" dirty="0">
                <a:cs typeface="B Yekan" panose="00000400000000000000" pitchFamily="2" charset="-78"/>
              </a:rPr>
              <a:t>حمایت از ابتکارات , خلاقيت ها ونواوري ها .</a:t>
            </a:r>
          </a:p>
          <a:p>
            <a:pPr marL="285750" indent="-285750" algn="r" rtl="1">
              <a:buFont typeface="Arial" panose="020B0604020202020204" pitchFamily="34" charset="0"/>
              <a:buChar char="•"/>
            </a:pPr>
            <a:r>
              <a:rPr lang="ar-SA" sz="2400" dirty="0">
                <a:cs typeface="B Yekan" panose="00000400000000000000" pitchFamily="2" charset="-78"/>
              </a:rPr>
              <a:t>احراز صلاحيت مجريان طرحها وپروژهای سرمایه گذاری .</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26</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Tree>
    <p:extLst>
      <p:ext uri="{BB962C8B-B14F-4D97-AF65-F5344CB8AC3E}">
        <p14:creationId xmlns:p14="http://schemas.microsoft.com/office/powerpoint/2010/main" val="1323760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8256B90-F741-4B19-FEA2-AA0C6013C02B}"/>
              </a:ext>
            </a:extLst>
          </p:cNvPr>
          <p:cNvSpPr>
            <a:spLocks noGrp="1"/>
          </p:cNvSpPr>
          <p:nvPr>
            <p:ph type="subTitle" idx="1"/>
          </p:nvPr>
        </p:nvSpPr>
        <p:spPr>
          <a:xfrm>
            <a:off x="6096000" y="1619682"/>
            <a:ext cx="5284963" cy="2634266"/>
          </a:xfrm>
        </p:spPr>
        <p:txBody>
          <a:bodyPr/>
          <a:lstStyle/>
          <a:p>
            <a:pPr algn="r"/>
            <a:r>
              <a:rPr lang="ar-SA" sz="2400" dirty="0">
                <a:cs typeface="B Yekan" panose="00000400000000000000" pitchFamily="2" charset="-78"/>
              </a:rPr>
              <a:t>تلاشی سازمان يافته كه با هدف بررسي وتحليل فعاليتهاى طرح در مراحل طراحي , اجرا , بهره برداري ونگهداري انجام مي شود .</a:t>
            </a:r>
          </a:p>
          <a:p>
            <a:pPr algn="r"/>
            <a:r>
              <a:rPr lang="ar-SA" sz="2400" dirty="0">
                <a:cs typeface="B Yekan" panose="00000400000000000000" pitchFamily="2" charset="-78"/>
              </a:rPr>
              <a:t>اين بررسي با استفاده از تجارب , ابتكارها وخلاقيتهاي متخصصان در جهت تحليل كاركرد سيستم ها , عوامل , تجهيزات , تاسيسات به منظور دستيابى به كاركرد پیش بینی شده با کمترین هزینه وبا حفظ  ویا ارتقای کیفیت و در کوتاه ترین زمان انجام می شود .</a:t>
            </a:r>
          </a:p>
          <a:p>
            <a:pPr algn="r"/>
            <a:endParaRPr lang="en-US" sz="2400" dirty="0">
              <a:cs typeface="B Yekan" panose="00000400000000000000" pitchFamily="2" charset="-78"/>
            </a:endParaRPr>
          </a:p>
        </p:txBody>
      </p:sp>
      <p:sp>
        <p:nvSpPr>
          <p:cNvPr id="4" name="TextBox 3">
            <a:extLst>
              <a:ext uri="{FF2B5EF4-FFF2-40B4-BE49-F238E27FC236}">
                <a16:creationId xmlns:a16="http://schemas.microsoft.com/office/drawing/2014/main" id="{A2F11211-43E5-47F6-D57E-E1307779D526}"/>
              </a:ext>
            </a:extLst>
          </p:cNvPr>
          <p:cNvSpPr txBox="1"/>
          <p:nvPr/>
        </p:nvSpPr>
        <p:spPr>
          <a:xfrm>
            <a:off x="7200304" y="795131"/>
            <a:ext cx="4180659" cy="584775"/>
          </a:xfrm>
          <a:prstGeom prst="rect">
            <a:avLst/>
          </a:prstGeom>
          <a:noFill/>
        </p:spPr>
        <p:txBody>
          <a:bodyPr wrap="square" rtlCol="0">
            <a:spAutoFit/>
          </a:bodyPr>
          <a:lstStyle/>
          <a:p>
            <a:pPr algn="r"/>
            <a:r>
              <a:rPr lang="fa-IR" sz="3200" dirty="0">
                <a:cs typeface="B Titr" panose="00000700000000000000" pitchFamily="2" charset="-78"/>
              </a:rPr>
              <a:t>مهندس ارزش چیست ؟</a:t>
            </a:r>
            <a:endParaRPr lang="en-US" sz="3200" dirty="0">
              <a:cs typeface="B Titr" panose="00000700000000000000" pitchFamily="2" charset="-78"/>
            </a:endParaRPr>
          </a:p>
        </p:txBody>
      </p:sp>
      <p:sp>
        <p:nvSpPr>
          <p:cNvPr id="6" name="Oval 5">
            <a:extLst>
              <a:ext uri="{FF2B5EF4-FFF2-40B4-BE49-F238E27FC236}">
                <a16:creationId xmlns:a16="http://schemas.microsoft.com/office/drawing/2014/main" id="{ECD15834-1D3C-C305-1CED-D352C7F28A89}"/>
              </a:ext>
            </a:extLst>
          </p:cNvPr>
          <p:cNvSpPr/>
          <p:nvPr/>
        </p:nvSpPr>
        <p:spPr>
          <a:xfrm>
            <a:off x="-369426" y="0"/>
            <a:ext cx="5734880" cy="5824330"/>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2273659E-B483-7F47-1B6B-3D9EEAE8D1A8}"/>
              </a:ext>
            </a:extLst>
          </p:cNvPr>
          <p:cNvPicPr>
            <a:picLocks noChangeAspect="1"/>
          </p:cNvPicPr>
          <p:nvPr/>
        </p:nvPicPr>
        <p:blipFill>
          <a:blip r:embed="rId2"/>
          <a:stretch>
            <a:fillRect/>
          </a:stretch>
        </p:blipFill>
        <p:spPr>
          <a:xfrm>
            <a:off x="1018165" y="1201001"/>
            <a:ext cx="3245721" cy="4305277"/>
          </a:xfrm>
          <a:prstGeom prst="rect">
            <a:avLst/>
          </a:prstGeom>
        </p:spPr>
      </p:pic>
    </p:spTree>
    <p:extLst>
      <p:ext uri="{BB962C8B-B14F-4D97-AF65-F5344CB8AC3E}">
        <p14:creationId xmlns:p14="http://schemas.microsoft.com/office/powerpoint/2010/main" val="2125892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37C43-2A58-4D8F-4B88-9D5CBE782944}"/>
              </a:ext>
            </a:extLst>
          </p:cNvPr>
          <p:cNvSpPr>
            <a:spLocks noGrp="1"/>
          </p:cNvSpPr>
          <p:nvPr>
            <p:ph sz="half" idx="2"/>
          </p:nvPr>
        </p:nvSpPr>
        <p:spPr>
          <a:xfrm>
            <a:off x="1053084" y="2792687"/>
            <a:ext cx="10085832" cy="1093512"/>
          </a:xfrm>
        </p:spPr>
        <p:txBody>
          <a:bodyPr/>
          <a:lstStyle/>
          <a:p>
            <a:pPr algn="ctr"/>
            <a:r>
              <a:rPr lang="ar-SA" sz="3600" dirty="0">
                <a:cs typeface="B Titr" panose="00000700000000000000" pitchFamily="2" charset="-78"/>
              </a:rPr>
              <a:t>فرهنگ واژگان نظام فني واجرايي كشور</a:t>
            </a:r>
          </a:p>
          <a:p>
            <a:pPr algn="ctr"/>
            <a:endParaRPr lang="en-US" sz="3600" dirty="0">
              <a:cs typeface="B Titr" panose="00000700000000000000" pitchFamily="2" charset="-78"/>
            </a:endParaRPr>
          </a:p>
        </p:txBody>
      </p:sp>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28</a:t>
            </a:fld>
            <a:endParaRPr lang="en-US" dirty="0"/>
          </a:p>
        </p:txBody>
      </p:sp>
    </p:spTree>
    <p:extLst>
      <p:ext uri="{BB962C8B-B14F-4D97-AF65-F5344CB8AC3E}">
        <p14:creationId xmlns:p14="http://schemas.microsoft.com/office/powerpoint/2010/main" val="64299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440E-871A-B834-FE1B-1E61C9070C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12258-331C-8DDD-69E7-CF87014A31C1}"/>
              </a:ext>
            </a:extLst>
          </p:cNvPr>
          <p:cNvSpPr>
            <a:spLocks noGrp="1"/>
          </p:cNvSpPr>
          <p:nvPr>
            <p:ph sz="half" idx="2"/>
          </p:nvPr>
        </p:nvSpPr>
        <p:spPr>
          <a:xfrm>
            <a:off x="850900" y="576262"/>
            <a:ext cx="10085832" cy="1093512"/>
          </a:xfrm>
        </p:spPr>
        <p:txBody>
          <a:bodyPr/>
          <a:lstStyle/>
          <a:p>
            <a:pPr algn="ctr"/>
            <a:r>
              <a:rPr lang="ar-SA" sz="3600" dirty="0">
                <a:cs typeface="B Titr" panose="00000700000000000000" pitchFamily="2" charset="-78"/>
              </a:rPr>
              <a:t>فرهنگ واژگان نظام فني واجرايي كشور</a:t>
            </a:r>
          </a:p>
          <a:p>
            <a:pPr algn="ctr"/>
            <a:endParaRPr lang="en-US" sz="3600" dirty="0">
              <a:cs typeface="B Titr" panose="00000700000000000000" pitchFamily="2" charset="-78"/>
            </a:endParaRPr>
          </a:p>
        </p:txBody>
      </p:sp>
      <p:graphicFrame>
        <p:nvGraphicFramePr>
          <p:cNvPr id="7" name="Content Placeholder 4" descr="Basic chevron process SmartArt graphic">
            <a:extLst>
              <a:ext uri="{FF2B5EF4-FFF2-40B4-BE49-F238E27FC236}">
                <a16:creationId xmlns:a16="http://schemas.microsoft.com/office/drawing/2014/main" id="{629ABDB4-6ABB-5C55-CA01-223C81FBA3FE}"/>
              </a:ext>
            </a:extLst>
          </p:cNvPr>
          <p:cNvGraphicFramePr>
            <a:graphicFrameLocks noGrp="1"/>
          </p:cNvGraphicFramePr>
          <p:nvPr>
            <p:ph sz="half" idx="12"/>
          </p:nvPr>
        </p:nvGraphicFramePr>
        <p:xfrm>
          <a:off x="851344" y="2435087"/>
          <a:ext cx="10085388" cy="2332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9B2D8A62-8C27-14E0-B1A2-840E5647869F}"/>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Tree>
    <p:extLst>
      <p:ext uri="{BB962C8B-B14F-4D97-AF65-F5344CB8AC3E}">
        <p14:creationId xmlns:p14="http://schemas.microsoft.com/office/powerpoint/2010/main" val="850517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7FCF36C-85F9-0068-C047-AD2D04D54E66}"/>
              </a:ext>
            </a:extLst>
          </p:cNvPr>
          <p:cNvSpPr>
            <a:spLocks noGrp="1"/>
          </p:cNvSpPr>
          <p:nvPr>
            <p:ph sz="half" idx="2"/>
          </p:nvPr>
        </p:nvSpPr>
        <p:spPr>
          <a:xfrm>
            <a:off x="1987826" y="2679588"/>
            <a:ext cx="7682948" cy="2770632"/>
          </a:xfrm>
        </p:spPr>
        <p:txBody>
          <a:bodyPr>
            <a:normAutofit/>
          </a:bodyPr>
          <a:lstStyle/>
          <a:p>
            <a:pPr algn="r"/>
            <a:r>
              <a:rPr lang="ar-SA" sz="2400" b="0" dirty="0">
                <a:cs typeface="B Yekan" panose="00000400000000000000" pitchFamily="2" charset="-78"/>
              </a:rPr>
              <a:t>مفهوم مدیریت، مجموعه فعالیت‌های هماهنگ شده برای برنامه‌ریزی، سازماندهی، راهبری، هدایت و کنترل است که به‌عنوان یکی از سامانه‌های نظام، ملاک عمل قرار می‌گیرد.</a:t>
            </a:r>
            <a:endParaRPr lang="en-US" sz="2400" b="0" dirty="0">
              <a:cs typeface="B Yekan" panose="00000400000000000000" pitchFamily="2" charset="-78"/>
            </a:endParaRPr>
          </a:p>
        </p:txBody>
      </p:sp>
      <p:sp>
        <p:nvSpPr>
          <p:cNvPr id="6" name="Slide Number Placeholder 5">
            <a:extLst>
              <a:ext uri="{FF2B5EF4-FFF2-40B4-BE49-F238E27FC236}">
                <a16:creationId xmlns:a16="http://schemas.microsoft.com/office/drawing/2014/main" id="{7B1951C7-2970-90B0-08D1-6476B2DF81BA}"/>
              </a:ext>
            </a:extLst>
          </p:cNvPr>
          <p:cNvSpPr>
            <a:spLocks noGrp="1"/>
          </p:cNvSpPr>
          <p:nvPr>
            <p:ph type="sldNum" sz="quarter" idx="11"/>
          </p:nvPr>
        </p:nvSpPr>
        <p:spPr/>
        <p:txBody>
          <a:bodyPr/>
          <a:lstStyle/>
          <a:p>
            <a:fld id="{09A01C0A-2BB6-49E7-91A3-DCB9F9F59583}" type="slidenum">
              <a:rPr lang="en-US" smtClean="0"/>
              <a:pPr/>
              <a:t>30</a:t>
            </a:fld>
            <a:endParaRPr lang="en-US" dirty="0"/>
          </a:p>
        </p:txBody>
      </p:sp>
      <p:sp>
        <p:nvSpPr>
          <p:cNvPr id="7" name="Rectangle 6">
            <a:extLst>
              <a:ext uri="{FF2B5EF4-FFF2-40B4-BE49-F238E27FC236}">
                <a16:creationId xmlns:a16="http://schemas.microsoft.com/office/drawing/2014/main" id="{92F38CCE-B405-4906-680C-01CC87B3EE77}"/>
              </a:ext>
            </a:extLst>
          </p:cNvPr>
          <p:cNvSpPr/>
          <p:nvPr/>
        </p:nvSpPr>
        <p:spPr>
          <a:xfrm>
            <a:off x="-69574" y="0"/>
            <a:ext cx="11877526" cy="183873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a-IR" sz="3600" dirty="0">
                <a:cs typeface="B Titr" panose="00000700000000000000" pitchFamily="2" charset="-78"/>
              </a:rPr>
              <a:t>مدیریت</a:t>
            </a:r>
            <a:endParaRPr lang="en-US" sz="3600" dirty="0">
              <a:cs typeface="B Titr" panose="00000700000000000000" pitchFamily="2" charset="-78"/>
            </a:endParaRPr>
          </a:p>
        </p:txBody>
      </p:sp>
    </p:spTree>
    <p:extLst>
      <p:ext uri="{BB962C8B-B14F-4D97-AF65-F5344CB8AC3E}">
        <p14:creationId xmlns:p14="http://schemas.microsoft.com/office/powerpoint/2010/main" val="3830041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B8018B-D646-C50A-34DD-99BF77B805E1}"/>
              </a:ext>
            </a:extLst>
          </p:cNvPr>
          <p:cNvSpPr>
            <a:spLocks noGrp="1"/>
          </p:cNvSpPr>
          <p:nvPr>
            <p:ph sz="half" idx="12"/>
          </p:nvPr>
        </p:nvSpPr>
        <p:spPr>
          <a:xfrm>
            <a:off x="1043609" y="1033670"/>
            <a:ext cx="9929191" cy="5074522"/>
          </a:xfrm>
        </p:spPr>
        <p:txBody>
          <a:bodyPr/>
          <a:lstStyle/>
          <a:p>
            <a:pPr algn="r"/>
            <a:r>
              <a:rPr lang="ar-SA" sz="2000" dirty="0">
                <a:cs typeface="B Yekan" panose="00000400000000000000" pitchFamily="2" charset="-78"/>
              </a:rPr>
              <a:t>تحقق جنبه‌هایی مانند:</a:t>
            </a:r>
          </a:p>
          <a:p>
            <a:pPr algn="r"/>
            <a:r>
              <a:rPr lang="ar-SA" sz="2000" dirty="0">
                <a:cs typeface="B Yekan" panose="00000400000000000000" pitchFamily="2" charset="-78"/>
              </a:rPr>
              <a:t>– دستیابی به استقلال فنی و فناوری پیشرفته، منطبق با شرایط فرهنگی، اجتماعی، اقلیمی و زیست‌محیطی کشور.</a:t>
            </a:r>
          </a:p>
          <a:p>
            <a:pPr algn="r"/>
            <a:r>
              <a:rPr lang="ar-SA" sz="2000" dirty="0">
                <a:cs typeface="B Yekan" panose="00000400000000000000" pitchFamily="2" charset="-78"/>
              </a:rPr>
              <a:t>– حفظ شئون اجتماعی و حقوق فنی و حرفه‌ای تمامی عوامل اجرایی.</a:t>
            </a:r>
          </a:p>
          <a:p>
            <a:pPr algn="r"/>
            <a:r>
              <a:rPr lang="ar-SA" sz="2000" dirty="0">
                <a:cs typeface="B Yekan" panose="00000400000000000000" pitchFamily="2" charset="-78"/>
              </a:rPr>
              <a:t>– بسترسازی در همگام نمودن برنامه‌های آموزشی دانشکده‌های مهندسی، متناسب با پیشرفت‌های علوم و فنون و نیازهای صنعتی و اقتصادی کشور.</a:t>
            </a:r>
          </a:p>
          <a:p>
            <a:pPr algn="r"/>
            <a:r>
              <a:rPr lang="ar-SA" sz="2000" dirty="0">
                <a:cs typeface="B Yekan" panose="00000400000000000000" pitchFamily="2" charset="-78"/>
              </a:rPr>
              <a:t>– تعامل لازم با تشکل‌های صنفی و تخصصی کشور.</a:t>
            </a:r>
          </a:p>
          <a:p>
            <a:pPr algn="r"/>
            <a:r>
              <a:rPr lang="ar-SA" sz="2000" dirty="0">
                <a:cs typeface="B Yekan" panose="00000400000000000000" pitchFamily="2" charset="-78"/>
              </a:rPr>
              <a:t>– دستیابی به نظام‌های فنی و اجرایی کشورهای صنعتی و استفاده لازم از روش‌های اجرایی آنان.</a:t>
            </a:r>
          </a:p>
          <a:p>
            <a:pPr algn="r"/>
            <a:r>
              <a:rPr lang="ar-SA" sz="2000" dirty="0">
                <a:cs typeface="B Yekan" panose="00000400000000000000" pitchFamily="2" charset="-78"/>
              </a:rPr>
              <a:t>– توانمندسازی سازمان‌های عوامل ذی‌نفع برای فعالیت در فضای رقابتی،</a:t>
            </a:r>
          </a:p>
          <a:p>
            <a:pPr algn="r"/>
            <a:endParaRPr lang="en-US" sz="2000" dirty="0">
              <a:cs typeface="B Yekan" panose="00000400000000000000" pitchFamily="2" charset="-78"/>
            </a:endParaRPr>
          </a:p>
        </p:txBody>
      </p:sp>
      <p:sp>
        <p:nvSpPr>
          <p:cNvPr id="5" name="Slide Number Placeholder 4">
            <a:extLst>
              <a:ext uri="{FF2B5EF4-FFF2-40B4-BE49-F238E27FC236}">
                <a16:creationId xmlns:a16="http://schemas.microsoft.com/office/drawing/2014/main" id="{94092B1C-ECA4-EB21-C095-BC7278AA50C6}"/>
              </a:ext>
            </a:extLst>
          </p:cNvPr>
          <p:cNvSpPr>
            <a:spLocks noGrp="1"/>
          </p:cNvSpPr>
          <p:nvPr>
            <p:ph type="sldNum" sz="quarter" idx="11"/>
          </p:nvPr>
        </p:nvSpPr>
        <p:spPr/>
        <p:txBody>
          <a:bodyPr/>
          <a:lstStyle/>
          <a:p>
            <a:fld id="{09A01C0A-2BB6-49E7-91A3-DCB9F9F59583}" type="slidenum">
              <a:rPr lang="en-US" smtClean="0"/>
              <a:pPr/>
              <a:t>31</a:t>
            </a:fld>
            <a:endParaRPr lang="en-US" dirty="0"/>
          </a:p>
        </p:txBody>
      </p:sp>
    </p:spTree>
    <p:extLst>
      <p:ext uri="{BB962C8B-B14F-4D97-AF65-F5344CB8AC3E}">
        <p14:creationId xmlns:p14="http://schemas.microsoft.com/office/powerpoint/2010/main" val="2597695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CB4198F-D388-A0ED-317D-A0ED31E24BCA}"/>
              </a:ext>
            </a:extLst>
          </p:cNvPr>
          <p:cNvSpPr>
            <a:spLocks noGrp="1"/>
          </p:cNvSpPr>
          <p:nvPr>
            <p:ph type="sldNum" sz="quarter" idx="11"/>
          </p:nvPr>
        </p:nvSpPr>
        <p:spPr/>
        <p:txBody>
          <a:bodyPr/>
          <a:lstStyle/>
          <a:p>
            <a:fld id="{09A01C0A-2BB6-49E7-91A3-DCB9F9F59583}" type="slidenum">
              <a:rPr lang="en-US" smtClean="0"/>
              <a:pPr/>
              <a:t>32</a:t>
            </a:fld>
            <a:endParaRPr lang="en-US" dirty="0"/>
          </a:p>
        </p:txBody>
      </p:sp>
      <p:sp>
        <p:nvSpPr>
          <p:cNvPr id="8" name="Oval 7">
            <a:extLst>
              <a:ext uri="{FF2B5EF4-FFF2-40B4-BE49-F238E27FC236}">
                <a16:creationId xmlns:a16="http://schemas.microsoft.com/office/drawing/2014/main" id="{2A0B5869-845F-AF25-9395-D951F3B9E66C}"/>
              </a:ext>
            </a:extLst>
          </p:cNvPr>
          <p:cNvSpPr/>
          <p:nvPr/>
        </p:nvSpPr>
        <p:spPr>
          <a:xfrm>
            <a:off x="1431235" y="0"/>
            <a:ext cx="8546261" cy="6858000"/>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95CC45A-BB16-E5FC-5B97-59576ADA343F}"/>
              </a:ext>
            </a:extLst>
          </p:cNvPr>
          <p:cNvSpPr/>
          <p:nvPr/>
        </p:nvSpPr>
        <p:spPr>
          <a:xfrm>
            <a:off x="3174856" y="993913"/>
            <a:ext cx="5059017" cy="4870174"/>
          </a:xfrm>
          <a:prstGeom prst="ellipse">
            <a:avLst/>
          </a:prstGeom>
          <a:ln w="28575">
            <a:solidFill>
              <a:srgbClr val="000000"/>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fa-IR" sz="3200" dirty="0">
                <a:cs typeface="B Titr" panose="00000700000000000000" pitchFamily="2" charset="-78"/>
              </a:rPr>
              <a:t>الزامات مدیریت</a:t>
            </a:r>
            <a:endParaRPr lang="en-US" sz="3200" dirty="0">
              <a:cs typeface="B Titr" panose="00000700000000000000" pitchFamily="2" charset="-78"/>
            </a:endParaRPr>
          </a:p>
        </p:txBody>
      </p:sp>
    </p:spTree>
    <p:extLst>
      <p:ext uri="{BB962C8B-B14F-4D97-AF65-F5344CB8AC3E}">
        <p14:creationId xmlns:p14="http://schemas.microsoft.com/office/powerpoint/2010/main" val="3232979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C088391-9905-FADD-E5EB-AAB2C4189DD5}"/>
              </a:ext>
            </a:extLst>
          </p:cNvPr>
          <p:cNvSpPr>
            <a:spLocks noGrp="1"/>
          </p:cNvSpPr>
          <p:nvPr>
            <p:ph sz="half" idx="12"/>
          </p:nvPr>
        </p:nvSpPr>
        <p:spPr>
          <a:xfrm>
            <a:off x="1570385" y="486693"/>
            <a:ext cx="8329256" cy="2770632"/>
          </a:xfrm>
          <a:ln w="57150"/>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lgn="r"/>
            <a:r>
              <a:rPr lang="ar-SA" b="0" dirty="0">
                <a:cs typeface="B Yekan" panose="00000400000000000000" pitchFamily="2" charset="-78"/>
              </a:rPr>
              <a:t>۱- اتخاذ رویکرد فرایندی و سیستمی در مدیریت.</a:t>
            </a:r>
            <a:endParaRPr lang="fa-IR" b="0" dirty="0">
              <a:cs typeface="B Yekan" panose="00000400000000000000" pitchFamily="2" charset="-78"/>
            </a:endParaRPr>
          </a:p>
          <a:p>
            <a:pPr algn="r"/>
            <a:endParaRPr lang="fa-IR" b="0" dirty="0">
              <a:cs typeface="B Yekan" panose="00000400000000000000" pitchFamily="2" charset="-78"/>
            </a:endParaRPr>
          </a:p>
          <a:p>
            <a:pPr algn="r"/>
            <a:r>
              <a:rPr lang="fa-IR" b="0" dirty="0">
                <a:cs typeface="B Yekan" panose="00000400000000000000" pitchFamily="2" charset="-78"/>
              </a:rPr>
              <a:t>2</a:t>
            </a:r>
            <a:r>
              <a:rPr lang="ar-SA" b="0" dirty="0">
                <a:cs typeface="B Yekan" panose="00000400000000000000" pitchFamily="2" charset="-78"/>
              </a:rPr>
              <a:t>- استقرار و پیاده‌سازی نظام‌ مدیریت کیفیت در سطح عوامل ذی‌نفع.</a:t>
            </a:r>
          </a:p>
          <a:p>
            <a:pPr algn="r"/>
            <a:endParaRPr lang="ar-SA" b="0" dirty="0">
              <a:cs typeface="B Yekan" panose="00000400000000000000" pitchFamily="2" charset="-78"/>
            </a:endParaRPr>
          </a:p>
          <a:p>
            <a:pPr algn="r"/>
            <a:r>
              <a:rPr lang="fa-IR" b="0" dirty="0">
                <a:cs typeface="B Yekan" panose="00000400000000000000" pitchFamily="2" charset="-78"/>
              </a:rPr>
              <a:t>3</a:t>
            </a:r>
            <a:r>
              <a:rPr lang="ar-SA" b="0" dirty="0">
                <a:cs typeface="B Yekan" panose="00000400000000000000" pitchFamily="2" charset="-78"/>
              </a:rPr>
              <a:t>- در انجام فرایندهای مربوط به مدیریت، فعالیت‌های اصلی، ماتریس مسئولیت عوامل ذی‌نفع هر فعالیت، درون‌دادها، ابزار و فنون، برون‌دادها و روش‌ها و معیارهای پایش و اندازه‌گیری هر فرایند مشخص می‌گردند.</a:t>
            </a:r>
          </a:p>
          <a:p>
            <a:pPr algn="r"/>
            <a:endParaRPr lang="ar-SA" b="0" dirty="0">
              <a:cs typeface="B Yekan" panose="00000400000000000000" pitchFamily="2" charset="-78"/>
            </a:endParaRPr>
          </a:p>
          <a:p>
            <a:pPr algn="r"/>
            <a:endParaRPr lang="en-US" b="0" dirty="0">
              <a:cs typeface="B Yekan" panose="00000400000000000000" pitchFamily="2" charset="-78"/>
            </a:endParaRPr>
          </a:p>
        </p:txBody>
      </p:sp>
      <p:sp>
        <p:nvSpPr>
          <p:cNvPr id="5" name="Content Placeholder 4">
            <a:extLst>
              <a:ext uri="{FF2B5EF4-FFF2-40B4-BE49-F238E27FC236}">
                <a16:creationId xmlns:a16="http://schemas.microsoft.com/office/drawing/2014/main" id="{FB7A793E-FED8-F252-2B83-576C03E36F14}"/>
              </a:ext>
            </a:extLst>
          </p:cNvPr>
          <p:cNvSpPr>
            <a:spLocks noGrp="1"/>
          </p:cNvSpPr>
          <p:nvPr>
            <p:ph sz="half" idx="2"/>
          </p:nvPr>
        </p:nvSpPr>
        <p:spPr>
          <a:xfrm>
            <a:off x="1570385" y="3700067"/>
            <a:ext cx="8329256" cy="2770632"/>
          </a:xfrm>
          <a:ln w="57150"/>
        </p:spPr>
        <p:style>
          <a:lnRef idx="2">
            <a:schemeClr val="accent2"/>
          </a:lnRef>
          <a:fillRef idx="1">
            <a:schemeClr val="lt1"/>
          </a:fillRef>
          <a:effectRef idx="0">
            <a:schemeClr val="accent2"/>
          </a:effectRef>
          <a:fontRef idx="minor">
            <a:schemeClr val="dk1"/>
          </a:fontRef>
        </p:style>
        <p:txBody>
          <a:bodyPr>
            <a:normAutofit/>
          </a:bodyPr>
          <a:lstStyle/>
          <a:p>
            <a:pPr algn="r"/>
            <a:r>
              <a:rPr lang="fa-IR" sz="1700" b="0" dirty="0">
                <a:cs typeface="B Yekan" panose="00000400000000000000" pitchFamily="2" charset="-78"/>
              </a:rPr>
              <a:t>4</a:t>
            </a:r>
            <a:r>
              <a:rPr lang="ar-SA" sz="1700" b="0" dirty="0">
                <a:cs typeface="B Yekan" panose="00000400000000000000" pitchFamily="2" charset="-78"/>
              </a:rPr>
              <a:t>- زمینه‌سازی و ایجاد تسهیلات برای صدور خدمات فنی، مهندسی و حرفه‌ای.</a:t>
            </a:r>
          </a:p>
          <a:p>
            <a:pPr algn="r"/>
            <a:endParaRPr lang="ar-SA" sz="1700" b="0" dirty="0">
              <a:cs typeface="B Yekan" panose="00000400000000000000" pitchFamily="2" charset="-78"/>
            </a:endParaRPr>
          </a:p>
          <a:p>
            <a:pPr algn="r"/>
            <a:r>
              <a:rPr lang="fa-IR" sz="1700" b="0" dirty="0">
                <a:cs typeface="B Yekan" panose="00000400000000000000" pitchFamily="2" charset="-78"/>
              </a:rPr>
              <a:t>5</a:t>
            </a:r>
            <a:r>
              <a:rPr lang="ar-SA" sz="1700" b="0" dirty="0">
                <a:cs typeface="B Yekan" panose="00000400000000000000" pitchFamily="2" charset="-78"/>
              </a:rPr>
              <a:t>- بسترسازی برای شکل‌گیری شرکت‌های بزرگ، توانمند و ماندگار بخش خصوصی.</a:t>
            </a:r>
          </a:p>
          <a:p>
            <a:pPr algn="r"/>
            <a:endParaRPr lang="ar-SA" sz="1700" b="0" dirty="0">
              <a:cs typeface="B Yekan" panose="00000400000000000000" pitchFamily="2" charset="-78"/>
            </a:endParaRPr>
          </a:p>
          <a:p>
            <a:pPr algn="r"/>
            <a:r>
              <a:rPr lang="fa-IR" sz="1700" b="0" dirty="0">
                <a:cs typeface="B Yekan" panose="00000400000000000000" pitchFamily="2" charset="-78"/>
              </a:rPr>
              <a:t>6</a:t>
            </a:r>
            <a:r>
              <a:rPr lang="ar-SA" sz="1700" b="0" dirty="0">
                <a:cs typeface="B Yekan" panose="00000400000000000000" pitchFamily="2" charset="-78"/>
              </a:rPr>
              <a:t>- بالابردن سطح آگاهی مردم با اطلاع‌رسانی از نتایج و آثار اجرای طرح‌ها و پروژه‌های سرمایه‌گذاری.</a:t>
            </a:r>
            <a:endParaRPr lang="en-US" sz="1700" b="0" dirty="0">
              <a:cs typeface="B Yekan" panose="00000400000000000000" pitchFamily="2" charset="-78"/>
            </a:endParaRPr>
          </a:p>
        </p:txBody>
      </p:sp>
      <p:sp>
        <p:nvSpPr>
          <p:cNvPr id="6" name="Slide Number Placeholder 5">
            <a:extLst>
              <a:ext uri="{FF2B5EF4-FFF2-40B4-BE49-F238E27FC236}">
                <a16:creationId xmlns:a16="http://schemas.microsoft.com/office/drawing/2014/main" id="{3724EC2A-C24B-EA6C-E9D8-0389F2B976BD}"/>
              </a:ext>
            </a:extLst>
          </p:cNvPr>
          <p:cNvSpPr>
            <a:spLocks noGrp="1"/>
          </p:cNvSpPr>
          <p:nvPr>
            <p:ph type="sldNum" sz="quarter" idx="11"/>
          </p:nvPr>
        </p:nvSpPr>
        <p:spPr/>
        <p:txBody>
          <a:bodyPr/>
          <a:lstStyle/>
          <a:p>
            <a:fld id="{09A01C0A-2BB6-49E7-91A3-DCB9F9F59583}" type="slidenum">
              <a:rPr lang="en-US" smtClean="0"/>
              <a:pPr/>
              <a:t>33</a:t>
            </a:fld>
            <a:endParaRPr lang="en-US" dirty="0"/>
          </a:p>
        </p:txBody>
      </p:sp>
    </p:spTree>
    <p:extLst>
      <p:ext uri="{BB962C8B-B14F-4D97-AF65-F5344CB8AC3E}">
        <p14:creationId xmlns:p14="http://schemas.microsoft.com/office/powerpoint/2010/main" val="1923771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3E6AD0AA-58A6-5A6D-4BF7-5963B235CA74}"/>
              </a:ext>
            </a:extLst>
          </p:cNvPr>
          <p:cNvSpPr>
            <a:spLocks noGrp="1"/>
          </p:cNvSpPr>
          <p:nvPr>
            <p:ph sz="half" idx="36"/>
          </p:nvPr>
        </p:nvSpPr>
        <p:spPr>
          <a:xfrm>
            <a:off x="3667125" y="1832410"/>
            <a:ext cx="8058150" cy="3661029"/>
          </a:xfrm>
        </p:spPr>
        <p:txBody>
          <a:bodyPr/>
          <a:lstStyle/>
          <a:p>
            <a:pPr algn="r" rtl="1"/>
            <a:r>
              <a:rPr lang="ar-SA" sz="2000" dirty="0">
                <a:solidFill>
                  <a:schemeClr val="accent5">
                    <a:lumMod val="75000"/>
                  </a:schemeClr>
                </a:solidFill>
                <a:cs typeface="B Yekan" panose="00000400000000000000" pitchFamily="2" charset="-78"/>
              </a:rPr>
              <a:t>مديريت</a:t>
            </a:r>
            <a:r>
              <a:rPr lang="en-US" sz="2000" dirty="0" err="1">
                <a:solidFill>
                  <a:schemeClr val="accent5">
                    <a:lumMod val="75000"/>
                  </a:schemeClr>
                </a:solidFill>
                <a:cs typeface="B Yekan" panose="00000400000000000000" pitchFamily="2" charset="-78"/>
              </a:rPr>
              <a:t>Managemen</a:t>
            </a:r>
            <a:r>
              <a:rPr lang="en-US" sz="2000" dirty="0">
                <a:solidFill>
                  <a:schemeClr val="accent5">
                    <a:lumMod val="75000"/>
                  </a:schemeClr>
                </a:solidFill>
                <a:cs typeface="B Yekan" panose="00000400000000000000" pitchFamily="2" charset="-78"/>
              </a:rPr>
              <a:t> </a:t>
            </a:r>
            <a:r>
              <a:rPr lang="fa-IR" sz="2000" dirty="0">
                <a:cs typeface="B Yekan" panose="00000400000000000000" pitchFamily="2" charset="-78"/>
              </a:rPr>
              <a:t> :  </a:t>
            </a:r>
            <a:r>
              <a:rPr lang="ar-SA" sz="2000" dirty="0">
                <a:cs typeface="B Yekan" panose="00000400000000000000" pitchFamily="2" charset="-78"/>
              </a:rPr>
              <a:t>فعالیتهای هماهنگ شده جهت هدایت و کنترل یک سازمان</a:t>
            </a:r>
            <a:endParaRPr lang="en-US" sz="2000" dirty="0">
              <a:cs typeface="B Yekan" panose="00000400000000000000" pitchFamily="2" charset="-78"/>
            </a:endParaRPr>
          </a:p>
          <a:p>
            <a:pPr algn="r" rtl="1"/>
            <a:endParaRPr lang="en-US" sz="2000" dirty="0">
              <a:cs typeface="B Yekan" panose="00000400000000000000" pitchFamily="2" charset="-78"/>
            </a:endParaRPr>
          </a:p>
          <a:p>
            <a:pPr marL="0" indent="0" algn="r" rtl="1">
              <a:buNone/>
            </a:pPr>
            <a:endParaRPr lang="ar-SA" sz="2000" dirty="0">
              <a:cs typeface="B Yekan" panose="00000400000000000000" pitchFamily="2" charset="-78"/>
            </a:endParaRPr>
          </a:p>
          <a:p>
            <a:pPr algn="r" rtl="1"/>
            <a:r>
              <a:rPr lang="ar-SA" sz="2000" dirty="0">
                <a:solidFill>
                  <a:schemeClr val="accent5">
                    <a:lumMod val="75000"/>
                  </a:schemeClr>
                </a:solidFill>
                <a:cs typeface="B Yekan" panose="00000400000000000000" pitchFamily="2" charset="-78"/>
              </a:rPr>
              <a:t>مدير </a:t>
            </a:r>
            <a:r>
              <a:rPr lang="en-US" sz="2000" dirty="0">
                <a:solidFill>
                  <a:schemeClr val="accent5">
                    <a:lumMod val="75000"/>
                  </a:schemeClr>
                </a:solidFill>
                <a:cs typeface="B Yekan" panose="00000400000000000000" pitchFamily="2" charset="-78"/>
              </a:rPr>
              <a:t>Manager </a:t>
            </a:r>
            <a:r>
              <a:rPr lang="fa-IR" sz="2000" dirty="0">
                <a:solidFill>
                  <a:schemeClr val="accent5">
                    <a:lumMod val="75000"/>
                  </a:schemeClr>
                </a:solidFill>
                <a:cs typeface="B Yekan" panose="00000400000000000000" pitchFamily="2" charset="-78"/>
              </a:rPr>
              <a:t> </a:t>
            </a:r>
            <a:r>
              <a:rPr lang="fa-IR" sz="2000" dirty="0">
                <a:cs typeface="B Yekan" panose="00000400000000000000" pitchFamily="2" charset="-78"/>
              </a:rPr>
              <a:t>: </a:t>
            </a:r>
            <a:r>
              <a:rPr lang="ar-SA" sz="2000" dirty="0">
                <a:cs typeface="B Yekan" panose="00000400000000000000" pitchFamily="2" charset="-78"/>
              </a:rPr>
              <a:t>شخصی که مسئول اداره سازمانی است و دارای اقتدار استفاده از منابع سازمان نظیر پول، نیروی کار، یا وسایل در جهت پیشبرد اهداف سازمان میباشد. </a:t>
            </a:r>
          </a:p>
          <a:p>
            <a:pPr algn="r" rtl="1"/>
            <a:endParaRPr lang="en-US" sz="2000" dirty="0">
              <a:cs typeface="B Yekan" panose="00000400000000000000" pitchFamily="2" charset="-78"/>
            </a:endParaRPr>
          </a:p>
        </p:txBody>
      </p:sp>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34</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 name="TextBox 1">
            <a:extLst>
              <a:ext uri="{FF2B5EF4-FFF2-40B4-BE49-F238E27FC236}">
                <a16:creationId xmlns:a16="http://schemas.microsoft.com/office/drawing/2014/main" id="{A2BA048F-54F2-6F7E-CB17-4023EC038006}"/>
              </a:ext>
            </a:extLst>
          </p:cNvPr>
          <p:cNvSpPr txBox="1"/>
          <p:nvPr/>
        </p:nvSpPr>
        <p:spPr>
          <a:xfrm>
            <a:off x="8549694" y="401994"/>
            <a:ext cx="3175581" cy="646331"/>
          </a:xfrm>
          <a:prstGeom prst="rect">
            <a:avLst/>
          </a:prstGeom>
          <a:noFill/>
        </p:spPr>
        <p:txBody>
          <a:bodyPr wrap="square" rtlCol="0">
            <a:spAutoFit/>
          </a:bodyPr>
          <a:lstStyle/>
          <a:p>
            <a:pPr algn="r"/>
            <a:r>
              <a:rPr lang="fa-IR" sz="3600" dirty="0">
                <a:cs typeface="B Titr" panose="00000700000000000000" pitchFamily="2" charset="-78"/>
              </a:rPr>
              <a:t>مدیریت :</a:t>
            </a:r>
            <a:endParaRPr lang="en-US" sz="3600" dirty="0">
              <a:cs typeface="B Titr" panose="00000700000000000000" pitchFamily="2" charset="-78"/>
            </a:endParaRPr>
          </a:p>
        </p:txBody>
      </p:sp>
      <p:pic>
        <p:nvPicPr>
          <p:cNvPr id="8" name="Picture 7">
            <a:extLst>
              <a:ext uri="{FF2B5EF4-FFF2-40B4-BE49-F238E27FC236}">
                <a16:creationId xmlns:a16="http://schemas.microsoft.com/office/drawing/2014/main" id="{6D7F447E-6D81-AFC1-0E26-BDD8E0527958}"/>
              </a:ext>
            </a:extLst>
          </p:cNvPr>
          <p:cNvPicPr>
            <a:picLocks noChangeAspect="1"/>
          </p:cNvPicPr>
          <p:nvPr/>
        </p:nvPicPr>
        <p:blipFill>
          <a:blip r:embed="rId2"/>
          <a:stretch>
            <a:fillRect/>
          </a:stretch>
        </p:blipFill>
        <p:spPr>
          <a:xfrm>
            <a:off x="433842" y="4057536"/>
            <a:ext cx="2694666" cy="2694666"/>
          </a:xfrm>
          <a:prstGeom prst="rect">
            <a:avLst/>
          </a:prstGeom>
        </p:spPr>
      </p:pic>
    </p:spTree>
    <p:extLst>
      <p:ext uri="{BB962C8B-B14F-4D97-AF65-F5344CB8AC3E}">
        <p14:creationId xmlns:p14="http://schemas.microsoft.com/office/powerpoint/2010/main" val="121697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375C-A74D-8609-3A54-AC69BCE4F469}"/>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EF914DA2-4026-DC10-B322-16D5F69C0541}"/>
              </a:ext>
            </a:extLst>
          </p:cNvPr>
          <p:cNvSpPr>
            <a:spLocks noGrp="1"/>
          </p:cNvSpPr>
          <p:nvPr>
            <p:ph sz="half" idx="36"/>
          </p:nvPr>
        </p:nvSpPr>
        <p:spPr>
          <a:xfrm>
            <a:off x="3667125" y="1434845"/>
            <a:ext cx="8058150" cy="3661029"/>
          </a:xfrm>
        </p:spPr>
        <p:txBody>
          <a:bodyPr/>
          <a:lstStyle/>
          <a:p>
            <a:pPr algn="r" rtl="1"/>
            <a:r>
              <a:rPr lang="ar-SA" sz="2000" dirty="0">
                <a:solidFill>
                  <a:schemeClr val="accent5">
                    <a:lumMod val="75000"/>
                  </a:schemeClr>
                </a:solidFill>
                <a:cs typeface="B Yekan" panose="00000400000000000000" pitchFamily="2" charset="-78"/>
              </a:rPr>
              <a:t>سازمان</a:t>
            </a:r>
            <a:r>
              <a:rPr lang="en-US" sz="2000" dirty="0">
                <a:solidFill>
                  <a:schemeClr val="accent5">
                    <a:lumMod val="75000"/>
                  </a:schemeClr>
                </a:solidFill>
                <a:cs typeface="B Yekan" panose="00000400000000000000" pitchFamily="2" charset="-78"/>
              </a:rPr>
              <a:t>Organization</a:t>
            </a:r>
            <a:r>
              <a:rPr lang="en-US" sz="2000" dirty="0">
                <a:cs typeface="B Yekan" panose="00000400000000000000" pitchFamily="2" charset="-78"/>
              </a:rPr>
              <a:t> </a:t>
            </a:r>
            <a:r>
              <a:rPr lang="fa-IR" sz="2000" dirty="0">
                <a:cs typeface="B Yekan" panose="00000400000000000000" pitchFamily="2" charset="-78"/>
              </a:rPr>
              <a:t> : </a:t>
            </a:r>
            <a:r>
              <a:rPr lang="ar-SA" sz="2000" dirty="0">
                <a:cs typeface="B Yekan" panose="00000400000000000000" pitchFamily="2" charset="-78"/>
              </a:rPr>
              <a:t>گروهی از افراد و تسهیلات همراه با ترتیب مربوط به مسئولیتها، اختیارات و روابط آنها. مثال: شرکت، مجتمع «صنعتی، تجاری، خدماتی و غیره»، اداره، بنگاه، مؤسسه، بنگاه خیریه، انجمن، تجارتخانه یا بخش یا ترکیبی از آنها.</a:t>
            </a:r>
            <a:endParaRPr lang="fa-IR" sz="2000" dirty="0">
              <a:cs typeface="B Yekan" panose="00000400000000000000" pitchFamily="2" charset="-78"/>
            </a:endParaRPr>
          </a:p>
          <a:p>
            <a:pPr algn="r" rtl="1"/>
            <a:endParaRPr lang="fa-IR" sz="2000" dirty="0">
              <a:cs typeface="B Yekan" panose="00000400000000000000" pitchFamily="2" charset="-78"/>
            </a:endParaRPr>
          </a:p>
          <a:p>
            <a:pPr marL="0" indent="0" algn="r" rtl="1">
              <a:buNone/>
            </a:pPr>
            <a:endParaRPr lang="ar-SA" sz="2000" dirty="0">
              <a:solidFill>
                <a:schemeClr val="accent5">
                  <a:lumMod val="75000"/>
                </a:schemeClr>
              </a:solidFill>
              <a:cs typeface="B Yekan" panose="00000400000000000000" pitchFamily="2" charset="-78"/>
            </a:endParaRPr>
          </a:p>
          <a:p>
            <a:pPr algn="r" rtl="1"/>
            <a:r>
              <a:rPr lang="ar-SA" sz="2000" dirty="0">
                <a:solidFill>
                  <a:schemeClr val="accent5">
                    <a:lumMod val="75000"/>
                  </a:schemeClr>
                </a:solidFill>
                <a:cs typeface="B Yekan" panose="00000400000000000000" pitchFamily="2" charset="-78"/>
              </a:rPr>
              <a:t>مجرى طرح </a:t>
            </a:r>
            <a:r>
              <a:rPr lang="en-US" sz="2000" dirty="0">
                <a:solidFill>
                  <a:schemeClr val="accent5">
                    <a:lumMod val="75000"/>
                  </a:schemeClr>
                </a:solidFill>
                <a:cs typeface="B Yekan" panose="00000400000000000000" pitchFamily="2" charset="-78"/>
              </a:rPr>
              <a:t>Project executive manager </a:t>
            </a:r>
            <a:r>
              <a:rPr lang="fa-IR" sz="2000" dirty="0">
                <a:cs typeface="B Yekan" panose="00000400000000000000" pitchFamily="2" charset="-78"/>
              </a:rPr>
              <a:t>: </a:t>
            </a:r>
            <a:r>
              <a:rPr lang="ar-SA" sz="2000" dirty="0">
                <a:cs typeface="B Yekan" panose="00000400000000000000" pitchFamily="2" charset="-78"/>
              </a:rPr>
              <a:t>شخصی است حقیقی که به نمایندگی از سوی دستگاه اجرایی و به استناد </a:t>
            </a:r>
            <a:r>
              <a:rPr lang="ar-SA" sz="2000" dirty="0">
                <a:solidFill>
                  <a:schemeClr val="accent5">
                    <a:lumMod val="75000"/>
                  </a:schemeClr>
                </a:solidFill>
                <a:cs typeface="B Yekan" panose="00000400000000000000" pitchFamily="2" charset="-78"/>
              </a:rPr>
              <a:t>تبصره یک ماده (53) </a:t>
            </a:r>
            <a:r>
              <a:rPr lang="ar-SA" sz="2000" dirty="0">
                <a:cs typeface="B Yekan" panose="00000400000000000000" pitchFamily="2" charset="-78"/>
              </a:rPr>
              <a:t>قانون محاسبات عمومی کشور مسئولیت تهیه و اجرای طرحهای عمرانی را در چارچوب قوانین و مقررات عهدهدار میشود.</a:t>
            </a:r>
          </a:p>
          <a:p>
            <a:pPr algn="r" rtl="1"/>
            <a:endParaRPr lang="en-US" sz="2000" dirty="0">
              <a:cs typeface="B Yekan" panose="00000400000000000000" pitchFamily="2" charset="-78"/>
            </a:endParaRPr>
          </a:p>
        </p:txBody>
      </p:sp>
      <p:sp>
        <p:nvSpPr>
          <p:cNvPr id="4" name="Slide Number Placeholder 3">
            <a:extLst>
              <a:ext uri="{FF2B5EF4-FFF2-40B4-BE49-F238E27FC236}">
                <a16:creationId xmlns:a16="http://schemas.microsoft.com/office/drawing/2014/main" id="{99356D01-C8DA-1906-B2DD-AF09E0B4762F}"/>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AC78DD4F-C1BF-E98D-323A-C6F72B26277D}"/>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D9D478FB-8970-0894-9F89-DF055DC1AFE3}"/>
              </a:ext>
            </a:extLst>
          </p:cNvPr>
          <p:cNvSpPr txBox="1"/>
          <p:nvPr/>
        </p:nvSpPr>
        <p:spPr>
          <a:xfrm>
            <a:off x="8549694" y="401994"/>
            <a:ext cx="3175581"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مدیریت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8" name="Picture 7">
            <a:extLst>
              <a:ext uri="{FF2B5EF4-FFF2-40B4-BE49-F238E27FC236}">
                <a16:creationId xmlns:a16="http://schemas.microsoft.com/office/drawing/2014/main" id="{9D756AC2-C693-5E1A-A60C-56F403C48E35}"/>
              </a:ext>
            </a:extLst>
          </p:cNvPr>
          <p:cNvPicPr>
            <a:picLocks noChangeAspect="1"/>
          </p:cNvPicPr>
          <p:nvPr/>
        </p:nvPicPr>
        <p:blipFill>
          <a:blip r:embed="rId2"/>
          <a:stretch>
            <a:fillRect/>
          </a:stretch>
        </p:blipFill>
        <p:spPr>
          <a:xfrm>
            <a:off x="433842" y="4057536"/>
            <a:ext cx="2694666" cy="2694666"/>
          </a:xfrm>
          <a:prstGeom prst="rect">
            <a:avLst/>
          </a:prstGeom>
        </p:spPr>
      </p:pic>
    </p:spTree>
    <p:extLst>
      <p:ext uri="{BB962C8B-B14F-4D97-AF65-F5344CB8AC3E}">
        <p14:creationId xmlns:p14="http://schemas.microsoft.com/office/powerpoint/2010/main" val="583772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90D6D8-60A5-ECDF-BC20-22A45E8C2A00}"/>
              </a:ext>
            </a:extLst>
          </p:cNvPr>
          <p:cNvSpPr>
            <a:spLocks noGrp="1"/>
          </p:cNvSpPr>
          <p:nvPr>
            <p:ph sz="half" idx="2"/>
          </p:nvPr>
        </p:nvSpPr>
        <p:spPr>
          <a:xfrm>
            <a:off x="1916596" y="3145337"/>
            <a:ext cx="8358808" cy="1545933"/>
          </a:xfrm>
        </p:spPr>
        <p:txBody>
          <a:bodyPr/>
          <a:lstStyle/>
          <a:p>
            <a:pPr algn="r"/>
            <a:r>
              <a:rPr lang="ar-SA" dirty="0">
                <a:cs typeface="B Yekan" panose="00000400000000000000" pitchFamily="2" charset="-78"/>
              </a:rPr>
              <a:t>اختیار و مسئولیت تشخیص و انجام تعهد و حواله به عهده وزیر یا رئیس موسسه و مسئولیت تأمین اعتبار و تطبیق پرداخت با‌ قوانین و مقررات بعهده ذیحساب میباشد.</a:t>
            </a:r>
          </a:p>
          <a:p>
            <a:pPr algn="r"/>
            <a:endParaRPr lang="en-US" dirty="0">
              <a:cs typeface="B Yekan" panose="00000400000000000000" pitchFamily="2" charset="-78"/>
            </a:endParaRPr>
          </a:p>
        </p:txBody>
      </p:sp>
      <p:sp>
        <p:nvSpPr>
          <p:cNvPr id="6" name="Slide Number Placeholder 5">
            <a:extLst>
              <a:ext uri="{FF2B5EF4-FFF2-40B4-BE49-F238E27FC236}">
                <a16:creationId xmlns:a16="http://schemas.microsoft.com/office/drawing/2014/main" id="{42B29A9A-C98B-D96C-CFD4-87CA817A1EF3}"/>
              </a:ext>
            </a:extLst>
          </p:cNvPr>
          <p:cNvSpPr>
            <a:spLocks noGrp="1"/>
          </p:cNvSpPr>
          <p:nvPr>
            <p:ph type="sldNum" sz="quarter" idx="35"/>
          </p:nvPr>
        </p:nvSpPr>
        <p:spPr/>
        <p:txBody>
          <a:bodyPr/>
          <a:lstStyle/>
          <a:p>
            <a:fld id="{09A01C0A-2BB6-49E7-91A3-DCB9F9F59583}" type="slidenum">
              <a:rPr lang="en-US" smtClean="0"/>
              <a:pPr/>
              <a:t>36</a:t>
            </a:fld>
            <a:endParaRPr lang="en-US" dirty="0"/>
          </a:p>
        </p:txBody>
      </p:sp>
      <p:sp>
        <p:nvSpPr>
          <p:cNvPr id="7" name="Rectangle 6">
            <a:extLst>
              <a:ext uri="{FF2B5EF4-FFF2-40B4-BE49-F238E27FC236}">
                <a16:creationId xmlns:a16="http://schemas.microsoft.com/office/drawing/2014/main" id="{42B47923-7AF4-9E16-8804-AB435B433D42}"/>
              </a:ext>
            </a:extLst>
          </p:cNvPr>
          <p:cNvSpPr/>
          <p:nvPr/>
        </p:nvSpPr>
        <p:spPr>
          <a:xfrm>
            <a:off x="1480930" y="218661"/>
            <a:ext cx="9455294" cy="147099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a-IR" sz="3200" dirty="0">
                <a:solidFill>
                  <a:srgbClr val="000000"/>
                </a:solidFill>
                <a:cs typeface="B Titr" panose="00000700000000000000" pitchFamily="2" charset="-78"/>
              </a:rPr>
              <a:t>تبصره  یک ماده 53 قانون محاسبات عمومی</a:t>
            </a:r>
            <a:endParaRPr lang="en-US" sz="3200" dirty="0">
              <a:solidFill>
                <a:srgbClr val="000000"/>
              </a:solidFill>
              <a:cs typeface="B Titr" panose="00000700000000000000" pitchFamily="2" charset="-78"/>
            </a:endParaRPr>
          </a:p>
        </p:txBody>
      </p:sp>
    </p:spTree>
    <p:extLst>
      <p:ext uri="{BB962C8B-B14F-4D97-AF65-F5344CB8AC3E}">
        <p14:creationId xmlns:p14="http://schemas.microsoft.com/office/powerpoint/2010/main" val="750922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DCBA5-3A01-240D-F867-0147639BC752}"/>
              </a:ext>
            </a:extLst>
          </p:cNvPr>
          <p:cNvSpPr>
            <a:spLocks noGrp="1"/>
          </p:cNvSpPr>
          <p:nvPr>
            <p:ph sz="half" idx="2"/>
          </p:nvPr>
        </p:nvSpPr>
        <p:spPr>
          <a:xfrm>
            <a:off x="576470" y="1032874"/>
            <a:ext cx="4810539" cy="4270248"/>
          </a:xfrm>
        </p:spPr>
        <p:style>
          <a:lnRef idx="1">
            <a:schemeClr val="accent2"/>
          </a:lnRef>
          <a:fillRef idx="2">
            <a:schemeClr val="accent2"/>
          </a:fillRef>
          <a:effectRef idx="1">
            <a:schemeClr val="accent2"/>
          </a:effectRef>
          <a:fontRef idx="minor">
            <a:schemeClr val="dk1"/>
          </a:fontRef>
        </p:style>
        <p:txBody>
          <a:bodyPr/>
          <a:lstStyle/>
          <a:p>
            <a:pPr algn="r"/>
            <a:endParaRPr lang="fa-IR" sz="2400" b="0" dirty="0">
              <a:cs typeface="B Yekan" panose="00000400000000000000" pitchFamily="2" charset="-78"/>
            </a:endParaRPr>
          </a:p>
          <a:p>
            <a:pPr algn="r"/>
            <a:r>
              <a:rPr lang="ar-SA" sz="2400" b="0" dirty="0">
                <a:cs typeface="B Yekan" panose="00000400000000000000" pitchFamily="2" charset="-78"/>
              </a:rPr>
              <a:t>تبصره 2 - در اجرای این ماده تفویض اختیارات و مسئولیتهای مربوط به وزیر یا رئیس موسسه و ذیحساب به شخص واحد و نیز تفویض اختیار‌ و مسئولیتهای وزیر یا رئیس موسسه به ذیحساب و یا کارکنان تحت نظر او مجاز نخواهد بود. </a:t>
            </a:r>
          </a:p>
          <a:p>
            <a:pPr algn="r"/>
            <a:endParaRPr lang="en-US" b="0" dirty="0">
              <a:cs typeface="B Yekan" panose="00000400000000000000" pitchFamily="2" charset="-78"/>
            </a:endParaRPr>
          </a:p>
        </p:txBody>
      </p:sp>
      <p:sp>
        <p:nvSpPr>
          <p:cNvPr id="4" name="Content Placeholder 3">
            <a:extLst>
              <a:ext uri="{FF2B5EF4-FFF2-40B4-BE49-F238E27FC236}">
                <a16:creationId xmlns:a16="http://schemas.microsoft.com/office/drawing/2014/main" id="{3172DF93-13ED-7791-C188-C3DB63245FE4}"/>
              </a:ext>
            </a:extLst>
          </p:cNvPr>
          <p:cNvSpPr>
            <a:spLocks noGrp="1"/>
          </p:cNvSpPr>
          <p:nvPr>
            <p:ph sz="half" idx="12"/>
          </p:nvPr>
        </p:nvSpPr>
        <p:spPr>
          <a:xfrm>
            <a:off x="5793321" y="1032874"/>
            <a:ext cx="5358384" cy="4270248"/>
          </a:xfrm>
        </p:spPr>
        <p:style>
          <a:lnRef idx="1">
            <a:schemeClr val="accent2"/>
          </a:lnRef>
          <a:fillRef idx="2">
            <a:schemeClr val="accent2"/>
          </a:fillRef>
          <a:effectRef idx="1">
            <a:schemeClr val="accent2"/>
          </a:effectRef>
          <a:fontRef idx="minor">
            <a:schemeClr val="dk1"/>
          </a:fontRef>
        </p:style>
        <p:txBody>
          <a:bodyPr/>
          <a:lstStyle/>
          <a:p>
            <a:pPr algn="r"/>
            <a:endParaRPr lang="ar-SA" sz="2400" dirty="0">
              <a:cs typeface="B Yekan" panose="00000400000000000000" pitchFamily="2" charset="-78"/>
            </a:endParaRPr>
          </a:p>
          <a:p>
            <a:pPr algn="r"/>
            <a:r>
              <a:rPr lang="ar-SA" sz="2400" dirty="0">
                <a:cs typeface="B Yekan" panose="00000400000000000000" pitchFamily="2" charset="-78"/>
              </a:rPr>
              <a:t>تبصره 1 - اختیارات و مسئولیتهای موضوع این ماده حسب مورد مستقیماً و بدون واسطه از طرف مقامات فوق به سایر مقامات دستگاه مربوطه کلا ً‌یا بعضاً قابل تفویض خواهد بود لکن در هیچ مورد تفویض اختیار و مسئولیت سلب اختیار و مسئولیت از تفویض‌ کننده نخواهد کرد.</a:t>
            </a:r>
          </a:p>
          <a:p>
            <a:pPr algn="r"/>
            <a:endParaRPr lang="en-US" sz="2400" dirty="0">
              <a:cs typeface="B Yekan" panose="00000400000000000000" pitchFamily="2" charset="-78"/>
            </a:endParaRPr>
          </a:p>
        </p:txBody>
      </p:sp>
      <p:sp>
        <p:nvSpPr>
          <p:cNvPr id="5" name="Slide Number Placeholder 4">
            <a:extLst>
              <a:ext uri="{FF2B5EF4-FFF2-40B4-BE49-F238E27FC236}">
                <a16:creationId xmlns:a16="http://schemas.microsoft.com/office/drawing/2014/main" id="{76C034D9-F038-9067-9CF7-AC6C939AA729}"/>
              </a:ext>
            </a:extLst>
          </p:cNvPr>
          <p:cNvSpPr>
            <a:spLocks noGrp="1"/>
          </p:cNvSpPr>
          <p:nvPr>
            <p:ph type="sldNum" sz="quarter" idx="11"/>
          </p:nvPr>
        </p:nvSpPr>
        <p:spPr/>
        <p:txBody>
          <a:bodyPr/>
          <a:lstStyle/>
          <a:p>
            <a:fld id="{09A01C0A-2BB6-49E7-91A3-DCB9F9F59583}" type="slidenum">
              <a:rPr lang="en-US" smtClean="0"/>
              <a:pPr/>
              <a:t>37</a:t>
            </a:fld>
            <a:endParaRPr lang="en-US" dirty="0"/>
          </a:p>
        </p:txBody>
      </p:sp>
    </p:spTree>
    <p:extLst>
      <p:ext uri="{BB962C8B-B14F-4D97-AF65-F5344CB8AC3E}">
        <p14:creationId xmlns:p14="http://schemas.microsoft.com/office/powerpoint/2010/main" val="1990173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FD125-2C3D-EB06-E15F-4BE16D331017}"/>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6B084F80-C418-628C-E993-818FDFB96CC4}"/>
              </a:ext>
            </a:extLst>
          </p:cNvPr>
          <p:cNvSpPr>
            <a:spLocks noGrp="1"/>
          </p:cNvSpPr>
          <p:nvPr>
            <p:ph sz="half" idx="36"/>
          </p:nvPr>
        </p:nvSpPr>
        <p:spPr>
          <a:xfrm>
            <a:off x="3667125" y="1434845"/>
            <a:ext cx="8058150" cy="3661029"/>
          </a:xfrm>
        </p:spPr>
        <p:txBody>
          <a:bodyPr/>
          <a:lstStyle/>
          <a:p>
            <a:pPr algn="r" rtl="1"/>
            <a:r>
              <a:rPr lang="ar-SA" sz="2000" dirty="0">
                <a:solidFill>
                  <a:schemeClr val="accent5">
                    <a:lumMod val="75000"/>
                  </a:schemeClr>
                </a:solidFill>
                <a:cs typeface="B Yekan" panose="00000400000000000000" pitchFamily="2" charset="-78"/>
              </a:rPr>
              <a:t>روش اجرا </a:t>
            </a:r>
            <a:r>
              <a:rPr lang="en-US" sz="2000" dirty="0">
                <a:solidFill>
                  <a:schemeClr val="accent5">
                    <a:lumMod val="75000"/>
                  </a:schemeClr>
                </a:solidFill>
                <a:cs typeface="B Yekan" panose="00000400000000000000" pitchFamily="2" charset="-78"/>
              </a:rPr>
              <a:t>Execution method  </a:t>
            </a:r>
            <a:r>
              <a:rPr lang="fa-IR" sz="2000" dirty="0">
                <a:solidFill>
                  <a:schemeClr val="accent5">
                    <a:lumMod val="75000"/>
                  </a:schemeClr>
                </a:solidFill>
                <a:cs typeface="B Yekan" panose="00000400000000000000" pitchFamily="2" charset="-78"/>
              </a:rPr>
              <a:t> </a:t>
            </a:r>
            <a:r>
              <a:rPr lang="fa-IR" sz="2000" dirty="0">
                <a:cs typeface="B Yekan" panose="00000400000000000000" pitchFamily="2" charset="-78"/>
              </a:rPr>
              <a:t>: </a:t>
            </a:r>
            <a:r>
              <a:rPr lang="ar-SA" sz="2000" dirty="0">
                <a:cs typeface="B Yekan" panose="00000400000000000000" pitchFamily="2" charset="-78"/>
              </a:rPr>
              <a:t>رو</a:t>
            </a:r>
            <a:r>
              <a:rPr lang="fa-IR" sz="2000" dirty="0">
                <a:cs typeface="B Yekan" panose="00000400000000000000" pitchFamily="2" charset="-78"/>
              </a:rPr>
              <a:t>ش </a:t>
            </a:r>
            <a:r>
              <a:rPr lang="ar-SA" sz="2000" dirty="0">
                <a:cs typeface="B Yekan" panose="00000400000000000000" pitchFamily="2" charset="-78"/>
              </a:rPr>
              <a:t>های برنامهریزی شده مطابق با اهداف، منابع و شرایط کار که مهارتهای فنی را در جهت مسائل مطالعاتی و اجرایی به کار میگیرد.</a:t>
            </a:r>
          </a:p>
          <a:p>
            <a:pPr algn="r" rtl="1"/>
            <a:r>
              <a:rPr lang="ar-SA" sz="2000" dirty="0">
                <a:solidFill>
                  <a:schemeClr val="accent5">
                    <a:lumMod val="75000"/>
                  </a:schemeClr>
                </a:solidFill>
                <a:cs typeface="B Yekan" panose="00000400000000000000" pitchFamily="2" charset="-78"/>
              </a:rPr>
              <a:t>روش امانی </a:t>
            </a:r>
            <a:r>
              <a:rPr lang="en-US" sz="2000" dirty="0">
                <a:solidFill>
                  <a:schemeClr val="accent5">
                    <a:lumMod val="75000"/>
                  </a:schemeClr>
                </a:solidFill>
                <a:cs typeface="B Yekan" panose="00000400000000000000" pitchFamily="2" charset="-78"/>
              </a:rPr>
              <a:t>In house  </a:t>
            </a:r>
            <a:r>
              <a:rPr lang="fa-IR" sz="2000" dirty="0">
                <a:cs typeface="B Yekan" panose="00000400000000000000" pitchFamily="2" charset="-78"/>
              </a:rPr>
              <a:t> : </a:t>
            </a:r>
            <a:r>
              <a:rPr lang="ar-SA" sz="2000" dirty="0">
                <a:cs typeface="B Yekan" panose="00000400000000000000" pitchFamily="2" charset="-78"/>
              </a:rPr>
              <a:t>روش امانی روشی است که طی آن دستگاه اجرایی مدیریت، مطالعه، طراحی و اجرای پروژهای را با بهکارگیری امکانات خود رأساً بر عهده گرفته و به انجام میرساند. </a:t>
            </a:r>
          </a:p>
          <a:p>
            <a:pPr algn="r" rtl="1"/>
            <a:r>
              <a:rPr lang="ar-SA" sz="2000" dirty="0">
                <a:solidFill>
                  <a:schemeClr val="accent5">
                    <a:lumMod val="75000"/>
                  </a:schemeClr>
                </a:solidFill>
                <a:cs typeface="B Yekan" panose="00000400000000000000" pitchFamily="2" charset="-78"/>
              </a:rPr>
              <a:t>روش مدیریت طرح</a:t>
            </a:r>
            <a:r>
              <a:rPr lang="en-US" sz="2000" dirty="0">
                <a:solidFill>
                  <a:schemeClr val="accent5">
                    <a:lumMod val="75000"/>
                  </a:schemeClr>
                </a:solidFill>
                <a:cs typeface="B Yekan" panose="00000400000000000000" pitchFamily="2" charset="-78"/>
              </a:rPr>
              <a:t>Project management method     </a:t>
            </a:r>
            <a:r>
              <a:rPr lang="fa-IR" sz="2000" dirty="0">
                <a:solidFill>
                  <a:schemeClr val="accent5">
                    <a:lumMod val="75000"/>
                  </a:schemeClr>
                </a:solidFill>
                <a:cs typeface="B Yekan" panose="00000400000000000000" pitchFamily="2" charset="-78"/>
              </a:rPr>
              <a:t> : </a:t>
            </a:r>
            <a:r>
              <a:rPr lang="ar-SA" sz="2000" dirty="0">
                <a:cs typeface="B Yekan" panose="00000400000000000000" pitchFamily="2" charset="-78"/>
              </a:rPr>
              <a:t>روش مدیریت طرح نوعی روش متعارف است که در آن کارفرما، عامل دیگری را به منظور هماهنگی بین کارفرما و مشاور و پیمانکار و همچنین مدیریت و کنترل طرح به خدمت میگیرد . مدیر طرح به عنوان نماینده کارفرما در قبال حقالزحمه معین خدمات لازم را ارائه میدهد</a:t>
            </a:r>
          </a:p>
          <a:p>
            <a:pPr algn="r" rtl="1"/>
            <a:endParaRPr lang="en-US" sz="2000" dirty="0">
              <a:cs typeface="B Yekan" panose="00000400000000000000" pitchFamily="2" charset="-78"/>
            </a:endParaRPr>
          </a:p>
        </p:txBody>
      </p:sp>
      <p:sp>
        <p:nvSpPr>
          <p:cNvPr id="4" name="Slide Number Placeholder 3">
            <a:extLst>
              <a:ext uri="{FF2B5EF4-FFF2-40B4-BE49-F238E27FC236}">
                <a16:creationId xmlns:a16="http://schemas.microsoft.com/office/drawing/2014/main" id="{01387CBE-8003-9C91-DC17-E562E88A00D3}"/>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78812520-D16D-F94A-25C2-36A6E7F338D5}"/>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6C94A698-4FC9-CA04-BCD2-AEC65F1A79D5}"/>
              </a:ext>
            </a:extLst>
          </p:cNvPr>
          <p:cNvSpPr txBox="1"/>
          <p:nvPr/>
        </p:nvSpPr>
        <p:spPr>
          <a:xfrm>
            <a:off x="8549694" y="401994"/>
            <a:ext cx="3175581"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مدیریت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8" name="Picture 7">
            <a:extLst>
              <a:ext uri="{FF2B5EF4-FFF2-40B4-BE49-F238E27FC236}">
                <a16:creationId xmlns:a16="http://schemas.microsoft.com/office/drawing/2014/main" id="{727D8CA0-6A04-13F3-856B-526AA0D4A331}"/>
              </a:ext>
            </a:extLst>
          </p:cNvPr>
          <p:cNvPicPr>
            <a:picLocks noChangeAspect="1"/>
          </p:cNvPicPr>
          <p:nvPr/>
        </p:nvPicPr>
        <p:blipFill>
          <a:blip r:embed="rId2"/>
          <a:stretch>
            <a:fillRect/>
          </a:stretch>
        </p:blipFill>
        <p:spPr>
          <a:xfrm>
            <a:off x="433842" y="4057536"/>
            <a:ext cx="2694666" cy="2694666"/>
          </a:xfrm>
          <a:prstGeom prst="rect">
            <a:avLst/>
          </a:prstGeom>
        </p:spPr>
      </p:pic>
    </p:spTree>
    <p:extLst>
      <p:ext uri="{BB962C8B-B14F-4D97-AF65-F5344CB8AC3E}">
        <p14:creationId xmlns:p14="http://schemas.microsoft.com/office/powerpoint/2010/main" val="2232386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BF7A9-82A2-0406-BC2E-9F423D02EF20}"/>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F05833A0-E3E4-6C42-4C81-F58671D2577A}"/>
              </a:ext>
            </a:extLst>
          </p:cNvPr>
          <p:cNvSpPr>
            <a:spLocks noGrp="1"/>
          </p:cNvSpPr>
          <p:nvPr>
            <p:ph sz="half" idx="36"/>
          </p:nvPr>
        </p:nvSpPr>
        <p:spPr>
          <a:xfrm>
            <a:off x="3667125" y="1434845"/>
            <a:ext cx="8058150" cy="3661029"/>
          </a:xfrm>
        </p:spPr>
        <p:txBody>
          <a:bodyPr/>
          <a:lstStyle/>
          <a:p>
            <a:pPr algn="r" rtl="1"/>
            <a:r>
              <a:rPr lang="ar-SA" sz="2000" dirty="0">
                <a:solidFill>
                  <a:schemeClr val="accent5">
                    <a:lumMod val="75000"/>
                  </a:schemeClr>
                </a:solidFill>
                <a:cs typeface="B Yekan" panose="00000400000000000000" pitchFamily="2" charset="-78"/>
              </a:rPr>
              <a:t>روش متعارف </a:t>
            </a:r>
            <a:r>
              <a:rPr lang="en-US" sz="2000" dirty="0">
                <a:solidFill>
                  <a:schemeClr val="accent5">
                    <a:lumMod val="75000"/>
                  </a:schemeClr>
                </a:solidFill>
                <a:cs typeface="B Yekan" panose="00000400000000000000" pitchFamily="2" charset="-78"/>
              </a:rPr>
              <a:t>design bid build  </a:t>
            </a:r>
            <a:r>
              <a:rPr lang="fa-IR" sz="2000" dirty="0">
                <a:solidFill>
                  <a:schemeClr val="accent5">
                    <a:lumMod val="75000"/>
                  </a:schemeClr>
                </a:solidFill>
                <a:cs typeface="B Yekan" panose="00000400000000000000" pitchFamily="2" charset="-78"/>
              </a:rPr>
              <a:t> </a:t>
            </a:r>
            <a:r>
              <a:rPr lang="fa-IR" sz="2000" dirty="0">
                <a:cs typeface="B Yekan" panose="00000400000000000000" pitchFamily="2" charset="-78"/>
              </a:rPr>
              <a:t>: </a:t>
            </a:r>
            <a:r>
              <a:rPr lang="ar-SA" sz="2000" dirty="0">
                <a:cs typeface="B Yekan" panose="00000400000000000000" pitchFamily="2" charset="-78"/>
              </a:rPr>
              <a:t>روش سنتی اجرای طرحهاست و برای طرحهایی به کار میرود که جزئیات آن روشن و مشخص باشد و سه عامل، کارفرما، مشاور و پیمانکار در آن دخالت دارند. در این روش ابتدا مشاور بر اساس خواسته های کارفرما طراحی را انجام داده و سپس از طریق مناقصه، پیمانکار یا پیمانکاران انتخاب میگردد و به وسیله آنها و با نظارت مشاور، طرح طبق نقشه و مشخصات تهیه شده اجرا میشود. در این روش مسئولیت و هماهنگی بین طراحی و ساخت و خسارت پذیری به عهده کارفرماست. این روش زمان بیشتری را نیز طلب میکند ولی اداره طرح آسان است.</a:t>
            </a:r>
          </a:p>
          <a:p>
            <a:pPr algn="r" rtl="1"/>
            <a:endParaRPr lang="en-US" sz="2000" dirty="0">
              <a:cs typeface="B Yekan" panose="00000400000000000000" pitchFamily="2" charset="-78"/>
            </a:endParaRPr>
          </a:p>
        </p:txBody>
      </p:sp>
      <p:sp>
        <p:nvSpPr>
          <p:cNvPr id="4" name="Slide Number Placeholder 3">
            <a:extLst>
              <a:ext uri="{FF2B5EF4-FFF2-40B4-BE49-F238E27FC236}">
                <a16:creationId xmlns:a16="http://schemas.microsoft.com/office/drawing/2014/main" id="{78B494BF-64C3-24C2-8261-AF04F9232409}"/>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BBE4BCFA-8509-0D66-ACEC-8C869CC6847D}"/>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AF9D97A0-0633-C46C-9F4F-D1EDBCDB0D51}"/>
              </a:ext>
            </a:extLst>
          </p:cNvPr>
          <p:cNvSpPr txBox="1"/>
          <p:nvPr/>
        </p:nvSpPr>
        <p:spPr>
          <a:xfrm>
            <a:off x="8549694" y="401994"/>
            <a:ext cx="3175581"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مدیریت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8" name="Picture 7">
            <a:extLst>
              <a:ext uri="{FF2B5EF4-FFF2-40B4-BE49-F238E27FC236}">
                <a16:creationId xmlns:a16="http://schemas.microsoft.com/office/drawing/2014/main" id="{21E75C65-C1EA-5576-D70B-3460DAD5B0D6}"/>
              </a:ext>
            </a:extLst>
          </p:cNvPr>
          <p:cNvPicPr>
            <a:picLocks noChangeAspect="1"/>
          </p:cNvPicPr>
          <p:nvPr/>
        </p:nvPicPr>
        <p:blipFill>
          <a:blip r:embed="rId2"/>
          <a:stretch>
            <a:fillRect/>
          </a:stretch>
        </p:blipFill>
        <p:spPr>
          <a:xfrm>
            <a:off x="433842" y="4057536"/>
            <a:ext cx="2694666" cy="2694666"/>
          </a:xfrm>
          <a:prstGeom prst="rect">
            <a:avLst/>
          </a:prstGeom>
        </p:spPr>
      </p:pic>
    </p:spTree>
    <p:extLst>
      <p:ext uri="{BB962C8B-B14F-4D97-AF65-F5344CB8AC3E}">
        <p14:creationId xmlns:p14="http://schemas.microsoft.com/office/powerpoint/2010/main" val="1510107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35C09C-4042-BDC7-ED26-8BE51E95E8BE}"/>
              </a:ext>
            </a:extLst>
          </p:cNvPr>
          <p:cNvSpPr txBox="1"/>
          <p:nvPr/>
        </p:nvSpPr>
        <p:spPr>
          <a:xfrm>
            <a:off x="6829425" y="457200"/>
            <a:ext cx="4547182" cy="646331"/>
          </a:xfrm>
          <a:prstGeom prst="rect">
            <a:avLst/>
          </a:prstGeom>
          <a:noFill/>
        </p:spPr>
        <p:txBody>
          <a:bodyPr wrap="square" rtlCol="0">
            <a:spAutoFit/>
          </a:bodyPr>
          <a:lstStyle/>
          <a:p>
            <a:pPr algn="r"/>
            <a:r>
              <a:rPr lang="fa-IR" sz="3600" dirty="0">
                <a:cs typeface="B Titr" panose="00000700000000000000" pitchFamily="2" charset="-78"/>
              </a:rPr>
              <a:t>واژه های معیارهای فنی:</a:t>
            </a:r>
            <a:endParaRPr lang="en-US" sz="3600" dirty="0">
              <a:cs typeface="B Titr" panose="00000700000000000000" pitchFamily="2" charset="-78"/>
            </a:endParaRPr>
          </a:p>
        </p:txBody>
      </p:sp>
      <p:sp>
        <p:nvSpPr>
          <p:cNvPr id="5" name="TextBox 4">
            <a:extLst>
              <a:ext uri="{FF2B5EF4-FFF2-40B4-BE49-F238E27FC236}">
                <a16:creationId xmlns:a16="http://schemas.microsoft.com/office/drawing/2014/main" id="{9799CEB5-F890-8561-7471-3730C5CA0682}"/>
              </a:ext>
            </a:extLst>
          </p:cNvPr>
          <p:cNvSpPr txBox="1"/>
          <p:nvPr/>
        </p:nvSpPr>
        <p:spPr>
          <a:xfrm>
            <a:off x="2514601" y="1351508"/>
            <a:ext cx="9278216" cy="4524315"/>
          </a:xfrm>
          <a:prstGeom prst="rect">
            <a:avLst/>
          </a:prstGeom>
          <a:noFill/>
        </p:spPr>
        <p:txBody>
          <a:bodyPr wrap="square" rtlCol="0">
            <a:spAutoFit/>
          </a:bodyPr>
          <a:lstStyle/>
          <a:p>
            <a:pPr marL="285750" indent="-285750" algn="r" rtl="1">
              <a:buFont typeface="Arial" panose="020B0604020202020204" pitchFamily="34" charset="0"/>
              <a:buChar char="•"/>
            </a:pPr>
            <a:r>
              <a:rPr lang="ar-SA" sz="2400" dirty="0">
                <a:solidFill>
                  <a:schemeClr val="accent5">
                    <a:lumMod val="75000"/>
                  </a:schemeClr>
                </a:solidFill>
                <a:cs typeface="B Yekan" panose="00000400000000000000" pitchFamily="2" charset="-78"/>
              </a:rPr>
              <a:t>معیارهای فنی  </a:t>
            </a:r>
            <a:r>
              <a:rPr lang="en-US" sz="2400" dirty="0">
                <a:solidFill>
                  <a:schemeClr val="accent5">
                    <a:lumMod val="75000"/>
                  </a:schemeClr>
                </a:solidFill>
                <a:cs typeface="B Yekan" panose="00000400000000000000" pitchFamily="2" charset="-78"/>
              </a:rPr>
              <a:t>Technical criteria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a:t>
            </a:r>
            <a:r>
              <a:rPr lang="ar-SA" sz="2400" dirty="0">
                <a:cs typeface="B Yekan" panose="00000400000000000000" pitchFamily="2" charset="-78"/>
              </a:rPr>
              <a:t>معیارها، استانداردها و ضوابط فنی، عبارتند از مجموعها</a:t>
            </a:r>
            <a:r>
              <a:rPr lang="fa-IR" sz="2400" dirty="0">
                <a:cs typeface="B Yekan" panose="00000400000000000000" pitchFamily="2" charset="-78"/>
              </a:rPr>
              <a:t>ی</a:t>
            </a:r>
            <a:r>
              <a:rPr lang="ar-SA" sz="2400" dirty="0">
                <a:cs typeface="B Yekan" panose="00000400000000000000" pitchFamily="2" charset="-78"/>
              </a:rPr>
              <a:t>ی از مشخصات فنی، روشها، ضوابط و دستورالعملهایی که بر اساس اصول علمی و فنی موجود در کشور و جهان، با توجه به شرایط اقلیمی، زیست</a:t>
            </a:r>
            <a:r>
              <a:rPr lang="fa-IR" sz="2400" dirty="0">
                <a:cs typeface="B Yekan" panose="00000400000000000000" pitchFamily="2" charset="-78"/>
              </a:rPr>
              <a:t> </a:t>
            </a:r>
            <a:r>
              <a:rPr lang="ar-SA" sz="2400" dirty="0">
                <a:cs typeface="B Yekan" panose="00000400000000000000" pitchFamily="2" charset="-78"/>
              </a:rPr>
              <a:t>محیطی، اجتماعی و امکانات موجود برای پذیرش طرح از نظر فنی و اقتصادی، تضمین ایمنی، حفاظت اطلاعات و بهبود کیفیت طراحی، اجرا، بهره</a:t>
            </a:r>
            <a:r>
              <a:rPr lang="fa-IR" sz="2400" dirty="0">
                <a:cs typeface="B Yekan" panose="00000400000000000000" pitchFamily="2" charset="-78"/>
              </a:rPr>
              <a:t> </a:t>
            </a:r>
            <a:r>
              <a:rPr lang="ar-SA" sz="2400" dirty="0">
                <a:cs typeface="B Yekan" panose="00000400000000000000" pitchFamily="2" charset="-78"/>
              </a:rPr>
              <a:t>برداری و نگهداری طرح</a:t>
            </a:r>
            <a:r>
              <a:rPr lang="fa-IR" sz="2400" dirty="0">
                <a:cs typeface="B Yekan" panose="00000400000000000000" pitchFamily="2" charset="-78"/>
              </a:rPr>
              <a:t> </a:t>
            </a:r>
            <a:r>
              <a:rPr lang="ar-SA" sz="2400" dirty="0">
                <a:cs typeface="B Yekan" panose="00000400000000000000" pitchFamily="2" charset="-78"/>
              </a:rPr>
              <a:t>ها تهیه و تدوین میشوند.</a:t>
            </a:r>
          </a:p>
          <a:p>
            <a:pPr marL="285750" indent="-285750" algn="r" rtl="1">
              <a:buFont typeface="Arial" panose="020B0604020202020204" pitchFamily="34" charset="0"/>
              <a:buChar char="•"/>
            </a:pPr>
            <a:endParaRPr lang="fa-IR" sz="2400" dirty="0">
              <a:cs typeface="B Yekan" panose="00000400000000000000" pitchFamily="2" charset="-78"/>
            </a:endParaRPr>
          </a:p>
          <a:p>
            <a:pPr algn="r" rtl="1"/>
            <a:endParaRPr lang="ar-SA" sz="2400" dirty="0">
              <a:solidFill>
                <a:schemeClr val="accent5">
                  <a:lumMod val="75000"/>
                </a:schemeClr>
              </a:solidFill>
              <a:cs typeface="B Yekan" panose="00000400000000000000" pitchFamily="2" charset="-78"/>
            </a:endParaRPr>
          </a:p>
          <a:p>
            <a:pPr marL="285750" indent="-285750" algn="r" rtl="1">
              <a:buFont typeface="Arial" panose="020B0604020202020204" pitchFamily="34" charset="0"/>
              <a:buChar char="•"/>
            </a:pPr>
            <a:r>
              <a:rPr lang="ar-SA" sz="2400" dirty="0">
                <a:solidFill>
                  <a:schemeClr val="accent5">
                    <a:lumMod val="75000"/>
                  </a:schemeClr>
                </a:solidFill>
                <a:cs typeface="B Yekan" panose="00000400000000000000" pitchFamily="2" charset="-78"/>
              </a:rPr>
              <a:t>اطلاعات فنی </a:t>
            </a:r>
            <a:r>
              <a:rPr lang="en-US" sz="2400" dirty="0">
                <a:solidFill>
                  <a:schemeClr val="accent5">
                    <a:lumMod val="75000"/>
                  </a:schemeClr>
                </a:solidFill>
                <a:cs typeface="B Yekan" panose="00000400000000000000" pitchFamily="2" charset="-78"/>
              </a:rPr>
              <a:t>Technical information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a:t>
            </a:r>
            <a:r>
              <a:rPr lang="ar-SA" sz="2400" dirty="0">
                <a:cs typeface="B Yekan" panose="00000400000000000000" pitchFamily="2" charset="-78"/>
              </a:rPr>
              <a:t>اطلاعاتی شامل اطلاعات علمی، برای تحقیق، تکمیل، مهندسی، آزمون، ارزیابی، تولید، بهرهبرداری، مصرف و تعمیر و نگهداری دستگاه. </a:t>
            </a:r>
          </a:p>
          <a:p>
            <a:pPr marL="285750" indent="-285750" algn="r" rtl="1">
              <a:buFont typeface="Arial" panose="020B0604020202020204" pitchFamily="34" charset="0"/>
              <a:buChar char="•"/>
            </a:pPr>
            <a:endParaRPr lang="ar-SA" sz="2400" dirty="0">
              <a:cs typeface="B Yekan" panose="00000400000000000000" pitchFamily="2" charset="-78"/>
            </a:endParaRPr>
          </a:p>
        </p:txBody>
      </p:sp>
      <p:pic>
        <p:nvPicPr>
          <p:cNvPr id="7" name="Picture 6">
            <a:extLst>
              <a:ext uri="{FF2B5EF4-FFF2-40B4-BE49-F238E27FC236}">
                <a16:creationId xmlns:a16="http://schemas.microsoft.com/office/drawing/2014/main" id="{5F21D836-7961-D7A4-245A-94B80434CA96}"/>
              </a:ext>
            </a:extLst>
          </p:cNvPr>
          <p:cNvPicPr>
            <a:picLocks noChangeAspect="1"/>
          </p:cNvPicPr>
          <p:nvPr/>
        </p:nvPicPr>
        <p:blipFill>
          <a:blip r:embed="rId2"/>
          <a:stretch>
            <a:fillRect/>
          </a:stretch>
        </p:blipFill>
        <p:spPr>
          <a:xfrm>
            <a:off x="0" y="0"/>
            <a:ext cx="2543176" cy="6858000"/>
          </a:xfrm>
          <a:prstGeom prst="rect">
            <a:avLst/>
          </a:prstGeom>
        </p:spPr>
      </p:pic>
      <p:pic>
        <p:nvPicPr>
          <p:cNvPr id="8" name="Picture 7">
            <a:extLst>
              <a:ext uri="{FF2B5EF4-FFF2-40B4-BE49-F238E27FC236}">
                <a16:creationId xmlns:a16="http://schemas.microsoft.com/office/drawing/2014/main" id="{D5B21FF9-82B1-FE7F-8855-5A630A580062}"/>
              </a:ext>
            </a:extLst>
          </p:cNvPr>
          <p:cNvPicPr>
            <a:picLocks noChangeAspect="1"/>
          </p:cNvPicPr>
          <p:nvPr/>
        </p:nvPicPr>
        <p:blipFill>
          <a:blip r:embed="rId3"/>
          <a:stretch>
            <a:fillRect/>
          </a:stretch>
        </p:blipFill>
        <p:spPr>
          <a:xfrm>
            <a:off x="92863" y="4159644"/>
            <a:ext cx="2328874" cy="2615411"/>
          </a:xfrm>
          <a:prstGeom prst="rect">
            <a:avLst/>
          </a:prstGeom>
        </p:spPr>
      </p:pic>
    </p:spTree>
    <p:extLst>
      <p:ext uri="{BB962C8B-B14F-4D97-AF65-F5344CB8AC3E}">
        <p14:creationId xmlns:p14="http://schemas.microsoft.com/office/powerpoint/2010/main" val="32576459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2D831-117E-93BB-3E37-40DD29B156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033373-1ED0-4200-681F-B5CA6586EF21}"/>
              </a:ext>
            </a:extLst>
          </p:cNvPr>
          <p:cNvSpPr txBox="1"/>
          <p:nvPr/>
        </p:nvSpPr>
        <p:spPr>
          <a:xfrm>
            <a:off x="6829425" y="457200"/>
            <a:ext cx="454718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واژه های معیارهای فنی:</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
        <p:nvSpPr>
          <p:cNvPr id="2" name="TextBox 1">
            <a:extLst>
              <a:ext uri="{FF2B5EF4-FFF2-40B4-BE49-F238E27FC236}">
                <a16:creationId xmlns:a16="http://schemas.microsoft.com/office/drawing/2014/main" id="{06C6169A-6C60-A33B-78B9-899B6D0B2CB7}"/>
              </a:ext>
            </a:extLst>
          </p:cNvPr>
          <p:cNvSpPr txBox="1"/>
          <p:nvPr/>
        </p:nvSpPr>
        <p:spPr>
          <a:xfrm>
            <a:off x="2730887" y="1666845"/>
            <a:ext cx="8700082" cy="3785652"/>
          </a:xfrm>
          <a:prstGeom prst="rect">
            <a:avLst/>
          </a:prstGeom>
          <a:noFill/>
        </p:spPr>
        <p:txBody>
          <a:bodyPr wrap="square" rtlCol="0">
            <a:spAutoFit/>
          </a:bodyPr>
          <a:lstStyle/>
          <a:p>
            <a:pPr algn="r" rtl="1"/>
            <a:r>
              <a:rPr lang="ar-SA" sz="2400" dirty="0">
                <a:solidFill>
                  <a:schemeClr val="accent5">
                    <a:lumMod val="75000"/>
                  </a:schemeClr>
                </a:solidFill>
                <a:cs typeface="B Yekan" panose="00000400000000000000" pitchFamily="2" charset="-78"/>
              </a:rPr>
              <a:t>اطلاعات پایه </a:t>
            </a:r>
            <a:r>
              <a:rPr lang="en-US" sz="2400" dirty="0">
                <a:solidFill>
                  <a:schemeClr val="accent5">
                    <a:lumMod val="75000"/>
                  </a:schemeClr>
                </a:solidFill>
                <a:cs typeface="B Yekan" panose="00000400000000000000" pitchFamily="2" charset="-78"/>
              </a:rPr>
              <a:t>basic data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اطلاعات پایه عبارت است از مشخصات ورودی</a:t>
            </a:r>
            <a:r>
              <a:rPr lang="fa-IR" sz="2400" dirty="0">
                <a:cs typeface="B Yekan" panose="00000400000000000000" pitchFamily="2" charset="-78"/>
              </a:rPr>
              <a:t> </a:t>
            </a:r>
            <a:r>
              <a:rPr lang="ar-SA" sz="2400" dirty="0">
                <a:cs typeface="B Yekan" panose="00000400000000000000" pitchFamily="2" charset="-78"/>
              </a:rPr>
              <a:t>ها، ظرفیت</a:t>
            </a:r>
            <a:r>
              <a:rPr lang="fa-IR" sz="2400" dirty="0">
                <a:cs typeface="B Yekan" panose="00000400000000000000" pitchFamily="2" charset="-78"/>
              </a:rPr>
              <a:t> </a:t>
            </a:r>
            <a:r>
              <a:rPr lang="ar-SA" sz="2400" dirty="0">
                <a:cs typeface="B Yekan" panose="00000400000000000000" pitchFamily="2" charset="-78"/>
              </a:rPr>
              <a:t>ها، دادههای اقلیمی منطقه، اطلاعات جغرافیایی و عمر مفید طرح میباشد</a:t>
            </a:r>
            <a:endParaRPr lang="fa-IR" sz="2400" dirty="0">
              <a:cs typeface="B Yekan" panose="00000400000000000000" pitchFamily="2" charset="-78"/>
            </a:endParaRPr>
          </a:p>
          <a:p>
            <a:pPr algn="r" rtl="1"/>
            <a:endParaRPr lang="fa-IR" sz="2400" dirty="0">
              <a:cs typeface="B Yekan" panose="00000400000000000000" pitchFamily="2" charset="-78"/>
            </a:endParaRPr>
          </a:p>
          <a:p>
            <a:pPr algn="r" rtl="1"/>
            <a:r>
              <a:rPr lang="ar-SA" sz="2400" dirty="0">
                <a:solidFill>
                  <a:schemeClr val="accent5">
                    <a:lumMod val="75000"/>
                  </a:schemeClr>
                </a:solidFill>
                <a:cs typeface="B Yekan" panose="00000400000000000000" pitchFamily="2" charset="-78"/>
              </a:rPr>
              <a:t>مبانی طراحی </a:t>
            </a:r>
            <a:r>
              <a:rPr lang="en-US" sz="2400" dirty="0">
                <a:solidFill>
                  <a:schemeClr val="accent5">
                    <a:lumMod val="75000"/>
                  </a:schemeClr>
                </a:solidFill>
                <a:cs typeface="B Yekan" panose="00000400000000000000" pitchFamily="2" charset="-78"/>
              </a:rPr>
              <a:t>bases of design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مبانی طراحی عبارت است از: حصول ایمنی، قابلیت بهره</a:t>
            </a:r>
            <a:r>
              <a:rPr lang="fa-IR" sz="2400" dirty="0">
                <a:cs typeface="B Yekan" panose="00000400000000000000" pitchFamily="2" charset="-78"/>
              </a:rPr>
              <a:t> </a:t>
            </a:r>
            <a:r>
              <a:rPr lang="ar-SA" sz="2400" dirty="0">
                <a:cs typeface="B Yekan" panose="00000400000000000000" pitchFamily="2" charset="-78"/>
              </a:rPr>
              <a:t>برداری، پایایی و عملکرد مطلوب . </a:t>
            </a:r>
          </a:p>
          <a:p>
            <a:pPr algn="r" rtl="1"/>
            <a:endParaRPr lang="ar-SA" sz="2400" dirty="0">
              <a:cs typeface="B Yekan" panose="00000400000000000000" pitchFamily="2" charset="-78"/>
            </a:endParaRPr>
          </a:p>
          <a:p>
            <a:pPr algn="r" rtl="1"/>
            <a:r>
              <a:rPr lang="ar-SA" sz="2400" dirty="0">
                <a:solidFill>
                  <a:schemeClr val="accent5">
                    <a:lumMod val="75000"/>
                  </a:schemeClr>
                </a:solidFill>
                <a:cs typeface="B Yekan" panose="00000400000000000000" pitchFamily="2" charset="-78"/>
              </a:rPr>
              <a:t>معیارهای طراحی</a:t>
            </a:r>
            <a:r>
              <a:rPr lang="en-US" sz="2400" dirty="0">
                <a:solidFill>
                  <a:schemeClr val="accent5">
                    <a:lumMod val="75000"/>
                  </a:schemeClr>
                </a:solidFill>
                <a:cs typeface="B Yekan" panose="00000400000000000000" pitchFamily="2" charset="-78"/>
              </a:rPr>
              <a:t>design criteria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مجموعه ضوابط فنی هستند که قضاوت و تصمیم گیریهای طراحی بر آنها استوار میگردد. </a:t>
            </a:r>
          </a:p>
          <a:p>
            <a:pPr algn="r" rtl="1"/>
            <a:endParaRPr lang="ar-SA" sz="2400" dirty="0">
              <a:cs typeface="B Yekan" panose="00000400000000000000" pitchFamily="2" charset="-78"/>
            </a:endParaRPr>
          </a:p>
        </p:txBody>
      </p:sp>
      <p:sp>
        <p:nvSpPr>
          <p:cNvPr id="7" name="Rectangle 6">
            <a:extLst>
              <a:ext uri="{FF2B5EF4-FFF2-40B4-BE49-F238E27FC236}">
                <a16:creationId xmlns:a16="http://schemas.microsoft.com/office/drawing/2014/main" id="{BB0639C5-E112-16C4-96F9-78E8322A2CEF}"/>
              </a:ext>
            </a:extLst>
          </p:cNvPr>
          <p:cNvSpPr/>
          <p:nvPr/>
        </p:nvSpPr>
        <p:spPr>
          <a:xfrm>
            <a:off x="1" y="0"/>
            <a:ext cx="2657474" cy="68580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C47F653-C549-1461-2B20-8326AFD8C687}"/>
              </a:ext>
            </a:extLst>
          </p:cNvPr>
          <p:cNvPicPr>
            <a:picLocks noChangeAspect="1"/>
          </p:cNvPicPr>
          <p:nvPr/>
        </p:nvPicPr>
        <p:blipFill>
          <a:blip r:embed="rId2"/>
          <a:stretch>
            <a:fillRect/>
          </a:stretch>
        </p:blipFill>
        <p:spPr>
          <a:xfrm>
            <a:off x="201007" y="3978669"/>
            <a:ext cx="2328874" cy="2615411"/>
          </a:xfrm>
          <a:prstGeom prst="rect">
            <a:avLst/>
          </a:prstGeom>
        </p:spPr>
      </p:pic>
    </p:spTree>
    <p:extLst>
      <p:ext uri="{BB962C8B-B14F-4D97-AF65-F5344CB8AC3E}">
        <p14:creationId xmlns:p14="http://schemas.microsoft.com/office/powerpoint/2010/main" val="3100387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2D34D-C90E-0B72-A968-F31AE5E16C30}"/>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6C902C15-2C8C-A9F6-A9D1-890410EEC70F}"/>
              </a:ext>
            </a:extLst>
          </p:cNvPr>
          <p:cNvSpPr>
            <a:spLocks noGrp="1"/>
          </p:cNvSpPr>
          <p:nvPr>
            <p:ph sz="half" idx="36"/>
          </p:nvPr>
        </p:nvSpPr>
        <p:spPr>
          <a:xfrm>
            <a:off x="2628900" y="1434845"/>
            <a:ext cx="9096375" cy="3661029"/>
          </a:xfrm>
        </p:spPr>
        <p:txBody>
          <a:bodyPr/>
          <a:lstStyle/>
          <a:p>
            <a:pPr algn="r" rtl="1"/>
            <a:r>
              <a:rPr lang="ar-SA" sz="2400" dirty="0">
                <a:solidFill>
                  <a:schemeClr val="accent5">
                    <a:lumMod val="75000"/>
                  </a:schemeClr>
                </a:solidFill>
                <a:cs typeface="B Yekan" panose="00000400000000000000" pitchFamily="2" charset="-78"/>
              </a:rPr>
              <a:t>قرارداد </a:t>
            </a:r>
            <a:r>
              <a:rPr lang="fa-IR" sz="2400" dirty="0">
                <a:solidFill>
                  <a:schemeClr val="accent5">
                    <a:lumMod val="75000"/>
                  </a:schemeClr>
                </a:solidFill>
                <a:cs typeface="B Yekan" panose="00000400000000000000" pitchFamily="2" charset="-78"/>
              </a:rPr>
              <a:t> </a:t>
            </a:r>
            <a:r>
              <a:rPr lang="en-US" sz="2400" dirty="0">
                <a:solidFill>
                  <a:schemeClr val="accent5">
                    <a:lumMod val="75000"/>
                  </a:schemeClr>
                </a:solidFill>
                <a:cs typeface="B Yekan" panose="00000400000000000000" pitchFamily="2" charset="-78"/>
              </a:rPr>
              <a:t>Contract</a:t>
            </a:r>
            <a:r>
              <a:rPr lang="en-US" sz="2400" dirty="0">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مجموعه اسناد و مدارک غیر قابل تفکیک مشخص شده در موافقتنامه است ، که برای انجام خدمات موضوع قرارداد، بین دو طرف مبادله میشود. قرارداد عبارت است از توافق ارادی دو طرف که در نتیجه آن رابطه جدیدی به وجود میآید یا رابطه حقوقی موجود را تغییر میدهد .</a:t>
            </a:r>
            <a:endParaRPr lang="ar-SA" sz="2400" dirty="0">
              <a:solidFill>
                <a:schemeClr val="accent5">
                  <a:lumMod val="75000"/>
                </a:schemeClr>
              </a:solidFill>
              <a:cs typeface="B Yekan" panose="00000400000000000000" pitchFamily="2" charset="-78"/>
            </a:endParaRPr>
          </a:p>
          <a:p>
            <a:pPr algn="r" rtl="1"/>
            <a:r>
              <a:rPr lang="ar-SA" sz="2400" dirty="0">
                <a:solidFill>
                  <a:schemeClr val="accent5">
                    <a:lumMod val="75000"/>
                  </a:schemeClr>
                </a:solidFill>
                <a:cs typeface="B Yekan" panose="00000400000000000000" pitchFamily="2" charset="-78"/>
              </a:rPr>
              <a:t>موافقتنامه </a:t>
            </a:r>
            <a:r>
              <a:rPr lang="fa-IR" sz="2400" dirty="0">
                <a:solidFill>
                  <a:schemeClr val="accent5">
                    <a:lumMod val="75000"/>
                  </a:schemeClr>
                </a:solidFill>
                <a:cs typeface="B Yekan" panose="00000400000000000000" pitchFamily="2" charset="-78"/>
              </a:rPr>
              <a:t> </a:t>
            </a:r>
            <a:r>
              <a:rPr lang="en-US" sz="2400" dirty="0">
                <a:solidFill>
                  <a:schemeClr val="accent5">
                    <a:lumMod val="75000"/>
                  </a:schemeClr>
                </a:solidFill>
                <a:cs typeface="B Yekan" panose="00000400000000000000" pitchFamily="2" charset="-78"/>
              </a:rPr>
              <a:t>Agreement</a:t>
            </a:r>
            <a:r>
              <a:rPr lang="en-US" sz="2400" dirty="0">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سندی است که در آن مشخصات اصلی قرارداد، مانند مشخصات دو طرف، موضوع، مدت، حقالزحمه و تعهدات دو طرف بیان شده است و باید به امضای هر دو طرف برسد. </a:t>
            </a:r>
          </a:p>
          <a:p>
            <a:pPr algn="r" rtl="1"/>
            <a:endParaRPr lang="en-US" sz="2400" dirty="0">
              <a:cs typeface="B Yekan" panose="00000400000000000000" pitchFamily="2" charset="-78"/>
            </a:endParaRPr>
          </a:p>
        </p:txBody>
      </p:sp>
      <p:sp>
        <p:nvSpPr>
          <p:cNvPr id="4" name="Slide Number Placeholder 3">
            <a:extLst>
              <a:ext uri="{FF2B5EF4-FFF2-40B4-BE49-F238E27FC236}">
                <a16:creationId xmlns:a16="http://schemas.microsoft.com/office/drawing/2014/main" id="{1B78B890-787E-2873-CF07-7ACEBDC7F072}"/>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54E48D69-C34F-5D36-4DB4-BFCB9B05C8FE}"/>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15817585-74A1-1722-515A-D654FD92485F}"/>
              </a:ext>
            </a:extLst>
          </p:cNvPr>
          <p:cNvSpPr txBox="1"/>
          <p:nvPr/>
        </p:nvSpPr>
        <p:spPr>
          <a:xfrm>
            <a:off x="3467101" y="438355"/>
            <a:ext cx="81884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واژه های  قراردادها و شرح خدمات :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3" name="Picture 2">
            <a:extLst>
              <a:ext uri="{FF2B5EF4-FFF2-40B4-BE49-F238E27FC236}">
                <a16:creationId xmlns:a16="http://schemas.microsoft.com/office/drawing/2014/main" id="{F2085AE6-17D3-1F27-DEF9-F776EA6021EB}"/>
              </a:ext>
            </a:extLst>
          </p:cNvPr>
          <p:cNvPicPr>
            <a:picLocks noChangeAspect="1"/>
          </p:cNvPicPr>
          <p:nvPr/>
        </p:nvPicPr>
        <p:blipFill>
          <a:blip r:embed="rId2"/>
          <a:stretch>
            <a:fillRect/>
          </a:stretch>
        </p:blipFill>
        <p:spPr>
          <a:xfrm>
            <a:off x="333262" y="4205389"/>
            <a:ext cx="2591025" cy="2481287"/>
          </a:xfrm>
          <a:prstGeom prst="rect">
            <a:avLst/>
          </a:prstGeom>
        </p:spPr>
      </p:pic>
    </p:spTree>
    <p:extLst>
      <p:ext uri="{BB962C8B-B14F-4D97-AF65-F5344CB8AC3E}">
        <p14:creationId xmlns:p14="http://schemas.microsoft.com/office/powerpoint/2010/main" val="3855560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F1B21-CB0B-9C45-0295-BD2D21856FD9}"/>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93EA852F-BAAD-43EF-64D1-224EF0AE3ADA}"/>
              </a:ext>
            </a:extLst>
          </p:cNvPr>
          <p:cNvSpPr>
            <a:spLocks noGrp="1"/>
          </p:cNvSpPr>
          <p:nvPr>
            <p:ph sz="half" idx="36"/>
          </p:nvPr>
        </p:nvSpPr>
        <p:spPr>
          <a:xfrm>
            <a:off x="2628900" y="1434845"/>
            <a:ext cx="9096375" cy="3661029"/>
          </a:xfrm>
        </p:spPr>
        <p:txBody>
          <a:bodyPr/>
          <a:lstStyle/>
          <a:p>
            <a:pPr algn="r" rtl="1"/>
            <a:r>
              <a:rPr lang="ar-SA" sz="2400" dirty="0">
                <a:solidFill>
                  <a:schemeClr val="accent5">
                    <a:lumMod val="75000"/>
                  </a:schemeClr>
                </a:solidFill>
                <a:cs typeface="B Yekan" panose="00000400000000000000" pitchFamily="2" charset="-78"/>
              </a:rPr>
              <a:t>مهندس مشاور </a:t>
            </a:r>
            <a:r>
              <a:rPr lang="en-US" sz="2400" dirty="0">
                <a:solidFill>
                  <a:schemeClr val="accent5">
                    <a:lumMod val="75000"/>
                  </a:schemeClr>
                </a:solidFill>
                <a:cs typeface="B Yekan" panose="00000400000000000000" pitchFamily="2" charset="-78"/>
              </a:rPr>
              <a:t>Consult engineer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a:t>
            </a:r>
            <a:r>
              <a:rPr lang="ar-SA" sz="2400" dirty="0">
                <a:cs typeface="B Yekan" panose="00000400000000000000" pitchFamily="2" charset="-78"/>
              </a:rPr>
              <a:t>مهندس مشاور، شخص حقوقی یا حقیقی است که برای انجام خدمات پژوهشی، مطالعات، طراحی و ارائه خدمات فنی و نظارت بر اجرای کار، در چارچوب اختیارات تعیین شده در اسناد و مدارک قرارداد به کار گرفته میشود.</a:t>
            </a:r>
          </a:p>
          <a:p>
            <a:pPr algn="r" rtl="1"/>
            <a:r>
              <a:rPr lang="ar-SA" sz="2400" dirty="0">
                <a:solidFill>
                  <a:schemeClr val="accent5">
                    <a:lumMod val="75000"/>
                  </a:schemeClr>
                </a:solidFill>
                <a:cs typeface="B Yekan" panose="00000400000000000000" pitchFamily="2" charset="-78"/>
              </a:rPr>
              <a:t>برنامه زمانی کلی</a:t>
            </a:r>
            <a:r>
              <a:rPr lang="fa-IR" sz="2400" dirty="0">
                <a:solidFill>
                  <a:schemeClr val="accent5">
                    <a:lumMod val="75000"/>
                  </a:schemeClr>
                </a:solidFill>
                <a:cs typeface="B Yekan" panose="00000400000000000000" pitchFamily="2" charset="-78"/>
              </a:rPr>
              <a:t> </a:t>
            </a:r>
            <a:r>
              <a:rPr lang="en-US" sz="2400" dirty="0">
                <a:solidFill>
                  <a:schemeClr val="accent5">
                    <a:lumMod val="75000"/>
                  </a:schemeClr>
                </a:solidFill>
                <a:cs typeface="B Yekan" panose="00000400000000000000" pitchFamily="2" charset="-78"/>
              </a:rPr>
              <a:t>Master time schedule    </a:t>
            </a:r>
            <a:r>
              <a:rPr lang="fa-IR" sz="2400" dirty="0">
                <a:solidFill>
                  <a:schemeClr val="accent5">
                    <a:lumMod val="75000"/>
                  </a:schemeClr>
                </a:solidFill>
                <a:cs typeface="B Yekan" panose="00000400000000000000" pitchFamily="2" charset="-78"/>
              </a:rPr>
              <a:t> </a:t>
            </a:r>
            <a:r>
              <a:rPr lang="fa-IR" sz="2400" dirty="0">
                <a:cs typeface="B Yekan" panose="00000400000000000000" pitchFamily="2" charset="-78"/>
              </a:rPr>
              <a:t>:</a:t>
            </a:r>
            <a:r>
              <a:rPr lang="ar-SA" sz="2400" dirty="0">
                <a:cs typeface="B Yekan" panose="00000400000000000000" pitchFamily="2" charset="-78"/>
              </a:rPr>
              <a:t>برنامهای است که تاریخ شروع و خاتمه انجام بخشهای مختلف خدمات هر قسمت یا مرحله از قرارداد را بر حسب ماه نشان میدهد و در اسناد و مدارک قرارداد درج میشود. </a:t>
            </a:r>
          </a:p>
          <a:p>
            <a:pPr algn="r" rtl="1"/>
            <a:endParaRPr lang="en-US" sz="2400" dirty="0">
              <a:cs typeface="B Yekan" panose="00000400000000000000" pitchFamily="2" charset="-78"/>
            </a:endParaRPr>
          </a:p>
        </p:txBody>
      </p:sp>
      <p:sp>
        <p:nvSpPr>
          <p:cNvPr id="4" name="Slide Number Placeholder 3">
            <a:extLst>
              <a:ext uri="{FF2B5EF4-FFF2-40B4-BE49-F238E27FC236}">
                <a16:creationId xmlns:a16="http://schemas.microsoft.com/office/drawing/2014/main" id="{1B9A9621-D628-B673-832A-84ECD3D9AE07}"/>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1422A560-B817-D18C-BBB0-F5627229B4C9}"/>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901ACA8F-F330-63B7-6477-4DB41E3957FD}"/>
              </a:ext>
            </a:extLst>
          </p:cNvPr>
          <p:cNvSpPr txBox="1"/>
          <p:nvPr/>
        </p:nvSpPr>
        <p:spPr>
          <a:xfrm>
            <a:off x="3467101" y="438355"/>
            <a:ext cx="81884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واژه های  قراردادها و شرح خدمات :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3" name="Picture 2">
            <a:extLst>
              <a:ext uri="{FF2B5EF4-FFF2-40B4-BE49-F238E27FC236}">
                <a16:creationId xmlns:a16="http://schemas.microsoft.com/office/drawing/2014/main" id="{E694FA2E-468F-77BF-A7AD-FED6980C364A}"/>
              </a:ext>
            </a:extLst>
          </p:cNvPr>
          <p:cNvPicPr>
            <a:picLocks noChangeAspect="1"/>
          </p:cNvPicPr>
          <p:nvPr/>
        </p:nvPicPr>
        <p:blipFill>
          <a:blip r:embed="rId2"/>
          <a:stretch>
            <a:fillRect/>
          </a:stretch>
        </p:blipFill>
        <p:spPr>
          <a:xfrm>
            <a:off x="295162" y="4291114"/>
            <a:ext cx="2591025" cy="2481287"/>
          </a:xfrm>
          <a:prstGeom prst="rect">
            <a:avLst/>
          </a:prstGeom>
        </p:spPr>
      </p:pic>
    </p:spTree>
    <p:extLst>
      <p:ext uri="{BB962C8B-B14F-4D97-AF65-F5344CB8AC3E}">
        <p14:creationId xmlns:p14="http://schemas.microsoft.com/office/powerpoint/2010/main" val="3242863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9F571-64C7-9303-0059-A6A2C25BE4F5}"/>
            </a:ext>
          </a:extLst>
        </p:cNvPr>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2D458045-F596-F802-5B5D-569AAD4589EE}"/>
              </a:ext>
            </a:extLst>
          </p:cNvPr>
          <p:cNvSpPr>
            <a:spLocks noGrp="1"/>
          </p:cNvSpPr>
          <p:nvPr>
            <p:ph sz="half" idx="36"/>
          </p:nvPr>
        </p:nvSpPr>
        <p:spPr>
          <a:xfrm>
            <a:off x="2559178" y="1992285"/>
            <a:ext cx="9096375" cy="2213230"/>
          </a:xfrm>
        </p:spPr>
        <p:txBody>
          <a:bodyPr/>
          <a:lstStyle/>
          <a:p>
            <a:pPr algn="r" rtl="1"/>
            <a:r>
              <a:rPr lang="ar-SA" sz="2400" dirty="0">
                <a:solidFill>
                  <a:schemeClr val="accent5">
                    <a:lumMod val="75000"/>
                  </a:schemeClr>
                </a:solidFill>
                <a:cs typeface="B Yekan" panose="00000400000000000000" pitchFamily="2" charset="-78"/>
              </a:rPr>
              <a:t>برنامه زمانی تفصیلی </a:t>
            </a:r>
            <a:r>
              <a:rPr lang="en-US" sz="2400" dirty="0">
                <a:solidFill>
                  <a:schemeClr val="accent5">
                    <a:lumMod val="75000"/>
                  </a:schemeClr>
                </a:solidFill>
                <a:cs typeface="B Yekan" panose="00000400000000000000" pitchFamily="2" charset="-78"/>
              </a:rPr>
              <a:t>Detailed time schedule </a:t>
            </a:r>
            <a:r>
              <a:rPr lang="en-US" sz="2400" dirty="0">
                <a:cs typeface="B Yekan" panose="00000400000000000000" pitchFamily="2" charset="-78"/>
              </a:rPr>
              <a:t>  </a:t>
            </a:r>
            <a:r>
              <a:rPr lang="fa-IR" sz="2400" dirty="0">
                <a:cs typeface="B Yekan" panose="00000400000000000000" pitchFamily="2" charset="-78"/>
              </a:rPr>
              <a:t> :</a:t>
            </a:r>
            <a:r>
              <a:rPr lang="ar-SA" sz="2400" dirty="0">
                <a:cs typeface="B Yekan" panose="00000400000000000000" pitchFamily="2" charset="-78"/>
              </a:rPr>
              <a:t>برنامهای است که تاریخ شروع و خاتمه هر یک از فعالیتهای درج شده در شرح خدمات را به تفصیل همراه با زمانبندی فعالیتهای جزئی و در چارچوب برنامه زمانی کلی در هر قسمت یا مرحله نشان میدهد.</a:t>
            </a:r>
          </a:p>
          <a:p>
            <a:pPr algn="r" rtl="1"/>
            <a:endParaRPr lang="en-US" sz="2400" dirty="0">
              <a:cs typeface="B Yekan" panose="00000400000000000000" pitchFamily="2" charset="-78"/>
            </a:endParaRPr>
          </a:p>
        </p:txBody>
      </p:sp>
      <p:sp>
        <p:nvSpPr>
          <p:cNvPr id="4" name="Slide Number Placeholder 3">
            <a:extLst>
              <a:ext uri="{FF2B5EF4-FFF2-40B4-BE49-F238E27FC236}">
                <a16:creationId xmlns:a16="http://schemas.microsoft.com/office/drawing/2014/main" id="{A4FABA06-9090-28BC-C5BA-EB82D4C6BFA7}"/>
              </a:ext>
            </a:extLst>
          </p:cNvPr>
          <p:cNvSpPr>
            <a:spLocks noGrp="1"/>
          </p:cNvSpPr>
          <p:nvPr>
            <p:ph type="sldNum" sz="quarter" idx="35"/>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33" name="Rectangle 32">
            <a:extLst>
              <a:ext uri="{FF2B5EF4-FFF2-40B4-BE49-F238E27FC236}">
                <a16:creationId xmlns:a16="http://schemas.microsoft.com/office/drawing/2014/main" id="{CC5CAE1D-A416-228D-0F84-9B0A6304BDC1}"/>
              </a:ext>
              <a:ext uri="{C183D7F6-B498-43B3-948B-1728B52AA6E4}">
                <adec:decorative xmlns:adec="http://schemas.microsoft.com/office/drawing/2017/decorative" val="1"/>
              </a:ext>
            </a:extLst>
          </p:cNvPr>
          <p:cNvSpPr/>
          <p:nvPr/>
        </p:nvSpPr>
        <p:spPr>
          <a:xfrm rot="5400000">
            <a:off x="2949842" y="2819356"/>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solidFill>
              <a:effectLst/>
              <a:uLnTx/>
              <a:uFillTx/>
              <a:latin typeface="Avenir Next LT Pro Light"/>
              <a:ea typeface="+mn-ea"/>
              <a:cs typeface="+mn-cs"/>
            </a:endParaRPr>
          </a:p>
        </p:txBody>
      </p:sp>
      <p:sp>
        <p:nvSpPr>
          <p:cNvPr id="2" name="TextBox 1">
            <a:extLst>
              <a:ext uri="{FF2B5EF4-FFF2-40B4-BE49-F238E27FC236}">
                <a16:creationId xmlns:a16="http://schemas.microsoft.com/office/drawing/2014/main" id="{173CF1E3-CBAA-6004-D4CC-A3697296C592}"/>
              </a:ext>
            </a:extLst>
          </p:cNvPr>
          <p:cNvSpPr txBox="1"/>
          <p:nvPr/>
        </p:nvSpPr>
        <p:spPr>
          <a:xfrm>
            <a:off x="3467101" y="438355"/>
            <a:ext cx="81884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واژه های  قراردادها و شرح خدمات : </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pic>
        <p:nvPicPr>
          <p:cNvPr id="3" name="Picture 2">
            <a:extLst>
              <a:ext uri="{FF2B5EF4-FFF2-40B4-BE49-F238E27FC236}">
                <a16:creationId xmlns:a16="http://schemas.microsoft.com/office/drawing/2014/main" id="{43313556-E3D8-E32B-E977-5DC15C36B5CB}"/>
              </a:ext>
            </a:extLst>
          </p:cNvPr>
          <p:cNvPicPr>
            <a:picLocks noChangeAspect="1"/>
          </p:cNvPicPr>
          <p:nvPr/>
        </p:nvPicPr>
        <p:blipFill>
          <a:blip r:embed="rId2"/>
          <a:stretch>
            <a:fillRect/>
          </a:stretch>
        </p:blipFill>
        <p:spPr>
          <a:xfrm>
            <a:off x="295162" y="4291114"/>
            <a:ext cx="2591025" cy="2481287"/>
          </a:xfrm>
          <a:prstGeom prst="rect">
            <a:avLst/>
          </a:prstGeom>
        </p:spPr>
      </p:pic>
    </p:spTree>
    <p:extLst>
      <p:ext uri="{BB962C8B-B14F-4D97-AF65-F5344CB8AC3E}">
        <p14:creationId xmlns:p14="http://schemas.microsoft.com/office/powerpoint/2010/main" val="2788055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9DB88-6995-44A3-200B-91838223C574}"/>
            </a:ext>
          </a:extLst>
        </p:cNvPr>
        <p:cNvGrpSpPr/>
        <p:nvPr/>
      </p:nvGrpSpPr>
      <p:grpSpPr>
        <a:xfrm>
          <a:off x="0" y="0"/>
          <a:ext cx="0" cy="0"/>
          <a:chOff x="0" y="0"/>
          <a:chExt cx="0" cy="0"/>
        </a:xfrm>
      </p:grpSpPr>
      <p:pic>
        <p:nvPicPr>
          <p:cNvPr id="23" name="Picture Placeholder 22" descr="View of city skyscrapers looking up">
            <a:extLst>
              <a:ext uri="{FF2B5EF4-FFF2-40B4-BE49-F238E27FC236}">
                <a16:creationId xmlns:a16="http://schemas.microsoft.com/office/drawing/2014/main" id="{0C16CE07-2C2C-EEBF-7AB6-9A14F5753FE2}"/>
              </a:ext>
            </a:extLst>
          </p:cNvPr>
          <p:cNvPicPr>
            <a:picLocks noGrp="1" noChangeAspect="1"/>
          </p:cNvPicPr>
          <p:nvPr>
            <p:ph type="pic" sz="quarter" idx="13"/>
          </p:nvPr>
        </p:nvPicPr>
        <p:blipFill>
          <a:blip r:embed="rId2"/>
          <a:srcRect l="523" r="523"/>
          <a:stretch/>
        </p:blipFill>
        <p:spPr>
          <a:xfrm>
            <a:off x="-381000" y="3302001"/>
            <a:ext cx="4577463" cy="3698875"/>
          </a:xfrm>
        </p:spPr>
      </p:pic>
      <p:sp>
        <p:nvSpPr>
          <p:cNvPr id="10" name="Content Placeholder 9">
            <a:extLst>
              <a:ext uri="{FF2B5EF4-FFF2-40B4-BE49-F238E27FC236}">
                <a16:creationId xmlns:a16="http://schemas.microsoft.com/office/drawing/2014/main" id="{B6944C84-7598-48DB-9F26-C85D26C265D1}"/>
              </a:ext>
            </a:extLst>
          </p:cNvPr>
          <p:cNvSpPr>
            <a:spLocks noGrp="1"/>
          </p:cNvSpPr>
          <p:nvPr>
            <p:ph sz="half" idx="12"/>
          </p:nvPr>
        </p:nvSpPr>
        <p:spPr>
          <a:xfrm>
            <a:off x="2772752" y="2392574"/>
            <a:ext cx="6646495" cy="1241199"/>
          </a:xfrm>
        </p:spPr>
        <p:txBody>
          <a:bodyPr>
            <a:normAutofit/>
          </a:bodyPr>
          <a:lstStyle/>
          <a:p>
            <a:pPr algn="r"/>
            <a:r>
              <a:rPr lang="fa-IR" sz="3200" b="0" dirty="0">
                <a:cs typeface="B Titr" panose="00000700000000000000" pitchFamily="2" charset="-78"/>
              </a:rPr>
              <a:t>تفاوت نظام فنی و اجرایی و نظام مهندسی :</a:t>
            </a:r>
            <a:endParaRPr lang="en-US" sz="3200" b="0" dirty="0">
              <a:cs typeface="B Titr" panose="00000700000000000000" pitchFamily="2" charset="-78"/>
            </a:endParaRPr>
          </a:p>
        </p:txBody>
      </p:sp>
      <p:sp>
        <p:nvSpPr>
          <p:cNvPr id="27" name="Slide Number Placeholder 26">
            <a:extLst>
              <a:ext uri="{FF2B5EF4-FFF2-40B4-BE49-F238E27FC236}">
                <a16:creationId xmlns:a16="http://schemas.microsoft.com/office/drawing/2014/main" id="{3AB0504B-8840-6F71-744D-F9133E6E163A}"/>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26" name="Oval 25">
            <a:extLst>
              <a:ext uri="{FF2B5EF4-FFF2-40B4-BE49-F238E27FC236}">
                <a16:creationId xmlns:a16="http://schemas.microsoft.com/office/drawing/2014/main" id="{BBF3A3E6-AF3D-1B74-FEE5-DA5D85851601}"/>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lumMod val="75000"/>
                </a:srgbClr>
              </a:solidFill>
              <a:effectLst/>
              <a:uLnTx/>
              <a:uFillTx/>
              <a:latin typeface="Avenir Next LT Pro Light"/>
              <a:ea typeface="+mn-ea"/>
              <a:cs typeface="+mn-cs"/>
            </a:endParaRPr>
          </a:p>
        </p:txBody>
      </p:sp>
    </p:spTree>
    <p:extLst>
      <p:ext uri="{BB962C8B-B14F-4D97-AF65-F5344CB8AC3E}">
        <p14:creationId xmlns:p14="http://schemas.microsoft.com/office/powerpoint/2010/main" val="3251252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7425-7CDB-F090-488E-0D704131FC7E}"/>
            </a:ext>
          </a:extLst>
        </p:cNvPr>
        <p:cNvGrpSpPr/>
        <p:nvPr/>
      </p:nvGrpSpPr>
      <p:grpSpPr>
        <a:xfrm>
          <a:off x="0" y="0"/>
          <a:ext cx="0" cy="0"/>
          <a:chOff x="0" y="0"/>
          <a:chExt cx="0" cy="0"/>
        </a:xfrm>
      </p:grpSpPr>
      <p:pic>
        <p:nvPicPr>
          <p:cNvPr id="23" name="Picture Placeholder 22" descr="View of city skyscrapers looking up">
            <a:extLst>
              <a:ext uri="{FF2B5EF4-FFF2-40B4-BE49-F238E27FC236}">
                <a16:creationId xmlns:a16="http://schemas.microsoft.com/office/drawing/2014/main" id="{673C0F3C-3F70-E170-BAD8-87D1718D59FE}"/>
              </a:ext>
            </a:extLst>
          </p:cNvPr>
          <p:cNvPicPr>
            <a:picLocks noGrp="1" noChangeAspect="1"/>
          </p:cNvPicPr>
          <p:nvPr>
            <p:ph type="pic" sz="quarter" idx="13"/>
          </p:nvPr>
        </p:nvPicPr>
        <p:blipFill>
          <a:blip r:embed="rId2"/>
          <a:srcRect l="523" r="523"/>
          <a:stretch/>
        </p:blipFill>
        <p:spPr>
          <a:xfrm>
            <a:off x="-381000" y="3302001"/>
            <a:ext cx="4577463" cy="3698875"/>
          </a:xfrm>
        </p:spPr>
      </p:pic>
      <p:sp>
        <p:nvSpPr>
          <p:cNvPr id="10" name="Content Placeholder 9">
            <a:extLst>
              <a:ext uri="{FF2B5EF4-FFF2-40B4-BE49-F238E27FC236}">
                <a16:creationId xmlns:a16="http://schemas.microsoft.com/office/drawing/2014/main" id="{8BC0C60A-2950-3E2F-7C3D-6FB82A39F47B}"/>
              </a:ext>
            </a:extLst>
          </p:cNvPr>
          <p:cNvSpPr>
            <a:spLocks noGrp="1"/>
          </p:cNvSpPr>
          <p:nvPr>
            <p:ph sz="half" idx="12"/>
          </p:nvPr>
        </p:nvSpPr>
        <p:spPr>
          <a:xfrm>
            <a:off x="4701209" y="786384"/>
            <a:ext cx="6646495" cy="1241199"/>
          </a:xfrm>
        </p:spPr>
        <p:txBody>
          <a:bodyPr>
            <a:normAutofit/>
          </a:bodyPr>
          <a:lstStyle/>
          <a:p>
            <a:pPr algn="r"/>
            <a:r>
              <a:rPr lang="fa-IR" sz="3200" b="0" dirty="0">
                <a:cs typeface="B Titr" panose="00000700000000000000" pitchFamily="2" charset="-78"/>
              </a:rPr>
              <a:t>تفاوت نظام فنی و اجرایی و نظام مهندسی :</a:t>
            </a:r>
            <a:endParaRPr lang="en-US" sz="3200" b="0" dirty="0">
              <a:cs typeface="B Titr" panose="00000700000000000000" pitchFamily="2" charset="-78"/>
            </a:endParaRPr>
          </a:p>
        </p:txBody>
      </p:sp>
      <p:sp>
        <p:nvSpPr>
          <p:cNvPr id="6" name="Content Placeholder 3">
            <a:extLst>
              <a:ext uri="{FF2B5EF4-FFF2-40B4-BE49-F238E27FC236}">
                <a16:creationId xmlns:a16="http://schemas.microsoft.com/office/drawing/2014/main" id="{4AF79887-D624-F2B1-2542-E7C7A31D3EF6}"/>
              </a:ext>
            </a:extLst>
          </p:cNvPr>
          <p:cNvSpPr>
            <a:spLocks noGrp="1"/>
          </p:cNvSpPr>
          <p:nvPr>
            <p:ph sz="half" idx="2"/>
          </p:nvPr>
        </p:nvSpPr>
        <p:spPr>
          <a:xfrm>
            <a:off x="3598793" y="1837082"/>
            <a:ext cx="7958461" cy="3839817"/>
          </a:xfrm>
          <a:noFill/>
        </p:spPr>
        <p:txBody>
          <a:bodyPr vert="horz" lIns="91440" tIns="45720" rIns="91440" bIns="45720" rtlCol="0" anchor="t">
            <a:noAutofit/>
          </a:bodyPr>
          <a:lstStyle/>
          <a:p>
            <a:pPr marL="285750" indent="-285750" algn="r" rtl="1">
              <a:buFont typeface="Arial" panose="020B0604020202020204" pitchFamily="34" charset="0"/>
              <a:buChar char="•"/>
            </a:pPr>
            <a:r>
              <a:rPr lang="ar-SA" sz="2000" dirty="0">
                <a:cs typeface="B Yekan" panose="00000400000000000000" pitchFamily="2" charset="-78"/>
              </a:rPr>
              <a:t>همان‌طور که گفته شد پروژه‌هایی که دولت هزینه آن را تقبل می‌کند و پروژه‌های عمومی است به عهدۀ </a:t>
            </a:r>
            <a:r>
              <a:rPr lang="ar-SA" sz="2000" dirty="0">
                <a:solidFill>
                  <a:schemeClr val="accent5">
                    <a:lumMod val="75000"/>
                  </a:schemeClr>
                </a:solidFill>
                <a:cs typeface="B Yekan" panose="00000400000000000000" pitchFamily="2" charset="-78"/>
              </a:rPr>
              <a:t>نظام فنی و اجرائی </a:t>
            </a:r>
            <a:r>
              <a:rPr lang="ar-SA" sz="2000" dirty="0">
                <a:cs typeface="B Yekan" panose="00000400000000000000" pitchFamily="2" charset="-78"/>
              </a:rPr>
              <a:t>است. این نظام از دو زیرمجموعه تشکیل شده است. مجموعۀ اول </a:t>
            </a:r>
            <a:r>
              <a:rPr lang="ar-SA" sz="2000" dirty="0">
                <a:solidFill>
                  <a:schemeClr val="accent5">
                    <a:lumMod val="75000"/>
                  </a:schemeClr>
                </a:solidFill>
                <a:cs typeface="B Yekan" panose="00000400000000000000" pitchFamily="2" charset="-78"/>
              </a:rPr>
              <a:t>مشاوران</a:t>
            </a:r>
            <a:r>
              <a:rPr lang="ar-SA" sz="2000" dirty="0">
                <a:cs typeface="B Yekan" panose="00000400000000000000" pitchFamily="2" charset="-78"/>
              </a:rPr>
              <a:t> است که خود دو زیرمجموعۀ </a:t>
            </a:r>
            <a:r>
              <a:rPr lang="ar-SA" sz="2000" dirty="0">
                <a:solidFill>
                  <a:schemeClr val="accent5">
                    <a:lumMod val="75000"/>
                  </a:schemeClr>
                </a:solidFill>
                <a:cs typeface="B Yekan" panose="00000400000000000000" pitchFamily="2" charset="-78"/>
              </a:rPr>
              <a:t>نظارت و طراحی </a:t>
            </a:r>
            <a:r>
              <a:rPr lang="ar-SA" sz="2000" dirty="0">
                <a:cs typeface="B Yekan" panose="00000400000000000000" pitchFamily="2" charset="-78"/>
              </a:rPr>
              <a:t>دارد. زیرمجموعۀ دوم نیز </a:t>
            </a:r>
            <a:r>
              <a:rPr lang="ar-SA" sz="2000" dirty="0">
                <a:solidFill>
                  <a:schemeClr val="accent5">
                    <a:lumMod val="75000"/>
                  </a:schemeClr>
                </a:solidFill>
                <a:cs typeface="B Yekan" panose="00000400000000000000" pitchFamily="2" charset="-78"/>
              </a:rPr>
              <a:t>پیمانکاران</a:t>
            </a:r>
            <a:r>
              <a:rPr lang="ar-SA" sz="2000" dirty="0">
                <a:cs typeface="B Yekan" panose="00000400000000000000" pitchFamily="2" charset="-78"/>
              </a:rPr>
              <a:t> است.</a:t>
            </a:r>
            <a:endParaRPr lang="fa-IR" sz="2000" dirty="0">
              <a:cs typeface="B Yekan" panose="00000400000000000000" pitchFamily="2" charset="-78"/>
            </a:endParaRPr>
          </a:p>
          <a:p>
            <a:pPr marL="285750" indent="-285750" algn="r" rtl="1">
              <a:buFont typeface="Arial" panose="020B0604020202020204" pitchFamily="34" charset="0"/>
              <a:buChar char="•"/>
            </a:pPr>
            <a:r>
              <a:rPr lang="ar-SA" sz="2000" dirty="0">
                <a:cs typeface="B Yekan" panose="00000400000000000000" pitchFamily="2" charset="-78"/>
              </a:rPr>
              <a:t>روژه‌های تحت مسئولیت نظام فنی و اجرائی بزرگ‌تر هستند و دولت خود متعهد به تقبل هزینۀ آنها است. مثل پروژه‌های سدسازی، جاده، لوله</a:t>
            </a:r>
            <a:r>
              <a:rPr lang="fa-IR" sz="2000" dirty="0">
                <a:cs typeface="B Yekan" panose="00000400000000000000" pitchFamily="2" charset="-78"/>
              </a:rPr>
              <a:t> </a:t>
            </a:r>
            <a:r>
              <a:rPr lang="ar-SA" sz="2000" dirty="0">
                <a:cs typeface="B Yekan" panose="00000400000000000000" pitchFamily="2" charset="-78"/>
              </a:rPr>
              <a:t>‌کشی و انتقال آب و ساخت نیروگاه و غیره</a:t>
            </a:r>
            <a:endParaRPr lang="fa-IR" sz="2000" dirty="0">
              <a:cs typeface="B Yekan" panose="00000400000000000000" pitchFamily="2" charset="-78"/>
            </a:endParaRPr>
          </a:p>
          <a:p>
            <a:pPr marL="285750" indent="-285750" algn="r" rtl="1">
              <a:buFont typeface="Arial" panose="020B0604020202020204" pitchFamily="34" charset="0"/>
              <a:buChar char="•"/>
            </a:pPr>
            <a:r>
              <a:rPr lang="ar-SA" sz="2000" dirty="0">
                <a:cs typeface="B Yekan" panose="00000400000000000000" pitchFamily="2" charset="-78"/>
              </a:rPr>
              <a:t>از سوی دیگر، پروژه‌های شهری و کوچک‌تر چه به‌صورت شخصی و چه به‌</a:t>
            </a:r>
            <a:r>
              <a:rPr lang="fa-IR" sz="2000" dirty="0">
                <a:cs typeface="B Yekan" panose="00000400000000000000" pitchFamily="2" charset="-78"/>
              </a:rPr>
              <a:t> </a:t>
            </a:r>
            <a:r>
              <a:rPr lang="ar-SA" sz="2000" dirty="0">
                <a:cs typeface="B Yekan" panose="00000400000000000000" pitchFamily="2" charset="-78"/>
              </a:rPr>
              <a:t>صورت شهرداری، تحت تقبل نظام</a:t>
            </a:r>
            <a:r>
              <a:rPr lang="fa-IR" sz="2000" dirty="0">
                <a:cs typeface="B Yekan" panose="00000400000000000000" pitchFamily="2" charset="-78"/>
              </a:rPr>
              <a:t> </a:t>
            </a:r>
            <a:r>
              <a:rPr lang="ar-SA" sz="2000" dirty="0">
                <a:cs typeface="B Yekan" panose="00000400000000000000" pitchFamily="2" charset="-78"/>
              </a:rPr>
              <a:t>‌مهندسی است.</a:t>
            </a:r>
          </a:p>
        </p:txBody>
      </p:sp>
      <p:sp>
        <p:nvSpPr>
          <p:cNvPr id="27" name="Slide Number Placeholder 26">
            <a:extLst>
              <a:ext uri="{FF2B5EF4-FFF2-40B4-BE49-F238E27FC236}">
                <a16:creationId xmlns:a16="http://schemas.microsoft.com/office/drawing/2014/main" id="{6B22B95D-A43D-9E97-2788-F88FEB8AC9D5}"/>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26" name="Oval 25">
            <a:extLst>
              <a:ext uri="{FF2B5EF4-FFF2-40B4-BE49-F238E27FC236}">
                <a16:creationId xmlns:a16="http://schemas.microsoft.com/office/drawing/2014/main" id="{18495957-8CE5-3B49-C0DC-1A8314B1A483}"/>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AEFCC">
                  <a:lumMod val="75000"/>
                </a:srgbClr>
              </a:solidFill>
              <a:effectLst/>
              <a:uLnTx/>
              <a:uFillTx/>
              <a:latin typeface="Avenir Next LT Pro Light"/>
              <a:ea typeface="+mn-ea"/>
              <a:cs typeface="+mn-cs"/>
            </a:endParaRPr>
          </a:p>
        </p:txBody>
      </p:sp>
    </p:spTree>
    <p:extLst>
      <p:ext uri="{BB962C8B-B14F-4D97-AF65-F5344CB8AC3E}">
        <p14:creationId xmlns:p14="http://schemas.microsoft.com/office/powerpoint/2010/main" val="2234276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096C5E-DC1F-D26B-A71E-5322020B8A7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47</a:t>
            </a:fld>
            <a:endParaRPr lang="en-US" dirty="0"/>
          </a:p>
        </p:txBody>
      </p:sp>
      <p:sp>
        <p:nvSpPr>
          <p:cNvPr id="9" name="TextBox 8">
            <a:extLst>
              <a:ext uri="{FF2B5EF4-FFF2-40B4-BE49-F238E27FC236}">
                <a16:creationId xmlns:a16="http://schemas.microsoft.com/office/drawing/2014/main" id="{C229C8F6-32E6-6885-F59A-96955E2D6A93}"/>
              </a:ext>
            </a:extLst>
          </p:cNvPr>
          <p:cNvSpPr txBox="1"/>
          <p:nvPr/>
        </p:nvSpPr>
        <p:spPr>
          <a:xfrm>
            <a:off x="2793964" y="2782669"/>
            <a:ext cx="7458075" cy="646331"/>
          </a:xfrm>
          <a:prstGeom prst="rect">
            <a:avLst/>
          </a:prstGeom>
          <a:noFill/>
        </p:spPr>
        <p:txBody>
          <a:bodyPr wrap="square" rtlCol="0">
            <a:spAutoFit/>
          </a:bodyPr>
          <a:lstStyle/>
          <a:p>
            <a:r>
              <a:rPr lang="ar-SA" sz="3600" dirty="0">
                <a:cs typeface="B Titr" panose="00000700000000000000" pitchFamily="2" charset="-78"/>
              </a:rPr>
              <a:t>عوامل ذی‌نفع در نظام فنی و اجرایی کشور:</a:t>
            </a:r>
            <a:endParaRPr lang="en-US" sz="3600" dirty="0">
              <a:cs typeface="B Titr" panose="00000700000000000000" pitchFamily="2" charset="-78"/>
            </a:endParaRPr>
          </a:p>
        </p:txBody>
      </p:sp>
    </p:spTree>
    <p:extLst>
      <p:ext uri="{BB962C8B-B14F-4D97-AF65-F5344CB8AC3E}">
        <p14:creationId xmlns:p14="http://schemas.microsoft.com/office/powerpoint/2010/main" val="1852983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103A7-0BB3-A7CC-5E6B-D2527D1FDAB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EFC4CB3-8E09-02CD-8154-9A6DAF7F2D5E}"/>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48</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9" name="TextBox 8">
            <a:extLst>
              <a:ext uri="{FF2B5EF4-FFF2-40B4-BE49-F238E27FC236}">
                <a16:creationId xmlns:a16="http://schemas.microsoft.com/office/drawing/2014/main" id="{396D45CE-1AF6-C36E-D82B-418FF28F3148}"/>
              </a:ext>
            </a:extLst>
          </p:cNvPr>
          <p:cNvSpPr txBox="1"/>
          <p:nvPr/>
        </p:nvSpPr>
        <p:spPr>
          <a:xfrm>
            <a:off x="4523373" y="133351"/>
            <a:ext cx="74580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عوامل ذی‌نفع در نظام فنی و اجرایی کشور:</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graphicFrame>
        <p:nvGraphicFramePr>
          <p:cNvPr id="14" name="Diagram 13">
            <a:extLst>
              <a:ext uri="{FF2B5EF4-FFF2-40B4-BE49-F238E27FC236}">
                <a16:creationId xmlns:a16="http://schemas.microsoft.com/office/drawing/2014/main" id="{86A0D8B8-E922-66C1-CC9B-95949CE45C8C}"/>
              </a:ext>
            </a:extLst>
          </p:cNvPr>
          <p:cNvGraphicFramePr/>
          <p:nvPr/>
        </p:nvGraphicFramePr>
        <p:xfrm>
          <a:off x="1314451" y="935734"/>
          <a:ext cx="9725024" cy="57889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6FFDBA55-9B22-BD24-31BA-3131A6157DE5}"/>
              </a:ext>
            </a:extLst>
          </p:cNvPr>
          <p:cNvSpPr txBox="1"/>
          <p:nvPr/>
        </p:nvSpPr>
        <p:spPr>
          <a:xfrm>
            <a:off x="3248026" y="1895475"/>
            <a:ext cx="120967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دستگاه‌های اجرایی</a:t>
            </a:r>
            <a:endParaRPr kumimoji="0" lang="en-US"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
        <p:nvSpPr>
          <p:cNvPr id="18" name="TextBox 17">
            <a:extLst>
              <a:ext uri="{FF2B5EF4-FFF2-40B4-BE49-F238E27FC236}">
                <a16:creationId xmlns:a16="http://schemas.microsoft.com/office/drawing/2014/main" id="{D47620BD-3670-34F3-D6FF-CED723BF0521}"/>
              </a:ext>
            </a:extLst>
          </p:cNvPr>
          <p:cNvSpPr txBox="1"/>
          <p:nvPr/>
        </p:nvSpPr>
        <p:spPr>
          <a:xfrm>
            <a:off x="7877175" y="1895475"/>
            <a:ext cx="148642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تامین کنندگان خدمات و کالا</a:t>
            </a:r>
            <a:endParaRPr kumimoji="0" lang="en-US"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Tree>
    <p:extLst>
      <p:ext uri="{BB962C8B-B14F-4D97-AF65-F5344CB8AC3E}">
        <p14:creationId xmlns:p14="http://schemas.microsoft.com/office/powerpoint/2010/main" val="3497195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57B4-3995-B34E-19EA-6B5766A6AB8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4EECB16-7347-36A8-4C2B-06CECF7EBCAB}"/>
              </a:ext>
            </a:extLst>
          </p:cNvPr>
          <p:cNvSpPr>
            <a:spLocks noGrp="1"/>
          </p:cNvSpPr>
          <p:nvPr>
            <p:ph type="sldNum" sz="quarter" idx="11"/>
          </p:nvPr>
        </p:nvSpPr>
        <p:spPr>
          <a:xfrm rot="16200000">
            <a:off x="11716512" y="6382510"/>
            <a:ext cx="566928" cy="3840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9A01C0A-2BB6-49E7-91A3-DCB9F9F59583}" type="slidenum">
              <a:rPr kumimoji="0" lang="en-US" sz="1400" b="0" i="0" u="none" strike="noStrike" kern="1200" cap="none" spc="0" normalizeH="0" baseline="0" noProof="0" smtClean="0">
                <a:ln>
                  <a:noFill/>
                </a:ln>
                <a:solidFill>
                  <a:srgbClr val="FFFFFF"/>
                </a:solidFill>
                <a:effectLst/>
                <a:uLnTx/>
                <a:uFillTx/>
                <a:latin typeface="Avenir Next LT Pro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49</a:t>
            </a:fld>
            <a:endParaRPr kumimoji="0" lang="en-US" sz="1400" b="0" i="0" u="none" strike="noStrike" kern="1200" cap="none" spc="0" normalizeH="0" baseline="0" noProof="0" dirty="0">
              <a:ln>
                <a:noFill/>
              </a:ln>
              <a:solidFill>
                <a:srgbClr val="FFFFFF"/>
              </a:solidFill>
              <a:effectLst/>
              <a:uLnTx/>
              <a:uFillTx/>
              <a:latin typeface="Avenir Next LT Pro Light"/>
              <a:ea typeface="+mn-ea"/>
              <a:cs typeface="+mn-cs"/>
            </a:endParaRPr>
          </a:p>
        </p:txBody>
      </p:sp>
      <p:sp>
        <p:nvSpPr>
          <p:cNvPr id="9" name="TextBox 8">
            <a:extLst>
              <a:ext uri="{FF2B5EF4-FFF2-40B4-BE49-F238E27FC236}">
                <a16:creationId xmlns:a16="http://schemas.microsoft.com/office/drawing/2014/main" id="{DAA6876D-B3D2-3B06-CD84-F3F50494DB03}"/>
              </a:ext>
            </a:extLst>
          </p:cNvPr>
          <p:cNvSpPr txBox="1"/>
          <p:nvPr/>
        </p:nvSpPr>
        <p:spPr>
          <a:xfrm>
            <a:off x="4523373" y="133351"/>
            <a:ext cx="74580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ar-SA"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عوامل ذی‌نفع در نظام فنی و اجرایی کشور:</a:t>
            </a:r>
            <a:endParaRPr kumimoji="0" lang="en-US" sz="36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graphicFrame>
        <p:nvGraphicFramePr>
          <p:cNvPr id="14" name="Diagram 13">
            <a:extLst>
              <a:ext uri="{FF2B5EF4-FFF2-40B4-BE49-F238E27FC236}">
                <a16:creationId xmlns:a16="http://schemas.microsoft.com/office/drawing/2014/main" id="{80DA22BC-CB46-15C1-6BB5-5A00F9DA881C}"/>
              </a:ext>
            </a:extLst>
          </p:cNvPr>
          <p:cNvGraphicFramePr/>
          <p:nvPr>
            <p:extLst>
              <p:ext uri="{D42A27DB-BD31-4B8C-83A1-F6EECF244321}">
                <p14:modId xmlns:p14="http://schemas.microsoft.com/office/powerpoint/2010/main" val="426480461"/>
              </p:ext>
            </p:extLst>
          </p:nvPr>
        </p:nvGraphicFramePr>
        <p:xfrm>
          <a:off x="1314451" y="935734"/>
          <a:ext cx="9725024" cy="57889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TextBox 15">
            <a:extLst>
              <a:ext uri="{FF2B5EF4-FFF2-40B4-BE49-F238E27FC236}">
                <a16:creationId xmlns:a16="http://schemas.microsoft.com/office/drawing/2014/main" id="{FE0F199B-D5CA-876E-AE6C-AE7343CC8A57}"/>
              </a:ext>
            </a:extLst>
          </p:cNvPr>
          <p:cNvSpPr txBox="1"/>
          <p:nvPr/>
        </p:nvSpPr>
        <p:spPr>
          <a:xfrm>
            <a:off x="7916717" y="1857375"/>
            <a:ext cx="169256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تأمین‌کنندگان منابع مالی</a:t>
            </a:r>
            <a:endParaRPr kumimoji="0" lang="en-US"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
        <p:nvSpPr>
          <p:cNvPr id="17" name="TextBox 16">
            <a:extLst>
              <a:ext uri="{FF2B5EF4-FFF2-40B4-BE49-F238E27FC236}">
                <a16:creationId xmlns:a16="http://schemas.microsoft.com/office/drawing/2014/main" id="{E12E4BC4-5C6A-F748-C42D-B449B38EE228}"/>
              </a:ext>
            </a:extLst>
          </p:cNvPr>
          <p:cNvSpPr txBox="1"/>
          <p:nvPr/>
        </p:nvSpPr>
        <p:spPr>
          <a:xfrm>
            <a:off x="3009379" y="2011263"/>
            <a:ext cx="133402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rPr>
              <a:t>بهره برداران</a:t>
            </a:r>
            <a:endParaRPr kumimoji="0" lang="en-US" sz="2000" b="0" i="0" u="none" strike="noStrike" kern="1200" cap="none" spc="0" normalizeH="0" baseline="0" noProof="0" dirty="0">
              <a:ln>
                <a:noFill/>
              </a:ln>
              <a:solidFill>
                <a:srgbClr val="36393B"/>
              </a:solidFill>
              <a:effectLst/>
              <a:uLnTx/>
              <a:uFillTx/>
              <a:latin typeface="Avenir Next LT Pro Light"/>
              <a:ea typeface="+mn-ea"/>
              <a:cs typeface="B Titr" panose="00000700000000000000" pitchFamily="2" charset="-78"/>
            </a:endParaRPr>
          </a:p>
        </p:txBody>
      </p:sp>
    </p:spTree>
    <p:extLst>
      <p:ext uri="{BB962C8B-B14F-4D97-AF65-F5344CB8AC3E}">
        <p14:creationId xmlns:p14="http://schemas.microsoft.com/office/powerpoint/2010/main" val="677531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F0DB6-E15C-8057-33C3-D70AB7FBB08D}"/>
              </a:ext>
            </a:extLst>
          </p:cNvPr>
          <p:cNvSpPr>
            <a:spLocks noGrp="1"/>
          </p:cNvSpPr>
          <p:nvPr>
            <p:ph type="title"/>
          </p:nvPr>
        </p:nvSpPr>
        <p:spPr/>
        <p:txBody>
          <a:bodyPr/>
          <a:lstStyle/>
          <a:p>
            <a:pPr algn="r"/>
            <a:r>
              <a:rPr lang="fa-IR" dirty="0">
                <a:latin typeface="B Titr"/>
              </a:rPr>
              <a:t>سوالات :</a:t>
            </a:r>
          </a:p>
        </p:txBody>
      </p:sp>
      <p:sp>
        <p:nvSpPr>
          <p:cNvPr id="3" name="Content Placeholder 2">
            <a:extLst>
              <a:ext uri="{FF2B5EF4-FFF2-40B4-BE49-F238E27FC236}">
                <a16:creationId xmlns:a16="http://schemas.microsoft.com/office/drawing/2014/main" id="{2FF65B39-5E71-40A0-9193-EB59D181C1DA}"/>
              </a:ext>
            </a:extLst>
          </p:cNvPr>
          <p:cNvSpPr>
            <a:spLocks noGrp="1"/>
          </p:cNvSpPr>
          <p:nvPr>
            <p:ph sz="half" idx="2"/>
          </p:nvPr>
        </p:nvSpPr>
        <p:spPr/>
        <p:txBody>
          <a:bodyPr/>
          <a:lstStyle/>
          <a:p>
            <a:pPr algn="r"/>
            <a:r>
              <a:rPr lang="fa-IR" dirty="0"/>
              <a:t>1.عوامل ذی نفع در نظام فنی و اجرایی نام ببرید و یکی را توضیح دهید؟</a:t>
            </a:r>
          </a:p>
          <a:p>
            <a:pPr algn="r"/>
            <a:r>
              <a:rPr lang="fa-IR" dirty="0"/>
              <a:t>2.تفاوت نظام فنی و اجرایی و نظام مهندسی چیست؟</a:t>
            </a:r>
          </a:p>
          <a:p>
            <a:pPr algn="r"/>
            <a:r>
              <a:rPr lang="fa-IR" dirty="0"/>
              <a:t>3.نظام فنی و اجرایی را تعریف کنید.</a:t>
            </a:r>
          </a:p>
          <a:p>
            <a:pPr algn="r"/>
            <a:r>
              <a:rPr lang="fa-IR" dirty="0"/>
              <a:t>4. نقش نظام فنی و اجرایی چیست؟</a:t>
            </a:r>
          </a:p>
          <a:p>
            <a:pPr algn="r"/>
            <a:r>
              <a:rPr lang="fa-IR"/>
              <a:t>5.مهندسی ارزش چیست؟</a:t>
            </a:r>
            <a:endParaRPr lang="fa-IR" dirty="0"/>
          </a:p>
        </p:txBody>
      </p:sp>
      <p:sp>
        <p:nvSpPr>
          <p:cNvPr id="4" name="Slide Number Placeholder 3">
            <a:extLst>
              <a:ext uri="{FF2B5EF4-FFF2-40B4-BE49-F238E27FC236}">
                <a16:creationId xmlns:a16="http://schemas.microsoft.com/office/drawing/2014/main" id="{2DFF019F-E943-A5DC-07D6-63369877D5AF}"/>
              </a:ext>
            </a:extLst>
          </p:cNvPr>
          <p:cNvSpPr>
            <a:spLocks noGrp="1"/>
          </p:cNvSpPr>
          <p:nvPr>
            <p:ph type="sldNum" sz="quarter" idx="11"/>
          </p:nvPr>
        </p:nvSpPr>
        <p:spPr/>
        <p:txBody>
          <a:bodyPr/>
          <a:lstStyle/>
          <a:p>
            <a:fld id="{09A01C0A-2BB6-49E7-91A3-DCB9F9F59583}" type="slidenum">
              <a:rPr lang="en-US" smtClean="0"/>
              <a:pPr/>
              <a:t>50</a:t>
            </a:fld>
            <a:endParaRPr lang="en-US" dirty="0"/>
          </a:p>
        </p:txBody>
      </p:sp>
    </p:spTree>
    <p:extLst>
      <p:ext uri="{BB962C8B-B14F-4D97-AF65-F5344CB8AC3E}">
        <p14:creationId xmlns:p14="http://schemas.microsoft.com/office/powerpoint/2010/main" val="3534402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2219051" y="3322850"/>
            <a:ext cx="6517445" cy="1731890"/>
          </a:xfrm>
        </p:spPr>
        <p:txBody>
          <a:bodyPr/>
          <a:lstStyle/>
          <a:p>
            <a:pPr algn="ctr"/>
            <a:r>
              <a:rPr lang="fa-IR" sz="2400" b="1" dirty="0">
                <a:cs typeface="B Titr" panose="00000700000000000000" pitchFamily="2" charset="-78"/>
              </a:rPr>
              <a:t>منابع :</a:t>
            </a:r>
          </a:p>
          <a:p>
            <a:pPr algn="ctr"/>
            <a:r>
              <a:rPr lang="en-US" b="1" dirty="0">
                <a:cs typeface="B Titr" panose="00000700000000000000" pitchFamily="2" charset="-78"/>
                <a:hlinkClick r:id="rId3"/>
              </a:rPr>
              <a:t>https://drmostafanajafi.ir/nezamfanni</a:t>
            </a:r>
            <a:endParaRPr lang="fa-IR" b="1" dirty="0">
              <a:cs typeface="B Titr" panose="00000700000000000000" pitchFamily="2" charset="-78"/>
            </a:endParaRPr>
          </a:p>
          <a:p>
            <a:pPr algn="ctr"/>
            <a:r>
              <a:rPr lang="en-US" b="1" dirty="0">
                <a:cs typeface="B Titr" panose="00000700000000000000" pitchFamily="2" charset="-78"/>
              </a:rPr>
              <a:t>https://drmostafanajafi.ir</a:t>
            </a:r>
          </a:p>
        </p:txBody>
      </p:sp>
      <p:sp>
        <p:nvSpPr>
          <p:cNvPr id="2" name="TextBox 1">
            <a:extLst>
              <a:ext uri="{FF2B5EF4-FFF2-40B4-BE49-F238E27FC236}">
                <a16:creationId xmlns:a16="http://schemas.microsoft.com/office/drawing/2014/main" id="{0614FCB8-1E1E-57F1-C5C5-44F137F64F19}"/>
              </a:ext>
            </a:extLst>
          </p:cNvPr>
          <p:cNvSpPr txBox="1"/>
          <p:nvPr/>
        </p:nvSpPr>
        <p:spPr>
          <a:xfrm>
            <a:off x="3918692" y="2053932"/>
            <a:ext cx="3118162" cy="646331"/>
          </a:xfrm>
          <a:prstGeom prst="rect">
            <a:avLst/>
          </a:prstGeom>
          <a:noFill/>
        </p:spPr>
        <p:txBody>
          <a:bodyPr wrap="none" rtlCol="0">
            <a:spAutoFit/>
          </a:bodyPr>
          <a:lstStyle/>
          <a:p>
            <a:pPr algn="ctr"/>
            <a:r>
              <a:rPr lang="fa-IR" sz="3600" dirty="0">
                <a:cs typeface="B Titr" panose="00000700000000000000" pitchFamily="2" charset="-78"/>
              </a:rPr>
              <a:t>ممنون از توجهتون</a:t>
            </a:r>
            <a:endParaRPr lang="en-US" sz="3600" dirty="0">
              <a:cs typeface="B Titr" panose="00000700000000000000" pitchFamily="2" charset="-78"/>
            </a:endParaRP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2.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presentation</Template>
  <TotalTime>306</TotalTime>
  <Words>2543</Words>
  <Application>Microsoft Office PowerPoint</Application>
  <PresentationFormat>Widescreen</PresentationFormat>
  <Paragraphs>214</Paragraphs>
  <Slides>51</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Arial Black</vt:lpstr>
      <vt:lpstr>Avenir Next LT Pro</vt:lpstr>
      <vt:lpstr>Avenir Next LT Pro Light</vt:lpstr>
      <vt:lpstr>B Titr</vt:lpstr>
      <vt:lpstr>B Yekan</vt:lpstr>
      <vt:lpstr>Calibri</vt:lpstr>
      <vt:lpstr>Gill Sans MT</vt:lpstr>
      <vt:lpstr>Wingdings 2</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سوالات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zahra</dc:creator>
  <cp:lastModifiedBy>Mina Seyfi</cp:lastModifiedBy>
  <cp:revision>15</cp:revision>
  <dcterms:created xsi:type="dcterms:W3CDTF">2024-10-17T07:58:38Z</dcterms:created>
  <dcterms:modified xsi:type="dcterms:W3CDTF">2024-12-21T11:03:18Z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