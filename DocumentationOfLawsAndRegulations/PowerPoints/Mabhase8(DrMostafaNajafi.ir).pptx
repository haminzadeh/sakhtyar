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39.xml" ContentType="application/vnd.openxmlformats-officedocument.presentationml.notesSlide+xml"/>
  <Override PartName="/ppt/slides/slide120.xml" ContentType="application/vnd.openxmlformats-officedocument.presentationml.slide+xml"/>
  <Override PartName="/ppt/slides/slide218.xml" ContentType="application/vnd.openxmlformats-officedocument.presentationml.slide+xml"/>
  <Override PartName="/ppt/slides/slide265.xml" ContentType="application/vnd.openxmlformats-officedocument.presentationml.slide+xml"/>
  <Override PartName="/ppt/notesSlides/notesSlide38.xml" ContentType="application/vnd.openxmlformats-officedocument.presentationml.notesSlide+xml"/>
  <Override PartName="/ppt/notesSlides/notesSlide85.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17.xml" ContentType="application/vnd.openxmlformats-officedocument.presentationml.notesSlide+xml"/>
  <Override PartName="/ppt/notesSlides/notesSlide264.xml" ContentType="application/vnd.openxmlformats-officedocument.presentationml.notesSlide+xml"/>
  <Default Extension="xml" ContentType="application/xml"/>
  <Override PartName="/ppt/slides/slide50.xml" ContentType="application/vnd.openxmlformats-officedocument.presentationml.slide+xml"/>
  <Override PartName="/ppt/slides/slide243.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notesSlides/notesSlide242.xml" ContentType="application/vnd.openxmlformats-officedocument.presentationml.notesSlide+xml"/>
  <Override PartName="/ppt/slides/slide221.xml" ContentType="application/vnd.openxmlformats-officedocument.presentationml.slide+xml"/>
  <Override PartName="/ppt/notesSlides/notesSlide41.xml" ContentType="application/vnd.openxmlformats-officedocument.presentationml.notesSlide+xml"/>
  <Override PartName="/ppt/notesSlides/notesSlide179.xml" ContentType="application/vnd.openxmlformats-officedocument.presentationml.notesSlide+xml"/>
  <Override PartName="/ppt/slides/slide158.xml" ContentType="application/vnd.openxmlformats-officedocument.presentationml.slide+xml"/>
  <Override PartName="/ppt/notesSlides/notesSlide220.xml" ContentType="application/vnd.openxmlformats-officedocument.presentationml.notes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notesSlides/notesSlide157.xml" ContentType="application/vnd.openxmlformats-officedocument.presentationml.notesSlide+xml"/>
  <Override PartName="/ppt/slides/slide88.xml" ContentType="application/vnd.openxmlformats-officedocument.presentationml.slide+xml"/>
  <Override PartName="/ppt/slides/slide259.xml" ContentType="application/vnd.openxmlformats-officedocument.presentationml.slide+xml"/>
  <Override PartName="/ppt/notesSlides/notesSlide135.xml" ContentType="application/vnd.openxmlformats-officedocument.presentationml.notesSlide+xml"/>
  <Override PartName="/ppt/notesSlides/notesSlide182.xml" ContentType="application/vnd.openxmlformats-officedocument.presentationml.notesSlide+xml"/>
  <Override PartName="/ppt/slides/slide19.xml" ContentType="application/vnd.openxmlformats-officedocument.presentationml.slide+xml"/>
  <Override PartName="/ppt/slides/slide66.xml" ContentType="application/vnd.openxmlformats-officedocument.presentationml.slide+xml"/>
  <Override PartName="/ppt/slides/slide114.xml" ContentType="application/vnd.openxmlformats-officedocument.presentationml.slide+xml"/>
  <Override PartName="/ppt/slides/slide161.xml" ContentType="application/vnd.openxmlformats-officedocument.presentationml.slide+xml"/>
  <Default Extension="png" ContentType="image/png"/>
  <Override PartName="/ppt/notesSlides/notesSlide79.xml" ContentType="application/vnd.openxmlformats-officedocument.presentationml.notesSlide+xml"/>
  <Override PartName="/ppt/notesSlides/notesSlide258.xml" ContentType="application/vnd.openxmlformats-officedocument.presentationml.notesSlide+xml"/>
  <Override PartName="/ppt/slides/slide237.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44.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62.xml" ContentType="application/vnd.openxmlformats-officedocument.presentationml.slide+xml"/>
  <Override PartName="/ppt/notesSlides/notesSlide236.xml" ContentType="application/vnd.openxmlformats-officedocument.presentationml.notesSlide+xml"/>
  <Override PartName="/ppt/slides/slide22.xml" ContentType="application/vnd.openxmlformats-officedocument.presentationml.slide+xml"/>
  <Override PartName="/ppt/slides/slide199.xml" ContentType="application/vnd.openxmlformats-officedocument.presentationml.slide+xml"/>
  <Override PartName="/ppt/notesSlides/notesSlide35.xml" ContentType="application/vnd.openxmlformats-officedocument.presentationml.notesSlide+xml"/>
  <Override PartName="/ppt/notesSlides/notesSlide82.xml" ContentType="application/vnd.openxmlformats-officedocument.presentationml.notesSlide+xml"/>
  <Override PartName="/ppt/notesSlides/notesSlide214.xml" ContentType="application/vnd.openxmlformats-officedocument.presentationml.notesSlide+xml"/>
  <Override PartName="/ppt/notesSlides/notesSlide261.xml" ContentType="application/vnd.openxmlformats-officedocument.presentationml.notesSlide+xml"/>
  <Override PartName="/ppt/slides/slide240.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notesSlides/notesSlide198.xml" ContentType="application/vnd.openxmlformats-officedocument.presentationml.notesSlide+xml"/>
  <Override PartName="/ppt/slides/slide177.xml" ContentType="application/vnd.openxmlformats-officedocument.presentationml.slide+xml"/>
  <Override PartName="/ppt/notesSlides/notesSlide129.xml" ContentType="application/vnd.openxmlformats-officedocument.presentationml.notesSlide+xml"/>
  <Override PartName="/ppt/notesSlides/notesSlide176.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slides/slide111.xml" ContentType="application/vnd.openxmlformats-officedocument.presentationml.slide+xml"/>
  <Override PartName="/ppt/slides/slide209.xml" ContentType="application/vnd.openxmlformats-officedocument.presentationml.slide+xml"/>
  <Override PartName="/ppt/slides/slide256.xml" ContentType="application/vnd.openxmlformats-officedocument.presentationml.slide+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slides/slide16.xml" ContentType="application/vnd.openxmlformats-officedocument.presentationml.slide+xml"/>
  <Override PartName="/ppt/slides/slide63.xml" ContentType="application/vnd.openxmlformats-officedocument.presentationml.slide+xml"/>
  <Override PartName="/ppt/slides/slide234.xml" ContentType="application/vnd.openxmlformats-officedocument.presentationml.slide+xml"/>
  <Override PartName="/ppt/notesSlides/notesSlide110.xml" ContentType="application/vnd.openxmlformats-officedocument.presentationml.notesSlide+xml"/>
  <Override PartName="/ppt/notesSlides/notesSlide208.xml" ContentType="application/vnd.openxmlformats-officedocument.presentationml.notesSlide+xml"/>
  <Override PartName="/ppt/notesSlides/notesSlide255.xml" ContentType="application/vnd.openxmlformats-officedocument.presentationml.notesSlide+xml"/>
  <Override PartName="/ppt/slides/slide41.xml" ContentType="application/vnd.openxmlformats-officedocument.presentationml.slide+xml"/>
  <Override PartName="/ppt/notesSlides/notesSlide54.xml" ContentType="application/vnd.openxmlformats-officedocument.presentationml.notesSlide+xml"/>
  <Override PartName="/ppt/notesSlides/notesSlide233.xml" ContentType="application/vnd.openxmlformats-officedocument.presentationml.notes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notesSlides/notesSlide32.xml" ContentType="application/vnd.openxmlformats-officedocument.presentationml.notesSlide+xml"/>
  <Override PartName="/ppt/notesSlides/notesSlide148.xml" ContentType="application/vnd.openxmlformats-officedocument.presentationml.notesSlide+xml"/>
  <Override PartName="/ppt/notesSlides/notesSlide195.xml" ContentType="application/vnd.openxmlformats-officedocument.presentationml.notesSlide+xml"/>
  <Override PartName="/ppt/notesSlides/notesSlide211.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104.xml" ContentType="application/vnd.openxmlformats-officedocument.presentationml.notesSlide+xml"/>
  <Override PartName="/ppt/notesSlides/notesSlide151.xml" ContentType="application/vnd.openxmlformats-officedocument.presentationml.notesSlide+xml"/>
  <Override PartName="/ppt/notesSlides/notesSlide249.xml" ContentType="application/vnd.openxmlformats-officedocument.presentationml.notesSlide+xml"/>
  <Override PartName="/ppt/slides/slide130.xml" ContentType="application/vnd.openxmlformats-officedocument.presentationml.slide+xml"/>
  <Override PartName="/ppt/slides/slide228.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slides/slide35.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slides/slide253.xml" ContentType="application/vnd.openxmlformats-officedocument.presentationml.slide+xml"/>
  <Override PartName="/ppt/notesSlides/notesSlide227.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notesSlides/notesSlide26.xml" ContentType="application/vnd.openxmlformats-officedocument.presentationml.notesSlide+xml"/>
  <Override PartName="/ppt/notesSlides/notesSlide73.xml" ContentType="application/vnd.openxmlformats-officedocument.presentationml.notesSlide+xml"/>
  <Override PartName="/ppt/notesSlides/notesSlide205.xml" ContentType="application/vnd.openxmlformats-officedocument.presentationml.notesSlide+xml"/>
  <Override PartName="/ppt/notesSlides/notesSlide252.xml" ContentType="application/vnd.openxmlformats-officedocument.presentationml.notesSlide+xml"/>
  <Override PartName="/ppt/slides/slide168.xml" ContentType="application/vnd.openxmlformats-officedocument.presentationml.slide+xml"/>
  <Override PartName="/ppt/slides/slide231.xml" ContentType="application/vnd.openxmlformats-officedocument.presentationml.slide+xml"/>
  <Override PartName="/ppt/notesSlides/notesSlide51.xml" ContentType="application/vnd.openxmlformats-officedocument.presentationml.notesSlide+xml"/>
  <Override PartName="/ppt/notesSlides/notesSlide189.xml" ContentType="application/vnd.openxmlformats-officedocument.presentationml.notesSlide+xml"/>
  <Override PartName="/ppt/slides/slide157.xml" ContentType="application/vnd.openxmlformats-officedocument.presentationml.slide+xml"/>
  <Override PartName="/ppt/slides/slide220.xml" ContentType="application/vnd.openxmlformats-officedocument.presentationml.slide+xml"/>
  <Override PartName="/ppt/notesSlides/notesSlide40.xml" ContentType="application/vnd.openxmlformats-officedocument.presentationml.notesSlide+xml"/>
  <Override PartName="/ppt/notesSlides/notesSlide167.xml" ContentType="application/vnd.openxmlformats-officedocument.presentationml.notesSlide+xml"/>
  <Override PartName="/ppt/notesSlides/notesSlide230.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notesSlides/notesSlide89.xml" ContentType="application/vnd.openxmlformats-officedocument.presentationml.notesSlide+xml"/>
  <Override PartName="/ppt/notesSlides/notesSlide145.xml" ContentType="application/vnd.openxmlformats-officedocument.presentationml.notesSlide+xml"/>
  <Override PartName="/ppt/notesSlides/notesSlide192.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258.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notesSlides/notesSlide170.xml" ContentType="application/vnd.openxmlformats-officedocument.presentationml.notesSlide+xml"/>
  <Override PartName="/ppt/notesSlides/notesSlide181.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s/slide247.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notesSlides/notesSlide246.xml" ContentType="application/vnd.openxmlformats-officedocument.presentationml.notesSlide+xml"/>
  <Override PartName="/ppt/notesSlides/notesSlide25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notesSlides/notesSlide235.xml" ContentType="application/vnd.openxmlformats-officedocument.presentationml.notesSlide+xml"/>
  <Override PartName="/ppt/slides/slide32.xml" ContentType="application/vnd.openxmlformats-officedocument.presentationml.slide+xml"/>
  <Override PartName="/ppt/slides/slide214.xml" ContentType="application/vnd.openxmlformats-officedocument.presentationml.slide+xml"/>
  <Override PartName="/ppt/slides/slide261.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notesSlides/notesSlide22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97.xml" ContentType="application/vnd.openxmlformats-officedocument.presentationml.notesSlide+xml"/>
  <Override PartName="/ppt/notesSlides/notesSlide213.xml" ContentType="application/vnd.openxmlformats-officedocument.presentationml.notesSlide+xml"/>
  <Override PartName="/ppt/notesSlides/notesSlide260.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notesSlides/notesSlide186.xml" ContentType="application/vnd.openxmlformats-officedocument.presentationml.notesSlide+xml"/>
  <Override PartName="/ppt/notesSlides/notesSlide20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notesSlides/notesSlide175.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slides/slide255.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notesSlides/notesSlide218.xml" ContentType="application/vnd.openxmlformats-officedocument.presentationml.notesSlide+xml"/>
  <Override PartName="/ppt/notesSlides/notesSlide229.xml" ContentType="application/vnd.openxmlformats-officedocument.presentationml.notesSlide+xml"/>
  <Override PartName="/ppt/notesSlides/notesSlide265.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notesSlides/notesSlide207.xml" ContentType="application/vnd.openxmlformats-officedocument.presentationml.notesSlide+xml"/>
  <Override PartName="/ppt/notesSlides/notesSlide254.xml" ContentType="application/vnd.openxmlformats-officedocument.presentationml.notesSlide+xml"/>
  <Override PartName="/ppt/slides/slide51.xml" ContentType="application/vnd.openxmlformats-officedocument.presentationml.slide+xml"/>
  <Override PartName="/ppt/slides/slide233.xml" ContentType="application/vnd.openxmlformats-officedocument.presentationml.slide+xml"/>
  <Override PartName="/ppt/notesSlides/notesSlide53.xml" ContentType="application/vnd.openxmlformats-officedocument.presentationml.notesSlide+xml"/>
  <Override PartName="/ppt/notesSlides/notesSlide24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notesSlides/notesSlide221.xml" ContentType="application/vnd.openxmlformats-officedocument.presentationml.notesSlide+xml"/>
  <Override PartName="/ppt/notesSlides/notesSlide232.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158.xml" ContentType="application/vnd.openxmlformats-officedocument.presentationml.notesSlide+xml"/>
  <Override PartName="/ppt/notesSlides/notesSlide210.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notesSlides/notesSlide147.xml" ContentType="application/vnd.openxmlformats-officedocument.presentationml.notesSlide+xml"/>
  <Override PartName="/ppt/notesSlides/notesSlide194.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notesSlides/notesSlide172.xml" ContentType="application/vnd.openxmlformats-officedocument.presentationml.notesSlide+xml"/>
  <Override PartName="/ppt/notesSlides/notesSlide183.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notesSlides/notesSlide248.xml" ContentType="application/vnd.openxmlformats-officedocument.presentationml.notesSlide+xml"/>
  <Override PartName="/ppt/notesSlides/notesSlide259.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notesSlides/notesSlide237.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slides/slide263.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Override PartName="/ppt/notesSlides/notesSlide22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notesSlides/notesSlide199.xml" ContentType="application/vnd.openxmlformats-officedocument.presentationml.notesSlide+xml"/>
  <Override PartName="/ppt/notesSlides/notesSlide215.xml" ContentType="application/vnd.openxmlformats-officedocument.presentationml.notesSlide+xml"/>
  <Override PartName="/ppt/notesSlides/notesSlide262.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notesSlides/notesSlide188.xml" ContentType="application/vnd.openxmlformats-officedocument.presentationml.notesSlide+xml"/>
  <Override PartName="/ppt/notesSlides/notesSlide204.xml" ContentType="application/vnd.openxmlformats-officedocument.presentationml.notesSlide+xml"/>
  <Override PartName="/ppt/notesSlides/notesSlide240.xml" ContentType="application/vnd.openxmlformats-officedocument.presentationml.notesSlide+xml"/>
  <Override PartName="/ppt/notesSlides/notesSlide251.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notesSlides/notesSlide177.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notesSlides/notesSlide191.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slides/slide257.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notesSlides/notesSlide180.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2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notesSlides/notesSlide209.xml" ContentType="application/vnd.openxmlformats-officedocument.presentationml.notesSlide+xml"/>
  <Override PartName="/ppt/notesSlides/notesSlide256.xml" ContentType="application/vnd.openxmlformats-officedocument.presentationml.notesSlide+xml"/>
  <Override PartName="/ppt/slides/slide53.xml" ContentType="application/vnd.openxmlformats-officedocument.presentationml.slide+xml"/>
  <Override PartName="/ppt/slides/slide235.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notesSlides/notesSlide245.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60.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notesSlides/notesSlide223.xml" ContentType="application/vnd.openxmlformats-officedocument.presentationml.notesSlide+xml"/>
  <Override PartName="/ppt/notesSlides/notesSlide234.xml" ContentType="application/vnd.openxmlformats-officedocument.presentationml.notes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notesSlides/notesSlide212.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Override PartName="/ppt/notesSlides/notesSlide196.xml" ContentType="application/vnd.openxmlformats-officedocument.presentationml.notesSlide+xml"/>
  <Override PartName="/ppt/notesSlides/notesSlide201.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74.xml" ContentType="application/vnd.openxmlformats-officedocument.presentationml.notesSlide+xml"/>
  <Override PartName="/ppt/notesSlides/notesSlide185.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notesSlides/notesSlide116.xml" ContentType="application/vnd.openxmlformats-officedocument.presentationml.notesSlide+xml"/>
  <Override PartName="/ppt/notesSlides/notesSlide163.xml" ContentType="application/vnd.openxmlformats-officedocument.presentationml.notesSlide+xml"/>
  <Override PartName="/ppt/slides/slide58.xml" ContentType="application/vnd.openxmlformats-officedocument.presentationml.slide+xml"/>
  <Override PartName="/ppt/slides/slide229.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228.xml" ContentType="application/vnd.openxmlformats-officedocument.presentationml.notesSlide+xml"/>
  <Override PartName="/ppt/slides/slide207.xml" ContentType="application/vnd.openxmlformats-officedocument.presentationml.slide+xml"/>
  <Override PartName="/ppt/slides/slide254.xml" ContentType="application/vnd.openxmlformats-officedocument.presentationml.slide+xml"/>
  <Override PartName="/ppt/notesSlides/notesSlide27.xml" ContentType="application/vnd.openxmlformats-officedocument.presentationml.notesSlide+xml"/>
  <Override PartName="/ppt/notesSlides/notesSlide74.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notesSlides/notesSlide206.xml" ContentType="application/vnd.openxmlformats-officedocument.presentationml.notesSlide+xml"/>
  <Override PartName="/ppt/notesSlides/notesSlide253.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52.xml" ContentType="application/vnd.openxmlformats-officedocument.presentationml.notesSlide+xml"/>
  <Override PartName="/ppt/notesSlides/notesSlide231.xml" ContentType="application/vnd.openxmlformats-officedocument.presentationml.notesSlide+xml"/>
  <Override PartName="/ppt/slides/slide147.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notesSlides/notesSlide146.xml" ContentType="application/vnd.openxmlformats-officedocument.presentationml.notesSlide+xml"/>
  <Override PartName="/ppt/notesSlides/notesSlide193.xml" ContentType="application/vnd.openxmlformats-officedocument.presentationml.notesSlide+xml"/>
  <Override PartName="/ppt/slides/slide77.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5.xml" ContentType="application/vnd.openxmlformats-officedocument.presentationml.slide+xml"/>
  <Override PartName="/ppt/slides/slide103.xml" ContentType="application/vnd.openxmlformats-officedocument.presentationml.slide+xml"/>
  <Override PartName="/ppt/slides/slide150.xml" ContentType="application/vnd.openxmlformats-officedocument.presentationml.slide+xml"/>
  <Override PartName="/ppt/slides/slide248.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notesSlides/notesSlide102.xml" ContentType="application/vnd.openxmlformats-officedocument.presentationml.notesSlide+xml"/>
  <Override PartName="/ppt/notesSlides/notesSlide247.xml" ContentType="application/vnd.openxmlformats-officedocument.presentationml.notesSlide+xml"/>
  <Override PartName="/ppt/slides/slide33.xml" ContentType="application/vnd.openxmlformats-officedocument.presentationml.slide+xml"/>
  <Override PartName="/ppt/slides/slide80.xml" ContentType="application/vnd.openxmlformats-officedocument.presentationml.slide+xml"/>
  <Override PartName="/ppt/slides/slide226.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notesSlides/notesSlide225.xml" ContentType="application/vnd.openxmlformats-officedocument.presentationml.notesSlide+xml"/>
  <Override PartName="/ppt/presentation.xml" ContentType="application/vnd.openxmlformats-officedocument.presentationml.presentation.main+xml"/>
  <Override PartName="/ppt/slides/slide204.xml" ContentType="application/vnd.openxmlformats-officedocument.presentationml.slide+xml"/>
  <Override PartName="/ppt/slides/slide251.xml" ContentType="application/vnd.openxmlformats-officedocument.presentationml.slide+xml"/>
  <Override PartName="/ppt/notesSlides/notesSlide24.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notesSlides/notesSlide203.xml" ContentType="application/vnd.openxmlformats-officedocument.presentationml.notesSlide+xml"/>
  <Override PartName="/ppt/notesSlides/notesSlide250.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notesSlides/notesSlide187.xml" ContentType="application/vnd.openxmlformats-officedocument.presentationml.notes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slides/slide122.xml" ContentType="application/vnd.openxmlformats-officedocument.presentationml.slide+xml"/>
  <Override PartName="/ppt/notesSlides/notesSlide87.xml" ContentType="application/vnd.openxmlformats-officedocument.presentationml.notesSlide+xml"/>
  <Override PartName="/ppt/notesSlides/notesSlide143.xml" ContentType="application/vnd.openxmlformats-officedocument.presentationml.notesSlide+xml"/>
  <Override PartName="/ppt/notesSlides/notesSlide190.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121.xml" ContentType="application/vnd.openxmlformats-officedocument.presentationml.notesSlide+xml"/>
  <Override PartName="/ppt/notesSlides/notesSlide219.xml" ContentType="application/vnd.openxmlformats-officedocument.presentationml.notesSlide+xml"/>
  <Override PartName="/ppt/slides/slide2.xml" ContentType="application/vnd.openxmlformats-officedocument.presentationml.slide+xml"/>
  <Override PartName="/ppt/slides/slide52.xml" ContentType="application/vnd.openxmlformats-officedocument.presentationml.slide+xml"/>
  <Override PartName="/ppt/slides/slide100.xml" ContentType="application/vnd.openxmlformats-officedocument.presentationml.slide+xml"/>
  <Override PartName="/ppt/slides/slide245.xml" ContentType="application/vnd.openxmlformats-officedocument.presentationml.slide+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244.xml" ContentType="application/vnd.openxmlformats-officedocument.presentationml.notesSlide+xml"/>
  <Override PartName="/ppt/slides/slide223.xml" ContentType="application/vnd.openxmlformats-officedocument.presentationml.slide+xml"/>
  <Override PartName="/ppt/notesSlides/notesSlide43.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notesSlides/notesSlide222.xml" ContentType="application/vnd.openxmlformats-officedocument.presentationml.notes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59.xml" ContentType="application/vnd.openxmlformats-officedocument.presentationml.notesSlide+xml"/>
  <Override PartName="/ppt/notesSlides/notesSlide200.xml" ContentType="application/vnd.openxmlformats-officedocument.presentationml.notesSlide+xml"/>
  <Override PartName="/ppt/notesSlides/notesSlide137.xml" ContentType="application/vnd.openxmlformats-officedocument.presentationml.notesSlide+xml"/>
  <Override PartName="/ppt/notesSlides/notesSlide184.xml" ContentType="application/vnd.openxmlformats-officedocument.presentationml.notes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s/slide141.xml" ContentType="application/vnd.openxmlformats-officedocument.presentationml.slide+xml"/>
  <Override PartName="/ppt/slides/slide239.xml" ContentType="application/vnd.openxmlformats-officedocument.presentationml.slide+xml"/>
  <Override PartName="/ppt/notesSlides/notesSlide59.xml" ContentType="application/vnd.openxmlformats-officedocument.presentationml.notesSlide+xml"/>
  <Override PartName="/ppt/notesSlides/notesSlide115.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217.xml" ContentType="application/vnd.openxmlformats-officedocument.presentationml.slide+xml"/>
  <Override PartName="/ppt/slides/slide264.xml" ContentType="application/vnd.openxmlformats-officedocument.presentationml.slide+xml"/>
  <Override PartName="/ppt/notesSlides/notesSlide140.xml" ContentType="application/vnd.openxmlformats-officedocument.presentationml.notesSlide+xml"/>
  <Override PartName="/ppt/notesSlides/notesSlide238.xml" ContentType="application/vnd.openxmlformats-officedocument.presentationml.notesSlide+xml"/>
  <Override PartName="/ppt/slides/slide24.xml" ContentType="application/vnd.openxmlformats-officedocument.presentationml.slide+xml"/>
  <Override PartName="/ppt/slides/slide71.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notesSlides/notesSlide216.xml" ContentType="application/vnd.openxmlformats-officedocument.presentationml.notesSlide+xml"/>
  <Override PartName="/ppt/notesSlides/notesSlide263.xml" ContentType="application/vnd.openxmlformats-officedocument.presentationml.notesSlide+xml"/>
  <Override PartName="/ppt/slides/slide2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62.xml" ContentType="application/vnd.openxmlformats-officedocument.presentationml.notesSlide+xml"/>
  <Override PartName="/ppt/slides/slide179.xml" ContentType="application/vnd.openxmlformats-officedocument.presentationml.slide+xml"/>
  <Override PartName="/ppt/notesSlides/notesSlide178.xml" ContentType="application/vnd.openxmlformats-officedocument.presentationml.notesSlide+xml"/>
  <Override PartName="/ppt/notesSlides/notesSlide24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67"/>
  </p:notesMasterIdLst>
  <p:sldIdLst>
    <p:sldId id="256" r:id="rId2"/>
    <p:sldId id="257" r:id="rId3"/>
    <p:sldId id="533" r:id="rId4"/>
    <p:sldId id="258" r:id="rId5"/>
    <p:sldId id="259" r:id="rId6"/>
    <p:sldId id="260" r:id="rId7"/>
    <p:sldId id="261" r:id="rId8"/>
    <p:sldId id="262" r:id="rId9"/>
    <p:sldId id="263" r:id="rId10"/>
    <p:sldId id="264" r:id="rId11"/>
    <p:sldId id="265" r:id="rId12"/>
    <p:sldId id="266" r:id="rId13"/>
    <p:sldId id="313" r:id="rId14"/>
    <p:sldId id="455" r:id="rId15"/>
    <p:sldId id="456" r:id="rId16"/>
    <p:sldId id="267" r:id="rId17"/>
    <p:sldId id="268" r:id="rId18"/>
    <p:sldId id="269" r:id="rId19"/>
    <p:sldId id="311" r:id="rId20"/>
    <p:sldId id="312" r:id="rId21"/>
    <p:sldId id="270" r:id="rId22"/>
    <p:sldId id="271" r:id="rId23"/>
    <p:sldId id="314" r:id="rId24"/>
    <p:sldId id="272" r:id="rId25"/>
    <p:sldId id="273" r:id="rId26"/>
    <p:sldId id="464" r:id="rId27"/>
    <p:sldId id="274" r:id="rId28"/>
    <p:sldId id="275" r:id="rId29"/>
    <p:sldId id="279" r:id="rId30"/>
    <p:sldId id="459" r:id="rId31"/>
    <p:sldId id="460" r:id="rId32"/>
    <p:sldId id="458" r:id="rId33"/>
    <p:sldId id="327" r:id="rId34"/>
    <p:sldId id="278" r:id="rId35"/>
    <p:sldId id="326" r:id="rId36"/>
    <p:sldId id="280" r:id="rId37"/>
    <p:sldId id="281" r:id="rId38"/>
    <p:sldId id="457" r:id="rId39"/>
    <p:sldId id="282" r:id="rId40"/>
    <p:sldId id="283" r:id="rId41"/>
    <p:sldId id="316" r:id="rId42"/>
    <p:sldId id="466" r:id="rId43"/>
    <p:sldId id="467" r:id="rId44"/>
    <p:sldId id="468" r:id="rId45"/>
    <p:sldId id="477" r:id="rId46"/>
    <p:sldId id="478" r:id="rId47"/>
    <p:sldId id="479" r:id="rId48"/>
    <p:sldId id="480" r:id="rId49"/>
    <p:sldId id="481" r:id="rId50"/>
    <p:sldId id="284" r:id="rId51"/>
    <p:sldId id="285" r:id="rId52"/>
    <p:sldId id="473" r:id="rId53"/>
    <p:sldId id="474" r:id="rId54"/>
    <p:sldId id="507" r:id="rId55"/>
    <p:sldId id="508" r:id="rId56"/>
    <p:sldId id="509" r:id="rId57"/>
    <p:sldId id="510" r:id="rId58"/>
    <p:sldId id="511" r:id="rId59"/>
    <p:sldId id="286" r:id="rId60"/>
    <p:sldId id="287" r:id="rId61"/>
    <p:sldId id="462" r:id="rId62"/>
    <p:sldId id="461" r:id="rId63"/>
    <p:sldId id="289" r:id="rId64"/>
    <p:sldId id="315" r:id="rId65"/>
    <p:sldId id="465" r:id="rId66"/>
    <p:sldId id="288" r:id="rId67"/>
    <p:sldId id="290" r:id="rId68"/>
    <p:sldId id="291" r:id="rId69"/>
    <p:sldId id="292" r:id="rId70"/>
    <p:sldId id="317" r:id="rId71"/>
    <p:sldId id="470" r:id="rId72"/>
    <p:sldId id="471" r:id="rId73"/>
    <p:sldId id="472" r:id="rId74"/>
    <p:sldId id="318" r:id="rId75"/>
    <p:sldId id="320" r:id="rId76"/>
    <p:sldId id="463" r:id="rId77"/>
    <p:sldId id="487" r:id="rId78"/>
    <p:sldId id="295" r:id="rId79"/>
    <p:sldId id="488" r:id="rId80"/>
    <p:sldId id="489" r:id="rId81"/>
    <p:sldId id="490" r:id="rId82"/>
    <p:sldId id="296" r:id="rId83"/>
    <p:sldId id="298" r:id="rId84"/>
    <p:sldId id="319" r:id="rId85"/>
    <p:sldId id="321" r:id="rId86"/>
    <p:sldId id="323" r:id="rId87"/>
    <p:sldId id="486" r:id="rId88"/>
    <p:sldId id="502" r:id="rId89"/>
    <p:sldId id="503" r:id="rId90"/>
    <p:sldId id="504" r:id="rId91"/>
    <p:sldId id="505" r:id="rId92"/>
    <p:sldId id="506" r:id="rId93"/>
    <p:sldId id="299" r:id="rId94"/>
    <p:sldId id="300" r:id="rId95"/>
    <p:sldId id="501" r:id="rId96"/>
    <p:sldId id="322" r:id="rId97"/>
    <p:sldId id="498" r:id="rId98"/>
    <p:sldId id="499" r:id="rId99"/>
    <p:sldId id="500" r:id="rId100"/>
    <p:sldId id="495" r:id="rId101"/>
    <p:sldId id="302" r:id="rId102"/>
    <p:sldId id="303" r:id="rId103"/>
    <p:sldId id="304" r:id="rId104"/>
    <p:sldId id="512" r:id="rId105"/>
    <p:sldId id="515" r:id="rId106"/>
    <p:sldId id="513" r:id="rId107"/>
    <p:sldId id="514" r:id="rId108"/>
    <p:sldId id="516" r:id="rId109"/>
    <p:sldId id="517" r:id="rId110"/>
    <p:sldId id="518" r:id="rId111"/>
    <p:sldId id="519" r:id="rId112"/>
    <p:sldId id="520" r:id="rId113"/>
    <p:sldId id="521" r:id="rId114"/>
    <p:sldId id="522" r:id="rId115"/>
    <p:sldId id="523" r:id="rId116"/>
    <p:sldId id="305" r:id="rId117"/>
    <p:sldId id="324" r:id="rId118"/>
    <p:sldId id="524" r:id="rId119"/>
    <p:sldId id="306" r:id="rId120"/>
    <p:sldId id="526" r:id="rId121"/>
    <p:sldId id="527" r:id="rId122"/>
    <p:sldId id="528" r:id="rId123"/>
    <p:sldId id="530" r:id="rId124"/>
    <p:sldId id="531" r:id="rId125"/>
    <p:sldId id="532" r:id="rId126"/>
    <p:sldId id="529" r:id="rId127"/>
    <p:sldId id="325" r:id="rId128"/>
    <p:sldId id="525" r:id="rId129"/>
    <p:sldId id="307" r:id="rId130"/>
    <p:sldId id="469" r:id="rId131"/>
    <p:sldId id="308" r:id="rId132"/>
    <p:sldId id="482" r:id="rId133"/>
    <p:sldId id="483" r:id="rId134"/>
    <p:sldId id="484" r:id="rId135"/>
    <p:sldId id="485" r:id="rId136"/>
    <p:sldId id="309" r:id="rId137"/>
    <p:sldId id="310" r:id="rId138"/>
    <p:sldId id="328" r:id="rId139"/>
    <p:sldId id="329" r:id="rId140"/>
    <p:sldId id="330" r:id="rId141"/>
    <p:sldId id="331" r:id="rId142"/>
    <p:sldId id="332" r:id="rId143"/>
    <p:sldId id="333" r:id="rId144"/>
    <p:sldId id="334" r:id="rId145"/>
    <p:sldId id="335" r:id="rId146"/>
    <p:sldId id="336" r:id="rId147"/>
    <p:sldId id="337" r:id="rId148"/>
    <p:sldId id="338" r:id="rId149"/>
    <p:sldId id="339" r:id="rId150"/>
    <p:sldId id="340" r:id="rId151"/>
    <p:sldId id="341" r:id="rId152"/>
    <p:sldId id="342" r:id="rId153"/>
    <p:sldId id="343" r:id="rId154"/>
    <p:sldId id="344" r:id="rId155"/>
    <p:sldId id="345" r:id="rId156"/>
    <p:sldId id="346" r:id="rId157"/>
    <p:sldId id="347" r:id="rId158"/>
    <p:sldId id="348" r:id="rId159"/>
    <p:sldId id="349" r:id="rId160"/>
    <p:sldId id="350" r:id="rId161"/>
    <p:sldId id="351" r:id="rId162"/>
    <p:sldId id="352" r:id="rId163"/>
    <p:sldId id="353" r:id="rId164"/>
    <p:sldId id="354" r:id="rId165"/>
    <p:sldId id="355" r:id="rId166"/>
    <p:sldId id="356" r:id="rId167"/>
    <p:sldId id="357" r:id="rId168"/>
    <p:sldId id="358" r:id="rId169"/>
    <p:sldId id="359" r:id="rId170"/>
    <p:sldId id="360" r:id="rId171"/>
    <p:sldId id="361" r:id="rId172"/>
    <p:sldId id="362" r:id="rId173"/>
    <p:sldId id="363" r:id="rId174"/>
    <p:sldId id="364" r:id="rId175"/>
    <p:sldId id="365" r:id="rId176"/>
    <p:sldId id="366" r:id="rId177"/>
    <p:sldId id="367" r:id="rId178"/>
    <p:sldId id="368" r:id="rId179"/>
    <p:sldId id="369" r:id="rId180"/>
    <p:sldId id="370" r:id="rId181"/>
    <p:sldId id="371" r:id="rId182"/>
    <p:sldId id="372" r:id="rId183"/>
    <p:sldId id="373" r:id="rId184"/>
    <p:sldId id="374" r:id="rId185"/>
    <p:sldId id="375" r:id="rId186"/>
    <p:sldId id="376" r:id="rId187"/>
    <p:sldId id="377" r:id="rId188"/>
    <p:sldId id="378" r:id="rId189"/>
    <p:sldId id="379" r:id="rId190"/>
    <p:sldId id="380" r:id="rId191"/>
    <p:sldId id="381" r:id="rId192"/>
    <p:sldId id="382" r:id="rId193"/>
    <p:sldId id="383" r:id="rId194"/>
    <p:sldId id="384" r:id="rId195"/>
    <p:sldId id="385" r:id="rId196"/>
    <p:sldId id="386" r:id="rId197"/>
    <p:sldId id="387" r:id="rId198"/>
    <p:sldId id="388" r:id="rId199"/>
    <p:sldId id="389" r:id="rId200"/>
    <p:sldId id="390" r:id="rId201"/>
    <p:sldId id="414" r:id="rId202"/>
    <p:sldId id="415" r:id="rId203"/>
    <p:sldId id="416" r:id="rId204"/>
    <p:sldId id="417" r:id="rId205"/>
    <p:sldId id="418" r:id="rId206"/>
    <p:sldId id="419" r:id="rId207"/>
    <p:sldId id="420" r:id="rId208"/>
    <p:sldId id="421" r:id="rId209"/>
    <p:sldId id="423" r:id="rId210"/>
    <p:sldId id="422" r:id="rId211"/>
    <p:sldId id="424" r:id="rId212"/>
    <p:sldId id="425" r:id="rId213"/>
    <p:sldId id="426" r:id="rId214"/>
    <p:sldId id="427" r:id="rId215"/>
    <p:sldId id="428" r:id="rId216"/>
    <p:sldId id="429" r:id="rId217"/>
    <p:sldId id="430" r:id="rId218"/>
    <p:sldId id="431" r:id="rId219"/>
    <p:sldId id="432" r:id="rId220"/>
    <p:sldId id="433" r:id="rId221"/>
    <p:sldId id="434" r:id="rId222"/>
    <p:sldId id="435" r:id="rId223"/>
    <p:sldId id="436" r:id="rId224"/>
    <p:sldId id="437" r:id="rId225"/>
    <p:sldId id="438" r:id="rId226"/>
    <p:sldId id="439" r:id="rId227"/>
    <p:sldId id="440" r:id="rId228"/>
    <p:sldId id="441" r:id="rId229"/>
    <p:sldId id="442" r:id="rId230"/>
    <p:sldId id="443" r:id="rId231"/>
    <p:sldId id="444" r:id="rId232"/>
    <p:sldId id="413" r:id="rId233"/>
    <p:sldId id="391" r:id="rId234"/>
    <p:sldId id="392" r:id="rId235"/>
    <p:sldId id="393" r:id="rId236"/>
    <p:sldId id="394" r:id="rId237"/>
    <p:sldId id="395" r:id="rId238"/>
    <p:sldId id="396" r:id="rId239"/>
    <p:sldId id="397" r:id="rId240"/>
    <p:sldId id="398" r:id="rId241"/>
    <p:sldId id="399" r:id="rId242"/>
    <p:sldId id="400" r:id="rId243"/>
    <p:sldId id="401" r:id="rId244"/>
    <p:sldId id="402" r:id="rId245"/>
    <p:sldId id="403" r:id="rId246"/>
    <p:sldId id="404" r:id="rId247"/>
    <p:sldId id="405" r:id="rId248"/>
    <p:sldId id="406" r:id="rId249"/>
    <p:sldId id="407" r:id="rId250"/>
    <p:sldId id="408" r:id="rId251"/>
    <p:sldId id="409" r:id="rId252"/>
    <p:sldId id="410" r:id="rId253"/>
    <p:sldId id="411" r:id="rId254"/>
    <p:sldId id="412" r:id="rId255"/>
    <p:sldId id="445" r:id="rId256"/>
    <p:sldId id="446" r:id="rId257"/>
    <p:sldId id="447" r:id="rId258"/>
    <p:sldId id="448" r:id="rId259"/>
    <p:sldId id="449" r:id="rId260"/>
    <p:sldId id="450" r:id="rId261"/>
    <p:sldId id="451" r:id="rId262"/>
    <p:sldId id="452" r:id="rId263"/>
    <p:sldId id="453" r:id="rId264"/>
    <p:sldId id="454" r:id="rId265"/>
    <p:sldId id="534" r:id="rId2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58" autoAdjust="0"/>
  </p:normalViewPr>
  <p:slideViewPr>
    <p:cSldViewPr>
      <p:cViewPr varScale="1">
        <p:scale>
          <a:sx n="74" d="100"/>
          <a:sy n="74" d="100"/>
        </p:scale>
        <p:origin x="-104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tableStyles" Target="tableStyle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A7E351-6210-4C95-B793-D58106C84826}" type="datetimeFigureOut">
              <a:rPr lang="en-US" smtClean="0"/>
              <a:pPr/>
              <a:t>1/18/2010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C3E4F-38BB-4828-9030-D815BAF5A8F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65</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66</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67</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68</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70</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71</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72</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73</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74</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75</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76</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77</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80</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81</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82</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84</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85</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86</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87</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88</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89</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90</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91</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92</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93</a:t>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94</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95</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96</a:t>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97</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98</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99</a:t>
            </a:fld>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100</a:t>
            </a:fld>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101</a:t>
            </a:fld>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102</a:t>
            </a:fld>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103</a:t>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104</a:t>
            </a:fld>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105</a:t>
            </a:fld>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106</a:t>
            </a:fld>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107</a:t>
            </a:fld>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108</a:t>
            </a:fld>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109</a:t>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110</a:t>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111</a:t>
            </a:fld>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112</a:t>
            </a:fld>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113</a:t>
            </a:fld>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114</a:t>
            </a:fld>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115</a:t>
            </a:fld>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116</a:t>
            </a:fld>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117</a:t>
            </a:fld>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118</a:t>
            </a:fld>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119</a:t>
            </a:fld>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120</a:t>
            </a:fld>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121</a:t>
            </a:fld>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122</a:t>
            </a:fld>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123</a:t>
            </a:fld>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124</a:t>
            </a:fld>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125</a:t>
            </a:fld>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126</a:t>
            </a:fld>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127</a:t>
            </a:fld>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128</a:t>
            </a:fld>
            <a:endParaRPr 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129</a:t>
            </a:fld>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130</a:t>
            </a:fld>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131</a:t>
            </a:fld>
            <a:endParaRPr 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132</a:t>
            </a:fld>
            <a:endParaRPr 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133</a:t>
            </a:fld>
            <a:endParaRPr 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134</a:t>
            </a:fld>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135</a:t>
            </a:fld>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136</a:t>
            </a:fld>
            <a:endParaRPr 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137</a:t>
            </a:fld>
            <a:endParaRPr 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138</a:t>
            </a:fld>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139</a:t>
            </a:fld>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FC3E4F-38BB-4828-9030-D815BAF5A8F0}" type="slidenum">
              <a:rPr lang="en-US" smtClean="0"/>
              <a:pPr/>
              <a:t>140</a:t>
            </a:fld>
            <a:endParaRPr 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141</a:t>
            </a:fld>
            <a:endParaRPr 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142</a:t>
            </a:fld>
            <a:endParaRPr 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143</a:t>
            </a:fld>
            <a:endParaRPr 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144</a:t>
            </a:fld>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145</a:t>
            </a:fld>
            <a:endParaRPr 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146</a:t>
            </a:fld>
            <a:endParaRPr 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147</a:t>
            </a:fld>
            <a:endParaRPr 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148</a:t>
            </a:fld>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149</a:t>
            </a:fld>
            <a:endParaRPr 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150</a:t>
            </a:fld>
            <a:endParaRPr 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151</a:t>
            </a:fld>
            <a:endParaRPr 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152</a:t>
            </a:fld>
            <a:endParaRPr 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153</a:t>
            </a:fld>
            <a:endParaRPr 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154</a:t>
            </a:fld>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155</a:t>
            </a:fld>
            <a:endParaRPr 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156</a:t>
            </a:fld>
            <a:endParaRPr 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157</a:t>
            </a:fld>
            <a:endParaRPr 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158</a:t>
            </a:fld>
            <a:endParaRPr 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159</a:t>
            </a:fld>
            <a:endParaRPr 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160</a:t>
            </a:fld>
            <a:endParaRPr 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161</a:t>
            </a:fld>
            <a:endParaRPr 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162</a:t>
            </a:fld>
            <a:endParaRPr 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163</a:t>
            </a:fld>
            <a:endParaRPr 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164</a:t>
            </a:fld>
            <a:endParaRPr 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165</a:t>
            </a:fld>
            <a:endParaRPr 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166</a:t>
            </a:fld>
            <a:endParaRPr 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167</a:t>
            </a:fld>
            <a:endParaRPr 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168</a:t>
            </a:fld>
            <a:endParaRPr 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169</a:t>
            </a:fld>
            <a:endParaRPr 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170</a:t>
            </a:fld>
            <a:endParaRPr 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171</a:t>
            </a:fld>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172</a:t>
            </a:fld>
            <a:endParaRPr 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173</a:t>
            </a:fld>
            <a:endParaRPr 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174</a:t>
            </a:fld>
            <a:endParaRPr 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175</a:t>
            </a:fld>
            <a:endParaRPr 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176</a:t>
            </a:fld>
            <a:endParaRPr lang="en-US"/>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177</a:t>
            </a:fld>
            <a:endParaRPr lang="en-US"/>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178</a:t>
            </a:fld>
            <a:endParaRPr lang="en-US"/>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179</a:t>
            </a:fld>
            <a:endParaRPr lang="en-US"/>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180</a:t>
            </a:fld>
            <a:endParaRPr lang="en-US"/>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181</a:t>
            </a:fld>
            <a:endParaRPr 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182</a:t>
            </a:fld>
            <a:endParaRPr lang="en-US"/>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183</a:t>
            </a:fld>
            <a:endParaRPr lang="en-US"/>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184</a:t>
            </a:fld>
            <a:endParaRPr lang="en-US"/>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185</a:t>
            </a:fld>
            <a:endParaRPr lang="en-US"/>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186</a:t>
            </a:fld>
            <a:endParaRPr lang="en-US"/>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187</a:t>
            </a:fld>
            <a:endParaRPr lang="en-US"/>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188</a:t>
            </a:fld>
            <a:endParaRPr lang="en-US"/>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189</a:t>
            </a:fld>
            <a:endParaRPr lang="en-US"/>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190</a:t>
            </a:fld>
            <a:endParaRPr lang="en-US"/>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191</a:t>
            </a:fld>
            <a:endParaRPr lang="en-US"/>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192</a:t>
            </a:fld>
            <a:endParaRPr lang="en-US"/>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193</a:t>
            </a:fld>
            <a:endParaRPr lang="en-US"/>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194</a:t>
            </a:fld>
            <a:endParaRPr lang="en-US"/>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195</a:t>
            </a:fld>
            <a:endParaRPr lang="en-US"/>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196</a:t>
            </a:fld>
            <a:endParaRPr lang="en-US"/>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197</a:t>
            </a:fld>
            <a:endParaRPr lang="en-US"/>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198</a:t>
            </a:fld>
            <a:endParaRPr lang="en-US"/>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199</a:t>
            </a:fld>
            <a:endParaRPr lang="en-US"/>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200</a:t>
            </a:fld>
            <a:endParaRPr lang="en-US"/>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201</a:t>
            </a:fld>
            <a:endParaRPr lang="en-US"/>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202</a:t>
            </a:fld>
            <a:endParaRPr lang="en-US"/>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203</a:t>
            </a:fld>
            <a:endParaRPr lang="en-US"/>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204</a:t>
            </a:fld>
            <a:endParaRPr lang="en-US"/>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205</a:t>
            </a:fld>
            <a:endParaRPr lang="en-US"/>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206</a:t>
            </a:fld>
            <a:endParaRPr lang="en-US"/>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207</a:t>
            </a:fld>
            <a:endParaRPr lang="en-US"/>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208</a:t>
            </a:fld>
            <a:endParaRPr lang="en-US"/>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209</a:t>
            </a:fld>
            <a:endParaRPr lang="en-US"/>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210</a:t>
            </a:fld>
            <a:endParaRPr lang="en-US"/>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211</a:t>
            </a:fld>
            <a:endParaRPr lang="en-US"/>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212</a:t>
            </a:fld>
            <a:endParaRPr lang="en-US"/>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213</a:t>
            </a:fld>
            <a:endParaRPr lang="en-US"/>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214</a:t>
            </a:fld>
            <a:endParaRPr lang="en-US"/>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215</a:t>
            </a:fld>
            <a:endParaRPr lang="en-US"/>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216</a:t>
            </a:fld>
            <a:endParaRPr lang="en-US"/>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217</a:t>
            </a:fld>
            <a:endParaRPr lang="en-US"/>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218</a:t>
            </a:fld>
            <a:endParaRPr lang="en-US"/>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219</a:t>
            </a:fld>
            <a:endParaRPr lang="en-US"/>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220</a:t>
            </a:fld>
            <a:endParaRPr lang="en-US"/>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221</a:t>
            </a:fld>
            <a:endParaRPr lang="en-US"/>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222</a:t>
            </a:fld>
            <a:endParaRPr lang="en-US"/>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223</a:t>
            </a:fld>
            <a:endParaRPr lang="en-US"/>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224</a:t>
            </a:fld>
            <a:endParaRPr lang="en-US"/>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225</a:t>
            </a:fld>
            <a:endParaRPr lang="en-US"/>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226</a:t>
            </a:fld>
            <a:endParaRPr lang="en-US"/>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227</a:t>
            </a:fld>
            <a:endParaRPr lang="en-US"/>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228</a:t>
            </a:fld>
            <a:endParaRPr lang="en-US"/>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229</a:t>
            </a:fld>
            <a:endParaRPr lang="en-US"/>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230</a:t>
            </a:fld>
            <a:endParaRPr lang="en-US"/>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231</a:t>
            </a:fld>
            <a:endParaRPr lang="en-US"/>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232</a:t>
            </a:fld>
            <a:endParaRPr lang="en-US"/>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233</a:t>
            </a:fld>
            <a:endParaRPr lang="en-US"/>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234</a:t>
            </a:fld>
            <a:endParaRPr lang="en-US"/>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235</a:t>
            </a:fld>
            <a:endParaRPr lang="en-US"/>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236</a:t>
            </a:fld>
            <a:endParaRPr lang="en-US"/>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237</a:t>
            </a:fld>
            <a:endParaRPr lang="en-US"/>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238</a:t>
            </a:fld>
            <a:endParaRPr lang="en-US"/>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239</a:t>
            </a:fld>
            <a:endParaRPr lang="en-US"/>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240</a:t>
            </a:fld>
            <a:endParaRPr lang="en-US"/>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241</a:t>
            </a:fld>
            <a:endParaRPr lang="en-US"/>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242</a:t>
            </a:fld>
            <a:endParaRPr lang="en-US"/>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243</a:t>
            </a:fld>
            <a:endParaRPr lang="en-US"/>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244</a:t>
            </a:fld>
            <a:endParaRPr lang="en-US"/>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245</a:t>
            </a:fld>
            <a:endParaRPr lang="en-US"/>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246</a:t>
            </a:fld>
            <a:endParaRPr lang="en-US"/>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247</a:t>
            </a:fld>
            <a:endParaRPr lang="en-US"/>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248</a:t>
            </a:fld>
            <a:endParaRPr lang="en-US"/>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249</a:t>
            </a:fld>
            <a:endParaRPr lang="en-US"/>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250</a:t>
            </a:fld>
            <a:endParaRPr lang="en-US"/>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251</a:t>
            </a:fld>
            <a:endParaRPr lang="en-US"/>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252</a:t>
            </a:fld>
            <a:endParaRPr lang="en-US"/>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253</a:t>
            </a:fld>
            <a:endParaRPr lang="en-US"/>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254</a:t>
            </a:fld>
            <a:endParaRPr lang="en-US"/>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255</a:t>
            </a:fld>
            <a:endParaRPr lang="en-US"/>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256</a:t>
            </a:fld>
            <a:endParaRPr lang="en-US"/>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257</a:t>
            </a:fld>
            <a:endParaRPr lang="en-US"/>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258</a:t>
            </a:fld>
            <a:endParaRPr lang="en-US"/>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259</a:t>
            </a:fld>
            <a:endParaRPr lang="en-US"/>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260</a:t>
            </a:fld>
            <a:endParaRPr lang="en-US"/>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261</a:t>
            </a:fld>
            <a:endParaRPr lang="en-US"/>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262</a:t>
            </a:fld>
            <a:endParaRPr lang="en-US"/>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263</a:t>
            </a:fld>
            <a:endParaRPr lang="en-US"/>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264</a:t>
            </a:fld>
            <a:endParaRPr lang="en-US"/>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FC3E4F-38BB-4828-9030-D815BAF5A8F0}" type="slidenum">
              <a:rPr lang="en-US" smtClean="0"/>
              <a:pPr/>
              <a:t>265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4544AE98-EA5E-4397-8DB9-737BFBC8B5ED}" type="datetime1">
              <a:rPr lang="en-US" smtClean="0"/>
              <a:pPr/>
              <a:t>1/18/2010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fa-IR" smtClean="0"/>
              <a:t>تهيه کننده: مهندس احمدرضا جعفري ، </a:t>
            </a:r>
            <a:r>
              <a:rPr lang="en-US" smtClean="0"/>
              <a:t>www.iransaze.com</a:t>
            </a:r>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0BB1ACB-2087-4CBB-8EBA-B0384AA5291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FEE45D9-6756-49EB-AA7B-341A7D39FB91}" type="datetime1">
              <a:rPr lang="en-US" smtClean="0"/>
              <a:pPr/>
              <a:t>1/18/2010</a:t>
            </a:fld>
            <a:endParaRPr lang="en-US"/>
          </a:p>
        </p:txBody>
      </p:sp>
      <p:sp>
        <p:nvSpPr>
          <p:cNvPr id="5" name="Footer Placeholder 4"/>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6" name="Slide Number Placeholder 5"/>
          <p:cNvSpPr>
            <a:spLocks noGrp="1"/>
          </p:cNvSpPr>
          <p:nvPr>
            <p:ph type="sldNum" sz="quarter" idx="12"/>
          </p:nvPr>
        </p:nvSpPr>
        <p:spPr/>
        <p:txBody>
          <a:bodyPr/>
          <a:lstStyle>
            <a:extLst/>
          </a:lstStyle>
          <a:p>
            <a:fld id="{F0BB1ACB-2087-4CBB-8EBA-B0384AA52919}"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E2F579E-61E4-443D-8359-A0A75E75029E}" type="datetime1">
              <a:rPr lang="en-US" smtClean="0"/>
              <a:pPr/>
              <a:t>1/18/2010</a:t>
            </a:fld>
            <a:endParaRPr lang="en-US"/>
          </a:p>
        </p:txBody>
      </p:sp>
      <p:sp>
        <p:nvSpPr>
          <p:cNvPr id="5" name="Footer Placeholder 4"/>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6" name="Slide Number Placeholder 5"/>
          <p:cNvSpPr>
            <a:spLocks noGrp="1"/>
          </p:cNvSpPr>
          <p:nvPr>
            <p:ph type="sldNum" sz="quarter" idx="12"/>
          </p:nvPr>
        </p:nvSpPr>
        <p:spPr/>
        <p:txBody>
          <a:bodyPr/>
          <a:lstStyle>
            <a:extLst/>
          </a:lstStyle>
          <a:p>
            <a:fld id="{F0BB1ACB-2087-4CBB-8EBA-B0384AA52919}"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523813C-9DE1-4E81-9A1C-F20ECBA229B8}" type="datetime1">
              <a:rPr lang="en-US" smtClean="0"/>
              <a:pPr/>
              <a:t>1/18/2010</a:t>
            </a:fld>
            <a:endParaRPr lang="en-US"/>
          </a:p>
        </p:txBody>
      </p:sp>
      <p:sp>
        <p:nvSpPr>
          <p:cNvPr id="6" name="Footer Placeholder 5"/>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7" name="Slide Number Placeholder 6"/>
          <p:cNvSpPr>
            <a:spLocks noGrp="1"/>
          </p:cNvSpPr>
          <p:nvPr>
            <p:ph type="sldNum" sz="quarter" idx="12"/>
          </p:nvPr>
        </p:nvSpPr>
        <p:spPr/>
        <p:txBody>
          <a:bodyPr/>
          <a:lstStyle>
            <a:extLst/>
          </a:lstStyle>
          <a:p>
            <a:fld id="{F0BB1ACB-2087-4CBB-8EBA-B0384AA52919}"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144926D-C585-4274-A7E4-745ED31C6436}" type="datetime1">
              <a:rPr lang="en-US" smtClean="0"/>
              <a:pPr/>
              <a:t>1/18/2010</a:t>
            </a:fld>
            <a:endParaRPr lang="en-US"/>
          </a:p>
        </p:txBody>
      </p:sp>
      <p:sp>
        <p:nvSpPr>
          <p:cNvPr id="8" name="Footer Placeholder 7"/>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9" name="Slide Number Placeholder 8"/>
          <p:cNvSpPr>
            <a:spLocks noGrp="1"/>
          </p:cNvSpPr>
          <p:nvPr>
            <p:ph type="sldNum" sz="quarter" idx="12"/>
          </p:nvPr>
        </p:nvSpPr>
        <p:spPr/>
        <p:txBody>
          <a:bodyPr/>
          <a:lstStyle>
            <a:extLst/>
          </a:lstStyle>
          <a:p>
            <a:fld id="{F0BB1ACB-2087-4CBB-8EBA-B0384AA52919}"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5DF6DD14-28A5-4BE4-AB49-C650A192F261}" type="datetime1">
              <a:rPr lang="en-US" smtClean="0"/>
              <a:pPr/>
              <a:t>1/18/2010</a:t>
            </a:fld>
            <a:endParaRPr lang="en-US"/>
          </a:p>
        </p:txBody>
      </p:sp>
      <p:sp>
        <p:nvSpPr>
          <p:cNvPr id="4" name="Footer Placeholder 3"/>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5" name="Slide Number Placeholder 4"/>
          <p:cNvSpPr>
            <a:spLocks noGrp="1"/>
          </p:cNvSpPr>
          <p:nvPr>
            <p:ph type="sldNum" sz="quarter" idx="12"/>
          </p:nvPr>
        </p:nvSpPr>
        <p:spPr/>
        <p:txBody>
          <a:bodyPr/>
          <a:lstStyle>
            <a:extLst/>
          </a:lstStyle>
          <a:p>
            <a:fld id="{F0BB1ACB-2087-4CBB-8EBA-B0384AA52919}"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2704461-3F6C-40FE-B2BA-D4D9EFC8C8FA}" type="datetime1">
              <a:rPr lang="en-US" smtClean="0"/>
              <a:pPr/>
              <a:t>1/18/2010</a:t>
            </a:fld>
            <a:endParaRPr lang="en-US"/>
          </a:p>
        </p:txBody>
      </p:sp>
      <p:sp>
        <p:nvSpPr>
          <p:cNvPr id="3" name="Footer Placeholder 2"/>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4" name="Slide Number Placeholder 3"/>
          <p:cNvSpPr>
            <a:spLocks noGrp="1"/>
          </p:cNvSpPr>
          <p:nvPr>
            <p:ph type="sldNum" sz="quarter" idx="12"/>
          </p:nvPr>
        </p:nvSpPr>
        <p:spPr/>
        <p:txBody>
          <a:bodyPr/>
          <a:lstStyle>
            <a:extLst/>
          </a:lstStyle>
          <a:p>
            <a:fld id="{F0BB1ACB-2087-4CBB-8EBA-B0384AA5291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32247560-C575-44DF-8106-E89A50A4E803}" type="datetime1">
              <a:rPr lang="en-US" smtClean="0"/>
              <a:pPr/>
              <a:t>1/18/2010</a:t>
            </a:fld>
            <a:endParaRPr lang="en-US"/>
          </a:p>
        </p:txBody>
      </p:sp>
      <p:sp>
        <p:nvSpPr>
          <p:cNvPr id="6" name="Footer Placeholder 5"/>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7" name="Slide Number Placeholder 6"/>
          <p:cNvSpPr>
            <a:spLocks noGrp="1"/>
          </p:cNvSpPr>
          <p:nvPr>
            <p:ph type="sldNum" sz="quarter" idx="12"/>
          </p:nvPr>
        </p:nvSpPr>
        <p:spPr/>
        <p:txBody>
          <a:bodyPr/>
          <a:lstStyle>
            <a:extLst/>
          </a:lstStyle>
          <a:p>
            <a:fld id="{F0BB1ACB-2087-4CBB-8EBA-B0384AA52919}"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7ED20CED-3147-4463-A9BF-3845158272B8}" type="datetime1">
              <a:rPr lang="en-US" smtClean="0"/>
              <a:pPr/>
              <a:t>1/18/2010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r>
              <a:rPr lang="fa-IR" smtClean="0"/>
              <a:t>تهيه کننده: مهندس احمدرضا جعفري ، </a:t>
            </a:r>
            <a:r>
              <a:rPr lang="en-US" smtClean="0"/>
              <a:t>www.iransaze.com</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0BB1ACB-2087-4CBB-8EBA-B0384AA52919}"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AFEEB5B-A36D-421C-97ED-A2AFB9E9A04D}" type="datetime1">
              <a:rPr lang="en-US" smtClean="0"/>
              <a:pPr/>
              <a:t>1/18/2010</a:t>
            </a:fld>
            <a:endParaRPr lang="en-US"/>
          </a:p>
        </p:txBody>
      </p:sp>
      <p:sp>
        <p:nvSpPr>
          <p:cNvPr id="5" name="Footer Placeholder 4"/>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6" name="Slide Number Placeholder 5"/>
          <p:cNvSpPr>
            <a:spLocks noGrp="1"/>
          </p:cNvSpPr>
          <p:nvPr>
            <p:ph type="sldNum" sz="quarter" idx="12"/>
          </p:nvPr>
        </p:nvSpPr>
        <p:spPr/>
        <p:txBody>
          <a:bodyPr/>
          <a:lstStyle>
            <a:extLst/>
          </a:lstStyle>
          <a:p>
            <a:fld id="{F0BB1ACB-2087-4CBB-8EBA-B0384AA5291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73E6553-5EC0-423F-BEFA-26261DE7F762}" type="datetime1">
              <a:rPr lang="en-US" smtClean="0"/>
              <a:pPr/>
              <a:t>1/18/2010</a:t>
            </a:fld>
            <a:endParaRPr lang="en-US"/>
          </a:p>
        </p:txBody>
      </p:sp>
      <p:sp>
        <p:nvSpPr>
          <p:cNvPr id="5" name="Footer Placeholder 4"/>
          <p:cNvSpPr>
            <a:spLocks noGrp="1"/>
          </p:cNvSpPr>
          <p:nvPr>
            <p:ph type="ftr" sz="quarter" idx="11"/>
          </p:nvPr>
        </p:nvSpPr>
        <p:spPr/>
        <p:txBody>
          <a:bodyPr/>
          <a:lstStyle>
            <a:extLst/>
          </a:lstStyle>
          <a:p>
            <a:r>
              <a:rPr lang="fa-IR" smtClean="0"/>
              <a:t>تهيه کننده: مهندس احمدرضا جعفري ، </a:t>
            </a:r>
            <a:r>
              <a:rPr lang="en-US" smtClean="0"/>
              <a:t>www.iransaze.com</a:t>
            </a:r>
            <a:endParaRPr lang="en-US" dirty="0"/>
          </a:p>
        </p:txBody>
      </p:sp>
      <p:sp>
        <p:nvSpPr>
          <p:cNvPr id="6" name="Slide Number Placeholder 5"/>
          <p:cNvSpPr>
            <a:spLocks noGrp="1"/>
          </p:cNvSpPr>
          <p:nvPr>
            <p:ph type="sldNum" sz="quarter" idx="12"/>
          </p:nvPr>
        </p:nvSpPr>
        <p:spPr/>
        <p:txBody>
          <a:bodyPr/>
          <a:lstStyle>
            <a:extLst/>
          </a:lstStyle>
          <a:p>
            <a:fld id="{F0BB1ACB-2087-4CBB-8EBA-B0384AA5291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76DF8971-086D-4165-B41E-43DBDA158463}" type="datetime1">
              <a:rPr lang="en-US" smtClean="0"/>
              <a:pPr/>
              <a:t>1/18/2010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fa-IR" smtClean="0"/>
              <a:t>تهيه کننده: مهندس احمدرضا جعفري ، </a:t>
            </a:r>
            <a:r>
              <a:rPr lang="en-US" smtClean="0"/>
              <a:t>www.iransaze.com</a:t>
            </a:r>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F0BB1ACB-2087-4CBB-8EBA-B0384AA5291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iransaze.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jafarii.blogfa.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www.deriszadeh.co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www.omran2000.blogfa.com/"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96.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201.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02.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20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20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205.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206.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207.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08.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209.xml"/><Relationship Id="rId1" Type="http://schemas.openxmlformats.org/officeDocument/2006/relationships/slideLayout" Target="../slideLayouts/slideLayout1.xml"/><Relationship Id="rId4" Type="http://schemas.openxmlformats.org/officeDocument/2006/relationships/image" Target="../media/image138.png"/></Relationships>
</file>

<file path=ppt/slides/_rels/slide21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1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12.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13.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214.xml"/><Relationship Id="rId1" Type="http://schemas.openxmlformats.org/officeDocument/2006/relationships/slideLayout" Target="../slideLayouts/slideLayout1.xml"/><Relationship Id="rId4" Type="http://schemas.openxmlformats.org/officeDocument/2006/relationships/image" Target="../media/image143.png"/></Relationships>
</file>

<file path=ppt/slides/_rels/slide21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15.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216.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17.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1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21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220.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21.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22.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23.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24.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225.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26.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227.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228.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229.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230.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31.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256.xml"/><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257.xml"/><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258.xml"/><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259.xml"/><Relationship Id="rId1" Type="http://schemas.openxmlformats.org/officeDocument/2006/relationships/slideLayout" Target="../slideLayouts/slideLayout1.xml"/></Relationships>
</file>

<file path=ppt/slides/_rels/slide260.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260.xml"/><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261.xml"/><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262.xml"/><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263.xml"/><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264.xml"/><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fa-IR" dirty="0" smtClean="0"/>
              <a:t/>
            </a:r>
            <a:br>
              <a:rPr lang="fa-IR" dirty="0" smtClean="0"/>
            </a:br>
            <a:r>
              <a:rPr lang="fa-IR" dirty="0" smtClean="0"/>
              <a:t/>
            </a:r>
            <a:br>
              <a:rPr lang="fa-IR" dirty="0" smtClean="0"/>
            </a:br>
            <a:r>
              <a:rPr lang="fa-IR" dirty="0" smtClean="0"/>
              <a:t/>
            </a:r>
            <a:br>
              <a:rPr lang="fa-IR" dirty="0" smtClean="0"/>
            </a:br>
            <a:r>
              <a:rPr lang="fa-IR" dirty="0" smtClean="0"/>
              <a:t/>
            </a:r>
            <a:br>
              <a:rPr lang="fa-IR" dirty="0" smtClean="0"/>
            </a:br>
            <a:r>
              <a:rPr lang="fa-IR" dirty="0" smtClean="0"/>
              <a:t>دوره آموزشي مبحث هشتم (سازه هاي با مصالح بنايي)</a:t>
            </a:r>
            <a:endParaRPr lang="en-US" dirty="0"/>
          </a:p>
        </p:txBody>
      </p:sp>
      <p:sp>
        <p:nvSpPr>
          <p:cNvPr id="3" name="Subtitle 2"/>
          <p:cNvSpPr>
            <a:spLocks noGrp="1"/>
          </p:cNvSpPr>
          <p:nvPr>
            <p:ph type="subTitle" idx="1"/>
          </p:nvPr>
        </p:nvSpPr>
        <p:spPr/>
        <p:txBody>
          <a:bodyPr>
            <a:normAutofit fontScale="70000" lnSpcReduction="20000"/>
          </a:bodyPr>
          <a:lstStyle/>
          <a:p>
            <a:pPr algn="ctr"/>
            <a:r>
              <a:rPr lang="fa-IR" dirty="0" smtClean="0"/>
              <a:t>ارايه کننده: مهندس احمدرضا جعفري</a:t>
            </a:r>
            <a:endParaRPr lang="en-US" dirty="0" smtClean="0"/>
          </a:p>
          <a:p>
            <a:pPr algn="ctr"/>
            <a:r>
              <a:rPr lang="en-US" dirty="0" smtClean="0">
                <a:hlinkClick r:id="rId3"/>
              </a:rPr>
              <a:t>www.iransaze.com</a:t>
            </a:r>
            <a:endParaRPr lang="en-US" dirty="0" smtClean="0"/>
          </a:p>
          <a:p>
            <a:pPr algn="ctr"/>
            <a:r>
              <a:rPr lang="en-US" dirty="0" smtClean="0">
                <a:hlinkClick r:id="rId4"/>
              </a:rPr>
              <a:t>www.jafarii.blogfa.com</a:t>
            </a:r>
            <a:endParaRPr lang="en-US" dirty="0" smtClean="0"/>
          </a:p>
          <a:p>
            <a:pPr algn="ctr"/>
            <a:r>
              <a:rPr lang="en-US" dirty="0" smtClean="0"/>
              <a:t>arjafari2004@gmail.com</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edg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457200"/>
            <a:ext cx="7772400" cy="5105400"/>
          </a:xfrm>
        </p:spPr>
        <p:txBody>
          <a:bodyPr>
            <a:normAutofit fontScale="90000"/>
          </a:bodyPr>
          <a:lstStyle/>
          <a:p>
            <a:pPr algn="ctr"/>
            <a:r>
              <a:rPr lang="fa-IR" dirty="0" smtClean="0"/>
              <a:t>منابع: </a:t>
            </a:r>
            <a:br>
              <a:rPr lang="fa-IR" dirty="0" smtClean="0"/>
            </a:br>
            <a:r>
              <a:rPr lang="fa-IR" dirty="0" smtClean="0"/>
              <a:t>مبحث هشتم مقررات ملي ساختماني (چاپ 84 ) </a:t>
            </a:r>
            <a:br>
              <a:rPr lang="fa-IR" dirty="0" smtClean="0"/>
            </a:br>
            <a:r>
              <a:rPr lang="fa-IR" dirty="0" smtClean="0"/>
              <a:t>راهنمای تصویری آیین نامه 2800</a:t>
            </a:r>
            <a:br>
              <a:rPr lang="fa-IR" dirty="0" smtClean="0"/>
            </a:br>
            <a:r>
              <a:rPr lang="fa-IR" dirty="0" smtClean="0"/>
              <a:t>(مرکز تحقیقات ساختمان و مسکن)</a:t>
            </a:r>
            <a:br>
              <a:rPr lang="fa-IR" dirty="0" smtClean="0"/>
            </a:br>
            <a:r>
              <a:rPr lang="fa-IR" dirty="0" smtClean="0"/>
              <a:t>تفسیر مفهومی کاربردی آیین نامه 2800</a:t>
            </a:r>
            <a:br>
              <a:rPr lang="fa-IR" dirty="0" smtClean="0"/>
            </a:br>
            <a:r>
              <a:rPr lang="fa-IR" dirty="0" smtClean="0"/>
              <a:t>( جلد سوم ، محمدرضا تابش پور)</a:t>
            </a:r>
            <a:br>
              <a:rPr lang="fa-IR" dirty="0" smtClean="0"/>
            </a:b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685800" y="990600"/>
            <a:ext cx="7854696" cy="3048000"/>
          </a:xfrm>
        </p:spPr>
        <p:txBody>
          <a:bodyPr>
            <a:noAutofit/>
          </a:bodyPr>
          <a:lstStyle/>
          <a:p>
            <a:pPr algn="ctr"/>
            <a:r>
              <a:rPr lang="fa-IR" sz="2800" b="1" dirty="0" smtClean="0"/>
              <a:t>بخشی از مطالب و عکسهای این فایل پاورپوینت از فایلهای پاورپوینت مشابه ساخته شده توسط آقایان محسن دریس زاده و مهدی حیدری کپی شده است که همینجا از این دو عزیز هم تشکر میشود</a:t>
            </a:r>
          </a:p>
          <a:p>
            <a:pPr algn="ctr"/>
            <a:r>
              <a:rPr lang="fa-IR" sz="2800" b="1" dirty="0" smtClean="0"/>
              <a:t>محسن دریس زاده :</a:t>
            </a:r>
          </a:p>
          <a:p>
            <a:pPr algn="ctr"/>
            <a:r>
              <a:rPr lang="en-US" sz="2800" b="1" dirty="0" smtClean="0">
                <a:hlinkClick r:id="rId3"/>
              </a:rPr>
              <a:t>www.deriszadeh.com</a:t>
            </a:r>
            <a:endParaRPr lang="fa-IR" sz="2800" b="1" dirty="0" smtClean="0"/>
          </a:p>
          <a:p>
            <a:pPr algn="ctr"/>
            <a:r>
              <a:rPr lang="fa-IR" sz="2800" b="1" dirty="0" smtClean="0"/>
              <a:t>مهدی حیدری:</a:t>
            </a:r>
          </a:p>
          <a:p>
            <a:pPr algn="ctr"/>
            <a:r>
              <a:rPr lang="en-US" sz="2800" b="1" dirty="0" smtClean="0">
                <a:hlinkClick r:id="rId4"/>
              </a:rPr>
              <a:t>www.omran2000.blogfa.com</a:t>
            </a:r>
            <a:endParaRPr lang="en-US" sz="2800" b="1" dirty="0" smtClean="0"/>
          </a:p>
          <a:p>
            <a:pPr algn="ctr"/>
            <a:endParaRPr lang="en-US" sz="2800" b="1" dirty="0" smtClean="0"/>
          </a:p>
          <a:p>
            <a:pPr algn="ctr"/>
            <a:endParaRPr lang="en-US" sz="2800" b="1" dirty="0" smtClean="0"/>
          </a:p>
          <a:p>
            <a:pPr algn="ctr"/>
            <a:endParaRPr lang="en-US" sz="2800" b="1" dirty="0"/>
          </a:p>
        </p:txBody>
      </p:sp>
    </p:spTree>
  </p:cSld>
  <p:clrMapOvr>
    <a:masterClrMapping/>
  </p:clrMapOvr>
  <p:transition>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838200"/>
            <a:ext cx="7772400" cy="1829761"/>
          </a:xfrm>
        </p:spPr>
        <p:txBody>
          <a:bodyPr>
            <a:normAutofit/>
          </a:bodyPr>
          <a:lstStyle/>
          <a:p>
            <a:pPr algn="ctr"/>
            <a:r>
              <a:rPr lang="fa-IR" dirty="0" smtClean="0"/>
              <a:t>فهرست مطالب</a:t>
            </a:r>
            <a:endParaRPr lang="en-US" dirty="0"/>
          </a:p>
        </p:txBody>
      </p:sp>
      <p:sp>
        <p:nvSpPr>
          <p:cNvPr id="3" name="Subtitle 2"/>
          <p:cNvSpPr>
            <a:spLocks noGrp="1"/>
          </p:cNvSpPr>
          <p:nvPr>
            <p:ph type="subTitle" idx="1"/>
          </p:nvPr>
        </p:nvSpPr>
        <p:spPr>
          <a:xfrm>
            <a:off x="609600" y="3048000"/>
            <a:ext cx="7854696" cy="2257864"/>
          </a:xfrm>
        </p:spPr>
        <p:txBody>
          <a:bodyPr>
            <a:normAutofit lnSpcReduction="10000"/>
          </a:bodyPr>
          <a:lstStyle/>
          <a:p>
            <a:pPr algn="ctr"/>
            <a:r>
              <a:rPr lang="fa-IR" dirty="0" smtClean="0"/>
              <a:t>فصل 1 : ساختمانهای آجری با کلاف</a:t>
            </a:r>
          </a:p>
          <a:p>
            <a:pPr algn="ctr"/>
            <a:r>
              <a:rPr lang="fa-IR" dirty="0" smtClean="0"/>
              <a:t>فصل دوم: ساختمانهای آجری بدون کلاف</a:t>
            </a:r>
          </a:p>
          <a:p>
            <a:pPr algn="ctr"/>
            <a:r>
              <a:rPr lang="fa-IR" dirty="0" smtClean="0"/>
              <a:t>فصل سوم : ساختمانهای خشتی</a:t>
            </a:r>
          </a:p>
          <a:p>
            <a:pPr algn="ctr"/>
            <a:r>
              <a:rPr lang="fa-IR" dirty="0" smtClean="0"/>
              <a:t>فصل چهارم : ساختمانهای سنگی</a:t>
            </a:r>
          </a:p>
          <a:p>
            <a:pPr algn="ctr"/>
            <a:r>
              <a:rPr lang="fa-IR" dirty="0" smtClean="0"/>
              <a:t>فصل پنجم : مصالح</a:t>
            </a:r>
          </a:p>
          <a:p>
            <a:pPr algn="ct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checke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fa-IR" dirty="0" smtClean="0"/>
              <a:t>فصل اول</a:t>
            </a:r>
            <a:endParaRPr lang="en-US" dirty="0"/>
          </a:p>
        </p:txBody>
      </p:sp>
      <p:sp>
        <p:nvSpPr>
          <p:cNvPr id="3" name="Subtitle 2"/>
          <p:cNvSpPr>
            <a:spLocks noGrp="1"/>
          </p:cNvSpPr>
          <p:nvPr>
            <p:ph type="subTitle" idx="1"/>
          </p:nvPr>
        </p:nvSpPr>
        <p:spPr/>
        <p:txBody>
          <a:bodyPr>
            <a:normAutofit/>
          </a:bodyPr>
          <a:lstStyle/>
          <a:p>
            <a:pPr algn="ctr"/>
            <a:r>
              <a:rPr lang="fa-IR" dirty="0" smtClean="0"/>
              <a:t>ساختمانهای آجری با کلاف</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0"/>
            <a:ext cx="7772400" cy="1829761"/>
          </a:xfrm>
        </p:spPr>
        <p:txBody>
          <a:bodyPr>
            <a:normAutofit/>
          </a:bodyPr>
          <a:lstStyle/>
          <a:p>
            <a:pPr algn="ctr"/>
            <a:r>
              <a:rPr lang="fa-IR" sz="2800" dirty="0" smtClean="0"/>
              <a:t>هدف: شکلپذیری بیشتر در مقایسه با ساختمانهای آجری مسلح</a:t>
            </a:r>
            <a:endParaRPr lang="en-US" sz="2800" dirty="0"/>
          </a:p>
        </p:txBody>
      </p:sp>
      <p:sp>
        <p:nvSpPr>
          <p:cNvPr id="3" name="Subtitle 2"/>
          <p:cNvSpPr>
            <a:spLocks noGrp="1"/>
          </p:cNvSpPr>
          <p:nvPr>
            <p:ph type="subTitle" idx="1"/>
          </p:nvPr>
        </p:nvSpPr>
        <p:spPr/>
        <p:txBody>
          <a:bodyPr>
            <a:normAutofit/>
          </a:bodyPr>
          <a:lstStyle/>
          <a:p>
            <a:pPr algn="ctr"/>
            <a:r>
              <a:rPr lang="fa-IR" sz="2800" b="1" dirty="0" smtClean="0">
                <a:effectLst>
                  <a:outerShdw blurRad="31750" dist="25400" dir="5400000" algn="tl" rotWithShape="0">
                    <a:srgbClr val="000000">
                      <a:alpha val="25000"/>
                    </a:srgbClr>
                  </a:outerShdw>
                </a:effectLst>
                <a:latin typeface="+mj-lt"/>
                <a:ea typeface="+mj-ea"/>
                <a:cs typeface="+mj-cs"/>
              </a:rPr>
              <a:t>استفاده از ساختمانهای آجری یا بلوکی مسلح نسبت به ساختمانهای آجری غیرمسلح دارای ارجحیت است</a:t>
            </a:r>
            <a:endParaRPr lang="en-US" sz="2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مشخصات کلی ساختمانهای آجری با کلاف</a:t>
            </a:r>
            <a:endParaRPr lang="en-US" sz="3600" dirty="0"/>
          </a:p>
        </p:txBody>
      </p:sp>
      <p:sp>
        <p:nvSpPr>
          <p:cNvPr id="3" name="Subtitle 2"/>
          <p:cNvSpPr>
            <a:spLocks noGrp="1"/>
          </p:cNvSpPr>
          <p:nvPr>
            <p:ph type="subTitle" idx="1"/>
          </p:nvPr>
        </p:nvSpPr>
        <p:spPr>
          <a:xfrm>
            <a:off x="685800" y="2133600"/>
            <a:ext cx="7772400" cy="2677711"/>
          </a:xfrm>
        </p:spPr>
        <p:txBody>
          <a:bodyPr>
            <a:normAutofit/>
          </a:bodyPr>
          <a:lstStyle/>
          <a:p>
            <a:pPr algn="just" rtl="1"/>
            <a:r>
              <a:rPr lang="fa-IR" sz="2800" b="1" dirty="0" smtClean="0">
                <a:effectLst>
                  <a:outerShdw blurRad="31750" dist="25400" dir="5400000" algn="tl" rotWithShape="0">
                    <a:srgbClr val="000000">
                      <a:alpha val="25000"/>
                    </a:srgbClr>
                  </a:outerShdw>
                </a:effectLst>
                <a:latin typeface="+mj-lt"/>
                <a:ea typeface="+mj-ea"/>
                <a:cs typeface="+mj-cs"/>
              </a:rPr>
              <a:t>- ساختمان با آجر ساخته میشود</a:t>
            </a:r>
          </a:p>
          <a:p>
            <a:pPr algn="just" rtl="1"/>
            <a:r>
              <a:rPr lang="fa-IR" sz="2800" b="1" dirty="0" smtClean="0">
                <a:effectLst>
                  <a:outerShdw blurRad="31750" dist="25400" dir="5400000" algn="tl" rotWithShape="0">
                    <a:srgbClr val="000000">
                      <a:alpha val="25000"/>
                    </a:srgbClr>
                  </a:outerShdw>
                </a:effectLst>
                <a:latin typeface="+mj-lt"/>
                <a:ea typeface="+mj-ea"/>
                <a:cs typeface="+mj-cs"/>
              </a:rPr>
              <a:t>- بارهای قائم و جانبی توسط دیوارها تحمل میشود</a:t>
            </a:r>
          </a:p>
          <a:p>
            <a:pPr algn="just" rtl="1"/>
            <a:r>
              <a:rPr lang="fa-IR" sz="2800" b="1" dirty="0" smtClean="0">
                <a:effectLst>
                  <a:outerShdw blurRad="31750" dist="25400" dir="5400000" algn="tl" rotWithShape="0">
                    <a:srgbClr val="000000">
                      <a:alpha val="25000"/>
                    </a:srgbClr>
                  </a:outerShdw>
                </a:effectLst>
                <a:latin typeface="+mj-lt"/>
                <a:ea typeface="+mj-ea"/>
                <a:cs typeface="+mj-cs"/>
              </a:rPr>
              <a:t>- از کلافبندی جهت یکپارچه عمل کردن ساختمان استفاده میشود</a:t>
            </a:r>
            <a:endParaRPr lang="en-US" sz="2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محدودیت استفاده از این ساختمانها</a:t>
            </a:r>
            <a:endParaRPr lang="en-US" sz="3600" dirty="0"/>
          </a:p>
        </p:txBody>
      </p:sp>
      <p:sp>
        <p:nvSpPr>
          <p:cNvPr id="3" name="Subtitle 2"/>
          <p:cNvSpPr>
            <a:spLocks noGrp="1"/>
          </p:cNvSpPr>
          <p:nvPr>
            <p:ph type="subTitle" idx="1"/>
          </p:nvPr>
        </p:nvSpPr>
        <p:spPr>
          <a:xfrm>
            <a:off x="685800" y="2133600"/>
            <a:ext cx="7772400" cy="2677711"/>
          </a:xfrm>
        </p:spPr>
        <p:txBody>
          <a:bodyPr>
            <a:normAutofit/>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عدم قرارگیری محل احداث ساختمان بر روی زمینهای ناپایدار و یا در معرض سیل</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مطابقت مشخصات مصالح با ضوابط مبحث پنجم مقررات ملی ساختمانی</a:t>
            </a: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الزامات عمومی</a:t>
            </a:r>
            <a:endParaRPr lang="en-US" sz="3600" dirty="0"/>
          </a:p>
        </p:txBody>
      </p:sp>
      <p:sp>
        <p:nvSpPr>
          <p:cNvPr id="3" name="Subtitle 2"/>
          <p:cNvSpPr>
            <a:spLocks noGrp="1"/>
          </p:cNvSpPr>
          <p:nvPr>
            <p:ph type="subTitle" idx="1"/>
          </p:nvPr>
        </p:nvSpPr>
        <p:spPr>
          <a:xfrm>
            <a:off x="685800" y="2133600"/>
            <a:ext cx="7772400" cy="2677711"/>
          </a:xfrm>
        </p:spPr>
        <p:txBody>
          <a:bodyPr>
            <a:normAutofit/>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ضوابط مربوط به پلان ساختمان</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ضوابط مربوط به ارتفاع و تعداد طبقات ساختمان</a:t>
            </a: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محدودیتهای پلان ساختمان</a:t>
            </a:r>
            <a:endParaRPr lang="en-US" sz="3600" dirty="0"/>
          </a:p>
        </p:txBody>
      </p:sp>
      <p:sp>
        <p:nvSpPr>
          <p:cNvPr id="3" name="Subtitle 2"/>
          <p:cNvSpPr>
            <a:spLocks noGrp="1"/>
          </p:cNvSpPr>
          <p:nvPr>
            <p:ph type="subTitle" idx="1"/>
          </p:nvPr>
        </p:nvSpPr>
        <p:spPr>
          <a:xfrm>
            <a:off x="685800" y="2133600"/>
            <a:ext cx="7772400" cy="2677711"/>
          </a:xfrm>
        </p:spPr>
        <p:txBody>
          <a:bodyPr>
            <a:normAutofit/>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طول ساختمان از سه برابر عرض آن یا 25 متر بیشتر نباشد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نسبت به هر دو محور اصلی تقریباً قرینه باشد.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پیشامدگیهای ساختمان از حدود مجاز بیشتر نشود.</a:t>
            </a: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0482" name="Picture 2"/>
          <p:cNvPicPr>
            <a:picLocks noChangeAspect="1" noChangeArrowheads="1"/>
          </p:cNvPicPr>
          <p:nvPr/>
        </p:nvPicPr>
        <p:blipFill>
          <a:blip r:embed="rId3"/>
          <a:srcRect/>
          <a:stretch>
            <a:fillRect/>
          </a:stretch>
        </p:blipFill>
        <p:spPr bwMode="auto">
          <a:xfrm>
            <a:off x="1295400" y="4038600"/>
            <a:ext cx="6391275" cy="1952625"/>
          </a:xfrm>
          <a:prstGeom prst="rect">
            <a:avLst/>
          </a:prstGeom>
          <a:noFill/>
          <a:ln w="9525">
            <a:noFill/>
            <a:miter lim="800000"/>
            <a:headEnd/>
            <a:tailEnd/>
          </a:ln>
          <a:effectLst/>
        </p:spPr>
      </p:pic>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ضوابط پیشامدگیها</a:t>
            </a:r>
            <a:endParaRPr lang="en-US" sz="3600" dirty="0"/>
          </a:p>
        </p:txBody>
      </p:sp>
      <p:sp>
        <p:nvSpPr>
          <p:cNvPr id="3" name="Subtitle 2"/>
          <p:cNvSpPr>
            <a:spLocks noGrp="1"/>
          </p:cNvSpPr>
          <p:nvPr>
            <p:ph type="subTitle" idx="1"/>
          </p:nvPr>
        </p:nvSpPr>
        <p:spPr>
          <a:xfrm>
            <a:off x="685800" y="2133600"/>
            <a:ext cx="7772400" cy="2677711"/>
          </a:xfrm>
        </p:spPr>
        <p:txBody>
          <a:bodyPr>
            <a:normAutofit lnSpcReduction="10000"/>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اندازه پیشامدگی در هر راستایی نباید از یک پنجم بعد ساختمان در همان راستا بیشتر باشد و علاوه بر آن بعد دیگر پیشامدگی نباید از مقدار پیشامده کمتر باشد.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اگر عرض پیشامدگی در قسمت متصل به سازه از نصف عرض سازه به موازات آن بیشتر باشد دیگر آن قسمت پیشامدگی محسوب نمیشود و دیگر محدودیتی برای بعد دیگر وجود ندارد.</a:t>
            </a:r>
          </a:p>
          <a:p>
            <a:pPr algn="just" rtl="1">
              <a:buFontTx/>
              <a:buChar char="-"/>
            </a:pPr>
            <a:endParaRPr lang="fa-IR" sz="2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027" name="Picture 3"/>
          <p:cNvPicPr>
            <a:picLocks noChangeAspect="1" noChangeArrowheads="1"/>
          </p:cNvPicPr>
          <p:nvPr/>
        </p:nvPicPr>
        <p:blipFill>
          <a:blip r:embed="rId3"/>
          <a:srcRect/>
          <a:stretch>
            <a:fillRect/>
          </a:stretch>
        </p:blipFill>
        <p:spPr bwMode="auto">
          <a:xfrm>
            <a:off x="1447800" y="685800"/>
            <a:ext cx="6500813" cy="3186113"/>
          </a:xfrm>
          <a:prstGeom prst="rect">
            <a:avLst/>
          </a:prstGeom>
          <a:noFill/>
          <a:ln w="9525">
            <a:noFill/>
            <a:miter lim="800000"/>
            <a:headEnd/>
            <a:tailEnd/>
          </a:ln>
          <a:effectLst/>
        </p:spPr>
      </p:pic>
      <p:sp>
        <p:nvSpPr>
          <p:cNvPr id="10" name="Subtitle 2"/>
          <p:cNvSpPr>
            <a:spLocks noGrp="1"/>
          </p:cNvSpPr>
          <p:nvPr>
            <p:ph type="subTitle" idx="1"/>
          </p:nvPr>
        </p:nvSpPr>
        <p:spPr>
          <a:xfrm>
            <a:off x="685800" y="4114800"/>
            <a:ext cx="7772400" cy="696511"/>
          </a:xfrm>
        </p:spPr>
        <p:txBody>
          <a:bodyPr>
            <a:normAutofit fontScale="85000" lnSpcReduction="20000"/>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 اگر </a:t>
            </a:r>
            <a:r>
              <a:rPr lang="en-US" sz="2800" b="1" dirty="0" smtClean="0">
                <a:effectLst>
                  <a:outerShdw blurRad="31750" dist="25400" dir="5400000" algn="tl" rotWithShape="0">
                    <a:srgbClr val="000000">
                      <a:alpha val="25000"/>
                    </a:srgbClr>
                  </a:outerShdw>
                </a:effectLst>
                <a:latin typeface="+mj-lt"/>
                <a:ea typeface="+mj-ea"/>
                <a:cs typeface="+mj-cs"/>
              </a:rPr>
              <a:t>d&gt;D/2</a:t>
            </a:r>
            <a:r>
              <a:rPr lang="fa-IR" sz="2800" b="1" dirty="0" smtClean="0">
                <a:effectLst>
                  <a:outerShdw blurRad="31750" dist="25400" dir="5400000" algn="tl" rotWithShape="0">
                    <a:srgbClr val="000000">
                      <a:alpha val="25000"/>
                    </a:srgbClr>
                  </a:outerShdw>
                </a:effectLst>
                <a:latin typeface="+mj-lt"/>
                <a:ea typeface="+mj-ea"/>
                <a:cs typeface="+mj-cs"/>
              </a:rPr>
              <a:t> (در پلان سمت راست) یا </a:t>
            </a:r>
            <a:r>
              <a:rPr lang="en-US" sz="2800" b="1" dirty="0" smtClean="0">
                <a:effectLst>
                  <a:outerShdw blurRad="31750" dist="25400" dir="5400000" algn="tl" rotWithShape="0">
                    <a:srgbClr val="000000">
                      <a:alpha val="25000"/>
                    </a:srgbClr>
                  </a:outerShdw>
                </a:effectLst>
                <a:latin typeface="+mj-lt"/>
                <a:ea typeface="+mj-ea"/>
                <a:cs typeface="+mj-cs"/>
              </a:rPr>
              <a:t>l&gt;L/2</a:t>
            </a:r>
            <a:r>
              <a:rPr lang="fa-IR" sz="2800" b="1" dirty="0" smtClean="0">
                <a:effectLst>
                  <a:outerShdw blurRad="31750" dist="25400" dir="5400000" algn="tl" rotWithShape="0">
                    <a:srgbClr val="000000">
                      <a:alpha val="25000"/>
                    </a:srgbClr>
                  </a:outerShdw>
                </a:effectLst>
                <a:latin typeface="+mj-lt"/>
                <a:ea typeface="+mj-ea"/>
                <a:cs typeface="+mj-cs"/>
              </a:rPr>
              <a:t> ( در پلان سمت چپ ) باشد آنگاه این قسمتها پیشامدگی محسوب نمیشوند</a:t>
            </a:r>
          </a:p>
          <a:p>
            <a:pPr algn="just" rtl="1">
              <a:buFontTx/>
              <a:buChar char="-"/>
            </a:pPr>
            <a:endParaRPr lang="fa-IR" sz="2800" b="1" dirty="0" smtClean="0">
              <a:effectLst>
                <a:outerShdw blurRad="31750" dist="25400" dir="5400000" algn="tl" rotWithShape="0">
                  <a:srgbClr val="000000">
                    <a:alpha val="25000"/>
                  </a:srgbClr>
                </a:outerShdw>
              </a:effectLst>
              <a:latin typeface="+mj-lt"/>
              <a:ea typeface="+mj-ea"/>
              <a:cs typeface="+mj-cs"/>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4" descr="untitle2"/>
          <p:cNvPicPr>
            <a:picLocks noChangeAspect="1" noChangeArrowheads="1"/>
          </p:cNvPicPr>
          <p:nvPr/>
        </p:nvPicPr>
        <p:blipFill>
          <a:blip r:embed="rId3"/>
          <a:srcRect/>
          <a:stretch>
            <a:fillRect/>
          </a:stretch>
        </p:blipFill>
        <p:spPr bwMode="auto">
          <a:xfrm>
            <a:off x="1979613" y="333375"/>
            <a:ext cx="5111750" cy="2768600"/>
          </a:xfrm>
          <a:prstGeom prst="rect">
            <a:avLst/>
          </a:prstGeom>
          <a:noFill/>
          <a:ln w="9525">
            <a:noFill/>
            <a:miter lim="800000"/>
            <a:headEnd/>
            <a:tailEnd/>
          </a:ln>
        </p:spPr>
      </p:pic>
      <p:pic>
        <p:nvPicPr>
          <p:cNvPr id="7" name="Picture 5" descr="Picture 181"/>
          <p:cNvPicPr>
            <a:picLocks noChangeAspect="1" noChangeArrowheads="1"/>
          </p:cNvPicPr>
          <p:nvPr/>
        </p:nvPicPr>
        <p:blipFill>
          <a:blip r:embed="rId4"/>
          <a:srcRect/>
          <a:stretch>
            <a:fillRect/>
          </a:stretch>
        </p:blipFill>
        <p:spPr bwMode="auto">
          <a:xfrm>
            <a:off x="685800" y="3352800"/>
            <a:ext cx="7850187" cy="2840037"/>
          </a:xfrm>
          <a:prstGeom prst="rect">
            <a:avLst/>
          </a:prstGeom>
          <a:noFill/>
          <a:ln w="9525">
            <a:noFill/>
            <a:miter lim="800000"/>
            <a:headEnd/>
            <a:tailEnd/>
          </a:ln>
        </p:spPr>
      </p:pic>
    </p:spTree>
  </p:cSld>
  <p:clrMapOvr>
    <a:masterClrMapping/>
  </p:clrMapOvr>
  <p:transition>
    <p:wedg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026" name="Picture 2"/>
          <p:cNvPicPr>
            <a:picLocks noChangeAspect="1" noChangeArrowheads="1"/>
          </p:cNvPicPr>
          <p:nvPr/>
        </p:nvPicPr>
        <p:blipFill>
          <a:blip r:embed="rId3"/>
          <a:srcRect/>
          <a:stretch>
            <a:fillRect/>
          </a:stretch>
        </p:blipFill>
        <p:spPr bwMode="auto">
          <a:xfrm>
            <a:off x="1219200" y="381000"/>
            <a:ext cx="7253049" cy="2451219"/>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1143000" y="3124200"/>
            <a:ext cx="7381098" cy="2359757"/>
          </a:xfrm>
          <a:prstGeom prst="rect">
            <a:avLst/>
          </a:prstGeom>
          <a:noFill/>
          <a:ln w="9525">
            <a:noFill/>
            <a:miter lim="800000"/>
            <a:headEnd/>
            <a:tailEnd/>
          </a:ln>
          <a:effectLst/>
        </p:spPr>
      </p:pic>
    </p:spTree>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050" name="Picture 2"/>
          <p:cNvPicPr>
            <a:picLocks noChangeAspect="1" noChangeArrowheads="1"/>
          </p:cNvPicPr>
          <p:nvPr/>
        </p:nvPicPr>
        <p:blipFill>
          <a:blip r:embed="rId3"/>
          <a:srcRect/>
          <a:stretch>
            <a:fillRect/>
          </a:stretch>
        </p:blipFill>
        <p:spPr bwMode="auto">
          <a:xfrm>
            <a:off x="1066800" y="609600"/>
            <a:ext cx="6965854" cy="4507318"/>
          </a:xfrm>
          <a:prstGeom prst="rect">
            <a:avLst/>
          </a:prstGeom>
          <a:noFill/>
          <a:ln w="9525">
            <a:noFill/>
            <a:miter lim="800000"/>
            <a:headEnd/>
            <a:tailEnd/>
          </a:ln>
          <a:effectLst/>
        </p:spPr>
      </p:pic>
    </p:spTree>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10" name="Subtitle 2"/>
          <p:cNvSpPr>
            <a:spLocks noGrp="1"/>
          </p:cNvSpPr>
          <p:nvPr>
            <p:ph type="subTitle" idx="1"/>
          </p:nvPr>
        </p:nvSpPr>
        <p:spPr>
          <a:xfrm>
            <a:off x="609600" y="609600"/>
            <a:ext cx="7772400" cy="696511"/>
          </a:xfrm>
        </p:spPr>
        <p:txBody>
          <a:bodyPr>
            <a:normAutofit fontScale="85000" lnSpcReduction="20000"/>
          </a:bodyPr>
          <a:lstStyle/>
          <a:p>
            <a:pPr algn="ctr"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تقسیم ساختمان به قطعات مناسب به وسیله درز انقطاع در صورت عدم رعایت الزامات قسمت قبل</a:t>
            </a:r>
          </a:p>
          <a:p>
            <a:pPr algn="just" rtl="1">
              <a:buFontTx/>
              <a:buChar char="-"/>
            </a:pPr>
            <a:endParaRPr lang="fa-IR" sz="2800" b="1" dirty="0" smtClean="0">
              <a:effectLst>
                <a:outerShdw blurRad="31750" dist="25400" dir="5400000" algn="tl" rotWithShape="0">
                  <a:srgbClr val="000000">
                    <a:alpha val="25000"/>
                  </a:srgbClr>
                </a:outerShdw>
              </a:effectLst>
              <a:latin typeface="+mj-lt"/>
              <a:ea typeface="+mj-ea"/>
              <a:cs typeface="+mj-cs"/>
            </a:endParaRPr>
          </a:p>
        </p:txBody>
      </p:sp>
      <p:pic>
        <p:nvPicPr>
          <p:cNvPr id="2050" name="Picture 2"/>
          <p:cNvPicPr>
            <a:picLocks noChangeAspect="1" noChangeArrowheads="1"/>
          </p:cNvPicPr>
          <p:nvPr/>
        </p:nvPicPr>
        <p:blipFill>
          <a:blip r:embed="rId3"/>
          <a:srcRect/>
          <a:stretch>
            <a:fillRect/>
          </a:stretch>
        </p:blipFill>
        <p:spPr bwMode="auto">
          <a:xfrm>
            <a:off x="685800" y="1295400"/>
            <a:ext cx="7850505" cy="3962400"/>
          </a:xfrm>
          <a:prstGeom prst="rect">
            <a:avLst/>
          </a:prstGeom>
          <a:noFill/>
          <a:ln w="9525">
            <a:noFill/>
            <a:miter lim="800000"/>
            <a:headEnd/>
            <a:tailEnd/>
          </a:ln>
          <a:effectLst/>
        </p:spPr>
      </p:pic>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محدودیت ارتفاع و تعداد طبقات</a:t>
            </a:r>
            <a:endParaRPr lang="en-US" sz="3600" dirty="0"/>
          </a:p>
        </p:txBody>
      </p:sp>
      <p:sp>
        <p:nvSpPr>
          <p:cNvPr id="3" name="Subtitle 2"/>
          <p:cNvSpPr>
            <a:spLocks noGrp="1"/>
          </p:cNvSpPr>
          <p:nvPr>
            <p:ph type="subTitle" idx="1"/>
          </p:nvPr>
        </p:nvSpPr>
        <p:spPr>
          <a:xfrm>
            <a:off x="685800" y="2133600"/>
            <a:ext cx="7772400" cy="2677711"/>
          </a:xfrm>
        </p:spPr>
        <p:txBody>
          <a:bodyPr>
            <a:normAutofit fontScale="77500" lnSpcReduction="20000"/>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حداکثر تعداد طبقات بدون زیرزمین دو طبقه است</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ارتفاع ساختمان از تراز متوسط زمین مجاور نباید از 8 متر بیشتر باشد.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 تراز سقف زیرزمین از زمین مجاور نباید بیشتر از 1.5 متر باشد در غیر این صورت دیگر زیرزمین محسوب نمیشود و آن نیز یکی از طبقات محسوب میشود.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حداکثر ارتفاع هر طبقه ( از روی کلاف زیرین تا زیر سقف) محدود به 4 متر است. در صورت تجاوز از این ارتفاع لازم است که یک کلاف افقی میانی در ارتفاع حداکثر 4 متر از کلاف زیرین اضافه شود، به این ترتیب ارتفاع طبقه تا 6 متر میتواند اضافه شود.</a:t>
            </a: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074" name="Picture 2"/>
          <p:cNvPicPr>
            <a:picLocks noChangeAspect="1" noChangeArrowheads="1"/>
          </p:cNvPicPr>
          <p:nvPr/>
        </p:nvPicPr>
        <p:blipFill>
          <a:blip r:embed="rId3"/>
          <a:srcRect/>
          <a:stretch>
            <a:fillRect/>
          </a:stretch>
        </p:blipFill>
        <p:spPr bwMode="auto">
          <a:xfrm>
            <a:off x="228600" y="228600"/>
            <a:ext cx="8643938" cy="5872163"/>
          </a:xfrm>
          <a:prstGeom prst="rect">
            <a:avLst/>
          </a:prstGeom>
          <a:noFill/>
          <a:ln w="9525">
            <a:noFill/>
            <a:miter lim="800000"/>
            <a:headEnd/>
            <a:tailEnd/>
          </a:ln>
          <a:effectLst/>
        </p:spPr>
      </p:pic>
    </p:spTree>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5" descr="Picture 179"/>
          <p:cNvPicPr>
            <a:picLocks noChangeAspect="1" noChangeArrowheads="1"/>
          </p:cNvPicPr>
          <p:nvPr/>
        </p:nvPicPr>
        <p:blipFill>
          <a:blip r:embed="rId3"/>
          <a:srcRect/>
          <a:stretch>
            <a:fillRect/>
          </a:stretch>
        </p:blipFill>
        <p:spPr bwMode="auto">
          <a:xfrm>
            <a:off x="762000" y="1219200"/>
            <a:ext cx="6697663" cy="4017962"/>
          </a:xfrm>
          <a:prstGeom prst="rect">
            <a:avLst/>
          </a:prstGeom>
          <a:noFill/>
          <a:ln w="9525">
            <a:noFill/>
            <a:miter lim="800000"/>
            <a:headEnd/>
            <a:tailEnd/>
          </a:ln>
        </p:spPr>
      </p:pic>
      <p:sp>
        <p:nvSpPr>
          <p:cNvPr id="6" name="Title 1"/>
          <p:cNvSpPr>
            <a:spLocks noGrp="1"/>
          </p:cNvSpPr>
          <p:nvPr>
            <p:ph type="ctrTitle"/>
          </p:nvPr>
        </p:nvSpPr>
        <p:spPr>
          <a:xfrm>
            <a:off x="914400" y="457200"/>
            <a:ext cx="7772400" cy="685799"/>
          </a:xfrm>
        </p:spPr>
        <p:txBody>
          <a:bodyPr>
            <a:noAutofit/>
          </a:bodyPr>
          <a:lstStyle/>
          <a:p>
            <a:pPr algn="ctr"/>
            <a:r>
              <a:rPr lang="fa-IR" sz="3600" dirty="0" smtClean="0"/>
              <a:t>محدودیت ارتفاع و تعداد طبقات</a:t>
            </a:r>
            <a:endParaRPr lang="en-US" sz="3600"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914400" y="457200"/>
            <a:ext cx="7772400" cy="685799"/>
          </a:xfrm>
        </p:spPr>
        <p:txBody>
          <a:bodyPr>
            <a:noAutofit/>
          </a:bodyPr>
          <a:lstStyle/>
          <a:p>
            <a:pPr algn="ctr"/>
            <a:r>
              <a:rPr lang="fa-IR" sz="3600" u="sng" dirty="0" smtClean="0">
                <a:cs typeface="B Titr" pitchFamily="2" charset="-78"/>
              </a:rPr>
              <a:t>حداکثر ارتفاع طبقه</a:t>
            </a:r>
            <a:r>
              <a:rPr lang="fa-IR" sz="3600" dirty="0" smtClean="0"/>
              <a:t> </a:t>
            </a:r>
            <a:endParaRPr lang="en-US" sz="3600" dirty="0"/>
          </a:p>
        </p:txBody>
      </p:sp>
      <p:pic>
        <p:nvPicPr>
          <p:cNvPr id="7" name="Picture 4" descr="Picture 178"/>
          <p:cNvPicPr>
            <a:picLocks noChangeAspect="1" noChangeArrowheads="1"/>
          </p:cNvPicPr>
          <p:nvPr/>
        </p:nvPicPr>
        <p:blipFill>
          <a:blip r:embed="rId3"/>
          <a:srcRect/>
          <a:stretch>
            <a:fillRect/>
          </a:stretch>
        </p:blipFill>
        <p:spPr bwMode="auto">
          <a:xfrm>
            <a:off x="1447800" y="1600200"/>
            <a:ext cx="6400800" cy="3200400"/>
          </a:xfrm>
          <a:prstGeom prst="rect">
            <a:avLst/>
          </a:prstGeom>
          <a:noFill/>
          <a:ln w="9525">
            <a:noFill/>
            <a:miter lim="800000"/>
            <a:headEnd/>
            <a:tailEnd/>
          </a:ln>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ضوابط پیشامدگی سقف</a:t>
            </a:r>
            <a:endParaRPr lang="en-US" sz="3600" dirty="0"/>
          </a:p>
        </p:txBody>
      </p:sp>
      <p:sp>
        <p:nvSpPr>
          <p:cNvPr id="3" name="Subtitle 2"/>
          <p:cNvSpPr>
            <a:spLocks noGrp="1"/>
          </p:cNvSpPr>
          <p:nvPr>
            <p:ph type="subTitle" idx="1"/>
          </p:nvPr>
        </p:nvSpPr>
        <p:spPr>
          <a:xfrm>
            <a:off x="685800" y="2133600"/>
            <a:ext cx="7772400" cy="2677711"/>
          </a:xfrm>
        </p:spPr>
        <p:txBody>
          <a:bodyPr>
            <a:normAutofit fontScale="92500" lnSpcReduction="20000"/>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طول پیشامده طره در مورد بالکنهای سه طرف باز از 1.2 متر و برای بالکنهای دوطرف باز از 1.5 متر تجاوز نکند و طره ها در سقف به خوبی مهارشوند.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 در صورت تجاوز طول طره ها از موارد فوق لازم است که اثر نیروی قائم زلزله در طراحی طره ها مطابق مبحث ششم دیده شود.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روی هیچ قسمت پیشامده نباید دیواری ساخته شود. ساخت جان پناه با ارتفاع حداکثر 70 سانتیمتر منعی ندارد.</a:t>
            </a: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4098" name="Picture 2"/>
          <p:cNvPicPr>
            <a:picLocks noChangeAspect="1" noChangeArrowheads="1"/>
          </p:cNvPicPr>
          <p:nvPr/>
        </p:nvPicPr>
        <p:blipFill>
          <a:blip r:embed="rId3"/>
          <a:srcRect/>
          <a:stretch>
            <a:fillRect/>
          </a:stretch>
        </p:blipFill>
        <p:spPr bwMode="auto">
          <a:xfrm>
            <a:off x="228600" y="990600"/>
            <a:ext cx="8386763" cy="4886325"/>
          </a:xfrm>
          <a:prstGeom prst="rect">
            <a:avLst/>
          </a:prstGeom>
          <a:noFill/>
          <a:ln w="9525">
            <a:noFill/>
            <a:miter lim="800000"/>
            <a:headEnd/>
            <a:tailEnd/>
          </a:ln>
          <a:effectLst/>
        </p:spPr>
      </p:pic>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ضوابط پیشامدگی سقف</a:t>
            </a:r>
            <a:endParaRPr lang="en-US" sz="3600"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ضوابط پیشامدگی سقف</a:t>
            </a:r>
            <a:endParaRPr lang="en-US" sz="3600" dirty="0"/>
          </a:p>
        </p:txBody>
      </p:sp>
      <p:pic>
        <p:nvPicPr>
          <p:cNvPr id="6" name="Picture 4" descr="Picture 182"/>
          <p:cNvPicPr>
            <a:picLocks noChangeAspect="1" noChangeArrowheads="1"/>
          </p:cNvPicPr>
          <p:nvPr/>
        </p:nvPicPr>
        <p:blipFill>
          <a:blip r:embed="rId3"/>
          <a:srcRect/>
          <a:stretch>
            <a:fillRect/>
          </a:stretch>
        </p:blipFill>
        <p:spPr bwMode="auto">
          <a:xfrm>
            <a:off x="762000" y="1085850"/>
            <a:ext cx="7632700" cy="5772150"/>
          </a:xfrm>
          <a:prstGeom prst="rect">
            <a:avLst/>
          </a:prstGeom>
          <a:noFill/>
          <a:ln w="9525">
            <a:noFill/>
            <a:miter lim="800000"/>
            <a:headEnd/>
            <a:tailEnd/>
          </a:ln>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اختلاف سطح در طبقه</a:t>
            </a:r>
            <a:endParaRPr lang="en-US" sz="3600" dirty="0"/>
          </a:p>
        </p:txBody>
      </p:sp>
      <p:sp>
        <p:nvSpPr>
          <p:cNvPr id="3" name="Subtitle 2"/>
          <p:cNvSpPr>
            <a:spLocks noGrp="1"/>
          </p:cNvSpPr>
          <p:nvPr>
            <p:ph type="subTitle" idx="1"/>
          </p:nvPr>
        </p:nvSpPr>
        <p:spPr>
          <a:xfrm>
            <a:off x="685800" y="2133600"/>
            <a:ext cx="7772400" cy="2677711"/>
          </a:xfrm>
        </p:spPr>
        <p:txBody>
          <a:bodyPr>
            <a:normAutofit/>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حتی المقدور از ایجاد اختلاف سطح در طبقه باید احتراز شود. در صورت اختلاف سطح در طبقه ، باید دیوارهای حد فاصل دو قسمتی که اختلاف سطح دارند با کلافبندی مناسب تقویت شوند و یا اینکه دو قسمت ساختمان بوسیله درز انقطاع از یکدیگر جدا شوند.</a:t>
            </a:r>
          </a:p>
          <a:p>
            <a:pPr algn="just" rtl="1"/>
            <a:endParaRPr lang="fa-IR" sz="2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dirty="0" smtClean="0"/>
              <a:t>اختلاف سطح در طبقه</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122" name="Picture 2"/>
          <p:cNvPicPr>
            <a:picLocks noChangeAspect="1" noChangeArrowheads="1"/>
          </p:cNvPicPr>
          <p:nvPr/>
        </p:nvPicPr>
        <p:blipFill>
          <a:blip r:embed="rId3"/>
          <a:srcRect/>
          <a:stretch>
            <a:fillRect/>
          </a:stretch>
        </p:blipFill>
        <p:spPr bwMode="auto">
          <a:xfrm>
            <a:off x="533400" y="1143000"/>
            <a:ext cx="8129588" cy="4786313"/>
          </a:xfrm>
          <a:prstGeom prst="rect">
            <a:avLst/>
          </a:prstGeom>
          <a:noFill/>
          <a:ln w="9525">
            <a:noFill/>
            <a:miter lim="800000"/>
            <a:headEnd/>
            <a:tailEnd/>
          </a:ln>
          <a:effec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dirty="0" smtClean="0"/>
              <a:t>اختلاف سطح در طبقه</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0242" name="Picture 2"/>
          <p:cNvPicPr>
            <a:picLocks noChangeAspect="1" noChangeArrowheads="1"/>
          </p:cNvPicPr>
          <p:nvPr/>
        </p:nvPicPr>
        <p:blipFill>
          <a:blip r:embed="rId3"/>
          <a:srcRect/>
          <a:stretch>
            <a:fillRect/>
          </a:stretch>
        </p:blipFill>
        <p:spPr bwMode="auto">
          <a:xfrm>
            <a:off x="381000" y="1143000"/>
            <a:ext cx="8312500" cy="5538110"/>
          </a:xfrm>
          <a:prstGeom prst="rect">
            <a:avLst/>
          </a:prstGeom>
          <a:noFill/>
          <a:ln w="9525">
            <a:noFill/>
            <a:miter lim="800000"/>
            <a:headEnd/>
            <a:tailEnd/>
          </a:ln>
          <a:effec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dirty="0" smtClean="0"/>
              <a:t>الزامات کلی در مورد سازه </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146" name="Picture 2"/>
          <p:cNvPicPr>
            <a:picLocks noChangeAspect="1" noChangeArrowheads="1"/>
          </p:cNvPicPr>
          <p:nvPr/>
        </p:nvPicPr>
        <p:blipFill>
          <a:blip r:embed="rId3"/>
          <a:srcRect/>
          <a:stretch>
            <a:fillRect/>
          </a:stretch>
        </p:blipFill>
        <p:spPr bwMode="auto">
          <a:xfrm>
            <a:off x="228600" y="1219200"/>
            <a:ext cx="8486775" cy="4857750"/>
          </a:xfrm>
          <a:prstGeom prst="rect">
            <a:avLst/>
          </a:prstGeom>
          <a:noFill/>
          <a:ln w="9525">
            <a:noFill/>
            <a:miter lim="800000"/>
            <a:headEnd/>
            <a:tailEnd/>
          </a:ln>
          <a:effectLst/>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الزامات کلی شالوده ها</a:t>
            </a:r>
            <a:endParaRPr lang="en-US" sz="3600" dirty="0"/>
          </a:p>
        </p:txBody>
      </p:sp>
      <p:sp>
        <p:nvSpPr>
          <p:cNvPr id="3" name="Subtitle 2"/>
          <p:cNvSpPr>
            <a:spLocks noGrp="1"/>
          </p:cNvSpPr>
          <p:nvPr>
            <p:ph type="subTitle" idx="1"/>
          </p:nvPr>
        </p:nvSpPr>
        <p:spPr>
          <a:xfrm>
            <a:off x="685800" y="2133600"/>
            <a:ext cx="7772400" cy="2677711"/>
          </a:xfrm>
        </p:spPr>
        <p:txBody>
          <a:bodyPr>
            <a:normAutofit fontScale="70000" lnSpcReduction="20000"/>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شالوده ها باید در یک تراز ساخته شوند و یا هر بخش از شالوده بر روی یک تراز باشد. ساخت شالوده شیبدار مجاز نیست</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در زمینهای شیبدار باید شالوده را به صورت پلکانی ساخت. در این حالت شالوده ها باید به اندازه 50 سانتیمتر همپوشانی داشته باشند و ارتفاع هر پله بیش از 30 سانتیمتر نباشد.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برای دیوارهای باربر عرض شالوده نواری باید حداقل 1.5 برابر عرض کرسی چینی و عمق حداقل 50 سانتیمتر باشد.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شالوده باید بتنی باشد و یا از شفته آهک با عیار 350 کیلوگرم آهک در متر مکعب شفته و یا سنگ لاشه با یکی از ملاتهای گل آهک ، باتارد یا ماسه سیمان ساخته شود.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در مناطق سردسیر تراز روی شالوده حداقل 40 سانتیمتر زیر سطح زمین قرار گیرد.</a:t>
            </a:r>
          </a:p>
          <a:p>
            <a:pPr algn="just" rtl="1">
              <a:buFontTx/>
              <a:buChar char="-"/>
            </a:pPr>
            <a:endParaRPr lang="fa-IR" sz="2800" b="1" dirty="0" smtClean="0">
              <a:effectLst>
                <a:outerShdw blurRad="31750" dist="25400" dir="5400000" algn="tl" rotWithShape="0">
                  <a:srgbClr val="000000">
                    <a:alpha val="25000"/>
                  </a:srgbClr>
                </a:outerShdw>
              </a:effectLst>
              <a:latin typeface="+mj-lt"/>
              <a:ea typeface="+mj-ea"/>
              <a:cs typeface="+mj-cs"/>
            </a:endParaRPr>
          </a:p>
          <a:p>
            <a:pPr algn="just" rtl="1"/>
            <a:endParaRPr lang="fa-IR" sz="2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609600"/>
            <a:ext cx="7772400" cy="685799"/>
          </a:xfrm>
        </p:spPr>
        <p:txBody>
          <a:bodyPr>
            <a:noAutofit/>
          </a:bodyPr>
          <a:lstStyle/>
          <a:p>
            <a:pPr algn="ctr"/>
            <a:r>
              <a:rPr lang="fa-IR" sz="3600" dirty="0" smtClean="0"/>
              <a:t>نحوه قرارگیری شالوده بر روی زمین شیبدار</a:t>
            </a:r>
            <a:br>
              <a:rPr lang="fa-IR" sz="3600" dirty="0" smtClean="0"/>
            </a:br>
            <a:r>
              <a:rPr lang="fa-IR" sz="3600" dirty="0" smtClean="0"/>
              <a:t>(نحوه نامطلوب)</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4098" name="Picture 2"/>
          <p:cNvPicPr>
            <a:picLocks noChangeAspect="1" noChangeArrowheads="1"/>
          </p:cNvPicPr>
          <p:nvPr/>
        </p:nvPicPr>
        <p:blipFill>
          <a:blip r:embed="rId3"/>
          <a:srcRect/>
          <a:stretch>
            <a:fillRect/>
          </a:stretch>
        </p:blipFill>
        <p:spPr bwMode="auto">
          <a:xfrm>
            <a:off x="1371600" y="1524000"/>
            <a:ext cx="6170732" cy="3341464"/>
          </a:xfrm>
          <a:prstGeom prst="rect">
            <a:avLst/>
          </a:prstGeom>
          <a:noFill/>
          <a:ln w="9525">
            <a:noFill/>
            <a:miter lim="800000"/>
            <a:headEnd/>
            <a:tailEnd/>
          </a:ln>
          <a:effectLst/>
        </p:spPr>
      </p:pic>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609600"/>
            <a:ext cx="7772400" cy="685799"/>
          </a:xfrm>
        </p:spPr>
        <p:txBody>
          <a:bodyPr>
            <a:noAutofit/>
          </a:bodyPr>
          <a:lstStyle/>
          <a:p>
            <a:pPr algn="ctr"/>
            <a:r>
              <a:rPr lang="fa-IR" sz="3600" dirty="0" smtClean="0"/>
              <a:t>نحوه قرارگیری شالوده بر روی زمین شیبدار</a:t>
            </a:r>
            <a:br>
              <a:rPr lang="fa-IR" sz="3600" dirty="0" smtClean="0"/>
            </a:br>
            <a:r>
              <a:rPr lang="fa-IR" sz="3600" dirty="0" smtClean="0"/>
              <a:t>(نحوه مطلوب)</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122" name="Picture 2"/>
          <p:cNvPicPr>
            <a:picLocks noChangeAspect="1" noChangeArrowheads="1"/>
          </p:cNvPicPr>
          <p:nvPr/>
        </p:nvPicPr>
        <p:blipFill>
          <a:blip r:embed="rId3"/>
          <a:srcRect/>
          <a:stretch>
            <a:fillRect/>
          </a:stretch>
        </p:blipFill>
        <p:spPr bwMode="auto">
          <a:xfrm>
            <a:off x="304800" y="1447800"/>
            <a:ext cx="8695122" cy="3402440"/>
          </a:xfrm>
          <a:prstGeom prst="rect">
            <a:avLst/>
          </a:prstGeom>
          <a:noFill/>
          <a:ln w="9525">
            <a:noFill/>
            <a:miter lim="800000"/>
            <a:headEnd/>
            <a:tailEnd/>
          </a:ln>
          <a:effectLst/>
        </p:spPr>
      </p:pic>
    </p:spTree>
  </p:cSld>
  <p:clrMapOvr>
    <a:masterClrMapping/>
  </p:clrMapOvr>
  <p:transition>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609600"/>
            <a:ext cx="7772400" cy="685799"/>
          </a:xfrm>
        </p:spPr>
        <p:txBody>
          <a:bodyPr>
            <a:noAutofit/>
          </a:bodyPr>
          <a:lstStyle/>
          <a:p>
            <a:pPr algn="ctr"/>
            <a:r>
              <a:rPr lang="fa-IR" sz="3600" dirty="0" smtClean="0"/>
              <a:t>نحوه قرارگیری شالوده بر روی زمین شیبدار</a:t>
            </a:r>
            <a:br>
              <a:rPr lang="fa-IR" sz="3600" dirty="0" smtClean="0"/>
            </a:br>
            <a:r>
              <a:rPr lang="fa-IR" sz="3600" dirty="0" smtClean="0"/>
              <a:t>(نحوه قابل قبول)</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146" name="Picture 2"/>
          <p:cNvPicPr>
            <a:picLocks noChangeAspect="1" noChangeArrowheads="1"/>
          </p:cNvPicPr>
          <p:nvPr/>
        </p:nvPicPr>
        <p:blipFill>
          <a:blip r:embed="rId3"/>
          <a:srcRect/>
          <a:stretch>
            <a:fillRect/>
          </a:stretch>
        </p:blipFill>
        <p:spPr bwMode="auto">
          <a:xfrm>
            <a:off x="1066800" y="1600200"/>
            <a:ext cx="6951220" cy="3182926"/>
          </a:xfrm>
          <a:prstGeom prst="rect">
            <a:avLst/>
          </a:prstGeom>
          <a:noFill/>
          <a:ln w="9525">
            <a:noFill/>
            <a:miter lim="800000"/>
            <a:headEnd/>
            <a:tailEnd/>
          </a:ln>
          <a:effectLst/>
        </p:spPr>
      </p:pic>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609600"/>
            <a:ext cx="7772400" cy="685799"/>
          </a:xfrm>
        </p:spPr>
        <p:txBody>
          <a:bodyPr>
            <a:noAutofit/>
          </a:bodyPr>
          <a:lstStyle/>
          <a:p>
            <a:pPr algn="ctr"/>
            <a:r>
              <a:rPr lang="fa-IR" sz="3600" dirty="0" smtClean="0"/>
              <a:t>اجرای شالوده پلکانی</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7170" name="Picture 2"/>
          <p:cNvPicPr>
            <a:picLocks noChangeAspect="1" noChangeArrowheads="1"/>
          </p:cNvPicPr>
          <p:nvPr/>
        </p:nvPicPr>
        <p:blipFill>
          <a:blip r:embed="rId3"/>
          <a:srcRect/>
          <a:stretch>
            <a:fillRect/>
          </a:stretch>
        </p:blipFill>
        <p:spPr bwMode="auto">
          <a:xfrm>
            <a:off x="0" y="1295400"/>
            <a:ext cx="8672513" cy="3743325"/>
          </a:xfrm>
          <a:prstGeom prst="rect">
            <a:avLst/>
          </a:prstGeom>
          <a:noFill/>
          <a:ln w="9525">
            <a:noFill/>
            <a:miter lim="800000"/>
            <a:headEnd/>
            <a:tailEnd/>
          </a:ln>
          <a:effectLst/>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dirty="0" smtClean="0"/>
              <a:t>اجرای پی نواری زیر دیوار</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grpSp>
        <p:nvGrpSpPr>
          <p:cNvPr id="5" name="Group 10"/>
          <p:cNvGrpSpPr>
            <a:grpSpLocks/>
          </p:cNvGrpSpPr>
          <p:nvPr/>
        </p:nvGrpSpPr>
        <p:grpSpPr bwMode="auto">
          <a:xfrm>
            <a:off x="1676400" y="1447800"/>
            <a:ext cx="5543550" cy="4554538"/>
            <a:chOff x="1156" y="618"/>
            <a:chExt cx="3492" cy="2869"/>
          </a:xfrm>
        </p:grpSpPr>
        <p:pic>
          <p:nvPicPr>
            <p:cNvPr id="6" name="Picture 7"/>
            <p:cNvPicPr>
              <a:picLocks noChangeAspect="1" noChangeArrowheads="1"/>
            </p:cNvPicPr>
            <p:nvPr/>
          </p:nvPicPr>
          <p:blipFill>
            <a:blip r:embed="rId3"/>
            <a:srcRect/>
            <a:stretch>
              <a:fillRect/>
            </a:stretch>
          </p:blipFill>
          <p:spPr bwMode="auto">
            <a:xfrm>
              <a:off x="1156" y="618"/>
              <a:ext cx="3492" cy="2869"/>
            </a:xfrm>
            <a:prstGeom prst="rect">
              <a:avLst/>
            </a:prstGeom>
            <a:noFill/>
            <a:ln w="9525">
              <a:solidFill>
                <a:srgbClr val="000000"/>
              </a:solidFill>
              <a:miter lim="800000"/>
              <a:headEnd/>
              <a:tailEnd/>
            </a:ln>
          </p:spPr>
        </p:pic>
        <p:sp>
          <p:nvSpPr>
            <p:cNvPr id="7" name="Text Box 9"/>
            <p:cNvSpPr txBox="1">
              <a:spLocks noChangeArrowheads="1"/>
            </p:cNvSpPr>
            <p:nvPr/>
          </p:nvSpPr>
          <p:spPr bwMode="auto">
            <a:xfrm>
              <a:off x="1247" y="981"/>
              <a:ext cx="771" cy="231"/>
            </a:xfrm>
            <a:prstGeom prst="rect">
              <a:avLst/>
            </a:prstGeom>
            <a:noFill/>
            <a:ln w="9525">
              <a:noFill/>
              <a:miter lim="800000"/>
              <a:headEnd/>
              <a:tailEnd/>
            </a:ln>
          </p:spPr>
          <p:txBody>
            <a:bodyPr>
              <a:spAutoFit/>
            </a:bodyPr>
            <a:lstStyle/>
            <a:p>
              <a:pPr>
                <a:spcBef>
                  <a:spcPct val="50000"/>
                </a:spcBef>
              </a:pPr>
              <a:r>
                <a:rPr lang="en-US" b="1">
                  <a:solidFill>
                    <a:schemeClr val="bg2"/>
                  </a:solidFill>
                </a:rPr>
                <a:t>B&gt;1.5W</a:t>
              </a:r>
            </a:p>
          </p:txBody>
        </p:sp>
      </p:gr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amond(in)">
                                      <p:cBhvr>
                                        <p:cTn id="12" dur="20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الزامات مربوط به کرسی چینی</a:t>
            </a:r>
            <a:endParaRPr lang="en-US" sz="3600" dirty="0"/>
          </a:p>
        </p:txBody>
      </p:sp>
      <p:sp>
        <p:nvSpPr>
          <p:cNvPr id="3" name="Subtitle 2"/>
          <p:cNvSpPr>
            <a:spLocks noGrp="1"/>
          </p:cNvSpPr>
          <p:nvPr>
            <p:ph type="subTitle" idx="1"/>
          </p:nvPr>
        </p:nvSpPr>
        <p:spPr>
          <a:xfrm>
            <a:off x="685800" y="2133600"/>
            <a:ext cx="7772400" cy="2677711"/>
          </a:xfrm>
        </p:spPr>
        <p:txBody>
          <a:bodyPr>
            <a:normAutofit fontScale="62500" lnSpcReduction="20000"/>
          </a:bodyPr>
          <a:lstStyle/>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کرسی چینی باید از روی شالوده تا حداقل 30 سانتیمتر بالاتر از کف تمام شده محوطه پیرامون ساختمان باشد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برای جلوگیری از نفوذ رطوبت باید سطح کرسی چینی با اندود و مصالح مناسب نم بندی شود. لازم است که لایه عایق از روی کرسی از هر طرف به اندازه 10 سانتیمتر به سمت پایین برگردد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عرض کرسی چینی حداقل باید 10 سانتیمتر بیشتر از عرض دیوار باشد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کرسی چینی دیوارها با استفاده از سنگ لاشه ، آجر یا بلوک سیمانی توپر با یکی از ملاتهای ماسه سیمان ، باتارد یا ماسه آهک اجرا شود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در زمینهای مرطوب در صورت استفاده از آجر در کرسی چینی مصرف آجرهای ماسه آهکی یا رسی مرغوب الزامی است.</a:t>
            </a:r>
          </a:p>
          <a:p>
            <a:pPr algn="just" rtl="1">
              <a:buFontTx/>
              <a:buChar char="-"/>
            </a:pPr>
            <a:endParaRPr lang="fa-IR" sz="2800" b="1" dirty="0" smtClean="0">
              <a:effectLst>
                <a:outerShdw blurRad="31750" dist="25400" dir="5400000" algn="tl" rotWithShape="0">
                  <a:srgbClr val="000000">
                    <a:alpha val="25000"/>
                  </a:srgbClr>
                </a:outerShdw>
              </a:effectLst>
              <a:latin typeface="+mj-lt"/>
              <a:ea typeface="+mj-ea"/>
              <a:cs typeface="+mj-cs"/>
            </a:endParaRPr>
          </a:p>
          <a:p>
            <a:pPr algn="just" rtl="1"/>
            <a:endParaRPr lang="fa-IR" sz="2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smtClean="0"/>
              <a:t>الزامات مربوط به کرسی چینی</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8194" name="Picture 2"/>
          <p:cNvPicPr>
            <a:picLocks noChangeAspect="1" noChangeArrowheads="1"/>
          </p:cNvPicPr>
          <p:nvPr/>
        </p:nvPicPr>
        <p:blipFill>
          <a:blip r:embed="rId3"/>
          <a:srcRect/>
          <a:stretch>
            <a:fillRect/>
          </a:stretch>
        </p:blipFill>
        <p:spPr bwMode="auto">
          <a:xfrm>
            <a:off x="304800" y="1314450"/>
            <a:ext cx="8058150" cy="554355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الزامات مربوط به دیوارهای باربر</a:t>
            </a:r>
            <a:endParaRPr lang="en-US" sz="3600" dirty="0"/>
          </a:p>
        </p:txBody>
      </p:sp>
      <p:sp>
        <p:nvSpPr>
          <p:cNvPr id="3" name="Subtitle 2"/>
          <p:cNvSpPr>
            <a:spLocks noGrp="1"/>
          </p:cNvSpPr>
          <p:nvPr>
            <p:ph type="subTitle" idx="1"/>
          </p:nvPr>
        </p:nvSpPr>
        <p:spPr>
          <a:xfrm>
            <a:off x="685800" y="2133600"/>
            <a:ext cx="7772400" cy="2677711"/>
          </a:xfrm>
        </p:spPr>
        <p:txBody>
          <a:bodyPr>
            <a:normAutofit fontScale="62500" lnSpcReduction="20000"/>
          </a:bodyPr>
          <a:lstStyle/>
          <a:p>
            <a:pPr algn="just" rtl="1"/>
            <a:r>
              <a:rPr lang="fa-IR" sz="2800" b="1" dirty="0" smtClean="0">
                <a:effectLst>
                  <a:outerShdw blurRad="31750" dist="25400" dir="5400000" algn="tl" rotWithShape="0">
                    <a:srgbClr val="000000">
                      <a:alpha val="25000"/>
                    </a:srgbClr>
                  </a:outerShdw>
                </a:effectLst>
                <a:latin typeface="+mj-lt"/>
                <a:ea typeface="+mj-ea"/>
                <a:cs typeface="+mj-cs"/>
              </a:rPr>
              <a:t>-دیوارها ترجیحاً باید به صورت منظم و یکنواخت در دو جهت عمود بر هم توزیع شوند.</a:t>
            </a:r>
            <a:endParaRPr lang="en-US" sz="2800" b="1" dirty="0" smtClean="0">
              <a:effectLst>
                <a:outerShdw blurRad="31750" dist="25400" dir="5400000" algn="tl" rotWithShape="0">
                  <a:srgbClr val="000000">
                    <a:alpha val="25000"/>
                  </a:srgbClr>
                </a:outerShdw>
              </a:effectLst>
              <a:latin typeface="+mj-lt"/>
              <a:ea typeface="+mj-ea"/>
              <a:cs typeface="+mj-cs"/>
            </a:endParaRP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کلیه دیوارهای پیرامونی باربر و غیرباربر باید 35 سانتیمتری باشند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ضخامت دیوارهای باربر آجری 35 سانتیمتر در نظر گرفته شود</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حداکثر طول آزاد دیوار باربر بین دو پشت بند نباید از 6 متر بیشتر باشد. (پشت بند دیواری است که در امتداد دیگری با دیوار باربر تلاقی میکند. دیوار پشت بند ضخامت آن حداقل 20 سانتیمتر وطول آن با احتساب ضامت دیوار باربر حداقل یک ششم بزرگترین دهانه طرفین پشت بند باشد. کلاف قائم نیز میتواند نقش پشت بند را داشته باشد) </a:t>
            </a:r>
          </a:p>
          <a:p>
            <a:pPr algn="just" rtl="1">
              <a:buFontTx/>
              <a:buChar char="-"/>
            </a:pPr>
            <a:r>
              <a:rPr lang="fa-IR" sz="2800" b="1" dirty="0" smtClean="0">
                <a:effectLst>
                  <a:outerShdw blurRad="31750" dist="25400" dir="5400000" algn="tl" rotWithShape="0">
                    <a:srgbClr val="000000">
                      <a:alpha val="25000"/>
                    </a:srgbClr>
                  </a:outerShdw>
                </a:effectLst>
                <a:latin typeface="+mj-lt"/>
                <a:ea typeface="+mj-ea"/>
                <a:cs typeface="+mj-cs"/>
              </a:rPr>
              <a:t>حداکثر ارتفاع طبقه بدون کلاف میانی 4متر است. در صورت تجاوز این ارتفاع لازم است که در ارتفاع حداکثر 4 متر یک کلاف میانی افقی اضافه اجرا شود. به این صورت ارتفاع طبقه تا 6 متر میتواند افزایش یابد.</a:t>
            </a:r>
          </a:p>
          <a:p>
            <a:pPr algn="just" rtl="1"/>
            <a:endParaRPr lang="fa-IR" sz="2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074" name="Picture 2"/>
          <p:cNvPicPr>
            <a:picLocks noChangeAspect="1" noChangeArrowheads="1"/>
          </p:cNvPicPr>
          <p:nvPr/>
        </p:nvPicPr>
        <p:blipFill>
          <a:blip r:embed="rId3"/>
          <a:srcRect/>
          <a:stretch>
            <a:fillRect/>
          </a:stretch>
        </p:blipFill>
        <p:spPr bwMode="auto">
          <a:xfrm>
            <a:off x="354366" y="762000"/>
            <a:ext cx="8789634" cy="3082317"/>
          </a:xfrm>
          <a:prstGeom prst="rect">
            <a:avLst/>
          </a:prstGeom>
          <a:noFill/>
          <a:ln w="9525">
            <a:noFill/>
            <a:miter lim="800000"/>
            <a:headEnd/>
            <a:tailEnd/>
          </a:ln>
          <a:effectLst/>
        </p:spPr>
      </p:pic>
    </p:spTree>
  </p:cSld>
  <p:clrMapOvr>
    <a:masterClrMapping/>
  </p:clrMapOvr>
  <p:transition>
    <p:whee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026" name="Picture 2"/>
          <p:cNvPicPr>
            <a:picLocks noChangeAspect="1" noChangeArrowheads="1"/>
          </p:cNvPicPr>
          <p:nvPr/>
        </p:nvPicPr>
        <p:blipFill>
          <a:blip r:embed="rId3"/>
          <a:srcRect/>
          <a:stretch>
            <a:fillRect/>
          </a:stretch>
        </p:blipFill>
        <p:spPr bwMode="auto">
          <a:xfrm>
            <a:off x="228600" y="228600"/>
            <a:ext cx="8701088" cy="6129338"/>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1"/>
            <a:ext cx="7772400" cy="685799"/>
          </a:xfrm>
        </p:spPr>
        <p:txBody>
          <a:bodyPr>
            <a:noAutofit/>
          </a:bodyPr>
          <a:lstStyle/>
          <a:p>
            <a:pPr algn="ctr"/>
            <a:r>
              <a:rPr lang="fa-IR" sz="3600" dirty="0" smtClean="0"/>
              <a:t>الزامات مربوط به دیوارهای غیرباربر</a:t>
            </a:r>
            <a:endParaRPr lang="en-US" sz="3600" dirty="0"/>
          </a:p>
        </p:txBody>
      </p:sp>
      <p:sp>
        <p:nvSpPr>
          <p:cNvPr id="3" name="Subtitle 2"/>
          <p:cNvSpPr>
            <a:spLocks noGrp="1"/>
          </p:cNvSpPr>
          <p:nvPr>
            <p:ph type="subTitle" idx="1"/>
          </p:nvPr>
        </p:nvSpPr>
        <p:spPr>
          <a:xfrm>
            <a:off x="685800" y="2133600"/>
            <a:ext cx="7772400" cy="2677711"/>
          </a:xfrm>
        </p:spPr>
        <p:txBody>
          <a:bodyPr>
            <a:noAutofit/>
          </a:bodyPr>
          <a:lstStyle/>
          <a:p>
            <a:pPr algn="just" rtl="1">
              <a:buFontTx/>
              <a:buChar char="-"/>
            </a:pPr>
            <a:r>
              <a:rPr lang="fa-IR" sz="1400" b="1" dirty="0" smtClean="0">
                <a:effectLst>
                  <a:outerShdw blurRad="31750" dist="25400" dir="5400000" algn="tl" rotWithShape="0">
                    <a:srgbClr val="000000">
                      <a:alpha val="25000"/>
                    </a:srgbClr>
                  </a:outerShdw>
                </a:effectLst>
                <a:latin typeface="+mj-lt"/>
                <a:ea typeface="+mj-ea"/>
                <a:cs typeface="+mj-cs"/>
              </a:rPr>
              <a:t>دیوارهای جداگر میتوانند از آجر ، بلوک سفالی یا قطعات پیش ساخته گچی و نظایر آن ساخته شوند.</a:t>
            </a:r>
          </a:p>
          <a:p>
            <a:pPr algn="just" rtl="1">
              <a:buFontTx/>
              <a:buChar char="-"/>
            </a:pPr>
            <a:r>
              <a:rPr lang="fa-IR" sz="1400" b="1" dirty="0" smtClean="0">
                <a:effectLst>
                  <a:outerShdw blurRad="31750" dist="25400" dir="5400000" algn="tl" rotWithShape="0">
                    <a:srgbClr val="000000">
                      <a:alpha val="25000"/>
                    </a:srgbClr>
                  </a:outerShdw>
                </a:effectLst>
                <a:latin typeface="+mj-lt"/>
                <a:ea typeface="+mj-ea"/>
                <a:cs typeface="+mj-cs"/>
              </a:rPr>
              <a:t>حداقل ضخامت دیوارهای جداگر برای آجر 11 سانتیمتر و برای بلوک سفالی و قطعات پیش ساخته گچی 8 سانتیمتر میباشد.</a:t>
            </a:r>
          </a:p>
          <a:p>
            <a:pPr algn="just" rtl="1">
              <a:buFontTx/>
              <a:buChar char="-"/>
            </a:pPr>
            <a:r>
              <a:rPr lang="fa-IR" sz="1400" b="1" dirty="0" smtClean="0">
                <a:effectLst>
                  <a:outerShdw blurRad="31750" dist="25400" dir="5400000" algn="tl" rotWithShape="0">
                    <a:srgbClr val="000000">
                      <a:alpha val="25000"/>
                    </a:srgbClr>
                  </a:outerShdw>
                </a:effectLst>
                <a:latin typeface="+mj-lt"/>
                <a:ea typeface="+mj-ea"/>
                <a:cs typeface="+mj-cs"/>
              </a:rPr>
              <a:t>حداکثر طول آزاد دیوار جداگر بین دو پشت بند عبارت است از 40 برابر ضخامت دیوار یا 5 متر هر کدام کمتر باشد. پشت بند باید به ضخامت حداقل معادل ضخامت دیوار و به طول حداقل یک ششم بزرگترین دهانه طرفین پشت بند باشد. به جای پشت بند اجزای قائم فولادی ، بتن مسلح یا چوبی داخل دیوار قرار داد و دو سر این اجزا را به گونه مناسبی در کف و سقف طبقه مهار نمود.</a:t>
            </a:r>
          </a:p>
          <a:p>
            <a:pPr algn="just" rtl="1">
              <a:buFontTx/>
              <a:buChar char="-"/>
            </a:pPr>
            <a:r>
              <a:rPr lang="fa-IR" sz="1400" b="1" dirty="0" smtClean="0">
                <a:effectLst>
                  <a:outerShdw blurRad="31750" dist="25400" dir="5400000" algn="tl" rotWithShape="0">
                    <a:srgbClr val="000000">
                      <a:alpha val="25000"/>
                    </a:srgbClr>
                  </a:outerShdw>
                </a:effectLst>
                <a:latin typeface="+mj-lt"/>
                <a:ea typeface="+mj-ea"/>
                <a:cs typeface="+mj-cs"/>
              </a:rPr>
              <a:t>حداکثر ارتفاع مجاز دیوارهای جداگر از تراز کف مجاور 3.5 متر میباشد. اگر بیشتر شود باید با کلاف افقی دیوار را تقویت نمود.</a:t>
            </a:r>
          </a:p>
          <a:p>
            <a:pPr algn="just" rtl="1">
              <a:buFontTx/>
              <a:buChar char="-"/>
            </a:pPr>
            <a:r>
              <a:rPr lang="fa-IR" sz="1400" b="1" dirty="0" smtClean="0">
                <a:effectLst>
                  <a:outerShdw blurRad="31750" dist="25400" dir="5400000" algn="tl" rotWithShape="0">
                    <a:srgbClr val="000000">
                      <a:alpha val="25000"/>
                    </a:srgbClr>
                  </a:outerShdw>
                </a:effectLst>
                <a:latin typeface="+mj-lt"/>
                <a:ea typeface="+mj-ea"/>
                <a:cs typeface="+mj-cs"/>
              </a:rPr>
              <a:t>جداگرهایی که در تمام ارتفاع طبقه ادامه دارند باید کاملاً به زیر پوشش سقف مهار شوند. در مورد بقیه دیوارها لبه فوقانی دیوار را باید با کلاف تقویت و به دیوارهای مجاور ویا کلافهای احاطه کننده دیوار متصل نمود.</a:t>
            </a:r>
          </a:p>
          <a:p>
            <a:pPr algn="just" rtl="1">
              <a:buFontTx/>
              <a:buChar char="-"/>
            </a:pPr>
            <a:r>
              <a:rPr lang="fa-IR" sz="1400" b="1" dirty="0" smtClean="0">
                <a:effectLst>
                  <a:outerShdw blurRad="31750" dist="25400" dir="5400000" algn="tl" rotWithShape="0">
                    <a:srgbClr val="000000">
                      <a:alpha val="25000"/>
                    </a:srgbClr>
                  </a:outerShdw>
                </a:effectLst>
                <a:latin typeface="+mj-lt"/>
                <a:ea typeface="+mj-ea"/>
                <a:cs typeface="+mj-cs"/>
              </a:rPr>
              <a:t>لبه قائم دیوارها یا باید به دیوار مجاور متصل شود و یا باید به ستونک متصل شود. ستونک میتواند ناودانی نمره 6 یا مقطع معادل یا به صورت بتن مسلح یا چوبی باشد. اگر طول دیوار کمتر از 1.5 متر باشد لبه قئم دیوار میتواند آزاد باشد.</a:t>
            </a: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050" name="Picture 2"/>
          <p:cNvPicPr>
            <a:picLocks noChangeAspect="1" noChangeArrowheads="1"/>
          </p:cNvPicPr>
          <p:nvPr/>
        </p:nvPicPr>
        <p:blipFill>
          <a:blip r:embed="rId3"/>
          <a:srcRect/>
          <a:stretch>
            <a:fillRect/>
          </a:stretch>
        </p:blipFill>
        <p:spPr bwMode="auto">
          <a:xfrm>
            <a:off x="609600" y="228600"/>
            <a:ext cx="7758113" cy="588645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4" descr="18"/>
          <p:cNvPicPr>
            <a:picLocks noChangeAspect="1" noChangeArrowheads="1"/>
          </p:cNvPicPr>
          <p:nvPr/>
        </p:nvPicPr>
        <p:blipFill>
          <a:blip r:embed="rId3"/>
          <a:srcRect/>
          <a:stretch>
            <a:fillRect/>
          </a:stretch>
        </p:blipFill>
        <p:spPr>
          <a:xfrm>
            <a:off x="180975" y="642938"/>
            <a:ext cx="8820150" cy="5794375"/>
          </a:xfrm>
          <a:prstGeom prst="rect">
            <a:avLst/>
          </a:prstGeom>
          <a:noFill/>
        </p:spPr>
      </p:pic>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par>
                                <p:cTn id="8" presetID="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2000" fill="hold"/>
                                        <p:tgtEl>
                                          <p:spTgt spid="5"/>
                                        </p:tgtEl>
                                        <p:attrNameLst>
                                          <p:attrName>ppt_x</p:attrName>
                                        </p:attrNameLst>
                                      </p:cBhvr>
                                      <p:tavLst>
                                        <p:tav tm="0">
                                          <p:val>
                                            <p:strVal val="#ppt_x"/>
                                          </p:val>
                                        </p:tav>
                                        <p:tav tm="100000">
                                          <p:val>
                                            <p:strVal val="#ppt_x"/>
                                          </p:val>
                                        </p:tav>
                                      </p:tavLst>
                                    </p:anim>
                                    <p:anim calcmode="lin" valueType="num">
                                      <p:cBhvr additive="base">
                                        <p:cTn id="11" dur="2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2290" name="Picture 2"/>
          <p:cNvPicPr>
            <a:picLocks noChangeAspect="1" noChangeArrowheads="1"/>
          </p:cNvPicPr>
          <p:nvPr/>
        </p:nvPicPr>
        <p:blipFill>
          <a:blip r:embed="rId3"/>
          <a:srcRect/>
          <a:stretch>
            <a:fillRect/>
          </a:stretch>
        </p:blipFill>
        <p:spPr bwMode="auto">
          <a:xfrm>
            <a:off x="609600" y="1143000"/>
            <a:ext cx="8141768" cy="4769818"/>
          </a:xfrm>
          <a:prstGeom prst="rect">
            <a:avLst/>
          </a:prstGeom>
          <a:noFill/>
          <a:ln w="9525">
            <a:noFill/>
            <a:miter lim="800000"/>
            <a:headEnd/>
            <a:tailEnd/>
          </a:ln>
          <a:effectLst/>
        </p:spPr>
      </p:pic>
      <p:sp>
        <p:nvSpPr>
          <p:cNvPr id="6" name="Title 1"/>
          <p:cNvSpPr>
            <a:spLocks noGrp="1"/>
          </p:cNvSpPr>
          <p:nvPr>
            <p:ph type="ctrTitle"/>
          </p:nvPr>
        </p:nvSpPr>
        <p:spPr>
          <a:xfrm>
            <a:off x="685800" y="609600"/>
            <a:ext cx="7772400" cy="685799"/>
          </a:xfrm>
        </p:spPr>
        <p:txBody>
          <a:bodyPr>
            <a:noAutofit/>
          </a:bodyPr>
          <a:lstStyle/>
          <a:p>
            <a:pPr algn="ctr"/>
            <a:r>
              <a:rPr lang="fa-IR" sz="3600" dirty="0" smtClean="0"/>
              <a:t>کلافبندی در دیوار غیرسازه ای</a:t>
            </a:r>
            <a:endParaRPr lang="en-US" sz="3600" dirty="0"/>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685800" y="609600"/>
            <a:ext cx="7772400" cy="685799"/>
          </a:xfrm>
        </p:spPr>
        <p:txBody>
          <a:bodyPr>
            <a:noAutofit/>
          </a:bodyPr>
          <a:lstStyle/>
          <a:p>
            <a:pPr algn="ctr"/>
            <a:r>
              <a:rPr lang="fa-IR" sz="3600" dirty="0" smtClean="0"/>
              <a:t>کلاف قائم در قسمت میانی غیرسازه ای طویل (طویلتر از 3.5 متر)</a:t>
            </a:r>
            <a:endParaRPr lang="en-US" sz="3600" dirty="0"/>
          </a:p>
        </p:txBody>
      </p:sp>
      <p:pic>
        <p:nvPicPr>
          <p:cNvPr id="13314" name="Picture 2"/>
          <p:cNvPicPr>
            <a:picLocks noChangeAspect="1" noChangeArrowheads="1"/>
          </p:cNvPicPr>
          <p:nvPr/>
        </p:nvPicPr>
        <p:blipFill>
          <a:blip r:embed="rId3"/>
          <a:srcRect/>
          <a:stretch>
            <a:fillRect/>
          </a:stretch>
        </p:blipFill>
        <p:spPr bwMode="auto">
          <a:xfrm>
            <a:off x="914400" y="1600200"/>
            <a:ext cx="7280488" cy="4487806"/>
          </a:xfrm>
          <a:prstGeom prst="rect">
            <a:avLst/>
          </a:prstGeom>
          <a:noFill/>
          <a:ln w="9525">
            <a:noFill/>
            <a:miter lim="800000"/>
            <a:headEnd/>
            <a:tailEnd/>
          </a:ln>
          <a:effectLst/>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685800" y="609600"/>
            <a:ext cx="7772400" cy="685799"/>
          </a:xfrm>
        </p:spPr>
        <p:txBody>
          <a:bodyPr>
            <a:noAutofit/>
          </a:bodyPr>
          <a:lstStyle/>
          <a:p>
            <a:pPr algn="ctr"/>
            <a:r>
              <a:rPr lang="fa-IR" sz="3600" dirty="0" smtClean="0"/>
              <a:t>مهار دیوار تیغه به سقف</a:t>
            </a:r>
            <a:endParaRPr lang="en-US" sz="3600" dirty="0"/>
          </a:p>
        </p:txBody>
      </p:sp>
      <p:pic>
        <p:nvPicPr>
          <p:cNvPr id="14338" name="Picture 2"/>
          <p:cNvPicPr>
            <a:picLocks noChangeAspect="1" noChangeArrowheads="1"/>
          </p:cNvPicPr>
          <p:nvPr/>
        </p:nvPicPr>
        <p:blipFill>
          <a:blip r:embed="rId3"/>
          <a:srcRect/>
          <a:stretch>
            <a:fillRect/>
          </a:stretch>
        </p:blipFill>
        <p:spPr bwMode="auto">
          <a:xfrm>
            <a:off x="2971800" y="1371600"/>
            <a:ext cx="3018293" cy="4536585"/>
          </a:xfrm>
          <a:prstGeom prst="rect">
            <a:avLst/>
          </a:prstGeom>
          <a:noFill/>
          <a:ln w="9525">
            <a:noFill/>
            <a:miter lim="800000"/>
            <a:headEnd/>
            <a:tailEnd/>
          </a:ln>
          <a:effectLst/>
        </p:spPr>
      </p:pic>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685800" y="609600"/>
            <a:ext cx="7772400" cy="685799"/>
          </a:xfrm>
        </p:spPr>
        <p:txBody>
          <a:bodyPr>
            <a:noAutofit/>
          </a:bodyPr>
          <a:lstStyle/>
          <a:p>
            <a:pPr algn="ctr"/>
            <a:r>
              <a:rPr lang="fa-IR" sz="3600" dirty="0" smtClean="0"/>
              <a:t>اجرای رگ آخر تیغه با ملات کافی و فشار در زیر سقف</a:t>
            </a:r>
            <a:endParaRPr lang="en-US" sz="3600" dirty="0"/>
          </a:p>
        </p:txBody>
      </p:sp>
      <p:pic>
        <p:nvPicPr>
          <p:cNvPr id="23554" name="Picture 2"/>
          <p:cNvPicPr>
            <a:picLocks noChangeAspect="1" noChangeArrowheads="1"/>
          </p:cNvPicPr>
          <p:nvPr/>
        </p:nvPicPr>
        <p:blipFill>
          <a:blip r:embed="rId3"/>
          <a:srcRect/>
          <a:stretch>
            <a:fillRect/>
          </a:stretch>
        </p:blipFill>
        <p:spPr bwMode="auto">
          <a:xfrm>
            <a:off x="762000" y="1295400"/>
            <a:ext cx="7553354" cy="4573171"/>
          </a:xfrm>
          <a:prstGeom prst="rect">
            <a:avLst/>
          </a:prstGeom>
          <a:noFill/>
          <a:ln w="9525">
            <a:noFill/>
            <a:miter lim="800000"/>
            <a:headEnd/>
            <a:tailEnd/>
          </a:ln>
          <a:effectLst/>
        </p:spPr>
      </p:pic>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685800" y="609600"/>
            <a:ext cx="7772400" cy="685799"/>
          </a:xfrm>
        </p:spPr>
        <p:txBody>
          <a:bodyPr>
            <a:noAutofit/>
          </a:bodyPr>
          <a:lstStyle/>
          <a:p>
            <a:pPr algn="ctr"/>
            <a:r>
              <a:rPr lang="fa-IR" sz="3600" dirty="0" smtClean="0"/>
              <a:t>اجرای کلاف بتنی یا فولادی افقی بر روی لبه فوقانی آزاد تیغه ها</a:t>
            </a:r>
            <a:endParaRPr lang="en-US" sz="3600" dirty="0"/>
          </a:p>
        </p:txBody>
      </p:sp>
      <p:pic>
        <p:nvPicPr>
          <p:cNvPr id="24578" name="Picture 2"/>
          <p:cNvPicPr>
            <a:picLocks noChangeAspect="1" noChangeArrowheads="1"/>
          </p:cNvPicPr>
          <p:nvPr/>
        </p:nvPicPr>
        <p:blipFill>
          <a:blip r:embed="rId3"/>
          <a:srcRect/>
          <a:stretch>
            <a:fillRect/>
          </a:stretch>
        </p:blipFill>
        <p:spPr bwMode="auto">
          <a:xfrm>
            <a:off x="1295400" y="1219200"/>
            <a:ext cx="6759147" cy="4856708"/>
          </a:xfrm>
          <a:prstGeom prst="rect">
            <a:avLst/>
          </a:prstGeom>
          <a:noFill/>
          <a:ln w="9525">
            <a:noFill/>
            <a:miter lim="800000"/>
            <a:headEnd/>
            <a:tailEnd/>
          </a:ln>
          <a:effectLst/>
        </p:spPr>
      </p:pic>
    </p:spTree>
  </p:cSld>
  <p:clrMapOvr>
    <a:masterClrMapping/>
  </p:clrMapOvr>
  <p:transition>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685800" y="609600"/>
            <a:ext cx="7772400" cy="685799"/>
          </a:xfrm>
        </p:spPr>
        <p:txBody>
          <a:bodyPr>
            <a:noAutofit/>
          </a:bodyPr>
          <a:lstStyle/>
          <a:p>
            <a:pPr algn="ctr"/>
            <a:r>
              <a:rPr lang="fa-IR" sz="3600" dirty="0" smtClean="0"/>
              <a:t>تقویت لبه آزاد تیغه با طول بیشتر از 1.5 متر</a:t>
            </a:r>
            <a:br>
              <a:rPr lang="fa-IR" sz="3600" dirty="0" smtClean="0"/>
            </a:br>
            <a:r>
              <a:rPr lang="fa-IR" sz="3600" dirty="0" smtClean="0"/>
              <a:t>( با استفاده از ستونک چوبی)</a:t>
            </a:r>
            <a:endParaRPr lang="en-US" sz="3600" dirty="0"/>
          </a:p>
        </p:txBody>
      </p:sp>
      <p:pic>
        <p:nvPicPr>
          <p:cNvPr id="25602" name="Picture 2"/>
          <p:cNvPicPr>
            <a:picLocks noChangeAspect="1" noChangeArrowheads="1"/>
          </p:cNvPicPr>
          <p:nvPr/>
        </p:nvPicPr>
        <p:blipFill>
          <a:blip r:embed="rId3"/>
          <a:srcRect/>
          <a:stretch>
            <a:fillRect/>
          </a:stretch>
        </p:blipFill>
        <p:spPr bwMode="auto">
          <a:xfrm>
            <a:off x="2514600" y="1524000"/>
            <a:ext cx="4106708" cy="4371951"/>
          </a:xfrm>
          <a:prstGeom prst="rect">
            <a:avLst/>
          </a:prstGeom>
          <a:noFill/>
          <a:ln w="9525">
            <a:noFill/>
            <a:miter lim="800000"/>
            <a:headEnd/>
            <a:tailEnd/>
          </a:ln>
          <a:effectLst/>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685800" y="609600"/>
            <a:ext cx="7772400" cy="685799"/>
          </a:xfrm>
        </p:spPr>
        <p:txBody>
          <a:bodyPr>
            <a:noAutofit/>
          </a:bodyPr>
          <a:lstStyle/>
          <a:p>
            <a:pPr algn="ctr"/>
            <a:r>
              <a:rPr lang="fa-IR" sz="3600" dirty="0" smtClean="0"/>
              <a:t>تقویت لبه آزاد تیغه با طول بیشتر از 1.5 متر</a:t>
            </a:r>
            <a:br>
              <a:rPr lang="fa-IR" sz="3600" dirty="0" smtClean="0"/>
            </a:br>
            <a:r>
              <a:rPr lang="fa-IR" sz="3600" dirty="0" smtClean="0"/>
              <a:t>( با استفاده از ستونک بتنی)</a:t>
            </a:r>
            <a:endParaRPr lang="en-US" sz="3600" dirty="0"/>
          </a:p>
        </p:txBody>
      </p:sp>
      <p:pic>
        <p:nvPicPr>
          <p:cNvPr id="26626" name="Picture 2"/>
          <p:cNvPicPr>
            <a:picLocks noChangeAspect="1" noChangeArrowheads="1"/>
          </p:cNvPicPr>
          <p:nvPr/>
        </p:nvPicPr>
        <p:blipFill>
          <a:blip r:embed="rId3"/>
          <a:srcRect/>
          <a:stretch>
            <a:fillRect/>
          </a:stretch>
        </p:blipFill>
        <p:spPr bwMode="auto">
          <a:xfrm>
            <a:off x="2514600" y="1447800"/>
            <a:ext cx="3996951" cy="4975610"/>
          </a:xfrm>
          <a:prstGeom prst="rect">
            <a:avLst/>
          </a:prstGeom>
          <a:noFill/>
          <a:ln w="9525">
            <a:noFill/>
            <a:miter lim="800000"/>
            <a:headEnd/>
            <a:tailEnd/>
          </a:ln>
          <a:effectLst/>
        </p:spPr>
      </p:pic>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685800" y="609600"/>
            <a:ext cx="7772400" cy="685799"/>
          </a:xfrm>
        </p:spPr>
        <p:txBody>
          <a:bodyPr>
            <a:noAutofit/>
          </a:bodyPr>
          <a:lstStyle/>
          <a:p>
            <a:pPr algn="ctr"/>
            <a:r>
              <a:rPr lang="fa-IR" sz="3600" dirty="0" smtClean="0"/>
              <a:t>تقویت لبه آزاد تیغه با طول بیشتر از 1.5 متر</a:t>
            </a:r>
            <a:br>
              <a:rPr lang="fa-IR" sz="3600" dirty="0" smtClean="0"/>
            </a:br>
            <a:r>
              <a:rPr lang="fa-IR" sz="3600" dirty="0" smtClean="0"/>
              <a:t>( با استفاده از ستونک ناودانی)</a:t>
            </a:r>
            <a:endParaRPr lang="en-US" sz="3600" dirty="0"/>
          </a:p>
        </p:txBody>
      </p:sp>
      <p:pic>
        <p:nvPicPr>
          <p:cNvPr id="27650" name="Picture 2"/>
          <p:cNvPicPr>
            <a:picLocks noChangeAspect="1" noChangeArrowheads="1"/>
          </p:cNvPicPr>
          <p:nvPr/>
        </p:nvPicPr>
        <p:blipFill>
          <a:blip r:embed="rId3"/>
          <a:srcRect/>
          <a:stretch>
            <a:fillRect/>
          </a:stretch>
        </p:blipFill>
        <p:spPr bwMode="auto">
          <a:xfrm>
            <a:off x="4648200" y="1295400"/>
            <a:ext cx="3704268" cy="4289634"/>
          </a:xfrm>
          <a:prstGeom prst="rect">
            <a:avLst/>
          </a:prstGeom>
          <a:noFill/>
          <a:ln w="9525">
            <a:noFill/>
            <a:miter lim="800000"/>
            <a:headEnd/>
            <a:tailEnd/>
          </a:ln>
          <a:effectLst/>
        </p:spPr>
      </p:pic>
      <p:pic>
        <p:nvPicPr>
          <p:cNvPr id="27651" name="Picture 3"/>
          <p:cNvPicPr>
            <a:picLocks noChangeAspect="1" noChangeArrowheads="1"/>
          </p:cNvPicPr>
          <p:nvPr/>
        </p:nvPicPr>
        <p:blipFill>
          <a:blip r:embed="rId4"/>
          <a:srcRect/>
          <a:stretch>
            <a:fillRect/>
          </a:stretch>
        </p:blipFill>
        <p:spPr bwMode="auto">
          <a:xfrm>
            <a:off x="914400" y="1676400"/>
            <a:ext cx="2945123" cy="4371951"/>
          </a:xfrm>
          <a:prstGeom prst="rect">
            <a:avLst/>
          </a:prstGeom>
          <a:noFill/>
          <a:ln w="9525">
            <a:noFill/>
            <a:miter lim="800000"/>
            <a:headEnd/>
            <a:tailEnd/>
          </a:ln>
          <a:effectLst/>
        </p:spPr>
      </p:pic>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075" name="Picture 3"/>
          <p:cNvPicPr>
            <a:picLocks noChangeAspect="1" noChangeArrowheads="1"/>
          </p:cNvPicPr>
          <p:nvPr/>
        </p:nvPicPr>
        <p:blipFill>
          <a:blip r:embed="rId3"/>
          <a:srcRect/>
          <a:stretch>
            <a:fillRect/>
          </a:stretch>
        </p:blipFill>
        <p:spPr bwMode="auto">
          <a:xfrm>
            <a:off x="381000" y="381000"/>
            <a:ext cx="7986713" cy="5157788"/>
          </a:xfrm>
          <a:prstGeom prst="rect">
            <a:avLst/>
          </a:prstGeom>
          <a:noFill/>
          <a:ln w="9525">
            <a:noFill/>
            <a:miter lim="800000"/>
            <a:headEnd/>
            <a:tailEnd/>
          </a:ln>
          <a:effectLst/>
        </p:spPr>
      </p:pic>
    </p:spTree>
  </p:cSld>
  <p:clrMapOvr>
    <a:masterClrMapping/>
  </p:clrMapOvr>
  <p:transition>
    <p:checke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dirty="0" smtClean="0"/>
              <a:t>دیوارچینی</a:t>
            </a:r>
            <a:endParaRPr lang="en-US" sz="3600" dirty="0"/>
          </a:p>
        </p:txBody>
      </p:sp>
      <p:sp>
        <p:nvSpPr>
          <p:cNvPr id="3" name="Subtitle 2"/>
          <p:cNvSpPr>
            <a:spLocks noGrp="1"/>
          </p:cNvSpPr>
          <p:nvPr>
            <p:ph type="subTitle" idx="1"/>
          </p:nvPr>
        </p:nvSpPr>
        <p:spPr>
          <a:xfrm>
            <a:off x="685800" y="1295400"/>
            <a:ext cx="7772400" cy="3810000"/>
          </a:xfrm>
        </p:spPr>
        <p:txBody>
          <a:bodyPr>
            <a:normAutofit/>
          </a:bodyPr>
          <a:lstStyle/>
          <a:p>
            <a:r>
              <a:rPr lang="fa-IR" sz="1600" b="1" dirty="0" smtClean="0"/>
              <a:t>٩-در دیوارھای باربر باید حداقل از سه میلگرد آجدار به قطر ١٠ میلیمتر که ھر یک به ترتیب در فواصل ، یک سوم ، یک دوم و دو سوم  ارتفاع دیوار و به صورت سرتاسری در طول دیوار در بندھای افقی قرار می گیرند، استفاده شود.این میلگردھا باید تا محل کلافھای قائم امتداد داده شده و در داخل آنھا مھار گردد.</a:t>
            </a:r>
          </a:p>
          <a:p>
            <a:r>
              <a:rPr lang="fa-IR" sz="1600" b="1" dirty="0" smtClean="0"/>
              <a:t>١٠ -رگھای دیوار چینی در تمام قسمتھای ساختمان باید ھمزمان (در ارتفاع )اجرا شود و استفاده از روش ھشت گیر در ساخت دیوارھا مجاز نمیباشد.</a:t>
            </a:r>
          </a:p>
          <a:p>
            <a:r>
              <a:rPr lang="fa-IR" sz="1600" b="1" dirty="0" smtClean="0"/>
              <a:t>١١ -دیوار چینی باید کاملا شاقولی باشد.</a:t>
            </a:r>
          </a:p>
          <a:p>
            <a:r>
              <a:rPr lang="fa-IR" sz="1600" b="1" dirty="0" smtClean="0"/>
              <a:t>١٢ -دیوارھای مھاری باید ھمزمان با دیوارھای باربر اجرا شوند.</a:t>
            </a:r>
          </a:p>
          <a:p>
            <a:r>
              <a:rPr lang="fa-IR" sz="1600" b="1" dirty="0" smtClean="0"/>
              <a:t>١٣ -دیوارھا در محل اجرای کلافھای قائم بتن مسلح باید به صورت ھشت گیر اجرا گردند .در این حالت حداقل فاصله بین آجرھای هشت گیر نباید از بعد لازم کلاف کمتر باشد .به جای استفاده از ھشت گیر می توان در ھنگام اجرای دیوار با تعبیه شاخکھا یا میلگردھای افقی در ھر ۵٠ سانتیمتر ارتفاع، اتصال بین دیوار و کلاف را تأمین نمود.</a:t>
            </a:r>
          </a:p>
          <a:p>
            <a:r>
              <a:rPr lang="fa-IR" sz="1600" b="1" dirty="0" smtClean="0"/>
              <a:t>١۴ -دیوارھا باید پس از اجرا حداقل به مدت سه روز مرطوب نگه داشته شود.</a:t>
            </a:r>
          </a:p>
          <a:p>
            <a:r>
              <a:rPr lang="fa-IR" sz="1600" b="1" dirty="0" smtClean="0"/>
              <a:t>١۵ -برای حفظ انسجام ساختمان باید دیوارھای باربر </a:t>
            </a:r>
            <a:r>
              <a:rPr lang="fa-IR" sz="1600" b="1" smtClean="0"/>
              <a:t>با </a:t>
            </a:r>
            <a:r>
              <a:rPr lang="fa-IR" sz="1600" b="1" smtClean="0"/>
              <a:t>کلاف روی </a:t>
            </a:r>
            <a:r>
              <a:rPr lang="fa-IR" sz="1600" b="1" dirty="0" smtClean="0"/>
              <a:t>آن به نحو مناسب درگیر شود.</a:t>
            </a:r>
            <a:endParaRPr lang="fa-IR" sz="16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533400"/>
            <a:ext cx="7772400" cy="685799"/>
          </a:xfrm>
        </p:spPr>
        <p:txBody>
          <a:bodyPr>
            <a:noAutofit/>
          </a:bodyPr>
          <a:lstStyle/>
          <a:p>
            <a:pPr algn="ctr"/>
            <a:r>
              <a:rPr lang="fa-IR" sz="3600" dirty="0" smtClean="0"/>
              <a:t>میلگردگذاری افقی در دیوارها</a:t>
            </a:r>
            <a:endParaRPr lang="en-US" sz="3600" dirty="0"/>
          </a:p>
        </p:txBody>
      </p:sp>
      <p:pic>
        <p:nvPicPr>
          <p:cNvPr id="6146" name="Picture 2"/>
          <p:cNvPicPr>
            <a:picLocks noChangeAspect="1" noChangeArrowheads="1"/>
          </p:cNvPicPr>
          <p:nvPr/>
        </p:nvPicPr>
        <p:blipFill>
          <a:blip r:embed="rId3"/>
          <a:srcRect/>
          <a:stretch>
            <a:fillRect/>
          </a:stretch>
        </p:blipFill>
        <p:spPr bwMode="auto">
          <a:xfrm>
            <a:off x="762000" y="1143000"/>
            <a:ext cx="7703344" cy="4548188"/>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533400"/>
            <a:ext cx="7772400" cy="685799"/>
          </a:xfrm>
        </p:spPr>
        <p:txBody>
          <a:bodyPr>
            <a:noAutofit/>
          </a:bodyPr>
          <a:lstStyle/>
          <a:p>
            <a:pPr algn="ctr"/>
            <a:r>
              <a:rPr lang="fa-IR" sz="3600" dirty="0" smtClean="0"/>
              <a:t>اتصال مناسب دیوارهای عمود برهم</a:t>
            </a:r>
            <a:endParaRPr lang="en-US" sz="3600" dirty="0"/>
          </a:p>
        </p:txBody>
      </p:sp>
      <p:pic>
        <p:nvPicPr>
          <p:cNvPr id="19458" name="Picture 2"/>
          <p:cNvPicPr>
            <a:picLocks noChangeAspect="1" noChangeArrowheads="1"/>
          </p:cNvPicPr>
          <p:nvPr/>
        </p:nvPicPr>
        <p:blipFill>
          <a:blip r:embed="rId3"/>
          <a:srcRect/>
          <a:stretch>
            <a:fillRect/>
          </a:stretch>
        </p:blipFill>
        <p:spPr bwMode="auto">
          <a:xfrm>
            <a:off x="1905000" y="1295400"/>
            <a:ext cx="4884147" cy="5085366"/>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533400"/>
            <a:ext cx="7772400" cy="685799"/>
          </a:xfrm>
        </p:spPr>
        <p:txBody>
          <a:bodyPr>
            <a:noAutofit/>
          </a:bodyPr>
          <a:lstStyle/>
          <a:p>
            <a:pPr algn="ctr"/>
            <a:r>
              <a:rPr lang="fa-IR" sz="3600" dirty="0" smtClean="0"/>
              <a:t>نحوه صحیح دیوارچینی</a:t>
            </a:r>
            <a:endParaRPr lang="en-US" sz="3600" dirty="0"/>
          </a:p>
        </p:txBody>
      </p:sp>
      <p:pic>
        <p:nvPicPr>
          <p:cNvPr id="1026" name="Picture 2"/>
          <p:cNvPicPr>
            <a:picLocks noChangeAspect="1" noChangeArrowheads="1"/>
          </p:cNvPicPr>
          <p:nvPr/>
        </p:nvPicPr>
        <p:blipFill>
          <a:blip r:embed="rId3"/>
          <a:srcRect/>
          <a:stretch>
            <a:fillRect/>
          </a:stretch>
        </p:blipFill>
        <p:spPr bwMode="auto">
          <a:xfrm>
            <a:off x="914400" y="1143000"/>
            <a:ext cx="7096125" cy="4819650"/>
          </a:xfrm>
          <a:prstGeom prst="rect">
            <a:avLst/>
          </a:prstGeom>
          <a:noFill/>
          <a:ln w="9525">
            <a:noFill/>
            <a:miter lim="800000"/>
            <a:headEnd/>
            <a:tailEnd/>
          </a:ln>
          <a:effectLst/>
        </p:spPr>
      </p:pic>
    </p:spTree>
  </p:cSld>
  <p:clrMapOvr>
    <a:masterClrMapping/>
  </p:clrMapOvr>
  <p:transition>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533400"/>
            <a:ext cx="7772400" cy="685799"/>
          </a:xfrm>
        </p:spPr>
        <p:txBody>
          <a:bodyPr>
            <a:noAutofit/>
          </a:bodyPr>
          <a:lstStyle/>
          <a:p>
            <a:pPr algn="ctr"/>
            <a:r>
              <a:rPr lang="fa-IR" sz="3600" dirty="0" smtClean="0"/>
              <a:t>نحوه صحیح دیوارچینی (دیوار سنگی)</a:t>
            </a:r>
            <a:endParaRPr lang="en-US" sz="3600" dirty="0"/>
          </a:p>
        </p:txBody>
      </p:sp>
      <p:pic>
        <p:nvPicPr>
          <p:cNvPr id="2051" name="Picture 3"/>
          <p:cNvPicPr>
            <a:picLocks noChangeAspect="1" noChangeArrowheads="1"/>
          </p:cNvPicPr>
          <p:nvPr/>
        </p:nvPicPr>
        <p:blipFill>
          <a:blip r:embed="rId3"/>
          <a:srcRect/>
          <a:stretch>
            <a:fillRect/>
          </a:stretch>
        </p:blipFill>
        <p:spPr bwMode="auto">
          <a:xfrm>
            <a:off x="1905000" y="1295400"/>
            <a:ext cx="5162550" cy="4457700"/>
          </a:xfrm>
          <a:prstGeom prst="rect">
            <a:avLst/>
          </a:prstGeom>
          <a:noFill/>
          <a:ln w="9525">
            <a:noFill/>
            <a:miter lim="800000"/>
            <a:headEnd/>
            <a:tailEnd/>
          </a:ln>
          <a:effectLst/>
        </p:spPr>
      </p:pic>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533400"/>
            <a:ext cx="7772400" cy="685799"/>
          </a:xfrm>
        </p:spPr>
        <p:txBody>
          <a:bodyPr>
            <a:noAutofit/>
          </a:bodyPr>
          <a:lstStyle/>
          <a:p>
            <a:pPr algn="ctr"/>
            <a:r>
              <a:rPr lang="fa-IR" sz="3000" dirty="0" smtClean="0"/>
              <a:t>دیوارچینی در تقاطع دو دیوار 22 و 11 سانتیمتری</a:t>
            </a:r>
            <a:endParaRPr lang="en-US" sz="3000" dirty="0"/>
          </a:p>
        </p:txBody>
      </p:sp>
      <p:pic>
        <p:nvPicPr>
          <p:cNvPr id="3074" name="Picture 2"/>
          <p:cNvPicPr>
            <a:picLocks noChangeAspect="1" noChangeArrowheads="1"/>
          </p:cNvPicPr>
          <p:nvPr/>
        </p:nvPicPr>
        <p:blipFill>
          <a:blip r:embed="rId3"/>
          <a:srcRect/>
          <a:stretch>
            <a:fillRect/>
          </a:stretch>
        </p:blipFill>
        <p:spPr bwMode="auto">
          <a:xfrm>
            <a:off x="1524000" y="1219200"/>
            <a:ext cx="6124575" cy="5353050"/>
          </a:xfrm>
          <a:prstGeom prst="rect">
            <a:avLst/>
          </a:prstGeom>
          <a:noFill/>
          <a:ln w="9525">
            <a:noFill/>
            <a:miter lim="800000"/>
            <a:headEnd/>
            <a:tailEnd/>
          </a:ln>
          <a:effectLst/>
        </p:spPr>
      </p:pic>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533400"/>
            <a:ext cx="7772400" cy="685799"/>
          </a:xfrm>
        </p:spPr>
        <p:txBody>
          <a:bodyPr>
            <a:noAutofit/>
          </a:bodyPr>
          <a:lstStyle/>
          <a:p>
            <a:pPr algn="ctr"/>
            <a:r>
              <a:rPr lang="fa-IR" sz="3000" dirty="0" smtClean="0"/>
              <a:t>دیوارچینی صحیح و غلط</a:t>
            </a:r>
            <a:endParaRPr lang="en-US" sz="3000" dirty="0"/>
          </a:p>
        </p:txBody>
      </p:sp>
      <p:pic>
        <p:nvPicPr>
          <p:cNvPr id="4098" name="Picture 2"/>
          <p:cNvPicPr>
            <a:picLocks noChangeAspect="1" noChangeArrowheads="1"/>
          </p:cNvPicPr>
          <p:nvPr/>
        </p:nvPicPr>
        <p:blipFill>
          <a:blip r:embed="rId3"/>
          <a:srcRect/>
          <a:stretch>
            <a:fillRect/>
          </a:stretch>
        </p:blipFill>
        <p:spPr bwMode="auto">
          <a:xfrm>
            <a:off x="990600" y="1219200"/>
            <a:ext cx="7191375" cy="4595813"/>
          </a:xfrm>
          <a:prstGeom prst="rect">
            <a:avLst/>
          </a:prstGeom>
          <a:noFill/>
          <a:ln w="9525">
            <a:noFill/>
            <a:miter lim="800000"/>
            <a:headEnd/>
            <a:tailEnd/>
          </a:ln>
          <a:effectLst/>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533400"/>
            <a:ext cx="7772400" cy="685799"/>
          </a:xfrm>
        </p:spPr>
        <p:txBody>
          <a:bodyPr>
            <a:noAutofit/>
          </a:bodyPr>
          <a:lstStyle/>
          <a:p>
            <a:pPr algn="ctr"/>
            <a:r>
              <a:rPr lang="fa-IR" sz="3000" dirty="0" smtClean="0"/>
              <a:t>پر کردن درزهای هرز ملات با ملات ( روش صحیح و غلط)</a:t>
            </a:r>
            <a:endParaRPr lang="en-US" sz="3000" dirty="0"/>
          </a:p>
        </p:txBody>
      </p:sp>
      <p:pic>
        <p:nvPicPr>
          <p:cNvPr id="5122" name="Picture 2"/>
          <p:cNvPicPr>
            <a:picLocks noChangeAspect="1" noChangeArrowheads="1"/>
          </p:cNvPicPr>
          <p:nvPr/>
        </p:nvPicPr>
        <p:blipFill>
          <a:blip r:embed="rId3"/>
          <a:srcRect/>
          <a:stretch>
            <a:fillRect/>
          </a:stretch>
        </p:blipFill>
        <p:spPr bwMode="auto">
          <a:xfrm>
            <a:off x="1752600" y="1371600"/>
            <a:ext cx="5021580" cy="4747260"/>
          </a:xfrm>
          <a:prstGeom prst="rect">
            <a:avLst/>
          </a:prstGeom>
          <a:noFill/>
          <a:ln w="9525">
            <a:noFill/>
            <a:miter lim="800000"/>
            <a:headEnd/>
            <a:tailEnd/>
          </a:ln>
          <a:effectLst/>
        </p:spPr>
      </p:pic>
    </p:spTree>
  </p:cSld>
  <p:clrMapOvr>
    <a:masterClrMapping/>
  </p:clrMapOvr>
  <p:transition>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dirty="0" smtClean="0"/>
              <a:t>بازشوها و تقویت کننده های اطراف آنها</a:t>
            </a:r>
            <a:endParaRPr lang="en-US" sz="3600" dirty="0"/>
          </a:p>
        </p:txBody>
      </p:sp>
      <p:sp>
        <p:nvSpPr>
          <p:cNvPr id="3" name="Subtitle 2"/>
          <p:cNvSpPr>
            <a:spLocks noGrp="1"/>
          </p:cNvSpPr>
          <p:nvPr>
            <p:ph type="subTitle" idx="1"/>
          </p:nvPr>
        </p:nvSpPr>
        <p:spPr>
          <a:xfrm>
            <a:off x="685800" y="1295400"/>
            <a:ext cx="7772400" cy="3810000"/>
          </a:xfrm>
        </p:spPr>
        <p:txBody>
          <a:bodyPr>
            <a:normAutofit/>
          </a:bodyPr>
          <a:lstStyle/>
          <a:p>
            <a:r>
              <a:rPr lang="fa-IR" sz="1600" b="1" dirty="0" smtClean="0"/>
              <a:t>١-بازشوھا نباید سبب قطع کلافھا شوند.</a:t>
            </a:r>
          </a:p>
          <a:p>
            <a:r>
              <a:rPr lang="fa-IR" sz="1600" b="1" dirty="0" smtClean="0"/>
              <a:t>٢-مجموع سطح بازشوھا در ھر دیوار باربر از یک سوم سطح آن دیوار بیشتر نباشد.</a:t>
            </a:r>
          </a:p>
          <a:p>
            <a:r>
              <a:rPr lang="fa-IR" sz="1600" b="1" dirty="0" smtClean="0"/>
              <a:t>٣-مجموع طول بازشوھا در ھر دیوار باربر از یک دوم طول دیوار بیشتر نباشد.</a:t>
            </a:r>
          </a:p>
          <a:p>
            <a:r>
              <a:rPr lang="fa-IR" sz="1600" b="1" dirty="0" smtClean="0"/>
              <a:t>۴-فاصله اولین بازشو در ھر دیوار باربر از بر خارجی ساختمان ( از انتھای دیوار )کمتر از دو سوم ارتفاع بازشو یا کمتراز ٧۵ سانتیمتر نباشد، مگر آنکه در طرفین بازشو کلاف قائم ( از کف تا سقف)قرار داده شود.</a:t>
            </a:r>
          </a:p>
          <a:p>
            <a:r>
              <a:rPr lang="fa-IR" sz="1600" b="1" dirty="0" smtClean="0"/>
              <a:t>۵-فاصله دو بازشو نباید از دوسوم ارتفاع کوچکترین بازشوی طرفین خود و ھمچنین از مجموع طول آن دو</a:t>
            </a:r>
          </a:p>
          <a:p>
            <a:r>
              <a:rPr lang="fa-IR" sz="1600" b="1" dirty="0" smtClean="0"/>
              <a:t>بازشو کمتر باشد.در غیر این صورت جرز بین دو بازشو جزئی از بازشو منظور می شود و نباید آن را به عنوان</a:t>
            </a:r>
          </a:p>
          <a:p>
            <a:r>
              <a:rPr lang="fa-IR" sz="1600" b="1" dirty="0" smtClean="0"/>
              <a:t>دیوار باربر به حساب آورد.</a:t>
            </a:r>
          </a:p>
          <a:p>
            <a:r>
              <a:rPr lang="fa-IR" sz="1600" b="1" dirty="0" smtClean="0"/>
              <a:t>۶-نعل درگاه روی بازشوھای مجاور باید به صورت یکسره با دھانه ای برابر مجموع طول بازشوھا به اضافه جرز</a:t>
            </a:r>
          </a:p>
          <a:p>
            <a:r>
              <a:rPr lang="fa-IR" sz="1600" b="1" dirty="0" smtClean="0"/>
              <a:t>بین آنھا و رعایت نکات بند8-1-6-9 باشد.</a:t>
            </a:r>
          </a:p>
          <a:p>
            <a:r>
              <a:rPr lang="fa-IR" sz="1600" b="1" dirty="0" smtClean="0"/>
              <a:t>7- هیچیک از ابعاد بازشوها از 2.5 متر بیشتر نباشد. در غیر این صورت باید طرفین بازشو را با تعبیه کلافهای قائم که به کلافهای افقی متصل میشوند ، تقویت نمود.</a:t>
            </a:r>
            <a:endParaRPr lang="fa-IR" sz="16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7170" name="Picture 2"/>
          <p:cNvPicPr>
            <a:picLocks noChangeAspect="1" noChangeArrowheads="1"/>
          </p:cNvPicPr>
          <p:nvPr/>
        </p:nvPicPr>
        <p:blipFill>
          <a:blip r:embed="rId3"/>
          <a:srcRect/>
          <a:stretch>
            <a:fillRect/>
          </a:stretch>
        </p:blipFill>
        <p:spPr bwMode="auto">
          <a:xfrm>
            <a:off x="125707" y="1981200"/>
            <a:ext cx="9018293" cy="3631098"/>
          </a:xfrm>
          <a:prstGeom prst="rect">
            <a:avLst/>
          </a:prstGeom>
          <a:noFill/>
          <a:ln w="9525">
            <a:noFill/>
            <a:miter lim="800000"/>
            <a:headEnd/>
            <a:tailEnd/>
          </a:ln>
          <a:effectLst/>
        </p:spPr>
      </p:pic>
      <p:sp>
        <p:nvSpPr>
          <p:cNvPr id="5" name="Title 1"/>
          <p:cNvSpPr>
            <a:spLocks noGrp="1"/>
          </p:cNvSpPr>
          <p:nvPr>
            <p:ph type="ctrTitle"/>
          </p:nvPr>
        </p:nvSpPr>
        <p:spPr>
          <a:xfrm>
            <a:off x="762000" y="533400"/>
            <a:ext cx="7772400" cy="685799"/>
          </a:xfrm>
        </p:spPr>
        <p:txBody>
          <a:bodyPr>
            <a:noAutofit/>
          </a:bodyPr>
          <a:lstStyle/>
          <a:p>
            <a:pPr algn="ctr"/>
            <a:r>
              <a:rPr lang="fa-IR" sz="3600" dirty="0" smtClean="0"/>
              <a:t>حالات بهینه و قابل قبول در قرارگیری بازشوها</a:t>
            </a:r>
            <a:br>
              <a:rPr lang="fa-IR" sz="3600" dirty="0" smtClean="0"/>
            </a:br>
            <a:r>
              <a:rPr lang="fa-IR" sz="3600" dirty="0" smtClean="0"/>
              <a:t>(وجود بازشوها در قسمت مرکزی دیوار)</a:t>
            </a:r>
            <a:endParaRPr lang="en-US" sz="3600" dirty="0"/>
          </a:p>
        </p:txBody>
      </p:sp>
    </p:spTree>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685800" y="533400"/>
            <a:ext cx="7848600" cy="685799"/>
          </a:xfrm>
        </p:spPr>
        <p:txBody>
          <a:bodyPr>
            <a:noAutofit/>
          </a:bodyPr>
          <a:lstStyle/>
          <a:p>
            <a:pPr algn="ctr"/>
            <a:r>
              <a:rPr lang="fa-IR" sz="3600" dirty="0" smtClean="0"/>
              <a:t>بازشوهای نامطلوب به علت وسعت بیش از حد آنها</a:t>
            </a:r>
            <a:endParaRPr lang="en-US" sz="3600" dirty="0"/>
          </a:p>
        </p:txBody>
      </p:sp>
      <p:pic>
        <p:nvPicPr>
          <p:cNvPr id="8194" name="Picture 2"/>
          <p:cNvPicPr>
            <a:picLocks noChangeAspect="1" noChangeArrowheads="1"/>
          </p:cNvPicPr>
          <p:nvPr/>
        </p:nvPicPr>
        <p:blipFill>
          <a:blip r:embed="rId3"/>
          <a:srcRect/>
          <a:stretch>
            <a:fillRect/>
          </a:stretch>
        </p:blipFill>
        <p:spPr bwMode="auto">
          <a:xfrm>
            <a:off x="533400" y="1828800"/>
            <a:ext cx="8350610" cy="2003049"/>
          </a:xfrm>
          <a:prstGeom prst="rect">
            <a:avLst/>
          </a:prstGeom>
          <a:noFill/>
          <a:ln w="9525">
            <a:noFill/>
            <a:miter lim="800000"/>
            <a:headEnd/>
            <a:tailEnd/>
          </a:ln>
          <a:effectLst/>
        </p:spPr>
      </p:pic>
    </p:spTree>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4098" name="Picture 2"/>
          <p:cNvPicPr>
            <a:picLocks noChangeAspect="1" noChangeArrowheads="1"/>
          </p:cNvPicPr>
          <p:nvPr/>
        </p:nvPicPr>
        <p:blipFill>
          <a:blip r:embed="rId3"/>
          <a:srcRect/>
          <a:stretch>
            <a:fillRect/>
          </a:stretch>
        </p:blipFill>
        <p:spPr bwMode="auto">
          <a:xfrm>
            <a:off x="533400" y="0"/>
            <a:ext cx="8201025" cy="571500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122" name="Picture 2"/>
          <p:cNvPicPr>
            <a:picLocks noChangeAspect="1" noChangeArrowheads="1"/>
          </p:cNvPicPr>
          <p:nvPr/>
        </p:nvPicPr>
        <p:blipFill>
          <a:blip r:embed="rId3"/>
          <a:srcRect/>
          <a:stretch>
            <a:fillRect/>
          </a:stretch>
        </p:blipFill>
        <p:spPr bwMode="auto">
          <a:xfrm>
            <a:off x="685800" y="152400"/>
            <a:ext cx="7972425" cy="5686425"/>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4" descr="Picture 186"/>
          <p:cNvPicPr>
            <a:picLocks noChangeAspect="1" noChangeArrowheads="1"/>
          </p:cNvPicPr>
          <p:nvPr/>
        </p:nvPicPr>
        <p:blipFill>
          <a:blip r:embed="rId3"/>
          <a:srcRect/>
          <a:stretch>
            <a:fillRect/>
          </a:stretch>
        </p:blipFill>
        <p:spPr bwMode="auto">
          <a:xfrm>
            <a:off x="228599" y="428625"/>
            <a:ext cx="8037513" cy="5229225"/>
          </a:xfrm>
          <a:prstGeom prst="rect">
            <a:avLst/>
          </a:prstGeom>
          <a:noFill/>
          <a:ln w="9525">
            <a:noFill/>
            <a:miter lim="800000"/>
            <a:headEnd/>
            <a:tailEnd/>
          </a:ln>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1266" name="Picture 2"/>
          <p:cNvPicPr>
            <a:picLocks noChangeAspect="1" noChangeArrowheads="1"/>
          </p:cNvPicPr>
          <p:nvPr/>
        </p:nvPicPr>
        <p:blipFill>
          <a:blip r:embed="rId3"/>
          <a:srcRect/>
          <a:stretch>
            <a:fillRect/>
          </a:stretch>
        </p:blipFill>
        <p:spPr bwMode="auto">
          <a:xfrm>
            <a:off x="1524000" y="1752600"/>
            <a:ext cx="6280488" cy="3743902"/>
          </a:xfrm>
          <a:prstGeom prst="rect">
            <a:avLst/>
          </a:prstGeom>
          <a:noFill/>
          <a:ln w="9525">
            <a:noFill/>
            <a:miter lim="800000"/>
            <a:headEnd/>
            <a:tailEnd/>
          </a:ln>
          <a:effectLst/>
        </p:spPr>
      </p:pic>
      <p:sp>
        <p:nvSpPr>
          <p:cNvPr id="6" name="Title 1"/>
          <p:cNvSpPr>
            <a:spLocks noGrp="1"/>
          </p:cNvSpPr>
          <p:nvPr>
            <p:ph type="ctrTitle"/>
          </p:nvPr>
        </p:nvSpPr>
        <p:spPr>
          <a:xfrm>
            <a:off x="762000" y="381000"/>
            <a:ext cx="7848600" cy="1066799"/>
          </a:xfrm>
        </p:spPr>
        <p:txBody>
          <a:bodyPr>
            <a:noAutofit/>
          </a:bodyPr>
          <a:lstStyle/>
          <a:p>
            <a:pPr algn="ctr"/>
            <a:r>
              <a:rPr lang="fa-IR" sz="3600" dirty="0" smtClean="0"/>
              <a:t>اتصال مناسب چارچوب بازشو با دیوار جهت حفظ انسجام سازه</a:t>
            </a:r>
            <a:endParaRPr lang="en-US" sz="3600" dirty="0"/>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dirty="0" smtClean="0"/>
              <a:t>نعل درگاه</a:t>
            </a:r>
            <a:endParaRPr lang="en-US" sz="3600" dirty="0"/>
          </a:p>
        </p:txBody>
      </p:sp>
      <p:sp>
        <p:nvSpPr>
          <p:cNvPr id="3" name="Subtitle 2"/>
          <p:cNvSpPr>
            <a:spLocks noGrp="1"/>
          </p:cNvSpPr>
          <p:nvPr>
            <p:ph type="subTitle" idx="1"/>
          </p:nvPr>
        </p:nvSpPr>
        <p:spPr>
          <a:xfrm>
            <a:off x="685800" y="1295400"/>
            <a:ext cx="7772400" cy="3810000"/>
          </a:xfrm>
        </p:spPr>
        <p:txBody>
          <a:bodyPr>
            <a:noAutofit/>
          </a:bodyPr>
          <a:lstStyle/>
          <a:p>
            <a:r>
              <a:rPr lang="fa-IR" sz="3600" b="1" dirty="0" smtClean="0"/>
              <a:t>١-طول نشیمن نعل درگاه بر روی دیوار در ھر طرف باید حداقل ٢۵ سانتیمتر باشد.</a:t>
            </a:r>
          </a:p>
          <a:p>
            <a:r>
              <a:rPr lang="fa-IR" sz="3600" b="1" dirty="0" smtClean="0"/>
              <a:t>٢-در صورت استفاده از کلافھای قائم در اطراف بازشوھا، نعل درگاه باید به نحو مناسبی به آنھا متصل شوند.</a:t>
            </a:r>
          </a:p>
          <a:p>
            <a:r>
              <a:rPr lang="fa-IR" sz="3600" b="1" dirty="0" smtClean="0"/>
              <a:t>٣-عرض نعل درگاه باید مساوی ضخامت دیوار باشد.</a:t>
            </a:r>
            <a:endParaRPr lang="fa-IR" sz="36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685799"/>
          </a:xfrm>
        </p:spPr>
        <p:txBody>
          <a:bodyPr>
            <a:noAutofit/>
          </a:bodyPr>
          <a:lstStyle/>
          <a:p>
            <a:pPr algn="ctr"/>
            <a:r>
              <a:rPr lang="fa-IR" sz="3600" dirty="0" smtClean="0"/>
              <a:t>کلافبندی افقی</a:t>
            </a:r>
            <a:endParaRPr lang="en-US" sz="3600" dirty="0"/>
          </a:p>
        </p:txBody>
      </p:sp>
      <p:sp>
        <p:nvSpPr>
          <p:cNvPr id="3" name="Subtitle 2"/>
          <p:cNvSpPr>
            <a:spLocks noGrp="1"/>
          </p:cNvSpPr>
          <p:nvPr>
            <p:ph type="subTitle" idx="1"/>
          </p:nvPr>
        </p:nvSpPr>
        <p:spPr>
          <a:xfrm>
            <a:off x="685800" y="1295400"/>
            <a:ext cx="7772400" cy="3810000"/>
          </a:xfrm>
        </p:spPr>
        <p:txBody>
          <a:bodyPr>
            <a:noAutofit/>
          </a:bodyPr>
          <a:lstStyle/>
          <a:p>
            <a:pPr algn="just" rtl="1"/>
            <a:r>
              <a:rPr lang="fa-IR" sz="2000" b="1" dirty="0" smtClean="0"/>
              <a:t>الف)محلھای تعبیه و مشخصات کلافھای افقی</a:t>
            </a:r>
          </a:p>
          <a:p>
            <a:pPr algn="just" rtl="1"/>
            <a:r>
              <a:rPr lang="fa-IR" sz="1600" b="1" dirty="0" smtClean="0"/>
              <a:t>در کلیه دیوارھای باربر باید کلافھای افقی در تراز زیر دیوار و زیر سقف، ساخته شود:</a:t>
            </a:r>
          </a:p>
          <a:p>
            <a:pPr algn="just" rtl="1"/>
            <a:r>
              <a:rPr lang="fa-IR" sz="1600" b="1" dirty="0" smtClean="0"/>
              <a:t>١- در تراز زیر دیوار :این کلاف باید با بتن مسلح ( با عیار سیمان حداقل ٣٠٠ کیلوگرم در متر مکعب بتن) ساخته شود به طوری که عرض آن از عرض دیوار و یا ٢۵ سانتیمتر و ارتفاع آن از دوسوم عرض دیوار و یا ٢۵  سانتیمتر کمتر نباشد.</a:t>
            </a:r>
          </a:p>
          <a:p>
            <a:pPr algn="just" rtl="1"/>
            <a:r>
              <a:rPr lang="fa-IR" sz="1600" b="1" dirty="0" smtClean="0"/>
              <a:t>٢- در تراز زیر سقف :کلاف سقف چنانچه با بتن مسلح ساخته شود، باید عرض آن ھم عرض دیوار بوده مگر در دیوارھای خارجی که به منظور نماسازی می توان عرض کلاف را حداکثر تا ١٢ سانتیمتر از عرض دیوار کمتر اختیار نمود ولی در ھیچ حال عرض کلاف افقی نباید از ٢٠ سانتیمتر کمتر باشد .ارتفاع کلاف نباید از ٢٠</a:t>
            </a:r>
          </a:p>
          <a:p>
            <a:pPr algn="just" rtl="1"/>
            <a:r>
              <a:rPr lang="fa-IR" sz="1600" b="1" dirty="0" smtClean="0"/>
              <a:t>سانتیمتر کمتر باشد.به جای کلاف بتن مسلح میتوان از پروفیلھای فولادی معادل تیرآھن 100</a:t>
            </a:r>
            <a:r>
              <a:rPr lang="en-US" sz="1600" b="1" dirty="0" smtClean="0"/>
              <a:t>IPE</a:t>
            </a:r>
            <a:r>
              <a:rPr lang="fa-IR" sz="1600" b="1" dirty="0" smtClean="0"/>
              <a:t> ( نمره ١٠ ) استفاده نمود مشروط بر آن که کلاف فولادی بخوبی به سقف متصل شده و ھمچنین این کلافھا به نحوی</a:t>
            </a:r>
            <a:r>
              <a:rPr lang="en-US" sz="1600" b="1" dirty="0" smtClean="0"/>
              <a:t> </a:t>
            </a:r>
            <a:r>
              <a:rPr lang="fa-IR" sz="1600" b="1" dirty="0" smtClean="0"/>
              <a:t>مناسب به کلاف قائم یا دیوار متصل گردد .ھنگام اجرای کلاف سقف، تدابیر لازم برای اتصال مناسب آن به</a:t>
            </a:r>
            <a:r>
              <a:rPr lang="en-US" sz="1600" b="1" dirty="0" smtClean="0"/>
              <a:t> </a:t>
            </a:r>
            <a:r>
              <a:rPr lang="fa-IR" sz="1600" b="1" dirty="0" smtClean="0"/>
              <a:t>تیرھای سقف اتخاذ شود</a:t>
            </a:r>
            <a:r>
              <a:rPr lang="fa-IR" sz="1400" b="1" dirty="0" smtClean="0"/>
              <a:t>.</a:t>
            </a:r>
            <a:endParaRPr lang="fa-IR" sz="14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a:t>
            </a:r>
            <a:endParaRPr lang="en-US" sz="3600" dirty="0"/>
          </a:p>
        </p:txBody>
      </p:sp>
      <p:sp>
        <p:nvSpPr>
          <p:cNvPr id="3" name="Subtitle 2"/>
          <p:cNvSpPr>
            <a:spLocks noGrp="1"/>
          </p:cNvSpPr>
          <p:nvPr>
            <p:ph type="subTitle" idx="1"/>
          </p:nvPr>
        </p:nvSpPr>
        <p:spPr>
          <a:xfrm>
            <a:off x="685800" y="1295400"/>
            <a:ext cx="7772400" cy="3810000"/>
          </a:xfrm>
        </p:spPr>
        <p:txBody>
          <a:bodyPr>
            <a:noAutofit/>
          </a:bodyPr>
          <a:lstStyle/>
          <a:p>
            <a:r>
              <a:rPr lang="fa-IR" sz="2000" b="1" dirty="0" smtClean="0"/>
              <a:t>ب)مشخصات و محل تعبیه میلگردھا در کلافھای افقی بتنی</a:t>
            </a:r>
          </a:p>
          <a:p>
            <a:r>
              <a:rPr lang="fa-IR" sz="2000" b="1" dirty="0" smtClean="0"/>
              <a:t>١-میلگردھای طولی باید از نوع آجدار با حداقل قطر ١٠ میلیمتر باشند.</a:t>
            </a:r>
          </a:p>
          <a:p>
            <a:r>
              <a:rPr lang="fa-IR" sz="2000" b="1" dirty="0" smtClean="0"/>
              <a:t>٢-میلگردھای طولی باید در چھار گوشه کلاف با پوشش بتنی مناسب ، قرار گیرند .در صورتی که عرض کلاف از ١٢ سانتیمتر تجاوز نماید تعداد میلگردھای طولی باید به ۶عدد و یا بیشتر افزایش داده شود به گونهای که فاصله ھر دو میلگرد مجاور از ٢۵ سانتیمتر بیشتر نباشد.</a:t>
            </a:r>
          </a:p>
          <a:p>
            <a:r>
              <a:rPr lang="fa-IR" sz="2000" b="1" dirty="0" smtClean="0"/>
              <a:t>٣-میلگردھای طولی باید با تنگھایی به قطر حداقل ۶میلیمتر به یکدیگر بسته شوند .فاصله تنگھا از یکدیگر نباید از ارتفاع کلاف یا ٢۵ سانتیمتر بیشتر باشد .فاصله تنگھا در فاصله ٧۵ سانتیمتر از بر کلاف قائم باید حداقل به ١۵ سانتیمتر کاھش یابد.</a:t>
            </a:r>
          </a:p>
          <a:p>
            <a:r>
              <a:rPr lang="fa-IR" sz="2000" b="1" dirty="0" smtClean="0"/>
              <a:t>۴-پوشش بتن اطراف میلگردھای طولی نباید در مورد کلاف زیر دیوارھا از ۵ سانتیمتر و در مورد کلاف سقف از ٢سانتیمتر کمتر باشد.</a:t>
            </a:r>
            <a:endParaRPr lang="fa-IR" sz="20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a:t>
            </a:r>
            <a:endParaRPr lang="en-US" sz="3600" dirty="0"/>
          </a:p>
        </p:txBody>
      </p:sp>
      <p:sp>
        <p:nvSpPr>
          <p:cNvPr id="3" name="Subtitle 2"/>
          <p:cNvSpPr>
            <a:spLocks noGrp="1"/>
          </p:cNvSpPr>
          <p:nvPr>
            <p:ph type="subTitle" idx="1"/>
          </p:nvPr>
        </p:nvSpPr>
        <p:spPr>
          <a:xfrm>
            <a:off x="685800" y="1295400"/>
            <a:ext cx="7772400" cy="3810000"/>
          </a:xfrm>
        </p:spPr>
        <p:txBody>
          <a:bodyPr>
            <a:noAutofit/>
          </a:bodyPr>
          <a:lstStyle/>
          <a:p>
            <a:r>
              <a:rPr lang="fa-IR" sz="2000" b="1" dirty="0" smtClean="0"/>
              <a:t>پ) اتصال کلافهای افقی</a:t>
            </a:r>
          </a:p>
          <a:p>
            <a:pPr algn="just" rtl="1"/>
            <a:r>
              <a:rPr lang="fa-IR" sz="1800" b="1" dirty="0" smtClean="0"/>
              <a:t>١-در ھر تراز، کلافھا باید به یکدیگر متصل شوند تا کلافبندی به صورت شبکه به ھم پیوسته ای باشد.</a:t>
            </a:r>
          </a:p>
          <a:p>
            <a:pPr algn="just" rtl="1"/>
            <a:r>
              <a:rPr lang="fa-IR" sz="1800" b="1" dirty="0" smtClean="0"/>
              <a:t>٢-آرماتورھا در محل تلاقی کلافھا باید به اندازه ۵٠ سانتیمتر ھمپوشانی داشته باشند تا اتصال کلافھا بخوبی تأمین گردد.</a:t>
            </a:r>
          </a:p>
          <a:p>
            <a:pPr algn="just" rtl="1"/>
            <a:r>
              <a:rPr lang="fa-IR" sz="1800" b="1" dirty="0" smtClean="0"/>
              <a:t>٣-کلاف افقی نباید در ھیچ جا منقطع باشد.عبور لوله یا دودکش به قطر بیش از یک ششم عرض کلاف از درون کلاف مجاز نمی باشد.بدیھی است عبور لوله یا دودکش باید از وسط کلاف عبور نموده و نباید باعث قطع میلگردھا گردد.</a:t>
            </a:r>
            <a:endParaRPr lang="fa-IR" sz="1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1506" name="Picture 2"/>
          <p:cNvPicPr>
            <a:picLocks noChangeAspect="1" noChangeArrowheads="1"/>
          </p:cNvPicPr>
          <p:nvPr/>
        </p:nvPicPr>
        <p:blipFill>
          <a:blip r:embed="rId3"/>
          <a:srcRect/>
          <a:stretch>
            <a:fillRect/>
          </a:stretch>
        </p:blipFill>
        <p:spPr bwMode="auto">
          <a:xfrm>
            <a:off x="0" y="1143000"/>
            <a:ext cx="8964930" cy="4271963"/>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 (کلاف زیر دیوار)</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6386" name="Picture 2"/>
          <p:cNvPicPr>
            <a:picLocks noChangeAspect="1" noChangeArrowheads="1"/>
          </p:cNvPicPr>
          <p:nvPr/>
        </p:nvPicPr>
        <p:blipFill>
          <a:blip r:embed="rId3"/>
          <a:srcRect/>
          <a:stretch>
            <a:fillRect/>
          </a:stretch>
        </p:blipFill>
        <p:spPr bwMode="auto">
          <a:xfrm>
            <a:off x="762000" y="1676400"/>
            <a:ext cx="7608232" cy="3692073"/>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 (کلاف زیر دیوار)</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7410" name="Picture 2"/>
          <p:cNvPicPr>
            <a:picLocks noChangeAspect="1" noChangeArrowheads="1"/>
          </p:cNvPicPr>
          <p:nvPr/>
        </p:nvPicPr>
        <p:blipFill>
          <a:blip r:embed="rId3"/>
          <a:srcRect/>
          <a:stretch>
            <a:fillRect/>
          </a:stretch>
        </p:blipFill>
        <p:spPr bwMode="auto">
          <a:xfrm>
            <a:off x="1295400" y="2057400"/>
            <a:ext cx="6487806" cy="2512196"/>
          </a:xfrm>
          <a:prstGeom prst="rect">
            <a:avLst/>
          </a:prstGeom>
          <a:noFill/>
          <a:ln w="9525">
            <a:noFill/>
            <a:miter lim="800000"/>
            <a:headEnd/>
            <a:tailEnd/>
          </a:ln>
          <a:effectLst/>
        </p:spPr>
      </p:pic>
    </p:spTree>
  </p:cSld>
  <p:clrMapOvr>
    <a:masterClrMapping/>
  </p:clrMapOvr>
  <p:transition>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 (فاصله بین تنگها)</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8434" name="Picture 2"/>
          <p:cNvPicPr>
            <a:picLocks noChangeAspect="1" noChangeArrowheads="1"/>
          </p:cNvPicPr>
          <p:nvPr/>
        </p:nvPicPr>
        <p:blipFill>
          <a:blip r:embed="rId3"/>
          <a:srcRect/>
          <a:stretch>
            <a:fillRect/>
          </a:stretch>
        </p:blipFill>
        <p:spPr bwMode="auto">
          <a:xfrm>
            <a:off x="990600" y="1905000"/>
            <a:ext cx="7451220" cy="3353658"/>
          </a:xfrm>
          <a:prstGeom prst="rect">
            <a:avLst/>
          </a:prstGeom>
          <a:noFill/>
          <a:ln w="9525">
            <a:noFill/>
            <a:miter lim="800000"/>
            <a:headEnd/>
            <a:tailEnd/>
          </a:ln>
          <a:effectLst/>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4" descr="Picture 195"/>
          <p:cNvPicPr>
            <a:picLocks noChangeAspect="1" noChangeArrowheads="1"/>
          </p:cNvPicPr>
          <p:nvPr/>
        </p:nvPicPr>
        <p:blipFill>
          <a:blip r:embed="rId3"/>
          <a:srcRect/>
          <a:stretch>
            <a:fillRect/>
          </a:stretch>
        </p:blipFill>
        <p:spPr bwMode="auto">
          <a:xfrm>
            <a:off x="259080" y="1219200"/>
            <a:ext cx="8884920" cy="4693920"/>
          </a:xfrm>
          <a:prstGeom prst="rect">
            <a:avLst/>
          </a:prstGeom>
          <a:noFill/>
          <a:ln w="9525">
            <a:noFill/>
            <a:miter lim="800000"/>
            <a:headEnd/>
            <a:tailEnd/>
          </a:ln>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13" presetClass="entr" presetSubtype="32"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plus(out)">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5" descr="untitle3"/>
          <p:cNvPicPr>
            <a:picLocks noChangeAspect="1" noChangeArrowheads="1"/>
          </p:cNvPicPr>
          <p:nvPr/>
        </p:nvPicPr>
        <p:blipFill>
          <a:blip r:embed="rId3"/>
          <a:srcRect/>
          <a:stretch>
            <a:fillRect/>
          </a:stretch>
        </p:blipFill>
        <p:spPr bwMode="auto">
          <a:xfrm>
            <a:off x="381000" y="1143000"/>
            <a:ext cx="8569325" cy="4257675"/>
          </a:xfrm>
          <a:prstGeom prst="rect">
            <a:avLst/>
          </a:prstGeom>
          <a:noFill/>
          <a:ln w="9525">
            <a:noFill/>
            <a:miter lim="800000"/>
            <a:headEnd/>
            <a:tailEnd/>
          </a:ln>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18" presetClass="entr" presetSubtype="3"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trips(upRight)">
                                      <p:cBhvr>
                                        <p:cTn id="1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افقی</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9218" name="Picture 2"/>
          <p:cNvPicPr>
            <a:picLocks noChangeAspect="1" noChangeArrowheads="1"/>
          </p:cNvPicPr>
          <p:nvPr/>
        </p:nvPicPr>
        <p:blipFill>
          <a:blip r:embed="rId3"/>
          <a:srcRect/>
          <a:stretch>
            <a:fillRect/>
          </a:stretch>
        </p:blipFill>
        <p:spPr bwMode="auto">
          <a:xfrm>
            <a:off x="914400" y="1219200"/>
            <a:ext cx="7402440" cy="3975610"/>
          </a:xfrm>
          <a:prstGeom prst="rect">
            <a:avLst/>
          </a:prstGeom>
          <a:noFill/>
          <a:ln w="9525">
            <a:noFill/>
            <a:miter lim="800000"/>
            <a:headEnd/>
            <a:tailEnd/>
          </a:ln>
          <a:effectLst/>
        </p:spPr>
      </p:pic>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نحوه اتصال کلاف سقف در برخورد با کانال دودکش - تهویه</a:t>
            </a:r>
            <a:endParaRPr lang="en-US" sz="3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3794" name="Picture 2"/>
          <p:cNvPicPr>
            <a:picLocks noChangeAspect="1" noChangeArrowheads="1"/>
          </p:cNvPicPr>
          <p:nvPr/>
        </p:nvPicPr>
        <p:blipFill>
          <a:blip r:embed="rId3"/>
          <a:srcRect/>
          <a:stretch>
            <a:fillRect/>
          </a:stretch>
        </p:blipFill>
        <p:spPr bwMode="auto">
          <a:xfrm>
            <a:off x="914400" y="1066800"/>
            <a:ext cx="7768293" cy="5207317"/>
          </a:xfrm>
          <a:prstGeom prst="rect">
            <a:avLst/>
          </a:prstGeom>
          <a:noFill/>
          <a:ln w="9525">
            <a:noFill/>
            <a:miter lim="800000"/>
            <a:headEnd/>
            <a:tailEnd/>
          </a:ln>
          <a:effectLst/>
        </p:spPr>
      </p:pic>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7170" name="Picture 2"/>
          <p:cNvPicPr>
            <a:picLocks noChangeAspect="1" noChangeArrowheads="1"/>
          </p:cNvPicPr>
          <p:nvPr/>
        </p:nvPicPr>
        <p:blipFill>
          <a:blip r:embed="rId3"/>
          <a:srcRect/>
          <a:stretch>
            <a:fillRect/>
          </a:stretch>
        </p:blipFill>
        <p:spPr bwMode="auto">
          <a:xfrm>
            <a:off x="609600" y="152400"/>
            <a:ext cx="7652385" cy="564642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5842" name="Picture 2"/>
          <p:cNvPicPr>
            <a:picLocks noChangeAspect="1" noChangeArrowheads="1"/>
          </p:cNvPicPr>
          <p:nvPr/>
        </p:nvPicPr>
        <p:blipFill>
          <a:blip r:embed="rId3"/>
          <a:srcRect/>
          <a:stretch>
            <a:fillRect/>
          </a:stretch>
        </p:blipFill>
        <p:spPr bwMode="auto">
          <a:xfrm>
            <a:off x="1981200" y="1219200"/>
            <a:ext cx="5634147" cy="4893293"/>
          </a:xfrm>
          <a:prstGeom prst="rect">
            <a:avLst/>
          </a:prstGeom>
          <a:noFill/>
          <a:ln w="9525">
            <a:noFill/>
            <a:miter lim="800000"/>
            <a:headEnd/>
            <a:tailEnd/>
          </a:ln>
          <a:effectLst/>
        </p:spPr>
      </p:pic>
      <p:sp>
        <p:nvSpPr>
          <p:cNvPr id="5" name="Title 1"/>
          <p:cNvSpPr>
            <a:spLocks noGrp="1"/>
          </p:cNvSpPr>
          <p:nvPr>
            <p:ph type="ctrTitle"/>
          </p:nvPr>
        </p:nvSpPr>
        <p:spPr>
          <a:xfrm>
            <a:off x="762000" y="228600"/>
            <a:ext cx="7772400" cy="1142999"/>
          </a:xfrm>
        </p:spPr>
        <p:txBody>
          <a:bodyPr>
            <a:noAutofit/>
          </a:bodyPr>
          <a:lstStyle/>
          <a:p>
            <a:pPr algn="ctr"/>
            <a:r>
              <a:rPr lang="fa-IR" sz="3600" dirty="0" smtClean="0"/>
              <a:t>نحوه کلافبندی قائم با توجه به فاصله محور تا محور</a:t>
            </a:r>
            <a:endParaRPr lang="en-US" sz="3600" dirty="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228600"/>
            <a:ext cx="7772400" cy="1142999"/>
          </a:xfrm>
        </p:spPr>
        <p:txBody>
          <a:bodyPr>
            <a:noAutofit/>
          </a:bodyPr>
          <a:lstStyle/>
          <a:p>
            <a:pPr algn="ctr"/>
            <a:r>
              <a:rPr lang="fa-IR" sz="3600" dirty="0" smtClean="0"/>
              <a:t>ابعاد کلاف قائم</a:t>
            </a:r>
            <a:endParaRPr lang="en-US" sz="3600" dirty="0"/>
          </a:p>
        </p:txBody>
      </p:sp>
      <p:pic>
        <p:nvPicPr>
          <p:cNvPr id="36866" name="Picture 2"/>
          <p:cNvPicPr>
            <a:picLocks noChangeAspect="1" noChangeArrowheads="1"/>
          </p:cNvPicPr>
          <p:nvPr/>
        </p:nvPicPr>
        <p:blipFill>
          <a:blip r:embed="rId3"/>
          <a:srcRect/>
          <a:stretch>
            <a:fillRect/>
          </a:stretch>
        </p:blipFill>
        <p:spPr bwMode="auto">
          <a:xfrm>
            <a:off x="2590800" y="1447800"/>
            <a:ext cx="3704268" cy="4664634"/>
          </a:xfrm>
          <a:prstGeom prst="rect">
            <a:avLst/>
          </a:prstGeom>
          <a:noFill/>
          <a:ln w="9525">
            <a:noFill/>
            <a:miter lim="800000"/>
            <a:headEnd/>
            <a:tailEnd/>
          </a:ln>
          <a:effectLst/>
        </p:spPr>
      </p:pic>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609600" y="381000"/>
            <a:ext cx="7772400" cy="761999"/>
          </a:xfrm>
        </p:spPr>
        <p:txBody>
          <a:bodyPr>
            <a:noAutofit/>
          </a:bodyPr>
          <a:lstStyle/>
          <a:p>
            <a:pPr algn="ctr"/>
            <a:r>
              <a:rPr lang="fa-IR" sz="3600" dirty="0" smtClean="0"/>
              <a:t>کلاف در گوشه های اصلی</a:t>
            </a:r>
            <a:endParaRPr lang="en-US" sz="3600" dirty="0"/>
          </a:p>
        </p:txBody>
      </p:sp>
      <p:pic>
        <p:nvPicPr>
          <p:cNvPr id="37890" name="Picture 2"/>
          <p:cNvPicPr>
            <a:picLocks noChangeAspect="1" noChangeArrowheads="1"/>
          </p:cNvPicPr>
          <p:nvPr/>
        </p:nvPicPr>
        <p:blipFill>
          <a:blip r:embed="rId3"/>
          <a:srcRect/>
          <a:stretch>
            <a:fillRect/>
          </a:stretch>
        </p:blipFill>
        <p:spPr bwMode="auto">
          <a:xfrm>
            <a:off x="2590800" y="1132390"/>
            <a:ext cx="4820123" cy="5725610"/>
          </a:xfrm>
          <a:prstGeom prst="rect">
            <a:avLst/>
          </a:prstGeom>
          <a:noFill/>
          <a:ln w="9525">
            <a:noFill/>
            <a:miter lim="800000"/>
            <a:headEnd/>
            <a:tailEnd/>
          </a:ln>
          <a:effectLst/>
        </p:spPr>
      </p:pic>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8194" name="Picture 2"/>
          <p:cNvPicPr>
            <a:picLocks noChangeAspect="1" noChangeArrowheads="1"/>
          </p:cNvPicPr>
          <p:nvPr/>
        </p:nvPicPr>
        <p:blipFill>
          <a:blip r:embed="rId3"/>
          <a:srcRect/>
          <a:stretch>
            <a:fillRect/>
          </a:stretch>
        </p:blipFill>
        <p:spPr bwMode="auto">
          <a:xfrm>
            <a:off x="685800" y="228600"/>
            <a:ext cx="7553325" cy="4928235"/>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685799"/>
          </a:xfrm>
        </p:spPr>
        <p:txBody>
          <a:bodyPr>
            <a:noAutofit/>
          </a:bodyPr>
          <a:lstStyle/>
          <a:p>
            <a:pPr algn="ctr"/>
            <a:r>
              <a:rPr lang="fa-IR" sz="3600" dirty="0" smtClean="0"/>
              <a:t>کلافبندی قائم</a:t>
            </a:r>
            <a:endParaRPr lang="en-US" sz="3600" dirty="0"/>
          </a:p>
        </p:txBody>
      </p:sp>
      <p:sp>
        <p:nvSpPr>
          <p:cNvPr id="3" name="Subtitle 2"/>
          <p:cNvSpPr>
            <a:spLocks noGrp="1"/>
          </p:cNvSpPr>
          <p:nvPr>
            <p:ph type="subTitle" idx="1"/>
          </p:nvPr>
        </p:nvSpPr>
        <p:spPr>
          <a:xfrm>
            <a:off x="685800" y="1295400"/>
            <a:ext cx="7772400" cy="3810000"/>
          </a:xfrm>
        </p:spPr>
        <p:txBody>
          <a:bodyPr>
            <a:noAutofit/>
          </a:bodyPr>
          <a:lstStyle/>
          <a:p>
            <a:r>
              <a:rPr lang="fa-IR" sz="2000" b="1" dirty="0" smtClean="0"/>
              <a:t>پ) اتصال کلافهای قائم</a:t>
            </a:r>
          </a:p>
          <a:p>
            <a:pPr algn="just" rtl="1"/>
            <a:r>
              <a:rPr lang="fa-IR" sz="1800" b="1" dirty="0" smtClean="0"/>
              <a:t>1- کلافهای قائم باید به نحوی مناسب در کلیه محلهای تقاطع ، به کلافهای افقی متصل شوند. در نقاط تقاطعی که کلاف قائم ادامه نمی یابد میلگردهای طولی کلاف قائم باید حداقل به اندازه 30 سانتیمتر در داخل کلاف افقی مهار گردد.</a:t>
            </a:r>
            <a:endParaRPr lang="fa-IR" sz="1800" b="1" dirty="0" smtClean="0">
              <a:effectLst>
                <a:outerShdw blurRad="31750" dist="25400" dir="5400000" algn="tl" rotWithShape="0">
                  <a:srgbClr val="000000">
                    <a:alpha val="25000"/>
                  </a:srgbClr>
                </a:outerShdw>
              </a:effectLst>
              <a:latin typeface="+mj-lt"/>
              <a:ea typeface="+mj-ea"/>
              <a:cs typeface="+mj-cs"/>
            </a:endParaRPr>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4" descr="Picture 198"/>
          <p:cNvPicPr>
            <a:picLocks noChangeAspect="1" noChangeArrowheads="1"/>
          </p:cNvPicPr>
          <p:nvPr/>
        </p:nvPicPr>
        <p:blipFill>
          <a:blip r:embed="rId3"/>
          <a:srcRect/>
          <a:stretch>
            <a:fillRect/>
          </a:stretch>
        </p:blipFill>
        <p:spPr bwMode="auto">
          <a:xfrm>
            <a:off x="914400" y="228600"/>
            <a:ext cx="7200900" cy="6173787"/>
          </a:xfrm>
          <a:prstGeom prst="rect">
            <a:avLst/>
          </a:prstGeom>
          <a:noFill/>
          <a:ln w="9525">
            <a:noFill/>
            <a:miter lim="800000"/>
            <a:headEnd/>
            <a:tailEnd/>
          </a:ln>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4" descr="untitle4"/>
          <p:cNvPicPr>
            <a:picLocks noChangeAspect="1" noChangeArrowheads="1"/>
          </p:cNvPicPr>
          <p:nvPr/>
        </p:nvPicPr>
        <p:blipFill>
          <a:blip r:embed="rId3"/>
          <a:srcRect/>
          <a:stretch>
            <a:fillRect/>
          </a:stretch>
        </p:blipFill>
        <p:spPr bwMode="auto">
          <a:xfrm>
            <a:off x="71438" y="457200"/>
            <a:ext cx="9072562" cy="5686425"/>
          </a:xfrm>
          <a:prstGeom prst="rect">
            <a:avLst/>
          </a:prstGeom>
          <a:noFill/>
          <a:ln w="9525">
            <a:noFill/>
            <a:miter lim="800000"/>
            <a:headEnd/>
            <a:tailEnd/>
          </a:ln>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4" descr="Picture 212"/>
          <p:cNvPicPr>
            <a:picLocks noChangeAspect="1" noChangeArrowheads="1"/>
          </p:cNvPicPr>
          <p:nvPr/>
        </p:nvPicPr>
        <p:blipFill>
          <a:blip r:embed="rId3"/>
          <a:srcRect/>
          <a:stretch>
            <a:fillRect/>
          </a:stretch>
        </p:blipFill>
        <p:spPr bwMode="auto">
          <a:xfrm>
            <a:off x="684213" y="549275"/>
            <a:ext cx="7632700" cy="5722938"/>
          </a:xfrm>
          <a:prstGeom prst="rect">
            <a:avLst/>
          </a:prstGeom>
          <a:noFill/>
          <a:ln w="9525">
            <a:noFill/>
            <a:miter lim="800000"/>
            <a:headEnd/>
            <a:tailEnd/>
          </a:ln>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2770" name="Picture 2"/>
          <p:cNvPicPr>
            <a:picLocks noChangeAspect="1" noChangeArrowheads="1"/>
          </p:cNvPicPr>
          <p:nvPr/>
        </p:nvPicPr>
        <p:blipFill>
          <a:blip r:embed="rId3"/>
          <a:srcRect/>
          <a:stretch>
            <a:fillRect/>
          </a:stretch>
        </p:blipFill>
        <p:spPr bwMode="auto">
          <a:xfrm>
            <a:off x="1905000" y="1219200"/>
            <a:ext cx="4737805" cy="4748476"/>
          </a:xfrm>
          <a:prstGeom prst="rect">
            <a:avLst/>
          </a:prstGeom>
          <a:noFill/>
          <a:ln w="9525">
            <a:noFill/>
            <a:miter lim="800000"/>
            <a:headEnd/>
            <a:tailEnd/>
          </a:ln>
          <a:effectLst/>
        </p:spPr>
      </p:pic>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کلاف فلزی روی دیوار</a:t>
            </a:r>
            <a:endParaRPr lang="en-US" sz="3600" dirty="0"/>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اتصال کلافهای افقی و قائم</a:t>
            </a:r>
            <a:endParaRPr lang="en-US" sz="3600" dirty="0"/>
          </a:p>
        </p:txBody>
      </p:sp>
      <p:pic>
        <p:nvPicPr>
          <p:cNvPr id="38915" name="Picture 3"/>
          <p:cNvPicPr>
            <a:picLocks noChangeAspect="1" noChangeArrowheads="1"/>
          </p:cNvPicPr>
          <p:nvPr/>
        </p:nvPicPr>
        <p:blipFill>
          <a:blip r:embed="rId3"/>
          <a:srcRect/>
          <a:stretch>
            <a:fillRect/>
          </a:stretch>
        </p:blipFill>
        <p:spPr bwMode="auto">
          <a:xfrm>
            <a:off x="1676400" y="1447800"/>
            <a:ext cx="5698172" cy="4561739"/>
          </a:xfrm>
          <a:prstGeom prst="rect">
            <a:avLst/>
          </a:prstGeom>
          <a:noFill/>
          <a:ln w="9525">
            <a:noFill/>
            <a:miter lim="800000"/>
            <a:headEnd/>
            <a:tailEnd/>
          </a:ln>
          <a:effectLst/>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اتصال کلافهای افقی و قائم</a:t>
            </a:r>
            <a:endParaRPr lang="en-US" sz="3600" dirty="0"/>
          </a:p>
        </p:txBody>
      </p:sp>
      <p:pic>
        <p:nvPicPr>
          <p:cNvPr id="38914" name="Picture 2"/>
          <p:cNvPicPr>
            <a:picLocks noChangeAspect="1" noChangeArrowheads="1"/>
          </p:cNvPicPr>
          <p:nvPr/>
        </p:nvPicPr>
        <p:blipFill>
          <a:blip r:embed="rId3"/>
          <a:srcRect/>
          <a:stretch>
            <a:fillRect/>
          </a:stretch>
        </p:blipFill>
        <p:spPr bwMode="auto">
          <a:xfrm>
            <a:off x="1828800" y="1524000"/>
            <a:ext cx="5990855" cy="4733230"/>
          </a:xfrm>
          <a:prstGeom prst="rect">
            <a:avLst/>
          </a:prstGeom>
          <a:noFill/>
          <a:ln w="9525">
            <a:noFill/>
            <a:miter lim="800000"/>
            <a:headEnd/>
            <a:tailEnd/>
          </a:ln>
          <a:effectLst/>
        </p:spPr>
      </p:pic>
    </p:spTree>
  </p:cSld>
  <p:clrMapOvr>
    <a:masterClrMapping/>
  </p:clrMapOvr>
  <p:transition>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اتصال کلافهای افقی و قائم</a:t>
            </a:r>
            <a:endParaRPr lang="en-US" sz="3600" dirty="0"/>
          </a:p>
        </p:txBody>
      </p:sp>
      <p:pic>
        <p:nvPicPr>
          <p:cNvPr id="39939" name="Picture 3"/>
          <p:cNvPicPr>
            <a:picLocks noChangeAspect="1" noChangeArrowheads="1"/>
          </p:cNvPicPr>
          <p:nvPr/>
        </p:nvPicPr>
        <p:blipFill>
          <a:blip r:embed="rId3"/>
          <a:srcRect/>
          <a:stretch>
            <a:fillRect/>
          </a:stretch>
        </p:blipFill>
        <p:spPr bwMode="auto">
          <a:xfrm>
            <a:off x="1600200" y="1066800"/>
            <a:ext cx="5498094" cy="5121953"/>
          </a:xfrm>
          <a:prstGeom prst="rect">
            <a:avLst/>
          </a:prstGeom>
          <a:noFill/>
          <a:ln w="9525">
            <a:noFill/>
            <a:miter lim="800000"/>
            <a:headEnd/>
            <a:tailEnd/>
          </a:ln>
          <a:effectLst/>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اتصال کلافهای افقی و قائم</a:t>
            </a:r>
            <a:endParaRPr lang="en-US" sz="3600" dirty="0"/>
          </a:p>
        </p:txBody>
      </p:sp>
      <p:pic>
        <p:nvPicPr>
          <p:cNvPr id="40962" name="Picture 2"/>
          <p:cNvPicPr>
            <a:picLocks noChangeAspect="1" noChangeArrowheads="1"/>
          </p:cNvPicPr>
          <p:nvPr/>
        </p:nvPicPr>
        <p:blipFill>
          <a:blip r:embed="rId3"/>
          <a:srcRect/>
          <a:stretch>
            <a:fillRect/>
          </a:stretch>
        </p:blipFill>
        <p:spPr bwMode="auto">
          <a:xfrm>
            <a:off x="762000" y="1447800"/>
            <a:ext cx="7915016" cy="4641770"/>
          </a:xfrm>
          <a:prstGeom prst="rect">
            <a:avLst/>
          </a:prstGeom>
          <a:noFill/>
          <a:ln w="9525">
            <a:noFill/>
            <a:miter lim="800000"/>
            <a:headEnd/>
            <a:tailEnd/>
          </a:ln>
          <a:effectLst/>
        </p:spPr>
      </p:pic>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نحوه اتصال کلاف سقف در برخورد با کانال دودکش و تهویه</a:t>
            </a:r>
            <a:endParaRPr lang="en-US" sz="2800" dirty="0"/>
          </a:p>
        </p:txBody>
      </p:sp>
      <p:pic>
        <p:nvPicPr>
          <p:cNvPr id="41986" name="Picture 2"/>
          <p:cNvPicPr>
            <a:picLocks noChangeAspect="1" noChangeArrowheads="1"/>
          </p:cNvPicPr>
          <p:nvPr/>
        </p:nvPicPr>
        <p:blipFill>
          <a:blip r:embed="rId3"/>
          <a:srcRect/>
          <a:stretch>
            <a:fillRect/>
          </a:stretch>
        </p:blipFill>
        <p:spPr bwMode="auto">
          <a:xfrm>
            <a:off x="1447800" y="1066800"/>
            <a:ext cx="6219512" cy="5277440"/>
          </a:xfrm>
          <a:prstGeom prst="rect">
            <a:avLst/>
          </a:prstGeom>
          <a:noFill/>
          <a:ln w="9525">
            <a:noFill/>
            <a:miter lim="800000"/>
            <a:headEnd/>
            <a:tailEnd/>
          </a:ln>
          <a:effectLst/>
        </p:spPr>
      </p:pic>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کلافبندی قائم</a:t>
            </a:r>
            <a:endParaRPr lang="en-US" sz="3600" dirty="0"/>
          </a:p>
        </p:txBody>
      </p:sp>
      <p:pic>
        <p:nvPicPr>
          <p:cNvPr id="9218" name="Picture 2"/>
          <p:cNvPicPr>
            <a:picLocks noChangeAspect="1" noChangeArrowheads="1"/>
          </p:cNvPicPr>
          <p:nvPr/>
        </p:nvPicPr>
        <p:blipFill>
          <a:blip r:embed="rId3"/>
          <a:srcRect/>
          <a:stretch>
            <a:fillRect/>
          </a:stretch>
        </p:blipFill>
        <p:spPr bwMode="auto">
          <a:xfrm>
            <a:off x="1295400" y="1143000"/>
            <a:ext cx="6607969" cy="1952625"/>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0242" name="Picture 2"/>
          <p:cNvPicPr>
            <a:picLocks noChangeAspect="1" noChangeArrowheads="1"/>
          </p:cNvPicPr>
          <p:nvPr/>
        </p:nvPicPr>
        <p:blipFill>
          <a:blip r:embed="rId3"/>
          <a:srcRect/>
          <a:stretch>
            <a:fillRect/>
          </a:stretch>
        </p:blipFill>
        <p:spPr bwMode="auto">
          <a:xfrm>
            <a:off x="2057400" y="114300"/>
            <a:ext cx="5726430" cy="674370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1266" name="Picture 2"/>
          <p:cNvPicPr>
            <a:picLocks noChangeAspect="1" noChangeArrowheads="1"/>
          </p:cNvPicPr>
          <p:nvPr/>
        </p:nvPicPr>
        <p:blipFill>
          <a:blip r:embed="rId3"/>
          <a:srcRect/>
          <a:stretch>
            <a:fillRect/>
          </a:stretch>
        </p:blipFill>
        <p:spPr bwMode="auto">
          <a:xfrm>
            <a:off x="228600" y="228600"/>
            <a:ext cx="8715375" cy="5667375"/>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4" descr="Picture 205"/>
          <p:cNvPicPr>
            <a:picLocks noChangeAspect="1" noChangeArrowheads="1"/>
          </p:cNvPicPr>
          <p:nvPr/>
        </p:nvPicPr>
        <p:blipFill>
          <a:blip r:embed="rId3"/>
          <a:srcRect/>
          <a:stretch>
            <a:fillRect/>
          </a:stretch>
        </p:blipFill>
        <p:spPr bwMode="auto">
          <a:xfrm>
            <a:off x="1066800" y="152400"/>
            <a:ext cx="6985000" cy="6240463"/>
          </a:xfrm>
          <a:prstGeom prst="rect">
            <a:avLst/>
          </a:prstGeom>
          <a:noFill/>
          <a:ln w="9525">
            <a:noFill/>
            <a:miter lim="800000"/>
            <a:headEnd/>
            <a:tailEnd/>
          </a:ln>
        </p:spPr>
      </p:pic>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026" name="Picture 2"/>
          <p:cNvPicPr>
            <a:picLocks noChangeAspect="1" noChangeArrowheads="1"/>
          </p:cNvPicPr>
          <p:nvPr/>
        </p:nvPicPr>
        <p:blipFill>
          <a:blip r:embed="rId3"/>
          <a:srcRect/>
          <a:stretch>
            <a:fillRect/>
          </a:stretch>
        </p:blipFill>
        <p:spPr bwMode="auto">
          <a:xfrm>
            <a:off x="2105025" y="1181100"/>
            <a:ext cx="4933950" cy="4495800"/>
          </a:xfrm>
          <a:prstGeom prst="rect">
            <a:avLst/>
          </a:prstGeom>
          <a:noFill/>
          <a:ln w="9525">
            <a:noFill/>
            <a:miter lim="800000"/>
            <a:headEnd/>
            <a:tailEnd/>
          </a:ln>
          <a:effectLst/>
        </p:spPr>
      </p:pic>
      <p:sp>
        <p:nvSpPr>
          <p:cNvPr id="6" name="Title 1"/>
          <p:cNvSpPr>
            <a:spLocks noGrp="1"/>
          </p:cNvSpPr>
          <p:nvPr>
            <p:ph type="ctrTitle"/>
          </p:nvPr>
        </p:nvSpPr>
        <p:spPr>
          <a:xfrm>
            <a:off x="762000" y="457200"/>
            <a:ext cx="7772400" cy="685799"/>
          </a:xfrm>
        </p:spPr>
        <p:txBody>
          <a:bodyPr>
            <a:noAutofit/>
          </a:bodyPr>
          <a:lstStyle/>
          <a:p>
            <a:pPr algn="ctr"/>
            <a:r>
              <a:rPr lang="fa-IR" sz="3600" dirty="0" smtClean="0"/>
              <a:t>نحوه چیدن آجر در اطراف میلگرد دیوار</a:t>
            </a:r>
            <a:endParaRPr lang="en-US" sz="3600" dirty="0"/>
          </a:p>
        </p:txBody>
      </p:sp>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762000" y="457200"/>
            <a:ext cx="7772400" cy="685799"/>
          </a:xfrm>
        </p:spPr>
        <p:txBody>
          <a:bodyPr>
            <a:noAutofit/>
          </a:bodyPr>
          <a:lstStyle/>
          <a:p>
            <a:pPr algn="ctr"/>
            <a:r>
              <a:rPr lang="fa-IR" sz="3600" dirty="0" smtClean="0"/>
              <a:t>پر کردن کامل هرزه ملات در اطراف میلگرد</a:t>
            </a:r>
            <a:endParaRPr lang="en-US" sz="3600" dirty="0"/>
          </a:p>
        </p:txBody>
      </p:sp>
      <p:pic>
        <p:nvPicPr>
          <p:cNvPr id="2050" name="Picture 2"/>
          <p:cNvPicPr>
            <a:picLocks noChangeAspect="1" noChangeArrowheads="1"/>
          </p:cNvPicPr>
          <p:nvPr/>
        </p:nvPicPr>
        <p:blipFill>
          <a:blip r:embed="rId3"/>
          <a:srcRect/>
          <a:stretch>
            <a:fillRect/>
          </a:stretch>
        </p:blipFill>
        <p:spPr bwMode="auto">
          <a:xfrm>
            <a:off x="1828800" y="1066800"/>
            <a:ext cx="5553075" cy="5276850"/>
          </a:xfrm>
          <a:prstGeom prst="rect">
            <a:avLst/>
          </a:prstGeom>
          <a:noFill/>
          <a:ln w="9525">
            <a:noFill/>
            <a:miter lim="800000"/>
            <a:headEnd/>
            <a:tailEnd/>
          </a:ln>
          <a:effectLst/>
        </p:spPr>
      </p:pic>
    </p:spTree>
  </p:cSld>
  <p:clrMapOvr>
    <a:masterClrMapping/>
  </p:clrMapOvr>
  <p:transition>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Title 1"/>
          <p:cNvSpPr>
            <a:spLocks noGrp="1"/>
          </p:cNvSpPr>
          <p:nvPr>
            <p:ph type="ctrTitle"/>
          </p:nvPr>
        </p:nvSpPr>
        <p:spPr>
          <a:xfrm>
            <a:off x="762000" y="457200"/>
            <a:ext cx="7772400" cy="685799"/>
          </a:xfrm>
        </p:spPr>
        <p:txBody>
          <a:bodyPr>
            <a:noAutofit/>
          </a:bodyPr>
          <a:lstStyle/>
          <a:p>
            <a:pPr algn="ctr"/>
            <a:r>
              <a:rPr lang="fa-IR" sz="3600" dirty="0" smtClean="0"/>
              <a:t>نحوه جاگذاری میلگردها در دیوار</a:t>
            </a:r>
            <a:endParaRPr lang="en-US" sz="3600" dirty="0"/>
          </a:p>
        </p:txBody>
      </p:sp>
      <p:pic>
        <p:nvPicPr>
          <p:cNvPr id="3074" name="Picture 2"/>
          <p:cNvPicPr>
            <a:picLocks noChangeAspect="1" noChangeArrowheads="1"/>
          </p:cNvPicPr>
          <p:nvPr/>
        </p:nvPicPr>
        <p:blipFill>
          <a:blip r:embed="rId3"/>
          <a:srcRect/>
          <a:stretch>
            <a:fillRect/>
          </a:stretch>
        </p:blipFill>
        <p:spPr bwMode="auto">
          <a:xfrm>
            <a:off x="2362200" y="1143000"/>
            <a:ext cx="4362450" cy="5286375"/>
          </a:xfrm>
          <a:prstGeom prst="rect">
            <a:avLst/>
          </a:prstGeom>
          <a:noFill/>
          <a:ln w="9525">
            <a:noFill/>
            <a:miter lim="800000"/>
            <a:headEnd/>
            <a:tailEnd/>
          </a:ln>
          <a:effectLst/>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نحوه اتصال ستونهای فولادی به کلافهای افقی و پی</a:t>
            </a:r>
            <a:endParaRPr lang="en-US" sz="2800" dirty="0"/>
          </a:p>
        </p:txBody>
      </p:sp>
      <p:pic>
        <p:nvPicPr>
          <p:cNvPr id="43010" name="Picture 2"/>
          <p:cNvPicPr>
            <a:picLocks noChangeAspect="1" noChangeArrowheads="1"/>
          </p:cNvPicPr>
          <p:nvPr/>
        </p:nvPicPr>
        <p:blipFill>
          <a:blip r:embed="rId3"/>
          <a:srcRect/>
          <a:stretch>
            <a:fillRect/>
          </a:stretch>
        </p:blipFill>
        <p:spPr bwMode="auto">
          <a:xfrm>
            <a:off x="1066800" y="1600200"/>
            <a:ext cx="7751526" cy="3724848"/>
          </a:xfrm>
          <a:prstGeom prst="rect">
            <a:avLst/>
          </a:prstGeom>
          <a:noFill/>
          <a:ln w="9525">
            <a:noFill/>
            <a:miter lim="800000"/>
            <a:headEnd/>
            <a:tailEnd/>
          </a:ln>
          <a:effectLst/>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2290" name="Picture 2"/>
          <p:cNvPicPr>
            <a:picLocks noChangeAspect="1" noChangeArrowheads="1"/>
          </p:cNvPicPr>
          <p:nvPr/>
        </p:nvPicPr>
        <p:blipFill>
          <a:blip r:embed="rId3"/>
          <a:srcRect/>
          <a:stretch>
            <a:fillRect/>
          </a:stretch>
        </p:blipFill>
        <p:spPr bwMode="auto">
          <a:xfrm>
            <a:off x="685800" y="609600"/>
            <a:ext cx="7958138" cy="3786188"/>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3314" name="Picture 2"/>
          <p:cNvPicPr>
            <a:picLocks noChangeAspect="1" noChangeArrowheads="1"/>
          </p:cNvPicPr>
          <p:nvPr/>
        </p:nvPicPr>
        <p:blipFill>
          <a:blip r:embed="rId3"/>
          <a:srcRect/>
          <a:stretch>
            <a:fillRect/>
          </a:stretch>
        </p:blipFill>
        <p:spPr bwMode="auto">
          <a:xfrm>
            <a:off x="533400" y="228600"/>
            <a:ext cx="8158163" cy="600075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4338" name="Picture 2"/>
          <p:cNvPicPr>
            <a:picLocks noChangeAspect="1" noChangeArrowheads="1"/>
          </p:cNvPicPr>
          <p:nvPr/>
        </p:nvPicPr>
        <p:blipFill>
          <a:blip r:embed="rId3"/>
          <a:srcRect/>
          <a:stretch>
            <a:fillRect/>
          </a:stretch>
        </p:blipFill>
        <p:spPr bwMode="auto">
          <a:xfrm>
            <a:off x="533400" y="381000"/>
            <a:ext cx="8286750" cy="4429125"/>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0482" name="Picture 2"/>
          <p:cNvPicPr>
            <a:picLocks noChangeAspect="1" noChangeArrowheads="1"/>
          </p:cNvPicPr>
          <p:nvPr/>
        </p:nvPicPr>
        <p:blipFill>
          <a:blip r:embed="rId3"/>
          <a:srcRect/>
          <a:stretch>
            <a:fillRect/>
          </a:stretch>
        </p:blipFill>
        <p:spPr bwMode="auto">
          <a:xfrm>
            <a:off x="1295400" y="1828800"/>
            <a:ext cx="6951219" cy="3054879"/>
          </a:xfrm>
          <a:prstGeom prst="rect">
            <a:avLst/>
          </a:prstGeom>
          <a:noFill/>
          <a:ln w="9525">
            <a:noFill/>
            <a:miter lim="800000"/>
            <a:headEnd/>
            <a:tailEnd/>
          </a:ln>
          <a:effectLst/>
        </p:spPr>
      </p:pic>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دهانه مجاز برای سقف طاق ضربی</a:t>
            </a:r>
            <a:endParaRPr lang="en-US" sz="3600" dirty="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381000"/>
            <a:ext cx="7772400" cy="1142999"/>
          </a:xfrm>
        </p:spPr>
        <p:txBody>
          <a:bodyPr>
            <a:noAutofit/>
          </a:bodyPr>
          <a:lstStyle/>
          <a:p>
            <a:pPr algn="ctr"/>
            <a:r>
              <a:rPr lang="fa-IR" sz="3600" dirty="0" smtClean="0"/>
              <a:t>استفاده از میلگرد ضربدری جهت حفظ انسجام سقف طاق ضربی</a:t>
            </a:r>
            <a:endParaRPr lang="en-US" sz="3600" dirty="0"/>
          </a:p>
        </p:txBody>
      </p:sp>
      <p:pic>
        <p:nvPicPr>
          <p:cNvPr id="22530" name="Picture 2"/>
          <p:cNvPicPr>
            <a:picLocks noChangeAspect="1" noChangeArrowheads="1"/>
          </p:cNvPicPr>
          <p:nvPr/>
        </p:nvPicPr>
        <p:blipFill>
          <a:blip r:embed="rId3"/>
          <a:srcRect/>
          <a:stretch>
            <a:fillRect/>
          </a:stretch>
        </p:blipFill>
        <p:spPr bwMode="auto">
          <a:xfrm>
            <a:off x="914400" y="1676400"/>
            <a:ext cx="7416159" cy="4268292"/>
          </a:xfrm>
          <a:prstGeom prst="rect">
            <a:avLst/>
          </a:prstGeom>
          <a:noFill/>
          <a:ln w="9525">
            <a:noFill/>
            <a:miter lim="800000"/>
            <a:headEnd/>
            <a:tailEnd/>
          </a:ln>
          <a:effectLst/>
        </p:spPr>
      </p:pic>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اتصال سقف به تکیه گاه در سقف طاق ضربی</a:t>
            </a:r>
            <a:endParaRPr lang="en-US" sz="3600" dirty="0"/>
          </a:p>
        </p:txBody>
      </p:sp>
      <p:pic>
        <p:nvPicPr>
          <p:cNvPr id="6146" name="Picture 2"/>
          <p:cNvPicPr>
            <a:picLocks noChangeAspect="1" noChangeArrowheads="1"/>
          </p:cNvPicPr>
          <p:nvPr/>
        </p:nvPicPr>
        <p:blipFill>
          <a:blip r:embed="rId3"/>
          <a:srcRect/>
          <a:stretch>
            <a:fillRect/>
          </a:stretch>
        </p:blipFill>
        <p:spPr bwMode="auto">
          <a:xfrm>
            <a:off x="2438400" y="1219200"/>
            <a:ext cx="4248150" cy="4943475"/>
          </a:xfrm>
          <a:prstGeom prst="rect">
            <a:avLst/>
          </a:prstGeom>
          <a:noFill/>
          <a:ln w="9525">
            <a:noFill/>
            <a:miter lim="800000"/>
            <a:headEnd/>
            <a:tailEnd/>
          </a:ln>
          <a:effectLst/>
        </p:spPr>
      </p:pic>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اتصال سقف به تکیه گاه در سقف طاق ضربی</a:t>
            </a:r>
            <a:endParaRPr lang="en-US" sz="3600" dirty="0"/>
          </a:p>
        </p:txBody>
      </p:sp>
      <p:pic>
        <p:nvPicPr>
          <p:cNvPr id="7170" name="Picture 2"/>
          <p:cNvPicPr>
            <a:picLocks noChangeAspect="1" noChangeArrowheads="1"/>
          </p:cNvPicPr>
          <p:nvPr/>
        </p:nvPicPr>
        <p:blipFill>
          <a:blip r:embed="rId3"/>
          <a:srcRect/>
          <a:stretch>
            <a:fillRect/>
          </a:stretch>
        </p:blipFill>
        <p:spPr bwMode="auto">
          <a:xfrm>
            <a:off x="1676400" y="1390650"/>
            <a:ext cx="5791200" cy="5467350"/>
          </a:xfrm>
          <a:prstGeom prst="rect">
            <a:avLst/>
          </a:prstGeom>
          <a:noFill/>
          <a:ln w="9525">
            <a:noFill/>
            <a:miter lim="800000"/>
            <a:headEnd/>
            <a:tailEnd/>
          </a:ln>
          <a:effectLst/>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مهار تیرآهن سقف در داخل کلاف افقی</a:t>
            </a:r>
            <a:endParaRPr lang="en-US" sz="3600" dirty="0"/>
          </a:p>
        </p:txBody>
      </p:sp>
      <p:pic>
        <p:nvPicPr>
          <p:cNvPr id="8194" name="Picture 2"/>
          <p:cNvPicPr>
            <a:picLocks noChangeAspect="1" noChangeArrowheads="1"/>
          </p:cNvPicPr>
          <p:nvPr/>
        </p:nvPicPr>
        <p:blipFill>
          <a:blip r:embed="rId3"/>
          <a:srcRect/>
          <a:stretch>
            <a:fillRect/>
          </a:stretch>
        </p:blipFill>
        <p:spPr bwMode="auto">
          <a:xfrm>
            <a:off x="1066800" y="1371600"/>
            <a:ext cx="7086600" cy="4743450"/>
          </a:xfrm>
          <a:prstGeom prst="rect">
            <a:avLst/>
          </a:prstGeom>
          <a:noFill/>
          <a:ln w="9525">
            <a:noFill/>
            <a:miter lim="800000"/>
            <a:headEnd/>
            <a:tailEnd/>
          </a:ln>
          <a:effectLst/>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 مهار تیرآهن سقف در داخل کلاف افقی و قائم</a:t>
            </a:r>
            <a:endParaRPr lang="en-US" sz="3600" dirty="0"/>
          </a:p>
        </p:txBody>
      </p:sp>
      <p:pic>
        <p:nvPicPr>
          <p:cNvPr id="9218" name="Picture 2"/>
          <p:cNvPicPr>
            <a:picLocks noChangeAspect="1" noChangeArrowheads="1"/>
          </p:cNvPicPr>
          <p:nvPr/>
        </p:nvPicPr>
        <p:blipFill>
          <a:blip r:embed="rId3"/>
          <a:srcRect/>
          <a:stretch>
            <a:fillRect/>
          </a:stretch>
        </p:blipFill>
        <p:spPr bwMode="auto">
          <a:xfrm>
            <a:off x="1143000" y="1066800"/>
            <a:ext cx="7144703" cy="5089208"/>
          </a:xfrm>
          <a:prstGeom prst="rect">
            <a:avLst/>
          </a:prstGeom>
          <a:noFill/>
          <a:ln w="9525">
            <a:noFill/>
            <a:miter lim="800000"/>
            <a:headEnd/>
            <a:tailEnd/>
          </a:ln>
          <a:effectLst/>
        </p:spPr>
      </p:pic>
    </p:spTree>
  </p:cSld>
  <p:clrMapOvr>
    <a:masterClrMapping/>
  </p:clrMapOvr>
  <p:transition>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 مهار تیرآهن سقف در داخل کلاف افقی و قائم</a:t>
            </a:r>
            <a:endParaRPr lang="en-US" sz="3600" dirty="0"/>
          </a:p>
        </p:txBody>
      </p:sp>
      <p:pic>
        <p:nvPicPr>
          <p:cNvPr id="10242" name="Picture 2"/>
          <p:cNvPicPr>
            <a:picLocks noChangeAspect="1" noChangeArrowheads="1"/>
          </p:cNvPicPr>
          <p:nvPr/>
        </p:nvPicPr>
        <p:blipFill>
          <a:blip r:embed="rId3"/>
          <a:srcRect/>
          <a:stretch>
            <a:fillRect/>
          </a:stretch>
        </p:blipFill>
        <p:spPr bwMode="auto">
          <a:xfrm>
            <a:off x="990600" y="1143000"/>
            <a:ext cx="7540943" cy="495300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 مهار تیرآهن سقف در داخل کلاف افقی و قائم</a:t>
            </a:r>
            <a:endParaRPr lang="en-US" sz="3600" dirty="0"/>
          </a:p>
        </p:txBody>
      </p:sp>
      <p:pic>
        <p:nvPicPr>
          <p:cNvPr id="11266" name="Picture 2"/>
          <p:cNvPicPr>
            <a:picLocks noChangeAspect="1" noChangeArrowheads="1"/>
          </p:cNvPicPr>
          <p:nvPr/>
        </p:nvPicPr>
        <p:blipFill>
          <a:blip r:embed="rId3"/>
          <a:srcRect/>
          <a:stretch>
            <a:fillRect/>
          </a:stretch>
        </p:blipFill>
        <p:spPr bwMode="auto">
          <a:xfrm>
            <a:off x="1143000" y="1295400"/>
            <a:ext cx="6829425" cy="4171950"/>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 مهار تیرآهن سقف در داخل کلاف افقی و قائم</a:t>
            </a:r>
            <a:endParaRPr lang="en-US" sz="3600" dirty="0"/>
          </a:p>
        </p:txBody>
      </p:sp>
      <p:pic>
        <p:nvPicPr>
          <p:cNvPr id="12290" name="Picture 2"/>
          <p:cNvPicPr>
            <a:picLocks noChangeAspect="1" noChangeArrowheads="1"/>
          </p:cNvPicPr>
          <p:nvPr/>
        </p:nvPicPr>
        <p:blipFill>
          <a:blip r:embed="rId3"/>
          <a:srcRect/>
          <a:stretch>
            <a:fillRect/>
          </a:stretch>
        </p:blipFill>
        <p:spPr bwMode="auto">
          <a:xfrm>
            <a:off x="1143000" y="1219200"/>
            <a:ext cx="6926580" cy="4754880"/>
          </a:xfrm>
          <a:prstGeom prst="rect">
            <a:avLst/>
          </a:prstGeom>
          <a:noFill/>
          <a:ln w="9525">
            <a:noFill/>
            <a:miter lim="800000"/>
            <a:headEnd/>
            <a:tailEnd/>
          </a:ln>
          <a:effectLst/>
        </p:spPr>
      </p:pic>
    </p:spTree>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 مهار تیرآهن سقف در داخل کلاف افقی و قائم</a:t>
            </a:r>
            <a:endParaRPr lang="en-US" sz="3600" dirty="0"/>
          </a:p>
        </p:txBody>
      </p:sp>
      <p:pic>
        <p:nvPicPr>
          <p:cNvPr id="13314" name="Picture 2"/>
          <p:cNvPicPr>
            <a:picLocks noChangeAspect="1" noChangeArrowheads="1"/>
          </p:cNvPicPr>
          <p:nvPr/>
        </p:nvPicPr>
        <p:blipFill>
          <a:blip r:embed="rId3"/>
          <a:srcRect/>
          <a:stretch>
            <a:fillRect/>
          </a:stretch>
        </p:blipFill>
        <p:spPr bwMode="auto">
          <a:xfrm>
            <a:off x="381000" y="1295400"/>
            <a:ext cx="8531543" cy="4692968"/>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تعبیه تکیه گاه برای پاطاق آخرین دهانه طاق ضربی</a:t>
            </a:r>
            <a:endParaRPr lang="en-US" sz="2800" dirty="0"/>
          </a:p>
        </p:txBody>
      </p:sp>
      <p:pic>
        <p:nvPicPr>
          <p:cNvPr id="14338" name="Picture 2"/>
          <p:cNvPicPr>
            <a:picLocks noChangeAspect="1" noChangeArrowheads="1"/>
          </p:cNvPicPr>
          <p:nvPr/>
        </p:nvPicPr>
        <p:blipFill>
          <a:blip r:embed="rId3"/>
          <a:srcRect/>
          <a:stretch>
            <a:fillRect/>
          </a:stretch>
        </p:blipFill>
        <p:spPr bwMode="auto">
          <a:xfrm>
            <a:off x="2057400" y="1076325"/>
            <a:ext cx="5238750" cy="5781675"/>
          </a:xfrm>
          <a:prstGeom prst="rect">
            <a:avLst/>
          </a:prstGeom>
          <a:noFill/>
          <a:ln w="9525">
            <a:noFill/>
            <a:miter lim="800000"/>
            <a:headEnd/>
            <a:tailEnd/>
          </a:ln>
          <a:effectLst/>
        </p:spPr>
      </p:pic>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تعبیه تکیه گاه برای پاطاق آخرین دهانه طاق ضربی</a:t>
            </a:r>
            <a:endParaRPr lang="en-US" sz="2800" dirty="0"/>
          </a:p>
        </p:txBody>
      </p:sp>
      <p:pic>
        <p:nvPicPr>
          <p:cNvPr id="15362" name="Picture 2"/>
          <p:cNvPicPr>
            <a:picLocks noChangeAspect="1" noChangeArrowheads="1"/>
          </p:cNvPicPr>
          <p:nvPr/>
        </p:nvPicPr>
        <p:blipFill>
          <a:blip r:embed="rId3"/>
          <a:srcRect/>
          <a:stretch>
            <a:fillRect/>
          </a:stretch>
        </p:blipFill>
        <p:spPr bwMode="auto">
          <a:xfrm>
            <a:off x="1676400" y="1066800"/>
            <a:ext cx="6103620" cy="5532120"/>
          </a:xfrm>
          <a:prstGeom prst="rect">
            <a:avLst/>
          </a:prstGeom>
          <a:noFill/>
          <a:ln w="9525">
            <a:noFill/>
            <a:miter lim="800000"/>
            <a:headEnd/>
            <a:tailEnd/>
          </a:ln>
          <a:effectLst/>
        </p:spPr>
      </p:pic>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5362" name="Picture 2"/>
          <p:cNvPicPr>
            <a:picLocks noChangeAspect="1" noChangeArrowheads="1"/>
          </p:cNvPicPr>
          <p:nvPr/>
        </p:nvPicPr>
        <p:blipFill>
          <a:blip r:embed="rId3"/>
          <a:srcRect/>
          <a:stretch>
            <a:fillRect/>
          </a:stretch>
        </p:blipFill>
        <p:spPr bwMode="auto">
          <a:xfrm>
            <a:off x="533400" y="304800"/>
            <a:ext cx="7929563" cy="5900738"/>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6387" name="Picture 3"/>
          <p:cNvPicPr>
            <a:picLocks noChangeAspect="1" noChangeArrowheads="1"/>
          </p:cNvPicPr>
          <p:nvPr/>
        </p:nvPicPr>
        <p:blipFill>
          <a:blip r:embed="rId3"/>
          <a:srcRect/>
          <a:stretch>
            <a:fillRect/>
          </a:stretch>
        </p:blipFill>
        <p:spPr bwMode="auto">
          <a:xfrm>
            <a:off x="1547813" y="466725"/>
            <a:ext cx="6048375" cy="5924550"/>
          </a:xfrm>
          <a:prstGeom prst="rect">
            <a:avLst/>
          </a:prstGeom>
          <a:noFill/>
          <a:ln w="9525">
            <a:noFill/>
            <a:miter lim="800000"/>
            <a:headEnd/>
            <a:tailEnd/>
          </a:ln>
          <a:effectLst/>
        </p:spPr>
      </p:pic>
    </p:spTree>
  </p:cSld>
  <p:clrMapOvr>
    <a:masterClrMapping/>
  </p:clrMapOvr>
  <p:transition>
    <p:cover dir="lu"/>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4" descr="Picture 213"/>
          <p:cNvPicPr>
            <a:picLocks noChangeAspect="1" noChangeArrowheads="1"/>
          </p:cNvPicPr>
          <p:nvPr/>
        </p:nvPicPr>
        <p:blipFill>
          <a:blip r:embed="rId3"/>
          <a:srcRect/>
          <a:stretch>
            <a:fillRect/>
          </a:stretch>
        </p:blipFill>
        <p:spPr bwMode="auto">
          <a:xfrm>
            <a:off x="914400" y="0"/>
            <a:ext cx="7343775" cy="6296025"/>
          </a:xfrm>
          <a:prstGeom prst="rect">
            <a:avLst/>
          </a:prstGeom>
          <a:noFill/>
          <a:ln w="9525">
            <a:noFill/>
            <a:miter lim="800000"/>
            <a:headEnd/>
            <a:tailEnd/>
          </a:ln>
        </p:spPr>
      </p:pic>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6386" name="Picture 2"/>
          <p:cNvPicPr>
            <a:picLocks noChangeAspect="1" noChangeArrowheads="1"/>
          </p:cNvPicPr>
          <p:nvPr/>
        </p:nvPicPr>
        <p:blipFill>
          <a:blip r:embed="rId3"/>
          <a:srcRect/>
          <a:stretch>
            <a:fillRect/>
          </a:stretch>
        </p:blipFill>
        <p:spPr bwMode="auto">
          <a:xfrm>
            <a:off x="228600" y="228600"/>
            <a:ext cx="8586788" cy="520065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8434" name="Picture 2"/>
          <p:cNvPicPr>
            <a:picLocks noChangeAspect="1" noChangeArrowheads="1"/>
          </p:cNvPicPr>
          <p:nvPr/>
        </p:nvPicPr>
        <p:blipFill>
          <a:blip r:embed="rId3"/>
          <a:srcRect/>
          <a:stretch>
            <a:fillRect/>
          </a:stretch>
        </p:blipFill>
        <p:spPr bwMode="auto">
          <a:xfrm>
            <a:off x="2362200" y="1295400"/>
            <a:ext cx="4343400" cy="5114925"/>
          </a:xfrm>
          <a:prstGeom prst="rect">
            <a:avLst/>
          </a:prstGeom>
          <a:noFill/>
          <a:ln w="9525">
            <a:noFill/>
            <a:miter lim="800000"/>
            <a:headEnd/>
            <a:tailEnd/>
          </a:ln>
          <a:effectLst/>
        </p:spPr>
      </p:pic>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چیدن آجر نما همزمان با آجر پشت کار</a:t>
            </a:r>
            <a:endParaRPr lang="en-US" sz="2800" dirty="0"/>
          </a:p>
        </p:txBody>
      </p:sp>
    </p:spTree>
  </p:cSld>
  <p:clrMapOvr>
    <a:masterClrMapping/>
  </p:clrMapOvr>
  <p:transition>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نحوه مطلوب اتصال آجر نما به دیوار توسط میلگرد</a:t>
            </a:r>
            <a:endParaRPr lang="en-US" sz="2800" dirty="0"/>
          </a:p>
        </p:txBody>
      </p:sp>
      <p:pic>
        <p:nvPicPr>
          <p:cNvPr id="19458" name="Picture 2"/>
          <p:cNvPicPr>
            <a:picLocks noChangeAspect="1" noChangeArrowheads="1"/>
          </p:cNvPicPr>
          <p:nvPr/>
        </p:nvPicPr>
        <p:blipFill>
          <a:blip r:embed="rId3"/>
          <a:srcRect/>
          <a:stretch>
            <a:fillRect/>
          </a:stretch>
        </p:blipFill>
        <p:spPr bwMode="auto">
          <a:xfrm>
            <a:off x="2057400" y="1066800"/>
            <a:ext cx="4812030" cy="5269230"/>
          </a:xfrm>
          <a:prstGeom prst="rect">
            <a:avLst/>
          </a:prstGeom>
          <a:noFill/>
          <a:ln w="9525">
            <a:noFill/>
            <a:miter lim="800000"/>
            <a:headEnd/>
            <a:tailEnd/>
          </a:ln>
          <a:effectLst/>
        </p:spPr>
      </p:pic>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اتصال نما به دیوار پشت بند</a:t>
            </a:r>
            <a:endParaRPr lang="en-US" sz="2800" dirty="0"/>
          </a:p>
        </p:txBody>
      </p:sp>
      <p:pic>
        <p:nvPicPr>
          <p:cNvPr id="20483" name="Picture 3"/>
          <p:cNvPicPr>
            <a:picLocks noChangeAspect="1" noChangeArrowheads="1"/>
          </p:cNvPicPr>
          <p:nvPr/>
        </p:nvPicPr>
        <p:blipFill>
          <a:blip r:embed="rId3"/>
          <a:srcRect/>
          <a:stretch>
            <a:fillRect/>
          </a:stretch>
        </p:blipFill>
        <p:spPr bwMode="auto">
          <a:xfrm>
            <a:off x="1752600" y="1447800"/>
            <a:ext cx="4933950" cy="4810125"/>
          </a:xfrm>
          <a:prstGeom prst="rect">
            <a:avLst/>
          </a:prstGeom>
          <a:noFill/>
          <a:ln w="9525">
            <a:noFill/>
            <a:miter lim="800000"/>
            <a:headEnd/>
            <a:tailEnd/>
          </a:ln>
          <a:effectLst/>
        </p:spPr>
      </p:pic>
    </p:spTree>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جزییاتی از اتصال نما به دیوار پشت بند</a:t>
            </a:r>
            <a:endParaRPr lang="en-US" sz="2800" dirty="0"/>
          </a:p>
        </p:txBody>
      </p:sp>
      <p:pic>
        <p:nvPicPr>
          <p:cNvPr id="21506" name="Picture 2"/>
          <p:cNvPicPr>
            <a:picLocks noChangeAspect="1" noChangeArrowheads="1"/>
          </p:cNvPicPr>
          <p:nvPr/>
        </p:nvPicPr>
        <p:blipFill>
          <a:blip r:embed="rId3"/>
          <a:srcRect/>
          <a:stretch>
            <a:fillRect/>
          </a:stretch>
        </p:blipFill>
        <p:spPr bwMode="auto">
          <a:xfrm>
            <a:off x="1600200" y="990600"/>
            <a:ext cx="5634990" cy="5360670"/>
          </a:xfrm>
          <a:prstGeom prst="rect">
            <a:avLst/>
          </a:prstGeom>
          <a:noFill/>
          <a:ln w="9525">
            <a:noFill/>
            <a:miter lim="800000"/>
            <a:headEnd/>
            <a:tailEnd/>
          </a:ln>
          <a:effectLst/>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جزییاتی از اتصال نما به دیوار پشت بند</a:t>
            </a:r>
            <a:endParaRPr lang="en-US" sz="2800" dirty="0"/>
          </a:p>
        </p:txBody>
      </p:sp>
      <p:pic>
        <p:nvPicPr>
          <p:cNvPr id="22530" name="Picture 2"/>
          <p:cNvPicPr>
            <a:picLocks noChangeAspect="1" noChangeArrowheads="1"/>
          </p:cNvPicPr>
          <p:nvPr/>
        </p:nvPicPr>
        <p:blipFill>
          <a:blip r:embed="rId3"/>
          <a:srcRect/>
          <a:stretch>
            <a:fillRect/>
          </a:stretch>
        </p:blipFill>
        <p:spPr bwMode="auto">
          <a:xfrm>
            <a:off x="1981200" y="1600200"/>
            <a:ext cx="5076825" cy="4086225"/>
          </a:xfrm>
          <a:prstGeom prst="rect">
            <a:avLst/>
          </a:prstGeom>
          <a:noFill/>
          <a:ln w="9525">
            <a:noFill/>
            <a:miter lim="800000"/>
            <a:headEnd/>
            <a:tailEnd/>
          </a:ln>
          <a:effectLst/>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انواع مختلف مهارها و بستها جهت اتصال نما به دیوار	</a:t>
            </a:r>
            <a:endParaRPr lang="en-US" sz="2800" dirty="0"/>
          </a:p>
        </p:txBody>
      </p:sp>
      <p:pic>
        <p:nvPicPr>
          <p:cNvPr id="23554" name="Picture 2"/>
          <p:cNvPicPr>
            <a:picLocks noChangeAspect="1" noChangeArrowheads="1"/>
          </p:cNvPicPr>
          <p:nvPr/>
        </p:nvPicPr>
        <p:blipFill>
          <a:blip r:embed="rId3"/>
          <a:srcRect/>
          <a:stretch>
            <a:fillRect/>
          </a:stretch>
        </p:blipFill>
        <p:spPr bwMode="auto">
          <a:xfrm>
            <a:off x="990600" y="1066800"/>
            <a:ext cx="6395085" cy="5349240"/>
          </a:xfrm>
          <a:prstGeom prst="rect">
            <a:avLst/>
          </a:prstGeom>
          <a:noFill/>
          <a:ln w="9525">
            <a:noFill/>
            <a:miter lim="800000"/>
            <a:headEnd/>
            <a:tailEnd/>
          </a:ln>
          <a:effectLst/>
        </p:spPr>
      </p:pic>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2800" dirty="0" smtClean="0"/>
              <a:t>آجر نما بدون اتصال به دیوار پشت کار</a:t>
            </a:r>
            <a:endParaRPr lang="en-US" sz="2800" dirty="0"/>
          </a:p>
        </p:txBody>
      </p:sp>
      <p:pic>
        <p:nvPicPr>
          <p:cNvPr id="20482" name="Picture 2"/>
          <p:cNvPicPr>
            <a:picLocks noChangeAspect="1" noChangeArrowheads="1"/>
          </p:cNvPicPr>
          <p:nvPr/>
        </p:nvPicPr>
        <p:blipFill>
          <a:blip r:embed="rId3"/>
          <a:srcRect/>
          <a:stretch>
            <a:fillRect/>
          </a:stretch>
        </p:blipFill>
        <p:spPr bwMode="auto">
          <a:xfrm>
            <a:off x="2362200" y="1295400"/>
            <a:ext cx="4305300" cy="5019675"/>
          </a:xfrm>
          <a:prstGeom prst="rect">
            <a:avLst/>
          </a:prstGeom>
          <a:noFill/>
          <a:ln w="9525">
            <a:noFill/>
            <a:miter lim="800000"/>
            <a:headEnd/>
            <a:tailEnd/>
          </a:ln>
          <a:effectLst/>
        </p:spPr>
      </p:pic>
    </p:spTree>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2530" name="Picture 2"/>
          <p:cNvPicPr>
            <a:picLocks noChangeAspect="1" noChangeArrowheads="1"/>
          </p:cNvPicPr>
          <p:nvPr/>
        </p:nvPicPr>
        <p:blipFill>
          <a:blip r:embed="rId3"/>
          <a:srcRect/>
          <a:stretch>
            <a:fillRect/>
          </a:stretch>
        </p:blipFill>
        <p:spPr bwMode="auto">
          <a:xfrm>
            <a:off x="1295400" y="152400"/>
            <a:ext cx="7407593" cy="603504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7410" name="Picture 2"/>
          <p:cNvPicPr>
            <a:picLocks noChangeAspect="1" noChangeArrowheads="1"/>
          </p:cNvPicPr>
          <p:nvPr/>
        </p:nvPicPr>
        <p:blipFill>
          <a:blip r:embed="rId3"/>
          <a:srcRect/>
          <a:stretch>
            <a:fillRect/>
          </a:stretch>
        </p:blipFill>
        <p:spPr bwMode="auto">
          <a:xfrm>
            <a:off x="685800" y="533400"/>
            <a:ext cx="7679531" cy="5643563"/>
          </a:xfrm>
          <a:prstGeom prst="rect">
            <a:avLst/>
          </a:prstGeom>
          <a:noFill/>
          <a:ln w="9525">
            <a:noFill/>
            <a:miter lim="800000"/>
            <a:headEnd/>
            <a:tailEnd/>
          </a:ln>
          <a:effectLst/>
        </p:spPr>
      </p:pic>
    </p:spTree>
  </p:cSld>
  <p:clrMapOvr>
    <a:masterClrMapping/>
  </p:clrMapOvr>
  <p:transition>
    <p:blinds dir="vert"/>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7410" name="Picture 2"/>
          <p:cNvPicPr>
            <a:picLocks noChangeAspect="1" noChangeArrowheads="1"/>
          </p:cNvPicPr>
          <p:nvPr/>
        </p:nvPicPr>
        <p:blipFill>
          <a:blip r:embed="rId3"/>
          <a:srcRect/>
          <a:stretch>
            <a:fillRect/>
          </a:stretch>
        </p:blipFill>
        <p:spPr bwMode="auto">
          <a:xfrm>
            <a:off x="609600" y="228600"/>
            <a:ext cx="8072438" cy="5000625"/>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5364" name="Picture 4"/>
          <p:cNvPicPr>
            <a:picLocks noChangeAspect="1" noChangeArrowheads="1"/>
          </p:cNvPicPr>
          <p:nvPr/>
        </p:nvPicPr>
        <p:blipFill>
          <a:blip r:embed="rId3"/>
          <a:srcRect/>
          <a:stretch>
            <a:fillRect/>
          </a:stretch>
        </p:blipFill>
        <p:spPr bwMode="auto">
          <a:xfrm>
            <a:off x="1981200" y="609600"/>
            <a:ext cx="5292684" cy="5317074"/>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دودکش</a:t>
            </a:r>
            <a:endParaRPr lang="en-US" sz="3600" dirty="0"/>
          </a:p>
        </p:txBody>
      </p:sp>
      <p:sp>
        <p:nvSpPr>
          <p:cNvPr id="6" name="Subtitle 2"/>
          <p:cNvSpPr>
            <a:spLocks noGrp="1"/>
          </p:cNvSpPr>
          <p:nvPr>
            <p:ph type="subTitle" idx="1"/>
          </p:nvPr>
        </p:nvSpPr>
        <p:spPr>
          <a:xfrm>
            <a:off x="685800" y="1295400"/>
            <a:ext cx="7772400" cy="3810000"/>
          </a:xfrm>
        </p:spPr>
        <p:txBody>
          <a:bodyPr>
            <a:noAutofit/>
          </a:bodyPr>
          <a:lstStyle/>
          <a:p>
            <a:pPr algn="just" rtl="1"/>
            <a:r>
              <a:rPr lang="fa-IR" sz="2000" b="1" dirty="0" smtClean="0"/>
              <a:t>منظور از دودکش ، مجراھایی است که برای جریان دود یا ھوا تعبیه می شود.ارتفاع  دودکشھا و اجزای مشابه آن که با مصالح بنایی اجرا می شوند نباید بیش از 1.5 متر از کف با م باشد و در صورتی که ارتفاع آنها از این مقدار تجاوز نماید باید به وسیله عاناصر قائم فولادی یا بتن مسلح به گونه مناسبی تقویت و در کف بام گیردار شوند.</a:t>
            </a:r>
          </a:p>
        </p:txBody>
      </p:sp>
    </p:spTree>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دودکش ( مهار با کلاف )</a:t>
            </a:r>
            <a:endParaRPr lang="en-US" sz="3600" dirty="0"/>
          </a:p>
        </p:txBody>
      </p:sp>
      <p:pic>
        <p:nvPicPr>
          <p:cNvPr id="28674" name="Picture 2"/>
          <p:cNvPicPr>
            <a:picLocks noChangeAspect="1" noChangeArrowheads="1"/>
          </p:cNvPicPr>
          <p:nvPr/>
        </p:nvPicPr>
        <p:blipFill>
          <a:blip r:embed="rId3"/>
          <a:srcRect/>
          <a:stretch>
            <a:fillRect/>
          </a:stretch>
        </p:blipFill>
        <p:spPr bwMode="auto">
          <a:xfrm>
            <a:off x="1600200" y="1295400"/>
            <a:ext cx="5707318" cy="5012196"/>
          </a:xfrm>
          <a:prstGeom prst="rect">
            <a:avLst/>
          </a:prstGeom>
          <a:noFill/>
          <a:ln w="9525">
            <a:noFill/>
            <a:miter lim="800000"/>
            <a:headEnd/>
            <a:tailEnd/>
          </a:ln>
          <a:effectLst/>
        </p:spPr>
      </p:pic>
    </p:spTree>
  </p:cSld>
  <p:clrMapOvr>
    <a:masterClrMapping/>
  </p:clrMapOvr>
  <p:transition>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دودکش ( مهار با تسمه )</a:t>
            </a:r>
            <a:endParaRPr lang="en-US" sz="3600" dirty="0"/>
          </a:p>
        </p:txBody>
      </p:sp>
      <p:pic>
        <p:nvPicPr>
          <p:cNvPr id="29698" name="Picture 2"/>
          <p:cNvPicPr>
            <a:picLocks noChangeAspect="1" noChangeArrowheads="1"/>
          </p:cNvPicPr>
          <p:nvPr/>
        </p:nvPicPr>
        <p:blipFill>
          <a:blip r:embed="rId3"/>
          <a:srcRect/>
          <a:stretch>
            <a:fillRect/>
          </a:stretch>
        </p:blipFill>
        <p:spPr bwMode="auto">
          <a:xfrm>
            <a:off x="2057400" y="1295400"/>
            <a:ext cx="4865854" cy="4705794"/>
          </a:xfrm>
          <a:prstGeom prst="rect">
            <a:avLst/>
          </a:prstGeom>
          <a:noFill/>
          <a:ln w="9525">
            <a:noFill/>
            <a:miter lim="800000"/>
            <a:headEnd/>
            <a:tailEnd/>
          </a:ln>
          <a:effectLst/>
        </p:spPr>
      </p:pic>
    </p:spTree>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جزییات مهار دودکش با کلاف بتنی</a:t>
            </a:r>
            <a:endParaRPr lang="en-US" sz="3600" dirty="0"/>
          </a:p>
        </p:txBody>
      </p:sp>
      <p:pic>
        <p:nvPicPr>
          <p:cNvPr id="30722" name="Picture 2"/>
          <p:cNvPicPr>
            <a:picLocks noChangeAspect="1" noChangeArrowheads="1"/>
          </p:cNvPicPr>
          <p:nvPr/>
        </p:nvPicPr>
        <p:blipFill>
          <a:blip r:embed="rId3"/>
          <a:srcRect/>
          <a:stretch>
            <a:fillRect/>
          </a:stretch>
        </p:blipFill>
        <p:spPr bwMode="auto">
          <a:xfrm>
            <a:off x="990600" y="1447800"/>
            <a:ext cx="6905489" cy="3448172"/>
          </a:xfrm>
          <a:prstGeom prst="rect">
            <a:avLst/>
          </a:prstGeom>
          <a:noFill/>
          <a:ln w="9525">
            <a:noFill/>
            <a:miter lim="800000"/>
            <a:headEnd/>
            <a:tailEnd/>
          </a:ln>
          <a:effectLst/>
        </p:spPr>
      </p:pic>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جزییات مهار دودکش با کلاف چوبی</a:t>
            </a:r>
            <a:endParaRPr lang="en-US" sz="3600" dirty="0"/>
          </a:p>
        </p:txBody>
      </p:sp>
      <p:pic>
        <p:nvPicPr>
          <p:cNvPr id="31746" name="Picture 2"/>
          <p:cNvPicPr>
            <a:picLocks noChangeAspect="1" noChangeArrowheads="1"/>
          </p:cNvPicPr>
          <p:nvPr/>
        </p:nvPicPr>
        <p:blipFill>
          <a:blip r:embed="rId3"/>
          <a:srcRect/>
          <a:stretch>
            <a:fillRect/>
          </a:stretch>
        </p:blipFill>
        <p:spPr bwMode="auto">
          <a:xfrm>
            <a:off x="2057400" y="1371600"/>
            <a:ext cx="5533538" cy="4765244"/>
          </a:xfrm>
          <a:prstGeom prst="rect">
            <a:avLst/>
          </a:prstGeom>
          <a:noFill/>
          <a:ln w="9525">
            <a:noFill/>
            <a:miter lim="800000"/>
            <a:headEnd/>
            <a:tailEnd/>
          </a:ln>
          <a:effectLst/>
        </p:spPr>
      </p:pic>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8434" name="Picture 2"/>
          <p:cNvPicPr>
            <a:picLocks noChangeAspect="1" noChangeArrowheads="1"/>
          </p:cNvPicPr>
          <p:nvPr/>
        </p:nvPicPr>
        <p:blipFill>
          <a:blip r:embed="rId3"/>
          <a:srcRect/>
          <a:stretch>
            <a:fillRect/>
          </a:stretch>
        </p:blipFill>
        <p:spPr bwMode="auto">
          <a:xfrm>
            <a:off x="381000" y="0"/>
            <a:ext cx="8366760" cy="6149340"/>
          </a:xfrm>
          <a:prstGeom prst="rect">
            <a:avLst/>
          </a:prstGeom>
          <a:noFill/>
          <a:ln w="9525">
            <a:noFill/>
            <a:miter lim="800000"/>
            <a:headEnd/>
            <a:tailEnd/>
          </a:ln>
          <a:effectLst/>
        </p:spPr>
      </p:pic>
    </p:spTree>
  </p:cSld>
  <p:clrMapOvr>
    <a:masterClrMapping/>
  </p:clrMapOvr>
  <p:transition>
    <p:cover dir="ru"/>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9458" name="Picture 2"/>
          <p:cNvPicPr>
            <a:picLocks noChangeAspect="1" noChangeArrowheads="1"/>
          </p:cNvPicPr>
          <p:nvPr/>
        </p:nvPicPr>
        <p:blipFill>
          <a:blip r:embed="rId3"/>
          <a:srcRect/>
          <a:stretch>
            <a:fillRect/>
          </a:stretch>
        </p:blipFill>
        <p:spPr bwMode="auto">
          <a:xfrm>
            <a:off x="1143000" y="1447800"/>
            <a:ext cx="6696075" cy="2181225"/>
          </a:xfrm>
          <a:prstGeom prst="rect">
            <a:avLst/>
          </a:prstGeom>
          <a:noFill/>
          <a:ln w="9525">
            <a:noFill/>
            <a:miter lim="800000"/>
            <a:headEnd/>
            <a:tailEnd/>
          </a:ln>
          <a:effectLst/>
        </p:spPr>
      </p:pic>
      <p:sp>
        <p:nvSpPr>
          <p:cNvPr id="5" name="Title 1"/>
          <p:cNvSpPr>
            <a:spLocks noGrp="1"/>
          </p:cNvSpPr>
          <p:nvPr>
            <p:ph type="ctrTitle"/>
          </p:nvPr>
        </p:nvSpPr>
        <p:spPr>
          <a:xfrm>
            <a:off x="762000" y="457200"/>
            <a:ext cx="7772400" cy="685799"/>
          </a:xfrm>
        </p:spPr>
        <p:txBody>
          <a:bodyPr>
            <a:noAutofit/>
          </a:bodyPr>
          <a:lstStyle/>
          <a:p>
            <a:pPr algn="ctr"/>
            <a:r>
              <a:rPr lang="fa-IR" sz="3600" dirty="0" smtClean="0"/>
              <a:t>عایقکاری رطوبتی ( ادامه...)</a:t>
            </a:r>
            <a:endParaRPr lang="en-US" sz="3600" dirty="0"/>
          </a:p>
        </p:txBody>
      </p:sp>
    </p:spTree>
  </p:cSld>
  <p:clrMapOvr>
    <a:masterClrMapping/>
  </p:clrMapOvr>
  <p:transition>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6" descr="Picture 217"/>
          <p:cNvPicPr>
            <a:picLocks noChangeAspect="1" noChangeArrowheads="1"/>
          </p:cNvPicPr>
          <p:nvPr/>
        </p:nvPicPr>
        <p:blipFill>
          <a:blip r:embed="rId3"/>
          <a:srcRect/>
          <a:stretch>
            <a:fillRect/>
          </a:stretch>
        </p:blipFill>
        <p:spPr bwMode="auto">
          <a:xfrm>
            <a:off x="0" y="304800"/>
            <a:ext cx="8839200" cy="4848225"/>
          </a:xfrm>
          <a:prstGeom prst="rect">
            <a:avLst/>
          </a:prstGeom>
          <a:noFill/>
          <a:ln w="9525">
            <a:noFill/>
            <a:miter lim="800000"/>
            <a:headEnd/>
            <a:tailEnd/>
          </a:ln>
        </p:spPr>
      </p:pic>
    </p:spTree>
  </p:cSld>
  <p:clrMapOvr>
    <a:masterClrMapping/>
  </p:clrMapOvr>
  <p:transition>
    <p:cover dir="ru"/>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6" descr="Picture 218"/>
          <p:cNvPicPr>
            <a:picLocks noChangeAspect="1" noChangeArrowheads="1"/>
          </p:cNvPicPr>
          <p:nvPr/>
        </p:nvPicPr>
        <p:blipFill>
          <a:blip r:embed="rId3"/>
          <a:srcRect/>
          <a:stretch>
            <a:fillRect/>
          </a:stretch>
        </p:blipFill>
        <p:spPr bwMode="auto">
          <a:xfrm>
            <a:off x="228600" y="0"/>
            <a:ext cx="8686800" cy="6096000"/>
          </a:xfrm>
          <a:prstGeom prst="rect">
            <a:avLst/>
          </a:prstGeom>
          <a:noFill/>
          <a:ln w="9525">
            <a:noFill/>
            <a:miter lim="800000"/>
            <a:headEnd/>
            <a:tailEnd/>
          </a:ln>
        </p:spPr>
      </p:pic>
    </p:spTree>
  </p:cSld>
  <p:clrMapOvr>
    <a:masterClrMapping/>
  </p:clrMapOvr>
  <p:transition>
    <p:cover dir="ru"/>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4" descr="Picture 220"/>
          <p:cNvPicPr>
            <a:picLocks noChangeAspect="1" noChangeArrowheads="1"/>
          </p:cNvPicPr>
          <p:nvPr/>
        </p:nvPicPr>
        <p:blipFill>
          <a:blip r:embed="rId3"/>
          <a:srcRect/>
          <a:stretch>
            <a:fillRect/>
          </a:stretch>
        </p:blipFill>
        <p:spPr bwMode="auto">
          <a:xfrm>
            <a:off x="684213" y="-7938"/>
            <a:ext cx="7704137" cy="6865938"/>
          </a:xfrm>
          <a:prstGeom prst="rect">
            <a:avLst/>
          </a:prstGeom>
          <a:noFill/>
          <a:ln w="9525">
            <a:noFill/>
            <a:miter lim="800000"/>
            <a:headEnd/>
            <a:tailEnd/>
          </a:ln>
        </p:spPr>
      </p:pic>
    </p:spTree>
  </p:cSld>
  <p:clrMapOvr>
    <a:masterClrMapping/>
  </p:clrMapOvr>
  <p:transition>
    <p:cover dir="ru"/>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fa-IR" dirty="0" smtClean="0"/>
              <a:t>فصل دوم</a:t>
            </a:r>
            <a:endParaRPr lang="en-US" dirty="0"/>
          </a:p>
        </p:txBody>
      </p:sp>
      <p:sp>
        <p:nvSpPr>
          <p:cNvPr id="3" name="Subtitle 2"/>
          <p:cNvSpPr>
            <a:spLocks noGrp="1"/>
          </p:cNvSpPr>
          <p:nvPr>
            <p:ph type="subTitle" idx="1"/>
          </p:nvPr>
        </p:nvSpPr>
        <p:spPr/>
        <p:txBody>
          <a:bodyPr>
            <a:normAutofit/>
          </a:bodyPr>
          <a:lstStyle/>
          <a:p>
            <a:pPr algn="ctr"/>
            <a:r>
              <a:rPr lang="fa-IR" dirty="0" smtClean="0"/>
              <a:t>ساختمانهای آجری بدون کلاف</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مقدمه</a:t>
            </a:r>
            <a:endParaRPr lang="en-US" dirty="0"/>
          </a:p>
        </p:txBody>
      </p:sp>
      <p:sp>
        <p:nvSpPr>
          <p:cNvPr id="3" name="Subtitle 2"/>
          <p:cNvSpPr>
            <a:spLocks noGrp="1"/>
          </p:cNvSpPr>
          <p:nvPr>
            <p:ph type="subTitle" idx="1"/>
          </p:nvPr>
        </p:nvSpPr>
        <p:spPr>
          <a:xfrm>
            <a:off x="533400" y="1905000"/>
            <a:ext cx="7772400" cy="2895600"/>
          </a:xfrm>
        </p:spPr>
        <p:txBody>
          <a:bodyPr>
            <a:normAutofit fontScale="92500" lnSpcReduction="20000"/>
          </a:bodyPr>
          <a:lstStyle/>
          <a:p>
            <a:pPr algn="just" rtl="1"/>
            <a:r>
              <a:rPr lang="fa-IR" dirty="0" smtClean="0"/>
              <a:t>-احداث ساختمانھای بنایی سنتی آجری، یکپارچگی خود را در برابر حرکتھای ناشی از زلزله حفظ نمیکنند.به ھمین علت احداث چنین ساختمانھایی توصیه نمی شود . </a:t>
            </a:r>
          </a:p>
          <a:p>
            <a:pPr algn="just" rtl="1"/>
            <a:r>
              <a:rPr lang="fa-IR" dirty="0" smtClean="0"/>
              <a:t>-ساختمانھای مشمول این فصل رفتاری ترد داشته وساخت آنھا در مناطق با خطر نسبی زیاد و خیلی زیاد ممنوع میباشد . </a:t>
            </a:r>
          </a:p>
          <a:p>
            <a:pPr algn="just" rtl="1"/>
            <a:r>
              <a:rPr lang="fa-IR" dirty="0" smtClean="0"/>
              <a:t>- ساخت اینگونه از ساختمانھا با رعایت ضوابط این فصل که بتوانند یکپارچگی نسبی خود را در مقابل نیروھای قائم حفظ نماید و مقاومت لازم را در برابر زلزله ھای خفیف تا متوسط داشته باشند بلامانع است.</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تعریف</a:t>
            </a:r>
            <a:endParaRPr lang="en-US" dirty="0"/>
          </a:p>
        </p:txBody>
      </p:sp>
      <p:sp>
        <p:nvSpPr>
          <p:cNvPr id="3" name="Subtitle 2"/>
          <p:cNvSpPr>
            <a:spLocks noGrp="1"/>
          </p:cNvSpPr>
          <p:nvPr>
            <p:ph type="subTitle" idx="1"/>
          </p:nvPr>
        </p:nvSpPr>
        <p:spPr>
          <a:xfrm>
            <a:off x="533400" y="1905000"/>
            <a:ext cx="7772400" cy="1828800"/>
          </a:xfrm>
        </p:spPr>
        <p:txBody>
          <a:bodyPr>
            <a:normAutofit/>
          </a:bodyPr>
          <a:lstStyle/>
          <a:p>
            <a:pPr algn="just" rtl="1"/>
            <a:r>
              <a:rPr lang="fa-IR" dirty="0" smtClean="0"/>
              <a:t>منظور از ساختمان بنایی سنتی آجری، ساختمانی است که با آجر ساخته شده و در آن تمام بارھای قائم وجانبی، توسط دیوارھای آجری تحمل می شود.</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محدوده کاربرد</a:t>
            </a:r>
            <a:endParaRPr lang="en-US" dirty="0"/>
          </a:p>
        </p:txBody>
      </p:sp>
      <p:sp>
        <p:nvSpPr>
          <p:cNvPr id="3" name="Subtitle 2"/>
          <p:cNvSpPr>
            <a:spLocks noGrp="1"/>
          </p:cNvSpPr>
          <p:nvPr>
            <p:ph type="subTitle" idx="1"/>
          </p:nvPr>
        </p:nvSpPr>
        <p:spPr>
          <a:xfrm>
            <a:off x="533400" y="1905000"/>
            <a:ext cx="7772400" cy="1828800"/>
          </a:xfrm>
        </p:spPr>
        <p:txBody>
          <a:bodyPr>
            <a:normAutofit/>
          </a:bodyPr>
          <a:lstStyle/>
          <a:p>
            <a:pPr algn="just" rtl="1"/>
            <a:r>
              <a:rPr lang="fa-IR" dirty="0" smtClean="0"/>
              <a:t>ضوابط این فصل به مسایل اجرایی و مصالح ساختمانھای بنایی سنتی آجری محدود می شود.</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ساختگاه</a:t>
            </a:r>
            <a:endParaRPr lang="en-US" dirty="0"/>
          </a:p>
        </p:txBody>
      </p:sp>
      <p:sp>
        <p:nvSpPr>
          <p:cNvPr id="3" name="Subtitle 2"/>
          <p:cNvSpPr>
            <a:spLocks noGrp="1"/>
          </p:cNvSpPr>
          <p:nvPr>
            <p:ph type="subTitle" idx="1"/>
          </p:nvPr>
        </p:nvSpPr>
        <p:spPr>
          <a:xfrm>
            <a:off x="533400" y="1905000"/>
            <a:ext cx="7772400" cy="1828800"/>
          </a:xfrm>
        </p:spPr>
        <p:txBody>
          <a:bodyPr>
            <a:normAutofit fontScale="92500" lnSpcReduction="20000"/>
          </a:bodyPr>
          <a:lstStyle/>
          <a:p>
            <a:pPr algn="just" rtl="1"/>
            <a:r>
              <a:rPr lang="fa-IR" dirty="0" smtClean="0"/>
              <a:t>-احداث ساختمانھای مشمول این فصل بر روی زمینھای ناپایدار یا در معرض سیل، مجاز نمی باشد .</a:t>
            </a:r>
          </a:p>
          <a:p>
            <a:pPr algn="just" rtl="1"/>
            <a:r>
              <a:rPr lang="fa-IR" dirty="0" smtClean="0"/>
              <a:t>-منظور از زمین ناپایدار زمینی است که احتمال وقوع پدیده ھایی مانند آبگونگی، نشست زیاد، سنگ ریزش و زمین لغزش در آن وجود داشته باشد یا اینکه زمین متشکل از خاک رس حساس باشد.</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مصالح</a:t>
            </a:r>
            <a:endParaRPr lang="en-US" dirty="0"/>
          </a:p>
        </p:txBody>
      </p:sp>
      <p:sp>
        <p:nvSpPr>
          <p:cNvPr id="3" name="Subtitle 2"/>
          <p:cNvSpPr>
            <a:spLocks noGrp="1"/>
          </p:cNvSpPr>
          <p:nvPr>
            <p:ph type="subTitle" idx="1"/>
          </p:nvPr>
        </p:nvSpPr>
        <p:spPr>
          <a:xfrm>
            <a:off x="533400" y="1905000"/>
            <a:ext cx="7772400" cy="1828800"/>
          </a:xfrm>
        </p:spPr>
        <p:txBody>
          <a:bodyPr>
            <a:normAutofit/>
          </a:bodyPr>
          <a:lstStyle/>
          <a:p>
            <a:r>
              <a:rPr lang="fa-IR" dirty="0" smtClean="0"/>
              <a:t>مصالح مصرفی باید با ویژگیھای ارائه شده در مبحث پنجم مقررات ملی ساختمان و بخ ش سوم این مقررات مطابقت داشته باشند.</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الزامات مربوط به پلان ساختمان</a:t>
            </a:r>
            <a:endParaRPr lang="en-US" dirty="0"/>
          </a:p>
        </p:txBody>
      </p:sp>
      <p:sp>
        <p:nvSpPr>
          <p:cNvPr id="3" name="Subtitle 2"/>
          <p:cNvSpPr>
            <a:spLocks noGrp="1"/>
          </p:cNvSpPr>
          <p:nvPr>
            <p:ph type="subTitle" idx="1"/>
          </p:nvPr>
        </p:nvSpPr>
        <p:spPr>
          <a:xfrm>
            <a:off x="533400" y="1905000"/>
            <a:ext cx="7772400" cy="1828800"/>
          </a:xfrm>
        </p:spPr>
        <p:txBody>
          <a:bodyPr>
            <a:normAutofit/>
          </a:bodyPr>
          <a:lstStyle/>
          <a:p>
            <a:r>
              <a:rPr lang="fa-IR" dirty="0" smtClean="0"/>
              <a:t>الف)طول ساختمان از دو برابر عرض آن یا ٢٥ متر بیشتر نباشد.</a:t>
            </a:r>
          </a:p>
          <a:p>
            <a:r>
              <a:rPr lang="fa-IR" dirty="0" smtClean="0"/>
              <a:t>ب )نسبت به ھر دو محور اصلی تقریبا قرینه باشد.</a:t>
            </a:r>
          </a:p>
          <a:p>
            <a:r>
              <a:rPr lang="fa-IR" dirty="0" smtClean="0"/>
              <a:t>پ )پیشامدگی ھای آن الزاماتی را برآورده نماید.</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الزامات مربوط به پیش آمدگیها</a:t>
            </a:r>
            <a:endParaRPr lang="en-US" dirty="0"/>
          </a:p>
        </p:txBody>
      </p:sp>
      <p:sp>
        <p:nvSpPr>
          <p:cNvPr id="3" name="Subtitle 2"/>
          <p:cNvSpPr>
            <a:spLocks noGrp="1"/>
          </p:cNvSpPr>
          <p:nvPr>
            <p:ph type="subTitle" idx="1"/>
          </p:nvPr>
        </p:nvSpPr>
        <p:spPr>
          <a:xfrm>
            <a:off x="533400" y="1905000"/>
            <a:ext cx="7772400" cy="3124200"/>
          </a:xfrm>
        </p:spPr>
        <p:txBody>
          <a:bodyPr>
            <a:normAutofit fontScale="85000" lnSpcReduction="20000"/>
          </a:bodyPr>
          <a:lstStyle/>
          <a:p>
            <a:pPr algn="just" rtl="1"/>
            <a:r>
              <a:rPr lang="fa-IR" b="1" dirty="0" smtClean="0"/>
              <a:t>اندازه پیشامدگی در ھر راستایی نباید از یک پنجم بعد ساختمان در ھمان راستا بیشتر باشد و علاوه بر آن بعد دیگر پیشامدگی نباید از مقدار پیشامده کمتر باشد.</a:t>
            </a:r>
          </a:p>
          <a:p>
            <a:pPr algn="just" rtl="1"/>
            <a:r>
              <a:rPr lang="fa-IR" b="1" dirty="0" smtClean="0"/>
              <a:t>-چنانچه اتصال قسمت پیشامده با ساختمان، بیش از نصف بعد ساختمان در آن راستا باشد، این قسمت پیشامدگی تلقی نمی شود و در این صورت محدودیتی برای بعد دیگر وجود ندارد مشروط برآن که پلان ساختمان بطور نامناسبی نامتقارن نگردد.</a:t>
            </a:r>
          </a:p>
          <a:p>
            <a:pPr algn="just" rtl="1"/>
            <a:r>
              <a:rPr lang="fa-IR" b="1" dirty="0" smtClean="0"/>
              <a:t>در صورت نداشتن ھر یک از الزامات فوق، باید با ایجاد درز انقطاع، ساختمان را به قطعات مناسب تقسیم نمود، به گونه ای که ھر قطعه واجد شرایط یاد شده باشد .لازم نیست که درز انقطاع در شالوده ساختمان امتداد یابد.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ارتفاع و تعداد طبقه</a:t>
            </a:r>
            <a:endParaRPr lang="en-US" dirty="0"/>
          </a:p>
        </p:txBody>
      </p:sp>
      <p:sp>
        <p:nvSpPr>
          <p:cNvPr id="3" name="Subtitle 2"/>
          <p:cNvSpPr>
            <a:spLocks noGrp="1"/>
          </p:cNvSpPr>
          <p:nvPr>
            <p:ph type="subTitle" idx="1"/>
          </p:nvPr>
        </p:nvSpPr>
        <p:spPr>
          <a:xfrm>
            <a:off x="533400" y="1905000"/>
            <a:ext cx="7772400" cy="3124200"/>
          </a:xfrm>
        </p:spPr>
        <p:txBody>
          <a:bodyPr>
            <a:normAutofit fontScale="92500" lnSpcReduction="20000"/>
          </a:bodyPr>
          <a:lstStyle/>
          <a:p>
            <a:pPr algn="just" rtl="1"/>
            <a:r>
              <a:rPr lang="fa-IR" dirty="0" smtClean="0"/>
              <a:t>الف)این ساختمانھا بدون احتساب زیرزمین به یک طبقه محدود می شوند.</a:t>
            </a:r>
          </a:p>
          <a:p>
            <a:pPr algn="just" rtl="1"/>
            <a:r>
              <a:rPr lang="fa-IR" dirty="0" smtClean="0"/>
              <a:t>ب )تراز روی سقف زیرزمین نباید نسبت به متوسط تراز زمین مجاور بیش از 1.5 متر باشد</a:t>
            </a:r>
          </a:p>
          <a:p>
            <a:pPr algn="just" rtl="1"/>
            <a:r>
              <a:rPr lang="fa-IR" dirty="0" smtClean="0"/>
              <a:t>ج )تراز روی بام نسبت به متوسط تراز زمین مجاور نباید بیش از ٥متر باشد.</a:t>
            </a:r>
          </a:p>
          <a:p>
            <a:pPr algn="just" rtl="1"/>
            <a:r>
              <a:rPr lang="fa-IR" dirty="0" smtClean="0"/>
              <a:t>د )حداکثر ارتفاع طبقه به ٣متر محدود می شود .در صورت تجاوز از این حد باید یک کلاف افقی اضافی در داخل دیوارھا و در ارتفاع حداکثر ٣متر تعبیه گردد .به این ترتیب می توان ارتفاع طبقه را حداکثر تا 4.5 متر افزایش داد.این کلافھا باید به نحو مناسبی در دیوارھا متصل گردد.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ull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پیشآمدگی سقف</a:t>
            </a:r>
            <a:endParaRPr lang="en-US" dirty="0"/>
          </a:p>
        </p:txBody>
      </p:sp>
      <p:sp>
        <p:nvSpPr>
          <p:cNvPr id="3" name="Subtitle 2"/>
          <p:cNvSpPr>
            <a:spLocks noGrp="1"/>
          </p:cNvSpPr>
          <p:nvPr>
            <p:ph type="subTitle" idx="1"/>
          </p:nvPr>
        </p:nvSpPr>
        <p:spPr>
          <a:xfrm>
            <a:off x="533400" y="1905000"/>
            <a:ext cx="7772400" cy="3124200"/>
          </a:xfrm>
        </p:spPr>
        <p:txBody>
          <a:bodyPr>
            <a:normAutofit/>
          </a:bodyPr>
          <a:lstStyle/>
          <a:p>
            <a:r>
              <a:rPr lang="fa-IR" dirty="0" smtClean="0"/>
              <a:t>در صورت وجود پیشامدگی سقف لازم است ضوابط زیر رعایت گردد:</a:t>
            </a:r>
          </a:p>
          <a:p>
            <a:r>
              <a:rPr lang="fa-IR" dirty="0" smtClean="0"/>
              <a:t>١- طول پیشامدگی از یک متر بیشتر نباشد.</a:t>
            </a:r>
          </a:p>
          <a:p>
            <a:r>
              <a:rPr lang="fa-IR" dirty="0" smtClean="0"/>
              <a:t>٢-روی ھیچ قسمت پیشامدگی ساختمان نباید دیواری ساخته شود ولی ساخت جان پناه تا ارتفاع ٧٠ سانتیمتر مجاز است.</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اختلاف سطح در طبقه</a:t>
            </a:r>
            <a:endParaRPr lang="en-US" dirty="0"/>
          </a:p>
        </p:txBody>
      </p:sp>
      <p:sp>
        <p:nvSpPr>
          <p:cNvPr id="3" name="Subtitle 2"/>
          <p:cNvSpPr>
            <a:spLocks noGrp="1"/>
          </p:cNvSpPr>
          <p:nvPr>
            <p:ph type="subTitle" idx="1"/>
          </p:nvPr>
        </p:nvSpPr>
        <p:spPr>
          <a:xfrm>
            <a:off x="533400" y="1905000"/>
            <a:ext cx="7772400" cy="3124200"/>
          </a:xfrm>
        </p:spPr>
        <p:txBody>
          <a:bodyPr>
            <a:normAutofit/>
          </a:bodyPr>
          <a:lstStyle/>
          <a:p>
            <a:pPr algn="just" rtl="1"/>
            <a:r>
              <a:rPr lang="fa-IR" dirty="0" smtClean="0"/>
              <a:t>حتی المقدور از ایجاد اختلاف سطح در طبقه باید پرھیز شود .در صورت وجود اختلاف سطح در طبقه، باید دیوارھای حدفاصل دوقسمتی که اختلاف سطح دارند با کلاف بندی مناسب، تقویت شوند.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سازه</a:t>
            </a:r>
            <a:endParaRPr lang="en-US" dirty="0"/>
          </a:p>
        </p:txBody>
      </p:sp>
      <p:sp>
        <p:nvSpPr>
          <p:cNvPr id="3" name="Subtitle 2"/>
          <p:cNvSpPr>
            <a:spLocks noGrp="1"/>
          </p:cNvSpPr>
          <p:nvPr>
            <p:ph type="subTitle" idx="1"/>
          </p:nvPr>
        </p:nvSpPr>
        <p:spPr>
          <a:xfrm>
            <a:off x="533400" y="1905000"/>
            <a:ext cx="7772400" cy="3124200"/>
          </a:xfrm>
        </p:spPr>
        <p:txBody>
          <a:bodyPr>
            <a:normAutofit fontScale="62500" lnSpcReduction="20000"/>
          </a:bodyPr>
          <a:lstStyle/>
          <a:p>
            <a:pPr algn="just" rtl="1"/>
            <a:r>
              <a:rPr lang="fa-IR" b="1" dirty="0" smtClean="0"/>
              <a:t>در مورد اجزای سازه ای ساختمانھای مشمول این فصل رعایت موارد کلی زیر الزامی است:</a:t>
            </a:r>
          </a:p>
          <a:p>
            <a:pPr algn="just" rtl="1"/>
            <a:r>
              <a:rPr lang="fa-IR" b="1" dirty="0" smtClean="0"/>
              <a:t>-تمامی اجزای باربر ساختمان باید به گونه مناسبی به ھم پیوسته باشند تا ساختمان در برابر نیروھا به طور یکپارچه عمل کند .به ویژه لازم است سقف با حفظ انسجام خود به صورت یکپارچه، نیروی ناشی از زلزله</a:t>
            </a:r>
          </a:p>
          <a:p>
            <a:pPr algn="just" rtl="1"/>
            <a:r>
              <a:rPr lang="fa-IR" b="1" dirty="0" smtClean="0"/>
              <a:t>را به اجزای قائم منتقل نماید.</a:t>
            </a:r>
          </a:p>
          <a:p>
            <a:pPr algn="just" rtl="1"/>
            <a:r>
              <a:rPr lang="fa-IR" b="1" dirty="0" smtClean="0"/>
              <a:t>- ساختمان باید در دو امتداد عمود بر ھم قادر به تحمل نیروھای افقی ناشی از زلزله باشد و در ھر یک ازامتدادھا نیز باید نیروھای افقی به سمت شالوده به گونه ای مناسب منتقل گردد.</a:t>
            </a:r>
          </a:p>
          <a:p>
            <a:pPr algn="just" rtl="1"/>
            <a:r>
              <a:rPr lang="fa-IR" b="1" dirty="0" smtClean="0"/>
              <a:t>-دیوارھای باربر باید در یک راستای قائم تا پی ادامه داشته باشند.</a:t>
            </a:r>
          </a:p>
          <a:p>
            <a:pPr algn="just" rtl="1"/>
            <a:r>
              <a:rPr lang="fa-IR" b="1" dirty="0" smtClean="0"/>
              <a:t>- ساختمان باید دارای تقارن سازه ای مناسب باشد، در غیر این صورت باید از درز انقطاع استفاده شود.</a:t>
            </a:r>
          </a:p>
          <a:p>
            <a:pPr algn="just" rtl="1"/>
            <a:r>
              <a:rPr lang="fa-IR" b="1" dirty="0" smtClean="0"/>
              <a:t>-از قرار دادن اجزای ساختمانی، تأسیسات و یا اجسام سنگین روی طره ھا، اجزای لاغر، دھانه ھای بزرگ</a:t>
            </a:r>
          </a:p>
          <a:p>
            <a:pPr algn="just" rtl="1"/>
            <a:r>
              <a:rPr lang="fa-IR" b="1" dirty="0" smtClean="0"/>
              <a:t>و بام پرھیز شود.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heckerboard(across)">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heckerboard(across)">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heckerboard(across)">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شالوده</a:t>
            </a:r>
            <a:endParaRPr lang="en-US" dirty="0"/>
          </a:p>
        </p:txBody>
      </p:sp>
      <p:sp>
        <p:nvSpPr>
          <p:cNvPr id="3" name="Subtitle 2"/>
          <p:cNvSpPr>
            <a:spLocks noGrp="1"/>
          </p:cNvSpPr>
          <p:nvPr>
            <p:ph type="subTitle" idx="1"/>
          </p:nvPr>
        </p:nvSpPr>
        <p:spPr>
          <a:xfrm>
            <a:off x="533400" y="1905000"/>
            <a:ext cx="7772400" cy="3124200"/>
          </a:xfrm>
        </p:spPr>
        <p:txBody>
          <a:bodyPr>
            <a:normAutofit fontScale="62500" lnSpcReduction="20000"/>
          </a:bodyPr>
          <a:lstStyle/>
          <a:p>
            <a:pPr algn="just" rtl="1"/>
            <a:r>
              <a:rPr lang="fa-IR" b="1" dirty="0" smtClean="0"/>
              <a:t>رعایت ضوابط زیر برای شالوده ھا الزامی است:</a:t>
            </a:r>
          </a:p>
          <a:p>
            <a:pPr algn="just" rtl="1"/>
            <a:r>
              <a:rPr lang="fa-IR" b="1" dirty="0" smtClean="0"/>
              <a:t>الف) شالوده ھا باید در یک سطح افقی ساخته شوند و ھرگاه احداث شالوده به ھر دلیل در یک تراز ممکن نباشد، ھر بخشی از شالوده باید در یک سطح افقی قرار گیرد.</a:t>
            </a:r>
          </a:p>
          <a:p>
            <a:pPr algn="just" rtl="1"/>
            <a:r>
              <a:rPr lang="fa-IR" b="1" dirty="0" smtClean="0"/>
              <a:t>ب ) ساخت شالوده شیبدار به ھیچ وجه مجاز نیست .در زمینھای شیبدار چنانچه ساخت شالوده ساختمان در یک تراز ممکن نباشد باید از شالوده ھای پلکانی استفاده شود، به طوری که این شالوده ھا در جھت افقی حداقل ٥٠ سانتیمتر ھمپوشانی داشته و ارتفاع ھر پله نباید بیش از ٣٠ سانتیمتر باشد.</a:t>
            </a:r>
          </a:p>
          <a:p>
            <a:pPr algn="just" rtl="1"/>
            <a:r>
              <a:rPr lang="fa-IR" b="1" dirty="0" smtClean="0"/>
              <a:t>پ )برای دیوارھای باربر، عرض شالوده نواری باید حداقل 1.5 برابر عرض کرسی چینی و عمق آن حداقل 50 سانتیمتر باشد.</a:t>
            </a:r>
          </a:p>
          <a:p>
            <a:pPr algn="just" rtl="1"/>
            <a:r>
              <a:rPr lang="fa-IR" b="1" dirty="0" smtClean="0"/>
              <a:t>ت ) شالوده دیوارھای ساختمانھای مشمول این فصل باید با استفاده از شفته آھکی با عیار ٣٥٠ کیلوگرم</a:t>
            </a:r>
          </a:p>
          <a:p>
            <a:pPr algn="just" rtl="1"/>
            <a:r>
              <a:rPr lang="fa-IR" b="1" dirty="0" smtClean="0"/>
              <a:t>آھک در مترمکعب شفته و یا سنگ لاشه با یکی از ملاتھای گل آھک، ماسه، آھک، ماسه - سیمان -آھک</a:t>
            </a:r>
          </a:p>
          <a:p>
            <a:pPr algn="just" rtl="1"/>
            <a:r>
              <a:rPr lang="fa-IR" b="1" dirty="0" smtClean="0"/>
              <a:t>( باتارد)و یا ماسه سیمان ساخته شود.</a:t>
            </a:r>
          </a:p>
          <a:p>
            <a:pPr algn="just" rtl="1"/>
            <a:r>
              <a:rPr lang="fa-IR" b="1" dirty="0" smtClean="0"/>
              <a:t>ث )در مناطق سردسیر و دارای یخبندان تراز روی شالوده حداقل ٤٠ سانتیمتر زیر سطح زمین قرار گیرد.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heckerboard(across)">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heckerboard(across)">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heckerboard(across)">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کرسی چینی</a:t>
            </a:r>
            <a:endParaRPr lang="en-US" dirty="0"/>
          </a:p>
        </p:txBody>
      </p:sp>
      <p:sp>
        <p:nvSpPr>
          <p:cNvPr id="3" name="Subtitle 2"/>
          <p:cNvSpPr>
            <a:spLocks noGrp="1"/>
          </p:cNvSpPr>
          <p:nvPr>
            <p:ph type="subTitle" idx="1"/>
          </p:nvPr>
        </p:nvSpPr>
        <p:spPr>
          <a:xfrm>
            <a:off x="533400" y="1905000"/>
            <a:ext cx="7772400" cy="3124200"/>
          </a:xfrm>
        </p:spPr>
        <p:txBody>
          <a:bodyPr>
            <a:noAutofit/>
          </a:bodyPr>
          <a:lstStyle/>
          <a:p>
            <a:r>
              <a:rPr lang="fa-IR" sz="1600" b="1" dirty="0" smtClean="0"/>
              <a:t>در مورد کرسی چینی رعایت ضوابط زیر الزامی است:</a:t>
            </a:r>
          </a:p>
          <a:p>
            <a:r>
              <a:rPr lang="fa-IR" sz="1600" b="1" dirty="0" smtClean="0"/>
              <a:t>الف )کرسی چینی باید از روی سطح شالوده تا حداقل ٣٠ سانتیمتر بالاتر از کف تمام شده محوطه پیرامون ساختمان باشد.</a:t>
            </a:r>
          </a:p>
          <a:p>
            <a:r>
              <a:rPr lang="fa-IR" sz="1600" b="1" dirty="0" smtClean="0"/>
              <a:t>ب )برای جلوگیری از نفوذ رطوبت باید سطح کرسی چینی با اندود و مصالح مناسب نم بندی (عایق کاری رطوبتی) شود.لازم است لایه عایق از روی کرسی از ھر طرف به اندازه ١٠ سانتیمتر به سمت پایین برگردد.</a:t>
            </a:r>
          </a:p>
          <a:p>
            <a:r>
              <a:rPr lang="fa-IR" sz="1600" b="1" dirty="0" smtClean="0"/>
              <a:t>پ )عرض کرسی چینی باید حداقل ١٠ سانتیمتر بیشتر از عرض دیوار باشد.</a:t>
            </a:r>
          </a:p>
          <a:p>
            <a:r>
              <a:rPr lang="fa-IR" sz="1600" b="1" dirty="0" smtClean="0"/>
              <a:t>ت )کرسی چینی دیوارھا با استفاده از سنگ لاشه، آجر یا بلوک سیمانی توپر با یکی از ملاتھای زیر اجرا شود:</a:t>
            </a:r>
          </a:p>
          <a:p>
            <a:r>
              <a:rPr lang="fa-IR" sz="1600" b="1" dirty="0" smtClean="0"/>
              <a:t>- ملات ماسه سیمان با نسبت حجمی یک به سه ( یک قسمت سیمان، سه قسمت ماسه)</a:t>
            </a:r>
          </a:p>
          <a:p>
            <a:r>
              <a:rPr lang="fa-IR" sz="1600" b="1" dirty="0" smtClean="0"/>
              <a:t>- ملات ماسه - سیمان -آھک ( باتارد)با نسبت حجمی یک به یک به شش ( یک قسمت سیمان، یک قسمت آھک، شش قسمت ماسه)</a:t>
            </a:r>
          </a:p>
          <a:p>
            <a:r>
              <a:rPr lang="fa-IR" sz="1600" b="1" dirty="0" smtClean="0"/>
              <a:t>- ملات ماسه آھک با نسبت حجمی دو به پنج (دو قسمت آھک، پنج قسمت ماسه خاکی)</a:t>
            </a:r>
            <a:endParaRPr lang="en-US" sz="1600"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heckerboard(across)">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heckerboard(across)">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heckerboard(across)">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دیوارهای باربر</a:t>
            </a:r>
            <a:endParaRPr lang="en-US" dirty="0"/>
          </a:p>
        </p:txBody>
      </p:sp>
      <p:sp>
        <p:nvSpPr>
          <p:cNvPr id="3" name="Subtitle 2"/>
          <p:cNvSpPr>
            <a:spLocks noGrp="1"/>
          </p:cNvSpPr>
          <p:nvPr>
            <p:ph type="subTitle" idx="1"/>
          </p:nvPr>
        </p:nvSpPr>
        <p:spPr>
          <a:xfrm>
            <a:off x="533400" y="1905000"/>
            <a:ext cx="7772400" cy="3124200"/>
          </a:xfrm>
        </p:spPr>
        <p:txBody>
          <a:bodyPr>
            <a:noAutofit/>
          </a:bodyPr>
          <a:lstStyle/>
          <a:p>
            <a:pPr algn="just" rtl="1"/>
            <a:r>
              <a:rPr lang="fa-IR" sz="2400" b="1" dirty="0" smtClean="0"/>
              <a:t>-دیوارھای باربر باید به طور یکنواخت در دو جھت عمود بر ھم توزیع شوند </a:t>
            </a:r>
          </a:p>
          <a:p>
            <a:pPr algn="just" rtl="1"/>
            <a:r>
              <a:rPr lang="fa-IR" sz="2400" b="1" dirty="0" smtClean="0"/>
              <a:t>-ھمچنین از نظر مقدار سطح مقطع ومقاومت برای مقابله با نیروھای قائم و نیروھای جانبی زلزله کافی باشند.</a:t>
            </a:r>
          </a:p>
          <a:p>
            <a:pPr algn="just" rtl="1"/>
            <a:r>
              <a:rPr lang="fa-IR" sz="2400" b="1" dirty="0" smtClean="0"/>
              <a:t>-دیوارھا باید در کف و سقف محکم شوند</a:t>
            </a:r>
            <a:endParaRPr lang="en-US" sz="2400"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دیوارهای باربر</a:t>
            </a:r>
            <a:endParaRPr lang="en-US" dirty="0"/>
          </a:p>
        </p:txBody>
      </p:sp>
      <p:sp>
        <p:nvSpPr>
          <p:cNvPr id="3" name="Subtitle 2"/>
          <p:cNvSpPr>
            <a:spLocks noGrp="1"/>
          </p:cNvSpPr>
          <p:nvPr>
            <p:ph type="subTitle" idx="1"/>
          </p:nvPr>
        </p:nvSpPr>
        <p:spPr>
          <a:xfrm>
            <a:off x="533400" y="1905000"/>
            <a:ext cx="7772400" cy="3124200"/>
          </a:xfrm>
        </p:spPr>
        <p:txBody>
          <a:bodyPr>
            <a:noAutofit/>
          </a:bodyPr>
          <a:lstStyle/>
          <a:p>
            <a:pPr algn="just" rtl="1"/>
            <a:r>
              <a:rPr lang="fa-IR" sz="1800" b="1" dirty="0" smtClean="0"/>
              <a:t>برای رفتار مناسب سازه ای، دیوارھا باید مشخصات زیر را دارا باشند:</a:t>
            </a:r>
          </a:p>
          <a:p>
            <a:pPr algn="just" rtl="1"/>
            <a:r>
              <a:rPr lang="fa-IR" sz="1800" b="1" dirty="0" smtClean="0"/>
              <a:t>١- حداقل ضخامت دیوارھای باربر آجری یکدهم ارتفاع آن دیوار یا ٣٥ سانتیمتر (طول یک و نیم آجر )، ھر کدام</a:t>
            </a:r>
          </a:p>
          <a:p>
            <a:pPr algn="just" rtl="1"/>
            <a:r>
              <a:rPr lang="fa-IR" sz="1800" b="1" dirty="0" smtClean="0"/>
              <a:t>بیشتر باشد، در نظر گرفته می شود.</a:t>
            </a:r>
          </a:p>
          <a:p>
            <a:pPr algn="just" rtl="1"/>
            <a:r>
              <a:rPr lang="fa-IR" sz="1800" b="1" dirty="0" smtClean="0"/>
              <a:t>٢- حداکثر طول آزاد دیوار باربر بین دو پشت بند نباید از ٥متر بیشتر باشد .مقصود از پشت بند، دیواری است که در امتداد دیگری با دیوار باربر تلاقی می نماید .دیواری به عنوان پشت بند تلقی می شود که ضخامت آن حداقل ٢٠ سانتیمتر و طول آن با احتساب ضخامت دیوار باربر حداقل برابر بزرگترین د ھانه طرفین پشت بند باشد.کلاف قائم نیز می تواند به عنوان پشت بند محسوب شود.</a:t>
            </a:r>
          </a:p>
          <a:p>
            <a:pPr algn="just" rtl="1"/>
            <a:r>
              <a:rPr lang="en-US" sz="1800" b="1" dirty="0" smtClean="0"/>
              <a:t>٣ </a:t>
            </a:r>
            <a:r>
              <a:rPr lang="fa-IR" sz="1800" b="1" dirty="0" smtClean="0"/>
              <a:t>- ارتفاع دیوارھای باربر باید با مفاد بند (8-2-6-2) تطبیق نماید.</a:t>
            </a:r>
            <a:endParaRPr lang="en-US" sz="1800"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دیوارهای غیرباربر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026" name="Picture 2"/>
          <p:cNvPicPr>
            <a:picLocks noChangeAspect="1" noChangeArrowheads="1"/>
          </p:cNvPicPr>
          <p:nvPr/>
        </p:nvPicPr>
        <p:blipFill>
          <a:blip r:embed="rId3"/>
          <a:srcRect/>
          <a:stretch>
            <a:fillRect/>
          </a:stretch>
        </p:blipFill>
        <p:spPr bwMode="auto">
          <a:xfrm>
            <a:off x="1066800" y="1828800"/>
            <a:ext cx="7532370" cy="3703320"/>
          </a:xfrm>
          <a:prstGeom prst="rect">
            <a:avLst/>
          </a:prstGeom>
          <a:noFill/>
          <a:ln w="9525">
            <a:noFill/>
            <a:miter lim="800000"/>
            <a:headEnd/>
            <a:tailEnd/>
          </a:ln>
          <a:effectLst/>
        </p:spPr>
      </p:pic>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دیوارهای غیرباربر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050" name="Picture 2"/>
          <p:cNvPicPr>
            <a:picLocks noChangeAspect="1" noChangeArrowheads="1"/>
          </p:cNvPicPr>
          <p:nvPr/>
        </p:nvPicPr>
        <p:blipFill>
          <a:blip r:embed="rId3"/>
          <a:srcRect/>
          <a:stretch>
            <a:fillRect/>
          </a:stretch>
        </p:blipFill>
        <p:spPr bwMode="auto">
          <a:xfrm>
            <a:off x="381000" y="1828800"/>
            <a:ext cx="8435340" cy="3417570"/>
          </a:xfrm>
          <a:prstGeom prst="rect">
            <a:avLst/>
          </a:prstGeom>
          <a:noFill/>
          <a:ln w="9525">
            <a:noFill/>
            <a:miter lim="800000"/>
            <a:headEnd/>
            <a:tailEnd/>
          </a:ln>
          <a:effectLst/>
        </p:spPr>
      </p:pic>
    </p:spTree>
  </p:cSld>
  <p:clrMapOvr>
    <a:masterClrMapping/>
  </p:clrMapOvr>
  <p:transition>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400"/>
            <a:ext cx="7772400" cy="915362"/>
          </a:xfrm>
        </p:spPr>
        <p:txBody>
          <a:bodyPr>
            <a:normAutofit/>
          </a:bodyPr>
          <a:lstStyle/>
          <a:p>
            <a:pPr algn="ctr"/>
            <a:r>
              <a:rPr lang="fa-IR" dirty="0" smtClean="0"/>
              <a:t>دیوارچینی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074" name="Picture 2"/>
          <p:cNvPicPr>
            <a:picLocks noChangeAspect="1" noChangeArrowheads="1"/>
          </p:cNvPicPr>
          <p:nvPr/>
        </p:nvPicPr>
        <p:blipFill>
          <a:blip r:embed="rId3"/>
          <a:srcRect/>
          <a:stretch>
            <a:fillRect/>
          </a:stretch>
        </p:blipFill>
        <p:spPr bwMode="auto">
          <a:xfrm>
            <a:off x="914400" y="1371600"/>
            <a:ext cx="6972300" cy="4886325"/>
          </a:xfrm>
          <a:prstGeom prst="rect">
            <a:avLst/>
          </a:prstGeom>
          <a:noFill/>
          <a:ln w="9525">
            <a:noFill/>
            <a:miter lim="800000"/>
            <a:headEnd/>
            <a:tailEnd/>
          </a:ln>
          <a:effectLst/>
        </p:spPr>
      </p:pic>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بازشوها</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4098" name="Picture 2"/>
          <p:cNvPicPr>
            <a:picLocks noChangeAspect="1" noChangeArrowheads="1"/>
          </p:cNvPicPr>
          <p:nvPr/>
        </p:nvPicPr>
        <p:blipFill>
          <a:blip r:embed="rId3"/>
          <a:srcRect/>
          <a:stretch>
            <a:fillRect/>
          </a:stretch>
        </p:blipFill>
        <p:spPr bwMode="auto">
          <a:xfrm>
            <a:off x="609600" y="990600"/>
            <a:ext cx="8035290" cy="5406390"/>
          </a:xfrm>
          <a:prstGeom prst="rect">
            <a:avLst/>
          </a:prstGeom>
          <a:noFill/>
          <a:ln w="9525">
            <a:noFill/>
            <a:miter lim="800000"/>
            <a:headEnd/>
            <a:tailEnd/>
          </a:ln>
          <a:effectLst/>
        </p:spPr>
      </p:pic>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نعل درگاه</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533400" y="1905000"/>
            <a:ext cx="7772400" cy="3124200"/>
          </a:xfrm>
        </p:spPr>
        <p:txBody>
          <a:bodyPr>
            <a:normAutofit/>
          </a:bodyPr>
          <a:lstStyle/>
          <a:p>
            <a:pPr algn="just" rtl="1"/>
            <a:r>
              <a:rPr lang="fa-IR" dirty="0" smtClean="0"/>
              <a:t>١- طول نشیمن نعل درگاه بر روی دیوار در ھر طرف باید حداقل ٣٠ سانتیمتر باشد.</a:t>
            </a:r>
          </a:p>
          <a:p>
            <a:pPr algn="just" rtl="1"/>
            <a:r>
              <a:rPr lang="fa-IR" dirty="0" smtClean="0"/>
              <a:t>٢-در صورت استفاده از کلافھای قائم در اطراف بازشوھا، نعل درگاه باید به نحو مناسبی به آنھا متصل شوند.</a:t>
            </a:r>
          </a:p>
          <a:p>
            <a:pPr algn="just" rtl="1"/>
            <a:r>
              <a:rPr lang="fa-IR" dirty="0" smtClean="0"/>
              <a:t>٣-عرض نعل درگاه بایدمساوی ضخامت دیوار باشد.</a:t>
            </a:r>
            <a:endParaRPr lang="en-US" b="1" dirty="0"/>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سقف</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533400" y="1295400"/>
            <a:ext cx="7772400" cy="3733800"/>
          </a:xfrm>
        </p:spPr>
        <p:txBody>
          <a:bodyPr>
            <a:normAutofit fontScale="92500" lnSpcReduction="10000"/>
          </a:bodyPr>
          <a:lstStyle/>
          <a:p>
            <a:pPr algn="just" rtl="1"/>
            <a:r>
              <a:rPr lang="fa-IR" dirty="0" smtClean="0"/>
              <a:t>سقف ساختمانھای مشمول این فصل می تواند به صورت تخت، شیبدار و قوسی با رعایت شرایط زیر ساخته شود .</a:t>
            </a:r>
          </a:p>
          <a:p>
            <a:pPr algn="just" rtl="1"/>
            <a:r>
              <a:rPr lang="fa-IR" dirty="0" smtClean="0"/>
              <a:t>در زیر سقف یک کلاف افقی فولادی از تیر آھن حداقل نمره ١٢ و یا معادل آن یا یک کلاف افقی بتنی باعرض حداقل مساوی ضخامت دیوار و ارتفاع ١٥ سانتیمتر و با حداقل چھار میلگرد طولی نمره ١٠ و میلگردھای عرضی نمره ٦به فاصله حداکثر ٢٠  سانتیمتر، اجرا شود .ھنگام اجرای کلاف سقف، تدابیر لازم برای اتصال مناسب آن به تیرھای سقف اتخاذ گردد.</a:t>
            </a:r>
          </a:p>
          <a:p>
            <a:pPr algn="just" rtl="1"/>
            <a:r>
              <a:rPr lang="fa-IR" dirty="0" smtClean="0"/>
              <a:t>بخش طره ای سقف باید ھمزمان با سقف اجرا شده و تیرھای آن ادامه تیرھای سقف باشد.</a:t>
            </a:r>
            <a:endParaRPr lang="en-US" b="1" dirty="0"/>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سقفهای طاق ضربی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533400" y="1295400"/>
            <a:ext cx="7772400" cy="3733800"/>
          </a:xfrm>
        </p:spPr>
        <p:txBody>
          <a:bodyPr>
            <a:normAutofit fontScale="62500" lnSpcReduction="20000"/>
          </a:bodyPr>
          <a:lstStyle/>
          <a:p>
            <a:pPr algn="just" rtl="1"/>
            <a:r>
              <a:rPr lang="fa-IR" b="1" dirty="0" smtClean="0"/>
              <a:t>١-فاصله بین تیرآھن ھای سقف از ١متر بیشتر نشود.</a:t>
            </a:r>
          </a:p>
          <a:p>
            <a:pPr algn="just" rtl="1"/>
            <a:r>
              <a:rPr lang="fa-IR" b="1" dirty="0" smtClean="0"/>
              <a:t>٢-تیرآھن ھای سقف باید در فواصل حداکثر ٢متر توسط تیرآھن ھای عرضی (حداکثر یک شماره کمتر از</a:t>
            </a:r>
          </a:p>
          <a:p>
            <a:pPr algn="just" rtl="1"/>
            <a:r>
              <a:rPr lang="fa-IR" b="1" dirty="0" smtClean="0"/>
              <a:t>تیرآھن سقف)که در دل تیر آھن ھای سقف قرار می گیرند، به یکدیگر متصل گردند.</a:t>
            </a:r>
          </a:p>
          <a:p>
            <a:pPr algn="just" rtl="1"/>
            <a:r>
              <a:rPr lang="fa-IR" b="1" dirty="0" smtClean="0"/>
              <a:t>٣-لازم است انتھای تیرآھن ھای سقف توسط تیر آھن ھای دیگری که در امتداد عمود بر تیرھای سقف ھستند، به یکدیگر متصل شوند.</a:t>
            </a:r>
          </a:p>
          <a:p>
            <a:pPr algn="just" rtl="1"/>
            <a:r>
              <a:rPr lang="fa-IR" b="1" dirty="0" smtClean="0"/>
              <a:t>۴-تیر آھن ھای سقف به گونه مناسبی به کلاف افقی متصل شوند.</a:t>
            </a:r>
          </a:p>
          <a:p>
            <a:pPr algn="just" rtl="1"/>
            <a:r>
              <a:rPr lang="fa-IR" b="1" dirty="0" smtClean="0"/>
              <a:t>۵-تیر آھن انتھایی سقف باید در چشمه ھای ٢متری، حداقل به صورت یک چشمه در میان، با تسمه یا میلگرد به شکل ضربدری به تیرآھن کناری خود مھار شود.</a:t>
            </a:r>
          </a:p>
          <a:p>
            <a:pPr algn="just" rtl="1"/>
            <a:r>
              <a:rPr lang="fa-IR" b="1" dirty="0" smtClean="0"/>
              <a:t>۶-تکیه گاه مناسبی برای پاطاق آخرین دھانه طاق ضربی تعبیه گردد .این تکیه گاه می تواند با قرار دادن یک پروفیل فولادی و اتصال آن با کلاف زیر خود یا با جاسازی در کلاف بتنی تأمین شود .چنانچه این تکیه گاه فولادی باشد باید با میلگردھا یا تسمه ھای کاملا کشیده و مستقیم در دو انتھای تیر وھمچنین در فواصل کمتر از ٢متر به آخرین تیرآھن سقف متصل گردد.</a:t>
            </a:r>
          </a:p>
          <a:p>
            <a:pPr algn="just" rtl="1"/>
            <a:r>
              <a:rPr lang="fa-IR" b="1" dirty="0" smtClean="0"/>
              <a:t>٧- حداقل سطح مقطع میلگرد یا تسمه که برای مھاربندی ضربدری تیرآھن ھای سقف یا استوار کردن آخرین دھانه به کار می رود، میلگرد با قطر ١٤ میلیمتر یا تسمه معادل آن می باشد.</a:t>
            </a:r>
            <a:endParaRPr lang="en-US" b="1" dirty="0"/>
          </a:p>
        </p:txBody>
      </p:sp>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checkerboard(across)">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checkerboard(across)">
                                      <p:cBhvr>
                                        <p:cTn id="4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سقفهای تیرچه بلوک</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533400" y="1295400"/>
            <a:ext cx="7772400" cy="3733800"/>
          </a:xfrm>
        </p:spPr>
        <p:txBody>
          <a:bodyPr>
            <a:normAutofit fontScale="92500" lnSpcReduction="10000"/>
          </a:bodyPr>
          <a:lstStyle/>
          <a:p>
            <a:pPr algn="just" rtl="1"/>
            <a:r>
              <a:rPr lang="fa-IR" dirty="0" smtClean="0"/>
              <a:t>١-تیرچه ھای سقف به نحو مناسبی به کلاف افقی متصل شوند.</a:t>
            </a:r>
          </a:p>
          <a:p>
            <a:pPr algn="just" rtl="1"/>
            <a:r>
              <a:rPr lang="fa-IR" dirty="0" smtClean="0"/>
              <a:t>٢-میلگرد مورد استفاده در بتن پوشش سقف حداقل به قطر ٦میلیمتر به فواصل حداکثر ٢٥ سانتیمتر درجھت عمود بر تیرچه ھا، قرار داده شود.</a:t>
            </a:r>
          </a:p>
          <a:p>
            <a:pPr algn="just" rtl="1"/>
            <a:r>
              <a:rPr lang="fa-IR" dirty="0" smtClean="0"/>
              <a:t>٣-بتن پوشش روی بلوکھا حداقل دارای ٥ سانتیمتر ضخامت باشد.</a:t>
            </a:r>
          </a:p>
          <a:p>
            <a:pPr algn="just" rtl="1"/>
            <a:r>
              <a:rPr lang="fa-IR" dirty="0" smtClean="0"/>
              <a:t>۴-در صورت تجاوز دھانه تیرچه ھا از ٤متر، تیرچه ھا به وسیله کلاف عرضی که عرض مقطع آن حداقل ١٠ سانتیمتر باشد به ھم متصل شوند .این کلاف باید دارای حداقل ٢میلگرد آجدار سراسری به قطر ١٠میلیمتر ( یکی در بالا و یکی در پائین مقطع کلاف)باشد.</a:t>
            </a:r>
          </a:p>
          <a:p>
            <a:pPr algn="just" rtl="1"/>
            <a:r>
              <a:rPr lang="fa-IR" dirty="0" smtClean="0"/>
              <a:t>۵-در صورت وجود طره در سقف، لازم است حداقل به اندازه میلگردھای پایین در بالا ھم تعبیه شود . حداقل طول این ملگردها 1.5 متر باشد.</a:t>
            </a:r>
            <a:endParaRPr lang="en-US" b="1" dirty="0"/>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نما</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533400" y="1295400"/>
            <a:ext cx="7772400" cy="3733800"/>
          </a:xfrm>
        </p:spPr>
        <p:txBody>
          <a:bodyPr>
            <a:normAutofit lnSpcReduction="10000"/>
          </a:bodyPr>
          <a:lstStyle/>
          <a:p>
            <a:pPr algn="just" rtl="1"/>
            <a:r>
              <a:rPr lang="fa-IR" dirty="0" smtClean="0"/>
              <a:t>١-نما باید با سطح زیر کار اتصال مناسب و کافی داشته باشد تا ھنگام بروز زلزله خطر جداشدن و فروریختن آن وجود نداشته باشد.</a:t>
            </a:r>
          </a:p>
          <a:p>
            <a:pPr algn="just" rtl="1"/>
            <a:r>
              <a:rPr lang="fa-IR" dirty="0" smtClean="0"/>
              <a:t>٢-نما باید قابلیت تحمل شرایط اقلیمی خاص ھر منطقه را داشته باشد و حتی المقدور از مصالح سبک وزن استفاده شود.</a:t>
            </a:r>
          </a:p>
          <a:p>
            <a:pPr algn="just" rtl="1"/>
            <a:r>
              <a:rPr lang="fa-IR" dirty="0" smtClean="0"/>
              <a:t>٣-نما باید به گونه ای انتخاب و اجرا شود که بروز اشکالاتی در آن (مانند ترک خوردگی)موجب آسیب دیدن سطح زیر کار بویژه اجزای سازه ای نشود.</a:t>
            </a:r>
          </a:p>
          <a:p>
            <a:pPr algn="just" rtl="1"/>
            <a:r>
              <a:rPr lang="fa-IR" dirty="0" smtClean="0"/>
              <a:t>۴-اجرای نماھای مجزا پس از تکمیل سطح زیرکار (سفت کاری)انجام شود.</a:t>
            </a:r>
            <a:endParaRPr lang="en-US" b="1"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دودکش</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122" name="Picture 2"/>
          <p:cNvPicPr>
            <a:picLocks noChangeAspect="1" noChangeArrowheads="1"/>
          </p:cNvPicPr>
          <p:nvPr/>
        </p:nvPicPr>
        <p:blipFill>
          <a:blip r:embed="rId3"/>
          <a:srcRect/>
          <a:stretch>
            <a:fillRect/>
          </a:stretch>
        </p:blipFill>
        <p:spPr bwMode="auto">
          <a:xfrm>
            <a:off x="381000" y="1371600"/>
            <a:ext cx="8417719" cy="1416844"/>
          </a:xfrm>
          <a:prstGeom prst="rect">
            <a:avLst/>
          </a:prstGeom>
          <a:noFill/>
          <a:ln w="9525">
            <a:noFill/>
            <a:miter lim="800000"/>
            <a:headEnd/>
            <a:tailEnd/>
          </a:ln>
          <a:effectLst/>
        </p:spPr>
      </p:pic>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عایقکاری رطوبتی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533400" y="1295400"/>
            <a:ext cx="7772400" cy="3733800"/>
          </a:xfrm>
        </p:spPr>
        <p:txBody>
          <a:bodyPr>
            <a:normAutofit/>
          </a:bodyPr>
          <a:lstStyle/>
          <a:p>
            <a:pPr algn="just" rtl="1"/>
            <a:r>
              <a:rPr lang="fa-IR" b="1" dirty="0" smtClean="0"/>
              <a:t>اجرای عایقکاری رطوبتی در موارد زیر لازم است:</a:t>
            </a:r>
          </a:p>
          <a:p>
            <a:pPr algn="just" rtl="1"/>
            <a:r>
              <a:rPr lang="fa-IR" b="1" dirty="0" smtClean="0"/>
              <a:t>الف)بامھای تخت، شیبدار، قوسی و گنبدھا</a:t>
            </a:r>
          </a:p>
          <a:p>
            <a:pPr algn="just" rtl="1"/>
            <a:r>
              <a:rPr lang="fa-IR" b="1" dirty="0" smtClean="0"/>
              <a:t>ب )ایوانگاھھا و ایوانھا</a:t>
            </a:r>
          </a:p>
          <a:p>
            <a:pPr algn="just" rtl="1"/>
            <a:r>
              <a:rPr lang="fa-IR" b="1" dirty="0" smtClean="0"/>
              <a:t>پ )کفھا (در تماس با زمین نمناک و کف سرویسھا و آشپزخانه)</a:t>
            </a:r>
          </a:p>
          <a:p>
            <a:pPr algn="just" rtl="1"/>
            <a:r>
              <a:rPr lang="fa-IR" b="1" dirty="0" smtClean="0"/>
              <a:t>ت )دیوارھای زیرزمین و دیوارھای در تماس با زمین نمناک</a:t>
            </a:r>
          </a:p>
          <a:p>
            <a:pPr algn="just" rtl="1"/>
            <a:r>
              <a:rPr lang="fa-IR" b="1" dirty="0" smtClean="0"/>
              <a:t>ث ) سایر قسمتھا از قبیل کف پنجره ھای در تماس با محیط اطراف، درپوش و دیوار جان پناه، دودکشھا، بدنه و کف استخرھا و منابع آب، نماھایی که در معرض بوران قرار می گیرند.</a:t>
            </a:r>
            <a:endParaRPr lang="en-US" b="1"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915362"/>
          </a:xfrm>
        </p:spPr>
        <p:txBody>
          <a:bodyPr>
            <a:normAutofit/>
          </a:bodyPr>
          <a:lstStyle/>
          <a:p>
            <a:pPr algn="ctr"/>
            <a:r>
              <a:rPr lang="fa-IR" dirty="0" smtClean="0"/>
              <a:t>عایقکاری رطوبتی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533400" y="1295400"/>
            <a:ext cx="7772400" cy="3733800"/>
          </a:xfrm>
        </p:spPr>
        <p:txBody>
          <a:bodyPr>
            <a:normAutofit fontScale="62500" lnSpcReduction="20000"/>
          </a:bodyPr>
          <a:lstStyle/>
          <a:p>
            <a:pPr algn="just" rtl="1"/>
            <a:r>
              <a:rPr lang="fa-IR" b="1" dirty="0" smtClean="0"/>
              <a:t>ج )اگر عایقکاری با قیر و گونی و گونی قیراندود انجام می شود باید موارد زیر رعایت شود:</a:t>
            </a:r>
          </a:p>
          <a:p>
            <a:pPr algn="just" rtl="1"/>
            <a:r>
              <a:rPr lang="fa-IR" b="1" dirty="0" smtClean="0"/>
              <a:t>١-ایجاد زیرسازی مناسب برای انجام عایقکاری ضروری است.</a:t>
            </a:r>
          </a:p>
          <a:p>
            <a:pPr algn="just" rtl="1"/>
            <a:r>
              <a:rPr lang="fa-IR" b="1" dirty="0" smtClean="0"/>
              <a:t>٢-عایقکاری به ھنگام بارندگی مجاز نیست.</a:t>
            </a:r>
          </a:p>
          <a:p>
            <a:pPr algn="just" rtl="1"/>
            <a:r>
              <a:rPr lang="fa-IR" b="1" dirty="0" smtClean="0"/>
              <a:t>٣-عایقکاری بر روی سطوح مرطوب مجاز نیست.</a:t>
            </a:r>
          </a:p>
          <a:p>
            <a:pPr algn="just" rtl="1"/>
            <a:r>
              <a:rPr lang="fa-IR" b="1" dirty="0" smtClean="0"/>
              <a:t>۴-قیرھای جامد را تا ھنگامی که گرم و روانند باید مصرف کرد.</a:t>
            </a:r>
          </a:p>
          <a:p>
            <a:pPr algn="just" rtl="1"/>
            <a:r>
              <a:rPr lang="fa-IR" b="1" dirty="0" smtClean="0"/>
              <a:t>۵-عایقکاری در ھوای سرد (زیر ٤+درجه سلسیوس)مجاز نیست.</a:t>
            </a:r>
          </a:p>
          <a:p>
            <a:pPr algn="just" rtl="1"/>
            <a:r>
              <a:rPr lang="fa-IR" b="1" dirty="0" smtClean="0"/>
              <a:t>۶-راه رفتن روی سطوح عایقکاری شده باید با احتیاط و با استفاده از کفشھای بدون میخ انجام شود.</a:t>
            </a:r>
          </a:p>
          <a:p>
            <a:pPr algn="just" rtl="1"/>
            <a:r>
              <a:rPr lang="fa-IR" b="1" dirty="0" smtClean="0"/>
              <a:t>٧-مصرف میخ برای محکم کردن لایه ھای عایقکاری مجاز نیست.</a:t>
            </a:r>
          </a:p>
          <a:p>
            <a:pPr algn="just" rtl="1"/>
            <a:r>
              <a:rPr lang="fa-IR" b="1" dirty="0" smtClean="0"/>
              <a:t>٨- لایه ھای عایق باید از ھر طرف حداقل ١٠ سانتیمتر ھمپوشانی داشته و با قیر مناسب کاملا به ھم چسبانده شوند .در ھمپوشانی لایه ھا باید لایه ھای رویی در سمتی قرار گیرند که مطابق شیببندی انجام شده آب از روی آنھا به سمت لایه زیری سرایز گردد.</a:t>
            </a:r>
          </a:p>
          <a:p>
            <a:pPr algn="just" rtl="1"/>
            <a:r>
              <a:rPr lang="fa-IR" b="1" dirty="0" smtClean="0"/>
              <a:t>٩- ھنگامی که عایقکاری در بیش از یک لایه انجام می شود، لایه ھای متوالی عایق باید عمود بر ھم قرار گیرند.</a:t>
            </a:r>
          </a:p>
          <a:p>
            <a:pPr algn="just" rtl="1"/>
            <a:r>
              <a:rPr lang="fa-IR" b="1" dirty="0" smtClean="0"/>
              <a:t>١٠ - سطوح عایقکاری شده باید پس از تکمیل با لایه محافظی پوشانده شوند.</a:t>
            </a:r>
            <a:endParaRPr lang="en-US" b="1" dirty="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checkerboard(across)">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checkerboard(across)">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5">
                                            <p:txEl>
                                              <p:pRg st="8" end="8"/>
                                            </p:txEl>
                                          </p:spTgt>
                                        </p:tgtEl>
                                        <p:attrNameLst>
                                          <p:attrName>style.visibility</p:attrName>
                                        </p:attrNameLst>
                                      </p:cBhvr>
                                      <p:to>
                                        <p:strVal val="visible"/>
                                      </p:to>
                                    </p:set>
                                    <p:animEffect transition="in" filter="checkerboard(across)">
                                      <p:cBhvr>
                                        <p:cTn id="52" dur="500"/>
                                        <p:tgtEl>
                                          <p:spTgt spid="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Effect transition="in" filter="checkerboard(across)">
                                      <p:cBhvr>
                                        <p:cTn id="57" dur="500"/>
                                        <p:tgtEl>
                                          <p:spTgt spid="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5">
                                            <p:txEl>
                                              <p:pRg st="10" end="10"/>
                                            </p:txEl>
                                          </p:spTgt>
                                        </p:tgtEl>
                                        <p:attrNameLst>
                                          <p:attrName>style.visibility</p:attrName>
                                        </p:attrNameLst>
                                      </p:cBhvr>
                                      <p:to>
                                        <p:strVal val="visible"/>
                                      </p:to>
                                    </p:set>
                                    <p:animEffect transition="in" filter="checkerboard(across)">
                                      <p:cBhvr>
                                        <p:cTn id="6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fa-IR" dirty="0" smtClean="0"/>
              <a:t>فصل سوم</a:t>
            </a:r>
            <a:endParaRPr lang="en-US" dirty="0"/>
          </a:p>
        </p:txBody>
      </p:sp>
      <p:sp>
        <p:nvSpPr>
          <p:cNvPr id="3" name="Subtitle 2"/>
          <p:cNvSpPr>
            <a:spLocks noGrp="1"/>
          </p:cNvSpPr>
          <p:nvPr>
            <p:ph type="subTitle" idx="1"/>
          </p:nvPr>
        </p:nvSpPr>
        <p:spPr/>
        <p:txBody>
          <a:bodyPr>
            <a:normAutofit/>
          </a:bodyPr>
          <a:lstStyle/>
          <a:p>
            <a:pPr algn="ctr"/>
            <a:r>
              <a:rPr lang="fa-IR" dirty="0" smtClean="0"/>
              <a:t>ساختمانهای خشتی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مقدمه</a:t>
            </a:r>
            <a:endParaRPr lang="en-US" dirty="0"/>
          </a:p>
        </p:txBody>
      </p:sp>
      <p:sp>
        <p:nvSpPr>
          <p:cNvPr id="3" name="Subtitle 2"/>
          <p:cNvSpPr>
            <a:spLocks noGrp="1"/>
          </p:cNvSpPr>
          <p:nvPr>
            <p:ph type="subTitle" idx="1"/>
          </p:nvPr>
        </p:nvSpPr>
        <p:spPr>
          <a:xfrm>
            <a:off x="533400" y="1905000"/>
            <a:ext cx="7772400" cy="3048000"/>
          </a:xfrm>
        </p:spPr>
        <p:txBody>
          <a:bodyPr>
            <a:normAutofit fontScale="85000" lnSpcReduction="10000"/>
          </a:bodyPr>
          <a:lstStyle/>
          <a:p>
            <a:pPr algn="just" rtl="1"/>
            <a:r>
              <a:rPr lang="fa-IR" b="1" dirty="0" smtClean="0"/>
              <a:t>اصولا ساختمانھای خشتی بدون کلاف، یکپارچگی خود را در برابر حرکتھای جانبی ناشی از زلزله حفظ نمیکنند.به ھمین علت احداث چنین ساختمانھایی توصیه نمیشود.</a:t>
            </a:r>
          </a:p>
          <a:p>
            <a:pPr algn="just" rtl="1"/>
            <a:r>
              <a:rPr lang="fa-IR" b="1" dirty="0" smtClean="0"/>
              <a:t>در این فصل به تعیین حداقل ضوابط ومقررات به منظور طرح و اجرای ساختمانھای خشتی پرداخته می شود به طوری که در طول عمر بنا، اجزای ساختمان یکپارچگی نسبی خود را در مقابل نیروھای قائم حفظ نماید و حداقل مقاومت لازم در برابر زلزله ھای خفیف تا متوسط را داشته باشد . </a:t>
            </a:r>
          </a:p>
          <a:p>
            <a:pPr algn="just" rtl="1"/>
            <a:r>
              <a:rPr lang="fa-IR" b="1" dirty="0" smtClean="0"/>
              <a:t>ساخت این نوع ساختمانھا در مناطق با خطر نسبی زیاد و خیلی زیاد ممنوع میباشد.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تعریف</a:t>
            </a:r>
            <a:endParaRPr lang="en-US" dirty="0"/>
          </a:p>
        </p:txBody>
      </p:sp>
      <p:sp>
        <p:nvSpPr>
          <p:cNvPr id="3" name="Subtitle 2"/>
          <p:cNvSpPr>
            <a:spLocks noGrp="1"/>
          </p:cNvSpPr>
          <p:nvPr>
            <p:ph type="subTitle" idx="1"/>
          </p:nvPr>
        </p:nvSpPr>
        <p:spPr>
          <a:xfrm>
            <a:off x="533400" y="1905000"/>
            <a:ext cx="7772400" cy="2895600"/>
          </a:xfrm>
        </p:spPr>
        <p:txBody>
          <a:bodyPr>
            <a:normAutofit/>
          </a:bodyPr>
          <a:lstStyle/>
          <a:p>
            <a:pPr algn="just" rtl="1"/>
            <a:r>
              <a:rPr lang="fa-IR" b="1" dirty="0" smtClean="0"/>
              <a:t>منظور از ساختمانھای خشتی ساختمانھایی ھستند که دیوارھای باربر در آنھا از خشت و ملات ساخته شده و به شیوه ھای مقرر در این فصل تقویت شده باشد.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محدوده کاربرد</a:t>
            </a:r>
            <a:endParaRPr lang="en-US" dirty="0"/>
          </a:p>
        </p:txBody>
      </p:sp>
      <p:sp>
        <p:nvSpPr>
          <p:cNvPr id="3" name="Subtitle 2"/>
          <p:cNvSpPr>
            <a:spLocks noGrp="1"/>
          </p:cNvSpPr>
          <p:nvPr>
            <p:ph type="subTitle" idx="1"/>
          </p:nvPr>
        </p:nvSpPr>
        <p:spPr>
          <a:xfrm>
            <a:off x="533400" y="1905000"/>
            <a:ext cx="7772400" cy="2895600"/>
          </a:xfrm>
        </p:spPr>
        <p:txBody>
          <a:bodyPr>
            <a:normAutofit lnSpcReduction="10000"/>
          </a:bodyPr>
          <a:lstStyle/>
          <a:p>
            <a:pPr algn="just" rtl="1"/>
            <a:r>
              <a:rPr lang="fa-IR" dirty="0" smtClean="0"/>
              <a:t>ضوابط این فصل برای ساختمانھایی است که در نواحی دوردست ساخته می شوند به طوری که فراھم آوردن مصالح، تجھیزات و نیروی انسانی ماھر، در آنجا مشکل می باشد.</a:t>
            </a:r>
          </a:p>
          <a:p>
            <a:pPr algn="just" rtl="1"/>
            <a:r>
              <a:rPr lang="fa-IR" dirty="0" smtClean="0"/>
              <a:t>احداث این ساختمانھا با حداکثر یک طبقه بالای زمین، یا دو طبقه با در نظر گرفته یک طبقه زیرزمین مجاز است.</a:t>
            </a:r>
          </a:p>
          <a:p>
            <a:pPr algn="just" rtl="1"/>
            <a:r>
              <a:rPr lang="fa-IR" dirty="0" smtClean="0"/>
              <a:t>حداکثر ارتفاع طبقات به ٨برابر ضخامت دیوار باربر یا 3.5 متر هر کدام کوچکتر باشد ، محدود میباشد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ساختگاه</a:t>
            </a:r>
            <a:endParaRPr lang="en-US" dirty="0"/>
          </a:p>
        </p:txBody>
      </p:sp>
      <p:sp>
        <p:nvSpPr>
          <p:cNvPr id="3" name="Subtitle 2"/>
          <p:cNvSpPr>
            <a:spLocks noGrp="1"/>
          </p:cNvSpPr>
          <p:nvPr>
            <p:ph type="subTitle" idx="1"/>
          </p:nvPr>
        </p:nvSpPr>
        <p:spPr>
          <a:xfrm>
            <a:off x="533400" y="1905000"/>
            <a:ext cx="7772400" cy="2895600"/>
          </a:xfrm>
        </p:spPr>
        <p:txBody>
          <a:bodyPr>
            <a:normAutofit/>
          </a:bodyPr>
          <a:lstStyle/>
          <a:p>
            <a:pPr algn="just" rtl="1"/>
            <a:r>
              <a:rPr lang="fa-IR" dirty="0" smtClean="0"/>
              <a:t>احداث ساختمانھای مشمول این فصل بر روی زمینھای ناپایدار یا در معرض سیل، مجاز نمی باشد.</a:t>
            </a:r>
          </a:p>
          <a:p>
            <a:pPr algn="just" rtl="1"/>
            <a:r>
              <a:rPr lang="fa-IR" dirty="0" smtClean="0"/>
              <a:t>منظور از زمین ناپایدار زمینی است که احتمال وقوع پدیده ھایی مانند آبگونگی، نشست زیاد، سنگ ریزش و زمین لغزش در آن وجود داشته باشد یا اینکه زمین متشکل از خاک رس حساس باشد.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مصالح</a:t>
            </a:r>
            <a:endParaRPr lang="en-US" dirty="0"/>
          </a:p>
        </p:txBody>
      </p:sp>
      <p:sp>
        <p:nvSpPr>
          <p:cNvPr id="3" name="Subtitle 2"/>
          <p:cNvSpPr>
            <a:spLocks noGrp="1"/>
          </p:cNvSpPr>
          <p:nvPr>
            <p:ph type="subTitle" idx="1"/>
          </p:nvPr>
        </p:nvSpPr>
        <p:spPr>
          <a:xfrm>
            <a:off x="533400" y="1905000"/>
            <a:ext cx="7772400" cy="2895600"/>
          </a:xfrm>
        </p:spPr>
        <p:txBody>
          <a:bodyPr>
            <a:normAutofit/>
          </a:bodyPr>
          <a:lstStyle/>
          <a:p>
            <a:pPr algn="just" rtl="1"/>
            <a:r>
              <a:rPr lang="fa-IR" dirty="0" smtClean="0"/>
              <a:t>مصالح مورد استفاده برای اجرای ساختمانھای مشمول این فصل عبارت از خشت، چوب و انواع ملات ھا (گل وکاھگل، گل آھک، ماسه آھک و ماسه سیمان )و مصالح تقویت کننده می باشد که باید مطابق بخش سوم این مقررات باشد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طرح و اجرا</a:t>
            </a:r>
            <a:endParaRPr lang="en-US" dirty="0"/>
          </a:p>
        </p:txBody>
      </p:sp>
      <p:sp>
        <p:nvSpPr>
          <p:cNvPr id="3" name="Subtitle 2"/>
          <p:cNvSpPr>
            <a:spLocks noGrp="1"/>
          </p:cNvSpPr>
          <p:nvPr>
            <p:ph type="subTitle" idx="1"/>
          </p:nvPr>
        </p:nvSpPr>
        <p:spPr>
          <a:xfrm>
            <a:off x="533400" y="1905000"/>
            <a:ext cx="7772400" cy="2895600"/>
          </a:xfrm>
        </p:spPr>
        <p:txBody>
          <a:bodyPr>
            <a:normAutofit fontScale="92500" lnSpcReduction="20000"/>
          </a:bodyPr>
          <a:lstStyle/>
          <a:p>
            <a:pPr algn="just" rtl="1"/>
            <a:r>
              <a:rPr lang="fa-IR" b="1" dirty="0" smtClean="0"/>
              <a:t>اجزای اصلی ساختمانھای مشمول این فصل عبارتند از شالوده، کرسی چینی، دیوارھای باربر و غیر باربر وسقف.</a:t>
            </a:r>
          </a:p>
          <a:p>
            <a:pPr algn="just" rtl="1"/>
            <a:r>
              <a:rPr lang="fa-IR" b="1" dirty="0" smtClean="0"/>
              <a:t>این اجزا باید چنان اجرا شوند که ھر یک پایداری موضعی خود را حفظ کرده و اتصال آنھا به یکدیگرپایداری کلی ساختمان را حفظ کند. </a:t>
            </a:r>
          </a:p>
          <a:p>
            <a:pPr algn="just" rtl="1"/>
            <a:r>
              <a:rPr lang="fa-IR" b="1" dirty="0" smtClean="0"/>
              <a:t>با توجه به اثر نیروھای ناشی از زلزله، پایداری کلی ساختمان منوط به انتقال صحیح نیروھای زلزله به شالوده می باشد، بدین منظور علاوه بر اجزای اصلی فوق، در اطراف بازشوھای بزرگ باید کلافھای افقی و قائم نیز تعبیه شوند.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الزامات عمومی</a:t>
            </a:r>
            <a:endParaRPr lang="en-US" dirty="0"/>
          </a:p>
        </p:txBody>
      </p:sp>
      <p:sp>
        <p:nvSpPr>
          <p:cNvPr id="3" name="Subtitle 2"/>
          <p:cNvSpPr>
            <a:spLocks noGrp="1"/>
          </p:cNvSpPr>
          <p:nvPr>
            <p:ph type="subTitle" idx="1"/>
          </p:nvPr>
        </p:nvSpPr>
        <p:spPr>
          <a:xfrm>
            <a:off x="533400" y="1905000"/>
            <a:ext cx="7772400" cy="2895600"/>
          </a:xfrm>
        </p:spPr>
        <p:txBody>
          <a:bodyPr>
            <a:normAutofit fontScale="85000" lnSpcReduction="20000"/>
          </a:bodyPr>
          <a:lstStyle/>
          <a:p>
            <a:r>
              <a:rPr lang="fa-IR" b="1" dirty="0" smtClean="0"/>
              <a:t>الف)طول ساختمان از دو برابر عرض آن یا ٢٥ متر بیشتر نباشد.</a:t>
            </a:r>
          </a:p>
          <a:p>
            <a:r>
              <a:rPr lang="fa-IR" b="1" dirty="0" smtClean="0"/>
              <a:t>ب )نسبت به دو محور اصلی قرینه باشد.</a:t>
            </a:r>
          </a:p>
          <a:p>
            <a:r>
              <a:rPr lang="fa-IR" b="1" dirty="0" smtClean="0"/>
              <a:t>پ )پیشامدگی و پسرفتگی در پلان نداشته باشد.</a:t>
            </a:r>
          </a:p>
          <a:p>
            <a:r>
              <a:rPr lang="fa-IR" b="1" dirty="0" smtClean="0"/>
              <a:t>در صورت تجاوز از ھر یک از بندھای فوق باید با استفاده از درز انقطاع ، ساختمان را به دو یا چند ساختمان کوچکتر که با شرایط فوق سازگار باشند، تقسیم کرد.حداقل عرض درز انقطاع ٤ سانتیمتر می باشد.</a:t>
            </a:r>
          </a:p>
          <a:p>
            <a:r>
              <a:rPr lang="fa-IR" b="1" dirty="0" smtClean="0"/>
              <a:t>ت )باید از ایجاد اختلاف سطح در یک طبقه ساختمان پرھیز شود .در صورت وجود اختلاف سطح، دو قسمت ساختمان باید توسط درز انقطاع از یکدیگر جدا شوند.</a:t>
            </a:r>
            <a:endParaRPr lang="en-US"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شالوده</a:t>
            </a:r>
            <a:endParaRPr lang="en-US" dirty="0"/>
          </a:p>
        </p:txBody>
      </p:sp>
      <p:sp>
        <p:nvSpPr>
          <p:cNvPr id="3" name="Subtitle 2"/>
          <p:cNvSpPr>
            <a:spLocks noGrp="1"/>
          </p:cNvSpPr>
          <p:nvPr>
            <p:ph type="subTitle" idx="1"/>
          </p:nvPr>
        </p:nvSpPr>
        <p:spPr>
          <a:xfrm>
            <a:off x="533400" y="1905000"/>
            <a:ext cx="7772400" cy="2895600"/>
          </a:xfrm>
        </p:spPr>
        <p:txBody>
          <a:bodyPr>
            <a:noAutofit/>
          </a:bodyPr>
          <a:lstStyle/>
          <a:p>
            <a:pPr algn="just" rtl="1"/>
            <a:r>
              <a:rPr lang="fa-IR" sz="2000" b="1" dirty="0" smtClean="0"/>
              <a:t>الف) شالوده ھا باید دریک سطح افقی ساخته شوند و ھرگاه احداث شالوده به ھر دلیل در یک تراز ممکن نباشد، ھر بخش از شالوده باید در یک سطح افقی قرار گیرد.</a:t>
            </a:r>
          </a:p>
          <a:p>
            <a:pPr algn="just" rtl="1"/>
            <a:r>
              <a:rPr lang="fa-IR" sz="2000" b="1" dirty="0" smtClean="0"/>
              <a:t>ب ) ساخت شالوده شیبدار به ھیچ وجه مجاز نیست .در زمینھای شیبدار چنانچه ساخت شالوده ساختمان در یک تراز ممکن نباشد باید از شالوده ھای پلکانی استفاده شود، به طوری که این شالوده ھا در جھت افقی حداقل ٥٠ سانتیمتر با یکدیگر ھمپوشانی داشته و ارتفاع ھر پله نباید بیش از ٣٠ سانتیمتر باشد.</a:t>
            </a:r>
          </a:p>
          <a:p>
            <a:pPr algn="just" rtl="1"/>
            <a:r>
              <a:rPr lang="fa-IR" sz="2000" b="1" dirty="0" smtClean="0"/>
              <a:t>پ )برای دیوارھای باربر، عرض شالوده نواری باید حداقل 1.5 برابر عرض کرسی چینی و عمق آن حداقل 50 سانتیمتر باشد.</a:t>
            </a:r>
            <a:endParaRPr lang="en-US" sz="2000"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شالوده</a:t>
            </a:r>
            <a:endParaRPr lang="en-US" dirty="0"/>
          </a:p>
        </p:txBody>
      </p:sp>
      <p:sp>
        <p:nvSpPr>
          <p:cNvPr id="3" name="Subtitle 2"/>
          <p:cNvSpPr>
            <a:spLocks noGrp="1"/>
          </p:cNvSpPr>
          <p:nvPr>
            <p:ph type="subTitle" idx="1"/>
          </p:nvPr>
        </p:nvSpPr>
        <p:spPr>
          <a:xfrm>
            <a:off x="533400" y="1905000"/>
            <a:ext cx="7772400" cy="3124200"/>
          </a:xfrm>
        </p:spPr>
        <p:txBody>
          <a:bodyPr>
            <a:noAutofit/>
          </a:bodyPr>
          <a:lstStyle/>
          <a:p>
            <a:r>
              <a:rPr lang="fa-IR" sz="2000" b="1" dirty="0" smtClean="0"/>
              <a:t>ت ) شالوده باید به یکی از دو روش زیر ساخته شود:</a:t>
            </a:r>
          </a:p>
          <a:p>
            <a:r>
              <a:rPr lang="fa-IR" sz="2000" b="1" dirty="0" smtClean="0"/>
              <a:t>روش اول، با استفاده از سنگ لاشه و ملات با نسبت حجمی اختلاط زیر:</a:t>
            </a:r>
          </a:p>
          <a:p>
            <a:r>
              <a:rPr lang="fa-IR" sz="2000" b="1" dirty="0" smtClean="0"/>
              <a:t>َ- چھار قسمت سیمان</a:t>
            </a:r>
          </a:p>
          <a:p>
            <a:r>
              <a:rPr lang="fa-IR" sz="2000" b="1" dirty="0" smtClean="0"/>
              <a:t>- یک قسمت آھک</a:t>
            </a:r>
          </a:p>
          <a:p>
            <a:r>
              <a:rPr lang="fa-IR" sz="2000" b="1" dirty="0" smtClean="0"/>
              <a:t>- دوازده قسمت ماسه</a:t>
            </a:r>
          </a:p>
          <a:p>
            <a:r>
              <a:rPr lang="fa-IR" sz="2000" b="1" dirty="0" smtClean="0"/>
              <a:t>- آب تمیز به اندازه کافی</a:t>
            </a:r>
          </a:p>
          <a:p>
            <a:r>
              <a:rPr lang="fa-IR" sz="2000" b="1" dirty="0" smtClean="0"/>
              <a:t>روش دوم:با استفاده از شفته آھکی با عیار ٣٥٠ کیلوگرم آھک در متر مکعب شفته.</a:t>
            </a:r>
          </a:p>
          <a:p>
            <a:r>
              <a:rPr lang="fa-IR" sz="2000" b="1" dirty="0" smtClean="0"/>
              <a:t>ث )در مناطق سردسیر و دارای یخبندان تراز روی شالوده حداقل ٤٠ سانتیمتر زیر سطح زمین قرار گیرد.</a:t>
            </a:r>
            <a:r>
              <a:rPr lang="fa-IR" sz="2000" dirty="0" smtClean="0"/>
              <a:t>َ</a:t>
            </a:r>
            <a:endParaRPr lang="en-US" sz="2000"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heckerboard(across)">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heckerboard(across)">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heckerboard(across)">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کرسی چینی</a:t>
            </a:r>
            <a:endParaRPr lang="en-US" dirty="0"/>
          </a:p>
        </p:txBody>
      </p:sp>
      <p:sp>
        <p:nvSpPr>
          <p:cNvPr id="3" name="Subtitle 2"/>
          <p:cNvSpPr>
            <a:spLocks noGrp="1"/>
          </p:cNvSpPr>
          <p:nvPr>
            <p:ph type="subTitle" idx="1"/>
          </p:nvPr>
        </p:nvSpPr>
        <p:spPr>
          <a:xfrm>
            <a:off x="533400" y="1905000"/>
            <a:ext cx="7772400" cy="3124200"/>
          </a:xfrm>
        </p:spPr>
        <p:txBody>
          <a:bodyPr>
            <a:noAutofit/>
          </a:bodyPr>
          <a:lstStyle/>
          <a:p>
            <a:pPr algn="just" rtl="1"/>
            <a:r>
              <a:rPr lang="fa-IR" sz="1600" b="1" dirty="0" smtClean="0"/>
              <a:t>الف)کرسی چینی باید از روی سطح شالوده تا حداقل ٣٠ سانتیمتر بالاتر از کف تمام شده محوطه پیرامون ساختمان اجرا شود.	</a:t>
            </a:r>
          </a:p>
          <a:p>
            <a:pPr algn="just" rtl="1"/>
            <a:r>
              <a:rPr lang="fa-IR" sz="1600" b="1" dirty="0" smtClean="0"/>
              <a:t>ب )برای جلوگیری از نفوذ رطوبت باید سطح کرسی چینی با اندود و مصالح مناسب نم بندی (عایق کاری رطوبتی) شود.لازم است لایه عایق از روی کرسی از ھر طرف به اندازه ١٠ سانتیمتر به سمت پایین برگردد.</a:t>
            </a:r>
          </a:p>
          <a:p>
            <a:pPr algn="just" rtl="1"/>
            <a:r>
              <a:rPr lang="fa-IR" sz="1600" b="1" dirty="0" smtClean="0"/>
              <a:t>پ )عرض کرسی چینی باید حداقل ١٠ سانتیمتر بیشتر از عرض دیوار باشد.</a:t>
            </a:r>
          </a:p>
          <a:p>
            <a:pPr algn="just" rtl="1"/>
            <a:r>
              <a:rPr lang="fa-IR" sz="1600" b="1" dirty="0" smtClean="0"/>
              <a:t>ت)کرسی چینی دیوارھا با استفاده از سنگ لاشه، آجر یا بلوک سیمانی با یکی از ملاتھای زیر اجرا شود:</a:t>
            </a:r>
          </a:p>
          <a:p>
            <a:pPr algn="just" rtl="1"/>
            <a:r>
              <a:rPr lang="fa-IR" sz="1600" b="1" dirty="0" smtClean="0"/>
              <a:t>- ملات ماسه سیمان با نسبت حجمی یک به سه ( یک قسمت سیمان، سه قسمت ماسه)</a:t>
            </a:r>
          </a:p>
          <a:p>
            <a:pPr algn="just" rtl="1"/>
            <a:r>
              <a:rPr lang="fa-IR" sz="1600" b="1" dirty="0" smtClean="0"/>
              <a:t>- ملات ماسه - سیمان -آھک ( با تارد )با نسبت حجمی یک به یک به شش ( یک قسمت سیمان، یک قسمت آھک، شش قسمت ماسه)</a:t>
            </a:r>
          </a:p>
          <a:p>
            <a:pPr algn="just" rtl="1"/>
            <a:r>
              <a:rPr lang="fa-IR" sz="1600" b="1" dirty="0" smtClean="0"/>
              <a:t>- ملات ماسه آھک با نسبت حجمی دو به پنج (دو قسمت آھک، پنج قسمت ماسه)</a:t>
            </a:r>
            <a:endParaRPr lang="en-US" sz="1600"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heckerboard(across)">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heckerboard(across)">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دیوارهای باربر</a:t>
            </a:r>
            <a:endParaRPr lang="en-US" dirty="0"/>
          </a:p>
        </p:txBody>
      </p:sp>
      <p:sp>
        <p:nvSpPr>
          <p:cNvPr id="3" name="Subtitle 2"/>
          <p:cNvSpPr>
            <a:spLocks noGrp="1"/>
          </p:cNvSpPr>
          <p:nvPr>
            <p:ph type="subTitle" idx="1"/>
          </p:nvPr>
        </p:nvSpPr>
        <p:spPr>
          <a:xfrm>
            <a:off x="533400" y="1905000"/>
            <a:ext cx="7772400" cy="3124200"/>
          </a:xfrm>
        </p:spPr>
        <p:txBody>
          <a:bodyPr>
            <a:noAutofit/>
          </a:bodyPr>
          <a:lstStyle/>
          <a:p>
            <a:pPr algn="just" rtl="1"/>
            <a:r>
              <a:rPr lang="fa-IR" sz="1800" b="1" dirty="0" smtClean="0"/>
              <a:t>دیوارھا باید حتی الامکان به طور منظم در ھر دو جھت عمود بر ھم در پلان ساختمان توزیع شوند.</a:t>
            </a:r>
          </a:p>
          <a:p>
            <a:pPr algn="just" rtl="1"/>
            <a:r>
              <a:rPr lang="fa-IR" sz="1800" b="1" dirty="0" smtClean="0"/>
              <a:t>برای تأمین مقاومت در برابر نیروھای جانبی ناشی از زلزله، دیوارھا باید در کف و سقف به نحو مناسبی مھار شوند.</a:t>
            </a:r>
          </a:p>
          <a:p>
            <a:pPr algn="just" rtl="1"/>
            <a:r>
              <a:rPr lang="fa-IR" sz="1800" b="1" dirty="0" smtClean="0"/>
              <a:t>در ھریک از امتدادھای طولی و عرضی ساختمان مقدار دیوار نسبی در زیرزمین نباید از ١٠ درصد و در طبقه بالای زیرزمین نباید از ٦درصد کمتر باشد. </a:t>
            </a:r>
          </a:p>
          <a:p>
            <a:pPr algn="just" rtl="1"/>
            <a:r>
              <a:rPr lang="fa-IR" sz="1800" b="1" dirty="0" smtClean="0"/>
              <a:t>مقدار دیوار نسبی ھر طبقه در ھر امتداد عبارت است از نسبت مساحت مقطع افقی دیوارھای موازی با امتداد موردنظر به مساحت زیربنای ساختمان.</a:t>
            </a:r>
          </a:p>
          <a:p>
            <a:pPr algn="just" rtl="1"/>
            <a:r>
              <a:rPr lang="fa-IR" sz="1800" b="1" dirty="0" smtClean="0"/>
              <a:t> برای تعیین مقدار دیوار نسبی فقط دیوارھایی که ضخامت آنھا ٣٥ سانتیمتر یا بیشتر است، به حساب می آیند .دیوارھای بالا و پایین بازشوھادر محاسبه دیوار نسبی منظور نمیشوند</a:t>
            </a:r>
            <a:endParaRPr lang="en-US" sz="1800" b="1"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دیوارهای باربر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533400" y="1905000"/>
            <a:ext cx="7772400" cy="3048000"/>
          </a:xfrm>
        </p:spPr>
        <p:txBody>
          <a:bodyPr>
            <a:normAutofit fontScale="62500" lnSpcReduction="20000"/>
          </a:bodyPr>
          <a:lstStyle/>
          <a:p>
            <a:pPr algn="just" rtl="1"/>
            <a:r>
              <a:rPr lang="fa-IR" b="1" dirty="0" smtClean="0"/>
              <a:t>دیوارھای باربر باید دارای مشخصات زیر باشند:</a:t>
            </a:r>
          </a:p>
          <a:p>
            <a:pPr algn="just" rtl="1"/>
            <a:r>
              <a:rPr lang="fa-IR" b="1" dirty="0" smtClean="0"/>
              <a:t>١)ارتفاع ھر دیوار نباید بیش از ٨برابر ضخامت آن باشد.</a:t>
            </a:r>
          </a:p>
          <a:p>
            <a:pPr algn="just" rtl="1"/>
            <a:r>
              <a:rPr lang="fa-IR" b="1" dirty="0" smtClean="0"/>
              <a:t>٢) حداکثر طول آزاد دیوار واقع بین دو دیوار عمود بر آن،  4.5 متر باشد</a:t>
            </a:r>
          </a:p>
          <a:p>
            <a:pPr algn="just" rtl="1"/>
            <a:r>
              <a:rPr lang="fa-IR" b="1" dirty="0" smtClean="0"/>
              <a:t>٣)اگر استفاده از دیوار طویل تر از 4.5 متر ضروری باشد، باید برای ارضای بند (ب)از پشت بند استفاده شود .ضخامت پشت بند باید حداقل ٣٥ سانتیمتر و طول قاعده آن یک چھارم بزرگترین دھانه طرفین پشت بند و حداقل یک متر باشد .پشت بند باید ھمراه با دیوار اجرا شود و ارتفاع آن به اندازه ارتفاع دیوار باشد.</a:t>
            </a:r>
          </a:p>
          <a:p>
            <a:pPr algn="just" rtl="1"/>
            <a:r>
              <a:rPr lang="fa-IR" b="1" dirty="0" smtClean="0"/>
              <a:t>۴) حداقل ضخامت دیوارھای باربر خشتی که دارای تکیه گاه جانبی ھستند، ٣٥ سانتیمتر باشد.</a:t>
            </a:r>
          </a:p>
          <a:p>
            <a:pPr algn="just" rtl="1"/>
            <a:r>
              <a:rPr lang="fa-IR" b="1" dirty="0" smtClean="0"/>
              <a:t>۵) ھواکش، لوله بخاری یا فاضلاب نباید در دیوارھای باربر قرار گیرند.</a:t>
            </a:r>
          </a:p>
          <a:p>
            <a:pPr algn="just" rtl="1"/>
            <a:r>
              <a:rPr lang="fa-IR" b="1" dirty="0" smtClean="0"/>
              <a:t>۶)برای اتصال مناسبتر دیوارھای گوشه باید از کلافھای گوشه حداکثر در ھر ٧٠ سانتیمتر ارتفاع دیوار استفاده شود .کلاف گوشه از سه قطعه چوب به چوب به ضخامت یک خشت و عرض ١٠سانتیمتر به شکل گونیا ساخته می شود .طول قطعه ھای متعامد یک متر و قطعه مورب نیم متر باشد.</a:t>
            </a:r>
          </a:p>
          <a:p>
            <a:pPr algn="just" rtl="1"/>
            <a:r>
              <a:rPr lang="fa-IR" b="1" dirty="0" smtClean="0"/>
              <a:t>٧)در بالای تمام دیوارھای باربر در تراز سقف باید از کلاف چوبی به قطر حدود ١٠ سانتیمتر استفاده شود.</a:t>
            </a:r>
            <a:endParaRPr lang="en-US" b="1"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checkerboard(across)">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checkerboard(across)">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checkerboard(across)">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checkerboard(across)">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checkerboard(across)">
                                      <p:cBhvr>
                                        <p:cTn id="47"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90600"/>
            <a:ext cx="7772400" cy="915362"/>
          </a:xfrm>
        </p:spPr>
        <p:txBody>
          <a:bodyPr>
            <a:normAutofit/>
          </a:bodyPr>
          <a:lstStyle/>
          <a:p>
            <a:pPr algn="ctr"/>
            <a:r>
              <a:rPr lang="fa-IR" dirty="0" smtClean="0"/>
              <a:t>دیوارهای باربر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533400" y="1905000"/>
            <a:ext cx="7772400" cy="3048000"/>
          </a:xfrm>
        </p:spPr>
        <p:txBody>
          <a:bodyPr>
            <a:normAutofit lnSpcReduction="10000"/>
          </a:bodyPr>
          <a:lstStyle/>
          <a:p>
            <a:pPr algn="just" rtl="1"/>
            <a:r>
              <a:rPr lang="fa-IR" dirty="0" smtClean="0"/>
              <a:t>٨) خشتھا حداقل به اندازه یکم چهارم طول خود با خشتھای ردیف قبلی ھمپوشانی داشته باشند.</a:t>
            </a:r>
          </a:p>
          <a:p>
            <a:pPr algn="just" rtl="1"/>
            <a:r>
              <a:rPr lang="fa-IR" dirty="0" smtClean="0"/>
              <a:t>٩)بندھای قائم (کوره بند) در دو رگ متوالی، در یک امتداد نبوده ( یک رگ در میان در مقابل ھم قرار گرفته باشند).</a:t>
            </a:r>
          </a:p>
          <a:p>
            <a:pPr algn="just" rtl="1"/>
            <a:r>
              <a:rPr lang="fa-IR" dirty="0" smtClean="0"/>
              <a:t>١٠ )رگ ھای دیوار چینی در تمام قسمتھای ساختمان باید ھمزمان (در ارتفاع )اجرا شود و استفاده از روش ھشت گیر در ساخت دیوارھا مجاز نمی باشد.</a:t>
            </a:r>
            <a:endParaRPr lang="en-US" b="1"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85800"/>
            <a:ext cx="7772400" cy="915362"/>
          </a:xfrm>
        </p:spPr>
        <p:txBody>
          <a:bodyPr>
            <a:normAutofit/>
          </a:bodyPr>
          <a:lstStyle/>
          <a:p>
            <a:pPr algn="ctr"/>
            <a:r>
              <a:rPr lang="fa-IR" dirty="0" smtClean="0"/>
              <a:t>دیوارهای جداگر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533400" y="1676400"/>
            <a:ext cx="7772400" cy="3429000"/>
          </a:xfrm>
        </p:spPr>
        <p:txBody>
          <a:bodyPr>
            <a:noAutofit/>
          </a:bodyPr>
          <a:lstStyle/>
          <a:p>
            <a:pPr algn="just" rtl="1"/>
            <a:r>
              <a:rPr lang="fa-IR" sz="1400" b="1" dirty="0" smtClean="0"/>
              <a:t>در ساختمانھای خشتی دیوار جداگر می تواند خشتی یا آجری باشد،استفاده ازدیوار جداگر سنگی در این ساختمانھا مجاز نمی باشد.دیوارھای جداگر باید دارای مشخصات زیر باشند:</a:t>
            </a:r>
          </a:p>
          <a:p>
            <a:pPr algn="just" rtl="1"/>
            <a:r>
              <a:rPr lang="fa-IR" sz="1400" b="1" dirty="0" smtClean="0"/>
              <a:t>١- حداکثر طول آزاد دیوارھای جداگر ١٥٠ سانتیمتر می باشد و در وصورت تجاوز از این مقدار باید در فواصل ١٥٠ سانتیمتر از پشت بند یا وادار چوبی استفاده شود.</a:t>
            </a:r>
          </a:p>
          <a:p>
            <a:pPr algn="just" rtl="1"/>
            <a:r>
              <a:rPr lang="fa-IR" sz="1400" b="1" dirty="0" smtClean="0"/>
              <a:t>٢-دیوار جداگر باید در امتداد اضلاع قائم خود به دیوارھای باربر و در امتداد ضلع افقی فوقانی به طور مناسب به سقف متصل شود.</a:t>
            </a:r>
          </a:p>
          <a:p>
            <a:pPr algn="just" rtl="1"/>
            <a:r>
              <a:rPr lang="fa-IR" sz="1400" b="1" dirty="0" smtClean="0"/>
              <a:t>٣-دیوار جداگر باید ھمزمان با دیوارھای باربر ساخته شده و اتصال با قفل و بست مناسب در ھنگام چیدن دو دیوار انجام شود.</a:t>
            </a:r>
          </a:p>
          <a:p>
            <a:pPr algn="just" rtl="1"/>
            <a:r>
              <a:rPr lang="fa-IR" sz="1400" b="1" dirty="0" smtClean="0"/>
              <a:t>۴-اتصال دیوار جداگر به دیوار باربر به وسیله چوبھایی به قطر حداقل ٥ سانتیمتر و طول حداقل ٣٠ سانتیمتر که به فاصله حداکثر ١٠٠ سانتیمتر در دیوار باربر قرار داده می شوند، تأمین گردد.</a:t>
            </a:r>
          </a:p>
          <a:p>
            <a:pPr algn="just" rtl="1"/>
            <a:r>
              <a:rPr lang="fa-IR" sz="1400" b="1" dirty="0" smtClean="0"/>
              <a:t>۵-دیوار جداگر باید در یک کلاف چوبی چھارتراش محصور کننده، اجرا شود. </a:t>
            </a:r>
          </a:p>
          <a:p>
            <a:pPr algn="just" rtl="1"/>
            <a:r>
              <a:rPr lang="fa-IR" sz="1400" b="1" dirty="0" smtClean="0"/>
              <a:t>۶- حداقل ضخامت دیوار جداگر خشتی ٢٠ سانتیمتر می باشد.</a:t>
            </a:r>
          </a:p>
          <a:p>
            <a:pPr algn="just" rtl="1"/>
            <a:r>
              <a:rPr lang="fa-IR" sz="1400" b="1" dirty="0" smtClean="0"/>
              <a:t>٧- حداقل ضخامت دیوار جداگر آجری ١١ سانتیمتر می باشد ( آجرھا به صورت تیغه ای چیده نشوند ). دیوار چینی باید با ملات ماسه سیمان، ماسه - سیمان -آھک ( باتارد)یا ملات گچ اجرا شود .رعایت تمام موارد دیوارچینی در اجرای دیوارھای جداگر آجری الزامی است.</a:t>
            </a:r>
          </a:p>
          <a:p>
            <a:pPr algn="just" rtl="1"/>
            <a:r>
              <a:rPr lang="fa-IR" sz="1400" b="1" dirty="0" smtClean="0"/>
              <a:t>٨-لبه آزاد افقی دیوار جدااگر باید با تیر چوبی مھار شود.</a:t>
            </a:r>
            <a:endParaRPr lang="en-US" sz="1400" b="1"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checkerboard(across)">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checkerboard(across)">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checkerboard(across)">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checkerboard(across)">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checkerboard(across)">
                                      <p:cBhvr>
                                        <p:cTn id="47" dur="5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checkerboard(across)">
                                      <p:cBhvr>
                                        <p:cTn id="52"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85800"/>
            <a:ext cx="7772400" cy="915362"/>
          </a:xfrm>
        </p:spPr>
        <p:txBody>
          <a:bodyPr>
            <a:normAutofit/>
          </a:bodyPr>
          <a:lstStyle/>
          <a:p>
            <a:pPr algn="ctr"/>
            <a:r>
              <a:rPr lang="fa-IR" dirty="0" smtClean="0"/>
              <a:t>بازشوها</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533400" y="1676400"/>
            <a:ext cx="7772400" cy="3429000"/>
          </a:xfrm>
        </p:spPr>
        <p:txBody>
          <a:bodyPr>
            <a:noAutofit/>
          </a:bodyPr>
          <a:lstStyle/>
          <a:p>
            <a:pPr algn="just" rtl="1"/>
            <a:r>
              <a:rPr lang="fa-IR" sz="1800" b="1" dirty="0" smtClean="0"/>
              <a:t>الف)بازشوھا حتی الامکان در قسمت مرکزی طول دیوارھا تعبیه شوند.</a:t>
            </a:r>
          </a:p>
          <a:p>
            <a:pPr algn="just" rtl="1"/>
            <a:r>
              <a:rPr lang="fa-IR" sz="1800" b="1" dirty="0" smtClean="0"/>
              <a:t>ب )مجموع سطح بازشوھا در ھر دیوار باربر از یک سوم سطح آن دیوار بیشتر نباشد.</a:t>
            </a:r>
          </a:p>
          <a:p>
            <a:pPr algn="just" rtl="1"/>
            <a:r>
              <a:rPr lang="fa-IR" sz="1800" b="1" dirty="0" smtClean="0"/>
              <a:t>پ)طول کل بازشوھا در ھر دیوار از یک سوم طول دیوار بیشتر نباشد.</a:t>
            </a:r>
          </a:p>
          <a:p>
            <a:pPr algn="just" rtl="1"/>
            <a:r>
              <a:rPr lang="fa-IR" sz="1800" b="1" dirty="0" smtClean="0"/>
              <a:t>ت )فاصله اولین بازشو در ھر دیوار باربر از بر خارجی ساختمان کمتر از دوسوم ارتفاع بازشو نباشد مگر اینکه درطرفین بازشو کلاف قائم قرار داده شود.</a:t>
            </a:r>
          </a:p>
          <a:p>
            <a:pPr algn="just" rtl="1"/>
            <a:r>
              <a:rPr lang="fa-IR" sz="1800" b="1" dirty="0" smtClean="0"/>
              <a:t> ث )حداکثر دھانه بازشوھا 1.2 متر می باشد .در صورتی که دھانه بازشوھا از این مقدار بیشتر باشد، با قرار دادن کلافھای قائم و افقی در اطراف، بازشوھا تقویت می شوند.</a:t>
            </a:r>
          </a:p>
          <a:p>
            <a:pPr algn="just" rtl="1"/>
            <a:r>
              <a:rPr lang="fa-IR" sz="1800" b="1" dirty="0" smtClean="0"/>
              <a:t>ج )حداقل فاصله افقی بین دو بازشو برابر ضخامت دیوار می باشد به شرطی که از ٦٥ سانتیمتر کمتر نباشد .در صورت عدم رعایت این فاصله، دو بازشوی نزدیک به یکدیگر مانند یک بازشو در نظر گرفته می شوند .در این حالت دیواری که در بین دو بازشو قرار می گیرد، باربر محسوب نمی شود و باید فاصله با مھاربندی چوبی به صورت قطری، تقویت گردد.</a:t>
            </a:r>
            <a:endParaRPr lang="en-US" sz="1800" b="1" dirty="0"/>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checkerboard(across)">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checkerboard(across)">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checkerboard(across)">
                                      <p:cBhvr>
                                        <p:cTn id="3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85800"/>
            <a:ext cx="7772400" cy="915362"/>
          </a:xfrm>
        </p:spPr>
        <p:txBody>
          <a:bodyPr>
            <a:normAutofit/>
          </a:bodyPr>
          <a:lstStyle/>
          <a:p>
            <a:pPr algn="ctr"/>
            <a:r>
              <a:rPr lang="fa-IR" dirty="0" smtClean="0"/>
              <a:t>بازشوها</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533400" y="1524000"/>
            <a:ext cx="7772400" cy="3581400"/>
          </a:xfrm>
        </p:spPr>
        <p:txBody>
          <a:bodyPr>
            <a:noAutofit/>
          </a:bodyPr>
          <a:lstStyle/>
          <a:p>
            <a:pPr algn="just" rtl="1"/>
            <a:r>
              <a:rPr lang="fa-IR" sz="1600" b="1" dirty="0" smtClean="0"/>
              <a:t>چ )حداکثر ارتفاع بازشوھا 2.2 ر است .در صورت تجاوز از این حد، اطراف بازشوھا باید به وسیله کلافھای افقیو قائم تقویت گردند.مقدار بازشوھا باید با مقدار دیوار نسبی مندرج در بند 8-3-6-4 ھماھنگ باشد.</a:t>
            </a:r>
          </a:p>
          <a:p>
            <a:pPr algn="just" rtl="1"/>
            <a:r>
              <a:rPr lang="fa-IR" sz="1600" b="1" dirty="0" smtClean="0"/>
              <a:t>ح )در بالا و پایین تمام بازشوھای بزرگ باید کلاف افقی چوبی قرار داده شود .این دو کلاف باید به وسیله کلافھای قائم به یکدیگر متصل شوند .حداقل قطر کلاف چوبی با مقطع دایر ه ای ١٠ سانتیمتر میباشد .برای ساخت کلافھای چوبی می توان تیر و الوار چوبی یا ترکیبی از این دو که به نحو مناسبی به یکدیگر متصل شده اند استفاده کرد .در این صورت حداقل عرض و ضخامت کلاف باید ١٠ سانتیمتر باشد .ضخامت ھیچ یک از تیرھا یا الوارھای به کار رفته در کلاف نباید از سه سانتیمتر کمتر باشد .لازم است از تخته ھای زیرسری به طول برابر با ضخامت دیوار، عرض ١٥ سانتیمتر و حداقل ضخامت 1.5 سانتیمتر، به فاصله ٦٥ سانتیمتر، زیر کلافھای چوبی قرار داده شود.</a:t>
            </a:r>
          </a:p>
          <a:p>
            <a:pPr algn="just" rtl="1"/>
            <a:r>
              <a:rPr lang="fa-IR" sz="1600" b="1" dirty="0" smtClean="0"/>
              <a:t>خ )در طرفین تمام بازشوھای بزرگ باید کلاف قائم چوبی قرار داده شود .حداقل ضخامت کلافھای قائم باید 7.5 سانتیمتر باشد .برای ساخت کلافھای چوبی می توان از تیر یا الوار چوبی یا ترکیبی از این دو که به نحو مناسبی به یکدیگر متصل شده اند استفاده کرد .ضخامت ھیچ یک از تیرھا یا الوارھای به کار رفته در کلاف قائم نباید از سه سانتیمتر کمتر باشد.</a:t>
            </a:r>
          </a:p>
          <a:p>
            <a:pPr algn="just" rtl="1"/>
            <a:r>
              <a:rPr lang="fa-IR" sz="1600" b="1" dirty="0" smtClean="0"/>
              <a:t>د )کلافھای افقی و قائم باید کاملا به یکدیگر متصل شوند .اتصال کلافھای چوبی می تواند توسط میخ، بستھای فلزی یا قطعات چوبی مناسب تأمین گردد.</a:t>
            </a:r>
            <a:endParaRPr lang="en-US" sz="1600" b="1"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checkerboard(across)">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85800"/>
            <a:ext cx="7772400" cy="915362"/>
          </a:xfrm>
        </p:spPr>
        <p:txBody>
          <a:bodyPr>
            <a:normAutofit/>
          </a:bodyPr>
          <a:lstStyle/>
          <a:p>
            <a:pPr algn="ctr"/>
            <a:r>
              <a:rPr lang="fa-IR" dirty="0" smtClean="0"/>
              <a:t>نعل درگاه</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533400" y="1524000"/>
            <a:ext cx="7772400" cy="3581400"/>
          </a:xfrm>
        </p:spPr>
        <p:txBody>
          <a:bodyPr>
            <a:noAutofit/>
          </a:bodyPr>
          <a:lstStyle/>
          <a:p>
            <a:pPr algn="just" rtl="1"/>
            <a:r>
              <a:rPr lang="fa-IR" sz="2000" b="1" dirty="0" smtClean="0"/>
              <a:t>نعل درگاه می تواند از چوب یا خشت باشد .در صورتی که نعل درگاه چوبی باشد باید از چوبھایی به قطر یا ضخامت حداقل ٥ سانتیمتر استفاده شود.</a:t>
            </a:r>
          </a:p>
          <a:p>
            <a:pPr algn="just" rtl="1"/>
            <a:r>
              <a:rPr lang="fa-IR" sz="2000" b="1" dirty="0" smtClean="0"/>
              <a:t>-مجموع قطر یاعرض چوبھای به کار رفته در نعل درگاه باید حداقل دوسوم ضخامت دیوار را بپوشاند.</a:t>
            </a:r>
          </a:p>
          <a:p>
            <a:pPr algn="just" rtl="1"/>
            <a:r>
              <a:rPr lang="fa-IR" sz="2000" b="1" dirty="0" smtClean="0"/>
              <a:t>-نعل درگاه باید از ھر طرف حداقل به اندازه یک سوم ضخامت دیوار ادامه داشته و در دیوار مھار شود.</a:t>
            </a:r>
          </a:p>
          <a:p>
            <a:pPr algn="just" rtl="1"/>
            <a:r>
              <a:rPr lang="fa-IR" sz="2000" b="1" dirty="0" smtClean="0"/>
              <a:t>-نعل درگاه خشتی باید به صورت قوسی با حداقل خیز برابر با عرض دھانه درگاه ساخته شود.</a:t>
            </a:r>
            <a:endParaRPr lang="en-US" sz="2000" b="1"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checkerboard(across)">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85800"/>
            <a:ext cx="7772400" cy="915362"/>
          </a:xfrm>
        </p:spPr>
        <p:txBody>
          <a:bodyPr>
            <a:normAutofit/>
          </a:bodyPr>
          <a:lstStyle/>
          <a:p>
            <a:pPr algn="ctr"/>
            <a:r>
              <a:rPr lang="fa-IR" dirty="0" smtClean="0"/>
              <a:t>سقف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533400" y="1524000"/>
            <a:ext cx="7772400" cy="3581400"/>
          </a:xfrm>
        </p:spPr>
        <p:txBody>
          <a:bodyPr>
            <a:noAutofit/>
          </a:bodyPr>
          <a:lstStyle/>
          <a:p>
            <a:pPr algn="just" rtl="1"/>
            <a:r>
              <a:rPr lang="fa-IR" sz="2400" b="1" dirty="0" smtClean="0"/>
              <a:t>سقف ساختمانھای خشتی می تواند به یکی از روشھای تخت، قوسی یا شیبدار ساخته شود.</a:t>
            </a:r>
          </a:p>
          <a:p>
            <a:pPr algn="just" rtl="1"/>
            <a:r>
              <a:rPr lang="fa-IR" sz="2400" b="1" dirty="0" smtClean="0"/>
              <a:t>تبصره:استفاده از سقف شیبدارناشی از اختلاف ارتفاع دیوارھای نگھدارنده سقف مجاز نمی باشد.</a:t>
            </a:r>
            <a:endParaRPr lang="en-US" sz="2400" b="1"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85800"/>
            <a:ext cx="7772400" cy="915362"/>
          </a:xfrm>
        </p:spPr>
        <p:txBody>
          <a:bodyPr>
            <a:normAutofit/>
          </a:bodyPr>
          <a:lstStyle/>
          <a:p>
            <a:pPr algn="ctr"/>
            <a:r>
              <a:rPr lang="fa-IR" dirty="0" smtClean="0"/>
              <a:t>سقف تخت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533400" y="1524000"/>
            <a:ext cx="7772400" cy="3581400"/>
          </a:xfrm>
        </p:spPr>
        <p:txBody>
          <a:bodyPr>
            <a:noAutofit/>
          </a:bodyPr>
          <a:lstStyle/>
          <a:p>
            <a:pPr algn="just" rtl="1"/>
            <a:r>
              <a:rPr lang="fa-IR" sz="1800" b="1" dirty="0" smtClean="0"/>
              <a:t>سقف تخت از نوع چوبی متشکل از تیر، پوش ش از تخته، نی یانظایر آن، غوره گل و اندود کاھگل می باشد.</a:t>
            </a:r>
          </a:p>
          <a:p>
            <a:pPr algn="just" rtl="1"/>
            <a:r>
              <a:rPr lang="fa-IR" sz="1800" b="1" dirty="0" smtClean="0"/>
              <a:t>- تیرھای اصلی سقف باید روی تکیه گاه چوبی یکسره (در طول دیوار)قرار گرفته و به آن متصل گردد </a:t>
            </a:r>
          </a:p>
          <a:p>
            <a:pPr algn="just" rtl="1"/>
            <a:r>
              <a:rPr lang="fa-IR" sz="1800" b="1" dirty="0" smtClean="0"/>
              <a:t>- تیرھای چوبی سقف باید در روی دیوارھا به وسیله چارچوب چوبی افقی مھار شوند .برای اتصال تیرھای چوبی باید از میخ ھای چوبی یا فولادی که اتصال مناسب را تأمین می کند استفاده شود.</a:t>
            </a:r>
          </a:p>
          <a:p>
            <a:pPr algn="just" rtl="1">
              <a:buFontTx/>
              <a:buChar char="-"/>
            </a:pPr>
            <a:r>
              <a:rPr lang="fa-IR" sz="1800" b="1" dirty="0" smtClean="0"/>
              <a:t>حداکثر فاصله محور تا محور تیرھای اصلی نباید از ٦٠ سانتیمتر بیشتر باشد.</a:t>
            </a:r>
          </a:p>
          <a:p>
            <a:pPr algn="just" rtl="1">
              <a:buFontTx/>
              <a:buChar char="-"/>
            </a:pPr>
            <a:r>
              <a:rPr lang="fa-IR" sz="1800" b="1" dirty="0" smtClean="0"/>
              <a:t>حداقل قطر تیرھا باید بر اساس جدول (8-3-1) تعیین گردد.</a:t>
            </a:r>
            <a:endParaRPr lang="en-US" sz="1800" b="1" dirty="0"/>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checkerboard(across)">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checkerboard(across)">
                                      <p:cBhvr>
                                        <p:cTn id="3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تخت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6" name="Subtitle 2"/>
          <p:cNvSpPr>
            <a:spLocks noGrp="1"/>
          </p:cNvSpPr>
          <p:nvPr>
            <p:ph type="subTitle" idx="1"/>
          </p:nvPr>
        </p:nvSpPr>
        <p:spPr>
          <a:xfrm>
            <a:off x="762000" y="1219200"/>
            <a:ext cx="7772400" cy="4191000"/>
          </a:xfrm>
        </p:spPr>
        <p:txBody>
          <a:bodyPr>
            <a:noAutofit/>
          </a:bodyPr>
          <a:lstStyle/>
          <a:p>
            <a:pPr algn="just" rtl="1"/>
            <a:r>
              <a:rPr lang="fa-IR" sz="1600" b="1" dirty="0" smtClean="0"/>
              <a:t>سقف تخت از نوع چوبی متشکل از تیر، پوش ش از تخته، نی یانظایر آن، غوره گل و اندود کاھگل می باشد.</a:t>
            </a:r>
          </a:p>
          <a:p>
            <a:pPr algn="just" rtl="1"/>
            <a:r>
              <a:rPr lang="fa-IR" sz="1600" b="1" dirty="0" smtClean="0"/>
              <a:t>- تیرھای اصلی سقف باید روی تکیه گاه چوبی یکسره (در طول دیوار)قرار گرفته و به آن متصل گردد </a:t>
            </a:r>
          </a:p>
          <a:p>
            <a:pPr algn="just" rtl="1"/>
            <a:r>
              <a:rPr lang="fa-IR" sz="1600" b="1" dirty="0" smtClean="0"/>
              <a:t>- تیرھای چوبی سقف باید در روی دیوارھا به وسیله چارچوب چوبی افقی مھار شوند .برای اتصال تیرھای چوبی باید از میخ ھای چوبی یا فولادی که اتصال مناسب را تأمین می کند استفاده شود.</a:t>
            </a:r>
          </a:p>
          <a:p>
            <a:pPr algn="just" rtl="1">
              <a:buFontTx/>
              <a:buChar char="-"/>
            </a:pPr>
            <a:r>
              <a:rPr lang="fa-IR" sz="1600" b="1" dirty="0" smtClean="0"/>
              <a:t>حداکثر فاصله محور تا محور تیرھای اصلی نباید از ٦٠ سانتیمتر بیشتر باشد.</a:t>
            </a:r>
          </a:p>
          <a:p>
            <a:pPr algn="just" rtl="1">
              <a:buFontTx/>
              <a:buChar char="-"/>
            </a:pPr>
            <a:r>
              <a:rPr lang="fa-IR" sz="1600" b="1" dirty="0" smtClean="0"/>
              <a:t>حداقل قطر تیرھا باید بر اساس جدول (8-3-1) تعیین گردد.</a:t>
            </a:r>
          </a:p>
          <a:p>
            <a:r>
              <a:rPr lang="fa-IR" sz="1600" b="1" dirty="0" smtClean="0"/>
              <a:t>- تیرھای اصلی سقف باید از ھر طرف ساختمان حداقل ٣٠ سانتیمتر و حداکثر ٦٠ سانتیمتر به صورت طره ادامه یابند.</a:t>
            </a:r>
          </a:p>
          <a:p>
            <a:r>
              <a:rPr lang="fa-IR" sz="1600" b="1" dirty="0" smtClean="0"/>
              <a:t>- در صورتی که مقطع تیرھای سقف مدور باشد، باید به صورت سر و ته کنار ھم قرار گیرند.</a:t>
            </a:r>
          </a:p>
          <a:p>
            <a:r>
              <a:rPr lang="fa-IR" sz="1600" b="1" dirty="0" smtClean="0"/>
              <a:t>- روی تیرھا به وسیله تخته ھایی با ضخامت حداقل یک سانتیمتر یا مصالح مناسب دیگر به صورت کاملا به ھم چسبیده پوشیده شود.</a:t>
            </a:r>
          </a:p>
          <a:p>
            <a:r>
              <a:rPr lang="fa-IR" sz="1600" b="1" dirty="0" smtClean="0"/>
              <a:t>- روی تخته ھا با غوره گل به ضخامت حداکثر ١٠ سانتیمتر پوشیده شود.</a:t>
            </a:r>
          </a:p>
          <a:p>
            <a:r>
              <a:rPr lang="fa-IR" sz="1600" b="1" dirty="0" smtClean="0"/>
              <a:t>- به منظور عایق کاری، روی غوره گل، با کاھگل به ضخامت حداکثر سه سانتیمتر اندود شود.</a:t>
            </a:r>
          </a:p>
          <a:p>
            <a:r>
              <a:rPr lang="fa-IR" sz="1600" b="1" dirty="0" smtClean="0"/>
              <a:t>- برای عایق کاری مجدد لایه کاگل قبلی باید برداشته شود.</a:t>
            </a:r>
            <a:endParaRPr lang="en-US" sz="16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checkerboard(across)">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checkerboard(across)">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checkerboard(across)">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checkerboard(across)">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checkerboard(across)">
                                      <p:cBhvr>
                                        <p:cTn id="47" dur="5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checkerboard(across)">
                                      <p:cBhvr>
                                        <p:cTn id="52" dur="500"/>
                                        <p:tgtEl>
                                          <p:spTgt spid="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6">
                                            <p:txEl>
                                              <p:pRg st="9" end="9"/>
                                            </p:txEl>
                                          </p:spTgt>
                                        </p:tgtEl>
                                        <p:attrNameLst>
                                          <p:attrName>style.visibility</p:attrName>
                                        </p:attrNameLst>
                                      </p:cBhvr>
                                      <p:to>
                                        <p:strVal val="visible"/>
                                      </p:to>
                                    </p:set>
                                    <p:animEffect transition="in" filter="checkerboard(across)">
                                      <p:cBhvr>
                                        <p:cTn id="57" dur="500"/>
                                        <p:tgtEl>
                                          <p:spTgt spid="6">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6">
                                            <p:txEl>
                                              <p:pRg st="10" end="10"/>
                                            </p:txEl>
                                          </p:spTgt>
                                        </p:tgtEl>
                                        <p:attrNameLst>
                                          <p:attrName>style.visibility</p:attrName>
                                        </p:attrNameLst>
                                      </p:cBhvr>
                                      <p:to>
                                        <p:strVal val="visible"/>
                                      </p:to>
                                    </p:set>
                                    <p:animEffect transition="in" filter="checkerboard(across)">
                                      <p:cBhvr>
                                        <p:cTn id="62"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تخت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146" name="Picture 2"/>
          <p:cNvPicPr>
            <a:picLocks noChangeAspect="1" noChangeArrowheads="1"/>
          </p:cNvPicPr>
          <p:nvPr/>
        </p:nvPicPr>
        <p:blipFill>
          <a:blip r:embed="rId3"/>
          <a:srcRect/>
          <a:stretch>
            <a:fillRect/>
          </a:stretch>
        </p:blipFill>
        <p:spPr bwMode="auto">
          <a:xfrm>
            <a:off x="609600" y="1752600"/>
            <a:ext cx="8043863" cy="2500313"/>
          </a:xfrm>
          <a:prstGeom prst="rect">
            <a:avLst/>
          </a:prstGeom>
          <a:noFill/>
          <a:ln w="9525">
            <a:noFill/>
            <a:miter lim="800000"/>
            <a:headEnd/>
            <a:tailEnd/>
          </a:ln>
          <a:effec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شیبدار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7170" name="Picture 2"/>
          <p:cNvPicPr>
            <a:picLocks noChangeAspect="1" noChangeArrowheads="1"/>
          </p:cNvPicPr>
          <p:nvPr/>
        </p:nvPicPr>
        <p:blipFill>
          <a:blip r:embed="rId3"/>
          <a:srcRect/>
          <a:stretch>
            <a:fillRect/>
          </a:stretch>
        </p:blipFill>
        <p:spPr bwMode="auto">
          <a:xfrm>
            <a:off x="457200" y="1371600"/>
            <a:ext cx="7551420" cy="4312920"/>
          </a:xfrm>
          <a:prstGeom prst="rect">
            <a:avLst/>
          </a:prstGeom>
          <a:noFill/>
          <a:ln w="9525">
            <a:noFill/>
            <a:miter lim="800000"/>
            <a:headEnd/>
            <a:tailEnd/>
          </a:ln>
          <a:effec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شیبدار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8194" name="Picture 2"/>
          <p:cNvPicPr>
            <a:picLocks noChangeAspect="1" noChangeArrowheads="1"/>
          </p:cNvPicPr>
          <p:nvPr/>
        </p:nvPicPr>
        <p:blipFill>
          <a:blip r:embed="rId3"/>
          <a:srcRect/>
          <a:stretch>
            <a:fillRect/>
          </a:stretch>
        </p:blipFill>
        <p:spPr bwMode="auto">
          <a:xfrm>
            <a:off x="304800" y="1752600"/>
            <a:ext cx="8238173" cy="3051810"/>
          </a:xfrm>
          <a:prstGeom prst="rect">
            <a:avLst/>
          </a:prstGeom>
          <a:noFill/>
          <a:ln w="9525">
            <a:noFill/>
            <a:miter lim="800000"/>
            <a:headEnd/>
            <a:tailEnd/>
          </a:ln>
          <a:effec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شیبدار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219200"/>
            <a:ext cx="7772400" cy="4191000"/>
          </a:xfrm>
        </p:spPr>
        <p:txBody>
          <a:bodyPr>
            <a:noAutofit/>
          </a:bodyPr>
          <a:lstStyle/>
          <a:p>
            <a:r>
              <a:rPr lang="fa-IR" sz="2400" b="1" dirty="0" smtClean="0"/>
              <a:t>پوشش ھای سقف شیبدار</a:t>
            </a:r>
          </a:p>
          <a:p>
            <a:r>
              <a:rPr lang="fa-IR" sz="2400" b="1" dirty="0" smtClean="0"/>
              <a:t>پوشش روی تیرچه ھا باید به روش مناسبی مانند یکی از موارد زیر انجام پذیرد:</a:t>
            </a:r>
          </a:p>
          <a:p>
            <a:r>
              <a:rPr lang="fa-IR" sz="2400" b="1" dirty="0" smtClean="0"/>
              <a:t>- ورقھای فلزی موجدار</a:t>
            </a:r>
          </a:p>
          <a:p>
            <a:r>
              <a:rPr lang="fa-IR" sz="2400" b="1" dirty="0" smtClean="0"/>
              <a:t>- تخته ھای نازک و ملات گل آھک و سفال بام پوش</a:t>
            </a:r>
          </a:p>
          <a:p>
            <a:r>
              <a:rPr lang="fa-IR" sz="2400" b="1" dirty="0" smtClean="0"/>
              <a:t>- تخته ھای نازک و غوره گل و اندود کاھگل</a:t>
            </a:r>
            <a:endParaRPr lang="en-US" sz="2400" b="1" dirty="0"/>
          </a:p>
        </p:txBody>
      </p:sp>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شیبدار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219200"/>
            <a:ext cx="7772400" cy="4191000"/>
          </a:xfrm>
        </p:spPr>
        <p:txBody>
          <a:bodyPr>
            <a:noAutofit/>
          </a:bodyPr>
          <a:lstStyle/>
          <a:p>
            <a:pPr algn="just" rtl="1"/>
            <a:r>
              <a:rPr lang="fa-IR" sz="1600" b="1" dirty="0" smtClean="0"/>
              <a:t>١-پوشش فلزی</a:t>
            </a:r>
          </a:p>
          <a:p>
            <a:pPr algn="just" rtl="1"/>
            <a:r>
              <a:rPr lang="fa-IR" sz="1600" b="1" dirty="0" smtClean="0"/>
              <a:t>در این نوع پوشش روی تیرچه ھا با استفاده از ورقھای فلزی موجدار پوشانده می شود .این ورقھا باید به وسیله پیچھای خم شده ( پیچ سرخم)و واشرھای لاستیکی جھت آب بندی به تیرچه ھا وصل شوند.</a:t>
            </a:r>
          </a:p>
          <a:p>
            <a:pPr algn="just" rtl="1"/>
            <a:r>
              <a:rPr lang="fa-IR" sz="1600" b="1" dirty="0" smtClean="0"/>
              <a:t>٢-پوشش سفالی</a:t>
            </a:r>
          </a:p>
          <a:p>
            <a:pPr algn="just" rtl="1"/>
            <a:r>
              <a:rPr lang="fa-IR" sz="1600" b="1" dirty="0" smtClean="0"/>
              <a:t>در این نوع پوشش روی تیرچه ھا باید با تخته ھایی به ضخامت حداقل یک سانتیمتر کاملا پوشیده شود .تخته ھا با میخ ھای چوبی یا فلزی به تیرچه ھا وصل می شوند .زھوارنگھدارنده سفال ھا باید توسط میخ به تخته ھا متصل گردد . سفال ھا باید چنان قرار داده شوند که ھمپوشانی مناسب جھت آب بندی سقف را داشته باشند.</a:t>
            </a:r>
          </a:p>
          <a:p>
            <a:pPr algn="just" rtl="1"/>
            <a:r>
              <a:rPr lang="fa-IR" sz="1600" b="1" dirty="0" smtClean="0"/>
              <a:t>٣-پوشش غوره گل</a:t>
            </a:r>
          </a:p>
          <a:p>
            <a:pPr algn="just" rtl="1"/>
            <a:r>
              <a:rPr lang="fa-IR" sz="1600" b="1" dirty="0" smtClean="0"/>
              <a:t>در این نوع پوش ش روی تیرچه ھا باید با تخته ھایی به ضخامت حداقل یک سانتیمتر کاملا پوشیده شوند .تخته ھا باید با میخ ھای چوبی یا فلزی به تیرچه ھا وصل شوند .روی تخته ھا با استفاده از غوره گل به ضخامت حداکثر ١٠ سانتیمتر و به طور کامل پوشیده شده و روی غوره گل اندود کاھگل به ضخامت حداکثر سه سانتیمتر اجرا می شود.</a:t>
            </a:r>
            <a:endParaRPr lang="en-US" sz="1600" b="1" dirty="0"/>
          </a:p>
        </p:txBody>
      </p:sp>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قوسی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219200"/>
            <a:ext cx="7772400" cy="4191000"/>
          </a:xfrm>
        </p:spPr>
        <p:txBody>
          <a:bodyPr>
            <a:noAutofit/>
          </a:bodyPr>
          <a:lstStyle/>
          <a:p>
            <a:pPr algn="just" rtl="1"/>
            <a:r>
              <a:rPr lang="fa-IR" sz="2400" b="1" dirty="0" smtClean="0"/>
              <a:t>سقف قوسی از نوع خشتی، آجری یا چوبی می باشد .این سقف ھا می توانند به شکل استوانه ای یا گنبدی ساخته شوند. </a:t>
            </a:r>
          </a:p>
          <a:p>
            <a:pPr algn="just" rtl="1"/>
            <a:r>
              <a:rPr lang="fa-IR" sz="2400" b="1" dirty="0" smtClean="0"/>
              <a:t>سقف ھای قوسی روی چارچوب چوبی قرار می گیرند که باید به طور مناسب به آن وصل شوند. </a:t>
            </a:r>
          </a:p>
          <a:p>
            <a:pPr algn="just" rtl="1"/>
            <a:r>
              <a:rPr lang="fa-IR" sz="2400" b="1" dirty="0" smtClean="0"/>
              <a:t>پوشش روی این سقفھا باید به روش مناسبی مانند اندود کاھگل یا آجر فرش با ملات نیمچه کاه اجر شود.</a:t>
            </a:r>
            <a:endParaRPr lang="en-US" sz="2400" b="1" dirty="0"/>
          </a:p>
        </p:txBody>
      </p:sp>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قوسی استوانه ای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9218" name="Picture 2"/>
          <p:cNvPicPr>
            <a:picLocks noChangeAspect="1" noChangeArrowheads="1"/>
          </p:cNvPicPr>
          <p:nvPr/>
        </p:nvPicPr>
        <p:blipFill>
          <a:blip r:embed="rId3"/>
          <a:srcRect/>
          <a:stretch>
            <a:fillRect/>
          </a:stretch>
        </p:blipFill>
        <p:spPr bwMode="auto">
          <a:xfrm>
            <a:off x="990600" y="1828800"/>
            <a:ext cx="7383780" cy="2278380"/>
          </a:xfrm>
          <a:prstGeom prst="rect">
            <a:avLst/>
          </a:prstGeom>
          <a:noFill/>
          <a:ln w="9525">
            <a:noFill/>
            <a:miter lim="800000"/>
            <a:headEnd/>
            <a:tailEnd/>
          </a:ln>
          <a:effectLst/>
        </p:spPr>
      </p:pic>
    </p:spTree>
  </p:cSld>
  <p:clrMapOvr>
    <a:masterClrMapping/>
  </p:clrMapOvr>
  <p:transition>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سقف قوسی گنبدی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524000"/>
            <a:ext cx="7772400" cy="3886200"/>
          </a:xfrm>
        </p:spPr>
        <p:txBody>
          <a:bodyPr>
            <a:noAutofit/>
          </a:bodyPr>
          <a:lstStyle/>
          <a:p>
            <a:pPr algn="just" rtl="1"/>
            <a:r>
              <a:rPr lang="fa-IR" sz="2400" b="1" dirty="0" smtClean="0"/>
              <a:t>سقف ھای گنبدی باید دارای پلان دایره ای یا چندضلعی منتظم باشند.</a:t>
            </a:r>
          </a:p>
          <a:p>
            <a:pPr algn="just" rtl="1"/>
            <a:r>
              <a:rPr lang="fa-IR" sz="2400" b="1" dirty="0" smtClean="0"/>
              <a:t>حداقل بلندی قوس ھای این نوع سقف ھا یک سوم دھانه گنبد است.</a:t>
            </a:r>
          </a:p>
          <a:p>
            <a:pPr algn="just" rtl="1"/>
            <a:r>
              <a:rPr lang="fa-IR" sz="2400" b="1" dirty="0" smtClean="0"/>
              <a:t>در ا ین قبیل سقف ھا لازم است یک کلاف چوبی پیوسته بر روی دیوارھا و زیر گنبد تعبیه گردد.</a:t>
            </a:r>
            <a:endParaRPr lang="en-US" sz="2400" b="1"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دودکش</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524000"/>
            <a:ext cx="7772400" cy="3886200"/>
          </a:xfrm>
        </p:spPr>
        <p:txBody>
          <a:bodyPr>
            <a:noAutofit/>
          </a:bodyPr>
          <a:lstStyle/>
          <a:p>
            <a:pPr algn="just" rtl="1"/>
            <a:r>
              <a:rPr lang="fa-IR" sz="2400" b="1" dirty="0" smtClean="0"/>
              <a:t>-دودکش باید به نحو مناسبی به دیوار باربر متصل گردد.</a:t>
            </a:r>
          </a:p>
          <a:p>
            <a:pPr algn="just" rtl="1"/>
            <a:r>
              <a:rPr lang="fa-IR" sz="2400" b="1" dirty="0" smtClean="0"/>
              <a:t>-در ساختمانھای دارای کلاف چوبی، دودکش باید حداقل ١٠ سانتیمتر ازعناصر چوبی، کلاف افقی یا قائم یا تیر فاصله داشته باشد و این فاصله باید با عایق جداکننده مناسب پر شود.</a:t>
            </a:r>
          </a:p>
          <a:p>
            <a:pPr algn="just" rtl="1"/>
            <a:r>
              <a:rPr lang="fa-IR" sz="2400" b="1" dirty="0" smtClean="0"/>
              <a:t>-حداکثر ارتفاع بیرون زدگی دودک ش ساخته شده از مصالح بنایی از روی بام یک متر می باشد.</a:t>
            </a:r>
            <a:endParaRPr lang="en-US" sz="2400" b="1" dirty="0"/>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محافظت از سطوح</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524000"/>
            <a:ext cx="7772400" cy="3886200"/>
          </a:xfrm>
        </p:spPr>
        <p:txBody>
          <a:bodyPr>
            <a:noAutofit/>
          </a:bodyPr>
          <a:lstStyle/>
          <a:p>
            <a:pPr algn="just" rtl="1"/>
            <a:r>
              <a:rPr lang="fa-IR" sz="2400" b="1" dirty="0" smtClean="0"/>
              <a:t>به منظور محافظت از سطوح در معرض عوامل جوی رعایت نکات زیر الزامی است.</a:t>
            </a:r>
          </a:p>
          <a:p>
            <a:pPr algn="just" rtl="1"/>
            <a:r>
              <a:rPr lang="fa-IR" sz="2400" b="1" dirty="0" smtClean="0"/>
              <a:t>-وجوه خارجی تمام دیوارھای خارجی خشتی باید با اندود کاھگل با ضخامت حداقل ٣ سانتیمتر پوشیده شود.</a:t>
            </a:r>
          </a:p>
          <a:p>
            <a:pPr algn="just" rtl="1"/>
            <a:r>
              <a:rPr lang="fa-IR" sz="2400" b="1" dirty="0" smtClean="0"/>
              <a:t>- سطوح کلیه چوبھایی که در معرض عوامل جوی قرار دارند، باید با مواد محافظ آغشته یا رنگ شوند.</a:t>
            </a:r>
            <a:endParaRPr lang="en-US" sz="2400" b="1"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فصل چهارم: ساختمانهای سنگی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مقدمه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026" name="Picture 2"/>
          <p:cNvPicPr>
            <a:picLocks noChangeAspect="1" noChangeArrowheads="1"/>
          </p:cNvPicPr>
          <p:nvPr/>
        </p:nvPicPr>
        <p:blipFill>
          <a:blip r:embed="rId3"/>
          <a:srcRect/>
          <a:stretch>
            <a:fillRect/>
          </a:stretch>
        </p:blipFill>
        <p:spPr bwMode="auto">
          <a:xfrm>
            <a:off x="762000" y="1447800"/>
            <a:ext cx="7655489" cy="2432927"/>
          </a:xfrm>
          <a:prstGeom prst="rect">
            <a:avLst/>
          </a:prstGeom>
          <a:noFill/>
          <a:ln w="9525">
            <a:noFill/>
            <a:miter lim="800000"/>
            <a:headEnd/>
            <a:tailEnd/>
          </a:ln>
          <a:effectLst/>
        </p:spPr>
      </p:pic>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تعریف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050" name="Picture 2"/>
          <p:cNvPicPr>
            <a:picLocks noChangeAspect="1" noChangeArrowheads="1"/>
          </p:cNvPicPr>
          <p:nvPr/>
        </p:nvPicPr>
        <p:blipFill>
          <a:blip r:embed="rId3"/>
          <a:srcRect/>
          <a:stretch>
            <a:fillRect/>
          </a:stretch>
        </p:blipFill>
        <p:spPr bwMode="auto">
          <a:xfrm>
            <a:off x="762000" y="2819400"/>
            <a:ext cx="7591464" cy="923781"/>
          </a:xfrm>
          <a:prstGeom prst="rect">
            <a:avLst/>
          </a:prstGeom>
          <a:noFill/>
          <a:ln w="9525">
            <a:noFill/>
            <a:miter lim="800000"/>
            <a:headEnd/>
            <a:tailEnd/>
          </a:ln>
          <a:effectLst/>
        </p:spPr>
      </p:pic>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محدوده کاربرد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074" name="Picture 2"/>
          <p:cNvPicPr>
            <a:picLocks noChangeAspect="1" noChangeArrowheads="1"/>
          </p:cNvPicPr>
          <p:nvPr/>
        </p:nvPicPr>
        <p:blipFill>
          <a:blip r:embed="rId3"/>
          <a:srcRect/>
          <a:stretch>
            <a:fillRect/>
          </a:stretch>
        </p:blipFill>
        <p:spPr bwMode="auto">
          <a:xfrm>
            <a:off x="685800" y="2057400"/>
            <a:ext cx="7481708" cy="1939025"/>
          </a:xfrm>
          <a:prstGeom prst="rect">
            <a:avLst/>
          </a:prstGeom>
          <a:noFill/>
          <a:ln w="9525">
            <a:noFill/>
            <a:miter lim="800000"/>
            <a:headEnd/>
            <a:tailEnd/>
          </a:ln>
          <a:effectLst/>
        </p:spPr>
      </p:pic>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ساختگاه</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4098" name="Picture 2"/>
          <p:cNvPicPr>
            <a:picLocks noChangeAspect="1" noChangeArrowheads="1"/>
          </p:cNvPicPr>
          <p:nvPr/>
        </p:nvPicPr>
        <p:blipFill>
          <a:blip r:embed="rId3"/>
          <a:srcRect/>
          <a:stretch>
            <a:fillRect/>
          </a:stretch>
        </p:blipFill>
        <p:spPr bwMode="auto">
          <a:xfrm>
            <a:off x="990600" y="2286000"/>
            <a:ext cx="7646342" cy="1198172"/>
          </a:xfrm>
          <a:prstGeom prst="rect">
            <a:avLst/>
          </a:prstGeom>
          <a:noFill/>
          <a:ln w="9525">
            <a:noFill/>
            <a:miter lim="800000"/>
            <a:headEnd/>
            <a:tailEnd/>
          </a:ln>
          <a:effectLst/>
        </p:spPr>
      </p:pic>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مصالح</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122" name="Picture 2"/>
          <p:cNvPicPr>
            <a:picLocks noChangeAspect="1" noChangeArrowheads="1"/>
          </p:cNvPicPr>
          <p:nvPr/>
        </p:nvPicPr>
        <p:blipFill>
          <a:blip r:embed="rId3"/>
          <a:srcRect/>
          <a:stretch>
            <a:fillRect/>
          </a:stretch>
        </p:blipFill>
        <p:spPr bwMode="auto">
          <a:xfrm>
            <a:off x="685800" y="2057400"/>
            <a:ext cx="7801830" cy="1280489"/>
          </a:xfrm>
          <a:prstGeom prst="rect">
            <a:avLst/>
          </a:prstGeom>
          <a:noFill/>
          <a:ln w="9525">
            <a:noFill/>
            <a:miter lim="800000"/>
            <a:headEnd/>
            <a:tailEnd/>
          </a:ln>
          <a:effectLst/>
        </p:spPr>
      </p:pic>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طرح و اجرا</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146" name="Picture 2"/>
          <p:cNvPicPr>
            <a:picLocks noChangeAspect="1" noChangeArrowheads="1"/>
          </p:cNvPicPr>
          <p:nvPr/>
        </p:nvPicPr>
        <p:blipFill>
          <a:blip r:embed="rId3"/>
          <a:srcRect/>
          <a:stretch>
            <a:fillRect/>
          </a:stretch>
        </p:blipFill>
        <p:spPr bwMode="auto">
          <a:xfrm>
            <a:off x="762000" y="1828800"/>
            <a:ext cx="7746951" cy="2057927"/>
          </a:xfrm>
          <a:prstGeom prst="rect">
            <a:avLst/>
          </a:prstGeom>
          <a:noFill/>
          <a:ln w="9525">
            <a:noFill/>
            <a:miter lim="800000"/>
            <a:headEnd/>
            <a:tailEnd/>
          </a:ln>
          <a:effectLst/>
        </p:spPr>
      </p:pic>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الزامات عمومی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7170" name="Picture 2"/>
          <p:cNvPicPr>
            <a:picLocks noChangeAspect="1" noChangeArrowheads="1"/>
          </p:cNvPicPr>
          <p:nvPr/>
        </p:nvPicPr>
        <p:blipFill>
          <a:blip r:embed="rId3"/>
          <a:srcRect/>
          <a:stretch>
            <a:fillRect/>
          </a:stretch>
        </p:blipFill>
        <p:spPr bwMode="auto">
          <a:xfrm>
            <a:off x="533400" y="1295400"/>
            <a:ext cx="7774391" cy="3530489"/>
          </a:xfrm>
          <a:prstGeom prst="rect">
            <a:avLst/>
          </a:prstGeom>
          <a:noFill/>
          <a:ln w="9525">
            <a:noFill/>
            <a:miter lim="800000"/>
            <a:headEnd/>
            <a:tailEnd/>
          </a:ln>
          <a:effectLst/>
        </p:spPr>
      </p:pic>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شالوده</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8194" name="Picture 2"/>
          <p:cNvPicPr>
            <a:picLocks noChangeAspect="1" noChangeArrowheads="1"/>
          </p:cNvPicPr>
          <p:nvPr/>
        </p:nvPicPr>
        <p:blipFill>
          <a:blip r:embed="rId3"/>
          <a:srcRect/>
          <a:stretch>
            <a:fillRect/>
          </a:stretch>
        </p:blipFill>
        <p:spPr bwMode="auto">
          <a:xfrm>
            <a:off x="1524000" y="1371600"/>
            <a:ext cx="6054879" cy="4975610"/>
          </a:xfrm>
          <a:prstGeom prst="rect">
            <a:avLst/>
          </a:prstGeom>
          <a:noFill/>
          <a:ln w="9525">
            <a:noFill/>
            <a:miter lim="800000"/>
            <a:headEnd/>
            <a:tailEnd/>
          </a:ln>
          <a:effectLst/>
        </p:spPr>
      </p:pic>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کرسی چینی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9218" name="Picture 2"/>
          <p:cNvPicPr>
            <a:picLocks noChangeAspect="1" noChangeArrowheads="1"/>
          </p:cNvPicPr>
          <p:nvPr/>
        </p:nvPicPr>
        <p:blipFill>
          <a:blip r:embed="rId3"/>
          <a:srcRect/>
          <a:stretch>
            <a:fillRect/>
          </a:stretch>
        </p:blipFill>
        <p:spPr bwMode="auto">
          <a:xfrm>
            <a:off x="1066800" y="1600200"/>
            <a:ext cx="7142074" cy="2705487"/>
          </a:xfrm>
          <a:prstGeom prst="rect">
            <a:avLst/>
          </a:prstGeom>
          <a:noFill/>
          <a:ln w="9525">
            <a:noFill/>
            <a:miter lim="800000"/>
            <a:headEnd/>
            <a:tailEnd/>
          </a:ln>
          <a:effectLst/>
        </p:spPr>
      </p:pic>
      <p:pic>
        <p:nvPicPr>
          <p:cNvPr id="10242" name="Picture 2"/>
          <p:cNvPicPr>
            <a:picLocks noChangeAspect="1" noChangeArrowheads="1"/>
          </p:cNvPicPr>
          <p:nvPr/>
        </p:nvPicPr>
        <p:blipFill>
          <a:blip r:embed="rId4"/>
          <a:srcRect/>
          <a:stretch>
            <a:fillRect/>
          </a:stretch>
        </p:blipFill>
        <p:spPr bwMode="auto">
          <a:xfrm>
            <a:off x="685800" y="4267200"/>
            <a:ext cx="7042683" cy="1536585"/>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04800"/>
            <a:ext cx="7772400" cy="915362"/>
          </a:xfrm>
        </p:spPr>
        <p:txBody>
          <a:bodyPr>
            <a:normAutofit/>
          </a:bodyPr>
          <a:lstStyle/>
          <a:p>
            <a:pPr algn="ctr"/>
            <a:r>
              <a:rPr lang="fa-IR" dirty="0" smtClean="0"/>
              <a:t>دیوارهای باربر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9219" name="Picture 3"/>
          <p:cNvPicPr>
            <a:picLocks noChangeAspect="1" noChangeArrowheads="1"/>
          </p:cNvPicPr>
          <p:nvPr/>
        </p:nvPicPr>
        <p:blipFill>
          <a:blip r:embed="rId3"/>
          <a:srcRect/>
          <a:stretch>
            <a:fillRect/>
          </a:stretch>
        </p:blipFill>
        <p:spPr bwMode="auto">
          <a:xfrm>
            <a:off x="457200" y="1223853"/>
            <a:ext cx="8222562" cy="5634147"/>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04800"/>
            <a:ext cx="7772400" cy="915362"/>
          </a:xfrm>
        </p:spPr>
        <p:txBody>
          <a:bodyPr>
            <a:normAutofit/>
          </a:bodyPr>
          <a:lstStyle/>
          <a:p>
            <a:pPr algn="ctr"/>
            <a:r>
              <a:rPr lang="fa-IR" dirty="0" smtClean="0"/>
              <a:t>دیوارهای باربر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915362"/>
          </a:xfrm>
        </p:spPr>
        <p:txBody>
          <a:bodyPr>
            <a:normAutofit/>
          </a:bodyPr>
          <a:lstStyle/>
          <a:p>
            <a:pPr algn="ctr"/>
            <a:r>
              <a:rPr lang="fa-IR" dirty="0" smtClean="0"/>
              <a:t>دیوارهای باربر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609600" y="1143000"/>
            <a:ext cx="7772400" cy="228600"/>
          </a:xfrm>
        </p:spPr>
        <p:txBody>
          <a:bodyPr>
            <a:noAutofit/>
          </a:bodyPr>
          <a:lstStyle/>
          <a:p>
            <a:pPr algn="just" rtl="1"/>
            <a:r>
              <a:rPr lang="fa-IR" sz="1600" b="1" dirty="0" smtClean="0"/>
              <a:t>7- ارتفاع هیچ سنگی از عرض ( قاعده ) آن بیشتر باشد</a:t>
            </a:r>
            <a:endParaRPr lang="en-US" sz="1600" b="1" dirty="0"/>
          </a:p>
        </p:txBody>
      </p:sp>
      <p:pic>
        <p:nvPicPr>
          <p:cNvPr id="11267" name="Picture 3"/>
          <p:cNvPicPr>
            <a:picLocks noChangeAspect="1" noChangeArrowheads="1"/>
          </p:cNvPicPr>
          <p:nvPr/>
        </p:nvPicPr>
        <p:blipFill>
          <a:blip r:embed="rId3"/>
          <a:srcRect/>
          <a:stretch>
            <a:fillRect/>
          </a:stretch>
        </p:blipFill>
        <p:spPr bwMode="auto">
          <a:xfrm>
            <a:off x="914400" y="1447800"/>
            <a:ext cx="7600610" cy="2926830"/>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915362"/>
          </a:xfrm>
        </p:spPr>
        <p:txBody>
          <a:bodyPr>
            <a:normAutofit/>
          </a:bodyPr>
          <a:lstStyle/>
          <a:p>
            <a:pPr algn="ctr"/>
            <a:r>
              <a:rPr lang="fa-IR" dirty="0" smtClean="0"/>
              <a:t>دیوارهای باربر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2291" name="Picture 3"/>
          <p:cNvPicPr>
            <a:picLocks noChangeAspect="1" noChangeArrowheads="1"/>
          </p:cNvPicPr>
          <p:nvPr/>
        </p:nvPicPr>
        <p:blipFill>
          <a:blip r:embed="rId3"/>
          <a:srcRect/>
          <a:stretch>
            <a:fillRect/>
          </a:stretch>
        </p:blipFill>
        <p:spPr bwMode="auto">
          <a:xfrm>
            <a:off x="762000" y="1143000"/>
            <a:ext cx="7746951" cy="2588415"/>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915362"/>
          </a:xfrm>
        </p:spPr>
        <p:txBody>
          <a:bodyPr>
            <a:normAutofit/>
          </a:bodyPr>
          <a:lstStyle/>
          <a:p>
            <a:pPr algn="ctr"/>
            <a:r>
              <a:rPr lang="fa-IR" dirty="0" smtClean="0"/>
              <a:t>دیوارهای جداگر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3314" name="Picture 2"/>
          <p:cNvPicPr>
            <a:picLocks noChangeAspect="1" noChangeArrowheads="1"/>
          </p:cNvPicPr>
          <p:nvPr/>
        </p:nvPicPr>
        <p:blipFill>
          <a:blip r:embed="rId3"/>
          <a:srcRect/>
          <a:stretch>
            <a:fillRect/>
          </a:stretch>
        </p:blipFill>
        <p:spPr bwMode="auto">
          <a:xfrm>
            <a:off x="762000" y="1295400"/>
            <a:ext cx="7984757" cy="3466464"/>
          </a:xfrm>
          <a:prstGeom prst="rect">
            <a:avLst/>
          </a:prstGeom>
          <a:noFill/>
          <a:ln w="9525">
            <a:noFill/>
            <a:miter lim="800000"/>
            <a:headEnd/>
            <a:tailEnd/>
          </a:ln>
          <a:effectLst/>
        </p:spPr>
      </p:pic>
      <p:pic>
        <p:nvPicPr>
          <p:cNvPr id="13315" name="Picture 3"/>
          <p:cNvPicPr>
            <a:picLocks noChangeAspect="1" noChangeArrowheads="1"/>
          </p:cNvPicPr>
          <p:nvPr/>
        </p:nvPicPr>
        <p:blipFill>
          <a:blip r:embed="rId4"/>
          <a:srcRect/>
          <a:stretch>
            <a:fillRect/>
          </a:stretch>
        </p:blipFill>
        <p:spPr bwMode="auto">
          <a:xfrm>
            <a:off x="990600" y="4648200"/>
            <a:ext cx="7189025" cy="1161585"/>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915362"/>
          </a:xfrm>
        </p:spPr>
        <p:txBody>
          <a:bodyPr>
            <a:normAutofit/>
          </a:bodyPr>
          <a:lstStyle/>
          <a:p>
            <a:pPr algn="ctr"/>
            <a:r>
              <a:rPr lang="fa-IR" dirty="0" smtClean="0"/>
              <a:t>بازشوها</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4338" name="Picture 2"/>
          <p:cNvPicPr>
            <a:picLocks noChangeAspect="1" noChangeArrowheads="1"/>
          </p:cNvPicPr>
          <p:nvPr/>
        </p:nvPicPr>
        <p:blipFill>
          <a:blip r:embed="rId3"/>
          <a:srcRect/>
          <a:stretch>
            <a:fillRect/>
          </a:stretch>
        </p:blipFill>
        <p:spPr bwMode="auto">
          <a:xfrm>
            <a:off x="609600" y="914400"/>
            <a:ext cx="7810976" cy="4929879"/>
          </a:xfrm>
          <a:prstGeom prst="rect">
            <a:avLst/>
          </a:prstGeom>
          <a:noFill/>
          <a:ln w="9525">
            <a:noFill/>
            <a:miter lim="800000"/>
            <a:headEnd/>
            <a:tailEnd/>
          </a:ln>
          <a:effectLst/>
        </p:spPr>
      </p:pic>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915362"/>
          </a:xfrm>
        </p:spPr>
        <p:txBody>
          <a:bodyPr>
            <a:normAutofit/>
          </a:bodyPr>
          <a:lstStyle/>
          <a:p>
            <a:pPr algn="ctr"/>
            <a:r>
              <a:rPr lang="fa-IR" dirty="0" smtClean="0"/>
              <a:t>بازشوها</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5362" name="Picture 2"/>
          <p:cNvPicPr>
            <a:picLocks noChangeAspect="1" noChangeArrowheads="1"/>
          </p:cNvPicPr>
          <p:nvPr/>
        </p:nvPicPr>
        <p:blipFill>
          <a:blip r:embed="rId3"/>
          <a:srcRect/>
          <a:stretch>
            <a:fillRect/>
          </a:stretch>
        </p:blipFill>
        <p:spPr bwMode="auto">
          <a:xfrm>
            <a:off x="838200" y="1143000"/>
            <a:ext cx="7664634" cy="2423781"/>
          </a:xfrm>
          <a:prstGeom prst="rect">
            <a:avLst/>
          </a:prstGeom>
          <a:noFill/>
          <a:ln w="9525">
            <a:noFill/>
            <a:miter lim="800000"/>
            <a:headEnd/>
            <a:tailEnd/>
          </a:ln>
          <a:effectLst/>
        </p:spPr>
      </p:pic>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915362"/>
          </a:xfrm>
        </p:spPr>
        <p:txBody>
          <a:bodyPr>
            <a:normAutofit/>
          </a:bodyPr>
          <a:lstStyle/>
          <a:p>
            <a:pPr algn="ctr"/>
            <a:r>
              <a:rPr lang="fa-IR" dirty="0" smtClean="0"/>
              <a:t>کلافها</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6386" name="Picture 2"/>
          <p:cNvPicPr>
            <a:picLocks noChangeAspect="1" noChangeArrowheads="1"/>
          </p:cNvPicPr>
          <p:nvPr/>
        </p:nvPicPr>
        <p:blipFill>
          <a:blip r:embed="rId3"/>
          <a:srcRect/>
          <a:stretch>
            <a:fillRect/>
          </a:stretch>
        </p:blipFill>
        <p:spPr bwMode="auto">
          <a:xfrm>
            <a:off x="685800" y="1447800"/>
            <a:ext cx="7810976" cy="731708"/>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915362"/>
          </a:xfrm>
        </p:spPr>
        <p:txBody>
          <a:bodyPr>
            <a:normAutofit/>
          </a:bodyPr>
          <a:lstStyle/>
          <a:p>
            <a:pPr algn="ctr"/>
            <a:r>
              <a:rPr lang="fa-IR" dirty="0" smtClean="0"/>
              <a:t>کلافهای افقی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7410" name="Picture 2"/>
          <p:cNvPicPr>
            <a:picLocks noChangeAspect="1" noChangeArrowheads="1"/>
          </p:cNvPicPr>
          <p:nvPr/>
        </p:nvPicPr>
        <p:blipFill>
          <a:blip r:embed="rId3"/>
          <a:srcRect/>
          <a:stretch>
            <a:fillRect/>
          </a:stretch>
        </p:blipFill>
        <p:spPr bwMode="auto">
          <a:xfrm>
            <a:off x="609600" y="1219200"/>
            <a:ext cx="7692074" cy="2615855"/>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کلافهای قائم</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8434" name="Picture 2"/>
          <p:cNvPicPr>
            <a:picLocks noChangeAspect="1" noChangeArrowheads="1"/>
          </p:cNvPicPr>
          <p:nvPr/>
        </p:nvPicPr>
        <p:blipFill>
          <a:blip r:embed="rId3"/>
          <a:srcRect/>
          <a:stretch>
            <a:fillRect/>
          </a:stretch>
        </p:blipFill>
        <p:spPr bwMode="auto">
          <a:xfrm>
            <a:off x="914400" y="1447800"/>
            <a:ext cx="7554879" cy="1527440"/>
          </a:xfrm>
          <a:prstGeom prst="rect">
            <a:avLst/>
          </a:prstGeom>
          <a:noFill/>
          <a:ln w="9525">
            <a:noFill/>
            <a:miter lim="800000"/>
            <a:headEnd/>
            <a:tailEnd/>
          </a:ln>
          <a:effectLst/>
        </p:spPr>
      </p:pic>
    </p:spTree>
  </p:cSld>
  <p:clrMapOvr>
    <a:masterClrMapping/>
  </p:clrMapOvr>
  <p:transition>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اتصال کلافهای افقی و قائم</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19458" name="Picture 2"/>
          <p:cNvPicPr>
            <a:picLocks noChangeAspect="1" noChangeArrowheads="1"/>
          </p:cNvPicPr>
          <p:nvPr/>
        </p:nvPicPr>
        <p:blipFill>
          <a:blip r:embed="rId3"/>
          <a:srcRect/>
          <a:stretch>
            <a:fillRect/>
          </a:stretch>
        </p:blipFill>
        <p:spPr bwMode="auto">
          <a:xfrm>
            <a:off x="762000" y="1981200"/>
            <a:ext cx="7710366" cy="740853"/>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نعل درگاه</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0482" name="Picture 2"/>
          <p:cNvPicPr>
            <a:picLocks noChangeAspect="1" noChangeArrowheads="1"/>
          </p:cNvPicPr>
          <p:nvPr/>
        </p:nvPicPr>
        <p:blipFill>
          <a:blip r:embed="rId3"/>
          <a:srcRect/>
          <a:stretch>
            <a:fillRect/>
          </a:stretch>
        </p:blipFill>
        <p:spPr bwMode="auto">
          <a:xfrm>
            <a:off x="1066800" y="1371600"/>
            <a:ext cx="7417683" cy="2158536"/>
          </a:xfrm>
          <a:prstGeom prst="rect">
            <a:avLst/>
          </a:prstGeom>
          <a:noFill/>
          <a:ln w="9525">
            <a:noFill/>
            <a:miter lim="800000"/>
            <a:headEnd/>
            <a:tailEnd/>
          </a:ln>
          <a:effectLst/>
        </p:spPr>
      </p:pic>
    </p:spTree>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سقف</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1506" name="Picture 2"/>
          <p:cNvPicPr>
            <a:picLocks noChangeAspect="1" noChangeArrowheads="1"/>
          </p:cNvPicPr>
          <p:nvPr/>
        </p:nvPicPr>
        <p:blipFill>
          <a:blip r:embed="rId3"/>
          <a:srcRect/>
          <a:stretch>
            <a:fillRect/>
          </a:stretch>
        </p:blipFill>
        <p:spPr bwMode="auto">
          <a:xfrm>
            <a:off x="914400" y="2209800"/>
            <a:ext cx="7225610" cy="1115853"/>
          </a:xfrm>
          <a:prstGeom prst="rect">
            <a:avLst/>
          </a:prstGeom>
          <a:noFill/>
          <a:ln w="9525">
            <a:noFill/>
            <a:miter lim="800000"/>
            <a:headEnd/>
            <a:tailEnd/>
          </a:ln>
          <a:effec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سقف تخت</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2530" name="Picture 2"/>
          <p:cNvPicPr>
            <a:picLocks noChangeAspect="1" noChangeArrowheads="1"/>
          </p:cNvPicPr>
          <p:nvPr/>
        </p:nvPicPr>
        <p:blipFill>
          <a:blip r:embed="rId3"/>
          <a:srcRect/>
          <a:stretch>
            <a:fillRect/>
          </a:stretch>
        </p:blipFill>
        <p:spPr bwMode="auto">
          <a:xfrm>
            <a:off x="914400" y="1150683"/>
            <a:ext cx="7609757" cy="5707317"/>
          </a:xfrm>
          <a:prstGeom prst="rect">
            <a:avLst/>
          </a:prstGeom>
          <a:noFill/>
          <a:ln w="9525">
            <a:noFill/>
            <a:miter lim="800000"/>
            <a:headEnd/>
            <a:tailEnd/>
          </a:ln>
          <a:effectLst/>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سقف تخت</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3554" name="Picture 2"/>
          <p:cNvPicPr>
            <a:picLocks noChangeAspect="1" noChangeArrowheads="1"/>
          </p:cNvPicPr>
          <p:nvPr/>
        </p:nvPicPr>
        <p:blipFill>
          <a:blip r:embed="rId3"/>
          <a:srcRect/>
          <a:stretch>
            <a:fillRect/>
          </a:stretch>
        </p:blipFill>
        <p:spPr bwMode="auto">
          <a:xfrm>
            <a:off x="1219200" y="1524000"/>
            <a:ext cx="6868902" cy="2496951"/>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سقف شیبدار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4578" name="Picture 2"/>
          <p:cNvPicPr>
            <a:picLocks noChangeAspect="1" noChangeArrowheads="1"/>
          </p:cNvPicPr>
          <p:nvPr/>
        </p:nvPicPr>
        <p:blipFill>
          <a:blip r:embed="rId3"/>
          <a:srcRect/>
          <a:stretch>
            <a:fillRect/>
          </a:stretch>
        </p:blipFill>
        <p:spPr bwMode="auto">
          <a:xfrm>
            <a:off x="762000" y="1066800"/>
            <a:ext cx="7966464" cy="5341464"/>
          </a:xfrm>
          <a:prstGeom prst="rect">
            <a:avLst/>
          </a:prstGeom>
          <a:noFill/>
          <a:ln w="9525">
            <a:noFill/>
            <a:miter lim="800000"/>
            <a:headEnd/>
            <a:tailEnd/>
          </a:ln>
          <a:effectLst/>
        </p:spPr>
      </p:pic>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سقف شیبدار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5602" name="Picture 2"/>
          <p:cNvPicPr>
            <a:picLocks noChangeAspect="1" noChangeArrowheads="1"/>
          </p:cNvPicPr>
          <p:nvPr/>
        </p:nvPicPr>
        <p:blipFill>
          <a:blip r:embed="rId3"/>
          <a:srcRect/>
          <a:stretch>
            <a:fillRect/>
          </a:stretch>
        </p:blipFill>
        <p:spPr bwMode="auto">
          <a:xfrm>
            <a:off x="1524000" y="1143000"/>
            <a:ext cx="6064025" cy="2862806"/>
          </a:xfrm>
          <a:prstGeom prst="rect">
            <a:avLst/>
          </a:prstGeom>
          <a:noFill/>
          <a:ln w="9525">
            <a:noFill/>
            <a:miter lim="800000"/>
            <a:headEnd/>
            <a:tailEnd/>
          </a:ln>
          <a:effectLst/>
        </p:spPr>
      </p:pic>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پوششهای سقف شیبدار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6626" name="Picture 2"/>
          <p:cNvPicPr>
            <a:picLocks noChangeAspect="1" noChangeArrowheads="1"/>
          </p:cNvPicPr>
          <p:nvPr/>
        </p:nvPicPr>
        <p:blipFill>
          <a:blip r:embed="rId3"/>
          <a:srcRect/>
          <a:stretch>
            <a:fillRect/>
          </a:stretch>
        </p:blipFill>
        <p:spPr bwMode="auto">
          <a:xfrm>
            <a:off x="609600" y="990600"/>
            <a:ext cx="8012196" cy="4966464"/>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پوششهای سقف شیبدار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7650" name="Picture 2"/>
          <p:cNvPicPr>
            <a:picLocks noChangeAspect="1" noChangeArrowheads="1"/>
          </p:cNvPicPr>
          <p:nvPr/>
        </p:nvPicPr>
        <p:blipFill>
          <a:blip r:embed="rId3"/>
          <a:srcRect/>
          <a:stretch>
            <a:fillRect/>
          </a:stretch>
        </p:blipFill>
        <p:spPr bwMode="auto">
          <a:xfrm>
            <a:off x="533400" y="1295400"/>
            <a:ext cx="7911585" cy="4143293"/>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سقفهای استوانه ای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8674" name="Picture 2"/>
          <p:cNvPicPr>
            <a:picLocks noChangeAspect="1" noChangeArrowheads="1"/>
          </p:cNvPicPr>
          <p:nvPr/>
        </p:nvPicPr>
        <p:blipFill>
          <a:blip r:embed="rId3"/>
          <a:srcRect/>
          <a:stretch>
            <a:fillRect/>
          </a:stretch>
        </p:blipFill>
        <p:spPr bwMode="auto">
          <a:xfrm>
            <a:off x="762000" y="1143000"/>
            <a:ext cx="7820123" cy="4060976"/>
          </a:xfrm>
          <a:prstGeom prst="rect">
            <a:avLst/>
          </a:prstGeom>
          <a:noFill/>
          <a:ln w="9525">
            <a:noFill/>
            <a:miter lim="800000"/>
            <a:headEnd/>
            <a:tailEnd/>
          </a:ln>
          <a:effectLst/>
        </p:spPr>
      </p:pic>
    </p:spTree>
  </p:cSld>
  <p:clrMapOvr>
    <a:masterClrMapping/>
  </p:clrMapOvr>
  <p:transition>
    <p:cut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دودکش</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29698" name="Picture 2"/>
          <p:cNvPicPr>
            <a:picLocks noChangeAspect="1" noChangeArrowheads="1"/>
          </p:cNvPicPr>
          <p:nvPr/>
        </p:nvPicPr>
        <p:blipFill>
          <a:blip r:embed="rId3"/>
          <a:srcRect/>
          <a:stretch>
            <a:fillRect/>
          </a:stretch>
        </p:blipFill>
        <p:spPr bwMode="auto">
          <a:xfrm>
            <a:off x="914400" y="2057400"/>
            <a:ext cx="7628049" cy="1975610"/>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915362"/>
          </a:xfrm>
        </p:spPr>
        <p:txBody>
          <a:bodyPr>
            <a:normAutofit/>
          </a:bodyPr>
          <a:lstStyle/>
          <a:p>
            <a:pPr algn="ctr"/>
            <a:r>
              <a:rPr lang="fa-IR" dirty="0" smtClean="0"/>
              <a:t>محافظت از سطوح</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30722" name="Picture 2"/>
          <p:cNvPicPr>
            <a:picLocks noChangeAspect="1" noChangeArrowheads="1"/>
          </p:cNvPicPr>
          <p:nvPr/>
        </p:nvPicPr>
        <p:blipFill>
          <a:blip r:embed="rId3"/>
          <a:srcRect/>
          <a:stretch>
            <a:fillRect/>
          </a:stretch>
        </p:blipFill>
        <p:spPr bwMode="auto">
          <a:xfrm>
            <a:off x="1066800" y="1295400"/>
            <a:ext cx="7445123" cy="2140244"/>
          </a:xfrm>
          <a:prstGeom prst="rect">
            <a:avLst/>
          </a:prstGeom>
          <a:noFill/>
          <a:ln w="9525">
            <a:noFill/>
            <a:miter lim="800000"/>
            <a:headEnd/>
            <a:tailEnd/>
          </a:ln>
          <a:effectLst/>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فصل پنجم: مصالح</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smtClean="0"/>
              <a:t>کلیات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1800" b="1" dirty="0" smtClean="0"/>
              <a:t>در مورد مصالح مصرفی ساختمانھای مشمول این مبحث رعایت مواردکلی زیر الزامی است:</a:t>
            </a:r>
          </a:p>
          <a:p>
            <a:pPr algn="just" rtl="1"/>
            <a:r>
              <a:rPr lang="fa-IR" sz="1800" b="1" dirty="0" smtClean="0"/>
              <a:t>-با به کار بردن مصالح سازه ای با نسبت بالای مقاومت به وزن و مصالح غیرسازه ای سبک، وزن ساختمان به</a:t>
            </a:r>
            <a:r>
              <a:rPr lang="en-US" sz="1800" b="1" dirty="0" smtClean="0"/>
              <a:t> </a:t>
            </a:r>
            <a:r>
              <a:rPr lang="fa-IR" sz="1800" b="1" dirty="0" smtClean="0"/>
              <a:t>حداقل رسانیده شود.</a:t>
            </a:r>
          </a:p>
          <a:p>
            <a:pPr algn="just" rtl="1"/>
            <a:r>
              <a:rPr lang="fa-IR" sz="1800" b="1" dirty="0" smtClean="0"/>
              <a:t>-با به کار بردن مصالح مناسب، آرایش صحیح عناصر سازه ای و اتصال مناسب آنھا شکل پذیری کافی برای</a:t>
            </a:r>
            <a:r>
              <a:rPr lang="en-US" sz="1800" b="1" dirty="0" smtClean="0"/>
              <a:t> </a:t>
            </a:r>
            <a:r>
              <a:rPr lang="fa-IR" sz="1800" b="1" dirty="0" smtClean="0"/>
              <a:t>ساختمان تأمین گردد .منظور از شکل پذیری ساختمان، قابلیت تغییر شکل اجزای ساختمان قبل از رسیدن به</a:t>
            </a:r>
            <a:r>
              <a:rPr lang="en-US" sz="1800" b="1" dirty="0" smtClean="0"/>
              <a:t> </a:t>
            </a:r>
            <a:r>
              <a:rPr lang="fa-IR" sz="1800" b="1" dirty="0" smtClean="0"/>
              <a:t>حد گسیختگی است.</a:t>
            </a:r>
          </a:p>
          <a:p>
            <a:pPr algn="just" rtl="1"/>
            <a:r>
              <a:rPr lang="fa-IR" sz="1800" b="1" dirty="0" smtClean="0"/>
              <a:t>-کلیه مصالح مصرفی در سا ختمانھای مشمول این مبحث باید به گونه ای انبار شوند که در زمان استفاده</a:t>
            </a:r>
            <a:r>
              <a:rPr lang="en-US" sz="1800" b="1" dirty="0" smtClean="0"/>
              <a:t> </a:t>
            </a:r>
            <a:r>
              <a:rPr lang="fa-IR" sz="1800" b="1" dirty="0" smtClean="0"/>
              <a:t>تمیز و از نظر فنی برای استفاده موردنظر مناسب باشند.</a:t>
            </a:r>
          </a:p>
          <a:p>
            <a:pPr algn="just" rtl="1"/>
            <a:r>
              <a:rPr lang="fa-IR" sz="1800" b="1" dirty="0" smtClean="0"/>
              <a:t>ھمچنین لازم است مصالح مصرفی در ساخت ساختمانھای مشمول این مبحث علاوه بر ویژگیھای مندرج در</a:t>
            </a:r>
            <a:r>
              <a:rPr lang="en-US" sz="1800" b="1" dirty="0" smtClean="0"/>
              <a:t> </a:t>
            </a:r>
            <a:r>
              <a:rPr lang="fa-IR" sz="1800" b="1" dirty="0" smtClean="0"/>
              <a:t>مبحث پنجم مقررات ملی ساختمان، دارای مشخصات این بخش نیز باشند.</a:t>
            </a:r>
            <a:endParaRPr lang="en-US" sz="1800" b="1" dirty="0" smtClean="0"/>
          </a:p>
          <a:p>
            <a:pPr algn="just" rtl="1"/>
            <a:r>
              <a:rPr lang="fa-IR" sz="1800" b="1" dirty="0" smtClean="0"/>
              <a:t>در صورتی که برای مصالحی در</a:t>
            </a:r>
            <a:r>
              <a:rPr lang="en-US" sz="1800" b="1" dirty="0" smtClean="0"/>
              <a:t> </a:t>
            </a:r>
            <a:r>
              <a:rPr lang="fa-IR" sz="1800" b="1" dirty="0" smtClean="0"/>
              <a:t>این بخش و مبحث مذکور، ضوابطی تصریح نشده باشد، کیفیت مصالح باید بر مبنای نتایج آزمایشھای مناسب</a:t>
            </a:r>
            <a:r>
              <a:rPr lang="en-US" sz="1800" b="1" dirty="0" smtClean="0"/>
              <a:t> </a:t>
            </a:r>
            <a:r>
              <a:rPr lang="fa-IR" sz="1800" b="1" dirty="0" smtClean="0"/>
              <a:t>تعیین شده و به تأیید دستگاه نظارت برسد.</a:t>
            </a:r>
            <a:endParaRPr lang="en-US" sz="1800" b="1"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خشت</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400" b="1" dirty="0" smtClean="0"/>
              <a:t>١- سطوح خشت باید صاف باشد.</a:t>
            </a:r>
          </a:p>
          <a:p>
            <a:pPr algn="just" rtl="1"/>
            <a:r>
              <a:rPr lang="fa-IR" sz="2400" b="1" dirty="0" smtClean="0"/>
              <a:t>٢-مقاومت فشاری خشت باید حداقل ١٢ کیلوگرم بر سانتیمتر مربع باشد.</a:t>
            </a:r>
          </a:p>
          <a:p>
            <a:pPr algn="just" rtl="1"/>
            <a:r>
              <a:rPr lang="fa-IR" sz="2400" b="1" dirty="0" smtClean="0"/>
              <a:t>٣- خشت باید در محیطی که در معرض باد نبوده و احتمال ریزش برف و باران بر روی آن وجود دارد خشک گردد به طوری که رطوبت آن کمتر از ٤درصد باشد.</a:t>
            </a:r>
          </a:p>
          <a:p>
            <a:pPr algn="just" rtl="1"/>
            <a:r>
              <a:rPr lang="fa-IR" sz="2400" b="1" dirty="0" smtClean="0"/>
              <a:t>٤-ابعاد خشت ھا از 5*20*20 تا 6*25*25 سانتیمتر و باید ھم اندازه ھم باشند.</a:t>
            </a:r>
            <a:endParaRPr lang="en-US" sz="2400" b="1"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سنگ</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1800" b="1" dirty="0" smtClean="0"/>
              <a:t>١- سنگ مصرفی در ساخت خانه ھای سنگی از کوه تأمین می شود و در صورت بزرگ بودن باید به وسیله پتک یا دیگر ابزار دستی به قطعات کوچکتر تقسیم شود.</a:t>
            </a:r>
          </a:p>
          <a:p>
            <a:pPr algn="just" rtl="1"/>
            <a:r>
              <a:rPr lang="fa-IR" sz="1800" b="1" dirty="0" smtClean="0"/>
              <a:t>٢-وزن قطعه سنگ مورد مصرف برای ساخت دیوار سنگی بایددر حدی باشد که یک نفر بتواند آن را برداشته و در دیوار جای دھد.</a:t>
            </a:r>
          </a:p>
          <a:p>
            <a:pPr algn="just" rtl="1"/>
            <a:r>
              <a:rPr lang="fa-IR" sz="1800" b="1" dirty="0" smtClean="0"/>
              <a:t>٣- سنگھایی که در ساخت اعضای باربر مانند دیوارھای باربر، دیوارھای حائل و شالوده ھا به کار برده می شوند باید از نظر ظاھر یکنواخت و بدون ترک بوده و فاقد رگه ھای سست و سایر کانی ھایی باشند که بر اثر عوامل جوی و ھوازدگی خراب شده و به استحکام سنگھا لطمه می زنند.</a:t>
            </a:r>
          </a:p>
          <a:p>
            <a:pPr algn="just" rtl="1"/>
            <a:r>
              <a:rPr lang="fa-IR" sz="1800" b="1" dirty="0" smtClean="0"/>
              <a:t>٤-استفاده از قلوه سنگ مجاز نیست مگر اینکه به صورت شکسته و در ابعاد موردنظر این فصل مصرف شوند.</a:t>
            </a:r>
          </a:p>
          <a:p>
            <a:pPr algn="just" rtl="1"/>
            <a:r>
              <a:rPr lang="fa-IR" sz="1800" b="1" dirty="0" smtClean="0"/>
              <a:t>٥-ایجاد قطعه سنگ مصرفی باید حداقل ١٥ سانتیمتر و حداکثر به اندازه پھنای دیوار باشد.</a:t>
            </a:r>
          </a:p>
          <a:p>
            <a:pPr algn="just" rtl="1"/>
            <a:r>
              <a:rPr lang="fa-IR" sz="1800" b="1" dirty="0" smtClean="0"/>
              <a:t>٦-استفاده از سنگھای کھنه در صورتی که با شرایط این فصل منطبق باشند مجاز است.</a:t>
            </a:r>
            <a:endParaRPr lang="en-US" sz="1800" b="1"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ملات</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400" b="1" dirty="0" smtClean="0"/>
              <a:t>١-در ساخت ساختمانھای خشتی استفاده از ملات گل، کاھگل و گل آھک مجاز است.</a:t>
            </a:r>
          </a:p>
          <a:p>
            <a:pPr algn="just" rtl="1"/>
            <a:r>
              <a:rPr lang="fa-IR" sz="2400" b="1" dirty="0" smtClean="0"/>
              <a:t>٢-در ساخت ساختمانھای سنگی استفاده از ملات گل مجاز نیست و باید از ملاتھای گل آھک، ماسه سیمان و ماسه سیمان آھک استفاده شود.</a:t>
            </a:r>
            <a:endParaRPr lang="en-US" sz="2400" b="1"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گل و کاهگل</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400" b="1" dirty="0" smtClean="0"/>
              <a:t>ملات گل از اختلاط خوب خاک و آب و ورز دادن کامل آن ساخته می شود .این ملات پ س از خشک شدن جمع شده و ترک می خورد.</a:t>
            </a:r>
          </a:p>
          <a:p>
            <a:pPr algn="just" rtl="1"/>
            <a:r>
              <a:rPr lang="fa-IR" sz="2400" b="1" dirty="0" smtClean="0"/>
              <a:t>از ملات گل فقط باید به عنوان لایه بستر (ملات بین ردیفھای مختلف )در دیوارھای خشتی استفاده شود .</a:t>
            </a:r>
          </a:p>
          <a:p>
            <a:pPr algn="just" rtl="1"/>
            <a:r>
              <a:rPr lang="fa-IR" sz="2400" b="1" dirty="0" smtClean="0"/>
              <a:t>برای جلوگیری از ترک خوردن ملات گل پس از خشک شدن به آن کاه میافزایند .</a:t>
            </a:r>
          </a:p>
          <a:p>
            <a:pPr algn="just" rtl="1"/>
            <a:r>
              <a:rPr lang="fa-IR" sz="2400" b="1" dirty="0" smtClean="0"/>
              <a:t>برای ساختن ھر متر مکعب کاھگل حدود ٤٥تا ٥٠ کیلوگرم کاه لازم است.</a:t>
            </a:r>
          </a:p>
          <a:p>
            <a:pPr algn="just" rtl="1"/>
            <a:r>
              <a:rPr lang="fa-IR" sz="2400" b="1" dirty="0" smtClean="0"/>
              <a:t>از ملات کاھگل فقط برای ساخت خشت و اندودکاری دیوارھا و پوشش بام استفاده می شود.</a:t>
            </a:r>
            <a:endParaRPr lang="en-US" sz="2400" b="1" dirty="0"/>
          </a:p>
        </p:txBody>
      </p:sp>
    </p:spTree>
  </p:cSld>
  <p:clrMapOvr>
    <a:masterClrMapping/>
  </p:clrMapOvr>
  <p:transition>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گل آهک</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400" b="1" dirty="0" smtClean="0"/>
              <a:t>نسبت حجمی خاک و آھک در ساخت ملات گل آھک ١:٣ ( یک حجم آھک و سه حجم خاک )است.</a:t>
            </a:r>
          </a:p>
          <a:p>
            <a:pPr algn="just" rtl="1"/>
            <a:r>
              <a:rPr lang="fa-IR" sz="2400" b="1" dirty="0" smtClean="0"/>
              <a:t>برای ساخت این ملات باید نخست آھک را درون آب اختلاط پاشیده و به صورت شیره آھک درآورده و سپس به خاک افزوده و بخوبی مخلوط نمود.</a:t>
            </a:r>
            <a:endParaRPr lang="en-US" sz="2400" b="1" dirty="0"/>
          </a:p>
        </p:txBody>
      </p:sp>
    </p:spTree>
  </p:cSld>
  <p:clrMapOvr>
    <a:masterClrMapping/>
  </p:clrMapOvr>
  <p:transition>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ماسه آهک</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400" b="1" dirty="0" smtClean="0"/>
              <a:t>نسبت حجمی ماسه و آھک در ساخت ملات ماسه آھک ١:٣ ( یک حجم آھک و سه حجم ماسه )است.</a:t>
            </a:r>
          </a:p>
          <a:p>
            <a:pPr algn="just" rtl="1"/>
            <a:r>
              <a:rPr lang="fa-IR" sz="2400" b="1" dirty="0" smtClean="0"/>
              <a:t>برای ساخت این ملات نیز باید ھمانند ملات گل آھک عمل کرد .توصیه میشود در ساخت این ملات از ماسه کفی(خاکدار)استفاده شود.</a:t>
            </a:r>
          </a:p>
          <a:p>
            <a:pPr algn="just" rtl="1"/>
            <a:r>
              <a:rPr lang="fa-IR" sz="2400" b="1" dirty="0" smtClean="0"/>
              <a:t>از این ملات فقط می توان برای اندود سطوح استفاده کرد.</a:t>
            </a:r>
            <a:endParaRPr lang="en-US" sz="2400" b="1" dirty="0"/>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ماسه سیمان</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١-بھترین نسبت ملات ماسه سیمان برای ساخت دیوارھای ساختمانھای آجری ، بلوکی و سنگی ملات با نسبت یک حجم سیمان به ٣حجم ماسه ( ١:٣ )است.</a:t>
            </a:r>
          </a:p>
          <a:p>
            <a:pPr algn="just" rtl="1"/>
            <a:r>
              <a:rPr lang="fa-IR" sz="2000" b="1" dirty="0" smtClean="0"/>
              <a:t>٢-برای زودگیر کردن ملات ماسه سیمان نباید به آن گچ افزود.</a:t>
            </a:r>
          </a:p>
          <a:p>
            <a:pPr algn="just" rtl="1"/>
            <a:r>
              <a:rPr lang="fa-IR" sz="2000" b="1" dirty="0" smtClean="0"/>
              <a:t>٣-مواد سولفاتی موجود در ماسه، آب و یا آجر مصرفی باعث از ھم گسیختگی ملات و کار آجری می شود.</a:t>
            </a:r>
          </a:p>
          <a:p>
            <a:pPr algn="just" rtl="1"/>
            <a:r>
              <a:rPr lang="fa-IR" sz="2000" b="1" dirty="0" smtClean="0"/>
              <a:t>٤-در مواقعی که خطر حمله سولفاتھا مطرح است باید از نوع ٢ سیمان ضد سولفات یا نوع ٥یا سیمان پوزولانی استفاده شود.</a:t>
            </a:r>
          </a:p>
          <a:p>
            <a:pPr algn="just" rtl="1"/>
            <a:r>
              <a:rPr lang="fa-IR" sz="2000" b="1" dirty="0" smtClean="0"/>
              <a:t>٥-برای شمشه گیری ملاتھای سیمان ھرگز نباید از گچ استفاده کرد.</a:t>
            </a:r>
          </a:p>
          <a:p>
            <a:pPr algn="just" rtl="1"/>
            <a:r>
              <a:rPr lang="fa-IR" sz="2000" b="1" dirty="0" smtClean="0"/>
              <a:t>٦-از افزودن خاک به ملات ماسه سیمان باید خودداری کرد.</a:t>
            </a:r>
          </a:p>
          <a:p>
            <a:pPr algn="just" rtl="1"/>
            <a:r>
              <a:rPr lang="fa-IR" sz="2000" b="1" dirty="0" smtClean="0"/>
              <a:t>٧-ملات ماسه سیمان بعد از گیرش سیمان و سخت شدن نباید مورد استفاده قرار گیرد .</a:t>
            </a:r>
            <a:endParaRPr lang="en-US" sz="2000" b="1"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checkerboard(across)">
                                      <p:cBhvr>
                                        <p:cTn id="4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ماسه- سیمان -آھک (باتارد)</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ctr" rtl="1"/>
            <a:r>
              <a:rPr lang="fa-IR" sz="3200" dirty="0" smtClean="0"/>
              <a:t>بھترین نسبت برای ساخت ملات باتارد نسبت ٨حجم ماسه، دو حجم سیمان و یک حجم آھک است.</a:t>
            </a:r>
            <a:endParaRPr lang="en-US" sz="3200" b="1"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سارج</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از ملاتھای ساروج سرد و گرم به شرح زیر میتوان در اندودکاری و آب بندی قسمتھای مختلف ساختمان استفاده کرد:</a:t>
            </a:r>
          </a:p>
          <a:p>
            <a:pPr algn="just" rtl="1"/>
            <a:r>
              <a:rPr lang="fa-IR" sz="2000" b="1" dirty="0" smtClean="0"/>
              <a:t>ساروج گرم:</a:t>
            </a:r>
          </a:p>
          <a:p>
            <a:pPr algn="just" rtl="1"/>
            <a:r>
              <a:rPr lang="fa-IR" sz="2000" b="1" dirty="0" smtClean="0"/>
              <a:t>ساروج ھای گرم در واقع نوعی ملات آھک آبی ھستندکه از پختن و آسیاب کردن سنگھای آھکی رس دار و افزودن آب به آن به دست می آیند.</a:t>
            </a:r>
          </a:p>
          <a:p>
            <a:pPr algn="just" rtl="1"/>
            <a:r>
              <a:rPr lang="fa-IR" sz="2000" b="1" dirty="0" smtClean="0"/>
              <a:t>ساروج سرد:</a:t>
            </a:r>
          </a:p>
          <a:p>
            <a:pPr algn="just" rtl="1"/>
            <a:r>
              <a:rPr lang="fa-IR" sz="2000" b="1" dirty="0" smtClean="0"/>
              <a:t>ملات ساروج سرد اختلاط ١٠ حجم گرد آھک شکفته، ٧حجم خاکستر الک شده، یک حجم خاک رس، یک حجم ماسه بادی و ٣٠تا ٥٠ کیلوگرم لویی یا پشم بز ( برای ھر مترمکعب ملات )، آب مقدارکافی و ورز دادن آنھا به دست می آید.</a:t>
            </a:r>
          </a:p>
          <a:p>
            <a:pPr algn="just" rtl="1"/>
            <a:endParaRPr lang="en-US" sz="2000" b="1"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مصالح چوبی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dirty="0" smtClean="0"/>
              <a:t>١- چوبھای مصرفی باید خشک بوده و از نظر بافت و ظاھر یکنواخت، تمیز و عاری از ترک و صمغ، فاقد تابیدگی، پیچیدگی و سایر معایب باشد.</a:t>
            </a:r>
          </a:p>
          <a:p>
            <a:pPr algn="just" rtl="1"/>
            <a:r>
              <a:rPr lang="fa-IR" sz="2000" dirty="0" smtClean="0"/>
              <a:t>٢-وجود گره، بن شاخه، تجمع شیره گیاھی و صمغ در روی سطوح مرئی چوب نشانه نامرغوب بودن آن است.</a:t>
            </a:r>
          </a:p>
          <a:p>
            <a:pPr algn="just" rtl="1"/>
            <a:r>
              <a:rPr lang="fa-IR" sz="2000" dirty="0" smtClean="0"/>
              <a:t>٣-رطوبت الوارھای مصرفی باید با شرایط اقلیمی و مورد مصرف تناسب داشته باشد.</a:t>
            </a:r>
          </a:p>
          <a:p>
            <a:pPr algn="just" rtl="1"/>
            <a:r>
              <a:rPr lang="fa-IR" sz="2000" dirty="0" smtClean="0"/>
              <a:t>٤- خصوصیات فیزیکی و مکانیکی چوبھای طبیعی، در انواع مختلف گونه ھای چوب و در جھات طولی، شعاعی و مماسی تنه درخت با یکدیگر متفاوتند، بنابراین ھنگام مصرف باید به این عوامل توجه کرد.</a:t>
            </a:r>
            <a:endParaRPr lang="en-US" sz="2000" b="1"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شن و ماسه</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١-مصالح سنگی بتن، باید سخت، تمیز و بادوام بوده و از ھرگونه پوسیدگی و لایه ھای ورم کننده یا منقبض شونده به ھنگام مجاورت با ھوا، مواد شیمیایی مضر برای بتن و میلگرد ھا، لایه ھای سست، کلوخه ھای رسی و ذرات میکا عاری باشد.</a:t>
            </a:r>
          </a:p>
          <a:p>
            <a:pPr algn="just" rtl="1"/>
            <a:r>
              <a:rPr lang="fa-IR" sz="2000" b="1" dirty="0" smtClean="0"/>
              <a:t>٢-مواد سنگی سست، ورقه ورقه، پھن و نازک یا دراز، ناپایدار در برابر ھوازدگی، حمله مواد شیمیایی و واکنش زای قلیایی نباید در بتن به مصرف برسد.</a:t>
            </a:r>
          </a:p>
          <a:p>
            <a:pPr algn="just" rtl="1"/>
            <a:r>
              <a:rPr lang="fa-IR" sz="2000" b="1" dirty="0" smtClean="0"/>
              <a:t>٣- جنس شن و ماسه باید از سنگھای سیلیسی، سیلیکاتی یا آھکی سخت باشد.</a:t>
            </a:r>
          </a:p>
          <a:p>
            <a:pPr algn="just" rtl="1"/>
            <a:r>
              <a:rPr lang="fa-IR" sz="2000" b="1" dirty="0" smtClean="0"/>
              <a:t>٤-بارگیری، حمل و تخلیه مواد سنگی بتن و انبار کردن آنھا باید به نحوی باشد که مواد خارجی در آنھا نفوذ نکنند و دانه ھای ریز و درشت از یکدیگر جدا نشوند.</a:t>
            </a:r>
            <a:endParaRPr lang="en-US" sz="2000" b="1"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سیمان</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 سیمان مصرفی باید ویژگیھای استاندارد ملی ایران شماره ٣٨٩ راداشته باشد.</a:t>
            </a:r>
          </a:p>
          <a:p>
            <a:pPr algn="just" rtl="1"/>
            <a:r>
              <a:rPr lang="fa-IR" sz="2000" b="1" dirty="0" smtClean="0"/>
              <a:t>٢-از انواع سیمان پرتلند، با توجه به ملاحظات طراحی و شرایط محیطی می توان در ساخت و ساز استفاده کرد.</a:t>
            </a:r>
          </a:p>
          <a:p>
            <a:pPr algn="just" rtl="1"/>
            <a:r>
              <a:rPr lang="fa-IR" sz="2000" b="1" dirty="0" smtClean="0"/>
              <a:t>٣-نگھداری سیمان فله فقط در سیلو مجاز است.ھنگام تغییر نوع سیمان، سیلوھا باید کاملا تمیز شوند.</a:t>
            </a:r>
          </a:p>
          <a:p>
            <a:pPr algn="just" rtl="1"/>
            <a:r>
              <a:rPr lang="fa-IR" sz="2000" b="1" dirty="0" smtClean="0"/>
              <a:t>٤-نگھداری و ذخیره سیمان در نقاطی که رطوبت نسبی ھوا از ٩٠ درصد بیشتر است، نباید در کیسه بیش از ٦ھفته و در سیلوھای مناسب ا ز سه ماه تجاوز کند.</a:t>
            </a:r>
          </a:p>
          <a:p>
            <a:pPr algn="just" rtl="1"/>
            <a:r>
              <a:rPr lang="fa-IR" sz="2000" b="1" dirty="0" smtClean="0"/>
              <a:t>٥- سیمانی که برای مدت زیادی انبار شود، ممکن است به صورت کلوخه ھای فشرده درآید .این گونه سیمان را می توان با غلتاندن کیسه ھا روی کف اصلاح کرد .چنانچه با یک بار غلتاندن کلوخه ھا باز شود سیمان قابل مصرف است.</a:t>
            </a:r>
          </a:p>
          <a:p>
            <a:pPr algn="just" rtl="1"/>
            <a:r>
              <a:rPr lang="fa-IR" sz="2000" b="1" dirty="0" smtClean="0"/>
              <a:t>٦-مصرف سیمان بنایی در ساخت بتن و بتن مسلح مجاز نیست.</a:t>
            </a:r>
            <a:endParaRPr lang="en-US" sz="2000" b="1"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آهک ساختمانی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١-آھک مصرفی باید ویژگیھای استاندارد ملی ایران شماره ٢٨٩ را داشته باشد.</a:t>
            </a:r>
          </a:p>
          <a:p>
            <a:pPr algn="just" rtl="1"/>
            <a:r>
              <a:rPr lang="fa-IR" sz="2000" b="1" dirty="0" smtClean="0"/>
              <a:t>٢-آھک مصرفی در ساخت ملات، شفته و خشتھای تثبیت شده معمولا از نوع آھک سفید است.</a:t>
            </a:r>
          </a:p>
          <a:p>
            <a:pPr algn="just" rtl="1"/>
            <a:r>
              <a:rPr lang="fa-IR" sz="2000" b="1" dirty="0" smtClean="0"/>
              <a:t>٣-آھک باید در جایی مصرف شود که ھوا نمناک باشد و یا دست کم آن را به مدت ٢٨روز با وسایلی نمناک نگه دارند.</a:t>
            </a:r>
          </a:p>
          <a:p>
            <a:pPr algn="just" rtl="1"/>
            <a:r>
              <a:rPr lang="fa-IR" sz="2000" b="1" dirty="0" smtClean="0"/>
              <a:t>٤-آھک باید به صورت شیره آھک به مصرف برسد.</a:t>
            </a:r>
            <a:endParaRPr lang="en-US" sz="2000" b="1" dirty="0"/>
          </a:p>
        </p:txBody>
      </p:sp>
    </p:spTree>
  </p:cSld>
  <p:clrMapOvr>
    <a:masterClrMapping/>
  </p:clrMapOvr>
  <p:transition>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آب</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١-آب مصرفی باید تمیز و صاف بوده و عاری از مقادیر زیان آور روغنھا، اسیدھا، قلیاییھا، نمکھا، مواد قندی،مواد آلی یا مواد دیگری باشد که ممکن است به کارھای ساختمانی به ویژه بتن،ملاتھا و میلگردھا و سایر اقلام مدفون در کار آسیب برسانند.</a:t>
            </a:r>
          </a:p>
          <a:p>
            <a:pPr algn="just" rtl="1"/>
            <a:r>
              <a:rPr lang="fa-IR" sz="2000" b="1" dirty="0" smtClean="0"/>
              <a:t>٢-معمولا آب آشامیدنی زلال ، بی بو، بی رنگ، بدون طعم را می توان در ساخت بتن و ملاتھا در مناطقی که خطر خوردگی وجود نداشته باشد مورد استفاده قرار داد.</a:t>
            </a:r>
          </a:p>
          <a:p>
            <a:pPr algn="just" rtl="1"/>
            <a:r>
              <a:rPr lang="fa-IR" sz="2000" b="1" dirty="0" smtClean="0"/>
              <a:t>٣-مصرف آبی که دارای خزه است برای ساختن بتن و ملاتھا مناسب نیست.</a:t>
            </a:r>
          </a:p>
          <a:p>
            <a:pPr algn="just" rtl="1"/>
            <a:r>
              <a:rPr lang="fa-IR" sz="2000" b="1" dirty="0" smtClean="0"/>
              <a:t>٤-آب گل آلود را باید قبل از مصرف از میان حوضچه ھای ته نشین گذراند و یا با روشھای دیگر تصفیه کرد تامقدار لای و رس آن کاھش یابد.</a:t>
            </a:r>
            <a:endParaRPr lang="en-US" sz="2000" b="1" dirty="0"/>
          </a:p>
        </p:txBody>
      </p:sp>
    </p:spTree>
  </p:cSld>
  <p:clrMapOvr>
    <a:masterClrMapping/>
  </p:clrMapOvr>
  <p:transition>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آجر</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1600" b="1" dirty="0" smtClean="0"/>
              <a:t>١-کاملا پخته، یکنواخت و سخت باشد و در برخورد با آجر دیگر صدای زنگ بدھد.</a:t>
            </a:r>
          </a:p>
          <a:p>
            <a:pPr algn="just" rtl="1"/>
            <a:r>
              <a:rPr lang="fa-IR" sz="1600" b="1" dirty="0" smtClean="0"/>
              <a:t>٢-وجود یک ترک عمیق در سطح متوسط آجر حداکثر تا عمق ٤٠ میلیمتر در آجر پشت کار بلامانع است.</a:t>
            </a:r>
          </a:p>
          <a:p>
            <a:pPr algn="just" rtl="1"/>
            <a:r>
              <a:rPr lang="fa-IR" sz="1600" b="1" dirty="0" smtClean="0"/>
              <a:t>٣-در آجرھای سوراخدار، سوراخھا باید عمود بر سطح بزرگ آجر و به طور یکنواخت در سطح آن توزیع شده و</a:t>
            </a:r>
          </a:p>
          <a:p>
            <a:pPr algn="just" rtl="1"/>
            <a:r>
              <a:rPr lang="fa-IR" sz="1600" b="1" dirty="0" smtClean="0"/>
              <a:t>جمع مساحت آنھا بین ٢٥تا ٤٠ درصد سطح آجر باشد .اندازه سوراخھای مربع و قطر سوراخھای دایره ای باید حداکثر به ٢٦ میلیمتر محدود شود و ضخامت جداره بین سوراخ و لبه آجر بی ش از ١٥ میلیمتر و فاصله بین دو سوراخ بی ش از ١٠ میلیمتر باشد.</a:t>
            </a:r>
          </a:p>
          <a:p>
            <a:pPr algn="just" rtl="1"/>
            <a:r>
              <a:rPr lang="fa-IR" sz="1600" b="1" dirty="0" smtClean="0"/>
              <a:t>٤-وزن ویژه ھر دو نوع آجر نبایداز 1.7 و وزن فضایی آنها از 1.3 گرم بر سانتیمتر مکعب کمتر شود.</a:t>
            </a:r>
          </a:p>
          <a:p>
            <a:pPr algn="just" rtl="1"/>
            <a:r>
              <a:rPr lang="fa-IR" sz="1600" b="1" dirty="0" smtClean="0"/>
              <a:t>٥-مقاومت فشاری آجرھای دستی از ٨و ماشینی از 8.5 مگاپاسکال کمتر نباشد.</a:t>
            </a:r>
          </a:p>
          <a:p>
            <a:pPr algn="just" rtl="1"/>
            <a:r>
              <a:rPr lang="fa-IR" sz="1600" b="1" dirty="0" smtClean="0"/>
              <a:t>٦- ضخامت تیغه ھای آجری مجوف دیواری و بلوک سفالی سقفی باید حداقل ٨ سانتیمتر باشد.</a:t>
            </a:r>
          </a:p>
          <a:p>
            <a:pPr algn="just" rtl="1"/>
            <a:r>
              <a:rPr lang="fa-IR" sz="1600" b="1" dirty="0" smtClean="0"/>
              <a:t>٧-آجر مصرفی در مناطق دارای یخبندان باید در برابر یخبندان مقاومت داشته باشد.</a:t>
            </a:r>
          </a:p>
          <a:p>
            <a:pPr algn="just" rtl="1"/>
            <a:r>
              <a:rPr lang="fa-IR" sz="1600" b="1" dirty="0" smtClean="0"/>
              <a:t>٨-مصرف تکه آجر شامل سه قد، نیمه، چارک و کلوک در قسمتھای درونی و پشت کار و نیز در مکانھایی که مصرف آجر مقدور نیست، مجاز نمی باشد.</a:t>
            </a:r>
          </a:p>
          <a:p>
            <a:pPr algn="just" rtl="1"/>
            <a:r>
              <a:rPr lang="fa-IR" sz="1600" b="1" dirty="0" smtClean="0"/>
              <a:t>٩- جذب آب آجر باید بین ٨تا ٢١ درصد باشد .در غیر این صورت مصرف آن فقط در اجزایی مجاز است که در معرض رطوبت قرار نمی گیرد.</a:t>
            </a:r>
            <a:endParaRPr lang="en-US" sz="1600" b="1"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checkerboard(across)">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checkerboard(across)">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5">
                                            <p:txEl>
                                              <p:pRg st="8" end="8"/>
                                            </p:txEl>
                                          </p:spTgt>
                                        </p:tgtEl>
                                        <p:attrNameLst>
                                          <p:attrName>style.visibility</p:attrName>
                                        </p:attrNameLst>
                                      </p:cBhvr>
                                      <p:to>
                                        <p:strVal val="visible"/>
                                      </p:to>
                                    </p:set>
                                    <p:animEffect transition="in" filter="checkerboard(across)">
                                      <p:cBhvr>
                                        <p:cTn id="52" dur="500"/>
                                        <p:tgtEl>
                                          <p:spTgt spid="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Effect transition="in" filter="checkerboard(across)">
                                      <p:cBhvr>
                                        <p:cTn id="57"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بلوکهای سقفی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400" b="1" dirty="0" smtClean="0"/>
              <a:t>ضخامت تیغه ھای بلوک سقفی باید حداقل ١٥ میلیمتر و عرض تکیه گاه بلوک سقفی بر روی تیرچه دست کم 17.5 میلی متر باشد</a:t>
            </a:r>
            <a:endParaRPr lang="en-US" sz="2400" b="1"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میلگرد</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١-برای تسلیح عمودی و افقی دیوارھا و کلافھا میلگرد آجدار با حداکثر مقاومت تسلیم ٤٠٠ مگاپاسکال قابل استفاده است.</a:t>
            </a:r>
          </a:p>
          <a:p>
            <a:pPr algn="just" rtl="1"/>
            <a:r>
              <a:rPr lang="fa-IR" sz="2000" b="1" dirty="0" smtClean="0"/>
              <a:t>٢-میلگردھای فولادی باید تمیز و عاری از پوسته ھای رنگ، روغن، گرد و خاک و ھر نوع  آلودگی دیگر باشند، زیرا این آلودگیھا سبب کاھش چسبندگی بین ماده چسباننده ( بتن، دوغاب، ملات)و میلگرد می شود.</a:t>
            </a:r>
          </a:p>
          <a:p>
            <a:pPr algn="just" rtl="1"/>
            <a:r>
              <a:rPr lang="fa-IR" sz="2000" b="1" dirty="0" smtClean="0"/>
              <a:t>٣-استفاده از میلگردھای زنگ زده و پوسته شده مجاز نیست مگر اینکه با برس زدن یا ماسه پاشی کاملا تمیز شوند. سطح مقطع واقعی ضعیف شده باید در محاسبات در نظر گرفته شود.</a:t>
            </a:r>
            <a:endParaRPr lang="en-US" sz="2000" b="1" dirty="0"/>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فولادهای ساختمانی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١-قطعات فولادی اعم از نیمرخھای نورد شده و ورق باید از نواقصی که به مقاومت یا شکل ظاھری آنھا لطمه می زند، عاری باشند .استفاده از قطعات زنگ زده و پوسته پوسته شده مجاز نیست، مگر اینکه به وسیله ماسه پاشی یا برس زنی کاملا تمیز گردند .در این حالت چنانچه سطح مقطع نیمرخھا ضعیف شده باشد، سطح واقعی ضعیف شده باید در محاسبات منظور گردد.</a:t>
            </a:r>
          </a:p>
          <a:p>
            <a:pPr algn="just" rtl="1"/>
            <a:r>
              <a:rPr lang="fa-IR" sz="2000" b="1" dirty="0" smtClean="0"/>
              <a:t>٢-فولادھای غیراستاندارد و نامشخص را در صورت نداشتن عیوب سطحی و ظاھری میتوان در بخشھایی از ساختمان که دارای اھمیت زیاد نبوده و در مکانھایی که این فولادھا روی استحکام ساختمان اثر سوئی به جا نمی گذارد مانند اجزای غیرسازه ای به کار برد.</a:t>
            </a:r>
            <a:endParaRPr lang="en-US" sz="2000" b="1"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گچ ساختمانی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در مناطقی که رطوبت نسبی ھوا در بیشتر اوقات بیش از ٦٠ درصد باشد، مصرف گچ مناسب نیست.</a:t>
            </a: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خاک رس	</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 خاک رس مصرفی باید عاری از مواد آلی، ریشه گیاھان و سایر بقایای نباتی باشد.</a:t>
            </a:r>
          </a:p>
          <a:p>
            <a:pPr algn="just" rtl="1"/>
            <a:r>
              <a:rPr lang="fa-IR" sz="2000" b="1" dirty="0" smtClean="0"/>
              <a:t>٢-وجود دانه ھای سنگی درشت برای مصرف خاک در شفته مشروط بر اینکه دانه بندی مناسبی داشته باشد، بلامانع است.</a:t>
            </a:r>
          </a:p>
          <a:p>
            <a:pPr algn="just" rtl="1"/>
            <a:r>
              <a:rPr lang="fa-IR" sz="2000" b="1" dirty="0" smtClean="0"/>
              <a:t>٣-بھترین خاک برای ساختن شفته آھکی، خاک با دانه بندی پیوسته است که ریزدانه آن از ٢٥ درصد و خاک رس آن از ١٥ درصد خاک کمتر نباشد.</a:t>
            </a:r>
            <a:endParaRPr lang="en-US" sz="2000" b="1"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a:bodyPr>
          <a:lstStyle/>
          <a:p>
            <a:pPr algn="ctr"/>
            <a:r>
              <a:rPr lang="fa-IR" dirty="0" smtClean="0"/>
              <a:t>دوغاب</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
        <p:nvSpPr>
          <p:cNvPr id="5" name="Subtitle 2"/>
          <p:cNvSpPr>
            <a:spLocks noGrp="1"/>
          </p:cNvSpPr>
          <p:nvPr>
            <p:ph type="subTitle" idx="1"/>
          </p:nvPr>
        </p:nvSpPr>
        <p:spPr>
          <a:xfrm>
            <a:off x="762000" y="1371600"/>
            <a:ext cx="7772400" cy="4038600"/>
          </a:xfrm>
        </p:spPr>
        <p:txBody>
          <a:bodyPr>
            <a:noAutofit/>
          </a:bodyPr>
          <a:lstStyle/>
          <a:p>
            <a:pPr algn="just" rtl="1"/>
            <a:r>
              <a:rPr lang="fa-IR" sz="2000" b="1" dirty="0" smtClean="0"/>
              <a:t>١-ماده چسباننده برای دوغاب باید سیمان، آھک یا ھر دو باشد.</a:t>
            </a:r>
          </a:p>
          <a:p>
            <a:pPr algn="just" rtl="1"/>
            <a:r>
              <a:rPr lang="fa-IR" sz="2000" b="1" dirty="0" smtClean="0"/>
              <a:t>٢-آب دوغابباید به اندازه ای باشد که ھنگام دوغابریزی اجزای تشکیل دھنده آن از یکدیگر جدا نشوند.</a:t>
            </a:r>
          </a:p>
          <a:p>
            <a:pPr algn="just" rtl="1"/>
            <a:r>
              <a:rPr lang="fa-IR" sz="2000" b="1" dirty="0" smtClean="0"/>
              <a:t>٣-مقاومت فشاری دوغاب نباید از ١٤ مگاپاسکال کمتر باشد.</a:t>
            </a:r>
          </a:p>
          <a:p>
            <a:pPr algn="just" rtl="1"/>
            <a:r>
              <a:rPr lang="fa-IR" sz="2000" b="1" dirty="0" smtClean="0"/>
              <a:t>٤-دوغاب سیمانی باید درکمترین زمان ممکن بعد از اختلاط، مورد مصرف قرار گیرد .استفاده از دوغاب سیمانی که سیمان آن گیرش حاصل کرده و سخت شده، مجاز نیست .به ھر حال، نباید از دوغابی که از شروع اختلاط آن 1.5 ساعت گذشته است، استفاده گردد. </a:t>
            </a:r>
          </a:p>
          <a:p>
            <a:pPr algn="just" rtl="1"/>
            <a:r>
              <a:rPr lang="fa-IR" sz="2000" b="1" dirty="0" smtClean="0"/>
              <a:t>٥- لازم است از یخ زدن دوغاب سیمانی حداقل تا ٢٤ ساعت پ س از اجراء، جلوگیری شود.</a:t>
            </a:r>
            <a:endParaRPr lang="en-US" sz="2000" b="1" dirty="0"/>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915362"/>
          </a:xfrm>
        </p:spPr>
        <p:txBody>
          <a:bodyPr>
            <a:normAutofit fontScale="90000"/>
          </a:bodyPr>
          <a:lstStyle/>
          <a:p>
            <a:pPr algn="ctr"/>
            <a:r>
              <a:rPr lang="fa-IR" dirty="0" smtClean="0"/>
              <a:t>عکسهایی از اجرای ساختمانهای بنایی</a:t>
            </a:r>
            <a:endParaRPr lang="en-US"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3" descr="100"/>
          <p:cNvPicPr>
            <a:picLocks noChangeAspect="1" noChangeArrowheads="1"/>
          </p:cNvPicPr>
          <p:nvPr/>
        </p:nvPicPr>
        <p:blipFill>
          <a:blip r:embed="rId3"/>
          <a:srcRect/>
          <a:stretch>
            <a:fillRect/>
          </a:stretch>
        </p:blipFill>
        <p:spPr>
          <a:xfrm>
            <a:off x="685800" y="304800"/>
            <a:ext cx="7993063" cy="5445125"/>
          </a:xfrm>
          <a:prstGeom prst="rect">
            <a:avLst/>
          </a:prstGeom>
          <a:noFill/>
        </p:spPr>
      </p:pic>
    </p:spTree>
  </p:cSld>
  <p:clrMapOvr>
    <a:masterClrMapping/>
  </p:clrMapOvr>
  <p:transition>
    <p:wipe dir="d"/>
  </p:transition>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3" descr="102"/>
          <p:cNvPicPr>
            <a:picLocks noChangeAspect="1" noChangeArrowheads="1"/>
          </p:cNvPicPr>
          <p:nvPr/>
        </p:nvPicPr>
        <p:blipFill>
          <a:blip r:embed="rId3"/>
          <a:srcRect/>
          <a:stretch>
            <a:fillRect/>
          </a:stretch>
        </p:blipFill>
        <p:spPr>
          <a:xfrm>
            <a:off x="684213" y="549275"/>
            <a:ext cx="7775575" cy="5713413"/>
          </a:xfrm>
          <a:prstGeom prst="rect">
            <a:avLst/>
          </a:prstGeom>
          <a:noFill/>
        </p:spPr>
      </p:pic>
    </p:spTree>
  </p:cSld>
  <p:clrMapOvr>
    <a:masterClrMapping/>
  </p:clrMapOvr>
  <p:transition>
    <p:wipe dir="d"/>
  </p:transition>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3" descr="104"/>
          <p:cNvPicPr>
            <a:picLocks noChangeAspect="1" noChangeArrowheads="1"/>
          </p:cNvPicPr>
          <p:nvPr/>
        </p:nvPicPr>
        <p:blipFill>
          <a:blip r:embed="rId3"/>
          <a:srcRect/>
          <a:stretch>
            <a:fillRect/>
          </a:stretch>
        </p:blipFill>
        <p:spPr>
          <a:xfrm>
            <a:off x="684213" y="692150"/>
            <a:ext cx="7704137" cy="5399088"/>
          </a:xfrm>
          <a:prstGeom prst="rect">
            <a:avLst/>
          </a:prstGeom>
          <a:noFill/>
        </p:spPr>
      </p:pic>
    </p:spTree>
  </p:cSld>
  <p:clrMapOvr>
    <a:masterClrMapping/>
  </p:clrMapOvr>
  <p:transition>
    <p:dissolve/>
  </p:transition>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3" descr="122"/>
          <p:cNvPicPr>
            <a:picLocks noChangeAspect="1" noChangeArrowheads="1"/>
          </p:cNvPicPr>
          <p:nvPr/>
        </p:nvPicPr>
        <p:blipFill>
          <a:blip r:embed="rId3"/>
          <a:srcRect/>
          <a:stretch>
            <a:fillRect/>
          </a:stretch>
        </p:blipFill>
        <p:spPr>
          <a:xfrm>
            <a:off x="2411413" y="333375"/>
            <a:ext cx="4248150" cy="6021388"/>
          </a:xfrm>
          <a:prstGeom prst="rect">
            <a:avLst/>
          </a:prstGeom>
          <a:noFill/>
        </p:spPr>
      </p:pic>
    </p:spTree>
  </p:cSld>
  <p:clrMapOvr>
    <a:masterClrMapping/>
  </p:clrMapOvr>
  <p:transition>
    <p:wedge/>
  </p:transition>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7" name="Picture 3" descr="136"/>
          <p:cNvPicPr>
            <a:picLocks noChangeAspect="1" noChangeArrowheads="1"/>
          </p:cNvPicPr>
          <p:nvPr/>
        </p:nvPicPr>
        <p:blipFill>
          <a:blip r:embed="rId3"/>
          <a:srcRect/>
          <a:stretch>
            <a:fillRect/>
          </a:stretch>
        </p:blipFill>
        <p:spPr>
          <a:xfrm>
            <a:off x="468313" y="333375"/>
            <a:ext cx="8424862" cy="5730875"/>
          </a:xfrm>
          <a:prstGeom prst="rect">
            <a:avLst/>
          </a:prstGeom>
          <a:noFill/>
        </p:spPr>
      </p:pic>
    </p:spTree>
  </p:cSld>
  <p:clrMapOvr>
    <a:masterClrMapping/>
  </p:clrMapOvr>
  <p:transition/>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3" descr="142"/>
          <p:cNvPicPr>
            <a:picLocks noChangeAspect="1" noChangeArrowheads="1"/>
          </p:cNvPicPr>
          <p:nvPr/>
        </p:nvPicPr>
        <p:blipFill>
          <a:blip r:embed="rId3"/>
          <a:srcRect/>
          <a:stretch>
            <a:fillRect/>
          </a:stretch>
        </p:blipFill>
        <p:spPr>
          <a:xfrm>
            <a:off x="2285984" y="90488"/>
            <a:ext cx="4622800" cy="6767512"/>
          </a:xfrm>
          <a:prstGeom prst="rect">
            <a:avLst/>
          </a:prstGeom>
          <a:noFill/>
        </p:spPr>
      </p:pic>
    </p:spTree>
  </p:cSld>
  <p:clrMapOvr>
    <a:masterClrMapping/>
  </p:clrMapOvr>
  <p:transition>
    <p:circle/>
  </p:transition>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2" descr="144"/>
          <p:cNvPicPr>
            <a:picLocks noChangeAspect="1" noChangeArrowheads="1"/>
          </p:cNvPicPr>
          <p:nvPr/>
        </p:nvPicPr>
        <p:blipFill>
          <a:blip r:embed="rId3"/>
          <a:srcRect/>
          <a:stretch>
            <a:fillRect/>
          </a:stretch>
        </p:blipFill>
        <p:spPr>
          <a:xfrm>
            <a:off x="755650" y="404813"/>
            <a:ext cx="7848600" cy="5537200"/>
          </a:xfrm>
          <a:prstGeom prst="rect">
            <a:avLst/>
          </a:prstGeom>
          <a:noFill/>
        </p:spPr>
      </p:pic>
    </p:spTree>
  </p:cSld>
  <p:clrMapOvr>
    <a:masterClrMapping/>
  </p:clrMapOvr>
  <p:transition>
    <p:push dir="u"/>
  </p:transition>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5" name="Picture 4" descr="Picture4"/>
          <p:cNvPicPr>
            <a:picLocks noChangeAspect="1" noChangeArrowheads="1"/>
          </p:cNvPicPr>
          <p:nvPr/>
        </p:nvPicPr>
        <p:blipFill>
          <a:blip r:embed="rId3"/>
          <a:srcRect/>
          <a:stretch>
            <a:fillRect/>
          </a:stretch>
        </p:blipFill>
        <p:spPr bwMode="auto">
          <a:xfrm>
            <a:off x="457200" y="1219200"/>
            <a:ext cx="8229600" cy="4090987"/>
          </a:xfrm>
          <a:prstGeom prst="rect">
            <a:avLst/>
          </a:prstGeom>
          <a:noFill/>
          <a:ln w="9525">
            <a:noFill/>
            <a:miter lim="800000"/>
            <a:headEnd/>
            <a:tailEnd/>
          </a:ln>
        </p:spPr>
      </p:pic>
      <p:sp>
        <p:nvSpPr>
          <p:cNvPr id="8" name="Title 1"/>
          <p:cNvSpPr>
            <a:spLocks noGrp="1"/>
          </p:cNvSpPr>
          <p:nvPr>
            <p:ph type="ctrTitle"/>
          </p:nvPr>
        </p:nvSpPr>
        <p:spPr>
          <a:xfrm>
            <a:off x="762000" y="533400"/>
            <a:ext cx="7772400" cy="915362"/>
          </a:xfrm>
        </p:spPr>
        <p:txBody>
          <a:bodyPr>
            <a:normAutofit/>
          </a:bodyPr>
          <a:lstStyle/>
          <a:p>
            <a:pPr algn="ctr"/>
            <a:r>
              <a:rPr lang="fa-IR" dirty="0" smtClean="0"/>
              <a:t>ساختمان بنایی مسلح</a:t>
            </a:r>
            <a:endParaRPr lang="en-US"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pic>
        <p:nvPicPr>
          <p:cNvPr id="6" name="Picture 4" descr="Picture 008"/>
          <p:cNvPicPr>
            <a:picLocks noChangeAspect="1" noChangeArrowheads="1"/>
          </p:cNvPicPr>
          <p:nvPr/>
        </p:nvPicPr>
        <p:blipFill>
          <a:blip r:embed="rId3"/>
          <a:srcRect/>
          <a:stretch>
            <a:fillRect/>
          </a:stretch>
        </p:blipFill>
        <p:spPr bwMode="auto">
          <a:xfrm>
            <a:off x="1752600" y="304800"/>
            <a:ext cx="5540375" cy="6192837"/>
          </a:xfrm>
          <a:prstGeom prst="rect">
            <a:avLst/>
          </a:prstGeom>
          <a:noFill/>
          <a:ln w="9525">
            <a:noFill/>
            <a:miter lim="800000"/>
            <a:headEnd/>
            <a:tailEnd/>
          </a:ln>
        </p:spPr>
      </p:pic>
    </p:spTree>
  </p:cSld>
  <p:clrMapOvr>
    <a:masterClrMapping/>
  </p:clrMapOvr>
  <p:transition>
    <p:push dir="d"/>
  </p:transition>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457200"/>
            <a:ext cx="7772400" cy="5105400"/>
          </a:xfrm>
        </p:spPr>
        <p:txBody>
          <a:bodyPr>
            <a:normAutofit/>
          </a:bodyPr>
          <a:lstStyle/>
          <a:p>
            <a:pPr algn="ctr"/>
            <a:r>
              <a:rPr lang="fa-IR" sz="9600" dirty="0" smtClean="0"/>
              <a:t>پایان</a:t>
            </a:r>
            <a:br>
              <a:rPr lang="fa-IR" sz="9600" dirty="0" smtClean="0"/>
            </a:br>
            <a:r>
              <a:rPr lang="en-US" sz="9600" dirty="0" smtClean="0"/>
              <a:t>END</a:t>
            </a:r>
            <a:endParaRPr lang="en-US" sz="9600" dirty="0"/>
          </a:p>
        </p:txBody>
      </p:sp>
      <p:sp>
        <p:nvSpPr>
          <p:cNvPr id="4" name="Footer Placeholder 3"/>
          <p:cNvSpPr>
            <a:spLocks noGrp="1"/>
          </p:cNvSpPr>
          <p:nvPr>
            <p:ph type="ftr" sz="quarter" idx="11"/>
          </p:nvPr>
        </p:nvSpPr>
        <p:spPr/>
        <p:txBody>
          <a:bodyPr/>
          <a:lstStyle/>
          <a:p>
            <a:r>
              <a:rPr lang="fa-IR" dirty="0" smtClean="0"/>
              <a:t>تهيه کننده: مهندس احمدرضا جعفري ، </a:t>
            </a:r>
            <a:r>
              <a:rPr lang="en-US" dirty="0" smtClean="0"/>
              <a:t>www.iransaze.com</a:t>
            </a:r>
            <a:endParaRPr lang="en-US" dirty="0"/>
          </a:p>
        </p:txBody>
      </p:sp>
    </p:spTree>
  </p:cSld>
  <p:clrMapOvr>
    <a:masterClrMapping/>
  </p:clrMapOvr>
  <p:transition>
    <p:plus/>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3402</TotalTime>
  <Words>12440</Words>
  <Application>Microsoft Office PowerPoint</Application>
  <PresentationFormat>On-screen Show (4:3)</PresentationFormat>
  <Paragraphs>1148</Paragraphs>
  <Slides>265</Slides>
  <Notes>265</Notes>
  <HiddenSlides>0</HiddenSlides>
  <MMClips>0</MMClips>
  <ScaleCrop>false</ScaleCrop>
  <HeadingPairs>
    <vt:vector size="4" baseType="variant">
      <vt:variant>
        <vt:lpstr>Theme</vt:lpstr>
      </vt:variant>
      <vt:variant>
        <vt:i4>1</vt:i4>
      </vt:variant>
      <vt:variant>
        <vt:lpstr>Slide Titles</vt:lpstr>
      </vt:variant>
      <vt:variant>
        <vt:i4>265</vt:i4>
      </vt:variant>
    </vt:vector>
  </HeadingPairs>
  <TitlesOfParts>
    <vt:vector size="266" baseType="lpstr">
      <vt:lpstr>Concourse</vt:lpstr>
      <vt:lpstr>    دوره آموزشي مبحث هشتم (سازه هاي با مصالح بنايي)</vt:lpstr>
      <vt:lpstr>منابع:  مبحث هشتم مقررات ملي ساختماني (چاپ 84 )  راهنمای تصویری آیین نامه 2800 (مرکز تحقیقات ساختمان و مسکن) تفسیر مفهومی کاربردی آیین نامه 2800 ( جلد سوم ، محمدرضا تابش پور) </vt:lpstr>
      <vt:lpstr>Slide 3</vt:lpstr>
      <vt:lpstr>فهرست مطالب</vt:lpstr>
      <vt:lpstr>فصل اول</vt:lpstr>
      <vt:lpstr>هدف: شکلپذیری بیشتر در مقایسه با ساختمانهای آجری مسلح</vt:lpstr>
      <vt:lpstr>مشخصات کلی ساختمانهای آجری با کلاف</vt:lpstr>
      <vt:lpstr>محدودیت استفاده از این ساختمانها</vt:lpstr>
      <vt:lpstr>الزامات عمومی</vt:lpstr>
      <vt:lpstr>محدودیتهای پلان ساختمان</vt:lpstr>
      <vt:lpstr>ضوابط پیشامدگیها</vt:lpstr>
      <vt:lpstr>Slide 12</vt:lpstr>
      <vt:lpstr>Slide 13</vt:lpstr>
      <vt:lpstr>Slide 14</vt:lpstr>
      <vt:lpstr>Slide 15</vt:lpstr>
      <vt:lpstr>Slide 16</vt:lpstr>
      <vt:lpstr>محدودیت ارتفاع و تعداد طبقات</vt:lpstr>
      <vt:lpstr>Slide 18</vt:lpstr>
      <vt:lpstr>محدودیت ارتفاع و تعداد طبقات</vt:lpstr>
      <vt:lpstr>حداکثر ارتفاع طبقه </vt:lpstr>
      <vt:lpstr>ضوابط پیشامدگی سقف</vt:lpstr>
      <vt:lpstr>ضوابط پیشامدگی سقف</vt:lpstr>
      <vt:lpstr>ضوابط پیشامدگی سقف</vt:lpstr>
      <vt:lpstr>اختلاف سطح در طبقه</vt:lpstr>
      <vt:lpstr>اختلاف سطح در طبقه</vt:lpstr>
      <vt:lpstr>اختلاف سطح در طبقه</vt:lpstr>
      <vt:lpstr>الزامات کلی در مورد سازه </vt:lpstr>
      <vt:lpstr>الزامات کلی شالوده ها</vt:lpstr>
      <vt:lpstr>نحوه قرارگیری شالوده بر روی زمین شیبدار (نحوه نامطلوب)</vt:lpstr>
      <vt:lpstr>نحوه قرارگیری شالوده بر روی زمین شیبدار (نحوه مطلوب)</vt:lpstr>
      <vt:lpstr>نحوه قرارگیری شالوده بر روی زمین شیبدار (نحوه قابل قبول)</vt:lpstr>
      <vt:lpstr>اجرای شالوده پلکانی</vt:lpstr>
      <vt:lpstr>اجرای پی نواری زیر دیوار</vt:lpstr>
      <vt:lpstr>الزامات مربوط به کرسی چینی</vt:lpstr>
      <vt:lpstr>الزامات مربوط به کرسی چینی</vt:lpstr>
      <vt:lpstr>الزامات مربوط به دیوارهای باربر</vt:lpstr>
      <vt:lpstr>Slide 37</vt:lpstr>
      <vt:lpstr>Slide 38</vt:lpstr>
      <vt:lpstr>الزامات مربوط به دیوارهای غیرباربر</vt:lpstr>
      <vt:lpstr>Slide 40</vt:lpstr>
      <vt:lpstr>Slide 41</vt:lpstr>
      <vt:lpstr>کلافبندی در دیوار غیرسازه ای</vt:lpstr>
      <vt:lpstr>کلاف قائم در قسمت میانی غیرسازه ای طویل (طویلتر از 3.5 متر)</vt:lpstr>
      <vt:lpstr>مهار دیوار تیغه به سقف</vt:lpstr>
      <vt:lpstr>اجرای رگ آخر تیغه با ملات کافی و فشار در زیر سقف</vt:lpstr>
      <vt:lpstr>اجرای کلاف بتنی یا فولادی افقی بر روی لبه فوقانی آزاد تیغه ها</vt:lpstr>
      <vt:lpstr>تقویت لبه آزاد تیغه با طول بیشتر از 1.5 متر ( با استفاده از ستونک چوبی)</vt:lpstr>
      <vt:lpstr>تقویت لبه آزاد تیغه با طول بیشتر از 1.5 متر ( با استفاده از ستونک بتنی)</vt:lpstr>
      <vt:lpstr>تقویت لبه آزاد تیغه با طول بیشتر از 1.5 متر ( با استفاده از ستونک ناودانی)</vt:lpstr>
      <vt:lpstr>Slide 50</vt:lpstr>
      <vt:lpstr>دیوارچینی</vt:lpstr>
      <vt:lpstr>میلگردگذاری افقی در دیوارها</vt:lpstr>
      <vt:lpstr>اتصال مناسب دیوارهای عمود برهم</vt:lpstr>
      <vt:lpstr>نحوه صحیح دیوارچینی</vt:lpstr>
      <vt:lpstr>نحوه صحیح دیوارچینی (دیوار سنگی)</vt:lpstr>
      <vt:lpstr>دیوارچینی در تقاطع دو دیوار 22 و 11 سانتیمتری</vt:lpstr>
      <vt:lpstr>دیوارچینی صحیح و غلط</vt:lpstr>
      <vt:lpstr>پر کردن درزهای هرز ملات با ملات ( روش صحیح و غلط)</vt:lpstr>
      <vt:lpstr>بازشوها و تقویت کننده های اطراف آنها</vt:lpstr>
      <vt:lpstr>حالات بهینه و قابل قبول در قرارگیری بازشوها (وجود بازشوها در قسمت مرکزی دیوار)</vt:lpstr>
      <vt:lpstr>بازشوهای نامطلوب به علت وسعت بیش از حد آنها</vt:lpstr>
      <vt:lpstr>Slide 62</vt:lpstr>
      <vt:lpstr>Slide 63</vt:lpstr>
      <vt:lpstr>Slide 64</vt:lpstr>
      <vt:lpstr>اتصال مناسب چارچوب بازشو با دیوار جهت حفظ انسجام سازه</vt:lpstr>
      <vt:lpstr>نعل درگاه</vt:lpstr>
      <vt:lpstr>کلافبندی افقی</vt:lpstr>
      <vt:lpstr>کلافبندی افقی</vt:lpstr>
      <vt:lpstr>کلافبندی افقی</vt:lpstr>
      <vt:lpstr>کلافبندی افقی</vt:lpstr>
      <vt:lpstr>کلافبندی افقی (کلاف زیر دیوار)</vt:lpstr>
      <vt:lpstr>کلافبندی افقی (کلاف زیر دیوار)</vt:lpstr>
      <vt:lpstr>کلافبندی افقی (فاصله بین تنگها)</vt:lpstr>
      <vt:lpstr>کلافبندی افقی</vt:lpstr>
      <vt:lpstr>کلافبندی افقی</vt:lpstr>
      <vt:lpstr>کلافبندی افقی</vt:lpstr>
      <vt:lpstr>نحوه اتصال کلاف سقف در برخورد با کانال دودکش - تهویه</vt:lpstr>
      <vt:lpstr>Slide 78</vt:lpstr>
      <vt:lpstr>نحوه کلافبندی قائم با توجه به فاصله محور تا محور</vt:lpstr>
      <vt:lpstr>ابعاد کلاف قائم</vt:lpstr>
      <vt:lpstr>کلاف در گوشه های اصلی</vt:lpstr>
      <vt:lpstr>Slide 82</vt:lpstr>
      <vt:lpstr>کلافبندی قائم</vt:lpstr>
      <vt:lpstr>Slide 84</vt:lpstr>
      <vt:lpstr>Slide 85</vt:lpstr>
      <vt:lpstr>Slide 86</vt:lpstr>
      <vt:lpstr>کلاف فلزی روی دیوار</vt:lpstr>
      <vt:lpstr>اتصال کلافهای افقی و قائم</vt:lpstr>
      <vt:lpstr>اتصال کلافهای افقی و قائم</vt:lpstr>
      <vt:lpstr>اتصال کلافهای افقی و قائم</vt:lpstr>
      <vt:lpstr>اتصال کلافهای افقی و قائم</vt:lpstr>
      <vt:lpstr>نحوه اتصال کلاف سقف در برخورد با کانال دودکش و تهویه</vt:lpstr>
      <vt:lpstr>کلافبندی قائم</vt:lpstr>
      <vt:lpstr>Slide 94</vt:lpstr>
      <vt:lpstr>Slide 95</vt:lpstr>
      <vt:lpstr>Slide 96</vt:lpstr>
      <vt:lpstr>نحوه چیدن آجر در اطراف میلگرد دیوار</vt:lpstr>
      <vt:lpstr>پر کردن کامل هرزه ملات در اطراف میلگرد</vt:lpstr>
      <vt:lpstr>نحوه جاگذاری میلگردها در دیوار</vt:lpstr>
      <vt:lpstr>نحوه اتصال ستونهای فولادی به کلافهای افقی و پی</vt:lpstr>
      <vt:lpstr>Slide 101</vt:lpstr>
      <vt:lpstr>Slide 102</vt:lpstr>
      <vt:lpstr>Slide 103</vt:lpstr>
      <vt:lpstr>دهانه مجاز برای سقف طاق ضربی</vt:lpstr>
      <vt:lpstr>استفاده از میلگرد ضربدری جهت حفظ انسجام سقف طاق ضربی</vt:lpstr>
      <vt:lpstr>اتصال سقف به تکیه گاه در سقف طاق ضربی</vt:lpstr>
      <vt:lpstr>اتصال سقف به تکیه گاه در سقف طاق ضربی</vt:lpstr>
      <vt:lpstr>مهار تیرآهن سقف در داخل کلاف افقی</vt:lpstr>
      <vt:lpstr> مهار تیرآهن سقف در داخل کلاف افقی و قائم</vt:lpstr>
      <vt:lpstr> مهار تیرآهن سقف در داخل کلاف افقی و قائم</vt:lpstr>
      <vt:lpstr> مهار تیرآهن سقف در داخل کلاف افقی و قائم</vt:lpstr>
      <vt:lpstr> مهار تیرآهن سقف در داخل کلاف افقی و قائم</vt:lpstr>
      <vt:lpstr> مهار تیرآهن سقف در داخل کلاف افقی و قائم</vt:lpstr>
      <vt:lpstr>تعبیه تکیه گاه برای پاطاق آخرین دهانه طاق ضربی</vt:lpstr>
      <vt:lpstr>تعبیه تکیه گاه برای پاطاق آخرین دهانه طاق ضربی</vt:lpstr>
      <vt:lpstr>Slide 116</vt:lpstr>
      <vt:lpstr>Slide 117</vt:lpstr>
      <vt:lpstr>Slide 118</vt:lpstr>
      <vt:lpstr>Slide 119</vt:lpstr>
      <vt:lpstr>چیدن آجر نما همزمان با آجر پشت کار</vt:lpstr>
      <vt:lpstr>نحوه مطلوب اتصال آجر نما به دیوار توسط میلگرد</vt:lpstr>
      <vt:lpstr>اتصال نما به دیوار پشت بند</vt:lpstr>
      <vt:lpstr>جزییاتی از اتصال نما به دیوار پشت بند</vt:lpstr>
      <vt:lpstr>جزییاتی از اتصال نما به دیوار پشت بند</vt:lpstr>
      <vt:lpstr>انواع مختلف مهارها و بستها جهت اتصال نما به دیوار </vt:lpstr>
      <vt:lpstr>آجر نما بدون اتصال به دیوار پشت کار</vt:lpstr>
      <vt:lpstr>Slide 127</vt:lpstr>
      <vt:lpstr>Slide 128</vt:lpstr>
      <vt:lpstr>Slide 129</vt:lpstr>
      <vt:lpstr>Slide 130</vt:lpstr>
      <vt:lpstr>دودکش</vt:lpstr>
      <vt:lpstr>دودکش ( مهار با کلاف )</vt:lpstr>
      <vt:lpstr>دودکش ( مهار با تسمه )</vt:lpstr>
      <vt:lpstr>جزییات مهار دودکش با کلاف بتنی</vt:lpstr>
      <vt:lpstr>جزییات مهار دودکش با کلاف چوبی</vt:lpstr>
      <vt:lpstr>Slide 136</vt:lpstr>
      <vt:lpstr>عایقکاری رطوبتی ( ادامه...)</vt:lpstr>
      <vt:lpstr>Slide 138</vt:lpstr>
      <vt:lpstr>Slide 139</vt:lpstr>
      <vt:lpstr>Slide 140</vt:lpstr>
      <vt:lpstr>فصل دوم</vt:lpstr>
      <vt:lpstr>مقدمه</vt:lpstr>
      <vt:lpstr>تعریف</vt:lpstr>
      <vt:lpstr>محدوده کاربرد</vt:lpstr>
      <vt:lpstr>ساختگاه</vt:lpstr>
      <vt:lpstr>مصالح</vt:lpstr>
      <vt:lpstr>الزامات مربوط به پلان ساختمان</vt:lpstr>
      <vt:lpstr>الزامات مربوط به پیش آمدگیها</vt:lpstr>
      <vt:lpstr>ارتفاع و تعداد طبقه</vt:lpstr>
      <vt:lpstr>پیشآمدگی سقف</vt:lpstr>
      <vt:lpstr>اختلاف سطح در طبقه</vt:lpstr>
      <vt:lpstr>سازه</vt:lpstr>
      <vt:lpstr>شالوده</vt:lpstr>
      <vt:lpstr>کرسی چینی</vt:lpstr>
      <vt:lpstr>دیوارهای باربر</vt:lpstr>
      <vt:lpstr>دیوارهای باربر</vt:lpstr>
      <vt:lpstr>دیوارهای غیرباربر</vt:lpstr>
      <vt:lpstr>دیوارهای غیرباربر</vt:lpstr>
      <vt:lpstr>دیوارچینی</vt:lpstr>
      <vt:lpstr>بازشوها</vt:lpstr>
      <vt:lpstr>نعل درگاه</vt:lpstr>
      <vt:lpstr>سقف</vt:lpstr>
      <vt:lpstr>سقفهای طاق ضربی</vt:lpstr>
      <vt:lpstr>سقفهای تیرچه بلوک</vt:lpstr>
      <vt:lpstr>نما</vt:lpstr>
      <vt:lpstr>دودکش</vt:lpstr>
      <vt:lpstr>عایقکاری رطوبتی</vt:lpstr>
      <vt:lpstr>عایقکاری رطوبتی</vt:lpstr>
      <vt:lpstr>فصل سوم</vt:lpstr>
      <vt:lpstr>مقدمه</vt:lpstr>
      <vt:lpstr>تعریف</vt:lpstr>
      <vt:lpstr>محدوده کاربرد</vt:lpstr>
      <vt:lpstr>ساختگاه</vt:lpstr>
      <vt:lpstr>مصالح</vt:lpstr>
      <vt:lpstr>طرح و اجرا</vt:lpstr>
      <vt:lpstr>الزامات عمومی</vt:lpstr>
      <vt:lpstr>شالوده</vt:lpstr>
      <vt:lpstr>شالوده</vt:lpstr>
      <vt:lpstr>کرسی چینی</vt:lpstr>
      <vt:lpstr>دیوارهای باربر</vt:lpstr>
      <vt:lpstr>دیوارهای باربر</vt:lpstr>
      <vt:lpstr>دیوارهای باربر</vt:lpstr>
      <vt:lpstr>دیوارهای جداگر</vt:lpstr>
      <vt:lpstr>بازشوها</vt:lpstr>
      <vt:lpstr>بازشوها</vt:lpstr>
      <vt:lpstr>نعل درگاه</vt:lpstr>
      <vt:lpstr>سقف </vt:lpstr>
      <vt:lpstr>سقف تخت </vt:lpstr>
      <vt:lpstr>سقف تخت </vt:lpstr>
      <vt:lpstr>سقف تخت </vt:lpstr>
      <vt:lpstr>سقف شیبدار </vt:lpstr>
      <vt:lpstr>سقف شیبدار </vt:lpstr>
      <vt:lpstr>سقف شیبدار </vt:lpstr>
      <vt:lpstr>سقف شیبدار </vt:lpstr>
      <vt:lpstr>سقف قوسی </vt:lpstr>
      <vt:lpstr>سقف قوسی استوانه ای </vt:lpstr>
      <vt:lpstr>سقف قوسی گنبدی</vt:lpstr>
      <vt:lpstr>دودکش</vt:lpstr>
      <vt:lpstr>محافظت از سطوح</vt:lpstr>
      <vt:lpstr>فصل چهارم: ساختمانهای سنگی</vt:lpstr>
      <vt:lpstr>مقدمه </vt:lpstr>
      <vt:lpstr>تعریف </vt:lpstr>
      <vt:lpstr>محدوده کاربرد </vt:lpstr>
      <vt:lpstr>ساختگاه</vt:lpstr>
      <vt:lpstr>مصالح</vt:lpstr>
      <vt:lpstr>طرح و اجرا</vt:lpstr>
      <vt:lpstr>الزامات عمومی</vt:lpstr>
      <vt:lpstr>شالوده</vt:lpstr>
      <vt:lpstr>کرسی چینی</vt:lpstr>
      <vt:lpstr>دیوارهای باربر</vt:lpstr>
      <vt:lpstr>دیوارهای باربر</vt:lpstr>
      <vt:lpstr>دیوارهای باربر</vt:lpstr>
      <vt:lpstr>دیوارهای باربر</vt:lpstr>
      <vt:lpstr>دیوارهای جداگر</vt:lpstr>
      <vt:lpstr>بازشوها</vt:lpstr>
      <vt:lpstr>بازشوها</vt:lpstr>
      <vt:lpstr>کلافها</vt:lpstr>
      <vt:lpstr>کلافهای افقی</vt:lpstr>
      <vt:lpstr>کلافهای قائم</vt:lpstr>
      <vt:lpstr>اتصال کلافهای افقی و قائم</vt:lpstr>
      <vt:lpstr>نعل درگاه</vt:lpstr>
      <vt:lpstr>سقف</vt:lpstr>
      <vt:lpstr>سقف تخت</vt:lpstr>
      <vt:lpstr>سقف تخت</vt:lpstr>
      <vt:lpstr>سقف شیبدار</vt:lpstr>
      <vt:lpstr>سقف شیبدار</vt:lpstr>
      <vt:lpstr>پوششهای سقف شیبدار</vt:lpstr>
      <vt:lpstr>پوششهای سقف شیبدار</vt:lpstr>
      <vt:lpstr>سقفهای استوانه ای</vt:lpstr>
      <vt:lpstr>دودکش</vt:lpstr>
      <vt:lpstr>محافظت از سطوح</vt:lpstr>
      <vt:lpstr>فصل پنجم: مصالح</vt:lpstr>
      <vt:lpstr>کلیات </vt:lpstr>
      <vt:lpstr>خشت</vt:lpstr>
      <vt:lpstr>سنگ</vt:lpstr>
      <vt:lpstr>ملات</vt:lpstr>
      <vt:lpstr>گل و کاهگل</vt:lpstr>
      <vt:lpstr>گل آهک</vt:lpstr>
      <vt:lpstr>ماسه آهک</vt:lpstr>
      <vt:lpstr>ماسه سیمان</vt:lpstr>
      <vt:lpstr>ماسه- سیمان -آھک (باتارد)</vt:lpstr>
      <vt:lpstr>سارج</vt:lpstr>
      <vt:lpstr>مصالح چوبی</vt:lpstr>
      <vt:lpstr>شن و ماسه</vt:lpstr>
      <vt:lpstr>سیمان</vt:lpstr>
      <vt:lpstr>آهک ساختمانی</vt:lpstr>
      <vt:lpstr>آب</vt:lpstr>
      <vt:lpstr>آجر</vt:lpstr>
      <vt:lpstr>بلوکهای سقفی</vt:lpstr>
      <vt:lpstr>میلگرد</vt:lpstr>
      <vt:lpstr>فولادهای ساختمانی</vt:lpstr>
      <vt:lpstr>گچ ساختمانی</vt:lpstr>
      <vt:lpstr>خاک رس </vt:lpstr>
      <vt:lpstr>دوغاب</vt:lpstr>
      <vt:lpstr>عکسهایی از اجرای ساختمانهای بنایی</vt:lpstr>
      <vt:lpstr>Slide 256</vt:lpstr>
      <vt:lpstr>Slide 257</vt:lpstr>
      <vt:lpstr>Slide 258</vt:lpstr>
      <vt:lpstr>Slide 259</vt:lpstr>
      <vt:lpstr>Slide 260</vt:lpstr>
      <vt:lpstr>Slide 261</vt:lpstr>
      <vt:lpstr>Slide 262</vt:lpstr>
      <vt:lpstr>ساختمان بنایی مسلح</vt:lpstr>
      <vt:lpstr>Slide 264</vt:lpstr>
      <vt:lpstr>پایان END</vt:lpstr>
    </vt:vector>
  </TitlesOfParts>
  <Company>Office07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دوره آموزشی مبحث هشتم </dc:title>
  <dc:creator>abc</dc:creator>
  <cp:lastModifiedBy>abc</cp:lastModifiedBy>
  <cp:revision>423</cp:revision>
  <dcterms:created xsi:type="dcterms:W3CDTF">2009-12-22T20:01:58Z</dcterms:created>
  <dcterms:modified xsi:type="dcterms:W3CDTF">2010-01-17T21:10:00Z</dcterms:modified>
</cp:coreProperties>
</file>