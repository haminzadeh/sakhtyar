
<file path=[Content_Types].xml><?xml version="1.0" encoding="utf-8"?>
<Types xmlns="http://schemas.openxmlformats.org/package/2006/content-types">
  <Default ContentType="image/jpeg" Extension="jpeg"/>
  <Default ContentType="image/jpeg" Extension="jpg"/>
  <Default ContentType="image/png" Extension="png"/>
  <Default ContentType="application/vnd.openxmlformats-package.relationships+xml" Extension="rels"/>
  <Default ContentType="image/vnd.ms-photo" Extension="wdp"/>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97" r:id="rId5"/>
    <p:sldId id="259" r:id="rId6"/>
    <p:sldId id="298" r:id="rId7"/>
    <p:sldId id="261" r:id="rId8"/>
    <p:sldId id="263" r:id="rId9"/>
    <p:sldId id="264" r:id="rId10"/>
    <p:sldId id="265" r:id="rId11"/>
    <p:sldId id="267" r:id="rId12"/>
    <p:sldId id="299" r:id="rId13"/>
    <p:sldId id="266" r:id="rId14"/>
    <p:sldId id="300" r:id="rId15"/>
    <p:sldId id="268" r:id="rId16"/>
    <p:sldId id="269" r:id="rId17"/>
    <p:sldId id="270" r:id="rId18"/>
    <p:sldId id="271" r:id="rId19"/>
    <p:sldId id="272" r:id="rId20"/>
    <p:sldId id="301" r:id="rId21"/>
    <p:sldId id="273" r:id="rId22"/>
    <p:sldId id="302" r:id="rId23"/>
    <p:sldId id="274" r:id="rId24"/>
    <p:sldId id="303" r:id="rId25"/>
    <p:sldId id="275" r:id="rId26"/>
    <p:sldId id="304" r:id="rId27"/>
    <p:sldId id="276" r:id="rId28"/>
    <p:sldId id="277" r:id="rId29"/>
    <p:sldId id="278" r:id="rId30"/>
    <p:sldId id="279" r:id="rId31"/>
    <p:sldId id="280" r:id="rId32"/>
    <p:sldId id="305" r:id="rId33"/>
    <p:sldId id="281" r:id="rId34"/>
    <p:sldId id="282" r:id="rId35"/>
    <p:sldId id="306" r:id="rId36"/>
    <p:sldId id="283" r:id="rId37"/>
    <p:sldId id="284" r:id="rId38"/>
    <p:sldId id="307" r:id="rId39"/>
    <p:sldId id="285" r:id="rId40"/>
    <p:sldId id="286" r:id="rId41"/>
    <p:sldId id="308" r:id="rId42"/>
    <p:sldId id="287" r:id="rId43"/>
    <p:sldId id="288" r:id="rId44"/>
    <p:sldId id="289" r:id="rId45"/>
    <p:sldId id="312" r:id="rId46"/>
    <p:sldId id="291" r:id="rId47"/>
    <p:sldId id="309" r:id="rId48"/>
    <p:sldId id="292" r:id="rId49"/>
    <p:sldId id="293" r:id="rId50"/>
    <p:sldId id="311" r:id="rId51"/>
    <p:sldId id="310" r:id="rId52"/>
    <p:sldId id="294" r:id="rId53"/>
    <p:sldId id="295" r:id="rId54"/>
    <p:sldId id="296"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7332"/>
    <a:srgbClr val="030708"/>
    <a:srgbClr val="C0672B"/>
    <a:srgbClr val="ED7D31"/>
    <a:srgbClr val="FC6B30"/>
    <a:srgbClr val="DA542A"/>
    <a:srgbClr val="474747"/>
    <a:srgbClr val="050507"/>
    <a:srgbClr val="1C1D22"/>
    <a:srgbClr val="1D1E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61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E4610-D974-35F6-8788-3167F6266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72074B-650D-A4F9-6021-2EDE000A25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27EE99-B0ED-2BB0-8D39-D8DFD2B2C358}"/>
              </a:ext>
            </a:extLst>
          </p:cNvPr>
          <p:cNvSpPr>
            <a:spLocks noGrp="1"/>
          </p:cNvSpPr>
          <p:nvPr>
            <p:ph type="dt" sz="half" idx="10"/>
          </p:nvPr>
        </p:nvSpPr>
        <p:spPr/>
        <p:txBody>
          <a:bodyPr/>
          <a:lstStyle/>
          <a:p>
            <a:fld id="{05055115-6A7D-48D0-9C9A-0B3D596CD81F}" type="datetimeFigureOut">
              <a:rPr lang="en-US" smtClean="0"/>
              <a:t>12/26/2023</a:t>
            </a:fld>
            <a:endParaRPr lang="en-US"/>
          </a:p>
        </p:txBody>
      </p:sp>
      <p:sp>
        <p:nvSpPr>
          <p:cNvPr id="5" name="Footer Placeholder 4">
            <a:extLst>
              <a:ext uri="{FF2B5EF4-FFF2-40B4-BE49-F238E27FC236}">
                <a16:creationId xmlns:a16="http://schemas.microsoft.com/office/drawing/2014/main" id="{20452CA8-20D0-91C2-CAE6-61CE6B32BD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DE3B63-3864-B723-C994-FA93A2700BD8}"/>
              </a:ext>
            </a:extLst>
          </p:cNvPr>
          <p:cNvSpPr>
            <a:spLocks noGrp="1"/>
          </p:cNvSpPr>
          <p:nvPr>
            <p:ph type="sldNum" sz="quarter" idx="12"/>
          </p:nvPr>
        </p:nvSpPr>
        <p:spPr/>
        <p:txBody>
          <a:bodyPr/>
          <a:lstStyle/>
          <a:p>
            <a:fld id="{A592E7F9-C1D6-44D0-922B-8CE0D019AD83}" type="slidenum">
              <a:rPr lang="en-US" smtClean="0"/>
              <a:t>‹#›</a:t>
            </a:fld>
            <a:endParaRPr lang="en-US"/>
          </a:p>
        </p:txBody>
      </p:sp>
    </p:spTree>
    <p:extLst>
      <p:ext uri="{BB962C8B-B14F-4D97-AF65-F5344CB8AC3E}">
        <p14:creationId xmlns:p14="http://schemas.microsoft.com/office/powerpoint/2010/main" val="220524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BFD10-CDE3-8EB2-4F15-0D7A190E71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FE7C40-66B3-0616-89D7-88D9771CB5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75C509-1934-5470-FE88-9420558D997E}"/>
              </a:ext>
            </a:extLst>
          </p:cNvPr>
          <p:cNvSpPr>
            <a:spLocks noGrp="1"/>
          </p:cNvSpPr>
          <p:nvPr>
            <p:ph type="dt" sz="half" idx="10"/>
          </p:nvPr>
        </p:nvSpPr>
        <p:spPr/>
        <p:txBody>
          <a:bodyPr/>
          <a:lstStyle/>
          <a:p>
            <a:fld id="{05055115-6A7D-48D0-9C9A-0B3D596CD81F}" type="datetimeFigureOut">
              <a:rPr lang="en-US" smtClean="0"/>
              <a:t>12/26/2023</a:t>
            </a:fld>
            <a:endParaRPr lang="en-US"/>
          </a:p>
        </p:txBody>
      </p:sp>
      <p:sp>
        <p:nvSpPr>
          <p:cNvPr id="5" name="Footer Placeholder 4">
            <a:extLst>
              <a:ext uri="{FF2B5EF4-FFF2-40B4-BE49-F238E27FC236}">
                <a16:creationId xmlns:a16="http://schemas.microsoft.com/office/drawing/2014/main" id="{D217719A-1BB2-6186-35A8-A255544940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5254C-2788-4561-6AF2-D7CEA7A76868}"/>
              </a:ext>
            </a:extLst>
          </p:cNvPr>
          <p:cNvSpPr>
            <a:spLocks noGrp="1"/>
          </p:cNvSpPr>
          <p:nvPr>
            <p:ph type="sldNum" sz="quarter" idx="12"/>
          </p:nvPr>
        </p:nvSpPr>
        <p:spPr/>
        <p:txBody>
          <a:bodyPr/>
          <a:lstStyle/>
          <a:p>
            <a:fld id="{A592E7F9-C1D6-44D0-922B-8CE0D019AD83}" type="slidenum">
              <a:rPr lang="en-US" smtClean="0"/>
              <a:t>‹#›</a:t>
            </a:fld>
            <a:endParaRPr lang="en-US"/>
          </a:p>
        </p:txBody>
      </p:sp>
    </p:spTree>
    <p:extLst>
      <p:ext uri="{BB962C8B-B14F-4D97-AF65-F5344CB8AC3E}">
        <p14:creationId xmlns:p14="http://schemas.microsoft.com/office/powerpoint/2010/main" val="2175706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AEBCE-822D-C94F-047D-A9D957CF10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6D573B-405F-DE10-A060-BD148E151D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F53755-6407-E2FB-2C70-F6418371254B}"/>
              </a:ext>
            </a:extLst>
          </p:cNvPr>
          <p:cNvSpPr>
            <a:spLocks noGrp="1"/>
          </p:cNvSpPr>
          <p:nvPr>
            <p:ph type="dt" sz="half" idx="10"/>
          </p:nvPr>
        </p:nvSpPr>
        <p:spPr/>
        <p:txBody>
          <a:bodyPr/>
          <a:lstStyle/>
          <a:p>
            <a:fld id="{05055115-6A7D-48D0-9C9A-0B3D596CD81F}" type="datetimeFigureOut">
              <a:rPr lang="en-US" smtClean="0"/>
              <a:t>12/26/2023</a:t>
            </a:fld>
            <a:endParaRPr lang="en-US"/>
          </a:p>
        </p:txBody>
      </p:sp>
      <p:sp>
        <p:nvSpPr>
          <p:cNvPr id="5" name="Footer Placeholder 4">
            <a:extLst>
              <a:ext uri="{FF2B5EF4-FFF2-40B4-BE49-F238E27FC236}">
                <a16:creationId xmlns:a16="http://schemas.microsoft.com/office/drawing/2014/main" id="{EA485E11-9163-17F9-3A84-5C6E075491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E44A28-CA03-337D-EFFF-2ABA79594688}"/>
              </a:ext>
            </a:extLst>
          </p:cNvPr>
          <p:cNvSpPr>
            <a:spLocks noGrp="1"/>
          </p:cNvSpPr>
          <p:nvPr>
            <p:ph type="sldNum" sz="quarter" idx="12"/>
          </p:nvPr>
        </p:nvSpPr>
        <p:spPr/>
        <p:txBody>
          <a:bodyPr/>
          <a:lstStyle/>
          <a:p>
            <a:fld id="{A592E7F9-C1D6-44D0-922B-8CE0D019AD83}" type="slidenum">
              <a:rPr lang="en-US" smtClean="0"/>
              <a:t>‹#›</a:t>
            </a:fld>
            <a:endParaRPr lang="en-US"/>
          </a:p>
        </p:txBody>
      </p:sp>
    </p:spTree>
    <p:extLst>
      <p:ext uri="{BB962C8B-B14F-4D97-AF65-F5344CB8AC3E}">
        <p14:creationId xmlns:p14="http://schemas.microsoft.com/office/powerpoint/2010/main" val="116572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0AB0A-2CB3-A4F2-F763-64BA367BF1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506B16-311B-46E2-4FB0-FC98EAE02F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838A0B-B5C8-8FBB-223A-7E0EB0E2BD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FEDC4B-1581-7924-8ADB-CA6F9D29F726}"/>
              </a:ext>
            </a:extLst>
          </p:cNvPr>
          <p:cNvSpPr>
            <a:spLocks noGrp="1"/>
          </p:cNvSpPr>
          <p:nvPr>
            <p:ph type="dt" sz="half" idx="10"/>
          </p:nvPr>
        </p:nvSpPr>
        <p:spPr/>
        <p:txBody>
          <a:bodyPr/>
          <a:lstStyle/>
          <a:p>
            <a:fld id="{05055115-6A7D-48D0-9C9A-0B3D596CD81F}" type="datetimeFigureOut">
              <a:rPr lang="en-US" smtClean="0"/>
              <a:t>12/26/2023</a:t>
            </a:fld>
            <a:endParaRPr lang="en-US"/>
          </a:p>
        </p:txBody>
      </p:sp>
      <p:sp>
        <p:nvSpPr>
          <p:cNvPr id="6" name="Footer Placeholder 5">
            <a:extLst>
              <a:ext uri="{FF2B5EF4-FFF2-40B4-BE49-F238E27FC236}">
                <a16:creationId xmlns:a16="http://schemas.microsoft.com/office/drawing/2014/main" id="{F6A9FCE4-09EC-893F-7BEE-30DD83505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A93C29-EA16-CCD0-6707-07DFBE36136E}"/>
              </a:ext>
            </a:extLst>
          </p:cNvPr>
          <p:cNvSpPr>
            <a:spLocks noGrp="1"/>
          </p:cNvSpPr>
          <p:nvPr>
            <p:ph type="sldNum" sz="quarter" idx="12"/>
          </p:nvPr>
        </p:nvSpPr>
        <p:spPr/>
        <p:txBody>
          <a:bodyPr/>
          <a:lstStyle/>
          <a:p>
            <a:fld id="{A592E7F9-C1D6-44D0-922B-8CE0D019AD83}" type="slidenum">
              <a:rPr lang="en-US" smtClean="0"/>
              <a:t>‹#›</a:t>
            </a:fld>
            <a:endParaRPr lang="en-US"/>
          </a:p>
        </p:txBody>
      </p:sp>
    </p:spTree>
    <p:extLst>
      <p:ext uri="{BB962C8B-B14F-4D97-AF65-F5344CB8AC3E}">
        <p14:creationId xmlns:p14="http://schemas.microsoft.com/office/powerpoint/2010/main" val="4195746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E042F-AFBB-7459-82D2-020D943C2A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029A52-75E4-E45C-D0D3-CC6206A408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245514-E756-C906-047C-E390764A8B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7694EF-9276-D90E-D01E-832BA95A76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261D9C-7884-C1C3-E0AC-137A4A8609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289B69-6DEF-9E1E-9B49-84FEB5AA9827}"/>
              </a:ext>
            </a:extLst>
          </p:cNvPr>
          <p:cNvSpPr>
            <a:spLocks noGrp="1"/>
          </p:cNvSpPr>
          <p:nvPr>
            <p:ph type="dt" sz="half" idx="10"/>
          </p:nvPr>
        </p:nvSpPr>
        <p:spPr/>
        <p:txBody>
          <a:bodyPr/>
          <a:lstStyle/>
          <a:p>
            <a:fld id="{05055115-6A7D-48D0-9C9A-0B3D596CD81F}" type="datetimeFigureOut">
              <a:rPr lang="en-US" smtClean="0"/>
              <a:t>12/26/2023</a:t>
            </a:fld>
            <a:endParaRPr lang="en-US"/>
          </a:p>
        </p:txBody>
      </p:sp>
      <p:sp>
        <p:nvSpPr>
          <p:cNvPr id="8" name="Footer Placeholder 7">
            <a:extLst>
              <a:ext uri="{FF2B5EF4-FFF2-40B4-BE49-F238E27FC236}">
                <a16:creationId xmlns:a16="http://schemas.microsoft.com/office/drawing/2014/main" id="{7370B660-25B8-5C86-AF53-7375FA2BFE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517449-1A1A-CC39-7A87-BC18B9E4F0F4}"/>
              </a:ext>
            </a:extLst>
          </p:cNvPr>
          <p:cNvSpPr>
            <a:spLocks noGrp="1"/>
          </p:cNvSpPr>
          <p:nvPr>
            <p:ph type="sldNum" sz="quarter" idx="12"/>
          </p:nvPr>
        </p:nvSpPr>
        <p:spPr/>
        <p:txBody>
          <a:bodyPr/>
          <a:lstStyle/>
          <a:p>
            <a:fld id="{A592E7F9-C1D6-44D0-922B-8CE0D019AD83}" type="slidenum">
              <a:rPr lang="en-US" smtClean="0"/>
              <a:t>‹#›</a:t>
            </a:fld>
            <a:endParaRPr lang="en-US"/>
          </a:p>
        </p:txBody>
      </p:sp>
    </p:spTree>
    <p:extLst>
      <p:ext uri="{BB962C8B-B14F-4D97-AF65-F5344CB8AC3E}">
        <p14:creationId xmlns:p14="http://schemas.microsoft.com/office/powerpoint/2010/main" val="784429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CA61D-C33E-D82D-14B2-458705FCD0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42182E-89A1-C888-EE99-14D69E3E3DAE}"/>
              </a:ext>
            </a:extLst>
          </p:cNvPr>
          <p:cNvSpPr>
            <a:spLocks noGrp="1"/>
          </p:cNvSpPr>
          <p:nvPr>
            <p:ph type="dt" sz="half" idx="10"/>
          </p:nvPr>
        </p:nvSpPr>
        <p:spPr/>
        <p:txBody>
          <a:bodyPr/>
          <a:lstStyle/>
          <a:p>
            <a:fld id="{05055115-6A7D-48D0-9C9A-0B3D596CD81F}" type="datetimeFigureOut">
              <a:rPr lang="en-US" smtClean="0"/>
              <a:t>12/26/2023</a:t>
            </a:fld>
            <a:endParaRPr lang="en-US"/>
          </a:p>
        </p:txBody>
      </p:sp>
      <p:sp>
        <p:nvSpPr>
          <p:cNvPr id="4" name="Footer Placeholder 3">
            <a:extLst>
              <a:ext uri="{FF2B5EF4-FFF2-40B4-BE49-F238E27FC236}">
                <a16:creationId xmlns:a16="http://schemas.microsoft.com/office/drawing/2014/main" id="{47D0186C-4A8F-5E60-9E6B-FD8EF726C0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3E48EB-75B5-9977-89CE-696972C677B4}"/>
              </a:ext>
            </a:extLst>
          </p:cNvPr>
          <p:cNvSpPr>
            <a:spLocks noGrp="1"/>
          </p:cNvSpPr>
          <p:nvPr>
            <p:ph type="sldNum" sz="quarter" idx="12"/>
          </p:nvPr>
        </p:nvSpPr>
        <p:spPr/>
        <p:txBody>
          <a:bodyPr/>
          <a:lstStyle/>
          <a:p>
            <a:fld id="{A592E7F9-C1D6-44D0-922B-8CE0D019AD83}" type="slidenum">
              <a:rPr lang="en-US" smtClean="0"/>
              <a:t>‹#›</a:t>
            </a:fld>
            <a:endParaRPr lang="en-US"/>
          </a:p>
        </p:txBody>
      </p:sp>
    </p:spTree>
    <p:extLst>
      <p:ext uri="{BB962C8B-B14F-4D97-AF65-F5344CB8AC3E}">
        <p14:creationId xmlns:p14="http://schemas.microsoft.com/office/powerpoint/2010/main" val="192963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82F4E2-FA06-325B-F5C6-E06A6BF14886}"/>
              </a:ext>
            </a:extLst>
          </p:cNvPr>
          <p:cNvSpPr>
            <a:spLocks noGrp="1"/>
          </p:cNvSpPr>
          <p:nvPr>
            <p:ph type="dt" sz="half" idx="10"/>
          </p:nvPr>
        </p:nvSpPr>
        <p:spPr/>
        <p:txBody>
          <a:bodyPr/>
          <a:lstStyle/>
          <a:p>
            <a:fld id="{05055115-6A7D-48D0-9C9A-0B3D596CD81F}" type="datetimeFigureOut">
              <a:rPr lang="en-US" smtClean="0"/>
              <a:t>12/26/2023</a:t>
            </a:fld>
            <a:endParaRPr lang="en-US"/>
          </a:p>
        </p:txBody>
      </p:sp>
      <p:sp>
        <p:nvSpPr>
          <p:cNvPr id="3" name="Footer Placeholder 2">
            <a:extLst>
              <a:ext uri="{FF2B5EF4-FFF2-40B4-BE49-F238E27FC236}">
                <a16:creationId xmlns:a16="http://schemas.microsoft.com/office/drawing/2014/main" id="{16402C75-E7CA-807B-279D-9EAD40260C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806B86-32A3-3973-5337-9AAD2C417328}"/>
              </a:ext>
            </a:extLst>
          </p:cNvPr>
          <p:cNvSpPr>
            <a:spLocks noGrp="1"/>
          </p:cNvSpPr>
          <p:nvPr>
            <p:ph type="sldNum" sz="quarter" idx="12"/>
          </p:nvPr>
        </p:nvSpPr>
        <p:spPr/>
        <p:txBody>
          <a:bodyPr/>
          <a:lstStyle/>
          <a:p>
            <a:fld id="{A592E7F9-C1D6-44D0-922B-8CE0D019AD83}" type="slidenum">
              <a:rPr lang="en-US" smtClean="0"/>
              <a:t>‹#›</a:t>
            </a:fld>
            <a:endParaRPr lang="en-US"/>
          </a:p>
        </p:txBody>
      </p:sp>
    </p:spTree>
    <p:extLst>
      <p:ext uri="{BB962C8B-B14F-4D97-AF65-F5344CB8AC3E}">
        <p14:creationId xmlns:p14="http://schemas.microsoft.com/office/powerpoint/2010/main" val="671089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E63A-C983-AEF0-2008-BC5A0EFCA9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EC1DA4-C2A4-193E-393F-1D752666DC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B9704B-AECC-7365-72A0-28EED5C2EE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6DD81B-7E71-A7C4-A0E2-97E4A859FB84}"/>
              </a:ext>
            </a:extLst>
          </p:cNvPr>
          <p:cNvSpPr>
            <a:spLocks noGrp="1"/>
          </p:cNvSpPr>
          <p:nvPr>
            <p:ph type="dt" sz="half" idx="10"/>
          </p:nvPr>
        </p:nvSpPr>
        <p:spPr/>
        <p:txBody>
          <a:bodyPr/>
          <a:lstStyle/>
          <a:p>
            <a:fld id="{05055115-6A7D-48D0-9C9A-0B3D596CD81F}" type="datetimeFigureOut">
              <a:rPr lang="en-US" smtClean="0"/>
              <a:t>12/26/2023</a:t>
            </a:fld>
            <a:endParaRPr lang="en-US"/>
          </a:p>
        </p:txBody>
      </p:sp>
      <p:sp>
        <p:nvSpPr>
          <p:cNvPr id="6" name="Footer Placeholder 5">
            <a:extLst>
              <a:ext uri="{FF2B5EF4-FFF2-40B4-BE49-F238E27FC236}">
                <a16:creationId xmlns:a16="http://schemas.microsoft.com/office/drawing/2014/main" id="{B3829BE0-A496-A29B-A565-EF10D98ADE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880A3B-28E7-DC43-D4BB-C57E7DB77053}"/>
              </a:ext>
            </a:extLst>
          </p:cNvPr>
          <p:cNvSpPr>
            <a:spLocks noGrp="1"/>
          </p:cNvSpPr>
          <p:nvPr>
            <p:ph type="sldNum" sz="quarter" idx="12"/>
          </p:nvPr>
        </p:nvSpPr>
        <p:spPr/>
        <p:txBody>
          <a:bodyPr/>
          <a:lstStyle/>
          <a:p>
            <a:fld id="{A592E7F9-C1D6-44D0-922B-8CE0D019AD83}" type="slidenum">
              <a:rPr lang="en-US" smtClean="0"/>
              <a:t>‹#›</a:t>
            </a:fld>
            <a:endParaRPr lang="en-US"/>
          </a:p>
        </p:txBody>
      </p:sp>
    </p:spTree>
    <p:extLst>
      <p:ext uri="{BB962C8B-B14F-4D97-AF65-F5344CB8AC3E}">
        <p14:creationId xmlns:p14="http://schemas.microsoft.com/office/powerpoint/2010/main" val="2912018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1E4C3-52ED-6DB6-F529-497203BFCA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97CB09-F97E-F196-8875-6EE61D6458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A45833-AD5A-AD53-A176-BBABC32AB2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666EBE-8DDF-877A-EE7A-38C0A5B4521E}"/>
              </a:ext>
            </a:extLst>
          </p:cNvPr>
          <p:cNvSpPr>
            <a:spLocks noGrp="1"/>
          </p:cNvSpPr>
          <p:nvPr>
            <p:ph type="dt" sz="half" idx="10"/>
          </p:nvPr>
        </p:nvSpPr>
        <p:spPr/>
        <p:txBody>
          <a:bodyPr/>
          <a:lstStyle/>
          <a:p>
            <a:fld id="{05055115-6A7D-48D0-9C9A-0B3D596CD81F}" type="datetimeFigureOut">
              <a:rPr lang="en-US" smtClean="0"/>
              <a:t>12/26/2023</a:t>
            </a:fld>
            <a:endParaRPr lang="en-US"/>
          </a:p>
        </p:txBody>
      </p:sp>
      <p:sp>
        <p:nvSpPr>
          <p:cNvPr id="6" name="Footer Placeholder 5">
            <a:extLst>
              <a:ext uri="{FF2B5EF4-FFF2-40B4-BE49-F238E27FC236}">
                <a16:creationId xmlns:a16="http://schemas.microsoft.com/office/drawing/2014/main" id="{7141A6DF-5586-8C6B-E24C-486B8BE828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83F9CB-C01D-82F4-E829-80203ECEF05D}"/>
              </a:ext>
            </a:extLst>
          </p:cNvPr>
          <p:cNvSpPr>
            <a:spLocks noGrp="1"/>
          </p:cNvSpPr>
          <p:nvPr>
            <p:ph type="sldNum" sz="quarter" idx="12"/>
          </p:nvPr>
        </p:nvSpPr>
        <p:spPr/>
        <p:txBody>
          <a:bodyPr/>
          <a:lstStyle/>
          <a:p>
            <a:fld id="{A592E7F9-C1D6-44D0-922B-8CE0D019AD83}" type="slidenum">
              <a:rPr lang="en-US" smtClean="0"/>
              <a:t>‹#›</a:t>
            </a:fld>
            <a:endParaRPr lang="en-US"/>
          </a:p>
        </p:txBody>
      </p:sp>
    </p:spTree>
    <p:extLst>
      <p:ext uri="{BB962C8B-B14F-4D97-AF65-F5344CB8AC3E}">
        <p14:creationId xmlns:p14="http://schemas.microsoft.com/office/powerpoint/2010/main" val="3593053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314F-8760-56E1-5DEC-1CEF01FD3C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3C2739-F3B0-56F3-57E6-0438629A3A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B7DFC-84DA-B19D-0266-DCB9E3E0886D}"/>
              </a:ext>
            </a:extLst>
          </p:cNvPr>
          <p:cNvSpPr>
            <a:spLocks noGrp="1"/>
          </p:cNvSpPr>
          <p:nvPr>
            <p:ph type="dt" sz="half" idx="10"/>
          </p:nvPr>
        </p:nvSpPr>
        <p:spPr/>
        <p:txBody>
          <a:bodyPr/>
          <a:lstStyle/>
          <a:p>
            <a:fld id="{05055115-6A7D-48D0-9C9A-0B3D596CD81F}" type="datetimeFigureOut">
              <a:rPr lang="en-US" smtClean="0"/>
              <a:t>12/26/2023</a:t>
            </a:fld>
            <a:endParaRPr lang="en-US"/>
          </a:p>
        </p:txBody>
      </p:sp>
      <p:sp>
        <p:nvSpPr>
          <p:cNvPr id="5" name="Footer Placeholder 4">
            <a:extLst>
              <a:ext uri="{FF2B5EF4-FFF2-40B4-BE49-F238E27FC236}">
                <a16:creationId xmlns:a16="http://schemas.microsoft.com/office/drawing/2014/main" id="{C7E3357B-53B7-F925-F532-9D305D4B33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CEF07C-E380-9AA2-E629-C9B289715A69}"/>
              </a:ext>
            </a:extLst>
          </p:cNvPr>
          <p:cNvSpPr>
            <a:spLocks noGrp="1"/>
          </p:cNvSpPr>
          <p:nvPr>
            <p:ph type="sldNum" sz="quarter" idx="12"/>
          </p:nvPr>
        </p:nvSpPr>
        <p:spPr/>
        <p:txBody>
          <a:bodyPr/>
          <a:lstStyle/>
          <a:p>
            <a:fld id="{A592E7F9-C1D6-44D0-922B-8CE0D019AD83}" type="slidenum">
              <a:rPr lang="en-US" smtClean="0"/>
              <a:t>‹#›</a:t>
            </a:fld>
            <a:endParaRPr lang="en-US"/>
          </a:p>
        </p:txBody>
      </p:sp>
    </p:spTree>
    <p:extLst>
      <p:ext uri="{BB962C8B-B14F-4D97-AF65-F5344CB8AC3E}">
        <p14:creationId xmlns:p14="http://schemas.microsoft.com/office/powerpoint/2010/main" val="2951718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37C5A4-8F57-E547-CA7A-F5C7B32C4B9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34C50C-2B08-F4F8-C229-7504312E6D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2B22DE-9525-62D4-4A34-269E353840E0}"/>
              </a:ext>
            </a:extLst>
          </p:cNvPr>
          <p:cNvSpPr>
            <a:spLocks noGrp="1"/>
          </p:cNvSpPr>
          <p:nvPr>
            <p:ph type="dt" sz="half" idx="10"/>
          </p:nvPr>
        </p:nvSpPr>
        <p:spPr/>
        <p:txBody>
          <a:bodyPr/>
          <a:lstStyle/>
          <a:p>
            <a:fld id="{05055115-6A7D-48D0-9C9A-0B3D596CD81F}" type="datetimeFigureOut">
              <a:rPr lang="en-US" smtClean="0"/>
              <a:t>12/26/2023</a:t>
            </a:fld>
            <a:endParaRPr lang="en-US"/>
          </a:p>
        </p:txBody>
      </p:sp>
      <p:sp>
        <p:nvSpPr>
          <p:cNvPr id="5" name="Footer Placeholder 4">
            <a:extLst>
              <a:ext uri="{FF2B5EF4-FFF2-40B4-BE49-F238E27FC236}">
                <a16:creationId xmlns:a16="http://schemas.microsoft.com/office/drawing/2014/main" id="{1A0F208C-7101-4B50-2C35-D5FCC1184C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EA35A5-537A-B894-8F3C-296C7FD3BCCD}"/>
              </a:ext>
            </a:extLst>
          </p:cNvPr>
          <p:cNvSpPr>
            <a:spLocks noGrp="1"/>
          </p:cNvSpPr>
          <p:nvPr>
            <p:ph type="sldNum" sz="quarter" idx="12"/>
          </p:nvPr>
        </p:nvSpPr>
        <p:spPr/>
        <p:txBody>
          <a:bodyPr/>
          <a:lstStyle/>
          <a:p>
            <a:fld id="{A592E7F9-C1D6-44D0-922B-8CE0D019AD83}" type="slidenum">
              <a:rPr lang="en-US" smtClean="0"/>
              <a:t>‹#›</a:t>
            </a:fld>
            <a:endParaRPr lang="en-US"/>
          </a:p>
        </p:txBody>
      </p:sp>
    </p:spTree>
    <p:extLst>
      <p:ext uri="{BB962C8B-B14F-4D97-AF65-F5344CB8AC3E}">
        <p14:creationId xmlns:p14="http://schemas.microsoft.com/office/powerpoint/2010/main" val="1551690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DF4808-D6F6-0D1B-4687-1BACD88037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B5EB90-1FD0-D73B-4217-663B2AE7D9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1DF150-4E78-B48A-4C1C-6891EDE639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055115-6A7D-48D0-9C9A-0B3D596CD81F}" type="datetimeFigureOut">
              <a:rPr lang="en-US" smtClean="0"/>
              <a:t>12/26/2023</a:t>
            </a:fld>
            <a:endParaRPr lang="en-US"/>
          </a:p>
        </p:txBody>
      </p:sp>
      <p:sp>
        <p:nvSpPr>
          <p:cNvPr id="5" name="Footer Placeholder 4">
            <a:extLst>
              <a:ext uri="{FF2B5EF4-FFF2-40B4-BE49-F238E27FC236}">
                <a16:creationId xmlns:a16="http://schemas.microsoft.com/office/drawing/2014/main" id="{7849CBD4-38F9-17DF-B1D8-7584B45221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61C35C1-9D0D-4EE3-857B-5A266924A3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92E7F9-C1D6-44D0-922B-8CE0D019AD83}" type="slidenum">
              <a:rPr lang="en-US" smtClean="0"/>
              <a:t>‹#›</a:t>
            </a:fld>
            <a:endParaRPr lang="en-US"/>
          </a:p>
        </p:txBody>
      </p:sp>
    </p:spTree>
    <p:extLst>
      <p:ext uri="{BB962C8B-B14F-4D97-AF65-F5344CB8AC3E}">
        <p14:creationId xmlns:p14="http://schemas.microsoft.com/office/powerpoint/2010/main" val="2668243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3A5605-9787-D767-CEDF-66607AD238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7" name="Rectangle 6">
            <a:extLst>
              <a:ext uri="{FF2B5EF4-FFF2-40B4-BE49-F238E27FC236}">
                <a16:creationId xmlns:a16="http://schemas.microsoft.com/office/drawing/2014/main" id="{731A4679-EA63-3E17-3B14-273FA61B0291}"/>
              </a:ext>
            </a:extLst>
          </p:cNvPr>
          <p:cNvSpPr/>
          <p:nvPr/>
        </p:nvSpPr>
        <p:spPr>
          <a:xfrm>
            <a:off x="0" y="6114473"/>
            <a:ext cx="6980383" cy="581891"/>
          </a:xfrm>
          <a:prstGeom prst="rect">
            <a:avLst/>
          </a:prstGeom>
          <a:solidFill>
            <a:srgbClr val="C0672B"/>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BCFEB90-D432-31E1-F013-98F6F9E1CA15}"/>
              </a:ext>
            </a:extLst>
          </p:cNvPr>
          <p:cNvSpPr/>
          <p:nvPr/>
        </p:nvSpPr>
        <p:spPr>
          <a:xfrm>
            <a:off x="6858000" y="-1"/>
            <a:ext cx="5334000" cy="6858001"/>
          </a:xfrm>
          <a:prstGeom prst="rect">
            <a:avLst/>
          </a:prstGeom>
          <a:solidFill>
            <a:srgbClr val="1C1D22"/>
          </a:solidFill>
          <a:ln>
            <a:solidFill>
              <a:srgbClr val="1C1D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2FD1287-1960-D98F-8338-72877A93FEE8}"/>
              </a:ext>
            </a:extLst>
          </p:cNvPr>
          <p:cNvSpPr/>
          <p:nvPr/>
        </p:nvSpPr>
        <p:spPr>
          <a:xfrm>
            <a:off x="6858000" y="757382"/>
            <a:ext cx="122383" cy="610061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6C1DF3A-8192-54BB-1374-774F8F3506D7}"/>
              </a:ext>
            </a:extLst>
          </p:cNvPr>
          <p:cNvSpPr/>
          <p:nvPr/>
        </p:nvSpPr>
        <p:spPr>
          <a:xfrm>
            <a:off x="6980383" y="1948873"/>
            <a:ext cx="5211617" cy="129309"/>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D8B870F-5000-8DC4-C5FC-519A76804E12}"/>
              </a:ext>
            </a:extLst>
          </p:cNvPr>
          <p:cNvSpPr txBox="1"/>
          <p:nvPr/>
        </p:nvSpPr>
        <p:spPr>
          <a:xfrm>
            <a:off x="6980383" y="697497"/>
            <a:ext cx="5831609" cy="923330"/>
          </a:xfrm>
          <a:prstGeom prst="rect">
            <a:avLst/>
          </a:prstGeom>
          <a:noFill/>
        </p:spPr>
        <p:txBody>
          <a:bodyPr wrap="square" rtlCol="0">
            <a:spAutoFit/>
          </a:bodyPr>
          <a:lstStyle/>
          <a:p>
            <a:r>
              <a:rPr lang="fa-IR" sz="5400" b="1" dirty="0">
                <a:solidFill>
                  <a:schemeClr val="accent2"/>
                </a:solidFill>
                <a:effectLst>
                  <a:outerShdw blurRad="38100" dist="38100" dir="2700000" algn="tl">
                    <a:srgbClr val="000000">
                      <a:alpha val="43137"/>
                    </a:srgbClr>
                  </a:outerShdw>
                </a:effectLst>
                <a:cs typeface="B Bardiya" panose="00000400000000000000" pitchFamily="2" charset="-78"/>
              </a:rPr>
              <a:t>قانون تملک آپارتمانها</a:t>
            </a:r>
            <a:endParaRPr lang="en-US" sz="5400" b="1" dirty="0">
              <a:solidFill>
                <a:schemeClr val="accent2"/>
              </a:solidFill>
              <a:effectLst>
                <a:outerShdw blurRad="38100" dist="38100" dir="2700000" algn="tl">
                  <a:srgbClr val="000000">
                    <a:alpha val="43137"/>
                  </a:srgbClr>
                </a:outerShdw>
              </a:effectLst>
              <a:cs typeface="B Bardiya" panose="00000400000000000000" pitchFamily="2" charset="-78"/>
            </a:endParaRPr>
          </a:p>
        </p:txBody>
      </p:sp>
      <p:sp>
        <p:nvSpPr>
          <p:cNvPr id="12" name="Rectangle 11">
            <a:extLst>
              <a:ext uri="{FF2B5EF4-FFF2-40B4-BE49-F238E27FC236}">
                <a16:creationId xmlns:a16="http://schemas.microsoft.com/office/drawing/2014/main" id="{B9A43504-C2E3-17D2-50A0-FECAD7F32284}"/>
              </a:ext>
            </a:extLst>
          </p:cNvPr>
          <p:cNvSpPr/>
          <p:nvPr/>
        </p:nvSpPr>
        <p:spPr>
          <a:xfrm>
            <a:off x="9559636" y="378691"/>
            <a:ext cx="2632364" cy="147782"/>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F92704B-4883-653A-0804-5327EFDBF853}"/>
              </a:ext>
            </a:extLst>
          </p:cNvPr>
          <p:cNvSpPr txBox="1"/>
          <p:nvPr/>
        </p:nvSpPr>
        <p:spPr>
          <a:xfrm>
            <a:off x="7647710" y="3639249"/>
            <a:ext cx="3602181" cy="1200329"/>
          </a:xfrm>
          <a:prstGeom prst="rect">
            <a:avLst/>
          </a:prstGeom>
          <a:noFill/>
        </p:spPr>
        <p:txBody>
          <a:bodyPr wrap="square" rtlCol="0">
            <a:spAutoFit/>
          </a:bodyPr>
          <a:lstStyle/>
          <a:p>
            <a:pPr algn="ctr"/>
            <a:r>
              <a:rPr lang="fa-IR" dirty="0">
                <a:solidFill>
                  <a:schemeClr val="bg1"/>
                </a:solidFill>
                <a:cs typeface="B Bardiya" panose="00000400000000000000" pitchFamily="2" charset="-78"/>
              </a:rPr>
              <a:t>استاد راهنما : دکتر موسوی</a:t>
            </a:r>
          </a:p>
          <a:p>
            <a:pPr algn="ctr"/>
            <a:endParaRPr lang="fa-IR" dirty="0">
              <a:solidFill>
                <a:schemeClr val="bg1"/>
              </a:solidFill>
              <a:cs typeface="B Bardiya" panose="00000400000000000000" pitchFamily="2" charset="-78"/>
            </a:endParaRPr>
          </a:p>
          <a:p>
            <a:pPr algn="ctr"/>
            <a:r>
              <a:rPr lang="fa-IR" dirty="0">
                <a:solidFill>
                  <a:schemeClr val="bg1"/>
                </a:solidFill>
                <a:cs typeface="B Bardiya" panose="00000400000000000000" pitchFamily="2" charset="-78"/>
              </a:rPr>
              <a:t>نام دانشجویان : ریحانه پرستار – تینا حسامی</a:t>
            </a:r>
          </a:p>
          <a:p>
            <a:pPr algn="ctr"/>
            <a:endParaRPr lang="en-US" dirty="0">
              <a:solidFill>
                <a:schemeClr val="bg1"/>
              </a:solidFill>
              <a:cs typeface="B Bardiya" panose="00000400000000000000" pitchFamily="2" charset="-78"/>
            </a:endParaRPr>
          </a:p>
        </p:txBody>
      </p:sp>
      <p:pic>
        <p:nvPicPr>
          <p:cNvPr id="15" name="Picture 14">
            <a:extLst>
              <a:ext uri="{FF2B5EF4-FFF2-40B4-BE49-F238E27FC236}">
                <a16:creationId xmlns:a16="http://schemas.microsoft.com/office/drawing/2014/main" id="{F26A15EC-E63F-0DDE-B881-F8B4EED1D555}"/>
              </a:ext>
            </a:extLst>
          </p:cNvPr>
          <p:cNvPicPr>
            <a:picLocks noChangeAspect="1"/>
          </p:cNvPicPr>
          <p:nvPr/>
        </p:nvPicPr>
        <p:blipFill>
          <a:blip r:embed="rId3">
            <a:duotone>
              <a:prstClr val="black"/>
              <a:schemeClr val="bg1">
                <a:tint val="45000"/>
                <a:satMod val="400000"/>
              </a:schemeClr>
            </a:duotone>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tretch>
            <a:fillRect/>
          </a:stretch>
        </p:blipFill>
        <p:spPr>
          <a:xfrm>
            <a:off x="8749147" y="4800672"/>
            <a:ext cx="1413164" cy="1313801"/>
          </a:xfrm>
          <a:prstGeom prst="rect">
            <a:avLst/>
          </a:prstGeom>
        </p:spPr>
      </p:pic>
    </p:spTree>
    <p:extLst>
      <p:ext uri="{BB962C8B-B14F-4D97-AF65-F5344CB8AC3E}">
        <p14:creationId xmlns:p14="http://schemas.microsoft.com/office/powerpoint/2010/main" val="2328680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858000" y="0"/>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F1452F-2A7A-CBED-8F25-F5B63AC38AB1}"/>
              </a:ext>
            </a:extLst>
          </p:cNvPr>
          <p:cNvSpPr/>
          <p:nvPr/>
        </p:nvSpPr>
        <p:spPr>
          <a:xfrm>
            <a:off x="7000875" y="0"/>
            <a:ext cx="5191125"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800" dirty="0">
                <a:cs typeface="B Bardiya" panose="00000400000000000000" pitchFamily="2" charset="-78"/>
              </a:rPr>
              <a:t>ماده1</a:t>
            </a:r>
            <a:endParaRPr lang="en-US" sz="28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6929437" y="1813780"/>
            <a:ext cx="4938713" cy="3046988"/>
          </a:xfrm>
          <a:prstGeom prst="rect">
            <a:avLst/>
          </a:prstGeom>
          <a:noFill/>
        </p:spPr>
        <p:txBody>
          <a:bodyPr wrap="square" rtlCol="0">
            <a:spAutoFit/>
          </a:bodyPr>
          <a:lstStyle/>
          <a:p>
            <a:pPr algn="r"/>
            <a:r>
              <a:rPr lang="fa-IR" sz="2400" dirty="0">
                <a:solidFill>
                  <a:schemeClr val="bg1"/>
                </a:solidFill>
                <a:cs typeface="B Nazanin" panose="00000400000000000000" pitchFamily="2" charset="-78"/>
              </a:rPr>
              <a:t>مالکیت در آپارتمانهای مختلف و محل های پیشه </a:t>
            </a:r>
            <a:endParaRPr lang="en-US"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و سکنای یک ساختمان شامل </a:t>
            </a:r>
            <a:r>
              <a:rPr lang="fa-IR" sz="2400" dirty="0">
                <a:solidFill>
                  <a:schemeClr val="accent2"/>
                </a:solidFill>
                <a:cs typeface="B Nazanin" panose="00000400000000000000" pitchFamily="2" charset="-78"/>
              </a:rPr>
              <a:t>دو قسمت </a:t>
            </a:r>
            <a:r>
              <a:rPr lang="fa-IR" sz="2400" dirty="0">
                <a:solidFill>
                  <a:schemeClr val="bg1"/>
                </a:solidFill>
                <a:cs typeface="B Nazanin" panose="00000400000000000000" pitchFamily="2" charset="-78"/>
              </a:rPr>
              <a:t>است:</a:t>
            </a:r>
          </a:p>
          <a:p>
            <a:pPr algn="r"/>
            <a:endParaRPr lang="fa-IR" sz="2400" dirty="0">
              <a:solidFill>
                <a:schemeClr val="bg1"/>
              </a:solidFill>
              <a:cs typeface="B Nazanin" panose="00000400000000000000" pitchFamily="2" charset="-78"/>
            </a:endParaRPr>
          </a:p>
          <a:p>
            <a:pPr algn="r"/>
            <a:endParaRPr lang="fa-IR" sz="2400" dirty="0">
              <a:solidFill>
                <a:schemeClr val="bg1"/>
              </a:solidFill>
              <a:cs typeface="B Nazanin" panose="00000400000000000000" pitchFamily="2" charset="-78"/>
            </a:endParaRPr>
          </a:p>
          <a:p>
            <a:pPr algn="r"/>
            <a:r>
              <a:rPr lang="fa-IR" sz="3200" dirty="0">
                <a:solidFill>
                  <a:schemeClr val="accent2"/>
                </a:solidFill>
                <a:cs typeface="B Nazanin" panose="00000400000000000000" pitchFamily="2" charset="-78"/>
              </a:rPr>
              <a:t>(الف) مالکیت قسمتهای اختصاصی</a:t>
            </a:r>
          </a:p>
          <a:p>
            <a:pPr algn="r"/>
            <a:endParaRPr lang="fa-IR" sz="3200" dirty="0">
              <a:solidFill>
                <a:schemeClr val="accent2"/>
              </a:solidFill>
              <a:cs typeface="B Nazanin" panose="00000400000000000000" pitchFamily="2" charset="-78"/>
            </a:endParaRPr>
          </a:p>
          <a:p>
            <a:pPr algn="r"/>
            <a:r>
              <a:rPr lang="fa-IR" sz="3200" dirty="0">
                <a:solidFill>
                  <a:schemeClr val="accent2"/>
                </a:solidFill>
                <a:cs typeface="B Nazanin" panose="00000400000000000000" pitchFamily="2" charset="-78"/>
              </a:rPr>
              <a:t>(ب ) مالکیت قسمتهای مشترک</a:t>
            </a:r>
          </a:p>
        </p:txBody>
      </p:sp>
      <p:sp>
        <p:nvSpPr>
          <p:cNvPr id="14" name="Oval 13">
            <a:extLst>
              <a:ext uri="{FF2B5EF4-FFF2-40B4-BE49-F238E27FC236}">
                <a16:creationId xmlns:a16="http://schemas.microsoft.com/office/drawing/2014/main" id="{29758C3A-EEE8-4DEA-005E-30DB19919E42}"/>
              </a:ext>
            </a:extLst>
          </p:cNvPr>
          <p:cNvSpPr/>
          <p:nvPr/>
        </p:nvSpPr>
        <p:spPr>
          <a:xfrm>
            <a:off x="11868150" y="1884895"/>
            <a:ext cx="202479" cy="230232"/>
          </a:xfrm>
          <a:prstGeom prst="ellipse">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15FACBB-49B5-6A15-CB6A-E82469B9D900}"/>
              </a:ext>
            </a:extLst>
          </p:cNvPr>
          <p:cNvSpPr/>
          <p:nvPr/>
        </p:nvSpPr>
        <p:spPr>
          <a:xfrm>
            <a:off x="5334000" y="5860026"/>
            <a:ext cx="6858000" cy="147484"/>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9053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32AF8F1-56BE-AC96-1DCA-4BD1E304B886}"/>
              </a:ext>
            </a:extLst>
          </p:cNvPr>
          <p:cNvSpPr/>
          <p:nvPr/>
        </p:nvSpPr>
        <p:spPr>
          <a:xfrm>
            <a:off x="6188365" y="794327"/>
            <a:ext cx="6003636" cy="69639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90A704F2-9099-A777-53E7-9B3821B5FD98}"/>
              </a:ext>
            </a:extLst>
          </p:cNvPr>
          <p:cNvSpPr txBox="1"/>
          <p:nvPr/>
        </p:nvSpPr>
        <p:spPr>
          <a:xfrm>
            <a:off x="956858" y="904515"/>
            <a:ext cx="10835148" cy="4524315"/>
          </a:xfrm>
          <a:prstGeom prst="rect">
            <a:avLst/>
          </a:prstGeom>
          <a:noFill/>
        </p:spPr>
        <p:txBody>
          <a:bodyPr wrap="square" rtlCol="0">
            <a:spAutoFit/>
          </a:bodyPr>
          <a:lstStyle/>
          <a:p>
            <a:pPr algn="r" rtl="1"/>
            <a:r>
              <a:rPr lang="fa-IR" sz="2800" b="1" dirty="0">
                <a:solidFill>
                  <a:schemeClr val="bg1"/>
                </a:solidFill>
                <a:cs typeface="B Bardiya" panose="00000400000000000000" pitchFamily="2" charset="-78"/>
              </a:rPr>
              <a:t>در مورد قسمت های اختصاصی لازم به ذکر است:</a:t>
            </a:r>
          </a:p>
          <a:p>
            <a:pPr algn="r" rtl="1"/>
            <a:endParaRPr lang="fa-IR" sz="2800" dirty="0">
              <a:solidFill>
                <a:schemeClr val="bg1"/>
              </a:solidFill>
              <a:cs typeface="B Nazanin" panose="00000400000000000000" pitchFamily="2" charset="-78"/>
            </a:endParaRPr>
          </a:p>
          <a:p>
            <a:pPr algn="r" rtl="1"/>
            <a:r>
              <a:rPr lang="fa-IR" sz="2800" dirty="0">
                <a:solidFill>
                  <a:schemeClr val="bg1"/>
                </a:solidFill>
                <a:cs typeface="B Nazanin" panose="00000400000000000000" pitchFamily="2" charset="-78"/>
              </a:rPr>
              <a:t> قسمت های اختصاصی به قسمت هایی تلقی می شود که عرفا برای استفاده انحصاری شریک ملک معین یا قائم مقام او تخصیص یافته باشد</a:t>
            </a:r>
          </a:p>
          <a:p>
            <a:pPr algn="r" rtl="1"/>
            <a:endParaRPr lang="fa-IR" sz="2800" dirty="0">
              <a:solidFill>
                <a:schemeClr val="bg1"/>
              </a:solidFill>
              <a:cs typeface="B Nazanin" panose="00000400000000000000" pitchFamily="2" charset="-78"/>
            </a:endParaRPr>
          </a:p>
          <a:p>
            <a:pPr algn="r" rtl="1"/>
            <a:r>
              <a:rPr lang="fa-IR" sz="3200" b="1" dirty="0">
                <a:solidFill>
                  <a:schemeClr val="accent2"/>
                </a:solidFill>
                <a:cs typeface="B Nazanin" panose="00000400000000000000" pitchFamily="2" charset="-78"/>
              </a:rPr>
              <a:t>نکته: </a:t>
            </a:r>
            <a:r>
              <a:rPr lang="fa-IR" sz="2800" dirty="0">
                <a:solidFill>
                  <a:schemeClr val="bg1"/>
                </a:solidFill>
                <a:cs typeface="B Nazanin" panose="00000400000000000000" pitchFamily="2" charset="-78"/>
              </a:rPr>
              <a:t>علاوه بر ثبت اراضی زیربنا و محوطه باغ ها و پارک های متعلقه، برای مالکیت قسمت های اختصاصی نیز باید به طور مجزا سند مالکیت صادر شود، مشخصات کامل قسمت اختصاصی از لحاظ حدود، طبقه، شماره، مساحت قسمت های وابسته، ارزش و غیره باید در سند قید گردد.</a:t>
            </a:r>
          </a:p>
          <a:p>
            <a:pPr algn="r" rtl="1"/>
            <a:endParaRPr lang="fa-IR" sz="2800" dirty="0">
              <a:solidFill>
                <a:schemeClr val="bg1"/>
              </a:solidFill>
              <a:cs typeface="B Nazanin" panose="00000400000000000000" pitchFamily="2" charset="-78"/>
            </a:endParaRPr>
          </a:p>
          <a:p>
            <a:pPr algn="r" rtl="1"/>
            <a:endParaRPr lang="fa-IR" sz="2800" dirty="0">
              <a:solidFill>
                <a:schemeClr val="bg1"/>
              </a:solidFill>
              <a:cs typeface="B Nazanin" panose="00000400000000000000" pitchFamily="2" charset="-78"/>
            </a:endParaRPr>
          </a:p>
        </p:txBody>
      </p:sp>
      <p:sp>
        <p:nvSpPr>
          <p:cNvPr id="6" name="Rectangle 5">
            <a:extLst>
              <a:ext uri="{FF2B5EF4-FFF2-40B4-BE49-F238E27FC236}">
                <a16:creationId xmlns:a16="http://schemas.microsoft.com/office/drawing/2014/main" id="{CBA5F0C5-D3ED-9190-14EE-F5F5BDB7C96F}"/>
              </a:ext>
            </a:extLst>
          </p:cNvPr>
          <p:cNvSpPr/>
          <p:nvPr/>
        </p:nvSpPr>
        <p:spPr>
          <a:xfrm>
            <a:off x="347258" y="0"/>
            <a:ext cx="262342" cy="6858000"/>
          </a:xfrm>
          <a:prstGeom prst="rect">
            <a:avLst/>
          </a:prstGeom>
          <a:solidFill>
            <a:srgbClr val="CF73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B3A00A-CA3C-7CE3-4123-D84357107DEF}"/>
              </a:ext>
            </a:extLst>
          </p:cNvPr>
          <p:cNvSpPr/>
          <p:nvPr/>
        </p:nvSpPr>
        <p:spPr>
          <a:xfrm>
            <a:off x="0" y="6271790"/>
            <a:ext cx="12192000" cy="267853"/>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3155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32AF8F1-56BE-AC96-1DCA-4BD1E304B886}"/>
              </a:ext>
            </a:extLst>
          </p:cNvPr>
          <p:cNvSpPr/>
          <p:nvPr/>
        </p:nvSpPr>
        <p:spPr>
          <a:xfrm>
            <a:off x="6677891" y="504406"/>
            <a:ext cx="5514110" cy="651461"/>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0A704F2-9099-A777-53E7-9B3821B5FD98}"/>
              </a:ext>
            </a:extLst>
          </p:cNvPr>
          <p:cNvSpPr txBox="1"/>
          <p:nvPr/>
        </p:nvSpPr>
        <p:spPr>
          <a:xfrm>
            <a:off x="956858" y="186050"/>
            <a:ext cx="10835148" cy="5262979"/>
          </a:xfrm>
          <a:prstGeom prst="rect">
            <a:avLst/>
          </a:prstGeom>
          <a:noFill/>
        </p:spPr>
        <p:txBody>
          <a:bodyPr wrap="square" rtlCol="0">
            <a:spAutoFit/>
          </a:bodyPr>
          <a:lstStyle/>
          <a:p>
            <a:pPr algn="r" rtl="1"/>
            <a:endParaRPr lang="fa-IR" sz="2800" dirty="0">
              <a:solidFill>
                <a:schemeClr val="bg1"/>
              </a:solidFill>
              <a:cs typeface="B Nazanin" panose="00000400000000000000" pitchFamily="2" charset="-78"/>
            </a:endParaRPr>
          </a:p>
          <a:p>
            <a:pPr algn="r" rtl="1"/>
            <a:r>
              <a:rPr lang="fa-IR" sz="2800" b="1" dirty="0">
                <a:solidFill>
                  <a:schemeClr val="bg1"/>
                </a:solidFill>
                <a:cs typeface="B Bardiya" panose="00000400000000000000" pitchFamily="2" charset="-78"/>
              </a:rPr>
              <a:t>قسمت های مشترک نیز لازم به ذکر است:</a:t>
            </a:r>
          </a:p>
          <a:p>
            <a:pPr algn="r" rtl="1"/>
            <a:endParaRPr lang="fa-IR" sz="2800" dirty="0">
              <a:solidFill>
                <a:schemeClr val="bg1"/>
              </a:solidFill>
              <a:cs typeface="B Nazanin" panose="00000400000000000000" pitchFamily="2" charset="-78"/>
            </a:endParaRPr>
          </a:p>
          <a:p>
            <a:pPr algn="r" rtl="1"/>
            <a:r>
              <a:rPr lang="fa-IR" sz="2800" dirty="0">
                <a:solidFill>
                  <a:schemeClr val="bg1"/>
                </a:solidFill>
                <a:cs typeface="B Nazanin" panose="00000400000000000000" pitchFamily="2" charset="-78"/>
              </a:rPr>
              <a:t>قسمت های مشترک به قسمت هایی از ساختمان و اراضی و متعلقات آنها گفته می شود که به طور مستقیم و یا غیرمستقیم، مورد استفاده تمام شرکاء می باشد و نمی توان حق انحصاری برای آن ها قائل شد.</a:t>
            </a:r>
          </a:p>
          <a:p>
            <a:pPr algn="r" rtl="1"/>
            <a:endParaRPr lang="fa-IR" sz="2800" dirty="0">
              <a:solidFill>
                <a:schemeClr val="bg1"/>
              </a:solidFill>
              <a:cs typeface="B Nazanin" panose="00000400000000000000" pitchFamily="2" charset="-78"/>
            </a:endParaRPr>
          </a:p>
          <a:p>
            <a:pPr algn="r" rtl="1"/>
            <a:r>
              <a:rPr lang="fa-IR" sz="2800" dirty="0">
                <a:solidFill>
                  <a:schemeClr val="bg1"/>
                </a:solidFill>
                <a:cs typeface="B Nazanin" panose="00000400000000000000" pitchFamily="2" charset="-78"/>
              </a:rPr>
              <a:t>به دلیل اشتراکی بودن این قسمت ها، گذاردن میز و صندلی و هر نوع اشیاء دیگر و همچنین نگاهداری حیوانات در قسمت های مشترک ممنوع است.</a:t>
            </a:r>
          </a:p>
          <a:p>
            <a:pPr algn="r" rtl="1"/>
            <a:endParaRPr lang="fa-IR" sz="2800" dirty="0">
              <a:solidFill>
                <a:schemeClr val="bg1"/>
              </a:solidFill>
              <a:cs typeface="B Nazanin" panose="00000400000000000000" pitchFamily="2" charset="-78"/>
            </a:endParaRPr>
          </a:p>
          <a:p>
            <a:pPr algn="r" rtl="1"/>
            <a:r>
              <a:rPr lang="fa-IR" sz="2800" dirty="0">
                <a:solidFill>
                  <a:schemeClr val="bg1"/>
                </a:solidFill>
                <a:cs typeface="B Nazanin" panose="00000400000000000000" pitchFamily="2" charset="-78"/>
              </a:rPr>
              <a:t>قسمت های مشترک در ملکیت مشاع تمام شرکاء ملک است، هرچند که در قسمت های اختصاصی واقع شده باشد و یا از آن قسمت ها عبور نماید.</a:t>
            </a:r>
            <a:endParaRPr lang="en-US" sz="2800" dirty="0">
              <a:solidFill>
                <a:schemeClr val="bg1"/>
              </a:solidFill>
              <a:cs typeface="B Nazanin" panose="00000400000000000000" pitchFamily="2" charset="-78"/>
            </a:endParaRPr>
          </a:p>
        </p:txBody>
      </p:sp>
      <p:sp>
        <p:nvSpPr>
          <p:cNvPr id="6" name="Rectangle 5">
            <a:extLst>
              <a:ext uri="{FF2B5EF4-FFF2-40B4-BE49-F238E27FC236}">
                <a16:creationId xmlns:a16="http://schemas.microsoft.com/office/drawing/2014/main" id="{CBA5F0C5-D3ED-9190-14EE-F5F5BDB7C96F}"/>
              </a:ext>
            </a:extLst>
          </p:cNvPr>
          <p:cNvSpPr/>
          <p:nvPr/>
        </p:nvSpPr>
        <p:spPr>
          <a:xfrm>
            <a:off x="347258" y="0"/>
            <a:ext cx="262342" cy="6858000"/>
          </a:xfrm>
          <a:prstGeom prst="rect">
            <a:avLst/>
          </a:prstGeom>
          <a:solidFill>
            <a:srgbClr val="CF73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B3A00A-CA3C-7CE3-4123-D84357107DEF}"/>
              </a:ext>
            </a:extLst>
          </p:cNvPr>
          <p:cNvSpPr/>
          <p:nvPr/>
        </p:nvSpPr>
        <p:spPr>
          <a:xfrm>
            <a:off x="0" y="6271790"/>
            <a:ext cx="12192000" cy="267853"/>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2899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648C5DD-4ACA-7D83-6C19-0CD5EFA62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9471"/>
          </a:xfrm>
          <a:prstGeom prst="rect">
            <a:avLst/>
          </a:prstGeom>
        </p:spPr>
      </p:pic>
      <p:sp>
        <p:nvSpPr>
          <p:cNvPr id="17" name="Rectangle 16">
            <a:extLst>
              <a:ext uri="{FF2B5EF4-FFF2-40B4-BE49-F238E27FC236}">
                <a16:creationId xmlns:a16="http://schemas.microsoft.com/office/drawing/2014/main" id="{7B895A5D-8C00-7912-2721-0B622E142DE7}"/>
              </a:ext>
            </a:extLst>
          </p:cNvPr>
          <p:cNvSpPr/>
          <p:nvPr/>
        </p:nvSpPr>
        <p:spPr>
          <a:xfrm>
            <a:off x="0" y="2084439"/>
            <a:ext cx="12192000" cy="3198761"/>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03974" y="0"/>
            <a:ext cx="1288027" cy="600075"/>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ماده2</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137055" y="2147066"/>
            <a:ext cx="11651226" cy="3046988"/>
          </a:xfrm>
          <a:prstGeom prst="rect">
            <a:avLst/>
          </a:prstGeom>
          <a:noFill/>
        </p:spPr>
        <p:txBody>
          <a:bodyPr wrap="square" rtlCol="0">
            <a:spAutoFit/>
          </a:bodyPr>
          <a:lstStyle/>
          <a:p>
            <a:pPr algn="r"/>
            <a:r>
              <a:rPr lang="fa-IR" sz="2400" b="1" dirty="0">
                <a:cs typeface="B Nazanin" panose="00000400000000000000" pitchFamily="2" charset="-78"/>
              </a:rPr>
              <a:t>قسمت های مشترک مذکور در این قانون عبارتند از:</a:t>
            </a:r>
          </a:p>
          <a:p>
            <a:pPr algn="r"/>
            <a:endParaRPr lang="fa-IR" sz="2400" dirty="0">
              <a:cs typeface="B Nazanin" panose="00000400000000000000" pitchFamily="2" charset="-78"/>
            </a:endParaRPr>
          </a:p>
          <a:p>
            <a:pPr algn="r"/>
            <a:r>
              <a:rPr lang="fa-IR" sz="2400" dirty="0">
                <a:cs typeface="B Nazanin" panose="00000400000000000000" pitchFamily="2" charset="-78"/>
              </a:rPr>
              <a:t> قسمت هایی از ساختمان که حق استفاده از آن منحصر به یک یا چند آپارتمان یا محل پیشه مخصوص بوده و به کلیه مالکین به نسبت قسمت اختصاصی آن ها تعلق می گیرد.</a:t>
            </a:r>
          </a:p>
          <a:p>
            <a:pPr algn="r"/>
            <a:endParaRPr lang="fa-IR" sz="2400" dirty="0">
              <a:cs typeface="B Nazanin" panose="00000400000000000000" pitchFamily="2" charset="-78"/>
            </a:endParaRPr>
          </a:p>
          <a:p>
            <a:pPr algn="r"/>
            <a:r>
              <a:rPr lang="fa-IR" sz="2400" dirty="0">
                <a:cs typeface="B Nazanin" panose="00000400000000000000" pitchFamily="2" charset="-78"/>
              </a:rPr>
              <a:t>به طور کلی قسمت هایی که برای استفاده اختصاصی تشخیص داده نشده است یا در اسناد ملک اختصاصی یک یا چند نفر از مالکین تلقی نشده، از قسمت های مشترک محسوب می شود مگر آنکه تعلق آن به قسمت معینی بر طبق عرف و عادت محل، مورد تردید نباشد.</a:t>
            </a:r>
          </a:p>
        </p:txBody>
      </p:sp>
      <p:sp>
        <p:nvSpPr>
          <p:cNvPr id="2" name="Rectangle 1">
            <a:extLst>
              <a:ext uri="{FF2B5EF4-FFF2-40B4-BE49-F238E27FC236}">
                <a16:creationId xmlns:a16="http://schemas.microsoft.com/office/drawing/2014/main" id="{C0270A2B-9CCE-D5AA-B05E-0ACB4CE59F75}"/>
              </a:ext>
            </a:extLst>
          </p:cNvPr>
          <p:cNvSpPr/>
          <p:nvPr/>
        </p:nvSpPr>
        <p:spPr>
          <a:xfrm>
            <a:off x="0" y="480291"/>
            <a:ext cx="10903974" cy="119784"/>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C3F0C7A-8B49-164A-285F-213859CC8BEC}"/>
              </a:ext>
            </a:extLst>
          </p:cNvPr>
          <p:cNvSpPr/>
          <p:nvPr/>
        </p:nvSpPr>
        <p:spPr>
          <a:xfrm>
            <a:off x="10903974" y="600075"/>
            <a:ext cx="179662" cy="1588943"/>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BCE5E2E-7B17-CC4F-D3F8-0F114B764226}"/>
              </a:ext>
            </a:extLst>
          </p:cNvPr>
          <p:cNvSpPr/>
          <p:nvPr/>
        </p:nvSpPr>
        <p:spPr>
          <a:xfrm>
            <a:off x="10903974" y="5152102"/>
            <a:ext cx="179662" cy="1717368"/>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6A060A3-8CD0-B70C-6F6B-4BAC39AC0C7E}"/>
              </a:ext>
            </a:extLst>
          </p:cNvPr>
          <p:cNvSpPr/>
          <p:nvPr/>
        </p:nvSpPr>
        <p:spPr>
          <a:xfrm>
            <a:off x="212436" y="-1"/>
            <a:ext cx="179662" cy="2189019"/>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CA785D3-E6D4-D081-83A5-C0722A356FFB}"/>
              </a:ext>
            </a:extLst>
          </p:cNvPr>
          <p:cNvSpPr/>
          <p:nvPr/>
        </p:nvSpPr>
        <p:spPr>
          <a:xfrm>
            <a:off x="233293" y="4849376"/>
            <a:ext cx="179662" cy="2008624"/>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ABA6F85-24AC-4BCC-8626-4B80A555A922}"/>
              </a:ext>
            </a:extLst>
          </p:cNvPr>
          <p:cNvSpPr/>
          <p:nvPr/>
        </p:nvSpPr>
        <p:spPr>
          <a:xfrm>
            <a:off x="0" y="6160655"/>
            <a:ext cx="12192000" cy="217054"/>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7088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DC97118-368C-DC8A-A490-060D76BCB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572000" cy="6858000"/>
          </a:xfrm>
          <a:prstGeom prst="rect">
            <a:avLst/>
          </a:prstGeom>
        </p:spPr>
      </p:pic>
      <p:sp>
        <p:nvSpPr>
          <p:cNvPr id="3" name="Rectangle 2">
            <a:extLst>
              <a:ext uri="{FF2B5EF4-FFF2-40B4-BE49-F238E27FC236}">
                <a16:creationId xmlns:a16="http://schemas.microsoft.com/office/drawing/2014/main" id="{B32AF8F1-56BE-AC96-1DCA-4BD1E304B886}"/>
              </a:ext>
            </a:extLst>
          </p:cNvPr>
          <p:cNvSpPr/>
          <p:nvPr/>
        </p:nvSpPr>
        <p:spPr>
          <a:xfrm>
            <a:off x="0" y="452283"/>
            <a:ext cx="12192001" cy="517535"/>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0A704F2-9099-A777-53E7-9B3821B5FD98}"/>
              </a:ext>
            </a:extLst>
          </p:cNvPr>
          <p:cNvSpPr txBox="1"/>
          <p:nvPr/>
        </p:nvSpPr>
        <p:spPr>
          <a:xfrm>
            <a:off x="4640826" y="98321"/>
            <a:ext cx="7472516" cy="5863144"/>
          </a:xfrm>
          <a:prstGeom prst="rect">
            <a:avLst/>
          </a:prstGeom>
          <a:noFill/>
        </p:spPr>
        <p:txBody>
          <a:bodyPr wrap="square" rtlCol="0">
            <a:spAutoFit/>
          </a:bodyPr>
          <a:lstStyle/>
          <a:p>
            <a:pPr algn="r" rtl="1"/>
            <a:endParaRPr lang="fa-IR" sz="2500" dirty="0">
              <a:solidFill>
                <a:schemeClr val="bg1"/>
              </a:solidFill>
              <a:cs typeface="B Nazanin" panose="00000400000000000000" pitchFamily="2" charset="-78"/>
            </a:endParaRPr>
          </a:p>
          <a:p>
            <a:pPr algn="r" rtl="1"/>
            <a:r>
              <a:rPr lang="fa-IR" sz="2500" dirty="0">
                <a:solidFill>
                  <a:schemeClr val="bg1"/>
                </a:solidFill>
                <a:cs typeface="B Nazanin" panose="00000400000000000000" pitchFamily="2" charset="-78"/>
              </a:rPr>
              <a:t> </a:t>
            </a:r>
            <a:r>
              <a:rPr lang="fa-IR" sz="2500" b="1" dirty="0">
                <a:solidFill>
                  <a:schemeClr val="bg1"/>
                </a:solidFill>
                <a:cs typeface="B Bardiya" panose="00000400000000000000" pitchFamily="2" charset="-78"/>
              </a:rPr>
              <a:t>مصادیق قسمت های مشترک عبارتند از:</a:t>
            </a:r>
          </a:p>
          <a:p>
            <a:pPr algn="r" rtl="1"/>
            <a:endParaRPr lang="en-US" sz="2500" dirty="0">
              <a:solidFill>
                <a:schemeClr val="bg1"/>
              </a:solidFill>
              <a:cs typeface="B Nazanin" panose="00000400000000000000" pitchFamily="2" charset="-78"/>
            </a:endParaRPr>
          </a:p>
          <a:p>
            <a:pPr algn="r" rtl="1"/>
            <a:endParaRPr lang="fa-IR" sz="2500" dirty="0">
              <a:solidFill>
                <a:schemeClr val="bg1"/>
              </a:solidFill>
              <a:cs typeface="B Nazanin" panose="00000400000000000000" pitchFamily="2" charset="-78"/>
            </a:endParaRPr>
          </a:p>
          <a:p>
            <a:pPr algn="r" rtl="1"/>
            <a:r>
              <a:rPr lang="fa-IR" sz="2500" dirty="0">
                <a:solidFill>
                  <a:schemeClr val="accent2"/>
                </a:solidFill>
                <a:cs typeface="B Nazanin" panose="00000400000000000000" pitchFamily="2" charset="-78"/>
              </a:rPr>
              <a:t>الف) </a:t>
            </a:r>
            <a:r>
              <a:rPr lang="fa-IR" sz="2500" dirty="0">
                <a:solidFill>
                  <a:schemeClr val="bg1"/>
                </a:solidFill>
                <a:cs typeface="B Nazanin" panose="00000400000000000000" pitchFamily="2" charset="-78"/>
              </a:rPr>
              <a:t>زمین زیربنا؛ خواه متصل به بنا باشد یا بنا به وسیله پایه روی آن قرار گرفته باشد</a:t>
            </a:r>
            <a:r>
              <a:rPr lang="en-US" sz="2500" dirty="0">
                <a:solidFill>
                  <a:schemeClr val="bg1"/>
                </a:solidFill>
                <a:cs typeface="B Nazanin" panose="00000400000000000000" pitchFamily="2" charset="-78"/>
              </a:rPr>
              <a:t>.</a:t>
            </a:r>
            <a:endParaRPr lang="fa-IR" sz="2500" dirty="0">
              <a:solidFill>
                <a:schemeClr val="bg1"/>
              </a:solidFill>
              <a:cs typeface="B Nazanin" panose="00000400000000000000" pitchFamily="2" charset="-78"/>
            </a:endParaRPr>
          </a:p>
          <a:p>
            <a:pPr algn="r" rtl="1"/>
            <a:endParaRPr lang="fa-IR" sz="2500" dirty="0">
              <a:solidFill>
                <a:schemeClr val="bg1"/>
              </a:solidFill>
              <a:cs typeface="B Nazanin" panose="00000400000000000000" pitchFamily="2" charset="-78"/>
            </a:endParaRPr>
          </a:p>
          <a:p>
            <a:pPr algn="r" rtl="1"/>
            <a:r>
              <a:rPr lang="fa-IR" sz="2500" dirty="0">
                <a:solidFill>
                  <a:schemeClr val="accent2"/>
                </a:solidFill>
                <a:cs typeface="B Nazanin" panose="00000400000000000000" pitchFamily="2" charset="-78"/>
              </a:rPr>
              <a:t>ب) </a:t>
            </a:r>
            <a:r>
              <a:rPr lang="fa-IR" sz="2500" dirty="0">
                <a:solidFill>
                  <a:schemeClr val="bg1"/>
                </a:solidFill>
                <a:cs typeface="B Nazanin" panose="00000400000000000000" pitchFamily="2" charset="-78"/>
              </a:rPr>
              <a:t>تاسیسات قسمت های مشترک از قبیل چاه آب و پمپ، منبع آب، مرکز حرارت و تهویه، رخت شویخانه، تابلوهای برق، کنتورها، تلفن مرکزی، انبار عمومی ساختمان، اطاق سرایدار در هر قسمت بنا که واقع باشد، دستگاه آسانسور و محل آن، چاه های فاضلاب، لوله ها از قبیل: ( لوله های فاضلاب، آب، برق، تلفن، حرارت مرکزی، تهویه مطبوع، گاز، نفت،  هواکش ها، لوله های بخاری ) گذرگاه های زباله و محل جمع آوری آن و غیره.</a:t>
            </a:r>
          </a:p>
          <a:p>
            <a:pPr algn="r" rtl="1"/>
            <a:endParaRPr lang="fa-IR" sz="2500" dirty="0">
              <a:solidFill>
                <a:schemeClr val="bg1"/>
              </a:solidFill>
              <a:cs typeface="B Nazanin" panose="00000400000000000000" pitchFamily="2" charset="-78"/>
            </a:endParaRPr>
          </a:p>
          <a:p>
            <a:pPr algn="r" rtl="1"/>
            <a:endParaRPr lang="fa-IR" sz="2500" dirty="0">
              <a:solidFill>
                <a:schemeClr val="bg1"/>
              </a:solidFill>
              <a:cs typeface="B Nazanin" panose="00000400000000000000" pitchFamily="2" charset="-78"/>
            </a:endParaRPr>
          </a:p>
        </p:txBody>
      </p:sp>
      <p:sp>
        <p:nvSpPr>
          <p:cNvPr id="8" name="Rectangle 7">
            <a:extLst>
              <a:ext uri="{FF2B5EF4-FFF2-40B4-BE49-F238E27FC236}">
                <a16:creationId xmlns:a16="http://schemas.microsoft.com/office/drawing/2014/main" id="{3BE89498-4A5C-E1FA-C05D-6BAFF0992E97}"/>
              </a:ext>
            </a:extLst>
          </p:cNvPr>
          <p:cNvSpPr/>
          <p:nvPr/>
        </p:nvSpPr>
        <p:spPr>
          <a:xfrm>
            <a:off x="4508089" y="0"/>
            <a:ext cx="98323" cy="68580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D281F19-B2E0-BA1B-CAE3-CDFD4CD03CCB}"/>
              </a:ext>
            </a:extLst>
          </p:cNvPr>
          <p:cNvSpPr/>
          <p:nvPr/>
        </p:nvSpPr>
        <p:spPr>
          <a:xfrm>
            <a:off x="0" y="6405717"/>
            <a:ext cx="12192000" cy="4571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4966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DC97118-368C-DC8A-A490-060D76BCB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572000" cy="6858000"/>
          </a:xfrm>
          <a:prstGeom prst="rect">
            <a:avLst/>
          </a:prstGeom>
        </p:spPr>
      </p:pic>
      <p:sp>
        <p:nvSpPr>
          <p:cNvPr id="3" name="Rectangle 2">
            <a:extLst>
              <a:ext uri="{FF2B5EF4-FFF2-40B4-BE49-F238E27FC236}">
                <a16:creationId xmlns:a16="http://schemas.microsoft.com/office/drawing/2014/main" id="{B32AF8F1-56BE-AC96-1DCA-4BD1E304B886}"/>
              </a:ext>
            </a:extLst>
          </p:cNvPr>
          <p:cNvSpPr/>
          <p:nvPr/>
        </p:nvSpPr>
        <p:spPr>
          <a:xfrm>
            <a:off x="0" y="452283"/>
            <a:ext cx="12192001" cy="412956"/>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0A704F2-9099-A777-53E7-9B3821B5FD98}"/>
              </a:ext>
            </a:extLst>
          </p:cNvPr>
          <p:cNvSpPr txBox="1"/>
          <p:nvPr/>
        </p:nvSpPr>
        <p:spPr>
          <a:xfrm>
            <a:off x="4640826" y="98321"/>
            <a:ext cx="7472516" cy="6632585"/>
          </a:xfrm>
          <a:prstGeom prst="rect">
            <a:avLst/>
          </a:prstGeom>
          <a:noFill/>
        </p:spPr>
        <p:txBody>
          <a:bodyPr wrap="square" rtlCol="0">
            <a:spAutoFit/>
          </a:bodyPr>
          <a:lstStyle/>
          <a:p>
            <a:pPr algn="r" rtl="1"/>
            <a:endParaRPr lang="fa-IR" sz="2500" dirty="0">
              <a:solidFill>
                <a:schemeClr val="bg1"/>
              </a:solidFill>
              <a:cs typeface="B Nazanin" panose="00000400000000000000" pitchFamily="2" charset="-78"/>
            </a:endParaRPr>
          </a:p>
          <a:p>
            <a:pPr algn="r" rtl="1"/>
            <a:r>
              <a:rPr lang="fa-IR" sz="2500" dirty="0">
                <a:solidFill>
                  <a:schemeClr val="bg1"/>
                </a:solidFill>
                <a:cs typeface="B Nazanin" panose="00000400000000000000" pitchFamily="2" charset="-78"/>
              </a:rPr>
              <a:t> </a:t>
            </a:r>
            <a:r>
              <a:rPr lang="fa-IR" sz="2500" b="1" dirty="0">
                <a:solidFill>
                  <a:schemeClr val="bg1"/>
                </a:solidFill>
                <a:cs typeface="B Bardiya" panose="00000400000000000000" pitchFamily="2" charset="-78"/>
              </a:rPr>
              <a:t>مصادیق قسمت های مشترک عبارتند از:</a:t>
            </a:r>
            <a:endParaRPr lang="en-US" sz="2500" dirty="0">
              <a:solidFill>
                <a:schemeClr val="bg1"/>
              </a:solidFill>
              <a:cs typeface="B Nazanin" panose="00000400000000000000" pitchFamily="2" charset="-78"/>
            </a:endParaRPr>
          </a:p>
          <a:p>
            <a:pPr algn="r" rtl="1"/>
            <a:endParaRPr lang="fa-IR" sz="2500" dirty="0">
              <a:solidFill>
                <a:schemeClr val="bg1"/>
              </a:solidFill>
              <a:cs typeface="B Nazanin" panose="00000400000000000000" pitchFamily="2" charset="-78"/>
            </a:endParaRPr>
          </a:p>
          <a:p>
            <a:pPr algn="r" rtl="1"/>
            <a:r>
              <a:rPr lang="fa-IR" sz="2500" dirty="0">
                <a:solidFill>
                  <a:schemeClr val="accent2"/>
                </a:solidFill>
                <a:cs typeface="B Nazanin" panose="00000400000000000000" pitchFamily="2" charset="-78"/>
              </a:rPr>
              <a:t>ج) </a:t>
            </a:r>
            <a:r>
              <a:rPr lang="fa-IR" sz="2500" dirty="0">
                <a:solidFill>
                  <a:schemeClr val="bg1"/>
                </a:solidFill>
                <a:cs typeface="B Nazanin" panose="00000400000000000000" pitchFamily="2" charset="-78"/>
              </a:rPr>
              <a:t>اسکلت ساختمان</a:t>
            </a:r>
          </a:p>
          <a:p>
            <a:pPr algn="r" rtl="1"/>
            <a:endParaRPr lang="fa-IR" sz="2500" dirty="0">
              <a:solidFill>
                <a:schemeClr val="bg1"/>
              </a:solidFill>
              <a:cs typeface="B Nazanin" panose="00000400000000000000" pitchFamily="2" charset="-78"/>
            </a:endParaRPr>
          </a:p>
          <a:p>
            <a:pPr algn="r" rtl="1"/>
            <a:r>
              <a:rPr lang="fa-IR" sz="2500" b="1" dirty="0">
                <a:solidFill>
                  <a:schemeClr val="accent2"/>
                </a:solidFill>
                <a:cs typeface="B Nazanin" panose="00000400000000000000" pitchFamily="2" charset="-78"/>
              </a:rPr>
              <a:t>نکته</a:t>
            </a:r>
            <a:r>
              <a:rPr lang="fa-IR" sz="2500" dirty="0">
                <a:solidFill>
                  <a:schemeClr val="accent2"/>
                </a:solidFill>
                <a:cs typeface="B Nazanin" panose="00000400000000000000" pitchFamily="2" charset="-78"/>
              </a:rPr>
              <a:t>:</a:t>
            </a:r>
            <a:r>
              <a:rPr lang="fa-IR" sz="2500" dirty="0">
                <a:solidFill>
                  <a:schemeClr val="bg1"/>
                </a:solidFill>
                <a:cs typeface="B Nazanin" panose="00000400000000000000" pitchFamily="2" charset="-78"/>
              </a:rPr>
              <a:t> جداره های فاصله بین قسمت های اختصاصی، مشترک بین آن قسمت هاست مشروط بر اینکه جزء اسکلت ساختمان نباشد.</a:t>
            </a:r>
            <a:endParaRPr lang="en-US" sz="2500" dirty="0">
              <a:solidFill>
                <a:schemeClr val="bg1"/>
              </a:solidFill>
              <a:cs typeface="B Nazanin" panose="00000400000000000000" pitchFamily="2" charset="-78"/>
            </a:endParaRPr>
          </a:p>
          <a:p>
            <a:pPr algn="r" rtl="1"/>
            <a:endParaRPr lang="en-US" sz="2500" dirty="0">
              <a:solidFill>
                <a:schemeClr val="bg1"/>
              </a:solidFill>
              <a:cs typeface="B Nazanin" panose="00000400000000000000" pitchFamily="2" charset="-78"/>
            </a:endParaRPr>
          </a:p>
          <a:p>
            <a:pPr algn="r" rtl="1"/>
            <a:r>
              <a:rPr lang="fa-IR" sz="2500" dirty="0">
                <a:solidFill>
                  <a:schemeClr val="accent2"/>
                </a:solidFill>
                <a:cs typeface="B Nazanin" panose="00000400000000000000" pitchFamily="2" charset="-78"/>
              </a:rPr>
              <a:t>د) </a:t>
            </a:r>
            <a:r>
              <a:rPr lang="fa-IR" sz="2500" dirty="0">
                <a:solidFill>
                  <a:schemeClr val="bg1"/>
                </a:solidFill>
                <a:cs typeface="B Nazanin" panose="00000400000000000000" pitchFamily="2" charset="-78"/>
              </a:rPr>
              <a:t>درها و پنجره ها، راهروها، پله ها، پاگردها که خارج از قسمت های اختصاصی قرار گرفته اند.</a:t>
            </a:r>
          </a:p>
          <a:p>
            <a:pPr algn="r" rtl="1"/>
            <a:endParaRPr lang="fa-IR" sz="2500" dirty="0">
              <a:solidFill>
                <a:schemeClr val="bg1"/>
              </a:solidFill>
              <a:cs typeface="B Nazanin" panose="00000400000000000000" pitchFamily="2" charset="-78"/>
            </a:endParaRPr>
          </a:p>
          <a:p>
            <a:pPr algn="r" rtl="1"/>
            <a:r>
              <a:rPr lang="fa-IR" sz="2500" dirty="0">
                <a:solidFill>
                  <a:schemeClr val="accent2"/>
                </a:solidFill>
                <a:cs typeface="B Nazanin" panose="00000400000000000000" pitchFamily="2" charset="-78"/>
              </a:rPr>
              <a:t>هـ) </a:t>
            </a:r>
            <a:r>
              <a:rPr lang="fa-IR" sz="2500" dirty="0">
                <a:solidFill>
                  <a:schemeClr val="bg1"/>
                </a:solidFill>
                <a:cs typeface="B Nazanin" panose="00000400000000000000" pitchFamily="2" charset="-78"/>
              </a:rPr>
              <a:t>تاسیسات مربوط به راه پله از قبیل وسایل تامین کننده روشنایی، تلفن و وسایل اخبار و همچنین تاسیسات مربوط به آن ها به استثنای تلفن های اختصاصی، شیرهای آتش نشانی، آسانسور و محل آن، محل اختتام پله و ورود به بام و پله های ایمنی.</a:t>
            </a:r>
          </a:p>
          <a:p>
            <a:pPr algn="r" rtl="1"/>
            <a:endParaRPr lang="fa-IR" sz="2500" dirty="0">
              <a:solidFill>
                <a:schemeClr val="bg1"/>
              </a:solidFill>
              <a:cs typeface="B Nazanin" panose="00000400000000000000" pitchFamily="2" charset="-78"/>
            </a:endParaRPr>
          </a:p>
          <a:p>
            <a:pPr algn="r" rtl="1"/>
            <a:endParaRPr lang="fa-IR" sz="2500" dirty="0">
              <a:solidFill>
                <a:schemeClr val="bg1"/>
              </a:solidFill>
              <a:cs typeface="B Nazanin" panose="00000400000000000000" pitchFamily="2" charset="-78"/>
            </a:endParaRPr>
          </a:p>
        </p:txBody>
      </p:sp>
      <p:sp>
        <p:nvSpPr>
          <p:cNvPr id="8" name="Rectangle 7">
            <a:extLst>
              <a:ext uri="{FF2B5EF4-FFF2-40B4-BE49-F238E27FC236}">
                <a16:creationId xmlns:a16="http://schemas.microsoft.com/office/drawing/2014/main" id="{3BE89498-4A5C-E1FA-C05D-6BAFF0992E97}"/>
              </a:ext>
            </a:extLst>
          </p:cNvPr>
          <p:cNvSpPr/>
          <p:nvPr/>
        </p:nvSpPr>
        <p:spPr>
          <a:xfrm>
            <a:off x="4508089" y="0"/>
            <a:ext cx="98323" cy="68580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D281F19-B2E0-BA1B-CAE3-CDFD4CD03CCB}"/>
              </a:ext>
            </a:extLst>
          </p:cNvPr>
          <p:cNvSpPr/>
          <p:nvPr/>
        </p:nvSpPr>
        <p:spPr>
          <a:xfrm>
            <a:off x="0" y="6405717"/>
            <a:ext cx="12192000" cy="4571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0381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4DC97118-368C-DC8A-A490-060D76BCB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572000" cy="6858000"/>
          </a:xfrm>
          <a:prstGeom prst="rect">
            <a:avLst/>
          </a:prstGeom>
        </p:spPr>
      </p:pic>
      <p:sp>
        <p:nvSpPr>
          <p:cNvPr id="3" name="Rectangle 2">
            <a:extLst>
              <a:ext uri="{FF2B5EF4-FFF2-40B4-BE49-F238E27FC236}">
                <a16:creationId xmlns:a16="http://schemas.microsoft.com/office/drawing/2014/main" id="{B32AF8F1-56BE-AC96-1DCA-4BD1E304B886}"/>
              </a:ext>
            </a:extLst>
          </p:cNvPr>
          <p:cNvSpPr/>
          <p:nvPr/>
        </p:nvSpPr>
        <p:spPr>
          <a:xfrm>
            <a:off x="0" y="452282"/>
            <a:ext cx="12192001" cy="52321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BE89498-4A5C-E1FA-C05D-6BAFF0992E97}"/>
              </a:ext>
            </a:extLst>
          </p:cNvPr>
          <p:cNvSpPr/>
          <p:nvPr/>
        </p:nvSpPr>
        <p:spPr>
          <a:xfrm>
            <a:off x="4508089" y="0"/>
            <a:ext cx="98323" cy="68580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D281F19-B2E0-BA1B-CAE3-CDFD4CD03CCB}"/>
              </a:ext>
            </a:extLst>
          </p:cNvPr>
          <p:cNvSpPr/>
          <p:nvPr/>
        </p:nvSpPr>
        <p:spPr>
          <a:xfrm>
            <a:off x="0" y="6405717"/>
            <a:ext cx="12192000" cy="4571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73B51AE-6415-4B95-955A-A21897EEBEA9}"/>
              </a:ext>
            </a:extLst>
          </p:cNvPr>
          <p:cNvSpPr txBox="1"/>
          <p:nvPr/>
        </p:nvSpPr>
        <p:spPr>
          <a:xfrm>
            <a:off x="4894006" y="1050155"/>
            <a:ext cx="7010400" cy="3970318"/>
          </a:xfrm>
          <a:prstGeom prst="rect">
            <a:avLst/>
          </a:prstGeom>
          <a:noFill/>
        </p:spPr>
        <p:txBody>
          <a:bodyPr wrap="square" rtlCol="0">
            <a:spAutoFit/>
          </a:bodyPr>
          <a:lstStyle/>
          <a:p>
            <a:pPr algn="r"/>
            <a:endParaRPr lang="fa-IR" sz="2800" dirty="0">
              <a:solidFill>
                <a:schemeClr val="bg1"/>
              </a:solidFill>
              <a:cs typeface="B Nazanin" panose="00000400000000000000" pitchFamily="2" charset="-78"/>
            </a:endParaRPr>
          </a:p>
          <a:p>
            <a:pPr algn="r"/>
            <a:r>
              <a:rPr lang="fa-IR" sz="2800" dirty="0">
                <a:solidFill>
                  <a:schemeClr val="accent2"/>
                </a:solidFill>
                <a:cs typeface="B Nazanin" panose="00000400000000000000" pitchFamily="2" charset="-78"/>
              </a:rPr>
              <a:t>ت) </a:t>
            </a:r>
            <a:r>
              <a:rPr lang="fa-IR" sz="2800" dirty="0">
                <a:solidFill>
                  <a:schemeClr val="bg1"/>
                </a:solidFill>
                <a:cs typeface="B Nazanin" panose="00000400000000000000" pitchFamily="2" charset="-78"/>
              </a:rPr>
              <a:t>بام و کلیه تاسیساتی که برای استفاده عموم  شرکاء و یا حفظ بنا در آن احداث گردیده است.</a:t>
            </a:r>
          </a:p>
          <a:p>
            <a:pPr algn="r"/>
            <a:endParaRPr lang="fa-IR" sz="2800" dirty="0">
              <a:solidFill>
                <a:schemeClr val="bg1"/>
              </a:solidFill>
              <a:cs typeface="B Nazanin" panose="00000400000000000000" pitchFamily="2" charset="-78"/>
            </a:endParaRPr>
          </a:p>
          <a:p>
            <a:pPr algn="r"/>
            <a:r>
              <a:rPr lang="fa-IR" sz="2800" dirty="0">
                <a:solidFill>
                  <a:schemeClr val="accent2"/>
                </a:solidFill>
                <a:cs typeface="B Nazanin" panose="00000400000000000000" pitchFamily="2" charset="-78"/>
              </a:rPr>
              <a:t>ح) </a:t>
            </a:r>
            <a:r>
              <a:rPr lang="fa-IR" sz="2800" dirty="0">
                <a:solidFill>
                  <a:schemeClr val="bg1"/>
                </a:solidFill>
                <a:cs typeface="B Nazanin" panose="00000400000000000000" pitchFamily="2" charset="-78"/>
              </a:rPr>
              <a:t>نمای خارجی ساختمان</a:t>
            </a:r>
          </a:p>
          <a:p>
            <a:pPr algn="r"/>
            <a:endParaRPr lang="fa-IR" sz="2800" dirty="0">
              <a:solidFill>
                <a:schemeClr val="bg1"/>
              </a:solidFill>
              <a:cs typeface="B Nazanin" panose="00000400000000000000" pitchFamily="2" charset="-78"/>
            </a:endParaRPr>
          </a:p>
          <a:p>
            <a:pPr algn="r"/>
            <a:r>
              <a:rPr lang="fa-IR" sz="2800" dirty="0">
                <a:solidFill>
                  <a:schemeClr val="accent2"/>
                </a:solidFill>
                <a:cs typeface="B Nazanin" panose="00000400000000000000" pitchFamily="2" charset="-78"/>
              </a:rPr>
              <a:t>خ) </a:t>
            </a:r>
            <a:r>
              <a:rPr lang="fa-IR" sz="2800" dirty="0">
                <a:solidFill>
                  <a:schemeClr val="bg1"/>
                </a:solidFill>
                <a:cs typeface="B Nazanin" panose="00000400000000000000" pitchFamily="2" charset="-78"/>
              </a:rPr>
              <a:t>محوطه ساختمان، باغ ها و پارک ها که جنبه استفاده عمومی دارد و در سند قسمت های اختصاصی نیز ثبت نشده باشد.</a:t>
            </a:r>
          </a:p>
        </p:txBody>
      </p:sp>
      <p:sp>
        <p:nvSpPr>
          <p:cNvPr id="6" name="TextBox 5">
            <a:extLst>
              <a:ext uri="{FF2B5EF4-FFF2-40B4-BE49-F238E27FC236}">
                <a16:creationId xmlns:a16="http://schemas.microsoft.com/office/drawing/2014/main" id="{A4D30844-1B26-F9C3-97D9-DDBE66C75ECB}"/>
              </a:ext>
            </a:extLst>
          </p:cNvPr>
          <p:cNvSpPr txBox="1"/>
          <p:nvPr/>
        </p:nvSpPr>
        <p:spPr>
          <a:xfrm>
            <a:off x="6973455" y="452283"/>
            <a:ext cx="5218546" cy="523220"/>
          </a:xfrm>
          <a:prstGeom prst="rect">
            <a:avLst/>
          </a:prstGeom>
          <a:noFill/>
        </p:spPr>
        <p:txBody>
          <a:bodyPr wrap="square" rtlCol="0">
            <a:spAutoFit/>
          </a:bodyPr>
          <a:lstStyle/>
          <a:p>
            <a:r>
              <a:rPr lang="fa-IR" sz="2800" b="1" dirty="0">
                <a:solidFill>
                  <a:schemeClr val="bg1"/>
                </a:solidFill>
                <a:cs typeface="B Bardiya" panose="00000400000000000000" pitchFamily="2" charset="-78"/>
              </a:rPr>
              <a:t>مصادیق قسمت های مشترک عبارتند از:</a:t>
            </a:r>
          </a:p>
        </p:txBody>
      </p:sp>
    </p:spTree>
    <p:extLst>
      <p:ext uri="{BB962C8B-B14F-4D97-AF65-F5344CB8AC3E}">
        <p14:creationId xmlns:p14="http://schemas.microsoft.com/office/powerpoint/2010/main" val="4000514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862797" y="0"/>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5F1452F-2A7A-CBED-8F25-F5B63AC38AB1}"/>
              </a:ext>
            </a:extLst>
          </p:cNvPr>
          <p:cNvSpPr/>
          <p:nvPr/>
        </p:nvSpPr>
        <p:spPr>
          <a:xfrm>
            <a:off x="7000875" y="0"/>
            <a:ext cx="5191125"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ماده3</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6934235" y="1615537"/>
            <a:ext cx="5010150" cy="2785378"/>
          </a:xfrm>
          <a:prstGeom prst="rect">
            <a:avLst/>
          </a:prstGeom>
          <a:noFill/>
        </p:spPr>
        <p:txBody>
          <a:bodyPr wrap="square" rtlCol="0">
            <a:spAutoFit/>
          </a:bodyPr>
          <a:lstStyle/>
          <a:p>
            <a:pPr algn="r"/>
            <a:r>
              <a:rPr lang="fa-IR" sz="2500" dirty="0">
                <a:solidFill>
                  <a:schemeClr val="bg1"/>
                </a:solidFill>
                <a:cs typeface="B Nazanin" panose="00000400000000000000" pitchFamily="2" charset="-78"/>
              </a:rPr>
              <a:t>حقوق هر مالک در قسمت اختصاصی و حصه او در</a:t>
            </a:r>
            <a:endParaRPr lang="en-US" sz="2500" dirty="0">
              <a:solidFill>
                <a:schemeClr val="bg1"/>
              </a:solidFill>
              <a:cs typeface="B Nazanin" panose="00000400000000000000" pitchFamily="2" charset="-78"/>
            </a:endParaRPr>
          </a:p>
          <a:p>
            <a:pPr algn="r"/>
            <a:endParaRPr lang="en-US" sz="2500" dirty="0">
              <a:solidFill>
                <a:schemeClr val="bg1"/>
              </a:solidFill>
              <a:cs typeface="B Nazanin" panose="00000400000000000000" pitchFamily="2" charset="-78"/>
            </a:endParaRPr>
          </a:p>
          <a:p>
            <a:pPr algn="r"/>
            <a:r>
              <a:rPr lang="fa-IR" sz="2500" dirty="0">
                <a:solidFill>
                  <a:schemeClr val="bg1"/>
                </a:solidFill>
                <a:cs typeface="B Nazanin" panose="00000400000000000000" pitchFamily="2" charset="-78"/>
              </a:rPr>
              <a:t> قسمت های مشترک غیرقابل تفکیک بوده و در</a:t>
            </a:r>
            <a:endParaRPr lang="en-US" sz="2500" dirty="0">
              <a:solidFill>
                <a:schemeClr val="bg1"/>
              </a:solidFill>
              <a:cs typeface="B Nazanin" panose="00000400000000000000" pitchFamily="2" charset="-78"/>
            </a:endParaRPr>
          </a:p>
          <a:p>
            <a:pPr algn="r"/>
            <a:endParaRPr lang="en-US" sz="2500" dirty="0">
              <a:solidFill>
                <a:schemeClr val="bg1"/>
              </a:solidFill>
              <a:cs typeface="B Nazanin" panose="00000400000000000000" pitchFamily="2" charset="-78"/>
            </a:endParaRPr>
          </a:p>
          <a:p>
            <a:pPr algn="r"/>
            <a:r>
              <a:rPr lang="fa-IR" sz="2500" dirty="0">
                <a:solidFill>
                  <a:schemeClr val="bg1"/>
                </a:solidFill>
                <a:cs typeface="B Nazanin" panose="00000400000000000000" pitchFamily="2" charset="-78"/>
              </a:rPr>
              <a:t> صورت انتقال قسمت اختصاصی به هر صورتی که</a:t>
            </a:r>
            <a:endParaRPr lang="en-US" sz="2500" dirty="0">
              <a:solidFill>
                <a:schemeClr val="bg1"/>
              </a:solidFill>
              <a:cs typeface="B Nazanin" panose="00000400000000000000" pitchFamily="2" charset="-78"/>
            </a:endParaRPr>
          </a:p>
          <a:p>
            <a:pPr algn="r"/>
            <a:endParaRPr lang="en-US" sz="2500" dirty="0">
              <a:solidFill>
                <a:schemeClr val="bg1"/>
              </a:solidFill>
              <a:cs typeface="B Nazanin" panose="00000400000000000000" pitchFamily="2" charset="-78"/>
            </a:endParaRPr>
          </a:p>
          <a:p>
            <a:pPr algn="r"/>
            <a:r>
              <a:rPr lang="en-US" sz="2500" dirty="0">
                <a:solidFill>
                  <a:schemeClr val="bg1"/>
                </a:solidFill>
                <a:cs typeface="B Nazanin" panose="00000400000000000000" pitchFamily="2" charset="-78"/>
              </a:rPr>
              <a:t> </a:t>
            </a:r>
            <a:r>
              <a:rPr lang="fa-IR" sz="2500" dirty="0">
                <a:solidFill>
                  <a:schemeClr val="bg1"/>
                </a:solidFill>
                <a:cs typeface="B Nazanin" panose="00000400000000000000" pitchFamily="2" charset="-78"/>
              </a:rPr>
              <a:t>باشد انتقال قسمت مشترک اجباری خواهد بود.</a:t>
            </a:r>
          </a:p>
        </p:txBody>
      </p:sp>
      <p:sp>
        <p:nvSpPr>
          <p:cNvPr id="14" name="Oval 13">
            <a:extLst>
              <a:ext uri="{FF2B5EF4-FFF2-40B4-BE49-F238E27FC236}">
                <a16:creationId xmlns:a16="http://schemas.microsoft.com/office/drawing/2014/main" id="{29758C3A-EEE8-4DEA-005E-30DB19919E42}"/>
              </a:ext>
            </a:extLst>
          </p:cNvPr>
          <p:cNvSpPr/>
          <p:nvPr/>
        </p:nvSpPr>
        <p:spPr>
          <a:xfrm>
            <a:off x="11928835" y="1745827"/>
            <a:ext cx="202479" cy="230232"/>
          </a:xfrm>
          <a:prstGeom prst="ellipse">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15FACBB-49B5-6A15-CB6A-E82469B9D900}"/>
              </a:ext>
            </a:extLst>
          </p:cNvPr>
          <p:cNvSpPr/>
          <p:nvPr/>
        </p:nvSpPr>
        <p:spPr>
          <a:xfrm>
            <a:off x="5334000" y="5860026"/>
            <a:ext cx="6858000" cy="147484"/>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4762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462711"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446884" y="0"/>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F1452F-2A7A-CBED-8F25-F5B63AC38AB1}"/>
              </a:ext>
            </a:extLst>
          </p:cNvPr>
          <p:cNvSpPr/>
          <p:nvPr/>
        </p:nvSpPr>
        <p:spPr>
          <a:xfrm>
            <a:off x="6589759" y="0"/>
            <a:ext cx="5602241"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ماده3</a:t>
            </a:r>
            <a:endParaRPr lang="en-US" sz="2400" dirty="0">
              <a:cs typeface="B Bardiya" panose="00000400000000000000" pitchFamily="2" charset="-78"/>
            </a:endParaRPr>
          </a:p>
        </p:txBody>
      </p:sp>
      <p:sp>
        <p:nvSpPr>
          <p:cNvPr id="2" name="Rectangle 1">
            <a:extLst>
              <a:ext uri="{FF2B5EF4-FFF2-40B4-BE49-F238E27FC236}">
                <a16:creationId xmlns:a16="http://schemas.microsoft.com/office/drawing/2014/main" id="{2766E0D0-0351-1A2D-74AB-B1AFAB3E0C94}"/>
              </a:ext>
            </a:extLst>
          </p:cNvPr>
          <p:cNvSpPr/>
          <p:nvPr/>
        </p:nvSpPr>
        <p:spPr>
          <a:xfrm>
            <a:off x="0" y="6421435"/>
            <a:ext cx="7158182" cy="117353"/>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F50EB9A-E64C-7830-1F3B-354B06C8FEAB}"/>
              </a:ext>
            </a:extLst>
          </p:cNvPr>
          <p:cNvSpPr txBox="1"/>
          <p:nvPr/>
        </p:nvSpPr>
        <p:spPr>
          <a:xfrm>
            <a:off x="6647485" y="691033"/>
            <a:ext cx="5486788" cy="5847755"/>
          </a:xfrm>
          <a:prstGeom prst="rect">
            <a:avLst/>
          </a:prstGeom>
          <a:noFill/>
        </p:spPr>
        <p:txBody>
          <a:bodyPr wrap="square" rtlCol="0">
            <a:spAutoFit/>
          </a:bodyPr>
          <a:lstStyle/>
          <a:p>
            <a:pPr algn="r"/>
            <a:r>
              <a:rPr lang="fa-IR" sz="2200" b="1" dirty="0">
                <a:solidFill>
                  <a:srgbClr val="CF7332"/>
                </a:solidFill>
                <a:cs typeface="B Nazanin" panose="00000400000000000000" pitchFamily="2" charset="-78"/>
              </a:rPr>
              <a:t>نکته: </a:t>
            </a:r>
            <a:r>
              <a:rPr lang="fa-IR" sz="2200" dirty="0">
                <a:solidFill>
                  <a:schemeClr val="bg1"/>
                </a:solidFill>
                <a:cs typeface="B Nazanin" panose="00000400000000000000" pitchFamily="2" charset="-78"/>
              </a:rPr>
              <a:t>هنگام خرید ملک، علاوه بر انتقال قسمت اختصاصی به</a:t>
            </a:r>
          </a:p>
          <a:p>
            <a:pPr algn="r"/>
            <a:endParaRPr lang="fa-IR" sz="2200" dirty="0">
              <a:solidFill>
                <a:schemeClr val="bg1"/>
              </a:solidFill>
              <a:cs typeface="B Nazanin" panose="00000400000000000000" pitchFamily="2" charset="-78"/>
            </a:endParaRPr>
          </a:p>
          <a:p>
            <a:pPr algn="r"/>
            <a:r>
              <a:rPr lang="fa-IR" sz="2200" dirty="0">
                <a:solidFill>
                  <a:schemeClr val="bg1"/>
                </a:solidFill>
                <a:cs typeface="B Nazanin" panose="00000400000000000000" pitchFamily="2" charset="-78"/>
              </a:rPr>
              <a:t> مالک، او حق استفاده از قسمت های مشترک را نیز پیدا میکند</a:t>
            </a:r>
          </a:p>
          <a:p>
            <a:pPr algn="r"/>
            <a:endParaRPr lang="fa-IR" sz="2200" dirty="0">
              <a:solidFill>
                <a:schemeClr val="bg1"/>
              </a:solidFill>
              <a:cs typeface="B Nazanin" panose="00000400000000000000" pitchFamily="2" charset="-78"/>
            </a:endParaRPr>
          </a:p>
          <a:p>
            <a:pPr algn="r"/>
            <a:r>
              <a:rPr lang="fa-IR" sz="2200" dirty="0">
                <a:solidFill>
                  <a:schemeClr val="bg1"/>
                </a:solidFill>
                <a:cs typeface="B Nazanin" panose="00000400000000000000" pitchFamily="2" charset="-78"/>
              </a:rPr>
              <a:t> و این دو حق از یکدیگر جدایی ناپذیر هستند یعنی تا زمانی</a:t>
            </a:r>
          </a:p>
          <a:p>
            <a:pPr algn="r"/>
            <a:endParaRPr lang="fa-IR" sz="2200" dirty="0">
              <a:solidFill>
                <a:schemeClr val="bg1"/>
              </a:solidFill>
              <a:cs typeface="B Nazanin" panose="00000400000000000000" pitchFamily="2" charset="-78"/>
            </a:endParaRPr>
          </a:p>
          <a:p>
            <a:pPr algn="r"/>
            <a:r>
              <a:rPr lang="fa-IR" sz="2200" dirty="0">
                <a:solidFill>
                  <a:schemeClr val="bg1"/>
                </a:solidFill>
                <a:cs typeface="B Nazanin" panose="00000400000000000000" pitchFamily="2" charset="-78"/>
              </a:rPr>
              <a:t> که مالک درقسمت اختصاصی خود ساکن است، حق استفاده از</a:t>
            </a:r>
          </a:p>
          <a:p>
            <a:pPr algn="r"/>
            <a:endParaRPr lang="fa-IR" sz="2200" dirty="0">
              <a:solidFill>
                <a:schemeClr val="bg1"/>
              </a:solidFill>
              <a:cs typeface="B Nazanin" panose="00000400000000000000" pitchFamily="2" charset="-78"/>
            </a:endParaRPr>
          </a:p>
          <a:p>
            <a:pPr algn="r"/>
            <a:r>
              <a:rPr lang="fa-IR" sz="2200" dirty="0">
                <a:solidFill>
                  <a:schemeClr val="bg1"/>
                </a:solidFill>
                <a:cs typeface="B Nazanin" panose="00000400000000000000" pitchFamily="2" charset="-78"/>
              </a:rPr>
              <a:t> قسمت های مشترک را نیز دارد و نمی تواند هیچ یک از این</a:t>
            </a:r>
          </a:p>
          <a:p>
            <a:pPr algn="r"/>
            <a:endParaRPr lang="fa-IR" sz="2200" dirty="0">
              <a:solidFill>
                <a:schemeClr val="bg1"/>
              </a:solidFill>
              <a:cs typeface="B Nazanin" panose="00000400000000000000" pitchFamily="2" charset="-78"/>
            </a:endParaRPr>
          </a:p>
          <a:p>
            <a:pPr algn="r"/>
            <a:r>
              <a:rPr lang="fa-IR" sz="2200" dirty="0">
                <a:solidFill>
                  <a:schemeClr val="bg1"/>
                </a:solidFill>
                <a:cs typeface="B Nazanin" panose="00000400000000000000" pitchFamily="2" charset="-78"/>
              </a:rPr>
              <a:t> دو حق را به صورت جدا به فرد دیگری انتقال دهد. بلکه هنگام</a:t>
            </a:r>
          </a:p>
          <a:p>
            <a:pPr algn="r"/>
            <a:endParaRPr lang="fa-IR" sz="2200" dirty="0">
              <a:solidFill>
                <a:schemeClr val="bg1"/>
              </a:solidFill>
              <a:cs typeface="B Nazanin" panose="00000400000000000000" pitchFamily="2" charset="-78"/>
            </a:endParaRPr>
          </a:p>
          <a:p>
            <a:pPr algn="r"/>
            <a:r>
              <a:rPr lang="fa-IR" sz="2200" dirty="0">
                <a:solidFill>
                  <a:schemeClr val="bg1"/>
                </a:solidFill>
                <a:cs typeface="B Nazanin" panose="00000400000000000000" pitchFamily="2" charset="-78"/>
              </a:rPr>
              <a:t> انتقال، این دو حق باهم به دارنده جدید تعلق خواهد گرفت.</a:t>
            </a:r>
          </a:p>
          <a:p>
            <a:pPr algn="r"/>
            <a:endParaRPr lang="fa-IR" sz="2200" dirty="0">
              <a:solidFill>
                <a:schemeClr val="bg1"/>
              </a:solidFill>
              <a:cs typeface="B Nazanin" panose="00000400000000000000" pitchFamily="2" charset="-78"/>
            </a:endParaRPr>
          </a:p>
          <a:p>
            <a:pPr algn="r"/>
            <a:r>
              <a:rPr lang="fa-IR" sz="2200" dirty="0">
                <a:solidFill>
                  <a:schemeClr val="bg1"/>
                </a:solidFill>
                <a:cs typeface="B Nazanin" panose="00000400000000000000" pitchFamily="2" charset="-78"/>
              </a:rPr>
              <a:t> ضمن اینکه این انتقال به صورت خودکار صورت خواهد</a:t>
            </a:r>
          </a:p>
          <a:p>
            <a:pPr algn="r"/>
            <a:endParaRPr lang="fa-IR" sz="2200" dirty="0">
              <a:solidFill>
                <a:schemeClr val="bg1"/>
              </a:solidFill>
              <a:cs typeface="B Nazanin" panose="00000400000000000000" pitchFamily="2" charset="-78"/>
            </a:endParaRPr>
          </a:p>
          <a:p>
            <a:pPr algn="r"/>
            <a:r>
              <a:rPr lang="fa-IR" sz="2200" dirty="0">
                <a:solidFill>
                  <a:schemeClr val="bg1"/>
                </a:solidFill>
                <a:cs typeface="B Nazanin" panose="00000400000000000000" pitchFamily="2" charset="-78"/>
              </a:rPr>
              <a:t> پذیرفت و نیاز به درخواست دارنده جدید ندارد.</a:t>
            </a:r>
            <a:endParaRPr lang="en-US" sz="2200" dirty="0">
              <a:solidFill>
                <a:schemeClr val="bg1"/>
              </a:solidFill>
              <a:cs typeface="B Nazanin" panose="00000400000000000000" pitchFamily="2" charset="-78"/>
            </a:endParaRPr>
          </a:p>
        </p:txBody>
      </p:sp>
    </p:spTree>
    <p:extLst>
      <p:ext uri="{BB962C8B-B14F-4D97-AF65-F5344CB8AC3E}">
        <p14:creationId xmlns:p14="http://schemas.microsoft.com/office/powerpoint/2010/main" val="207563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648C5DD-4ACA-7D83-6C19-0CD5EFA62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9471"/>
          </a:xfrm>
          <a:prstGeom prst="rect">
            <a:avLst/>
          </a:prstGeom>
        </p:spPr>
      </p:pic>
      <p:sp>
        <p:nvSpPr>
          <p:cNvPr id="17" name="Rectangle 16">
            <a:extLst>
              <a:ext uri="{FF2B5EF4-FFF2-40B4-BE49-F238E27FC236}">
                <a16:creationId xmlns:a16="http://schemas.microsoft.com/office/drawing/2014/main" id="{7B895A5D-8C00-7912-2721-0B622E142DE7}"/>
              </a:ext>
            </a:extLst>
          </p:cNvPr>
          <p:cNvSpPr/>
          <p:nvPr/>
        </p:nvSpPr>
        <p:spPr>
          <a:xfrm>
            <a:off x="0" y="2084439"/>
            <a:ext cx="12192000" cy="3067663"/>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03974" y="0"/>
            <a:ext cx="1288027" cy="600075"/>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ماده4</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235974" y="2317467"/>
            <a:ext cx="12427974" cy="2462213"/>
          </a:xfrm>
          <a:prstGeom prst="rect">
            <a:avLst/>
          </a:prstGeom>
          <a:noFill/>
        </p:spPr>
        <p:txBody>
          <a:bodyPr wrap="square" rtlCol="0">
            <a:spAutoFit/>
          </a:bodyPr>
          <a:lstStyle/>
          <a:p>
            <a:pPr algn="r"/>
            <a:r>
              <a:rPr lang="fa-IR" sz="2200" b="1" dirty="0">
                <a:solidFill>
                  <a:schemeClr val="bg1"/>
                </a:solidFill>
                <a:cs typeface="B Nazanin" panose="00000400000000000000" pitchFamily="2" charset="-78"/>
              </a:rPr>
              <a:t>حقوق و تعهدات و همچنین سهم هر یک از مالکان قسمت های اختصاصی از مخارج قسمت های مشترک متناسب است با نسبت</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 مساحت قسمت اختصاصی به مجموع مساحت قسمت های اختصاصی تمام ساختمان به جز هزینه هایی که به دلیل عدم ارتباط با</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 مساحت زیربنا به نحو مساوی تقسیم خواهد شد و یا اینکه مالکان ترتیب دیگری را برای تقسیم حقوق و تعهدات و مخارج پیش</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 بینی کرده باشند. پرداخت هزینه های مشترک اعم از اینکه ملک مورد استفاده قرار گیرد یا نگیرد، الزامی است.</a:t>
            </a:r>
          </a:p>
        </p:txBody>
      </p:sp>
      <p:sp>
        <p:nvSpPr>
          <p:cNvPr id="2" name="Rectangle 1">
            <a:extLst>
              <a:ext uri="{FF2B5EF4-FFF2-40B4-BE49-F238E27FC236}">
                <a16:creationId xmlns:a16="http://schemas.microsoft.com/office/drawing/2014/main" id="{757A3C2D-4AF3-92FE-6DDE-62C5E9D8B81D}"/>
              </a:ext>
            </a:extLst>
          </p:cNvPr>
          <p:cNvSpPr/>
          <p:nvPr/>
        </p:nvSpPr>
        <p:spPr>
          <a:xfrm>
            <a:off x="0" y="461818"/>
            <a:ext cx="10903974" cy="138257"/>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8FE6530-5DCB-876A-4FA6-A904CD4725C5}"/>
              </a:ext>
            </a:extLst>
          </p:cNvPr>
          <p:cNvSpPr/>
          <p:nvPr/>
        </p:nvSpPr>
        <p:spPr>
          <a:xfrm>
            <a:off x="10903974" y="600075"/>
            <a:ext cx="151953" cy="1484363"/>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696CF1F-77D5-FF16-5A64-D3C2A044C36F}"/>
              </a:ext>
            </a:extLst>
          </p:cNvPr>
          <p:cNvSpPr/>
          <p:nvPr/>
        </p:nvSpPr>
        <p:spPr>
          <a:xfrm>
            <a:off x="10903974" y="4829137"/>
            <a:ext cx="151953" cy="2028863"/>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BAC6CAD-D93A-70CC-149C-84C88A0D2E23}"/>
              </a:ext>
            </a:extLst>
          </p:cNvPr>
          <p:cNvSpPr/>
          <p:nvPr/>
        </p:nvSpPr>
        <p:spPr>
          <a:xfrm>
            <a:off x="290498" y="-49457"/>
            <a:ext cx="151953" cy="2183771"/>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1FC6773-76E3-7270-68EB-304C7DEB6ABD}"/>
              </a:ext>
            </a:extLst>
          </p:cNvPr>
          <p:cNvSpPr/>
          <p:nvPr/>
        </p:nvSpPr>
        <p:spPr>
          <a:xfrm>
            <a:off x="290498" y="4962833"/>
            <a:ext cx="151953" cy="1895168"/>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EE59BEC-4BF2-2ADC-F658-295BE6374A47}"/>
              </a:ext>
            </a:extLst>
          </p:cNvPr>
          <p:cNvSpPr/>
          <p:nvPr/>
        </p:nvSpPr>
        <p:spPr>
          <a:xfrm>
            <a:off x="0" y="6234545"/>
            <a:ext cx="12192000" cy="161637"/>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7532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5C838F-BA52-DBDE-5E45-F31FF6F07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0972799" cy="6858000"/>
          </a:xfrm>
          <a:prstGeom prst="rect">
            <a:avLst/>
          </a:prstGeom>
        </p:spPr>
      </p:pic>
      <p:sp>
        <p:nvSpPr>
          <p:cNvPr id="8" name="Rectangle 7">
            <a:extLst>
              <a:ext uri="{FF2B5EF4-FFF2-40B4-BE49-F238E27FC236}">
                <a16:creationId xmlns:a16="http://schemas.microsoft.com/office/drawing/2014/main" id="{EFCB2F48-EB7E-7D8C-E3BB-630ABDEEDF13}"/>
              </a:ext>
            </a:extLst>
          </p:cNvPr>
          <p:cNvSpPr/>
          <p:nvPr/>
        </p:nvSpPr>
        <p:spPr>
          <a:xfrm>
            <a:off x="5106220" y="-12291"/>
            <a:ext cx="5817419" cy="6025162"/>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1A1333E-FFDA-9EA1-4B38-339DCE5DBE0A}"/>
              </a:ext>
            </a:extLst>
          </p:cNvPr>
          <p:cNvPicPr>
            <a:picLocks noChangeAspect="1"/>
          </p:cNvPicPr>
          <p:nvPr/>
        </p:nvPicPr>
        <p:blipFill rotWithShape="1">
          <a:blip r:embed="rId2">
            <a:extLst>
              <a:ext uri="{28A0092B-C50C-407E-A947-70E740481C1C}">
                <a14:useLocalDpi xmlns:a14="http://schemas.microsoft.com/office/drawing/2010/main" val="0"/>
              </a:ext>
            </a:extLst>
          </a:blip>
          <a:srcRect l="89088"/>
          <a:stretch/>
        </p:blipFill>
        <p:spPr>
          <a:xfrm flipH="1">
            <a:off x="10992465" y="0"/>
            <a:ext cx="1199536" cy="6858000"/>
          </a:xfrm>
          <a:prstGeom prst="rect">
            <a:avLst/>
          </a:prstGeom>
        </p:spPr>
      </p:pic>
      <p:sp>
        <p:nvSpPr>
          <p:cNvPr id="10" name="Rectangle 9">
            <a:extLst>
              <a:ext uri="{FF2B5EF4-FFF2-40B4-BE49-F238E27FC236}">
                <a16:creationId xmlns:a16="http://schemas.microsoft.com/office/drawing/2014/main" id="{60278153-AD12-15EE-9D05-70CB5337FF30}"/>
              </a:ext>
            </a:extLst>
          </p:cNvPr>
          <p:cNvSpPr/>
          <p:nvPr/>
        </p:nvSpPr>
        <p:spPr>
          <a:xfrm>
            <a:off x="10923639" y="-12291"/>
            <a:ext cx="127820" cy="68702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2D955B-4950-6656-0B54-0D359F2700AE}"/>
              </a:ext>
            </a:extLst>
          </p:cNvPr>
          <p:cNvSpPr txBox="1"/>
          <p:nvPr/>
        </p:nvSpPr>
        <p:spPr>
          <a:xfrm>
            <a:off x="5155380" y="604573"/>
            <a:ext cx="5757236" cy="4832092"/>
          </a:xfrm>
          <a:prstGeom prst="rect">
            <a:avLst/>
          </a:prstGeom>
          <a:noFill/>
        </p:spPr>
        <p:txBody>
          <a:bodyPr wrap="square" rtlCol="0">
            <a:spAutoFit/>
          </a:bodyPr>
          <a:lstStyle/>
          <a:p>
            <a:pPr algn="r"/>
            <a:r>
              <a:rPr lang="fa-IR" sz="2200" b="1" dirty="0">
                <a:solidFill>
                  <a:schemeClr val="bg1"/>
                </a:solidFill>
                <a:cs typeface="B Nazanin" panose="00000400000000000000" pitchFamily="2" charset="-78"/>
              </a:rPr>
              <a:t>مدیران مجموعه با رعایت مفاد این قانون، میزان سهم هر</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 یک از مالکان یا استفاده کنندگان را تعیین می کنند.</a:t>
            </a:r>
          </a:p>
          <a:p>
            <a:pPr algn="r"/>
            <a:endParaRPr lang="fa-IR" sz="2200" b="1" dirty="0">
              <a:solidFill>
                <a:schemeClr val="bg1"/>
              </a:solidFill>
              <a:cs typeface="B Nazanin" panose="00000400000000000000" pitchFamily="2" charset="-78"/>
            </a:endParaRPr>
          </a:p>
          <a:p>
            <a:pPr algn="r"/>
            <a:endParaRPr lang="fa-IR" sz="2200" b="1" dirty="0">
              <a:solidFill>
                <a:schemeClr val="bg1"/>
              </a:solidFill>
              <a:cs typeface="B Nazanin" panose="00000400000000000000" pitchFamily="2" charset="-78"/>
            </a:endParaRP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در صورت موافقت مالکانی که دارای اکثریت مساحت</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 زیربنای ساختمانی می باشند، هزینه های مشترک بر اساس</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 نرخ معینی که به تصویب مجمع عمومی ساختمان می رسد،</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 حسب زیربنای اختصاصی هر واحد، محاسبه می شود.</a:t>
            </a:r>
          </a:p>
          <a:p>
            <a:pPr algn="r"/>
            <a:endParaRPr lang="fa-IR" sz="2200" b="1" dirty="0">
              <a:solidFill>
                <a:schemeClr val="bg1"/>
              </a:solidFill>
              <a:cs typeface="B Nazanin" panose="00000400000000000000" pitchFamily="2" charset="-78"/>
            </a:endParaRPr>
          </a:p>
        </p:txBody>
      </p:sp>
      <p:sp>
        <p:nvSpPr>
          <p:cNvPr id="2" name="Rectangle 1">
            <a:extLst>
              <a:ext uri="{FF2B5EF4-FFF2-40B4-BE49-F238E27FC236}">
                <a16:creationId xmlns:a16="http://schemas.microsoft.com/office/drawing/2014/main" id="{EAB2748B-6FF8-391E-356A-77717ADF704D}"/>
              </a:ext>
            </a:extLst>
          </p:cNvPr>
          <p:cNvSpPr/>
          <p:nvPr/>
        </p:nvSpPr>
        <p:spPr>
          <a:xfrm>
            <a:off x="11041624" y="701963"/>
            <a:ext cx="1140541"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000" b="1" dirty="0">
                <a:cs typeface="B Bardiya" panose="00000400000000000000" pitchFamily="2" charset="-78"/>
              </a:rPr>
              <a:t>تبصره1</a:t>
            </a:r>
            <a:endParaRPr lang="en-US" sz="2000" b="1" dirty="0">
              <a:cs typeface="B Bardiya" panose="00000400000000000000" pitchFamily="2" charset="-78"/>
            </a:endParaRPr>
          </a:p>
        </p:txBody>
      </p:sp>
      <p:sp>
        <p:nvSpPr>
          <p:cNvPr id="3" name="Rectangle 2">
            <a:extLst>
              <a:ext uri="{FF2B5EF4-FFF2-40B4-BE49-F238E27FC236}">
                <a16:creationId xmlns:a16="http://schemas.microsoft.com/office/drawing/2014/main" id="{4DA41B03-8BE4-EC44-96E6-F07D1F29E2DF}"/>
              </a:ext>
            </a:extLst>
          </p:cNvPr>
          <p:cNvSpPr/>
          <p:nvPr/>
        </p:nvSpPr>
        <p:spPr>
          <a:xfrm>
            <a:off x="11041623" y="2681635"/>
            <a:ext cx="1140541"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000" b="1" dirty="0">
                <a:cs typeface="B Bardiya" panose="00000400000000000000" pitchFamily="2" charset="-78"/>
              </a:rPr>
              <a:t>تبصره2</a:t>
            </a:r>
            <a:endParaRPr lang="en-US" sz="2000" b="1" dirty="0">
              <a:cs typeface="B Bardiya" panose="00000400000000000000" pitchFamily="2" charset="-78"/>
            </a:endParaRPr>
          </a:p>
        </p:txBody>
      </p:sp>
      <p:sp>
        <p:nvSpPr>
          <p:cNvPr id="5" name="Rectangle 4">
            <a:extLst>
              <a:ext uri="{FF2B5EF4-FFF2-40B4-BE49-F238E27FC236}">
                <a16:creationId xmlns:a16="http://schemas.microsoft.com/office/drawing/2014/main" id="{7FAF115D-23C4-5A91-6411-C1B652A4A046}"/>
              </a:ext>
            </a:extLst>
          </p:cNvPr>
          <p:cNvSpPr/>
          <p:nvPr/>
        </p:nvSpPr>
        <p:spPr>
          <a:xfrm>
            <a:off x="0" y="6012872"/>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849E9A-7A39-F375-4349-ACFE7D51FFCB}"/>
              </a:ext>
            </a:extLst>
          </p:cNvPr>
          <p:cNvSpPr/>
          <p:nvPr/>
        </p:nvSpPr>
        <p:spPr>
          <a:xfrm>
            <a:off x="4978400" y="0"/>
            <a:ext cx="127820" cy="6857999"/>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7946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5C838F-BA52-DBDE-5E45-F31FF6F07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0972799" cy="6858000"/>
          </a:xfrm>
          <a:prstGeom prst="rect">
            <a:avLst/>
          </a:prstGeom>
        </p:spPr>
      </p:pic>
      <p:sp>
        <p:nvSpPr>
          <p:cNvPr id="8" name="Rectangle 7">
            <a:extLst>
              <a:ext uri="{FF2B5EF4-FFF2-40B4-BE49-F238E27FC236}">
                <a16:creationId xmlns:a16="http://schemas.microsoft.com/office/drawing/2014/main" id="{EFCB2F48-EB7E-7D8C-E3BB-630ABDEEDF13}"/>
              </a:ext>
            </a:extLst>
          </p:cNvPr>
          <p:cNvSpPr/>
          <p:nvPr/>
        </p:nvSpPr>
        <p:spPr>
          <a:xfrm>
            <a:off x="5106220" y="-12291"/>
            <a:ext cx="5817419" cy="6025162"/>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1A1333E-FFDA-9EA1-4B38-339DCE5DBE0A}"/>
              </a:ext>
            </a:extLst>
          </p:cNvPr>
          <p:cNvPicPr>
            <a:picLocks noChangeAspect="1"/>
          </p:cNvPicPr>
          <p:nvPr/>
        </p:nvPicPr>
        <p:blipFill rotWithShape="1">
          <a:blip r:embed="rId2">
            <a:extLst>
              <a:ext uri="{28A0092B-C50C-407E-A947-70E740481C1C}">
                <a14:useLocalDpi xmlns:a14="http://schemas.microsoft.com/office/drawing/2010/main" val="0"/>
              </a:ext>
            </a:extLst>
          </a:blip>
          <a:srcRect l="89088"/>
          <a:stretch/>
        </p:blipFill>
        <p:spPr>
          <a:xfrm flipH="1">
            <a:off x="10992465" y="0"/>
            <a:ext cx="1199536" cy="6858000"/>
          </a:xfrm>
          <a:prstGeom prst="rect">
            <a:avLst/>
          </a:prstGeom>
        </p:spPr>
      </p:pic>
      <p:sp>
        <p:nvSpPr>
          <p:cNvPr id="10" name="Rectangle 9">
            <a:extLst>
              <a:ext uri="{FF2B5EF4-FFF2-40B4-BE49-F238E27FC236}">
                <a16:creationId xmlns:a16="http://schemas.microsoft.com/office/drawing/2014/main" id="{60278153-AD12-15EE-9D05-70CB5337FF30}"/>
              </a:ext>
            </a:extLst>
          </p:cNvPr>
          <p:cNvSpPr/>
          <p:nvPr/>
        </p:nvSpPr>
        <p:spPr>
          <a:xfrm>
            <a:off x="10923639" y="-12291"/>
            <a:ext cx="127820" cy="68702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2D955B-4950-6656-0B54-0D359F2700AE}"/>
              </a:ext>
            </a:extLst>
          </p:cNvPr>
          <p:cNvSpPr txBox="1"/>
          <p:nvPr/>
        </p:nvSpPr>
        <p:spPr>
          <a:xfrm>
            <a:off x="5176237" y="1050857"/>
            <a:ext cx="5677384" cy="3477875"/>
          </a:xfrm>
          <a:prstGeom prst="rect">
            <a:avLst/>
          </a:prstGeom>
          <a:noFill/>
        </p:spPr>
        <p:txBody>
          <a:bodyPr wrap="square" rtlCol="0">
            <a:spAutoFit/>
          </a:bodyPr>
          <a:lstStyle/>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چنانچه چگونگی استقرار حیاط ساختمان یا بالکن یا تراس</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 مجموعه به گونه ای باشد که تنها از یک یا چند واحد</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 مسکونی، امکان دسترسی به آن باشد، هزینه حفظ و</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 نگهداری آن قسمت به عهده استفاده کننده یا استفاده</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 کنندگان است.</a:t>
            </a:r>
            <a:endParaRPr lang="en-US" sz="2200" b="1" dirty="0">
              <a:solidFill>
                <a:schemeClr val="bg1"/>
              </a:solidFill>
              <a:cs typeface="B Nazanin" panose="00000400000000000000" pitchFamily="2" charset="-78"/>
            </a:endParaRPr>
          </a:p>
        </p:txBody>
      </p:sp>
      <p:sp>
        <p:nvSpPr>
          <p:cNvPr id="4" name="Rectangle 3">
            <a:extLst>
              <a:ext uri="{FF2B5EF4-FFF2-40B4-BE49-F238E27FC236}">
                <a16:creationId xmlns:a16="http://schemas.microsoft.com/office/drawing/2014/main" id="{3A807132-0C74-BDD9-70CC-8833935F880F}"/>
              </a:ext>
            </a:extLst>
          </p:cNvPr>
          <p:cNvSpPr/>
          <p:nvPr/>
        </p:nvSpPr>
        <p:spPr>
          <a:xfrm>
            <a:off x="11041625" y="1498599"/>
            <a:ext cx="1140541"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000" b="1" dirty="0">
                <a:cs typeface="B Bardiya" panose="00000400000000000000" pitchFamily="2" charset="-78"/>
              </a:rPr>
              <a:t>تبصره3</a:t>
            </a:r>
            <a:endParaRPr lang="en-US" sz="2000" b="1" dirty="0">
              <a:cs typeface="B Bardiya" panose="00000400000000000000" pitchFamily="2" charset="-78"/>
            </a:endParaRPr>
          </a:p>
        </p:txBody>
      </p:sp>
      <p:sp>
        <p:nvSpPr>
          <p:cNvPr id="5" name="Rectangle 4">
            <a:extLst>
              <a:ext uri="{FF2B5EF4-FFF2-40B4-BE49-F238E27FC236}">
                <a16:creationId xmlns:a16="http://schemas.microsoft.com/office/drawing/2014/main" id="{7FAF115D-23C4-5A91-6411-C1B652A4A046}"/>
              </a:ext>
            </a:extLst>
          </p:cNvPr>
          <p:cNvSpPr/>
          <p:nvPr/>
        </p:nvSpPr>
        <p:spPr>
          <a:xfrm>
            <a:off x="0" y="6012872"/>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849E9A-7A39-F375-4349-ACFE7D51FFCB}"/>
              </a:ext>
            </a:extLst>
          </p:cNvPr>
          <p:cNvSpPr/>
          <p:nvPr/>
        </p:nvSpPr>
        <p:spPr>
          <a:xfrm>
            <a:off x="4978400" y="0"/>
            <a:ext cx="127820" cy="6857999"/>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0018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DC97118-368C-DC8A-A490-060D76BCB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572000" cy="6858000"/>
          </a:xfrm>
          <a:prstGeom prst="rect">
            <a:avLst/>
          </a:prstGeom>
        </p:spPr>
      </p:pic>
      <p:sp>
        <p:nvSpPr>
          <p:cNvPr id="3" name="Rectangle 2">
            <a:extLst>
              <a:ext uri="{FF2B5EF4-FFF2-40B4-BE49-F238E27FC236}">
                <a16:creationId xmlns:a16="http://schemas.microsoft.com/office/drawing/2014/main" id="{B32AF8F1-56BE-AC96-1DCA-4BD1E304B886}"/>
              </a:ext>
            </a:extLst>
          </p:cNvPr>
          <p:cNvSpPr/>
          <p:nvPr/>
        </p:nvSpPr>
        <p:spPr>
          <a:xfrm>
            <a:off x="0" y="403574"/>
            <a:ext cx="12192001" cy="461665"/>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0A704F2-9099-A777-53E7-9B3821B5FD98}"/>
              </a:ext>
            </a:extLst>
          </p:cNvPr>
          <p:cNvSpPr txBox="1"/>
          <p:nvPr/>
        </p:nvSpPr>
        <p:spPr>
          <a:xfrm>
            <a:off x="4628535" y="1557986"/>
            <a:ext cx="7472516" cy="4154984"/>
          </a:xfrm>
          <a:prstGeom prst="rect">
            <a:avLst/>
          </a:prstGeom>
          <a:noFill/>
        </p:spPr>
        <p:txBody>
          <a:bodyPr wrap="square" rtlCol="0">
            <a:spAutoFit/>
          </a:bodyPr>
          <a:lstStyle/>
          <a:p>
            <a:pPr algn="r" rtl="1"/>
            <a:r>
              <a:rPr lang="fa-IR" sz="2400" dirty="0">
                <a:solidFill>
                  <a:schemeClr val="accent2"/>
                </a:solidFill>
                <a:cs typeface="B Nazanin" panose="00000400000000000000" pitchFamily="2" charset="-78"/>
              </a:rPr>
              <a:t>1) </a:t>
            </a:r>
            <a:r>
              <a:rPr lang="fa-IR" sz="2400" dirty="0">
                <a:solidFill>
                  <a:schemeClr val="bg1"/>
                </a:solidFill>
                <a:cs typeface="B Nazanin" panose="00000400000000000000" pitchFamily="2" charset="-78"/>
              </a:rPr>
              <a:t> پرداخت هزینه های مشترک اعم از اینکه ملک مورد استفاده قرار گیرد یا نگیرد، الزامی است.</a:t>
            </a:r>
          </a:p>
          <a:p>
            <a:pPr algn="r" rtl="1"/>
            <a:endParaRPr lang="fa-IR" sz="2400" dirty="0">
              <a:solidFill>
                <a:schemeClr val="bg1"/>
              </a:solidFill>
              <a:cs typeface="B Nazanin" panose="00000400000000000000" pitchFamily="2" charset="-78"/>
            </a:endParaRPr>
          </a:p>
          <a:p>
            <a:pPr algn="r" rtl="1"/>
            <a:r>
              <a:rPr lang="fa-IR" sz="2400" dirty="0">
                <a:solidFill>
                  <a:schemeClr val="accent2"/>
                </a:solidFill>
                <a:cs typeface="B Nazanin" panose="00000400000000000000" pitchFamily="2" charset="-78"/>
              </a:rPr>
              <a:t>2)</a:t>
            </a:r>
            <a:r>
              <a:rPr lang="fa-IR" sz="2400" dirty="0">
                <a:solidFill>
                  <a:schemeClr val="bg1"/>
                </a:solidFill>
                <a:cs typeface="B Nazanin" panose="00000400000000000000" pitchFamily="2" charset="-78"/>
              </a:rPr>
              <a:t> هزینه های غیر مرتبط با مساحت زیر بنا به صورت مساوی تقسیم خواهند شد.</a:t>
            </a:r>
          </a:p>
          <a:p>
            <a:pPr algn="r" rtl="1"/>
            <a:endParaRPr lang="fa-IR" sz="2400" dirty="0">
              <a:solidFill>
                <a:schemeClr val="bg1"/>
              </a:solidFill>
              <a:cs typeface="B Nazanin" panose="00000400000000000000" pitchFamily="2" charset="-78"/>
            </a:endParaRPr>
          </a:p>
          <a:p>
            <a:pPr algn="r" rtl="1"/>
            <a:r>
              <a:rPr lang="fa-IR" sz="2400" dirty="0">
                <a:solidFill>
                  <a:schemeClr val="accent2"/>
                </a:solidFill>
                <a:cs typeface="B Nazanin" panose="00000400000000000000" pitchFamily="2" charset="-78"/>
              </a:rPr>
              <a:t>3)</a:t>
            </a:r>
            <a:r>
              <a:rPr lang="fa-IR" sz="2400" dirty="0">
                <a:solidFill>
                  <a:schemeClr val="bg1"/>
                </a:solidFill>
                <a:cs typeface="B Nazanin" panose="00000400000000000000" pitchFamily="2" charset="-78"/>
              </a:rPr>
              <a:t> چنانچه چگونگی استقرار حیاط ساختمان یا بالکن یا تراس مجموعه به گونه ای باشد که تنها از یک یا چند واحد مسکونی، امکان دسترسی به آن باشد، هزینه های حفظ و نگهداری آن قسمت به عهده استفاده کننده یا استفاده کنندگان است.</a:t>
            </a:r>
          </a:p>
          <a:p>
            <a:pPr algn="r" rtl="1"/>
            <a:endParaRPr lang="fa-IR" sz="2400" dirty="0">
              <a:solidFill>
                <a:schemeClr val="bg1"/>
              </a:solidFill>
              <a:cs typeface="B Nazanin" panose="00000400000000000000" pitchFamily="2" charset="-78"/>
            </a:endParaRPr>
          </a:p>
        </p:txBody>
      </p:sp>
      <p:sp>
        <p:nvSpPr>
          <p:cNvPr id="8" name="Rectangle 7">
            <a:extLst>
              <a:ext uri="{FF2B5EF4-FFF2-40B4-BE49-F238E27FC236}">
                <a16:creationId xmlns:a16="http://schemas.microsoft.com/office/drawing/2014/main" id="{3BE89498-4A5C-E1FA-C05D-6BAFF0992E97}"/>
              </a:ext>
            </a:extLst>
          </p:cNvPr>
          <p:cNvSpPr/>
          <p:nvPr/>
        </p:nvSpPr>
        <p:spPr>
          <a:xfrm>
            <a:off x="4508089" y="0"/>
            <a:ext cx="98323" cy="68580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D281F19-B2E0-BA1B-CAE3-CDFD4CD03CCB}"/>
              </a:ext>
            </a:extLst>
          </p:cNvPr>
          <p:cNvSpPr/>
          <p:nvPr/>
        </p:nvSpPr>
        <p:spPr>
          <a:xfrm>
            <a:off x="0" y="6405717"/>
            <a:ext cx="12192000" cy="4571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1547CF-750F-C7B2-89CA-09C0B88A56D1}"/>
              </a:ext>
            </a:extLst>
          </p:cNvPr>
          <p:cNvSpPr txBox="1"/>
          <p:nvPr/>
        </p:nvSpPr>
        <p:spPr>
          <a:xfrm>
            <a:off x="2022764" y="430630"/>
            <a:ext cx="10261599" cy="461665"/>
          </a:xfrm>
          <a:prstGeom prst="rect">
            <a:avLst/>
          </a:prstGeom>
          <a:noFill/>
        </p:spPr>
        <p:txBody>
          <a:bodyPr wrap="square" rtlCol="0">
            <a:spAutoFit/>
          </a:bodyPr>
          <a:lstStyle/>
          <a:p>
            <a:r>
              <a:rPr lang="fa-IR" sz="2400" b="1" dirty="0">
                <a:cs typeface="B Bardiya" panose="00000400000000000000" pitchFamily="2" charset="-78"/>
              </a:rPr>
              <a:t>برای محاسبه مخارج قسمت های مشترک ذکر نکات زیر بر اساس ماده 4 و تبصره های آن ضروری است:</a:t>
            </a:r>
            <a:endParaRPr lang="en-US" sz="2400" b="1" dirty="0">
              <a:cs typeface="B Bardiya" panose="00000400000000000000" pitchFamily="2" charset="-78"/>
            </a:endParaRPr>
          </a:p>
        </p:txBody>
      </p:sp>
    </p:spTree>
    <p:extLst>
      <p:ext uri="{BB962C8B-B14F-4D97-AF65-F5344CB8AC3E}">
        <p14:creationId xmlns:p14="http://schemas.microsoft.com/office/powerpoint/2010/main" val="2202075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DC97118-368C-DC8A-A490-060D76BCB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572000" cy="6858000"/>
          </a:xfrm>
          <a:prstGeom prst="rect">
            <a:avLst/>
          </a:prstGeom>
        </p:spPr>
      </p:pic>
      <p:sp>
        <p:nvSpPr>
          <p:cNvPr id="3" name="Rectangle 2">
            <a:extLst>
              <a:ext uri="{FF2B5EF4-FFF2-40B4-BE49-F238E27FC236}">
                <a16:creationId xmlns:a16="http://schemas.microsoft.com/office/drawing/2014/main" id="{B32AF8F1-56BE-AC96-1DCA-4BD1E304B886}"/>
              </a:ext>
            </a:extLst>
          </p:cNvPr>
          <p:cNvSpPr/>
          <p:nvPr/>
        </p:nvSpPr>
        <p:spPr>
          <a:xfrm>
            <a:off x="0" y="403574"/>
            <a:ext cx="12192001" cy="461665"/>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0A704F2-9099-A777-53E7-9B3821B5FD98}"/>
              </a:ext>
            </a:extLst>
          </p:cNvPr>
          <p:cNvSpPr txBox="1"/>
          <p:nvPr/>
        </p:nvSpPr>
        <p:spPr>
          <a:xfrm>
            <a:off x="4628535" y="1295869"/>
            <a:ext cx="7472516" cy="4524315"/>
          </a:xfrm>
          <a:prstGeom prst="rect">
            <a:avLst/>
          </a:prstGeom>
          <a:noFill/>
        </p:spPr>
        <p:txBody>
          <a:bodyPr wrap="square" rtlCol="0">
            <a:spAutoFit/>
          </a:bodyPr>
          <a:lstStyle/>
          <a:p>
            <a:pPr algn="r" rtl="1"/>
            <a:endParaRPr lang="fa-IR" sz="2400" dirty="0">
              <a:solidFill>
                <a:schemeClr val="bg1"/>
              </a:solidFill>
              <a:cs typeface="B Nazanin" panose="00000400000000000000" pitchFamily="2" charset="-78"/>
            </a:endParaRPr>
          </a:p>
          <a:p>
            <a:pPr algn="r" rtl="1"/>
            <a:r>
              <a:rPr lang="fa-IR" sz="2400" dirty="0">
                <a:solidFill>
                  <a:schemeClr val="accent2"/>
                </a:solidFill>
                <a:cs typeface="B Nazanin" panose="00000400000000000000" pitchFamily="2" charset="-78"/>
              </a:rPr>
              <a:t>4)</a:t>
            </a:r>
            <a:r>
              <a:rPr lang="fa-IR" sz="2400" dirty="0">
                <a:solidFill>
                  <a:schemeClr val="bg1"/>
                </a:solidFill>
                <a:cs typeface="B Nazanin" panose="00000400000000000000" pitchFamily="2" charset="-78"/>
              </a:rPr>
              <a:t> اگر مالکان با توافق یکدیگر ترتیبی برای تقسیم حقوق و تعهدات پیش بینی</a:t>
            </a:r>
          </a:p>
          <a:p>
            <a:pPr algn="r" rtl="1"/>
            <a:endParaRPr lang="fa-IR" sz="2400" dirty="0">
              <a:solidFill>
                <a:schemeClr val="bg1"/>
              </a:solidFill>
              <a:cs typeface="B Nazanin" panose="00000400000000000000" pitchFamily="2" charset="-78"/>
            </a:endParaRPr>
          </a:p>
          <a:p>
            <a:pPr algn="r" rtl="1"/>
            <a:r>
              <a:rPr lang="fa-IR" sz="2400" dirty="0">
                <a:solidFill>
                  <a:schemeClr val="bg1"/>
                </a:solidFill>
                <a:cs typeface="B Nazanin" panose="00000400000000000000" pitchFamily="2" charset="-78"/>
              </a:rPr>
              <a:t> کرده باشند بر اساس آن اقدام می شود.</a:t>
            </a:r>
          </a:p>
          <a:p>
            <a:pPr algn="r" rtl="1"/>
            <a:endParaRPr lang="fa-IR" sz="2400" dirty="0">
              <a:solidFill>
                <a:schemeClr val="bg1"/>
              </a:solidFill>
              <a:cs typeface="B Nazanin" panose="00000400000000000000" pitchFamily="2" charset="-78"/>
            </a:endParaRPr>
          </a:p>
          <a:p>
            <a:pPr algn="r" rtl="1"/>
            <a:r>
              <a:rPr lang="fa-IR" sz="2400" b="1" dirty="0">
                <a:solidFill>
                  <a:schemeClr val="accent2"/>
                </a:solidFill>
                <a:cs typeface="B Nazanin" panose="00000400000000000000" pitchFamily="2" charset="-78"/>
              </a:rPr>
              <a:t>نکته: </a:t>
            </a:r>
            <a:r>
              <a:rPr lang="fa-IR" sz="2400" dirty="0">
                <a:solidFill>
                  <a:schemeClr val="bg1"/>
                </a:solidFill>
                <a:cs typeface="B Nazanin" panose="00000400000000000000" pitchFamily="2" charset="-78"/>
              </a:rPr>
              <a:t>در صورت موافقت مالکانی که دارای اکثریت مساحت زیربنای ساختمان</a:t>
            </a:r>
          </a:p>
          <a:p>
            <a:pPr algn="r" rtl="1"/>
            <a:endParaRPr lang="fa-IR" sz="2400" dirty="0">
              <a:solidFill>
                <a:schemeClr val="bg1"/>
              </a:solidFill>
              <a:cs typeface="B Nazanin" panose="00000400000000000000" pitchFamily="2" charset="-78"/>
            </a:endParaRPr>
          </a:p>
          <a:p>
            <a:pPr algn="r" rtl="1"/>
            <a:r>
              <a:rPr lang="fa-IR" sz="2400" dirty="0">
                <a:solidFill>
                  <a:schemeClr val="bg1"/>
                </a:solidFill>
                <a:cs typeface="B Nazanin" panose="00000400000000000000" pitchFamily="2" charset="-78"/>
              </a:rPr>
              <a:t> می باشند، هزینه های مشترک بر اساس نرخ معینی که به تصویب مجمع</a:t>
            </a:r>
          </a:p>
          <a:p>
            <a:pPr algn="r" rtl="1"/>
            <a:endParaRPr lang="fa-IR" sz="2400" dirty="0">
              <a:solidFill>
                <a:schemeClr val="bg1"/>
              </a:solidFill>
              <a:cs typeface="B Nazanin" panose="00000400000000000000" pitchFamily="2" charset="-78"/>
            </a:endParaRPr>
          </a:p>
          <a:p>
            <a:pPr algn="r" rtl="1"/>
            <a:r>
              <a:rPr lang="fa-IR" sz="2400" dirty="0">
                <a:solidFill>
                  <a:schemeClr val="bg1"/>
                </a:solidFill>
                <a:cs typeface="B Nazanin" panose="00000400000000000000" pitchFamily="2" charset="-78"/>
              </a:rPr>
              <a:t> عمومی ساختمان می رسد، حسب زیربنای اختصاصی هر واحد محاسبه خواهد</a:t>
            </a:r>
          </a:p>
          <a:p>
            <a:pPr algn="r" rtl="1"/>
            <a:endParaRPr lang="fa-IR" sz="2400" dirty="0">
              <a:solidFill>
                <a:schemeClr val="bg1"/>
              </a:solidFill>
              <a:cs typeface="B Nazanin" panose="00000400000000000000" pitchFamily="2" charset="-78"/>
            </a:endParaRPr>
          </a:p>
          <a:p>
            <a:pPr algn="r" rtl="1"/>
            <a:r>
              <a:rPr lang="fa-IR" sz="2400" dirty="0">
                <a:solidFill>
                  <a:schemeClr val="bg1"/>
                </a:solidFill>
                <a:cs typeface="B Nazanin" panose="00000400000000000000" pitchFamily="2" charset="-78"/>
              </a:rPr>
              <a:t> شد.</a:t>
            </a:r>
          </a:p>
        </p:txBody>
      </p:sp>
      <p:sp>
        <p:nvSpPr>
          <p:cNvPr id="8" name="Rectangle 7">
            <a:extLst>
              <a:ext uri="{FF2B5EF4-FFF2-40B4-BE49-F238E27FC236}">
                <a16:creationId xmlns:a16="http://schemas.microsoft.com/office/drawing/2014/main" id="{3BE89498-4A5C-E1FA-C05D-6BAFF0992E97}"/>
              </a:ext>
            </a:extLst>
          </p:cNvPr>
          <p:cNvSpPr/>
          <p:nvPr/>
        </p:nvSpPr>
        <p:spPr>
          <a:xfrm>
            <a:off x="4508089" y="0"/>
            <a:ext cx="98323" cy="68580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D281F19-B2E0-BA1B-CAE3-CDFD4CD03CCB}"/>
              </a:ext>
            </a:extLst>
          </p:cNvPr>
          <p:cNvSpPr/>
          <p:nvPr/>
        </p:nvSpPr>
        <p:spPr>
          <a:xfrm>
            <a:off x="0" y="6405717"/>
            <a:ext cx="12192000" cy="4571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1547CF-750F-C7B2-89CA-09C0B88A56D1}"/>
              </a:ext>
            </a:extLst>
          </p:cNvPr>
          <p:cNvSpPr txBox="1"/>
          <p:nvPr/>
        </p:nvSpPr>
        <p:spPr>
          <a:xfrm>
            <a:off x="2022764" y="430630"/>
            <a:ext cx="10261599" cy="461665"/>
          </a:xfrm>
          <a:prstGeom prst="rect">
            <a:avLst/>
          </a:prstGeom>
          <a:noFill/>
        </p:spPr>
        <p:txBody>
          <a:bodyPr wrap="square" rtlCol="0">
            <a:spAutoFit/>
          </a:bodyPr>
          <a:lstStyle/>
          <a:p>
            <a:r>
              <a:rPr lang="fa-IR" sz="2400" b="1" dirty="0">
                <a:cs typeface="B Bardiya" panose="00000400000000000000" pitchFamily="2" charset="-78"/>
              </a:rPr>
              <a:t>برای محاسبه مخارج قسمت های مشترک ذکر نکات زیر بر اساس ماده 4 و تبصره های آن ضروری است:</a:t>
            </a:r>
            <a:endParaRPr lang="en-US" sz="2400" b="1" dirty="0">
              <a:cs typeface="B Bardiya" panose="00000400000000000000" pitchFamily="2" charset="-78"/>
            </a:endParaRPr>
          </a:p>
        </p:txBody>
      </p:sp>
    </p:spTree>
    <p:extLst>
      <p:ext uri="{BB962C8B-B14F-4D97-AF65-F5344CB8AC3E}">
        <p14:creationId xmlns:p14="http://schemas.microsoft.com/office/powerpoint/2010/main" val="331902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DC97118-368C-DC8A-A490-060D76BCB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572000" cy="6858000"/>
          </a:xfrm>
          <a:prstGeom prst="rect">
            <a:avLst/>
          </a:prstGeom>
        </p:spPr>
      </p:pic>
      <p:sp>
        <p:nvSpPr>
          <p:cNvPr id="3" name="Rectangle 2">
            <a:extLst>
              <a:ext uri="{FF2B5EF4-FFF2-40B4-BE49-F238E27FC236}">
                <a16:creationId xmlns:a16="http://schemas.microsoft.com/office/drawing/2014/main" id="{B32AF8F1-56BE-AC96-1DCA-4BD1E304B886}"/>
              </a:ext>
            </a:extLst>
          </p:cNvPr>
          <p:cNvSpPr/>
          <p:nvPr/>
        </p:nvSpPr>
        <p:spPr>
          <a:xfrm>
            <a:off x="0" y="403574"/>
            <a:ext cx="12192001" cy="461665"/>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0A704F2-9099-A777-53E7-9B3821B5FD98}"/>
              </a:ext>
            </a:extLst>
          </p:cNvPr>
          <p:cNvSpPr txBox="1"/>
          <p:nvPr/>
        </p:nvSpPr>
        <p:spPr>
          <a:xfrm>
            <a:off x="4628535" y="1205904"/>
            <a:ext cx="7472516" cy="4832092"/>
          </a:xfrm>
          <a:prstGeom prst="rect">
            <a:avLst/>
          </a:prstGeom>
          <a:noFill/>
        </p:spPr>
        <p:txBody>
          <a:bodyPr wrap="square" rtlCol="0">
            <a:spAutoFit/>
          </a:bodyPr>
          <a:lstStyle/>
          <a:p>
            <a:pPr algn="r" rtl="1"/>
            <a:r>
              <a:rPr lang="fa-IR" sz="2200" dirty="0">
                <a:solidFill>
                  <a:schemeClr val="accent2"/>
                </a:solidFill>
                <a:cs typeface="B Nazanin" panose="00000400000000000000" pitchFamily="2" charset="-78"/>
              </a:rPr>
              <a:t>5) </a:t>
            </a:r>
            <a:r>
              <a:rPr lang="fa-IR" sz="2200" dirty="0">
                <a:solidFill>
                  <a:schemeClr val="bg1"/>
                </a:solidFill>
                <a:cs typeface="B Nazanin" panose="00000400000000000000" pitchFamily="2" charset="-78"/>
              </a:rPr>
              <a:t>در غیر از موارد فوق، حقوق و تعهدات و همچنین سهم هر یک از مالکان قسمت های اختصاصی از مخارج قسمت های مشترک، متناسب است با نسبت مساحت قسمت اختصاصی به مجموع مساحت قسمت های اختصاصی تمام ساختمان.</a:t>
            </a:r>
          </a:p>
          <a:p>
            <a:pPr algn="r" rtl="1"/>
            <a:endParaRPr lang="fa-IR" sz="2200" dirty="0">
              <a:solidFill>
                <a:schemeClr val="bg1"/>
              </a:solidFill>
              <a:cs typeface="B Nazanin" panose="00000400000000000000" pitchFamily="2" charset="-78"/>
            </a:endParaRPr>
          </a:p>
          <a:p>
            <a:pPr algn="r" rtl="1"/>
            <a:r>
              <a:rPr lang="fa-IR" sz="2200" dirty="0">
                <a:solidFill>
                  <a:schemeClr val="bg1"/>
                </a:solidFill>
                <a:cs typeface="B Nazanin" panose="00000400000000000000" pitchFamily="2" charset="-78"/>
              </a:rPr>
              <a:t>هر یک از شرکاء که در مورد سهمیه یا میزان هزینه مربوط به سهم خود معترض باشد می تواند به مدیر مراجعه و تقاضای رسیدگی نسبت به موضوع را بنماید، در صورت عدم رسیدگی یا رد اعتراض، شریک می تواند به مراجع صلاحیتدار قضایی مراجعه کند.</a:t>
            </a:r>
          </a:p>
          <a:p>
            <a:pPr algn="r" rtl="1"/>
            <a:endParaRPr lang="fa-IR" sz="2200" dirty="0">
              <a:solidFill>
                <a:schemeClr val="bg1"/>
              </a:solidFill>
              <a:cs typeface="B Nazanin" panose="00000400000000000000" pitchFamily="2" charset="-78"/>
            </a:endParaRPr>
          </a:p>
          <a:p>
            <a:pPr algn="r" rtl="1"/>
            <a:r>
              <a:rPr lang="fa-IR" sz="2200" dirty="0">
                <a:solidFill>
                  <a:schemeClr val="bg1"/>
                </a:solidFill>
                <a:cs typeface="B Nazanin" panose="00000400000000000000" pitchFamily="2" charset="-78"/>
              </a:rPr>
              <a:t>در صورتی که مستاجر در حال انتفاع از منافع مورد اجاره باشد، چنانچه به موجب اجاره نامه یا قرارداد خصوصی پرداخت هزینه های مشترک ( هزینه های لازم برای حفظ و نگاهداری عادی ساختمان و تاسیسات و تجهیزات مربوطه و هزینه های اداری حق الزحمه مدیر یا مدیران ) به عهده مالک باشد و مالک از پرداخت آن استنکاف کند، مدیر یا مدیران می توانند علاوه بر مراجعه به استفاده کننده به مالک اصلی نیز مراجعه نمایند.</a:t>
            </a:r>
          </a:p>
        </p:txBody>
      </p:sp>
      <p:sp>
        <p:nvSpPr>
          <p:cNvPr id="8" name="Rectangle 7">
            <a:extLst>
              <a:ext uri="{FF2B5EF4-FFF2-40B4-BE49-F238E27FC236}">
                <a16:creationId xmlns:a16="http://schemas.microsoft.com/office/drawing/2014/main" id="{3BE89498-4A5C-E1FA-C05D-6BAFF0992E97}"/>
              </a:ext>
            </a:extLst>
          </p:cNvPr>
          <p:cNvSpPr/>
          <p:nvPr/>
        </p:nvSpPr>
        <p:spPr>
          <a:xfrm>
            <a:off x="4508089" y="0"/>
            <a:ext cx="98323" cy="68580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D281F19-B2E0-BA1B-CAE3-CDFD4CD03CCB}"/>
              </a:ext>
            </a:extLst>
          </p:cNvPr>
          <p:cNvSpPr/>
          <p:nvPr/>
        </p:nvSpPr>
        <p:spPr>
          <a:xfrm>
            <a:off x="0" y="6405717"/>
            <a:ext cx="12192000" cy="4571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1547CF-750F-C7B2-89CA-09C0B88A56D1}"/>
              </a:ext>
            </a:extLst>
          </p:cNvPr>
          <p:cNvSpPr txBox="1"/>
          <p:nvPr/>
        </p:nvSpPr>
        <p:spPr>
          <a:xfrm>
            <a:off x="2022764" y="430630"/>
            <a:ext cx="10261599" cy="461665"/>
          </a:xfrm>
          <a:prstGeom prst="rect">
            <a:avLst/>
          </a:prstGeom>
          <a:noFill/>
        </p:spPr>
        <p:txBody>
          <a:bodyPr wrap="square" rtlCol="0">
            <a:spAutoFit/>
          </a:bodyPr>
          <a:lstStyle/>
          <a:p>
            <a:r>
              <a:rPr lang="fa-IR" sz="2400" b="1" dirty="0">
                <a:cs typeface="B Bardiya" panose="00000400000000000000" pitchFamily="2" charset="-78"/>
              </a:rPr>
              <a:t>برای محاسبه مخارج قسمت های مشترک ذکر نکات زیر بر اساس ماده 4 و تبصره های آن ضروری است:</a:t>
            </a:r>
            <a:endParaRPr lang="en-US" sz="2400" b="1" dirty="0">
              <a:cs typeface="B Bardiya" panose="00000400000000000000" pitchFamily="2" charset="-78"/>
            </a:endParaRPr>
          </a:p>
        </p:txBody>
      </p:sp>
    </p:spTree>
    <p:extLst>
      <p:ext uri="{BB962C8B-B14F-4D97-AF65-F5344CB8AC3E}">
        <p14:creationId xmlns:p14="http://schemas.microsoft.com/office/powerpoint/2010/main" val="681856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858000" y="0"/>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F1452F-2A7A-CBED-8F25-F5B63AC38AB1}"/>
              </a:ext>
            </a:extLst>
          </p:cNvPr>
          <p:cNvSpPr/>
          <p:nvPr/>
        </p:nvSpPr>
        <p:spPr>
          <a:xfrm>
            <a:off x="7000875" y="0"/>
            <a:ext cx="5191125"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ماده5</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7127080" y="1720840"/>
            <a:ext cx="4938713" cy="3416320"/>
          </a:xfrm>
          <a:prstGeom prst="rect">
            <a:avLst/>
          </a:prstGeom>
          <a:noFill/>
        </p:spPr>
        <p:txBody>
          <a:bodyPr wrap="square" rtlCol="0">
            <a:spAutoFit/>
          </a:bodyPr>
          <a:lstStyle/>
          <a:p>
            <a:pPr algn="r"/>
            <a:r>
              <a:rPr lang="fa-IR" sz="2400" dirty="0">
                <a:solidFill>
                  <a:schemeClr val="bg1"/>
                </a:solidFill>
                <a:cs typeface="B Nazanin" panose="00000400000000000000" pitchFamily="2" charset="-78"/>
              </a:rPr>
              <a:t>انواع شرکت های ماده 20 قانون تجارت که به قصد</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ساختمان و آپارتمان و محل کسب به منظور</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سکونت یا اجاره یا فروش تشکیل می شود</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از انجام سایر معاملات بازرگانی غیرمربوط به</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کارهای ساختمانی ممنوعند.</a:t>
            </a:r>
            <a:endParaRPr lang="fa-IR" sz="2400" dirty="0">
              <a:solidFill>
                <a:schemeClr val="accent2"/>
              </a:solidFill>
              <a:cs typeface="B Nazanin" panose="00000400000000000000" pitchFamily="2" charset="-78"/>
            </a:endParaRPr>
          </a:p>
        </p:txBody>
      </p:sp>
      <p:sp>
        <p:nvSpPr>
          <p:cNvPr id="15" name="Rectangle 14">
            <a:extLst>
              <a:ext uri="{FF2B5EF4-FFF2-40B4-BE49-F238E27FC236}">
                <a16:creationId xmlns:a16="http://schemas.microsoft.com/office/drawing/2014/main" id="{715FACBB-49B5-6A15-CB6A-E82469B9D900}"/>
              </a:ext>
            </a:extLst>
          </p:cNvPr>
          <p:cNvSpPr/>
          <p:nvPr/>
        </p:nvSpPr>
        <p:spPr>
          <a:xfrm>
            <a:off x="5334000" y="5860026"/>
            <a:ext cx="6858000" cy="147484"/>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5712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858000" y="0"/>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F1452F-2A7A-CBED-8F25-F5B63AC38AB1}"/>
              </a:ext>
            </a:extLst>
          </p:cNvPr>
          <p:cNvSpPr/>
          <p:nvPr/>
        </p:nvSpPr>
        <p:spPr>
          <a:xfrm>
            <a:off x="7000875" y="0"/>
            <a:ext cx="5191125"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ماده6</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7127080" y="1593216"/>
            <a:ext cx="4938713" cy="3416320"/>
          </a:xfrm>
          <a:prstGeom prst="rect">
            <a:avLst/>
          </a:prstGeom>
          <a:noFill/>
        </p:spPr>
        <p:txBody>
          <a:bodyPr wrap="square" rtlCol="0">
            <a:spAutoFit/>
          </a:bodyPr>
          <a:lstStyle/>
          <a:p>
            <a:pPr algn="r"/>
            <a:r>
              <a:rPr lang="fa-IR" sz="2400" dirty="0">
                <a:solidFill>
                  <a:schemeClr val="bg1"/>
                </a:solidFill>
                <a:cs typeface="B Nazanin" panose="00000400000000000000" pitchFamily="2" charset="-78"/>
              </a:rPr>
              <a:t> چنانچه قراردادی بین مالکین یک ساختمان وجود</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نداشت باشد، کلیه تصمیمات مربوط به اداره و امور</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مربوط به قسمت های مشترک به اکثریت آراء</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مالکینی است که بیش از نصف مساحت تمام</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قسمت های اختصاصی را مالک باشند.</a:t>
            </a:r>
            <a:endParaRPr lang="fa-IR" sz="2400" dirty="0">
              <a:solidFill>
                <a:schemeClr val="accent2"/>
              </a:solidFill>
              <a:cs typeface="B Nazanin" panose="00000400000000000000" pitchFamily="2" charset="-78"/>
            </a:endParaRPr>
          </a:p>
        </p:txBody>
      </p:sp>
      <p:sp>
        <p:nvSpPr>
          <p:cNvPr id="15" name="Rectangle 14">
            <a:extLst>
              <a:ext uri="{FF2B5EF4-FFF2-40B4-BE49-F238E27FC236}">
                <a16:creationId xmlns:a16="http://schemas.microsoft.com/office/drawing/2014/main" id="{715FACBB-49B5-6A15-CB6A-E82469B9D900}"/>
              </a:ext>
            </a:extLst>
          </p:cNvPr>
          <p:cNvSpPr/>
          <p:nvPr/>
        </p:nvSpPr>
        <p:spPr>
          <a:xfrm>
            <a:off x="5334000" y="5860026"/>
            <a:ext cx="6858000" cy="147484"/>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3042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B36CD9-B1E2-52BA-5F1F-3384F6E070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812145" cy="6858000"/>
          </a:xfrm>
          <a:prstGeom prst="rect">
            <a:avLst/>
          </a:prstGeom>
        </p:spPr>
      </p:pic>
      <p:sp>
        <p:nvSpPr>
          <p:cNvPr id="9" name="Rectangle 8">
            <a:extLst>
              <a:ext uri="{FF2B5EF4-FFF2-40B4-BE49-F238E27FC236}">
                <a16:creationId xmlns:a16="http://schemas.microsoft.com/office/drawing/2014/main" id="{16F43D19-D19D-A74D-E2C0-F302250036F1}"/>
              </a:ext>
            </a:extLst>
          </p:cNvPr>
          <p:cNvSpPr/>
          <p:nvPr/>
        </p:nvSpPr>
        <p:spPr>
          <a:xfrm>
            <a:off x="4368337" y="0"/>
            <a:ext cx="443808" cy="2423168"/>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E5B0383-07F8-128B-379A-2026A03B4852}"/>
              </a:ext>
            </a:extLst>
          </p:cNvPr>
          <p:cNvSpPr/>
          <p:nvPr/>
        </p:nvSpPr>
        <p:spPr>
          <a:xfrm>
            <a:off x="4812145" y="0"/>
            <a:ext cx="7379855" cy="6858000"/>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E6AAAB7-DE98-1114-3CE4-99EC2519E34C}"/>
              </a:ext>
            </a:extLst>
          </p:cNvPr>
          <p:cNvSpPr/>
          <p:nvPr/>
        </p:nvSpPr>
        <p:spPr>
          <a:xfrm>
            <a:off x="1034010" y="1684255"/>
            <a:ext cx="11157990" cy="738913"/>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D3F94B-02CD-DF66-BF5F-6A5962D2252F}"/>
              </a:ext>
            </a:extLst>
          </p:cNvPr>
          <p:cNvSpPr/>
          <p:nvPr/>
        </p:nvSpPr>
        <p:spPr>
          <a:xfrm>
            <a:off x="4812145" y="0"/>
            <a:ext cx="45719" cy="6858000"/>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7A34B15-FBE3-D7A9-54DC-CBE02CD7C1AE}"/>
              </a:ext>
            </a:extLst>
          </p:cNvPr>
          <p:cNvSpPr txBox="1"/>
          <p:nvPr/>
        </p:nvSpPr>
        <p:spPr>
          <a:xfrm>
            <a:off x="1163782" y="1785855"/>
            <a:ext cx="10820860" cy="3724096"/>
          </a:xfrm>
          <a:prstGeom prst="rect">
            <a:avLst/>
          </a:prstGeom>
          <a:noFill/>
        </p:spPr>
        <p:txBody>
          <a:bodyPr wrap="square" rtlCol="0">
            <a:spAutoFit/>
          </a:bodyPr>
          <a:lstStyle/>
          <a:p>
            <a:pPr algn="r"/>
            <a:r>
              <a:rPr lang="fa-IR" sz="2600" b="1" dirty="0">
                <a:effectLst>
                  <a:outerShdw blurRad="38100" dist="38100" dir="2700000" algn="tl">
                    <a:srgbClr val="000000">
                      <a:alpha val="43137"/>
                    </a:srgbClr>
                  </a:outerShdw>
                </a:effectLst>
                <a:cs typeface="B Bardiya" panose="00000400000000000000" pitchFamily="2" charset="-78"/>
              </a:rPr>
              <a:t>درمورد اداره امور ساختمان و نحوه مدیریت آن در قسمت های مشترک توضیحات زیر ضروری است:</a:t>
            </a:r>
          </a:p>
          <a:p>
            <a:pPr algn="r"/>
            <a:endParaRPr lang="fa-IR" sz="2600" dirty="0">
              <a:solidFill>
                <a:schemeClr val="bg1"/>
              </a:solidFill>
              <a:cs typeface="B Nazanin" panose="00000400000000000000" pitchFamily="2" charset="-78"/>
            </a:endParaRPr>
          </a:p>
          <a:p>
            <a:pPr algn="r"/>
            <a:endParaRPr lang="fa-IR" sz="2600" dirty="0">
              <a:solidFill>
                <a:schemeClr val="bg1"/>
              </a:solidFill>
              <a:cs typeface="B Nazanin" panose="00000400000000000000" pitchFamily="2" charset="-78"/>
            </a:endParaRPr>
          </a:p>
          <a:p>
            <a:pPr algn="r"/>
            <a:r>
              <a:rPr lang="fa-IR" sz="2600" dirty="0">
                <a:solidFill>
                  <a:schemeClr val="bg1"/>
                </a:solidFill>
                <a:cs typeface="B Nazanin" panose="00000400000000000000" pitchFamily="2" charset="-78"/>
              </a:rPr>
              <a:t>در صورتی که تعداد مالکین از سه نفر تجاوز کند،</a:t>
            </a:r>
          </a:p>
          <a:p>
            <a:pPr algn="r"/>
            <a:endParaRPr lang="fa-IR" sz="2600" dirty="0">
              <a:solidFill>
                <a:schemeClr val="bg1"/>
              </a:solidFill>
              <a:cs typeface="B Nazanin" panose="00000400000000000000" pitchFamily="2" charset="-78"/>
            </a:endParaRPr>
          </a:p>
          <a:p>
            <a:pPr algn="r"/>
            <a:r>
              <a:rPr lang="fa-IR" sz="2600" dirty="0">
                <a:solidFill>
                  <a:schemeClr val="bg1"/>
                </a:solidFill>
                <a:cs typeface="B Nazanin" panose="00000400000000000000" pitchFamily="2" charset="-78"/>
              </a:rPr>
              <a:t> مجمع عمومی مالکین تشکیل می شود.</a:t>
            </a:r>
          </a:p>
          <a:p>
            <a:pPr algn="r"/>
            <a:endParaRPr lang="fa-IR" sz="2000" dirty="0">
              <a:solidFill>
                <a:schemeClr val="bg1"/>
              </a:solidFill>
              <a:cs typeface="B Nazanin" panose="00000400000000000000" pitchFamily="2" charset="-78"/>
            </a:endParaRPr>
          </a:p>
          <a:p>
            <a:pPr algn="r"/>
            <a:endParaRPr lang="fa-IR" sz="2000" dirty="0">
              <a:solidFill>
                <a:schemeClr val="bg1"/>
              </a:solidFill>
              <a:cs typeface="B Nazanin" panose="00000400000000000000" pitchFamily="2" charset="-78"/>
            </a:endParaRPr>
          </a:p>
          <a:p>
            <a:pPr algn="r"/>
            <a:endParaRPr lang="fa-IR" sz="2000" dirty="0">
              <a:solidFill>
                <a:schemeClr val="bg1"/>
              </a:solidFill>
              <a:cs typeface="B Nazanin" panose="00000400000000000000" pitchFamily="2" charset="-78"/>
            </a:endParaRPr>
          </a:p>
          <a:p>
            <a:pPr algn="r"/>
            <a:r>
              <a:rPr lang="fa-IR" sz="2000" dirty="0">
                <a:solidFill>
                  <a:schemeClr val="bg1"/>
                </a:solidFill>
                <a:cs typeface="B Nazanin" panose="00000400000000000000" pitchFamily="2" charset="-78"/>
              </a:rPr>
              <a:t> </a:t>
            </a:r>
            <a:endParaRPr lang="en-US" sz="2000" dirty="0">
              <a:solidFill>
                <a:schemeClr val="bg1"/>
              </a:solidFill>
              <a:cs typeface="B Nazanin" panose="00000400000000000000" pitchFamily="2" charset="-78"/>
            </a:endParaRPr>
          </a:p>
        </p:txBody>
      </p:sp>
    </p:spTree>
    <p:extLst>
      <p:ext uri="{BB962C8B-B14F-4D97-AF65-F5344CB8AC3E}">
        <p14:creationId xmlns:p14="http://schemas.microsoft.com/office/powerpoint/2010/main" val="2377310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B36CD9-B1E2-52BA-5F1F-3384F6E070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812145" cy="6858000"/>
          </a:xfrm>
          <a:prstGeom prst="rect">
            <a:avLst/>
          </a:prstGeom>
        </p:spPr>
      </p:pic>
      <p:sp>
        <p:nvSpPr>
          <p:cNvPr id="9" name="Rectangle 8">
            <a:extLst>
              <a:ext uri="{FF2B5EF4-FFF2-40B4-BE49-F238E27FC236}">
                <a16:creationId xmlns:a16="http://schemas.microsoft.com/office/drawing/2014/main" id="{16F43D19-D19D-A74D-E2C0-F302250036F1}"/>
              </a:ext>
            </a:extLst>
          </p:cNvPr>
          <p:cNvSpPr/>
          <p:nvPr/>
        </p:nvSpPr>
        <p:spPr>
          <a:xfrm>
            <a:off x="4368337" y="0"/>
            <a:ext cx="443808" cy="2138074"/>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E5B0383-07F8-128B-379A-2026A03B4852}"/>
              </a:ext>
            </a:extLst>
          </p:cNvPr>
          <p:cNvSpPr/>
          <p:nvPr/>
        </p:nvSpPr>
        <p:spPr>
          <a:xfrm>
            <a:off x="4812145" y="0"/>
            <a:ext cx="7379855" cy="6858000"/>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F6D11AB-8672-6573-10B2-8C066CF5E856}"/>
              </a:ext>
            </a:extLst>
          </p:cNvPr>
          <p:cNvSpPr/>
          <p:nvPr/>
        </p:nvSpPr>
        <p:spPr>
          <a:xfrm>
            <a:off x="2696556" y="1399161"/>
            <a:ext cx="9495444" cy="738913"/>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D3F94B-02CD-DF66-BF5F-6A5962D2252F}"/>
              </a:ext>
            </a:extLst>
          </p:cNvPr>
          <p:cNvSpPr/>
          <p:nvPr/>
        </p:nvSpPr>
        <p:spPr>
          <a:xfrm>
            <a:off x="4812145" y="0"/>
            <a:ext cx="45719" cy="6858000"/>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7A34B15-FBE3-D7A9-54DC-CBE02CD7C1AE}"/>
              </a:ext>
            </a:extLst>
          </p:cNvPr>
          <p:cNvSpPr txBox="1"/>
          <p:nvPr/>
        </p:nvSpPr>
        <p:spPr>
          <a:xfrm>
            <a:off x="2359890" y="952965"/>
            <a:ext cx="9725892" cy="4801314"/>
          </a:xfrm>
          <a:prstGeom prst="rect">
            <a:avLst/>
          </a:prstGeom>
          <a:noFill/>
        </p:spPr>
        <p:txBody>
          <a:bodyPr wrap="square" rtlCol="0">
            <a:spAutoFit/>
          </a:bodyPr>
          <a:lstStyle/>
          <a:p>
            <a:pPr algn="r"/>
            <a:endParaRPr lang="fa-IR" sz="2000" dirty="0">
              <a:solidFill>
                <a:schemeClr val="bg1"/>
              </a:solidFill>
              <a:cs typeface="B Nazanin" panose="00000400000000000000" pitchFamily="2" charset="-78"/>
            </a:endParaRPr>
          </a:p>
          <a:p>
            <a:pPr algn="r"/>
            <a:endParaRPr lang="fa-IR" sz="2000" dirty="0">
              <a:solidFill>
                <a:schemeClr val="bg1"/>
              </a:solidFill>
              <a:cs typeface="B Nazanin" panose="00000400000000000000" pitchFamily="2" charset="-78"/>
            </a:endParaRPr>
          </a:p>
          <a:p>
            <a:pPr algn="r"/>
            <a:r>
              <a:rPr lang="fa-IR" sz="2200" b="1" dirty="0">
                <a:effectLst>
                  <a:outerShdw blurRad="38100" dist="38100" dir="2700000" algn="tl">
                    <a:srgbClr val="000000">
                      <a:alpha val="43137"/>
                    </a:srgbClr>
                  </a:outerShdw>
                </a:effectLst>
                <a:cs typeface="B Bardiya" panose="00000400000000000000" pitchFamily="2" charset="-78"/>
              </a:rPr>
              <a:t>زمان تشکیل مجمع عمومی مالکین اعم از عادی یا فوق العاده به ترتیب زیر خواهدبود:</a:t>
            </a:r>
          </a:p>
          <a:p>
            <a:pPr algn="r"/>
            <a:endParaRPr lang="fa-IR" sz="2000" dirty="0">
              <a:solidFill>
                <a:schemeClr val="bg1"/>
              </a:solidFill>
              <a:cs typeface="B Nazanin" panose="00000400000000000000" pitchFamily="2" charset="-78"/>
            </a:endParaRPr>
          </a:p>
          <a:p>
            <a:pPr algn="r"/>
            <a:endParaRPr lang="fa-IR" sz="2000" dirty="0">
              <a:solidFill>
                <a:schemeClr val="bg1"/>
              </a:solidFill>
              <a:cs typeface="B Nazanin" panose="00000400000000000000" pitchFamily="2" charset="-78"/>
            </a:endParaRPr>
          </a:p>
          <a:p>
            <a:pPr algn="r"/>
            <a:r>
              <a:rPr lang="fa-IR" sz="2300" dirty="0">
                <a:solidFill>
                  <a:schemeClr val="bg1"/>
                </a:solidFill>
                <a:cs typeface="B Nazanin" panose="00000400000000000000" pitchFamily="2" charset="-78"/>
              </a:rPr>
              <a:t>در مواردی که توافق نامه ای بین مالکین تنظیم نشده است، به موجب</a:t>
            </a:r>
          </a:p>
          <a:p>
            <a:pPr algn="r"/>
            <a:r>
              <a:rPr lang="fa-IR" sz="2300" dirty="0">
                <a:solidFill>
                  <a:schemeClr val="bg1"/>
                </a:solidFill>
                <a:cs typeface="B Nazanin" panose="00000400000000000000" pitchFamily="2" charset="-78"/>
              </a:rPr>
              <a:t> </a:t>
            </a:r>
          </a:p>
          <a:p>
            <a:pPr algn="r"/>
            <a:r>
              <a:rPr lang="fa-IR" sz="2300" dirty="0">
                <a:solidFill>
                  <a:schemeClr val="bg1"/>
                </a:solidFill>
                <a:cs typeface="B Nazanin" panose="00000400000000000000" pitchFamily="2" charset="-78"/>
              </a:rPr>
              <a:t>اکثریت مطلق آراء مالکینی خواهد بود که بیش از نصف مساحت تمام</a:t>
            </a:r>
          </a:p>
          <a:p>
            <a:pPr algn="r"/>
            <a:r>
              <a:rPr lang="fa-IR" sz="2300" dirty="0">
                <a:solidFill>
                  <a:schemeClr val="bg1"/>
                </a:solidFill>
                <a:cs typeface="B Nazanin" panose="00000400000000000000" pitchFamily="2" charset="-78"/>
              </a:rPr>
              <a:t> </a:t>
            </a:r>
          </a:p>
          <a:p>
            <a:pPr algn="r"/>
            <a:r>
              <a:rPr lang="fa-IR" sz="2300" dirty="0">
                <a:solidFill>
                  <a:schemeClr val="bg1"/>
                </a:solidFill>
                <a:cs typeface="B Nazanin" panose="00000400000000000000" pitchFamily="2" charset="-78"/>
              </a:rPr>
              <a:t>قسمت های اختصاصی را مالک باشند و در صورت عدم حصول اکثریت مزبور،</a:t>
            </a:r>
          </a:p>
          <a:p>
            <a:pPr algn="r"/>
            <a:endParaRPr lang="fa-IR" sz="2300" dirty="0">
              <a:solidFill>
                <a:schemeClr val="bg1"/>
              </a:solidFill>
              <a:cs typeface="B Nazanin" panose="00000400000000000000" pitchFamily="2" charset="-78"/>
            </a:endParaRPr>
          </a:p>
          <a:p>
            <a:pPr algn="r"/>
            <a:r>
              <a:rPr lang="fa-IR" sz="2300" dirty="0">
                <a:solidFill>
                  <a:schemeClr val="bg1"/>
                </a:solidFill>
                <a:cs typeface="B Nazanin" panose="00000400000000000000" pitchFamily="2" charset="-78"/>
              </a:rPr>
              <a:t>زمان تشکیل مجمع عمومی با تصمیم حداقل سه نفراز مالکین تعیین خواهد شد.</a:t>
            </a:r>
          </a:p>
          <a:p>
            <a:pPr algn="r"/>
            <a:endParaRPr lang="fa-IR" sz="2300" dirty="0">
              <a:solidFill>
                <a:schemeClr val="bg1"/>
              </a:solidFill>
              <a:cs typeface="B Nazanin" panose="00000400000000000000" pitchFamily="2" charset="-78"/>
            </a:endParaRPr>
          </a:p>
          <a:p>
            <a:pPr algn="r"/>
            <a:r>
              <a:rPr lang="fa-IR" sz="2000" dirty="0">
                <a:solidFill>
                  <a:schemeClr val="bg1"/>
                </a:solidFill>
                <a:cs typeface="B Nazanin" panose="00000400000000000000" pitchFamily="2" charset="-78"/>
              </a:rPr>
              <a:t> </a:t>
            </a:r>
            <a:endParaRPr lang="en-US" sz="2000" dirty="0">
              <a:solidFill>
                <a:schemeClr val="bg1"/>
              </a:solidFill>
              <a:cs typeface="B Nazanin" panose="00000400000000000000" pitchFamily="2" charset="-78"/>
            </a:endParaRPr>
          </a:p>
        </p:txBody>
      </p:sp>
    </p:spTree>
    <p:extLst>
      <p:ext uri="{BB962C8B-B14F-4D97-AF65-F5344CB8AC3E}">
        <p14:creationId xmlns:p14="http://schemas.microsoft.com/office/powerpoint/2010/main" val="2866863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32AF8F1-56BE-AC96-1DCA-4BD1E304B886}"/>
              </a:ext>
            </a:extLst>
          </p:cNvPr>
          <p:cNvSpPr/>
          <p:nvPr/>
        </p:nvSpPr>
        <p:spPr>
          <a:xfrm>
            <a:off x="4082473" y="948365"/>
            <a:ext cx="8109528" cy="649526"/>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EDDF632-4B6B-7F33-911F-CEAEEC919AB6}"/>
              </a:ext>
            </a:extLst>
          </p:cNvPr>
          <p:cNvSpPr txBox="1"/>
          <p:nvPr/>
        </p:nvSpPr>
        <p:spPr>
          <a:xfrm>
            <a:off x="83127" y="948365"/>
            <a:ext cx="11884518" cy="4462760"/>
          </a:xfrm>
          <a:prstGeom prst="rect">
            <a:avLst/>
          </a:prstGeom>
          <a:noFill/>
        </p:spPr>
        <p:txBody>
          <a:bodyPr wrap="square" rtlCol="0">
            <a:spAutoFit/>
          </a:bodyPr>
          <a:lstStyle/>
          <a:p>
            <a:pPr algn="r"/>
            <a:r>
              <a:rPr lang="fa-IR" sz="3200" b="1" dirty="0">
                <a:cs typeface="B Bardiya" panose="00000400000000000000" pitchFamily="2" charset="-78"/>
              </a:rPr>
              <a:t>تصمیمات مجمع عمومی نیز به صورت زیر اتخاذ میشود</a:t>
            </a:r>
          </a:p>
          <a:p>
            <a:pPr algn="r"/>
            <a:endParaRPr lang="fa-IR" sz="2800" dirty="0">
              <a:solidFill>
                <a:schemeClr val="bg1"/>
              </a:solidFill>
              <a:cs typeface="B Nazanin" panose="00000400000000000000" pitchFamily="2" charset="-78"/>
            </a:endParaRP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در صورت وجود قراردادی بین مالکین، بر اساس همان قرارداد اتخاذ خواهد شد</a:t>
            </a:r>
          </a:p>
          <a:p>
            <a:pPr algn="r"/>
            <a:r>
              <a:rPr lang="fa-IR" sz="2800" dirty="0">
                <a:solidFill>
                  <a:schemeClr val="bg1"/>
                </a:solidFill>
                <a:cs typeface="B Nazanin" panose="00000400000000000000" pitchFamily="2" charset="-78"/>
              </a:rPr>
              <a:t> </a:t>
            </a:r>
          </a:p>
          <a:p>
            <a:pPr algn="r"/>
            <a:r>
              <a:rPr lang="fa-IR" sz="2800" dirty="0">
                <a:solidFill>
                  <a:schemeClr val="bg1"/>
                </a:solidFill>
                <a:cs typeface="B Nazanin" panose="00000400000000000000" pitchFamily="2" charset="-78"/>
              </a:rPr>
              <a:t>و در صورت عدم وجود قرارداد و توافقی بین مالکین، تصمیمات با به اکثریت آراء مالکینی است</a:t>
            </a:r>
          </a:p>
          <a:p>
            <a:pPr algn="r"/>
            <a:r>
              <a:rPr lang="fa-IR" sz="2800" dirty="0">
                <a:solidFill>
                  <a:schemeClr val="bg1"/>
                </a:solidFill>
                <a:cs typeface="B Nazanin" panose="00000400000000000000" pitchFamily="2" charset="-78"/>
              </a:rPr>
              <a:t> </a:t>
            </a:r>
          </a:p>
          <a:p>
            <a:pPr algn="r"/>
            <a:r>
              <a:rPr lang="fa-IR" sz="2800" dirty="0">
                <a:solidFill>
                  <a:schemeClr val="bg1"/>
                </a:solidFill>
                <a:cs typeface="B Nazanin" panose="00000400000000000000" pitchFamily="2" charset="-78"/>
              </a:rPr>
              <a:t>که بیش از نصف مساحت تمام قسمت های اختصاصی را مالک باشند.</a:t>
            </a:r>
          </a:p>
          <a:p>
            <a:pPr algn="r"/>
            <a:endParaRPr lang="fa-IR" sz="2800" dirty="0">
              <a:solidFill>
                <a:schemeClr val="bg1"/>
              </a:solidFill>
              <a:cs typeface="B Nazanin" panose="00000400000000000000" pitchFamily="2" charset="-78"/>
            </a:endParaRPr>
          </a:p>
          <a:p>
            <a:pPr algn="r"/>
            <a:endParaRPr lang="fa-IR" sz="2800" dirty="0">
              <a:solidFill>
                <a:schemeClr val="bg1"/>
              </a:solidFill>
              <a:cs typeface="B Nazanin" panose="00000400000000000000" pitchFamily="2" charset="-78"/>
            </a:endParaRPr>
          </a:p>
        </p:txBody>
      </p:sp>
      <p:sp>
        <p:nvSpPr>
          <p:cNvPr id="8" name="Oval 7">
            <a:extLst>
              <a:ext uri="{FF2B5EF4-FFF2-40B4-BE49-F238E27FC236}">
                <a16:creationId xmlns:a16="http://schemas.microsoft.com/office/drawing/2014/main" id="{AD305A22-1989-3FB1-6504-589A11766356}"/>
              </a:ext>
            </a:extLst>
          </p:cNvPr>
          <p:cNvSpPr/>
          <p:nvPr/>
        </p:nvSpPr>
        <p:spPr>
          <a:xfrm>
            <a:off x="11896435" y="2458510"/>
            <a:ext cx="154337" cy="175491"/>
          </a:xfrm>
          <a:prstGeom prst="ellipse">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E3A3A03-F48F-1CE2-CEA0-9D13B815488F}"/>
              </a:ext>
            </a:extLst>
          </p:cNvPr>
          <p:cNvSpPr/>
          <p:nvPr/>
        </p:nvSpPr>
        <p:spPr>
          <a:xfrm>
            <a:off x="0" y="5735782"/>
            <a:ext cx="12192000" cy="173853"/>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EAFF0A-9CC0-09D7-2EF7-793CA6430FC7}"/>
              </a:ext>
            </a:extLst>
          </p:cNvPr>
          <p:cNvSpPr/>
          <p:nvPr/>
        </p:nvSpPr>
        <p:spPr>
          <a:xfrm>
            <a:off x="635373" y="0"/>
            <a:ext cx="154337" cy="3232727"/>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6014F80-62B4-54B0-2736-EBA5D301F27A}"/>
              </a:ext>
            </a:extLst>
          </p:cNvPr>
          <p:cNvSpPr/>
          <p:nvPr/>
        </p:nvSpPr>
        <p:spPr>
          <a:xfrm>
            <a:off x="635373" y="3232727"/>
            <a:ext cx="154337" cy="3625274"/>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7033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32AF8F1-56BE-AC96-1DCA-4BD1E304B886}"/>
              </a:ext>
            </a:extLst>
          </p:cNvPr>
          <p:cNvSpPr/>
          <p:nvPr/>
        </p:nvSpPr>
        <p:spPr>
          <a:xfrm>
            <a:off x="4498109" y="328413"/>
            <a:ext cx="7693892" cy="619952"/>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EDDF632-4B6B-7F33-911F-CEAEEC919AB6}"/>
              </a:ext>
            </a:extLst>
          </p:cNvPr>
          <p:cNvSpPr txBox="1"/>
          <p:nvPr/>
        </p:nvSpPr>
        <p:spPr>
          <a:xfrm>
            <a:off x="102643" y="328412"/>
            <a:ext cx="11884518" cy="5755422"/>
          </a:xfrm>
          <a:prstGeom prst="rect">
            <a:avLst/>
          </a:prstGeom>
          <a:noFill/>
        </p:spPr>
        <p:txBody>
          <a:bodyPr wrap="square" rtlCol="0">
            <a:spAutoFit/>
          </a:bodyPr>
          <a:lstStyle/>
          <a:p>
            <a:pPr algn="r"/>
            <a:r>
              <a:rPr lang="fa-IR" sz="3200" b="1" dirty="0">
                <a:cs typeface="B Bardiya" panose="00000400000000000000" pitchFamily="2" charset="-78"/>
              </a:rPr>
              <a:t>تصمیمات مجمع عمومی نیز به صورت زیر اتخاذ میشود</a:t>
            </a:r>
          </a:p>
          <a:p>
            <a:pPr algn="r"/>
            <a:endParaRPr lang="fa-IR" sz="2800" dirty="0">
              <a:solidFill>
                <a:schemeClr val="bg1"/>
              </a:solidFill>
              <a:cs typeface="B Nazanin" panose="00000400000000000000" pitchFamily="2" charset="-78"/>
            </a:endParaRP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در اولین جلسه مجمع عمومی، ابتداء رئیس مجمع تعیین خواهد شد و سپس در همان جلسه</a:t>
            </a:r>
          </a:p>
          <a:p>
            <a:pPr algn="r"/>
            <a:r>
              <a:rPr lang="fa-IR" sz="2800" dirty="0">
                <a:solidFill>
                  <a:schemeClr val="bg1"/>
                </a:solidFill>
                <a:cs typeface="B Nazanin" panose="00000400000000000000" pitchFamily="2" charset="-78"/>
              </a:rPr>
              <a:t> </a:t>
            </a:r>
          </a:p>
          <a:p>
            <a:pPr algn="r"/>
            <a:r>
              <a:rPr lang="fa-IR" sz="2800" dirty="0">
                <a:solidFill>
                  <a:schemeClr val="bg1"/>
                </a:solidFill>
                <a:cs typeface="B Nazanin" panose="00000400000000000000" pitchFamily="2" charset="-78"/>
              </a:rPr>
              <a:t>مدیر یا مدیرانی از بین مالکین و یا اشخاص خارج انتخاب می شود. مجمع عمومی مالکین باید</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لااقل هر سال یک بار تشکیل شود.</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برای رسمیت مجمع، حضور مالکین بیش از نصف مساحت تمام قسمت های اختصاصی یا نماینده</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آنان ضروری است.</a:t>
            </a:r>
          </a:p>
          <a:p>
            <a:pPr algn="r"/>
            <a:endParaRPr lang="fa-IR" sz="2800" dirty="0">
              <a:solidFill>
                <a:schemeClr val="bg1"/>
              </a:solidFill>
              <a:cs typeface="B Nazanin" panose="00000400000000000000" pitchFamily="2" charset="-78"/>
            </a:endParaRPr>
          </a:p>
        </p:txBody>
      </p:sp>
      <p:sp>
        <p:nvSpPr>
          <p:cNvPr id="7" name="Oval 6">
            <a:extLst>
              <a:ext uri="{FF2B5EF4-FFF2-40B4-BE49-F238E27FC236}">
                <a16:creationId xmlns:a16="http://schemas.microsoft.com/office/drawing/2014/main" id="{D4F312D5-EB95-9527-4149-556D11176DB6}"/>
              </a:ext>
            </a:extLst>
          </p:cNvPr>
          <p:cNvSpPr/>
          <p:nvPr/>
        </p:nvSpPr>
        <p:spPr>
          <a:xfrm>
            <a:off x="11935020" y="1820020"/>
            <a:ext cx="154337" cy="175491"/>
          </a:xfrm>
          <a:prstGeom prst="ellipse">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608F8C-D891-6D83-7B9F-1F6053A10008}"/>
              </a:ext>
            </a:extLst>
          </p:cNvPr>
          <p:cNvSpPr/>
          <p:nvPr/>
        </p:nvSpPr>
        <p:spPr>
          <a:xfrm>
            <a:off x="11935020" y="4406201"/>
            <a:ext cx="154337" cy="175491"/>
          </a:xfrm>
          <a:prstGeom prst="ellipse">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E3A3A03-F48F-1CE2-CEA0-9D13B815488F}"/>
              </a:ext>
            </a:extLst>
          </p:cNvPr>
          <p:cNvSpPr/>
          <p:nvPr/>
        </p:nvSpPr>
        <p:spPr>
          <a:xfrm>
            <a:off x="0" y="5996907"/>
            <a:ext cx="12192000" cy="173853"/>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EAFF0A-9CC0-09D7-2EF7-793CA6430FC7}"/>
              </a:ext>
            </a:extLst>
          </p:cNvPr>
          <p:cNvSpPr/>
          <p:nvPr/>
        </p:nvSpPr>
        <p:spPr>
          <a:xfrm>
            <a:off x="635373" y="0"/>
            <a:ext cx="154337" cy="3232727"/>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6014F80-62B4-54B0-2736-EBA5D301F27A}"/>
              </a:ext>
            </a:extLst>
          </p:cNvPr>
          <p:cNvSpPr/>
          <p:nvPr/>
        </p:nvSpPr>
        <p:spPr>
          <a:xfrm>
            <a:off x="635373" y="3796145"/>
            <a:ext cx="154337" cy="3061856"/>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2757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32AF8F1-56BE-AC96-1DCA-4BD1E304B886}"/>
              </a:ext>
            </a:extLst>
          </p:cNvPr>
          <p:cNvSpPr/>
          <p:nvPr/>
        </p:nvSpPr>
        <p:spPr>
          <a:xfrm>
            <a:off x="4285672" y="319554"/>
            <a:ext cx="7906328" cy="69570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EDDF632-4B6B-7F33-911F-CEAEEC919AB6}"/>
              </a:ext>
            </a:extLst>
          </p:cNvPr>
          <p:cNvSpPr txBox="1"/>
          <p:nvPr/>
        </p:nvSpPr>
        <p:spPr>
          <a:xfrm>
            <a:off x="-32627" y="445733"/>
            <a:ext cx="11865002" cy="5755422"/>
          </a:xfrm>
          <a:prstGeom prst="rect">
            <a:avLst/>
          </a:prstGeom>
          <a:noFill/>
        </p:spPr>
        <p:txBody>
          <a:bodyPr wrap="square" rtlCol="0">
            <a:spAutoFit/>
          </a:bodyPr>
          <a:lstStyle/>
          <a:p>
            <a:pPr algn="r"/>
            <a:r>
              <a:rPr lang="fa-IR" sz="3200" b="1" dirty="0">
                <a:cs typeface="B Bardiya" panose="00000400000000000000" pitchFamily="2" charset="-78"/>
              </a:rPr>
              <a:t>تصمیمات مجمع عمومی نیز به صورت زیر اتخاذ میشود</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در صورت عدم حصول اکثریت بالا، جلسه برای پانزده روز بعد تجدید خواهد شد. هرگاه در این</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جلسه هم لازم حاصل نگردید، جلسه برای پانزده روز بعد تجدید و تصمیمات جلسه اخیر با </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تصویب اکثریت عده حاضر معتبر است.</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کسی که به عنوان نماینده یکی از شرکاء تعیین شده، باید قبل از تشکیل مجمع عمومی وکالت نامه</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معتبر خودرا به مدیر یا مدیران ارائه نماید.</a:t>
            </a:r>
          </a:p>
          <a:p>
            <a:pPr algn="r"/>
            <a:endParaRPr lang="fa-IR" sz="2800" dirty="0">
              <a:solidFill>
                <a:schemeClr val="bg1"/>
              </a:solidFill>
              <a:cs typeface="B Nazanin" panose="00000400000000000000" pitchFamily="2" charset="-78"/>
            </a:endParaRPr>
          </a:p>
          <a:p>
            <a:pPr algn="r"/>
            <a:endParaRPr lang="fa-IR" sz="2800" dirty="0">
              <a:solidFill>
                <a:schemeClr val="bg1"/>
              </a:solidFill>
              <a:cs typeface="B Nazanin" panose="00000400000000000000" pitchFamily="2" charset="-78"/>
            </a:endParaRPr>
          </a:p>
        </p:txBody>
      </p:sp>
      <p:sp>
        <p:nvSpPr>
          <p:cNvPr id="7" name="Oval 6">
            <a:extLst>
              <a:ext uri="{FF2B5EF4-FFF2-40B4-BE49-F238E27FC236}">
                <a16:creationId xmlns:a16="http://schemas.microsoft.com/office/drawing/2014/main" id="{D4F312D5-EB95-9527-4149-556D11176DB6}"/>
              </a:ext>
            </a:extLst>
          </p:cNvPr>
          <p:cNvSpPr/>
          <p:nvPr/>
        </p:nvSpPr>
        <p:spPr>
          <a:xfrm>
            <a:off x="11869322" y="4084605"/>
            <a:ext cx="154337" cy="175491"/>
          </a:xfrm>
          <a:prstGeom prst="ellipse">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D305A22-1989-3FB1-6504-589A11766356}"/>
              </a:ext>
            </a:extLst>
          </p:cNvPr>
          <p:cNvSpPr/>
          <p:nvPr/>
        </p:nvSpPr>
        <p:spPr>
          <a:xfrm>
            <a:off x="11869322" y="1498020"/>
            <a:ext cx="154337" cy="175491"/>
          </a:xfrm>
          <a:prstGeom prst="ellipse">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2715566-E6EA-B9C8-D430-4AC0B9BFBA45}"/>
              </a:ext>
            </a:extLst>
          </p:cNvPr>
          <p:cNvSpPr/>
          <p:nvPr/>
        </p:nvSpPr>
        <p:spPr>
          <a:xfrm>
            <a:off x="0" y="5803988"/>
            <a:ext cx="12192000" cy="175491"/>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706CEFB-C6FA-D079-734C-A9EAA8A94B13}"/>
              </a:ext>
            </a:extLst>
          </p:cNvPr>
          <p:cNvSpPr/>
          <p:nvPr/>
        </p:nvSpPr>
        <p:spPr>
          <a:xfrm>
            <a:off x="637309" y="0"/>
            <a:ext cx="193964" cy="1976582"/>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28D396C-4879-9F0E-5785-C1F885F11D38}"/>
              </a:ext>
            </a:extLst>
          </p:cNvPr>
          <p:cNvSpPr/>
          <p:nvPr/>
        </p:nvSpPr>
        <p:spPr>
          <a:xfrm>
            <a:off x="637309" y="1976583"/>
            <a:ext cx="193964" cy="4891406"/>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6665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32AF8F1-56BE-AC96-1DCA-4BD1E304B886}"/>
              </a:ext>
            </a:extLst>
          </p:cNvPr>
          <p:cNvSpPr/>
          <p:nvPr/>
        </p:nvSpPr>
        <p:spPr>
          <a:xfrm>
            <a:off x="4488873" y="553815"/>
            <a:ext cx="7703127" cy="646912"/>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EDDF632-4B6B-7F33-911F-CEAEEC919AB6}"/>
              </a:ext>
            </a:extLst>
          </p:cNvPr>
          <p:cNvSpPr txBox="1"/>
          <p:nvPr/>
        </p:nvSpPr>
        <p:spPr>
          <a:xfrm>
            <a:off x="70017" y="661152"/>
            <a:ext cx="11865002" cy="4462760"/>
          </a:xfrm>
          <a:prstGeom prst="rect">
            <a:avLst/>
          </a:prstGeom>
          <a:noFill/>
        </p:spPr>
        <p:txBody>
          <a:bodyPr wrap="square" rtlCol="0">
            <a:spAutoFit/>
          </a:bodyPr>
          <a:lstStyle/>
          <a:p>
            <a:pPr algn="r"/>
            <a:r>
              <a:rPr lang="fa-IR" sz="3200" b="1" dirty="0">
                <a:cs typeface="B Bardiya" panose="00000400000000000000" pitchFamily="2" charset="-78"/>
              </a:rPr>
              <a:t>تصمیمات مجمع عمومی نیز به صورت زیر اتخاذ میشود</a:t>
            </a:r>
          </a:p>
          <a:p>
            <a:pPr algn="r"/>
            <a:endParaRPr lang="fa-IR" sz="2800" dirty="0">
              <a:solidFill>
                <a:schemeClr val="bg1"/>
              </a:solidFill>
              <a:cs typeface="B Nazanin" panose="00000400000000000000" pitchFamily="2" charset="-78"/>
            </a:endParaRP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در صورتی که مالک قسمت اختصاصی شخصیت حقوقی باشد، نماینده آن طبق قوانین مربوط</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به شخصیت های حقوقی معرفی خواهد شد.</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هرگاه چند نفر مالک قسمت اختصاصی باشند، باید از طرف خودیک نفر را برای شرکت در</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مجمع عمومی انتخابو معرفی نماید.</a:t>
            </a:r>
          </a:p>
        </p:txBody>
      </p:sp>
      <p:sp>
        <p:nvSpPr>
          <p:cNvPr id="7" name="Oval 6">
            <a:extLst>
              <a:ext uri="{FF2B5EF4-FFF2-40B4-BE49-F238E27FC236}">
                <a16:creationId xmlns:a16="http://schemas.microsoft.com/office/drawing/2014/main" id="{D4F312D5-EB95-9527-4149-556D11176DB6}"/>
              </a:ext>
            </a:extLst>
          </p:cNvPr>
          <p:cNvSpPr/>
          <p:nvPr/>
        </p:nvSpPr>
        <p:spPr>
          <a:xfrm>
            <a:off x="11960495" y="3872730"/>
            <a:ext cx="154337" cy="175491"/>
          </a:xfrm>
          <a:prstGeom prst="ellipse">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D305A22-1989-3FB1-6504-589A11766356}"/>
              </a:ext>
            </a:extLst>
          </p:cNvPr>
          <p:cNvSpPr/>
          <p:nvPr/>
        </p:nvSpPr>
        <p:spPr>
          <a:xfrm>
            <a:off x="11935020" y="2194833"/>
            <a:ext cx="154337" cy="175491"/>
          </a:xfrm>
          <a:prstGeom prst="ellipse">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2715566-E6EA-B9C8-D430-4AC0B9BFBA45}"/>
              </a:ext>
            </a:extLst>
          </p:cNvPr>
          <p:cNvSpPr/>
          <p:nvPr/>
        </p:nvSpPr>
        <p:spPr>
          <a:xfrm>
            <a:off x="0" y="5803988"/>
            <a:ext cx="12192000" cy="175491"/>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706CEFB-C6FA-D079-734C-A9EAA8A94B13}"/>
              </a:ext>
            </a:extLst>
          </p:cNvPr>
          <p:cNvSpPr/>
          <p:nvPr/>
        </p:nvSpPr>
        <p:spPr>
          <a:xfrm>
            <a:off x="637309" y="0"/>
            <a:ext cx="193964" cy="1976582"/>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28D396C-4879-9F0E-5785-C1F885F11D38}"/>
              </a:ext>
            </a:extLst>
          </p:cNvPr>
          <p:cNvSpPr/>
          <p:nvPr/>
        </p:nvSpPr>
        <p:spPr>
          <a:xfrm>
            <a:off x="637309" y="1976583"/>
            <a:ext cx="193964" cy="4891406"/>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5167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B36CD9-B1E2-52BA-5F1F-3384F6E070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812145" cy="6858000"/>
          </a:xfrm>
          <a:prstGeom prst="rect">
            <a:avLst/>
          </a:prstGeom>
        </p:spPr>
      </p:pic>
      <p:sp>
        <p:nvSpPr>
          <p:cNvPr id="9" name="Rectangle 8">
            <a:extLst>
              <a:ext uri="{FF2B5EF4-FFF2-40B4-BE49-F238E27FC236}">
                <a16:creationId xmlns:a16="http://schemas.microsoft.com/office/drawing/2014/main" id="{16F43D19-D19D-A74D-E2C0-F302250036F1}"/>
              </a:ext>
            </a:extLst>
          </p:cNvPr>
          <p:cNvSpPr/>
          <p:nvPr/>
        </p:nvSpPr>
        <p:spPr>
          <a:xfrm>
            <a:off x="4368337" y="0"/>
            <a:ext cx="443808" cy="2423168"/>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E5B0383-07F8-128B-379A-2026A03B4852}"/>
              </a:ext>
            </a:extLst>
          </p:cNvPr>
          <p:cNvSpPr/>
          <p:nvPr/>
        </p:nvSpPr>
        <p:spPr>
          <a:xfrm>
            <a:off x="4812145" y="0"/>
            <a:ext cx="7379855" cy="6858000"/>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E6AAAB7-DE98-1114-3CE4-99EC2519E34C}"/>
              </a:ext>
            </a:extLst>
          </p:cNvPr>
          <p:cNvSpPr/>
          <p:nvPr/>
        </p:nvSpPr>
        <p:spPr>
          <a:xfrm>
            <a:off x="2696556" y="335750"/>
            <a:ext cx="9495444" cy="738913"/>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D3F94B-02CD-DF66-BF5F-6A5962D2252F}"/>
              </a:ext>
            </a:extLst>
          </p:cNvPr>
          <p:cNvSpPr/>
          <p:nvPr/>
        </p:nvSpPr>
        <p:spPr>
          <a:xfrm>
            <a:off x="4812145" y="0"/>
            <a:ext cx="45719" cy="6858000"/>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7A34B15-FBE3-D7A9-54DC-CBE02CD7C1AE}"/>
              </a:ext>
            </a:extLst>
          </p:cNvPr>
          <p:cNvSpPr txBox="1"/>
          <p:nvPr/>
        </p:nvSpPr>
        <p:spPr>
          <a:xfrm>
            <a:off x="2313709" y="487025"/>
            <a:ext cx="9725892" cy="5324535"/>
          </a:xfrm>
          <a:prstGeom prst="rect">
            <a:avLst/>
          </a:prstGeom>
          <a:noFill/>
        </p:spPr>
        <p:txBody>
          <a:bodyPr wrap="square" rtlCol="0">
            <a:spAutoFit/>
          </a:bodyPr>
          <a:lstStyle/>
          <a:p>
            <a:pPr algn="r"/>
            <a:r>
              <a:rPr lang="fa-IR" sz="3200" b="1" dirty="0">
                <a:effectLst>
                  <a:outerShdw blurRad="38100" dist="38100" dir="2700000" algn="tl">
                    <a:srgbClr val="000000">
                      <a:alpha val="43137"/>
                    </a:srgbClr>
                  </a:outerShdw>
                </a:effectLst>
                <a:cs typeface="B Nazanin" panose="00000400000000000000" pitchFamily="2" charset="-78"/>
              </a:rPr>
              <a:t>مجمع عمومی شرکاء دارای وظایف و اختیارات زیر می باشد</a:t>
            </a:r>
          </a:p>
          <a:p>
            <a:pPr algn="r"/>
            <a:endParaRPr lang="fa-IR" sz="2800" b="1" dirty="0">
              <a:solidFill>
                <a:schemeClr val="bg1"/>
              </a:solidFill>
              <a:effectLst>
                <a:outerShdw blurRad="38100" dist="38100" dir="2700000" algn="tl">
                  <a:srgbClr val="000000">
                    <a:alpha val="43137"/>
                  </a:srgbClr>
                </a:outerShdw>
              </a:effectLst>
              <a:cs typeface="B Nazanin" panose="00000400000000000000" pitchFamily="2" charset="-78"/>
            </a:endParaRPr>
          </a:p>
          <a:p>
            <a:pPr algn="r"/>
            <a:endParaRPr lang="fa-IR" sz="2800" b="1" dirty="0">
              <a:solidFill>
                <a:schemeClr val="bg1"/>
              </a:solidFill>
              <a:effectLst>
                <a:outerShdw blurRad="38100" dist="38100" dir="2700000" algn="tl">
                  <a:srgbClr val="000000">
                    <a:alpha val="43137"/>
                  </a:srgbClr>
                </a:outerShdw>
              </a:effectLst>
              <a:cs typeface="B Nazanin" panose="00000400000000000000" pitchFamily="2" charset="-78"/>
            </a:endParaRPr>
          </a:p>
          <a:p>
            <a:pPr algn="r"/>
            <a:r>
              <a:rPr lang="fa-IR" sz="2800" dirty="0">
                <a:solidFill>
                  <a:schemeClr val="accent2"/>
                </a:solidFill>
                <a:effectLst>
                  <a:outerShdw blurRad="38100" dist="38100" dir="2700000" algn="tl">
                    <a:srgbClr val="000000">
                      <a:alpha val="43137"/>
                    </a:srgbClr>
                  </a:outerShdw>
                </a:effectLst>
                <a:cs typeface="B Nazanin" panose="00000400000000000000" pitchFamily="2" charset="-78"/>
              </a:rPr>
              <a:t>الف) </a:t>
            </a:r>
            <a:r>
              <a:rPr lang="fa-IR" sz="2800" dirty="0">
                <a:solidFill>
                  <a:schemeClr val="bg1"/>
                </a:solidFill>
                <a:effectLst>
                  <a:outerShdw blurRad="38100" dist="38100" dir="2700000" algn="tl">
                    <a:srgbClr val="000000">
                      <a:alpha val="43137"/>
                    </a:srgbClr>
                  </a:outerShdw>
                </a:effectLst>
                <a:cs typeface="B Nazanin" panose="00000400000000000000" pitchFamily="2" charset="-78"/>
              </a:rPr>
              <a:t>تعیین رئیس مجمع عمومی</a:t>
            </a:r>
          </a:p>
          <a:p>
            <a:pPr algn="r"/>
            <a:endParaRPr lang="fa-IR" sz="2800" dirty="0">
              <a:solidFill>
                <a:schemeClr val="bg1"/>
              </a:solidFill>
              <a:effectLst>
                <a:outerShdw blurRad="38100" dist="38100" dir="2700000" algn="tl">
                  <a:srgbClr val="000000">
                    <a:alpha val="43137"/>
                  </a:srgbClr>
                </a:outerShdw>
              </a:effectLst>
              <a:cs typeface="B Nazanin" panose="00000400000000000000" pitchFamily="2" charset="-78"/>
            </a:endParaRPr>
          </a:p>
          <a:p>
            <a:pPr algn="r"/>
            <a:r>
              <a:rPr lang="fa-IR" sz="2800" dirty="0">
                <a:solidFill>
                  <a:schemeClr val="accent2"/>
                </a:solidFill>
                <a:effectLst>
                  <a:outerShdw blurRad="38100" dist="38100" dir="2700000" algn="tl">
                    <a:srgbClr val="000000">
                      <a:alpha val="43137"/>
                    </a:srgbClr>
                  </a:outerShdw>
                </a:effectLst>
                <a:cs typeface="B Nazanin" panose="00000400000000000000" pitchFamily="2" charset="-78"/>
              </a:rPr>
              <a:t>ب) </a:t>
            </a:r>
            <a:r>
              <a:rPr lang="fa-IR" sz="2800" dirty="0">
                <a:solidFill>
                  <a:schemeClr val="bg1"/>
                </a:solidFill>
                <a:effectLst>
                  <a:outerShdw blurRad="38100" dist="38100" dir="2700000" algn="tl">
                    <a:srgbClr val="000000">
                      <a:alpha val="43137"/>
                    </a:srgbClr>
                  </a:outerShdw>
                </a:effectLst>
                <a:cs typeface="B Nazanin" panose="00000400000000000000" pitchFamily="2" charset="-78"/>
              </a:rPr>
              <a:t>انتخاب مدیر یا مدیران و رسیدگی اعمال آنها</a:t>
            </a:r>
          </a:p>
          <a:p>
            <a:pPr algn="r"/>
            <a:endParaRPr lang="fa-IR" sz="2800" dirty="0">
              <a:solidFill>
                <a:schemeClr val="bg1"/>
              </a:solidFill>
              <a:effectLst>
                <a:outerShdw blurRad="38100" dist="38100" dir="2700000" algn="tl">
                  <a:srgbClr val="000000">
                    <a:alpha val="43137"/>
                  </a:srgbClr>
                </a:outerShdw>
              </a:effectLst>
              <a:cs typeface="B Nazanin" panose="00000400000000000000" pitchFamily="2" charset="-78"/>
            </a:endParaRPr>
          </a:p>
          <a:p>
            <a:pPr algn="r"/>
            <a:r>
              <a:rPr lang="fa-IR" sz="2800" dirty="0">
                <a:solidFill>
                  <a:schemeClr val="accent2"/>
                </a:solidFill>
                <a:effectLst>
                  <a:outerShdw blurRad="38100" dist="38100" dir="2700000" algn="tl">
                    <a:srgbClr val="000000">
                      <a:alpha val="43137"/>
                    </a:srgbClr>
                  </a:outerShdw>
                </a:effectLst>
                <a:cs typeface="B Nazanin" panose="00000400000000000000" pitchFamily="2" charset="-78"/>
              </a:rPr>
              <a:t>پ) </a:t>
            </a:r>
            <a:r>
              <a:rPr lang="fa-IR" sz="2800" dirty="0">
                <a:solidFill>
                  <a:schemeClr val="bg1"/>
                </a:solidFill>
                <a:effectLst>
                  <a:outerShdw blurRad="38100" dist="38100" dir="2700000" algn="tl">
                    <a:srgbClr val="000000">
                      <a:alpha val="43137"/>
                    </a:srgbClr>
                  </a:outerShdw>
                </a:effectLst>
                <a:cs typeface="B Nazanin" panose="00000400000000000000" pitchFamily="2" charset="-78"/>
              </a:rPr>
              <a:t>اتخاذ تصمیم نسبت به اداره امور ساختمان</a:t>
            </a:r>
          </a:p>
          <a:p>
            <a:pPr algn="r"/>
            <a:endParaRPr lang="fa-IR" sz="2800" dirty="0">
              <a:solidFill>
                <a:schemeClr val="bg1"/>
              </a:solidFill>
              <a:effectLst>
                <a:outerShdw blurRad="38100" dist="38100" dir="2700000" algn="tl">
                  <a:srgbClr val="000000">
                    <a:alpha val="43137"/>
                  </a:srgbClr>
                </a:outerShdw>
              </a:effectLst>
              <a:cs typeface="B Nazanin" panose="00000400000000000000" pitchFamily="2" charset="-78"/>
            </a:endParaRPr>
          </a:p>
          <a:p>
            <a:pPr algn="r"/>
            <a:r>
              <a:rPr lang="fa-IR" sz="2800" dirty="0">
                <a:solidFill>
                  <a:schemeClr val="accent2"/>
                </a:solidFill>
                <a:effectLst>
                  <a:outerShdw blurRad="38100" dist="38100" dir="2700000" algn="tl">
                    <a:srgbClr val="000000">
                      <a:alpha val="43137"/>
                    </a:srgbClr>
                  </a:outerShdw>
                </a:effectLst>
                <a:cs typeface="B Nazanin" panose="00000400000000000000" pitchFamily="2" charset="-78"/>
              </a:rPr>
              <a:t>ت) </a:t>
            </a:r>
            <a:r>
              <a:rPr lang="fa-IR" sz="2800" dirty="0">
                <a:solidFill>
                  <a:schemeClr val="bg1"/>
                </a:solidFill>
                <a:effectLst>
                  <a:outerShdw blurRad="38100" dist="38100" dir="2700000" algn="tl">
                    <a:srgbClr val="000000">
                      <a:alpha val="43137"/>
                    </a:srgbClr>
                  </a:outerShdw>
                </a:effectLst>
                <a:cs typeface="B Nazanin" panose="00000400000000000000" pitchFamily="2" charset="-78"/>
              </a:rPr>
              <a:t>تصویب گزارش مربوط به درآمد و هزینه های سالانه</a:t>
            </a:r>
          </a:p>
          <a:p>
            <a:pPr algn="r"/>
            <a:endParaRPr lang="fa-IR" sz="2800" dirty="0">
              <a:solidFill>
                <a:schemeClr val="bg1"/>
              </a:solidFill>
              <a:effectLst>
                <a:outerShdw blurRad="38100" dist="38100" dir="2700000" algn="tl">
                  <a:srgbClr val="000000">
                    <a:alpha val="43137"/>
                  </a:srgbClr>
                </a:outerShdw>
              </a:effectLst>
              <a:cs typeface="B Nazanin" panose="00000400000000000000" pitchFamily="2" charset="-78"/>
            </a:endParaRPr>
          </a:p>
          <a:p>
            <a:pPr algn="r"/>
            <a:r>
              <a:rPr lang="fa-IR" sz="2800" dirty="0">
                <a:solidFill>
                  <a:schemeClr val="bg1"/>
                </a:solidFill>
                <a:cs typeface="B Nazanin" panose="00000400000000000000" pitchFamily="2" charset="-78"/>
              </a:rPr>
              <a:t> </a:t>
            </a:r>
            <a:endParaRPr lang="en-US" sz="2800" dirty="0">
              <a:solidFill>
                <a:schemeClr val="bg1"/>
              </a:solidFill>
              <a:cs typeface="B Nazanin" panose="00000400000000000000" pitchFamily="2" charset="-78"/>
            </a:endParaRPr>
          </a:p>
        </p:txBody>
      </p:sp>
    </p:spTree>
    <p:extLst>
      <p:ext uri="{BB962C8B-B14F-4D97-AF65-F5344CB8AC3E}">
        <p14:creationId xmlns:p14="http://schemas.microsoft.com/office/powerpoint/2010/main" val="2985607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B36CD9-B1E2-52BA-5F1F-3384F6E070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812145" cy="6858000"/>
          </a:xfrm>
          <a:prstGeom prst="rect">
            <a:avLst/>
          </a:prstGeom>
        </p:spPr>
      </p:pic>
      <p:sp>
        <p:nvSpPr>
          <p:cNvPr id="9" name="Rectangle 8">
            <a:extLst>
              <a:ext uri="{FF2B5EF4-FFF2-40B4-BE49-F238E27FC236}">
                <a16:creationId xmlns:a16="http://schemas.microsoft.com/office/drawing/2014/main" id="{16F43D19-D19D-A74D-E2C0-F302250036F1}"/>
              </a:ext>
            </a:extLst>
          </p:cNvPr>
          <p:cNvSpPr/>
          <p:nvPr/>
        </p:nvSpPr>
        <p:spPr>
          <a:xfrm>
            <a:off x="4368337" y="0"/>
            <a:ext cx="443808" cy="2423168"/>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E5B0383-07F8-128B-379A-2026A03B4852}"/>
              </a:ext>
            </a:extLst>
          </p:cNvPr>
          <p:cNvSpPr/>
          <p:nvPr/>
        </p:nvSpPr>
        <p:spPr>
          <a:xfrm>
            <a:off x="4812145" y="0"/>
            <a:ext cx="7379855" cy="6858000"/>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E6AAAB7-DE98-1114-3CE4-99EC2519E34C}"/>
              </a:ext>
            </a:extLst>
          </p:cNvPr>
          <p:cNvSpPr/>
          <p:nvPr/>
        </p:nvSpPr>
        <p:spPr>
          <a:xfrm>
            <a:off x="2696557" y="585132"/>
            <a:ext cx="9495444" cy="738913"/>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D3F94B-02CD-DF66-BF5F-6A5962D2252F}"/>
              </a:ext>
            </a:extLst>
          </p:cNvPr>
          <p:cNvSpPr/>
          <p:nvPr/>
        </p:nvSpPr>
        <p:spPr>
          <a:xfrm>
            <a:off x="4812145" y="0"/>
            <a:ext cx="45719" cy="6858000"/>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7A34B15-FBE3-D7A9-54DC-CBE02CD7C1AE}"/>
              </a:ext>
            </a:extLst>
          </p:cNvPr>
          <p:cNvSpPr txBox="1"/>
          <p:nvPr/>
        </p:nvSpPr>
        <p:spPr>
          <a:xfrm>
            <a:off x="2332182" y="742150"/>
            <a:ext cx="9725892" cy="5324535"/>
          </a:xfrm>
          <a:prstGeom prst="rect">
            <a:avLst/>
          </a:prstGeom>
          <a:noFill/>
        </p:spPr>
        <p:txBody>
          <a:bodyPr wrap="square" rtlCol="0">
            <a:spAutoFit/>
          </a:bodyPr>
          <a:lstStyle/>
          <a:p>
            <a:pPr algn="r"/>
            <a:r>
              <a:rPr lang="fa-IR" sz="3200" b="1" dirty="0">
                <a:effectLst>
                  <a:outerShdw blurRad="38100" dist="38100" dir="2700000" algn="tl">
                    <a:srgbClr val="000000">
                      <a:alpha val="43137"/>
                    </a:srgbClr>
                  </a:outerShdw>
                </a:effectLst>
                <a:cs typeface="B Nazanin" panose="00000400000000000000" pitchFamily="2" charset="-78"/>
              </a:rPr>
              <a:t>مجمع عمومی شرکاء دارای وظایف و اختیارات زیر می باشد</a:t>
            </a:r>
          </a:p>
          <a:p>
            <a:pPr algn="r"/>
            <a:endParaRPr lang="fa-IR" sz="2800" b="1" dirty="0">
              <a:solidFill>
                <a:schemeClr val="bg1"/>
              </a:solidFill>
              <a:effectLst>
                <a:outerShdw blurRad="38100" dist="38100" dir="2700000" algn="tl">
                  <a:srgbClr val="000000">
                    <a:alpha val="43137"/>
                  </a:srgbClr>
                </a:outerShdw>
              </a:effectLst>
              <a:cs typeface="B Nazanin" panose="00000400000000000000" pitchFamily="2" charset="-78"/>
            </a:endParaRPr>
          </a:p>
          <a:p>
            <a:pPr algn="r"/>
            <a:endParaRPr lang="fa-IR" sz="2800" dirty="0">
              <a:solidFill>
                <a:schemeClr val="accent2"/>
              </a:solidFill>
              <a:effectLst>
                <a:outerShdw blurRad="38100" dist="38100" dir="2700000" algn="tl">
                  <a:srgbClr val="000000">
                    <a:alpha val="43137"/>
                  </a:srgbClr>
                </a:outerShdw>
              </a:effectLst>
              <a:cs typeface="B Nazanin" panose="00000400000000000000" pitchFamily="2" charset="-78"/>
            </a:endParaRPr>
          </a:p>
          <a:p>
            <a:pPr algn="r"/>
            <a:endParaRPr lang="fa-IR" sz="2800" dirty="0">
              <a:solidFill>
                <a:schemeClr val="bg1"/>
              </a:solidFill>
              <a:effectLst>
                <a:outerShdw blurRad="38100" dist="38100" dir="2700000" algn="tl">
                  <a:srgbClr val="000000">
                    <a:alpha val="43137"/>
                  </a:srgbClr>
                </a:outerShdw>
              </a:effectLst>
              <a:cs typeface="B Nazanin" panose="00000400000000000000" pitchFamily="2" charset="-78"/>
            </a:endParaRPr>
          </a:p>
          <a:p>
            <a:pPr algn="r"/>
            <a:r>
              <a:rPr lang="fa-IR" sz="2800" dirty="0">
                <a:solidFill>
                  <a:schemeClr val="accent2"/>
                </a:solidFill>
                <a:effectLst>
                  <a:outerShdw blurRad="38100" dist="38100" dir="2700000" algn="tl">
                    <a:srgbClr val="000000">
                      <a:alpha val="43137"/>
                    </a:srgbClr>
                  </a:outerShdw>
                </a:effectLst>
                <a:cs typeface="B Nazanin" panose="00000400000000000000" pitchFamily="2" charset="-78"/>
              </a:rPr>
              <a:t>ث) </a:t>
            </a:r>
            <a:r>
              <a:rPr lang="fa-IR" sz="2800" dirty="0">
                <a:solidFill>
                  <a:schemeClr val="bg1"/>
                </a:solidFill>
                <a:effectLst>
                  <a:outerShdw blurRad="38100" dist="38100" dir="2700000" algn="tl">
                    <a:srgbClr val="000000">
                      <a:alpha val="43137"/>
                    </a:srgbClr>
                  </a:outerShdw>
                </a:effectLst>
                <a:cs typeface="B Nazanin" panose="00000400000000000000" pitchFamily="2" charset="-78"/>
              </a:rPr>
              <a:t>اتخاذ تصمیم در ایجاد اندوخته برای امور مربوط به حفظ</a:t>
            </a:r>
          </a:p>
          <a:p>
            <a:pPr algn="r"/>
            <a:endParaRPr lang="fa-IR" sz="2800" dirty="0">
              <a:solidFill>
                <a:schemeClr val="bg1"/>
              </a:solidFill>
              <a:effectLst>
                <a:outerShdw blurRad="38100" dist="38100" dir="2700000" algn="tl">
                  <a:srgbClr val="000000">
                    <a:alpha val="43137"/>
                  </a:srgbClr>
                </a:outerShdw>
              </a:effectLst>
              <a:cs typeface="B Nazanin" panose="00000400000000000000" pitchFamily="2" charset="-78"/>
            </a:endParaRPr>
          </a:p>
          <a:p>
            <a:pPr algn="r"/>
            <a:r>
              <a:rPr lang="fa-IR" sz="2800" dirty="0">
                <a:solidFill>
                  <a:schemeClr val="bg1"/>
                </a:solidFill>
                <a:effectLst>
                  <a:outerShdw blurRad="38100" dist="38100" dir="2700000" algn="tl">
                    <a:srgbClr val="000000">
                      <a:alpha val="43137"/>
                    </a:srgbClr>
                  </a:outerShdw>
                </a:effectLst>
                <a:cs typeface="B Nazanin" panose="00000400000000000000" pitchFamily="2" charset="-78"/>
              </a:rPr>
              <a:t> و نگاهداری و تعمیر بنا</a:t>
            </a:r>
          </a:p>
          <a:p>
            <a:pPr algn="r"/>
            <a:endParaRPr lang="fa-IR" sz="2800" dirty="0">
              <a:solidFill>
                <a:schemeClr val="bg1"/>
              </a:solidFill>
              <a:effectLst>
                <a:outerShdw blurRad="38100" dist="38100" dir="2700000" algn="tl">
                  <a:srgbClr val="000000">
                    <a:alpha val="43137"/>
                  </a:srgbClr>
                </a:outerShdw>
              </a:effectLst>
              <a:cs typeface="B Nazanin" panose="00000400000000000000" pitchFamily="2" charset="-78"/>
            </a:endParaRPr>
          </a:p>
          <a:p>
            <a:pPr algn="r"/>
            <a:r>
              <a:rPr lang="fa-IR" sz="2800" dirty="0">
                <a:solidFill>
                  <a:schemeClr val="accent2"/>
                </a:solidFill>
                <a:effectLst>
                  <a:outerShdw blurRad="38100" dist="38100" dir="2700000" algn="tl">
                    <a:srgbClr val="000000">
                      <a:alpha val="43137"/>
                    </a:srgbClr>
                  </a:outerShdw>
                </a:effectLst>
                <a:cs typeface="B Nazanin" panose="00000400000000000000" pitchFamily="2" charset="-78"/>
              </a:rPr>
              <a:t>ج) </a:t>
            </a:r>
            <a:r>
              <a:rPr lang="fa-IR" sz="2800" dirty="0">
                <a:solidFill>
                  <a:schemeClr val="bg1"/>
                </a:solidFill>
                <a:effectLst>
                  <a:outerShdw blurRad="38100" dist="38100" dir="2700000" algn="tl">
                    <a:srgbClr val="000000">
                      <a:alpha val="43137"/>
                    </a:srgbClr>
                  </a:outerShdw>
                </a:effectLst>
                <a:cs typeface="B Nazanin" panose="00000400000000000000" pitchFamily="2" charset="-78"/>
              </a:rPr>
              <a:t>تفویض اختیار به مدیر یا مدیران به منظور انعقاد قراردادهای</a:t>
            </a:r>
          </a:p>
          <a:p>
            <a:pPr algn="r"/>
            <a:r>
              <a:rPr lang="fa-IR" sz="2800" dirty="0">
                <a:solidFill>
                  <a:schemeClr val="bg1"/>
                </a:solidFill>
                <a:effectLst>
                  <a:outerShdw blurRad="38100" dist="38100" dir="2700000" algn="tl">
                    <a:srgbClr val="000000">
                      <a:alpha val="43137"/>
                    </a:srgbClr>
                  </a:outerShdw>
                </a:effectLst>
                <a:cs typeface="B Nazanin" panose="00000400000000000000" pitchFamily="2" charset="-78"/>
              </a:rPr>
              <a:t> </a:t>
            </a:r>
          </a:p>
          <a:p>
            <a:pPr algn="r"/>
            <a:r>
              <a:rPr lang="fa-IR" sz="2800" dirty="0">
                <a:solidFill>
                  <a:schemeClr val="bg1"/>
                </a:solidFill>
                <a:effectLst>
                  <a:outerShdw blurRad="38100" dist="38100" dir="2700000" algn="tl">
                    <a:srgbClr val="000000">
                      <a:alpha val="43137"/>
                    </a:srgbClr>
                  </a:outerShdw>
                </a:effectLst>
                <a:cs typeface="B Nazanin" panose="00000400000000000000" pitchFamily="2" charset="-78"/>
              </a:rPr>
              <a:t>لازم برای اداره ساختمان</a:t>
            </a: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a:t>
            </a:r>
            <a:endParaRPr lang="en-US" sz="2800" dirty="0">
              <a:solidFill>
                <a:schemeClr val="bg1"/>
              </a:solidFill>
              <a:cs typeface="B Nazanin" panose="00000400000000000000" pitchFamily="2" charset="-78"/>
            </a:endParaRPr>
          </a:p>
        </p:txBody>
      </p:sp>
    </p:spTree>
    <p:extLst>
      <p:ext uri="{BB962C8B-B14F-4D97-AF65-F5344CB8AC3E}">
        <p14:creationId xmlns:p14="http://schemas.microsoft.com/office/powerpoint/2010/main" val="3760030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B36CD9-B1E2-52BA-5F1F-3384F6E070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812145" cy="6858000"/>
          </a:xfrm>
          <a:prstGeom prst="rect">
            <a:avLst/>
          </a:prstGeom>
        </p:spPr>
      </p:pic>
      <p:sp>
        <p:nvSpPr>
          <p:cNvPr id="9" name="Rectangle 8">
            <a:extLst>
              <a:ext uri="{FF2B5EF4-FFF2-40B4-BE49-F238E27FC236}">
                <a16:creationId xmlns:a16="http://schemas.microsoft.com/office/drawing/2014/main" id="{16F43D19-D19D-A74D-E2C0-F302250036F1}"/>
              </a:ext>
            </a:extLst>
          </p:cNvPr>
          <p:cNvSpPr/>
          <p:nvPr/>
        </p:nvSpPr>
        <p:spPr>
          <a:xfrm>
            <a:off x="4368337" y="0"/>
            <a:ext cx="443808" cy="2423168"/>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E5B0383-07F8-128B-379A-2026A03B4852}"/>
              </a:ext>
            </a:extLst>
          </p:cNvPr>
          <p:cNvSpPr/>
          <p:nvPr/>
        </p:nvSpPr>
        <p:spPr>
          <a:xfrm>
            <a:off x="4812145" y="0"/>
            <a:ext cx="7379855" cy="6858000"/>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E6AAAB7-DE98-1114-3CE4-99EC2519E34C}"/>
              </a:ext>
            </a:extLst>
          </p:cNvPr>
          <p:cNvSpPr/>
          <p:nvPr/>
        </p:nvSpPr>
        <p:spPr>
          <a:xfrm>
            <a:off x="2696557" y="585132"/>
            <a:ext cx="9495444" cy="738913"/>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D3F94B-02CD-DF66-BF5F-6A5962D2252F}"/>
              </a:ext>
            </a:extLst>
          </p:cNvPr>
          <p:cNvSpPr/>
          <p:nvPr/>
        </p:nvSpPr>
        <p:spPr>
          <a:xfrm>
            <a:off x="4812145" y="0"/>
            <a:ext cx="45719" cy="6858000"/>
          </a:xfrm>
          <a:prstGeom prst="rect">
            <a:avLst/>
          </a:prstGeom>
          <a:solidFill>
            <a:srgbClr val="FC6B30"/>
          </a:solidFill>
          <a:ln>
            <a:solidFill>
              <a:srgbClr val="FC6B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7A34B15-FBE3-D7A9-54DC-CBE02CD7C1AE}"/>
              </a:ext>
            </a:extLst>
          </p:cNvPr>
          <p:cNvSpPr txBox="1"/>
          <p:nvPr/>
        </p:nvSpPr>
        <p:spPr>
          <a:xfrm>
            <a:off x="2295236" y="714441"/>
            <a:ext cx="9725892" cy="5293757"/>
          </a:xfrm>
          <a:prstGeom prst="rect">
            <a:avLst/>
          </a:prstGeom>
          <a:noFill/>
        </p:spPr>
        <p:txBody>
          <a:bodyPr wrap="square" rtlCol="0">
            <a:spAutoFit/>
          </a:bodyPr>
          <a:lstStyle/>
          <a:p>
            <a:pPr algn="r"/>
            <a:r>
              <a:rPr lang="fa-IR" sz="2600" b="1" dirty="0">
                <a:effectLst>
                  <a:outerShdw blurRad="38100" dist="38100" dir="2700000" algn="tl">
                    <a:srgbClr val="000000">
                      <a:alpha val="43137"/>
                    </a:srgbClr>
                  </a:outerShdw>
                </a:effectLst>
                <a:cs typeface="B Nazanin" panose="00000400000000000000" pitchFamily="2" charset="-78"/>
              </a:rPr>
              <a:t>مجمع عمومی شرکاء دارای وظایف و اختیارات زیر می باشد</a:t>
            </a:r>
          </a:p>
          <a:p>
            <a:pPr algn="r"/>
            <a:endParaRPr lang="fa-IR" sz="2600" b="1" dirty="0">
              <a:solidFill>
                <a:schemeClr val="bg1"/>
              </a:solidFill>
              <a:effectLst>
                <a:outerShdw blurRad="38100" dist="38100" dir="2700000" algn="tl">
                  <a:srgbClr val="000000">
                    <a:alpha val="43137"/>
                  </a:srgbClr>
                </a:outerShdw>
              </a:effectLst>
              <a:cs typeface="B Nazanin" panose="00000400000000000000" pitchFamily="2" charset="-78"/>
            </a:endParaRPr>
          </a:p>
          <a:p>
            <a:pPr algn="r"/>
            <a:endParaRPr lang="fa-IR" sz="2600" b="1" dirty="0">
              <a:solidFill>
                <a:schemeClr val="bg1"/>
              </a:solidFill>
              <a:effectLst>
                <a:outerShdw blurRad="38100" dist="38100" dir="2700000" algn="tl">
                  <a:srgbClr val="000000">
                    <a:alpha val="43137"/>
                  </a:srgbClr>
                </a:outerShdw>
              </a:effectLst>
              <a:cs typeface="B Nazanin" panose="00000400000000000000" pitchFamily="2" charset="-78"/>
            </a:endParaRPr>
          </a:p>
          <a:p>
            <a:pPr algn="r"/>
            <a:r>
              <a:rPr lang="fa-IR" sz="2600" dirty="0">
                <a:solidFill>
                  <a:schemeClr val="accent2">
                    <a:lumMod val="60000"/>
                    <a:lumOff val="40000"/>
                  </a:schemeClr>
                </a:solidFill>
                <a:effectLst>
                  <a:outerShdw blurRad="38100" dist="38100" dir="2700000" algn="tl">
                    <a:srgbClr val="000000">
                      <a:alpha val="43137"/>
                    </a:srgbClr>
                  </a:outerShdw>
                </a:effectLst>
                <a:cs typeface="B Nazanin" panose="00000400000000000000" pitchFamily="2" charset="-78"/>
              </a:rPr>
              <a:t>کلیه تصمیمات مجمع عمومی شرکاء باید در صورت جلسه نوشته شود </a:t>
            </a:r>
          </a:p>
          <a:p>
            <a:pPr algn="r"/>
            <a:r>
              <a:rPr lang="fa-IR" sz="2600" dirty="0">
                <a:solidFill>
                  <a:schemeClr val="accent2">
                    <a:lumMod val="60000"/>
                    <a:lumOff val="40000"/>
                  </a:schemeClr>
                </a:solidFill>
                <a:effectLst>
                  <a:outerShdw blurRad="38100" dist="38100" dir="2700000" algn="tl">
                    <a:srgbClr val="000000">
                      <a:alpha val="43137"/>
                    </a:srgbClr>
                  </a:outerShdw>
                </a:effectLst>
                <a:cs typeface="B Nazanin" panose="00000400000000000000" pitchFamily="2" charset="-78"/>
              </a:rPr>
              <a:t>و به وسیله مدیر یا مدیران نگهداری شود.</a:t>
            </a:r>
          </a:p>
          <a:p>
            <a:pPr algn="r"/>
            <a:endParaRPr lang="fa-IR" sz="2600" dirty="0">
              <a:solidFill>
                <a:schemeClr val="bg1"/>
              </a:solidFill>
              <a:effectLst>
                <a:outerShdw blurRad="38100" dist="38100" dir="2700000" algn="tl">
                  <a:srgbClr val="000000">
                    <a:alpha val="43137"/>
                  </a:srgbClr>
                </a:outerShdw>
              </a:effectLst>
              <a:cs typeface="B Nazanin" panose="00000400000000000000" pitchFamily="2" charset="-78"/>
            </a:endParaRPr>
          </a:p>
          <a:p>
            <a:pPr algn="r"/>
            <a:r>
              <a:rPr lang="fa-IR" sz="2600" dirty="0">
                <a:solidFill>
                  <a:schemeClr val="accent2">
                    <a:lumMod val="60000"/>
                    <a:lumOff val="40000"/>
                  </a:schemeClr>
                </a:solidFill>
                <a:effectLst>
                  <a:outerShdw blurRad="38100" dist="38100" dir="2700000" algn="tl">
                    <a:srgbClr val="000000">
                      <a:alpha val="43137"/>
                    </a:srgbClr>
                  </a:outerShdw>
                </a:effectLst>
                <a:cs typeface="B Nazanin" panose="00000400000000000000" pitchFamily="2" charset="-78"/>
              </a:rPr>
              <a:t>تصمیمات مجمع عمومی برای کلیه شرکاء الزام آور است.</a:t>
            </a:r>
          </a:p>
          <a:p>
            <a:pPr algn="r"/>
            <a:endParaRPr lang="fa-IR" sz="2600" dirty="0">
              <a:solidFill>
                <a:schemeClr val="bg1"/>
              </a:solidFill>
              <a:effectLst>
                <a:outerShdw blurRad="38100" dist="38100" dir="2700000" algn="tl">
                  <a:srgbClr val="000000">
                    <a:alpha val="43137"/>
                  </a:srgbClr>
                </a:outerShdw>
              </a:effectLst>
              <a:cs typeface="B Nazanin" panose="00000400000000000000" pitchFamily="2" charset="-78"/>
            </a:endParaRPr>
          </a:p>
          <a:p>
            <a:pPr algn="r"/>
            <a:endParaRPr lang="fa-IR" sz="2600" dirty="0">
              <a:solidFill>
                <a:schemeClr val="bg1"/>
              </a:solidFill>
              <a:effectLst>
                <a:outerShdw blurRad="38100" dist="38100" dir="2700000" algn="tl">
                  <a:srgbClr val="000000">
                    <a:alpha val="43137"/>
                  </a:srgbClr>
                </a:outerShdw>
              </a:effectLst>
              <a:cs typeface="B Nazanin" panose="00000400000000000000" pitchFamily="2" charset="-78"/>
            </a:endParaRPr>
          </a:p>
          <a:p>
            <a:pPr algn="r"/>
            <a:r>
              <a:rPr lang="fa-IR" sz="2600" b="1" dirty="0">
                <a:solidFill>
                  <a:schemeClr val="accent2"/>
                </a:solidFill>
                <a:effectLst>
                  <a:outerShdw blurRad="38100" dist="38100" dir="2700000" algn="tl">
                    <a:srgbClr val="000000">
                      <a:alpha val="43137"/>
                    </a:srgbClr>
                  </a:outerShdw>
                </a:effectLst>
                <a:cs typeface="B Nazanin" panose="00000400000000000000" pitchFamily="2" charset="-78"/>
              </a:rPr>
              <a:t>تبصره : </a:t>
            </a:r>
            <a:r>
              <a:rPr lang="fa-IR" sz="2600" dirty="0">
                <a:solidFill>
                  <a:schemeClr val="bg1"/>
                </a:solidFill>
                <a:effectLst>
                  <a:outerShdw blurRad="38100" dist="38100" dir="2700000" algn="tl">
                    <a:srgbClr val="000000">
                      <a:alpha val="43137"/>
                    </a:srgbClr>
                  </a:outerShdw>
                </a:effectLst>
                <a:cs typeface="B Nazanin" panose="00000400000000000000" pitchFamily="2" charset="-78"/>
              </a:rPr>
              <a:t>نشانی مالکین برای ارسال کلیه دعوت نامه ها و اعلام </a:t>
            </a:r>
          </a:p>
          <a:p>
            <a:pPr algn="r"/>
            <a:r>
              <a:rPr lang="fa-IR" sz="2600" dirty="0">
                <a:solidFill>
                  <a:schemeClr val="bg1"/>
                </a:solidFill>
                <a:effectLst>
                  <a:outerShdw blurRad="38100" dist="38100" dir="2700000" algn="tl">
                    <a:srgbClr val="000000">
                      <a:alpha val="43137"/>
                    </a:srgbClr>
                  </a:outerShdw>
                </a:effectLst>
                <a:cs typeface="B Nazanin" panose="00000400000000000000" pitchFamily="2" charset="-78"/>
              </a:rPr>
              <a:t>تصمیمات مذکور در این قانون همان محل اختصاصی آنها در ساختمان</a:t>
            </a:r>
          </a:p>
          <a:p>
            <a:pPr algn="r"/>
            <a:r>
              <a:rPr lang="fa-IR" sz="2600" dirty="0">
                <a:solidFill>
                  <a:schemeClr val="bg1"/>
                </a:solidFill>
                <a:effectLst>
                  <a:outerShdw blurRad="38100" dist="38100" dir="2700000" algn="tl">
                    <a:srgbClr val="000000">
                      <a:alpha val="43137"/>
                    </a:srgbClr>
                  </a:outerShdw>
                </a:effectLst>
                <a:cs typeface="B Nazanin" panose="00000400000000000000" pitchFamily="2" charset="-78"/>
              </a:rPr>
              <a:t> است مگر اینکه مالک نشانی دیگری را در همان شهر برای این </a:t>
            </a:r>
          </a:p>
          <a:p>
            <a:pPr algn="r"/>
            <a:r>
              <a:rPr lang="fa-IR" sz="2600" dirty="0">
                <a:solidFill>
                  <a:schemeClr val="bg1"/>
                </a:solidFill>
                <a:effectLst>
                  <a:outerShdw blurRad="38100" dist="38100" dir="2700000" algn="tl">
                    <a:srgbClr val="000000">
                      <a:alpha val="43137"/>
                    </a:srgbClr>
                  </a:outerShdw>
                </a:effectLst>
                <a:cs typeface="B Nazanin" panose="00000400000000000000" pitchFamily="2" charset="-78"/>
              </a:rPr>
              <a:t>امر تعیین کرده باشد</a:t>
            </a:r>
            <a:r>
              <a:rPr lang="fa-IR" sz="2600" dirty="0">
                <a:solidFill>
                  <a:schemeClr val="bg1"/>
                </a:solidFill>
                <a:cs typeface="B Nazanin" panose="00000400000000000000" pitchFamily="2" charset="-78"/>
              </a:rPr>
              <a:t> .</a:t>
            </a:r>
            <a:endParaRPr lang="en-US" sz="2600" dirty="0">
              <a:solidFill>
                <a:schemeClr val="bg1"/>
              </a:solidFill>
              <a:cs typeface="B Nazanin" panose="00000400000000000000" pitchFamily="2" charset="-78"/>
            </a:endParaRPr>
          </a:p>
        </p:txBody>
      </p:sp>
    </p:spTree>
    <p:extLst>
      <p:ext uri="{BB962C8B-B14F-4D97-AF65-F5344CB8AC3E}">
        <p14:creationId xmlns:p14="http://schemas.microsoft.com/office/powerpoint/2010/main" val="1870453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451600" y="0"/>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F1452F-2A7A-CBED-8F25-F5B63AC38AB1}"/>
              </a:ext>
            </a:extLst>
          </p:cNvPr>
          <p:cNvSpPr/>
          <p:nvPr/>
        </p:nvSpPr>
        <p:spPr>
          <a:xfrm>
            <a:off x="6594475" y="0"/>
            <a:ext cx="5597525"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ماده7</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3201916" y="747011"/>
            <a:ext cx="8860775" cy="5632311"/>
          </a:xfrm>
          <a:prstGeom prst="rect">
            <a:avLst/>
          </a:prstGeom>
          <a:noFill/>
        </p:spPr>
        <p:txBody>
          <a:bodyPr wrap="square" rtlCol="0">
            <a:spAutoFit/>
          </a:bodyPr>
          <a:lstStyle/>
          <a:p>
            <a:pPr algn="r"/>
            <a:r>
              <a:rPr lang="fa-IR" sz="2400" dirty="0">
                <a:solidFill>
                  <a:schemeClr val="bg1"/>
                </a:solidFill>
                <a:cs typeface="B Nazanin" panose="00000400000000000000" pitchFamily="2" charset="-78"/>
              </a:rPr>
              <a:t> هر گاه یک آپارتمان یا محل کسب دارای مالکین متعدد</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باشد، مالکین یا قائم مقام قانونی آن ها مکلفند یک نفر</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نماینده از طرف خود برای اجرای مقررات این قانون و</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پرداخت حصه مخارج مشترک تعیین و معرفی نمایند.</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در صورتی که اشخاص مزبور به تکلیف فوق عمل نکنند،</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رای اکثریت بقیه مالکین نسبت به تمام معتبر خواهد</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بود مگر اینکه عده حاضر کمتر از ثلث مالکین باشد که</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در این صورت برای یک دفعه تجدید دعوت خواهد شد.</a:t>
            </a:r>
            <a:endParaRPr lang="fa-IR" sz="2400" dirty="0">
              <a:solidFill>
                <a:schemeClr val="accent2"/>
              </a:solidFill>
              <a:cs typeface="B Nazanin" panose="00000400000000000000" pitchFamily="2" charset="-78"/>
            </a:endParaRPr>
          </a:p>
        </p:txBody>
      </p:sp>
      <p:sp>
        <p:nvSpPr>
          <p:cNvPr id="15" name="Rectangle 14">
            <a:extLst>
              <a:ext uri="{FF2B5EF4-FFF2-40B4-BE49-F238E27FC236}">
                <a16:creationId xmlns:a16="http://schemas.microsoft.com/office/drawing/2014/main" id="{715FACBB-49B5-6A15-CB6A-E82469B9D900}"/>
              </a:ext>
            </a:extLst>
          </p:cNvPr>
          <p:cNvSpPr/>
          <p:nvPr/>
        </p:nvSpPr>
        <p:spPr>
          <a:xfrm>
            <a:off x="5334000" y="6526259"/>
            <a:ext cx="6858000" cy="147484"/>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4894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440488" y="0"/>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F1452F-2A7A-CBED-8F25-F5B63AC38AB1}"/>
              </a:ext>
            </a:extLst>
          </p:cNvPr>
          <p:cNvSpPr/>
          <p:nvPr/>
        </p:nvSpPr>
        <p:spPr>
          <a:xfrm>
            <a:off x="6583363" y="0"/>
            <a:ext cx="5608637"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ماده8</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4607646" y="1272024"/>
            <a:ext cx="7473518" cy="4154984"/>
          </a:xfrm>
          <a:prstGeom prst="rect">
            <a:avLst/>
          </a:prstGeom>
          <a:noFill/>
        </p:spPr>
        <p:txBody>
          <a:bodyPr wrap="square" rtlCol="0">
            <a:spAutoFit/>
          </a:bodyPr>
          <a:lstStyle/>
          <a:p>
            <a:pPr algn="r"/>
            <a:r>
              <a:rPr lang="fa-IR" sz="2400" dirty="0">
                <a:solidFill>
                  <a:schemeClr val="bg1"/>
                </a:solidFill>
                <a:cs typeface="B Nazanin" panose="00000400000000000000" pitchFamily="2" charset="-78"/>
              </a:rPr>
              <a:t>در هر ساختمان مشمول مقررات این قانون در صورتی که</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عده مالکین بیش از سه نفر باشد، مجمع عمومی مالکین</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مکلفند مدیر یا مدیرانی از بین خود یا از خارج انتخاب</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نمایند. طرز انتخاب مدیر از طرف مالکین و وظایف و</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تعهدات مدیر و امور مربوط به مدت مدیریت و سایر</a:t>
            </a:r>
          </a:p>
          <a:p>
            <a:pPr algn="r"/>
            <a:endParaRPr lang="fa-IR" sz="2400" dirty="0">
              <a:solidFill>
                <a:schemeClr val="bg1"/>
              </a:solidFill>
              <a:cs typeface="B Nazanin" panose="00000400000000000000" pitchFamily="2" charset="-78"/>
            </a:endParaRPr>
          </a:p>
          <a:p>
            <a:pPr algn="r"/>
            <a:r>
              <a:rPr lang="fa-IR" sz="2400" dirty="0">
                <a:solidFill>
                  <a:schemeClr val="bg1"/>
                </a:solidFill>
                <a:cs typeface="B Nazanin" panose="00000400000000000000" pitchFamily="2" charset="-78"/>
              </a:rPr>
              <a:t> موضوعات مربوطه در آیین نامه این تعیین خواهد شد.</a:t>
            </a:r>
            <a:endParaRPr lang="fa-IR" sz="2400" dirty="0">
              <a:solidFill>
                <a:schemeClr val="accent2"/>
              </a:solidFill>
              <a:cs typeface="B Nazanin" panose="00000400000000000000" pitchFamily="2" charset="-78"/>
            </a:endParaRPr>
          </a:p>
        </p:txBody>
      </p:sp>
      <p:sp>
        <p:nvSpPr>
          <p:cNvPr id="15" name="Rectangle 14">
            <a:extLst>
              <a:ext uri="{FF2B5EF4-FFF2-40B4-BE49-F238E27FC236}">
                <a16:creationId xmlns:a16="http://schemas.microsoft.com/office/drawing/2014/main" id="{715FACBB-49B5-6A15-CB6A-E82469B9D900}"/>
              </a:ext>
            </a:extLst>
          </p:cNvPr>
          <p:cNvSpPr/>
          <p:nvPr/>
        </p:nvSpPr>
        <p:spPr>
          <a:xfrm>
            <a:off x="5334000" y="5921278"/>
            <a:ext cx="6858000" cy="147484"/>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5425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5C838F-BA52-DBDE-5E45-F31FF6F07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0972799" cy="6858000"/>
          </a:xfrm>
          <a:prstGeom prst="rect">
            <a:avLst/>
          </a:prstGeom>
        </p:spPr>
      </p:pic>
      <p:pic>
        <p:nvPicPr>
          <p:cNvPr id="9" name="Picture 8">
            <a:extLst>
              <a:ext uri="{FF2B5EF4-FFF2-40B4-BE49-F238E27FC236}">
                <a16:creationId xmlns:a16="http://schemas.microsoft.com/office/drawing/2014/main" id="{41A1333E-FFDA-9EA1-4B38-339DCE5DBE0A}"/>
              </a:ext>
            </a:extLst>
          </p:cNvPr>
          <p:cNvPicPr>
            <a:picLocks noChangeAspect="1"/>
          </p:cNvPicPr>
          <p:nvPr/>
        </p:nvPicPr>
        <p:blipFill rotWithShape="1">
          <a:blip r:embed="rId2">
            <a:extLst>
              <a:ext uri="{28A0092B-C50C-407E-A947-70E740481C1C}">
                <a14:useLocalDpi xmlns:a14="http://schemas.microsoft.com/office/drawing/2010/main" val="0"/>
              </a:ext>
            </a:extLst>
          </a:blip>
          <a:srcRect l="89088"/>
          <a:stretch/>
        </p:blipFill>
        <p:spPr>
          <a:xfrm flipH="1">
            <a:off x="10972799" y="0"/>
            <a:ext cx="1219202" cy="6858000"/>
          </a:xfrm>
          <a:prstGeom prst="rect">
            <a:avLst/>
          </a:prstGeom>
        </p:spPr>
      </p:pic>
      <p:sp>
        <p:nvSpPr>
          <p:cNvPr id="10" name="Rectangle 9">
            <a:extLst>
              <a:ext uri="{FF2B5EF4-FFF2-40B4-BE49-F238E27FC236}">
                <a16:creationId xmlns:a16="http://schemas.microsoft.com/office/drawing/2014/main" id="{60278153-AD12-15EE-9D05-70CB5337FF30}"/>
              </a:ext>
            </a:extLst>
          </p:cNvPr>
          <p:cNvSpPr/>
          <p:nvPr/>
        </p:nvSpPr>
        <p:spPr>
          <a:xfrm>
            <a:off x="12054344" y="-12292"/>
            <a:ext cx="127820" cy="68702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AF115D-23C4-5A91-6411-C1B652A4A046}"/>
              </a:ext>
            </a:extLst>
          </p:cNvPr>
          <p:cNvSpPr/>
          <p:nvPr/>
        </p:nvSpPr>
        <p:spPr>
          <a:xfrm>
            <a:off x="0" y="6012872"/>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849E9A-7A39-F375-4349-ACFE7D51FFCB}"/>
              </a:ext>
            </a:extLst>
          </p:cNvPr>
          <p:cNvSpPr/>
          <p:nvPr/>
        </p:nvSpPr>
        <p:spPr>
          <a:xfrm>
            <a:off x="4978400" y="0"/>
            <a:ext cx="127820" cy="6857999"/>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FCB2F48-EB7E-7D8C-E3BB-630ABDEEDF13}"/>
              </a:ext>
            </a:extLst>
          </p:cNvPr>
          <p:cNvSpPr/>
          <p:nvPr/>
        </p:nvSpPr>
        <p:spPr>
          <a:xfrm>
            <a:off x="5116055" y="1089890"/>
            <a:ext cx="6938289" cy="4935271"/>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2D955B-4950-6656-0B54-0D359F2700AE}"/>
              </a:ext>
            </a:extLst>
          </p:cNvPr>
          <p:cNvSpPr txBox="1"/>
          <p:nvPr/>
        </p:nvSpPr>
        <p:spPr>
          <a:xfrm>
            <a:off x="5376606" y="1872893"/>
            <a:ext cx="6407353" cy="2462213"/>
          </a:xfrm>
          <a:prstGeom prst="rect">
            <a:avLst/>
          </a:prstGeom>
          <a:noFill/>
        </p:spPr>
        <p:txBody>
          <a:bodyPr wrap="square" rtlCol="0">
            <a:spAutoFit/>
          </a:bodyPr>
          <a:lstStyle/>
          <a:p>
            <a:pPr algn="r"/>
            <a:r>
              <a:rPr lang="fa-IR" sz="2200" b="1" dirty="0">
                <a:solidFill>
                  <a:schemeClr val="accent2"/>
                </a:solidFill>
                <a:effectLst>
                  <a:outerShdw blurRad="38100" dist="38100" dir="2700000" algn="tl">
                    <a:srgbClr val="000000">
                      <a:alpha val="43137"/>
                    </a:srgbClr>
                  </a:outerShdw>
                </a:effectLst>
                <a:cs typeface="B Nazanin" panose="00000400000000000000" pitchFamily="2" charset="-78"/>
              </a:rPr>
              <a:t>نکته: </a:t>
            </a:r>
            <a:r>
              <a:rPr lang="fa-IR" sz="2200" b="1" dirty="0">
                <a:solidFill>
                  <a:schemeClr val="bg1"/>
                </a:solidFill>
                <a:cs typeface="B Nazanin" panose="00000400000000000000" pitchFamily="2" charset="-78"/>
              </a:rPr>
              <a:t>تعداد مدیران باید فرد باشد و مدت ماموریت مدیر یا مدیران دو سال است ولی مجمع عمومی می تواند این مدت را اضافه کند و انتخاب مجدد مدیر یا مدیران بلامانع خواهد بود.</a:t>
            </a:r>
          </a:p>
          <a:p>
            <a:pPr algn="r"/>
            <a:endParaRPr lang="fa-IR" sz="2200" b="1" dirty="0">
              <a:solidFill>
                <a:schemeClr val="bg1"/>
              </a:solidFill>
              <a:cs typeface="B Nazanin" panose="00000400000000000000" pitchFamily="2" charset="-78"/>
            </a:endParaRPr>
          </a:p>
          <a:p>
            <a:pPr algn="r"/>
            <a:r>
              <a:rPr lang="fa-IR" sz="2200" b="1" dirty="0">
                <a:solidFill>
                  <a:schemeClr val="bg1"/>
                </a:solidFill>
                <a:cs typeface="B Nazanin" panose="00000400000000000000" pitchFamily="2" charset="-78"/>
              </a:rPr>
              <a:t>در صورت استعفاء، فوت، عزل یا حجر مدیر یا مدیران قبل از انقضاء مدت، مجمع عمومی فوق العاده به منظور انتخاب جانشین تشکیل خواهد شد.</a:t>
            </a:r>
            <a:endParaRPr lang="en-US" sz="2200" b="1" dirty="0">
              <a:solidFill>
                <a:schemeClr val="bg1"/>
              </a:solidFill>
              <a:cs typeface="B Nazanin" panose="00000400000000000000" pitchFamily="2" charset="-78"/>
            </a:endParaRPr>
          </a:p>
        </p:txBody>
      </p:sp>
      <p:sp>
        <p:nvSpPr>
          <p:cNvPr id="12" name="Rectangle 11">
            <a:extLst>
              <a:ext uri="{FF2B5EF4-FFF2-40B4-BE49-F238E27FC236}">
                <a16:creationId xmlns:a16="http://schemas.microsoft.com/office/drawing/2014/main" id="{87EB7B53-3DCC-5B55-E267-EFB78BAA0B30}"/>
              </a:ext>
            </a:extLst>
          </p:cNvPr>
          <p:cNvSpPr/>
          <p:nvPr/>
        </p:nvSpPr>
        <p:spPr>
          <a:xfrm>
            <a:off x="0" y="963671"/>
            <a:ext cx="12172330" cy="120073"/>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03440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648C5DD-4ACA-7D83-6C19-0CD5EFA62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9471"/>
          </a:xfrm>
          <a:prstGeom prst="rect">
            <a:avLst/>
          </a:prstGeom>
        </p:spPr>
      </p:pic>
      <p:sp>
        <p:nvSpPr>
          <p:cNvPr id="13" name="Rectangle 12">
            <a:extLst>
              <a:ext uri="{FF2B5EF4-FFF2-40B4-BE49-F238E27FC236}">
                <a16:creationId xmlns:a16="http://schemas.microsoft.com/office/drawing/2014/main" id="{D43AD07F-4B36-509A-D4A4-864593D0C8AF}"/>
              </a:ext>
            </a:extLst>
          </p:cNvPr>
          <p:cNvSpPr/>
          <p:nvPr/>
        </p:nvSpPr>
        <p:spPr>
          <a:xfrm>
            <a:off x="10903974" y="0"/>
            <a:ext cx="1288027" cy="600075"/>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ماده9</a:t>
            </a:r>
            <a:endParaRPr lang="en-US" sz="2400" dirty="0">
              <a:cs typeface="B Bardiya" panose="00000400000000000000" pitchFamily="2" charset="-78"/>
            </a:endParaRPr>
          </a:p>
        </p:txBody>
      </p:sp>
      <p:sp>
        <p:nvSpPr>
          <p:cNvPr id="2" name="Rectangle 1">
            <a:extLst>
              <a:ext uri="{FF2B5EF4-FFF2-40B4-BE49-F238E27FC236}">
                <a16:creationId xmlns:a16="http://schemas.microsoft.com/office/drawing/2014/main" id="{DF812F01-642F-374D-3305-4157CA3AB3E4}"/>
              </a:ext>
            </a:extLst>
          </p:cNvPr>
          <p:cNvSpPr/>
          <p:nvPr/>
        </p:nvSpPr>
        <p:spPr>
          <a:xfrm>
            <a:off x="277091" y="-2"/>
            <a:ext cx="166254" cy="6858001"/>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96E8DCB-D1ED-1115-390C-29A85903DF92}"/>
              </a:ext>
            </a:extLst>
          </p:cNvPr>
          <p:cNvSpPr/>
          <p:nvPr/>
        </p:nvSpPr>
        <p:spPr>
          <a:xfrm>
            <a:off x="-1" y="471055"/>
            <a:ext cx="10903975" cy="129020"/>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AB14394-0C76-9F17-AF7C-05583D8831E8}"/>
              </a:ext>
            </a:extLst>
          </p:cNvPr>
          <p:cNvSpPr/>
          <p:nvPr/>
        </p:nvSpPr>
        <p:spPr>
          <a:xfrm>
            <a:off x="10903974" y="471055"/>
            <a:ext cx="166254" cy="1586972"/>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42A139D-816E-6A91-3440-347E9BADC0BC}"/>
              </a:ext>
            </a:extLst>
          </p:cNvPr>
          <p:cNvSpPr/>
          <p:nvPr/>
        </p:nvSpPr>
        <p:spPr>
          <a:xfrm>
            <a:off x="10903974" y="4581237"/>
            <a:ext cx="166254" cy="2288234"/>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52DA47E-59A2-772C-C879-A256C71DBFAA}"/>
              </a:ext>
            </a:extLst>
          </p:cNvPr>
          <p:cNvSpPr/>
          <p:nvPr/>
        </p:nvSpPr>
        <p:spPr>
          <a:xfrm>
            <a:off x="-1" y="6299431"/>
            <a:ext cx="12192000" cy="175028"/>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B895A5D-8C00-7912-2721-0B622E142DE7}"/>
              </a:ext>
            </a:extLst>
          </p:cNvPr>
          <p:cNvSpPr/>
          <p:nvPr/>
        </p:nvSpPr>
        <p:spPr>
          <a:xfrm>
            <a:off x="-1" y="2037183"/>
            <a:ext cx="12192000" cy="2544053"/>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640E387-BBAC-5534-337E-88B0AD080318}"/>
              </a:ext>
            </a:extLst>
          </p:cNvPr>
          <p:cNvSpPr txBox="1"/>
          <p:nvPr/>
        </p:nvSpPr>
        <p:spPr>
          <a:xfrm>
            <a:off x="161634" y="2125291"/>
            <a:ext cx="11868729" cy="1938992"/>
          </a:xfrm>
          <a:prstGeom prst="rect">
            <a:avLst/>
          </a:prstGeom>
          <a:noFill/>
        </p:spPr>
        <p:txBody>
          <a:bodyPr wrap="square" rtlCol="0">
            <a:spAutoFit/>
          </a:bodyPr>
          <a:lstStyle/>
          <a:p>
            <a:pPr algn="r"/>
            <a:r>
              <a:rPr lang="fa-IR" sz="2400" b="1" dirty="0">
                <a:solidFill>
                  <a:schemeClr val="bg1"/>
                </a:solidFill>
                <a:cs typeface="B Nazanin" panose="00000400000000000000" pitchFamily="2" charset="-78"/>
              </a:rPr>
              <a:t>هر یک از مالکین می توانند با رعایت مقررات این قانون و سایر مقررات ساختمانی، عملیاتی را که برای استفاده بهتر</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از قسمت اختصاصی خود مفید میداند انجام دهد. هیچ یک از مالکین حق ندارند بدون موافقت اکثریت سایر</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مالکین تغییراتی در محل یا شکل در، یا نمای خارجی درقسمت اختصاصی خود که در مرئی و منظر باشد، بدهند.</a:t>
            </a:r>
          </a:p>
        </p:txBody>
      </p:sp>
    </p:spTree>
    <p:extLst>
      <p:ext uri="{BB962C8B-B14F-4D97-AF65-F5344CB8AC3E}">
        <p14:creationId xmlns:p14="http://schemas.microsoft.com/office/powerpoint/2010/main" val="326291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648C5DD-4ACA-7D83-6C19-0CD5EFA62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9471"/>
          </a:xfrm>
          <a:prstGeom prst="rect">
            <a:avLst/>
          </a:prstGeom>
        </p:spPr>
      </p:pic>
      <p:sp>
        <p:nvSpPr>
          <p:cNvPr id="13" name="Rectangle 12">
            <a:extLst>
              <a:ext uri="{FF2B5EF4-FFF2-40B4-BE49-F238E27FC236}">
                <a16:creationId xmlns:a16="http://schemas.microsoft.com/office/drawing/2014/main" id="{D43AD07F-4B36-509A-D4A4-864593D0C8AF}"/>
              </a:ext>
            </a:extLst>
          </p:cNvPr>
          <p:cNvSpPr/>
          <p:nvPr/>
        </p:nvSpPr>
        <p:spPr>
          <a:xfrm>
            <a:off x="10903974" y="0"/>
            <a:ext cx="1288027" cy="600075"/>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ماده9</a:t>
            </a:r>
            <a:endParaRPr lang="en-US" sz="2400" dirty="0">
              <a:cs typeface="B Bardiya" panose="00000400000000000000" pitchFamily="2" charset="-78"/>
            </a:endParaRPr>
          </a:p>
        </p:txBody>
      </p:sp>
      <p:sp>
        <p:nvSpPr>
          <p:cNvPr id="2" name="Rectangle 1">
            <a:extLst>
              <a:ext uri="{FF2B5EF4-FFF2-40B4-BE49-F238E27FC236}">
                <a16:creationId xmlns:a16="http://schemas.microsoft.com/office/drawing/2014/main" id="{DF812F01-642F-374D-3305-4157CA3AB3E4}"/>
              </a:ext>
            </a:extLst>
          </p:cNvPr>
          <p:cNvSpPr/>
          <p:nvPr/>
        </p:nvSpPr>
        <p:spPr>
          <a:xfrm>
            <a:off x="277091" y="-2"/>
            <a:ext cx="166254" cy="6858001"/>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96E8DCB-D1ED-1115-390C-29A85903DF92}"/>
              </a:ext>
            </a:extLst>
          </p:cNvPr>
          <p:cNvSpPr/>
          <p:nvPr/>
        </p:nvSpPr>
        <p:spPr>
          <a:xfrm>
            <a:off x="-1" y="471055"/>
            <a:ext cx="10903975" cy="129020"/>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AB14394-0C76-9F17-AF7C-05583D8831E8}"/>
              </a:ext>
            </a:extLst>
          </p:cNvPr>
          <p:cNvSpPr/>
          <p:nvPr/>
        </p:nvSpPr>
        <p:spPr>
          <a:xfrm>
            <a:off x="10903973" y="471055"/>
            <a:ext cx="166255" cy="1879296"/>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42A139D-816E-6A91-3440-347E9BADC0BC}"/>
              </a:ext>
            </a:extLst>
          </p:cNvPr>
          <p:cNvSpPr/>
          <p:nvPr/>
        </p:nvSpPr>
        <p:spPr>
          <a:xfrm>
            <a:off x="10903973" y="4335437"/>
            <a:ext cx="166255" cy="2534033"/>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52DA47E-59A2-772C-C879-A256C71DBFAA}"/>
              </a:ext>
            </a:extLst>
          </p:cNvPr>
          <p:cNvSpPr/>
          <p:nvPr/>
        </p:nvSpPr>
        <p:spPr>
          <a:xfrm>
            <a:off x="-1" y="6299431"/>
            <a:ext cx="12192000" cy="175028"/>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A66C398-D33F-A3E2-A514-394E0632D752}"/>
              </a:ext>
            </a:extLst>
          </p:cNvPr>
          <p:cNvSpPr/>
          <p:nvPr/>
        </p:nvSpPr>
        <p:spPr>
          <a:xfrm>
            <a:off x="1" y="2350352"/>
            <a:ext cx="12191999" cy="1985086"/>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D4BD2DF-80E4-D6D4-3AF3-1F7BF99137EA}"/>
              </a:ext>
            </a:extLst>
          </p:cNvPr>
          <p:cNvSpPr txBox="1"/>
          <p:nvPr/>
        </p:nvSpPr>
        <p:spPr>
          <a:xfrm>
            <a:off x="0" y="2650397"/>
            <a:ext cx="12062691" cy="1384995"/>
          </a:xfrm>
          <a:prstGeom prst="rect">
            <a:avLst/>
          </a:prstGeom>
          <a:noFill/>
        </p:spPr>
        <p:txBody>
          <a:bodyPr wrap="square" rtlCol="0">
            <a:spAutoFit/>
          </a:bodyPr>
          <a:lstStyle/>
          <a:p>
            <a:pPr algn="r"/>
            <a:r>
              <a:rPr lang="fa-IR" sz="2800" dirty="0">
                <a:cs typeface="B Nazanin" panose="00000400000000000000" pitchFamily="2" charset="-78"/>
              </a:rPr>
              <a:t>نکته : </a:t>
            </a:r>
            <a:r>
              <a:rPr lang="fa-IR" sz="2800" dirty="0">
                <a:solidFill>
                  <a:schemeClr val="bg1"/>
                </a:solidFill>
                <a:cs typeface="B Nazanin" panose="00000400000000000000" pitchFamily="2" charset="-78"/>
              </a:rPr>
              <a:t>اقدام به عملیات برای استفاده بهتر از قسمت اختصاصی، نیاز به توافق با سایر مالکین ندارد ولی اگر این استفاده مفید منجر به ایجاد تغییراتی در قسمت های اختصاصی ای باشد که در منظر همگان است، باید با موافقت اکثریت سایر مالکین باشد.</a:t>
            </a:r>
            <a:endParaRPr lang="en-US" sz="2800" dirty="0">
              <a:solidFill>
                <a:schemeClr val="bg1"/>
              </a:solidFill>
              <a:cs typeface="B Nazanin" panose="00000400000000000000" pitchFamily="2" charset="-78"/>
            </a:endParaRPr>
          </a:p>
        </p:txBody>
      </p:sp>
    </p:spTree>
    <p:extLst>
      <p:ext uri="{BB962C8B-B14F-4D97-AF65-F5344CB8AC3E}">
        <p14:creationId xmlns:p14="http://schemas.microsoft.com/office/powerpoint/2010/main" val="26977801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648C5DD-4ACA-7D83-6C19-0CD5EFA62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9471"/>
          </a:xfrm>
          <a:prstGeom prst="rect">
            <a:avLst/>
          </a:prstGeom>
        </p:spPr>
      </p:pic>
      <p:sp>
        <p:nvSpPr>
          <p:cNvPr id="17" name="Rectangle 16">
            <a:extLst>
              <a:ext uri="{FF2B5EF4-FFF2-40B4-BE49-F238E27FC236}">
                <a16:creationId xmlns:a16="http://schemas.microsoft.com/office/drawing/2014/main" id="{7B895A5D-8C00-7912-2721-0B622E142DE7}"/>
              </a:ext>
            </a:extLst>
          </p:cNvPr>
          <p:cNvSpPr/>
          <p:nvPr/>
        </p:nvSpPr>
        <p:spPr>
          <a:xfrm>
            <a:off x="-6" y="1911108"/>
            <a:ext cx="12192000" cy="4291244"/>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03974" y="0"/>
            <a:ext cx="1288027" cy="600075"/>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ماده10</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4" y="2010016"/>
            <a:ext cx="12192002" cy="4093428"/>
          </a:xfrm>
          <a:prstGeom prst="rect">
            <a:avLst/>
          </a:prstGeom>
          <a:noFill/>
        </p:spPr>
        <p:txBody>
          <a:bodyPr wrap="square" rtlCol="0">
            <a:spAutoFit/>
          </a:bodyPr>
          <a:lstStyle/>
          <a:p>
            <a:pPr algn="r"/>
            <a:r>
              <a:rPr lang="fa-IR" sz="2000" b="1" dirty="0">
                <a:solidFill>
                  <a:schemeClr val="bg1"/>
                </a:solidFill>
                <a:cs typeface="B Nazanin" panose="00000400000000000000" pitchFamily="2" charset="-78"/>
              </a:rPr>
              <a:t>هر کس آپارتمانی را خریداری می نماید به نسبت مساحت قسمت اختصاصی خریداری خود در زمینی که زمین بر روی آن بنا شده است یا</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اختصاص به ساختمان دارد مشاعا ( مشاع به معنی خاک بخش نشده و در اصطلاح به معنی سرزمین بخش نشده ای است که میان دو یا چند</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تن مشترک باشد و مالکین مشاعی در جزء جزء مال شریک باشند، بدون اینکه متصرفات آنان مشخص باشد.) سهیم می گردد مگر اینکه</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مالکیت زمین مزبور به علت وقف یا خالصه بودن یا علل دیگر متعلق به غیر باشد که در این صورت باید اجور آن را به همان نسبت بپردازد.</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مخارج مربوط به محافظت ملک و جلوگیری از انهدام و اداره و استفاده از اموال و قسمت های مشترک و به طور کلی مخارجی که جنبه</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مشترک دارد و یا به علت طبع ساختمان یا تاسیسات آن اقتضاء دارد یکجا انجام شود نیز باید به تناسب حصه هر مالک به ترتیبی که در آیین</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نامه ذکر خواهد شد، پرداخت شود هرچند آن مالک از استفاده از آنچه که مخارج برای آن است صرف نظر نماید.</a:t>
            </a:r>
          </a:p>
        </p:txBody>
      </p:sp>
      <p:sp>
        <p:nvSpPr>
          <p:cNvPr id="3" name="Rectangle 2">
            <a:extLst>
              <a:ext uri="{FF2B5EF4-FFF2-40B4-BE49-F238E27FC236}">
                <a16:creationId xmlns:a16="http://schemas.microsoft.com/office/drawing/2014/main" id="{A96E8DCB-D1ED-1115-390C-29A85903DF92}"/>
              </a:ext>
            </a:extLst>
          </p:cNvPr>
          <p:cNvSpPr/>
          <p:nvPr/>
        </p:nvSpPr>
        <p:spPr>
          <a:xfrm>
            <a:off x="-1" y="471055"/>
            <a:ext cx="10903975" cy="129020"/>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AB14394-0C76-9F17-AF7C-05583D8831E8}"/>
              </a:ext>
            </a:extLst>
          </p:cNvPr>
          <p:cNvSpPr/>
          <p:nvPr/>
        </p:nvSpPr>
        <p:spPr>
          <a:xfrm>
            <a:off x="10903969" y="471055"/>
            <a:ext cx="166260" cy="1440052"/>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42A139D-816E-6A91-3440-347E9BADC0BC}"/>
              </a:ext>
            </a:extLst>
          </p:cNvPr>
          <p:cNvSpPr/>
          <p:nvPr/>
        </p:nvSpPr>
        <p:spPr>
          <a:xfrm>
            <a:off x="10903973" y="6103444"/>
            <a:ext cx="166255" cy="766026"/>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1510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627380" y="20099"/>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F1452F-2A7A-CBED-8F25-F5B63AC38AB1}"/>
              </a:ext>
            </a:extLst>
          </p:cNvPr>
          <p:cNvSpPr/>
          <p:nvPr/>
        </p:nvSpPr>
        <p:spPr>
          <a:xfrm>
            <a:off x="6770255" y="0"/>
            <a:ext cx="5421745"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ماده11</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6770254" y="2090172"/>
            <a:ext cx="5285509" cy="2677656"/>
          </a:xfrm>
          <a:prstGeom prst="rect">
            <a:avLst/>
          </a:prstGeom>
          <a:noFill/>
        </p:spPr>
        <p:txBody>
          <a:bodyPr wrap="square" rtlCol="0">
            <a:spAutoFit/>
          </a:bodyPr>
          <a:lstStyle/>
          <a:p>
            <a:pPr algn="r"/>
            <a:r>
              <a:rPr lang="fa-IR" sz="2400" b="1" dirty="0">
                <a:solidFill>
                  <a:schemeClr val="bg1"/>
                </a:solidFill>
                <a:cs typeface="B Nazanin" panose="00000400000000000000" pitchFamily="2" charset="-78"/>
              </a:rPr>
              <a:t>در صورت امتناع مالک یا استفاده کننده از</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پرداخت سهم خود از هزینه های مشترک، از</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طرف مدیر یا هیئت مدیران به وسیله اظهارنامه</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با ذکر مبلغ بدهی و صورت ریز آن مطالبه میشود.</a:t>
            </a:r>
            <a:endParaRPr lang="fa-IR" sz="2400" b="1" dirty="0">
              <a:solidFill>
                <a:schemeClr val="accent2"/>
              </a:solidFill>
              <a:cs typeface="B Nazanin" panose="00000400000000000000" pitchFamily="2" charset="-78"/>
            </a:endParaRPr>
          </a:p>
        </p:txBody>
      </p:sp>
      <p:sp>
        <p:nvSpPr>
          <p:cNvPr id="15" name="Rectangle 14">
            <a:extLst>
              <a:ext uri="{FF2B5EF4-FFF2-40B4-BE49-F238E27FC236}">
                <a16:creationId xmlns:a16="http://schemas.microsoft.com/office/drawing/2014/main" id="{715FACBB-49B5-6A15-CB6A-E82469B9D900}"/>
              </a:ext>
            </a:extLst>
          </p:cNvPr>
          <p:cNvSpPr/>
          <p:nvPr/>
        </p:nvSpPr>
        <p:spPr>
          <a:xfrm>
            <a:off x="5334001" y="5747382"/>
            <a:ext cx="6858000" cy="147484"/>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7861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5C838F-BA52-DBDE-5E45-F31FF6F07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054345" cy="6858000"/>
          </a:xfrm>
          <a:prstGeom prst="rect">
            <a:avLst/>
          </a:prstGeom>
        </p:spPr>
      </p:pic>
      <p:sp>
        <p:nvSpPr>
          <p:cNvPr id="8" name="Rectangle 7">
            <a:extLst>
              <a:ext uri="{FF2B5EF4-FFF2-40B4-BE49-F238E27FC236}">
                <a16:creationId xmlns:a16="http://schemas.microsoft.com/office/drawing/2014/main" id="{EFCB2F48-EB7E-7D8C-E3BB-630ABDEEDF13}"/>
              </a:ext>
            </a:extLst>
          </p:cNvPr>
          <p:cNvSpPr/>
          <p:nvPr/>
        </p:nvSpPr>
        <p:spPr>
          <a:xfrm>
            <a:off x="882073" y="600364"/>
            <a:ext cx="11172273" cy="5791942"/>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1A1333E-FFDA-9EA1-4B38-339DCE5DBE0A}"/>
              </a:ext>
            </a:extLst>
          </p:cNvPr>
          <p:cNvPicPr>
            <a:picLocks noChangeAspect="1"/>
          </p:cNvPicPr>
          <p:nvPr/>
        </p:nvPicPr>
        <p:blipFill rotWithShape="1">
          <a:blip r:embed="rId2">
            <a:extLst>
              <a:ext uri="{28A0092B-C50C-407E-A947-70E740481C1C}">
                <a14:useLocalDpi xmlns:a14="http://schemas.microsoft.com/office/drawing/2010/main" val="0"/>
              </a:ext>
            </a:extLst>
          </a:blip>
          <a:srcRect l="89088"/>
          <a:stretch/>
        </p:blipFill>
        <p:spPr>
          <a:xfrm flipH="1">
            <a:off x="10972799" y="6392308"/>
            <a:ext cx="1219202" cy="465692"/>
          </a:xfrm>
          <a:prstGeom prst="rect">
            <a:avLst/>
          </a:prstGeom>
        </p:spPr>
      </p:pic>
      <p:sp>
        <p:nvSpPr>
          <p:cNvPr id="10" name="Rectangle 9">
            <a:extLst>
              <a:ext uri="{FF2B5EF4-FFF2-40B4-BE49-F238E27FC236}">
                <a16:creationId xmlns:a16="http://schemas.microsoft.com/office/drawing/2014/main" id="{60278153-AD12-15EE-9D05-70CB5337FF30}"/>
              </a:ext>
            </a:extLst>
          </p:cNvPr>
          <p:cNvSpPr/>
          <p:nvPr/>
        </p:nvSpPr>
        <p:spPr>
          <a:xfrm>
            <a:off x="12054346" y="0"/>
            <a:ext cx="127820" cy="68702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2D955B-4950-6656-0B54-0D359F2700AE}"/>
              </a:ext>
            </a:extLst>
          </p:cNvPr>
          <p:cNvSpPr txBox="1"/>
          <p:nvPr/>
        </p:nvSpPr>
        <p:spPr>
          <a:xfrm>
            <a:off x="882073" y="1152685"/>
            <a:ext cx="10972799" cy="4401205"/>
          </a:xfrm>
          <a:prstGeom prst="rect">
            <a:avLst/>
          </a:prstGeom>
          <a:noFill/>
        </p:spPr>
        <p:txBody>
          <a:bodyPr wrap="square" rtlCol="0">
            <a:spAutoFit/>
          </a:bodyPr>
          <a:lstStyle/>
          <a:p>
            <a:pPr algn="r"/>
            <a:r>
              <a:rPr lang="fa-IR" sz="2800" b="1" dirty="0">
                <a:solidFill>
                  <a:schemeClr val="accent2"/>
                </a:solidFill>
                <a:effectLst>
                  <a:outerShdw blurRad="38100" dist="38100" dir="2700000" algn="tl">
                    <a:srgbClr val="000000">
                      <a:alpha val="43137"/>
                    </a:srgbClr>
                  </a:outerShdw>
                </a:effectLst>
                <a:cs typeface="B Nazanin" panose="00000400000000000000" pitchFamily="2" charset="-78"/>
              </a:rPr>
              <a:t>نکته: </a:t>
            </a:r>
            <a:r>
              <a:rPr lang="fa-IR" sz="2800" dirty="0">
                <a:solidFill>
                  <a:schemeClr val="bg1"/>
                </a:solidFill>
                <a:cs typeface="B Nazanin" panose="00000400000000000000" pitchFamily="2" charset="-78"/>
              </a:rPr>
              <a:t>اظهارنامه طبق مواد قانون آیین دادرسی مدنی نوعی مطالبه حق است که قبل از تقدیم دادخواست می تواند از سوی افراد مورد استفاده قرارگیرد مشروط بر اینکه موعد مطالبه فرا رسیده باشد.</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قانون آیین دادرسی مدنی در این زمینه مقرر می دارد: " هر کس حق دارد اظهاراتی را که راجع به معاملات و تعهدات خود با دیگری است و بخواهد به طور رسمی به وی برساند، ضمن اظهارنامه به طرف ابلاغ نماید</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اظهارنامه توسط اداره ثبت اسناد و املاک کشور یا دفاتر دادگاه ها ابلاغ می شود.</a:t>
            </a:r>
          </a:p>
          <a:p>
            <a:pPr algn="r"/>
            <a:endParaRPr lang="fa-IR" sz="2800" dirty="0">
              <a:solidFill>
                <a:schemeClr val="bg1"/>
              </a:solidFill>
              <a:cs typeface="B Nazanin" panose="00000400000000000000" pitchFamily="2" charset="-78"/>
            </a:endParaRPr>
          </a:p>
        </p:txBody>
      </p:sp>
      <p:sp>
        <p:nvSpPr>
          <p:cNvPr id="5" name="Rectangle 4">
            <a:extLst>
              <a:ext uri="{FF2B5EF4-FFF2-40B4-BE49-F238E27FC236}">
                <a16:creationId xmlns:a16="http://schemas.microsoft.com/office/drawing/2014/main" id="{7FAF115D-23C4-5A91-6411-C1B652A4A046}"/>
              </a:ext>
            </a:extLst>
          </p:cNvPr>
          <p:cNvSpPr/>
          <p:nvPr/>
        </p:nvSpPr>
        <p:spPr>
          <a:xfrm>
            <a:off x="9834" y="6380017"/>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849E9A-7A39-F375-4349-ACFE7D51FFCB}"/>
              </a:ext>
            </a:extLst>
          </p:cNvPr>
          <p:cNvSpPr/>
          <p:nvPr/>
        </p:nvSpPr>
        <p:spPr>
          <a:xfrm>
            <a:off x="754253" y="0"/>
            <a:ext cx="127820" cy="6857999"/>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BA265A4-580A-F88A-B5A2-E05CEADF24FA}"/>
              </a:ext>
            </a:extLst>
          </p:cNvPr>
          <p:cNvSpPr/>
          <p:nvPr/>
        </p:nvSpPr>
        <p:spPr>
          <a:xfrm>
            <a:off x="0" y="398689"/>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43302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5C838F-BA52-DBDE-5E45-F31FF6F07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237"/>
            <a:ext cx="12054346" cy="6858000"/>
          </a:xfrm>
          <a:prstGeom prst="rect">
            <a:avLst/>
          </a:prstGeom>
        </p:spPr>
      </p:pic>
      <p:sp>
        <p:nvSpPr>
          <p:cNvPr id="8" name="Rectangle 7">
            <a:extLst>
              <a:ext uri="{FF2B5EF4-FFF2-40B4-BE49-F238E27FC236}">
                <a16:creationId xmlns:a16="http://schemas.microsoft.com/office/drawing/2014/main" id="{EFCB2F48-EB7E-7D8C-E3BB-630ABDEEDF13}"/>
              </a:ext>
            </a:extLst>
          </p:cNvPr>
          <p:cNvSpPr/>
          <p:nvPr/>
        </p:nvSpPr>
        <p:spPr>
          <a:xfrm>
            <a:off x="885645" y="879351"/>
            <a:ext cx="11172273" cy="5540663"/>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1A1333E-FFDA-9EA1-4B38-339DCE5DBE0A}"/>
              </a:ext>
            </a:extLst>
          </p:cNvPr>
          <p:cNvPicPr>
            <a:picLocks noChangeAspect="1"/>
          </p:cNvPicPr>
          <p:nvPr/>
        </p:nvPicPr>
        <p:blipFill rotWithShape="1">
          <a:blip r:embed="rId2">
            <a:extLst>
              <a:ext uri="{28A0092B-C50C-407E-A947-70E740481C1C}">
                <a14:useLocalDpi xmlns:a14="http://schemas.microsoft.com/office/drawing/2010/main" val="0"/>
              </a:ext>
            </a:extLst>
          </a:blip>
          <a:srcRect l="89088"/>
          <a:stretch/>
        </p:blipFill>
        <p:spPr>
          <a:xfrm flipH="1">
            <a:off x="10972799" y="6392308"/>
            <a:ext cx="1219202" cy="465692"/>
          </a:xfrm>
          <a:prstGeom prst="rect">
            <a:avLst/>
          </a:prstGeom>
        </p:spPr>
      </p:pic>
      <p:sp>
        <p:nvSpPr>
          <p:cNvPr id="10" name="Rectangle 9">
            <a:extLst>
              <a:ext uri="{FF2B5EF4-FFF2-40B4-BE49-F238E27FC236}">
                <a16:creationId xmlns:a16="http://schemas.microsoft.com/office/drawing/2014/main" id="{60278153-AD12-15EE-9D05-70CB5337FF30}"/>
              </a:ext>
            </a:extLst>
          </p:cNvPr>
          <p:cNvSpPr/>
          <p:nvPr/>
        </p:nvSpPr>
        <p:spPr>
          <a:xfrm>
            <a:off x="12054346" y="0"/>
            <a:ext cx="127820" cy="68702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2D955B-4950-6656-0B54-0D359F2700AE}"/>
              </a:ext>
            </a:extLst>
          </p:cNvPr>
          <p:cNvSpPr txBox="1"/>
          <p:nvPr/>
        </p:nvSpPr>
        <p:spPr>
          <a:xfrm>
            <a:off x="1020317" y="1228396"/>
            <a:ext cx="10895784" cy="4401205"/>
          </a:xfrm>
          <a:prstGeom prst="rect">
            <a:avLst/>
          </a:prstGeom>
          <a:noFill/>
        </p:spPr>
        <p:txBody>
          <a:bodyPr wrap="square" rtlCol="0">
            <a:spAutoFit/>
          </a:bodyPr>
          <a:lstStyle/>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هرگاه مالک یا استفاده کننده ظرف ده روز از تاریخ ابلاغ اظهارنامه سهم بدهی خود را نپردازد، مدیر یا هیئت مدیران می توانند به تشخیص خود و با توجه به امکانات از دادن خدمات مشترک از قبیل شوفاژ، تهویه مطبوع، آب گرم، برق، گاز و غیره به او خودداری کنند و در صورتی که مالک و یا استفاده کننده همچنان اقدام به تصفیه حساب ننماید، اداره ثبت محل وقوع آپارتمان به تقاضای مدیر یا هیئت مدیران برای وصول وجه مزبور بر طبق اظهارنامه ابلاغ شده، اجرائیه صادر خواهد کرد.</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عملیات اجرایی وفق مقررات اجرای اسناد رسمی صورت خواهد گرفت و  در هر حال مدیر یا هیئت مدیران موظف می باشند که به محض وصول وجوه مورد مطالبه با ارائه دستور موقت دادگاه نسبت به برقراری مجدد خدمات مشترک فورا اقدام نمایند.</a:t>
            </a:r>
            <a:endParaRPr lang="en-US" sz="2800" dirty="0">
              <a:solidFill>
                <a:schemeClr val="bg1"/>
              </a:solidFill>
              <a:cs typeface="B Nazanin" panose="00000400000000000000" pitchFamily="2" charset="-78"/>
            </a:endParaRPr>
          </a:p>
        </p:txBody>
      </p:sp>
      <p:sp>
        <p:nvSpPr>
          <p:cNvPr id="5" name="Rectangle 4">
            <a:extLst>
              <a:ext uri="{FF2B5EF4-FFF2-40B4-BE49-F238E27FC236}">
                <a16:creationId xmlns:a16="http://schemas.microsoft.com/office/drawing/2014/main" id="{7FAF115D-23C4-5A91-6411-C1B652A4A046}"/>
              </a:ext>
            </a:extLst>
          </p:cNvPr>
          <p:cNvSpPr/>
          <p:nvPr/>
        </p:nvSpPr>
        <p:spPr>
          <a:xfrm>
            <a:off x="0" y="6392308"/>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849E9A-7A39-F375-4349-ACFE7D51FFCB}"/>
              </a:ext>
            </a:extLst>
          </p:cNvPr>
          <p:cNvSpPr/>
          <p:nvPr/>
        </p:nvSpPr>
        <p:spPr>
          <a:xfrm>
            <a:off x="754253" y="0"/>
            <a:ext cx="127820" cy="6857999"/>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CEBAEC2C-1586-CFE8-192D-040243643847}"/>
              </a:ext>
            </a:extLst>
          </p:cNvPr>
          <p:cNvSpPr/>
          <p:nvPr/>
        </p:nvSpPr>
        <p:spPr>
          <a:xfrm>
            <a:off x="-3572" y="639205"/>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34509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94315B-87C3-044D-B8CA-0CBC63E26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6" name="Rectangle 5">
            <a:extLst>
              <a:ext uri="{FF2B5EF4-FFF2-40B4-BE49-F238E27FC236}">
                <a16:creationId xmlns:a16="http://schemas.microsoft.com/office/drawing/2014/main" id="{0DDAD02B-9BBE-0863-EA00-1B59ECB33700}"/>
              </a:ext>
            </a:extLst>
          </p:cNvPr>
          <p:cNvSpPr/>
          <p:nvPr/>
        </p:nvSpPr>
        <p:spPr>
          <a:xfrm>
            <a:off x="6096000" y="0"/>
            <a:ext cx="6095999"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4E89DE2-3452-0652-A80A-92B2E0278F0A}"/>
              </a:ext>
            </a:extLst>
          </p:cNvPr>
          <p:cNvSpPr txBox="1"/>
          <p:nvPr/>
        </p:nvSpPr>
        <p:spPr>
          <a:xfrm>
            <a:off x="5828145" y="1211988"/>
            <a:ext cx="6225306" cy="4893647"/>
          </a:xfrm>
          <a:prstGeom prst="rect">
            <a:avLst/>
          </a:prstGeom>
          <a:noFill/>
        </p:spPr>
        <p:txBody>
          <a:bodyPr wrap="square" rtlCol="0">
            <a:spAutoFit/>
          </a:bodyPr>
          <a:lstStyle/>
          <a:p>
            <a:pPr algn="r"/>
            <a:r>
              <a:rPr lang="fa-IR" sz="2600" dirty="0">
                <a:solidFill>
                  <a:schemeClr val="bg1"/>
                </a:solidFill>
                <a:cs typeface="B Nazanin" panose="00000400000000000000" pitchFamily="2" charset="-78"/>
              </a:rPr>
              <a:t>در صورتی که ارائه خدمات مشترک ممکن یا موثر نباشد،</a:t>
            </a:r>
          </a:p>
          <a:p>
            <a:pPr algn="r"/>
            <a:endParaRPr lang="fa-IR" sz="2600" dirty="0">
              <a:solidFill>
                <a:schemeClr val="bg1"/>
              </a:solidFill>
              <a:cs typeface="B Nazanin" panose="00000400000000000000" pitchFamily="2" charset="-78"/>
            </a:endParaRPr>
          </a:p>
          <a:p>
            <a:pPr algn="r"/>
            <a:r>
              <a:rPr lang="fa-IR" sz="2600" dirty="0">
                <a:solidFill>
                  <a:schemeClr val="bg1"/>
                </a:solidFill>
                <a:cs typeface="B Nazanin" panose="00000400000000000000" pitchFamily="2" charset="-78"/>
              </a:rPr>
              <a:t> مدیر یا مدیران مجموعه می توانند به مراجع قضایی</a:t>
            </a:r>
          </a:p>
          <a:p>
            <a:pPr algn="r"/>
            <a:endParaRPr lang="fa-IR" sz="2600" dirty="0">
              <a:solidFill>
                <a:schemeClr val="bg1"/>
              </a:solidFill>
              <a:cs typeface="B Nazanin" panose="00000400000000000000" pitchFamily="2" charset="-78"/>
            </a:endParaRPr>
          </a:p>
          <a:p>
            <a:pPr algn="r"/>
            <a:r>
              <a:rPr lang="fa-IR" sz="2600" dirty="0">
                <a:solidFill>
                  <a:schemeClr val="bg1"/>
                </a:solidFill>
                <a:cs typeface="B Nazanin" panose="00000400000000000000" pitchFamily="2" charset="-78"/>
              </a:rPr>
              <a:t> شکایت کنند، دادگاه ها موظفند این گونه شکایات را</a:t>
            </a:r>
          </a:p>
          <a:p>
            <a:pPr algn="r"/>
            <a:endParaRPr lang="fa-IR" sz="2600" dirty="0">
              <a:solidFill>
                <a:schemeClr val="bg1"/>
              </a:solidFill>
              <a:cs typeface="B Nazanin" panose="00000400000000000000" pitchFamily="2" charset="-78"/>
            </a:endParaRPr>
          </a:p>
          <a:p>
            <a:pPr algn="r"/>
            <a:r>
              <a:rPr lang="fa-IR" sz="2600" dirty="0">
                <a:solidFill>
                  <a:schemeClr val="bg1"/>
                </a:solidFill>
                <a:cs typeface="B Nazanin" panose="00000400000000000000" pitchFamily="2" charset="-78"/>
              </a:rPr>
              <a:t> خارج از نوبت رسیدگی و واحد بدهکار را از دریافت</a:t>
            </a:r>
          </a:p>
          <a:p>
            <a:pPr algn="r"/>
            <a:endParaRPr lang="fa-IR" sz="2600" dirty="0">
              <a:solidFill>
                <a:schemeClr val="bg1"/>
              </a:solidFill>
              <a:cs typeface="B Nazanin" panose="00000400000000000000" pitchFamily="2" charset="-78"/>
            </a:endParaRPr>
          </a:p>
          <a:p>
            <a:pPr algn="r"/>
            <a:r>
              <a:rPr lang="fa-IR" sz="2600" dirty="0">
                <a:solidFill>
                  <a:schemeClr val="bg1"/>
                </a:solidFill>
                <a:cs typeface="B Nazanin" panose="00000400000000000000" pitchFamily="2" charset="-78"/>
              </a:rPr>
              <a:t> خدمات دولتی که به مجموعه ارائه می شود محروم کنند</a:t>
            </a:r>
          </a:p>
          <a:p>
            <a:pPr algn="r"/>
            <a:endParaRPr lang="fa-IR" sz="2600" dirty="0">
              <a:solidFill>
                <a:schemeClr val="bg1"/>
              </a:solidFill>
              <a:cs typeface="B Nazanin" panose="00000400000000000000" pitchFamily="2" charset="-78"/>
            </a:endParaRPr>
          </a:p>
          <a:p>
            <a:pPr algn="r"/>
            <a:r>
              <a:rPr lang="fa-IR" sz="2600" dirty="0">
                <a:solidFill>
                  <a:schemeClr val="bg1"/>
                </a:solidFill>
                <a:cs typeface="B Nazanin" panose="00000400000000000000" pitchFamily="2" charset="-78"/>
              </a:rPr>
              <a:t> و تا دو برابر مبلغ بدهی به نفع مجموعه جریمه نمایند. </a:t>
            </a:r>
          </a:p>
          <a:p>
            <a:pPr algn="r"/>
            <a:endParaRPr lang="fa-IR" sz="2600" dirty="0">
              <a:solidFill>
                <a:schemeClr val="bg1"/>
              </a:solidFill>
              <a:cs typeface="B Nazanin" panose="00000400000000000000" pitchFamily="2" charset="-78"/>
            </a:endParaRPr>
          </a:p>
        </p:txBody>
      </p:sp>
      <p:sp>
        <p:nvSpPr>
          <p:cNvPr id="8" name="Rectangle 7">
            <a:extLst>
              <a:ext uri="{FF2B5EF4-FFF2-40B4-BE49-F238E27FC236}">
                <a16:creationId xmlns:a16="http://schemas.microsoft.com/office/drawing/2014/main" id="{53D54B27-76C9-EBE7-9F50-4B83DDBFC370}"/>
              </a:ext>
            </a:extLst>
          </p:cNvPr>
          <p:cNvSpPr/>
          <p:nvPr/>
        </p:nvSpPr>
        <p:spPr>
          <a:xfrm>
            <a:off x="6003635" y="0"/>
            <a:ext cx="92365" cy="6858000"/>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DF1BA11-E6A1-9ACF-69D7-1E6EE571B716}"/>
              </a:ext>
            </a:extLst>
          </p:cNvPr>
          <p:cNvSpPr/>
          <p:nvPr/>
        </p:nvSpPr>
        <p:spPr>
          <a:xfrm>
            <a:off x="0" y="447964"/>
            <a:ext cx="12192000" cy="438727"/>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1DC49F3-F8A0-D593-C7B0-125F7C7BE6DC}"/>
              </a:ext>
            </a:extLst>
          </p:cNvPr>
          <p:cNvSpPr txBox="1"/>
          <p:nvPr/>
        </p:nvSpPr>
        <p:spPr>
          <a:xfrm>
            <a:off x="10820400" y="447964"/>
            <a:ext cx="1371600" cy="461665"/>
          </a:xfrm>
          <a:prstGeom prst="rect">
            <a:avLst/>
          </a:prstGeom>
          <a:noFill/>
        </p:spPr>
        <p:txBody>
          <a:bodyPr wrap="square" rtlCol="0">
            <a:spAutoFit/>
          </a:bodyPr>
          <a:lstStyle/>
          <a:p>
            <a:r>
              <a:rPr lang="fa-IR" sz="2400" b="1" dirty="0">
                <a:cs typeface="B Bardiya" panose="00000400000000000000" pitchFamily="2" charset="-78"/>
              </a:rPr>
              <a:t>تبصره 1</a:t>
            </a:r>
            <a:endParaRPr lang="en-US" sz="2400" b="1" dirty="0">
              <a:cs typeface="B Bardiya" panose="00000400000000000000" pitchFamily="2" charset="-78"/>
            </a:endParaRPr>
          </a:p>
        </p:txBody>
      </p:sp>
      <p:sp>
        <p:nvSpPr>
          <p:cNvPr id="11" name="Rectangle 10">
            <a:extLst>
              <a:ext uri="{FF2B5EF4-FFF2-40B4-BE49-F238E27FC236}">
                <a16:creationId xmlns:a16="http://schemas.microsoft.com/office/drawing/2014/main" id="{2D508002-642A-0A4F-5EC5-31221A79BE3C}"/>
              </a:ext>
            </a:extLst>
          </p:cNvPr>
          <p:cNvSpPr/>
          <p:nvPr/>
        </p:nvSpPr>
        <p:spPr>
          <a:xfrm>
            <a:off x="0" y="5855855"/>
            <a:ext cx="12192000" cy="166254"/>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57705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94315B-87C3-044D-B8CA-0CBC63E26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6" name="Rectangle 5">
            <a:extLst>
              <a:ext uri="{FF2B5EF4-FFF2-40B4-BE49-F238E27FC236}">
                <a16:creationId xmlns:a16="http://schemas.microsoft.com/office/drawing/2014/main" id="{0DDAD02B-9BBE-0863-EA00-1B59ECB33700}"/>
              </a:ext>
            </a:extLst>
          </p:cNvPr>
          <p:cNvSpPr/>
          <p:nvPr/>
        </p:nvSpPr>
        <p:spPr>
          <a:xfrm>
            <a:off x="6557818" y="0"/>
            <a:ext cx="5634181"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4E89DE2-3452-0652-A80A-92B2E0278F0A}"/>
              </a:ext>
            </a:extLst>
          </p:cNvPr>
          <p:cNvSpPr txBox="1"/>
          <p:nvPr/>
        </p:nvSpPr>
        <p:spPr>
          <a:xfrm>
            <a:off x="6650183" y="1579418"/>
            <a:ext cx="5415972" cy="3539430"/>
          </a:xfrm>
          <a:prstGeom prst="rect">
            <a:avLst/>
          </a:prstGeom>
          <a:noFill/>
        </p:spPr>
        <p:txBody>
          <a:bodyPr wrap="square" rtlCol="0">
            <a:spAutoFit/>
          </a:bodyPr>
          <a:lstStyle/>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استفاده مجدد از خدمات موکول به پرداخت </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هزینه های معوق واحد مربوط بنا به گواهی</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مدیر یا مدیران و یا به حکم دادگاه و نیز هزینه</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مربوط به استفاده مجدد خواهد بود.</a:t>
            </a:r>
            <a:endParaRPr lang="en-US" sz="2800" dirty="0">
              <a:solidFill>
                <a:schemeClr val="bg1"/>
              </a:solidFill>
              <a:cs typeface="B Nazanin" panose="00000400000000000000" pitchFamily="2" charset="-78"/>
            </a:endParaRPr>
          </a:p>
        </p:txBody>
      </p:sp>
      <p:sp>
        <p:nvSpPr>
          <p:cNvPr id="8" name="Rectangle 7">
            <a:extLst>
              <a:ext uri="{FF2B5EF4-FFF2-40B4-BE49-F238E27FC236}">
                <a16:creationId xmlns:a16="http://schemas.microsoft.com/office/drawing/2014/main" id="{53D54B27-76C9-EBE7-9F50-4B83DDBFC370}"/>
              </a:ext>
            </a:extLst>
          </p:cNvPr>
          <p:cNvSpPr/>
          <p:nvPr/>
        </p:nvSpPr>
        <p:spPr>
          <a:xfrm>
            <a:off x="6478156" y="0"/>
            <a:ext cx="92365" cy="6858000"/>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DF1BA11-E6A1-9ACF-69D7-1E6EE571B716}"/>
              </a:ext>
            </a:extLst>
          </p:cNvPr>
          <p:cNvSpPr/>
          <p:nvPr/>
        </p:nvSpPr>
        <p:spPr>
          <a:xfrm>
            <a:off x="0" y="447964"/>
            <a:ext cx="12192000" cy="438727"/>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1DC49F3-F8A0-D593-C7B0-125F7C7BE6DC}"/>
              </a:ext>
            </a:extLst>
          </p:cNvPr>
          <p:cNvSpPr txBox="1"/>
          <p:nvPr/>
        </p:nvSpPr>
        <p:spPr>
          <a:xfrm>
            <a:off x="10820400" y="447964"/>
            <a:ext cx="1371600" cy="461665"/>
          </a:xfrm>
          <a:prstGeom prst="rect">
            <a:avLst/>
          </a:prstGeom>
          <a:noFill/>
        </p:spPr>
        <p:txBody>
          <a:bodyPr wrap="square" rtlCol="0">
            <a:spAutoFit/>
          </a:bodyPr>
          <a:lstStyle/>
          <a:p>
            <a:r>
              <a:rPr lang="fa-IR" sz="2400" b="1" dirty="0">
                <a:cs typeface="B Bardiya" panose="00000400000000000000" pitchFamily="2" charset="-78"/>
              </a:rPr>
              <a:t>تبصره 1</a:t>
            </a:r>
            <a:endParaRPr lang="en-US" sz="2400" b="1" dirty="0">
              <a:cs typeface="B Bardiya" panose="00000400000000000000" pitchFamily="2" charset="-78"/>
            </a:endParaRPr>
          </a:p>
        </p:txBody>
      </p:sp>
      <p:sp>
        <p:nvSpPr>
          <p:cNvPr id="11" name="Rectangle 10">
            <a:extLst>
              <a:ext uri="{FF2B5EF4-FFF2-40B4-BE49-F238E27FC236}">
                <a16:creationId xmlns:a16="http://schemas.microsoft.com/office/drawing/2014/main" id="{2D508002-642A-0A4F-5EC5-31221A79BE3C}"/>
              </a:ext>
            </a:extLst>
          </p:cNvPr>
          <p:cNvSpPr/>
          <p:nvPr/>
        </p:nvSpPr>
        <p:spPr>
          <a:xfrm>
            <a:off x="0" y="5855855"/>
            <a:ext cx="12192000" cy="166254"/>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75978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94315B-87C3-044D-B8CA-0CBC63E26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6" name="Rectangle 5">
            <a:extLst>
              <a:ext uri="{FF2B5EF4-FFF2-40B4-BE49-F238E27FC236}">
                <a16:creationId xmlns:a16="http://schemas.microsoft.com/office/drawing/2014/main" id="{0DDAD02B-9BBE-0863-EA00-1B59ECB33700}"/>
              </a:ext>
            </a:extLst>
          </p:cNvPr>
          <p:cNvSpPr/>
          <p:nvPr/>
        </p:nvSpPr>
        <p:spPr>
          <a:xfrm>
            <a:off x="5682096" y="0"/>
            <a:ext cx="6509904"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4E89DE2-3452-0652-A80A-92B2E0278F0A}"/>
              </a:ext>
            </a:extLst>
          </p:cNvPr>
          <p:cNvSpPr txBox="1"/>
          <p:nvPr/>
        </p:nvSpPr>
        <p:spPr>
          <a:xfrm>
            <a:off x="5693353" y="1924723"/>
            <a:ext cx="6291694" cy="2893100"/>
          </a:xfrm>
          <a:prstGeom prst="rect">
            <a:avLst/>
          </a:prstGeom>
          <a:noFill/>
        </p:spPr>
        <p:txBody>
          <a:bodyPr wrap="square" rtlCol="0">
            <a:spAutoFit/>
          </a:bodyPr>
          <a:lstStyle/>
          <a:p>
            <a:pPr algn="r" rtl="1"/>
            <a:r>
              <a:rPr lang="fa-IR" sz="2600" dirty="0">
                <a:solidFill>
                  <a:schemeClr val="bg1"/>
                </a:solidFill>
                <a:cs typeface="B Nazanin" panose="00000400000000000000" pitchFamily="2" charset="-78"/>
              </a:rPr>
              <a:t>رونوشت مدارک</a:t>
            </a:r>
            <a:r>
              <a:rPr lang="en-US" sz="2600" dirty="0">
                <a:solidFill>
                  <a:schemeClr val="bg1"/>
                </a:solidFill>
                <a:cs typeface="B Nazanin" panose="00000400000000000000" pitchFamily="2" charset="-78"/>
              </a:rPr>
              <a:t> </a:t>
            </a:r>
            <a:r>
              <a:rPr lang="fa-IR" sz="2600" dirty="0">
                <a:solidFill>
                  <a:schemeClr val="bg1"/>
                </a:solidFill>
                <a:cs typeface="B Nazanin" panose="00000400000000000000" pitchFamily="2" charset="-78"/>
              </a:rPr>
              <a:t> سمت مدیر یا هیئت مدیران و صورت</a:t>
            </a:r>
          </a:p>
          <a:p>
            <a:pPr algn="r"/>
            <a:endParaRPr lang="fa-IR" sz="2600" dirty="0">
              <a:solidFill>
                <a:schemeClr val="bg1"/>
              </a:solidFill>
              <a:cs typeface="B Nazanin" panose="00000400000000000000" pitchFamily="2" charset="-78"/>
            </a:endParaRPr>
          </a:p>
          <a:p>
            <a:pPr algn="r"/>
            <a:r>
              <a:rPr lang="fa-IR" sz="2600" dirty="0">
                <a:solidFill>
                  <a:schemeClr val="bg1"/>
                </a:solidFill>
                <a:cs typeface="B Nazanin" panose="00000400000000000000" pitchFamily="2" charset="-78"/>
              </a:rPr>
              <a:t> ریز سهم مالک یا استفاده کننده از هزینه های مشترک و</a:t>
            </a:r>
          </a:p>
          <a:p>
            <a:pPr algn="r"/>
            <a:endParaRPr lang="fa-IR" sz="2600" dirty="0">
              <a:solidFill>
                <a:schemeClr val="bg1"/>
              </a:solidFill>
              <a:cs typeface="B Nazanin" panose="00000400000000000000" pitchFamily="2" charset="-78"/>
            </a:endParaRPr>
          </a:p>
          <a:p>
            <a:pPr algn="r"/>
            <a:r>
              <a:rPr lang="fa-IR" sz="2600" dirty="0">
                <a:solidFill>
                  <a:schemeClr val="bg1"/>
                </a:solidFill>
                <a:cs typeface="B Nazanin" panose="00000400000000000000" pitchFamily="2" charset="-78"/>
              </a:rPr>
              <a:t> رونوشت اظهارنامه ابلاغ شده به مالک یا استفاده کننده باید</a:t>
            </a:r>
          </a:p>
          <a:p>
            <a:pPr algn="r"/>
            <a:endParaRPr lang="fa-IR" sz="2600" dirty="0">
              <a:solidFill>
                <a:schemeClr val="bg1"/>
              </a:solidFill>
              <a:cs typeface="B Nazanin" panose="00000400000000000000" pitchFamily="2" charset="-78"/>
            </a:endParaRPr>
          </a:p>
          <a:p>
            <a:pPr algn="r"/>
            <a:r>
              <a:rPr lang="fa-IR" sz="2600" dirty="0">
                <a:solidFill>
                  <a:schemeClr val="bg1"/>
                </a:solidFill>
                <a:cs typeface="B Nazanin" panose="00000400000000000000" pitchFamily="2" charset="-78"/>
              </a:rPr>
              <a:t> ضمیمه تقاضانامه صدور اجرائیه گردد.</a:t>
            </a:r>
            <a:endParaRPr lang="en-US" sz="2600" dirty="0">
              <a:solidFill>
                <a:schemeClr val="bg1"/>
              </a:solidFill>
              <a:cs typeface="B Nazanin" panose="00000400000000000000" pitchFamily="2" charset="-78"/>
            </a:endParaRPr>
          </a:p>
        </p:txBody>
      </p:sp>
      <p:sp>
        <p:nvSpPr>
          <p:cNvPr id="8" name="Rectangle 7">
            <a:extLst>
              <a:ext uri="{FF2B5EF4-FFF2-40B4-BE49-F238E27FC236}">
                <a16:creationId xmlns:a16="http://schemas.microsoft.com/office/drawing/2014/main" id="{53D54B27-76C9-EBE7-9F50-4B83DDBFC370}"/>
              </a:ext>
            </a:extLst>
          </p:cNvPr>
          <p:cNvSpPr/>
          <p:nvPr/>
        </p:nvSpPr>
        <p:spPr>
          <a:xfrm>
            <a:off x="5589730" y="0"/>
            <a:ext cx="92365" cy="6858000"/>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DF1BA11-E6A1-9ACF-69D7-1E6EE571B716}"/>
              </a:ext>
            </a:extLst>
          </p:cNvPr>
          <p:cNvSpPr/>
          <p:nvPr/>
        </p:nvSpPr>
        <p:spPr>
          <a:xfrm>
            <a:off x="0" y="447964"/>
            <a:ext cx="12192000" cy="438727"/>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1DC49F3-F8A0-D593-C7B0-125F7C7BE6DC}"/>
              </a:ext>
            </a:extLst>
          </p:cNvPr>
          <p:cNvSpPr txBox="1"/>
          <p:nvPr/>
        </p:nvSpPr>
        <p:spPr>
          <a:xfrm>
            <a:off x="10820400" y="447964"/>
            <a:ext cx="1371600" cy="461665"/>
          </a:xfrm>
          <a:prstGeom prst="rect">
            <a:avLst/>
          </a:prstGeom>
          <a:noFill/>
        </p:spPr>
        <p:txBody>
          <a:bodyPr wrap="square" rtlCol="0">
            <a:spAutoFit/>
          </a:bodyPr>
          <a:lstStyle/>
          <a:p>
            <a:r>
              <a:rPr lang="fa-IR" sz="2400" b="1" dirty="0">
                <a:cs typeface="B Bardiya" panose="00000400000000000000" pitchFamily="2" charset="-78"/>
              </a:rPr>
              <a:t>تبصره 2</a:t>
            </a:r>
            <a:endParaRPr lang="en-US" sz="2400" b="1" dirty="0">
              <a:cs typeface="B Bardiya" panose="00000400000000000000" pitchFamily="2" charset="-78"/>
            </a:endParaRPr>
          </a:p>
        </p:txBody>
      </p:sp>
      <p:sp>
        <p:nvSpPr>
          <p:cNvPr id="11" name="Rectangle 10">
            <a:extLst>
              <a:ext uri="{FF2B5EF4-FFF2-40B4-BE49-F238E27FC236}">
                <a16:creationId xmlns:a16="http://schemas.microsoft.com/office/drawing/2014/main" id="{2D508002-642A-0A4F-5EC5-31221A79BE3C}"/>
              </a:ext>
            </a:extLst>
          </p:cNvPr>
          <p:cNvSpPr/>
          <p:nvPr/>
        </p:nvSpPr>
        <p:spPr>
          <a:xfrm>
            <a:off x="0" y="5855855"/>
            <a:ext cx="12192000" cy="166254"/>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16943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94315B-87C3-044D-B8CA-0CBC63E26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6" name="Rectangle 5">
            <a:extLst>
              <a:ext uri="{FF2B5EF4-FFF2-40B4-BE49-F238E27FC236}">
                <a16:creationId xmlns:a16="http://schemas.microsoft.com/office/drawing/2014/main" id="{0DDAD02B-9BBE-0863-EA00-1B59ECB33700}"/>
              </a:ext>
            </a:extLst>
          </p:cNvPr>
          <p:cNvSpPr/>
          <p:nvPr/>
        </p:nvSpPr>
        <p:spPr>
          <a:xfrm>
            <a:off x="5889331" y="0"/>
            <a:ext cx="6302669"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4E89DE2-3452-0652-A80A-92B2E0278F0A}"/>
              </a:ext>
            </a:extLst>
          </p:cNvPr>
          <p:cNvSpPr txBox="1"/>
          <p:nvPr/>
        </p:nvSpPr>
        <p:spPr>
          <a:xfrm>
            <a:off x="5889331" y="1431229"/>
            <a:ext cx="6065986" cy="4832092"/>
          </a:xfrm>
          <a:prstGeom prst="rect">
            <a:avLst/>
          </a:prstGeom>
          <a:noFill/>
        </p:spPr>
        <p:txBody>
          <a:bodyPr wrap="square" rtlCol="0">
            <a:spAutoFit/>
          </a:bodyPr>
          <a:lstStyle/>
          <a:p>
            <a:pPr algn="r"/>
            <a:r>
              <a:rPr lang="fa-IR" sz="2800" dirty="0">
                <a:solidFill>
                  <a:schemeClr val="bg1"/>
                </a:solidFill>
                <a:cs typeface="B Nazanin" panose="00000400000000000000" pitchFamily="2" charset="-78"/>
              </a:rPr>
              <a:t>نظر مدیر یا هیئت مدیران ظرف 10 روز پس از ابلاغ</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اظهارنامه به مالک در دادگاه نخستین محل وقوع</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آپارتمان قابل  اعتراض است، دادگاه خارج از نوبت و</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بدون رعایت تشریفات آیین دادرسی مدنی به</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موضوع رسیدگی و رای می دهد. این رای قطعی است.</a:t>
            </a:r>
          </a:p>
          <a:p>
            <a:pPr algn="r"/>
            <a:endParaRPr lang="fa-IR" sz="2800" dirty="0">
              <a:solidFill>
                <a:schemeClr val="bg1"/>
              </a:solidFill>
              <a:cs typeface="B Nazanin" panose="00000400000000000000" pitchFamily="2" charset="-78"/>
            </a:endParaRPr>
          </a:p>
          <a:p>
            <a:pPr algn="r"/>
            <a:endParaRPr lang="fa-IR" sz="2800" dirty="0">
              <a:solidFill>
                <a:schemeClr val="bg1"/>
              </a:solidFill>
              <a:cs typeface="B Nazanin" panose="00000400000000000000" pitchFamily="2" charset="-78"/>
            </a:endParaRPr>
          </a:p>
        </p:txBody>
      </p:sp>
      <p:sp>
        <p:nvSpPr>
          <p:cNvPr id="8" name="Rectangle 7">
            <a:extLst>
              <a:ext uri="{FF2B5EF4-FFF2-40B4-BE49-F238E27FC236}">
                <a16:creationId xmlns:a16="http://schemas.microsoft.com/office/drawing/2014/main" id="{53D54B27-76C9-EBE7-9F50-4B83DDBFC370}"/>
              </a:ext>
            </a:extLst>
          </p:cNvPr>
          <p:cNvSpPr/>
          <p:nvPr/>
        </p:nvSpPr>
        <p:spPr>
          <a:xfrm>
            <a:off x="5796966" y="0"/>
            <a:ext cx="92365" cy="6858000"/>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DF1BA11-E6A1-9ACF-69D7-1E6EE571B716}"/>
              </a:ext>
            </a:extLst>
          </p:cNvPr>
          <p:cNvSpPr/>
          <p:nvPr/>
        </p:nvSpPr>
        <p:spPr>
          <a:xfrm>
            <a:off x="0" y="447964"/>
            <a:ext cx="12192000" cy="438727"/>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1DC49F3-F8A0-D593-C7B0-125F7C7BE6DC}"/>
              </a:ext>
            </a:extLst>
          </p:cNvPr>
          <p:cNvSpPr txBox="1"/>
          <p:nvPr/>
        </p:nvSpPr>
        <p:spPr>
          <a:xfrm>
            <a:off x="10820400" y="447964"/>
            <a:ext cx="1371600" cy="461665"/>
          </a:xfrm>
          <a:prstGeom prst="rect">
            <a:avLst/>
          </a:prstGeom>
          <a:noFill/>
        </p:spPr>
        <p:txBody>
          <a:bodyPr wrap="square" rtlCol="0">
            <a:spAutoFit/>
          </a:bodyPr>
          <a:lstStyle/>
          <a:p>
            <a:r>
              <a:rPr lang="fa-IR" sz="2400" b="1" dirty="0">
                <a:cs typeface="B Bardiya" panose="00000400000000000000" pitchFamily="2" charset="-78"/>
              </a:rPr>
              <a:t>تبصره 3</a:t>
            </a:r>
            <a:endParaRPr lang="en-US" sz="2400" b="1" dirty="0">
              <a:cs typeface="B Bardiya" panose="00000400000000000000" pitchFamily="2" charset="-78"/>
            </a:endParaRPr>
          </a:p>
        </p:txBody>
      </p:sp>
      <p:sp>
        <p:nvSpPr>
          <p:cNvPr id="11" name="Rectangle 10">
            <a:extLst>
              <a:ext uri="{FF2B5EF4-FFF2-40B4-BE49-F238E27FC236}">
                <a16:creationId xmlns:a16="http://schemas.microsoft.com/office/drawing/2014/main" id="{2D508002-642A-0A4F-5EC5-31221A79BE3C}"/>
              </a:ext>
            </a:extLst>
          </p:cNvPr>
          <p:cNvSpPr/>
          <p:nvPr/>
        </p:nvSpPr>
        <p:spPr>
          <a:xfrm>
            <a:off x="0" y="5855855"/>
            <a:ext cx="12192000" cy="166254"/>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18559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94315B-87C3-044D-B8CA-0CBC63E26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6" name="Rectangle 5">
            <a:extLst>
              <a:ext uri="{FF2B5EF4-FFF2-40B4-BE49-F238E27FC236}">
                <a16:creationId xmlns:a16="http://schemas.microsoft.com/office/drawing/2014/main" id="{0DDAD02B-9BBE-0863-EA00-1B59ECB33700}"/>
              </a:ext>
            </a:extLst>
          </p:cNvPr>
          <p:cNvSpPr/>
          <p:nvPr/>
        </p:nvSpPr>
        <p:spPr>
          <a:xfrm>
            <a:off x="5781964" y="0"/>
            <a:ext cx="6410035"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4E89DE2-3452-0652-A80A-92B2E0278F0A}"/>
              </a:ext>
            </a:extLst>
          </p:cNvPr>
          <p:cNvSpPr txBox="1"/>
          <p:nvPr/>
        </p:nvSpPr>
        <p:spPr>
          <a:xfrm>
            <a:off x="5748485" y="1080247"/>
            <a:ext cx="6284191" cy="4401205"/>
          </a:xfrm>
          <a:prstGeom prst="rect">
            <a:avLst/>
          </a:prstGeom>
          <a:noFill/>
        </p:spPr>
        <p:txBody>
          <a:bodyPr wrap="square" rtlCol="0">
            <a:spAutoFit/>
          </a:bodyPr>
          <a:lstStyle/>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در مواردی که طبق ماده فوق تصمیم به قطع خدمات</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مشترک اتخاذ شده و رسیدگی سریع به اعتراض</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ممکن نباشد دادگاه به محض وصول اعتراض، اگر</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دلایل را قوی تشخیص دهد، دستور متوقف گذاردن</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تصمیم قطع خدمات مشترک را تا صدور رای خواهد داد.</a:t>
            </a:r>
            <a:endParaRPr lang="en-US" sz="2800" dirty="0">
              <a:solidFill>
                <a:schemeClr val="bg1"/>
              </a:solidFill>
              <a:cs typeface="B Nazanin" panose="00000400000000000000" pitchFamily="2" charset="-78"/>
            </a:endParaRPr>
          </a:p>
        </p:txBody>
      </p:sp>
      <p:sp>
        <p:nvSpPr>
          <p:cNvPr id="8" name="Rectangle 7">
            <a:extLst>
              <a:ext uri="{FF2B5EF4-FFF2-40B4-BE49-F238E27FC236}">
                <a16:creationId xmlns:a16="http://schemas.microsoft.com/office/drawing/2014/main" id="{53D54B27-76C9-EBE7-9F50-4B83DDBFC370}"/>
              </a:ext>
            </a:extLst>
          </p:cNvPr>
          <p:cNvSpPr/>
          <p:nvPr/>
        </p:nvSpPr>
        <p:spPr>
          <a:xfrm>
            <a:off x="5685563" y="0"/>
            <a:ext cx="92365" cy="6858000"/>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DF1BA11-E6A1-9ACF-69D7-1E6EE571B716}"/>
              </a:ext>
            </a:extLst>
          </p:cNvPr>
          <p:cNvSpPr/>
          <p:nvPr/>
        </p:nvSpPr>
        <p:spPr>
          <a:xfrm>
            <a:off x="0" y="447964"/>
            <a:ext cx="12192000" cy="438727"/>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1DC49F3-F8A0-D593-C7B0-125F7C7BE6DC}"/>
              </a:ext>
            </a:extLst>
          </p:cNvPr>
          <p:cNvSpPr txBox="1"/>
          <p:nvPr/>
        </p:nvSpPr>
        <p:spPr>
          <a:xfrm>
            <a:off x="10820400" y="447964"/>
            <a:ext cx="1371600" cy="461665"/>
          </a:xfrm>
          <a:prstGeom prst="rect">
            <a:avLst/>
          </a:prstGeom>
          <a:noFill/>
        </p:spPr>
        <p:txBody>
          <a:bodyPr wrap="square" rtlCol="0">
            <a:spAutoFit/>
          </a:bodyPr>
          <a:lstStyle/>
          <a:p>
            <a:r>
              <a:rPr lang="fa-IR" sz="2400" b="1" dirty="0">
                <a:cs typeface="B Bardiya" panose="00000400000000000000" pitchFamily="2" charset="-78"/>
              </a:rPr>
              <a:t>تبصره 3</a:t>
            </a:r>
            <a:endParaRPr lang="en-US" sz="2400" b="1" dirty="0">
              <a:cs typeface="B Bardiya" panose="00000400000000000000" pitchFamily="2" charset="-78"/>
            </a:endParaRPr>
          </a:p>
        </p:txBody>
      </p:sp>
      <p:sp>
        <p:nvSpPr>
          <p:cNvPr id="11" name="Rectangle 10">
            <a:extLst>
              <a:ext uri="{FF2B5EF4-FFF2-40B4-BE49-F238E27FC236}">
                <a16:creationId xmlns:a16="http://schemas.microsoft.com/office/drawing/2014/main" id="{2D508002-642A-0A4F-5EC5-31221A79BE3C}"/>
              </a:ext>
            </a:extLst>
          </p:cNvPr>
          <p:cNvSpPr/>
          <p:nvPr/>
        </p:nvSpPr>
        <p:spPr>
          <a:xfrm>
            <a:off x="0" y="5855855"/>
            <a:ext cx="12192000" cy="166254"/>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8982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94315B-87C3-044D-B8CA-0CBC63E26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6" name="Rectangle 5">
            <a:extLst>
              <a:ext uri="{FF2B5EF4-FFF2-40B4-BE49-F238E27FC236}">
                <a16:creationId xmlns:a16="http://schemas.microsoft.com/office/drawing/2014/main" id="{0DDAD02B-9BBE-0863-EA00-1B59ECB33700}"/>
              </a:ext>
            </a:extLst>
          </p:cNvPr>
          <p:cNvSpPr/>
          <p:nvPr/>
        </p:nvSpPr>
        <p:spPr>
          <a:xfrm>
            <a:off x="5887030" y="0"/>
            <a:ext cx="6304969"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4E89DE2-3452-0652-A80A-92B2E0278F0A}"/>
              </a:ext>
            </a:extLst>
          </p:cNvPr>
          <p:cNvSpPr txBox="1"/>
          <p:nvPr/>
        </p:nvSpPr>
        <p:spPr>
          <a:xfrm>
            <a:off x="5979395" y="1874728"/>
            <a:ext cx="6108701" cy="3108543"/>
          </a:xfrm>
          <a:prstGeom prst="rect">
            <a:avLst/>
          </a:prstGeom>
          <a:noFill/>
        </p:spPr>
        <p:txBody>
          <a:bodyPr wrap="square" rtlCol="0">
            <a:spAutoFit/>
          </a:bodyPr>
          <a:lstStyle/>
          <a:p>
            <a:pPr algn="r"/>
            <a:r>
              <a:rPr lang="fa-IR" sz="2800" dirty="0">
                <a:solidFill>
                  <a:schemeClr val="bg1"/>
                </a:solidFill>
                <a:cs typeface="B Nazanin" panose="00000400000000000000" pitchFamily="2" charset="-78"/>
              </a:rPr>
              <a:t>در صورتی که مالک یا استفاده کننده مجددا و مکررا در</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دادگاه محکوم به پرداخت هزینه های مشترک گردد،</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علاوه بر سایر پرداختی ها مکلف به پرداخت مبلغی</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 معادل مبلغ محکوم به عنوان جریمه می باشد.</a:t>
            </a:r>
            <a:endParaRPr lang="en-US" sz="2800" dirty="0">
              <a:solidFill>
                <a:schemeClr val="bg1"/>
              </a:solidFill>
              <a:cs typeface="B Nazanin" panose="00000400000000000000" pitchFamily="2" charset="-78"/>
            </a:endParaRPr>
          </a:p>
        </p:txBody>
      </p:sp>
      <p:sp>
        <p:nvSpPr>
          <p:cNvPr id="8" name="Rectangle 7">
            <a:extLst>
              <a:ext uri="{FF2B5EF4-FFF2-40B4-BE49-F238E27FC236}">
                <a16:creationId xmlns:a16="http://schemas.microsoft.com/office/drawing/2014/main" id="{53D54B27-76C9-EBE7-9F50-4B83DDBFC370}"/>
              </a:ext>
            </a:extLst>
          </p:cNvPr>
          <p:cNvSpPr/>
          <p:nvPr/>
        </p:nvSpPr>
        <p:spPr>
          <a:xfrm>
            <a:off x="5794665" y="0"/>
            <a:ext cx="92365" cy="6858000"/>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DF1BA11-E6A1-9ACF-69D7-1E6EE571B716}"/>
              </a:ext>
            </a:extLst>
          </p:cNvPr>
          <p:cNvSpPr/>
          <p:nvPr/>
        </p:nvSpPr>
        <p:spPr>
          <a:xfrm>
            <a:off x="0" y="447964"/>
            <a:ext cx="12192000" cy="438727"/>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1DC49F3-F8A0-D593-C7B0-125F7C7BE6DC}"/>
              </a:ext>
            </a:extLst>
          </p:cNvPr>
          <p:cNvSpPr txBox="1"/>
          <p:nvPr/>
        </p:nvSpPr>
        <p:spPr>
          <a:xfrm>
            <a:off x="10820400" y="447964"/>
            <a:ext cx="1371600" cy="461665"/>
          </a:xfrm>
          <a:prstGeom prst="rect">
            <a:avLst/>
          </a:prstGeom>
          <a:noFill/>
        </p:spPr>
        <p:txBody>
          <a:bodyPr wrap="square" rtlCol="0">
            <a:spAutoFit/>
          </a:bodyPr>
          <a:lstStyle/>
          <a:p>
            <a:r>
              <a:rPr lang="fa-IR" sz="2400" b="1" dirty="0">
                <a:cs typeface="B Bardiya" panose="00000400000000000000" pitchFamily="2" charset="-78"/>
              </a:rPr>
              <a:t>تبصره 4</a:t>
            </a:r>
            <a:endParaRPr lang="en-US" sz="2400" b="1" dirty="0">
              <a:cs typeface="B Bardiya" panose="00000400000000000000" pitchFamily="2" charset="-78"/>
            </a:endParaRPr>
          </a:p>
        </p:txBody>
      </p:sp>
      <p:sp>
        <p:nvSpPr>
          <p:cNvPr id="11" name="Rectangle 10">
            <a:extLst>
              <a:ext uri="{FF2B5EF4-FFF2-40B4-BE49-F238E27FC236}">
                <a16:creationId xmlns:a16="http://schemas.microsoft.com/office/drawing/2014/main" id="{2D508002-642A-0A4F-5EC5-31221A79BE3C}"/>
              </a:ext>
            </a:extLst>
          </p:cNvPr>
          <p:cNvSpPr/>
          <p:nvPr/>
        </p:nvSpPr>
        <p:spPr>
          <a:xfrm>
            <a:off x="0" y="5855855"/>
            <a:ext cx="12192000" cy="166254"/>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61517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560272" y="0"/>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F1452F-2A7A-CBED-8F25-F5B63AC38AB1}"/>
              </a:ext>
            </a:extLst>
          </p:cNvPr>
          <p:cNvSpPr/>
          <p:nvPr/>
        </p:nvSpPr>
        <p:spPr>
          <a:xfrm>
            <a:off x="6703147" y="0"/>
            <a:ext cx="5488853"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ماده11</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6631710" y="1942622"/>
            <a:ext cx="5511800" cy="2677656"/>
          </a:xfrm>
          <a:prstGeom prst="rect">
            <a:avLst/>
          </a:prstGeom>
          <a:noFill/>
        </p:spPr>
        <p:txBody>
          <a:bodyPr wrap="square" rtlCol="0">
            <a:spAutoFit/>
          </a:bodyPr>
          <a:lstStyle/>
          <a:p>
            <a:pPr algn="r"/>
            <a:r>
              <a:rPr lang="fa-IR" sz="2400" b="1" dirty="0">
                <a:solidFill>
                  <a:schemeClr val="bg1"/>
                </a:solidFill>
                <a:cs typeface="B Nazanin" panose="00000400000000000000" pitchFamily="2" charset="-78"/>
              </a:rPr>
              <a:t>دولت مکلف است ظرف سه ماه پس از تصویب این</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قانون آئین نامه های اجرایی آن را تهیه و بعد از</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تصویب هیئت وزیران، به مورد اجراء بگذارد. دولت</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مامور اجرای این قانون است.</a:t>
            </a:r>
            <a:endParaRPr lang="fa-IR" sz="2400" b="1" dirty="0">
              <a:solidFill>
                <a:schemeClr val="accent2"/>
              </a:solidFill>
              <a:cs typeface="B Nazanin" panose="00000400000000000000" pitchFamily="2" charset="-78"/>
            </a:endParaRPr>
          </a:p>
        </p:txBody>
      </p:sp>
      <p:sp>
        <p:nvSpPr>
          <p:cNvPr id="15" name="Rectangle 14">
            <a:extLst>
              <a:ext uri="{FF2B5EF4-FFF2-40B4-BE49-F238E27FC236}">
                <a16:creationId xmlns:a16="http://schemas.microsoft.com/office/drawing/2014/main" id="{715FACBB-49B5-6A15-CB6A-E82469B9D900}"/>
              </a:ext>
            </a:extLst>
          </p:cNvPr>
          <p:cNvSpPr/>
          <p:nvPr/>
        </p:nvSpPr>
        <p:spPr>
          <a:xfrm>
            <a:off x="5334001" y="5747382"/>
            <a:ext cx="6858000" cy="147484"/>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9107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024562" y="12749"/>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F1452F-2A7A-CBED-8F25-F5B63AC38AB1}"/>
              </a:ext>
            </a:extLst>
          </p:cNvPr>
          <p:cNvSpPr/>
          <p:nvPr/>
        </p:nvSpPr>
        <p:spPr>
          <a:xfrm>
            <a:off x="6167437" y="0"/>
            <a:ext cx="6024563"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ماده12</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5653087" y="727614"/>
            <a:ext cx="6219825" cy="5632311"/>
          </a:xfrm>
          <a:prstGeom prst="rect">
            <a:avLst/>
          </a:prstGeom>
          <a:noFill/>
        </p:spPr>
        <p:txBody>
          <a:bodyPr wrap="square" rtlCol="0">
            <a:spAutoFit/>
          </a:bodyPr>
          <a:lstStyle/>
          <a:p>
            <a:pPr algn="r"/>
            <a:r>
              <a:rPr lang="fa-IR" sz="2400" b="1" dirty="0">
                <a:solidFill>
                  <a:schemeClr val="bg1"/>
                </a:solidFill>
                <a:cs typeface="B Nazanin" panose="00000400000000000000" pitchFamily="2" charset="-78"/>
              </a:rPr>
              <a:t>دفاتر اسناد رسمی موظف می باشند در هنگام تنظیم</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هر نوع سند انتقال، اجاره، رهن، صلح، هبه و غیره</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گواهی مربوط به تسویه حساب هزینه های مشترک</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را که به تایید مدیر یا مدیران ساختمان رسیده باشد</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از مالک یا قائم مقام او مطالبه نمایند و یا با موافقت</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مدیر یا مدیران تعهد منتقل الیه را به پرداخت بدهی</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های معوق مالک نسبت به هزینه های موضوع این</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قانون در سند تنظیمی قید نمایند.</a:t>
            </a:r>
            <a:endParaRPr lang="fa-IR" sz="2400" b="1" dirty="0">
              <a:solidFill>
                <a:schemeClr val="accent2"/>
              </a:solidFill>
              <a:cs typeface="B Nazanin" panose="00000400000000000000" pitchFamily="2" charset="-78"/>
            </a:endParaRPr>
          </a:p>
        </p:txBody>
      </p:sp>
      <p:sp>
        <p:nvSpPr>
          <p:cNvPr id="15" name="Rectangle 14">
            <a:extLst>
              <a:ext uri="{FF2B5EF4-FFF2-40B4-BE49-F238E27FC236}">
                <a16:creationId xmlns:a16="http://schemas.microsoft.com/office/drawing/2014/main" id="{715FACBB-49B5-6A15-CB6A-E82469B9D900}"/>
              </a:ext>
            </a:extLst>
          </p:cNvPr>
          <p:cNvSpPr/>
          <p:nvPr/>
        </p:nvSpPr>
        <p:spPr>
          <a:xfrm>
            <a:off x="5333999" y="6461478"/>
            <a:ext cx="6858000" cy="147484"/>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5043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648C5DD-4ACA-7D83-6C19-0CD5EFA62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9471"/>
          </a:xfrm>
          <a:prstGeom prst="rect">
            <a:avLst/>
          </a:prstGeom>
        </p:spPr>
      </p:pic>
      <p:sp>
        <p:nvSpPr>
          <p:cNvPr id="17" name="Rectangle 16">
            <a:extLst>
              <a:ext uri="{FF2B5EF4-FFF2-40B4-BE49-F238E27FC236}">
                <a16:creationId xmlns:a16="http://schemas.microsoft.com/office/drawing/2014/main" id="{7B895A5D-8C00-7912-2721-0B622E142DE7}"/>
              </a:ext>
            </a:extLst>
          </p:cNvPr>
          <p:cNvSpPr/>
          <p:nvPr/>
        </p:nvSpPr>
        <p:spPr>
          <a:xfrm>
            <a:off x="-6" y="1777125"/>
            <a:ext cx="12192000" cy="4291244"/>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03974" y="0"/>
            <a:ext cx="1288027" cy="600075"/>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ماده13</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157018" y="1876033"/>
            <a:ext cx="12349018" cy="4093428"/>
          </a:xfrm>
          <a:prstGeom prst="rect">
            <a:avLst/>
          </a:prstGeom>
          <a:noFill/>
        </p:spPr>
        <p:txBody>
          <a:bodyPr wrap="square" rtlCol="0">
            <a:spAutoFit/>
          </a:bodyPr>
          <a:lstStyle/>
          <a:p>
            <a:pPr algn="r"/>
            <a:r>
              <a:rPr lang="fa-IR" sz="2000" b="1" dirty="0">
                <a:solidFill>
                  <a:schemeClr val="bg1"/>
                </a:solidFill>
                <a:cs typeface="B Nazanin" panose="00000400000000000000" pitchFamily="2" charset="-78"/>
              </a:rPr>
              <a:t>در صورتی که به تشخیص سه نفر از کارشناسان رسمی دادگستری، عمر مفید ساختمان به پایان رسیده و یا به  هر دلیل دیگری ساختمان دچار</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فرسودگی کلی شده باشد و بیم خطر یا ضرر مالی و جانی برود و اقلیت مالکان قسمت های اختصاصی در تجدید بنای آن موافق نباشند، آن</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دسته از مالکان ک قصد بازسازی مجموعه را دارند، می توانند بر اساس حکم دادگاه، با تامین مسکن استیجاری مناسب برای مالک یا مالکان</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که از همکاری خودداری می ورزند نسبت به تجدید بنای مجموعه اقدام نمایند و پس از اتمام عملیات بازسازی  و تعیین سهم هر یک از مالکان</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از بنا و هزینه های انجام شده، سهم مالک یا مالکان یاد شده را به اضافه اجوری که برای مسکن اجاری ایشان پرداخت شده است از اموال آنها</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از جمله همان واحد استیفا کنند. در صورت عدم توافق در انتخاب کارشناسان، وزارت مسکن و شهرسازی با درخواست مدیر یا هیئت مدیره</a:t>
            </a:r>
          </a:p>
          <a:p>
            <a:pPr algn="r"/>
            <a:endParaRPr lang="fa-IR" sz="2000" b="1" dirty="0">
              <a:solidFill>
                <a:schemeClr val="bg1"/>
              </a:solidFill>
              <a:cs typeface="B Nazanin" panose="00000400000000000000" pitchFamily="2" charset="-78"/>
            </a:endParaRPr>
          </a:p>
          <a:p>
            <a:pPr algn="r"/>
            <a:r>
              <a:rPr lang="fa-IR" sz="2000" b="1" dirty="0">
                <a:solidFill>
                  <a:schemeClr val="bg1"/>
                </a:solidFill>
                <a:cs typeface="B Nazanin" panose="00000400000000000000" pitchFamily="2" charset="-78"/>
              </a:rPr>
              <a:t> اقدام به انتخاب کارشناسان یاد شده خواهد کرد.</a:t>
            </a:r>
          </a:p>
        </p:txBody>
      </p:sp>
      <p:sp>
        <p:nvSpPr>
          <p:cNvPr id="3" name="Rectangle 2">
            <a:extLst>
              <a:ext uri="{FF2B5EF4-FFF2-40B4-BE49-F238E27FC236}">
                <a16:creationId xmlns:a16="http://schemas.microsoft.com/office/drawing/2014/main" id="{A96E8DCB-D1ED-1115-390C-29A85903DF92}"/>
              </a:ext>
            </a:extLst>
          </p:cNvPr>
          <p:cNvSpPr/>
          <p:nvPr/>
        </p:nvSpPr>
        <p:spPr>
          <a:xfrm>
            <a:off x="-1" y="471055"/>
            <a:ext cx="10903975" cy="129020"/>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AB14394-0C76-9F17-AF7C-05583D8831E8}"/>
              </a:ext>
            </a:extLst>
          </p:cNvPr>
          <p:cNvSpPr/>
          <p:nvPr/>
        </p:nvSpPr>
        <p:spPr>
          <a:xfrm>
            <a:off x="10903969" y="471055"/>
            <a:ext cx="166260" cy="1440052"/>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42A139D-816E-6A91-3440-347E9BADC0BC}"/>
              </a:ext>
            </a:extLst>
          </p:cNvPr>
          <p:cNvSpPr/>
          <p:nvPr/>
        </p:nvSpPr>
        <p:spPr>
          <a:xfrm>
            <a:off x="10903969" y="5969461"/>
            <a:ext cx="166260" cy="900009"/>
          </a:xfrm>
          <a:prstGeom prst="rect">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3041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5C838F-BA52-DBDE-5E45-F31FF6F07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0972799" cy="6858000"/>
          </a:xfrm>
          <a:prstGeom prst="rect">
            <a:avLst/>
          </a:prstGeom>
        </p:spPr>
      </p:pic>
      <p:sp>
        <p:nvSpPr>
          <p:cNvPr id="8" name="Rectangle 7">
            <a:extLst>
              <a:ext uri="{FF2B5EF4-FFF2-40B4-BE49-F238E27FC236}">
                <a16:creationId xmlns:a16="http://schemas.microsoft.com/office/drawing/2014/main" id="{EFCB2F48-EB7E-7D8C-E3BB-630ABDEEDF13}"/>
              </a:ext>
            </a:extLst>
          </p:cNvPr>
          <p:cNvSpPr/>
          <p:nvPr/>
        </p:nvSpPr>
        <p:spPr>
          <a:xfrm>
            <a:off x="5106220" y="-12291"/>
            <a:ext cx="5817419" cy="6025162"/>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1A1333E-FFDA-9EA1-4B38-339DCE5DBE0A}"/>
              </a:ext>
            </a:extLst>
          </p:cNvPr>
          <p:cNvPicPr>
            <a:picLocks noChangeAspect="1"/>
          </p:cNvPicPr>
          <p:nvPr/>
        </p:nvPicPr>
        <p:blipFill rotWithShape="1">
          <a:blip r:embed="rId2">
            <a:extLst>
              <a:ext uri="{28A0092B-C50C-407E-A947-70E740481C1C}">
                <a14:useLocalDpi xmlns:a14="http://schemas.microsoft.com/office/drawing/2010/main" val="0"/>
              </a:ext>
            </a:extLst>
          </a:blip>
          <a:srcRect l="89088"/>
          <a:stretch/>
        </p:blipFill>
        <p:spPr>
          <a:xfrm flipH="1">
            <a:off x="10992465" y="0"/>
            <a:ext cx="1199536" cy="6858000"/>
          </a:xfrm>
          <a:prstGeom prst="rect">
            <a:avLst/>
          </a:prstGeom>
        </p:spPr>
      </p:pic>
      <p:sp>
        <p:nvSpPr>
          <p:cNvPr id="10" name="Rectangle 9">
            <a:extLst>
              <a:ext uri="{FF2B5EF4-FFF2-40B4-BE49-F238E27FC236}">
                <a16:creationId xmlns:a16="http://schemas.microsoft.com/office/drawing/2014/main" id="{60278153-AD12-15EE-9D05-70CB5337FF30}"/>
              </a:ext>
            </a:extLst>
          </p:cNvPr>
          <p:cNvSpPr/>
          <p:nvPr/>
        </p:nvSpPr>
        <p:spPr>
          <a:xfrm>
            <a:off x="10923639" y="-12291"/>
            <a:ext cx="127820" cy="68702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2D955B-4950-6656-0B54-0D359F2700AE}"/>
              </a:ext>
            </a:extLst>
          </p:cNvPr>
          <p:cNvSpPr txBox="1"/>
          <p:nvPr/>
        </p:nvSpPr>
        <p:spPr>
          <a:xfrm>
            <a:off x="5057060" y="1666402"/>
            <a:ext cx="5796561" cy="3108543"/>
          </a:xfrm>
          <a:prstGeom prst="rect">
            <a:avLst/>
          </a:prstGeom>
          <a:noFill/>
        </p:spPr>
        <p:txBody>
          <a:bodyPr wrap="square" rtlCol="0">
            <a:spAutoFit/>
          </a:bodyPr>
          <a:lstStyle/>
          <a:p>
            <a:pPr algn="r"/>
            <a:r>
              <a:rPr lang="fa-IR" sz="2800" b="1" dirty="0">
                <a:solidFill>
                  <a:schemeClr val="bg1"/>
                </a:solidFill>
                <a:cs typeface="B Nazanin" panose="00000400000000000000" pitchFamily="2" charset="-78"/>
              </a:rPr>
              <a:t>مدیر یا مدیران مجموعه به نمایندگی از طرف</a:t>
            </a:r>
          </a:p>
          <a:p>
            <a:pPr algn="r"/>
            <a:endParaRPr lang="fa-IR" sz="2800" b="1" dirty="0">
              <a:solidFill>
                <a:schemeClr val="bg1"/>
              </a:solidFill>
              <a:cs typeface="B Nazanin" panose="00000400000000000000" pitchFamily="2" charset="-78"/>
            </a:endParaRPr>
          </a:p>
          <a:p>
            <a:pPr algn="r"/>
            <a:r>
              <a:rPr lang="fa-IR" sz="2800" b="1" dirty="0">
                <a:solidFill>
                  <a:schemeClr val="bg1"/>
                </a:solidFill>
                <a:cs typeface="B Nazanin" panose="00000400000000000000" pitchFamily="2" charset="-78"/>
              </a:rPr>
              <a:t> مالکان می توانند اقدامات موضوع این ماده را</a:t>
            </a:r>
          </a:p>
          <a:p>
            <a:pPr algn="r"/>
            <a:endParaRPr lang="fa-IR" sz="2800" b="1" dirty="0">
              <a:solidFill>
                <a:schemeClr val="bg1"/>
              </a:solidFill>
              <a:cs typeface="B Nazanin" panose="00000400000000000000" pitchFamily="2" charset="-78"/>
            </a:endParaRPr>
          </a:p>
          <a:p>
            <a:pPr algn="r"/>
            <a:r>
              <a:rPr lang="fa-IR" sz="2800" b="1" dirty="0">
                <a:solidFill>
                  <a:schemeClr val="bg1"/>
                </a:solidFill>
                <a:cs typeface="B Nazanin" panose="00000400000000000000" pitchFamily="2" charset="-78"/>
              </a:rPr>
              <a:t> انجام دهند.</a:t>
            </a:r>
          </a:p>
          <a:p>
            <a:pPr algn="r"/>
            <a:endParaRPr lang="fa-IR" sz="2800" b="1" dirty="0">
              <a:solidFill>
                <a:schemeClr val="bg1"/>
              </a:solidFill>
              <a:cs typeface="B Nazanin" panose="00000400000000000000" pitchFamily="2" charset="-78"/>
            </a:endParaRPr>
          </a:p>
          <a:p>
            <a:pPr algn="r"/>
            <a:endParaRPr lang="fa-IR" sz="2800" b="1" dirty="0">
              <a:solidFill>
                <a:schemeClr val="bg1"/>
              </a:solidFill>
              <a:cs typeface="B Nazanin" panose="00000400000000000000" pitchFamily="2" charset="-78"/>
            </a:endParaRPr>
          </a:p>
        </p:txBody>
      </p:sp>
      <p:sp>
        <p:nvSpPr>
          <p:cNvPr id="2" name="Rectangle 1">
            <a:extLst>
              <a:ext uri="{FF2B5EF4-FFF2-40B4-BE49-F238E27FC236}">
                <a16:creationId xmlns:a16="http://schemas.microsoft.com/office/drawing/2014/main" id="{EAB2748B-6FF8-391E-356A-77717ADF704D}"/>
              </a:ext>
            </a:extLst>
          </p:cNvPr>
          <p:cNvSpPr/>
          <p:nvPr/>
        </p:nvSpPr>
        <p:spPr>
          <a:xfrm>
            <a:off x="11051459" y="1782618"/>
            <a:ext cx="1140541"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000" b="1" dirty="0">
                <a:cs typeface="B Bardiya" panose="00000400000000000000" pitchFamily="2" charset="-78"/>
              </a:rPr>
              <a:t>تبصره1</a:t>
            </a:r>
            <a:endParaRPr lang="en-US" sz="2000" b="1" dirty="0">
              <a:cs typeface="B Bardiya" panose="00000400000000000000" pitchFamily="2" charset="-78"/>
            </a:endParaRPr>
          </a:p>
        </p:txBody>
      </p:sp>
      <p:sp>
        <p:nvSpPr>
          <p:cNvPr id="5" name="Rectangle 4">
            <a:extLst>
              <a:ext uri="{FF2B5EF4-FFF2-40B4-BE49-F238E27FC236}">
                <a16:creationId xmlns:a16="http://schemas.microsoft.com/office/drawing/2014/main" id="{7FAF115D-23C4-5A91-6411-C1B652A4A046}"/>
              </a:ext>
            </a:extLst>
          </p:cNvPr>
          <p:cNvSpPr/>
          <p:nvPr/>
        </p:nvSpPr>
        <p:spPr>
          <a:xfrm>
            <a:off x="0" y="6012872"/>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849E9A-7A39-F375-4349-ACFE7D51FFCB}"/>
              </a:ext>
            </a:extLst>
          </p:cNvPr>
          <p:cNvSpPr/>
          <p:nvPr/>
        </p:nvSpPr>
        <p:spPr>
          <a:xfrm>
            <a:off x="4978400" y="0"/>
            <a:ext cx="127820" cy="6857999"/>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97682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5C838F-BA52-DBDE-5E45-F31FF6F07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0972799" cy="6858000"/>
          </a:xfrm>
          <a:prstGeom prst="rect">
            <a:avLst/>
          </a:prstGeom>
        </p:spPr>
      </p:pic>
      <p:sp>
        <p:nvSpPr>
          <p:cNvPr id="8" name="Rectangle 7">
            <a:extLst>
              <a:ext uri="{FF2B5EF4-FFF2-40B4-BE49-F238E27FC236}">
                <a16:creationId xmlns:a16="http://schemas.microsoft.com/office/drawing/2014/main" id="{EFCB2F48-EB7E-7D8C-E3BB-630ABDEEDF13}"/>
              </a:ext>
            </a:extLst>
          </p:cNvPr>
          <p:cNvSpPr/>
          <p:nvPr/>
        </p:nvSpPr>
        <p:spPr>
          <a:xfrm>
            <a:off x="4256474" y="0"/>
            <a:ext cx="6665973" cy="6025162"/>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1A1333E-FFDA-9EA1-4B38-339DCE5DBE0A}"/>
              </a:ext>
            </a:extLst>
          </p:cNvPr>
          <p:cNvPicPr>
            <a:picLocks noChangeAspect="1"/>
          </p:cNvPicPr>
          <p:nvPr/>
        </p:nvPicPr>
        <p:blipFill rotWithShape="1">
          <a:blip r:embed="rId2">
            <a:extLst>
              <a:ext uri="{28A0092B-C50C-407E-A947-70E740481C1C}">
                <a14:useLocalDpi xmlns:a14="http://schemas.microsoft.com/office/drawing/2010/main" val="0"/>
              </a:ext>
            </a:extLst>
          </a:blip>
          <a:srcRect l="89088"/>
          <a:stretch/>
        </p:blipFill>
        <p:spPr>
          <a:xfrm flipH="1">
            <a:off x="10992465" y="0"/>
            <a:ext cx="1199536" cy="6858000"/>
          </a:xfrm>
          <a:prstGeom prst="rect">
            <a:avLst/>
          </a:prstGeom>
        </p:spPr>
      </p:pic>
      <p:sp>
        <p:nvSpPr>
          <p:cNvPr id="10" name="Rectangle 9">
            <a:extLst>
              <a:ext uri="{FF2B5EF4-FFF2-40B4-BE49-F238E27FC236}">
                <a16:creationId xmlns:a16="http://schemas.microsoft.com/office/drawing/2014/main" id="{60278153-AD12-15EE-9D05-70CB5337FF30}"/>
              </a:ext>
            </a:extLst>
          </p:cNvPr>
          <p:cNvSpPr/>
          <p:nvPr/>
        </p:nvSpPr>
        <p:spPr>
          <a:xfrm>
            <a:off x="10923639" y="-12291"/>
            <a:ext cx="127820" cy="68702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2D955B-4950-6656-0B54-0D359F2700AE}"/>
              </a:ext>
            </a:extLst>
          </p:cNvPr>
          <p:cNvSpPr txBox="1"/>
          <p:nvPr/>
        </p:nvSpPr>
        <p:spPr>
          <a:xfrm>
            <a:off x="4374758" y="1142745"/>
            <a:ext cx="6429403" cy="3108543"/>
          </a:xfrm>
          <a:prstGeom prst="rect">
            <a:avLst/>
          </a:prstGeom>
          <a:noFill/>
        </p:spPr>
        <p:txBody>
          <a:bodyPr wrap="square" rtlCol="0">
            <a:spAutoFit/>
          </a:bodyPr>
          <a:lstStyle/>
          <a:p>
            <a:pPr algn="r"/>
            <a:endParaRPr lang="fa-IR" sz="2800" b="1" dirty="0">
              <a:solidFill>
                <a:schemeClr val="bg1"/>
              </a:solidFill>
              <a:cs typeface="B Nazanin" panose="00000400000000000000" pitchFamily="2" charset="-78"/>
            </a:endParaRPr>
          </a:p>
          <a:p>
            <a:pPr algn="r"/>
            <a:r>
              <a:rPr lang="fa-IR" sz="2800" b="1" dirty="0">
                <a:solidFill>
                  <a:schemeClr val="bg1"/>
                </a:solidFill>
                <a:cs typeface="B Nazanin" panose="00000400000000000000" pitchFamily="2" charset="-78"/>
              </a:rPr>
              <a:t>چنانچه مالک خودداری کننده از همکاری، اقدام به تخلیه واحد متعلق به خود به منظور تجدید بنا نکند، به درخواست مدیر یا مدیران مجموعه، رئیس دادگستری یا رئیس مجتمع قضایی محل با احراز تامین مسکن مناسب برای وی توسط سایر مالکان، دستور تخلیه آپارتمان یاد شده را صادر خواهد کرد.</a:t>
            </a:r>
            <a:endParaRPr lang="en-US" sz="2800" b="1" dirty="0">
              <a:solidFill>
                <a:schemeClr val="bg1"/>
              </a:solidFill>
              <a:cs typeface="B Nazanin" panose="00000400000000000000" pitchFamily="2" charset="-78"/>
            </a:endParaRPr>
          </a:p>
        </p:txBody>
      </p:sp>
      <p:sp>
        <p:nvSpPr>
          <p:cNvPr id="3" name="Rectangle 2">
            <a:extLst>
              <a:ext uri="{FF2B5EF4-FFF2-40B4-BE49-F238E27FC236}">
                <a16:creationId xmlns:a16="http://schemas.microsoft.com/office/drawing/2014/main" id="{4DA41B03-8BE4-EC44-96E6-F07D1F29E2DF}"/>
              </a:ext>
            </a:extLst>
          </p:cNvPr>
          <p:cNvSpPr/>
          <p:nvPr/>
        </p:nvSpPr>
        <p:spPr>
          <a:xfrm>
            <a:off x="11050267" y="1713344"/>
            <a:ext cx="1140541"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000" b="1" dirty="0">
                <a:cs typeface="B Bardiya" panose="00000400000000000000" pitchFamily="2" charset="-78"/>
              </a:rPr>
              <a:t>تبصره2</a:t>
            </a:r>
            <a:endParaRPr lang="en-US" sz="2000" b="1" dirty="0">
              <a:cs typeface="B Bardiya" panose="00000400000000000000" pitchFamily="2" charset="-78"/>
            </a:endParaRPr>
          </a:p>
        </p:txBody>
      </p:sp>
      <p:sp>
        <p:nvSpPr>
          <p:cNvPr id="5" name="Rectangle 4">
            <a:extLst>
              <a:ext uri="{FF2B5EF4-FFF2-40B4-BE49-F238E27FC236}">
                <a16:creationId xmlns:a16="http://schemas.microsoft.com/office/drawing/2014/main" id="{7FAF115D-23C4-5A91-6411-C1B652A4A046}"/>
              </a:ext>
            </a:extLst>
          </p:cNvPr>
          <p:cNvSpPr/>
          <p:nvPr/>
        </p:nvSpPr>
        <p:spPr>
          <a:xfrm>
            <a:off x="0" y="6012872"/>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849E9A-7A39-F375-4349-ACFE7D51FFCB}"/>
              </a:ext>
            </a:extLst>
          </p:cNvPr>
          <p:cNvSpPr/>
          <p:nvPr/>
        </p:nvSpPr>
        <p:spPr>
          <a:xfrm>
            <a:off x="4128654" y="0"/>
            <a:ext cx="127820" cy="6857999"/>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03053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202218" y="0"/>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F1452F-2A7A-CBED-8F25-F5B63AC38AB1}"/>
              </a:ext>
            </a:extLst>
          </p:cNvPr>
          <p:cNvSpPr/>
          <p:nvPr/>
        </p:nvSpPr>
        <p:spPr>
          <a:xfrm>
            <a:off x="6345093" y="0"/>
            <a:ext cx="5846908"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ماده14</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5800437" y="1053266"/>
            <a:ext cx="6320126" cy="4893647"/>
          </a:xfrm>
          <a:prstGeom prst="rect">
            <a:avLst/>
          </a:prstGeom>
          <a:noFill/>
        </p:spPr>
        <p:txBody>
          <a:bodyPr wrap="square" rtlCol="0">
            <a:spAutoFit/>
          </a:bodyPr>
          <a:lstStyle/>
          <a:p>
            <a:pPr algn="r"/>
            <a:r>
              <a:rPr lang="fa-IR" sz="2400" b="1" dirty="0">
                <a:solidFill>
                  <a:schemeClr val="bg1"/>
                </a:solidFill>
                <a:cs typeface="B Nazanin" panose="00000400000000000000" pitchFamily="2" charset="-78"/>
              </a:rPr>
              <a:t>مدیر یا مدیران مکلفند تمام بنا را به عنوان یک</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واحد در مقابل آتش سوزی بیمه نمایند. سهم هر یک</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از مالکان به تناسب سطح زیربنای اختصاصی آنها به</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وسیله مدیر یا مدیران تعیین و از شرکاء اخذ و به</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بیمه گر پرداخت خواهد شد. در صورت عدم اقدام و</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بروز آتش سوزی، مدیر یا مدیران مسوول جبران</a:t>
            </a:r>
          </a:p>
          <a:p>
            <a:pPr algn="r"/>
            <a:endParaRPr lang="fa-IR" sz="2400" b="1" dirty="0">
              <a:solidFill>
                <a:schemeClr val="bg1"/>
              </a:solidFill>
              <a:cs typeface="B Nazanin" panose="00000400000000000000" pitchFamily="2" charset="-78"/>
            </a:endParaRPr>
          </a:p>
          <a:p>
            <a:pPr algn="r"/>
            <a:r>
              <a:rPr lang="fa-IR" sz="2400" b="1" dirty="0">
                <a:solidFill>
                  <a:schemeClr val="bg1"/>
                </a:solidFill>
                <a:cs typeface="B Nazanin" panose="00000400000000000000" pitchFamily="2" charset="-78"/>
              </a:rPr>
              <a:t> خسارت وارده می باشند.</a:t>
            </a:r>
            <a:endParaRPr lang="fa-IR" sz="2400" b="1" dirty="0">
              <a:solidFill>
                <a:schemeClr val="accent2"/>
              </a:solidFill>
              <a:cs typeface="B Nazanin" panose="00000400000000000000" pitchFamily="2" charset="-78"/>
            </a:endParaRPr>
          </a:p>
        </p:txBody>
      </p:sp>
      <p:sp>
        <p:nvSpPr>
          <p:cNvPr id="15" name="Rectangle 14">
            <a:extLst>
              <a:ext uri="{FF2B5EF4-FFF2-40B4-BE49-F238E27FC236}">
                <a16:creationId xmlns:a16="http://schemas.microsoft.com/office/drawing/2014/main" id="{715FACBB-49B5-6A15-CB6A-E82469B9D900}"/>
              </a:ext>
            </a:extLst>
          </p:cNvPr>
          <p:cNvSpPr/>
          <p:nvPr/>
        </p:nvSpPr>
        <p:spPr>
          <a:xfrm>
            <a:off x="5334000" y="6359925"/>
            <a:ext cx="6858000" cy="147484"/>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67326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5C838F-BA52-DBDE-5E45-F31FF6F07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054346" cy="6858000"/>
          </a:xfrm>
          <a:prstGeom prst="rect">
            <a:avLst/>
          </a:prstGeom>
        </p:spPr>
      </p:pic>
      <p:sp>
        <p:nvSpPr>
          <p:cNvPr id="8" name="Rectangle 7">
            <a:extLst>
              <a:ext uri="{FF2B5EF4-FFF2-40B4-BE49-F238E27FC236}">
                <a16:creationId xmlns:a16="http://schemas.microsoft.com/office/drawing/2014/main" id="{EFCB2F48-EB7E-7D8C-E3BB-630ABDEEDF13}"/>
              </a:ext>
            </a:extLst>
          </p:cNvPr>
          <p:cNvSpPr/>
          <p:nvPr/>
        </p:nvSpPr>
        <p:spPr>
          <a:xfrm>
            <a:off x="882073" y="988291"/>
            <a:ext cx="11172273" cy="3195782"/>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0278153-AD12-15EE-9D05-70CB5337FF30}"/>
              </a:ext>
            </a:extLst>
          </p:cNvPr>
          <p:cNvSpPr/>
          <p:nvPr/>
        </p:nvSpPr>
        <p:spPr>
          <a:xfrm>
            <a:off x="12054346" y="0"/>
            <a:ext cx="127820" cy="68702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2D955B-4950-6656-0B54-0D359F2700AE}"/>
              </a:ext>
            </a:extLst>
          </p:cNvPr>
          <p:cNvSpPr txBox="1"/>
          <p:nvPr/>
        </p:nvSpPr>
        <p:spPr>
          <a:xfrm>
            <a:off x="951489" y="1660684"/>
            <a:ext cx="11033439" cy="2246769"/>
          </a:xfrm>
          <a:prstGeom prst="rect">
            <a:avLst/>
          </a:prstGeom>
          <a:noFill/>
        </p:spPr>
        <p:txBody>
          <a:bodyPr wrap="square" rtlCol="0">
            <a:spAutoFit/>
          </a:bodyPr>
          <a:lstStyle/>
          <a:p>
            <a:pPr algn="r"/>
            <a:r>
              <a:rPr lang="fa-IR" sz="2800" b="1" dirty="0">
                <a:solidFill>
                  <a:schemeClr val="accent2"/>
                </a:solidFill>
                <a:effectLst>
                  <a:outerShdw blurRad="38100" dist="38100" dir="2700000" algn="tl">
                    <a:srgbClr val="000000">
                      <a:alpha val="43137"/>
                    </a:srgbClr>
                  </a:outerShdw>
                </a:effectLst>
                <a:cs typeface="B Nazanin" panose="00000400000000000000" pitchFamily="2" charset="-78"/>
              </a:rPr>
              <a:t>نکته</a:t>
            </a:r>
            <a:r>
              <a:rPr lang="fa-IR" sz="2800" dirty="0">
                <a:solidFill>
                  <a:schemeClr val="accent2"/>
                </a:solidFill>
                <a:cs typeface="B Nazanin" panose="00000400000000000000" pitchFamily="2" charset="-78"/>
              </a:rPr>
              <a:t>: طبق ماده 20 آیین نامه اجرایی قانون تملک آپارتمان ها:</a:t>
            </a:r>
          </a:p>
          <a:p>
            <a:pPr algn="r"/>
            <a:endParaRPr lang="fa-IR" sz="2800" dirty="0">
              <a:solidFill>
                <a:schemeClr val="bg1"/>
              </a:solidFill>
              <a:cs typeface="B Nazanin" panose="00000400000000000000" pitchFamily="2" charset="-78"/>
            </a:endParaRPr>
          </a:p>
          <a:p>
            <a:pPr algn="r"/>
            <a:r>
              <a:rPr lang="fa-IR" sz="2800" dirty="0">
                <a:solidFill>
                  <a:schemeClr val="accent2">
                    <a:lumMod val="40000"/>
                    <a:lumOff val="60000"/>
                  </a:schemeClr>
                </a:solidFill>
                <a:cs typeface="B Nazanin" panose="00000400000000000000" pitchFamily="2" charset="-78"/>
              </a:rPr>
              <a:t>"سهم هر شریک از حق بیمه به وسیله مدیر تعیین و از شرکاء اخذ و به بیمه گر پرداخت خواهد شد."</a:t>
            </a:r>
          </a:p>
          <a:p>
            <a:pPr algn="r"/>
            <a:endParaRPr lang="fa-IR" sz="2800" dirty="0">
              <a:solidFill>
                <a:schemeClr val="bg1"/>
              </a:solidFill>
              <a:cs typeface="B Nazanin" panose="00000400000000000000" pitchFamily="2" charset="-78"/>
            </a:endParaRPr>
          </a:p>
          <a:p>
            <a:pPr algn="r"/>
            <a:endParaRPr lang="fa-IR" sz="2800" dirty="0">
              <a:solidFill>
                <a:schemeClr val="bg1"/>
              </a:solidFill>
              <a:cs typeface="B Nazanin" panose="00000400000000000000" pitchFamily="2" charset="-78"/>
            </a:endParaRPr>
          </a:p>
        </p:txBody>
      </p:sp>
      <p:sp>
        <p:nvSpPr>
          <p:cNvPr id="5" name="Rectangle 4">
            <a:extLst>
              <a:ext uri="{FF2B5EF4-FFF2-40B4-BE49-F238E27FC236}">
                <a16:creationId xmlns:a16="http://schemas.microsoft.com/office/drawing/2014/main" id="{7FAF115D-23C4-5A91-6411-C1B652A4A046}"/>
              </a:ext>
            </a:extLst>
          </p:cNvPr>
          <p:cNvSpPr/>
          <p:nvPr/>
        </p:nvSpPr>
        <p:spPr>
          <a:xfrm>
            <a:off x="9834" y="4109945"/>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849E9A-7A39-F375-4349-ACFE7D51FFCB}"/>
              </a:ext>
            </a:extLst>
          </p:cNvPr>
          <p:cNvSpPr/>
          <p:nvPr/>
        </p:nvSpPr>
        <p:spPr>
          <a:xfrm>
            <a:off x="754253" y="0"/>
            <a:ext cx="127820" cy="6857999"/>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DC76193-D7E9-20D3-B0CE-B4C8A405255F}"/>
              </a:ext>
            </a:extLst>
          </p:cNvPr>
          <p:cNvSpPr/>
          <p:nvPr/>
        </p:nvSpPr>
        <p:spPr>
          <a:xfrm>
            <a:off x="9834" y="763563"/>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53990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5C838F-BA52-DBDE-5E45-F31FF6F07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8" name="Rectangle 7">
            <a:extLst>
              <a:ext uri="{FF2B5EF4-FFF2-40B4-BE49-F238E27FC236}">
                <a16:creationId xmlns:a16="http://schemas.microsoft.com/office/drawing/2014/main" id="{EFCB2F48-EB7E-7D8C-E3BB-630ABDEEDF13}"/>
              </a:ext>
            </a:extLst>
          </p:cNvPr>
          <p:cNvSpPr/>
          <p:nvPr/>
        </p:nvSpPr>
        <p:spPr>
          <a:xfrm>
            <a:off x="882073" y="1569441"/>
            <a:ext cx="11172273" cy="3196523"/>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0278153-AD12-15EE-9D05-70CB5337FF30}"/>
              </a:ext>
            </a:extLst>
          </p:cNvPr>
          <p:cNvSpPr/>
          <p:nvPr/>
        </p:nvSpPr>
        <p:spPr>
          <a:xfrm>
            <a:off x="12054346" y="0"/>
            <a:ext cx="127820" cy="68702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2D955B-4950-6656-0B54-0D359F2700AE}"/>
              </a:ext>
            </a:extLst>
          </p:cNvPr>
          <p:cNvSpPr txBox="1"/>
          <p:nvPr/>
        </p:nvSpPr>
        <p:spPr>
          <a:xfrm>
            <a:off x="858543" y="1823950"/>
            <a:ext cx="10972799" cy="2677656"/>
          </a:xfrm>
          <a:prstGeom prst="rect">
            <a:avLst/>
          </a:prstGeom>
          <a:noFill/>
        </p:spPr>
        <p:txBody>
          <a:bodyPr wrap="square" rtlCol="0">
            <a:spAutoFit/>
          </a:bodyPr>
          <a:lstStyle/>
          <a:p>
            <a:pPr algn="r"/>
            <a:r>
              <a:rPr lang="fa-IR" sz="2800" dirty="0">
                <a:solidFill>
                  <a:schemeClr val="accent2"/>
                </a:solidFill>
                <a:cs typeface="B Nazanin" panose="00000400000000000000" pitchFamily="2" charset="-78"/>
              </a:rPr>
              <a:t>از دیگر وظایف و اختیارات مدیر ساختمان می توان به موارد ذیل اشاره نمود:</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مدیر یا مدیران ساختمان مسوول حفظ و اداره ساختمان و اجرای تصمیمات مجمع عمومی می باشند</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مدیر یا مدیران، امین شرکاء بوده و نمی توانند فرد دیگری را به جای خود انتخاب نمایند.</a:t>
            </a:r>
          </a:p>
          <a:p>
            <a:pPr algn="r"/>
            <a:endParaRPr lang="fa-IR" sz="2800" dirty="0">
              <a:solidFill>
                <a:schemeClr val="bg1"/>
              </a:solidFill>
              <a:cs typeface="B Nazanin" panose="00000400000000000000" pitchFamily="2" charset="-78"/>
            </a:endParaRPr>
          </a:p>
        </p:txBody>
      </p:sp>
      <p:sp>
        <p:nvSpPr>
          <p:cNvPr id="5" name="Rectangle 4">
            <a:extLst>
              <a:ext uri="{FF2B5EF4-FFF2-40B4-BE49-F238E27FC236}">
                <a16:creationId xmlns:a16="http://schemas.microsoft.com/office/drawing/2014/main" id="{7FAF115D-23C4-5A91-6411-C1B652A4A046}"/>
              </a:ext>
            </a:extLst>
          </p:cNvPr>
          <p:cNvSpPr/>
          <p:nvPr/>
        </p:nvSpPr>
        <p:spPr>
          <a:xfrm>
            <a:off x="9834" y="4748867"/>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849E9A-7A39-F375-4349-ACFE7D51FFCB}"/>
              </a:ext>
            </a:extLst>
          </p:cNvPr>
          <p:cNvSpPr/>
          <p:nvPr/>
        </p:nvSpPr>
        <p:spPr>
          <a:xfrm>
            <a:off x="754253" y="0"/>
            <a:ext cx="127820" cy="6857999"/>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A7A5F8E-9255-7E7B-5012-1F353CD2CA68}"/>
              </a:ext>
            </a:extLst>
          </p:cNvPr>
          <p:cNvSpPr/>
          <p:nvPr/>
        </p:nvSpPr>
        <p:spPr>
          <a:xfrm>
            <a:off x="11929207" y="2835187"/>
            <a:ext cx="148669" cy="1754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0FDB9F5-D65E-5FCF-55AF-CF636B8D50BC}"/>
              </a:ext>
            </a:extLst>
          </p:cNvPr>
          <p:cNvSpPr/>
          <p:nvPr/>
        </p:nvSpPr>
        <p:spPr>
          <a:xfrm>
            <a:off x="11905677" y="3717638"/>
            <a:ext cx="148669" cy="1754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6C80B3A-C4CB-851F-75CE-581046C0F52A}"/>
              </a:ext>
            </a:extLst>
          </p:cNvPr>
          <p:cNvSpPr/>
          <p:nvPr/>
        </p:nvSpPr>
        <p:spPr>
          <a:xfrm>
            <a:off x="9834" y="1351334"/>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58645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5C838F-BA52-DBDE-5E45-F31FF6F07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064770" cy="6858000"/>
          </a:xfrm>
          <a:prstGeom prst="rect">
            <a:avLst/>
          </a:prstGeom>
        </p:spPr>
      </p:pic>
      <p:sp>
        <p:nvSpPr>
          <p:cNvPr id="8" name="Rectangle 7">
            <a:extLst>
              <a:ext uri="{FF2B5EF4-FFF2-40B4-BE49-F238E27FC236}">
                <a16:creationId xmlns:a16="http://schemas.microsoft.com/office/drawing/2014/main" id="{EFCB2F48-EB7E-7D8C-E3BB-630ABDEEDF13}"/>
              </a:ext>
            </a:extLst>
          </p:cNvPr>
          <p:cNvSpPr/>
          <p:nvPr/>
        </p:nvSpPr>
        <p:spPr>
          <a:xfrm>
            <a:off x="882073" y="1569441"/>
            <a:ext cx="11172273" cy="3787650"/>
          </a:xfrm>
          <a:prstGeom prst="rect">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0278153-AD12-15EE-9D05-70CB5337FF30}"/>
              </a:ext>
            </a:extLst>
          </p:cNvPr>
          <p:cNvSpPr/>
          <p:nvPr/>
        </p:nvSpPr>
        <p:spPr>
          <a:xfrm>
            <a:off x="12054346" y="0"/>
            <a:ext cx="127820" cy="68702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2D955B-4950-6656-0B54-0D359F2700AE}"/>
              </a:ext>
            </a:extLst>
          </p:cNvPr>
          <p:cNvSpPr txBox="1"/>
          <p:nvPr/>
        </p:nvSpPr>
        <p:spPr>
          <a:xfrm>
            <a:off x="945983" y="1432583"/>
            <a:ext cx="10895784" cy="3539430"/>
          </a:xfrm>
          <a:prstGeom prst="rect">
            <a:avLst/>
          </a:prstGeom>
          <a:noFill/>
        </p:spPr>
        <p:txBody>
          <a:bodyPr wrap="square" rtlCol="0">
            <a:spAutoFit/>
          </a:bodyPr>
          <a:lstStyle/>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در کلیه ساختمان های مشمول قانون تملک آپارتمان ها که بیش از ده آپارتمان داشته باشد، مدیر یا مدیران مکلفند برای حفظ و نگهداری و همچنین تنظیف قسمت های مشترک و انجام سایر امور مورد نیاز بنا، دربانی استخدام نمایند.</a:t>
            </a:r>
          </a:p>
          <a:p>
            <a:pPr algn="r"/>
            <a:endParaRPr lang="fa-IR" sz="2800" dirty="0">
              <a:solidFill>
                <a:schemeClr val="bg1"/>
              </a:solidFill>
              <a:cs typeface="B Nazanin" panose="00000400000000000000" pitchFamily="2" charset="-78"/>
            </a:endParaRPr>
          </a:p>
          <a:p>
            <a:pPr algn="r"/>
            <a:r>
              <a:rPr lang="fa-IR" sz="2800" dirty="0">
                <a:solidFill>
                  <a:schemeClr val="bg1"/>
                </a:solidFill>
                <a:cs typeface="B Nazanin" panose="00000400000000000000" pitchFamily="2" charset="-78"/>
              </a:rPr>
              <a:t>مدیر یا مدیران مکلفند میزان هزینه های مستمر و مخارج متعلق به هر شریک و نحوه پرداخت آن را قبل یا بعد از پرداخت هزینه به وسیله نامه سفارشی به نشانی قسمت اختصاصی یا نشانی تعیین شده از طرف شریک به او اعلام نمایند.</a:t>
            </a:r>
            <a:endParaRPr lang="en-US" sz="2800" dirty="0">
              <a:solidFill>
                <a:schemeClr val="bg1"/>
              </a:solidFill>
              <a:cs typeface="B Nazanin" panose="00000400000000000000" pitchFamily="2" charset="-78"/>
            </a:endParaRPr>
          </a:p>
        </p:txBody>
      </p:sp>
      <p:sp>
        <p:nvSpPr>
          <p:cNvPr id="5" name="Rectangle 4">
            <a:extLst>
              <a:ext uri="{FF2B5EF4-FFF2-40B4-BE49-F238E27FC236}">
                <a16:creationId xmlns:a16="http://schemas.microsoft.com/office/drawing/2014/main" id="{7FAF115D-23C4-5A91-6411-C1B652A4A046}"/>
              </a:ext>
            </a:extLst>
          </p:cNvPr>
          <p:cNvSpPr/>
          <p:nvPr/>
        </p:nvSpPr>
        <p:spPr>
          <a:xfrm>
            <a:off x="9834" y="5330576"/>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849E9A-7A39-F375-4349-ACFE7D51FFCB}"/>
              </a:ext>
            </a:extLst>
          </p:cNvPr>
          <p:cNvSpPr/>
          <p:nvPr/>
        </p:nvSpPr>
        <p:spPr>
          <a:xfrm>
            <a:off x="754253" y="0"/>
            <a:ext cx="127820" cy="6857999"/>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5E97E38-FAF1-3022-3620-16177F57AD1A}"/>
              </a:ext>
            </a:extLst>
          </p:cNvPr>
          <p:cNvSpPr/>
          <p:nvPr/>
        </p:nvSpPr>
        <p:spPr>
          <a:xfrm>
            <a:off x="11905677" y="1985448"/>
            <a:ext cx="148669" cy="1754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0FDB9F5-D65E-5FCF-55AF-CF636B8D50BC}"/>
              </a:ext>
            </a:extLst>
          </p:cNvPr>
          <p:cNvSpPr/>
          <p:nvPr/>
        </p:nvSpPr>
        <p:spPr>
          <a:xfrm>
            <a:off x="11916101" y="3730379"/>
            <a:ext cx="148669" cy="175491"/>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4244CFA-DC13-3916-1A31-1D29D8CCBD6C}"/>
              </a:ext>
            </a:extLst>
          </p:cNvPr>
          <p:cNvSpPr/>
          <p:nvPr/>
        </p:nvSpPr>
        <p:spPr>
          <a:xfrm>
            <a:off x="0" y="1359480"/>
            <a:ext cx="12182166" cy="212437"/>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05060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44D3721-317C-7115-20BE-4D41AEF5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6858000"/>
          </a:xfrm>
          <a:prstGeom prst="rect">
            <a:avLst/>
          </a:prstGeom>
        </p:spPr>
      </p:pic>
      <p:sp>
        <p:nvSpPr>
          <p:cNvPr id="11" name="Rectangle 10">
            <a:extLst>
              <a:ext uri="{FF2B5EF4-FFF2-40B4-BE49-F238E27FC236}">
                <a16:creationId xmlns:a16="http://schemas.microsoft.com/office/drawing/2014/main" id="{7125C032-EAB2-69BC-F625-BEE06650FB37}"/>
              </a:ext>
            </a:extLst>
          </p:cNvPr>
          <p:cNvSpPr/>
          <p:nvPr/>
        </p:nvSpPr>
        <p:spPr>
          <a:xfrm>
            <a:off x="6858000" y="0"/>
            <a:ext cx="142875" cy="6858000"/>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F1452F-2A7A-CBED-8F25-F5B63AC38AB1}"/>
              </a:ext>
            </a:extLst>
          </p:cNvPr>
          <p:cNvSpPr/>
          <p:nvPr/>
        </p:nvSpPr>
        <p:spPr>
          <a:xfrm>
            <a:off x="7000875" y="0"/>
            <a:ext cx="5191125" cy="6858000"/>
          </a:xfrm>
          <a:prstGeom prst="rect">
            <a:avLst/>
          </a:prstGeom>
          <a:solidFill>
            <a:srgbClr val="050507"/>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43AD07F-4B36-509A-D4A4-864593D0C8AF}"/>
              </a:ext>
            </a:extLst>
          </p:cNvPr>
          <p:cNvSpPr/>
          <p:nvPr/>
        </p:nvSpPr>
        <p:spPr>
          <a:xfrm>
            <a:off x="10982325" y="0"/>
            <a:ext cx="1209676" cy="600075"/>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400" dirty="0">
                <a:cs typeface="B Bardiya" panose="00000400000000000000" pitchFamily="2" charset="-78"/>
              </a:rPr>
              <a:t>ماده15</a:t>
            </a:r>
            <a:endParaRPr lang="en-US" sz="2400" dirty="0">
              <a:cs typeface="B Bardiya" panose="00000400000000000000" pitchFamily="2" charset="-78"/>
            </a:endParaRPr>
          </a:p>
        </p:txBody>
      </p:sp>
      <p:sp>
        <p:nvSpPr>
          <p:cNvPr id="10" name="TextBox 9">
            <a:extLst>
              <a:ext uri="{FF2B5EF4-FFF2-40B4-BE49-F238E27FC236}">
                <a16:creationId xmlns:a16="http://schemas.microsoft.com/office/drawing/2014/main" id="{B640E387-BBAC-5534-337E-88B0AD080318}"/>
              </a:ext>
            </a:extLst>
          </p:cNvPr>
          <p:cNvSpPr txBox="1"/>
          <p:nvPr/>
        </p:nvSpPr>
        <p:spPr>
          <a:xfrm>
            <a:off x="7000874" y="2768385"/>
            <a:ext cx="4938713" cy="461665"/>
          </a:xfrm>
          <a:prstGeom prst="rect">
            <a:avLst/>
          </a:prstGeom>
          <a:noFill/>
        </p:spPr>
        <p:txBody>
          <a:bodyPr wrap="square" rtlCol="0">
            <a:spAutoFit/>
          </a:bodyPr>
          <a:lstStyle/>
          <a:p>
            <a:pPr algn="r"/>
            <a:r>
              <a:rPr lang="fa-IR" sz="2400" dirty="0">
                <a:solidFill>
                  <a:schemeClr val="bg1"/>
                </a:solidFill>
                <a:cs typeface="B Nazanin" panose="00000400000000000000" pitchFamily="2" charset="-78"/>
              </a:rPr>
              <a:t> ثبت اساسنامه موضوع این قانون الزامی نیست.</a:t>
            </a:r>
            <a:endParaRPr lang="fa-IR" sz="2400" dirty="0">
              <a:solidFill>
                <a:schemeClr val="accent2"/>
              </a:solidFill>
              <a:cs typeface="B Nazanin" panose="00000400000000000000" pitchFamily="2" charset="-78"/>
            </a:endParaRPr>
          </a:p>
        </p:txBody>
      </p:sp>
      <p:sp>
        <p:nvSpPr>
          <p:cNvPr id="15" name="Rectangle 14">
            <a:extLst>
              <a:ext uri="{FF2B5EF4-FFF2-40B4-BE49-F238E27FC236}">
                <a16:creationId xmlns:a16="http://schemas.microsoft.com/office/drawing/2014/main" id="{715FACBB-49B5-6A15-CB6A-E82469B9D900}"/>
              </a:ext>
            </a:extLst>
          </p:cNvPr>
          <p:cNvSpPr/>
          <p:nvPr/>
        </p:nvSpPr>
        <p:spPr>
          <a:xfrm>
            <a:off x="5334000" y="5860026"/>
            <a:ext cx="6858000" cy="147484"/>
          </a:xfrm>
          <a:prstGeom prst="rect">
            <a:avLst/>
          </a:prstGeom>
          <a:solidFill>
            <a:srgbClr val="C0672B"/>
          </a:solidFill>
          <a:ln>
            <a:solidFill>
              <a:srgbClr val="C06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47750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A66E9-5563-385E-728C-5CC2456ACA64}"/>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DC97118-368C-DC8A-A490-060D76BCB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572000" cy="6858000"/>
          </a:xfrm>
          <a:prstGeom prst="rect">
            <a:avLst/>
          </a:prstGeom>
        </p:spPr>
      </p:pic>
      <p:sp>
        <p:nvSpPr>
          <p:cNvPr id="3" name="Rectangle 2">
            <a:extLst>
              <a:ext uri="{FF2B5EF4-FFF2-40B4-BE49-F238E27FC236}">
                <a16:creationId xmlns:a16="http://schemas.microsoft.com/office/drawing/2014/main" id="{B32AF8F1-56BE-AC96-1DCA-4BD1E304B886}"/>
              </a:ext>
            </a:extLst>
          </p:cNvPr>
          <p:cNvSpPr/>
          <p:nvPr/>
        </p:nvSpPr>
        <p:spPr>
          <a:xfrm>
            <a:off x="-1" y="323035"/>
            <a:ext cx="12192001" cy="27991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0A704F2-9099-A777-53E7-9B3821B5FD98}"/>
              </a:ext>
            </a:extLst>
          </p:cNvPr>
          <p:cNvSpPr txBox="1"/>
          <p:nvPr/>
        </p:nvSpPr>
        <p:spPr>
          <a:xfrm>
            <a:off x="4470399" y="1582340"/>
            <a:ext cx="7620001" cy="3693319"/>
          </a:xfrm>
          <a:prstGeom prst="rect">
            <a:avLst/>
          </a:prstGeom>
          <a:noFill/>
        </p:spPr>
        <p:txBody>
          <a:bodyPr wrap="square" rtlCol="0">
            <a:spAutoFit/>
          </a:bodyPr>
          <a:lstStyle/>
          <a:p>
            <a:pPr algn="r" rtl="1"/>
            <a:r>
              <a:rPr lang="fa-IR" sz="2600" b="1" dirty="0">
                <a:solidFill>
                  <a:schemeClr val="accent2"/>
                </a:solidFill>
                <a:cs typeface="B Nazanin" panose="00000400000000000000" pitchFamily="2" charset="-78"/>
              </a:rPr>
              <a:t>نکته: </a:t>
            </a:r>
            <a:r>
              <a:rPr lang="fa-IR" sz="2600" dirty="0">
                <a:solidFill>
                  <a:schemeClr val="bg1"/>
                </a:solidFill>
                <a:cs typeface="B Nazanin" panose="00000400000000000000" pitchFamily="2" charset="-78"/>
              </a:rPr>
              <a:t>در مورد حفظ و نگهداری و تعمیر بنا؛ ماده 26 آیین نامه اجرایی</a:t>
            </a:r>
          </a:p>
          <a:p>
            <a:pPr algn="r" rtl="1"/>
            <a:r>
              <a:rPr lang="fa-IR" sz="2600" dirty="0">
                <a:solidFill>
                  <a:schemeClr val="bg1"/>
                </a:solidFill>
                <a:cs typeface="B Nazanin" panose="00000400000000000000" pitchFamily="2" charset="-78"/>
              </a:rPr>
              <a:t> </a:t>
            </a:r>
          </a:p>
          <a:p>
            <a:pPr algn="r" rtl="1"/>
            <a:r>
              <a:rPr lang="fa-IR" sz="2600" dirty="0">
                <a:solidFill>
                  <a:schemeClr val="bg1"/>
                </a:solidFill>
                <a:cs typeface="B Nazanin" panose="00000400000000000000" pitchFamily="2" charset="-78"/>
              </a:rPr>
              <a:t>قانون تملک آپارتمان ها اینچنین مقرر داشته: " در صورتی که بین شرکاء</a:t>
            </a:r>
          </a:p>
          <a:p>
            <a:pPr algn="r" rtl="1"/>
            <a:endParaRPr lang="fa-IR" sz="2600" dirty="0">
              <a:solidFill>
                <a:schemeClr val="bg1"/>
              </a:solidFill>
              <a:cs typeface="B Nazanin" panose="00000400000000000000" pitchFamily="2" charset="-78"/>
            </a:endParaRPr>
          </a:p>
          <a:p>
            <a:pPr algn="r" rtl="1"/>
            <a:r>
              <a:rPr lang="fa-IR" sz="2600" dirty="0">
                <a:solidFill>
                  <a:schemeClr val="bg1"/>
                </a:solidFill>
                <a:cs typeface="B Nazanin" panose="00000400000000000000" pitchFamily="2" charset="-78"/>
              </a:rPr>
              <a:t> توافقشده باشد که هزینه نگهداری و عملیات یک جزء از تاسیسات فقط</a:t>
            </a:r>
          </a:p>
          <a:p>
            <a:pPr algn="r" rtl="1"/>
            <a:r>
              <a:rPr lang="fa-IR" sz="2600" dirty="0">
                <a:solidFill>
                  <a:schemeClr val="bg1"/>
                </a:solidFill>
                <a:cs typeface="B Nazanin" panose="00000400000000000000" pitchFamily="2" charset="-78"/>
              </a:rPr>
              <a:t> </a:t>
            </a:r>
          </a:p>
          <a:p>
            <a:pPr algn="r" rtl="1"/>
            <a:r>
              <a:rPr lang="fa-IR" sz="2600" dirty="0">
                <a:solidFill>
                  <a:schemeClr val="bg1"/>
                </a:solidFill>
                <a:cs typeface="B Nazanin" panose="00000400000000000000" pitchFamily="2" charset="-78"/>
              </a:rPr>
              <a:t>به عهده بعضی از شرکاء باشد، فقط همین شرکاء ملزم به انجام آن بوده</a:t>
            </a:r>
          </a:p>
          <a:p>
            <a:pPr algn="r" rtl="1"/>
            <a:r>
              <a:rPr lang="fa-IR" sz="2600" dirty="0">
                <a:solidFill>
                  <a:schemeClr val="bg1"/>
                </a:solidFill>
                <a:cs typeface="B Nazanin" panose="00000400000000000000" pitchFamily="2" charset="-78"/>
              </a:rPr>
              <a:t> </a:t>
            </a:r>
          </a:p>
          <a:p>
            <a:pPr algn="r" rtl="1"/>
            <a:r>
              <a:rPr lang="fa-IR" sz="2600" dirty="0">
                <a:solidFill>
                  <a:schemeClr val="bg1"/>
                </a:solidFill>
                <a:cs typeface="B Nazanin" panose="00000400000000000000" pitchFamily="2" charset="-78"/>
              </a:rPr>
              <a:t>و در تصمیمات مربوط به این هزینه ها تعیین تکلیف خواهند نمود.</a:t>
            </a:r>
          </a:p>
        </p:txBody>
      </p:sp>
      <p:sp>
        <p:nvSpPr>
          <p:cNvPr id="8" name="Rectangle 7">
            <a:extLst>
              <a:ext uri="{FF2B5EF4-FFF2-40B4-BE49-F238E27FC236}">
                <a16:creationId xmlns:a16="http://schemas.microsoft.com/office/drawing/2014/main" id="{3BE89498-4A5C-E1FA-C05D-6BAFF0992E97}"/>
              </a:ext>
            </a:extLst>
          </p:cNvPr>
          <p:cNvSpPr/>
          <p:nvPr/>
        </p:nvSpPr>
        <p:spPr>
          <a:xfrm>
            <a:off x="4473676" y="0"/>
            <a:ext cx="98323" cy="68580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D281F19-B2E0-BA1B-CAE3-CDFD4CD03CCB}"/>
              </a:ext>
            </a:extLst>
          </p:cNvPr>
          <p:cNvSpPr/>
          <p:nvPr/>
        </p:nvSpPr>
        <p:spPr>
          <a:xfrm>
            <a:off x="0" y="6405717"/>
            <a:ext cx="12192000" cy="4571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7644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34E4BC-A670-3C18-28D0-B4F9DF948EFB}"/>
              </a:ext>
            </a:extLst>
          </p:cNvPr>
          <p:cNvSpPr/>
          <p:nvPr/>
        </p:nvSpPr>
        <p:spPr>
          <a:xfrm>
            <a:off x="0" y="0"/>
            <a:ext cx="12192000" cy="6858000"/>
          </a:xfrm>
          <a:prstGeom prst="rect">
            <a:avLst/>
          </a:prstGeom>
          <a:solidFill>
            <a:schemeClr val="tx1"/>
          </a:solidFill>
          <a:ln>
            <a:solidFill>
              <a:srgbClr val="0307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3FC2912-0EE7-A617-9D35-16639E4FBC08}"/>
              </a:ext>
            </a:extLst>
          </p:cNvPr>
          <p:cNvSpPr txBox="1"/>
          <p:nvPr/>
        </p:nvSpPr>
        <p:spPr>
          <a:xfrm>
            <a:off x="4544291" y="2466109"/>
            <a:ext cx="4484255" cy="2400657"/>
          </a:xfrm>
          <a:prstGeom prst="rect">
            <a:avLst/>
          </a:prstGeom>
          <a:noFill/>
        </p:spPr>
        <p:txBody>
          <a:bodyPr wrap="square" rtlCol="0">
            <a:spAutoFit/>
          </a:bodyPr>
          <a:lstStyle/>
          <a:p>
            <a:r>
              <a:rPr lang="fa-IR" sz="15000" dirty="0">
                <a:solidFill>
                  <a:srgbClr val="CF7332"/>
                </a:solidFill>
                <a:cs typeface="B Bardiya" panose="00000400000000000000" pitchFamily="2" charset="-78"/>
              </a:rPr>
              <a:t>پایان</a:t>
            </a:r>
            <a:endParaRPr lang="en-US" sz="15000" dirty="0">
              <a:solidFill>
                <a:srgbClr val="CF7332"/>
              </a:solidFill>
              <a:cs typeface="B Bardiya" panose="00000400000000000000" pitchFamily="2" charset="-78"/>
            </a:endParaRPr>
          </a:p>
        </p:txBody>
      </p:sp>
      <p:sp>
        <p:nvSpPr>
          <p:cNvPr id="4" name="Rectangle 3">
            <a:extLst>
              <a:ext uri="{FF2B5EF4-FFF2-40B4-BE49-F238E27FC236}">
                <a16:creationId xmlns:a16="http://schemas.microsoft.com/office/drawing/2014/main" id="{57844805-2103-D0D2-E056-B0E399D7D7CA}"/>
              </a:ext>
            </a:extLst>
          </p:cNvPr>
          <p:cNvSpPr/>
          <p:nvPr/>
        </p:nvSpPr>
        <p:spPr>
          <a:xfrm>
            <a:off x="0" y="443345"/>
            <a:ext cx="12192000" cy="230910"/>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4BE18E7-8C7A-2F60-4603-FC47DA5FA87A}"/>
              </a:ext>
            </a:extLst>
          </p:cNvPr>
          <p:cNvSpPr/>
          <p:nvPr/>
        </p:nvSpPr>
        <p:spPr>
          <a:xfrm>
            <a:off x="0" y="6317673"/>
            <a:ext cx="12192000" cy="96982"/>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95B174-0875-0DEC-AA7D-A1EBFECF8B29}"/>
              </a:ext>
            </a:extLst>
          </p:cNvPr>
          <p:cNvSpPr/>
          <p:nvPr/>
        </p:nvSpPr>
        <p:spPr>
          <a:xfrm>
            <a:off x="11000509" y="0"/>
            <a:ext cx="665018" cy="6858000"/>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C6E61C2-987A-DBC9-50AC-3CFD5E49E8C3}"/>
              </a:ext>
            </a:extLst>
          </p:cNvPr>
          <p:cNvSpPr/>
          <p:nvPr/>
        </p:nvSpPr>
        <p:spPr>
          <a:xfrm>
            <a:off x="323273" y="0"/>
            <a:ext cx="120072" cy="6858000"/>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1C1FC4E-7071-1869-7EA9-16AB945219CE}"/>
              </a:ext>
            </a:extLst>
          </p:cNvPr>
          <p:cNvSpPr/>
          <p:nvPr/>
        </p:nvSpPr>
        <p:spPr>
          <a:xfrm>
            <a:off x="706582" y="0"/>
            <a:ext cx="355600" cy="6858000"/>
          </a:xfrm>
          <a:prstGeom prst="rect">
            <a:avLst/>
          </a:prstGeom>
          <a:solidFill>
            <a:srgbClr val="CF7332"/>
          </a:solidFill>
          <a:ln>
            <a:solidFill>
              <a:srgbClr val="CF73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32610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TotalTime>
  <Words>3848</Words>
  <Application>Microsoft Office PowerPoint</Application>
  <PresentationFormat>Widescreen</PresentationFormat>
  <Paragraphs>475</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B Bardiya</vt:lpstr>
      <vt:lpstr>B Nazanin</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11</cp:revision>
  <dcterms:created xsi:type="dcterms:W3CDTF">2023-12-13T08:19:03Z</dcterms:created>
  <dcterms:modified xsi:type="dcterms:W3CDTF">2023-12-26T09:09:30Z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589231</vt:lpwstr>
  </property>
  <property fmtid="{D5CDD505-2E9C-101B-9397-08002B2CF9AE}" name="NXPowerLiteSettings" pid="3">
    <vt:lpwstr>F7000400038000</vt:lpwstr>
  </property>
  <property fmtid="{D5CDD505-2E9C-101B-9397-08002B2CF9AE}" name="NXPowerLiteVersion" pid="4">
    <vt:lpwstr>S10.0.0</vt:lpwstr>
  </property>
</Properties>
</file>