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0"/>
  </p:notesMasterIdLst>
  <p:sldIdLst>
    <p:sldId id="305" r:id="rId2"/>
    <p:sldId id="259" r:id="rId3"/>
    <p:sldId id="260" r:id="rId4"/>
    <p:sldId id="282"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3" r:id="rId26"/>
    <p:sldId id="284" r:id="rId27"/>
    <p:sldId id="285" r:id="rId28"/>
    <p:sldId id="286" r:id="rId29"/>
    <p:sldId id="287" r:id="rId30"/>
    <p:sldId id="288" r:id="rId31"/>
    <p:sldId id="289" r:id="rId32"/>
    <p:sldId id="290" r:id="rId33"/>
    <p:sldId id="291" r:id="rId34"/>
    <p:sldId id="292" r:id="rId35"/>
    <p:sldId id="293" r:id="rId36"/>
    <p:sldId id="306" r:id="rId37"/>
    <p:sldId id="294" r:id="rId38"/>
    <p:sldId id="307" r:id="rId39"/>
    <p:sldId id="295" r:id="rId40"/>
    <p:sldId id="296" r:id="rId41"/>
    <p:sldId id="297" r:id="rId42"/>
    <p:sldId id="298" r:id="rId43"/>
    <p:sldId id="299" r:id="rId44"/>
    <p:sldId id="308" r:id="rId45"/>
    <p:sldId id="300" r:id="rId46"/>
    <p:sldId id="309" r:id="rId47"/>
    <p:sldId id="301" r:id="rId48"/>
    <p:sldId id="310" r:id="rId49"/>
    <p:sldId id="302" r:id="rId50"/>
    <p:sldId id="303" r:id="rId51"/>
    <p:sldId id="304" r:id="rId52"/>
    <p:sldId id="311" r:id="rId53"/>
    <p:sldId id="312" r:id="rId54"/>
    <p:sldId id="313" r:id="rId55"/>
    <p:sldId id="314" r:id="rId56"/>
    <p:sldId id="316" r:id="rId57"/>
    <p:sldId id="317" r:id="rId58"/>
    <p:sldId id="315"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65" autoAdjust="0"/>
    <p:restoredTop sz="95341" autoAdjust="0"/>
  </p:normalViewPr>
  <p:slideViewPr>
    <p:cSldViewPr>
      <p:cViewPr varScale="1">
        <p:scale>
          <a:sx n="54" d="100"/>
          <a:sy n="54" d="100"/>
        </p:scale>
        <p:origin x="1277" y="53"/>
      </p:cViewPr>
      <p:guideLst>
        <p:guide orient="horz" pos="2160"/>
        <p:guide pos="2880"/>
      </p:guideLst>
    </p:cSldViewPr>
  </p:slideViewPr>
  <p:outlineViewPr>
    <p:cViewPr>
      <p:scale>
        <a:sx n="33" d="100"/>
        <a:sy n="33" d="100"/>
      </p:scale>
      <p:origin x="0" y="46182"/>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9F9F4E-1E0E-4023-86FC-7DDEC461E1B0}" type="datetimeFigureOut">
              <a:rPr lang="en-US" smtClean="0"/>
              <a:pPr/>
              <a:t>9/3/2015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D6985A8-4758-4243-9683-9D459DB69A12}" type="slidenum">
              <a:rPr lang="en-US" smtClean="0"/>
              <a:pPr/>
              <a:t>‹#›</a:t>
            </a:fld>
            <a:endParaRPr lang="en-US"/>
          </a:p>
        </p:txBody>
      </p:sp>
    </p:spTree>
    <p:extLst>
      <p:ext uri="{BB962C8B-B14F-4D97-AF65-F5344CB8AC3E}">
        <p14:creationId xmlns:p14="http://schemas.microsoft.com/office/powerpoint/2010/main" val="3517599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D6985A8-4758-4243-9683-9D459DB69A12}" type="slidenum">
              <a:rPr lang="en-US" smtClean="0"/>
              <a:pPr/>
              <a:t>11</a:t>
            </a:fld>
            <a:endParaRPr lang="en-US"/>
          </a:p>
        </p:txBody>
      </p:sp>
    </p:spTree>
    <p:extLst>
      <p:ext uri="{BB962C8B-B14F-4D97-AF65-F5344CB8AC3E}">
        <p14:creationId xmlns:p14="http://schemas.microsoft.com/office/powerpoint/2010/main" val="22001836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D7FE4E26-C927-468D-9C08-EB6051BFDB26}" type="datetimeFigureOut">
              <a:rPr lang="en-US" smtClean="0"/>
              <a:pPr/>
              <a:t>9/3/2015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F5B52DE-00A2-4CDB-B407-D5D73847F22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F5B52DE-00A2-4CDB-B407-D5D73847F220}"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F5B52DE-00A2-4CDB-B407-D5D73847F220}"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F5B52DE-00A2-4CDB-B407-D5D73847F220}"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CF5B52DE-00A2-4CDB-B407-D5D73847F22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CF5B52DE-00A2-4CDB-B407-D5D73847F220}"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CF5B52DE-00A2-4CDB-B407-D5D73847F22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D7FE4E26-C927-468D-9C08-EB6051BFDB26}" type="datetimeFigureOut">
              <a:rPr lang="en-US" smtClean="0"/>
              <a:pPr/>
              <a:t>9/3/2015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CF5B52DE-00A2-4CDB-B407-D5D73847F22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D7FE4E26-C927-468D-9C08-EB6051BFDB26}" type="datetimeFigureOut">
              <a:rPr lang="en-US" smtClean="0"/>
              <a:pPr/>
              <a:t>9/3/2015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F5B52DE-00A2-4CDB-B407-D5D73847F220}"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F5B52DE-00A2-4CDB-B407-D5D73847F22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7FE4E26-C927-468D-9C08-EB6051BFDB26}" type="datetimeFigureOut">
              <a:rPr lang="en-US" smtClean="0"/>
              <a:pPr/>
              <a:t>9/3/2015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CF5B52DE-00A2-4CDB-B407-D5D73847F22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D7FE4E26-C927-468D-9C08-EB6051BFDB26}" type="datetimeFigureOut">
              <a:rPr lang="en-US" smtClean="0"/>
              <a:pPr/>
              <a:t>9/3/2015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F5B52DE-00A2-4CDB-B407-D5D73847F22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fa.wikipedia.org/wiki/%D9%BE%D8%B1%D9%88%D9%86%D8%AF%D9%87:Image-Found-House-Apt.png" TargetMode="External"/><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gi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gif"/><Relationship Id="rId1" Type="http://schemas.openxmlformats.org/officeDocument/2006/relationships/slideLayout" Target="../slideLayouts/slideLayout6.xml"/><Relationship Id="rId4" Type="http://schemas.openxmlformats.org/officeDocument/2006/relationships/image" Target="../media/image29.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Users\tadbir sabz\Desktop\besm\besmellah__25_.jpg"/>
          <p:cNvPicPr>
            <a:picLocks noChangeAspect="1" noChangeArrowheads="1"/>
          </p:cNvPicPr>
          <p:nvPr/>
        </p:nvPicPr>
        <p:blipFill>
          <a:blip r:embed="rId2"/>
          <a:srcRect/>
          <a:stretch>
            <a:fillRect/>
          </a:stretch>
        </p:blipFill>
        <p:spPr bwMode="auto">
          <a:xfrm>
            <a:off x="0" y="0"/>
            <a:ext cx="9144000" cy="6889295"/>
          </a:xfrm>
          <a:prstGeom prst="rect">
            <a:avLst/>
          </a:prstGeom>
          <a:noFill/>
        </p:spPr>
      </p:pic>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58204" cy="5786478"/>
          </a:xfrm>
        </p:spPr>
        <p:txBody>
          <a:bodyPr>
            <a:normAutofit/>
          </a:bodyPr>
          <a:lstStyle/>
          <a:p>
            <a:pPr algn="r">
              <a:buNone/>
            </a:pPr>
            <a:r>
              <a:rPr lang="fa-IR" sz="3200" dirty="0" smtClean="0">
                <a:latin typeface="Adobe Arabic" pitchFamily="18" charset="-78"/>
                <a:cs typeface="Adobe Arabic" pitchFamily="18" charset="-78"/>
              </a:rPr>
              <a:t>د</a:t>
            </a:r>
            <a:r>
              <a:rPr lang="fa-IR" sz="4400" dirty="0" smtClean="0">
                <a:latin typeface="Adobe Arabic" pitchFamily="18" charset="-78"/>
                <a:cs typeface="Adobe Arabic" pitchFamily="18" charset="-78"/>
              </a:rPr>
              <a:t>انشگاه بین المللی چابهار</a:t>
            </a:r>
            <a:endParaRPr lang="fa-IR" sz="2800" dirty="0" smtClean="0">
              <a:latin typeface="Adobe Arabic" pitchFamily="18" charset="-78"/>
              <a:cs typeface="Adobe Arabic" pitchFamily="18" charset="-78"/>
            </a:endParaRPr>
          </a:p>
          <a:p>
            <a:pPr algn="r">
              <a:buNone/>
            </a:pPr>
            <a:endParaRPr lang="fa-IR" sz="3600" dirty="0" smtClean="0">
              <a:solidFill>
                <a:srgbClr val="FFC000"/>
              </a:solidFill>
              <a:latin typeface="Adobe Arabic" pitchFamily="18" charset="-78"/>
              <a:cs typeface="Adobe Arabic" pitchFamily="18" charset="-78"/>
            </a:endParaRPr>
          </a:p>
          <a:p>
            <a:pPr algn="r">
              <a:buNone/>
            </a:pPr>
            <a:r>
              <a:rPr lang="fa-IR" sz="3600" dirty="0" smtClean="0">
                <a:solidFill>
                  <a:srgbClr val="FF0000"/>
                </a:solidFill>
                <a:latin typeface="Adobe Arabic" pitchFamily="18" charset="-78"/>
                <a:cs typeface="Adobe Arabic" pitchFamily="18" charset="-78"/>
              </a:rPr>
              <a:t>درس: </a:t>
            </a:r>
            <a:r>
              <a:rPr lang="fa-IR" dirty="0" smtClean="0">
                <a:solidFill>
                  <a:schemeClr val="tx1">
                    <a:lumMod val="95000"/>
                    <a:lumOff val="5000"/>
                  </a:schemeClr>
                </a:solidFill>
                <a:latin typeface="Adobe Arabic" pitchFamily="18" charset="-78"/>
                <a:cs typeface="Adobe Arabic" pitchFamily="18" charset="-78"/>
              </a:rPr>
              <a:t>روش های اجرایی ساختمان</a:t>
            </a:r>
            <a:endParaRPr lang="fa-IR" sz="4000" dirty="0" smtClean="0">
              <a:solidFill>
                <a:schemeClr val="tx1">
                  <a:lumMod val="95000"/>
                  <a:lumOff val="5000"/>
                </a:schemeClr>
              </a:solidFill>
              <a:latin typeface="Adobe Arabic" pitchFamily="18" charset="-78"/>
              <a:cs typeface="Adobe Arabic" pitchFamily="18" charset="-78"/>
            </a:endParaRPr>
          </a:p>
          <a:p>
            <a:pPr algn="r">
              <a:buNone/>
            </a:pPr>
            <a:endParaRPr lang="fa-IR" sz="4000" dirty="0" smtClean="0">
              <a:solidFill>
                <a:srgbClr val="FFC000"/>
              </a:solidFill>
              <a:latin typeface="Adobe Arabic" pitchFamily="18" charset="-78"/>
              <a:cs typeface="Adobe Arabic" pitchFamily="18" charset="-78"/>
            </a:endParaRPr>
          </a:p>
          <a:p>
            <a:pPr algn="r">
              <a:buNone/>
            </a:pPr>
            <a:r>
              <a:rPr lang="fa-IR" sz="4000" dirty="0" smtClean="0">
                <a:solidFill>
                  <a:srgbClr val="FF0000"/>
                </a:solidFill>
                <a:latin typeface="Adobe Arabic" pitchFamily="18" charset="-78"/>
                <a:cs typeface="Adobe Arabic" pitchFamily="18" charset="-78"/>
              </a:rPr>
              <a:t>استاد: </a:t>
            </a:r>
            <a:r>
              <a:rPr lang="fa-IR" dirty="0" smtClean="0">
                <a:solidFill>
                  <a:schemeClr val="tx1">
                    <a:lumMod val="95000"/>
                    <a:lumOff val="5000"/>
                  </a:schemeClr>
                </a:solidFill>
                <a:latin typeface="Adobe Arabic" pitchFamily="18" charset="-78"/>
                <a:cs typeface="Adobe Arabic" pitchFamily="18" charset="-78"/>
              </a:rPr>
              <a:t>جناب آقای مهندس احمدیان</a:t>
            </a:r>
          </a:p>
          <a:p>
            <a:pPr algn="r">
              <a:buNone/>
            </a:pPr>
            <a:endParaRPr lang="fa-IR" dirty="0" smtClean="0">
              <a:latin typeface="Adobe Arabic" pitchFamily="18" charset="-78"/>
              <a:cs typeface="Adobe Arabic" pitchFamily="18" charset="-78"/>
            </a:endParaRPr>
          </a:p>
          <a:p>
            <a:pPr algn="r">
              <a:buNone/>
            </a:pPr>
            <a:r>
              <a:rPr lang="fa-IR" sz="3600" dirty="0" smtClean="0">
                <a:solidFill>
                  <a:srgbClr val="FF0000"/>
                </a:solidFill>
                <a:latin typeface="Adobe Arabic" pitchFamily="18" charset="-78"/>
                <a:cs typeface="Adobe Arabic" pitchFamily="18" charset="-78"/>
              </a:rPr>
              <a:t>سمینار : </a:t>
            </a:r>
            <a:r>
              <a:rPr lang="fa-IR" dirty="0" smtClean="0">
                <a:solidFill>
                  <a:schemeClr val="tx1">
                    <a:lumMod val="95000"/>
                    <a:lumOff val="5000"/>
                  </a:schemeClr>
                </a:solidFill>
                <a:latin typeface="Adobe Arabic" pitchFamily="18" charset="-78"/>
                <a:cs typeface="Adobe Arabic" pitchFamily="18" charset="-78"/>
              </a:rPr>
              <a:t>نحوه اجرای پی در ساختمان </a:t>
            </a:r>
          </a:p>
          <a:p>
            <a:pPr algn="ctr">
              <a:buNone/>
            </a:pPr>
            <a:r>
              <a:rPr lang="fa-IR" sz="1800" dirty="0" smtClean="0">
                <a:solidFill>
                  <a:srgbClr val="FF0000"/>
                </a:solidFill>
                <a:latin typeface="Adobe Arabic" pitchFamily="18" charset="-78"/>
                <a:cs typeface="Adobe Arabic" pitchFamily="18" charset="-78"/>
              </a:rPr>
              <a:t>بهار </a:t>
            </a:r>
            <a:r>
              <a:rPr lang="fa-IR" sz="1800" dirty="0" smtClean="0">
                <a:solidFill>
                  <a:srgbClr val="FF0000"/>
                </a:solidFill>
                <a:latin typeface="Adobe Arabic" pitchFamily="18" charset="-78"/>
                <a:cs typeface="Adobe Arabic" pitchFamily="18" charset="-78"/>
              </a:rPr>
              <a:t>91</a:t>
            </a:r>
            <a:r>
              <a:rPr lang="fa-IR" sz="1800" dirty="0" smtClean="0">
                <a:solidFill>
                  <a:srgbClr val="FFC000"/>
                </a:solidFill>
                <a:latin typeface="Adobe Arabic" pitchFamily="18" charset="-78"/>
                <a:cs typeface="Adobe Arabic" pitchFamily="18" charset="-78"/>
              </a:rPr>
              <a:t> </a:t>
            </a:r>
          </a:p>
        </p:txBody>
      </p:sp>
      <p:pic>
        <p:nvPicPr>
          <p:cNvPr id="4" name="Picture 2" descr="F:\arm1.jpg"/>
          <p:cNvPicPr>
            <a:picLocks noChangeAspect="1" noChangeArrowheads="1"/>
          </p:cNvPicPr>
          <p:nvPr/>
        </p:nvPicPr>
        <p:blipFill>
          <a:blip r:embed="rId2" cstate="print"/>
          <a:srcRect/>
          <a:stretch>
            <a:fillRect/>
          </a:stretch>
        </p:blipFill>
        <p:spPr bwMode="auto">
          <a:xfrm>
            <a:off x="357158" y="571480"/>
            <a:ext cx="2438400" cy="2362200"/>
          </a:xfrm>
          <a:prstGeom prst="rect">
            <a:avLst/>
          </a:prstGeom>
          <a:ln>
            <a:noFill/>
          </a:ln>
          <a:effectLst>
            <a:softEdge rad="112500"/>
          </a:effectLst>
        </p:spPr>
      </p:pic>
      <p:cxnSp>
        <p:nvCxnSpPr>
          <p:cNvPr id="6" name="Straight Connector 5"/>
          <p:cNvCxnSpPr/>
          <p:nvPr/>
        </p:nvCxnSpPr>
        <p:spPr>
          <a:xfrm rot="10800000">
            <a:off x="4143372" y="2000240"/>
            <a:ext cx="4500594" cy="1588"/>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14338"/>
            <a:ext cx="8258204" cy="3440432"/>
          </a:xfrm>
        </p:spPr>
        <p:txBody>
          <a:bodyPr>
            <a:normAutofit/>
          </a:bodyPr>
          <a:lstStyle/>
          <a:p>
            <a:pPr algn="r"/>
            <a:r>
              <a:rPr lang="fa-IR" sz="3600" b="1" dirty="0" smtClean="0">
                <a:solidFill>
                  <a:srgbClr val="FF0000"/>
                </a:solidFill>
                <a:latin typeface="Adobe Arabic" pitchFamily="18" charset="-78"/>
                <a:cs typeface="Adobe Arabic" pitchFamily="18" charset="-78"/>
              </a:rPr>
              <a:t>پی چیست؟</a:t>
            </a:r>
            <a:r>
              <a:rPr lang="en-US" sz="3600" b="1" dirty="0" smtClean="0">
                <a:solidFill>
                  <a:srgbClr val="FF0000"/>
                </a:solidFill>
                <a:latin typeface="Adobe Arabic" pitchFamily="18" charset="-78"/>
                <a:cs typeface="Adobe Arabic" pitchFamily="18" charset="-78"/>
              </a:rPr>
              <a:t/>
            </a:r>
            <a:br>
              <a:rPr lang="en-US" sz="3600" b="1" dirty="0" smtClean="0">
                <a:solidFill>
                  <a:srgbClr val="FF0000"/>
                </a:solidFill>
                <a:latin typeface="Adobe Arabic" pitchFamily="18" charset="-78"/>
                <a:cs typeface="Adobe Arabic" pitchFamily="18" charset="-78"/>
              </a:rPr>
            </a:br>
            <a:r>
              <a:rPr lang="fa-IR" sz="3600" b="1" dirty="0" smtClean="0">
                <a:solidFill>
                  <a:srgbClr val="FFC000"/>
                </a:solidFill>
                <a:latin typeface="Adobe Arabic" pitchFamily="18" charset="-78"/>
                <a:cs typeface="Adobe Arabic" pitchFamily="18" charset="-78"/>
              </a:rPr>
              <a:t>پی</a:t>
            </a:r>
            <a:r>
              <a:rPr lang="fa-IR" sz="3600" dirty="0" smtClean="0">
                <a:solidFill>
                  <a:srgbClr val="FFC000"/>
                </a:solidFill>
                <a:latin typeface="Adobe Arabic" pitchFamily="18" charset="-78"/>
                <a:cs typeface="Adobe Arabic" pitchFamily="18" charset="-78"/>
              </a:rPr>
              <a:t>، </a:t>
            </a:r>
            <a:r>
              <a:rPr lang="fa-IR" sz="3600" b="1" dirty="0" smtClean="0">
                <a:solidFill>
                  <a:srgbClr val="FFC000"/>
                </a:solidFill>
                <a:latin typeface="Adobe Arabic" pitchFamily="18" charset="-78"/>
                <a:cs typeface="Adobe Arabic" pitchFamily="18" charset="-78"/>
              </a:rPr>
              <a:t>شالوده</a:t>
            </a:r>
            <a:r>
              <a:rPr lang="fa-IR" sz="3600" dirty="0" smtClean="0">
                <a:latin typeface="Adobe Arabic" pitchFamily="18" charset="-78"/>
                <a:cs typeface="Adobe Arabic" pitchFamily="18" charset="-78"/>
              </a:rPr>
              <a:t> یا </a:t>
            </a:r>
            <a:r>
              <a:rPr lang="fa-IR" sz="3600" b="1" dirty="0" smtClean="0">
                <a:solidFill>
                  <a:srgbClr val="FFC000"/>
                </a:solidFill>
                <a:latin typeface="Adobe Arabic" pitchFamily="18" charset="-78"/>
                <a:cs typeface="Adobe Arabic" pitchFamily="18" charset="-78"/>
              </a:rPr>
              <a:t>فونداسیون</a:t>
            </a:r>
            <a:r>
              <a:rPr lang="fa-IR" sz="3600" dirty="0" smtClean="0">
                <a:solidFill>
                  <a:srgbClr val="FFC000"/>
                </a:solidFill>
                <a:latin typeface="Adobe Arabic" pitchFamily="18" charset="-78"/>
                <a:cs typeface="Adobe Arabic" pitchFamily="18" charset="-78"/>
              </a:rPr>
              <a:t> بخشی از ساختمان است که وظیفهٔ انتقال نیرو از ستونها به زمین و خاک اطرافش </a:t>
            </a:r>
            <a:r>
              <a:rPr lang="fa-IR" sz="3600" dirty="0" smtClean="0">
                <a:latin typeface="Adobe Arabic" pitchFamily="18" charset="-78"/>
                <a:cs typeface="Adobe Arabic" pitchFamily="18" charset="-78"/>
              </a:rPr>
              <a:t>را بر عهده دارد که بر اساس نوع ساختمان، میزان نیروهای وارده، نوع زمین و شرایط آب و هوایی منطقه نوع و ابعاد آن مشخص می‌شود.</a:t>
            </a:r>
            <a:endParaRPr lang="en-US" sz="3600" dirty="0">
              <a:latin typeface="Adobe Arabic" pitchFamily="18" charset="-78"/>
              <a:cs typeface="Adobe Arabic" pitchFamily="18" charset="-78"/>
            </a:endParaRPr>
          </a:p>
        </p:txBody>
      </p:sp>
      <p:pic>
        <p:nvPicPr>
          <p:cNvPr id="1028" name="Picture 4" descr="C:\Users\tadbir sabz\Desktop\پروژه روش اجرایی\axx1\486893_dpCBNoRe.jpg"/>
          <p:cNvPicPr>
            <a:picLocks noChangeAspect="1" noChangeArrowheads="1"/>
          </p:cNvPicPr>
          <p:nvPr/>
        </p:nvPicPr>
        <p:blipFill>
          <a:blip r:embed="rId2"/>
          <a:srcRect/>
          <a:stretch>
            <a:fillRect/>
          </a:stretch>
        </p:blipFill>
        <p:spPr bwMode="auto">
          <a:xfrm>
            <a:off x="4619636" y="3071810"/>
            <a:ext cx="4238644" cy="3393273"/>
          </a:xfrm>
          <a:prstGeom prst="rect">
            <a:avLst/>
          </a:prstGeom>
          <a:ln>
            <a:noFill/>
          </a:ln>
          <a:effectLst>
            <a:softEdge rad="112500"/>
          </a:effectLst>
        </p:spPr>
      </p:pic>
      <p:pic>
        <p:nvPicPr>
          <p:cNvPr id="6" name="Picture 5" descr="http://upload.wikimedia.org/wikipedia/commons/thumb/0/08/Image-Found-House-Apt.png/250px-Image-Found-House-Apt.png">
            <a:hlinkClick r:id="rId3"/>
          </p:cNvPr>
          <p:cNvPicPr/>
          <p:nvPr/>
        </p:nvPicPr>
        <p:blipFill>
          <a:blip r:embed="rId4"/>
          <a:srcRect/>
          <a:stretch>
            <a:fillRect/>
          </a:stretch>
        </p:blipFill>
        <p:spPr bwMode="auto">
          <a:xfrm>
            <a:off x="285720" y="3071810"/>
            <a:ext cx="3857652" cy="3429024"/>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0"/>
            <a:ext cx="8401080" cy="6643710"/>
          </a:xfrm>
        </p:spPr>
        <p:txBody>
          <a:bodyPr>
            <a:noAutofit/>
          </a:bodyPr>
          <a:lstStyle/>
          <a:p>
            <a:pPr algn="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fa-IR" sz="4000" dirty="0" smtClean="0">
                <a:solidFill>
                  <a:srgbClr val="FF0000"/>
                </a:solidFill>
                <a:latin typeface="Arial" pitchFamily="34" charset="0"/>
                <a:cs typeface="Arial" pitchFamily="34" charset="0"/>
              </a:rPr>
              <a:t>انواع پی؟؟</a:t>
            </a: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به طور کلی از لحاظ اجرایی ما دارای </a:t>
            </a:r>
            <a:r>
              <a:rPr lang="fa-IR" sz="2800" dirty="0" smtClean="0">
                <a:solidFill>
                  <a:srgbClr val="FF0000"/>
                </a:solidFill>
                <a:latin typeface="Adobe Arabic" pitchFamily="18" charset="-78"/>
                <a:cs typeface="Adobe Arabic" pitchFamily="18" charset="-78"/>
              </a:rPr>
              <a:t>4</a:t>
            </a:r>
            <a:r>
              <a:rPr lang="fa-IR" sz="2800" dirty="0" smtClean="0">
                <a:latin typeface="Adobe Arabic" pitchFamily="18" charset="-78"/>
                <a:cs typeface="Adobe Arabic" pitchFamily="18" charset="-78"/>
              </a:rPr>
              <a:t> نوع مدل اجرایی پی می باشیم که عبارتند از:</a:t>
            </a: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fa-IR" sz="3200" dirty="0" smtClean="0">
                <a:solidFill>
                  <a:srgbClr val="FF0000"/>
                </a:solidFill>
                <a:latin typeface="Adobe Arabic" pitchFamily="18" charset="-78"/>
                <a:cs typeface="Adobe Arabic" pitchFamily="18" charset="-78"/>
              </a:rPr>
              <a:t>۱-پی منفرد (تکی، نقطه ای):</a:t>
            </a:r>
            <a:r>
              <a:rPr lang="en-US" sz="3200" dirty="0" smtClean="0">
                <a:solidFill>
                  <a:srgbClr val="FFC000"/>
                </a:solidFill>
                <a:latin typeface="Adobe Arabic" pitchFamily="18" charset="-78"/>
                <a:cs typeface="Adobe Arabic" pitchFamily="18" charset="-78"/>
              </a:rPr>
              <a:t/>
            </a:r>
            <a:br>
              <a:rPr lang="en-US" sz="3200" dirty="0" smtClean="0">
                <a:solidFill>
                  <a:srgbClr val="FFC000"/>
                </a:solidFill>
                <a:latin typeface="Adobe Arabic" pitchFamily="18" charset="-78"/>
                <a:cs typeface="Adobe Arabic" pitchFamily="18" charset="-78"/>
              </a:rPr>
            </a:br>
            <a:r>
              <a:rPr lang="fa-IR" sz="2800" dirty="0" smtClean="0">
                <a:latin typeface="Adobe Arabic" pitchFamily="18" charset="-78"/>
                <a:cs typeface="Adobe Arabic" pitchFamily="18" charset="-78"/>
              </a:rPr>
              <a:t>پی هایی که </a:t>
            </a:r>
            <a:r>
              <a:rPr lang="fa-IR" sz="2800" dirty="0" smtClean="0">
                <a:solidFill>
                  <a:srgbClr val="FFC000"/>
                </a:solidFill>
                <a:latin typeface="Adobe Arabic" pitchFamily="18" charset="-78"/>
                <a:cs typeface="Adobe Arabic" pitchFamily="18" charset="-78"/>
              </a:rPr>
              <a:t>بار یک ستون تکی </a:t>
            </a:r>
            <a:br>
              <a:rPr lang="fa-IR" sz="2800" dirty="0" smtClean="0">
                <a:solidFill>
                  <a:srgbClr val="FFC000"/>
                </a:solidFill>
                <a:latin typeface="Adobe Arabic" pitchFamily="18" charset="-78"/>
                <a:cs typeface="Adobe Arabic" pitchFamily="18" charset="-78"/>
              </a:rPr>
            </a:br>
            <a:r>
              <a:rPr lang="fa-IR" sz="2800" dirty="0" smtClean="0">
                <a:solidFill>
                  <a:srgbClr val="FFC000"/>
                </a:solidFill>
                <a:latin typeface="Adobe Arabic" pitchFamily="18" charset="-78"/>
                <a:cs typeface="Adobe Arabic" pitchFamily="18" charset="-78"/>
              </a:rPr>
              <a:t>یا یک دیوار را حمل </a:t>
            </a:r>
            <a:r>
              <a:rPr lang="fa-IR" sz="2800" dirty="0" smtClean="0">
                <a:latin typeface="Adobe Arabic" pitchFamily="18" charset="-78"/>
                <a:cs typeface="Adobe Arabic" pitchFamily="18" charset="-78"/>
              </a:rPr>
              <a:t>می نمایند.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برای ساختمانهایی که بار آن‌ها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به صورت متمرکز (نقطه ای)به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زمین منتقل می‌شود ساخته میگردد</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مانند </a:t>
            </a:r>
            <a:r>
              <a:rPr lang="fa-IR" sz="2800" dirty="0" smtClean="0">
                <a:solidFill>
                  <a:srgbClr val="FFC000"/>
                </a:solidFill>
                <a:latin typeface="Adobe Arabic" pitchFamily="18" charset="-78"/>
                <a:cs typeface="Adobe Arabic" pitchFamily="18" charset="-78"/>
              </a:rPr>
              <a:t>ساختمان‌های فلزی </a:t>
            </a:r>
            <a:r>
              <a:rPr lang="fa-IR" sz="2800" dirty="0" smtClean="0">
                <a:latin typeface="Adobe Arabic" pitchFamily="18" charset="-78"/>
                <a:cs typeface="Adobe Arabic" pitchFamily="18" charset="-78"/>
              </a:rPr>
              <a:t>یا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ساختمان‌های </a:t>
            </a:r>
            <a:r>
              <a:rPr lang="fa-IR" sz="2800" dirty="0" smtClean="0">
                <a:solidFill>
                  <a:srgbClr val="FFC000"/>
                </a:solidFill>
                <a:latin typeface="Adobe Arabic" pitchFamily="18" charset="-78"/>
                <a:cs typeface="Adobe Arabic" pitchFamily="18" charset="-78"/>
              </a:rPr>
              <a:t>بتنی</a:t>
            </a:r>
            <a:r>
              <a:rPr lang="fa-IR" sz="2800" dirty="0" smtClean="0">
                <a:latin typeface="Adobe Arabic" pitchFamily="18" charset="-78"/>
                <a:cs typeface="Adobe Arabic" pitchFamily="18" charset="-78"/>
              </a:rPr>
              <a:t>.</a:t>
            </a: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en-US" sz="3200" dirty="0" smtClean="0">
                <a:solidFill>
                  <a:srgbClr val="FF0000"/>
                </a:solidFill>
                <a:latin typeface="Adobe Arabic" pitchFamily="18" charset="-78"/>
                <a:cs typeface="Adobe Arabic" pitchFamily="18" charset="-78"/>
              </a:rPr>
              <a:t/>
            </a:r>
            <a:br>
              <a:rPr lang="en-US" sz="3200" dirty="0" smtClean="0">
                <a:solidFill>
                  <a:srgbClr val="FF0000"/>
                </a:solidFill>
                <a:latin typeface="Adobe Arabic" pitchFamily="18" charset="-78"/>
                <a:cs typeface="Adobe Arabic" pitchFamily="18" charset="-78"/>
              </a:rPr>
            </a:br>
            <a:r>
              <a:rPr lang="en-US" sz="3200" dirty="0" smtClean="0">
                <a:solidFill>
                  <a:srgbClr val="FF0000"/>
                </a:solidFill>
                <a:latin typeface="Adobe Arabic" pitchFamily="18" charset="-78"/>
                <a:cs typeface="Adobe Arabic" pitchFamily="18" charset="-78"/>
              </a:rPr>
              <a:t/>
            </a:r>
            <a:br>
              <a:rPr lang="en-US" sz="3200" dirty="0" smtClean="0">
                <a:solidFill>
                  <a:srgbClr val="FF0000"/>
                </a:solidFill>
                <a:latin typeface="Adobe Arabic" pitchFamily="18" charset="-78"/>
                <a:cs typeface="Adobe Arabic" pitchFamily="18" charset="-78"/>
              </a:rPr>
            </a:br>
            <a:r>
              <a:rPr lang="en-US" sz="3200" dirty="0" smtClean="0">
                <a:solidFill>
                  <a:srgbClr val="FF0000"/>
                </a:solidFill>
                <a:latin typeface="Adobe Arabic" pitchFamily="18" charset="-78"/>
                <a:cs typeface="Adobe Arabic" pitchFamily="18" charset="-78"/>
              </a:rPr>
              <a:t/>
            </a:r>
            <a:br>
              <a:rPr lang="en-US" sz="3200" dirty="0" smtClean="0">
                <a:solidFill>
                  <a:srgbClr val="FF0000"/>
                </a:solidFill>
                <a:latin typeface="Adobe Arabic" pitchFamily="18" charset="-78"/>
                <a:cs typeface="Adobe Arabic" pitchFamily="18" charset="-78"/>
              </a:rPr>
            </a:br>
            <a:r>
              <a:rPr lang="en-US" sz="3200" dirty="0" smtClean="0">
                <a:solidFill>
                  <a:srgbClr val="FF0000"/>
                </a:solidFill>
                <a:latin typeface="Adobe Arabic" pitchFamily="18" charset="-78"/>
                <a:cs typeface="Adobe Arabic" pitchFamily="18" charset="-78"/>
              </a:rPr>
              <a:t/>
            </a:r>
            <a:br>
              <a:rPr lang="en-US" sz="3200" dirty="0" smtClean="0">
                <a:solidFill>
                  <a:srgbClr val="FF0000"/>
                </a:solidFill>
                <a:latin typeface="Adobe Arabic" pitchFamily="18" charset="-78"/>
                <a:cs typeface="Adobe Arabic" pitchFamily="18" charset="-78"/>
              </a:rPr>
            </a:br>
            <a:endParaRPr lang="en-US" sz="2800" dirty="0"/>
          </a:p>
        </p:txBody>
      </p:sp>
      <p:pic>
        <p:nvPicPr>
          <p:cNvPr id="1026" name="Picture 2" descr="G:\Images\Photo-0009.jpg"/>
          <p:cNvPicPr>
            <a:picLocks noChangeAspect="1" noChangeArrowheads="1"/>
          </p:cNvPicPr>
          <p:nvPr/>
        </p:nvPicPr>
        <p:blipFill>
          <a:blip r:embed="rId2" cstate="print"/>
          <a:srcRect/>
          <a:stretch>
            <a:fillRect/>
          </a:stretch>
        </p:blipFill>
        <p:spPr bwMode="auto">
          <a:xfrm>
            <a:off x="571472" y="2214554"/>
            <a:ext cx="4214842" cy="3857652"/>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472518" cy="6369390"/>
          </a:xfrm>
        </p:spPr>
        <p:txBody>
          <a:bodyPr/>
          <a:lstStyle/>
          <a:p>
            <a:pPr algn="r" rtl="1"/>
            <a:r>
              <a:rPr lang="fa-IR" dirty="0" smtClean="0">
                <a:solidFill>
                  <a:srgbClr val="FF0000"/>
                </a:solidFill>
                <a:latin typeface="Adobe Arabic" pitchFamily="18" charset="-78"/>
                <a:cs typeface="Adobe Arabic" pitchFamily="18" charset="-78"/>
              </a:rPr>
              <a:t>لایه‌های پی‌های نقطه ای:</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sz="4400" dirty="0" smtClean="0">
                <a:solidFill>
                  <a:srgbClr val="FFC000"/>
                </a:solidFill>
                <a:latin typeface="Adobe Arabic" pitchFamily="18" charset="-78"/>
                <a:cs typeface="Adobe Arabic" pitchFamily="18" charset="-78"/>
              </a:rPr>
              <a:t>زمین مناسب</a:t>
            </a:r>
            <a:r>
              <a:rPr lang="en-US" sz="4400" dirty="0" smtClean="0">
                <a:solidFill>
                  <a:srgbClr val="FFC000"/>
                </a:solidFill>
                <a:latin typeface="Adobe Arabic" pitchFamily="18" charset="-78"/>
                <a:cs typeface="Adobe Arabic" pitchFamily="18" charset="-78"/>
              </a:rPr>
              <a:t/>
            </a:r>
            <a:br>
              <a:rPr lang="en-US" sz="4400" dirty="0" smtClean="0">
                <a:solidFill>
                  <a:srgbClr val="FFC000"/>
                </a:solidFill>
                <a:latin typeface="Adobe Arabic" pitchFamily="18" charset="-78"/>
                <a:cs typeface="Adobe Arabic" pitchFamily="18" charset="-78"/>
              </a:rPr>
            </a:br>
            <a:r>
              <a:rPr lang="fa-IR" sz="4400" dirty="0" smtClean="0">
                <a:solidFill>
                  <a:srgbClr val="FFC000"/>
                </a:solidFill>
                <a:latin typeface="Adobe Arabic" pitchFamily="18" charset="-78"/>
                <a:cs typeface="Adobe Arabic" pitchFamily="18" charset="-78"/>
              </a:rPr>
              <a:t>بتن مگر</a:t>
            </a:r>
            <a:r>
              <a:rPr lang="en-US" sz="4400" dirty="0" smtClean="0">
                <a:solidFill>
                  <a:srgbClr val="FFC000"/>
                </a:solidFill>
                <a:latin typeface="Adobe Arabic" pitchFamily="18" charset="-78"/>
                <a:cs typeface="Adobe Arabic" pitchFamily="18" charset="-78"/>
              </a:rPr>
              <a:t/>
            </a:r>
            <a:br>
              <a:rPr lang="en-US" sz="4400" dirty="0" smtClean="0">
                <a:solidFill>
                  <a:srgbClr val="FFC000"/>
                </a:solidFill>
                <a:latin typeface="Adobe Arabic" pitchFamily="18" charset="-78"/>
                <a:cs typeface="Adobe Arabic" pitchFamily="18" charset="-78"/>
              </a:rPr>
            </a:br>
            <a:r>
              <a:rPr lang="fa-IR" sz="4400" dirty="0" smtClean="0">
                <a:solidFill>
                  <a:srgbClr val="FFC000"/>
                </a:solidFill>
                <a:latin typeface="Adobe Arabic" pitchFamily="18" charset="-78"/>
                <a:cs typeface="Adobe Arabic" pitchFamily="18" charset="-78"/>
              </a:rPr>
              <a:t>میلگردهای کف پی</a:t>
            </a:r>
            <a:r>
              <a:rPr lang="en-US" sz="4400" dirty="0" smtClean="0">
                <a:solidFill>
                  <a:srgbClr val="FFC000"/>
                </a:solidFill>
                <a:latin typeface="Adobe Arabic" pitchFamily="18" charset="-78"/>
                <a:cs typeface="Adobe Arabic" pitchFamily="18" charset="-78"/>
              </a:rPr>
              <a:t/>
            </a:r>
            <a:br>
              <a:rPr lang="en-US" sz="4400" dirty="0" smtClean="0">
                <a:solidFill>
                  <a:srgbClr val="FFC000"/>
                </a:solidFill>
                <a:latin typeface="Adobe Arabic" pitchFamily="18" charset="-78"/>
                <a:cs typeface="Adobe Arabic" pitchFamily="18" charset="-78"/>
              </a:rPr>
            </a:br>
            <a:r>
              <a:rPr lang="fa-IR" sz="4400" dirty="0" smtClean="0">
                <a:solidFill>
                  <a:srgbClr val="FFC000"/>
                </a:solidFill>
                <a:latin typeface="Adobe Arabic" pitchFamily="18" charset="-78"/>
                <a:cs typeface="Adobe Arabic" pitchFamily="18" charset="-78"/>
              </a:rPr>
              <a:t>بتن اصلی</a:t>
            </a:r>
            <a:r>
              <a:rPr lang="en-US" sz="4400" dirty="0" smtClean="0">
                <a:solidFill>
                  <a:srgbClr val="FFC000"/>
                </a:solidFill>
                <a:latin typeface="Adobe Arabic" pitchFamily="18" charset="-78"/>
                <a:cs typeface="Adobe Arabic" pitchFamily="18" charset="-78"/>
              </a:rPr>
              <a:t/>
            </a:r>
            <a:br>
              <a:rPr lang="en-US" sz="4400" dirty="0" smtClean="0">
                <a:solidFill>
                  <a:srgbClr val="FFC000"/>
                </a:solidFill>
                <a:latin typeface="Adobe Arabic" pitchFamily="18" charset="-78"/>
                <a:cs typeface="Adobe Arabic" pitchFamily="18" charset="-78"/>
              </a:rPr>
            </a:br>
            <a:r>
              <a:rPr lang="fa-IR" sz="4400" dirty="0" smtClean="0">
                <a:solidFill>
                  <a:srgbClr val="FFC000"/>
                </a:solidFill>
                <a:latin typeface="Adobe Arabic" pitchFamily="18" charset="-78"/>
                <a:cs typeface="Adobe Arabic" pitchFamily="18" charset="-78"/>
              </a:rPr>
              <a:t>صفحه زیر ستون</a:t>
            </a:r>
            <a:br>
              <a:rPr lang="fa-IR" sz="4400" dirty="0" smtClean="0">
                <a:solidFill>
                  <a:srgbClr val="FFC000"/>
                </a:solidFill>
                <a:latin typeface="Adobe Arabic" pitchFamily="18" charset="-78"/>
                <a:cs typeface="Adobe Arabic" pitchFamily="18" charset="-78"/>
              </a:rPr>
            </a:br>
            <a:r>
              <a:rPr lang="fa-IR" sz="4400" dirty="0" smtClean="0">
                <a:solidFill>
                  <a:srgbClr val="FFC000"/>
                </a:solidFill>
                <a:latin typeface="Adobe Arabic" pitchFamily="18" charset="-78"/>
                <a:cs typeface="Adobe Arabic" pitchFamily="18" charset="-78"/>
              </a:rPr>
              <a:t/>
            </a:r>
            <a:br>
              <a:rPr lang="fa-IR" sz="4400" dirty="0" smtClean="0">
                <a:solidFill>
                  <a:srgbClr val="FFC000"/>
                </a:solidFill>
                <a:latin typeface="Adobe Arabic" pitchFamily="18" charset="-78"/>
                <a:cs typeface="Adobe Arabic" pitchFamily="18" charset="-78"/>
              </a:rPr>
            </a:br>
            <a:r>
              <a:rPr lang="fa-IR" sz="4400" dirty="0" smtClean="0">
                <a:solidFill>
                  <a:srgbClr val="FFC000"/>
                </a:solidFill>
                <a:latin typeface="Adobe Arabic" pitchFamily="18" charset="-78"/>
                <a:cs typeface="Adobe Arabic" pitchFamily="18" charset="-78"/>
              </a:rPr>
              <a:t>(در ساختمانهای اسکلت فلزی)</a:t>
            </a:r>
            <a:r>
              <a:rPr lang="en-US" dirty="0" smtClean="0">
                <a:solidFill>
                  <a:srgbClr val="FFC000"/>
                </a:solidFill>
                <a:latin typeface="Adobe Arabic" pitchFamily="18" charset="-78"/>
                <a:cs typeface="Adobe Arabic" pitchFamily="18" charset="-78"/>
              </a:rPr>
              <a:t/>
            </a:r>
            <a:br>
              <a:rPr lang="en-US" dirty="0" smtClean="0">
                <a:solidFill>
                  <a:srgbClr val="FFC000"/>
                </a:solidFill>
                <a:latin typeface="Adobe Arabic" pitchFamily="18" charset="-78"/>
                <a:cs typeface="Adobe Arabic" pitchFamily="18" charset="-78"/>
              </a:rPr>
            </a:br>
            <a:endParaRPr lang="en-US" dirty="0">
              <a:solidFill>
                <a:srgbClr val="FFC000"/>
              </a:solidFill>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338"/>
            <a:ext cx="8186766" cy="3357586"/>
          </a:xfrm>
        </p:spPr>
        <p:txBody>
          <a:bodyPr/>
          <a:lstStyle/>
          <a:p>
            <a:pPr algn="r" rtl="1"/>
            <a:r>
              <a:rPr lang="fa-IR" dirty="0" smtClean="0">
                <a:solidFill>
                  <a:srgbClr val="FF0000"/>
                </a:solidFill>
                <a:latin typeface="Adobe Arabic" pitchFamily="18" charset="-78"/>
                <a:cs typeface="Adobe Arabic" pitchFamily="18" charset="-78"/>
              </a:rPr>
              <a:t>2-</a:t>
            </a:r>
            <a:r>
              <a:rPr lang="fa-IR" dirty="0" smtClean="0">
                <a:latin typeface="Adobe Arabic" pitchFamily="18" charset="-78"/>
                <a:cs typeface="Adobe Arabic" pitchFamily="18" charset="-78"/>
              </a:rPr>
              <a:t> </a:t>
            </a:r>
            <a:r>
              <a:rPr lang="fa-IR" dirty="0" smtClean="0">
                <a:solidFill>
                  <a:srgbClr val="FF0000"/>
                </a:solidFill>
                <a:latin typeface="Adobe Arabic" pitchFamily="18" charset="-78"/>
                <a:cs typeface="Adobe Arabic" pitchFamily="18" charset="-78"/>
              </a:rPr>
              <a:t>پی مرکب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sz="3600" dirty="0" smtClean="0">
                <a:latin typeface="Adobe Arabic" pitchFamily="18" charset="-78"/>
                <a:cs typeface="Adobe Arabic" pitchFamily="18" charset="-78"/>
              </a:rPr>
              <a:t>پی هایی که </a:t>
            </a:r>
            <a:r>
              <a:rPr lang="fa-IR" sz="3600" dirty="0" smtClean="0">
                <a:solidFill>
                  <a:srgbClr val="FFC000"/>
                </a:solidFill>
                <a:latin typeface="Adobe Arabic" pitchFamily="18" charset="-78"/>
                <a:cs typeface="Adobe Arabic" pitchFamily="18" charset="-78"/>
              </a:rPr>
              <a:t>بار دو تا چهار ستون </a:t>
            </a:r>
            <a:r>
              <a:rPr lang="fa-IR" sz="3600" dirty="0" smtClean="0">
                <a:latin typeface="Adobe Arabic" pitchFamily="18" charset="-78"/>
                <a:cs typeface="Adobe Arabic" pitchFamily="18" charset="-78"/>
              </a:rPr>
              <a:t>را حمل می نمایند</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pic>
        <p:nvPicPr>
          <p:cNvPr id="2050" name="Picture 2" descr="G:\Images\Photo-0010.jpg"/>
          <p:cNvPicPr>
            <a:picLocks noChangeAspect="1" noChangeArrowheads="1"/>
          </p:cNvPicPr>
          <p:nvPr/>
        </p:nvPicPr>
        <p:blipFill>
          <a:blip r:embed="rId2" cstate="print"/>
          <a:srcRect/>
          <a:stretch>
            <a:fillRect/>
          </a:stretch>
        </p:blipFill>
        <p:spPr bwMode="auto">
          <a:xfrm>
            <a:off x="714348" y="3071810"/>
            <a:ext cx="3929090" cy="2857520"/>
          </a:xfrm>
          <a:prstGeom prst="rect">
            <a:avLst/>
          </a:prstGeom>
          <a:noFill/>
        </p:spPr>
      </p:pic>
      <p:pic>
        <p:nvPicPr>
          <p:cNvPr id="2051" name="Picture 3" descr="G:\Images\Photo-0011.jpg"/>
          <p:cNvPicPr>
            <a:picLocks noChangeAspect="1" noChangeArrowheads="1"/>
          </p:cNvPicPr>
          <p:nvPr/>
        </p:nvPicPr>
        <p:blipFill>
          <a:blip r:embed="rId3" cstate="print"/>
          <a:srcRect/>
          <a:stretch>
            <a:fillRect/>
          </a:stretch>
        </p:blipFill>
        <p:spPr bwMode="auto">
          <a:xfrm>
            <a:off x="5000628" y="3000372"/>
            <a:ext cx="3714776" cy="285752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258204" cy="6083638"/>
          </a:xfrm>
        </p:spPr>
        <p:txBody>
          <a:bodyPr>
            <a:normAutofit/>
          </a:bodyPr>
          <a:lstStyle/>
          <a:p>
            <a:pPr algn="r" rtl="1"/>
            <a:r>
              <a:rPr lang="fa-IR" dirty="0" smtClean="0">
                <a:solidFill>
                  <a:srgbClr val="FF0000"/>
                </a:solidFill>
                <a:latin typeface="Adobe Arabic" pitchFamily="18" charset="-78"/>
                <a:cs typeface="Adobe Arabic" pitchFamily="18" charset="-78"/>
              </a:rPr>
              <a:t>3-</a:t>
            </a:r>
            <a:r>
              <a:rPr lang="fa-IR" dirty="0" smtClean="0">
                <a:latin typeface="Adobe Arabic" pitchFamily="18" charset="-78"/>
                <a:cs typeface="Adobe Arabic" pitchFamily="18" charset="-78"/>
              </a:rPr>
              <a:t> </a:t>
            </a:r>
            <a:r>
              <a:rPr lang="fa-IR" dirty="0" smtClean="0">
                <a:solidFill>
                  <a:srgbClr val="FF0000"/>
                </a:solidFill>
                <a:latin typeface="Adobe Arabic" pitchFamily="18" charset="-78"/>
                <a:cs typeface="Adobe Arabic" pitchFamily="18" charset="-78"/>
              </a:rPr>
              <a:t>پی نواری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sz="3600" dirty="0" smtClean="0">
                <a:latin typeface="Adobe Arabic" pitchFamily="18" charset="-78"/>
                <a:cs typeface="Adobe Arabic" pitchFamily="18" charset="-78"/>
              </a:rPr>
              <a:t>این پی‌ها </a:t>
            </a:r>
            <a:r>
              <a:rPr lang="fa-IR" sz="3600" dirty="0" smtClean="0">
                <a:solidFill>
                  <a:srgbClr val="FFC000"/>
                </a:solidFill>
                <a:latin typeface="Adobe Arabic" pitchFamily="18" charset="-78"/>
                <a:cs typeface="Adobe Arabic" pitchFamily="18" charset="-78"/>
              </a:rPr>
              <a:t>معمولاً در</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 ساختمان‌های آجری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مورد استفاده قرار</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می گیرد</a:t>
            </a:r>
            <a:r>
              <a:rPr lang="fa-IR" sz="3600" dirty="0" smtClean="0">
                <a:solidFill>
                  <a:srgbClr val="FFC000"/>
                </a:solidFill>
                <a:latin typeface="Adobe Arabic" pitchFamily="18" charset="-78"/>
                <a:cs typeface="Adobe Arabic" pitchFamily="18" charset="-78"/>
              </a:rPr>
              <a:t>. حداکثر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عمق</a:t>
            </a:r>
            <a:r>
              <a:rPr lang="fa-IR" sz="3600" dirty="0" smtClean="0">
                <a:latin typeface="Adobe Arabic" pitchFamily="18" charset="-78"/>
                <a:cs typeface="Adobe Arabic" pitchFamily="18" charset="-78"/>
              </a:rPr>
              <a:t> پی‌های نواری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در حدود </a:t>
            </a:r>
            <a:r>
              <a:rPr lang="fa-IR" sz="3600" dirty="0" smtClean="0">
                <a:solidFill>
                  <a:srgbClr val="FFC000"/>
                </a:solidFill>
                <a:latin typeface="Adobe Arabic" pitchFamily="18" charset="-78"/>
                <a:cs typeface="Adobe Arabic" pitchFamily="18" charset="-78"/>
              </a:rPr>
              <a:t>۵۰</a:t>
            </a:r>
            <a:r>
              <a:rPr lang="fa-IR" sz="3600" dirty="0" smtClean="0">
                <a:latin typeface="Adobe Arabic" pitchFamily="18" charset="-78"/>
                <a:cs typeface="Adobe Arabic" pitchFamily="18" charset="-78"/>
              </a:rPr>
              <a:t> و </a:t>
            </a:r>
            <a:r>
              <a:rPr lang="fa-IR" sz="3600" dirty="0" smtClean="0">
                <a:solidFill>
                  <a:srgbClr val="FFC000"/>
                </a:solidFill>
                <a:latin typeface="Adobe Arabic" pitchFamily="18" charset="-78"/>
                <a:cs typeface="Adobe Arabic" pitchFamily="18" charset="-78"/>
              </a:rPr>
              <a:t>عرض</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 پی قدری بزرگتر از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عرض دی</a:t>
            </a:r>
            <a:r>
              <a:rPr lang="fa-IR" sz="3600" dirty="0" smtClean="0">
                <a:latin typeface="Adobe Arabic" pitchFamily="18" charset="-78"/>
                <a:cs typeface="Adobe Arabic" pitchFamily="18" charset="-78"/>
              </a:rPr>
              <a:t>وار روی آن می باشد.</a:t>
            </a:r>
            <a:endParaRPr lang="en-US" sz="3600" dirty="0">
              <a:latin typeface="Adobe Arabic" pitchFamily="18" charset="-78"/>
              <a:cs typeface="Adobe Arabic" pitchFamily="18" charset="-78"/>
            </a:endParaRPr>
          </a:p>
        </p:txBody>
      </p:sp>
      <p:pic>
        <p:nvPicPr>
          <p:cNvPr id="3074" name="Picture 2" descr="G:\Images\Photo-0012.jpg"/>
          <p:cNvPicPr>
            <a:picLocks noChangeAspect="1" noChangeArrowheads="1"/>
          </p:cNvPicPr>
          <p:nvPr/>
        </p:nvPicPr>
        <p:blipFill>
          <a:blip r:embed="rId2" cstate="print"/>
          <a:srcRect/>
          <a:stretch>
            <a:fillRect/>
          </a:stretch>
        </p:blipFill>
        <p:spPr bwMode="auto">
          <a:xfrm>
            <a:off x="214282" y="285728"/>
            <a:ext cx="4286280" cy="3000396"/>
          </a:xfrm>
          <a:prstGeom prst="rect">
            <a:avLst/>
          </a:prstGeom>
          <a:noFill/>
        </p:spPr>
      </p:pic>
      <p:pic>
        <p:nvPicPr>
          <p:cNvPr id="3075" name="Picture 3" descr="G:\Images\Photo-0013.jpg"/>
          <p:cNvPicPr>
            <a:picLocks noChangeAspect="1" noChangeArrowheads="1"/>
          </p:cNvPicPr>
          <p:nvPr/>
        </p:nvPicPr>
        <p:blipFill>
          <a:blip r:embed="rId3" cstate="print"/>
          <a:srcRect/>
          <a:stretch>
            <a:fillRect/>
          </a:stretch>
        </p:blipFill>
        <p:spPr bwMode="auto">
          <a:xfrm>
            <a:off x="214282" y="3500438"/>
            <a:ext cx="4357718" cy="3143248"/>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401080" cy="6369390"/>
          </a:xfrm>
        </p:spPr>
        <p:txBody>
          <a:bodyPr>
            <a:noAutofit/>
          </a:bodyPr>
          <a:lstStyle/>
          <a:p>
            <a:pPr algn="r" rtl="1"/>
            <a:r>
              <a:rPr lang="fa-IR" sz="3600" dirty="0" smtClean="0">
                <a:solidFill>
                  <a:srgbClr val="FF0000"/>
                </a:solidFill>
                <a:latin typeface="Adobe Arabic" pitchFamily="18" charset="-78"/>
                <a:cs typeface="Adobe Arabic" pitchFamily="18" charset="-78"/>
              </a:rPr>
              <a:t>لایه‌های پی‌های نواری به ترتیب از پایین به بالا:</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شفته ریزی</a:t>
            </a:r>
            <a:r>
              <a:rPr lang="en-US" sz="3600" dirty="0" smtClean="0">
                <a:solidFill>
                  <a:srgbClr val="FFC000"/>
                </a:solidFill>
                <a:latin typeface="Adobe Arabic" pitchFamily="18" charset="-78"/>
                <a:cs typeface="Adobe Arabic" pitchFamily="18" charset="-78"/>
              </a:rPr>
              <a:t/>
            </a:r>
            <a:br>
              <a:rPr lang="en-US"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کرسی چینی</a:t>
            </a:r>
            <a:r>
              <a:rPr lang="en-US" sz="3600" dirty="0" smtClean="0">
                <a:solidFill>
                  <a:srgbClr val="FFC000"/>
                </a:solidFill>
                <a:latin typeface="Adobe Arabic" pitchFamily="18" charset="-78"/>
                <a:cs typeface="Adobe Arabic" pitchFamily="18" charset="-78"/>
              </a:rPr>
              <a:t/>
            </a:r>
            <a:br>
              <a:rPr lang="en-US"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شناژ</a:t>
            </a:r>
            <a:r>
              <a:rPr lang="en-US" sz="3600" dirty="0" smtClean="0">
                <a:solidFill>
                  <a:srgbClr val="FFC000"/>
                </a:solidFill>
                <a:latin typeface="Adobe Arabic" pitchFamily="18" charset="-78"/>
                <a:cs typeface="Adobe Arabic" pitchFamily="18" charset="-78"/>
              </a:rPr>
              <a:t/>
            </a:r>
            <a:br>
              <a:rPr lang="en-US"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ملات ماسه سیمان برای ایزولاسیون رطوبتی</a:t>
            </a:r>
            <a:r>
              <a:rPr lang="en-US" sz="3600" dirty="0" smtClean="0">
                <a:solidFill>
                  <a:srgbClr val="FFC000"/>
                </a:solidFill>
                <a:latin typeface="Adobe Arabic" pitchFamily="18" charset="-78"/>
                <a:cs typeface="Adobe Arabic" pitchFamily="18" charset="-78"/>
              </a:rPr>
              <a:t/>
            </a:r>
            <a:br>
              <a:rPr lang="en-US"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قیر گونی</a:t>
            </a:r>
            <a:r>
              <a:rPr lang="en-US" sz="3600" dirty="0" smtClean="0">
                <a:solidFill>
                  <a:srgbClr val="FFC000"/>
                </a:solidFill>
                <a:latin typeface="Adobe Arabic" pitchFamily="18" charset="-78"/>
                <a:cs typeface="Adobe Arabic" pitchFamily="18" charset="-78"/>
              </a:rPr>
              <a:t/>
            </a:r>
            <a:br>
              <a:rPr lang="en-US"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ملات ماسه سیمان برای پوشش روی قیر گونی</a:t>
            </a:r>
            <a:r>
              <a:rPr lang="en-US" sz="3600" dirty="0" smtClean="0">
                <a:solidFill>
                  <a:srgbClr val="FFC000"/>
                </a:solidFill>
                <a:latin typeface="Adobe Arabic" pitchFamily="18" charset="-78"/>
                <a:cs typeface="Adobe Arabic" pitchFamily="18" charset="-78"/>
              </a:rPr>
              <a:t/>
            </a:r>
            <a:br>
              <a:rPr lang="en-US"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دیوار چینی اصلی</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4290"/>
            <a:ext cx="8401080" cy="2786082"/>
          </a:xfrm>
        </p:spPr>
        <p:txBody>
          <a:bodyPr>
            <a:normAutofit fontScale="90000"/>
          </a:bodyPr>
          <a:lstStyle/>
          <a:p>
            <a:pPr algn="r" rtl="1"/>
            <a:r>
              <a:rPr lang="fa-IR" dirty="0" smtClean="0">
                <a:latin typeface="Adobe Arabic" pitchFamily="18" charset="-78"/>
                <a:cs typeface="Adobe Arabic" pitchFamily="18" charset="-78"/>
              </a:rPr>
              <a:t>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solidFill>
                  <a:srgbClr val="FF0000"/>
                </a:solidFill>
                <a:latin typeface="Adobe Arabic" pitchFamily="18" charset="-78"/>
                <a:cs typeface="Adobe Arabic" pitchFamily="18" charset="-78"/>
              </a:rPr>
              <a:t>5- پی گسترده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sz="3600" dirty="0" smtClean="0">
                <a:latin typeface="Adobe Arabic" pitchFamily="18" charset="-78"/>
                <a:cs typeface="Adobe Arabic" pitchFamily="18" charset="-78"/>
              </a:rPr>
              <a:t>به پی هایی اطلاق می‌شود که </a:t>
            </a:r>
            <a:r>
              <a:rPr lang="fa-IR" sz="3600" dirty="0" smtClean="0">
                <a:solidFill>
                  <a:srgbClr val="FFC000"/>
                </a:solidFill>
                <a:latin typeface="Adobe Arabic" pitchFamily="18" charset="-78"/>
                <a:cs typeface="Adobe Arabic" pitchFamily="18" charset="-78"/>
              </a:rPr>
              <a:t>بار چند ستون یا دیوار را که در ردیف‌ها یا امتدادهای مختلف</a:t>
            </a:r>
            <a:r>
              <a:rPr lang="fa-IR" sz="3600" dirty="0" smtClean="0">
                <a:latin typeface="Adobe Arabic" pitchFamily="18" charset="-78"/>
                <a:cs typeface="Adobe Arabic" pitchFamily="18" charset="-78"/>
              </a:rPr>
              <a:t> قرار دارند به زمین منتقل می نمایند. پی گستره ممکن است </a:t>
            </a:r>
            <a:r>
              <a:rPr lang="fa-IR" sz="3600" dirty="0" smtClean="0">
                <a:solidFill>
                  <a:srgbClr val="FFC000"/>
                </a:solidFill>
                <a:latin typeface="Adobe Arabic" pitchFamily="18" charset="-78"/>
                <a:cs typeface="Adobe Arabic" pitchFamily="18" charset="-78"/>
              </a:rPr>
              <a:t>به شکل دال مجموعه تیر_دال و... </a:t>
            </a:r>
            <a:r>
              <a:rPr lang="fa-IR" sz="3600" dirty="0" smtClean="0">
                <a:latin typeface="Adobe Arabic" pitchFamily="18" charset="-78"/>
                <a:cs typeface="Adobe Arabic" pitchFamily="18" charset="-78"/>
              </a:rPr>
              <a:t>ساخته شود.</a:t>
            </a:r>
            <a:endParaRPr lang="en-US" sz="3600" dirty="0">
              <a:latin typeface="Adobe Arabic" pitchFamily="18" charset="-78"/>
              <a:cs typeface="Adobe Arabic" pitchFamily="18" charset="-78"/>
            </a:endParaRPr>
          </a:p>
        </p:txBody>
      </p:sp>
      <p:pic>
        <p:nvPicPr>
          <p:cNvPr id="4098" name="Picture 2" descr="G:\Images\Photo-0014.jpg"/>
          <p:cNvPicPr>
            <a:picLocks noChangeAspect="1" noChangeArrowheads="1"/>
          </p:cNvPicPr>
          <p:nvPr/>
        </p:nvPicPr>
        <p:blipFill>
          <a:blip r:embed="rId2"/>
          <a:srcRect/>
          <a:stretch>
            <a:fillRect/>
          </a:stretch>
        </p:blipFill>
        <p:spPr bwMode="auto">
          <a:xfrm>
            <a:off x="642910" y="3071810"/>
            <a:ext cx="7929618" cy="3643306"/>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320"/>
            <a:ext cx="8572560" cy="3440432"/>
          </a:xfrm>
        </p:spPr>
        <p:txBody>
          <a:bodyPr/>
          <a:lstStyle/>
          <a:p>
            <a:pPr algn="ctr"/>
            <a:r>
              <a:rPr lang="ar-SA" b="1" dirty="0" smtClean="0">
                <a:solidFill>
                  <a:srgbClr val="FF0000"/>
                </a:solidFill>
                <a:latin typeface="Adobe Arabic" pitchFamily="18" charset="-78"/>
                <a:cs typeface="Adobe Arabic" pitchFamily="18" charset="-78"/>
              </a:rPr>
              <a:t>اجرای فونداسیون </a:t>
            </a:r>
            <a:r>
              <a:rPr lang="fa-IR" b="1" dirty="0" smtClean="0">
                <a:solidFill>
                  <a:srgbClr val="FF0000"/>
                </a:solidFill>
                <a:latin typeface="Adobe Arabic" pitchFamily="18" charset="-78"/>
                <a:cs typeface="Adobe Arabic" pitchFamily="18" charset="-78"/>
              </a:rPr>
              <a:t>(پی)</a:t>
            </a:r>
            <a:br>
              <a:rPr lang="fa-IR" b="1" dirty="0" smtClean="0">
                <a:solidFill>
                  <a:srgbClr val="FF0000"/>
                </a:solidFill>
                <a:latin typeface="Adobe Arabic" pitchFamily="18" charset="-78"/>
                <a:cs typeface="Adobe Arabic" pitchFamily="18" charset="-78"/>
              </a:rPr>
            </a:b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ar-SA" dirty="0" smtClean="0">
                <a:solidFill>
                  <a:srgbClr val="FFC000"/>
                </a:solidFill>
                <a:latin typeface="Adobe Arabic" pitchFamily="18" charset="-78"/>
                <a:cs typeface="Adobe Arabic" pitchFamily="18" charset="-78"/>
              </a:rPr>
              <a:t>مراحل ساخت فنداسيون ساختمان</a:t>
            </a:r>
            <a:r>
              <a:rPr lang="fa-IR" dirty="0" smtClean="0">
                <a:solidFill>
                  <a:srgbClr val="FFC000"/>
                </a:solidFill>
                <a:latin typeface="Adobe Arabic" pitchFamily="18" charset="-78"/>
                <a:cs typeface="Adobe Arabic" pitchFamily="18" charset="-78"/>
              </a:rPr>
              <a:t>:</a:t>
            </a:r>
            <a:endParaRPr lang="en-US" dirty="0">
              <a:solidFill>
                <a:srgbClr val="FFC000"/>
              </a:solidFill>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85728"/>
            <a:ext cx="8715436" cy="4643470"/>
          </a:xfrm>
        </p:spPr>
        <p:txBody>
          <a:bodyPr>
            <a:normAutofit/>
          </a:bodyPr>
          <a:lstStyle/>
          <a:p>
            <a:pPr algn="r"/>
            <a:r>
              <a:rPr lang="ar-SA" sz="3600" dirty="0" smtClean="0">
                <a:solidFill>
                  <a:srgbClr val="FF0000"/>
                </a:solidFill>
                <a:latin typeface="Adobe Arabic" pitchFamily="18" charset="-78"/>
                <a:cs typeface="Adobe Arabic" pitchFamily="18" charset="-78"/>
              </a:rPr>
              <a:t>اجراي فونداسيون </a:t>
            </a:r>
            <a:r>
              <a:rPr lang="ar-SA" sz="3600" dirty="0" smtClean="0">
                <a:latin typeface="Adobe Arabic" pitchFamily="18" charset="-78"/>
                <a:cs typeface="Adobe Arabic" pitchFamily="18" charset="-78"/>
              </a:rPr>
              <a:t>ساختمان </a:t>
            </a:r>
            <a:r>
              <a:rPr lang="ar-SA" sz="3600" dirty="0" smtClean="0">
                <a:solidFill>
                  <a:srgbClr val="FFC000"/>
                </a:solidFill>
                <a:latin typeface="Adobe Arabic" pitchFamily="18" charset="-78"/>
                <a:cs typeface="Adobe Arabic" pitchFamily="18" charset="-78"/>
              </a:rPr>
              <a:t>بايد</a:t>
            </a:r>
            <a:r>
              <a:rPr lang="ar-SA" sz="3600" dirty="0" smtClean="0">
                <a:latin typeface="Adobe Arabic" pitchFamily="18" charset="-78"/>
                <a:cs typeface="Adobe Arabic" pitchFamily="18" charset="-78"/>
              </a:rPr>
              <a:t> به طور كاملا فني و دقيق روي </a:t>
            </a:r>
            <a:r>
              <a:rPr lang="ar-SA" sz="3600" dirty="0" smtClean="0">
                <a:solidFill>
                  <a:srgbClr val="FFC000"/>
                </a:solidFill>
                <a:latin typeface="Adobe Arabic" pitchFamily="18" charset="-78"/>
                <a:cs typeface="Adobe Arabic" pitchFamily="18" charset="-78"/>
              </a:rPr>
              <a:t>زمين با مقاومت كافي </a:t>
            </a:r>
            <a:r>
              <a:rPr lang="ar-SA" sz="3600" dirty="0" smtClean="0">
                <a:latin typeface="Adobe Arabic" pitchFamily="18" charset="-78"/>
                <a:cs typeface="Adobe Arabic" pitchFamily="18" charset="-78"/>
              </a:rPr>
              <a:t>و كنترل شده، </a:t>
            </a:r>
            <a:r>
              <a:rPr lang="ar-SA" sz="3600" dirty="0" smtClean="0">
                <a:solidFill>
                  <a:srgbClr val="FFC000"/>
                </a:solidFill>
                <a:latin typeface="Adobe Arabic" pitchFamily="18" charset="-78"/>
                <a:cs typeface="Adobe Arabic" pitchFamily="18" charset="-78"/>
              </a:rPr>
              <a:t>باخاك كاملا متراكم</a:t>
            </a:r>
            <a:r>
              <a:rPr lang="ar-SA" sz="3600" dirty="0" smtClean="0">
                <a:latin typeface="Adobe Arabic" pitchFamily="18" charset="-78"/>
                <a:cs typeface="Adobe Arabic" pitchFamily="18" charset="-78"/>
              </a:rPr>
              <a:t> و </a:t>
            </a:r>
            <a:r>
              <a:rPr lang="ar-SA" sz="3600" dirty="0" smtClean="0">
                <a:solidFill>
                  <a:srgbClr val="FFC000"/>
                </a:solidFill>
                <a:latin typeface="Adobe Arabic" pitchFamily="18" charset="-78"/>
                <a:cs typeface="Adobe Arabic" pitchFamily="18" charset="-78"/>
              </a:rPr>
              <a:t>داراي دانه بندي و جنس مطلوب </a:t>
            </a:r>
            <a:r>
              <a:rPr lang="ar-SA" sz="3600" dirty="0" smtClean="0">
                <a:latin typeface="Adobe Arabic" pitchFamily="18" charset="-78"/>
                <a:cs typeface="Adobe Arabic" pitchFamily="18" charset="-78"/>
              </a:rPr>
              <a:t>باشد، </a:t>
            </a:r>
            <a:r>
              <a:rPr lang="ar-SA" sz="3600" dirty="0" smtClean="0">
                <a:solidFill>
                  <a:srgbClr val="FF0000"/>
                </a:solidFill>
                <a:latin typeface="Adobe Arabic" pitchFamily="18" charset="-78"/>
                <a:cs typeface="Adobe Arabic" pitchFamily="18" charset="-78"/>
              </a:rPr>
              <a:t>تا</a:t>
            </a:r>
            <a:r>
              <a:rPr lang="ar-SA" sz="3600" dirty="0" smtClean="0">
                <a:latin typeface="Adobe Arabic" pitchFamily="18" charset="-78"/>
                <a:cs typeface="Adobe Arabic" pitchFamily="18" charset="-78"/>
              </a:rPr>
              <a:t> احيانا </a:t>
            </a:r>
            <a:r>
              <a:rPr lang="ar-SA" sz="3600" dirty="0" smtClean="0">
                <a:solidFill>
                  <a:srgbClr val="FFC000"/>
                </a:solidFill>
                <a:latin typeface="Adobe Arabic" pitchFamily="18" charset="-78"/>
                <a:cs typeface="Adobe Arabic" pitchFamily="18" charset="-78"/>
              </a:rPr>
              <a:t>مسئله نشست و لغزش در پي رخ ندهد</a:t>
            </a:r>
            <a:r>
              <a:rPr lang="ar-SA" sz="3600" dirty="0" smtClean="0">
                <a:latin typeface="Adobe Arabic" pitchFamily="18" charset="-78"/>
                <a:cs typeface="Adobe Arabic" pitchFamily="18" charset="-78"/>
              </a:rPr>
              <a:t>.</a:t>
            </a:r>
            <a:r>
              <a:rPr lang="fa-IR" sz="3600" dirty="0" smtClean="0">
                <a:latin typeface="Adobe Arabic" pitchFamily="18" charset="-78"/>
                <a:cs typeface="Adobe Arabic" pitchFamily="18" charset="-78"/>
              </a:rPr>
              <a:t>به همین دلیل مهندس طراح باید از طبیعت و رفتار خاک زیر شالوده مطلع </a:t>
            </a:r>
            <a:r>
              <a:rPr lang="fa-IR" sz="3600" dirty="0" smtClean="0">
                <a:solidFill>
                  <a:srgbClr val="FFC000"/>
                </a:solidFill>
                <a:latin typeface="Adobe Arabic" pitchFamily="18" charset="-78"/>
                <a:cs typeface="Adobe Arabic" pitchFamily="18" charset="-78"/>
              </a:rPr>
              <a:t>باشد.فرآیند شناسایی خاک تحت الارض و تعیین مشخصات فیزیکی آن </a:t>
            </a:r>
            <a:r>
              <a:rPr lang="fa-IR" sz="3600" dirty="0" smtClean="0">
                <a:solidFill>
                  <a:srgbClr val="FF0000"/>
                </a:solidFill>
                <a:latin typeface="Adobe Arabic" pitchFamily="18" charset="-78"/>
                <a:cs typeface="Adobe Arabic" pitchFamily="18" charset="-78"/>
              </a:rPr>
              <a:t>&lt;&lt;شناسایی های تحت الارضی &gt;&gt; </a:t>
            </a:r>
            <a:r>
              <a:rPr lang="fa-IR" sz="3600" dirty="0" smtClean="0">
                <a:solidFill>
                  <a:srgbClr val="FFC000"/>
                </a:solidFill>
                <a:latin typeface="Adobe Arabic" pitchFamily="18" charset="-78"/>
                <a:cs typeface="Adobe Arabic" pitchFamily="18" charset="-78"/>
              </a:rPr>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نامیده میشود.</a:t>
            </a:r>
            <a:endParaRPr lang="en-US" sz="3600" dirty="0">
              <a:solidFill>
                <a:srgbClr val="FFC000"/>
              </a:solidFill>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274320"/>
            <a:ext cx="8858312" cy="6083638"/>
          </a:xfrm>
        </p:spPr>
        <p:txBody>
          <a:bodyPr>
            <a:noAutofit/>
          </a:bodyPr>
          <a:lstStyle/>
          <a:p>
            <a:pPr algn="r"/>
            <a:r>
              <a:rPr lang="fa-IR" sz="3600" dirty="0" smtClean="0">
                <a:solidFill>
                  <a:srgbClr val="FF0000"/>
                </a:solidFill>
                <a:latin typeface="Adobe Arabic" pitchFamily="18" charset="-78"/>
                <a:cs typeface="Adobe Arabic" pitchFamily="18" charset="-78"/>
              </a:rPr>
              <a:t>هدف</a:t>
            </a:r>
            <a:r>
              <a:rPr lang="fa-IR" sz="3600" dirty="0" smtClean="0">
                <a:latin typeface="Adobe Arabic" pitchFamily="18" charset="-78"/>
                <a:cs typeface="Adobe Arabic" pitchFamily="18" charset="-78"/>
              </a:rPr>
              <a:t> از این شناسایی ها </a:t>
            </a:r>
            <a:r>
              <a:rPr lang="fa-IR" sz="3600" dirty="0" smtClean="0">
                <a:solidFill>
                  <a:srgbClr val="FF0000"/>
                </a:solidFill>
                <a:latin typeface="Adobe Arabic" pitchFamily="18" charset="-78"/>
                <a:cs typeface="Adobe Arabic" pitchFamily="18" charset="-78"/>
              </a:rPr>
              <a:t>تعیین اطلاعاتی </a:t>
            </a:r>
            <a:r>
              <a:rPr lang="fa-IR" sz="3600" dirty="0" smtClean="0">
                <a:latin typeface="Adobe Arabic" pitchFamily="18" charset="-78"/>
                <a:cs typeface="Adobe Arabic" pitchFamily="18" charset="-78"/>
              </a:rPr>
              <a:t>است که مهندس ژئوتکنیک را در موارد زیر یاری میدهد.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1)</a:t>
            </a:r>
            <a:r>
              <a:rPr lang="fa-IR" sz="3600" dirty="0" smtClean="0">
                <a:solidFill>
                  <a:srgbClr val="FFC000"/>
                </a:solidFill>
                <a:latin typeface="Adobe Arabic" pitchFamily="18" charset="-78"/>
                <a:cs typeface="Adobe Arabic" pitchFamily="18" charset="-78"/>
              </a:rPr>
              <a:t> </a:t>
            </a:r>
            <a:r>
              <a:rPr lang="fa-IR" sz="3600" dirty="0" smtClean="0">
                <a:latin typeface="Adobe Arabic" pitchFamily="18" charset="-78"/>
                <a:cs typeface="Adobe Arabic" pitchFamily="18" charset="-78"/>
              </a:rPr>
              <a:t>انتخاب </a:t>
            </a:r>
            <a:r>
              <a:rPr lang="fa-IR" sz="3600" dirty="0" smtClean="0">
                <a:solidFill>
                  <a:srgbClr val="FFC000"/>
                </a:solidFill>
                <a:latin typeface="Adobe Arabic" pitchFamily="18" charset="-78"/>
                <a:cs typeface="Adobe Arabic" pitchFamily="18" charset="-78"/>
              </a:rPr>
              <a:t>نوع و عمق شالوده ای </a:t>
            </a:r>
            <a:r>
              <a:rPr lang="fa-IR" sz="3600" dirty="0" smtClean="0">
                <a:latin typeface="Adobe Arabic" pitchFamily="18" charset="-78"/>
                <a:cs typeface="Adobe Arabic" pitchFamily="18" charset="-78"/>
              </a:rPr>
              <a:t>که برای سازه مناسب است</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2) </a:t>
            </a:r>
            <a:r>
              <a:rPr lang="fa-IR" sz="3600" dirty="0" smtClean="0">
                <a:latin typeface="Adobe Arabic" pitchFamily="18" charset="-78"/>
                <a:cs typeface="Adobe Arabic" pitchFamily="18" charset="-78"/>
              </a:rPr>
              <a:t>تخمین </a:t>
            </a:r>
            <a:r>
              <a:rPr lang="fa-IR" sz="3600" dirty="0" smtClean="0">
                <a:solidFill>
                  <a:srgbClr val="FFC000"/>
                </a:solidFill>
                <a:latin typeface="Adobe Arabic" pitchFamily="18" charset="-78"/>
                <a:cs typeface="Adobe Arabic" pitchFamily="18" charset="-78"/>
              </a:rPr>
              <a:t>ظرفیت باربری</a:t>
            </a:r>
            <a:r>
              <a:rPr lang="fa-IR" sz="3600" dirty="0" smtClean="0">
                <a:latin typeface="Adobe Arabic" pitchFamily="18" charset="-78"/>
                <a:cs typeface="Adobe Arabic" pitchFamily="18" charset="-78"/>
              </a:rPr>
              <a:t> پی</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3) </a:t>
            </a:r>
            <a:r>
              <a:rPr lang="fa-IR" sz="3600" dirty="0" smtClean="0">
                <a:latin typeface="Adobe Arabic" pitchFamily="18" charset="-78"/>
                <a:cs typeface="Adobe Arabic" pitchFamily="18" charset="-78"/>
              </a:rPr>
              <a:t>تخمین </a:t>
            </a:r>
            <a:r>
              <a:rPr lang="fa-IR" sz="3600" dirty="0" smtClean="0">
                <a:solidFill>
                  <a:srgbClr val="FFC000"/>
                </a:solidFill>
                <a:latin typeface="Adobe Arabic" pitchFamily="18" charset="-78"/>
                <a:cs typeface="Adobe Arabic" pitchFamily="18" charset="-78"/>
              </a:rPr>
              <a:t>نشستهای احتمالی</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4) </a:t>
            </a:r>
            <a:r>
              <a:rPr lang="fa-IR" sz="3600" dirty="0" smtClean="0">
                <a:latin typeface="Adobe Arabic" pitchFamily="18" charset="-78"/>
                <a:cs typeface="Adobe Arabic" pitchFamily="18" charset="-78"/>
              </a:rPr>
              <a:t>تعیین موقعیت </a:t>
            </a:r>
            <a:r>
              <a:rPr lang="fa-IR" sz="3600" dirty="0" smtClean="0">
                <a:solidFill>
                  <a:srgbClr val="FFC000"/>
                </a:solidFill>
                <a:latin typeface="Adobe Arabic" pitchFamily="18" charset="-78"/>
                <a:cs typeface="Adobe Arabic" pitchFamily="18" charset="-78"/>
              </a:rPr>
              <a:t>سطح آب زیرزمینی</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5) </a:t>
            </a:r>
            <a:r>
              <a:rPr lang="fa-IR" sz="3600" dirty="0" smtClean="0">
                <a:latin typeface="Adobe Arabic" pitchFamily="18" charset="-78"/>
                <a:cs typeface="Adobe Arabic" pitchFamily="18" charset="-78"/>
              </a:rPr>
              <a:t>تعیین روشهای اجرایی برای </a:t>
            </a:r>
            <a:r>
              <a:rPr lang="fa-IR" sz="3600" dirty="0" smtClean="0">
                <a:solidFill>
                  <a:srgbClr val="FFC000"/>
                </a:solidFill>
                <a:latin typeface="Adobe Arabic" pitchFamily="18" charset="-78"/>
                <a:cs typeface="Adobe Arabic" pitchFamily="18" charset="-78"/>
              </a:rPr>
              <a:t>تفسیر شرایط تحت الارض</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6) </a:t>
            </a:r>
            <a:r>
              <a:rPr lang="fa-IR" sz="3600" dirty="0" smtClean="0">
                <a:latin typeface="Adobe Arabic" pitchFamily="18" charset="-78"/>
                <a:cs typeface="Adobe Arabic" pitchFamily="18" charset="-78"/>
              </a:rPr>
              <a:t>تعیین </a:t>
            </a:r>
            <a:r>
              <a:rPr lang="fa-IR" sz="3600" dirty="0" smtClean="0">
                <a:solidFill>
                  <a:srgbClr val="FFC000"/>
                </a:solidFill>
                <a:latin typeface="Adobe Arabic" pitchFamily="18" charset="-78"/>
                <a:cs typeface="Adobe Arabic" pitchFamily="18" charset="-78"/>
              </a:rPr>
              <a:t>خصوصیات شیمیایی </a:t>
            </a:r>
            <a:r>
              <a:rPr lang="fa-IR" sz="3600" dirty="0" smtClean="0">
                <a:latin typeface="Adobe Arabic" pitchFamily="18" charset="-78"/>
                <a:cs typeface="Adobe Arabic" pitchFamily="18" charset="-78"/>
              </a:rPr>
              <a:t>خاک(جهت تعیین نوع سیمان مصرفی)</a:t>
            </a: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320"/>
            <a:ext cx="8643998" cy="4226250"/>
          </a:xfrm>
        </p:spPr>
        <p:txBody>
          <a:bodyPr>
            <a:normAutofit/>
          </a:bodyPr>
          <a:lstStyle/>
          <a:p>
            <a:pPr algn="r"/>
            <a:r>
              <a:rPr lang="fa-IR" dirty="0" smtClean="0">
                <a:solidFill>
                  <a:srgbClr val="FF0000"/>
                </a:solidFill>
                <a:latin typeface="Adobe Arabic" pitchFamily="18" charset="-78"/>
                <a:cs typeface="Adobe Arabic" pitchFamily="18" charset="-78"/>
              </a:rPr>
              <a:t>برنامه مطالعات تحت الرضی </a:t>
            </a:r>
            <a:r>
              <a:rPr lang="fa-IR" dirty="0" smtClean="0">
                <a:latin typeface="Adobe Arabic" pitchFamily="18" charset="-78"/>
                <a:cs typeface="Adobe Arabic" pitchFamily="18" charset="-78"/>
              </a:rPr>
              <a:t>شامل </a:t>
            </a:r>
            <a:r>
              <a:rPr lang="fa-IR" dirty="0" smtClean="0">
                <a:solidFill>
                  <a:srgbClr val="FF0000"/>
                </a:solidFill>
                <a:latin typeface="Adobe Arabic" pitchFamily="18" charset="-78"/>
                <a:cs typeface="Adobe Arabic" pitchFamily="18" charset="-78"/>
              </a:rPr>
              <a:t>3 </a:t>
            </a:r>
            <a:r>
              <a:rPr lang="fa-IR" dirty="0" smtClean="0">
                <a:latin typeface="Adobe Arabic" pitchFamily="18" charset="-78"/>
                <a:cs typeface="Adobe Arabic" pitchFamily="18" charset="-78"/>
              </a:rPr>
              <a:t>گام اساسی زیر میباشد:</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solidFill>
                  <a:srgbClr val="FFC000"/>
                </a:solidFill>
                <a:latin typeface="Adobe Arabic" pitchFamily="18" charset="-78"/>
                <a:cs typeface="Adobe Arabic" pitchFamily="18" charset="-78"/>
              </a:rPr>
              <a:t>الف) </a:t>
            </a:r>
            <a:r>
              <a:rPr lang="fa-IR" dirty="0" smtClean="0">
                <a:latin typeface="Adobe Arabic" pitchFamily="18" charset="-78"/>
                <a:cs typeface="Adobe Arabic" pitchFamily="18" charset="-78"/>
              </a:rPr>
              <a:t>جمع آوری اطلاعات اولیه</a:t>
            </a:r>
            <a:br>
              <a:rPr lang="fa-IR" dirty="0" smtClean="0">
                <a:latin typeface="Adobe Arabic" pitchFamily="18" charset="-78"/>
                <a:cs typeface="Adobe Arabic" pitchFamily="18" charset="-78"/>
              </a:rPr>
            </a:br>
            <a:r>
              <a:rPr lang="fa-IR" dirty="0" smtClean="0">
                <a:solidFill>
                  <a:srgbClr val="FFC000"/>
                </a:solidFill>
                <a:latin typeface="Adobe Arabic" pitchFamily="18" charset="-78"/>
                <a:cs typeface="Adobe Arabic" pitchFamily="18" charset="-78"/>
              </a:rPr>
              <a:t>ب) </a:t>
            </a:r>
            <a:r>
              <a:rPr lang="fa-IR" dirty="0" smtClean="0">
                <a:latin typeface="Adobe Arabic" pitchFamily="18" charset="-78"/>
                <a:cs typeface="Adobe Arabic" pitchFamily="18" charset="-78"/>
              </a:rPr>
              <a:t>بازدید محلی</a:t>
            </a:r>
            <a:br>
              <a:rPr lang="fa-IR" dirty="0" smtClean="0">
                <a:latin typeface="Adobe Arabic" pitchFamily="18" charset="-78"/>
                <a:cs typeface="Adobe Arabic" pitchFamily="18" charset="-78"/>
              </a:rPr>
            </a:br>
            <a:r>
              <a:rPr lang="fa-IR" dirty="0" smtClean="0">
                <a:solidFill>
                  <a:srgbClr val="FFC000"/>
                </a:solidFill>
                <a:latin typeface="Adobe Arabic" pitchFamily="18" charset="-78"/>
                <a:cs typeface="Adobe Arabic" pitchFamily="18" charset="-78"/>
              </a:rPr>
              <a:t>ج) </a:t>
            </a:r>
            <a:r>
              <a:rPr lang="fa-IR" dirty="0" smtClean="0">
                <a:latin typeface="Adobe Arabic" pitchFamily="18" charset="-78"/>
                <a:cs typeface="Adobe Arabic" pitchFamily="18" charset="-78"/>
              </a:rPr>
              <a:t>عملیات گمانه زنی و شناسایی</a:t>
            </a:r>
            <a:endParaRPr lang="en-US" dirty="0">
              <a:latin typeface="Adobe Arabic" pitchFamily="18" charset="-78"/>
              <a:cs typeface="Adobe Arabic" pitchFamily="18" charset="-78"/>
            </a:endParaRPr>
          </a:p>
        </p:txBody>
      </p:sp>
      <p:sp>
        <p:nvSpPr>
          <p:cNvPr id="3" name="TextBox 2"/>
          <p:cNvSpPr txBox="1"/>
          <p:nvPr/>
        </p:nvSpPr>
        <p:spPr>
          <a:xfrm>
            <a:off x="285720" y="5072074"/>
            <a:ext cx="8429684" cy="461665"/>
          </a:xfrm>
          <a:prstGeom prst="rect">
            <a:avLst/>
          </a:prstGeom>
          <a:noFill/>
        </p:spPr>
        <p:txBody>
          <a:bodyPr wrap="square" rtlCol="0">
            <a:spAutoFit/>
          </a:bodyPr>
          <a:lstStyle/>
          <a:p>
            <a:pPr algn="r"/>
            <a:r>
              <a:rPr lang="fa-IR" sz="2400" dirty="0" smtClean="0"/>
              <a:t>که در ادامه به شرح آنها پرداخته شده ....</a:t>
            </a:r>
            <a:endParaRPr 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1357346"/>
            <a:ext cx="8643998" cy="7286676"/>
          </a:xfrm>
        </p:spPr>
        <p:txBody>
          <a:bodyPr>
            <a:noAutofit/>
          </a:bodyPr>
          <a:lstStyle/>
          <a:p>
            <a:pPr algn="r"/>
            <a:r>
              <a:rPr lang="fa-IR" sz="3600" dirty="0" smtClean="0">
                <a:solidFill>
                  <a:srgbClr val="FFC000"/>
                </a:solidFill>
                <a:latin typeface="Adobe Arabic" pitchFamily="18" charset="-78"/>
                <a:cs typeface="Adobe Arabic" pitchFamily="18" charset="-78"/>
              </a:rPr>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
            </a:r>
            <a:br>
              <a:rPr lang="fa-IR" sz="3600" dirty="0" smtClean="0">
                <a:solidFill>
                  <a:srgbClr val="FFC000"/>
                </a:solidFill>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جمع آوری اطلاعات اولیه شامل : </a:t>
            </a:r>
            <a:r>
              <a:rPr lang="fa-IR" sz="3600" dirty="0" smtClean="0">
                <a:latin typeface="Adobe Arabic" pitchFamily="18" charset="-78"/>
                <a:cs typeface="Adobe Arabic" pitchFamily="18" charset="-78"/>
              </a:rPr>
              <a:t>نوع سازه و کاربری آن،تعداد ستون ها،محدودیت های آیین نامه ای ملی و محلی</a:t>
            </a:r>
            <a:br>
              <a:rPr lang="fa-IR" sz="3600" dirty="0" smtClean="0">
                <a:latin typeface="Adobe Arabic" pitchFamily="18" charset="-78"/>
                <a:cs typeface="Adobe Arabic" pitchFamily="18" charset="-78"/>
              </a:rPr>
            </a:br>
            <a:r>
              <a:rPr lang="fa-IR" sz="3600" dirty="0" smtClean="0">
                <a:solidFill>
                  <a:srgbClr val="FFC000"/>
                </a:solidFill>
                <a:latin typeface="Adobe Arabic" pitchFamily="18" charset="-78"/>
                <a:cs typeface="Adobe Arabic" pitchFamily="18" charset="-78"/>
              </a:rPr>
              <a:t>بازدید محلی: </a:t>
            </a:r>
            <a:r>
              <a:rPr lang="fa-IR" sz="3600" dirty="0" smtClean="0">
                <a:latin typeface="Adobe Arabic" pitchFamily="18" charset="-78"/>
                <a:cs typeface="Adobe Arabic" pitchFamily="18" charset="-78"/>
              </a:rPr>
              <a:t>در این مرحله به منظور بازرسی چشمی از منطقه بازدید محلی با هدف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بررسی لایه بندی خاک ،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بررسی روییدنیهای سطحی ،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بررسی تراز آب در چاههای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موجود در منطقه ،بررسی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شالوده های ساختمان های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اطراف انجام میگیرد. </a:t>
            </a: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0"/>
            <a:ext cx="8643998" cy="3500438"/>
          </a:xfrm>
        </p:spPr>
        <p:txBody>
          <a:bodyPr>
            <a:normAutofit/>
          </a:bodyPr>
          <a:lstStyle/>
          <a:p>
            <a:pPr algn="r"/>
            <a:r>
              <a:rPr lang="fa-IR" sz="3600" dirty="0" smtClean="0">
                <a:solidFill>
                  <a:srgbClr val="FFC000"/>
                </a:solidFill>
                <a:latin typeface="Adobe Arabic" pitchFamily="18" charset="-78"/>
                <a:cs typeface="Adobe Arabic" pitchFamily="18" charset="-78"/>
              </a:rPr>
              <a:t>عملیات گمانه زنی و شناسایی : </a:t>
            </a:r>
            <a:r>
              <a:rPr lang="fa-IR" sz="3600" dirty="0" smtClean="0">
                <a:latin typeface="Adobe Arabic" pitchFamily="18" charset="-78"/>
                <a:cs typeface="Adobe Arabic" pitchFamily="18" charset="-78"/>
              </a:rPr>
              <a:t>به چاههایی که در محل به منظور شناسایی خاک حفاری میشود گمانه گفته میشود.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هیچ گونه قانون سرراستی جهت تعیین دقیق تعداد ، محل ، فواصل و عمق گمانه ها وجود ندارد.توصیه های زیر جهت تقریب مطمئن موارد فوق ارائه شده است. </a:t>
            </a:r>
            <a:endParaRPr lang="en-US" sz="3600" dirty="0">
              <a:latin typeface="Adobe Arabic" pitchFamily="18" charset="-78"/>
              <a:cs typeface="Adobe Arabic" pitchFamily="18" charset="-78"/>
            </a:endParaRPr>
          </a:p>
        </p:txBody>
      </p:sp>
      <p:pic>
        <p:nvPicPr>
          <p:cNvPr id="5123" name="Picture 3" descr="C:\Users\tadbir sabz\Desktop\rotary_drilling_rig.gif"/>
          <p:cNvPicPr>
            <a:picLocks noChangeAspect="1" noChangeArrowheads="1"/>
          </p:cNvPicPr>
          <p:nvPr/>
        </p:nvPicPr>
        <p:blipFill>
          <a:blip r:embed="rId2"/>
          <a:srcRect/>
          <a:stretch>
            <a:fillRect/>
          </a:stretch>
        </p:blipFill>
        <p:spPr bwMode="auto">
          <a:xfrm>
            <a:off x="571472" y="2643182"/>
            <a:ext cx="3643338" cy="3962401"/>
          </a:xfrm>
          <a:prstGeom prst="rect">
            <a:avLst/>
          </a:prstGeom>
          <a:ln>
            <a:noFill/>
          </a:ln>
          <a:effectLst>
            <a:softEdge rad="112500"/>
          </a:effectLst>
        </p:spPr>
      </p:pic>
      <p:pic>
        <p:nvPicPr>
          <p:cNvPr id="1026" name="Picture 2" descr="C:\Users\tadbir sabz\Desktop\psdxa0rxnps6mj25vw2.jpg"/>
          <p:cNvPicPr>
            <a:picLocks noChangeAspect="1" noChangeArrowheads="1"/>
          </p:cNvPicPr>
          <p:nvPr/>
        </p:nvPicPr>
        <p:blipFill>
          <a:blip r:embed="rId3"/>
          <a:srcRect/>
          <a:stretch>
            <a:fillRect/>
          </a:stretch>
        </p:blipFill>
        <p:spPr bwMode="auto">
          <a:xfrm>
            <a:off x="5143504" y="3143248"/>
            <a:ext cx="2543175" cy="3448050"/>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329642" cy="6083638"/>
          </a:xfrm>
        </p:spPr>
        <p:txBody>
          <a:bodyPr>
            <a:normAutofit/>
          </a:bodyPr>
          <a:lstStyle/>
          <a:p>
            <a:pPr algn="r"/>
            <a:r>
              <a:rPr lang="fa-IR" sz="3600" dirty="0" smtClean="0">
                <a:solidFill>
                  <a:srgbClr val="FF0000"/>
                </a:solidFill>
                <a:latin typeface="Adobe Arabic" pitchFamily="18" charset="-78"/>
                <a:cs typeface="Adobe Arabic" pitchFamily="18" charset="-78"/>
              </a:rPr>
              <a:t>1) تعداد گمانه ها – فواصل گمانه ها</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در یک </a:t>
            </a:r>
            <a:r>
              <a:rPr lang="fa-IR" sz="3600" dirty="0" smtClean="0">
                <a:solidFill>
                  <a:srgbClr val="FFC000"/>
                </a:solidFill>
                <a:latin typeface="Adobe Arabic" pitchFamily="18" charset="-78"/>
                <a:cs typeface="Adobe Arabic" pitchFamily="18" charset="-78"/>
              </a:rPr>
              <a:t>پروژه ایده ال متمرکز 5 گمانه </a:t>
            </a:r>
            <a:r>
              <a:rPr lang="fa-IR" sz="3600" dirty="0" smtClean="0">
                <a:latin typeface="Adobe Arabic" pitchFamily="18" charset="-78"/>
                <a:cs typeface="Adobe Arabic" pitchFamily="18" charset="-78"/>
              </a:rPr>
              <a:t>لازم بوده که معمولا </a:t>
            </a:r>
            <a:r>
              <a:rPr lang="fa-IR" sz="3600" dirty="0" smtClean="0">
                <a:solidFill>
                  <a:srgbClr val="FFC000"/>
                </a:solidFill>
                <a:latin typeface="Adobe Arabic" pitchFamily="18" charset="-78"/>
                <a:cs typeface="Adobe Arabic" pitchFamily="18" charset="-78"/>
              </a:rPr>
              <a:t>چهار گمانه در گوشه و یگی در مرکز </a:t>
            </a:r>
            <a:r>
              <a:rPr lang="fa-IR" sz="3600" dirty="0" smtClean="0">
                <a:latin typeface="Adobe Arabic" pitchFamily="18" charset="-78"/>
                <a:cs typeface="Adobe Arabic" pitchFamily="18" charset="-78"/>
              </a:rPr>
              <a:t>حفاری میباشد.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pic>
        <p:nvPicPr>
          <p:cNvPr id="6146" name="Picture 2" descr="G:\Images\Photo-0004.jpg"/>
          <p:cNvPicPr>
            <a:picLocks noChangeAspect="1" noChangeArrowheads="1"/>
          </p:cNvPicPr>
          <p:nvPr/>
        </p:nvPicPr>
        <p:blipFill>
          <a:blip r:embed="rId2"/>
          <a:srcRect/>
          <a:stretch>
            <a:fillRect/>
          </a:stretch>
        </p:blipFill>
        <p:spPr bwMode="auto">
          <a:xfrm>
            <a:off x="571472" y="2643182"/>
            <a:ext cx="7929618" cy="4000496"/>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401080" cy="6083638"/>
          </a:xfrm>
        </p:spPr>
        <p:txBody>
          <a:bodyPr/>
          <a:lstStyle/>
          <a:p>
            <a:pPr algn="r"/>
            <a:r>
              <a:rPr lang="fa-IR" sz="4000" dirty="0" smtClean="0">
                <a:latin typeface="Adobe Arabic" pitchFamily="18" charset="-78"/>
                <a:cs typeface="Adobe Arabic" pitchFamily="18" charset="-78"/>
              </a:rPr>
              <a:t>در صورت محدودیت هزینه ها </a:t>
            </a:r>
            <a:r>
              <a:rPr lang="fa-IR" sz="4000" dirty="0" smtClean="0">
                <a:solidFill>
                  <a:srgbClr val="FF0000"/>
                </a:solidFill>
                <a:latin typeface="Adobe Arabic" pitchFamily="18" charset="-78"/>
                <a:cs typeface="Adobe Arabic" pitchFamily="18" charset="-78"/>
              </a:rPr>
              <a:t>سه گمانه </a:t>
            </a:r>
            <a:r>
              <a:rPr lang="fa-IR" sz="4000" dirty="0" smtClean="0">
                <a:latin typeface="Adobe Arabic" pitchFamily="18" charset="-78"/>
                <a:cs typeface="Adobe Arabic" pitchFamily="18" charset="-78"/>
              </a:rPr>
              <a:t>به یکی از حالت های زیر حفاری میشود.</a:t>
            </a:r>
            <a:br>
              <a:rPr lang="fa-IR" sz="4000" dirty="0" smtClean="0">
                <a:latin typeface="Adobe Arabic" pitchFamily="18" charset="-78"/>
                <a:cs typeface="Adobe Arabic" pitchFamily="18" charset="-78"/>
              </a:rPr>
            </a:br>
            <a:r>
              <a:rPr lang="fa-IR" sz="4800" dirty="0" smtClean="0">
                <a:latin typeface="Adobe Arabic" pitchFamily="18" charset="-78"/>
                <a:cs typeface="Adobe Arabic" pitchFamily="18" charset="-78"/>
              </a:rPr>
              <a:t/>
            </a:r>
            <a:br>
              <a:rPr lang="fa-IR" sz="4800" dirty="0" smtClean="0">
                <a:latin typeface="Adobe Arabic" pitchFamily="18" charset="-78"/>
                <a:cs typeface="Adobe Arabic" pitchFamily="18" charset="-78"/>
              </a:rPr>
            </a:br>
            <a:r>
              <a:rPr lang="fa-IR" sz="4800" dirty="0" smtClean="0">
                <a:latin typeface="Adobe Arabic" pitchFamily="18" charset="-78"/>
                <a:cs typeface="Adobe Arabic" pitchFamily="18" charset="-78"/>
              </a:rPr>
              <a:t/>
            </a:r>
            <a:br>
              <a:rPr lang="fa-IR" sz="4800" dirty="0" smtClean="0">
                <a:latin typeface="Adobe Arabic" pitchFamily="18" charset="-78"/>
                <a:cs typeface="Adobe Arabic" pitchFamily="18" charset="-78"/>
              </a:rPr>
            </a:br>
            <a:r>
              <a:rPr lang="fa-IR" sz="4800" dirty="0" smtClean="0">
                <a:latin typeface="Adobe Arabic" pitchFamily="18" charset="-78"/>
                <a:cs typeface="Adobe Arabic" pitchFamily="18" charset="-78"/>
              </a:rPr>
              <a:t/>
            </a:r>
            <a:br>
              <a:rPr lang="fa-IR" sz="4800" dirty="0" smtClean="0">
                <a:latin typeface="Adobe Arabic" pitchFamily="18" charset="-78"/>
                <a:cs typeface="Adobe Arabic" pitchFamily="18" charset="-78"/>
              </a:rPr>
            </a:br>
            <a:r>
              <a:rPr lang="fa-IR" sz="4800" dirty="0" smtClean="0">
                <a:latin typeface="Adobe Arabic" pitchFamily="18" charset="-78"/>
                <a:cs typeface="Adobe Arabic" pitchFamily="18" charset="-78"/>
              </a:rPr>
              <a:t/>
            </a:r>
            <a:br>
              <a:rPr lang="fa-IR" sz="4800" dirty="0" smtClean="0">
                <a:latin typeface="Adobe Arabic" pitchFamily="18" charset="-78"/>
                <a:cs typeface="Adobe Arabic" pitchFamily="18" charset="-78"/>
              </a:rPr>
            </a:br>
            <a:r>
              <a:rPr lang="fa-IR" sz="4800" dirty="0" smtClean="0">
                <a:latin typeface="Adobe Arabic" pitchFamily="18" charset="-78"/>
                <a:cs typeface="Adobe Arabic" pitchFamily="18" charset="-78"/>
              </a:rPr>
              <a:t/>
            </a:r>
            <a:br>
              <a:rPr lang="fa-IR" sz="4800"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pic>
        <p:nvPicPr>
          <p:cNvPr id="7170" name="Picture 2" descr="G:\Images\Photo-0002.jpg"/>
          <p:cNvPicPr>
            <a:picLocks noChangeAspect="1" noChangeArrowheads="1"/>
          </p:cNvPicPr>
          <p:nvPr/>
        </p:nvPicPr>
        <p:blipFill>
          <a:blip r:embed="rId2" cstate="print"/>
          <a:srcRect/>
          <a:stretch>
            <a:fillRect/>
          </a:stretch>
        </p:blipFill>
        <p:spPr bwMode="auto">
          <a:xfrm>
            <a:off x="214282" y="2428868"/>
            <a:ext cx="4572032" cy="3929090"/>
          </a:xfrm>
          <a:prstGeom prst="rect">
            <a:avLst/>
          </a:prstGeom>
          <a:ln>
            <a:noFill/>
          </a:ln>
          <a:effectLst>
            <a:softEdge rad="112500"/>
          </a:effectLst>
        </p:spPr>
      </p:pic>
      <p:pic>
        <p:nvPicPr>
          <p:cNvPr id="7171" name="Picture 3" descr="G:\Images\Photo-0003.jpg"/>
          <p:cNvPicPr>
            <a:picLocks noChangeAspect="1" noChangeArrowheads="1"/>
          </p:cNvPicPr>
          <p:nvPr/>
        </p:nvPicPr>
        <p:blipFill>
          <a:blip r:embed="rId3" cstate="print"/>
          <a:srcRect/>
          <a:stretch>
            <a:fillRect/>
          </a:stretch>
        </p:blipFill>
        <p:spPr bwMode="auto">
          <a:xfrm>
            <a:off x="4929190" y="2428868"/>
            <a:ext cx="4071966" cy="3929090"/>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329642" cy="6369390"/>
          </a:xfrm>
        </p:spPr>
        <p:txBody>
          <a:bodyPr>
            <a:normAutofit/>
          </a:bodyPr>
          <a:lstStyle/>
          <a:p>
            <a:pPr algn="r"/>
            <a:r>
              <a:rPr lang="fa-IR" sz="3600" dirty="0" smtClean="0">
                <a:latin typeface="Adobe Arabic" pitchFamily="18" charset="-78"/>
                <a:cs typeface="Adobe Arabic" pitchFamily="18" charset="-78"/>
              </a:rPr>
              <a:t>از طرف دیگر </a:t>
            </a:r>
            <a:r>
              <a:rPr lang="fa-IR" sz="3600" dirty="0" smtClean="0">
                <a:solidFill>
                  <a:srgbClr val="FFC000"/>
                </a:solidFill>
                <a:latin typeface="Adobe Arabic" pitchFamily="18" charset="-78"/>
                <a:cs typeface="Adobe Arabic" pitchFamily="18" charset="-78"/>
              </a:rPr>
              <a:t>فواصل گمانه ها </a:t>
            </a:r>
            <a:r>
              <a:rPr lang="fa-IR" sz="3600" dirty="0" smtClean="0">
                <a:latin typeface="Adobe Arabic" pitchFamily="18" charset="-78"/>
                <a:cs typeface="Adobe Arabic" pitchFamily="18" charset="-78"/>
              </a:rPr>
              <a:t>نیز تا حد ممکن از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مقادیر پیشنهادی جدول زیر تجاوز نکند.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graphicFrame>
        <p:nvGraphicFramePr>
          <p:cNvPr id="3" name="Table 2"/>
          <p:cNvGraphicFramePr>
            <a:graphicFrameLocks noGrp="1"/>
          </p:cNvGraphicFramePr>
          <p:nvPr/>
        </p:nvGraphicFramePr>
        <p:xfrm>
          <a:off x="500033" y="2714620"/>
          <a:ext cx="8215370" cy="1828800"/>
        </p:xfrm>
        <a:graphic>
          <a:graphicData uri="http://schemas.openxmlformats.org/drawingml/2006/table">
            <a:tbl>
              <a:tblPr firstRow="1" bandRow="1">
                <a:tableStyleId>{073A0DAA-6AF3-43AB-8588-CEC1D06C72B9}</a:tableStyleId>
              </a:tblPr>
              <a:tblGrid>
                <a:gridCol w="1369228"/>
                <a:gridCol w="1369228"/>
                <a:gridCol w="1272955"/>
                <a:gridCol w="1465503"/>
                <a:gridCol w="1369228"/>
                <a:gridCol w="1369228"/>
              </a:tblGrid>
              <a:tr h="763749">
                <a:tc>
                  <a:txBody>
                    <a:bodyPr/>
                    <a:lstStyle/>
                    <a:p>
                      <a:r>
                        <a:rPr lang="fa-IR" dirty="0" smtClean="0"/>
                        <a:t>نوع پروژه</a:t>
                      </a:r>
                      <a:endParaRPr lang="en-US" dirty="0"/>
                    </a:p>
                  </a:txBody>
                  <a:tcPr/>
                </a:tc>
                <a:tc>
                  <a:txBody>
                    <a:bodyPr/>
                    <a:lstStyle/>
                    <a:p>
                      <a:r>
                        <a:rPr lang="fa-IR" dirty="0" smtClean="0"/>
                        <a:t>ساختمان چند طبقه</a:t>
                      </a:r>
                      <a:endParaRPr lang="en-US" dirty="0"/>
                    </a:p>
                  </a:txBody>
                  <a:tcPr/>
                </a:tc>
                <a:tc>
                  <a:txBody>
                    <a:bodyPr/>
                    <a:lstStyle/>
                    <a:p>
                      <a:r>
                        <a:rPr lang="fa-IR" dirty="0" smtClean="0"/>
                        <a:t>شاهراه</a:t>
                      </a:r>
                      <a:endParaRPr lang="en-US" dirty="0"/>
                    </a:p>
                  </a:txBody>
                  <a:tcPr/>
                </a:tc>
                <a:tc>
                  <a:txBody>
                    <a:bodyPr/>
                    <a:lstStyle/>
                    <a:p>
                      <a:r>
                        <a:rPr lang="fa-IR" dirty="0" smtClean="0"/>
                        <a:t>مجتمع های مسکونی</a:t>
                      </a:r>
                      <a:endParaRPr lang="en-US" dirty="0"/>
                    </a:p>
                  </a:txBody>
                  <a:tcPr/>
                </a:tc>
                <a:tc>
                  <a:txBody>
                    <a:bodyPr/>
                    <a:lstStyle/>
                    <a:p>
                      <a:r>
                        <a:rPr lang="fa-IR" dirty="0" smtClean="0"/>
                        <a:t>سدها و بندها</a:t>
                      </a:r>
                      <a:r>
                        <a:rPr lang="fa-IR" baseline="0" dirty="0" smtClean="0"/>
                        <a:t>    </a:t>
                      </a:r>
                      <a:endParaRPr lang="fa-IR" dirty="0" smtClean="0"/>
                    </a:p>
                  </a:txBody>
                  <a:tcPr/>
                </a:tc>
                <a:tc>
                  <a:txBody>
                    <a:bodyPr/>
                    <a:lstStyle/>
                    <a:p>
                      <a:r>
                        <a:rPr lang="fa-IR" dirty="0" smtClean="0"/>
                        <a:t>ساختمان صنعتی یک طبقه</a:t>
                      </a:r>
                      <a:endParaRPr lang="en-US" dirty="0"/>
                    </a:p>
                  </a:txBody>
                  <a:tcPr/>
                </a:tc>
              </a:tr>
              <a:tr h="763749">
                <a:tc>
                  <a:txBody>
                    <a:bodyPr/>
                    <a:lstStyle/>
                    <a:p>
                      <a:r>
                        <a:rPr lang="fa-IR" dirty="0" smtClean="0"/>
                        <a:t>فاصله گمانه ها     (متر)</a:t>
                      </a:r>
                      <a:endParaRPr lang="en-US" dirty="0"/>
                    </a:p>
                  </a:txBody>
                  <a:tcPr/>
                </a:tc>
                <a:tc>
                  <a:txBody>
                    <a:bodyPr/>
                    <a:lstStyle/>
                    <a:p>
                      <a:endParaRPr lang="fa-IR" dirty="0" smtClean="0"/>
                    </a:p>
                    <a:p>
                      <a:r>
                        <a:rPr lang="fa-IR" dirty="0" smtClean="0"/>
                        <a:t>30-10    </a:t>
                      </a:r>
                      <a:endParaRPr lang="en-US" dirty="0"/>
                    </a:p>
                  </a:txBody>
                  <a:tcPr/>
                </a:tc>
                <a:tc>
                  <a:txBody>
                    <a:bodyPr/>
                    <a:lstStyle/>
                    <a:p>
                      <a:endParaRPr lang="fa-IR" dirty="0" smtClean="0"/>
                    </a:p>
                    <a:p>
                      <a:r>
                        <a:rPr lang="fa-IR" dirty="0" smtClean="0"/>
                        <a:t>500-250</a:t>
                      </a:r>
                      <a:r>
                        <a:rPr lang="fa-IR" baseline="0" dirty="0" smtClean="0"/>
                        <a:t>  </a:t>
                      </a:r>
                      <a:endParaRPr lang="en-US" dirty="0"/>
                    </a:p>
                  </a:txBody>
                  <a:tcPr/>
                </a:tc>
                <a:tc>
                  <a:txBody>
                    <a:bodyPr/>
                    <a:lstStyle/>
                    <a:p>
                      <a:endParaRPr lang="fa-IR" dirty="0" smtClean="0"/>
                    </a:p>
                    <a:p>
                      <a:r>
                        <a:rPr lang="fa-IR" dirty="0" smtClean="0"/>
                        <a:t>500-250</a:t>
                      </a:r>
                      <a:r>
                        <a:rPr lang="fa-IR" baseline="0" dirty="0" smtClean="0"/>
                        <a:t>    </a:t>
                      </a:r>
                      <a:endParaRPr lang="en-US" dirty="0"/>
                    </a:p>
                  </a:txBody>
                  <a:tcPr/>
                </a:tc>
                <a:tc>
                  <a:txBody>
                    <a:bodyPr/>
                    <a:lstStyle/>
                    <a:p>
                      <a:endParaRPr lang="fa-IR" dirty="0" smtClean="0"/>
                    </a:p>
                    <a:p>
                      <a:r>
                        <a:rPr lang="fa-IR" dirty="0" smtClean="0"/>
                        <a:t>80-40    </a:t>
                      </a:r>
                      <a:endParaRPr lang="en-US" dirty="0"/>
                    </a:p>
                  </a:txBody>
                  <a:tcPr/>
                </a:tc>
                <a:tc>
                  <a:txBody>
                    <a:bodyPr/>
                    <a:lstStyle/>
                    <a:p>
                      <a:endParaRPr lang="fa-IR" dirty="0" smtClean="0"/>
                    </a:p>
                    <a:p>
                      <a:r>
                        <a:rPr lang="fa-IR" dirty="0" smtClean="0"/>
                        <a:t>60-20    </a:t>
                      </a:r>
                    </a:p>
                    <a:p>
                      <a:endParaRPr lang="en-US" dirty="0"/>
                    </a:p>
                  </a:txBody>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320"/>
            <a:ext cx="8429684" cy="6012200"/>
          </a:xfrm>
        </p:spPr>
        <p:txBody>
          <a:bodyPr>
            <a:normAutofit fontScale="90000"/>
          </a:bodyPr>
          <a:lstStyle/>
          <a:p>
            <a:pPr algn="r"/>
            <a:r>
              <a:rPr lang="fa-IR" sz="3600" dirty="0" smtClean="0">
                <a:solidFill>
                  <a:srgbClr val="FF0000"/>
                </a:solidFill>
                <a:latin typeface="Adobe Arabic" pitchFamily="18" charset="-78"/>
                <a:cs typeface="Adobe Arabic" pitchFamily="18" charset="-78"/>
              </a:rPr>
              <a:t>2) </a:t>
            </a:r>
            <a:r>
              <a:rPr lang="fa-IR" sz="3600" dirty="0" smtClean="0">
                <a:solidFill>
                  <a:srgbClr val="FFC000"/>
                </a:solidFill>
                <a:latin typeface="Adobe Arabic" pitchFamily="18" charset="-78"/>
                <a:cs typeface="Adobe Arabic" pitchFamily="18" charset="-78"/>
              </a:rPr>
              <a:t>عمق گمانه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a:t>
            </a:r>
            <a:r>
              <a:rPr lang="fa-IR" sz="3600" dirty="0" smtClean="0">
                <a:latin typeface="Adobe Arabic" pitchFamily="18" charset="-78"/>
                <a:cs typeface="Adobe Arabic" pitchFamily="18" charset="-78"/>
              </a:rPr>
              <a:t> در حفر </a:t>
            </a:r>
            <a:r>
              <a:rPr lang="fa-IR" sz="3600" dirty="0" smtClean="0">
                <a:solidFill>
                  <a:srgbClr val="FF0000"/>
                </a:solidFill>
                <a:latin typeface="Adobe Arabic" pitchFamily="18" charset="-78"/>
                <a:cs typeface="Adobe Arabic" pitchFamily="18" charset="-78"/>
              </a:rPr>
              <a:t>ترانشه ها </a:t>
            </a:r>
            <a:r>
              <a:rPr lang="fa-IR" sz="3600" dirty="0" smtClean="0">
                <a:latin typeface="Adobe Arabic" pitchFamily="18" charset="-78"/>
                <a:cs typeface="Adobe Arabic" pitchFamily="18" charset="-78"/>
              </a:rPr>
              <a:t>و خاکبرداری های عمیق عمق گمانه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حداقل باید </a:t>
            </a:r>
            <a:r>
              <a:rPr lang="fa-IR" sz="3600" dirty="0" smtClean="0">
                <a:solidFill>
                  <a:srgbClr val="FFC000"/>
                </a:solidFill>
                <a:latin typeface="Adobe Arabic" pitchFamily="18" charset="-78"/>
                <a:cs typeface="Adobe Arabic" pitchFamily="18" charset="-78"/>
              </a:rPr>
              <a:t>1.5</a:t>
            </a:r>
            <a:r>
              <a:rPr lang="fa-IR" sz="3600" dirty="0" smtClean="0">
                <a:latin typeface="Adobe Arabic" pitchFamily="18" charset="-78"/>
                <a:cs typeface="Adobe Arabic" pitchFamily="18" charset="-78"/>
              </a:rPr>
              <a:t> برابر عمق خاکبرداری باشد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a:t>
            </a:r>
            <a:r>
              <a:rPr lang="fa-IR" sz="3600" dirty="0" smtClean="0">
                <a:latin typeface="Adobe Arabic" pitchFamily="18" charset="-78"/>
                <a:cs typeface="Adobe Arabic" pitchFamily="18" charset="-78"/>
              </a:rPr>
              <a:t> برای </a:t>
            </a:r>
            <a:r>
              <a:rPr lang="fa-IR" sz="3600" dirty="0" smtClean="0">
                <a:solidFill>
                  <a:srgbClr val="FF0000"/>
                </a:solidFill>
                <a:latin typeface="Adobe Arabic" pitchFamily="18" charset="-78"/>
                <a:cs typeface="Adobe Arabic" pitchFamily="18" charset="-78"/>
              </a:rPr>
              <a:t>شالوده های عمیق </a:t>
            </a:r>
            <a:r>
              <a:rPr lang="fa-IR" sz="3600" dirty="0" smtClean="0">
                <a:latin typeface="Adobe Arabic" pitchFamily="18" charset="-78"/>
                <a:cs typeface="Adobe Arabic" pitchFamily="18" charset="-78"/>
              </a:rPr>
              <a:t>(شمع ها) عمق گمانه </a:t>
            </a:r>
            <a:r>
              <a:rPr lang="fa-IR" sz="3600" dirty="0" smtClean="0">
                <a:solidFill>
                  <a:srgbClr val="FFC000"/>
                </a:solidFill>
                <a:latin typeface="Adobe Arabic" pitchFamily="18" charset="-78"/>
                <a:cs typeface="Adobe Arabic" pitchFamily="18" charset="-78"/>
              </a:rPr>
              <a:t>10 تا  30</a:t>
            </a:r>
            <a:r>
              <a:rPr lang="fa-IR" sz="3600" dirty="0" smtClean="0">
                <a:latin typeface="Adobe Arabic" pitchFamily="18" charset="-78"/>
                <a:cs typeface="Adobe Arabic" pitchFamily="18" charset="-78"/>
              </a:rPr>
              <a:t>  متر پایین تر از کف شمع به نحوی که خاک در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محدوده تاثیر تنش های حاصل از شمع شناسایی گردد.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a:t>
            </a:r>
            <a:r>
              <a:rPr lang="fa-IR" sz="3600" dirty="0" smtClean="0">
                <a:latin typeface="Adobe Arabic" pitchFamily="18" charset="-78"/>
                <a:cs typeface="Adobe Arabic" pitchFamily="18" charset="-78"/>
              </a:rPr>
              <a:t> </a:t>
            </a:r>
            <a:r>
              <a:rPr lang="fa-IR" sz="3600" dirty="0" smtClean="0">
                <a:solidFill>
                  <a:srgbClr val="FF0000"/>
                </a:solidFill>
                <a:latin typeface="Adobe Arabic" pitchFamily="18" charset="-78"/>
                <a:cs typeface="Adobe Arabic" pitchFamily="18" charset="-78"/>
              </a:rPr>
              <a:t>برای خطوط لوله </a:t>
            </a:r>
            <a:r>
              <a:rPr lang="fa-IR" sz="3600" dirty="0" smtClean="0">
                <a:solidFill>
                  <a:srgbClr val="FFC000"/>
                </a:solidFill>
                <a:latin typeface="Adobe Arabic" pitchFamily="18" charset="-78"/>
                <a:cs typeface="Adobe Arabic" pitchFamily="18" charset="-78"/>
              </a:rPr>
              <a:t>0.5 تا  2</a:t>
            </a:r>
            <a:r>
              <a:rPr lang="fa-IR" sz="3600" dirty="0" smtClean="0">
                <a:latin typeface="Adobe Arabic" pitchFamily="18" charset="-78"/>
                <a:cs typeface="Adobe Arabic" pitchFamily="18" charset="-78"/>
              </a:rPr>
              <a:t> برابر قطر لوله از کف بستر لوله</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 </a:t>
            </a:r>
            <a:r>
              <a:rPr lang="fa-IR" sz="3600" dirty="0" smtClean="0">
                <a:latin typeface="Adobe Arabic" pitchFamily="18" charset="-78"/>
                <a:cs typeface="Adobe Arabic" pitchFamily="18" charset="-78"/>
              </a:rPr>
              <a:t>برای </a:t>
            </a:r>
            <a:r>
              <a:rPr lang="fa-IR" sz="3600" dirty="0" smtClean="0">
                <a:solidFill>
                  <a:srgbClr val="FF0000"/>
                </a:solidFill>
                <a:latin typeface="Adobe Arabic" pitchFamily="18" charset="-78"/>
                <a:cs typeface="Adobe Arabic" pitchFamily="18" charset="-78"/>
              </a:rPr>
              <a:t>تونل </a:t>
            </a:r>
            <a:r>
              <a:rPr lang="fa-IR" sz="3600" dirty="0" smtClean="0">
                <a:latin typeface="Adobe Arabic" pitchFamily="18" charset="-78"/>
                <a:cs typeface="Adobe Arabic" pitchFamily="18" charset="-78"/>
              </a:rPr>
              <a:t>حداقل به اندازه </a:t>
            </a:r>
            <a:r>
              <a:rPr lang="fa-IR" sz="3600" dirty="0" smtClean="0">
                <a:solidFill>
                  <a:srgbClr val="FFC000"/>
                </a:solidFill>
                <a:latin typeface="Adobe Arabic" pitchFamily="18" charset="-78"/>
                <a:cs typeface="Adobe Arabic" pitchFamily="18" charset="-78"/>
              </a:rPr>
              <a:t>قطر تونل </a:t>
            </a:r>
            <a:r>
              <a:rPr lang="fa-IR" sz="3600" dirty="0" smtClean="0">
                <a:latin typeface="Adobe Arabic" pitchFamily="18" charset="-78"/>
                <a:cs typeface="Adobe Arabic" pitchFamily="18" charset="-78"/>
              </a:rPr>
              <a:t>در زیر کف تونل</a:t>
            </a:r>
            <a:br>
              <a:rPr lang="fa-IR"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a:t>
            </a:r>
            <a:r>
              <a:rPr lang="fa-IR" sz="3600" dirty="0" smtClean="0">
                <a:latin typeface="Adobe Arabic" pitchFamily="18" charset="-78"/>
                <a:cs typeface="Adobe Arabic" pitchFamily="18" charset="-78"/>
              </a:rPr>
              <a:t>برای </a:t>
            </a:r>
            <a:r>
              <a:rPr lang="fa-IR" sz="3600" dirty="0" smtClean="0">
                <a:solidFill>
                  <a:srgbClr val="FF0000"/>
                </a:solidFill>
                <a:latin typeface="Adobe Arabic" pitchFamily="18" charset="-78"/>
                <a:cs typeface="Adobe Arabic" pitchFamily="18" charset="-78"/>
              </a:rPr>
              <a:t>خاکریزها</a:t>
            </a:r>
            <a:r>
              <a:rPr lang="fa-IR" sz="3600" dirty="0" smtClean="0">
                <a:latin typeface="Adobe Arabic" pitchFamily="18" charset="-78"/>
                <a:cs typeface="Adobe Arabic" pitchFamily="18" charset="-78"/>
              </a:rPr>
              <a:t> حداقل برابر </a:t>
            </a:r>
            <a:r>
              <a:rPr lang="fa-IR" sz="3600" dirty="0" smtClean="0">
                <a:solidFill>
                  <a:srgbClr val="FFC000"/>
                </a:solidFill>
                <a:latin typeface="Adobe Arabic" pitchFamily="18" charset="-78"/>
                <a:cs typeface="Adobe Arabic" pitchFamily="18" charset="-78"/>
              </a:rPr>
              <a:t>ارتفاع خاکریز </a:t>
            </a:r>
            <a:r>
              <a:rPr lang="fa-IR" sz="3600" dirty="0" smtClean="0">
                <a:solidFill>
                  <a:srgbClr val="FF0000"/>
                </a:solidFill>
                <a:latin typeface="Adobe Arabic" pitchFamily="18" charset="-78"/>
                <a:cs typeface="Adobe Arabic" pitchFamily="18" charset="-78"/>
              </a:rPr>
              <a:t/>
            </a:r>
            <a:br>
              <a:rPr lang="fa-IR" sz="3600" dirty="0" smtClean="0">
                <a:solidFill>
                  <a:srgbClr val="FF0000"/>
                </a:solidFill>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329642" cy="6083638"/>
          </a:xfrm>
        </p:spPr>
        <p:txBody>
          <a:bodyPr>
            <a:normAutofit/>
          </a:bodyPr>
          <a:lstStyle/>
          <a:p>
            <a:pPr algn="r"/>
            <a:r>
              <a:rPr lang="fa-IR" sz="5300" dirty="0" smtClean="0">
                <a:solidFill>
                  <a:srgbClr val="FF0000"/>
                </a:solidFill>
                <a:latin typeface="Adobe Arabic" pitchFamily="18" charset="-78"/>
                <a:cs typeface="Adobe Arabic" pitchFamily="18" charset="-78"/>
              </a:rPr>
              <a:t> روشهای گمانه زنی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sz="4900" dirty="0" smtClean="0">
                <a:solidFill>
                  <a:srgbClr val="FF0000"/>
                </a:solidFill>
                <a:latin typeface="Adobe Arabic" pitchFamily="18" charset="-78"/>
                <a:cs typeface="Adobe Arabic" pitchFamily="18" charset="-78"/>
              </a:rPr>
              <a:t>1-</a:t>
            </a:r>
            <a:r>
              <a:rPr lang="fa-IR" sz="4900" dirty="0" smtClean="0">
                <a:latin typeface="Adobe Arabic" pitchFamily="18" charset="-78"/>
                <a:cs typeface="Adobe Arabic" pitchFamily="18" charset="-78"/>
              </a:rPr>
              <a:t> </a:t>
            </a:r>
            <a:r>
              <a:rPr lang="fa-IR" sz="4900" dirty="0" smtClean="0">
                <a:solidFill>
                  <a:srgbClr val="FFC000"/>
                </a:solidFill>
                <a:latin typeface="Adobe Arabic" pitchFamily="18" charset="-78"/>
                <a:cs typeface="Adobe Arabic" pitchFamily="18" charset="-78"/>
              </a:rPr>
              <a:t>حفر چاهک دستی</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sz="4000" dirty="0" smtClean="0">
                <a:latin typeface="Adobe Arabic" pitchFamily="18" charset="-78"/>
                <a:cs typeface="Adobe Arabic" pitchFamily="18" charset="-78"/>
              </a:rPr>
              <a:t>این چاهک ها معمولا توسط مقنی و با کمک وسایل دستی حفاری میشوند .عمق آنها </a:t>
            </a:r>
            <a:br>
              <a:rPr lang="fa-IR" sz="4000" dirty="0" smtClean="0">
                <a:latin typeface="Adobe Arabic" pitchFamily="18" charset="-78"/>
                <a:cs typeface="Adobe Arabic" pitchFamily="18" charset="-78"/>
              </a:rPr>
            </a:br>
            <a:r>
              <a:rPr lang="fa-IR" sz="4000" dirty="0" smtClean="0">
                <a:latin typeface="Adobe Arabic" pitchFamily="18" charset="-78"/>
                <a:cs typeface="Adobe Arabic" pitchFamily="18" charset="-78"/>
              </a:rPr>
              <a:t>معمولا </a:t>
            </a:r>
            <a:r>
              <a:rPr lang="fa-IR" sz="4000" dirty="0" smtClean="0">
                <a:solidFill>
                  <a:srgbClr val="FFC000"/>
                </a:solidFill>
                <a:latin typeface="Adobe Arabic" pitchFamily="18" charset="-78"/>
                <a:cs typeface="Adobe Arabic" pitchFamily="18" charset="-78"/>
              </a:rPr>
              <a:t>15 تا 20</a:t>
            </a:r>
            <a:r>
              <a:rPr lang="fa-IR" sz="4000" dirty="0" smtClean="0">
                <a:latin typeface="Adobe Arabic" pitchFamily="18" charset="-78"/>
                <a:cs typeface="Adobe Arabic" pitchFamily="18" charset="-78"/>
              </a:rPr>
              <a:t> متر می باشد.</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401080" cy="6155076"/>
          </a:xfrm>
        </p:spPr>
        <p:txBody>
          <a:bodyPr>
            <a:noAutofit/>
          </a:bodyPr>
          <a:lstStyle/>
          <a:p>
            <a:pPr algn="r"/>
            <a:r>
              <a:rPr lang="fa-IR" sz="4000" dirty="0" smtClean="0">
                <a:solidFill>
                  <a:srgbClr val="FF0000"/>
                </a:solidFill>
                <a:latin typeface="Adobe Arabic" pitchFamily="18" charset="-78"/>
                <a:cs typeface="Adobe Arabic" pitchFamily="18" charset="-78"/>
              </a:rPr>
              <a:t>2-</a:t>
            </a:r>
            <a:r>
              <a:rPr lang="fa-IR" sz="4000" dirty="0" smtClean="0">
                <a:solidFill>
                  <a:srgbClr val="FFC000"/>
                </a:solidFill>
                <a:latin typeface="Adobe Arabic" pitchFamily="18" charset="-78"/>
                <a:cs typeface="Adobe Arabic" pitchFamily="18" charset="-78"/>
              </a:rPr>
              <a:t>حفر گمانه با استفاده از مته های مارپیچ (دستی و ماشینی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ساده ترین روش گمانه زنی است.کاربرد این مته ها در راهها و ساختمانهای سبک است و عمق پیشروی آنها 3 تا 5 متر است.نوع ماشینی ؛60 تا 70 متر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186766" cy="6369390"/>
          </a:xfrm>
        </p:spPr>
        <p:txBody>
          <a:bodyPr>
            <a:normAutofit/>
          </a:bodyPr>
          <a:lstStyle/>
          <a:p>
            <a:pPr algn="r"/>
            <a:r>
              <a:rPr lang="fa-IR" sz="3600" dirty="0" smtClean="0">
                <a:solidFill>
                  <a:srgbClr val="FF0000"/>
                </a:solidFill>
                <a:latin typeface="Adobe Arabic" pitchFamily="18" charset="-78"/>
                <a:cs typeface="Adobe Arabic" pitchFamily="18" charset="-78"/>
              </a:rPr>
              <a:t>مته های </a:t>
            </a:r>
            <a:r>
              <a:rPr lang="fa-IR" sz="3600" dirty="0" smtClean="0">
                <a:latin typeface="Adobe Arabic" pitchFamily="18" charset="-78"/>
                <a:cs typeface="Adobe Arabic" pitchFamily="18" charset="-78"/>
              </a:rPr>
              <a:t>مارپیچ در </a:t>
            </a:r>
            <a:r>
              <a:rPr lang="fa-IR" sz="3600" dirty="0" smtClean="0">
                <a:solidFill>
                  <a:srgbClr val="FFC000"/>
                </a:solidFill>
                <a:latin typeface="Adobe Arabic" pitchFamily="18" charset="-78"/>
                <a:cs typeface="Adobe Arabic" pitchFamily="18" charset="-78"/>
              </a:rPr>
              <a:t>دو نوع با محور تو خالی و محور توپر </a:t>
            </a:r>
            <a:r>
              <a:rPr lang="fa-IR" sz="3600" dirty="0" smtClean="0">
                <a:latin typeface="Adobe Arabic" pitchFamily="18" charset="-78"/>
                <a:cs typeface="Adobe Arabic" pitchFamily="18" charset="-78"/>
              </a:rPr>
              <a:t>وجود دارند.در حالت استفاده از مته با محور توخالی ، در نوک مته یک کلاهک وجود دارد که توسط میله حفاری می توان ان را از ته گمانه بیرون   کشید و لازم نیست مته از گمانه بیرون کشیده شود.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329642" cy="5940762"/>
          </a:xfrm>
        </p:spPr>
        <p:txBody>
          <a:bodyPr>
            <a:normAutofit/>
          </a:bodyPr>
          <a:lstStyle/>
          <a:p>
            <a:pPr algn="r"/>
            <a:r>
              <a:rPr lang="fa-IR" sz="4400" dirty="0" smtClean="0">
                <a:solidFill>
                  <a:srgbClr val="FF0000"/>
                </a:solidFill>
                <a:latin typeface="Adobe Arabic" pitchFamily="18" charset="-78"/>
                <a:cs typeface="Adobe Arabic" pitchFamily="18" charset="-78"/>
              </a:rPr>
              <a:t>3-</a:t>
            </a:r>
            <a:r>
              <a:rPr lang="fa-IR" sz="4400" dirty="0" smtClean="0">
                <a:latin typeface="Adobe Arabic" pitchFamily="18" charset="-78"/>
                <a:cs typeface="Adobe Arabic" pitchFamily="18" charset="-78"/>
              </a:rPr>
              <a:t> </a:t>
            </a:r>
            <a:r>
              <a:rPr lang="fa-IR" sz="4400" dirty="0" smtClean="0">
                <a:solidFill>
                  <a:srgbClr val="FFC000"/>
                </a:solidFill>
                <a:latin typeface="Adobe Arabic" pitchFamily="18" charset="-78"/>
                <a:cs typeface="Adobe Arabic" pitchFamily="18" charset="-78"/>
              </a:rPr>
              <a:t>حفاری درونی :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در این روش سر مته هایی که به سر میله حفاری نصب شده اند با سرعت زیادی دوران کرده و خاک و سنگ موجود در نوک سرمته را بریده ، آسیاب کرده و در عمق نفوذ میکند.از حفاری دورانی میتوان  در ماسه ، رس و سنگ استفاده کرد.در حین حفاری آب یا گل حفاری تحت فشار از طریق میله مته به سمت سر مته فرستاده میشود .این آب در برگشت به سمت بالا محصولات بدست آمده از حفاری را به سطح زمین می آورد .گمانه های حفر شد به وسیله این روش قطری بین 50 تا 200 میلیمتر دارند </a:t>
            </a: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8401080" cy="6012200"/>
          </a:xfrm>
        </p:spPr>
        <p:txBody>
          <a:bodyPr>
            <a:normAutofit/>
          </a:bodyPr>
          <a:lstStyle/>
          <a:p>
            <a:pPr algn="r"/>
            <a:r>
              <a:rPr lang="fa-IR" sz="4400" dirty="0" smtClean="0">
                <a:solidFill>
                  <a:srgbClr val="FF0000"/>
                </a:solidFill>
                <a:latin typeface="Adobe Arabic" pitchFamily="18" charset="-78"/>
                <a:cs typeface="Adobe Arabic" pitchFamily="18" charset="-78"/>
              </a:rPr>
              <a:t>3-</a:t>
            </a:r>
            <a:r>
              <a:rPr lang="fa-IR" sz="4400" dirty="0" smtClean="0">
                <a:latin typeface="Adobe Arabic" pitchFamily="18" charset="-78"/>
                <a:cs typeface="Adobe Arabic" pitchFamily="18" charset="-78"/>
              </a:rPr>
              <a:t> </a:t>
            </a:r>
            <a:r>
              <a:rPr lang="fa-IR" sz="4400" dirty="0" smtClean="0">
                <a:solidFill>
                  <a:srgbClr val="FF0000"/>
                </a:solidFill>
                <a:latin typeface="Adobe Arabic" pitchFamily="18" charset="-78"/>
                <a:cs typeface="Adobe Arabic" pitchFamily="18" charset="-78"/>
              </a:rPr>
              <a:t>حفاری پرکاشن</a:t>
            </a:r>
            <a:r>
              <a:rPr lang="fa-IR" sz="3600" dirty="0" smtClean="0">
                <a:solidFill>
                  <a:srgbClr val="FF0000"/>
                </a:solidFill>
                <a:latin typeface="Adobe Arabic" pitchFamily="18" charset="-78"/>
                <a:cs typeface="Adobe Arabic" pitchFamily="18" charset="-78"/>
              </a:rPr>
              <a:t>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در این روش با </a:t>
            </a:r>
            <a:r>
              <a:rPr lang="fa-IR" sz="3600" dirty="0" smtClean="0">
                <a:solidFill>
                  <a:srgbClr val="FFC000"/>
                </a:solidFill>
                <a:latin typeface="Adobe Arabic" pitchFamily="18" charset="-78"/>
                <a:cs typeface="Adobe Arabic" pitchFamily="18" charset="-78"/>
              </a:rPr>
              <a:t>بلند کردن و رها کردن </a:t>
            </a:r>
            <a:r>
              <a:rPr lang="fa-IR" sz="3600" dirty="0" smtClean="0">
                <a:latin typeface="Adobe Arabic" pitchFamily="18" charset="-78"/>
                <a:cs typeface="Adobe Arabic" pitchFamily="18" charset="-78"/>
              </a:rPr>
              <a:t>یک سر مته سنگین ، </a:t>
            </a:r>
            <a:r>
              <a:rPr lang="fa-IR" sz="3600" dirty="0" smtClean="0">
                <a:solidFill>
                  <a:srgbClr val="FFC000"/>
                </a:solidFill>
                <a:latin typeface="Adobe Arabic" pitchFamily="18" charset="-78"/>
                <a:cs typeface="Adobe Arabic" pitchFamily="18" charset="-78"/>
              </a:rPr>
              <a:t>ته گمانه خرد شده و محصولات حفاری با تزریق آب به سطح زمین </a:t>
            </a:r>
            <a:r>
              <a:rPr lang="fa-IR" sz="3600" dirty="0" smtClean="0">
                <a:latin typeface="Adobe Arabic" pitchFamily="18" charset="-78"/>
                <a:cs typeface="Adobe Arabic" pitchFamily="18" charset="-78"/>
              </a:rPr>
              <a:t>آورده می شود.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pic>
        <p:nvPicPr>
          <p:cNvPr id="4" name="Picture 3" descr="drill_bits.jpg"/>
          <p:cNvPicPr>
            <a:picLocks noChangeAspect="1"/>
          </p:cNvPicPr>
          <p:nvPr/>
        </p:nvPicPr>
        <p:blipFill>
          <a:blip r:embed="rId2"/>
          <a:stretch>
            <a:fillRect/>
          </a:stretch>
        </p:blipFill>
        <p:spPr>
          <a:xfrm>
            <a:off x="1500166" y="2714620"/>
            <a:ext cx="6215106" cy="3643338"/>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11882"/>
          </a:xfrm>
        </p:spPr>
        <p:txBody>
          <a:bodyPr>
            <a:normAutofit/>
          </a:bodyPr>
          <a:lstStyle/>
          <a:p>
            <a:pPr algn="r"/>
            <a:r>
              <a:rPr lang="fa-IR" sz="4400" dirty="0" smtClean="0">
                <a:solidFill>
                  <a:srgbClr val="FF0000"/>
                </a:solidFill>
                <a:latin typeface="Adobe Arabic" pitchFamily="18" charset="-78"/>
                <a:cs typeface="Adobe Arabic" pitchFamily="18" charset="-78"/>
              </a:rPr>
              <a:t>و اما </a:t>
            </a:r>
            <a:r>
              <a:rPr lang="ar-SA" sz="4400" dirty="0" smtClean="0">
                <a:solidFill>
                  <a:srgbClr val="FF0000"/>
                </a:solidFill>
                <a:latin typeface="Adobe Arabic" pitchFamily="18" charset="-78"/>
                <a:cs typeface="Adobe Arabic" pitchFamily="18" charset="-78"/>
              </a:rPr>
              <a:t>نكات اجرایی زیرسازی پی </a:t>
            </a:r>
            <a:r>
              <a:rPr lang="fa-IR" dirty="0" smtClean="0">
                <a:solidFill>
                  <a:srgbClr val="FF0000"/>
                </a:solidFill>
                <a:latin typeface="Adobe Arabic" pitchFamily="18" charset="-78"/>
                <a:cs typeface="Adobe Arabic" pitchFamily="18" charset="-78"/>
              </a:rPr>
              <a:t>:</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قبل از شرح مختصر مراحل ساخت پی، باید توجه داشت كه ابتدا نقشه فونداسیون را روی زمین پیاده كرد و برای پیاده</a:t>
            </a:r>
            <a:r>
              <a:rPr lang="fa-IR" dirty="0" smtClean="0">
                <a:latin typeface="Adobe Arabic" pitchFamily="18" charset="-78"/>
                <a:cs typeface="Adobe Arabic" pitchFamily="18" charset="-78"/>
              </a:rPr>
              <a:t> </a:t>
            </a:r>
            <a:r>
              <a:rPr lang="ar-SA" dirty="0" smtClean="0">
                <a:latin typeface="Adobe Arabic" pitchFamily="18" charset="-78"/>
                <a:cs typeface="Adobe Arabic" pitchFamily="18" charset="-78"/>
              </a:rPr>
              <a:t>كردن دقیق آن بایستی جزییات لازم در نقشه مشخص گردیده باشد</a:t>
            </a:r>
            <a:r>
              <a:rPr lang="en-US" dirty="0" smtClean="0">
                <a:latin typeface="Adobe Arabic" pitchFamily="18" charset="-78"/>
                <a:cs typeface="Adobe Arabic" pitchFamily="18" charset="-78"/>
              </a:rPr>
              <a:t>.</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t>
            </a:r>
            <a:endParaRPr lang="en-US"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01080" cy="6083320"/>
          </a:xfrm>
        </p:spPr>
        <p:txBody>
          <a:bodyPr>
            <a:normAutofit fontScale="90000"/>
          </a:bodyPr>
          <a:lstStyle/>
          <a:p>
            <a:pPr algn="r" rtl="1"/>
            <a:r>
              <a:rPr lang="ar-SA" dirty="0" smtClean="0">
                <a:latin typeface="Adobe Arabic" pitchFamily="18" charset="-78"/>
                <a:cs typeface="Adobe Arabic" pitchFamily="18" charset="-78"/>
              </a:rPr>
              <a:t>از جمله سازه به شكل یك شبكه متشكل از محورهای عمود بر هم تقسیم شده باشد و موقعیت محورهای مزبور نسبت به محورها یا نقاط مشخصی نظیر محور جاده، بر زمین بر ساختمان مجاور و غیره تعیین شده باشد. (معمولاً محورهای یك امتداد با اعداد 3،2،1 و... شماره گذاری می شوند و محورهای امتداد دیگر با حروف </a:t>
            </a:r>
            <a:r>
              <a:rPr lang="en-US" dirty="0" smtClean="0">
                <a:latin typeface="Adobe Arabic" pitchFamily="18" charset="-78"/>
                <a:cs typeface="Adobe Arabic" pitchFamily="18" charset="-78"/>
              </a:rPr>
              <a:t>C-B-A </a:t>
            </a:r>
            <a:r>
              <a:rPr lang="ar-SA" dirty="0" smtClean="0">
                <a:latin typeface="Adobe Arabic" pitchFamily="18" charset="-78"/>
                <a:cs typeface="Adobe Arabic" pitchFamily="18" charset="-78"/>
              </a:rPr>
              <a:t>و... مشخص می گردند</a:t>
            </a:r>
            <a:r>
              <a:rPr lang="en-US" dirty="0" smtClean="0">
                <a:latin typeface="Adobe Arabic" pitchFamily="18" charset="-78"/>
                <a:cs typeface="Adobe Arabic" pitchFamily="18" charset="-78"/>
              </a:rPr>
              <a:t>(</a:t>
            </a:r>
            <a:r>
              <a:rPr lang="ar-SA" dirty="0" smtClean="0">
                <a:latin typeface="Adobe Arabic" pitchFamily="18" charset="-78"/>
                <a:cs typeface="Adobe Arabic" pitchFamily="18" charset="-78"/>
              </a:rPr>
              <a:t>. همچنین باید توجه داشت ستونها و فونداسیونهایی را كه وضعیت مشابهی از نظر بار وارد شده دارند، با علامت یكسان نشان می دهند : ستون را با حرف</a:t>
            </a:r>
            <a:r>
              <a:rPr lang="en-US" dirty="0" smtClean="0">
                <a:latin typeface="Adobe Arabic" pitchFamily="18" charset="-78"/>
                <a:cs typeface="Adobe Arabic" pitchFamily="18" charset="-78"/>
              </a:rPr>
              <a:t> C </a:t>
            </a:r>
            <a:r>
              <a:rPr lang="ar-SA" dirty="0" smtClean="0">
                <a:latin typeface="Adobe Arabic" pitchFamily="18" charset="-78"/>
                <a:cs typeface="Adobe Arabic" pitchFamily="18" charset="-78"/>
              </a:rPr>
              <a:t>و فونداسیون را با حرف</a:t>
            </a:r>
            <a:r>
              <a:rPr lang="en-US" dirty="0" smtClean="0">
                <a:latin typeface="Adobe Arabic" pitchFamily="18" charset="-78"/>
                <a:cs typeface="Adobe Arabic" pitchFamily="18" charset="-78"/>
              </a:rPr>
              <a:t> F </a:t>
            </a:r>
            <a:r>
              <a:rPr lang="ar-SA" dirty="0" smtClean="0">
                <a:latin typeface="Adobe Arabic" pitchFamily="18" charset="-78"/>
                <a:cs typeface="Adobe Arabic" pitchFamily="18" charset="-78"/>
              </a:rPr>
              <a:t>نشان میدهند</a:t>
            </a:r>
            <a:r>
              <a:rPr lang="fa-IR" dirty="0" smtClean="0">
                <a:latin typeface="Adobe Arabic" pitchFamily="18" charset="-78"/>
                <a:cs typeface="Adobe Arabic" pitchFamily="18" charset="-78"/>
              </a:rPr>
              <a:t>.</a:t>
            </a:r>
            <a:endParaRPr lang="en-US"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72518" cy="5940444"/>
          </a:xfrm>
        </p:spPr>
        <p:txBody>
          <a:bodyPr>
            <a:normAutofit/>
          </a:bodyPr>
          <a:lstStyle/>
          <a:p>
            <a:pPr algn="r" rtl="1"/>
            <a:r>
              <a:rPr lang="ar-SA" dirty="0" smtClean="0">
                <a:latin typeface="Adobe Arabic" pitchFamily="18" charset="-78"/>
                <a:cs typeface="Adobe Arabic" pitchFamily="18" charset="-78"/>
              </a:rPr>
              <a:t>ترسیم مقاطع و نوشتن رقوم زیر فونداسیون، رقوم روی فونداسیون، ارتفاع قسمت های محتلف پی، مشخصات بتن مگر، مشخصات بتن، نوع و قطر كلی كه برای بریدن میلگرد ها مورد نیاز است باید در نقشه مشخص باشد</a:t>
            </a:r>
            <a:r>
              <a:rPr lang="en-US" dirty="0" smtClean="0">
                <a:latin typeface="Adobe Arabic" pitchFamily="18" charset="-78"/>
                <a:cs typeface="Adobe Arabic" pitchFamily="18" charset="-78"/>
              </a:rPr>
              <a:t>.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11882"/>
          </a:xfrm>
        </p:spPr>
        <p:txBody>
          <a:bodyPr>
            <a:normAutofit fontScale="90000"/>
          </a:bodyPr>
          <a:lstStyle/>
          <a:p>
            <a:pPr algn="r" rtl="1"/>
            <a:r>
              <a:rPr lang="fa-IR" sz="4400" dirty="0" smtClean="0">
                <a:solidFill>
                  <a:srgbClr val="FF0000"/>
                </a:solidFill>
                <a:latin typeface="Adobe Arabic" pitchFamily="18" charset="-78"/>
                <a:cs typeface="Adobe Arabic" pitchFamily="18" charset="-78"/>
              </a:rPr>
              <a:t>از بین بردن گیاهان و ناهمواری ها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قبل از پیاده كردن نقشه روی زمین اگر زمین ناهموار بود یا دارای گیاهان و درختان باشد، باید نقاط مرتفع ناترازی كه مورد نظر است برداشته شود و محوطه از كلیه گیاهان و ریشه ها پاك گردد.</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472518" cy="6011882"/>
          </a:xfrm>
        </p:spPr>
        <p:txBody>
          <a:bodyPr>
            <a:normAutofit fontScale="90000"/>
          </a:bodyPr>
          <a:lstStyle/>
          <a:p>
            <a:pPr algn="r" rtl="1"/>
            <a:r>
              <a:rPr lang="fa-IR" sz="4400" dirty="0" smtClean="0">
                <a:solidFill>
                  <a:srgbClr val="FF0000"/>
                </a:solidFill>
                <a:latin typeface="Adobe Arabic" pitchFamily="18" charset="-78"/>
                <a:cs typeface="Adobe Arabic" pitchFamily="18" charset="-78"/>
              </a:rPr>
              <a:t>تعیین شمال جغرافیا یی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سپس </a:t>
            </a:r>
            <a:r>
              <a:rPr lang="ar-SA" dirty="0" smtClean="0">
                <a:solidFill>
                  <a:srgbClr val="FFC000"/>
                </a:solidFill>
                <a:latin typeface="Adobe Arabic" pitchFamily="18" charset="-78"/>
                <a:cs typeface="Adobe Arabic" pitchFamily="18" charset="-78"/>
              </a:rPr>
              <a:t>شمال جغرافیایی نقشه</a:t>
            </a:r>
            <a:r>
              <a:rPr lang="ar-SA" dirty="0" smtClean="0">
                <a:latin typeface="Adobe Arabic" pitchFamily="18" charset="-78"/>
                <a:cs typeface="Adobe Arabic" pitchFamily="18" charset="-78"/>
              </a:rPr>
              <a:t> را با جهت </a:t>
            </a:r>
            <a:r>
              <a:rPr lang="ar-SA" dirty="0" smtClean="0">
                <a:solidFill>
                  <a:srgbClr val="FFC000"/>
                </a:solidFill>
                <a:latin typeface="Adobe Arabic" pitchFamily="18" charset="-78"/>
                <a:cs typeface="Adobe Arabic" pitchFamily="18" charset="-78"/>
              </a:rPr>
              <a:t>شمال جغرافیایی محلی </a:t>
            </a:r>
            <a:r>
              <a:rPr lang="ar-SA" dirty="0" smtClean="0">
                <a:latin typeface="Adobe Arabic" pitchFamily="18" charset="-78"/>
                <a:cs typeface="Adobe Arabic" pitchFamily="18" charset="-78"/>
              </a:rPr>
              <a:t>كه قرار است پروژه در آن اجرا شود</a:t>
            </a:r>
            <a:r>
              <a:rPr lang="ar-SA" dirty="0" smtClean="0">
                <a:solidFill>
                  <a:srgbClr val="FFC000"/>
                </a:solidFill>
                <a:latin typeface="Adobe Arabic" pitchFamily="18" charset="-78"/>
                <a:cs typeface="Adobe Arabic" pitchFamily="18" charset="-78"/>
              </a:rPr>
              <a:t> منطبق </a:t>
            </a:r>
            <a:r>
              <a:rPr lang="ar-SA" dirty="0" smtClean="0">
                <a:latin typeface="Adobe Arabic" pitchFamily="18" charset="-78"/>
                <a:cs typeface="Adobe Arabic" pitchFamily="18" charset="-78"/>
              </a:rPr>
              <a:t>می كنیم ( به این كار </a:t>
            </a:r>
            <a:r>
              <a:rPr lang="ar-SA" dirty="0" smtClean="0">
                <a:solidFill>
                  <a:srgbClr val="FF0000"/>
                </a:solidFill>
                <a:latin typeface="Adobe Arabic" pitchFamily="18" charset="-78"/>
                <a:cs typeface="Adobe Arabic" pitchFamily="18" charset="-78"/>
              </a:rPr>
              <a:t>توجیه نقشه </a:t>
            </a:r>
            <a:r>
              <a:rPr lang="ar-SA" dirty="0" smtClean="0">
                <a:latin typeface="Adobe Arabic" pitchFamily="18" charset="-78"/>
                <a:cs typeface="Adobe Arabic" pitchFamily="18" charset="-78"/>
              </a:rPr>
              <a:t>می گویند)</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01080" cy="6226196"/>
          </a:xfrm>
        </p:spPr>
        <p:txBody>
          <a:bodyPr>
            <a:normAutofit fontScale="90000"/>
          </a:bodyPr>
          <a:lstStyle/>
          <a:p>
            <a:pPr algn="r" rtl="1"/>
            <a:r>
              <a:rPr lang="fa-IR" dirty="0" smtClean="0">
                <a:solidFill>
                  <a:schemeClr val="tx1"/>
                </a:solidFill>
                <a:latin typeface="Adobe Arabic" pitchFamily="18" charset="-78"/>
                <a:cs typeface="Adobe Arabic" pitchFamily="18" charset="-78"/>
              </a:rPr>
              <a:t/>
            </a:r>
            <a:br>
              <a:rPr lang="fa-IR" dirty="0" smtClean="0">
                <a:solidFill>
                  <a:schemeClr val="tx1"/>
                </a:solidFill>
                <a:latin typeface="Adobe Arabic" pitchFamily="18" charset="-78"/>
                <a:cs typeface="Adobe Arabic" pitchFamily="18" charset="-78"/>
              </a:rPr>
            </a:br>
            <a:r>
              <a:rPr lang="fa-IR" dirty="0" smtClean="0">
                <a:solidFill>
                  <a:schemeClr val="tx1"/>
                </a:solidFill>
                <a:latin typeface="Adobe Arabic" pitchFamily="18" charset="-78"/>
                <a:cs typeface="Adobe Arabic" pitchFamily="18" charset="-78"/>
              </a:rPr>
              <a:t/>
            </a:r>
            <a:br>
              <a:rPr lang="fa-IR" dirty="0" smtClean="0">
                <a:solidFill>
                  <a:schemeClr val="tx1"/>
                </a:solidFill>
                <a:latin typeface="Adobe Arabic" pitchFamily="18" charset="-78"/>
                <a:cs typeface="Adobe Arabic" pitchFamily="18" charset="-78"/>
              </a:rPr>
            </a:br>
            <a:r>
              <a:rPr lang="fa-IR" dirty="0" smtClean="0">
                <a:solidFill>
                  <a:schemeClr val="tx1"/>
                </a:solidFill>
                <a:latin typeface="Adobe Arabic" pitchFamily="18" charset="-78"/>
                <a:cs typeface="Adobe Arabic" pitchFamily="18" charset="-78"/>
              </a:rPr>
              <a:t/>
            </a:r>
            <a:br>
              <a:rPr lang="fa-IR" dirty="0" smtClean="0">
                <a:solidFill>
                  <a:schemeClr val="tx1"/>
                </a:solidFill>
                <a:latin typeface="Adobe Arabic" pitchFamily="18" charset="-78"/>
                <a:cs typeface="Adobe Arabic" pitchFamily="18" charset="-78"/>
              </a:rPr>
            </a:br>
            <a:r>
              <a:rPr lang="ar-SA" dirty="0" smtClean="0">
                <a:solidFill>
                  <a:schemeClr val="tx1"/>
                </a:solidFill>
                <a:latin typeface="Adobe Arabic" pitchFamily="18" charset="-78"/>
                <a:cs typeface="Adobe Arabic" pitchFamily="18" charset="-78"/>
              </a:rPr>
              <a:t>پس از این كار، یكی از محورها را (محور طولی یا عرضی ) كه موقیعت آن روی نقشه مشخص شده است، بر روی زمین، حداقل با دو میخ در ابتدا و انتها،</a:t>
            </a:r>
            <a:r>
              <a:rPr lang="ar-SA" sz="4000" dirty="0" smtClean="0">
                <a:solidFill>
                  <a:schemeClr val="tx1"/>
                </a:solidFill>
                <a:latin typeface="Adobe Arabic" pitchFamily="18" charset="-78"/>
                <a:cs typeface="Adobe Arabic" pitchFamily="18" charset="-78"/>
              </a:rPr>
              <a:t> پیاده می </a:t>
            </a:r>
            <a:r>
              <a:rPr lang="ar-SA" dirty="0" smtClean="0">
                <a:solidFill>
                  <a:schemeClr val="tx1"/>
                </a:solidFill>
                <a:latin typeface="Adobe Arabic" pitchFamily="18" charset="-78"/>
                <a:cs typeface="Adobe Arabic" pitchFamily="18" charset="-78"/>
              </a:rPr>
              <a:t>كنیم كه به </a:t>
            </a:r>
            <a:r>
              <a:rPr lang="ar-SA" dirty="0" smtClean="0">
                <a:solidFill>
                  <a:schemeClr val="tx1"/>
                </a:solidFill>
              </a:rPr>
              <a:t>این</a:t>
            </a:r>
            <a:r>
              <a:rPr lang="fa-IR" dirty="0" smtClean="0">
                <a:solidFill>
                  <a:schemeClr val="tx1"/>
                </a:solidFill>
                <a:latin typeface="Adobe Arabic" pitchFamily="18" charset="-78"/>
                <a:cs typeface="Adobe Arabic" pitchFamily="18" charset="-78"/>
              </a:rPr>
              <a:t> </a:t>
            </a:r>
            <a:r>
              <a:rPr lang="ar-SA" dirty="0" smtClean="0">
                <a:solidFill>
                  <a:schemeClr val="tx1"/>
                </a:solidFill>
                <a:latin typeface="Adobe Arabic" pitchFamily="18" charset="-78"/>
                <a:cs typeface="Adobe Arabic" pitchFamily="18" charset="-78"/>
              </a:rPr>
              <a:t>امتداد محور مبنا گفته می شود</a:t>
            </a:r>
            <a:r>
              <a:rPr lang="fa-IR" dirty="0" smtClean="0">
                <a:solidFill>
                  <a:schemeClr val="tx1"/>
                </a:solidFill>
                <a:latin typeface="Adobe Arabic" pitchFamily="18" charset="-78"/>
                <a:cs typeface="Adobe Arabic" pitchFamily="18" charset="-78"/>
              </a:rPr>
              <a:t>.</a:t>
            </a:r>
            <a:br>
              <a:rPr lang="fa-IR" dirty="0" smtClean="0">
                <a:solidFill>
                  <a:schemeClr val="tx1"/>
                </a:solidFill>
                <a:latin typeface="Adobe Arabic" pitchFamily="18" charset="-78"/>
                <a:cs typeface="Adobe Arabic" pitchFamily="18" charset="-78"/>
              </a:rPr>
            </a:br>
            <a:r>
              <a:rPr lang="ar-SA" dirty="0" smtClean="0">
                <a:solidFill>
                  <a:schemeClr val="tx1"/>
                </a:solidFill>
                <a:latin typeface="Adobe Arabic" pitchFamily="18" charset="-78"/>
                <a:cs typeface="Adobe Arabic" pitchFamily="18" charset="-78"/>
              </a:rPr>
              <a:t>حال سایر محورهای طولی و عرضی را از روی محور مبنامشخص می كنیم (بوسیله میخ چوبی یا فلزی روی زمین) كه با دوربین تیودولیت و برایكارهای كوچك با ریسمان كار و متر و گونیا و شاقول اجرا می شود</a:t>
            </a:r>
            <a:r>
              <a:rPr lang="en-US" dirty="0" smtClean="0">
                <a:solidFill>
                  <a:schemeClr val="tx1"/>
                </a:solidFill>
                <a:latin typeface="Adobe Arabic" pitchFamily="18" charset="-78"/>
                <a:cs typeface="Adobe Arabic" pitchFamily="18" charset="-78"/>
              </a:rPr>
              <a:t>. </a:t>
            </a:r>
            <a:br>
              <a:rPr lang="en-US" dirty="0" smtClean="0">
                <a:solidFill>
                  <a:schemeClr val="tx1"/>
                </a:solidFill>
                <a:latin typeface="Adobe Arabic" pitchFamily="18" charset="-78"/>
                <a:cs typeface="Adobe Arabic" pitchFamily="18" charset="-78"/>
              </a:rPr>
            </a:br>
            <a:r>
              <a:rPr lang="fa-IR" dirty="0" smtClean="0">
                <a:solidFill>
                  <a:schemeClr val="tx1"/>
                </a:solidFill>
                <a:latin typeface="Adobe Arabic" pitchFamily="18" charset="-78"/>
                <a:cs typeface="Adobe Arabic" pitchFamily="18" charset="-78"/>
              </a:rPr>
              <a:t/>
            </a:r>
            <a:br>
              <a:rPr lang="fa-IR" dirty="0" smtClean="0">
                <a:solidFill>
                  <a:schemeClr val="tx1"/>
                </a:solidFill>
                <a:latin typeface="Adobe Arabic" pitchFamily="18" charset="-78"/>
                <a:cs typeface="Adobe Arabic" pitchFamily="18" charset="-78"/>
              </a:rPr>
            </a:br>
            <a:r>
              <a:rPr lang="fa-IR" dirty="0" smtClean="0">
                <a:solidFill>
                  <a:schemeClr val="tx1"/>
                </a:solidFill>
                <a:latin typeface="Adobe Arabic" pitchFamily="18" charset="-78"/>
                <a:cs typeface="Adobe Arabic" pitchFamily="18" charset="-78"/>
              </a:rPr>
              <a:t/>
            </a:r>
            <a:br>
              <a:rPr lang="fa-IR" dirty="0" smtClean="0">
                <a:solidFill>
                  <a:schemeClr val="tx1"/>
                </a:solidFill>
                <a:latin typeface="Adobe Arabic" pitchFamily="18" charset="-78"/>
                <a:cs typeface="Adobe Arabic" pitchFamily="18" charset="-78"/>
              </a:rPr>
            </a:br>
            <a:r>
              <a:rPr lang="fa-IR" dirty="0" smtClean="0">
                <a:solidFill>
                  <a:schemeClr val="tx1"/>
                </a:solidFill>
                <a:latin typeface="Adobe Arabic" pitchFamily="18" charset="-78"/>
                <a:cs typeface="Adobe Arabic" pitchFamily="18" charset="-78"/>
              </a:rPr>
              <a:t/>
            </a:r>
            <a:br>
              <a:rPr lang="fa-IR" dirty="0" smtClean="0">
                <a:solidFill>
                  <a:schemeClr val="tx1"/>
                </a:solidFill>
                <a:latin typeface="Adobe Arabic" pitchFamily="18" charset="-78"/>
                <a:cs typeface="Adobe Arabic" pitchFamily="18" charset="-78"/>
              </a:rPr>
            </a:br>
            <a:endParaRPr lang="en-US" dirty="0">
              <a:solidFill>
                <a:schemeClr val="tx1"/>
              </a:solidFill>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43956" cy="6440510"/>
          </a:xfrm>
        </p:spPr>
        <p:txBody>
          <a:bodyPr>
            <a:normAutofit fontScale="90000"/>
          </a:bodyPr>
          <a:lstStyle/>
          <a:p>
            <a:pPr algn="r" rtl="1"/>
            <a:r>
              <a:rPr lang="fa-IR" dirty="0" smtClean="0">
                <a:solidFill>
                  <a:srgbClr val="FF0000"/>
                </a:solidFill>
                <a:latin typeface="Adobe Arabic" pitchFamily="18" charset="-78"/>
                <a:cs typeface="Adobe Arabic" pitchFamily="18" charset="-78"/>
              </a:rPr>
              <a:t>خاکبرداری :</a:t>
            </a:r>
            <a:br>
              <a:rPr lang="fa-IR" dirty="0" smtClean="0">
                <a:solidFill>
                  <a:srgbClr val="FF0000"/>
                </a:solidFill>
                <a:latin typeface="Adobe Arabic" pitchFamily="18" charset="-78"/>
                <a:cs typeface="Adobe Arabic" pitchFamily="18" charset="-78"/>
              </a:rPr>
            </a:br>
            <a:r>
              <a:rPr lang="ar-SA" dirty="0" smtClean="0">
                <a:latin typeface="Adobe Arabic" pitchFamily="18" charset="-78"/>
                <a:cs typeface="Adobe Arabic" pitchFamily="18" charset="-78"/>
              </a:rPr>
              <a:t>حال </a:t>
            </a:r>
            <a:r>
              <a:rPr lang="ar-SA" dirty="0" smtClean="0">
                <a:solidFill>
                  <a:srgbClr val="FFC000"/>
                </a:solidFill>
                <a:latin typeface="Adobe Arabic" pitchFamily="18" charset="-78"/>
                <a:cs typeface="Adobe Arabic" pitchFamily="18" charset="-78"/>
              </a:rPr>
              <a:t>اگر بخواهیم </a:t>
            </a:r>
            <a:r>
              <a:rPr lang="ar-SA" dirty="0" smtClean="0">
                <a:latin typeface="Adobe Arabic" pitchFamily="18" charset="-78"/>
                <a:cs typeface="Adobe Arabic" pitchFamily="18" charset="-78"/>
              </a:rPr>
              <a:t>محل</a:t>
            </a:r>
            <a:r>
              <a:rPr lang="fa-IR" dirty="0" smtClean="0">
                <a:latin typeface="Adobe Arabic" pitchFamily="18" charset="-78"/>
                <a:cs typeface="Adobe Arabic" pitchFamily="18" charset="-78"/>
              </a:rPr>
              <a:t> </a:t>
            </a:r>
            <a:r>
              <a:rPr lang="ar-SA" dirty="0" smtClean="0">
                <a:latin typeface="Adobe Arabic" pitchFamily="18" charset="-78"/>
                <a:cs typeface="Adobe Arabic" pitchFamily="18" charset="-78"/>
              </a:rPr>
              <a:t>فونداسیون را </a:t>
            </a:r>
            <a:r>
              <a:rPr lang="ar-SA" dirty="0" smtClean="0">
                <a:solidFill>
                  <a:srgbClr val="FFC000"/>
                </a:solidFill>
                <a:latin typeface="Adobe Arabic" pitchFamily="18" charset="-78"/>
                <a:cs typeface="Adobe Arabic" pitchFamily="18" charset="-78"/>
              </a:rPr>
              <a:t>خاكبرداری</a:t>
            </a:r>
            <a:r>
              <a:rPr lang="ar-SA" dirty="0" smtClean="0">
                <a:latin typeface="Adobe Arabic" pitchFamily="18" charset="-78"/>
                <a:cs typeface="Adobe Arabic" pitchFamily="18" charset="-78"/>
              </a:rPr>
              <a:t> كنیم به </a:t>
            </a:r>
            <a:r>
              <a:rPr lang="ar-SA" dirty="0" smtClean="0">
                <a:solidFill>
                  <a:srgbClr val="FFC000"/>
                </a:solidFill>
                <a:latin typeface="Adobe Arabic" pitchFamily="18" charset="-78"/>
                <a:cs typeface="Adobe Arabic" pitchFamily="18" charset="-78"/>
              </a:rPr>
              <a:t>ارتفاع خاكبرداری </a:t>
            </a:r>
            <a:r>
              <a:rPr lang="ar-SA" dirty="0" smtClean="0">
                <a:latin typeface="Adobe Arabic" pitchFamily="18" charset="-78"/>
                <a:cs typeface="Adobe Arabic" pitchFamily="18" charset="-78"/>
              </a:rPr>
              <a:t>احتیاج داریم كه حتی اگر زمین دارای پستی و بلندی جزیی باشد، نقطه ای بصورت </a:t>
            </a:r>
            <a:r>
              <a:rPr lang="ar-SA" dirty="0" smtClean="0">
                <a:solidFill>
                  <a:srgbClr val="FFC000"/>
                </a:solidFill>
                <a:latin typeface="Adobe Arabic" pitchFamily="18" charset="-78"/>
                <a:cs typeface="Adobe Arabic" pitchFamily="18" charset="-78"/>
              </a:rPr>
              <a:t>مبنا</a:t>
            </a:r>
            <a:r>
              <a:rPr lang="en-US" dirty="0" smtClean="0">
                <a:solidFill>
                  <a:srgbClr val="FFC000"/>
                </a:solidFill>
                <a:latin typeface="Adobe Arabic" pitchFamily="18" charset="-78"/>
                <a:cs typeface="Adobe Arabic" pitchFamily="18" charset="-78"/>
              </a:rPr>
              <a:t> (B. M) </a:t>
            </a:r>
            <a:r>
              <a:rPr lang="ar-SA" dirty="0" smtClean="0">
                <a:latin typeface="Adobe Arabic" pitchFamily="18" charset="-78"/>
                <a:cs typeface="Adobe Arabic" pitchFamily="18" charset="-78"/>
              </a:rPr>
              <a:t>باید در محوطه كارگاه مشخص شود ( این نقطه بوسیله بت</a:t>
            </a:r>
            <a:r>
              <a:rPr lang="fa-IR" dirty="0" smtClean="0">
                <a:latin typeface="Adobe Arabic" pitchFamily="18" charset="-78"/>
                <a:cs typeface="Adobe Arabic" pitchFamily="18" charset="-78"/>
              </a:rPr>
              <a:t>ن</a:t>
            </a:r>
            <a:r>
              <a:rPr lang="ar-SA" dirty="0" smtClean="0">
                <a:latin typeface="Adobe Arabic" pitchFamily="18" charset="-78"/>
                <a:cs typeface="Adobe Arabic" pitchFamily="18" charset="-78"/>
              </a:rPr>
              <a:t>و میلگرد در نقطه ای كه دور از آسیب باشد ساخته می شود</a:t>
            </a:r>
            <a:r>
              <a:rPr lang="fa-IR" dirty="0" smtClean="0">
                <a:latin typeface="Adobe Arabic" pitchFamily="18" charset="-78"/>
                <a:cs typeface="Adobe Arabic" pitchFamily="18" charset="-78"/>
              </a:rPr>
              <a:t>).</a:t>
            </a:r>
            <a:r>
              <a:rPr lang="en-US" dirty="0" smtClean="0">
                <a:latin typeface="Adobe Arabic" pitchFamily="18" charset="-78"/>
                <a:cs typeface="Adobe Arabic" pitchFamily="18" charset="-78"/>
              </a:rPr>
              <a:t> </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pic>
        <p:nvPicPr>
          <p:cNvPr id="8194" name="Picture 2" descr="C:\Users\tadbir sabz\Desktop\پروژه روش اجرایی\axx\Khakbardari1 l.jpg"/>
          <p:cNvPicPr>
            <a:picLocks noChangeAspect="1" noChangeArrowheads="1"/>
          </p:cNvPicPr>
          <p:nvPr/>
        </p:nvPicPr>
        <p:blipFill>
          <a:blip r:embed="rId2"/>
          <a:srcRect/>
          <a:stretch>
            <a:fillRect/>
          </a:stretch>
        </p:blipFill>
        <p:spPr bwMode="auto">
          <a:xfrm>
            <a:off x="357158" y="3786190"/>
            <a:ext cx="8501122" cy="2928958"/>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01080" cy="6154758"/>
          </a:xfrm>
        </p:spPr>
        <p:txBody>
          <a:bodyPr>
            <a:normAutofit fontScale="90000"/>
          </a:bodyPr>
          <a:lstStyle/>
          <a:p>
            <a:pPr algn="r" rtl="1"/>
            <a:r>
              <a:rPr lang="ar-SA" sz="4400" dirty="0" smtClean="0">
                <a:solidFill>
                  <a:srgbClr val="FF0000"/>
                </a:solidFill>
                <a:latin typeface="Adobe Arabic" pitchFamily="18" charset="-78"/>
                <a:cs typeface="Adobe Arabic" pitchFamily="18" charset="-78"/>
              </a:rPr>
              <a:t>نكات فنی و اجرایی مربوط به خاكبرداری: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t>
            </a:r>
            <a:r>
              <a:rPr lang="ar-SA" sz="3600" dirty="0" smtClean="0">
                <a:solidFill>
                  <a:srgbClr val="FFC000"/>
                </a:solidFill>
                <a:latin typeface="Adobe Arabic" pitchFamily="18" charset="-78"/>
                <a:cs typeface="Adobe Arabic" pitchFamily="18" charset="-78"/>
              </a:rPr>
              <a:t>داشتن اطلاعات اولیه از زمین و نوع خاك از قبیل :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ar-SA" sz="3600" dirty="0" smtClean="0">
                <a:latin typeface="Adobe Arabic" pitchFamily="18" charset="-78"/>
                <a:cs typeface="Adobe Arabic" pitchFamily="18" charset="-78"/>
              </a:rPr>
              <a:t>مقاومت فشاری نوع خاك بویژه از نظر ریزشی بودن، وضعیت آب زیرزمینی، عمق یخبندان و سایر ویژگیهای فیزیكی خاك كه با آزمایش از خاك آن محل مشخص می شود، بسیار ضروری است.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pic>
        <p:nvPicPr>
          <p:cNvPr id="9218" name="Picture 2" descr="C:\Users\tadbir sabz\Desktop\پروژه روش اجرایی\axx\بتن مگر\6.jpg"/>
          <p:cNvPicPr>
            <a:picLocks noChangeAspect="1" noChangeArrowheads="1"/>
          </p:cNvPicPr>
          <p:nvPr/>
        </p:nvPicPr>
        <p:blipFill>
          <a:blip r:embed="rId2"/>
          <a:srcRect/>
          <a:stretch>
            <a:fillRect/>
          </a:stretch>
        </p:blipFill>
        <p:spPr bwMode="auto">
          <a:xfrm>
            <a:off x="285720" y="3071810"/>
            <a:ext cx="4445000" cy="3606800"/>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572560" cy="6226196"/>
          </a:xfrm>
        </p:spPr>
        <p:txBody>
          <a:bodyPr>
            <a:normAutofit fontScale="90000"/>
          </a:bodyPr>
          <a:lstStyle/>
          <a:p>
            <a:pPr algn="r" rtl="1"/>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4400" dirty="0" smtClean="0">
                <a:solidFill>
                  <a:srgbClr val="FF0000"/>
                </a:solidFill>
                <a:latin typeface="Adobe Arabic" pitchFamily="18" charset="-78"/>
                <a:cs typeface="Adobe Arabic" pitchFamily="18" charset="-78"/>
              </a:rPr>
              <a:t>حفاظت جداره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ar-SA" sz="3600" dirty="0" smtClean="0">
                <a:solidFill>
                  <a:srgbClr val="FFC000"/>
                </a:solidFill>
                <a:latin typeface="Adobe Arabic" pitchFamily="18" charset="-78"/>
                <a:cs typeface="Adobe Arabic" pitchFamily="18" charset="-78"/>
              </a:rPr>
              <a:t>در خاكبرداری پی </a:t>
            </a:r>
            <a:r>
              <a:rPr lang="ar-SA" sz="3600" dirty="0" smtClean="0">
                <a:latin typeface="Adobe Arabic" pitchFamily="18" charset="-78"/>
                <a:cs typeface="Adobe Arabic" pitchFamily="18" charset="-78"/>
              </a:rPr>
              <a:t>هنگام اجرا زیرزمین ممكن است </a:t>
            </a:r>
            <a:r>
              <a:rPr lang="ar-SA" sz="3600" dirty="0" smtClean="0">
                <a:solidFill>
                  <a:srgbClr val="FFC000"/>
                </a:solidFill>
                <a:latin typeface="Adobe Arabic" pitchFamily="18" charset="-78"/>
                <a:cs typeface="Adobe Arabic" pitchFamily="18" charset="-78"/>
              </a:rPr>
              <a:t>جداره ریزش كند </a:t>
            </a:r>
            <a:r>
              <a:rPr lang="ar-SA" sz="3600" dirty="0" smtClean="0">
                <a:latin typeface="Adobe Arabic" pitchFamily="18" charset="-78"/>
                <a:cs typeface="Adobe Arabic" pitchFamily="18" charset="-78"/>
              </a:rPr>
              <a:t>یا اینكه زیر پی مجاور خالی شود كه با وسایل مختلفی </a:t>
            </a:r>
            <a:r>
              <a:rPr lang="ar-SA" sz="3600" dirty="0" smtClean="0">
                <a:solidFill>
                  <a:srgbClr val="FFC000"/>
                </a:solidFill>
                <a:latin typeface="Adobe Arabic" pitchFamily="18" charset="-78"/>
                <a:cs typeface="Adobe Arabic" pitchFamily="18" charset="-78"/>
              </a:rPr>
              <a:t>باید شمع بندی و حفاظت جداره </a:t>
            </a:r>
            <a:r>
              <a:rPr lang="ar-SA" sz="3600" dirty="0" smtClean="0">
                <a:latin typeface="Adobe Arabic" pitchFamily="18" charset="-78"/>
                <a:cs typeface="Adobe Arabic" pitchFamily="18" charset="-78"/>
              </a:rPr>
              <a:t>صورت گیرد؛ به طوری كه مقاومت كافی در برابر بارهای وارده داشته باشد</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4638"/>
            <a:ext cx="8329642" cy="6154758"/>
          </a:xfrm>
        </p:spPr>
        <p:txBody>
          <a:bodyPr>
            <a:noAutofit/>
          </a:bodyPr>
          <a:lstStyle/>
          <a:p>
            <a:pPr algn="r" rtl="1"/>
            <a:r>
              <a:rPr lang="fa-IR" sz="4400" dirty="0" smtClean="0">
                <a:solidFill>
                  <a:srgbClr val="FF0000"/>
                </a:solidFill>
                <a:latin typeface="Adobe Arabic" pitchFamily="18" charset="-78"/>
                <a:cs typeface="Adobe Arabic" pitchFamily="18" charset="-78"/>
              </a:rPr>
              <a:t>شفته ریزی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ar-SA" sz="3600" dirty="0" smtClean="0">
                <a:latin typeface="Adobe Arabic" pitchFamily="18" charset="-78"/>
                <a:cs typeface="Adobe Arabic" pitchFamily="18" charset="-78"/>
              </a:rPr>
              <a:t> شفته آهكی كه با دوغاب ساخته و خوب عمل‌آوری شده</a:t>
            </a:r>
            <a:r>
              <a:rPr lang="fa-IR" sz="3600" dirty="0" smtClean="0">
                <a:latin typeface="Adobe Arabic" pitchFamily="18" charset="-78"/>
                <a:cs typeface="Adobe Arabic" pitchFamily="18" charset="-78"/>
              </a:rPr>
              <a:t>   </a:t>
            </a:r>
            <a:r>
              <a:rPr lang="ar-SA" sz="3600" dirty="0" smtClean="0">
                <a:latin typeface="Adobe Arabic" pitchFamily="18" charset="-78"/>
                <a:cs typeface="Adobe Arabic" pitchFamily="18" charset="-78"/>
              </a:rPr>
              <a:t> باشد، دارای </a:t>
            </a:r>
            <a:r>
              <a:rPr lang="ar-SA" sz="3600" dirty="0" smtClean="0">
                <a:solidFill>
                  <a:srgbClr val="FFC000"/>
                </a:solidFill>
                <a:latin typeface="Adobe Arabic" pitchFamily="18" charset="-78"/>
                <a:cs typeface="Adobe Arabic" pitchFamily="18" charset="-78"/>
              </a:rPr>
              <a:t>مقاومت 7 روزه </a:t>
            </a:r>
            <a:r>
              <a:rPr lang="ar-SA" sz="3600" dirty="0" smtClean="0">
                <a:latin typeface="Adobe Arabic" pitchFamily="18" charset="-78"/>
                <a:cs typeface="Adobe Arabic" pitchFamily="18" charset="-78"/>
              </a:rPr>
              <a:t>معادل 5 كیلوگرم بر سانتیمتر مربع و تاب 28 روزه حدوداً 10 كیلوگرم بر سانتیمتر مربع خواهد بود كه این مقاومت </a:t>
            </a:r>
            <a:r>
              <a:rPr lang="ar-SA" sz="3600" dirty="0" smtClean="0">
                <a:solidFill>
                  <a:srgbClr val="FFC000"/>
                </a:solidFill>
                <a:latin typeface="Adobe Arabic" pitchFamily="18" charset="-78"/>
                <a:cs typeface="Adobe Arabic" pitchFamily="18" charset="-78"/>
              </a:rPr>
              <a:t>برای بستر پی ساختمان یا راه كاملاً مناسب </a:t>
            </a:r>
            <a:r>
              <a:rPr lang="ar-SA" sz="3600" dirty="0" smtClean="0">
                <a:latin typeface="Adobe Arabic" pitchFamily="18" charset="-78"/>
                <a:cs typeface="Adobe Arabic" pitchFamily="18" charset="-78"/>
              </a:rPr>
              <a:t>می‌باشد.</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pic>
        <p:nvPicPr>
          <p:cNvPr id="10242" name="Picture 2" descr="C:\Users\tadbir sabz\Desktop\پروژه روش اجرایی\axx\image007.jpg"/>
          <p:cNvPicPr>
            <a:picLocks noChangeAspect="1" noChangeArrowheads="1"/>
          </p:cNvPicPr>
          <p:nvPr/>
        </p:nvPicPr>
        <p:blipFill>
          <a:blip r:embed="rId2"/>
          <a:srcRect/>
          <a:stretch>
            <a:fillRect/>
          </a:stretch>
        </p:blipFill>
        <p:spPr bwMode="auto">
          <a:xfrm>
            <a:off x="1214414" y="3571876"/>
            <a:ext cx="7286676" cy="2857520"/>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72518" cy="6369072"/>
          </a:xfrm>
        </p:spPr>
        <p:txBody>
          <a:bodyPr>
            <a:normAutofit/>
          </a:bodyPr>
          <a:lstStyle/>
          <a:p>
            <a:pPr algn="r"/>
            <a:r>
              <a:rPr lang="fa-IR" sz="4400" dirty="0" smtClean="0">
                <a:solidFill>
                  <a:srgbClr val="FF0000"/>
                </a:solidFill>
                <a:latin typeface="Adobe Arabic" pitchFamily="18" charset="-78"/>
                <a:cs typeface="Adobe Arabic" pitchFamily="18" charset="-78"/>
              </a:rPr>
              <a:t>نکات شفته ریزی :</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ar-SA" sz="4000" dirty="0" smtClean="0">
                <a:solidFill>
                  <a:srgbClr val="FF0000"/>
                </a:solidFill>
                <a:latin typeface="Adobe Arabic" pitchFamily="18" charset="-78"/>
                <a:cs typeface="Adobe Arabic" pitchFamily="18" charset="-78"/>
              </a:rPr>
              <a:t>1</a:t>
            </a:r>
            <a:r>
              <a:rPr lang="fa-IR" sz="4000" dirty="0" smtClean="0">
                <a:solidFill>
                  <a:srgbClr val="FF0000"/>
                </a:solidFill>
                <a:latin typeface="Adobe Arabic" pitchFamily="18" charset="-78"/>
                <a:cs typeface="Adobe Arabic" pitchFamily="18" charset="-78"/>
              </a:rPr>
              <a:t>-</a:t>
            </a:r>
            <a:r>
              <a:rPr lang="ar-SA" sz="4000" dirty="0" smtClean="0">
                <a:solidFill>
                  <a:srgbClr val="FF0000"/>
                </a:solidFill>
                <a:latin typeface="Adobe Arabic" pitchFamily="18" charset="-78"/>
                <a:cs typeface="Adobe Arabic" pitchFamily="18" charset="-78"/>
              </a:rPr>
              <a:t> </a:t>
            </a:r>
            <a:r>
              <a:rPr lang="ar-SA" sz="3600" dirty="0" smtClean="0">
                <a:latin typeface="Adobe Arabic" pitchFamily="18" charset="-78"/>
                <a:cs typeface="Adobe Arabic" pitchFamily="18" charset="-78"/>
              </a:rPr>
              <a:t>آهک مصرفی میبایست حتما برای استفاده در شفته قبلا بصورت </a:t>
            </a:r>
            <a:r>
              <a:rPr lang="ar-SA" sz="3600" dirty="0" smtClean="0">
                <a:solidFill>
                  <a:srgbClr val="FFC000"/>
                </a:solidFill>
                <a:latin typeface="Adobe Arabic" pitchFamily="18" charset="-78"/>
                <a:cs typeface="Adobe Arabic" pitchFamily="18" charset="-78"/>
              </a:rPr>
              <a:t>کامل شکفته </a:t>
            </a:r>
            <a:r>
              <a:rPr lang="ar-SA" sz="3600" dirty="0" smtClean="0">
                <a:latin typeface="Adobe Arabic" pitchFamily="18" charset="-78"/>
                <a:cs typeface="Adobe Arabic" pitchFamily="18" charset="-78"/>
              </a:rPr>
              <a:t>شده باشد و پس از سرند شدن برای تهیه شفته مورد استفاده قرار بگیرد.</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ar-SA" sz="3600" dirty="0" smtClean="0">
                <a:latin typeface="Adobe Arabic" pitchFamily="18" charset="-78"/>
                <a:cs typeface="Adobe Arabic" pitchFamily="18" charset="-78"/>
              </a:rPr>
              <a:t> </a:t>
            </a:r>
            <a:r>
              <a:rPr lang="ar-SA" sz="3600" dirty="0" smtClean="0">
                <a:solidFill>
                  <a:srgbClr val="FF0000"/>
                </a:solidFill>
                <a:latin typeface="Adobe Arabic" pitchFamily="18" charset="-78"/>
                <a:cs typeface="Adobe Arabic" pitchFamily="18" charset="-78"/>
              </a:rPr>
              <a:t>2- </a:t>
            </a:r>
            <a:r>
              <a:rPr lang="ar-SA" sz="3600" dirty="0" smtClean="0">
                <a:latin typeface="Adobe Arabic" pitchFamily="18" charset="-78"/>
                <a:cs typeface="Adobe Arabic" pitchFamily="18" charset="-78"/>
              </a:rPr>
              <a:t>آهک باید حتما به صورت </a:t>
            </a:r>
            <a:r>
              <a:rPr lang="ar-SA" sz="3600" dirty="0" smtClean="0">
                <a:solidFill>
                  <a:srgbClr val="FFC000"/>
                </a:solidFill>
                <a:latin typeface="Adobe Arabic" pitchFamily="18" charset="-78"/>
                <a:cs typeface="Adobe Arabic" pitchFamily="18" charset="-78"/>
              </a:rPr>
              <a:t>دوغاب با خاک درشت دانه </a:t>
            </a:r>
            <a:r>
              <a:rPr lang="ar-SA" sz="3600" dirty="0" smtClean="0">
                <a:latin typeface="Adobe Arabic" pitchFamily="18" charset="-78"/>
                <a:cs typeface="Adobe Arabic" pitchFamily="18" charset="-78"/>
              </a:rPr>
              <a:t>مخلوط گردد . </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ar-SA" sz="3600" dirty="0" smtClean="0">
                <a:solidFill>
                  <a:srgbClr val="FF0000"/>
                </a:solidFill>
                <a:latin typeface="Adobe Arabic" pitchFamily="18" charset="-78"/>
                <a:cs typeface="Adobe Arabic" pitchFamily="18" charset="-78"/>
              </a:rPr>
              <a:t>3-</a:t>
            </a:r>
            <a:r>
              <a:rPr lang="ar-SA" sz="3600" dirty="0" smtClean="0">
                <a:latin typeface="Adobe Arabic" pitchFamily="18" charset="-78"/>
                <a:cs typeface="Adobe Arabic" pitchFamily="18" charset="-78"/>
              </a:rPr>
              <a:t> بهتر است که مخلوط شفته آهک </a:t>
            </a:r>
            <a:r>
              <a:rPr lang="ar-SA" sz="3600" dirty="0" smtClean="0">
                <a:solidFill>
                  <a:srgbClr val="FFC000"/>
                </a:solidFill>
                <a:latin typeface="Adobe Arabic" pitchFamily="18" charset="-78"/>
                <a:cs typeface="Adobe Arabic" pitchFamily="18" charset="-78"/>
              </a:rPr>
              <a:t>در کنار فونداسیون </a:t>
            </a:r>
            <a:r>
              <a:rPr lang="ar-SA" sz="3600" dirty="0" smtClean="0">
                <a:latin typeface="Adobe Arabic" pitchFamily="18" charset="-78"/>
                <a:cs typeface="Adobe Arabic" pitchFamily="18" charset="-78"/>
              </a:rPr>
              <a:t>ساخته شود تا براحتی بتوان آن را به داخل محل خاک برداری منتقل کرد. در شکل </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ar-SA" sz="3600" dirty="0" smtClean="0">
                <a:latin typeface="Adobe Arabic" pitchFamily="18" charset="-78"/>
                <a:cs typeface="Adobe Arabic" pitchFamily="18" charset="-78"/>
              </a:rPr>
              <a:t>های بعدی اجرای صحیح و اجرای نادرست را مشاهده میکنید</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1266" name="Picture 2" descr="C:\Users\tadbir sabz\Desktop\پروژه روش اجرایی\axx\image006.jpg"/>
          <p:cNvPicPr>
            <a:picLocks noChangeAspect="1" noChangeArrowheads="1"/>
          </p:cNvPicPr>
          <p:nvPr/>
        </p:nvPicPr>
        <p:blipFill>
          <a:blip r:embed="rId2"/>
          <a:srcRect/>
          <a:stretch>
            <a:fillRect/>
          </a:stretch>
        </p:blipFill>
        <p:spPr bwMode="auto">
          <a:xfrm>
            <a:off x="1357290" y="1142984"/>
            <a:ext cx="6643734" cy="5143536"/>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01080" cy="6226196"/>
          </a:xfrm>
        </p:spPr>
        <p:txBody>
          <a:bodyPr>
            <a:noAutofit/>
          </a:bodyPr>
          <a:lstStyle/>
          <a:p>
            <a:pPr algn="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4-</a:t>
            </a:r>
            <a:r>
              <a:rPr lang="ar-SA" sz="2400" dirty="0" smtClean="0">
                <a:latin typeface="Adobe Arabic" pitchFamily="18" charset="-78"/>
                <a:cs typeface="Adobe Arabic" pitchFamily="18" charset="-78"/>
              </a:rPr>
              <a:t> دقت شود که </a:t>
            </a:r>
            <a:r>
              <a:rPr lang="ar-SA" sz="2400" dirty="0" smtClean="0">
                <a:solidFill>
                  <a:srgbClr val="FFC000"/>
                </a:solidFill>
                <a:latin typeface="Adobe Arabic" pitchFamily="18" charset="-78"/>
                <a:cs typeface="Adobe Arabic" pitchFamily="18" charset="-78"/>
              </a:rPr>
              <a:t>بتن مگر حتما پس از </a:t>
            </a:r>
            <a:r>
              <a:rPr lang="ar-SA" sz="2400" dirty="0" smtClean="0">
                <a:latin typeface="Adobe Arabic" pitchFamily="18" charset="-78"/>
                <a:cs typeface="Adobe Arabic" pitchFamily="18" charset="-78"/>
              </a:rPr>
              <a:t>عمل آوری کامل شفته آهک و رسیدن آن به </a:t>
            </a:r>
            <a:r>
              <a:rPr lang="ar-SA" sz="2400" dirty="0" smtClean="0">
                <a:solidFill>
                  <a:srgbClr val="FFC000"/>
                </a:solidFill>
                <a:latin typeface="Adobe Arabic" pitchFamily="18" charset="-78"/>
                <a:cs typeface="Adobe Arabic" pitchFamily="18" charset="-78"/>
              </a:rPr>
              <a:t>گیرش اولیه </a:t>
            </a:r>
            <a:r>
              <a:rPr lang="ar-SA" sz="2400" dirty="0" smtClean="0">
                <a:latin typeface="Adobe Arabic" pitchFamily="18" charset="-78"/>
                <a:cs typeface="Adobe Arabic" pitchFamily="18" charset="-78"/>
              </a:rPr>
              <a:t>بر روی آن اجرا شود تا آب بتن توسط شفته جذب نشده و موجب </a:t>
            </a:r>
            <a:r>
              <a:rPr lang="ar-SA" sz="2400" dirty="0" smtClean="0">
                <a:solidFill>
                  <a:srgbClr val="FFC000"/>
                </a:solidFill>
                <a:latin typeface="Adobe Arabic" pitchFamily="18" charset="-78"/>
                <a:cs typeface="Adobe Arabic" pitchFamily="18" charset="-78"/>
              </a:rPr>
              <a:t>پوکی بتن </a:t>
            </a:r>
            <a:r>
              <a:rPr lang="ar-SA" sz="2400" dirty="0" smtClean="0">
                <a:latin typeface="Adobe Arabic" pitchFamily="18" charset="-78"/>
                <a:cs typeface="Adobe Arabic" pitchFamily="18" charset="-78"/>
              </a:rPr>
              <a:t>مگر نگردد .</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5-</a:t>
            </a:r>
            <a:r>
              <a:rPr lang="ar-SA" sz="2400" dirty="0" smtClean="0">
                <a:latin typeface="Adobe Arabic" pitchFamily="18" charset="-78"/>
                <a:cs typeface="Adobe Arabic" pitchFamily="18" charset="-78"/>
              </a:rPr>
              <a:t> توجه شود که بر </a:t>
            </a:r>
            <a:r>
              <a:rPr lang="ar-SA" sz="2400" dirty="0" smtClean="0">
                <a:solidFill>
                  <a:srgbClr val="FFC000"/>
                </a:solidFill>
                <a:latin typeface="Adobe Arabic" pitchFamily="18" charset="-78"/>
                <a:cs typeface="Adobe Arabic" pitchFamily="18" charset="-78"/>
              </a:rPr>
              <a:t>روی شفته </a:t>
            </a:r>
            <a:r>
              <a:rPr lang="ar-SA" sz="2400" dirty="0" smtClean="0">
                <a:latin typeface="Adobe Arabic" pitchFamily="18" charset="-78"/>
                <a:cs typeface="Adobe Arabic" pitchFamily="18" charset="-78"/>
              </a:rPr>
              <a:t>اجرا شده تا زمانی که شفته به </a:t>
            </a:r>
            <a:r>
              <a:rPr lang="ar-SA" sz="2400" dirty="0" smtClean="0">
                <a:solidFill>
                  <a:srgbClr val="FFC000"/>
                </a:solidFill>
                <a:latin typeface="Adobe Arabic" pitchFamily="18" charset="-78"/>
                <a:cs typeface="Adobe Arabic" pitchFamily="18" charset="-78"/>
              </a:rPr>
              <a:t>مقاومت 5/1 کیلوگرم </a:t>
            </a:r>
            <a:r>
              <a:rPr lang="ar-SA" sz="2400" dirty="0" smtClean="0">
                <a:latin typeface="Adobe Arabic" pitchFamily="18" charset="-78"/>
                <a:cs typeface="Adobe Arabic" pitchFamily="18" charset="-78"/>
              </a:rPr>
              <a:t>بر سانتیمتر مربع نرسیده است </a:t>
            </a:r>
            <a:r>
              <a:rPr lang="ar-SA" sz="2400" dirty="0" smtClean="0">
                <a:solidFill>
                  <a:srgbClr val="FFC000"/>
                </a:solidFill>
                <a:latin typeface="Adobe Arabic" pitchFamily="18" charset="-78"/>
                <a:cs typeface="Adobe Arabic" pitchFamily="18" charset="-78"/>
              </a:rPr>
              <a:t>بارگذاری صورت نگیرد</a:t>
            </a:r>
            <a:r>
              <a:rPr lang="ar-SA" sz="2400" dirty="0" smtClean="0">
                <a:latin typeface="Adobe Arabic" pitchFamily="18" charset="-78"/>
                <a:cs typeface="Adobe Arabic" pitchFamily="18" charset="-78"/>
              </a:rPr>
              <a:t> ( شفته آهکی زمانی به مقاومت 5/1 کیلوگرم بر متر مربع </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ar-SA" sz="2400" dirty="0" smtClean="0">
                <a:latin typeface="Adobe Arabic" pitchFamily="18" charset="-78"/>
                <a:cs typeface="Adobe Arabic" pitchFamily="18" charset="-78"/>
              </a:rPr>
              <a:t>رسیده است که اثر کفش شما پس از راه رفتن بر روی آن باقی نماند</a:t>
            </a:r>
            <a:r>
              <a:rPr lang="fa-IR" sz="2400" dirty="0" smtClean="0">
                <a:latin typeface="Adobe Arabic" pitchFamily="18" charset="-78"/>
                <a:cs typeface="Adobe Arabic" pitchFamily="18" charset="-78"/>
              </a:rPr>
              <a:t>)</a:t>
            </a:r>
            <a:br>
              <a:rPr lang="fa-IR"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6-</a:t>
            </a:r>
            <a:r>
              <a:rPr lang="ar-SA" sz="2400" dirty="0" smtClean="0">
                <a:latin typeface="Adobe Arabic" pitchFamily="18" charset="-78"/>
                <a:cs typeface="Adobe Arabic" pitchFamily="18" charset="-78"/>
              </a:rPr>
              <a:t> باید توجه نمود که </a:t>
            </a:r>
            <a:r>
              <a:rPr lang="ar-SA" sz="2400" dirty="0" smtClean="0">
                <a:solidFill>
                  <a:srgbClr val="FFC000"/>
                </a:solidFill>
                <a:latin typeface="Adobe Arabic" pitchFamily="18" charset="-78"/>
                <a:cs typeface="Adobe Arabic" pitchFamily="18" charset="-78"/>
              </a:rPr>
              <a:t>هر چه میزان رس </a:t>
            </a:r>
            <a:r>
              <a:rPr lang="ar-SA" sz="2400" dirty="0" smtClean="0">
                <a:latin typeface="Adobe Arabic" pitchFamily="18" charset="-78"/>
                <a:cs typeface="Adobe Arabic" pitchFamily="18" charset="-78"/>
              </a:rPr>
              <a:t>در خاک مصرفی برای شفته </a:t>
            </a:r>
            <a:r>
              <a:rPr lang="ar-SA" sz="2400" dirty="0" smtClean="0">
                <a:solidFill>
                  <a:srgbClr val="FFC000"/>
                </a:solidFill>
                <a:latin typeface="Adobe Arabic" pitchFamily="18" charset="-78"/>
                <a:cs typeface="Adobe Arabic" pitchFamily="18" charset="-78"/>
              </a:rPr>
              <a:t>بیشتر</a:t>
            </a:r>
            <a:r>
              <a:rPr lang="ar-SA" sz="2400" dirty="0" smtClean="0">
                <a:latin typeface="Adobe Arabic" pitchFamily="18" charset="-78"/>
                <a:cs typeface="Adobe Arabic" pitchFamily="18" charset="-78"/>
              </a:rPr>
              <a:t> باشد </a:t>
            </a:r>
            <a:r>
              <a:rPr lang="ar-SA" sz="2400" dirty="0" smtClean="0">
                <a:solidFill>
                  <a:srgbClr val="FFC000"/>
                </a:solidFill>
                <a:latin typeface="Adobe Arabic" pitchFamily="18" charset="-78"/>
                <a:cs typeface="Adobe Arabic" pitchFamily="18" charset="-78"/>
              </a:rPr>
              <a:t>میزان آهک مصرفی نیز باید بالاتر رود.</a:t>
            </a:r>
            <a:r>
              <a:rPr lang="ar-SA" sz="2400" dirty="0" smtClean="0">
                <a:latin typeface="Adobe Arabic" pitchFamily="18" charset="-78"/>
                <a:cs typeface="Adobe Arabic" pitchFamily="18" charset="-78"/>
              </a:rPr>
              <a:t>  </a:t>
            </a: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endParaRPr lang="en-US" sz="24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Users\tadbir sabz\Desktop\پروژه روش اجرایی\axx\image009.jpg"/>
          <p:cNvPicPr>
            <a:picLocks noChangeAspect="1" noChangeArrowheads="1"/>
          </p:cNvPicPr>
          <p:nvPr/>
        </p:nvPicPr>
        <p:blipFill>
          <a:blip r:embed="rId2"/>
          <a:srcRect/>
          <a:stretch>
            <a:fillRect/>
          </a:stretch>
        </p:blipFill>
        <p:spPr bwMode="auto">
          <a:xfrm>
            <a:off x="642910" y="1000108"/>
            <a:ext cx="8001056" cy="5286411"/>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543956" cy="6297634"/>
          </a:xfrm>
        </p:spPr>
        <p:txBody>
          <a:bodyPr>
            <a:normAutofit fontScale="90000"/>
          </a:bodyPr>
          <a:lstStyle/>
          <a:p>
            <a:pPr algn="r"/>
            <a:r>
              <a:rPr lang="fa-IR" sz="5300" dirty="0" smtClean="0">
                <a:solidFill>
                  <a:srgbClr val="FF0000"/>
                </a:solidFill>
                <a:latin typeface="Adobe Arabic" pitchFamily="18" charset="-78"/>
                <a:cs typeface="Adobe Arabic" pitchFamily="18" charset="-78"/>
              </a:rPr>
              <a:t>بتن مگر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بتن مگر یا به تعریفی بتن رگلاژ کف قالبندی فونداسیون در حقیقت یک بتن با </a:t>
            </a:r>
            <a:r>
              <a:rPr lang="ar-SA" dirty="0" smtClean="0">
                <a:solidFill>
                  <a:srgbClr val="FFC000"/>
                </a:solidFill>
                <a:latin typeface="Adobe Arabic" pitchFamily="18" charset="-78"/>
                <a:cs typeface="Adobe Arabic" pitchFamily="18" charset="-78"/>
              </a:rPr>
              <a:t>مقدار سیمان کم </a:t>
            </a:r>
            <a:r>
              <a:rPr lang="ar-SA" dirty="0" smtClean="0">
                <a:latin typeface="Adobe Arabic" pitchFamily="18" charset="-78"/>
                <a:cs typeface="Adobe Arabic" pitchFamily="18" charset="-78"/>
              </a:rPr>
              <a:t>(100 تا 150 کیلوگرم سیمان بر مترمکعب) است که </a:t>
            </a:r>
            <a:r>
              <a:rPr lang="ar-SA" dirty="0" smtClean="0">
                <a:solidFill>
                  <a:srgbClr val="FFC000"/>
                </a:solidFill>
                <a:latin typeface="Adobe Arabic" pitchFamily="18" charset="-78"/>
                <a:cs typeface="Adobe Arabic" pitchFamily="18" charset="-78"/>
              </a:rPr>
              <a:t>جهت آماده سازی بستر </a:t>
            </a:r>
            <a:r>
              <a:rPr lang="ar-SA" dirty="0" smtClean="0">
                <a:latin typeface="Adobe Arabic" pitchFamily="18" charset="-78"/>
                <a:cs typeface="Adobe Arabic" pitchFamily="18" charset="-78"/>
              </a:rPr>
              <a:t>خاکبرداری شده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برای آرماتوربندی و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صفحه گذاری اجرا</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 میگردد</a:t>
            </a:r>
            <a:r>
              <a:rPr lang="fa-IR" dirty="0" smtClean="0">
                <a:latin typeface="Adobe Arabic" pitchFamily="18" charset="-78"/>
                <a:cs typeface="Adobe Arabic" pitchFamily="18" charset="-78"/>
              </a:rPr>
              <a:t>.</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pic>
        <p:nvPicPr>
          <p:cNvPr id="13314" name="Picture 2" descr="C:\Users\tadbir sabz\Desktop\پروژه روش اجرایی\axx\بتن مگر\ejraboton7.10.0016.JPG"/>
          <p:cNvPicPr>
            <a:picLocks noChangeAspect="1" noChangeArrowheads="1"/>
          </p:cNvPicPr>
          <p:nvPr/>
        </p:nvPicPr>
        <p:blipFill>
          <a:blip r:embed="rId2"/>
          <a:srcRect/>
          <a:stretch>
            <a:fillRect/>
          </a:stretch>
        </p:blipFill>
        <p:spPr bwMode="auto">
          <a:xfrm>
            <a:off x="107504" y="2780928"/>
            <a:ext cx="5786478" cy="3643338"/>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3998" cy="6297634"/>
          </a:xfrm>
        </p:spPr>
        <p:txBody>
          <a:bodyPr>
            <a:noAutofit/>
          </a:bodyPr>
          <a:lstStyle/>
          <a:p>
            <a:pPr algn="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ar-SA" sz="2800" dirty="0" smtClean="0">
                <a:solidFill>
                  <a:srgbClr val="FF0000"/>
                </a:solidFill>
                <a:latin typeface="Adobe Arabic" pitchFamily="18" charset="-78"/>
                <a:cs typeface="Adobe Arabic" pitchFamily="18" charset="-78"/>
              </a:rPr>
              <a:t>توجه به نکات ذیل جهت اجرای بتن مگر الزامی است :</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solidFill>
                  <a:srgbClr val="FF0000"/>
                </a:solidFill>
                <a:latin typeface="Adobe Arabic" pitchFamily="18" charset="-78"/>
                <a:cs typeface="Adobe Arabic" pitchFamily="18" charset="-78"/>
              </a:rPr>
              <a:t>1</a:t>
            </a:r>
            <a:r>
              <a:rPr lang="ar-SA" sz="2800" dirty="0" smtClean="0">
                <a:solidFill>
                  <a:srgbClr val="FF0000"/>
                </a:solidFill>
                <a:latin typeface="Adobe Arabic" pitchFamily="18" charset="-78"/>
                <a:cs typeface="Adobe Arabic" pitchFamily="18" charset="-78"/>
              </a:rPr>
              <a:t>- </a:t>
            </a:r>
            <a:r>
              <a:rPr lang="ar-SA" sz="2800" dirty="0" smtClean="0">
                <a:latin typeface="Adobe Arabic" pitchFamily="18" charset="-78"/>
                <a:cs typeface="Adobe Arabic" pitchFamily="18" charset="-78"/>
              </a:rPr>
              <a:t>قبل از اجرای بتن مگر حتما </a:t>
            </a:r>
            <a:r>
              <a:rPr lang="ar-SA" sz="2800" dirty="0" smtClean="0">
                <a:solidFill>
                  <a:srgbClr val="FFC000"/>
                </a:solidFill>
                <a:latin typeface="Adobe Arabic" pitchFamily="18" charset="-78"/>
                <a:cs typeface="Adobe Arabic" pitchFamily="18" charset="-78"/>
              </a:rPr>
              <a:t>خاک بستر را مرطوب </a:t>
            </a:r>
            <a:r>
              <a:rPr lang="ar-SA" sz="2800" dirty="0" smtClean="0">
                <a:latin typeface="Adobe Arabic" pitchFamily="18" charset="-78"/>
                <a:cs typeface="Adobe Arabic" pitchFamily="18" charset="-78"/>
              </a:rPr>
              <a:t>نمایید تا آب بتن جذب خاک </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ar-SA" sz="2800" dirty="0" smtClean="0">
                <a:latin typeface="Adobe Arabic" pitchFamily="18" charset="-78"/>
                <a:cs typeface="Adobe Arabic" pitchFamily="18" charset="-78"/>
              </a:rPr>
              <a:t>نگردد و کیفیت آن پایین نیاید .</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ar-SA" sz="2800" dirty="0" smtClean="0">
                <a:solidFill>
                  <a:srgbClr val="FF0000"/>
                </a:solidFill>
                <a:latin typeface="Adobe Arabic" pitchFamily="18" charset="-78"/>
                <a:cs typeface="Adobe Arabic" pitchFamily="18" charset="-78"/>
              </a:rPr>
              <a:t>2-</a:t>
            </a:r>
            <a:r>
              <a:rPr lang="ar-SA" sz="2800" dirty="0" smtClean="0">
                <a:latin typeface="Adobe Arabic" pitchFamily="18" charset="-78"/>
                <a:cs typeface="Adobe Arabic" pitchFamily="18" charset="-78"/>
              </a:rPr>
              <a:t> در صورتی که بتن مگر را بر </a:t>
            </a:r>
            <a:r>
              <a:rPr lang="ar-SA" sz="2800" dirty="0" smtClean="0">
                <a:solidFill>
                  <a:schemeClr val="tx1"/>
                </a:solidFill>
                <a:latin typeface="Adobe Arabic" pitchFamily="18" charset="-78"/>
                <a:cs typeface="Adobe Arabic" pitchFamily="18" charset="-78"/>
              </a:rPr>
              <a:t>روی</a:t>
            </a:r>
            <a:r>
              <a:rPr lang="ar-SA" sz="2800" dirty="0" smtClean="0">
                <a:solidFill>
                  <a:srgbClr val="FFC000"/>
                </a:solidFill>
                <a:latin typeface="Adobe Arabic" pitchFamily="18" charset="-78"/>
                <a:cs typeface="Adobe Arabic" pitchFamily="18" charset="-78"/>
              </a:rPr>
              <a:t> شفته آهک </a:t>
            </a:r>
            <a:r>
              <a:rPr lang="ar-SA" sz="2800" dirty="0" smtClean="0">
                <a:latin typeface="Adobe Arabic" pitchFamily="18" charset="-78"/>
                <a:cs typeface="Adobe Arabic" pitchFamily="18" charset="-78"/>
              </a:rPr>
              <a:t>اجرا میکنید حتما توجه داشته باشید که شفته به </a:t>
            </a:r>
            <a:r>
              <a:rPr lang="ar-SA" sz="2800" dirty="0" smtClean="0">
                <a:solidFill>
                  <a:srgbClr val="FFC000"/>
                </a:solidFill>
                <a:latin typeface="Adobe Arabic" pitchFamily="18" charset="-78"/>
                <a:cs typeface="Adobe Arabic" pitchFamily="18" charset="-78"/>
              </a:rPr>
              <a:t>مقاومت 5/1 کیلوگرم </a:t>
            </a:r>
            <a:r>
              <a:rPr lang="ar-SA" sz="2800" dirty="0" smtClean="0">
                <a:latin typeface="Adobe Arabic" pitchFamily="18" charset="-78"/>
                <a:cs typeface="Adobe Arabic" pitchFamily="18" charset="-78"/>
              </a:rPr>
              <a:t>بر متر مربع رسیده باشد </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ar-SA" sz="2800" dirty="0" smtClean="0">
                <a:latin typeface="Adobe Arabic" pitchFamily="18" charset="-78"/>
                <a:cs typeface="Adobe Arabic" pitchFamily="18" charset="-78"/>
              </a:rPr>
              <a:t>  </a:t>
            </a: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ar-SA" sz="2800" dirty="0" smtClean="0">
                <a:solidFill>
                  <a:srgbClr val="FF0000"/>
                </a:solidFill>
                <a:latin typeface="Adobe Arabic" pitchFamily="18" charset="-78"/>
                <a:cs typeface="Adobe Arabic" pitchFamily="18" charset="-78"/>
              </a:rPr>
              <a:t>3-</a:t>
            </a:r>
            <a:r>
              <a:rPr lang="ar-SA" sz="2800" dirty="0" smtClean="0">
                <a:latin typeface="Adobe Arabic" pitchFamily="18" charset="-78"/>
                <a:cs typeface="Adobe Arabic" pitchFamily="18" charset="-78"/>
              </a:rPr>
              <a:t> شفته آهک میبایست قبل از اجرای بتن مگر مرطوب شده باشد تا آب بتن را جذب نکند. توجه داشته باشید زمانی که آهک هنوز جذب آب داشته باشد </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ar-SA" sz="2800" dirty="0" smtClean="0">
                <a:latin typeface="Adobe Arabic" pitchFamily="18" charset="-78"/>
                <a:cs typeface="Adobe Arabic" pitchFamily="18" charset="-78"/>
              </a:rPr>
              <a:t>موجب پوکی بتن مگر میشود.</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endParaRPr lang="en-US" sz="28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3998" cy="6297634"/>
          </a:xfrm>
        </p:spPr>
        <p:txBody>
          <a:bodyPr>
            <a:noAutofit/>
          </a:bodyPr>
          <a:lstStyle/>
          <a:p>
            <a:pPr algn="r"/>
            <a:r>
              <a:rPr lang="ar-SA" sz="2400" dirty="0" smtClean="0">
                <a:latin typeface="Adobe Arabic" pitchFamily="18" charset="-78"/>
                <a:cs typeface="Adobe Arabic" pitchFamily="18" charset="-78"/>
              </a:rPr>
              <a:t> </a:t>
            </a: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4-</a:t>
            </a:r>
            <a:r>
              <a:rPr lang="ar-SA" sz="2400" dirty="0" smtClean="0">
                <a:latin typeface="Adobe Arabic" pitchFamily="18" charset="-78"/>
                <a:cs typeface="Adobe Arabic" pitchFamily="18" charset="-78"/>
              </a:rPr>
              <a:t> بتن مگر </a:t>
            </a:r>
            <a:r>
              <a:rPr lang="ar-SA" sz="2400" dirty="0" smtClean="0">
                <a:solidFill>
                  <a:srgbClr val="FFC000"/>
                </a:solidFill>
                <a:latin typeface="Adobe Arabic" pitchFamily="18" charset="-78"/>
                <a:cs typeface="Adobe Arabic" pitchFamily="18" charset="-78"/>
              </a:rPr>
              <a:t>جهت پاکسازی کف و اجرای دقیقتر فاصله گذاری آرماتوربندی از کف </a:t>
            </a:r>
            <a:r>
              <a:rPr lang="ar-SA" sz="2400" dirty="0" smtClean="0">
                <a:latin typeface="Adobe Arabic" pitchFamily="18" charset="-78"/>
                <a:cs typeface="Adobe Arabic" pitchFamily="18" charset="-78"/>
              </a:rPr>
              <a:t>انجام میگردد بنابراین به </a:t>
            </a:r>
            <a:r>
              <a:rPr lang="ar-SA" sz="2400" dirty="0" smtClean="0">
                <a:solidFill>
                  <a:srgbClr val="FFC000"/>
                </a:solidFill>
                <a:latin typeface="Adobe Arabic" pitchFamily="18" charset="-78"/>
                <a:cs typeface="Adobe Arabic" pitchFamily="18" charset="-78"/>
              </a:rPr>
              <a:t>تمییز و یکنواخت </a:t>
            </a:r>
            <a:r>
              <a:rPr lang="ar-SA" sz="2400" dirty="0" smtClean="0">
                <a:latin typeface="Adobe Arabic" pitchFamily="18" charset="-78"/>
                <a:cs typeface="Adobe Arabic" pitchFamily="18" charset="-78"/>
              </a:rPr>
              <a:t>بودن سطح آن دقت کنید تا آرماتوربندی بهتری داشته باشید</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5- </a:t>
            </a:r>
            <a:r>
              <a:rPr lang="ar-SA" sz="2400" dirty="0" smtClean="0">
                <a:latin typeface="Adobe Arabic" pitchFamily="18" charset="-78"/>
                <a:cs typeface="Adobe Arabic" pitchFamily="18" charset="-78"/>
              </a:rPr>
              <a:t>معمولا بتن مگر </a:t>
            </a:r>
            <a:r>
              <a:rPr lang="ar-SA" sz="2400" dirty="0" smtClean="0">
                <a:solidFill>
                  <a:srgbClr val="FFC000"/>
                </a:solidFill>
                <a:latin typeface="Adobe Arabic" pitchFamily="18" charset="-78"/>
                <a:cs typeface="Adobe Arabic" pitchFamily="18" charset="-78"/>
              </a:rPr>
              <a:t>توسط دستگاههای مخلوط کن ( بتونیر ) </a:t>
            </a:r>
            <a:r>
              <a:rPr lang="ar-SA" sz="2400" dirty="0" smtClean="0">
                <a:latin typeface="Adobe Arabic" pitchFamily="18" charset="-78"/>
                <a:cs typeface="Adobe Arabic" pitchFamily="18" charset="-78"/>
              </a:rPr>
              <a:t>کوچک ساخته میشود دقت نمایید که حداقل </a:t>
            </a:r>
            <a:r>
              <a:rPr lang="ar-SA" sz="2400" dirty="0" smtClean="0">
                <a:solidFill>
                  <a:srgbClr val="FFC000"/>
                </a:solidFill>
                <a:latin typeface="Adobe Arabic" pitchFamily="18" charset="-78"/>
                <a:cs typeface="Adobe Arabic" pitchFamily="18" charset="-78"/>
              </a:rPr>
              <a:t>دو (2) دقیقه پس از اضافه کردن آب</a:t>
            </a:r>
            <a:r>
              <a:rPr lang="ar-SA" sz="2400" dirty="0" smtClean="0">
                <a:latin typeface="Adobe Arabic" pitchFamily="18" charset="-78"/>
                <a:cs typeface="Adobe Arabic" pitchFamily="18" charset="-78"/>
              </a:rPr>
              <a:t>، بتن درون دستگاه به خوبی مخلوط شود و سپس </a:t>
            </a:r>
            <a:r>
              <a:rPr lang="ar-SA" sz="2400" dirty="0" smtClean="0">
                <a:solidFill>
                  <a:srgbClr val="FFC000"/>
                </a:solidFill>
                <a:latin typeface="Adobe Arabic" pitchFamily="18" charset="-78"/>
                <a:cs typeface="Adobe Arabic" pitchFamily="18" charset="-78"/>
              </a:rPr>
              <a:t>مورد استفاده </a:t>
            </a:r>
            <a:r>
              <a:rPr lang="ar-SA" sz="2400" dirty="0" smtClean="0">
                <a:latin typeface="Adobe Arabic" pitchFamily="18" charset="-78"/>
                <a:cs typeface="Adobe Arabic" pitchFamily="18" charset="-78"/>
              </a:rPr>
              <a:t>قرار بگیرد.</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6- </a:t>
            </a:r>
            <a:r>
              <a:rPr lang="ar-SA" sz="2400" dirty="0" smtClean="0">
                <a:solidFill>
                  <a:srgbClr val="FFC000"/>
                </a:solidFill>
                <a:latin typeface="Adobe Arabic" pitchFamily="18" charset="-78"/>
                <a:cs typeface="Adobe Arabic" pitchFamily="18" charset="-78"/>
              </a:rPr>
              <a:t>بعد از ریختن بتن مگر </a:t>
            </a:r>
            <a:r>
              <a:rPr lang="ar-SA" sz="2400" dirty="0" smtClean="0">
                <a:latin typeface="Adobe Arabic" pitchFamily="18" charset="-78"/>
                <a:cs typeface="Adobe Arabic" pitchFamily="18" charset="-78"/>
              </a:rPr>
              <a:t>با توجه به دمای هوا حدود </a:t>
            </a:r>
            <a:r>
              <a:rPr lang="ar-SA" sz="2400" dirty="0" smtClean="0">
                <a:solidFill>
                  <a:srgbClr val="FFC000"/>
                </a:solidFill>
                <a:latin typeface="Adobe Arabic" pitchFamily="18" charset="-78"/>
                <a:cs typeface="Adobe Arabic" pitchFamily="18" charset="-78"/>
              </a:rPr>
              <a:t>10 ساعت </a:t>
            </a:r>
            <a:r>
              <a:rPr lang="ar-SA" sz="2400" dirty="0" smtClean="0">
                <a:latin typeface="Adobe Arabic" pitchFamily="18" charset="-78"/>
                <a:cs typeface="Adobe Arabic" pitchFamily="18" charset="-78"/>
              </a:rPr>
              <a:t>سطح آن را </a:t>
            </a:r>
            <a:r>
              <a:rPr lang="ar-SA" sz="2400" dirty="0" smtClean="0">
                <a:solidFill>
                  <a:srgbClr val="FFC000"/>
                </a:solidFill>
                <a:latin typeface="Adobe Arabic" pitchFamily="18" charset="-78"/>
                <a:cs typeface="Adobe Arabic" pitchFamily="18" charset="-78"/>
              </a:rPr>
              <a:t>مرطوب</a:t>
            </a:r>
            <a:r>
              <a:rPr lang="ar-SA" sz="2400" dirty="0" smtClean="0">
                <a:latin typeface="Adobe Arabic" pitchFamily="18" charset="-78"/>
                <a:cs typeface="Adobe Arabic" pitchFamily="18" charset="-78"/>
              </a:rPr>
              <a:t> نگه دارید(با پاشیدن آب) و </a:t>
            </a:r>
            <a:r>
              <a:rPr lang="ar-SA" sz="2400" dirty="0" smtClean="0">
                <a:solidFill>
                  <a:srgbClr val="FFC000"/>
                </a:solidFill>
                <a:latin typeface="Adobe Arabic" pitchFamily="18" charset="-78"/>
                <a:cs typeface="Adobe Arabic" pitchFamily="18" charset="-78"/>
              </a:rPr>
              <a:t>بعد از گذشت یک (1) </a:t>
            </a:r>
            <a:r>
              <a:rPr lang="ar-SA" sz="2400" dirty="0" smtClean="0">
                <a:latin typeface="Adobe Arabic" pitchFamily="18" charset="-78"/>
                <a:cs typeface="Adobe Arabic" pitchFamily="18" charset="-78"/>
              </a:rPr>
              <a:t>روز </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ar-SA" sz="2400" dirty="0" smtClean="0">
                <a:latin typeface="Adobe Arabic" pitchFamily="18" charset="-78"/>
                <a:cs typeface="Adobe Arabic" pitchFamily="18" charset="-78"/>
              </a:rPr>
              <a:t>می توانید </a:t>
            </a:r>
            <a:r>
              <a:rPr lang="ar-SA" sz="2400" dirty="0" smtClean="0">
                <a:solidFill>
                  <a:srgbClr val="FFC000"/>
                </a:solidFill>
                <a:latin typeface="Adobe Arabic" pitchFamily="18" charset="-78"/>
                <a:cs typeface="Adobe Arabic" pitchFamily="18" charset="-78"/>
              </a:rPr>
              <a:t>عملیات بعدی </a:t>
            </a:r>
            <a:r>
              <a:rPr lang="ar-SA" sz="2400" dirty="0" smtClean="0">
                <a:latin typeface="Adobe Arabic" pitchFamily="18" charset="-78"/>
                <a:cs typeface="Adobe Arabic" pitchFamily="18" charset="-78"/>
              </a:rPr>
              <a:t>را شروع کنید و روی بتن مگر راه بروید.</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endParaRPr lang="en-US" sz="24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715436" cy="6226196"/>
          </a:xfrm>
        </p:spPr>
        <p:txBody>
          <a:bodyPr>
            <a:normAutofit fontScale="90000"/>
          </a:bodyPr>
          <a:lstStyle/>
          <a:p>
            <a:pPr algn="r"/>
            <a:r>
              <a:rPr lang="fa-IR" sz="4900" dirty="0" smtClean="0">
                <a:solidFill>
                  <a:srgbClr val="FF0000"/>
                </a:solidFill>
                <a:latin typeface="Adobe Arabic" pitchFamily="18" charset="-78"/>
                <a:cs typeface="Adobe Arabic" pitchFamily="18" charset="-78"/>
              </a:rPr>
              <a:t>آرماتوربندی :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آرماتوربندی </a:t>
            </a:r>
            <a:r>
              <a:rPr lang="ar-SA" dirty="0" smtClean="0">
                <a:solidFill>
                  <a:srgbClr val="FFC000"/>
                </a:solidFill>
                <a:latin typeface="Adobe Arabic" pitchFamily="18" charset="-78"/>
                <a:cs typeface="Adobe Arabic" pitchFamily="18" charset="-78"/>
              </a:rPr>
              <a:t>کاری تخصصی </a:t>
            </a:r>
            <a:r>
              <a:rPr lang="ar-SA" dirty="0" smtClean="0">
                <a:latin typeface="Adobe Arabic" pitchFamily="18" charset="-78"/>
                <a:cs typeface="Adobe Arabic" pitchFamily="18" charset="-78"/>
              </a:rPr>
              <a:t>میباشد و دقت و نظارت جدی بر آن الزامی است. در برخی شرایط تمام مقاومت پی را آرماتورها </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ar-SA" dirty="0" smtClean="0">
                <a:latin typeface="Adobe Arabic" pitchFamily="18" charset="-78"/>
                <a:cs typeface="Adobe Arabic" pitchFamily="18" charset="-78"/>
              </a:rPr>
              <a:t>تامین می کنند.</a:t>
            </a: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r>
              <a:rPr lang="fa-IR" dirty="0" smtClean="0">
                <a:latin typeface="Adobe Arabic" pitchFamily="18" charset="-78"/>
                <a:cs typeface="Adobe Arabic" pitchFamily="18" charset="-78"/>
              </a:rPr>
              <a:t/>
            </a:r>
            <a:br>
              <a:rPr lang="fa-IR"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pic>
        <p:nvPicPr>
          <p:cNvPr id="14338" name="Picture 2" descr="C:\Users\tadbir sabz\Desktop\پروژه روش اجرایی\axx\آرماتور\Foundation1 l.jpg"/>
          <p:cNvPicPr>
            <a:picLocks noChangeAspect="1" noChangeArrowheads="1"/>
          </p:cNvPicPr>
          <p:nvPr/>
        </p:nvPicPr>
        <p:blipFill>
          <a:blip r:embed="rId2"/>
          <a:srcRect/>
          <a:stretch>
            <a:fillRect/>
          </a:stretch>
        </p:blipFill>
        <p:spPr bwMode="auto">
          <a:xfrm>
            <a:off x="0" y="2928934"/>
            <a:ext cx="9144000" cy="3594454"/>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572560" cy="6226196"/>
          </a:xfrm>
        </p:spPr>
        <p:txBody>
          <a:bodyPr>
            <a:noAutofit/>
          </a:bodyPr>
          <a:lstStyle/>
          <a:p>
            <a:pPr algn="r" rtl="1"/>
            <a:r>
              <a:rPr lang="ar-SA" sz="2000" dirty="0" smtClean="0">
                <a:solidFill>
                  <a:srgbClr val="FF0000"/>
                </a:solidFill>
                <a:latin typeface="Adobe Arabic" pitchFamily="18" charset="-78"/>
                <a:cs typeface="Adobe Arabic" pitchFamily="18" charset="-78"/>
              </a:rPr>
              <a:t>. </a:t>
            </a: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ar-SA" sz="2000" dirty="0" smtClean="0">
                <a:solidFill>
                  <a:srgbClr val="FF0000"/>
                </a:solidFill>
                <a:latin typeface="Adobe Arabic" pitchFamily="18" charset="-78"/>
                <a:cs typeface="Adobe Arabic" pitchFamily="18" charset="-78"/>
              </a:rPr>
              <a:t>ذکر چند مطلب در خصوص آشنایی با نکات اجرایی آرماتوربندی الزامی است :</a:t>
            </a: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1</a:t>
            </a:r>
            <a:r>
              <a:rPr lang="ar-SA" sz="2000" dirty="0" smtClean="0">
                <a:solidFill>
                  <a:srgbClr val="FF0000"/>
                </a:solidFill>
                <a:latin typeface="Adobe Arabic" pitchFamily="18" charset="-78"/>
                <a:cs typeface="Adobe Arabic" pitchFamily="18" charset="-78"/>
              </a:rPr>
              <a:t>- </a:t>
            </a:r>
            <a:r>
              <a:rPr lang="ar-SA" sz="2000" dirty="0" smtClean="0">
                <a:solidFill>
                  <a:srgbClr val="FFC000"/>
                </a:solidFill>
                <a:latin typeface="Adobe Arabic" pitchFamily="18" charset="-78"/>
                <a:cs typeface="Adobe Arabic" pitchFamily="18" charset="-78"/>
              </a:rPr>
              <a:t>به هیچ عنوان از آرماتورهای زنگ زده و یا آغشته به روغن </a:t>
            </a:r>
            <a:r>
              <a:rPr lang="ar-SA" sz="2000" dirty="0" smtClean="0">
                <a:latin typeface="Adobe Arabic" pitchFamily="18" charset="-78"/>
                <a:cs typeface="Adobe Arabic" pitchFamily="18" charset="-78"/>
              </a:rPr>
              <a:t>نباید استفاده شود در صورت آلودگی آرماتورها به روغن یا زنگ زدگی آنها، باید قبل از اجرای آرماتوربندی به پاکسازی آنها اقدام و بعد از تایید </a:t>
            </a: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ar-SA" sz="2000" dirty="0" smtClean="0">
                <a:latin typeface="Adobe Arabic" pitchFamily="18" charset="-78"/>
                <a:cs typeface="Adobe Arabic" pitchFamily="18" charset="-78"/>
              </a:rPr>
              <a:t>دستگاه نظارت به بتن ریزی اقدام گردد</a:t>
            </a: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ar-SA" sz="2000" dirty="0" smtClean="0">
                <a:solidFill>
                  <a:srgbClr val="FF0000"/>
                </a:solidFill>
                <a:latin typeface="Adobe Arabic" pitchFamily="18" charset="-78"/>
                <a:cs typeface="Adobe Arabic" pitchFamily="18" charset="-78"/>
              </a:rPr>
              <a:t>2-</a:t>
            </a:r>
            <a:r>
              <a:rPr lang="ar-SA" sz="2000" dirty="0" smtClean="0">
                <a:latin typeface="Adobe Arabic" pitchFamily="18" charset="-78"/>
                <a:cs typeface="Adobe Arabic" pitchFamily="18" charset="-78"/>
              </a:rPr>
              <a:t> </a:t>
            </a:r>
            <a:r>
              <a:rPr lang="ar-SA" sz="2000" dirty="0" smtClean="0">
                <a:solidFill>
                  <a:srgbClr val="FFC000"/>
                </a:solidFill>
                <a:latin typeface="Adobe Arabic" pitchFamily="18" charset="-78"/>
                <a:cs typeface="Adobe Arabic" pitchFamily="18" charset="-78"/>
              </a:rPr>
              <a:t>فاصله خاموتها </a:t>
            </a:r>
            <a:r>
              <a:rPr lang="ar-SA" sz="2000" dirty="0" smtClean="0">
                <a:latin typeface="Adobe Arabic" pitchFamily="18" charset="-78"/>
                <a:cs typeface="Adobe Arabic" pitchFamily="18" charset="-78"/>
              </a:rPr>
              <a:t>از یکدیگر باید </a:t>
            </a:r>
            <a:r>
              <a:rPr lang="ar-SA" sz="2000" dirty="0" smtClean="0">
                <a:solidFill>
                  <a:srgbClr val="FFC000"/>
                </a:solidFill>
                <a:latin typeface="Adobe Arabic" pitchFamily="18" charset="-78"/>
                <a:cs typeface="Adobe Arabic" pitchFamily="18" charset="-78"/>
              </a:rPr>
              <a:t>حداکثر 20 سانتی متر </a:t>
            </a:r>
            <a:r>
              <a:rPr lang="ar-SA" sz="2000" dirty="0" smtClean="0">
                <a:latin typeface="Adobe Arabic" pitchFamily="18" charset="-78"/>
                <a:cs typeface="Adobe Arabic" pitchFamily="18" charset="-78"/>
              </a:rPr>
              <a:t>باشند و دستگاه نظارت موظف است که در صورت عدم رعایت از سوی پیمانکار از اجرای بتن ریزی جلوگیری نماید.</a:t>
            </a: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fa-IR" sz="2000" dirty="0" smtClean="0">
                <a:latin typeface="Adobe Arabic" pitchFamily="18" charset="-78"/>
                <a:cs typeface="Adobe Arabic" pitchFamily="18" charset="-78"/>
              </a:rPr>
              <a:t/>
            </a:r>
            <a:br>
              <a:rPr lang="fa-IR" sz="2000" dirty="0" smtClean="0">
                <a:latin typeface="Adobe Arabic" pitchFamily="18" charset="-78"/>
                <a:cs typeface="Adobe Arabic" pitchFamily="18" charset="-78"/>
              </a:rPr>
            </a:br>
            <a:r>
              <a:rPr lang="en-US" sz="2000" dirty="0" smtClean="0">
                <a:latin typeface="Adobe Arabic" pitchFamily="18" charset="-78"/>
                <a:cs typeface="Adobe Arabic" pitchFamily="18" charset="-78"/>
              </a:rPr>
              <a:t/>
            </a:r>
            <a:br>
              <a:rPr lang="en-US" sz="2000" dirty="0" smtClean="0">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r>
              <a:rPr lang="fa-IR" sz="2000" dirty="0" smtClean="0">
                <a:solidFill>
                  <a:srgbClr val="FF0000"/>
                </a:solidFill>
                <a:latin typeface="Adobe Arabic" pitchFamily="18" charset="-78"/>
                <a:cs typeface="Adobe Arabic" pitchFamily="18" charset="-78"/>
              </a:rPr>
              <a:t/>
            </a:r>
            <a:br>
              <a:rPr lang="fa-IR" sz="2000" dirty="0" smtClean="0">
                <a:solidFill>
                  <a:srgbClr val="FF0000"/>
                </a:solidFill>
                <a:latin typeface="Adobe Arabic" pitchFamily="18" charset="-78"/>
                <a:cs typeface="Adobe Arabic" pitchFamily="18" charset="-78"/>
              </a:rPr>
            </a:br>
            <a:endParaRPr lang="en-US" sz="2000" dirty="0">
              <a:solidFill>
                <a:srgbClr val="FF0000"/>
              </a:solidFill>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descr="C:\Users\tadbir sabz\Desktop\پروژه روش اجرایی\axx\آرماتور\image013.jpg"/>
          <p:cNvPicPr>
            <a:picLocks noChangeAspect="1" noChangeArrowheads="1"/>
          </p:cNvPicPr>
          <p:nvPr/>
        </p:nvPicPr>
        <p:blipFill>
          <a:blip r:embed="rId2"/>
          <a:srcRect/>
          <a:stretch>
            <a:fillRect/>
          </a:stretch>
        </p:blipFill>
        <p:spPr bwMode="auto">
          <a:xfrm>
            <a:off x="500034" y="1357298"/>
            <a:ext cx="3857652" cy="4857784"/>
          </a:xfrm>
          <a:prstGeom prst="rect">
            <a:avLst/>
          </a:prstGeom>
          <a:ln>
            <a:noFill/>
          </a:ln>
          <a:effectLst>
            <a:softEdge rad="112500"/>
          </a:effectLst>
        </p:spPr>
      </p:pic>
      <p:pic>
        <p:nvPicPr>
          <p:cNvPr id="15363" name="Picture 3" descr="C:\Users\tadbir sabz\Desktop\پروژه روش اجرایی\axx\آرماتور\image015.jpg"/>
          <p:cNvPicPr>
            <a:picLocks noChangeAspect="1" noChangeArrowheads="1"/>
          </p:cNvPicPr>
          <p:nvPr/>
        </p:nvPicPr>
        <p:blipFill>
          <a:blip r:embed="rId3"/>
          <a:srcRect/>
          <a:stretch>
            <a:fillRect/>
          </a:stretch>
        </p:blipFill>
        <p:spPr bwMode="auto">
          <a:xfrm>
            <a:off x="4786314" y="1357298"/>
            <a:ext cx="4143404" cy="4805382"/>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3998" cy="6226196"/>
          </a:xfrm>
        </p:spPr>
        <p:txBody>
          <a:bodyPr>
            <a:noAutofit/>
          </a:bodyPr>
          <a:lstStyle/>
          <a:p>
            <a:pPr algn="r" rtl="1"/>
            <a:r>
              <a:rPr lang="ar-SA" sz="2400" dirty="0" smtClean="0">
                <a:latin typeface="Adobe Arabic" pitchFamily="18" charset="-78"/>
                <a:cs typeface="Adobe Arabic" pitchFamily="18" charset="-78"/>
              </a:rPr>
              <a:t> </a:t>
            </a: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3-</a:t>
            </a:r>
            <a:r>
              <a:rPr lang="ar-SA" sz="2400" dirty="0" smtClean="0">
                <a:latin typeface="Adobe Arabic" pitchFamily="18" charset="-78"/>
                <a:cs typeface="Adobe Arabic" pitchFamily="18" charset="-78"/>
              </a:rPr>
              <a:t> </a:t>
            </a:r>
            <a:r>
              <a:rPr lang="ar-SA" sz="2400" dirty="0" smtClean="0">
                <a:solidFill>
                  <a:srgbClr val="FFC000"/>
                </a:solidFill>
                <a:latin typeface="Adobe Arabic" pitchFamily="18" charset="-78"/>
                <a:cs typeface="Adobe Arabic" pitchFamily="18" charset="-78"/>
              </a:rPr>
              <a:t>خاموتها</a:t>
            </a:r>
            <a:r>
              <a:rPr lang="ar-SA" sz="2400" dirty="0" smtClean="0">
                <a:latin typeface="Adobe Arabic" pitchFamily="18" charset="-78"/>
                <a:cs typeface="Adobe Arabic" pitchFamily="18" charset="-78"/>
              </a:rPr>
              <a:t> باید بوسیله </a:t>
            </a:r>
            <a:r>
              <a:rPr lang="ar-SA" sz="2400" dirty="0" smtClean="0">
                <a:solidFill>
                  <a:srgbClr val="FFC000"/>
                </a:solidFill>
                <a:latin typeface="Adobe Arabic" pitchFamily="18" charset="-78"/>
                <a:cs typeface="Adobe Arabic" pitchFamily="18" charset="-78"/>
              </a:rPr>
              <a:t>سیم آرماتوربندی به تمام میلگردهای طولی مهار </a:t>
            </a:r>
            <a:r>
              <a:rPr lang="ar-SA" sz="2400" dirty="0" smtClean="0">
                <a:latin typeface="Adobe Arabic" pitchFamily="18" charset="-78"/>
                <a:cs typeface="Adobe Arabic" pitchFamily="18" charset="-78"/>
              </a:rPr>
              <a:t>شوند این امر </a:t>
            </a:r>
            <a:r>
              <a:rPr lang="ar-SA" sz="2400" dirty="0" smtClean="0">
                <a:solidFill>
                  <a:srgbClr val="FFC000"/>
                </a:solidFill>
                <a:latin typeface="Adobe Arabic" pitchFamily="18" charset="-78"/>
                <a:cs typeface="Adobe Arabic" pitchFamily="18" charset="-78"/>
              </a:rPr>
              <a:t>الزامی</a:t>
            </a:r>
            <a:r>
              <a:rPr lang="ar-SA" sz="2400" dirty="0" smtClean="0">
                <a:latin typeface="Adobe Arabic" pitchFamily="18" charset="-78"/>
                <a:cs typeface="Adobe Arabic" pitchFamily="18" charset="-78"/>
              </a:rPr>
              <a:t> است و میبایست توسط پیمانکار رعایت گردد و در صورت عدم توجه دستگاه نظارت موظف است از ادامه کار پیمانکار تا رفع نواقص فوق جلوگیری نماید.</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4-</a:t>
            </a:r>
            <a:r>
              <a:rPr lang="ar-SA" sz="2400" dirty="0" smtClean="0">
                <a:latin typeface="Adobe Arabic" pitchFamily="18" charset="-78"/>
                <a:cs typeface="Adobe Arabic" pitchFamily="18" charset="-78"/>
              </a:rPr>
              <a:t> تمام میلگردها </a:t>
            </a:r>
            <a:r>
              <a:rPr lang="ar-SA" sz="2400" dirty="0" smtClean="0">
                <a:solidFill>
                  <a:srgbClr val="FFC000"/>
                </a:solidFill>
                <a:latin typeface="Adobe Arabic" pitchFamily="18" charset="-78"/>
                <a:cs typeface="Adobe Arabic" pitchFamily="18" charset="-78"/>
              </a:rPr>
              <a:t>باید توسط قیچی مخصوص </a:t>
            </a:r>
            <a:r>
              <a:rPr lang="ar-SA" sz="2400" dirty="0" smtClean="0">
                <a:latin typeface="Adobe Arabic" pitchFamily="18" charset="-78"/>
                <a:cs typeface="Adobe Arabic" pitchFamily="18" charset="-78"/>
              </a:rPr>
              <a:t>بریده شود و جدا از بریدن میلگردها به کمک دستگاه هوا برش خودداری شود . توجه داشته باشید که حرارت موجب افت کیفیت میلگردها میگردد.</a:t>
            </a: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r>
              <a:rPr lang="ar-SA" sz="2400" dirty="0" smtClean="0">
                <a:solidFill>
                  <a:srgbClr val="FF0000"/>
                </a:solidFill>
                <a:latin typeface="Adobe Arabic" pitchFamily="18" charset="-78"/>
                <a:cs typeface="Adobe Arabic" pitchFamily="18" charset="-78"/>
              </a:rPr>
              <a:t>5-</a:t>
            </a:r>
            <a:r>
              <a:rPr lang="ar-SA" sz="2400" dirty="0" smtClean="0">
                <a:latin typeface="Adobe Arabic" pitchFamily="18" charset="-78"/>
                <a:cs typeface="Adobe Arabic" pitchFamily="18" charset="-78"/>
              </a:rPr>
              <a:t> </a:t>
            </a:r>
            <a:r>
              <a:rPr lang="ar-SA" sz="2400" dirty="0" smtClean="0">
                <a:solidFill>
                  <a:srgbClr val="FFC000"/>
                </a:solidFill>
                <a:latin typeface="Adobe Arabic" pitchFamily="18" charset="-78"/>
                <a:cs typeface="Adobe Arabic" pitchFamily="18" charset="-78"/>
              </a:rPr>
              <a:t>از خم کردن آرماتور در دمای پایین تر از 5 درجه سانتیگراد خودداری شود </a:t>
            </a:r>
            <a:r>
              <a:rPr lang="ar-SA" sz="2400" dirty="0" smtClean="0">
                <a:latin typeface="Adobe Arabic" pitchFamily="18" charset="-78"/>
                <a:cs typeface="Adobe Arabic" pitchFamily="18" charset="-78"/>
              </a:rPr>
              <a:t>و از </a:t>
            </a:r>
            <a:r>
              <a:rPr lang="ar-SA" sz="2400" dirty="0" smtClean="0">
                <a:solidFill>
                  <a:srgbClr val="FFC000"/>
                </a:solidFill>
                <a:latin typeface="Adobe Arabic" pitchFamily="18" charset="-78"/>
                <a:cs typeface="Adobe Arabic" pitchFamily="18" charset="-78"/>
              </a:rPr>
              <a:t>باز و بسته </a:t>
            </a:r>
            <a:r>
              <a:rPr lang="ar-SA" sz="2400" dirty="0" smtClean="0">
                <a:latin typeface="Adobe Arabic" pitchFamily="18" charset="-78"/>
                <a:cs typeface="Adobe Arabic" pitchFamily="18" charset="-78"/>
              </a:rPr>
              <a:t>کردن خمها به منظور شکل دادن مجدد میلگردها </a:t>
            </a:r>
            <a:r>
              <a:rPr lang="ar-SA" sz="2400" dirty="0" smtClean="0">
                <a:solidFill>
                  <a:srgbClr val="FFC000"/>
                </a:solidFill>
                <a:latin typeface="Adobe Arabic" pitchFamily="18" charset="-78"/>
                <a:cs typeface="Adobe Arabic" pitchFamily="18" charset="-78"/>
              </a:rPr>
              <a:t>جدا خودداری </a:t>
            </a:r>
            <a:r>
              <a:rPr lang="ar-SA" sz="2400" dirty="0" smtClean="0">
                <a:latin typeface="Adobe Arabic" pitchFamily="18" charset="-78"/>
                <a:cs typeface="Adobe Arabic" pitchFamily="18" charset="-78"/>
              </a:rPr>
              <a:t>شود در صورت مشاهده چنین مواردی باید به مهندس ناظر اعلام گردد تا مطابق ضوابط اقدام شود .</a:t>
            </a: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fa-IR" sz="2400" dirty="0" smtClean="0">
                <a:latin typeface="Adobe Arabic" pitchFamily="18" charset="-78"/>
                <a:cs typeface="Adobe Arabic" pitchFamily="18" charset="-78"/>
              </a:rPr>
              <a:t/>
            </a:r>
            <a:br>
              <a:rPr lang="fa-IR" sz="2400" dirty="0" smtClean="0">
                <a:latin typeface="Adobe Arabic" pitchFamily="18" charset="-78"/>
                <a:cs typeface="Adobe Arabic" pitchFamily="18" charset="-78"/>
              </a:rPr>
            </a:br>
            <a:r>
              <a:rPr lang="en-US" sz="2400" dirty="0" smtClean="0">
                <a:latin typeface="Adobe Arabic" pitchFamily="18" charset="-78"/>
                <a:cs typeface="Adobe Arabic" pitchFamily="18" charset="-78"/>
              </a:rPr>
              <a:t/>
            </a:r>
            <a:br>
              <a:rPr lang="en-US" sz="2400" dirty="0" smtClean="0">
                <a:latin typeface="Adobe Arabic" pitchFamily="18" charset="-78"/>
                <a:cs typeface="Adobe Arabic" pitchFamily="18" charset="-78"/>
              </a:rPr>
            </a:br>
            <a:endParaRPr lang="en-US" sz="24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6392" name="Picture 8" descr="C:\Users\tadbir sabz\Desktop\پروژه روش اجرایی\axx\آرماتور\image018.gif"/>
          <p:cNvPicPr>
            <a:picLocks noChangeAspect="1" noChangeArrowheads="1"/>
          </p:cNvPicPr>
          <p:nvPr/>
        </p:nvPicPr>
        <p:blipFill>
          <a:blip r:embed="rId2"/>
          <a:srcRect/>
          <a:stretch>
            <a:fillRect/>
          </a:stretch>
        </p:blipFill>
        <p:spPr bwMode="auto">
          <a:xfrm>
            <a:off x="6286512" y="1643050"/>
            <a:ext cx="2643206" cy="4643470"/>
          </a:xfrm>
          <a:prstGeom prst="rect">
            <a:avLst/>
          </a:prstGeom>
          <a:ln>
            <a:noFill/>
          </a:ln>
          <a:effectLst>
            <a:softEdge rad="112500"/>
          </a:effectLst>
        </p:spPr>
      </p:pic>
      <p:pic>
        <p:nvPicPr>
          <p:cNvPr id="16393" name="Picture 9" descr="C:\Users\tadbir sabz\Desktop\پروژه روش اجرایی\axx\آرماتور\image017.jpg"/>
          <p:cNvPicPr>
            <a:picLocks noChangeAspect="1" noChangeArrowheads="1"/>
          </p:cNvPicPr>
          <p:nvPr/>
        </p:nvPicPr>
        <p:blipFill>
          <a:blip r:embed="rId3"/>
          <a:srcRect/>
          <a:stretch>
            <a:fillRect/>
          </a:stretch>
        </p:blipFill>
        <p:spPr bwMode="auto">
          <a:xfrm>
            <a:off x="3500430" y="1643050"/>
            <a:ext cx="2481264" cy="4572032"/>
          </a:xfrm>
          <a:prstGeom prst="rect">
            <a:avLst/>
          </a:prstGeom>
          <a:ln>
            <a:noFill/>
          </a:ln>
          <a:effectLst>
            <a:softEdge rad="112500"/>
          </a:effectLst>
        </p:spPr>
      </p:pic>
      <p:pic>
        <p:nvPicPr>
          <p:cNvPr id="16394" name="Picture 10" descr="C:\Users\tadbir sabz\Desktop\پروژه روش اجرایی\axx\آرماتور\image014.jpg"/>
          <p:cNvPicPr>
            <a:picLocks noChangeAspect="1" noChangeArrowheads="1"/>
          </p:cNvPicPr>
          <p:nvPr/>
        </p:nvPicPr>
        <p:blipFill>
          <a:blip r:embed="rId4"/>
          <a:srcRect/>
          <a:stretch>
            <a:fillRect/>
          </a:stretch>
        </p:blipFill>
        <p:spPr bwMode="auto">
          <a:xfrm>
            <a:off x="285720" y="1643050"/>
            <a:ext cx="2852739" cy="4643470"/>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715436" cy="6226196"/>
          </a:xfrm>
        </p:spPr>
        <p:txBody>
          <a:bodyPr>
            <a:normAutofit fontScale="90000"/>
          </a:bodyPr>
          <a:lstStyle/>
          <a:p>
            <a:pPr algn="r" rtl="1"/>
            <a:r>
              <a:rPr lang="ar-SA" sz="3600" dirty="0" smtClean="0">
                <a:latin typeface="Adobe Arabic" pitchFamily="18" charset="-78"/>
                <a:cs typeface="Adobe Arabic" pitchFamily="18" charset="-78"/>
              </a:rPr>
              <a:t> </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ar-SA" sz="3600" dirty="0" smtClean="0">
                <a:solidFill>
                  <a:srgbClr val="FF0000"/>
                </a:solidFill>
                <a:latin typeface="Adobe Arabic" pitchFamily="18" charset="-78"/>
                <a:cs typeface="Adobe Arabic" pitchFamily="18" charset="-78"/>
              </a:rPr>
              <a:t>8-</a:t>
            </a:r>
            <a:r>
              <a:rPr lang="ar-SA" sz="3600" dirty="0" smtClean="0">
                <a:latin typeface="Adobe Arabic" pitchFamily="18" charset="-78"/>
                <a:cs typeface="Adobe Arabic" pitchFamily="18" charset="-78"/>
              </a:rPr>
              <a:t> </a:t>
            </a:r>
            <a:r>
              <a:rPr lang="ar-SA" sz="3600" dirty="0" smtClean="0">
                <a:solidFill>
                  <a:srgbClr val="FFC000"/>
                </a:solidFill>
                <a:latin typeface="Adobe Arabic" pitchFamily="18" charset="-78"/>
                <a:cs typeface="Adobe Arabic" pitchFamily="18" charset="-78"/>
              </a:rPr>
              <a:t>فاصله بین میلگردها تا سطح قالب بندی حداقل باید </a:t>
            </a:r>
            <a:r>
              <a:rPr lang="fa-IR" sz="3600" dirty="0" smtClean="0">
                <a:solidFill>
                  <a:srgbClr val="FFC000"/>
                </a:solidFill>
                <a:latin typeface="Adobe Arabic" pitchFamily="18" charset="-78"/>
                <a:cs typeface="Adobe Arabic" pitchFamily="18" charset="-78"/>
              </a:rPr>
              <a:t>2/5</a:t>
            </a:r>
            <a:r>
              <a:rPr lang="ar-SA" sz="3600" dirty="0" smtClean="0">
                <a:solidFill>
                  <a:srgbClr val="FFC000"/>
                </a:solidFill>
                <a:latin typeface="Adobe Arabic" pitchFamily="18" charset="-78"/>
                <a:cs typeface="Adobe Arabic" pitchFamily="18" charset="-78"/>
              </a:rPr>
              <a:t> سانتی متر </a:t>
            </a:r>
            <a:r>
              <a:rPr lang="ar-SA" sz="3600" dirty="0" smtClean="0">
                <a:latin typeface="Adobe Arabic" pitchFamily="18" charset="-78"/>
                <a:cs typeface="Adobe Arabic" pitchFamily="18" charset="-78"/>
              </a:rPr>
              <a:t>باشد تا پوشش بتنی روی میلگردها دارای ضخامت مناسبی باشد و علاوه بر ایجاد پیوستگی بین بتن و میلگرد، محافظت میلگردها </a:t>
            </a:r>
            <a:r>
              <a:rPr lang="ar-SA" sz="3600" dirty="0" smtClean="0">
                <a:solidFill>
                  <a:srgbClr val="FFC000"/>
                </a:solidFill>
                <a:latin typeface="Adobe Arabic" pitchFamily="18" charset="-78"/>
                <a:cs typeface="Adobe Arabic" pitchFamily="18" charset="-78"/>
              </a:rPr>
              <a:t>در برابر خوردگی و زنگ زدگی </a:t>
            </a:r>
            <a:r>
              <a:rPr lang="ar-SA" sz="3600" dirty="0" smtClean="0">
                <a:latin typeface="Adobe Arabic" pitchFamily="18" charset="-78"/>
                <a:cs typeface="Adobe Arabic" pitchFamily="18" charset="-78"/>
              </a:rPr>
              <a:t>انجام شود</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ar-SA" sz="3600" dirty="0" smtClean="0"/>
              <a:t> </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ar-SA" sz="3600" dirty="0" smtClean="0">
                <a:solidFill>
                  <a:srgbClr val="FF0000"/>
                </a:solidFill>
                <a:latin typeface="Adobe Arabic" pitchFamily="18" charset="-78"/>
                <a:cs typeface="Adobe Arabic" pitchFamily="18" charset="-78"/>
              </a:rPr>
              <a:t>7-</a:t>
            </a:r>
            <a:r>
              <a:rPr lang="ar-SA" sz="3600" dirty="0" smtClean="0">
                <a:latin typeface="Adobe Arabic" pitchFamily="18" charset="-78"/>
                <a:cs typeface="Adobe Arabic" pitchFamily="18" charset="-78"/>
              </a:rPr>
              <a:t> توجه داشته باشید که آرماتوربندی را که توسط مهندس ناظر تایید شده است نباید قبل از بتن ریزی تغییر داد</a:t>
            </a: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descr="C:\Users\tadbir sabz\Desktop\پروژه روش اجرایی\axx\آرماتور\image021.jpg"/>
          <p:cNvPicPr>
            <a:picLocks noChangeAspect="1" noChangeArrowheads="1"/>
          </p:cNvPicPr>
          <p:nvPr/>
        </p:nvPicPr>
        <p:blipFill>
          <a:blip r:embed="rId2"/>
          <a:srcRect/>
          <a:stretch>
            <a:fillRect/>
          </a:stretch>
        </p:blipFill>
        <p:spPr bwMode="auto">
          <a:xfrm>
            <a:off x="285720" y="1714488"/>
            <a:ext cx="4000528" cy="4776798"/>
          </a:xfrm>
          <a:prstGeom prst="rect">
            <a:avLst/>
          </a:prstGeom>
          <a:ln>
            <a:noFill/>
          </a:ln>
          <a:effectLst>
            <a:softEdge rad="112500"/>
          </a:effectLst>
        </p:spPr>
      </p:pic>
      <p:pic>
        <p:nvPicPr>
          <p:cNvPr id="17411" name="Picture 3" descr="C:\Users\tadbir sabz\Desktop\پروژه روش اجرایی\axx\آرماتور\image022.jpg"/>
          <p:cNvPicPr>
            <a:picLocks noChangeAspect="1" noChangeArrowheads="1"/>
          </p:cNvPicPr>
          <p:nvPr/>
        </p:nvPicPr>
        <p:blipFill>
          <a:blip r:embed="rId3"/>
          <a:srcRect/>
          <a:stretch>
            <a:fillRect/>
          </a:stretch>
        </p:blipFill>
        <p:spPr bwMode="auto">
          <a:xfrm>
            <a:off x="4714876" y="1714488"/>
            <a:ext cx="3857652" cy="4705365"/>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85728"/>
            <a:ext cx="8643998" cy="6226196"/>
          </a:xfrm>
        </p:spPr>
        <p:txBody>
          <a:bodyPr>
            <a:noAutofit/>
          </a:bodyPr>
          <a:lstStyle/>
          <a:p>
            <a:pPr algn="r"/>
            <a:r>
              <a:rPr lang="fa-IR" sz="2800" dirty="0" smtClean="0">
                <a:solidFill>
                  <a:srgbClr val="FF0000"/>
                </a:solidFill>
                <a:latin typeface="Adobe Arabic" pitchFamily="18" charset="-78"/>
                <a:cs typeface="Adobe Arabic" pitchFamily="18" charset="-78"/>
              </a:rPr>
              <a:t/>
            </a:r>
            <a:br>
              <a:rPr lang="fa-IR" sz="2800" dirty="0" smtClean="0">
                <a:solidFill>
                  <a:srgbClr val="FF0000"/>
                </a:solidFill>
                <a:latin typeface="Adobe Arabic" pitchFamily="18" charset="-78"/>
                <a:cs typeface="Adobe Arabic" pitchFamily="18" charset="-78"/>
              </a:rPr>
            </a:br>
            <a:r>
              <a:rPr lang="fa-IR" sz="2800" dirty="0" smtClean="0">
                <a:solidFill>
                  <a:srgbClr val="FF0000"/>
                </a:solidFill>
                <a:latin typeface="Adobe Arabic" pitchFamily="18" charset="-78"/>
                <a:cs typeface="Adobe Arabic" pitchFamily="18" charset="-78"/>
              </a:rPr>
              <a:t/>
            </a:r>
            <a:br>
              <a:rPr lang="fa-IR" sz="2800" dirty="0" smtClean="0">
                <a:solidFill>
                  <a:srgbClr val="FF0000"/>
                </a:solidFill>
                <a:latin typeface="Adobe Arabic" pitchFamily="18" charset="-78"/>
                <a:cs typeface="Adobe Arabic" pitchFamily="18" charset="-78"/>
              </a:rPr>
            </a:br>
            <a:r>
              <a:rPr lang="fa-IR" sz="2800" dirty="0" smtClean="0">
                <a:solidFill>
                  <a:srgbClr val="FF0000"/>
                </a:solidFill>
                <a:latin typeface="Adobe Arabic" pitchFamily="18" charset="-78"/>
                <a:cs typeface="Adobe Arabic" pitchFamily="18" charset="-78"/>
              </a:rPr>
              <a:t/>
            </a:r>
            <a:br>
              <a:rPr lang="fa-IR" sz="2800" dirty="0" smtClean="0">
                <a:solidFill>
                  <a:srgbClr val="FF0000"/>
                </a:solidFill>
                <a:latin typeface="Adobe Arabic" pitchFamily="18" charset="-78"/>
                <a:cs typeface="Adobe Arabic" pitchFamily="18" charset="-78"/>
              </a:rPr>
            </a:br>
            <a:r>
              <a:rPr lang="fa-IR" sz="2800" dirty="0" smtClean="0">
                <a:solidFill>
                  <a:srgbClr val="FF0000"/>
                </a:solidFill>
                <a:latin typeface="Adobe Arabic" pitchFamily="18" charset="-78"/>
                <a:cs typeface="Adobe Arabic" pitchFamily="18" charset="-78"/>
              </a:rPr>
              <a:t/>
            </a:r>
            <a:br>
              <a:rPr lang="fa-IR" sz="2800" dirty="0" smtClean="0">
                <a:solidFill>
                  <a:srgbClr val="FF0000"/>
                </a:solidFill>
                <a:latin typeface="Adobe Arabic" pitchFamily="18" charset="-78"/>
                <a:cs typeface="Adobe Arabic" pitchFamily="18" charset="-78"/>
              </a:rPr>
            </a:br>
            <a:r>
              <a:rPr lang="fa-IR" sz="2800" dirty="0" smtClean="0">
                <a:solidFill>
                  <a:srgbClr val="FF0000"/>
                </a:solidFill>
                <a:latin typeface="Adobe Arabic" pitchFamily="18" charset="-78"/>
                <a:cs typeface="Adobe Arabic" pitchFamily="18" charset="-78"/>
              </a:rPr>
              <a:t/>
            </a:r>
            <a:br>
              <a:rPr lang="fa-IR" sz="2800" dirty="0" smtClean="0">
                <a:solidFill>
                  <a:srgbClr val="FF0000"/>
                </a:solidFill>
                <a:latin typeface="Adobe Arabic" pitchFamily="18" charset="-78"/>
                <a:cs typeface="Adobe Arabic" pitchFamily="18" charset="-78"/>
              </a:rPr>
            </a:br>
            <a:r>
              <a:rPr lang="ar-SA" sz="2800" dirty="0" smtClean="0">
                <a:solidFill>
                  <a:srgbClr val="FF0000"/>
                </a:solidFill>
                <a:latin typeface="Adobe Arabic" pitchFamily="18" charset="-78"/>
                <a:cs typeface="Adobe Arabic" pitchFamily="18" charset="-78"/>
              </a:rPr>
              <a:t>قالب بندی</a:t>
            </a:r>
            <a:r>
              <a:rPr lang="fa-IR" sz="2800" dirty="0" smtClean="0">
                <a:solidFill>
                  <a:srgbClr val="FF0000"/>
                </a:solidFill>
                <a:latin typeface="Adobe Arabic" pitchFamily="18" charset="-78"/>
                <a:cs typeface="Adobe Arabic" pitchFamily="18" charset="-78"/>
              </a:rPr>
              <a:t>:</a:t>
            </a:r>
            <a:br>
              <a:rPr lang="fa-IR" sz="2800" dirty="0" smtClean="0">
                <a:solidFill>
                  <a:srgbClr val="FF0000"/>
                </a:solidFill>
                <a:latin typeface="Adobe Arabic" pitchFamily="18" charset="-78"/>
                <a:cs typeface="Adobe Arabic" pitchFamily="18" charset="-78"/>
              </a:rPr>
            </a:br>
            <a:r>
              <a:rPr lang="en-US" sz="2800" dirty="0" smtClean="0">
                <a:latin typeface="Adobe Arabic" pitchFamily="18" charset="-78"/>
                <a:cs typeface="Adobe Arabic" pitchFamily="18" charset="-78"/>
              </a:rPr>
              <a:t>  </a:t>
            </a:r>
            <a:r>
              <a:rPr lang="ar-SA" sz="2800" dirty="0" smtClean="0">
                <a:solidFill>
                  <a:srgbClr val="FFC000"/>
                </a:solidFill>
                <a:latin typeface="Adobe Arabic" pitchFamily="18" charset="-78"/>
                <a:cs typeface="Adobe Arabic" pitchFamily="18" charset="-78"/>
              </a:rPr>
              <a:t>رعایت نکات زیر در قالب بندی برای هر چه بهتر اجرا شدن پی مفید است</a:t>
            </a:r>
            <a:r>
              <a:rPr lang="en-US" sz="2800" dirty="0" smtClean="0">
                <a:latin typeface="Adobe Arabic" pitchFamily="18" charset="-78"/>
                <a:cs typeface="Adobe Arabic" pitchFamily="18" charset="-78"/>
              </a:rPr>
              <a:t>. </a:t>
            </a:r>
            <a:br>
              <a:rPr lang="en-US" sz="2800" dirty="0" smtClean="0">
                <a:latin typeface="Adobe Arabic" pitchFamily="18" charset="-78"/>
                <a:cs typeface="Adobe Arabic" pitchFamily="18" charset="-78"/>
              </a:rPr>
            </a:br>
            <a:r>
              <a:rPr lang="ar-SA" sz="2800" dirty="0" smtClean="0">
                <a:solidFill>
                  <a:srgbClr val="FF0000"/>
                </a:solidFill>
                <a:latin typeface="Adobe Arabic" pitchFamily="18" charset="-78"/>
                <a:cs typeface="Adobe Arabic" pitchFamily="18" charset="-78"/>
              </a:rPr>
              <a:t>1- </a:t>
            </a:r>
            <a:r>
              <a:rPr lang="ar-SA" sz="2800" dirty="0" smtClean="0">
                <a:solidFill>
                  <a:srgbClr val="FFC000"/>
                </a:solidFill>
                <a:latin typeface="Adobe Arabic" pitchFamily="18" charset="-78"/>
                <a:cs typeface="Adobe Arabic" pitchFamily="18" charset="-78"/>
              </a:rPr>
              <a:t>یکنواخت </a:t>
            </a:r>
            <a:r>
              <a:rPr lang="ar-SA" sz="2800" dirty="0" smtClean="0">
                <a:latin typeface="Adobe Arabic" pitchFamily="18" charset="-78"/>
                <a:cs typeface="Adobe Arabic" pitchFamily="18" charset="-78"/>
              </a:rPr>
              <a:t>بودن آجرچینی پی و ایجاد سطح صاف و بدون خلل و فرج برای پی ها </a:t>
            </a:r>
            <a:r>
              <a:rPr lang="ar-SA" sz="2800" dirty="0" smtClean="0">
                <a:solidFill>
                  <a:srgbClr val="FFC000"/>
                </a:solidFill>
                <a:latin typeface="Adobe Arabic" pitchFamily="18" charset="-78"/>
                <a:cs typeface="Adobe Arabic" pitchFamily="18" charset="-78"/>
              </a:rPr>
              <a:t>مفید و بلکه لازم</a:t>
            </a:r>
            <a:r>
              <a:rPr lang="ar-SA" sz="2800" dirty="0" smtClean="0">
                <a:latin typeface="Adobe Arabic" pitchFamily="18" charset="-78"/>
                <a:cs typeface="Adobe Arabic" pitchFamily="18" charset="-78"/>
              </a:rPr>
              <a:t> است.</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ar-SA" sz="2800" dirty="0" smtClean="0">
                <a:solidFill>
                  <a:srgbClr val="FF0000"/>
                </a:solidFill>
                <a:latin typeface="Adobe Arabic" pitchFamily="18" charset="-78"/>
                <a:cs typeface="Adobe Arabic" pitchFamily="18" charset="-78"/>
              </a:rPr>
              <a:t>2- </a:t>
            </a:r>
            <a:r>
              <a:rPr lang="ar-SA" sz="2800" dirty="0" smtClean="0">
                <a:solidFill>
                  <a:srgbClr val="FFC000"/>
                </a:solidFill>
                <a:latin typeface="Adobe Arabic" pitchFamily="18" charset="-78"/>
                <a:cs typeface="Adobe Arabic" pitchFamily="18" charset="-78"/>
              </a:rPr>
              <a:t>مقاومت آجر چینی</a:t>
            </a:r>
            <a:r>
              <a:rPr lang="ar-SA" sz="2800" dirty="0" smtClean="0">
                <a:latin typeface="Adobe Arabic" pitchFamily="18" charset="-78"/>
                <a:cs typeface="Adobe Arabic" pitchFamily="18" charset="-78"/>
              </a:rPr>
              <a:t>، در صورتی که پشت آن خاک دستی (خاک نا مناسب) باشد اهمیت زیادی دارد چرا که نیروی خاک به سمت داخل باعث شکسته شدن قالب آجری خواهد شد.</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solidFill>
                  <a:srgbClr val="FF0000"/>
                </a:solidFill>
                <a:latin typeface="Adobe Arabic" pitchFamily="18" charset="-78"/>
                <a:cs typeface="Adobe Arabic" pitchFamily="18" charset="-78"/>
              </a:rPr>
              <a:t>3-</a:t>
            </a:r>
            <a:r>
              <a:rPr lang="ar-SA" sz="2800" dirty="0" smtClean="0">
                <a:latin typeface="Adobe Arabic" pitchFamily="18" charset="-78"/>
                <a:cs typeface="Adobe Arabic" pitchFamily="18" charset="-78"/>
              </a:rPr>
              <a:t> همچنین درصورتی که </a:t>
            </a:r>
            <a:r>
              <a:rPr lang="ar-SA" sz="2800" dirty="0" smtClean="0">
                <a:solidFill>
                  <a:srgbClr val="FFC000"/>
                </a:solidFill>
                <a:latin typeface="Adobe Arabic" pitchFamily="18" charset="-78"/>
                <a:cs typeface="Adobe Arabic" pitchFamily="18" charset="-78"/>
              </a:rPr>
              <a:t>پشت آجرچینی </a:t>
            </a:r>
            <a:r>
              <a:rPr lang="ar-SA" sz="2800" dirty="0" smtClean="0">
                <a:latin typeface="Adobe Arabic" pitchFamily="18" charset="-78"/>
                <a:cs typeface="Adobe Arabic" pitchFamily="18" charset="-78"/>
              </a:rPr>
              <a:t>خالی است مقاومت قالب آجری اهمیت زیادی دارد به طوری که باید </a:t>
            </a:r>
            <a:r>
              <a:rPr lang="ar-SA" sz="2800" dirty="0" smtClean="0">
                <a:solidFill>
                  <a:srgbClr val="FFC000"/>
                </a:solidFill>
                <a:latin typeface="Adobe Arabic" pitchFamily="18" charset="-78"/>
                <a:cs typeface="Adobe Arabic" pitchFamily="18" charset="-78"/>
              </a:rPr>
              <a:t>وزن بتن و نیروی لرزاندن (ویبره) بتن و وزن کارگر</a:t>
            </a:r>
            <a:r>
              <a:rPr lang="ar-SA" sz="2800" dirty="0" smtClean="0">
                <a:latin typeface="Adobe Arabic" pitchFamily="18" charset="-78"/>
                <a:cs typeface="Adobe Arabic" pitchFamily="18" charset="-78"/>
              </a:rPr>
              <a:t> را تحمل کند. در صورتی که دیوار آجری در حین بتن ریزی دچار شکستگی و جابجایی شود باعث </a:t>
            </a:r>
            <a:r>
              <a:rPr lang="ar-SA" sz="2800" dirty="0" smtClean="0">
                <a:solidFill>
                  <a:srgbClr val="FFC000"/>
                </a:solidFill>
                <a:latin typeface="Adobe Arabic" pitchFamily="18" charset="-78"/>
                <a:cs typeface="Adobe Arabic" pitchFamily="18" charset="-78"/>
              </a:rPr>
              <a:t>تخریب پی </a:t>
            </a:r>
            <a:r>
              <a:rPr lang="ar-SA" sz="2800" dirty="0" smtClean="0">
                <a:latin typeface="Adobe Arabic" pitchFamily="18" charset="-78"/>
                <a:cs typeface="Adobe Arabic" pitchFamily="18" charset="-78"/>
              </a:rPr>
              <a:t>خواهد شد. بازسازی دیواره و توقف عملیات بتن ریزی و ایجاد پیوستگی بین بتن قدیم و جدید </a:t>
            </a:r>
            <a:r>
              <a:rPr lang="ar-SA" sz="2800" dirty="0" smtClean="0">
                <a:solidFill>
                  <a:srgbClr val="FFC000"/>
                </a:solidFill>
                <a:latin typeface="Adobe Arabic" pitchFamily="18" charset="-78"/>
                <a:cs typeface="Adobe Arabic" pitchFamily="18" charset="-78"/>
              </a:rPr>
              <a:t>هزینه های زیادی </a:t>
            </a:r>
            <a:r>
              <a:rPr lang="ar-SA" sz="2800" dirty="0" smtClean="0">
                <a:latin typeface="Adobe Arabic" pitchFamily="18" charset="-78"/>
                <a:cs typeface="Adobe Arabic" pitchFamily="18" charset="-78"/>
              </a:rPr>
              <a:t>به دنبال خواهد داشت.</a:t>
            </a: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endParaRPr lang="en-US" sz="28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3998" cy="6297634"/>
          </a:xfrm>
        </p:spPr>
        <p:txBody>
          <a:bodyPr>
            <a:normAutofit fontScale="90000"/>
          </a:bodyPr>
          <a:lstStyle/>
          <a:p>
            <a:pPr algn="r" rtl="1"/>
            <a:r>
              <a:rPr lang="fa-IR" sz="3200" dirty="0" smtClean="0">
                <a:solidFill>
                  <a:srgbClr val="FF0000"/>
                </a:solidFill>
                <a:latin typeface="Adobe Arabic" pitchFamily="18" charset="-78"/>
                <a:cs typeface="Adobe Arabic" pitchFamily="18" charset="-78"/>
              </a:rPr>
              <a:t/>
            </a:r>
            <a:br>
              <a:rPr lang="fa-IR" sz="3200" dirty="0" smtClean="0">
                <a:solidFill>
                  <a:srgbClr val="FF0000"/>
                </a:solidFill>
                <a:latin typeface="Adobe Arabic" pitchFamily="18" charset="-78"/>
                <a:cs typeface="Adobe Arabic" pitchFamily="18" charset="-78"/>
              </a:rPr>
            </a:br>
            <a:r>
              <a:rPr lang="ar-SA" sz="3200" dirty="0" smtClean="0">
                <a:solidFill>
                  <a:srgbClr val="FF0000"/>
                </a:solidFill>
                <a:latin typeface="Adobe Arabic" pitchFamily="18" charset="-78"/>
                <a:cs typeface="Adobe Arabic" pitchFamily="18" charset="-78"/>
              </a:rPr>
              <a:t>5-</a:t>
            </a:r>
            <a:r>
              <a:rPr lang="ar-SA" sz="3200" dirty="0" smtClean="0">
                <a:latin typeface="Adobe Arabic" pitchFamily="18" charset="-78"/>
                <a:cs typeface="Adobe Arabic" pitchFamily="18" charset="-78"/>
              </a:rPr>
              <a:t> اگر لایه سیمان کاری صورت نگرفت </a:t>
            </a:r>
            <a:r>
              <a:rPr lang="ar-SA" sz="3200" dirty="0" smtClean="0">
                <a:solidFill>
                  <a:srgbClr val="FFC000"/>
                </a:solidFill>
                <a:latin typeface="Adobe Arabic" pitchFamily="18" charset="-78"/>
                <a:cs typeface="Adobe Arabic" pitchFamily="18" charset="-78"/>
              </a:rPr>
              <a:t>حتما </a:t>
            </a:r>
            <a:r>
              <a:rPr lang="ar-SA" sz="3200" dirty="0" smtClean="0">
                <a:latin typeface="Adobe Arabic" pitchFamily="18" charset="-78"/>
                <a:cs typeface="Adobe Arabic" pitchFamily="18" charset="-78"/>
              </a:rPr>
              <a:t>باید </a:t>
            </a:r>
            <a:r>
              <a:rPr lang="ar-SA" sz="3200" dirty="0" smtClean="0">
                <a:solidFill>
                  <a:srgbClr val="FFC000"/>
                </a:solidFill>
                <a:latin typeface="Adobe Arabic" pitchFamily="18" charset="-78"/>
                <a:cs typeface="Adobe Arabic" pitchFamily="18" charset="-78"/>
              </a:rPr>
              <a:t>روی قالب آجری یک لایه پلاستیک ضخیم و مناسب</a:t>
            </a:r>
            <a:r>
              <a:rPr lang="ar-SA" sz="3200" dirty="0" smtClean="0">
                <a:latin typeface="Adobe Arabic" pitchFamily="18" charset="-78"/>
                <a:cs typeface="Adobe Arabic" pitchFamily="18" charset="-78"/>
              </a:rPr>
              <a:t> برای </a:t>
            </a:r>
            <a:r>
              <a:rPr lang="ar-SA" sz="3200" dirty="0" smtClean="0">
                <a:solidFill>
                  <a:srgbClr val="FFC000"/>
                </a:solidFill>
                <a:latin typeface="Adobe Arabic" pitchFamily="18" charset="-78"/>
                <a:cs typeface="Adobe Arabic" pitchFamily="18" charset="-78"/>
              </a:rPr>
              <a:t>جلوگیری از جذب آب بتن توسط آجر </a:t>
            </a:r>
            <a:r>
              <a:rPr lang="ar-SA" sz="3200" dirty="0" smtClean="0">
                <a:latin typeface="Adobe Arabic" pitchFamily="18" charset="-78"/>
                <a:cs typeface="Adobe Arabic" pitchFamily="18" charset="-78"/>
              </a:rPr>
              <a:t>کشیده شود</a:t>
            </a: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r>
              <a:rPr lang="fa-IR" sz="2700" dirty="0" smtClean="0">
                <a:latin typeface="Adobe Arabic" pitchFamily="18" charset="-78"/>
                <a:cs typeface="Adobe Arabic" pitchFamily="18" charset="-78"/>
              </a:rPr>
              <a:t/>
            </a:r>
            <a:br>
              <a:rPr lang="fa-IR" sz="2700" dirty="0" smtClean="0">
                <a:latin typeface="Adobe Arabic" pitchFamily="18" charset="-78"/>
                <a:cs typeface="Adobe Arabic" pitchFamily="18" charset="-78"/>
              </a:rPr>
            </a:br>
            <a:r>
              <a:rPr lang="ar-SA" sz="3600" u="sng" dirty="0" smtClean="0">
                <a:solidFill>
                  <a:srgbClr val="FF0000"/>
                </a:solidFill>
              </a:rPr>
              <a:t> بیاموزیم:</a:t>
            </a:r>
            <a:r>
              <a:rPr lang="ar-SA" sz="3600" dirty="0" smtClean="0">
                <a:solidFill>
                  <a:srgbClr val="FF0000"/>
                </a:solidFill>
              </a:rPr>
              <a:t> </a:t>
            </a:r>
            <a:r>
              <a:rPr lang="fa-IR" sz="3600" dirty="0" smtClean="0">
                <a:solidFill>
                  <a:srgbClr val="FF0000"/>
                </a:solidFill>
              </a:rPr>
              <a:t/>
            </a:r>
            <a:br>
              <a:rPr lang="fa-IR" sz="3600" dirty="0" smtClean="0">
                <a:solidFill>
                  <a:srgbClr val="FF0000"/>
                </a:solidFill>
              </a:rPr>
            </a:br>
            <a:r>
              <a:rPr lang="fa-IR" sz="3600" dirty="0" smtClean="0">
                <a:solidFill>
                  <a:srgbClr val="FF0000"/>
                </a:solidFill>
              </a:rPr>
              <a:t/>
            </a:r>
            <a:br>
              <a:rPr lang="fa-IR" sz="3600" dirty="0" smtClean="0">
                <a:solidFill>
                  <a:srgbClr val="FF0000"/>
                </a:solidFill>
              </a:rPr>
            </a:br>
            <a:r>
              <a:rPr lang="ar-SA" sz="2700" dirty="0" smtClean="0">
                <a:solidFill>
                  <a:srgbClr val="FFC000"/>
                </a:solidFill>
              </a:rPr>
              <a:t>قالب بندی فلزی بهترین نوع قالب بندی می باشد.</a:t>
            </a:r>
            <a:r>
              <a:rPr lang="ar-SA" sz="2700" dirty="0" smtClean="0"/>
              <a:t> البته </a:t>
            </a:r>
            <a:r>
              <a:rPr lang="ar-SA" sz="2700" dirty="0" smtClean="0">
                <a:solidFill>
                  <a:srgbClr val="FFC000"/>
                </a:solidFill>
              </a:rPr>
              <a:t>نکات</a:t>
            </a:r>
            <a:r>
              <a:rPr lang="ar-SA" sz="2700" dirty="0" smtClean="0"/>
              <a:t> و پیش­بینی­های لازم برای استفاده از قالب فلزی از جمله، </a:t>
            </a:r>
            <a:r>
              <a:rPr lang="ar-SA" sz="2700" dirty="0" smtClean="0">
                <a:solidFill>
                  <a:srgbClr val="FFC000"/>
                </a:solidFill>
              </a:rPr>
              <a:t>اضافه خاکبرداری برای بستن قالب</a:t>
            </a:r>
            <a:r>
              <a:rPr lang="ar-SA" sz="2700" dirty="0" smtClean="0"/>
              <a:t>، </a:t>
            </a:r>
            <a:r>
              <a:rPr lang="ar-SA" sz="2700" dirty="0" smtClean="0">
                <a:solidFill>
                  <a:srgbClr val="FFC000"/>
                </a:solidFill>
              </a:rPr>
              <a:t>پر کردن پشت پی</a:t>
            </a:r>
            <a:r>
              <a:rPr lang="ar-SA" sz="2700" dirty="0" smtClean="0"/>
              <a:t> بعد از باز کردن قالب با پرکننده­های مناسب و </a:t>
            </a:r>
            <a:r>
              <a:rPr lang="ar-SA" sz="2700" dirty="0" smtClean="0">
                <a:solidFill>
                  <a:srgbClr val="FFC000"/>
                </a:solidFill>
              </a:rPr>
              <a:t>دسترسی کم به قالب فلزی </a:t>
            </a:r>
            <a:r>
              <a:rPr lang="ar-SA" sz="2700" dirty="0" smtClean="0"/>
              <a:t>باعث می­شود که استفاده از قالب فلزی استقبال چندانی نداشته باشد. </a:t>
            </a: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r>
              <a:rPr lang="fa-IR" sz="3200" dirty="0" smtClean="0">
                <a:latin typeface="Adobe Arabic" pitchFamily="18" charset="-78"/>
                <a:cs typeface="Adobe Arabic" pitchFamily="18" charset="-78"/>
              </a:rPr>
              <a:t/>
            </a:r>
            <a:br>
              <a:rPr lang="fa-IR" sz="3200" dirty="0" smtClean="0">
                <a:latin typeface="Adobe Arabic" pitchFamily="18" charset="-78"/>
                <a:cs typeface="Adobe Arabic" pitchFamily="18" charset="-78"/>
              </a:rPr>
            </a:br>
            <a:endParaRPr lang="en-US" sz="32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715436" cy="6226196"/>
          </a:xfrm>
        </p:spPr>
        <p:txBody>
          <a:bodyPr>
            <a:normAutofit/>
          </a:bodyPr>
          <a:lstStyle/>
          <a:p>
            <a:pPr algn="r" rtl="1"/>
            <a:r>
              <a:rPr lang="ar-SA" sz="3600" dirty="0" smtClean="0">
                <a:solidFill>
                  <a:srgbClr val="FF0000"/>
                </a:solidFill>
                <a:latin typeface="Adobe Arabic" pitchFamily="18" charset="-78"/>
                <a:cs typeface="Adobe Arabic" pitchFamily="18" charset="-78"/>
              </a:rPr>
              <a:t>6-</a:t>
            </a:r>
            <a:r>
              <a:rPr lang="ar-SA" sz="3600" dirty="0" smtClean="0">
                <a:latin typeface="Adobe Arabic" pitchFamily="18" charset="-78"/>
                <a:cs typeface="Adobe Arabic" pitchFamily="18" charset="-78"/>
              </a:rPr>
              <a:t> </a:t>
            </a:r>
            <a:r>
              <a:rPr lang="ar-SA" sz="3600" dirty="0" smtClean="0">
                <a:solidFill>
                  <a:srgbClr val="FFC000"/>
                </a:solidFill>
                <a:latin typeface="Adobe Arabic" pitchFamily="18" charset="-78"/>
                <a:cs typeface="Adobe Arabic" pitchFamily="18" charset="-78"/>
              </a:rPr>
              <a:t>در صورت نیاز و تمایل میتوان پس از گیرش اولیه بتن فونداسیون و با اطلاع مهندس ناظر ساختمان نسبت به جمع آوری قالب­بندی آجری برای استفاده مجدد </a:t>
            </a:r>
            <a:r>
              <a:rPr lang="ar-SA" sz="3600" dirty="0" smtClean="0">
                <a:latin typeface="Adobe Arabic" pitchFamily="18" charset="-78"/>
                <a:cs typeface="Adobe Arabic" pitchFamily="18" charset="-78"/>
              </a:rPr>
              <a:t>آجر آن </a:t>
            </a:r>
            <a:r>
              <a:rPr lang="ar-SA" sz="3600" dirty="0" smtClean="0">
                <a:solidFill>
                  <a:srgbClr val="FFC000"/>
                </a:solidFill>
                <a:latin typeface="Adobe Arabic" pitchFamily="18" charset="-78"/>
                <a:cs typeface="Adobe Arabic" pitchFamily="18" charset="-78"/>
              </a:rPr>
              <a:t>در ساختمان </a:t>
            </a:r>
            <a:r>
              <a:rPr lang="ar-SA" sz="3600" dirty="0" smtClean="0">
                <a:latin typeface="Adobe Arabic" pitchFamily="18" charset="-78"/>
                <a:cs typeface="Adobe Arabic" pitchFamily="18" charset="-78"/>
              </a:rPr>
              <a:t>اقدام نمود</a:t>
            </a:r>
            <a:r>
              <a:rPr lang="fa-IR" sz="3600" dirty="0" smtClean="0">
                <a:latin typeface="Adobe Arabic" pitchFamily="18" charset="-78"/>
                <a:cs typeface="Adobe Arabic" pitchFamily="18" charset="-78"/>
              </a:rPr>
              <a:t>.</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643998" cy="6583362"/>
          </a:xfrm>
        </p:spPr>
        <p:txBody>
          <a:bodyPr>
            <a:normAutofit fontScale="90000"/>
          </a:bodyPr>
          <a:lstStyle/>
          <a:p>
            <a:pPr algn="r" rtl="1"/>
            <a:r>
              <a:rPr lang="en-US" u="sng" dirty="0" smtClean="0">
                <a:latin typeface="Adobe Arabic" pitchFamily="18" charset="-78"/>
                <a:cs typeface="Adobe Arabic" pitchFamily="18" charset="-78"/>
              </a:rPr>
              <a:t/>
            </a:r>
            <a:br>
              <a:rPr lang="en-US" u="sng" dirty="0" smtClean="0">
                <a:latin typeface="Adobe Arabic" pitchFamily="18" charset="-78"/>
                <a:cs typeface="Adobe Arabic" pitchFamily="18" charset="-78"/>
              </a:rPr>
            </a:br>
            <a:r>
              <a:rPr lang="en-US" u="sng" dirty="0" smtClean="0">
                <a:latin typeface="Adobe Arabic" pitchFamily="18" charset="-78"/>
                <a:cs typeface="Adobe Arabic" pitchFamily="18" charset="-78"/>
              </a:rPr>
              <a:t/>
            </a:r>
            <a:br>
              <a:rPr lang="en-US" u="sng" dirty="0" smtClean="0">
                <a:latin typeface="Adobe Arabic" pitchFamily="18" charset="-78"/>
                <a:cs typeface="Adobe Arabic" pitchFamily="18" charset="-78"/>
              </a:rPr>
            </a:br>
            <a:r>
              <a:rPr lang="en-US" u="sng" dirty="0" smtClean="0">
                <a:latin typeface="Adobe Arabic" pitchFamily="18" charset="-78"/>
                <a:cs typeface="Adobe Arabic" pitchFamily="18" charset="-78"/>
              </a:rPr>
              <a:t/>
            </a:r>
            <a:br>
              <a:rPr lang="en-US" u="sng" dirty="0" smtClean="0">
                <a:latin typeface="Adobe Arabic" pitchFamily="18" charset="-78"/>
                <a:cs typeface="Adobe Arabic" pitchFamily="18" charset="-78"/>
              </a:rPr>
            </a:br>
            <a:r>
              <a:rPr lang="ar-SA" sz="4900" u="sng" dirty="0" smtClean="0">
                <a:solidFill>
                  <a:srgbClr val="FF0000"/>
                </a:solidFill>
                <a:latin typeface="Adobe Arabic" pitchFamily="18" charset="-78"/>
                <a:cs typeface="Adobe Arabic" pitchFamily="18" charset="-78"/>
              </a:rPr>
              <a:t>بتن ریزی</a:t>
            </a:r>
            <a:r>
              <a:rPr lang="en-US" sz="4900" u="sng" dirty="0" smtClean="0">
                <a:solidFill>
                  <a:srgbClr val="FF0000"/>
                </a:solidFill>
                <a:latin typeface="Adobe Arabic" pitchFamily="18" charset="-78"/>
                <a:cs typeface="Adobe Arabic" pitchFamily="18" charset="-78"/>
              </a:rPr>
              <a:t>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ar-SA" dirty="0" smtClean="0">
                <a:latin typeface="Adobe Arabic" pitchFamily="18" charset="-78"/>
                <a:cs typeface="Adobe Arabic" pitchFamily="18" charset="-78"/>
              </a:rPr>
              <a:t> </a:t>
            </a:r>
            <a:r>
              <a:rPr lang="fa-IR" dirty="0" smtClean="0">
                <a:solidFill>
                  <a:srgbClr val="FFC000"/>
                </a:solidFill>
                <a:latin typeface="Adobe Arabic" pitchFamily="18" charset="-78"/>
                <a:cs typeface="Adobe Arabic" pitchFamily="18" charset="-78"/>
              </a:rPr>
              <a:t>بتن آماده </a:t>
            </a:r>
            <a:r>
              <a:rPr lang="fa-IR" dirty="0" smtClean="0">
                <a:latin typeface="Adobe Arabic" pitchFamily="18" charset="-78"/>
                <a:cs typeface="Adobe Arabic" pitchFamily="18" charset="-78"/>
              </a:rPr>
              <a:t>توسط ماشینهای حمل بتن </a:t>
            </a:r>
            <a:r>
              <a:rPr lang="fa-IR" dirty="0" smtClean="0">
                <a:solidFill>
                  <a:srgbClr val="FFC000"/>
                </a:solidFill>
                <a:latin typeface="Adobe Arabic" pitchFamily="18" charset="-78"/>
                <a:cs typeface="Adobe Arabic" pitchFamily="18" charset="-78"/>
              </a:rPr>
              <a:t>(میکسر) </a:t>
            </a:r>
            <a:r>
              <a:rPr lang="fa-IR" dirty="0" smtClean="0">
                <a:latin typeface="Adobe Arabic" pitchFamily="18" charset="-78"/>
                <a:cs typeface="Adobe Arabic" pitchFamily="18" charset="-78"/>
              </a:rPr>
              <a:t>برای شما آورده میشود، توجه به نکات زیر برای اجرای یک بتن ریزی صحیح الزامی است:</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solidFill>
                  <a:srgbClr val="FF0000"/>
                </a:solidFill>
                <a:latin typeface="Adobe Arabic" pitchFamily="18" charset="-78"/>
                <a:cs typeface="Adobe Arabic" pitchFamily="18" charset="-78"/>
              </a:rPr>
              <a:t>1-</a:t>
            </a:r>
            <a:r>
              <a:rPr lang="fa-IR" dirty="0" smtClean="0">
                <a:latin typeface="Adobe Arabic" pitchFamily="18" charset="-78"/>
                <a:cs typeface="Adobe Arabic" pitchFamily="18" charset="-78"/>
              </a:rPr>
              <a:t> از افزودن آب به بتن حمل شده بدون اجازه مهندس ناظر اکیداً خودداری شود. ( معمولا کارگران برای سهولت کار خود و روانی بیشتر بتن به آن آب می­افزایند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که این امر از مقاومت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بتن به شدت میکاهد لذا</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 توجه به این امر بسیار </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fa-IR" dirty="0" smtClean="0">
                <a:latin typeface="Adobe Arabic" pitchFamily="18" charset="-78"/>
                <a:cs typeface="Adobe Arabic" pitchFamily="18" charset="-78"/>
              </a:rPr>
              <a:t>دارای اهمیت میباشد.)</a:t>
            </a: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r>
              <a:rPr lang="en-US" dirty="0" smtClean="0">
                <a:latin typeface="Adobe Arabic" pitchFamily="18" charset="-78"/>
                <a:cs typeface="Adobe Arabic" pitchFamily="18" charset="-78"/>
              </a:rPr>
              <a:t/>
            </a:r>
            <a:br>
              <a:rPr lang="en-US" dirty="0" smtClean="0">
                <a:latin typeface="Adobe Arabic" pitchFamily="18" charset="-78"/>
                <a:cs typeface="Adobe Arabic" pitchFamily="18" charset="-78"/>
              </a:rPr>
            </a:br>
            <a:endParaRPr lang="en-US" dirty="0">
              <a:latin typeface="Adobe Arabic" pitchFamily="18" charset="-78"/>
              <a:cs typeface="Adobe Arabic" pitchFamily="18" charset="-78"/>
            </a:endParaRPr>
          </a:p>
        </p:txBody>
      </p:sp>
      <p:pic>
        <p:nvPicPr>
          <p:cNvPr id="1026" name="Picture 2" descr="C:\Users\tadbir sabz\Desktop\پروژه روش اجرایی\axx\بتن مگر\ejraboton7.10.15.JPG"/>
          <p:cNvPicPr>
            <a:picLocks noChangeAspect="1" noChangeArrowheads="1"/>
          </p:cNvPicPr>
          <p:nvPr/>
        </p:nvPicPr>
        <p:blipFill>
          <a:blip r:embed="rId2"/>
          <a:srcRect/>
          <a:stretch>
            <a:fillRect/>
          </a:stretch>
        </p:blipFill>
        <p:spPr bwMode="auto">
          <a:xfrm>
            <a:off x="187575" y="3899992"/>
            <a:ext cx="4546600" cy="3273424"/>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643998" cy="6226196"/>
          </a:xfrm>
        </p:spPr>
        <p:txBody>
          <a:bodyPr>
            <a:normAutofit/>
          </a:bodyPr>
          <a:lstStyle/>
          <a:p>
            <a:pPr algn="r" rtl="1"/>
            <a:r>
              <a:rPr lang="en-US" sz="3600" dirty="0" smtClean="0">
                <a:solidFill>
                  <a:srgbClr val="FF0000"/>
                </a:solidFill>
                <a:latin typeface="Adobe Arabic" pitchFamily="18" charset="-78"/>
                <a:cs typeface="Adobe Arabic" pitchFamily="18" charset="-78"/>
              </a:rPr>
              <a:t>2</a:t>
            </a:r>
            <a:r>
              <a:rPr lang="fa-IR" sz="3600" dirty="0" smtClean="0">
                <a:solidFill>
                  <a:srgbClr val="FF0000"/>
                </a:solidFill>
                <a:latin typeface="Adobe Arabic" pitchFamily="18" charset="-78"/>
                <a:cs typeface="Adobe Arabic" pitchFamily="18" charset="-78"/>
              </a:rPr>
              <a:t>- </a:t>
            </a:r>
            <a:r>
              <a:rPr lang="fa-IR" sz="3600" dirty="0" smtClean="0">
                <a:solidFill>
                  <a:srgbClr val="FFC000"/>
                </a:solidFill>
                <a:latin typeface="Adobe Arabic" pitchFamily="18" charset="-78"/>
                <a:cs typeface="Adobe Arabic" pitchFamily="18" charset="-78"/>
              </a:rPr>
              <a:t>معمولا ً مقداری از بتن در ابتدای </a:t>
            </a:r>
            <a:r>
              <a:rPr lang="fa-IR" sz="3600" dirty="0" smtClean="0">
                <a:latin typeface="Adobe Arabic" pitchFamily="18" charset="-78"/>
                <a:cs typeface="Adobe Arabic" pitchFamily="18" charset="-78"/>
              </a:rPr>
              <a:t>تخلیه از میکسر </a:t>
            </a:r>
            <a:r>
              <a:rPr lang="fa-IR" sz="3600" dirty="0" smtClean="0">
                <a:solidFill>
                  <a:srgbClr val="FFC000"/>
                </a:solidFill>
                <a:latin typeface="Adobe Arabic" pitchFamily="18" charset="-78"/>
                <a:cs typeface="Adobe Arabic" pitchFamily="18" charset="-78"/>
              </a:rPr>
              <a:t>دارای دانه بندی نا مناسبی </a:t>
            </a:r>
            <a:r>
              <a:rPr lang="fa-IR" sz="3600" dirty="0" smtClean="0">
                <a:latin typeface="Adobe Arabic" pitchFamily="18" charset="-78"/>
                <a:cs typeface="Adobe Arabic" pitchFamily="18" charset="-78"/>
              </a:rPr>
              <a:t>میباشد. باید دقت شود این بتن که دارای کیفیت نا مناسب جهت بتن ریزی میباشد، مورد مصرف کارهای ساختمانی قرار نگیرد.</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3-</a:t>
            </a:r>
            <a:r>
              <a:rPr lang="fa-IR" sz="3600" dirty="0" smtClean="0">
                <a:latin typeface="Adobe Arabic" pitchFamily="18" charset="-78"/>
                <a:cs typeface="Adobe Arabic" pitchFamily="18" charset="-78"/>
              </a:rPr>
              <a:t> </a:t>
            </a:r>
            <a:r>
              <a:rPr lang="fa-IR" sz="3600" dirty="0" smtClean="0">
                <a:solidFill>
                  <a:srgbClr val="FFC000"/>
                </a:solidFill>
                <a:latin typeface="Adobe Arabic" pitchFamily="18" charset="-78"/>
                <a:cs typeface="Adobe Arabic" pitchFamily="18" charset="-78"/>
              </a:rPr>
              <a:t>قبل از بتن ریزی </a:t>
            </a:r>
            <a:r>
              <a:rPr lang="fa-IR" sz="3600" dirty="0" smtClean="0">
                <a:latin typeface="Adobe Arabic" pitchFamily="18" charset="-78"/>
                <a:cs typeface="Adobe Arabic" pitchFamily="18" charset="-78"/>
              </a:rPr>
              <a:t>حتماً باید درون </a:t>
            </a:r>
            <a:r>
              <a:rPr lang="fa-IR" sz="3600" dirty="0" smtClean="0">
                <a:solidFill>
                  <a:srgbClr val="FFC000"/>
                </a:solidFill>
                <a:latin typeface="Adobe Arabic" pitchFamily="18" charset="-78"/>
                <a:cs typeface="Adobe Arabic" pitchFamily="18" charset="-78"/>
              </a:rPr>
              <a:t>قالبهای فونداسیون </a:t>
            </a:r>
            <a:r>
              <a:rPr lang="fa-IR" sz="3600" dirty="0" smtClean="0">
                <a:latin typeface="Adobe Arabic" pitchFamily="18" charset="-78"/>
                <a:cs typeface="Adobe Arabic" pitchFamily="18" charset="-78"/>
              </a:rPr>
              <a:t>که آرماتور گذاری شده است از </a:t>
            </a:r>
            <a:r>
              <a:rPr lang="fa-IR" sz="3600" dirty="0" smtClean="0">
                <a:solidFill>
                  <a:srgbClr val="FFC000"/>
                </a:solidFill>
                <a:latin typeface="Adobe Arabic" pitchFamily="18" charset="-78"/>
                <a:cs typeface="Adobe Arabic" pitchFamily="18" charset="-78"/>
              </a:rPr>
              <a:t>خاکهای ریزشی و نخاله های ساختمانی </a:t>
            </a:r>
            <a:r>
              <a:rPr lang="fa-IR" sz="3600" dirty="0" smtClean="0">
                <a:latin typeface="Adobe Arabic" pitchFamily="18" charset="-78"/>
                <a:cs typeface="Adobe Arabic" pitchFamily="18" charset="-78"/>
              </a:rPr>
              <a:t>کاملاً پاکسازی گردد </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274638"/>
            <a:ext cx="8643998" cy="6297634"/>
          </a:xfrm>
        </p:spPr>
        <p:txBody>
          <a:bodyPr>
            <a:normAutofit/>
          </a:bodyPr>
          <a:lstStyle/>
          <a:p>
            <a:pPr algn="r"/>
            <a:r>
              <a:rPr lang="fa-IR" sz="3600" dirty="0" smtClean="0">
                <a:solidFill>
                  <a:srgbClr val="FF0000"/>
                </a:solidFill>
                <a:latin typeface="Adobe Arabic" pitchFamily="18" charset="-78"/>
                <a:cs typeface="Adobe Arabic" pitchFamily="18" charset="-78"/>
              </a:rPr>
              <a:t>4- </a:t>
            </a:r>
            <a:r>
              <a:rPr lang="fa-IR" sz="3600" dirty="0" smtClean="0">
                <a:latin typeface="Adobe Arabic" pitchFamily="18" charset="-78"/>
                <a:cs typeface="Adobe Arabic" pitchFamily="18" charset="-78"/>
              </a:rPr>
              <a:t>در زمان بتن ریزی استفاده از دستگاه ویبره الزامی است، پیمانکاران موظف هستند قبل از آغاز بتن ریزی از سلامت دستگاه ویبره خود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اطمینان حاصل نمایند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pic>
        <p:nvPicPr>
          <p:cNvPr id="3" name="Picture 2" descr="http://mojepishro.net/work/DAFTARCHEH-BAM/pic-daftarche-bam/image023.jpg"/>
          <p:cNvPicPr/>
          <p:nvPr/>
        </p:nvPicPr>
        <p:blipFill>
          <a:blip r:embed="rId2"/>
          <a:srcRect/>
          <a:stretch>
            <a:fillRect/>
          </a:stretch>
        </p:blipFill>
        <p:spPr bwMode="auto">
          <a:xfrm>
            <a:off x="1714480" y="2357430"/>
            <a:ext cx="5357850" cy="3814770"/>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44" y="274638"/>
            <a:ext cx="8786874" cy="6297634"/>
          </a:xfrm>
        </p:spPr>
        <p:txBody>
          <a:bodyPr>
            <a:normAutofit fontScale="90000"/>
          </a:bodyPr>
          <a:lstStyle/>
          <a:p>
            <a:pPr algn="r"/>
            <a:r>
              <a:rPr lang="fa-IR" sz="3600" dirty="0" smtClean="0">
                <a:latin typeface="Adobe Arabic" pitchFamily="18" charset="-78"/>
                <a:cs typeface="Adobe Arabic" pitchFamily="18" charset="-78"/>
              </a:rPr>
              <a:t> </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5 . </a:t>
            </a:r>
            <a:r>
              <a:rPr lang="fa-IR" sz="3600" dirty="0" smtClean="0">
                <a:latin typeface="Adobe Arabic" pitchFamily="18" charset="-78"/>
                <a:cs typeface="Adobe Arabic" pitchFamily="18" charset="-78"/>
              </a:rPr>
              <a:t>برای آنکه آجرهای قالبندی فونداسیون آب شیرآبه بتن را جذب نکند استفاده از پوشش پلاستیکی (کاور)  الزامی است. </a:t>
            </a:r>
            <a:r>
              <a:rPr lang="en-US" sz="3600" dirty="0" smtClean="0">
                <a:latin typeface="Adobe Arabic" pitchFamily="18" charset="-78"/>
                <a:cs typeface="Adobe Arabic" pitchFamily="18" charset="-78"/>
              </a:rPr>
              <a:t/>
            </a:r>
            <a:br>
              <a:rPr lang="en-US" sz="3600" dirty="0" smtClean="0">
                <a:latin typeface="Adobe Arabic" pitchFamily="18" charset="-78"/>
                <a:cs typeface="Adobe Arabic" pitchFamily="18" charset="-78"/>
              </a:rPr>
            </a:br>
            <a:r>
              <a:rPr lang="fa-IR" sz="3600" dirty="0" smtClean="0">
                <a:solidFill>
                  <a:srgbClr val="FF0000"/>
                </a:solidFill>
                <a:latin typeface="Adobe Arabic" pitchFamily="18" charset="-78"/>
                <a:cs typeface="Adobe Arabic" pitchFamily="18" charset="-78"/>
              </a:rPr>
              <a:t>6-</a:t>
            </a:r>
            <a:r>
              <a:rPr lang="fa-IR" sz="3600" dirty="0" smtClean="0">
                <a:latin typeface="Adobe Arabic" pitchFamily="18" charset="-78"/>
                <a:cs typeface="Adobe Arabic" pitchFamily="18" charset="-78"/>
              </a:rPr>
              <a:t> قبل از اینکه بتن ریزی آغاز شود برای اینکه آب بتن سریعا توسط بستر خارج نشود لازم است بستر بتن­ریزی مرطوب شود، البته باید مراقب بود تا آب در کف پی جمع نشود و فقط رطوبت وجود داشته باشد.</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r>
              <a:rPr lang="fa-IR" sz="3600" dirty="0" smtClean="0">
                <a:latin typeface="Adobe Arabic" pitchFamily="18" charset="-78"/>
                <a:cs typeface="Adobe Arabic" pitchFamily="18" charset="-78"/>
              </a:rPr>
              <a:t/>
            </a:r>
            <a:br>
              <a:rPr lang="fa-IR" sz="3600" dirty="0" smtClean="0">
                <a:latin typeface="Adobe Arabic" pitchFamily="18" charset="-78"/>
                <a:cs typeface="Adobe Arabic" pitchFamily="18" charset="-78"/>
              </a:rPr>
            </a:br>
            <a:endParaRPr lang="en-US" sz="3600" dirty="0">
              <a:latin typeface="Adobe Arabic" pitchFamily="18" charset="-78"/>
              <a:cs typeface="Adobe Arabic" pitchFamily="18" charset="-78"/>
            </a:endParaRPr>
          </a:p>
        </p:txBody>
      </p:sp>
      <p:pic>
        <p:nvPicPr>
          <p:cNvPr id="3" name="Picture 2" descr="http://mojepishro.net/work/DAFTARCHEH-BAM/pic-daftarche-bam/image024.jpg"/>
          <p:cNvPicPr/>
          <p:nvPr/>
        </p:nvPicPr>
        <p:blipFill>
          <a:blip r:embed="rId2"/>
          <a:srcRect/>
          <a:stretch>
            <a:fillRect/>
          </a:stretch>
        </p:blipFill>
        <p:spPr bwMode="auto">
          <a:xfrm>
            <a:off x="1214414" y="2928934"/>
            <a:ext cx="6929486" cy="3500462"/>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797436"/>
          </a:xfrm>
        </p:spPr>
        <p:txBody>
          <a:bodyPr>
            <a:noAutofit/>
          </a:bodyPr>
          <a:lstStyle/>
          <a:p>
            <a:pPr algn="r"/>
            <a:r>
              <a:rPr lang="fa-IR" sz="4000" dirty="0" smtClean="0">
                <a:solidFill>
                  <a:srgbClr val="FF0000"/>
                </a:solidFill>
                <a:latin typeface="Adobe Arabic" pitchFamily="18" charset="-78"/>
                <a:cs typeface="Adobe Arabic" pitchFamily="18" charset="-78"/>
              </a:rPr>
              <a:t>نگهداری بتن پی </a:t>
            </a:r>
            <a:r>
              <a:rPr lang="fa-IR" sz="2800" dirty="0" smtClean="0">
                <a:solidFill>
                  <a:srgbClr val="FF0000"/>
                </a:solidFill>
                <a:latin typeface="Adobe Arabic" pitchFamily="18" charset="-78"/>
                <a:cs typeface="Adobe Arabic" pitchFamily="18" charset="-78"/>
              </a:rPr>
              <a:t>:</a:t>
            </a: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ar-SA" sz="2800" dirty="0" smtClean="0">
                <a:latin typeface="Adobe Arabic" pitchFamily="18" charset="-78"/>
                <a:cs typeface="Adobe Arabic" pitchFamily="18" charset="-78"/>
              </a:rPr>
              <a:t>  </a:t>
            </a:r>
            <a:r>
              <a:rPr lang="fa-IR" sz="2800" dirty="0" smtClean="0">
                <a:latin typeface="Adobe Arabic" pitchFamily="18" charset="-78"/>
                <a:cs typeface="Adobe Arabic" pitchFamily="18" charset="-78"/>
              </a:rPr>
              <a:t>بعد از آنکه بتن ریخته شد و گیرش اولیه پیدا کرد (بعد از حدود 1.5 ساعت) عملیات خاصی برای نگهداری بتن باید آغاز شود. این عملیات که به عمل­آوری یا نگهداری بتن موسوم است باعث می شود تا به مشخصات مورد نظر برای بتن که در طراحی در نظر گرفته شده است دست پیدا کنیم و مقاومت و دوام بتن را بالا ببریم. </a:t>
            </a: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1- تمامی مقاطعی که بتن ریزی میگردد تا 3 روز باید آب پاشی شده و تا هفت روز مرطوب نگه داشته شود. این عمل در بالا بردن کیفیت بتن بسیار حائز اهمیت است.</a:t>
            </a:r>
            <a:r>
              <a:rPr lang="en-US" sz="2800" dirty="0" smtClean="0">
                <a:latin typeface="Adobe Arabic" pitchFamily="18" charset="-78"/>
                <a:cs typeface="Adobe Arabic" pitchFamily="18" charset="-78"/>
              </a:rPr>
              <a:t/>
            </a:r>
            <a:br>
              <a:rPr lang="en-US"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r>
              <a:rPr lang="fa-IR" sz="2800" dirty="0" smtClean="0">
                <a:latin typeface="Adobe Arabic" pitchFamily="18" charset="-78"/>
                <a:cs typeface="Adobe Arabic" pitchFamily="18" charset="-78"/>
              </a:rPr>
              <a:t/>
            </a:r>
            <a:br>
              <a:rPr lang="fa-IR" sz="2800" dirty="0" smtClean="0">
                <a:latin typeface="Adobe Arabic" pitchFamily="18" charset="-78"/>
                <a:cs typeface="Adobe Arabic" pitchFamily="18" charset="-78"/>
              </a:rPr>
            </a:br>
            <a:endParaRPr lang="en-US" sz="2800" dirty="0">
              <a:latin typeface="Adobe Arabic" pitchFamily="18" charset="-78"/>
              <a:cs typeface="Adobe Arabic" pitchFamily="18" charset="-78"/>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274638"/>
            <a:ext cx="8401080" cy="6226196"/>
          </a:xfrm>
        </p:spPr>
        <p:txBody>
          <a:bodyPr>
            <a:normAutofit/>
          </a:bodyPr>
          <a:lstStyle/>
          <a:p>
            <a:pPr algn="r"/>
            <a:r>
              <a:rPr lang="fa-IR" sz="4000" dirty="0" smtClean="0">
                <a:latin typeface="Adobe Arabic" pitchFamily="18" charset="-78"/>
                <a:cs typeface="Adobe Arabic" pitchFamily="18" charset="-78"/>
              </a:rPr>
              <a:t> </a:t>
            </a:r>
            <a:r>
              <a:rPr lang="fa-IR" sz="4000" dirty="0" smtClean="0">
                <a:solidFill>
                  <a:srgbClr val="FF0000"/>
                </a:solidFill>
                <a:latin typeface="Adobe Arabic" pitchFamily="18" charset="-78"/>
                <a:cs typeface="Adobe Arabic" pitchFamily="18" charset="-78"/>
              </a:rPr>
              <a:t>2-</a:t>
            </a:r>
            <a:r>
              <a:rPr lang="fa-IR" sz="4000" dirty="0" smtClean="0">
                <a:latin typeface="Adobe Arabic" pitchFamily="18" charset="-78"/>
                <a:cs typeface="Adobe Arabic" pitchFamily="18" charset="-78"/>
              </a:rPr>
              <a:t> از مصرف بتن باقیمانده ایی که بدون نظارت مهندس ناظر با افزودن آب برای استفاده مجدد آماده میشود جدا خودداری نمایید .</a:t>
            </a:r>
            <a:br>
              <a:rPr lang="fa-IR" sz="4000" dirty="0" smtClean="0">
                <a:latin typeface="Adobe Arabic" pitchFamily="18" charset="-78"/>
                <a:cs typeface="Adobe Arabic" pitchFamily="18" charset="-78"/>
              </a:rPr>
            </a:br>
            <a:r>
              <a:rPr lang="en-US" sz="4000" dirty="0" smtClean="0">
                <a:latin typeface="Adobe Arabic" pitchFamily="18" charset="-78"/>
                <a:cs typeface="Adobe Arabic" pitchFamily="18" charset="-78"/>
              </a:rPr>
              <a:t/>
            </a:r>
            <a:br>
              <a:rPr lang="en-US" sz="4000" dirty="0" smtClean="0">
                <a:latin typeface="Adobe Arabic" pitchFamily="18" charset="-78"/>
                <a:cs typeface="Adobe Arabic" pitchFamily="18" charset="-78"/>
              </a:rPr>
            </a:br>
            <a:r>
              <a:rPr lang="fa-IR" sz="4000" dirty="0" smtClean="0">
                <a:latin typeface="Adobe Arabic" pitchFamily="18" charset="-78"/>
                <a:cs typeface="Adobe Arabic" pitchFamily="18" charset="-78"/>
              </a:rPr>
              <a:t> </a:t>
            </a:r>
            <a:r>
              <a:rPr lang="fa-IR" sz="4000" dirty="0" smtClean="0">
                <a:solidFill>
                  <a:srgbClr val="FF0000"/>
                </a:solidFill>
                <a:latin typeface="Adobe Arabic" pitchFamily="18" charset="-78"/>
                <a:cs typeface="Adobe Arabic" pitchFamily="18" charset="-78"/>
              </a:rPr>
              <a:t>3-</a:t>
            </a:r>
            <a:r>
              <a:rPr lang="fa-IR" sz="4000" dirty="0" smtClean="0">
                <a:latin typeface="Adobe Arabic" pitchFamily="18" charset="-78"/>
                <a:cs typeface="Adobe Arabic" pitchFamily="18" charset="-78"/>
              </a:rPr>
              <a:t> به عنوان یک روش بسیار مناسب و مطمئن می توان از پوشش پلاستیکی که اطراف قالب می گذاریم استفاده کنیم، به این ترتیب که اطراف پلاستیک را مقداری بیشتر در نظر بگیریم و بعد از بتن­ریزی لبه های پلاستیک را روی بتن برگردانیم.</a:t>
            </a:r>
            <a:r>
              <a:rPr lang="en-US" sz="4000" dirty="0" smtClean="0">
                <a:latin typeface="Adobe Arabic" pitchFamily="18" charset="-78"/>
                <a:cs typeface="Adobe Arabic" pitchFamily="18" charset="-78"/>
              </a:rPr>
              <a:t/>
            </a:r>
            <a:br>
              <a:rPr lang="en-US" sz="4000" dirty="0" smtClean="0">
                <a:latin typeface="Adobe Arabic" pitchFamily="18" charset="-78"/>
                <a:cs typeface="Adobe Arabic" pitchFamily="18" charset="-78"/>
              </a:rPr>
            </a:br>
            <a:endParaRPr lang="en-US" sz="4000" dirty="0">
              <a:latin typeface="Adobe Arabic" pitchFamily="18" charset="-78"/>
              <a:cs typeface="Adobe Arabic" pitchFamily="18" charset="-78"/>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26196"/>
          </a:xfrm>
        </p:spPr>
        <p:txBody>
          <a:bodyPr>
            <a:noAutofit/>
          </a:bodyPr>
          <a:lstStyle/>
          <a:p>
            <a:pPr algn="ctr"/>
            <a:r>
              <a:rPr lang="fa-IR" sz="13800" dirty="0" smtClean="0">
                <a:solidFill>
                  <a:srgbClr val="FF0000"/>
                </a:solidFill>
                <a:latin typeface="Adobe Arabic" pitchFamily="18" charset="-78"/>
                <a:cs typeface="Adobe Arabic" pitchFamily="18" charset="-78"/>
              </a:rPr>
              <a:t/>
            </a:r>
            <a:br>
              <a:rPr lang="fa-IR" sz="13800" dirty="0" smtClean="0">
                <a:solidFill>
                  <a:srgbClr val="FF0000"/>
                </a:solidFill>
                <a:latin typeface="Adobe Arabic" pitchFamily="18" charset="-78"/>
                <a:cs typeface="Adobe Arabic" pitchFamily="18" charset="-78"/>
              </a:rPr>
            </a:br>
            <a:r>
              <a:rPr lang="fa-IR" sz="13800" dirty="0" smtClean="0">
                <a:solidFill>
                  <a:srgbClr val="FF0000"/>
                </a:solidFill>
                <a:latin typeface="Adobe Arabic" pitchFamily="18" charset="-78"/>
                <a:cs typeface="Adobe Arabic" pitchFamily="18" charset="-78"/>
              </a:rPr>
              <a:t>پایان                         </a:t>
            </a:r>
            <a:endParaRPr lang="en-US" sz="13800" dirty="0">
              <a:solidFill>
                <a:srgbClr val="FF0000"/>
              </a:solidFill>
              <a:latin typeface="Adobe Arabic" pitchFamily="18" charset="-78"/>
              <a:cs typeface="Adobe Arabic" pitchFamily="18" charset="-78"/>
            </a:endParaRPr>
          </a:p>
        </p:txBody>
      </p:sp>
    </p:spTree>
  </p:cSld>
  <p:clrMapOvr>
    <a:masterClrMapping/>
  </p:clrMapOvr>
  <p:transition>
    <p:wheel spokes="8"/>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1154</TotalTime>
  <Words>630</Words>
  <Application>Microsoft Office PowerPoint</Application>
  <PresentationFormat>On-screen Show (4:3)</PresentationFormat>
  <Paragraphs>78</Paragraphs>
  <Slides>58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Adobe Arabic</vt:lpstr>
      <vt:lpstr>Arial</vt:lpstr>
      <vt:lpstr>Calibri</vt:lpstr>
      <vt:lpstr>Lucida Sans Unicode</vt:lpstr>
      <vt:lpstr>Verdana</vt:lpstr>
      <vt:lpstr>Wingdings 2</vt:lpstr>
      <vt:lpstr>Wingdings 3</vt:lpstr>
      <vt:lpstr>Concourse</vt:lpstr>
      <vt:lpstr>PowerPoint Presentation</vt:lpstr>
      <vt:lpstr>PowerPoint Presentation</vt:lpstr>
      <vt:lpstr>پی چیست؟ پی، شالوده یا فونداسیون بخشی از ساختمان است که وظیفهٔ انتقال نیرو از ستونها به زمین و خاک اطرافش را بر عهده دارد که بر اساس نوع ساختمان، میزان نیروهای وارده، نوع زمین و شرایط آب و هوایی منطقه نوع و ابعاد آن مشخص می‌شود.</vt:lpstr>
      <vt:lpstr>    انواع پی؟؟  به طور کلی از لحاظ اجرایی ما دارای 4 نوع مدل اجرایی پی می باشیم که عبارتند از: ۱-پی منفرد (تکی، نقطه ای): پی هایی که بار یک ستون تکی  یا یک دیوار را حمل می نمایند.  برای ساختمانهایی که بار آن‌ها  به صورت متمرکز (نقطه ای)به  زمین منتقل می‌شود ساخته میگردد  مانند ساختمان‌های فلزی یا  ساختمان‌های بتنی.     </vt:lpstr>
      <vt:lpstr>لایه‌های پی‌های نقطه ای: زمین مناسب بتن مگر میلگردهای کف پی بتن اصلی صفحه زیر ستون  (در ساختمانهای اسکلت فلزی) </vt:lpstr>
      <vt:lpstr>2- پی مرکب :  پی هایی که بار دو تا چهار ستون را حمل می نمایند </vt:lpstr>
      <vt:lpstr>3- پی نواری :  این پی‌ها معمولاً در  ساختمان‌های آجری  مورد استفاده قرار  می گیرد. حداکثر  عمق پی‌های نواری  در حدود ۵۰ و عرض  پی قدری بزرگتر از  عرض دیوار روی آن می باشد.</vt:lpstr>
      <vt:lpstr>لایه‌های پی‌های نواری به ترتیب از پایین به بالا:  شفته ریزی کرسی چینی شناژ ملات ماسه سیمان برای ایزولاسیون رطوبتی قیر گونی ملات ماسه سیمان برای پوشش روی قیر گونی دیوار چینی اصلی </vt:lpstr>
      <vt:lpstr>  5- پی گسترده : به پی هایی اطلاق می‌شود که بار چند ستون یا دیوار را که در ردیف‌ها یا امتدادهای مختلف قرار دارند به زمین منتقل می نمایند. پی گستره ممکن است به شکل دال مجموعه تیر_دال و... ساخته شود.</vt:lpstr>
      <vt:lpstr>اجرای فونداسیون (پی)  مراحل ساخت فنداسيون ساختمان:</vt:lpstr>
      <vt:lpstr>اجراي فونداسيون ساختمان بايد به طور كاملا فني و دقيق روي زمين با مقاومت كافي و كنترل شده، باخاك كاملا متراكم و داراي دانه بندي و جنس مطلوب باشد، تا احيانا مسئله نشست و لغزش در پي رخ ندهد.به همین دلیل مهندس طراح باید از طبیعت و رفتار خاک زیر شالوده مطلع باشد.فرآیند شناسایی خاک تحت الارض و تعیین مشخصات فیزیکی آن &lt;&lt;شناسایی های تحت الارضی &gt;&gt;  نامیده میشود.</vt:lpstr>
      <vt:lpstr>هدف از این شناسایی ها تعیین اطلاعاتی است که مهندس ژئوتکنیک را در موارد زیر یاری میدهد.  1) انتخاب نوع و عمق شالوده ای که برای سازه مناسب است 2) تخمین ظرفیت باربری پی 3) تخمین نشستهای احتمالی 4) تعیین موقعیت سطح آب زیرزمینی 5) تعیین روشهای اجرایی برای تفسیر شرایط تحت الارض 6) تعیین خصوصیات شیمیایی خاک(جهت تعیین نوع سیمان مصرفی)</vt:lpstr>
      <vt:lpstr>برنامه مطالعات تحت الرضی شامل 3 گام اساسی زیر میباشد:  الف) جمع آوری اطلاعات اولیه ب) بازدید محلی ج) عملیات گمانه زنی و شناسایی</vt:lpstr>
      <vt:lpstr>     جمع آوری اطلاعات اولیه شامل : نوع سازه و کاربری آن،تعداد ستون ها،محدودیت های آیین نامه ای ملی و محلی بازدید محلی: در این مرحله به منظور بازرسی چشمی از منطقه بازدید محلی با هدف  بررسی لایه بندی خاک ،  بررسی روییدنیهای سطحی ،  بررسی تراز آب در چاههای  موجود در منطقه ،بررسی  شالوده های ساختمان های  اطراف انجام میگیرد. </vt:lpstr>
      <vt:lpstr>عملیات گمانه زنی و شناسایی : به چاههایی که در محل به منظور شناسایی خاک حفاری میشود گمانه گفته میشود. هیچ گونه قانون سرراستی جهت تعیین دقیق تعداد ، محل ، فواصل و عمق گمانه ها وجود ندارد.توصیه های زیر جهت تقریب مطمئن موارد فوق ارائه شده است. </vt:lpstr>
      <vt:lpstr>1) تعداد گمانه ها – فواصل گمانه ها در یک پروژه ایده ال متمرکز 5 گمانه لازم بوده که معمولا چهار گمانه در گوشه و یگی در مرکز حفاری میباشد.      </vt:lpstr>
      <vt:lpstr>در صورت محدودیت هزینه ها سه گمانه به یکی از حالت های زیر حفاری میشود.      </vt:lpstr>
      <vt:lpstr>از طرف دیگر فواصل گمانه ها نیز تا حد ممکن از  مقادیر پیشنهادی جدول زیر تجاوز نکند.         </vt:lpstr>
      <vt:lpstr>2) عمق گمانه :  - در حفر ترانشه ها و خاکبرداری های عمیق عمق گمانه  حداقل باید 1.5 برابر عمق خاکبرداری باشد  - برای شالوده های عمیق (شمع ها) عمق گمانه 10 تا  30  متر پایین تر از کف شمع به نحوی که خاک در  محدوده تاثیر تنش های حاصل از شمع شناسایی گردد.  - برای خطوط لوله 0.5 تا  2 برابر قطر لوله از کف بستر لوله  - برای تونل حداقل به اندازه قطر تونل در زیر کف تونل -برای خاکریزها حداقل برابر ارتفاع خاکریز    </vt:lpstr>
      <vt:lpstr> روشهای گمانه زنی : 1- حفر چاهک دستی این چاهک ها معمولا توسط مقنی و با کمک وسایل دستی حفاری میشوند .عمق آنها  معمولا 15 تا 20 متر می باشد.    </vt:lpstr>
      <vt:lpstr>2-حفر گمانه با استفاده از مته های مارپیچ (دستی و ماشینی ) ساده ترین روش گمانه زنی است.کاربرد این مته ها در راهها و ساختمانهای سبک است و عمق پیشروی آنها 3 تا 5 متر است.نوع ماشینی ؛60 تا 70 متر .      </vt:lpstr>
      <vt:lpstr>مته های مارپیچ در دو نوع با محور تو خالی و محور توپر وجود دارند.در حالت استفاده از مته با محور توخالی ، در نوک مته یک کلاهک وجود دارد که توسط میله حفاری می توان ان را از ته گمانه بیرون   کشید و لازم نیست مته از گمانه بیرون کشیده شود.      </vt:lpstr>
      <vt:lpstr>3- حفاری درونی :  در این روش سر مته هایی که به سر میله حفاری نصب شده اند با سرعت زیادی دوران کرده و خاک و سنگ موجود در نوک سرمته را بریده ، آسیاب کرده و در عمق نفوذ میکند.از حفاری دورانی میتوان  در ماسه ، رس و سنگ استفاده کرد.در حین حفاری آب یا گل حفاری تحت فشار از طریق میله مته به سمت سر مته فرستاده میشود .این آب در برگشت به سمت بالا محصولات بدست آمده از حفاری را به سطح زمین می آورد .گمانه های حفر شد به وسیله این روش قطری بین 50 تا 200 میلیمتر دارند </vt:lpstr>
      <vt:lpstr>3- حفاری پرکاشن  در این روش با بلند کردن و رها کردن یک سر مته سنگین ، ته گمانه خرد شده و محصولات حفاری با تزریق آب به سطح زمین آورده می شود.      </vt:lpstr>
      <vt:lpstr>و اما نكات اجرایی زیرسازی پی : قبل از شرح مختصر مراحل ساخت پی، باید توجه داشت كه ابتدا نقشه فونداسیون را روی زمین پیاده كرد و برای پیاده كردن دقیق آن بایستی جزییات لازم در نقشه مشخص گردیده باشد.     </vt:lpstr>
      <vt:lpstr>از جمله سازه به شكل یك شبكه متشكل از محورهای عمود بر هم تقسیم شده باشد و موقعیت محورهای مزبور نسبت به محورها یا نقاط مشخصی نظیر محور جاده، بر زمین بر ساختمان مجاور و غیره تعیین شده باشد. (معمولاً محورهای یك امتداد با اعداد 3،2،1 و... شماره گذاری می شوند و محورهای امتداد دیگر با حروف C-B-A و... مشخص می گردند(. همچنین باید توجه داشت ستونها و فونداسیونهایی را كه وضعیت مشابهی از نظر بار وارد شده دارند، با علامت یكسان نشان می دهند : ستون را با حرف C و فونداسیون را با حرف F نشان میدهند.</vt:lpstr>
      <vt:lpstr>ترسیم مقاطع و نوشتن رقوم زیر فونداسیون، رقوم روی فونداسیون، ارتفاع قسمت های محتلف پی، مشخصات بتن مگر، مشخصات بتن، نوع و قطر كلی كه برای بریدن میلگرد ها مورد نیاز است باید در نقشه مشخص باشد.      </vt:lpstr>
      <vt:lpstr>از بین بردن گیاهان و ناهمواری ها : قبل از پیاده كردن نقشه روی زمین اگر زمین ناهموار بود یا دارای گیاهان و درختان باشد، باید نقاط مرتفع ناترازی كه مورد نظر است برداشته شود و محوطه از كلیه گیاهان و ریشه ها پاك گردد.     </vt:lpstr>
      <vt:lpstr>تعیین شمال جغرافیا یی : سپس شمال جغرافیایی نقشه را با جهت شمال جغرافیایی محلی كه قرار است پروژه در آن اجرا شود منطبق می كنیم ( به این كار توجیه نقشه می گویند)      </vt:lpstr>
      <vt:lpstr>   پس از این كار، یكی از محورها را (محور طولی یا عرضی ) كه موقیعت آن روی نقشه مشخص شده است، بر روی زمین، حداقل با دو میخ در ابتدا و انتها، پیاده می كنیم كه به این امتداد محور مبنا گفته می شود. حال سایر محورهای طولی و عرضی را از روی محور مبنامشخص می كنیم (بوسیله میخ چوبی یا فلزی روی زمین) كه با دوربین تیودولیت و برایكارهای كوچك با ریسمان كار و متر و گونیا و شاقول اجرا می شود.     </vt:lpstr>
      <vt:lpstr>خاکبرداری : حال اگر بخواهیم محل فونداسیون را خاكبرداری كنیم به ارتفاع خاكبرداری احتیاج داریم كه حتی اگر زمین دارای پستی و بلندی جزیی باشد، نقطه ای بصورت مبنا (B. M) باید در محوطه كارگاه مشخص شود ( این نقطه بوسیله بتنو میلگرد در نقطه ای كه دور از آسیب باشد ساخته می شود).      </vt:lpstr>
      <vt:lpstr>نكات فنی و اجرایی مربوط به خاكبرداری:    داشتن اطلاعات اولیه از زمین و نوع خاك از قبیل :  مقاومت فشاری نوع خاك بویژه از نظر ریزشی بودن، وضعیت آب زیرزمینی، عمق یخبندان و سایر ویژگیهای فیزیكی خاك كه با آزمایش از خاك آن محل مشخص می شود، بسیار ضروری است.       </vt:lpstr>
      <vt:lpstr> حفاظت جداره :  در خاكبرداری پی هنگام اجرا زیرزمین ممكن است جداره ریزش كند یا اینكه زیر پی مجاور خالی شود كه با وسایل مختلفی باید شمع بندی و حفاظت جداره صورت گیرد؛ به طوری كه مقاومت كافی در برابر بارهای وارده داشته باشد       </vt:lpstr>
      <vt:lpstr>شفته ریزی :  شفته آهكی كه با دوغاب ساخته و خوب عمل‌آوری شده    باشد، دارای مقاومت 7 روزه معادل 5 كیلوگرم بر سانتیمتر مربع و تاب 28 روزه حدوداً 10 كیلوگرم بر سانتیمتر مربع خواهد بود كه این مقاومت برای بستر پی ساختمان یا راه كاملاً مناسب می‌باشد.      </vt:lpstr>
      <vt:lpstr>نکات شفته ریزی : 1- آهک مصرفی میبایست حتما برای استفاده در شفته قبلا بصورت کامل شکفته شده باشد و پس از سرند شدن برای تهیه شفته مورد استفاده قرار بگیرد.  2- آهک باید حتما به صورت دوغاب با خاک درشت دانه مخلوط گردد .  3- بهتر است که مخلوط شفته آهک در کنار فونداسیون ساخته شود تا براحتی بتوان آن را به داخل محل خاک برداری منتقل کرد. در شکل  های بعدی اجرای صحیح و اجرای نادرست را مشاهده میکنید  </vt:lpstr>
      <vt:lpstr>PowerPoint Presentation</vt:lpstr>
      <vt:lpstr> 4- دقت شود که بتن مگر حتما پس از عمل آوری کامل شفته آهک و رسیدن آن به گیرش اولیه بر روی آن اجرا شود تا آب بتن توسط شفته جذب نشده و موجب پوکی بتن مگر نگردد .  5- توجه شود که بر روی شفته اجرا شده تا زمانی که شفته به مقاومت 5/1 کیلوگرم بر سانتیمتر مربع نرسیده است بارگذاری صورت نگیرد ( شفته آهکی زمانی به مقاومت 5/1 کیلوگرم بر متر مربع  رسیده است که اثر کفش شما پس از راه رفتن بر روی آن باقی نماند)  6- باید توجه نمود که هر چه میزان رس در خاک مصرفی برای شفته بیشتر باشد میزان آهک مصرفی نیز باید بالاتر رود.    </vt:lpstr>
      <vt:lpstr>PowerPoint Presentation</vt:lpstr>
      <vt:lpstr>بتن مگر : بتن مگر یا به تعریفی بتن رگلاژ کف قالبندی فونداسیون در حقیقت یک بتن با مقدار سیمان کم (100 تا 150 کیلوگرم سیمان بر مترمکعب) است که جهت آماده سازی بستر خاکبرداری شده  برای آرماتوربندی و  صفحه گذاری اجرا  میگردد.    </vt:lpstr>
      <vt:lpstr>        توجه به نکات ذیل جهت اجرای بتن مگر الزامی است :  1- قبل از اجرای بتن مگر حتما خاک بستر را مرطوب نمایید تا آب بتن جذب خاک  نگردد و کیفیت آن پایین نیاید .  2- در صورتی که بتن مگر را بر روی شفته آهک اجرا میکنید حتما توجه داشته باشید که شفته به مقاومت 5/1 کیلوگرم بر متر مربع رسیده باشد     3- شفته آهک میبایست قبل از اجرای بتن مگر مرطوب شده باشد تا آب بتن را جذب نکند. توجه داشته باشید زمانی که آهک هنوز جذب آب داشته باشد  موجب پوکی بتن مگر میشود.         </vt:lpstr>
      <vt:lpstr>    4- بتن مگر جهت پاکسازی کف و اجرای دقیقتر فاصله گذاری آرماتوربندی از کف انجام میگردد بنابراین به تمییز و یکنواخت بودن سطح آن دقت کنید تا آرماتوربندی بهتری داشته باشید  5- معمولا بتن مگر توسط دستگاههای مخلوط کن ( بتونیر ) کوچک ساخته میشود دقت نمایید که حداقل دو (2) دقیقه پس از اضافه کردن آب، بتن درون دستگاه به خوبی مخلوط شود و سپس مورد استفاده قرار بگیرد.  6- بعد از ریختن بتن مگر با توجه به دمای هوا حدود 10 ساعت سطح آن را مرطوب نگه دارید(با پاشیدن آب) و بعد از گذشت یک (1) روز  می توانید عملیات بعدی را شروع کنید و روی بتن مگر راه بروید.    </vt:lpstr>
      <vt:lpstr>آرماتوربندی :  آرماتوربندی کاری تخصصی میباشد و دقت و نظارت جدی بر آن الزامی است. در برخی شرایط تمام مقاومت پی را آرماتورها  تامین می کنند.      </vt:lpstr>
      <vt:lpstr>.                    ذکر چند مطلب در خصوص آشنایی با نکات اجرایی آرماتوربندی الزامی است :  1- به هیچ عنوان از آرماتورهای زنگ زده و یا آغشته به روغن نباید استفاده شود در صورت آلودگی آرماتورها به روغن یا زنگ زدگی آنها، باید قبل از اجرای آرماتوربندی به پاکسازی آنها اقدام و بعد از تایید  دستگاه نظارت به بتن ریزی اقدام گردد   2- فاصله خاموتها از یکدیگر باید حداکثر 20 سانتی متر باشند و دستگاه نظارت موظف است که در صورت عدم رعایت از سوی پیمانکار از اجرای بتن ریزی جلوگیری نماید.                    </vt:lpstr>
      <vt:lpstr>PowerPoint Presentation</vt:lpstr>
      <vt:lpstr>  3- خاموتها باید بوسیله سیم آرماتوربندی به تمام میلگردهای طولی مهار شوند این امر الزامی است و میبایست توسط پیمانکار رعایت گردد و در صورت عدم توجه دستگاه نظارت موظف است از ادامه کار پیمانکار تا رفع نواقص فوق جلوگیری نماید.  4- تمام میلگردها باید توسط قیچی مخصوص بریده شود و جدا از بریدن میلگردها به کمک دستگاه هوا برش خودداری شود . توجه داشته باشید که حرارت موجب افت کیفیت میلگردها میگردد. 5- از خم کردن آرماتور در دمای پایین تر از 5 درجه سانتیگراد خودداری شود و از باز و بسته کردن خمها به منظور شکل دادن مجدد میلگردها جدا خودداری شود در صورت مشاهده چنین مواردی باید به مهندس ناظر اعلام گردد تا مطابق ضوابط اقدام شود .   </vt:lpstr>
      <vt:lpstr>PowerPoint Presentation</vt:lpstr>
      <vt:lpstr>  8- فاصله بین میلگردها تا سطح قالب بندی حداقل باید 2/5 سانتی متر باشد تا پوشش بتنی روی میلگردها دارای ضخامت مناسبی باشد و علاوه بر ایجاد پیوستگی بین بتن و میلگرد، محافظت میلگردها در برابر خوردگی و زنگ زدگی انجام شود    7- توجه داشته باشید که آرماتوربندی را که توسط مهندس ناظر تایید شده است نباید قبل از بتن ریزی تغییر داد    </vt:lpstr>
      <vt:lpstr>PowerPoint Presentation</vt:lpstr>
      <vt:lpstr>     قالب بندی:   رعایت نکات زیر در قالب بندی برای هر چه بهتر اجرا شدن پی مفید است.  1- یکنواخت بودن آجرچینی پی و ایجاد سطح صاف و بدون خلل و فرج برای پی ها مفید و بلکه لازم است.  2- مقاومت آجر چینی، در صورتی که پشت آن خاک دستی (خاک نا مناسب) باشد اهمیت زیادی دارد چرا که نیروی خاک به سمت داخل باعث شکسته شدن قالب آجری خواهد شد.  3- همچنین درصورتی که پشت آجرچینی خالی است مقاومت قالب آجری اهمیت زیادی دارد به طوری که باید وزن بتن و نیروی لرزاندن (ویبره) بتن و وزن کارگر را تحمل کند. در صورتی که دیوار آجری در حین بتن ریزی دچار شکستگی و جابجایی شود باعث تخریب پی خواهد شد. بازسازی دیواره و توقف عملیات بتن ریزی و ایجاد پیوستگی بین بتن قدیم و جدید هزینه های زیادی به دنبال خواهد داشت.     </vt:lpstr>
      <vt:lpstr> 5- اگر لایه سیمان کاری صورت نگرفت حتما باید روی قالب آجری یک لایه پلاستیک ضخیم و مناسب برای جلوگیری از جذب آب بتن توسط آجر کشیده شود     بیاموزیم:   قالب بندی فلزی بهترین نوع قالب بندی می باشد. البته نکات و پیش­بینی­های لازم برای استفاده از قالب فلزی از جمله، اضافه خاکبرداری برای بستن قالب، پر کردن پشت پی بعد از باز کردن قالب با پرکننده­های مناسب و دسترسی کم به قالب فلزی باعث می­شود که استفاده از قالب فلزی استقبال چندانی نداشته باشد.      </vt:lpstr>
      <vt:lpstr>6- در صورت نیاز و تمایل میتوان پس از گیرش اولیه بتن فونداسیون و با اطلاع مهندس ناظر ساختمان نسبت به جمع آوری قالب­بندی آجری برای استفاده مجدد آجر آن در ساختمان اقدام نمود.        </vt:lpstr>
      <vt:lpstr>   بتن ریزی  :  بتن آماده توسط ماشینهای حمل بتن (میکسر) برای شما آورده میشود، توجه به نکات زیر برای اجرای یک بتن ریزی صحیح الزامی است: 1- از افزودن آب به بتن حمل شده بدون اجازه مهندس ناظر اکیداً خودداری شود. ( معمولا کارگران برای سهولت کار خود و روانی بیشتر بتن به آن آب می­افزایند  که این امر از مقاومت  بتن به شدت میکاهد لذا  توجه به این امر بسیار  دارای اهمیت میباشد.)     </vt:lpstr>
      <vt:lpstr>2- معمولا ً مقداری از بتن در ابتدای تخلیه از میکسر دارای دانه بندی نا مناسبی میباشد. باید دقت شود این بتن که دارای کیفیت نا مناسب جهت بتن ریزی میباشد، مورد مصرف کارهای ساختمانی قرار نگیرد.    3- قبل از بتن ریزی حتماً باید درون قالبهای فونداسیون که آرماتور گذاری شده است از خاکهای ریزشی و نخاله های ساختمانی کاملاً پاکسازی گردد  </vt:lpstr>
      <vt:lpstr>4- در زمان بتن ریزی استفاده از دستگاه ویبره الزامی است، پیمانکاران موظف هستند قبل از آغاز بتن ریزی از سلامت دستگاه ویبره خود  اطمینان حاصل نمایند .        </vt:lpstr>
      <vt:lpstr>  5 . برای آنکه آجرهای قالبندی فونداسیون آب شیرآبه بتن را جذب نکند استفاده از پوشش پلاستیکی (کاور)  الزامی است.  6- قبل از اینکه بتن ریزی آغاز شود برای اینکه آب بتن سریعا توسط بستر خارج نشود لازم است بستر بتن­ریزی مرطوب شود، البته باید مراقب بود تا آب در کف پی جمع نشود و فقط رطوبت وجود داشته باشد.         </vt:lpstr>
      <vt:lpstr>نگهداری بتن پی :   بعد از آنکه بتن ریخته شد و گیرش اولیه پیدا کرد (بعد از حدود 1.5 ساعت) عملیات خاصی برای نگهداری بتن باید آغاز شود. این عملیات که به عمل­آوری یا نگهداری بتن موسوم است باعث می شود تا به مشخصات مورد نظر برای بتن که در طراحی در نظر گرفته شده است دست پیدا کنیم و مقاومت و دوام بتن را بالا ببریم.   1- تمامی مقاطعی که بتن ریزی میگردد تا 3 روز باید آب پاشی شده و تا هفت روز مرطوب نگه داشته شود. این عمل در بالا بردن کیفیت بتن بسیار حائز اهمیت است.     </vt:lpstr>
      <vt:lpstr> 2- از مصرف بتن باقیمانده ایی که بدون نظارت مهندس ناظر با افزودن آب برای استفاده مجدد آماده میشود جدا خودداری نمایید .   3- به عنوان یک روش بسیار مناسب و مطمئن می توان از پوشش پلاستیکی که اطراف قالب می گذاریم استفاده کنیم، به این ترتیب که اطراف پلاستیک را مقداری بیشتر در نظر بگیریم و بعد از بتن­ریزی لبه های پلاستیک را روی بتن برگردانیم. </vt:lpstr>
      <vt:lpstr> پایان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tadbir sabz</dc:creator>
  <cp:lastModifiedBy>NP</cp:lastModifiedBy>
  <cp:revision>108</cp:revision>
  <dcterms:created xsi:type="dcterms:W3CDTF">2012-05-09T17:34:53Z</dcterms:created>
  <dcterms:modified xsi:type="dcterms:W3CDTF">2015-09-03T11:40:22Z</dcterms:modified>
</cp:coreProperties>
</file>