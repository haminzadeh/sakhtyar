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20" r:id="rId4"/>
  </p:sldMasterIdLst>
  <p:notesMasterIdLst>
    <p:notesMasterId r:id="rId39"/>
  </p:notesMasterIdLst>
  <p:handoutMasterIdLst>
    <p:handoutMasterId r:id="rId40"/>
  </p:handoutMasterIdLst>
  <p:sldIdLst>
    <p:sldId id="257" r:id="rId5"/>
    <p:sldId id="258" r:id="rId6"/>
    <p:sldId id="264" r:id="rId7"/>
    <p:sldId id="265" r:id="rId8"/>
    <p:sldId id="266" r:id="rId9"/>
    <p:sldId id="262" r:id="rId10"/>
    <p:sldId id="263" r:id="rId11"/>
    <p:sldId id="267" r:id="rId12"/>
    <p:sldId id="268" r:id="rId13"/>
    <p:sldId id="269" r:id="rId14"/>
    <p:sldId id="270" r:id="rId15"/>
    <p:sldId id="271" r:id="rId16"/>
    <p:sldId id="272" r:id="rId17"/>
    <p:sldId id="273" r:id="rId18"/>
    <p:sldId id="274" r:id="rId19"/>
    <p:sldId id="275" r:id="rId20"/>
    <p:sldId id="284" r:id="rId21"/>
    <p:sldId id="283" r:id="rId22"/>
    <p:sldId id="285" r:id="rId23"/>
    <p:sldId id="286" r:id="rId24"/>
    <p:sldId id="287" r:id="rId25"/>
    <p:sldId id="278" r:id="rId26"/>
    <p:sldId id="279" r:id="rId27"/>
    <p:sldId id="280" r:id="rId28"/>
    <p:sldId id="288" r:id="rId29"/>
    <p:sldId id="289" r:id="rId30"/>
    <p:sldId id="290" r:id="rId31"/>
    <p:sldId id="291" r:id="rId32"/>
    <p:sldId id="294" r:id="rId33"/>
    <p:sldId id="295" r:id="rId34"/>
    <p:sldId id="293" r:id="rId35"/>
    <p:sldId id="296" r:id="rId36"/>
    <p:sldId id="297" r:id="rId37"/>
    <p:sldId id="298" r:id="rId38"/>
  </p:sldIdLst>
  <p:sldSz cx="12192000" cy="6858000"/>
  <p:notesSz cx="7053263" cy="93091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88869" autoAdjust="0"/>
  </p:normalViewPr>
  <p:slideViewPr>
    <p:cSldViewPr snapToGrid="0">
      <p:cViewPr varScale="1">
        <p:scale>
          <a:sx n="66" d="100"/>
          <a:sy n="66" d="100"/>
        </p:scale>
        <p:origin x="900" y="66"/>
      </p:cViewPr>
      <p:guideLst/>
    </p:cSldViewPr>
  </p:slideViewPr>
  <p:notesTextViewPr>
    <p:cViewPr>
      <p:scale>
        <a:sx n="3" d="2"/>
        <a:sy n="3" d="2"/>
      </p:scale>
      <p:origin x="0" y="0"/>
    </p:cViewPr>
  </p:notesTextViewPr>
  <p:notesViewPr>
    <p:cSldViewPr snapToGrid="0" showGuides="1">
      <p:cViewPr varScale="1">
        <p:scale>
          <a:sx n="79" d="100"/>
          <a:sy n="79" d="100"/>
        </p:scale>
        <p:origin x="3198" y="9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56414" cy="467072"/>
          </a:xfrm>
          <a:prstGeom prst="rect">
            <a:avLst/>
          </a:prstGeom>
        </p:spPr>
        <p:txBody>
          <a:bodyPr vert="horz" lIns="93497" tIns="46749" rIns="93497" bIns="46749" rtlCol="0"/>
          <a:lstStyle>
            <a:lvl1pPr algn="l">
              <a:defRPr sz="1200"/>
            </a:lvl1pPr>
          </a:lstStyle>
          <a:p>
            <a:endParaRPr lang="en-US"/>
          </a:p>
        </p:txBody>
      </p:sp>
      <p:sp>
        <p:nvSpPr>
          <p:cNvPr id="3" name="Date Placeholder 2"/>
          <p:cNvSpPr>
            <a:spLocks noGrp="1"/>
          </p:cNvSpPr>
          <p:nvPr>
            <p:ph type="dt" sz="quarter" idx="1"/>
          </p:nvPr>
        </p:nvSpPr>
        <p:spPr>
          <a:xfrm>
            <a:off x="3995217" y="0"/>
            <a:ext cx="3056414" cy="467072"/>
          </a:xfrm>
          <a:prstGeom prst="rect">
            <a:avLst/>
          </a:prstGeom>
        </p:spPr>
        <p:txBody>
          <a:bodyPr vert="horz" lIns="93497" tIns="46749" rIns="93497" bIns="46749" rtlCol="0"/>
          <a:lstStyle>
            <a:lvl1pPr algn="r">
              <a:defRPr sz="1200"/>
            </a:lvl1pPr>
          </a:lstStyle>
          <a:p>
            <a:fld id="{6157B527-9545-4A18-82C6-985C2D673EE0}" type="datetimeFigureOut">
              <a:rPr lang="en-US" smtClean="0"/>
              <a:t>10/21/2018</a:t>
            </a:fld>
            <a:endParaRPr lang="en-US"/>
          </a:p>
        </p:txBody>
      </p:sp>
      <p:sp>
        <p:nvSpPr>
          <p:cNvPr id="4" name="Footer Placeholder 3"/>
          <p:cNvSpPr>
            <a:spLocks noGrp="1"/>
          </p:cNvSpPr>
          <p:nvPr>
            <p:ph type="ftr" sz="quarter" idx="2"/>
          </p:nvPr>
        </p:nvSpPr>
        <p:spPr>
          <a:xfrm>
            <a:off x="0" y="8842030"/>
            <a:ext cx="3056414" cy="467071"/>
          </a:xfrm>
          <a:prstGeom prst="rect">
            <a:avLst/>
          </a:prstGeom>
        </p:spPr>
        <p:txBody>
          <a:bodyPr vert="horz" lIns="93497" tIns="46749" rIns="93497" bIns="46749" rtlCol="0" anchor="b"/>
          <a:lstStyle>
            <a:lvl1pPr algn="l">
              <a:defRPr sz="1200"/>
            </a:lvl1pPr>
          </a:lstStyle>
          <a:p>
            <a:endParaRPr lang="en-US"/>
          </a:p>
        </p:txBody>
      </p:sp>
      <p:sp>
        <p:nvSpPr>
          <p:cNvPr id="5" name="Slide Number Placeholder 4"/>
          <p:cNvSpPr>
            <a:spLocks noGrp="1"/>
          </p:cNvSpPr>
          <p:nvPr>
            <p:ph type="sldNum" sz="quarter" idx="3"/>
          </p:nvPr>
        </p:nvSpPr>
        <p:spPr>
          <a:xfrm>
            <a:off x="3995217" y="8842030"/>
            <a:ext cx="3056414" cy="467071"/>
          </a:xfrm>
          <a:prstGeom prst="rect">
            <a:avLst/>
          </a:prstGeom>
        </p:spPr>
        <p:txBody>
          <a:bodyPr vert="horz" lIns="93497" tIns="46749" rIns="93497" bIns="46749" rtlCol="0" anchor="b"/>
          <a:lstStyle>
            <a:lvl1pPr algn="r">
              <a:defRPr sz="1200"/>
            </a:lvl1pPr>
          </a:lstStyle>
          <a:p>
            <a:fld id="{E06BD15E-A83F-499B-AE2F-72149146BFF5}" type="slidenum">
              <a:rPr lang="en-US" smtClean="0"/>
              <a:t>‹#›</a:t>
            </a:fld>
            <a:endParaRPr lang="en-US"/>
          </a:p>
        </p:txBody>
      </p:sp>
    </p:spTree>
    <p:extLst>
      <p:ext uri="{BB962C8B-B14F-4D97-AF65-F5344CB8AC3E}">
        <p14:creationId xmlns:p14="http://schemas.microsoft.com/office/powerpoint/2010/main" val="152833932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56414" cy="467072"/>
          </a:xfrm>
          <a:prstGeom prst="rect">
            <a:avLst/>
          </a:prstGeom>
        </p:spPr>
        <p:txBody>
          <a:bodyPr vert="horz" lIns="93497" tIns="46749" rIns="93497" bIns="46749" rtlCol="0"/>
          <a:lstStyle>
            <a:lvl1pPr algn="l">
              <a:defRPr sz="1200"/>
            </a:lvl1pPr>
          </a:lstStyle>
          <a:p>
            <a:endParaRPr lang="en-US"/>
          </a:p>
        </p:txBody>
      </p:sp>
      <p:sp>
        <p:nvSpPr>
          <p:cNvPr id="3" name="Date Placeholder 2"/>
          <p:cNvSpPr>
            <a:spLocks noGrp="1"/>
          </p:cNvSpPr>
          <p:nvPr>
            <p:ph type="dt" idx="1"/>
          </p:nvPr>
        </p:nvSpPr>
        <p:spPr>
          <a:xfrm>
            <a:off x="3995217" y="0"/>
            <a:ext cx="3056414" cy="467072"/>
          </a:xfrm>
          <a:prstGeom prst="rect">
            <a:avLst/>
          </a:prstGeom>
        </p:spPr>
        <p:txBody>
          <a:bodyPr vert="horz" lIns="93497" tIns="46749" rIns="93497" bIns="46749" rtlCol="0"/>
          <a:lstStyle>
            <a:lvl1pPr algn="r">
              <a:defRPr sz="1200"/>
            </a:lvl1pPr>
          </a:lstStyle>
          <a:p>
            <a:fld id="{A382A402-9AEC-46CD-BFFB-8C45353B9417}" type="datetimeFigureOut">
              <a:rPr lang="en-US" smtClean="0"/>
              <a:t>10/21/2018</a:t>
            </a:fld>
            <a:endParaRPr lang="en-US"/>
          </a:p>
        </p:txBody>
      </p:sp>
      <p:sp>
        <p:nvSpPr>
          <p:cNvPr id="4" name="Slide Image Placeholder 3"/>
          <p:cNvSpPr>
            <a:spLocks noGrp="1" noRot="1" noChangeAspect="1"/>
          </p:cNvSpPr>
          <p:nvPr>
            <p:ph type="sldImg" idx="2"/>
          </p:nvPr>
        </p:nvSpPr>
        <p:spPr>
          <a:xfrm>
            <a:off x="733425" y="1163638"/>
            <a:ext cx="5586413" cy="3141662"/>
          </a:xfrm>
          <a:prstGeom prst="rect">
            <a:avLst/>
          </a:prstGeom>
          <a:noFill/>
          <a:ln w="12700">
            <a:solidFill>
              <a:prstClr val="black"/>
            </a:solidFill>
          </a:ln>
        </p:spPr>
        <p:txBody>
          <a:bodyPr vert="horz" lIns="93497" tIns="46749" rIns="93497" bIns="46749" rtlCol="0" anchor="ctr"/>
          <a:lstStyle/>
          <a:p>
            <a:endParaRPr lang="en-US"/>
          </a:p>
        </p:txBody>
      </p:sp>
      <p:sp>
        <p:nvSpPr>
          <p:cNvPr id="5" name="Notes Placeholder 4"/>
          <p:cNvSpPr>
            <a:spLocks noGrp="1"/>
          </p:cNvSpPr>
          <p:nvPr>
            <p:ph type="body" sz="quarter" idx="3"/>
          </p:nvPr>
        </p:nvSpPr>
        <p:spPr>
          <a:xfrm>
            <a:off x="705327" y="4480004"/>
            <a:ext cx="5642610" cy="3665458"/>
          </a:xfrm>
          <a:prstGeom prst="rect">
            <a:avLst/>
          </a:prstGeom>
        </p:spPr>
        <p:txBody>
          <a:bodyPr vert="horz" lIns="93497" tIns="46749" rIns="93497" bIns="4674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42030"/>
            <a:ext cx="3056414" cy="467071"/>
          </a:xfrm>
          <a:prstGeom prst="rect">
            <a:avLst/>
          </a:prstGeom>
        </p:spPr>
        <p:txBody>
          <a:bodyPr vert="horz" lIns="93497" tIns="46749" rIns="93497" bIns="46749" rtlCol="0" anchor="b"/>
          <a:lstStyle>
            <a:lvl1pPr algn="l">
              <a:defRPr sz="1200"/>
            </a:lvl1pPr>
          </a:lstStyle>
          <a:p>
            <a:endParaRPr lang="en-US"/>
          </a:p>
        </p:txBody>
      </p:sp>
      <p:sp>
        <p:nvSpPr>
          <p:cNvPr id="7" name="Slide Number Placeholder 6"/>
          <p:cNvSpPr>
            <a:spLocks noGrp="1"/>
          </p:cNvSpPr>
          <p:nvPr>
            <p:ph type="sldNum" sz="quarter" idx="5"/>
          </p:nvPr>
        </p:nvSpPr>
        <p:spPr>
          <a:xfrm>
            <a:off x="3995217" y="8842030"/>
            <a:ext cx="3056414" cy="467071"/>
          </a:xfrm>
          <a:prstGeom prst="rect">
            <a:avLst/>
          </a:prstGeom>
        </p:spPr>
        <p:txBody>
          <a:bodyPr vert="horz" lIns="93497" tIns="46749" rIns="93497" bIns="46749" rtlCol="0" anchor="b"/>
          <a:lstStyle>
            <a:lvl1pPr algn="r">
              <a:defRPr sz="1200"/>
            </a:lvl1pPr>
          </a:lstStyle>
          <a:p>
            <a:fld id="{4BD6FFF6-EFF5-46FA-B62C-F141E1274D59}" type="slidenum">
              <a:rPr lang="en-US" smtClean="0"/>
              <a:t>‹#›</a:t>
            </a:fld>
            <a:endParaRPr lang="en-US"/>
          </a:p>
        </p:txBody>
      </p:sp>
    </p:spTree>
    <p:extLst>
      <p:ext uri="{BB962C8B-B14F-4D97-AF65-F5344CB8AC3E}">
        <p14:creationId xmlns:p14="http://schemas.microsoft.com/office/powerpoint/2010/main" val="7556670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BD6FFF6-EFF5-46FA-B62C-F141E1274D59}" type="slidenum">
              <a:rPr lang="en-US" smtClean="0"/>
              <a:t>1</a:t>
            </a:fld>
            <a:endParaRPr lang="en-US"/>
          </a:p>
        </p:txBody>
      </p:sp>
    </p:spTree>
    <p:extLst>
      <p:ext uri="{BB962C8B-B14F-4D97-AF65-F5344CB8AC3E}">
        <p14:creationId xmlns:p14="http://schemas.microsoft.com/office/powerpoint/2010/main" val="40052295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BD6FFF6-EFF5-46FA-B62C-F141E1274D59}" type="slidenum">
              <a:rPr lang="en-US" smtClean="0">
                <a:solidFill>
                  <a:prstClr val="black"/>
                </a:solidFill>
              </a:rPr>
              <a:pPr/>
              <a:t>29</a:t>
            </a:fld>
            <a:endParaRPr lang="en-US">
              <a:solidFill>
                <a:prstClr val="black"/>
              </a:solidFill>
            </a:endParaRPr>
          </a:p>
        </p:txBody>
      </p:sp>
    </p:spTree>
    <p:extLst>
      <p:ext uri="{BB962C8B-B14F-4D97-AF65-F5344CB8AC3E}">
        <p14:creationId xmlns:p14="http://schemas.microsoft.com/office/powerpoint/2010/main" val="361177282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11"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14" name="Title 13"/>
          <p:cNvSpPr>
            <a:spLocks noGrp="1"/>
          </p:cNvSpPr>
          <p:nvPr>
            <p:ph type="ctrTitle"/>
          </p:nvPr>
        </p:nvSpPr>
        <p:spPr>
          <a:xfrm>
            <a:off x="1910080" y="1179705"/>
            <a:ext cx="9875520" cy="1472184"/>
          </a:xfrm>
          <a:prstGeom prst="rect">
            <a:avLst/>
          </a:prstGeom>
        </p:spPr>
        <p:txBody>
          <a:bodyPr anchor="b"/>
          <a:lstStyle>
            <a:lvl1pPr algn="ctr">
              <a:defRPr/>
            </a:lvl1pPr>
            <a:extLst/>
          </a:lstStyle>
          <a:p>
            <a:r>
              <a:rPr kumimoji="0" lang="en-US" smtClean="0"/>
              <a:t>Click to edit Master title style</a:t>
            </a:r>
            <a:endParaRPr kumimoji="0" lang="en-US" dirty="0"/>
          </a:p>
        </p:txBody>
      </p:sp>
      <p:sp>
        <p:nvSpPr>
          <p:cNvPr id="22" name="Subtitle 21"/>
          <p:cNvSpPr>
            <a:spLocks noGrp="1"/>
          </p:cNvSpPr>
          <p:nvPr>
            <p:ph type="subTitle" idx="1"/>
          </p:nvPr>
        </p:nvSpPr>
        <p:spPr>
          <a:xfrm>
            <a:off x="1910080" y="2669871"/>
            <a:ext cx="9875520" cy="1752600"/>
          </a:xfrm>
          <a:prstGeom prst="rect">
            <a:avLst/>
          </a:prstGeom>
        </p:spPr>
        <p:txBody>
          <a:bodyPr tIns="0"/>
          <a:lstStyle>
            <a:lvl1pPr marL="27432" indent="0" algn="ctr">
              <a:buNone/>
              <a:defRPr sz="2600" b="1">
                <a:solidFill>
                  <a:schemeClr val="accent1">
                    <a:lumMod val="50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dirty="0"/>
          </a:p>
        </p:txBody>
      </p:sp>
      <p:sp>
        <p:nvSpPr>
          <p:cNvPr id="7" name="Date Placeholder 6"/>
          <p:cNvSpPr>
            <a:spLocks noGrp="1"/>
          </p:cNvSpPr>
          <p:nvPr>
            <p:ph type="dt" sz="half" idx="10"/>
          </p:nvPr>
        </p:nvSpPr>
        <p:spPr>
          <a:xfrm>
            <a:off x="4775200" y="6305550"/>
            <a:ext cx="2844800" cy="476250"/>
          </a:xfrm>
          <a:prstGeom prst="rect">
            <a:avLst/>
          </a:prstGeom>
        </p:spPr>
        <p:txBody>
          <a:bodyPr/>
          <a:lstStyle/>
          <a:p>
            <a:fld id="{81EC490E-9AD7-43EE-AA51-73CF0F20E777}" type="datetime1">
              <a:rPr lang="en-US" smtClean="0"/>
              <a:t>10/21/2018</a:t>
            </a:fld>
            <a:endParaRPr lang="en-US"/>
          </a:p>
        </p:txBody>
      </p:sp>
      <p:sp>
        <p:nvSpPr>
          <p:cNvPr id="20" name="Footer Placeholder 19"/>
          <p:cNvSpPr>
            <a:spLocks noGrp="1"/>
          </p:cNvSpPr>
          <p:nvPr>
            <p:ph type="ftr" sz="quarter" idx="11"/>
          </p:nvPr>
        </p:nvSpPr>
        <p:spPr>
          <a:xfrm>
            <a:off x="7620000" y="6305550"/>
            <a:ext cx="3860800" cy="476250"/>
          </a:xfrm>
          <a:prstGeom prst="rect">
            <a:avLst/>
          </a:prstGeom>
        </p:spPr>
        <p:txBody>
          <a:bodyPr/>
          <a:lstStyle/>
          <a:p>
            <a:r>
              <a:rPr lang="en-US"/>
              <a:t>Add a footer</a:t>
            </a:r>
          </a:p>
        </p:txBody>
      </p:sp>
      <p:sp>
        <p:nvSpPr>
          <p:cNvPr id="10" name="Slide Number Placeholder 9"/>
          <p:cNvSpPr>
            <a:spLocks noGrp="1"/>
          </p:cNvSpPr>
          <p:nvPr>
            <p:ph type="sldNum" sz="quarter" idx="12"/>
          </p:nvPr>
        </p:nvSpPr>
        <p:spPr>
          <a:xfrm>
            <a:off x="11484864" y="6305550"/>
            <a:ext cx="609600" cy="476250"/>
          </a:xfrm>
          <a:prstGeom prst="rect">
            <a:avLst/>
          </a:prstGeom>
        </p:spPr>
        <p:txBody>
          <a:bodyPr/>
          <a:lstStyle/>
          <a:p>
            <a:fld id="{401CF334-2D5C-4859-84A6-CA7E6E43FAEB}" type="slidenum">
              <a:rPr lang="en-US" smtClean="0"/>
              <a:t>‹#›</a:t>
            </a:fld>
            <a:endParaRPr lang="en-US"/>
          </a:p>
        </p:txBody>
      </p:sp>
    </p:spTree>
    <p:extLst>
      <p:ext uri="{BB962C8B-B14F-4D97-AF65-F5344CB8AC3E}">
        <p14:creationId xmlns:p14="http://schemas.microsoft.com/office/powerpoint/2010/main" val="40727261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914144" y="274638"/>
            <a:ext cx="9997440" cy="1143000"/>
          </a:xfrm>
          <a:prstGeom prst="rect">
            <a:avLst/>
          </a:prstGeom>
        </p:spPr>
        <p:txBody>
          <a:bodyPr/>
          <a:lstStyle/>
          <a:p>
            <a:r>
              <a:rPr kumimoji="0" lang="en-US" smtClean="0"/>
              <a:t>Click to edit Master title style</a:t>
            </a:r>
            <a:endParaRPr kumimoji="0" lang="en-US"/>
          </a:p>
        </p:txBody>
      </p:sp>
      <p:sp>
        <p:nvSpPr>
          <p:cNvPr id="3" name="Content Placeholder 2"/>
          <p:cNvSpPr>
            <a:spLocks noGrp="1"/>
          </p:cNvSpPr>
          <p:nvPr>
            <p:ph idx="1"/>
          </p:nvPr>
        </p:nvSpPr>
        <p:spPr>
          <a:xfrm>
            <a:off x="1914144" y="1447800"/>
            <a:ext cx="9997440" cy="4800600"/>
          </a:xfrm>
          <a:prstGeom prst="rect">
            <a:avLst/>
          </a:prstGeo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a:xfrm>
            <a:off x="4775200" y="6305550"/>
            <a:ext cx="2844800" cy="476250"/>
          </a:xfrm>
          <a:prstGeom prst="rect">
            <a:avLst/>
          </a:prstGeom>
        </p:spPr>
        <p:txBody>
          <a:bodyPr/>
          <a:lstStyle/>
          <a:p>
            <a:fld id="{49AA2061-108B-4BEA-8D05-8D74C139EC93}" type="datetime1">
              <a:rPr lang="en-US" smtClean="0"/>
              <a:t>10/21/2018</a:t>
            </a:fld>
            <a:endParaRPr lang="en-US"/>
          </a:p>
        </p:txBody>
      </p:sp>
      <p:sp>
        <p:nvSpPr>
          <p:cNvPr id="5" name="Footer Placeholder 4"/>
          <p:cNvSpPr>
            <a:spLocks noGrp="1"/>
          </p:cNvSpPr>
          <p:nvPr>
            <p:ph type="ftr" sz="quarter" idx="11"/>
          </p:nvPr>
        </p:nvSpPr>
        <p:spPr>
          <a:xfrm>
            <a:off x="7620000" y="6305550"/>
            <a:ext cx="3860800" cy="476250"/>
          </a:xfrm>
          <a:prstGeom prst="rect">
            <a:avLst/>
          </a:prstGeom>
        </p:spPr>
        <p:txBody>
          <a:bodyPr/>
          <a:lstStyle/>
          <a:p>
            <a:r>
              <a:rPr lang="en-US"/>
              <a:t>Add a footer</a:t>
            </a:r>
          </a:p>
        </p:txBody>
      </p:sp>
      <p:sp>
        <p:nvSpPr>
          <p:cNvPr id="6" name="Slide Number Placeholder 5"/>
          <p:cNvSpPr>
            <a:spLocks noGrp="1"/>
          </p:cNvSpPr>
          <p:nvPr>
            <p:ph type="sldNum" sz="quarter" idx="12"/>
          </p:nvPr>
        </p:nvSpPr>
        <p:spPr>
          <a:xfrm>
            <a:off x="11484864" y="6305550"/>
            <a:ext cx="609600" cy="476250"/>
          </a:xfrm>
          <a:prstGeom prst="rect">
            <a:avLst/>
          </a:prstGeom>
        </p:spPr>
        <p:txBody>
          <a:bodyPr/>
          <a:lstStyle/>
          <a:p>
            <a:fld id="{401CF334-2D5C-4859-84A6-CA7E6E43FAEB}" type="slidenum">
              <a:rPr lang="en-US" smtClean="0"/>
              <a:t>‹#›</a:t>
            </a:fld>
            <a:endParaRPr lang="en-US"/>
          </a:p>
        </p:txBody>
      </p:sp>
    </p:spTree>
    <p:extLst>
      <p:ext uri="{BB962C8B-B14F-4D97-AF65-F5344CB8AC3E}">
        <p14:creationId xmlns:p14="http://schemas.microsoft.com/office/powerpoint/2010/main" val="6399886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mod="1">
    <p:ext uri="{DCECCB84-F9BA-43D5-87BE-67443E8EF086}">
      <p15:sldGuideLst xmlns:p15="http://schemas.microsoft.com/office/powerpoint/2012/main">
        <p15:guide id="0" orient="horz" pos="2160" userDrawn="1">
          <p15:clr>
            <a:srgbClr val="FBAE40"/>
          </p15:clr>
        </p15:guide>
        <p15:guide id="1" pos="3840" userDrawn="1">
          <p15:clr>
            <a:srgbClr val="FBAE40"/>
          </p15:clr>
        </p15:guide>
        <p15:guide id="2" pos="984"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828800" y="2600325"/>
            <a:ext cx="8534400" cy="2286000"/>
          </a:xfrm>
          <a:prstGeom prst="rect">
            <a:avLst/>
          </a:prstGeom>
        </p:spPr>
        <p:txBody>
          <a:bodyPr anchor="t"/>
          <a:lstStyle>
            <a:lvl1pPr algn="l">
              <a:lnSpc>
                <a:spcPts val="4500"/>
              </a:lnSpc>
              <a:buNone/>
              <a:defRPr sz="4000" b="1" cap="all"/>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1828800" y="1066800"/>
            <a:ext cx="8534400" cy="1509712"/>
          </a:xfrm>
          <a:prstGeom prst="rect">
            <a:avLst/>
          </a:prstGeom>
        </p:spPr>
        <p:txBody>
          <a:bodyPr anchor="b"/>
          <a:lstStyle>
            <a:lvl1pPr marL="18288" indent="0">
              <a:lnSpc>
                <a:spcPts val="2300"/>
              </a:lnSpc>
              <a:spcBef>
                <a:spcPts val="0"/>
              </a:spcBef>
              <a:buNone/>
              <a:defRPr sz="2000">
                <a:solidFill>
                  <a:schemeClr val="tx2">
                    <a:shade val="30000"/>
                    <a:satMod val="150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a:xfrm>
            <a:off x="4775200" y="6305550"/>
            <a:ext cx="2844800" cy="476250"/>
          </a:xfrm>
          <a:prstGeom prst="rect">
            <a:avLst/>
          </a:prstGeom>
        </p:spPr>
        <p:txBody>
          <a:bodyPr/>
          <a:lstStyle/>
          <a:p>
            <a:fld id="{7077FFFE-69C9-4143-B4D5-1F99C59A92F6}" type="datetime1">
              <a:rPr lang="en-US" smtClean="0"/>
              <a:t>10/21/2018</a:t>
            </a:fld>
            <a:endParaRPr lang="en-US"/>
          </a:p>
        </p:txBody>
      </p:sp>
      <p:sp>
        <p:nvSpPr>
          <p:cNvPr id="5" name="Footer Placeholder 4"/>
          <p:cNvSpPr>
            <a:spLocks noGrp="1"/>
          </p:cNvSpPr>
          <p:nvPr>
            <p:ph type="ftr" sz="quarter" idx="11"/>
          </p:nvPr>
        </p:nvSpPr>
        <p:spPr>
          <a:xfrm>
            <a:off x="7620000" y="6305550"/>
            <a:ext cx="3860800" cy="476250"/>
          </a:xfrm>
          <a:prstGeom prst="rect">
            <a:avLst/>
          </a:prstGeom>
        </p:spPr>
        <p:txBody>
          <a:bodyPr/>
          <a:lstStyle/>
          <a:p>
            <a:r>
              <a:rPr lang="en-US"/>
              <a:t>Add a footer</a:t>
            </a:r>
          </a:p>
        </p:txBody>
      </p:sp>
      <p:sp>
        <p:nvSpPr>
          <p:cNvPr id="6" name="Slide Number Placeholder 5"/>
          <p:cNvSpPr>
            <a:spLocks noGrp="1"/>
          </p:cNvSpPr>
          <p:nvPr>
            <p:ph type="sldNum" sz="quarter" idx="12"/>
          </p:nvPr>
        </p:nvSpPr>
        <p:spPr>
          <a:xfrm>
            <a:off x="11484864" y="6305550"/>
            <a:ext cx="609600" cy="476250"/>
          </a:xfrm>
          <a:prstGeom prst="rect">
            <a:avLst/>
          </a:prstGeom>
        </p:spPr>
        <p:txBody>
          <a:bodyPr/>
          <a:lstStyle/>
          <a:p>
            <a:fld id="{401CF334-2D5C-4859-84A6-CA7E6E43FAEB}" type="slidenum">
              <a:rPr lang="en-US" smtClean="0"/>
              <a:t>‹#›</a:t>
            </a:fld>
            <a:endParaRPr lang="en-US"/>
          </a:p>
        </p:txBody>
      </p:sp>
    </p:spTree>
    <p:extLst>
      <p:ext uri="{BB962C8B-B14F-4D97-AF65-F5344CB8AC3E}">
        <p14:creationId xmlns:p14="http://schemas.microsoft.com/office/powerpoint/2010/main" val="40661580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mod="1">
    <p:ext uri="{DCECCB84-F9BA-43D5-87BE-67443E8EF086}">
      <p15:sldGuideLst xmlns:p15="http://schemas.microsoft.com/office/powerpoint/2012/main">
        <p15:guide id="0" orient="horz" pos="2160" userDrawn="1">
          <p15:clr>
            <a:srgbClr val="FBAE40"/>
          </p15:clr>
        </p15:guide>
        <p15:guide id="1"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914144" y="274320"/>
            <a:ext cx="9997440" cy="1143000"/>
          </a:xfrm>
          <a:prstGeom prst="rect">
            <a:avLst/>
          </a:prstGeo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1914144" y="1524000"/>
            <a:ext cx="4876800" cy="4663440"/>
          </a:xfrm>
          <a:prstGeom prst="rect">
            <a:avLst/>
          </a:prstGeo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7034784" y="1524000"/>
            <a:ext cx="4876800" cy="4663440"/>
          </a:xfrm>
          <a:prstGeom prst="rect">
            <a:avLst/>
          </a:prstGeo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a:xfrm>
            <a:off x="4775200" y="6305550"/>
            <a:ext cx="2844800" cy="476250"/>
          </a:xfrm>
          <a:prstGeom prst="rect">
            <a:avLst/>
          </a:prstGeom>
        </p:spPr>
        <p:txBody>
          <a:bodyPr/>
          <a:lstStyle/>
          <a:p>
            <a:fld id="{CFD81999-BF37-4BCF-B085-5730B2408F2F}" type="datetime1">
              <a:rPr lang="en-US" smtClean="0"/>
              <a:t>10/21/2018</a:t>
            </a:fld>
            <a:endParaRPr lang="en-US"/>
          </a:p>
        </p:txBody>
      </p:sp>
      <p:sp>
        <p:nvSpPr>
          <p:cNvPr id="6" name="Footer Placeholder 5"/>
          <p:cNvSpPr>
            <a:spLocks noGrp="1"/>
          </p:cNvSpPr>
          <p:nvPr>
            <p:ph type="ftr" sz="quarter" idx="11"/>
          </p:nvPr>
        </p:nvSpPr>
        <p:spPr>
          <a:xfrm>
            <a:off x="7620000" y="6305550"/>
            <a:ext cx="3860800" cy="476250"/>
          </a:xfrm>
          <a:prstGeom prst="rect">
            <a:avLst/>
          </a:prstGeom>
        </p:spPr>
        <p:txBody>
          <a:bodyPr/>
          <a:lstStyle/>
          <a:p>
            <a:r>
              <a:rPr lang="en-US"/>
              <a:t>Add a footer</a:t>
            </a:r>
          </a:p>
        </p:txBody>
      </p:sp>
      <p:sp>
        <p:nvSpPr>
          <p:cNvPr id="7" name="Slide Number Placeholder 6"/>
          <p:cNvSpPr>
            <a:spLocks noGrp="1"/>
          </p:cNvSpPr>
          <p:nvPr>
            <p:ph type="sldNum" sz="quarter" idx="12"/>
          </p:nvPr>
        </p:nvSpPr>
        <p:spPr>
          <a:xfrm>
            <a:off x="11484864" y="6305550"/>
            <a:ext cx="609600" cy="476250"/>
          </a:xfrm>
          <a:prstGeom prst="rect">
            <a:avLst/>
          </a:prstGeom>
        </p:spPr>
        <p:txBody>
          <a:bodyPr/>
          <a:lstStyle/>
          <a:p>
            <a:fld id="{401CF334-2D5C-4859-84A6-CA7E6E43FAEB}" type="slidenum">
              <a:rPr lang="en-US" smtClean="0"/>
              <a:t>‹#›</a:t>
            </a:fld>
            <a:endParaRPr lang="en-US"/>
          </a:p>
        </p:txBody>
      </p:sp>
    </p:spTree>
    <p:extLst>
      <p:ext uri="{BB962C8B-B14F-4D97-AF65-F5344CB8AC3E}">
        <p14:creationId xmlns:p14="http://schemas.microsoft.com/office/powerpoint/2010/main" val="30784511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Pr>
        <a:solidFill>
          <a:schemeClr val="bg2">
            <a:lumMod val="9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09600" y="5160336"/>
            <a:ext cx="10972800" cy="1143000"/>
          </a:xfrm>
          <a:prstGeom prst="rect">
            <a:avLst/>
          </a:prstGeom>
        </p:spPr>
        <p:txBody>
          <a:bodyPr anchor="ctr"/>
          <a:lstStyle>
            <a:lvl1pPr algn="ctr">
              <a:defRPr sz="4500" b="1" cap="none" baseline="0"/>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609600" y="328278"/>
            <a:ext cx="5364480" cy="640080"/>
          </a:xfrm>
          <a:prstGeom prst="rect">
            <a:avLst/>
          </a:prstGeom>
          <a:noFill/>
          <a:ln w="10795">
            <a:solidFill>
              <a:schemeClr val="bg1"/>
            </a:solidFill>
            <a:miter lim="800000"/>
          </a:ln>
        </p:spPr>
        <p:txBody>
          <a:bodyPr anchor="ctr"/>
          <a:lstStyle>
            <a:lvl1pPr marL="64008" indent="0" algn="l">
              <a:lnSpc>
                <a:spcPct val="100000"/>
              </a:lnSpc>
              <a:spcBef>
                <a:spcPts val="100"/>
              </a:spcBef>
              <a:buNone/>
              <a:defRPr sz="1900" b="1">
                <a:solidFill>
                  <a:schemeClr val="accent1">
                    <a:lumMod val="50000"/>
                  </a:schemeClr>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609600" y="969336"/>
            <a:ext cx="5364480" cy="4114800"/>
          </a:xfrm>
          <a:prstGeom prst="rect">
            <a:avLst/>
          </a:prstGeo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Text Placeholder 3"/>
          <p:cNvSpPr>
            <a:spLocks noGrp="1"/>
          </p:cNvSpPr>
          <p:nvPr>
            <p:ph type="body" sz="half" idx="3"/>
          </p:nvPr>
        </p:nvSpPr>
        <p:spPr>
          <a:xfrm>
            <a:off x="6217920" y="328278"/>
            <a:ext cx="5364480" cy="640080"/>
          </a:xfrm>
          <a:prstGeom prst="rect">
            <a:avLst/>
          </a:prstGeom>
          <a:noFill/>
          <a:ln w="10795">
            <a:solidFill>
              <a:schemeClr val="bg1"/>
            </a:solidFill>
            <a:miter lim="800000"/>
          </a:ln>
        </p:spPr>
        <p:txBody>
          <a:bodyPr anchor="ctr"/>
          <a:lstStyle>
            <a:lvl1pPr marL="64008" indent="0" algn="l">
              <a:lnSpc>
                <a:spcPct val="100000"/>
              </a:lnSpc>
              <a:spcBef>
                <a:spcPts val="100"/>
              </a:spcBef>
              <a:buNone/>
              <a:defRPr sz="1900" b="1">
                <a:solidFill>
                  <a:schemeClr val="accent1">
                    <a:lumMod val="50000"/>
                  </a:schemeClr>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6" name="Content Placeholder 5"/>
          <p:cNvSpPr>
            <a:spLocks noGrp="1"/>
          </p:cNvSpPr>
          <p:nvPr>
            <p:ph sz="quarter" idx="4"/>
          </p:nvPr>
        </p:nvSpPr>
        <p:spPr>
          <a:xfrm>
            <a:off x="6217920" y="969336"/>
            <a:ext cx="5364480" cy="4114800"/>
          </a:xfrm>
          <a:prstGeom prst="rect">
            <a:avLst/>
          </a:prstGeo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a:xfrm>
            <a:off x="4775200" y="6305550"/>
            <a:ext cx="2844800" cy="476250"/>
          </a:xfrm>
          <a:prstGeom prst="rect">
            <a:avLst/>
          </a:prstGeom>
        </p:spPr>
        <p:txBody>
          <a:bodyPr/>
          <a:lstStyle/>
          <a:p>
            <a:fld id="{4B8B814A-CF0B-4318-9A51-F89E00A8CD4B}" type="datetime1">
              <a:rPr lang="en-US" smtClean="0"/>
              <a:t>10/21/2018</a:t>
            </a:fld>
            <a:endParaRPr lang="en-US"/>
          </a:p>
        </p:txBody>
      </p:sp>
      <p:sp>
        <p:nvSpPr>
          <p:cNvPr id="8" name="Footer Placeholder 7"/>
          <p:cNvSpPr>
            <a:spLocks noGrp="1"/>
          </p:cNvSpPr>
          <p:nvPr>
            <p:ph type="ftr" sz="quarter" idx="11"/>
          </p:nvPr>
        </p:nvSpPr>
        <p:spPr>
          <a:xfrm>
            <a:off x="7620000" y="6305550"/>
            <a:ext cx="3860800" cy="476250"/>
          </a:xfrm>
          <a:prstGeom prst="rect">
            <a:avLst/>
          </a:prstGeom>
        </p:spPr>
        <p:txBody>
          <a:bodyPr/>
          <a:lstStyle/>
          <a:p>
            <a:r>
              <a:rPr lang="en-US"/>
              <a:t>Add a footer</a:t>
            </a:r>
          </a:p>
        </p:txBody>
      </p:sp>
      <p:sp>
        <p:nvSpPr>
          <p:cNvPr id="9" name="Slide Number Placeholder 8"/>
          <p:cNvSpPr>
            <a:spLocks noGrp="1"/>
          </p:cNvSpPr>
          <p:nvPr>
            <p:ph type="sldNum" sz="quarter" idx="12"/>
          </p:nvPr>
        </p:nvSpPr>
        <p:spPr>
          <a:xfrm>
            <a:off x="11484864" y="6305550"/>
            <a:ext cx="609600" cy="476250"/>
          </a:xfrm>
          <a:prstGeom prst="rect">
            <a:avLst/>
          </a:prstGeom>
        </p:spPr>
        <p:txBody>
          <a:bodyPr/>
          <a:lstStyle/>
          <a:p>
            <a:fld id="{401CF334-2D5C-4859-84A6-CA7E6E43FAEB}" type="slidenum">
              <a:rPr lang="en-US" smtClean="0"/>
              <a:t>‹#›</a:t>
            </a:fld>
            <a:endParaRPr lang="en-US"/>
          </a:p>
        </p:txBody>
      </p:sp>
    </p:spTree>
    <p:extLst>
      <p:ext uri="{BB962C8B-B14F-4D97-AF65-F5344CB8AC3E}">
        <p14:creationId xmlns:p14="http://schemas.microsoft.com/office/powerpoint/2010/main" val="23589315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mod="1">
    <p:ext uri="{DCECCB84-F9BA-43D5-87BE-67443E8EF086}">
      <p15:sldGuideLst xmlns:p15="http://schemas.microsoft.com/office/powerpoint/2012/main">
        <p15:guide id="0" orient="horz" pos="2160" userDrawn="1">
          <p15:clr>
            <a:srgbClr val="FBAE40"/>
          </p15:clr>
        </p15:guide>
        <p15:guide id="1" pos="384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914144" y="274320"/>
            <a:ext cx="9997440" cy="1143000"/>
          </a:xfrm>
          <a:prstGeom prst="rect">
            <a:avLst/>
          </a:prstGeom>
        </p:spPr>
        <p:txBody>
          <a:bodyPr anchor="ctr"/>
          <a:lstStyle/>
          <a:p>
            <a:r>
              <a:rPr kumimoji="0" lang="en-US" smtClean="0"/>
              <a:t>Click to edit Master title style</a:t>
            </a:r>
            <a:endParaRPr kumimoji="0" lang="en-US"/>
          </a:p>
        </p:txBody>
      </p:sp>
      <p:sp>
        <p:nvSpPr>
          <p:cNvPr id="3" name="Date Placeholder 2"/>
          <p:cNvSpPr>
            <a:spLocks noGrp="1"/>
          </p:cNvSpPr>
          <p:nvPr>
            <p:ph type="dt" sz="half" idx="10"/>
          </p:nvPr>
        </p:nvSpPr>
        <p:spPr>
          <a:xfrm>
            <a:off x="4775200" y="6305550"/>
            <a:ext cx="2844800" cy="476250"/>
          </a:xfrm>
          <a:prstGeom prst="rect">
            <a:avLst/>
          </a:prstGeom>
        </p:spPr>
        <p:txBody>
          <a:bodyPr/>
          <a:lstStyle/>
          <a:p>
            <a:fld id="{708D250E-876A-43C3-9E39-F2212A64A1B8}" type="datetime1">
              <a:rPr lang="en-US" smtClean="0"/>
              <a:t>10/21/2018</a:t>
            </a:fld>
            <a:endParaRPr lang="en-US"/>
          </a:p>
        </p:txBody>
      </p:sp>
      <p:sp>
        <p:nvSpPr>
          <p:cNvPr id="4" name="Footer Placeholder 3"/>
          <p:cNvSpPr>
            <a:spLocks noGrp="1"/>
          </p:cNvSpPr>
          <p:nvPr>
            <p:ph type="ftr" sz="quarter" idx="11"/>
          </p:nvPr>
        </p:nvSpPr>
        <p:spPr>
          <a:xfrm>
            <a:off x="7620000" y="6305550"/>
            <a:ext cx="3860800" cy="476250"/>
          </a:xfrm>
          <a:prstGeom prst="rect">
            <a:avLst/>
          </a:prstGeom>
        </p:spPr>
        <p:txBody>
          <a:bodyPr/>
          <a:lstStyle/>
          <a:p>
            <a:r>
              <a:rPr lang="en-US"/>
              <a:t>Add a footer</a:t>
            </a:r>
          </a:p>
        </p:txBody>
      </p:sp>
      <p:sp>
        <p:nvSpPr>
          <p:cNvPr id="5" name="Slide Number Placeholder 4"/>
          <p:cNvSpPr>
            <a:spLocks noGrp="1"/>
          </p:cNvSpPr>
          <p:nvPr>
            <p:ph type="sldNum" sz="quarter" idx="12"/>
          </p:nvPr>
        </p:nvSpPr>
        <p:spPr>
          <a:xfrm>
            <a:off x="11484864" y="6305550"/>
            <a:ext cx="609600" cy="476250"/>
          </a:xfrm>
          <a:prstGeom prst="rect">
            <a:avLst/>
          </a:prstGeom>
        </p:spPr>
        <p:txBody>
          <a:bodyPr/>
          <a:lstStyle/>
          <a:p>
            <a:fld id="{401CF334-2D5C-4859-84A6-CA7E6E43FAEB}" type="slidenum">
              <a:rPr lang="en-US" smtClean="0"/>
              <a:t>‹#›</a:t>
            </a:fld>
            <a:endParaRPr lang="en-US"/>
          </a:p>
        </p:txBody>
      </p:sp>
    </p:spTree>
    <p:extLst>
      <p:ext uri="{BB962C8B-B14F-4D97-AF65-F5344CB8AC3E}">
        <p14:creationId xmlns:p14="http://schemas.microsoft.com/office/powerpoint/2010/main" val="8606584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775200" y="6305550"/>
            <a:ext cx="2844800" cy="476250"/>
          </a:xfrm>
          <a:prstGeom prst="rect">
            <a:avLst/>
          </a:prstGeom>
        </p:spPr>
        <p:txBody>
          <a:bodyPr/>
          <a:lstStyle/>
          <a:p>
            <a:fld id="{1207FB38-9E74-4FB0-A475-1754956E1337}" type="datetime1">
              <a:rPr lang="en-US" smtClean="0"/>
              <a:t>10/21/2018</a:t>
            </a:fld>
            <a:endParaRPr lang="en-US"/>
          </a:p>
        </p:txBody>
      </p:sp>
      <p:sp>
        <p:nvSpPr>
          <p:cNvPr id="3" name="Footer Placeholder 2"/>
          <p:cNvSpPr>
            <a:spLocks noGrp="1"/>
          </p:cNvSpPr>
          <p:nvPr>
            <p:ph type="ftr" sz="quarter" idx="11"/>
          </p:nvPr>
        </p:nvSpPr>
        <p:spPr>
          <a:xfrm>
            <a:off x="7620000" y="6305550"/>
            <a:ext cx="3860800" cy="476250"/>
          </a:xfrm>
          <a:prstGeom prst="rect">
            <a:avLst/>
          </a:prstGeom>
        </p:spPr>
        <p:txBody>
          <a:bodyPr/>
          <a:lstStyle/>
          <a:p>
            <a:r>
              <a:rPr lang="en-US"/>
              <a:t>Add a footer</a:t>
            </a:r>
          </a:p>
        </p:txBody>
      </p:sp>
      <p:sp>
        <p:nvSpPr>
          <p:cNvPr id="4" name="Slide Number Placeholder 3"/>
          <p:cNvSpPr>
            <a:spLocks noGrp="1"/>
          </p:cNvSpPr>
          <p:nvPr>
            <p:ph type="sldNum" sz="quarter" idx="12"/>
          </p:nvPr>
        </p:nvSpPr>
        <p:spPr>
          <a:xfrm>
            <a:off x="11484864" y="6305550"/>
            <a:ext cx="609600" cy="476250"/>
          </a:xfrm>
          <a:prstGeom prst="rect">
            <a:avLst/>
          </a:prstGeom>
        </p:spPr>
        <p:txBody>
          <a:bodyPr/>
          <a:lstStyle/>
          <a:p>
            <a:fld id="{401CF334-2D5C-4859-84A6-CA7E6E43FAEB}" type="slidenum">
              <a:rPr lang="en-US" smtClean="0"/>
              <a:t>‹#›</a:t>
            </a:fld>
            <a:endParaRPr lang="en-US"/>
          </a:p>
        </p:txBody>
      </p:sp>
    </p:spTree>
    <p:extLst>
      <p:ext uri="{BB962C8B-B14F-4D97-AF65-F5344CB8AC3E}">
        <p14:creationId xmlns:p14="http://schemas.microsoft.com/office/powerpoint/2010/main" val="8609779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Pr>
        <a:solidFill>
          <a:schemeClr val="bg2">
            <a:lumMod val="9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09600" y="216778"/>
            <a:ext cx="5080000" cy="1162050"/>
          </a:xfrm>
          <a:prstGeom prst="rect">
            <a:avLst/>
          </a:prstGeom>
          <a:ln>
            <a:noFill/>
          </a:ln>
        </p:spPr>
        <p:txBody>
          <a:bodyPr anchor="b"/>
          <a:lstStyle>
            <a:lvl1pPr algn="l">
              <a:lnSpc>
                <a:spcPts val="2000"/>
              </a:lnSpc>
              <a:buNone/>
              <a:defRPr sz="2200" b="1" cap="all" baseline="0"/>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609600" y="1406964"/>
            <a:ext cx="5080000" cy="698500"/>
          </a:xfrm>
          <a:prstGeom prst="rect">
            <a:avLst/>
          </a:prstGeom>
        </p:spPr>
        <p:txBody>
          <a:bodyPr/>
          <a:lstStyle>
            <a:lvl1pPr marL="45720" indent="0">
              <a:lnSpc>
                <a:spcPct val="100000"/>
              </a:lnSpc>
              <a:spcBef>
                <a:spcPts val="0"/>
              </a:spcBef>
              <a:buNone/>
              <a:defRPr sz="1400"/>
            </a:lvl1pPr>
            <a:lvl2pPr>
              <a:buNone/>
              <a:defRPr sz="1200"/>
            </a:lvl2pPr>
            <a:lvl3pPr>
              <a:buNone/>
              <a:defRPr sz="1000"/>
            </a:lvl3pPr>
            <a:lvl4pPr>
              <a:buNone/>
              <a:defRPr sz="900"/>
            </a:lvl4pPr>
            <a:lvl5pPr>
              <a:buNone/>
              <a:defRPr sz="900"/>
            </a:lvl5pPr>
            <a:extLst/>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609600" y="2133601"/>
            <a:ext cx="10871200" cy="3992563"/>
          </a:xfrm>
          <a:prstGeom prst="rect">
            <a:avLst/>
          </a:prstGeo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a:xfrm>
            <a:off x="4775200" y="6305550"/>
            <a:ext cx="2844800" cy="476250"/>
          </a:xfrm>
          <a:prstGeom prst="rect">
            <a:avLst/>
          </a:prstGeom>
        </p:spPr>
        <p:txBody>
          <a:bodyPr/>
          <a:lstStyle/>
          <a:p>
            <a:fld id="{C980D8E6-AA5E-451C-8C84-4C649B255D07}" type="datetime1">
              <a:rPr lang="en-US" smtClean="0"/>
              <a:t>10/21/2018</a:t>
            </a:fld>
            <a:endParaRPr lang="en-US"/>
          </a:p>
        </p:txBody>
      </p:sp>
      <p:sp>
        <p:nvSpPr>
          <p:cNvPr id="6" name="Footer Placeholder 5"/>
          <p:cNvSpPr>
            <a:spLocks noGrp="1"/>
          </p:cNvSpPr>
          <p:nvPr>
            <p:ph type="ftr" sz="quarter" idx="11"/>
          </p:nvPr>
        </p:nvSpPr>
        <p:spPr>
          <a:xfrm>
            <a:off x="7620000" y="6305550"/>
            <a:ext cx="3860800" cy="476250"/>
          </a:xfrm>
          <a:prstGeom prst="rect">
            <a:avLst/>
          </a:prstGeom>
        </p:spPr>
        <p:txBody>
          <a:bodyPr/>
          <a:lstStyle/>
          <a:p>
            <a:r>
              <a:rPr lang="en-US"/>
              <a:t>Add a footer</a:t>
            </a:r>
          </a:p>
        </p:txBody>
      </p:sp>
      <p:sp>
        <p:nvSpPr>
          <p:cNvPr id="7" name="Slide Number Placeholder 6"/>
          <p:cNvSpPr>
            <a:spLocks noGrp="1"/>
          </p:cNvSpPr>
          <p:nvPr>
            <p:ph type="sldNum" sz="quarter" idx="12"/>
          </p:nvPr>
        </p:nvSpPr>
        <p:spPr>
          <a:xfrm>
            <a:off x="11484864" y="6305550"/>
            <a:ext cx="609600" cy="476250"/>
          </a:xfrm>
          <a:prstGeom prst="rect">
            <a:avLst/>
          </a:prstGeom>
        </p:spPr>
        <p:txBody>
          <a:bodyPr/>
          <a:lstStyle/>
          <a:p>
            <a:fld id="{401CF334-2D5C-4859-84A6-CA7E6E43FAEB}" type="slidenum">
              <a:rPr lang="en-US" smtClean="0"/>
              <a:t>‹#›</a:t>
            </a:fld>
            <a:endParaRPr lang="en-US"/>
          </a:p>
        </p:txBody>
      </p:sp>
    </p:spTree>
    <p:extLst>
      <p:ext uri="{BB962C8B-B14F-4D97-AF65-F5344CB8AC3E}">
        <p14:creationId xmlns:p14="http://schemas.microsoft.com/office/powerpoint/2010/main" val="5425462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Pr>
        <a:solidFill>
          <a:schemeClr val="bg2">
            <a:lumMod val="9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849195" y="1066800"/>
            <a:ext cx="3657600" cy="1981200"/>
          </a:xfrm>
          <a:prstGeom prst="rect">
            <a:avLst/>
          </a:prstGeom>
        </p:spPr>
        <p:txBody>
          <a:bodyPr anchor="b">
            <a:noAutofit/>
          </a:bodyPr>
          <a:lstStyle>
            <a:lvl1pPr algn="l">
              <a:buNone/>
              <a:defRPr sz="2100" b="1">
                <a:effectLst/>
              </a:defRPr>
            </a:lvl1pPr>
            <a:extLst/>
          </a:lstStyle>
          <a:p>
            <a:r>
              <a:rPr kumimoji="0" lang="en-US" smtClean="0"/>
              <a:t>Click to edit Master title style</a:t>
            </a:r>
            <a:endParaRPr kumimoji="0" lang="en-US"/>
          </a:p>
        </p:txBody>
      </p:sp>
      <p:sp>
        <p:nvSpPr>
          <p:cNvPr id="8" name="Rectangle 7"/>
          <p:cNvSpPr/>
          <p:nvPr/>
        </p:nvSpPr>
        <p:spPr>
          <a:xfrm>
            <a:off x="1016000" y="1066800"/>
            <a:ext cx="6096000" cy="4572000"/>
          </a:xfrm>
          <a:prstGeom prst="rect">
            <a:avLst/>
          </a:prstGeom>
          <a:solidFill>
            <a:srgbClr val="FFFFFF"/>
          </a:solidFill>
          <a:ln w="88900" cap="sq">
            <a:solidFill>
              <a:srgbClr val="FFFFFF"/>
            </a:solidFill>
            <a:miter lim="800000"/>
          </a:ln>
          <a:effectLst>
            <a:outerShdw blurRad="55500" dist="18500" dir="5400000" algn="tl" rotWithShape="0">
              <a:srgbClr val="000000">
                <a:alpha val="35000"/>
              </a:srgbClr>
            </a:outerShdw>
          </a:effectLst>
          <a:scene3d>
            <a:camera prst="orthographicFront"/>
            <a:lightRig rig="twoPt" dir="t">
              <a:rot lat="0" lon="0" rev="7200000"/>
            </a:lightRig>
          </a:scene3d>
          <a:sp3d contourW="635">
            <a:bevelT w="25400" h="19050"/>
            <a:contourClr>
              <a:srgbClr val="969696"/>
            </a:contourClr>
          </a:sp3d>
        </p:spPr>
        <p:txBody>
          <a:bodyPr lIns="91440" tIns="274320" rtlCol="0" anchor="t">
            <a:normAutofit/>
          </a:bodyPr>
          <a:lstStyle/>
          <a:p>
            <a:pPr marL="0" indent="-283464" algn="l" rtl="0" eaLnBrk="1" latinLnBrk="0" hangingPunct="1">
              <a:lnSpc>
                <a:spcPts val="3000"/>
              </a:lnSpc>
              <a:spcBef>
                <a:spcPts val="600"/>
              </a:spcBef>
              <a:buClr>
                <a:schemeClr val="accent1"/>
              </a:buClr>
              <a:buSzPct val="80000"/>
              <a:buFont typeface="Wingdings 2"/>
              <a:buNone/>
            </a:pPr>
            <a:endParaRPr kumimoji="0" lang="en-US" sz="3200" kern="1200">
              <a:solidFill>
                <a:schemeClr val="tx1"/>
              </a:solidFill>
              <a:latin typeface="+mn-lt"/>
              <a:ea typeface="+mn-ea"/>
              <a:cs typeface="+mn-cs"/>
            </a:endParaRPr>
          </a:p>
        </p:txBody>
      </p:sp>
      <p:sp>
        <p:nvSpPr>
          <p:cNvPr id="3" name="Picture Placeholder 2" descr="An empty placeholder to add an image. Click on the placeholder and select the image that you wish to add"/>
          <p:cNvSpPr>
            <a:spLocks noGrp="1"/>
          </p:cNvSpPr>
          <p:nvPr>
            <p:ph type="pic" idx="1"/>
          </p:nvPr>
        </p:nvSpPr>
        <p:spPr>
          <a:xfrm>
            <a:off x="1117600" y="1143004"/>
            <a:ext cx="5892800" cy="3514531"/>
          </a:xfrm>
          <a:prstGeom prst="roundRect">
            <a:avLst>
              <a:gd name="adj" fmla="val 783"/>
            </a:avLst>
          </a:prstGeom>
          <a:solidFill>
            <a:schemeClr val="bg2"/>
          </a:solidFill>
          <a:ln w="127000">
            <a:noFill/>
            <a:miter lim="800000"/>
          </a:ln>
          <a:effectLst/>
        </p:spPr>
        <p:txBody>
          <a:bodyPr lIns="91440" tIns="274320" anchor="t"/>
          <a:lstStyle>
            <a:lvl1pPr marL="0" indent="0" algn="l" eaLnBrk="1" latinLnBrk="0" hangingPunct="1">
              <a:buNone/>
              <a:defRPr sz="3200"/>
            </a:lvl1pPr>
            <a:extLst/>
          </a:lstStyle>
          <a:p>
            <a:pPr marL="0" algn="l" eaLnBrk="1" latinLnBrk="0" hangingPunct="1"/>
            <a:r>
              <a:rPr kumimoji="0" lang="en-US" smtClean="0"/>
              <a:t>Click icon to add picture</a:t>
            </a:r>
            <a:endParaRPr kumimoji="0" lang="en-US" dirty="0"/>
          </a:p>
        </p:txBody>
      </p:sp>
      <p:sp>
        <p:nvSpPr>
          <p:cNvPr id="9" name="Rectangle 1"/>
          <p:cNvSpPr/>
          <p:nvPr/>
        </p:nvSpPr>
        <p:spPr>
          <a:xfrm rot="19468671">
            <a:off x="528967" y="954341"/>
            <a:ext cx="914400"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shade val="90000"/>
                <a:satMod val="200000"/>
                <a:alpha val="4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10" name="Rectangle 2"/>
          <p:cNvSpPr/>
          <p:nvPr/>
        </p:nvSpPr>
        <p:spPr>
          <a:xfrm rot="2103354" flipH="1">
            <a:off x="6671556" y="936786"/>
            <a:ext cx="865632"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alpha val="2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dirty="0"/>
          </a:p>
        </p:txBody>
      </p:sp>
      <p:sp>
        <p:nvSpPr>
          <p:cNvPr id="4" name="Text Placeholder 3"/>
          <p:cNvSpPr>
            <a:spLocks noGrp="1"/>
          </p:cNvSpPr>
          <p:nvPr>
            <p:ph type="body" sz="half" idx="2"/>
          </p:nvPr>
        </p:nvSpPr>
        <p:spPr>
          <a:xfrm>
            <a:off x="1117600" y="4800600"/>
            <a:ext cx="5892800" cy="762000"/>
          </a:xfrm>
          <a:prstGeom prst="rect">
            <a:avLst/>
          </a:prstGeom>
        </p:spPr>
        <p:txBody>
          <a:bodyPr anchor="ctr"/>
          <a:lstStyle>
            <a:lvl1pPr marL="0" indent="0" algn="l">
              <a:lnSpc>
                <a:spcPts val="1600"/>
              </a:lnSpc>
              <a:spcBef>
                <a:spcPts val="0"/>
              </a:spcBef>
              <a:buNone/>
              <a:defRPr sz="1400">
                <a:solidFill>
                  <a:srgbClr val="777777"/>
                </a:solidFill>
              </a:defRPr>
            </a:lvl1pPr>
            <a:lvl2pPr>
              <a:defRPr sz="1200"/>
            </a:lvl2pPr>
            <a:lvl3pPr>
              <a:defRPr sz="1000"/>
            </a:lvl3pPr>
            <a:lvl4pPr>
              <a:defRPr sz="900"/>
            </a:lvl4pPr>
            <a:lvl5pPr>
              <a:defRPr sz="900"/>
            </a:lvl5pPr>
            <a:extLst/>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a:xfrm>
            <a:off x="4775200" y="6305550"/>
            <a:ext cx="2844800" cy="476250"/>
          </a:xfrm>
          <a:prstGeom prst="rect">
            <a:avLst/>
          </a:prstGeom>
        </p:spPr>
        <p:txBody>
          <a:bodyPr/>
          <a:lstStyle/>
          <a:p>
            <a:fld id="{9A068CDD-FD5F-446E-A533-81CD6406193B}" type="datetime1">
              <a:rPr lang="en-US" smtClean="0"/>
              <a:t>10/21/2018</a:t>
            </a:fld>
            <a:endParaRPr lang="en-US"/>
          </a:p>
        </p:txBody>
      </p:sp>
      <p:sp>
        <p:nvSpPr>
          <p:cNvPr id="6" name="Footer Placeholder 5"/>
          <p:cNvSpPr>
            <a:spLocks noGrp="1"/>
          </p:cNvSpPr>
          <p:nvPr>
            <p:ph type="ftr" sz="quarter" idx="11"/>
          </p:nvPr>
        </p:nvSpPr>
        <p:spPr>
          <a:xfrm>
            <a:off x="7620000" y="6305550"/>
            <a:ext cx="3860800" cy="476250"/>
          </a:xfrm>
          <a:prstGeom prst="rect">
            <a:avLst/>
          </a:prstGeom>
        </p:spPr>
        <p:txBody>
          <a:bodyPr/>
          <a:lstStyle/>
          <a:p>
            <a:r>
              <a:rPr lang="en-US"/>
              <a:t>Add a footer</a:t>
            </a:r>
          </a:p>
        </p:txBody>
      </p:sp>
      <p:sp>
        <p:nvSpPr>
          <p:cNvPr id="7" name="Slide Number Placeholder 6"/>
          <p:cNvSpPr>
            <a:spLocks noGrp="1"/>
          </p:cNvSpPr>
          <p:nvPr>
            <p:ph type="sldNum" sz="quarter" idx="12"/>
          </p:nvPr>
        </p:nvSpPr>
        <p:spPr>
          <a:xfrm>
            <a:off x="11484864" y="6305550"/>
            <a:ext cx="609600" cy="476250"/>
          </a:xfrm>
          <a:prstGeom prst="rect">
            <a:avLst/>
          </a:prstGeom>
        </p:spPr>
        <p:txBody>
          <a:bodyPr/>
          <a:lstStyle/>
          <a:p>
            <a:fld id="{401CF334-2D5C-4859-84A6-CA7E6E43FAEB}" type="slidenum">
              <a:rPr lang="en-US" smtClean="0"/>
              <a:t>‹#›</a:t>
            </a:fld>
            <a:endParaRPr lang="en-US"/>
          </a:p>
        </p:txBody>
      </p:sp>
    </p:spTree>
    <p:extLst>
      <p:ext uri="{BB962C8B-B14F-4D97-AF65-F5344CB8AC3E}">
        <p14:creationId xmlns:p14="http://schemas.microsoft.com/office/powerpoint/2010/main" val="3636752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914144" y="274638"/>
            <a:ext cx="9997440" cy="1143000"/>
          </a:xfrm>
          <a:prstGeom prst="rect">
            <a:avLst/>
          </a:prstGeom>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1914144" y="1447800"/>
            <a:ext cx="9997440" cy="4800600"/>
          </a:xfrm>
          <a:prstGeom prst="rect">
            <a:avLst/>
          </a:prstGeo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a:xfrm>
            <a:off x="4775200" y="6305550"/>
            <a:ext cx="2844800" cy="476250"/>
          </a:xfrm>
          <a:prstGeom prst="rect">
            <a:avLst/>
          </a:prstGeom>
        </p:spPr>
        <p:txBody>
          <a:bodyPr/>
          <a:lstStyle/>
          <a:p>
            <a:fld id="{0D78C1A9-9991-436D-859E-3B792E73D2B3}" type="datetime1">
              <a:rPr lang="en-US" smtClean="0"/>
              <a:t>10/21/2018</a:t>
            </a:fld>
            <a:endParaRPr lang="en-US"/>
          </a:p>
        </p:txBody>
      </p:sp>
      <p:sp>
        <p:nvSpPr>
          <p:cNvPr id="5" name="Footer Placeholder 4"/>
          <p:cNvSpPr>
            <a:spLocks noGrp="1"/>
          </p:cNvSpPr>
          <p:nvPr>
            <p:ph type="ftr" sz="quarter" idx="11"/>
          </p:nvPr>
        </p:nvSpPr>
        <p:spPr>
          <a:xfrm>
            <a:off x="7620000" y="6305550"/>
            <a:ext cx="3860800" cy="476250"/>
          </a:xfrm>
          <a:prstGeom prst="rect">
            <a:avLst/>
          </a:prstGeom>
        </p:spPr>
        <p:txBody>
          <a:bodyPr/>
          <a:lstStyle/>
          <a:p>
            <a:r>
              <a:rPr lang="en-US"/>
              <a:t>Add a footer</a:t>
            </a:r>
          </a:p>
        </p:txBody>
      </p:sp>
      <p:sp>
        <p:nvSpPr>
          <p:cNvPr id="6" name="Slide Number Placeholder 5"/>
          <p:cNvSpPr>
            <a:spLocks noGrp="1"/>
          </p:cNvSpPr>
          <p:nvPr>
            <p:ph type="sldNum" sz="quarter" idx="12"/>
          </p:nvPr>
        </p:nvSpPr>
        <p:spPr>
          <a:xfrm>
            <a:off x="11484864" y="6305550"/>
            <a:ext cx="609600" cy="476250"/>
          </a:xfrm>
          <a:prstGeom prst="rect">
            <a:avLst/>
          </a:prstGeom>
        </p:spPr>
        <p:txBody>
          <a:bodyPr/>
          <a:lstStyle/>
          <a:p>
            <a:fld id="{401CF334-2D5C-4859-84A6-CA7E6E43FAEB}" type="slidenum">
              <a:rPr lang="en-US" smtClean="0"/>
              <a:t>‹#›</a:t>
            </a:fld>
            <a:endParaRPr lang="en-US"/>
          </a:p>
        </p:txBody>
      </p:sp>
    </p:spTree>
    <p:extLst>
      <p:ext uri="{BB962C8B-B14F-4D97-AF65-F5344CB8AC3E}">
        <p14:creationId xmlns:p14="http://schemas.microsoft.com/office/powerpoint/2010/main" val="1749972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44000" y="274640"/>
            <a:ext cx="2438400" cy="5851525"/>
          </a:xfrm>
          <a:prstGeom prst="rect">
            <a:avLst/>
          </a:prstGeo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1524000" y="274641"/>
            <a:ext cx="7416800" cy="5851525"/>
          </a:xfrm>
          <a:prstGeom prst="rect">
            <a:avLst/>
          </a:prstGeo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a:xfrm>
            <a:off x="4775200" y="6305550"/>
            <a:ext cx="2844800" cy="476250"/>
          </a:xfrm>
          <a:prstGeom prst="rect">
            <a:avLst/>
          </a:prstGeom>
        </p:spPr>
        <p:txBody>
          <a:bodyPr/>
          <a:lstStyle/>
          <a:p>
            <a:fld id="{32A6FFCE-0F4C-460B-B6F1-39F1C7DDDB25}" type="datetime1">
              <a:rPr lang="en-US" smtClean="0"/>
              <a:t>10/21/2018</a:t>
            </a:fld>
            <a:endParaRPr lang="en-US"/>
          </a:p>
        </p:txBody>
      </p:sp>
      <p:sp>
        <p:nvSpPr>
          <p:cNvPr id="5" name="Footer Placeholder 4"/>
          <p:cNvSpPr>
            <a:spLocks noGrp="1"/>
          </p:cNvSpPr>
          <p:nvPr>
            <p:ph type="ftr" sz="quarter" idx="11"/>
          </p:nvPr>
        </p:nvSpPr>
        <p:spPr>
          <a:xfrm>
            <a:off x="7620000" y="6305550"/>
            <a:ext cx="3860800" cy="476250"/>
          </a:xfrm>
          <a:prstGeom prst="rect">
            <a:avLst/>
          </a:prstGeom>
        </p:spPr>
        <p:txBody>
          <a:bodyPr/>
          <a:lstStyle/>
          <a:p>
            <a:r>
              <a:rPr lang="en-US"/>
              <a:t>Add a footer</a:t>
            </a:r>
          </a:p>
        </p:txBody>
      </p:sp>
      <p:sp>
        <p:nvSpPr>
          <p:cNvPr id="6" name="Slide Number Placeholder 5"/>
          <p:cNvSpPr>
            <a:spLocks noGrp="1"/>
          </p:cNvSpPr>
          <p:nvPr>
            <p:ph type="sldNum" sz="quarter" idx="12"/>
          </p:nvPr>
        </p:nvSpPr>
        <p:spPr>
          <a:xfrm>
            <a:off x="11484864" y="6305550"/>
            <a:ext cx="609600" cy="476250"/>
          </a:xfrm>
          <a:prstGeom prst="rect">
            <a:avLst/>
          </a:prstGeom>
        </p:spPr>
        <p:txBody>
          <a:bodyPr/>
          <a:lstStyle/>
          <a:p>
            <a:fld id="{401CF334-2D5C-4859-84A6-CA7E6E43FAEB}" type="slidenum">
              <a:rPr lang="en-US" smtClean="0"/>
              <a:t>‹#›</a:t>
            </a:fld>
            <a:endParaRPr lang="en-US"/>
          </a:p>
        </p:txBody>
      </p:sp>
    </p:spTree>
    <p:extLst>
      <p:ext uri="{BB962C8B-B14F-4D97-AF65-F5344CB8AC3E}">
        <p14:creationId xmlns:p14="http://schemas.microsoft.com/office/powerpoint/2010/main" val="31943509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ltGray">
      <p:bgRef idx="1001">
        <a:schemeClr val="bg2"/>
      </p:bgRef>
    </p:bg>
    <p:spTree>
      <p:nvGrpSpPr>
        <p:cNvPr id="1" name=""/>
        <p:cNvGrpSpPr/>
        <p:nvPr/>
      </p:nvGrpSpPr>
      <p:grpSpPr>
        <a:xfrm>
          <a:off x="0" y="0"/>
          <a:ext cx="0" cy="0"/>
          <a:chOff x="0" y="0"/>
          <a:chExt cx="0" cy="0"/>
        </a:xfrm>
      </p:grpSpPr>
      <p:grpSp>
        <p:nvGrpSpPr>
          <p:cNvPr id="6" name="Group 5"/>
          <p:cNvGrpSpPr/>
          <p:nvPr/>
        </p:nvGrpSpPr>
        <p:grpSpPr>
          <a:xfrm>
            <a:off x="7148" y="-54"/>
            <a:ext cx="12188952" cy="6858054"/>
            <a:chOff x="7148" y="-54"/>
            <a:chExt cx="12188952" cy="6858054"/>
          </a:xfrm>
        </p:grpSpPr>
        <p:sp>
          <p:nvSpPr>
            <p:cNvPr id="4" name="Rectangle 3"/>
            <p:cNvSpPr/>
            <p:nvPr/>
          </p:nvSpPr>
          <p:spPr>
            <a:xfrm>
              <a:off x="7148" y="0"/>
              <a:ext cx="12188952" cy="6858000"/>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p:nvSpPr>
          <p:spPr bwMode="invGray">
            <a:xfrm>
              <a:off x="1473566" y="-54"/>
              <a:ext cx="96070" cy="6858054"/>
            </a:xfrm>
            <a:prstGeom prst="rect">
              <a:avLst/>
            </a:prstGeom>
            <a:solidFill>
              <a:schemeClr val="bg2">
                <a:lumMod val="10000"/>
              </a:schemeClr>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pic>
          <p:nvPicPr>
            <p:cNvPr id="3" name="Picture 2"/>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7148" y="0"/>
              <a:ext cx="1495425" cy="6858000"/>
            </a:xfrm>
            <a:prstGeom prst="rect">
              <a:avLst/>
            </a:prstGeom>
          </p:spPr>
        </p:pic>
      </p:grpSp>
      <p:sp>
        <p:nvSpPr>
          <p:cNvPr id="16" name="Title Placeholder 4"/>
          <p:cNvSpPr>
            <a:spLocks noGrp="1"/>
          </p:cNvSpPr>
          <p:nvPr>
            <p:ph type="title"/>
          </p:nvPr>
        </p:nvSpPr>
        <p:spPr>
          <a:xfrm>
            <a:off x="1914144" y="274638"/>
            <a:ext cx="9997440" cy="1143000"/>
          </a:xfrm>
          <a:prstGeom prst="rect">
            <a:avLst/>
          </a:prstGeom>
        </p:spPr>
        <p:txBody>
          <a:bodyPr anchor="ctr">
            <a:normAutofit/>
          </a:bodyPr>
          <a:lstStyle/>
          <a:p>
            <a:r>
              <a:rPr kumimoji="0" lang="en-US" smtClean="0"/>
              <a:t>Click to edit Master title style</a:t>
            </a:r>
            <a:endParaRPr kumimoji="0" lang="en-US" dirty="0"/>
          </a:p>
        </p:txBody>
      </p:sp>
      <p:sp>
        <p:nvSpPr>
          <p:cNvPr id="17" name="Text Placeholder 8"/>
          <p:cNvSpPr>
            <a:spLocks noGrp="1"/>
          </p:cNvSpPr>
          <p:nvPr>
            <p:ph type="body" idx="1"/>
          </p:nvPr>
        </p:nvSpPr>
        <p:spPr>
          <a:xfrm>
            <a:off x="1914144" y="1447800"/>
            <a:ext cx="9997440" cy="4800600"/>
          </a:xfrm>
          <a:prstGeom prst="rect">
            <a:avLst/>
          </a:prstGeom>
        </p:spPr>
        <p:txBody>
          <a:bodyPr>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dirty="0"/>
          </a:p>
        </p:txBody>
      </p:sp>
      <p:sp>
        <p:nvSpPr>
          <p:cNvPr id="18" name="Date Placeholder 23"/>
          <p:cNvSpPr>
            <a:spLocks noGrp="1"/>
          </p:cNvSpPr>
          <p:nvPr>
            <p:ph type="dt" sz="half" idx="2"/>
          </p:nvPr>
        </p:nvSpPr>
        <p:spPr>
          <a:xfrm>
            <a:off x="4775200" y="6305550"/>
            <a:ext cx="2844800" cy="476250"/>
          </a:xfrm>
          <a:prstGeom prst="rect">
            <a:avLst/>
          </a:prstGeom>
        </p:spPr>
        <p:txBody>
          <a:bodyPr anchor="b"/>
          <a:lstStyle>
            <a:lvl1pPr algn="r" eaLnBrk="1" latinLnBrk="0" hangingPunct="1">
              <a:defRPr kumimoji="0" sz="1100">
                <a:solidFill>
                  <a:schemeClr val="tx2"/>
                </a:solidFill>
              </a:defRPr>
            </a:lvl1pPr>
            <a:extLst/>
          </a:lstStyle>
          <a:p>
            <a:fld id="{98D82361-35A8-4CCE-B21E-788075CA58A4}" type="datetime1">
              <a:rPr lang="en-US" smtClean="0"/>
              <a:t>10/21/2018</a:t>
            </a:fld>
            <a:endParaRPr lang="en-US"/>
          </a:p>
        </p:txBody>
      </p:sp>
      <p:sp>
        <p:nvSpPr>
          <p:cNvPr id="19" name="Footer Placeholder 9"/>
          <p:cNvSpPr>
            <a:spLocks noGrp="1"/>
          </p:cNvSpPr>
          <p:nvPr>
            <p:ph type="ftr" sz="quarter" idx="3"/>
          </p:nvPr>
        </p:nvSpPr>
        <p:spPr>
          <a:xfrm>
            <a:off x="7620000" y="6305550"/>
            <a:ext cx="3860800" cy="476250"/>
          </a:xfrm>
          <a:prstGeom prst="rect">
            <a:avLst/>
          </a:prstGeom>
        </p:spPr>
        <p:txBody>
          <a:bodyPr anchor="b"/>
          <a:lstStyle>
            <a:lvl1pPr eaLnBrk="1" latinLnBrk="0" hangingPunct="1">
              <a:defRPr kumimoji="0" sz="1100">
                <a:solidFill>
                  <a:schemeClr val="tx2"/>
                </a:solidFill>
                <a:effectLst/>
              </a:defRPr>
            </a:lvl1pPr>
            <a:extLst/>
          </a:lstStyle>
          <a:p>
            <a:r>
              <a:rPr lang="en-US"/>
              <a:t>Add a footer</a:t>
            </a:r>
            <a:endParaRPr lang="en-US" dirty="0"/>
          </a:p>
        </p:txBody>
      </p:sp>
      <p:sp>
        <p:nvSpPr>
          <p:cNvPr id="20" name="Slide Number Placeholder 21"/>
          <p:cNvSpPr>
            <a:spLocks noGrp="1"/>
          </p:cNvSpPr>
          <p:nvPr>
            <p:ph type="sldNum" sz="quarter" idx="4"/>
          </p:nvPr>
        </p:nvSpPr>
        <p:spPr>
          <a:xfrm>
            <a:off x="11484864" y="6305550"/>
            <a:ext cx="609600" cy="476250"/>
          </a:xfrm>
          <a:prstGeom prst="rect">
            <a:avLst/>
          </a:prstGeom>
        </p:spPr>
        <p:txBody>
          <a:bodyPr anchor="b"/>
          <a:lstStyle>
            <a:lvl1pPr algn="ctr" eaLnBrk="1" latinLnBrk="0" hangingPunct="1">
              <a:defRPr kumimoji="0" sz="1100">
                <a:solidFill>
                  <a:schemeClr val="tx2"/>
                </a:solidFill>
                <a:effectLst/>
              </a:defRPr>
            </a:lvl1pPr>
            <a:extLst/>
          </a:lstStyle>
          <a:p>
            <a:fld id="{401CF334-2D5C-4859-84A6-CA7E6E43FAEB}" type="slidenum">
              <a:rPr lang="en-US" smtClean="0"/>
              <a:pPr/>
              <a:t>‹#›</a:t>
            </a:fld>
            <a:endParaRPr lang="en-US" dirty="0"/>
          </a:p>
        </p:txBody>
      </p:sp>
    </p:spTree>
    <p:extLst>
      <p:ext uri="{BB962C8B-B14F-4D97-AF65-F5344CB8AC3E}">
        <p14:creationId xmlns:p14="http://schemas.microsoft.com/office/powerpoint/2010/main" val="1260038068"/>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lvl1pPr algn="l" rtl="0" eaLnBrk="1" latinLnBrk="0" hangingPunct="1">
        <a:spcBef>
          <a:spcPct val="0"/>
        </a:spcBef>
        <a:buNone/>
        <a:defRPr kumimoji="0" sz="4300" b="1" kern="1200">
          <a:solidFill>
            <a:schemeClr val="accent2">
              <a:lumMod val="50000"/>
            </a:schemeClr>
          </a:solidFill>
          <a:effectLst/>
          <a:latin typeface="+mj-lt"/>
          <a:ea typeface="+mj-ea"/>
          <a:cs typeface="+mj-cs"/>
        </a:defRPr>
      </a:lvl1pPr>
      <a:extLst/>
    </p:titleStyle>
    <p:bodyStyle>
      <a:lvl1pPr marL="365760" indent="-283464" algn="l" rtl="0" eaLnBrk="1" latinLnBrk="0" hangingPunct="1">
        <a:lnSpc>
          <a:spcPct val="100000"/>
        </a:lnSpc>
        <a:spcBef>
          <a:spcPts val="600"/>
        </a:spcBef>
        <a:buClr>
          <a:schemeClr val="accent1">
            <a:lumMod val="50000"/>
          </a:schemeClr>
        </a:buClr>
        <a:buSzPct val="80000"/>
        <a:buFont typeface="Wingdings 2"/>
        <a:buChar char=""/>
        <a:defRPr kumimoji="0" sz="3200" kern="1200">
          <a:solidFill>
            <a:schemeClr val="tx2">
              <a:lumMod val="75000"/>
            </a:schemeClr>
          </a:solidFill>
          <a:latin typeface="+mn-lt"/>
          <a:ea typeface="+mn-ea"/>
          <a:cs typeface="+mn-cs"/>
        </a:defRPr>
      </a:lvl1pPr>
      <a:lvl2pPr marL="640080" indent="-237744" algn="l" rtl="0" eaLnBrk="1" latinLnBrk="0" hangingPunct="1">
        <a:lnSpc>
          <a:spcPct val="100000"/>
        </a:lnSpc>
        <a:spcBef>
          <a:spcPts val="550"/>
        </a:spcBef>
        <a:buClr>
          <a:schemeClr val="accent1">
            <a:lumMod val="50000"/>
          </a:schemeClr>
        </a:buClr>
        <a:buFont typeface="Verdana"/>
        <a:buChar char="◦"/>
        <a:defRPr kumimoji="0" sz="2800" kern="1200">
          <a:solidFill>
            <a:schemeClr val="tx2">
              <a:lumMod val="75000"/>
            </a:schemeClr>
          </a:solidFill>
          <a:latin typeface="+mn-lt"/>
          <a:ea typeface="+mn-ea"/>
          <a:cs typeface="+mn-cs"/>
        </a:defRPr>
      </a:lvl2pPr>
      <a:lvl3pPr marL="886968" indent="-228600" algn="l" rtl="0" eaLnBrk="1" latinLnBrk="0" hangingPunct="1">
        <a:lnSpc>
          <a:spcPct val="100000"/>
        </a:lnSpc>
        <a:spcBef>
          <a:spcPct val="20000"/>
        </a:spcBef>
        <a:buClr>
          <a:schemeClr val="accent2">
            <a:lumMod val="75000"/>
          </a:schemeClr>
        </a:buClr>
        <a:buFont typeface="Wingdings 2"/>
        <a:buChar char=""/>
        <a:defRPr kumimoji="0" sz="2400" kern="1200">
          <a:solidFill>
            <a:schemeClr val="tx2">
              <a:lumMod val="75000"/>
            </a:schemeClr>
          </a:solidFill>
          <a:latin typeface="+mn-lt"/>
          <a:ea typeface="+mn-ea"/>
          <a:cs typeface="+mn-cs"/>
        </a:defRPr>
      </a:lvl3pPr>
      <a:lvl4pPr marL="1097280" indent="-173736" algn="l" rtl="0" eaLnBrk="1" latinLnBrk="0" hangingPunct="1">
        <a:lnSpc>
          <a:spcPct val="100000"/>
        </a:lnSpc>
        <a:spcBef>
          <a:spcPct val="20000"/>
        </a:spcBef>
        <a:buClr>
          <a:schemeClr val="accent3">
            <a:lumMod val="75000"/>
          </a:schemeClr>
        </a:buClr>
        <a:buFont typeface="Wingdings 2"/>
        <a:buChar char=""/>
        <a:defRPr kumimoji="0" sz="2000" kern="1200">
          <a:solidFill>
            <a:schemeClr val="tx2">
              <a:lumMod val="75000"/>
            </a:schemeClr>
          </a:solidFill>
          <a:latin typeface="+mn-lt"/>
          <a:ea typeface="+mn-ea"/>
          <a:cs typeface="+mn-cs"/>
        </a:defRPr>
      </a:lvl4pPr>
      <a:lvl5pPr marL="1298448" indent="-182880" algn="l" rtl="0" eaLnBrk="1" latinLnBrk="0" hangingPunct="1">
        <a:lnSpc>
          <a:spcPct val="100000"/>
        </a:lnSpc>
        <a:spcBef>
          <a:spcPct val="20000"/>
        </a:spcBef>
        <a:buClr>
          <a:schemeClr val="accent4">
            <a:lumMod val="75000"/>
          </a:schemeClr>
        </a:buClr>
        <a:buFont typeface="Wingdings 2"/>
        <a:buChar char=""/>
        <a:defRPr kumimoji="0" sz="2000" kern="1200">
          <a:solidFill>
            <a:schemeClr val="tx2">
              <a:lumMod val="75000"/>
            </a:schemeClr>
          </a:solidFill>
          <a:latin typeface="+mn-lt"/>
          <a:ea typeface="+mn-ea"/>
          <a:cs typeface="+mn-cs"/>
        </a:defRPr>
      </a:lvl5pPr>
      <a:lvl6pPr marL="1508760" indent="-182880" algn="l" rtl="0" eaLnBrk="1" latinLnBrk="0" hangingPunct="1">
        <a:lnSpc>
          <a:spcPct val="100000"/>
        </a:lnSpc>
        <a:spcBef>
          <a:spcPct val="20000"/>
        </a:spcBef>
        <a:buClr>
          <a:schemeClr val="accent5"/>
        </a:buClr>
        <a:buFont typeface="Wingdings 2"/>
        <a:buChar char=""/>
        <a:defRPr kumimoji="0" sz="2000" kern="1200">
          <a:solidFill>
            <a:schemeClr val="tx1"/>
          </a:solidFill>
          <a:latin typeface="+mn-lt"/>
          <a:ea typeface="+mn-ea"/>
          <a:cs typeface="+mn-cs"/>
        </a:defRPr>
      </a:lvl6pPr>
      <a:lvl7pPr marL="171907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8pPr>
      <a:lvl9pPr marL="213055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extLst mod="1">
    <p:ext uri="{27BBF7A9-308A-43DC-89C8-2F10F3537804}">
      <p15:sldGuideLst xmlns:p15="http://schemas.microsoft.com/office/powerpoint/2012/main">
        <p15:guide id="0" orient="horz" pos="2160" userDrawn="1">
          <p15:clr>
            <a:srgbClr val="F26B43"/>
          </p15:clr>
        </p15:guide>
        <p15:guide id="1" pos="3840" userDrawn="1">
          <p15:clr>
            <a:srgbClr val="F26B43"/>
          </p15:clr>
        </p15:guide>
        <p15:guide id="2" pos="7512" userDrawn="1">
          <p15:clr>
            <a:srgbClr val="F26B43"/>
          </p15:clr>
        </p15:guide>
        <p15:guide id="3" pos="1176" userDrawn="1">
          <p15:clr>
            <a:srgbClr val="F26B43"/>
          </p15:clr>
        </p15:guide>
        <p15:guide id="4" orient="horz" pos="3936" userDrawn="1">
          <p15:clr>
            <a:srgbClr val="F26B43"/>
          </p15:clr>
        </p15:guide>
        <p15:guide id="5" orient="horz" pos="888" userDrawn="1">
          <p15:clr>
            <a:srgbClr val="F26B43"/>
          </p15:clr>
        </p15:guide>
        <p15:guide id="6" orient="horz" pos="168"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69167" y="1197687"/>
            <a:ext cx="9875520" cy="1472184"/>
          </a:xfrm>
        </p:spPr>
        <p:txBody>
          <a:bodyPr>
            <a:normAutofit/>
          </a:bodyPr>
          <a:lstStyle/>
          <a:p>
            <a:pPr rtl="1"/>
            <a:r>
              <a:rPr lang="fa-IR" sz="4400" dirty="0" smtClean="0">
                <a:cs typeface="B Mitra" panose="00000400000000000000" pitchFamily="2" charset="-78"/>
              </a:rPr>
              <a:t>آشنایی با ضوابط نظام فنی و اجرایی کشور</a:t>
            </a:r>
            <a:endParaRPr lang="en-US" sz="4400" dirty="0">
              <a:cs typeface="B Mitra" panose="00000400000000000000" pitchFamily="2" charset="-78"/>
            </a:endParaRPr>
          </a:p>
        </p:txBody>
      </p:sp>
      <p:sp>
        <p:nvSpPr>
          <p:cNvPr id="3" name="Subtitle 2"/>
          <p:cNvSpPr>
            <a:spLocks noGrp="1"/>
          </p:cNvSpPr>
          <p:nvPr>
            <p:ph type="subTitle" idx="1"/>
          </p:nvPr>
        </p:nvSpPr>
        <p:spPr>
          <a:xfrm>
            <a:off x="1369167" y="4305487"/>
            <a:ext cx="9875520" cy="1752600"/>
          </a:xfrm>
        </p:spPr>
        <p:txBody>
          <a:bodyPr>
            <a:normAutofit fontScale="92500" lnSpcReduction="10000"/>
          </a:bodyPr>
          <a:lstStyle/>
          <a:p>
            <a:pPr rtl="1"/>
            <a:endParaRPr lang="fa-IR" sz="2800" dirty="0" smtClean="0">
              <a:cs typeface="B Mitra" panose="00000400000000000000" pitchFamily="2" charset="-78"/>
            </a:endParaRPr>
          </a:p>
          <a:p>
            <a:pPr rtl="1"/>
            <a:endParaRPr lang="fa-IR" sz="2800" dirty="0">
              <a:cs typeface="B Mitra" panose="00000400000000000000" pitchFamily="2" charset="-78"/>
            </a:endParaRPr>
          </a:p>
          <a:p>
            <a:pPr rtl="1"/>
            <a:r>
              <a:rPr lang="fa-IR" sz="2800" dirty="0" smtClean="0">
                <a:cs typeface="B Mitra" panose="00000400000000000000" pitchFamily="2" charset="-78"/>
              </a:rPr>
              <a:t>نسرین ابوالحسنی </a:t>
            </a:r>
          </a:p>
          <a:p>
            <a:pPr rtl="1"/>
            <a:r>
              <a:rPr lang="fa-IR" sz="2400" dirty="0" smtClean="0">
                <a:cs typeface="B Mitra" panose="00000400000000000000" pitchFamily="2" charset="-78"/>
              </a:rPr>
              <a:t>مهرماه 1397</a:t>
            </a:r>
            <a:endParaRPr lang="en-US" sz="2400" dirty="0">
              <a:cs typeface="B Mitra" panose="00000400000000000000" pitchFamily="2" charset="-78"/>
            </a:endParaRPr>
          </a:p>
        </p:txBody>
      </p:sp>
    </p:spTree>
    <p:extLst>
      <p:ext uri="{BB962C8B-B14F-4D97-AF65-F5344CB8AC3E}">
        <p14:creationId xmlns:p14="http://schemas.microsoft.com/office/powerpoint/2010/main" val="26339041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normAutofit/>
          </a:bodyPr>
          <a:lstStyle/>
          <a:p>
            <a:pPr algn="r" rtl="1"/>
            <a:r>
              <a:rPr lang="fa-IR" sz="3200" dirty="0" smtClean="0">
                <a:cs typeface="B Mitra" panose="00000400000000000000" pitchFamily="2" charset="-78"/>
              </a:rPr>
              <a:t>دسته بندی کلان ضوابط نظام فنی و اجرایی</a:t>
            </a:r>
            <a:endParaRPr lang="en-US" sz="3200" dirty="0">
              <a:cs typeface="B Mitra" panose="00000400000000000000" pitchFamily="2" charset="-78"/>
            </a:endParaRPr>
          </a:p>
        </p:txBody>
      </p:sp>
      <p:sp>
        <p:nvSpPr>
          <p:cNvPr id="14" name="Content Placeholder 13"/>
          <p:cNvSpPr>
            <a:spLocks noGrp="1"/>
          </p:cNvSpPr>
          <p:nvPr>
            <p:ph idx="1"/>
          </p:nvPr>
        </p:nvSpPr>
        <p:spPr/>
        <p:txBody>
          <a:bodyPr/>
          <a:lstStyle/>
          <a:p>
            <a:pPr lvl="0" algn="r" rtl="1">
              <a:buFont typeface="Wingdings" panose="05000000000000000000" pitchFamily="2" charset="2"/>
              <a:buChar char="ü"/>
            </a:pPr>
            <a:endParaRPr lang="fa-IR" b="1" dirty="0" smtClean="0">
              <a:cs typeface="B Mitra" panose="00000400000000000000" pitchFamily="2" charset="-78"/>
            </a:endParaRPr>
          </a:p>
          <a:p>
            <a:pPr lvl="0" algn="r" rtl="1">
              <a:buFont typeface="Wingdings" panose="05000000000000000000" pitchFamily="2" charset="2"/>
              <a:buChar char="ü"/>
            </a:pPr>
            <a:r>
              <a:rPr lang="fa-IR" b="1" dirty="0" smtClean="0">
                <a:cs typeface="B Mitra" panose="00000400000000000000" pitchFamily="2" charset="-78"/>
              </a:rPr>
              <a:t>ضوابط و مقررات عمومی یا بالادستی </a:t>
            </a:r>
            <a:r>
              <a:rPr lang="fa-IR" dirty="0" smtClean="0">
                <a:cs typeface="B Mitra" panose="00000400000000000000" pitchFamily="2" charset="-78"/>
              </a:rPr>
              <a:t>(مانند سند نظام فنی و اجرایی، قانون برگزاری مناقصات، آئین نامه تضمین و...)</a:t>
            </a:r>
          </a:p>
          <a:p>
            <a:pPr marL="82296" lvl="0" indent="0" algn="r" rtl="1">
              <a:buNone/>
            </a:pPr>
            <a:endParaRPr lang="fa-IR" dirty="0" smtClean="0">
              <a:cs typeface="B Mitra" panose="00000400000000000000" pitchFamily="2" charset="-78"/>
            </a:endParaRPr>
          </a:p>
          <a:p>
            <a:pPr lvl="0" algn="r" rtl="1">
              <a:buFont typeface="Wingdings" panose="05000000000000000000" pitchFamily="2" charset="2"/>
              <a:buChar char="ü"/>
            </a:pPr>
            <a:r>
              <a:rPr lang="fa-IR" b="1" dirty="0" smtClean="0">
                <a:cs typeface="B Mitra" panose="00000400000000000000" pitchFamily="2" charset="-78"/>
              </a:rPr>
              <a:t>ضوابط و مقررات اختصاصی </a:t>
            </a:r>
            <a:r>
              <a:rPr lang="fa-IR" dirty="0" smtClean="0">
                <a:cs typeface="B Mitra" panose="00000400000000000000" pitchFamily="2" charset="-78"/>
              </a:rPr>
              <a:t>(فهرست بهای واحد پایه ابنیه، حق الزحمه نقشه برداری و...)</a:t>
            </a:r>
            <a:endParaRPr lang="en-US" dirty="0">
              <a:cs typeface="B Mitra" panose="00000400000000000000" pitchFamily="2" charset="-78"/>
            </a:endParaRPr>
          </a:p>
        </p:txBody>
      </p:sp>
    </p:spTree>
    <p:extLst>
      <p:ext uri="{BB962C8B-B14F-4D97-AF65-F5344CB8AC3E}">
        <p14:creationId xmlns:p14="http://schemas.microsoft.com/office/powerpoint/2010/main" val="9886007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normAutofit/>
          </a:bodyPr>
          <a:lstStyle/>
          <a:p>
            <a:pPr algn="r" rtl="1"/>
            <a:r>
              <a:rPr lang="fa-IR" sz="3200" dirty="0" smtClean="0">
                <a:cs typeface="B Mitra" panose="00000400000000000000" pitchFamily="2" charset="-78"/>
              </a:rPr>
              <a:t>مواد (22) و (23) قانون برنامه و بودجه کشور</a:t>
            </a:r>
            <a:endParaRPr lang="en-US" sz="3200" dirty="0">
              <a:cs typeface="B Mitra" panose="00000400000000000000" pitchFamily="2" charset="-78"/>
            </a:endParaRPr>
          </a:p>
        </p:txBody>
      </p:sp>
      <p:sp>
        <p:nvSpPr>
          <p:cNvPr id="14" name="Content Placeholder 13"/>
          <p:cNvSpPr>
            <a:spLocks noGrp="1"/>
          </p:cNvSpPr>
          <p:nvPr>
            <p:ph idx="1"/>
          </p:nvPr>
        </p:nvSpPr>
        <p:spPr/>
        <p:txBody>
          <a:bodyPr/>
          <a:lstStyle/>
          <a:p>
            <a:pPr lvl="0" algn="r" rtl="1">
              <a:buFont typeface="Wingdings" panose="05000000000000000000" pitchFamily="2" charset="2"/>
              <a:buChar char="ü"/>
            </a:pPr>
            <a:endParaRPr lang="fa-IR" b="1" dirty="0" smtClean="0">
              <a:cs typeface="B Mitra" panose="00000400000000000000" pitchFamily="2" charset="-78"/>
            </a:endParaRPr>
          </a:p>
          <a:p>
            <a:pPr lvl="0" algn="r" rtl="1">
              <a:buFont typeface="Wingdings" panose="05000000000000000000" pitchFamily="2" charset="2"/>
              <a:buChar char="ü"/>
            </a:pPr>
            <a:r>
              <a:rPr lang="fa-IR" sz="2800" b="1" dirty="0" smtClean="0">
                <a:cs typeface="B Mitra" panose="00000400000000000000" pitchFamily="2" charset="-78"/>
              </a:rPr>
              <a:t>ماده (22): ضرورت تشخیص صلاحیت و طبقه بندی مشاوران و پیمانکاران</a:t>
            </a:r>
            <a:endParaRPr lang="fa-IR" sz="2800" dirty="0" smtClean="0">
              <a:cs typeface="B Mitra" panose="00000400000000000000" pitchFamily="2" charset="-78"/>
            </a:endParaRPr>
          </a:p>
          <a:p>
            <a:pPr marL="82296" lvl="0" indent="0" algn="r" rtl="1">
              <a:buNone/>
            </a:pPr>
            <a:endParaRPr lang="fa-IR" sz="2800" dirty="0" smtClean="0">
              <a:cs typeface="B Mitra" panose="00000400000000000000" pitchFamily="2" charset="-78"/>
            </a:endParaRPr>
          </a:p>
          <a:p>
            <a:pPr lvl="0" algn="r" rtl="1">
              <a:buFont typeface="Wingdings" panose="05000000000000000000" pitchFamily="2" charset="2"/>
              <a:buChar char="ü"/>
            </a:pPr>
            <a:r>
              <a:rPr lang="fa-IR" sz="2800" b="1" dirty="0" smtClean="0">
                <a:cs typeface="B Mitra" panose="00000400000000000000" pitchFamily="2" charset="-78"/>
              </a:rPr>
              <a:t>ماده (23): تهیه و ابلاغ معیارها، استانداردها، شرایط عمومی قراردادها و ...</a:t>
            </a:r>
            <a:r>
              <a:rPr lang="fa-IR" sz="2800" b="1" u="sng" dirty="0" smtClean="0">
                <a:cs typeface="B Mitra" panose="00000400000000000000" pitchFamily="2" charset="-78"/>
              </a:rPr>
              <a:t>طرح های عمرانی (تملک دارایی های سرمایه ای)</a:t>
            </a:r>
            <a:endParaRPr lang="en-US" sz="2800" u="sng" dirty="0">
              <a:cs typeface="B Mitra" panose="00000400000000000000" pitchFamily="2" charset="-78"/>
            </a:endParaRPr>
          </a:p>
        </p:txBody>
      </p:sp>
    </p:spTree>
    <p:extLst>
      <p:ext uri="{BB962C8B-B14F-4D97-AF65-F5344CB8AC3E}">
        <p14:creationId xmlns:p14="http://schemas.microsoft.com/office/powerpoint/2010/main" val="5468229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normAutofit/>
          </a:bodyPr>
          <a:lstStyle/>
          <a:p>
            <a:pPr algn="r" rtl="1"/>
            <a:r>
              <a:rPr lang="fa-IR" sz="3200" dirty="0" smtClean="0">
                <a:cs typeface="B Mitra" panose="00000400000000000000" pitchFamily="2" charset="-78"/>
              </a:rPr>
              <a:t>آئین نامه استانداردهای اجرایی کشور مصوب 1352/4/31</a:t>
            </a:r>
            <a:endParaRPr lang="en-US" sz="3200" dirty="0">
              <a:cs typeface="B Mitra" panose="00000400000000000000" pitchFamily="2" charset="-78"/>
            </a:endParaRPr>
          </a:p>
        </p:txBody>
      </p:sp>
      <p:sp>
        <p:nvSpPr>
          <p:cNvPr id="14" name="Content Placeholder 13"/>
          <p:cNvSpPr>
            <a:spLocks noGrp="1"/>
          </p:cNvSpPr>
          <p:nvPr>
            <p:ph idx="1"/>
          </p:nvPr>
        </p:nvSpPr>
        <p:spPr/>
        <p:txBody>
          <a:bodyPr>
            <a:normAutofit/>
          </a:bodyPr>
          <a:lstStyle/>
          <a:p>
            <a:pPr lvl="0" algn="r" rtl="1">
              <a:buFont typeface="Wingdings" panose="05000000000000000000" pitchFamily="2" charset="2"/>
              <a:buChar char="ü"/>
            </a:pPr>
            <a:endParaRPr lang="fa-IR" b="1" dirty="0" smtClean="0">
              <a:cs typeface="B Mitra" panose="00000400000000000000" pitchFamily="2" charset="-78"/>
            </a:endParaRPr>
          </a:p>
          <a:p>
            <a:pPr marL="82296" lvl="0" indent="0" algn="r" rtl="1">
              <a:buNone/>
            </a:pPr>
            <a:r>
              <a:rPr lang="fa-IR" b="1" dirty="0" smtClean="0">
                <a:cs typeface="B Mitra" panose="00000400000000000000" pitchFamily="2" charset="-78"/>
              </a:rPr>
              <a:t>هدف از تدوین این آئین نامه </a:t>
            </a:r>
            <a:r>
              <a:rPr lang="fa-IR" sz="2000" b="1" dirty="0" smtClean="0">
                <a:cs typeface="B Mitra" panose="00000400000000000000" pitchFamily="2" charset="-78"/>
              </a:rPr>
              <a:t>(آئین نامه اجرایی ماده (23) قانون برنامه و بودجه)</a:t>
            </a:r>
            <a:r>
              <a:rPr lang="fa-IR" b="1" dirty="0" smtClean="0">
                <a:cs typeface="B Mitra" panose="00000400000000000000" pitchFamily="2" charset="-78"/>
              </a:rPr>
              <a:t> :</a:t>
            </a:r>
          </a:p>
          <a:p>
            <a:pPr algn="r" rtl="1">
              <a:buFont typeface="Arial" panose="020B0604020202020204" pitchFamily="34" charset="0"/>
              <a:buChar char="•"/>
            </a:pPr>
            <a:r>
              <a:rPr lang="fa-IR" sz="2400" b="1" dirty="0" smtClean="0">
                <a:cs typeface="B Mitra" panose="00000400000000000000" pitchFamily="2" charset="-78"/>
              </a:rPr>
              <a:t>بالا بردن کیفیت طرح های عمرانی</a:t>
            </a:r>
          </a:p>
          <a:p>
            <a:pPr algn="r" rtl="1">
              <a:buFont typeface="Arial" panose="020B0604020202020204" pitchFamily="34" charset="0"/>
              <a:buChar char="•"/>
            </a:pPr>
            <a:r>
              <a:rPr lang="fa-IR" sz="2400" b="1" dirty="0" smtClean="0">
                <a:cs typeface="B Mitra" panose="00000400000000000000" pitchFamily="2" charset="-78"/>
              </a:rPr>
              <a:t>کاهش هزینه های اجرایی</a:t>
            </a:r>
          </a:p>
          <a:p>
            <a:pPr algn="r" rtl="1">
              <a:buFont typeface="Arial" panose="020B0604020202020204" pitchFamily="34" charset="0"/>
              <a:buChar char="•"/>
            </a:pPr>
            <a:r>
              <a:rPr lang="fa-IR" sz="2400" b="1" dirty="0" smtClean="0">
                <a:cs typeface="B Mitra" panose="00000400000000000000" pitchFamily="2" charset="-78"/>
              </a:rPr>
              <a:t>جلوگیری از هزینه های زائد</a:t>
            </a:r>
          </a:p>
          <a:p>
            <a:pPr algn="r" rtl="1">
              <a:buFont typeface="Arial" panose="020B0604020202020204" pitchFamily="34" charset="0"/>
              <a:buChar char="•"/>
            </a:pPr>
            <a:r>
              <a:rPr lang="fa-IR" sz="2400" b="1" dirty="0" smtClean="0">
                <a:cs typeface="B Mitra" panose="00000400000000000000" pitchFamily="2" charset="-78"/>
              </a:rPr>
              <a:t>استفاده بهتر از نیروی انسانی</a:t>
            </a:r>
          </a:p>
          <a:p>
            <a:pPr lvl="0" algn="r" rtl="1">
              <a:buFont typeface="Wingdings" panose="05000000000000000000" pitchFamily="2" charset="2"/>
              <a:buChar char="ü"/>
            </a:pPr>
            <a:endParaRPr lang="fa-IR" sz="2400" dirty="0" smtClean="0">
              <a:cs typeface="B Mitra" panose="00000400000000000000" pitchFamily="2" charset="-78"/>
            </a:endParaRPr>
          </a:p>
          <a:p>
            <a:pPr marL="82296" lvl="0" indent="0" algn="r" rtl="1">
              <a:buNone/>
            </a:pPr>
            <a:endParaRPr lang="fa-IR" dirty="0" smtClean="0">
              <a:cs typeface="B Mitra" panose="00000400000000000000" pitchFamily="2" charset="-78"/>
            </a:endParaRPr>
          </a:p>
        </p:txBody>
      </p:sp>
    </p:spTree>
    <p:extLst>
      <p:ext uri="{BB962C8B-B14F-4D97-AF65-F5344CB8AC3E}">
        <p14:creationId xmlns:p14="http://schemas.microsoft.com/office/powerpoint/2010/main" val="41578763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normAutofit/>
          </a:bodyPr>
          <a:lstStyle/>
          <a:p>
            <a:pPr algn="r" rtl="1"/>
            <a:r>
              <a:rPr lang="fa-IR" sz="3200" dirty="0" smtClean="0">
                <a:cs typeface="B Mitra" panose="00000400000000000000" pitchFamily="2" charset="-78"/>
              </a:rPr>
              <a:t>آئین نامه استانداردهای اجرایی کشور مصوب 1352/4/31</a:t>
            </a:r>
            <a:endParaRPr lang="en-US" sz="3200" dirty="0">
              <a:cs typeface="B Mitra" panose="00000400000000000000" pitchFamily="2" charset="-78"/>
            </a:endParaRPr>
          </a:p>
        </p:txBody>
      </p:sp>
      <p:sp>
        <p:nvSpPr>
          <p:cNvPr id="14" name="Content Placeholder 13"/>
          <p:cNvSpPr>
            <a:spLocks noGrp="1"/>
          </p:cNvSpPr>
          <p:nvPr>
            <p:ph idx="1"/>
          </p:nvPr>
        </p:nvSpPr>
        <p:spPr/>
        <p:txBody>
          <a:bodyPr>
            <a:normAutofit/>
          </a:bodyPr>
          <a:lstStyle/>
          <a:p>
            <a:pPr marL="82296" lvl="0" indent="0" algn="r" rtl="1">
              <a:buNone/>
            </a:pPr>
            <a:r>
              <a:rPr lang="fa-IR" b="1" dirty="0" smtClean="0">
                <a:cs typeface="B Mitra" panose="00000400000000000000" pitchFamily="2" charset="-78"/>
              </a:rPr>
              <a:t>گروه بندی دستورالعمل های ابلاغی برای طرح های عمرانی</a:t>
            </a:r>
          </a:p>
          <a:p>
            <a:pPr algn="r" rtl="1">
              <a:lnSpc>
                <a:spcPct val="150000"/>
              </a:lnSpc>
              <a:buFont typeface="Arial" panose="020B0604020202020204" pitchFamily="34" charset="0"/>
              <a:buChar char="•"/>
            </a:pPr>
            <a:r>
              <a:rPr lang="fa-IR" sz="2400" b="1" dirty="0" smtClean="0">
                <a:cs typeface="B Mitra" panose="00000400000000000000" pitchFamily="2" charset="-78"/>
              </a:rPr>
              <a:t>گروه اول (لازم الاجرا): رعایت آنها (بدون هیچ گونه تغییری) توسط </a:t>
            </a:r>
            <a:r>
              <a:rPr lang="fa-IR" sz="2400" b="1" dirty="0">
                <a:cs typeface="B Mitra" panose="00000400000000000000" pitchFamily="2" charset="-78"/>
              </a:rPr>
              <a:t>عوامل مرتبط </a:t>
            </a:r>
            <a:r>
              <a:rPr lang="fa-IR" sz="2400" b="1" dirty="0" smtClean="0">
                <a:cs typeface="B Mitra" panose="00000400000000000000" pitchFamily="2" charset="-78"/>
              </a:rPr>
              <a:t>ضروری است، مانند فرم ضمانت نامه ها، استانداردهای فنی و...</a:t>
            </a:r>
          </a:p>
          <a:p>
            <a:pPr algn="r" rtl="1">
              <a:lnSpc>
                <a:spcPct val="150000"/>
              </a:lnSpc>
              <a:buFont typeface="Arial" panose="020B0604020202020204" pitchFamily="34" charset="0"/>
              <a:buChar char="•"/>
            </a:pPr>
            <a:r>
              <a:rPr lang="fa-IR" sz="2400" b="1" dirty="0" smtClean="0">
                <a:cs typeface="B Mitra" panose="00000400000000000000" pitchFamily="2" charset="-78"/>
              </a:rPr>
              <a:t>گروه دوم (لازم الاجرا): رعایت آنها برای عوامل مرتبط ضروری است ولی در محدوده ای که در دستورالعمل اجازه داده شده، امکان تغییر وجود دارد، مانند حق الزحمه خدمات مشاوره</a:t>
            </a:r>
          </a:p>
          <a:p>
            <a:pPr algn="r" rtl="1">
              <a:lnSpc>
                <a:spcPct val="150000"/>
              </a:lnSpc>
              <a:buFont typeface="Arial" panose="020B0604020202020204" pitchFamily="34" charset="0"/>
              <a:buChar char="•"/>
            </a:pPr>
            <a:r>
              <a:rPr lang="fa-IR" sz="2400" b="1" dirty="0" smtClean="0">
                <a:cs typeface="B Mitra" panose="00000400000000000000" pitchFamily="2" charset="-78"/>
              </a:rPr>
              <a:t>گروه سوم: دستورالعمل هایی هستند که صرفا برای راهنما ابلاغ می شوند و عوامل اگر مورد بهتری داشته باشند، می توانند بجای آنها استفاده کنند.</a:t>
            </a:r>
          </a:p>
          <a:p>
            <a:pPr lvl="0" algn="r" rtl="1">
              <a:buFont typeface="Wingdings" panose="05000000000000000000" pitchFamily="2" charset="2"/>
              <a:buChar char="ü"/>
            </a:pPr>
            <a:endParaRPr lang="fa-IR" sz="2400" dirty="0" smtClean="0">
              <a:cs typeface="B Mitra" panose="00000400000000000000" pitchFamily="2" charset="-78"/>
            </a:endParaRPr>
          </a:p>
          <a:p>
            <a:pPr marL="82296" lvl="0" indent="0" algn="r" rtl="1">
              <a:buNone/>
            </a:pPr>
            <a:endParaRPr lang="fa-IR" dirty="0" smtClean="0">
              <a:cs typeface="B Mitra" panose="00000400000000000000" pitchFamily="2" charset="-78"/>
            </a:endParaRPr>
          </a:p>
        </p:txBody>
      </p:sp>
    </p:spTree>
    <p:extLst>
      <p:ext uri="{BB962C8B-B14F-4D97-AF65-F5344CB8AC3E}">
        <p14:creationId xmlns:p14="http://schemas.microsoft.com/office/powerpoint/2010/main" val="4290894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normAutofit/>
          </a:bodyPr>
          <a:lstStyle/>
          <a:p>
            <a:pPr algn="r" rtl="1"/>
            <a:r>
              <a:rPr lang="fa-IR" sz="3200" dirty="0" smtClean="0">
                <a:cs typeface="B Mitra" panose="00000400000000000000" pitchFamily="2" charset="-78"/>
              </a:rPr>
              <a:t>ماده (34) قانون احکام دائمی توسعه کشور</a:t>
            </a:r>
            <a:endParaRPr lang="en-US" sz="3200" dirty="0">
              <a:cs typeface="B Mitra" panose="00000400000000000000" pitchFamily="2" charset="-78"/>
            </a:endParaRPr>
          </a:p>
        </p:txBody>
      </p:sp>
      <p:sp>
        <p:nvSpPr>
          <p:cNvPr id="14" name="Content Placeholder 13"/>
          <p:cNvSpPr>
            <a:spLocks noGrp="1"/>
          </p:cNvSpPr>
          <p:nvPr>
            <p:ph idx="1"/>
          </p:nvPr>
        </p:nvSpPr>
        <p:spPr/>
        <p:txBody>
          <a:bodyPr/>
          <a:lstStyle/>
          <a:p>
            <a:pPr lvl="0" algn="r" rtl="1">
              <a:buFont typeface="Wingdings" panose="05000000000000000000" pitchFamily="2" charset="2"/>
              <a:buChar char="ü"/>
            </a:pPr>
            <a:endParaRPr lang="fa-IR" b="1" dirty="0" smtClean="0">
              <a:cs typeface="B Mitra" panose="00000400000000000000" pitchFamily="2" charset="-78"/>
            </a:endParaRPr>
          </a:p>
          <a:p>
            <a:pPr lvl="0" algn="r" rtl="1">
              <a:buFont typeface="Wingdings" panose="05000000000000000000" pitchFamily="2" charset="2"/>
              <a:buChar char="ü"/>
            </a:pPr>
            <a:r>
              <a:rPr lang="fa-IR" b="1" dirty="0" smtClean="0">
                <a:cs typeface="B Mitra" panose="00000400000000000000" pitchFamily="2" charset="-78"/>
              </a:rPr>
              <a:t>حوزه شمول : تمام وجوه عمومی کشور</a:t>
            </a:r>
            <a:endParaRPr lang="fa-IR" dirty="0" smtClean="0">
              <a:cs typeface="B Mitra" panose="00000400000000000000" pitchFamily="2" charset="-78"/>
            </a:endParaRPr>
          </a:p>
          <a:p>
            <a:pPr marL="82296" lvl="0" indent="0" algn="r" rtl="1">
              <a:buNone/>
            </a:pPr>
            <a:endParaRPr lang="fa-IR" dirty="0" smtClean="0">
              <a:cs typeface="B Mitra" panose="00000400000000000000" pitchFamily="2" charset="-78"/>
            </a:endParaRPr>
          </a:p>
          <a:p>
            <a:pPr lvl="0" algn="r" rtl="1">
              <a:buFont typeface="Wingdings" panose="05000000000000000000" pitchFamily="2" charset="2"/>
              <a:buChar char="ü"/>
            </a:pPr>
            <a:r>
              <a:rPr lang="fa-IR" b="1" dirty="0" smtClean="0">
                <a:cs typeface="B Mitra" panose="00000400000000000000" pitchFamily="2" charset="-78"/>
              </a:rPr>
              <a:t>ضرورت احراز صلاحیت مجریان طرح ها</a:t>
            </a:r>
          </a:p>
          <a:p>
            <a:pPr marL="82296" lvl="0" indent="0" algn="r" rtl="1">
              <a:buNone/>
            </a:pPr>
            <a:endParaRPr lang="fa-IR" b="1" dirty="0">
              <a:cs typeface="B Mitra" panose="00000400000000000000" pitchFamily="2" charset="-78"/>
            </a:endParaRPr>
          </a:p>
          <a:p>
            <a:pPr marL="82296" lvl="0" indent="0" algn="r" rtl="1">
              <a:buNone/>
            </a:pPr>
            <a:r>
              <a:rPr lang="fa-IR" dirty="0" smtClean="0">
                <a:cs typeface="B Mitra" panose="00000400000000000000" pitchFamily="2" charset="-78"/>
              </a:rPr>
              <a:t>تا ابلاغ آئین نامه اجرایی قانون یاد شده و تهیه سند نظام فنی و اجرایی یکپارچه کشور، نظام فنی و اجرایی کشور، مصوب سال 1385 هیأت وزیران به قوت خود باقی است.</a:t>
            </a:r>
            <a:endParaRPr lang="en-US" dirty="0">
              <a:cs typeface="B Mitra" panose="00000400000000000000" pitchFamily="2" charset="-78"/>
            </a:endParaRPr>
          </a:p>
        </p:txBody>
      </p:sp>
    </p:spTree>
    <p:extLst>
      <p:ext uri="{BB962C8B-B14F-4D97-AF65-F5344CB8AC3E}">
        <p14:creationId xmlns:p14="http://schemas.microsoft.com/office/powerpoint/2010/main" val="24479951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normAutofit/>
          </a:bodyPr>
          <a:lstStyle/>
          <a:p>
            <a:pPr algn="r" rtl="1"/>
            <a:r>
              <a:rPr lang="fa-IR" sz="3200" dirty="0" smtClean="0">
                <a:cs typeface="B Mitra" panose="00000400000000000000" pitchFamily="2" charset="-78"/>
              </a:rPr>
              <a:t>سند نظام فنی و اجرایی سال 1385</a:t>
            </a:r>
            <a:endParaRPr lang="en-US" sz="3200" dirty="0">
              <a:cs typeface="B Mitra" panose="00000400000000000000" pitchFamily="2" charset="-78"/>
            </a:endParaRPr>
          </a:p>
        </p:txBody>
      </p:sp>
      <p:sp>
        <p:nvSpPr>
          <p:cNvPr id="14" name="Content Placeholder 13"/>
          <p:cNvSpPr>
            <a:spLocks noGrp="1"/>
          </p:cNvSpPr>
          <p:nvPr>
            <p:ph idx="1"/>
          </p:nvPr>
        </p:nvSpPr>
        <p:spPr/>
        <p:txBody>
          <a:bodyPr/>
          <a:lstStyle/>
          <a:p>
            <a:pPr lvl="0" algn="r" rtl="1">
              <a:lnSpc>
                <a:spcPct val="150000"/>
              </a:lnSpc>
              <a:buFont typeface="Wingdings" panose="05000000000000000000" pitchFamily="2" charset="2"/>
              <a:buChar char="ü"/>
            </a:pPr>
            <a:r>
              <a:rPr lang="fa-IR" sz="2800" b="1" dirty="0" smtClean="0">
                <a:cs typeface="B Mitra" panose="00000400000000000000" pitchFamily="2" charset="-78"/>
              </a:rPr>
              <a:t>نظام فنی و اجرایی: </a:t>
            </a:r>
            <a:r>
              <a:rPr lang="fa-IR" sz="2400" b="1" dirty="0" smtClean="0">
                <a:cs typeface="B Mitra" panose="00000400000000000000" pitchFamily="2" charset="-78"/>
              </a:rPr>
              <a:t>مجموعه اصول، فرایندها، اسناد مربوط به مدیریت، پدیدآوری و بهره برداری پروژه های سرمایه گذاری است.</a:t>
            </a:r>
            <a:endParaRPr lang="fa-IR" sz="2800" b="1" dirty="0" smtClean="0">
              <a:cs typeface="B Mitra" panose="00000400000000000000" pitchFamily="2" charset="-78"/>
            </a:endParaRPr>
          </a:p>
          <a:p>
            <a:pPr lvl="0" algn="r" rtl="1">
              <a:lnSpc>
                <a:spcPct val="150000"/>
              </a:lnSpc>
              <a:buFont typeface="Wingdings" panose="05000000000000000000" pitchFamily="2" charset="2"/>
              <a:buChar char="ü"/>
            </a:pPr>
            <a:r>
              <a:rPr lang="fa-IR" sz="2800" b="1" dirty="0" smtClean="0">
                <a:cs typeface="B Mitra" panose="00000400000000000000" pitchFamily="2" charset="-78"/>
              </a:rPr>
              <a:t>دامنه کاربرد این سند: </a:t>
            </a:r>
            <a:r>
              <a:rPr lang="fa-IR" sz="2400" b="1" dirty="0" smtClean="0">
                <a:cs typeface="B Mitra" panose="00000400000000000000" pitchFamily="2" charset="-78"/>
              </a:rPr>
              <a:t>دستگاه های موضوع ماده 160 قانون برنامه چهارم و متعاقبا دستگاه های ماده 222 قانون برنامه پنجم  توسعه است.</a:t>
            </a:r>
          </a:p>
          <a:p>
            <a:pPr lvl="0" algn="r" rtl="1">
              <a:lnSpc>
                <a:spcPct val="150000"/>
              </a:lnSpc>
              <a:buFont typeface="Wingdings" panose="05000000000000000000" pitchFamily="2" charset="2"/>
              <a:buChar char="ü"/>
            </a:pPr>
            <a:r>
              <a:rPr lang="fa-IR" sz="2800" b="1" dirty="0" smtClean="0">
                <a:cs typeface="B Mitra" panose="00000400000000000000" pitchFamily="2" charset="-78"/>
              </a:rPr>
              <a:t>هدف: </a:t>
            </a:r>
            <a:r>
              <a:rPr lang="fa-IR" sz="2400" b="1" dirty="0" smtClean="0">
                <a:cs typeface="B Mitra" panose="00000400000000000000" pitchFamily="2" charset="-78"/>
              </a:rPr>
              <a:t>استقرار نظام یکپارچه برای پدیدآوری طرح های سرمایه گذاری با افزایش اثربخشی و کارآمدی پروژه هاست.</a:t>
            </a:r>
          </a:p>
          <a:p>
            <a:pPr lvl="0" algn="r" rtl="1">
              <a:buFont typeface="Wingdings" panose="05000000000000000000" pitchFamily="2" charset="2"/>
              <a:buChar char="ü"/>
            </a:pPr>
            <a:r>
              <a:rPr lang="fa-IR" sz="2800" b="1" dirty="0" smtClean="0">
                <a:cs typeface="B Mitra" panose="00000400000000000000" pitchFamily="2" charset="-78"/>
              </a:rPr>
              <a:t>ساختار سند:</a:t>
            </a:r>
            <a:r>
              <a:rPr lang="fa-IR" sz="2400" b="1" dirty="0" smtClean="0">
                <a:cs typeface="B Mitra" panose="00000400000000000000" pitchFamily="2" charset="-78"/>
              </a:rPr>
              <a:t> شامل سه سامانه مدیریت، پدیدآوری و اسناد می باشد.</a:t>
            </a:r>
            <a:endParaRPr lang="fa-IR" sz="2400" dirty="0" smtClean="0">
              <a:cs typeface="B Mitra" panose="00000400000000000000" pitchFamily="2" charset="-78"/>
            </a:endParaRPr>
          </a:p>
          <a:p>
            <a:pPr marL="82296" lvl="0" indent="0" algn="r" rtl="1">
              <a:buNone/>
            </a:pPr>
            <a:endParaRPr lang="fa-IR" dirty="0" smtClean="0">
              <a:cs typeface="B Mitra" panose="00000400000000000000" pitchFamily="2" charset="-78"/>
            </a:endParaRPr>
          </a:p>
        </p:txBody>
      </p:sp>
    </p:spTree>
    <p:extLst>
      <p:ext uri="{BB962C8B-B14F-4D97-AF65-F5344CB8AC3E}">
        <p14:creationId xmlns:p14="http://schemas.microsoft.com/office/powerpoint/2010/main" val="35554406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normAutofit/>
          </a:bodyPr>
          <a:lstStyle/>
          <a:p>
            <a:pPr algn="r" rtl="1"/>
            <a:r>
              <a:rPr lang="fa-IR" sz="3200" dirty="0" smtClean="0">
                <a:cs typeface="B Mitra" panose="00000400000000000000" pitchFamily="2" charset="-78"/>
              </a:rPr>
              <a:t>سند نظام فنی و اجرایی سال 1385</a:t>
            </a:r>
            <a:endParaRPr lang="en-US" sz="3200" dirty="0">
              <a:cs typeface="B Mitra" panose="00000400000000000000" pitchFamily="2" charset="-78"/>
            </a:endParaRPr>
          </a:p>
        </p:txBody>
      </p:sp>
      <p:sp>
        <p:nvSpPr>
          <p:cNvPr id="14" name="Content Placeholder 13"/>
          <p:cNvSpPr>
            <a:spLocks noGrp="1"/>
          </p:cNvSpPr>
          <p:nvPr>
            <p:ph idx="1"/>
          </p:nvPr>
        </p:nvSpPr>
        <p:spPr/>
        <p:txBody>
          <a:bodyPr/>
          <a:lstStyle/>
          <a:p>
            <a:pPr lvl="0" algn="just" rtl="1">
              <a:lnSpc>
                <a:spcPct val="150000"/>
              </a:lnSpc>
              <a:buFont typeface="Wingdings" panose="05000000000000000000" pitchFamily="2" charset="2"/>
              <a:buChar char="ü"/>
            </a:pPr>
            <a:r>
              <a:rPr lang="fa-IR" sz="2800" b="1" dirty="0" smtClean="0">
                <a:cs typeface="B Mitra" panose="00000400000000000000" pitchFamily="2" charset="-78"/>
              </a:rPr>
              <a:t>سامانه مدیریت: </a:t>
            </a:r>
            <a:r>
              <a:rPr lang="fa-IR" sz="2200" b="1" dirty="0" smtClean="0">
                <a:cs typeface="B Mitra" panose="00000400000000000000" pitchFamily="2" charset="-78"/>
              </a:rPr>
              <a:t>برنامه ریزی، ساماندهی، هدایت فعالیت ها خارج از محیط پروژه ها می باشد: ترویج اخلاق حرفه ای، زمینه سازی صدور خدمات مهندسی، احراز صلاحیت عوامل، ایجاد فضای رقابتی و...</a:t>
            </a:r>
          </a:p>
          <a:p>
            <a:pPr lvl="0" algn="r" rtl="1">
              <a:lnSpc>
                <a:spcPct val="150000"/>
              </a:lnSpc>
              <a:buFont typeface="Wingdings" panose="05000000000000000000" pitchFamily="2" charset="2"/>
              <a:buChar char="ü"/>
            </a:pPr>
            <a:r>
              <a:rPr lang="fa-IR" sz="2800" b="1" dirty="0" smtClean="0">
                <a:cs typeface="B Mitra" panose="00000400000000000000" pitchFamily="2" charset="-78"/>
              </a:rPr>
              <a:t>سامانه پدیدآوری:</a:t>
            </a:r>
            <a:r>
              <a:rPr lang="fa-IR" sz="2200" b="1" dirty="0" smtClean="0">
                <a:cs typeface="B Mitra" panose="00000400000000000000" pitchFamily="2" charset="-78"/>
              </a:rPr>
              <a:t> فعالیت های مربوط به محیط پروژه از انجام مطالعات پیدایش، مطالعات توجیهی، طراحی تفصیلی، اجرا، راه اندازی و بهره برداری.</a:t>
            </a:r>
          </a:p>
          <a:p>
            <a:pPr lvl="0" algn="r" rtl="1">
              <a:buFont typeface="Wingdings" panose="05000000000000000000" pitchFamily="2" charset="2"/>
              <a:buChar char="ü"/>
            </a:pPr>
            <a:r>
              <a:rPr lang="fa-IR" sz="2800" b="1" dirty="0" smtClean="0">
                <a:cs typeface="B Mitra" panose="00000400000000000000" pitchFamily="2" charset="-78"/>
              </a:rPr>
              <a:t>سامانه اسناد: </a:t>
            </a:r>
            <a:r>
              <a:rPr lang="fa-IR" sz="2200" b="1" dirty="0" smtClean="0">
                <a:cs typeface="B Mitra" panose="00000400000000000000" pitchFamily="2" charset="-78"/>
              </a:rPr>
              <a:t>طبقه بندی اسناد (اختصاصی و عمومی)</a:t>
            </a:r>
          </a:p>
          <a:p>
            <a:pPr lvl="0" algn="r" rtl="1">
              <a:buFont typeface="Wingdings" panose="05000000000000000000" pitchFamily="2" charset="2"/>
              <a:buChar char="ü"/>
            </a:pPr>
            <a:r>
              <a:rPr lang="fa-IR" sz="2400" b="1" dirty="0" smtClean="0">
                <a:cs typeface="B Mitra" panose="00000400000000000000" pitchFamily="2" charset="-78"/>
              </a:rPr>
              <a:t>اسناد </a:t>
            </a:r>
            <a:r>
              <a:rPr lang="fa-IR" sz="2200" b="1" dirty="0" smtClean="0">
                <a:cs typeface="B Mitra" panose="00000400000000000000" pitchFamily="2" charset="-78"/>
              </a:rPr>
              <a:t>مدیریت، استانداردهای فنی، قراردادی، امور قیمت ها، امور تامین کنندگان و ارزیابی طرح ها و پروژه ها</a:t>
            </a:r>
          </a:p>
          <a:p>
            <a:pPr marL="82296" lvl="0" indent="0" algn="r" rtl="1">
              <a:buNone/>
            </a:pPr>
            <a:endParaRPr lang="fa-IR" dirty="0" smtClean="0">
              <a:cs typeface="B Mitra" panose="00000400000000000000" pitchFamily="2" charset="-78"/>
            </a:endParaRPr>
          </a:p>
        </p:txBody>
      </p:sp>
    </p:spTree>
    <p:extLst>
      <p:ext uri="{BB962C8B-B14F-4D97-AF65-F5344CB8AC3E}">
        <p14:creationId xmlns:p14="http://schemas.microsoft.com/office/powerpoint/2010/main" val="36310210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r" rtl="1"/>
            <a:r>
              <a:rPr lang="fa-IR" sz="3600" dirty="0" smtClean="0">
                <a:cs typeface="B Mitra" panose="00000400000000000000" pitchFamily="2" charset="-78"/>
              </a:rPr>
              <a:t>قانون برگزاری مناقصات </a:t>
            </a:r>
            <a:r>
              <a:rPr lang="fa-IR" sz="2200" dirty="0" smtClean="0">
                <a:cs typeface="B Mitra" panose="00000400000000000000" pitchFamily="2" charset="-78"/>
              </a:rPr>
              <a:t>(مصوب سال 1383)</a:t>
            </a:r>
            <a:endParaRPr lang="en-US" sz="3600" dirty="0">
              <a:cs typeface="B Mitra" panose="00000400000000000000" pitchFamily="2" charset="-78"/>
            </a:endParaRPr>
          </a:p>
        </p:txBody>
      </p:sp>
      <p:sp>
        <p:nvSpPr>
          <p:cNvPr id="3" name="Content Placeholder 2"/>
          <p:cNvSpPr>
            <a:spLocks noGrp="1"/>
          </p:cNvSpPr>
          <p:nvPr>
            <p:ph sz="half" idx="1"/>
          </p:nvPr>
        </p:nvSpPr>
        <p:spPr>
          <a:ln>
            <a:solidFill>
              <a:schemeClr val="accent1"/>
            </a:solidFill>
          </a:ln>
        </p:spPr>
        <p:txBody>
          <a:bodyPr/>
          <a:lstStyle/>
          <a:p>
            <a:pPr algn="r" rtl="1"/>
            <a:r>
              <a:rPr lang="fa-IR" b="1" dirty="0" smtClean="0">
                <a:cs typeface="B Mitra" panose="00000400000000000000" pitchFamily="2" charset="-78"/>
              </a:rPr>
              <a:t>استثنائات: </a:t>
            </a:r>
            <a:r>
              <a:rPr lang="fa-IR" sz="2200" b="1" dirty="0" smtClean="0">
                <a:cs typeface="B Mitra" panose="00000400000000000000" pitchFamily="2" charset="-78"/>
              </a:rPr>
              <a:t>نیروهای مسلح/ دانشگاه ها/ مناطق آزاد</a:t>
            </a:r>
            <a:endParaRPr lang="en-US" sz="2200" b="1" dirty="0" smtClean="0">
              <a:cs typeface="B Mitra" panose="00000400000000000000" pitchFamily="2" charset="-78"/>
            </a:endParaRPr>
          </a:p>
          <a:p>
            <a:pPr marL="82296" indent="0" algn="r" rtl="1">
              <a:buNone/>
            </a:pPr>
            <a:r>
              <a:rPr lang="fa-IR" sz="2200" b="1" dirty="0" smtClean="0">
                <a:cs typeface="B Mitra" panose="00000400000000000000" pitchFamily="2" charset="-78"/>
              </a:rPr>
              <a:t>نهادهای عمومی دولتی وقتی از منابع خود استفاده می کنند(؟)</a:t>
            </a:r>
            <a:endParaRPr lang="en-US" sz="2200" b="1" dirty="0">
              <a:cs typeface="B Mitra" panose="00000400000000000000" pitchFamily="2" charset="-78"/>
            </a:endParaRPr>
          </a:p>
        </p:txBody>
      </p:sp>
      <p:sp>
        <p:nvSpPr>
          <p:cNvPr id="4" name="Content Placeholder 3"/>
          <p:cNvSpPr>
            <a:spLocks noGrp="1"/>
          </p:cNvSpPr>
          <p:nvPr>
            <p:ph sz="half" idx="2"/>
          </p:nvPr>
        </p:nvSpPr>
        <p:spPr>
          <a:ln w="19050" cap="rnd" cmpd="sng">
            <a:solidFill>
              <a:schemeClr val="accent1">
                <a:alpha val="88000"/>
              </a:schemeClr>
            </a:solidFill>
          </a:ln>
        </p:spPr>
        <p:txBody>
          <a:bodyPr/>
          <a:lstStyle/>
          <a:p>
            <a:pPr algn="just" rtl="1"/>
            <a:r>
              <a:rPr lang="fa-IR" b="1" dirty="0" smtClean="0">
                <a:cs typeface="B Mitra" panose="00000400000000000000" pitchFamily="2" charset="-78"/>
              </a:rPr>
              <a:t>دامنه کاربرد: </a:t>
            </a:r>
            <a:r>
              <a:rPr lang="fa-IR" sz="2200" b="1" dirty="0" smtClean="0">
                <a:cs typeface="B Mitra" panose="00000400000000000000" pitchFamily="2" charset="-78"/>
              </a:rPr>
              <a:t>قوای سه گانه/ وزارت خانه ها و سازمان ها/شرکت های دولتی/ بانک ها و موسسات مالی دولتی/ شرکت ملی نفت ایران/ شرکت ملی صنایع پتروشیمی/ سازمان بنادر و کشتیرانی/ صدا و سیما/ نهادهای عمومی دولتی وقتی از بودجه عمومی دولت استفاده می کنند/</a:t>
            </a:r>
            <a:endParaRPr lang="en-US" b="1" dirty="0">
              <a:cs typeface="B Mitra" panose="00000400000000000000" pitchFamily="2" charset="-78"/>
            </a:endParaRPr>
          </a:p>
        </p:txBody>
      </p:sp>
    </p:spTree>
    <p:extLst>
      <p:ext uri="{BB962C8B-B14F-4D97-AF65-F5344CB8AC3E}">
        <p14:creationId xmlns:p14="http://schemas.microsoft.com/office/powerpoint/2010/main" val="15393714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normAutofit/>
          </a:bodyPr>
          <a:lstStyle/>
          <a:p>
            <a:pPr algn="r" rtl="1"/>
            <a:r>
              <a:rPr lang="fa-IR" sz="3200" dirty="0" smtClean="0">
                <a:cs typeface="B Mitra" panose="00000400000000000000" pitchFamily="2" charset="-78"/>
              </a:rPr>
              <a:t>قانون برگزاری مناقصات </a:t>
            </a:r>
            <a:r>
              <a:rPr lang="fa-IR" sz="2200" dirty="0" smtClean="0">
                <a:cs typeface="B Mitra" panose="00000400000000000000" pitchFamily="2" charset="-78"/>
              </a:rPr>
              <a:t>(مصوب سال 1383)</a:t>
            </a:r>
            <a:endParaRPr lang="en-US" sz="3200" dirty="0">
              <a:cs typeface="B Mitra" panose="00000400000000000000" pitchFamily="2" charset="-78"/>
            </a:endParaRPr>
          </a:p>
        </p:txBody>
      </p:sp>
      <p:sp>
        <p:nvSpPr>
          <p:cNvPr id="14" name="Content Placeholder 13"/>
          <p:cNvSpPr>
            <a:spLocks noGrp="1"/>
          </p:cNvSpPr>
          <p:nvPr>
            <p:ph idx="1"/>
          </p:nvPr>
        </p:nvSpPr>
        <p:spPr/>
        <p:txBody>
          <a:bodyPr/>
          <a:lstStyle/>
          <a:p>
            <a:pPr marL="82296" lvl="0" indent="0" algn="just" rtl="1">
              <a:lnSpc>
                <a:spcPct val="150000"/>
              </a:lnSpc>
              <a:buNone/>
            </a:pPr>
            <a:r>
              <a:rPr lang="fa-IR" sz="2800" b="1" dirty="0" smtClean="0">
                <a:cs typeface="B Mitra" panose="00000400000000000000" pitchFamily="2" charset="-78"/>
              </a:rPr>
              <a:t>انواع مناقصات </a:t>
            </a:r>
            <a:r>
              <a:rPr lang="fa-IR" sz="2200" b="1" dirty="0" smtClean="0">
                <a:cs typeface="B Mitra" panose="00000400000000000000" pitchFamily="2" charset="-78"/>
              </a:rPr>
              <a:t>(از منظر فرایند انجام کار):</a:t>
            </a:r>
          </a:p>
          <a:p>
            <a:pPr algn="just" rtl="1">
              <a:lnSpc>
                <a:spcPct val="150000"/>
              </a:lnSpc>
            </a:pPr>
            <a:r>
              <a:rPr lang="fa-IR" sz="2600" b="1" dirty="0" smtClean="0">
                <a:cs typeface="B Mitra" panose="00000400000000000000" pitchFamily="2" charset="-78"/>
              </a:rPr>
              <a:t>مناقصات یک مرحله ای: </a:t>
            </a:r>
            <a:r>
              <a:rPr lang="fa-IR" sz="2200" b="1" dirty="0" smtClean="0">
                <a:cs typeface="B Mitra" panose="00000400000000000000" pitchFamily="2" charset="-78"/>
              </a:rPr>
              <a:t>بدون نیاز به ارزیابی فنی-بازرگانی، پاکات تضامین و پیشنهادها به طور جداگانه و در یک لفاف ارائه و در یک جلسه هم باز می شوند.</a:t>
            </a:r>
          </a:p>
          <a:p>
            <a:pPr algn="just" rtl="1">
              <a:lnSpc>
                <a:spcPct val="150000"/>
              </a:lnSpc>
            </a:pPr>
            <a:r>
              <a:rPr lang="fa-IR" sz="2600" b="1" dirty="0" smtClean="0">
                <a:cs typeface="B Mitra" panose="00000400000000000000" pitchFamily="2" charset="-78"/>
              </a:rPr>
              <a:t>مناقصات دو مرحله ای:</a:t>
            </a:r>
            <a:r>
              <a:rPr lang="fa-IR" sz="2200" b="1" dirty="0" smtClean="0">
                <a:cs typeface="B Mitra" panose="00000400000000000000" pitchFamily="2" charset="-78"/>
              </a:rPr>
              <a:t> کمیته فنی-بازرگانی پیشنهادهای فنی –بازرگانی را بررسی و به کمیسیون مناقصات ارائه می کند. سه پاکت تضامین، فنی و قیمت به طور جداگانه و در یک لفاف ارائه می شود و فرایند ارزیابی فنی و ارزیابی مالی در دو جلسه مستقل انجام می شود.</a:t>
            </a:r>
            <a:endParaRPr lang="fa-IR" sz="2200" dirty="0" smtClean="0">
              <a:cs typeface="B Mitra" panose="00000400000000000000" pitchFamily="2" charset="-78"/>
            </a:endParaRPr>
          </a:p>
        </p:txBody>
      </p:sp>
    </p:spTree>
    <p:extLst>
      <p:ext uri="{BB962C8B-B14F-4D97-AF65-F5344CB8AC3E}">
        <p14:creationId xmlns:p14="http://schemas.microsoft.com/office/powerpoint/2010/main" val="40172756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normAutofit/>
          </a:bodyPr>
          <a:lstStyle/>
          <a:p>
            <a:pPr algn="r" rtl="1"/>
            <a:r>
              <a:rPr lang="fa-IR" sz="3200" dirty="0" smtClean="0">
                <a:cs typeface="B Mitra" panose="00000400000000000000" pitchFamily="2" charset="-78"/>
              </a:rPr>
              <a:t>قانون برگزاری مناقصات </a:t>
            </a:r>
            <a:r>
              <a:rPr lang="fa-IR" sz="2200" dirty="0" smtClean="0">
                <a:cs typeface="B Mitra" panose="00000400000000000000" pitchFamily="2" charset="-78"/>
              </a:rPr>
              <a:t>(مصوب سال 1383)</a:t>
            </a:r>
            <a:endParaRPr lang="en-US" sz="3200" dirty="0">
              <a:cs typeface="B Mitra" panose="00000400000000000000" pitchFamily="2" charset="-78"/>
            </a:endParaRPr>
          </a:p>
        </p:txBody>
      </p:sp>
      <p:sp>
        <p:nvSpPr>
          <p:cNvPr id="14" name="Content Placeholder 13"/>
          <p:cNvSpPr>
            <a:spLocks noGrp="1"/>
          </p:cNvSpPr>
          <p:nvPr>
            <p:ph idx="1"/>
          </p:nvPr>
        </p:nvSpPr>
        <p:spPr/>
        <p:txBody>
          <a:bodyPr/>
          <a:lstStyle/>
          <a:p>
            <a:pPr marL="82296" lvl="0" indent="0" algn="just" rtl="1">
              <a:lnSpc>
                <a:spcPct val="150000"/>
              </a:lnSpc>
              <a:buNone/>
            </a:pPr>
            <a:r>
              <a:rPr lang="fa-IR" sz="2800" b="1" dirty="0" smtClean="0">
                <a:cs typeface="B Mitra" panose="00000400000000000000" pitchFamily="2" charset="-78"/>
              </a:rPr>
              <a:t>انواع مناقصات </a:t>
            </a:r>
            <a:r>
              <a:rPr lang="fa-IR" sz="2200" b="1" dirty="0" smtClean="0">
                <a:cs typeface="B Mitra" panose="00000400000000000000" pitchFamily="2" charset="-78"/>
              </a:rPr>
              <a:t>(از منظر دعوت به مناقصه):</a:t>
            </a:r>
          </a:p>
          <a:p>
            <a:pPr algn="just" rtl="1">
              <a:lnSpc>
                <a:spcPct val="150000"/>
              </a:lnSpc>
            </a:pPr>
            <a:r>
              <a:rPr lang="fa-IR" sz="2600" b="1" dirty="0" smtClean="0">
                <a:cs typeface="B Mitra" panose="00000400000000000000" pitchFamily="2" charset="-78"/>
              </a:rPr>
              <a:t>مناقصات عمومی: </a:t>
            </a:r>
            <a:r>
              <a:rPr lang="fa-IR" sz="2200" b="1" dirty="0" smtClean="0">
                <a:cs typeface="B Mitra" panose="00000400000000000000" pitchFamily="2" charset="-78"/>
              </a:rPr>
              <a:t>فراخوان از طریق آگهی انجام میشود.</a:t>
            </a:r>
          </a:p>
          <a:p>
            <a:pPr algn="just" rtl="1">
              <a:lnSpc>
                <a:spcPct val="150000"/>
              </a:lnSpc>
            </a:pPr>
            <a:r>
              <a:rPr lang="fa-IR" sz="2600" b="1" dirty="0" smtClean="0">
                <a:cs typeface="B Mitra" panose="00000400000000000000" pitchFamily="2" charset="-78"/>
              </a:rPr>
              <a:t>مناقصات محدود: </a:t>
            </a:r>
            <a:r>
              <a:rPr lang="fa-IR" sz="2200" b="1" dirty="0" smtClean="0">
                <a:cs typeface="B Mitra" panose="00000400000000000000" pitchFamily="2" charset="-78"/>
              </a:rPr>
              <a:t>به تشخیص بالاترین مقام دستگاه فراخوان به افراد خاص ارسال می شود.</a:t>
            </a:r>
          </a:p>
          <a:p>
            <a:pPr algn="just" rtl="1">
              <a:lnSpc>
                <a:spcPct val="150000"/>
              </a:lnSpc>
            </a:pPr>
            <a:r>
              <a:rPr lang="fa-IR" sz="2600" b="1" dirty="0" smtClean="0">
                <a:cs typeface="B Mitra" panose="00000400000000000000" pitchFamily="2" charset="-78"/>
              </a:rPr>
              <a:t>ترک تشریفات مناقصه:</a:t>
            </a:r>
            <a:r>
              <a:rPr lang="fa-IR" sz="2200" b="1" dirty="0" smtClean="0">
                <a:cs typeface="B Mitra" panose="00000400000000000000" pitchFamily="2" charset="-78"/>
              </a:rPr>
              <a:t> پس از تصویب هیأت ترک تشریفات مناقصه دستگاه یا شورای اقتصاد یا هیأت جایگزین آن.</a:t>
            </a:r>
            <a:endParaRPr lang="fa-IR" sz="2200" dirty="0" smtClean="0">
              <a:cs typeface="B Mitra" panose="00000400000000000000" pitchFamily="2" charset="-78"/>
            </a:endParaRPr>
          </a:p>
        </p:txBody>
      </p:sp>
    </p:spTree>
    <p:extLst>
      <p:ext uri="{BB962C8B-B14F-4D97-AF65-F5344CB8AC3E}">
        <p14:creationId xmlns:p14="http://schemas.microsoft.com/office/powerpoint/2010/main" val="35562082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normAutofit/>
          </a:bodyPr>
          <a:lstStyle/>
          <a:p>
            <a:pPr algn="r" rtl="1"/>
            <a:r>
              <a:rPr lang="fa-IR" sz="3200" dirty="0" smtClean="0">
                <a:cs typeface="B Mitra" panose="00000400000000000000" pitchFamily="2" charset="-78"/>
              </a:rPr>
              <a:t>قانون برگزاری مناقصات </a:t>
            </a:r>
            <a:r>
              <a:rPr lang="fa-IR" sz="2200" dirty="0" smtClean="0">
                <a:cs typeface="B Mitra" panose="00000400000000000000" pitchFamily="2" charset="-78"/>
              </a:rPr>
              <a:t>(مصوب سال 1383)</a:t>
            </a:r>
            <a:endParaRPr lang="en-US" sz="3200" dirty="0">
              <a:cs typeface="B Mitra" panose="00000400000000000000" pitchFamily="2" charset="-78"/>
            </a:endParaRPr>
          </a:p>
        </p:txBody>
      </p:sp>
      <p:sp>
        <p:nvSpPr>
          <p:cNvPr id="14" name="Content Placeholder 13"/>
          <p:cNvSpPr>
            <a:spLocks noGrp="1"/>
          </p:cNvSpPr>
          <p:nvPr>
            <p:ph idx="1"/>
          </p:nvPr>
        </p:nvSpPr>
        <p:spPr/>
        <p:txBody>
          <a:bodyPr/>
          <a:lstStyle/>
          <a:p>
            <a:pPr marL="82296" lvl="0" indent="0" algn="just" rtl="1">
              <a:lnSpc>
                <a:spcPct val="150000"/>
              </a:lnSpc>
              <a:buNone/>
            </a:pPr>
            <a:r>
              <a:rPr lang="fa-IR" sz="2800" b="1" dirty="0" smtClean="0">
                <a:cs typeface="B Mitra" panose="00000400000000000000" pitchFamily="2" charset="-78"/>
              </a:rPr>
              <a:t>فرایند واگذاری انواع معاملات:</a:t>
            </a:r>
            <a:endParaRPr lang="fa-IR" sz="2200" b="1" dirty="0" smtClean="0">
              <a:cs typeface="B Mitra" panose="00000400000000000000" pitchFamily="2" charset="-78"/>
            </a:endParaRPr>
          </a:p>
          <a:p>
            <a:pPr algn="just" rtl="1">
              <a:lnSpc>
                <a:spcPct val="150000"/>
              </a:lnSpc>
            </a:pPr>
            <a:r>
              <a:rPr lang="fa-IR" sz="2600" b="1" dirty="0" smtClean="0">
                <a:cs typeface="B Mitra" panose="00000400000000000000" pitchFamily="2" charset="-78"/>
              </a:rPr>
              <a:t>معاملات کوچک: </a:t>
            </a:r>
            <a:r>
              <a:rPr lang="fa-IR" sz="2200" b="1" dirty="0" smtClean="0">
                <a:cs typeface="B Mitra" panose="00000400000000000000" pitchFamily="2" charset="-78"/>
              </a:rPr>
              <a:t>کارپرداز با تشخیص خود و تحقیق خرید کالا، خدمت و حقوق را انجام می دهد.</a:t>
            </a:r>
          </a:p>
          <a:p>
            <a:pPr algn="just" rtl="1">
              <a:lnSpc>
                <a:spcPct val="150000"/>
              </a:lnSpc>
            </a:pPr>
            <a:r>
              <a:rPr lang="fa-IR" sz="2600" b="1" dirty="0" smtClean="0">
                <a:cs typeface="B Mitra" panose="00000400000000000000" pitchFamily="2" charset="-78"/>
              </a:rPr>
              <a:t>معاملات متوسط: </a:t>
            </a:r>
            <a:r>
              <a:rPr lang="fa-IR" sz="2200" b="1" dirty="0" smtClean="0">
                <a:cs typeface="B Mitra" panose="00000400000000000000" pitchFamily="2" charset="-78"/>
              </a:rPr>
              <a:t>کارپرداز یا مامور خرید دستگاه با تحقیق و اخذ سه فقره استعلام ، خرید می کند.</a:t>
            </a:r>
          </a:p>
          <a:p>
            <a:pPr algn="just" rtl="1">
              <a:lnSpc>
                <a:spcPct val="150000"/>
              </a:lnSpc>
            </a:pPr>
            <a:r>
              <a:rPr lang="fa-IR" sz="2600" b="1" dirty="0" smtClean="0">
                <a:cs typeface="B Mitra" panose="00000400000000000000" pitchFamily="2" charset="-78"/>
              </a:rPr>
              <a:t>معاملات بزرگ:</a:t>
            </a:r>
            <a:r>
              <a:rPr lang="fa-IR" sz="2200" b="1" dirty="0" smtClean="0">
                <a:cs typeface="B Mitra" panose="00000400000000000000" pitchFamily="2" charset="-78"/>
              </a:rPr>
              <a:t> فرایند برگزاری مناقصه عمومی یا محدود انجام می شود.</a:t>
            </a:r>
            <a:endParaRPr lang="fa-IR" sz="2200" dirty="0" smtClean="0">
              <a:cs typeface="B Mitra" panose="00000400000000000000" pitchFamily="2" charset="-78"/>
            </a:endParaRPr>
          </a:p>
        </p:txBody>
      </p:sp>
    </p:spTree>
    <p:extLst>
      <p:ext uri="{BB962C8B-B14F-4D97-AF65-F5344CB8AC3E}">
        <p14:creationId xmlns:p14="http://schemas.microsoft.com/office/powerpoint/2010/main" val="36805375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normAutofit/>
          </a:bodyPr>
          <a:lstStyle/>
          <a:p>
            <a:pPr algn="r" rtl="1"/>
            <a:r>
              <a:rPr lang="fa-IR" sz="3200" dirty="0" smtClean="0">
                <a:cs typeface="B Mitra" panose="00000400000000000000" pitchFamily="2" charset="-78"/>
              </a:rPr>
              <a:t>عدم الزام به برگزاری مناقصه</a:t>
            </a:r>
            <a:r>
              <a:rPr lang="fa-IR" sz="2200" dirty="0" smtClean="0">
                <a:cs typeface="B Mitra" panose="00000400000000000000" pitchFamily="2" charset="-78"/>
              </a:rPr>
              <a:t>(موضوع  بند (ه) ماده 29 قانون برگزاری مناقصات)</a:t>
            </a:r>
            <a:endParaRPr lang="en-US" sz="3200" dirty="0">
              <a:cs typeface="B Mitra" panose="00000400000000000000" pitchFamily="2" charset="-78"/>
            </a:endParaRPr>
          </a:p>
        </p:txBody>
      </p:sp>
      <p:sp>
        <p:nvSpPr>
          <p:cNvPr id="14" name="Content Placeholder 13"/>
          <p:cNvSpPr>
            <a:spLocks noGrp="1"/>
          </p:cNvSpPr>
          <p:nvPr>
            <p:ph idx="1"/>
          </p:nvPr>
        </p:nvSpPr>
        <p:spPr/>
        <p:txBody>
          <a:bodyPr/>
          <a:lstStyle/>
          <a:p>
            <a:pPr marL="82296" lvl="0" indent="0" algn="just" rtl="1">
              <a:lnSpc>
                <a:spcPct val="150000"/>
              </a:lnSpc>
              <a:buNone/>
            </a:pPr>
            <a:r>
              <a:rPr lang="fa-IR" sz="2800" b="1" dirty="0" smtClean="0">
                <a:cs typeface="B Mitra" panose="00000400000000000000" pitchFamily="2" charset="-78"/>
              </a:rPr>
              <a:t>آئین نامه اجرایی بند (ه) ماده (29) قانون برگزاری مناقصات (آئین نامه خرید خدمات مشاوره مصوب سال 1388 هیات وزیران)</a:t>
            </a:r>
            <a:endParaRPr lang="fa-IR" sz="2200" b="1" dirty="0" smtClean="0">
              <a:cs typeface="B Mitra" panose="00000400000000000000" pitchFamily="2" charset="-78"/>
            </a:endParaRPr>
          </a:p>
          <a:p>
            <a:pPr algn="just" rtl="1">
              <a:lnSpc>
                <a:spcPct val="150000"/>
              </a:lnSpc>
            </a:pPr>
            <a:r>
              <a:rPr lang="fa-IR" sz="2600" b="1" dirty="0" smtClean="0">
                <a:cs typeface="B Mitra" panose="00000400000000000000" pitchFamily="2" charset="-78"/>
              </a:rPr>
              <a:t>مصادیق خدمات مشاوره ذکر شده (موضوع ماده 3 آئین نامه)</a:t>
            </a:r>
            <a:endParaRPr lang="fa-IR" sz="2200" b="1" dirty="0" smtClean="0">
              <a:cs typeface="B Mitra" panose="00000400000000000000" pitchFamily="2" charset="-78"/>
            </a:endParaRPr>
          </a:p>
          <a:p>
            <a:pPr algn="just" rtl="1">
              <a:lnSpc>
                <a:spcPct val="150000"/>
              </a:lnSpc>
            </a:pPr>
            <a:r>
              <a:rPr lang="fa-IR" sz="2600" b="1" dirty="0" smtClean="0">
                <a:cs typeface="B Mitra" panose="00000400000000000000" pitchFamily="2" charset="-78"/>
              </a:rPr>
              <a:t>تعیین روش انتخاب مشاور از وظایف کارفرماست.</a:t>
            </a:r>
            <a:endParaRPr lang="fa-IR" sz="2200" b="1" dirty="0" smtClean="0">
              <a:cs typeface="B Mitra" panose="00000400000000000000" pitchFamily="2" charset="-78"/>
            </a:endParaRPr>
          </a:p>
          <a:p>
            <a:pPr algn="just" rtl="1">
              <a:lnSpc>
                <a:spcPct val="150000"/>
              </a:lnSpc>
            </a:pPr>
            <a:r>
              <a:rPr lang="fa-IR" sz="2600" b="1" dirty="0" smtClean="0">
                <a:cs typeface="B Mitra" panose="00000400000000000000" pitchFamily="2" charset="-78"/>
              </a:rPr>
              <a:t>رعایت اصل تضاد منافع در واگذاری کارها</a:t>
            </a:r>
          </a:p>
          <a:p>
            <a:pPr algn="just" rtl="1">
              <a:lnSpc>
                <a:spcPct val="150000"/>
              </a:lnSpc>
            </a:pPr>
            <a:r>
              <a:rPr lang="fa-IR" sz="2600" b="1" dirty="0" smtClean="0">
                <a:cs typeface="B Mitra" panose="00000400000000000000" pitchFamily="2" charset="-78"/>
              </a:rPr>
              <a:t>در روش های انتخاب براساس کیفیت و کیفیت و قیمت، پیشنهاد مشاور و متعاقبا مبلغ قرارداد مقطوع است.</a:t>
            </a:r>
            <a:endParaRPr lang="fa-IR" sz="2200" dirty="0" smtClean="0">
              <a:cs typeface="B Mitra" panose="00000400000000000000" pitchFamily="2" charset="-78"/>
            </a:endParaRPr>
          </a:p>
        </p:txBody>
      </p:sp>
    </p:spTree>
    <p:extLst>
      <p:ext uri="{BB962C8B-B14F-4D97-AF65-F5344CB8AC3E}">
        <p14:creationId xmlns:p14="http://schemas.microsoft.com/office/powerpoint/2010/main" val="33539922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normAutofit/>
          </a:bodyPr>
          <a:lstStyle/>
          <a:p>
            <a:pPr algn="r" rtl="1"/>
            <a:r>
              <a:rPr lang="fa-IR" sz="3200" dirty="0" smtClean="0">
                <a:cs typeface="B Mitra" panose="00000400000000000000" pitchFamily="2" charset="-78"/>
              </a:rPr>
              <a:t>عدم الزام به برگزاری مناقصه</a:t>
            </a:r>
            <a:r>
              <a:rPr lang="fa-IR" sz="2200" dirty="0" smtClean="0">
                <a:cs typeface="B Mitra" panose="00000400000000000000" pitchFamily="2" charset="-78"/>
              </a:rPr>
              <a:t>(موضوع  بند (ه) ماده 29 قانون برگزاری مناقصات)</a:t>
            </a:r>
            <a:endParaRPr lang="en-US" sz="3200" dirty="0">
              <a:cs typeface="B Mitra" panose="00000400000000000000" pitchFamily="2" charset="-78"/>
            </a:endParaRPr>
          </a:p>
        </p:txBody>
      </p:sp>
      <p:sp>
        <p:nvSpPr>
          <p:cNvPr id="14" name="Content Placeholder 13"/>
          <p:cNvSpPr>
            <a:spLocks noGrp="1"/>
          </p:cNvSpPr>
          <p:nvPr>
            <p:ph idx="1"/>
          </p:nvPr>
        </p:nvSpPr>
        <p:spPr/>
        <p:txBody>
          <a:bodyPr/>
          <a:lstStyle/>
          <a:p>
            <a:pPr marL="82296" lvl="0" indent="0" algn="just" rtl="1">
              <a:lnSpc>
                <a:spcPct val="150000"/>
              </a:lnSpc>
              <a:buNone/>
            </a:pPr>
            <a:r>
              <a:rPr lang="fa-IR" sz="2800" b="1" dirty="0" smtClean="0">
                <a:cs typeface="B Mitra" panose="00000400000000000000" pitchFamily="2" charset="-78"/>
              </a:rPr>
              <a:t>فرایندهای اصلی ارجاع کار به مشاوران:</a:t>
            </a:r>
            <a:endParaRPr lang="fa-IR" sz="2200" b="1" dirty="0" smtClean="0">
              <a:cs typeface="B Mitra" panose="00000400000000000000" pitchFamily="2" charset="-78"/>
            </a:endParaRPr>
          </a:p>
          <a:p>
            <a:pPr algn="just" rtl="1">
              <a:lnSpc>
                <a:spcPct val="150000"/>
              </a:lnSpc>
            </a:pPr>
            <a:r>
              <a:rPr lang="fa-IR" sz="2600" b="1" dirty="0" smtClean="0">
                <a:cs typeface="B Mitra" panose="00000400000000000000" pitchFamily="2" charset="-78"/>
              </a:rPr>
              <a:t>تهیه فهرست بلند (از طریق آگهی یا مراجعه به فهرست مشاوران تشخیص صلاحیت شده توسط سازمان)</a:t>
            </a:r>
            <a:endParaRPr lang="fa-IR" sz="2200" b="1" dirty="0" smtClean="0">
              <a:cs typeface="B Mitra" panose="00000400000000000000" pitchFamily="2" charset="-78"/>
            </a:endParaRPr>
          </a:p>
          <a:p>
            <a:pPr algn="just" rtl="1">
              <a:lnSpc>
                <a:spcPct val="150000"/>
              </a:lnSpc>
            </a:pPr>
            <a:r>
              <a:rPr lang="fa-IR" sz="2600" b="1" dirty="0" smtClean="0">
                <a:cs typeface="B Mitra" panose="00000400000000000000" pitchFamily="2" charset="-78"/>
              </a:rPr>
              <a:t>ارزیابی کیفی و تهیه فهرست کوتاه</a:t>
            </a:r>
            <a:endParaRPr lang="fa-IR" sz="2200" b="1" dirty="0" smtClean="0">
              <a:cs typeface="B Mitra" panose="00000400000000000000" pitchFamily="2" charset="-78"/>
            </a:endParaRPr>
          </a:p>
          <a:p>
            <a:pPr algn="just" rtl="1">
              <a:lnSpc>
                <a:spcPct val="150000"/>
              </a:lnSpc>
            </a:pPr>
            <a:r>
              <a:rPr lang="fa-IR" sz="2600" b="1" dirty="0" smtClean="0">
                <a:cs typeface="B Mitra" panose="00000400000000000000" pitchFamily="2" charset="-78"/>
              </a:rPr>
              <a:t>ارزیابی فنی</a:t>
            </a:r>
          </a:p>
          <a:p>
            <a:pPr algn="just" rtl="1">
              <a:lnSpc>
                <a:spcPct val="150000"/>
              </a:lnSpc>
            </a:pPr>
            <a:r>
              <a:rPr lang="fa-IR" sz="2600" b="1" dirty="0" smtClean="0">
                <a:cs typeface="B Mitra" panose="00000400000000000000" pitchFamily="2" charset="-78"/>
              </a:rPr>
              <a:t>ارزیابی مالی</a:t>
            </a:r>
          </a:p>
          <a:p>
            <a:pPr algn="just" rtl="1">
              <a:lnSpc>
                <a:spcPct val="150000"/>
              </a:lnSpc>
            </a:pPr>
            <a:r>
              <a:rPr lang="fa-IR" sz="2600" b="1" dirty="0" smtClean="0">
                <a:cs typeface="B Mitra" panose="00000400000000000000" pitchFamily="2" charset="-78"/>
              </a:rPr>
              <a:t>انتخاب مشاور و انعقاد قرارداد</a:t>
            </a:r>
            <a:endParaRPr lang="fa-IR" sz="2200" dirty="0" smtClean="0">
              <a:cs typeface="B Mitra" panose="00000400000000000000" pitchFamily="2" charset="-78"/>
            </a:endParaRPr>
          </a:p>
        </p:txBody>
      </p:sp>
    </p:spTree>
    <p:extLst>
      <p:ext uri="{BB962C8B-B14F-4D97-AF65-F5344CB8AC3E}">
        <p14:creationId xmlns:p14="http://schemas.microsoft.com/office/powerpoint/2010/main" val="28470738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normAutofit/>
          </a:bodyPr>
          <a:lstStyle/>
          <a:p>
            <a:pPr algn="r" rtl="1"/>
            <a:r>
              <a:rPr lang="fa-IR" sz="3200" dirty="0" smtClean="0">
                <a:cs typeface="B Mitra" panose="00000400000000000000" pitchFamily="2" charset="-78"/>
              </a:rPr>
              <a:t>عدم الزام به برگزاری مناقصه</a:t>
            </a:r>
            <a:r>
              <a:rPr lang="fa-IR" sz="2200" dirty="0" smtClean="0">
                <a:cs typeface="B Mitra" panose="00000400000000000000" pitchFamily="2" charset="-78"/>
              </a:rPr>
              <a:t>(موضوع  بند (ه) ماده 29 قانون برگزاری مناقصات)</a:t>
            </a:r>
            <a:endParaRPr lang="en-US" sz="3200" dirty="0">
              <a:cs typeface="B Mitra" panose="00000400000000000000" pitchFamily="2" charset="-78"/>
            </a:endParaRPr>
          </a:p>
        </p:txBody>
      </p:sp>
      <p:sp>
        <p:nvSpPr>
          <p:cNvPr id="14" name="Content Placeholder 13"/>
          <p:cNvSpPr>
            <a:spLocks noGrp="1"/>
          </p:cNvSpPr>
          <p:nvPr>
            <p:ph idx="1"/>
          </p:nvPr>
        </p:nvSpPr>
        <p:spPr/>
        <p:txBody>
          <a:bodyPr/>
          <a:lstStyle/>
          <a:p>
            <a:pPr marL="82296" lvl="0" indent="0" algn="just" rtl="1">
              <a:lnSpc>
                <a:spcPct val="150000"/>
              </a:lnSpc>
              <a:buNone/>
            </a:pPr>
            <a:r>
              <a:rPr lang="fa-IR" sz="2800" b="1" dirty="0" smtClean="0">
                <a:cs typeface="B Mitra" panose="00000400000000000000" pitchFamily="2" charset="-78"/>
              </a:rPr>
              <a:t>روش های انتخاب مشاور:</a:t>
            </a:r>
            <a:endParaRPr lang="fa-IR" sz="2200" b="1" dirty="0" smtClean="0">
              <a:cs typeface="B Mitra" panose="00000400000000000000" pitchFamily="2" charset="-78"/>
            </a:endParaRPr>
          </a:p>
          <a:p>
            <a:pPr algn="just" rtl="1">
              <a:lnSpc>
                <a:spcPct val="150000"/>
              </a:lnSpc>
            </a:pPr>
            <a:r>
              <a:rPr lang="fa-IR" sz="2600" b="1" dirty="0" smtClean="0">
                <a:cs typeface="B Mitra" panose="00000400000000000000" pitchFamily="2" charset="-78"/>
              </a:rPr>
              <a:t>انتخاب براساس کیفیت </a:t>
            </a:r>
            <a:r>
              <a:rPr lang="en-US" sz="2600" b="1" dirty="0" smtClean="0">
                <a:cs typeface="B Mitra" panose="00000400000000000000" pitchFamily="2" charset="-78"/>
              </a:rPr>
              <a:t>(QBS)</a:t>
            </a:r>
          </a:p>
          <a:p>
            <a:pPr algn="just" rtl="1">
              <a:lnSpc>
                <a:spcPct val="150000"/>
              </a:lnSpc>
            </a:pPr>
            <a:r>
              <a:rPr lang="fa-IR" sz="2600" b="1" dirty="0" smtClean="0">
                <a:cs typeface="B Mitra" panose="00000400000000000000" pitchFamily="2" charset="-78"/>
              </a:rPr>
              <a:t>انتخاب براساس کیفیت و قیمت</a:t>
            </a:r>
            <a:r>
              <a:rPr lang="en-US" sz="2600" b="1" dirty="0" smtClean="0">
                <a:cs typeface="B Mitra" panose="00000400000000000000" pitchFamily="2" charset="-78"/>
              </a:rPr>
              <a:t>(QCBS)</a:t>
            </a:r>
          </a:p>
          <a:p>
            <a:pPr algn="just" rtl="1">
              <a:lnSpc>
                <a:spcPct val="150000"/>
              </a:lnSpc>
            </a:pPr>
            <a:r>
              <a:rPr lang="fa-IR" sz="2600" b="1" dirty="0" smtClean="0">
                <a:cs typeface="B Mitra" panose="00000400000000000000" pitchFamily="2" charset="-78"/>
              </a:rPr>
              <a:t>انتخاب براساس تعرفه</a:t>
            </a:r>
          </a:p>
          <a:p>
            <a:pPr algn="just" rtl="1">
              <a:lnSpc>
                <a:spcPct val="150000"/>
              </a:lnSpc>
            </a:pPr>
            <a:r>
              <a:rPr lang="fa-IR" sz="2600" b="1" dirty="0" smtClean="0">
                <a:cs typeface="B Mitra" panose="00000400000000000000" pitchFamily="2" charset="-78"/>
              </a:rPr>
              <a:t>روش تک گزینه ای</a:t>
            </a:r>
          </a:p>
          <a:p>
            <a:pPr algn="just" rtl="1">
              <a:lnSpc>
                <a:spcPct val="150000"/>
              </a:lnSpc>
            </a:pPr>
            <a:r>
              <a:rPr lang="fa-IR" sz="2600" b="1" dirty="0" smtClean="0">
                <a:cs typeface="B Mitra" panose="00000400000000000000" pitchFamily="2" charset="-78"/>
              </a:rPr>
              <a:t>واگذاری معاملات کوچک و متوسط</a:t>
            </a:r>
          </a:p>
          <a:p>
            <a:pPr algn="just" rtl="1">
              <a:lnSpc>
                <a:spcPct val="150000"/>
              </a:lnSpc>
            </a:pPr>
            <a:r>
              <a:rPr lang="fa-IR" sz="2600" b="1" dirty="0" smtClean="0">
                <a:cs typeface="B Mitra" panose="00000400000000000000" pitchFamily="2" charset="-78"/>
              </a:rPr>
              <a:t>روش بودجه ثابت و مسابقه</a:t>
            </a:r>
            <a:endParaRPr lang="fa-IR" sz="2200" dirty="0" smtClean="0">
              <a:cs typeface="B Mitra" panose="00000400000000000000" pitchFamily="2" charset="-78"/>
            </a:endParaRPr>
          </a:p>
        </p:txBody>
      </p:sp>
    </p:spTree>
    <p:extLst>
      <p:ext uri="{BB962C8B-B14F-4D97-AF65-F5344CB8AC3E}">
        <p14:creationId xmlns:p14="http://schemas.microsoft.com/office/powerpoint/2010/main" val="36914539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normAutofit/>
          </a:bodyPr>
          <a:lstStyle/>
          <a:p>
            <a:pPr algn="r" rtl="1"/>
            <a:r>
              <a:rPr lang="fa-IR" sz="3200" dirty="0" smtClean="0">
                <a:cs typeface="B Mitra" panose="00000400000000000000" pitchFamily="2" charset="-78"/>
              </a:rPr>
              <a:t>دستورالعمل رسیدگی به شکایات مناقصات</a:t>
            </a:r>
            <a:endParaRPr lang="en-US" sz="3200" dirty="0">
              <a:cs typeface="B Mitra" panose="00000400000000000000" pitchFamily="2" charset="-78"/>
            </a:endParaRPr>
          </a:p>
        </p:txBody>
      </p:sp>
      <p:sp>
        <p:nvSpPr>
          <p:cNvPr id="14" name="Content Placeholder 13"/>
          <p:cNvSpPr>
            <a:spLocks noGrp="1"/>
          </p:cNvSpPr>
          <p:nvPr>
            <p:ph idx="1"/>
          </p:nvPr>
        </p:nvSpPr>
        <p:spPr/>
        <p:txBody>
          <a:bodyPr>
            <a:normAutofit/>
          </a:bodyPr>
          <a:lstStyle/>
          <a:p>
            <a:pPr algn="just" rtl="1">
              <a:lnSpc>
                <a:spcPct val="150000"/>
              </a:lnSpc>
            </a:pPr>
            <a:r>
              <a:rPr lang="fa-IR" sz="2400" b="1" dirty="0" smtClean="0">
                <a:cs typeface="B Mitra" panose="00000400000000000000" pitchFamily="2" charset="-78"/>
              </a:rPr>
              <a:t>هیأت رسیدگی به شکایات هم به شکایت های مناقصه گران و هم مشاوران در فرایند ارجاع کار رسیدگی می کند.</a:t>
            </a:r>
            <a:endParaRPr lang="en-US" sz="2400" b="1" dirty="0" smtClean="0">
              <a:cs typeface="B Mitra" panose="00000400000000000000" pitchFamily="2" charset="-78"/>
            </a:endParaRPr>
          </a:p>
          <a:p>
            <a:pPr algn="just" rtl="1">
              <a:lnSpc>
                <a:spcPct val="150000"/>
              </a:lnSpc>
            </a:pPr>
            <a:r>
              <a:rPr lang="fa-IR" sz="2400" b="1" dirty="0" smtClean="0">
                <a:cs typeface="B Mitra" panose="00000400000000000000" pitchFamily="2" charset="-78"/>
              </a:rPr>
              <a:t>مناقصه گر قبل از مراجعه به هیأت رسیدگی به شکایات، باید اعتراض خود را مکتوب به بالاترین مقام دستگاه اجرایی اعلام کرده باشد. چنانچه رئیس دستگاه در مدت 20 روز پاسخی نداد یا مناقصه گر از پاسخ وی قانع نشد، در مهلت  10 روزه می تواند به هیأت رسیدگی به شکایات مراجعه نماید.</a:t>
            </a:r>
          </a:p>
          <a:p>
            <a:pPr marL="82296" indent="0" algn="just" rtl="1">
              <a:lnSpc>
                <a:spcPct val="150000"/>
              </a:lnSpc>
              <a:buNone/>
            </a:pPr>
            <a:endParaRPr lang="en-US" sz="2600" b="1" dirty="0" smtClean="0">
              <a:cs typeface="B Mitra" panose="00000400000000000000" pitchFamily="2" charset="-78"/>
            </a:endParaRPr>
          </a:p>
          <a:p>
            <a:pPr marL="82296" indent="0" algn="just" rtl="1">
              <a:lnSpc>
                <a:spcPct val="150000"/>
              </a:lnSpc>
              <a:buNone/>
            </a:pPr>
            <a:endParaRPr lang="fa-IR" sz="2200" dirty="0" smtClean="0">
              <a:cs typeface="B Mitra" panose="00000400000000000000" pitchFamily="2" charset="-78"/>
            </a:endParaRPr>
          </a:p>
        </p:txBody>
      </p:sp>
    </p:spTree>
    <p:extLst>
      <p:ext uri="{BB962C8B-B14F-4D97-AF65-F5344CB8AC3E}">
        <p14:creationId xmlns:p14="http://schemas.microsoft.com/office/powerpoint/2010/main" val="16433077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normAutofit/>
          </a:bodyPr>
          <a:lstStyle/>
          <a:p>
            <a:pPr algn="r" rtl="1"/>
            <a:r>
              <a:rPr lang="fa-IR" sz="3200" dirty="0" smtClean="0">
                <a:cs typeface="B Mitra" panose="00000400000000000000" pitchFamily="2" charset="-78"/>
              </a:rPr>
              <a:t>دستورالعمل رسیدگی به شکایات مناقصات</a:t>
            </a:r>
            <a:endParaRPr lang="en-US" sz="3200" dirty="0">
              <a:cs typeface="B Mitra" panose="00000400000000000000" pitchFamily="2" charset="-78"/>
            </a:endParaRPr>
          </a:p>
        </p:txBody>
      </p:sp>
      <p:sp>
        <p:nvSpPr>
          <p:cNvPr id="14" name="Content Placeholder 13"/>
          <p:cNvSpPr>
            <a:spLocks noGrp="1"/>
          </p:cNvSpPr>
          <p:nvPr>
            <p:ph idx="1"/>
          </p:nvPr>
        </p:nvSpPr>
        <p:spPr/>
        <p:txBody>
          <a:bodyPr>
            <a:normAutofit/>
          </a:bodyPr>
          <a:lstStyle/>
          <a:p>
            <a:pPr algn="just" rtl="1">
              <a:lnSpc>
                <a:spcPct val="150000"/>
              </a:lnSpc>
            </a:pPr>
            <a:r>
              <a:rPr lang="fa-IR" sz="2200" b="1" dirty="0" smtClean="0">
                <a:cs typeface="B Mitra" panose="00000400000000000000" pitchFamily="2" charset="-78"/>
              </a:rPr>
              <a:t>مصادیق </a:t>
            </a:r>
            <a:r>
              <a:rPr lang="fa-IR" sz="2200" b="1" dirty="0" smtClean="0">
                <a:cs typeface="B Mitra" panose="00000400000000000000" pitchFamily="2" charset="-78"/>
              </a:rPr>
              <a:t>شکایت هر آنچه که اصل رقابت سالم و شفاف را خدشه دار نموده باشد( مانند تغییر اعضای کمیسیون معاملات، تبانی، عدم رعایت مهلت های قانونی، خرد کردن کار، قصوری که منجر به عدم حضور مناقصه گران می شود و...)</a:t>
            </a:r>
          </a:p>
          <a:p>
            <a:pPr algn="just" rtl="1">
              <a:lnSpc>
                <a:spcPct val="150000"/>
              </a:lnSpc>
            </a:pPr>
            <a:r>
              <a:rPr lang="fa-IR" sz="2200" b="1" dirty="0" smtClean="0">
                <a:cs typeface="B Mitra" panose="00000400000000000000" pitchFamily="2" charset="-78"/>
              </a:rPr>
              <a:t>شکایت در موارد : بررسی معیارهای ارزیابی/ شکایت پس از مهلت یاد شده و شکایت توسط برنده مناقصه پس از انعقاد قرارداد قابل بررسی نمی باشد.</a:t>
            </a:r>
          </a:p>
          <a:p>
            <a:pPr algn="just" rtl="1">
              <a:lnSpc>
                <a:spcPct val="150000"/>
              </a:lnSpc>
            </a:pPr>
            <a:endParaRPr lang="en-US" sz="2600" b="1" dirty="0" smtClean="0">
              <a:cs typeface="B Mitra" panose="00000400000000000000" pitchFamily="2" charset="-78"/>
            </a:endParaRPr>
          </a:p>
          <a:p>
            <a:pPr marL="82296" indent="0" algn="just" rtl="1">
              <a:lnSpc>
                <a:spcPct val="150000"/>
              </a:lnSpc>
              <a:buNone/>
            </a:pPr>
            <a:endParaRPr lang="fa-IR" sz="2200" dirty="0" smtClean="0">
              <a:cs typeface="B Mitra" panose="00000400000000000000" pitchFamily="2" charset="-78"/>
            </a:endParaRPr>
          </a:p>
        </p:txBody>
      </p:sp>
    </p:spTree>
    <p:extLst>
      <p:ext uri="{BB962C8B-B14F-4D97-AF65-F5344CB8AC3E}">
        <p14:creationId xmlns:p14="http://schemas.microsoft.com/office/powerpoint/2010/main" val="7257786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normAutofit/>
          </a:bodyPr>
          <a:lstStyle/>
          <a:p>
            <a:pPr algn="r" rtl="1"/>
            <a:r>
              <a:rPr lang="fa-IR" sz="3200" dirty="0" smtClean="0">
                <a:cs typeface="B Mitra" panose="00000400000000000000" pitchFamily="2" charset="-78"/>
              </a:rPr>
              <a:t>دستورالعمل رسیدگی به شکایات مناقصات</a:t>
            </a:r>
            <a:endParaRPr lang="en-US" sz="3200" dirty="0">
              <a:cs typeface="B Mitra" panose="00000400000000000000" pitchFamily="2" charset="-78"/>
            </a:endParaRPr>
          </a:p>
        </p:txBody>
      </p:sp>
      <p:sp>
        <p:nvSpPr>
          <p:cNvPr id="14" name="Content Placeholder 13"/>
          <p:cNvSpPr>
            <a:spLocks noGrp="1"/>
          </p:cNvSpPr>
          <p:nvPr>
            <p:ph idx="1"/>
          </p:nvPr>
        </p:nvSpPr>
        <p:spPr/>
        <p:txBody>
          <a:bodyPr>
            <a:normAutofit lnSpcReduction="10000"/>
          </a:bodyPr>
          <a:lstStyle/>
          <a:p>
            <a:pPr algn="just" rtl="1">
              <a:lnSpc>
                <a:spcPct val="150000"/>
              </a:lnSpc>
            </a:pPr>
            <a:r>
              <a:rPr lang="fa-IR" sz="2400" b="1" dirty="0" smtClean="0">
                <a:cs typeface="B Mitra" panose="00000400000000000000" pitchFamily="2" charset="-78"/>
              </a:rPr>
              <a:t>هیأت مرکزی رسیدگی به شکایات مناقصات برگزار شده در دستگاه های ملی</a:t>
            </a:r>
            <a:r>
              <a:rPr lang="fa-IR" sz="2200" b="1" dirty="0" smtClean="0">
                <a:cs typeface="B Mitra" panose="00000400000000000000" pitchFamily="2" charset="-78"/>
              </a:rPr>
              <a:t>، </a:t>
            </a:r>
            <a:r>
              <a:rPr lang="fa-IR" sz="1800" b="1" dirty="0" smtClean="0">
                <a:cs typeface="B Mitra" panose="00000400000000000000" pitchFamily="2" charset="-78"/>
              </a:rPr>
              <a:t>(معاون ذی ربط سازمان، خزانه دار، نماینده دستگاه در حد معاون وزیر، معاون حقوقی رئیس جمهور، نماینده تشکل </a:t>
            </a:r>
            <a:r>
              <a:rPr lang="fa-IR" sz="1800" b="1" dirty="0" smtClean="0">
                <a:cs typeface="B Mitra" panose="00000400000000000000" pitchFamily="2" charset="-78"/>
              </a:rPr>
              <a:t>صنفی مرتبط</a:t>
            </a:r>
            <a:r>
              <a:rPr lang="fa-IR" sz="1800" b="1" dirty="0" smtClean="0">
                <a:cs typeface="B Mitra" panose="00000400000000000000" pitchFamily="2" charset="-78"/>
              </a:rPr>
              <a:t>، یک قاضی به رئیس قوه قضاییه)</a:t>
            </a:r>
            <a:endParaRPr lang="en-US" sz="2200" b="1" dirty="0" smtClean="0">
              <a:cs typeface="B Mitra" panose="00000400000000000000" pitchFamily="2" charset="-78"/>
            </a:endParaRPr>
          </a:p>
          <a:p>
            <a:pPr algn="just" rtl="1">
              <a:lnSpc>
                <a:spcPct val="150000"/>
              </a:lnSpc>
            </a:pPr>
            <a:r>
              <a:rPr lang="fa-IR" sz="2400" b="1" dirty="0">
                <a:cs typeface="B Mitra" panose="00000400000000000000" pitchFamily="2" charset="-78"/>
              </a:rPr>
              <a:t>هیأت مرکزی رسیدگی به شکایات مناقصات برگزار شده در دستگاه های </a:t>
            </a:r>
            <a:r>
              <a:rPr lang="fa-IR" sz="2400" b="1" dirty="0" smtClean="0">
                <a:cs typeface="B Mitra" panose="00000400000000000000" pitchFamily="2" charset="-78"/>
              </a:rPr>
              <a:t>استانی، </a:t>
            </a:r>
            <a:r>
              <a:rPr lang="fa-IR" sz="2400" b="1" dirty="0">
                <a:cs typeface="B Mitra" panose="00000400000000000000" pitchFamily="2" charset="-78"/>
              </a:rPr>
              <a:t>(</a:t>
            </a:r>
            <a:r>
              <a:rPr lang="fa-IR" sz="1900" b="1" dirty="0">
                <a:cs typeface="B Mitra" panose="00000400000000000000" pitchFamily="2" charset="-78"/>
              </a:rPr>
              <a:t>معاون </a:t>
            </a:r>
            <a:r>
              <a:rPr lang="fa-IR" sz="1900" b="1" dirty="0" smtClean="0">
                <a:cs typeface="B Mitra" panose="00000400000000000000" pitchFamily="2" charset="-78"/>
              </a:rPr>
              <a:t>استاندار، </a:t>
            </a:r>
            <a:r>
              <a:rPr lang="fa-IR" sz="1900" b="1" dirty="0">
                <a:cs typeface="B Mitra" panose="00000400000000000000" pitchFamily="2" charset="-78"/>
              </a:rPr>
              <a:t>خزانه دار، </a:t>
            </a:r>
            <a:r>
              <a:rPr lang="fa-IR" sz="1900" b="1" dirty="0" smtClean="0">
                <a:cs typeface="B Mitra" panose="00000400000000000000" pitchFamily="2" charset="-78"/>
              </a:rPr>
              <a:t>رئیس </a:t>
            </a:r>
            <a:r>
              <a:rPr lang="fa-IR" sz="1900" b="1" dirty="0">
                <a:cs typeface="B Mitra" panose="00000400000000000000" pitchFamily="2" charset="-78"/>
              </a:rPr>
              <a:t>دستگاه </a:t>
            </a:r>
            <a:r>
              <a:rPr lang="fa-IR" sz="1900" b="1" dirty="0" smtClean="0">
                <a:cs typeface="B Mitra" panose="00000400000000000000" pitchFamily="2" charset="-78"/>
              </a:rPr>
              <a:t>مناقصه گزار،رئیس سازمان اقتصادی و داراییس استان، </a:t>
            </a:r>
            <a:r>
              <a:rPr lang="fa-IR" sz="1900" b="1" dirty="0">
                <a:cs typeface="B Mitra" panose="00000400000000000000" pitchFamily="2" charset="-78"/>
              </a:rPr>
              <a:t>نماینده تشکل مرتبط، یک قاضی به رئیس قوه قضاییه)</a:t>
            </a:r>
            <a:endParaRPr lang="en-US" sz="1900" b="1" dirty="0">
              <a:cs typeface="B Mitra" panose="00000400000000000000" pitchFamily="2" charset="-78"/>
            </a:endParaRPr>
          </a:p>
          <a:p>
            <a:pPr algn="just" rtl="1">
              <a:lnSpc>
                <a:spcPct val="150000"/>
              </a:lnSpc>
            </a:pPr>
            <a:r>
              <a:rPr lang="fa-IR" sz="2200" b="1" dirty="0" smtClean="0">
                <a:cs typeface="B Mitra" panose="00000400000000000000" pitchFamily="2" charset="-78"/>
              </a:rPr>
              <a:t>رای هیأت : چنانچه قرارداد </a:t>
            </a:r>
            <a:r>
              <a:rPr lang="fa-IR" sz="2200" b="1" dirty="0" smtClean="0">
                <a:cs typeface="B Mitra" panose="00000400000000000000" pitchFamily="2" charset="-78"/>
              </a:rPr>
              <a:t>منعقد </a:t>
            </a:r>
            <a:r>
              <a:rPr lang="fa-IR" sz="2200" b="1" dirty="0" smtClean="0">
                <a:cs typeface="B Mitra" panose="00000400000000000000" pitchFamily="2" charset="-78"/>
              </a:rPr>
              <a:t>نشده باشد </a:t>
            </a:r>
            <a:r>
              <a:rPr lang="fa-IR" sz="1800" b="1" dirty="0" smtClean="0">
                <a:cs typeface="B Mitra" panose="00000400000000000000" pitchFamily="2" charset="-78"/>
              </a:rPr>
              <a:t>(شامل لغو مناقصه، تجدید مناقصه یا رد شکایت) بعد از انعقاد قرارداد (تعلیق یا فسخ یا جواز ادامه قرارداد)</a:t>
            </a:r>
          </a:p>
          <a:p>
            <a:pPr algn="just" rtl="1">
              <a:lnSpc>
                <a:spcPct val="150000"/>
              </a:lnSpc>
            </a:pPr>
            <a:r>
              <a:rPr lang="fa-IR" sz="2200" b="1" dirty="0" smtClean="0">
                <a:cs typeface="B Mitra" panose="00000400000000000000" pitchFamily="2" charset="-78"/>
              </a:rPr>
              <a:t>اگر با رای هیات و لغو یا تجدید مناقصه خسارتی به مناقصه گران وارد شود ، خسارت براساس برآورد کارشناس رسمی دادگستری تعیین و به آنها پرداخت می شود.</a:t>
            </a:r>
          </a:p>
          <a:p>
            <a:pPr algn="just" rtl="1">
              <a:lnSpc>
                <a:spcPct val="150000"/>
              </a:lnSpc>
            </a:pPr>
            <a:endParaRPr lang="en-US" sz="2600" b="1" dirty="0" smtClean="0">
              <a:cs typeface="B Mitra" panose="00000400000000000000" pitchFamily="2" charset="-78"/>
            </a:endParaRPr>
          </a:p>
          <a:p>
            <a:pPr marL="82296" indent="0" algn="just" rtl="1">
              <a:lnSpc>
                <a:spcPct val="150000"/>
              </a:lnSpc>
              <a:buNone/>
            </a:pPr>
            <a:endParaRPr lang="fa-IR" sz="2200" dirty="0" smtClean="0">
              <a:cs typeface="B Mitra" panose="00000400000000000000" pitchFamily="2" charset="-78"/>
            </a:endParaRPr>
          </a:p>
        </p:txBody>
      </p:sp>
    </p:spTree>
    <p:extLst>
      <p:ext uri="{BB962C8B-B14F-4D97-AF65-F5344CB8AC3E}">
        <p14:creationId xmlns:p14="http://schemas.microsoft.com/office/powerpoint/2010/main" val="21562015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normAutofit/>
          </a:bodyPr>
          <a:lstStyle/>
          <a:p>
            <a:pPr algn="r" rtl="1"/>
            <a:r>
              <a:rPr lang="fa-IR" sz="3200" dirty="0" smtClean="0">
                <a:cs typeface="B Mitra" panose="00000400000000000000" pitchFamily="2" charset="-78"/>
              </a:rPr>
              <a:t>آئین نامه تضمین معاملات دولتی</a:t>
            </a:r>
            <a:endParaRPr lang="en-US" sz="3200" dirty="0">
              <a:cs typeface="B Mitra" panose="00000400000000000000" pitchFamily="2" charset="-78"/>
            </a:endParaRPr>
          </a:p>
        </p:txBody>
      </p:sp>
      <p:sp>
        <p:nvSpPr>
          <p:cNvPr id="14" name="Content Placeholder 13"/>
          <p:cNvSpPr>
            <a:spLocks noGrp="1"/>
          </p:cNvSpPr>
          <p:nvPr>
            <p:ph idx="1"/>
          </p:nvPr>
        </p:nvSpPr>
        <p:spPr/>
        <p:txBody>
          <a:bodyPr>
            <a:normAutofit lnSpcReduction="10000"/>
          </a:bodyPr>
          <a:lstStyle/>
          <a:p>
            <a:pPr algn="just" rtl="1">
              <a:lnSpc>
                <a:spcPct val="150000"/>
              </a:lnSpc>
            </a:pPr>
            <a:r>
              <a:rPr lang="fa-IR" sz="2400" b="1" dirty="0" smtClean="0">
                <a:cs typeface="B Mitra" panose="00000400000000000000" pitchFamily="2" charset="-78"/>
              </a:rPr>
              <a:t>دامنه کاربرد: دستگاه های موضوع بند (ب) ماده (1) قانون برگزاری مناقصات/دستگاه های موضوع ماده (5) قانون خدمات مدیریت کشوری و نیز دستگاه های موضوع مواد (2) تا (5) قانون محاسبات عمومی</a:t>
            </a:r>
            <a:endParaRPr lang="en-US" sz="2200" b="1" dirty="0" smtClean="0">
              <a:cs typeface="B Mitra" panose="00000400000000000000" pitchFamily="2" charset="-78"/>
            </a:endParaRPr>
          </a:p>
          <a:p>
            <a:pPr algn="just" rtl="1">
              <a:lnSpc>
                <a:spcPct val="150000"/>
              </a:lnSpc>
            </a:pPr>
            <a:r>
              <a:rPr lang="fa-IR" sz="2400" b="1" dirty="0" smtClean="0">
                <a:cs typeface="B Mitra" panose="00000400000000000000" pitchFamily="2" charset="-78"/>
              </a:rPr>
              <a:t>انواع تضامین : </a:t>
            </a:r>
          </a:p>
          <a:p>
            <a:pPr algn="just" rtl="1">
              <a:lnSpc>
                <a:spcPct val="150000"/>
              </a:lnSpc>
            </a:pPr>
            <a:r>
              <a:rPr lang="fa-IR" sz="2400" b="1" dirty="0" smtClean="0">
                <a:cs typeface="B Mitra" panose="00000400000000000000" pitchFamily="2" charset="-78"/>
              </a:rPr>
              <a:t>تضمین شرکت در فرایند ارجاع کار</a:t>
            </a:r>
          </a:p>
          <a:p>
            <a:pPr algn="just" rtl="1">
              <a:lnSpc>
                <a:spcPct val="150000"/>
              </a:lnSpc>
            </a:pPr>
            <a:r>
              <a:rPr lang="fa-IR" sz="2400" b="1" dirty="0" smtClean="0">
                <a:cs typeface="B Mitra" panose="00000400000000000000" pitchFamily="2" charset="-78"/>
              </a:rPr>
              <a:t>تضمین انجام تعهدات (قراردادی)</a:t>
            </a:r>
          </a:p>
          <a:p>
            <a:pPr algn="just" rtl="1">
              <a:lnSpc>
                <a:spcPct val="150000"/>
              </a:lnSpc>
            </a:pPr>
            <a:r>
              <a:rPr lang="fa-IR" sz="2400" b="1" dirty="0" smtClean="0">
                <a:cs typeface="B Mitra" panose="00000400000000000000" pitchFamily="2" charset="-78"/>
              </a:rPr>
              <a:t>تضمین </a:t>
            </a:r>
            <a:r>
              <a:rPr lang="fa-IR" sz="2400" b="1" dirty="0">
                <a:cs typeface="B Mitra" panose="00000400000000000000" pitchFamily="2" charset="-78"/>
              </a:rPr>
              <a:t>پیش پرداخت (قراردادی)</a:t>
            </a:r>
            <a:endParaRPr lang="fa-IR" sz="2400" b="1" dirty="0" smtClean="0">
              <a:cs typeface="B Mitra" panose="00000400000000000000" pitchFamily="2" charset="-78"/>
            </a:endParaRPr>
          </a:p>
          <a:p>
            <a:pPr algn="just" rtl="1">
              <a:lnSpc>
                <a:spcPct val="150000"/>
              </a:lnSpc>
            </a:pPr>
            <a:r>
              <a:rPr lang="fa-IR" sz="2400" b="1" dirty="0" smtClean="0">
                <a:cs typeface="B Mitra" panose="00000400000000000000" pitchFamily="2" charset="-78"/>
              </a:rPr>
              <a:t>تضمین حسن اجرای کا</a:t>
            </a:r>
            <a:r>
              <a:rPr lang="fa-IR" sz="2200" b="1" dirty="0" smtClean="0">
                <a:cs typeface="B Mitra" panose="00000400000000000000" pitchFamily="2" charset="-78"/>
              </a:rPr>
              <a:t>ر (قراردادی</a:t>
            </a:r>
            <a:r>
              <a:rPr lang="fa-IR" sz="2200" b="1" dirty="0">
                <a:cs typeface="B Mitra" panose="00000400000000000000" pitchFamily="2" charset="-78"/>
              </a:rPr>
              <a:t>)</a:t>
            </a:r>
            <a:endParaRPr lang="en-US" sz="2200" b="1" dirty="0" smtClean="0">
              <a:cs typeface="B Mitra" panose="00000400000000000000" pitchFamily="2" charset="-78"/>
            </a:endParaRPr>
          </a:p>
          <a:p>
            <a:pPr marL="82296" indent="0" algn="just" rtl="1">
              <a:lnSpc>
                <a:spcPct val="150000"/>
              </a:lnSpc>
              <a:buNone/>
            </a:pPr>
            <a:endParaRPr lang="fa-IR" sz="2200" dirty="0" smtClean="0">
              <a:cs typeface="B Mitra" panose="00000400000000000000" pitchFamily="2" charset="-78"/>
            </a:endParaRPr>
          </a:p>
        </p:txBody>
      </p:sp>
    </p:spTree>
    <p:extLst>
      <p:ext uri="{BB962C8B-B14F-4D97-AF65-F5344CB8AC3E}">
        <p14:creationId xmlns:p14="http://schemas.microsoft.com/office/powerpoint/2010/main" val="39936245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normAutofit/>
          </a:bodyPr>
          <a:lstStyle/>
          <a:p>
            <a:pPr algn="r" rtl="1"/>
            <a:r>
              <a:rPr lang="fa-IR" sz="3200" dirty="0" smtClean="0">
                <a:cs typeface="B Mitra" panose="00000400000000000000" pitchFamily="2" charset="-78"/>
              </a:rPr>
              <a:t>آئین نامه تضمین معاملات دولتی</a:t>
            </a:r>
            <a:endParaRPr lang="en-US" sz="3200" dirty="0">
              <a:cs typeface="B Mitra" panose="00000400000000000000" pitchFamily="2" charset="-78"/>
            </a:endParaRPr>
          </a:p>
        </p:txBody>
      </p:sp>
      <p:sp>
        <p:nvSpPr>
          <p:cNvPr id="14" name="Content Placeholder 13"/>
          <p:cNvSpPr>
            <a:spLocks noGrp="1"/>
          </p:cNvSpPr>
          <p:nvPr>
            <p:ph idx="1"/>
          </p:nvPr>
        </p:nvSpPr>
        <p:spPr/>
        <p:txBody>
          <a:bodyPr>
            <a:normAutofit lnSpcReduction="10000"/>
          </a:bodyPr>
          <a:lstStyle/>
          <a:p>
            <a:pPr algn="just" rtl="1">
              <a:lnSpc>
                <a:spcPct val="150000"/>
              </a:lnSpc>
            </a:pPr>
            <a:r>
              <a:rPr lang="fa-IR" sz="2400" b="1" dirty="0" smtClean="0">
                <a:cs typeface="B Mitra" panose="00000400000000000000" pitchFamily="2" charset="-78"/>
              </a:rPr>
              <a:t>انواع ضمانت نامه های معتبر : </a:t>
            </a:r>
          </a:p>
          <a:p>
            <a:pPr algn="just" rtl="1">
              <a:lnSpc>
                <a:spcPct val="150000"/>
              </a:lnSpc>
            </a:pPr>
            <a:r>
              <a:rPr lang="fa-IR" sz="2400" b="1" dirty="0" smtClean="0">
                <a:cs typeface="B Mitra" panose="00000400000000000000" pitchFamily="2" charset="-78"/>
              </a:rPr>
              <a:t>ضمانت نامه بانکی </a:t>
            </a:r>
          </a:p>
          <a:p>
            <a:pPr algn="just" rtl="1">
              <a:lnSpc>
                <a:spcPct val="150000"/>
              </a:lnSpc>
            </a:pPr>
            <a:r>
              <a:rPr lang="fa-IR" sz="2400" b="1" dirty="0" smtClean="0">
                <a:cs typeface="B Mitra" panose="00000400000000000000" pitchFamily="2" charset="-78"/>
              </a:rPr>
              <a:t>اصل فیض وجه نقد به حساب سپرده بانکی مجاز</a:t>
            </a:r>
          </a:p>
          <a:p>
            <a:pPr algn="just" rtl="1">
              <a:lnSpc>
                <a:spcPct val="150000"/>
              </a:lnSpc>
            </a:pPr>
            <a:r>
              <a:rPr lang="fa-IR" sz="2400" b="1" dirty="0" smtClean="0">
                <a:cs typeface="B Mitra" panose="00000400000000000000" pitchFamily="2" charset="-78"/>
              </a:rPr>
              <a:t>ضمانت نامه صادره از سوی موسسات بیمه گر دارای مجوز بیمه مرکزی</a:t>
            </a:r>
          </a:p>
          <a:p>
            <a:pPr algn="just" rtl="1">
              <a:lnSpc>
                <a:spcPct val="150000"/>
              </a:lnSpc>
            </a:pPr>
            <a:r>
              <a:rPr lang="fa-IR" sz="2400" b="1" dirty="0" smtClean="0">
                <a:cs typeface="B Mitra" panose="00000400000000000000" pitchFamily="2" charset="-78"/>
              </a:rPr>
              <a:t>سفته با امضای مجاز همراه با مهر (80 درصد ارزش اسمی آن)</a:t>
            </a:r>
          </a:p>
          <a:p>
            <a:pPr algn="just" rtl="1">
              <a:lnSpc>
                <a:spcPct val="150000"/>
              </a:lnSpc>
            </a:pPr>
            <a:r>
              <a:rPr lang="fa-IR" sz="2400" b="1" dirty="0" smtClean="0">
                <a:cs typeface="B Mitra" panose="00000400000000000000" pitchFamily="2" charset="-78"/>
              </a:rPr>
              <a:t>گواهی خالص مطالبات قطعی شده قراردادها از طرف دستگاه ها برای همان دستگاه</a:t>
            </a:r>
          </a:p>
          <a:p>
            <a:pPr algn="just" rtl="1">
              <a:lnSpc>
                <a:spcPct val="150000"/>
              </a:lnSpc>
            </a:pPr>
            <a:r>
              <a:rPr lang="fa-IR" sz="2400" b="1" dirty="0" smtClean="0">
                <a:cs typeface="B Mitra" panose="00000400000000000000" pitchFamily="2" charset="-78"/>
              </a:rPr>
              <a:t>اوراق مشارکت بی نام تضمین شده/وثیقه ملکی با 85 درصد ارزش اسمی/ضمانت نامه های صندوق های ضمانت دولتی و صندوق های نوآوری و شکوفایی</a:t>
            </a:r>
            <a:endParaRPr lang="fa-IR" sz="2200" dirty="0" smtClean="0">
              <a:cs typeface="B Mitra" panose="00000400000000000000" pitchFamily="2" charset="-78"/>
            </a:endParaRPr>
          </a:p>
        </p:txBody>
      </p:sp>
    </p:spTree>
    <p:extLst>
      <p:ext uri="{BB962C8B-B14F-4D97-AF65-F5344CB8AC3E}">
        <p14:creationId xmlns:p14="http://schemas.microsoft.com/office/powerpoint/2010/main" val="9608350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normAutofit/>
          </a:bodyPr>
          <a:lstStyle/>
          <a:p>
            <a:pPr algn="r" rtl="1"/>
            <a:r>
              <a:rPr lang="fa-IR" sz="3200" dirty="0" smtClean="0">
                <a:cs typeface="B Mitra" panose="00000400000000000000" pitchFamily="2" charset="-78"/>
              </a:rPr>
              <a:t>آئین نامه تضمین معاملات دولتی</a:t>
            </a:r>
            <a:endParaRPr lang="en-US" sz="3200" dirty="0">
              <a:cs typeface="B Mitra" panose="00000400000000000000" pitchFamily="2" charset="-78"/>
            </a:endParaRPr>
          </a:p>
        </p:txBody>
      </p:sp>
      <p:sp>
        <p:nvSpPr>
          <p:cNvPr id="14" name="Content Placeholder 13"/>
          <p:cNvSpPr>
            <a:spLocks noGrp="1"/>
          </p:cNvSpPr>
          <p:nvPr>
            <p:ph idx="1"/>
          </p:nvPr>
        </p:nvSpPr>
        <p:spPr/>
        <p:txBody>
          <a:bodyPr>
            <a:normAutofit/>
          </a:bodyPr>
          <a:lstStyle/>
          <a:p>
            <a:pPr algn="just" rtl="1">
              <a:lnSpc>
                <a:spcPct val="150000"/>
              </a:lnSpc>
            </a:pPr>
            <a:r>
              <a:rPr lang="fa-IR" sz="2400" b="1" dirty="0" smtClean="0">
                <a:cs typeface="B Mitra" panose="00000400000000000000" pitchFamily="2" charset="-78"/>
              </a:rPr>
              <a:t>نوع ضمانت نامه توسط مشاور/ پیمانکار/سازنده/ تامین کننده تامین/ تعیین می شود.</a:t>
            </a:r>
          </a:p>
          <a:p>
            <a:pPr algn="just" rtl="1">
              <a:lnSpc>
                <a:spcPct val="150000"/>
              </a:lnSpc>
            </a:pPr>
            <a:r>
              <a:rPr lang="fa-IR" sz="2400" b="1" dirty="0" smtClean="0">
                <a:cs typeface="B Mitra" panose="00000400000000000000" pitchFamily="2" charset="-78"/>
              </a:rPr>
              <a:t>برای خدمات مشاوره 5 درصد مبلغ قرارداد بابت تضمین انجام تعهدات در نظر گرفته شده است که قبل از انعقاد قرارداد به کارفرما ارائه می شود.</a:t>
            </a:r>
          </a:p>
          <a:p>
            <a:pPr algn="just" rtl="1">
              <a:lnSpc>
                <a:spcPct val="150000"/>
              </a:lnSpc>
            </a:pPr>
            <a:r>
              <a:rPr lang="fa-IR" sz="2400" b="1" dirty="0" smtClean="0">
                <a:cs typeface="B Mitra" panose="00000400000000000000" pitchFamily="2" charset="-78"/>
              </a:rPr>
              <a:t>پیش پرداخت هم درتمام خدمات مشاوره معادل 25 درصد مبلغ قرارداد تعیین شده است.</a:t>
            </a:r>
            <a:endParaRPr lang="en-US" sz="2200" b="1" dirty="0" smtClean="0">
              <a:cs typeface="B Mitra" panose="00000400000000000000" pitchFamily="2" charset="-78"/>
            </a:endParaRPr>
          </a:p>
          <a:p>
            <a:pPr marL="82296" indent="0" algn="just" rtl="1">
              <a:lnSpc>
                <a:spcPct val="150000"/>
              </a:lnSpc>
              <a:buNone/>
            </a:pPr>
            <a:endParaRPr lang="fa-IR" sz="2200" dirty="0" smtClean="0">
              <a:cs typeface="B Mitra" panose="00000400000000000000" pitchFamily="2" charset="-78"/>
            </a:endParaRPr>
          </a:p>
        </p:txBody>
      </p:sp>
    </p:spTree>
    <p:extLst>
      <p:ext uri="{BB962C8B-B14F-4D97-AF65-F5344CB8AC3E}">
        <p14:creationId xmlns:p14="http://schemas.microsoft.com/office/powerpoint/2010/main" val="33305668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normAutofit/>
          </a:bodyPr>
          <a:lstStyle/>
          <a:p>
            <a:pPr algn="r" rtl="1"/>
            <a:r>
              <a:rPr lang="fa-IR" sz="3200" dirty="0" smtClean="0">
                <a:cs typeface="B Mitra" panose="00000400000000000000" pitchFamily="2" charset="-78"/>
              </a:rPr>
              <a:t>مراحل حل اختلافات قراردادی </a:t>
            </a:r>
            <a:r>
              <a:rPr lang="fa-IR" sz="2200" dirty="0" smtClean="0">
                <a:cs typeface="B Mitra" panose="00000400000000000000" pitchFamily="2" charset="-78"/>
              </a:rPr>
              <a:t>(مطابق شرایط عمومی قرارداد یا پیمان):</a:t>
            </a:r>
            <a:endParaRPr lang="en-US" sz="3200" dirty="0">
              <a:cs typeface="B Mitra" panose="00000400000000000000" pitchFamily="2" charset="-78"/>
            </a:endParaRPr>
          </a:p>
        </p:txBody>
      </p:sp>
      <p:sp>
        <p:nvSpPr>
          <p:cNvPr id="14" name="Content Placeholder 13"/>
          <p:cNvSpPr>
            <a:spLocks noGrp="1"/>
          </p:cNvSpPr>
          <p:nvPr>
            <p:ph idx="1"/>
          </p:nvPr>
        </p:nvSpPr>
        <p:spPr/>
        <p:txBody>
          <a:bodyPr/>
          <a:lstStyle/>
          <a:p>
            <a:pPr algn="just" rtl="1">
              <a:lnSpc>
                <a:spcPct val="150000"/>
              </a:lnSpc>
            </a:pPr>
            <a:r>
              <a:rPr lang="fa-IR" sz="2600" b="1" dirty="0" smtClean="0">
                <a:cs typeface="B Mitra" panose="00000400000000000000" pitchFamily="2" charset="-78"/>
              </a:rPr>
              <a:t>استعلام از سازمان برنامه و بودجه</a:t>
            </a:r>
            <a:endParaRPr lang="en-US" sz="2600" b="1" dirty="0" smtClean="0">
              <a:cs typeface="B Mitra" panose="00000400000000000000" pitchFamily="2" charset="-78"/>
            </a:endParaRPr>
          </a:p>
          <a:p>
            <a:pPr algn="just" rtl="1">
              <a:lnSpc>
                <a:spcPct val="150000"/>
              </a:lnSpc>
            </a:pPr>
            <a:r>
              <a:rPr lang="fa-IR" sz="2600" b="1" dirty="0" smtClean="0">
                <a:cs typeface="B Mitra" panose="00000400000000000000" pitchFamily="2" charset="-78"/>
              </a:rPr>
              <a:t>انتخاب کارشناس مرضی الطرفین</a:t>
            </a:r>
            <a:endParaRPr lang="en-US" sz="2600" b="1" dirty="0" smtClean="0">
              <a:cs typeface="B Mitra" panose="00000400000000000000" pitchFamily="2" charset="-78"/>
            </a:endParaRPr>
          </a:p>
          <a:p>
            <a:pPr algn="just" rtl="1">
              <a:lnSpc>
                <a:spcPct val="150000"/>
              </a:lnSpc>
            </a:pPr>
            <a:r>
              <a:rPr lang="fa-IR" sz="2600" b="1" dirty="0" smtClean="0">
                <a:cs typeface="B Mitra" panose="00000400000000000000" pitchFamily="2" charset="-78"/>
              </a:rPr>
              <a:t>مراجعه به داوری شورای عالی فنی </a:t>
            </a:r>
            <a:r>
              <a:rPr lang="fa-IR" sz="2200" b="1" dirty="0" smtClean="0">
                <a:cs typeface="B Mitra" panose="00000400000000000000" pitchFamily="2" charset="-78"/>
              </a:rPr>
              <a:t>مطابق با تشریفات ذکر شده در آئین نامه اجرایی مصوب سال 1385بشرط آنکه تمام یا قسمتی از اعتبار عمرانی باشد و در قرارداد مراجعه به داوری پیش بینی شده باشد.</a:t>
            </a:r>
          </a:p>
          <a:p>
            <a:pPr marL="82296" indent="0" algn="just" rtl="1">
              <a:lnSpc>
                <a:spcPct val="150000"/>
              </a:lnSpc>
              <a:buNone/>
            </a:pPr>
            <a:r>
              <a:rPr lang="fa-IR" sz="2200" b="1" dirty="0" smtClean="0">
                <a:cs typeface="B Mitra" panose="00000400000000000000" pitchFamily="2" charset="-78"/>
              </a:rPr>
              <a:t>- درخواست از نماینده رئیس جمهور (آقای دکتر نوبخت)/ اخذ مصوبه از هیأت دولت/ واریز نمودن 1% ادعای خواهان به خزانه/ تنظیم قرارنامه/ جلسه استماع/ صدور رای</a:t>
            </a:r>
          </a:p>
          <a:p>
            <a:pPr marL="82296" indent="0" algn="just" rtl="1">
              <a:lnSpc>
                <a:spcPct val="150000"/>
              </a:lnSpc>
              <a:buNone/>
            </a:pPr>
            <a:endParaRPr lang="fa-IR" sz="2600" b="1" dirty="0" smtClean="0">
              <a:cs typeface="B Mitra" panose="00000400000000000000" pitchFamily="2" charset="-78"/>
            </a:endParaRPr>
          </a:p>
          <a:p>
            <a:pPr algn="just" rtl="1">
              <a:lnSpc>
                <a:spcPct val="150000"/>
              </a:lnSpc>
            </a:pPr>
            <a:endParaRPr lang="fa-IR" sz="2600" b="1" dirty="0" smtClean="0">
              <a:cs typeface="B Mitra" panose="00000400000000000000" pitchFamily="2" charset="-78"/>
            </a:endParaRPr>
          </a:p>
        </p:txBody>
      </p:sp>
    </p:spTree>
    <p:extLst>
      <p:ext uri="{BB962C8B-B14F-4D97-AF65-F5344CB8AC3E}">
        <p14:creationId xmlns:p14="http://schemas.microsoft.com/office/powerpoint/2010/main" val="11144398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normAutofit/>
          </a:bodyPr>
          <a:lstStyle/>
          <a:p>
            <a:pPr algn="r" rtl="1"/>
            <a:r>
              <a:rPr lang="fa-IR" sz="3200" dirty="0" smtClean="0">
                <a:cs typeface="B Mitra" panose="00000400000000000000" pitchFamily="2" charset="-78"/>
              </a:rPr>
              <a:t>آئین نامه تشخیص صلاحیت مشاوران </a:t>
            </a:r>
            <a:r>
              <a:rPr lang="fa-IR" sz="2200" dirty="0" smtClean="0">
                <a:cs typeface="B Mitra" panose="00000400000000000000" pitchFamily="2" charset="-78"/>
              </a:rPr>
              <a:t>(مصوب سال 1383 و اصلاحیه های آن)</a:t>
            </a:r>
            <a:endParaRPr lang="en-US" sz="3200" dirty="0">
              <a:cs typeface="B Mitra" panose="00000400000000000000" pitchFamily="2" charset="-78"/>
            </a:endParaRPr>
          </a:p>
        </p:txBody>
      </p:sp>
      <p:sp>
        <p:nvSpPr>
          <p:cNvPr id="14" name="Content Placeholder 13"/>
          <p:cNvSpPr>
            <a:spLocks noGrp="1"/>
          </p:cNvSpPr>
          <p:nvPr>
            <p:ph idx="1"/>
          </p:nvPr>
        </p:nvSpPr>
        <p:spPr/>
        <p:txBody>
          <a:bodyPr>
            <a:normAutofit/>
          </a:bodyPr>
          <a:lstStyle/>
          <a:p>
            <a:pPr algn="just" rtl="1">
              <a:lnSpc>
                <a:spcPct val="150000"/>
              </a:lnSpc>
            </a:pPr>
            <a:r>
              <a:rPr lang="fa-IR" sz="2600" b="1" dirty="0" smtClean="0">
                <a:cs typeface="B Mitra" panose="00000400000000000000" pitchFamily="2" charset="-78"/>
              </a:rPr>
              <a:t>مشاوران در 3 پایه تشخیص صلاحیت می شوند. در هر پایه سقف مجاز برای انعقاد قرارداد تعیین می شود ولی حداقلی برای پایه های مختلف وجود ندارد.</a:t>
            </a:r>
            <a:endParaRPr lang="en-US" sz="2600" b="1" dirty="0" smtClean="0">
              <a:cs typeface="B Mitra" panose="00000400000000000000" pitchFamily="2" charset="-78"/>
            </a:endParaRPr>
          </a:p>
          <a:p>
            <a:pPr algn="just" rtl="1">
              <a:lnSpc>
                <a:spcPct val="150000"/>
              </a:lnSpc>
            </a:pPr>
            <a:r>
              <a:rPr lang="fa-IR" sz="2600" b="1" dirty="0" smtClean="0">
                <a:cs typeface="B Mitra" panose="00000400000000000000" pitchFamily="2" charset="-78"/>
              </a:rPr>
              <a:t>صرفا مشاوران پایه یک با اشغال دو ظرفیت می توانند تا دو برابر حداکثر مبلغ مجاز قرارداد منعقد کنند.</a:t>
            </a:r>
            <a:endParaRPr lang="en-US" sz="2600" b="1" dirty="0" smtClean="0">
              <a:cs typeface="B Mitra" panose="00000400000000000000" pitchFamily="2" charset="-78"/>
            </a:endParaRPr>
          </a:p>
          <a:p>
            <a:pPr algn="just" rtl="1">
              <a:lnSpc>
                <a:spcPct val="150000"/>
              </a:lnSpc>
            </a:pPr>
            <a:r>
              <a:rPr lang="fa-IR" sz="2600" b="1" dirty="0" smtClean="0">
                <a:cs typeface="B Mitra" panose="00000400000000000000" pitchFamily="2" charset="-78"/>
              </a:rPr>
              <a:t>پایه کار مشاور برای نظارت حداقل باید در حد پایه طراحی آن باشد. </a:t>
            </a:r>
          </a:p>
          <a:p>
            <a:pPr algn="just" rtl="1">
              <a:lnSpc>
                <a:spcPct val="150000"/>
              </a:lnSpc>
            </a:pPr>
            <a:r>
              <a:rPr lang="fa-IR" sz="2600" b="1" dirty="0" smtClean="0">
                <a:cs typeface="B Mitra" panose="00000400000000000000" pitchFamily="2" charset="-78"/>
              </a:rPr>
              <a:t>سقف حق الزحمه خدمات نظارت برای پایه های مختلف برای دوره 24 ماهه معادل سه برابر سقف پایه مرتبط می باشد.</a:t>
            </a:r>
            <a:endParaRPr lang="fa-IR" sz="2200" dirty="0" smtClean="0">
              <a:cs typeface="B Mitra" panose="00000400000000000000" pitchFamily="2" charset="-78"/>
            </a:endParaRPr>
          </a:p>
        </p:txBody>
      </p:sp>
    </p:spTree>
    <p:extLst>
      <p:ext uri="{BB962C8B-B14F-4D97-AF65-F5344CB8AC3E}">
        <p14:creationId xmlns:p14="http://schemas.microsoft.com/office/powerpoint/2010/main" val="9221346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normAutofit/>
          </a:bodyPr>
          <a:lstStyle/>
          <a:p>
            <a:pPr algn="r" rtl="1"/>
            <a:r>
              <a:rPr lang="fa-IR" sz="3200" dirty="0" smtClean="0">
                <a:cs typeface="B Mitra" panose="00000400000000000000" pitchFamily="2" charset="-78"/>
              </a:rPr>
              <a:t>تشکیل گروه مشارکت برای مشاروان</a:t>
            </a:r>
            <a:endParaRPr lang="en-US" sz="3200" dirty="0">
              <a:cs typeface="B Mitra" panose="00000400000000000000" pitchFamily="2" charset="-78"/>
            </a:endParaRPr>
          </a:p>
        </p:txBody>
      </p:sp>
      <p:sp>
        <p:nvSpPr>
          <p:cNvPr id="14" name="Content Placeholder 13"/>
          <p:cNvSpPr>
            <a:spLocks noGrp="1"/>
          </p:cNvSpPr>
          <p:nvPr>
            <p:ph idx="1"/>
          </p:nvPr>
        </p:nvSpPr>
        <p:spPr/>
        <p:txBody>
          <a:bodyPr>
            <a:normAutofit/>
          </a:bodyPr>
          <a:lstStyle/>
          <a:p>
            <a:pPr algn="just" rtl="1">
              <a:lnSpc>
                <a:spcPct val="150000"/>
              </a:lnSpc>
            </a:pPr>
            <a:r>
              <a:rPr lang="fa-IR" sz="2600" b="1" dirty="0" smtClean="0">
                <a:cs typeface="B Mitra" panose="00000400000000000000" pitchFamily="2" charset="-78"/>
              </a:rPr>
              <a:t>تشکیل گروه مشارکت باید در قالب مشارکت مدنی (موضوع ماده 47 قانون ثبت اسناد و املاک کشور) انجام بشود.</a:t>
            </a:r>
            <a:endParaRPr lang="en-US" sz="2600" b="1" dirty="0" smtClean="0">
              <a:cs typeface="B Mitra" panose="00000400000000000000" pitchFamily="2" charset="-78"/>
            </a:endParaRPr>
          </a:p>
          <a:p>
            <a:pPr algn="just" rtl="1">
              <a:lnSpc>
                <a:spcPct val="150000"/>
              </a:lnSpc>
            </a:pPr>
            <a:r>
              <a:rPr lang="fa-IR" sz="2600" b="1" dirty="0" smtClean="0">
                <a:cs typeface="B Mitra" panose="00000400000000000000" pitchFamily="2" charset="-78"/>
              </a:rPr>
              <a:t>گروه مشارکت می تواند شامل دو یا چند مشاور حقیقی یا حقوقی باشد.</a:t>
            </a:r>
            <a:endParaRPr lang="en-US" sz="2600" b="1" dirty="0" smtClean="0">
              <a:cs typeface="B Mitra" panose="00000400000000000000" pitchFamily="2" charset="-78"/>
            </a:endParaRPr>
          </a:p>
          <a:p>
            <a:pPr algn="just" rtl="1">
              <a:lnSpc>
                <a:spcPct val="150000"/>
              </a:lnSpc>
            </a:pPr>
            <a:r>
              <a:rPr lang="fa-IR" sz="2600" b="1" dirty="0" smtClean="0">
                <a:cs typeface="B Mitra" panose="00000400000000000000" pitchFamily="2" charset="-78"/>
              </a:rPr>
              <a:t>در ارزیابی کیفی، تجربیات هریک از مشاوران میتواند برای گروه مشارکت در نظر گرفته شود.</a:t>
            </a:r>
          </a:p>
          <a:p>
            <a:pPr algn="just" rtl="1">
              <a:lnSpc>
                <a:spcPct val="150000"/>
              </a:lnSpc>
            </a:pPr>
            <a:r>
              <a:rPr lang="fa-IR" sz="2600" b="1" dirty="0" smtClean="0">
                <a:cs typeface="B Mitra" panose="00000400000000000000" pitchFamily="2" charset="-78"/>
              </a:rPr>
              <a:t>صرفا در کارهای پیچیده و حجم بالا (بیش از سقف پایه یک) یا کارهایی که به بیش از یک تخصص نیاز است، امکان استفاده از گروه مشارکت امکان پذیر است.</a:t>
            </a:r>
            <a:endParaRPr lang="fa-IR" sz="2200" dirty="0" smtClean="0">
              <a:cs typeface="B Mitra" panose="00000400000000000000" pitchFamily="2" charset="-78"/>
            </a:endParaRPr>
          </a:p>
        </p:txBody>
      </p:sp>
    </p:spTree>
    <p:extLst>
      <p:ext uri="{BB962C8B-B14F-4D97-AF65-F5344CB8AC3E}">
        <p14:creationId xmlns:p14="http://schemas.microsoft.com/office/powerpoint/2010/main" val="30319880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normAutofit/>
          </a:bodyPr>
          <a:lstStyle/>
          <a:p>
            <a:pPr algn="r" rtl="1"/>
            <a:r>
              <a:rPr lang="fa-IR" sz="3200" dirty="0" smtClean="0">
                <a:cs typeface="B Mitra" panose="00000400000000000000" pitchFamily="2" charset="-78"/>
              </a:rPr>
              <a:t>رسیدگی به تخلفات پیمانکاران</a:t>
            </a:r>
            <a:endParaRPr lang="en-US" sz="3200" dirty="0">
              <a:cs typeface="B Mitra" panose="00000400000000000000" pitchFamily="2" charset="-78"/>
            </a:endParaRPr>
          </a:p>
        </p:txBody>
      </p:sp>
      <p:sp>
        <p:nvSpPr>
          <p:cNvPr id="14" name="Content Placeholder 13"/>
          <p:cNvSpPr>
            <a:spLocks noGrp="1"/>
          </p:cNvSpPr>
          <p:nvPr>
            <p:ph idx="1"/>
          </p:nvPr>
        </p:nvSpPr>
        <p:spPr/>
        <p:txBody>
          <a:bodyPr>
            <a:normAutofit/>
          </a:bodyPr>
          <a:lstStyle/>
          <a:p>
            <a:pPr algn="just" rtl="1">
              <a:lnSpc>
                <a:spcPct val="150000"/>
              </a:lnSpc>
              <a:buFont typeface="Wingdings" panose="05000000000000000000" pitchFamily="2" charset="2"/>
              <a:buChar char="Ø"/>
            </a:pPr>
            <a:r>
              <a:rPr lang="fa-IR" sz="2400" b="1" dirty="0" smtClean="0">
                <a:cs typeface="B Mitra" panose="00000400000000000000" pitchFamily="2" charset="-78"/>
              </a:rPr>
              <a:t>رسیدگی به تخلفات مشاوران و پیمانکاران جنبه کیفری ندارد و رای صادره صرفا می تواند گواهی نامه مشاور یا پیمانکار را تحت تاثیر قرار بدهد.</a:t>
            </a:r>
          </a:p>
          <a:p>
            <a:pPr algn="just" rtl="1">
              <a:lnSpc>
                <a:spcPct val="150000"/>
              </a:lnSpc>
              <a:buFont typeface="Wingdings" panose="05000000000000000000" pitchFamily="2" charset="2"/>
              <a:buChar char="Ø"/>
            </a:pPr>
            <a:r>
              <a:rPr lang="fa-IR" sz="2400" b="1" dirty="0" smtClean="0">
                <a:cs typeface="B Mitra" panose="00000400000000000000" pitchFamily="2" charset="-78"/>
              </a:rPr>
              <a:t>به تخلفات پیمانکاران در فرایندهای تشخیص صلاحیت/ارجاع کار و انعقاد پیمان/ اجرای پیمان تا تحویل قطعی رسیدگی می شود به شرط آنکه کارفرما دستگاه های موضوع بند (ب) ماده (1) قانون برگزاری مناقصات باشند.</a:t>
            </a:r>
          </a:p>
          <a:p>
            <a:pPr algn="just" rtl="1">
              <a:lnSpc>
                <a:spcPct val="150000"/>
              </a:lnSpc>
              <a:buFont typeface="Wingdings" panose="05000000000000000000" pitchFamily="2" charset="2"/>
              <a:buChar char="Ø"/>
            </a:pPr>
            <a:r>
              <a:rPr lang="fa-IR" sz="2400" b="1" dirty="0" smtClean="0">
                <a:cs typeface="B Mitra" panose="00000400000000000000" pitchFamily="2" charset="-78"/>
              </a:rPr>
              <a:t>گزارش تخلف را دستگاه یا سازمان نظارتی ارسال می کند.</a:t>
            </a:r>
          </a:p>
          <a:p>
            <a:pPr algn="just" rtl="1">
              <a:lnSpc>
                <a:spcPct val="150000"/>
              </a:lnSpc>
              <a:buFont typeface="Wingdings" panose="05000000000000000000" pitchFamily="2" charset="2"/>
              <a:buChar char="Ø"/>
            </a:pPr>
            <a:r>
              <a:rPr lang="fa-IR" sz="2400" b="1" dirty="0" smtClean="0">
                <a:cs typeface="B Mitra" panose="00000400000000000000" pitchFamily="2" charset="-78"/>
              </a:rPr>
              <a:t>مراجع رسیدگی به تخلفات پیمانکاران شامل امور نظام فنی/هیات بدوی/ هات تجدید نظر و استانداری ها می باشد.</a:t>
            </a:r>
            <a:endParaRPr lang="fa-IR" sz="2400" b="1" dirty="0" smtClean="0">
              <a:cs typeface="B Mitra" panose="00000400000000000000" pitchFamily="2" charset="-78"/>
            </a:endParaRPr>
          </a:p>
        </p:txBody>
      </p:sp>
    </p:spTree>
    <p:extLst>
      <p:ext uri="{BB962C8B-B14F-4D97-AF65-F5344CB8AC3E}">
        <p14:creationId xmlns:p14="http://schemas.microsoft.com/office/powerpoint/2010/main" val="19012311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normAutofit/>
          </a:bodyPr>
          <a:lstStyle/>
          <a:p>
            <a:pPr algn="r" rtl="1"/>
            <a:r>
              <a:rPr lang="fa-IR" sz="3200" dirty="0" smtClean="0">
                <a:cs typeface="B Mitra" panose="00000400000000000000" pitchFamily="2" charset="-78"/>
              </a:rPr>
              <a:t>رسیدگی به تخلفات پیمانکاران</a:t>
            </a:r>
            <a:endParaRPr lang="en-US" sz="3200" dirty="0">
              <a:cs typeface="B Mitra" panose="00000400000000000000" pitchFamily="2" charset="-78"/>
            </a:endParaRPr>
          </a:p>
        </p:txBody>
      </p:sp>
      <p:sp>
        <p:nvSpPr>
          <p:cNvPr id="14" name="Content Placeholder 13"/>
          <p:cNvSpPr>
            <a:spLocks noGrp="1"/>
          </p:cNvSpPr>
          <p:nvPr>
            <p:ph idx="1"/>
          </p:nvPr>
        </p:nvSpPr>
        <p:spPr/>
        <p:txBody>
          <a:bodyPr>
            <a:normAutofit/>
          </a:bodyPr>
          <a:lstStyle/>
          <a:p>
            <a:pPr algn="just" rtl="1">
              <a:lnSpc>
                <a:spcPct val="150000"/>
              </a:lnSpc>
              <a:buFont typeface="Wingdings" panose="05000000000000000000" pitchFamily="2" charset="2"/>
              <a:buChar char="Ø"/>
            </a:pPr>
            <a:r>
              <a:rPr lang="fa-IR" sz="2400" b="1" dirty="0" smtClean="0">
                <a:cs typeface="B Mitra" panose="00000400000000000000" pitchFamily="2" charset="-78"/>
              </a:rPr>
              <a:t>اگر پیمانکار توسط هیأت رسیدگی به شکایات یا مراجع قضایی صلاحیت دار محکومیت قطعی داشته باشد، به مدت یک سال محروم خواهد شد.</a:t>
            </a:r>
          </a:p>
          <a:p>
            <a:pPr algn="just" rtl="1">
              <a:lnSpc>
                <a:spcPct val="150000"/>
              </a:lnSpc>
              <a:buFont typeface="Wingdings" panose="05000000000000000000" pitchFamily="2" charset="2"/>
              <a:buChar char="Ø"/>
            </a:pPr>
            <a:r>
              <a:rPr lang="fa-IR" sz="2400" b="1" dirty="0" smtClean="0">
                <a:cs typeface="B Mitra" panose="00000400000000000000" pitchFamily="2" charset="-78"/>
              </a:rPr>
              <a:t>در صورت محرومیت یا تعلیق پیمانکار، پیمانکار موظف است به تعهدات قراردادی در دست اقدام خود عمل نماید. در صورت محرومیت به دلیل منع مداخله کارکنان دولت، طبق قانون یاد شده عمل می شود.</a:t>
            </a:r>
          </a:p>
          <a:p>
            <a:pPr algn="just" rtl="1">
              <a:lnSpc>
                <a:spcPct val="150000"/>
              </a:lnSpc>
              <a:buFont typeface="Wingdings" panose="05000000000000000000" pitchFamily="2" charset="2"/>
              <a:buChar char="Ø"/>
            </a:pPr>
            <a:r>
              <a:rPr lang="fa-IR" sz="2400" b="1" dirty="0" smtClean="0">
                <a:cs typeface="B Mitra" panose="00000400000000000000" pitchFamily="2" charset="-78"/>
              </a:rPr>
              <a:t>پیمانکار بعد از گذشت نصف مدت محرومیت خود، می تواند تقاضای رفع محرومیت کند که باید توسط مراجع مربوط رسیدگی بشود.</a:t>
            </a:r>
            <a:endParaRPr lang="fa-IR" sz="2400" b="1" dirty="0" smtClean="0">
              <a:cs typeface="B Mitra" panose="00000400000000000000" pitchFamily="2" charset="-78"/>
            </a:endParaRPr>
          </a:p>
        </p:txBody>
      </p:sp>
    </p:spTree>
    <p:extLst>
      <p:ext uri="{BB962C8B-B14F-4D97-AF65-F5344CB8AC3E}">
        <p14:creationId xmlns:p14="http://schemas.microsoft.com/office/powerpoint/2010/main" val="31956514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normAutofit/>
          </a:bodyPr>
          <a:lstStyle/>
          <a:p>
            <a:pPr algn="r" rtl="1"/>
            <a:r>
              <a:rPr lang="fa-IR" sz="3200" dirty="0" smtClean="0">
                <a:cs typeface="B Mitra" panose="00000400000000000000" pitchFamily="2" charset="-78"/>
              </a:rPr>
              <a:t>رسیدگی به تخلفات مشاوران</a:t>
            </a:r>
            <a:endParaRPr lang="en-US" sz="3200" dirty="0">
              <a:cs typeface="B Mitra" panose="00000400000000000000" pitchFamily="2" charset="-78"/>
            </a:endParaRPr>
          </a:p>
        </p:txBody>
      </p:sp>
      <p:sp>
        <p:nvSpPr>
          <p:cNvPr id="14" name="Content Placeholder 13"/>
          <p:cNvSpPr>
            <a:spLocks noGrp="1"/>
          </p:cNvSpPr>
          <p:nvPr>
            <p:ph idx="1"/>
          </p:nvPr>
        </p:nvSpPr>
        <p:spPr/>
        <p:txBody>
          <a:bodyPr>
            <a:normAutofit/>
          </a:bodyPr>
          <a:lstStyle/>
          <a:p>
            <a:pPr algn="just" rtl="1">
              <a:lnSpc>
                <a:spcPct val="150000"/>
              </a:lnSpc>
              <a:buFont typeface="Wingdings" panose="05000000000000000000" pitchFamily="2" charset="2"/>
              <a:buChar char="Ø"/>
            </a:pPr>
            <a:r>
              <a:rPr lang="fa-IR" sz="2400" b="1" dirty="0" smtClean="0">
                <a:cs typeface="B Mitra" panose="00000400000000000000" pitchFamily="2" charset="-78"/>
              </a:rPr>
              <a:t>به تخلفات مشاوران در فرایندهای تشخیص صلاحیت/ارجاع کار / اجرای کار و بعد از آن  رسیدگی می شود به شرط آنکه کارفرما دستگاه های موضوع بند (ب) ماده (1) قانون برگزاری مناقصات باشند.</a:t>
            </a:r>
          </a:p>
          <a:p>
            <a:pPr algn="just" rtl="1">
              <a:lnSpc>
                <a:spcPct val="150000"/>
              </a:lnSpc>
              <a:buFont typeface="Wingdings" panose="05000000000000000000" pitchFamily="2" charset="2"/>
              <a:buChar char="Ø"/>
            </a:pPr>
            <a:r>
              <a:rPr lang="fa-IR" sz="2400" b="1" dirty="0" smtClean="0">
                <a:cs typeface="B Mitra" panose="00000400000000000000" pitchFamily="2" charset="-78"/>
              </a:rPr>
              <a:t>گزارش تخلف می تواند توسط اشخاص حقیقی و حقوقی به دبیرخانه رسیدگی به تخلفات ارسال شود.</a:t>
            </a:r>
          </a:p>
          <a:p>
            <a:pPr algn="just" rtl="1">
              <a:lnSpc>
                <a:spcPct val="150000"/>
              </a:lnSpc>
              <a:buFont typeface="Wingdings" panose="05000000000000000000" pitchFamily="2" charset="2"/>
              <a:buChar char="Ø"/>
            </a:pPr>
            <a:r>
              <a:rPr lang="fa-IR" sz="2400" b="1" dirty="0" smtClean="0">
                <a:cs typeface="B Mitra" panose="00000400000000000000" pitchFamily="2" charset="-78"/>
              </a:rPr>
              <a:t>مراجع رسیدگی به تخلفات مشاوران شامل امور نظام فنی/هیات بدوی/ هات تجدید نظر و استانداری ها می باشد.</a:t>
            </a:r>
            <a:endParaRPr lang="fa-IR" sz="2400" b="1" dirty="0" smtClean="0">
              <a:cs typeface="B Mitra" panose="00000400000000000000" pitchFamily="2" charset="-78"/>
            </a:endParaRPr>
          </a:p>
        </p:txBody>
      </p:sp>
    </p:spTree>
    <p:extLst>
      <p:ext uri="{BB962C8B-B14F-4D97-AF65-F5344CB8AC3E}">
        <p14:creationId xmlns:p14="http://schemas.microsoft.com/office/powerpoint/2010/main" val="14314012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normAutofit/>
          </a:bodyPr>
          <a:lstStyle/>
          <a:p>
            <a:pPr algn="r" rtl="1"/>
            <a:r>
              <a:rPr lang="fa-IR" sz="3200" dirty="0" smtClean="0">
                <a:cs typeface="B Mitra" panose="00000400000000000000" pitchFamily="2" charset="-78"/>
              </a:rPr>
              <a:t>رسیدگی به تخلفات مشاوران</a:t>
            </a:r>
            <a:endParaRPr lang="en-US" sz="3200" dirty="0">
              <a:cs typeface="B Mitra" panose="00000400000000000000" pitchFamily="2" charset="-78"/>
            </a:endParaRPr>
          </a:p>
        </p:txBody>
      </p:sp>
      <p:sp>
        <p:nvSpPr>
          <p:cNvPr id="14" name="Content Placeholder 13"/>
          <p:cNvSpPr>
            <a:spLocks noGrp="1"/>
          </p:cNvSpPr>
          <p:nvPr>
            <p:ph idx="1"/>
          </p:nvPr>
        </p:nvSpPr>
        <p:spPr/>
        <p:txBody>
          <a:bodyPr>
            <a:normAutofit/>
          </a:bodyPr>
          <a:lstStyle/>
          <a:p>
            <a:pPr algn="just" rtl="1">
              <a:lnSpc>
                <a:spcPct val="150000"/>
              </a:lnSpc>
              <a:buFont typeface="Wingdings" panose="05000000000000000000" pitchFamily="2" charset="2"/>
              <a:buChar char="Ø"/>
            </a:pPr>
            <a:r>
              <a:rPr lang="fa-IR" sz="2400" b="1" dirty="0" smtClean="0">
                <a:cs typeface="B Mitra" panose="00000400000000000000" pitchFamily="2" charset="-78"/>
              </a:rPr>
              <a:t>اگر مشاور محروم بشود پس از پایان دوران محرومیت، مجدد باید درخواست رتبه بندی نماید. ولی پس از سپری شدن دوران تعلیق گواهی نامه به حالت اول خود برمی گردد.</a:t>
            </a:r>
          </a:p>
          <a:p>
            <a:pPr algn="just" rtl="1">
              <a:lnSpc>
                <a:spcPct val="150000"/>
              </a:lnSpc>
              <a:buFont typeface="Wingdings" panose="05000000000000000000" pitchFamily="2" charset="2"/>
              <a:buChar char="Ø"/>
            </a:pPr>
            <a:r>
              <a:rPr lang="fa-IR" sz="2400" b="1" dirty="0" smtClean="0">
                <a:cs typeface="B Mitra" panose="00000400000000000000" pitchFamily="2" charset="-78"/>
              </a:rPr>
              <a:t>در صورت وقوع بیش از سه تخلف منجر به محرومیت در فاصله زمانی 3 ساله، شخص (حقیقی یا حقوقی) به طور دائم محروم می شود.</a:t>
            </a:r>
          </a:p>
          <a:p>
            <a:pPr algn="just" rtl="1">
              <a:lnSpc>
                <a:spcPct val="150000"/>
              </a:lnSpc>
              <a:buFont typeface="Wingdings" panose="05000000000000000000" pitchFamily="2" charset="2"/>
              <a:buChar char="Ø"/>
            </a:pPr>
            <a:r>
              <a:rPr lang="fa-IR" sz="2400" b="1" dirty="0" smtClean="0">
                <a:cs typeface="B Mitra" panose="00000400000000000000" pitchFamily="2" charset="-78"/>
              </a:rPr>
              <a:t>صدور گواهی سابقه کار غیرواقعی از سوی مشاور تخلف محسوب می شود (اخطار کتبی)</a:t>
            </a:r>
            <a:endParaRPr lang="fa-IR" sz="2400" b="1" dirty="0" smtClean="0">
              <a:cs typeface="B Mitra" panose="00000400000000000000" pitchFamily="2" charset="-78"/>
            </a:endParaRPr>
          </a:p>
        </p:txBody>
      </p:sp>
    </p:spTree>
    <p:extLst>
      <p:ext uri="{BB962C8B-B14F-4D97-AF65-F5344CB8AC3E}">
        <p14:creationId xmlns:p14="http://schemas.microsoft.com/office/powerpoint/2010/main" val="22176380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normAutofit/>
          </a:bodyPr>
          <a:lstStyle/>
          <a:p>
            <a:pPr algn="r" rtl="1"/>
            <a:r>
              <a:rPr lang="fa-IR" sz="3200" dirty="0" smtClean="0">
                <a:cs typeface="B Mitra" panose="00000400000000000000" pitchFamily="2" charset="-78"/>
              </a:rPr>
              <a:t>بیمه قراردادهای مشاوران و پیمانکاران</a:t>
            </a:r>
            <a:endParaRPr lang="en-US" sz="3200" dirty="0">
              <a:cs typeface="B Mitra" panose="00000400000000000000" pitchFamily="2" charset="-78"/>
            </a:endParaRPr>
          </a:p>
        </p:txBody>
      </p:sp>
      <p:sp>
        <p:nvSpPr>
          <p:cNvPr id="14" name="Content Placeholder 13"/>
          <p:cNvSpPr>
            <a:spLocks noGrp="1"/>
          </p:cNvSpPr>
          <p:nvPr>
            <p:ph idx="1"/>
          </p:nvPr>
        </p:nvSpPr>
        <p:spPr/>
        <p:txBody>
          <a:bodyPr>
            <a:normAutofit lnSpcReduction="10000"/>
          </a:bodyPr>
          <a:lstStyle/>
          <a:p>
            <a:pPr algn="just" rtl="1">
              <a:lnSpc>
                <a:spcPct val="150000"/>
              </a:lnSpc>
            </a:pPr>
            <a:r>
              <a:rPr lang="fa-IR" sz="2600" b="1" dirty="0" smtClean="0">
                <a:cs typeface="B Mitra" panose="00000400000000000000" pitchFamily="2" charset="-78"/>
              </a:rPr>
              <a:t>ماده قانونی برای اخذ بیمه از قراردادهای مشاوران و پیمانکاران بابت کارکنان آنها ماده (38) قانون تامین اجتماعی است.</a:t>
            </a:r>
            <a:endParaRPr lang="en-US" sz="2600" b="1" dirty="0" smtClean="0">
              <a:cs typeface="B Mitra" panose="00000400000000000000" pitchFamily="2" charset="-78"/>
            </a:endParaRPr>
          </a:p>
          <a:p>
            <a:pPr algn="just" rtl="1">
              <a:lnSpc>
                <a:spcPct val="150000"/>
              </a:lnSpc>
            </a:pPr>
            <a:r>
              <a:rPr lang="fa-IR" sz="2600" b="1" dirty="0" smtClean="0">
                <a:cs typeface="B Mitra" panose="00000400000000000000" pitchFamily="2" charset="-78"/>
              </a:rPr>
              <a:t>کسر حق بیمه قراردادهای یاد </a:t>
            </a:r>
            <a:r>
              <a:rPr lang="fa-IR" sz="2600" b="1" dirty="0">
                <a:cs typeface="B Mitra" panose="00000400000000000000" pitchFamily="2" charset="-78"/>
              </a:rPr>
              <a:t>شده </a:t>
            </a:r>
            <a:r>
              <a:rPr lang="fa-IR" sz="2600" b="1" dirty="0" smtClean="0">
                <a:cs typeface="B Mitra" panose="00000400000000000000" pitchFamily="2" charset="-78"/>
              </a:rPr>
              <a:t>مطابق بخشنامه </a:t>
            </a:r>
            <a:r>
              <a:rPr lang="fa-IR" sz="2600" b="1" dirty="0">
                <a:cs typeface="B Mitra" panose="00000400000000000000" pitchFamily="2" charset="-78"/>
              </a:rPr>
              <a:t>14 </a:t>
            </a:r>
            <a:r>
              <a:rPr lang="fa-IR" sz="2600" b="1" dirty="0" smtClean="0">
                <a:cs typeface="B Mitra" panose="00000400000000000000" pitchFamily="2" charset="-78"/>
              </a:rPr>
              <a:t>درآمدی سازمان تامین اجتماعی </a:t>
            </a:r>
            <a:r>
              <a:rPr lang="fa-IR" sz="2600" b="1" dirty="0">
                <a:cs typeface="B Mitra" panose="00000400000000000000" pitchFamily="2" charset="-78"/>
              </a:rPr>
              <a:t>یا 2800 سازمان </a:t>
            </a:r>
            <a:r>
              <a:rPr lang="fa-IR" sz="2600" b="1" dirty="0" smtClean="0">
                <a:cs typeface="B Mitra" panose="00000400000000000000" pitchFamily="2" charset="-78"/>
              </a:rPr>
              <a:t>می باشد.</a:t>
            </a:r>
            <a:endParaRPr lang="en-US" sz="2600" b="1" dirty="0" smtClean="0">
              <a:cs typeface="B Mitra" panose="00000400000000000000" pitchFamily="2" charset="-78"/>
            </a:endParaRPr>
          </a:p>
          <a:p>
            <a:pPr algn="just" rtl="1">
              <a:lnSpc>
                <a:spcPct val="150000"/>
              </a:lnSpc>
            </a:pPr>
            <a:r>
              <a:rPr lang="fa-IR" sz="2600" b="1" dirty="0" smtClean="0">
                <a:cs typeface="B Mitra" panose="00000400000000000000" pitchFamily="2" charset="-78"/>
              </a:rPr>
              <a:t>در قراردادهای مهندسان مشاور برای طرح های عمرانی 15/6 درصد هر صورت حساب (3/6 سهم مشاور و 12 درصد سهم کارفرما)</a:t>
            </a:r>
          </a:p>
          <a:p>
            <a:pPr algn="just" rtl="1">
              <a:lnSpc>
                <a:spcPct val="150000"/>
              </a:lnSpc>
            </a:pPr>
            <a:r>
              <a:rPr lang="fa-IR" sz="2600" b="1" dirty="0" smtClean="0">
                <a:cs typeface="B Mitra" panose="00000400000000000000" pitchFamily="2" charset="-78"/>
              </a:rPr>
              <a:t>در قراردادهای پیمانکاری برای طرح های عمرانی 6/6 درصد مبلغ هر صورت وضعیت (1/6 درصد سهم پیمانکار و 5 درصد سهم کارفرما)</a:t>
            </a:r>
            <a:endParaRPr lang="fa-IR" sz="2200" dirty="0" smtClean="0">
              <a:cs typeface="B Mitra" panose="00000400000000000000" pitchFamily="2" charset="-78"/>
            </a:endParaRPr>
          </a:p>
        </p:txBody>
      </p:sp>
      <p:sp>
        <p:nvSpPr>
          <p:cNvPr id="2" name="Slide Number Placeholder 1"/>
          <p:cNvSpPr>
            <a:spLocks noGrp="1"/>
          </p:cNvSpPr>
          <p:nvPr>
            <p:ph type="sldNum" sz="quarter" idx="12"/>
          </p:nvPr>
        </p:nvSpPr>
        <p:spPr/>
        <p:txBody>
          <a:bodyPr/>
          <a:lstStyle/>
          <a:p>
            <a:fld id="{401CF334-2D5C-4859-84A6-CA7E6E43FAEB}" type="slidenum">
              <a:rPr lang="en-US" smtClean="0">
                <a:solidFill>
                  <a:srgbClr val="775F55"/>
                </a:solidFill>
              </a:rPr>
              <a:pPr/>
              <a:t>29</a:t>
            </a:fld>
            <a:endParaRPr lang="en-US">
              <a:solidFill>
                <a:srgbClr val="775F55"/>
              </a:solidFill>
            </a:endParaRPr>
          </a:p>
        </p:txBody>
      </p:sp>
    </p:spTree>
    <p:extLst>
      <p:ext uri="{BB962C8B-B14F-4D97-AF65-F5344CB8AC3E}">
        <p14:creationId xmlns:p14="http://schemas.microsoft.com/office/powerpoint/2010/main" val="20528272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normAutofit/>
          </a:bodyPr>
          <a:lstStyle/>
          <a:p>
            <a:pPr algn="r" rtl="1"/>
            <a:r>
              <a:rPr lang="fa-IR" sz="3200" dirty="0" smtClean="0">
                <a:cs typeface="B Mitra" panose="00000400000000000000" pitchFamily="2" charset="-78"/>
              </a:rPr>
              <a:t>مهندسی ارزش در دوره پیش از اجرا</a:t>
            </a:r>
            <a:endParaRPr lang="en-US" sz="3200" dirty="0">
              <a:cs typeface="B Mitra" panose="00000400000000000000" pitchFamily="2" charset="-78"/>
            </a:endParaRPr>
          </a:p>
        </p:txBody>
      </p:sp>
      <p:sp>
        <p:nvSpPr>
          <p:cNvPr id="14" name="Content Placeholder 13"/>
          <p:cNvSpPr>
            <a:spLocks noGrp="1"/>
          </p:cNvSpPr>
          <p:nvPr>
            <p:ph idx="1"/>
          </p:nvPr>
        </p:nvSpPr>
        <p:spPr/>
        <p:txBody>
          <a:bodyPr>
            <a:normAutofit/>
          </a:bodyPr>
          <a:lstStyle/>
          <a:p>
            <a:pPr marL="82296" indent="0" algn="just" rtl="1">
              <a:lnSpc>
                <a:spcPct val="150000"/>
              </a:lnSpc>
              <a:buNone/>
            </a:pPr>
            <a:r>
              <a:rPr lang="fa-IR" sz="2400" b="1" dirty="0" smtClean="0">
                <a:cs typeface="B Mitra" panose="00000400000000000000" pitchFamily="2" charset="-78"/>
              </a:rPr>
              <a:t>این مجموعه شامل موارد زیر می باشد که از تاریخ 97/9/1 اجرایی می شود:</a:t>
            </a:r>
          </a:p>
          <a:p>
            <a:pPr algn="just" rtl="1">
              <a:lnSpc>
                <a:spcPct val="150000"/>
              </a:lnSpc>
              <a:buFont typeface="Wingdings" panose="05000000000000000000" pitchFamily="2" charset="2"/>
              <a:buChar char="Ø"/>
            </a:pPr>
            <a:r>
              <a:rPr lang="fa-IR" sz="2400" b="1" dirty="0" smtClean="0">
                <a:cs typeface="B Mitra" panose="00000400000000000000" pitchFamily="2" charset="-78"/>
              </a:rPr>
              <a:t>گردش کار انجام مطالعات مهندسی ارزش</a:t>
            </a:r>
          </a:p>
          <a:p>
            <a:pPr algn="just" rtl="1">
              <a:lnSpc>
                <a:spcPct val="150000"/>
              </a:lnSpc>
              <a:buFont typeface="Wingdings" panose="05000000000000000000" pitchFamily="2" charset="2"/>
              <a:buChar char="Ø"/>
            </a:pPr>
            <a:r>
              <a:rPr lang="fa-IR" sz="2400" b="1" dirty="0" smtClean="0">
                <a:cs typeface="B Mitra" panose="00000400000000000000" pitchFamily="2" charset="-78"/>
              </a:rPr>
              <a:t>موافقتنامه و شرایط عمومی همسان </a:t>
            </a:r>
          </a:p>
          <a:p>
            <a:pPr algn="just" rtl="1">
              <a:lnSpc>
                <a:spcPct val="150000"/>
              </a:lnSpc>
              <a:buFont typeface="Wingdings" panose="05000000000000000000" pitchFamily="2" charset="2"/>
              <a:buChar char="Ø"/>
            </a:pPr>
            <a:r>
              <a:rPr lang="fa-IR" sz="2400" b="1" dirty="0" smtClean="0">
                <a:cs typeface="B Mitra" panose="00000400000000000000" pitchFamily="2" charset="-78"/>
              </a:rPr>
              <a:t>شرح خدمات انجام مطالعات مهندسی ارزش</a:t>
            </a:r>
          </a:p>
          <a:p>
            <a:pPr algn="just" rtl="1">
              <a:lnSpc>
                <a:spcPct val="150000"/>
              </a:lnSpc>
              <a:buFont typeface="Wingdings" panose="05000000000000000000" pitchFamily="2" charset="2"/>
              <a:buChar char="Ø"/>
            </a:pPr>
            <a:r>
              <a:rPr lang="fa-IR" sz="2400" b="1" dirty="0" smtClean="0">
                <a:cs typeface="B Mitra" panose="00000400000000000000" pitchFamily="2" charset="-78"/>
              </a:rPr>
              <a:t>شرح وظایف افراد کلیدی مهندسی ارزش (راهبر، آسانگر و کارشناس اجرایی)</a:t>
            </a:r>
          </a:p>
        </p:txBody>
      </p:sp>
    </p:spTree>
    <p:extLst>
      <p:ext uri="{BB962C8B-B14F-4D97-AF65-F5344CB8AC3E}">
        <p14:creationId xmlns:p14="http://schemas.microsoft.com/office/powerpoint/2010/main" val="38869899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normAutofit/>
          </a:bodyPr>
          <a:lstStyle/>
          <a:p>
            <a:pPr algn="r" rtl="1"/>
            <a:r>
              <a:rPr lang="fa-IR" sz="3200" dirty="0" smtClean="0">
                <a:cs typeface="B Mitra" panose="00000400000000000000" pitchFamily="2" charset="-78"/>
              </a:rPr>
              <a:t>مهندسی ارزش در دوره پیش از اجرا</a:t>
            </a:r>
            <a:endParaRPr lang="en-US" sz="3200" dirty="0">
              <a:cs typeface="B Mitra" panose="00000400000000000000" pitchFamily="2" charset="-78"/>
            </a:endParaRPr>
          </a:p>
        </p:txBody>
      </p:sp>
      <p:sp>
        <p:nvSpPr>
          <p:cNvPr id="14" name="Content Placeholder 13"/>
          <p:cNvSpPr>
            <a:spLocks noGrp="1"/>
          </p:cNvSpPr>
          <p:nvPr>
            <p:ph idx="1"/>
          </p:nvPr>
        </p:nvSpPr>
        <p:spPr/>
        <p:txBody>
          <a:bodyPr>
            <a:normAutofit/>
          </a:bodyPr>
          <a:lstStyle/>
          <a:p>
            <a:pPr algn="just" rtl="1">
              <a:lnSpc>
                <a:spcPct val="150000"/>
              </a:lnSpc>
              <a:buFont typeface="Wingdings" panose="05000000000000000000" pitchFamily="2" charset="2"/>
              <a:buChar char="Ø"/>
            </a:pPr>
            <a:r>
              <a:rPr lang="fa-IR" sz="2400" b="1" dirty="0" smtClean="0">
                <a:cs typeface="B Mitra" panose="00000400000000000000" pitchFamily="2" charset="-78"/>
              </a:rPr>
              <a:t>برای پروژه هایی که برآورد اجرای آنها از 120 برابر معاملات متوسط (300 میلیارد ریال) بیشتر است انجام مطالعات مهندسی ارزش قبل از برگزاری مناقصه الزامی است. برای پروژه های کمتر از این برآرود با تشخیص کارگروه مهندسی ارزش دستگاه است.</a:t>
            </a:r>
          </a:p>
          <a:p>
            <a:pPr algn="just" rtl="1">
              <a:lnSpc>
                <a:spcPct val="150000"/>
              </a:lnSpc>
              <a:buFont typeface="Wingdings" panose="05000000000000000000" pitchFamily="2" charset="2"/>
              <a:buChar char="Ø"/>
            </a:pPr>
            <a:r>
              <a:rPr lang="fa-IR" sz="2400" b="1" dirty="0" smtClean="0">
                <a:cs typeface="B Mitra" panose="00000400000000000000" pitchFamily="2" charset="-78"/>
              </a:rPr>
              <a:t>در پروژه های طرح و ساخت توام، انجام مطالعات مهندسی ارزش تا قبل از انتخاب پیمانکار طرح و ساخت انجام می شود.</a:t>
            </a:r>
          </a:p>
          <a:p>
            <a:pPr algn="just" rtl="1">
              <a:lnSpc>
                <a:spcPct val="150000"/>
              </a:lnSpc>
              <a:buFont typeface="Wingdings" panose="05000000000000000000" pitchFamily="2" charset="2"/>
              <a:buChar char="Ø"/>
            </a:pPr>
            <a:r>
              <a:rPr lang="fa-IR" sz="2400" b="1" dirty="0" smtClean="0">
                <a:cs typeface="B Mitra" panose="00000400000000000000" pitchFamily="2" charset="-78"/>
              </a:rPr>
              <a:t>هر سال دستگاه اجرایی موظف است گزارش عملکرد مربوط به اجرای این دستورالعمل را در پروژه های استانی به سازمان مدیریت و برنامه ریزی استان و پروژه های ملی به امور نظام فنی و اجرایی گزارش نماید.</a:t>
            </a:r>
          </a:p>
        </p:txBody>
      </p:sp>
    </p:spTree>
    <p:extLst>
      <p:ext uri="{BB962C8B-B14F-4D97-AF65-F5344CB8AC3E}">
        <p14:creationId xmlns:p14="http://schemas.microsoft.com/office/powerpoint/2010/main" val="12691141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normAutofit/>
          </a:bodyPr>
          <a:lstStyle/>
          <a:p>
            <a:pPr algn="r" rtl="1"/>
            <a:r>
              <a:rPr lang="fa-IR" sz="2800" dirty="0" smtClean="0">
                <a:cs typeface="B Mitra" panose="00000400000000000000" pitchFamily="2" charset="-78"/>
              </a:rPr>
              <a:t>دستورالعمل نحوه جبران آثار ناشی از افزایش قیمت ارز در پیمان های فاقد تعدیل</a:t>
            </a:r>
            <a:endParaRPr lang="en-US" sz="2800" dirty="0">
              <a:cs typeface="B Mitra" panose="00000400000000000000" pitchFamily="2" charset="-78"/>
            </a:endParaRPr>
          </a:p>
        </p:txBody>
      </p:sp>
      <p:sp>
        <p:nvSpPr>
          <p:cNvPr id="14" name="Content Placeholder 13"/>
          <p:cNvSpPr>
            <a:spLocks noGrp="1"/>
          </p:cNvSpPr>
          <p:nvPr>
            <p:ph idx="1"/>
          </p:nvPr>
        </p:nvSpPr>
        <p:spPr/>
        <p:txBody>
          <a:bodyPr>
            <a:normAutofit lnSpcReduction="10000"/>
          </a:bodyPr>
          <a:lstStyle/>
          <a:p>
            <a:pPr marL="82296" indent="0" algn="just" rtl="1">
              <a:lnSpc>
                <a:spcPct val="150000"/>
              </a:lnSpc>
              <a:buNone/>
            </a:pPr>
            <a:r>
              <a:rPr lang="fa-IR" sz="2400" b="1" dirty="0" smtClean="0">
                <a:cs typeface="B Mitra" panose="00000400000000000000" pitchFamily="2" charset="-78"/>
              </a:rPr>
              <a:t>حوزه شمول دستورالعمل: </a:t>
            </a:r>
          </a:p>
          <a:p>
            <a:pPr algn="just" rtl="1">
              <a:lnSpc>
                <a:spcPct val="150000"/>
              </a:lnSpc>
              <a:buFont typeface="Wingdings" panose="05000000000000000000" pitchFamily="2" charset="2"/>
              <a:buChar char="Ø"/>
            </a:pPr>
            <a:r>
              <a:rPr lang="fa-IR" sz="2400" b="1" dirty="0" smtClean="0">
                <a:cs typeface="B Mitra" panose="00000400000000000000" pitchFamily="2" charset="-78"/>
              </a:rPr>
              <a:t>تامین اعتبار از محل وجوه عمومی در دستگاه های مشمول ماده 222 قانون برنامه پنجم توسعه باشد.</a:t>
            </a:r>
          </a:p>
          <a:p>
            <a:pPr algn="just" rtl="1">
              <a:lnSpc>
                <a:spcPct val="150000"/>
              </a:lnSpc>
              <a:buFont typeface="Wingdings" panose="05000000000000000000" pitchFamily="2" charset="2"/>
              <a:buChar char="Ø"/>
            </a:pPr>
            <a:r>
              <a:rPr lang="fa-IR" sz="2400" b="1" dirty="0" smtClean="0">
                <a:cs typeface="B Mitra" panose="00000400000000000000" pitchFamily="2" charset="-78"/>
              </a:rPr>
              <a:t>پیمان فاقد هر گونه تعدیل و ما به التفاوت باشد.</a:t>
            </a:r>
          </a:p>
          <a:p>
            <a:pPr algn="just" rtl="1">
              <a:lnSpc>
                <a:spcPct val="150000"/>
              </a:lnSpc>
              <a:buFont typeface="Wingdings" panose="05000000000000000000" pitchFamily="2" charset="2"/>
              <a:buChar char="Ø"/>
            </a:pPr>
            <a:r>
              <a:rPr lang="fa-IR" sz="2400" b="1" dirty="0" smtClean="0">
                <a:cs typeface="B Mitra" panose="00000400000000000000" pitchFamily="2" charset="-78"/>
              </a:rPr>
              <a:t>آخرین مهلت پیشنهاد قیمت بعد از 91/5/1 تا 97/1/1 باشد.</a:t>
            </a:r>
          </a:p>
          <a:p>
            <a:pPr algn="just" rtl="1">
              <a:lnSpc>
                <a:spcPct val="150000"/>
              </a:lnSpc>
              <a:buFont typeface="Wingdings" panose="05000000000000000000" pitchFamily="2" charset="2"/>
              <a:buChar char="Ø"/>
            </a:pPr>
            <a:r>
              <a:rPr lang="fa-IR" sz="2400" b="1" dirty="0" smtClean="0">
                <a:cs typeface="B Mitra" panose="00000400000000000000" pitchFamily="2" charset="-78"/>
              </a:rPr>
              <a:t>صرفا به کارکردهای از 96/10/1 تا 97/12/29 اعمال می شود.</a:t>
            </a:r>
          </a:p>
          <a:p>
            <a:pPr algn="just" rtl="1">
              <a:lnSpc>
                <a:spcPct val="150000"/>
              </a:lnSpc>
              <a:buFont typeface="Wingdings" panose="05000000000000000000" pitchFamily="2" charset="2"/>
              <a:buChar char="Ø"/>
            </a:pPr>
            <a:r>
              <a:rPr lang="fa-IR" sz="2400" b="1" dirty="0" smtClean="0">
                <a:cs typeface="B Mitra" panose="00000400000000000000" pitchFamily="2" charset="-78"/>
              </a:rPr>
              <a:t>قرارداد خرید تجهیزات در صورتی مشمول این بخشنامه می شوند که علاوه بر موارد فوق، مدت قرارداد بیش از سه ماه باشد (مدت اولیه و تمدید).</a:t>
            </a:r>
          </a:p>
        </p:txBody>
      </p:sp>
    </p:spTree>
    <p:extLst>
      <p:ext uri="{BB962C8B-B14F-4D97-AF65-F5344CB8AC3E}">
        <p14:creationId xmlns:p14="http://schemas.microsoft.com/office/powerpoint/2010/main" val="27919215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normAutofit/>
          </a:bodyPr>
          <a:lstStyle/>
          <a:p>
            <a:pPr algn="r" rtl="1"/>
            <a:r>
              <a:rPr lang="fa-IR" sz="2800" dirty="0" smtClean="0">
                <a:cs typeface="B Mitra" panose="00000400000000000000" pitchFamily="2" charset="-78"/>
              </a:rPr>
              <a:t>دستورالعمل نحوه جبران آثار ناشی از افزایش قیمت ارز در پیمان های فاقد تعدیل</a:t>
            </a:r>
            <a:endParaRPr lang="en-US" sz="2800" dirty="0">
              <a:cs typeface="B Mitra" panose="00000400000000000000" pitchFamily="2" charset="-78"/>
            </a:endParaRPr>
          </a:p>
        </p:txBody>
      </p:sp>
      <p:sp>
        <p:nvSpPr>
          <p:cNvPr id="14" name="Content Placeholder 13"/>
          <p:cNvSpPr>
            <a:spLocks noGrp="1"/>
          </p:cNvSpPr>
          <p:nvPr>
            <p:ph idx="1"/>
          </p:nvPr>
        </p:nvSpPr>
        <p:spPr/>
        <p:txBody>
          <a:bodyPr>
            <a:normAutofit/>
          </a:bodyPr>
          <a:lstStyle/>
          <a:p>
            <a:pPr marL="82296" indent="0" algn="just" rtl="1">
              <a:lnSpc>
                <a:spcPct val="150000"/>
              </a:lnSpc>
              <a:buNone/>
            </a:pPr>
            <a:r>
              <a:rPr lang="fa-IR" sz="2400" b="1" dirty="0" smtClean="0">
                <a:cs typeface="B Mitra" panose="00000400000000000000" pitchFamily="2" charset="-78"/>
              </a:rPr>
              <a:t>حوزه شمول دستورالعمل: </a:t>
            </a:r>
          </a:p>
          <a:p>
            <a:pPr algn="just" rtl="1">
              <a:lnSpc>
                <a:spcPct val="150000"/>
              </a:lnSpc>
              <a:buFont typeface="Wingdings" panose="05000000000000000000" pitchFamily="2" charset="2"/>
              <a:buChar char="Ø"/>
            </a:pPr>
            <a:r>
              <a:rPr lang="fa-IR" sz="2400" b="1" dirty="0" smtClean="0">
                <a:cs typeface="B Mitra" panose="00000400000000000000" pitchFamily="2" charset="-78"/>
              </a:rPr>
              <a:t>کارهای ترک تشریفات در صورتی مشمول این بخشنامه می شوند (با اعمال ضریب 85/.) که زمان تصویب هیأت ترک تشریفات بعد از 91/5/1 تا 97/1/1 باشد.</a:t>
            </a:r>
          </a:p>
          <a:p>
            <a:pPr algn="just" rtl="1">
              <a:lnSpc>
                <a:spcPct val="150000"/>
              </a:lnSpc>
              <a:buFont typeface="Wingdings" panose="05000000000000000000" pitchFamily="2" charset="2"/>
              <a:buChar char="Ø"/>
            </a:pPr>
            <a:r>
              <a:rPr lang="fa-IR" sz="2400" b="1" dirty="0" smtClean="0">
                <a:cs typeface="B Mitra" panose="00000400000000000000" pitchFamily="2" charset="-78"/>
              </a:rPr>
              <a:t>در صورت عدم قصور پیمانکار، تاخیر از تاریخ 96/10/1 تا ابلاغ این دستورالعمل، مجاز محسوب می شود.</a:t>
            </a:r>
          </a:p>
          <a:p>
            <a:pPr algn="just" rtl="1">
              <a:lnSpc>
                <a:spcPct val="150000"/>
              </a:lnSpc>
              <a:buFont typeface="Wingdings" panose="05000000000000000000" pitchFamily="2" charset="2"/>
              <a:buChar char="Ø"/>
            </a:pPr>
            <a:r>
              <a:rPr lang="fa-IR" sz="2400" b="1" dirty="0" smtClean="0">
                <a:cs typeface="B Mitra" panose="00000400000000000000" pitchFamily="2" charset="-78"/>
              </a:rPr>
              <a:t>برای پیمان ها یا مناقصاتی که آخرین مهلت پیشنهاد پیمانکار پس از تاریخ 97/1/1و قبل از 97/4/31و فاقد تعدیل باشد با درخواست پیمانکار، کارفرما به یکی از سه روش لغو مناقصه و آزادسازی تضامین/ خاتمه پیمان/درخواست تجدیدنظر از شورا عمل می کند.</a:t>
            </a:r>
          </a:p>
        </p:txBody>
      </p:sp>
    </p:spTree>
    <p:extLst>
      <p:ext uri="{BB962C8B-B14F-4D97-AF65-F5344CB8AC3E}">
        <p14:creationId xmlns:p14="http://schemas.microsoft.com/office/powerpoint/2010/main" val="23419947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normAutofit/>
          </a:bodyPr>
          <a:lstStyle/>
          <a:p>
            <a:pPr algn="r" rtl="1"/>
            <a:r>
              <a:rPr lang="fa-IR" sz="2800" dirty="0" smtClean="0">
                <a:cs typeface="B Mitra" panose="00000400000000000000" pitchFamily="2" charset="-78"/>
              </a:rPr>
              <a:t>دستورالعمل نحوه جبران آثار ناشی از افزایش قیمت ارز در پیمان های فاقد تعدیل</a:t>
            </a:r>
            <a:endParaRPr lang="en-US" sz="2800" dirty="0">
              <a:cs typeface="B Mitra" panose="00000400000000000000" pitchFamily="2" charset="-78"/>
            </a:endParaRPr>
          </a:p>
        </p:txBody>
      </p:sp>
      <p:sp>
        <p:nvSpPr>
          <p:cNvPr id="14" name="Content Placeholder 13"/>
          <p:cNvSpPr>
            <a:spLocks noGrp="1"/>
          </p:cNvSpPr>
          <p:nvPr>
            <p:ph idx="1"/>
          </p:nvPr>
        </p:nvSpPr>
        <p:spPr/>
        <p:txBody>
          <a:bodyPr>
            <a:normAutofit/>
          </a:bodyPr>
          <a:lstStyle/>
          <a:p>
            <a:pPr marL="82296" indent="0" algn="just" rtl="1">
              <a:lnSpc>
                <a:spcPct val="150000"/>
              </a:lnSpc>
              <a:buNone/>
            </a:pPr>
            <a:r>
              <a:rPr lang="fa-IR" sz="2400" b="1" dirty="0" smtClean="0">
                <a:cs typeface="B Mitra" panose="00000400000000000000" pitchFamily="2" charset="-78"/>
              </a:rPr>
              <a:t>روش های محاسبه و پرداخت مبالغ جبرانی ناشی از افزایش نرخ ارز</a:t>
            </a:r>
          </a:p>
          <a:p>
            <a:pPr algn="just" rtl="1">
              <a:lnSpc>
                <a:spcPct val="150000"/>
              </a:lnSpc>
              <a:buFont typeface="Wingdings" panose="05000000000000000000" pitchFamily="2" charset="2"/>
              <a:buChar char="v"/>
            </a:pPr>
            <a:r>
              <a:rPr lang="fa-IR" sz="2400" b="1" dirty="0" smtClean="0">
                <a:cs typeface="B Mitra" panose="00000400000000000000" pitchFamily="2" charset="-78"/>
              </a:rPr>
              <a:t>روش (الف): به دلیل نیاز کارفرما، پیمانکار به طور مستقیم از فروشنده خارجی خرید نموده (با روش مورد تایید کارفرما)</a:t>
            </a:r>
          </a:p>
          <a:p>
            <a:pPr algn="just" rtl="1">
              <a:lnSpc>
                <a:spcPct val="150000"/>
              </a:lnSpc>
              <a:buFont typeface="Wingdings" panose="05000000000000000000" pitchFamily="2" charset="2"/>
              <a:buChar char="v"/>
            </a:pPr>
            <a:r>
              <a:rPr lang="fa-IR" sz="2400" b="1" dirty="0" smtClean="0">
                <a:cs typeface="B Mitra" panose="00000400000000000000" pitchFamily="2" charset="-78"/>
              </a:rPr>
              <a:t>روش (ب): تعدیل برای کارکردهای براساس فهرست بهای پایه یا فهرست خاص مصوب شورای عالی فنی است.</a:t>
            </a:r>
          </a:p>
          <a:p>
            <a:pPr algn="just" rtl="1">
              <a:lnSpc>
                <a:spcPct val="150000"/>
              </a:lnSpc>
              <a:buFont typeface="Wingdings" panose="05000000000000000000" pitchFamily="2" charset="2"/>
              <a:buChar char="v"/>
            </a:pPr>
            <a:r>
              <a:rPr lang="fa-IR" sz="2400" b="1" smtClean="0">
                <a:cs typeface="B Mitra" panose="00000400000000000000" pitchFamily="2" charset="-78"/>
              </a:rPr>
              <a:t>روش ترکیبی (الف و ب) </a:t>
            </a:r>
            <a:endParaRPr lang="fa-IR" sz="2400" b="1" dirty="0" smtClean="0">
              <a:cs typeface="B Mitra" panose="00000400000000000000" pitchFamily="2" charset="-78"/>
            </a:endParaRPr>
          </a:p>
        </p:txBody>
      </p:sp>
    </p:spTree>
    <p:extLst>
      <p:ext uri="{BB962C8B-B14F-4D97-AF65-F5344CB8AC3E}">
        <p14:creationId xmlns:p14="http://schemas.microsoft.com/office/powerpoint/2010/main" val="6418848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ressed Leaves design template">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Century Gothic">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60000"/>
                <a:satMod val="355000"/>
              </a:schemeClr>
            </a:gs>
            <a:gs pos="40000">
              <a:schemeClr val="phClr">
                <a:tint val="85000"/>
                <a:satMod val="320000"/>
              </a:schemeClr>
            </a:gs>
            <a:gs pos="100000">
              <a:schemeClr val="phClr">
                <a:shade val="55000"/>
                <a:satMod val="300000"/>
              </a:schemeClr>
            </a:gs>
          </a:gsLst>
          <a:path path="circle">
            <a:fillToRect l="-24500" t="-20000" r="124500" b="120000"/>
          </a:path>
        </a:gradFill>
        <a:blipFill>
          <a:blip xmlns:r="http://schemas.openxmlformats.org/officeDocument/2006/relationships" r:embed="rId1">
            <a:duotone>
              <a:schemeClr val="phClr">
                <a:shade val="9000"/>
                <a:satMod val="300000"/>
              </a:schemeClr>
              <a:schemeClr val="phClr">
                <a:tint val="90000"/>
                <a:satMod val="225000"/>
              </a:schemeClr>
            </a:duotone>
          </a:blip>
          <a:tile tx="0" ty="0" sx="90000" sy="90000" flip="xy" algn="tl"/>
        </a:blipFill>
      </a:bgFillStyleLst>
    </a:fmtScheme>
  </a:themeElements>
  <a:objectDefaults/>
  <a:extraClrSchemeLst/>
  <a:extLst>
    <a:ext uri="{05A4C25C-085E-4340-85A3-A5531E510DB2}">
      <thm15:themeFamily xmlns:thm15="http://schemas.microsoft.com/office/thememl/2012/main" name="Pressed leaves design slides.potx" id="{52E147E3-7E0E-44E0-9BD6-25CC694BF887}" vid="{C1468303-3FD2-4BA9-848D-643974E470D9}"/>
    </a:ext>
  </a:extLst>
</a:theme>
</file>

<file path=ppt/theme/theme2.xml><?xml version="1.0" encoding="utf-8"?>
<a:theme xmlns:a="http://schemas.openxmlformats.org/drawingml/2006/main" name="Office Theme">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Century Gothic">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Century Gothic">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AA3F7D94069FF64A86F7DFF56D60E3BE" ma:contentTypeVersion="6" ma:contentTypeDescription="Create a new document." ma:contentTypeScope="" ma:versionID="c32302c77d4085ecf495bdddb7f5e889">
  <xsd:schema xmlns:xsd="http://www.w3.org/2001/XMLSchema" xmlns:xs="http://www.w3.org/2001/XMLSchema" xmlns:p="http://schemas.microsoft.com/office/2006/metadata/properties" xmlns:ns2="a4f35948-e619-41b3-aa29-22878b09cfd2" xmlns:ns3="40262f94-9f35-4ac3-9a90-690165a166b7" targetNamespace="http://schemas.microsoft.com/office/2006/metadata/properties" ma:root="true" ma:fieldsID="4ab5ae46be95f9d0be6107e8200be7a2" ns2:_="" ns3:_="">
    <xsd:import namespace="a4f35948-e619-41b3-aa29-22878b09cfd2"/>
    <xsd:import namespace="40262f94-9f35-4ac3-9a90-690165a166b7"/>
    <xsd:element name="properties">
      <xsd:complexType>
        <xsd:sequence>
          <xsd:element name="documentManagement">
            <xsd:complexType>
              <xsd:all>
                <xsd:element ref="ns2:SharedWithUsers" minOccurs="0"/>
                <xsd:element ref="ns2:SharedWithDetails" minOccurs="0"/>
                <xsd:element ref="ns3:VSO_x0020_item_x0020_id" minOccurs="0"/>
                <xsd:element ref="ns3:Item_x0020_Details" minOccurs="0"/>
                <xsd:element ref="ns3:Template_x0020_details" minOccurs="0"/>
                <xsd:element ref="ns3:Assetid_x0020_"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4f35948-e619-41b3-aa29-22878b09cfd2"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description=""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40262f94-9f35-4ac3-9a90-690165a166b7" elementFormDefault="qualified">
    <xsd:import namespace="http://schemas.microsoft.com/office/2006/documentManagement/types"/>
    <xsd:import namespace="http://schemas.microsoft.com/office/infopath/2007/PartnerControls"/>
    <xsd:element name="VSO_x0020_item_x0020_id" ma:index="10" nillable="true" ma:displayName="VSO item id" ma:description="Please add the bug number to refer to VSO items." ma:internalName="VSO_x0020_item_x0020_id">
      <xsd:simpleType>
        <xsd:restriction base="dms:Text">
          <xsd:maxLength value="255"/>
        </xsd:restriction>
      </xsd:simpleType>
    </xsd:element>
    <xsd:element name="Item_x0020_Details" ma:index="11" nillable="true" ma:displayName="Item Details" ma:internalName="Item_x0020_Details">
      <xsd:simpleType>
        <xsd:restriction base="dms:Note">
          <xsd:maxLength value="255"/>
        </xsd:restriction>
      </xsd:simpleType>
    </xsd:element>
    <xsd:element name="Template_x0020_details" ma:index="12" nillable="true" ma:displayName="Template details" ma:internalName="Template_x0020_details">
      <xsd:simpleType>
        <xsd:restriction base="dms:Text"/>
      </xsd:simpleType>
    </xsd:element>
    <xsd:element name="Assetid_x0020_" ma:index="13" nillable="true" ma:displayName="Assetid " ma:internalName="Assetid_x0020_">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VSO_x0020_item_x0020_id xmlns="40262f94-9f35-4ac3-9a90-690165a166b7" xsi:nil="true"/>
    <Assetid_x0020_ xmlns="40262f94-9f35-4ac3-9a90-690165a166b7" xsi:nil="true"/>
    <Item_x0020_Details xmlns="40262f94-9f35-4ac3-9a90-690165a166b7" xsi:nil="true"/>
    <Template_x0020_details xmlns="40262f94-9f35-4ac3-9a90-690165a166b7" xsi:nil="true"/>
  </documentManagement>
</p:properties>
</file>

<file path=customXml/itemProps1.xml><?xml version="1.0" encoding="utf-8"?>
<ds:datastoreItem xmlns:ds="http://schemas.openxmlformats.org/officeDocument/2006/customXml" ds:itemID="{4DEB5BEE-6806-4BF1-A9A7-4B4A72C0C6EB}">
  <ds:schemaRefs>
    <ds:schemaRef ds:uri="http://schemas.microsoft.com/sharepoint/v3/contenttype/forms"/>
  </ds:schemaRefs>
</ds:datastoreItem>
</file>

<file path=customXml/itemProps2.xml><?xml version="1.0" encoding="utf-8"?>
<ds:datastoreItem xmlns:ds="http://schemas.openxmlformats.org/officeDocument/2006/customXml" ds:itemID="{B0710C29-A897-44AD-9F83-BE5F874C2AE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4f35948-e619-41b3-aa29-22878b09cfd2"/>
    <ds:schemaRef ds:uri="40262f94-9f35-4ac3-9a90-690165a166b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EEFED04C-AD43-4E06-AD63-36D8B5E83787}">
  <ds:schemaRefs>
    <ds:schemaRef ds:uri="http://schemas.microsoft.com/office/2006/metadata/properties"/>
    <ds:schemaRef ds:uri="a4f35948-e619-41b3-aa29-22878b09cfd2"/>
    <ds:schemaRef ds:uri="http://purl.org/dc/dcmitype/"/>
    <ds:schemaRef ds:uri="http://www.w3.org/XML/1998/namespace"/>
    <ds:schemaRef ds:uri="http://purl.org/dc/elements/1.1/"/>
    <ds:schemaRef ds:uri="http://purl.org/dc/terms/"/>
    <ds:schemaRef ds:uri="http://schemas.microsoft.com/office/infopath/2007/PartnerControls"/>
    <ds:schemaRef ds:uri="http://schemas.microsoft.com/office/2006/documentManagement/types"/>
    <ds:schemaRef ds:uri="http://schemas.openxmlformats.org/package/2006/metadata/core-properties"/>
    <ds:schemaRef ds:uri="40262f94-9f35-4ac3-9a90-690165a166b7"/>
  </ds:schemaRefs>
</ds:datastoreItem>
</file>

<file path=docProps/app.xml><?xml version="1.0" encoding="utf-8"?>
<Properties xmlns="http://schemas.openxmlformats.org/officeDocument/2006/extended-properties" xmlns:vt="http://schemas.openxmlformats.org/officeDocument/2006/docPropsVTypes">
  <Template>Pressed leaves design slides</Template>
  <TotalTime>458</TotalTime>
  <Words>2756</Words>
  <Application>Microsoft Office PowerPoint</Application>
  <PresentationFormat>Widescreen</PresentationFormat>
  <Paragraphs>180</Paragraphs>
  <Slides>34</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34</vt:i4>
      </vt:variant>
    </vt:vector>
  </HeadingPairs>
  <TitlesOfParts>
    <vt:vector size="41" baseType="lpstr">
      <vt:lpstr>Arial</vt:lpstr>
      <vt:lpstr>B Mitra</vt:lpstr>
      <vt:lpstr>Century Gothic</vt:lpstr>
      <vt:lpstr>Verdana</vt:lpstr>
      <vt:lpstr>Wingdings</vt:lpstr>
      <vt:lpstr>Wingdings 2</vt:lpstr>
      <vt:lpstr>Pressed Leaves design template</vt:lpstr>
      <vt:lpstr>آشنایی با ضوابط نظام فنی و اجرایی کشور</vt:lpstr>
      <vt:lpstr>دسته بندی کلان ضوابط نظام فنی و اجرایی</vt:lpstr>
      <vt:lpstr>مواد (22) و (23) قانون برنامه و بودجه کشور</vt:lpstr>
      <vt:lpstr>آئین نامه استانداردهای اجرایی کشور مصوب 1352/4/31</vt:lpstr>
      <vt:lpstr>آئین نامه استانداردهای اجرایی کشور مصوب 1352/4/31</vt:lpstr>
      <vt:lpstr>ماده (34) قانون احکام دائمی توسعه کشور</vt:lpstr>
      <vt:lpstr>سند نظام فنی و اجرایی سال 1385</vt:lpstr>
      <vt:lpstr>سند نظام فنی و اجرایی سال 1385</vt:lpstr>
      <vt:lpstr>قانون برگزاری مناقصات (مصوب سال 1383)</vt:lpstr>
      <vt:lpstr>قانون برگزاری مناقصات (مصوب سال 1383)</vt:lpstr>
      <vt:lpstr>قانون برگزاری مناقصات (مصوب سال 1383)</vt:lpstr>
      <vt:lpstr>قانون برگزاری مناقصات (مصوب سال 1383)</vt:lpstr>
      <vt:lpstr>عدم الزام به برگزاری مناقصه(موضوع  بند (ه) ماده 29 قانون برگزاری مناقصات)</vt:lpstr>
      <vt:lpstr>عدم الزام به برگزاری مناقصه(موضوع  بند (ه) ماده 29 قانون برگزاری مناقصات)</vt:lpstr>
      <vt:lpstr>عدم الزام به برگزاری مناقصه(موضوع  بند (ه) ماده 29 قانون برگزاری مناقصات)</vt:lpstr>
      <vt:lpstr>دستورالعمل رسیدگی به شکایات مناقصات</vt:lpstr>
      <vt:lpstr>دستورالعمل رسیدگی به شکایات مناقصات</vt:lpstr>
      <vt:lpstr>دستورالعمل رسیدگی به شکایات مناقصات</vt:lpstr>
      <vt:lpstr>آئین نامه تضمین معاملات دولتی</vt:lpstr>
      <vt:lpstr>آئین نامه تضمین معاملات دولتی</vt:lpstr>
      <vt:lpstr>آئین نامه تضمین معاملات دولتی</vt:lpstr>
      <vt:lpstr>مراحل حل اختلافات قراردادی (مطابق شرایط عمومی قرارداد یا پیمان):</vt:lpstr>
      <vt:lpstr>آئین نامه تشخیص صلاحیت مشاوران (مصوب سال 1383 و اصلاحیه های آن)</vt:lpstr>
      <vt:lpstr>تشکیل گروه مشارکت برای مشاروان</vt:lpstr>
      <vt:lpstr>رسیدگی به تخلفات پیمانکاران</vt:lpstr>
      <vt:lpstr>رسیدگی به تخلفات پیمانکاران</vt:lpstr>
      <vt:lpstr>رسیدگی به تخلفات مشاوران</vt:lpstr>
      <vt:lpstr>رسیدگی به تخلفات مشاوران</vt:lpstr>
      <vt:lpstr>بیمه قراردادهای مشاوران و پیمانکاران</vt:lpstr>
      <vt:lpstr>مهندسی ارزش در دوره پیش از اجرا</vt:lpstr>
      <vt:lpstr>مهندسی ارزش در دوره پیش از اجرا</vt:lpstr>
      <vt:lpstr>دستورالعمل نحوه جبران آثار ناشی از افزایش قیمت ارز در پیمان های فاقد تعدیل</vt:lpstr>
      <vt:lpstr>دستورالعمل نحوه جبران آثار ناشی از افزایش قیمت ارز در پیمان های فاقد تعدیل</vt:lpstr>
      <vt:lpstr>دستورالعمل نحوه جبران آثار ناشی از افزایش قیمت ارز در پیمان های فاقد تعدیل</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آشنایی با ضوابط نظام فنی و اجرایی کشور</dc:title>
  <dc:creator>max  compouter</dc:creator>
  <cp:lastModifiedBy>max  compouter</cp:lastModifiedBy>
  <cp:revision>60</cp:revision>
  <cp:lastPrinted>2018-10-21T11:18:30Z</cp:lastPrinted>
  <dcterms:created xsi:type="dcterms:W3CDTF">2018-10-20T18:30:45Z</dcterms:created>
  <dcterms:modified xsi:type="dcterms:W3CDTF">2018-10-21T22:56:04Z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0x010100AA3F7D94069FF64A86F7DFF56D60E3BE</vt:lpwstr>
  </property>
  <property fmtid="{D5CDD505-2E9C-101B-9397-08002B2CF9AE}" pid="3" name="Order">
    <vt:r8>74065700</vt:r8>
  </property>
  <property fmtid="{D5CDD505-2E9C-101B-9397-08002B2CF9AE}" pid="4" name="HiddenCategoryTags">
    <vt:lpwstr/>
  </property>
  <property fmtid="{D5CDD505-2E9C-101B-9397-08002B2CF9AE}" pid="5" name="InternalTags">
    <vt:lpwstr/>
  </property>
  <property fmtid="{D5CDD505-2E9C-101B-9397-08002B2CF9AE}" pid="6" name="FeatureTags">
    <vt:lpwstr/>
  </property>
  <property fmtid="{D5CDD505-2E9C-101B-9397-08002B2CF9AE}" pid="7" name="LocalizationTags">
    <vt:lpwstr/>
  </property>
  <property fmtid="{D5CDD505-2E9C-101B-9397-08002B2CF9AE}" pid="8" name="CategoryTags">
    <vt:lpwstr/>
  </property>
  <property fmtid="{D5CDD505-2E9C-101B-9397-08002B2CF9AE}" pid="9" name="Applications">
    <vt:lpwstr/>
  </property>
  <property fmtid="{D5CDD505-2E9C-101B-9397-08002B2CF9AE}" pid="10" name="CampaignTags">
    <vt:lpwstr/>
  </property>
  <property fmtid="{D5CDD505-2E9C-101B-9397-08002B2CF9AE}" pid="11" name="ScenarioTags">
    <vt:lpwstr/>
  </property>
</Properties>
</file>