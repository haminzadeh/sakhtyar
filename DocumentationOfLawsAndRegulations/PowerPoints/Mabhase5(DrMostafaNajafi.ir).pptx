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3" r:id="rId2"/>
    <p:sldId id="257" r:id="rId3"/>
    <p:sldId id="259" r:id="rId4"/>
    <p:sldId id="260" r:id="rId5"/>
    <p:sldId id="261" r:id="rId6"/>
    <p:sldId id="262" r:id="rId7"/>
    <p:sldId id="322" r:id="rId8"/>
    <p:sldId id="264" r:id="rId9"/>
    <p:sldId id="266" r:id="rId10"/>
    <p:sldId id="267" r:id="rId11"/>
    <p:sldId id="268" r:id="rId12"/>
    <p:sldId id="269" r:id="rId13"/>
    <p:sldId id="270" r:id="rId14"/>
    <p:sldId id="271" r:id="rId15"/>
    <p:sldId id="272" r:id="rId16"/>
    <p:sldId id="275" r:id="rId17"/>
    <p:sldId id="276" r:id="rId18"/>
    <p:sldId id="325" r:id="rId19"/>
    <p:sldId id="277" r:id="rId20"/>
    <p:sldId id="278" r:id="rId21"/>
    <p:sldId id="279" r:id="rId22"/>
    <p:sldId id="281" r:id="rId23"/>
    <p:sldId id="282" r:id="rId24"/>
    <p:sldId id="283" r:id="rId25"/>
    <p:sldId id="284" r:id="rId26"/>
    <p:sldId id="294" r:id="rId27"/>
    <p:sldId id="295" r:id="rId28"/>
    <p:sldId id="296" r:id="rId29"/>
    <p:sldId id="288" r:id="rId30"/>
    <p:sldId id="292" r:id="rId31"/>
    <p:sldId id="290" r:id="rId32"/>
    <p:sldId id="291" r:id="rId33"/>
    <p:sldId id="293" r:id="rId34"/>
    <p:sldId id="297" r:id="rId35"/>
    <p:sldId id="298" r:id="rId36"/>
    <p:sldId id="299" r:id="rId37"/>
    <p:sldId id="300" r:id="rId38"/>
    <p:sldId id="302" r:id="rId39"/>
    <p:sldId id="303" r:id="rId40"/>
    <p:sldId id="305" r:id="rId41"/>
    <p:sldId id="306" r:id="rId42"/>
    <p:sldId id="307" r:id="rId43"/>
    <p:sldId id="308" r:id="rId44"/>
    <p:sldId id="311" r:id="rId45"/>
    <p:sldId id="309" r:id="rId46"/>
    <p:sldId id="312" r:id="rId47"/>
    <p:sldId id="313" r:id="rId48"/>
    <p:sldId id="314" r:id="rId49"/>
    <p:sldId id="315" r:id="rId50"/>
    <p:sldId id="316" r:id="rId51"/>
    <p:sldId id="317" r:id="rId52"/>
    <p:sldId id="318" r:id="rId53"/>
    <p:sldId id="319" r:id="rId54"/>
    <p:sldId id="320" r:id="rId55"/>
  </p:sldIdLst>
  <p:sldSz cx="12192000" cy="6858000"/>
  <p:notesSz cx="6858000" cy="9144000"/>
  <p:defaultText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00" userDrawn="1">
          <p15:clr>
            <a:srgbClr val="A4A3A4"/>
          </p15:clr>
        </p15:guide>
        <p15:guide id="2" pos="3386" userDrawn="1">
          <p15:clr>
            <a:srgbClr val="A4A3A4"/>
          </p15:clr>
        </p15:guide>
        <p15:guide id="3" orient="horz" pos="1820" userDrawn="1">
          <p15:clr>
            <a:srgbClr val="A4A3A4"/>
          </p15:clr>
        </p15:guide>
        <p15:guide id="4" pos="211" userDrawn="1">
          <p15:clr>
            <a:srgbClr val="A4A3A4"/>
          </p15:clr>
        </p15:guide>
        <p15:guide id="5" pos="1005" userDrawn="1">
          <p15:clr>
            <a:srgbClr val="A4A3A4"/>
          </p15:clr>
        </p15:guide>
        <p15:guide id="6" pos="1799" userDrawn="1">
          <p15:clr>
            <a:srgbClr val="A4A3A4"/>
          </p15:clr>
        </p15:guide>
        <p15:guide id="7" pos="2593" userDrawn="1">
          <p15:clr>
            <a:srgbClr val="A4A3A4"/>
          </p15:clr>
        </p15:guide>
        <p15:guide id="8" pos="4180" userDrawn="1">
          <p15:clr>
            <a:srgbClr val="A4A3A4"/>
          </p15:clr>
        </p15:guide>
        <p15:guide id="9" pos="4974" userDrawn="1">
          <p15:clr>
            <a:srgbClr val="A4A3A4"/>
          </p15:clr>
        </p15:guide>
        <p15:guide id="10" pos="5768" userDrawn="1">
          <p15:clr>
            <a:srgbClr val="A4A3A4"/>
          </p15:clr>
        </p15:guide>
        <p15:guide id="11" pos="7355" userDrawn="1">
          <p15:clr>
            <a:srgbClr val="A4A3A4"/>
          </p15:clr>
        </p15:guide>
        <p15:guide id="12" pos="65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4958"/>
    <a:srgbClr val="F69B7E"/>
    <a:srgbClr val="492527"/>
    <a:srgbClr val="6DB19A"/>
    <a:srgbClr val="E88A88"/>
    <a:srgbClr val="EEBE74"/>
    <a:srgbClr val="9DAAE1"/>
    <a:srgbClr val="E8C77A"/>
    <a:srgbClr val="E2B49C"/>
    <a:srgbClr val="99AA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p:scale>
          <a:sx n="80" d="100"/>
          <a:sy n="80" d="100"/>
        </p:scale>
        <p:origin x="168" y="198"/>
      </p:cViewPr>
      <p:guideLst>
        <p:guide orient="horz" pos="2500"/>
        <p:guide pos="3386"/>
        <p:guide orient="horz" pos="1820"/>
        <p:guide pos="211"/>
        <p:guide pos="1005"/>
        <p:guide pos="1799"/>
        <p:guide pos="2593"/>
        <p:guide pos="4180"/>
        <p:guide pos="4974"/>
        <p:guide pos="5768"/>
        <p:guide pos="7355"/>
        <p:guide pos="656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41442-1D89-4A83-B498-DB55D99AAD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fa-IR"/>
          </a:p>
        </p:txBody>
      </p:sp>
      <p:sp>
        <p:nvSpPr>
          <p:cNvPr id="3" name="Subtitle 2">
            <a:extLst>
              <a:ext uri="{FF2B5EF4-FFF2-40B4-BE49-F238E27FC236}">
                <a16:creationId xmlns:a16="http://schemas.microsoft.com/office/drawing/2014/main" id="{49852EB0-2775-480B-86E1-57E58E0564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fa-IR"/>
          </a:p>
        </p:txBody>
      </p:sp>
      <p:sp>
        <p:nvSpPr>
          <p:cNvPr id="4" name="Date Placeholder 3">
            <a:extLst>
              <a:ext uri="{FF2B5EF4-FFF2-40B4-BE49-F238E27FC236}">
                <a16:creationId xmlns:a16="http://schemas.microsoft.com/office/drawing/2014/main" id="{24CC23B5-EFC6-40A0-A5B2-E86AF5D5ED19}"/>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5" name="Footer Placeholder 4">
            <a:extLst>
              <a:ext uri="{FF2B5EF4-FFF2-40B4-BE49-F238E27FC236}">
                <a16:creationId xmlns:a16="http://schemas.microsoft.com/office/drawing/2014/main" id="{7E2CC578-BA17-4958-B2B3-D4E84C20D376}"/>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404E208E-F543-4EC3-9C55-D972E23FB5E7}"/>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1836926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3FF3A-F704-425A-8AA7-212E5CF512C9}"/>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316B52A5-B646-462A-8326-B3D0658581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DFB54911-AC29-46E2-A17F-5F1D9DF6E867}"/>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5" name="Footer Placeholder 4">
            <a:extLst>
              <a:ext uri="{FF2B5EF4-FFF2-40B4-BE49-F238E27FC236}">
                <a16:creationId xmlns:a16="http://schemas.microsoft.com/office/drawing/2014/main" id="{9FBAE346-E7F2-4CEE-BF84-B07BD4206D7C}"/>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D5CEB54A-9540-4DA0-936D-7BE226D8F014}"/>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20081637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DC801-0181-467D-957C-101C258DCD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fa-IR"/>
          </a:p>
        </p:txBody>
      </p:sp>
      <p:sp>
        <p:nvSpPr>
          <p:cNvPr id="3" name="Text Placeholder 2">
            <a:extLst>
              <a:ext uri="{FF2B5EF4-FFF2-40B4-BE49-F238E27FC236}">
                <a16:creationId xmlns:a16="http://schemas.microsoft.com/office/drawing/2014/main" id="{13D054B3-80BF-4299-98D4-A56852E41D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B40AB0-23B6-4243-B7D1-478858E6E8BA}"/>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5" name="Footer Placeholder 4">
            <a:extLst>
              <a:ext uri="{FF2B5EF4-FFF2-40B4-BE49-F238E27FC236}">
                <a16:creationId xmlns:a16="http://schemas.microsoft.com/office/drawing/2014/main" id="{F993E00D-DA1A-4034-A83A-5DF3530C9928}"/>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E4DFE2AF-53CE-4002-B6DE-4492CEAF1E77}"/>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22348232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C415C-B059-475A-AD06-F9720F72A2D5}"/>
              </a:ext>
            </a:extLst>
          </p:cNvPr>
          <p:cNvSpPr>
            <a:spLocks noGrp="1"/>
          </p:cNvSpPr>
          <p:nvPr>
            <p:ph type="title"/>
          </p:nvPr>
        </p:nvSpPr>
        <p:spPr/>
        <p:txBody>
          <a:bodyPr/>
          <a:lstStyle/>
          <a:p>
            <a:r>
              <a:rPr lang="en-US"/>
              <a:t>Click to edit Master title style</a:t>
            </a:r>
            <a:endParaRPr lang="fa-IR"/>
          </a:p>
        </p:txBody>
      </p:sp>
      <p:sp>
        <p:nvSpPr>
          <p:cNvPr id="3" name="Content Placeholder 2">
            <a:extLst>
              <a:ext uri="{FF2B5EF4-FFF2-40B4-BE49-F238E27FC236}">
                <a16:creationId xmlns:a16="http://schemas.microsoft.com/office/drawing/2014/main" id="{A175A25F-50F2-4C0F-B2B2-9A9B5EC3F2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Content Placeholder 3">
            <a:extLst>
              <a:ext uri="{FF2B5EF4-FFF2-40B4-BE49-F238E27FC236}">
                <a16:creationId xmlns:a16="http://schemas.microsoft.com/office/drawing/2014/main" id="{829EE137-E64D-4371-9835-D1ED0269FB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Date Placeholder 4">
            <a:extLst>
              <a:ext uri="{FF2B5EF4-FFF2-40B4-BE49-F238E27FC236}">
                <a16:creationId xmlns:a16="http://schemas.microsoft.com/office/drawing/2014/main" id="{3C398B5C-1CF6-4C56-9C7E-C109919CE06E}"/>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6" name="Footer Placeholder 5">
            <a:extLst>
              <a:ext uri="{FF2B5EF4-FFF2-40B4-BE49-F238E27FC236}">
                <a16:creationId xmlns:a16="http://schemas.microsoft.com/office/drawing/2014/main" id="{5A33B99E-9ACF-4969-BD39-B2EE94839867}"/>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65DD9506-72D6-4D31-9231-94505FFF4FC7}"/>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6941241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FE59F-FF4D-4832-A04A-F5F25883DF8C}"/>
              </a:ext>
            </a:extLst>
          </p:cNvPr>
          <p:cNvSpPr>
            <a:spLocks noGrp="1"/>
          </p:cNvSpPr>
          <p:nvPr>
            <p:ph type="title"/>
          </p:nvPr>
        </p:nvSpPr>
        <p:spPr>
          <a:xfrm>
            <a:off x="839788" y="365125"/>
            <a:ext cx="10515600" cy="1325563"/>
          </a:xfrm>
        </p:spPr>
        <p:txBody>
          <a:bodyPr/>
          <a:lstStyle/>
          <a:p>
            <a:r>
              <a:rPr lang="en-US"/>
              <a:t>Click to edit Master title style</a:t>
            </a:r>
            <a:endParaRPr lang="fa-IR"/>
          </a:p>
        </p:txBody>
      </p:sp>
      <p:sp>
        <p:nvSpPr>
          <p:cNvPr id="3" name="Text Placeholder 2">
            <a:extLst>
              <a:ext uri="{FF2B5EF4-FFF2-40B4-BE49-F238E27FC236}">
                <a16:creationId xmlns:a16="http://schemas.microsoft.com/office/drawing/2014/main" id="{EB8775EC-A175-4C7D-B257-11B409E57D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9BF414-AE85-4AF8-A5B4-8778E15C56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5" name="Text Placeholder 4">
            <a:extLst>
              <a:ext uri="{FF2B5EF4-FFF2-40B4-BE49-F238E27FC236}">
                <a16:creationId xmlns:a16="http://schemas.microsoft.com/office/drawing/2014/main" id="{4B01F291-72AD-486B-B0F6-9ED4E09728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2B4B51F-A736-459F-8451-93A84A6E43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7" name="Date Placeholder 6">
            <a:extLst>
              <a:ext uri="{FF2B5EF4-FFF2-40B4-BE49-F238E27FC236}">
                <a16:creationId xmlns:a16="http://schemas.microsoft.com/office/drawing/2014/main" id="{0312421B-1918-4F3E-ADFE-80116A78CA33}"/>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8" name="Footer Placeholder 7">
            <a:extLst>
              <a:ext uri="{FF2B5EF4-FFF2-40B4-BE49-F238E27FC236}">
                <a16:creationId xmlns:a16="http://schemas.microsoft.com/office/drawing/2014/main" id="{73C8F7D1-5578-485E-8691-167415209A39}"/>
              </a:ext>
            </a:extLst>
          </p:cNvPr>
          <p:cNvSpPr>
            <a:spLocks noGrp="1"/>
          </p:cNvSpPr>
          <p:nvPr>
            <p:ph type="ftr" sz="quarter" idx="11"/>
          </p:nvPr>
        </p:nvSpPr>
        <p:spPr/>
        <p:txBody>
          <a:bodyPr/>
          <a:lstStyle/>
          <a:p>
            <a:endParaRPr lang="fa-IR"/>
          </a:p>
        </p:txBody>
      </p:sp>
      <p:sp>
        <p:nvSpPr>
          <p:cNvPr id="9" name="Slide Number Placeholder 8">
            <a:extLst>
              <a:ext uri="{FF2B5EF4-FFF2-40B4-BE49-F238E27FC236}">
                <a16:creationId xmlns:a16="http://schemas.microsoft.com/office/drawing/2014/main" id="{2E5ACF3F-6505-48AC-8D72-2AEDB6A9365D}"/>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361369431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D3F2-31FD-4431-B050-12B832B11C08}"/>
              </a:ext>
            </a:extLst>
          </p:cNvPr>
          <p:cNvSpPr>
            <a:spLocks noGrp="1"/>
          </p:cNvSpPr>
          <p:nvPr>
            <p:ph type="title"/>
          </p:nvPr>
        </p:nvSpPr>
        <p:spPr/>
        <p:txBody>
          <a:bodyPr/>
          <a:lstStyle/>
          <a:p>
            <a:r>
              <a:rPr lang="en-US"/>
              <a:t>Click to edit Master title style</a:t>
            </a:r>
            <a:endParaRPr lang="fa-IR"/>
          </a:p>
        </p:txBody>
      </p:sp>
      <p:sp>
        <p:nvSpPr>
          <p:cNvPr id="3" name="Date Placeholder 2">
            <a:extLst>
              <a:ext uri="{FF2B5EF4-FFF2-40B4-BE49-F238E27FC236}">
                <a16:creationId xmlns:a16="http://schemas.microsoft.com/office/drawing/2014/main" id="{9CAB7ABF-8DDA-4C31-AA24-D076A4702EA4}"/>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4" name="Footer Placeholder 3">
            <a:extLst>
              <a:ext uri="{FF2B5EF4-FFF2-40B4-BE49-F238E27FC236}">
                <a16:creationId xmlns:a16="http://schemas.microsoft.com/office/drawing/2014/main" id="{C769A986-E08C-47FE-88D6-BAA0D2391035}"/>
              </a:ext>
            </a:extLst>
          </p:cNvPr>
          <p:cNvSpPr>
            <a:spLocks noGrp="1"/>
          </p:cNvSpPr>
          <p:nvPr>
            <p:ph type="ftr" sz="quarter" idx="11"/>
          </p:nvPr>
        </p:nvSpPr>
        <p:spPr/>
        <p:txBody>
          <a:bodyPr/>
          <a:lstStyle/>
          <a:p>
            <a:endParaRPr lang="fa-IR"/>
          </a:p>
        </p:txBody>
      </p:sp>
      <p:sp>
        <p:nvSpPr>
          <p:cNvPr id="5" name="Slide Number Placeholder 4">
            <a:extLst>
              <a:ext uri="{FF2B5EF4-FFF2-40B4-BE49-F238E27FC236}">
                <a16:creationId xmlns:a16="http://schemas.microsoft.com/office/drawing/2014/main" id="{4882A51D-DFA5-4526-B1D9-668F77232287}"/>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2508814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D0FC79-AC2C-4963-B58F-7262A858D3A8}"/>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3" name="Footer Placeholder 2">
            <a:extLst>
              <a:ext uri="{FF2B5EF4-FFF2-40B4-BE49-F238E27FC236}">
                <a16:creationId xmlns:a16="http://schemas.microsoft.com/office/drawing/2014/main" id="{8F144EAB-DDCB-4146-8147-7F54E188DC90}"/>
              </a:ext>
            </a:extLst>
          </p:cNvPr>
          <p:cNvSpPr>
            <a:spLocks noGrp="1"/>
          </p:cNvSpPr>
          <p:nvPr>
            <p:ph type="ftr" sz="quarter" idx="11"/>
          </p:nvPr>
        </p:nvSpPr>
        <p:spPr/>
        <p:txBody>
          <a:bodyPr/>
          <a:lstStyle/>
          <a:p>
            <a:endParaRPr lang="fa-IR"/>
          </a:p>
        </p:txBody>
      </p:sp>
      <p:sp>
        <p:nvSpPr>
          <p:cNvPr id="4" name="Slide Number Placeholder 3">
            <a:extLst>
              <a:ext uri="{FF2B5EF4-FFF2-40B4-BE49-F238E27FC236}">
                <a16:creationId xmlns:a16="http://schemas.microsoft.com/office/drawing/2014/main" id="{D398AB8E-13D4-46F1-80B7-88545C41A674}"/>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20829018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4B719-BD90-41F7-8ED0-55B4EF1181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Content Placeholder 2">
            <a:extLst>
              <a:ext uri="{FF2B5EF4-FFF2-40B4-BE49-F238E27FC236}">
                <a16:creationId xmlns:a16="http://schemas.microsoft.com/office/drawing/2014/main" id="{F03BCD7D-6A27-462B-9781-13AA0A5C40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Text Placeholder 3">
            <a:extLst>
              <a:ext uri="{FF2B5EF4-FFF2-40B4-BE49-F238E27FC236}">
                <a16:creationId xmlns:a16="http://schemas.microsoft.com/office/drawing/2014/main" id="{71F8E51A-C4F5-4BFF-BFE7-C2C5EB0119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80F3CC-41B3-4154-A022-D7137C1FFDF7}"/>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6" name="Footer Placeholder 5">
            <a:extLst>
              <a:ext uri="{FF2B5EF4-FFF2-40B4-BE49-F238E27FC236}">
                <a16:creationId xmlns:a16="http://schemas.microsoft.com/office/drawing/2014/main" id="{2E78E722-FCD6-4E50-9A77-6BB5A8E8C923}"/>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7EEEC72D-B045-460B-9676-55B62D405194}"/>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424250688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1EA78-8072-42EC-A3C0-D4F8495301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fa-IR"/>
          </a:p>
        </p:txBody>
      </p:sp>
      <p:sp>
        <p:nvSpPr>
          <p:cNvPr id="3" name="Picture Placeholder 2">
            <a:extLst>
              <a:ext uri="{FF2B5EF4-FFF2-40B4-BE49-F238E27FC236}">
                <a16:creationId xmlns:a16="http://schemas.microsoft.com/office/drawing/2014/main" id="{8355E47A-B79B-4112-B95F-D5ADF9D537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a-IR"/>
          </a:p>
        </p:txBody>
      </p:sp>
      <p:sp>
        <p:nvSpPr>
          <p:cNvPr id="4" name="Text Placeholder 3">
            <a:extLst>
              <a:ext uri="{FF2B5EF4-FFF2-40B4-BE49-F238E27FC236}">
                <a16:creationId xmlns:a16="http://schemas.microsoft.com/office/drawing/2014/main" id="{62D8F30C-23AB-49D9-B50E-1386F13F8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C1515E-1E87-4AD5-A42B-0682F5CC3232}"/>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6" name="Footer Placeholder 5">
            <a:extLst>
              <a:ext uri="{FF2B5EF4-FFF2-40B4-BE49-F238E27FC236}">
                <a16:creationId xmlns:a16="http://schemas.microsoft.com/office/drawing/2014/main" id="{F05F1786-8DFC-43AE-801F-875498DC0E64}"/>
              </a:ext>
            </a:extLst>
          </p:cNvPr>
          <p:cNvSpPr>
            <a:spLocks noGrp="1"/>
          </p:cNvSpPr>
          <p:nvPr>
            <p:ph type="ftr" sz="quarter" idx="11"/>
          </p:nvPr>
        </p:nvSpPr>
        <p:spPr/>
        <p:txBody>
          <a:bodyPr/>
          <a:lstStyle/>
          <a:p>
            <a:endParaRPr lang="fa-IR"/>
          </a:p>
        </p:txBody>
      </p:sp>
      <p:sp>
        <p:nvSpPr>
          <p:cNvPr id="7" name="Slide Number Placeholder 6">
            <a:extLst>
              <a:ext uri="{FF2B5EF4-FFF2-40B4-BE49-F238E27FC236}">
                <a16:creationId xmlns:a16="http://schemas.microsoft.com/office/drawing/2014/main" id="{4607BF86-79C2-45AA-AA7C-9287A4E490F1}"/>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6363684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836E2-B8E4-4227-ADE9-A9001F4A9B02}"/>
              </a:ext>
            </a:extLst>
          </p:cNvPr>
          <p:cNvSpPr>
            <a:spLocks noGrp="1"/>
          </p:cNvSpPr>
          <p:nvPr>
            <p:ph type="title"/>
          </p:nvPr>
        </p:nvSpPr>
        <p:spPr/>
        <p:txBody>
          <a:bodyPr/>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AB19E615-638C-4417-AF52-153EC955F9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325172E4-A54D-48A3-9914-6EEF9EA072D0}"/>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5" name="Footer Placeholder 4">
            <a:extLst>
              <a:ext uri="{FF2B5EF4-FFF2-40B4-BE49-F238E27FC236}">
                <a16:creationId xmlns:a16="http://schemas.microsoft.com/office/drawing/2014/main" id="{B9EA5352-AD9B-4986-A0EF-0C1824D9A0D5}"/>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72BB0902-3F4A-4455-BC39-0CB61CF48E8C}"/>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37513028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0816CB-A36B-4B22-80C3-EEE745EE32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fa-IR"/>
          </a:p>
        </p:txBody>
      </p:sp>
      <p:sp>
        <p:nvSpPr>
          <p:cNvPr id="3" name="Vertical Text Placeholder 2">
            <a:extLst>
              <a:ext uri="{FF2B5EF4-FFF2-40B4-BE49-F238E27FC236}">
                <a16:creationId xmlns:a16="http://schemas.microsoft.com/office/drawing/2014/main" id="{B3EA0419-147F-41CF-823D-3A02B661C5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ED31F9B8-30A7-405D-A002-CA79B07EE2BE}"/>
              </a:ext>
            </a:extLst>
          </p:cNvPr>
          <p:cNvSpPr>
            <a:spLocks noGrp="1"/>
          </p:cNvSpPr>
          <p:nvPr>
            <p:ph type="dt" sz="half" idx="10"/>
          </p:nvPr>
        </p:nvSpPr>
        <p:spPr/>
        <p:txBody>
          <a:bodyPr/>
          <a:lstStyle/>
          <a:p>
            <a:fld id="{EC8FB8B0-FAC6-4999-AB2C-6E2EE7B2E419}" type="datetimeFigureOut">
              <a:rPr lang="fa-IR" smtClean="0"/>
              <a:t>25/04/1445</a:t>
            </a:fld>
            <a:endParaRPr lang="fa-IR"/>
          </a:p>
        </p:txBody>
      </p:sp>
      <p:sp>
        <p:nvSpPr>
          <p:cNvPr id="5" name="Footer Placeholder 4">
            <a:extLst>
              <a:ext uri="{FF2B5EF4-FFF2-40B4-BE49-F238E27FC236}">
                <a16:creationId xmlns:a16="http://schemas.microsoft.com/office/drawing/2014/main" id="{29543B8F-7C1A-4ABB-999F-CABD3C9FCF95}"/>
              </a:ext>
            </a:extLst>
          </p:cNvPr>
          <p:cNvSpPr>
            <a:spLocks noGrp="1"/>
          </p:cNvSpPr>
          <p:nvPr>
            <p:ph type="ftr" sz="quarter" idx="11"/>
          </p:nvPr>
        </p:nvSpPr>
        <p:spPr/>
        <p:txBody>
          <a:bodyPr/>
          <a:lstStyle/>
          <a:p>
            <a:endParaRPr lang="fa-IR"/>
          </a:p>
        </p:txBody>
      </p:sp>
      <p:sp>
        <p:nvSpPr>
          <p:cNvPr id="6" name="Slide Number Placeholder 5">
            <a:extLst>
              <a:ext uri="{FF2B5EF4-FFF2-40B4-BE49-F238E27FC236}">
                <a16:creationId xmlns:a16="http://schemas.microsoft.com/office/drawing/2014/main" id="{85446DE6-576F-499A-B90B-19D31442666A}"/>
              </a:ext>
            </a:extLst>
          </p:cNvPr>
          <p:cNvSpPr>
            <a:spLocks noGrp="1"/>
          </p:cNvSpPr>
          <p:nvPr>
            <p:ph type="sldNum" sz="quarter" idx="12"/>
          </p:nvPr>
        </p:nvSpPr>
        <p:spPr/>
        <p:txBody>
          <a:bodyPr/>
          <a:lstStyle/>
          <a:p>
            <a:fld id="{89451454-E644-4C6F-9676-4E4746F5F77D}" type="slidenum">
              <a:rPr lang="fa-IR" smtClean="0"/>
              <a:t>‹#›</a:t>
            </a:fld>
            <a:endParaRPr lang="fa-IR"/>
          </a:p>
        </p:txBody>
      </p:sp>
    </p:spTree>
    <p:extLst>
      <p:ext uri="{BB962C8B-B14F-4D97-AF65-F5344CB8AC3E}">
        <p14:creationId xmlns:p14="http://schemas.microsoft.com/office/powerpoint/2010/main" val="23842664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2FD219-7333-4EA4-90CF-58EDA934F3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fa-IR"/>
          </a:p>
        </p:txBody>
      </p:sp>
      <p:sp>
        <p:nvSpPr>
          <p:cNvPr id="3" name="Text Placeholder 2">
            <a:extLst>
              <a:ext uri="{FF2B5EF4-FFF2-40B4-BE49-F238E27FC236}">
                <a16:creationId xmlns:a16="http://schemas.microsoft.com/office/drawing/2014/main" id="{E161EC0D-8941-4D73-80CF-104B6CFBB03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4" name="Date Placeholder 3">
            <a:extLst>
              <a:ext uri="{FF2B5EF4-FFF2-40B4-BE49-F238E27FC236}">
                <a16:creationId xmlns:a16="http://schemas.microsoft.com/office/drawing/2014/main" id="{082E807C-530F-4269-91FB-6F6C32D27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C8FB8B0-FAC6-4999-AB2C-6E2EE7B2E419}" type="datetimeFigureOut">
              <a:rPr lang="fa-IR" smtClean="0"/>
              <a:t>25/04/1445</a:t>
            </a:fld>
            <a:endParaRPr lang="fa-IR"/>
          </a:p>
        </p:txBody>
      </p:sp>
      <p:sp>
        <p:nvSpPr>
          <p:cNvPr id="5" name="Footer Placeholder 4">
            <a:extLst>
              <a:ext uri="{FF2B5EF4-FFF2-40B4-BE49-F238E27FC236}">
                <a16:creationId xmlns:a16="http://schemas.microsoft.com/office/drawing/2014/main" id="{00FDA92B-2813-4212-B048-E17EE56FA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a-IR"/>
          </a:p>
        </p:txBody>
      </p:sp>
      <p:sp>
        <p:nvSpPr>
          <p:cNvPr id="6" name="Slide Number Placeholder 5">
            <a:extLst>
              <a:ext uri="{FF2B5EF4-FFF2-40B4-BE49-F238E27FC236}">
                <a16:creationId xmlns:a16="http://schemas.microsoft.com/office/drawing/2014/main" id="{D17A4B9B-283D-4237-BE42-388E97B949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9451454-E644-4C6F-9676-4E4746F5F77D}" type="slidenum">
              <a:rPr lang="fa-IR" smtClean="0"/>
              <a:t>‹#›</a:t>
            </a:fld>
            <a:endParaRPr lang="fa-IR"/>
          </a:p>
        </p:txBody>
      </p:sp>
    </p:spTree>
    <p:extLst>
      <p:ext uri="{BB962C8B-B14F-4D97-AF65-F5344CB8AC3E}">
        <p14:creationId xmlns:p14="http://schemas.microsoft.com/office/powerpoint/2010/main" val="4090559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a-I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2" Type="http://schemas.openxmlformats.org/officeDocument/2006/relationships/image" Target="../media/image8.jf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fif"/><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9.jpg"/><Relationship Id="rId2" Type="http://schemas.openxmlformats.org/officeDocument/2006/relationships/image" Target="../media/image8.jfif"/><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2.png"/><Relationship Id="rId7" Type="http://schemas.openxmlformats.org/officeDocument/2006/relationships/image" Target="../media/image9.jpg"/><Relationship Id="rId2" Type="http://schemas.openxmlformats.org/officeDocument/2006/relationships/image" Target="../media/image8.jfif"/><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2.png"/><Relationship Id="rId7" Type="http://schemas.openxmlformats.org/officeDocument/2006/relationships/image" Target="../media/image9.jpg"/><Relationship Id="rId2" Type="http://schemas.openxmlformats.org/officeDocument/2006/relationships/image" Target="../media/image8.jfif"/><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2.jpg"/><Relationship Id="rId4" Type="http://schemas.openxmlformats.org/officeDocument/2006/relationships/image" Target="../media/image3.svg"/><Relationship Id="rId9" Type="http://schemas.openxmlformats.org/officeDocument/2006/relationships/image" Target="../media/image11.jfif"/></Relationships>
</file>

<file path=ppt/slides/_rels/slide7.xml.rels><?xml version="1.0" encoding="UTF-8" standalone="yes"?>
<Relationships xmlns="http://schemas.openxmlformats.org/package/2006/relationships"><Relationship Id="rId8" Type="http://schemas.openxmlformats.org/officeDocument/2006/relationships/image" Target="../media/image10.jpg"/><Relationship Id="rId3" Type="http://schemas.openxmlformats.org/officeDocument/2006/relationships/image" Target="../media/image2.png"/><Relationship Id="rId7" Type="http://schemas.openxmlformats.org/officeDocument/2006/relationships/image" Target="../media/image9.jpg"/><Relationship Id="rId2" Type="http://schemas.openxmlformats.org/officeDocument/2006/relationships/image" Target="../media/image8.jfif"/><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12.jpg"/><Relationship Id="rId4" Type="http://schemas.openxmlformats.org/officeDocument/2006/relationships/image" Target="../media/image3.svg"/><Relationship Id="rId9" Type="http://schemas.openxmlformats.org/officeDocument/2006/relationships/image" Target="../media/image11.jfif"/></Relationships>
</file>

<file path=ppt/slides/_rels/slide8.xml.rels><?xml version="1.0" encoding="UTF-8" standalone="yes"?>
<Relationships xmlns="http://schemas.openxmlformats.org/package/2006/relationships"><Relationship Id="rId2" Type="http://schemas.openxmlformats.org/officeDocument/2006/relationships/image" Target="../media/image13.jf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fif"/><Relationship Id="rId2" Type="http://schemas.openxmlformats.org/officeDocument/2006/relationships/image" Target="../media/image13.jf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fif"/><Relationship Id="rId2" Type="http://schemas.openxmlformats.org/officeDocument/2006/relationships/image" Target="../media/image13.jfif"/><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fif"/><Relationship Id="rId2" Type="http://schemas.openxmlformats.org/officeDocument/2006/relationships/image" Target="../media/image13.jfif"/><Relationship Id="rId1" Type="http://schemas.openxmlformats.org/officeDocument/2006/relationships/slideLayout" Target="../slideLayouts/slideLayout2.xml"/><Relationship Id="rId6" Type="http://schemas.openxmlformats.org/officeDocument/2006/relationships/image" Target="../media/image18.jfif"/><Relationship Id="rId5" Type="http://schemas.openxmlformats.org/officeDocument/2006/relationships/image" Target="../media/image17.jfif"/><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8" Type="http://schemas.openxmlformats.org/officeDocument/2006/relationships/image" Target="../media/image21.jfif"/><Relationship Id="rId3" Type="http://schemas.openxmlformats.org/officeDocument/2006/relationships/image" Target="../media/image15.jfif"/><Relationship Id="rId7" Type="http://schemas.openxmlformats.org/officeDocument/2006/relationships/image" Target="../media/image20.jfif"/><Relationship Id="rId2" Type="http://schemas.openxmlformats.org/officeDocument/2006/relationships/image" Target="../media/image13.jfif"/><Relationship Id="rId1" Type="http://schemas.openxmlformats.org/officeDocument/2006/relationships/slideLayout" Target="../slideLayouts/slideLayout2.xml"/><Relationship Id="rId6" Type="http://schemas.openxmlformats.org/officeDocument/2006/relationships/image" Target="../media/image19.jpg"/><Relationship Id="rId5" Type="http://schemas.openxmlformats.org/officeDocument/2006/relationships/image" Target="../media/image14.jfif"/><Relationship Id="rId4" Type="http://schemas.openxmlformats.org/officeDocument/2006/relationships/image" Target="../media/image16.jpeg"/></Relationships>
</file>

<file path=ppt/slides/_rels/slide13.xml.rels><?xml version="1.0" encoding="UTF-8" standalone="yes"?>
<Relationships xmlns="http://schemas.openxmlformats.org/package/2006/relationships"><Relationship Id="rId2" Type="http://schemas.openxmlformats.org/officeDocument/2006/relationships/image" Target="../media/image22.jf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f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f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fif"/><Relationship Id="rId1" Type="http://schemas.openxmlformats.org/officeDocument/2006/relationships/slideLayout" Target="../slideLayouts/slideLayout2.xml"/><Relationship Id="rId6" Type="http://schemas.openxmlformats.org/officeDocument/2006/relationships/image" Target="../media/image26.jfif"/><Relationship Id="rId5" Type="http://schemas.openxmlformats.org/officeDocument/2006/relationships/image" Target="../media/image25.jfif"/><Relationship Id="rId4" Type="http://schemas.openxmlformats.org/officeDocument/2006/relationships/image" Target="../media/image24.jfif"/></Relationships>
</file>

<file path=ppt/slides/_rels/slide17.xml.rels><?xml version="1.0" encoding="UTF-8" standalone="yes"?>
<Relationships xmlns="http://schemas.openxmlformats.org/package/2006/relationships"><Relationship Id="rId8" Type="http://schemas.openxmlformats.org/officeDocument/2006/relationships/image" Target="../media/image28.jfif"/><Relationship Id="rId3" Type="http://schemas.openxmlformats.org/officeDocument/2006/relationships/image" Target="../media/image23.jpg"/><Relationship Id="rId7" Type="http://schemas.openxmlformats.org/officeDocument/2006/relationships/image" Target="../media/image27.jfif"/><Relationship Id="rId2" Type="http://schemas.openxmlformats.org/officeDocument/2006/relationships/image" Target="../media/image22.jfif"/><Relationship Id="rId1" Type="http://schemas.openxmlformats.org/officeDocument/2006/relationships/slideLayout" Target="../slideLayouts/slideLayout2.xml"/><Relationship Id="rId6" Type="http://schemas.openxmlformats.org/officeDocument/2006/relationships/image" Target="../media/image26.jfif"/><Relationship Id="rId5" Type="http://schemas.openxmlformats.org/officeDocument/2006/relationships/image" Target="../media/image25.jfif"/><Relationship Id="rId4" Type="http://schemas.openxmlformats.org/officeDocument/2006/relationships/image" Target="../media/image24.jfif"/><Relationship Id="rId9" Type="http://schemas.openxmlformats.org/officeDocument/2006/relationships/image" Target="../media/image29.jfif"/></Relationships>
</file>

<file path=ppt/slides/_rels/slide18.xml.rels><?xml version="1.0" encoding="UTF-8" standalone="yes"?>
<Relationships xmlns="http://schemas.openxmlformats.org/package/2006/relationships"><Relationship Id="rId8" Type="http://schemas.openxmlformats.org/officeDocument/2006/relationships/image" Target="../media/image28.jfif"/><Relationship Id="rId3" Type="http://schemas.openxmlformats.org/officeDocument/2006/relationships/image" Target="../media/image23.jpg"/><Relationship Id="rId7" Type="http://schemas.openxmlformats.org/officeDocument/2006/relationships/image" Target="../media/image27.jfif"/><Relationship Id="rId2" Type="http://schemas.openxmlformats.org/officeDocument/2006/relationships/image" Target="../media/image22.jfif"/><Relationship Id="rId1" Type="http://schemas.openxmlformats.org/officeDocument/2006/relationships/slideLayout" Target="../slideLayouts/slideLayout2.xml"/><Relationship Id="rId6" Type="http://schemas.openxmlformats.org/officeDocument/2006/relationships/image" Target="../media/image26.jfif"/><Relationship Id="rId5" Type="http://schemas.openxmlformats.org/officeDocument/2006/relationships/image" Target="../media/image25.jfif"/><Relationship Id="rId10" Type="http://schemas.openxmlformats.org/officeDocument/2006/relationships/image" Target="../media/image30.jpg"/><Relationship Id="rId4" Type="http://schemas.openxmlformats.org/officeDocument/2006/relationships/image" Target="../media/image24.jfif"/><Relationship Id="rId9" Type="http://schemas.openxmlformats.org/officeDocument/2006/relationships/image" Target="../media/image29.jfif"/></Relationships>
</file>

<file path=ppt/slides/_rels/slide1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fif"/><Relationship Id="rId2" Type="http://schemas.openxmlformats.org/officeDocument/2006/relationships/image" Target="../media/image31.jpg"/><Relationship Id="rId1" Type="http://schemas.openxmlformats.org/officeDocument/2006/relationships/slideLayout" Target="../slideLayouts/slideLayout2.xml"/><Relationship Id="rId4" Type="http://schemas.openxmlformats.org/officeDocument/2006/relationships/image" Target="../media/image33.jfif"/></Relationships>
</file>

<file path=ppt/slides/_rels/slide21.xml.rels><?xml version="1.0" encoding="UTF-8" standalone="yes"?>
<Relationships xmlns="http://schemas.openxmlformats.org/package/2006/relationships"><Relationship Id="rId3" Type="http://schemas.openxmlformats.org/officeDocument/2006/relationships/image" Target="../media/image32.jfif"/><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5.jfif"/><Relationship Id="rId5" Type="http://schemas.openxmlformats.org/officeDocument/2006/relationships/image" Target="../media/image34.jfif"/><Relationship Id="rId4" Type="http://schemas.openxmlformats.org/officeDocument/2006/relationships/image" Target="../media/image33.jfif"/></Relationships>
</file>

<file path=ppt/slides/_rels/slide2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fif"/><Relationship Id="rId7" Type="http://schemas.openxmlformats.org/officeDocument/2006/relationships/image" Target="../media/image36.jpg"/><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5.jfif"/><Relationship Id="rId5" Type="http://schemas.openxmlformats.org/officeDocument/2006/relationships/image" Target="../media/image34.jfif"/><Relationship Id="rId4" Type="http://schemas.openxmlformats.org/officeDocument/2006/relationships/image" Target="../media/image33.jfif"/></Relationships>
</file>

<file path=ppt/slides/_rels/slide2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fif"/><Relationship Id="rId7" Type="http://schemas.openxmlformats.org/officeDocument/2006/relationships/image" Target="../media/image36.jpg"/><Relationship Id="rId2" Type="http://schemas.openxmlformats.org/officeDocument/2006/relationships/image" Target="../media/image31.jpg"/><Relationship Id="rId1" Type="http://schemas.openxmlformats.org/officeDocument/2006/relationships/slideLayout" Target="../slideLayouts/slideLayout2.xml"/><Relationship Id="rId6" Type="http://schemas.openxmlformats.org/officeDocument/2006/relationships/image" Target="../media/image35.jfif"/><Relationship Id="rId5" Type="http://schemas.openxmlformats.org/officeDocument/2006/relationships/image" Target="../media/image34.jfif"/><Relationship Id="rId10" Type="http://schemas.openxmlformats.org/officeDocument/2006/relationships/image" Target="../media/image39.jfif"/><Relationship Id="rId4" Type="http://schemas.openxmlformats.org/officeDocument/2006/relationships/image" Target="../media/image33.jfif"/><Relationship Id="rId9" Type="http://schemas.openxmlformats.org/officeDocument/2006/relationships/image" Target="../media/image38.jpg"/></Relationships>
</file>

<file path=ppt/slides/_rels/slide24.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jfif"/><Relationship Id="rId2" Type="http://schemas.openxmlformats.org/officeDocument/2006/relationships/image" Target="../media/image40.jpg"/><Relationship Id="rId1" Type="http://schemas.openxmlformats.org/officeDocument/2006/relationships/slideLayout" Target="../slideLayouts/slideLayout2.xml"/><Relationship Id="rId4" Type="http://schemas.openxmlformats.org/officeDocument/2006/relationships/image" Target="../media/image42.jfif"/></Relationships>
</file>

<file path=ppt/slides/_rels/slide27.xml.rels><?xml version="1.0" encoding="UTF-8" standalone="yes"?>
<Relationships xmlns="http://schemas.openxmlformats.org/package/2006/relationships"><Relationship Id="rId3" Type="http://schemas.openxmlformats.org/officeDocument/2006/relationships/image" Target="../media/image41.jfif"/><Relationship Id="rId7" Type="http://schemas.openxmlformats.org/officeDocument/2006/relationships/image" Target="../media/image45.jfif"/><Relationship Id="rId2" Type="http://schemas.openxmlformats.org/officeDocument/2006/relationships/image" Target="../media/image40.jpg"/><Relationship Id="rId1" Type="http://schemas.openxmlformats.org/officeDocument/2006/relationships/slideLayout" Target="../slideLayouts/slideLayout2.xml"/><Relationship Id="rId6" Type="http://schemas.openxmlformats.org/officeDocument/2006/relationships/image" Target="../media/image44.jfif"/><Relationship Id="rId5" Type="http://schemas.openxmlformats.org/officeDocument/2006/relationships/image" Target="../media/image43.png"/><Relationship Id="rId4" Type="http://schemas.openxmlformats.org/officeDocument/2006/relationships/image" Target="../media/image42.jfif"/></Relationships>
</file>

<file path=ppt/slides/_rels/slide2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jfif"/><Relationship Id="rId7" Type="http://schemas.openxmlformats.org/officeDocument/2006/relationships/image" Target="../media/image45.jfif"/><Relationship Id="rId2" Type="http://schemas.openxmlformats.org/officeDocument/2006/relationships/image" Target="../media/image40.jpg"/><Relationship Id="rId1" Type="http://schemas.openxmlformats.org/officeDocument/2006/relationships/slideLayout" Target="../slideLayouts/slideLayout2.xml"/><Relationship Id="rId6" Type="http://schemas.openxmlformats.org/officeDocument/2006/relationships/image" Target="../media/image44.jfif"/><Relationship Id="rId11" Type="http://schemas.openxmlformats.org/officeDocument/2006/relationships/image" Target="../media/image49.jfif"/><Relationship Id="rId5" Type="http://schemas.openxmlformats.org/officeDocument/2006/relationships/image" Target="../media/image43.png"/><Relationship Id="rId10" Type="http://schemas.openxmlformats.org/officeDocument/2006/relationships/image" Target="../media/image48.jfif"/><Relationship Id="rId4" Type="http://schemas.openxmlformats.org/officeDocument/2006/relationships/image" Target="../media/image42.jfif"/><Relationship Id="rId9" Type="http://schemas.openxmlformats.org/officeDocument/2006/relationships/image" Target="../media/image47.jfif"/></Relationships>
</file>

<file path=ppt/slides/_rels/slide2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jfif"/><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jfif"/></Relationships>
</file>

<file path=ppt/slides/_rels/slide31.xml.rels><?xml version="1.0" encoding="UTF-8" standalone="yes"?>
<Relationships xmlns="http://schemas.openxmlformats.org/package/2006/relationships"><Relationship Id="rId3" Type="http://schemas.openxmlformats.org/officeDocument/2006/relationships/image" Target="../media/image53.jfif"/><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4.jfif"/></Relationships>
</file>

<file path=ppt/slides/_rels/slide32.xml.rels><?xml version="1.0" encoding="UTF-8" standalone="yes"?>
<Relationships xmlns="http://schemas.openxmlformats.org/package/2006/relationships"><Relationship Id="rId3" Type="http://schemas.openxmlformats.org/officeDocument/2006/relationships/image" Target="../media/image53.jfif"/><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6.jfif"/><Relationship Id="rId5" Type="http://schemas.openxmlformats.org/officeDocument/2006/relationships/image" Target="../media/image55.jfif"/><Relationship Id="rId4" Type="http://schemas.openxmlformats.org/officeDocument/2006/relationships/image" Target="../media/image54.jfif"/></Relationships>
</file>

<file path=ppt/slides/_rels/slide33.xml.rels><?xml version="1.0" encoding="UTF-8" standalone="yes"?>
<Relationships xmlns="http://schemas.openxmlformats.org/package/2006/relationships"><Relationship Id="rId8" Type="http://schemas.openxmlformats.org/officeDocument/2006/relationships/image" Target="../media/image58.webp"/><Relationship Id="rId3" Type="http://schemas.openxmlformats.org/officeDocument/2006/relationships/image" Target="../media/image53.jfif"/><Relationship Id="rId7" Type="http://schemas.openxmlformats.org/officeDocument/2006/relationships/image" Target="../media/image57.jfif"/><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6.jfif"/><Relationship Id="rId11" Type="http://schemas.openxmlformats.org/officeDocument/2006/relationships/image" Target="../media/image61.jfif"/><Relationship Id="rId5" Type="http://schemas.openxmlformats.org/officeDocument/2006/relationships/image" Target="../media/image55.jfif"/><Relationship Id="rId10" Type="http://schemas.openxmlformats.org/officeDocument/2006/relationships/image" Target="../media/image60.jpg"/><Relationship Id="rId4" Type="http://schemas.openxmlformats.org/officeDocument/2006/relationships/image" Target="../media/image54.jfif"/><Relationship Id="rId9" Type="http://schemas.openxmlformats.org/officeDocument/2006/relationships/image" Target="../media/image59.jpg"/></Relationships>
</file>

<file path=ppt/slides/_rels/slide34.xml.rels><?xml version="1.0" encoding="UTF-8" standalone="yes"?>
<Relationships xmlns="http://schemas.openxmlformats.org/package/2006/relationships"><Relationship Id="rId2" Type="http://schemas.openxmlformats.org/officeDocument/2006/relationships/image" Target="../media/image62.jfi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2.jfi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3.jfif"/><Relationship Id="rId2" Type="http://schemas.openxmlformats.org/officeDocument/2006/relationships/image" Target="../media/image62.jfif"/><Relationship Id="rId1" Type="http://schemas.openxmlformats.org/officeDocument/2006/relationships/slideLayout" Target="../slideLayouts/slideLayout2.xml"/><Relationship Id="rId4" Type="http://schemas.openxmlformats.org/officeDocument/2006/relationships/image" Target="../media/image64.jfif"/></Relationships>
</file>

<file path=ppt/slides/_rels/slide37.xml.rels><?xml version="1.0" encoding="UTF-8" standalone="yes"?>
<Relationships xmlns="http://schemas.openxmlformats.org/package/2006/relationships"><Relationship Id="rId3" Type="http://schemas.openxmlformats.org/officeDocument/2006/relationships/image" Target="../media/image63.jfif"/><Relationship Id="rId2" Type="http://schemas.openxmlformats.org/officeDocument/2006/relationships/image" Target="../media/image62.jfif"/><Relationship Id="rId1" Type="http://schemas.openxmlformats.org/officeDocument/2006/relationships/slideLayout" Target="../slideLayouts/slideLayout2.xml"/><Relationship Id="rId6" Type="http://schemas.openxmlformats.org/officeDocument/2006/relationships/image" Target="../media/image66.jfif"/><Relationship Id="rId5" Type="http://schemas.openxmlformats.org/officeDocument/2006/relationships/image" Target="../media/image65.jfif"/><Relationship Id="rId4" Type="http://schemas.openxmlformats.org/officeDocument/2006/relationships/image" Target="../media/image64.jfif"/></Relationships>
</file>

<file path=ppt/slides/_rels/slide38.xml.rels><?xml version="1.0" encoding="UTF-8" standalone="yes"?>
<Relationships xmlns="http://schemas.openxmlformats.org/package/2006/relationships"><Relationship Id="rId8" Type="http://schemas.openxmlformats.org/officeDocument/2006/relationships/image" Target="../media/image68.jfif"/><Relationship Id="rId3" Type="http://schemas.openxmlformats.org/officeDocument/2006/relationships/image" Target="../media/image63.jfif"/><Relationship Id="rId7" Type="http://schemas.openxmlformats.org/officeDocument/2006/relationships/image" Target="../media/image67.jfif"/><Relationship Id="rId2" Type="http://schemas.openxmlformats.org/officeDocument/2006/relationships/image" Target="../media/image62.jfif"/><Relationship Id="rId1" Type="http://schemas.openxmlformats.org/officeDocument/2006/relationships/slideLayout" Target="../slideLayouts/slideLayout2.xml"/><Relationship Id="rId6" Type="http://schemas.openxmlformats.org/officeDocument/2006/relationships/image" Target="../media/image66.jfif"/><Relationship Id="rId5" Type="http://schemas.openxmlformats.org/officeDocument/2006/relationships/image" Target="../media/image65.jfif"/><Relationship Id="rId4" Type="http://schemas.openxmlformats.org/officeDocument/2006/relationships/image" Target="../media/image64.jfif"/><Relationship Id="rId9" Type="http://schemas.openxmlformats.org/officeDocument/2006/relationships/image" Target="../media/image69.jfif"/></Relationships>
</file>

<file path=ppt/slides/_rels/slide39.xml.rels><?xml version="1.0" encoding="UTF-8" standalone="yes"?>
<Relationships xmlns="http://schemas.openxmlformats.org/package/2006/relationships"><Relationship Id="rId2" Type="http://schemas.openxmlformats.org/officeDocument/2006/relationships/image" Target="../media/image70.jfi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1.jfif"/><Relationship Id="rId2" Type="http://schemas.openxmlformats.org/officeDocument/2006/relationships/image" Target="../media/image70.jfif"/><Relationship Id="rId1" Type="http://schemas.openxmlformats.org/officeDocument/2006/relationships/slideLayout" Target="../slideLayouts/slideLayout2.xml"/><Relationship Id="rId4" Type="http://schemas.openxmlformats.org/officeDocument/2006/relationships/image" Target="../media/image72.jpg"/></Relationships>
</file>

<file path=ppt/slides/_rels/slide41.xml.rels><?xml version="1.0" encoding="UTF-8" standalone="yes"?>
<Relationships xmlns="http://schemas.openxmlformats.org/package/2006/relationships"><Relationship Id="rId3" Type="http://schemas.openxmlformats.org/officeDocument/2006/relationships/image" Target="../media/image71.jfif"/><Relationship Id="rId2" Type="http://schemas.openxmlformats.org/officeDocument/2006/relationships/image" Target="../media/image70.jfif"/><Relationship Id="rId1" Type="http://schemas.openxmlformats.org/officeDocument/2006/relationships/slideLayout" Target="../slideLayouts/slideLayout2.xml"/><Relationship Id="rId5" Type="http://schemas.openxmlformats.org/officeDocument/2006/relationships/image" Target="../media/image73.jfif"/><Relationship Id="rId4" Type="http://schemas.openxmlformats.org/officeDocument/2006/relationships/image" Target="../media/image72.jpg"/></Relationships>
</file>

<file path=ppt/slides/_rels/slide42.xml.rels><?xml version="1.0" encoding="UTF-8" standalone="yes"?>
<Relationships xmlns="http://schemas.openxmlformats.org/package/2006/relationships"><Relationship Id="rId3" Type="http://schemas.openxmlformats.org/officeDocument/2006/relationships/image" Target="../media/image71.jfif"/><Relationship Id="rId7" Type="http://schemas.openxmlformats.org/officeDocument/2006/relationships/image" Target="../media/image75.jfif"/><Relationship Id="rId2" Type="http://schemas.openxmlformats.org/officeDocument/2006/relationships/image" Target="../media/image70.jfif"/><Relationship Id="rId1" Type="http://schemas.openxmlformats.org/officeDocument/2006/relationships/slideLayout" Target="../slideLayouts/slideLayout2.xml"/><Relationship Id="rId6" Type="http://schemas.openxmlformats.org/officeDocument/2006/relationships/image" Target="../media/image74.jfif"/><Relationship Id="rId5" Type="http://schemas.openxmlformats.org/officeDocument/2006/relationships/image" Target="../media/image73.jfif"/><Relationship Id="rId4" Type="http://schemas.openxmlformats.org/officeDocument/2006/relationships/image" Target="../media/image72.jpg"/></Relationships>
</file>

<file path=ppt/slides/_rels/slide43.xml.rels><?xml version="1.0" encoding="UTF-8" standalone="yes"?>
<Relationships xmlns="http://schemas.openxmlformats.org/package/2006/relationships"><Relationship Id="rId8" Type="http://schemas.openxmlformats.org/officeDocument/2006/relationships/image" Target="../media/image76.jpg"/><Relationship Id="rId3" Type="http://schemas.openxmlformats.org/officeDocument/2006/relationships/image" Target="../media/image71.jfif"/><Relationship Id="rId7" Type="http://schemas.openxmlformats.org/officeDocument/2006/relationships/image" Target="../media/image75.jfif"/><Relationship Id="rId2" Type="http://schemas.openxmlformats.org/officeDocument/2006/relationships/image" Target="../media/image70.jfif"/><Relationship Id="rId1" Type="http://schemas.openxmlformats.org/officeDocument/2006/relationships/slideLayout" Target="../slideLayouts/slideLayout2.xml"/><Relationship Id="rId6" Type="http://schemas.openxmlformats.org/officeDocument/2006/relationships/image" Target="../media/image74.jfif"/><Relationship Id="rId5" Type="http://schemas.openxmlformats.org/officeDocument/2006/relationships/image" Target="../media/image73.jfif"/><Relationship Id="rId4" Type="http://schemas.openxmlformats.org/officeDocument/2006/relationships/image" Target="../media/image72.jpg"/><Relationship Id="rId9" Type="http://schemas.openxmlformats.org/officeDocument/2006/relationships/image" Target="../media/image77.jfif"/></Relationships>
</file>

<file path=ppt/slides/_rels/slide44.xml.rels><?xml version="1.0" encoding="UTF-8" standalone="yes"?>
<Relationships xmlns="http://schemas.openxmlformats.org/package/2006/relationships"><Relationship Id="rId3" Type="http://schemas.openxmlformats.org/officeDocument/2006/relationships/image" Target="../media/image79.jfif"/><Relationship Id="rId2" Type="http://schemas.openxmlformats.org/officeDocument/2006/relationships/image" Target="../media/image78.jp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80.jf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0.jf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1.jfif"/><Relationship Id="rId2" Type="http://schemas.openxmlformats.org/officeDocument/2006/relationships/image" Target="../media/image80.jfif"/><Relationship Id="rId1" Type="http://schemas.openxmlformats.org/officeDocument/2006/relationships/slideLayout" Target="../slideLayouts/slideLayout2.xml"/><Relationship Id="rId4" Type="http://schemas.openxmlformats.org/officeDocument/2006/relationships/image" Target="../media/image82.jfif"/></Relationships>
</file>

<file path=ppt/slides/_rels/slide48.xml.rels><?xml version="1.0" encoding="UTF-8" standalone="yes"?>
<Relationships xmlns="http://schemas.openxmlformats.org/package/2006/relationships"><Relationship Id="rId3" Type="http://schemas.openxmlformats.org/officeDocument/2006/relationships/image" Target="../media/image81.jfif"/><Relationship Id="rId2" Type="http://schemas.openxmlformats.org/officeDocument/2006/relationships/image" Target="../media/image80.jfif"/><Relationship Id="rId1" Type="http://schemas.openxmlformats.org/officeDocument/2006/relationships/slideLayout" Target="../slideLayouts/slideLayout2.xml"/><Relationship Id="rId5" Type="http://schemas.openxmlformats.org/officeDocument/2006/relationships/image" Target="../media/image84.jfif"/><Relationship Id="rId4" Type="http://schemas.openxmlformats.org/officeDocument/2006/relationships/image" Target="../media/image83.jfif"/></Relationships>
</file>

<file path=ppt/slides/_rels/slide49.xml.rels><?xml version="1.0" encoding="UTF-8" standalone="yes"?>
<Relationships xmlns="http://schemas.openxmlformats.org/package/2006/relationships"><Relationship Id="rId8" Type="http://schemas.openxmlformats.org/officeDocument/2006/relationships/image" Target="../media/image87.jfif"/><Relationship Id="rId3" Type="http://schemas.openxmlformats.org/officeDocument/2006/relationships/image" Target="../media/image81.jfif"/><Relationship Id="rId7" Type="http://schemas.openxmlformats.org/officeDocument/2006/relationships/image" Target="../media/image86.jfif"/><Relationship Id="rId2" Type="http://schemas.openxmlformats.org/officeDocument/2006/relationships/image" Target="../media/image80.jfif"/><Relationship Id="rId1" Type="http://schemas.openxmlformats.org/officeDocument/2006/relationships/slideLayout" Target="../slideLayouts/slideLayout2.xml"/><Relationship Id="rId6" Type="http://schemas.openxmlformats.org/officeDocument/2006/relationships/image" Target="../media/image85.jfif"/><Relationship Id="rId5" Type="http://schemas.openxmlformats.org/officeDocument/2006/relationships/image" Target="../media/image84.jfif"/><Relationship Id="rId4" Type="http://schemas.openxmlformats.org/officeDocument/2006/relationships/image" Target="../media/image83.jfif"/></Relationships>
</file>

<file path=ppt/slides/_rels/slide50.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89.jfif"/><Relationship Id="rId2" Type="http://schemas.openxmlformats.org/officeDocument/2006/relationships/image" Target="../media/image88.jpg"/><Relationship Id="rId1" Type="http://schemas.openxmlformats.org/officeDocument/2006/relationships/slideLayout" Target="../slideLayouts/slideLayout2.xml"/><Relationship Id="rId5" Type="http://schemas.openxmlformats.org/officeDocument/2006/relationships/image" Target="../media/image91.jfif"/><Relationship Id="rId4" Type="http://schemas.openxmlformats.org/officeDocument/2006/relationships/image" Target="../media/image90.jfif"/></Relationships>
</file>

<file path=ppt/slides/_rels/slide52.xml.rels><?xml version="1.0" encoding="UTF-8" standalone="yes"?>
<Relationships xmlns="http://schemas.openxmlformats.org/package/2006/relationships"><Relationship Id="rId8" Type="http://schemas.openxmlformats.org/officeDocument/2006/relationships/image" Target="../media/image94.jpg"/><Relationship Id="rId3" Type="http://schemas.openxmlformats.org/officeDocument/2006/relationships/image" Target="../media/image89.jfif"/><Relationship Id="rId7" Type="http://schemas.openxmlformats.org/officeDocument/2006/relationships/image" Target="../media/image93.jfif"/><Relationship Id="rId2" Type="http://schemas.openxmlformats.org/officeDocument/2006/relationships/image" Target="../media/image88.jpg"/><Relationship Id="rId1" Type="http://schemas.openxmlformats.org/officeDocument/2006/relationships/slideLayout" Target="../slideLayouts/slideLayout2.xml"/><Relationship Id="rId6" Type="http://schemas.openxmlformats.org/officeDocument/2006/relationships/image" Target="../media/image92.jpg"/><Relationship Id="rId5" Type="http://schemas.openxmlformats.org/officeDocument/2006/relationships/image" Target="../media/image91.jfif"/><Relationship Id="rId4" Type="http://schemas.openxmlformats.org/officeDocument/2006/relationships/image" Target="../media/image90.jfif"/><Relationship Id="rId9" Type="http://schemas.openxmlformats.org/officeDocument/2006/relationships/image" Target="../media/image95.jpg"/></Relationships>
</file>

<file path=ppt/slides/_rels/slide53.xml.rels><?xml version="1.0" encoding="UTF-8" standalone="yes"?>
<Relationships xmlns="http://schemas.openxmlformats.org/package/2006/relationships"><Relationship Id="rId8" Type="http://schemas.openxmlformats.org/officeDocument/2006/relationships/image" Target="../media/image94.jpg"/><Relationship Id="rId3" Type="http://schemas.openxmlformats.org/officeDocument/2006/relationships/image" Target="../media/image89.jfif"/><Relationship Id="rId7" Type="http://schemas.openxmlformats.org/officeDocument/2006/relationships/image" Target="../media/image93.jfif"/><Relationship Id="rId2" Type="http://schemas.openxmlformats.org/officeDocument/2006/relationships/image" Target="../media/image88.jpg"/><Relationship Id="rId1" Type="http://schemas.openxmlformats.org/officeDocument/2006/relationships/slideLayout" Target="../slideLayouts/slideLayout2.xml"/><Relationship Id="rId6" Type="http://schemas.openxmlformats.org/officeDocument/2006/relationships/image" Target="../media/image92.jpg"/><Relationship Id="rId11" Type="http://schemas.openxmlformats.org/officeDocument/2006/relationships/image" Target="../media/image97.jpg"/><Relationship Id="rId5" Type="http://schemas.openxmlformats.org/officeDocument/2006/relationships/image" Target="../media/image91.jfif"/><Relationship Id="rId10" Type="http://schemas.openxmlformats.org/officeDocument/2006/relationships/image" Target="../media/image96.jfif"/><Relationship Id="rId4" Type="http://schemas.openxmlformats.org/officeDocument/2006/relationships/image" Target="../media/image90.jfif"/><Relationship Id="rId9" Type="http://schemas.openxmlformats.org/officeDocument/2006/relationships/image" Target="../media/image95.jpg"/></Relationships>
</file>

<file path=ppt/slides/_rels/slide54.xml.rels><?xml version="1.0" encoding="UTF-8" standalone="yes"?>
<Relationships xmlns="http://schemas.openxmlformats.org/package/2006/relationships"><Relationship Id="rId8" Type="http://schemas.openxmlformats.org/officeDocument/2006/relationships/image" Target="../media/image94.jpg"/><Relationship Id="rId13" Type="http://schemas.openxmlformats.org/officeDocument/2006/relationships/image" Target="../media/image99.jfif"/><Relationship Id="rId3" Type="http://schemas.openxmlformats.org/officeDocument/2006/relationships/image" Target="../media/image89.jfif"/><Relationship Id="rId7" Type="http://schemas.openxmlformats.org/officeDocument/2006/relationships/image" Target="../media/image93.jfif"/><Relationship Id="rId12" Type="http://schemas.openxmlformats.org/officeDocument/2006/relationships/image" Target="../media/image98.jfif"/><Relationship Id="rId2" Type="http://schemas.openxmlformats.org/officeDocument/2006/relationships/image" Target="../media/image88.jpg"/><Relationship Id="rId1" Type="http://schemas.openxmlformats.org/officeDocument/2006/relationships/slideLayout" Target="../slideLayouts/slideLayout2.xml"/><Relationship Id="rId6" Type="http://schemas.openxmlformats.org/officeDocument/2006/relationships/image" Target="../media/image92.jpg"/><Relationship Id="rId11" Type="http://schemas.openxmlformats.org/officeDocument/2006/relationships/image" Target="../media/image97.jpg"/><Relationship Id="rId5" Type="http://schemas.openxmlformats.org/officeDocument/2006/relationships/image" Target="../media/image91.jfif"/><Relationship Id="rId10" Type="http://schemas.openxmlformats.org/officeDocument/2006/relationships/image" Target="../media/image96.jfif"/><Relationship Id="rId4" Type="http://schemas.openxmlformats.org/officeDocument/2006/relationships/image" Target="../media/image90.jfif"/><Relationship Id="rId9" Type="http://schemas.openxmlformats.org/officeDocument/2006/relationships/image" Target="../media/image9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6D9853-7572-4718-89BA-745BF0609C0D}"/>
              </a:ext>
            </a:extLst>
          </p:cNvPr>
          <p:cNvPicPr>
            <a:picLocks noChangeAspect="1"/>
          </p:cNvPicPr>
          <p:nvPr/>
        </p:nvPicPr>
        <p:blipFill rotWithShape="1">
          <a:blip r:embed="rId2">
            <a:extLst>
              <a:ext uri="{28A0092B-C50C-407E-A947-70E740481C1C}">
                <a14:useLocalDpi xmlns:a14="http://schemas.microsoft.com/office/drawing/2010/main" val="0"/>
              </a:ext>
            </a:extLst>
          </a:blip>
          <a:srcRect b="8148"/>
          <a:stretch/>
        </p:blipFill>
        <p:spPr>
          <a:xfrm>
            <a:off x="-1" y="0"/>
            <a:ext cx="12192001" cy="6905790"/>
          </a:xfrm>
          <a:prstGeom prst="rect">
            <a:avLst/>
          </a:prstGeom>
        </p:spPr>
      </p:pic>
      <p:sp>
        <p:nvSpPr>
          <p:cNvPr id="17" name="Freeform: Shape 16">
            <a:extLst>
              <a:ext uri="{FF2B5EF4-FFF2-40B4-BE49-F238E27FC236}">
                <a16:creationId xmlns:a16="http://schemas.microsoft.com/office/drawing/2014/main" id="{490AC3D2-96B3-442C-AFA4-F0B3E6E48198}"/>
              </a:ext>
            </a:extLst>
          </p:cNvPr>
          <p:cNvSpPr/>
          <p:nvPr/>
        </p:nvSpPr>
        <p:spPr>
          <a:xfrm>
            <a:off x="0" y="-23895"/>
            <a:ext cx="12192001" cy="6905790"/>
          </a:xfrm>
          <a:custGeom>
            <a:avLst/>
            <a:gdLst>
              <a:gd name="connsiteX0" fmla="*/ 9512302 w 12192001"/>
              <a:gd name="connsiteY0" fmla="*/ 661716 h 6905790"/>
              <a:gd name="connsiteX1" fmla="*/ 8901290 w 12192001"/>
              <a:gd name="connsiteY1" fmla="*/ 1272728 h 6905790"/>
              <a:gd name="connsiteX2" fmla="*/ 8901290 w 12192001"/>
              <a:gd name="connsiteY2" fmla="*/ 5633061 h 6905790"/>
              <a:gd name="connsiteX3" fmla="*/ 9512302 w 12192001"/>
              <a:gd name="connsiteY3" fmla="*/ 6244073 h 6905790"/>
              <a:gd name="connsiteX4" fmla="*/ 9512301 w 12192001"/>
              <a:gd name="connsiteY4" fmla="*/ 6244074 h 6905790"/>
              <a:gd name="connsiteX5" fmla="*/ 10123313 w 12192001"/>
              <a:gd name="connsiteY5" fmla="*/ 5633062 h 6905790"/>
              <a:gd name="connsiteX6" fmla="*/ 10123314 w 12192001"/>
              <a:gd name="connsiteY6" fmla="*/ 1272728 h 6905790"/>
              <a:gd name="connsiteX7" fmla="*/ 9512302 w 12192001"/>
              <a:gd name="connsiteY7" fmla="*/ 661716 h 6905790"/>
              <a:gd name="connsiteX8" fmla="*/ 6836834 w 12192001"/>
              <a:gd name="connsiteY8" fmla="*/ 637821 h 6905790"/>
              <a:gd name="connsiteX9" fmla="*/ 6225822 w 12192001"/>
              <a:gd name="connsiteY9" fmla="*/ 1248833 h 6905790"/>
              <a:gd name="connsiteX10" fmla="*/ 6225822 w 12192001"/>
              <a:gd name="connsiteY10" fmla="*/ 5609166 h 6905790"/>
              <a:gd name="connsiteX11" fmla="*/ 6836834 w 12192001"/>
              <a:gd name="connsiteY11" fmla="*/ 6220178 h 6905790"/>
              <a:gd name="connsiteX12" fmla="*/ 6836833 w 12192001"/>
              <a:gd name="connsiteY12" fmla="*/ 6220179 h 6905790"/>
              <a:gd name="connsiteX13" fmla="*/ 7447845 w 12192001"/>
              <a:gd name="connsiteY13" fmla="*/ 5609167 h 6905790"/>
              <a:gd name="connsiteX14" fmla="*/ 7447846 w 12192001"/>
              <a:gd name="connsiteY14" fmla="*/ 1248833 h 6905790"/>
              <a:gd name="connsiteX15" fmla="*/ 6836834 w 12192001"/>
              <a:gd name="connsiteY15" fmla="*/ 637821 h 6905790"/>
              <a:gd name="connsiteX16" fmla="*/ 5499100 w 12192001"/>
              <a:gd name="connsiteY16" fmla="*/ 333020 h 6905790"/>
              <a:gd name="connsiteX17" fmla="*/ 4888088 w 12192001"/>
              <a:gd name="connsiteY17" fmla="*/ 944032 h 6905790"/>
              <a:gd name="connsiteX18" fmla="*/ 4888088 w 12192001"/>
              <a:gd name="connsiteY18" fmla="*/ 5304365 h 6905790"/>
              <a:gd name="connsiteX19" fmla="*/ 5499100 w 12192001"/>
              <a:gd name="connsiteY19" fmla="*/ 5915377 h 6905790"/>
              <a:gd name="connsiteX20" fmla="*/ 5499099 w 12192001"/>
              <a:gd name="connsiteY20" fmla="*/ 5915378 h 6905790"/>
              <a:gd name="connsiteX21" fmla="*/ 6110111 w 12192001"/>
              <a:gd name="connsiteY21" fmla="*/ 5304366 h 6905790"/>
              <a:gd name="connsiteX22" fmla="*/ 6110112 w 12192001"/>
              <a:gd name="connsiteY22" fmla="*/ 944032 h 6905790"/>
              <a:gd name="connsiteX23" fmla="*/ 5499100 w 12192001"/>
              <a:gd name="connsiteY23" fmla="*/ 333020 h 6905790"/>
              <a:gd name="connsiteX24" fmla="*/ 10850036 w 12192001"/>
              <a:gd name="connsiteY24" fmla="*/ 333019 h 6905790"/>
              <a:gd name="connsiteX25" fmla="*/ 10239024 w 12192001"/>
              <a:gd name="connsiteY25" fmla="*/ 944031 h 6905790"/>
              <a:gd name="connsiteX26" fmla="*/ 10239024 w 12192001"/>
              <a:gd name="connsiteY26" fmla="*/ 5304364 h 6905790"/>
              <a:gd name="connsiteX27" fmla="*/ 10850036 w 12192001"/>
              <a:gd name="connsiteY27" fmla="*/ 5915376 h 6905790"/>
              <a:gd name="connsiteX28" fmla="*/ 10850035 w 12192001"/>
              <a:gd name="connsiteY28" fmla="*/ 5915377 h 6905790"/>
              <a:gd name="connsiteX29" fmla="*/ 11461047 w 12192001"/>
              <a:gd name="connsiteY29" fmla="*/ 5304365 h 6905790"/>
              <a:gd name="connsiteX30" fmla="*/ 11461048 w 12192001"/>
              <a:gd name="connsiteY30" fmla="*/ 944031 h 6905790"/>
              <a:gd name="connsiteX31" fmla="*/ 10850036 w 12192001"/>
              <a:gd name="connsiteY31" fmla="*/ 333019 h 6905790"/>
              <a:gd name="connsiteX32" fmla="*/ 8174568 w 12192001"/>
              <a:gd name="connsiteY32" fmla="*/ 107245 h 6905790"/>
              <a:gd name="connsiteX33" fmla="*/ 7563556 w 12192001"/>
              <a:gd name="connsiteY33" fmla="*/ 718257 h 6905790"/>
              <a:gd name="connsiteX34" fmla="*/ 7563556 w 12192001"/>
              <a:gd name="connsiteY34" fmla="*/ 5078590 h 6905790"/>
              <a:gd name="connsiteX35" fmla="*/ 8174568 w 12192001"/>
              <a:gd name="connsiteY35" fmla="*/ 5689602 h 6905790"/>
              <a:gd name="connsiteX36" fmla="*/ 8174567 w 12192001"/>
              <a:gd name="connsiteY36" fmla="*/ 5689603 h 6905790"/>
              <a:gd name="connsiteX37" fmla="*/ 8785579 w 12192001"/>
              <a:gd name="connsiteY37" fmla="*/ 5078591 h 6905790"/>
              <a:gd name="connsiteX38" fmla="*/ 8785580 w 12192001"/>
              <a:gd name="connsiteY38" fmla="*/ 718257 h 6905790"/>
              <a:gd name="connsiteX39" fmla="*/ 8174568 w 12192001"/>
              <a:gd name="connsiteY39" fmla="*/ 107245 h 6905790"/>
              <a:gd name="connsiteX40" fmla="*/ 0 w 12192001"/>
              <a:gd name="connsiteY40" fmla="*/ 0 h 6905790"/>
              <a:gd name="connsiteX41" fmla="*/ 12192001 w 12192001"/>
              <a:gd name="connsiteY41" fmla="*/ 0 h 6905790"/>
              <a:gd name="connsiteX42" fmla="*/ 12192001 w 12192001"/>
              <a:gd name="connsiteY42" fmla="*/ 6905790 h 6905790"/>
              <a:gd name="connsiteX43" fmla="*/ 0 w 12192001"/>
              <a:gd name="connsiteY43" fmla="*/ 6905790 h 690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2192001" h="6905790">
                <a:moveTo>
                  <a:pt x="9512302" y="661716"/>
                </a:moveTo>
                <a:cubicBezTo>
                  <a:pt x="9174849" y="661716"/>
                  <a:pt x="8901290" y="935275"/>
                  <a:pt x="8901290" y="1272728"/>
                </a:cubicBezTo>
                <a:lnTo>
                  <a:pt x="8901290" y="5633061"/>
                </a:lnTo>
                <a:cubicBezTo>
                  <a:pt x="8901290" y="5970514"/>
                  <a:pt x="9174849" y="6244073"/>
                  <a:pt x="9512302" y="6244073"/>
                </a:cubicBezTo>
                <a:lnTo>
                  <a:pt x="9512301" y="6244074"/>
                </a:lnTo>
                <a:cubicBezTo>
                  <a:pt x="9849754" y="6244074"/>
                  <a:pt x="10123313" y="5970515"/>
                  <a:pt x="10123313" y="5633062"/>
                </a:cubicBezTo>
                <a:cubicBezTo>
                  <a:pt x="10123313" y="4179617"/>
                  <a:pt x="10123314" y="2726173"/>
                  <a:pt x="10123314" y="1272728"/>
                </a:cubicBezTo>
                <a:cubicBezTo>
                  <a:pt x="10123314" y="935275"/>
                  <a:pt x="9849755" y="661716"/>
                  <a:pt x="9512302" y="661716"/>
                </a:cubicBezTo>
                <a:close/>
                <a:moveTo>
                  <a:pt x="6836834" y="637821"/>
                </a:moveTo>
                <a:cubicBezTo>
                  <a:pt x="6499381" y="637821"/>
                  <a:pt x="6225822" y="911380"/>
                  <a:pt x="6225822" y="1248833"/>
                </a:cubicBezTo>
                <a:lnTo>
                  <a:pt x="6225822" y="5609166"/>
                </a:lnTo>
                <a:cubicBezTo>
                  <a:pt x="6225822" y="5946619"/>
                  <a:pt x="6499381" y="6220178"/>
                  <a:pt x="6836834" y="6220178"/>
                </a:cubicBezTo>
                <a:lnTo>
                  <a:pt x="6836833" y="6220179"/>
                </a:lnTo>
                <a:cubicBezTo>
                  <a:pt x="7174286" y="6220179"/>
                  <a:pt x="7447845" y="5946620"/>
                  <a:pt x="7447845" y="5609167"/>
                </a:cubicBezTo>
                <a:cubicBezTo>
                  <a:pt x="7447845" y="4155722"/>
                  <a:pt x="7447846" y="2702278"/>
                  <a:pt x="7447846" y="1248833"/>
                </a:cubicBezTo>
                <a:cubicBezTo>
                  <a:pt x="7447846" y="911380"/>
                  <a:pt x="7174287" y="637821"/>
                  <a:pt x="6836834" y="637821"/>
                </a:cubicBezTo>
                <a:close/>
                <a:moveTo>
                  <a:pt x="5499100" y="333020"/>
                </a:moveTo>
                <a:cubicBezTo>
                  <a:pt x="5161647" y="333020"/>
                  <a:pt x="4888088" y="606579"/>
                  <a:pt x="4888088" y="944032"/>
                </a:cubicBezTo>
                <a:lnTo>
                  <a:pt x="4888088" y="5304365"/>
                </a:lnTo>
                <a:cubicBezTo>
                  <a:pt x="4888088" y="5641818"/>
                  <a:pt x="5161647" y="5915377"/>
                  <a:pt x="5499100" y="5915377"/>
                </a:cubicBezTo>
                <a:lnTo>
                  <a:pt x="5499099" y="5915378"/>
                </a:lnTo>
                <a:cubicBezTo>
                  <a:pt x="5836552" y="5915378"/>
                  <a:pt x="6110111" y="5641819"/>
                  <a:pt x="6110111" y="5304366"/>
                </a:cubicBezTo>
                <a:cubicBezTo>
                  <a:pt x="6110111" y="3850921"/>
                  <a:pt x="6110112" y="2397477"/>
                  <a:pt x="6110112" y="944032"/>
                </a:cubicBezTo>
                <a:cubicBezTo>
                  <a:pt x="6110112" y="606579"/>
                  <a:pt x="5836553" y="333020"/>
                  <a:pt x="5499100" y="333020"/>
                </a:cubicBezTo>
                <a:close/>
                <a:moveTo>
                  <a:pt x="10850036" y="333019"/>
                </a:moveTo>
                <a:cubicBezTo>
                  <a:pt x="10512583" y="333019"/>
                  <a:pt x="10239024" y="606578"/>
                  <a:pt x="10239024" y="944031"/>
                </a:cubicBezTo>
                <a:lnTo>
                  <a:pt x="10239024" y="5304364"/>
                </a:lnTo>
                <a:cubicBezTo>
                  <a:pt x="10239024" y="5641817"/>
                  <a:pt x="10512583" y="5915376"/>
                  <a:pt x="10850036" y="5915376"/>
                </a:cubicBezTo>
                <a:lnTo>
                  <a:pt x="10850035" y="5915377"/>
                </a:lnTo>
                <a:cubicBezTo>
                  <a:pt x="11187488" y="5915377"/>
                  <a:pt x="11461047" y="5641818"/>
                  <a:pt x="11461047" y="5304365"/>
                </a:cubicBezTo>
                <a:cubicBezTo>
                  <a:pt x="11461047" y="3850920"/>
                  <a:pt x="11461048" y="2397476"/>
                  <a:pt x="11461048" y="944031"/>
                </a:cubicBezTo>
                <a:cubicBezTo>
                  <a:pt x="11461048" y="606578"/>
                  <a:pt x="11187489" y="333019"/>
                  <a:pt x="10850036" y="333019"/>
                </a:cubicBezTo>
                <a:close/>
                <a:moveTo>
                  <a:pt x="8174568" y="107245"/>
                </a:moveTo>
                <a:cubicBezTo>
                  <a:pt x="7837115" y="107245"/>
                  <a:pt x="7563556" y="380804"/>
                  <a:pt x="7563556" y="718257"/>
                </a:cubicBezTo>
                <a:lnTo>
                  <a:pt x="7563556" y="5078590"/>
                </a:lnTo>
                <a:cubicBezTo>
                  <a:pt x="7563556" y="5416043"/>
                  <a:pt x="7837115" y="5689602"/>
                  <a:pt x="8174568" y="5689602"/>
                </a:cubicBezTo>
                <a:lnTo>
                  <a:pt x="8174567" y="5689603"/>
                </a:lnTo>
                <a:cubicBezTo>
                  <a:pt x="8512020" y="5689603"/>
                  <a:pt x="8785579" y="5416044"/>
                  <a:pt x="8785579" y="5078591"/>
                </a:cubicBezTo>
                <a:cubicBezTo>
                  <a:pt x="8785579" y="3625146"/>
                  <a:pt x="8785580" y="2171702"/>
                  <a:pt x="8785580" y="718257"/>
                </a:cubicBezTo>
                <a:cubicBezTo>
                  <a:pt x="8785580" y="380804"/>
                  <a:pt x="8512021" y="107245"/>
                  <a:pt x="8174568" y="107245"/>
                </a:cubicBezTo>
                <a:close/>
                <a:moveTo>
                  <a:pt x="0" y="0"/>
                </a:moveTo>
                <a:lnTo>
                  <a:pt x="12192001" y="0"/>
                </a:lnTo>
                <a:lnTo>
                  <a:pt x="12192001" y="6905790"/>
                </a:lnTo>
                <a:lnTo>
                  <a:pt x="0" y="690579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1" anchor="ctr">
            <a:noAutofit/>
          </a:bodyPr>
          <a:lstStyle/>
          <a:p>
            <a:pPr algn="ctr"/>
            <a:endParaRPr lang="fa-IR"/>
          </a:p>
        </p:txBody>
      </p:sp>
      <p:sp>
        <p:nvSpPr>
          <p:cNvPr id="18" name="TextBox 17">
            <a:extLst>
              <a:ext uri="{FF2B5EF4-FFF2-40B4-BE49-F238E27FC236}">
                <a16:creationId xmlns:a16="http://schemas.microsoft.com/office/drawing/2014/main" id="{EFF08023-5335-41C5-B316-B8ECB2FF5A7C}"/>
              </a:ext>
            </a:extLst>
          </p:cNvPr>
          <p:cNvSpPr txBox="1"/>
          <p:nvPr/>
        </p:nvSpPr>
        <p:spPr>
          <a:xfrm>
            <a:off x="76002" y="531642"/>
            <a:ext cx="4750130" cy="769441"/>
          </a:xfrm>
          <a:prstGeom prst="rect">
            <a:avLst/>
          </a:prstGeom>
          <a:noFill/>
        </p:spPr>
        <p:txBody>
          <a:bodyPr wrap="square" rtlCol="1">
            <a:spAutoFit/>
          </a:bodyPr>
          <a:lstStyle/>
          <a:p>
            <a:pPr algn="ctr"/>
            <a:r>
              <a:rPr lang="fa-IR" sz="4400" dirty="0">
                <a:cs typeface="2  Nasim" panose="00000700000000000000" pitchFamily="2" charset="-78"/>
              </a:rPr>
              <a:t>مصالح ساختمانی</a:t>
            </a:r>
          </a:p>
        </p:txBody>
      </p:sp>
      <p:grpSp>
        <p:nvGrpSpPr>
          <p:cNvPr id="19" name="Group 18">
            <a:extLst>
              <a:ext uri="{FF2B5EF4-FFF2-40B4-BE49-F238E27FC236}">
                <a16:creationId xmlns:a16="http://schemas.microsoft.com/office/drawing/2014/main" id="{2851159E-120F-4D97-99E7-6EA9A56212F0}"/>
              </a:ext>
            </a:extLst>
          </p:cNvPr>
          <p:cNvGrpSpPr/>
          <p:nvPr/>
        </p:nvGrpSpPr>
        <p:grpSpPr>
          <a:xfrm>
            <a:off x="747888" y="1573034"/>
            <a:ext cx="3406358" cy="914400"/>
            <a:chOff x="293429" y="1479841"/>
            <a:chExt cx="3406358" cy="914400"/>
          </a:xfrm>
        </p:grpSpPr>
        <p:pic>
          <p:nvPicPr>
            <p:cNvPr id="20" name="Graphic 19" descr="Tools with solid fill">
              <a:extLst>
                <a:ext uri="{FF2B5EF4-FFF2-40B4-BE49-F238E27FC236}">
                  <a16:creationId xmlns:a16="http://schemas.microsoft.com/office/drawing/2014/main" id="{512ADDA4-8A05-471D-8E16-A1F3EB79B02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3663" y="1479841"/>
              <a:ext cx="914400" cy="914400"/>
            </a:xfrm>
            <a:prstGeom prst="rect">
              <a:avLst/>
            </a:prstGeom>
          </p:spPr>
        </p:pic>
        <p:pic>
          <p:nvPicPr>
            <p:cNvPr id="21" name="Graphic 20" descr="Large paint brush with solid fill">
              <a:extLst>
                <a:ext uri="{FF2B5EF4-FFF2-40B4-BE49-F238E27FC236}">
                  <a16:creationId xmlns:a16="http://schemas.microsoft.com/office/drawing/2014/main" id="{6A776EB1-410B-4DDA-977F-C98081F47BA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3429" y="1479841"/>
              <a:ext cx="914400" cy="914400"/>
            </a:xfrm>
            <a:prstGeom prst="rect">
              <a:avLst/>
            </a:prstGeom>
          </p:spPr>
        </p:pic>
        <p:pic>
          <p:nvPicPr>
            <p:cNvPr id="22" name="Graphic 21" descr="City with solid fill">
              <a:extLst>
                <a:ext uri="{FF2B5EF4-FFF2-40B4-BE49-F238E27FC236}">
                  <a16:creationId xmlns:a16="http://schemas.microsoft.com/office/drawing/2014/main" id="{9A92DD98-4ABA-431F-8F3B-1F047ECF43D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785387" y="1479841"/>
              <a:ext cx="914400" cy="914400"/>
            </a:xfrm>
            <a:prstGeom prst="rect">
              <a:avLst/>
            </a:prstGeom>
          </p:spPr>
        </p:pic>
      </p:grpSp>
      <p:sp>
        <p:nvSpPr>
          <p:cNvPr id="2" name="TextBox 1">
            <a:extLst>
              <a:ext uri="{FF2B5EF4-FFF2-40B4-BE49-F238E27FC236}">
                <a16:creationId xmlns:a16="http://schemas.microsoft.com/office/drawing/2014/main" id="{D9547C54-8C65-456F-A06C-051193193C39}"/>
              </a:ext>
            </a:extLst>
          </p:cNvPr>
          <p:cNvSpPr txBox="1"/>
          <p:nvPr/>
        </p:nvSpPr>
        <p:spPr>
          <a:xfrm>
            <a:off x="-77748" y="4888230"/>
            <a:ext cx="4927735" cy="1969770"/>
          </a:xfrm>
          <a:prstGeom prst="rect">
            <a:avLst/>
          </a:prstGeom>
          <a:noFill/>
        </p:spPr>
        <p:txBody>
          <a:bodyPr wrap="square" rtlCol="1">
            <a:spAutoFit/>
          </a:bodyPr>
          <a:lstStyle/>
          <a:p>
            <a:pPr algn="r"/>
            <a:r>
              <a:rPr lang="fa-IR" sz="2200" dirty="0">
                <a:cs typeface="2  Koodak" panose="00000700000000000000" pitchFamily="2" charset="-78"/>
              </a:rPr>
              <a:t>استاد راهنما: جناب دکتر مهدی موسوی احمد آبادی</a:t>
            </a:r>
          </a:p>
          <a:p>
            <a:pPr algn="r"/>
            <a:r>
              <a:rPr lang="fa-IR" sz="2000" dirty="0">
                <a:cs typeface="2  Koodak" panose="00000700000000000000" pitchFamily="2" charset="-78"/>
              </a:rPr>
              <a:t>عنوان ارایه:مبحث پنجم مقررات ملی ساختمان</a:t>
            </a:r>
          </a:p>
          <a:p>
            <a:pPr algn="r"/>
            <a:r>
              <a:rPr lang="fa-IR" sz="2000" dirty="0">
                <a:cs typeface="2  Koodak" panose="00000700000000000000" pitchFamily="2" charset="-78"/>
              </a:rPr>
              <a:t>عنوان درس:مقررات ملی ساختمان</a:t>
            </a:r>
          </a:p>
          <a:p>
            <a:pPr algn="r"/>
            <a:r>
              <a:rPr lang="fa-IR" sz="2000" dirty="0">
                <a:cs typeface="2  Koodak" panose="00000700000000000000" pitchFamily="2" charset="-78"/>
              </a:rPr>
              <a:t>تهیه کننده : آیدا بیگدلی</a:t>
            </a:r>
            <a:endParaRPr lang="en-US" sz="2000" dirty="0">
              <a:cs typeface="2  Koodak" panose="00000700000000000000" pitchFamily="2" charset="-78"/>
            </a:endParaRPr>
          </a:p>
          <a:p>
            <a:pPr algn="r"/>
            <a:r>
              <a:rPr lang="fa-IR" sz="2000" dirty="0">
                <a:cs typeface="2  Koodak" panose="00000700000000000000" pitchFamily="2" charset="-78"/>
              </a:rPr>
              <a:t>دانشگاه آزاد قم</a:t>
            </a:r>
          </a:p>
          <a:p>
            <a:pPr algn="r"/>
            <a:r>
              <a:rPr lang="fa-IR" sz="2000" dirty="0">
                <a:cs typeface="2  Koodak" panose="00000700000000000000" pitchFamily="2" charset="-78"/>
              </a:rPr>
              <a:t>پاییز1402</a:t>
            </a:r>
          </a:p>
        </p:txBody>
      </p:sp>
    </p:spTree>
    <p:extLst>
      <p:ext uri="{BB962C8B-B14F-4D97-AF65-F5344CB8AC3E}">
        <p14:creationId xmlns:p14="http://schemas.microsoft.com/office/powerpoint/2010/main" val="10211328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afterEffect">
                                  <p:stCondLst>
                                    <p:cond delay="0"/>
                                  </p:stCondLst>
                                  <p:childTnLst>
                                    <p:animMotion origin="layout" path="M 0 0 L 0.25 0 E" pathEditMode="relative" ptsTypes="">
                                      <p:cBhvr>
                                        <p:cTn id="6"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2A088D3-A642-47E9-8843-D04D55D8CBF1}"/>
              </a:ext>
            </a:extLst>
          </p:cNvPr>
          <p:cNvGrpSpPr/>
          <p:nvPr/>
        </p:nvGrpSpPr>
        <p:grpSpPr>
          <a:xfrm>
            <a:off x="8" y="-3144982"/>
            <a:ext cx="12192000" cy="7550727"/>
            <a:chOff x="0" y="0"/>
            <a:chExt cx="12192000" cy="7550727"/>
          </a:xfrm>
          <a:solidFill>
            <a:srgbClr val="F6E0D2"/>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3862281"/>
            <a:ext cx="12192000" cy="7550727"/>
            <a:chOff x="0" y="0"/>
            <a:chExt cx="12192000" cy="7550727"/>
          </a:xfrm>
          <a:solidFill>
            <a:srgbClr val="EBBDAD"/>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4690417"/>
            <a:ext cx="12192000" cy="7550727"/>
            <a:chOff x="0" y="0"/>
            <a:chExt cx="12192000" cy="7550727"/>
          </a:xfrm>
          <a:solidFill>
            <a:srgbClr val="E3AE8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8A4E4E"/>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21" name="Group 20">
            <a:extLst>
              <a:ext uri="{FF2B5EF4-FFF2-40B4-BE49-F238E27FC236}">
                <a16:creationId xmlns:a16="http://schemas.microsoft.com/office/drawing/2014/main" id="{54C7BAA1-7757-4ECC-BC19-B29F1484C5CD}"/>
              </a:ext>
            </a:extLst>
          </p:cNvPr>
          <p:cNvGrpSpPr/>
          <p:nvPr/>
        </p:nvGrpSpPr>
        <p:grpSpPr>
          <a:xfrm>
            <a:off x="-32" y="-6286564"/>
            <a:ext cx="12192000" cy="7550727"/>
            <a:chOff x="0" y="0"/>
            <a:chExt cx="12192000" cy="7550727"/>
          </a:xfrm>
          <a:solidFill>
            <a:srgbClr val="492527"/>
          </a:solidFill>
        </p:grpSpPr>
        <p:sp>
          <p:nvSpPr>
            <p:cNvPr id="22" name="Rectangle 21">
              <a:extLst>
                <a:ext uri="{FF2B5EF4-FFF2-40B4-BE49-F238E27FC236}">
                  <a16:creationId xmlns:a16="http://schemas.microsoft.com/office/drawing/2014/main" id="{A164834A-3E91-4632-A10F-091D20E985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3" name="Rectangle: Top Corners Rounded 22">
              <a:extLst>
                <a:ext uri="{FF2B5EF4-FFF2-40B4-BE49-F238E27FC236}">
                  <a16:creationId xmlns:a16="http://schemas.microsoft.com/office/drawing/2014/main" id="{8E3E9698-3F76-4AF5-AAB8-99DABE2FD82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4" name="TextBox 23">
              <a:extLst>
                <a:ext uri="{FF2B5EF4-FFF2-40B4-BE49-F238E27FC236}">
                  <a16:creationId xmlns:a16="http://schemas.microsoft.com/office/drawing/2014/main" id="{2460561B-EB8E-4537-8548-AE5F3C1EA73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
        <p:nvSpPr>
          <p:cNvPr id="25" name="TextBox 24">
            <a:extLst>
              <a:ext uri="{FF2B5EF4-FFF2-40B4-BE49-F238E27FC236}">
                <a16:creationId xmlns:a16="http://schemas.microsoft.com/office/drawing/2014/main" id="{8BDE60E5-B424-418D-80A9-C21BD2C30CA5}"/>
              </a:ext>
            </a:extLst>
          </p:cNvPr>
          <p:cNvSpPr txBox="1"/>
          <p:nvPr/>
        </p:nvSpPr>
        <p:spPr>
          <a:xfrm>
            <a:off x="4295553" y="4513291"/>
            <a:ext cx="7134447" cy="2123658"/>
          </a:xfrm>
          <a:prstGeom prst="rect">
            <a:avLst/>
          </a:prstGeom>
          <a:noFill/>
        </p:spPr>
        <p:txBody>
          <a:bodyPr wrap="square" rtlCol="1">
            <a:spAutoFit/>
          </a:bodyPr>
          <a:lstStyle/>
          <a:p>
            <a:pPr algn="r"/>
            <a:r>
              <a:rPr lang="fa-IR" sz="2200" dirty="0">
                <a:cs typeface="2  Nazanin" panose="00000400000000000000" pitchFamily="2" charset="-78"/>
              </a:rPr>
              <a:t>هدف :ارائه مشخصات فني مواد، مصالح و فرآوردههـاي سـاختماني بـه منظـور تأمين ايمني، بهداشت، دوام، حفاظت محيط زيست و صرفه اقتصـادي در سـاختمان اسـت</a:t>
            </a:r>
          </a:p>
          <a:p>
            <a:pPr algn="r"/>
            <a:r>
              <a:rPr lang="fa-IR" sz="2200" dirty="0">
                <a:cs typeface="2  Nazanin" panose="00000400000000000000" pitchFamily="2" charset="-78"/>
              </a:rPr>
              <a:t>دامنه و کاربرد: دامنـه كاربرد آن نيز محدود به انواع مواد، مصالح و فرآورده هاي ساختماني متعارف و نـوين اسـت، كـه در بناي انواع ساختمان ها و تاسيسات مربوط، مورد استفاده قرار ميگيرد</a:t>
            </a:r>
          </a:p>
        </p:txBody>
      </p:sp>
      <p:pic>
        <p:nvPicPr>
          <p:cNvPr id="27" name="Picture 26">
            <a:extLst>
              <a:ext uri="{FF2B5EF4-FFF2-40B4-BE49-F238E27FC236}">
                <a16:creationId xmlns:a16="http://schemas.microsoft.com/office/drawing/2014/main" id="{F726B98E-7E4A-42FB-A215-70825A955147}"/>
              </a:ext>
            </a:extLst>
          </p:cNvPr>
          <p:cNvPicPr>
            <a:picLocks noChangeAspect="1"/>
          </p:cNvPicPr>
          <p:nvPr/>
        </p:nvPicPr>
        <p:blipFill rotWithShape="1">
          <a:blip r:embed="rId2">
            <a:extLst>
              <a:ext uri="{28A0092B-C50C-407E-A947-70E740481C1C}">
                <a14:useLocalDpi xmlns:a14="http://schemas.microsoft.com/office/drawing/2010/main" val="0"/>
              </a:ext>
            </a:extLst>
          </a:blip>
          <a:srcRect t="23382"/>
          <a:stretch/>
        </p:blipFill>
        <p:spPr>
          <a:xfrm>
            <a:off x="921490" y="4591866"/>
            <a:ext cx="3140702" cy="1638137"/>
          </a:xfrm>
          <a:prstGeom prst="rect">
            <a:avLst/>
          </a:prstGeom>
        </p:spPr>
      </p:pic>
    </p:spTree>
    <p:extLst>
      <p:ext uri="{BB962C8B-B14F-4D97-AF65-F5344CB8AC3E}">
        <p14:creationId xmlns:p14="http://schemas.microsoft.com/office/powerpoint/2010/main" val="32262102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BDE60E5-B424-418D-80A9-C21BD2C30CA5}"/>
              </a:ext>
            </a:extLst>
          </p:cNvPr>
          <p:cNvSpPr txBox="1"/>
          <p:nvPr/>
        </p:nvSpPr>
        <p:spPr>
          <a:xfrm>
            <a:off x="4295553" y="4513291"/>
            <a:ext cx="7134447" cy="2123658"/>
          </a:xfrm>
          <a:prstGeom prst="rect">
            <a:avLst/>
          </a:prstGeom>
          <a:noFill/>
        </p:spPr>
        <p:txBody>
          <a:bodyPr wrap="square" rtlCol="1">
            <a:spAutoFit/>
          </a:bodyPr>
          <a:lstStyle/>
          <a:p>
            <a:pPr algn="r"/>
            <a:r>
              <a:rPr lang="fa-IR" sz="2200" dirty="0">
                <a:cs typeface="2  Nazanin" panose="00000400000000000000" pitchFamily="2" charset="-78"/>
              </a:rPr>
              <a:t>هدف :ارائه مشخصات فني مواد، مصالح و فرآوردههـاي سـاختماني بـه منظـور تأمين ايمني، بهداشت، دوام، حفاظت محيط زيست و صرفه اقتصـادي در سـاختمان اسـت</a:t>
            </a:r>
          </a:p>
          <a:p>
            <a:pPr algn="r"/>
            <a:r>
              <a:rPr lang="fa-IR" sz="2200" dirty="0">
                <a:cs typeface="2  Nazanin" panose="00000400000000000000" pitchFamily="2" charset="-78"/>
              </a:rPr>
              <a:t>دامنه و کاربرد: دامنـه كاربرد آن نيز محدود به انواع مواد، مصالح و فرآوردههاي ساختماني متعارف و نـوين اسـت، كـه در بناي انواع ساختمانها و تأسيسات مربوط، مورد استفاده قرار ميگيرد</a:t>
            </a:r>
          </a:p>
        </p:txBody>
      </p:sp>
      <p:pic>
        <p:nvPicPr>
          <p:cNvPr id="27" name="Picture 26">
            <a:extLst>
              <a:ext uri="{FF2B5EF4-FFF2-40B4-BE49-F238E27FC236}">
                <a16:creationId xmlns:a16="http://schemas.microsoft.com/office/drawing/2014/main" id="{F726B98E-7E4A-42FB-A215-70825A955147}"/>
              </a:ext>
            </a:extLst>
          </p:cNvPr>
          <p:cNvPicPr>
            <a:picLocks noChangeAspect="1"/>
          </p:cNvPicPr>
          <p:nvPr/>
        </p:nvPicPr>
        <p:blipFill rotWithShape="1">
          <a:blip r:embed="rId2">
            <a:extLst>
              <a:ext uri="{28A0092B-C50C-407E-A947-70E740481C1C}">
                <a14:useLocalDpi xmlns:a14="http://schemas.microsoft.com/office/drawing/2010/main" val="0"/>
              </a:ext>
            </a:extLst>
          </a:blip>
          <a:srcRect t="23382"/>
          <a:stretch/>
        </p:blipFill>
        <p:spPr>
          <a:xfrm>
            <a:off x="921490" y="4591866"/>
            <a:ext cx="3140702" cy="1638137"/>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86918"/>
            <a:ext cx="12192000" cy="7550727"/>
            <a:chOff x="0" y="0"/>
            <a:chExt cx="12192000" cy="7550727"/>
          </a:xfrm>
          <a:solidFill>
            <a:srgbClr val="F6E0D2"/>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dirty="0">
                <a:ln w="22225">
                  <a:solidFill>
                    <a:schemeClr val="accent2"/>
                  </a:solidFill>
                  <a:prstDash val="solid"/>
                </a:ln>
                <a:solidFill>
                  <a:schemeClr val="accent2">
                    <a:lumMod val="40000"/>
                    <a:lumOff val="60000"/>
                  </a:schemeClr>
                </a:solidFill>
              </a:endParaRPr>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a:ln w="22225">
                  <a:solidFill>
                    <a:schemeClr val="accent2"/>
                  </a:solidFill>
                  <a:prstDash val="solid"/>
                </a:ln>
                <a:solidFill>
                  <a:schemeClr val="accent2">
                    <a:lumMod val="40000"/>
                    <a:lumOff val="60000"/>
                  </a:schemeClr>
                </a:solidFill>
              </a:endParaRP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n w="22225">
                    <a:solidFill>
                      <a:schemeClr val="accent2"/>
                    </a:solidFill>
                    <a:prstDash val="solid"/>
                  </a:ln>
                  <a:solidFill>
                    <a:schemeClr val="accent2">
                      <a:lumMod val="40000"/>
                      <a:lumOff val="60000"/>
                    </a:schemeClr>
                  </a:solidFill>
                  <a:latin typeface="Tw Cen MT" panose="020B0602020104020603" pitchFamily="34" charset="0"/>
                </a:rPr>
                <a:t>1</a:t>
              </a:r>
              <a:endParaRPr lang="fa-IR" sz="4000" b="1" dirty="0">
                <a:ln w="22225">
                  <a:solidFill>
                    <a:schemeClr val="accent2"/>
                  </a:solidFill>
                  <a:prstDash val="solid"/>
                </a:ln>
                <a:solidFill>
                  <a:schemeClr val="accent2">
                    <a:lumMod val="40000"/>
                    <a:lumOff val="60000"/>
                  </a:schemeClr>
                </a:solidFill>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3862281"/>
            <a:ext cx="12192000" cy="7550727"/>
            <a:chOff x="0" y="0"/>
            <a:chExt cx="12192000" cy="7550727"/>
          </a:xfrm>
          <a:solidFill>
            <a:srgbClr val="EBBDAD"/>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4690417"/>
            <a:ext cx="12192000" cy="7550727"/>
            <a:chOff x="0" y="0"/>
            <a:chExt cx="12192000" cy="7550727"/>
          </a:xfrm>
          <a:solidFill>
            <a:srgbClr val="E3AE8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8A4E4E"/>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21" name="Group 20">
            <a:extLst>
              <a:ext uri="{FF2B5EF4-FFF2-40B4-BE49-F238E27FC236}">
                <a16:creationId xmlns:a16="http://schemas.microsoft.com/office/drawing/2014/main" id="{54C7BAA1-7757-4ECC-BC19-B29F1484C5CD}"/>
              </a:ext>
            </a:extLst>
          </p:cNvPr>
          <p:cNvGrpSpPr/>
          <p:nvPr/>
        </p:nvGrpSpPr>
        <p:grpSpPr>
          <a:xfrm>
            <a:off x="-32" y="-6286564"/>
            <a:ext cx="12192000" cy="7550727"/>
            <a:chOff x="0" y="0"/>
            <a:chExt cx="12192000" cy="7550727"/>
          </a:xfrm>
          <a:solidFill>
            <a:srgbClr val="492527"/>
          </a:solidFill>
        </p:grpSpPr>
        <p:sp>
          <p:nvSpPr>
            <p:cNvPr id="22" name="Rectangle 21">
              <a:extLst>
                <a:ext uri="{FF2B5EF4-FFF2-40B4-BE49-F238E27FC236}">
                  <a16:creationId xmlns:a16="http://schemas.microsoft.com/office/drawing/2014/main" id="{A164834A-3E91-4632-A10F-091D20E985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3" name="Rectangle: Top Corners Rounded 22">
              <a:extLst>
                <a:ext uri="{FF2B5EF4-FFF2-40B4-BE49-F238E27FC236}">
                  <a16:creationId xmlns:a16="http://schemas.microsoft.com/office/drawing/2014/main" id="{8E3E9698-3F76-4AF5-AAB8-99DABE2FD82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4" name="TextBox 23">
              <a:extLst>
                <a:ext uri="{FF2B5EF4-FFF2-40B4-BE49-F238E27FC236}">
                  <a16:creationId xmlns:a16="http://schemas.microsoft.com/office/drawing/2014/main" id="{2460561B-EB8E-4537-8548-AE5F3C1EA73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14980DAD-4354-483A-B7BC-109FF819BC40}"/>
              </a:ext>
            </a:extLst>
          </p:cNvPr>
          <p:cNvSpPr txBox="1"/>
          <p:nvPr/>
        </p:nvSpPr>
        <p:spPr>
          <a:xfrm>
            <a:off x="3667794" y="3820717"/>
            <a:ext cx="7932327" cy="3416320"/>
          </a:xfrm>
          <a:prstGeom prst="rect">
            <a:avLst/>
          </a:prstGeom>
          <a:noFill/>
        </p:spPr>
        <p:txBody>
          <a:bodyPr wrap="square" rtlCol="1">
            <a:spAutoFit/>
          </a:bodyPr>
          <a:lstStyle/>
          <a:p>
            <a:pPr algn="r"/>
            <a:r>
              <a:rPr lang="fa-IR" sz="2200" b="1" dirty="0">
                <a:cs typeface="2  Nazanin" panose="00000400000000000000" pitchFamily="2" charset="-78"/>
              </a:rPr>
              <a:t>استاندارد</a:t>
            </a:r>
          </a:p>
          <a:p>
            <a:pPr algn="r"/>
            <a:r>
              <a:rPr lang="fa-IR" sz="2200" dirty="0">
                <a:cs typeface="2  Nazanin" panose="00000400000000000000" pitchFamily="2" charset="-78"/>
              </a:rPr>
              <a:t>مواد، مصالح و فرآوردههاي ساختماني بايد از نظر ويژگي، مشخصـات فنـي و روشهـاي آزمايش منطبق با استانداردهاي ملي ايران و معيارهاي پذيرفته در هر بخش از اين مبحـث باشـند. به اين منظور، براي هر دسته از مصالح و فرآورده هاي ساختماني، استانداردهاي ملي مربوط معرفـي ميشود</a:t>
            </a:r>
            <a:endParaRPr lang="en-US" sz="2200" dirty="0">
              <a:cs typeface="2  Nazanin" panose="00000400000000000000" pitchFamily="2" charset="-78"/>
            </a:endParaRPr>
          </a:p>
          <a:p>
            <a:pPr algn="r"/>
            <a:r>
              <a:rPr lang="fa-IR" sz="2200" b="1" dirty="0">
                <a:cs typeface="2  Nazanin" panose="00000400000000000000" pitchFamily="2" charset="-78"/>
              </a:rPr>
              <a:t>ويژگي ها و مشخصات فني</a:t>
            </a:r>
          </a:p>
          <a:p>
            <a:pPr algn="r"/>
            <a:r>
              <a:rPr lang="fa-IR" sz="2200" dirty="0">
                <a:cs typeface="2  Nazanin" panose="00000400000000000000" pitchFamily="2" charset="-78"/>
              </a:rPr>
              <a:t>توليدكنندگان و واردكنندگان مواد، مصالح و فرآورده هاي ساختماني بايد ويژگي ها و مشخصات فني آنها را برابر استانداردهاي مربوط و معيارهاي پذيرفته شـده</a:t>
            </a:r>
          </a:p>
          <a:p>
            <a:pPr algn="r"/>
            <a:endParaRPr lang="fa-IR" sz="2000" dirty="0">
              <a:cs typeface="2  Nazanin" panose="00000400000000000000" pitchFamily="2" charset="-78"/>
            </a:endParaRPr>
          </a:p>
          <a:p>
            <a:pPr algn="r"/>
            <a:endParaRPr lang="fa-IR" sz="2000" dirty="0">
              <a:cs typeface="2  Nazanin" panose="00000400000000000000" pitchFamily="2" charset="-78"/>
            </a:endParaRPr>
          </a:p>
        </p:txBody>
      </p:sp>
      <p:pic>
        <p:nvPicPr>
          <p:cNvPr id="26" name="Graphic 25" descr="Tools with solid fill">
            <a:extLst>
              <a:ext uri="{FF2B5EF4-FFF2-40B4-BE49-F238E27FC236}">
                <a16:creationId xmlns:a16="http://schemas.microsoft.com/office/drawing/2014/main" id="{50249B69-CD0B-419E-82C2-2074696A6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503" y="5068417"/>
            <a:ext cx="914400" cy="914400"/>
          </a:xfrm>
          <a:prstGeom prst="rect">
            <a:avLst/>
          </a:prstGeom>
        </p:spPr>
      </p:pic>
      <p:pic>
        <p:nvPicPr>
          <p:cNvPr id="29" name="Graphic 28" descr="Large paint brush with solid fill">
            <a:extLst>
              <a:ext uri="{FF2B5EF4-FFF2-40B4-BE49-F238E27FC236}">
                <a16:creationId xmlns:a16="http://schemas.microsoft.com/office/drawing/2014/main" id="{15960931-DD29-4A50-B857-4AB6F16F55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7442" y="5117920"/>
            <a:ext cx="914400" cy="914400"/>
          </a:xfrm>
          <a:prstGeom prst="rect">
            <a:avLst/>
          </a:prstGeom>
        </p:spPr>
      </p:pic>
    </p:spTree>
    <p:extLst>
      <p:ext uri="{BB962C8B-B14F-4D97-AF65-F5344CB8AC3E}">
        <p14:creationId xmlns:p14="http://schemas.microsoft.com/office/powerpoint/2010/main" val="35979082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BDE60E5-B424-418D-80A9-C21BD2C30CA5}"/>
              </a:ext>
            </a:extLst>
          </p:cNvPr>
          <p:cNvSpPr txBox="1"/>
          <p:nvPr/>
        </p:nvSpPr>
        <p:spPr>
          <a:xfrm>
            <a:off x="4295553" y="4513291"/>
            <a:ext cx="7134447" cy="2123658"/>
          </a:xfrm>
          <a:prstGeom prst="rect">
            <a:avLst/>
          </a:prstGeom>
          <a:noFill/>
        </p:spPr>
        <p:txBody>
          <a:bodyPr wrap="square" rtlCol="1">
            <a:spAutoFit/>
          </a:bodyPr>
          <a:lstStyle/>
          <a:p>
            <a:pPr algn="r"/>
            <a:r>
              <a:rPr lang="fa-IR" sz="2200" dirty="0">
                <a:cs typeface="2  Nazanin" panose="00000400000000000000" pitchFamily="2" charset="-78"/>
              </a:rPr>
              <a:t>هدف :ارائه مشخصات فني مواد، مصالح و فرآوردههـاي سـاختماني بـه منظـور تأمين ايمني، بهداشت، دوام، حفاظت محيط زيست و صرفه اقتصـادي در سـاختمان اسـت</a:t>
            </a:r>
          </a:p>
          <a:p>
            <a:pPr algn="r"/>
            <a:r>
              <a:rPr lang="fa-IR" sz="2200" dirty="0">
                <a:cs typeface="2  Nazanin" panose="00000400000000000000" pitchFamily="2" charset="-78"/>
              </a:rPr>
              <a:t>دامنه و کاربرد: دامنـه كاربرد آن نيز محدود به انواع مواد، مصالح و فرآوردههاي ساختماني متعارف و نـوين اسـت، كـه در بناي انواع ساختمانها و تأسيسات مربوط، مورد استفاده قرار ميگيرد</a:t>
            </a:r>
          </a:p>
        </p:txBody>
      </p:sp>
      <p:pic>
        <p:nvPicPr>
          <p:cNvPr id="27" name="Picture 26">
            <a:extLst>
              <a:ext uri="{FF2B5EF4-FFF2-40B4-BE49-F238E27FC236}">
                <a16:creationId xmlns:a16="http://schemas.microsoft.com/office/drawing/2014/main" id="{F726B98E-7E4A-42FB-A215-70825A955147}"/>
              </a:ext>
            </a:extLst>
          </p:cNvPr>
          <p:cNvPicPr>
            <a:picLocks noChangeAspect="1"/>
          </p:cNvPicPr>
          <p:nvPr/>
        </p:nvPicPr>
        <p:blipFill rotWithShape="1">
          <a:blip r:embed="rId2">
            <a:extLst>
              <a:ext uri="{28A0092B-C50C-407E-A947-70E740481C1C}">
                <a14:useLocalDpi xmlns:a14="http://schemas.microsoft.com/office/drawing/2010/main" val="0"/>
              </a:ext>
            </a:extLst>
          </a:blip>
          <a:srcRect t="23382"/>
          <a:stretch/>
        </p:blipFill>
        <p:spPr>
          <a:xfrm>
            <a:off x="921490" y="4591866"/>
            <a:ext cx="3140702" cy="1638137"/>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86918"/>
            <a:ext cx="12192000" cy="7550727"/>
            <a:chOff x="0" y="0"/>
            <a:chExt cx="12192000" cy="7550727"/>
          </a:xfrm>
          <a:solidFill>
            <a:srgbClr val="F6E0D2"/>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dirty="0">
                <a:ln w="22225">
                  <a:solidFill>
                    <a:schemeClr val="accent2"/>
                  </a:solidFill>
                  <a:prstDash val="solid"/>
                </a:ln>
                <a:solidFill>
                  <a:schemeClr val="accent2">
                    <a:lumMod val="40000"/>
                    <a:lumOff val="60000"/>
                  </a:schemeClr>
                </a:solidFill>
              </a:endParaRPr>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a:ln w="22225">
                  <a:solidFill>
                    <a:schemeClr val="accent2"/>
                  </a:solidFill>
                  <a:prstDash val="solid"/>
                </a:ln>
                <a:solidFill>
                  <a:schemeClr val="accent2">
                    <a:lumMod val="40000"/>
                    <a:lumOff val="60000"/>
                  </a:schemeClr>
                </a:solidFill>
              </a:endParaRP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n w="22225">
                    <a:solidFill>
                      <a:schemeClr val="accent2"/>
                    </a:solidFill>
                    <a:prstDash val="solid"/>
                  </a:ln>
                  <a:solidFill>
                    <a:schemeClr val="accent2">
                      <a:lumMod val="40000"/>
                      <a:lumOff val="60000"/>
                    </a:schemeClr>
                  </a:solidFill>
                  <a:latin typeface="Tw Cen MT" panose="020B0602020104020603" pitchFamily="34" charset="0"/>
                </a:rPr>
                <a:t>1</a:t>
              </a:r>
              <a:endParaRPr lang="fa-IR" sz="4000" b="1" dirty="0">
                <a:ln w="22225">
                  <a:solidFill>
                    <a:schemeClr val="accent2"/>
                  </a:solidFill>
                  <a:prstDash val="solid"/>
                </a:ln>
                <a:solidFill>
                  <a:schemeClr val="accent2">
                    <a:lumMod val="40000"/>
                    <a:lumOff val="60000"/>
                  </a:schemeClr>
                </a:solidFill>
                <a:latin typeface="Tw Cen MT" panose="020B0602020104020603" pitchFamily="34" charset="0"/>
              </a:endParaRPr>
            </a:p>
          </p:txBody>
        </p:sp>
      </p:grpSp>
      <p:sp>
        <p:nvSpPr>
          <p:cNvPr id="3" name="TextBox 2">
            <a:extLst>
              <a:ext uri="{FF2B5EF4-FFF2-40B4-BE49-F238E27FC236}">
                <a16:creationId xmlns:a16="http://schemas.microsoft.com/office/drawing/2014/main" id="{14980DAD-4354-483A-B7BC-109FF819BC40}"/>
              </a:ext>
            </a:extLst>
          </p:cNvPr>
          <p:cNvSpPr txBox="1"/>
          <p:nvPr/>
        </p:nvSpPr>
        <p:spPr>
          <a:xfrm>
            <a:off x="3912781" y="3820717"/>
            <a:ext cx="7687340" cy="3170099"/>
          </a:xfrm>
          <a:prstGeom prst="rect">
            <a:avLst/>
          </a:prstGeom>
          <a:noFill/>
        </p:spPr>
        <p:txBody>
          <a:bodyPr wrap="square" rtlCol="1">
            <a:spAutoFit/>
          </a:bodyPr>
          <a:lstStyle/>
          <a:p>
            <a:pPr algn="r"/>
            <a:r>
              <a:rPr lang="fa-IR" sz="2000" b="1" dirty="0">
                <a:cs typeface="2  Nazanin" panose="00000400000000000000" pitchFamily="2" charset="-78"/>
              </a:rPr>
              <a:t>استاندارد</a:t>
            </a:r>
          </a:p>
          <a:p>
            <a:pPr algn="r"/>
            <a:r>
              <a:rPr lang="fa-IR" sz="2000" dirty="0">
                <a:cs typeface="2  Nazanin" panose="00000400000000000000" pitchFamily="2" charset="-78"/>
              </a:rPr>
              <a:t>مواد، مصالح و فرآوردههاي ساختماني بايد از نظر ويژگي، مشخصـات فنـي و روشهـاي آزمايش منطبق با استانداردهاي ملي ايران و معيارهاي پذيرفته در هر بخش از اين مبحـث باشـند. به اين منظور، براي هر دسته از مصالح و فرآوردههاي ساختماني، استانداردهاي ملي مربوط معرفـي ميشود</a:t>
            </a:r>
            <a:endParaRPr lang="en-US" sz="2000" dirty="0">
              <a:cs typeface="2  Nazanin" panose="00000400000000000000" pitchFamily="2" charset="-78"/>
            </a:endParaRPr>
          </a:p>
          <a:p>
            <a:pPr algn="r"/>
            <a:r>
              <a:rPr lang="fa-IR" sz="2000" b="1" dirty="0">
                <a:cs typeface="2  Nazanin" panose="00000400000000000000" pitchFamily="2" charset="-78"/>
              </a:rPr>
              <a:t>ويژگيها و مشخصات فني</a:t>
            </a:r>
          </a:p>
          <a:p>
            <a:pPr algn="r"/>
            <a:r>
              <a:rPr lang="fa-IR" sz="2000" dirty="0">
                <a:cs typeface="2  Nazanin" panose="00000400000000000000" pitchFamily="2" charset="-78"/>
              </a:rPr>
              <a:t>توليدكنندگان و واردكنندگان مواد، مصالح و فرآوردههاي ساختماني بايد ويژگيها و مشخصات فني</a:t>
            </a:r>
          </a:p>
          <a:p>
            <a:pPr algn="r"/>
            <a:r>
              <a:rPr lang="fa-IR" sz="2000" dirty="0">
                <a:cs typeface="2  Nazanin" panose="00000400000000000000" pitchFamily="2" charset="-78"/>
              </a:rPr>
              <a:t>آنها را برابر استانداردهاي مربوط و معيارهاي پذيرفته شـده</a:t>
            </a:r>
          </a:p>
          <a:p>
            <a:pPr algn="r"/>
            <a:endParaRPr lang="fa-IR" sz="2000" dirty="0">
              <a:cs typeface="2  Nazanin" panose="00000400000000000000" pitchFamily="2" charset="-78"/>
            </a:endParaRPr>
          </a:p>
          <a:p>
            <a:pPr algn="r"/>
            <a:endParaRPr lang="fa-IR" sz="2000" dirty="0">
              <a:cs typeface="2  Nazanin" panose="00000400000000000000" pitchFamily="2" charset="-78"/>
            </a:endParaRPr>
          </a:p>
        </p:txBody>
      </p:sp>
      <p:pic>
        <p:nvPicPr>
          <p:cNvPr id="26" name="Graphic 25" descr="Tools with solid fill">
            <a:extLst>
              <a:ext uri="{FF2B5EF4-FFF2-40B4-BE49-F238E27FC236}">
                <a16:creationId xmlns:a16="http://schemas.microsoft.com/office/drawing/2014/main" id="{50249B69-CD0B-419E-82C2-2074696A6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503" y="5068417"/>
            <a:ext cx="914400" cy="914400"/>
          </a:xfrm>
          <a:prstGeom prst="rect">
            <a:avLst/>
          </a:prstGeom>
        </p:spPr>
      </p:pic>
      <p:pic>
        <p:nvPicPr>
          <p:cNvPr id="29" name="Graphic 28" descr="Large paint brush with solid fill">
            <a:extLst>
              <a:ext uri="{FF2B5EF4-FFF2-40B4-BE49-F238E27FC236}">
                <a16:creationId xmlns:a16="http://schemas.microsoft.com/office/drawing/2014/main" id="{15960931-DD29-4A50-B857-4AB6F16F55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7442" y="5117920"/>
            <a:ext cx="914400" cy="914400"/>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97916"/>
            <a:ext cx="12192000" cy="7550727"/>
            <a:chOff x="0" y="0"/>
            <a:chExt cx="12192000" cy="7550727"/>
          </a:xfrm>
          <a:solidFill>
            <a:srgbClr val="EBBDAD"/>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4690417"/>
            <a:ext cx="12192000" cy="7550727"/>
            <a:chOff x="0" y="0"/>
            <a:chExt cx="12192000" cy="7550727"/>
          </a:xfrm>
          <a:solidFill>
            <a:srgbClr val="E3AE8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8A4E4E"/>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21" name="Group 20">
            <a:extLst>
              <a:ext uri="{FF2B5EF4-FFF2-40B4-BE49-F238E27FC236}">
                <a16:creationId xmlns:a16="http://schemas.microsoft.com/office/drawing/2014/main" id="{54C7BAA1-7757-4ECC-BC19-B29F1484C5CD}"/>
              </a:ext>
            </a:extLst>
          </p:cNvPr>
          <p:cNvGrpSpPr/>
          <p:nvPr/>
        </p:nvGrpSpPr>
        <p:grpSpPr>
          <a:xfrm>
            <a:off x="-32" y="-6286564"/>
            <a:ext cx="12192000" cy="7550727"/>
            <a:chOff x="0" y="0"/>
            <a:chExt cx="12192000" cy="7550727"/>
          </a:xfrm>
          <a:solidFill>
            <a:srgbClr val="492527"/>
          </a:solidFill>
        </p:grpSpPr>
        <p:sp>
          <p:nvSpPr>
            <p:cNvPr id="22" name="Rectangle 21">
              <a:extLst>
                <a:ext uri="{FF2B5EF4-FFF2-40B4-BE49-F238E27FC236}">
                  <a16:creationId xmlns:a16="http://schemas.microsoft.com/office/drawing/2014/main" id="{A164834A-3E91-4632-A10F-091D20E985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3" name="Rectangle: Top Corners Rounded 22">
              <a:extLst>
                <a:ext uri="{FF2B5EF4-FFF2-40B4-BE49-F238E27FC236}">
                  <a16:creationId xmlns:a16="http://schemas.microsoft.com/office/drawing/2014/main" id="{8E3E9698-3F76-4AF5-AAB8-99DABE2FD82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4" name="TextBox 23">
              <a:extLst>
                <a:ext uri="{FF2B5EF4-FFF2-40B4-BE49-F238E27FC236}">
                  <a16:creationId xmlns:a16="http://schemas.microsoft.com/office/drawing/2014/main" id="{2460561B-EB8E-4537-8548-AE5F3C1EA73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37A5DE5A-7EAD-44C0-94AF-6A21382A6FCD}"/>
              </a:ext>
            </a:extLst>
          </p:cNvPr>
          <p:cNvSpPr txBox="1"/>
          <p:nvPr/>
        </p:nvSpPr>
        <p:spPr>
          <a:xfrm>
            <a:off x="3216853" y="2986442"/>
            <a:ext cx="7824279" cy="3816429"/>
          </a:xfrm>
          <a:prstGeom prst="rect">
            <a:avLst/>
          </a:prstGeom>
          <a:noFill/>
        </p:spPr>
        <p:txBody>
          <a:bodyPr wrap="square" rtlCol="1">
            <a:spAutoFit/>
          </a:bodyPr>
          <a:lstStyle/>
          <a:p>
            <a:pPr algn="r"/>
            <a:r>
              <a:rPr lang="fa-IR" sz="2200" b="1" dirty="0">
                <a:cs typeface="2  Nazanin" panose="00000400000000000000" pitchFamily="2" charset="-78"/>
              </a:rPr>
              <a:t>تایید کیفیت</a:t>
            </a:r>
          </a:p>
          <a:p>
            <a:pPr algn="r"/>
            <a:r>
              <a:rPr lang="fa-IR" sz="2200" dirty="0">
                <a:cs typeface="2  Nazanin" panose="00000400000000000000" pitchFamily="2" charset="-78"/>
              </a:rPr>
              <a:t>کنترل ويژگي هاي مواد، مصالح و فرآورده هاي سـاختماني، تطـابق آن بـا اسـتانداردهاي مربوط، اعلام مشخصات و اظهار نظر مقايسهاي، با سازمان ملي استاندارد يـا آزمايشـگاه هـاي تأييـد صلاحيت شده از سوي آن سازمان از طريق پروانه كاربرد نشان استاندارد است.</a:t>
            </a:r>
          </a:p>
          <a:p>
            <a:pPr algn="r"/>
            <a:endParaRPr lang="fa-IR" sz="2200" dirty="0">
              <a:cs typeface="2  Nazanin" panose="00000400000000000000" pitchFamily="2" charset="-78"/>
            </a:endParaRPr>
          </a:p>
          <a:p>
            <a:pPr algn="r"/>
            <a:r>
              <a:rPr lang="fa-IR" sz="2200" b="1" dirty="0">
                <a:cs typeface="2  Nazanin" panose="00000400000000000000" pitchFamily="2" charset="-78"/>
              </a:rPr>
              <a:t>مطابقت با استاندارد </a:t>
            </a:r>
          </a:p>
          <a:p>
            <a:pPr algn="r"/>
            <a:r>
              <a:rPr lang="fa-IR" sz="2200" dirty="0">
                <a:cs typeface="2  Nazanin" panose="00000400000000000000" pitchFamily="2" charset="-78"/>
              </a:rPr>
              <a:t>طراحان و مجريان با توجه به محدوده كاربرد مصالح مورد نظر بايد در نقشه ها و مدارك فني مربوط ويژگيزها و مشخصات فني مواد، مصالح و فرآورده هاي ساختماني را تعيين كنند. </a:t>
            </a:r>
          </a:p>
          <a:p>
            <a:pPr algn="r"/>
            <a:r>
              <a:rPr lang="fa-IR" sz="2200" dirty="0">
                <a:cs typeface="2  Nazanin" panose="00000400000000000000" pitchFamily="2" charset="-78"/>
              </a:rPr>
              <a:t>استفاده از مواد، مصالح و فرآورده هاي ساختماني كه با مشخصات و معيارهـاي پذيرفتـه شده در اين مبحث تطابق ندارند، مجاز نيست.</a:t>
            </a:r>
          </a:p>
        </p:txBody>
      </p:sp>
      <p:pic>
        <p:nvPicPr>
          <p:cNvPr id="28" name="Picture 27">
            <a:extLst>
              <a:ext uri="{FF2B5EF4-FFF2-40B4-BE49-F238E27FC236}">
                <a16:creationId xmlns:a16="http://schemas.microsoft.com/office/drawing/2014/main" id="{2726F60B-C9DF-45AF-8F8D-A21B99DF6D9F}"/>
              </a:ext>
            </a:extLst>
          </p:cNvPr>
          <p:cNvPicPr>
            <a:picLocks noChangeAspect="1"/>
          </p:cNvPicPr>
          <p:nvPr/>
        </p:nvPicPr>
        <p:blipFill rotWithShape="1">
          <a:blip r:embed="rId7">
            <a:extLst>
              <a:ext uri="{28A0092B-C50C-407E-A947-70E740481C1C}">
                <a14:useLocalDpi xmlns:a14="http://schemas.microsoft.com/office/drawing/2010/main" val="0"/>
              </a:ext>
            </a:extLst>
          </a:blip>
          <a:srcRect l="29241" r="52098" b="67537"/>
          <a:stretch/>
        </p:blipFill>
        <p:spPr>
          <a:xfrm>
            <a:off x="458586" y="3121138"/>
            <a:ext cx="1828245" cy="2198065"/>
          </a:xfrm>
          <a:prstGeom prst="rect">
            <a:avLst/>
          </a:prstGeom>
        </p:spPr>
      </p:pic>
    </p:spTree>
    <p:extLst>
      <p:ext uri="{BB962C8B-B14F-4D97-AF65-F5344CB8AC3E}">
        <p14:creationId xmlns:p14="http://schemas.microsoft.com/office/powerpoint/2010/main" val="41504300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BDE60E5-B424-418D-80A9-C21BD2C30CA5}"/>
              </a:ext>
            </a:extLst>
          </p:cNvPr>
          <p:cNvSpPr txBox="1"/>
          <p:nvPr/>
        </p:nvSpPr>
        <p:spPr>
          <a:xfrm>
            <a:off x="4295553" y="4513291"/>
            <a:ext cx="7134447" cy="2123658"/>
          </a:xfrm>
          <a:prstGeom prst="rect">
            <a:avLst/>
          </a:prstGeom>
          <a:noFill/>
        </p:spPr>
        <p:txBody>
          <a:bodyPr wrap="square" rtlCol="1">
            <a:spAutoFit/>
          </a:bodyPr>
          <a:lstStyle/>
          <a:p>
            <a:pPr algn="r"/>
            <a:r>
              <a:rPr lang="fa-IR" sz="2200" dirty="0">
                <a:cs typeface="2  Nazanin" panose="00000400000000000000" pitchFamily="2" charset="-78"/>
              </a:rPr>
              <a:t>هدف :ارائه مشخصات فني مواد، مصالح و فرآوردههـاي سـاختماني بـه منظـور تأمين ايمني، بهداشت، دوام، حفاظت محيط زيست و صرفه اقتصـادي در سـاختمان اسـت</a:t>
            </a:r>
          </a:p>
          <a:p>
            <a:pPr algn="r"/>
            <a:r>
              <a:rPr lang="fa-IR" sz="2200" dirty="0">
                <a:cs typeface="2  Nazanin" panose="00000400000000000000" pitchFamily="2" charset="-78"/>
              </a:rPr>
              <a:t>دامنه و کاربرد: دامنـه كاربرد آن نيز محدود به انواع مواد، مصالح و فرآوردههاي ساختماني متعارف و نـوين اسـت، كـه در بناي انواع ساختمانها و تأسيسات مربوط، مورد استفاده قرار ميگيرد</a:t>
            </a:r>
          </a:p>
        </p:txBody>
      </p:sp>
      <p:pic>
        <p:nvPicPr>
          <p:cNvPr id="27" name="Picture 26">
            <a:extLst>
              <a:ext uri="{FF2B5EF4-FFF2-40B4-BE49-F238E27FC236}">
                <a16:creationId xmlns:a16="http://schemas.microsoft.com/office/drawing/2014/main" id="{F726B98E-7E4A-42FB-A215-70825A955147}"/>
              </a:ext>
            </a:extLst>
          </p:cNvPr>
          <p:cNvPicPr>
            <a:picLocks noChangeAspect="1"/>
          </p:cNvPicPr>
          <p:nvPr/>
        </p:nvPicPr>
        <p:blipFill rotWithShape="1">
          <a:blip r:embed="rId2">
            <a:extLst>
              <a:ext uri="{28A0092B-C50C-407E-A947-70E740481C1C}">
                <a14:useLocalDpi xmlns:a14="http://schemas.microsoft.com/office/drawing/2010/main" val="0"/>
              </a:ext>
            </a:extLst>
          </a:blip>
          <a:srcRect t="23382"/>
          <a:stretch/>
        </p:blipFill>
        <p:spPr>
          <a:xfrm>
            <a:off x="921490" y="4591866"/>
            <a:ext cx="3140702" cy="1638137"/>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86918"/>
            <a:ext cx="12192000" cy="7550727"/>
            <a:chOff x="0" y="0"/>
            <a:chExt cx="12192000" cy="7550727"/>
          </a:xfrm>
          <a:solidFill>
            <a:srgbClr val="F6E0D2"/>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dirty="0">
                <a:ln w="22225">
                  <a:solidFill>
                    <a:schemeClr val="accent2"/>
                  </a:solidFill>
                  <a:prstDash val="solid"/>
                </a:ln>
                <a:solidFill>
                  <a:schemeClr val="accent2">
                    <a:lumMod val="40000"/>
                    <a:lumOff val="60000"/>
                  </a:schemeClr>
                </a:solidFill>
              </a:endParaRPr>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a:ln w="22225">
                  <a:solidFill>
                    <a:schemeClr val="accent2"/>
                  </a:solidFill>
                  <a:prstDash val="solid"/>
                </a:ln>
                <a:solidFill>
                  <a:schemeClr val="accent2">
                    <a:lumMod val="40000"/>
                    <a:lumOff val="60000"/>
                  </a:schemeClr>
                </a:solidFill>
              </a:endParaRP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n w="22225">
                    <a:solidFill>
                      <a:schemeClr val="accent2"/>
                    </a:solidFill>
                    <a:prstDash val="solid"/>
                  </a:ln>
                  <a:solidFill>
                    <a:schemeClr val="accent2">
                      <a:lumMod val="40000"/>
                      <a:lumOff val="60000"/>
                    </a:schemeClr>
                  </a:solidFill>
                  <a:latin typeface="Tw Cen MT" panose="020B0602020104020603" pitchFamily="34" charset="0"/>
                </a:rPr>
                <a:t>1</a:t>
              </a:r>
              <a:endParaRPr lang="fa-IR" sz="4000" b="1" dirty="0">
                <a:ln w="22225">
                  <a:solidFill>
                    <a:schemeClr val="accent2"/>
                  </a:solidFill>
                  <a:prstDash val="solid"/>
                </a:ln>
                <a:solidFill>
                  <a:schemeClr val="accent2">
                    <a:lumMod val="40000"/>
                    <a:lumOff val="60000"/>
                  </a:schemeClr>
                </a:solidFill>
                <a:latin typeface="Tw Cen MT" panose="020B0602020104020603" pitchFamily="34" charset="0"/>
              </a:endParaRPr>
            </a:p>
          </p:txBody>
        </p:sp>
      </p:grpSp>
      <p:sp>
        <p:nvSpPr>
          <p:cNvPr id="3" name="TextBox 2">
            <a:extLst>
              <a:ext uri="{FF2B5EF4-FFF2-40B4-BE49-F238E27FC236}">
                <a16:creationId xmlns:a16="http://schemas.microsoft.com/office/drawing/2014/main" id="{14980DAD-4354-483A-B7BC-109FF819BC40}"/>
              </a:ext>
            </a:extLst>
          </p:cNvPr>
          <p:cNvSpPr txBox="1"/>
          <p:nvPr/>
        </p:nvSpPr>
        <p:spPr>
          <a:xfrm>
            <a:off x="3912781" y="3820717"/>
            <a:ext cx="7687340" cy="3170099"/>
          </a:xfrm>
          <a:prstGeom prst="rect">
            <a:avLst/>
          </a:prstGeom>
          <a:noFill/>
        </p:spPr>
        <p:txBody>
          <a:bodyPr wrap="square" rtlCol="1">
            <a:spAutoFit/>
          </a:bodyPr>
          <a:lstStyle/>
          <a:p>
            <a:pPr algn="r"/>
            <a:r>
              <a:rPr lang="fa-IR" sz="2000" b="1" dirty="0">
                <a:cs typeface="2  Nazanin" panose="00000400000000000000" pitchFamily="2" charset="-78"/>
              </a:rPr>
              <a:t>استاندارد</a:t>
            </a:r>
          </a:p>
          <a:p>
            <a:pPr algn="r"/>
            <a:r>
              <a:rPr lang="fa-IR" sz="2000" dirty="0">
                <a:cs typeface="2  Nazanin" panose="00000400000000000000" pitchFamily="2" charset="-78"/>
              </a:rPr>
              <a:t>مواد، مصالح و فرآوردههاي ساختماني بايد از نظر ويژگي، مشخصـات فنـي و روشهـاي آزمايش منطبق با استانداردهاي ملي ايران و معيارهاي پذيرفته در هر بخش از اين مبحـث باشـند. به اين منظور، براي هر دسته از مصالح و فرآوردههاي ساختماني، استانداردهاي ملي مربوط معرفـي ميشود</a:t>
            </a:r>
            <a:endParaRPr lang="en-US" sz="2000" dirty="0">
              <a:cs typeface="2  Nazanin" panose="00000400000000000000" pitchFamily="2" charset="-78"/>
            </a:endParaRPr>
          </a:p>
          <a:p>
            <a:pPr algn="r"/>
            <a:r>
              <a:rPr lang="fa-IR" sz="2000" b="1" dirty="0">
                <a:cs typeface="2  Nazanin" panose="00000400000000000000" pitchFamily="2" charset="-78"/>
              </a:rPr>
              <a:t>ويژگيها و مشخصات فني</a:t>
            </a:r>
          </a:p>
          <a:p>
            <a:pPr algn="r"/>
            <a:r>
              <a:rPr lang="fa-IR" sz="2000" dirty="0">
                <a:cs typeface="2  Nazanin" panose="00000400000000000000" pitchFamily="2" charset="-78"/>
              </a:rPr>
              <a:t>توليدكنندگان و واردكنندگان مواد، مصالح و فرآوردههاي ساختماني بايد ويژگيها و مشخصات فني</a:t>
            </a:r>
          </a:p>
          <a:p>
            <a:pPr algn="r"/>
            <a:r>
              <a:rPr lang="fa-IR" sz="2000" dirty="0">
                <a:cs typeface="2  Nazanin" panose="00000400000000000000" pitchFamily="2" charset="-78"/>
              </a:rPr>
              <a:t>آنها را برابر استانداردهاي مربوط و معيارهاي پذيرفته شـده</a:t>
            </a:r>
          </a:p>
          <a:p>
            <a:pPr algn="r"/>
            <a:endParaRPr lang="fa-IR" sz="2000" dirty="0">
              <a:cs typeface="2  Nazanin" panose="00000400000000000000" pitchFamily="2" charset="-78"/>
            </a:endParaRPr>
          </a:p>
          <a:p>
            <a:pPr algn="r"/>
            <a:endParaRPr lang="fa-IR" sz="2000" dirty="0">
              <a:cs typeface="2  Nazanin" panose="00000400000000000000" pitchFamily="2" charset="-78"/>
            </a:endParaRPr>
          </a:p>
        </p:txBody>
      </p:sp>
      <p:pic>
        <p:nvPicPr>
          <p:cNvPr id="26" name="Graphic 25" descr="Tools with solid fill">
            <a:extLst>
              <a:ext uri="{FF2B5EF4-FFF2-40B4-BE49-F238E27FC236}">
                <a16:creationId xmlns:a16="http://schemas.microsoft.com/office/drawing/2014/main" id="{50249B69-CD0B-419E-82C2-2074696A6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503" y="5068417"/>
            <a:ext cx="914400" cy="914400"/>
          </a:xfrm>
          <a:prstGeom prst="rect">
            <a:avLst/>
          </a:prstGeom>
        </p:spPr>
      </p:pic>
      <p:pic>
        <p:nvPicPr>
          <p:cNvPr id="29" name="Graphic 28" descr="Large paint brush with solid fill">
            <a:extLst>
              <a:ext uri="{FF2B5EF4-FFF2-40B4-BE49-F238E27FC236}">
                <a16:creationId xmlns:a16="http://schemas.microsoft.com/office/drawing/2014/main" id="{15960931-DD29-4A50-B857-4AB6F16F55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7442" y="5117920"/>
            <a:ext cx="914400" cy="914400"/>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97916"/>
            <a:ext cx="12192000" cy="7550727"/>
            <a:chOff x="0" y="0"/>
            <a:chExt cx="12192000" cy="7550727"/>
          </a:xfrm>
          <a:solidFill>
            <a:srgbClr val="EBBDAD"/>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37A5DE5A-7EAD-44C0-94AF-6A21382A6FCD}"/>
              </a:ext>
            </a:extLst>
          </p:cNvPr>
          <p:cNvSpPr txBox="1"/>
          <p:nvPr/>
        </p:nvSpPr>
        <p:spPr>
          <a:xfrm>
            <a:off x="3661698" y="2986442"/>
            <a:ext cx="7379434" cy="3170099"/>
          </a:xfrm>
          <a:prstGeom prst="rect">
            <a:avLst/>
          </a:prstGeom>
          <a:noFill/>
        </p:spPr>
        <p:txBody>
          <a:bodyPr wrap="square" rtlCol="1">
            <a:spAutoFit/>
          </a:bodyPr>
          <a:lstStyle/>
          <a:p>
            <a:pPr algn="r"/>
            <a:r>
              <a:rPr lang="fa-IR" sz="2000" b="1" dirty="0">
                <a:cs typeface="2  Nazanin" panose="00000400000000000000" pitchFamily="2" charset="-78"/>
              </a:rPr>
              <a:t>تاییید کیفیت</a:t>
            </a:r>
          </a:p>
          <a:p>
            <a:pPr algn="r"/>
            <a:r>
              <a:rPr lang="fa-IR" sz="2000" dirty="0">
                <a:cs typeface="2  Nazanin" panose="00000400000000000000" pitchFamily="2" charset="-78"/>
              </a:rPr>
              <a:t>کنترل ويژگيهاي مواد، مصالح و فرآوردههاي سـاختماني، تطـابق آن بـا اسـتانداردهاي مربوط، اعلام مشخصات و اظهار نظر مقايسهاي، با سازمان ملي استاندارد يـا آزمايشـگاههـاي تأييـد صلاحيت شده از سوي آن سازمان از طريق پروانه كاربرد نشان استاندارد است.</a:t>
            </a:r>
          </a:p>
          <a:p>
            <a:pPr algn="r"/>
            <a:endParaRPr lang="fa-IR" sz="2000" dirty="0">
              <a:cs typeface="2  Nazanin" panose="00000400000000000000" pitchFamily="2" charset="-78"/>
            </a:endParaRPr>
          </a:p>
          <a:p>
            <a:pPr algn="r"/>
            <a:r>
              <a:rPr lang="fa-IR" sz="2000" b="1" dirty="0">
                <a:cs typeface="2  Nazanin" panose="00000400000000000000" pitchFamily="2" charset="-78"/>
              </a:rPr>
              <a:t>مطابقت با استاندارد </a:t>
            </a:r>
          </a:p>
          <a:p>
            <a:pPr algn="r"/>
            <a:r>
              <a:rPr lang="fa-IR" sz="2000" dirty="0">
                <a:cs typeface="2  Nazanin" panose="00000400000000000000" pitchFamily="2" charset="-78"/>
              </a:rPr>
              <a:t>طراحان و مجريان با توجه به محدوده كاربرد مصالح مورد نظر بايد در نقشهها و مدارك فني مربوط ويژگيها و مشخصات فني مواد، مصالح و فرآوردههاي ساختماني را تعيين كنند. </a:t>
            </a:r>
          </a:p>
          <a:p>
            <a:pPr algn="r"/>
            <a:r>
              <a:rPr lang="fa-IR" sz="2000" dirty="0">
                <a:cs typeface="2  Nazanin" panose="00000400000000000000" pitchFamily="2" charset="-78"/>
              </a:rPr>
              <a:t>استفاده از مواد، مصالح و فرآوردههاي ساختماني كه با مشخصات و معيارهـاي پذيرفتـه شده در اين مبحث تطابق ندارند، مجاز نيست.</a:t>
            </a:r>
          </a:p>
        </p:txBody>
      </p:sp>
      <p:pic>
        <p:nvPicPr>
          <p:cNvPr id="28" name="Picture 27">
            <a:extLst>
              <a:ext uri="{FF2B5EF4-FFF2-40B4-BE49-F238E27FC236}">
                <a16:creationId xmlns:a16="http://schemas.microsoft.com/office/drawing/2014/main" id="{2726F60B-C9DF-45AF-8F8D-A21B99DF6D9F}"/>
              </a:ext>
            </a:extLst>
          </p:cNvPr>
          <p:cNvPicPr>
            <a:picLocks noChangeAspect="1"/>
          </p:cNvPicPr>
          <p:nvPr/>
        </p:nvPicPr>
        <p:blipFill rotWithShape="1">
          <a:blip r:embed="rId7">
            <a:extLst>
              <a:ext uri="{28A0092B-C50C-407E-A947-70E740481C1C}">
                <a14:useLocalDpi xmlns:a14="http://schemas.microsoft.com/office/drawing/2010/main" val="0"/>
              </a:ext>
            </a:extLst>
          </a:blip>
          <a:srcRect l="29241" r="52098" b="67537"/>
          <a:stretch/>
        </p:blipFill>
        <p:spPr>
          <a:xfrm>
            <a:off x="458586" y="3121138"/>
            <a:ext cx="1828245" cy="2198065"/>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108915"/>
            <a:ext cx="12192000" cy="7550727"/>
            <a:chOff x="0" y="0"/>
            <a:chExt cx="12192000" cy="7550727"/>
          </a:xfrm>
          <a:solidFill>
            <a:srgbClr val="E3AE8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8A4E4E"/>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21" name="Group 20">
            <a:extLst>
              <a:ext uri="{FF2B5EF4-FFF2-40B4-BE49-F238E27FC236}">
                <a16:creationId xmlns:a16="http://schemas.microsoft.com/office/drawing/2014/main" id="{54C7BAA1-7757-4ECC-BC19-B29F1484C5CD}"/>
              </a:ext>
            </a:extLst>
          </p:cNvPr>
          <p:cNvGrpSpPr/>
          <p:nvPr/>
        </p:nvGrpSpPr>
        <p:grpSpPr>
          <a:xfrm>
            <a:off x="-32" y="-6286564"/>
            <a:ext cx="12192000" cy="7550727"/>
            <a:chOff x="0" y="0"/>
            <a:chExt cx="12192000" cy="7550727"/>
          </a:xfrm>
          <a:solidFill>
            <a:srgbClr val="492527"/>
          </a:solidFill>
        </p:grpSpPr>
        <p:sp>
          <p:nvSpPr>
            <p:cNvPr id="22" name="Rectangle 21">
              <a:extLst>
                <a:ext uri="{FF2B5EF4-FFF2-40B4-BE49-F238E27FC236}">
                  <a16:creationId xmlns:a16="http://schemas.microsoft.com/office/drawing/2014/main" id="{A164834A-3E91-4632-A10F-091D20E985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3" name="Rectangle: Top Corners Rounded 22">
              <a:extLst>
                <a:ext uri="{FF2B5EF4-FFF2-40B4-BE49-F238E27FC236}">
                  <a16:creationId xmlns:a16="http://schemas.microsoft.com/office/drawing/2014/main" id="{8E3E9698-3F76-4AF5-AAB8-99DABE2FD82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4" name="TextBox 23">
              <a:extLst>
                <a:ext uri="{FF2B5EF4-FFF2-40B4-BE49-F238E27FC236}">
                  <a16:creationId xmlns:a16="http://schemas.microsoft.com/office/drawing/2014/main" id="{2460561B-EB8E-4537-8548-AE5F3C1EA73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
        <p:nvSpPr>
          <p:cNvPr id="20" name="TextBox 19">
            <a:extLst>
              <a:ext uri="{FF2B5EF4-FFF2-40B4-BE49-F238E27FC236}">
                <a16:creationId xmlns:a16="http://schemas.microsoft.com/office/drawing/2014/main" id="{801FF008-0053-4569-B730-9F26420078BF}"/>
              </a:ext>
            </a:extLst>
          </p:cNvPr>
          <p:cNvSpPr txBox="1"/>
          <p:nvPr/>
        </p:nvSpPr>
        <p:spPr>
          <a:xfrm>
            <a:off x="5113867" y="1922188"/>
            <a:ext cx="6894332" cy="2862322"/>
          </a:xfrm>
          <a:prstGeom prst="rect">
            <a:avLst/>
          </a:prstGeom>
          <a:noFill/>
        </p:spPr>
        <p:txBody>
          <a:bodyPr wrap="square" rtlCol="1">
            <a:spAutoFit/>
          </a:bodyPr>
          <a:lstStyle/>
          <a:p>
            <a:pPr algn="r"/>
            <a:r>
              <a:rPr lang="fa-IR" sz="2000" b="1" dirty="0">
                <a:cs typeface="2  Nazanin" panose="00000400000000000000" pitchFamily="2" charset="-78"/>
              </a:rPr>
              <a:t> </a:t>
            </a:r>
            <a:endParaRPr lang="fa-IR" sz="2400" dirty="0">
              <a:cs typeface="2  Nazanin" panose="00000400000000000000" pitchFamily="2" charset="-78"/>
            </a:endParaRPr>
          </a:p>
          <a:p>
            <a:pPr algn="r"/>
            <a:r>
              <a:rPr lang="fa-IR" sz="2400" b="1" dirty="0">
                <a:cs typeface="2  Nazanin" panose="00000400000000000000" pitchFamily="2" charset="-78"/>
              </a:rPr>
              <a:t>مصالح و فرآورده هاي نوین</a:t>
            </a:r>
            <a:endParaRPr lang="en-US" sz="2400" b="1" dirty="0">
              <a:cs typeface="2  Nazanin" panose="00000400000000000000" pitchFamily="2" charset="-78"/>
            </a:endParaRPr>
          </a:p>
          <a:p>
            <a:pPr algn="r"/>
            <a:endParaRPr lang="fa-IR" sz="2000" b="1" dirty="0">
              <a:cs typeface="2  Nazanin" panose="00000400000000000000" pitchFamily="2" charset="-78"/>
            </a:endParaRPr>
          </a:p>
          <a:p>
            <a:pPr algn="r"/>
            <a:r>
              <a:rPr lang="fa-IR" sz="2400" dirty="0">
                <a:cs typeface="2  Nazanin" panose="00000400000000000000" pitchFamily="2" charset="-78"/>
              </a:rPr>
              <a:t>مصالح و فرآورده هاي ساختماني نوين، در صورتي قابل استفاده هستند كه مشخصات و دامنه كاربرد آنها به تأييد سازمان ملي استاندارد و يـا مركز تحقيقات راه، مسكن و شهرسازي رسيده باشد و براي آنها گواهينامه فني معتبـر اخـذ شـده باشد. </a:t>
            </a:r>
          </a:p>
          <a:p>
            <a:pPr algn="r"/>
            <a:r>
              <a:rPr lang="fa-IR" sz="2000" b="1" dirty="0">
                <a:cs typeface="2  Nazanin" panose="00000400000000000000" pitchFamily="2" charset="-78"/>
              </a:rPr>
              <a:t> </a:t>
            </a:r>
            <a:endParaRPr lang="fa-IR" sz="2000" dirty="0">
              <a:cs typeface="2  Nazanin" panose="00000400000000000000" pitchFamily="2" charset="-78"/>
            </a:endParaRPr>
          </a:p>
        </p:txBody>
      </p:sp>
      <p:pic>
        <p:nvPicPr>
          <p:cNvPr id="31" name="Picture 30">
            <a:extLst>
              <a:ext uri="{FF2B5EF4-FFF2-40B4-BE49-F238E27FC236}">
                <a16:creationId xmlns:a16="http://schemas.microsoft.com/office/drawing/2014/main" id="{DAA464A1-0A24-4E85-8061-17308115FA93}"/>
              </a:ext>
            </a:extLst>
          </p:cNvPr>
          <p:cNvPicPr>
            <a:picLocks noChangeAspect="1"/>
          </p:cNvPicPr>
          <p:nvPr/>
        </p:nvPicPr>
        <p:blipFill rotWithShape="1">
          <a:blip r:embed="rId8">
            <a:extLst>
              <a:ext uri="{28A0092B-C50C-407E-A947-70E740481C1C}">
                <a14:useLocalDpi xmlns:a14="http://schemas.microsoft.com/office/drawing/2010/main" val="0"/>
              </a:ext>
            </a:extLst>
          </a:blip>
          <a:srcRect l="9603" r="9256"/>
          <a:stretch/>
        </p:blipFill>
        <p:spPr>
          <a:xfrm>
            <a:off x="210129" y="1819136"/>
            <a:ext cx="4784265" cy="3310327"/>
          </a:xfrm>
          <a:prstGeom prst="rect">
            <a:avLst/>
          </a:prstGeom>
        </p:spPr>
      </p:pic>
      <p:sp>
        <p:nvSpPr>
          <p:cNvPr id="32" name="TextBox 31">
            <a:extLst>
              <a:ext uri="{FF2B5EF4-FFF2-40B4-BE49-F238E27FC236}">
                <a16:creationId xmlns:a16="http://schemas.microsoft.com/office/drawing/2014/main" id="{83D6EC26-DA12-4286-9840-48F87A9707BD}"/>
              </a:ext>
            </a:extLst>
          </p:cNvPr>
          <p:cNvSpPr txBox="1"/>
          <p:nvPr/>
        </p:nvSpPr>
        <p:spPr>
          <a:xfrm>
            <a:off x="-32" y="4516597"/>
            <a:ext cx="12072182" cy="2185214"/>
          </a:xfrm>
          <a:prstGeom prst="rect">
            <a:avLst/>
          </a:prstGeom>
          <a:noFill/>
        </p:spPr>
        <p:txBody>
          <a:bodyPr wrap="square" rtlCol="1">
            <a:spAutoFit/>
          </a:bodyPr>
          <a:lstStyle/>
          <a:p>
            <a:pPr algn="r"/>
            <a:r>
              <a:rPr lang="fa-IR" sz="2400" b="1" dirty="0"/>
              <a:t>انبار کردن</a:t>
            </a:r>
            <a:endParaRPr lang="en-US" sz="2400" b="1" dirty="0"/>
          </a:p>
          <a:p>
            <a:pPr algn="r"/>
            <a:endParaRPr lang="fa-IR" sz="2400" b="1" dirty="0"/>
          </a:p>
          <a:p>
            <a:pPr algn="r"/>
            <a:r>
              <a:rPr lang="fa-IR" sz="2200" dirty="0"/>
              <a:t>مواد، مصالح و فرآورده هاي ساختماني بايد به گونه اي انبار شود كه دسترسي بـه آنهـا آسـان باشـد. </a:t>
            </a:r>
          </a:p>
          <a:p>
            <a:pPr algn="r"/>
            <a:r>
              <a:rPr lang="fa-IR" sz="2200" dirty="0"/>
              <a:t>مصالحي كه زودتر وارد شده است زودتر خارج و مصرف شود و با مصالح ديگر مخلوط نشود. محيط نگهداري آنها نيز نبايد سبب از ميان رفتن ويژگي ها و مشخصات فني محصـول يـا بسـته بنـدي آن مانند شرايط قرارگيري در معرض تابش آفتاب و رطوبت شود.</a:t>
            </a:r>
          </a:p>
          <a:p>
            <a:pPr algn="r"/>
            <a:r>
              <a:rPr lang="fa-IR" sz="2200" dirty="0"/>
              <a:t>با توجه به نوع مصالح بايد تمهيـدات لازم جهت اطفا حريق در احتمال بروز آتش سوزي پيش بيني و فراهم گردد. </a:t>
            </a:r>
          </a:p>
        </p:txBody>
      </p:sp>
    </p:spTree>
    <p:extLst>
      <p:ext uri="{BB962C8B-B14F-4D97-AF65-F5344CB8AC3E}">
        <p14:creationId xmlns:p14="http://schemas.microsoft.com/office/powerpoint/2010/main" val="422315793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BDE60E5-B424-418D-80A9-C21BD2C30CA5}"/>
              </a:ext>
            </a:extLst>
          </p:cNvPr>
          <p:cNvSpPr txBox="1"/>
          <p:nvPr/>
        </p:nvSpPr>
        <p:spPr>
          <a:xfrm>
            <a:off x="4295553" y="4513291"/>
            <a:ext cx="7134447" cy="2123658"/>
          </a:xfrm>
          <a:prstGeom prst="rect">
            <a:avLst/>
          </a:prstGeom>
          <a:noFill/>
        </p:spPr>
        <p:txBody>
          <a:bodyPr wrap="square" rtlCol="1">
            <a:spAutoFit/>
          </a:bodyPr>
          <a:lstStyle/>
          <a:p>
            <a:pPr algn="r"/>
            <a:r>
              <a:rPr lang="fa-IR" sz="2200" dirty="0">
                <a:cs typeface="2  Nazanin" panose="00000400000000000000" pitchFamily="2" charset="-78"/>
              </a:rPr>
              <a:t>هدف :ارائه مشخصات فني مواد، مصالح و فرآوردههـاي سـاختماني بـه منظـور تأمين ايمني، بهداشت، دوام، حفاظت محيط زيست و صرفه اقتصـادي در سـاختمان اسـت</a:t>
            </a:r>
          </a:p>
          <a:p>
            <a:pPr algn="r"/>
            <a:r>
              <a:rPr lang="fa-IR" sz="2200" dirty="0">
                <a:cs typeface="2  Nazanin" panose="00000400000000000000" pitchFamily="2" charset="-78"/>
              </a:rPr>
              <a:t>دامنه و کاربرد: دامنـه كاربرد آن نيز محدود به انواع مواد، مصالح و فرآوردههاي ساختماني متعارف و نـوين اسـت، كـه در بناي انواع ساختمانها و تأسيسات مربوط، مورد استفاده قرار ميگيرد</a:t>
            </a:r>
          </a:p>
        </p:txBody>
      </p:sp>
      <p:pic>
        <p:nvPicPr>
          <p:cNvPr id="27" name="Picture 26">
            <a:extLst>
              <a:ext uri="{FF2B5EF4-FFF2-40B4-BE49-F238E27FC236}">
                <a16:creationId xmlns:a16="http://schemas.microsoft.com/office/drawing/2014/main" id="{F726B98E-7E4A-42FB-A215-70825A955147}"/>
              </a:ext>
            </a:extLst>
          </p:cNvPr>
          <p:cNvPicPr>
            <a:picLocks noChangeAspect="1"/>
          </p:cNvPicPr>
          <p:nvPr/>
        </p:nvPicPr>
        <p:blipFill rotWithShape="1">
          <a:blip r:embed="rId2">
            <a:extLst>
              <a:ext uri="{28A0092B-C50C-407E-A947-70E740481C1C}">
                <a14:useLocalDpi xmlns:a14="http://schemas.microsoft.com/office/drawing/2010/main" val="0"/>
              </a:ext>
            </a:extLst>
          </a:blip>
          <a:srcRect t="23382"/>
          <a:stretch/>
        </p:blipFill>
        <p:spPr>
          <a:xfrm>
            <a:off x="921490" y="4591866"/>
            <a:ext cx="3140702" cy="1638137"/>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86918"/>
            <a:ext cx="12192000" cy="7550727"/>
            <a:chOff x="0" y="0"/>
            <a:chExt cx="12192000" cy="7550727"/>
          </a:xfrm>
          <a:solidFill>
            <a:srgbClr val="F6E0D2"/>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dirty="0">
                <a:ln w="22225">
                  <a:solidFill>
                    <a:schemeClr val="accent2"/>
                  </a:solidFill>
                  <a:prstDash val="solid"/>
                </a:ln>
                <a:solidFill>
                  <a:schemeClr val="accent2">
                    <a:lumMod val="40000"/>
                    <a:lumOff val="60000"/>
                  </a:schemeClr>
                </a:solidFill>
              </a:endParaRPr>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a:ln w="22225">
                  <a:solidFill>
                    <a:schemeClr val="accent2"/>
                  </a:solidFill>
                  <a:prstDash val="solid"/>
                </a:ln>
                <a:solidFill>
                  <a:schemeClr val="accent2">
                    <a:lumMod val="40000"/>
                    <a:lumOff val="60000"/>
                  </a:schemeClr>
                </a:solidFill>
              </a:endParaRP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n w="22225">
                    <a:solidFill>
                      <a:schemeClr val="accent2"/>
                    </a:solidFill>
                    <a:prstDash val="solid"/>
                  </a:ln>
                  <a:solidFill>
                    <a:schemeClr val="accent2">
                      <a:lumMod val="40000"/>
                      <a:lumOff val="60000"/>
                    </a:schemeClr>
                  </a:solidFill>
                  <a:latin typeface="Tw Cen MT" panose="020B0602020104020603" pitchFamily="34" charset="0"/>
                </a:rPr>
                <a:t>1</a:t>
              </a:r>
              <a:endParaRPr lang="fa-IR" sz="4000" b="1" dirty="0">
                <a:ln w="22225">
                  <a:solidFill>
                    <a:schemeClr val="accent2"/>
                  </a:solidFill>
                  <a:prstDash val="solid"/>
                </a:ln>
                <a:solidFill>
                  <a:schemeClr val="accent2">
                    <a:lumMod val="40000"/>
                    <a:lumOff val="60000"/>
                  </a:schemeClr>
                </a:solidFill>
                <a:latin typeface="Tw Cen MT" panose="020B0602020104020603" pitchFamily="34" charset="0"/>
              </a:endParaRPr>
            </a:p>
          </p:txBody>
        </p:sp>
      </p:grpSp>
      <p:sp>
        <p:nvSpPr>
          <p:cNvPr id="3" name="TextBox 2">
            <a:extLst>
              <a:ext uri="{FF2B5EF4-FFF2-40B4-BE49-F238E27FC236}">
                <a16:creationId xmlns:a16="http://schemas.microsoft.com/office/drawing/2014/main" id="{14980DAD-4354-483A-B7BC-109FF819BC40}"/>
              </a:ext>
            </a:extLst>
          </p:cNvPr>
          <p:cNvSpPr txBox="1"/>
          <p:nvPr/>
        </p:nvSpPr>
        <p:spPr>
          <a:xfrm>
            <a:off x="3912781" y="3820717"/>
            <a:ext cx="7687340" cy="3170099"/>
          </a:xfrm>
          <a:prstGeom prst="rect">
            <a:avLst/>
          </a:prstGeom>
          <a:noFill/>
        </p:spPr>
        <p:txBody>
          <a:bodyPr wrap="square" rtlCol="1">
            <a:spAutoFit/>
          </a:bodyPr>
          <a:lstStyle/>
          <a:p>
            <a:pPr algn="r"/>
            <a:r>
              <a:rPr lang="fa-IR" sz="2000" b="1" dirty="0">
                <a:cs typeface="2  Nazanin" panose="00000400000000000000" pitchFamily="2" charset="-78"/>
              </a:rPr>
              <a:t>استاندارد</a:t>
            </a:r>
          </a:p>
          <a:p>
            <a:pPr algn="r"/>
            <a:r>
              <a:rPr lang="fa-IR" sz="2000" dirty="0">
                <a:cs typeface="2  Nazanin" panose="00000400000000000000" pitchFamily="2" charset="-78"/>
              </a:rPr>
              <a:t>مواد، مصالح و فرآوردههاي ساختماني بايد از نظر ويژگي، مشخصـات فنـي و روشهـاي آزمايش منطبق با استانداردهاي ملي ايران و معيارهاي پذيرفته در هر بخش از اين مبحـث باشـند. به اين منظور، براي هر دسته از مصالح و فرآوردههاي ساختماني، استانداردهاي ملي مربوط معرفـي ميشود</a:t>
            </a:r>
            <a:endParaRPr lang="en-US" sz="2000" dirty="0">
              <a:cs typeface="2  Nazanin" panose="00000400000000000000" pitchFamily="2" charset="-78"/>
            </a:endParaRPr>
          </a:p>
          <a:p>
            <a:pPr algn="r"/>
            <a:r>
              <a:rPr lang="fa-IR" sz="2000" b="1" dirty="0">
                <a:cs typeface="2  Nazanin" panose="00000400000000000000" pitchFamily="2" charset="-78"/>
              </a:rPr>
              <a:t>ويژگيها و مشخصات فني</a:t>
            </a:r>
          </a:p>
          <a:p>
            <a:pPr algn="r"/>
            <a:r>
              <a:rPr lang="fa-IR" sz="2000" dirty="0">
                <a:cs typeface="2  Nazanin" panose="00000400000000000000" pitchFamily="2" charset="-78"/>
              </a:rPr>
              <a:t>توليدكنندگان و واردكنندگان مواد، مصالح و فرآوردههاي ساختماني بايد ويژگيها و مشخصات فني</a:t>
            </a:r>
          </a:p>
          <a:p>
            <a:pPr algn="r"/>
            <a:r>
              <a:rPr lang="fa-IR" sz="2000" dirty="0">
                <a:cs typeface="2  Nazanin" panose="00000400000000000000" pitchFamily="2" charset="-78"/>
              </a:rPr>
              <a:t>آنها را برابر استانداردهاي مربوط و معيارهاي پذيرفته شـده</a:t>
            </a:r>
          </a:p>
          <a:p>
            <a:pPr algn="r"/>
            <a:endParaRPr lang="fa-IR" sz="2000" dirty="0">
              <a:cs typeface="2  Nazanin" panose="00000400000000000000" pitchFamily="2" charset="-78"/>
            </a:endParaRPr>
          </a:p>
          <a:p>
            <a:pPr algn="r"/>
            <a:endParaRPr lang="fa-IR" sz="2000" dirty="0">
              <a:cs typeface="2  Nazanin" panose="00000400000000000000" pitchFamily="2" charset="-78"/>
            </a:endParaRPr>
          </a:p>
        </p:txBody>
      </p:sp>
      <p:pic>
        <p:nvPicPr>
          <p:cNvPr id="26" name="Graphic 25" descr="Tools with solid fill">
            <a:extLst>
              <a:ext uri="{FF2B5EF4-FFF2-40B4-BE49-F238E27FC236}">
                <a16:creationId xmlns:a16="http://schemas.microsoft.com/office/drawing/2014/main" id="{50249B69-CD0B-419E-82C2-2074696A6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503" y="5068417"/>
            <a:ext cx="914400" cy="914400"/>
          </a:xfrm>
          <a:prstGeom prst="rect">
            <a:avLst/>
          </a:prstGeom>
        </p:spPr>
      </p:pic>
      <p:pic>
        <p:nvPicPr>
          <p:cNvPr id="29" name="Graphic 28" descr="Large paint brush with solid fill">
            <a:extLst>
              <a:ext uri="{FF2B5EF4-FFF2-40B4-BE49-F238E27FC236}">
                <a16:creationId xmlns:a16="http://schemas.microsoft.com/office/drawing/2014/main" id="{15960931-DD29-4A50-B857-4AB6F16F55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7442" y="5117920"/>
            <a:ext cx="914400" cy="914400"/>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97916"/>
            <a:ext cx="12192000" cy="7550727"/>
            <a:chOff x="0" y="0"/>
            <a:chExt cx="12192000" cy="7550727"/>
          </a:xfrm>
          <a:solidFill>
            <a:srgbClr val="EBBDAD"/>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37A5DE5A-7EAD-44C0-94AF-6A21382A6FCD}"/>
              </a:ext>
            </a:extLst>
          </p:cNvPr>
          <p:cNvSpPr txBox="1"/>
          <p:nvPr/>
        </p:nvSpPr>
        <p:spPr>
          <a:xfrm>
            <a:off x="3661698" y="2986442"/>
            <a:ext cx="7379434" cy="3170099"/>
          </a:xfrm>
          <a:prstGeom prst="rect">
            <a:avLst/>
          </a:prstGeom>
          <a:noFill/>
        </p:spPr>
        <p:txBody>
          <a:bodyPr wrap="square" rtlCol="1">
            <a:spAutoFit/>
          </a:bodyPr>
          <a:lstStyle/>
          <a:p>
            <a:pPr algn="r"/>
            <a:r>
              <a:rPr lang="fa-IR" sz="2000" b="1" dirty="0">
                <a:cs typeface="2  Nazanin" panose="00000400000000000000" pitchFamily="2" charset="-78"/>
              </a:rPr>
              <a:t>تاییید کیفیت</a:t>
            </a:r>
          </a:p>
          <a:p>
            <a:pPr algn="r"/>
            <a:r>
              <a:rPr lang="fa-IR" sz="2000" dirty="0">
                <a:cs typeface="2  Nazanin" panose="00000400000000000000" pitchFamily="2" charset="-78"/>
              </a:rPr>
              <a:t>کنترل ويژگيهاي مواد، مصالح و فرآوردههاي سـاختماني، تطـابق آن بـا اسـتانداردهاي مربوط، اعلام مشخصات و اظهار نظر مقايسهاي، با سازمان ملي استاندارد يـا آزمايشـگاههـاي تأييـد صلاحيت شده از سوي آن سازمان از طريق پروانه كاربرد نشان استاندارد است.</a:t>
            </a:r>
          </a:p>
          <a:p>
            <a:pPr algn="r"/>
            <a:endParaRPr lang="fa-IR" sz="2000" dirty="0">
              <a:cs typeface="2  Nazanin" panose="00000400000000000000" pitchFamily="2" charset="-78"/>
            </a:endParaRPr>
          </a:p>
          <a:p>
            <a:pPr algn="r"/>
            <a:r>
              <a:rPr lang="fa-IR" sz="2000" b="1" dirty="0">
                <a:cs typeface="2  Nazanin" panose="00000400000000000000" pitchFamily="2" charset="-78"/>
              </a:rPr>
              <a:t>مطابقت با استاندارد </a:t>
            </a:r>
          </a:p>
          <a:p>
            <a:pPr algn="r"/>
            <a:r>
              <a:rPr lang="fa-IR" sz="2000" dirty="0">
                <a:cs typeface="2  Nazanin" panose="00000400000000000000" pitchFamily="2" charset="-78"/>
              </a:rPr>
              <a:t>طراحان و مجريان با توجه به محدوده كاربرد مصالح مورد نظر بايد در نقشهها و مدارك فني مربوط ويژگيها و مشخصات فني مواد، مصالح و فرآوردههاي ساختماني را تعيين كنند. </a:t>
            </a:r>
          </a:p>
          <a:p>
            <a:pPr algn="r"/>
            <a:r>
              <a:rPr lang="fa-IR" sz="2000" dirty="0">
                <a:cs typeface="2  Nazanin" panose="00000400000000000000" pitchFamily="2" charset="-78"/>
              </a:rPr>
              <a:t>استفاده از مواد، مصالح و فرآوردههاي ساختماني كه با مشخصات و معيارهـاي پذيرفتـه شده در اين مبحث تطابق ندارند، مجاز نيست.</a:t>
            </a:r>
          </a:p>
        </p:txBody>
      </p:sp>
      <p:pic>
        <p:nvPicPr>
          <p:cNvPr id="28" name="Picture 27">
            <a:extLst>
              <a:ext uri="{FF2B5EF4-FFF2-40B4-BE49-F238E27FC236}">
                <a16:creationId xmlns:a16="http://schemas.microsoft.com/office/drawing/2014/main" id="{2726F60B-C9DF-45AF-8F8D-A21B99DF6D9F}"/>
              </a:ext>
            </a:extLst>
          </p:cNvPr>
          <p:cNvPicPr>
            <a:picLocks noChangeAspect="1"/>
          </p:cNvPicPr>
          <p:nvPr/>
        </p:nvPicPr>
        <p:blipFill rotWithShape="1">
          <a:blip r:embed="rId7">
            <a:extLst>
              <a:ext uri="{28A0092B-C50C-407E-A947-70E740481C1C}">
                <a14:useLocalDpi xmlns:a14="http://schemas.microsoft.com/office/drawing/2010/main" val="0"/>
              </a:ext>
            </a:extLst>
          </a:blip>
          <a:srcRect l="29241" r="52098" b="67537"/>
          <a:stretch/>
        </p:blipFill>
        <p:spPr>
          <a:xfrm>
            <a:off x="458586" y="3121138"/>
            <a:ext cx="1828245" cy="2198065"/>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165340"/>
            <a:ext cx="12192000" cy="7550727"/>
            <a:chOff x="0" y="0"/>
            <a:chExt cx="12192000" cy="7550727"/>
          </a:xfrm>
          <a:solidFill>
            <a:srgbClr val="E3AE8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0" name="TextBox 19">
            <a:extLst>
              <a:ext uri="{FF2B5EF4-FFF2-40B4-BE49-F238E27FC236}">
                <a16:creationId xmlns:a16="http://schemas.microsoft.com/office/drawing/2014/main" id="{801FF008-0053-4569-B730-9F26420078BF}"/>
              </a:ext>
            </a:extLst>
          </p:cNvPr>
          <p:cNvSpPr txBox="1"/>
          <p:nvPr/>
        </p:nvSpPr>
        <p:spPr>
          <a:xfrm>
            <a:off x="5220897" y="2040035"/>
            <a:ext cx="6414341" cy="3477875"/>
          </a:xfrm>
          <a:prstGeom prst="rect">
            <a:avLst/>
          </a:prstGeom>
          <a:noFill/>
        </p:spPr>
        <p:txBody>
          <a:bodyPr wrap="square" rtlCol="1">
            <a:spAutoFit/>
          </a:bodyPr>
          <a:lstStyle/>
          <a:p>
            <a:pPr algn="r"/>
            <a:r>
              <a:rPr lang="fa-IR" sz="2000" b="1" dirty="0">
                <a:cs typeface="2  Nazanin" panose="00000400000000000000" pitchFamily="2" charset="-78"/>
              </a:rPr>
              <a:t> استفاده مجدد</a:t>
            </a:r>
          </a:p>
          <a:p>
            <a:pPr algn="r"/>
            <a:r>
              <a:rPr lang="fa-IR" sz="2000" dirty="0">
                <a:cs typeface="2  Nazanin" panose="00000400000000000000" pitchFamily="2" charset="-78"/>
              </a:rPr>
              <a:t>استفاده از مواد، مصالح و فرآوردههاي ساختماني مستعمل، در صورت مطابقت مشخصات فني آنهـا با معيارهاي پذيرفته شده در اين مبحث و توجه به نوع مصرف آنها بلامانع است.</a:t>
            </a:r>
            <a:endParaRPr lang="en-US" sz="2000" dirty="0">
              <a:cs typeface="2  Nazanin" panose="00000400000000000000" pitchFamily="2" charset="-78"/>
            </a:endParaRPr>
          </a:p>
          <a:p>
            <a:pPr algn="r"/>
            <a:endParaRPr lang="fa-IR" sz="2000" dirty="0">
              <a:cs typeface="2  Nazanin" panose="00000400000000000000" pitchFamily="2" charset="-78"/>
            </a:endParaRPr>
          </a:p>
          <a:p>
            <a:pPr algn="r"/>
            <a:r>
              <a:rPr lang="fa-IR" sz="2000" b="1" dirty="0">
                <a:cs typeface="2  Nazanin" panose="00000400000000000000" pitchFamily="2" charset="-78"/>
              </a:rPr>
              <a:t>مصالح و فرآوردههاي نوین</a:t>
            </a:r>
          </a:p>
          <a:p>
            <a:pPr algn="r"/>
            <a:r>
              <a:rPr lang="fa-IR" sz="2000" dirty="0">
                <a:cs typeface="2  Nazanin" panose="00000400000000000000" pitchFamily="2" charset="-78"/>
              </a:rPr>
              <a:t>مصالح و فرآوردههاي ساختماني نوين، در صورتي قابل استفاده هستند كه مشخصات و دامنه كاربرد آنها به تأييد سازمان ملي استاندارد و يـا مركز تحقيقات راه، مسكن و شهرسازي رسيده باشد و براي آنها گواهينامه فني معتبـر اخـذ شـده باشد. </a:t>
            </a:r>
          </a:p>
          <a:p>
            <a:pPr algn="r"/>
            <a:r>
              <a:rPr lang="fa-IR" sz="2000" b="1" dirty="0">
                <a:cs typeface="2  Nazanin" panose="00000400000000000000" pitchFamily="2" charset="-78"/>
              </a:rPr>
              <a:t> </a:t>
            </a:r>
            <a:endParaRPr lang="fa-IR" sz="2000" dirty="0">
              <a:cs typeface="2  Nazanin" panose="00000400000000000000" pitchFamily="2" charset="-78"/>
            </a:endParaRPr>
          </a:p>
        </p:txBody>
      </p:sp>
      <p:pic>
        <p:nvPicPr>
          <p:cNvPr id="31" name="Picture 30">
            <a:extLst>
              <a:ext uri="{FF2B5EF4-FFF2-40B4-BE49-F238E27FC236}">
                <a16:creationId xmlns:a16="http://schemas.microsoft.com/office/drawing/2014/main" id="{DAA464A1-0A24-4E85-8061-17308115FA93}"/>
              </a:ext>
            </a:extLst>
          </p:cNvPr>
          <p:cNvPicPr>
            <a:picLocks noChangeAspect="1"/>
          </p:cNvPicPr>
          <p:nvPr/>
        </p:nvPicPr>
        <p:blipFill rotWithShape="1">
          <a:blip r:embed="rId8">
            <a:extLst>
              <a:ext uri="{28A0092B-C50C-407E-A947-70E740481C1C}">
                <a14:useLocalDpi xmlns:a14="http://schemas.microsoft.com/office/drawing/2010/main" val="0"/>
              </a:ext>
            </a:extLst>
          </a:blip>
          <a:srcRect l="9603" r="9256"/>
          <a:stretch/>
        </p:blipFill>
        <p:spPr>
          <a:xfrm>
            <a:off x="218715" y="1966831"/>
            <a:ext cx="4784265" cy="3310327"/>
          </a:xfrm>
          <a:prstGeom prst="rect">
            <a:avLst/>
          </a:prstGeom>
        </p:spPr>
      </p:pic>
      <p:sp>
        <p:nvSpPr>
          <p:cNvPr id="32" name="TextBox 31">
            <a:extLst>
              <a:ext uri="{FF2B5EF4-FFF2-40B4-BE49-F238E27FC236}">
                <a16:creationId xmlns:a16="http://schemas.microsoft.com/office/drawing/2014/main" id="{83D6EC26-DA12-4286-9840-48F87A9707BD}"/>
              </a:ext>
            </a:extLst>
          </p:cNvPr>
          <p:cNvSpPr txBox="1"/>
          <p:nvPr/>
        </p:nvSpPr>
        <p:spPr>
          <a:xfrm>
            <a:off x="1265274" y="5139155"/>
            <a:ext cx="10334847" cy="1508105"/>
          </a:xfrm>
          <a:prstGeom prst="rect">
            <a:avLst/>
          </a:prstGeom>
          <a:noFill/>
        </p:spPr>
        <p:txBody>
          <a:bodyPr wrap="square" rtlCol="1">
            <a:spAutoFit/>
          </a:bodyPr>
          <a:lstStyle/>
          <a:p>
            <a:pPr algn="r"/>
            <a:r>
              <a:rPr lang="fa-IR" sz="2000" b="1" dirty="0"/>
              <a:t>انبار کردن</a:t>
            </a:r>
          </a:p>
          <a:p>
            <a:pPr algn="r"/>
            <a:r>
              <a:rPr lang="fa-IR" dirty="0"/>
              <a:t>مواد، مصالح و فرآوردههاي ساختماني بايد به گونه اي انبار شود كه دسترسي بـه آنهـا آسـان باشـد. </a:t>
            </a:r>
          </a:p>
          <a:p>
            <a:pPr algn="r"/>
            <a:r>
              <a:rPr lang="fa-IR" dirty="0"/>
              <a:t>مصالحي كه زودتر وارد شده است زودتر خارج و مصرف شود و با مصالح ديگر مخلوط نشود. محيط نگهداري آنها نيز نبايد سبب از ميان رفتن ويژگي ها و مشخصات فني محصـول يـا بسـته بنـدي آن مانند شرايط قرارگيري در معرض تابش آفتاب و رطوبت شود.</a:t>
            </a:r>
          </a:p>
          <a:p>
            <a:pPr algn="r"/>
            <a:r>
              <a:rPr lang="fa-IR" dirty="0"/>
              <a:t>با توجه به نوع مصالح بايد تمهيـدات لازم جهت اطفاء حريق در احتمال بروز آتش سوزي پيش بيني و فراهم گردد. </a:t>
            </a:r>
          </a:p>
        </p:txBody>
      </p:sp>
      <p:grpSp>
        <p:nvGrpSpPr>
          <p:cNvPr id="16" name="Group 15">
            <a:extLst>
              <a:ext uri="{FF2B5EF4-FFF2-40B4-BE49-F238E27FC236}">
                <a16:creationId xmlns:a16="http://schemas.microsoft.com/office/drawing/2014/main" id="{F5CD2D5A-83F7-4113-8244-4BCEF4D825AB}"/>
              </a:ext>
            </a:extLst>
          </p:cNvPr>
          <p:cNvGrpSpPr/>
          <p:nvPr/>
        </p:nvGrpSpPr>
        <p:grpSpPr>
          <a:xfrm>
            <a:off x="-64" y="221051"/>
            <a:ext cx="12192000" cy="7550727"/>
            <a:chOff x="0" y="0"/>
            <a:chExt cx="12192000" cy="7550727"/>
          </a:xfrm>
          <a:solidFill>
            <a:srgbClr val="8A4E4E"/>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21" name="Group 20">
            <a:extLst>
              <a:ext uri="{FF2B5EF4-FFF2-40B4-BE49-F238E27FC236}">
                <a16:creationId xmlns:a16="http://schemas.microsoft.com/office/drawing/2014/main" id="{54C7BAA1-7757-4ECC-BC19-B29F1484C5CD}"/>
              </a:ext>
            </a:extLst>
          </p:cNvPr>
          <p:cNvGrpSpPr/>
          <p:nvPr/>
        </p:nvGrpSpPr>
        <p:grpSpPr>
          <a:xfrm>
            <a:off x="-32" y="-6286564"/>
            <a:ext cx="12192000" cy="7550727"/>
            <a:chOff x="0" y="0"/>
            <a:chExt cx="12192000" cy="7550727"/>
          </a:xfrm>
          <a:solidFill>
            <a:srgbClr val="492527"/>
          </a:solidFill>
        </p:grpSpPr>
        <p:sp>
          <p:nvSpPr>
            <p:cNvPr id="22" name="Rectangle 21">
              <a:extLst>
                <a:ext uri="{FF2B5EF4-FFF2-40B4-BE49-F238E27FC236}">
                  <a16:creationId xmlns:a16="http://schemas.microsoft.com/office/drawing/2014/main" id="{A164834A-3E91-4632-A10F-091D20E985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3" name="Rectangle: Top Corners Rounded 22">
              <a:extLst>
                <a:ext uri="{FF2B5EF4-FFF2-40B4-BE49-F238E27FC236}">
                  <a16:creationId xmlns:a16="http://schemas.microsoft.com/office/drawing/2014/main" id="{8E3E9698-3F76-4AF5-AAB8-99DABE2FD82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4" name="TextBox 23">
              <a:extLst>
                <a:ext uri="{FF2B5EF4-FFF2-40B4-BE49-F238E27FC236}">
                  <a16:creationId xmlns:a16="http://schemas.microsoft.com/office/drawing/2014/main" id="{2460561B-EB8E-4537-8548-AE5F3C1EA73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
        <p:nvSpPr>
          <p:cNvPr id="30" name="TextBox 29">
            <a:extLst>
              <a:ext uri="{FF2B5EF4-FFF2-40B4-BE49-F238E27FC236}">
                <a16:creationId xmlns:a16="http://schemas.microsoft.com/office/drawing/2014/main" id="{C6D50519-27A2-4BD9-AE34-B39FA2687A71}"/>
              </a:ext>
            </a:extLst>
          </p:cNvPr>
          <p:cNvSpPr txBox="1"/>
          <p:nvPr/>
        </p:nvSpPr>
        <p:spPr>
          <a:xfrm>
            <a:off x="5575148" y="1538797"/>
            <a:ext cx="6158266" cy="4524315"/>
          </a:xfrm>
          <a:prstGeom prst="rect">
            <a:avLst/>
          </a:prstGeom>
          <a:noFill/>
        </p:spPr>
        <p:txBody>
          <a:bodyPr wrap="square" rtlCol="1">
            <a:spAutoFit/>
          </a:bodyPr>
          <a:lstStyle/>
          <a:p>
            <a:pPr algn="r"/>
            <a:r>
              <a:rPr lang="fa-IR" sz="2400" b="1" dirty="0">
                <a:cs typeface="2  Nazanin" panose="00000400000000000000" pitchFamily="2" charset="-78"/>
              </a:rPr>
              <a:t>ساخت و توليد در كارگاه</a:t>
            </a:r>
            <a:r>
              <a:rPr lang="fa-IR" sz="2400" dirty="0">
                <a:cs typeface="2  Nazanin" panose="00000400000000000000" pitchFamily="2" charset="-78"/>
              </a:rPr>
              <a:t> </a:t>
            </a:r>
          </a:p>
          <a:p>
            <a:pPr algn="r"/>
            <a:r>
              <a:rPr lang="fa-IR" sz="2400" dirty="0">
                <a:cs typeface="2  Nazanin" panose="00000400000000000000" pitchFamily="2" charset="-78"/>
              </a:rPr>
              <a:t>مواد، مصالح و فرآورده هاي توليـدي در كارگـاه هـاي سـاختماني، نظيـر بـتن، بايـد بـا مشخصات فني پذيرفته شده در اين مبحث مطابقت داشته باشد. </a:t>
            </a:r>
          </a:p>
          <a:p>
            <a:pPr algn="r"/>
            <a:r>
              <a:rPr lang="fa-IR" sz="2400" dirty="0">
                <a:cs typeface="2  Nazanin" panose="00000400000000000000" pitchFamily="2" charset="-78"/>
              </a:rPr>
              <a:t>در توليد مواد، مصالح و فرآورده هاي ساختماني در كارگاه و محل مصـرف، نظيـر بـتن، رعايت نكات ايمني، مطابق مبحث دوازدهم، الزامي است.</a:t>
            </a:r>
          </a:p>
          <a:p>
            <a:pPr algn="r"/>
            <a:r>
              <a:rPr lang="fa-IR" sz="2400" dirty="0">
                <a:cs typeface="2  Nazanin" panose="00000400000000000000" pitchFamily="2" charset="-78"/>
              </a:rPr>
              <a:t> </a:t>
            </a:r>
          </a:p>
          <a:p>
            <a:pPr algn="r"/>
            <a:r>
              <a:rPr lang="fa-IR" sz="2400" b="1" dirty="0">
                <a:cs typeface="2  Nazanin" panose="00000400000000000000" pitchFamily="2" charset="-78"/>
              </a:rPr>
              <a:t>الزامات واكنش در برابر آتش براي مصالح ساختماني </a:t>
            </a:r>
          </a:p>
          <a:p>
            <a:pPr algn="r"/>
            <a:r>
              <a:rPr lang="fa-IR" sz="2400" dirty="0">
                <a:cs typeface="2  Nazanin" panose="00000400000000000000" pitchFamily="2" charset="-78"/>
              </a:rPr>
              <a:t>علاوه بر ضوابط ذكر شده در اين مبحث، رعايت ضوابط مبحـث سـوم مقـررات ملـي سـاختمان در خصوص واكنش مصالح در برابر آتش نيز الزامي است.</a:t>
            </a:r>
          </a:p>
        </p:txBody>
      </p:sp>
      <p:pic>
        <p:nvPicPr>
          <p:cNvPr id="34" name="Picture 33">
            <a:extLst>
              <a:ext uri="{FF2B5EF4-FFF2-40B4-BE49-F238E27FC236}">
                <a16:creationId xmlns:a16="http://schemas.microsoft.com/office/drawing/2014/main" id="{89F427C1-E209-4E21-8F15-CDE90B029D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9141" y="1425692"/>
            <a:ext cx="4313579" cy="2156790"/>
          </a:xfrm>
          <a:prstGeom prst="rect">
            <a:avLst/>
          </a:prstGeom>
        </p:spPr>
      </p:pic>
      <p:pic>
        <p:nvPicPr>
          <p:cNvPr id="36" name="Picture 35">
            <a:extLst>
              <a:ext uri="{FF2B5EF4-FFF2-40B4-BE49-F238E27FC236}">
                <a16:creationId xmlns:a16="http://schemas.microsoft.com/office/drawing/2014/main" id="{555D4DE0-A877-40F5-986F-FBA91E75D16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3751" y="3888604"/>
            <a:ext cx="4616749" cy="2706992"/>
          </a:xfrm>
          <a:prstGeom prst="rect">
            <a:avLst/>
          </a:prstGeom>
        </p:spPr>
      </p:pic>
    </p:spTree>
    <p:extLst>
      <p:ext uri="{BB962C8B-B14F-4D97-AF65-F5344CB8AC3E}">
        <p14:creationId xmlns:p14="http://schemas.microsoft.com/office/powerpoint/2010/main" val="21029109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BDE60E5-B424-418D-80A9-C21BD2C30CA5}"/>
              </a:ext>
            </a:extLst>
          </p:cNvPr>
          <p:cNvSpPr txBox="1"/>
          <p:nvPr/>
        </p:nvSpPr>
        <p:spPr>
          <a:xfrm>
            <a:off x="4295553" y="4513291"/>
            <a:ext cx="7134447" cy="2123658"/>
          </a:xfrm>
          <a:prstGeom prst="rect">
            <a:avLst/>
          </a:prstGeom>
          <a:noFill/>
        </p:spPr>
        <p:txBody>
          <a:bodyPr wrap="square" rtlCol="1">
            <a:spAutoFit/>
          </a:bodyPr>
          <a:lstStyle/>
          <a:p>
            <a:pPr algn="r"/>
            <a:r>
              <a:rPr lang="fa-IR" sz="2200" dirty="0">
                <a:cs typeface="2  Nazanin" panose="00000400000000000000" pitchFamily="2" charset="-78"/>
              </a:rPr>
              <a:t>هدف :ارائه مشخصات فني مواد، مصالح و فرآوردههـاي سـاختماني بـه منظـور تأمين ايمني، بهداشت، دوام، حفاظت محيط زيست و صرفه اقتصـادي در سـاختمان اسـت</a:t>
            </a:r>
          </a:p>
          <a:p>
            <a:pPr algn="r"/>
            <a:r>
              <a:rPr lang="fa-IR" sz="2200" dirty="0">
                <a:cs typeface="2  Nazanin" panose="00000400000000000000" pitchFamily="2" charset="-78"/>
              </a:rPr>
              <a:t>دامنه و کاربرد: دامنـه كاربرد آن نيز محدود به انواع مواد، مصالح و فرآوردههاي ساختماني متعارف و نـوين اسـت، كـه در بناي انواع ساختمانها و تأسيسات مربوط، مورد استفاده قرار ميگيرد</a:t>
            </a:r>
          </a:p>
        </p:txBody>
      </p:sp>
      <p:pic>
        <p:nvPicPr>
          <p:cNvPr id="27" name="Picture 26">
            <a:extLst>
              <a:ext uri="{FF2B5EF4-FFF2-40B4-BE49-F238E27FC236}">
                <a16:creationId xmlns:a16="http://schemas.microsoft.com/office/drawing/2014/main" id="{F726B98E-7E4A-42FB-A215-70825A955147}"/>
              </a:ext>
            </a:extLst>
          </p:cNvPr>
          <p:cNvPicPr>
            <a:picLocks noChangeAspect="1"/>
          </p:cNvPicPr>
          <p:nvPr/>
        </p:nvPicPr>
        <p:blipFill rotWithShape="1">
          <a:blip r:embed="rId2">
            <a:extLst>
              <a:ext uri="{28A0092B-C50C-407E-A947-70E740481C1C}">
                <a14:useLocalDpi xmlns:a14="http://schemas.microsoft.com/office/drawing/2010/main" val="0"/>
              </a:ext>
            </a:extLst>
          </a:blip>
          <a:srcRect t="23382"/>
          <a:stretch/>
        </p:blipFill>
        <p:spPr>
          <a:xfrm>
            <a:off x="921490" y="4591866"/>
            <a:ext cx="3140702" cy="1638137"/>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86918"/>
            <a:ext cx="12192000" cy="7550727"/>
            <a:chOff x="0" y="0"/>
            <a:chExt cx="12192000" cy="7550727"/>
          </a:xfrm>
          <a:solidFill>
            <a:srgbClr val="F6E0D2"/>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dirty="0">
                <a:ln w="22225">
                  <a:solidFill>
                    <a:schemeClr val="accent2"/>
                  </a:solidFill>
                  <a:prstDash val="solid"/>
                </a:ln>
                <a:solidFill>
                  <a:schemeClr val="accent2">
                    <a:lumMod val="40000"/>
                    <a:lumOff val="60000"/>
                  </a:schemeClr>
                </a:solidFill>
              </a:endParaRPr>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b="1">
                <a:ln w="22225">
                  <a:solidFill>
                    <a:schemeClr val="accent2"/>
                  </a:solidFill>
                  <a:prstDash val="solid"/>
                </a:ln>
                <a:solidFill>
                  <a:schemeClr val="accent2">
                    <a:lumMod val="40000"/>
                    <a:lumOff val="60000"/>
                  </a:schemeClr>
                </a:solidFill>
              </a:endParaRP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n w="22225">
                    <a:solidFill>
                      <a:schemeClr val="accent2"/>
                    </a:solidFill>
                    <a:prstDash val="solid"/>
                  </a:ln>
                  <a:solidFill>
                    <a:schemeClr val="accent2">
                      <a:lumMod val="40000"/>
                      <a:lumOff val="60000"/>
                    </a:schemeClr>
                  </a:solidFill>
                  <a:latin typeface="Tw Cen MT" panose="020B0602020104020603" pitchFamily="34" charset="0"/>
                </a:rPr>
                <a:t>1</a:t>
              </a:r>
              <a:endParaRPr lang="fa-IR" sz="4000" b="1" dirty="0">
                <a:ln w="22225">
                  <a:solidFill>
                    <a:schemeClr val="accent2"/>
                  </a:solidFill>
                  <a:prstDash val="solid"/>
                </a:ln>
                <a:solidFill>
                  <a:schemeClr val="accent2">
                    <a:lumMod val="40000"/>
                    <a:lumOff val="60000"/>
                  </a:schemeClr>
                </a:solidFill>
                <a:latin typeface="Tw Cen MT" panose="020B0602020104020603" pitchFamily="34" charset="0"/>
              </a:endParaRPr>
            </a:p>
          </p:txBody>
        </p:sp>
      </p:grpSp>
      <p:sp>
        <p:nvSpPr>
          <p:cNvPr id="3" name="TextBox 2">
            <a:extLst>
              <a:ext uri="{FF2B5EF4-FFF2-40B4-BE49-F238E27FC236}">
                <a16:creationId xmlns:a16="http://schemas.microsoft.com/office/drawing/2014/main" id="{14980DAD-4354-483A-B7BC-109FF819BC40}"/>
              </a:ext>
            </a:extLst>
          </p:cNvPr>
          <p:cNvSpPr txBox="1"/>
          <p:nvPr/>
        </p:nvSpPr>
        <p:spPr>
          <a:xfrm>
            <a:off x="3912781" y="3820717"/>
            <a:ext cx="7687340" cy="3170099"/>
          </a:xfrm>
          <a:prstGeom prst="rect">
            <a:avLst/>
          </a:prstGeom>
          <a:noFill/>
        </p:spPr>
        <p:txBody>
          <a:bodyPr wrap="square" rtlCol="1">
            <a:spAutoFit/>
          </a:bodyPr>
          <a:lstStyle/>
          <a:p>
            <a:pPr algn="r"/>
            <a:r>
              <a:rPr lang="fa-IR" sz="2000" b="1" dirty="0">
                <a:cs typeface="2  Nazanin" panose="00000400000000000000" pitchFamily="2" charset="-78"/>
              </a:rPr>
              <a:t>استاندارد</a:t>
            </a:r>
          </a:p>
          <a:p>
            <a:pPr algn="r"/>
            <a:r>
              <a:rPr lang="fa-IR" sz="2000" dirty="0">
                <a:cs typeface="2  Nazanin" panose="00000400000000000000" pitchFamily="2" charset="-78"/>
              </a:rPr>
              <a:t>مواد، مصالح و فرآوردههاي ساختماني بايد از نظر ويژگي، مشخصـات فنـي و روشهـاي آزمايش منطبق با استانداردهاي ملي ايران و معيارهاي پذيرفته در هر بخش از اين مبحـث باشـند. به اين منظور، براي هر دسته از مصالح و فرآوردههاي ساختماني، استانداردهاي ملي مربوط معرفـي ميشود</a:t>
            </a:r>
            <a:endParaRPr lang="en-US" sz="2000" dirty="0">
              <a:cs typeface="2  Nazanin" panose="00000400000000000000" pitchFamily="2" charset="-78"/>
            </a:endParaRPr>
          </a:p>
          <a:p>
            <a:pPr algn="r"/>
            <a:r>
              <a:rPr lang="fa-IR" sz="2000" b="1" dirty="0">
                <a:cs typeface="2  Nazanin" panose="00000400000000000000" pitchFamily="2" charset="-78"/>
              </a:rPr>
              <a:t>ويژگيها و مشخصات فني</a:t>
            </a:r>
          </a:p>
          <a:p>
            <a:pPr algn="r"/>
            <a:r>
              <a:rPr lang="fa-IR" sz="2000" dirty="0">
                <a:cs typeface="2  Nazanin" panose="00000400000000000000" pitchFamily="2" charset="-78"/>
              </a:rPr>
              <a:t>توليدكنندگان و واردكنندگان مواد، مصالح و فرآوردههاي ساختماني بايد ويژگيها و مشخصات فني</a:t>
            </a:r>
          </a:p>
          <a:p>
            <a:pPr algn="r"/>
            <a:r>
              <a:rPr lang="fa-IR" sz="2000" dirty="0">
                <a:cs typeface="2  Nazanin" panose="00000400000000000000" pitchFamily="2" charset="-78"/>
              </a:rPr>
              <a:t>آنها را برابر استانداردهاي مربوط و معيارهاي پذيرفته شـده</a:t>
            </a:r>
          </a:p>
          <a:p>
            <a:pPr algn="r"/>
            <a:endParaRPr lang="fa-IR" sz="2000" dirty="0">
              <a:cs typeface="2  Nazanin" panose="00000400000000000000" pitchFamily="2" charset="-78"/>
            </a:endParaRPr>
          </a:p>
          <a:p>
            <a:pPr algn="r"/>
            <a:endParaRPr lang="fa-IR" sz="2000" dirty="0">
              <a:cs typeface="2  Nazanin" panose="00000400000000000000" pitchFamily="2" charset="-78"/>
            </a:endParaRPr>
          </a:p>
        </p:txBody>
      </p:sp>
      <p:pic>
        <p:nvPicPr>
          <p:cNvPr id="26" name="Graphic 25" descr="Tools with solid fill">
            <a:extLst>
              <a:ext uri="{FF2B5EF4-FFF2-40B4-BE49-F238E27FC236}">
                <a16:creationId xmlns:a16="http://schemas.microsoft.com/office/drawing/2014/main" id="{50249B69-CD0B-419E-82C2-2074696A6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6503" y="5068417"/>
            <a:ext cx="914400" cy="914400"/>
          </a:xfrm>
          <a:prstGeom prst="rect">
            <a:avLst/>
          </a:prstGeom>
        </p:spPr>
      </p:pic>
      <p:pic>
        <p:nvPicPr>
          <p:cNvPr id="29" name="Graphic 28" descr="Large paint brush with solid fill">
            <a:extLst>
              <a:ext uri="{FF2B5EF4-FFF2-40B4-BE49-F238E27FC236}">
                <a16:creationId xmlns:a16="http://schemas.microsoft.com/office/drawing/2014/main" id="{15960931-DD29-4A50-B857-4AB6F16F550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7442" y="5117920"/>
            <a:ext cx="914400" cy="914400"/>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97916"/>
            <a:ext cx="12192000" cy="7550727"/>
            <a:chOff x="0" y="0"/>
            <a:chExt cx="12192000" cy="7550727"/>
          </a:xfrm>
          <a:solidFill>
            <a:srgbClr val="EBBDAD"/>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37A5DE5A-7EAD-44C0-94AF-6A21382A6FCD}"/>
              </a:ext>
            </a:extLst>
          </p:cNvPr>
          <p:cNvSpPr txBox="1"/>
          <p:nvPr/>
        </p:nvSpPr>
        <p:spPr>
          <a:xfrm>
            <a:off x="3661698" y="2986442"/>
            <a:ext cx="7379434" cy="3170099"/>
          </a:xfrm>
          <a:prstGeom prst="rect">
            <a:avLst/>
          </a:prstGeom>
          <a:noFill/>
        </p:spPr>
        <p:txBody>
          <a:bodyPr wrap="square" rtlCol="1">
            <a:spAutoFit/>
          </a:bodyPr>
          <a:lstStyle/>
          <a:p>
            <a:pPr algn="r"/>
            <a:r>
              <a:rPr lang="fa-IR" sz="2000" b="1" dirty="0">
                <a:cs typeface="2  Nazanin" panose="00000400000000000000" pitchFamily="2" charset="-78"/>
              </a:rPr>
              <a:t>تاییید کیفیت</a:t>
            </a:r>
          </a:p>
          <a:p>
            <a:pPr algn="r"/>
            <a:r>
              <a:rPr lang="fa-IR" sz="2000" dirty="0">
                <a:cs typeface="2  Nazanin" panose="00000400000000000000" pitchFamily="2" charset="-78"/>
              </a:rPr>
              <a:t>کنترل ويژگيهاي مواد، مصالح و فرآوردههاي سـاختماني، تطـابق آن بـا اسـتانداردهاي مربوط، اعلام مشخصات و اظهار نظر مقايسهاي، با سازمان ملي استاندارد يـا آزمايشـگاههـاي تأييـد صلاحيت شده از سوي آن سازمان از طريق پروانه كاربرد نشان استاندارد است.</a:t>
            </a:r>
          </a:p>
          <a:p>
            <a:pPr algn="r"/>
            <a:endParaRPr lang="fa-IR" sz="2000" dirty="0">
              <a:cs typeface="2  Nazanin" panose="00000400000000000000" pitchFamily="2" charset="-78"/>
            </a:endParaRPr>
          </a:p>
          <a:p>
            <a:pPr algn="r"/>
            <a:r>
              <a:rPr lang="fa-IR" sz="2000" b="1" dirty="0">
                <a:cs typeface="2  Nazanin" panose="00000400000000000000" pitchFamily="2" charset="-78"/>
              </a:rPr>
              <a:t>مطابقت با استاندارد </a:t>
            </a:r>
          </a:p>
          <a:p>
            <a:pPr algn="r"/>
            <a:r>
              <a:rPr lang="fa-IR" sz="2000" dirty="0">
                <a:cs typeface="2  Nazanin" panose="00000400000000000000" pitchFamily="2" charset="-78"/>
              </a:rPr>
              <a:t>طراحان و مجريان با توجه به محدوده كاربرد مصالح مورد نظر بايد در نقشهها و مدارك فني مربوط ويژگيها و مشخصات فني مواد، مصالح و فرآوردههاي ساختماني را تعيين كنند. </a:t>
            </a:r>
          </a:p>
          <a:p>
            <a:pPr algn="r"/>
            <a:r>
              <a:rPr lang="fa-IR" sz="2000" dirty="0">
                <a:cs typeface="2  Nazanin" panose="00000400000000000000" pitchFamily="2" charset="-78"/>
              </a:rPr>
              <a:t>استفاده از مواد، مصالح و فرآوردههاي ساختماني كه با مشخصات و معيارهـاي پذيرفتـه شده در اين مبحث تطابق ندارند، مجاز نيست.</a:t>
            </a:r>
          </a:p>
        </p:txBody>
      </p:sp>
      <p:pic>
        <p:nvPicPr>
          <p:cNvPr id="28" name="Picture 27">
            <a:extLst>
              <a:ext uri="{FF2B5EF4-FFF2-40B4-BE49-F238E27FC236}">
                <a16:creationId xmlns:a16="http://schemas.microsoft.com/office/drawing/2014/main" id="{2726F60B-C9DF-45AF-8F8D-A21B99DF6D9F}"/>
              </a:ext>
            </a:extLst>
          </p:cNvPr>
          <p:cNvPicPr>
            <a:picLocks noChangeAspect="1"/>
          </p:cNvPicPr>
          <p:nvPr/>
        </p:nvPicPr>
        <p:blipFill rotWithShape="1">
          <a:blip r:embed="rId7">
            <a:extLst>
              <a:ext uri="{28A0092B-C50C-407E-A947-70E740481C1C}">
                <a14:useLocalDpi xmlns:a14="http://schemas.microsoft.com/office/drawing/2010/main" val="0"/>
              </a:ext>
            </a:extLst>
          </a:blip>
          <a:srcRect l="29241" r="52098" b="67537"/>
          <a:stretch/>
        </p:blipFill>
        <p:spPr>
          <a:xfrm>
            <a:off x="458586" y="3121138"/>
            <a:ext cx="1828245" cy="2198065"/>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165340"/>
            <a:ext cx="12192000" cy="7550727"/>
            <a:chOff x="0" y="0"/>
            <a:chExt cx="12192000" cy="7550727"/>
          </a:xfrm>
          <a:solidFill>
            <a:srgbClr val="E3AE8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0" name="TextBox 19">
            <a:extLst>
              <a:ext uri="{FF2B5EF4-FFF2-40B4-BE49-F238E27FC236}">
                <a16:creationId xmlns:a16="http://schemas.microsoft.com/office/drawing/2014/main" id="{801FF008-0053-4569-B730-9F26420078BF}"/>
              </a:ext>
            </a:extLst>
          </p:cNvPr>
          <p:cNvSpPr txBox="1"/>
          <p:nvPr/>
        </p:nvSpPr>
        <p:spPr>
          <a:xfrm>
            <a:off x="5220897" y="2040035"/>
            <a:ext cx="6414341" cy="3477875"/>
          </a:xfrm>
          <a:prstGeom prst="rect">
            <a:avLst/>
          </a:prstGeom>
          <a:noFill/>
        </p:spPr>
        <p:txBody>
          <a:bodyPr wrap="square" rtlCol="1">
            <a:spAutoFit/>
          </a:bodyPr>
          <a:lstStyle/>
          <a:p>
            <a:pPr algn="r"/>
            <a:r>
              <a:rPr lang="fa-IR" sz="2000" b="1" dirty="0">
                <a:cs typeface="2  Nazanin" panose="00000400000000000000" pitchFamily="2" charset="-78"/>
              </a:rPr>
              <a:t> استفاده مجدد</a:t>
            </a:r>
          </a:p>
          <a:p>
            <a:pPr algn="r"/>
            <a:r>
              <a:rPr lang="fa-IR" sz="2000" dirty="0">
                <a:cs typeface="2  Nazanin" panose="00000400000000000000" pitchFamily="2" charset="-78"/>
              </a:rPr>
              <a:t>استفاده از مواد، مصالح و فرآوردههاي ساختماني مستعمل، در صورت مطابقت مشخصات فني آنهـا با معيارهاي پذيرفته شده در اين مبحث و توجه به نوع مصرف آنها بلامانع است.</a:t>
            </a:r>
            <a:endParaRPr lang="en-US" sz="2000" dirty="0">
              <a:cs typeface="2  Nazanin" panose="00000400000000000000" pitchFamily="2" charset="-78"/>
            </a:endParaRPr>
          </a:p>
          <a:p>
            <a:pPr algn="r"/>
            <a:endParaRPr lang="fa-IR" sz="2000" dirty="0">
              <a:cs typeface="2  Nazanin" panose="00000400000000000000" pitchFamily="2" charset="-78"/>
            </a:endParaRPr>
          </a:p>
          <a:p>
            <a:pPr algn="r"/>
            <a:r>
              <a:rPr lang="fa-IR" sz="2000" b="1" dirty="0">
                <a:cs typeface="2  Nazanin" panose="00000400000000000000" pitchFamily="2" charset="-78"/>
              </a:rPr>
              <a:t>مصالح و فرآوردههاي نوین</a:t>
            </a:r>
          </a:p>
          <a:p>
            <a:pPr algn="r"/>
            <a:r>
              <a:rPr lang="fa-IR" sz="2000" dirty="0">
                <a:cs typeface="2  Nazanin" panose="00000400000000000000" pitchFamily="2" charset="-78"/>
              </a:rPr>
              <a:t>مصالح و فرآوردههاي ساختماني نوين، در صورتي قابل استفاده هستند كه مشخصات و دامنه كاربرد آنها به تأييد سازمان ملي استاندارد و يـا مركز تحقيقات راه، مسكن و شهرسازي رسيده باشد و براي آنها گواهينامه فني معتبـر اخـذ شـده باشد. </a:t>
            </a:r>
          </a:p>
          <a:p>
            <a:pPr algn="r"/>
            <a:r>
              <a:rPr lang="fa-IR" sz="2000" b="1" dirty="0">
                <a:cs typeface="2  Nazanin" panose="00000400000000000000" pitchFamily="2" charset="-78"/>
              </a:rPr>
              <a:t> </a:t>
            </a:r>
            <a:endParaRPr lang="fa-IR" sz="2000" dirty="0">
              <a:cs typeface="2  Nazanin" panose="00000400000000000000" pitchFamily="2" charset="-78"/>
            </a:endParaRPr>
          </a:p>
        </p:txBody>
      </p:sp>
      <p:pic>
        <p:nvPicPr>
          <p:cNvPr id="31" name="Picture 30">
            <a:extLst>
              <a:ext uri="{FF2B5EF4-FFF2-40B4-BE49-F238E27FC236}">
                <a16:creationId xmlns:a16="http://schemas.microsoft.com/office/drawing/2014/main" id="{DAA464A1-0A24-4E85-8061-17308115FA93}"/>
              </a:ext>
            </a:extLst>
          </p:cNvPr>
          <p:cNvPicPr>
            <a:picLocks noChangeAspect="1"/>
          </p:cNvPicPr>
          <p:nvPr/>
        </p:nvPicPr>
        <p:blipFill rotWithShape="1">
          <a:blip r:embed="rId8">
            <a:extLst>
              <a:ext uri="{28A0092B-C50C-407E-A947-70E740481C1C}">
                <a14:useLocalDpi xmlns:a14="http://schemas.microsoft.com/office/drawing/2010/main" val="0"/>
              </a:ext>
            </a:extLst>
          </a:blip>
          <a:srcRect l="9603" r="9256"/>
          <a:stretch/>
        </p:blipFill>
        <p:spPr>
          <a:xfrm>
            <a:off x="218715" y="1966831"/>
            <a:ext cx="4784265" cy="3310327"/>
          </a:xfrm>
          <a:prstGeom prst="rect">
            <a:avLst/>
          </a:prstGeom>
        </p:spPr>
      </p:pic>
      <p:sp>
        <p:nvSpPr>
          <p:cNvPr id="32" name="TextBox 31">
            <a:extLst>
              <a:ext uri="{FF2B5EF4-FFF2-40B4-BE49-F238E27FC236}">
                <a16:creationId xmlns:a16="http://schemas.microsoft.com/office/drawing/2014/main" id="{83D6EC26-DA12-4286-9840-48F87A9707BD}"/>
              </a:ext>
            </a:extLst>
          </p:cNvPr>
          <p:cNvSpPr txBox="1"/>
          <p:nvPr/>
        </p:nvSpPr>
        <p:spPr>
          <a:xfrm>
            <a:off x="1265274" y="5139155"/>
            <a:ext cx="10334847" cy="1508105"/>
          </a:xfrm>
          <a:prstGeom prst="rect">
            <a:avLst/>
          </a:prstGeom>
          <a:noFill/>
        </p:spPr>
        <p:txBody>
          <a:bodyPr wrap="square" rtlCol="1">
            <a:spAutoFit/>
          </a:bodyPr>
          <a:lstStyle/>
          <a:p>
            <a:pPr algn="r"/>
            <a:r>
              <a:rPr lang="fa-IR" sz="2000" b="1" dirty="0"/>
              <a:t>انبار کردن</a:t>
            </a:r>
          </a:p>
          <a:p>
            <a:pPr algn="r"/>
            <a:r>
              <a:rPr lang="fa-IR" dirty="0"/>
              <a:t>مواد، مصالح و فرآوردههاي ساختماني بايد به گونه اي انبار شود كه دسترسي بـه آنهـا آسـان باشـد. </a:t>
            </a:r>
          </a:p>
          <a:p>
            <a:pPr algn="r"/>
            <a:r>
              <a:rPr lang="fa-IR" dirty="0"/>
              <a:t>مصالحي كه زودتر وارد شده است زودتر خارج و مصرف شود و با مصالح ديگر مخلوط نشود. محيط نگهداري آنها نيز نبايد سبب از ميان رفتن ويژگي ها و مشخصات فني محصـول يـا بسـته بنـدي آن مانند شرايط قرارگيري در معرض تابش آفتاب و رطوبت شود.</a:t>
            </a:r>
          </a:p>
          <a:p>
            <a:pPr algn="r"/>
            <a:r>
              <a:rPr lang="fa-IR" dirty="0"/>
              <a:t>با توجه به نوع مصالح بايد تمهيـدات لازم جهت اطفاء حريق در احتمال بروز آتش سوزي پيش بيني و فراهم گردد. </a:t>
            </a:r>
          </a:p>
        </p:txBody>
      </p:sp>
      <p:grpSp>
        <p:nvGrpSpPr>
          <p:cNvPr id="16" name="Group 15">
            <a:extLst>
              <a:ext uri="{FF2B5EF4-FFF2-40B4-BE49-F238E27FC236}">
                <a16:creationId xmlns:a16="http://schemas.microsoft.com/office/drawing/2014/main" id="{F5CD2D5A-83F7-4113-8244-4BCEF4D825AB}"/>
              </a:ext>
            </a:extLst>
          </p:cNvPr>
          <p:cNvGrpSpPr/>
          <p:nvPr/>
        </p:nvGrpSpPr>
        <p:grpSpPr>
          <a:xfrm>
            <a:off x="-64" y="221051"/>
            <a:ext cx="12192000" cy="7550727"/>
            <a:chOff x="0" y="0"/>
            <a:chExt cx="12192000" cy="7550727"/>
          </a:xfrm>
          <a:solidFill>
            <a:srgbClr val="8A4E4E"/>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30" name="TextBox 29">
            <a:extLst>
              <a:ext uri="{FF2B5EF4-FFF2-40B4-BE49-F238E27FC236}">
                <a16:creationId xmlns:a16="http://schemas.microsoft.com/office/drawing/2014/main" id="{C6D50519-27A2-4BD9-AE34-B39FA2687A71}"/>
              </a:ext>
            </a:extLst>
          </p:cNvPr>
          <p:cNvSpPr txBox="1"/>
          <p:nvPr/>
        </p:nvSpPr>
        <p:spPr>
          <a:xfrm>
            <a:off x="5575148" y="1538797"/>
            <a:ext cx="6158266" cy="4524315"/>
          </a:xfrm>
          <a:prstGeom prst="rect">
            <a:avLst/>
          </a:prstGeom>
          <a:noFill/>
        </p:spPr>
        <p:txBody>
          <a:bodyPr wrap="square" rtlCol="1">
            <a:spAutoFit/>
          </a:bodyPr>
          <a:lstStyle/>
          <a:p>
            <a:pPr algn="r"/>
            <a:r>
              <a:rPr lang="fa-IR" sz="2400" b="1" dirty="0">
                <a:cs typeface="2  Nazanin" panose="00000400000000000000" pitchFamily="2" charset="-78"/>
              </a:rPr>
              <a:t>ساخت و توليد در كارگاه</a:t>
            </a:r>
            <a:r>
              <a:rPr lang="fa-IR" sz="2400" dirty="0">
                <a:cs typeface="2  Nazanin" panose="00000400000000000000" pitchFamily="2" charset="-78"/>
              </a:rPr>
              <a:t> </a:t>
            </a:r>
          </a:p>
          <a:p>
            <a:pPr algn="r"/>
            <a:r>
              <a:rPr lang="fa-IR" sz="2400" dirty="0">
                <a:cs typeface="2  Nazanin" panose="00000400000000000000" pitchFamily="2" charset="-78"/>
              </a:rPr>
              <a:t>مواد، مصالح و فرآوردههاي توليـدي در كارگـاههـاي سـاختماني، نظيـر بـتن، بايـد بـا مشخصات فني پذيرفته شده در اين مبحث مطابقت داشته باشد. </a:t>
            </a:r>
          </a:p>
          <a:p>
            <a:pPr algn="r"/>
            <a:r>
              <a:rPr lang="fa-IR" sz="2400" dirty="0">
                <a:cs typeface="2  Nazanin" panose="00000400000000000000" pitchFamily="2" charset="-78"/>
              </a:rPr>
              <a:t>در توليد مواد، مصالح و فرآوردههاي ساختماني در كارگاه و محل مصـرف، نظيـر بـتن، رعايت نكات ايمني، مطابق مبحث دوازدهم، الزامي است.</a:t>
            </a:r>
          </a:p>
          <a:p>
            <a:pPr algn="r"/>
            <a:r>
              <a:rPr lang="fa-IR" sz="2400" dirty="0">
                <a:cs typeface="2  Nazanin" panose="00000400000000000000" pitchFamily="2" charset="-78"/>
              </a:rPr>
              <a:t> </a:t>
            </a:r>
          </a:p>
          <a:p>
            <a:pPr algn="r"/>
            <a:r>
              <a:rPr lang="fa-IR" sz="2400" b="1" dirty="0">
                <a:cs typeface="2  Nazanin" panose="00000400000000000000" pitchFamily="2" charset="-78"/>
              </a:rPr>
              <a:t>الزامات واكنش در برابر آتش براي مصالح ساختماني </a:t>
            </a:r>
          </a:p>
          <a:p>
            <a:pPr algn="r"/>
            <a:r>
              <a:rPr lang="fa-IR" sz="2400" dirty="0">
                <a:cs typeface="2  Nazanin" panose="00000400000000000000" pitchFamily="2" charset="-78"/>
              </a:rPr>
              <a:t>علاوه بر ضوابط ذكر شده در اين مبحث، رعايت ضوابط مبحـث سـوم مقـررات ملـي سـاختمان در خصوص واكنش مصالح در برابر آتش نيز الزامي است.</a:t>
            </a:r>
          </a:p>
        </p:txBody>
      </p:sp>
      <p:pic>
        <p:nvPicPr>
          <p:cNvPr id="34" name="Picture 33">
            <a:extLst>
              <a:ext uri="{FF2B5EF4-FFF2-40B4-BE49-F238E27FC236}">
                <a16:creationId xmlns:a16="http://schemas.microsoft.com/office/drawing/2014/main" id="{89F427C1-E209-4E21-8F15-CDE90B029D04}"/>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09141" y="1425692"/>
            <a:ext cx="4313579" cy="2156790"/>
          </a:xfrm>
          <a:prstGeom prst="rect">
            <a:avLst/>
          </a:prstGeom>
        </p:spPr>
      </p:pic>
      <p:pic>
        <p:nvPicPr>
          <p:cNvPr id="36" name="Picture 35">
            <a:extLst>
              <a:ext uri="{FF2B5EF4-FFF2-40B4-BE49-F238E27FC236}">
                <a16:creationId xmlns:a16="http://schemas.microsoft.com/office/drawing/2014/main" id="{555D4DE0-A877-40F5-986F-FBA91E75D161}"/>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43751" y="3888604"/>
            <a:ext cx="4616749" cy="2706992"/>
          </a:xfrm>
          <a:prstGeom prst="rect">
            <a:avLst/>
          </a:prstGeom>
        </p:spPr>
      </p:pic>
      <p:grpSp>
        <p:nvGrpSpPr>
          <p:cNvPr id="21" name="Group 20">
            <a:extLst>
              <a:ext uri="{FF2B5EF4-FFF2-40B4-BE49-F238E27FC236}">
                <a16:creationId xmlns:a16="http://schemas.microsoft.com/office/drawing/2014/main" id="{54C7BAA1-7757-4ECC-BC19-B29F1484C5CD}"/>
              </a:ext>
            </a:extLst>
          </p:cNvPr>
          <p:cNvGrpSpPr/>
          <p:nvPr/>
        </p:nvGrpSpPr>
        <p:grpSpPr>
          <a:xfrm>
            <a:off x="-128" y="0"/>
            <a:ext cx="12192000" cy="7550727"/>
            <a:chOff x="0" y="0"/>
            <a:chExt cx="12192000" cy="7550727"/>
          </a:xfrm>
          <a:solidFill>
            <a:srgbClr val="492527"/>
          </a:solidFill>
        </p:grpSpPr>
        <p:sp>
          <p:nvSpPr>
            <p:cNvPr id="22" name="Rectangle 21">
              <a:extLst>
                <a:ext uri="{FF2B5EF4-FFF2-40B4-BE49-F238E27FC236}">
                  <a16:creationId xmlns:a16="http://schemas.microsoft.com/office/drawing/2014/main" id="{A164834A-3E91-4632-A10F-091D20E985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3" name="Rectangle: Top Corners Rounded 22">
              <a:extLst>
                <a:ext uri="{FF2B5EF4-FFF2-40B4-BE49-F238E27FC236}">
                  <a16:creationId xmlns:a16="http://schemas.microsoft.com/office/drawing/2014/main" id="{8E3E9698-3F76-4AF5-AAB8-99DABE2FD82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4" name="TextBox 23">
              <a:extLst>
                <a:ext uri="{FF2B5EF4-FFF2-40B4-BE49-F238E27FC236}">
                  <a16:creationId xmlns:a16="http://schemas.microsoft.com/office/drawing/2014/main" id="{2460561B-EB8E-4537-8548-AE5F3C1EA73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
        <p:nvSpPr>
          <p:cNvPr id="101" name="Freeform: Shape 100">
            <a:extLst>
              <a:ext uri="{FF2B5EF4-FFF2-40B4-BE49-F238E27FC236}">
                <a16:creationId xmlns:a16="http://schemas.microsoft.com/office/drawing/2014/main" id="{6A43808B-0869-4137-9D72-61D42158DFE6}"/>
              </a:ext>
            </a:extLst>
          </p:cNvPr>
          <p:cNvSpPr/>
          <p:nvPr/>
        </p:nvSpPr>
        <p:spPr>
          <a:xfrm>
            <a:off x="334963" y="2824014"/>
            <a:ext cx="11890998" cy="1209971"/>
          </a:xfrm>
          <a:custGeom>
            <a:avLst/>
            <a:gdLst>
              <a:gd name="connsiteX0" fmla="*/ 0 w 11890998"/>
              <a:gd name="connsiteY0" fmla="*/ 105564 h 1209971"/>
              <a:gd name="connsiteX1" fmla="*/ 1258785 w 11890998"/>
              <a:gd name="connsiteY1" fmla="*/ 1174343 h 1209971"/>
              <a:gd name="connsiteX2" fmla="*/ 2529444 w 11890998"/>
              <a:gd name="connsiteY2" fmla="*/ 105564 h 1209971"/>
              <a:gd name="connsiteX3" fmla="*/ 3788229 w 11890998"/>
              <a:gd name="connsiteY3" fmla="*/ 1186219 h 1209971"/>
              <a:gd name="connsiteX4" fmla="*/ 5047013 w 11890998"/>
              <a:gd name="connsiteY4" fmla="*/ 117440 h 1209971"/>
              <a:gd name="connsiteX5" fmla="*/ 6305797 w 11890998"/>
              <a:gd name="connsiteY5" fmla="*/ 1209969 h 1209971"/>
              <a:gd name="connsiteX6" fmla="*/ 7576457 w 11890998"/>
              <a:gd name="connsiteY6" fmla="*/ 105564 h 1209971"/>
              <a:gd name="connsiteX7" fmla="*/ 8835242 w 11890998"/>
              <a:gd name="connsiteY7" fmla="*/ 1186219 h 1209971"/>
              <a:gd name="connsiteX8" fmla="*/ 10094026 w 11890998"/>
              <a:gd name="connsiteY8" fmla="*/ 105564 h 1209971"/>
              <a:gd name="connsiteX9" fmla="*/ 11376561 w 11890998"/>
              <a:gd name="connsiteY9" fmla="*/ 1174343 h 1209971"/>
              <a:gd name="connsiteX10" fmla="*/ 11851574 w 11890998"/>
              <a:gd name="connsiteY10" fmla="*/ 81814 h 1209971"/>
              <a:gd name="connsiteX11" fmla="*/ 11863449 w 11890998"/>
              <a:gd name="connsiteY11" fmla="*/ 81814 h 1209971"/>
              <a:gd name="connsiteX12" fmla="*/ 11851574 w 11890998"/>
              <a:gd name="connsiteY12" fmla="*/ 105564 h 1209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90998" h="1209971">
                <a:moveTo>
                  <a:pt x="0" y="105564"/>
                </a:moveTo>
                <a:cubicBezTo>
                  <a:pt x="418605" y="639953"/>
                  <a:pt x="837211" y="1174343"/>
                  <a:pt x="1258785" y="1174343"/>
                </a:cubicBezTo>
                <a:cubicBezTo>
                  <a:pt x="1680359" y="1174343"/>
                  <a:pt x="2107870" y="103585"/>
                  <a:pt x="2529444" y="105564"/>
                </a:cubicBezTo>
                <a:cubicBezTo>
                  <a:pt x="2951018" y="107543"/>
                  <a:pt x="3368634" y="1184240"/>
                  <a:pt x="3788229" y="1186219"/>
                </a:cubicBezTo>
                <a:cubicBezTo>
                  <a:pt x="4207824" y="1188198"/>
                  <a:pt x="4627418" y="113482"/>
                  <a:pt x="5047013" y="117440"/>
                </a:cubicBezTo>
                <a:cubicBezTo>
                  <a:pt x="5466608" y="121398"/>
                  <a:pt x="5884223" y="1211948"/>
                  <a:pt x="6305797" y="1209969"/>
                </a:cubicBezTo>
                <a:cubicBezTo>
                  <a:pt x="6727371" y="1207990"/>
                  <a:pt x="7154883" y="109522"/>
                  <a:pt x="7576457" y="105564"/>
                </a:cubicBezTo>
                <a:cubicBezTo>
                  <a:pt x="7998031" y="101606"/>
                  <a:pt x="8415647" y="1186219"/>
                  <a:pt x="8835242" y="1186219"/>
                </a:cubicBezTo>
                <a:cubicBezTo>
                  <a:pt x="9254837" y="1186219"/>
                  <a:pt x="9670473" y="107543"/>
                  <a:pt x="10094026" y="105564"/>
                </a:cubicBezTo>
                <a:cubicBezTo>
                  <a:pt x="10517579" y="103585"/>
                  <a:pt x="11083636" y="1178301"/>
                  <a:pt x="11376561" y="1174343"/>
                </a:cubicBezTo>
                <a:cubicBezTo>
                  <a:pt x="11669486" y="1170385"/>
                  <a:pt x="11851574" y="81814"/>
                  <a:pt x="11851574" y="81814"/>
                </a:cubicBezTo>
                <a:cubicBezTo>
                  <a:pt x="11932722" y="-100274"/>
                  <a:pt x="11863449" y="77856"/>
                  <a:pt x="11863449" y="81814"/>
                </a:cubicBezTo>
                <a:cubicBezTo>
                  <a:pt x="11863449" y="85772"/>
                  <a:pt x="11857511" y="95668"/>
                  <a:pt x="11851574" y="105564"/>
                </a:cubicBezTo>
              </a:path>
            </a:pathLst>
          </a:custGeom>
          <a:no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02" name="Flowchart: Connector 101">
            <a:extLst>
              <a:ext uri="{FF2B5EF4-FFF2-40B4-BE49-F238E27FC236}">
                <a16:creationId xmlns:a16="http://schemas.microsoft.com/office/drawing/2014/main" id="{1683232D-7D05-4467-AA00-A501B81F0C4A}"/>
              </a:ext>
            </a:extLst>
          </p:cNvPr>
          <p:cNvSpPr/>
          <p:nvPr/>
        </p:nvSpPr>
        <p:spPr>
          <a:xfrm>
            <a:off x="1433353" y="3805917"/>
            <a:ext cx="324169" cy="32566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03" name="Straight Connector 102">
            <a:extLst>
              <a:ext uri="{FF2B5EF4-FFF2-40B4-BE49-F238E27FC236}">
                <a16:creationId xmlns:a16="http://schemas.microsoft.com/office/drawing/2014/main" id="{679D3615-398D-44FA-AE94-0ABDFC3EAE1A}"/>
              </a:ext>
            </a:extLst>
          </p:cNvPr>
          <p:cNvCxnSpPr>
            <a:cxnSpLocks/>
          </p:cNvCxnSpPr>
          <p:nvPr/>
        </p:nvCxnSpPr>
        <p:spPr>
          <a:xfrm flipV="1">
            <a:off x="1608013" y="2662800"/>
            <a:ext cx="25152" cy="114311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4" name="Flowchart: Connector 103">
            <a:extLst>
              <a:ext uri="{FF2B5EF4-FFF2-40B4-BE49-F238E27FC236}">
                <a16:creationId xmlns:a16="http://schemas.microsoft.com/office/drawing/2014/main" id="{1DE9C317-EA80-40C7-9050-45DAD0D650AA}"/>
              </a:ext>
            </a:extLst>
          </p:cNvPr>
          <p:cNvSpPr/>
          <p:nvPr/>
        </p:nvSpPr>
        <p:spPr>
          <a:xfrm>
            <a:off x="3954303" y="3805917"/>
            <a:ext cx="324169" cy="32566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05" name="Straight Connector 104">
            <a:extLst>
              <a:ext uri="{FF2B5EF4-FFF2-40B4-BE49-F238E27FC236}">
                <a16:creationId xmlns:a16="http://schemas.microsoft.com/office/drawing/2014/main" id="{F5C468A3-EDE4-4588-AA43-0791CF5B2DFB}"/>
              </a:ext>
            </a:extLst>
          </p:cNvPr>
          <p:cNvCxnSpPr>
            <a:cxnSpLocks/>
            <a:stCxn id="104" idx="0"/>
          </p:cNvCxnSpPr>
          <p:nvPr/>
        </p:nvCxnSpPr>
        <p:spPr>
          <a:xfrm flipV="1">
            <a:off x="4116388" y="2635946"/>
            <a:ext cx="0" cy="1169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6" name="Flowchart: Connector 105">
            <a:extLst>
              <a:ext uri="{FF2B5EF4-FFF2-40B4-BE49-F238E27FC236}">
                <a16:creationId xmlns:a16="http://schemas.microsoft.com/office/drawing/2014/main" id="{DAF38D11-ED4E-416A-A2B2-BF318F49E249}"/>
              </a:ext>
            </a:extLst>
          </p:cNvPr>
          <p:cNvSpPr/>
          <p:nvPr/>
        </p:nvSpPr>
        <p:spPr>
          <a:xfrm>
            <a:off x="6484506" y="3796712"/>
            <a:ext cx="324169" cy="34407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07" name="Straight Connector 106">
            <a:extLst>
              <a:ext uri="{FF2B5EF4-FFF2-40B4-BE49-F238E27FC236}">
                <a16:creationId xmlns:a16="http://schemas.microsoft.com/office/drawing/2014/main" id="{F7582776-098A-48FF-A4E5-5B8EC25729FA}"/>
              </a:ext>
            </a:extLst>
          </p:cNvPr>
          <p:cNvCxnSpPr>
            <a:cxnSpLocks/>
            <a:stCxn id="106" idx="0"/>
          </p:cNvCxnSpPr>
          <p:nvPr/>
        </p:nvCxnSpPr>
        <p:spPr>
          <a:xfrm flipH="1" flipV="1">
            <a:off x="6643048" y="2635946"/>
            <a:ext cx="3543" cy="116076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8" name="Flowchart: Connector 107">
            <a:extLst>
              <a:ext uri="{FF2B5EF4-FFF2-40B4-BE49-F238E27FC236}">
                <a16:creationId xmlns:a16="http://schemas.microsoft.com/office/drawing/2014/main" id="{8645222F-6DD0-4D41-B1C8-1D83B380763E}"/>
              </a:ext>
            </a:extLst>
          </p:cNvPr>
          <p:cNvSpPr/>
          <p:nvPr/>
        </p:nvSpPr>
        <p:spPr>
          <a:xfrm>
            <a:off x="9014709" y="3805917"/>
            <a:ext cx="324169" cy="32566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09" name="Straight Connector 108">
            <a:extLst>
              <a:ext uri="{FF2B5EF4-FFF2-40B4-BE49-F238E27FC236}">
                <a16:creationId xmlns:a16="http://schemas.microsoft.com/office/drawing/2014/main" id="{1B877939-2754-4200-A781-1DC990A320CB}"/>
              </a:ext>
            </a:extLst>
          </p:cNvPr>
          <p:cNvCxnSpPr>
            <a:cxnSpLocks/>
            <a:stCxn id="108" idx="0"/>
          </p:cNvCxnSpPr>
          <p:nvPr/>
        </p:nvCxnSpPr>
        <p:spPr>
          <a:xfrm flipH="1" flipV="1">
            <a:off x="9173251" y="2635946"/>
            <a:ext cx="3543" cy="1169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0" name="Flowchart: Connector 109">
            <a:extLst>
              <a:ext uri="{FF2B5EF4-FFF2-40B4-BE49-F238E27FC236}">
                <a16:creationId xmlns:a16="http://schemas.microsoft.com/office/drawing/2014/main" id="{5941BF2B-B496-43FD-91EC-8535B8B0A920}"/>
              </a:ext>
            </a:extLst>
          </p:cNvPr>
          <p:cNvSpPr/>
          <p:nvPr/>
        </p:nvSpPr>
        <p:spPr>
          <a:xfrm>
            <a:off x="11513978" y="3805917"/>
            <a:ext cx="324169" cy="32566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11" name="Straight Connector 110">
            <a:extLst>
              <a:ext uri="{FF2B5EF4-FFF2-40B4-BE49-F238E27FC236}">
                <a16:creationId xmlns:a16="http://schemas.microsoft.com/office/drawing/2014/main" id="{649074C6-A331-4FB9-A402-2A4B57CAC4E1}"/>
              </a:ext>
            </a:extLst>
          </p:cNvPr>
          <p:cNvCxnSpPr>
            <a:cxnSpLocks/>
          </p:cNvCxnSpPr>
          <p:nvPr/>
        </p:nvCxnSpPr>
        <p:spPr>
          <a:xfrm flipH="1" flipV="1">
            <a:off x="11672519" y="2635946"/>
            <a:ext cx="3543" cy="1169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2" name="Flowchart: Connector 111">
            <a:extLst>
              <a:ext uri="{FF2B5EF4-FFF2-40B4-BE49-F238E27FC236}">
                <a16:creationId xmlns:a16="http://schemas.microsoft.com/office/drawing/2014/main" id="{9245987E-FEF9-46B9-87C2-4C06281BDF32}"/>
              </a:ext>
            </a:extLst>
          </p:cNvPr>
          <p:cNvSpPr/>
          <p:nvPr/>
        </p:nvSpPr>
        <p:spPr>
          <a:xfrm>
            <a:off x="2702898" y="2726417"/>
            <a:ext cx="324169" cy="32566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13" name="Straight Connector 112">
            <a:extLst>
              <a:ext uri="{FF2B5EF4-FFF2-40B4-BE49-F238E27FC236}">
                <a16:creationId xmlns:a16="http://schemas.microsoft.com/office/drawing/2014/main" id="{CB2616E8-9F3C-4509-8F2E-15DFEF28F51E}"/>
              </a:ext>
            </a:extLst>
          </p:cNvPr>
          <p:cNvCxnSpPr>
            <a:cxnSpLocks/>
          </p:cNvCxnSpPr>
          <p:nvPr/>
        </p:nvCxnSpPr>
        <p:spPr>
          <a:xfrm flipH="1" flipV="1">
            <a:off x="2850909" y="3052083"/>
            <a:ext cx="3543" cy="1169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4" name="Flowchart: Connector 113">
            <a:extLst>
              <a:ext uri="{FF2B5EF4-FFF2-40B4-BE49-F238E27FC236}">
                <a16:creationId xmlns:a16="http://schemas.microsoft.com/office/drawing/2014/main" id="{67863619-0097-4741-8CB9-2925D85DBD60}"/>
              </a:ext>
            </a:extLst>
          </p:cNvPr>
          <p:cNvSpPr/>
          <p:nvPr/>
        </p:nvSpPr>
        <p:spPr>
          <a:xfrm>
            <a:off x="5213470" y="2726417"/>
            <a:ext cx="324169" cy="32566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15" name="Straight Connector 114">
            <a:extLst>
              <a:ext uri="{FF2B5EF4-FFF2-40B4-BE49-F238E27FC236}">
                <a16:creationId xmlns:a16="http://schemas.microsoft.com/office/drawing/2014/main" id="{F829EAEF-327F-4797-83B0-E7AA009AD3C1}"/>
              </a:ext>
            </a:extLst>
          </p:cNvPr>
          <p:cNvCxnSpPr>
            <a:cxnSpLocks/>
          </p:cNvCxnSpPr>
          <p:nvPr/>
        </p:nvCxnSpPr>
        <p:spPr>
          <a:xfrm flipH="1" flipV="1">
            <a:off x="5360708" y="2997289"/>
            <a:ext cx="3543" cy="1169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6" name="Flowchart: Connector 115">
            <a:extLst>
              <a:ext uri="{FF2B5EF4-FFF2-40B4-BE49-F238E27FC236}">
                <a16:creationId xmlns:a16="http://schemas.microsoft.com/office/drawing/2014/main" id="{CF0D8013-ECA3-49B4-A780-D08ED78EDCAD}"/>
              </a:ext>
            </a:extLst>
          </p:cNvPr>
          <p:cNvSpPr/>
          <p:nvPr/>
        </p:nvSpPr>
        <p:spPr>
          <a:xfrm>
            <a:off x="7747837" y="2717212"/>
            <a:ext cx="324169" cy="34407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17" name="Straight Connector 116">
            <a:extLst>
              <a:ext uri="{FF2B5EF4-FFF2-40B4-BE49-F238E27FC236}">
                <a16:creationId xmlns:a16="http://schemas.microsoft.com/office/drawing/2014/main" id="{0D2FB879-C975-47C9-834F-9052D6BEDB41}"/>
              </a:ext>
            </a:extLst>
          </p:cNvPr>
          <p:cNvCxnSpPr>
            <a:cxnSpLocks/>
          </p:cNvCxnSpPr>
          <p:nvPr/>
        </p:nvCxnSpPr>
        <p:spPr>
          <a:xfrm flipH="1" flipV="1">
            <a:off x="7895848" y="3052083"/>
            <a:ext cx="3543" cy="1169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8" name="Flowchart: Connector 117">
            <a:extLst>
              <a:ext uri="{FF2B5EF4-FFF2-40B4-BE49-F238E27FC236}">
                <a16:creationId xmlns:a16="http://schemas.microsoft.com/office/drawing/2014/main" id="{41F8FA31-C6FD-4044-A98B-8854CA3C2EAE}"/>
              </a:ext>
            </a:extLst>
          </p:cNvPr>
          <p:cNvSpPr/>
          <p:nvPr/>
        </p:nvSpPr>
        <p:spPr>
          <a:xfrm>
            <a:off x="10293508" y="2726417"/>
            <a:ext cx="324169" cy="325666"/>
          </a:xfrm>
          <a:prstGeom prst="flowChartConnector">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cxnSp>
        <p:nvCxnSpPr>
          <p:cNvPr id="119" name="Straight Connector 118">
            <a:extLst>
              <a:ext uri="{FF2B5EF4-FFF2-40B4-BE49-F238E27FC236}">
                <a16:creationId xmlns:a16="http://schemas.microsoft.com/office/drawing/2014/main" id="{8DE68392-A8A0-4D8F-A5A7-2A92AF53B859}"/>
              </a:ext>
            </a:extLst>
          </p:cNvPr>
          <p:cNvCxnSpPr>
            <a:cxnSpLocks/>
          </p:cNvCxnSpPr>
          <p:nvPr/>
        </p:nvCxnSpPr>
        <p:spPr>
          <a:xfrm flipH="1" flipV="1">
            <a:off x="10441519" y="3052083"/>
            <a:ext cx="3543" cy="11699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20" name="Group 119">
            <a:extLst>
              <a:ext uri="{FF2B5EF4-FFF2-40B4-BE49-F238E27FC236}">
                <a16:creationId xmlns:a16="http://schemas.microsoft.com/office/drawing/2014/main" id="{55E07319-40B3-4B52-9359-A0B4CEB4671C}"/>
              </a:ext>
            </a:extLst>
          </p:cNvPr>
          <p:cNvGrpSpPr/>
          <p:nvPr/>
        </p:nvGrpSpPr>
        <p:grpSpPr>
          <a:xfrm>
            <a:off x="877164" y="820687"/>
            <a:ext cx="1512001" cy="1905729"/>
            <a:chOff x="877164" y="820687"/>
            <a:chExt cx="1512001" cy="1905729"/>
          </a:xfrm>
        </p:grpSpPr>
        <p:grpSp>
          <p:nvGrpSpPr>
            <p:cNvPr id="121" name="Group 120">
              <a:extLst>
                <a:ext uri="{FF2B5EF4-FFF2-40B4-BE49-F238E27FC236}">
                  <a16:creationId xmlns:a16="http://schemas.microsoft.com/office/drawing/2014/main" id="{F43856F0-522F-4395-8B54-284F3E7F9F99}"/>
                </a:ext>
              </a:extLst>
            </p:cNvPr>
            <p:cNvGrpSpPr/>
            <p:nvPr/>
          </p:nvGrpSpPr>
          <p:grpSpPr>
            <a:xfrm>
              <a:off x="877165" y="820687"/>
              <a:ext cx="1512000" cy="1905729"/>
              <a:chOff x="850077" y="730217"/>
              <a:chExt cx="1512000" cy="1905729"/>
            </a:xfrm>
          </p:grpSpPr>
          <p:sp>
            <p:nvSpPr>
              <p:cNvPr id="123" name="Rectangle: Rounded Corners 122">
                <a:extLst>
                  <a:ext uri="{FF2B5EF4-FFF2-40B4-BE49-F238E27FC236}">
                    <a16:creationId xmlns:a16="http://schemas.microsoft.com/office/drawing/2014/main" id="{05FE310A-DF48-4E1A-89B7-38B923013E8F}"/>
                  </a:ext>
                </a:extLst>
              </p:cNvPr>
              <p:cNvSpPr/>
              <p:nvPr/>
            </p:nvSpPr>
            <p:spPr>
              <a:xfrm>
                <a:off x="850077" y="730217"/>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24" name="Isosceles Triangle 123">
                <a:extLst>
                  <a:ext uri="{FF2B5EF4-FFF2-40B4-BE49-F238E27FC236}">
                    <a16:creationId xmlns:a16="http://schemas.microsoft.com/office/drawing/2014/main" id="{9F63A42E-BA0F-4A1C-903C-F6561CC90237}"/>
                  </a:ext>
                </a:extLst>
              </p:cNvPr>
              <p:cNvSpPr/>
              <p:nvPr/>
            </p:nvSpPr>
            <p:spPr>
              <a:xfrm rot="10800000">
                <a:off x="1447536" y="2313517"/>
                <a:ext cx="317084" cy="322429"/>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22" name="TextBox 121">
              <a:extLst>
                <a:ext uri="{FF2B5EF4-FFF2-40B4-BE49-F238E27FC236}">
                  <a16:creationId xmlns:a16="http://schemas.microsoft.com/office/drawing/2014/main" id="{31C56B66-12C6-4BE9-B872-15909FA79C4D}"/>
                </a:ext>
              </a:extLst>
            </p:cNvPr>
            <p:cNvSpPr txBox="1"/>
            <p:nvPr/>
          </p:nvSpPr>
          <p:spPr>
            <a:xfrm>
              <a:off x="877164" y="992663"/>
              <a:ext cx="1481066" cy="830997"/>
            </a:xfrm>
            <a:prstGeom prst="rect">
              <a:avLst/>
            </a:prstGeom>
            <a:noFill/>
          </p:spPr>
          <p:txBody>
            <a:bodyPr wrap="square" rtlCol="1">
              <a:spAutoFit/>
            </a:bodyPr>
            <a:lstStyle/>
            <a:p>
              <a:pPr algn="ctr"/>
              <a:r>
                <a:rPr lang="fa-IR" sz="2400" dirty="0">
                  <a:cs typeface="2  Koodak" panose="00000700000000000000" pitchFamily="2" charset="-78"/>
                </a:rPr>
                <a:t>سیمان هیدرولیکی</a:t>
              </a:r>
            </a:p>
          </p:txBody>
        </p:sp>
      </p:grpSp>
      <p:grpSp>
        <p:nvGrpSpPr>
          <p:cNvPr id="127" name="Group 126">
            <a:extLst>
              <a:ext uri="{FF2B5EF4-FFF2-40B4-BE49-F238E27FC236}">
                <a16:creationId xmlns:a16="http://schemas.microsoft.com/office/drawing/2014/main" id="{1ECDF64D-5D5B-4C3D-A313-9E7AD92C69F8}"/>
              </a:ext>
            </a:extLst>
          </p:cNvPr>
          <p:cNvGrpSpPr/>
          <p:nvPr/>
        </p:nvGrpSpPr>
        <p:grpSpPr>
          <a:xfrm>
            <a:off x="3368283" y="698288"/>
            <a:ext cx="1540111" cy="1937658"/>
            <a:chOff x="3368283" y="698288"/>
            <a:chExt cx="1540111" cy="1937658"/>
          </a:xfrm>
        </p:grpSpPr>
        <p:sp>
          <p:nvSpPr>
            <p:cNvPr id="128" name="Isosceles Triangle 127">
              <a:extLst>
                <a:ext uri="{FF2B5EF4-FFF2-40B4-BE49-F238E27FC236}">
                  <a16:creationId xmlns:a16="http://schemas.microsoft.com/office/drawing/2014/main" id="{8831E293-22B3-4752-A920-ADF25C85991D}"/>
                </a:ext>
              </a:extLst>
            </p:cNvPr>
            <p:cNvSpPr/>
            <p:nvPr/>
          </p:nvSpPr>
          <p:spPr>
            <a:xfrm rot="10800000">
              <a:off x="3957846" y="2313517"/>
              <a:ext cx="317084" cy="322429"/>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nvGrpSpPr>
            <p:cNvPr id="129" name="Group 128">
              <a:extLst>
                <a:ext uri="{FF2B5EF4-FFF2-40B4-BE49-F238E27FC236}">
                  <a16:creationId xmlns:a16="http://schemas.microsoft.com/office/drawing/2014/main" id="{DB3F22B9-B824-458B-85C4-65F3A399A29E}"/>
                </a:ext>
              </a:extLst>
            </p:cNvPr>
            <p:cNvGrpSpPr/>
            <p:nvPr/>
          </p:nvGrpSpPr>
          <p:grpSpPr>
            <a:xfrm>
              <a:off x="3368283" y="698288"/>
              <a:ext cx="1540111" cy="1620000"/>
              <a:chOff x="3344778" y="700644"/>
              <a:chExt cx="1540111" cy="1620000"/>
            </a:xfrm>
          </p:grpSpPr>
          <p:sp>
            <p:nvSpPr>
              <p:cNvPr id="130" name="Rectangle: Rounded Corners 129">
                <a:extLst>
                  <a:ext uri="{FF2B5EF4-FFF2-40B4-BE49-F238E27FC236}">
                    <a16:creationId xmlns:a16="http://schemas.microsoft.com/office/drawing/2014/main" id="{557145E4-568E-4EA0-9DB5-91DBDD81B0AD}"/>
                  </a:ext>
                </a:extLst>
              </p:cNvPr>
              <p:cNvSpPr/>
              <p:nvPr/>
            </p:nvSpPr>
            <p:spPr>
              <a:xfrm>
                <a:off x="3360388" y="700644"/>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31" name="TextBox 130">
                <a:extLst>
                  <a:ext uri="{FF2B5EF4-FFF2-40B4-BE49-F238E27FC236}">
                    <a16:creationId xmlns:a16="http://schemas.microsoft.com/office/drawing/2014/main" id="{4172EFE2-D41F-4519-94E3-28F8BE4DDFE4}"/>
                  </a:ext>
                </a:extLst>
              </p:cNvPr>
              <p:cNvSpPr txBox="1"/>
              <p:nvPr/>
            </p:nvSpPr>
            <p:spPr>
              <a:xfrm>
                <a:off x="3344778" y="924695"/>
                <a:ext cx="1540111" cy="461665"/>
              </a:xfrm>
              <a:prstGeom prst="rect">
                <a:avLst/>
              </a:prstGeom>
              <a:noFill/>
            </p:spPr>
            <p:txBody>
              <a:bodyPr wrap="square" rtlCol="1">
                <a:spAutoFit/>
              </a:bodyPr>
              <a:lstStyle/>
              <a:p>
                <a:pPr algn="ctr"/>
                <a:r>
                  <a:rPr lang="fa-IR" sz="2400" dirty="0">
                    <a:cs typeface="2  Koodak" panose="00000700000000000000" pitchFamily="2" charset="-78"/>
                  </a:rPr>
                  <a:t>گچ ساختمان</a:t>
                </a:r>
              </a:p>
            </p:txBody>
          </p:sp>
        </p:grpSp>
      </p:grpSp>
      <p:grpSp>
        <p:nvGrpSpPr>
          <p:cNvPr id="132" name="Group 131">
            <a:extLst>
              <a:ext uri="{FF2B5EF4-FFF2-40B4-BE49-F238E27FC236}">
                <a16:creationId xmlns:a16="http://schemas.microsoft.com/office/drawing/2014/main" id="{0AEC79B9-DFC2-4AEE-934B-F4D6007CF04F}"/>
              </a:ext>
            </a:extLst>
          </p:cNvPr>
          <p:cNvGrpSpPr/>
          <p:nvPr/>
        </p:nvGrpSpPr>
        <p:grpSpPr>
          <a:xfrm>
            <a:off x="1995383" y="4214926"/>
            <a:ext cx="1694769" cy="1942427"/>
            <a:chOff x="1995383" y="4214926"/>
            <a:chExt cx="1694769" cy="1942427"/>
          </a:xfrm>
        </p:grpSpPr>
        <p:grpSp>
          <p:nvGrpSpPr>
            <p:cNvPr id="133" name="Group 132">
              <a:extLst>
                <a:ext uri="{FF2B5EF4-FFF2-40B4-BE49-F238E27FC236}">
                  <a16:creationId xmlns:a16="http://schemas.microsoft.com/office/drawing/2014/main" id="{483570F1-F94F-40E9-91A7-1B0C2E0CB836}"/>
                </a:ext>
              </a:extLst>
            </p:cNvPr>
            <p:cNvGrpSpPr/>
            <p:nvPr/>
          </p:nvGrpSpPr>
          <p:grpSpPr>
            <a:xfrm>
              <a:off x="2108982" y="4214926"/>
              <a:ext cx="1512000" cy="1942427"/>
              <a:chOff x="2133448" y="4214926"/>
              <a:chExt cx="1512000" cy="1942427"/>
            </a:xfrm>
          </p:grpSpPr>
          <p:sp>
            <p:nvSpPr>
              <p:cNvPr id="135" name="Isosceles Triangle 134">
                <a:extLst>
                  <a:ext uri="{FF2B5EF4-FFF2-40B4-BE49-F238E27FC236}">
                    <a16:creationId xmlns:a16="http://schemas.microsoft.com/office/drawing/2014/main" id="{3EFC770C-E8EC-4DA3-8581-42D8747584F5}"/>
                  </a:ext>
                </a:extLst>
              </p:cNvPr>
              <p:cNvSpPr/>
              <p:nvPr/>
            </p:nvSpPr>
            <p:spPr>
              <a:xfrm>
                <a:off x="2730906" y="4214926"/>
                <a:ext cx="317084" cy="329556"/>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36" name="Rectangle: Rounded Corners 135">
                <a:extLst>
                  <a:ext uri="{FF2B5EF4-FFF2-40B4-BE49-F238E27FC236}">
                    <a16:creationId xmlns:a16="http://schemas.microsoft.com/office/drawing/2014/main" id="{C1391277-4DBF-421F-82AF-0CC0E4695527}"/>
                  </a:ext>
                </a:extLst>
              </p:cNvPr>
              <p:cNvSpPr/>
              <p:nvPr/>
            </p:nvSpPr>
            <p:spPr>
              <a:xfrm>
                <a:off x="2133448" y="4537353"/>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34" name="TextBox 133">
              <a:extLst>
                <a:ext uri="{FF2B5EF4-FFF2-40B4-BE49-F238E27FC236}">
                  <a16:creationId xmlns:a16="http://schemas.microsoft.com/office/drawing/2014/main" id="{A120FD76-9741-4ACB-939C-E1E1454718AA}"/>
                </a:ext>
              </a:extLst>
            </p:cNvPr>
            <p:cNvSpPr txBox="1"/>
            <p:nvPr/>
          </p:nvSpPr>
          <p:spPr>
            <a:xfrm>
              <a:off x="1995383" y="5308315"/>
              <a:ext cx="1694769" cy="461665"/>
            </a:xfrm>
            <a:prstGeom prst="rect">
              <a:avLst/>
            </a:prstGeom>
            <a:noFill/>
          </p:spPr>
          <p:txBody>
            <a:bodyPr wrap="square" rtlCol="1">
              <a:spAutoFit/>
            </a:bodyPr>
            <a:lstStyle/>
            <a:p>
              <a:pPr algn="ctr"/>
              <a:r>
                <a:rPr lang="fa-IR" sz="2400" dirty="0">
                  <a:cs typeface="2  Koodak" panose="00000700000000000000" pitchFamily="2" charset="-78"/>
                </a:rPr>
                <a:t>اهک ساختمان</a:t>
              </a:r>
            </a:p>
          </p:txBody>
        </p:sp>
      </p:grpSp>
      <p:grpSp>
        <p:nvGrpSpPr>
          <p:cNvPr id="137" name="Group 136">
            <a:extLst>
              <a:ext uri="{FF2B5EF4-FFF2-40B4-BE49-F238E27FC236}">
                <a16:creationId xmlns:a16="http://schemas.microsoft.com/office/drawing/2014/main" id="{20A08DC6-1E0E-410F-B59B-668A6048DECB}"/>
              </a:ext>
            </a:extLst>
          </p:cNvPr>
          <p:cNvGrpSpPr/>
          <p:nvPr/>
        </p:nvGrpSpPr>
        <p:grpSpPr>
          <a:xfrm>
            <a:off x="4619554" y="4214926"/>
            <a:ext cx="1512000" cy="1942427"/>
            <a:chOff x="4619554" y="4214926"/>
            <a:chExt cx="1512000" cy="1942427"/>
          </a:xfrm>
        </p:grpSpPr>
        <p:grpSp>
          <p:nvGrpSpPr>
            <p:cNvPr id="138" name="Group 137">
              <a:extLst>
                <a:ext uri="{FF2B5EF4-FFF2-40B4-BE49-F238E27FC236}">
                  <a16:creationId xmlns:a16="http://schemas.microsoft.com/office/drawing/2014/main" id="{C6BBE764-054F-45FF-8457-3253CBD0064C}"/>
                </a:ext>
              </a:extLst>
            </p:cNvPr>
            <p:cNvGrpSpPr/>
            <p:nvPr/>
          </p:nvGrpSpPr>
          <p:grpSpPr>
            <a:xfrm>
              <a:off x="4619554" y="4214926"/>
              <a:ext cx="1512000" cy="1942427"/>
              <a:chOff x="2133448" y="4214926"/>
              <a:chExt cx="1512000" cy="1942427"/>
            </a:xfrm>
          </p:grpSpPr>
          <p:sp>
            <p:nvSpPr>
              <p:cNvPr id="140" name="Isosceles Triangle 139">
                <a:extLst>
                  <a:ext uri="{FF2B5EF4-FFF2-40B4-BE49-F238E27FC236}">
                    <a16:creationId xmlns:a16="http://schemas.microsoft.com/office/drawing/2014/main" id="{A454449A-4DFC-4452-AEA5-332E4C0C6B87}"/>
                  </a:ext>
                </a:extLst>
              </p:cNvPr>
              <p:cNvSpPr/>
              <p:nvPr/>
            </p:nvSpPr>
            <p:spPr>
              <a:xfrm>
                <a:off x="2730906" y="4214926"/>
                <a:ext cx="317084" cy="329556"/>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41" name="Rectangle: Rounded Corners 140">
                <a:extLst>
                  <a:ext uri="{FF2B5EF4-FFF2-40B4-BE49-F238E27FC236}">
                    <a16:creationId xmlns:a16="http://schemas.microsoft.com/office/drawing/2014/main" id="{90CAE5A4-8FCC-406C-A5B2-00BA964DBCA9}"/>
                  </a:ext>
                </a:extLst>
              </p:cNvPr>
              <p:cNvSpPr/>
              <p:nvPr/>
            </p:nvSpPr>
            <p:spPr>
              <a:xfrm>
                <a:off x="2133448" y="4537353"/>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39" name="TextBox 138">
              <a:extLst>
                <a:ext uri="{FF2B5EF4-FFF2-40B4-BE49-F238E27FC236}">
                  <a16:creationId xmlns:a16="http://schemas.microsoft.com/office/drawing/2014/main" id="{F9A4DD96-7E87-475D-8C9B-FCBF4A67AFC6}"/>
                </a:ext>
              </a:extLst>
            </p:cNvPr>
            <p:cNvSpPr txBox="1"/>
            <p:nvPr/>
          </p:nvSpPr>
          <p:spPr>
            <a:xfrm>
              <a:off x="4975203" y="5277538"/>
              <a:ext cx="906000" cy="523220"/>
            </a:xfrm>
            <a:prstGeom prst="rect">
              <a:avLst/>
            </a:prstGeom>
            <a:noFill/>
          </p:spPr>
          <p:txBody>
            <a:bodyPr wrap="square" rtlCol="1">
              <a:spAutoFit/>
            </a:bodyPr>
            <a:lstStyle/>
            <a:p>
              <a:r>
                <a:rPr lang="fa-IR" sz="2800" dirty="0">
                  <a:cs typeface="2  Koodak" panose="00000700000000000000" pitchFamily="2" charset="-78"/>
                </a:rPr>
                <a:t>ملات</a:t>
              </a:r>
            </a:p>
          </p:txBody>
        </p:sp>
      </p:grpSp>
      <p:grpSp>
        <p:nvGrpSpPr>
          <p:cNvPr id="142" name="Group 141">
            <a:extLst>
              <a:ext uri="{FF2B5EF4-FFF2-40B4-BE49-F238E27FC236}">
                <a16:creationId xmlns:a16="http://schemas.microsoft.com/office/drawing/2014/main" id="{63FDB294-A616-4B18-B3F3-0A6F45ED52C9}"/>
              </a:ext>
            </a:extLst>
          </p:cNvPr>
          <p:cNvGrpSpPr/>
          <p:nvPr/>
        </p:nvGrpSpPr>
        <p:grpSpPr>
          <a:xfrm>
            <a:off x="5811061" y="745206"/>
            <a:ext cx="1684198" cy="1905729"/>
            <a:chOff x="5800949" y="709333"/>
            <a:chExt cx="1684198" cy="1905729"/>
          </a:xfrm>
        </p:grpSpPr>
        <p:grpSp>
          <p:nvGrpSpPr>
            <p:cNvPr id="143" name="Group 142">
              <a:extLst>
                <a:ext uri="{FF2B5EF4-FFF2-40B4-BE49-F238E27FC236}">
                  <a16:creationId xmlns:a16="http://schemas.microsoft.com/office/drawing/2014/main" id="{082AB3E6-5E14-407B-A41F-20279A169122}"/>
                </a:ext>
              </a:extLst>
            </p:cNvPr>
            <p:cNvGrpSpPr/>
            <p:nvPr/>
          </p:nvGrpSpPr>
          <p:grpSpPr>
            <a:xfrm>
              <a:off x="5887048" y="709333"/>
              <a:ext cx="1512000" cy="1905729"/>
              <a:chOff x="850077" y="730217"/>
              <a:chExt cx="1512000" cy="1905729"/>
            </a:xfrm>
          </p:grpSpPr>
          <p:sp>
            <p:nvSpPr>
              <p:cNvPr id="145" name="Rectangle: Rounded Corners 144">
                <a:extLst>
                  <a:ext uri="{FF2B5EF4-FFF2-40B4-BE49-F238E27FC236}">
                    <a16:creationId xmlns:a16="http://schemas.microsoft.com/office/drawing/2014/main" id="{C9A1EEED-2878-4533-ABD8-81B44BB10FAF}"/>
                  </a:ext>
                </a:extLst>
              </p:cNvPr>
              <p:cNvSpPr/>
              <p:nvPr/>
            </p:nvSpPr>
            <p:spPr>
              <a:xfrm>
                <a:off x="850077" y="730217"/>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46" name="Isosceles Triangle 145">
                <a:extLst>
                  <a:ext uri="{FF2B5EF4-FFF2-40B4-BE49-F238E27FC236}">
                    <a16:creationId xmlns:a16="http://schemas.microsoft.com/office/drawing/2014/main" id="{A07F8F2F-5DF8-4BB7-AD61-2C86028BA427}"/>
                  </a:ext>
                </a:extLst>
              </p:cNvPr>
              <p:cNvSpPr/>
              <p:nvPr/>
            </p:nvSpPr>
            <p:spPr>
              <a:xfrm rot="10800000">
                <a:off x="1447536" y="2313517"/>
                <a:ext cx="317084" cy="322429"/>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44" name="TextBox 143">
              <a:extLst>
                <a:ext uri="{FF2B5EF4-FFF2-40B4-BE49-F238E27FC236}">
                  <a16:creationId xmlns:a16="http://schemas.microsoft.com/office/drawing/2014/main" id="{31025E12-FCB6-47D8-912F-F7FC509A51E6}"/>
                </a:ext>
              </a:extLst>
            </p:cNvPr>
            <p:cNvSpPr txBox="1"/>
            <p:nvPr/>
          </p:nvSpPr>
          <p:spPr>
            <a:xfrm>
              <a:off x="5800949" y="910927"/>
              <a:ext cx="1684198" cy="461665"/>
            </a:xfrm>
            <a:prstGeom prst="rect">
              <a:avLst/>
            </a:prstGeom>
            <a:noFill/>
          </p:spPr>
          <p:txBody>
            <a:bodyPr wrap="square" rtlCol="1">
              <a:spAutoFit/>
            </a:bodyPr>
            <a:lstStyle/>
            <a:p>
              <a:pPr algn="ctr"/>
              <a:r>
                <a:rPr lang="fa-IR" sz="2400" dirty="0">
                  <a:cs typeface="2  Koodak" panose="00000700000000000000" pitchFamily="2" charset="-78"/>
                </a:rPr>
                <a:t>سنگ ساختمان</a:t>
              </a:r>
            </a:p>
          </p:txBody>
        </p:sp>
      </p:grpSp>
      <p:grpSp>
        <p:nvGrpSpPr>
          <p:cNvPr id="147" name="Group 146">
            <a:extLst>
              <a:ext uri="{FF2B5EF4-FFF2-40B4-BE49-F238E27FC236}">
                <a16:creationId xmlns:a16="http://schemas.microsoft.com/office/drawing/2014/main" id="{6C482925-1DA3-42A2-B29F-4CEAF988805F}"/>
              </a:ext>
            </a:extLst>
          </p:cNvPr>
          <p:cNvGrpSpPr/>
          <p:nvPr/>
        </p:nvGrpSpPr>
        <p:grpSpPr>
          <a:xfrm>
            <a:off x="6962698" y="4222056"/>
            <a:ext cx="1861561" cy="1942427"/>
            <a:chOff x="6962698" y="4222056"/>
            <a:chExt cx="1861561" cy="1942427"/>
          </a:xfrm>
        </p:grpSpPr>
        <p:grpSp>
          <p:nvGrpSpPr>
            <p:cNvPr id="148" name="Group 147">
              <a:extLst>
                <a:ext uri="{FF2B5EF4-FFF2-40B4-BE49-F238E27FC236}">
                  <a16:creationId xmlns:a16="http://schemas.microsoft.com/office/drawing/2014/main" id="{1079662A-2C73-4240-9514-FA8028C8CFAE}"/>
                </a:ext>
              </a:extLst>
            </p:cNvPr>
            <p:cNvGrpSpPr/>
            <p:nvPr/>
          </p:nvGrpSpPr>
          <p:grpSpPr>
            <a:xfrm>
              <a:off x="7151152" y="4222056"/>
              <a:ext cx="1512000" cy="1942427"/>
              <a:chOff x="2133448" y="4214926"/>
              <a:chExt cx="1512000" cy="1942427"/>
            </a:xfrm>
          </p:grpSpPr>
          <p:sp>
            <p:nvSpPr>
              <p:cNvPr id="150" name="Isosceles Triangle 149">
                <a:extLst>
                  <a:ext uri="{FF2B5EF4-FFF2-40B4-BE49-F238E27FC236}">
                    <a16:creationId xmlns:a16="http://schemas.microsoft.com/office/drawing/2014/main" id="{0F02A74E-A0D0-43A6-AF86-66C58C8D8496}"/>
                  </a:ext>
                </a:extLst>
              </p:cNvPr>
              <p:cNvSpPr/>
              <p:nvPr/>
            </p:nvSpPr>
            <p:spPr>
              <a:xfrm>
                <a:off x="2730906" y="4214926"/>
                <a:ext cx="317084" cy="329556"/>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1" name="Rectangle: Rounded Corners 150">
                <a:extLst>
                  <a:ext uri="{FF2B5EF4-FFF2-40B4-BE49-F238E27FC236}">
                    <a16:creationId xmlns:a16="http://schemas.microsoft.com/office/drawing/2014/main" id="{75C33966-FA75-421B-BDD3-376C195D64E8}"/>
                  </a:ext>
                </a:extLst>
              </p:cNvPr>
              <p:cNvSpPr/>
              <p:nvPr/>
            </p:nvSpPr>
            <p:spPr>
              <a:xfrm>
                <a:off x="2133448" y="4537353"/>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49" name="TextBox 148">
              <a:extLst>
                <a:ext uri="{FF2B5EF4-FFF2-40B4-BE49-F238E27FC236}">
                  <a16:creationId xmlns:a16="http://schemas.microsoft.com/office/drawing/2014/main" id="{70D5C777-5203-4BB8-969B-8A666ECBBEC4}"/>
                </a:ext>
              </a:extLst>
            </p:cNvPr>
            <p:cNvSpPr txBox="1"/>
            <p:nvPr/>
          </p:nvSpPr>
          <p:spPr>
            <a:xfrm>
              <a:off x="6962698" y="5277538"/>
              <a:ext cx="1861561" cy="461665"/>
            </a:xfrm>
            <a:prstGeom prst="rect">
              <a:avLst/>
            </a:prstGeom>
            <a:noFill/>
          </p:spPr>
          <p:txBody>
            <a:bodyPr wrap="square" rtlCol="1">
              <a:spAutoFit/>
            </a:bodyPr>
            <a:lstStyle/>
            <a:p>
              <a:pPr algn="ctr"/>
              <a:r>
                <a:rPr lang="fa-IR" sz="2400" dirty="0">
                  <a:cs typeface="2  Koodak" panose="00000700000000000000" pitchFamily="2" charset="-78"/>
                </a:rPr>
                <a:t>کاشی سرامیکی</a:t>
              </a:r>
            </a:p>
          </p:txBody>
        </p:sp>
      </p:grpSp>
      <p:grpSp>
        <p:nvGrpSpPr>
          <p:cNvPr id="152" name="Group 151">
            <a:extLst>
              <a:ext uri="{FF2B5EF4-FFF2-40B4-BE49-F238E27FC236}">
                <a16:creationId xmlns:a16="http://schemas.microsoft.com/office/drawing/2014/main" id="{65C4B8D9-B76F-4E76-A068-D0CB7584B612}"/>
              </a:ext>
            </a:extLst>
          </p:cNvPr>
          <p:cNvGrpSpPr/>
          <p:nvPr/>
        </p:nvGrpSpPr>
        <p:grpSpPr>
          <a:xfrm>
            <a:off x="8427081" y="756470"/>
            <a:ext cx="1512565" cy="1905729"/>
            <a:chOff x="8413142" y="730214"/>
            <a:chExt cx="1512565" cy="1905729"/>
          </a:xfrm>
        </p:grpSpPr>
        <p:grpSp>
          <p:nvGrpSpPr>
            <p:cNvPr id="153" name="Group 152">
              <a:extLst>
                <a:ext uri="{FF2B5EF4-FFF2-40B4-BE49-F238E27FC236}">
                  <a16:creationId xmlns:a16="http://schemas.microsoft.com/office/drawing/2014/main" id="{5AD647DA-AD54-4D19-9F55-7277C0B6A9B4}"/>
                </a:ext>
              </a:extLst>
            </p:cNvPr>
            <p:cNvGrpSpPr/>
            <p:nvPr/>
          </p:nvGrpSpPr>
          <p:grpSpPr>
            <a:xfrm>
              <a:off x="8413707" y="730214"/>
              <a:ext cx="1512000" cy="1905729"/>
              <a:chOff x="850077" y="730217"/>
              <a:chExt cx="1512000" cy="1905729"/>
            </a:xfrm>
          </p:grpSpPr>
          <p:sp>
            <p:nvSpPr>
              <p:cNvPr id="155" name="Rectangle: Rounded Corners 154">
                <a:extLst>
                  <a:ext uri="{FF2B5EF4-FFF2-40B4-BE49-F238E27FC236}">
                    <a16:creationId xmlns:a16="http://schemas.microsoft.com/office/drawing/2014/main" id="{1961610F-86B3-44BF-8140-E370B4E5A53B}"/>
                  </a:ext>
                </a:extLst>
              </p:cNvPr>
              <p:cNvSpPr/>
              <p:nvPr/>
            </p:nvSpPr>
            <p:spPr>
              <a:xfrm>
                <a:off x="850077" y="730217"/>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6" name="Isosceles Triangle 155">
                <a:extLst>
                  <a:ext uri="{FF2B5EF4-FFF2-40B4-BE49-F238E27FC236}">
                    <a16:creationId xmlns:a16="http://schemas.microsoft.com/office/drawing/2014/main" id="{D65B25DE-0BA8-48CF-8213-3CA525CD5D9E}"/>
                  </a:ext>
                </a:extLst>
              </p:cNvPr>
              <p:cNvSpPr/>
              <p:nvPr/>
            </p:nvSpPr>
            <p:spPr>
              <a:xfrm rot="10800000">
                <a:off x="1447536" y="2313517"/>
                <a:ext cx="317084" cy="322429"/>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54" name="TextBox 153">
              <a:extLst>
                <a:ext uri="{FF2B5EF4-FFF2-40B4-BE49-F238E27FC236}">
                  <a16:creationId xmlns:a16="http://schemas.microsoft.com/office/drawing/2014/main" id="{B9A542CC-7191-4FF5-9B49-461E949FECBD}"/>
                </a:ext>
              </a:extLst>
            </p:cNvPr>
            <p:cNvSpPr txBox="1"/>
            <p:nvPr/>
          </p:nvSpPr>
          <p:spPr>
            <a:xfrm>
              <a:off x="8413142" y="924695"/>
              <a:ext cx="1512565" cy="461665"/>
            </a:xfrm>
            <a:prstGeom prst="rect">
              <a:avLst/>
            </a:prstGeom>
            <a:noFill/>
          </p:spPr>
          <p:txBody>
            <a:bodyPr wrap="square" rtlCol="1">
              <a:spAutoFit/>
            </a:bodyPr>
            <a:lstStyle/>
            <a:p>
              <a:pPr algn="ctr"/>
              <a:r>
                <a:rPr lang="fa-IR" sz="2400" dirty="0">
                  <a:cs typeface="2  Koodak" panose="00000700000000000000" pitchFamily="2" charset="-78"/>
                </a:rPr>
                <a:t>عایق رطوبتی</a:t>
              </a:r>
            </a:p>
          </p:txBody>
        </p:sp>
      </p:grpSp>
      <p:grpSp>
        <p:nvGrpSpPr>
          <p:cNvPr id="157" name="Group 156">
            <a:extLst>
              <a:ext uri="{FF2B5EF4-FFF2-40B4-BE49-F238E27FC236}">
                <a16:creationId xmlns:a16="http://schemas.microsoft.com/office/drawing/2014/main" id="{1953C2FA-C88F-49D0-943B-5574FAED7655}"/>
              </a:ext>
            </a:extLst>
          </p:cNvPr>
          <p:cNvGrpSpPr/>
          <p:nvPr/>
        </p:nvGrpSpPr>
        <p:grpSpPr>
          <a:xfrm>
            <a:off x="9699592" y="4214926"/>
            <a:ext cx="1512000" cy="1942427"/>
            <a:chOff x="9699592" y="4214926"/>
            <a:chExt cx="1512000" cy="1942427"/>
          </a:xfrm>
        </p:grpSpPr>
        <p:grpSp>
          <p:nvGrpSpPr>
            <p:cNvPr id="158" name="Group 157">
              <a:extLst>
                <a:ext uri="{FF2B5EF4-FFF2-40B4-BE49-F238E27FC236}">
                  <a16:creationId xmlns:a16="http://schemas.microsoft.com/office/drawing/2014/main" id="{B6758DF1-C7B1-4515-B5CC-5DFA3681B4ED}"/>
                </a:ext>
              </a:extLst>
            </p:cNvPr>
            <p:cNvGrpSpPr/>
            <p:nvPr/>
          </p:nvGrpSpPr>
          <p:grpSpPr>
            <a:xfrm>
              <a:off x="9699592" y="4214926"/>
              <a:ext cx="1512000" cy="1942427"/>
              <a:chOff x="2133448" y="4214926"/>
              <a:chExt cx="1512000" cy="1942427"/>
            </a:xfrm>
          </p:grpSpPr>
          <p:sp>
            <p:nvSpPr>
              <p:cNvPr id="160" name="Isosceles Triangle 159">
                <a:extLst>
                  <a:ext uri="{FF2B5EF4-FFF2-40B4-BE49-F238E27FC236}">
                    <a16:creationId xmlns:a16="http://schemas.microsoft.com/office/drawing/2014/main" id="{F97C4013-5313-4F9B-BC5D-B4028E5D0DE2}"/>
                  </a:ext>
                </a:extLst>
              </p:cNvPr>
              <p:cNvSpPr/>
              <p:nvPr/>
            </p:nvSpPr>
            <p:spPr>
              <a:xfrm>
                <a:off x="2730906" y="4214926"/>
                <a:ext cx="317084" cy="329556"/>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61" name="Rectangle: Rounded Corners 160">
                <a:extLst>
                  <a:ext uri="{FF2B5EF4-FFF2-40B4-BE49-F238E27FC236}">
                    <a16:creationId xmlns:a16="http://schemas.microsoft.com/office/drawing/2014/main" id="{6014C980-33F7-4430-BF4F-716A66DA282B}"/>
                  </a:ext>
                </a:extLst>
              </p:cNvPr>
              <p:cNvSpPr/>
              <p:nvPr/>
            </p:nvSpPr>
            <p:spPr>
              <a:xfrm>
                <a:off x="2133448" y="4537353"/>
                <a:ext cx="1512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59" name="TextBox 158">
              <a:extLst>
                <a:ext uri="{FF2B5EF4-FFF2-40B4-BE49-F238E27FC236}">
                  <a16:creationId xmlns:a16="http://schemas.microsoft.com/office/drawing/2014/main" id="{0D372BBB-7B48-4100-BBA9-65EAEFD50B63}"/>
                </a:ext>
              </a:extLst>
            </p:cNvPr>
            <p:cNvSpPr txBox="1"/>
            <p:nvPr/>
          </p:nvSpPr>
          <p:spPr>
            <a:xfrm>
              <a:off x="9699592" y="4788568"/>
              <a:ext cx="1512000" cy="1200329"/>
            </a:xfrm>
            <a:prstGeom prst="rect">
              <a:avLst/>
            </a:prstGeom>
            <a:noFill/>
          </p:spPr>
          <p:txBody>
            <a:bodyPr wrap="square" rtlCol="1">
              <a:spAutoFit/>
            </a:bodyPr>
            <a:lstStyle/>
            <a:p>
              <a:pPr algn="ctr"/>
              <a:r>
                <a:rPr lang="fa-IR" sz="2400" dirty="0">
                  <a:cs typeface="2  Koodak" panose="00000700000000000000" pitchFamily="2" charset="-78"/>
                </a:rPr>
                <a:t>رنگ و پوشش ساختمان</a:t>
              </a:r>
            </a:p>
          </p:txBody>
        </p:sp>
      </p:grpSp>
      <p:grpSp>
        <p:nvGrpSpPr>
          <p:cNvPr id="162" name="Group 161">
            <a:extLst>
              <a:ext uri="{FF2B5EF4-FFF2-40B4-BE49-F238E27FC236}">
                <a16:creationId xmlns:a16="http://schemas.microsoft.com/office/drawing/2014/main" id="{9E4FF94F-4734-4229-A03E-1FC8246A1EC8}"/>
              </a:ext>
            </a:extLst>
          </p:cNvPr>
          <p:cNvGrpSpPr/>
          <p:nvPr/>
        </p:nvGrpSpPr>
        <p:grpSpPr>
          <a:xfrm>
            <a:off x="11111937" y="714218"/>
            <a:ext cx="1080000" cy="1942429"/>
            <a:chOff x="11112000" y="700644"/>
            <a:chExt cx="1080000" cy="1942429"/>
          </a:xfrm>
        </p:grpSpPr>
        <p:grpSp>
          <p:nvGrpSpPr>
            <p:cNvPr id="163" name="Group 162">
              <a:extLst>
                <a:ext uri="{FF2B5EF4-FFF2-40B4-BE49-F238E27FC236}">
                  <a16:creationId xmlns:a16="http://schemas.microsoft.com/office/drawing/2014/main" id="{7E8EDB0C-A65F-42E4-BBB5-5446438A2240}"/>
                </a:ext>
              </a:extLst>
            </p:cNvPr>
            <p:cNvGrpSpPr/>
            <p:nvPr/>
          </p:nvGrpSpPr>
          <p:grpSpPr>
            <a:xfrm>
              <a:off x="11112000" y="700644"/>
              <a:ext cx="1080000" cy="1942429"/>
              <a:chOff x="11112000" y="700644"/>
              <a:chExt cx="1080000" cy="1942429"/>
            </a:xfrm>
          </p:grpSpPr>
          <p:sp>
            <p:nvSpPr>
              <p:cNvPr id="165" name="Rectangle: Rounded Corners 164">
                <a:extLst>
                  <a:ext uri="{FF2B5EF4-FFF2-40B4-BE49-F238E27FC236}">
                    <a16:creationId xmlns:a16="http://schemas.microsoft.com/office/drawing/2014/main" id="{CE19C502-9BEB-49E0-B198-3E481DDEB747}"/>
                  </a:ext>
                </a:extLst>
              </p:cNvPr>
              <p:cNvSpPr/>
              <p:nvPr/>
            </p:nvSpPr>
            <p:spPr>
              <a:xfrm>
                <a:off x="11112000" y="700644"/>
                <a:ext cx="1080000" cy="1620000"/>
              </a:xfrm>
              <a:prstGeom prst="roundRect">
                <a:avLst>
                  <a:gd name="adj" fmla="val 8813"/>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66" name="Isosceles Triangle 165">
                <a:extLst>
                  <a:ext uri="{FF2B5EF4-FFF2-40B4-BE49-F238E27FC236}">
                    <a16:creationId xmlns:a16="http://schemas.microsoft.com/office/drawing/2014/main" id="{E7A1BE20-4876-4E7F-B050-BC07C9100958}"/>
                  </a:ext>
                </a:extLst>
              </p:cNvPr>
              <p:cNvSpPr/>
              <p:nvPr/>
            </p:nvSpPr>
            <p:spPr>
              <a:xfrm rot="10800000">
                <a:off x="11521063" y="2320644"/>
                <a:ext cx="317084" cy="322429"/>
              </a:xfrm>
              <a:prstGeom prst="triangle">
                <a:avLst/>
              </a:prstGeom>
              <a:solidFill>
                <a:srgbClr val="F69B7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grpSp>
        <p:sp>
          <p:nvSpPr>
            <p:cNvPr id="164" name="TextBox 163">
              <a:extLst>
                <a:ext uri="{FF2B5EF4-FFF2-40B4-BE49-F238E27FC236}">
                  <a16:creationId xmlns:a16="http://schemas.microsoft.com/office/drawing/2014/main" id="{08D805A7-0D68-4257-800E-53C6A35C596E}"/>
                </a:ext>
              </a:extLst>
            </p:cNvPr>
            <p:cNvSpPr txBox="1"/>
            <p:nvPr/>
          </p:nvSpPr>
          <p:spPr>
            <a:xfrm>
              <a:off x="11213417" y="960019"/>
              <a:ext cx="877165" cy="461665"/>
            </a:xfrm>
            <a:prstGeom prst="rect">
              <a:avLst/>
            </a:prstGeom>
            <a:noFill/>
          </p:spPr>
          <p:txBody>
            <a:bodyPr wrap="square" rtlCol="1">
              <a:spAutoFit/>
            </a:bodyPr>
            <a:lstStyle/>
            <a:p>
              <a:r>
                <a:rPr lang="fa-IR" sz="2400" dirty="0">
                  <a:cs typeface="2  Koodak" panose="00000700000000000000" pitchFamily="2" charset="-78"/>
                </a:rPr>
                <a:t>چوب</a:t>
              </a:r>
            </a:p>
          </p:txBody>
        </p:sp>
      </p:grpSp>
      <p:sp>
        <p:nvSpPr>
          <p:cNvPr id="40" name="Freeform: Shape 39">
            <a:extLst>
              <a:ext uri="{FF2B5EF4-FFF2-40B4-BE49-F238E27FC236}">
                <a16:creationId xmlns:a16="http://schemas.microsoft.com/office/drawing/2014/main" id="{E622B3F3-6A1D-4397-B003-9452A3D639E7}"/>
              </a:ext>
            </a:extLst>
          </p:cNvPr>
          <p:cNvSpPr/>
          <p:nvPr/>
        </p:nvSpPr>
        <p:spPr>
          <a:xfrm>
            <a:off x="-129767" y="2750104"/>
            <a:ext cx="463137" cy="214028"/>
          </a:xfrm>
          <a:custGeom>
            <a:avLst/>
            <a:gdLst>
              <a:gd name="connsiteX0" fmla="*/ 463137 w 463137"/>
              <a:gd name="connsiteY0" fmla="*/ 178402 h 214028"/>
              <a:gd name="connsiteX1" fmla="*/ 201880 w 463137"/>
              <a:gd name="connsiteY1" fmla="*/ 272 h 214028"/>
              <a:gd name="connsiteX2" fmla="*/ 0 w 463137"/>
              <a:gd name="connsiteY2" fmla="*/ 214028 h 214028"/>
              <a:gd name="connsiteX3" fmla="*/ 0 w 463137"/>
              <a:gd name="connsiteY3" fmla="*/ 214028 h 214028"/>
            </a:gdLst>
            <a:ahLst/>
            <a:cxnLst>
              <a:cxn ang="0">
                <a:pos x="connsiteX0" y="connsiteY0"/>
              </a:cxn>
              <a:cxn ang="0">
                <a:pos x="connsiteX1" y="connsiteY1"/>
              </a:cxn>
              <a:cxn ang="0">
                <a:pos x="connsiteX2" y="connsiteY2"/>
              </a:cxn>
              <a:cxn ang="0">
                <a:pos x="connsiteX3" y="connsiteY3"/>
              </a:cxn>
            </a:cxnLst>
            <a:rect l="l" t="t" r="r" b="b"/>
            <a:pathLst>
              <a:path w="463137" h="214028">
                <a:moveTo>
                  <a:pt x="463137" y="178402"/>
                </a:moveTo>
                <a:cubicBezTo>
                  <a:pt x="371103" y="86368"/>
                  <a:pt x="279069" y="-5666"/>
                  <a:pt x="201880" y="272"/>
                </a:cubicBezTo>
                <a:cubicBezTo>
                  <a:pt x="124690" y="6210"/>
                  <a:pt x="0" y="214028"/>
                  <a:pt x="0" y="214028"/>
                </a:cubicBezTo>
                <a:lnTo>
                  <a:pt x="0" y="214028"/>
                </a:lnTo>
              </a:path>
            </a:pathLst>
          </a:custGeom>
          <a:noFill/>
          <a:ln w="698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267888588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 calcmode="lin" valueType="num">
                                      <p:cBhvr>
                                        <p:cTn id="7" dur="500" fill="hold"/>
                                        <p:tgtEl>
                                          <p:spTgt spid="102"/>
                                        </p:tgtEl>
                                        <p:attrNameLst>
                                          <p:attrName>ppt_w</p:attrName>
                                        </p:attrNameLst>
                                      </p:cBhvr>
                                      <p:tavLst>
                                        <p:tav tm="0">
                                          <p:val>
                                            <p:fltVal val="0"/>
                                          </p:val>
                                        </p:tav>
                                        <p:tav tm="100000">
                                          <p:val>
                                            <p:strVal val="#ppt_w"/>
                                          </p:val>
                                        </p:tav>
                                      </p:tavLst>
                                    </p:anim>
                                    <p:anim calcmode="lin" valueType="num">
                                      <p:cBhvr>
                                        <p:cTn id="8" dur="500" fill="hold"/>
                                        <p:tgtEl>
                                          <p:spTgt spid="102"/>
                                        </p:tgtEl>
                                        <p:attrNameLst>
                                          <p:attrName>ppt_h</p:attrName>
                                        </p:attrNameLst>
                                      </p:cBhvr>
                                      <p:tavLst>
                                        <p:tav tm="0">
                                          <p:val>
                                            <p:fltVal val="0"/>
                                          </p:val>
                                        </p:tav>
                                        <p:tav tm="100000">
                                          <p:val>
                                            <p:strVal val="#ppt_h"/>
                                          </p:val>
                                        </p:tav>
                                      </p:tavLst>
                                    </p:anim>
                                    <p:animEffect transition="in" filter="fade">
                                      <p:cBhvr>
                                        <p:cTn id="9" dur="500"/>
                                        <p:tgtEl>
                                          <p:spTgt spid="102"/>
                                        </p:tgtEl>
                                      </p:cBhvr>
                                    </p:animEffect>
                                  </p:childTnLst>
                                </p:cTn>
                              </p:par>
                            </p:childTnLst>
                          </p:cTn>
                        </p:par>
                        <p:par>
                          <p:cTn id="10" fill="hold">
                            <p:stCondLst>
                              <p:cond delay="500"/>
                            </p:stCondLst>
                            <p:childTnLst>
                              <p:par>
                                <p:cTn id="11" presetID="22" presetClass="entr" presetSubtype="4" fill="hold" nodeType="afterEffect">
                                  <p:stCondLst>
                                    <p:cond delay="0"/>
                                  </p:stCondLst>
                                  <p:childTnLst>
                                    <p:set>
                                      <p:cBhvr>
                                        <p:cTn id="12" dur="1" fill="hold">
                                          <p:stCondLst>
                                            <p:cond delay="0"/>
                                          </p:stCondLst>
                                        </p:cTn>
                                        <p:tgtEl>
                                          <p:spTgt spid="103"/>
                                        </p:tgtEl>
                                        <p:attrNameLst>
                                          <p:attrName>style.visibility</p:attrName>
                                        </p:attrNameLst>
                                      </p:cBhvr>
                                      <p:to>
                                        <p:strVal val="visible"/>
                                      </p:to>
                                    </p:set>
                                    <p:animEffect transition="in" filter="wipe(down)">
                                      <p:cBhvr>
                                        <p:cTn id="13" dur="500"/>
                                        <p:tgtEl>
                                          <p:spTgt spid="103"/>
                                        </p:tgtEl>
                                      </p:cBhvr>
                                    </p:animEffect>
                                  </p:childTnLst>
                                </p:cTn>
                              </p:par>
                            </p:childTnLst>
                          </p:cTn>
                        </p:par>
                        <p:par>
                          <p:cTn id="14" fill="hold">
                            <p:stCondLst>
                              <p:cond delay="1000"/>
                            </p:stCondLst>
                            <p:childTnLst>
                              <p:par>
                                <p:cTn id="15" presetID="53" presetClass="entr" presetSubtype="16" fill="hold" nodeType="afterEffect">
                                  <p:stCondLst>
                                    <p:cond delay="0"/>
                                  </p:stCondLst>
                                  <p:childTnLst>
                                    <p:set>
                                      <p:cBhvr>
                                        <p:cTn id="16" dur="1" fill="hold">
                                          <p:stCondLst>
                                            <p:cond delay="0"/>
                                          </p:stCondLst>
                                        </p:cTn>
                                        <p:tgtEl>
                                          <p:spTgt spid="120"/>
                                        </p:tgtEl>
                                        <p:attrNameLst>
                                          <p:attrName>style.visibility</p:attrName>
                                        </p:attrNameLst>
                                      </p:cBhvr>
                                      <p:to>
                                        <p:strVal val="visible"/>
                                      </p:to>
                                    </p:set>
                                    <p:anim calcmode="lin" valueType="num">
                                      <p:cBhvr>
                                        <p:cTn id="17" dur="1250" fill="hold"/>
                                        <p:tgtEl>
                                          <p:spTgt spid="120"/>
                                        </p:tgtEl>
                                        <p:attrNameLst>
                                          <p:attrName>ppt_w</p:attrName>
                                        </p:attrNameLst>
                                      </p:cBhvr>
                                      <p:tavLst>
                                        <p:tav tm="0">
                                          <p:val>
                                            <p:fltVal val="0"/>
                                          </p:val>
                                        </p:tav>
                                        <p:tav tm="100000">
                                          <p:val>
                                            <p:strVal val="#ppt_w"/>
                                          </p:val>
                                        </p:tav>
                                      </p:tavLst>
                                    </p:anim>
                                    <p:anim calcmode="lin" valueType="num">
                                      <p:cBhvr>
                                        <p:cTn id="18" dur="1250" fill="hold"/>
                                        <p:tgtEl>
                                          <p:spTgt spid="120"/>
                                        </p:tgtEl>
                                        <p:attrNameLst>
                                          <p:attrName>ppt_h</p:attrName>
                                        </p:attrNameLst>
                                      </p:cBhvr>
                                      <p:tavLst>
                                        <p:tav tm="0">
                                          <p:val>
                                            <p:fltVal val="0"/>
                                          </p:val>
                                        </p:tav>
                                        <p:tav tm="100000">
                                          <p:val>
                                            <p:strVal val="#ppt_h"/>
                                          </p:val>
                                        </p:tav>
                                      </p:tavLst>
                                    </p:anim>
                                    <p:animEffect transition="in" filter="fade">
                                      <p:cBhvr>
                                        <p:cTn id="19" dur="1250"/>
                                        <p:tgtEl>
                                          <p:spTgt spid="12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112"/>
                                        </p:tgtEl>
                                        <p:attrNameLst>
                                          <p:attrName>style.visibility</p:attrName>
                                        </p:attrNameLst>
                                      </p:cBhvr>
                                      <p:to>
                                        <p:strVal val="visible"/>
                                      </p:to>
                                    </p:set>
                                    <p:anim calcmode="lin" valueType="num">
                                      <p:cBhvr>
                                        <p:cTn id="24" dur="500" fill="hold"/>
                                        <p:tgtEl>
                                          <p:spTgt spid="112"/>
                                        </p:tgtEl>
                                        <p:attrNameLst>
                                          <p:attrName>ppt_w</p:attrName>
                                        </p:attrNameLst>
                                      </p:cBhvr>
                                      <p:tavLst>
                                        <p:tav tm="0">
                                          <p:val>
                                            <p:fltVal val="0"/>
                                          </p:val>
                                        </p:tav>
                                        <p:tav tm="100000">
                                          <p:val>
                                            <p:strVal val="#ppt_w"/>
                                          </p:val>
                                        </p:tav>
                                      </p:tavLst>
                                    </p:anim>
                                    <p:anim calcmode="lin" valueType="num">
                                      <p:cBhvr>
                                        <p:cTn id="25" dur="500" fill="hold"/>
                                        <p:tgtEl>
                                          <p:spTgt spid="112"/>
                                        </p:tgtEl>
                                        <p:attrNameLst>
                                          <p:attrName>ppt_h</p:attrName>
                                        </p:attrNameLst>
                                      </p:cBhvr>
                                      <p:tavLst>
                                        <p:tav tm="0">
                                          <p:val>
                                            <p:fltVal val="0"/>
                                          </p:val>
                                        </p:tav>
                                        <p:tav tm="100000">
                                          <p:val>
                                            <p:strVal val="#ppt_h"/>
                                          </p:val>
                                        </p:tav>
                                      </p:tavLst>
                                    </p:anim>
                                    <p:animEffect transition="in" filter="fade">
                                      <p:cBhvr>
                                        <p:cTn id="26" dur="500"/>
                                        <p:tgtEl>
                                          <p:spTgt spid="112"/>
                                        </p:tgtEl>
                                      </p:cBhvr>
                                    </p:animEffect>
                                  </p:childTnLst>
                                </p:cTn>
                              </p:par>
                            </p:childTnLst>
                          </p:cTn>
                        </p:par>
                        <p:par>
                          <p:cTn id="27" fill="hold">
                            <p:stCondLst>
                              <p:cond delay="500"/>
                            </p:stCondLst>
                            <p:childTnLst>
                              <p:par>
                                <p:cTn id="28" presetID="22" presetClass="entr" presetSubtype="1" fill="hold" nodeType="afterEffect">
                                  <p:stCondLst>
                                    <p:cond delay="0"/>
                                  </p:stCondLst>
                                  <p:childTnLst>
                                    <p:set>
                                      <p:cBhvr>
                                        <p:cTn id="29" dur="1" fill="hold">
                                          <p:stCondLst>
                                            <p:cond delay="0"/>
                                          </p:stCondLst>
                                        </p:cTn>
                                        <p:tgtEl>
                                          <p:spTgt spid="113"/>
                                        </p:tgtEl>
                                        <p:attrNameLst>
                                          <p:attrName>style.visibility</p:attrName>
                                        </p:attrNameLst>
                                      </p:cBhvr>
                                      <p:to>
                                        <p:strVal val="visible"/>
                                      </p:to>
                                    </p:set>
                                    <p:animEffect transition="in" filter="wipe(up)">
                                      <p:cBhvr>
                                        <p:cTn id="30" dur="500"/>
                                        <p:tgtEl>
                                          <p:spTgt spid="113"/>
                                        </p:tgtEl>
                                      </p:cBhvr>
                                    </p:animEffect>
                                  </p:childTnLst>
                                </p:cTn>
                              </p:par>
                            </p:childTnLst>
                          </p:cTn>
                        </p:par>
                        <p:par>
                          <p:cTn id="31" fill="hold">
                            <p:stCondLst>
                              <p:cond delay="1000"/>
                            </p:stCondLst>
                            <p:childTnLst>
                              <p:par>
                                <p:cTn id="32" presetID="53" presetClass="entr" presetSubtype="16" fill="hold" nodeType="afterEffect">
                                  <p:stCondLst>
                                    <p:cond delay="0"/>
                                  </p:stCondLst>
                                  <p:childTnLst>
                                    <p:set>
                                      <p:cBhvr>
                                        <p:cTn id="33" dur="1" fill="hold">
                                          <p:stCondLst>
                                            <p:cond delay="0"/>
                                          </p:stCondLst>
                                        </p:cTn>
                                        <p:tgtEl>
                                          <p:spTgt spid="132"/>
                                        </p:tgtEl>
                                        <p:attrNameLst>
                                          <p:attrName>style.visibility</p:attrName>
                                        </p:attrNameLst>
                                      </p:cBhvr>
                                      <p:to>
                                        <p:strVal val="visible"/>
                                      </p:to>
                                    </p:set>
                                    <p:anim calcmode="lin" valueType="num">
                                      <p:cBhvr>
                                        <p:cTn id="34" dur="1750" fill="hold"/>
                                        <p:tgtEl>
                                          <p:spTgt spid="132"/>
                                        </p:tgtEl>
                                        <p:attrNameLst>
                                          <p:attrName>ppt_w</p:attrName>
                                        </p:attrNameLst>
                                      </p:cBhvr>
                                      <p:tavLst>
                                        <p:tav tm="0">
                                          <p:val>
                                            <p:fltVal val="0"/>
                                          </p:val>
                                        </p:tav>
                                        <p:tav tm="100000">
                                          <p:val>
                                            <p:strVal val="#ppt_w"/>
                                          </p:val>
                                        </p:tav>
                                      </p:tavLst>
                                    </p:anim>
                                    <p:anim calcmode="lin" valueType="num">
                                      <p:cBhvr>
                                        <p:cTn id="35" dur="1750" fill="hold"/>
                                        <p:tgtEl>
                                          <p:spTgt spid="132"/>
                                        </p:tgtEl>
                                        <p:attrNameLst>
                                          <p:attrName>ppt_h</p:attrName>
                                        </p:attrNameLst>
                                      </p:cBhvr>
                                      <p:tavLst>
                                        <p:tav tm="0">
                                          <p:val>
                                            <p:fltVal val="0"/>
                                          </p:val>
                                        </p:tav>
                                        <p:tav tm="100000">
                                          <p:val>
                                            <p:strVal val="#ppt_h"/>
                                          </p:val>
                                        </p:tav>
                                      </p:tavLst>
                                    </p:anim>
                                    <p:animEffect transition="in" filter="fade">
                                      <p:cBhvr>
                                        <p:cTn id="36" dur="1750"/>
                                        <p:tgtEl>
                                          <p:spTgt spid="132"/>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04"/>
                                        </p:tgtEl>
                                        <p:attrNameLst>
                                          <p:attrName>style.visibility</p:attrName>
                                        </p:attrNameLst>
                                      </p:cBhvr>
                                      <p:to>
                                        <p:strVal val="visible"/>
                                      </p:to>
                                    </p:set>
                                    <p:anim calcmode="lin" valueType="num">
                                      <p:cBhvr>
                                        <p:cTn id="41" dur="500" fill="hold"/>
                                        <p:tgtEl>
                                          <p:spTgt spid="104"/>
                                        </p:tgtEl>
                                        <p:attrNameLst>
                                          <p:attrName>ppt_w</p:attrName>
                                        </p:attrNameLst>
                                      </p:cBhvr>
                                      <p:tavLst>
                                        <p:tav tm="0">
                                          <p:val>
                                            <p:fltVal val="0"/>
                                          </p:val>
                                        </p:tav>
                                        <p:tav tm="100000">
                                          <p:val>
                                            <p:strVal val="#ppt_w"/>
                                          </p:val>
                                        </p:tav>
                                      </p:tavLst>
                                    </p:anim>
                                    <p:anim calcmode="lin" valueType="num">
                                      <p:cBhvr>
                                        <p:cTn id="42" dur="500" fill="hold"/>
                                        <p:tgtEl>
                                          <p:spTgt spid="104"/>
                                        </p:tgtEl>
                                        <p:attrNameLst>
                                          <p:attrName>ppt_h</p:attrName>
                                        </p:attrNameLst>
                                      </p:cBhvr>
                                      <p:tavLst>
                                        <p:tav tm="0">
                                          <p:val>
                                            <p:fltVal val="0"/>
                                          </p:val>
                                        </p:tav>
                                        <p:tav tm="100000">
                                          <p:val>
                                            <p:strVal val="#ppt_h"/>
                                          </p:val>
                                        </p:tav>
                                      </p:tavLst>
                                    </p:anim>
                                    <p:animEffect transition="in" filter="fade">
                                      <p:cBhvr>
                                        <p:cTn id="43" dur="500"/>
                                        <p:tgtEl>
                                          <p:spTgt spid="104"/>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105"/>
                                        </p:tgtEl>
                                        <p:attrNameLst>
                                          <p:attrName>style.visibility</p:attrName>
                                        </p:attrNameLst>
                                      </p:cBhvr>
                                      <p:to>
                                        <p:strVal val="visible"/>
                                      </p:to>
                                    </p:set>
                                    <p:animEffect transition="in" filter="wipe(down)">
                                      <p:cBhvr>
                                        <p:cTn id="47" dur="500"/>
                                        <p:tgtEl>
                                          <p:spTgt spid="105"/>
                                        </p:tgtEl>
                                      </p:cBhvr>
                                    </p:animEffect>
                                  </p:childTnLst>
                                </p:cTn>
                              </p:par>
                            </p:childTnLst>
                          </p:cTn>
                        </p:par>
                        <p:par>
                          <p:cTn id="48" fill="hold">
                            <p:stCondLst>
                              <p:cond delay="1000"/>
                            </p:stCondLst>
                            <p:childTnLst>
                              <p:par>
                                <p:cTn id="49" presetID="53" presetClass="entr" presetSubtype="16" fill="hold" nodeType="afterEffect">
                                  <p:stCondLst>
                                    <p:cond delay="0"/>
                                  </p:stCondLst>
                                  <p:childTnLst>
                                    <p:set>
                                      <p:cBhvr>
                                        <p:cTn id="50" dur="1" fill="hold">
                                          <p:stCondLst>
                                            <p:cond delay="0"/>
                                          </p:stCondLst>
                                        </p:cTn>
                                        <p:tgtEl>
                                          <p:spTgt spid="127"/>
                                        </p:tgtEl>
                                        <p:attrNameLst>
                                          <p:attrName>style.visibility</p:attrName>
                                        </p:attrNameLst>
                                      </p:cBhvr>
                                      <p:to>
                                        <p:strVal val="visible"/>
                                      </p:to>
                                    </p:set>
                                    <p:anim calcmode="lin" valueType="num">
                                      <p:cBhvr>
                                        <p:cTn id="51" dur="1750" fill="hold"/>
                                        <p:tgtEl>
                                          <p:spTgt spid="127"/>
                                        </p:tgtEl>
                                        <p:attrNameLst>
                                          <p:attrName>ppt_w</p:attrName>
                                        </p:attrNameLst>
                                      </p:cBhvr>
                                      <p:tavLst>
                                        <p:tav tm="0">
                                          <p:val>
                                            <p:fltVal val="0"/>
                                          </p:val>
                                        </p:tav>
                                        <p:tav tm="100000">
                                          <p:val>
                                            <p:strVal val="#ppt_w"/>
                                          </p:val>
                                        </p:tav>
                                      </p:tavLst>
                                    </p:anim>
                                    <p:anim calcmode="lin" valueType="num">
                                      <p:cBhvr>
                                        <p:cTn id="52" dur="1750" fill="hold"/>
                                        <p:tgtEl>
                                          <p:spTgt spid="127"/>
                                        </p:tgtEl>
                                        <p:attrNameLst>
                                          <p:attrName>ppt_h</p:attrName>
                                        </p:attrNameLst>
                                      </p:cBhvr>
                                      <p:tavLst>
                                        <p:tav tm="0">
                                          <p:val>
                                            <p:fltVal val="0"/>
                                          </p:val>
                                        </p:tav>
                                        <p:tav tm="100000">
                                          <p:val>
                                            <p:strVal val="#ppt_h"/>
                                          </p:val>
                                        </p:tav>
                                      </p:tavLst>
                                    </p:anim>
                                    <p:animEffect transition="in" filter="fade">
                                      <p:cBhvr>
                                        <p:cTn id="53" dur="1750"/>
                                        <p:tgtEl>
                                          <p:spTgt spid="127"/>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114"/>
                                        </p:tgtEl>
                                        <p:attrNameLst>
                                          <p:attrName>style.visibility</p:attrName>
                                        </p:attrNameLst>
                                      </p:cBhvr>
                                      <p:to>
                                        <p:strVal val="visible"/>
                                      </p:to>
                                    </p:set>
                                    <p:anim calcmode="lin" valueType="num">
                                      <p:cBhvr>
                                        <p:cTn id="58" dur="500" fill="hold"/>
                                        <p:tgtEl>
                                          <p:spTgt spid="114"/>
                                        </p:tgtEl>
                                        <p:attrNameLst>
                                          <p:attrName>ppt_w</p:attrName>
                                        </p:attrNameLst>
                                      </p:cBhvr>
                                      <p:tavLst>
                                        <p:tav tm="0">
                                          <p:val>
                                            <p:fltVal val="0"/>
                                          </p:val>
                                        </p:tav>
                                        <p:tav tm="100000">
                                          <p:val>
                                            <p:strVal val="#ppt_w"/>
                                          </p:val>
                                        </p:tav>
                                      </p:tavLst>
                                    </p:anim>
                                    <p:anim calcmode="lin" valueType="num">
                                      <p:cBhvr>
                                        <p:cTn id="59" dur="500" fill="hold"/>
                                        <p:tgtEl>
                                          <p:spTgt spid="114"/>
                                        </p:tgtEl>
                                        <p:attrNameLst>
                                          <p:attrName>ppt_h</p:attrName>
                                        </p:attrNameLst>
                                      </p:cBhvr>
                                      <p:tavLst>
                                        <p:tav tm="0">
                                          <p:val>
                                            <p:fltVal val="0"/>
                                          </p:val>
                                        </p:tav>
                                        <p:tav tm="100000">
                                          <p:val>
                                            <p:strVal val="#ppt_h"/>
                                          </p:val>
                                        </p:tav>
                                      </p:tavLst>
                                    </p:anim>
                                    <p:animEffect transition="in" filter="fade">
                                      <p:cBhvr>
                                        <p:cTn id="60" dur="500"/>
                                        <p:tgtEl>
                                          <p:spTgt spid="114"/>
                                        </p:tgtEl>
                                      </p:cBhvr>
                                    </p:animEffect>
                                  </p:childTnLst>
                                </p:cTn>
                              </p:par>
                            </p:childTnLst>
                          </p:cTn>
                        </p:par>
                        <p:par>
                          <p:cTn id="61" fill="hold">
                            <p:stCondLst>
                              <p:cond delay="500"/>
                            </p:stCondLst>
                            <p:childTnLst>
                              <p:par>
                                <p:cTn id="62" presetID="22" presetClass="entr" presetSubtype="1" fill="hold" nodeType="afterEffect">
                                  <p:stCondLst>
                                    <p:cond delay="0"/>
                                  </p:stCondLst>
                                  <p:childTnLst>
                                    <p:set>
                                      <p:cBhvr>
                                        <p:cTn id="63" dur="1" fill="hold">
                                          <p:stCondLst>
                                            <p:cond delay="0"/>
                                          </p:stCondLst>
                                        </p:cTn>
                                        <p:tgtEl>
                                          <p:spTgt spid="115"/>
                                        </p:tgtEl>
                                        <p:attrNameLst>
                                          <p:attrName>style.visibility</p:attrName>
                                        </p:attrNameLst>
                                      </p:cBhvr>
                                      <p:to>
                                        <p:strVal val="visible"/>
                                      </p:to>
                                    </p:set>
                                    <p:animEffect transition="in" filter="wipe(up)">
                                      <p:cBhvr>
                                        <p:cTn id="64" dur="500"/>
                                        <p:tgtEl>
                                          <p:spTgt spid="115"/>
                                        </p:tgtEl>
                                      </p:cBhvr>
                                    </p:animEffect>
                                  </p:childTnLst>
                                </p:cTn>
                              </p:par>
                            </p:childTnLst>
                          </p:cTn>
                        </p:par>
                        <p:par>
                          <p:cTn id="65" fill="hold">
                            <p:stCondLst>
                              <p:cond delay="1000"/>
                            </p:stCondLst>
                            <p:childTnLst>
                              <p:par>
                                <p:cTn id="66" presetID="53" presetClass="entr" presetSubtype="16" fill="hold" nodeType="afterEffect">
                                  <p:stCondLst>
                                    <p:cond delay="0"/>
                                  </p:stCondLst>
                                  <p:childTnLst>
                                    <p:set>
                                      <p:cBhvr>
                                        <p:cTn id="67" dur="1" fill="hold">
                                          <p:stCondLst>
                                            <p:cond delay="0"/>
                                          </p:stCondLst>
                                        </p:cTn>
                                        <p:tgtEl>
                                          <p:spTgt spid="137"/>
                                        </p:tgtEl>
                                        <p:attrNameLst>
                                          <p:attrName>style.visibility</p:attrName>
                                        </p:attrNameLst>
                                      </p:cBhvr>
                                      <p:to>
                                        <p:strVal val="visible"/>
                                      </p:to>
                                    </p:set>
                                    <p:anim calcmode="lin" valueType="num">
                                      <p:cBhvr>
                                        <p:cTn id="68" dur="1750" fill="hold"/>
                                        <p:tgtEl>
                                          <p:spTgt spid="137"/>
                                        </p:tgtEl>
                                        <p:attrNameLst>
                                          <p:attrName>ppt_w</p:attrName>
                                        </p:attrNameLst>
                                      </p:cBhvr>
                                      <p:tavLst>
                                        <p:tav tm="0">
                                          <p:val>
                                            <p:fltVal val="0"/>
                                          </p:val>
                                        </p:tav>
                                        <p:tav tm="100000">
                                          <p:val>
                                            <p:strVal val="#ppt_w"/>
                                          </p:val>
                                        </p:tav>
                                      </p:tavLst>
                                    </p:anim>
                                    <p:anim calcmode="lin" valueType="num">
                                      <p:cBhvr>
                                        <p:cTn id="69" dur="1750" fill="hold"/>
                                        <p:tgtEl>
                                          <p:spTgt spid="137"/>
                                        </p:tgtEl>
                                        <p:attrNameLst>
                                          <p:attrName>ppt_h</p:attrName>
                                        </p:attrNameLst>
                                      </p:cBhvr>
                                      <p:tavLst>
                                        <p:tav tm="0">
                                          <p:val>
                                            <p:fltVal val="0"/>
                                          </p:val>
                                        </p:tav>
                                        <p:tav tm="100000">
                                          <p:val>
                                            <p:strVal val="#ppt_h"/>
                                          </p:val>
                                        </p:tav>
                                      </p:tavLst>
                                    </p:anim>
                                    <p:animEffect transition="in" filter="fade">
                                      <p:cBhvr>
                                        <p:cTn id="70" dur="1750"/>
                                        <p:tgtEl>
                                          <p:spTgt spid="137"/>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106"/>
                                        </p:tgtEl>
                                        <p:attrNameLst>
                                          <p:attrName>style.visibility</p:attrName>
                                        </p:attrNameLst>
                                      </p:cBhvr>
                                      <p:to>
                                        <p:strVal val="visible"/>
                                      </p:to>
                                    </p:set>
                                    <p:anim calcmode="lin" valueType="num">
                                      <p:cBhvr>
                                        <p:cTn id="75" dur="500" fill="hold"/>
                                        <p:tgtEl>
                                          <p:spTgt spid="106"/>
                                        </p:tgtEl>
                                        <p:attrNameLst>
                                          <p:attrName>ppt_w</p:attrName>
                                        </p:attrNameLst>
                                      </p:cBhvr>
                                      <p:tavLst>
                                        <p:tav tm="0">
                                          <p:val>
                                            <p:fltVal val="0"/>
                                          </p:val>
                                        </p:tav>
                                        <p:tav tm="100000">
                                          <p:val>
                                            <p:strVal val="#ppt_w"/>
                                          </p:val>
                                        </p:tav>
                                      </p:tavLst>
                                    </p:anim>
                                    <p:anim calcmode="lin" valueType="num">
                                      <p:cBhvr>
                                        <p:cTn id="76" dur="500" fill="hold"/>
                                        <p:tgtEl>
                                          <p:spTgt spid="106"/>
                                        </p:tgtEl>
                                        <p:attrNameLst>
                                          <p:attrName>ppt_h</p:attrName>
                                        </p:attrNameLst>
                                      </p:cBhvr>
                                      <p:tavLst>
                                        <p:tav tm="0">
                                          <p:val>
                                            <p:fltVal val="0"/>
                                          </p:val>
                                        </p:tav>
                                        <p:tav tm="100000">
                                          <p:val>
                                            <p:strVal val="#ppt_h"/>
                                          </p:val>
                                        </p:tav>
                                      </p:tavLst>
                                    </p:anim>
                                    <p:animEffect transition="in" filter="fade">
                                      <p:cBhvr>
                                        <p:cTn id="77" dur="500"/>
                                        <p:tgtEl>
                                          <p:spTgt spid="106"/>
                                        </p:tgtEl>
                                      </p:cBhvr>
                                    </p:animEffect>
                                  </p:childTnLst>
                                </p:cTn>
                              </p:par>
                            </p:childTnLst>
                          </p:cTn>
                        </p:par>
                        <p:par>
                          <p:cTn id="78" fill="hold">
                            <p:stCondLst>
                              <p:cond delay="500"/>
                            </p:stCondLst>
                            <p:childTnLst>
                              <p:par>
                                <p:cTn id="79" presetID="22" presetClass="entr" presetSubtype="4" fill="hold" nodeType="afterEffect">
                                  <p:stCondLst>
                                    <p:cond delay="0"/>
                                  </p:stCondLst>
                                  <p:childTnLst>
                                    <p:set>
                                      <p:cBhvr>
                                        <p:cTn id="80" dur="1" fill="hold">
                                          <p:stCondLst>
                                            <p:cond delay="0"/>
                                          </p:stCondLst>
                                        </p:cTn>
                                        <p:tgtEl>
                                          <p:spTgt spid="107"/>
                                        </p:tgtEl>
                                        <p:attrNameLst>
                                          <p:attrName>style.visibility</p:attrName>
                                        </p:attrNameLst>
                                      </p:cBhvr>
                                      <p:to>
                                        <p:strVal val="visible"/>
                                      </p:to>
                                    </p:set>
                                    <p:animEffect transition="in" filter="wipe(down)">
                                      <p:cBhvr>
                                        <p:cTn id="81" dur="500"/>
                                        <p:tgtEl>
                                          <p:spTgt spid="107"/>
                                        </p:tgtEl>
                                      </p:cBhvr>
                                    </p:animEffect>
                                  </p:childTnLst>
                                </p:cTn>
                              </p:par>
                            </p:childTnLst>
                          </p:cTn>
                        </p:par>
                        <p:par>
                          <p:cTn id="82" fill="hold">
                            <p:stCondLst>
                              <p:cond delay="1000"/>
                            </p:stCondLst>
                            <p:childTnLst>
                              <p:par>
                                <p:cTn id="83" presetID="53" presetClass="entr" presetSubtype="16" fill="hold" nodeType="afterEffect">
                                  <p:stCondLst>
                                    <p:cond delay="0"/>
                                  </p:stCondLst>
                                  <p:childTnLst>
                                    <p:set>
                                      <p:cBhvr>
                                        <p:cTn id="84" dur="1" fill="hold">
                                          <p:stCondLst>
                                            <p:cond delay="0"/>
                                          </p:stCondLst>
                                        </p:cTn>
                                        <p:tgtEl>
                                          <p:spTgt spid="142"/>
                                        </p:tgtEl>
                                        <p:attrNameLst>
                                          <p:attrName>style.visibility</p:attrName>
                                        </p:attrNameLst>
                                      </p:cBhvr>
                                      <p:to>
                                        <p:strVal val="visible"/>
                                      </p:to>
                                    </p:set>
                                    <p:anim calcmode="lin" valueType="num">
                                      <p:cBhvr>
                                        <p:cTn id="85" dur="1750" fill="hold"/>
                                        <p:tgtEl>
                                          <p:spTgt spid="142"/>
                                        </p:tgtEl>
                                        <p:attrNameLst>
                                          <p:attrName>ppt_w</p:attrName>
                                        </p:attrNameLst>
                                      </p:cBhvr>
                                      <p:tavLst>
                                        <p:tav tm="0">
                                          <p:val>
                                            <p:fltVal val="0"/>
                                          </p:val>
                                        </p:tav>
                                        <p:tav tm="100000">
                                          <p:val>
                                            <p:strVal val="#ppt_w"/>
                                          </p:val>
                                        </p:tav>
                                      </p:tavLst>
                                    </p:anim>
                                    <p:anim calcmode="lin" valueType="num">
                                      <p:cBhvr>
                                        <p:cTn id="86" dur="1750" fill="hold"/>
                                        <p:tgtEl>
                                          <p:spTgt spid="142"/>
                                        </p:tgtEl>
                                        <p:attrNameLst>
                                          <p:attrName>ppt_h</p:attrName>
                                        </p:attrNameLst>
                                      </p:cBhvr>
                                      <p:tavLst>
                                        <p:tav tm="0">
                                          <p:val>
                                            <p:fltVal val="0"/>
                                          </p:val>
                                        </p:tav>
                                        <p:tav tm="100000">
                                          <p:val>
                                            <p:strVal val="#ppt_h"/>
                                          </p:val>
                                        </p:tav>
                                      </p:tavLst>
                                    </p:anim>
                                    <p:animEffect transition="in" filter="fade">
                                      <p:cBhvr>
                                        <p:cTn id="87" dur="1750"/>
                                        <p:tgtEl>
                                          <p:spTgt spid="142"/>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116"/>
                                        </p:tgtEl>
                                        <p:attrNameLst>
                                          <p:attrName>style.visibility</p:attrName>
                                        </p:attrNameLst>
                                      </p:cBhvr>
                                      <p:to>
                                        <p:strVal val="visible"/>
                                      </p:to>
                                    </p:set>
                                    <p:anim calcmode="lin" valueType="num">
                                      <p:cBhvr>
                                        <p:cTn id="92" dur="500" fill="hold"/>
                                        <p:tgtEl>
                                          <p:spTgt spid="116"/>
                                        </p:tgtEl>
                                        <p:attrNameLst>
                                          <p:attrName>ppt_w</p:attrName>
                                        </p:attrNameLst>
                                      </p:cBhvr>
                                      <p:tavLst>
                                        <p:tav tm="0">
                                          <p:val>
                                            <p:fltVal val="0"/>
                                          </p:val>
                                        </p:tav>
                                        <p:tav tm="100000">
                                          <p:val>
                                            <p:strVal val="#ppt_w"/>
                                          </p:val>
                                        </p:tav>
                                      </p:tavLst>
                                    </p:anim>
                                    <p:anim calcmode="lin" valueType="num">
                                      <p:cBhvr>
                                        <p:cTn id="93" dur="500" fill="hold"/>
                                        <p:tgtEl>
                                          <p:spTgt spid="116"/>
                                        </p:tgtEl>
                                        <p:attrNameLst>
                                          <p:attrName>ppt_h</p:attrName>
                                        </p:attrNameLst>
                                      </p:cBhvr>
                                      <p:tavLst>
                                        <p:tav tm="0">
                                          <p:val>
                                            <p:fltVal val="0"/>
                                          </p:val>
                                        </p:tav>
                                        <p:tav tm="100000">
                                          <p:val>
                                            <p:strVal val="#ppt_h"/>
                                          </p:val>
                                        </p:tav>
                                      </p:tavLst>
                                    </p:anim>
                                    <p:animEffect transition="in" filter="fade">
                                      <p:cBhvr>
                                        <p:cTn id="94" dur="500"/>
                                        <p:tgtEl>
                                          <p:spTgt spid="116"/>
                                        </p:tgtEl>
                                      </p:cBhvr>
                                    </p:animEffect>
                                  </p:childTnLst>
                                </p:cTn>
                              </p:par>
                            </p:childTnLst>
                          </p:cTn>
                        </p:par>
                        <p:par>
                          <p:cTn id="95" fill="hold">
                            <p:stCondLst>
                              <p:cond delay="500"/>
                            </p:stCondLst>
                            <p:childTnLst>
                              <p:par>
                                <p:cTn id="96" presetID="22" presetClass="entr" presetSubtype="1" fill="hold" nodeType="afterEffect">
                                  <p:stCondLst>
                                    <p:cond delay="0"/>
                                  </p:stCondLst>
                                  <p:childTnLst>
                                    <p:set>
                                      <p:cBhvr>
                                        <p:cTn id="97" dur="1" fill="hold">
                                          <p:stCondLst>
                                            <p:cond delay="0"/>
                                          </p:stCondLst>
                                        </p:cTn>
                                        <p:tgtEl>
                                          <p:spTgt spid="117"/>
                                        </p:tgtEl>
                                        <p:attrNameLst>
                                          <p:attrName>style.visibility</p:attrName>
                                        </p:attrNameLst>
                                      </p:cBhvr>
                                      <p:to>
                                        <p:strVal val="visible"/>
                                      </p:to>
                                    </p:set>
                                    <p:animEffect transition="in" filter="wipe(up)">
                                      <p:cBhvr>
                                        <p:cTn id="98" dur="500"/>
                                        <p:tgtEl>
                                          <p:spTgt spid="117"/>
                                        </p:tgtEl>
                                      </p:cBhvr>
                                    </p:animEffect>
                                  </p:childTnLst>
                                </p:cTn>
                              </p:par>
                            </p:childTnLst>
                          </p:cTn>
                        </p:par>
                        <p:par>
                          <p:cTn id="99" fill="hold">
                            <p:stCondLst>
                              <p:cond delay="1000"/>
                            </p:stCondLst>
                            <p:childTnLst>
                              <p:par>
                                <p:cTn id="100" presetID="53" presetClass="entr" presetSubtype="16" fill="hold" nodeType="afterEffect">
                                  <p:stCondLst>
                                    <p:cond delay="0"/>
                                  </p:stCondLst>
                                  <p:childTnLst>
                                    <p:set>
                                      <p:cBhvr>
                                        <p:cTn id="101" dur="1" fill="hold">
                                          <p:stCondLst>
                                            <p:cond delay="0"/>
                                          </p:stCondLst>
                                        </p:cTn>
                                        <p:tgtEl>
                                          <p:spTgt spid="147"/>
                                        </p:tgtEl>
                                        <p:attrNameLst>
                                          <p:attrName>style.visibility</p:attrName>
                                        </p:attrNameLst>
                                      </p:cBhvr>
                                      <p:to>
                                        <p:strVal val="visible"/>
                                      </p:to>
                                    </p:set>
                                    <p:anim calcmode="lin" valueType="num">
                                      <p:cBhvr>
                                        <p:cTn id="102" dur="1750" fill="hold"/>
                                        <p:tgtEl>
                                          <p:spTgt spid="147"/>
                                        </p:tgtEl>
                                        <p:attrNameLst>
                                          <p:attrName>ppt_w</p:attrName>
                                        </p:attrNameLst>
                                      </p:cBhvr>
                                      <p:tavLst>
                                        <p:tav tm="0">
                                          <p:val>
                                            <p:fltVal val="0"/>
                                          </p:val>
                                        </p:tav>
                                        <p:tav tm="100000">
                                          <p:val>
                                            <p:strVal val="#ppt_w"/>
                                          </p:val>
                                        </p:tav>
                                      </p:tavLst>
                                    </p:anim>
                                    <p:anim calcmode="lin" valueType="num">
                                      <p:cBhvr>
                                        <p:cTn id="103" dur="1750" fill="hold"/>
                                        <p:tgtEl>
                                          <p:spTgt spid="147"/>
                                        </p:tgtEl>
                                        <p:attrNameLst>
                                          <p:attrName>ppt_h</p:attrName>
                                        </p:attrNameLst>
                                      </p:cBhvr>
                                      <p:tavLst>
                                        <p:tav tm="0">
                                          <p:val>
                                            <p:fltVal val="0"/>
                                          </p:val>
                                        </p:tav>
                                        <p:tav tm="100000">
                                          <p:val>
                                            <p:strVal val="#ppt_h"/>
                                          </p:val>
                                        </p:tav>
                                      </p:tavLst>
                                    </p:anim>
                                    <p:animEffect transition="in" filter="fade">
                                      <p:cBhvr>
                                        <p:cTn id="104" dur="1750"/>
                                        <p:tgtEl>
                                          <p:spTgt spid="147"/>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108"/>
                                        </p:tgtEl>
                                        <p:attrNameLst>
                                          <p:attrName>style.visibility</p:attrName>
                                        </p:attrNameLst>
                                      </p:cBhvr>
                                      <p:to>
                                        <p:strVal val="visible"/>
                                      </p:to>
                                    </p:set>
                                    <p:anim calcmode="lin" valueType="num">
                                      <p:cBhvr>
                                        <p:cTn id="109" dur="500" fill="hold"/>
                                        <p:tgtEl>
                                          <p:spTgt spid="108"/>
                                        </p:tgtEl>
                                        <p:attrNameLst>
                                          <p:attrName>ppt_w</p:attrName>
                                        </p:attrNameLst>
                                      </p:cBhvr>
                                      <p:tavLst>
                                        <p:tav tm="0">
                                          <p:val>
                                            <p:fltVal val="0"/>
                                          </p:val>
                                        </p:tav>
                                        <p:tav tm="100000">
                                          <p:val>
                                            <p:strVal val="#ppt_w"/>
                                          </p:val>
                                        </p:tav>
                                      </p:tavLst>
                                    </p:anim>
                                    <p:anim calcmode="lin" valueType="num">
                                      <p:cBhvr>
                                        <p:cTn id="110" dur="500" fill="hold"/>
                                        <p:tgtEl>
                                          <p:spTgt spid="108"/>
                                        </p:tgtEl>
                                        <p:attrNameLst>
                                          <p:attrName>ppt_h</p:attrName>
                                        </p:attrNameLst>
                                      </p:cBhvr>
                                      <p:tavLst>
                                        <p:tav tm="0">
                                          <p:val>
                                            <p:fltVal val="0"/>
                                          </p:val>
                                        </p:tav>
                                        <p:tav tm="100000">
                                          <p:val>
                                            <p:strVal val="#ppt_h"/>
                                          </p:val>
                                        </p:tav>
                                      </p:tavLst>
                                    </p:anim>
                                    <p:animEffect transition="in" filter="fade">
                                      <p:cBhvr>
                                        <p:cTn id="111" dur="500"/>
                                        <p:tgtEl>
                                          <p:spTgt spid="108"/>
                                        </p:tgtEl>
                                      </p:cBhvr>
                                    </p:animEffect>
                                  </p:childTnLst>
                                </p:cTn>
                              </p:par>
                            </p:childTnLst>
                          </p:cTn>
                        </p:par>
                        <p:par>
                          <p:cTn id="112" fill="hold">
                            <p:stCondLst>
                              <p:cond delay="500"/>
                            </p:stCondLst>
                            <p:childTnLst>
                              <p:par>
                                <p:cTn id="113" presetID="22" presetClass="entr" presetSubtype="4" fill="hold" nodeType="afterEffect">
                                  <p:stCondLst>
                                    <p:cond delay="0"/>
                                  </p:stCondLst>
                                  <p:childTnLst>
                                    <p:set>
                                      <p:cBhvr>
                                        <p:cTn id="114" dur="1" fill="hold">
                                          <p:stCondLst>
                                            <p:cond delay="0"/>
                                          </p:stCondLst>
                                        </p:cTn>
                                        <p:tgtEl>
                                          <p:spTgt spid="109"/>
                                        </p:tgtEl>
                                        <p:attrNameLst>
                                          <p:attrName>style.visibility</p:attrName>
                                        </p:attrNameLst>
                                      </p:cBhvr>
                                      <p:to>
                                        <p:strVal val="visible"/>
                                      </p:to>
                                    </p:set>
                                    <p:animEffect transition="in" filter="wipe(down)">
                                      <p:cBhvr>
                                        <p:cTn id="115" dur="500"/>
                                        <p:tgtEl>
                                          <p:spTgt spid="109"/>
                                        </p:tgtEl>
                                      </p:cBhvr>
                                    </p:animEffect>
                                  </p:childTnLst>
                                </p:cTn>
                              </p:par>
                            </p:childTnLst>
                          </p:cTn>
                        </p:par>
                        <p:par>
                          <p:cTn id="116" fill="hold">
                            <p:stCondLst>
                              <p:cond delay="1000"/>
                            </p:stCondLst>
                            <p:childTnLst>
                              <p:par>
                                <p:cTn id="117" presetID="53" presetClass="entr" presetSubtype="16" fill="hold" nodeType="afterEffect">
                                  <p:stCondLst>
                                    <p:cond delay="0"/>
                                  </p:stCondLst>
                                  <p:childTnLst>
                                    <p:set>
                                      <p:cBhvr>
                                        <p:cTn id="118" dur="1" fill="hold">
                                          <p:stCondLst>
                                            <p:cond delay="0"/>
                                          </p:stCondLst>
                                        </p:cTn>
                                        <p:tgtEl>
                                          <p:spTgt spid="152"/>
                                        </p:tgtEl>
                                        <p:attrNameLst>
                                          <p:attrName>style.visibility</p:attrName>
                                        </p:attrNameLst>
                                      </p:cBhvr>
                                      <p:to>
                                        <p:strVal val="visible"/>
                                      </p:to>
                                    </p:set>
                                    <p:anim calcmode="lin" valueType="num">
                                      <p:cBhvr>
                                        <p:cTn id="119" dur="1750" fill="hold"/>
                                        <p:tgtEl>
                                          <p:spTgt spid="152"/>
                                        </p:tgtEl>
                                        <p:attrNameLst>
                                          <p:attrName>ppt_w</p:attrName>
                                        </p:attrNameLst>
                                      </p:cBhvr>
                                      <p:tavLst>
                                        <p:tav tm="0">
                                          <p:val>
                                            <p:fltVal val="0"/>
                                          </p:val>
                                        </p:tav>
                                        <p:tav tm="100000">
                                          <p:val>
                                            <p:strVal val="#ppt_w"/>
                                          </p:val>
                                        </p:tav>
                                      </p:tavLst>
                                    </p:anim>
                                    <p:anim calcmode="lin" valueType="num">
                                      <p:cBhvr>
                                        <p:cTn id="120" dur="1750" fill="hold"/>
                                        <p:tgtEl>
                                          <p:spTgt spid="152"/>
                                        </p:tgtEl>
                                        <p:attrNameLst>
                                          <p:attrName>ppt_h</p:attrName>
                                        </p:attrNameLst>
                                      </p:cBhvr>
                                      <p:tavLst>
                                        <p:tav tm="0">
                                          <p:val>
                                            <p:fltVal val="0"/>
                                          </p:val>
                                        </p:tav>
                                        <p:tav tm="100000">
                                          <p:val>
                                            <p:strVal val="#ppt_h"/>
                                          </p:val>
                                        </p:tav>
                                      </p:tavLst>
                                    </p:anim>
                                    <p:animEffect transition="in" filter="fade">
                                      <p:cBhvr>
                                        <p:cTn id="121" dur="1750"/>
                                        <p:tgtEl>
                                          <p:spTgt spid="152"/>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118"/>
                                        </p:tgtEl>
                                        <p:attrNameLst>
                                          <p:attrName>style.visibility</p:attrName>
                                        </p:attrNameLst>
                                      </p:cBhvr>
                                      <p:to>
                                        <p:strVal val="visible"/>
                                      </p:to>
                                    </p:set>
                                    <p:anim calcmode="lin" valueType="num">
                                      <p:cBhvr>
                                        <p:cTn id="126" dur="500" fill="hold"/>
                                        <p:tgtEl>
                                          <p:spTgt spid="118"/>
                                        </p:tgtEl>
                                        <p:attrNameLst>
                                          <p:attrName>ppt_w</p:attrName>
                                        </p:attrNameLst>
                                      </p:cBhvr>
                                      <p:tavLst>
                                        <p:tav tm="0">
                                          <p:val>
                                            <p:fltVal val="0"/>
                                          </p:val>
                                        </p:tav>
                                        <p:tav tm="100000">
                                          <p:val>
                                            <p:strVal val="#ppt_w"/>
                                          </p:val>
                                        </p:tav>
                                      </p:tavLst>
                                    </p:anim>
                                    <p:anim calcmode="lin" valueType="num">
                                      <p:cBhvr>
                                        <p:cTn id="127" dur="500" fill="hold"/>
                                        <p:tgtEl>
                                          <p:spTgt spid="118"/>
                                        </p:tgtEl>
                                        <p:attrNameLst>
                                          <p:attrName>ppt_h</p:attrName>
                                        </p:attrNameLst>
                                      </p:cBhvr>
                                      <p:tavLst>
                                        <p:tav tm="0">
                                          <p:val>
                                            <p:fltVal val="0"/>
                                          </p:val>
                                        </p:tav>
                                        <p:tav tm="100000">
                                          <p:val>
                                            <p:strVal val="#ppt_h"/>
                                          </p:val>
                                        </p:tav>
                                      </p:tavLst>
                                    </p:anim>
                                    <p:animEffect transition="in" filter="fade">
                                      <p:cBhvr>
                                        <p:cTn id="128" dur="500"/>
                                        <p:tgtEl>
                                          <p:spTgt spid="118"/>
                                        </p:tgtEl>
                                      </p:cBhvr>
                                    </p:animEffect>
                                  </p:childTnLst>
                                </p:cTn>
                              </p:par>
                            </p:childTnLst>
                          </p:cTn>
                        </p:par>
                        <p:par>
                          <p:cTn id="129" fill="hold">
                            <p:stCondLst>
                              <p:cond delay="500"/>
                            </p:stCondLst>
                            <p:childTnLst>
                              <p:par>
                                <p:cTn id="130" presetID="22" presetClass="entr" presetSubtype="1" fill="hold" nodeType="afterEffect">
                                  <p:stCondLst>
                                    <p:cond delay="0"/>
                                  </p:stCondLst>
                                  <p:childTnLst>
                                    <p:set>
                                      <p:cBhvr>
                                        <p:cTn id="131" dur="1" fill="hold">
                                          <p:stCondLst>
                                            <p:cond delay="0"/>
                                          </p:stCondLst>
                                        </p:cTn>
                                        <p:tgtEl>
                                          <p:spTgt spid="119"/>
                                        </p:tgtEl>
                                        <p:attrNameLst>
                                          <p:attrName>style.visibility</p:attrName>
                                        </p:attrNameLst>
                                      </p:cBhvr>
                                      <p:to>
                                        <p:strVal val="visible"/>
                                      </p:to>
                                    </p:set>
                                    <p:animEffect transition="in" filter="wipe(up)">
                                      <p:cBhvr>
                                        <p:cTn id="132" dur="500"/>
                                        <p:tgtEl>
                                          <p:spTgt spid="119"/>
                                        </p:tgtEl>
                                      </p:cBhvr>
                                    </p:animEffect>
                                  </p:childTnLst>
                                </p:cTn>
                              </p:par>
                            </p:childTnLst>
                          </p:cTn>
                        </p:par>
                        <p:par>
                          <p:cTn id="133" fill="hold">
                            <p:stCondLst>
                              <p:cond delay="1000"/>
                            </p:stCondLst>
                            <p:childTnLst>
                              <p:par>
                                <p:cTn id="134" presetID="53" presetClass="entr" presetSubtype="16" fill="hold" nodeType="afterEffect">
                                  <p:stCondLst>
                                    <p:cond delay="0"/>
                                  </p:stCondLst>
                                  <p:childTnLst>
                                    <p:set>
                                      <p:cBhvr>
                                        <p:cTn id="135" dur="1" fill="hold">
                                          <p:stCondLst>
                                            <p:cond delay="0"/>
                                          </p:stCondLst>
                                        </p:cTn>
                                        <p:tgtEl>
                                          <p:spTgt spid="157"/>
                                        </p:tgtEl>
                                        <p:attrNameLst>
                                          <p:attrName>style.visibility</p:attrName>
                                        </p:attrNameLst>
                                      </p:cBhvr>
                                      <p:to>
                                        <p:strVal val="visible"/>
                                      </p:to>
                                    </p:set>
                                    <p:anim calcmode="lin" valueType="num">
                                      <p:cBhvr>
                                        <p:cTn id="136" dur="1750" fill="hold"/>
                                        <p:tgtEl>
                                          <p:spTgt spid="157"/>
                                        </p:tgtEl>
                                        <p:attrNameLst>
                                          <p:attrName>ppt_w</p:attrName>
                                        </p:attrNameLst>
                                      </p:cBhvr>
                                      <p:tavLst>
                                        <p:tav tm="0">
                                          <p:val>
                                            <p:fltVal val="0"/>
                                          </p:val>
                                        </p:tav>
                                        <p:tav tm="100000">
                                          <p:val>
                                            <p:strVal val="#ppt_w"/>
                                          </p:val>
                                        </p:tav>
                                      </p:tavLst>
                                    </p:anim>
                                    <p:anim calcmode="lin" valueType="num">
                                      <p:cBhvr>
                                        <p:cTn id="137" dur="1750" fill="hold"/>
                                        <p:tgtEl>
                                          <p:spTgt spid="157"/>
                                        </p:tgtEl>
                                        <p:attrNameLst>
                                          <p:attrName>ppt_h</p:attrName>
                                        </p:attrNameLst>
                                      </p:cBhvr>
                                      <p:tavLst>
                                        <p:tav tm="0">
                                          <p:val>
                                            <p:fltVal val="0"/>
                                          </p:val>
                                        </p:tav>
                                        <p:tav tm="100000">
                                          <p:val>
                                            <p:strVal val="#ppt_h"/>
                                          </p:val>
                                        </p:tav>
                                      </p:tavLst>
                                    </p:anim>
                                    <p:animEffect transition="in" filter="fade">
                                      <p:cBhvr>
                                        <p:cTn id="138" dur="1750"/>
                                        <p:tgtEl>
                                          <p:spTgt spid="157"/>
                                        </p:tgtEl>
                                      </p:cBhvr>
                                    </p:animEffect>
                                  </p:childTnLst>
                                </p:cTn>
                              </p:par>
                            </p:childTnLst>
                          </p:cTn>
                        </p:par>
                      </p:childTnLst>
                    </p:cTn>
                  </p:par>
                  <p:par>
                    <p:cTn id="139" fill="hold">
                      <p:stCondLst>
                        <p:cond delay="indefinite"/>
                      </p:stCondLst>
                      <p:childTnLst>
                        <p:par>
                          <p:cTn id="140" fill="hold">
                            <p:stCondLst>
                              <p:cond delay="0"/>
                            </p:stCondLst>
                            <p:childTnLst>
                              <p:par>
                                <p:cTn id="141" presetID="53" presetClass="entr" presetSubtype="16" fill="hold" grpId="0" nodeType="clickEffect">
                                  <p:stCondLst>
                                    <p:cond delay="0"/>
                                  </p:stCondLst>
                                  <p:childTnLst>
                                    <p:set>
                                      <p:cBhvr>
                                        <p:cTn id="142" dur="1" fill="hold">
                                          <p:stCondLst>
                                            <p:cond delay="0"/>
                                          </p:stCondLst>
                                        </p:cTn>
                                        <p:tgtEl>
                                          <p:spTgt spid="110"/>
                                        </p:tgtEl>
                                        <p:attrNameLst>
                                          <p:attrName>style.visibility</p:attrName>
                                        </p:attrNameLst>
                                      </p:cBhvr>
                                      <p:to>
                                        <p:strVal val="visible"/>
                                      </p:to>
                                    </p:set>
                                    <p:anim calcmode="lin" valueType="num">
                                      <p:cBhvr>
                                        <p:cTn id="143" dur="500" fill="hold"/>
                                        <p:tgtEl>
                                          <p:spTgt spid="110"/>
                                        </p:tgtEl>
                                        <p:attrNameLst>
                                          <p:attrName>ppt_w</p:attrName>
                                        </p:attrNameLst>
                                      </p:cBhvr>
                                      <p:tavLst>
                                        <p:tav tm="0">
                                          <p:val>
                                            <p:fltVal val="0"/>
                                          </p:val>
                                        </p:tav>
                                        <p:tav tm="100000">
                                          <p:val>
                                            <p:strVal val="#ppt_w"/>
                                          </p:val>
                                        </p:tav>
                                      </p:tavLst>
                                    </p:anim>
                                    <p:anim calcmode="lin" valueType="num">
                                      <p:cBhvr>
                                        <p:cTn id="144" dur="500" fill="hold"/>
                                        <p:tgtEl>
                                          <p:spTgt spid="110"/>
                                        </p:tgtEl>
                                        <p:attrNameLst>
                                          <p:attrName>ppt_h</p:attrName>
                                        </p:attrNameLst>
                                      </p:cBhvr>
                                      <p:tavLst>
                                        <p:tav tm="0">
                                          <p:val>
                                            <p:fltVal val="0"/>
                                          </p:val>
                                        </p:tav>
                                        <p:tav tm="100000">
                                          <p:val>
                                            <p:strVal val="#ppt_h"/>
                                          </p:val>
                                        </p:tav>
                                      </p:tavLst>
                                    </p:anim>
                                    <p:animEffect transition="in" filter="fade">
                                      <p:cBhvr>
                                        <p:cTn id="145" dur="500"/>
                                        <p:tgtEl>
                                          <p:spTgt spid="110"/>
                                        </p:tgtEl>
                                      </p:cBhvr>
                                    </p:animEffect>
                                  </p:childTnLst>
                                </p:cTn>
                              </p:par>
                            </p:childTnLst>
                          </p:cTn>
                        </p:par>
                        <p:par>
                          <p:cTn id="146" fill="hold">
                            <p:stCondLst>
                              <p:cond delay="500"/>
                            </p:stCondLst>
                            <p:childTnLst>
                              <p:par>
                                <p:cTn id="147" presetID="22" presetClass="entr" presetSubtype="4" fill="hold" nodeType="afterEffect">
                                  <p:stCondLst>
                                    <p:cond delay="0"/>
                                  </p:stCondLst>
                                  <p:childTnLst>
                                    <p:set>
                                      <p:cBhvr>
                                        <p:cTn id="148" dur="1" fill="hold">
                                          <p:stCondLst>
                                            <p:cond delay="0"/>
                                          </p:stCondLst>
                                        </p:cTn>
                                        <p:tgtEl>
                                          <p:spTgt spid="111"/>
                                        </p:tgtEl>
                                        <p:attrNameLst>
                                          <p:attrName>style.visibility</p:attrName>
                                        </p:attrNameLst>
                                      </p:cBhvr>
                                      <p:to>
                                        <p:strVal val="visible"/>
                                      </p:to>
                                    </p:set>
                                    <p:animEffect transition="in" filter="wipe(down)">
                                      <p:cBhvr>
                                        <p:cTn id="149" dur="500"/>
                                        <p:tgtEl>
                                          <p:spTgt spid="111"/>
                                        </p:tgtEl>
                                      </p:cBhvr>
                                    </p:animEffect>
                                  </p:childTnLst>
                                </p:cTn>
                              </p:par>
                            </p:childTnLst>
                          </p:cTn>
                        </p:par>
                        <p:par>
                          <p:cTn id="150" fill="hold">
                            <p:stCondLst>
                              <p:cond delay="1000"/>
                            </p:stCondLst>
                            <p:childTnLst>
                              <p:par>
                                <p:cTn id="151" presetID="53" presetClass="entr" presetSubtype="16" fill="hold" nodeType="afterEffect">
                                  <p:stCondLst>
                                    <p:cond delay="0"/>
                                  </p:stCondLst>
                                  <p:childTnLst>
                                    <p:set>
                                      <p:cBhvr>
                                        <p:cTn id="152" dur="1" fill="hold">
                                          <p:stCondLst>
                                            <p:cond delay="0"/>
                                          </p:stCondLst>
                                        </p:cTn>
                                        <p:tgtEl>
                                          <p:spTgt spid="162"/>
                                        </p:tgtEl>
                                        <p:attrNameLst>
                                          <p:attrName>style.visibility</p:attrName>
                                        </p:attrNameLst>
                                      </p:cBhvr>
                                      <p:to>
                                        <p:strVal val="visible"/>
                                      </p:to>
                                    </p:set>
                                    <p:anim calcmode="lin" valueType="num">
                                      <p:cBhvr>
                                        <p:cTn id="153" dur="1750" fill="hold"/>
                                        <p:tgtEl>
                                          <p:spTgt spid="162"/>
                                        </p:tgtEl>
                                        <p:attrNameLst>
                                          <p:attrName>ppt_w</p:attrName>
                                        </p:attrNameLst>
                                      </p:cBhvr>
                                      <p:tavLst>
                                        <p:tav tm="0">
                                          <p:val>
                                            <p:fltVal val="0"/>
                                          </p:val>
                                        </p:tav>
                                        <p:tav tm="100000">
                                          <p:val>
                                            <p:strVal val="#ppt_w"/>
                                          </p:val>
                                        </p:tav>
                                      </p:tavLst>
                                    </p:anim>
                                    <p:anim calcmode="lin" valueType="num">
                                      <p:cBhvr>
                                        <p:cTn id="154" dur="1750" fill="hold"/>
                                        <p:tgtEl>
                                          <p:spTgt spid="162"/>
                                        </p:tgtEl>
                                        <p:attrNameLst>
                                          <p:attrName>ppt_h</p:attrName>
                                        </p:attrNameLst>
                                      </p:cBhvr>
                                      <p:tavLst>
                                        <p:tav tm="0">
                                          <p:val>
                                            <p:fltVal val="0"/>
                                          </p:val>
                                        </p:tav>
                                        <p:tav tm="100000">
                                          <p:val>
                                            <p:strVal val="#ppt_h"/>
                                          </p:val>
                                        </p:tav>
                                      </p:tavLst>
                                    </p:anim>
                                    <p:animEffect transition="in" filter="fade">
                                      <p:cBhvr>
                                        <p:cTn id="155" dur="1750"/>
                                        <p:tgtEl>
                                          <p:spTgt spid="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4" grpId="0" animBg="1"/>
      <p:bldP spid="106" grpId="0" animBg="1"/>
      <p:bldP spid="108" grpId="0" animBg="1"/>
      <p:bldP spid="110" grpId="0" animBg="1"/>
      <p:bldP spid="112" grpId="0" animBg="1"/>
      <p:bldP spid="114" grpId="0" animBg="1"/>
      <p:bldP spid="116" grpId="0" animBg="1"/>
      <p:bldP spid="1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2A088D3-A642-47E9-8843-D04D55D8CBF1}"/>
              </a:ext>
            </a:extLst>
          </p:cNvPr>
          <p:cNvGrpSpPr/>
          <p:nvPr/>
        </p:nvGrpSpPr>
        <p:grpSpPr>
          <a:xfrm>
            <a:off x="8" y="-3144982"/>
            <a:ext cx="12192000" cy="7550727"/>
            <a:chOff x="0" y="0"/>
            <a:chExt cx="12192000" cy="7550727"/>
          </a:xfrm>
          <a:solidFill>
            <a:srgbClr val="FCE2B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3862281"/>
            <a:ext cx="12192000" cy="7550727"/>
            <a:chOff x="0" y="0"/>
            <a:chExt cx="12192000" cy="7550727"/>
          </a:xfrm>
          <a:solidFill>
            <a:srgbClr val="F7B2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4690417"/>
            <a:ext cx="12192000" cy="7550727"/>
            <a:chOff x="0" y="0"/>
            <a:chExt cx="12192000" cy="7550727"/>
          </a:xfrm>
          <a:solidFill>
            <a:srgbClr val="C4899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9A7EA6"/>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892174A2-2DB1-44FA-89F1-7DB2B31F54E6}"/>
              </a:ext>
            </a:extLst>
          </p:cNvPr>
          <p:cNvSpPr txBox="1"/>
          <p:nvPr/>
        </p:nvSpPr>
        <p:spPr>
          <a:xfrm>
            <a:off x="3966210" y="4648853"/>
            <a:ext cx="7783798" cy="1877437"/>
          </a:xfrm>
          <a:prstGeom prst="rect">
            <a:avLst/>
          </a:prstGeom>
          <a:noFill/>
        </p:spPr>
        <p:txBody>
          <a:bodyPr wrap="square" rtlCol="1">
            <a:spAutoFit/>
          </a:bodyPr>
          <a:lstStyle/>
          <a:p>
            <a:pPr algn="r"/>
            <a:r>
              <a:rPr lang="fa-IR" sz="2400" b="1" dirty="0">
                <a:cs typeface="2  Nazanin" panose="00000400000000000000" pitchFamily="2" charset="-78"/>
              </a:rPr>
              <a:t>سیمان هیدرولیکی </a:t>
            </a:r>
          </a:p>
          <a:p>
            <a:pPr algn="r"/>
            <a:r>
              <a:rPr lang="fa-IR" sz="2300" dirty="0">
                <a:cs typeface="2  Nazanin" panose="00000400000000000000" pitchFamily="2" charset="-78"/>
              </a:rPr>
              <a:t>سيمان هيدروليكي ماده چسبانندهاي است كه در هوا و مجاورت آب و جايي كه هوا نيست، گيـرش حاصل ميكند و سخت ميشود.</a:t>
            </a:r>
          </a:p>
          <a:p>
            <a:pPr algn="r"/>
            <a:r>
              <a:rPr lang="fa-IR" sz="2300" dirty="0">
                <a:cs typeface="2  Nazanin" panose="00000400000000000000" pitchFamily="2" charset="-78"/>
              </a:rPr>
              <a:t> اين ماده را در ساختن بتن و ملات هاي سيماني بـه كـار مـيبرنـد. </a:t>
            </a:r>
          </a:p>
          <a:p>
            <a:pPr algn="r"/>
            <a:r>
              <a:rPr lang="fa-IR" sz="2300" dirty="0">
                <a:cs typeface="2  Nazanin" panose="00000400000000000000" pitchFamily="2" charset="-78"/>
              </a:rPr>
              <a:t>سيمان در واكنش با آب سخت ميشود و جسمي يكپارچه تشكيل ميدهد</a:t>
            </a:r>
          </a:p>
        </p:txBody>
      </p:sp>
      <p:pic>
        <p:nvPicPr>
          <p:cNvPr id="20" name="Picture 19">
            <a:extLst>
              <a:ext uri="{FF2B5EF4-FFF2-40B4-BE49-F238E27FC236}">
                <a16:creationId xmlns:a16="http://schemas.microsoft.com/office/drawing/2014/main" id="{4CA3F337-B708-4F18-AE21-5B362B0B9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050" y="4726273"/>
            <a:ext cx="3086100" cy="1476375"/>
          </a:xfrm>
          <a:prstGeom prst="rect">
            <a:avLst/>
          </a:prstGeom>
        </p:spPr>
      </p:pic>
    </p:spTree>
    <p:extLst>
      <p:ext uri="{BB962C8B-B14F-4D97-AF65-F5344CB8AC3E}">
        <p14:creationId xmlns:p14="http://schemas.microsoft.com/office/powerpoint/2010/main" val="5465360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4648853"/>
            <a:ext cx="7783798" cy="1877437"/>
          </a:xfrm>
          <a:prstGeom prst="rect">
            <a:avLst/>
          </a:prstGeom>
          <a:noFill/>
        </p:spPr>
        <p:txBody>
          <a:bodyPr wrap="square" rtlCol="1">
            <a:spAutoFit/>
          </a:bodyPr>
          <a:lstStyle/>
          <a:p>
            <a:pPr algn="r"/>
            <a:r>
              <a:rPr lang="fa-IR" sz="2400" b="1" dirty="0">
                <a:cs typeface="2  Nazanin" panose="00000400000000000000" pitchFamily="2" charset="-78"/>
              </a:rPr>
              <a:t>سیمان هیدرولیکی </a:t>
            </a:r>
          </a:p>
          <a:p>
            <a:pPr algn="r"/>
            <a:r>
              <a:rPr lang="fa-IR" sz="2300" dirty="0">
                <a:cs typeface="2  Nazanin" panose="00000400000000000000" pitchFamily="2" charset="-78"/>
              </a:rPr>
              <a:t>سيمان هيدروليكي مادة چسبانندهاي است كه در هوا و مجاورت آب و جايي كه هوا نيست، گيـرش حاصل ميكند و سخت ميشود.</a:t>
            </a:r>
          </a:p>
          <a:p>
            <a:pPr algn="r"/>
            <a:r>
              <a:rPr lang="fa-IR" sz="2300" dirty="0">
                <a:cs typeface="2  Nazanin" panose="00000400000000000000" pitchFamily="2" charset="-78"/>
              </a:rPr>
              <a:t> اين ماده را در ساختن بتن و ملات هاي سيماني بـه كـار مـيبرنـد. </a:t>
            </a:r>
          </a:p>
          <a:p>
            <a:pPr algn="r"/>
            <a:r>
              <a:rPr lang="fa-IR" sz="2300" dirty="0">
                <a:cs typeface="2  Nazanin" panose="00000400000000000000" pitchFamily="2" charset="-78"/>
              </a:rPr>
              <a:t>سيمان در واكنش با آب سخت ميشود و جسمي يكپارچه تشكيل ميدهد</a:t>
            </a:r>
          </a:p>
        </p:txBody>
      </p:sp>
      <p:pic>
        <p:nvPicPr>
          <p:cNvPr id="20" name="Picture 19">
            <a:extLst>
              <a:ext uri="{FF2B5EF4-FFF2-40B4-BE49-F238E27FC236}">
                <a16:creationId xmlns:a16="http://schemas.microsoft.com/office/drawing/2014/main" id="{4CA3F337-B708-4F18-AE21-5B362B0B9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050" y="4726273"/>
            <a:ext cx="3086100" cy="1476375"/>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56" y="34290"/>
            <a:ext cx="12192000" cy="7550727"/>
            <a:chOff x="0" y="0"/>
            <a:chExt cx="12192000" cy="7550727"/>
          </a:xfrm>
          <a:solidFill>
            <a:srgbClr val="FCE2B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3862281"/>
            <a:ext cx="12192000" cy="7550727"/>
            <a:chOff x="0" y="0"/>
            <a:chExt cx="12192000" cy="7550727"/>
          </a:xfrm>
          <a:solidFill>
            <a:srgbClr val="F7B2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4690417"/>
            <a:ext cx="12192000" cy="7550727"/>
            <a:chOff x="0" y="0"/>
            <a:chExt cx="12192000" cy="7550727"/>
          </a:xfrm>
          <a:solidFill>
            <a:srgbClr val="C4899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9A7EA6"/>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CB863617-347A-498F-9388-0405A6D033A6}"/>
              </a:ext>
            </a:extLst>
          </p:cNvPr>
          <p:cNvSpPr txBox="1"/>
          <p:nvPr/>
        </p:nvSpPr>
        <p:spPr>
          <a:xfrm>
            <a:off x="4238514" y="3682171"/>
            <a:ext cx="7325958" cy="2923877"/>
          </a:xfrm>
          <a:prstGeom prst="rect">
            <a:avLst/>
          </a:prstGeom>
          <a:noFill/>
        </p:spPr>
        <p:txBody>
          <a:bodyPr wrap="square" rtlCol="1">
            <a:spAutoFit/>
          </a:bodyPr>
          <a:lstStyle/>
          <a:p>
            <a:pPr algn="r"/>
            <a:r>
              <a:rPr lang="fa-IR" sz="2000" dirty="0">
                <a:cs typeface="2  Nazanin" panose="00000400000000000000" pitchFamily="2" charset="-78"/>
              </a:rPr>
              <a:t>سيمان هاي پرتلند: كه از آسياب كردن كلينكر و سنگ گچ يا سـولفات كلسـيم متبلـور خام در كارخانه هاي سيمان تولید میشود</a:t>
            </a:r>
            <a:endParaRPr lang="en-US" sz="2000" dirty="0">
              <a:cs typeface="2  Nazanin" panose="00000400000000000000" pitchFamily="2" charset="-78"/>
            </a:endParaRPr>
          </a:p>
          <a:p>
            <a:pPr algn="r"/>
            <a:r>
              <a:rPr lang="fa-IR" sz="2400" b="1" dirty="0">
                <a:cs typeface="2  Nazanin" panose="00000400000000000000" pitchFamily="2" charset="-78"/>
              </a:rPr>
              <a:t>انواع سیمان پرتلند</a:t>
            </a:r>
            <a:endParaRPr lang="en-US" sz="2400" b="1" dirty="0">
              <a:cs typeface="2  Nazanin" panose="00000400000000000000" pitchFamily="2" charset="-78"/>
            </a:endParaRPr>
          </a:p>
          <a:p>
            <a:pPr marL="342900" indent="-342900" algn="r" rtl="1">
              <a:buFont typeface="Wingdings" panose="05000000000000000000" pitchFamily="2" charset="2"/>
              <a:buChar char="v"/>
            </a:pPr>
            <a:r>
              <a:rPr lang="en-US" sz="2400" b="1" dirty="0">
                <a:cs typeface="2  Nazanin" panose="00000400000000000000" pitchFamily="2" charset="-78"/>
              </a:rPr>
              <a:t> </a:t>
            </a:r>
            <a:r>
              <a:rPr lang="fa-IR" sz="2000" dirty="0">
                <a:cs typeface="2  Nazanin" panose="00000400000000000000" pitchFamily="2" charset="-78"/>
              </a:rPr>
              <a:t>سيمان پرتلند نوع يك (</a:t>
            </a:r>
            <a:r>
              <a:rPr lang="en-US" sz="2000" dirty="0">
                <a:cs typeface="2  Nazanin" panose="00000400000000000000" pitchFamily="2" charset="-78"/>
              </a:rPr>
              <a:t>I</a:t>
            </a:r>
            <a:r>
              <a:rPr lang="fa-IR" sz="20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دو (</a:t>
            </a:r>
            <a:r>
              <a:rPr lang="en-US" sz="2400" dirty="0">
                <a:cs typeface="2  Nazanin" panose="00000400000000000000" pitchFamily="2" charset="-78"/>
              </a:rPr>
              <a:t>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سه (</a:t>
            </a:r>
            <a:r>
              <a:rPr lang="en-US" sz="2400" dirty="0">
                <a:cs typeface="2  Nazanin" panose="00000400000000000000" pitchFamily="2" charset="-78"/>
              </a:rPr>
              <a:t>III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چهار(</a:t>
            </a:r>
            <a:r>
              <a:rPr lang="en-US" sz="2400" dirty="0">
                <a:cs typeface="2  Nazanin" panose="00000400000000000000" pitchFamily="2" charset="-78"/>
              </a:rPr>
              <a:t>IV</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 سیمان پرتلند نوع پنج(</a:t>
            </a:r>
            <a:r>
              <a:rPr lang="en-US" sz="2400" dirty="0">
                <a:cs typeface="2  Nazanin" panose="00000400000000000000" pitchFamily="2" charset="-78"/>
              </a:rPr>
              <a:t>V</a:t>
            </a:r>
            <a:r>
              <a:rPr lang="fa-IR" sz="2400" dirty="0">
                <a:cs typeface="2  Nazanin" panose="00000400000000000000" pitchFamily="2" charset="-78"/>
              </a:rPr>
              <a:t>)</a:t>
            </a:r>
          </a:p>
        </p:txBody>
      </p:sp>
      <p:pic>
        <p:nvPicPr>
          <p:cNvPr id="22" name="Picture 21">
            <a:extLst>
              <a:ext uri="{FF2B5EF4-FFF2-40B4-BE49-F238E27FC236}">
                <a16:creationId xmlns:a16="http://schemas.microsoft.com/office/drawing/2014/main" id="{D783718A-9322-4CE6-BE7C-B1B47EF449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118" y="3820717"/>
            <a:ext cx="3971964" cy="2643161"/>
          </a:xfrm>
          <a:prstGeom prst="rect">
            <a:avLst/>
          </a:prstGeom>
        </p:spPr>
      </p:pic>
    </p:spTree>
    <p:extLst>
      <p:ext uri="{BB962C8B-B14F-4D97-AF65-F5344CB8AC3E}">
        <p14:creationId xmlns:p14="http://schemas.microsoft.com/office/powerpoint/2010/main" val="29619328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4648853"/>
            <a:ext cx="7783798" cy="1877437"/>
          </a:xfrm>
          <a:prstGeom prst="rect">
            <a:avLst/>
          </a:prstGeom>
          <a:noFill/>
        </p:spPr>
        <p:txBody>
          <a:bodyPr wrap="square" rtlCol="1">
            <a:spAutoFit/>
          </a:bodyPr>
          <a:lstStyle/>
          <a:p>
            <a:pPr algn="r"/>
            <a:r>
              <a:rPr lang="fa-IR" sz="2400" b="1" dirty="0">
                <a:cs typeface="2  Nazanin" panose="00000400000000000000" pitchFamily="2" charset="-78"/>
              </a:rPr>
              <a:t>سیمان هیدرولیکی </a:t>
            </a:r>
          </a:p>
          <a:p>
            <a:pPr algn="r"/>
            <a:r>
              <a:rPr lang="fa-IR" sz="2300" dirty="0">
                <a:cs typeface="2  Nazanin" panose="00000400000000000000" pitchFamily="2" charset="-78"/>
              </a:rPr>
              <a:t>سيمان هيدروليكي مادة چسبانندهاي است كه در هوا و مجاورت آب و جايي كه هوا نيست، گيـرش حاصل ميكند و سخت ميشود.</a:t>
            </a:r>
          </a:p>
          <a:p>
            <a:pPr algn="r"/>
            <a:r>
              <a:rPr lang="fa-IR" sz="2300" dirty="0">
                <a:cs typeface="2  Nazanin" panose="00000400000000000000" pitchFamily="2" charset="-78"/>
              </a:rPr>
              <a:t> اين ماده را در ساختن بتن و ملات هاي سيماني بـه كـار مـيبرنـد. </a:t>
            </a:r>
          </a:p>
          <a:p>
            <a:pPr algn="r"/>
            <a:r>
              <a:rPr lang="fa-IR" sz="2300" dirty="0">
                <a:cs typeface="2  Nazanin" panose="00000400000000000000" pitchFamily="2" charset="-78"/>
              </a:rPr>
              <a:t>سيمان در واكنش با آب سخت ميشود و جسمي يكپارچه تشكيل ميدهد</a:t>
            </a:r>
          </a:p>
        </p:txBody>
      </p:sp>
      <p:pic>
        <p:nvPicPr>
          <p:cNvPr id="20" name="Picture 19">
            <a:extLst>
              <a:ext uri="{FF2B5EF4-FFF2-40B4-BE49-F238E27FC236}">
                <a16:creationId xmlns:a16="http://schemas.microsoft.com/office/drawing/2014/main" id="{4CA3F337-B708-4F18-AE21-5B362B0B9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050" y="4726273"/>
            <a:ext cx="3086100" cy="1476375"/>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56" y="34290"/>
            <a:ext cx="12192000" cy="7550727"/>
            <a:chOff x="0" y="0"/>
            <a:chExt cx="12192000" cy="7550727"/>
          </a:xfrm>
          <a:solidFill>
            <a:srgbClr val="FCE2B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CB863617-347A-498F-9388-0405A6D033A6}"/>
              </a:ext>
            </a:extLst>
          </p:cNvPr>
          <p:cNvSpPr txBox="1"/>
          <p:nvPr/>
        </p:nvSpPr>
        <p:spPr>
          <a:xfrm>
            <a:off x="4238514" y="3682171"/>
            <a:ext cx="7325958" cy="2923877"/>
          </a:xfrm>
          <a:prstGeom prst="rect">
            <a:avLst/>
          </a:prstGeom>
          <a:noFill/>
        </p:spPr>
        <p:txBody>
          <a:bodyPr wrap="square" rtlCol="1">
            <a:spAutoFit/>
          </a:bodyPr>
          <a:lstStyle/>
          <a:p>
            <a:pPr algn="r"/>
            <a:r>
              <a:rPr lang="fa-IR" sz="2000" dirty="0">
                <a:cs typeface="2  Nazanin" panose="00000400000000000000" pitchFamily="2" charset="-78"/>
              </a:rPr>
              <a:t>سيمان هاي پرتلند: كه از آسياب كردن كلينكر و سنگ گچ يا سـولفات كلسـيم متبلـور خام در كارخانه هاي سيمان تولید میشود</a:t>
            </a:r>
            <a:endParaRPr lang="en-US" sz="2000" dirty="0">
              <a:cs typeface="2  Nazanin" panose="00000400000000000000" pitchFamily="2" charset="-78"/>
            </a:endParaRPr>
          </a:p>
          <a:p>
            <a:pPr algn="r"/>
            <a:r>
              <a:rPr lang="fa-IR" sz="2400" b="1" dirty="0">
                <a:cs typeface="2  Nazanin" panose="00000400000000000000" pitchFamily="2" charset="-78"/>
              </a:rPr>
              <a:t>انواع سیمان پرتلند</a:t>
            </a:r>
            <a:endParaRPr lang="en-US" sz="2400" b="1" dirty="0">
              <a:cs typeface="2  Nazanin" panose="00000400000000000000" pitchFamily="2" charset="-78"/>
            </a:endParaRPr>
          </a:p>
          <a:p>
            <a:pPr marL="342900" indent="-342900" algn="r" rtl="1">
              <a:buFont typeface="Wingdings" panose="05000000000000000000" pitchFamily="2" charset="2"/>
              <a:buChar char="v"/>
            </a:pPr>
            <a:r>
              <a:rPr lang="en-US" sz="2400" b="1" dirty="0">
                <a:cs typeface="2  Nazanin" panose="00000400000000000000" pitchFamily="2" charset="-78"/>
              </a:rPr>
              <a:t> </a:t>
            </a:r>
            <a:r>
              <a:rPr lang="fa-IR" sz="2000" dirty="0">
                <a:cs typeface="2  Nazanin" panose="00000400000000000000" pitchFamily="2" charset="-78"/>
              </a:rPr>
              <a:t>سيمان پرتلند نوع يك (</a:t>
            </a:r>
            <a:r>
              <a:rPr lang="en-US" sz="2000" dirty="0">
                <a:cs typeface="2  Nazanin" panose="00000400000000000000" pitchFamily="2" charset="-78"/>
              </a:rPr>
              <a:t>I</a:t>
            </a:r>
            <a:r>
              <a:rPr lang="fa-IR" sz="20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دو (</a:t>
            </a:r>
            <a:r>
              <a:rPr lang="en-US" sz="2400" dirty="0">
                <a:cs typeface="2  Nazanin" panose="00000400000000000000" pitchFamily="2" charset="-78"/>
              </a:rPr>
              <a:t>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سه (</a:t>
            </a:r>
            <a:r>
              <a:rPr lang="en-US" sz="2400" dirty="0">
                <a:cs typeface="2  Nazanin" panose="00000400000000000000" pitchFamily="2" charset="-78"/>
              </a:rPr>
              <a:t>III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چهار(</a:t>
            </a:r>
            <a:r>
              <a:rPr lang="en-US" sz="2400" dirty="0">
                <a:cs typeface="2  Nazanin" panose="00000400000000000000" pitchFamily="2" charset="-78"/>
              </a:rPr>
              <a:t>IV</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 سیمان پرتلند نوع پنج(</a:t>
            </a:r>
            <a:r>
              <a:rPr lang="en-US" sz="2400" dirty="0">
                <a:cs typeface="2  Nazanin" panose="00000400000000000000" pitchFamily="2" charset="-78"/>
              </a:rPr>
              <a:t>V</a:t>
            </a:r>
            <a:r>
              <a:rPr lang="fa-IR" sz="2400" dirty="0">
                <a:cs typeface="2  Nazanin" panose="00000400000000000000" pitchFamily="2" charset="-78"/>
              </a:rPr>
              <a:t>)</a:t>
            </a:r>
          </a:p>
        </p:txBody>
      </p:sp>
      <p:pic>
        <p:nvPicPr>
          <p:cNvPr id="26" name="Picture 25">
            <a:extLst>
              <a:ext uri="{FF2B5EF4-FFF2-40B4-BE49-F238E27FC236}">
                <a16:creationId xmlns:a16="http://schemas.microsoft.com/office/drawing/2014/main" id="{5E55F5AF-9F0B-4A74-B2AA-8389C4C3BA95}"/>
              </a:ext>
            </a:extLst>
          </p:cNvPr>
          <p:cNvPicPr>
            <a:picLocks noChangeAspect="1"/>
          </p:cNvPicPr>
          <p:nvPr/>
        </p:nvPicPr>
        <p:blipFill rotWithShape="1">
          <a:blip r:embed="rId3">
            <a:extLst>
              <a:ext uri="{28A0092B-C50C-407E-A947-70E740481C1C}">
                <a14:useLocalDpi xmlns:a14="http://schemas.microsoft.com/office/drawing/2010/main" val="0"/>
              </a:ext>
            </a:extLst>
          </a:blip>
          <a:srcRect b="8846"/>
          <a:stretch/>
        </p:blipFill>
        <p:spPr>
          <a:xfrm>
            <a:off x="681990" y="3763730"/>
            <a:ext cx="2800441" cy="2552719"/>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96" y="187970"/>
            <a:ext cx="12192000" cy="7550727"/>
            <a:chOff x="0" y="0"/>
            <a:chExt cx="12192000" cy="7550727"/>
          </a:xfrm>
          <a:solidFill>
            <a:srgbClr val="F7B2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4690417"/>
            <a:ext cx="12192000" cy="7550727"/>
            <a:chOff x="0" y="0"/>
            <a:chExt cx="12192000" cy="7550727"/>
          </a:xfrm>
          <a:solidFill>
            <a:srgbClr val="C4899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9A7EA6"/>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5" name="TextBox 24">
            <a:extLst>
              <a:ext uri="{FF2B5EF4-FFF2-40B4-BE49-F238E27FC236}">
                <a16:creationId xmlns:a16="http://schemas.microsoft.com/office/drawing/2014/main" id="{B49DED06-C75A-4AF8-A51C-F22C8FA16A31}"/>
              </a:ext>
            </a:extLst>
          </p:cNvPr>
          <p:cNvSpPr txBox="1"/>
          <p:nvPr/>
        </p:nvSpPr>
        <p:spPr>
          <a:xfrm>
            <a:off x="3649854" y="2881951"/>
            <a:ext cx="8100154" cy="3785652"/>
          </a:xfrm>
          <a:prstGeom prst="rect">
            <a:avLst/>
          </a:prstGeom>
          <a:noFill/>
        </p:spPr>
        <p:txBody>
          <a:bodyPr wrap="square" rtlCol="1">
            <a:spAutoFit/>
          </a:bodyPr>
          <a:lstStyle/>
          <a:p>
            <a:pPr algn="r"/>
            <a:r>
              <a:rPr lang="fa-IR" sz="2000" dirty="0">
                <a:cs typeface="2  Nazanin" panose="00000400000000000000" pitchFamily="2" charset="-78"/>
              </a:rPr>
              <a:t>سیما</a:t>
            </a:r>
            <a:r>
              <a:rPr lang="fa-IR" sz="2400" dirty="0">
                <a:cs typeface="2  Nazanin" panose="00000400000000000000" pitchFamily="2" charset="-78"/>
              </a:rPr>
              <a:t>ن هاي آميخته: كه جزء اصلي آنها كلينكر سيمان پرتلند است و داراي مقاديري</a:t>
            </a:r>
          </a:p>
          <a:p>
            <a:pPr algn="r"/>
            <a:r>
              <a:rPr lang="fa-IR" sz="2400" dirty="0">
                <a:cs typeface="2  Nazanin" panose="00000400000000000000" pitchFamily="2" charset="-78"/>
              </a:rPr>
              <a:t>از مواد مناسب، مانند پوزولان هاي طبيعي، مصنوعي، يا مواد افزودني ويژه جايگزين سيمان پرتلند است</a:t>
            </a:r>
            <a:endParaRPr lang="en-US" sz="2400" dirty="0">
              <a:cs typeface="2  Nazanin" panose="00000400000000000000" pitchFamily="2" charset="-78"/>
            </a:endParaRPr>
          </a:p>
          <a:p>
            <a:pPr algn="r"/>
            <a:endParaRPr lang="en-US" sz="2400" dirty="0">
              <a:cs typeface="2  Nazanin" panose="00000400000000000000" pitchFamily="2" charset="-78"/>
            </a:endParaRPr>
          </a:p>
          <a:p>
            <a:pPr algn="r"/>
            <a:r>
              <a:rPr lang="fa-IR" sz="2400" b="1" dirty="0">
                <a:cs typeface="2  Nazanin" panose="00000400000000000000" pitchFamily="2" charset="-78"/>
              </a:rPr>
              <a:t>انواع سیمان ها پرتلند آمیخته</a:t>
            </a:r>
            <a:endParaRPr lang="fa-IR" sz="2400" dirty="0">
              <a:cs typeface="2  Nazanin" panose="00000400000000000000" pitchFamily="2" charset="-78"/>
            </a:endParaRPr>
          </a:p>
          <a:p>
            <a:pPr marL="342900" indent="-342900" algn="r" rtl="1">
              <a:buFont typeface="Wingdings" panose="05000000000000000000" pitchFamily="2" charset="2"/>
              <a:buChar char="v"/>
            </a:pPr>
            <a:r>
              <a:rPr lang="fa-IR" sz="2400" dirty="0">
                <a:cs typeface="2  Nazanin" panose="00000400000000000000" pitchFamily="2" charset="-78"/>
              </a:rPr>
              <a:t>سيمان پرتلند پوزولاني</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سربارهاي</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آهكي</a:t>
            </a:r>
          </a:p>
          <a:p>
            <a:pPr marL="342900" indent="-342900" algn="r" rtl="1">
              <a:buFont typeface="Wingdings" panose="05000000000000000000" pitchFamily="2" charset="2"/>
              <a:buChar char="v"/>
            </a:pPr>
            <a:r>
              <a:rPr lang="fa-IR" sz="2400" dirty="0">
                <a:cs typeface="2  Nazanin" panose="00000400000000000000" pitchFamily="2" charset="-78"/>
              </a:rPr>
              <a:t>سيمان بنايي</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مركب</a:t>
            </a:r>
          </a:p>
        </p:txBody>
      </p:sp>
      <p:pic>
        <p:nvPicPr>
          <p:cNvPr id="29" name="Picture 28">
            <a:extLst>
              <a:ext uri="{FF2B5EF4-FFF2-40B4-BE49-F238E27FC236}">
                <a16:creationId xmlns:a16="http://schemas.microsoft.com/office/drawing/2014/main" id="{3141F299-16CA-43EA-9138-52A529FA7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018" y="3954075"/>
            <a:ext cx="6701086" cy="2622710"/>
          </a:xfrm>
          <a:prstGeom prst="rect">
            <a:avLst/>
          </a:prstGeom>
        </p:spPr>
      </p:pic>
    </p:spTree>
    <p:extLst>
      <p:ext uri="{BB962C8B-B14F-4D97-AF65-F5344CB8AC3E}">
        <p14:creationId xmlns:p14="http://schemas.microsoft.com/office/powerpoint/2010/main" val="8084246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4648853"/>
            <a:ext cx="7783798" cy="1877437"/>
          </a:xfrm>
          <a:prstGeom prst="rect">
            <a:avLst/>
          </a:prstGeom>
          <a:noFill/>
        </p:spPr>
        <p:txBody>
          <a:bodyPr wrap="square" rtlCol="1">
            <a:spAutoFit/>
          </a:bodyPr>
          <a:lstStyle/>
          <a:p>
            <a:pPr algn="r"/>
            <a:r>
              <a:rPr lang="fa-IR" sz="2400" b="1" dirty="0">
                <a:cs typeface="2  Nazanin" panose="00000400000000000000" pitchFamily="2" charset="-78"/>
              </a:rPr>
              <a:t>سیمان هیدرولیکی </a:t>
            </a:r>
          </a:p>
          <a:p>
            <a:pPr algn="r"/>
            <a:r>
              <a:rPr lang="fa-IR" sz="2300" dirty="0">
                <a:cs typeface="2  Nazanin" panose="00000400000000000000" pitchFamily="2" charset="-78"/>
              </a:rPr>
              <a:t>سيمان هيدروليكي مادة چسبانندهاي است كه در هوا و مجاورت آب و جايي كه هوا نيست، گيـرش حاصل ميكند و سخت ميشود.</a:t>
            </a:r>
          </a:p>
          <a:p>
            <a:pPr algn="r"/>
            <a:r>
              <a:rPr lang="fa-IR" sz="2300" dirty="0">
                <a:cs typeface="2  Nazanin" panose="00000400000000000000" pitchFamily="2" charset="-78"/>
              </a:rPr>
              <a:t> اين ماده را در ساختن بتن و ملات هاي سيماني بـه كـار مـيبرنـد. </a:t>
            </a:r>
          </a:p>
          <a:p>
            <a:pPr algn="r"/>
            <a:r>
              <a:rPr lang="fa-IR" sz="2300" dirty="0">
                <a:cs typeface="2  Nazanin" panose="00000400000000000000" pitchFamily="2" charset="-78"/>
              </a:rPr>
              <a:t>سيمان در واكنش با آب سخت ميشود و جسمي يكپارچه تشكيل ميدهد</a:t>
            </a:r>
          </a:p>
        </p:txBody>
      </p:sp>
      <p:pic>
        <p:nvPicPr>
          <p:cNvPr id="20" name="Picture 19">
            <a:extLst>
              <a:ext uri="{FF2B5EF4-FFF2-40B4-BE49-F238E27FC236}">
                <a16:creationId xmlns:a16="http://schemas.microsoft.com/office/drawing/2014/main" id="{4CA3F337-B708-4F18-AE21-5B362B0B9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050" y="4726273"/>
            <a:ext cx="3086100" cy="1476375"/>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56" y="34290"/>
            <a:ext cx="12192000" cy="7550727"/>
            <a:chOff x="0" y="0"/>
            <a:chExt cx="12192000" cy="7550727"/>
          </a:xfrm>
          <a:solidFill>
            <a:srgbClr val="FCE2B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CB863617-347A-498F-9388-0405A6D033A6}"/>
              </a:ext>
            </a:extLst>
          </p:cNvPr>
          <p:cNvSpPr txBox="1"/>
          <p:nvPr/>
        </p:nvSpPr>
        <p:spPr>
          <a:xfrm>
            <a:off x="4238514" y="3682171"/>
            <a:ext cx="7325958" cy="2923877"/>
          </a:xfrm>
          <a:prstGeom prst="rect">
            <a:avLst/>
          </a:prstGeom>
          <a:noFill/>
        </p:spPr>
        <p:txBody>
          <a:bodyPr wrap="square" rtlCol="1">
            <a:spAutoFit/>
          </a:bodyPr>
          <a:lstStyle/>
          <a:p>
            <a:pPr algn="r"/>
            <a:r>
              <a:rPr lang="fa-IR" sz="2000" dirty="0">
                <a:cs typeface="2  Nazanin" panose="00000400000000000000" pitchFamily="2" charset="-78"/>
              </a:rPr>
              <a:t>سيمان هاي پرتلند: كه از آسياب كردن كلينكر و سنگ گچ يا سـولفات كلسـيم متبلـور خام در كارخانه هاي سيمان تولید میشود</a:t>
            </a:r>
            <a:endParaRPr lang="en-US" sz="2000" dirty="0">
              <a:cs typeface="2  Nazanin" panose="00000400000000000000" pitchFamily="2" charset="-78"/>
            </a:endParaRPr>
          </a:p>
          <a:p>
            <a:pPr algn="r"/>
            <a:r>
              <a:rPr lang="fa-IR" sz="2400" b="1" dirty="0">
                <a:cs typeface="2  Nazanin" panose="00000400000000000000" pitchFamily="2" charset="-78"/>
              </a:rPr>
              <a:t>انواع سیمان پرتلند</a:t>
            </a:r>
            <a:endParaRPr lang="en-US" sz="2400" b="1" dirty="0">
              <a:cs typeface="2  Nazanin" panose="00000400000000000000" pitchFamily="2" charset="-78"/>
            </a:endParaRPr>
          </a:p>
          <a:p>
            <a:pPr marL="342900" indent="-342900" algn="r" rtl="1">
              <a:buFont typeface="Wingdings" panose="05000000000000000000" pitchFamily="2" charset="2"/>
              <a:buChar char="v"/>
            </a:pPr>
            <a:r>
              <a:rPr lang="en-US" sz="2400" b="1" dirty="0">
                <a:cs typeface="2  Nazanin" panose="00000400000000000000" pitchFamily="2" charset="-78"/>
              </a:rPr>
              <a:t> </a:t>
            </a:r>
            <a:r>
              <a:rPr lang="fa-IR" sz="2000" dirty="0">
                <a:cs typeface="2  Nazanin" panose="00000400000000000000" pitchFamily="2" charset="-78"/>
              </a:rPr>
              <a:t>سيمان پرتلند نوع يك (</a:t>
            </a:r>
            <a:r>
              <a:rPr lang="en-US" sz="2000" dirty="0">
                <a:cs typeface="2  Nazanin" panose="00000400000000000000" pitchFamily="2" charset="-78"/>
              </a:rPr>
              <a:t>I</a:t>
            </a:r>
            <a:r>
              <a:rPr lang="fa-IR" sz="20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دو (</a:t>
            </a:r>
            <a:r>
              <a:rPr lang="en-US" sz="2400" dirty="0">
                <a:cs typeface="2  Nazanin" panose="00000400000000000000" pitchFamily="2" charset="-78"/>
              </a:rPr>
              <a:t>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سه (</a:t>
            </a:r>
            <a:r>
              <a:rPr lang="en-US" sz="2400" dirty="0">
                <a:cs typeface="2  Nazanin" panose="00000400000000000000" pitchFamily="2" charset="-78"/>
              </a:rPr>
              <a:t>III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چهار(</a:t>
            </a:r>
            <a:r>
              <a:rPr lang="en-US" sz="2400" dirty="0">
                <a:cs typeface="2  Nazanin" panose="00000400000000000000" pitchFamily="2" charset="-78"/>
              </a:rPr>
              <a:t>IV</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 سیمان پرتلند نوع پنج(</a:t>
            </a:r>
            <a:r>
              <a:rPr lang="en-US" sz="2400" dirty="0">
                <a:cs typeface="2  Nazanin" panose="00000400000000000000" pitchFamily="2" charset="-78"/>
              </a:rPr>
              <a:t>V</a:t>
            </a:r>
            <a:r>
              <a:rPr lang="fa-IR" sz="2400" dirty="0">
                <a:cs typeface="2  Nazanin" panose="00000400000000000000" pitchFamily="2" charset="-78"/>
              </a:rPr>
              <a:t>)</a:t>
            </a:r>
          </a:p>
        </p:txBody>
      </p:sp>
      <p:pic>
        <p:nvPicPr>
          <p:cNvPr id="26" name="Picture 25">
            <a:extLst>
              <a:ext uri="{FF2B5EF4-FFF2-40B4-BE49-F238E27FC236}">
                <a16:creationId xmlns:a16="http://schemas.microsoft.com/office/drawing/2014/main" id="{5E55F5AF-9F0B-4A74-B2AA-8389C4C3BA95}"/>
              </a:ext>
            </a:extLst>
          </p:cNvPr>
          <p:cNvPicPr>
            <a:picLocks noChangeAspect="1"/>
          </p:cNvPicPr>
          <p:nvPr/>
        </p:nvPicPr>
        <p:blipFill rotWithShape="1">
          <a:blip r:embed="rId3">
            <a:extLst>
              <a:ext uri="{28A0092B-C50C-407E-A947-70E740481C1C}">
                <a14:useLocalDpi xmlns:a14="http://schemas.microsoft.com/office/drawing/2010/main" val="0"/>
              </a:ext>
            </a:extLst>
          </a:blip>
          <a:srcRect b="8846"/>
          <a:stretch/>
        </p:blipFill>
        <p:spPr>
          <a:xfrm>
            <a:off x="681990" y="3763730"/>
            <a:ext cx="2800441" cy="2552719"/>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96" y="187970"/>
            <a:ext cx="12192000" cy="7550727"/>
            <a:chOff x="0" y="0"/>
            <a:chExt cx="12192000" cy="7550727"/>
          </a:xfrm>
          <a:solidFill>
            <a:srgbClr val="F7B2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5" name="TextBox 24">
            <a:extLst>
              <a:ext uri="{FF2B5EF4-FFF2-40B4-BE49-F238E27FC236}">
                <a16:creationId xmlns:a16="http://schemas.microsoft.com/office/drawing/2014/main" id="{B49DED06-C75A-4AF8-A51C-F22C8FA16A31}"/>
              </a:ext>
            </a:extLst>
          </p:cNvPr>
          <p:cNvSpPr txBox="1"/>
          <p:nvPr/>
        </p:nvSpPr>
        <p:spPr>
          <a:xfrm>
            <a:off x="4812033" y="3102010"/>
            <a:ext cx="7024743" cy="3170099"/>
          </a:xfrm>
          <a:prstGeom prst="rect">
            <a:avLst/>
          </a:prstGeom>
          <a:noFill/>
        </p:spPr>
        <p:txBody>
          <a:bodyPr wrap="square" rtlCol="1">
            <a:spAutoFit/>
          </a:bodyPr>
          <a:lstStyle/>
          <a:p>
            <a:pPr algn="r"/>
            <a:r>
              <a:rPr lang="fa-IR" sz="2000" dirty="0">
                <a:cs typeface="2  Nazanin" panose="00000400000000000000" pitchFamily="2" charset="-78"/>
              </a:rPr>
              <a:t>سيمان هاي آميخته: كه جزء اصلي آنها كلينكر سيمان پرتلند است و داراي مقاديري</a:t>
            </a:r>
          </a:p>
          <a:p>
            <a:pPr algn="r"/>
            <a:r>
              <a:rPr lang="fa-IR" sz="2000" dirty="0">
                <a:cs typeface="2  Nazanin" panose="00000400000000000000" pitchFamily="2" charset="-78"/>
              </a:rPr>
              <a:t>از مواد مناسب، مانند پوزولانهاي طبيعي، مصنوعي، يا مواد افزودني ويژه جايگزين سيمان پرتلند است</a:t>
            </a:r>
            <a:endParaRPr lang="en-US" sz="2000" dirty="0">
              <a:cs typeface="2  Nazanin" panose="00000400000000000000" pitchFamily="2" charset="-78"/>
            </a:endParaRPr>
          </a:p>
          <a:p>
            <a:pPr algn="r"/>
            <a:endParaRPr lang="en-US" sz="2000" dirty="0">
              <a:cs typeface="2  Nazanin" panose="00000400000000000000" pitchFamily="2" charset="-78"/>
            </a:endParaRPr>
          </a:p>
          <a:p>
            <a:pPr algn="r"/>
            <a:r>
              <a:rPr lang="fa-IR" sz="2000" b="1" dirty="0">
                <a:cs typeface="2  Nazanin" panose="00000400000000000000" pitchFamily="2" charset="-78"/>
              </a:rPr>
              <a:t>انواع سیمان ها پرتلند آمیخته</a:t>
            </a:r>
            <a:endParaRPr lang="fa-IR" sz="2000" dirty="0">
              <a:cs typeface="2  Nazanin" panose="00000400000000000000" pitchFamily="2" charset="-78"/>
            </a:endParaRPr>
          </a:p>
          <a:p>
            <a:pPr marL="342900" indent="-342900" algn="r" rtl="1">
              <a:buFont typeface="Wingdings" panose="05000000000000000000" pitchFamily="2" charset="2"/>
              <a:buChar char="v"/>
            </a:pPr>
            <a:r>
              <a:rPr lang="fa-IR" sz="2000" dirty="0">
                <a:cs typeface="2  Nazanin" panose="00000400000000000000" pitchFamily="2" charset="-78"/>
              </a:rPr>
              <a:t>سيمان پرتلند پوزولاني</a:t>
            </a:r>
          </a:p>
          <a:p>
            <a:pPr marL="342900" indent="-342900" algn="r" rtl="1">
              <a:buFont typeface="Wingdings" panose="05000000000000000000" pitchFamily="2" charset="2"/>
              <a:buChar char="v"/>
            </a:pPr>
            <a:r>
              <a:rPr lang="fa-IR" sz="2000" dirty="0">
                <a:cs typeface="2  Nazanin" panose="00000400000000000000" pitchFamily="2" charset="-78"/>
              </a:rPr>
              <a:t>سيمان پرتلند سربارهاي</a:t>
            </a:r>
          </a:p>
          <a:p>
            <a:pPr marL="342900" indent="-342900" algn="r" rtl="1">
              <a:buFont typeface="Wingdings" panose="05000000000000000000" pitchFamily="2" charset="2"/>
              <a:buChar char="v"/>
            </a:pPr>
            <a:r>
              <a:rPr lang="fa-IR" sz="2000" dirty="0">
                <a:cs typeface="2  Nazanin" panose="00000400000000000000" pitchFamily="2" charset="-78"/>
              </a:rPr>
              <a:t>سيمان پرتلند آهكي</a:t>
            </a:r>
          </a:p>
          <a:p>
            <a:pPr marL="342900" indent="-342900" algn="r" rtl="1">
              <a:buFont typeface="Wingdings" panose="05000000000000000000" pitchFamily="2" charset="2"/>
              <a:buChar char="v"/>
            </a:pPr>
            <a:r>
              <a:rPr lang="fa-IR" sz="2000" dirty="0">
                <a:cs typeface="2  Nazanin" panose="00000400000000000000" pitchFamily="2" charset="-78"/>
              </a:rPr>
              <a:t>سيمان بنايي</a:t>
            </a:r>
          </a:p>
          <a:p>
            <a:pPr marL="342900" indent="-342900" algn="r" rtl="1">
              <a:buFont typeface="Wingdings" panose="05000000000000000000" pitchFamily="2" charset="2"/>
              <a:buChar char="v"/>
            </a:pPr>
            <a:r>
              <a:rPr lang="fa-IR" sz="2000" dirty="0">
                <a:cs typeface="2  Nazanin" panose="00000400000000000000" pitchFamily="2" charset="-78"/>
              </a:rPr>
              <a:t>سيمان پرتلند مركب</a:t>
            </a:r>
          </a:p>
        </p:txBody>
      </p:sp>
      <p:pic>
        <p:nvPicPr>
          <p:cNvPr id="29" name="Picture 28">
            <a:extLst>
              <a:ext uri="{FF2B5EF4-FFF2-40B4-BE49-F238E27FC236}">
                <a16:creationId xmlns:a16="http://schemas.microsoft.com/office/drawing/2014/main" id="{3141F299-16CA-43EA-9138-52A529FA7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92" y="3956098"/>
            <a:ext cx="6701086" cy="2622710"/>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187970"/>
            <a:ext cx="12192000" cy="7550727"/>
            <a:chOff x="0" y="0"/>
            <a:chExt cx="12192000" cy="7550727"/>
          </a:xfrm>
          <a:solidFill>
            <a:srgbClr val="C4899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515415"/>
            <a:ext cx="12192000" cy="7550727"/>
            <a:chOff x="0" y="0"/>
            <a:chExt cx="12192000" cy="7550727"/>
          </a:xfrm>
          <a:solidFill>
            <a:srgbClr val="9A7EA6"/>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7" name="TextBox 26">
            <a:extLst>
              <a:ext uri="{FF2B5EF4-FFF2-40B4-BE49-F238E27FC236}">
                <a16:creationId xmlns:a16="http://schemas.microsoft.com/office/drawing/2014/main" id="{2325B873-AC35-4601-8EF1-80FD0BCB0BD9}"/>
              </a:ext>
            </a:extLst>
          </p:cNvPr>
          <p:cNvSpPr txBox="1"/>
          <p:nvPr/>
        </p:nvSpPr>
        <p:spPr>
          <a:xfrm>
            <a:off x="3754736" y="2071879"/>
            <a:ext cx="7776786" cy="5139869"/>
          </a:xfrm>
          <a:prstGeom prst="rect">
            <a:avLst/>
          </a:prstGeom>
          <a:noFill/>
        </p:spPr>
        <p:txBody>
          <a:bodyPr wrap="square" rtlCol="1">
            <a:spAutoFit/>
          </a:bodyPr>
          <a:lstStyle/>
          <a:p>
            <a:pPr algn="r"/>
            <a:r>
              <a:rPr lang="fa-IR" sz="2200" b="1" dirty="0">
                <a:cs typeface="2  Nazanin" panose="00000400000000000000" pitchFamily="2" charset="-78"/>
              </a:rPr>
              <a:t>سيمان سفيد</a:t>
            </a:r>
            <a:r>
              <a:rPr lang="fa-IR" sz="2200" dirty="0">
                <a:cs typeface="2  Nazanin" panose="00000400000000000000" pitchFamily="2" charset="-78"/>
              </a:rPr>
              <a:t>: سيمان پرتلند سفيد، سيماني است كه در توليد آن از مواد اوليهاي كه تركيبات رنگ زای آن در حد مجاز باشد، استفاده مـيشـود. ايـن نـوع سـيمان عمدتا در نماسازي، بندكشي، اجزاء بنايي و كارهاي تزئيني كاربرد دارد</a:t>
            </a:r>
          </a:p>
          <a:p>
            <a:pPr algn="r"/>
            <a:r>
              <a:rPr lang="fa-IR" sz="2200" b="1" dirty="0">
                <a:cs typeface="2  Nazanin" panose="00000400000000000000" pitchFamily="2" charset="-78"/>
              </a:rPr>
              <a:t>سيمان پرتلند رنگي</a:t>
            </a:r>
            <a:r>
              <a:rPr lang="fa-IR" sz="2200" dirty="0">
                <a:cs typeface="2  Nazanin" panose="00000400000000000000" pitchFamily="2" charset="-78"/>
              </a:rPr>
              <a:t>: از افزودن رنگدانه هاي معدني (بدون داشتن واكنش شيميايي)  به سيمان پرتلند معمولي يا سـفيد بـه دسـت مـيآيـد. از سـيمان پرتلنـد معمـولي بـراي سـاخت سيمان هاي پرتلند رنگي قرمز، قهوهاي و سياه و از سيمان سفيد در توليد سيمانهايي با رنـگ هـاي روشن استفاده ميشود. </a:t>
            </a:r>
          </a:p>
          <a:p>
            <a:pPr algn="r"/>
            <a:r>
              <a:rPr lang="fa-IR" sz="2200" b="1" dirty="0">
                <a:cs typeface="2  Nazanin" panose="00000400000000000000" pitchFamily="2" charset="-78"/>
              </a:rPr>
              <a:t>استانداردها</a:t>
            </a:r>
          </a:p>
          <a:p>
            <a:pPr algn="r"/>
            <a:r>
              <a:rPr lang="fa-IR" sz="2200" dirty="0">
                <a:cs typeface="2  Nazanin" panose="00000400000000000000" pitchFamily="2" charset="-78"/>
              </a:rPr>
              <a:t>بر اساس استانداردهاي مذكور لازم است مواردي همچون الزامات تركيب شيميايي، حداقل سطح ويژه بلين، حداكثر انبساط اتوكلاو، حداقل مقاومـت هـاي فشـاري مـلات اسـتاندارد و محدوديت هاي زمان گيرش اوليه و نهايي براي انواع سيمان كنترل شـود. همچنـين بـراي سـيمان سربارهاي بايد علاوه بر موارد گفته شده، حداكثر حرارت هيدراسيون سيمان بررسـي شـود. ويژگـي رنگدانه هاي مورد مصرف در سيمان بنايي و سيمان هاي رنگي مطابق استاندارد ملـي ايـران باشد</a:t>
            </a:r>
            <a:r>
              <a:rPr lang="en-US" sz="2200" dirty="0">
                <a:cs typeface="2  Nazanin" panose="00000400000000000000" pitchFamily="2" charset="-78"/>
              </a:rPr>
              <a:t> </a:t>
            </a:r>
            <a:endParaRPr lang="fa-IR" sz="2200" dirty="0">
              <a:cs typeface="2  Nazanin" panose="00000400000000000000" pitchFamily="2" charset="-78"/>
            </a:endParaRPr>
          </a:p>
          <a:p>
            <a:pPr algn="r"/>
            <a:endParaRPr lang="fa-IR" sz="2000" dirty="0">
              <a:cs typeface="2  Nazanin" panose="00000400000000000000" pitchFamily="2" charset="-78"/>
            </a:endParaRPr>
          </a:p>
        </p:txBody>
      </p:sp>
      <p:pic>
        <p:nvPicPr>
          <p:cNvPr id="22" name="Picture 21">
            <a:extLst>
              <a:ext uri="{FF2B5EF4-FFF2-40B4-BE49-F238E27FC236}">
                <a16:creationId xmlns:a16="http://schemas.microsoft.com/office/drawing/2014/main" id="{968F3BE7-1549-41FA-BAD0-08E342958924}"/>
              </a:ext>
            </a:extLst>
          </p:cNvPr>
          <p:cNvPicPr>
            <a:picLocks noChangeAspect="1"/>
          </p:cNvPicPr>
          <p:nvPr/>
        </p:nvPicPr>
        <p:blipFill rotWithShape="1">
          <a:blip r:embed="rId5">
            <a:extLst>
              <a:ext uri="{28A0092B-C50C-407E-A947-70E740481C1C}">
                <a14:useLocalDpi xmlns:a14="http://schemas.microsoft.com/office/drawing/2010/main" val="0"/>
              </a:ext>
            </a:extLst>
          </a:blip>
          <a:srcRect l="5033" t="10696" b="14264"/>
          <a:stretch/>
        </p:blipFill>
        <p:spPr>
          <a:xfrm>
            <a:off x="153618" y="4291583"/>
            <a:ext cx="3124123" cy="2468595"/>
          </a:xfrm>
          <a:prstGeom prst="rect">
            <a:avLst/>
          </a:prstGeom>
        </p:spPr>
      </p:pic>
      <p:pic>
        <p:nvPicPr>
          <p:cNvPr id="24" name="Picture 23">
            <a:extLst>
              <a:ext uri="{FF2B5EF4-FFF2-40B4-BE49-F238E27FC236}">
                <a16:creationId xmlns:a16="http://schemas.microsoft.com/office/drawing/2014/main" id="{310AF46D-6AEE-4DF1-B86A-FF5A61BE614A}"/>
              </a:ext>
            </a:extLst>
          </p:cNvPr>
          <p:cNvPicPr>
            <a:picLocks noChangeAspect="1"/>
          </p:cNvPicPr>
          <p:nvPr/>
        </p:nvPicPr>
        <p:blipFill rotWithShape="1">
          <a:blip r:embed="rId6">
            <a:extLst>
              <a:ext uri="{28A0092B-C50C-407E-A947-70E740481C1C}">
                <a14:useLocalDpi xmlns:a14="http://schemas.microsoft.com/office/drawing/2010/main" val="0"/>
              </a:ext>
            </a:extLst>
          </a:blip>
          <a:srcRect l="4317" t="2969" r="6434" b="5799"/>
          <a:stretch/>
        </p:blipFill>
        <p:spPr>
          <a:xfrm>
            <a:off x="248005" y="1661839"/>
            <a:ext cx="3332651" cy="2267019"/>
          </a:xfrm>
          <a:prstGeom prst="rect">
            <a:avLst/>
          </a:prstGeom>
        </p:spPr>
      </p:pic>
    </p:spTree>
    <p:extLst>
      <p:ext uri="{BB962C8B-B14F-4D97-AF65-F5344CB8AC3E}">
        <p14:creationId xmlns:p14="http://schemas.microsoft.com/office/powerpoint/2010/main" val="4698654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4648853"/>
            <a:ext cx="7783798" cy="1877437"/>
          </a:xfrm>
          <a:prstGeom prst="rect">
            <a:avLst/>
          </a:prstGeom>
          <a:noFill/>
        </p:spPr>
        <p:txBody>
          <a:bodyPr wrap="square" rtlCol="1">
            <a:spAutoFit/>
          </a:bodyPr>
          <a:lstStyle/>
          <a:p>
            <a:pPr algn="r"/>
            <a:r>
              <a:rPr lang="fa-IR" sz="2400" b="1" dirty="0">
                <a:cs typeface="2  Nazanin" panose="00000400000000000000" pitchFamily="2" charset="-78"/>
              </a:rPr>
              <a:t>سیمان هیدرولیکی </a:t>
            </a:r>
          </a:p>
          <a:p>
            <a:pPr algn="r"/>
            <a:r>
              <a:rPr lang="fa-IR" sz="2300" dirty="0">
                <a:cs typeface="2  Nazanin" panose="00000400000000000000" pitchFamily="2" charset="-78"/>
              </a:rPr>
              <a:t>سيمان هيدروليكي مادة چسبانندهاي است كه در هوا و مجاورت آب و جايي كه هوا نيست، گيـرش حاصل ميكند و سخت ميشود.</a:t>
            </a:r>
          </a:p>
          <a:p>
            <a:pPr algn="r"/>
            <a:r>
              <a:rPr lang="fa-IR" sz="2300" dirty="0">
                <a:cs typeface="2  Nazanin" panose="00000400000000000000" pitchFamily="2" charset="-78"/>
              </a:rPr>
              <a:t> اين ماده را در ساختن بتن و ملات هاي سيماني بـه كـار مـيبرنـد. </a:t>
            </a:r>
          </a:p>
          <a:p>
            <a:pPr algn="r"/>
            <a:r>
              <a:rPr lang="fa-IR" sz="2300" dirty="0">
                <a:cs typeface="2  Nazanin" panose="00000400000000000000" pitchFamily="2" charset="-78"/>
              </a:rPr>
              <a:t>سيمان در واكنش با آب سخت ميشود و جسمي يكپارچه تشكيل ميدهد</a:t>
            </a:r>
          </a:p>
        </p:txBody>
      </p:sp>
      <p:pic>
        <p:nvPicPr>
          <p:cNvPr id="20" name="Picture 19">
            <a:extLst>
              <a:ext uri="{FF2B5EF4-FFF2-40B4-BE49-F238E27FC236}">
                <a16:creationId xmlns:a16="http://schemas.microsoft.com/office/drawing/2014/main" id="{4CA3F337-B708-4F18-AE21-5B362B0B9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1050" y="4726273"/>
            <a:ext cx="3086100" cy="1476375"/>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56" y="34290"/>
            <a:ext cx="12192000" cy="7550727"/>
            <a:chOff x="0" y="0"/>
            <a:chExt cx="12192000" cy="7550727"/>
          </a:xfrm>
          <a:solidFill>
            <a:srgbClr val="FCE2B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CB863617-347A-498F-9388-0405A6D033A6}"/>
              </a:ext>
            </a:extLst>
          </p:cNvPr>
          <p:cNvSpPr txBox="1"/>
          <p:nvPr/>
        </p:nvSpPr>
        <p:spPr>
          <a:xfrm>
            <a:off x="4238514" y="3682171"/>
            <a:ext cx="7325958" cy="2923877"/>
          </a:xfrm>
          <a:prstGeom prst="rect">
            <a:avLst/>
          </a:prstGeom>
          <a:noFill/>
        </p:spPr>
        <p:txBody>
          <a:bodyPr wrap="square" rtlCol="1">
            <a:spAutoFit/>
          </a:bodyPr>
          <a:lstStyle/>
          <a:p>
            <a:pPr algn="r"/>
            <a:r>
              <a:rPr lang="fa-IR" sz="2000" dirty="0">
                <a:cs typeface="2  Nazanin" panose="00000400000000000000" pitchFamily="2" charset="-78"/>
              </a:rPr>
              <a:t>سيمان هاي پرتلند: كه از آسياب كردن كلينكر و سنگ گچ يا سـولفات كلسـيم متبلـور خام در كارخانه هاي سيمان تولید میشود</a:t>
            </a:r>
            <a:endParaRPr lang="en-US" sz="2000" dirty="0">
              <a:cs typeface="2  Nazanin" panose="00000400000000000000" pitchFamily="2" charset="-78"/>
            </a:endParaRPr>
          </a:p>
          <a:p>
            <a:pPr algn="r"/>
            <a:r>
              <a:rPr lang="fa-IR" sz="2400" b="1" dirty="0">
                <a:cs typeface="2  Nazanin" panose="00000400000000000000" pitchFamily="2" charset="-78"/>
              </a:rPr>
              <a:t>انواع سیمان پرتلند</a:t>
            </a:r>
            <a:endParaRPr lang="en-US" sz="2400" b="1" dirty="0">
              <a:cs typeface="2  Nazanin" panose="00000400000000000000" pitchFamily="2" charset="-78"/>
            </a:endParaRPr>
          </a:p>
          <a:p>
            <a:pPr marL="342900" indent="-342900" algn="r" rtl="1">
              <a:buFont typeface="Wingdings" panose="05000000000000000000" pitchFamily="2" charset="2"/>
              <a:buChar char="v"/>
            </a:pPr>
            <a:r>
              <a:rPr lang="en-US" sz="2400" b="1" dirty="0">
                <a:cs typeface="2  Nazanin" panose="00000400000000000000" pitchFamily="2" charset="-78"/>
              </a:rPr>
              <a:t> </a:t>
            </a:r>
            <a:r>
              <a:rPr lang="fa-IR" sz="2000" dirty="0">
                <a:cs typeface="2  Nazanin" panose="00000400000000000000" pitchFamily="2" charset="-78"/>
              </a:rPr>
              <a:t>سيمان پرتلند نوع يك (</a:t>
            </a:r>
            <a:r>
              <a:rPr lang="en-US" sz="2000" dirty="0">
                <a:cs typeface="2  Nazanin" panose="00000400000000000000" pitchFamily="2" charset="-78"/>
              </a:rPr>
              <a:t>I</a:t>
            </a:r>
            <a:r>
              <a:rPr lang="fa-IR" sz="20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دو (</a:t>
            </a:r>
            <a:r>
              <a:rPr lang="en-US" sz="2400" dirty="0">
                <a:cs typeface="2  Nazanin" panose="00000400000000000000" pitchFamily="2" charset="-78"/>
              </a:rPr>
              <a:t>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سه (</a:t>
            </a:r>
            <a:r>
              <a:rPr lang="en-US" sz="2400" dirty="0">
                <a:cs typeface="2  Nazanin" panose="00000400000000000000" pitchFamily="2" charset="-78"/>
              </a:rPr>
              <a:t>III</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سيمان پرتلند نوع چهار(</a:t>
            </a:r>
            <a:r>
              <a:rPr lang="en-US" sz="2400" dirty="0">
                <a:cs typeface="2  Nazanin" panose="00000400000000000000" pitchFamily="2" charset="-78"/>
              </a:rPr>
              <a:t>IV</a:t>
            </a:r>
            <a:r>
              <a:rPr lang="fa-IR" sz="2400" dirty="0">
                <a:cs typeface="2  Nazanin" panose="00000400000000000000" pitchFamily="2" charset="-78"/>
              </a:rPr>
              <a:t>)</a:t>
            </a:r>
          </a:p>
          <a:p>
            <a:pPr marL="342900" indent="-342900" algn="r" rtl="1">
              <a:buFont typeface="Wingdings" panose="05000000000000000000" pitchFamily="2" charset="2"/>
              <a:buChar char="v"/>
            </a:pPr>
            <a:r>
              <a:rPr lang="fa-IR" sz="2400" dirty="0">
                <a:cs typeface="2  Nazanin" panose="00000400000000000000" pitchFamily="2" charset="-78"/>
              </a:rPr>
              <a:t> سیمان پرتلند نوع پنج(</a:t>
            </a:r>
            <a:r>
              <a:rPr lang="en-US" sz="2400" dirty="0">
                <a:cs typeface="2  Nazanin" panose="00000400000000000000" pitchFamily="2" charset="-78"/>
              </a:rPr>
              <a:t>V</a:t>
            </a:r>
            <a:r>
              <a:rPr lang="fa-IR" sz="2400" dirty="0">
                <a:cs typeface="2  Nazanin" panose="00000400000000000000" pitchFamily="2" charset="-78"/>
              </a:rPr>
              <a:t>)</a:t>
            </a:r>
          </a:p>
        </p:txBody>
      </p:sp>
      <p:pic>
        <p:nvPicPr>
          <p:cNvPr id="26" name="Picture 25">
            <a:extLst>
              <a:ext uri="{FF2B5EF4-FFF2-40B4-BE49-F238E27FC236}">
                <a16:creationId xmlns:a16="http://schemas.microsoft.com/office/drawing/2014/main" id="{5E55F5AF-9F0B-4A74-B2AA-8389C4C3BA95}"/>
              </a:ext>
            </a:extLst>
          </p:cNvPr>
          <p:cNvPicPr>
            <a:picLocks noChangeAspect="1"/>
          </p:cNvPicPr>
          <p:nvPr/>
        </p:nvPicPr>
        <p:blipFill rotWithShape="1">
          <a:blip r:embed="rId3">
            <a:extLst>
              <a:ext uri="{28A0092B-C50C-407E-A947-70E740481C1C}">
                <a14:useLocalDpi xmlns:a14="http://schemas.microsoft.com/office/drawing/2010/main" val="0"/>
              </a:ext>
            </a:extLst>
          </a:blip>
          <a:srcRect b="8846"/>
          <a:stretch/>
        </p:blipFill>
        <p:spPr>
          <a:xfrm>
            <a:off x="681990" y="3763730"/>
            <a:ext cx="2800441" cy="2552719"/>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96" y="187970"/>
            <a:ext cx="12192000" cy="7550727"/>
            <a:chOff x="0" y="0"/>
            <a:chExt cx="12192000" cy="7550727"/>
          </a:xfrm>
          <a:solidFill>
            <a:srgbClr val="F7B2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5" name="TextBox 24">
            <a:extLst>
              <a:ext uri="{FF2B5EF4-FFF2-40B4-BE49-F238E27FC236}">
                <a16:creationId xmlns:a16="http://schemas.microsoft.com/office/drawing/2014/main" id="{B49DED06-C75A-4AF8-A51C-F22C8FA16A31}"/>
              </a:ext>
            </a:extLst>
          </p:cNvPr>
          <p:cNvSpPr txBox="1"/>
          <p:nvPr/>
        </p:nvSpPr>
        <p:spPr>
          <a:xfrm>
            <a:off x="4812033" y="3102010"/>
            <a:ext cx="7024743" cy="3170099"/>
          </a:xfrm>
          <a:prstGeom prst="rect">
            <a:avLst/>
          </a:prstGeom>
          <a:noFill/>
        </p:spPr>
        <p:txBody>
          <a:bodyPr wrap="square" rtlCol="1">
            <a:spAutoFit/>
          </a:bodyPr>
          <a:lstStyle/>
          <a:p>
            <a:pPr algn="r"/>
            <a:r>
              <a:rPr lang="fa-IR" sz="2000" dirty="0">
                <a:cs typeface="2  Nazanin" panose="00000400000000000000" pitchFamily="2" charset="-78"/>
              </a:rPr>
              <a:t>سيمان هاي آميخته: كه جزء اصلي آنها كلينكر سيمان پرتلند است و داراي مقاديري</a:t>
            </a:r>
          </a:p>
          <a:p>
            <a:pPr algn="r"/>
            <a:r>
              <a:rPr lang="fa-IR" sz="2000" dirty="0">
                <a:cs typeface="2  Nazanin" panose="00000400000000000000" pitchFamily="2" charset="-78"/>
              </a:rPr>
              <a:t>از مواد مناسب، مانند پوزولانهاي طبيعي، مصنوعي، يا مواد افزودني ويژه جايگزين سيمان پرتلند است</a:t>
            </a:r>
            <a:endParaRPr lang="en-US" sz="2000" dirty="0">
              <a:cs typeface="2  Nazanin" panose="00000400000000000000" pitchFamily="2" charset="-78"/>
            </a:endParaRPr>
          </a:p>
          <a:p>
            <a:pPr algn="r"/>
            <a:endParaRPr lang="en-US" sz="2000" dirty="0">
              <a:cs typeface="2  Nazanin" panose="00000400000000000000" pitchFamily="2" charset="-78"/>
            </a:endParaRPr>
          </a:p>
          <a:p>
            <a:pPr algn="r"/>
            <a:r>
              <a:rPr lang="fa-IR" sz="2000" b="1" dirty="0">
                <a:cs typeface="2  Nazanin" panose="00000400000000000000" pitchFamily="2" charset="-78"/>
              </a:rPr>
              <a:t>انواع سیمان ها پرتلند آمیخته</a:t>
            </a:r>
            <a:endParaRPr lang="fa-IR" sz="2000" dirty="0">
              <a:cs typeface="2  Nazanin" panose="00000400000000000000" pitchFamily="2" charset="-78"/>
            </a:endParaRPr>
          </a:p>
          <a:p>
            <a:pPr marL="342900" indent="-342900" algn="r" rtl="1">
              <a:buFont typeface="Wingdings" panose="05000000000000000000" pitchFamily="2" charset="2"/>
              <a:buChar char="v"/>
            </a:pPr>
            <a:r>
              <a:rPr lang="fa-IR" sz="2000" dirty="0">
                <a:cs typeface="2  Nazanin" panose="00000400000000000000" pitchFamily="2" charset="-78"/>
              </a:rPr>
              <a:t>سيمان پرتلند پوزولاني</a:t>
            </a:r>
          </a:p>
          <a:p>
            <a:pPr marL="342900" indent="-342900" algn="r" rtl="1">
              <a:buFont typeface="Wingdings" panose="05000000000000000000" pitchFamily="2" charset="2"/>
              <a:buChar char="v"/>
            </a:pPr>
            <a:r>
              <a:rPr lang="fa-IR" sz="2000" dirty="0">
                <a:cs typeface="2  Nazanin" panose="00000400000000000000" pitchFamily="2" charset="-78"/>
              </a:rPr>
              <a:t>سيمان پرتلند سربارهاي</a:t>
            </a:r>
          </a:p>
          <a:p>
            <a:pPr marL="342900" indent="-342900" algn="r" rtl="1">
              <a:buFont typeface="Wingdings" panose="05000000000000000000" pitchFamily="2" charset="2"/>
              <a:buChar char="v"/>
            </a:pPr>
            <a:r>
              <a:rPr lang="fa-IR" sz="2000" dirty="0">
                <a:cs typeface="2  Nazanin" panose="00000400000000000000" pitchFamily="2" charset="-78"/>
              </a:rPr>
              <a:t>سيمان پرتلند آهكي</a:t>
            </a:r>
          </a:p>
          <a:p>
            <a:pPr marL="342900" indent="-342900" algn="r" rtl="1">
              <a:buFont typeface="Wingdings" panose="05000000000000000000" pitchFamily="2" charset="2"/>
              <a:buChar char="v"/>
            </a:pPr>
            <a:r>
              <a:rPr lang="fa-IR" sz="2000" dirty="0">
                <a:cs typeface="2  Nazanin" panose="00000400000000000000" pitchFamily="2" charset="-78"/>
              </a:rPr>
              <a:t>سيمان بنايي</a:t>
            </a:r>
          </a:p>
          <a:p>
            <a:pPr marL="342900" indent="-342900" algn="r" rtl="1">
              <a:buFont typeface="Wingdings" panose="05000000000000000000" pitchFamily="2" charset="2"/>
              <a:buChar char="v"/>
            </a:pPr>
            <a:r>
              <a:rPr lang="fa-IR" sz="2000" dirty="0">
                <a:cs typeface="2  Nazanin" panose="00000400000000000000" pitchFamily="2" charset="-78"/>
              </a:rPr>
              <a:t>سيمان پرتلند مركب</a:t>
            </a:r>
          </a:p>
        </p:txBody>
      </p:sp>
      <p:pic>
        <p:nvPicPr>
          <p:cNvPr id="29" name="Picture 28">
            <a:extLst>
              <a:ext uri="{FF2B5EF4-FFF2-40B4-BE49-F238E27FC236}">
                <a16:creationId xmlns:a16="http://schemas.microsoft.com/office/drawing/2014/main" id="{3141F299-16CA-43EA-9138-52A529FA7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92" y="3956098"/>
            <a:ext cx="6701086" cy="2622710"/>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187970"/>
            <a:ext cx="12192000" cy="7550727"/>
            <a:chOff x="0" y="0"/>
            <a:chExt cx="12192000" cy="7550727"/>
          </a:xfrm>
          <a:solidFill>
            <a:srgbClr val="C4899F"/>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7" name="TextBox 26">
            <a:extLst>
              <a:ext uri="{FF2B5EF4-FFF2-40B4-BE49-F238E27FC236}">
                <a16:creationId xmlns:a16="http://schemas.microsoft.com/office/drawing/2014/main" id="{2325B873-AC35-4601-8EF1-80FD0BCB0BD9}"/>
              </a:ext>
            </a:extLst>
          </p:cNvPr>
          <p:cNvSpPr txBox="1"/>
          <p:nvPr/>
        </p:nvSpPr>
        <p:spPr>
          <a:xfrm>
            <a:off x="3754736" y="2071879"/>
            <a:ext cx="7776786" cy="4708981"/>
          </a:xfrm>
          <a:prstGeom prst="rect">
            <a:avLst/>
          </a:prstGeom>
          <a:noFill/>
        </p:spPr>
        <p:txBody>
          <a:bodyPr wrap="square" rtlCol="1">
            <a:spAutoFit/>
          </a:bodyPr>
          <a:lstStyle/>
          <a:p>
            <a:pPr algn="r"/>
            <a:r>
              <a:rPr lang="fa-IR" sz="2000" b="1" dirty="0">
                <a:cs typeface="2  Nazanin" panose="00000400000000000000" pitchFamily="2" charset="-78"/>
              </a:rPr>
              <a:t>سيمان سفيد</a:t>
            </a:r>
            <a:r>
              <a:rPr lang="fa-IR" sz="2000" dirty="0">
                <a:cs typeface="2  Nazanin" panose="00000400000000000000" pitchFamily="2" charset="-78"/>
              </a:rPr>
              <a:t>: سيمان پرتلند سفيد، سيماني است كه در توليد آن از مواد اوليهاي كه</a:t>
            </a:r>
          </a:p>
          <a:p>
            <a:pPr algn="r"/>
            <a:r>
              <a:rPr lang="fa-IR" sz="2000" dirty="0">
                <a:cs typeface="2  Nazanin" panose="00000400000000000000" pitchFamily="2" charset="-78"/>
              </a:rPr>
              <a:t>تركيبات رنگ زای آن در حد مجاز باشد، استفاده مـيشـود. ايـن نـوع سـيمان عمدتاً در نماسازي، بندكشي، اجزاء بنايي و كارهاي تزئيني كاربرد دارد</a:t>
            </a:r>
          </a:p>
          <a:p>
            <a:pPr algn="r"/>
            <a:r>
              <a:rPr lang="fa-IR" sz="2000" b="1" dirty="0">
                <a:cs typeface="2  Nazanin" panose="00000400000000000000" pitchFamily="2" charset="-78"/>
              </a:rPr>
              <a:t>سيمان پرتلند رنگي</a:t>
            </a:r>
            <a:r>
              <a:rPr lang="fa-IR" sz="2000" dirty="0">
                <a:cs typeface="2  Nazanin" panose="00000400000000000000" pitchFamily="2" charset="-78"/>
              </a:rPr>
              <a:t>: از افزودن رنگدانه هاي معدني (بدون داشتن واكنش شيميايي) </a:t>
            </a:r>
          </a:p>
          <a:p>
            <a:pPr algn="r"/>
            <a:r>
              <a:rPr lang="fa-IR" sz="2000" dirty="0">
                <a:cs typeface="2  Nazanin" panose="00000400000000000000" pitchFamily="2" charset="-78"/>
              </a:rPr>
              <a:t>به سيمان پرتلند معمولي يا سـفيد بـه دسـت مـيآيـد. از سـيمان پرتلنـد معمـولي بـراي سـاخت سيمان هاي پرتلند رنگي قرمز، قهوهاي و سياه و از سيمان سفيد در توليد سيمانهايي با رنـگ هـاي روشن استفاده ميشود. </a:t>
            </a:r>
          </a:p>
          <a:p>
            <a:pPr algn="r"/>
            <a:r>
              <a:rPr lang="fa-IR" sz="2000" dirty="0">
                <a:cs typeface="2  Nazanin" panose="00000400000000000000" pitchFamily="2" charset="-78"/>
              </a:rPr>
              <a:t>سیمان های تولید شده در پنج گروه قرار میگیرد</a:t>
            </a:r>
            <a:endParaRPr lang="en-US" sz="2000" dirty="0">
              <a:cs typeface="2  Nazanin" panose="00000400000000000000" pitchFamily="2" charset="-78"/>
            </a:endParaRPr>
          </a:p>
          <a:p>
            <a:pPr algn="r"/>
            <a:r>
              <a:rPr lang="fa-IR" sz="2000" b="1" dirty="0">
                <a:cs typeface="2  Nazanin" panose="00000400000000000000" pitchFamily="2" charset="-78"/>
              </a:rPr>
              <a:t>استانداردها</a:t>
            </a:r>
          </a:p>
          <a:p>
            <a:pPr algn="r"/>
            <a:r>
              <a:rPr lang="fa-IR" sz="2000" dirty="0">
                <a:cs typeface="2  Nazanin" panose="00000400000000000000" pitchFamily="2" charset="-78"/>
              </a:rPr>
              <a:t>بر اساس استانداردهاي مذكور لازم است مواردي همچون الزامات تركيب شيميايي،</a:t>
            </a:r>
          </a:p>
          <a:p>
            <a:pPr algn="r"/>
            <a:r>
              <a:rPr lang="fa-IR" sz="2000" dirty="0">
                <a:cs typeface="2  Nazanin" panose="00000400000000000000" pitchFamily="2" charset="-78"/>
              </a:rPr>
              <a:t>حداقل سطح ويژه بلين، حداكثر انبساط اتوكلاو، حداقل مقاومـتهـاي فشـاري مـلات اسـتاندارد و محدوديتهاي زمان گيرش اوليه و نهايي براي انواع سيمان كنترل شـود. همچنـين بـراي سـيمان سربارهاي بايد علاوه بر موارد گفته شده، حداكثر حرارت هيدراسيون سيمان بررسـي شـود. ويژگـي رنگدانه هاي مورد مصرف در سيمان بنايي و سيمانهاي رنگي مطابق استاندارد ملـي ايـران باشد</a:t>
            </a:r>
            <a:r>
              <a:rPr lang="en-US" sz="2000" dirty="0">
                <a:cs typeface="2  Nazanin" panose="00000400000000000000" pitchFamily="2" charset="-78"/>
              </a:rPr>
              <a:t> </a:t>
            </a:r>
            <a:endParaRPr lang="fa-IR" sz="2000" dirty="0">
              <a:cs typeface="2  Nazanin" panose="00000400000000000000" pitchFamily="2" charset="-78"/>
            </a:endParaRPr>
          </a:p>
          <a:p>
            <a:pPr algn="r"/>
            <a:endParaRPr lang="fa-IR" sz="2000" dirty="0">
              <a:cs typeface="2  Nazanin" panose="00000400000000000000" pitchFamily="2" charset="-78"/>
            </a:endParaRPr>
          </a:p>
        </p:txBody>
      </p:sp>
      <p:pic>
        <p:nvPicPr>
          <p:cNvPr id="30" name="Picture 29">
            <a:extLst>
              <a:ext uri="{FF2B5EF4-FFF2-40B4-BE49-F238E27FC236}">
                <a16:creationId xmlns:a16="http://schemas.microsoft.com/office/drawing/2014/main" id="{93C32C46-3325-4E30-8642-FBB968BDD8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9045" y="1825104"/>
            <a:ext cx="2619375" cy="1743075"/>
          </a:xfrm>
          <a:prstGeom prst="rect">
            <a:avLst/>
          </a:prstGeom>
        </p:spPr>
      </p:pic>
      <p:pic>
        <p:nvPicPr>
          <p:cNvPr id="32" name="Picture 31">
            <a:extLst>
              <a:ext uri="{FF2B5EF4-FFF2-40B4-BE49-F238E27FC236}">
                <a16:creationId xmlns:a16="http://schemas.microsoft.com/office/drawing/2014/main" id="{22BED75A-C6C9-48A0-969D-719D7C70988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9045" y="4270979"/>
            <a:ext cx="3606330" cy="2053334"/>
          </a:xfrm>
          <a:prstGeom prst="rect">
            <a:avLst/>
          </a:prstGeom>
        </p:spPr>
      </p:pic>
      <p:grpSp>
        <p:nvGrpSpPr>
          <p:cNvPr id="16" name="Group 15">
            <a:extLst>
              <a:ext uri="{FF2B5EF4-FFF2-40B4-BE49-F238E27FC236}">
                <a16:creationId xmlns:a16="http://schemas.microsoft.com/office/drawing/2014/main" id="{F5CD2D5A-83F7-4113-8244-4BCEF4D825AB}"/>
              </a:ext>
            </a:extLst>
          </p:cNvPr>
          <p:cNvGrpSpPr/>
          <p:nvPr/>
        </p:nvGrpSpPr>
        <p:grpSpPr>
          <a:xfrm>
            <a:off x="-192" y="0"/>
            <a:ext cx="12192000" cy="7550727"/>
            <a:chOff x="0" y="0"/>
            <a:chExt cx="12192000" cy="7550727"/>
          </a:xfrm>
          <a:solidFill>
            <a:srgbClr val="9A7EA6"/>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8" name="TextBox 27">
            <a:extLst>
              <a:ext uri="{FF2B5EF4-FFF2-40B4-BE49-F238E27FC236}">
                <a16:creationId xmlns:a16="http://schemas.microsoft.com/office/drawing/2014/main" id="{02D1FFA5-6FB1-462C-B526-4FE32AFC1D9C}"/>
              </a:ext>
            </a:extLst>
          </p:cNvPr>
          <p:cNvSpPr txBox="1"/>
          <p:nvPr/>
        </p:nvSpPr>
        <p:spPr>
          <a:xfrm>
            <a:off x="3867151" y="347144"/>
            <a:ext cx="7905002" cy="6524863"/>
          </a:xfrm>
          <a:prstGeom prst="rect">
            <a:avLst/>
          </a:prstGeom>
          <a:noFill/>
        </p:spPr>
        <p:txBody>
          <a:bodyPr wrap="square" rtlCol="1">
            <a:spAutoFit/>
          </a:bodyPr>
          <a:lstStyle/>
          <a:p>
            <a:pPr algn="r"/>
            <a:r>
              <a:rPr lang="fa-IR" sz="2200" b="1" dirty="0">
                <a:cs typeface="2  Nazanin" panose="00000400000000000000" pitchFamily="2" charset="-78"/>
              </a:rPr>
              <a:t>آزمایش های استاندارد</a:t>
            </a:r>
          </a:p>
          <a:p>
            <a:pPr algn="r"/>
            <a:r>
              <a:rPr lang="fa-IR" sz="2200" dirty="0">
                <a:cs typeface="2  Nazanin" panose="00000400000000000000" pitchFamily="2" charset="-78"/>
              </a:rPr>
              <a:t>آزمايش شيميايي سيمان :اندازه گيري اكسيدهاي سيليسيم، آلومينيم، آهن، كلسـيم، منيـزيم، سـديم، پتاسـيم، ترياكسيد گوگرد، افت سرخ شدن در 1000 درجه سلسيوس، باقيمانده نامحلول، آهك آزاد و براي اندازهگيري عناصر فرعي، آهك آزاد، گـوگرد بـه صورت سولفيد و كلريد، مواد آلي قابل حل در كلروفرم، كربن دي اكسيد، می باشد</a:t>
            </a:r>
          </a:p>
          <a:p>
            <a:pPr algn="r"/>
            <a:r>
              <a:rPr lang="fa-IR" sz="2200" dirty="0">
                <a:cs typeface="2  Nazanin" panose="00000400000000000000" pitchFamily="2" charset="-78"/>
              </a:rPr>
              <a:t>روش هاي آزمايش فيزيكي سيمان: اندازهگيري زمـان گيـرش اوليه و نهايي، تعيين غلظت نرمال، تعيين سـلامت، تعيين نرمي، چگالي و حرارت هيدراسيون میاشد</a:t>
            </a:r>
            <a:endParaRPr lang="en-US" sz="2200" dirty="0">
              <a:cs typeface="2  Nazanin" panose="00000400000000000000" pitchFamily="2" charset="-78"/>
            </a:endParaRPr>
          </a:p>
          <a:p>
            <a:pPr algn="r"/>
            <a:r>
              <a:rPr lang="fa-IR" sz="2200" b="1" dirty="0">
                <a:cs typeface="2  Nazanin" panose="00000400000000000000" pitchFamily="2" charset="-78"/>
              </a:rPr>
              <a:t>ايمني، بهداشت و ملاحظات زيست محيطي</a:t>
            </a:r>
            <a:endParaRPr lang="en-US" sz="2200" b="1" dirty="0">
              <a:cs typeface="2  Nazanin" panose="00000400000000000000" pitchFamily="2" charset="-78"/>
            </a:endParaRPr>
          </a:p>
          <a:p>
            <a:pPr algn="r"/>
            <a:r>
              <a:rPr lang="fa-IR" sz="2200" dirty="0">
                <a:cs typeface="2  Nazanin" panose="00000400000000000000" pitchFamily="2" charset="-78"/>
              </a:rPr>
              <a:t>از آنجا كه سيمان هاي هيدروليكي حاوي مقادير نسبتاً كمـي از آهـك زنـده و اكسيدهاي قليايي ديگر مانند و و حتي ميباشند، در اثر برخورد به پوسـت يـا چشم ميتواند آسيب رسان باش</a:t>
            </a:r>
            <a:endParaRPr lang="en-US" sz="2200" dirty="0">
              <a:cs typeface="2  Nazanin" panose="00000400000000000000" pitchFamily="2" charset="-78"/>
            </a:endParaRPr>
          </a:p>
          <a:p>
            <a:pPr algn="r"/>
            <a:r>
              <a:rPr lang="fa-IR" sz="2200" b="1" dirty="0">
                <a:cs typeface="2  Nazanin" panose="00000400000000000000" pitchFamily="2" charset="-78"/>
              </a:rPr>
              <a:t>بسته بندي، حمل و نگهداري سيمان هاي كيسه اي </a:t>
            </a:r>
            <a:endParaRPr lang="en-US" sz="2200" b="1" dirty="0">
              <a:cs typeface="2  Nazanin" panose="00000400000000000000" pitchFamily="2" charset="-78"/>
            </a:endParaRPr>
          </a:p>
          <a:p>
            <a:pPr algn="r"/>
            <a:r>
              <a:rPr lang="fa-IR" sz="2200" dirty="0">
                <a:cs typeface="2  Nazanin" panose="00000400000000000000" pitchFamily="2" charset="-78"/>
              </a:rPr>
              <a:t>سيمان پرتلند بايد در كيسه هاي مناسب، مقاوم و قابـل انعطـاف بسـته بنـدي شـود، به گونه هاي كه رطوبت و مواد خارجي نتوانند به داخل آن نفوذ كنند و كيسه سيمان در هنگام حمـل و نقل پاره نشود</a:t>
            </a:r>
            <a:endParaRPr lang="en-US" sz="2200" dirty="0">
              <a:cs typeface="2  Nazanin" panose="00000400000000000000" pitchFamily="2" charset="-78"/>
            </a:endParaRPr>
          </a:p>
          <a:p>
            <a:pPr algn="r"/>
            <a:r>
              <a:rPr lang="fa-IR" sz="2200" b="1" dirty="0">
                <a:cs typeface="2  Nazanin" panose="00000400000000000000" pitchFamily="2" charset="-78"/>
              </a:rPr>
              <a:t>بسته بندي، حمل و نگهداري سيمان هاي فله اي</a:t>
            </a:r>
            <a:endParaRPr lang="en-US" sz="2200" b="1" dirty="0">
              <a:cs typeface="2  Nazanin" panose="00000400000000000000" pitchFamily="2" charset="-78"/>
            </a:endParaRPr>
          </a:p>
          <a:p>
            <a:pPr algn="r"/>
            <a:r>
              <a:rPr lang="fa-IR" sz="2200" dirty="0">
                <a:cs typeface="2  Nazanin" panose="00000400000000000000" pitchFamily="2" charset="-78"/>
              </a:rPr>
              <a:t>از آنجا كه انتقال سيمان از مخزن كاميون به داخل سيلو بـه كمـك هـواي فشـرده صورت ميگيرد و در نتيجه سيمان به تدريج متورم ميشود، نبايد بيش از 80 درصد ظرفيت اسمي سيلوها را پر كرد.</a:t>
            </a:r>
            <a:r>
              <a:rPr lang="en-US" sz="2200" dirty="0">
                <a:cs typeface="2  Nazanin" panose="00000400000000000000" pitchFamily="2" charset="-78"/>
              </a:rPr>
              <a:t>  </a:t>
            </a:r>
            <a:endParaRPr lang="fa-IR" sz="2200" dirty="0">
              <a:cs typeface="2  Nazanin" panose="00000400000000000000" pitchFamily="2" charset="-78"/>
            </a:endParaRPr>
          </a:p>
        </p:txBody>
      </p:sp>
      <p:pic>
        <p:nvPicPr>
          <p:cNvPr id="33" name="Picture 32">
            <a:extLst>
              <a:ext uri="{FF2B5EF4-FFF2-40B4-BE49-F238E27FC236}">
                <a16:creationId xmlns:a16="http://schemas.microsoft.com/office/drawing/2014/main" id="{C3EBE467-ACFE-4A1A-B26B-903FF6E9D37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2869" y="1122304"/>
            <a:ext cx="3632875" cy="2034410"/>
          </a:xfrm>
          <a:prstGeom prst="rect">
            <a:avLst/>
          </a:prstGeom>
        </p:spPr>
      </p:pic>
      <p:pic>
        <p:nvPicPr>
          <p:cNvPr id="35" name="Picture 34">
            <a:extLst>
              <a:ext uri="{FF2B5EF4-FFF2-40B4-BE49-F238E27FC236}">
                <a16:creationId xmlns:a16="http://schemas.microsoft.com/office/drawing/2014/main" id="{BEB86D28-94E1-4537-A89E-4E65C909F7F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8024" y="3568179"/>
            <a:ext cx="3530875" cy="2827513"/>
          </a:xfrm>
          <a:prstGeom prst="rect">
            <a:avLst/>
          </a:prstGeom>
        </p:spPr>
      </p:pic>
    </p:spTree>
    <p:extLst>
      <p:ext uri="{BB962C8B-B14F-4D97-AF65-F5344CB8AC3E}">
        <p14:creationId xmlns:p14="http://schemas.microsoft.com/office/powerpoint/2010/main" val="37176221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4283935" y="4348051"/>
            <a:ext cx="7584408" cy="2308324"/>
          </a:xfrm>
          <a:prstGeom prst="rect">
            <a:avLst/>
          </a:prstGeom>
          <a:noFill/>
        </p:spPr>
        <p:txBody>
          <a:bodyPr wrap="square" rtlCol="1">
            <a:spAutoFit/>
          </a:bodyPr>
          <a:lstStyle/>
          <a:p>
            <a:pPr algn="r"/>
            <a:r>
              <a:rPr lang="fa-IR" sz="2400" b="1" dirty="0">
                <a:cs typeface="2  Nazanin" panose="00000400000000000000" pitchFamily="2" charset="-78"/>
              </a:rPr>
              <a:t>آهك ساختماني</a:t>
            </a:r>
          </a:p>
          <a:p>
            <a:pPr algn="r"/>
            <a:r>
              <a:rPr lang="fa-IR" sz="2400" dirty="0">
                <a:cs typeface="2  Nazanin" panose="00000400000000000000" pitchFamily="2" charset="-78"/>
              </a:rPr>
              <a:t> آهكي است كه بنا بر مشخصات شيميايي فيزيكي و روش فرآوري براي مصارف ساختماني ويژه يا معمولي، به صورت آهك زنده يا شكفته كاربرد دارد.</a:t>
            </a:r>
          </a:p>
          <a:p>
            <a:pPr algn="r"/>
            <a:r>
              <a:rPr lang="fa-IR" sz="2400" dirty="0">
                <a:cs typeface="2  Nazanin" panose="00000400000000000000" pitchFamily="2" charset="-78"/>
              </a:rPr>
              <a:t> به طور كلي آهك واژهاي است عمـومي كـه بـراي شـكل هـاي مختلـف فيزيكي و شيميايي آهك زنـده،آهك هيدراته و آهك هيدروليك،كه ممكن اسـت پركلسـيم، منيزيمي يا دولوميتي باشد به كار ميرود</a:t>
            </a:r>
          </a:p>
        </p:txBody>
      </p:sp>
      <p:pic>
        <p:nvPicPr>
          <p:cNvPr id="21" name="Picture 20">
            <a:extLst>
              <a:ext uri="{FF2B5EF4-FFF2-40B4-BE49-F238E27FC236}">
                <a16:creationId xmlns:a16="http://schemas.microsoft.com/office/drawing/2014/main" id="{1A920B28-5466-4DF1-8468-270495975CEE}"/>
              </a:ext>
            </a:extLst>
          </p:cNvPr>
          <p:cNvPicPr>
            <a:picLocks noChangeAspect="1"/>
          </p:cNvPicPr>
          <p:nvPr/>
        </p:nvPicPr>
        <p:blipFill rotWithShape="1">
          <a:blip r:embed="rId2">
            <a:extLst>
              <a:ext uri="{28A0092B-C50C-407E-A947-70E740481C1C}">
                <a14:useLocalDpi xmlns:a14="http://schemas.microsoft.com/office/drawing/2010/main" val="0"/>
              </a:ext>
            </a:extLst>
          </a:blip>
          <a:srcRect b="7938"/>
          <a:stretch/>
        </p:blipFill>
        <p:spPr>
          <a:xfrm>
            <a:off x="433449" y="4115821"/>
            <a:ext cx="3684230" cy="254055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24" y="-3110346"/>
            <a:ext cx="12192000" cy="7550727"/>
            <a:chOff x="0" y="0"/>
            <a:chExt cx="12192000" cy="7550727"/>
          </a:xfrm>
          <a:solidFill>
            <a:srgbClr val="C9E4C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16" y="-3827645"/>
            <a:ext cx="12192000" cy="7550727"/>
            <a:chOff x="0" y="0"/>
            <a:chExt cx="12192000" cy="7550727"/>
          </a:xfrm>
          <a:solidFill>
            <a:srgbClr val="87BB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0" y="-4655781"/>
            <a:ext cx="12192000" cy="7550727"/>
            <a:chOff x="0" y="0"/>
            <a:chExt cx="12192000" cy="7550727"/>
          </a:xfrm>
          <a:solidFill>
            <a:srgbClr val="55828B"/>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8" y="-5480779"/>
            <a:ext cx="12192000" cy="7550727"/>
            <a:chOff x="0" y="0"/>
            <a:chExt cx="12192000" cy="7550727"/>
          </a:xfrm>
          <a:solidFill>
            <a:srgbClr val="3B6064"/>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20" name="Group 19">
            <a:extLst>
              <a:ext uri="{FF2B5EF4-FFF2-40B4-BE49-F238E27FC236}">
                <a16:creationId xmlns:a16="http://schemas.microsoft.com/office/drawing/2014/main" id="{48B35FE7-6FEE-4E72-B599-1807F6519AE6}"/>
              </a:ext>
            </a:extLst>
          </p:cNvPr>
          <p:cNvGrpSpPr/>
          <p:nvPr/>
        </p:nvGrpSpPr>
        <p:grpSpPr>
          <a:xfrm>
            <a:off x="24" y="-6370609"/>
            <a:ext cx="12192000" cy="7550727"/>
            <a:chOff x="0" y="0"/>
            <a:chExt cx="12192000" cy="7550727"/>
          </a:xfrm>
          <a:solidFill>
            <a:srgbClr val="364958"/>
          </a:solidFill>
        </p:grpSpPr>
        <p:sp>
          <p:nvSpPr>
            <p:cNvPr id="22" name="Rectangle 21">
              <a:extLst>
                <a:ext uri="{FF2B5EF4-FFF2-40B4-BE49-F238E27FC236}">
                  <a16:creationId xmlns:a16="http://schemas.microsoft.com/office/drawing/2014/main" id="{7923A169-D804-41B4-8FE1-BCA430EBEF97}"/>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3" name="Rectangle: Top Corners Rounded 22">
              <a:extLst>
                <a:ext uri="{FF2B5EF4-FFF2-40B4-BE49-F238E27FC236}">
                  <a16:creationId xmlns:a16="http://schemas.microsoft.com/office/drawing/2014/main" id="{F7969A4D-C281-4441-9734-60CA68C69569}"/>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4" name="TextBox 23">
              <a:extLst>
                <a:ext uri="{FF2B5EF4-FFF2-40B4-BE49-F238E27FC236}">
                  <a16:creationId xmlns:a16="http://schemas.microsoft.com/office/drawing/2014/main" id="{DA7956F2-4A08-4A4B-B393-FDA4162D6D4D}"/>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Tree>
    <p:extLst>
      <p:ext uri="{BB962C8B-B14F-4D97-AF65-F5344CB8AC3E}">
        <p14:creationId xmlns:p14="http://schemas.microsoft.com/office/powerpoint/2010/main" val="6259059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3907634"/>
            <a:ext cx="7783798" cy="2569934"/>
          </a:xfrm>
          <a:prstGeom prst="rect">
            <a:avLst/>
          </a:prstGeom>
          <a:noFill/>
        </p:spPr>
        <p:txBody>
          <a:bodyPr wrap="square" rtlCol="1">
            <a:spAutoFit/>
          </a:bodyPr>
          <a:lstStyle/>
          <a:p>
            <a:pPr algn="r"/>
            <a:r>
              <a:rPr lang="fa-IR" sz="2300" dirty="0">
                <a:cs typeface="2  Nazanin" panose="00000400000000000000" pitchFamily="2" charset="-78"/>
              </a:rPr>
              <a:t>آهك ساختماني</a:t>
            </a:r>
          </a:p>
          <a:p>
            <a:pPr algn="r"/>
            <a:r>
              <a:rPr lang="fa-IR" sz="2300" dirty="0">
                <a:cs typeface="2  Nazanin" panose="00000400000000000000" pitchFamily="2" charset="-78"/>
              </a:rPr>
              <a:t> آهكي است كه بنا بر مشخصات شيميايي (خلـوص سـنگ آهـك)،</a:t>
            </a:r>
          </a:p>
          <a:p>
            <a:pPr algn="r"/>
            <a:r>
              <a:rPr lang="fa-IR" sz="2300" dirty="0">
                <a:cs typeface="2  Nazanin" panose="00000400000000000000" pitchFamily="2" charset="-78"/>
              </a:rPr>
              <a:t>فيزيكي و روش فرآوري (دما و نحوة پخت) براي مصارف ساختماني ويژه يا معمولي، به صورت آهك زنده يا شكفته كاربرد دارد.</a:t>
            </a:r>
          </a:p>
          <a:p>
            <a:pPr algn="r"/>
            <a:r>
              <a:rPr lang="fa-IR" sz="2300" dirty="0">
                <a:cs typeface="2  Nazanin" panose="00000400000000000000" pitchFamily="2" charset="-78"/>
              </a:rPr>
              <a:t> به طور كلي آهك واژهاي است عمـومي كـه بـراي شـكل هـاي مختلـف فيزيكي و شيميايي آهـك زنـده، آهـك هيدراتـه و آهـك هيدروليك،كـه ممكـن اسـت پركلسـيم، منيزيمي يا دولوميتي باشد به كار ميرود</a:t>
            </a:r>
          </a:p>
        </p:txBody>
      </p:sp>
      <p:pic>
        <p:nvPicPr>
          <p:cNvPr id="21" name="Picture 20">
            <a:extLst>
              <a:ext uri="{FF2B5EF4-FFF2-40B4-BE49-F238E27FC236}">
                <a16:creationId xmlns:a16="http://schemas.microsoft.com/office/drawing/2014/main" id="{1A920B28-5466-4DF1-8468-270495975CEE}"/>
              </a:ext>
            </a:extLst>
          </p:cNvPr>
          <p:cNvPicPr>
            <a:picLocks noChangeAspect="1"/>
          </p:cNvPicPr>
          <p:nvPr/>
        </p:nvPicPr>
        <p:blipFill rotWithShape="1">
          <a:blip r:embed="rId2">
            <a:extLst>
              <a:ext uri="{28A0092B-C50C-407E-A947-70E740481C1C}">
                <a14:useLocalDpi xmlns:a14="http://schemas.microsoft.com/office/drawing/2010/main" val="0"/>
              </a:ext>
            </a:extLst>
          </a:blip>
          <a:srcRect b="7938"/>
          <a:stretch/>
        </p:blipFill>
        <p:spPr>
          <a:xfrm>
            <a:off x="323657" y="3907634"/>
            <a:ext cx="3726836" cy="256993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C9E4C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82ADFB3C-052B-4F46-B1F9-532C7A841B48}"/>
              </a:ext>
            </a:extLst>
          </p:cNvPr>
          <p:cNvSpPr txBox="1"/>
          <p:nvPr/>
        </p:nvSpPr>
        <p:spPr>
          <a:xfrm>
            <a:off x="4288842" y="3569341"/>
            <a:ext cx="7739990" cy="3170099"/>
          </a:xfrm>
          <a:prstGeom prst="rect">
            <a:avLst/>
          </a:prstGeom>
          <a:noFill/>
        </p:spPr>
        <p:txBody>
          <a:bodyPr wrap="square" rtlCol="1">
            <a:spAutoFit/>
          </a:bodyPr>
          <a:lstStyle/>
          <a:p>
            <a:pPr algn="r"/>
            <a:r>
              <a:rPr lang="fa-IR" sz="2000" b="1" dirty="0">
                <a:cs typeface="2  Nazanin" panose="00000400000000000000" pitchFamily="2" charset="-78"/>
              </a:rPr>
              <a:t>آهك زنده يا آهك هوايي</a:t>
            </a:r>
            <a:r>
              <a:rPr lang="fa-IR" sz="2000" dirty="0">
                <a:cs typeface="2  Nazanin" panose="00000400000000000000" pitchFamily="2" charset="-78"/>
              </a:rPr>
              <a:t>:  بخش عمده آن اكسيد كلسيم يا اكسيد كلسيم همراه با اكسيد منيزيم است. اين آهك بسيار زود شكفته ميشود و در موقع شكفته شدن مقدار زيادي حرارت آزاد ميكند و آهك زنده در مجاورت هوا خود را ميگيرد و سفت ميشود</a:t>
            </a:r>
            <a:endParaRPr lang="en-US" sz="2000" dirty="0">
              <a:cs typeface="2  Nazanin" panose="00000400000000000000" pitchFamily="2" charset="-78"/>
            </a:endParaRPr>
          </a:p>
          <a:p>
            <a:pPr algn="r"/>
            <a:r>
              <a:rPr lang="fa-IR" sz="2000" b="1" dirty="0">
                <a:cs typeface="2  Nazanin" panose="00000400000000000000" pitchFamily="2" charset="-78"/>
              </a:rPr>
              <a:t>آهك شكفته يا آهك هيدراته</a:t>
            </a:r>
            <a:r>
              <a:rPr lang="fa-IR" sz="2000" dirty="0">
                <a:cs typeface="2  Nazanin" panose="00000400000000000000" pitchFamily="2" charset="-78"/>
              </a:rPr>
              <a:t>: پودر خشكي است كه از تركيب اكسيد كلسيم بـا آب</a:t>
            </a:r>
          </a:p>
          <a:p>
            <a:pPr algn="r"/>
            <a:r>
              <a:rPr lang="fa-IR" sz="2000" dirty="0">
                <a:cs typeface="2  Nazanin" panose="00000400000000000000" pitchFamily="2" charset="-78"/>
              </a:rPr>
              <a:t>به دست ميآيد. آهـك شكفته دي اكسيدكربن موجود در هوا را جذب ميكند و به سنگ آهك تبديل ميشود. </a:t>
            </a:r>
          </a:p>
          <a:p>
            <a:pPr algn="r"/>
            <a:r>
              <a:rPr lang="fa-IR" sz="2000" b="1" dirty="0">
                <a:cs typeface="2  Nazanin" panose="00000400000000000000" pitchFamily="2" charset="-78"/>
              </a:rPr>
              <a:t>آهك هيدروليك هيدراته (آهك آبي): </a:t>
            </a:r>
            <a:r>
              <a:rPr lang="fa-IR" sz="2000" dirty="0">
                <a:cs typeface="2  Nazanin" panose="00000400000000000000" pitchFamily="2" charset="-78"/>
              </a:rPr>
              <a:t>اين نوع آهك از كلسينه شـدن سـنگ آهـك</a:t>
            </a:r>
          </a:p>
          <a:p>
            <a:pPr algn="r"/>
            <a:r>
              <a:rPr lang="fa-IR" sz="2000" dirty="0">
                <a:cs typeface="2  Nazanin" panose="00000400000000000000" pitchFamily="2" charset="-78"/>
              </a:rPr>
              <a:t>حاوي سيليس و آلومين ساخته ميشود. به كندي شـكفته مـيشـود و افـزايش حجـم آن اندك است</a:t>
            </a:r>
            <a:endParaRPr lang="en-US" sz="2000" dirty="0">
              <a:cs typeface="2  Nazanin" panose="00000400000000000000" pitchFamily="2" charset="-78"/>
            </a:endParaRPr>
          </a:p>
          <a:p>
            <a:pPr algn="r"/>
            <a:r>
              <a:rPr lang="fa-IR" sz="2000" b="1" dirty="0">
                <a:cs typeface="2  Nazanin" panose="00000400000000000000" pitchFamily="2" charset="-78"/>
              </a:rPr>
              <a:t>آهك نيمه آبي</a:t>
            </a:r>
            <a:r>
              <a:rPr lang="fa-IR" sz="2000" dirty="0">
                <a:cs typeface="2  Nazanin" panose="00000400000000000000" pitchFamily="2" charset="-78"/>
              </a:rPr>
              <a:t>: آهكي است. به تدريج شكفته ميشود و حجم آن افزايش كمي دارد. ماننـد آهـك آبـي در زيـر آب گرفته و سفت ميشود، ولي مقاومت آن كمتر از آهك آبي است</a:t>
            </a:r>
          </a:p>
        </p:txBody>
      </p:sp>
      <p:pic>
        <p:nvPicPr>
          <p:cNvPr id="22" name="Picture 21">
            <a:extLst>
              <a:ext uri="{FF2B5EF4-FFF2-40B4-BE49-F238E27FC236}">
                <a16:creationId xmlns:a16="http://schemas.microsoft.com/office/drawing/2014/main" id="{749804DA-5D11-43CC-AAFA-A11EB41F4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4840" y="3710104"/>
            <a:ext cx="4358138" cy="1995967"/>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32" y="-4131604"/>
            <a:ext cx="12192000" cy="7550727"/>
            <a:chOff x="0" y="0"/>
            <a:chExt cx="12192000" cy="7550727"/>
          </a:xfrm>
          <a:solidFill>
            <a:srgbClr val="87BB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4959740"/>
            <a:ext cx="12192000" cy="7550727"/>
            <a:chOff x="0" y="0"/>
            <a:chExt cx="12192000" cy="7550727"/>
          </a:xfrm>
          <a:solidFill>
            <a:srgbClr val="55828B"/>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24" y="-5784738"/>
            <a:ext cx="12192000" cy="7550727"/>
            <a:chOff x="0" y="0"/>
            <a:chExt cx="12192000" cy="7550727"/>
          </a:xfrm>
          <a:solidFill>
            <a:srgbClr val="3B6064"/>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A78E59E0-2E5A-4493-9DBB-10A0BCFEA3AF}"/>
              </a:ext>
            </a:extLst>
          </p:cNvPr>
          <p:cNvGrpSpPr/>
          <p:nvPr/>
        </p:nvGrpSpPr>
        <p:grpSpPr>
          <a:xfrm>
            <a:off x="0" y="-6565035"/>
            <a:ext cx="12192000" cy="7550727"/>
            <a:chOff x="0" y="0"/>
            <a:chExt cx="12192000" cy="7550727"/>
          </a:xfrm>
          <a:solidFill>
            <a:srgbClr val="364958"/>
          </a:solidFill>
        </p:grpSpPr>
        <p:sp>
          <p:nvSpPr>
            <p:cNvPr id="24" name="Rectangle 23">
              <a:extLst>
                <a:ext uri="{FF2B5EF4-FFF2-40B4-BE49-F238E27FC236}">
                  <a16:creationId xmlns:a16="http://schemas.microsoft.com/office/drawing/2014/main" id="{A705B95C-750A-43A9-A2FA-3D830CF61DF6}"/>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E1EC1A74-92CB-4F0F-AC3F-5A7F53A3C83B}"/>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F6038D7B-90F9-44F1-AD6F-549E9F659FEB}"/>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Tree>
    <p:extLst>
      <p:ext uri="{BB962C8B-B14F-4D97-AF65-F5344CB8AC3E}">
        <p14:creationId xmlns:p14="http://schemas.microsoft.com/office/powerpoint/2010/main" val="34486015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3907634"/>
            <a:ext cx="7783798" cy="2569934"/>
          </a:xfrm>
          <a:prstGeom prst="rect">
            <a:avLst/>
          </a:prstGeom>
          <a:noFill/>
        </p:spPr>
        <p:txBody>
          <a:bodyPr wrap="square" rtlCol="1">
            <a:spAutoFit/>
          </a:bodyPr>
          <a:lstStyle/>
          <a:p>
            <a:pPr algn="r"/>
            <a:r>
              <a:rPr lang="fa-IR" sz="2300" dirty="0">
                <a:cs typeface="2  Nazanin" panose="00000400000000000000" pitchFamily="2" charset="-78"/>
              </a:rPr>
              <a:t>آهك ساختماني</a:t>
            </a:r>
          </a:p>
          <a:p>
            <a:pPr algn="r"/>
            <a:r>
              <a:rPr lang="fa-IR" sz="2300" dirty="0">
                <a:cs typeface="2  Nazanin" panose="00000400000000000000" pitchFamily="2" charset="-78"/>
              </a:rPr>
              <a:t> آهكي است كه بنا بر مشخصات شيميايي (خلـوص سـنگ آهـك)،</a:t>
            </a:r>
          </a:p>
          <a:p>
            <a:pPr algn="r"/>
            <a:r>
              <a:rPr lang="fa-IR" sz="2300" dirty="0">
                <a:cs typeface="2  Nazanin" panose="00000400000000000000" pitchFamily="2" charset="-78"/>
              </a:rPr>
              <a:t>فيزيكي و روش فرآوري (دما و نحوة پخت) براي مصارف ساختماني ويژه يا معمولي، به صورت آهك زنده يا شكفته كاربرد دارد.</a:t>
            </a:r>
          </a:p>
          <a:p>
            <a:pPr algn="r"/>
            <a:r>
              <a:rPr lang="fa-IR" sz="2300" dirty="0">
                <a:cs typeface="2  Nazanin" panose="00000400000000000000" pitchFamily="2" charset="-78"/>
              </a:rPr>
              <a:t> به طور كلي آهك واژهاي است عمـومي كـه بـراي شـكل هـاي مختلـف فيزيكي و شيميايي آهـك زنـده، آهـك هيدراتـه و آهـك هيدروليك،كـه ممكـن اسـت پركلسـيم، منيزيمي يا دولوميتي باشد به كار ميرود</a:t>
            </a:r>
          </a:p>
        </p:txBody>
      </p:sp>
      <p:pic>
        <p:nvPicPr>
          <p:cNvPr id="21" name="Picture 20">
            <a:extLst>
              <a:ext uri="{FF2B5EF4-FFF2-40B4-BE49-F238E27FC236}">
                <a16:creationId xmlns:a16="http://schemas.microsoft.com/office/drawing/2014/main" id="{1A920B28-5466-4DF1-8468-270495975CEE}"/>
              </a:ext>
            </a:extLst>
          </p:cNvPr>
          <p:cNvPicPr>
            <a:picLocks noChangeAspect="1"/>
          </p:cNvPicPr>
          <p:nvPr/>
        </p:nvPicPr>
        <p:blipFill rotWithShape="1">
          <a:blip r:embed="rId2">
            <a:extLst>
              <a:ext uri="{28A0092B-C50C-407E-A947-70E740481C1C}">
                <a14:useLocalDpi xmlns:a14="http://schemas.microsoft.com/office/drawing/2010/main" val="0"/>
              </a:ext>
            </a:extLst>
          </a:blip>
          <a:srcRect b="7938"/>
          <a:stretch/>
        </p:blipFill>
        <p:spPr>
          <a:xfrm>
            <a:off x="323657" y="3907634"/>
            <a:ext cx="3726836" cy="256993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C9E4C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82ADFB3C-052B-4F46-B1F9-532C7A841B48}"/>
              </a:ext>
            </a:extLst>
          </p:cNvPr>
          <p:cNvSpPr txBox="1"/>
          <p:nvPr/>
        </p:nvSpPr>
        <p:spPr>
          <a:xfrm>
            <a:off x="4490548" y="3190335"/>
            <a:ext cx="7440930" cy="3477875"/>
          </a:xfrm>
          <a:prstGeom prst="rect">
            <a:avLst/>
          </a:prstGeom>
          <a:noFill/>
        </p:spPr>
        <p:txBody>
          <a:bodyPr wrap="square" rtlCol="1">
            <a:spAutoFit/>
          </a:bodyPr>
          <a:lstStyle/>
          <a:p>
            <a:pPr algn="r"/>
            <a:r>
              <a:rPr lang="fa-IR" sz="2000" dirty="0">
                <a:cs typeface="2  Nazanin" panose="00000400000000000000" pitchFamily="2" charset="-78"/>
              </a:rPr>
              <a:t>آهك زنده يا آهك هوايي:  بخش عمدة آن اكسيد كلسيم يا اكسيد كلسيم همراه با اكسيد منيزيم است. اين آهك بسيار زود شكفته ميشود و در موقع شكفته شدن مقدار زيادي حرارت آزاد ميكند و آهك زنده در مجاورت هوا خود را ميگيرد و سفت ميشود</a:t>
            </a:r>
            <a:endParaRPr lang="en-US" sz="2000" dirty="0">
              <a:cs typeface="2  Nazanin" panose="00000400000000000000" pitchFamily="2" charset="-78"/>
            </a:endParaRPr>
          </a:p>
          <a:p>
            <a:pPr algn="r"/>
            <a:r>
              <a:rPr lang="fa-IR" sz="2000" dirty="0">
                <a:cs typeface="2  Nazanin" panose="00000400000000000000" pitchFamily="2" charset="-78"/>
              </a:rPr>
              <a:t>آهك شكفته يا آهك هيدراته: پودر خشكي است كه از تركيب اكسيد كلسيم بـا آب</a:t>
            </a:r>
          </a:p>
          <a:p>
            <a:pPr algn="r"/>
            <a:r>
              <a:rPr lang="fa-IR" sz="2000" dirty="0">
                <a:cs typeface="2  Nazanin" panose="00000400000000000000" pitchFamily="2" charset="-78"/>
              </a:rPr>
              <a:t>به دست ميآيد. آهـك شكفته دي اكسيدكربن موجود در هوا را جذب ميكند و به سنگ آهك تبديل ميشود. </a:t>
            </a:r>
          </a:p>
          <a:p>
            <a:pPr algn="r"/>
            <a:r>
              <a:rPr lang="fa-IR" sz="2000" dirty="0">
                <a:cs typeface="2  Nazanin" panose="00000400000000000000" pitchFamily="2" charset="-78"/>
              </a:rPr>
              <a:t>آهك هيدروليك هيدراته (آهك آبي): اين نوع آهك از كلسينه شـدن سـنگ آهـك</a:t>
            </a:r>
          </a:p>
          <a:p>
            <a:pPr algn="r"/>
            <a:r>
              <a:rPr lang="fa-IR" sz="2000" dirty="0">
                <a:cs typeface="2  Nazanin" panose="00000400000000000000" pitchFamily="2" charset="-78"/>
              </a:rPr>
              <a:t>حاوي سيليس و آلومين ساخته ميشود. به كندي شـكفته مـيشـود و افـزايش حجـم آن اندك است</a:t>
            </a:r>
            <a:endParaRPr lang="en-US" sz="2000" dirty="0">
              <a:cs typeface="2  Nazanin" panose="00000400000000000000" pitchFamily="2" charset="-78"/>
            </a:endParaRPr>
          </a:p>
          <a:p>
            <a:pPr algn="r"/>
            <a:r>
              <a:rPr lang="fa-IR" sz="2000" dirty="0">
                <a:cs typeface="2  Nazanin" panose="00000400000000000000" pitchFamily="2" charset="-78"/>
              </a:rPr>
              <a:t>آهك نيمه آبي: آهكي است. به تدريج شكفته ميشود و حجم آن افزايش كمي دارد. ماننـد آهـك آبـي در زيـر آب گرفته و سفت ميشود، ولي مقاومت آن كمتر از آهك آبي است</a:t>
            </a:r>
          </a:p>
        </p:txBody>
      </p:sp>
      <p:pic>
        <p:nvPicPr>
          <p:cNvPr id="22" name="Picture 21">
            <a:extLst>
              <a:ext uri="{FF2B5EF4-FFF2-40B4-BE49-F238E27FC236}">
                <a16:creationId xmlns:a16="http://schemas.microsoft.com/office/drawing/2014/main" id="{749804DA-5D11-43CC-AAFA-A11EB41F4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90" y="3647910"/>
            <a:ext cx="4431141" cy="1949702"/>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48" y="9738"/>
            <a:ext cx="12192000" cy="7550727"/>
            <a:chOff x="0" y="0"/>
            <a:chExt cx="12192000" cy="7550727"/>
          </a:xfrm>
          <a:solidFill>
            <a:srgbClr val="87BB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cxnSp>
        <p:nvCxnSpPr>
          <p:cNvPr id="23" name="Straight Connector 22">
            <a:extLst>
              <a:ext uri="{FF2B5EF4-FFF2-40B4-BE49-F238E27FC236}">
                <a16:creationId xmlns:a16="http://schemas.microsoft.com/office/drawing/2014/main" id="{998C3032-9198-4948-8ACE-B7F6AE9CE810}"/>
              </a:ext>
            </a:extLst>
          </p:cNvPr>
          <p:cNvCxnSpPr>
            <a:cxnSpLocks/>
          </p:cNvCxnSpPr>
          <p:nvPr/>
        </p:nvCxnSpPr>
        <p:spPr>
          <a:xfrm>
            <a:off x="4769555" y="4154303"/>
            <a:ext cx="2794001" cy="112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192DAF-5DBB-4B50-80A7-963CDC95A7FC}"/>
              </a:ext>
            </a:extLst>
          </p:cNvPr>
          <p:cNvCxnSpPr>
            <a:cxnSpLocks/>
            <a:endCxn id="35" idx="2"/>
          </p:cNvCxnSpPr>
          <p:nvPr/>
        </p:nvCxnSpPr>
        <p:spPr>
          <a:xfrm>
            <a:off x="1625600" y="4165599"/>
            <a:ext cx="2929466"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A3938012-B4D9-4BF7-82F7-8AB8CF6712DE}"/>
              </a:ext>
            </a:extLst>
          </p:cNvPr>
          <p:cNvSpPr/>
          <p:nvPr/>
        </p:nvSpPr>
        <p:spPr>
          <a:xfrm>
            <a:off x="893585" y="3527246"/>
            <a:ext cx="1249541" cy="1276703"/>
          </a:xfrm>
          <a:prstGeom prst="arc">
            <a:avLst>
              <a:gd name="adj1" fmla="val 5589210"/>
              <a:gd name="adj2" fmla="val 1097930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cxnSp>
        <p:nvCxnSpPr>
          <p:cNvPr id="26" name="Straight Connector 25">
            <a:extLst>
              <a:ext uri="{FF2B5EF4-FFF2-40B4-BE49-F238E27FC236}">
                <a16:creationId xmlns:a16="http://schemas.microsoft.com/office/drawing/2014/main" id="{03C69ACE-7853-491F-85A4-723CA2D7849D}"/>
              </a:ext>
            </a:extLst>
          </p:cNvPr>
          <p:cNvCxnSpPr/>
          <p:nvPr/>
        </p:nvCxnSpPr>
        <p:spPr>
          <a:xfrm>
            <a:off x="0" y="4165600"/>
            <a:ext cx="1512711"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7" name="Flowchart: Connector 26">
            <a:extLst>
              <a:ext uri="{FF2B5EF4-FFF2-40B4-BE49-F238E27FC236}">
                <a16:creationId xmlns:a16="http://schemas.microsoft.com/office/drawing/2014/main" id="{C589F9D3-7A9C-4952-B230-5354AFDA2E82}"/>
              </a:ext>
            </a:extLst>
          </p:cNvPr>
          <p:cNvSpPr/>
          <p:nvPr/>
        </p:nvSpPr>
        <p:spPr>
          <a:xfrm>
            <a:off x="1411111" y="4052711"/>
            <a:ext cx="214489" cy="225777"/>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8" name="Circle: Hollow 27">
            <a:extLst>
              <a:ext uri="{FF2B5EF4-FFF2-40B4-BE49-F238E27FC236}">
                <a16:creationId xmlns:a16="http://schemas.microsoft.com/office/drawing/2014/main" id="{FC32175D-0752-474B-867D-B114514F00C8}"/>
              </a:ext>
            </a:extLst>
          </p:cNvPr>
          <p:cNvSpPr/>
          <p:nvPr/>
        </p:nvSpPr>
        <p:spPr>
          <a:xfrm>
            <a:off x="1200855" y="3846821"/>
            <a:ext cx="623711" cy="637557"/>
          </a:xfrm>
          <a:prstGeom prst="donut">
            <a:avLst>
              <a:gd name="adj" fmla="val 6690"/>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29" name="Circle: Hollow 28">
            <a:extLst>
              <a:ext uri="{FF2B5EF4-FFF2-40B4-BE49-F238E27FC236}">
                <a16:creationId xmlns:a16="http://schemas.microsoft.com/office/drawing/2014/main" id="{437FB37D-2C85-4F07-8C33-D03F74CF3092}"/>
              </a:ext>
            </a:extLst>
          </p:cNvPr>
          <p:cNvSpPr/>
          <p:nvPr/>
        </p:nvSpPr>
        <p:spPr>
          <a:xfrm>
            <a:off x="1019524" y="3684475"/>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0" name="Straight Connector 29">
            <a:extLst>
              <a:ext uri="{FF2B5EF4-FFF2-40B4-BE49-F238E27FC236}">
                <a16:creationId xmlns:a16="http://schemas.microsoft.com/office/drawing/2014/main" id="{7AABECF7-5CD0-4E83-910A-B36B9B9D8D33}"/>
              </a:ext>
            </a:extLst>
          </p:cNvPr>
          <p:cNvCxnSpPr>
            <a:cxnSpLocks/>
          </p:cNvCxnSpPr>
          <p:nvPr/>
        </p:nvCxnSpPr>
        <p:spPr>
          <a:xfrm flipV="1">
            <a:off x="1512710" y="4278490"/>
            <a:ext cx="1" cy="11638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1" name="Flowchart: Connector 30">
            <a:extLst>
              <a:ext uri="{FF2B5EF4-FFF2-40B4-BE49-F238E27FC236}">
                <a16:creationId xmlns:a16="http://schemas.microsoft.com/office/drawing/2014/main" id="{0B60C47E-C5A3-4B24-A6D6-E29F84997A6D}"/>
              </a:ext>
            </a:extLst>
          </p:cNvPr>
          <p:cNvSpPr/>
          <p:nvPr/>
        </p:nvSpPr>
        <p:spPr>
          <a:xfrm>
            <a:off x="1428394" y="5442303"/>
            <a:ext cx="168625" cy="166642"/>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2" name="TextBox 31">
            <a:extLst>
              <a:ext uri="{FF2B5EF4-FFF2-40B4-BE49-F238E27FC236}">
                <a16:creationId xmlns:a16="http://schemas.microsoft.com/office/drawing/2014/main" id="{CB1703D9-112E-4597-8344-885F9EA8AB70}"/>
              </a:ext>
            </a:extLst>
          </p:cNvPr>
          <p:cNvSpPr txBox="1"/>
          <p:nvPr/>
        </p:nvSpPr>
        <p:spPr>
          <a:xfrm>
            <a:off x="361239" y="306870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هیدرولیکی</a:t>
            </a:r>
          </a:p>
        </p:txBody>
      </p:sp>
      <p:sp>
        <p:nvSpPr>
          <p:cNvPr id="33" name="TextBox 32">
            <a:extLst>
              <a:ext uri="{FF2B5EF4-FFF2-40B4-BE49-F238E27FC236}">
                <a16:creationId xmlns:a16="http://schemas.microsoft.com/office/drawing/2014/main" id="{E43A01F6-76AC-4FFA-AEA4-36EDFB9341DF}"/>
              </a:ext>
            </a:extLst>
          </p:cNvPr>
          <p:cNvSpPr txBox="1"/>
          <p:nvPr/>
        </p:nvSpPr>
        <p:spPr>
          <a:xfrm>
            <a:off x="359476" y="5608945"/>
            <a:ext cx="2302933" cy="923330"/>
          </a:xfrm>
          <a:prstGeom prst="rect">
            <a:avLst/>
          </a:prstGeom>
          <a:noFill/>
        </p:spPr>
        <p:txBody>
          <a:bodyPr wrap="square" rtlCol="1">
            <a:spAutoFit/>
          </a:bodyPr>
          <a:lstStyle/>
          <a:p>
            <a:pPr algn="r"/>
            <a:r>
              <a:rPr lang="fa-IR" dirty="0">
                <a:cs typeface="2  Nazanin" panose="00000400000000000000" pitchFamily="2" charset="-78"/>
              </a:rPr>
              <a:t>براي مصارف ساختماني و</a:t>
            </a:r>
          </a:p>
          <a:p>
            <a:pPr algn="r"/>
            <a:r>
              <a:rPr lang="fa-IR" dirty="0">
                <a:cs typeface="2  Nazanin" panose="00000400000000000000" pitchFamily="2" charset="-78"/>
              </a:rPr>
              <a:t>عمدتاً در اندودكاري ملات و افزودني اصلاح كننده بتن است</a:t>
            </a:r>
          </a:p>
        </p:txBody>
      </p:sp>
      <p:sp>
        <p:nvSpPr>
          <p:cNvPr id="34" name="Arc 33">
            <a:extLst>
              <a:ext uri="{FF2B5EF4-FFF2-40B4-BE49-F238E27FC236}">
                <a16:creationId xmlns:a16="http://schemas.microsoft.com/office/drawing/2014/main" id="{5EA03771-5463-4945-9F9A-D98D7876433D}"/>
              </a:ext>
            </a:extLst>
          </p:cNvPr>
          <p:cNvSpPr/>
          <p:nvPr/>
        </p:nvSpPr>
        <p:spPr>
          <a:xfrm rot="5158658">
            <a:off x="4037540" y="3527245"/>
            <a:ext cx="1249541" cy="1276703"/>
          </a:xfrm>
          <a:prstGeom prst="arc">
            <a:avLst>
              <a:gd name="adj1" fmla="val 5589210"/>
              <a:gd name="adj2" fmla="val 1097930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35" name="Flowchart: Connector 34">
            <a:extLst>
              <a:ext uri="{FF2B5EF4-FFF2-40B4-BE49-F238E27FC236}">
                <a16:creationId xmlns:a16="http://schemas.microsoft.com/office/drawing/2014/main" id="{54055E10-C83B-465E-AEC6-9D22E8854DF2}"/>
              </a:ext>
            </a:extLst>
          </p:cNvPr>
          <p:cNvSpPr/>
          <p:nvPr/>
        </p:nvSpPr>
        <p:spPr>
          <a:xfrm>
            <a:off x="4555066" y="4052710"/>
            <a:ext cx="214489" cy="225777"/>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Circle: Hollow 35">
            <a:extLst>
              <a:ext uri="{FF2B5EF4-FFF2-40B4-BE49-F238E27FC236}">
                <a16:creationId xmlns:a16="http://schemas.microsoft.com/office/drawing/2014/main" id="{772B568C-4C27-403B-810E-6E46BDD1CFAC}"/>
              </a:ext>
            </a:extLst>
          </p:cNvPr>
          <p:cNvSpPr/>
          <p:nvPr/>
        </p:nvSpPr>
        <p:spPr>
          <a:xfrm>
            <a:off x="4344810" y="3846820"/>
            <a:ext cx="623711" cy="637557"/>
          </a:xfrm>
          <a:prstGeom prst="donut">
            <a:avLst>
              <a:gd name="adj" fmla="val 669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37" name="Circle: Hollow 36">
            <a:extLst>
              <a:ext uri="{FF2B5EF4-FFF2-40B4-BE49-F238E27FC236}">
                <a16:creationId xmlns:a16="http://schemas.microsoft.com/office/drawing/2014/main" id="{389AAB38-2FCC-4112-93EE-A5CCABB21582}"/>
              </a:ext>
            </a:extLst>
          </p:cNvPr>
          <p:cNvSpPr/>
          <p:nvPr/>
        </p:nvSpPr>
        <p:spPr>
          <a:xfrm>
            <a:off x="4163479"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8" name="Straight Connector 37">
            <a:extLst>
              <a:ext uri="{FF2B5EF4-FFF2-40B4-BE49-F238E27FC236}">
                <a16:creationId xmlns:a16="http://schemas.microsoft.com/office/drawing/2014/main" id="{2E6728AB-EB97-430D-A15A-72D6F576DA35}"/>
              </a:ext>
            </a:extLst>
          </p:cNvPr>
          <p:cNvCxnSpPr>
            <a:cxnSpLocks/>
          </p:cNvCxnSpPr>
          <p:nvPr/>
        </p:nvCxnSpPr>
        <p:spPr>
          <a:xfrm flipV="1">
            <a:off x="4656661" y="2888897"/>
            <a:ext cx="1" cy="11638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9" name="Flowchart: Connector 38">
            <a:extLst>
              <a:ext uri="{FF2B5EF4-FFF2-40B4-BE49-F238E27FC236}">
                <a16:creationId xmlns:a16="http://schemas.microsoft.com/office/drawing/2014/main" id="{71A8F4D4-28AC-44D5-8B9B-3FE5279735AF}"/>
              </a:ext>
            </a:extLst>
          </p:cNvPr>
          <p:cNvSpPr/>
          <p:nvPr/>
        </p:nvSpPr>
        <p:spPr>
          <a:xfrm>
            <a:off x="4572702" y="2761501"/>
            <a:ext cx="168625" cy="166642"/>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0" name="TextBox 39">
            <a:extLst>
              <a:ext uri="{FF2B5EF4-FFF2-40B4-BE49-F238E27FC236}">
                <a16:creationId xmlns:a16="http://schemas.microsoft.com/office/drawing/2014/main" id="{32663892-2269-4A7E-9DDE-B8E56473F88B}"/>
              </a:ext>
            </a:extLst>
          </p:cNvPr>
          <p:cNvSpPr txBox="1"/>
          <p:nvPr/>
        </p:nvSpPr>
        <p:spPr>
          <a:xfrm>
            <a:off x="3504567" y="467016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پرداخت</a:t>
            </a:r>
          </a:p>
        </p:txBody>
      </p:sp>
      <p:sp>
        <p:nvSpPr>
          <p:cNvPr id="41" name="TextBox 40">
            <a:extLst>
              <a:ext uri="{FF2B5EF4-FFF2-40B4-BE49-F238E27FC236}">
                <a16:creationId xmlns:a16="http://schemas.microsoft.com/office/drawing/2014/main" id="{5186A525-B81C-4E91-ACFF-973CBC2952FA}"/>
              </a:ext>
            </a:extLst>
          </p:cNvPr>
          <p:cNvSpPr txBox="1"/>
          <p:nvPr/>
        </p:nvSpPr>
        <p:spPr>
          <a:xfrm>
            <a:off x="2954297" y="1847926"/>
            <a:ext cx="2302933" cy="1200329"/>
          </a:xfrm>
          <a:prstGeom prst="rect">
            <a:avLst/>
          </a:prstGeom>
          <a:noFill/>
        </p:spPr>
        <p:txBody>
          <a:bodyPr wrap="square" rtlCol="1">
            <a:spAutoFit/>
          </a:bodyPr>
          <a:lstStyle/>
          <a:p>
            <a:pPr algn="r"/>
            <a:r>
              <a:rPr lang="fa-IR" dirty="0">
                <a:cs typeface="2  Nazanin" panose="00000400000000000000" pitchFamily="2" charset="-78"/>
              </a:rPr>
              <a:t> در لايـه آسـتر، زيركـاري، روكـش پرداخت، ساخت ملات و مادة افزودني در بتن كاربرد دارد</a:t>
            </a:r>
          </a:p>
        </p:txBody>
      </p:sp>
      <p:sp>
        <p:nvSpPr>
          <p:cNvPr id="42" name="Arc 41">
            <a:extLst>
              <a:ext uri="{FF2B5EF4-FFF2-40B4-BE49-F238E27FC236}">
                <a16:creationId xmlns:a16="http://schemas.microsoft.com/office/drawing/2014/main" id="{5BEC991F-A497-4042-8C3A-B383FAEE70D3}"/>
              </a:ext>
            </a:extLst>
          </p:cNvPr>
          <p:cNvSpPr/>
          <p:nvPr/>
        </p:nvSpPr>
        <p:spPr>
          <a:xfrm>
            <a:off x="7021936" y="3527245"/>
            <a:ext cx="1249541" cy="1276703"/>
          </a:xfrm>
          <a:prstGeom prst="arc">
            <a:avLst>
              <a:gd name="adj1" fmla="val 5589210"/>
              <a:gd name="adj2" fmla="val 1097930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43" name="Flowchart: Connector 42">
            <a:extLst>
              <a:ext uri="{FF2B5EF4-FFF2-40B4-BE49-F238E27FC236}">
                <a16:creationId xmlns:a16="http://schemas.microsoft.com/office/drawing/2014/main" id="{383123A7-4D4B-4730-86C9-961104A4D288}"/>
              </a:ext>
            </a:extLst>
          </p:cNvPr>
          <p:cNvSpPr/>
          <p:nvPr/>
        </p:nvSpPr>
        <p:spPr>
          <a:xfrm>
            <a:off x="7539462" y="4052710"/>
            <a:ext cx="214489" cy="225777"/>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Circle: Hollow 43">
            <a:extLst>
              <a:ext uri="{FF2B5EF4-FFF2-40B4-BE49-F238E27FC236}">
                <a16:creationId xmlns:a16="http://schemas.microsoft.com/office/drawing/2014/main" id="{4D7B5875-ACB5-42C0-A4D6-2E3F55F94FE7}"/>
              </a:ext>
            </a:extLst>
          </p:cNvPr>
          <p:cNvSpPr/>
          <p:nvPr/>
        </p:nvSpPr>
        <p:spPr>
          <a:xfrm>
            <a:off x="7329206" y="3846820"/>
            <a:ext cx="623711" cy="637557"/>
          </a:xfrm>
          <a:prstGeom prst="donut">
            <a:avLst>
              <a:gd name="adj" fmla="val 6690"/>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45" name="Circle: Hollow 44">
            <a:extLst>
              <a:ext uri="{FF2B5EF4-FFF2-40B4-BE49-F238E27FC236}">
                <a16:creationId xmlns:a16="http://schemas.microsoft.com/office/drawing/2014/main" id="{3A81106B-3D87-437D-AFE4-5FF31C945D36}"/>
              </a:ext>
            </a:extLst>
          </p:cNvPr>
          <p:cNvSpPr/>
          <p:nvPr/>
        </p:nvSpPr>
        <p:spPr>
          <a:xfrm>
            <a:off x="7147875"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46" name="Straight Connector 45">
            <a:extLst>
              <a:ext uri="{FF2B5EF4-FFF2-40B4-BE49-F238E27FC236}">
                <a16:creationId xmlns:a16="http://schemas.microsoft.com/office/drawing/2014/main" id="{CE93D38D-D795-4385-BEC8-E6AA4664D001}"/>
              </a:ext>
            </a:extLst>
          </p:cNvPr>
          <p:cNvCxnSpPr>
            <a:cxnSpLocks/>
          </p:cNvCxnSpPr>
          <p:nvPr/>
        </p:nvCxnSpPr>
        <p:spPr>
          <a:xfrm flipV="1">
            <a:off x="7641061" y="4278489"/>
            <a:ext cx="1" cy="11638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7" name="Flowchart: Connector 46">
            <a:extLst>
              <a:ext uri="{FF2B5EF4-FFF2-40B4-BE49-F238E27FC236}">
                <a16:creationId xmlns:a16="http://schemas.microsoft.com/office/drawing/2014/main" id="{48A981AB-0478-4F95-94C0-3071F93AB92F}"/>
              </a:ext>
            </a:extLst>
          </p:cNvPr>
          <p:cNvSpPr/>
          <p:nvPr/>
        </p:nvSpPr>
        <p:spPr>
          <a:xfrm>
            <a:off x="7556745" y="5442302"/>
            <a:ext cx="168625" cy="166642"/>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BBC64B3B-FF96-4A8E-82AE-E3EC2DC15477}"/>
              </a:ext>
            </a:extLst>
          </p:cNvPr>
          <p:cNvSpPr txBox="1"/>
          <p:nvPr/>
        </p:nvSpPr>
        <p:spPr>
          <a:xfrm>
            <a:off x="6489590" y="3018665"/>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بنایی</a:t>
            </a:r>
          </a:p>
        </p:txBody>
      </p:sp>
      <p:sp>
        <p:nvSpPr>
          <p:cNvPr id="49" name="TextBox 48">
            <a:extLst>
              <a:ext uri="{FF2B5EF4-FFF2-40B4-BE49-F238E27FC236}">
                <a16:creationId xmlns:a16="http://schemas.microsoft.com/office/drawing/2014/main" id="{DA621A48-B9C5-4327-A7F9-D8FF722AF5F5}"/>
              </a:ext>
            </a:extLst>
          </p:cNvPr>
          <p:cNvSpPr txBox="1"/>
          <p:nvPr/>
        </p:nvSpPr>
        <p:spPr>
          <a:xfrm>
            <a:off x="6381533" y="5704885"/>
            <a:ext cx="2519045" cy="923330"/>
          </a:xfrm>
          <a:prstGeom prst="rect">
            <a:avLst/>
          </a:prstGeom>
          <a:noFill/>
        </p:spPr>
        <p:txBody>
          <a:bodyPr wrap="square" rtlCol="1">
            <a:spAutoFit/>
          </a:bodyPr>
          <a:lstStyle/>
          <a:p>
            <a:pPr algn="r"/>
            <a:r>
              <a:rPr lang="fa-IR" dirty="0">
                <a:cs typeface="2  Nazanin" panose="00000400000000000000" pitchFamily="2" charset="-78"/>
              </a:rPr>
              <a:t>اين آهك بر چهـار نـوع هيدراتـه معمـولي بـراي مصارف بنايي است</a:t>
            </a:r>
            <a:r>
              <a:rPr lang="en-US" dirty="0">
                <a:cs typeface="2  Nazanin" panose="00000400000000000000" pitchFamily="2" charset="-78"/>
              </a:rPr>
              <a:t> </a:t>
            </a:r>
            <a:endParaRPr lang="fa-IR" dirty="0">
              <a:cs typeface="2  Nazanin" panose="00000400000000000000" pitchFamily="2" charset="-78"/>
            </a:endParaRPr>
          </a:p>
        </p:txBody>
      </p:sp>
      <p:cxnSp>
        <p:nvCxnSpPr>
          <p:cNvPr id="50" name="Straight Connector 49">
            <a:extLst>
              <a:ext uri="{FF2B5EF4-FFF2-40B4-BE49-F238E27FC236}">
                <a16:creationId xmlns:a16="http://schemas.microsoft.com/office/drawing/2014/main" id="{456A77C0-2057-4780-9DC9-E8961238DE13}"/>
              </a:ext>
            </a:extLst>
          </p:cNvPr>
          <p:cNvCxnSpPr>
            <a:cxnSpLocks/>
          </p:cNvCxnSpPr>
          <p:nvPr/>
        </p:nvCxnSpPr>
        <p:spPr>
          <a:xfrm>
            <a:off x="7725370" y="4165596"/>
            <a:ext cx="2794001" cy="1129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Arc 50">
            <a:extLst>
              <a:ext uri="{FF2B5EF4-FFF2-40B4-BE49-F238E27FC236}">
                <a16:creationId xmlns:a16="http://schemas.microsoft.com/office/drawing/2014/main" id="{46278B94-746E-488E-850B-506F7CBA69FC}"/>
              </a:ext>
            </a:extLst>
          </p:cNvPr>
          <p:cNvSpPr/>
          <p:nvPr/>
        </p:nvSpPr>
        <p:spPr>
          <a:xfrm rot="5158658">
            <a:off x="9975991" y="3515949"/>
            <a:ext cx="1249541" cy="1276703"/>
          </a:xfrm>
          <a:prstGeom prst="arc">
            <a:avLst>
              <a:gd name="adj1" fmla="val 5589210"/>
              <a:gd name="adj2" fmla="val 10979306"/>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52" name="Flowchart: Connector 51">
            <a:extLst>
              <a:ext uri="{FF2B5EF4-FFF2-40B4-BE49-F238E27FC236}">
                <a16:creationId xmlns:a16="http://schemas.microsoft.com/office/drawing/2014/main" id="{883AAC48-AD83-4B8A-B3F6-529B48780B8C}"/>
              </a:ext>
            </a:extLst>
          </p:cNvPr>
          <p:cNvSpPr/>
          <p:nvPr/>
        </p:nvSpPr>
        <p:spPr>
          <a:xfrm>
            <a:off x="10493517" y="4041414"/>
            <a:ext cx="214489" cy="225777"/>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3" name="Circle: Hollow 52">
            <a:extLst>
              <a:ext uri="{FF2B5EF4-FFF2-40B4-BE49-F238E27FC236}">
                <a16:creationId xmlns:a16="http://schemas.microsoft.com/office/drawing/2014/main" id="{0CFF10DD-DD7E-404B-9051-06EDDB960DC8}"/>
              </a:ext>
            </a:extLst>
          </p:cNvPr>
          <p:cNvSpPr/>
          <p:nvPr/>
        </p:nvSpPr>
        <p:spPr>
          <a:xfrm>
            <a:off x="10283261" y="3835524"/>
            <a:ext cx="623711" cy="637557"/>
          </a:xfrm>
          <a:prstGeom prst="donut">
            <a:avLst>
              <a:gd name="adj" fmla="val 66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54" name="Circle: Hollow 53">
            <a:extLst>
              <a:ext uri="{FF2B5EF4-FFF2-40B4-BE49-F238E27FC236}">
                <a16:creationId xmlns:a16="http://schemas.microsoft.com/office/drawing/2014/main" id="{85CE0F99-827C-495A-9F39-C464AFC27C77}"/>
              </a:ext>
            </a:extLst>
          </p:cNvPr>
          <p:cNvSpPr/>
          <p:nvPr/>
        </p:nvSpPr>
        <p:spPr>
          <a:xfrm>
            <a:off x="10101930" y="3673178"/>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55" name="Straight Connector 54">
            <a:extLst>
              <a:ext uri="{FF2B5EF4-FFF2-40B4-BE49-F238E27FC236}">
                <a16:creationId xmlns:a16="http://schemas.microsoft.com/office/drawing/2014/main" id="{A47C44D2-0E2C-48D8-A995-721DDC6CD4B5}"/>
              </a:ext>
            </a:extLst>
          </p:cNvPr>
          <p:cNvCxnSpPr>
            <a:cxnSpLocks/>
          </p:cNvCxnSpPr>
          <p:nvPr/>
        </p:nvCxnSpPr>
        <p:spPr>
          <a:xfrm flipV="1">
            <a:off x="10595112" y="2877601"/>
            <a:ext cx="1" cy="1163813"/>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Flowchart: Connector 55">
            <a:extLst>
              <a:ext uri="{FF2B5EF4-FFF2-40B4-BE49-F238E27FC236}">
                <a16:creationId xmlns:a16="http://schemas.microsoft.com/office/drawing/2014/main" id="{65812D45-D157-4BAB-91C7-7B0977F31197}"/>
              </a:ext>
            </a:extLst>
          </p:cNvPr>
          <p:cNvSpPr/>
          <p:nvPr/>
        </p:nvSpPr>
        <p:spPr>
          <a:xfrm>
            <a:off x="10511153" y="2750205"/>
            <a:ext cx="168625" cy="166642"/>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7" name="TextBox 56">
            <a:extLst>
              <a:ext uri="{FF2B5EF4-FFF2-40B4-BE49-F238E27FC236}">
                <a16:creationId xmlns:a16="http://schemas.microsoft.com/office/drawing/2014/main" id="{76FA2B22-65E8-423D-B457-8B16AADE2871}"/>
              </a:ext>
            </a:extLst>
          </p:cNvPr>
          <p:cNvSpPr txBox="1"/>
          <p:nvPr/>
        </p:nvSpPr>
        <p:spPr>
          <a:xfrm>
            <a:off x="9485913" y="4648940"/>
            <a:ext cx="2302933" cy="369332"/>
          </a:xfrm>
          <a:prstGeom prst="rect">
            <a:avLst/>
          </a:prstGeom>
          <a:noFill/>
        </p:spPr>
        <p:txBody>
          <a:bodyPr wrap="square" rtlCol="1">
            <a:spAutoFit/>
          </a:bodyPr>
          <a:lstStyle/>
          <a:p>
            <a:pPr algn="ctr"/>
            <a:r>
              <a:rPr lang="fa-IR" b="1" dirty="0">
                <a:cs typeface="2  Nazanin" panose="00000400000000000000" pitchFamily="2" charset="-78"/>
              </a:rPr>
              <a:t>اهک زنده</a:t>
            </a:r>
          </a:p>
        </p:txBody>
      </p:sp>
      <p:sp>
        <p:nvSpPr>
          <p:cNvPr id="58" name="TextBox 57">
            <a:extLst>
              <a:ext uri="{FF2B5EF4-FFF2-40B4-BE49-F238E27FC236}">
                <a16:creationId xmlns:a16="http://schemas.microsoft.com/office/drawing/2014/main" id="{5C5F80CB-48DD-44EF-A54D-2B3D14289721}"/>
              </a:ext>
            </a:extLst>
          </p:cNvPr>
          <p:cNvSpPr txBox="1"/>
          <p:nvPr/>
        </p:nvSpPr>
        <p:spPr>
          <a:xfrm>
            <a:off x="9335589" y="1803574"/>
            <a:ext cx="2519045" cy="923330"/>
          </a:xfrm>
          <a:prstGeom prst="rect">
            <a:avLst/>
          </a:prstGeom>
          <a:noFill/>
        </p:spPr>
        <p:txBody>
          <a:bodyPr wrap="square" rtlCol="1">
            <a:spAutoFit/>
          </a:bodyPr>
          <a:lstStyle/>
          <a:p>
            <a:pPr algn="r"/>
            <a:r>
              <a:rPr lang="fa-IR" dirty="0">
                <a:cs typeface="2  Nazanin" panose="00000400000000000000" pitchFamily="2" charset="-78"/>
              </a:rPr>
              <a:t>اهك اگر زنده به سه گروه فعال، نيمه فعال و كـم فعـال تقسـيم مـيشـود.</a:t>
            </a:r>
          </a:p>
        </p:txBody>
      </p:sp>
      <p:cxnSp>
        <p:nvCxnSpPr>
          <p:cNvPr id="59" name="Straight Connector 58">
            <a:extLst>
              <a:ext uri="{FF2B5EF4-FFF2-40B4-BE49-F238E27FC236}">
                <a16:creationId xmlns:a16="http://schemas.microsoft.com/office/drawing/2014/main" id="{56958883-3590-460A-89A2-48A1F8DA0F35}"/>
              </a:ext>
            </a:extLst>
          </p:cNvPr>
          <p:cNvCxnSpPr>
            <a:cxnSpLocks/>
          </p:cNvCxnSpPr>
          <p:nvPr/>
        </p:nvCxnSpPr>
        <p:spPr>
          <a:xfrm>
            <a:off x="10688947" y="4154300"/>
            <a:ext cx="1503053" cy="278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5A4D828-C5F6-4A28-804D-9AB280CE04AD}"/>
              </a:ext>
            </a:extLst>
          </p:cNvPr>
          <p:cNvGrpSpPr/>
          <p:nvPr/>
        </p:nvGrpSpPr>
        <p:grpSpPr>
          <a:xfrm>
            <a:off x="-106" y="-5082707"/>
            <a:ext cx="12192000" cy="7550727"/>
            <a:chOff x="0" y="0"/>
            <a:chExt cx="12192000" cy="7550727"/>
          </a:xfrm>
          <a:solidFill>
            <a:srgbClr val="55828B"/>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98" y="-5907705"/>
            <a:ext cx="12192000" cy="7550727"/>
            <a:chOff x="0" y="0"/>
            <a:chExt cx="12192000" cy="7550727"/>
          </a:xfrm>
          <a:solidFill>
            <a:srgbClr val="3B6064"/>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60" name="Group 59">
            <a:extLst>
              <a:ext uri="{FF2B5EF4-FFF2-40B4-BE49-F238E27FC236}">
                <a16:creationId xmlns:a16="http://schemas.microsoft.com/office/drawing/2014/main" id="{C96A7B33-24C4-4C72-82F6-E350A0BDDEFD}"/>
              </a:ext>
            </a:extLst>
          </p:cNvPr>
          <p:cNvGrpSpPr/>
          <p:nvPr/>
        </p:nvGrpSpPr>
        <p:grpSpPr>
          <a:xfrm>
            <a:off x="-11467" y="-6655767"/>
            <a:ext cx="12192000" cy="7550727"/>
            <a:chOff x="0" y="0"/>
            <a:chExt cx="12192000" cy="7550727"/>
          </a:xfrm>
          <a:solidFill>
            <a:srgbClr val="364958"/>
          </a:solidFill>
        </p:grpSpPr>
        <p:sp>
          <p:nvSpPr>
            <p:cNvPr id="61" name="Rectangle 60">
              <a:extLst>
                <a:ext uri="{FF2B5EF4-FFF2-40B4-BE49-F238E27FC236}">
                  <a16:creationId xmlns:a16="http://schemas.microsoft.com/office/drawing/2014/main" id="{FE2908E1-5E40-48FE-88A8-4CE825144AF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62" name="Rectangle: Top Corners Rounded 61">
              <a:extLst>
                <a:ext uri="{FF2B5EF4-FFF2-40B4-BE49-F238E27FC236}">
                  <a16:creationId xmlns:a16="http://schemas.microsoft.com/office/drawing/2014/main" id="{19B377DE-950A-446E-BFAC-DE3DF82E2EE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3" name="TextBox 62">
              <a:extLst>
                <a:ext uri="{FF2B5EF4-FFF2-40B4-BE49-F238E27FC236}">
                  <a16:creationId xmlns:a16="http://schemas.microsoft.com/office/drawing/2014/main" id="{97A85B93-8EDF-472E-BBAA-8943975851B3}"/>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Tree>
    <p:extLst>
      <p:ext uri="{BB962C8B-B14F-4D97-AF65-F5344CB8AC3E}">
        <p14:creationId xmlns:p14="http://schemas.microsoft.com/office/powerpoint/2010/main" val="3616905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fltVal val="0"/>
                                          </p:val>
                                        </p:tav>
                                        <p:tav tm="100000">
                                          <p:val>
                                            <p:strVal val="#ppt_w"/>
                                          </p:val>
                                        </p:tav>
                                      </p:tavLst>
                                    </p:anim>
                                    <p:anim calcmode="lin" valueType="num">
                                      <p:cBhvr>
                                        <p:cTn id="12" dur="500" fill="hold"/>
                                        <p:tgtEl>
                                          <p:spTgt spid="27"/>
                                        </p:tgtEl>
                                        <p:attrNameLst>
                                          <p:attrName>ppt_h</p:attrName>
                                        </p:attrNameLst>
                                      </p:cBhvr>
                                      <p:tavLst>
                                        <p:tav tm="0">
                                          <p:val>
                                            <p:fltVal val="0"/>
                                          </p:val>
                                        </p:tav>
                                        <p:tav tm="100000">
                                          <p:val>
                                            <p:strVal val="#ppt_h"/>
                                          </p:val>
                                        </p:tav>
                                      </p:tavLst>
                                    </p:anim>
                                    <p:animEffect transition="in" filter="fade">
                                      <p:cBhvr>
                                        <p:cTn id="13" dur="500"/>
                                        <p:tgtEl>
                                          <p:spTgt spid="2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500" fill="hold"/>
                                        <p:tgtEl>
                                          <p:spTgt spid="28"/>
                                        </p:tgtEl>
                                        <p:attrNameLst>
                                          <p:attrName>ppt_w</p:attrName>
                                        </p:attrNameLst>
                                      </p:cBhvr>
                                      <p:tavLst>
                                        <p:tav tm="0">
                                          <p:val>
                                            <p:fltVal val="0"/>
                                          </p:val>
                                        </p:tav>
                                        <p:tav tm="100000">
                                          <p:val>
                                            <p:strVal val="#ppt_w"/>
                                          </p:val>
                                        </p:tav>
                                      </p:tavLst>
                                    </p:anim>
                                    <p:anim calcmode="lin" valueType="num">
                                      <p:cBhvr>
                                        <p:cTn id="18" dur="500" fill="hold"/>
                                        <p:tgtEl>
                                          <p:spTgt spid="28"/>
                                        </p:tgtEl>
                                        <p:attrNameLst>
                                          <p:attrName>ppt_h</p:attrName>
                                        </p:attrNameLst>
                                      </p:cBhvr>
                                      <p:tavLst>
                                        <p:tav tm="0">
                                          <p:val>
                                            <p:fltVal val="0"/>
                                          </p:val>
                                        </p:tav>
                                        <p:tav tm="100000">
                                          <p:val>
                                            <p:strVal val="#ppt_h"/>
                                          </p:val>
                                        </p:tav>
                                      </p:tavLst>
                                    </p:anim>
                                    <p:animEffect transition="in" filter="fade">
                                      <p:cBhvr>
                                        <p:cTn id="19" dur="500"/>
                                        <p:tgtEl>
                                          <p:spTgt spid="28"/>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up)">
                                      <p:cBhvr>
                                        <p:cTn id="29" dur="500"/>
                                        <p:tgtEl>
                                          <p:spTgt spid="30"/>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500" fill="hold"/>
                                        <p:tgtEl>
                                          <p:spTgt spid="31"/>
                                        </p:tgtEl>
                                        <p:attrNameLst>
                                          <p:attrName>ppt_w</p:attrName>
                                        </p:attrNameLst>
                                      </p:cBhvr>
                                      <p:tavLst>
                                        <p:tav tm="0">
                                          <p:val>
                                            <p:fltVal val="0"/>
                                          </p:val>
                                        </p:tav>
                                        <p:tav tm="100000">
                                          <p:val>
                                            <p:strVal val="#ppt_w"/>
                                          </p:val>
                                        </p:tav>
                                      </p:tavLst>
                                    </p:anim>
                                    <p:anim calcmode="lin" valueType="num">
                                      <p:cBhvr>
                                        <p:cTn id="34" dur="500" fill="hold"/>
                                        <p:tgtEl>
                                          <p:spTgt spid="31"/>
                                        </p:tgtEl>
                                        <p:attrNameLst>
                                          <p:attrName>ppt_h</p:attrName>
                                        </p:attrNameLst>
                                      </p:cBhvr>
                                      <p:tavLst>
                                        <p:tav tm="0">
                                          <p:val>
                                            <p:fltVal val="0"/>
                                          </p:val>
                                        </p:tav>
                                        <p:tav tm="100000">
                                          <p:val>
                                            <p:strVal val="#ppt_h"/>
                                          </p:val>
                                        </p:tav>
                                      </p:tavLst>
                                    </p:anim>
                                    <p:animEffect transition="in" filter="fade">
                                      <p:cBhvr>
                                        <p:cTn id="35" dur="500"/>
                                        <p:tgtEl>
                                          <p:spTgt spid="31"/>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par>
                                <p:cTn id="42" presetID="47"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1000"/>
                                        <p:tgtEl>
                                          <p:spTgt spid="32"/>
                                        </p:tgtEl>
                                      </p:cBhvr>
                                    </p:animEffect>
                                    <p:anim calcmode="lin" valueType="num">
                                      <p:cBhvr>
                                        <p:cTn id="45" dur="1000" fill="hold"/>
                                        <p:tgtEl>
                                          <p:spTgt spid="32"/>
                                        </p:tgtEl>
                                        <p:attrNameLst>
                                          <p:attrName>ppt_x</p:attrName>
                                        </p:attrNameLst>
                                      </p:cBhvr>
                                      <p:tavLst>
                                        <p:tav tm="0">
                                          <p:val>
                                            <p:strVal val="#ppt_x"/>
                                          </p:val>
                                        </p:tav>
                                        <p:tav tm="100000">
                                          <p:val>
                                            <p:strVal val="#ppt_x"/>
                                          </p:val>
                                        </p:tav>
                                      </p:tavLst>
                                    </p:anim>
                                    <p:anim calcmode="lin" valueType="num">
                                      <p:cBhvr>
                                        <p:cTn id="46" dur="1000" fill="hold"/>
                                        <p:tgtEl>
                                          <p:spTgt spid="32"/>
                                        </p:tgtEl>
                                        <p:attrNameLst>
                                          <p:attrName>ppt_y</p:attrName>
                                        </p:attrNameLst>
                                      </p:cBhvr>
                                      <p:tavLst>
                                        <p:tav tm="0">
                                          <p:val>
                                            <p:strVal val="#ppt_y-.1"/>
                                          </p:val>
                                        </p:tav>
                                        <p:tav tm="100000">
                                          <p:val>
                                            <p:strVal val="#ppt_y"/>
                                          </p:val>
                                        </p:tav>
                                      </p:tavLst>
                                    </p:anim>
                                  </p:childTnLst>
                                </p:cTn>
                              </p:par>
                            </p:childTnLst>
                          </p:cTn>
                        </p:par>
                        <p:par>
                          <p:cTn id="47" fill="hold">
                            <p:stCondLst>
                              <p:cond delay="4000"/>
                            </p:stCondLst>
                            <p:childTnLst>
                              <p:par>
                                <p:cTn id="48" presetID="42" presetClass="entr" presetSubtype="0" fill="hold" grpId="0" nodeType="after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1500"/>
                                        <p:tgtEl>
                                          <p:spTgt spid="33"/>
                                        </p:tgtEl>
                                      </p:cBhvr>
                                    </p:animEffect>
                                    <p:anim calcmode="lin" valueType="num">
                                      <p:cBhvr>
                                        <p:cTn id="51" dur="1500" fill="hold"/>
                                        <p:tgtEl>
                                          <p:spTgt spid="33"/>
                                        </p:tgtEl>
                                        <p:attrNameLst>
                                          <p:attrName>ppt_x</p:attrName>
                                        </p:attrNameLst>
                                      </p:cBhvr>
                                      <p:tavLst>
                                        <p:tav tm="0">
                                          <p:val>
                                            <p:strVal val="#ppt_x"/>
                                          </p:val>
                                        </p:tav>
                                        <p:tav tm="100000">
                                          <p:val>
                                            <p:strVal val="#ppt_x"/>
                                          </p:val>
                                        </p:tav>
                                      </p:tavLst>
                                    </p:anim>
                                    <p:anim calcmode="lin" valueType="num">
                                      <p:cBhvr>
                                        <p:cTn id="52" dur="1500" fill="hold"/>
                                        <p:tgtEl>
                                          <p:spTgt spid="33"/>
                                        </p:tgtEl>
                                        <p:attrNameLst>
                                          <p:attrName>ppt_y</p:attrName>
                                        </p:attrNameLst>
                                      </p:cBhvr>
                                      <p:tavLst>
                                        <p:tav tm="0">
                                          <p:val>
                                            <p:strVal val="#ppt_y+.1"/>
                                          </p:val>
                                        </p:tav>
                                        <p:tav tm="100000">
                                          <p:val>
                                            <p:strVal val="#ppt_y"/>
                                          </p:val>
                                        </p:tav>
                                      </p:tavLst>
                                    </p:anim>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par>
                          <p:cTn id="57" fill="hold">
                            <p:stCondLst>
                              <p:cond delay="6000"/>
                            </p:stCondLst>
                            <p:childTnLst>
                              <p:par>
                                <p:cTn id="58" presetID="53" presetClass="entr" presetSubtype="16" fill="hold" grpId="0" nodeType="afterEffect">
                                  <p:stCondLst>
                                    <p:cond delay="0"/>
                                  </p:stCondLst>
                                  <p:childTnLst>
                                    <p:set>
                                      <p:cBhvr>
                                        <p:cTn id="59" dur="1" fill="hold">
                                          <p:stCondLst>
                                            <p:cond delay="0"/>
                                          </p:stCondLst>
                                        </p:cTn>
                                        <p:tgtEl>
                                          <p:spTgt spid="35"/>
                                        </p:tgtEl>
                                        <p:attrNameLst>
                                          <p:attrName>style.visibility</p:attrName>
                                        </p:attrNameLst>
                                      </p:cBhvr>
                                      <p:to>
                                        <p:strVal val="visible"/>
                                      </p:to>
                                    </p:set>
                                    <p:anim calcmode="lin" valueType="num">
                                      <p:cBhvr>
                                        <p:cTn id="60" dur="500" fill="hold"/>
                                        <p:tgtEl>
                                          <p:spTgt spid="35"/>
                                        </p:tgtEl>
                                        <p:attrNameLst>
                                          <p:attrName>ppt_w</p:attrName>
                                        </p:attrNameLst>
                                      </p:cBhvr>
                                      <p:tavLst>
                                        <p:tav tm="0">
                                          <p:val>
                                            <p:fltVal val="0"/>
                                          </p:val>
                                        </p:tav>
                                        <p:tav tm="100000">
                                          <p:val>
                                            <p:strVal val="#ppt_w"/>
                                          </p:val>
                                        </p:tav>
                                      </p:tavLst>
                                    </p:anim>
                                    <p:anim calcmode="lin" valueType="num">
                                      <p:cBhvr>
                                        <p:cTn id="61" dur="500" fill="hold"/>
                                        <p:tgtEl>
                                          <p:spTgt spid="35"/>
                                        </p:tgtEl>
                                        <p:attrNameLst>
                                          <p:attrName>ppt_h</p:attrName>
                                        </p:attrNameLst>
                                      </p:cBhvr>
                                      <p:tavLst>
                                        <p:tav tm="0">
                                          <p:val>
                                            <p:fltVal val="0"/>
                                          </p:val>
                                        </p:tav>
                                        <p:tav tm="100000">
                                          <p:val>
                                            <p:strVal val="#ppt_h"/>
                                          </p:val>
                                        </p:tav>
                                      </p:tavLst>
                                    </p:anim>
                                    <p:animEffect transition="in" filter="fade">
                                      <p:cBhvr>
                                        <p:cTn id="62" dur="500"/>
                                        <p:tgtEl>
                                          <p:spTgt spid="35"/>
                                        </p:tgtEl>
                                      </p:cBhvr>
                                    </p:animEffect>
                                  </p:childTnLst>
                                </p:cTn>
                              </p:par>
                            </p:childTnLst>
                          </p:cTn>
                        </p:par>
                        <p:par>
                          <p:cTn id="63" fill="hold">
                            <p:stCondLst>
                              <p:cond delay="6500"/>
                            </p:stCondLst>
                            <p:childTnLst>
                              <p:par>
                                <p:cTn id="64" presetID="53" presetClass="entr" presetSubtype="16" fill="hold" grpId="0" nodeType="after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7000"/>
                            </p:stCondLst>
                            <p:childTnLst>
                              <p:par>
                                <p:cTn id="70" presetID="53" presetClass="entr" presetSubtype="16"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500" fill="hold"/>
                                        <p:tgtEl>
                                          <p:spTgt spid="37"/>
                                        </p:tgtEl>
                                        <p:attrNameLst>
                                          <p:attrName>ppt_w</p:attrName>
                                        </p:attrNameLst>
                                      </p:cBhvr>
                                      <p:tavLst>
                                        <p:tav tm="0">
                                          <p:val>
                                            <p:fltVal val="0"/>
                                          </p:val>
                                        </p:tav>
                                        <p:tav tm="100000">
                                          <p:val>
                                            <p:strVal val="#ppt_w"/>
                                          </p:val>
                                        </p:tav>
                                      </p:tavLst>
                                    </p:anim>
                                    <p:anim calcmode="lin" valueType="num">
                                      <p:cBhvr>
                                        <p:cTn id="73" dur="500" fill="hold"/>
                                        <p:tgtEl>
                                          <p:spTgt spid="37"/>
                                        </p:tgtEl>
                                        <p:attrNameLst>
                                          <p:attrName>ppt_h</p:attrName>
                                        </p:attrNameLst>
                                      </p:cBhvr>
                                      <p:tavLst>
                                        <p:tav tm="0">
                                          <p:val>
                                            <p:fltVal val="0"/>
                                          </p:val>
                                        </p:tav>
                                        <p:tav tm="100000">
                                          <p:val>
                                            <p:strVal val="#ppt_h"/>
                                          </p:val>
                                        </p:tav>
                                      </p:tavLst>
                                    </p:anim>
                                    <p:animEffect transition="in" filter="fade">
                                      <p:cBhvr>
                                        <p:cTn id="74" dur="500"/>
                                        <p:tgtEl>
                                          <p:spTgt spid="37"/>
                                        </p:tgtEl>
                                      </p:cBhvr>
                                    </p:animEffect>
                                  </p:childTnLst>
                                </p:cTn>
                              </p:par>
                            </p:childTnLst>
                          </p:cTn>
                        </p:par>
                        <p:par>
                          <p:cTn id="75" fill="hold">
                            <p:stCondLst>
                              <p:cond delay="7500"/>
                            </p:stCondLst>
                            <p:childTnLst>
                              <p:par>
                                <p:cTn id="76" presetID="22" presetClass="entr" presetSubtype="4" fill="hold"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down)">
                                      <p:cBhvr>
                                        <p:cTn id="78" dur="500"/>
                                        <p:tgtEl>
                                          <p:spTgt spid="38"/>
                                        </p:tgtEl>
                                      </p:cBhvr>
                                    </p:animEffect>
                                  </p:childTnLst>
                                </p:cTn>
                              </p:par>
                            </p:childTnLst>
                          </p:cTn>
                        </p:par>
                        <p:par>
                          <p:cTn id="79" fill="hold">
                            <p:stCondLst>
                              <p:cond delay="8000"/>
                            </p:stCondLst>
                            <p:childTnLst>
                              <p:par>
                                <p:cTn id="80" presetID="53" presetClass="entr" presetSubtype="16" fill="hold" grpId="0" nodeType="after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childTnLst>
                          </p:cTn>
                        </p:par>
                        <p:par>
                          <p:cTn id="85" fill="hold">
                            <p:stCondLst>
                              <p:cond delay="8500"/>
                            </p:stCondLst>
                            <p:childTnLst>
                              <p:par>
                                <p:cTn id="86" presetID="53" presetClass="entr" presetSubtype="16" fill="hold" grpId="0" nodeType="afterEffect">
                                  <p:stCondLst>
                                    <p:cond delay="0"/>
                                  </p:stCondLst>
                                  <p:childTnLst>
                                    <p:set>
                                      <p:cBhvr>
                                        <p:cTn id="87" dur="1" fill="hold">
                                          <p:stCondLst>
                                            <p:cond delay="0"/>
                                          </p:stCondLst>
                                        </p:cTn>
                                        <p:tgtEl>
                                          <p:spTgt spid="34"/>
                                        </p:tgtEl>
                                        <p:attrNameLst>
                                          <p:attrName>style.visibility</p:attrName>
                                        </p:attrNameLst>
                                      </p:cBhvr>
                                      <p:to>
                                        <p:strVal val="visible"/>
                                      </p:to>
                                    </p:set>
                                    <p:anim calcmode="lin" valueType="num">
                                      <p:cBhvr>
                                        <p:cTn id="88" dur="500" fill="hold"/>
                                        <p:tgtEl>
                                          <p:spTgt spid="34"/>
                                        </p:tgtEl>
                                        <p:attrNameLst>
                                          <p:attrName>ppt_w</p:attrName>
                                        </p:attrNameLst>
                                      </p:cBhvr>
                                      <p:tavLst>
                                        <p:tav tm="0">
                                          <p:val>
                                            <p:fltVal val="0"/>
                                          </p:val>
                                        </p:tav>
                                        <p:tav tm="100000">
                                          <p:val>
                                            <p:strVal val="#ppt_w"/>
                                          </p:val>
                                        </p:tav>
                                      </p:tavLst>
                                    </p:anim>
                                    <p:anim calcmode="lin" valueType="num">
                                      <p:cBhvr>
                                        <p:cTn id="89" dur="500" fill="hold"/>
                                        <p:tgtEl>
                                          <p:spTgt spid="34"/>
                                        </p:tgtEl>
                                        <p:attrNameLst>
                                          <p:attrName>ppt_h</p:attrName>
                                        </p:attrNameLst>
                                      </p:cBhvr>
                                      <p:tavLst>
                                        <p:tav tm="0">
                                          <p:val>
                                            <p:fltVal val="0"/>
                                          </p:val>
                                        </p:tav>
                                        <p:tav tm="100000">
                                          <p:val>
                                            <p:strVal val="#ppt_h"/>
                                          </p:val>
                                        </p:tav>
                                      </p:tavLst>
                                    </p:anim>
                                    <p:animEffect transition="in" filter="fade">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1000"/>
                                        <p:tgtEl>
                                          <p:spTgt spid="40"/>
                                        </p:tgtEl>
                                      </p:cBhvr>
                                    </p:animEffect>
                                    <p:anim calcmode="lin" valueType="num">
                                      <p:cBhvr>
                                        <p:cTn id="96" dur="1000" fill="hold"/>
                                        <p:tgtEl>
                                          <p:spTgt spid="40"/>
                                        </p:tgtEl>
                                        <p:attrNameLst>
                                          <p:attrName>ppt_x</p:attrName>
                                        </p:attrNameLst>
                                      </p:cBhvr>
                                      <p:tavLst>
                                        <p:tav tm="0">
                                          <p:val>
                                            <p:strVal val="#ppt_x"/>
                                          </p:val>
                                        </p:tav>
                                        <p:tav tm="100000">
                                          <p:val>
                                            <p:strVal val="#ppt_x"/>
                                          </p:val>
                                        </p:tav>
                                      </p:tavLst>
                                    </p:anim>
                                    <p:anim calcmode="lin" valueType="num">
                                      <p:cBhvr>
                                        <p:cTn id="9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7" presetClass="entr" presetSubtype="0" fill="hold" grpId="0" nodeType="click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1500"/>
                                        <p:tgtEl>
                                          <p:spTgt spid="41"/>
                                        </p:tgtEl>
                                      </p:cBhvr>
                                    </p:animEffect>
                                    <p:anim calcmode="lin" valueType="num">
                                      <p:cBhvr>
                                        <p:cTn id="103" dur="1500" fill="hold"/>
                                        <p:tgtEl>
                                          <p:spTgt spid="41"/>
                                        </p:tgtEl>
                                        <p:attrNameLst>
                                          <p:attrName>ppt_x</p:attrName>
                                        </p:attrNameLst>
                                      </p:cBhvr>
                                      <p:tavLst>
                                        <p:tav tm="0">
                                          <p:val>
                                            <p:strVal val="#ppt_x"/>
                                          </p:val>
                                        </p:tav>
                                        <p:tav tm="100000">
                                          <p:val>
                                            <p:strVal val="#ppt_x"/>
                                          </p:val>
                                        </p:tav>
                                      </p:tavLst>
                                    </p:anim>
                                    <p:anim calcmode="lin" valueType="num">
                                      <p:cBhvr>
                                        <p:cTn id="104" dur="1500" fill="hold"/>
                                        <p:tgtEl>
                                          <p:spTgt spid="41"/>
                                        </p:tgtEl>
                                        <p:attrNameLst>
                                          <p:attrName>ppt_y</p:attrName>
                                        </p:attrNameLst>
                                      </p:cBhvr>
                                      <p:tavLst>
                                        <p:tav tm="0">
                                          <p:val>
                                            <p:strVal val="#ppt_y-.1"/>
                                          </p:val>
                                        </p:tav>
                                        <p:tav tm="100000">
                                          <p:val>
                                            <p:strVal val="#ppt_y"/>
                                          </p:val>
                                        </p:tav>
                                      </p:tavLst>
                                    </p:anim>
                                  </p:childTnLst>
                                </p:cTn>
                              </p:par>
                            </p:childTnLst>
                          </p:cTn>
                        </p:par>
                        <p:par>
                          <p:cTn id="105" fill="hold">
                            <p:stCondLst>
                              <p:cond delay="1500"/>
                            </p:stCondLst>
                            <p:childTnLst>
                              <p:par>
                                <p:cTn id="106" presetID="22" presetClass="entr" presetSubtype="8" fill="hold" nodeType="afterEffect">
                                  <p:stCondLst>
                                    <p:cond delay="0"/>
                                  </p:stCondLst>
                                  <p:childTnLst>
                                    <p:set>
                                      <p:cBhvr>
                                        <p:cTn id="107" dur="1" fill="hold">
                                          <p:stCondLst>
                                            <p:cond delay="0"/>
                                          </p:stCondLst>
                                        </p:cTn>
                                        <p:tgtEl>
                                          <p:spTgt spid="23"/>
                                        </p:tgtEl>
                                        <p:attrNameLst>
                                          <p:attrName>style.visibility</p:attrName>
                                        </p:attrNameLst>
                                      </p:cBhvr>
                                      <p:to>
                                        <p:strVal val="visible"/>
                                      </p:to>
                                    </p:set>
                                    <p:animEffect transition="in" filter="wipe(left)">
                                      <p:cBhvr>
                                        <p:cTn id="108" dur="500"/>
                                        <p:tgtEl>
                                          <p:spTgt spid="23"/>
                                        </p:tgtEl>
                                      </p:cBhvr>
                                    </p:animEffect>
                                  </p:childTnLst>
                                </p:cTn>
                              </p:par>
                            </p:childTnLst>
                          </p:cTn>
                        </p:par>
                        <p:par>
                          <p:cTn id="109" fill="hold">
                            <p:stCondLst>
                              <p:cond delay="2000"/>
                            </p:stCondLst>
                            <p:childTnLst>
                              <p:par>
                                <p:cTn id="110" presetID="53" presetClass="entr" presetSubtype="16" fill="hold" grpId="0" nodeType="afterEffect">
                                  <p:stCondLst>
                                    <p:cond delay="0"/>
                                  </p:stCondLst>
                                  <p:childTnLst>
                                    <p:set>
                                      <p:cBhvr>
                                        <p:cTn id="111" dur="1" fill="hold">
                                          <p:stCondLst>
                                            <p:cond delay="0"/>
                                          </p:stCondLst>
                                        </p:cTn>
                                        <p:tgtEl>
                                          <p:spTgt spid="43"/>
                                        </p:tgtEl>
                                        <p:attrNameLst>
                                          <p:attrName>style.visibility</p:attrName>
                                        </p:attrNameLst>
                                      </p:cBhvr>
                                      <p:to>
                                        <p:strVal val="visible"/>
                                      </p:to>
                                    </p:set>
                                    <p:anim calcmode="lin" valueType="num">
                                      <p:cBhvr>
                                        <p:cTn id="112" dur="500" fill="hold"/>
                                        <p:tgtEl>
                                          <p:spTgt spid="43"/>
                                        </p:tgtEl>
                                        <p:attrNameLst>
                                          <p:attrName>ppt_w</p:attrName>
                                        </p:attrNameLst>
                                      </p:cBhvr>
                                      <p:tavLst>
                                        <p:tav tm="0">
                                          <p:val>
                                            <p:fltVal val="0"/>
                                          </p:val>
                                        </p:tav>
                                        <p:tav tm="100000">
                                          <p:val>
                                            <p:strVal val="#ppt_w"/>
                                          </p:val>
                                        </p:tav>
                                      </p:tavLst>
                                    </p:anim>
                                    <p:anim calcmode="lin" valueType="num">
                                      <p:cBhvr>
                                        <p:cTn id="113" dur="500" fill="hold"/>
                                        <p:tgtEl>
                                          <p:spTgt spid="43"/>
                                        </p:tgtEl>
                                        <p:attrNameLst>
                                          <p:attrName>ppt_h</p:attrName>
                                        </p:attrNameLst>
                                      </p:cBhvr>
                                      <p:tavLst>
                                        <p:tav tm="0">
                                          <p:val>
                                            <p:fltVal val="0"/>
                                          </p:val>
                                        </p:tav>
                                        <p:tav tm="100000">
                                          <p:val>
                                            <p:strVal val="#ppt_h"/>
                                          </p:val>
                                        </p:tav>
                                      </p:tavLst>
                                    </p:anim>
                                    <p:animEffect transition="in" filter="fade">
                                      <p:cBhvr>
                                        <p:cTn id="114" dur="500"/>
                                        <p:tgtEl>
                                          <p:spTgt spid="43"/>
                                        </p:tgtEl>
                                      </p:cBhvr>
                                    </p:animEffect>
                                  </p:childTnLst>
                                </p:cTn>
                              </p:par>
                            </p:childTnLst>
                          </p:cTn>
                        </p:par>
                        <p:par>
                          <p:cTn id="115" fill="hold">
                            <p:stCondLst>
                              <p:cond delay="2500"/>
                            </p:stCondLst>
                            <p:childTnLst>
                              <p:par>
                                <p:cTn id="116" presetID="53" presetClass="entr" presetSubtype="16" fill="hold" grpId="0" nodeType="afterEffect">
                                  <p:stCondLst>
                                    <p:cond delay="0"/>
                                  </p:stCondLst>
                                  <p:childTnLst>
                                    <p:set>
                                      <p:cBhvr>
                                        <p:cTn id="117" dur="1" fill="hold">
                                          <p:stCondLst>
                                            <p:cond delay="0"/>
                                          </p:stCondLst>
                                        </p:cTn>
                                        <p:tgtEl>
                                          <p:spTgt spid="44"/>
                                        </p:tgtEl>
                                        <p:attrNameLst>
                                          <p:attrName>style.visibility</p:attrName>
                                        </p:attrNameLst>
                                      </p:cBhvr>
                                      <p:to>
                                        <p:strVal val="visible"/>
                                      </p:to>
                                    </p:set>
                                    <p:anim calcmode="lin" valueType="num">
                                      <p:cBhvr>
                                        <p:cTn id="118" dur="500" fill="hold"/>
                                        <p:tgtEl>
                                          <p:spTgt spid="44"/>
                                        </p:tgtEl>
                                        <p:attrNameLst>
                                          <p:attrName>ppt_w</p:attrName>
                                        </p:attrNameLst>
                                      </p:cBhvr>
                                      <p:tavLst>
                                        <p:tav tm="0">
                                          <p:val>
                                            <p:fltVal val="0"/>
                                          </p:val>
                                        </p:tav>
                                        <p:tav tm="100000">
                                          <p:val>
                                            <p:strVal val="#ppt_w"/>
                                          </p:val>
                                        </p:tav>
                                      </p:tavLst>
                                    </p:anim>
                                    <p:anim calcmode="lin" valueType="num">
                                      <p:cBhvr>
                                        <p:cTn id="119" dur="500" fill="hold"/>
                                        <p:tgtEl>
                                          <p:spTgt spid="44"/>
                                        </p:tgtEl>
                                        <p:attrNameLst>
                                          <p:attrName>ppt_h</p:attrName>
                                        </p:attrNameLst>
                                      </p:cBhvr>
                                      <p:tavLst>
                                        <p:tav tm="0">
                                          <p:val>
                                            <p:fltVal val="0"/>
                                          </p:val>
                                        </p:tav>
                                        <p:tav tm="100000">
                                          <p:val>
                                            <p:strVal val="#ppt_h"/>
                                          </p:val>
                                        </p:tav>
                                      </p:tavLst>
                                    </p:anim>
                                    <p:animEffect transition="in" filter="fade">
                                      <p:cBhvr>
                                        <p:cTn id="120" dur="500"/>
                                        <p:tgtEl>
                                          <p:spTgt spid="44"/>
                                        </p:tgtEl>
                                      </p:cBhvr>
                                    </p:animEffect>
                                  </p:childTnLst>
                                </p:cTn>
                              </p:par>
                            </p:childTnLst>
                          </p:cTn>
                        </p:par>
                        <p:par>
                          <p:cTn id="121" fill="hold">
                            <p:stCondLst>
                              <p:cond delay="3000"/>
                            </p:stCondLst>
                            <p:childTnLst>
                              <p:par>
                                <p:cTn id="122" presetID="53" presetClass="entr" presetSubtype="16" fill="hold" grpId="0" nodeType="afterEffect">
                                  <p:stCondLst>
                                    <p:cond delay="0"/>
                                  </p:stCondLst>
                                  <p:childTnLst>
                                    <p:set>
                                      <p:cBhvr>
                                        <p:cTn id="123" dur="1" fill="hold">
                                          <p:stCondLst>
                                            <p:cond delay="0"/>
                                          </p:stCondLst>
                                        </p:cTn>
                                        <p:tgtEl>
                                          <p:spTgt spid="45"/>
                                        </p:tgtEl>
                                        <p:attrNameLst>
                                          <p:attrName>style.visibility</p:attrName>
                                        </p:attrNameLst>
                                      </p:cBhvr>
                                      <p:to>
                                        <p:strVal val="visible"/>
                                      </p:to>
                                    </p:set>
                                    <p:anim calcmode="lin" valueType="num">
                                      <p:cBhvr>
                                        <p:cTn id="124" dur="500" fill="hold"/>
                                        <p:tgtEl>
                                          <p:spTgt spid="45"/>
                                        </p:tgtEl>
                                        <p:attrNameLst>
                                          <p:attrName>ppt_w</p:attrName>
                                        </p:attrNameLst>
                                      </p:cBhvr>
                                      <p:tavLst>
                                        <p:tav tm="0">
                                          <p:val>
                                            <p:fltVal val="0"/>
                                          </p:val>
                                        </p:tav>
                                        <p:tav tm="100000">
                                          <p:val>
                                            <p:strVal val="#ppt_w"/>
                                          </p:val>
                                        </p:tav>
                                      </p:tavLst>
                                    </p:anim>
                                    <p:anim calcmode="lin" valueType="num">
                                      <p:cBhvr>
                                        <p:cTn id="125" dur="500" fill="hold"/>
                                        <p:tgtEl>
                                          <p:spTgt spid="45"/>
                                        </p:tgtEl>
                                        <p:attrNameLst>
                                          <p:attrName>ppt_h</p:attrName>
                                        </p:attrNameLst>
                                      </p:cBhvr>
                                      <p:tavLst>
                                        <p:tav tm="0">
                                          <p:val>
                                            <p:fltVal val="0"/>
                                          </p:val>
                                        </p:tav>
                                        <p:tav tm="100000">
                                          <p:val>
                                            <p:strVal val="#ppt_h"/>
                                          </p:val>
                                        </p:tav>
                                      </p:tavLst>
                                    </p:anim>
                                    <p:animEffect transition="in" filter="fade">
                                      <p:cBhvr>
                                        <p:cTn id="126" dur="500"/>
                                        <p:tgtEl>
                                          <p:spTgt spid="45"/>
                                        </p:tgtEl>
                                      </p:cBhvr>
                                    </p:animEffect>
                                  </p:childTnLst>
                                </p:cTn>
                              </p:par>
                            </p:childTnLst>
                          </p:cTn>
                        </p:par>
                        <p:par>
                          <p:cTn id="127" fill="hold">
                            <p:stCondLst>
                              <p:cond delay="3500"/>
                            </p:stCondLst>
                            <p:childTnLst>
                              <p:par>
                                <p:cTn id="128" presetID="22" presetClass="entr" presetSubtype="1" fill="hold" nodeType="after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wipe(up)">
                                      <p:cBhvr>
                                        <p:cTn id="130" dur="500"/>
                                        <p:tgtEl>
                                          <p:spTgt spid="46"/>
                                        </p:tgtEl>
                                      </p:cBhvr>
                                    </p:animEffect>
                                  </p:childTnLst>
                                </p:cTn>
                              </p:par>
                            </p:childTnLst>
                          </p:cTn>
                        </p:par>
                        <p:par>
                          <p:cTn id="131" fill="hold">
                            <p:stCondLst>
                              <p:cond delay="4000"/>
                            </p:stCondLst>
                            <p:childTnLst>
                              <p:par>
                                <p:cTn id="132" presetID="53" presetClass="entr" presetSubtype="16" fill="hold" grpId="0" nodeType="afterEffect">
                                  <p:stCondLst>
                                    <p:cond delay="0"/>
                                  </p:stCondLst>
                                  <p:childTnLst>
                                    <p:set>
                                      <p:cBhvr>
                                        <p:cTn id="133" dur="1" fill="hold">
                                          <p:stCondLst>
                                            <p:cond delay="0"/>
                                          </p:stCondLst>
                                        </p:cTn>
                                        <p:tgtEl>
                                          <p:spTgt spid="47"/>
                                        </p:tgtEl>
                                        <p:attrNameLst>
                                          <p:attrName>style.visibility</p:attrName>
                                        </p:attrNameLst>
                                      </p:cBhvr>
                                      <p:to>
                                        <p:strVal val="visible"/>
                                      </p:to>
                                    </p:set>
                                    <p:anim calcmode="lin" valueType="num">
                                      <p:cBhvr>
                                        <p:cTn id="134" dur="500" fill="hold"/>
                                        <p:tgtEl>
                                          <p:spTgt spid="47"/>
                                        </p:tgtEl>
                                        <p:attrNameLst>
                                          <p:attrName>ppt_w</p:attrName>
                                        </p:attrNameLst>
                                      </p:cBhvr>
                                      <p:tavLst>
                                        <p:tav tm="0">
                                          <p:val>
                                            <p:fltVal val="0"/>
                                          </p:val>
                                        </p:tav>
                                        <p:tav tm="100000">
                                          <p:val>
                                            <p:strVal val="#ppt_w"/>
                                          </p:val>
                                        </p:tav>
                                      </p:tavLst>
                                    </p:anim>
                                    <p:anim calcmode="lin" valueType="num">
                                      <p:cBhvr>
                                        <p:cTn id="135" dur="500" fill="hold"/>
                                        <p:tgtEl>
                                          <p:spTgt spid="47"/>
                                        </p:tgtEl>
                                        <p:attrNameLst>
                                          <p:attrName>ppt_h</p:attrName>
                                        </p:attrNameLst>
                                      </p:cBhvr>
                                      <p:tavLst>
                                        <p:tav tm="0">
                                          <p:val>
                                            <p:fltVal val="0"/>
                                          </p:val>
                                        </p:tav>
                                        <p:tav tm="100000">
                                          <p:val>
                                            <p:strVal val="#ppt_h"/>
                                          </p:val>
                                        </p:tav>
                                      </p:tavLst>
                                    </p:anim>
                                    <p:animEffect transition="in" filter="fade">
                                      <p:cBhvr>
                                        <p:cTn id="136" dur="500"/>
                                        <p:tgtEl>
                                          <p:spTgt spid="47"/>
                                        </p:tgtEl>
                                      </p:cBhvr>
                                    </p:animEffect>
                                  </p:childTnLst>
                                </p:cTn>
                              </p:par>
                            </p:childTnLst>
                          </p:cTn>
                        </p:par>
                        <p:par>
                          <p:cTn id="137" fill="hold">
                            <p:stCondLst>
                              <p:cond delay="4500"/>
                            </p:stCondLst>
                            <p:childTnLst>
                              <p:par>
                                <p:cTn id="138" presetID="53" presetClass="entr" presetSubtype="16" fill="hold" grpId="0" nodeType="afterEffect">
                                  <p:stCondLst>
                                    <p:cond delay="0"/>
                                  </p:stCondLst>
                                  <p:childTnLst>
                                    <p:set>
                                      <p:cBhvr>
                                        <p:cTn id="139" dur="1" fill="hold">
                                          <p:stCondLst>
                                            <p:cond delay="0"/>
                                          </p:stCondLst>
                                        </p:cTn>
                                        <p:tgtEl>
                                          <p:spTgt spid="42"/>
                                        </p:tgtEl>
                                        <p:attrNameLst>
                                          <p:attrName>style.visibility</p:attrName>
                                        </p:attrNameLst>
                                      </p:cBhvr>
                                      <p:to>
                                        <p:strVal val="visible"/>
                                      </p:to>
                                    </p:set>
                                    <p:anim calcmode="lin" valueType="num">
                                      <p:cBhvr>
                                        <p:cTn id="140" dur="500" fill="hold"/>
                                        <p:tgtEl>
                                          <p:spTgt spid="42"/>
                                        </p:tgtEl>
                                        <p:attrNameLst>
                                          <p:attrName>ppt_w</p:attrName>
                                        </p:attrNameLst>
                                      </p:cBhvr>
                                      <p:tavLst>
                                        <p:tav tm="0">
                                          <p:val>
                                            <p:fltVal val="0"/>
                                          </p:val>
                                        </p:tav>
                                        <p:tav tm="100000">
                                          <p:val>
                                            <p:strVal val="#ppt_w"/>
                                          </p:val>
                                        </p:tav>
                                      </p:tavLst>
                                    </p:anim>
                                    <p:anim calcmode="lin" valueType="num">
                                      <p:cBhvr>
                                        <p:cTn id="141" dur="500" fill="hold"/>
                                        <p:tgtEl>
                                          <p:spTgt spid="42"/>
                                        </p:tgtEl>
                                        <p:attrNameLst>
                                          <p:attrName>ppt_h</p:attrName>
                                        </p:attrNameLst>
                                      </p:cBhvr>
                                      <p:tavLst>
                                        <p:tav tm="0">
                                          <p:val>
                                            <p:fltVal val="0"/>
                                          </p:val>
                                        </p:tav>
                                        <p:tav tm="100000">
                                          <p:val>
                                            <p:strVal val="#ppt_h"/>
                                          </p:val>
                                        </p:tav>
                                      </p:tavLst>
                                    </p:anim>
                                    <p:animEffect transition="in" filter="fade">
                                      <p:cBhvr>
                                        <p:cTn id="142" dur="500"/>
                                        <p:tgtEl>
                                          <p:spTgt spid="42"/>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wipe(up)">
                                      <p:cBhvr>
                                        <p:cTn id="147" dur="1000"/>
                                        <p:tgtEl>
                                          <p:spTgt spid="48"/>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wipe(up)">
                                      <p:cBhvr>
                                        <p:cTn id="152" dur="1500"/>
                                        <p:tgtEl>
                                          <p:spTgt spid="49"/>
                                        </p:tgtEl>
                                      </p:cBhvr>
                                    </p:animEffect>
                                  </p:childTnLst>
                                </p:cTn>
                              </p:par>
                            </p:childTnLst>
                          </p:cTn>
                        </p:par>
                        <p:par>
                          <p:cTn id="153" fill="hold">
                            <p:stCondLst>
                              <p:cond delay="1500"/>
                            </p:stCondLst>
                            <p:childTnLst>
                              <p:par>
                                <p:cTn id="154" presetID="22" presetClass="entr" presetSubtype="8" fill="hold" nodeType="afterEffect">
                                  <p:stCondLst>
                                    <p:cond delay="0"/>
                                  </p:stCondLst>
                                  <p:childTnLst>
                                    <p:set>
                                      <p:cBhvr>
                                        <p:cTn id="155" dur="1" fill="hold">
                                          <p:stCondLst>
                                            <p:cond delay="0"/>
                                          </p:stCondLst>
                                        </p:cTn>
                                        <p:tgtEl>
                                          <p:spTgt spid="50"/>
                                        </p:tgtEl>
                                        <p:attrNameLst>
                                          <p:attrName>style.visibility</p:attrName>
                                        </p:attrNameLst>
                                      </p:cBhvr>
                                      <p:to>
                                        <p:strVal val="visible"/>
                                      </p:to>
                                    </p:set>
                                    <p:animEffect transition="in" filter="wipe(left)">
                                      <p:cBhvr>
                                        <p:cTn id="156" dur="500"/>
                                        <p:tgtEl>
                                          <p:spTgt spid="50"/>
                                        </p:tgtEl>
                                      </p:cBhvr>
                                    </p:animEffect>
                                  </p:childTnLst>
                                </p:cTn>
                              </p:par>
                            </p:childTnLst>
                          </p:cTn>
                        </p:par>
                        <p:par>
                          <p:cTn id="157" fill="hold">
                            <p:stCondLst>
                              <p:cond delay="2000"/>
                            </p:stCondLst>
                            <p:childTnLst>
                              <p:par>
                                <p:cTn id="158" presetID="53" presetClass="entr" presetSubtype="16" fill="hold" grpId="0" nodeType="afterEffect">
                                  <p:stCondLst>
                                    <p:cond delay="0"/>
                                  </p:stCondLst>
                                  <p:childTnLst>
                                    <p:set>
                                      <p:cBhvr>
                                        <p:cTn id="159" dur="1" fill="hold">
                                          <p:stCondLst>
                                            <p:cond delay="0"/>
                                          </p:stCondLst>
                                        </p:cTn>
                                        <p:tgtEl>
                                          <p:spTgt spid="52"/>
                                        </p:tgtEl>
                                        <p:attrNameLst>
                                          <p:attrName>style.visibility</p:attrName>
                                        </p:attrNameLst>
                                      </p:cBhvr>
                                      <p:to>
                                        <p:strVal val="visible"/>
                                      </p:to>
                                    </p:set>
                                    <p:anim calcmode="lin" valueType="num">
                                      <p:cBhvr>
                                        <p:cTn id="160" dur="500" fill="hold"/>
                                        <p:tgtEl>
                                          <p:spTgt spid="52"/>
                                        </p:tgtEl>
                                        <p:attrNameLst>
                                          <p:attrName>ppt_w</p:attrName>
                                        </p:attrNameLst>
                                      </p:cBhvr>
                                      <p:tavLst>
                                        <p:tav tm="0">
                                          <p:val>
                                            <p:fltVal val="0"/>
                                          </p:val>
                                        </p:tav>
                                        <p:tav tm="100000">
                                          <p:val>
                                            <p:strVal val="#ppt_w"/>
                                          </p:val>
                                        </p:tav>
                                      </p:tavLst>
                                    </p:anim>
                                    <p:anim calcmode="lin" valueType="num">
                                      <p:cBhvr>
                                        <p:cTn id="161" dur="500" fill="hold"/>
                                        <p:tgtEl>
                                          <p:spTgt spid="52"/>
                                        </p:tgtEl>
                                        <p:attrNameLst>
                                          <p:attrName>ppt_h</p:attrName>
                                        </p:attrNameLst>
                                      </p:cBhvr>
                                      <p:tavLst>
                                        <p:tav tm="0">
                                          <p:val>
                                            <p:fltVal val="0"/>
                                          </p:val>
                                        </p:tav>
                                        <p:tav tm="100000">
                                          <p:val>
                                            <p:strVal val="#ppt_h"/>
                                          </p:val>
                                        </p:tav>
                                      </p:tavLst>
                                    </p:anim>
                                    <p:animEffect transition="in" filter="fade">
                                      <p:cBhvr>
                                        <p:cTn id="162" dur="500"/>
                                        <p:tgtEl>
                                          <p:spTgt spid="52"/>
                                        </p:tgtEl>
                                      </p:cBhvr>
                                    </p:animEffect>
                                  </p:childTnLst>
                                </p:cTn>
                              </p:par>
                            </p:childTnLst>
                          </p:cTn>
                        </p:par>
                        <p:par>
                          <p:cTn id="163" fill="hold">
                            <p:stCondLst>
                              <p:cond delay="2500"/>
                            </p:stCondLst>
                            <p:childTnLst>
                              <p:par>
                                <p:cTn id="164" presetID="53" presetClass="entr" presetSubtype="16" fill="hold" grpId="0" nodeType="afterEffect">
                                  <p:stCondLst>
                                    <p:cond delay="0"/>
                                  </p:stCondLst>
                                  <p:childTnLst>
                                    <p:set>
                                      <p:cBhvr>
                                        <p:cTn id="165" dur="1" fill="hold">
                                          <p:stCondLst>
                                            <p:cond delay="0"/>
                                          </p:stCondLst>
                                        </p:cTn>
                                        <p:tgtEl>
                                          <p:spTgt spid="53"/>
                                        </p:tgtEl>
                                        <p:attrNameLst>
                                          <p:attrName>style.visibility</p:attrName>
                                        </p:attrNameLst>
                                      </p:cBhvr>
                                      <p:to>
                                        <p:strVal val="visible"/>
                                      </p:to>
                                    </p:set>
                                    <p:anim calcmode="lin" valueType="num">
                                      <p:cBhvr>
                                        <p:cTn id="166" dur="500" fill="hold"/>
                                        <p:tgtEl>
                                          <p:spTgt spid="53"/>
                                        </p:tgtEl>
                                        <p:attrNameLst>
                                          <p:attrName>ppt_w</p:attrName>
                                        </p:attrNameLst>
                                      </p:cBhvr>
                                      <p:tavLst>
                                        <p:tav tm="0">
                                          <p:val>
                                            <p:fltVal val="0"/>
                                          </p:val>
                                        </p:tav>
                                        <p:tav tm="100000">
                                          <p:val>
                                            <p:strVal val="#ppt_w"/>
                                          </p:val>
                                        </p:tav>
                                      </p:tavLst>
                                    </p:anim>
                                    <p:anim calcmode="lin" valueType="num">
                                      <p:cBhvr>
                                        <p:cTn id="167" dur="500" fill="hold"/>
                                        <p:tgtEl>
                                          <p:spTgt spid="53"/>
                                        </p:tgtEl>
                                        <p:attrNameLst>
                                          <p:attrName>ppt_h</p:attrName>
                                        </p:attrNameLst>
                                      </p:cBhvr>
                                      <p:tavLst>
                                        <p:tav tm="0">
                                          <p:val>
                                            <p:fltVal val="0"/>
                                          </p:val>
                                        </p:tav>
                                        <p:tav tm="100000">
                                          <p:val>
                                            <p:strVal val="#ppt_h"/>
                                          </p:val>
                                        </p:tav>
                                      </p:tavLst>
                                    </p:anim>
                                    <p:animEffect transition="in" filter="fade">
                                      <p:cBhvr>
                                        <p:cTn id="168" dur="500"/>
                                        <p:tgtEl>
                                          <p:spTgt spid="53"/>
                                        </p:tgtEl>
                                      </p:cBhvr>
                                    </p:animEffect>
                                  </p:childTnLst>
                                </p:cTn>
                              </p:par>
                            </p:childTnLst>
                          </p:cTn>
                        </p:par>
                        <p:par>
                          <p:cTn id="169" fill="hold">
                            <p:stCondLst>
                              <p:cond delay="3000"/>
                            </p:stCondLst>
                            <p:childTnLst>
                              <p:par>
                                <p:cTn id="170" presetID="53" presetClass="entr" presetSubtype="16" fill="hold" grpId="0" nodeType="afterEffect">
                                  <p:stCondLst>
                                    <p:cond delay="0"/>
                                  </p:stCondLst>
                                  <p:childTnLst>
                                    <p:set>
                                      <p:cBhvr>
                                        <p:cTn id="171" dur="1" fill="hold">
                                          <p:stCondLst>
                                            <p:cond delay="0"/>
                                          </p:stCondLst>
                                        </p:cTn>
                                        <p:tgtEl>
                                          <p:spTgt spid="54"/>
                                        </p:tgtEl>
                                        <p:attrNameLst>
                                          <p:attrName>style.visibility</p:attrName>
                                        </p:attrNameLst>
                                      </p:cBhvr>
                                      <p:to>
                                        <p:strVal val="visible"/>
                                      </p:to>
                                    </p:set>
                                    <p:anim calcmode="lin" valueType="num">
                                      <p:cBhvr>
                                        <p:cTn id="172" dur="500" fill="hold"/>
                                        <p:tgtEl>
                                          <p:spTgt spid="54"/>
                                        </p:tgtEl>
                                        <p:attrNameLst>
                                          <p:attrName>ppt_w</p:attrName>
                                        </p:attrNameLst>
                                      </p:cBhvr>
                                      <p:tavLst>
                                        <p:tav tm="0">
                                          <p:val>
                                            <p:fltVal val="0"/>
                                          </p:val>
                                        </p:tav>
                                        <p:tav tm="100000">
                                          <p:val>
                                            <p:strVal val="#ppt_w"/>
                                          </p:val>
                                        </p:tav>
                                      </p:tavLst>
                                    </p:anim>
                                    <p:anim calcmode="lin" valueType="num">
                                      <p:cBhvr>
                                        <p:cTn id="173" dur="500" fill="hold"/>
                                        <p:tgtEl>
                                          <p:spTgt spid="54"/>
                                        </p:tgtEl>
                                        <p:attrNameLst>
                                          <p:attrName>ppt_h</p:attrName>
                                        </p:attrNameLst>
                                      </p:cBhvr>
                                      <p:tavLst>
                                        <p:tav tm="0">
                                          <p:val>
                                            <p:fltVal val="0"/>
                                          </p:val>
                                        </p:tav>
                                        <p:tav tm="100000">
                                          <p:val>
                                            <p:strVal val="#ppt_h"/>
                                          </p:val>
                                        </p:tav>
                                      </p:tavLst>
                                    </p:anim>
                                    <p:animEffect transition="in" filter="fade">
                                      <p:cBhvr>
                                        <p:cTn id="174" dur="500"/>
                                        <p:tgtEl>
                                          <p:spTgt spid="54"/>
                                        </p:tgtEl>
                                      </p:cBhvr>
                                    </p:animEffect>
                                  </p:childTnLst>
                                </p:cTn>
                              </p:par>
                            </p:childTnLst>
                          </p:cTn>
                        </p:par>
                        <p:par>
                          <p:cTn id="175" fill="hold">
                            <p:stCondLst>
                              <p:cond delay="3500"/>
                            </p:stCondLst>
                            <p:childTnLst>
                              <p:par>
                                <p:cTn id="176" presetID="22" presetClass="entr" presetSubtype="4" fill="hold" nodeType="afterEffect">
                                  <p:stCondLst>
                                    <p:cond delay="0"/>
                                  </p:stCondLst>
                                  <p:childTnLst>
                                    <p:set>
                                      <p:cBhvr>
                                        <p:cTn id="177" dur="1" fill="hold">
                                          <p:stCondLst>
                                            <p:cond delay="0"/>
                                          </p:stCondLst>
                                        </p:cTn>
                                        <p:tgtEl>
                                          <p:spTgt spid="55"/>
                                        </p:tgtEl>
                                        <p:attrNameLst>
                                          <p:attrName>style.visibility</p:attrName>
                                        </p:attrNameLst>
                                      </p:cBhvr>
                                      <p:to>
                                        <p:strVal val="visible"/>
                                      </p:to>
                                    </p:set>
                                    <p:animEffect transition="in" filter="wipe(down)">
                                      <p:cBhvr>
                                        <p:cTn id="178" dur="500"/>
                                        <p:tgtEl>
                                          <p:spTgt spid="55"/>
                                        </p:tgtEl>
                                      </p:cBhvr>
                                    </p:animEffect>
                                  </p:childTnLst>
                                </p:cTn>
                              </p:par>
                            </p:childTnLst>
                          </p:cTn>
                        </p:par>
                        <p:par>
                          <p:cTn id="179" fill="hold">
                            <p:stCondLst>
                              <p:cond delay="4000"/>
                            </p:stCondLst>
                            <p:childTnLst>
                              <p:par>
                                <p:cTn id="180" presetID="53" presetClass="entr" presetSubtype="16" fill="hold" grpId="0" nodeType="afterEffect">
                                  <p:stCondLst>
                                    <p:cond delay="0"/>
                                  </p:stCondLst>
                                  <p:childTnLst>
                                    <p:set>
                                      <p:cBhvr>
                                        <p:cTn id="181" dur="1" fill="hold">
                                          <p:stCondLst>
                                            <p:cond delay="0"/>
                                          </p:stCondLst>
                                        </p:cTn>
                                        <p:tgtEl>
                                          <p:spTgt spid="56"/>
                                        </p:tgtEl>
                                        <p:attrNameLst>
                                          <p:attrName>style.visibility</p:attrName>
                                        </p:attrNameLst>
                                      </p:cBhvr>
                                      <p:to>
                                        <p:strVal val="visible"/>
                                      </p:to>
                                    </p:set>
                                    <p:anim calcmode="lin" valueType="num">
                                      <p:cBhvr>
                                        <p:cTn id="182" dur="500" fill="hold"/>
                                        <p:tgtEl>
                                          <p:spTgt spid="56"/>
                                        </p:tgtEl>
                                        <p:attrNameLst>
                                          <p:attrName>ppt_w</p:attrName>
                                        </p:attrNameLst>
                                      </p:cBhvr>
                                      <p:tavLst>
                                        <p:tav tm="0">
                                          <p:val>
                                            <p:fltVal val="0"/>
                                          </p:val>
                                        </p:tav>
                                        <p:tav tm="100000">
                                          <p:val>
                                            <p:strVal val="#ppt_w"/>
                                          </p:val>
                                        </p:tav>
                                      </p:tavLst>
                                    </p:anim>
                                    <p:anim calcmode="lin" valueType="num">
                                      <p:cBhvr>
                                        <p:cTn id="183" dur="500" fill="hold"/>
                                        <p:tgtEl>
                                          <p:spTgt spid="56"/>
                                        </p:tgtEl>
                                        <p:attrNameLst>
                                          <p:attrName>ppt_h</p:attrName>
                                        </p:attrNameLst>
                                      </p:cBhvr>
                                      <p:tavLst>
                                        <p:tav tm="0">
                                          <p:val>
                                            <p:fltVal val="0"/>
                                          </p:val>
                                        </p:tav>
                                        <p:tav tm="100000">
                                          <p:val>
                                            <p:strVal val="#ppt_h"/>
                                          </p:val>
                                        </p:tav>
                                      </p:tavLst>
                                    </p:anim>
                                    <p:animEffect transition="in" filter="fade">
                                      <p:cBhvr>
                                        <p:cTn id="184" dur="500"/>
                                        <p:tgtEl>
                                          <p:spTgt spid="56"/>
                                        </p:tgtEl>
                                      </p:cBhvr>
                                    </p:animEffect>
                                  </p:childTnLst>
                                </p:cTn>
                              </p:par>
                            </p:childTnLst>
                          </p:cTn>
                        </p:par>
                        <p:par>
                          <p:cTn id="185" fill="hold">
                            <p:stCondLst>
                              <p:cond delay="4500"/>
                            </p:stCondLst>
                            <p:childTnLst>
                              <p:par>
                                <p:cTn id="186" presetID="53" presetClass="entr" presetSubtype="16" fill="hold" grpId="0" nodeType="afterEffect">
                                  <p:stCondLst>
                                    <p:cond delay="0"/>
                                  </p:stCondLst>
                                  <p:childTnLst>
                                    <p:set>
                                      <p:cBhvr>
                                        <p:cTn id="187" dur="1" fill="hold">
                                          <p:stCondLst>
                                            <p:cond delay="0"/>
                                          </p:stCondLst>
                                        </p:cTn>
                                        <p:tgtEl>
                                          <p:spTgt spid="51"/>
                                        </p:tgtEl>
                                        <p:attrNameLst>
                                          <p:attrName>style.visibility</p:attrName>
                                        </p:attrNameLst>
                                      </p:cBhvr>
                                      <p:to>
                                        <p:strVal val="visible"/>
                                      </p:to>
                                    </p:set>
                                    <p:anim calcmode="lin" valueType="num">
                                      <p:cBhvr>
                                        <p:cTn id="188" dur="500" fill="hold"/>
                                        <p:tgtEl>
                                          <p:spTgt spid="51"/>
                                        </p:tgtEl>
                                        <p:attrNameLst>
                                          <p:attrName>ppt_w</p:attrName>
                                        </p:attrNameLst>
                                      </p:cBhvr>
                                      <p:tavLst>
                                        <p:tav tm="0">
                                          <p:val>
                                            <p:fltVal val="0"/>
                                          </p:val>
                                        </p:tav>
                                        <p:tav tm="100000">
                                          <p:val>
                                            <p:strVal val="#ppt_w"/>
                                          </p:val>
                                        </p:tav>
                                      </p:tavLst>
                                    </p:anim>
                                    <p:anim calcmode="lin" valueType="num">
                                      <p:cBhvr>
                                        <p:cTn id="189" dur="500" fill="hold"/>
                                        <p:tgtEl>
                                          <p:spTgt spid="51"/>
                                        </p:tgtEl>
                                        <p:attrNameLst>
                                          <p:attrName>ppt_h</p:attrName>
                                        </p:attrNameLst>
                                      </p:cBhvr>
                                      <p:tavLst>
                                        <p:tav tm="0">
                                          <p:val>
                                            <p:fltVal val="0"/>
                                          </p:val>
                                        </p:tav>
                                        <p:tav tm="100000">
                                          <p:val>
                                            <p:strVal val="#ppt_h"/>
                                          </p:val>
                                        </p:tav>
                                      </p:tavLst>
                                    </p:anim>
                                    <p:animEffect transition="in" filter="fade">
                                      <p:cBhvr>
                                        <p:cTn id="190" dur="500"/>
                                        <p:tgtEl>
                                          <p:spTgt spid="51"/>
                                        </p:tgtEl>
                                      </p:cBhvr>
                                    </p:animEffect>
                                  </p:childTnLst>
                                </p:cTn>
                              </p:par>
                            </p:childTnLst>
                          </p:cTn>
                        </p:par>
                      </p:childTnLst>
                    </p:cTn>
                  </p:par>
                  <p:par>
                    <p:cTn id="191" fill="hold">
                      <p:stCondLst>
                        <p:cond delay="indefinite"/>
                      </p:stCondLst>
                      <p:childTnLst>
                        <p:par>
                          <p:cTn id="192" fill="hold">
                            <p:stCondLst>
                              <p:cond delay="0"/>
                            </p:stCondLst>
                            <p:childTnLst>
                              <p:par>
                                <p:cTn id="193" presetID="42" presetClass="entr" presetSubtype="0" fill="hold" grpId="0" nodeType="clickEffect">
                                  <p:stCondLst>
                                    <p:cond delay="0"/>
                                  </p:stCondLst>
                                  <p:childTnLst>
                                    <p:set>
                                      <p:cBhvr>
                                        <p:cTn id="194" dur="1" fill="hold">
                                          <p:stCondLst>
                                            <p:cond delay="0"/>
                                          </p:stCondLst>
                                        </p:cTn>
                                        <p:tgtEl>
                                          <p:spTgt spid="57"/>
                                        </p:tgtEl>
                                        <p:attrNameLst>
                                          <p:attrName>style.visibility</p:attrName>
                                        </p:attrNameLst>
                                      </p:cBhvr>
                                      <p:to>
                                        <p:strVal val="visible"/>
                                      </p:to>
                                    </p:set>
                                    <p:animEffect transition="in" filter="fade">
                                      <p:cBhvr>
                                        <p:cTn id="195" dur="1000"/>
                                        <p:tgtEl>
                                          <p:spTgt spid="57"/>
                                        </p:tgtEl>
                                      </p:cBhvr>
                                    </p:animEffect>
                                    <p:anim calcmode="lin" valueType="num">
                                      <p:cBhvr>
                                        <p:cTn id="196" dur="1000" fill="hold"/>
                                        <p:tgtEl>
                                          <p:spTgt spid="57"/>
                                        </p:tgtEl>
                                        <p:attrNameLst>
                                          <p:attrName>ppt_x</p:attrName>
                                        </p:attrNameLst>
                                      </p:cBhvr>
                                      <p:tavLst>
                                        <p:tav tm="0">
                                          <p:val>
                                            <p:strVal val="#ppt_x"/>
                                          </p:val>
                                        </p:tav>
                                        <p:tav tm="100000">
                                          <p:val>
                                            <p:strVal val="#ppt_x"/>
                                          </p:val>
                                        </p:tav>
                                      </p:tavLst>
                                    </p:anim>
                                    <p:anim calcmode="lin" valueType="num">
                                      <p:cBhvr>
                                        <p:cTn id="197"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7" presetClass="entr" presetSubtype="0" fill="hold" grpId="0" nodeType="clickEffect">
                                  <p:stCondLst>
                                    <p:cond delay="0"/>
                                  </p:stCondLst>
                                  <p:childTnLst>
                                    <p:set>
                                      <p:cBhvr>
                                        <p:cTn id="201" dur="1" fill="hold">
                                          <p:stCondLst>
                                            <p:cond delay="0"/>
                                          </p:stCondLst>
                                        </p:cTn>
                                        <p:tgtEl>
                                          <p:spTgt spid="58"/>
                                        </p:tgtEl>
                                        <p:attrNameLst>
                                          <p:attrName>style.visibility</p:attrName>
                                        </p:attrNameLst>
                                      </p:cBhvr>
                                      <p:to>
                                        <p:strVal val="visible"/>
                                      </p:to>
                                    </p:set>
                                    <p:animEffect transition="in" filter="fade">
                                      <p:cBhvr>
                                        <p:cTn id="202" dur="1500"/>
                                        <p:tgtEl>
                                          <p:spTgt spid="58"/>
                                        </p:tgtEl>
                                      </p:cBhvr>
                                    </p:animEffect>
                                    <p:anim calcmode="lin" valueType="num">
                                      <p:cBhvr>
                                        <p:cTn id="203" dur="1500" fill="hold"/>
                                        <p:tgtEl>
                                          <p:spTgt spid="58"/>
                                        </p:tgtEl>
                                        <p:attrNameLst>
                                          <p:attrName>ppt_x</p:attrName>
                                        </p:attrNameLst>
                                      </p:cBhvr>
                                      <p:tavLst>
                                        <p:tav tm="0">
                                          <p:val>
                                            <p:strVal val="#ppt_x"/>
                                          </p:val>
                                        </p:tav>
                                        <p:tav tm="100000">
                                          <p:val>
                                            <p:strVal val="#ppt_x"/>
                                          </p:val>
                                        </p:tav>
                                      </p:tavLst>
                                    </p:anim>
                                    <p:anim calcmode="lin" valueType="num">
                                      <p:cBhvr>
                                        <p:cTn id="204" dur="15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59"/>
                                        </p:tgtEl>
                                        <p:attrNameLst>
                                          <p:attrName>style.visibility</p:attrName>
                                        </p:attrNameLst>
                                      </p:cBhvr>
                                      <p:to>
                                        <p:strVal val="visible"/>
                                      </p:to>
                                    </p:set>
                                    <p:animEffect transition="in" filter="wipe(left)">
                                      <p:cBhvr>
                                        <p:cTn id="20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1" grpId="0" animBg="1"/>
      <p:bldP spid="32" grpId="0"/>
      <p:bldP spid="33" grpId="0"/>
      <p:bldP spid="34" grpId="0" animBg="1"/>
      <p:bldP spid="35" grpId="0" animBg="1"/>
      <p:bldP spid="36" grpId="0" animBg="1"/>
      <p:bldP spid="37" grpId="0" animBg="1"/>
      <p:bldP spid="39" grpId="0" animBg="1"/>
      <p:bldP spid="40" grpId="0"/>
      <p:bldP spid="41" grpId="0"/>
      <p:bldP spid="42" grpId="0" animBg="1"/>
      <p:bldP spid="43" grpId="0" animBg="1"/>
      <p:bldP spid="44" grpId="0" animBg="1"/>
      <p:bldP spid="45" grpId="0" animBg="1"/>
      <p:bldP spid="47" grpId="0" animBg="1"/>
      <p:bldP spid="48" grpId="0"/>
      <p:bldP spid="49" grpId="0"/>
      <p:bldP spid="51" grpId="0" animBg="1"/>
      <p:bldP spid="52" grpId="0" animBg="1"/>
      <p:bldP spid="53" grpId="0" animBg="1"/>
      <p:bldP spid="54" grpId="0" animBg="1"/>
      <p:bldP spid="56" grpId="0" animBg="1"/>
      <p:bldP spid="57" grpId="0"/>
      <p:bldP spid="58"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3907634"/>
            <a:ext cx="7783798" cy="2569934"/>
          </a:xfrm>
          <a:prstGeom prst="rect">
            <a:avLst/>
          </a:prstGeom>
          <a:noFill/>
        </p:spPr>
        <p:txBody>
          <a:bodyPr wrap="square" rtlCol="1">
            <a:spAutoFit/>
          </a:bodyPr>
          <a:lstStyle/>
          <a:p>
            <a:pPr algn="r"/>
            <a:r>
              <a:rPr lang="fa-IR" sz="2300" dirty="0">
                <a:cs typeface="2  Nazanin" panose="00000400000000000000" pitchFamily="2" charset="-78"/>
              </a:rPr>
              <a:t>آهك ساختماني</a:t>
            </a:r>
          </a:p>
          <a:p>
            <a:pPr algn="r"/>
            <a:r>
              <a:rPr lang="fa-IR" sz="2300" dirty="0">
                <a:cs typeface="2  Nazanin" panose="00000400000000000000" pitchFamily="2" charset="-78"/>
              </a:rPr>
              <a:t> آهكي است كه بنا بر مشخصات شيميايي (خلـوص سـنگ آهـك)،</a:t>
            </a:r>
          </a:p>
          <a:p>
            <a:pPr algn="r"/>
            <a:r>
              <a:rPr lang="fa-IR" sz="2300" dirty="0">
                <a:cs typeface="2  Nazanin" panose="00000400000000000000" pitchFamily="2" charset="-78"/>
              </a:rPr>
              <a:t>فيزيكي و روش فرآوري (دما و نحوة پخت) براي مصارف ساختماني ويژه يا معمولي، به صورت آهك زنده يا شكفته كاربرد دارد.</a:t>
            </a:r>
          </a:p>
          <a:p>
            <a:pPr algn="r"/>
            <a:r>
              <a:rPr lang="fa-IR" sz="2300" dirty="0">
                <a:cs typeface="2  Nazanin" panose="00000400000000000000" pitchFamily="2" charset="-78"/>
              </a:rPr>
              <a:t> به طور كلي آهك واژهاي است عمـومي كـه بـراي شـكل هـاي مختلـف فيزيكي و شيميايي آهـك زنـده، آهـك هيدراتـه و آهـك هيدروليك،كـه ممكـن اسـت پركلسـيم، منيزيمي يا دولوميتي باشد به كار ميرود</a:t>
            </a:r>
          </a:p>
        </p:txBody>
      </p:sp>
      <p:pic>
        <p:nvPicPr>
          <p:cNvPr id="21" name="Picture 20">
            <a:extLst>
              <a:ext uri="{FF2B5EF4-FFF2-40B4-BE49-F238E27FC236}">
                <a16:creationId xmlns:a16="http://schemas.microsoft.com/office/drawing/2014/main" id="{1A920B28-5466-4DF1-8468-270495975CEE}"/>
              </a:ext>
            </a:extLst>
          </p:cNvPr>
          <p:cNvPicPr>
            <a:picLocks noChangeAspect="1"/>
          </p:cNvPicPr>
          <p:nvPr/>
        </p:nvPicPr>
        <p:blipFill rotWithShape="1">
          <a:blip r:embed="rId2">
            <a:extLst>
              <a:ext uri="{28A0092B-C50C-407E-A947-70E740481C1C}">
                <a14:useLocalDpi xmlns:a14="http://schemas.microsoft.com/office/drawing/2010/main" val="0"/>
              </a:ext>
            </a:extLst>
          </a:blip>
          <a:srcRect b="7938"/>
          <a:stretch/>
        </p:blipFill>
        <p:spPr>
          <a:xfrm>
            <a:off x="323657" y="3907634"/>
            <a:ext cx="3726836" cy="256993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C9E4C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82ADFB3C-052B-4F46-B1F9-532C7A841B48}"/>
              </a:ext>
            </a:extLst>
          </p:cNvPr>
          <p:cNvSpPr txBox="1"/>
          <p:nvPr/>
        </p:nvSpPr>
        <p:spPr>
          <a:xfrm>
            <a:off x="4490548" y="3190335"/>
            <a:ext cx="7440930" cy="3477875"/>
          </a:xfrm>
          <a:prstGeom prst="rect">
            <a:avLst/>
          </a:prstGeom>
          <a:noFill/>
        </p:spPr>
        <p:txBody>
          <a:bodyPr wrap="square" rtlCol="1">
            <a:spAutoFit/>
          </a:bodyPr>
          <a:lstStyle/>
          <a:p>
            <a:pPr algn="r"/>
            <a:r>
              <a:rPr lang="fa-IR" sz="2000" dirty="0">
                <a:cs typeface="2  Nazanin" panose="00000400000000000000" pitchFamily="2" charset="-78"/>
              </a:rPr>
              <a:t>آهك زنده يا آهك هوايي:  بخش عمدة آن اكسيد كلسيم يا اكسيد كلسيم همراه با اكسيد منيزيم است. اين آهك بسيار زود شكفته ميشود و در موقع شكفته شدن مقدار زيادي حرارت آزاد ميكند و آهك زنده در مجاورت هوا خود را ميگيرد و سفت ميشود</a:t>
            </a:r>
            <a:endParaRPr lang="en-US" sz="2000" dirty="0">
              <a:cs typeface="2  Nazanin" panose="00000400000000000000" pitchFamily="2" charset="-78"/>
            </a:endParaRPr>
          </a:p>
          <a:p>
            <a:pPr algn="r"/>
            <a:r>
              <a:rPr lang="fa-IR" sz="2000" dirty="0">
                <a:cs typeface="2  Nazanin" panose="00000400000000000000" pitchFamily="2" charset="-78"/>
              </a:rPr>
              <a:t>آهك شكفته يا آهك هيدراته: پودر خشكي است كه از تركيب اكسيد كلسيم بـا آب</a:t>
            </a:r>
          </a:p>
          <a:p>
            <a:pPr algn="r"/>
            <a:r>
              <a:rPr lang="fa-IR" sz="2000" dirty="0">
                <a:cs typeface="2  Nazanin" panose="00000400000000000000" pitchFamily="2" charset="-78"/>
              </a:rPr>
              <a:t>به دست ميآيد. آهـك شكفته دي اكسيدكربن موجود در هوا را جذب ميكند و به سنگ آهك تبديل ميشود. </a:t>
            </a:r>
          </a:p>
          <a:p>
            <a:pPr algn="r"/>
            <a:r>
              <a:rPr lang="fa-IR" sz="2000" dirty="0">
                <a:cs typeface="2  Nazanin" panose="00000400000000000000" pitchFamily="2" charset="-78"/>
              </a:rPr>
              <a:t>آهك هيدروليك هيدراته (آهك آبي): اين نوع آهك از كلسينه شـدن سـنگ آهـك</a:t>
            </a:r>
          </a:p>
          <a:p>
            <a:pPr algn="r"/>
            <a:r>
              <a:rPr lang="fa-IR" sz="2000" dirty="0">
                <a:cs typeface="2  Nazanin" panose="00000400000000000000" pitchFamily="2" charset="-78"/>
              </a:rPr>
              <a:t>حاوي سيليس و آلومين ساخته ميشود. به كندي شـكفته مـيشـود و افـزايش حجـم آن اندك است</a:t>
            </a:r>
            <a:endParaRPr lang="en-US" sz="2000" dirty="0">
              <a:cs typeface="2  Nazanin" panose="00000400000000000000" pitchFamily="2" charset="-78"/>
            </a:endParaRPr>
          </a:p>
          <a:p>
            <a:pPr algn="r"/>
            <a:r>
              <a:rPr lang="fa-IR" sz="2000" dirty="0">
                <a:cs typeface="2  Nazanin" panose="00000400000000000000" pitchFamily="2" charset="-78"/>
              </a:rPr>
              <a:t>آهك نيمه آبي: آهكي است. به تدريج شكفته ميشود و حجم آن افزايش كمي دارد. ماننـد آهـك آبـي در زيـر آب گرفته و سفت ميشود، ولي مقاومت آن كمتر از آهك آبي است</a:t>
            </a:r>
          </a:p>
        </p:txBody>
      </p:sp>
      <p:pic>
        <p:nvPicPr>
          <p:cNvPr id="22" name="Picture 21">
            <a:extLst>
              <a:ext uri="{FF2B5EF4-FFF2-40B4-BE49-F238E27FC236}">
                <a16:creationId xmlns:a16="http://schemas.microsoft.com/office/drawing/2014/main" id="{749804DA-5D11-43CC-AAFA-A11EB41F4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90" y="3647910"/>
            <a:ext cx="4431141" cy="1949702"/>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48" y="9738"/>
            <a:ext cx="12192000" cy="7550727"/>
            <a:chOff x="0" y="0"/>
            <a:chExt cx="12192000" cy="7550727"/>
          </a:xfrm>
          <a:solidFill>
            <a:srgbClr val="87BB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cxnSp>
        <p:nvCxnSpPr>
          <p:cNvPr id="23" name="Straight Connector 22">
            <a:extLst>
              <a:ext uri="{FF2B5EF4-FFF2-40B4-BE49-F238E27FC236}">
                <a16:creationId xmlns:a16="http://schemas.microsoft.com/office/drawing/2014/main" id="{998C3032-9198-4948-8ACE-B7F6AE9CE810}"/>
              </a:ext>
            </a:extLst>
          </p:cNvPr>
          <p:cNvCxnSpPr>
            <a:cxnSpLocks/>
          </p:cNvCxnSpPr>
          <p:nvPr/>
        </p:nvCxnSpPr>
        <p:spPr>
          <a:xfrm>
            <a:off x="4769555" y="4154303"/>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192DAF-5DBB-4B50-80A7-963CDC95A7FC}"/>
              </a:ext>
            </a:extLst>
          </p:cNvPr>
          <p:cNvCxnSpPr>
            <a:cxnSpLocks/>
            <a:endCxn id="35" idx="2"/>
          </p:cNvCxnSpPr>
          <p:nvPr/>
        </p:nvCxnSpPr>
        <p:spPr>
          <a:xfrm>
            <a:off x="1625600" y="4165599"/>
            <a:ext cx="2929466"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A3938012-B4D9-4BF7-82F7-8AB8CF6712DE}"/>
              </a:ext>
            </a:extLst>
          </p:cNvPr>
          <p:cNvSpPr/>
          <p:nvPr/>
        </p:nvSpPr>
        <p:spPr>
          <a:xfrm>
            <a:off x="893585" y="3527246"/>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cxnSp>
        <p:nvCxnSpPr>
          <p:cNvPr id="26" name="Straight Connector 25">
            <a:extLst>
              <a:ext uri="{FF2B5EF4-FFF2-40B4-BE49-F238E27FC236}">
                <a16:creationId xmlns:a16="http://schemas.microsoft.com/office/drawing/2014/main" id="{03C69ACE-7853-491F-85A4-723CA2D7849D}"/>
              </a:ext>
            </a:extLst>
          </p:cNvPr>
          <p:cNvCxnSpPr/>
          <p:nvPr/>
        </p:nvCxnSpPr>
        <p:spPr>
          <a:xfrm>
            <a:off x="0" y="4165600"/>
            <a:ext cx="151271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Flowchart: Connector 26">
            <a:extLst>
              <a:ext uri="{FF2B5EF4-FFF2-40B4-BE49-F238E27FC236}">
                <a16:creationId xmlns:a16="http://schemas.microsoft.com/office/drawing/2014/main" id="{C589F9D3-7A9C-4952-B230-5354AFDA2E82}"/>
              </a:ext>
            </a:extLst>
          </p:cNvPr>
          <p:cNvSpPr/>
          <p:nvPr/>
        </p:nvSpPr>
        <p:spPr>
          <a:xfrm>
            <a:off x="1411111" y="4052711"/>
            <a:ext cx="214489" cy="225777"/>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8" name="Circle: Hollow 27">
            <a:extLst>
              <a:ext uri="{FF2B5EF4-FFF2-40B4-BE49-F238E27FC236}">
                <a16:creationId xmlns:a16="http://schemas.microsoft.com/office/drawing/2014/main" id="{FC32175D-0752-474B-867D-B114514F00C8}"/>
              </a:ext>
            </a:extLst>
          </p:cNvPr>
          <p:cNvSpPr/>
          <p:nvPr/>
        </p:nvSpPr>
        <p:spPr>
          <a:xfrm>
            <a:off x="1200855" y="3846821"/>
            <a:ext cx="623711" cy="637557"/>
          </a:xfrm>
          <a:prstGeom prst="donut">
            <a:avLst>
              <a:gd name="adj" fmla="val 6690"/>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29" name="Circle: Hollow 28">
            <a:extLst>
              <a:ext uri="{FF2B5EF4-FFF2-40B4-BE49-F238E27FC236}">
                <a16:creationId xmlns:a16="http://schemas.microsoft.com/office/drawing/2014/main" id="{437FB37D-2C85-4F07-8C33-D03F74CF3092}"/>
              </a:ext>
            </a:extLst>
          </p:cNvPr>
          <p:cNvSpPr/>
          <p:nvPr/>
        </p:nvSpPr>
        <p:spPr>
          <a:xfrm>
            <a:off x="1019524" y="3684475"/>
            <a:ext cx="986367" cy="962246"/>
          </a:xfrm>
          <a:prstGeom prst="donut">
            <a:avLst>
              <a:gd name="adj" fmla="val 199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0" name="Straight Connector 29">
            <a:extLst>
              <a:ext uri="{FF2B5EF4-FFF2-40B4-BE49-F238E27FC236}">
                <a16:creationId xmlns:a16="http://schemas.microsoft.com/office/drawing/2014/main" id="{7AABECF7-5CD0-4E83-910A-B36B9B9D8D33}"/>
              </a:ext>
            </a:extLst>
          </p:cNvPr>
          <p:cNvCxnSpPr>
            <a:cxnSpLocks/>
          </p:cNvCxnSpPr>
          <p:nvPr/>
        </p:nvCxnSpPr>
        <p:spPr>
          <a:xfrm flipV="1">
            <a:off x="1512710" y="4278490"/>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1" name="Flowchart: Connector 30">
            <a:extLst>
              <a:ext uri="{FF2B5EF4-FFF2-40B4-BE49-F238E27FC236}">
                <a16:creationId xmlns:a16="http://schemas.microsoft.com/office/drawing/2014/main" id="{0B60C47E-C5A3-4B24-A6D6-E29F84997A6D}"/>
              </a:ext>
            </a:extLst>
          </p:cNvPr>
          <p:cNvSpPr/>
          <p:nvPr/>
        </p:nvSpPr>
        <p:spPr>
          <a:xfrm>
            <a:off x="1428394" y="5442303"/>
            <a:ext cx="168625" cy="166642"/>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2" name="TextBox 31">
            <a:extLst>
              <a:ext uri="{FF2B5EF4-FFF2-40B4-BE49-F238E27FC236}">
                <a16:creationId xmlns:a16="http://schemas.microsoft.com/office/drawing/2014/main" id="{CB1703D9-112E-4597-8344-885F9EA8AB70}"/>
              </a:ext>
            </a:extLst>
          </p:cNvPr>
          <p:cNvSpPr txBox="1"/>
          <p:nvPr/>
        </p:nvSpPr>
        <p:spPr>
          <a:xfrm>
            <a:off x="361239" y="306870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هیدرولیکی</a:t>
            </a:r>
          </a:p>
        </p:txBody>
      </p:sp>
      <p:sp>
        <p:nvSpPr>
          <p:cNvPr id="33" name="TextBox 32">
            <a:extLst>
              <a:ext uri="{FF2B5EF4-FFF2-40B4-BE49-F238E27FC236}">
                <a16:creationId xmlns:a16="http://schemas.microsoft.com/office/drawing/2014/main" id="{E43A01F6-76AC-4FFA-AEA4-36EDFB9341DF}"/>
              </a:ext>
            </a:extLst>
          </p:cNvPr>
          <p:cNvSpPr txBox="1"/>
          <p:nvPr/>
        </p:nvSpPr>
        <p:spPr>
          <a:xfrm>
            <a:off x="359476" y="5608945"/>
            <a:ext cx="2302933" cy="923330"/>
          </a:xfrm>
          <a:prstGeom prst="rect">
            <a:avLst/>
          </a:prstGeom>
          <a:noFill/>
        </p:spPr>
        <p:txBody>
          <a:bodyPr wrap="square" rtlCol="1">
            <a:spAutoFit/>
          </a:bodyPr>
          <a:lstStyle/>
          <a:p>
            <a:pPr algn="r"/>
            <a:r>
              <a:rPr lang="fa-IR" dirty="0">
                <a:cs typeface="2  Nazanin" panose="00000400000000000000" pitchFamily="2" charset="-78"/>
              </a:rPr>
              <a:t>براي مصارف ساختماني و</a:t>
            </a:r>
          </a:p>
          <a:p>
            <a:pPr algn="r"/>
            <a:r>
              <a:rPr lang="fa-IR" dirty="0">
                <a:cs typeface="2  Nazanin" panose="00000400000000000000" pitchFamily="2" charset="-78"/>
              </a:rPr>
              <a:t>عمدتاً در اندودكاري ملات و افزودني اصلاح كننده بتن است</a:t>
            </a:r>
          </a:p>
        </p:txBody>
      </p:sp>
      <p:sp>
        <p:nvSpPr>
          <p:cNvPr id="34" name="Arc 33">
            <a:extLst>
              <a:ext uri="{FF2B5EF4-FFF2-40B4-BE49-F238E27FC236}">
                <a16:creationId xmlns:a16="http://schemas.microsoft.com/office/drawing/2014/main" id="{5EA03771-5463-4945-9F9A-D98D7876433D}"/>
              </a:ext>
            </a:extLst>
          </p:cNvPr>
          <p:cNvSpPr/>
          <p:nvPr/>
        </p:nvSpPr>
        <p:spPr>
          <a:xfrm rot="5158658">
            <a:off x="4037540" y="352724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35" name="Flowchart: Connector 34">
            <a:extLst>
              <a:ext uri="{FF2B5EF4-FFF2-40B4-BE49-F238E27FC236}">
                <a16:creationId xmlns:a16="http://schemas.microsoft.com/office/drawing/2014/main" id="{54055E10-C83B-465E-AEC6-9D22E8854DF2}"/>
              </a:ext>
            </a:extLst>
          </p:cNvPr>
          <p:cNvSpPr/>
          <p:nvPr/>
        </p:nvSpPr>
        <p:spPr>
          <a:xfrm>
            <a:off x="4555066" y="4052710"/>
            <a:ext cx="214489" cy="225777"/>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Circle: Hollow 35">
            <a:extLst>
              <a:ext uri="{FF2B5EF4-FFF2-40B4-BE49-F238E27FC236}">
                <a16:creationId xmlns:a16="http://schemas.microsoft.com/office/drawing/2014/main" id="{772B568C-4C27-403B-810E-6E46BDD1CFAC}"/>
              </a:ext>
            </a:extLst>
          </p:cNvPr>
          <p:cNvSpPr/>
          <p:nvPr/>
        </p:nvSpPr>
        <p:spPr>
          <a:xfrm>
            <a:off x="4344810" y="3846820"/>
            <a:ext cx="623711" cy="637557"/>
          </a:xfrm>
          <a:prstGeom prst="donut">
            <a:avLst>
              <a:gd name="adj" fmla="val 669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37" name="Circle: Hollow 36">
            <a:extLst>
              <a:ext uri="{FF2B5EF4-FFF2-40B4-BE49-F238E27FC236}">
                <a16:creationId xmlns:a16="http://schemas.microsoft.com/office/drawing/2014/main" id="{389AAB38-2FCC-4112-93EE-A5CCABB21582}"/>
              </a:ext>
            </a:extLst>
          </p:cNvPr>
          <p:cNvSpPr/>
          <p:nvPr/>
        </p:nvSpPr>
        <p:spPr>
          <a:xfrm>
            <a:off x="4163479"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8" name="Straight Connector 37">
            <a:extLst>
              <a:ext uri="{FF2B5EF4-FFF2-40B4-BE49-F238E27FC236}">
                <a16:creationId xmlns:a16="http://schemas.microsoft.com/office/drawing/2014/main" id="{2E6728AB-EB97-430D-A15A-72D6F576DA35}"/>
              </a:ext>
            </a:extLst>
          </p:cNvPr>
          <p:cNvCxnSpPr>
            <a:cxnSpLocks/>
          </p:cNvCxnSpPr>
          <p:nvPr/>
        </p:nvCxnSpPr>
        <p:spPr>
          <a:xfrm flipV="1">
            <a:off x="4656661" y="2888897"/>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Flowchart: Connector 38">
            <a:extLst>
              <a:ext uri="{FF2B5EF4-FFF2-40B4-BE49-F238E27FC236}">
                <a16:creationId xmlns:a16="http://schemas.microsoft.com/office/drawing/2014/main" id="{71A8F4D4-28AC-44D5-8B9B-3FE5279735AF}"/>
              </a:ext>
            </a:extLst>
          </p:cNvPr>
          <p:cNvSpPr/>
          <p:nvPr/>
        </p:nvSpPr>
        <p:spPr>
          <a:xfrm>
            <a:off x="4572702" y="2761501"/>
            <a:ext cx="168625" cy="166642"/>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0" name="TextBox 39">
            <a:extLst>
              <a:ext uri="{FF2B5EF4-FFF2-40B4-BE49-F238E27FC236}">
                <a16:creationId xmlns:a16="http://schemas.microsoft.com/office/drawing/2014/main" id="{32663892-2269-4A7E-9DDE-B8E56473F88B}"/>
              </a:ext>
            </a:extLst>
          </p:cNvPr>
          <p:cNvSpPr txBox="1"/>
          <p:nvPr/>
        </p:nvSpPr>
        <p:spPr>
          <a:xfrm>
            <a:off x="3504567" y="467016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پرداخت</a:t>
            </a:r>
          </a:p>
        </p:txBody>
      </p:sp>
      <p:sp>
        <p:nvSpPr>
          <p:cNvPr id="41" name="TextBox 40">
            <a:extLst>
              <a:ext uri="{FF2B5EF4-FFF2-40B4-BE49-F238E27FC236}">
                <a16:creationId xmlns:a16="http://schemas.microsoft.com/office/drawing/2014/main" id="{5186A525-B81C-4E91-ACFF-973CBC2952FA}"/>
              </a:ext>
            </a:extLst>
          </p:cNvPr>
          <p:cNvSpPr txBox="1"/>
          <p:nvPr/>
        </p:nvSpPr>
        <p:spPr>
          <a:xfrm>
            <a:off x="3385860" y="1883212"/>
            <a:ext cx="2302933" cy="1200329"/>
          </a:xfrm>
          <a:prstGeom prst="rect">
            <a:avLst/>
          </a:prstGeom>
          <a:noFill/>
        </p:spPr>
        <p:txBody>
          <a:bodyPr wrap="square" rtlCol="1">
            <a:spAutoFit/>
          </a:bodyPr>
          <a:lstStyle/>
          <a:p>
            <a:pPr algn="r"/>
            <a:r>
              <a:rPr lang="fa-IR" dirty="0">
                <a:cs typeface="2  Nazanin" panose="00000400000000000000" pitchFamily="2" charset="-78"/>
              </a:rPr>
              <a:t> در لايـة آسـتر، زيركـاري، روكـش پرداخت، ساخت ملات و مادة افزودني در بتن كاربرد دارد</a:t>
            </a:r>
          </a:p>
        </p:txBody>
      </p:sp>
      <p:sp>
        <p:nvSpPr>
          <p:cNvPr id="42" name="Arc 41">
            <a:extLst>
              <a:ext uri="{FF2B5EF4-FFF2-40B4-BE49-F238E27FC236}">
                <a16:creationId xmlns:a16="http://schemas.microsoft.com/office/drawing/2014/main" id="{5BEC991F-A497-4042-8C3A-B383FAEE70D3}"/>
              </a:ext>
            </a:extLst>
          </p:cNvPr>
          <p:cNvSpPr/>
          <p:nvPr/>
        </p:nvSpPr>
        <p:spPr>
          <a:xfrm>
            <a:off x="7021936" y="352724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43" name="Flowchart: Connector 42">
            <a:extLst>
              <a:ext uri="{FF2B5EF4-FFF2-40B4-BE49-F238E27FC236}">
                <a16:creationId xmlns:a16="http://schemas.microsoft.com/office/drawing/2014/main" id="{383123A7-4D4B-4730-86C9-961104A4D288}"/>
              </a:ext>
            </a:extLst>
          </p:cNvPr>
          <p:cNvSpPr/>
          <p:nvPr/>
        </p:nvSpPr>
        <p:spPr>
          <a:xfrm>
            <a:off x="7539462" y="4052710"/>
            <a:ext cx="214489" cy="225777"/>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Circle: Hollow 43">
            <a:extLst>
              <a:ext uri="{FF2B5EF4-FFF2-40B4-BE49-F238E27FC236}">
                <a16:creationId xmlns:a16="http://schemas.microsoft.com/office/drawing/2014/main" id="{4D7B5875-ACB5-42C0-A4D6-2E3F55F94FE7}"/>
              </a:ext>
            </a:extLst>
          </p:cNvPr>
          <p:cNvSpPr/>
          <p:nvPr/>
        </p:nvSpPr>
        <p:spPr>
          <a:xfrm>
            <a:off x="7329206" y="3846820"/>
            <a:ext cx="623711" cy="637557"/>
          </a:xfrm>
          <a:prstGeom prst="donut">
            <a:avLst>
              <a:gd name="adj" fmla="val 6690"/>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45" name="Circle: Hollow 44">
            <a:extLst>
              <a:ext uri="{FF2B5EF4-FFF2-40B4-BE49-F238E27FC236}">
                <a16:creationId xmlns:a16="http://schemas.microsoft.com/office/drawing/2014/main" id="{3A81106B-3D87-437D-AFE4-5FF31C945D36}"/>
              </a:ext>
            </a:extLst>
          </p:cNvPr>
          <p:cNvSpPr/>
          <p:nvPr/>
        </p:nvSpPr>
        <p:spPr>
          <a:xfrm>
            <a:off x="7147875"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46" name="Straight Connector 45">
            <a:extLst>
              <a:ext uri="{FF2B5EF4-FFF2-40B4-BE49-F238E27FC236}">
                <a16:creationId xmlns:a16="http://schemas.microsoft.com/office/drawing/2014/main" id="{CE93D38D-D795-4385-BEC8-E6AA4664D001}"/>
              </a:ext>
            </a:extLst>
          </p:cNvPr>
          <p:cNvCxnSpPr>
            <a:cxnSpLocks/>
          </p:cNvCxnSpPr>
          <p:nvPr/>
        </p:nvCxnSpPr>
        <p:spPr>
          <a:xfrm flipV="1">
            <a:off x="7641061" y="4278489"/>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7" name="Flowchart: Connector 46">
            <a:extLst>
              <a:ext uri="{FF2B5EF4-FFF2-40B4-BE49-F238E27FC236}">
                <a16:creationId xmlns:a16="http://schemas.microsoft.com/office/drawing/2014/main" id="{48A981AB-0478-4F95-94C0-3071F93AB92F}"/>
              </a:ext>
            </a:extLst>
          </p:cNvPr>
          <p:cNvSpPr/>
          <p:nvPr/>
        </p:nvSpPr>
        <p:spPr>
          <a:xfrm>
            <a:off x="7556745" y="5442302"/>
            <a:ext cx="168625" cy="166642"/>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BBC64B3B-FF96-4A8E-82AE-E3EC2DC15477}"/>
              </a:ext>
            </a:extLst>
          </p:cNvPr>
          <p:cNvSpPr txBox="1"/>
          <p:nvPr/>
        </p:nvSpPr>
        <p:spPr>
          <a:xfrm>
            <a:off x="6489590" y="3018665"/>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بنایی</a:t>
            </a:r>
          </a:p>
        </p:txBody>
      </p:sp>
      <p:sp>
        <p:nvSpPr>
          <p:cNvPr id="49" name="TextBox 48">
            <a:extLst>
              <a:ext uri="{FF2B5EF4-FFF2-40B4-BE49-F238E27FC236}">
                <a16:creationId xmlns:a16="http://schemas.microsoft.com/office/drawing/2014/main" id="{DA621A48-B9C5-4327-A7F9-D8FF722AF5F5}"/>
              </a:ext>
            </a:extLst>
          </p:cNvPr>
          <p:cNvSpPr txBox="1"/>
          <p:nvPr/>
        </p:nvSpPr>
        <p:spPr>
          <a:xfrm>
            <a:off x="6381533" y="5704885"/>
            <a:ext cx="2519045" cy="923330"/>
          </a:xfrm>
          <a:prstGeom prst="rect">
            <a:avLst/>
          </a:prstGeom>
          <a:noFill/>
        </p:spPr>
        <p:txBody>
          <a:bodyPr wrap="square" rtlCol="1">
            <a:spAutoFit/>
          </a:bodyPr>
          <a:lstStyle/>
          <a:p>
            <a:pPr algn="r"/>
            <a:r>
              <a:rPr lang="fa-IR" dirty="0">
                <a:cs typeface="2  Nazanin" panose="00000400000000000000" pitchFamily="2" charset="-78"/>
              </a:rPr>
              <a:t>اين آهك بر چهـار نـوع هيدراتـه معمـولي بـراي مصارف بنايي است</a:t>
            </a:r>
            <a:r>
              <a:rPr lang="en-US" dirty="0">
                <a:cs typeface="2  Nazanin" panose="00000400000000000000" pitchFamily="2" charset="-78"/>
              </a:rPr>
              <a:t> </a:t>
            </a:r>
            <a:endParaRPr lang="fa-IR" dirty="0">
              <a:cs typeface="2  Nazanin" panose="00000400000000000000" pitchFamily="2" charset="-78"/>
            </a:endParaRPr>
          </a:p>
        </p:txBody>
      </p:sp>
      <p:cxnSp>
        <p:nvCxnSpPr>
          <p:cNvPr id="50" name="Straight Connector 49">
            <a:extLst>
              <a:ext uri="{FF2B5EF4-FFF2-40B4-BE49-F238E27FC236}">
                <a16:creationId xmlns:a16="http://schemas.microsoft.com/office/drawing/2014/main" id="{456A77C0-2057-4780-9DC9-E8961238DE13}"/>
              </a:ext>
            </a:extLst>
          </p:cNvPr>
          <p:cNvCxnSpPr>
            <a:cxnSpLocks/>
          </p:cNvCxnSpPr>
          <p:nvPr/>
        </p:nvCxnSpPr>
        <p:spPr>
          <a:xfrm>
            <a:off x="7725370" y="4165596"/>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1" name="Arc 50">
            <a:extLst>
              <a:ext uri="{FF2B5EF4-FFF2-40B4-BE49-F238E27FC236}">
                <a16:creationId xmlns:a16="http://schemas.microsoft.com/office/drawing/2014/main" id="{46278B94-746E-488E-850B-506F7CBA69FC}"/>
              </a:ext>
            </a:extLst>
          </p:cNvPr>
          <p:cNvSpPr/>
          <p:nvPr/>
        </p:nvSpPr>
        <p:spPr>
          <a:xfrm rot="5158658">
            <a:off x="9975991" y="3515949"/>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52" name="Flowchart: Connector 51">
            <a:extLst>
              <a:ext uri="{FF2B5EF4-FFF2-40B4-BE49-F238E27FC236}">
                <a16:creationId xmlns:a16="http://schemas.microsoft.com/office/drawing/2014/main" id="{883AAC48-AD83-4B8A-B3F6-529B48780B8C}"/>
              </a:ext>
            </a:extLst>
          </p:cNvPr>
          <p:cNvSpPr/>
          <p:nvPr/>
        </p:nvSpPr>
        <p:spPr>
          <a:xfrm>
            <a:off x="10493517" y="4041414"/>
            <a:ext cx="214489" cy="225777"/>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3" name="Circle: Hollow 52">
            <a:extLst>
              <a:ext uri="{FF2B5EF4-FFF2-40B4-BE49-F238E27FC236}">
                <a16:creationId xmlns:a16="http://schemas.microsoft.com/office/drawing/2014/main" id="{0CFF10DD-DD7E-404B-9051-06EDDB960DC8}"/>
              </a:ext>
            </a:extLst>
          </p:cNvPr>
          <p:cNvSpPr/>
          <p:nvPr/>
        </p:nvSpPr>
        <p:spPr>
          <a:xfrm>
            <a:off x="10283261" y="3835524"/>
            <a:ext cx="623711" cy="637557"/>
          </a:xfrm>
          <a:prstGeom prst="donut">
            <a:avLst>
              <a:gd name="adj" fmla="val 66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54" name="Circle: Hollow 53">
            <a:extLst>
              <a:ext uri="{FF2B5EF4-FFF2-40B4-BE49-F238E27FC236}">
                <a16:creationId xmlns:a16="http://schemas.microsoft.com/office/drawing/2014/main" id="{85CE0F99-827C-495A-9F39-C464AFC27C77}"/>
              </a:ext>
            </a:extLst>
          </p:cNvPr>
          <p:cNvSpPr/>
          <p:nvPr/>
        </p:nvSpPr>
        <p:spPr>
          <a:xfrm>
            <a:off x="10101930" y="3673178"/>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55" name="Straight Connector 54">
            <a:extLst>
              <a:ext uri="{FF2B5EF4-FFF2-40B4-BE49-F238E27FC236}">
                <a16:creationId xmlns:a16="http://schemas.microsoft.com/office/drawing/2014/main" id="{A47C44D2-0E2C-48D8-A995-721DDC6CD4B5}"/>
              </a:ext>
            </a:extLst>
          </p:cNvPr>
          <p:cNvCxnSpPr>
            <a:cxnSpLocks/>
          </p:cNvCxnSpPr>
          <p:nvPr/>
        </p:nvCxnSpPr>
        <p:spPr>
          <a:xfrm flipV="1">
            <a:off x="10595112" y="2877601"/>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Flowchart: Connector 55">
            <a:extLst>
              <a:ext uri="{FF2B5EF4-FFF2-40B4-BE49-F238E27FC236}">
                <a16:creationId xmlns:a16="http://schemas.microsoft.com/office/drawing/2014/main" id="{65812D45-D157-4BAB-91C7-7B0977F31197}"/>
              </a:ext>
            </a:extLst>
          </p:cNvPr>
          <p:cNvSpPr/>
          <p:nvPr/>
        </p:nvSpPr>
        <p:spPr>
          <a:xfrm>
            <a:off x="10511153" y="2750205"/>
            <a:ext cx="168625" cy="166642"/>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7" name="TextBox 56">
            <a:extLst>
              <a:ext uri="{FF2B5EF4-FFF2-40B4-BE49-F238E27FC236}">
                <a16:creationId xmlns:a16="http://schemas.microsoft.com/office/drawing/2014/main" id="{76FA2B22-65E8-423D-B457-8B16AADE2871}"/>
              </a:ext>
            </a:extLst>
          </p:cNvPr>
          <p:cNvSpPr txBox="1"/>
          <p:nvPr/>
        </p:nvSpPr>
        <p:spPr>
          <a:xfrm>
            <a:off x="9485913" y="4648940"/>
            <a:ext cx="2302933" cy="369332"/>
          </a:xfrm>
          <a:prstGeom prst="rect">
            <a:avLst/>
          </a:prstGeom>
          <a:noFill/>
        </p:spPr>
        <p:txBody>
          <a:bodyPr wrap="square" rtlCol="1">
            <a:spAutoFit/>
          </a:bodyPr>
          <a:lstStyle/>
          <a:p>
            <a:pPr algn="ctr"/>
            <a:r>
              <a:rPr lang="fa-IR" b="1" dirty="0">
                <a:cs typeface="2  Nazanin" panose="00000400000000000000" pitchFamily="2" charset="-78"/>
              </a:rPr>
              <a:t>اهک زنده</a:t>
            </a:r>
          </a:p>
        </p:txBody>
      </p:sp>
      <p:sp>
        <p:nvSpPr>
          <p:cNvPr id="58" name="TextBox 57">
            <a:extLst>
              <a:ext uri="{FF2B5EF4-FFF2-40B4-BE49-F238E27FC236}">
                <a16:creationId xmlns:a16="http://schemas.microsoft.com/office/drawing/2014/main" id="{5C5F80CB-48DD-44EF-A54D-2B3D14289721}"/>
              </a:ext>
            </a:extLst>
          </p:cNvPr>
          <p:cNvSpPr txBox="1"/>
          <p:nvPr/>
        </p:nvSpPr>
        <p:spPr>
          <a:xfrm>
            <a:off x="9335589" y="1803574"/>
            <a:ext cx="2519045" cy="923330"/>
          </a:xfrm>
          <a:prstGeom prst="rect">
            <a:avLst/>
          </a:prstGeom>
          <a:noFill/>
        </p:spPr>
        <p:txBody>
          <a:bodyPr wrap="square" rtlCol="1">
            <a:spAutoFit/>
          </a:bodyPr>
          <a:lstStyle/>
          <a:p>
            <a:pPr algn="r"/>
            <a:r>
              <a:rPr lang="fa-IR" dirty="0">
                <a:cs typeface="2  Nazanin" panose="00000400000000000000" pitchFamily="2" charset="-78"/>
              </a:rPr>
              <a:t>اهك اگر زنده به سه گروه فعال، نيمه فعال و كـم فعـال تقسـيم مـيشـود.</a:t>
            </a:r>
          </a:p>
        </p:txBody>
      </p:sp>
      <p:cxnSp>
        <p:nvCxnSpPr>
          <p:cNvPr id="59" name="Straight Connector 58">
            <a:extLst>
              <a:ext uri="{FF2B5EF4-FFF2-40B4-BE49-F238E27FC236}">
                <a16:creationId xmlns:a16="http://schemas.microsoft.com/office/drawing/2014/main" id="{56958883-3590-460A-89A2-48A1F8DA0F35}"/>
              </a:ext>
            </a:extLst>
          </p:cNvPr>
          <p:cNvCxnSpPr>
            <a:cxnSpLocks/>
          </p:cNvCxnSpPr>
          <p:nvPr/>
        </p:nvCxnSpPr>
        <p:spPr>
          <a:xfrm>
            <a:off x="10688947" y="4154300"/>
            <a:ext cx="1503053" cy="278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5A4D828-C5F6-4A28-804D-9AB280CE04AD}"/>
              </a:ext>
            </a:extLst>
          </p:cNvPr>
          <p:cNvGrpSpPr/>
          <p:nvPr/>
        </p:nvGrpSpPr>
        <p:grpSpPr>
          <a:xfrm>
            <a:off x="0" y="3463"/>
            <a:ext cx="12192000" cy="7550727"/>
            <a:chOff x="0" y="0"/>
            <a:chExt cx="12192000" cy="7550727"/>
          </a:xfrm>
          <a:solidFill>
            <a:srgbClr val="55828B"/>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0" name="TextBox 19">
            <a:extLst>
              <a:ext uri="{FF2B5EF4-FFF2-40B4-BE49-F238E27FC236}">
                <a16:creationId xmlns:a16="http://schemas.microsoft.com/office/drawing/2014/main" id="{CD9ECC79-3748-4D23-B7A7-A4F22A5708DD}"/>
              </a:ext>
            </a:extLst>
          </p:cNvPr>
          <p:cNvSpPr txBox="1"/>
          <p:nvPr/>
        </p:nvSpPr>
        <p:spPr>
          <a:xfrm>
            <a:off x="3554686" y="1175046"/>
            <a:ext cx="8319413" cy="5909310"/>
          </a:xfrm>
          <a:prstGeom prst="rect">
            <a:avLst/>
          </a:prstGeom>
          <a:noFill/>
        </p:spPr>
        <p:txBody>
          <a:bodyPr wrap="square" rtlCol="1">
            <a:spAutoFit/>
          </a:bodyPr>
          <a:lstStyle/>
          <a:p>
            <a:pPr algn="r"/>
            <a:r>
              <a:rPr lang="fa-IR" sz="2000" b="1" dirty="0">
                <a:cs typeface="2  Nazanin" panose="00000400000000000000" pitchFamily="2" charset="-78"/>
              </a:rPr>
              <a:t>فراورده های آهکی</a:t>
            </a:r>
          </a:p>
          <a:p>
            <a:pPr algn="r"/>
            <a:r>
              <a:rPr lang="fa-IR" sz="2000" dirty="0">
                <a:cs typeface="2  Nazanin" panose="00000400000000000000" pitchFamily="2" charset="-78"/>
              </a:rPr>
              <a:t> آجر ماسه آهكي</a:t>
            </a:r>
          </a:p>
          <a:p>
            <a:pPr algn="r"/>
            <a:r>
              <a:rPr lang="fa-IR" sz="2000" dirty="0">
                <a:cs typeface="2  Nazanin" panose="00000400000000000000" pitchFamily="2" charset="-78"/>
              </a:rPr>
              <a:t>بتن آهكي سبك</a:t>
            </a:r>
          </a:p>
          <a:p>
            <a:pPr algn="r"/>
            <a:r>
              <a:rPr lang="fa-IR" sz="2000" b="1" dirty="0">
                <a:cs typeface="2  Nazanin" panose="00000400000000000000" pitchFamily="2" charset="-78"/>
              </a:rPr>
              <a:t>ویژگی ها</a:t>
            </a:r>
          </a:p>
          <a:p>
            <a:pPr algn="r"/>
            <a:r>
              <a:rPr lang="fa-IR" sz="2000" dirty="0">
                <a:cs typeface="2  Nazanin" panose="00000400000000000000" pitchFamily="2" charset="-78"/>
              </a:rPr>
              <a:t>آهك بايد به صورت دوغاب مصرف شود</a:t>
            </a:r>
          </a:p>
          <a:p>
            <a:pPr algn="r"/>
            <a:r>
              <a:rPr lang="fa-IR" sz="2000" dirty="0">
                <a:cs typeface="2  Nazanin" panose="00000400000000000000" pitchFamily="2" charset="-78"/>
              </a:rPr>
              <a:t>آهك را بايد در جايي استفاده كرد كه هوا نمناك باشد</a:t>
            </a:r>
          </a:p>
          <a:p>
            <a:pPr algn="r"/>
            <a:r>
              <a:rPr lang="fa-IR" sz="2000" dirty="0">
                <a:cs typeface="2  Nazanin" panose="00000400000000000000" pitchFamily="2" charset="-78"/>
              </a:rPr>
              <a:t>آهك زنده قبل از شكفته شدن هرگز نبايد براي مصارف ساختماني مصرف گردد</a:t>
            </a:r>
            <a:endParaRPr lang="en-US" sz="2000" dirty="0">
              <a:cs typeface="2  Nazanin" panose="00000400000000000000" pitchFamily="2" charset="-78"/>
            </a:endParaRPr>
          </a:p>
          <a:p>
            <a:pPr algn="r"/>
            <a:r>
              <a:rPr lang="fa-IR" sz="2000" b="1" dirty="0">
                <a:cs typeface="2  Nazanin" panose="00000400000000000000" pitchFamily="2" charset="-78"/>
              </a:rPr>
              <a:t>آزمایش ها</a:t>
            </a:r>
            <a:endParaRPr lang="en-US" sz="2000" b="1" dirty="0">
              <a:cs typeface="2  Nazanin" panose="00000400000000000000" pitchFamily="2" charset="-78"/>
            </a:endParaRPr>
          </a:p>
          <a:p>
            <a:pPr algn="r"/>
            <a:r>
              <a:rPr lang="fa-IR" sz="2000" dirty="0">
                <a:cs typeface="2  Nazanin" panose="00000400000000000000" pitchFamily="2" charset="-78"/>
              </a:rPr>
              <a:t>ازمايش هاي شيميايي آهك زنده، آهك هيدراته و سنگ آهـک اندازهگيري اكسيد سيليسيم و مواد نامحلول، اندازهگيري مجموع اكسيدهاي آلومينيم، آهن، فسفر، تيتانيوم و منگنز، اندازهگيري اکسيدهاي كلسيم، منيزيم، استرانسيم، تـري اكسـيد گـوگرد، افـت سـرخ شـدن در 1000 درجـه سلسيوس، تعيين رطوبت آزاد در سنگ آهـك و آهـك هيدراتـه، تعيـين فسفر، می باشد</a:t>
            </a:r>
            <a:endParaRPr lang="en-US" sz="2000" dirty="0">
              <a:cs typeface="2  Nazanin" panose="00000400000000000000" pitchFamily="2" charset="-78"/>
            </a:endParaRPr>
          </a:p>
          <a:p>
            <a:pPr algn="r"/>
            <a:endParaRPr lang="en-US" sz="2000" dirty="0">
              <a:cs typeface="2  Nazanin" panose="00000400000000000000" pitchFamily="2" charset="-78"/>
            </a:endParaRPr>
          </a:p>
          <a:p>
            <a:pPr algn="r"/>
            <a:r>
              <a:rPr lang="fa-IR" sz="2000" dirty="0">
                <a:cs typeface="2  Nazanin" panose="00000400000000000000" pitchFamily="2" charset="-78"/>
              </a:rPr>
              <a:t>آزمايش هاي فيزيكي آهك زنده، آهك هيدراته و سنگ آهك تعيين باقيمانده آهـك زنده، سرعت شكفتن آهك زنده، دانه بندي آهك زنده، آهك هيدراته و سنگ آهك، تعيـين چگـالي ظاهري آزاد آهك هيدراته، پودر آهك زنده و سنگ آهك، چگالي ظاهري متـراكم آهـك هيدراتـه، پودر سنگ آهـك، دانـه بنـدي پـودر سـنگ آهـك، غلظت استاندارد خميـر آهـك هيدراتـه، شـكلپ پذيري خمير آهك هيدراته، انبساط اتوكلاو آهك هيدراتـه، قابليـت آب نگهـداري آهـك هيدراتـه،می باشد</a:t>
            </a:r>
          </a:p>
          <a:p>
            <a:pPr algn="r"/>
            <a:r>
              <a:rPr lang="en-US" dirty="0">
                <a:cs typeface="2  Nazanin" panose="00000400000000000000" pitchFamily="2" charset="-78"/>
              </a:rPr>
              <a:t> </a:t>
            </a:r>
            <a:endParaRPr lang="fa-IR" dirty="0">
              <a:cs typeface="2  Nazanin" panose="00000400000000000000" pitchFamily="2" charset="-78"/>
            </a:endParaRPr>
          </a:p>
        </p:txBody>
      </p:sp>
      <p:pic>
        <p:nvPicPr>
          <p:cNvPr id="61" name="Picture 60">
            <a:extLst>
              <a:ext uri="{FF2B5EF4-FFF2-40B4-BE49-F238E27FC236}">
                <a16:creationId xmlns:a16="http://schemas.microsoft.com/office/drawing/2014/main" id="{D257472B-906A-4A30-A099-1D219EDDFA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7810" y="4460187"/>
            <a:ext cx="3434779" cy="1947912"/>
          </a:xfrm>
          <a:prstGeom prst="rect">
            <a:avLst/>
          </a:prstGeom>
        </p:spPr>
      </p:pic>
      <p:pic>
        <p:nvPicPr>
          <p:cNvPr id="63" name="Picture 62">
            <a:extLst>
              <a:ext uri="{FF2B5EF4-FFF2-40B4-BE49-F238E27FC236}">
                <a16:creationId xmlns:a16="http://schemas.microsoft.com/office/drawing/2014/main" id="{B6CCE329-5E02-4D9F-913F-19CA3535EA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7208" y="1853226"/>
            <a:ext cx="2009775" cy="2276475"/>
          </a:xfrm>
          <a:prstGeom prst="rect">
            <a:avLst/>
          </a:prstGeom>
        </p:spPr>
      </p:pic>
      <p:pic>
        <p:nvPicPr>
          <p:cNvPr id="65" name="Picture 64">
            <a:extLst>
              <a:ext uri="{FF2B5EF4-FFF2-40B4-BE49-F238E27FC236}">
                <a16:creationId xmlns:a16="http://schemas.microsoft.com/office/drawing/2014/main" id="{020C5E2A-7BE1-4ACD-A867-E23E6ADF83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33924" y="1441979"/>
            <a:ext cx="1847850" cy="2466975"/>
          </a:xfrm>
          <a:prstGeom prst="rect">
            <a:avLst/>
          </a:prstGeom>
        </p:spPr>
      </p:pic>
      <p:grpSp>
        <p:nvGrpSpPr>
          <p:cNvPr id="16" name="Group 15">
            <a:extLst>
              <a:ext uri="{FF2B5EF4-FFF2-40B4-BE49-F238E27FC236}">
                <a16:creationId xmlns:a16="http://schemas.microsoft.com/office/drawing/2014/main" id="{F5CD2D5A-83F7-4113-8244-4BCEF4D825AB}"/>
              </a:ext>
            </a:extLst>
          </p:cNvPr>
          <p:cNvGrpSpPr/>
          <p:nvPr/>
        </p:nvGrpSpPr>
        <p:grpSpPr>
          <a:xfrm>
            <a:off x="0" y="-5691226"/>
            <a:ext cx="12192000" cy="7550727"/>
            <a:chOff x="0" y="0"/>
            <a:chExt cx="12192000" cy="7550727"/>
          </a:xfrm>
          <a:solidFill>
            <a:srgbClr val="3B6064"/>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64" name="Group 63">
            <a:extLst>
              <a:ext uri="{FF2B5EF4-FFF2-40B4-BE49-F238E27FC236}">
                <a16:creationId xmlns:a16="http://schemas.microsoft.com/office/drawing/2014/main" id="{FECAE011-9C46-4FA4-B980-EBF5E5D15890}"/>
              </a:ext>
            </a:extLst>
          </p:cNvPr>
          <p:cNvGrpSpPr/>
          <p:nvPr/>
        </p:nvGrpSpPr>
        <p:grpSpPr>
          <a:xfrm>
            <a:off x="16" y="-6434789"/>
            <a:ext cx="12192000" cy="7550727"/>
            <a:chOff x="0" y="0"/>
            <a:chExt cx="12192000" cy="7550727"/>
          </a:xfrm>
          <a:solidFill>
            <a:srgbClr val="364958"/>
          </a:solidFill>
        </p:grpSpPr>
        <p:sp>
          <p:nvSpPr>
            <p:cNvPr id="66" name="Rectangle 65">
              <a:extLst>
                <a:ext uri="{FF2B5EF4-FFF2-40B4-BE49-F238E27FC236}">
                  <a16:creationId xmlns:a16="http://schemas.microsoft.com/office/drawing/2014/main" id="{96256511-C995-4134-BEAF-A06BA07008D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67" name="Rectangle: Top Corners Rounded 66">
              <a:extLst>
                <a:ext uri="{FF2B5EF4-FFF2-40B4-BE49-F238E27FC236}">
                  <a16:creationId xmlns:a16="http://schemas.microsoft.com/office/drawing/2014/main" id="{D57E4FBC-8070-48B8-9307-A51451CD10E5}"/>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8" name="TextBox 67">
              <a:extLst>
                <a:ext uri="{FF2B5EF4-FFF2-40B4-BE49-F238E27FC236}">
                  <a16:creationId xmlns:a16="http://schemas.microsoft.com/office/drawing/2014/main" id="{F5E9C7B1-24B4-4EE0-ACB1-640FB2F8D4B2}"/>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Tree>
    <p:extLst>
      <p:ext uri="{BB962C8B-B14F-4D97-AF65-F5344CB8AC3E}">
        <p14:creationId xmlns:p14="http://schemas.microsoft.com/office/powerpoint/2010/main" val="34819872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fltVal val="0"/>
                                          </p:val>
                                        </p:tav>
                                        <p:tav tm="100000">
                                          <p:val>
                                            <p:strVal val="#ppt_w"/>
                                          </p:val>
                                        </p:tav>
                                      </p:tavLst>
                                    </p:anim>
                                    <p:anim calcmode="lin" valueType="num">
                                      <p:cBhvr>
                                        <p:cTn id="12" dur="500" fill="hold"/>
                                        <p:tgtEl>
                                          <p:spTgt spid="27"/>
                                        </p:tgtEl>
                                        <p:attrNameLst>
                                          <p:attrName>ppt_h</p:attrName>
                                        </p:attrNameLst>
                                      </p:cBhvr>
                                      <p:tavLst>
                                        <p:tav tm="0">
                                          <p:val>
                                            <p:fltVal val="0"/>
                                          </p:val>
                                        </p:tav>
                                        <p:tav tm="100000">
                                          <p:val>
                                            <p:strVal val="#ppt_h"/>
                                          </p:val>
                                        </p:tav>
                                      </p:tavLst>
                                    </p:anim>
                                    <p:animEffect transition="in" filter="fade">
                                      <p:cBhvr>
                                        <p:cTn id="13" dur="500"/>
                                        <p:tgtEl>
                                          <p:spTgt spid="2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500" fill="hold"/>
                                        <p:tgtEl>
                                          <p:spTgt spid="28"/>
                                        </p:tgtEl>
                                        <p:attrNameLst>
                                          <p:attrName>ppt_w</p:attrName>
                                        </p:attrNameLst>
                                      </p:cBhvr>
                                      <p:tavLst>
                                        <p:tav tm="0">
                                          <p:val>
                                            <p:fltVal val="0"/>
                                          </p:val>
                                        </p:tav>
                                        <p:tav tm="100000">
                                          <p:val>
                                            <p:strVal val="#ppt_w"/>
                                          </p:val>
                                        </p:tav>
                                      </p:tavLst>
                                    </p:anim>
                                    <p:anim calcmode="lin" valueType="num">
                                      <p:cBhvr>
                                        <p:cTn id="18" dur="500" fill="hold"/>
                                        <p:tgtEl>
                                          <p:spTgt spid="28"/>
                                        </p:tgtEl>
                                        <p:attrNameLst>
                                          <p:attrName>ppt_h</p:attrName>
                                        </p:attrNameLst>
                                      </p:cBhvr>
                                      <p:tavLst>
                                        <p:tav tm="0">
                                          <p:val>
                                            <p:fltVal val="0"/>
                                          </p:val>
                                        </p:tav>
                                        <p:tav tm="100000">
                                          <p:val>
                                            <p:strVal val="#ppt_h"/>
                                          </p:val>
                                        </p:tav>
                                      </p:tavLst>
                                    </p:anim>
                                    <p:animEffect transition="in" filter="fade">
                                      <p:cBhvr>
                                        <p:cTn id="19" dur="500"/>
                                        <p:tgtEl>
                                          <p:spTgt spid="28"/>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up)">
                                      <p:cBhvr>
                                        <p:cTn id="29" dur="500"/>
                                        <p:tgtEl>
                                          <p:spTgt spid="30"/>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500" fill="hold"/>
                                        <p:tgtEl>
                                          <p:spTgt spid="31"/>
                                        </p:tgtEl>
                                        <p:attrNameLst>
                                          <p:attrName>ppt_w</p:attrName>
                                        </p:attrNameLst>
                                      </p:cBhvr>
                                      <p:tavLst>
                                        <p:tav tm="0">
                                          <p:val>
                                            <p:fltVal val="0"/>
                                          </p:val>
                                        </p:tav>
                                        <p:tav tm="100000">
                                          <p:val>
                                            <p:strVal val="#ppt_w"/>
                                          </p:val>
                                        </p:tav>
                                      </p:tavLst>
                                    </p:anim>
                                    <p:anim calcmode="lin" valueType="num">
                                      <p:cBhvr>
                                        <p:cTn id="34" dur="500" fill="hold"/>
                                        <p:tgtEl>
                                          <p:spTgt spid="31"/>
                                        </p:tgtEl>
                                        <p:attrNameLst>
                                          <p:attrName>ppt_h</p:attrName>
                                        </p:attrNameLst>
                                      </p:cBhvr>
                                      <p:tavLst>
                                        <p:tav tm="0">
                                          <p:val>
                                            <p:fltVal val="0"/>
                                          </p:val>
                                        </p:tav>
                                        <p:tav tm="100000">
                                          <p:val>
                                            <p:strVal val="#ppt_h"/>
                                          </p:val>
                                        </p:tav>
                                      </p:tavLst>
                                    </p:anim>
                                    <p:animEffect transition="in" filter="fade">
                                      <p:cBhvr>
                                        <p:cTn id="35" dur="500"/>
                                        <p:tgtEl>
                                          <p:spTgt spid="31"/>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par>
                                <p:cTn id="42" presetID="47"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1000"/>
                                        <p:tgtEl>
                                          <p:spTgt spid="32"/>
                                        </p:tgtEl>
                                      </p:cBhvr>
                                    </p:animEffect>
                                    <p:anim calcmode="lin" valueType="num">
                                      <p:cBhvr>
                                        <p:cTn id="45" dur="1000" fill="hold"/>
                                        <p:tgtEl>
                                          <p:spTgt spid="32"/>
                                        </p:tgtEl>
                                        <p:attrNameLst>
                                          <p:attrName>ppt_x</p:attrName>
                                        </p:attrNameLst>
                                      </p:cBhvr>
                                      <p:tavLst>
                                        <p:tav tm="0">
                                          <p:val>
                                            <p:strVal val="#ppt_x"/>
                                          </p:val>
                                        </p:tav>
                                        <p:tav tm="100000">
                                          <p:val>
                                            <p:strVal val="#ppt_x"/>
                                          </p:val>
                                        </p:tav>
                                      </p:tavLst>
                                    </p:anim>
                                    <p:anim calcmode="lin" valueType="num">
                                      <p:cBhvr>
                                        <p:cTn id="46" dur="1000" fill="hold"/>
                                        <p:tgtEl>
                                          <p:spTgt spid="32"/>
                                        </p:tgtEl>
                                        <p:attrNameLst>
                                          <p:attrName>ppt_y</p:attrName>
                                        </p:attrNameLst>
                                      </p:cBhvr>
                                      <p:tavLst>
                                        <p:tav tm="0">
                                          <p:val>
                                            <p:strVal val="#ppt_y-.1"/>
                                          </p:val>
                                        </p:tav>
                                        <p:tav tm="100000">
                                          <p:val>
                                            <p:strVal val="#ppt_y"/>
                                          </p:val>
                                        </p:tav>
                                      </p:tavLst>
                                    </p:anim>
                                  </p:childTnLst>
                                </p:cTn>
                              </p:par>
                            </p:childTnLst>
                          </p:cTn>
                        </p:par>
                        <p:par>
                          <p:cTn id="47" fill="hold">
                            <p:stCondLst>
                              <p:cond delay="4000"/>
                            </p:stCondLst>
                            <p:childTnLst>
                              <p:par>
                                <p:cTn id="48" presetID="42" presetClass="entr" presetSubtype="0" fill="hold" grpId="0" nodeType="after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1500"/>
                                        <p:tgtEl>
                                          <p:spTgt spid="33"/>
                                        </p:tgtEl>
                                      </p:cBhvr>
                                    </p:animEffect>
                                    <p:anim calcmode="lin" valueType="num">
                                      <p:cBhvr>
                                        <p:cTn id="51" dur="1500" fill="hold"/>
                                        <p:tgtEl>
                                          <p:spTgt spid="33"/>
                                        </p:tgtEl>
                                        <p:attrNameLst>
                                          <p:attrName>ppt_x</p:attrName>
                                        </p:attrNameLst>
                                      </p:cBhvr>
                                      <p:tavLst>
                                        <p:tav tm="0">
                                          <p:val>
                                            <p:strVal val="#ppt_x"/>
                                          </p:val>
                                        </p:tav>
                                        <p:tav tm="100000">
                                          <p:val>
                                            <p:strVal val="#ppt_x"/>
                                          </p:val>
                                        </p:tav>
                                      </p:tavLst>
                                    </p:anim>
                                    <p:anim calcmode="lin" valueType="num">
                                      <p:cBhvr>
                                        <p:cTn id="52" dur="1500" fill="hold"/>
                                        <p:tgtEl>
                                          <p:spTgt spid="33"/>
                                        </p:tgtEl>
                                        <p:attrNameLst>
                                          <p:attrName>ppt_y</p:attrName>
                                        </p:attrNameLst>
                                      </p:cBhvr>
                                      <p:tavLst>
                                        <p:tav tm="0">
                                          <p:val>
                                            <p:strVal val="#ppt_y+.1"/>
                                          </p:val>
                                        </p:tav>
                                        <p:tav tm="100000">
                                          <p:val>
                                            <p:strVal val="#ppt_y"/>
                                          </p:val>
                                        </p:tav>
                                      </p:tavLst>
                                    </p:anim>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par>
                          <p:cTn id="57" fill="hold">
                            <p:stCondLst>
                              <p:cond delay="6000"/>
                            </p:stCondLst>
                            <p:childTnLst>
                              <p:par>
                                <p:cTn id="58" presetID="53" presetClass="entr" presetSubtype="16" fill="hold" grpId="0" nodeType="afterEffect">
                                  <p:stCondLst>
                                    <p:cond delay="0"/>
                                  </p:stCondLst>
                                  <p:childTnLst>
                                    <p:set>
                                      <p:cBhvr>
                                        <p:cTn id="59" dur="1" fill="hold">
                                          <p:stCondLst>
                                            <p:cond delay="0"/>
                                          </p:stCondLst>
                                        </p:cTn>
                                        <p:tgtEl>
                                          <p:spTgt spid="35"/>
                                        </p:tgtEl>
                                        <p:attrNameLst>
                                          <p:attrName>style.visibility</p:attrName>
                                        </p:attrNameLst>
                                      </p:cBhvr>
                                      <p:to>
                                        <p:strVal val="visible"/>
                                      </p:to>
                                    </p:set>
                                    <p:anim calcmode="lin" valueType="num">
                                      <p:cBhvr>
                                        <p:cTn id="60" dur="500" fill="hold"/>
                                        <p:tgtEl>
                                          <p:spTgt spid="35"/>
                                        </p:tgtEl>
                                        <p:attrNameLst>
                                          <p:attrName>ppt_w</p:attrName>
                                        </p:attrNameLst>
                                      </p:cBhvr>
                                      <p:tavLst>
                                        <p:tav tm="0">
                                          <p:val>
                                            <p:fltVal val="0"/>
                                          </p:val>
                                        </p:tav>
                                        <p:tav tm="100000">
                                          <p:val>
                                            <p:strVal val="#ppt_w"/>
                                          </p:val>
                                        </p:tav>
                                      </p:tavLst>
                                    </p:anim>
                                    <p:anim calcmode="lin" valueType="num">
                                      <p:cBhvr>
                                        <p:cTn id="61" dur="500" fill="hold"/>
                                        <p:tgtEl>
                                          <p:spTgt spid="35"/>
                                        </p:tgtEl>
                                        <p:attrNameLst>
                                          <p:attrName>ppt_h</p:attrName>
                                        </p:attrNameLst>
                                      </p:cBhvr>
                                      <p:tavLst>
                                        <p:tav tm="0">
                                          <p:val>
                                            <p:fltVal val="0"/>
                                          </p:val>
                                        </p:tav>
                                        <p:tav tm="100000">
                                          <p:val>
                                            <p:strVal val="#ppt_h"/>
                                          </p:val>
                                        </p:tav>
                                      </p:tavLst>
                                    </p:anim>
                                    <p:animEffect transition="in" filter="fade">
                                      <p:cBhvr>
                                        <p:cTn id="62" dur="500"/>
                                        <p:tgtEl>
                                          <p:spTgt spid="35"/>
                                        </p:tgtEl>
                                      </p:cBhvr>
                                    </p:animEffect>
                                  </p:childTnLst>
                                </p:cTn>
                              </p:par>
                            </p:childTnLst>
                          </p:cTn>
                        </p:par>
                        <p:par>
                          <p:cTn id="63" fill="hold">
                            <p:stCondLst>
                              <p:cond delay="6500"/>
                            </p:stCondLst>
                            <p:childTnLst>
                              <p:par>
                                <p:cTn id="64" presetID="53" presetClass="entr" presetSubtype="16" fill="hold" grpId="0" nodeType="after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7000"/>
                            </p:stCondLst>
                            <p:childTnLst>
                              <p:par>
                                <p:cTn id="70" presetID="53" presetClass="entr" presetSubtype="16"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500" fill="hold"/>
                                        <p:tgtEl>
                                          <p:spTgt spid="37"/>
                                        </p:tgtEl>
                                        <p:attrNameLst>
                                          <p:attrName>ppt_w</p:attrName>
                                        </p:attrNameLst>
                                      </p:cBhvr>
                                      <p:tavLst>
                                        <p:tav tm="0">
                                          <p:val>
                                            <p:fltVal val="0"/>
                                          </p:val>
                                        </p:tav>
                                        <p:tav tm="100000">
                                          <p:val>
                                            <p:strVal val="#ppt_w"/>
                                          </p:val>
                                        </p:tav>
                                      </p:tavLst>
                                    </p:anim>
                                    <p:anim calcmode="lin" valueType="num">
                                      <p:cBhvr>
                                        <p:cTn id="73" dur="500" fill="hold"/>
                                        <p:tgtEl>
                                          <p:spTgt spid="37"/>
                                        </p:tgtEl>
                                        <p:attrNameLst>
                                          <p:attrName>ppt_h</p:attrName>
                                        </p:attrNameLst>
                                      </p:cBhvr>
                                      <p:tavLst>
                                        <p:tav tm="0">
                                          <p:val>
                                            <p:fltVal val="0"/>
                                          </p:val>
                                        </p:tav>
                                        <p:tav tm="100000">
                                          <p:val>
                                            <p:strVal val="#ppt_h"/>
                                          </p:val>
                                        </p:tav>
                                      </p:tavLst>
                                    </p:anim>
                                    <p:animEffect transition="in" filter="fade">
                                      <p:cBhvr>
                                        <p:cTn id="74" dur="500"/>
                                        <p:tgtEl>
                                          <p:spTgt spid="37"/>
                                        </p:tgtEl>
                                      </p:cBhvr>
                                    </p:animEffect>
                                  </p:childTnLst>
                                </p:cTn>
                              </p:par>
                            </p:childTnLst>
                          </p:cTn>
                        </p:par>
                        <p:par>
                          <p:cTn id="75" fill="hold">
                            <p:stCondLst>
                              <p:cond delay="7500"/>
                            </p:stCondLst>
                            <p:childTnLst>
                              <p:par>
                                <p:cTn id="76" presetID="22" presetClass="entr" presetSubtype="4" fill="hold"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down)">
                                      <p:cBhvr>
                                        <p:cTn id="78" dur="500"/>
                                        <p:tgtEl>
                                          <p:spTgt spid="38"/>
                                        </p:tgtEl>
                                      </p:cBhvr>
                                    </p:animEffect>
                                  </p:childTnLst>
                                </p:cTn>
                              </p:par>
                            </p:childTnLst>
                          </p:cTn>
                        </p:par>
                        <p:par>
                          <p:cTn id="79" fill="hold">
                            <p:stCondLst>
                              <p:cond delay="8000"/>
                            </p:stCondLst>
                            <p:childTnLst>
                              <p:par>
                                <p:cTn id="80" presetID="53" presetClass="entr" presetSubtype="16" fill="hold" grpId="0" nodeType="after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childTnLst>
                          </p:cTn>
                        </p:par>
                        <p:par>
                          <p:cTn id="85" fill="hold">
                            <p:stCondLst>
                              <p:cond delay="8500"/>
                            </p:stCondLst>
                            <p:childTnLst>
                              <p:par>
                                <p:cTn id="86" presetID="53" presetClass="entr" presetSubtype="16" fill="hold" grpId="0" nodeType="afterEffect">
                                  <p:stCondLst>
                                    <p:cond delay="0"/>
                                  </p:stCondLst>
                                  <p:childTnLst>
                                    <p:set>
                                      <p:cBhvr>
                                        <p:cTn id="87" dur="1" fill="hold">
                                          <p:stCondLst>
                                            <p:cond delay="0"/>
                                          </p:stCondLst>
                                        </p:cTn>
                                        <p:tgtEl>
                                          <p:spTgt spid="34"/>
                                        </p:tgtEl>
                                        <p:attrNameLst>
                                          <p:attrName>style.visibility</p:attrName>
                                        </p:attrNameLst>
                                      </p:cBhvr>
                                      <p:to>
                                        <p:strVal val="visible"/>
                                      </p:to>
                                    </p:set>
                                    <p:anim calcmode="lin" valueType="num">
                                      <p:cBhvr>
                                        <p:cTn id="88" dur="500" fill="hold"/>
                                        <p:tgtEl>
                                          <p:spTgt spid="34"/>
                                        </p:tgtEl>
                                        <p:attrNameLst>
                                          <p:attrName>ppt_w</p:attrName>
                                        </p:attrNameLst>
                                      </p:cBhvr>
                                      <p:tavLst>
                                        <p:tav tm="0">
                                          <p:val>
                                            <p:fltVal val="0"/>
                                          </p:val>
                                        </p:tav>
                                        <p:tav tm="100000">
                                          <p:val>
                                            <p:strVal val="#ppt_w"/>
                                          </p:val>
                                        </p:tav>
                                      </p:tavLst>
                                    </p:anim>
                                    <p:anim calcmode="lin" valueType="num">
                                      <p:cBhvr>
                                        <p:cTn id="89" dur="500" fill="hold"/>
                                        <p:tgtEl>
                                          <p:spTgt spid="34"/>
                                        </p:tgtEl>
                                        <p:attrNameLst>
                                          <p:attrName>ppt_h</p:attrName>
                                        </p:attrNameLst>
                                      </p:cBhvr>
                                      <p:tavLst>
                                        <p:tav tm="0">
                                          <p:val>
                                            <p:fltVal val="0"/>
                                          </p:val>
                                        </p:tav>
                                        <p:tav tm="100000">
                                          <p:val>
                                            <p:strVal val="#ppt_h"/>
                                          </p:val>
                                        </p:tav>
                                      </p:tavLst>
                                    </p:anim>
                                    <p:animEffect transition="in" filter="fade">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1000"/>
                                        <p:tgtEl>
                                          <p:spTgt spid="40"/>
                                        </p:tgtEl>
                                      </p:cBhvr>
                                    </p:animEffect>
                                    <p:anim calcmode="lin" valueType="num">
                                      <p:cBhvr>
                                        <p:cTn id="96" dur="1000" fill="hold"/>
                                        <p:tgtEl>
                                          <p:spTgt spid="40"/>
                                        </p:tgtEl>
                                        <p:attrNameLst>
                                          <p:attrName>ppt_x</p:attrName>
                                        </p:attrNameLst>
                                      </p:cBhvr>
                                      <p:tavLst>
                                        <p:tav tm="0">
                                          <p:val>
                                            <p:strVal val="#ppt_x"/>
                                          </p:val>
                                        </p:tav>
                                        <p:tav tm="100000">
                                          <p:val>
                                            <p:strVal val="#ppt_x"/>
                                          </p:val>
                                        </p:tav>
                                      </p:tavLst>
                                    </p:anim>
                                    <p:anim calcmode="lin" valueType="num">
                                      <p:cBhvr>
                                        <p:cTn id="9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7" presetClass="entr" presetSubtype="0" fill="hold" grpId="0" nodeType="click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1500"/>
                                        <p:tgtEl>
                                          <p:spTgt spid="41"/>
                                        </p:tgtEl>
                                      </p:cBhvr>
                                    </p:animEffect>
                                    <p:anim calcmode="lin" valueType="num">
                                      <p:cBhvr>
                                        <p:cTn id="103" dur="1500" fill="hold"/>
                                        <p:tgtEl>
                                          <p:spTgt spid="41"/>
                                        </p:tgtEl>
                                        <p:attrNameLst>
                                          <p:attrName>ppt_x</p:attrName>
                                        </p:attrNameLst>
                                      </p:cBhvr>
                                      <p:tavLst>
                                        <p:tav tm="0">
                                          <p:val>
                                            <p:strVal val="#ppt_x"/>
                                          </p:val>
                                        </p:tav>
                                        <p:tav tm="100000">
                                          <p:val>
                                            <p:strVal val="#ppt_x"/>
                                          </p:val>
                                        </p:tav>
                                      </p:tavLst>
                                    </p:anim>
                                    <p:anim calcmode="lin" valueType="num">
                                      <p:cBhvr>
                                        <p:cTn id="104" dur="1500" fill="hold"/>
                                        <p:tgtEl>
                                          <p:spTgt spid="41"/>
                                        </p:tgtEl>
                                        <p:attrNameLst>
                                          <p:attrName>ppt_y</p:attrName>
                                        </p:attrNameLst>
                                      </p:cBhvr>
                                      <p:tavLst>
                                        <p:tav tm="0">
                                          <p:val>
                                            <p:strVal val="#ppt_y-.1"/>
                                          </p:val>
                                        </p:tav>
                                        <p:tav tm="100000">
                                          <p:val>
                                            <p:strVal val="#ppt_y"/>
                                          </p:val>
                                        </p:tav>
                                      </p:tavLst>
                                    </p:anim>
                                  </p:childTnLst>
                                </p:cTn>
                              </p:par>
                            </p:childTnLst>
                          </p:cTn>
                        </p:par>
                        <p:par>
                          <p:cTn id="105" fill="hold">
                            <p:stCondLst>
                              <p:cond delay="1500"/>
                            </p:stCondLst>
                            <p:childTnLst>
                              <p:par>
                                <p:cTn id="106" presetID="22" presetClass="entr" presetSubtype="8" fill="hold" nodeType="afterEffect">
                                  <p:stCondLst>
                                    <p:cond delay="0"/>
                                  </p:stCondLst>
                                  <p:childTnLst>
                                    <p:set>
                                      <p:cBhvr>
                                        <p:cTn id="107" dur="1" fill="hold">
                                          <p:stCondLst>
                                            <p:cond delay="0"/>
                                          </p:stCondLst>
                                        </p:cTn>
                                        <p:tgtEl>
                                          <p:spTgt spid="23"/>
                                        </p:tgtEl>
                                        <p:attrNameLst>
                                          <p:attrName>style.visibility</p:attrName>
                                        </p:attrNameLst>
                                      </p:cBhvr>
                                      <p:to>
                                        <p:strVal val="visible"/>
                                      </p:to>
                                    </p:set>
                                    <p:animEffect transition="in" filter="wipe(left)">
                                      <p:cBhvr>
                                        <p:cTn id="108" dur="500"/>
                                        <p:tgtEl>
                                          <p:spTgt spid="23"/>
                                        </p:tgtEl>
                                      </p:cBhvr>
                                    </p:animEffect>
                                  </p:childTnLst>
                                </p:cTn>
                              </p:par>
                            </p:childTnLst>
                          </p:cTn>
                        </p:par>
                        <p:par>
                          <p:cTn id="109" fill="hold">
                            <p:stCondLst>
                              <p:cond delay="2000"/>
                            </p:stCondLst>
                            <p:childTnLst>
                              <p:par>
                                <p:cTn id="110" presetID="53" presetClass="entr" presetSubtype="16" fill="hold" grpId="0" nodeType="afterEffect">
                                  <p:stCondLst>
                                    <p:cond delay="0"/>
                                  </p:stCondLst>
                                  <p:childTnLst>
                                    <p:set>
                                      <p:cBhvr>
                                        <p:cTn id="111" dur="1" fill="hold">
                                          <p:stCondLst>
                                            <p:cond delay="0"/>
                                          </p:stCondLst>
                                        </p:cTn>
                                        <p:tgtEl>
                                          <p:spTgt spid="43"/>
                                        </p:tgtEl>
                                        <p:attrNameLst>
                                          <p:attrName>style.visibility</p:attrName>
                                        </p:attrNameLst>
                                      </p:cBhvr>
                                      <p:to>
                                        <p:strVal val="visible"/>
                                      </p:to>
                                    </p:set>
                                    <p:anim calcmode="lin" valueType="num">
                                      <p:cBhvr>
                                        <p:cTn id="112" dur="500" fill="hold"/>
                                        <p:tgtEl>
                                          <p:spTgt spid="43"/>
                                        </p:tgtEl>
                                        <p:attrNameLst>
                                          <p:attrName>ppt_w</p:attrName>
                                        </p:attrNameLst>
                                      </p:cBhvr>
                                      <p:tavLst>
                                        <p:tav tm="0">
                                          <p:val>
                                            <p:fltVal val="0"/>
                                          </p:val>
                                        </p:tav>
                                        <p:tav tm="100000">
                                          <p:val>
                                            <p:strVal val="#ppt_w"/>
                                          </p:val>
                                        </p:tav>
                                      </p:tavLst>
                                    </p:anim>
                                    <p:anim calcmode="lin" valueType="num">
                                      <p:cBhvr>
                                        <p:cTn id="113" dur="500" fill="hold"/>
                                        <p:tgtEl>
                                          <p:spTgt spid="43"/>
                                        </p:tgtEl>
                                        <p:attrNameLst>
                                          <p:attrName>ppt_h</p:attrName>
                                        </p:attrNameLst>
                                      </p:cBhvr>
                                      <p:tavLst>
                                        <p:tav tm="0">
                                          <p:val>
                                            <p:fltVal val="0"/>
                                          </p:val>
                                        </p:tav>
                                        <p:tav tm="100000">
                                          <p:val>
                                            <p:strVal val="#ppt_h"/>
                                          </p:val>
                                        </p:tav>
                                      </p:tavLst>
                                    </p:anim>
                                    <p:animEffect transition="in" filter="fade">
                                      <p:cBhvr>
                                        <p:cTn id="114" dur="500"/>
                                        <p:tgtEl>
                                          <p:spTgt spid="43"/>
                                        </p:tgtEl>
                                      </p:cBhvr>
                                    </p:animEffect>
                                  </p:childTnLst>
                                </p:cTn>
                              </p:par>
                            </p:childTnLst>
                          </p:cTn>
                        </p:par>
                        <p:par>
                          <p:cTn id="115" fill="hold">
                            <p:stCondLst>
                              <p:cond delay="2500"/>
                            </p:stCondLst>
                            <p:childTnLst>
                              <p:par>
                                <p:cTn id="116" presetID="53" presetClass="entr" presetSubtype="16" fill="hold" grpId="0" nodeType="afterEffect">
                                  <p:stCondLst>
                                    <p:cond delay="0"/>
                                  </p:stCondLst>
                                  <p:childTnLst>
                                    <p:set>
                                      <p:cBhvr>
                                        <p:cTn id="117" dur="1" fill="hold">
                                          <p:stCondLst>
                                            <p:cond delay="0"/>
                                          </p:stCondLst>
                                        </p:cTn>
                                        <p:tgtEl>
                                          <p:spTgt spid="44"/>
                                        </p:tgtEl>
                                        <p:attrNameLst>
                                          <p:attrName>style.visibility</p:attrName>
                                        </p:attrNameLst>
                                      </p:cBhvr>
                                      <p:to>
                                        <p:strVal val="visible"/>
                                      </p:to>
                                    </p:set>
                                    <p:anim calcmode="lin" valueType="num">
                                      <p:cBhvr>
                                        <p:cTn id="118" dur="500" fill="hold"/>
                                        <p:tgtEl>
                                          <p:spTgt spid="44"/>
                                        </p:tgtEl>
                                        <p:attrNameLst>
                                          <p:attrName>ppt_w</p:attrName>
                                        </p:attrNameLst>
                                      </p:cBhvr>
                                      <p:tavLst>
                                        <p:tav tm="0">
                                          <p:val>
                                            <p:fltVal val="0"/>
                                          </p:val>
                                        </p:tav>
                                        <p:tav tm="100000">
                                          <p:val>
                                            <p:strVal val="#ppt_w"/>
                                          </p:val>
                                        </p:tav>
                                      </p:tavLst>
                                    </p:anim>
                                    <p:anim calcmode="lin" valueType="num">
                                      <p:cBhvr>
                                        <p:cTn id="119" dur="500" fill="hold"/>
                                        <p:tgtEl>
                                          <p:spTgt spid="44"/>
                                        </p:tgtEl>
                                        <p:attrNameLst>
                                          <p:attrName>ppt_h</p:attrName>
                                        </p:attrNameLst>
                                      </p:cBhvr>
                                      <p:tavLst>
                                        <p:tav tm="0">
                                          <p:val>
                                            <p:fltVal val="0"/>
                                          </p:val>
                                        </p:tav>
                                        <p:tav tm="100000">
                                          <p:val>
                                            <p:strVal val="#ppt_h"/>
                                          </p:val>
                                        </p:tav>
                                      </p:tavLst>
                                    </p:anim>
                                    <p:animEffect transition="in" filter="fade">
                                      <p:cBhvr>
                                        <p:cTn id="120" dur="500"/>
                                        <p:tgtEl>
                                          <p:spTgt spid="44"/>
                                        </p:tgtEl>
                                      </p:cBhvr>
                                    </p:animEffect>
                                  </p:childTnLst>
                                </p:cTn>
                              </p:par>
                            </p:childTnLst>
                          </p:cTn>
                        </p:par>
                        <p:par>
                          <p:cTn id="121" fill="hold">
                            <p:stCondLst>
                              <p:cond delay="3000"/>
                            </p:stCondLst>
                            <p:childTnLst>
                              <p:par>
                                <p:cTn id="122" presetID="53" presetClass="entr" presetSubtype="16" fill="hold" grpId="0" nodeType="afterEffect">
                                  <p:stCondLst>
                                    <p:cond delay="0"/>
                                  </p:stCondLst>
                                  <p:childTnLst>
                                    <p:set>
                                      <p:cBhvr>
                                        <p:cTn id="123" dur="1" fill="hold">
                                          <p:stCondLst>
                                            <p:cond delay="0"/>
                                          </p:stCondLst>
                                        </p:cTn>
                                        <p:tgtEl>
                                          <p:spTgt spid="45"/>
                                        </p:tgtEl>
                                        <p:attrNameLst>
                                          <p:attrName>style.visibility</p:attrName>
                                        </p:attrNameLst>
                                      </p:cBhvr>
                                      <p:to>
                                        <p:strVal val="visible"/>
                                      </p:to>
                                    </p:set>
                                    <p:anim calcmode="lin" valueType="num">
                                      <p:cBhvr>
                                        <p:cTn id="124" dur="500" fill="hold"/>
                                        <p:tgtEl>
                                          <p:spTgt spid="45"/>
                                        </p:tgtEl>
                                        <p:attrNameLst>
                                          <p:attrName>ppt_w</p:attrName>
                                        </p:attrNameLst>
                                      </p:cBhvr>
                                      <p:tavLst>
                                        <p:tav tm="0">
                                          <p:val>
                                            <p:fltVal val="0"/>
                                          </p:val>
                                        </p:tav>
                                        <p:tav tm="100000">
                                          <p:val>
                                            <p:strVal val="#ppt_w"/>
                                          </p:val>
                                        </p:tav>
                                      </p:tavLst>
                                    </p:anim>
                                    <p:anim calcmode="lin" valueType="num">
                                      <p:cBhvr>
                                        <p:cTn id="125" dur="500" fill="hold"/>
                                        <p:tgtEl>
                                          <p:spTgt spid="45"/>
                                        </p:tgtEl>
                                        <p:attrNameLst>
                                          <p:attrName>ppt_h</p:attrName>
                                        </p:attrNameLst>
                                      </p:cBhvr>
                                      <p:tavLst>
                                        <p:tav tm="0">
                                          <p:val>
                                            <p:fltVal val="0"/>
                                          </p:val>
                                        </p:tav>
                                        <p:tav tm="100000">
                                          <p:val>
                                            <p:strVal val="#ppt_h"/>
                                          </p:val>
                                        </p:tav>
                                      </p:tavLst>
                                    </p:anim>
                                    <p:animEffect transition="in" filter="fade">
                                      <p:cBhvr>
                                        <p:cTn id="126" dur="500"/>
                                        <p:tgtEl>
                                          <p:spTgt spid="45"/>
                                        </p:tgtEl>
                                      </p:cBhvr>
                                    </p:animEffect>
                                  </p:childTnLst>
                                </p:cTn>
                              </p:par>
                            </p:childTnLst>
                          </p:cTn>
                        </p:par>
                        <p:par>
                          <p:cTn id="127" fill="hold">
                            <p:stCondLst>
                              <p:cond delay="3500"/>
                            </p:stCondLst>
                            <p:childTnLst>
                              <p:par>
                                <p:cTn id="128" presetID="22" presetClass="entr" presetSubtype="1" fill="hold" nodeType="after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wipe(up)">
                                      <p:cBhvr>
                                        <p:cTn id="130" dur="500"/>
                                        <p:tgtEl>
                                          <p:spTgt spid="46"/>
                                        </p:tgtEl>
                                      </p:cBhvr>
                                    </p:animEffect>
                                  </p:childTnLst>
                                </p:cTn>
                              </p:par>
                            </p:childTnLst>
                          </p:cTn>
                        </p:par>
                        <p:par>
                          <p:cTn id="131" fill="hold">
                            <p:stCondLst>
                              <p:cond delay="4000"/>
                            </p:stCondLst>
                            <p:childTnLst>
                              <p:par>
                                <p:cTn id="132" presetID="53" presetClass="entr" presetSubtype="16" fill="hold" grpId="0" nodeType="afterEffect">
                                  <p:stCondLst>
                                    <p:cond delay="0"/>
                                  </p:stCondLst>
                                  <p:childTnLst>
                                    <p:set>
                                      <p:cBhvr>
                                        <p:cTn id="133" dur="1" fill="hold">
                                          <p:stCondLst>
                                            <p:cond delay="0"/>
                                          </p:stCondLst>
                                        </p:cTn>
                                        <p:tgtEl>
                                          <p:spTgt spid="47"/>
                                        </p:tgtEl>
                                        <p:attrNameLst>
                                          <p:attrName>style.visibility</p:attrName>
                                        </p:attrNameLst>
                                      </p:cBhvr>
                                      <p:to>
                                        <p:strVal val="visible"/>
                                      </p:to>
                                    </p:set>
                                    <p:anim calcmode="lin" valueType="num">
                                      <p:cBhvr>
                                        <p:cTn id="134" dur="500" fill="hold"/>
                                        <p:tgtEl>
                                          <p:spTgt spid="47"/>
                                        </p:tgtEl>
                                        <p:attrNameLst>
                                          <p:attrName>ppt_w</p:attrName>
                                        </p:attrNameLst>
                                      </p:cBhvr>
                                      <p:tavLst>
                                        <p:tav tm="0">
                                          <p:val>
                                            <p:fltVal val="0"/>
                                          </p:val>
                                        </p:tav>
                                        <p:tav tm="100000">
                                          <p:val>
                                            <p:strVal val="#ppt_w"/>
                                          </p:val>
                                        </p:tav>
                                      </p:tavLst>
                                    </p:anim>
                                    <p:anim calcmode="lin" valueType="num">
                                      <p:cBhvr>
                                        <p:cTn id="135" dur="500" fill="hold"/>
                                        <p:tgtEl>
                                          <p:spTgt spid="47"/>
                                        </p:tgtEl>
                                        <p:attrNameLst>
                                          <p:attrName>ppt_h</p:attrName>
                                        </p:attrNameLst>
                                      </p:cBhvr>
                                      <p:tavLst>
                                        <p:tav tm="0">
                                          <p:val>
                                            <p:fltVal val="0"/>
                                          </p:val>
                                        </p:tav>
                                        <p:tav tm="100000">
                                          <p:val>
                                            <p:strVal val="#ppt_h"/>
                                          </p:val>
                                        </p:tav>
                                      </p:tavLst>
                                    </p:anim>
                                    <p:animEffect transition="in" filter="fade">
                                      <p:cBhvr>
                                        <p:cTn id="136" dur="500"/>
                                        <p:tgtEl>
                                          <p:spTgt spid="47"/>
                                        </p:tgtEl>
                                      </p:cBhvr>
                                    </p:animEffect>
                                  </p:childTnLst>
                                </p:cTn>
                              </p:par>
                            </p:childTnLst>
                          </p:cTn>
                        </p:par>
                        <p:par>
                          <p:cTn id="137" fill="hold">
                            <p:stCondLst>
                              <p:cond delay="4500"/>
                            </p:stCondLst>
                            <p:childTnLst>
                              <p:par>
                                <p:cTn id="138" presetID="53" presetClass="entr" presetSubtype="16" fill="hold" grpId="0" nodeType="afterEffect">
                                  <p:stCondLst>
                                    <p:cond delay="0"/>
                                  </p:stCondLst>
                                  <p:childTnLst>
                                    <p:set>
                                      <p:cBhvr>
                                        <p:cTn id="139" dur="1" fill="hold">
                                          <p:stCondLst>
                                            <p:cond delay="0"/>
                                          </p:stCondLst>
                                        </p:cTn>
                                        <p:tgtEl>
                                          <p:spTgt spid="42"/>
                                        </p:tgtEl>
                                        <p:attrNameLst>
                                          <p:attrName>style.visibility</p:attrName>
                                        </p:attrNameLst>
                                      </p:cBhvr>
                                      <p:to>
                                        <p:strVal val="visible"/>
                                      </p:to>
                                    </p:set>
                                    <p:anim calcmode="lin" valueType="num">
                                      <p:cBhvr>
                                        <p:cTn id="140" dur="500" fill="hold"/>
                                        <p:tgtEl>
                                          <p:spTgt spid="42"/>
                                        </p:tgtEl>
                                        <p:attrNameLst>
                                          <p:attrName>ppt_w</p:attrName>
                                        </p:attrNameLst>
                                      </p:cBhvr>
                                      <p:tavLst>
                                        <p:tav tm="0">
                                          <p:val>
                                            <p:fltVal val="0"/>
                                          </p:val>
                                        </p:tav>
                                        <p:tav tm="100000">
                                          <p:val>
                                            <p:strVal val="#ppt_w"/>
                                          </p:val>
                                        </p:tav>
                                      </p:tavLst>
                                    </p:anim>
                                    <p:anim calcmode="lin" valueType="num">
                                      <p:cBhvr>
                                        <p:cTn id="141" dur="500" fill="hold"/>
                                        <p:tgtEl>
                                          <p:spTgt spid="42"/>
                                        </p:tgtEl>
                                        <p:attrNameLst>
                                          <p:attrName>ppt_h</p:attrName>
                                        </p:attrNameLst>
                                      </p:cBhvr>
                                      <p:tavLst>
                                        <p:tav tm="0">
                                          <p:val>
                                            <p:fltVal val="0"/>
                                          </p:val>
                                        </p:tav>
                                        <p:tav tm="100000">
                                          <p:val>
                                            <p:strVal val="#ppt_h"/>
                                          </p:val>
                                        </p:tav>
                                      </p:tavLst>
                                    </p:anim>
                                    <p:animEffect transition="in" filter="fade">
                                      <p:cBhvr>
                                        <p:cTn id="142" dur="500"/>
                                        <p:tgtEl>
                                          <p:spTgt spid="42"/>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wipe(up)">
                                      <p:cBhvr>
                                        <p:cTn id="147" dur="1000"/>
                                        <p:tgtEl>
                                          <p:spTgt spid="48"/>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wipe(up)">
                                      <p:cBhvr>
                                        <p:cTn id="152" dur="1500"/>
                                        <p:tgtEl>
                                          <p:spTgt spid="49"/>
                                        </p:tgtEl>
                                      </p:cBhvr>
                                    </p:animEffect>
                                  </p:childTnLst>
                                </p:cTn>
                              </p:par>
                            </p:childTnLst>
                          </p:cTn>
                        </p:par>
                        <p:par>
                          <p:cTn id="153" fill="hold">
                            <p:stCondLst>
                              <p:cond delay="1500"/>
                            </p:stCondLst>
                            <p:childTnLst>
                              <p:par>
                                <p:cTn id="154" presetID="22" presetClass="entr" presetSubtype="8" fill="hold" nodeType="afterEffect">
                                  <p:stCondLst>
                                    <p:cond delay="0"/>
                                  </p:stCondLst>
                                  <p:childTnLst>
                                    <p:set>
                                      <p:cBhvr>
                                        <p:cTn id="155" dur="1" fill="hold">
                                          <p:stCondLst>
                                            <p:cond delay="0"/>
                                          </p:stCondLst>
                                        </p:cTn>
                                        <p:tgtEl>
                                          <p:spTgt spid="50"/>
                                        </p:tgtEl>
                                        <p:attrNameLst>
                                          <p:attrName>style.visibility</p:attrName>
                                        </p:attrNameLst>
                                      </p:cBhvr>
                                      <p:to>
                                        <p:strVal val="visible"/>
                                      </p:to>
                                    </p:set>
                                    <p:animEffect transition="in" filter="wipe(left)">
                                      <p:cBhvr>
                                        <p:cTn id="156" dur="500"/>
                                        <p:tgtEl>
                                          <p:spTgt spid="50"/>
                                        </p:tgtEl>
                                      </p:cBhvr>
                                    </p:animEffect>
                                  </p:childTnLst>
                                </p:cTn>
                              </p:par>
                            </p:childTnLst>
                          </p:cTn>
                        </p:par>
                        <p:par>
                          <p:cTn id="157" fill="hold">
                            <p:stCondLst>
                              <p:cond delay="2000"/>
                            </p:stCondLst>
                            <p:childTnLst>
                              <p:par>
                                <p:cTn id="158" presetID="53" presetClass="entr" presetSubtype="16" fill="hold" grpId="0" nodeType="afterEffect">
                                  <p:stCondLst>
                                    <p:cond delay="0"/>
                                  </p:stCondLst>
                                  <p:childTnLst>
                                    <p:set>
                                      <p:cBhvr>
                                        <p:cTn id="159" dur="1" fill="hold">
                                          <p:stCondLst>
                                            <p:cond delay="0"/>
                                          </p:stCondLst>
                                        </p:cTn>
                                        <p:tgtEl>
                                          <p:spTgt spid="52"/>
                                        </p:tgtEl>
                                        <p:attrNameLst>
                                          <p:attrName>style.visibility</p:attrName>
                                        </p:attrNameLst>
                                      </p:cBhvr>
                                      <p:to>
                                        <p:strVal val="visible"/>
                                      </p:to>
                                    </p:set>
                                    <p:anim calcmode="lin" valueType="num">
                                      <p:cBhvr>
                                        <p:cTn id="160" dur="500" fill="hold"/>
                                        <p:tgtEl>
                                          <p:spTgt spid="52"/>
                                        </p:tgtEl>
                                        <p:attrNameLst>
                                          <p:attrName>ppt_w</p:attrName>
                                        </p:attrNameLst>
                                      </p:cBhvr>
                                      <p:tavLst>
                                        <p:tav tm="0">
                                          <p:val>
                                            <p:fltVal val="0"/>
                                          </p:val>
                                        </p:tav>
                                        <p:tav tm="100000">
                                          <p:val>
                                            <p:strVal val="#ppt_w"/>
                                          </p:val>
                                        </p:tav>
                                      </p:tavLst>
                                    </p:anim>
                                    <p:anim calcmode="lin" valueType="num">
                                      <p:cBhvr>
                                        <p:cTn id="161" dur="500" fill="hold"/>
                                        <p:tgtEl>
                                          <p:spTgt spid="52"/>
                                        </p:tgtEl>
                                        <p:attrNameLst>
                                          <p:attrName>ppt_h</p:attrName>
                                        </p:attrNameLst>
                                      </p:cBhvr>
                                      <p:tavLst>
                                        <p:tav tm="0">
                                          <p:val>
                                            <p:fltVal val="0"/>
                                          </p:val>
                                        </p:tav>
                                        <p:tav tm="100000">
                                          <p:val>
                                            <p:strVal val="#ppt_h"/>
                                          </p:val>
                                        </p:tav>
                                      </p:tavLst>
                                    </p:anim>
                                    <p:animEffect transition="in" filter="fade">
                                      <p:cBhvr>
                                        <p:cTn id="162" dur="500"/>
                                        <p:tgtEl>
                                          <p:spTgt spid="52"/>
                                        </p:tgtEl>
                                      </p:cBhvr>
                                    </p:animEffect>
                                  </p:childTnLst>
                                </p:cTn>
                              </p:par>
                            </p:childTnLst>
                          </p:cTn>
                        </p:par>
                        <p:par>
                          <p:cTn id="163" fill="hold">
                            <p:stCondLst>
                              <p:cond delay="2500"/>
                            </p:stCondLst>
                            <p:childTnLst>
                              <p:par>
                                <p:cTn id="164" presetID="53" presetClass="entr" presetSubtype="16" fill="hold" grpId="0" nodeType="afterEffect">
                                  <p:stCondLst>
                                    <p:cond delay="0"/>
                                  </p:stCondLst>
                                  <p:childTnLst>
                                    <p:set>
                                      <p:cBhvr>
                                        <p:cTn id="165" dur="1" fill="hold">
                                          <p:stCondLst>
                                            <p:cond delay="0"/>
                                          </p:stCondLst>
                                        </p:cTn>
                                        <p:tgtEl>
                                          <p:spTgt spid="53"/>
                                        </p:tgtEl>
                                        <p:attrNameLst>
                                          <p:attrName>style.visibility</p:attrName>
                                        </p:attrNameLst>
                                      </p:cBhvr>
                                      <p:to>
                                        <p:strVal val="visible"/>
                                      </p:to>
                                    </p:set>
                                    <p:anim calcmode="lin" valueType="num">
                                      <p:cBhvr>
                                        <p:cTn id="166" dur="500" fill="hold"/>
                                        <p:tgtEl>
                                          <p:spTgt spid="53"/>
                                        </p:tgtEl>
                                        <p:attrNameLst>
                                          <p:attrName>ppt_w</p:attrName>
                                        </p:attrNameLst>
                                      </p:cBhvr>
                                      <p:tavLst>
                                        <p:tav tm="0">
                                          <p:val>
                                            <p:fltVal val="0"/>
                                          </p:val>
                                        </p:tav>
                                        <p:tav tm="100000">
                                          <p:val>
                                            <p:strVal val="#ppt_w"/>
                                          </p:val>
                                        </p:tav>
                                      </p:tavLst>
                                    </p:anim>
                                    <p:anim calcmode="lin" valueType="num">
                                      <p:cBhvr>
                                        <p:cTn id="167" dur="500" fill="hold"/>
                                        <p:tgtEl>
                                          <p:spTgt spid="53"/>
                                        </p:tgtEl>
                                        <p:attrNameLst>
                                          <p:attrName>ppt_h</p:attrName>
                                        </p:attrNameLst>
                                      </p:cBhvr>
                                      <p:tavLst>
                                        <p:tav tm="0">
                                          <p:val>
                                            <p:fltVal val="0"/>
                                          </p:val>
                                        </p:tav>
                                        <p:tav tm="100000">
                                          <p:val>
                                            <p:strVal val="#ppt_h"/>
                                          </p:val>
                                        </p:tav>
                                      </p:tavLst>
                                    </p:anim>
                                    <p:animEffect transition="in" filter="fade">
                                      <p:cBhvr>
                                        <p:cTn id="168" dur="500"/>
                                        <p:tgtEl>
                                          <p:spTgt spid="53"/>
                                        </p:tgtEl>
                                      </p:cBhvr>
                                    </p:animEffect>
                                  </p:childTnLst>
                                </p:cTn>
                              </p:par>
                            </p:childTnLst>
                          </p:cTn>
                        </p:par>
                        <p:par>
                          <p:cTn id="169" fill="hold">
                            <p:stCondLst>
                              <p:cond delay="3000"/>
                            </p:stCondLst>
                            <p:childTnLst>
                              <p:par>
                                <p:cTn id="170" presetID="53" presetClass="entr" presetSubtype="16" fill="hold" grpId="0" nodeType="afterEffect">
                                  <p:stCondLst>
                                    <p:cond delay="0"/>
                                  </p:stCondLst>
                                  <p:childTnLst>
                                    <p:set>
                                      <p:cBhvr>
                                        <p:cTn id="171" dur="1" fill="hold">
                                          <p:stCondLst>
                                            <p:cond delay="0"/>
                                          </p:stCondLst>
                                        </p:cTn>
                                        <p:tgtEl>
                                          <p:spTgt spid="54"/>
                                        </p:tgtEl>
                                        <p:attrNameLst>
                                          <p:attrName>style.visibility</p:attrName>
                                        </p:attrNameLst>
                                      </p:cBhvr>
                                      <p:to>
                                        <p:strVal val="visible"/>
                                      </p:to>
                                    </p:set>
                                    <p:anim calcmode="lin" valueType="num">
                                      <p:cBhvr>
                                        <p:cTn id="172" dur="500" fill="hold"/>
                                        <p:tgtEl>
                                          <p:spTgt spid="54"/>
                                        </p:tgtEl>
                                        <p:attrNameLst>
                                          <p:attrName>ppt_w</p:attrName>
                                        </p:attrNameLst>
                                      </p:cBhvr>
                                      <p:tavLst>
                                        <p:tav tm="0">
                                          <p:val>
                                            <p:fltVal val="0"/>
                                          </p:val>
                                        </p:tav>
                                        <p:tav tm="100000">
                                          <p:val>
                                            <p:strVal val="#ppt_w"/>
                                          </p:val>
                                        </p:tav>
                                      </p:tavLst>
                                    </p:anim>
                                    <p:anim calcmode="lin" valueType="num">
                                      <p:cBhvr>
                                        <p:cTn id="173" dur="500" fill="hold"/>
                                        <p:tgtEl>
                                          <p:spTgt spid="54"/>
                                        </p:tgtEl>
                                        <p:attrNameLst>
                                          <p:attrName>ppt_h</p:attrName>
                                        </p:attrNameLst>
                                      </p:cBhvr>
                                      <p:tavLst>
                                        <p:tav tm="0">
                                          <p:val>
                                            <p:fltVal val="0"/>
                                          </p:val>
                                        </p:tav>
                                        <p:tav tm="100000">
                                          <p:val>
                                            <p:strVal val="#ppt_h"/>
                                          </p:val>
                                        </p:tav>
                                      </p:tavLst>
                                    </p:anim>
                                    <p:animEffect transition="in" filter="fade">
                                      <p:cBhvr>
                                        <p:cTn id="174" dur="500"/>
                                        <p:tgtEl>
                                          <p:spTgt spid="54"/>
                                        </p:tgtEl>
                                      </p:cBhvr>
                                    </p:animEffect>
                                  </p:childTnLst>
                                </p:cTn>
                              </p:par>
                            </p:childTnLst>
                          </p:cTn>
                        </p:par>
                        <p:par>
                          <p:cTn id="175" fill="hold">
                            <p:stCondLst>
                              <p:cond delay="3500"/>
                            </p:stCondLst>
                            <p:childTnLst>
                              <p:par>
                                <p:cTn id="176" presetID="22" presetClass="entr" presetSubtype="4" fill="hold" nodeType="afterEffect">
                                  <p:stCondLst>
                                    <p:cond delay="0"/>
                                  </p:stCondLst>
                                  <p:childTnLst>
                                    <p:set>
                                      <p:cBhvr>
                                        <p:cTn id="177" dur="1" fill="hold">
                                          <p:stCondLst>
                                            <p:cond delay="0"/>
                                          </p:stCondLst>
                                        </p:cTn>
                                        <p:tgtEl>
                                          <p:spTgt spid="55"/>
                                        </p:tgtEl>
                                        <p:attrNameLst>
                                          <p:attrName>style.visibility</p:attrName>
                                        </p:attrNameLst>
                                      </p:cBhvr>
                                      <p:to>
                                        <p:strVal val="visible"/>
                                      </p:to>
                                    </p:set>
                                    <p:animEffect transition="in" filter="wipe(down)">
                                      <p:cBhvr>
                                        <p:cTn id="178" dur="500"/>
                                        <p:tgtEl>
                                          <p:spTgt spid="55"/>
                                        </p:tgtEl>
                                      </p:cBhvr>
                                    </p:animEffect>
                                  </p:childTnLst>
                                </p:cTn>
                              </p:par>
                            </p:childTnLst>
                          </p:cTn>
                        </p:par>
                        <p:par>
                          <p:cTn id="179" fill="hold">
                            <p:stCondLst>
                              <p:cond delay="4000"/>
                            </p:stCondLst>
                            <p:childTnLst>
                              <p:par>
                                <p:cTn id="180" presetID="53" presetClass="entr" presetSubtype="16" fill="hold" grpId="0" nodeType="afterEffect">
                                  <p:stCondLst>
                                    <p:cond delay="0"/>
                                  </p:stCondLst>
                                  <p:childTnLst>
                                    <p:set>
                                      <p:cBhvr>
                                        <p:cTn id="181" dur="1" fill="hold">
                                          <p:stCondLst>
                                            <p:cond delay="0"/>
                                          </p:stCondLst>
                                        </p:cTn>
                                        <p:tgtEl>
                                          <p:spTgt spid="56"/>
                                        </p:tgtEl>
                                        <p:attrNameLst>
                                          <p:attrName>style.visibility</p:attrName>
                                        </p:attrNameLst>
                                      </p:cBhvr>
                                      <p:to>
                                        <p:strVal val="visible"/>
                                      </p:to>
                                    </p:set>
                                    <p:anim calcmode="lin" valueType="num">
                                      <p:cBhvr>
                                        <p:cTn id="182" dur="500" fill="hold"/>
                                        <p:tgtEl>
                                          <p:spTgt spid="56"/>
                                        </p:tgtEl>
                                        <p:attrNameLst>
                                          <p:attrName>ppt_w</p:attrName>
                                        </p:attrNameLst>
                                      </p:cBhvr>
                                      <p:tavLst>
                                        <p:tav tm="0">
                                          <p:val>
                                            <p:fltVal val="0"/>
                                          </p:val>
                                        </p:tav>
                                        <p:tav tm="100000">
                                          <p:val>
                                            <p:strVal val="#ppt_w"/>
                                          </p:val>
                                        </p:tav>
                                      </p:tavLst>
                                    </p:anim>
                                    <p:anim calcmode="lin" valueType="num">
                                      <p:cBhvr>
                                        <p:cTn id="183" dur="500" fill="hold"/>
                                        <p:tgtEl>
                                          <p:spTgt spid="56"/>
                                        </p:tgtEl>
                                        <p:attrNameLst>
                                          <p:attrName>ppt_h</p:attrName>
                                        </p:attrNameLst>
                                      </p:cBhvr>
                                      <p:tavLst>
                                        <p:tav tm="0">
                                          <p:val>
                                            <p:fltVal val="0"/>
                                          </p:val>
                                        </p:tav>
                                        <p:tav tm="100000">
                                          <p:val>
                                            <p:strVal val="#ppt_h"/>
                                          </p:val>
                                        </p:tav>
                                      </p:tavLst>
                                    </p:anim>
                                    <p:animEffect transition="in" filter="fade">
                                      <p:cBhvr>
                                        <p:cTn id="184" dur="500"/>
                                        <p:tgtEl>
                                          <p:spTgt spid="56"/>
                                        </p:tgtEl>
                                      </p:cBhvr>
                                    </p:animEffect>
                                  </p:childTnLst>
                                </p:cTn>
                              </p:par>
                            </p:childTnLst>
                          </p:cTn>
                        </p:par>
                        <p:par>
                          <p:cTn id="185" fill="hold">
                            <p:stCondLst>
                              <p:cond delay="4500"/>
                            </p:stCondLst>
                            <p:childTnLst>
                              <p:par>
                                <p:cTn id="186" presetID="53" presetClass="entr" presetSubtype="16" fill="hold" grpId="0" nodeType="afterEffect">
                                  <p:stCondLst>
                                    <p:cond delay="0"/>
                                  </p:stCondLst>
                                  <p:childTnLst>
                                    <p:set>
                                      <p:cBhvr>
                                        <p:cTn id="187" dur="1" fill="hold">
                                          <p:stCondLst>
                                            <p:cond delay="0"/>
                                          </p:stCondLst>
                                        </p:cTn>
                                        <p:tgtEl>
                                          <p:spTgt spid="51"/>
                                        </p:tgtEl>
                                        <p:attrNameLst>
                                          <p:attrName>style.visibility</p:attrName>
                                        </p:attrNameLst>
                                      </p:cBhvr>
                                      <p:to>
                                        <p:strVal val="visible"/>
                                      </p:to>
                                    </p:set>
                                    <p:anim calcmode="lin" valueType="num">
                                      <p:cBhvr>
                                        <p:cTn id="188" dur="500" fill="hold"/>
                                        <p:tgtEl>
                                          <p:spTgt spid="51"/>
                                        </p:tgtEl>
                                        <p:attrNameLst>
                                          <p:attrName>ppt_w</p:attrName>
                                        </p:attrNameLst>
                                      </p:cBhvr>
                                      <p:tavLst>
                                        <p:tav tm="0">
                                          <p:val>
                                            <p:fltVal val="0"/>
                                          </p:val>
                                        </p:tav>
                                        <p:tav tm="100000">
                                          <p:val>
                                            <p:strVal val="#ppt_w"/>
                                          </p:val>
                                        </p:tav>
                                      </p:tavLst>
                                    </p:anim>
                                    <p:anim calcmode="lin" valueType="num">
                                      <p:cBhvr>
                                        <p:cTn id="189" dur="500" fill="hold"/>
                                        <p:tgtEl>
                                          <p:spTgt spid="51"/>
                                        </p:tgtEl>
                                        <p:attrNameLst>
                                          <p:attrName>ppt_h</p:attrName>
                                        </p:attrNameLst>
                                      </p:cBhvr>
                                      <p:tavLst>
                                        <p:tav tm="0">
                                          <p:val>
                                            <p:fltVal val="0"/>
                                          </p:val>
                                        </p:tav>
                                        <p:tav tm="100000">
                                          <p:val>
                                            <p:strVal val="#ppt_h"/>
                                          </p:val>
                                        </p:tav>
                                      </p:tavLst>
                                    </p:anim>
                                    <p:animEffect transition="in" filter="fade">
                                      <p:cBhvr>
                                        <p:cTn id="190" dur="500"/>
                                        <p:tgtEl>
                                          <p:spTgt spid="51"/>
                                        </p:tgtEl>
                                      </p:cBhvr>
                                    </p:animEffect>
                                  </p:childTnLst>
                                </p:cTn>
                              </p:par>
                            </p:childTnLst>
                          </p:cTn>
                        </p:par>
                      </p:childTnLst>
                    </p:cTn>
                  </p:par>
                  <p:par>
                    <p:cTn id="191" fill="hold">
                      <p:stCondLst>
                        <p:cond delay="indefinite"/>
                      </p:stCondLst>
                      <p:childTnLst>
                        <p:par>
                          <p:cTn id="192" fill="hold">
                            <p:stCondLst>
                              <p:cond delay="0"/>
                            </p:stCondLst>
                            <p:childTnLst>
                              <p:par>
                                <p:cTn id="193" presetID="42" presetClass="entr" presetSubtype="0" fill="hold" grpId="0" nodeType="clickEffect">
                                  <p:stCondLst>
                                    <p:cond delay="0"/>
                                  </p:stCondLst>
                                  <p:childTnLst>
                                    <p:set>
                                      <p:cBhvr>
                                        <p:cTn id="194" dur="1" fill="hold">
                                          <p:stCondLst>
                                            <p:cond delay="0"/>
                                          </p:stCondLst>
                                        </p:cTn>
                                        <p:tgtEl>
                                          <p:spTgt spid="57"/>
                                        </p:tgtEl>
                                        <p:attrNameLst>
                                          <p:attrName>style.visibility</p:attrName>
                                        </p:attrNameLst>
                                      </p:cBhvr>
                                      <p:to>
                                        <p:strVal val="visible"/>
                                      </p:to>
                                    </p:set>
                                    <p:animEffect transition="in" filter="fade">
                                      <p:cBhvr>
                                        <p:cTn id="195" dur="1000"/>
                                        <p:tgtEl>
                                          <p:spTgt spid="57"/>
                                        </p:tgtEl>
                                      </p:cBhvr>
                                    </p:animEffect>
                                    <p:anim calcmode="lin" valueType="num">
                                      <p:cBhvr>
                                        <p:cTn id="196" dur="1000" fill="hold"/>
                                        <p:tgtEl>
                                          <p:spTgt spid="57"/>
                                        </p:tgtEl>
                                        <p:attrNameLst>
                                          <p:attrName>ppt_x</p:attrName>
                                        </p:attrNameLst>
                                      </p:cBhvr>
                                      <p:tavLst>
                                        <p:tav tm="0">
                                          <p:val>
                                            <p:strVal val="#ppt_x"/>
                                          </p:val>
                                        </p:tav>
                                        <p:tav tm="100000">
                                          <p:val>
                                            <p:strVal val="#ppt_x"/>
                                          </p:val>
                                        </p:tav>
                                      </p:tavLst>
                                    </p:anim>
                                    <p:anim calcmode="lin" valueType="num">
                                      <p:cBhvr>
                                        <p:cTn id="197"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7" presetClass="entr" presetSubtype="0" fill="hold" grpId="0" nodeType="clickEffect">
                                  <p:stCondLst>
                                    <p:cond delay="0"/>
                                  </p:stCondLst>
                                  <p:childTnLst>
                                    <p:set>
                                      <p:cBhvr>
                                        <p:cTn id="201" dur="1" fill="hold">
                                          <p:stCondLst>
                                            <p:cond delay="0"/>
                                          </p:stCondLst>
                                        </p:cTn>
                                        <p:tgtEl>
                                          <p:spTgt spid="58"/>
                                        </p:tgtEl>
                                        <p:attrNameLst>
                                          <p:attrName>style.visibility</p:attrName>
                                        </p:attrNameLst>
                                      </p:cBhvr>
                                      <p:to>
                                        <p:strVal val="visible"/>
                                      </p:to>
                                    </p:set>
                                    <p:animEffect transition="in" filter="fade">
                                      <p:cBhvr>
                                        <p:cTn id="202" dur="1500"/>
                                        <p:tgtEl>
                                          <p:spTgt spid="58"/>
                                        </p:tgtEl>
                                      </p:cBhvr>
                                    </p:animEffect>
                                    <p:anim calcmode="lin" valueType="num">
                                      <p:cBhvr>
                                        <p:cTn id="203" dur="1500" fill="hold"/>
                                        <p:tgtEl>
                                          <p:spTgt spid="58"/>
                                        </p:tgtEl>
                                        <p:attrNameLst>
                                          <p:attrName>ppt_x</p:attrName>
                                        </p:attrNameLst>
                                      </p:cBhvr>
                                      <p:tavLst>
                                        <p:tav tm="0">
                                          <p:val>
                                            <p:strVal val="#ppt_x"/>
                                          </p:val>
                                        </p:tav>
                                        <p:tav tm="100000">
                                          <p:val>
                                            <p:strVal val="#ppt_x"/>
                                          </p:val>
                                        </p:tav>
                                      </p:tavLst>
                                    </p:anim>
                                    <p:anim calcmode="lin" valueType="num">
                                      <p:cBhvr>
                                        <p:cTn id="204" dur="15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59"/>
                                        </p:tgtEl>
                                        <p:attrNameLst>
                                          <p:attrName>style.visibility</p:attrName>
                                        </p:attrNameLst>
                                      </p:cBhvr>
                                      <p:to>
                                        <p:strVal val="visible"/>
                                      </p:to>
                                    </p:set>
                                    <p:animEffect transition="in" filter="wipe(left)">
                                      <p:cBhvr>
                                        <p:cTn id="20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1" grpId="0" animBg="1"/>
      <p:bldP spid="32" grpId="0"/>
      <p:bldP spid="33" grpId="0"/>
      <p:bldP spid="34" grpId="0" animBg="1"/>
      <p:bldP spid="35" grpId="0" animBg="1"/>
      <p:bldP spid="36" grpId="0" animBg="1"/>
      <p:bldP spid="37" grpId="0" animBg="1"/>
      <p:bldP spid="39" grpId="0" animBg="1"/>
      <p:bldP spid="40" grpId="0"/>
      <p:bldP spid="41" grpId="0"/>
      <p:bldP spid="42" grpId="0" animBg="1"/>
      <p:bldP spid="43" grpId="0" animBg="1"/>
      <p:bldP spid="44" grpId="0" animBg="1"/>
      <p:bldP spid="45" grpId="0" animBg="1"/>
      <p:bldP spid="47" grpId="0" animBg="1"/>
      <p:bldP spid="48" grpId="0"/>
      <p:bldP spid="49" grpId="0"/>
      <p:bldP spid="51" grpId="0" animBg="1"/>
      <p:bldP spid="52" grpId="0" animBg="1"/>
      <p:bldP spid="53" grpId="0" animBg="1"/>
      <p:bldP spid="54" grpId="0" animBg="1"/>
      <p:bldP spid="56" grpId="0" animBg="1"/>
      <p:bldP spid="57" grpId="0"/>
      <p:bldP spid="58"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3907634"/>
            <a:ext cx="7783798" cy="2569934"/>
          </a:xfrm>
          <a:prstGeom prst="rect">
            <a:avLst/>
          </a:prstGeom>
          <a:noFill/>
        </p:spPr>
        <p:txBody>
          <a:bodyPr wrap="square" rtlCol="1">
            <a:spAutoFit/>
          </a:bodyPr>
          <a:lstStyle/>
          <a:p>
            <a:pPr algn="r"/>
            <a:r>
              <a:rPr lang="fa-IR" sz="2300" dirty="0">
                <a:cs typeface="2  Nazanin" panose="00000400000000000000" pitchFamily="2" charset="-78"/>
              </a:rPr>
              <a:t>آهك ساختماني</a:t>
            </a:r>
          </a:p>
          <a:p>
            <a:pPr algn="r"/>
            <a:r>
              <a:rPr lang="fa-IR" sz="2300" dirty="0">
                <a:cs typeface="2  Nazanin" panose="00000400000000000000" pitchFamily="2" charset="-78"/>
              </a:rPr>
              <a:t> آهكي است كه بنا بر مشخصات شيميايي (خلـوص سـنگ آهـك)،</a:t>
            </a:r>
          </a:p>
          <a:p>
            <a:pPr algn="r"/>
            <a:r>
              <a:rPr lang="fa-IR" sz="2300" dirty="0">
                <a:cs typeface="2  Nazanin" panose="00000400000000000000" pitchFamily="2" charset="-78"/>
              </a:rPr>
              <a:t>فيزيكي و روش فرآوري (دما و نحوة پخت) براي مصارف ساختماني ويژه يا معمولي، به صورت آهك زنده يا شكفته كاربرد دارد.</a:t>
            </a:r>
          </a:p>
          <a:p>
            <a:pPr algn="r"/>
            <a:r>
              <a:rPr lang="fa-IR" sz="2300" dirty="0">
                <a:cs typeface="2  Nazanin" panose="00000400000000000000" pitchFamily="2" charset="-78"/>
              </a:rPr>
              <a:t> به طور كلي آهك واژهاي است عمـومي كـه بـراي شـكل هـاي مختلـف فيزيكي و شيميايي آهـك زنـده، آهـك هيدراتـه و آهـك هيدروليك،كـه ممكـن اسـت پركلسـيم، منيزيمي يا دولوميتي باشد به كار ميرود</a:t>
            </a:r>
          </a:p>
        </p:txBody>
      </p:sp>
      <p:pic>
        <p:nvPicPr>
          <p:cNvPr id="21" name="Picture 20">
            <a:extLst>
              <a:ext uri="{FF2B5EF4-FFF2-40B4-BE49-F238E27FC236}">
                <a16:creationId xmlns:a16="http://schemas.microsoft.com/office/drawing/2014/main" id="{1A920B28-5466-4DF1-8468-270495975CEE}"/>
              </a:ext>
            </a:extLst>
          </p:cNvPr>
          <p:cNvPicPr>
            <a:picLocks noChangeAspect="1"/>
          </p:cNvPicPr>
          <p:nvPr/>
        </p:nvPicPr>
        <p:blipFill rotWithShape="1">
          <a:blip r:embed="rId2">
            <a:extLst>
              <a:ext uri="{28A0092B-C50C-407E-A947-70E740481C1C}">
                <a14:useLocalDpi xmlns:a14="http://schemas.microsoft.com/office/drawing/2010/main" val="0"/>
              </a:ext>
            </a:extLst>
          </a:blip>
          <a:srcRect b="7938"/>
          <a:stretch/>
        </p:blipFill>
        <p:spPr>
          <a:xfrm>
            <a:off x="323657" y="3907634"/>
            <a:ext cx="3726836" cy="256993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C9E4C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82ADFB3C-052B-4F46-B1F9-532C7A841B48}"/>
              </a:ext>
            </a:extLst>
          </p:cNvPr>
          <p:cNvSpPr txBox="1"/>
          <p:nvPr/>
        </p:nvSpPr>
        <p:spPr>
          <a:xfrm>
            <a:off x="4490548" y="3190335"/>
            <a:ext cx="7440930" cy="3477875"/>
          </a:xfrm>
          <a:prstGeom prst="rect">
            <a:avLst/>
          </a:prstGeom>
          <a:noFill/>
        </p:spPr>
        <p:txBody>
          <a:bodyPr wrap="square" rtlCol="1">
            <a:spAutoFit/>
          </a:bodyPr>
          <a:lstStyle/>
          <a:p>
            <a:pPr algn="r"/>
            <a:r>
              <a:rPr lang="fa-IR" sz="2000" dirty="0">
                <a:cs typeface="2  Nazanin" panose="00000400000000000000" pitchFamily="2" charset="-78"/>
              </a:rPr>
              <a:t>آهك زنده يا آهك هوايي:  بخش عمدة آن اكسيد كلسيم يا اكسيد كلسيم همراه با اكسيد منيزيم است. اين آهك بسيار زود شكفته ميشود و در موقع شكفته شدن مقدار زيادي حرارت آزاد ميكند و آهك زنده در مجاورت هوا خود را ميگيرد و سفت ميشود</a:t>
            </a:r>
            <a:endParaRPr lang="en-US" sz="2000" dirty="0">
              <a:cs typeface="2  Nazanin" panose="00000400000000000000" pitchFamily="2" charset="-78"/>
            </a:endParaRPr>
          </a:p>
          <a:p>
            <a:pPr algn="r"/>
            <a:r>
              <a:rPr lang="fa-IR" sz="2000" dirty="0">
                <a:cs typeface="2  Nazanin" panose="00000400000000000000" pitchFamily="2" charset="-78"/>
              </a:rPr>
              <a:t>آهك شكفته يا آهك هيدراته: پودر خشكي است كه از تركيب اكسيد كلسيم بـا آب</a:t>
            </a:r>
          </a:p>
          <a:p>
            <a:pPr algn="r"/>
            <a:r>
              <a:rPr lang="fa-IR" sz="2000" dirty="0">
                <a:cs typeface="2  Nazanin" panose="00000400000000000000" pitchFamily="2" charset="-78"/>
              </a:rPr>
              <a:t>به دست ميآيد. آهـك شكفته دي اكسيدكربن موجود در هوا را جذب ميكند و به سنگ آهك تبديل ميشود. </a:t>
            </a:r>
          </a:p>
          <a:p>
            <a:pPr algn="r"/>
            <a:r>
              <a:rPr lang="fa-IR" sz="2000" dirty="0">
                <a:cs typeface="2  Nazanin" panose="00000400000000000000" pitchFamily="2" charset="-78"/>
              </a:rPr>
              <a:t>آهك هيدروليك هيدراته (آهك آبي): اين نوع آهك از كلسينه شـدن سـنگ آهـك</a:t>
            </a:r>
          </a:p>
          <a:p>
            <a:pPr algn="r"/>
            <a:r>
              <a:rPr lang="fa-IR" sz="2000" dirty="0">
                <a:cs typeface="2  Nazanin" panose="00000400000000000000" pitchFamily="2" charset="-78"/>
              </a:rPr>
              <a:t>حاوي سيليس و آلومين ساخته ميشود. به كندي شـكفته مـيشـود و افـزايش حجـم آن اندك است</a:t>
            </a:r>
            <a:endParaRPr lang="en-US" sz="2000" dirty="0">
              <a:cs typeface="2  Nazanin" panose="00000400000000000000" pitchFamily="2" charset="-78"/>
            </a:endParaRPr>
          </a:p>
          <a:p>
            <a:pPr algn="r"/>
            <a:r>
              <a:rPr lang="fa-IR" sz="2000" dirty="0">
                <a:cs typeface="2  Nazanin" panose="00000400000000000000" pitchFamily="2" charset="-78"/>
              </a:rPr>
              <a:t>آهك نيمه آبي: آهكي است. به تدريج شكفته ميشود و حجم آن افزايش كمي دارد. ماننـد آهـك آبـي در زيـر آب گرفته و سفت ميشود، ولي مقاومت آن كمتر از آهك آبي است</a:t>
            </a:r>
          </a:p>
        </p:txBody>
      </p:sp>
      <p:pic>
        <p:nvPicPr>
          <p:cNvPr id="22" name="Picture 21">
            <a:extLst>
              <a:ext uri="{FF2B5EF4-FFF2-40B4-BE49-F238E27FC236}">
                <a16:creationId xmlns:a16="http://schemas.microsoft.com/office/drawing/2014/main" id="{749804DA-5D11-43CC-AAFA-A11EB41F4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90" y="3647910"/>
            <a:ext cx="4431141" cy="1949702"/>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48" y="9738"/>
            <a:ext cx="12192000" cy="7550727"/>
            <a:chOff x="0" y="0"/>
            <a:chExt cx="12192000" cy="7550727"/>
          </a:xfrm>
          <a:solidFill>
            <a:srgbClr val="87BB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cxnSp>
        <p:nvCxnSpPr>
          <p:cNvPr id="23" name="Straight Connector 22">
            <a:extLst>
              <a:ext uri="{FF2B5EF4-FFF2-40B4-BE49-F238E27FC236}">
                <a16:creationId xmlns:a16="http://schemas.microsoft.com/office/drawing/2014/main" id="{998C3032-9198-4948-8ACE-B7F6AE9CE810}"/>
              </a:ext>
            </a:extLst>
          </p:cNvPr>
          <p:cNvCxnSpPr>
            <a:cxnSpLocks/>
          </p:cNvCxnSpPr>
          <p:nvPr/>
        </p:nvCxnSpPr>
        <p:spPr>
          <a:xfrm>
            <a:off x="4769555" y="4154303"/>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192DAF-5DBB-4B50-80A7-963CDC95A7FC}"/>
              </a:ext>
            </a:extLst>
          </p:cNvPr>
          <p:cNvCxnSpPr>
            <a:cxnSpLocks/>
            <a:endCxn id="35" idx="2"/>
          </p:cNvCxnSpPr>
          <p:nvPr/>
        </p:nvCxnSpPr>
        <p:spPr>
          <a:xfrm>
            <a:off x="1625600" y="4165599"/>
            <a:ext cx="2929466"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A3938012-B4D9-4BF7-82F7-8AB8CF6712DE}"/>
              </a:ext>
            </a:extLst>
          </p:cNvPr>
          <p:cNvSpPr/>
          <p:nvPr/>
        </p:nvSpPr>
        <p:spPr>
          <a:xfrm>
            <a:off x="893585" y="3527246"/>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cxnSp>
        <p:nvCxnSpPr>
          <p:cNvPr id="26" name="Straight Connector 25">
            <a:extLst>
              <a:ext uri="{FF2B5EF4-FFF2-40B4-BE49-F238E27FC236}">
                <a16:creationId xmlns:a16="http://schemas.microsoft.com/office/drawing/2014/main" id="{03C69ACE-7853-491F-85A4-723CA2D7849D}"/>
              </a:ext>
            </a:extLst>
          </p:cNvPr>
          <p:cNvCxnSpPr/>
          <p:nvPr/>
        </p:nvCxnSpPr>
        <p:spPr>
          <a:xfrm>
            <a:off x="0" y="4165600"/>
            <a:ext cx="151271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Flowchart: Connector 26">
            <a:extLst>
              <a:ext uri="{FF2B5EF4-FFF2-40B4-BE49-F238E27FC236}">
                <a16:creationId xmlns:a16="http://schemas.microsoft.com/office/drawing/2014/main" id="{C589F9D3-7A9C-4952-B230-5354AFDA2E82}"/>
              </a:ext>
            </a:extLst>
          </p:cNvPr>
          <p:cNvSpPr/>
          <p:nvPr/>
        </p:nvSpPr>
        <p:spPr>
          <a:xfrm>
            <a:off x="1411111" y="4052711"/>
            <a:ext cx="214489" cy="225777"/>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8" name="Circle: Hollow 27">
            <a:extLst>
              <a:ext uri="{FF2B5EF4-FFF2-40B4-BE49-F238E27FC236}">
                <a16:creationId xmlns:a16="http://schemas.microsoft.com/office/drawing/2014/main" id="{FC32175D-0752-474B-867D-B114514F00C8}"/>
              </a:ext>
            </a:extLst>
          </p:cNvPr>
          <p:cNvSpPr/>
          <p:nvPr/>
        </p:nvSpPr>
        <p:spPr>
          <a:xfrm>
            <a:off x="1200855" y="3846821"/>
            <a:ext cx="623711" cy="637557"/>
          </a:xfrm>
          <a:prstGeom prst="donut">
            <a:avLst>
              <a:gd name="adj" fmla="val 6690"/>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29" name="Circle: Hollow 28">
            <a:extLst>
              <a:ext uri="{FF2B5EF4-FFF2-40B4-BE49-F238E27FC236}">
                <a16:creationId xmlns:a16="http://schemas.microsoft.com/office/drawing/2014/main" id="{437FB37D-2C85-4F07-8C33-D03F74CF3092}"/>
              </a:ext>
            </a:extLst>
          </p:cNvPr>
          <p:cNvSpPr/>
          <p:nvPr/>
        </p:nvSpPr>
        <p:spPr>
          <a:xfrm>
            <a:off x="1019524" y="3684475"/>
            <a:ext cx="986367" cy="962246"/>
          </a:xfrm>
          <a:prstGeom prst="donut">
            <a:avLst>
              <a:gd name="adj" fmla="val 199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0" name="Straight Connector 29">
            <a:extLst>
              <a:ext uri="{FF2B5EF4-FFF2-40B4-BE49-F238E27FC236}">
                <a16:creationId xmlns:a16="http://schemas.microsoft.com/office/drawing/2014/main" id="{7AABECF7-5CD0-4E83-910A-B36B9B9D8D33}"/>
              </a:ext>
            </a:extLst>
          </p:cNvPr>
          <p:cNvCxnSpPr>
            <a:cxnSpLocks/>
          </p:cNvCxnSpPr>
          <p:nvPr/>
        </p:nvCxnSpPr>
        <p:spPr>
          <a:xfrm flipV="1">
            <a:off x="1512710" y="4278490"/>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1" name="Flowchart: Connector 30">
            <a:extLst>
              <a:ext uri="{FF2B5EF4-FFF2-40B4-BE49-F238E27FC236}">
                <a16:creationId xmlns:a16="http://schemas.microsoft.com/office/drawing/2014/main" id="{0B60C47E-C5A3-4B24-A6D6-E29F84997A6D}"/>
              </a:ext>
            </a:extLst>
          </p:cNvPr>
          <p:cNvSpPr/>
          <p:nvPr/>
        </p:nvSpPr>
        <p:spPr>
          <a:xfrm>
            <a:off x="1428394" y="5442303"/>
            <a:ext cx="168625" cy="166642"/>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2" name="TextBox 31">
            <a:extLst>
              <a:ext uri="{FF2B5EF4-FFF2-40B4-BE49-F238E27FC236}">
                <a16:creationId xmlns:a16="http://schemas.microsoft.com/office/drawing/2014/main" id="{CB1703D9-112E-4597-8344-885F9EA8AB70}"/>
              </a:ext>
            </a:extLst>
          </p:cNvPr>
          <p:cNvSpPr txBox="1"/>
          <p:nvPr/>
        </p:nvSpPr>
        <p:spPr>
          <a:xfrm>
            <a:off x="361239" y="306870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هیدرولیکی</a:t>
            </a:r>
          </a:p>
        </p:txBody>
      </p:sp>
      <p:sp>
        <p:nvSpPr>
          <p:cNvPr id="33" name="TextBox 32">
            <a:extLst>
              <a:ext uri="{FF2B5EF4-FFF2-40B4-BE49-F238E27FC236}">
                <a16:creationId xmlns:a16="http://schemas.microsoft.com/office/drawing/2014/main" id="{E43A01F6-76AC-4FFA-AEA4-36EDFB9341DF}"/>
              </a:ext>
            </a:extLst>
          </p:cNvPr>
          <p:cNvSpPr txBox="1"/>
          <p:nvPr/>
        </p:nvSpPr>
        <p:spPr>
          <a:xfrm>
            <a:off x="359476" y="5608945"/>
            <a:ext cx="2302933" cy="923330"/>
          </a:xfrm>
          <a:prstGeom prst="rect">
            <a:avLst/>
          </a:prstGeom>
          <a:noFill/>
        </p:spPr>
        <p:txBody>
          <a:bodyPr wrap="square" rtlCol="1">
            <a:spAutoFit/>
          </a:bodyPr>
          <a:lstStyle/>
          <a:p>
            <a:pPr algn="r"/>
            <a:r>
              <a:rPr lang="fa-IR" dirty="0">
                <a:cs typeface="2  Nazanin" panose="00000400000000000000" pitchFamily="2" charset="-78"/>
              </a:rPr>
              <a:t>براي مصارف ساختماني و</a:t>
            </a:r>
          </a:p>
          <a:p>
            <a:pPr algn="r"/>
            <a:r>
              <a:rPr lang="fa-IR" dirty="0">
                <a:cs typeface="2  Nazanin" panose="00000400000000000000" pitchFamily="2" charset="-78"/>
              </a:rPr>
              <a:t>عمدتاً در اندودكاري ملات و افزودني اصلاح كننده بتن است</a:t>
            </a:r>
          </a:p>
        </p:txBody>
      </p:sp>
      <p:sp>
        <p:nvSpPr>
          <p:cNvPr id="34" name="Arc 33">
            <a:extLst>
              <a:ext uri="{FF2B5EF4-FFF2-40B4-BE49-F238E27FC236}">
                <a16:creationId xmlns:a16="http://schemas.microsoft.com/office/drawing/2014/main" id="{5EA03771-5463-4945-9F9A-D98D7876433D}"/>
              </a:ext>
            </a:extLst>
          </p:cNvPr>
          <p:cNvSpPr/>
          <p:nvPr/>
        </p:nvSpPr>
        <p:spPr>
          <a:xfrm rot="5158658">
            <a:off x="4037540" y="352724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35" name="Flowchart: Connector 34">
            <a:extLst>
              <a:ext uri="{FF2B5EF4-FFF2-40B4-BE49-F238E27FC236}">
                <a16:creationId xmlns:a16="http://schemas.microsoft.com/office/drawing/2014/main" id="{54055E10-C83B-465E-AEC6-9D22E8854DF2}"/>
              </a:ext>
            </a:extLst>
          </p:cNvPr>
          <p:cNvSpPr/>
          <p:nvPr/>
        </p:nvSpPr>
        <p:spPr>
          <a:xfrm>
            <a:off x="4555066" y="4052710"/>
            <a:ext cx="214489" cy="225777"/>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Circle: Hollow 35">
            <a:extLst>
              <a:ext uri="{FF2B5EF4-FFF2-40B4-BE49-F238E27FC236}">
                <a16:creationId xmlns:a16="http://schemas.microsoft.com/office/drawing/2014/main" id="{772B568C-4C27-403B-810E-6E46BDD1CFAC}"/>
              </a:ext>
            </a:extLst>
          </p:cNvPr>
          <p:cNvSpPr/>
          <p:nvPr/>
        </p:nvSpPr>
        <p:spPr>
          <a:xfrm>
            <a:off x="4344810" y="3846820"/>
            <a:ext cx="623711" cy="637557"/>
          </a:xfrm>
          <a:prstGeom prst="donut">
            <a:avLst>
              <a:gd name="adj" fmla="val 669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37" name="Circle: Hollow 36">
            <a:extLst>
              <a:ext uri="{FF2B5EF4-FFF2-40B4-BE49-F238E27FC236}">
                <a16:creationId xmlns:a16="http://schemas.microsoft.com/office/drawing/2014/main" id="{389AAB38-2FCC-4112-93EE-A5CCABB21582}"/>
              </a:ext>
            </a:extLst>
          </p:cNvPr>
          <p:cNvSpPr/>
          <p:nvPr/>
        </p:nvSpPr>
        <p:spPr>
          <a:xfrm>
            <a:off x="4163479"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8" name="Straight Connector 37">
            <a:extLst>
              <a:ext uri="{FF2B5EF4-FFF2-40B4-BE49-F238E27FC236}">
                <a16:creationId xmlns:a16="http://schemas.microsoft.com/office/drawing/2014/main" id="{2E6728AB-EB97-430D-A15A-72D6F576DA35}"/>
              </a:ext>
            </a:extLst>
          </p:cNvPr>
          <p:cNvCxnSpPr>
            <a:cxnSpLocks/>
          </p:cNvCxnSpPr>
          <p:nvPr/>
        </p:nvCxnSpPr>
        <p:spPr>
          <a:xfrm flipV="1">
            <a:off x="4656661" y="2888897"/>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Flowchart: Connector 38">
            <a:extLst>
              <a:ext uri="{FF2B5EF4-FFF2-40B4-BE49-F238E27FC236}">
                <a16:creationId xmlns:a16="http://schemas.microsoft.com/office/drawing/2014/main" id="{71A8F4D4-28AC-44D5-8B9B-3FE5279735AF}"/>
              </a:ext>
            </a:extLst>
          </p:cNvPr>
          <p:cNvSpPr/>
          <p:nvPr/>
        </p:nvSpPr>
        <p:spPr>
          <a:xfrm>
            <a:off x="4572702" y="2761501"/>
            <a:ext cx="168625" cy="166642"/>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0" name="TextBox 39">
            <a:extLst>
              <a:ext uri="{FF2B5EF4-FFF2-40B4-BE49-F238E27FC236}">
                <a16:creationId xmlns:a16="http://schemas.microsoft.com/office/drawing/2014/main" id="{32663892-2269-4A7E-9DDE-B8E56473F88B}"/>
              </a:ext>
            </a:extLst>
          </p:cNvPr>
          <p:cNvSpPr txBox="1"/>
          <p:nvPr/>
        </p:nvSpPr>
        <p:spPr>
          <a:xfrm>
            <a:off x="3504567" y="467016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پرداخت</a:t>
            </a:r>
          </a:p>
        </p:txBody>
      </p:sp>
      <p:sp>
        <p:nvSpPr>
          <p:cNvPr id="41" name="TextBox 40">
            <a:extLst>
              <a:ext uri="{FF2B5EF4-FFF2-40B4-BE49-F238E27FC236}">
                <a16:creationId xmlns:a16="http://schemas.microsoft.com/office/drawing/2014/main" id="{5186A525-B81C-4E91-ACFF-973CBC2952FA}"/>
              </a:ext>
            </a:extLst>
          </p:cNvPr>
          <p:cNvSpPr txBox="1"/>
          <p:nvPr/>
        </p:nvSpPr>
        <p:spPr>
          <a:xfrm>
            <a:off x="3385860" y="1883212"/>
            <a:ext cx="2302933" cy="1200329"/>
          </a:xfrm>
          <a:prstGeom prst="rect">
            <a:avLst/>
          </a:prstGeom>
          <a:noFill/>
        </p:spPr>
        <p:txBody>
          <a:bodyPr wrap="square" rtlCol="1">
            <a:spAutoFit/>
          </a:bodyPr>
          <a:lstStyle/>
          <a:p>
            <a:pPr algn="r"/>
            <a:r>
              <a:rPr lang="fa-IR" dirty="0">
                <a:cs typeface="2  Nazanin" panose="00000400000000000000" pitchFamily="2" charset="-78"/>
              </a:rPr>
              <a:t> در لايـة آسـتر، زيركـاري، روكـش پرداخت، ساخت ملات و مادة افزودني در بتن كاربرد دارد</a:t>
            </a:r>
          </a:p>
        </p:txBody>
      </p:sp>
      <p:sp>
        <p:nvSpPr>
          <p:cNvPr id="42" name="Arc 41">
            <a:extLst>
              <a:ext uri="{FF2B5EF4-FFF2-40B4-BE49-F238E27FC236}">
                <a16:creationId xmlns:a16="http://schemas.microsoft.com/office/drawing/2014/main" id="{5BEC991F-A497-4042-8C3A-B383FAEE70D3}"/>
              </a:ext>
            </a:extLst>
          </p:cNvPr>
          <p:cNvSpPr/>
          <p:nvPr/>
        </p:nvSpPr>
        <p:spPr>
          <a:xfrm>
            <a:off x="7021936" y="352724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43" name="Flowchart: Connector 42">
            <a:extLst>
              <a:ext uri="{FF2B5EF4-FFF2-40B4-BE49-F238E27FC236}">
                <a16:creationId xmlns:a16="http://schemas.microsoft.com/office/drawing/2014/main" id="{383123A7-4D4B-4730-86C9-961104A4D288}"/>
              </a:ext>
            </a:extLst>
          </p:cNvPr>
          <p:cNvSpPr/>
          <p:nvPr/>
        </p:nvSpPr>
        <p:spPr>
          <a:xfrm>
            <a:off x="7539462" y="4052710"/>
            <a:ext cx="214489" cy="225777"/>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Circle: Hollow 43">
            <a:extLst>
              <a:ext uri="{FF2B5EF4-FFF2-40B4-BE49-F238E27FC236}">
                <a16:creationId xmlns:a16="http://schemas.microsoft.com/office/drawing/2014/main" id="{4D7B5875-ACB5-42C0-A4D6-2E3F55F94FE7}"/>
              </a:ext>
            </a:extLst>
          </p:cNvPr>
          <p:cNvSpPr/>
          <p:nvPr/>
        </p:nvSpPr>
        <p:spPr>
          <a:xfrm>
            <a:off x="7329206" y="3846820"/>
            <a:ext cx="623711" cy="637557"/>
          </a:xfrm>
          <a:prstGeom prst="donut">
            <a:avLst>
              <a:gd name="adj" fmla="val 6690"/>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45" name="Circle: Hollow 44">
            <a:extLst>
              <a:ext uri="{FF2B5EF4-FFF2-40B4-BE49-F238E27FC236}">
                <a16:creationId xmlns:a16="http://schemas.microsoft.com/office/drawing/2014/main" id="{3A81106B-3D87-437D-AFE4-5FF31C945D36}"/>
              </a:ext>
            </a:extLst>
          </p:cNvPr>
          <p:cNvSpPr/>
          <p:nvPr/>
        </p:nvSpPr>
        <p:spPr>
          <a:xfrm>
            <a:off x="7147875"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46" name="Straight Connector 45">
            <a:extLst>
              <a:ext uri="{FF2B5EF4-FFF2-40B4-BE49-F238E27FC236}">
                <a16:creationId xmlns:a16="http://schemas.microsoft.com/office/drawing/2014/main" id="{CE93D38D-D795-4385-BEC8-E6AA4664D001}"/>
              </a:ext>
            </a:extLst>
          </p:cNvPr>
          <p:cNvCxnSpPr>
            <a:cxnSpLocks/>
          </p:cNvCxnSpPr>
          <p:nvPr/>
        </p:nvCxnSpPr>
        <p:spPr>
          <a:xfrm flipV="1">
            <a:off x="7641061" y="4278489"/>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7" name="Flowchart: Connector 46">
            <a:extLst>
              <a:ext uri="{FF2B5EF4-FFF2-40B4-BE49-F238E27FC236}">
                <a16:creationId xmlns:a16="http://schemas.microsoft.com/office/drawing/2014/main" id="{48A981AB-0478-4F95-94C0-3071F93AB92F}"/>
              </a:ext>
            </a:extLst>
          </p:cNvPr>
          <p:cNvSpPr/>
          <p:nvPr/>
        </p:nvSpPr>
        <p:spPr>
          <a:xfrm>
            <a:off x="7556745" y="5442302"/>
            <a:ext cx="168625" cy="166642"/>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BBC64B3B-FF96-4A8E-82AE-E3EC2DC15477}"/>
              </a:ext>
            </a:extLst>
          </p:cNvPr>
          <p:cNvSpPr txBox="1"/>
          <p:nvPr/>
        </p:nvSpPr>
        <p:spPr>
          <a:xfrm>
            <a:off x="6489590" y="3018665"/>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بنایی</a:t>
            </a:r>
          </a:p>
        </p:txBody>
      </p:sp>
      <p:sp>
        <p:nvSpPr>
          <p:cNvPr id="49" name="TextBox 48">
            <a:extLst>
              <a:ext uri="{FF2B5EF4-FFF2-40B4-BE49-F238E27FC236}">
                <a16:creationId xmlns:a16="http://schemas.microsoft.com/office/drawing/2014/main" id="{DA621A48-B9C5-4327-A7F9-D8FF722AF5F5}"/>
              </a:ext>
            </a:extLst>
          </p:cNvPr>
          <p:cNvSpPr txBox="1"/>
          <p:nvPr/>
        </p:nvSpPr>
        <p:spPr>
          <a:xfrm>
            <a:off x="6381533" y="5704885"/>
            <a:ext cx="2519045" cy="923330"/>
          </a:xfrm>
          <a:prstGeom prst="rect">
            <a:avLst/>
          </a:prstGeom>
          <a:noFill/>
        </p:spPr>
        <p:txBody>
          <a:bodyPr wrap="square" rtlCol="1">
            <a:spAutoFit/>
          </a:bodyPr>
          <a:lstStyle/>
          <a:p>
            <a:pPr algn="r"/>
            <a:r>
              <a:rPr lang="fa-IR" dirty="0">
                <a:cs typeface="2  Nazanin" panose="00000400000000000000" pitchFamily="2" charset="-78"/>
              </a:rPr>
              <a:t>اين آهك بر چهـار نـوع هيدراتـه معمـولي بـراي مصارف بنايي است</a:t>
            </a:r>
            <a:r>
              <a:rPr lang="en-US" dirty="0">
                <a:cs typeface="2  Nazanin" panose="00000400000000000000" pitchFamily="2" charset="-78"/>
              </a:rPr>
              <a:t> </a:t>
            </a:r>
            <a:endParaRPr lang="fa-IR" dirty="0">
              <a:cs typeface="2  Nazanin" panose="00000400000000000000" pitchFamily="2" charset="-78"/>
            </a:endParaRPr>
          </a:p>
        </p:txBody>
      </p:sp>
      <p:cxnSp>
        <p:nvCxnSpPr>
          <p:cNvPr id="50" name="Straight Connector 49">
            <a:extLst>
              <a:ext uri="{FF2B5EF4-FFF2-40B4-BE49-F238E27FC236}">
                <a16:creationId xmlns:a16="http://schemas.microsoft.com/office/drawing/2014/main" id="{456A77C0-2057-4780-9DC9-E8961238DE13}"/>
              </a:ext>
            </a:extLst>
          </p:cNvPr>
          <p:cNvCxnSpPr>
            <a:cxnSpLocks/>
          </p:cNvCxnSpPr>
          <p:nvPr/>
        </p:nvCxnSpPr>
        <p:spPr>
          <a:xfrm>
            <a:off x="7725370" y="4165596"/>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1" name="Arc 50">
            <a:extLst>
              <a:ext uri="{FF2B5EF4-FFF2-40B4-BE49-F238E27FC236}">
                <a16:creationId xmlns:a16="http://schemas.microsoft.com/office/drawing/2014/main" id="{46278B94-746E-488E-850B-506F7CBA69FC}"/>
              </a:ext>
            </a:extLst>
          </p:cNvPr>
          <p:cNvSpPr/>
          <p:nvPr/>
        </p:nvSpPr>
        <p:spPr>
          <a:xfrm rot="5158658">
            <a:off x="9975991" y="3515949"/>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52" name="Flowchart: Connector 51">
            <a:extLst>
              <a:ext uri="{FF2B5EF4-FFF2-40B4-BE49-F238E27FC236}">
                <a16:creationId xmlns:a16="http://schemas.microsoft.com/office/drawing/2014/main" id="{883AAC48-AD83-4B8A-B3F6-529B48780B8C}"/>
              </a:ext>
            </a:extLst>
          </p:cNvPr>
          <p:cNvSpPr/>
          <p:nvPr/>
        </p:nvSpPr>
        <p:spPr>
          <a:xfrm>
            <a:off x="10493517" y="4041414"/>
            <a:ext cx="214489" cy="225777"/>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3" name="Circle: Hollow 52">
            <a:extLst>
              <a:ext uri="{FF2B5EF4-FFF2-40B4-BE49-F238E27FC236}">
                <a16:creationId xmlns:a16="http://schemas.microsoft.com/office/drawing/2014/main" id="{0CFF10DD-DD7E-404B-9051-06EDDB960DC8}"/>
              </a:ext>
            </a:extLst>
          </p:cNvPr>
          <p:cNvSpPr/>
          <p:nvPr/>
        </p:nvSpPr>
        <p:spPr>
          <a:xfrm>
            <a:off x="10283261" y="3835524"/>
            <a:ext cx="623711" cy="637557"/>
          </a:xfrm>
          <a:prstGeom prst="donut">
            <a:avLst>
              <a:gd name="adj" fmla="val 66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54" name="Circle: Hollow 53">
            <a:extLst>
              <a:ext uri="{FF2B5EF4-FFF2-40B4-BE49-F238E27FC236}">
                <a16:creationId xmlns:a16="http://schemas.microsoft.com/office/drawing/2014/main" id="{85CE0F99-827C-495A-9F39-C464AFC27C77}"/>
              </a:ext>
            </a:extLst>
          </p:cNvPr>
          <p:cNvSpPr/>
          <p:nvPr/>
        </p:nvSpPr>
        <p:spPr>
          <a:xfrm>
            <a:off x="10101930" y="3673178"/>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55" name="Straight Connector 54">
            <a:extLst>
              <a:ext uri="{FF2B5EF4-FFF2-40B4-BE49-F238E27FC236}">
                <a16:creationId xmlns:a16="http://schemas.microsoft.com/office/drawing/2014/main" id="{A47C44D2-0E2C-48D8-A995-721DDC6CD4B5}"/>
              </a:ext>
            </a:extLst>
          </p:cNvPr>
          <p:cNvCxnSpPr>
            <a:cxnSpLocks/>
          </p:cNvCxnSpPr>
          <p:nvPr/>
        </p:nvCxnSpPr>
        <p:spPr>
          <a:xfrm flipV="1">
            <a:off x="10595112" y="2877601"/>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Flowchart: Connector 55">
            <a:extLst>
              <a:ext uri="{FF2B5EF4-FFF2-40B4-BE49-F238E27FC236}">
                <a16:creationId xmlns:a16="http://schemas.microsoft.com/office/drawing/2014/main" id="{65812D45-D157-4BAB-91C7-7B0977F31197}"/>
              </a:ext>
            </a:extLst>
          </p:cNvPr>
          <p:cNvSpPr/>
          <p:nvPr/>
        </p:nvSpPr>
        <p:spPr>
          <a:xfrm>
            <a:off x="10511153" y="2750205"/>
            <a:ext cx="168625" cy="166642"/>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7" name="TextBox 56">
            <a:extLst>
              <a:ext uri="{FF2B5EF4-FFF2-40B4-BE49-F238E27FC236}">
                <a16:creationId xmlns:a16="http://schemas.microsoft.com/office/drawing/2014/main" id="{76FA2B22-65E8-423D-B457-8B16AADE2871}"/>
              </a:ext>
            </a:extLst>
          </p:cNvPr>
          <p:cNvSpPr txBox="1"/>
          <p:nvPr/>
        </p:nvSpPr>
        <p:spPr>
          <a:xfrm>
            <a:off x="9485913" y="4648940"/>
            <a:ext cx="2302933" cy="369332"/>
          </a:xfrm>
          <a:prstGeom prst="rect">
            <a:avLst/>
          </a:prstGeom>
          <a:noFill/>
        </p:spPr>
        <p:txBody>
          <a:bodyPr wrap="square" rtlCol="1">
            <a:spAutoFit/>
          </a:bodyPr>
          <a:lstStyle/>
          <a:p>
            <a:pPr algn="ctr"/>
            <a:r>
              <a:rPr lang="fa-IR" b="1" dirty="0">
                <a:cs typeface="2  Nazanin" panose="00000400000000000000" pitchFamily="2" charset="-78"/>
              </a:rPr>
              <a:t>اهک زنده</a:t>
            </a:r>
          </a:p>
        </p:txBody>
      </p:sp>
      <p:sp>
        <p:nvSpPr>
          <p:cNvPr id="58" name="TextBox 57">
            <a:extLst>
              <a:ext uri="{FF2B5EF4-FFF2-40B4-BE49-F238E27FC236}">
                <a16:creationId xmlns:a16="http://schemas.microsoft.com/office/drawing/2014/main" id="{5C5F80CB-48DD-44EF-A54D-2B3D14289721}"/>
              </a:ext>
            </a:extLst>
          </p:cNvPr>
          <p:cNvSpPr txBox="1"/>
          <p:nvPr/>
        </p:nvSpPr>
        <p:spPr>
          <a:xfrm>
            <a:off x="9335589" y="1803574"/>
            <a:ext cx="2519045" cy="923330"/>
          </a:xfrm>
          <a:prstGeom prst="rect">
            <a:avLst/>
          </a:prstGeom>
          <a:noFill/>
        </p:spPr>
        <p:txBody>
          <a:bodyPr wrap="square" rtlCol="1">
            <a:spAutoFit/>
          </a:bodyPr>
          <a:lstStyle/>
          <a:p>
            <a:pPr algn="r"/>
            <a:r>
              <a:rPr lang="fa-IR" dirty="0">
                <a:cs typeface="2  Nazanin" panose="00000400000000000000" pitchFamily="2" charset="-78"/>
              </a:rPr>
              <a:t>اهك اگر زنده به سه گروه فعال، نيمه فعال و كـم فعـال تقسـيم مـيشـود.</a:t>
            </a:r>
          </a:p>
        </p:txBody>
      </p:sp>
      <p:cxnSp>
        <p:nvCxnSpPr>
          <p:cNvPr id="59" name="Straight Connector 58">
            <a:extLst>
              <a:ext uri="{FF2B5EF4-FFF2-40B4-BE49-F238E27FC236}">
                <a16:creationId xmlns:a16="http://schemas.microsoft.com/office/drawing/2014/main" id="{56958883-3590-460A-89A2-48A1F8DA0F35}"/>
              </a:ext>
            </a:extLst>
          </p:cNvPr>
          <p:cNvCxnSpPr>
            <a:cxnSpLocks/>
          </p:cNvCxnSpPr>
          <p:nvPr/>
        </p:nvCxnSpPr>
        <p:spPr>
          <a:xfrm>
            <a:off x="10688947" y="4154300"/>
            <a:ext cx="1503053" cy="278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5A4D828-C5F6-4A28-804D-9AB280CE04AD}"/>
              </a:ext>
            </a:extLst>
          </p:cNvPr>
          <p:cNvGrpSpPr/>
          <p:nvPr/>
        </p:nvGrpSpPr>
        <p:grpSpPr>
          <a:xfrm>
            <a:off x="0" y="3463"/>
            <a:ext cx="12192000" cy="7550727"/>
            <a:chOff x="0" y="0"/>
            <a:chExt cx="12192000" cy="7550727"/>
          </a:xfrm>
          <a:solidFill>
            <a:srgbClr val="55828B"/>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0" name="TextBox 19">
            <a:extLst>
              <a:ext uri="{FF2B5EF4-FFF2-40B4-BE49-F238E27FC236}">
                <a16:creationId xmlns:a16="http://schemas.microsoft.com/office/drawing/2014/main" id="{CD9ECC79-3748-4D23-B7A7-A4F22A5708DD}"/>
              </a:ext>
            </a:extLst>
          </p:cNvPr>
          <p:cNvSpPr txBox="1"/>
          <p:nvPr/>
        </p:nvSpPr>
        <p:spPr>
          <a:xfrm>
            <a:off x="3754092" y="1398655"/>
            <a:ext cx="8076669" cy="5416868"/>
          </a:xfrm>
          <a:prstGeom prst="rect">
            <a:avLst/>
          </a:prstGeom>
          <a:noFill/>
        </p:spPr>
        <p:txBody>
          <a:bodyPr wrap="square" rtlCol="1">
            <a:spAutoFit/>
          </a:bodyPr>
          <a:lstStyle/>
          <a:p>
            <a:pPr algn="r"/>
            <a:r>
              <a:rPr lang="fa-IR" sz="2000" b="1" dirty="0">
                <a:cs typeface="2  Nazanin" panose="00000400000000000000" pitchFamily="2" charset="-78"/>
              </a:rPr>
              <a:t>فراورده های آهکی</a:t>
            </a:r>
          </a:p>
          <a:p>
            <a:pPr algn="r"/>
            <a:r>
              <a:rPr lang="fa-IR" dirty="0">
                <a:cs typeface="2  Nazanin" panose="00000400000000000000" pitchFamily="2" charset="-78"/>
              </a:rPr>
              <a:t> آجر ماسه آهكي</a:t>
            </a:r>
          </a:p>
          <a:p>
            <a:pPr algn="r"/>
            <a:r>
              <a:rPr lang="fa-IR" dirty="0">
                <a:cs typeface="2  Nazanin" panose="00000400000000000000" pitchFamily="2" charset="-78"/>
              </a:rPr>
              <a:t>بتن آهكي سبك: اين بتن از جنس سيليكات كلسـيم اسـت. از خـواص آن سـبك بـودن و</a:t>
            </a:r>
          </a:p>
          <a:p>
            <a:pPr algn="r"/>
            <a:r>
              <a:rPr lang="fa-IR" dirty="0">
                <a:cs typeface="2  Nazanin" panose="00000400000000000000" pitchFamily="2" charset="-78"/>
              </a:rPr>
              <a:t>داشتن خاصيت عايق حرارتي است. قطعات پيشساخته آن در ساخت سقف و ديوارهاي غيرباربر به كار ميرود</a:t>
            </a:r>
            <a:endParaRPr lang="en-US" dirty="0">
              <a:cs typeface="2  Nazanin" panose="00000400000000000000" pitchFamily="2" charset="-78"/>
            </a:endParaRPr>
          </a:p>
          <a:p>
            <a:pPr algn="r"/>
            <a:r>
              <a:rPr lang="fa-IR" sz="2000" b="1" dirty="0">
                <a:cs typeface="2  Nazanin" panose="00000400000000000000" pitchFamily="2" charset="-78"/>
              </a:rPr>
              <a:t>ویژگی ها</a:t>
            </a:r>
          </a:p>
          <a:p>
            <a:pPr algn="r"/>
            <a:r>
              <a:rPr lang="fa-IR" dirty="0">
                <a:cs typeface="2  Nazanin" panose="00000400000000000000" pitchFamily="2" charset="-78"/>
              </a:rPr>
              <a:t>آهك بايد به صورت دوغاب مصرف شود</a:t>
            </a:r>
          </a:p>
          <a:p>
            <a:pPr algn="r"/>
            <a:r>
              <a:rPr lang="fa-IR" dirty="0">
                <a:cs typeface="2  Nazanin" panose="00000400000000000000" pitchFamily="2" charset="-78"/>
              </a:rPr>
              <a:t>آهك را بايد در جايي استفاده كرد كه هوا نمناك باشد</a:t>
            </a:r>
          </a:p>
          <a:p>
            <a:pPr algn="r"/>
            <a:r>
              <a:rPr lang="fa-IR" dirty="0">
                <a:cs typeface="2  Nazanin" panose="00000400000000000000" pitchFamily="2" charset="-78"/>
              </a:rPr>
              <a:t>آهك زنده قبل از شكفته شدن هرگز نبايد براي مصارف ساختماني مصرف گردد</a:t>
            </a:r>
            <a:endParaRPr lang="en-US" dirty="0">
              <a:cs typeface="2  Nazanin" panose="00000400000000000000" pitchFamily="2" charset="-78"/>
            </a:endParaRPr>
          </a:p>
          <a:p>
            <a:pPr algn="r"/>
            <a:r>
              <a:rPr lang="fa-IR" dirty="0">
                <a:cs typeface="2  Nazanin" panose="00000400000000000000" pitchFamily="2" charset="-78"/>
              </a:rPr>
              <a:t>آزمایش ها</a:t>
            </a:r>
            <a:endParaRPr lang="en-US" dirty="0">
              <a:cs typeface="2  Nazanin" panose="00000400000000000000" pitchFamily="2" charset="-78"/>
            </a:endParaRPr>
          </a:p>
          <a:p>
            <a:pPr algn="r"/>
            <a:r>
              <a:rPr lang="fa-IR" dirty="0">
                <a:cs typeface="2  Nazanin" panose="00000400000000000000" pitchFamily="2" charset="-78"/>
              </a:rPr>
              <a:t>ازمايش هاي شيميايي آهك زنده، آهك هيدراته و سنگ آهـكندازهگيري اكسيد سيليسيم</a:t>
            </a:r>
          </a:p>
          <a:p>
            <a:pPr algn="r"/>
            <a:r>
              <a:rPr lang="fa-IR" dirty="0">
                <a:cs typeface="2  Nazanin" panose="00000400000000000000" pitchFamily="2" charset="-78"/>
              </a:rPr>
              <a:t>و مواد نامحلول، اندازهگيري مجموع اكسيدهاي آلومينيم، آهن، فسفر، تيتانيوم و منگنز، اندازهگيري اکسيدهاي كلسيم، منيزيم، استرانسيم، تـري اكسـيد گـوگرد، افـت سـرخ شـدن در 1000 درجـه سلسيوس، تعيين رطوبت آزاد در سنگ آهـك و آهـك هيدراتـه، تعيـين فسفر، منگنـز و آهـن دو ظرفيتي می باشد</a:t>
            </a:r>
            <a:endParaRPr lang="en-US" dirty="0">
              <a:cs typeface="2  Nazanin" panose="00000400000000000000" pitchFamily="2" charset="-78"/>
            </a:endParaRPr>
          </a:p>
          <a:p>
            <a:pPr algn="r"/>
            <a:r>
              <a:rPr lang="fa-IR" dirty="0">
                <a:cs typeface="2  Nazanin" panose="00000400000000000000" pitchFamily="2" charset="-78"/>
              </a:rPr>
              <a:t>آزمايش هاي فيزيكي آهك زنده، آهك هيدراته و سنگ آهك تعيين باقيمانده آهـك زنده، سرعت شكفتن آهك زنده، دانه بندي آهك زنده، آهك هيدراته و سنگ آهك، تعيـين چگـالي ظاهري آزاد آهك هيدراته، پودر آهك زنده و سنگ آهك، چگالي ظاهري متـراكم آهـك هيدراتـه، پودر سنگ آهـك، دانـه بنـدي پـودر سـنگ آهـك، غلظت استاندارد خميـر آهـك هيدراتـه، شـكلپ ـذيري خمير آهك هيدراته، انبساط اتوكلاو آهك هيدراتـه، قابليـت آب نگهـداري آهـك هيدراتـه،می باشد</a:t>
            </a:r>
          </a:p>
          <a:p>
            <a:pPr algn="r"/>
            <a:r>
              <a:rPr lang="en-US" dirty="0">
                <a:cs typeface="2  Nazanin" panose="00000400000000000000" pitchFamily="2" charset="-78"/>
              </a:rPr>
              <a:t> </a:t>
            </a:r>
            <a:endParaRPr lang="fa-IR" dirty="0">
              <a:cs typeface="2  Nazanin" panose="00000400000000000000" pitchFamily="2" charset="-78"/>
            </a:endParaRPr>
          </a:p>
        </p:txBody>
      </p:sp>
      <p:pic>
        <p:nvPicPr>
          <p:cNvPr id="61" name="Picture 60">
            <a:extLst>
              <a:ext uri="{FF2B5EF4-FFF2-40B4-BE49-F238E27FC236}">
                <a16:creationId xmlns:a16="http://schemas.microsoft.com/office/drawing/2014/main" id="{D257472B-906A-4A30-A099-1D219EDDFA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963" y="5015908"/>
            <a:ext cx="2838450" cy="1609725"/>
          </a:xfrm>
          <a:prstGeom prst="rect">
            <a:avLst/>
          </a:prstGeom>
        </p:spPr>
      </p:pic>
      <p:pic>
        <p:nvPicPr>
          <p:cNvPr id="63" name="Picture 62">
            <a:extLst>
              <a:ext uri="{FF2B5EF4-FFF2-40B4-BE49-F238E27FC236}">
                <a16:creationId xmlns:a16="http://schemas.microsoft.com/office/drawing/2014/main" id="{B6CCE329-5E02-4D9F-913F-19CA3535EA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03" y="957510"/>
            <a:ext cx="2009775" cy="2276475"/>
          </a:xfrm>
          <a:prstGeom prst="rect">
            <a:avLst/>
          </a:prstGeom>
        </p:spPr>
      </p:pic>
      <p:pic>
        <p:nvPicPr>
          <p:cNvPr id="65" name="Picture 64">
            <a:extLst>
              <a:ext uri="{FF2B5EF4-FFF2-40B4-BE49-F238E27FC236}">
                <a16:creationId xmlns:a16="http://schemas.microsoft.com/office/drawing/2014/main" id="{020C5E2A-7BE1-4ACD-A867-E23E6ADF83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0095" y="2187836"/>
            <a:ext cx="1847850" cy="2466975"/>
          </a:xfrm>
          <a:prstGeom prst="rect">
            <a:avLst/>
          </a:prstGeom>
        </p:spPr>
      </p:pic>
      <p:grpSp>
        <p:nvGrpSpPr>
          <p:cNvPr id="16" name="Group 15">
            <a:extLst>
              <a:ext uri="{FF2B5EF4-FFF2-40B4-BE49-F238E27FC236}">
                <a16:creationId xmlns:a16="http://schemas.microsoft.com/office/drawing/2014/main" id="{F5CD2D5A-83F7-4113-8244-4BCEF4D825AB}"/>
              </a:ext>
            </a:extLst>
          </p:cNvPr>
          <p:cNvGrpSpPr/>
          <p:nvPr/>
        </p:nvGrpSpPr>
        <p:grpSpPr>
          <a:xfrm>
            <a:off x="-96" y="3463"/>
            <a:ext cx="12192000" cy="7550727"/>
            <a:chOff x="0" y="0"/>
            <a:chExt cx="12192000" cy="7550727"/>
          </a:xfrm>
          <a:solidFill>
            <a:srgbClr val="3B6064"/>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60" name="TextBox 59">
            <a:extLst>
              <a:ext uri="{FF2B5EF4-FFF2-40B4-BE49-F238E27FC236}">
                <a16:creationId xmlns:a16="http://schemas.microsoft.com/office/drawing/2014/main" id="{5E6E7FA3-595F-4374-9707-EA0C5A9C038F}"/>
              </a:ext>
            </a:extLst>
          </p:cNvPr>
          <p:cNvSpPr txBox="1"/>
          <p:nvPr/>
        </p:nvSpPr>
        <p:spPr>
          <a:xfrm>
            <a:off x="3013618" y="1013050"/>
            <a:ext cx="8902959" cy="5632311"/>
          </a:xfrm>
          <a:prstGeom prst="rect">
            <a:avLst/>
          </a:prstGeom>
          <a:noFill/>
        </p:spPr>
        <p:txBody>
          <a:bodyPr wrap="square" rtlCol="1">
            <a:spAutoFit/>
          </a:bodyPr>
          <a:lstStyle/>
          <a:p>
            <a:pPr algn="r"/>
            <a:r>
              <a:rPr lang="fa-IR" sz="2000" b="1" dirty="0">
                <a:cs typeface="2  Nazanin" panose="00000400000000000000" pitchFamily="2" charset="-78"/>
              </a:rPr>
              <a:t>ایمنی</a:t>
            </a:r>
          </a:p>
          <a:p>
            <a:pPr algn="r"/>
            <a:r>
              <a:rPr lang="fa-IR" sz="2000" dirty="0">
                <a:cs typeface="2  Nazanin" panose="00000400000000000000" pitchFamily="2" charset="-78"/>
              </a:rPr>
              <a:t>کاربرد و جابه جا كردن آهك مستلزم رعايت نكات ايمني است. آهك به چشم و پوسـت آسيب ميرساند و تنفس بخار آهك زنده، هنگـام شـكفتن، زيـان اور اسـت. بهتـر اسـت در كارگـاه ساختماني از آهك هيدراته استفاده شود. اگر ضروري است آهك زنده در محل مصرف شكفته شود، حتماً بايد به ايمني كار توجه شود. </a:t>
            </a:r>
          </a:p>
          <a:p>
            <a:pPr algn="r"/>
            <a:r>
              <a:rPr lang="fa-IR" sz="2000" dirty="0">
                <a:cs typeface="2  Nazanin" panose="00000400000000000000" pitchFamily="2" charset="-78"/>
              </a:rPr>
              <a:t> از آنجا كه شكفته كردن آهك با گرمازايي زيادي همـراه اسـت، در ايـن كـار بايـد نكـات ايمني و بهداشتي رعايت شود.</a:t>
            </a:r>
            <a:endParaRPr lang="en-US" sz="2000" dirty="0">
              <a:cs typeface="2  Nazanin" panose="00000400000000000000" pitchFamily="2" charset="-78"/>
            </a:endParaRPr>
          </a:p>
          <a:p>
            <a:pPr algn="r"/>
            <a:r>
              <a:rPr lang="fa-IR" sz="2000" b="1" dirty="0">
                <a:cs typeface="2  Nazanin" panose="00000400000000000000" pitchFamily="2" charset="-78"/>
              </a:rPr>
              <a:t>سازگاری</a:t>
            </a:r>
          </a:p>
          <a:p>
            <a:pPr algn="r"/>
            <a:r>
              <a:rPr lang="fa-IR" sz="2000" dirty="0">
                <a:cs typeface="2  Nazanin" panose="00000400000000000000" pitchFamily="2" charset="-78"/>
              </a:rPr>
              <a:t>سطح زيرين اندود آهك يا آهك و گچ حتماً بايد خشك باشد. </a:t>
            </a:r>
          </a:p>
          <a:p>
            <a:pPr algn="r"/>
            <a:r>
              <a:rPr lang="fa-IR" sz="2000" dirty="0">
                <a:cs typeface="2  Nazanin" panose="00000400000000000000" pitchFamily="2" charset="-78"/>
              </a:rPr>
              <a:t>اندود ماسه سيمان با آهك براي بيشتر سطوح مناسب است. با قفل و بست ميتـوان از ميزان انقباض خشك شدن كاست. اين اندود براي محيطهاي مرطوب نيز مناسب است. </a:t>
            </a:r>
          </a:p>
          <a:p>
            <a:pPr algn="r"/>
            <a:r>
              <a:rPr lang="fa-IR" sz="2000" dirty="0">
                <a:cs typeface="2  Nazanin" panose="00000400000000000000" pitchFamily="2" charset="-78"/>
              </a:rPr>
              <a:t> آب آهك سبب خوردگي فلزات، به ويژه سرب، روي و آلومينيم ميشود، بنابراين، بايـد قطعات فلزي را، پيش از قرار دادن در ملات هاي آهكي يا سيماني، با مواد مناسب اندود كرد. </a:t>
            </a:r>
            <a:endParaRPr lang="en-US" sz="2000" dirty="0">
              <a:cs typeface="2  Nazanin" panose="00000400000000000000" pitchFamily="2" charset="-78"/>
            </a:endParaRPr>
          </a:p>
          <a:p>
            <a:pPr algn="r"/>
            <a:r>
              <a:rPr lang="fa-IR" sz="2000" b="1" dirty="0">
                <a:cs typeface="2  Nazanin" panose="00000400000000000000" pitchFamily="2" charset="-78"/>
              </a:rPr>
              <a:t>بسته بندی و حمل</a:t>
            </a:r>
          </a:p>
          <a:p>
            <a:pPr algn="r"/>
            <a:r>
              <a:rPr lang="fa-IR" sz="2000" dirty="0">
                <a:cs typeface="2  Nazanin" panose="00000400000000000000" pitchFamily="2" charset="-78"/>
              </a:rPr>
              <a:t>آهك زنده را بايد از تأثير آب و دياكسيد كربن هوا حفـظ كـرد و هماننـد سـيمان در ظروف مخصوص يا كيسه هاي آب بندي شده، نگهداري كرد</a:t>
            </a:r>
            <a:endParaRPr lang="en-US" sz="2000" dirty="0">
              <a:cs typeface="2  Nazanin" panose="00000400000000000000" pitchFamily="2" charset="-78"/>
            </a:endParaRPr>
          </a:p>
          <a:p>
            <a:pPr algn="r"/>
            <a:r>
              <a:rPr lang="fa-IR" sz="2000" dirty="0">
                <a:cs typeface="2  Nazanin" panose="00000400000000000000" pitchFamily="2" charset="-78"/>
              </a:rPr>
              <a:t>آهك شكفته را ميتوان انبار كرد و حمل و نقل آن از آهك زنـده آسـانتـر اسـت و در انبار در صورت محفوظ ماندن از هوا فعاليت آن كم نميشود. آهك زنده به سـرعت از هـوا رطوبـت ميگيرد و شكفته ميشود، لذا بايد آن را در جاي خشك نگهداري و از نفوذ هـوا، رطوبـت و آب دران جلوگيري كرد.</a:t>
            </a:r>
          </a:p>
        </p:txBody>
      </p:sp>
      <p:pic>
        <p:nvPicPr>
          <p:cNvPr id="64" name="Picture 63">
            <a:extLst>
              <a:ext uri="{FF2B5EF4-FFF2-40B4-BE49-F238E27FC236}">
                <a16:creationId xmlns:a16="http://schemas.microsoft.com/office/drawing/2014/main" id="{493ACFF6-4959-4941-A30C-212FA9EE72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838" y="1240766"/>
            <a:ext cx="2857500" cy="1600200"/>
          </a:xfrm>
          <a:prstGeom prst="rect">
            <a:avLst/>
          </a:prstGeom>
        </p:spPr>
      </p:pic>
      <p:pic>
        <p:nvPicPr>
          <p:cNvPr id="67" name="Picture 66">
            <a:extLst>
              <a:ext uri="{FF2B5EF4-FFF2-40B4-BE49-F238E27FC236}">
                <a16:creationId xmlns:a16="http://schemas.microsoft.com/office/drawing/2014/main" id="{90F2EC13-598E-48EA-8F68-CD992A23057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9033" y="3140519"/>
            <a:ext cx="2815274" cy="1407637"/>
          </a:xfrm>
          <a:prstGeom prst="rect">
            <a:avLst/>
          </a:prstGeom>
        </p:spPr>
      </p:pic>
      <p:pic>
        <p:nvPicPr>
          <p:cNvPr id="69" name="Picture 68">
            <a:extLst>
              <a:ext uri="{FF2B5EF4-FFF2-40B4-BE49-F238E27FC236}">
                <a16:creationId xmlns:a16="http://schemas.microsoft.com/office/drawing/2014/main" id="{DB16E1F0-038E-4271-9D66-3EF556B884CF}"/>
              </a:ext>
            </a:extLst>
          </p:cNvPr>
          <p:cNvPicPr>
            <a:picLocks noChangeAspect="1"/>
          </p:cNvPicPr>
          <p:nvPr/>
        </p:nvPicPr>
        <p:blipFill rotWithShape="1">
          <a:blip r:embed="rId9">
            <a:extLst>
              <a:ext uri="{28A0092B-C50C-407E-A947-70E740481C1C}">
                <a14:useLocalDpi xmlns:a14="http://schemas.microsoft.com/office/drawing/2010/main" val="0"/>
              </a:ext>
            </a:extLst>
          </a:blip>
          <a:srcRect b="16328"/>
          <a:stretch/>
        </p:blipFill>
        <p:spPr>
          <a:xfrm>
            <a:off x="109838" y="4930713"/>
            <a:ext cx="2954673" cy="1437927"/>
          </a:xfrm>
          <a:prstGeom prst="rect">
            <a:avLst/>
          </a:prstGeom>
        </p:spPr>
      </p:pic>
      <p:grpSp>
        <p:nvGrpSpPr>
          <p:cNvPr id="68" name="Group 67">
            <a:extLst>
              <a:ext uri="{FF2B5EF4-FFF2-40B4-BE49-F238E27FC236}">
                <a16:creationId xmlns:a16="http://schemas.microsoft.com/office/drawing/2014/main" id="{D1356313-1907-494C-8690-EFFAC0FB54C4}"/>
              </a:ext>
            </a:extLst>
          </p:cNvPr>
          <p:cNvGrpSpPr/>
          <p:nvPr/>
        </p:nvGrpSpPr>
        <p:grpSpPr>
          <a:xfrm>
            <a:off x="0" y="-6200043"/>
            <a:ext cx="12192000" cy="7550727"/>
            <a:chOff x="0" y="0"/>
            <a:chExt cx="12192000" cy="7550727"/>
          </a:xfrm>
          <a:solidFill>
            <a:srgbClr val="364958"/>
          </a:solidFill>
        </p:grpSpPr>
        <p:sp>
          <p:nvSpPr>
            <p:cNvPr id="70" name="Rectangle 69">
              <a:extLst>
                <a:ext uri="{FF2B5EF4-FFF2-40B4-BE49-F238E27FC236}">
                  <a16:creationId xmlns:a16="http://schemas.microsoft.com/office/drawing/2014/main" id="{3636F98C-EB50-4D72-B773-2086FFAF35E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71" name="Rectangle: Top Corners Rounded 70">
              <a:extLst>
                <a:ext uri="{FF2B5EF4-FFF2-40B4-BE49-F238E27FC236}">
                  <a16:creationId xmlns:a16="http://schemas.microsoft.com/office/drawing/2014/main" id="{78B16B05-4106-466A-BD01-9D689E672EE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72" name="TextBox 71">
              <a:extLst>
                <a:ext uri="{FF2B5EF4-FFF2-40B4-BE49-F238E27FC236}">
                  <a16:creationId xmlns:a16="http://schemas.microsoft.com/office/drawing/2014/main" id="{C1A18F8A-A2EF-432C-9F5C-895090AB16A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Tree>
    <p:extLst>
      <p:ext uri="{BB962C8B-B14F-4D97-AF65-F5344CB8AC3E}">
        <p14:creationId xmlns:p14="http://schemas.microsoft.com/office/powerpoint/2010/main" val="5748205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fltVal val="0"/>
                                          </p:val>
                                        </p:tav>
                                        <p:tav tm="100000">
                                          <p:val>
                                            <p:strVal val="#ppt_w"/>
                                          </p:val>
                                        </p:tav>
                                      </p:tavLst>
                                    </p:anim>
                                    <p:anim calcmode="lin" valueType="num">
                                      <p:cBhvr>
                                        <p:cTn id="12" dur="500" fill="hold"/>
                                        <p:tgtEl>
                                          <p:spTgt spid="27"/>
                                        </p:tgtEl>
                                        <p:attrNameLst>
                                          <p:attrName>ppt_h</p:attrName>
                                        </p:attrNameLst>
                                      </p:cBhvr>
                                      <p:tavLst>
                                        <p:tav tm="0">
                                          <p:val>
                                            <p:fltVal val="0"/>
                                          </p:val>
                                        </p:tav>
                                        <p:tav tm="100000">
                                          <p:val>
                                            <p:strVal val="#ppt_h"/>
                                          </p:val>
                                        </p:tav>
                                      </p:tavLst>
                                    </p:anim>
                                    <p:animEffect transition="in" filter="fade">
                                      <p:cBhvr>
                                        <p:cTn id="13" dur="500"/>
                                        <p:tgtEl>
                                          <p:spTgt spid="2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500" fill="hold"/>
                                        <p:tgtEl>
                                          <p:spTgt spid="28"/>
                                        </p:tgtEl>
                                        <p:attrNameLst>
                                          <p:attrName>ppt_w</p:attrName>
                                        </p:attrNameLst>
                                      </p:cBhvr>
                                      <p:tavLst>
                                        <p:tav tm="0">
                                          <p:val>
                                            <p:fltVal val="0"/>
                                          </p:val>
                                        </p:tav>
                                        <p:tav tm="100000">
                                          <p:val>
                                            <p:strVal val="#ppt_w"/>
                                          </p:val>
                                        </p:tav>
                                      </p:tavLst>
                                    </p:anim>
                                    <p:anim calcmode="lin" valueType="num">
                                      <p:cBhvr>
                                        <p:cTn id="18" dur="500" fill="hold"/>
                                        <p:tgtEl>
                                          <p:spTgt spid="28"/>
                                        </p:tgtEl>
                                        <p:attrNameLst>
                                          <p:attrName>ppt_h</p:attrName>
                                        </p:attrNameLst>
                                      </p:cBhvr>
                                      <p:tavLst>
                                        <p:tav tm="0">
                                          <p:val>
                                            <p:fltVal val="0"/>
                                          </p:val>
                                        </p:tav>
                                        <p:tav tm="100000">
                                          <p:val>
                                            <p:strVal val="#ppt_h"/>
                                          </p:val>
                                        </p:tav>
                                      </p:tavLst>
                                    </p:anim>
                                    <p:animEffect transition="in" filter="fade">
                                      <p:cBhvr>
                                        <p:cTn id="19" dur="500"/>
                                        <p:tgtEl>
                                          <p:spTgt spid="28"/>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up)">
                                      <p:cBhvr>
                                        <p:cTn id="29" dur="500"/>
                                        <p:tgtEl>
                                          <p:spTgt spid="30"/>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500" fill="hold"/>
                                        <p:tgtEl>
                                          <p:spTgt spid="31"/>
                                        </p:tgtEl>
                                        <p:attrNameLst>
                                          <p:attrName>ppt_w</p:attrName>
                                        </p:attrNameLst>
                                      </p:cBhvr>
                                      <p:tavLst>
                                        <p:tav tm="0">
                                          <p:val>
                                            <p:fltVal val="0"/>
                                          </p:val>
                                        </p:tav>
                                        <p:tav tm="100000">
                                          <p:val>
                                            <p:strVal val="#ppt_w"/>
                                          </p:val>
                                        </p:tav>
                                      </p:tavLst>
                                    </p:anim>
                                    <p:anim calcmode="lin" valueType="num">
                                      <p:cBhvr>
                                        <p:cTn id="34" dur="500" fill="hold"/>
                                        <p:tgtEl>
                                          <p:spTgt spid="31"/>
                                        </p:tgtEl>
                                        <p:attrNameLst>
                                          <p:attrName>ppt_h</p:attrName>
                                        </p:attrNameLst>
                                      </p:cBhvr>
                                      <p:tavLst>
                                        <p:tav tm="0">
                                          <p:val>
                                            <p:fltVal val="0"/>
                                          </p:val>
                                        </p:tav>
                                        <p:tav tm="100000">
                                          <p:val>
                                            <p:strVal val="#ppt_h"/>
                                          </p:val>
                                        </p:tav>
                                      </p:tavLst>
                                    </p:anim>
                                    <p:animEffect transition="in" filter="fade">
                                      <p:cBhvr>
                                        <p:cTn id="35" dur="500"/>
                                        <p:tgtEl>
                                          <p:spTgt spid="31"/>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par>
                                <p:cTn id="42" presetID="47"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1000"/>
                                        <p:tgtEl>
                                          <p:spTgt spid="32"/>
                                        </p:tgtEl>
                                      </p:cBhvr>
                                    </p:animEffect>
                                    <p:anim calcmode="lin" valueType="num">
                                      <p:cBhvr>
                                        <p:cTn id="45" dur="1000" fill="hold"/>
                                        <p:tgtEl>
                                          <p:spTgt spid="32"/>
                                        </p:tgtEl>
                                        <p:attrNameLst>
                                          <p:attrName>ppt_x</p:attrName>
                                        </p:attrNameLst>
                                      </p:cBhvr>
                                      <p:tavLst>
                                        <p:tav tm="0">
                                          <p:val>
                                            <p:strVal val="#ppt_x"/>
                                          </p:val>
                                        </p:tav>
                                        <p:tav tm="100000">
                                          <p:val>
                                            <p:strVal val="#ppt_x"/>
                                          </p:val>
                                        </p:tav>
                                      </p:tavLst>
                                    </p:anim>
                                    <p:anim calcmode="lin" valueType="num">
                                      <p:cBhvr>
                                        <p:cTn id="46" dur="1000" fill="hold"/>
                                        <p:tgtEl>
                                          <p:spTgt spid="32"/>
                                        </p:tgtEl>
                                        <p:attrNameLst>
                                          <p:attrName>ppt_y</p:attrName>
                                        </p:attrNameLst>
                                      </p:cBhvr>
                                      <p:tavLst>
                                        <p:tav tm="0">
                                          <p:val>
                                            <p:strVal val="#ppt_y-.1"/>
                                          </p:val>
                                        </p:tav>
                                        <p:tav tm="100000">
                                          <p:val>
                                            <p:strVal val="#ppt_y"/>
                                          </p:val>
                                        </p:tav>
                                      </p:tavLst>
                                    </p:anim>
                                  </p:childTnLst>
                                </p:cTn>
                              </p:par>
                            </p:childTnLst>
                          </p:cTn>
                        </p:par>
                        <p:par>
                          <p:cTn id="47" fill="hold">
                            <p:stCondLst>
                              <p:cond delay="4000"/>
                            </p:stCondLst>
                            <p:childTnLst>
                              <p:par>
                                <p:cTn id="48" presetID="42" presetClass="entr" presetSubtype="0" fill="hold" grpId="0" nodeType="after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1500"/>
                                        <p:tgtEl>
                                          <p:spTgt spid="33"/>
                                        </p:tgtEl>
                                      </p:cBhvr>
                                    </p:animEffect>
                                    <p:anim calcmode="lin" valueType="num">
                                      <p:cBhvr>
                                        <p:cTn id="51" dur="1500" fill="hold"/>
                                        <p:tgtEl>
                                          <p:spTgt spid="33"/>
                                        </p:tgtEl>
                                        <p:attrNameLst>
                                          <p:attrName>ppt_x</p:attrName>
                                        </p:attrNameLst>
                                      </p:cBhvr>
                                      <p:tavLst>
                                        <p:tav tm="0">
                                          <p:val>
                                            <p:strVal val="#ppt_x"/>
                                          </p:val>
                                        </p:tav>
                                        <p:tav tm="100000">
                                          <p:val>
                                            <p:strVal val="#ppt_x"/>
                                          </p:val>
                                        </p:tav>
                                      </p:tavLst>
                                    </p:anim>
                                    <p:anim calcmode="lin" valueType="num">
                                      <p:cBhvr>
                                        <p:cTn id="52" dur="1500" fill="hold"/>
                                        <p:tgtEl>
                                          <p:spTgt spid="33"/>
                                        </p:tgtEl>
                                        <p:attrNameLst>
                                          <p:attrName>ppt_y</p:attrName>
                                        </p:attrNameLst>
                                      </p:cBhvr>
                                      <p:tavLst>
                                        <p:tav tm="0">
                                          <p:val>
                                            <p:strVal val="#ppt_y+.1"/>
                                          </p:val>
                                        </p:tav>
                                        <p:tav tm="100000">
                                          <p:val>
                                            <p:strVal val="#ppt_y"/>
                                          </p:val>
                                        </p:tav>
                                      </p:tavLst>
                                    </p:anim>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par>
                          <p:cTn id="57" fill="hold">
                            <p:stCondLst>
                              <p:cond delay="6000"/>
                            </p:stCondLst>
                            <p:childTnLst>
                              <p:par>
                                <p:cTn id="58" presetID="53" presetClass="entr" presetSubtype="16" fill="hold" grpId="0" nodeType="afterEffect">
                                  <p:stCondLst>
                                    <p:cond delay="0"/>
                                  </p:stCondLst>
                                  <p:childTnLst>
                                    <p:set>
                                      <p:cBhvr>
                                        <p:cTn id="59" dur="1" fill="hold">
                                          <p:stCondLst>
                                            <p:cond delay="0"/>
                                          </p:stCondLst>
                                        </p:cTn>
                                        <p:tgtEl>
                                          <p:spTgt spid="35"/>
                                        </p:tgtEl>
                                        <p:attrNameLst>
                                          <p:attrName>style.visibility</p:attrName>
                                        </p:attrNameLst>
                                      </p:cBhvr>
                                      <p:to>
                                        <p:strVal val="visible"/>
                                      </p:to>
                                    </p:set>
                                    <p:anim calcmode="lin" valueType="num">
                                      <p:cBhvr>
                                        <p:cTn id="60" dur="500" fill="hold"/>
                                        <p:tgtEl>
                                          <p:spTgt spid="35"/>
                                        </p:tgtEl>
                                        <p:attrNameLst>
                                          <p:attrName>ppt_w</p:attrName>
                                        </p:attrNameLst>
                                      </p:cBhvr>
                                      <p:tavLst>
                                        <p:tav tm="0">
                                          <p:val>
                                            <p:fltVal val="0"/>
                                          </p:val>
                                        </p:tav>
                                        <p:tav tm="100000">
                                          <p:val>
                                            <p:strVal val="#ppt_w"/>
                                          </p:val>
                                        </p:tav>
                                      </p:tavLst>
                                    </p:anim>
                                    <p:anim calcmode="lin" valueType="num">
                                      <p:cBhvr>
                                        <p:cTn id="61" dur="500" fill="hold"/>
                                        <p:tgtEl>
                                          <p:spTgt spid="35"/>
                                        </p:tgtEl>
                                        <p:attrNameLst>
                                          <p:attrName>ppt_h</p:attrName>
                                        </p:attrNameLst>
                                      </p:cBhvr>
                                      <p:tavLst>
                                        <p:tav tm="0">
                                          <p:val>
                                            <p:fltVal val="0"/>
                                          </p:val>
                                        </p:tav>
                                        <p:tav tm="100000">
                                          <p:val>
                                            <p:strVal val="#ppt_h"/>
                                          </p:val>
                                        </p:tav>
                                      </p:tavLst>
                                    </p:anim>
                                    <p:animEffect transition="in" filter="fade">
                                      <p:cBhvr>
                                        <p:cTn id="62" dur="500"/>
                                        <p:tgtEl>
                                          <p:spTgt spid="35"/>
                                        </p:tgtEl>
                                      </p:cBhvr>
                                    </p:animEffect>
                                  </p:childTnLst>
                                </p:cTn>
                              </p:par>
                            </p:childTnLst>
                          </p:cTn>
                        </p:par>
                        <p:par>
                          <p:cTn id="63" fill="hold">
                            <p:stCondLst>
                              <p:cond delay="6500"/>
                            </p:stCondLst>
                            <p:childTnLst>
                              <p:par>
                                <p:cTn id="64" presetID="53" presetClass="entr" presetSubtype="16" fill="hold" grpId="0" nodeType="after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7000"/>
                            </p:stCondLst>
                            <p:childTnLst>
                              <p:par>
                                <p:cTn id="70" presetID="53" presetClass="entr" presetSubtype="16"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500" fill="hold"/>
                                        <p:tgtEl>
                                          <p:spTgt spid="37"/>
                                        </p:tgtEl>
                                        <p:attrNameLst>
                                          <p:attrName>ppt_w</p:attrName>
                                        </p:attrNameLst>
                                      </p:cBhvr>
                                      <p:tavLst>
                                        <p:tav tm="0">
                                          <p:val>
                                            <p:fltVal val="0"/>
                                          </p:val>
                                        </p:tav>
                                        <p:tav tm="100000">
                                          <p:val>
                                            <p:strVal val="#ppt_w"/>
                                          </p:val>
                                        </p:tav>
                                      </p:tavLst>
                                    </p:anim>
                                    <p:anim calcmode="lin" valueType="num">
                                      <p:cBhvr>
                                        <p:cTn id="73" dur="500" fill="hold"/>
                                        <p:tgtEl>
                                          <p:spTgt spid="37"/>
                                        </p:tgtEl>
                                        <p:attrNameLst>
                                          <p:attrName>ppt_h</p:attrName>
                                        </p:attrNameLst>
                                      </p:cBhvr>
                                      <p:tavLst>
                                        <p:tav tm="0">
                                          <p:val>
                                            <p:fltVal val="0"/>
                                          </p:val>
                                        </p:tav>
                                        <p:tav tm="100000">
                                          <p:val>
                                            <p:strVal val="#ppt_h"/>
                                          </p:val>
                                        </p:tav>
                                      </p:tavLst>
                                    </p:anim>
                                    <p:animEffect transition="in" filter="fade">
                                      <p:cBhvr>
                                        <p:cTn id="74" dur="500"/>
                                        <p:tgtEl>
                                          <p:spTgt spid="37"/>
                                        </p:tgtEl>
                                      </p:cBhvr>
                                    </p:animEffect>
                                  </p:childTnLst>
                                </p:cTn>
                              </p:par>
                            </p:childTnLst>
                          </p:cTn>
                        </p:par>
                        <p:par>
                          <p:cTn id="75" fill="hold">
                            <p:stCondLst>
                              <p:cond delay="7500"/>
                            </p:stCondLst>
                            <p:childTnLst>
                              <p:par>
                                <p:cTn id="76" presetID="22" presetClass="entr" presetSubtype="4" fill="hold"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down)">
                                      <p:cBhvr>
                                        <p:cTn id="78" dur="500"/>
                                        <p:tgtEl>
                                          <p:spTgt spid="38"/>
                                        </p:tgtEl>
                                      </p:cBhvr>
                                    </p:animEffect>
                                  </p:childTnLst>
                                </p:cTn>
                              </p:par>
                            </p:childTnLst>
                          </p:cTn>
                        </p:par>
                        <p:par>
                          <p:cTn id="79" fill="hold">
                            <p:stCondLst>
                              <p:cond delay="8000"/>
                            </p:stCondLst>
                            <p:childTnLst>
                              <p:par>
                                <p:cTn id="80" presetID="53" presetClass="entr" presetSubtype="16" fill="hold" grpId="0" nodeType="after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childTnLst>
                          </p:cTn>
                        </p:par>
                        <p:par>
                          <p:cTn id="85" fill="hold">
                            <p:stCondLst>
                              <p:cond delay="8500"/>
                            </p:stCondLst>
                            <p:childTnLst>
                              <p:par>
                                <p:cTn id="86" presetID="53" presetClass="entr" presetSubtype="16" fill="hold" grpId="0" nodeType="afterEffect">
                                  <p:stCondLst>
                                    <p:cond delay="0"/>
                                  </p:stCondLst>
                                  <p:childTnLst>
                                    <p:set>
                                      <p:cBhvr>
                                        <p:cTn id="87" dur="1" fill="hold">
                                          <p:stCondLst>
                                            <p:cond delay="0"/>
                                          </p:stCondLst>
                                        </p:cTn>
                                        <p:tgtEl>
                                          <p:spTgt spid="34"/>
                                        </p:tgtEl>
                                        <p:attrNameLst>
                                          <p:attrName>style.visibility</p:attrName>
                                        </p:attrNameLst>
                                      </p:cBhvr>
                                      <p:to>
                                        <p:strVal val="visible"/>
                                      </p:to>
                                    </p:set>
                                    <p:anim calcmode="lin" valueType="num">
                                      <p:cBhvr>
                                        <p:cTn id="88" dur="500" fill="hold"/>
                                        <p:tgtEl>
                                          <p:spTgt spid="34"/>
                                        </p:tgtEl>
                                        <p:attrNameLst>
                                          <p:attrName>ppt_w</p:attrName>
                                        </p:attrNameLst>
                                      </p:cBhvr>
                                      <p:tavLst>
                                        <p:tav tm="0">
                                          <p:val>
                                            <p:fltVal val="0"/>
                                          </p:val>
                                        </p:tav>
                                        <p:tav tm="100000">
                                          <p:val>
                                            <p:strVal val="#ppt_w"/>
                                          </p:val>
                                        </p:tav>
                                      </p:tavLst>
                                    </p:anim>
                                    <p:anim calcmode="lin" valueType="num">
                                      <p:cBhvr>
                                        <p:cTn id="89" dur="500" fill="hold"/>
                                        <p:tgtEl>
                                          <p:spTgt spid="34"/>
                                        </p:tgtEl>
                                        <p:attrNameLst>
                                          <p:attrName>ppt_h</p:attrName>
                                        </p:attrNameLst>
                                      </p:cBhvr>
                                      <p:tavLst>
                                        <p:tav tm="0">
                                          <p:val>
                                            <p:fltVal val="0"/>
                                          </p:val>
                                        </p:tav>
                                        <p:tav tm="100000">
                                          <p:val>
                                            <p:strVal val="#ppt_h"/>
                                          </p:val>
                                        </p:tav>
                                      </p:tavLst>
                                    </p:anim>
                                    <p:animEffect transition="in" filter="fade">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1000"/>
                                        <p:tgtEl>
                                          <p:spTgt spid="40"/>
                                        </p:tgtEl>
                                      </p:cBhvr>
                                    </p:animEffect>
                                    <p:anim calcmode="lin" valueType="num">
                                      <p:cBhvr>
                                        <p:cTn id="96" dur="1000" fill="hold"/>
                                        <p:tgtEl>
                                          <p:spTgt spid="40"/>
                                        </p:tgtEl>
                                        <p:attrNameLst>
                                          <p:attrName>ppt_x</p:attrName>
                                        </p:attrNameLst>
                                      </p:cBhvr>
                                      <p:tavLst>
                                        <p:tav tm="0">
                                          <p:val>
                                            <p:strVal val="#ppt_x"/>
                                          </p:val>
                                        </p:tav>
                                        <p:tav tm="100000">
                                          <p:val>
                                            <p:strVal val="#ppt_x"/>
                                          </p:val>
                                        </p:tav>
                                      </p:tavLst>
                                    </p:anim>
                                    <p:anim calcmode="lin" valueType="num">
                                      <p:cBhvr>
                                        <p:cTn id="9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7" presetClass="entr" presetSubtype="0" fill="hold" grpId="0" nodeType="click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1500"/>
                                        <p:tgtEl>
                                          <p:spTgt spid="41"/>
                                        </p:tgtEl>
                                      </p:cBhvr>
                                    </p:animEffect>
                                    <p:anim calcmode="lin" valueType="num">
                                      <p:cBhvr>
                                        <p:cTn id="103" dur="1500" fill="hold"/>
                                        <p:tgtEl>
                                          <p:spTgt spid="41"/>
                                        </p:tgtEl>
                                        <p:attrNameLst>
                                          <p:attrName>ppt_x</p:attrName>
                                        </p:attrNameLst>
                                      </p:cBhvr>
                                      <p:tavLst>
                                        <p:tav tm="0">
                                          <p:val>
                                            <p:strVal val="#ppt_x"/>
                                          </p:val>
                                        </p:tav>
                                        <p:tav tm="100000">
                                          <p:val>
                                            <p:strVal val="#ppt_x"/>
                                          </p:val>
                                        </p:tav>
                                      </p:tavLst>
                                    </p:anim>
                                    <p:anim calcmode="lin" valueType="num">
                                      <p:cBhvr>
                                        <p:cTn id="104" dur="1500" fill="hold"/>
                                        <p:tgtEl>
                                          <p:spTgt spid="41"/>
                                        </p:tgtEl>
                                        <p:attrNameLst>
                                          <p:attrName>ppt_y</p:attrName>
                                        </p:attrNameLst>
                                      </p:cBhvr>
                                      <p:tavLst>
                                        <p:tav tm="0">
                                          <p:val>
                                            <p:strVal val="#ppt_y-.1"/>
                                          </p:val>
                                        </p:tav>
                                        <p:tav tm="100000">
                                          <p:val>
                                            <p:strVal val="#ppt_y"/>
                                          </p:val>
                                        </p:tav>
                                      </p:tavLst>
                                    </p:anim>
                                  </p:childTnLst>
                                </p:cTn>
                              </p:par>
                            </p:childTnLst>
                          </p:cTn>
                        </p:par>
                        <p:par>
                          <p:cTn id="105" fill="hold">
                            <p:stCondLst>
                              <p:cond delay="1500"/>
                            </p:stCondLst>
                            <p:childTnLst>
                              <p:par>
                                <p:cTn id="106" presetID="22" presetClass="entr" presetSubtype="8" fill="hold" nodeType="afterEffect">
                                  <p:stCondLst>
                                    <p:cond delay="0"/>
                                  </p:stCondLst>
                                  <p:childTnLst>
                                    <p:set>
                                      <p:cBhvr>
                                        <p:cTn id="107" dur="1" fill="hold">
                                          <p:stCondLst>
                                            <p:cond delay="0"/>
                                          </p:stCondLst>
                                        </p:cTn>
                                        <p:tgtEl>
                                          <p:spTgt spid="23"/>
                                        </p:tgtEl>
                                        <p:attrNameLst>
                                          <p:attrName>style.visibility</p:attrName>
                                        </p:attrNameLst>
                                      </p:cBhvr>
                                      <p:to>
                                        <p:strVal val="visible"/>
                                      </p:to>
                                    </p:set>
                                    <p:animEffect transition="in" filter="wipe(left)">
                                      <p:cBhvr>
                                        <p:cTn id="108" dur="500"/>
                                        <p:tgtEl>
                                          <p:spTgt spid="23"/>
                                        </p:tgtEl>
                                      </p:cBhvr>
                                    </p:animEffect>
                                  </p:childTnLst>
                                </p:cTn>
                              </p:par>
                            </p:childTnLst>
                          </p:cTn>
                        </p:par>
                        <p:par>
                          <p:cTn id="109" fill="hold">
                            <p:stCondLst>
                              <p:cond delay="2000"/>
                            </p:stCondLst>
                            <p:childTnLst>
                              <p:par>
                                <p:cTn id="110" presetID="53" presetClass="entr" presetSubtype="16" fill="hold" grpId="0" nodeType="afterEffect">
                                  <p:stCondLst>
                                    <p:cond delay="0"/>
                                  </p:stCondLst>
                                  <p:childTnLst>
                                    <p:set>
                                      <p:cBhvr>
                                        <p:cTn id="111" dur="1" fill="hold">
                                          <p:stCondLst>
                                            <p:cond delay="0"/>
                                          </p:stCondLst>
                                        </p:cTn>
                                        <p:tgtEl>
                                          <p:spTgt spid="43"/>
                                        </p:tgtEl>
                                        <p:attrNameLst>
                                          <p:attrName>style.visibility</p:attrName>
                                        </p:attrNameLst>
                                      </p:cBhvr>
                                      <p:to>
                                        <p:strVal val="visible"/>
                                      </p:to>
                                    </p:set>
                                    <p:anim calcmode="lin" valueType="num">
                                      <p:cBhvr>
                                        <p:cTn id="112" dur="500" fill="hold"/>
                                        <p:tgtEl>
                                          <p:spTgt spid="43"/>
                                        </p:tgtEl>
                                        <p:attrNameLst>
                                          <p:attrName>ppt_w</p:attrName>
                                        </p:attrNameLst>
                                      </p:cBhvr>
                                      <p:tavLst>
                                        <p:tav tm="0">
                                          <p:val>
                                            <p:fltVal val="0"/>
                                          </p:val>
                                        </p:tav>
                                        <p:tav tm="100000">
                                          <p:val>
                                            <p:strVal val="#ppt_w"/>
                                          </p:val>
                                        </p:tav>
                                      </p:tavLst>
                                    </p:anim>
                                    <p:anim calcmode="lin" valueType="num">
                                      <p:cBhvr>
                                        <p:cTn id="113" dur="500" fill="hold"/>
                                        <p:tgtEl>
                                          <p:spTgt spid="43"/>
                                        </p:tgtEl>
                                        <p:attrNameLst>
                                          <p:attrName>ppt_h</p:attrName>
                                        </p:attrNameLst>
                                      </p:cBhvr>
                                      <p:tavLst>
                                        <p:tav tm="0">
                                          <p:val>
                                            <p:fltVal val="0"/>
                                          </p:val>
                                        </p:tav>
                                        <p:tav tm="100000">
                                          <p:val>
                                            <p:strVal val="#ppt_h"/>
                                          </p:val>
                                        </p:tav>
                                      </p:tavLst>
                                    </p:anim>
                                    <p:animEffect transition="in" filter="fade">
                                      <p:cBhvr>
                                        <p:cTn id="114" dur="500"/>
                                        <p:tgtEl>
                                          <p:spTgt spid="43"/>
                                        </p:tgtEl>
                                      </p:cBhvr>
                                    </p:animEffect>
                                  </p:childTnLst>
                                </p:cTn>
                              </p:par>
                            </p:childTnLst>
                          </p:cTn>
                        </p:par>
                        <p:par>
                          <p:cTn id="115" fill="hold">
                            <p:stCondLst>
                              <p:cond delay="2500"/>
                            </p:stCondLst>
                            <p:childTnLst>
                              <p:par>
                                <p:cTn id="116" presetID="53" presetClass="entr" presetSubtype="16" fill="hold" grpId="0" nodeType="afterEffect">
                                  <p:stCondLst>
                                    <p:cond delay="0"/>
                                  </p:stCondLst>
                                  <p:childTnLst>
                                    <p:set>
                                      <p:cBhvr>
                                        <p:cTn id="117" dur="1" fill="hold">
                                          <p:stCondLst>
                                            <p:cond delay="0"/>
                                          </p:stCondLst>
                                        </p:cTn>
                                        <p:tgtEl>
                                          <p:spTgt spid="44"/>
                                        </p:tgtEl>
                                        <p:attrNameLst>
                                          <p:attrName>style.visibility</p:attrName>
                                        </p:attrNameLst>
                                      </p:cBhvr>
                                      <p:to>
                                        <p:strVal val="visible"/>
                                      </p:to>
                                    </p:set>
                                    <p:anim calcmode="lin" valueType="num">
                                      <p:cBhvr>
                                        <p:cTn id="118" dur="500" fill="hold"/>
                                        <p:tgtEl>
                                          <p:spTgt spid="44"/>
                                        </p:tgtEl>
                                        <p:attrNameLst>
                                          <p:attrName>ppt_w</p:attrName>
                                        </p:attrNameLst>
                                      </p:cBhvr>
                                      <p:tavLst>
                                        <p:tav tm="0">
                                          <p:val>
                                            <p:fltVal val="0"/>
                                          </p:val>
                                        </p:tav>
                                        <p:tav tm="100000">
                                          <p:val>
                                            <p:strVal val="#ppt_w"/>
                                          </p:val>
                                        </p:tav>
                                      </p:tavLst>
                                    </p:anim>
                                    <p:anim calcmode="lin" valueType="num">
                                      <p:cBhvr>
                                        <p:cTn id="119" dur="500" fill="hold"/>
                                        <p:tgtEl>
                                          <p:spTgt spid="44"/>
                                        </p:tgtEl>
                                        <p:attrNameLst>
                                          <p:attrName>ppt_h</p:attrName>
                                        </p:attrNameLst>
                                      </p:cBhvr>
                                      <p:tavLst>
                                        <p:tav tm="0">
                                          <p:val>
                                            <p:fltVal val="0"/>
                                          </p:val>
                                        </p:tav>
                                        <p:tav tm="100000">
                                          <p:val>
                                            <p:strVal val="#ppt_h"/>
                                          </p:val>
                                        </p:tav>
                                      </p:tavLst>
                                    </p:anim>
                                    <p:animEffect transition="in" filter="fade">
                                      <p:cBhvr>
                                        <p:cTn id="120" dur="500"/>
                                        <p:tgtEl>
                                          <p:spTgt spid="44"/>
                                        </p:tgtEl>
                                      </p:cBhvr>
                                    </p:animEffect>
                                  </p:childTnLst>
                                </p:cTn>
                              </p:par>
                            </p:childTnLst>
                          </p:cTn>
                        </p:par>
                        <p:par>
                          <p:cTn id="121" fill="hold">
                            <p:stCondLst>
                              <p:cond delay="3000"/>
                            </p:stCondLst>
                            <p:childTnLst>
                              <p:par>
                                <p:cTn id="122" presetID="53" presetClass="entr" presetSubtype="16" fill="hold" grpId="0" nodeType="afterEffect">
                                  <p:stCondLst>
                                    <p:cond delay="0"/>
                                  </p:stCondLst>
                                  <p:childTnLst>
                                    <p:set>
                                      <p:cBhvr>
                                        <p:cTn id="123" dur="1" fill="hold">
                                          <p:stCondLst>
                                            <p:cond delay="0"/>
                                          </p:stCondLst>
                                        </p:cTn>
                                        <p:tgtEl>
                                          <p:spTgt spid="45"/>
                                        </p:tgtEl>
                                        <p:attrNameLst>
                                          <p:attrName>style.visibility</p:attrName>
                                        </p:attrNameLst>
                                      </p:cBhvr>
                                      <p:to>
                                        <p:strVal val="visible"/>
                                      </p:to>
                                    </p:set>
                                    <p:anim calcmode="lin" valueType="num">
                                      <p:cBhvr>
                                        <p:cTn id="124" dur="500" fill="hold"/>
                                        <p:tgtEl>
                                          <p:spTgt spid="45"/>
                                        </p:tgtEl>
                                        <p:attrNameLst>
                                          <p:attrName>ppt_w</p:attrName>
                                        </p:attrNameLst>
                                      </p:cBhvr>
                                      <p:tavLst>
                                        <p:tav tm="0">
                                          <p:val>
                                            <p:fltVal val="0"/>
                                          </p:val>
                                        </p:tav>
                                        <p:tav tm="100000">
                                          <p:val>
                                            <p:strVal val="#ppt_w"/>
                                          </p:val>
                                        </p:tav>
                                      </p:tavLst>
                                    </p:anim>
                                    <p:anim calcmode="lin" valueType="num">
                                      <p:cBhvr>
                                        <p:cTn id="125" dur="500" fill="hold"/>
                                        <p:tgtEl>
                                          <p:spTgt spid="45"/>
                                        </p:tgtEl>
                                        <p:attrNameLst>
                                          <p:attrName>ppt_h</p:attrName>
                                        </p:attrNameLst>
                                      </p:cBhvr>
                                      <p:tavLst>
                                        <p:tav tm="0">
                                          <p:val>
                                            <p:fltVal val="0"/>
                                          </p:val>
                                        </p:tav>
                                        <p:tav tm="100000">
                                          <p:val>
                                            <p:strVal val="#ppt_h"/>
                                          </p:val>
                                        </p:tav>
                                      </p:tavLst>
                                    </p:anim>
                                    <p:animEffect transition="in" filter="fade">
                                      <p:cBhvr>
                                        <p:cTn id="126" dur="500"/>
                                        <p:tgtEl>
                                          <p:spTgt spid="45"/>
                                        </p:tgtEl>
                                      </p:cBhvr>
                                    </p:animEffect>
                                  </p:childTnLst>
                                </p:cTn>
                              </p:par>
                            </p:childTnLst>
                          </p:cTn>
                        </p:par>
                        <p:par>
                          <p:cTn id="127" fill="hold">
                            <p:stCondLst>
                              <p:cond delay="3500"/>
                            </p:stCondLst>
                            <p:childTnLst>
                              <p:par>
                                <p:cTn id="128" presetID="22" presetClass="entr" presetSubtype="1" fill="hold" nodeType="after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wipe(up)">
                                      <p:cBhvr>
                                        <p:cTn id="130" dur="500"/>
                                        <p:tgtEl>
                                          <p:spTgt spid="46"/>
                                        </p:tgtEl>
                                      </p:cBhvr>
                                    </p:animEffect>
                                  </p:childTnLst>
                                </p:cTn>
                              </p:par>
                            </p:childTnLst>
                          </p:cTn>
                        </p:par>
                        <p:par>
                          <p:cTn id="131" fill="hold">
                            <p:stCondLst>
                              <p:cond delay="4000"/>
                            </p:stCondLst>
                            <p:childTnLst>
                              <p:par>
                                <p:cTn id="132" presetID="53" presetClass="entr" presetSubtype="16" fill="hold" grpId="0" nodeType="afterEffect">
                                  <p:stCondLst>
                                    <p:cond delay="0"/>
                                  </p:stCondLst>
                                  <p:childTnLst>
                                    <p:set>
                                      <p:cBhvr>
                                        <p:cTn id="133" dur="1" fill="hold">
                                          <p:stCondLst>
                                            <p:cond delay="0"/>
                                          </p:stCondLst>
                                        </p:cTn>
                                        <p:tgtEl>
                                          <p:spTgt spid="47"/>
                                        </p:tgtEl>
                                        <p:attrNameLst>
                                          <p:attrName>style.visibility</p:attrName>
                                        </p:attrNameLst>
                                      </p:cBhvr>
                                      <p:to>
                                        <p:strVal val="visible"/>
                                      </p:to>
                                    </p:set>
                                    <p:anim calcmode="lin" valueType="num">
                                      <p:cBhvr>
                                        <p:cTn id="134" dur="500" fill="hold"/>
                                        <p:tgtEl>
                                          <p:spTgt spid="47"/>
                                        </p:tgtEl>
                                        <p:attrNameLst>
                                          <p:attrName>ppt_w</p:attrName>
                                        </p:attrNameLst>
                                      </p:cBhvr>
                                      <p:tavLst>
                                        <p:tav tm="0">
                                          <p:val>
                                            <p:fltVal val="0"/>
                                          </p:val>
                                        </p:tav>
                                        <p:tav tm="100000">
                                          <p:val>
                                            <p:strVal val="#ppt_w"/>
                                          </p:val>
                                        </p:tav>
                                      </p:tavLst>
                                    </p:anim>
                                    <p:anim calcmode="lin" valueType="num">
                                      <p:cBhvr>
                                        <p:cTn id="135" dur="500" fill="hold"/>
                                        <p:tgtEl>
                                          <p:spTgt spid="47"/>
                                        </p:tgtEl>
                                        <p:attrNameLst>
                                          <p:attrName>ppt_h</p:attrName>
                                        </p:attrNameLst>
                                      </p:cBhvr>
                                      <p:tavLst>
                                        <p:tav tm="0">
                                          <p:val>
                                            <p:fltVal val="0"/>
                                          </p:val>
                                        </p:tav>
                                        <p:tav tm="100000">
                                          <p:val>
                                            <p:strVal val="#ppt_h"/>
                                          </p:val>
                                        </p:tav>
                                      </p:tavLst>
                                    </p:anim>
                                    <p:animEffect transition="in" filter="fade">
                                      <p:cBhvr>
                                        <p:cTn id="136" dur="500"/>
                                        <p:tgtEl>
                                          <p:spTgt spid="47"/>
                                        </p:tgtEl>
                                      </p:cBhvr>
                                    </p:animEffect>
                                  </p:childTnLst>
                                </p:cTn>
                              </p:par>
                            </p:childTnLst>
                          </p:cTn>
                        </p:par>
                        <p:par>
                          <p:cTn id="137" fill="hold">
                            <p:stCondLst>
                              <p:cond delay="4500"/>
                            </p:stCondLst>
                            <p:childTnLst>
                              <p:par>
                                <p:cTn id="138" presetID="53" presetClass="entr" presetSubtype="16" fill="hold" grpId="0" nodeType="afterEffect">
                                  <p:stCondLst>
                                    <p:cond delay="0"/>
                                  </p:stCondLst>
                                  <p:childTnLst>
                                    <p:set>
                                      <p:cBhvr>
                                        <p:cTn id="139" dur="1" fill="hold">
                                          <p:stCondLst>
                                            <p:cond delay="0"/>
                                          </p:stCondLst>
                                        </p:cTn>
                                        <p:tgtEl>
                                          <p:spTgt spid="42"/>
                                        </p:tgtEl>
                                        <p:attrNameLst>
                                          <p:attrName>style.visibility</p:attrName>
                                        </p:attrNameLst>
                                      </p:cBhvr>
                                      <p:to>
                                        <p:strVal val="visible"/>
                                      </p:to>
                                    </p:set>
                                    <p:anim calcmode="lin" valueType="num">
                                      <p:cBhvr>
                                        <p:cTn id="140" dur="500" fill="hold"/>
                                        <p:tgtEl>
                                          <p:spTgt spid="42"/>
                                        </p:tgtEl>
                                        <p:attrNameLst>
                                          <p:attrName>ppt_w</p:attrName>
                                        </p:attrNameLst>
                                      </p:cBhvr>
                                      <p:tavLst>
                                        <p:tav tm="0">
                                          <p:val>
                                            <p:fltVal val="0"/>
                                          </p:val>
                                        </p:tav>
                                        <p:tav tm="100000">
                                          <p:val>
                                            <p:strVal val="#ppt_w"/>
                                          </p:val>
                                        </p:tav>
                                      </p:tavLst>
                                    </p:anim>
                                    <p:anim calcmode="lin" valueType="num">
                                      <p:cBhvr>
                                        <p:cTn id="141" dur="500" fill="hold"/>
                                        <p:tgtEl>
                                          <p:spTgt spid="42"/>
                                        </p:tgtEl>
                                        <p:attrNameLst>
                                          <p:attrName>ppt_h</p:attrName>
                                        </p:attrNameLst>
                                      </p:cBhvr>
                                      <p:tavLst>
                                        <p:tav tm="0">
                                          <p:val>
                                            <p:fltVal val="0"/>
                                          </p:val>
                                        </p:tav>
                                        <p:tav tm="100000">
                                          <p:val>
                                            <p:strVal val="#ppt_h"/>
                                          </p:val>
                                        </p:tav>
                                      </p:tavLst>
                                    </p:anim>
                                    <p:animEffect transition="in" filter="fade">
                                      <p:cBhvr>
                                        <p:cTn id="142" dur="500"/>
                                        <p:tgtEl>
                                          <p:spTgt spid="42"/>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wipe(up)">
                                      <p:cBhvr>
                                        <p:cTn id="147" dur="1000"/>
                                        <p:tgtEl>
                                          <p:spTgt spid="48"/>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wipe(up)">
                                      <p:cBhvr>
                                        <p:cTn id="152" dur="1500"/>
                                        <p:tgtEl>
                                          <p:spTgt spid="49"/>
                                        </p:tgtEl>
                                      </p:cBhvr>
                                    </p:animEffect>
                                  </p:childTnLst>
                                </p:cTn>
                              </p:par>
                            </p:childTnLst>
                          </p:cTn>
                        </p:par>
                        <p:par>
                          <p:cTn id="153" fill="hold">
                            <p:stCondLst>
                              <p:cond delay="1500"/>
                            </p:stCondLst>
                            <p:childTnLst>
                              <p:par>
                                <p:cTn id="154" presetID="22" presetClass="entr" presetSubtype="8" fill="hold" nodeType="afterEffect">
                                  <p:stCondLst>
                                    <p:cond delay="0"/>
                                  </p:stCondLst>
                                  <p:childTnLst>
                                    <p:set>
                                      <p:cBhvr>
                                        <p:cTn id="155" dur="1" fill="hold">
                                          <p:stCondLst>
                                            <p:cond delay="0"/>
                                          </p:stCondLst>
                                        </p:cTn>
                                        <p:tgtEl>
                                          <p:spTgt spid="50"/>
                                        </p:tgtEl>
                                        <p:attrNameLst>
                                          <p:attrName>style.visibility</p:attrName>
                                        </p:attrNameLst>
                                      </p:cBhvr>
                                      <p:to>
                                        <p:strVal val="visible"/>
                                      </p:to>
                                    </p:set>
                                    <p:animEffect transition="in" filter="wipe(left)">
                                      <p:cBhvr>
                                        <p:cTn id="156" dur="500"/>
                                        <p:tgtEl>
                                          <p:spTgt spid="50"/>
                                        </p:tgtEl>
                                      </p:cBhvr>
                                    </p:animEffect>
                                  </p:childTnLst>
                                </p:cTn>
                              </p:par>
                            </p:childTnLst>
                          </p:cTn>
                        </p:par>
                        <p:par>
                          <p:cTn id="157" fill="hold">
                            <p:stCondLst>
                              <p:cond delay="2000"/>
                            </p:stCondLst>
                            <p:childTnLst>
                              <p:par>
                                <p:cTn id="158" presetID="53" presetClass="entr" presetSubtype="16" fill="hold" grpId="0" nodeType="afterEffect">
                                  <p:stCondLst>
                                    <p:cond delay="0"/>
                                  </p:stCondLst>
                                  <p:childTnLst>
                                    <p:set>
                                      <p:cBhvr>
                                        <p:cTn id="159" dur="1" fill="hold">
                                          <p:stCondLst>
                                            <p:cond delay="0"/>
                                          </p:stCondLst>
                                        </p:cTn>
                                        <p:tgtEl>
                                          <p:spTgt spid="52"/>
                                        </p:tgtEl>
                                        <p:attrNameLst>
                                          <p:attrName>style.visibility</p:attrName>
                                        </p:attrNameLst>
                                      </p:cBhvr>
                                      <p:to>
                                        <p:strVal val="visible"/>
                                      </p:to>
                                    </p:set>
                                    <p:anim calcmode="lin" valueType="num">
                                      <p:cBhvr>
                                        <p:cTn id="160" dur="500" fill="hold"/>
                                        <p:tgtEl>
                                          <p:spTgt spid="52"/>
                                        </p:tgtEl>
                                        <p:attrNameLst>
                                          <p:attrName>ppt_w</p:attrName>
                                        </p:attrNameLst>
                                      </p:cBhvr>
                                      <p:tavLst>
                                        <p:tav tm="0">
                                          <p:val>
                                            <p:fltVal val="0"/>
                                          </p:val>
                                        </p:tav>
                                        <p:tav tm="100000">
                                          <p:val>
                                            <p:strVal val="#ppt_w"/>
                                          </p:val>
                                        </p:tav>
                                      </p:tavLst>
                                    </p:anim>
                                    <p:anim calcmode="lin" valueType="num">
                                      <p:cBhvr>
                                        <p:cTn id="161" dur="500" fill="hold"/>
                                        <p:tgtEl>
                                          <p:spTgt spid="52"/>
                                        </p:tgtEl>
                                        <p:attrNameLst>
                                          <p:attrName>ppt_h</p:attrName>
                                        </p:attrNameLst>
                                      </p:cBhvr>
                                      <p:tavLst>
                                        <p:tav tm="0">
                                          <p:val>
                                            <p:fltVal val="0"/>
                                          </p:val>
                                        </p:tav>
                                        <p:tav tm="100000">
                                          <p:val>
                                            <p:strVal val="#ppt_h"/>
                                          </p:val>
                                        </p:tav>
                                      </p:tavLst>
                                    </p:anim>
                                    <p:animEffect transition="in" filter="fade">
                                      <p:cBhvr>
                                        <p:cTn id="162" dur="500"/>
                                        <p:tgtEl>
                                          <p:spTgt spid="52"/>
                                        </p:tgtEl>
                                      </p:cBhvr>
                                    </p:animEffect>
                                  </p:childTnLst>
                                </p:cTn>
                              </p:par>
                            </p:childTnLst>
                          </p:cTn>
                        </p:par>
                        <p:par>
                          <p:cTn id="163" fill="hold">
                            <p:stCondLst>
                              <p:cond delay="2500"/>
                            </p:stCondLst>
                            <p:childTnLst>
                              <p:par>
                                <p:cTn id="164" presetID="53" presetClass="entr" presetSubtype="16" fill="hold" grpId="0" nodeType="afterEffect">
                                  <p:stCondLst>
                                    <p:cond delay="0"/>
                                  </p:stCondLst>
                                  <p:childTnLst>
                                    <p:set>
                                      <p:cBhvr>
                                        <p:cTn id="165" dur="1" fill="hold">
                                          <p:stCondLst>
                                            <p:cond delay="0"/>
                                          </p:stCondLst>
                                        </p:cTn>
                                        <p:tgtEl>
                                          <p:spTgt spid="53"/>
                                        </p:tgtEl>
                                        <p:attrNameLst>
                                          <p:attrName>style.visibility</p:attrName>
                                        </p:attrNameLst>
                                      </p:cBhvr>
                                      <p:to>
                                        <p:strVal val="visible"/>
                                      </p:to>
                                    </p:set>
                                    <p:anim calcmode="lin" valueType="num">
                                      <p:cBhvr>
                                        <p:cTn id="166" dur="500" fill="hold"/>
                                        <p:tgtEl>
                                          <p:spTgt spid="53"/>
                                        </p:tgtEl>
                                        <p:attrNameLst>
                                          <p:attrName>ppt_w</p:attrName>
                                        </p:attrNameLst>
                                      </p:cBhvr>
                                      <p:tavLst>
                                        <p:tav tm="0">
                                          <p:val>
                                            <p:fltVal val="0"/>
                                          </p:val>
                                        </p:tav>
                                        <p:tav tm="100000">
                                          <p:val>
                                            <p:strVal val="#ppt_w"/>
                                          </p:val>
                                        </p:tav>
                                      </p:tavLst>
                                    </p:anim>
                                    <p:anim calcmode="lin" valueType="num">
                                      <p:cBhvr>
                                        <p:cTn id="167" dur="500" fill="hold"/>
                                        <p:tgtEl>
                                          <p:spTgt spid="53"/>
                                        </p:tgtEl>
                                        <p:attrNameLst>
                                          <p:attrName>ppt_h</p:attrName>
                                        </p:attrNameLst>
                                      </p:cBhvr>
                                      <p:tavLst>
                                        <p:tav tm="0">
                                          <p:val>
                                            <p:fltVal val="0"/>
                                          </p:val>
                                        </p:tav>
                                        <p:tav tm="100000">
                                          <p:val>
                                            <p:strVal val="#ppt_h"/>
                                          </p:val>
                                        </p:tav>
                                      </p:tavLst>
                                    </p:anim>
                                    <p:animEffect transition="in" filter="fade">
                                      <p:cBhvr>
                                        <p:cTn id="168" dur="500"/>
                                        <p:tgtEl>
                                          <p:spTgt spid="53"/>
                                        </p:tgtEl>
                                      </p:cBhvr>
                                    </p:animEffect>
                                  </p:childTnLst>
                                </p:cTn>
                              </p:par>
                            </p:childTnLst>
                          </p:cTn>
                        </p:par>
                        <p:par>
                          <p:cTn id="169" fill="hold">
                            <p:stCondLst>
                              <p:cond delay="3000"/>
                            </p:stCondLst>
                            <p:childTnLst>
                              <p:par>
                                <p:cTn id="170" presetID="53" presetClass="entr" presetSubtype="16" fill="hold" grpId="0" nodeType="afterEffect">
                                  <p:stCondLst>
                                    <p:cond delay="0"/>
                                  </p:stCondLst>
                                  <p:childTnLst>
                                    <p:set>
                                      <p:cBhvr>
                                        <p:cTn id="171" dur="1" fill="hold">
                                          <p:stCondLst>
                                            <p:cond delay="0"/>
                                          </p:stCondLst>
                                        </p:cTn>
                                        <p:tgtEl>
                                          <p:spTgt spid="54"/>
                                        </p:tgtEl>
                                        <p:attrNameLst>
                                          <p:attrName>style.visibility</p:attrName>
                                        </p:attrNameLst>
                                      </p:cBhvr>
                                      <p:to>
                                        <p:strVal val="visible"/>
                                      </p:to>
                                    </p:set>
                                    <p:anim calcmode="lin" valueType="num">
                                      <p:cBhvr>
                                        <p:cTn id="172" dur="500" fill="hold"/>
                                        <p:tgtEl>
                                          <p:spTgt spid="54"/>
                                        </p:tgtEl>
                                        <p:attrNameLst>
                                          <p:attrName>ppt_w</p:attrName>
                                        </p:attrNameLst>
                                      </p:cBhvr>
                                      <p:tavLst>
                                        <p:tav tm="0">
                                          <p:val>
                                            <p:fltVal val="0"/>
                                          </p:val>
                                        </p:tav>
                                        <p:tav tm="100000">
                                          <p:val>
                                            <p:strVal val="#ppt_w"/>
                                          </p:val>
                                        </p:tav>
                                      </p:tavLst>
                                    </p:anim>
                                    <p:anim calcmode="lin" valueType="num">
                                      <p:cBhvr>
                                        <p:cTn id="173" dur="500" fill="hold"/>
                                        <p:tgtEl>
                                          <p:spTgt spid="54"/>
                                        </p:tgtEl>
                                        <p:attrNameLst>
                                          <p:attrName>ppt_h</p:attrName>
                                        </p:attrNameLst>
                                      </p:cBhvr>
                                      <p:tavLst>
                                        <p:tav tm="0">
                                          <p:val>
                                            <p:fltVal val="0"/>
                                          </p:val>
                                        </p:tav>
                                        <p:tav tm="100000">
                                          <p:val>
                                            <p:strVal val="#ppt_h"/>
                                          </p:val>
                                        </p:tav>
                                      </p:tavLst>
                                    </p:anim>
                                    <p:animEffect transition="in" filter="fade">
                                      <p:cBhvr>
                                        <p:cTn id="174" dur="500"/>
                                        <p:tgtEl>
                                          <p:spTgt spid="54"/>
                                        </p:tgtEl>
                                      </p:cBhvr>
                                    </p:animEffect>
                                  </p:childTnLst>
                                </p:cTn>
                              </p:par>
                            </p:childTnLst>
                          </p:cTn>
                        </p:par>
                        <p:par>
                          <p:cTn id="175" fill="hold">
                            <p:stCondLst>
                              <p:cond delay="3500"/>
                            </p:stCondLst>
                            <p:childTnLst>
                              <p:par>
                                <p:cTn id="176" presetID="22" presetClass="entr" presetSubtype="4" fill="hold" nodeType="afterEffect">
                                  <p:stCondLst>
                                    <p:cond delay="0"/>
                                  </p:stCondLst>
                                  <p:childTnLst>
                                    <p:set>
                                      <p:cBhvr>
                                        <p:cTn id="177" dur="1" fill="hold">
                                          <p:stCondLst>
                                            <p:cond delay="0"/>
                                          </p:stCondLst>
                                        </p:cTn>
                                        <p:tgtEl>
                                          <p:spTgt spid="55"/>
                                        </p:tgtEl>
                                        <p:attrNameLst>
                                          <p:attrName>style.visibility</p:attrName>
                                        </p:attrNameLst>
                                      </p:cBhvr>
                                      <p:to>
                                        <p:strVal val="visible"/>
                                      </p:to>
                                    </p:set>
                                    <p:animEffect transition="in" filter="wipe(down)">
                                      <p:cBhvr>
                                        <p:cTn id="178" dur="500"/>
                                        <p:tgtEl>
                                          <p:spTgt spid="55"/>
                                        </p:tgtEl>
                                      </p:cBhvr>
                                    </p:animEffect>
                                  </p:childTnLst>
                                </p:cTn>
                              </p:par>
                            </p:childTnLst>
                          </p:cTn>
                        </p:par>
                        <p:par>
                          <p:cTn id="179" fill="hold">
                            <p:stCondLst>
                              <p:cond delay="4000"/>
                            </p:stCondLst>
                            <p:childTnLst>
                              <p:par>
                                <p:cTn id="180" presetID="53" presetClass="entr" presetSubtype="16" fill="hold" grpId="0" nodeType="afterEffect">
                                  <p:stCondLst>
                                    <p:cond delay="0"/>
                                  </p:stCondLst>
                                  <p:childTnLst>
                                    <p:set>
                                      <p:cBhvr>
                                        <p:cTn id="181" dur="1" fill="hold">
                                          <p:stCondLst>
                                            <p:cond delay="0"/>
                                          </p:stCondLst>
                                        </p:cTn>
                                        <p:tgtEl>
                                          <p:spTgt spid="56"/>
                                        </p:tgtEl>
                                        <p:attrNameLst>
                                          <p:attrName>style.visibility</p:attrName>
                                        </p:attrNameLst>
                                      </p:cBhvr>
                                      <p:to>
                                        <p:strVal val="visible"/>
                                      </p:to>
                                    </p:set>
                                    <p:anim calcmode="lin" valueType="num">
                                      <p:cBhvr>
                                        <p:cTn id="182" dur="500" fill="hold"/>
                                        <p:tgtEl>
                                          <p:spTgt spid="56"/>
                                        </p:tgtEl>
                                        <p:attrNameLst>
                                          <p:attrName>ppt_w</p:attrName>
                                        </p:attrNameLst>
                                      </p:cBhvr>
                                      <p:tavLst>
                                        <p:tav tm="0">
                                          <p:val>
                                            <p:fltVal val="0"/>
                                          </p:val>
                                        </p:tav>
                                        <p:tav tm="100000">
                                          <p:val>
                                            <p:strVal val="#ppt_w"/>
                                          </p:val>
                                        </p:tav>
                                      </p:tavLst>
                                    </p:anim>
                                    <p:anim calcmode="lin" valueType="num">
                                      <p:cBhvr>
                                        <p:cTn id="183" dur="500" fill="hold"/>
                                        <p:tgtEl>
                                          <p:spTgt spid="56"/>
                                        </p:tgtEl>
                                        <p:attrNameLst>
                                          <p:attrName>ppt_h</p:attrName>
                                        </p:attrNameLst>
                                      </p:cBhvr>
                                      <p:tavLst>
                                        <p:tav tm="0">
                                          <p:val>
                                            <p:fltVal val="0"/>
                                          </p:val>
                                        </p:tav>
                                        <p:tav tm="100000">
                                          <p:val>
                                            <p:strVal val="#ppt_h"/>
                                          </p:val>
                                        </p:tav>
                                      </p:tavLst>
                                    </p:anim>
                                    <p:animEffect transition="in" filter="fade">
                                      <p:cBhvr>
                                        <p:cTn id="184" dur="500"/>
                                        <p:tgtEl>
                                          <p:spTgt spid="56"/>
                                        </p:tgtEl>
                                      </p:cBhvr>
                                    </p:animEffect>
                                  </p:childTnLst>
                                </p:cTn>
                              </p:par>
                            </p:childTnLst>
                          </p:cTn>
                        </p:par>
                        <p:par>
                          <p:cTn id="185" fill="hold">
                            <p:stCondLst>
                              <p:cond delay="4500"/>
                            </p:stCondLst>
                            <p:childTnLst>
                              <p:par>
                                <p:cTn id="186" presetID="53" presetClass="entr" presetSubtype="16" fill="hold" grpId="0" nodeType="afterEffect">
                                  <p:stCondLst>
                                    <p:cond delay="0"/>
                                  </p:stCondLst>
                                  <p:childTnLst>
                                    <p:set>
                                      <p:cBhvr>
                                        <p:cTn id="187" dur="1" fill="hold">
                                          <p:stCondLst>
                                            <p:cond delay="0"/>
                                          </p:stCondLst>
                                        </p:cTn>
                                        <p:tgtEl>
                                          <p:spTgt spid="51"/>
                                        </p:tgtEl>
                                        <p:attrNameLst>
                                          <p:attrName>style.visibility</p:attrName>
                                        </p:attrNameLst>
                                      </p:cBhvr>
                                      <p:to>
                                        <p:strVal val="visible"/>
                                      </p:to>
                                    </p:set>
                                    <p:anim calcmode="lin" valueType="num">
                                      <p:cBhvr>
                                        <p:cTn id="188" dur="500" fill="hold"/>
                                        <p:tgtEl>
                                          <p:spTgt spid="51"/>
                                        </p:tgtEl>
                                        <p:attrNameLst>
                                          <p:attrName>ppt_w</p:attrName>
                                        </p:attrNameLst>
                                      </p:cBhvr>
                                      <p:tavLst>
                                        <p:tav tm="0">
                                          <p:val>
                                            <p:fltVal val="0"/>
                                          </p:val>
                                        </p:tav>
                                        <p:tav tm="100000">
                                          <p:val>
                                            <p:strVal val="#ppt_w"/>
                                          </p:val>
                                        </p:tav>
                                      </p:tavLst>
                                    </p:anim>
                                    <p:anim calcmode="lin" valueType="num">
                                      <p:cBhvr>
                                        <p:cTn id="189" dur="500" fill="hold"/>
                                        <p:tgtEl>
                                          <p:spTgt spid="51"/>
                                        </p:tgtEl>
                                        <p:attrNameLst>
                                          <p:attrName>ppt_h</p:attrName>
                                        </p:attrNameLst>
                                      </p:cBhvr>
                                      <p:tavLst>
                                        <p:tav tm="0">
                                          <p:val>
                                            <p:fltVal val="0"/>
                                          </p:val>
                                        </p:tav>
                                        <p:tav tm="100000">
                                          <p:val>
                                            <p:strVal val="#ppt_h"/>
                                          </p:val>
                                        </p:tav>
                                      </p:tavLst>
                                    </p:anim>
                                    <p:animEffect transition="in" filter="fade">
                                      <p:cBhvr>
                                        <p:cTn id="190" dur="500"/>
                                        <p:tgtEl>
                                          <p:spTgt spid="51"/>
                                        </p:tgtEl>
                                      </p:cBhvr>
                                    </p:animEffect>
                                  </p:childTnLst>
                                </p:cTn>
                              </p:par>
                            </p:childTnLst>
                          </p:cTn>
                        </p:par>
                      </p:childTnLst>
                    </p:cTn>
                  </p:par>
                  <p:par>
                    <p:cTn id="191" fill="hold">
                      <p:stCondLst>
                        <p:cond delay="indefinite"/>
                      </p:stCondLst>
                      <p:childTnLst>
                        <p:par>
                          <p:cTn id="192" fill="hold">
                            <p:stCondLst>
                              <p:cond delay="0"/>
                            </p:stCondLst>
                            <p:childTnLst>
                              <p:par>
                                <p:cTn id="193" presetID="42" presetClass="entr" presetSubtype="0" fill="hold" grpId="0" nodeType="clickEffect">
                                  <p:stCondLst>
                                    <p:cond delay="0"/>
                                  </p:stCondLst>
                                  <p:childTnLst>
                                    <p:set>
                                      <p:cBhvr>
                                        <p:cTn id="194" dur="1" fill="hold">
                                          <p:stCondLst>
                                            <p:cond delay="0"/>
                                          </p:stCondLst>
                                        </p:cTn>
                                        <p:tgtEl>
                                          <p:spTgt spid="57"/>
                                        </p:tgtEl>
                                        <p:attrNameLst>
                                          <p:attrName>style.visibility</p:attrName>
                                        </p:attrNameLst>
                                      </p:cBhvr>
                                      <p:to>
                                        <p:strVal val="visible"/>
                                      </p:to>
                                    </p:set>
                                    <p:animEffect transition="in" filter="fade">
                                      <p:cBhvr>
                                        <p:cTn id="195" dur="1000"/>
                                        <p:tgtEl>
                                          <p:spTgt spid="57"/>
                                        </p:tgtEl>
                                      </p:cBhvr>
                                    </p:animEffect>
                                    <p:anim calcmode="lin" valueType="num">
                                      <p:cBhvr>
                                        <p:cTn id="196" dur="1000" fill="hold"/>
                                        <p:tgtEl>
                                          <p:spTgt spid="57"/>
                                        </p:tgtEl>
                                        <p:attrNameLst>
                                          <p:attrName>ppt_x</p:attrName>
                                        </p:attrNameLst>
                                      </p:cBhvr>
                                      <p:tavLst>
                                        <p:tav tm="0">
                                          <p:val>
                                            <p:strVal val="#ppt_x"/>
                                          </p:val>
                                        </p:tav>
                                        <p:tav tm="100000">
                                          <p:val>
                                            <p:strVal val="#ppt_x"/>
                                          </p:val>
                                        </p:tav>
                                      </p:tavLst>
                                    </p:anim>
                                    <p:anim calcmode="lin" valueType="num">
                                      <p:cBhvr>
                                        <p:cTn id="197"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7" presetClass="entr" presetSubtype="0" fill="hold" grpId="0" nodeType="clickEffect">
                                  <p:stCondLst>
                                    <p:cond delay="0"/>
                                  </p:stCondLst>
                                  <p:childTnLst>
                                    <p:set>
                                      <p:cBhvr>
                                        <p:cTn id="201" dur="1" fill="hold">
                                          <p:stCondLst>
                                            <p:cond delay="0"/>
                                          </p:stCondLst>
                                        </p:cTn>
                                        <p:tgtEl>
                                          <p:spTgt spid="58"/>
                                        </p:tgtEl>
                                        <p:attrNameLst>
                                          <p:attrName>style.visibility</p:attrName>
                                        </p:attrNameLst>
                                      </p:cBhvr>
                                      <p:to>
                                        <p:strVal val="visible"/>
                                      </p:to>
                                    </p:set>
                                    <p:animEffect transition="in" filter="fade">
                                      <p:cBhvr>
                                        <p:cTn id="202" dur="1500"/>
                                        <p:tgtEl>
                                          <p:spTgt spid="58"/>
                                        </p:tgtEl>
                                      </p:cBhvr>
                                    </p:animEffect>
                                    <p:anim calcmode="lin" valueType="num">
                                      <p:cBhvr>
                                        <p:cTn id="203" dur="1500" fill="hold"/>
                                        <p:tgtEl>
                                          <p:spTgt spid="58"/>
                                        </p:tgtEl>
                                        <p:attrNameLst>
                                          <p:attrName>ppt_x</p:attrName>
                                        </p:attrNameLst>
                                      </p:cBhvr>
                                      <p:tavLst>
                                        <p:tav tm="0">
                                          <p:val>
                                            <p:strVal val="#ppt_x"/>
                                          </p:val>
                                        </p:tav>
                                        <p:tav tm="100000">
                                          <p:val>
                                            <p:strVal val="#ppt_x"/>
                                          </p:val>
                                        </p:tav>
                                      </p:tavLst>
                                    </p:anim>
                                    <p:anim calcmode="lin" valueType="num">
                                      <p:cBhvr>
                                        <p:cTn id="204" dur="15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59"/>
                                        </p:tgtEl>
                                        <p:attrNameLst>
                                          <p:attrName>style.visibility</p:attrName>
                                        </p:attrNameLst>
                                      </p:cBhvr>
                                      <p:to>
                                        <p:strVal val="visible"/>
                                      </p:to>
                                    </p:set>
                                    <p:animEffect transition="in" filter="wipe(left)">
                                      <p:cBhvr>
                                        <p:cTn id="20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1" grpId="0" animBg="1"/>
      <p:bldP spid="32" grpId="0"/>
      <p:bldP spid="33" grpId="0"/>
      <p:bldP spid="34" grpId="0" animBg="1"/>
      <p:bldP spid="35" grpId="0" animBg="1"/>
      <p:bldP spid="36" grpId="0" animBg="1"/>
      <p:bldP spid="37" grpId="0" animBg="1"/>
      <p:bldP spid="39" grpId="0" animBg="1"/>
      <p:bldP spid="40" grpId="0"/>
      <p:bldP spid="41" grpId="0"/>
      <p:bldP spid="42" grpId="0" animBg="1"/>
      <p:bldP spid="43" grpId="0" animBg="1"/>
      <p:bldP spid="44" grpId="0" animBg="1"/>
      <p:bldP spid="45" grpId="0" animBg="1"/>
      <p:bldP spid="47" grpId="0" animBg="1"/>
      <p:bldP spid="48" grpId="0"/>
      <p:bldP spid="49" grpId="0"/>
      <p:bldP spid="51" grpId="0" animBg="1"/>
      <p:bldP spid="52" grpId="0" animBg="1"/>
      <p:bldP spid="53" grpId="0" animBg="1"/>
      <p:bldP spid="54" grpId="0" animBg="1"/>
      <p:bldP spid="56" grpId="0" animBg="1"/>
      <p:bldP spid="57" grpId="0"/>
      <p:bldP spid="58"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966210" y="3907634"/>
            <a:ext cx="7783798" cy="2569934"/>
          </a:xfrm>
          <a:prstGeom prst="rect">
            <a:avLst/>
          </a:prstGeom>
          <a:noFill/>
        </p:spPr>
        <p:txBody>
          <a:bodyPr wrap="square" rtlCol="1">
            <a:spAutoFit/>
          </a:bodyPr>
          <a:lstStyle/>
          <a:p>
            <a:pPr algn="r"/>
            <a:r>
              <a:rPr lang="fa-IR" sz="2300" dirty="0">
                <a:cs typeface="2  Nazanin" panose="00000400000000000000" pitchFamily="2" charset="-78"/>
              </a:rPr>
              <a:t>آهك ساختماني</a:t>
            </a:r>
          </a:p>
          <a:p>
            <a:pPr algn="r"/>
            <a:r>
              <a:rPr lang="fa-IR" sz="2300" dirty="0">
                <a:cs typeface="2  Nazanin" panose="00000400000000000000" pitchFamily="2" charset="-78"/>
              </a:rPr>
              <a:t> آهكي است كه بنا بر مشخصات شيميايي (خلـوص سـنگ آهـك)،</a:t>
            </a:r>
          </a:p>
          <a:p>
            <a:pPr algn="r"/>
            <a:r>
              <a:rPr lang="fa-IR" sz="2300" dirty="0">
                <a:cs typeface="2  Nazanin" panose="00000400000000000000" pitchFamily="2" charset="-78"/>
              </a:rPr>
              <a:t>فيزيكي و روش فرآوري (دما و نحوة پخت) براي مصارف ساختماني ويژه يا معمولي، به صورت آهك زنده يا شكفته كاربرد دارد.</a:t>
            </a:r>
          </a:p>
          <a:p>
            <a:pPr algn="r"/>
            <a:r>
              <a:rPr lang="fa-IR" sz="2300" dirty="0">
                <a:cs typeface="2  Nazanin" panose="00000400000000000000" pitchFamily="2" charset="-78"/>
              </a:rPr>
              <a:t> به طور كلي آهك واژهاي است عمـومي كـه بـراي شـكل هـاي مختلـف فيزيكي و شيميايي آهـك زنـده، آهـك هيدراتـه و آهـك هيدروليك،كـه ممكـن اسـت پركلسـيم، منيزيمي يا دولوميتي باشد به كار ميرود</a:t>
            </a:r>
          </a:p>
        </p:txBody>
      </p:sp>
      <p:pic>
        <p:nvPicPr>
          <p:cNvPr id="21" name="Picture 20">
            <a:extLst>
              <a:ext uri="{FF2B5EF4-FFF2-40B4-BE49-F238E27FC236}">
                <a16:creationId xmlns:a16="http://schemas.microsoft.com/office/drawing/2014/main" id="{1A920B28-5466-4DF1-8468-270495975CEE}"/>
              </a:ext>
            </a:extLst>
          </p:cNvPr>
          <p:cNvPicPr>
            <a:picLocks noChangeAspect="1"/>
          </p:cNvPicPr>
          <p:nvPr/>
        </p:nvPicPr>
        <p:blipFill rotWithShape="1">
          <a:blip r:embed="rId2">
            <a:extLst>
              <a:ext uri="{28A0092B-C50C-407E-A947-70E740481C1C}">
                <a14:useLocalDpi xmlns:a14="http://schemas.microsoft.com/office/drawing/2010/main" val="0"/>
              </a:ext>
            </a:extLst>
          </a:blip>
          <a:srcRect b="7938"/>
          <a:stretch/>
        </p:blipFill>
        <p:spPr>
          <a:xfrm>
            <a:off x="323657" y="3907634"/>
            <a:ext cx="3726836" cy="256993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C9E4C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82ADFB3C-052B-4F46-B1F9-532C7A841B48}"/>
              </a:ext>
            </a:extLst>
          </p:cNvPr>
          <p:cNvSpPr txBox="1"/>
          <p:nvPr/>
        </p:nvSpPr>
        <p:spPr>
          <a:xfrm>
            <a:off x="4490548" y="3190335"/>
            <a:ext cx="7440930" cy="3477875"/>
          </a:xfrm>
          <a:prstGeom prst="rect">
            <a:avLst/>
          </a:prstGeom>
          <a:noFill/>
        </p:spPr>
        <p:txBody>
          <a:bodyPr wrap="square" rtlCol="1">
            <a:spAutoFit/>
          </a:bodyPr>
          <a:lstStyle/>
          <a:p>
            <a:pPr algn="r"/>
            <a:r>
              <a:rPr lang="fa-IR" sz="2000" dirty="0">
                <a:cs typeface="2  Nazanin" panose="00000400000000000000" pitchFamily="2" charset="-78"/>
              </a:rPr>
              <a:t>آهك زنده يا آهك هوايي:  بخش عمدة آن اكسيد كلسيم يا اكسيد كلسيم همراه با اكسيد منيزيم است. اين آهك بسيار زود شكفته ميشود و در موقع شكفته شدن مقدار زيادي حرارت آزاد ميكند و آهك زنده در مجاورت هوا خود را ميگيرد و سفت ميشود</a:t>
            </a:r>
            <a:endParaRPr lang="en-US" sz="2000" dirty="0">
              <a:cs typeface="2  Nazanin" panose="00000400000000000000" pitchFamily="2" charset="-78"/>
            </a:endParaRPr>
          </a:p>
          <a:p>
            <a:pPr algn="r"/>
            <a:r>
              <a:rPr lang="fa-IR" sz="2000" dirty="0">
                <a:cs typeface="2  Nazanin" panose="00000400000000000000" pitchFamily="2" charset="-78"/>
              </a:rPr>
              <a:t>آهك شكفته يا آهك هيدراته: پودر خشكي است كه از تركيب اكسيد كلسيم بـا آب</a:t>
            </a:r>
          </a:p>
          <a:p>
            <a:pPr algn="r"/>
            <a:r>
              <a:rPr lang="fa-IR" sz="2000" dirty="0">
                <a:cs typeface="2  Nazanin" panose="00000400000000000000" pitchFamily="2" charset="-78"/>
              </a:rPr>
              <a:t>به دست ميآيد. آهـك شكفته دي اكسيدكربن موجود در هوا را جذب ميكند و به سنگ آهك تبديل ميشود. </a:t>
            </a:r>
          </a:p>
          <a:p>
            <a:pPr algn="r"/>
            <a:r>
              <a:rPr lang="fa-IR" sz="2000" dirty="0">
                <a:cs typeface="2  Nazanin" panose="00000400000000000000" pitchFamily="2" charset="-78"/>
              </a:rPr>
              <a:t>آهك هيدروليك هيدراته (آهك آبي): اين نوع آهك از كلسينه شـدن سـنگ آهـك</a:t>
            </a:r>
          </a:p>
          <a:p>
            <a:pPr algn="r"/>
            <a:r>
              <a:rPr lang="fa-IR" sz="2000" dirty="0">
                <a:cs typeface="2  Nazanin" panose="00000400000000000000" pitchFamily="2" charset="-78"/>
              </a:rPr>
              <a:t>حاوي سيليس و آلومين ساخته ميشود. به كندي شـكفته مـيشـود و افـزايش حجـم آن اندك است</a:t>
            </a:r>
            <a:endParaRPr lang="en-US" sz="2000" dirty="0">
              <a:cs typeface="2  Nazanin" panose="00000400000000000000" pitchFamily="2" charset="-78"/>
            </a:endParaRPr>
          </a:p>
          <a:p>
            <a:pPr algn="r"/>
            <a:r>
              <a:rPr lang="fa-IR" sz="2000" dirty="0">
                <a:cs typeface="2  Nazanin" panose="00000400000000000000" pitchFamily="2" charset="-78"/>
              </a:rPr>
              <a:t>آهك نيمه آبي: آهكي است. به تدريج شكفته ميشود و حجم آن افزايش كمي دارد. ماننـد آهـك آبـي در زيـر آب گرفته و سفت ميشود، ولي مقاومت آن كمتر از آهك آبي است</a:t>
            </a:r>
          </a:p>
        </p:txBody>
      </p:sp>
      <p:pic>
        <p:nvPicPr>
          <p:cNvPr id="22" name="Picture 21">
            <a:extLst>
              <a:ext uri="{FF2B5EF4-FFF2-40B4-BE49-F238E27FC236}">
                <a16:creationId xmlns:a16="http://schemas.microsoft.com/office/drawing/2014/main" id="{749804DA-5D11-43CC-AAFA-A11EB41F4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990" y="3647910"/>
            <a:ext cx="4431141" cy="1949702"/>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48" y="9738"/>
            <a:ext cx="12192000" cy="7550727"/>
            <a:chOff x="0" y="0"/>
            <a:chExt cx="12192000" cy="7550727"/>
          </a:xfrm>
          <a:solidFill>
            <a:srgbClr val="87BBA2"/>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cxnSp>
        <p:nvCxnSpPr>
          <p:cNvPr id="23" name="Straight Connector 22">
            <a:extLst>
              <a:ext uri="{FF2B5EF4-FFF2-40B4-BE49-F238E27FC236}">
                <a16:creationId xmlns:a16="http://schemas.microsoft.com/office/drawing/2014/main" id="{998C3032-9198-4948-8ACE-B7F6AE9CE810}"/>
              </a:ext>
            </a:extLst>
          </p:cNvPr>
          <p:cNvCxnSpPr>
            <a:cxnSpLocks/>
          </p:cNvCxnSpPr>
          <p:nvPr/>
        </p:nvCxnSpPr>
        <p:spPr>
          <a:xfrm>
            <a:off x="4769555" y="4154303"/>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A192DAF-5DBB-4B50-80A7-963CDC95A7FC}"/>
              </a:ext>
            </a:extLst>
          </p:cNvPr>
          <p:cNvCxnSpPr>
            <a:cxnSpLocks/>
            <a:endCxn id="35" idx="2"/>
          </p:cNvCxnSpPr>
          <p:nvPr/>
        </p:nvCxnSpPr>
        <p:spPr>
          <a:xfrm>
            <a:off x="1625600" y="4165599"/>
            <a:ext cx="2929466"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A3938012-B4D9-4BF7-82F7-8AB8CF6712DE}"/>
              </a:ext>
            </a:extLst>
          </p:cNvPr>
          <p:cNvSpPr/>
          <p:nvPr/>
        </p:nvSpPr>
        <p:spPr>
          <a:xfrm>
            <a:off x="893585" y="3527246"/>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cxnSp>
        <p:nvCxnSpPr>
          <p:cNvPr id="26" name="Straight Connector 25">
            <a:extLst>
              <a:ext uri="{FF2B5EF4-FFF2-40B4-BE49-F238E27FC236}">
                <a16:creationId xmlns:a16="http://schemas.microsoft.com/office/drawing/2014/main" id="{03C69ACE-7853-491F-85A4-723CA2D7849D}"/>
              </a:ext>
            </a:extLst>
          </p:cNvPr>
          <p:cNvCxnSpPr/>
          <p:nvPr/>
        </p:nvCxnSpPr>
        <p:spPr>
          <a:xfrm>
            <a:off x="0" y="4165600"/>
            <a:ext cx="151271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7" name="Flowchart: Connector 26">
            <a:extLst>
              <a:ext uri="{FF2B5EF4-FFF2-40B4-BE49-F238E27FC236}">
                <a16:creationId xmlns:a16="http://schemas.microsoft.com/office/drawing/2014/main" id="{C589F9D3-7A9C-4952-B230-5354AFDA2E82}"/>
              </a:ext>
            </a:extLst>
          </p:cNvPr>
          <p:cNvSpPr/>
          <p:nvPr/>
        </p:nvSpPr>
        <p:spPr>
          <a:xfrm>
            <a:off x="1411111" y="4052711"/>
            <a:ext cx="214489" cy="225777"/>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8" name="Circle: Hollow 27">
            <a:extLst>
              <a:ext uri="{FF2B5EF4-FFF2-40B4-BE49-F238E27FC236}">
                <a16:creationId xmlns:a16="http://schemas.microsoft.com/office/drawing/2014/main" id="{FC32175D-0752-474B-867D-B114514F00C8}"/>
              </a:ext>
            </a:extLst>
          </p:cNvPr>
          <p:cNvSpPr/>
          <p:nvPr/>
        </p:nvSpPr>
        <p:spPr>
          <a:xfrm>
            <a:off x="1200855" y="3846821"/>
            <a:ext cx="623711" cy="637557"/>
          </a:xfrm>
          <a:prstGeom prst="donut">
            <a:avLst>
              <a:gd name="adj" fmla="val 6690"/>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29" name="Circle: Hollow 28">
            <a:extLst>
              <a:ext uri="{FF2B5EF4-FFF2-40B4-BE49-F238E27FC236}">
                <a16:creationId xmlns:a16="http://schemas.microsoft.com/office/drawing/2014/main" id="{437FB37D-2C85-4F07-8C33-D03F74CF3092}"/>
              </a:ext>
            </a:extLst>
          </p:cNvPr>
          <p:cNvSpPr/>
          <p:nvPr/>
        </p:nvSpPr>
        <p:spPr>
          <a:xfrm>
            <a:off x="1019524" y="3684475"/>
            <a:ext cx="986367" cy="962246"/>
          </a:xfrm>
          <a:prstGeom prst="donut">
            <a:avLst>
              <a:gd name="adj" fmla="val 199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0" name="Straight Connector 29">
            <a:extLst>
              <a:ext uri="{FF2B5EF4-FFF2-40B4-BE49-F238E27FC236}">
                <a16:creationId xmlns:a16="http://schemas.microsoft.com/office/drawing/2014/main" id="{7AABECF7-5CD0-4E83-910A-B36B9B9D8D33}"/>
              </a:ext>
            </a:extLst>
          </p:cNvPr>
          <p:cNvCxnSpPr>
            <a:cxnSpLocks/>
          </p:cNvCxnSpPr>
          <p:nvPr/>
        </p:nvCxnSpPr>
        <p:spPr>
          <a:xfrm flipV="1">
            <a:off x="1512710" y="4278490"/>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1" name="Flowchart: Connector 30">
            <a:extLst>
              <a:ext uri="{FF2B5EF4-FFF2-40B4-BE49-F238E27FC236}">
                <a16:creationId xmlns:a16="http://schemas.microsoft.com/office/drawing/2014/main" id="{0B60C47E-C5A3-4B24-A6D6-E29F84997A6D}"/>
              </a:ext>
            </a:extLst>
          </p:cNvPr>
          <p:cNvSpPr/>
          <p:nvPr/>
        </p:nvSpPr>
        <p:spPr>
          <a:xfrm>
            <a:off x="1428394" y="5442303"/>
            <a:ext cx="168625" cy="166642"/>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2" name="TextBox 31">
            <a:extLst>
              <a:ext uri="{FF2B5EF4-FFF2-40B4-BE49-F238E27FC236}">
                <a16:creationId xmlns:a16="http://schemas.microsoft.com/office/drawing/2014/main" id="{CB1703D9-112E-4597-8344-885F9EA8AB70}"/>
              </a:ext>
            </a:extLst>
          </p:cNvPr>
          <p:cNvSpPr txBox="1"/>
          <p:nvPr/>
        </p:nvSpPr>
        <p:spPr>
          <a:xfrm>
            <a:off x="361239" y="306870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هیدرولیکی</a:t>
            </a:r>
          </a:p>
        </p:txBody>
      </p:sp>
      <p:sp>
        <p:nvSpPr>
          <p:cNvPr id="33" name="TextBox 32">
            <a:extLst>
              <a:ext uri="{FF2B5EF4-FFF2-40B4-BE49-F238E27FC236}">
                <a16:creationId xmlns:a16="http://schemas.microsoft.com/office/drawing/2014/main" id="{E43A01F6-76AC-4FFA-AEA4-36EDFB9341DF}"/>
              </a:ext>
            </a:extLst>
          </p:cNvPr>
          <p:cNvSpPr txBox="1"/>
          <p:nvPr/>
        </p:nvSpPr>
        <p:spPr>
          <a:xfrm>
            <a:off x="359476" y="5608945"/>
            <a:ext cx="2302933" cy="923330"/>
          </a:xfrm>
          <a:prstGeom prst="rect">
            <a:avLst/>
          </a:prstGeom>
          <a:noFill/>
        </p:spPr>
        <p:txBody>
          <a:bodyPr wrap="square" rtlCol="1">
            <a:spAutoFit/>
          </a:bodyPr>
          <a:lstStyle/>
          <a:p>
            <a:pPr algn="r"/>
            <a:r>
              <a:rPr lang="fa-IR" dirty="0">
                <a:cs typeface="2  Nazanin" panose="00000400000000000000" pitchFamily="2" charset="-78"/>
              </a:rPr>
              <a:t>براي مصارف ساختماني و</a:t>
            </a:r>
          </a:p>
          <a:p>
            <a:pPr algn="r"/>
            <a:r>
              <a:rPr lang="fa-IR" dirty="0">
                <a:cs typeface="2  Nazanin" panose="00000400000000000000" pitchFamily="2" charset="-78"/>
              </a:rPr>
              <a:t>عمدتاً در اندودكاري ملات و افزودني اصلاح كننده بتن است</a:t>
            </a:r>
          </a:p>
        </p:txBody>
      </p:sp>
      <p:sp>
        <p:nvSpPr>
          <p:cNvPr id="34" name="Arc 33">
            <a:extLst>
              <a:ext uri="{FF2B5EF4-FFF2-40B4-BE49-F238E27FC236}">
                <a16:creationId xmlns:a16="http://schemas.microsoft.com/office/drawing/2014/main" id="{5EA03771-5463-4945-9F9A-D98D7876433D}"/>
              </a:ext>
            </a:extLst>
          </p:cNvPr>
          <p:cNvSpPr/>
          <p:nvPr/>
        </p:nvSpPr>
        <p:spPr>
          <a:xfrm rot="5158658">
            <a:off x="4037540" y="352724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35" name="Flowchart: Connector 34">
            <a:extLst>
              <a:ext uri="{FF2B5EF4-FFF2-40B4-BE49-F238E27FC236}">
                <a16:creationId xmlns:a16="http://schemas.microsoft.com/office/drawing/2014/main" id="{54055E10-C83B-465E-AEC6-9D22E8854DF2}"/>
              </a:ext>
            </a:extLst>
          </p:cNvPr>
          <p:cNvSpPr/>
          <p:nvPr/>
        </p:nvSpPr>
        <p:spPr>
          <a:xfrm>
            <a:off x="4555066" y="4052710"/>
            <a:ext cx="214489" cy="225777"/>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Circle: Hollow 35">
            <a:extLst>
              <a:ext uri="{FF2B5EF4-FFF2-40B4-BE49-F238E27FC236}">
                <a16:creationId xmlns:a16="http://schemas.microsoft.com/office/drawing/2014/main" id="{772B568C-4C27-403B-810E-6E46BDD1CFAC}"/>
              </a:ext>
            </a:extLst>
          </p:cNvPr>
          <p:cNvSpPr/>
          <p:nvPr/>
        </p:nvSpPr>
        <p:spPr>
          <a:xfrm>
            <a:off x="4344810" y="3846820"/>
            <a:ext cx="623711" cy="637557"/>
          </a:xfrm>
          <a:prstGeom prst="donut">
            <a:avLst>
              <a:gd name="adj" fmla="val 669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37" name="Circle: Hollow 36">
            <a:extLst>
              <a:ext uri="{FF2B5EF4-FFF2-40B4-BE49-F238E27FC236}">
                <a16:creationId xmlns:a16="http://schemas.microsoft.com/office/drawing/2014/main" id="{389AAB38-2FCC-4112-93EE-A5CCABB21582}"/>
              </a:ext>
            </a:extLst>
          </p:cNvPr>
          <p:cNvSpPr/>
          <p:nvPr/>
        </p:nvSpPr>
        <p:spPr>
          <a:xfrm>
            <a:off x="4163479"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8" name="Straight Connector 37">
            <a:extLst>
              <a:ext uri="{FF2B5EF4-FFF2-40B4-BE49-F238E27FC236}">
                <a16:creationId xmlns:a16="http://schemas.microsoft.com/office/drawing/2014/main" id="{2E6728AB-EB97-430D-A15A-72D6F576DA35}"/>
              </a:ext>
            </a:extLst>
          </p:cNvPr>
          <p:cNvCxnSpPr>
            <a:cxnSpLocks/>
          </p:cNvCxnSpPr>
          <p:nvPr/>
        </p:nvCxnSpPr>
        <p:spPr>
          <a:xfrm flipV="1">
            <a:off x="4656661" y="2888897"/>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9" name="Flowchart: Connector 38">
            <a:extLst>
              <a:ext uri="{FF2B5EF4-FFF2-40B4-BE49-F238E27FC236}">
                <a16:creationId xmlns:a16="http://schemas.microsoft.com/office/drawing/2014/main" id="{71A8F4D4-28AC-44D5-8B9B-3FE5279735AF}"/>
              </a:ext>
            </a:extLst>
          </p:cNvPr>
          <p:cNvSpPr/>
          <p:nvPr/>
        </p:nvSpPr>
        <p:spPr>
          <a:xfrm>
            <a:off x="4572702" y="2761501"/>
            <a:ext cx="168625" cy="166642"/>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0" name="TextBox 39">
            <a:extLst>
              <a:ext uri="{FF2B5EF4-FFF2-40B4-BE49-F238E27FC236}">
                <a16:creationId xmlns:a16="http://schemas.microsoft.com/office/drawing/2014/main" id="{32663892-2269-4A7E-9DDE-B8E56473F88B}"/>
              </a:ext>
            </a:extLst>
          </p:cNvPr>
          <p:cNvSpPr txBox="1"/>
          <p:nvPr/>
        </p:nvSpPr>
        <p:spPr>
          <a:xfrm>
            <a:off x="3504567" y="4670164"/>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پرداخت</a:t>
            </a:r>
          </a:p>
        </p:txBody>
      </p:sp>
      <p:sp>
        <p:nvSpPr>
          <p:cNvPr id="41" name="TextBox 40">
            <a:extLst>
              <a:ext uri="{FF2B5EF4-FFF2-40B4-BE49-F238E27FC236}">
                <a16:creationId xmlns:a16="http://schemas.microsoft.com/office/drawing/2014/main" id="{5186A525-B81C-4E91-ACFF-973CBC2952FA}"/>
              </a:ext>
            </a:extLst>
          </p:cNvPr>
          <p:cNvSpPr txBox="1"/>
          <p:nvPr/>
        </p:nvSpPr>
        <p:spPr>
          <a:xfrm>
            <a:off x="3385860" y="1883212"/>
            <a:ext cx="2302933" cy="1200329"/>
          </a:xfrm>
          <a:prstGeom prst="rect">
            <a:avLst/>
          </a:prstGeom>
          <a:noFill/>
        </p:spPr>
        <p:txBody>
          <a:bodyPr wrap="square" rtlCol="1">
            <a:spAutoFit/>
          </a:bodyPr>
          <a:lstStyle/>
          <a:p>
            <a:pPr algn="r"/>
            <a:r>
              <a:rPr lang="fa-IR" dirty="0">
                <a:cs typeface="2  Nazanin" panose="00000400000000000000" pitchFamily="2" charset="-78"/>
              </a:rPr>
              <a:t> در لايـة آسـتر، زيركـاري، روكـش پرداخت، ساخت ملات و مادة افزودني در بتن كاربرد دارد</a:t>
            </a:r>
          </a:p>
        </p:txBody>
      </p:sp>
      <p:sp>
        <p:nvSpPr>
          <p:cNvPr id="42" name="Arc 41">
            <a:extLst>
              <a:ext uri="{FF2B5EF4-FFF2-40B4-BE49-F238E27FC236}">
                <a16:creationId xmlns:a16="http://schemas.microsoft.com/office/drawing/2014/main" id="{5BEC991F-A497-4042-8C3A-B383FAEE70D3}"/>
              </a:ext>
            </a:extLst>
          </p:cNvPr>
          <p:cNvSpPr/>
          <p:nvPr/>
        </p:nvSpPr>
        <p:spPr>
          <a:xfrm>
            <a:off x="7021936" y="352724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43" name="Flowchart: Connector 42">
            <a:extLst>
              <a:ext uri="{FF2B5EF4-FFF2-40B4-BE49-F238E27FC236}">
                <a16:creationId xmlns:a16="http://schemas.microsoft.com/office/drawing/2014/main" id="{383123A7-4D4B-4730-86C9-961104A4D288}"/>
              </a:ext>
            </a:extLst>
          </p:cNvPr>
          <p:cNvSpPr/>
          <p:nvPr/>
        </p:nvSpPr>
        <p:spPr>
          <a:xfrm>
            <a:off x="7539462" y="4052710"/>
            <a:ext cx="214489" cy="225777"/>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Circle: Hollow 43">
            <a:extLst>
              <a:ext uri="{FF2B5EF4-FFF2-40B4-BE49-F238E27FC236}">
                <a16:creationId xmlns:a16="http://schemas.microsoft.com/office/drawing/2014/main" id="{4D7B5875-ACB5-42C0-A4D6-2E3F55F94FE7}"/>
              </a:ext>
            </a:extLst>
          </p:cNvPr>
          <p:cNvSpPr/>
          <p:nvPr/>
        </p:nvSpPr>
        <p:spPr>
          <a:xfrm>
            <a:off x="7329206" y="3846820"/>
            <a:ext cx="623711" cy="637557"/>
          </a:xfrm>
          <a:prstGeom prst="donut">
            <a:avLst>
              <a:gd name="adj" fmla="val 6690"/>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45" name="Circle: Hollow 44">
            <a:extLst>
              <a:ext uri="{FF2B5EF4-FFF2-40B4-BE49-F238E27FC236}">
                <a16:creationId xmlns:a16="http://schemas.microsoft.com/office/drawing/2014/main" id="{3A81106B-3D87-437D-AFE4-5FF31C945D36}"/>
              </a:ext>
            </a:extLst>
          </p:cNvPr>
          <p:cNvSpPr/>
          <p:nvPr/>
        </p:nvSpPr>
        <p:spPr>
          <a:xfrm>
            <a:off x="7147875" y="368447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46" name="Straight Connector 45">
            <a:extLst>
              <a:ext uri="{FF2B5EF4-FFF2-40B4-BE49-F238E27FC236}">
                <a16:creationId xmlns:a16="http://schemas.microsoft.com/office/drawing/2014/main" id="{CE93D38D-D795-4385-BEC8-E6AA4664D001}"/>
              </a:ext>
            </a:extLst>
          </p:cNvPr>
          <p:cNvCxnSpPr>
            <a:cxnSpLocks/>
          </p:cNvCxnSpPr>
          <p:nvPr/>
        </p:nvCxnSpPr>
        <p:spPr>
          <a:xfrm flipV="1">
            <a:off x="7641061" y="4278489"/>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7" name="Flowchart: Connector 46">
            <a:extLst>
              <a:ext uri="{FF2B5EF4-FFF2-40B4-BE49-F238E27FC236}">
                <a16:creationId xmlns:a16="http://schemas.microsoft.com/office/drawing/2014/main" id="{48A981AB-0478-4F95-94C0-3071F93AB92F}"/>
              </a:ext>
            </a:extLst>
          </p:cNvPr>
          <p:cNvSpPr/>
          <p:nvPr/>
        </p:nvSpPr>
        <p:spPr>
          <a:xfrm>
            <a:off x="7556745" y="5442302"/>
            <a:ext cx="168625" cy="166642"/>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BBC64B3B-FF96-4A8E-82AE-E3EC2DC15477}"/>
              </a:ext>
            </a:extLst>
          </p:cNvPr>
          <p:cNvSpPr txBox="1"/>
          <p:nvPr/>
        </p:nvSpPr>
        <p:spPr>
          <a:xfrm>
            <a:off x="6489590" y="3018665"/>
            <a:ext cx="2302933" cy="369332"/>
          </a:xfrm>
          <a:prstGeom prst="rect">
            <a:avLst/>
          </a:prstGeom>
          <a:noFill/>
        </p:spPr>
        <p:txBody>
          <a:bodyPr wrap="square" rtlCol="1">
            <a:spAutoFit/>
          </a:bodyPr>
          <a:lstStyle/>
          <a:p>
            <a:pPr algn="ctr"/>
            <a:r>
              <a:rPr lang="fa-IR" b="1" dirty="0">
                <a:cs typeface="2  Nazanin" panose="00000400000000000000" pitchFamily="2" charset="-78"/>
              </a:rPr>
              <a:t>اهک هیدراته بنایی</a:t>
            </a:r>
          </a:p>
        </p:txBody>
      </p:sp>
      <p:sp>
        <p:nvSpPr>
          <p:cNvPr id="49" name="TextBox 48">
            <a:extLst>
              <a:ext uri="{FF2B5EF4-FFF2-40B4-BE49-F238E27FC236}">
                <a16:creationId xmlns:a16="http://schemas.microsoft.com/office/drawing/2014/main" id="{DA621A48-B9C5-4327-A7F9-D8FF722AF5F5}"/>
              </a:ext>
            </a:extLst>
          </p:cNvPr>
          <p:cNvSpPr txBox="1"/>
          <p:nvPr/>
        </p:nvSpPr>
        <p:spPr>
          <a:xfrm>
            <a:off x="6381533" y="5704885"/>
            <a:ext cx="2519045" cy="923330"/>
          </a:xfrm>
          <a:prstGeom prst="rect">
            <a:avLst/>
          </a:prstGeom>
          <a:noFill/>
        </p:spPr>
        <p:txBody>
          <a:bodyPr wrap="square" rtlCol="1">
            <a:spAutoFit/>
          </a:bodyPr>
          <a:lstStyle/>
          <a:p>
            <a:pPr algn="r"/>
            <a:r>
              <a:rPr lang="fa-IR" dirty="0">
                <a:cs typeface="2  Nazanin" panose="00000400000000000000" pitchFamily="2" charset="-78"/>
              </a:rPr>
              <a:t>اين آهك بر چهـار نـوع هيدراتـه معمـولي بـراي مصارف بنايي است</a:t>
            </a:r>
            <a:r>
              <a:rPr lang="en-US" dirty="0">
                <a:cs typeface="2  Nazanin" panose="00000400000000000000" pitchFamily="2" charset="-78"/>
              </a:rPr>
              <a:t> </a:t>
            </a:r>
            <a:endParaRPr lang="fa-IR" dirty="0">
              <a:cs typeface="2  Nazanin" panose="00000400000000000000" pitchFamily="2" charset="-78"/>
            </a:endParaRPr>
          </a:p>
        </p:txBody>
      </p:sp>
      <p:cxnSp>
        <p:nvCxnSpPr>
          <p:cNvPr id="50" name="Straight Connector 49">
            <a:extLst>
              <a:ext uri="{FF2B5EF4-FFF2-40B4-BE49-F238E27FC236}">
                <a16:creationId xmlns:a16="http://schemas.microsoft.com/office/drawing/2014/main" id="{456A77C0-2057-4780-9DC9-E8961238DE13}"/>
              </a:ext>
            </a:extLst>
          </p:cNvPr>
          <p:cNvCxnSpPr>
            <a:cxnSpLocks/>
          </p:cNvCxnSpPr>
          <p:nvPr/>
        </p:nvCxnSpPr>
        <p:spPr>
          <a:xfrm>
            <a:off x="7725370" y="4165596"/>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1" name="Arc 50">
            <a:extLst>
              <a:ext uri="{FF2B5EF4-FFF2-40B4-BE49-F238E27FC236}">
                <a16:creationId xmlns:a16="http://schemas.microsoft.com/office/drawing/2014/main" id="{46278B94-746E-488E-850B-506F7CBA69FC}"/>
              </a:ext>
            </a:extLst>
          </p:cNvPr>
          <p:cNvSpPr/>
          <p:nvPr/>
        </p:nvSpPr>
        <p:spPr>
          <a:xfrm rot="5158658">
            <a:off x="9975991" y="3515949"/>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52" name="Flowchart: Connector 51">
            <a:extLst>
              <a:ext uri="{FF2B5EF4-FFF2-40B4-BE49-F238E27FC236}">
                <a16:creationId xmlns:a16="http://schemas.microsoft.com/office/drawing/2014/main" id="{883AAC48-AD83-4B8A-B3F6-529B48780B8C}"/>
              </a:ext>
            </a:extLst>
          </p:cNvPr>
          <p:cNvSpPr/>
          <p:nvPr/>
        </p:nvSpPr>
        <p:spPr>
          <a:xfrm>
            <a:off x="10493517" y="4041414"/>
            <a:ext cx="214489" cy="225777"/>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3" name="Circle: Hollow 52">
            <a:extLst>
              <a:ext uri="{FF2B5EF4-FFF2-40B4-BE49-F238E27FC236}">
                <a16:creationId xmlns:a16="http://schemas.microsoft.com/office/drawing/2014/main" id="{0CFF10DD-DD7E-404B-9051-06EDDB960DC8}"/>
              </a:ext>
            </a:extLst>
          </p:cNvPr>
          <p:cNvSpPr/>
          <p:nvPr/>
        </p:nvSpPr>
        <p:spPr>
          <a:xfrm>
            <a:off x="10283261" y="3835524"/>
            <a:ext cx="623711" cy="637557"/>
          </a:xfrm>
          <a:prstGeom prst="donut">
            <a:avLst>
              <a:gd name="adj" fmla="val 66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54" name="Circle: Hollow 53">
            <a:extLst>
              <a:ext uri="{FF2B5EF4-FFF2-40B4-BE49-F238E27FC236}">
                <a16:creationId xmlns:a16="http://schemas.microsoft.com/office/drawing/2014/main" id="{85CE0F99-827C-495A-9F39-C464AFC27C77}"/>
              </a:ext>
            </a:extLst>
          </p:cNvPr>
          <p:cNvSpPr/>
          <p:nvPr/>
        </p:nvSpPr>
        <p:spPr>
          <a:xfrm>
            <a:off x="10101930" y="3673178"/>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55" name="Straight Connector 54">
            <a:extLst>
              <a:ext uri="{FF2B5EF4-FFF2-40B4-BE49-F238E27FC236}">
                <a16:creationId xmlns:a16="http://schemas.microsoft.com/office/drawing/2014/main" id="{A47C44D2-0E2C-48D8-A995-721DDC6CD4B5}"/>
              </a:ext>
            </a:extLst>
          </p:cNvPr>
          <p:cNvCxnSpPr>
            <a:cxnSpLocks/>
          </p:cNvCxnSpPr>
          <p:nvPr/>
        </p:nvCxnSpPr>
        <p:spPr>
          <a:xfrm flipV="1">
            <a:off x="10595112" y="2877601"/>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6" name="Flowchart: Connector 55">
            <a:extLst>
              <a:ext uri="{FF2B5EF4-FFF2-40B4-BE49-F238E27FC236}">
                <a16:creationId xmlns:a16="http://schemas.microsoft.com/office/drawing/2014/main" id="{65812D45-D157-4BAB-91C7-7B0977F31197}"/>
              </a:ext>
            </a:extLst>
          </p:cNvPr>
          <p:cNvSpPr/>
          <p:nvPr/>
        </p:nvSpPr>
        <p:spPr>
          <a:xfrm>
            <a:off x="10511153" y="2750205"/>
            <a:ext cx="168625" cy="166642"/>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7" name="TextBox 56">
            <a:extLst>
              <a:ext uri="{FF2B5EF4-FFF2-40B4-BE49-F238E27FC236}">
                <a16:creationId xmlns:a16="http://schemas.microsoft.com/office/drawing/2014/main" id="{76FA2B22-65E8-423D-B457-8B16AADE2871}"/>
              </a:ext>
            </a:extLst>
          </p:cNvPr>
          <p:cNvSpPr txBox="1"/>
          <p:nvPr/>
        </p:nvSpPr>
        <p:spPr>
          <a:xfrm>
            <a:off x="9485913" y="4648940"/>
            <a:ext cx="2302933" cy="369332"/>
          </a:xfrm>
          <a:prstGeom prst="rect">
            <a:avLst/>
          </a:prstGeom>
          <a:noFill/>
        </p:spPr>
        <p:txBody>
          <a:bodyPr wrap="square" rtlCol="1">
            <a:spAutoFit/>
          </a:bodyPr>
          <a:lstStyle/>
          <a:p>
            <a:pPr algn="ctr"/>
            <a:r>
              <a:rPr lang="fa-IR" b="1" dirty="0">
                <a:cs typeface="2  Nazanin" panose="00000400000000000000" pitchFamily="2" charset="-78"/>
              </a:rPr>
              <a:t>اهک زنده</a:t>
            </a:r>
          </a:p>
        </p:txBody>
      </p:sp>
      <p:sp>
        <p:nvSpPr>
          <p:cNvPr id="58" name="TextBox 57">
            <a:extLst>
              <a:ext uri="{FF2B5EF4-FFF2-40B4-BE49-F238E27FC236}">
                <a16:creationId xmlns:a16="http://schemas.microsoft.com/office/drawing/2014/main" id="{5C5F80CB-48DD-44EF-A54D-2B3D14289721}"/>
              </a:ext>
            </a:extLst>
          </p:cNvPr>
          <p:cNvSpPr txBox="1"/>
          <p:nvPr/>
        </p:nvSpPr>
        <p:spPr>
          <a:xfrm>
            <a:off x="9335589" y="1803574"/>
            <a:ext cx="2519045" cy="923330"/>
          </a:xfrm>
          <a:prstGeom prst="rect">
            <a:avLst/>
          </a:prstGeom>
          <a:noFill/>
        </p:spPr>
        <p:txBody>
          <a:bodyPr wrap="square" rtlCol="1">
            <a:spAutoFit/>
          </a:bodyPr>
          <a:lstStyle/>
          <a:p>
            <a:pPr algn="r"/>
            <a:r>
              <a:rPr lang="fa-IR" dirty="0">
                <a:cs typeface="2  Nazanin" panose="00000400000000000000" pitchFamily="2" charset="-78"/>
              </a:rPr>
              <a:t>اهك اگر زنده به سه گروه فعال، نيمه فعال و كـم فعـال تقسـيم مـيشـود.</a:t>
            </a:r>
          </a:p>
        </p:txBody>
      </p:sp>
      <p:cxnSp>
        <p:nvCxnSpPr>
          <p:cNvPr id="59" name="Straight Connector 58">
            <a:extLst>
              <a:ext uri="{FF2B5EF4-FFF2-40B4-BE49-F238E27FC236}">
                <a16:creationId xmlns:a16="http://schemas.microsoft.com/office/drawing/2014/main" id="{56958883-3590-460A-89A2-48A1F8DA0F35}"/>
              </a:ext>
            </a:extLst>
          </p:cNvPr>
          <p:cNvCxnSpPr>
            <a:cxnSpLocks/>
          </p:cNvCxnSpPr>
          <p:nvPr/>
        </p:nvCxnSpPr>
        <p:spPr>
          <a:xfrm>
            <a:off x="10688947" y="4154300"/>
            <a:ext cx="1503053" cy="278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15A4D828-C5F6-4A28-804D-9AB280CE04AD}"/>
              </a:ext>
            </a:extLst>
          </p:cNvPr>
          <p:cNvGrpSpPr/>
          <p:nvPr/>
        </p:nvGrpSpPr>
        <p:grpSpPr>
          <a:xfrm>
            <a:off x="0" y="3463"/>
            <a:ext cx="12192000" cy="7550727"/>
            <a:chOff x="0" y="0"/>
            <a:chExt cx="12192000" cy="7550727"/>
          </a:xfrm>
          <a:solidFill>
            <a:srgbClr val="55828B"/>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0" name="TextBox 19">
            <a:extLst>
              <a:ext uri="{FF2B5EF4-FFF2-40B4-BE49-F238E27FC236}">
                <a16:creationId xmlns:a16="http://schemas.microsoft.com/office/drawing/2014/main" id="{CD9ECC79-3748-4D23-B7A7-A4F22A5708DD}"/>
              </a:ext>
            </a:extLst>
          </p:cNvPr>
          <p:cNvSpPr txBox="1"/>
          <p:nvPr/>
        </p:nvSpPr>
        <p:spPr>
          <a:xfrm>
            <a:off x="3754092" y="1398655"/>
            <a:ext cx="8076669" cy="5416868"/>
          </a:xfrm>
          <a:prstGeom prst="rect">
            <a:avLst/>
          </a:prstGeom>
          <a:noFill/>
        </p:spPr>
        <p:txBody>
          <a:bodyPr wrap="square" rtlCol="1">
            <a:spAutoFit/>
          </a:bodyPr>
          <a:lstStyle/>
          <a:p>
            <a:pPr algn="r"/>
            <a:r>
              <a:rPr lang="fa-IR" sz="2000" b="1" dirty="0">
                <a:cs typeface="2  Nazanin" panose="00000400000000000000" pitchFamily="2" charset="-78"/>
              </a:rPr>
              <a:t>فراورده های آهکی</a:t>
            </a:r>
          </a:p>
          <a:p>
            <a:pPr algn="r"/>
            <a:r>
              <a:rPr lang="fa-IR" dirty="0">
                <a:cs typeface="2  Nazanin" panose="00000400000000000000" pitchFamily="2" charset="-78"/>
              </a:rPr>
              <a:t> آجر ماسه آهكي</a:t>
            </a:r>
          </a:p>
          <a:p>
            <a:pPr algn="r"/>
            <a:r>
              <a:rPr lang="fa-IR" dirty="0">
                <a:cs typeface="2  Nazanin" panose="00000400000000000000" pitchFamily="2" charset="-78"/>
              </a:rPr>
              <a:t>بتن آهكي سبك: اين بتن از جنس سيليكات كلسـيم اسـت. از خـواص آن سـبك بـودن و</a:t>
            </a:r>
          </a:p>
          <a:p>
            <a:pPr algn="r"/>
            <a:r>
              <a:rPr lang="fa-IR" dirty="0">
                <a:cs typeface="2  Nazanin" panose="00000400000000000000" pitchFamily="2" charset="-78"/>
              </a:rPr>
              <a:t>داشتن خاصيت عايق حرارتي است. قطعات پيشساخته آن در ساخت سقف و ديوارهاي غيرباربر به كار ميرود</a:t>
            </a:r>
            <a:endParaRPr lang="en-US" dirty="0">
              <a:cs typeface="2  Nazanin" panose="00000400000000000000" pitchFamily="2" charset="-78"/>
            </a:endParaRPr>
          </a:p>
          <a:p>
            <a:pPr algn="r"/>
            <a:r>
              <a:rPr lang="fa-IR" sz="2000" b="1" dirty="0">
                <a:cs typeface="2  Nazanin" panose="00000400000000000000" pitchFamily="2" charset="-78"/>
              </a:rPr>
              <a:t>ویژگی ها</a:t>
            </a:r>
          </a:p>
          <a:p>
            <a:pPr algn="r"/>
            <a:r>
              <a:rPr lang="fa-IR" dirty="0">
                <a:cs typeface="2  Nazanin" panose="00000400000000000000" pitchFamily="2" charset="-78"/>
              </a:rPr>
              <a:t>آهك بايد به صورت دوغاب مصرف شود</a:t>
            </a:r>
          </a:p>
          <a:p>
            <a:pPr algn="r"/>
            <a:r>
              <a:rPr lang="fa-IR" dirty="0">
                <a:cs typeface="2  Nazanin" panose="00000400000000000000" pitchFamily="2" charset="-78"/>
              </a:rPr>
              <a:t>آهك را بايد در جايي استفاده كرد كه هوا نمناك باشد</a:t>
            </a:r>
          </a:p>
          <a:p>
            <a:pPr algn="r"/>
            <a:r>
              <a:rPr lang="fa-IR" dirty="0">
                <a:cs typeface="2  Nazanin" panose="00000400000000000000" pitchFamily="2" charset="-78"/>
              </a:rPr>
              <a:t>آهك زنده قبل از شكفته شدن هرگز نبايد براي مصارف ساختماني مصرف گردد</a:t>
            </a:r>
            <a:endParaRPr lang="en-US" dirty="0">
              <a:cs typeface="2  Nazanin" panose="00000400000000000000" pitchFamily="2" charset="-78"/>
            </a:endParaRPr>
          </a:p>
          <a:p>
            <a:pPr algn="r"/>
            <a:r>
              <a:rPr lang="fa-IR" dirty="0">
                <a:cs typeface="2  Nazanin" panose="00000400000000000000" pitchFamily="2" charset="-78"/>
              </a:rPr>
              <a:t>آزمایش ها</a:t>
            </a:r>
            <a:endParaRPr lang="en-US" dirty="0">
              <a:cs typeface="2  Nazanin" panose="00000400000000000000" pitchFamily="2" charset="-78"/>
            </a:endParaRPr>
          </a:p>
          <a:p>
            <a:pPr algn="r"/>
            <a:r>
              <a:rPr lang="fa-IR" dirty="0">
                <a:cs typeface="2  Nazanin" panose="00000400000000000000" pitchFamily="2" charset="-78"/>
              </a:rPr>
              <a:t>ازمايش هاي شيميايي آهك زنده، آهك هيدراته و سنگ آهـكندازهگيري اكسيد سيليسيم</a:t>
            </a:r>
          </a:p>
          <a:p>
            <a:pPr algn="r"/>
            <a:r>
              <a:rPr lang="fa-IR" dirty="0">
                <a:cs typeface="2  Nazanin" panose="00000400000000000000" pitchFamily="2" charset="-78"/>
              </a:rPr>
              <a:t>و مواد نامحلول، اندازهگيري مجموع اكسيدهاي آلومينيم، آهن، فسفر، تيتانيوم و منگنز، اندازهگيري اکسيدهاي كلسيم، منيزيم، استرانسيم، تـري اكسـيد گـوگرد، افـت سـرخ شـدن در 1000 درجـه سلسيوس، تعيين رطوبت آزاد در سنگ آهـك و آهـك هيدراتـه، تعيـين فسفر، منگنـز و آهـن دو ظرفيتي می باشد</a:t>
            </a:r>
            <a:endParaRPr lang="en-US" dirty="0">
              <a:cs typeface="2  Nazanin" panose="00000400000000000000" pitchFamily="2" charset="-78"/>
            </a:endParaRPr>
          </a:p>
          <a:p>
            <a:pPr algn="r"/>
            <a:r>
              <a:rPr lang="fa-IR" dirty="0">
                <a:cs typeface="2  Nazanin" panose="00000400000000000000" pitchFamily="2" charset="-78"/>
              </a:rPr>
              <a:t>آزمايش هاي فيزيكي آهك زنده، آهك هيدراته و سنگ آهك تعيين باقيمانده آهـك زنده، سرعت شكفتن آهك زنده، دانه بندي آهك زنده، آهك هيدراته و سنگ آهك، تعيـين چگـالي ظاهري آزاد آهك هيدراته، پودر آهك زنده و سنگ آهك، چگالي ظاهري متـراكم آهـك هيدراتـه، پودر سنگ آهـك، دانـه بنـدي پـودر سـنگ آهـك، غلظت استاندارد خميـر آهـك هيدراتـه، شـكلپ ـذيري خمير آهك هيدراته، انبساط اتوكلاو آهك هيدراتـه، قابليـت آب نگهـداري آهـك هيدراتـه،می باشد</a:t>
            </a:r>
          </a:p>
          <a:p>
            <a:pPr algn="r"/>
            <a:r>
              <a:rPr lang="en-US" dirty="0">
                <a:cs typeface="2  Nazanin" panose="00000400000000000000" pitchFamily="2" charset="-78"/>
              </a:rPr>
              <a:t> </a:t>
            </a:r>
            <a:endParaRPr lang="fa-IR" dirty="0">
              <a:cs typeface="2  Nazanin" panose="00000400000000000000" pitchFamily="2" charset="-78"/>
            </a:endParaRPr>
          </a:p>
        </p:txBody>
      </p:sp>
      <p:pic>
        <p:nvPicPr>
          <p:cNvPr id="61" name="Picture 60">
            <a:extLst>
              <a:ext uri="{FF2B5EF4-FFF2-40B4-BE49-F238E27FC236}">
                <a16:creationId xmlns:a16="http://schemas.microsoft.com/office/drawing/2014/main" id="{D257472B-906A-4A30-A099-1D219EDDFA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963" y="5015908"/>
            <a:ext cx="2838450" cy="1609725"/>
          </a:xfrm>
          <a:prstGeom prst="rect">
            <a:avLst/>
          </a:prstGeom>
        </p:spPr>
      </p:pic>
      <p:pic>
        <p:nvPicPr>
          <p:cNvPr id="63" name="Picture 62">
            <a:extLst>
              <a:ext uri="{FF2B5EF4-FFF2-40B4-BE49-F238E27FC236}">
                <a16:creationId xmlns:a16="http://schemas.microsoft.com/office/drawing/2014/main" id="{B6CCE329-5E02-4D9F-913F-19CA3535EA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603" y="957510"/>
            <a:ext cx="2009775" cy="2276475"/>
          </a:xfrm>
          <a:prstGeom prst="rect">
            <a:avLst/>
          </a:prstGeom>
        </p:spPr>
      </p:pic>
      <p:pic>
        <p:nvPicPr>
          <p:cNvPr id="65" name="Picture 64">
            <a:extLst>
              <a:ext uri="{FF2B5EF4-FFF2-40B4-BE49-F238E27FC236}">
                <a16:creationId xmlns:a16="http://schemas.microsoft.com/office/drawing/2014/main" id="{020C5E2A-7BE1-4ACD-A867-E23E6ADF83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00095" y="2187836"/>
            <a:ext cx="1847850" cy="2466975"/>
          </a:xfrm>
          <a:prstGeom prst="rect">
            <a:avLst/>
          </a:prstGeom>
        </p:spPr>
      </p:pic>
      <p:grpSp>
        <p:nvGrpSpPr>
          <p:cNvPr id="16" name="Group 15">
            <a:extLst>
              <a:ext uri="{FF2B5EF4-FFF2-40B4-BE49-F238E27FC236}">
                <a16:creationId xmlns:a16="http://schemas.microsoft.com/office/drawing/2014/main" id="{F5CD2D5A-83F7-4113-8244-4BCEF4D825AB}"/>
              </a:ext>
            </a:extLst>
          </p:cNvPr>
          <p:cNvGrpSpPr/>
          <p:nvPr/>
        </p:nvGrpSpPr>
        <p:grpSpPr>
          <a:xfrm>
            <a:off x="-96" y="3463"/>
            <a:ext cx="12192000" cy="7550727"/>
            <a:chOff x="0" y="0"/>
            <a:chExt cx="12192000" cy="7550727"/>
          </a:xfrm>
          <a:solidFill>
            <a:srgbClr val="3B6064"/>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60" name="TextBox 59">
            <a:extLst>
              <a:ext uri="{FF2B5EF4-FFF2-40B4-BE49-F238E27FC236}">
                <a16:creationId xmlns:a16="http://schemas.microsoft.com/office/drawing/2014/main" id="{5E6E7FA3-595F-4374-9707-EA0C5A9C038F}"/>
              </a:ext>
            </a:extLst>
          </p:cNvPr>
          <p:cNvSpPr txBox="1"/>
          <p:nvPr/>
        </p:nvSpPr>
        <p:spPr>
          <a:xfrm>
            <a:off x="3013618" y="1013050"/>
            <a:ext cx="8902959" cy="5632311"/>
          </a:xfrm>
          <a:prstGeom prst="rect">
            <a:avLst/>
          </a:prstGeom>
          <a:noFill/>
        </p:spPr>
        <p:txBody>
          <a:bodyPr wrap="square" rtlCol="1">
            <a:spAutoFit/>
          </a:bodyPr>
          <a:lstStyle/>
          <a:p>
            <a:pPr algn="r"/>
            <a:r>
              <a:rPr lang="fa-IR" sz="2000" b="1" dirty="0">
                <a:cs typeface="2  Nazanin" panose="00000400000000000000" pitchFamily="2" charset="-78"/>
              </a:rPr>
              <a:t>ایمنی</a:t>
            </a:r>
          </a:p>
          <a:p>
            <a:pPr algn="r"/>
            <a:r>
              <a:rPr lang="fa-IR" sz="2000" dirty="0">
                <a:cs typeface="2  Nazanin" panose="00000400000000000000" pitchFamily="2" charset="-78"/>
              </a:rPr>
              <a:t>کاربرد و جابه جا كردن آهك مستلزم رعايت نكات ايمني است. آهك به چشم و پوسـت آسيب ميرساند و تنفس بخار آهك زنده، هنگـام شـكفتن، زيـان اور اسـت. بهتـر اسـت در كارگـاه ساختماني از آهك هيدراته استفاده شود. اگر ضروري است آهك زنده در محل مصرف شكفته شود، حتماً بايد به ايمني كار توجه شود. </a:t>
            </a:r>
          </a:p>
          <a:p>
            <a:pPr algn="r"/>
            <a:r>
              <a:rPr lang="fa-IR" sz="2000" dirty="0">
                <a:cs typeface="2  Nazanin" panose="00000400000000000000" pitchFamily="2" charset="-78"/>
              </a:rPr>
              <a:t> از آنجا كه شكفته كردن آهك با گرمازايي زيادي همـراه اسـت، در ايـن كـار بايـد نكـات ايمني و بهداشتي رعايت شود.</a:t>
            </a:r>
            <a:endParaRPr lang="en-US" sz="2000" dirty="0">
              <a:cs typeface="2  Nazanin" panose="00000400000000000000" pitchFamily="2" charset="-78"/>
            </a:endParaRPr>
          </a:p>
          <a:p>
            <a:pPr algn="r"/>
            <a:r>
              <a:rPr lang="fa-IR" sz="2000" b="1" dirty="0">
                <a:cs typeface="2  Nazanin" panose="00000400000000000000" pitchFamily="2" charset="-78"/>
              </a:rPr>
              <a:t>سازگاری</a:t>
            </a:r>
          </a:p>
          <a:p>
            <a:pPr algn="r"/>
            <a:r>
              <a:rPr lang="fa-IR" sz="2000" dirty="0">
                <a:cs typeface="2  Nazanin" panose="00000400000000000000" pitchFamily="2" charset="-78"/>
              </a:rPr>
              <a:t>سطح زيرين اندود آهك يا آهك و گچ حتماً بايد خشك باشد. </a:t>
            </a:r>
          </a:p>
          <a:p>
            <a:pPr algn="r"/>
            <a:r>
              <a:rPr lang="fa-IR" sz="2000" dirty="0">
                <a:cs typeface="2  Nazanin" panose="00000400000000000000" pitchFamily="2" charset="-78"/>
              </a:rPr>
              <a:t>اندود ماسه سيمان با آهك براي بيشتر سطوح مناسب است. با قفل و بست ميتـوان از ميزان انقباض خشك شدن كاست. اين اندود براي محيطهاي مرطوب نيز مناسب است. </a:t>
            </a:r>
          </a:p>
          <a:p>
            <a:pPr algn="r"/>
            <a:r>
              <a:rPr lang="fa-IR" sz="2000" dirty="0">
                <a:cs typeface="2  Nazanin" panose="00000400000000000000" pitchFamily="2" charset="-78"/>
              </a:rPr>
              <a:t> آب آهك سبب خوردگي فلزات، به ويژه سرب، روي و آلومينيم ميشود، بنابراين، بايـد قطعات فلزي را، پيش از قرار دادن در ملات هاي آهكي يا سيماني، با مواد مناسب اندود كرد. </a:t>
            </a:r>
            <a:endParaRPr lang="en-US" sz="2000" dirty="0">
              <a:cs typeface="2  Nazanin" panose="00000400000000000000" pitchFamily="2" charset="-78"/>
            </a:endParaRPr>
          </a:p>
          <a:p>
            <a:pPr algn="r"/>
            <a:r>
              <a:rPr lang="fa-IR" sz="2000" b="1" dirty="0">
                <a:cs typeface="2  Nazanin" panose="00000400000000000000" pitchFamily="2" charset="-78"/>
              </a:rPr>
              <a:t>بسته بندی و حمل</a:t>
            </a:r>
          </a:p>
          <a:p>
            <a:pPr algn="r"/>
            <a:r>
              <a:rPr lang="fa-IR" sz="2000" dirty="0">
                <a:cs typeface="2  Nazanin" panose="00000400000000000000" pitchFamily="2" charset="-78"/>
              </a:rPr>
              <a:t>آهك زنده را بايد از تأثير آب و دياكسيد كربن هوا حفـظ كـرد و هماننـد سـيمان در ظروف مخصوص يا كيسه هاي آب بندي شده، نگهداري كرد</a:t>
            </a:r>
            <a:endParaRPr lang="en-US" sz="2000" dirty="0">
              <a:cs typeface="2  Nazanin" panose="00000400000000000000" pitchFamily="2" charset="-78"/>
            </a:endParaRPr>
          </a:p>
          <a:p>
            <a:pPr algn="r"/>
            <a:r>
              <a:rPr lang="fa-IR" sz="2000" dirty="0">
                <a:cs typeface="2  Nazanin" panose="00000400000000000000" pitchFamily="2" charset="-78"/>
              </a:rPr>
              <a:t>آهك شكفته را ميتوان انبار كرد و حمل و نقل آن از آهك زنـده آسـانتـر اسـت و در انبار در صورت محفوظ ماندن از هوا فعاليت آن كم نميشود. آهك زنده به سـرعت از هـوا رطوبـت</a:t>
            </a:r>
          </a:p>
          <a:p>
            <a:pPr algn="r"/>
            <a:r>
              <a:rPr lang="fa-IR" sz="2000" dirty="0">
                <a:cs typeface="2  Nazanin" panose="00000400000000000000" pitchFamily="2" charset="-78"/>
              </a:rPr>
              <a:t>ميگيرد و شكفته ميشود، لذا بايد آن را در جاي خشك نگهداري و از نفوذ هـوا، رطوبـت و آب دران جلوگيري كرد.</a:t>
            </a:r>
          </a:p>
        </p:txBody>
      </p:sp>
      <p:pic>
        <p:nvPicPr>
          <p:cNvPr id="64" name="Picture 63">
            <a:extLst>
              <a:ext uri="{FF2B5EF4-FFF2-40B4-BE49-F238E27FC236}">
                <a16:creationId xmlns:a16="http://schemas.microsoft.com/office/drawing/2014/main" id="{493ACFF6-4959-4941-A30C-212FA9EE722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9838" y="1240766"/>
            <a:ext cx="2857500" cy="1600200"/>
          </a:xfrm>
          <a:prstGeom prst="rect">
            <a:avLst/>
          </a:prstGeom>
        </p:spPr>
      </p:pic>
      <p:pic>
        <p:nvPicPr>
          <p:cNvPr id="67" name="Picture 66">
            <a:extLst>
              <a:ext uri="{FF2B5EF4-FFF2-40B4-BE49-F238E27FC236}">
                <a16:creationId xmlns:a16="http://schemas.microsoft.com/office/drawing/2014/main" id="{90F2EC13-598E-48EA-8F68-CD992A23057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9033" y="3140519"/>
            <a:ext cx="2815274" cy="1407637"/>
          </a:xfrm>
          <a:prstGeom prst="rect">
            <a:avLst/>
          </a:prstGeom>
        </p:spPr>
      </p:pic>
      <p:pic>
        <p:nvPicPr>
          <p:cNvPr id="69" name="Picture 68">
            <a:extLst>
              <a:ext uri="{FF2B5EF4-FFF2-40B4-BE49-F238E27FC236}">
                <a16:creationId xmlns:a16="http://schemas.microsoft.com/office/drawing/2014/main" id="{DB16E1F0-038E-4271-9D66-3EF556B884CF}"/>
              </a:ext>
            </a:extLst>
          </p:cNvPr>
          <p:cNvPicPr>
            <a:picLocks noChangeAspect="1"/>
          </p:cNvPicPr>
          <p:nvPr/>
        </p:nvPicPr>
        <p:blipFill rotWithShape="1">
          <a:blip r:embed="rId9">
            <a:extLst>
              <a:ext uri="{28A0092B-C50C-407E-A947-70E740481C1C}">
                <a14:useLocalDpi xmlns:a14="http://schemas.microsoft.com/office/drawing/2010/main" val="0"/>
              </a:ext>
            </a:extLst>
          </a:blip>
          <a:srcRect b="16328"/>
          <a:stretch/>
        </p:blipFill>
        <p:spPr>
          <a:xfrm>
            <a:off x="109838" y="4930713"/>
            <a:ext cx="2954673" cy="1437927"/>
          </a:xfrm>
          <a:prstGeom prst="rect">
            <a:avLst/>
          </a:prstGeom>
        </p:spPr>
      </p:pic>
      <p:grpSp>
        <p:nvGrpSpPr>
          <p:cNvPr id="68" name="Group 67">
            <a:extLst>
              <a:ext uri="{FF2B5EF4-FFF2-40B4-BE49-F238E27FC236}">
                <a16:creationId xmlns:a16="http://schemas.microsoft.com/office/drawing/2014/main" id="{D1356313-1907-494C-8690-EFFAC0FB54C4}"/>
              </a:ext>
            </a:extLst>
          </p:cNvPr>
          <p:cNvGrpSpPr/>
          <p:nvPr/>
        </p:nvGrpSpPr>
        <p:grpSpPr>
          <a:xfrm>
            <a:off x="-192" y="9738"/>
            <a:ext cx="12192000" cy="7550727"/>
            <a:chOff x="0" y="0"/>
            <a:chExt cx="12192000" cy="7550727"/>
          </a:xfrm>
          <a:solidFill>
            <a:srgbClr val="364958"/>
          </a:solidFill>
        </p:grpSpPr>
        <p:sp>
          <p:nvSpPr>
            <p:cNvPr id="70" name="Rectangle 69">
              <a:extLst>
                <a:ext uri="{FF2B5EF4-FFF2-40B4-BE49-F238E27FC236}">
                  <a16:creationId xmlns:a16="http://schemas.microsoft.com/office/drawing/2014/main" id="{3636F98C-EB50-4D72-B773-2086FFAF35E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71" name="Rectangle: Top Corners Rounded 70">
              <a:extLst>
                <a:ext uri="{FF2B5EF4-FFF2-40B4-BE49-F238E27FC236}">
                  <a16:creationId xmlns:a16="http://schemas.microsoft.com/office/drawing/2014/main" id="{78B16B05-4106-466A-BD01-9D689E672EE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72" name="TextBox 71">
              <a:extLst>
                <a:ext uri="{FF2B5EF4-FFF2-40B4-BE49-F238E27FC236}">
                  <a16:creationId xmlns:a16="http://schemas.microsoft.com/office/drawing/2014/main" id="{C1A18F8A-A2EF-432C-9F5C-895090AB16A1}"/>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5</a:t>
              </a:r>
              <a:endParaRPr lang="fa-IR" sz="4000" b="1" dirty="0">
                <a:latin typeface="Tw Cen MT" panose="020B0602020104020603" pitchFamily="34" charset="0"/>
              </a:endParaRPr>
            </a:p>
          </p:txBody>
        </p:sp>
      </p:grpSp>
      <p:sp>
        <p:nvSpPr>
          <p:cNvPr id="62" name="TextBox 61">
            <a:extLst>
              <a:ext uri="{FF2B5EF4-FFF2-40B4-BE49-F238E27FC236}">
                <a16:creationId xmlns:a16="http://schemas.microsoft.com/office/drawing/2014/main" id="{294BD533-E924-46AE-9FF2-5ECFA315E722}"/>
              </a:ext>
            </a:extLst>
          </p:cNvPr>
          <p:cNvSpPr txBox="1"/>
          <p:nvPr/>
        </p:nvSpPr>
        <p:spPr>
          <a:xfrm>
            <a:off x="260523" y="452381"/>
            <a:ext cx="11594112" cy="1569660"/>
          </a:xfrm>
          <a:prstGeom prst="rect">
            <a:avLst/>
          </a:prstGeom>
          <a:noFill/>
        </p:spPr>
        <p:txBody>
          <a:bodyPr wrap="square" rtlCol="1">
            <a:spAutoFit/>
          </a:bodyPr>
          <a:lstStyle/>
          <a:p>
            <a:pPr algn="r"/>
            <a:r>
              <a:rPr lang="fa-IR" sz="2400" dirty="0"/>
              <a:t>این دستگاه از چند استوانه فولادی که به صورت افقی روی هم قرار گرفته اند تشکیل شده است کلوخههای ریز آهک زنده یا گرد آن درون استوانه بالایی ریخته میشود با اضافه شدن آب به آن و چرخش استوانه آهک به خوبی با آب مخلوط شده و به استوانه پایینی و سپس به استوانه بعدی می ریزد هنگام خروج آهک از آخرین استوانه تمام ذرات آن به خوبی شکفته شده.اند</a:t>
            </a:r>
          </a:p>
        </p:txBody>
      </p:sp>
      <p:pic>
        <p:nvPicPr>
          <p:cNvPr id="73" name="Picture 72">
            <a:extLst>
              <a:ext uri="{FF2B5EF4-FFF2-40B4-BE49-F238E27FC236}">
                <a16:creationId xmlns:a16="http://schemas.microsoft.com/office/drawing/2014/main" id="{70B08672-76B2-4679-96E2-4848808A62B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15791" y="1876937"/>
            <a:ext cx="8021629" cy="4491703"/>
          </a:xfrm>
          <a:prstGeom prst="rect">
            <a:avLst/>
          </a:prstGeom>
        </p:spPr>
      </p:pic>
      <p:sp>
        <p:nvSpPr>
          <p:cNvPr id="74" name="TextBox 73">
            <a:extLst>
              <a:ext uri="{FF2B5EF4-FFF2-40B4-BE49-F238E27FC236}">
                <a16:creationId xmlns:a16="http://schemas.microsoft.com/office/drawing/2014/main" id="{5DEA0B85-3F7C-49EC-BF1A-58BF244003F7}"/>
              </a:ext>
            </a:extLst>
          </p:cNvPr>
          <p:cNvSpPr txBox="1"/>
          <p:nvPr/>
        </p:nvSpPr>
        <p:spPr>
          <a:xfrm>
            <a:off x="8199776" y="1981691"/>
            <a:ext cx="3733025" cy="3046988"/>
          </a:xfrm>
          <a:prstGeom prst="rect">
            <a:avLst/>
          </a:prstGeom>
          <a:noFill/>
        </p:spPr>
        <p:txBody>
          <a:bodyPr wrap="square" rtlCol="1">
            <a:spAutoFit/>
          </a:bodyPr>
          <a:lstStyle/>
          <a:p>
            <a:pPr algn="r"/>
            <a:r>
              <a:rPr lang="fa-IR" sz="2400" dirty="0"/>
              <a:t>با تنظیم مقدار آب ورودی به دستگاه هیدراتور میتوان از گرد خشک تا دوغاب آهک را به دست آورد ولی از آنجا که نگهداری آهک ،تر مشکل و مستلزم سیلوهای خاص است لذا معمولاً در هیدراتورها پودر آهک هیدراته با مش های مختلف تولید می شود.</a:t>
            </a:r>
          </a:p>
        </p:txBody>
      </p:sp>
      <p:sp>
        <p:nvSpPr>
          <p:cNvPr id="75" name="TextBox 74">
            <a:extLst>
              <a:ext uri="{FF2B5EF4-FFF2-40B4-BE49-F238E27FC236}">
                <a16:creationId xmlns:a16="http://schemas.microsoft.com/office/drawing/2014/main" id="{293C9CD9-6829-4D4F-A940-D7A1FBD4E009}"/>
              </a:ext>
            </a:extLst>
          </p:cNvPr>
          <p:cNvSpPr txBox="1"/>
          <p:nvPr/>
        </p:nvSpPr>
        <p:spPr>
          <a:xfrm>
            <a:off x="225919" y="6378378"/>
            <a:ext cx="2957485" cy="369332"/>
          </a:xfrm>
          <a:prstGeom prst="rect">
            <a:avLst/>
          </a:prstGeom>
          <a:noFill/>
        </p:spPr>
        <p:txBody>
          <a:bodyPr wrap="square" rtlCol="1">
            <a:spAutoFit/>
          </a:bodyPr>
          <a:lstStyle/>
          <a:p>
            <a:r>
              <a:rPr lang="fa-IR" dirty="0"/>
              <a:t>دستگاه هیدراتور تولید اهک هیدراته</a:t>
            </a:r>
          </a:p>
        </p:txBody>
      </p:sp>
    </p:spTree>
    <p:extLst>
      <p:ext uri="{BB962C8B-B14F-4D97-AF65-F5344CB8AC3E}">
        <p14:creationId xmlns:p14="http://schemas.microsoft.com/office/powerpoint/2010/main" val="24544573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p:cTn id="11" dur="500" fill="hold"/>
                                        <p:tgtEl>
                                          <p:spTgt spid="27"/>
                                        </p:tgtEl>
                                        <p:attrNameLst>
                                          <p:attrName>ppt_w</p:attrName>
                                        </p:attrNameLst>
                                      </p:cBhvr>
                                      <p:tavLst>
                                        <p:tav tm="0">
                                          <p:val>
                                            <p:fltVal val="0"/>
                                          </p:val>
                                        </p:tav>
                                        <p:tav tm="100000">
                                          <p:val>
                                            <p:strVal val="#ppt_w"/>
                                          </p:val>
                                        </p:tav>
                                      </p:tavLst>
                                    </p:anim>
                                    <p:anim calcmode="lin" valueType="num">
                                      <p:cBhvr>
                                        <p:cTn id="12" dur="500" fill="hold"/>
                                        <p:tgtEl>
                                          <p:spTgt spid="27"/>
                                        </p:tgtEl>
                                        <p:attrNameLst>
                                          <p:attrName>ppt_h</p:attrName>
                                        </p:attrNameLst>
                                      </p:cBhvr>
                                      <p:tavLst>
                                        <p:tav tm="0">
                                          <p:val>
                                            <p:fltVal val="0"/>
                                          </p:val>
                                        </p:tav>
                                        <p:tav tm="100000">
                                          <p:val>
                                            <p:strVal val="#ppt_h"/>
                                          </p:val>
                                        </p:tav>
                                      </p:tavLst>
                                    </p:anim>
                                    <p:animEffect transition="in" filter="fade">
                                      <p:cBhvr>
                                        <p:cTn id="13" dur="500"/>
                                        <p:tgtEl>
                                          <p:spTgt spid="2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p:cTn id="17" dur="500" fill="hold"/>
                                        <p:tgtEl>
                                          <p:spTgt spid="28"/>
                                        </p:tgtEl>
                                        <p:attrNameLst>
                                          <p:attrName>ppt_w</p:attrName>
                                        </p:attrNameLst>
                                      </p:cBhvr>
                                      <p:tavLst>
                                        <p:tav tm="0">
                                          <p:val>
                                            <p:fltVal val="0"/>
                                          </p:val>
                                        </p:tav>
                                        <p:tav tm="100000">
                                          <p:val>
                                            <p:strVal val="#ppt_w"/>
                                          </p:val>
                                        </p:tav>
                                      </p:tavLst>
                                    </p:anim>
                                    <p:anim calcmode="lin" valueType="num">
                                      <p:cBhvr>
                                        <p:cTn id="18" dur="500" fill="hold"/>
                                        <p:tgtEl>
                                          <p:spTgt spid="28"/>
                                        </p:tgtEl>
                                        <p:attrNameLst>
                                          <p:attrName>ppt_h</p:attrName>
                                        </p:attrNameLst>
                                      </p:cBhvr>
                                      <p:tavLst>
                                        <p:tav tm="0">
                                          <p:val>
                                            <p:fltVal val="0"/>
                                          </p:val>
                                        </p:tav>
                                        <p:tav tm="100000">
                                          <p:val>
                                            <p:strVal val="#ppt_h"/>
                                          </p:val>
                                        </p:tav>
                                      </p:tavLst>
                                    </p:anim>
                                    <p:animEffect transition="in" filter="fade">
                                      <p:cBhvr>
                                        <p:cTn id="19" dur="500"/>
                                        <p:tgtEl>
                                          <p:spTgt spid="28"/>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 calcmode="lin" valueType="num">
                                      <p:cBhvr>
                                        <p:cTn id="23" dur="500" fill="hold"/>
                                        <p:tgtEl>
                                          <p:spTgt spid="29"/>
                                        </p:tgtEl>
                                        <p:attrNameLst>
                                          <p:attrName>ppt_w</p:attrName>
                                        </p:attrNameLst>
                                      </p:cBhvr>
                                      <p:tavLst>
                                        <p:tav tm="0">
                                          <p:val>
                                            <p:fltVal val="0"/>
                                          </p:val>
                                        </p:tav>
                                        <p:tav tm="100000">
                                          <p:val>
                                            <p:strVal val="#ppt_w"/>
                                          </p:val>
                                        </p:tav>
                                      </p:tavLst>
                                    </p:anim>
                                    <p:anim calcmode="lin" valueType="num">
                                      <p:cBhvr>
                                        <p:cTn id="24" dur="500" fill="hold"/>
                                        <p:tgtEl>
                                          <p:spTgt spid="29"/>
                                        </p:tgtEl>
                                        <p:attrNameLst>
                                          <p:attrName>ppt_h</p:attrName>
                                        </p:attrNameLst>
                                      </p:cBhvr>
                                      <p:tavLst>
                                        <p:tav tm="0">
                                          <p:val>
                                            <p:fltVal val="0"/>
                                          </p:val>
                                        </p:tav>
                                        <p:tav tm="100000">
                                          <p:val>
                                            <p:strVal val="#ppt_h"/>
                                          </p:val>
                                        </p:tav>
                                      </p:tavLst>
                                    </p:anim>
                                    <p:animEffect transition="in" filter="fade">
                                      <p:cBhvr>
                                        <p:cTn id="25" dur="500"/>
                                        <p:tgtEl>
                                          <p:spTgt spid="29"/>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up)">
                                      <p:cBhvr>
                                        <p:cTn id="29" dur="500"/>
                                        <p:tgtEl>
                                          <p:spTgt spid="30"/>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anim calcmode="lin" valueType="num">
                                      <p:cBhvr>
                                        <p:cTn id="33" dur="500" fill="hold"/>
                                        <p:tgtEl>
                                          <p:spTgt spid="31"/>
                                        </p:tgtEl>
                                        <p:attrNameLst>
                                          <p:attrName>ppt_w</p:attrName>
                                        </p:attrNameLst>
                                      </p:cBhvr>
                                      <p:tavLst>
                                        <p:tav tm="0">
                                          <p:val>
                                            <p:fltVal val="0"/>
                                          </p:val>
                                        </p:tav>
                                        <p:tav tm="100000">
                                          <p:val>
                                            <p:strVal val="#ppt_w"/>
                                          </p:val>
                                        </p:tav>
                                      </p:tavLst>
                                    </p:anim>
                                    <p:anim calcmode="lin" valueType="num">
                                      <p:cBhvr>
                                        <p:cTn id="34" dur="500" fill="hold"/>
                                        <p:tgtEl>
                                          <p:spTgt spid="31"/>
                                        </p:tgtEl>
                                        <p:attrNameLst>
                                          <p:attrName>ppt_h</p:attrName>
                                        </p:attrNameLst>
                                      </p:cBhvr>
                                      <p:tavLst>
                                        <p:tav tm="0">
                                          <p:val>
                                            <p:fltVal val="0"/>
                                          </p:val>
                                        </p:tav>
                                        <p:tav tm="100000">
                                          <p:val>
                                            <p:strVal val="#ppt_h"/>
                                          </p:val>
                                        </p:tav>
                                      </p:tavLst>
                                    </p:anim>
                                    <p:animEffect transition="in" filter="fade">
                                      <p:cBhvr>
                                        <p:cTn id="35" dur="500"/>
                                        <p:tgtEl>
                                          <p:spTgt spid="31"/>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par>
                                <p:cTn id="42" presetID="47" presetClass="entr" presetSubtype="0" fill="hold" grpId="0"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fade">
                                      <p:cBhvr>
                                        <p:cTn id="44" dur="1000"/>
                                        <p:tgtEl>
                                          <p:spTgt spid="32"/>
                                        </p:tgtEl>
                                      </p:cBhvr>
                                    </p:animEffect>
                                    <p:anim calcmode="lin" valueType="num">
                                      <p:cBhvr>
                                        <p:cTn id="45" dur="1000" fill="hold"/>
                                        <p:tgtEl>
                                          <p:spTgt spid="32"/>
                                        </p:tgtEl>
                                        <p:attrNameLst>
                                          <p:attrName>ppt_x</p:attrName>
                                        </p:attrNameLst>
                                      </p:cBhvr>
                                      <p:tavLst>
                                        <p:tav tm="0">
                                          <p:val>
                                            <p:strVal val="#ppt_x"/>
                                          </p:val>
                                        </p:tav>
                                        <p:tav tm="100000">
                                          <p:val>
                                            <p:strVal val="#ppt_x"/>
                                          </p:val>
                                        </p:tav>
                                      </p:tavLst>
                                    </p:anim>
                                    <p:anim calcmode="lin" valueType="num">
                                      <p:cBhvr>
                                        <p:cTn id="46" dur="1000" fill="hold"/>
                                        <p:tgtEl>
                                          <p:spTgt spid="32"/>
                                        </p:tgtEl>
                                        <p:attrNameLst>
                                          <p:attrName>ppt_y</p:attrName>
                                        </p:attrNameLst>
                                      </p:cBhvr>
                                      <p:tavLst>
                                        <p:tav tm="0">
                                          <p:val>
                                            <p:strVal val="#ppt_y-.1"/>
                                          </p:val>
                                        </p:tav>
                                        <p:tav tm="100000">
                                          <p:val>
                                            <p:strVal val="#ppt_y"/>
                                          </p:val>
                                        </p:tav>
                                      </p:tavLst>
                                    </p:anim>
                                  </p:childTnLst>
                                </p:cTn>
                              </p:par>
                            </p:childTnLst>
                          </p:cTn>
                        </p:par>
                        <p:par>
                          <p:cTn id="47" fill="hold">
                            <p:stCondLst>
                              <p:cond delay="4000"/>
                            </p:stCondLst>
                            <p:childTnLst>
                              <p:par>
                                <p:cTn id="48" presetID="42" presetClass="entr" presetSubtype="0" fill="hold" grpId="0" nodeType="after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fade">
                                      <p:cBhvr>
                                        <p:cTn id="50" dur="1500"/>
                                        <p:tgtEl>
                                          <p:spTgt spid="33"/>
                                        </p:tgtEl>
                                      </p:cBhvr>
                                    </p:animEffect>
                                    <p:anim calcmode="lin" valueType="num">
                                      <p:cBhvr>
                                        <p:cTn id="51" dur="1500" fill="hold"/>
                                        <p:tgtEl>
                                          <p:spTgt spid="33"/>
                                        </p:tgtEl>
                                        <p:attrNameLst>
                                          <p:attrName>ppt_x</p:attrName>
                                        </p:attrNameLst>
                                      </p:cBhvr>
                                      <p:tavLst>
                                        <p:tav tm="0">
                                          <p:val>
                                            <p:strVal val="#ppt_x"/>
                                          </p:val>
                                        </p:tav>
                                        <p:tav tm="100000">
                                          <p:val>
                                            <p:strVal val="#ppt_x"/>
                                          </p:val>
                                        </p:tav>
                                      </p:tavLst>
                                    </p:anim>
                                    <p:anim calcmode="lin" valueType="num">
                                      <p:cBhvr>
                                        <p:cTn id="52" dur="1500" fill="hold"/>
                                        <p:tgtEl>
                                          <p:spTgt spid="33"/>
                                        </p:tgtEl>
                                        <p:attrNameLst>
                                          <p:attrName>ppt_y</p:attrName>
                                        </p:attrNameLst>
                                      </p:cBhvr>
                                      <p:tavLst>
                                        <p:tav tm="0">
                                          <p:val>
                                            <p:strVal val="#ppt_y+.1"/>
                                          </p:val>
                                        </p:tav>
                                        <p:tav tm="100000">
                                          <p:val>
                                            <p:strVal val="#ppt_y"/>
                                          </p:val>
                                        </p:tav>
                                      </p:tavLst>
                                    </p:anim>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par>
                          <p:cTn id="57" fill="hold">
                            <p:stCondLst>
                              <p:cond delay="6000"/>
                            </p:stCondLst>
                            <p:childTnLst>
                              <p:par>
                                <p:cTn id="58" presetID="53" presetClass="entr" presetSubtype="16" fill="hold" grpId="0" nodeType="afterEffect">
                                  <p:stCondLst>
                                    <p:cond delay="0"/>
                                  </p:stCondLst>
                                  <p:childTnLst>
                                    <p:set>
                                      <p:cBhvr>
                                        <p:cTn id="59" dur="1" fill="hold">
                                          <p:stCondLst>
                                            <p:cond delay="0"/>
                                          </p:stCondLst>
                                        </p:cTn>
                                        <p:tgtEl>
                                          <p:spTgt spid="35"/>
                                        </p:tgtEl>
                                        <p:attrNameLst>
                                          <p:attrName>style.visibility</p:attrName>
                                        </p:attrNameLst>
                                      </p:cBhvr>
                                      <p:to>
                                        <p:strVal val="visible"/>
                                      </p:to>
                                    </p:set>
                                    <p:anim calcmode="lin" valueType="num">
                                      <p:cBhvr>
                                        <p:cTn id="60" dur="500" fill="hold"/>
                                        <p:tgtEl>
                                          <p:spTgt spid="35"/>
                                        </p:tgtEl>
                                        <p:attrNameLst>
                                          <p:attrName>ppt_w</p:attrName>
                                        </p:attrNameLst>
                                      </p:cBhvr>
                                      <p:tavLst>
                                        <p:tav tm="0">
                                          <p:val>
                                            <p:fltVal val="0"/>
                                          </p:val>
                                        </p:tav>
                                        <p:tav tm="100000">
                                          <p:val>
                                            <p:strVal val="#ppt_w"/>
                                          </p:val>
                                        </p:tav>
                                      </p:tavLst>
                                    </p:anim>
                                    <p:anim calcmode="lin" valueType="num">
                                      <p:cBhvr>
                                        <p:cTn id="61" dur="500" fill="hold"/>
                                        <p:tgtEl>
                                          <p:spTgt spid="35"/>
                                        </p:tgtEl>
                                        <p:attrNameLst>
                                          <p:attrName>ppt_h</p:attrName>
                                        </p:attrNameLst>
                                      </p:cBhvr>
                                      <p:tavLst>
                                        <p:tav tm="0">
                                          <p:val>
                                            <p:fltVal val="0"/>
                                          </p:val>
                                        </p:tav>
                                        <p:tav tm="100000">
                                          <p:val>
                                            <p:strVal val="#ppt_h"/>
                                          </p:val>
                                        </p:tav>
                                      </p:tavLst>
                                    </p:anim>
                                    <p:animEffect transition="in" filter="fade">
                                      <p:cBhvr>
                                        <p:cTn id="62" dur="500"/>
                                        <p:tgtEl>
                                          <p:spTgt spid="35"/>
                                        </p:tgtEl>
                                      </p:cBhvr>
                                    </p:animEffect>
                                  </p:childTnLst>
                                </p:cTn>
                              </p:par>
                            </p:childTnLst>
                          </p:cTn>
                        </p:par>
                        <p:par>
                          <p:cTn id="63" fill="hold">
                            <p:stCondLst>
                              <p:cond delay="6500"/>
                            </p:stCondLst>
                            <p:childTnLst>
                              <p:par>
                                <p:cTn id="64" presetID="53" presetClass="entr" presetSubtype="16" fill="hold" grpId="0" nodeType="after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7000"/>
                            </p:stCondLst>
                            <p:childTnLst>
                              <p:par>
                                <p:cTn id="70" presetID="53" presetClass="entr" presetSubtype="16"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500" fill="hold"/>
                                        <p:tgtEl>
                                          <p:spTgt spid="37"/>
                                        </p:tgtEl>
                                        <p:attrNameLst>
                                          <p:attrName>ppt_w</p:attrName>
                                        </p:attrNameLst>
                                      </p:cBhvr>
                                      <p:tavLst>
                                        <p:tav tm="0">
                                          <p:val>
                                            <p:fltVal val="0"/>
                                          </p:val>
                                        </p:tav>
                                        <p:tav tm="100000">
                                          <p:val>
                                            <p:strVal val="#ppt_w"/>
                                          </p:val>
                                        </p:tav>
                                      </p:tavLst>
                                    </p:anim>
                                    <p:anim calcmode="lin" valueType="num">
                                      <p:cBhvr>
                                        <p:cTn id="73" dur="500" fill="hold"/>
                                        <p:tgtEl>
                                          <p:spTgt spid="37"/>
                                        </p:tgtEl>
                                        <p:attrNameLst>
                                          <p:attrName>ppt_h</p:attrName>
                                        </p:attrNameLst>
                                      </p:cBhvr>
                                      <p:tavLst>
                                        <p:tav tm="0">
                                          <p:val>
                                            <p:fltVal val="0"/>
                                          </p:val>
                                        </p:tav>
                                        <p:tav tm="100000">
                                          <p:val>
                                            <p:strVal val="#ppt_h"/>
                                          </p:val>
                                        </p:tav>
                                      </p:tavLst>
                                    </p:anim>
                                    <p:animEffect transition="in" filter="fade">
                                      <p:cBhvr>
                                        <p:cTn id="74" dur="500"/>
                                        <p:tgtEl>
                                          <p:spTgt spid="37"/>
                                        </p:tgtEl>
                                      </p:cBhvr>
                                    </p:animEffect>
                                  </p:childTnLst>
                                </p:cTn>
                              </p:par>
                            </p:childTnLst>
                          </p:cTn>
                        </p:par>
                        <p:par>
                          <p:cTn id="75" fill="hold">
                            <p:stCondLst>
                              <p:cond delay="7500"/>
                            </p:stCondLst>
                            <p:childTnLst>
                              <p:par>
                                <p:cTn id="76" presetID="22" presetClass="entr" presetSubtype="4" fill="hold"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down)">
                                      <p:cBhvr>
                                        <p:cTn id="78" dur="500"/>
                                        <p:tgtEl>
                                          <p:spTgt spid="38"/>
                                        </p:tgtEl>
                                      </p:cBhvr>
                                    </p:animEffect>
                                  </p:childTnLst>
                                </p:cTn>
                              </p:par>
                            </p:childTnLst>
                          </p:cTn>
                        </p:par>
                        <p:par>
                          <p:cTn id="79" fill="hold">
                            <p:stCondLst>
                              <p:cond delay="8000"/>
                            </p:stCondLst>
                            <p:childTnLst>
                              <p:par>
                                <p:cTn id="80" presetID="53" presetClass="entr" presetSubtype="16" fill="hold" grpId="0" nodeType="afterEffect">
                                  <p:stCondLst>
                                    <p:cond delay="0"/>
                                  </p:stCondLst>
                                  <p:childTnLst>
                                    <p:set>
                                      <p:cBhvr>
                                        <p:cTn id="81" dur="1" fill="hold">
                                          <p:stCondLst>
                                            <p:cond delay="0"/>
                                          </p:stCondLst>
                                        </p:cTn>
                                        <p:tgtEl>
                                          <p:spTgt spid="39"/>
                                        </p:tgtEl>
                                        <p:attrNameLst>
                                          <p:attrName>style.visibility</p:attrName>
                                        </p:attrNameLst>
                                      </p:cBhvr>
                                      <p:to>
                                        <p:strVal val="visible"/>
                                      </p:to>
                                    </p:set>
                                    <p:anim calcmode="lin" valueType="num">
                                      <p:cBhvr>
                                        <p:cTn id="82" dur="500" fill="hold"/>
                                        <p:tgtEl>
                                          <p:spTgt spid="39"/>
                                        </p:tgtEl>
                                        <p:attrNameLst>
                                          <p:attrName>ppt_w</p:attrName>
                                        </p:attrNameLst>
                                      </p:cBhvr>
                                      <p:tavLst>
                                        <p:tav tm="0">
                                          <p:val>
                                            <p:fltVal val="0"/>
                                          </p:val>
                                        </p:tav>
                                        <p:tav tm="100000">
                                          <p:val>
                                            <p:strVal val="#ppt_w"/>
                                          </p:val>
                                        </p:tav>
                                      </p:tavLst>
                                    </p:anim>
                                    <p:anim calcmode="lin" valueType="num">
                                      <p:cBhvr>
                                        <p:cTn id="83" dur="500" fill="hold"/>
                                        <p:tgtEl>
                                          <p:spTgt spid="39"/>
                                        </p:tgtEl>
                                        <p:attrNameLst>
                                          <p:attrName>ppt_h</p:attrName>
                                        </p:attrNameLst>
                                      </p:cBhvr>
                                      <p:tavLst>
                                        <p:tav tm="0">
                                          <p:val>
                                            <p:fltVal val="0"/>
                                          </p:val>
                                        </p:tav>
                                        <p:tav tm="100000">
                                          <p:val>
                                            <p:strVal val="#ppt_h"/>
                                          </p:val>
                                        </p:tav>
                                      </p:tavLst>
                                    </p:anim>
                                    <p:animEffect transition="in" filter="fade">
                                      <p:cBhvr>
                                        <p:cTn id="84" dur="500"/>
                                        <p:tgtEl>
                                          <p:spTgt spid="39"/>
                                        </p:tgtEl>
                                      </p:cBhvr>
                                    </p:animEffect>
                                  </p:childTnLst>
                                </p:cTn>
                              </p:par>
                            </p:childTnLst>
                          </p:cTn>
                        </p:par>
                        <p:par>
                          <p:cTn id="85" fill="hold">
                            <p:stCondLst>
                              <p:cond delay="8500"/>
                            </p:stCondLst>
                            <p:childTnLst>
                              <p:par>
                                <p:cTn id="86" presetID="53" presetClass="entr" presetSubtype="16" fill="hold" grpId="0" nodeType="afterEffect">
                                  <p:stCondLst>
                                    <p:cond delay="0"/>
                                  </p:stCondLst>
                                  <p:childTnLst>
                                    <p:set>
                                      <p:cBhvr>
                                        <p:cTn id="87" dur="1" fill="hold">
                                          <p:stCondLst>
                                            <p:cond delay="0"/>
                                          </p:stCondLst>
                                        </p:cTn>
                                        <p:tgtEl>
                                          <p:spTgt spid="34"/>
                                        </p:tgtEl>
                                        <p:attrNameLst>
                                          <p:attrName>style.visibility</p:attrName>
                                        </p:attrNameLst>
                                      </p:cBhvr>
                                      <p:to>
                                        <p:strVal val="visible"/>
                                      </p:to>
                                    </p:set>
                                    <p:anim calcmode="lin" valueType="num">
                                      <p:cBhvr>
                                        <p:cTn id="88" dur="500" fill="hold"/>
                                        <p:tgtEl>
                                          <p:spTgt spid="34"/>
                                        </p:tgtEl>
                                        <p:attrNameLst>
                                          <p:attrName>ppt_w</p:attrName>
                                        </p:attrNameLst>
                                      </p:cBhvr>
                                      <p:tavLst>
                                        <p:tav tm="0">
                                          <p:val>
                                            <p:fltVal val="0"/>
                                          </p:val>
                                        </p:tav>
                                        <p:tav tm="100000">
                                          <p:val>
                                            <p:strVal val="#ppt_w"/>
                                          </p:val>
                                        </p:tav>
                                      </p:tavLst>
                                    </p:anim>
                                    <p:anim calcmode="lin" valueType="num">
                                      <p:cBhvr>
                                        <p:cTn id="89" dur="500" fill="hold"/>
                                        <p:tgtEl>
                                          <p:spTgt spid="34"/>
                                        </p:tgtEl>
                                        <p:attrNameLst>
                                          <p:attrName>ppt_h</p:attrName>
                                        </p:attrNameLst>
                                      </p:cBhvr>
                                      <p:tavLst>
                                        <p:tav tm="0">
                                          <p:val>
                                            <p:fltVal val="0"/>
                                          </p:val>
                                        </p:tav>
                                        <p:tav tm="100000">
                                          <p:val>
                                            <p:strVal val="#ppt_h"/>
                                          </p:val>
                                        </p:tav>
                                      </p:tavLst>
                                    </p:anim>
                                    <p:animEffect transition="in" filter="fade">
                                      <p:cBhvr>
                                        <p:cTn id="90" dur="500"/>
                                        <p:tgtEl>
                                          <p:spTgt spid="34"/>
                                        </p:tgtEl>
                                      </p:cBhvr>
                                    </p:animEffect>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40"/>
                                        </p:tgtEl>
                                        <p:attrNameLst>
                                          <p:attrName>style.visibility</p:attrName>
                                        </p:attrNameLst>
                                      </p:cBhvr>
                                      <p:to>
                                        <p:strVal val="visible"/>
                                      </p:to>
                                    </p:set>
                                    <p:animEffect transition="in" filter="fade">
                                      <p:cBhvr>
                                        <p:cTn id="95" dur="1000"/>
                                        <p:tgtEl>
                                          <p:spTgt spid="40"/>
                                        </p:tgtEl>
                                      </p:cBhvr>
                                    </p:animEffect>
                                    <p:anim calcmode="lin" valueType="num">
                                      <p:cBhvr>
                                        <p:cTn id="96" dur="1000" fill="hold"/>
                                        <p:tgtEl>
                                          <p:spTgt spid="40"/>
                                        </p:tgtEl>
                                        <p:attrNameLst>
                                          <p:attrName>ppt_x</p:attrName>
                                        </p:attrNameLst>
                                      </p:cBhvr>
                                      <p:tavLst>
                                        <p:tav tm="0">
                                          <p:val>
                                            <p:strVal val="#ppt_x"/>
                                          </p:val>
                                        </p:tav>
                                        <p:tav tm="100000">
                                          <p:val>
                                            <p:strVal val="#ppt_x"/>
                                          </p:val>
                                        </p:tav>
                                      </p:tavLst>
                                    </p:anim>
                                    <p:anim calcmode="lin" valueType="num">
                                      <p:cBhvr>
                                        <p:cTn id="97"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7" presetClass="entr" presetSubtype="0" fill="hold" grpId="0" nodeType="clickEffect">
                                  <p:stCondLst>
                                    <p:cond delay="0"/>
                                  </p:stCondLst>
                                  <p:childTnLst>
                                    <p:set>
                                      <p:cBhvr>
                                        <p:cTn id="101" dur="1" fill="hold">
                                          <p:stCondLst>
                                            <p:cond delay="0"/>
                                          </p:stCondLst>
                                        </p:cTn>
                                        <p:tgtEl>
                                          <p:spTgt spid="41"/>
                                        </p:tgtEl>
                                        <p:attrNameLst>
                                          <p:attrName>style.visibility</p:attrName>
                                        </p:attrNameLst>
                                      </p:cBhvr>
                                      <p:to>
                                        <p:strVal val="visible"/>
                                      </p:to>
                                    </p:set>
                                    <p:animEffect transition="in" filter="fade">
                                      <p:cBhvr>
                                        <p:cTn id="102" dur="1500"/>
                                        <p:tgtEl>
                                          <p:spTgt spid="41"/>
                                        </p:tgtEl>
                                      </p:cBhvr>
                                    </p:animEffect>
                                    <p:anim calcmode="lin" valueType="num">
                                      <p:cBhvr>
                                        <p:cTn id="103" dur="1500" fill="hold"/>
                                        <p:tgtEl>
                                          <p:spTgt spid="41"/>
                                        </p:tgtEl>
                                        <p:attrNameLst>
                                          <p:attrName>ppt_x</p:attrName>
                                        </p:attrNameLst>
                                      </p:cBhvr>
                                      <p:tavLst>
                                        <p:tav tm="0">
                                          <p:val>
                                            <p:strVal val="#ppt_x"/>
                                          </p:val>
                                        </p:tav>
                                        <p:tav tm="100000">
                                          <p:val>
                                            <p:strVal val="#ppt_x"/>
                                          </p:val>
                                        </p:tav>
                                      </p:tavLst>
                                    </p:anim>
                                    <p:anim calcmode="lin" valueType="num">
                                      <p:cBhvr>
                                        <p:cTn id="104" dur="1500" fill="hold"/>
                                        <p:tgtEl>
                                          <p:spTgt spid="41"/>
                                        </p:tgtEl>
                                        <p:attrNameLst>
                                          <p:attrName>ppt_y</p:attrName>
                                        </p:attrNameLst>
                                      </p:cBhvr>
                                      <p:tavLst>
                                        <p:tav tm="0">
                                          <p:val>
                                            <p:strVal val="#ppt_y-.1"/>
                                          </p:val>
                                        </p:tav>
                                        <p:tav tm="100000">
                                          <p:val>
                                            <p:strVal val="#ppt_y"/>
                                          </p:val>
                                        </p:tav>
                                      </p:tavLst>
                                    </p:anim>
                                  </p:childTnLst>
                                </p:cTn>
                              </p:par>
                            </p:childTnLst>
                          </p:cTn>
                        </p:par>
                        <p:par>
                          <p:cTn id="105" fill="hold">
                            <p:stCondLst>
                              <p:cond delay="1500"/>
                            </p:stCondLst>
                            <p:childTnLst>
                              <p:par>
                                <p:cTn id="106" presetID="22" presetClass="entr" presetSubtype="8" fill="hold" nodeType="afterEffect">
                                  <p:stCondLst>
                                    <p:cond delay="0"/>
                                  </p:stCondLst>
                                  <p:childTnLst>
                                    <p:set>
                                      <p:cBhvr>
                                        <p:cTn id="107" dur="1" fill="hold">
                                          <p:stCondLst>
                                            <p:cond delay="0"/>
                                          </p:stCondLst>
                                        </p:cTn>
                                        <p:tgtEl>
                                          <p:spTgt spid="23"/>
                                        </p:tgtEl>
                                        <p:attrNameLst>
                                          <p:attrName>style.visibility</p:attrName>
                                        </p:attrNameLst>
                                      </p:cBhvr>
                                      <p:to>
                                        <p:strVal val="visible"/>
                                      </p:to>
                                    </p:set>
                                    <p:animEffect transition="in" filter="wipe(left)">
                                      <p:cBhvr>
                                        <p:cTn id="108" dur="500"/>
                                        <p:tgtEl>
                                          <p:spTgt spid="23"/>
                                        </p:tgtEl>
                                      </p:cBhvr>
                                    </p:animEffect>
                                  </p:childTnLst>
                                </p:cTn>
                              </p:par>
                            </p:childTnLst>
                          </p:cTn>
                        </p:par>
                        <p:par>
                          <p:cTn id="109" fill="hold">
                            <p:stCondLst>
                              <p:cond delay="2000"/>
                            </p:stCondLst>
                            <p:childTnLst>
                              <p:par>
                                <p:cTn id="110" presetID="53" presetClass="entr" presetSubtype="16" fill="hold" grpId="0" nodeType="afterEffect">
                                  <p:stCondLst>
                                    <p:cond delay="0"/>
                                  </p:stCondLst>
                                  <p:childTnLst>
                                    <p:set>
                                      <p:cBhvr>
                                        <p:cTn id="111" dur="1" fill="hold">
                                          <p:stCondLst>
                                            <p:cond delay="0"/>
                                          </p:stCondLst>
                                        </p:cTn>
                                        <p:tgtEl>
                                          <p:spTgt spid="43"/>
                                        </p:tgtEl>
                                        <p:attrNameLst>
                                          <p:attrName>style.visibility</p:attrName>
                                        </p:attrNameLst>
                                      </p:cBhvr>
                                      <p:to>
                                        <p:strVal val="visible"/>
                                      </p:to>
                                    </p:set>
                                    <p:anim calcmode="lin" valueType="num">
                                      <p:cBhvr>
                                        <p:cTn id="112" dur="500" fill="hold"/>
                                        <p:tgtEl>
                                          <p:spTgt spid="43"/>
                                        </p:tgtEl>
                                        <p:attrNameLst>
                                          <p:attrName>ppt_w</p:attrName>
                                        </p:attrNameLst>
                                      </p:cBhvr>
                                      <p:tavLst>
                                        <p:tav tm="0">
                                          <p:val>
                                            <p:fltVal val="0"/>
                                          </p:val>
                                        </p:tav>
                                        <p:tav tm="100000">
                                          <p:val>
                                            <p:strVal val="#ppt_w"/>
                                          </p:val>
                                        </p:tav>
                                      </p:tavLst>
                                    </p:anim>
                                    <p:anim calcmode="lin" valueType="num">
                                      <p:cBhvr>
                                        <p:cTn id="113" dur="500" fill="hold"/>
                                        <p:tgtEl>
                                          <p:spTgt spid="43"/>
                                        </p:tgtEl>
                                        <p:attrNameLst>
                                          <p:attrName>ppt_h</p:attrName>
                                        </p:attrNameLst>
                                      </p:cBhvr>
                                      <p:tavLst>
                                        <p:tav tm="0">
                                          <p:val>
                                            <p:fltVal val="0"/>
                                          </p:val>
                                        </p:tav>
                                        <p:tav tm="100000">
                                          <p:val>
                                            <p:strVal val="#ppt_h"/>
                                          </p:val>
                                        </p:tav>
                                      </p:tavLst>
                                    </p:anim>
                                    <p:animEffect transition="in" filter="fade">
                                      <p:cBhvr>
                                        <p:cTn id="114" dur="500"/>
                                        <p:tgtEl>
                                          <p:spTgt spid="43"/>
                                        </p:tgtEl>
                                      </p:cBhvr>
                                    </p:animEffect>
                                  </p:childTnLst>
                                </p:cTn>
                              </p:par>
                            </p:childTnLst>
                          </p:cTn>
                        </p:par>
                        <p:par>
                          <p:cTn id="115" fill="hold">
                            <p:stCondLst>
                              <p:cond delay="2500"/>
                            </p:stCondLst>
                            <p:childTnLst>
                              <p:par>
                                <p:cTn id="116" presetID="53" presetClass="entr" presetSubtype="16" fill="hold" grpId="0" nodeType="afterEffect">
                                  <p:stCondLst>
                                    <p:cond delay="0"/>
                                  </p:stCondLst>
                                  <p:childTnLst>
                                    <p:set>
                                      <p:cBhvr>
                                        <p:cTn id="117" dur="1" fill="hold">
                                          <p:stCondLst>
                                            <p:cond delay="0"/>
                                          </p:stCondLst>
                                        </p:cTn>
                                        <p:tgtEl>
                                          <p:spTgt spid="44"/>
                                        </p:tgtEl>
                                        <p:attrNameLst>
                                          <p:attrName>style.visibility</p:attrName>
                                        </p:attrNameLst>
                                      </p:cBhvr>
                                      <p:to>
                                        <p:strVal val="visible"/>
                                      </p:to>
                                    </p:set>
                                    <p:anim calcmode="lin" valueType="num">
                                      <p:cBhvr>
                                        <p:cTn id="118" dur="500" fill="hold"/>
                                        <p:tgtEl>
                                          <p:spTgt spid="44"/>
                                        </p:tgtEl>
                                        <p:attrNameLst>
                                          <p:attrName>ppt_w</p:attrName>
                                        </p:attrNameLst>
                                      </p:cBhvr>
                                      <p:tavLst>
                                        <p:tav tm="0">
                                          <p:val>
                                            <p:fltVal val="0"/>
                                          </p:val>
                                        </p:tav>
                                        <p:tav tm="100000">
                                          <p:val>
                                            <p:strVal val="#ppt_w"/>
                                          </p:val>
                                        </p:tav>
                                      </p:tavLst>
                                    </p:anim>
                                    <p:anim calcmode="lin" valueType="num">
                                      <p:cBhvr>
                                        <p:cTn id="119" dur="500" fill="hold"/>
                                        <p:tgtEl>
                                          <p:spTgt spid="44"/>
                                        </p:tgtEl>
                                        <p:attrNameLst>
                                          <p:attrName>ppt_h</p:attrName>
                                        </p:attrNameLst>
                                      </p:cBhvr>
                                      <p:tavLst>
                                        <p:tav tm="0">
                                          <p:val>
                                            <p:fltVal val="0"/>
                                          </p:val>
                                        </p:tav>
                                        <p:tav tm="100000">
                                          <p:val>
                                            <p:strVal val="#ppt_h"/>
                                          </p:val>
                                        </p:tav>
                                      </p:tavLst>
                                    </p:anim>
                                    <p:animEffect transition="in" filter="fade">
                                      <p:cBhvr>
                                        <p:cTn id="120" dur="500"/>
                                        <p:tgtEl>
                                          <p:spTgt spid="44"/>
                                        </p:tgtEl>
                                      </p:cBhvr>
                                    </p:animEffect>
                                  </p:childTnLst>
                                </p:cTn>
                              </p:par>
                            </p:childTnLst>
                          </p:cTn>
                        </p:par>
                        <p:par>
                          <p:cTn id="121" fill="hold">
                            <p:stCondLst>
                              <p:cond delay="3000"/>
                            </p:stCondLst>
                            <p:childTnLst>
                              <p:par>
                                <p:cTn id="122" presetID="53" presetClass="entr" presetSubtype="16" fill="hold" grpId="0" nodeType="afterEffect">
                                  <p:stCondLst>
                                    <p:cond delay="0"/>
                                  </p:stCondLst>
                                  <p:childTnLst>
                                    <p:set>
                                      <p:cBhvr>
                                        <p:cTn id="123" dur="1" fill="hold">
                                          <p:stCondLst>
                                            <p:cond delay="0"/>
                                          </p:stCondLst>
                                        </p:cTn>
                                        <p:tgtEl>
                                          <p:spTgt spid="45"/>
                                        </p:tgtEl>
                                        <p:attrNameLst>
                                          <p:attrName>style.visibility</p:attrName>
                                        </p:attrNameLst>
                                      </p:cBhvr>
                                      <p:to>
                                        <p:strVal val="visible"/>
                                      </p:to>
                                    </p:set>
                                    <p:anim calcmode="lin" valueType="num">
                                      <p:cBhvr>
                                        <p:cTn id="124" dur="500" fill="hold"/>
                                        <p:tgtEl>
                                          <p:spTgt spid="45"/>
                                        </p:tgtEl>
                                        <p:attrNameLst>
                                          <p:attrName>ppt_w</p:attrName>
                                        </p:attrNameLst>
                                      </p:cBhvr>
                                      <p:tavLst>
                                        <p:tav tm="0">
                                          <p:val>
                                            <p:fltVal val="0"/>
                                          </p:val>
                                        </p:tav>
                                        <p:tav tm="100000">
                                          <p:val>
                                            <p:strVal val="#ppt_w"/>
                                          </p:val>
                                        </p:tav>
                                      </p:tavLst>
                                    </p:anim>
                                    <p:anim calcmode="lin" valueType="num">
                                      <p:cBhvr>
                                        <p:cTn id="125" dur="500" fill="hold"/>
                                        <p:tgtEl>
                                          <p:spTgt spid="45"/>
                                        </p:tgtEl>
                                        <p:attrNameLst>
                                          <p:attrName>ppt_h</p:attrName>
                                        </p:attrNameLst>
                                      </p:cBhvr>
                                      <p:tavLst>
                                        <p:tav tm="0">
                                          <p:val>
                                            <p:fltVal val="0"/>
                                          </p:val>
                                        </p:tav>
                                        <p:tav tm="100000">
                                          <p:val>
                                            <p:strVal val="#ppt_h"/>
                                          </p:val>
                                        </p:tav>
                                      </p:tavLst>
                                    </p:anim>
                                    <p:animEffect transition="in" filter="fade">
                                      <p:cBhvr>
                                        <p:cTn id="126" dur="500"/>
                                        <p:tgtEl>
                                          <p:spTgt spid="45"/>
                                        </p:tgtEl>
                                      </p:cBhvr>
                                    </p:animEffect>
                                  </p:childTnLst>
                                </p:cTn>
                              </p:par>
                            </p:childTnLst>
                          </p:cTn>
                        </p:par>
                        <p:par>
                          <p:cTn id="127" fill="hold">
                            <p:stCondLst>
                              <p:cond delay="3500"/>
                            </p:stCondLst>
                            <p:childTnLst>
                              <p:par>
                                <p:cTn id="128" presetID="22" presetClass="entr" presetSubtype="1" fill="hold" nodeType="afterEffect">
                                  <p:stCondLst>
                                    <p:cond delay="0"/>
                                  </p:stCondLst>
                                  <p:childTnLst>
                                    <p:set>
                                      <p:cBhvr>
                                        <p:cTn id="129" dur="1" fill="hold">
                                          <p:stCondLst>
                                            <p:cond delay="0"/>
                                          </p:stCondLst>
                                        </p:cTn>
                                        <p:tgtEl>
                                          <p:spTgt spid="46"/>
                                        </p:tgtEl>
                                        <p:attrNameLst>
                                          <p:attrName>style.visibility</p:attrName>
                                        </p:attrNameLst>
                                      </p:cBhvr>
                                      <p:to>
                                        <p:strVal val="visible"/>
                                      </p:to>
                                    </p:set>
                                    <p:animEffect transition="in" filter="wipe(up)">
                                      <p:cBhvr>
                                        <p:cTn id="130" dur="500"/>
                                        <p:tgtEl>
                                          <p:spTgt spid="46"/>
                                        </p:tgtEl>
                                      </p:cBhvr>
                                    </p:animEffect>
                                  </p:childTnLst>
                                </p:cTn>
                              </p:par>
                            </p:childTnLst>
                          </p:cTn>
                        </p:par>
                        <p:par>
                          <p:cTn id="131" fill="hold">
                            <p:stCondLst>
                              <p:cond delay="4000"/>
                            </p:stCondLst>
                            <p:childTnLst>
                              <p:par>
                                <p:cTn id="132" presetID="53" presetClass="entr" presetSubtype="16" fill="hold" grpId="0" nodeType="afterEffect">
                                  <p:stCondLst>
                                    <p:cond delay="0"/>
                                  </p:stCondLst>
                                  <p:childTnLst>
                                    <p:set>
                                      <p:cBhvr>
                                        <p:cTn id="133" dur="1" fill="hold">
                                          <p:stCondLst>
                                            <p:cond delay="0"/>
                                          </p:stCondLst>
                                        </p:cTn>
                                        <p:tgtEl>
                                          <p:spTgt spid="47"/>
                                        </p:tgtEl>
                                        <p:attrNameLst>
                                          <p:attrName>style.visibility</p:attrName>
                                        </p:attrNameLst>
                                      </p:cBhvr>
                                      <p:to>
                                        <p:strVal val="visible"/>
                                      </p:to>
                                    </p:set>
                                    <p:anim calcmode="lin" valueType="num">
                                      <p:cBhvr>
                                        <p:cTn id="134" dur="500" fill="hold"/>
                                        <p:tgtEl>
                                          <p:spTgt spid="47"/>
                                        </p:tgtEl>
                                        <p:attrNameLst>
                                          <p:attrName>ppt_w</p:attrName>
                                        </p:attrNameLst>
                                      </p:cBhvr>
                                      <p:tavLst>
                                        <p:tav tm="0">
                                          <p:val>
                                            <p:fltVal val="0"/>
                                          </p:val>
                                        </p:tav>
                                        <p:tav tm="100000">
                                          <p:val>
                                            <p:strVal val="#ppt_w"/>
                                          </p:val>
                                        </p:tav>
                                      </p:tavLst>
                                    </p:anim>
                                    <p:anim calcmode="lin" valueType="num">
                                      <p:cBhvr>
                                        <p:cTn id="135" dur="500" fill="hold"/>
                                        <p:tgtEl>
                                          <p:spTgt spid="47"/>
                                        </p:tgtEl>
                                        <p:attrNameLst>
                                          <p:attrName>ppt_h</p:attrName>
                                        </p:attrNameLst>
                                      </p:cBhvr>
                                      <p:tavLst>
                                        <p:tav tm="0">
                                          <p:val>
                                            <p:fltVal val="0"/>
                                          </p:val>
                                        </p:tav>
                                        <p:tav tm="100000">
                                          <p:val>
                                            <p:strVal val="#ppt_h"/>
                                          </p:val>
                                        </p:tav>
                                      </p:tavLst>
                                    </p:anim>
                                    <p:animEffect transition="in" filter="fade">
                                      <p:cBhvr>
                                        <p:cTn id="136" dur="500"/>
                                        <p:tgtEl>
                                          <p:spTgt spid="47"/>
                                        </p:tgtEl>
                                      </p:cBhvr>
                                    </p:animEffect>
                                  </p:childTnLst>
                                </p:cTn>
                              </p:par>
                            </p:childTnLst>
                          </p:cTn>
                        </p:par>
                        <p:par>
                          <p:cTn id="137" fill="hold">
                            <p:stCondLst>
                              <p:cond delay="4500"/>
                            </p:stCondLst>
                            <p:childTnLst>
                              <p:par>
                                <p:cTn id="138" presetID="53" presetClass="entr" presetSubtype="16" fill="hold" grpId="0" nodeType="afterEffect">
                                  <p:stCondLst>
                                    <p:cond delay="0"/>
                                  </p:stCondLst>
                                  <p:childTnLst>
                                    <p:set>
                                      <p:cBhvr>
                                        <p:cTn id="139" dur="1" fill="hold">
                                          <p:stCondLst>
                                            <p:cond delay="0"/>
                                          </p:stCondLst>
                                        </p:cTn>
                                        <p:tgtEl>
                                          <p:spTgt spid="42"/>
                                        </p:tgtEl>
                                        <p:attrNameLst>
                                          <p:attrName>style.visibility</p:attrName>
                                        </p:attrNameLst>
                                      </p:cBhvr>
                                      <p:to>
                                        <p:strVal val="visible"/>
                                      </p:to>
                                    </p:set>
                                    <p:anim calcmode="lin" valueType="num">
                                      <p:cBhvr>
                                        <p:cTn id="140" dur="500" fill="hold"/>
                                        <p:tgtEl>
                                          <p:spTgt spid="42"/>
                                        </p:tgtEl>
                                        <p:attrNameLst>
                                          <p:attrName>ppt_w</p:attrName>
                                        </p:attrNameLst>
                                      </p:cBhvr>
                                      <p:tavLst>
                                        <p:tav tm="0">
                                          <p:val>
                                            <p:fltVal val="0"/>
                                          </p:val>
                                        </p:tav>
                                        <p:tav tm="100000">
                                          <p:val>
                                            <p:strVal val="#ppt_w"/>
                                          </p:val>
                                        </p:tav>
                                      </p:tavLst>
                                    </p:anim>
                                    <p:anim calcmode="lin" valueType="num">
                                      <p:cBhvr>
                                        <p:cTn id="141" dur="500" fill="hold"/>
                                        <p:tgtEl>
                                          <p:spTgt spid="42"/>
                                        </p:tgtEl>
                                        <p:attrNameLst>
                                          <p:attrName>ppt_h</p:attrName>
                                        </p:attrNameLst>
                                      </p:cBhvr>
                                      <p:tavLst>
                                        <p:tav tm="0">
                                          <p:val>
                                            <p:fltVal val="0"/>
                                          </p:val>
                                        </p:tav>
                                        <p:tav tm="100000">
                                          <p:val>
                                            <p:strVal val="#ppt_h"/>
                                          </p:val>
                                        </p:tav>
                                      </p:tavLst>
                                    </p:anim>
                                    <p:animEffect transition="in" filter="fade">
                                      <p:cBhvr>
                                        <p:cTn id="142" dur="500"/>
                                        <p:tgtEl>
                                          <p:spTgt spid="42"/>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48"/>
                                        </p:tgtEl>
                                        <p:attrNameLst>
                                          <p:attrName>style.visibility</p:attrName>
                                        </p:attrNameLst>
                                      </p:cBhvr>
                                      <p:to>
                                        <p:strVal val="visible"/>
                                      </p:to>
                                    </p:set>
                                    <p:animEffect transition="in" filter="wipe(up)">
                                      <p:cBhvr>
                                        <p:cTn id="147" dur="1000"/>
                                        <p:tgtEl>
                                          <p:spTgt spid="48"/>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49"/>
                                        </p:tgtEl>
                                        <p:attrNameLst>
                                          <p:attrName>style.visibility</p:attrName>
                                        </p:attrNameLst>
                                      </p:cBhvr>
                                      <p:to>
                                        <p:strVal val="visible"/>
                                      </p:to>
                                    </p:set>
                                    <p:animEffect transition="in" filter="wipe(up)">
                                      <p:cBhvr>
                                        <p:cTn id="152" dur="1500"/>
                                        <p:tgtEl>
                                          <p:spTgt spid="49"/>
                                        </p:tgtEl>
                                      </p:cBhvr>
                                    </p:animEffect>
                                  </p:childTnLst>
                                </p:cTn>
                              </p:par>
                            </p:childTnLst>
                          </p:cTn>
                        </p:par>
                        <p:par>
                          <p:cTn id="153" fill="hold">
                            <p:stCondLst>
                              <p:cond delay="1500"/>
                            </p:stCondLst>
                            <p:childTnLst>
                              <p:par>
                                <p:cTn id="154" presetID="22" presetClass="entr" presetSubtype="8" fill="hold" nodeType="afterEffect">
                                  <p:stCondLst>
                                    <p:cond delay="0"/>
                                  </p:stCondLst>
                                  <p:childTnLst>
                                    <p:set>
                                      <p:cBhvr>
                                        <p:cTn id="155" dur="1" fill="hold">
                                          <p:stCondLst>
                                            <p:cond delay="0"/>
                                          </p:stCondLst>
                                        </p:cTn>
                                        <p:tgtEl>
                                          <p:spTgt spid="50"/>
                                        </p:tgtEl>
                                        <p:attrNameLst>
                                          <p:attrName>style.visibility</p:attrName>
                                        </p:attrNameLst>
                                      </p:cBhvr>
                                      <p:to>
                                        <p:strVal val="visible"/>
                                      </p:to>
                                    </p:set>
                                    <p:animEffect transition="in" filter="wipe(left)">
                                      <p:cBhvr>
                                        <p:cTn id="156" dur="500"/>
                                        <p:tgtEl>
                                          <p:spTgt spid="50"/>
                                        </p:tgtEl>
                                      </p:cBhvr>
                                    </p:animEffect>
                                  </p:childTnLst>
                                </p:cTn>
                              </p:par>
                            </p:childTnLst>
                          </p:cTn>
                        </p:par>
                        <p:par>
                          <p:cTn id="157" fill="hold">
                            <p:stCondLst>
                              <p:cond delay="2000"/>
                            </p:stCondLst>
                            <p:childTnLst>
                              <p:par>
                                <p:cTn id="158" presetID="53" presetClass="entr" presetSubtype="16" fill="hold" grpId="0" nodeType="afterEffect">
                                  <p:stCondLst>
                                    <p:cond delay="0"/>
                                  </p:stCondLst>
                                  <p:childTnLst>
                                    <p:set>
                                      <p:cBhvr>
                                        <p:cTn id="159" dur="1" fill="hold">
                                          <p:stCondLst>
                                            <p:cond delay="0"/>
                                          </p:stCondLst>
                                        </p:cTn>
                                        <p:tgtEl>
                                          <p:spTgt spid="52"/>
                                        </p:tgtEl>
                                        <p:attrNameLst>
                                          <p:attrName>style.visibility</p:attrName>
                                        </p:attrNameLst>
                                      </p:cBhvr>
                                      <p:to>
                                        <p:strVal val="visible"/>
                                      </p:to>
                                    </p:set>
                                    <p:anim calcmode="lin" valueType="num">
                                      <p:cBhvr>
                                        <p:cTn id="160" dur="500" fill="hold"/>
                                        <p:tgtEl>
                                          <p:spTgt spid="52"/>
                                        </p:tgtEl>
                                        <p:attrNameLst>
                                          <p:attrName>ppt_w</p:attrName>
                                        </p:attrNameLst>
                                      </p:cBhvr>
                                      <p:tavLst>
                                        <p:tav tm="0">
                                          <p:val>
                                            <p:fltVal val="0"/>
                                          </p:val>
                                        </p:tav>
                                        <p:tav tm="100000">
                                          <p:val>
                                            <p:strVal val="#ppt_w"/>
                                          </p:val>
                                        </p:tav>
                                      </p:tavLst>
                                    </p:anim>
                                    <p:anim calcmode="lin" valueType="num">
                                      <p:cBhvr>
                                        <p:cTn id="161" dur="500" fill="hold"/>
                                        <p:tgtEl>
                                          <p:spTgt spid="52"/>
                                        </p:tgtEl>
                                        <p:attrNameLst>
                                          <p:attrName>ppt_h</p:attrName>
                                        </p:attrNameLst>
                                      </p:cBhvr>
                                      <p:tavLst>
                                        <p:tav tm="0">
                                          <p:val>
                                            <p:fltVal val="0"/>
                                          </p:val>
                                        </p:tav>
                                        <p:tav tm="100000">
                                          <p:val>
                                            <p:strVal val="#ppt_h"/>
                                          </p:val>
                                        </p:tav>
                                      </p:tavLst>
                                    </p:anim>
                                    <p:animEffect transition="in" filter="fade">
                                      <p:cBhvr>
                                        <p:cTn id="162" dur="500"/>
                                        <p:tgtEl>
                                          <p:spTgt spid="52"/>
                                        </p:tgtEl>
                                      </p:cBhvr>
                                    </p:animEffect>
                                  </p:childTnLst>
                                </p:cTn>
                              </p:par>
                            </p:childTnLst>
                          </p:cTn>
                        </p:par>
                        <p:par>
                          <p:cTn id="163" fill="hold">
                            <p:stCondLst>
                              <p:cond delay="2500"/>
                            </p:stCondLst>
                            <p:childTnLst>
                              <p:par>
                                <p:cTn id="164" presetID="53" presetClass="entr" presetSubtype="16" fill="hold" grpId="0" nodeType="afterEffect">
                                  <p:stCondLst>
                                    <p:cond delay="0"/>
                                  </p:stCondLst>
                                  <p:childTnLst>
                                    <p:set>
                                      <p:cBhvr>
                                        <p:cTn id="165" dur="1" fill="hold">
                                          <p:stCondLst>
                                            <p:cond delay="0"/>
                                          </p:stCondLst>
                                        </p:cTn>
                                        <p:tgtEl>
                                          <p:spTgt spid="53"/>
                                        </p:tgtEl>
                                        <p:attrNameLst>
                                          <p:attrName>style.visibility</p:attrName>
                                        </p:attrNameLst>
                                      </p:cBhvr>
                                      <p:to>
                                        <p:strVal val="visible"/>
                                      </p:to>
                                    </p:set>
                                    <p:anim calcmode="lin" valueType="num">
                                      <p:cBhvr>
                                        <p:cTn id="166" dur="500" fill="hold"/>
                                        <p:tgtEl>
                                          <p:spTgt spid="53"/>
                                        </p:tgtEl>
                                        <p:attrNameLst>
                                          <p:attrName>ppt_w</p:attrName>
                                        </p:attrNameLst>
                                      </p:cBhvr>
                                      <p:tavLst>
                                        <p:tav tm="0">
                                          <p:val>
                                            <p:fltVal val="0"/>
                                          </p:val>
                                        </p:tav>
                                        <p:tav tm="100000">
                                          <p:val>
                                            <p:strVal val="#ppt_w"/>
                                          </p:val>
                                        </p:tav>
                                      </p:tavLst>
                                    </p:anim>
                                    <p:anim calcmode="lin" valueType="num">
                                      <p:cBhvr>
                                        <p:cTn id="167" dur="500" fill="hold"/>
                                        <p:tgtEl>
                                          <p:spTgt spid="53"/>
                                        </p:tgtEl>
                                        <p:attrNameLst>
                                          <p:attrName>ppt_h</p:attrName>
                                        </p:attrNameLst>
                                      </p:cBhvr>
                                      <p:tavLst>
                                        <p:tav tm="0">
                                          <p:val>
                                            <p:fltVal val="0"/>
                                          </p:val>
                                        </p:tav>
                                        <p:tav tm="100000">
                                          <p:val>
                                            <p:strVal val="#ppt_h"/>
                                          </p:val>
                                        </p:tav>
                                      </p:tavLst>
                                    </p:anim>
                                    <p:animEffect transition="in" filter="fade">
                                      <p:cBhvr>
                                        <p:cTn id="168" dur="500"/>
                                        <p:tgtEl>
                                          <p:spTgt spid="53"/>
                                        </p:tgtEl>
                                      </p:cBhvr>
                                    </p:animEffect>
                                  </p:childTnLst>
                                </p:cTn>
                              </p:par>
                            </p:childTnLst>
                          </p:cTn>
                        </p:par>
                        <p:par>
                          <p:cTn id="169" fill="hold">
                            <p:stCondLst>
                              <p:cond delay="3000"/>
                            </p:stCondLst>
                            <p:childTnLst>
                              <p:par>
                                <p:cTn id="170" presetID="53" presetClass="entr" presetSubtype="16" fill="hold" grpId="0" nodeType="afterEffect">
                                  <p:stCondLst>
                                    <p:cond delay="0"/>
                                  </p:stCondLst>
                                  <p:childTnLst>
                                    <p:set>
                                      <p:cBhvr>
                                        <p:cTn id="171" dur="1" fill="hold">
                                          <p:stCondLst>
                                            <p:cond delay="0"/>
                                          </p:stCondLst>
                                        </p:cTn>
                                        <p:tgtEl>
                                          <p:spTgt spid="54"/>
                                        </p:tgtEl>
                                        <p:attrNameLst>
                                          <p:attrName>style.visibility</p:attrName>
                                        </p:attrNameLst>
                                      </p:cBhvr>
                                      <p:to>
                                        <p:strVal val="visible"/>
                                      </p:to>
                                    </p:set>
                                    <p:anim calcmode="lin" valueType="num">
                                      <p:cBhvr>
                                        <p:cTn id="172" dur="500" fill="hold"/>
                                        <p:tgtEl>
                                          <p:spTgt spid="54"/>
                                        </p:tgtEl>
                                        <p:attrNameLst>
                                          <p:attrName>ppt_w</p:attrName>
                                        </p:attrNameLst>
                                      </p:cBhvr>
                                      <p:tavLst>
                                        <p:tav tm="0">
                                          <p:val>
                                            <p:fltVal val="0"/>
                                          </p:val>
                                        </p:tav>
                                        <p:tav tm="100000">
                                          <p:val>
                                            <p:strVal val="#ppt_w"/>
                                          </p:val>
                                        </p:tav>
                                      </p:tavLst>
                                    </p:anim>
                                    <p:anim calcmode="lin" valueType="num">
                                      <p:cBhvr>
                                        <p:cTn id="173" dur="500" fill="hold"/>
                                        <p:tgtEl>
                                          <p:spTgt spid="54"/>
                                        </p:tgtEl>
                                        <p:attrNameLst>
                                          <p:attrName>ppt_h</p:attrName>
                                        </p:attrNameLst>
                                      </p:cBhvr>
                                      <p:tavLst>
                                        <p:tav tm="0">
                                          <p:val>
                                            <p:fltVal val="0"/>
                                          </p:val>
                                        </p:tav>
                                        <p:tav tm="100000">
                                          <p:val>
                                            <p:strVal val="#ppt_h"/>
                                          </p:val>
                                        </p:tav>
                                      </p:tavLst>
                                    </p:anim>
                                    <p:animEffect transition="in" filter="fade">
                                      <p:cBhvr>
                                        <p:cTn id="174" dur="500"/>
                                        <p:tgtEl>
                                          <p:spTgt spid="54"/>
                                        </p:tgtEl>
                                      </p:cBhvr>
                                    </p:animEffect>
                                  </p:childTnLst>
                                </p:cTn>
                              </p:par>
                            </p:childTnLst>
                          </p:cTn>
                        </p:par>
                        <p:par>
                          <p:cTn id="175" fill="hold">
                            <p:stCondLst>
                              <p:cond delay="3500"/>
                            </p:stCondLst>
                            <p:childTnLst>
                              <p:par>
                                <p:cTn id="176" presetID="22" presetClass="entr" presetSubtype="4" fill="hold" nodeType="afterEffect">
                                  <p:stCondLst>
                                    <p:cond delay="0"/>
                                  </p:stCondLst>
                                  <p:childTnLst>
                                    <p:set>
                                      <p:cBhvr>
                                        <p:cTn id="177" dur="1" fill="hold">
                                          <p:stCondLst>
                                            <p:cond delay="0"/>
                                          </p:stCondLst>
                                        </p:cTn>
                                        <p:tgtEl>
                                          <p:spTgt spid="55"/>
                                        </p:tgtEl>
                                        <p:attrNameLst>
                                          <p:attrName>style.visibility</p:attrName>
                                        </p:attrNameLst>
                                      </p:cBhvr>
                                      <p:to>
                                        <p:strVal val="visible"/>
                                      </p:to>
                                    </p:set>
                                    <p:animEffect transition="in" filter="wipe(down)">
                                      <p:cBhvr>
                                        <p:cTn id="178" dur="500"/>
                                        <p:tgtEl>
                                          <p:spTgt spid="55"/>
                                        </p:tgtEl>
                                      </p:cBhvr>
                                    </p:animEffect>
                                  </p:childTnLst>
                                </p:cTn>
                              </p:par>
                            </p:childTnLst>
                          </p:cTn>
                        </p:par>
                        <p:par>
                          <p:cTn id="179" fill="hold">
                            <p:stCondLst>
                              <p:cond delay="4000"/>
                            </p:stCondLst>
                            <p:childTnLst>
                              <p:par>
                                <p:cTn id="180" presetID="53" presetClass="entr" presetSubtype="16" fill="hold" grpId="0" nodeType="afterEffect">
                                  <p:stCondLst>
                                    <p:cond delay="0"/>
                                  </p:stCondLst>
                                  <p:childTnLst>
                                    <p:set>
                                      <p:cBhvr>
                                        <p:cTn id="181" dur="1" fill="hold">
                                          <p:stCondLst>
                                            <p:cond delay="0"/>
                                          </p:stCondLst>
                                        </p:cTn>
                                        <p:tgtEl>
                                          <p:spTgt spid="56"/>
                                        </p:tgtEl>
                                        <p:attrNameLst>
                                          <p:attrName>style.visibility</p:attrName>
                                        </p:attrNameLst>
                                      </p:cBhvr>
                                      <p:to>
                                        <p:strVal val="visible"/>
                                      </p:to>
                                    </p:set>
                                    <p:anim calcmode="lin" valueType="num">
                                      <p:cBhvr>
                                        <p:cTn id="182" dur="500" fill="hold"/>
                                        <p:tgtEl>
                                          <p:spTgt spid="56"/>
                                        </p:tgtEl>
                                        <p:attrNameLst>
                                          <p:attrName>ppt_w</p:attrName>
                                        </p:attrNameLst>
                                      </p:cBhvr>
                                      <p:tavLst>
                                        <p:tav tm="0">
                                          <p:val>
                                            <p:fltVal val="0"/>
                                          </p:val>
                                        </p:tav>
                                        <p:tav tm="100000">
                                          <p:val>
                                            <p:strVal val="#ppt_w"/>
                                          </p:val>
                                        </p:tav>
                                      </p:tavLst>
                                    </p:anim>
                                    <p:anim calcmode="lin" valueType="num">
                                      <p:cBhvr>
                                        <p:cTn id="183" dur="500" fill="hold"/>
                                        <p:tgtEl>
                                          <p:spTgt spid="56"/>
                                        </p:tgtEl>
                                        <p:attrNameLst>
                                          <p:attrName>ppt_h</p:attrName>
                                        </p:attrNameLst>
                                      </p:cBhvr>
                                      <p:tavLst>
                                        <p:tav tm="0">
                                          <p:val>
                                            <p:fltVal val="0"/>
                                          </p:val>
                                        </p:tav>
                                        <p:tav tm="100000">
                                          <p:val>
                                            <p:strVal val="#ppt_h"/>
                                          </p:val>
                                        </p:tav>
                                      </p:tavLst>
                                    </p:anim>
                                    <p:animEffect transition="in" filter="fade">
                                      <p:cBhvr>
                                        <p:cTn id="184" dur="500"/>
                                        <p:tgtEl>
                                          <p:spTgt spid="56"/>
                                        </p:tgtEl>
                                      </p:cBhvr>
                                    </p:animEffect>
                                  </p:childTnLst>
                                </p:cTn>
                              </p:par>
                            </p:childTnLst>
                          </p:cTn>
                        </p:par>
                        <p:par>
                          <p:cTn id="185" fill="hold">
                            <p:stCondLst>
                              <p:cond delay="4500"/>
                            </p:stCondLst>
                            <p:childTnLst>
                              <p:par>
                                <p:cTn id="186" presetID="53" presetClass="entr" presetSubtype="16" fill="hold" grpId="0" nodeType="afterEffect">
                                  <p:stCondLst>
                                    <p:cond delay="0"/>
                                  </p:stCondLst>
                                  <p:childTnLst>
                                    <p:set>
                                      <p:cBhvr>
                                        <p:cTn id="187" dur="1" fill="hold">
                                          <p:stCondLst>
                                            <p:cond delay="0"/>
                                          </p:stCondLst>
                                        </p:cTn>
                                        <p:tgtEl>
                                          <p:spTgt spid="51"/>
                                        </p:tgtEl>
                                        <p:attrNameLst>
                                          <p:attrName>style.visibility</p:attrName>
                                        </p:attrNameLst>
                                      </p:cBhvr>
                                      <p:to>
                                        <p:strVal val="visible"/>
                                      </p:to>
                                    </p:set>
                                    <p:anim calcmode="lin" valueType="num">
                                      <p:cBhvr>
                                        <p:cTn id="188" dur="500" fill="hold"/>
                                        <p:tgtEl>
                                          <p:spTgt spid="51"/>
                                        </p:tgtEl>
                                        <p:attrNameLst>
                                          <p:attrName>ppt_w</p:attrName>
                                        </p:attrNameLst>
                                      </p:cBhvr>
                                      <p:tavLst>
                                        <p:tav tm="0">
                                          <p:val>
                                            <p:fltVal val="0"/>
                                          </p:val>
                                        </p:tav>
                                        <p:tav tm="100000">
                                          <p:val>
                                            <p:strVal val="#ppt_w"/>
                                          </p:val>
                                        </p:tav>
                                      </p:tavLst>
                                    </p:anim>
                                    <p:anim calcmode="lin" valueType="num">
                                      <p:cBhvr>
                                        <p:cTn id="189" dur="500" fill="hold"/>
                                        <p:tgtEl>
                                          <p:spTgt spid="51"/>
                                        </p:tgtEl>
                                        <p:attrNameLst>
                                          <p:attrName>ppt_h</p:attrName>
                                        </p:attrNameLst>
                                      </p:cBhvr>
                                      <p:tavLst>
                                        <p:tav tm="0">
                                          <p:val>
                                            <p:fltVal val="0"/>
                                          </p:val>
                                        </p:tav>
                                        <p:tav tm="100000">
                                          <p:val>
                                            <p:strVal val="#ppt_h"/>
                                          </p:val>
                                        </p:tav>
                                      </p:tavLst>
                                    </p:anim>
                                    <p:animEffect transition="in" filter="fade">
                                      <p:cBhvr>
                                        <p:cTn id="190" dur="500"/>
                                        <p:tgtEl>
                                          <p:spTgt spid="51"/>
                                        </p:tgtEl>
                                      </p:cBhvr>
                                    </p:animEffect>
                                  </p:childTnLst>
                                </p:cTn>
                              </p:par>
                            </p:childTnLst>
                          </p:cTn>
                        </p:par>
                      </p:childTnLst>
                    </p:cTn>
                  </p:par>
                  <p:par>
                    <p:cTn id="191" fill="hold">
                      <p:stCondLst>
                        <p:cond delay="indefinite"/>
                      </p:stCondLst>
                      <p:childTnLst>
                        <p:par>
                          <p:cTn id="192" fill="hold">
                            <p:stCondLst>
                              <p:cond delay="0"/>
                            </p:stCondLst>
                            <p:childTnLst>
                              <p:par>
                                <p:cTn id="193" presetID="42" presetClass="entr" presetSubtype="0" fill="hold" grpId="0" nodeType="clickEffect">
                                  <p:stCondLst>
                                    <p:cond delay="0"/>
                                  </p:stCondLst>
                                  <p:childTnLst>
                                    <p:set>
                                      <p:cBhvr>
                                        <p:cTn id="194" dur="1" fill="hold">
                                          <p:stCondLst>
                                            <p:cond delay="0"/>
                                          </p:stCondLst>
                                        </p:cTn>
                                        <p:tgtEl>
                                          <p:spTgt spid="57"/>
                                        </p:tgtEl>
                                        <p:attrNameLst>
                                          <p:attrName>style.visibility</p:attrName>
                                        </p:attrNameLst>
                                      </p:cBhvr>
                                      <p:to>
                                        <p:strVal val="visible"/>
                                      </p:to>
                                    </p:set>
                                    <p:animEffect transition="in" filter="fade">
                                      <p:cBhvr>
                                        <p:cTn id="195" dur="1000"/>
                                        <p:tgtEl>
                                          <p:spTgt spid="57"/>
                                        </p:tgtEl>
                                      </p:cBhvr>
                                    </p:animEffect>
                                    <p:anim calcmode="lin" valueType="num">
                                      <p:cBhvr>
                                        <p:cTn id="196" dur="1000" fill="hold"/>
                                        <p:tgtEl>
                                          <p:spTgt spid="57"/>
                                        </p:tgtEl>
                                        <p:attrNameLst>
                                          <p:attrName>ppt_x</p:attrName>
                                        </p:attrNameLst>
                                      </p:cBhvr>
                                      <p:tavLst>
                                        <p:tav tm="0">
                                          <p:val>
                                            <p:strVal val="#ppt_x"/>
                                          </p:val>
                                        </p:tav>
                                        <p:tav tm="100000">
                                          <p:val>
                                            <p:strVal val="#ppt_x"/>
                                          </p:val>
                                        </p:tav>
                                      </p:tavLst>
                                    </p:anim>
                                    <p:anim calcmode="lin" valueType="num">
                                      <p:cBhvr>
                                        <p:cTn id="197" dur="1000" fill="hold"/>
                                        <p:tgtEl>
                                          <p:spTgt spid="57"/>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7" presetClass="entr" presetSubtype="0" fill="hold" grpId="0" nodeType="clickEffect">
                                  <p:stCondLst>
                                    <p:cond delay="0"/>
                                  </p:stCondLst>
                                  <p:childTnLst>
                                    <p:set>
                                      <p:cBhvr>
                                        <p:cTn id="201" dur="1" fill="hold">
                                          <p:stCondLst>
                                            <p:cond delay="0"/>
                                          </p:stCondLst>
                                        </p:cTn>
                                        <p:tgtEl>
                                          <p:spTgt spid="58"/>
                                        </p:tgtEl>
                                        <p:attrNameLst>
                                          <p:attrName>style.visibility</p:attrName>
                                        </p:attrNameLst>
                                      </p:cBhvr>
                                      <p:to>
                                        <p:strVal val="visible"/>
                                      </p:to>
                                    </p:set>
                                    <p:animEffect transition="in" filter="fade">
                                      <p:cBhvr>
                                        <p:cTn id="202" dur="1500"/>
                                        <p:tgtEl>
                                          <p:spTgt spid="58"/>
                                        </p:tgtEl>
                                      </p:cBhvr>
                                    </p:animEffect>
                                    <p:anim calcmode="lin" valueType="num">
                                      <p:cBhvr>
                                        <p:cTn id="203" dur="1500" fill="hold"/>
                                        <p:tgtEl>
                                          <p:spTgt spid="58"/>
                                        </p:tgtEl>
                                        <p:attrNameLst>
                                          <p:attrName>ppt_x</p:attrName>
                                        </p:attrNameLst>
                                      </p:cBhvr>
                                      <p:tavLst>
                                        <p:tav tm="0">
                                          <p:val>
                                            <p:strVal val="#ppt_x"/>
                                          </p:val>
                                        </p:tav>
                                        <p:tav tm="100000">
                                          <p:val>
                                            <p:strVal val="#ppt_x"/>
                                          </p:val>
                                        </p:tav>
                                      </p:tavLst>
                                    </p:anim>
                                    <p:anim calcmode="lin" valueType="num">
                                      <p:cBhvr>
                                        <p:cTn id="204" dur="15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59"/>
                                        </p:tgtEl>
                                        <p:attrNameLst>
                                          <p:attrName>style.visibility</p:attrName>
                                        </p:attrNameLst>
                                      </p:cBhvr>
                                      <p:to>
                                        <p:strVal val="visible"/>
                                      </p:to>
                                    </p:set>
                                    <p:animEffect transition="in" filter="wipe(left)">
                                      <p:cBhvr>
                                        <p:cTn id="209"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7" grpId="0" animBg="1"/>
      <p:bldP spid="28" grpId="0" animBg="1"/>
      <p:bldP spid="29" grpId="0" animBg="1"/>
      <p:bldP spid="31" grpId="0" animBg="1"/>
      <p:bldP spid="32" grpId="0"/>
      <p:bldP spid="33" grpId="0"/>
      <p:bldP spid="34" grpId="0" animBg="1"/>
      <p:bldP spid="35" grpId="0" animBg="1"/>
      <p:bldP spid="36" grpId="0" animBg="1"/>
      <p:bldP spid="37" grpId="0" animBg="1"/>
      <p:bldP spid="39" grpId="0" animBg="1"/>
      <p:bldP spid="40" grpId="0"/>
      <p:bldP spid="41" grpId="0"/>
      <p:bldP spid="42" grpId="0" animBg="1"/>
      <p:bldP spid="43" grpId="0" animBg="1"/>
      <p:bldP spid="44" grpId="0" animBg="1"/>
      <p:bldP spid="45" grpId="0" animBg="1"/>
      <p:bldP spid="47" grpId="0" animBg="1"/>
      <p:bldP spid="48" grpId="0"/>
      <p:bldP spid="49" grpId="0"/>
      <p:bldP spid="51" grpId="0" animBg="1"/>
      <p:bldP spid="52" grpId="0" animBg="1"/>
      <p:bldP spid="53" grpId="0" animBg="1"/>
      <p:bldP spid="54" grpId="0" animBg="1"/>
      <p:bldP spid="56" grpId="0" animBg="1"/>
      <p:bldP spid="57" grpId="0"/>
      <p:bldP spid="58"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2A088D3-A642-47E9-8843-D04D55D8CBF1}"/>
              </a:ext>
            </a:extLst>
          </p:cNvPr>
          <p:cNvGrpSpPr/>
          <p:nvPr/>
        </p:nvGrpSpPr>
        <p:grpSpPr>
          <a:xfrm>
            <a:off x="0" y="-3775364"/>
            <a:ext cx="12192000" cy="7550727"/>
            <a:chOff x="0" y="0"/>
            <a:chExt cx="12192000" cy="7550727"/>
          </a:xfrm>
          <a:solidFill>
            <a:srgbClr val="F4AB9C"/>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8" y="-4492663"/>
            <a:ext cx="12192000" cy="7550727"/>
            <a:chOff x="0" y="0"/>
            <a:chExt cx="12192000" cy="7550727"/>
          </a:xfrm>
          <a:solidFill>
            <a:srgbClr val="FFB47B"/>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24" y="-5320799"/>
            <a:ext cx="12192000" cy="7550727"/>
            <a:chOff x="0" y="0"/>
            <a:chExt cx="12192000" cy="7550727"/>
          </a:xfrm>
          <a:solidFill>
            <a:srgbClr val="FF7C6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725283"/>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892174A2-2DB1-44FA-89F1-7DB2B31F54E6}"/>
              </a:ext>
            </a:extLst>
          </p:cNvPr>
          <p:cNvSpPr txBox="1"/>
          <p:nvPr/>
        </p:nvSpPr>
        <p:spPr>
          <a:xfrm>
            <a:off x="3770153" y="4018471"/>
            <a:ext cx="7973655" cy="2292935"/>
          </a:xfrm>
          <a:prstGeom prst="rect">
            <a:avLst/>
          </a:prstGeom>
          <a:noFill/>
        </p:spPr>
        <p:txBody>
          <a:bodyPr wrap="square" rtlCol="1">
            <a:spAutoFit/>
          </a:bodyPr>
          <a:lstStyle/>
          <a:p>
            <a:pPr algn="r"/>
            <a:r>
              <a:rPr lang="fa-IR" sz="2300" b="1" dirty="0">
                <a:cs typeface="2  Nazanin" panose="00000400000000000000" pitchFamily="2" charset="-78"/>
              </a:rPr>
              <a:t>گچ ساختمانی</a:t>
            </a:r>
          </a:p>
          <a:p>
            <a:pPr algn="r"/>
            <a:r>
              <a:rPr lang="fa-IR" sz="2400" dirty="0">
                <a:cs typeface="2  Nazanin" panose="00000400000000000000" pitchFamily="2" charset="-78"/>
              </a:rPr>
              <a:t>مـواد چسـبانندة سـاختماني است كه در صورت خالص بودن سفيدرنگ است. </a:t>
            </a:r>
          </a:p>
          <a:p>
            <a:pPr algn="r"/>
            <a:r>
              <a:rPr lang="fa-IR" sz="2400" dirty="0">
                <a:cs typeface="2  Nazanin" panose="00000400000000000000" pitchFamily="2" charset="-78"/>
              </a:rPr>
              <a:t>گـچ سـاختماني از پخـتن سـنگ گـچ، در دماي كم به دست میايد</a:t>
            </a:r>
          </a:p>
          <a:p>
            <a:pPr algn="r"/>
            <a:r>
              <a:rPr lang="fa-IR" sz="2400" dirty="0">
                <a:cs typeface="2  Nazanin" panose="00000400000000000000" pitchFamily="2" charset="-78"/>
              </a:rPr>
              <a:t>گچ گيپتون يا اندود گچ ساختماني براي اندودكاري با سـختي سـطحي اصـلاح شـده، كه به ويژه براي برآورده شـدن الزامـات انـدودكاري بـا سـختي سـطحي اصلاح شده طراحي ميشود. كاربرد اين نوع گچ در پوششهاي سطوح بتني است</a:t>
            </a:r>
          </a:p>
        </p:txBody>
      </p:sp>
      <p:pic>
        <p:nvPicPr>
          <p:cNvPr id="20" name="Picture 19">
            <a:extLst>
              <a:ext uri="{FF2B5EF4-FFF2-40B4-BE49-F238E27FC236}">
                <a16:creationId xmlns:a16="http://schemas.microsoft.com/office/drawing/2014/main" id="{94AD498E-275C-4EA4-9ECF-660329973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09" y="4058401"/>
            <a:ext cx="3625044" cy="2259271"/>
          </a:xfrm>
          <a:prstGeom prst="rect">
            <a:avLst/>
          </a:prstGeom>
        </p:spPr>
      </p:pic>
    </p:spTree>
    <p:extLst>
      <p:ext uri="{BB962C8B-B14F-4D97-AF65-F5344CB8AC3E}">
        <p14:creationId xmlns:p14="http://schemas.microsoft.com/office/powerpoint/2010/main" val="29408783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764478" y="3658251"/>
            <a:ext cx="7973655" cy="2923877"/>
          </a:xfrm>
          <a:prstGeom prst="rect">
            <a:avLst/>
          </a:prstGeom>
          <a:noFill/>
        </p:spPr>
        <p:txBody>
          <a:bodyPr wrap="square" rtlCol="1">
            <a:spAutoFit/>
          </a:bodyPr>
          <a:lstStyle/>
          <a:p>
            <a:pPr algn="r"/>
            <a:r>
              <a:rPr lang="fa-IR" sz="2300" dirty="0">
                <a:cs typeface="2  Nazanin" panose="00000400000000000000" pitchFamily="2" charset="-78"/>
              </a:rPr>
              <a:t>گچ ساختمانی</a:t>
            </a:r>
          </a:p>
          <a:p>
            <a:pPr algn="r"/>
            <a:r>
              <a:rPr lang="fa-IR" sz="2300" dirty="0">
                <a:cs typeface="2  Nazanin" panose="00000400000000000000" pitchFamily="2" charset="-78"/>
              </a:rPr>
              <a:t>مـواد چسـبانندة سـاختماني (چسـباننده هوايي) است كه در صورت خالص بودن سفيدرنگ است. </a:t>
            </a:r>
          </a:p>
          <a:p>
            <a:pPr algn="r"/>
            <a:r>
              <a:rPr lang="fa-IR" sz="2300" dirty="0">
                <a:cs typeface="2  Nazanin" panose="00000400000000000000" pitchFamily="2" charset="-78"/>
              </a:rPr>
              <a:t>گـچ سـاختماني از پخـتن سـنگ گـچ، در دماي كم (حدود 180 درجه سلسيوس در شرايط آزمايشگاهي)، به دست میايد</a:t>
            </a:r>
          </a:p>
          <a:p>
            <a:pPr algn="r"/>
            <a:r>
              <a:rPr lang="fa-IR" sz="2300" dirty="0">
                <a:cs typeface="2  Nazanin" panose="00000400000000000000" pitchFamily="2" charset="-78"/>
              </a:rPr>
              <a:t>گچ گيپتون يا اندود گچ ساختماني براي اندودكاري با سـختي سـطحي اصـلاح شـده، كه به ويژه براي برآورده شـدن الزامـات انـدودكاري بـا سـختي سـطحي اصلاح شده طراحي ميشود. كاربرد اين نوع گچ در پوششهاي سطوح بتني است</a:t>
            </a:r>
          </a:p>
        </p:txBody>
      </p:sp>
      <p:pic>
        <p:nvPicPr>
          <p:cNvPr id="20" name="Picture 19">
            <a:extLst>
              <a:ext uri="{FF2B5EF4-FFF2-40B4-BE49-F238E27FC236}">
                <a16:creationId xmlns:a16="http://schemas.microsoft.com/office/drawing/2014/main" id="{94AD498E-275C-4EA4-9ECF-660329973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09" y="4058401"/>
            <a:ext cx="3625044" cy="225927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4AB9C"/>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8" y="-4492663"/>
            <a:ext cx="12192000" cy="7550727"/>
            <a:chOff x="0" y="0"/>
            <a:chExt cx="12192000" cy="7550727"/>
          </a:xfrm>
          <a:solidFill>
            <a:srgbClr val="FFB47B"/>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24" y="-5320799"/>
            <a:ext cx="12192000" cy="7550727"/>
            <a:chOff x="0" y="0"/>
            <a:chExt cx="12192000" cy="7550727"/>
          </a:xfrm>
          <a:solidFill>
            <a:srgbClr val="FF7C6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725283"/>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3BACD0C9-5B22-4D5E-859A-C7834CE6F336}"/>
              </a:ext>
            </a:extLst>
          </p:cNvPr>
          <p:cNvSpPr txBox="1"/>
          <p:nvPr/>
        </p:nvSpPr>
        <p:spPr>
          <a:xfrm>
            <a:off x="3360900" y="2974017"/>
            <a:ext cx="8552989" cy="3785652"/>
          </a:xfrm>
          <a:prstGeom prst="rect">
            <a:avLst/>
          </a:prstGeom>
          <a:noFill/>
        </p:spPr>
        <p:txBody>
          <a:bodyPr wrap="square" rtlCol="1">
            <a:spAutoFit/>
          </a:bodyPr>
          <a:lstStyle/>
          <a:p>
            <a:pPr algn="r"/>
            <a:r>
              <a:rPr lang="fa-IR" sz="2000" b="1" dirty="0">
                <a:cs typeface="2  Nazanin" panose="00000400000000000000" pitchFamily="2" charset="-78"/>
              </a:rPr>
              <a:t>بلوك گچي</a:t>
            </a:r>
            <a:r>
              <a:rPr lang="fa-IR" sz="2000" dirty="0">
                <a:cs typeface="2  Nazanin" panose="00000400000000000000" pitchFamily="2" charset="-78"/>
              </a:rPr>
              <a:t>: بلوك گچي فرآوردهاي ساختماني است كه از گـچ سـاختماني فـرآوري شده و آب توليد ميشود. در اين بلوك ممكن است از الياف، پركننده ها، ماسه يا ساير افزودني هاي غيرزيان اور نيز استفاده گردد.</a:t>
            </a:r>
          </a:p>
          <a:p>
            <a:pPr algn="r"/>
            <a:r>
              <a:rPr lang="fa-IR" sz="2000" dirty="0">
                <a:cs typeface="2  Nazanin" panose="00000400000000000000" pitchFamily="2" charset="-78"/>
              </a:rPr>
              <a:t> بلوك گچي به شكل مكعب مستطيل، با سطوح كاملاً صـاف است. كاربرد عمده بلوك گچي در ساخت تيغه هاي غيربـاربر، يـا پوشـش مسـتقل ديـوار و محافظت ستونها، چاه آسانسور و غيره در برابر آتش مي باشد</a:t>
            </a:r>
            <a:endParaRPr lang="en-US" sz="2000" dirty="0">
              <a:cs typeface="2  Nazanin" panose="00000400000000000000" pitchFamily="2" charset="-78"/>
            </a:endParaRPr>
          </a:p>
          <a:p>
            <a:pPr algn="r"/>
            <a:r>
              <a:rPr lang="fa-IR" sz="2000" b="1" dirty="0">
                <a:cs typeface="2  Nazanin" panose="00000400000000000000" pitchFamily="2" charset="-78"/>
              </a:rPr>
              <a:t>بلوك سبك گچي </a:t>
            </a:r>
            <a:r>
              <a:rPr lang="fa-IR" sz="2000" dirty="0">
                <a:cs typeface="2  Nazanin" panose="00000400000000000000" pitchFamily="2" charset="-78"/>
              </a:rPr>
              <a:t>از گچ ساختماني صنعتي، سـبك دانـه هـا و مـواد پليمـري محلـول در آب، و آب ساخته شده و در اعضاي غيرباربر ساختماني مورداستفاده قـرار مـيگيـرد. </a:t>
            </a:r>
          </a:p>
          <a:p>
            <a:pPr algn="r"/>
            <a:r>
              <a:rPr lang="fa-IR" sz="2000" b="1" dirty="0">
                <a:cs typeface="2  Nazanin" panose="00000400000000000000" pitchFamily="2" charset="-78"/>
              </a:rPr>
              <a:t>صفحات روكشدار گچي</a:t>
            </a:r>
            <a:r>
              <a:rPr lang="fa-IR" sz="2000" dirty="0">
                <a:cs typeface="2  Nazanin" panose="00000400000000000000" pitchFamily="2" charset="-78"/>
              </a:rPr>
              <a:t>: فرآوردهاي مسـتطيل شـكل و مسـطح و متشـكل از يـك هسته گچي است كه با ورقه هاي كاغذ صنعتي (كرافت) پوشش داده شده اسـت. بـا توجـه بـه نـوع استفاده از صفحه، نوع سطوح كاغذي تغيير ميكند. هسته گچي ممكن اسـت داراي مـواد افزودنـي براي ايجاد خصوصيات عملكردي ويژه باشد.</a:t>
            </a:r>
            <a:endParaRPr lang="en-US" sz="2000" dirty="0">
              <a:cs typeface="2  Nazanin" panose="00000400000000000000" pitchFamily="2" charset="-78"/>
            </a:endParaRPr>
          </a:p>
          <a:p>
            <a:pPr algn="r"/>
            <a:r>
              <a:rPr lang="fa-IR" sz="2000" dirty="0">
                <a:cs typeface="2  Nazanin" panose="00000400000000000000" pitchFamily="2" charset="-78"/>
              </a:rPr>
              <a:t>و براي تيغه چيني خشك، ساخت سقفهاي كاذب، ديـوار جداكننـده آزاد و يـا پوشش قطعات سازه مانند ستون ها و تيرها استفاده ميشود</a:t>
            </a:r>
          </a:p>
        </p:txBody>
      </p:sp>
      <p:pic>
        <p:nvPicPr>
          <p:cNvPr id="22" name="Picture 21">
            <a:extLst>
              <a:ext uri="{FF2B5EF4-FFF2-40B4-BE49-F238E27FC236}">
                <a16:creationId xmlns:a16="http://schemas.microsoft.com/office/drawing/2014/main" id="{07DC18D4-FDF2-4391-89F5-824F51558187}"/>
              </a:ext>
            </a:extLst>
          </p:cNvPr>
          <p:cNvPicPr>
            <a:picLocks noChangeAspect="1"/>
          </p:cNvPicPr>
          <p:nvPr/>
        </p:nvPicPr>
        <p:blipFill rotWithShape="1">
          <a:blip r:embed="rId3">
            <a:extLst>
              <a:ext uri="{28A0092B-C50C-407E-A947-70E740481C1C}">
                <a14:useLocalDpi xmlns:a14="http://schemas.microsoft.com/office/drawing/2010/main" val="0"/>
              </a:ext>
            </a:extLst>
          </a:blip>
          <a:srcRect b="13891"/>
          <a:stretch/>
        </p:blipFill>
        <p:spPr>
          <a:xfrm>
            <a:off x="198474" y="3004020"/>
            <a:ext cx="3162426" cy="1812115"/>
          </a:xfrm>
          <a:prstGeom prst="rect">
            <a:avLst/>
          </a:prstGeom>
        </p:spPr>
      </p:pic>
      <p:pic>
        <p:nvPicPr>
          <p:cNvPr id="24" name="Picture 23">
            <a:extLst>
              <a:ext uri="{FF2B5EF4-FFF2-40B4-BE49-F238E27FC236}">
                <a16:creationId xmlns:a16="http://schemas.microsoft.com/office/drawing/2014/main" id="{73B763F0-6E87-41C8-A551-3604BB335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109" y="5246543"/>
            <a:ext cx="3362325" cy="1362075"/>
          </a:xfrm>
          <a:prstGeom prst="rect">
            <a:avLst/>
          </a:prstGeom>
        </p:spPr>
      </p:pic>
    </p:spTree>
    <p:extLst>
      <p:ext uri="{BB962C8B-B14F-4D97-AF65-F5344CB8AC3E}">
        <p14:creationId xmlns:p14="http://schemas.microsoft.com/office/powerpoint/2010/main" val="37184058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764478" y="3658251"/>
            <a:ext cx="7973655" cy="2923877"/>
          </a:xfrm>
          <a:prstGeom prst="rect">
            <a:avLst/>
          </a:prstGeom>
          <a:noFill/>
        </p:spPr>
        <p:txBody>
          <a:bodyPr wrap="square" rtlCol="1">
            <a:spAutoFit/>
          </a:bodyPr>
          <a:lstStyle/>
          <a:p>
            <a:pPr algn="r"/>
            <a:r>
              <a:rPr lang="fa-IR" sz="2300" dirty="0">
                <a:cs typeface="2  Nazanin" panose="00000400000000000000" pitchFamily="2" charset="-78"/>
              </a:rPr>
              <a:t>گچ ساختمانی</a:t>
            </a:r>
          </a:p>
          <a:p>
            <a:pPr algn="r"/>
            <a:r>
              <a:rPr lang="fa-IR" sz="2300" dirty="0">
                <a:cs typeface="2  Nazanin" panose="00000400000000000000" pitchFamily="2" charset="-78"/>
              </a:rPr>
              <a:t>مـواد چسـبانندة سـاختماني (چسـباننده هوايي) است كه در صورت خالص بودن سفيدرنگ است. </a:t>
            </a:r>
          </a:p>
          <a:p>
            <a:pPr algn="r"/>
            <a:r>
              <a:rPr lang="fa-IR" sz="2300" dirty="0">
                <a:cs typeface="2  Nazanin" panose="00000400000000000000" pitchFamily="2" charset="-78"/>
              </a:rPr>
              <a:t>گـچ سـاختماني از پخـتن سـنگ گـچ، در دماي كم (حدود 180 درجه سلسيوس در شرايط آزمايشگاهي)، به دست میايد</a:t>
            </a:r>
          </a:p>
          <a:p>
            <a:pPr algn="r"/>
            <a:r>
              <a:rPr lang="fa-IR" sz="2300" dirty="0">
                <a:cs typeface="2  Nazanin" panose="00000400000000000000" pitchFamily="2" charset="-78"/>
              </a:rPr>
              <a:t>گچ گيپتون يا اندود گچ ساختماني براي اندودكاري با سـختي سـطحي اصـلاح شـده، كه به ويژه براي برآورده شـدن الزامـات انـدودكاري بـا سـختي سـطحي اصلاح شده طراحي ميشود. كاربرد اين نوع گچ در پوششهاي سطوح بتني است</a:t>
            </a:r>
          </a:p>
        </p:txBody>
      </p:sp>
      <p:pic>
        <p:nvPicPr>
          <p:cNvPr id="20" name="Picture 19">
            <a:extLst>
              <a:ext uri="{FF2B5EF4-FFF2-40B4-BE49-F238E27FC236}">
                <a16:creationId xmlns:a16="http://schemas.microsoft.com/office/drawing/2014/main" id="{94AD498E-275C-4EA4-9ECF-660329973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09" y="4058401"/>
            <a:ext cx="3625044" cy="225927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4AB9C"/>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3BACD0C9-5B22-4D5E-859A-C7834CE6F336}"/>
              </a:ext>
            </a:extLst>
          </p:cNvPr>
          <p:cNvSpPr txBox="1"/>
          <p:nvPr/>
        </p:nvSpPr>
        <p:spPr>
          <a:xfrm>
            <a:off x="3638248" y="3225131"/>
            <a:ext cx="8355278" cy="3416320"/>
          </a:xfrm>
          <a:prstGeom prst="rect">
            <a:avLst/>
          </a:prstGeom>
          <a:noFill/>
        </p:spPr>
        <p:txBody>
          <a:bodyPr wrap="square" rtlCol="1">
            <a:spAutoFit/>
          </a:bodyPr>
          <a:lstStyle/>
          <a:p>
            <a:pPr algn="r"/>
            <a:r>
              <a:rPr lang="fa-IR" dirty="0">
                <a:cs typeface="B Roya" panose="00000400000000000000" pitchFamily="2" charset="-78"/>
              </a:rPr>
              <a:t>بلوك گچي: بلوك گچي فرآوردهاي ساختماني است كه از گـچ سـاختماني فـرآوري شده و آب توليد ميشود. در اين بلوك ممكن است از الياف، پركنندهها، ماسه يا ساير افزودني هاي غيرزيان اور نيز استفاده گردد.</a:t>
            </a:r>
          </a:p>
          <a:p>
            <a:pPr algn="r"/>
            <a:r>
              <a:rPr lang="fa-IR" dirty="0">
                <a:cs typeface="B Roya" panose="00000400000000000000" pitchFamily="2" charset="-78"/>
              </a:rPr>
              <a:t> بلوك گچي به شكل مكعب مستطيل، با سطوح كاملاً صـاف و داراي کام و زبانه بر روي حداقل دو لبة مخالف آن است، تا اتصال اين قطعات بر روي يكـديگر بـه آسـاني صورت پذيرد. كاربرد عمدة بلوك گچي در ساخت تيغه هاي غيربـاربر، يـا پوشـش مسـتقل ديـوار و محافظت ستونها، چاه آسانسور و غيره در برابر آتش مي باشد</a:t>
            </a:r>
            <a:endParaRPr lang="en-US" dirty="0">
              <a:cs typeface="B Roya" panose="00000400000000000000" pitchFamily="2" charset="-78"/>
            </a:endParaRPr>
          </a:p>
          <a:p>
            <a:pPr algn="r"/>
            <a:r>
              <a:rPr lang="fa-IR" dirty="0">
                <a:cs typeface="B Roya" panose="00000400000000000000" pitchFamily="2" charset="-78"/>
              </a:rPr>
              <a:t>بلوك سبك گچي از گچ ساختماني صنعتي، سـبكدانـه هـا و مـواد پليمـري محلـول در آب، و آب</a:t>
            </a:r>
          </a:p>
          <a:p>
            <a:pPr algn="r"/>
            <a:r>
              <a:rPr lang="fa-IR" dirty="0">
                <a:cs typeface="B Roya" panose="00000400000000000000" pitchFamily="2" charset="-78"/>
              </a:rPr>
              <a:t>ساخته شده و در اعضاي غيرباربر ساختماني مورداستفاده قـرار مـيگيـرد. </a:t>
            </a:r>
          </a:p>
          <a:p>
            <a:pPr algn="r"/>
            <a:r>
              <a:rPr lang="fa-IR" dirty="0">
                <a:cs typeface="B Roya" panose="00000400000000000000" pitchFamily="2" charset="-78"/>
              </a:rPr>
              <a:t>صفحات روكشدار گچي: فرآوردهاي مسـتطيل شـكل و مسـطح و متشـكل از يـك هستة گچي است كه با ورقه هاي كاغذ صنعتي (كرافت) پوشش داده شده اسـت. بـا توجـه بـه نـوع استفاده از صفحه، نوع سطوح كاغذي تغيير ميكند. هستة گچي ممكن اسـت داراي مـواد افزودنـي براي ايجاد خصوصيات عملكردي ويژه باشد.</a:t>
            </a:r>
            <a:endParaRPr lang="en-US" dirty="0">
              <a:cs typeface="B Roya" panose="00000400000000000000" pitchFamily="2" charset="-78"/>
            </a:endParaRPr>
          </a:p>
          <a:p>
            <a:pPr algn="r"/>
            <a:r>
              <a:rPr lang="fa-IR" dirty="0">
                <a:cs typeface="B Roya" panose="00000400000000000000" pitchFamily="2" charset="-78"/>
              </a:rPr>
              <a:t>و براي تيغه چيني خشك، ساخت سقفهاي كاذب، ديـوار جداكننـده آزاد و يـا پوشش قطعات سازه مانند ستونها و تيرها استفاده ميشود</a:t>
            </a:r>
          </a:p>
        </p:txBody>
      </p:sp>
      <p:pic>
        <p:nvPicPr>
          <p:cNvPr id="22" name="Picture 21">
            <a:extLst>
              <a:ext uri="{FF2B5EF4-FFF2-40B4-BE49-F238E27FC236}">
                <a16:creationId xmlns:a16="http://schemas.microsoft.com/office/drawing/2014/main" id="{07DC18D4-FDF2-4391-89F5-824F51558187}"/>
              </a:ext>
            </a:extLst>
          </p:cNvPr>
          <p:cNvPicPr>
            <a:picLocks noChangeAspect="1"/>
          </p:cNvPicPr>
          <p:nvPr/>
        </p:nvPicPr>
        <p:blipFill rotWithShape="1">
          <a:blip r:embed="rId3">
            <a:extLst>
              <a:ext uri="{28A0092B-C50C-407E-A947-70E740481C1C}">
                <a14:useLocalDpi xmlns:a14="http://schemas.microsoft.com/office/drawing/2010/main" val="0"/>
              </a:ext>
            </a:extLst>
          </a:blip>
          <a:srcRect b="13891"/>
          <a:stretch/>
        </p:blipFill>
        <p:spPr>
          <a:xfrm>
            <a:off x="198474" y="3004020"/>
            <a:ext cx="3162426" cy="1812115"/>
          </a:xfrm>
          <a:prstGeom prst="rect">
            <a:avLst/>
          </a:prstGeom>
        </p:spPr>
      </p:pic>
      <p:pic>
        <p:nvPicPr>
          <p:cNvPr id="24" name="Picture 23">
            <a:extLst>
              <a:ext uri="{FF2B5EF4-FFF2-40B4-BE49-F238E27FC236}">
                <a16:creationId xmlns:a16="http://schemas.microsoft.com/office/drawing/2014/main" id="{73B763F0-6E87-41C8-A551-3604BB335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286" y="5267670"/>
            <a:ext cx="3362325" cy="1362075"/>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48" y="9738"/>
            <a:ext cx="12192000" cy="7550727"/>
            <a:chOff x="0" y="0"/>
            <a:chExt cx="12192000" cy="7550727"/>
          </a:xfrm>
          <a:solidFill>
            <a:srgbClr val="FFB47B"/>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24" y="-5320799"/>
            <a:ext cx="12192000" cy="7550727"/>
            <a:chOff x="0" y="0"/>
            <a:chExt cx="12192000" cy="7550727"/>
          </a:xfrm>
          <a:solidFill>
            <a:srgbClr val="FF7C6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725283"/>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1" name="TextBox 20">
            <a:extLst>
              <a:ext uri="{FF2B5EF4-FFF2-40B4-BE49-F238E27FC236}">
                <a16:creationId xmlns:a16="http://schemas.microsoft.com/office/drawing/2014/main" id="{9AB07E16-CD3F-44C1-8599-FB15F77ADD1E}"/>
              </a:ext>
            </a:extLst>
          </p:cNvPr>
          <p:cNvSpPr txBox="1"/>
          <p:nvPr/>
        </p:nvSpPr>
        <p:spPr>
          <a:xfrm>
            <a:off x="3414265" y="2282976"/>
            <a:ext cx="8472419" cy="4093428"/>
          </a:xfrm>
          <a:prstGeom prst="rect">
            <a:avLst/>
          </a:prstGeom>
          <a:noFill/>
        </p:spPr>
        <p:txBody>
          <a:bodyPr wrap="square" rtlCol="1">
            <a:spAutoFit/>
          </a:bodyPr>
          <a:lstStyle/>
          <a:p>
            <a:pPr algn="r"/>
            <a:r>
              <a:rPr lang="fa-IR" sz="2000" b="1" dirty="0">
                <a:cs typeface="2  Nazanin" panose="00000400000000000000" pitchFamily="2" charset="-78"/>
              </a:rPr>
              <a:t>صفحات روكشدار گچي اليافي </a:t>
            </a:r>
            <a:r>
              <a:rPr lang="fa-IR" sz="2000" dirty="0">
                <a:cs typeface="2  Nazanin" panose="00000400000000000000" pitchFamily="2" charset="-78"/>
              </a:rPr>
              <a:t>صفحاتي از گچ ساختماني مسلح شده با الياف پخش شده هستند كه از جنس الياف ميتواند از نوع معدني يا غيرمعدني باشد. معمولا اين صـفحات بـه صـورت پيوسـته در مقياس صنعتي توليد ميشوند. </a:t>
            </a:r>
          </a:p>
          <a:p>
            <a:pPr algn="r"/>
            <a:r>
              <a:rPr lang="fa-IR" sz="2000" b="1" dirty="0">
                <a:cs typeface="2  Nazanin" panose="00000400000000000000" pitchFamily="2" charset="-78"/>
              </a:rPr>
              <a:t>صفحات روكش دار گچي مسلح شده با الياف </a:t>
            </a:r>
            <a:r>
              <a:rPr lang="fa-IR" sz="2000" dirty="0">
                <a:cs typeface="2  Nazanin" panose="00000400000000000000" pitchFamily="2" charset="-78"/>
              </a:rPr>
              <a:t>از يك هسته گچي تشكيل مـيشـوند كـه كـاملا بـه شبكه اليافي بافته يا نبافته از جنس معدني يا غيرمعدني چسبيده اسـت. ايـن صـفحات مـيتواننـد متشكل از يك يا چند لايه باشند. </a:t>
            </a:r>
          </a:p>
          <a:p>
            <a:pPr algn="r"/>
            <a:r>
              <a:rPr lang="fa-IR" sz="2000" b="1" dirty="0">
                <a:cs typeface="2  Nazanin" panose="00000400000000000000" pitchFamily="2" charset="-78"/>
              </a:rPr>
              <a:t>پنل مركب صفحات روكشدار گچي عايق حرارتي / صوتي</a:t>
            </a:r>
            <a:r>
              <a:rPr lang="fa-IR" sz="2000" dirty="0">
                <a:cs typeface="2  Nazanin" panose="00000400000000000000" pitchFamily="2" charset="-78"/>
              </a:rPr>
              <a:t>:. پنل ساخته شده از فرآورده عايق كـاري، که درون صفحات روكشدار گچي لايه گذاري شده است. اين پنل ها ممكن است داراي مواد كـاهش دهنده نفوذ بخار آب يا بدون آن باشند</a:t>
            </a:r>
          </a:p>
          <a:p>
            <a:pPr algn="r"/>
            <a:r>
              <a:rPr lang="fa-IR" sz="2000" dirty="0">
                <a:cs typeface="2  Nazanin" panose="00000400000000000000" pitchFamily="2" charset="-78"/>
              </a:rPr>
              <a:t> </a:t>
            </a:r>
            <a:r>
              <a:rPr lang="fa-IR" sz="2000" b="1" dirty="0">
                <a:cs typeface="2  Nazanin" panose="00000400000000000000" pitchFamily="2" charset="-78"/>
              </a:rPr>
              <a:t>سقف پوش هاي گچي</a:t>
            </a:r>
            <a:r>
              <a:rPr lang="fa-IR" sz="2000" dirty="0">
                <a:cs typeface="2  Nazanin" panose="00000400000000000000" pitchFamily="2" charset="-78"/>
              </a:rPr>
              <a:t>: قطعاتي پيش ساخته از گچ با لبه داخلي ماهيچه داركه قبـل از نصب بايد خشك شده باشند. ايـن قطعـات از مخلـوط گـچ، آب و مقـدار كمـي اليـاف شيشـه و افزودني هاي ديگر توليد ميشوند. كاربرد آنها در پوشش نماي سقف است. سقف پوش هاي گچي، بـا توجه به شكل و كاربرد، در انواع مشـبك بـراي تهويـه، مشـبك آكوسـتيكي و غيرمشـبك سـاخته ميشوند.</a:t>
            </a:r>
          </a:p>
        </p:txBody>
      </p:sp>
      <p:pic>
        <p:nvPicPr>
          <p:cNvPr id="25" name="Picture 24">
            <a:extLst>
              <a:ext uri="{FF2B5EF4-FFF2-40B4-BE49-F238E27FC236}">
                <a16:creationId xmlns:a16="http://schemas.microsoft.com/office/drawing/2014/main" id="{D67C48DD-04DF-40F2-A066-5681AAB8C0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5060" y="4678878"/>
            <a:ext cx="3181597" cy="1908958"/>
          </a:xfrm>
          <a:prstGeom prst="rect">
            <a:avLst/>
          </a:prstGeom>
        </p:spPr>
      </p:pic>
      <p:pic>
        <p:nvPicPr>
          <p:cNvPr id="27" name="Picture 26">
            <a:extLst>
              <a:ext uri="{FF2B5EF4-FFF2-40B4-BE49-F238E27FC236}">
                <a16:creationId xmlns:a16="http://schemas.microsoft.com/office/drawing/2014/main" id="{EE31A599-4862-4903-BD58-22F5FFDEB7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301" y="1823007"/>
            <a:ext cx="2699519" cy="2699519"/>
          </a:xfrm>
          <a:prstGeom prst="rect">
            <a:avLst/>
          </a:prstGeom>
        </p:spPr>
      </p:pic>
    </p:spTree>
    <p:extLst>
      <p:ext uri="{BB962C8B-B14F-4D97-AF65-F5344CB8AC3E}">
        <p14:creationId xmlns:p14="http://schemas.microsoft.com/office/powerpoint/2010/main" val="30578063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764478" y="3658251"/>
            <a:ext cx="7973655" cy="2923877"/>
          </a:xfrm>
          <a:prstGeom prst="rect">
            <a:avLst/>
          </a:prstGeom>
          <a:noFill/>
        </p:spPr>
        <p:txBody>
          <a:bodyPr wrap="square" rtlCol="1">
            <a:spAutoFit/>
          </a:bodyPr>
          <a:lstStyle/>
          <a:p>
            <a:pPr algn="r"/>
            <a:r>
              <a:rPr lang="fa-IR" sz="2300" dirty="0">
                <a:cs typeface="2  Nazanin" panose="00000400000000000000" pitchFamily="2" charset="-78"/>
              </a:rPr>
              <a:t>گچ ساختمانی</a:t>
            </a:r>
          </a:p>
          <a:p>
            <a:pPr algn="r"/>
            <a:r>
              <a:rPr lang="fa-IR" sz="2300" dirty="0">
                <a:cs typeface="2  Nazanin" panose="00000400000000000000" pitchFamily="2" charset="-78"/>
              </a:rPr>
              <a:t>مـواد چسـبانندة سـاختماني (چسـباننده هوايي) است كه در صورت خالص بودن سفيدرنگ است. </a:t>
            </a:r>
          </a:p>
          <a:p>
            <a:pPr algn="r"/>
            <a:r>
              <a:rPr lang="fa-IR" sz="2300" dirty="0">
                <a:cs typeface="2  Nazanin" panose="00000400000000000000" pitchFamily="2" charset="-78"/>
              </a:rPr>
              <a:t>گـچ سـاختماني از پخـتن سـنگ گـچ، در دماي كم (حدود 180 درجه سلسيوس در شرايط آزمايشگاهي)، به دست میايد</a:t>
            </a:r>
          </a:p>
          <a:p>
            <a:pPr algn="r"/>
            <a:r>
              <a:rPr lang="fa-IR" sz="2300" dirty="0">
                <a:cs typeface="2  Nazanin" panose="00000400000000000000" pitchFamily="2" charset="-78"/>
              </a:rPr>
              <a:t>گچ گيپتون يا اندود گچ ساختماني براي اندودكاري با سـختي سـطحي اصـلاح شـده، كه به ويژه براي برآورده شـدن الزامـات انـدودكاري بـا سـختي سـطحي اصلاح شده طراحي ميشود. كاربرد اين نوع گچ در پوششهاي سطوح بتني است</a:t>
            </a:r>
          </a:p>
        </p:txBody>
      </p:sp>
      <p:pic>
        <p:nvPicPr>
          <p:cNvPr id="20" name="Picture 19">
            <a:extLst>
              <a:ext uri="{FF2B5EF4-FFF2-40B4-BE49-F238E27FC236}">
                <a16:creationId xmlns:a16="http://schemas.microsoft.com/office/drawing/2014/main" id="{94AD498E-275C-4EA4-9ECF-660329973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09" y="4058401"/>
            <a:ext cx="3625044" cy="225927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4AB9C"/>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3BACD0C9-5B22-4D5E-859A-C7834CE6F336}"/>
              </a:ext>
            </a:extLst>
          </p:cNvPr>
          <p:cNvSpPr txBox="1"/>
          <p:nvPr/>
        </p:nvSpPr>
        <p:spPr>
          <a:xfrm>
            <a:off x="3638248" y="3225131"/>
            <a:ext cx="8355278" cy="3416320"/>
          </a:xfrm>
          <a:prstGeom prst="rect">
            <a:avLst/>
          </a:prstGeom>
          <a:noFill/>
        </p:spPr>
        <p:txBody>
          <a:bodyPr wrap="square" rtlCol="1">
            <a:spAutoFit/>
          </a:bodyPr>
          <a:lstStyle/>
          <a:p>
            <a:pPr algn="r"/>
            <a:r>
              <a:rPr lang="fa-IR" dirty="0">
                <a:cs typeface="B Roya" panose="00000400000000000000" pitchFamily="2" charset="-78"/>
              </a:rPr>
              <a:t>بلوك گچي: بلوك گچي فرآوردهاي ساختماني است كه از گـچ سـاختماني فـرآوري شده و آب توليد ميشود. در اين بلوك ممكن است از الياف، پركنندهها، ماسه يا ساير افزودني هاي غيرزيان اور نيز استفاده گردد.</a:t>
            </a:r>
          </a:p>
          <a:p>
            <a:pPr algn="r"/>
            <a:r>
              <a:rPr lang="fa-IR" dirty="0">
                <a:cs typeface="B Roya" panose="00000400000000000000" pitchFamily="2" charset="-78"/>
              </a:rPr>
              <a:t> بلوك گچي به شكل مكعب مستطيل، با سطوح كاملاً صـاف و داراي کام و زبانه بر روي حداقل دو لبة مخالف آن است، تا اتصال اين قطعات بر روي يكـديگر بـه آسـاني صورت پذيرد. كاربرد عمدة بلوك گچي در ساخت تيغه هاي غيربـاربر، يـا پوشـش مسـتقل ديـوار و محافظت ستونها، چاه آسانسور و غيره در برابر آتش مي باشد</a:t>
            </a:r>
            <a:endParaRPr lang="en-US" dirty="0">
              <a:cs typeface="B Roya" panose="00000400000000000000" pitchFamily="2" charset="-78"/>
            </a:endParaRPr>
          </a:p>
          <a:p>
            <a:pPr algn="r"/>
            <a:r>
              <a:rPr lang="fa-IR" dirty="0">
                <a:cs typeface="B Roya" panose="00000400000000000000" pitchFamily="2" charset="-78"/>
              </a:rPr>
              <a:t>بلوك سبك گچي از گچ ساختماني صنعتي، سـبكدانـه هـا و مـواد پليمـري محلـول در آب، و آب</a:t>
            </a:r>
          </a:p>
          <a:p>
            <a:pPr algn="r"/>
            <a:r>
              <a:rPr lang="fa-IR" dirty="0">
                <a:cs typeface="B Roya" panose="00000400000000000000" pitchFamily="2" charset="-78"/>
              </a:rPr>
              <a:t>ساخته شده و در اعضاي غيرباربر ساختماني مورداستفاده قـرار مـيگيـرد. </a:t>
            </a:r>
          </a:p>
          <a:p>
            <a:pPr algn="r"/>
            <a:r>
              <a:rPr lang="fa-IR" dirty="0">
                <a:cs typeface="B Roya" panose="00000400000000000000" pitchFamily="2" charset="-78"/>
              </a:rPr>
              <a:t>صفحات روكشدار گچي: فرآوردهاي مسـتطيل شـكل و مسـطح و متشـكل از يـك هستة گچي است كه با ورقه هاي كاغذ صنعتي (كرافت) پوشش داده شده اسـت. بـا توجـه بـه نـوع استفاده از صفحه، نوع سطوح كاغذي تغيير ميكند. هستة گچي ممكن اسـت داراي مـواد افزودنـي براي ايجاد خصوصيات عملكردي ويژه باشد.</a:t>
            </a:r>
            <a:endParaRPr lang="en-US" dirty="0">
              <a:cs typeface="B Roya" panose="00000400000000000000" pitchFamily="2" charset="-78"/>
            </a:endParaRPr>
          </a:p>
          <a:p>
            <a:pPr algn="r"/>
            <a:r>
              <a:rPr lang="fa-IR" dirty="0">
                <a:cs typeface="B Roya" panose="00000400000000000000" pitchFamily="2" charset="-78"/>
              </a:rPr>
              <a:t>و براي تيغه چيني خشك، ساخت سقفهاي كاذب، ديـوار جداكننـده آزاد و يـا پوشش قطعات سازه مانند ستونها و تيرها استفاده ميشود</a:t>
            </a:r>
          </a:p>
        </p:txBody>
      </p:sp>
      <p:pic>
        <p:nvPicPr>
          <p:cNvPr id="22" name="Picture 21">
            <a:extLst>
              <a:ext uri="{FF2B5EF4-FFF2-40B4-BE49-F238E27FC236}">
                <a16:creationId xmlns:a16="http://schemas.microsoft.com/office/drawing/2014/main" id="{07DC18D4-FDF2-4391-89F5-824F51558187}"/>
              </a:ext>
            </a:extLst>
          </p:cNvPr>
          <p:cNvPicPr>
            <a:picLocks noChangeAspect="1"/>
          </p:cNvPicPr>
          <p:nvPr/>
        </p:nvPicPr>
        <p:blipFill rotWithShape="1">
          <a:blip r:embed="rId3">
            <a:extLst>
              <a:ext uri="{28A0092B-C50C-407E-A947-70E740481C1C}">
                <a14:useLocalDpi xmlns:a14="http://schemas.microsoft.com/office/drawing/2010/main" val="0"/>
              </a:ext>
            </a:extLst>
          </a:blip>
          <a:srcRect b="13891"/>
          <a:stretch/>
        </p:blipFill>
        <p:spPr>
          <a:xfrm>
            <a:off x="198474" y="3004020"/>
            <a:ext cx="3162426" cy="1812115"/>
          </a:xfrm>
          <a:prstGeom prst="rect">
            <a:avLst/>
          </a:prstGeom>
        </p:spPr>
      </p:pic>
      <p:pic>
        <p:nvPicPr>
          <p:cNvPr id="24" name="Picture 23">
            <a:extLst>
              <a:ext uri="{FF2B5EF4-FFF2-40B4-BE49-F238E27FC236}">
                <a16:creationId xmlns:a16="http://schemas.microsoft.com/office/drawing/2014/main" id="{73B763F0-6E87-41C8-A551-3604BB335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286" y="5267670"/>
            <a:ext cx="3362325" cy="1362075"/>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48" y="9738"/>
            <a:ext cx="12192000" cy="7550727"/>
            <a:chOff x="0" y="0"/>
            <a:chExt cx="12192000" cy="7550727"/>
          </a:xfrm>
          <a:solidFill>
            <a:srgbClr val="FFB47B"/>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1" name="TextBox 20">
            <a:extLst>
              <a:ext uri="{FF2B5EF4-FFF2-40B4-BE49-F238E27FC236}">
                <a16:creationId xmlns:a16="http://schemas.microsoft.com/office/drawing/2014/main" id="{9AB07E16-CD3F-44C1-8599-FB15F77ADD1E}"/>
              </a:ext>
            </a:extLst>
          </p:cNvPr>
          <p:cNvSpPr txBox="1"/>
          <p:nvPr/>
        </p:nvSpPr>
        <p:spPr>
          <a:xfrm>
            <a:off x="3414265" y="2282976"/>
            <a:ext cx="8472419" cy="4093428"/>
          </a:xfrm>
          <a:prstGeom prst="rect">
            <a:avLst/>
          </a:prstGeom>
          <a:noFill/>
        </p:spPr>
        <p:txBody>
          <a:bodyPr wrap="square" rtlCol="1">
            <a:spAutoFit/>
          </a:bodyPr>
          <a:lstStyle/>
          <a:p>
            <a:pPr algn="r"/>
            <a:r>
              <a:rPr lang="fa-IR" sz="2000" b="1" dirty="0">
                <a:cs typeface="2  Nazanin" panose="00000400000000000000" pitchFamily="2" charset="-78"/>
              </a:rPr>
              <a:t>صفحات روكشدار گچي اليافي </a:t>
            </a:r>
            <a:r>
              <a:rPr lang="fa-IR" sz="2000" dirty="0">
                <a:cs typeface="2  Nazanin" panose="00000400000000000000" pitchFamily="2" charset="-78"/>
              </a:rPr>
              <a:t>صفحاتي از گچ ساختماني مسلح شده با الياف پخش شده هستند كه از جنس الياف ميتواند از نوع معدني يا غيرمعدني باشد. معمولا اين صـفحات بـه صـورت پيوسـته در مقياس صنعتي توليد ميشوند. </a:t>
            </a:r>
          </a:p>
          <a:p>
            <a:pPr algn="r"/>
            <a:r>
              <a:rPr lang="fa-IR" sz="2000" b="1" dirty="0">
                <a:cs typeface="2  Nazanin" panose="00000400000000000000" pitchFamily="2" charset="-78"/>
              </a:rPr>
              <a:t>صفحات روكش دار گچي مسلح شده با الياف </a:t>
            </a:r>
            <a:r>
              <a:rPr lang="fa-IR" sz="2000" dirty="0">
                <a:cs typeface="2  Nazanin" panose="00000400000000000000" pitchFamily="2" charset="-78"/>
              </a:rPr>
              <a:t>از يك هسته گچي تشكيل مـيشـوند كـه كـاملا بـه شبكه اليافي بافته يا نبافته از جنس معدني يا غيرمعدني چسبيده اسـت. ايـن صـفحات مـيتواننـد متشكل از يك يا چند لايه باشند. </a:t>
            </a:r>
          </a:p>
          <a:p>
            <a:pPr algn="r"/>
            <a:r>
              <a:rPr lang="fa-IR" sz="2000" b="1" dirty="0">
                <a:cs typeface="2  Nazanin" panose="00000400000000000000" pitchFamily="2" charset="-78"/>
              </a:rPr>
              <a:t>پنل مركب صفحات روكشدار گچي عايق حرارتي / صوتي</a:t>
            </a:r>
            <a:r>
              <a:rPr lang="fa-IR" sz="2000" dirty="0">
                <a:cs typeface="2  Nazanin" panose="00000400000000000000" pitchFamily="2" charset="-78"/>
              </a:rPr>
              <a:t>:. پنل ساخته شده از فرآورده عايقكـاري، که درون صفحات روكشدار گچي لايه گذاري شده است. اين پنل ها ممكن است داراي مواد كـاهش دهنده نفوذ بخار آب يا بدون آن باشند</a:t>
            </a:r>
          </a:p>
          <a:p>
            <a:pPr algn="r"/>
            <a:r>
              <a:rPr lang="fa-IR" sz="2000" dirty="0">
                <a:cs typeface="2  Nazanin" panose="00000400000000000000" pitchFamily="2" charset="-78"/>
              </a:rPr>
              <a:t> </a:t>
            </a:r>
            <a:r>
              <a:rPr lang="fa-IR" sz="2000" b="1" dirty="0">
                <a:cs typeface="2  Nazanin" panose="00000400000000000000" pitchFamily="2" charset="-78"/>
              </a:rPr>
              <a:t>سقف پوشهاي گچي</a:t>
            </a:r>
            <a:r>
              <a:rPr lang="fa-IR" sz="2000" dirty="0">
                <a:cs typeface="2  Nazanin" panose="00000400000000000000" pitchFamily="2" charset="-78"/>
              </a:rPr>
              <a:t>: قطعاتي پيش ساخته از گچ با لبه داخلي ماهيچهداركه قبـل از نصب بايد خشك شده باشند. ايـن قطعـات از مخلـوط گـچ، آب و مقـدار كمـي اليـاف شيشـه و افزودني هاي ديگر توليد ميشوند. كاربرد آنها در پوشش نماي سقف است. سقفپوشهاي گچي، بـا توجه به شكل و كاربرد، در انواع مشـبك بـراي تهويـه، مشـبك آكوسـتيكي و غيرمشـبك سـاخته ميشوند.</a:t>
            </a:r>
          </a:p>
        </p:txBody>
      </p:sp>
      <p:pic>
        <p:nvPicPr>
          <p:cNvPr id="25" name="Picture 24">
            <a:extLst>
              <a:ext uri="{FF2B5EF4-FFF2-40B4-BE49-F238E27FC236}">
                <a16:creationId xmlns:a16="http://schemas.microsoft.com/office/drawing/2014/main" id="{D67C48DD-04DF-40F2-A066-5681AAB8C0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5060" y="4678878"/>
            <a:ext cx="3181597" cy="1908958"/>
          </a:xfrm>
          <a:prstGeom prst="rect">
            <a:avLst/>
          </a:prstGeom>
        </p:spPr>
      </p:pic>
      <p:pic>
        <p:nvPicPr>
          <p:cNvPr id="27" name="Picture 26">
            <a:extLst>
              <a:ext uri="{FF2B5EF4-FFF2-40B4-BE49-F238E27FC236}">
                <a16:creationId xmlns:a16="http://schemas.microsoft.com/office/drawing/2014/main" id="{EE31A599-4862-4903-BD58-22F5FFDEB7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301" y="1823007"/>
            <a:ext cx="2699519" cy="269951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96" y="9738"/>
            <a:ext cx="12192000" cy="7550727"/>
            <a:chOff x="0" y="0"/>
            <a:chExt cx="12192000" cy="7550727"/>
          </a:xfrm>
          <a:solidFill>
            <a:srgbClr val="FF7C6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725283"/>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3" name="TextBox 22">
            <a:extLst>
              <a:ext uri="{FF2B5EF4-FFF2-40B4-BE49-F238E27FC236}">
                <a16:creationId xmlns:a16="http://schemas.microsoft.com/office/drawing/2014/main" id="{0F304DD7-211D-4860-B4B4-E7AC20466C62}"/>
              </a:ext>
            </a:extLst>
          </p:cNvPr>
          <p:cNvSpPr txBox="1"/>
          <p:nvPr/>
        </p:nvSpPr>
        <p:spPr>
          <a:xfrm>
            <a:off x="4297745" y="1191394"/>
            <a:ext cx="7449982" cy="5324535"/>
          </a:xfrm>
          <a:prstGeom prst="rect">
            <a:avLst/>
          </a:prstGeom>
          <a:noFill/>
        </p:spPr>
        <p:txBody>
          <a:bodyPr wrap="square" rtlCol="1">
            <a:spAutoFit/>
          </a:bodyPr>
          <a:lstStyle/>
          <a:p>
            <a:pPr algn="r"/>
            <a:r>
              <a:rPr lang="fa-IR" sz="2000" b="1" dirty="0">
                <a:cs typeface="2  Nazanin" panose="00000400000000000000" pitchFamily="2" charset="-78"/>
              </a:rPr>
              <a:t>استاندارد</a:t>
            </a:r>
          </a:p>
          <a:p>
            <a:pPr algn="r"/>
            <a:r>
              <a:rPr lang="fa-IR" sz="2000" dirty="0">
                <a:cs typeface="2  Nazanin" panose="00000400000000000000" pitchFamily="2" charset="-78"/>
              </a:rPr>
              <a:t>استفاده از ملات گچ، براي چسباندن قطعات بنايي در ديوارهاي غيرباربر مجاز است در صورتي كه رطوبت نسبي هوا بيش از 60 درصد باشد، بايـد از گـچ هـاي اصـلاح شده (پايدار در برابر رطوبت) استفاده شود</a:t>
            </a:r>
          </a:p>
          <a:p>
            <a:pPr algn="r"/>
            <a:r>
              <a:rPr lang="fa-IR" sz="2000" b="1" dirty="0">
                <a:cs typeface="2  Nazanin" panose="00000400000000000000" pitchFamily="2" charset="-78"/>
              </a:rPr>
              <a:t>ازمایش ها</a:t>
            </a:r>
          </a:p>
          <a:p>
            <a:pPr algn="r"/>
            <a:r>
              <a:rPr lang="fa-IR" sz="2000" dirty="0">
                <a:cs typeface="2  Nazanin" panose="00000400000000000000" pitchFamily="2" charset="-78"/>
              </a:rPr>
              <a:t>ازمایش شیمیایی گچ شامل تعیین اندازگیری سـيليس و مـواد نـامحلول، انـدازه گيـري</a:t>
            </a:r>
          </a:p>
          <a:p>
            <a:pPr algn="r"/>
            <a:r>
              <a:rPr lang="fa-IR" sz="2000" dirty="0">
                <a:cs typeface="2  Nazanin" panose="00000400000000000000" pitchFamily="2" charset="-78"/>
              </a:rPr>
              <a:t>اكسيدهاي آهن و آلومينيوم، اندازهگيري اكسيد كلسيم، اندازهگيري اكسـيد منيـزيم، انـدازهگيـري تري اكسيد گوگرد، اندازهگيري نمكهاي محلول سـديم و پتاسـيم می باشد</a:t>
            </a:r>
            <a:endParaRPr lang="en-US" sz="2000" dirty="0">
              <a:cs typeface="2  Nazanin" panose="00000400000000000000" pitchFamily="2" charset="-78"/>
            </a:endParaRPr>
          </a:p>
          <a:p>
            <a:pPr algn="r"/>
            <a:r>
              <a:rPr lang="en-US" sz="2000" dirty="0">
                <a:cs typeface="2  Nazanin" panose="00000400000000000000" pitchFamily="2" charset="-78"/>
              </a:rPr>
              <a:t> </a:t>
            </a:r>
            <a:endParaRPr lang="fa-IR" sz="2000" dirty="0">
              <a:cs typeface="2  Nazanin" panose="00000400000000000000" pitchFamily="2" charset="-78"/>
            </a:endParaRPr>
          </a:p>
          <a:p>
            <a:pPr algn="r"/>
            <a:r>
              <a:rPr lang="fa-IR" sz="2000" dirty="0">
                <a:cs typeface="2  Nazanin" panose="00000400000000000000" pitchFamily="2" charset="-78"/>
              </a:rPr>
              <a:t>ازمایش فیزیکی شامل تعيين نرمي، اندازهگيري غلظت نرمال با استفاده از دستگاه ويكات اصلاح شده، اندازهگيري زمان گيرش، اندازهگيري مقاومت فشـاري، انـدازهگيـري مقاومت خمشي، اندازهگيري چگالي می باشد</a:t>
            </a:r>
            <a:endParaRPr lang="en-US" sz="2000" dirty="0">
              <a:cs typeface="2  Nazanin" panose="00000400000000000000" pitchFamily="2" charset="-78"/>
            </a:endParaRPr>
          </a:p>
          <a:p>
            <a:pPr algn="r"/>
            <a:endParaRPr lang="en-US" sz="2000" dirty="0">
              <a:cs typeface="2  Nazanin" panose="00000400000000000000" pitchFamily="2" charset="-78"/>
            </a:endParaRPr>
          </a:p>
          <a:p>
            <a:pPr algn="r"/>
            <a:r>
              <a:rPr lang="fa-IR" sz="2000" dirty="0">
                <a:cs typeface="2  Nazanin" panose="00000400000000000000" pitchFamily="2" charset="-78"/>
              </a:rPr>
              <a:t>ازمایش بلوک گچی شامل، تخـت بـودن بلـوكهـاي گچـي،چگالي خشك و رواداري، جرم سطحي بلوكهاي گچي و رواداري، مقاومت خمشي، مقدار رطوبت می باشد</a:t>
            </a:r>
          </a:p>
          <a:p>
            <a:pPr algn="r"/>
            <a:r>
              <a:rPr lang="fa-IR" sz="2000" dirty="0">
                <a:cs typeface="2  Nazanin" panose="00000400000000000000" pitchFamily="2" charset="-78"/>
              </a:rPr>
              <a:t>ازمایش های سقف پوشش گچی تعیین، چگالي ، جرم سـطحي ، مقاومـت خمشي، ضريب جذب صوت سقف پوش هاي آكوستيكي می باشد</a:t>
            </a:r>
          </a:p>
        </p:txBody>
      </p:sp>
      <p:pic>
        <p:nvPicPr>
          <p:cNvPr id="28" name="Picture 27">
            <a:extLst>
              <a:ext uri="{FF2B5EF4-FFF2-40B4-BE49-F238E27FC236}">
                <a16:creationId xmlns:a16="http://schemas.microsoft.com/office/drawing/2014/main" id="{15830CB8-0552-4BCA-A36F-67A7068EB60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6394" y="1049784"/>
            <a:ext cx="4061537" cy="2581977"/>
          </a:xfrm>
          <a:prstGeom prst="rect">
            <a:avLst/>
          </a:prstGeom>
        </p:spPr>
      </p:pic>
      <p:pic>
        <p:nvPicPr>
          <p:cNvPr id="30" name="Picture 29">
            <a:extLst>
              <a:ext uri="{FF2B5EF4-FFF2-40B4-BE49-F238E27FC236}">
                <a16:creationId xmlns:a16="http://schemas.microsoft.com/office/drawing/2014/main" id="{633C2B01-5E23-4221-B73B-EC31B5E2E1B4}"/>
              </a:ext>
            </a:extLst>
          </p:cNvPr>
          <p:cNvPicPr>
            <a:picLocks noChangeAspect="1"/>
          </p:cNvPicPr>
          <p:nvPr/>
        </p:nvPicPr>
        <p:blipFill rotWithShape="1">
          <a:blip r:embed="rId8">
            <a:extLst>
              <a:ext uri="{28A0092B-C50C-407E-A947-70E740481C1C}">
                <a14:useLocalDpi xmlns:a14="http://schemas.microsoft.com/office/drawing/2010/main" val="0"/>
              </a:ext>
            </a:extLst>
          </a:blip>
          <a:srcRect t="10150" r="14253"/>
          <a:stretch/>
        </p:blipFill>
        <p:spPr>
          <a:xfrm>
            <a:off x="196286" y="4095464"/>
            <a:ext cx="4120312" cy="2437292"/>
          </a:xfrm>
          <a:prstGeom prst="rect">
            <a:avLst/>
          </a:prstGeom>
        </p:spPr>
      </p:pic>
    </p:spTree>
    <p:extLst>
      <p:ext uri="{BB962C8B-B14F-4D97-AF65-F5344CB8AC3E}">
        <p14:creationId xmlns:p14="http://schemas.microsoft.com/office/powerpoint/2010/main" val="41496623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2174A2-2DB1-44FA-89F1-7DB2B31F54E6}"/>
              </a:ext>
            </a:extLst>
          </p:cNvPr>
          <p:cNvSpPr txBox="1"/>
          <p:nvPr/>
        </p:nvSpPr>
        <p:spPr>
          <a:xfrm>
            <a:off x="3764478" y="3658251"/>
            <a:ext cx="7973655" cy="2923877"/>
          </a:xfrm>
          <a:prstGeom prst="rect">
            <a:avLst/>
          </a:prstGeom>
          <a:noFill/>
        </p:spPr>
        <p:txBody>
          <a:bodyPr wrap="square" rtlCol="1">
            <a:spAutoFit/>
          </a:bodyPr>
          <a:lstStyle/>
          <a:p>
            <a:pPr algn="r"/>
            <a:r>
              <a:rPr lang="fa-IR" sz="2300" dirty="0">
                <a:cs typeface="2  Nazanin" panose="00000400000000000000" pitchFamily="2" charset="-78"/>
              </a:rPr>
              <a:t>گچ ساختمانی</a:t>
            </a:r>
          </a:p>
          <a:p>
            <a:pPr algn="r"/>
            <a:r>
              <a:rPr lang="fa-IR" sz="2300" dirty="0">
                <a:cs typeface="2  Nazanin" panose="00000400000000000000" pitchFamily="2" charset="-78"/>
              </a:rPr>
              <a:t>مـواد چسـبانندة سـاختماني (چسـباننده هوايي) است كه در صورت خالص بودن سفيدرنگ است. </a:t>
            </a:r>
          </a:p>
          <a:p>
            <a:pPr algn="r"/>
            <a:r>
              <a:rPr lang="fa-IR" sz="2300" dirty="0">
                <a:cs typeface="2  Nazanin" panose="00000400000000000000" pitchFamily="2" charset="-78"/>
              </a:rPr>
              <a:t>گـچ سـاختماني از پخـتن سـنگ گـچ، در دماي كم (حدود 180 درجه سلسيوس در شرايط آزمايشگاهي)، به دست میايد</a:t>
            </a:r>
          </a:p>
          <a:p>
            <a:pPr algn="r"/>
            <a:r>
              <a:rPr lang="fa-IR" sz="2300" dirty="0">
                <a:cs typeface="2  Nazanin" panose="00000400000000000000" pitchFamily="2" charset="-78"/>
              </a:rPr>
              <a:t>گچ گيپتون يا اندود گچ ساختماني براي اندودكاري با سـختي سـطحي اصـلاح شـده، كه به ويژه براي برآورده شـدن الزامـات انـدودكاري بـا سـختي سـطحي اصلاح شده طراحي ميشود. كاربرد اين نوع گچ در پوششهاي سطوح بتني است</a:t>
            </a:r>
          </a:p>
        </p:txBody>
      </p:sp>
      <p:pic>
        <p:nvPicPr>
          <p:cNvPr id="20" name="Picture 19">
            <a:extLst>
              <a:ext uri="{FF2B5EF4-FFF2-40B4-BE49-F238E27FC236}">
                <a16:creationId xmlns:a16="http://schemas.microsoft.com/office/drawing/2014/main" id="{94AD498E-275C-4EA4-9ECF-6603299733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109" y="4058401"/>
            <a:ext cx="3625044" cy="225927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4AB9C"/>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3BACD0C9-5B22-4D5E-859A-C7834CE6F336}"/>
              </a:ext>
            </a:extLst>
          </p:cNvPr>
          <p:cNvSpPr txBox="1"/>
          <p:nvPr/>
        </p:nvSpPr>
        <p:spPr>
          <a:xfrm>
            <a:off x="3638248" y="3225131"/>
            <a:ext cx="8355278" cy="3416320"/>
          </a:xfrm>
          <a:prstGeom prst="rect">
            <a:avLst/>
          </a:prstGeom>
          <a:noFill/>
        </p:spPr>
        <p:txBody>
          <a:bodyPr wrap="square" rtlCol="1">
            <a:spAutoFit/>
          </a:bodyPr>
          <a:lstStyle/>
          <a:p>
            <a:pPr algn="r"/>
            <a:r>
              <a:rPr lang="fa-IR" dirty="0">
                <a:cs typeface="B Roya" panose="00000400000000000000" pitchFamily="2" charset="-78"/>
              </a:rPr>
              <a:t>بلوك گچي: بلوك گچي فرآوردهاي ساختماني است كه از گـچ سـاختماني فـرآوري شده و آب توليد ميشود. در اين بلوك ممكن است از الياف، پركنندهها، ماسه يا ساير افزودني هاي غيرزيان اور نيز استفاده گردد.</a:t>
            </a:r>
          </a:p>
          <a:p>
            <a:pPr algn="r"/>
            <a:r>
              <a:rPr lang="fa-IR" dirty="0">
                <a:cs typeface="B Roya" panose="00000400000000000000" pitchFamily="2" charset="-78"/>
              </a:rPr>
              <a:t> بلوك گچي به شكل مكعب مستطيل، با سطوح كاملاً صـاف و داراي کام و زبانه بر روي حداقل دو لبة مخالف آن است، تا اتصال اين قطعات بر روي يكـديگر بـه آسـاني صورت پذيرد. كاربرد عمدة بلوك گچي در ساخت تيغه هاي غيربـاربر، يـا پوشـش مسـتقل ديـوار و محافظت ستونها، چاه آسانسور و غيره در برابر آتش مي باشد</a:t>
            </a:r>
            <a:endParaRPr lang="en-US" dirty="0">
              <a:cs typeface="B Roya" panose="00000400000000000000" pitchFamily="2" charset="-78"/>
            </a:endParaRPr>
          </a:p>
          <a:p>
            <a:pPr algn="r"/>
            <a:r>
              <a:rPr lang="fa-IR" dirty="0">
                <a:cs typeface="B Roya" panose="00000400000000000000" pitchFamily="2" charset="-78"/>
              </a:rPr>
              <a:t>بلوك سبك گچي از گچ ساختماني صنعتي، سـبكدانـه هـا و مـواد پليمـري محلـول در آب، و آب</a:t>
            </a:r>
          </a:p>
          <a:p>
            <a:pPr algn="r"/>
            <a:r>
              <a:rPr lang="fa-IR" dirty="0">
                <a:cs typeface="B Roya" panose="00000400000000000000" pitchFamily="2" charset="-78"/>
              </a:rPr>
              <a:t>ساخته شده و در اعضاي غيرباربر ساختماني مورداستفاده قـرار مـيگيـرد. </a:t>
            </a:r>
          </a:p>
          <a:p>
            <a:pPr algn="r"/>
            <a:r>
              <a:rPr lang="fa-IR" dirty="0">
                <a:cs typeface="B Roya" panose="00000400000000000000" pitchFamily="2" charset="-78"/>
              </a:rPr>
              <a:t>صفحات روكشدار گچي: فرآوردهاي مسـتطيل شـكل و مسـطح و متشـكل از يـك هستة گچي است كه با ورقه هاي كاغذ صنعتي (كرافت) پوشش داده شده اسـت. بـا توجـه بـه نـوع استفاده از صفحه، نوع سطوح كاغذي تغيير ميكند. هستة گچي ممكن اسـت داراي مـواد افزودنـي براي ايجاد خصوصيات عملكردي ويژه باشد.</a:t>
            </a:r>
            <a:endParaRPr lang="en-US" dirty="0">
              <a:cs typeface="B Roya" panose="00000400000000000000" pitchFamily="2" charset="-78"/>
            </a:endParaRPr>
          </a:p>
          <a:p>
            <a:pPr algn="r"/>
            <a:r>
              <a:rPr lang="fa-IR" dirty="0">
                <a:cs typeface="B Roya" panose="00000400000000000000" pitchFamily="2" charset="-78"/>
              </a:rPr>
              <a:t>و براي تيغه چيني خشك، ساخت سقفهاي كاذب، ديـوار جداكننـده آزاد و يـا پوشش قطعات سازه مانند ستونها و تيرها استفاده ميشود</a:t>
            </a:r>
          </a:p>
        </p:txBody>
      </p:sp>
      <p:pic>
        <p:nvPicPr>
          <p:cNvPr id="22" name="Picture 21">
            <a:extLst>
              <a:ext uri="{FF2B5EF4-FFF2-40B4-BE49-F238E27FC236}">
                <a16:creationId xmlns:a16="http://schemas.microsoft.com/office/drawing/2014/main" id="{07DC18D4-FDF2-4391-89F5-824F51558187}"/>
              </a:ext>
            </a:extLst>
          </p:cNvPr>
          <p:cNvPicPr>
            <a:picLocks noChangeAspect="1"/>
          </p:cNvPicPr>
          <p:nvPr/>
        </p:nvPicPr>
        <p:blipFill rotWithShape="1">
          <a:blip r:embed="rId3">
            <a:extLst>
              <a:ext uri="{28A0092B-C50C-407E-A947-70E740481C1C}">
                <a14:useLocalDpi xmlns:a14="http://schemas.microsoft.com/office/drawing/2010/main" val="0"/>
              </a:ext>
            </a:extLst>
          </a:blip>
          <a:srcRect b="13891"/>
          <a:stretch/>
        </p:blipFill>
        <p:spPr>
          <a:xfrm>
            <a:off x="198474" y="3004020"/>
            <a:ext cx="3162426" cy="1812115"/>
          </a:xfrm>
          <a:prstGeom prst="rect">
            <a:avLst/>
          </a:prstGeom>
        </p:spPr>
      </p:pic>
      <p:pic>
        <p:nvPicPr>
          <p:cNvPr id="24" name="Picture 23">
            <a:extLst>
              <a:ext uri="{FF2B5EF4-FFF2-40B4-BE49-F238E27FC236}">
                <a16:creationId xmlns:a16="http://schemas.microsoft.com/office/drawing/2014/main" id="{73B763F0-6E87-41C8-A551-3604BB3350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6286" y="5267670"/>
            <a:ext cx="3362325" cy="1362075"/>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48" y="9738"/>
            <a:ext cx="12192000" cy="7550727"/>
            <a:chOff x="0" y="0"/>
            <a:chExt cx="12192000" cy="7550727"/>
          </a:xfrm>
          <a:solidFill>
            <a:srgbClr val="FFB47B"/>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1" name="TextBox 20">
            <a:extLst>
              <a:ext uri="{FF2B5EF4-FFF2-40B4-BE49-F238E27FC236}">
                <a16:creationId xmlns:a16="http://schemas.microsoft.com/office/drawing/2014/main" id="{9AB07E16-CD3F-44C1-8599-FB15F77ADD1E}"/>
              </a:ext>
            </a:extLst>
          </p:cNvPr>
          <p:cNvSpPr txBox="1"/>
          <p:nvPr/>
        </p:nvSpPr>
        <p:spPr>
          <a:xfrm>
            <a:off x="3414265" y="2282976"/>
            <a:ext cx="8472419" cy="4093428"/>
          </a:xfrm>
          <a:prstGeom prst="rect">
            <a:avLst/>
          </a:prstGeom>
          <a:noFill/>
        </p:spPr>
        <p:txBody>
          <a:bodyPr wrap="square" rtlCol="1">
            <a:spAutoFit/>
          </a:bodyPr>
          <a:lstStyle/>
          <a:p>
            <a:pPr algn="r"/>
            <a:r>
              <a:rPr lang="fa-IR" sz="2000" b="1" dirty="0">
                <a:cs typeface="2  Nazanin" panose="00000400000000000000" pitchFamily="2" charset="-78"/>
              </a:rPr>
              <a:t>صفحات روكشدار گچي اليافي </a:t>
            </a:r>
            <a:r>
              <a:rPr lang="fa-IR" sz="2000" dirty="0">
                <a:cs typeface="2  Nazanin" panose="00000400000000000000" pitchFamily="2" charset="-78"/>
              </a:rPr>
              <a:t>صفحاتي از گچ ساختماني مسلح شده با الياف پخش شده هستند كه از جنس الياف ميتواند از نوع معدني يا غيرمعدني باشد. معمولا اين صـفحات بـه صـورت پيوسـته در مقياس صنعتي توليد ميشوند. </a:t>
            </a:r>
          </a:p>
          <a:p>
            <a:pPr algn="r"/>
            <a:r>
              <a:rPr lang="fa-IR" sz="2000" b="1" dirty="0">
                <a:cs typeface="2  Nazanin" panose="00000400000000000000" pitchFamily="2" charset="-78"/>
              </a:rPr>
              <a:t>صفحات روكش دار گچي مسلح شده با الياف </a:t>
            </a:r>
            <a:r>
              <a:rPr lang="fa-IR" sz="2000" dirty="0">
                <a:cs typeface="2  Nazanin" panose="00000400000000000000" pitchFamily="2" charset="-78"/>
              </a:rPr>
              <a:t>از يك هسته گچي تشكيل مـيشـوند كـه كـاملا بـه شبكه اليافي بافته يا نبافته از جنس معدني يا غيرمعدني چسبيده اسـت. ايـن صـفحات مـيتواننـد متشكل از يك يا چند لايه باشند. </a:t>
            </a:r>
          </a:p>
          <a:p>
            <a:pPr algn="r"/>
            <a:r>
              <a:rPr lang="fa-IR" sz="2000" b="1" dirty="0">
                <a:cs typeface="2  Nazanin" panose="00000400000000000000" pitchFamily="2" charset="-78"/>
              </a:rPr>
              <a:t>پنل مركب صفحات روكشدار گچي عايق حرارتي / صوتي</a:t>
            </a:r>
            <a:r>
              <a:rPr lang="fa-IR" sz="2000" dirty="0">
                <a:cs typeface="2  Nazanin" panose="00000400000000000000" pitchFamily="2" charset="-78"/>
              </a:rPr>
              <a:t>:. پنل ساخته شده از فرآورده عايقكـاري، که درون صفحات روكشدار گچي لايه گذاري شده است. اين پنل ها ممكن است داراي مواد كـاهش دهنده نفوذ بخار آب يا بدون آن باشند</a:t>
            </a:r>
          </a:p>
          <a:p>
            <a:pPr algn="r"/>
            <a:r>
              <a:rPr lang="fa-IR" sz="2000" dirty="0">
                <a:cs typeface="2  Nazanin" panose="00000400000000000000" pitchFamily="2" charset="-78"/>
              </a:rPr>
              <a:t> </a:t>
            </a:r>
            <a:r>
              <a:rPr lang="fa-IR" sz="2000" b="1" dirty="0">
                <a:cs typeface="2  Nazanin" panose="00000400000000000000" pitchFamily="2" charset="-78"/>
              </a:rPr>
              <a:t>سقف پوشهاي گچي</a:t>
            </a:r>
            <a:r>
              <a:rPr lang="fa-IR" sz="2000" dirty="0">
                <a:cs typeface="2  Nazanin" panose="00000400000000000000" pitchFamily="2" charset="-78"/>
              </a:rPr>
              <a:t>: قطعاتي پيش ساخته از گچ با لبه داخلي ماهيچهداركه قبـل از نصب بايد خشك شده باشند. ايـن قطعـات از مخلـوط گـچ، آب و مقـدار كمـي اليـاف شيشـه و افزودني هاي ديگر توليد ميشوند. كاربرد آنها در پوشش نماي سقف است. سقفپوشهاي گچي، بـا توجه به شكل و كاربرد، در انواع مشـبك بـراي تهويـه، مشـبك آكوسـتيكي و غيرمشـبك سـاخته ميشوند.</a:t>
            </a:r>
          </a:p>
        </p:txBody>
      </p:sp>
      <p:pic>
        <p:nvPicPr>
          <p:cNvPr id="25" name="Picture 24">
            <a:extLst>
              <a:ext uri="{FF2B5EF4-FFF2-40B4-BE49-F238E27FC236}">
                <a16:creationId xmlns:a16="http://schemas.microsoft.com/office/drawing/2014/main" id="{D67C48DD-04DF-40F2-A066-5681AAB8C01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5060" y="4678878"/>
            <a:ext cx="3181597" cy="1908958"/>
          </a:xfrm>
          <a:prstGeom prst="rect">
            <a:avLst/>
          </a:prstGeom>
        </p:spPr>
      </p:pic>
      <p:pic>
        <p:nvPicPr>
          <p:cNvPr id="27" name="Picture 26">
            <a:extLst>
              <a:ext uri="{FF2B5EF4-FFF2-40B4-BE49-F238E27FC236}">
                <a16:creationId xmlns:a16="http://schemas.microsoft.com/office/drawing/2014/main" id="{EE31A599-4862-4903-BD58-22F5FFDEB7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8301" y="1823007"/>
            <a:ext cx="2699519" cy="269951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96" y="9738"/>
            <a:ext cx="12192000" cy="7550727"/>
            <a:chOff x="0" y="0"/>
            <a:chExt cx="12192000" cy="7550727"/>
          </a:xfrm>
          <a:solidFill>
            <a:srgbClr val="FF7C6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3" name="TextBox 22">
            <a:extLst>
              <a:ext uri="{FF2B5EF4-FFF2-40B4-BE49-F238E27FC236}">
                <a16:creationId xmlns:a16="http://schemas.microsoft.com/office/drawing/2014/main" id="{0F304DD7-211D-4860-B4B4-E7AC20466C62}"/>
              </a:ext>
            </a:extLst>
          </p:cNvPr>
          <p:cNvSpPr txBox="1"/>
          <p:nvPr/>
        </p:nvSpPr>
        <p:spPr>
          <a:xfrm>
            <a:off x="4105056" y="1233905"/>
            <a:ext cx="7449982" cy="5632311"/>
          </a:xfrm>
          <a:prstGeom prst="rect">
            <a:avLst/>
          </a:prstGeom>
          <a:noFill/>
        </p:spPr>
        <p:txBody>
          <a:bodyPr wrap="square" rtlCol="1">
            <a:spAutoFit/>
          </a:bodyPr>
          <a:lstStyle/>
          <a:p>
            <a:pPr algn="r"/>
            <a:r>
              <a:rPr lang="fa-IR" sz="2000" b="1" dirty="0">
                <a:cs typeface="2  Nazanin" panose="00000400000000000000" pitchFamily="2" charset="-78"/>
              </a:rPr>
              <a:t>استاندارد</a:t>
            </a:r>
          </a:p>
          <a:p>
            <a:pPr algn="r"/>
            <a:r>
              <a:rPr lang="fa-IR" sz="2000" dirty="0">
                <a:cs typeface="2  Nazanin" panose="00000400000000000000" pitchFamily="2" charset="-78"/>
              </a:rPr>
              <a:t>استفاده از ملات گچ، براي چسباندن قطعات بنايي در ديوارهاي غيرباربر مجاز است در صورتي كه رطوبت نسبي هوا بيش از 60 درصد باشد، بايـد از گـچهـاي اصـلاح شده (پايدار در برابر رطوبت) استفاده شود</a:t>
            </a:r>
          </a:p>
          <a:p>
            <a:pPr algn="r"/>
            <a:r>
              <a:rPr lang="fa-IR" sz="2000" b="1" dirty="0">
                <a:cs typeface="2  Nazanin" panose="00000400000000000000" pitchFamily="2" charset="-78"/>
              </a:rPr>
              <a:t>ازمایش ها</a:t>
            </a:r>
          </a:p>
          <a:p>
            <a:pPr algn="r"/>
            <a:r>
              <a:rPr lang="fa-IR" sz="2000" dirty="0">
                <a:cs typeface="2  Nazanin" panose="00000400000000000000" pitchFamily="2" charset="-78"/>
              </a:rPr>
              <a:t>ازمایش شیمیایی گچ شامل تعیین اندازگیری سـيليس و مـواد نـامحلول، انـدازهگيـري</a:t>
            </a:r>
          </a:p>
          <a:p>
            <a:pPr algn="r"/>
            <a:r>
              <a:rPr lang="fa-IR" sz="2000" dirty="0">
                <a:cs typeface="2  Nazanin" panose="00000400000000000000" pitchFamily="2" charset="-78"/>
              </a:rPr>
              <a:t>اكسيدهاي آهن و آلومينيوم، اندازهگيري اكسيد كلسيم، اندازهگيري اكسـيد منيـزيم، انـدازهگيـري تري اكسيد گوگرد، اندازهگيري نمكهاي محلول سـديم و پتاسـيم می باشد</a:t>
            </a:r>
            <a:r>
              <a:rPr lang="en-US" sz="2000" dirty="0">
                <a:cs typeface="2  Nazanin" panose="00000400000000000000" pitchFamily="2" charset="-78"/>
              </a:rPr>
              <a:t> </a:t>
            </a:r>
            <a:endParaRPr lang="fa-IR" sz="2000" dirty="0">
              <a:cs typeface="2  Nazanin" panose="00000400000000000000" pitchFamily="2" charset="-78"/>
            </a:endParaRPr>
          </a:p>
          <a:p>
            <a:pPr algn="r"/>
            <a:r>
              <a:rPr lang="fa-IR" sz="2000" dirty="0">
                <a:cs typeface="2  Nazanin" panose="00000400000000000000" pitchFamily="2" charset="-78"/>
              </a:rPr>
              <a:t>ازمایش فیزیکی شام تعيين نرمي، اندازهگيري غلظت نرمال با استفاده از دستگاه ويكات اصلاح شده، اندازهگيري زمان گيرش، اندازهگيري مقاومت فشـاري، انـدازهگيـري مقاومت خمشي، اندازهگيري چگالي می باشد</a:t>
            </a:r>
            <a:endParaRPr lang="en-US" sz="2000" dirty="0">
              <a:cs typeface="2  Nazanin" panose="00000400000000000000" pitchFamily="2" charset="-78"/>
            </a:endParaRPr>
          </a:p>
          <a:p>
            <a:pPr algn="r"/>
            <a:r>
              <a:rPr lang="fa-IR" sz="2000" dirty="0">
                <a:cs typeface="2  Nazanin" panose="00000400000000000000" pitchFamily="2" charset="-78"/>
              </a:rPr>
              <a:t>ازمایش بلوک گچی شامل، تخـت بـودن بلـوكهـاي گچـي،چگالي خشك و رواداري، جرم سطحي بلوكهاي گچي و رواداري، مقاومت خمشي، مقدار رطوبت می باشد</a:t>
            </a:r>
          </a:p>
          <a:p>
            <a:pPr algn="r"/>
            <a:r>
              <a:rPr lang="fa-IR" sz="2000" dirty="0">
                <a:cs typeface="2  Nazanin" panose="00000400000000000000" pitchFamily="2" charset="-78"/>
              </a:rPr>
              <a:t>ازمایش های سقف پوشش گچی تعیین، چگالي ، جرم سـطحي ، مقاومـت خمشي، ضريب جذب صوت سقف پوشهاي آكوستيكي می باشد</a:t>
            </a:r>
          </a:p>
          <a:p>
            <a:pPr algn="r"/>
            <a:r>
              <a:rPr lang="fa-IR" sz="2000" b="1" dirty="0">
                <a:cs typeface="2  Nazanin" panose="00000400000000000000" pitchFamily="2" charset="-78"/>
              </a:rPr>
              <a:t>ایمینی</a:t>
            </a:r>
          </a:p>
          <a:p>
            <a:pPr algn="r"/>
            <a:r>
              <a:rPr lang="fa-IR" sz="2000" dirty="0">
                <a:cs typeface="2  Nazanin" panose="00000400000000000000" pitchFamily="2" charset="-78"/>
              </a:rPr>
              <a:t>استفاده از كلاه ايمني، عينك و نقابهاي حفاظتي، كفـش و پـوتين حفـاظتي، دسـتكش، ماسـك حفاظتي و لباسهاي ايمني براي كارگران الزامي است</a:t>
            </a:r>
          </a:p>
        </p:txBody>
      </p:sp>
      <p:pic>
        <p:nvPicPr>
          <p:cNvPr id="28" name="Picture 27">
            <a:extLst>
              <a:ext uri="{FF2B5EF4-FFF2-40B4-BE49-F238E27FC236}">
                <a16:creationId xmlns:a16="http://schemas.microsoft.com/office/drawing/2014/main" id="{15830CB8-0552-4BCA-A36F-67A7068EB60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6394" y="1049784"/>
            <a:ext cx="4061537" cy="2581977"/>
          </a:xfrm>
          <a:prstGeom prst="rect">
            <a:avLst/>
          </a:prstGeom>
        </p:spPr>
      </p:pic>
      <p:pic>
        <p:nvPicPr>
          <p:cNvPr id="30" name="Picture 29">
            <a:extLst>
              <a:ext uri="{FF2B5EF4-FFF2-40B4-BE49-F238E27FC236}">
                <a16:creationId xmlns:a16="http://schemas.microsoft.com/office/drawing/2014/main" id="{633C2B01-5E23-4221-B73B-EC31B5E2E1B4}"/>
              </a:ext>
            </a:extLst>
          </p:cNvPr>
          <p:cNvPicPr>
            <a:picLocks noChangeAspect="1"/>
          </p:cNvPicPr>
          <p:nvPr/>
        </p:nvPicPr>
        <p:blipFill rotWithShape="1">
          <a:blip r:embed="rId8">
            <a:extLst>
              <a:ext uri="{28A0092B-C50C-407E-A947-70E740481C1C}">
                <a14:useLocalDpi xmlns:a14="http://schemas.microsoft.com/office/drawing/2010/main" val="0"/>
              </a:ext>
            </a:extLst>
          </a:blip>
          <a:srcRect t="10150" r="14253"/>
          <a:stretch/>
        </p:blipFill>
        <p:spPr>
          <a:xfrm>
            <a:off x="196286" y="4095464"/>
            <a:ext cx="4120312" cy="2437292"/>
          </a:xfrm>
          <a:prstGeom prst="rect">
            <a:avLst/>
          </a:prstGeom>
        </p:spPr>
      </p:pic>
      <p:grpSp>
        <p:nvGrpSpPr>
          <p:cNvPr id="16" name="Group 15">
            <a:extLst>
              <a:ext uri="{FF2B5EF4-FFF2-40B4-BE49-F238E27FC236}">
                <a16:creationId xmlns:a16="http://schemas.microsoft.com/office/drawing/2014/main" id="{F5CD2D5A-83F7-4113-8244-4BCEF4D825AB}"/>
              </a:ext>
            </a:extLst>
          </p:cNvPr>
          <p:cNvGrpSpPr/>
          <p:nvPr/>
        </p:nvGrpSpPr>
        <p:grpSpPr>
          <a:xfrm>
            <a:off x="0" y="-6275"/>
            <a:ext cx="12192000" cy="7550727"/>
            <a:chOff x="0" y="0"/>
            <a:chExt cx="12192000" cy="7550727"/>
          </a:xfrm>
          <a:solidFill>
            <a:srgbClr val="725283"/>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6" name="TextBox 25">
            <a:extLst>
              <a:ext uri="{FF2B5EF4-FFF2-40B4-BE49-F238E27FC236}">
                <a16:creationId xmlns:a16="http://schemas.microsoft.com/office/drawing/2014/main" id="{C32EC5D3-3184-4B1F-9B20-FD2C7AE35DF1}"/>
              </a:ext>
            </a:extLst>
          </p:cNvPr>
          <p:cNvSpPr txBox="1"/>
          <p:nvPr/>
        </p:nvSpPr>
        <p:spPr>
          <a:xfrm>
            <a:off x="5717073" y="242276"/>
            <a:ext cx="6120249" cy="3754874"/>
          </a:xfrm>
          <a:prstGeom prst="rect">
            <a:avLst/>
          </a:prstGeom>
          <a:noFill/>
        </p:spPr>
        <p:txBody>
          <a:bodyPr wrap="square" rtlCol="1">
            <a:spAutoFit/>
          </a:bodyPr>
          <a:lstStyle/>
          <a:p>
            <a:pPr algn="r"/>
            <a:r>
              <a:rPr lang="fa-IR" sz="2000" b="1" dirty="0">
                <a:cs typeface="2  Nazanin" panose="00000400000000000000" pitchFamily="2" charset="-78"/>
              </a:rPr>
              <a:t>ایمنی</a:t>
            </a:r>
          </a:p>
          <a:p>
            <a:pPr algn="r"/>
            <a:r>
              <a:rPr lang="fa-IR" sz="2000" dirty="0">
                <a:cs typeface="2  Nazanin" panose="00000400000000000000" pitchFamily="2" charset="-78"/>
              </a:rPr>
              <a:t>استفاده از كلاه ايمني، عينك و نقابهاي حفاظتي، كفـش و پـوتين حفـاظتي، دسـتكش، ماسـك حفاظتي و لباسهاي ايمني براي كارگران الزامي است</a:t>
            </a:r>
          </a:p>
          <a:p>
            <a:pPr algn="r"/>
            <a:r>
              <a:rPr lang="fa-IR" sz="2000" b="1" dirty="0">
                <a:cs typeface="2  Nazanin" panose="00000400000000000000" pitchFamily="2" charset="-78"/>
              </a:rPr>
              <a:t>سازگاری</a:t>
            </a:r>
          </a:p>
          <a:p>
            <a:pPr algn="r"/>
            <a:r>
              <a:rPr lang="fa-IR" sz="2000" dirty="0">
                <a:cs typeface="2  Nazanin" panose="00000400000000000000" pitchFamily="2" charset="-78"/>
              </a:rPr>
              <a:t>چنانچه گچ يا فرآورده هاي گچي، به خصوص در مناطق مرطـوب، در مجـاورت قطعـات فولادي قرار گيرند، بايد پيش از گچ كاري، قطعات فولادي با رنگهاي ضدزنگ پوشانده شود.  در نقاط مرطوب، گچ و فرآوردههاي گچي را نبايد مستقيماً در مجـاورت بـتن و سـايرفرآوردههاي سيماني به كار برد</a:t>
            </a:r>
            <a:endParaRPr lang="en-US" sz="2000" dirty="0">
              <a:cs typeface="2  Nazanin" panose="00000400000000000000" pitchFamily="2" charset="-78"/>
            </a:endParaRPr>
          </a:p>
          <a:p>
            <a:pPr algn="r"/>
            <a:r>
              <a:rPr lang="fa-IR" sz="2000" b="1" dirty="0">
                <a:cs typeface="2  Nazanin" panose="00000400000000000000" pitchFamily="2" charset="-78"/>
              </a:rPr>
              <a:t>بسته بندی و حمل و نگهداری</a:t>
            </a:r>
          </a:p>
          <a:p>
            <a:pPr algn="r"/>
            <a:r>
              <a:rPr lang="fa-IR" sz="2000" dirty="0">
                <a:cs typeface="2  Nazanin" panose="00000400000000000000" pitchFamily="2" charset="-78"/>
              </a:rPr>
              <a:t>گچ ساختماني بايد خشك و عاري از كلوخه باشد و در پاكت حمل شود.</a:t>
            </a:r>
            <a:endParaRPr lang="en-US" sz="2000" dirty="0">
              <a:cs typeface="2  Nazanin" panose="00000400000000000000" pitchFamily="2" charset="-78"/>
            </a:endParaRPr>
          </a:p>
          <a:p>
            <a:pPr algn="r"/>
            <a:endParaRPr lang="fa-IR" sz="2000" dirty="0">
              <a:cs typeface="2  Nazanin" panose="00000400000000000000" pitchFamily="2" charset="-78"/>
            </a:endParaRPr>
          </a:p>
          <a:p>
            <a:pPr algn="r"/>
            <a:endParaRPr lang="fa-IR" dirty="0"/>
          </a:p>
        </p:txBody>
      </p:sp>
      <p:pic>
        <p:nvPicPr>
          <p:cNvPr id="31" name="Picture 30">
            <a:extLst>
              <a:ext uri="{FF2B5EF4-FFF2-40B4-BE49-F238E27FC236}">
                <a16:creationId xmlns:a16="http://schemas.microsoft.com/office/drawing/2014/main" id="{51382487-4E19-4E9A-A1AC-B141712F378D}"/>
              </a:ext>
            </a:extLst>
          </p:cNvPr>
          <p:cNvPicPr>
            <a:picLocks noChangeAspect="1"/>
          </p:cNvPicPr>
          <p:nvPr/>
        </p:nvPicPr>
        <p:blipFill rotWithShape="1">
          <a:blip r:embed="rId9">
            <a:extLst>
              <a:ext uri="{28A0092B-C50C-407E-A947-70E740481C1C}">
                <a14:useLocalDpi xmlns:a14="http://schemas.microsoft.com/office/drawing/2010/main" val="0"/>
              </a:ext>
            </a:extLst>
          </a:blip>
          <a:srcRect l="5425" t="23145" r="857" b="21465"/>
          <a:stretch/>
        </p:blipFill>
        <p:spPr>
          <a:xfrm>
            <a:off x="241758" y="244354"/>
            <a:ext cx="5555558" cy="3150008"/>
          </a:xfrm>
          <a:prstGeom prst="rect">
            <a:avLst/>
          </a:prstGeom>
        </p:spPr>
      </p:pic>
      <p:pic>
        <p:nvPicPr>
          <p:cNvPr id="33" name="Picture 32">
            <a:extLst>
              <a:ext uri="{FF2B5EF4-FFF2-40B4-BE49-F238E27FC236}">
                <a16:creationId xmlns:a16="http://schemas.microsoft.com/office/drawing/2014/main" id="{8D309A43-E02C-4C30-BDB2-AFA1EC8018D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60436" y="3571468"/>
            <a:ext cx="3758230" cy="2815044"/>
          </a:xfrm>
          <a:prstGeom prst="rect">
            <a:avLst/>
          </a:prstGeom>
        </p:spPr>
      </p:pic>
      <p:sp>
        <p:nvSpPr>
          <p:cNvPr id="34" name="TextBox 33">
            <a:extLst>
              <a:ext uri="{FF2B5EF4-FFF2-40B4-BE49-F238E27FC236}">
                <a16:creationId xmlns:a16="http://schemas.microsoft.com/office/drawing/2014/main" id="{6809E471-DA53-4328-B9E2-2BA1FC92D6E7}"/>
              </a:ext>
            </a:extLst>
          </p:cNvPr>
          <p:cNvSpPr txBox="1"/>
          <p:nvPr/>
        </p:nvSpPr>
        <p:spPr>
          <a:xfrm>
            <a:off x="-132347" y="3753402"/>
            <a:ext cx="8269590" cy="2554545"/>
          </a:xfrm>
          <a:prstGeom prst="rect">
            <a:avLst/>
          </a:prstGeom>
          <a:noFill/>
        </p:spPr>
        <p:txBody>
          <a:bodyPr wrap="square" rtlCol="1">
            <a:spAutoFit/>
          </a:bodyPr>
          <a:lstStyle/>
          <a:p>
            <a:pPr algn="r"/>
            <a:r>
              <a:rPr lang="fa-IR" sz="2000" b="1" dirty="0">
                <a:cs typeface="2  Nazanin" panose="00000400000000000000" pitchFamily="2" charset="-78"/>
              </a:rPr>
              <a:t>نگهداري گچ پاكتي در فضاي سرپوشيده و به صورت درازمدت</a:t>
            </a:r>
            <a:r>
              <a:rPr lang="fa-IR" sz="2000" dirty="0">
                <a:cs typeface="2  Nazanin" panose="00000400000000000000" pitchFamily="2" charset="-78"/>
              </a:rPr>
              <a:t>: نگهداري پاكت هاي گچ ساختماني بايد در محل هاي تميز و سرپوشيده باشد. در صورت امكان از قرار دادن پاكتهاي گچ بر روي كف انبار خودداري شود. براي اين كار لازم اسـت از سـكوهاي چـوبي يـا پلاسـتيكي اسـتفاده گردد</a:t>
            </a:r>
          </a:p>
          <a:p>
            <a:pPr algn="r"/>
            <a:r>
              <a:rPr lang="fa-IR" sz="2000" b="1" dirty="0">
                <a:cs typeface="2  Nazanin" panose="00000400000000000000" pitchFamily="2" charset="-78"/>
              </a:rPr>
              <a:t>وسيله حمل كننده </a:t>
            </a:r>
          </a:p>
          <a:p>
            <a:pPr algn="r"/>
            <a:r>
              <a:rPr lang="fa-IR" sz="2000" dirty="0">
                <a:cs typeface="2  Nazanin" panose="00000400000000000000" pitchFamily="2" charset="-78"/>
              </a:rPr>
              <a:t> حمل گچ هاي پاكتي بايد سرپوشيده و تميز باشـد. هـمچنـين وسيله حمل كننده بايد به گونهاي باشد كه پس از بارگيري بتوان روي گچ هاي پـاكتي را بـا پوشـش مناسب آب بند پوشاند. به گونهاي كه باران  و برف يا ساير آبها نتواند از درزها، پاكت هاي گچ را مرطوب نمايد. حمل و نقل توسط وسيله حمل كننده بايد به گونه هاي انجـام شـود كه از جابه جا شدن پاكت هاي گچ و پاره شدن آنها جلوگيري به عمل آيـد</a:t>
            </a:r>
          </a:p>
        </p:txBody>
      </p:sp>
    </p:spTree>
    <p:extLst>
      <p:ext uri="{BB962C8B-B14F-4D97-AF65-F5344CB8AC3E}">
        <p14:creationId xmlns:p14="http://schemas.microsoft.com/office/powerpoint/2010/main" val="40386690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2A088D3-A642-47E9-8843-D04D55D8CBF1}"/>
              </a:ext>
            </a:extLst>
          </p:cNvPr>
          <p:cNvGrpSpPr/>
          <p:nvPr/>
        </p:nvGrpSpPr>
        <p:grpSpPr>
          <a:xfrm>
            <a:off x="0" y="-3775364"/>
            <a:ext cx="12192000" cy="7550727"/>
            <a:chOff x="0" y="0"/>
            <a:chExt cx="12192000" cy="7550727"/>
          </a:xfrm>
          <a:solidFill>
            <a:srgbClr val="F8D6A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8" y="-4492663"/>
            <a:ext cx="12192000" cy="7550727"/>
            <a:chOff x="0" y="0"/>
            <a:chExt cx="12192000" cy="7550727"/>
          </a:xfrm>
          <a:solidFill>
            <a:srgbClr val="F9B69C"/>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24" y="-5320799"/>
            <a:ext cx="12192000" cy="7550727"/>
            <a:chOff x="0" y="0"/>
            <a:chExt cx="12192000" cy="7550727"/>
          </a:xfrm>
          <a:solidFill>
            <a:srgbClr val="E25D7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866669"/>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3" name="TextBox 2">
            <a:extLst>
              <a:ext uri="{FF2B5EF4-FFF2-40B4-BE49-F238E27FC236}">
                <a16:creationId xmlns:a16="http://schemas.microsoft.com/office/drawing/2014/main" id="{6A1312D0-2A39-4D17-8D31-7C5C4CB37DCC}"/>
              </a:ext>
            </a:extLst>
          </p:cNvPr>
          <p:cNvSpPr txBox="1"/>
          <p:nvPr/>
        </p:nvSpPr>
        <p:spPr>
          <a:xfrm>
            <a:off x="3801979" y="3778501"/>
            <a:ext cx="8142379" cy="3046988"/>
          </a:xfrm>
          <a:prstGeom prst="rect">
            <a:avLst/>
          </a:prstGeom>
          <a:noFill/>
        </p:spPr>
        <p:txBody>
          <a:bodyPr wrap="square" rtlCol="1">
            <a:spAutoFit/>
          </a:bodyPr>
          <a:lstStyle/>
          <a:p>
            <a:pPr algn="r"/>
            <a:r>
              <a:rPr lang="fa-IR" sz="2400" b="1" dirty="0">
                <a:cs typeface="2  Nazanin" panose="00000400000000000000" pitchFamily="2" charset="-78"/>
              </a:rPr>
              <a:t>ملات</a:t>
            </a:r>
          </a:p>
          <a:p>
            <a:pPr algn="r"/>
            <a:r>
              <a:rPr lang="fa-IR" sz="2400" dirty="0">
                <a:cs typeface="2  Nazanin" panose="00000400000000000000" pitchFamily="2" charset="-78"/>
              </a:rPr>
              <a:t>ملات تازه، جسمي است خميري كه از اختلاط جسـم چسـباننده، ماننـد خميـر سـيمان، و جسـم پركننده، مانند سنگدانه ريز، ساخته و در صورت نياز به مشخصات ويژه كاربري، از مواد افزودني در ان استفاده ميشود. از ملات براي چسباندن قطعات مصالح بنايي به يكديگر، تـامين بسـتري بـراي توزيع بار، اندودكاري، نماسازي و بندكشي استفاده ميكنند. </a:t>
            </a:r>
          </a:p>
          <a:p>
            <a:pPr algn="r"/>
            <a:r>
              <a:rPr lang="fa-IR" sz="2400" dirty="0">
                <a:cs typeface="2  Nazanin" panose="00000400000000000000" pitchFamily="2" charset="-78"/>
              </a:rPr>
              <a:t>روان ملات ها نوعي ملات هسـتند كـه بدون حالت جداشدگي سنگدانه قابليت پركردن فضاها را با رواني بالا دارند.</a:t>
            </a:r>
          </a:p>
        </p:txBody>
      </p:sp>
      <p:pic>
        <p:nvPicPr>
          <p:cNvPr id="22" name="Picture 21">
            <a:extLst>
              <a:ext uri="{FF2B5EF4-FFF2-40B4-BE49-F238E27FC236}">
                <a16:creationId xmlns:a16="http://schemas.microsoft.com/office/drawing/2014/main" id="{2E21372D-979F-48CE-8AD5-0345A66AB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250" y="3769088"/>
            <a:ext cx="3640729" cy="2912583"/>
          </a:xfrm>
          <a:prstGeom prst="rect">
            <a:avLst/>
          </a:prstGeom>
        </p:spPr>
      </p:pic>
    </p:spTree>
    <p:extLst>
      <p:ext uri="{BB962C8B-B14F-4D97-AF65-F5344CB8AC3E}">
        <p14:creationId xmlns:p14="http://schemas.microsoft.com/office/powerpoint/2010/main" val="38538207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180114" y="3778501"/>
            <a:ext cx="7764244" cy="2677656"/>
          </a:xfrm>
          <a:prstGeom prst="rect">
            <a:avLst/>
          </a:prstGeom>
          <a:noFill/>
        </p:spPr>
        <p:txBody>
          <a:bodyPr wrap="square" rtlCol="1">
            <a:spAutoFit/>
          </a:bodyPr>
          <a:lstStyle/>
          <a:p>
            <a:pPr algn="r"/>
            <a:r>
              <a:rPr lang="fa-IR" sz="2400" b="1" dirty="0">
                <a:cs typeface="2  Nazanin" panose="00000400000000000000" pitchFamily="2" charset="-78"/>
              </a:rPr>
              <a:t>ملات</a:t>
            </a:r>
          </a:p>
          <a:p>
            <a:pPr algn="r"/>
            <a:r>
              <a:rPr lang="fa-IR" sz="2400" dirty="0">
                <a:cs typeface="2  Nazanin" panose="00000400000000000000" pitchFamily="2" charset="-78"/>
              </a:rPr>
              <a:t>ملات تازه، جسمي است خميري كه از اختلاط جسـم چسـباننده، ماننـد خميـر سـيمان، و جسـم پركننده، مانند سنگدانة ريز، ساخته و در صورت نياز به مشخصات ويژة كاربري، از مواد افزودني در ان استفاده ميشود. از ملات براي چسباندن قطعات مصالح بنايي به يكديگر، تـأمين بسـتري بـراي توزيع بار، اندودكاري، نماسازي و بندكشي استفاده ميكنند. روان ملاتها نوعي ملات هسـتند كـه بدون حالت جداشدگي سنگدانه قابليت پركردن فضاها را با رواني بالا دارند.</a:t>
            </a:r>
          </a:p>
        </p:txBody>
      </p:sp>
      <p:pic>
        <p:nvPicPr>
          <p:cNvPr id="22" name="Picture 21">
            <a:extLst>
              <a:ext uri="{FF2B5EF4-FFF2-40B4-BE49-F238E27FC236}">
                <a16:creationId xmlns:a16="http://schemas.microsoft.com/office/drawing/2014/main" id="{2E21372D-979F-48CE-8AD5-0345A66AB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642" y="3680722"/>
            <a:ext cx="3789968" cy="303197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3137"/>
            <a:ext cx="12192000" cy="7550727"/>
            <a:chOff x="0" y="0"/>
            <a:chExt cx="12192000" cy="7550727"/>
          </a:xfrm>
          <a:solidFill>
            <a:srgbClr val="F8D6A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8" y="-4492663"/>
            <a:ext cx="12192000" cy="7550727"/>
            <a:chOff x="0" y="0"/>
            <a:chExt cx="12192000" cy="7550727"/>
          </a:xfrm>
          <a:solidFill>
            <a:srgbClr val="F9B69C"/>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24" y="-5320799"/>
            <a:ext cx="12192000" cy="7550727"/>
            <a:chOff x="0" y="0"/>
            <a:chExt cx="12192000" cy="7550727"/>
          </a:xfrm>
          <a:solidFill>
            <a:srgbClr val="E25D7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866669"/>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60" name="Group 59">
            <a:extLst>
              <a:ext uri="{FF2B5EF4-FFF2-40B4-BE49-F238E27FC236}">
                <a16:creationId xmlns:a16="http://schemas.microsoft.com/office/drawing/2014/main" id="{2A3CBF84-578B-4D4A-91DF-368AECCE563B}"/>
              </a:ext>
            </a:extLst>
          </p:cNvPr>
          <p:cNvGrpSpPr/>
          <p:nvPr/>
        </p:nvGrpSpPr>
        <p:grpSpPr>
          <a:xfrm>
            <a:off x="1461805" y="3186553"/>
            <a:ext cx="1386914" cy="3667665"/>
            <a:chOff x="10805062" y="3190335"/>
            <a:chExt cx="1386914" cy="3667665"/>
          </a:xfrm>
        </p:grpSpPr>
        <p:sp>
          <p:nvSpPr>
            <p:cNvPr id="40" name="Rectangle 39">
              <a:extLst>
                <a:ext uri="{FF2B5EF4-FFF2-40B4-BE49-F238E27FC236}">
                  <a16:creationId xmlns:a16="http://schemas.microsoft.com/office/drawing/2014/main" id="{4321344B-43E2-470F-AA45-746A1A93873D}"/>
                </a:ext>
              </a:extLst>
            </p:cNvPr>
            <p:cNvSpPr/>
            <p:nvPr/>
          </p:nvSpPr>
          <p:spPr>
            <a:xfrm>
              <a:off x="10805062" y="3190335"/>
              <a:ext cx="1386914" cy="36676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0" name="TextBox 49">
              <a:extLst>
                <a:ext uri="{FF2B5EF4-FFF2-40B4-BE49-F238E27FC236}">
                  <a16:creationId xmlns:a16="http://schemas.microsoft.com/office/drawing/2014/main" id="{0F981413-6BCA-4A93-AD56-D1AE11099C89}"/>
                </a:ext>
              </a:extLst>
            </p:cNvPr>
            <p:cNvSpPr txBox="1"/>
            <p:nvPr/>
          </p:nvSpPr>
          <p:spPr>
            <a:xfrm>
              <a:off x="10917415" y="3645664"/>
              <a:ext cx="1169447"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بنایی سبک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ضد اسید</a:t>
              </a:r>
            </a:p>
          </p:txBody>
        </p:sp>
      </p:grpSp>
      <p:grpSp>
        <p:nvGrpSpPr>
          <p:cNvPr id="59" name="Group 58">
            <a:extLst>
              <a:ext uri="{FF2B5EF4-FFF2-40B4-BE49-F238E27FC236}">
                <a16:creationId xmlns:a16="http://schemas.microsoft.com/office/drawing/2014/main" id="{83BEAC4C-7651-4367-B0FD-4A1D16D39B41}"/>
              </a:ext>
            </a:extLst>
          </p:cNvPr>
          <p:cNvGrpSpPr/>
          <p:nvPr/>
        </p:nvGrpSpPr>
        <p:grpSpPr>
          <a:xfrm>
            <a:off x="1423131" y="3188935"/>
            <a:ext cx="1199408" cy="3667665"/>
            <a:chOff x="9605654" y="3190335"/>
            <a:chExt cx="1199408" cy="3667665"/>
          </a:xfrm>
        </p:grpSpPr>
        <p:sp>
          <p:nvSpPr>
            <p:cNvPr id="39" name="Rectangle 38">
              <a:extLst>
                <a:ext uri="{FF2B5EF4-FFF2-40B4-BE49-F238E27FC236}">
                  <a16:creationId xmlns:a16="http://schemas.microsoft.com/office/drawing/2014/main" id="{71760BA2-5F62-430C-B18D-889D7BC9F8CD}"/>
                </a:ext>
              </a:extLst>
            </p:cNvPr>
            <p:cNvSpPr/>
            <p:nvPr/>
          </p:nvSpPr>
          <p:spPr>
            <a:xfrm>
              <a:off x="9605654" y="3190335"/>
              <a:ext cx="1199408" cy="366766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9" name="TextBox 48">
              <a:extLst>
                <a:ext uri="{FF2B5EF4-FFF2-40B4-BE49-F238E27FC236}">
                  <a16:creationId xmlns:a16="http://schemas.microsoft.com/office/drawing/2014/main" id="{DB628206-CFE4-49BB-8071-4732371B4464}"/>
                </a:ext>
              </a:extLst>
            </p:cNvPr>
            <p:cNvSpPr txBox="1"/>
            <p:nvPr/>
          </p:nvSpPr>
          <p:spPr>
            <a:xfrm>
              <a:off x="9748158" y="3607253"/>
              <a:ext cx="85128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های بنایی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اماده</a:t>
              </a:r>
            </a:p>
          </p:txBody>
        </p:sp>
      </p:grpSp>
      <p:grpSp>
        <p:nvGrpSpPr>
          <p:cNvPr id="58" name="Group 57">
            <a:extLst>
              <a:ext uri="{FF2B5EF4-FFF2-40B4-BE49-F238E27FC236}">
                <a16:creationId xmlns:a16="http://schemas.microsoft.com/office/drawing/2014/main" id="{6DCB1871-6334-4E2E-A08B-D1065664817C}"/>
              </a:ext>
            </a:extLst>
          </p:cNvPr>
          <p:cNvGrpSpPr/>
          <p:nvPr/>
        </p:nvGrpSpPr>
        <p:grpSpPr>
          <a:xfrm>
            <a:off x="1274138" y="3178535"/>
            <a:ext cx="1199408" cy="3667665"/>
            <a:chOff x="8406246" y="3190335"/>
            <a:chExt cx="1199408" cy="3667665"/>
          </a:xfrm>
        </p:grpSpPr>
        <p:sp>
          <p:nvSpPr>
            <p:cNvPr id="38" name="Rectangle 37">
              <a:extLst>
                <a:ext uri="{FF2B5EF4-FFF2-40B4-BE49-F238E27FC236}">
                  <a16:creationId xmlns:a16="http://schemas.microsoft.com/office/drawing/2014/main" id="{B678E863-3216-4934-B191-A733C25E132F}"/>
                </a:ext>
              </a:extLst>
            </p:cNvPr>
            <p:cNvSpPr/>
            <p:nvPr/>
          </p:nvSpPr>
          <p:spPr>
            <a:xfrm>
              <a:off x="8406246" y="3190335"/>
              <a:ext cx="1199408" cy="36676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853E185A-08D4-445F-83DF-85B91BBE0B76}"/>
                </a:ext>
              </a:extLst>
            </p:cNvPr>
            <p:cNvSpPr txBox="1"/>
            <p:nvPr/>
          </p:nvSpPr>
          <p:spPr>
            <a:xfrm>
              <a:off x="8577258" y="3579328"/>
              <a:ext cx="92789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سیمان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قیری</a:t>
              </a:r>
            </a:p>
          </p:txBody>
        </p:sp>
      </p:grpSp>
      <p:grpSp>
        <p:nvGrpSpPr>
          <p:cNvPr id="57" name="Group 56">
            <a:extLst>
              <a:ext uri="{FF2B5EF4-FFF2-40B4-BE49-F238E27FC236}">
                <a16:creationId xmlns:a16="http://schemas.microsoft.com/office/drawing/2014/main" id="{A180990E-D62C-4392-A354-456BA44C7F66}"/>
              </a:ext>
            </a:extLst>
          </p:cNvPr>
          <p:cNvGrpSpPr/>
          <p:nvPr/>
        </p:nvGrpSpPr>
        <p:grpSpPr>
          <a:xfrm>
            <a:off x="1118253" y="3173112"/>
            <a:ext cx="1199408" cy="3667665"/>
            <a:chOff x="7206838" y="3190335"/>
            <a:chExt cx="1199408" cy="3667665"/>
          </a:xfrm>
        </p:grpSpPr>
        <p:sp>
          <p:nvSpPr>
            <p:cNvPr id="37" name="Rectangle 36">
              <a:extLst>
                <a:ext uri="{FF2B5EF4-FFF2-40B4-BE49-F238E27FC236}">
                  <a16:creationId xmlns:a16="http://schemas.microsoft.com/office/drawing/2014/main" id="{68E05527-09FC-46CC-968E-A08E73E14488}"/>
                </a:ext>
              </a:extLst>
            </p:cNvPr>
            <p:cNvSpPr/>
            <p:nvPr/>
          </p:nvSpPr>
          <p:spPr>
            <a:xfrm>
              <a:off x="7206838" y="3190335"/>
              <a:ext cx="1199408" cy="36676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7" name="TextBox 46">
              <a:extLst>
                <a:ext uri="{FF2B5EF4-FFF2-40B4-BE49-F238E27FC236}">
                  <a16:creationId xmlns:a16="http://schemas.microsoft.com/office/drawing/2014/main" id="{AAF2DAC3-8863-43C0-940F-F35C20BE1572}"/>
                </a:ext>
              </a:extLst>
            </p:cNvPr>
            <p:cNvSpPr txBox="1"/>
            <p:nvPr/>
          </p:nvSpPr>
          <p:spPr>
            <a:xfrm>
              <a:off x="7265335" y="3546618"/>
              <a:ext cx="1082414"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پوزولانی-اهک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ماسه سیمان</a:t>
              </a:r>
            </a:p>
          </p:txBody>
        </p:sp>
      </p:grpSp>
      <p:grpSp>
        <p:nvGrpSpPr>
          <p:cNvPr id="56" name="Group 55">
            <a:extLst>
              <a:ext uri="{FF2B5EF4-FFF2-40B4-BE49-F238E27FC236}">
                <a16:creationId xmlns:a16="http://schemas.microsoft.com/office/drawing/2014/main" id="{088C4457-BD06-454B-A165-D3EC5849D4E2}"/>
              </a:ext>
            </a:extLst>
          </p:cNvPr>
          <p:cNvGrpSpPr/>
          <p:nvPr/>
        </p:nvGrpSpPr>
        <p:grpSpPr>
          <a:xfrm>
            <a:off x="975749" y="3166586"/>
            <a:ext cx="1199408" cy="3667665"/>
            <a:chOff x="6007430" y="3190335"/>
            <a:chExt cx="1199408" cy="3667665"/>
          </a:xfrm>
        </p:grpSpPr>
        <p:sp>
          <p:nvSpPr>
            <p:cNvPr id="36" name="Rectangle 35">
              <a:extLst>
                <a:ext uri="{FF2B5EF4-FFF2-40B4-BE49-F238E27FC236}">
                  <a16:creationId xmlns:a16="http://schemas.microsoft.com/office/drawing/2014/main" id="{67F00B18-33D2-4FD1-B988-6723D5DDC21B}"/>
                </a:ext>
              </a:extLst>
            </p:cNvPr>
            <p:cNvSpPr/>
            <p:nvPr/>
          </p:nvSpPr>
          <p:spPr>
            <a:xfrm>
              <a:off x="6007430" y="3190335"/>
              <a:ext cx="1199408" cy="366766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6" name="TextBox 45">
              <a:extLst>
                <a:ext uri="{FF2B5EF4-FFF2-40B4-BE49-F238E27FC236}">
                  <a16:creationId xmlns:a16="http://schemas.microsoft.com/office/drawing/2014/main" id="{457B35DF-EB64-4AF4-88DA-DDBCE59E4229}"/>
                </a:ext>
              </a:extLst>
            </p:cNvPr>
            <p:cNvSpPr txBox="1"/>
            <p:nvPr/>
          </p:nvSpPr>
          <p:spPr>
            <a:xfrm>
              <a:off x="6089271" y="3548854"/>
              <a:ext cx="1082414"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و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پوزولانی</a:t>
              </a:r>
            </a:p>
          </p:txBody>
        </p:sp>
      </p:grpSp>
      <p:grpSp>
        <p:nvGrpSpPr>
          <p:cNvPr id="55" name="Group 54">
            <a:extLst>
              <a:ext uri="{FF2B5EF4-FFF2-40B4-BE49-F238E27FC236}">
                <a16:creationId xmlns:a16="http://schemas.microsoft.com/office/drawing/2014/main" id="{6419C5A0-ADC0-4B10-8C39-6A79CFBCFFE8}"/>
              </a:ext>
            </a:extLst>
          </p:cNvPr>
          <p:cNvGrpSpPr/>
          <p:nvPr/>
        </p:nvGrpSpPr>
        <p:grpSpPr>
          <a:xfrm>
            <a:off x="823247" y="3179634"/>
            <a:ext cx="1199408" cy="3667665"/>
            <a:chOff x="4808022" y="3190335"/>
            <a:chExt cx="1199408" cy="3667665"/>
          </a:xfrm>
        </p:grpSpPr>
        <p:sp>
          <p:nvSpPr>
            <p:cNvPr id="35" name="Rectangle 34">
              <a:extLst>
                <a:ext uri="{FF2B5EF4-FFF2-40B4-BE49-F238E27FC236}">
                  <a16:creationId xmlns:a16="http://schemas.microsoft.com/office/drawing/2014/main" id="{84ACA4EC-7BA5-4DA9-9A98-538D76264144}"/>
                </a:ext>
              </a:extLst>
            </p:cNvPr>
            <p:cNvSpPr/>
            <p:nvPr/>
          </p:nvSpPr>
          <p:spPr>
            <a:xfrm>
              <a:off x="4808022" y="3190335"/>
              <a:ext cx="1199408" cy="366766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5" name="TextBox 44">
              <a:extLst>
                <a:ext uri="{FF2B5EF4-FFF2-40B4-BE49-F238E27FC236}">
                  <a16:creationId xmlns:a16="http://schemas.microsoft.com/office/drawing/2014/main" id="{32E93009-4C4A-4C3C-9270-13EC44F3B20E}"/>
                </a:ext>
              </a:extLst>
            </p:cNvPr>
            <p:cNvSpPr txBox="1"/>
            <p:nvPr/>
          </p:nvSpPr>
          <p:spPr>
            <a:xfrm>
              <a:off x="4889863" y="3534912"/>
              <a:ext cx="105745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گچ و اهک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a:t>
              </a:r>
            </a:p>
            <a:p>
              <a:pPr algn="ctr"/>
              <a:r>
                <a:rPr lang="fa-IR" sz="2800" dirty="0">
                  <a:cs typeface="2  Nazanin" panose="00000400000000000000" pitchFamily="2" charset="-78"/>
                </a:rPr>
                <a:t>پرلیت</a:t>
              </a:r>
            </a:p>
          </p:txBody>
        </p:sp>
      </p:grpSp>
      <p:grpSp>
        <p:nvGrpSpPr>
          <p:cNvPr id="54" name="Group 53">
            <a:extLst>
              <a:ext uri="{FF2B5EF4-FFF2-40B4-BE49-F238E27FC236}">
                <a16:creationId xmlns:a16="http://schemas.microsoft.com/office/drawing/2014/main" id="{B447E35D-F239-456C-9616-C3C56F1E53CD}"/>
              </a:ext>
            </a:extLst>
          </p:cNvPr>
          <p:cNvGrpSpPr/>
          <p:nvPr/>
        </p:nvGrpSpPr>
        <p:grpSpPr>
          <a:xfrm>
            <a:off x="613144" y="3178947"/>
            <a:ext cx="1199408" cy="3667665"/>
            <a:chOff x="3608614" y="3190335"/>
            <a:chExt cx="1199408" cy="3667665"/>
          </a:xfrm>
          <a:solidFill>
            <a:srgbClr val="DACCF4"/>
          </a:solidFill>
        </p:grpSpPr>
        <p:sp>
          <p:nvSpPr>
            <p:cNvPr id="34" name="Rectangle 33">
              <a:extLst>
                <a:ext uri="{FF2B5EF4-FFF2-40B4-BE49-F238E27FC236}">
                  <a16:creationId xmlns:a16="http://schemas.microsoft.com/office/drawing/2014/main" id="{EB20F381-1CE4-4380-9883-46373D641BC7}"/>
                </a:ext>
              </a:extLst>
            </p:cNvPr>
            <p:cNvSpPr/>
            <p:nvPr/>
          </p:nvSpPr>
          <p:spPr>
            <a:xfrm>
              <a:off x="3608614"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TextBox 43">
              <a:extLst>
                <a:ext uri="{FF2B5EF4-FFF2-40B4-BE49-F238E27FC236}">
                  <a16:creationId xmlns:a16="http://schemas.microsoft.com/office/drawing/2014/main" id="{641280EF-4B92-450C-9907-E8D0CC39D904}"/>
                </a:ext>
              </a:extLst>
            </p:cNvPr>
            <p:cNvSpPr txBox="1"/>
            <p:nvPr/>
          </p:nvSpPr>
          <p:spPr>
            <a:xfrm>
              <a:off x="3832983" y="3515096"/>
              <a:ext cx="784266" cy="3108543"/>
            </a:xfrm>
            <a:prstGeom prst="rect">
              <a:avLst/>
            </a:prstGeom>
            <a:grpFill/>
            <a:ln>
              <a:noFill/>
            </a:ln>
          </p:spPr>
          <p:txBody>
            <a:bodyPr wrap="square" rtlCol="1">
              <a:spAutoFit/>
            </a:bodyPr>
            <a:lstStyle/>
            <a:p>
              <a:pPr algn="ctr"/>
              <a:r>
                <a:rPr lang="fa-IR" sz="2800" dirty="0">
                  <a:cs typeface="2  Nazanin" panose="00000400000000000000" pitchFamily="2" charset="-78"/>
                </a:rPr>
                <a:t>ملات گچ و خاک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 ماسه</a:t>
              </a:r>
            </a:p>
          </p:txBody>
        </p:sp>
      </p:grpSp>
      <p:grpSp>
        <p:nvGrpSpPr>
          <p:cNvPr id="53" name="Group 52">
            <a:extLst>
              <a:ext uri="{FF2B5EF4-FFF2-40B4-BE49-F238E27FC236}">
                <a16:creationId xmlns:a16="http://schemas.microsoft.com/office/drawing/2014/main" id="{F223EA48-6AEE-4EAE-BF48-489AA089B7EA}"/>
              </a:ext>
            </a:extLst>
          </p:cNvPr>
          <p:cNvGrpSpPr/>
          <p:nvPr/>
        </p:nvGrpSpPr>
        <p:grpSpPr>
          <a:xfrm>
            <a:off x="365586" y="3173999"/>
            <a:ext cx="1199408" cy="3667665"/>
            <a:chOff x="2409206" y="3190335"/>
            <a:chExt cx="1199408" cy="3667665"/>
          </a:xfrm>
        </p:grpSpPr>
        <p:sp>
          <p:nvSpPr>
            <p:cNvPr id="33" name="Rectangle 32">
              <a:extLst>
                <a:ext uri="{FF2B5EF4-FFF2-40B4-BE49-F238E27FC236}">
                  <a16:creationId xmlns:a16="http://schemas.microsoft.com/office/drawing/2014/main" id="{DF287A53-248F-4C60-B1F0-0D5AB598910B}"/>
                </a:ext>
              </a:extLst>
            </p:cNvPr>
            <p:cNvSpPr/>
            <p:nvPr/>
          </p:nvSpPr>
          <p:spPr>
            <a:xfrm>
              <a:off x="2409206" y="3190335"/>
              <a:ext cx="1199408" cy="366766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3" name="TextBox 42">
              <a:extLst>
                <a:ext uri="{FF2B5EF4-FFF2-40B4-BE49-F238E27FC236}">
                  <a16:creationId xmlns:a16="http://schemas.microsoft.com/office/drawing/2014/main" id="{2C5B7EDD-D3ED-47BB-9575-1D309DE52295}"/>
                </a:ext>
              </a:extLst>
            </p:cNvPr>
            <p:cNvSpPr txBox="1"/>
            <p:nvPr/>
          </p:nvSpPr>
          <p:spPr>
            <a:xfrm>
              <a:off x="2611583" y="3525982"/>
              <a:ext cx="879764" cy="3046988"/>
            </a:xfrm>
            <a:prstGeom prst="rect">
              <a:avLst/>
            </a:prstGeom>
            <a:noFill/>
            <a:ln>
              <a:noFill/>
            </a:ln>
          </p:spPr>
          <p:txBody>
            <a:bodyPr wrap="square" rtlCol="1">
              <a:spAutoFit/>
            </a:bodyPr>
            <a:lstStyle/>
            <a:p>
              <a:pPr algn="ctr"/>
              <a:r>
                <a:rPr lang="fa-IR" sz="2400" dirty="0">
                  <a:cs typeface="2  Nazanin" panose="00000400000000000000" pitchFamily="2" charset="-78"/>
                </a:rPr>
                <a:t>ملات ساروج</a:t>
              </a:r>
            </a:p>
            <a:p>
              <a:pPr algn="ctr"/>
              <a:endParaRPr lang="fa-IR" sz="2400" dirty="0">
                <a:cs typeface="2  Nazanin" panose="00000400000000000000" pitchFamily="2" charset="-78"/>
              </a:endParaRPr>
            </a:p>
            <a:p>
              <a:pPr algn="ctr"/>
              <a:endParaRPr lang="en-US" sz="2400" dirty="0">
                <a:cs typeface="2  Nazanin" panose="00000400000000000000" pitchFamily="2" charset="-78"/>
              </a:endParaRPr>
            </a:p>
            <a:p>
              <a:pPr algn="ctr"/>
              <a:r>
                <a:rPr lang="fa-IR" sz="2400" dirty="0">
                  <a:cs typeface="2  Nazanin" panose="00000400000000000000" pitchFamily="2" charset="-78"/>
                </a:rPr>
                <a:t>ملات  خمیرهای گچی</a:t>
              </a:r>
            </a:p>
          </p:txBody>
        </p:sp>
      </p:grpSp>
      <p:grpSp>
        <p:nvGrpSpPr>
          <p:cNvPr id="52" name="Group 51">
            <a:extLst>
              <a:ext uri="{FF2B5EF4-FFF2-40B4-BE49-F238E27FC236}">
                <a16:creationId xmlns:a16="http://schemas.microsoft.com/office/drawing/2014/main" id="{8CB2A514-8688-4710-A451-494283ED238A}"/>
              </a:ext>
            </a:extLst>
          </p:cNvPr>
          <p:cNvGrpSpPr/>
          <p:nvPr/>
        </p:nvGrpSpPr>
        <p:grpSpPr>
          <a:xfrm>
            <a:off x="107479" y="3184399"/>
            <a:ext cx="1199408" cy="3667665"/>
            <a:chOff x="1209798" y="3190335"/>
            <a:chExt cx="1199408" cy="3667665"/>
          </a:xfrm>
        </p:grpSpPr>
        <p:sp>
          <p:nvSpPr>
            <p:cNvPr id="32" name="Rectangle 31">
              <a:extLst>
                <a:ext uri="{FF2B5EF4-FFF2-40B4-BE49-F238E27FC236}">
                  <a16:creationId xmlns:a16="http://schemas.microsoft.com/office/drawing/2014/main" id="{BE078B3D-6C67-4D4A-87B4-6555942DBD9A}"/>
                </a:ext>
              </a:extLst>
            </p:cNvPr>
            <p:cNvSpPr/>
            <p:nvPr/>
          </p:nvSpPr>
          <p:spPr>
            <a:xfrm>
              <a:off x="1209798" y="3190335"/>
              <a:ext cx="1199408" cy="36676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2" name="TextBox 41">
              <a:extLst>
                <a:ext uri="{FF2B5EF4-FFF2-40B4-BE49-F238E27FC236}">
                  <a16:creationId xmlns:a16="http://schemas.microsoft.com/office/drawing/2014/main" id="{F121F265-1C65-4B01-A8AB-8342535A1CA9}"/>
                </a:ext>
              </a:extLst>
            </p:cNvPr>
            <p:cNvSpPr txBox="1"/>
            <p:nvPr/>
          </p:nvSpPr>
          <p:spPr>
            <a:xfrm>
              <a:off x="1398814" y="3523206"/>
              <a:ext cx="88124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گل و کاهگ</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اهک</a:t>
              </a:r>
            </a:p>
          </p:txBody>
        </p:sp>
      </p:grpSp>
      <p:grpSp>
        <p:nvGrpSpPr>
          <p:cNvPr id="51" name="Group 50">
            <a:extLst>
              <a:ext uri="{FF2B5EF4-FFF2-40B4-BE49-F238E27FC236}">
                <a16:creationId xmlns:a16="http://schemas.microsoft.com/office/drawing/2014/main" id="{D023384A-009A-4142-AE86-D2852B9C591D}"/>
              </a:ext>
            </a:extLst>
          </p:cNvPr>
          <p:cNvGrpSpPr/>
          <p:nvPr/>
        </p:nvGrpSpPr>
        <p:grpSpPr>
          <a:xfrm>
            <a:off x="-116939" y="3166586"/>
            <a:ext cx="1199408" cy="3667665"/>
            <a:chOff x="0" y="3190335"/>
            <a:chExt cx="1199408" cy="3667665"/>
          </a:xfrm>
        </p:grpSpPr>
        <p:sp>
          <p:nvSpPr>
            <p:cNvPr id="2" name="Rectangle 1">
              <a:extLst>
                <a:ext uri="{FF2B5EF4-FFF2-40B4-BE49-F238E27FC236}">
                  <a16:creationId xmlns:a16="http://schemas.microsoft.com/office/drawing/2014/main" id="{5FF3F0D0-59D1-49EB-9E93-6E866F8B28A9}"/>
                </a:ext>
              </a:extLst>
            </p:cNvPr>
            <p:cNvSpPr/>
            <p:nvPr/>
          </p:nvSpPr>
          <p:spPr>
            <a:xfrm>
              <a:off x="0" y="3190335"/>
              <a:ext cx="1199408" cy="36676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1" name="TextBox 40">
              <a:extLst>
                <a:ext uri="{FF2B5EF4-FFF2-40B4-BE49-F238E27FC236}">
                  <a16:creationId xmlns:a16="http://schemas.microsoft.com/office/drawing/2014/main" id="{B7856EF2-C687-43BF-AFC9-AFD2899A6EE9}"/>
                </a:ext>
              </a:extLst>
            </p:cNvPr>
            <p:cNvSpPr txBox="1"/>
            <p:nvPr/>
          </p:nvSpPr>
          <p:spPr>
            <a:xfrm>
              <a:off x="116990" y="3515096"/>
              <a:ext cx="951790"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هوایی</a:t>
              </a:r>
            </a:p>
            <a:p>
              <a:pPr algn="ctr"/>
              <a:endParaRPr lang="fa-IR" sz="2800" dirty="0">
                <a:cs typeface="2  Nazanin" panose="00000400000000000000" pitchFamily="2" charset="-78"/>
              </a:endParaRPr>
            </a:p>
            <a:p>
              <a:pPr algn="ctr"/>
              <a:endParaRPr lang="en-US" sz="2800" dirty="0">
                <a:cs typeface="2  Nazanin" panose="00000400000000000000" pitchFamily="2" charset="-78"/>
              </a:endParaRPr>
            </a:p>
            <a:p>
              <a:pPr algn="ctr"/>
              <a:r>
                <a:rPr lang="fa-IR" sz="2800" dirty="0">
                  <a:cs typeface="2  Nazanin" panose="00000400000000000000" pitchFamily="2" charset="-78"/>
                </a:rPr>
                <a:t>ملات آبی</a:t>
              </a:r>
            </a:p>
          </p:txBody>
        </p:sp>
      </p:grpSp>
      <p:grpSp>
        <p:nvGrpSpPr>
          <p:cNvPr id="64" name="Group 63">
            <a:extLst>
              <a:ext uri="{FF2B5EF4-FFF2-40B4-BE49-F238E27FC236}">
                <a16:creationId xmlns:a16="http://schemas.microsoft.com/office/drawing/2014/main" id="{A3921C50-E42F-4721-BEED-D2659DB0AA5B}"/>
              </a:ext>
            </a:extLst>
          </p:cNvPr>
          <p:cNvGrpSpPr/>
          <p:nvPr/>
        </p:nvGrpSpPr>
        <p:grpSpPr>
          <a:xfrm>
            <a:off x="-333542" y="3172038"/>
            <a:ext cx="1199408" cy="3667665"/>
            <a:chOff x="0" y="3190335"/>
            <a:chExt cx="1199408" cy="3667665"/>
          </a:xfrm>
          <a:solidFill>
            <a:srgbClr val="DACCF4"/>
          </a:solidFill>
        </p:grpSpPr>
        <p:sp>
          <p:nvSpPr>
            <p:cNvPr id="65" name="Rectangle 64">
              <a:extLst>
                <a:ext uri="{FF2B5EF4-FFF2-40B4-BE49-F238E27FC236}">
                  <a16:creationId xmlns:a16="http://schemas.microsoft.com/office/drawing/2014/main" id="{09FDB192-694F-4975-87D0-00C87E5995BC}"/>
                </a:ext>
              </a:extLst>
            </p:cNvPr>
            <p:cNvSpPr/>
            <p:nvPr/>
          </p:nvSpPr>
          <p:spPr>
            <a:xfrm>
              <a:off x="0"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6" name="TextBox 65">
              <a:extLst>
                <a:ext uri="{FF2B5EF4-FFF2-40B4-BE49-F238E27FC236}">
                  <a16:creationId xmlns:a16="http://schemas.microsoft.com/office/drawing/2014/main" id="{79E618F5-C3FC-46B2-8E40-7082EA4EF76D}"/>
                </a:ext>
              </a:extLst>
            </p:cNvPr>
            <p:cNvSpPr txBox="1"/>
            <p:nvPr/>
          </p:nvSpPr>
          <p:spPr>
            <a:xfrm>
              <a:off x="49259" y="3515096"/>
              <a:ext cx="1127481" cy="1938992"/>
            </a:xfrm>
            <a:prstGeom prst="rect">
              <a:avLst/>
            </a:prstGeom>
            <a:grpFill/>
          </p:spPr>
          <p:txBody>
            <a:bodyPr wrap="square" rtlCol="1">
              <a:spAutoFit/>
            </a:bodyPr>
            <a:lstStyle/>
            <a:p>
              <a:pPr algn="ctr"/>
              <a:r>
                <a:rPr lang="fa-IR" sz="2400" dirty="0">
                  <a:cs typeface="2  Nazanin" panose="00000400000000000000" pitchFamily="2" charset="-78"/>
                </a:rPr>
                <a:t>ملات ساختمانی از نظر مواد چسباننده</a:t>
              </a:r>
            </a:p>
          </p:txBody>
        </p:sp>
      </p:grpSp>
    </p:spTree>
    <p:extLst>
      <p:ext uri="{BB962C8B-B14F-4D97-AF65-F5344CB8AC3E}">
        <p14:creationId xmlns:p14="http://schemas.microsoft.com/office/powerpoint/2010/main" val="1911373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0.00091 0.00324 L 0.08047 0.00324 " pathEditMode="relative" rAng="0" ptsTypes="AA">
                                      <p:cBhvr>
                                        <p:cTn id="6" dur="2000" fill="hold"/>
                                        <p:tgtEl>
                                          <p:spTgt spid="51"/>
                                        </p:tgtEl>
                                        <p:attrNameLst>
                                          <p:attrName>ppt_x</p:attrName>
                                          <p:attrName>ppt_y</p:attrName>
                                        </p:attrNameLst>
                                      </p:cBhvr>
                                      <p:rCtr x="4062" y="0"/>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0547 0.00324 L 0.16042 0.00047 " pathEditMode="relative" rAng="0" ptsTypes="AA">
                                      <p:cBhvr>
                                        <p:cTn id="10" dur="2000" fill="hold"/>
                                        <p:tgtEl>
                                          <p:spTgt spid="52"/>
                                        </p:tgtEl>
                                        <p:attrNameLst>
                                          <p:attrName>ppt_x</p:attrName>
                                          <p:attrName>ppt_y</p:attrName>
                                        </p:attrNameLst>
                                      </p:cBhvr>
                                      <p:rCtr x="8294" y="-139"/>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0365 0.00324 L 0.23841 0.00209 " pathEditMode="relative" rAng="0" ptsTypes="AA">
                                      <p:cBhvr>
                                        <p:cTn id="14" dur="2000" fill="hold"/>
                                        <p:tgtEl>
                                          <p:spTgt spid="53"/>
                                        </p:tgtEl>
                                        <p:attrNameLst>
                                          <p:attrName>ppt_x</p:attrName>
                                          <p:attrName>ppt_y</p:attrName>
                                        </p:attrNameLst>
                                      </p:cBhvr>
                                      <p:rCtr x="12096" y="-69"/>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0182 2.96296E-6 L 0.3099 0.00347 " pathEditMode="relative" rAng="0" ptsTypes="AA">
                                      <p:cBhvr>
                                        <p:cTn id="18" dur="2000" fill="hold"/>
                                        <p:tgtEl>
                                          <p:spTgt spid="54"/>
                                        </p:tgtEl>
                                        <p:attrNameLst>
                                          <p:attrName>ppt_x</p:attrName>
                                          <p:attrName>ppt_y</p:attrName>
                                        </p:attrNameLst>
                                      </p:cBhvr>
                                      <p:rCtr x="15586" y="162"/>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01003 0.00162 L 0.39049 0.00301 " pathEditMode="relative" rAng="0" ptsTypes="AA">
                                      <p:cBhvr>
                                        <p:cTn id="22" dur="2000" fill="hold"/>
                                        <p:tgtEl>
                                          <p:spTgt spid="55"/>
                                        </p:tgtEl>
                                        <p:attrNameLst>
                                          <p:attrName>ppt_x</p:attrName>
                                          <p:attrName>ppt_y</p:attrName>
                                        </p:attrNameLst>
                                      </p:cBhvr>
                                      <p:rCtr x="20026" y="69"/>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01094 0.00486 L 0.47643 0.00463 " pathEditMode="relative" rAng="0" ptsTypes="AA">
                                      <p:cBhvr>
                                        <p:cTn id="26" dur="2000" fill="hold"/>
                                        <p:tgtEl>
                                          <p:spTgt spid="56"/>
                                        </p:tgtEl>
                                        <p:attrNameLst>
                                          <p:attrName>ppt_x</p:attrName>
                                          <p:attrName>ppt_y</p:attrName>
                                        </p:attrNameLst>
                                      </p:cBhvr>
                                      <p:rCtr x="24362" y="-23"/>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0.00092 0.0051 L 0.56341 0.00185 " pathEditMode="relative" rAng="0" ptsTypes="AA">
                                      <p:cBhvr>
                                        <p:cTn id="30" dur="2000" fill="hold"/>
                                        <p:tgtEl>
                                          <p:spTgt spid="57"/>
                                        </p:tgtEl>
                                        <p:attrNameLst>
                                          <p:attrName>ppt_x</p:attrName>
                                          <p:attrName>ppt_y</p:attrName>
                                        </p:attrNameLst>
                                      </p:cBhvr>
                                      <p:rCtr x="28216" y="-162"/>
                                    </p:animMotion>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00182 0.0081 L 0.63867 0.00301 " pathEditMode="relative" rAng="0" ptsTypes="AA">
                                      <p:cBhvr>
                                        <p:cTn id="34" dur="2000" fill="hold"/>
                                        <p:tgtEl>
                                          <p:spTgt spid="58"/>
                                        </p:tgtEl>
                                        <p:attrNameLst>
                                          <p:attrName>ppt_x</p:attrName>
                                          <p:attrName>ppt_y</p:attrName>
                                        </p:attrNameLst>
                                      </p:cBhvr>
                                      <p:rCtr x="31836" y="-255"/>
                                    </p:animMotion>
                                  </p:childTnLst>
                                </p:cTn>
                              </p:par>
                            </p:childTnLst>
                          </p:cTn>
                        </p:par>
                      </p:childTnLst>
                    </p:cTn>
                  </p:par>
                  <p:par>
                    <p:cTn id="35" fill="hold">
                      <p:stCondLst>
                        <p:cond delay="indefinite"/>
                      </p:stCondLst>
                      <p:childTnLst>
                        <p:par>
                          <p:cTn id="36" fill="hold">
                            <p:stCondLst>
                              <p:cond delay="0"/>
                            </p:stCondLst>
                            <p:childTnLst>
                              <p:par>
                                <p:cTn id="37" presetID="63" presetClass="path" presetSubtype="0" accel="50000" decel="50000" fill="hold" nodeType="clickEffect">
                                  <p:stCondLst>
                                    <p:cond delay="0"/>
                                  </p:stCondLst>
                                  <p:childTnLst>
                                    <p:animMotion origin="layout" path="M 0.00273 -0.00162 L 0.70416 0.00208 " pathEditMode="relative" rAng="0" ptsTypes="AA">
                                      <p:cBhvr>
                                        <p:cTn id="38" dur="2000" fill="hold"/>
                                        <p:tgtEl>
                                          <p:spTgt spid="59"/>
                                        </p:tgtEl>
                                        <p:attrNameLst>
                                          <p:attrName>ppt_x</p:attrName>
                                          <p:attrName>ppt_y</p:attrName>
                                        </p:attrNameLst>
                                      </p:cBhvr>
                                      <p:rCtr x="35065" y="185"/>
                                    </p:animMotion>
                                  </p:childTnLst>
                                </p:cTn>
                              </p:par>
                            </p:childTnLst>
                          </p:cTn>
                        </p:par>
                      </p:childTnLst>
                    </p:cTn>
                  </p:par>
                  <p:par>
                    <p:cTn id="39" fill="hold">
                      <p:stCondLst>
                        <p:cond delay="indefinite"/>
                      </p:stCondLst>
                      <p:childTnLst>
                        <p:par>
                          <p:cTn id="40" fill="hold">
                            <p:stCondLst>
                              <p:cond delay="0"/>
                            </p:stCondLst>
                            <p:childTnLst>
                              <p:par>
                                <p:cTn id="41" presetID="63" presetClass="path" presetSubtype="0" accel="50000" decel="50000" fill="hold" nodeType="clickEffect">
                                  <p:stCondLst>
                                    <p:cond delay="0"/>
                                  </p:stCondLst>
                                  <p:childTnLst>
                                    <p:animMotion origin="layout" path="M 0.00274 -0.00648 L 0.77995 0.00093 " pathEditMode="relative" rAng="0" ptsTypes="AA">
                                      <p:cBhvr>
                                        <p:cTn id="42" dur="2000" fill="hold"/>
                                        <p:tgtEl>
                                          <p:spTgt spid="60"/>
                                        </p:tgtEl>
                                        <p:attrNameLst>
                                          <p:attrName>ppt_x</p:attrName>
                                          <p:attrName>ppt_y</p:attrName>
                                        </p:attrNameLst>
                                      </p:cBhvr>
                                      <p:rCtr x="38854" y="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180114" y="3778501"/>
            <a:ext cx="7764244" cy="2677656"/>
          </a:xfrm>
          <a:prstGeom prst="rect">
            <a:avLst/>
          </a:prstGeom>
          <a:noFill/>
        </p:spPr>
        <p:txBody>
          <a:bodyPr wrap="square" rtlCol="1">
            <a:spAutoFit/>
          </a:bodyPr>
          <a:lstStyle/>
          <a:p>
            <a:pPr algn="r"/>
            <a:r>
              <a:rPr lang="fa-IR" sz="2400" b="1" dirty="0">
                <a:cs typeface="2  Nazanin" panose="00000400000000000000" pitchFamily="2" charset="-78"/>
              </a:rPr>
              <a:t>ملات</a:t>
            </a:r>
          </a:p>
          <a:p>
            <a:pPr algn="r"/>
            <a:r>
              <a:rPr lang="fa-IR" sz="2400" dirty="0">
                <a:cs typeface="2  Nazanin" panose="00000400000000000000" pitchFamily="2" charset="-78"/>
              </a:rPr>
              <a:t>ملات تازه، جسمي است خميري كه از اختلاط جسـم چسـباننده، ماننـد خميـر سـيمان، و جسـم پركننده، مانند سنگدانة ريز، ساخته و در صورت نياز به مشخصات ويژة كاربري، از مواد افزودني در ان استفاده ميشود. از ملات براي چسباندن قطعات مصالح بنايي به يكديگر، تـأمين بسـتري بـراي توزيع بار، اندودكاري، نماسازي و بندكشي استفاده ميكنند. روان ملاتها نوعي ملات هسـتند كـه بدون حالت جداشدگي سنگدانه قابليت پركردن فضاها را با رواني بالا دارند.</a:t>
            </a:r>
          </a:p>
        </p:txBody>
      </p:sp>
      <p:pic>
        <p:nvPicPr>
          <p:cNvPr id="22" name="Picture 21">
            <a:extLst>
              <a:ext uri="{FF2B5EF4-FFF2-40B4-BE49-F238E27FC236}">
                <a16:creationId xmlns:a16="http://schemas.microsoft.com/office/drawing/2014/main" id="{2E21372D-979F-48CE-8AD5-0345A66AB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642" y="3680722"/>
            <a:ext cx="3789968" cy="303197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3137"/>
            <a:ext cx="12192000" cy="7550727"/>
            <a:chOff x="0" y="0"/>
            <a:chExt cx="12192000" cy="7550727"/>
          </a:xfrm>
          <a:solidFill>
            <a:srgbClr val="F8D6A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60" name="Group 59">
            <a:extLst>
              <a:ext uri="{FF2B5EF4-FFF2-40B4-BE49-F238E27FC236}">
                <a16:creationId xmlns:a16="http://schemas.microsoft.com/office/drawing/2014/main" id="{2A3CBF84-578B-4D4A-91DF-368AECCE563B}"/>
              </a:ext>
            </a:extLst>
          </p:cNvPr>
          <p:cNvGrpSpPr/>
          <p:nvPr/>
        </p:nvGrpSpPr>
        <p:grpSpPr>
          <a:xfrm>
            <a:off x="1461805" y="3186553"/>
            <a:ext cx="1386914" cy="3667665"/>
            <a:chOff x="10805062" y="3190335"/>
            <a:chExt cx="1386914" cy="3667665"/>
          </a:xfrm>
        </p:grpSpPr>
        <p:sp>
          <p:nvSpPr>
            <p:cNvPr id="40" name="Rectangle 39">
              <a:extLst>
                <a:ext uri="{FF2B5EF4-FFF2-40B4-BE49-F238E27FC236}">
                  <a16:creationId xmlns:a16="http://schemas.microsoft.com/office/drawing/2014/main" id="{4321344B-43E2-470F-AA45-746A1A93873D}"/>
                </a:ext>
              </a:extLst>
            </p:cNvPr>
            <p:cNvSpPr/>
            <p:nvPr/>
          </p:nvSpPr>
          <p:spPr>
            <a:xfrm>
              <a:off x="10805062" y="3190335"/>
              <a:ext cx="1386914" cy="36676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0" name="TextBox 49">
              <a:extLst>
                <a:ext uri="{FF2B5EF4-FFF2-40B4-BE49-F238E27FC236}">
                  <a16:creationId xmlns:a16="http://schemas.microsoft.com/office/drawing/2014/main" id="{0F981413-6BCA-4A93-AD56-D1AE11099C89}"/>
                </a:ext>
              </a:extLst>
            </p:cNvPr>
            <p:cNvSpPr txBox="1"/>
            <p:nvPr/>
          </p:nvSpPr>
          <p:spPr>
            <a:xfrm>
              <a:off x="10917415" y="3645664"/>
              <a:ext cx="1169447"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بنایی سبک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ضد اسید</a:t>
              </a:r>
            </a:p>
          </p:txBody>
        </p:sp>
      </p:grpSp>
      <p:grpSp>
        <p:nvGrpSpPr>
          <p:cNvPr id="59" name="Group 58">
            <a:extLst>
              <a:ext uri="{FF2B5EF4-FFF2-40B4-BE49-F238E27FC236}">
                <a16:creationId xmlns:a16="http://schemas.microsoft.com/office/drawing/2014/main" id="{83BEAC4C-7651-4367-B0FD-4A1D16D39B41}"/>
              </a:ext>
            </a:extLst>
          </p:cNvPr>
          <p:cNvGrpSpPr/>
          <p:nvPr/>
        </p:nvGrpSpPr>
        <p:grpSpPr>
          <a:xfrm>
            <a:off x="1423131" y="3188935"/>
            <a:ext cx="1199408" cy="3667665"/>
            <a:chOff x="9605654" y="3190335"/>
            <a:chExt cx="1199408" cy="3667665"/>
          </a:xfrm>
        </p:grpSpPr>
        <p:sp>
          <p:nvSpPr>
            <p:cNvPr id="39" name="Rectangle 38">
              <a:extLst>
                <a:ext uri="{FF2B5EF4-FFF2-40B4-BE49-F238E27FC236}">
                  <a16:creationId xmlns:a16="http://schemas.microsoft.com/office/drawing/2014/main" id="{71760BA2-5F62-430C-B18D-889D7BC9F8CD}"/>
                </a:ext>
              </a:extLst>
            </p:cNvPr>
            <p:cNvSpPr/>
            <p:nvPr/>
          </p:nvSpPr>
          <p:spPr>
            <a:xfrm>
              <a:off x="9605654" y="3190335"/>
              <a:ext cx="1199408" cy="366766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9" name="TextBox 48">
              <a:extLst>
                <a:ext uri="{FF2B5EF4-FFF2-40B4-BE49-F238E27FC236}">
                  <a16:creationId xmlns:a16="http://schemas.microsoft.com/office/drawing/2014/main" id="{DB628206-CFE4-49BB-8071-4732371B4464}"/>
                </a:ext>
              </a:extLst>
            </p:cNvPr>
            <p:cNvSpPr txBox="1"/>
            <p:nvPr/>
          </p:nvSpPr>
          <p:spPr>
            <a:xfrm>
              <a:off x="9748158" y="3607253"/>
              <a:ext cx="85128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های بنایی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اماده</a:t>
              </a:r>
            </a:p>
          </p:txBody>
        </p:sp>
      </p:grpSp>
      <p:grpSp>
        <p:nvGrpSpPr>
          <p:cNvPr id="58" name="Group 57">
            <a:extLst>
              <a:ext uri="{FF2B5EF4-FFF2-40B4-BE49-F238E27FC236}">
                <a16:creationId xmlns:a16="http://schemas.microsoft.com/office/drawing/2014/main" id="{6DCB1871-6334-4E2E-A08B-D1065664817C}"/>
              </a:ext>
            </a:extLst>
          </p:cNvPr>
          <p:cNvGrpSpPr/>
          <p:nvPr/>
        </p:nvGrpSpPr>
        <p:grpSpPr>
          <a:xfrm>
            <a:off x="1274138" y="3178535"/>
            <a:ext cx="1199408" cy="3667665"/>
            <a:chOff x="8406246" y="3190335"/>
            <a:chExt cx="1199408" cy="3667665"/>
          </a:xfrm>
        </p:grpSpPr>
        <p:sp>
          <p:nvSpPr>
            <p:cNvPr id="38" name="Rectangle 37">
              <a:extLst>
                <a:ext uri="{FF2B5EF4-FFF2-40B4-BE49-F238E27FC236}">
                  <a16:creationId xmlns:a16="http://schemas.microsoft.com/office/drawing/2014/main" id="{B678E863-3216-4934-B191-A733C25E132F}"/>
                </a:ext>
              </a:extLst>
            </p:cNvPr>
            <p:cNvSpPr/>
            <p:nvPr/>
          </p:nvSpPr>
          <p:spPr>
            <a:xfrm>
              <a:off x="8406246" y="3190335"/>
              <a:ext cx="1199408" cy="36676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853E185A-08D4-445F-83DF-85B91BBE0B76}"/>
                </a:ext>
              </a:extLst>
            </p:cNvPr>
            <p:cNvSpPr txBox="1"/>
            <p:nvPr/>
          </p:nvSpPr>
          <p:spPr>
            <a:xfrm>
              <a:off x="8577258" y="3579328"/>
              <a:ext cx="92789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سیمان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قیری</a:t>
              </a:r>
            </a:p>
          </p:txBody>
        </p:sp>
      </p:grpSp>
      <p:grpSp>
        <p:nvGrpSpPr>
          <p:cNvPr id="57" name="Group 56">
            <a:extLst>
              <a:ext uri="{FF2B5EF4-FFF2-40B4-BE49-F238E27FC236}">
                <a16:creationId xmlns:a16="http://schemas.microsoft.com/office/drawing/2014/main" id="{A180990E-D62C-4392-A354-456BA44C7F66}"/>
              </a:ext>
            </a:extLst>
          </p:cNvPr>
          <p:cNvGrpSpPr/>
          <p:nvPr/>
        </p:nvGrpSpPr>
        <p:grpSpPr>
          <a:xfrm>
            <a:off x="1118253" y="3173112"/>
            <a:ext cx="1199408" cy="3667665"/>
            <a:chOff x="7206838" y="3190335"/>
            <a:chExt cx="1199408" cy="3667665"/>
          </a:xfrm>
        </p:grpSpPr>
        <p:sp>
          <p:nvSpPr>
            <p:cNvPr id="37" name="Rectangle 36">
              <a:extLst>
                <a:ext uri="{FF2B5EF4-FFF2-40B4-BE49-F238E27FC236}">
                  <a16:creationId xmlns:a16="http://schemas.microsoft.com/office/drawing/2014/main" id="{68E05527-09FC-46CC-968E-A08E73E14488}"/>
                </a:ext>
              </a:extLst>
            </p:cNvPr>
            <p:cNvSpPr/>
            <p:nvPr/>
          </p:nvSpPr>
          <p:spPr>
            <a:xfrm>
              <a:off x="7206838" y="3190335"/>
              <a:ext cx="1199408" cy="36676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7" name="TextBox 46">
              <a:extLst>
                <a:ext uri="{FF2B5EF4-FFF2-40B4-BE49-F238E27FC236}">
                  <a16:creationId xmlns:a16="http://schemas.microsoft.com/office/drawing/2014/main" id="{AAF2DAC3-8863-43C0-940F-F35C20BE1572}"/>
                </a:ext>
              </a:extLst>
            </p:cNvPr>
            <p:cNvSpPr txBox="1"/>
            <p:nvPr/>
          </p:nvSpPr>
          <p:spPr>
            <a:xfrm>
              <a:off x="7265335" y="3546618"/>
              <a:ext cx="1082414"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پوزولانی-اهک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ماسه سیمان</a:t>
              </a:r>
            </a:p>
          </p:txBody>
        </p:sp>
      </p:grpSp>
      <p:grpSp>
        <p:nvGrpSpPr>
          <p:cNvPr id="56" name="Group 55">
            <a:extLst>
              <a:ext uri="{FF2B5EF4-FFF2-40B4-BE49-F238E27FC236}">
                <a16:creationId xmlns:a16="http://schemas.microsoft.com/office/drawing/2014/main" id="{088C4457-BD06-454B-A165-D3EC5849D4E2}"/>
              </a:ext>
            </a:extLst>
          </p:cNvPr>
          <p:cNvGrpSpPr/>
          <p:nvPr/>
        </p:nvGrpSpPr>
        <p:grpSpPr>
          <a:xfrm>
            <a:off x="975749" y="3166586"/>
            <a:ext cx="1199408" cy="3667665"/>
            <a:chOff x="6007430" y="3190335"/>
            <a:chExt cx="1199408" cy="3667665"/>
          </a:xfrm>
        </p:grpSpPr>
        <p:sp>
          <p:nvSpPr>
            <p:cNvPr id="36" name="Rectangle 35">
              <a:extLst>
                <a:ext uri="{FF2B5EF4-FFF2-40B4-BE49-F238E27FC236}">
                  <a16:creationId xmlns:a16="http://schemas.microsoft.com/office/drawing/2014/main" id="{67F00B18-33D2-4FD1-B988-6723D5DDC21B}"/>
                </a:ext>
              </a:extLst>
            </p:cNvPr>
            <p:cNvSpPr/>
            <p:nvPr/>
          </p:nvSpPr>
          <p:spPr>
            <a:xfrm>
              <a:off x="6007430" y="3190335"/>
              <a:ext cx="1199408" cy="366766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6" name="TextBox 45">
              <a:extLst>
                <a:ext uri="{FF2B5EF4-FFF2-40B4-BE49-F238E27FC236}">
                  <a16:creationId xmlns:a16="http://schemas.microsoft.com/office/drawing/2014/main" id="{457B35DF-EB64-4AF4-88DA-DDBCE59E4229}"/>
                </a:ext>
              </a:extLst>
            </p:cNvPr>
            <p:cNvSpPr txBox="1"/>
            <p:nvPr/>
          </p:nvSpPr>
          <p:spPr>
            <a:xfrm>
              <a:off x="6089271" y="3548854"/>
              <a:ext cx="1082414"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و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پوزولانی</a:t>
              </a:r>
            </a:p>
          </p:txBody>
        </p:sp>
      </p:grpSp>
      <p:grpSp>
        <p:nvGrpSpPr>
          <p:cNvPr id="55" name="Group 54">
            <a:extLst>
              <a:ext uri="{FF2B5EF4-FFF2-40B4-BE49-F238E27FC236}">
                <a16:creationId xmlns:a16="http://schemas.microsoft.com/office/drawing/2014/main" id="{6419C5A0-ADC0-4B10-8C39-6A79CFBCFFE8}"/>
              </a:ext>
            </a:extLst>
          </p:cNvPr>
          <p:cNvGrpSpPr/>
          <p:nvPr/>
        </p:nvGrpSpPr>
        <p:grpSpPr>
          <a:xfrm>
            <a:off x="823247" y="3179634"/>
            <a:ext cx="1199408" cy="3667665"/>
            <a:chOff x="4808022" y="3190335"/>
            <a:chExt cx="1199408" cy="3667665"/>
          </a:xfrm>
        </p:grpSpPr>
        <p:sp>
          <p:nvSpPr>
            <p:cNvPr id="35" name="Rectangle 34">
              <a:extLst>
                <a:ext uri="{FF2B5EF4-FFF2-40B4-BE49-F238E27FC236}">
                  <a16:creationId xmlns:a16="http://schemas.microsoft.com/office/drawing/2014/main" id="{84ACA4EC-7BA5-4DA9-9A98-538D76264144}"/>
                </a:ext>
              </a:extLst>
            </p:cNvPr>
            <p:cNvSpPr/>
            <p:nvPr/>
          </p:nvSpPr>
          <p:spPr>
            <a:xfrm>
              <a:off x="4808022" y="3190335"/>
              <a:ext cx="1199408" cy="366766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5" name="TextBox 44">
              <a:extLst>
                <a:ext uri="{FF2B5EF4-FFF2-40B4-BE49-F238E27FC236}">
                  <a16:creationId xmlns:a16="http://schemas.microsoft.com/office/drawing/2014/main" id="{32E93009-4C4A-4C3C-9270-13EC44F3B20E}"/>
                </a:ext>
              </a:extLst>
            </p:cNvPr>
            <p:cNvSpPr txBox="1"/>
            <p:nvPr/>
          </p:nvSpPr>
          <p:spPr>
            <a:xfrm>
              <a:off x="4889863" y="3534912"/>
              <a:ext cx="105745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گچ و اهک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a:t>
              </a:r>
            </a:p>
            <a:p>
              <a:pPr algn="ctr"/>
              <a:r>
                <a:rPr lang="fa-IR" sz="2800" dirty="0">
                  <a:cs typeface="2  Nazanin" panose="00000400000000000000" pitchFamily="2" charset="-78"/>
                </a:rPr>
                <a:t>پرلیت</a:t>
              </a:r>
            </a:p>
          </p:txBody>
        </p:sp>
      </p:grpSp>
      <p:grpSp>
        <p:nvGrpSpPr>
          <p:cNvPr id="54" name="Group 53">
            <a:extLst>
              <a:ext uri="{FF2B5EF4-FFF2-40B4-BE49-F238E27FC236}">
                <a16:creationId xmlns:a16="http://schemas.microsoft.com/office/drawing/2014/main" id="{B447E35D-F239-456C-9616-C3C56F1E53CD}"/>
              </a:ext>
            </a:extLst>
          </p:cNvPr>
          <p:cNvGrpSpPr/>
          <p:nvPr/>
        </p:nvGrpSpPr>
        <p:grpSpPr>
          <a:xfrm>
            <a:off x="613144" y="3178947"/>
            <a:ext cx="1199408" cy="3667665"/>
            <a:chOff x="3608614" y="3190335"/>
            <a:chExt cx="1199408" cy="3667665"/>
          </a:xfrm>
          <a:solidFill>
            <a:srgbClr val="DACCF4"/>
          </a:solidFill>
        </p:grpSpPr>
        <p:sp>
          <p:nvSpPr>
            <p:cNvPr id="34" name="Rectangle 33">
              <a:extLst>
                <a:ext uri="{FF2B5EF4-FFF2-40B4-BE49-F238E27FC236}">
                  <a16:creationId xmlns:a16="http://schemas.microsoft.com/office/drawing/2014/main" id="{EB20F381-1CE4-4380-9883-46373D641BC7}"/>
                </a:ext>
              </a:extLst>
            </p:cNvPr>
            <p:cNvSpPr/>
            <p:nvPr/>
          </p:nvSpPr>
          <p:spPr>
            <a:xfrm>
              <a:off x="3608614"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TextBox 43">
              <a:extLst>
                <a:ext uri="{FF2B5EF4-FFF2-40B4-BE49-F238E27FC236}">
                  <a16:creationId xmlns:a16="http://schemas.microsoft.com/office/drawing/2014/main" id="{641280EF-4B92-450C-9907-E8D0CC39D904}"/>
                </a:ext>
              </a:extLst>
            </p:cNvPr>
            <p:cNvSpPr txBox="1"/>
            <p:nvPr/>
          </p:nvSpPr>
          <p:spPr>
            <a:xfrm>
              <a:off x="3832983" y="3515096"/>
              <a:ext cx="784266" cy="3108543"/>
            </a:xfrm>
            <a:prstGeom prst="rect">
              <a:avLst/>
            </a:prstGeom>
            <a:grpFill/>
            <a:ln>
              <a:noFill/>
            </a:ln>
          </p:spPr>
          <p:txBody>
            <a:bodyPr wrap="square" rtlCol="1">
              <a:spAutoFit/>
            </a:bodyPr>
            <a:lstStyle/>
            <a:p>
              <a:pPr algn="ctr"/>
              <a:r>
                <a:rPr lang="fa-IR" sz="2800" dirty="0">
                  <a:cs typeface="2  Nazanin" panose="00000400000000000000" pitchFamily="2" charset="-78"/>
                </a:rPr>
                <a:t>ملات گچ و خاک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 ماسه</a:t>
              </a:r>
            </a:p>
          </p:txBody>
        </p:sp>
      </p:grpSp>
      <p:grpSp>
        <p:nvGrpSpPr>
          <p:cNvPr id="53" name="Group 52">
            <a:extLst>
              <a:ext uri="{FF2B5EF4-FFF2-40B4-BE49-F238E27FC236}">
                <a16:creationId xmlns:a16="http://schemas.microsoft.com/office/drawing/2014/main" id="{F223EA48-6AEE-4EAE-BF48-489AA089B7EA}"/>
              </a:ext>
            </a:extLst>
          </p:cNvPr>
          <p:cNvGrpSpPr/>
          <p:nvPr/>
        </p:nvGrpSpPr>
        <p:grpSpPr>
          <a:xfrm>
            <a:off x="365586" y="3173999"/>
            <a:ext cx="1199408" cy="3667665"/>
            <a:chOff x="2409206" y="3190335"/>
            <a:chExt cx="1199408" cy="3667665"/>
          </a:xfrm>
        </p:grpSpPr>
        <p:sp>
          <p:nvSpPr>
            <p:cNvPr id="33" name="Rectangle 32">
              <a:extLst>
                <a:ext uri="{FF2B5EF4-FFF2-40B4-BE49-F238E27FC236}">
                  <a16:creationId xmlns:a16="http://schemas.microsoft.com/office/drawing/2014/main" id="{DF287A53-248F-4C60-B1F0-0D5AB598910B}"/>
                </a:ext>
              </a:extLst>
            </p:cNvPr>
            <p:cNvSpPr/>
            <p:nvPr/>
          </p:nvSpPr>
          <p:spPr>
            <a:xfrm>
              <a:off x="2409206" y="3190335"/>
              <a:ext cx="1199408" cy="366766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3" name="TextBox 42">
              <a:extLst>
                <a:ext uri="{FF2B5EF4-FFF2-40B4-BE49-F238E27FC236}">
                  <a16:creationId xmlns:a16="http://schemas.microsoft.com/office/drawing/2014/main" id="{2C5B7EDD-D3ED-47BB-9575-1D309DE52295}"/>
                </a:ext>
              </a:extLst>
            </p:cNvPr>
            <p:cNvSpPr txBox="1"/>
            <p:nvPr/>
          </p:nvSpPr>
          <p:spPr>
            <a:xfrm>
              <a:off x="2611583" y="3525982"/>
              <a:ext cx="879764" cy="3046988"/>
            </a:xfrm>
            <a:prstGeom prst="rect">
              <a:avLst/>
            </a:prstGeom>
            <a:noFill/>
            <a:ln>
              <a:noFill/>
            </a:ln>
          </p:spPr>
          <p:txBody>
            <a:bodyPr wrap="square" rtlCol="1">
              <a:spAutoFit/>
            </a:bodyPr>
            <a:lstStyle/>
            <a:p>
              <a:pPr algn="ctr"/>
              <a:r>
                <a:rPr lang="fa-IR" sz="2400" dirty="0">
                  <a:cs typeface="2  Nazanin" panose="00000400000000000000" pitchFamily="2" charset="-78"/>
                </a:rPr>
                <a:t>ملات ساروج</a:t>
              </a:r>
            </a:p>
            <a:p>
              <a:pPr algn="ctr"/>
              <a:endParaRPr lang="fa-IR" sz="2400" dirty="0">
                <a:cs typeface="2  Nazanin" panose="00000400000000000000" pitchFamily="2" charset="-78"/>
              </a:endParaRPr>
            </a:p>
            <a:p>
              <a:pPr algn="ctr"/>
              <a:endParaRPr lang="en-US" sz="2400" dirty="0">
                <a:cs typeface="2  Nazanin" panose="00000400000000000000" pitchFamily="2" charset="-78"/>
              </a:endParaRPr>
            </a:p>
            <a:p>
              <a:pPr algn="ctr"/>
              <a:r>
                <a:rPr lang="fa-IR" sz="2400" dirty="0">
                  <a:cs typeface="2  Nazanin" panose="00000400000000000000" pitchFamily="2" charset="-78"/>
                </a:rPr>
                <a:t>ملات  خمیرهای گچی</a:t>
              </a:r>
            </a:p>
          </p:txBody>
        </p:sp>
      </p:grpSp>
      <p:grpSp>
        <p:nvGrpSpPr>
          <p:cNvPr id="52" name="Group 51">
            <a:extLst>
              <a:ext uri="{FF2B5EF4-FFF2-40B4-BE49-F238E27FC236}">
                <a16:creationId xmlns:a16="http://schemas.microsoft.com/office/drawing/2014/main" id="{8CB2A514-8688-4710-A451-494283ED238A}"/>
              </a:ext>
            </a:extLst>
          </p:cNvPr>
          <p:cNvGrpSpPr/>
          <p:nvPr/>
        </p:nvGrpSpPr>
        <p:grpSpPr>
          <a:xfrm>
            <a:off x="107479" y="3184399"/>
            <a:ext cx="1199408" cy="3667665"/>
            <a:chOff x="1209798" y="3190335"/>
            <a:chExt cx="1199408" cy="3667665"/>
          </a:xfrm>
        </p:grpSpPr>
        <p:sp>
          <p:nvSpPr>
            <p:cNvPr id="32" name="Rectangle 31">
              <a:extLst>
                <a:ext uri="{FF2B5EF4-FFF2-40B4-BE49-F238E27FC236}">
                  <a16:creationId xmlns:a16="http://schemas.microsoft.com/office/drawing/2014/main" id="{BE078B3D-6C67-4D4A-87B4-6555942DBD9A}"/>
                </a:ext>
              </a:extLst>
            </p:cNvPr>
            <p:cNvSpPr/>
            <p:nvPr/>
          </p:nvSpPr>
          <p:spPr>
            <a:xfrm>
              <a:off x="1209798" y="3190335"/>
              <a:ext cx="1199408" cy="36676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2" name="TextBox 41">
              <a:extLst>
                <a:ext uri="{FF2B5EF4-FFF2-40B4-BE49-F238E27FC236}">
                  <a16:creationId xmlns:a16="http://schemas.microsoft.com/office/drawing/2014/main" id="{F121F265-1C65-4B01-A8AB-8342535A1CA9}"/>
                </a:ext>
              </a:extLst>
            </p:cNvPr>
            <p:cNvSpPr txBox="1"/>
            <p:nvPr/>
          </p:nvSpPr>
          <p:spPr>
            <a:xfrm>
              <a:off x="1398814" y="3523206"/>
              <a:ext cx="88124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گل و کاهگ</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اهک</a:t>
              </a:r>
            </a:p>
          </p:txBody>
        </p:sp>
      </p:grpSp>
      <p:grpSp>
        <p:nvGrpSpPr>
          <p:cNvPr id="51" name="Group 50">
            <a:extLst>
              <a:ext uri="{FF2B5EF4-FFF2-40B4-BE49-F238E27FC236}">
                <a16:creationId xmlns:a16="http://schemas.microsoft.com/office/drawing/2014/main" id="{D023384A-009A-4142-AE86-D2852B9C591D}"/>
              </a:ext>
            </a:extLst>
          </p:cNvPr>
          <p:cNvGrpSpPr/>
          <p:nvPr/>
        </p:nvGrpSpPr>
        <p:grpSpPr>
          <a:xfrm>
            <a:off x="-116939" y="3166586"/>
            <a:ext cx="1199408" cy="3667665"/>
            <a:chOff x="0" y="3190335"/>
            <a:chExt cx="1199408" cy="3667665"/>
          </a:xfrm>
        </p:grpSpPr>
        <p:sp>
          <p:nvSpPr>
            <p:cNvPr id="2" name="Rectangle 1">
              <a:extLst>
                <a:ext uri="{FF2B5EF4-FFF2-40B4-BE49-F238E27FC236}">
                  <a16:creationId xmlns:a16="http://schemas.microsoft.com/office/drawing/2014/main" id="{5FF3F0D0-59D1-49EB-9E93-6E866F8B28A9}"/>
                </a:ext>
              </a:extLst>
            </p:cNvPr>
            <p:cNvSpPr/>
            <p:nvPr/>
          </p:nvSpPr>
          <p:spPr>
            <a:xfrm>
              <a:off x="0" y="3190335"/>
              <a:ext cx="1199408" cy="36676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1" name="TextBox 40">
              <a:extLst>
                <a:ext uri="{FF2B5EF4-FFF2-40B4-BE49-F238E27FC236}">
                  <a16:creationId xmlns:a16="http://schemas.microsoft.com/office/drawing/2014/main" id="{B7856EF2-C687-43BF-AFC9-AFD2899A6EE9}"/>
                </a:ext>
              </a:extLst>
            </p:cNvPr>
            <p:cNvSpPr txBox="1"/>
            <p:nvPr/>
          </p:nvSpPr>
          <p:spPr>
            <a:xfrm>
              <a:off x="116990" y="3515096"/>
              <a:ext cx="951790"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هوایی</a:t>
              </a:r>
            </a:p>
            <a:p>
              <a:pPr algn="ctr"/>
              <a:endParaRPr lang="fa-IR" sz="2800" dirty="0">
                <a:cs typeface="2  Nazanin" panose="00000400000000000000" pitchFamily="2" charset="-78"/>
              </a:endParaRPr>
            </a:p>
            <a:p>
              <a:pPr algn="ctr"/>
              <a:endParaRPr lang="en-US" sz="2800" dirty="0">
                <a:cs typeface="2  Nazanin" panose="00000400000000000000" pitchFamily="2" charset="-78"/>
              </a:endParaRPr>
            </a:p>
            <a:p>
              <a:pPr algn="ctr"/>
              <a:r>
                <a:rPr lang="fa-IR" sz="2800" dirty="0">
                  <a:cs typeface="2  Nazanin" panose="00000400000000000000" pitchFamily="2" charset="-78"/>
                </a:rPr>
                <a:t>ملات آبی</a:t>
              </a:r>
            </a:p>
          </p:txBody>
        </p:sp>
      </p:grpSp>
      <p:grpSp>
        <p:nvGrpSpPr>
          <p:cNvPr id="64" name="Group 63">
            <a:extLst>
              <a:ext uri="{FF2B5EF4-FFF2-40B4-BE49-F238E27FC236}">
                <a16:creationId xmlns:a16="http://schemas.microsoft.com/office/drawing/2014/main" id="{A3921C50-E42F-4721-BEED-D2659DB0AA5B}"/>
              </a:ext>
            </a:extLst>
          </p:cNvPr>
          <p:cNvGrpSpPr/>
          <p:nvPr/>
        </p:nvGrpSpPr>
        <p:grpSpPr>
          <a:xfrm>
            <a:off x="-333542" y="3172038"/>
            <a:ext cx="1199408" cy="3667665"/>
            <a:chOff x="0" y="3190335"/>
            <a:chExt cx="1199408" cy="3667665"/>
          </a:xfrm>
          <a:solidFill>
            <a:srgbClr val="DACCF4"/>
          </a:solidFill>
        </p:grpSpPr>
        <p:sp>
          <p:nvSpPr>
            <p:cNvPr id="65" name="Rectangle 64">
              <a:extLst>
                <a:ext uri="{FF2B5EF4-FFF2-40B4-BE49-F238E27FC236}">
                  <a16:creationId xmlns:a16="http://schemas.microsoft.com/office/drawing/2014/main" id="{09FDB192-694F-4975-87D0-00C87E5995BC}"/>
                </a:ext>
              </a:extLst>
            </p:cNvPr>
            <p:cNvSpPr/>
            <p:nvPr/>
          </p:nvSpPr>
          <p:spPr>
            <a:xfrm>
              <a:off x="0"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6" name="TextBox 65">
              <a:extLst>
                <a:ext uri="{FF2B5EF4-FFF2-40B4-BE49-F238E27FC236}">
                  <a16:creationId xmlns:a16="http://schemas.microsoft.com/office/drawing/2014/main" id="{79E618F5-C3FC-46B2-8E40-7082EA4EF76D}"/>
                </a:ext>
              </a:extLst>
            </p:cNvPr>
            <p:cNvSpPr txBox="1"/>
            <p:nvPr/>
          </p:nvSpPr>
          <p:spPr>
            <a:xfrm>
              <a:off x="49259" y="3515096"/>
              <a:ext cx="1127481" cy="1938992"/>
            </a:xfrm>
            <a:prstGeom prst="rect">
              <a:avLst/>
            </a:prstGeom>
            <a:grpFill/>
          </p:spPr>
          <p:txBody>
            <a:bodyPr wrap="square" rtlCol="1">
              <a:spAutoFit/>
            </a:bodyPr>
            <a:lstStyle/>
            <a:p>
              <a:pPr algn="ctr"/>
              <a:r>
                <a:rPr lang="fa-IR" sz="2400" dirty="0">
                  <a:cs typeface="2  Nazanin" panose="00000400000000000000" pitchFamily="2" charset="-78"/>
                </a:rPr>
                <a:t>ملات ساختمانی از نظر مواد چسباننده</a:t>
              </a: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135408"/>
            <a:ext cx="12192000" cy="7550727"/>
            <a:chOff x="0" y="0"/>
            <a:chExt cx="12192000" cy="7550727"/>
          </a:xfrm>
          <a:solidFill>
            <a:srgbClr val="F9B69C"/>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24" y="-5320799"/>
            <a:ext cx="12192000" cy="7550727"/>
            <a:chOff x="0" y="0"/>
            <a:chExt cx="12192000" cy="7550727"/>
          </a:xfrm>
          <a:solidFill>
            <a:srgbClr val="E25D7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866669"/>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pic>
        <p:nvPicPr>
          <p:cNvPr id="21" name="Picture 20">
            <a:extLst>
              <a:ext uri="{FF2B5EF4-FFF2-40B4-BE49-F238E27FC236}">
                <a16:creationId xmlns:a16="http://schemas.microsoft.com/office/drawing/2014/main" id="{0ABAB0FE-6C4B-44B5-AFDA-99A8FB0E0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585" y="4460519"/>
            <a:ext cx="3404903" cy="2042942"/>
          </a:xfrm>
          <a:prstGeom prst="rect">
            <a:avLst/>
          </a:prstGeom>
        </p:spPr>
      </p:pic>
      <p:pic>
        <p:nvPicPr>
          <p:cNvPr id="24" name="Picture 23">
            <a:extLst>
              <a:ext uri="{FF2B5EF4-FFF2-40B4-BE49-F238E27FC236}">
                <a16:creationId xmlns:a16="http://schemas.microsoft.com/office/drawing/2014/main" id="{E22CE373-13CE-48A3-9B07-F564562EFA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581" y="1870755"/>
            <a:ext cx="3384905" cy="2252500"/>
          </a:xfrm>
          <a:prstGeom prst="rect">
            <a:avLst/>
          </a:prstGeom>
        </p:spPr>
      </p:pic>
      <p:sp>
        <p:nvSpPr>
          <p:cNvPr id="20" name="TextBox 19">
            <a:extLst>
              <a:ext uri="{FF2B5EF4-FFF2-40B4-BE49-F238E27FC236}">
                <a16:creationId xmlns:a16="http://schemas.microsoft.com/office/drawing/2014/main" id="{909BB2EA-FCA3-4096-BF20-26CF636B0148}"/>
              </a:ext>
            </a:extLst>
          </p:cNvPr>
          <p:cNvSpPr txBox="1"/>
          <p:nvPr/>
        </p:nvSpPr>
        <p:spPr>
          <a:xfrm>
            <a:off x="4295717" y="2035706"/>
            <a:ext cx="7722178" cy="4154984"/>
          </a:xfrm>
          <a:prstGeom prst="rect">
            <a:avLst/>
          </a:prstGeom>
          <a:noFill/>
        </p:spPr>
        <p:txBody>
          <a:bodyPr wrap="square" rtlCol="1">
            <a:spAutoFit/>
          </a:bodyPr>
          <a:lstStyle/>
          <a:p>
            <a:pPr algn="r"/>
            <a:r>
              <a:rPr lang="fa-IR" sz="2400" b="1" dirty="0">
                <a:cs typeface="2  Nazanin" panose="00000400000000000000" pitchFamily="2" charset="-78"/>
              </a:rPr>
              <a:t>ازمایش ها</a:t>
            </a:r>
          </a:p>
          <a:p>
            <a:pPr algn="r"/>
            <a:r>
              <a:rPr lang="fa-IR" sz="2400" dirty="0">
                <a:cs typeface="2  Nazanin" panose="00000400000000000000" pitchFamily="2" charset="-78"/>
              </a:rPr>
              <a:t>آزمايش هايي كه بايد روي ملات ها انجام شود، به اين شرح است: آزمايش هاي رواني مـلات، قابليـت نگهداري آب و مقاومت فشاري</a:t>
            </a:r>
          </a:p>
          <a:p>
            <a:pPr algn="r"/>
            <a:r>
              <a:rPr lang="fa-IR" sz="2400" b="1" dirty="0">
                <a:cs typeface="2  Nazanin" panose="00000400000000000000" pitchFamily="2" charset="-78"/>
              </a:rPr>
              <a:t>ایمنی</a:t>
            </a:r>
          </a:p>
          <a:p>
            <a:pPr algn="r"/>
            <a:r>
              <a:rPr lang="fa-IR" sz="2400" dirty="0">
                <a:cs typeface="2  Nazanin" panose="00000400000000000000" pitchFamily="2" charset="-78"/>
              </a:rPr>
              <a:t>آهك به چشم و پوست آسيب ميرساند و تـنفس بخـار آهـك زنـده، هنگـام شـكفتن، زيان اور است. بهتر است در كارگاه ساختماني از آهك هيدراته استفاده شود. اگر ضروري است آهك زنده در محل مصرف شكفته شود، حتماً بايد به ايمني كار توجه شود.</a:t>
            </a:r>
          </a:p>
          <a:p>
            <a:pPr algn="r"/>
            <a:r>
              <a:rPr lang="fa-IR" sz="2400" dirty="0">
                <a:cs typeface="2  Nazanin" panose="00000400000000000000" pitchFamily="2" charset="-78"/>
              </a:rPr>
              <a:t>از آنجا كه فرآيند توليد سيمان، به سبب توليد مقدار زيادي دي اكسيد كربن، موجـب اسيب شديد محيط زيست ميشود، بهتر است، به جاي سـيمان پرتلنـد، از مـلات سـيمان بنـايي، ملات سيمان پوزولاني استفاده شود</a:t>
            </a:r>
          </a:p>
        </p:txBody>
      </p:sp>
    </p:spTree>
    <p:extLst>
      <p:ext uri="{BB962C8B-B14F-4D97-AF65-F5344CB8AC3E}">
        <p14:creationId xmlns:p14="http://schemas.microsoft.com/office/powerpoint/2010/main" val="317860582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33333E-6 0.00486 L 0.08295 0.00301 " pathEditMode="relative" rAng="0" ptsTypes="AA">
                                      <p:cBhvr>
                                        <p:cTn id="6" dur="2000" fill="hold"/>
                                        <p:tgtEl>
                                          <p:spTgt spid="51"/>
                                        </p:tgtEl>
                                        <p:attrNameLst>
                                          <p:attrName>ppt_x</p:attrName>
                                          <p:attrName>ppt_y</p:attrName>
                                        </p:attrNameLst>
                                      </p:cBhvr>
                                      <p:rCtr x="4141" y="-93"/>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0273 0.00162 L 0.16315 -0.00115 " pathEditMode="relative" rAng="0" ptsTypes="AA">
                                      <p:cBhvr>
                                        <p:cTn id="10" dur="2000" fill="hold"/>
                                        <p:tgtEl>
                                          <p:spTgt spid="52"/>
                                        </p:tgtEl>
                                        <p:attrNameLst>
                                          <p:attrName>ppt_x</p:attrName>
                                          <p:attrName>ppt_y</p:attrName>
                                        </p:attrNameLst>
                                      </p:cBhvr>
                                      <p:rCtr x="8294" y="-139"/>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0183 0.00324 L 0.24023 0.00209 " pathEditMode="relative" rAng="0" ptsTypes="AA">
                                      <p:cBhvr>
                                        <p:cTn id="14" dur="2000" fill="hold"/>
                                        <p:tgtEl>
                                          <p:spTgt spid="53"/>
                                        </p:tgtEl>
                                        <p:attrNameLst>
                                          <p:attrName>ppt_x</p:attrName>
                                          <p:attrName>ppt_y</p:attrName>
                                        </p:attrNameLst>
                                      </p:cBhvr>
                                      <p:rCtr x="12096" y="-69"/>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0091 2.96296E-6 L 0.31081 0.00347 " pathEditMode="relative" rAng="0" ptsTypes="AA">
                                      <p:cBhvr>
                                        <p:cTn id="18" dur="2000" fill="hold"/>
                                        <p:tgtEl>
                                          <p:spTgt spid="54"/>
                                        </p:tgtEl>
                                        <p:attrNameLst>
                                          <p:attrName>ppt_x</p:attrName>
                                          <p:attrName>ppt_y</p:attrName>
                                        </p:attrNameLst>
                                      </p:cBhvr>
                                      <p:rCtr x="15586" y="162"/>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00638 0.00162 L 0.39414 0.00301 " pathEditMode="relative" rAng="0" ptsTypes="AA">
                                      <p:cBhvr>
                                        <p:cTn id="22" dur="2000" fill="hold"/>
                                        <p:tgtEl>
                                          <p:spTgt spid="55"/>
                                        </p:tgtEl>
                                        <p:attrNameLst>
                                          <p:attrName>ppt_x</p:attrName>
                                          <p:attrName>ppt_y</p:attrName>
                                        </p:attrNameLst>
                                      </p:cBhvr>
                                      <p:rCtr x="20026" y="69"/>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00821 0.00486 L 0.47916 0.00463 " pathEditMode="relative" rAng="0" ptsTypes="AA">
                                      <p:cBhvr>
                                        <p:cTn id="26" dur="2000" fill="hold"/>
                                        <p:tgtEl>
                                          <p:spTgt spid="56"/>
                                        </p:tgtEl>
                                        <p:attrNameLst>
                                          <p:attrName>ppt_x</p:attrName>
                                          <p:attrName>ppt_y</p:attrName>
                                        </p:attrNameLst>
                                      </p:cBhvr>
                                      <p:rCtr x="24362" y="-23"/>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0.00364 0.0051 L 0.56796 0.00185 " pathEditMode="relative" rAng="0" ptsTypes="AA">
                                      <p:cBhvr>
                                        <p:cTn id="30" dur="2000" fill="hold"/>
                                        <p:tgtEl>
                                          <p:spTgt spid="57"/>
                                        </p:tgtEl>
                                        <p:attrNameLst>
                                          <p:attrName>ppt_x</p:attrName>
                                          <p:attrName>ppt_y</p:attrName>
                                        </p:attrNameLst>
                                      </p:cBhvr>
                                      <p:rCtr x="28216" y="-162"/>
                                    </p:animMotion>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00273 0.0081 L 0.63958 0.00301 " pathEditMode="relative" rAng="0" ptsTypes="AA">
                                      <p:cBhvr>
                                        <p:cTn id="34" dur="2000" fill="hold"/>
                                        <p:tgtEl>
                                          <p:spTgt spid="58"/>
                                        </p:tgtEl>
                                        <p:attrNameLst>
                                          <p:attrName>ppt_x</p:attrName>
                                          <p:attrName>ppt_y</p:attrName>
                                        </p:attrNameLst>
                                      </p:cBhvr>
                                      <p:rCtr x="31836" y="-255"/>
                                    </p:animMotion>
                                  </p:childTnLst>
                                </p:cTn>
                              </p:par>
                            </p:childTnLst>
                          </p:cTn>
                        </p:par>
                      </p:childTnLst>
                    </p:cTn>
                  </p:par>
                  <p:par>
                    <p:cTn id="35" fill="hold">
                      <p:stCondLst>
                        <p:cond delay="indefinite"/>
                      </p:stCondLst>
                      <p:childTnLst>
                        <p:par>
                          <p:cTn id="36" fill="hold">
                            <p:stCondLst>
                              <p:cond delay="0"/>
                            </p:stCondLst>
                            <p:childTnLst>
                              <p:par>
                                <p:cTn id="37" presetID="63" presetClass="path" presetSubtype="0" accel="50000" decel="50000" fill="hold" nodeType="clickEffect">
                                  <p:stCondLst>
                                    <p:cond delay="0"/>
                                  </p:stCondLst>
                                  <p:childTnLst>
                                    <p:animMotion origin="layout" path="M 0.00364 -0.00162 L 0.70507 0.00208 " pathEditMode="relative" rAng="0" ptsTypes="AA">
                                      <p:cBhvr>
                                        <p:cTn id="38" dur="2000" fill="hold"/>
                                        <p:tgtEl>
                                          <p:spTgt spid="59"/>
                                        </p:tgtEl>
                                        <p:attrNameLst>
                                          <p:attrName>ppt_x</p:attrName>
                                          <p:attrName>ppt_y</p:attrName>
                                        </p:attrNameLst>
                                      </p:cBhvr>
                                      <p:rCtr x="35065" y="185"/>
                                    </p:animMotion>
                                  </p:childTnLst>
                                </p:cTn>
                              </p:par>
                            </p:childTnLst>
                          </p:cTn>
                        </p:par>
                      </p:childTnLst>
                    </p:cTn>
                  </p:par>
                  <p:par>
                    <p:cTn id="39" fill="hold">
                      <p:stCondLst>
                        <p:cond delay="indefinite"/>
                      </p:stCondLst>
                      <p:childTnLst>
                        <p:par>
                          <p:cTn id="40" fill="hold">
                            <p:stCondLst>
                              <p:cond delay="0"/>
                            </p:stCondLst>
                            <p:childTnLst>
                              <p:par>
                                <p:cTn id="41" presetID="63" presetClass="path" presetSubtype="0" accel="50000" decel="50000" fill="hold" nodeType="clickEffect">
                                  <p:stCondLst>
                                    <p:cond delay="0"/>
                                  </p:stCondLst>
                                  <p:childTnLst>
                                    <p:animMotion origin="layout" path="M 0.00547 -0.00648 L 0.78269 0.00093 " pathEditMode="relative" rAng="0" ptsTypes="AA">
                                      <p:cBhvr>
                                        <p:cTn id="42" dur="2000" fill="hold"/>
                                        <p:tgtEl>
                                          <p:spTgt spid="60"/>
                                        </p:tgtEl>
                                        <p:attrNameLst>
                                          <p:attrName>ppt_x</p:attrName>
                                          <p:attrName>ppt_y</p:attrName>
                                        </p:attrNameLst>
                                      </p:cBhvr>
                                      <p:rCtr x="38854" y="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180114" y="3778501"/>
            <a:ext cx="7764244" cy="2677656"/>
          </a:xfrm>
          <a:prstGeom prst="rect">
            <a:avLst/>
          </a:prstGeom>
          <a:noFill/>
        </p:spPr>
        <p:txBody>
          <a:bodyPr wrap="square" rtlCol="1">
            <a:spAutoFit/>
          </a:bodyPr>
          <a:lstStyle/>
          <a:p>
            <a:pPr algn="r"/>
            <a:r>
              <a:rPr lang="fa-IR" sz="2400" b="1" dirty="0">
                <a:cs typeface="2  Nazanin" panose="00000400000000000000" pitchFamily="2" charset="-78"/>
              </a:rPr>
              <a:t>ملات</a:t>
            </a:r>
          </a:p>
          <a:p>
            <a:pPr algn="r"/>
            <a:r>
              <a:rPr lang="fa-IR" sz="2400" dirty="0">
                <a:cs typeface="2  Nazanin" panose="00000400000000000000" pitchFamily="2" charset="-78"/>
              </a:rPr>
              <a:t>ملات تازه، جسمي است خميري كه از اختلاط جسـم چسـباننده، ماننـد خميـر سـيمان، و جسـم پركننده، مانند سنگدانة ريز، ساخته و در صورت نياز به مشخصات ويژة كاربري، از مواد افزودني در ان استفاده ميشود. از ملات براي چسباندن قطعات مصالح بنايي به يكديگر، تـأمين بسـتري بـراي توزيع بار، اندودكاري، نماسازي و بندكشي استفاده ميكنند. روان ملاتها نوعي ملات هسـتند كـه بدون حالت جداشدگي سنگدانه قابليت پركردن فضاها را با رواني بالا دارند.</a:t>
            </a:r>
          </a:p>
        </p:txBody>
      </p:sp>
      <p:pic>
        <p:nvPicPr>
          <p:cNvPr id="22" name="Picture 21">
            <a:extLst>
              <a:ext uri="{FF2B5EF4-FFF2-40B4-BE49-F238E27FC236}">
                <a16:creationId xmlns:a16="http://schemas.microsoft.com/office/drawing/2014/main" id="{2E21372D-979F-48CE-8AD5-0345A66AB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642" y="3680722"/>
            <a:ext cx="3789968" cy="303197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3137"/>
            <a:ext cx="12192000" cy="7550727"/>
            <a:chOff x="0" y="0"/>
            <a:chExt cx="12192000" cy="7550727"/>
          </a:xfrm>
          <a:solidFill>
            <a:srgbClr val="F8D6A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60" name="Group 59">
            <a:extLst>
              <a:ext uri="{FF2B5EF4-FFF2-40B4-BE49-F238E27FC236}">
                <a16:creationId xmlns:a16="http://schemas.microsoft.com/office/drawing/2014/main" id="{2A3CBF84-578B-4D4A-91DF-368AECCE563B}"/>
              </a:ext>
            </a:extLst>
          </p:cNvPr>
          <p:cNvGrpSpPr/>
          <p:nvPr/>
        </p:nvGrpSpPr>
        <p:grpSpPr>
          <a:xfrm>
            <a:off x="1461805" y="3186553"/>
            <a:ext cx="1386914" cy="3667665"/>
            <a:chOff x="10805062" y="3190335"/>
            <a:chExt cx="1386914" cy="3667665"/>
          </a:xfrm>
        </p:grpSpPr>
        <p:sp>
          <p:nvSpPr>
            <p:cNvPr id="40" name="Rectangle 39">
              <a:extLst>
                <a:ext uri="{FF2B5EF4-FFF2-40B4-BE49-F238E27FC236}">
                  <a16:creationId xmlns:a16="http://schemas.microsoft.com/office/drawing/2014/main" id="{4321344B-43E2-470F-AA45-746A1A93873D}"/>
                </a:ext>
              </a:extLst>
            </p:cNvPr>
            <p:cNvSpPr/>
            <p:nvPr/>
          </p:nvSpPr>
          <p:spPr>
            <a:xfrm>
              <a:off x="10805062" y="3190335"/>
              <a:ext cx="1386914" cy="36676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0" name="TextBox 49">
              <a:extLst>
                <a:ext uri="{FF2B5EF4-FFF2-40B4-BE49-F238E27FC236}">
                  <a16:creationId xmlns:a16="http://schemas.microsoft.com/office/drawing/2014/main" id="{0F981413-6BCA-4A93-AD56-D1AE11099C89}"/>
                </a:ext>
              </a:extLst>
            </p:cNvPr>
            <p:cNvSpPr txBox="1"/>
            <p:nvPr/>
          </p:nvSpPr>
          <p:spPr>
            <a:xfrm>
              <a:off x="10917415" y="3645664"/>
              <a:ext cx="1169447"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بنایی سبک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ضد اسید</a:t>
              </a:r>
            </a:p>
          </p:txBody>
        </p:sp>
      </p:grpSp>
      <p:grpSp>
        <p:nvGrpSpPr>
          <p:cNvPr id="59" name="Group 58">
            <a:extLst>
              <a:ext uri="{FF2B5EF4-FFF2-40B4-BE49-F238E27FC236}">
                <a16:creationId xmlns:a16="http://schemas.microsoft.com/office/drawing/2014/main" id="{83BEAC4C-7651-4367-B0FD-4A1D16D39B41}"/>
              </a:ext>
            </a:extLst>
          </p:cNvPr>
          <p:cNvGrpSpPr/>
          <p:nvPr/>
        </p:nvGrpSpPr>
        <p:grpSpPr>
          <a:xfrm>
            <a:off x="1423131" y="3188935"/>
            <a:ext cx="1199408" cy="3667665"/>
            <a:chOff x="9605654" y="3190335"/>
            <a:chExt cx="1199408" cy="3667665"/>
          </a:xfrm>
        </p:grpSpPr>
        <p:sp>
          <p:nvSpPr>
            <p:cNvPr id="39" name="Rectangle 38">
              <a:extLst>
                <a:ext uri="{FF2B5EF4-FFF2-40B4-BE49-F238E27FC236}">
                  <a16:creationId xmlns:a16="http://schemas.microsoft.com/office/drawing/2014/main" id="{71760BA2-5F62-430C-B18D-889D7BC9F8CD}"/>
                </a:ext>
              </a:extLst>
            </p:cNvPr>
            <p:cNvSpPr/>
            <p:nvPr/>
          </p:nvSpPr>
          <p:spPr>
            <a:xfrm>
              <a:off x="9605654" y="3190335"/>
              <a:ext cx="1199408" cy="366766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9" name="TextBox 48">
              <a:extLst>
                <a:ext uri="{FF2B5EF4-FFF2-40B4-BE49-F238E27FC236}">
                  <a16:creationId xmlns:a16="http://schemas.microsoft.com/office/drawing/2014/main" id="{DB628206-CFE4-49BB-8071-4732371B4464}"/>
                </a:ext>
              </a:extLst>
            </p:cNvPr>
            <p:cNvSpPr txBox="1"/>
            <p:nvPr/>
          </p:nvSpPr>
          <p:spPr>
            <a:xfrm>
              <a:off x="9748158" y="3607253"/>
              <a:ext cx="85128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های بنایی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اماده</a:t>
              </a:r>
            </a:p>
          </p:txBody>
        </p:sp>
      </p:grpSp>
      <p:grpSp>
        <p:nvGrpSpPr>
          <p:cNvPr id="58" name="Group 57">
            <a:extLst>
              <a:ext uri="{FF2B5EF4-FFF2-40B4-BE49-F238E27FC236}">
                <a16:creationId xmlns:a16="http://schemas.microsoft.com/office/drawing/2014/main" id="{6DCB1871-6334-4E2E-A08B-D1065664817C}"/>
              </a:ext>
            </a:extLst>
          </p:cNvPr>
          <p:cNvGrpSpPr/>
          <p:nvPr/>
        </p:nvGrpSpPr>
        <p:grpSpPr>
          <a:xfrm>
            <a:off x="1274138" y="3178535"/>
            <a:ext cx="1199408" cy="3667665"/>
            <a:chOff x="8406246" y="3190335"/>
            <a:chExt cx="1199408" cy="3667665"/>
          </a:xfrm>
        </p:grpSpPr>
        <p:sp>
          <p:nvSpPr>
            <p:cNvPr id="38" name="Rectangle 37">
              <a:extLst>
                <a:ext uri="{FF2B5EF4-FFF2-40B4-BE49-F238E27FC236}">
                  <a16:creationId xmlns:a16="http://schemas.microsoft.com/office/drawing/2014/main" id="{B678E863-3216-4934-B191-A733C25E132F}"/>
                </a:ext>
              </a:extLst>
            </p:cNvPr>
            <p:cNvSpPr/>
            <p:nvPr/>
          </p:nvSpPr>
          <p:spPr>
            <a:xfrm>
              <a:off x="8406246" y="3190335"/>
              <a:ext cx="1199408" cy="36676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853E185A-08D4-445F-83DF-85B91BBE0B76}"/>
                </a:ext>
              </a:extLst>
            </p:cNvPr>
            <p:cNvSpPr txBox="1"/>
            <p:nvPr/>
          </p:nvSpPr>
          <p:spPr>
            <a:xfrm>
              <a:off x="8577258" y="3579328"/>
              <a:ext cx="92789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سیمان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قیری</a:t>
              </a:r>
            </a:p>
          </p:txBody>
        </p:sp>
      </p:grpSp>
      <p:grpSp>
        <p:nvGrpSpPr>
          <p:cNvPr id="57" name="Group 56">
            <a:extLst>
              <a:ext uri="{FF2B5EF4-FFF2-40B4-BE49-F238E27FC236}">
                <a16:creationId xmlns:a16="http://schemas.microsoft.com/office/drawing/2014/main" id="{A180990E-D62C-4392-A354-456BA44C7F66}"/>
              </a:ext>
            </a:extLst>
          </p:cNvPr>
          <p:cNvGrpSpPr/>
          <p:nvPr/>
        </p:nvGrpSpPr>
        <p:grpSpPr>
          <a:xfrm>
            <a:off x="1118253" y="3173112"/>
            <a:ext cx="1199408" cy="3667665"/>
            <a:chOff x="7206838" y="3190335"/>
            <a:chExt cx="1199408" cy="3667665"/>
          </a:xfrm>
        </p:grpSpPr>
        <p:sp>
          <p:nvSpPr>
            <p:cNvPr id="37" name="Rectangle 36">
              <a:extLst>
                <a:ext uri="{FF2B5EF4-FFF2-40B4-BE49-F238E27FC236}">
                  <a16:creationId xmlns:a16="http://schemas.microsoft.com/office/drawing/2014/main" id="{68E05527-09FC-46CC-968E-A08E73E14488}"/>
                </a:ext>
              </a:extLst>
            </p:cNvPr>
            <p:cNvSpPr/>
            <p:nvPr/>
          </p:nvSpPr>
          <p:spPr>
            <a:xfrm>
              <a:off x="7206838" y="3190335"/>
              <a:ext cx="1199408" cy="36676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7" name="TextBox 46">
              <a:extLst>
                <a:ext uri="{FF2B5EF4-FFF2-40B4-BE49-F238E27FC236}">
                  <a16:creationId xmlns:a16="http://schemas.microsoft.com/office/drawing/2014/main" id="{AAF2DAC3-8863-43C0-940F-F35C20BE1572}"/>
                </a:ext>
              </a:extLst>
            </p:cNvPr>
            <p:cNvSpPr txBox="1"/>
            <p:nvPr/>
          </p:nvSpPr>
          <p:spPr>
            <a:xfrm>
              <a:off x="7265335" y="3546618"/>
              <a:ext cx="1082414"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پوزولانی-اهک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ماسه سیمان</a:t>
              </a:r>
            </a:p>
          </p:txBody>
        </p:sp>
      </p:grpSp>
      <p:grpSp>
        <p:nvGrpSpPr>
          <p:cNvPr id="56" name="Group 55">
            <a:extLst>
              <a:ext uri="{FF2B5EF4-FFF2-40B4-BE49-F238E27FC236}">
                <a16:creationId xmlns:a16="http://schemas.microsoft.com/office/drawing/2014/main" id="{088C4457-BD06-454B-A165-D3EC5849D4E2}"/>
              </a:ext>
            </a:extLst>
          </p:cNvPr>
          <p:cNvGrpSpPr/>
          <p:nvPr/>
        </p:nvGrpSpPr>
        <p:grpSpPr>
          <a:xfrm>
            <a:off x="975749" y="3166586"/>
            <a:ext cx="1199408" cy="3667665"/>
            <a:chOff x="6007430" y="3190335"/>
            <a:chExt cx="1199408" cy="3667665"/>
          </a:xfrm>
        </p:grpSpPr>
        <p:sp>
          <p:nvSpPr>
            <p:cNvPr id="36" name="Rectangle 35">
              <a:extLst>
                <a:ext uri="{FF2B5EF4-FFF2-40B4-BE49-F238E27FC236}">
                  <a16:creationId xmlns:a16="http://schemas.microsoft.com/office/drawing/2014/main" id="{67F00B18-33D2-4FD1-B988-6723D5DDC21B}"/>
                </a:ext>
              </a:extLst>
            </p:cNvPr>
            <p:cNvSpPr/>
            <p:nvPr/>
          </p:nvSpPr>
          <p:spPr>
            <a:xfrm>
              <a:off x="6007430" y="3190335"/>
              <a:ext cx="1199408" cy="366766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6" name="TextBox 45">
              <a:extLst>
                <a:ext uri="{FF2B5EF4-FFF2-40B4-BE49-F238E27FC236}">
                  <a16:creationId xmlns:a16="http://schemas.microsoft.com/office/drawing/2014/main" id="{457B35DF-EB64-4AF4-88DA-DDBCE59E4229}"/>
                </a:ext>
              </a:extLst>
            </p:cNvPr>
            <p:cNvSpPr txBox="1"/>
            <p:nvPr/>
          </p:nvSpPr>
          <p:spPr>
            <a:xfrm>
              <a:off x="6089271" y="3548854"/>
              <a:ext cx="1082414"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و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پوزولانی</a:t>
              </a:r>
            </a:p>
          </p:txBody>
        </p:sp>
      </p:grpSp>
      <p:grpSp>
        <p:nvGrpSpPr>
          <p:cNvPr id="55" name="Group 54">
            <a:extLst>
              <a:ext uri="{FF2B5EF4-FFF2-40B4-BE49-F238E27FC236}">
                <a16:creationId xmlns:a16="http://schemas.microsoft.com/office/drawing/2014/main" id="{6419C5A0-ADC0-4B10-8C39-6A79CFBCFFE8}"/>
              </a:ext>
            </a:extLst>
          </p:cNvPr>
          <p:cNvGrpSpPr/>
          <p:nvPr/>
        </p:nvGrpSpPr>
        <p:grpSpPr>
          <a:xfrm>
            <a:off x="823247" y="3179634"/>
            <a:ext cx="1199408" cy="3667665"/>
            <a:chOff x="4808022" y="3190335"/>
            <a:chExt cx="1199408" cy="3667665"/>
          </a:xfrm>
        </p:grpSpPr>
        <p:sp>
          <p:nvSpPr>
            <p:cNvPr id="35" name="Rectangle 34">
              <a:extLst>
                <a:ext uri="{FF2B5EF4-FFF2-40B4-BE49-F238E27FC236}">
                  <a16:creationId xmlns:a16="http://schemas.microsoft.com/office/drawing/2014/main" id="{84ACA4EC-7BA5-4DA9-9A98-538D76264144}"/>
                </a:ext>
              </a:extLst>
            </p:cNvPr>
            <p:cNvSpPr/>
            <p:nvPr/>
          </p:nvSpPr>
          <p:spPr>
            <a:xfrm>
              <a:off x="4808022" y="3190335"/>
              <a:ext cx="1199408" cy="366766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5" name="TextBox 44">
              <a:extLst>
                <a:ext uri="{FF2B5EF4-FFF2-40B4-BE49-F238E27FC236}">
                  <a16:creationId xmlns:a16="http://schemas.microsoft.com/office/drawing/2014/main" id="{32E93009-4C4A-4C3C-9270-13EC44F3B20E}"/>
                </a:ext>
              </a:extLst>
            </p:cNvPr>
            <p:cNvSpPr txBox="1"/>
            <p:nvPr/>
          </p:nvSpPr>
          <p:spPr>
            <a:xfrm>
              <a:off x="4889863" y="3534912"/>
              <a:ext cx="105745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گچ و اهک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a:t>
              </a:r>
            </a:p>
            <a:p>
              <a:pPr algn="ctr"/>
              <a:r>
                <a:rPr lang="fa-IR" sz="2800" dirty="0">
                  <a:cs typeface="2  Nazanin" panose="00000400000000000000" pitchFamily="2" charset="-78"/>
                </a:rPr>
                <a:t>پرلیت</a:t>
              </a:r>
            </a:p>
          </p:txBody>
        </p:sp>
      </p:grpSp>
      <p:grpSp>
        <p:nvGrpSpPr>
          <p:cNvPr id="54" name="Group 53">
            <a:extLst>
              <a:ext uri="{FF2B5EF4-FFF2-40B4-BE49-F238E27FC236}">
                <a16:creationId xmlns:a16="http://schemas.microsoft.com/office/drawing/2014/main" id="{B447E35D-F239-456C-9616-C3C56F1E53CD}"/>
              </a:ext>
            </a:extLst>
          </p:cNvPr>
          <p:cNvGrpSpPr/>
          <p:nvPr/>
        </p:nvGrpSpPr>
        <p:grpSpPr>
          <a:xfrm>
            <a:off x="613144" y="3178947"/>
            <a:ext cx="1199408" cy="3667665"/>
            <a:chOff x="3608614" y="3190335"/>
            <a:chExt cx="1199408" cy="3667665"/>
          </a:xfrm>
          <a:solidFill>
            <a:srgbClr val="DACCF4"/>
          </a:solidFill>
        </p:grpSpPr>
        <p:sp>
          <p:nvSpPr>
            <p:cNvPr id="34" name="Rectangle 33">
              <a:extLst>
                <a:ext uri="{FF2B5EF4-FFF2-40B4-BE49-F238E27FC236}">
                  <a16:creationId xmlns:a16="http://schemas.microsoft.com/office/drawing/2014/main" id="{EB20F381-1CE4-4380-9883-46373D641BC7}"/>
                </a:ext>
              </a:extLst>
            </p:cNvPr>
            <p:cNvSpPr/>
            <p:nvPr/>
          </p:nvSpPr>
          <p:spPr>
            <a:xfrm>
              <a:off x="3608614"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TextBox 43">
              <a:extLst>
                <a:ext uri="{FF2B5EF4-FFF2-40B4-BE49-F238E27FC236}">
                  <a16:creationId xmlns:a16="http://schemas.microsoft.com/office/drawing/2014/main" id="{641280EF-4B92-450C-9907-E8D0CC39D904}"/>
                </a:ext>
              </a:extLst>
            </p:cNvPr>
            <p:cNvSpPr txBox="1"/>
            <p:nvPr/>
          </p:nvSpPr>
          <p:spPr>
            <a:xfrm>
              <a:off x="3832983" y="3515096"/>
              <a:ext cx="784266" cy="3108543"/>
            </a:xfrm>
            <a:prstGeom prst="rect">
              <a:avLst/>
            </a:prstGeom>
            <a:grpFill/>
            <a:ln>
              <a:noFill/>
            </a:ln>
          </p:spPr>
          <p:txBody>
            <a:bodyPr wrap="square" rtlCol="1">
              <a:spAutoFit/>
            </a:bodyPr>
            <a:lstStyle/>
            <a:p>
              <a:pPr algn="ctr"/>
              <a:r>
                <a:rPr lang="fa-IR" sz="2800" dirty="0">
                  <a:cs typeface="2  Nazanin" panose="00000400000000000000" pitchFamily="2" charset="-78"/>
                </a:rPr>
                <a:t>ملات گچ و خاک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 ماسه</a:t>
              </a:r>
            </a:p>
          </p:txBody>
        </p:sp>
      </p:grpSp>
      <p:grpSp>
        <p:nvGrpSpPr>
          <p:cNvPr id="53" name="Group 52">
            <a:extLst>
              <a:ext uri="{FF2B5EF4-FFF2-40B4-BE49-F238E27FC236}">
                <a16:creationId xmlns:a16="http://schemas.microsoft.com/office/drawing/2014/main" id="{F223EA48-6AEE-4EAE-BF48-489AA089B7EA}"/>
              </a:ext>
            </a:extLst>
          </p:cNvPr>
          <p:cNvGrpSpPr/>
          <p:nvPr/>
        </p:nvGrpSpPr>
        <p:grpSpPr>
          <a:xfrm>
            <a:off x="365586" y="3173999"/>
            <a:ext cx="1199408" cy="3667665"/>
            <a:chOff x="2409206" y="3190335"/>
            <a:chExt cx="1199408" cy="3667665"/>
          </a:xfrm>
        </p:grpSpPr>
        <p:sp>
          <p:nvSpPr>
            <p:cNvPr id="33" name="Rectangle 32">
              <a:extLst>
                <a:ext uri="{FF2B5EF4-FFF2-40B4-BE49-F238E27FC236}">
                  <a16:creationId xmlns:a16="http://schemas.microsoft.com/office/drawing/2014/main" id="{DF287A53-248F-4C60-B1F0-0D5AB598910B}"/>
                </a:ext>
              </a:extLst>
            </p:cNvPr>
            <p:cNvSpPr/>
            <p:nvPr/>
          </p:nvSpPr>
          <p:spPr>
            <a:xfrm>
              <a:off x="2409206" y="3190335"/>
              <a:ext cx="1199408" cy="366766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3" name="TextBox 42">
              <a:extLst>
                <a:ext uri="{FF2B5EF4-FFF2-40B4-BE49-F238E27FC236}">
                  <a16:creationId xmlns:a16="http://schemas.microsoft.com/office/drawing/2014/main" id="{2C5B7EDD-D3ED-47BB-9575-1D309DE52295}"/>
                </a:ext>
              </a:extLst>
            </p:cNvPr>
            <p:cNvSpPr txBox="1"/>
            <p:nvPr/>
          </p:nvSpPr>
          <p:spPr>
            <a:xfrm>
              <a:off x="2611583" y="3525982"/>
              <a:ext cx="879764" cy="3046988"/>
            </a:xfrm>
            <a:prstGeom prst="rect">
              <a:avLst/>
            </a:prstGeom>
            <a:noFill/>
            <a:ln>
              <a:noFill/>
            </a:ln>
          </p:spPr>
          <p:txBody>
            <a:bodyPr wrap="square" rtlCol="1">
              <a:spAutoFit/>
            </a:bodyPr>
            <a:lstStyle/>
            <a:p>
              <a:pPr algn="ctr"/>
              <a:r>
                <a:rPr lang="fa-IR" sz="2400" dirty="0">
                  <a:cs typeface="2  Nazanin" panose="00000400000000000000" pitchFamily="2" charset="-78"/>
                </a:rPr>
                <a:t>ملات ساروج</a:t>
              </a:r>
            </a:p>
            <a:p>
              <a:pPr algn="ctr"/>
              <a:endParaRPr lang="fa-IR" sz="2400" dirty="0">
                <a:cs typeface="2  Nazanin" panose="00000400000000000000" pitchFamily="2" charset="-78"/>
              </a:endParaRPr>
            </a:p>
            <a:p>
              <a:pPr algn="ctr"/>
              <a:endParaRPr lang="en-US" sz="2400" dirty="0">
                <a:cs typeface="2  Nazanin" panose="00000400000000000000" pitchFamily="2" charset="-78"/>
              </a:endParaRPr>
            </a:p>
            <a:p>
              <a:pPr algn="ctr"/>
              <a:r>
                <a:rPr lang="fa-IR" sz="2400" dirty="0">
                  <a:cs typeface="2  Nazanin" panose="00000400000000000000" pitchFamily="2" charset="-78"/>
                </a:rPr>
                <a:t>ملات  خمیرهای گچی</a:t>
              </a:r>
            </a:p>
          </p:txBody>
        </p:sp>
      </p:grpSp>
      <p:grpSp>
        <p:nvGrpSpPr>
          <p:cNvPr id="52" name="Group 51">
            <a:extLst>
              <a:ext uri="{FF2B5EF4-FFF2-40B4-BE49-F238E27FC236}">
                <a16:creationId xmlns:a16="http://schemas.microsoft.com/office/drawing/2014/main" id="{8CB2A514-8688-4710-A451-494283ED238A}"/>
              </a:ext>
            </a:extLst>
          </p:cNvPr>
          <p:cNvGrpSpPr/>
          <p:nvPr/>
        </p:nvGrpSpPr>
        <p:grpSpPr>
          <a:xfrm>
            <a:off x="107479" y="3184399"/>
            <a:ext cx="1199408" cy="3667665"/>
            <a:chOff x="1209798" y="3190335"/>
            <a:chExt cx="1199408" cy="3667665"/>
          </a:xfrm>
        </p:grpSpPr>
        <p:sp>
          <p:nvSpPr>
            <p:cNvPr id="32" name="Rectangle 31">
              <a:extLst>
                <a:ext uri="{FF2B5EF4-FFF2-40B4-BE49-F238E27FC236}">
                  <a16:creationId xmlns:a16="http://schemas.microsoft.com/office/drawing/2014/main" id="{BE078B3D-6C67-4D4A-87B4-6555942DBD9A}"/>
                </a:ext>
              </a:extLst>
            </p:cNvPr>
            <p:cNvSpPr/>
            <p:nvPr/>
          </p:nvSpPr>
          <p:spPr>
            <a:xfrm>
              <a:off x="1209798" y="3190335"/>
              <a:ext cx="1199408" cy="36676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2" name="TextBox 41">
              <a:extLst>
                <a:ext uri="{FF2B5EF4-FFF2-40B4-BE49-F238E27FC236}">
                  <a16:creationId xmlns:a16="http://schemas.microsoft.com/office/drawing/2014/main" id="{F121F265-1C65-4B01-A8AB-8342535A1CA9}"/>
                </a:ext>
              </a:extLst>
            </p:cNvPr>
            <p:cNvSpPr txBox="1"/>
            <p:nvPr/>
          </p:nvSpPr>
          <p:spPr>
            <a:xfrm>
              <a:off x="1398814" y="3523206"/>
              <a:ext cx="88124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گل و کاهگ</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اهک</a:t>
              </a:r>
            </a:p>
          </p:txBody>
        </p:sp>
      </p:grpSp>
      <p:grpSp>
        <p:nvGrpSpPr>
          <p:cNvPr id="51" name="Group 50">
            <a:extLst>
              <a:ext uri="{FF2B5EF4-FFF2-40B4-BE49-F238E27FC236}">
                <a16:creationId xmlns:a16="http://schemas.microsoft.com/office/drawing/2014/main" id="{D023384A-009A-4142-AE86-D2852B9C591D}"/>
              </a:ext>
            </a:extLst>
          </p:cNvPr>
          <p:cNvGrpSpPr/>
          <p:nvPr/>
        </p:nvGrpSpPr>
        <p:grpSpPr>
          <a:xfrm>
            <a:off x="-116939" y="3166586"/>
            <a:ext cx="1199408" cy="3667665"/>
            <a:chOff x="0" y="3190335"/>
            <a:chExt cx="1199408" cy="3667665"/>
          </a:xfrm>
        </p:grpSpPr>
        <p:sp>
          <p:nvSpPr>
            <p:cNvPr id="2" name="Rectangle 1">
              <a:extLst>
                <a:ext uri="{FF2B5EF4-FFF2-40B4-BE49-F238E27FC236}">
                  <a16:creationId xmlns:a16="http://schemas.microsoft.com/office/drawing/2014/main" id="{5FF3F0D0-59D1-49EB-9E93-6E866F8B28A9}"/>
                </a:ext>
              </a:extLst>
            </p:cNvPr>
            <p:cNvSpPr/>
            <p:nvPr/>
          </p:nvSpPr>
          <p:spPr>
            <a:xfrm>
              <a:off x="0" y="3190335"/>
              <a:ext cx="1199408" cy="36676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1" name="TextBox 40">
              <a:extLst>
                <a:ext uri="{FF2B5EF4-FFF2-40B4-BE49-F238E27FC236}">
                  <a16:creationId xmlns:a16="http://schemas.microsoft.com/office/drawing/2014/main" id="{B7856EF2-C687-43BF-AFC9-AFD2899A6EE9}"/>
                </a:ext>
              </a:extLst>
            </p:cNvPr>
            <p:cNvSpPr txBox="1"/>
            <p:nvPr/>
          </p:nvSpPr>
          <p:spPr>
            <a:xfrm>
              <a:off x="116990" y="3515096"/>
              <a:ext cx="951790"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هوایی</a:t>
              </a:r>
            </a:p>
            <a:p>
              <a:pPr algn="ctr"/>
              <a:endParaRPr lang="fa-IR" sz="2800" dirty="0">
                <a:cs typeface="2  Nazanin" panose="00000400000000000000" pitchFamily="2" charset="-78"/>
              </a:endParaRPr>
            </a:p>
            <a:p>
              <a:pPr algn="ctr"/>
              <a:endParaRPr lang="en-US" sz="2800" dirty="0">
                <a:cs typeface="2  Nazanin" panose="00000400000000000000" pitchFamily="2" charset="-78"/>
              </a:endParaRPr>
            </a:p>
            <a:p>
              <a:pPr algn="ctr"/>
              <a:r>
                <a:rPr lang="fa-IR" sz="2800" dirty="0">
                  <a:cs typeface="2  Nazanin" panose="00000400000000000000" pitchFamily="2" charset="-78"/>
                </a:rPr>
                <a:t>ملات آبی</a:t>
              </a:r>
            </a:p>
          </p:txBody>
        </p:sp>
      </p:grpSp>
      <p:grpSp>
        <p:nvGrpSpPr>
          <p:cNvPr id="64" name="Group 63">
            <a:extLst>
              <a:ext uri="{FF2B5EF4-FFF2-40B4-BE49-F238E27FC236}">
                <a16:creationId xmlns:a16="http://schemas.microsoft.com/office/drawing/2014/main" id="{A3921C50-E42F-4721-BEED-D2659DB0AA5B}"/>
              </a:ext>
            </a:extLst>
          </p:cNvPr>
          <p:cNvGrpSpPr/>
          <p:nvPr/>
        </p:nvGrpSpPr>
        <p:grpSpPr>
          <a:xfrm>
            <a:off x="-333542" y="3172038"/>
            <a:ext cx="1199408" cy="3667665"/>
            <a:chOff x="0" y="3190335"/>
            <a:chExt cx="1199408" cy="3667665"/>
          </a:xfrm>
          <a:solidFill>
            <a:srgbClr val="DACCF4"/>
          </a:solidFill>
        </p:grpSpPr>
        <p:sp>
          <p:nvSpPr>
            <p:cNvPr id="65" name="Rectangle 64">
              <a:extLst>
                <a:ext uri="{FF2B5EF4-FFF2-40B4-BE49-F238E27FC236}">
                  <a16:creationId xmlns:a16="http://schemas.microsoft.com/office/drawing/2014/main" id="{09FDB192-694F-4975-87D0-00C87E5995BC}"/>
                </a:ext>
              </a:extLst>
            </p:cNvPr>
            <p:cNvSpPr/>
            <p:nvPr/>
          </p:nvSpPr>
          <p:spPr>
            <a:xfrm>
              <a:off x="0"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6" name="TextBox 65">
              <a:extLst>
                <a:ext uri="{FF2B5EF4-FFF2-40B4-BE49-F238E27FC236}">
                  <a16:creationId xmlns:a16="http://schemas.microsoft.com/office/drawing/2014/main" id="{79E618F5-C3FC-46B2-8E40-7082EA4EF76D}"/>
                </a:ext>
              </a:extLst>
            </p:cNvPr>
            <p:cNvSpPr txBox="1"/>
            <p:nvPr/>
          </p:nvSpPr>
          <p:spPr>
            <a:xfrm>
              <a:off x="49259" y="3515096"/>
              <a:ext cx="1127481" cy="1938992"/>
            </a:xfrm>
            <a:prstGeom prst="rect">
              <a:avLst/>
            </a:prstGeom>
            <a:grpFill/>
          </p:spPr>
          <p:txBody>
            <a:bodyPr wrap="square" rtlCol="1">
              <a:spAutoFit/>
            </a:bodyPr>
            <a:lstStyle/>
            <a:p>
              <a:pPr algn="ctr"/>
              <a:r>
                <a:rPr lang="fa-IR" sz="2400" dirty="0">
                  <a:cs typeface="2  Nazanin" panose="00000400000000000000" pitchFamily="2" charset="-78"/>
                </a:rPr>
                <a:t>ملات ساختمانی از نظر مواد چسباننده</a:t>
              </a: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135408"/>
            <a:ext cx="12192000" cy="7550727"/>
            <a:chOff x="0" y="0"/>
            <a:chExt cx="12192000" cy="7550727"/>
          </a:xfrm>
          <a:solidFill>
            <a:srgbClr val="F9B69C"/>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pic>
        <p:nvPicPr>
          <p:cNvPr id="21" name="Picture 20">
            <a:extLst>
              <a:ext uri="{FF2B5EF4-FFF2-40B4-BE49-F238E27FC236}">
                <a16:creationId xmlns:a16="http://schemas.microsoft.com/office/drawing/2014/main" id="{0ABAB0FE-6C4B-44B5-AFDA-99A8FB0E0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585" y="4460519"/>
            <a:ext cx="3404903" cy="2042942"/>
          </a:xfrm>
          <a:prstGeom prst="rect">
            <a:avLst/>
          </a:prstGeom>
        </p:spPr>
      </p:pic>
      <p:pic>
        <p:nvPicPr>
          <p:cNvPr id="24" name="Picture 23">
            <a:extLst>
              <a:ext uri="{FF2B5EF4-FFF2-40B4-BE49-F238E27FC236}">
                <a16:creationId xmlns:a16="http://schemas.microsoft.com/office/drawing/2014/main" id="{E22CE373-13CE-48A3-9B07-F564562EFA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581" y="1870755"/>
            <a:ext cx="3384905" cy="2252500"/>
          </a:xfrm>
          <a:prstGeom prst="rect">
            <a:avLst/>
          </a:prstGeom>
        </p:spPr>
      </p:pic>
      <p:pic>
        <p:nvPicPr>
          <p:cNvPr id="61" name="Picture 60">
            <a:extLst>
              <a:ext uri="{FF2B5EF4-FFF2-40B4-BE49-F238E27FC236}">
                <a16:creationId xmlns:a16="http://schemas.microsoft.com/office/drawing/2014/main" id="{E6D8DD4D-6B31-4B15-B208-285C67F433B3}"/>
              </a:ext>
            </a:extLst>
          </p:cNvPr>
          <p:cNvPicPr>
            <a:picLocks noChangeAspect="1"/>
          </p:cNvPicPr>
          <p:nvPr/>
        </p:nvPicPr>
        <p:blipFill>
          <a:blip r:embed="rId5"/>
          <a:stretch>
            <a:fillRect/>
          </a:stretch>
        </p:blipFill>
        <p:spPr>
          <a:xfrm>
            <a:off x="4506254" y="1889142"/>
            <a:ext cx="7335467" cy="4944285"/>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145304"/>
            <a:ext cx="12192000" cy="7550727"/>
            <a:chOff x="0" y="0"/>
            <a:chExt cx="12192000" cy="7550727"/>
          </a:xfrm>
          <a:solidFill>
            <a:srgbClr val="E25D7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16" name="Group 15">
            <a:extLst>
              <a:ext uri="{FF2B5EF4-FFF2-40B4-BE49-F238E27FC236}">
                <a16:creationId xmlns:a16="http://schemas.microsoft.com/office/drawing/2014/main" id="{F5CD2D5A-83F7-4113-8244-4BCEF4D825AB}"/>
              </a:ext>
            </a:extLst>
          </p:cNvPr>
          <p:cNvGrpSpPr/>
          <p:nvPr/>
        </p:nvGrpSpPr>
        <p:grpSpPr>
          <a:xfrm>
            <a:off x="-16" y="-6145797"/>
            <a:ext cx="12192000" cy="7550727"/>
            <a:chOff x="0" y="0"/>
            <a:chExt cx="12192000" cy="7550727"/>
          </a:xfrm>
          <a:solidFill>
            <a:srgbClr val="866669"/>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pic>
        <p:nvPicPr>
          <p:cNvPr id="23" name="Picture 22">
            <a:extLst>
              <a:ext uri="{FF2B5EF4-FFF2-40B4-BE49-F238E27FC236}">
                <a16:creationId xmlns:a16="http://schemas.microsoft.com/office/drawing/2014/main" id="{7FC3B53F-96F2-48B1-8CF1-D9DA0A45C340}"/>
              </a:ext>
            </a:extLst>
          </p:cNvPr>
          <p:cNvPicPr>
            <a:picLocks noChangeAspect="1"/>
          </p:cNvPicPr>
          <p:nvPr/>
        </p:nvPicPr>
        <p:blipFill rotWithShape="1">
          <a:blip r:embed="rId6">
            <a:extLst>
              <a:ext uri="{28A0092B-C50C-407E-A947-70E740481C1C}">
                <a14:useLocalDpi xmlns:a14="http://schemas.microsoft.com/office/drawing/2010/main" val="0"/>
              </a:ext>
            </a:extLst>
          </a:blip>
          <a:srcRect b="12009"/>
          <a:stretch/>
        </p:blipFill>
        <p:spPr>
          <a:xfrm>
            <a:off x="266162" y="1535569"/>
            <a:ext cx="4039606" cy="1875030"/>
          </a:xfrm>
          <a:prstGeom prst="rect">
            <a:avLst/>
          </a:prstGeom>
        </p:spPr>
      </p:pic>
      <p:pic>
        <p:nvPicPr>
          <p:cNvPr id="26" name="Picture 25">
            <a:extLst>
              <a:ext uri="{FF2B5EF4-FFF2-40B4-BE49-F238E27FC236}">
                <a16:creationId xmlns:a16="http://schemas.microsoft.com/office/drawing/2014/main" id="{20BB251E-8909-4F97-A693-112C9960FF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7096" y="3758682"/>
            <a:ext cx="3420331" cy="2738990"/>
          </a:xfrm>
          <a:prstGeom prst="rect">
            <a:avLst/>
          </a:prstGeom>
        </p:spPr>
      </p:pic>
      <p:sp>
        <p:nvSpPr>
          <p:cNvPr id="20" name="TextBox 19">
            <a:extLst>
              <a:ext uri="{FF2B5EF4-FFF2-40B4-BE49-F238E27FC236}">
                <a16:creationId xmlns:a16="http://schemas.microsoft.com/office/drawing/2014/main" id="{5392E132-4D84-4479-BC08-FE0FE593A524}"/>
              </a:ext>
            </a:extLst>
          </p:cNvPr>
          <p:cNvSpPr txBox="1"/>
          <p:nvPr/>
        </p:nvSpPr>
        <p:spPr>
          <a:xfrm>
            <a:off x="4401140" y="1476002"/>
            <a:ext cx="7404402" cy="5262979"/>
          </a:xfrm>
          <a:prstGeom prst="rect">
            <a:avLst/>
          </a:prstGeom>
          <a:noFill/>
        </p:spPr>
        <p:txBody>
          <a:bodyPr wrap="square" rtlCol="1">
            <a:spAutoFit/>
          </a:bodyPr>
          <a:lstStyle/>
          <a:p>
            <a:pPr algn="r"/>
            <a:r>
              <a:rPr lang="fa-IR" sz="2400" b="1" dirty="0">
                <a:cs typeface="2  Nazanin" panose="00000400000000000000" pitchFamily="2" charset="-78"/>
              </a:rPr>
              <a:t>استاندارد ها</a:t>
            </a:r>
          </a:p>
          <a:p>
            <a:pPr algn="r"/>
            <a:r>
              <a:rPr lang="fa-IR" sz="2400" dirty="0">
                <a:cs typeface="2  Nazanin" panose="00000400000000000000" pitchFamily="2" charset="-78"/>
              </a:rPr>
              <a:t>براي تهيه ملات ها تا حد ممكن بايد از ابزار اندازهگيري دقيق و دستگاه هاي مخلوط كن استفاده شود. در اندازهگيري مواد ملات مورد استفاده در ساختمان، بايد نسبت هاي تعيين شده اين مواد، كنترل و به دقت رعايت شود</a:t>
            </a:r>
            <a:endParaRPr lang="en-US" sz="2400" dirty="0">
              <a:cs typeface="2  Nazanin" panose="00000400000000000000" pitchFamily="2" charset="-78"/>
            </a:endParaRPr>
          </a:p>
          <a:p>
            <a:pPr algn="r"/>
            <a:endParaRPr lang="fa-IR" sz="2400" dirty="0">
              <a:cs typeface="2  Nazanin" panose="00000400000000000000" pitchFamily="2" charset="-78"/>
            </a:endParaRPr>
          </a:p>
          <a:p>
            <a:pPr algn="r"/>
            <a:r>
              <a:rPr lang="fa-IR" sz="2400" dirty="0">
                <a:cs typeface="2  Nazanin" panose="00000400000000000000" pitchFamily="2" charset="-78"/>
              </a:rPr>
              <a:t>ملات هايي كه سفت شدهاند را نبايد با افزودن آب براي رسيدن به غلظت مورد نياز دوباره درهم آميخت</a:t>
            </a:r>
            <a:endParaRPr lang="en-US" sz="2400" dirty="0">
              <a:cs typeface="2  Nazanin" panose="00000400000000000000" pitchFamily="2" charset="-78"/>
            </a:endParaRPr>
          </a:p>
          <a:p>
            <a:pPr algn="r"/>
            <a:endParaRPr lang="fa-IR" sz="2400" dirty="0">
              <a:cs typeface="2  Nazanin" panose="00000400000000000000" pitchFamily="2" charset="-78"/>
            </a:endParaRPr>
          </a:p>
          <a:p>
            <a:pPr algn="r"/>
            <a:r>
              <a:rPr lang="fa-IR" sz="2400" dirty="0">
                <a:cs typeface="2  Nazanin" panose="00000400000000000000" pitchFamily="2" charset="-78"/>
              </a:rPr>
              <a:t>در كارهاي مختلف بنايي مـيتـوان بـر اسـاس نيازهـاي طراحـي از انـواع مختلـف سيمان ها مانند پوزولاني يا بنايي استفاده كرد</a:t>
            </a:r>
            <a:endParaRPr lang="en-US" sz="2400" dirty="0">
              <a:cs typeface="2  Nazanin" panose="00000400000000000000" pitchFamily="2" charset="-78"/>
            </a:endParaRPr>
          </a:p>
          <a:p>
            <a:pPr algn="r"/>
            <a:endParaRPr lang="fa-IR" sz="2400" dirty="0">
              <a:cs typeface="2  Nazanin" panose="00000400000000000000" pitchFamily="2" charset="-78"/>
            </a:endParaRPr>
          </a:p>
          <a:p>
            <a:pPr algn="r"/>
            <a:r>
              <a:rPr lang="fa-IR" sz="2400" dirty="0">
                <a:cs typeface="2  Nazanin" panose="00000400000000000000" pitchFamily="2" charset="-78"/>
              </a:rPr>
              <a:t>مواد افزودني ملات هاي بنَايي شامل: بهبـود دهنـده چسـبندگي، افزاينـده كـارايي، زودگيركننده ها، كندگيركننده ها و مواد دافع آب و مانند اين ها هستند</a:t>
            </a:r>
          </a:p>
        </p:txBody>
      </p:sp>
    </p:spTree>
    <p:extLst>
      <p:ext uri="{BB962C8B-B14F-4D97-AF65-F5344CB8AC3E}">
        <p14:creationId xmlns:p14="http://schemas.microsoft.com/office/powerpoint/2010/main" val="2866998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33333E-6 0.00486 L 0.08295 0.00301 " pathEditMode="relative" rAng="0" ptsTypes="AA">
                                      <p:cBhvr>
                                        <p:cTn id="6" dur="2000" fill="hold"/>
                                        <p:tgtEl>
                                          <p:spTgt spid="51"/>
                                        </p:tgtEl>
                                        <p:attrNameLst>
                                          <p:attrName>ppt_x</p:attrName>
                                          <p:attrName>ppt_y</p:attrName>
                                        </p:attrNameLst>
                                      </p:cBhvr>
                                      <p:rCtr x="4141" y="-93"/>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0273 0.00162 L 0.16315 -0.00115 " pathEditMode="relative" rAng="0" ptsTypes="AA">
                                      <p:cBhvr>
                                        <p:cTn id="10" dur="2000" fill="hold"/>
                                        <p:tgtEl>
                                          <p:spTgt spid="52"/>
                                        </p:tgtEl>
                                        <p:attrNameLst>
                                          <p:attrName>ppt_x</p:attrName>
                                          <p:attrName>ppt_y</p:attrName>
                                        </p:attrNameLst>
                                      </p:cBhvr>
                                      <p:rCtr x="8294" y="-139"/>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0183 0.00324 L 0.24023 0.00209 " pathEditMode="relative" rAng="0" ptsTypes="AA">
                                      <p:cBhvr>
                                        <p:cTn id="14" dur="2000" fill="hold"/>
                                        <p:tgtEl>
                                          <p:spTgt spid="53"/>
                                        </p:tgtEl>
                                        <p:attrNameLst>
                                          <p:attrName>ppt_x</p:attrName>
                                          <p:attrName>ppt_y</p:attrName>
                                        </p:attrNameLst>
                                      </p:cBhvr>
                                      <p:rCtr x="12096" y="-69"/>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0091 2.96296E-6 L 0.31081 0.00347 " pathEditMode="relative" rAng="0" ptsTypes="AA">
                                      <p:cBhvr>
                                        <p:cTn id="18" dur="2000" fill="hold"/>
                                        <p:tgtEl>
                                          <p:spTgt spid="54"/>
                                        </p:tgtEl>
                                        <p:attrNameLst>
                                          <p:attrName>ppt_x</p:attrName>
                                          <p:attrName>ppt_y</p:attrName>
                                        </p:attrNameLst>
                                      </p:cBhvr>
                                      <p:rCtr x="15586" y="162"/>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00638 0.00162 L 0.39414 0.00301 " pathEditMode="relative" rAng="0" ptsTypes="AA">
                                      <p:cBhvr>
                                        <p:cTn id="22" dur="2000" fill="hold"/>
                                        <p:tgtEl>
                                          <p:spTgt spid="55"/>
                                        </p:tgtEl>
                                        <p:attrNameLst>
                                          <p:attrName>ppt_x</p:attrName>
                                          <p:attrName>ppt_y</p:attrName>
                                        </p:attrNameLst>
                                      </p:cBhvr>
                                      <p:rCtr x="20026" y="69"/>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00821 0.00486 L 0.47916 0.00463 " pathEditMode="relative" rAng="0" ptsTypes="AA">
                                      <p:cBhvr>
                                        <p:cTn id="26" dur="2000" fill="hold"/>
                                        <p:tgtEl>
                                          <p:spTgt spid="56"/>
                                        </p:tgtEl>
                                        <p:attrNameLst>
                                          <p:attrName>ppt_x</p:attrName>
                                          <p:attrName>ppt_y</p:attrName>
                                        </p:attrNameLst>
                                      </p:cBhvr>
                                      <p:rCtr x="24362" y="-23"/>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0.00364 0.0051 L 0.56796 0.00185 " pathEditMode="relative" rAng="0" ptsTypes="AA">
                                      <p:cBhvr>
                                        <p:cTn id="30" dur="2000" fill="hold"/>
                                        <p:tgtEl>
                                          <p:spTgt spid="57"/>
                                        </p:tgtEl>
                                        <p:attrNameLst>
                                          <p:attrName>ppt_x</p:attrName>
                                          <p:attrName>ppt_y</p:attrName>
                                        </p:attrNameLst>
                                      </p:cBhvr>
                                      <p:rCtr x="28216" y="-162"/>
                                    </p:animMotion>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00273 0.0081 L 0.63958 0.00301 " pathEditMode="relative" rAng="0" ptsTypes="AA">
                                      <p:cBhvr>
                                        <p:cTn id="34" dur="2000" fill="hold"/>
                                        <p:tgtEl>
                                          <p:spTgt spid="58"/>
                                        </p:tgtEl>
                                        <p:attrNameLst>
                                          <p:attrName>ppt_x</p:attrName>
                                          <p:attrName>ppt_y</p:attrName>
                                        </p:attrNameLst>
                                      </p:cBhvr>
                                      <p:rCtr x="31836" y="-255"/>
                                    </p:animMotion>
                                  </p:childTnLst>
                                </p:cTn>
                              </p:par>
                            </p:childTnLst>
                          </p:cTn>
                        </p:par>
                      </p:childTnLst>
                    </p:cTn>
                  </p:par>
                  <p:par>
                    <p:cTn id="35" fill="hold">
                      <p:stCondLst>
                        <p:cond delay="indefinite"/>
                      </p:stCondLst>
                      <p:childTnLst>
                        <p:par>
                          <p:cTn id="36" fill="hold">
                            <p:stCondLst>
                              <p:cond delay="0"/>
                            </p:stCondLst>
                            <p:childTnLst>
                              <p:par>
                                <p:cTn id="37" presetID="63" presetClass="path" presetSubtype="0" accel="50000" decel="50000" fill="hold" nodeType="clickEffect">
                                  <p:stCondLst>
                                    <p:cond delay="0"/>
                                  </p:stCondLst>
                                  <p:childTnLst>
                                    <p:animMotion origin="layout" path="M 0.00364 -0.00162 L 0.70507 0.00208 " pathEditMode="relative" rAng="0" ptsTypes="AA">
                                      <p:cBhvr>
                                        <p:cTn id="38" dur="2000" fill="hold"/>
                                        <p:tgtEl>
                                          <p:spTgt spid="59"/>
                                        </p:tgtEl>
                                        <p:attrNameLst>
                                          <p:attrName>ppt_x</p:attrName>
                                          <p:attrName>ppt_y</p:attrName>
                                        </p:attrNameLst>
                                      </p:cBhvr>
                                      <p:rCtr x="35065" y="185"/>
                                    </p:animMotion>
                                  </p:childTnLst>
                                </p:cTn>
                              </p:par>
                            </p:childTnLst>
                          </p:cTn>
                        </p:par>
                      </p:childTnLst>
                    </p:cTn>
                  </p:par>
                  <p:par>
                    <p:cTn id="39" fill="hold">
                      <p:stCondLst>
                        <p:cond delay="indefinite"/>
                      </p:stCondLst>
                      <p:childTnLst>
                        <p:par>
                          <p:cTn id="40" fill="hold">
                            <p:stCondLst>
                              <p:cond delay="0"/>
                            </p:stCondLst>
                            <p:childTnLst>
                              <p:par>
                                <p:cTn id="41" presetID="63" presetClass="path" presetSubtype="0" accel="50000" decel="50000" fill="hold" nodeType="clickEffect">
                                  <p:stCondLst>
                                    <p:cond delay="0"/>
                                  </p:stCondLst>
                                  <p:childTnLst>
                                    <p:animMotion origin="layout" path="M 0.00547 -0.00648 L 0.78269 0.00093 " pathEditMode="relative" rAng="0" ptsTypes="AA">
                                      <p:cBhvr>
                                        <p:cTn id="42" dur="2000" fill="hold"/>
                                        <p:tgtEl>
                                          <p:spTgt spid="60"/>
                                        </p:tgtEl>
                                        <p:attrNameLst>
                                          <p:attrName>ppt_x</p:attrName>
                                          <p:attrName>ppt_y</p:attrName>
                                        </p:attrNameLst>
                                      </p:cBhvr>
                                      <p:rCtr x="38854" y="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180114" y="3778501"/>
            <a:ext cx="7764244" cy="2677656"/>
          </a:xfrm>
          <a:prstGeom prst="rect">
            <a:avLst/>
          </a:prstGeom>
          <a:noFill/>
        </p:spPr>
        <p:txBody>
          <a:bodyPr wrap="square" rtlCol="1">
            <a:spAutoFit/>
          </a:bodyPr>
          <a:lstStyle/>
          <a:p>
            <a:pPr algn="r"/>
            <a:r>
              <a:rPr lang="fa-IR" sz="2400" b="1" dirty="0">
                <a:cs typeface="2  Nazanin" panose="00000400000000000000" pitchFamily="2" charset="-78"/>
              </a:rPr>
              <a:t>ملات</a:t>
            </a:r>
          </a:p>
          <a:p>
            <a:pPr algn="r"/>
            <a:r>
              <a:rPr lang="fa-IR" sz="2400" dirty="0">
                <a:cs typeface="2  Nazanin" panose="00000400000000000000" pitchFamily="2" charset="-78"/>
              </a:rPr>
              <a:t>ملات تازه، جسمي است خميري كه از اختلاط جسـم چسـباننده، ماننـد خميـر سـيمان، و جسـم پركننده، مانند سنگدانة ريز، ساخته و در صورت نياز به مشخصات ويژة كاربري، از مواد افزودني در ان استفاده ميشود. از ملات براي چسباندن قطعات مصالح بنايي به يكديگر، تـأمين بسـتري بـراي توزيع بار، اندودكاري، نماسازي و بندكشي استفاده ميكنند. روان ملاتها نوعي ملات هسـتند كـه بدون حالت جداشدگي سنگدانه قابليت پركردن فضاها را با رواني بالا دارند.</a:t>
            </a:r>
          </a:p>
        </p:txBody>
      </p:sp>
      <p:pic>
        <p:nvPicPr>
          <p:cNvPr id="22" name="Picture 21">
            <a:extLst>
              <a:ext uri="{FF2B5EF4-FFF2-40B4-BE49-F238E27FC236}">
                <a16:creationId xmlns:a16="http://schemas.microsoft.com/office/drawing/2014/main" id="{2E21372D-979F-48CE-8AD5-0345A66AB7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642" y="3680722"/>
            <a:ext cx="3789968" cy="3031974"/>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3137"/>
            <a:ext cx="12192000" cy="7550727"/>
            <a:chOff x="0" y="0"/>
            <a:chExt cx="12192000" cy="7550727"/>
          </a:xfrm>
          <a:solidFill>
            <a:srgbClr val="F8D6A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60" name="Group 59">
            <a:extLst>
              <a:ext uri="{FF2B5EF4-FFF2-40B4-BE49-F238E27FC236}">
                <a16:creationId xmlns:a16="http://schemas.microsoft.com/office/drawing/2014/main" id="{2A3CBF84-578B-4D4A-91DF-368AECCE563B}"/>
              </a:ext>
            </a:extLst>
          </p:cNvPr>
          <p:cNvGrpSpPr/>
          <p:nvPr/>
        </p:nvGrpSpPr>
        <p:grpSpPr>
          <a:xfrm>
            <a:off x="1461805" y="3186553"/>
            <a:ext cx="1386914" cy="3667665"/>
            <a:chOff x="10805062" y="3190335"/>
            <a:chExt cx="1386914" cy="3667665"/>
          </a:xfrm>
        </p:grpSpPr>
        <p:sp>
          <p:nvSpPr>
            <p:cNvPr id="40" name="Rectangle 39">
              <a:extLst>
                <a:ext uri="{FF2B5EF4-FFF2-40B4-BE49-F238E27FC236}">
                  <a16:creationId xmlns:a16="http://schemas.microsoft.com/office/drawing/2014/main" id="{4321344B-43E2-470F-AA45-746A1A93873D}"/>
                </a:ext>
              </a:extLst>
            </p:cNvPr>
            <p:cNvSpPr/>
            <p:nvPr/>
          </p:nvSpPr>
          <p:spPr>
            <a:xfrm>
              <a:off x="10805062" y="3190335"/>
              <a:ext cx="1386914" cy="3667665"/>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0" name="TextBox 49">
              <a:extLst>
                <a:ext uri="{FF2B5EF4-FFF2-40B4-BE49-F238E27FC236}">
                  <a16:creationId xmlns:a16="http://schemas.microsoft.com/office/drawing/2014/main" id="{0F981413-6BCA-4A93-AD56-D1AE11099C89}"/>
                </a:ext>
              </a:extLst>
            </p:cNvPr>
            <p:cNvSpPr txBox="1"/>
            <p:nvPr/>
          </p:nvSpPr>
          <p:spPr>
            <a:xfrm>
              <a:off x="10917415" y="3645664"/>
              <a:ext cx="1169447"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بنایی سبک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ضد اسید</a:t>
              </a:r>
            </a:p>
          </p:txBody>
        </p:sp>
      </p:grpSp>
      <p:grpSp>
        <p:nvGrpSpPr>
          <p:cNvPr id="59" name="Group 58">
            <a:extLst>
              <a:ext uri="{FF2B5EF4-FFF2-40B4-BE49-F238E27FC236}">
                <a16:creationId xmlns:a16="http://schemas.microsoft.com/office/drawing/2014/main" id="{83BEAC4C-7651-4367-B0FD-4A1D16D39B41}"/>
              </a:ext>
            </a:extLst>
          </p:cNvPr>
          <p:cNvGrpSpPr/>
          <p:nvPr/>
        </p:nvGrpSpPr>
        <p:grpSpPr>
          <a:xfrm>
            <a:off x="1423131" y="3188935"/>
            <a:ext cx="1199408" cy="3667665"/>
            <a:chOff x="9605654" y="3190335"/>
            <a:chExt cx="1199408" cy="3667665"/>
          </a:xfrm>
        </p:grpSpPr>
        <p:sp>
          <p:nvSpPr>
            <p:cNvPr id="39" name="Rectangle 38">
              <a:extLst>
                <a:ext uri="{FF2B5EF4-FFF2-40B4-BE49-F238E27FC236}">
                  <a16:creationId xmlns:a16="http://schemas.microsoft.com/office/drawing/2014/main" id="{71760BA2-5F62-430C-B18D-889D7BC9F8CD}"/>
                </a:ext>
              </a:extLst>
            </p:cNvPr>
            <p:cNvSpPr/>
            <p:nvPr/>
          </p:nvSpPr>
          <p:spPr>
            <a:xfrm>
              <a:off x="9605654" y="3190335"/>
              <a:ext cx="1199408" cy="366766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9" name="TextBox 48">
              <a:extLst>
                <a:ext uri="{FF2B5EF4-FFF2-40B4-BE49-F238E27FC236}">
                  <a16:creationId xmlns:a16="http://schemas.microsoft.com/office/drawing/2014/main" id="{DB628206-CFE4-49BB-8071-4732371B4464}"/>
                </a:ext>
              </a:extLst>
            </p:cNvPr>
            <p:cNvSpPr txBox="1"/>
            <p:nvPr/>
          </p:nvSpPr>
          <p:spPr>
            <a:xfrm>
              <a:off x="9748158" y="3607253"/>
              <a:ext cx="85128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های بنایی </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اماده</a:t>
              </a:r>
            </a:p>
          </p:txBody>
        </p:sp>
      </p:grpSp>
      <p:grpSp>
        <p:nvGrpSpPr>
          <p:cNvPr id="58" name="Group 57">
            <a:extLst>
              <a:ext uri="{FF2B5EF4-FFF2-40B4-BE49-F238E27FC236}">
                <a16:creationId xmlns:a16="http://schemas.microsoft.com/office/drawing/2014/main" id="{6DCB1871-6334-4E2E-A08B-D1065664817C}"/>
              </a:ext>
            </a:extLst>
          </p:cNvPr>
          <p:cNvGrpSpPr/>
          <p:nvPr/>
        </p:nvGrpSpPr>
        <p:grpSpPr>
          <a:xfrm>
            <a:off x="1274138" y="3178535"/>
            <a:ext cx="1199408" cy="3667665"/>
            <a:chOff x="8406246" y="3190335"/>
            <a:chExt cx="1199408" cy="3667665"/>
          </a:xfrm>
        </p:grpSpPr>
        <p:sp>
          <p:nvSpPr>
            <p:cNvPr id="38" name="Rectangle 37">
              <a:extLst>
                <a:ext uri="{FF2B5EF4-FFF2-40B4-BE49-F238E27FC236}">
                  <a16:creationId xmlns:a16="http://schemas.microsoft.com/office/drawing/2014/main" id="{B678E863-3216-4934-B191-A733C25E132F}"/>
                </a:ext>
              </a:extLst>
            </p:cNvPr>
            <p:cNvSpPr/>
            <p:nvPr/>
          </p:nvSpPr>
          <p:spPr>
            <a:xfrm>
              <a:off x="8406246" y="3190335"/>
              <a:ext cx="1199408" cy="3667665"/>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8" name="TextBox 47">
              <a:extLst>
                <a:ext uri="{FF2B5EF4-FFF2-40B4-BE49-F238E27FC236}">
                  <a16:creationId xmlns:a16="http://schemas.microsoft.com/office/drawing/2014/main" id="{853E185A-08D4-445F-83DF-85B91BBE0B76}"/>
                </a:ext>
              </a:extLst>
            </p:cNvPr>
            <p:cNvSpPr txBox="1"/>
            <p:nvPr/>
          </p:nvSpPr>
          <p:spPr>
            <a:xfrm>
              <a:off x="8577258" y="3579328"/>
              <a:ext cx="92789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سیمان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قیری</a:t>
              </a:r>
            </a:p>
          </p:txBody>
        </p:sp>
      </p:grpSp>
      <p:grpSp>
        <p:nvGrpSpPr>
          <p:cNvPr id="57" name="Group 56">
            <a:extLst>
              <a:ext uri="{FF2B5EF4-FFF2-40B4-BE49-F238E27FC236}">
                <a16:creationId xmlns:a16="http://schemas.microsoft.com/office/drawing/2014/main" id="{A180990E-D62C-4392-A354-456BA44C7F66}"/>
              </a:ext>
            </a:extLst>
          </p:cNvPr>
          <p:cNvGrpSpPr/>
          <p:nvPr/>
        </p:nvGrpSpPr>
        <p:grpSpPr>
          <a:xfrm>
            <a:off x="1118253" y="3173112"/>
            <a:ext cx="1199408" cy="3667665"/>
            <a:chOff x="7206838" y="3190335"/>
            <a:chExt cx="1199408" cy="3667665"/>
          </a:xfrm>
        </p:grpSpPr>
        <p:sp>
          <p:nvSpPr>
            <p:cNvPr id="37" name="Rectangle 36">
              <a:extLst>
                <a:ext uri="{FF2B5EF4-FFF2-40B4-BE49-F238E27FC236}">
                  <a16:creationId xmlns:a16="http://schemas.microsoft.com/office/drawing/2014/main" id="{68E05527-09FC-46CC-968E-A08E73E14488}"/>
                </a:ext>
              </a:extLst>
            </p:cNvPr>
            <p:cNvSpPr/>
            <p:nvPr/>
          </p:nvSpPr>
          <p:spPr>
            <a:xfrm>
              <a:off x="7206838" y="3190335"/>
              <a:ext cx="1199408" cy="3667665"/>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7" name="TextBox 46">
              <a:extLst>
                <a:ext uri="{FF2B5EF4-FFF2-40B4-BE49-F238E27FC236}">
                  <a16:creationId xmlns:a16="http://schemas.microsoft.com/office/drawing/2014/main" id="{AAF2DAC3-8863-43C0-940F-F35C20BE1572}"/>
                </a:ext>
              </a:extLst>
            </p:cNvPr>
            <p:cNvSpPr txBox="1"/>
            <p:nvPr/>
          </p:nvSpPr>
          <p:spPr>
            <a:xfrm>
              <a:off x="7265335" y="3546618"/>
              <a:ext cx="1082414"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پوزولانی-اهک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ماسه سیمان</a:t>
              </a:r>
            </a:p>
          </p:txBody>
        </p:sp>
      </p:grpSp>
      <p:grpSp>
        <p:nvGrpSpPr>
          <p:cNvPr id="56" name="Group 55">
            <a:extLst>
              <a:ext uri="{FF2B5EF4-FFF2-40B4-BE49-F238E27FC236}">
                <a16:creationId xmlns:a16="http://schemas.microsoft.com/office/drawing/2014/main" id="{088C4457-BD06-454B-A165-D3EC5849D4E2}"/>
              </a:ext>
            </a:extLst>
          </p:cNvPr>
          <p:cNvGrpSpPr/>
          <p:nvPr/>
        </p:nvGrpSpPr>
        <p:grpSpPr>
          <a:xfrm>
            <a:off x="975749" y="3166586"/>
            <a:ext cx="1199408" cy="3667665"/>
            <a:chOff x="6007430" y="3190335"/>
            <a:chExt cx="1199408" cy="3667665"/>
          </a:xfrm>
        </p:grpSpPr>
        <p:sp>
          <p:nvSpPr>
            <p:cNvPr id="36" name="Rectangle 35">
              <a:extLst>
                <a:ext uri="{FF2B5EF4-FFF2-40B4-BE49-F238E27FC236}">
                  <a16:creationId xmlns:a16="http://schemas.microsoft.com/office/drawing/2014/main" id="{67F00B18-33D2-4FD1-B988-6723D5DDC21B}"/>
                </a:ext>
              </a:extLst>
            </p:cNvPr>
            <p:cNvSpPr/>
            <p:nvPr/>
          </p:nvSpPr>
          <p:spPr>
            <a:xfrm>
              <a:off x="6007430" y="3190335"/>
              <a:ext cx="1199408" cy="366766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6" name="TextBox 45">
              <a:extLst>
                <a:ext uri="{FF2B5EF4-FFF2-40B4-BE49-F238E27FC236}">
                  <a16:creationId xmlns:a16="http://schemas.microsoft.com/office/drawing/2014/main" id="{457B35DF-EB64-4AF4-88DA-DDBCE59E4229}"/>
                </a:ext>
              </a:extLst>
            </p:cNvPr>
            <p:cNvSpPr txBox="1"/>
            <p:nvPr/>
          </p:nvSpPr>
          <p:spPr>
            <a:xfrm>
              <a:off x="6089271" y="3548854"/>
              <a:ext cx="1082414"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ماسه و اهک</a:t>
              </a:r>
            </a:p>
            <a:p>
              <a:pPr algn="ctr"/>
              <a:endParaRPr lang="en-US" sz="2800" dirty="0">
                <a:cs typeface="2  Nazanin" panose="00000400000000000000" pitchFamily="2" charset="-78"/>
              </a:endParaRPr>
            </a:p>
            <a:p>
              <a:pPr algn="ctr"/>
              <a:r>
                <a:rPr lang="fa-IR" sz="2800" dirty="0">
                  <a:cs typeface="2  Nazanin" panose="00000400000000000000" pitchFamily="2" charset="-78"/>
                </a:rPr>
                <a:t>ملات پوزولانی</a:t>
              </a:r>
            </a:p>
          </p:txBody>
        </p:sp>
      </p:grpSp>
      <p:grpSp>
        <p:nvGrpSpPr>
          <p:cNvPr id="55" name="Group 54">
            <a:extLst>
              <a:ext uri="{FF2B5EF4-FFF2-40B4-BE49-F238E27FC236}">
                <a16:creationId xmlns:a16="http://schemas.microsoft.com/office/drawing/2014/main" id="{6419C5A0-ADC0-4B10-8C39-6A79CFBCFFE8}"/>
              </a:ext>
            </a:extLst>
          </p:cNvPr>
          <p:cNvGrpSpPr/>
          <p:nvPr/>
        </p:nvGrpSpPr>
        <p:grpSpPr>
          <a:xfrm>
            <a:off x="823247" y="3179634"/>
            <a:ext cx="1199408" cy="3667665"/>
            <a:chOff x="4808022" y="3190335"/>
            <a:chExt cx="1199408" cy="3667665"/>
          </a:xfrm>
        </p:grpSpPr>
        <p:sp>
          <p:nvSpPr>
            <p:cNvPr id="35" name="Rectangle 34">
              <a:extLst>
                <a:ext uri="{FF2B5EF4-FFF2-40B4-BE49-F238E27FC236}">
                  <a16:creationId xmlns:a16="http://schemas.microsoft.com/office/drawing/2014/main" id="{84ACA4EC-7BA5-4DA9-9A98-538D76264144}"/>
                </a:ext>
              </a:extLst>
            </p:cNvPr>
            <p:cNvSpPr/>
            <p:nvPr/>
          </p:nvSpPr>
          <p:spPr>
            <a:xfrm>
              <a:off x="4808022" y="3190335"/>
              <a:ext cx="1199408" cy="366766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5" name="TextBox 44">
              <a:extLst>
                <a:ext uri="{FF2B5EF4-FFF2-40B4-BE49-F238E27FC236}">
                  <a16:creationId xmlns:a16="http://schemas.microsoft.com/office/drawing/2014/main" id="{32E93009-4C4A-4C3C-9270-13EC44F3B20E}"/>
                </a:ext>
              </a:extLst>
            </p:cNvPr>
            <p:cNvSpPr txBox="1"/>
            <p:nvPr/>
          </p:nvSpPr>
          <p:spPr>
            <a:xfrm>
              <a:off x="4889863" y="3534912"/>
              <a:ext cx="1057455" cy="3108543"/>
            </a:xfrm>
            <a:prstGeom prst="rect">
              <a:avLst/>
            </a:prstGeom>
            <a:noFill/>
            <a:ln>
              <a:noFill/>
            </a:ln>
          </p:spPr>
          <p:txBody>
            <a:bodyPr wrap="square" rtlCol="1">
              <a:spAutoFit/>
            </a:bodyPr>
            <a:lstStyle/>
            <a:p>
              <a:pPr algn="ctr"/>
              <a:r>
                <a:rPr lang="fa-IR" sz="2800" dirty="0">
                  <a:cs typeface="2  Nazanin" panose="00000400000000000000" pitchFamily="2" charset="-78"/>
                </a:rPr>
                <a:t>ملات گچ و اهک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a:t>
              </a:r>
            </a:p>
            <a:p>
              <a:pPr algn="ctr"/>
              <a:r>
                <a:rPr lang="fa-IR" sz="2800" dirty="0">
                  <a:cs typeface="2  Nazanin" panose="00000400000000000000" pitchFamily="2" charset="-78"/>
                </a:rPr>
                <a:t>پرلیت</a:t>
              </a:r>
            </a:p>
          </p:txBody>
        </p:sp>
      </p:grpSp>
      <p:grpSp>
        <p:nvGrpSpPr>
          <p:cNvPr id="54" name="Group 53">
            <a:extLst>
              <a:ext uri="{FF2B5EF4-FFF2-40B4-BE49-F238E27FC236}">
                <a16:creationId xmlns:a16="http://schemas.microsoft.com/office/drawing/2014/main" id="{B447E35D-F239-456C-9616-C3C56F1E53CD}"/>
              </a:ext>
            </a:extLst>
          </p:cNvPr>
          <p:cNvGrpSpPr/>
          <p:nvPr/>
        </p:nvGrpSpPr>
        <p:grpSpPr>
          <a:xfrm>
            <a:off x="613144" y="3178947"/>
            <a:ext cx="1199408" cy="3667665"/>
            <a:chOff x="3608614" y="3190335"/>
            <a:chExt cx="1199408" cy="3667665"/>
          </a:xfrm>
          <a:solidFill>
            <a:srgbClr val="DACCF4"/>
          </a:solidFill>
        </p:grpSpPr>
        <p:sp>
          <p:nvSpPr>
            <p:cNvPr id="34" name="Rectangle 33">
              <a:extLst>
                <a:ext uri="{FF2B5EF4-FFF2-40B4-BE49-F238E27FC236}">
                  <a16:creationId xmlns:a16="http://schemas.microsoft.com/office/drawing/2014/main" id="{EB20F381-1CE4-4380-9883-46373D641BC7}"/>
                </a:ext>
              </a:extLst>
            </p:cNvPr>
            <p:cNvSpPr/>
            <p:nvPr/>
          </p:nvSpPr>
          <p:spPr>
            <a:xfrm>
              <a:off x="3608614"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4" name="TextBox 43">
              <a:extLst>
                <a:ext uri="{FF2B5EF4-FFF2-40B4-BE49-F238E27FC236}">
                  <a16:creationId xmlns:a16="http://schemas.microsoft.com/office/drawing/2014/main" id="{641280EF-4B92-450C-9907-E8D0CC39D904}"/>
                </a:ext>
              </a:extLst>
            </p:cNvPr>
            <p:cNvSpPr txBox="1"/>
            <p:nvPr/>
          </p:nvSpPr>
          <p:spPr>
            <a:xfrm>
              <a:off x="3832983" y="3515096"/>
              <a:ext cx="784266" cy="3108543"/>
            </a:xfrm>
            <a:prstGeom prst="rect">
              <a:avLst/>
            </a:prstGeom>
            <a:grpFill/>
            <a:ln>
              <a:noFill/>
            </a:ln>
          </p:spPr>
          <p:txBody>
            <a:bodyPr wrap="square" rtlCol="1">
              <a:spAutoFit/>
            </a:bodyPr>
            <a:lstStyle/>
            <a:p>
              <a:pPr algn="ctr"/>
              <a:r>
                <a:rPr lang="fa-IR" sz="2800" dirty="0">
                  <a:cs typeface="2  Nazanin" panose="00000400000000000000" pitchFamily="2" charset="-78"/>
                </a:rPr>
                <a:t>ملات گچ و خاک</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گچ و ماسه</a:t>
              </a:r>
            </a:p>
          </p:txBody>
        </p:sp>
      </p:grpSp>
      <p:grpSp>
        <p:nvGrpSpPr>
          <p:cNvPr id="53" name="Group 52">
            <a:extLst>
              <a:ext uri="{FF2B5EF4-FFF2-40B4-BE49-F238E27FC236}">
                <a16:creationId xmlns:a16="http://schemas.microsoft.com/office/drawing/2014/main" id="{F223EA48-6AEE-4EAE-BF48-489AA089B7EA}"/>
              </a:ext>
            </a:extLst>
          </p:cNvPr>
          <p:cNvGrpSpPr/>
          <p:nvPr/>
        </p:nvGrpSpPr>
        <p:grpSpPr>
          <a:xfrm>
            <a:off x="365586" y="3173999"/>
            <a:ext cx="1199408" cy="3667665"/>
            <a:chOff x="2409206" y="3190335"/>
            <a:chExt cx="1199408" cy="3667665"/>
          </a:xfrm>
        </p:grpSpPr>
        <p:sp>
          <p:nvSpPr>
            <p:cNvPr id="33" name="Rectangle 32">
              <a:extLst>
                <a:ext uri="{FF2B5EF4-FFF2-40B4-BE49-F238E27FC236}">
                  <a16:creationId xmlns:a16="http://schemas.microsoft.com/office/drawing/2014/main" id="{DF287A53-248F-4C60-B1F0-0D5AB598910B}"/>
                </a:ext>
              </a:extLst>
            </p:cNvPr>
            <p:cNvSpPr/>
            <p:nvPr/>
          </p:nvSpPr>
          <p:spPr>
            <a:xfrm>
              <a:off x="2409206" y="3190335"/>
              <a:ext cx="1199408" cy="366766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43" name="TextBox 42">
              <a:extLst>
                <a:ext uri="{FF2B5EF4-FFF2-40B4-BE49-F238E27FC236}">
                  <a16:creationId xmlns:a16="http://schemas.microsoft.com/office/drawing/2014/main" id="{2C5B7EDD-D3ED-47BB-9575-1D309DE52295}"/>
                </a:ext>
              </a:extLst>
            </p:cNvPr>
            <p:cNvSpPr txBox="1"/>
            <p:nvPr/>
          </p:nvSpPr>
          <p:spPr>
            <a:xfrm>
              <a:off x="2611583" y="3525982"/>
              <a:ext cx="879764" cy="3046988"/>
            </a:xfrm>
            <a:prstGeom prst="rect">
              <a:avLst/>
            </a:prstGeom>
            <a:noFill/>
            <a:ln>
              <a:noFill/>
            </a:ln>
          </p:spPr>
          <p:txBody>
            <a:bodyPr wrap="square" rtlCol="1">
              <a:spAutoFit/>
            </a:bodyPr>
            <a:lstStyle/>
            <a:p>
              <a:pPr algn="ctr"/>
              <a:r>
                <a:rPr lang="fa-IR" sz="2400" dirty="0">
                  <a:cs typeface="2  Nazanin" panose="00000400000000000000" pitchFamily="2" charset="-78"/>
                </a:rPr>
                <a:t>ملات ساروج</a:t>
              </a:r>
            </a:p>
            <a:p>
              <a:pPr algn="ctr"/>
              <a:endParaRPr lang="fa-IR" sz="2400" dirty="0">
                <a:cs typeface="2  Nazanin" panose="00000400000000000000" pitchFamily="2" charset="-78"/>
              </a:endParaRPr>
            </a:p>
            <a:p>
              <a:pPr algn="ctr"/>
              <a:endParaRPr lang="en-US" sz="2400" dirty="0">
                <a:cs typeface="2  Nazanin" panose="00000400000000000000" pitchFamily="2" charset="-78"/>
              </a:endParaRPr>
            </a:p>
            <a:p>
              <a:pPr algn="ctr"/>
              <a:r>
                <a:rPr lang="fa-IR" sz="2400" dirty="0">
                  <a:cs typeface="2  Nazanin" panose="00000400000000000000" pitchFamily="2" charset="-78"/>
                </a:rPr>
                <a:t>ملات  خمیرهای گچی</a:t>
              </a:r>
            </a:p>
          </p:txBody>
        </p:sp>
      </p:grpSp>
      <p:grpSp>
        <p:nvGrpSpPr>
          <p:cNvPr id="52" name="Group 51">
            <a:extLst>
              <a:ext uri="{FF2B5EF4-FFF2-40B4-BE49-F238E27FC236}">
                <a16:creationId xmlns:a16="http://schemas.microsoft.com/office/drawing/2014/main" id="{8CB2A514-8688-4710-A451-494283ED238A}"/>
              </a:ext>
            </a:extLst>
          </p:cNvPr>
          <p:cNvGrpSpPr/>
          <p:nvPr/>
        </p:nvGrpSpPr>
        <p:grpSpPr>
          <a:xfrm>
            <a:off x="107479" y="3184399"/>
            <a:ext cx="1199408" cy="3667665"/>
            <a:chOff x="1209798" y="3190335"/>
            <a:chExt cx="1199408" cy="3667665"/>
          </a:xfrm>
        </p:grpSpPr>
        <p:sp>
          <p:nvSpPr>
            <p:cNvPr id="32" name="Rectangle 31">
              <a:extLst>
                <a:ext uri="{FF2B5EF4-FFF2-40B4-BE49-F238E27FC236}">
                  <a16:creationId xmlns:a16="http://schemas.microsoft.com/office/drawing/2014/main" id="{BE078B3D-6C67-4D4A-87B4-6555942DBD9A}"/>
                </a:ext>
              </a:extLst>
            </p:cNvPr>
            <p:cNvSpPr/>
            <p:nvPr/>
          </p:nvSpPr>
          <p:spPr>
            <a:xfrm>
              <a:off x="1209798" y="3190335"/>
              <a:ext cx="1199408" cy="366766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2" name="TextBox 41">
              <a:extLst>
                <a:ext uri="{FF2B5EF4-FFF2-40B4-BE49-F238E27FC236}">
                  <a16:creationId xmlns:a16="http://schemas.microsoft.com/office/drawing/2014/main" id="{F121F265-1C65-4B01-A8AB-8342535A1CA9}"/>
                </a:ext>
              </a:extLst>
            </p:cNvPr>
            <p:cNvSpPr txBox="1"/>
            <p:nvPr/>
          </p:nvSpPr>
          <p:spPr>
            <a:xfrm>
              <a:off x="1398814" y="3523206"/>
              <a:ext cx="881249"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گل و کاهگ</a:t>
              </a:r>
            </a:p>
            <a:p>
              <a:pPr algn="ctr"/>
              <a:endParaRPr lang="fa-IR" sz="2800" dirty="0">
                <a:cs typeface="2  Nazanin" panose="00000400000000000000" pitchFamily="2" charset="-78"/>
              </a:endParaRPr>
            </a:p>
            <a:p>
              <a:pPr algn="ctr"/>
              <a:r>
                <a:rPr lang="fa-IR" sz="2800" dirty="0">
                  <a:cs typeface="2  Nazanin" panose="00000400000000000000" pitchFamily="2" charset="-78"/>
                </a:rPr>
                <a:t>ملات اهک</a:t>
              </a:r>
            </a:p>
          </p:txBody>
        </p:sp>
      </p:grpSp>
      <p:grpSp>
        <p:nvGrpSpPr>
          <p:cNvPr id="51" name="Group 50">
            <a:extLst>
              <a:ext uri="{FF2B5EF4-FFF2-40B4-BE49-F238E27FC236}">
                <a16:creationId xmlns:a16="http://schemas.microsoft.com/office/drawing/2014/main" id="{D023384A-009A-4142-AE86-D2852B9C591D}"/>
              </a:ext>
            </a:extLst>
          </p:cNvPr>
          <p:cNvGrpSpPr/>
          <p:nvPr/>
        </p:nvGrpSpPr>
        <p:grpSpPr>
          <a:xfrm>
            <a:off x="-116939" y="3166586"/>
            <a:ext cx="1199408" cy="3667665"/>
            <a:chOff x="0" y="3190335"/>
            <a:chExt cx="1199408" cy="3667665"/>
          </a:xfrm>
        </p:grpSpPr>
        <p:sp>
          <p:nvSpPr>
            <p:cNvPr id="2" name="Rectangle 1">
              <a:extLst>
                <a:ext uri="{FF2B5EF4-FFF2-40B4-BE49-F238E27FC236}">
                  <a16:creationId xmlns:a16="http://schemas.microsoft.com/office/drawing/2014/main" id="{5FF3F0D0-59D1-49EB-9E93-6E866F8B28A9}"/>
                </a:ext>
              </a:extLst>
            </p:cNvPr>
            <p:cNvSpPr/>
            <p:nvPr/>
          </p:nvSpPr>
          <p:spPr>
            <a:xfrm>
              <a:off x="0" y="3190335"/>
              <a:ext cx="1199408" cy="36676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1" name="TextBox 40">
              <a:extLst>
                <a:ext uri="{FF2B5EF4-FFF2-40B4-BE49-F238E27FC236}">
                  <a16:creationId xmlns:a16="http://schemas.microsoft.com/office/drawing/2014/main" id="{B7856EF2-C687-43BF-AFC9-AFD2899A6EE9}"/>
                </a:ext>
              </a:extLst>
            </p:cNvPr>
            <p:cNvSpPr txBox="1"/>
            <p:nvPr/>
          </p:nvSpPr>
          <p:spPr>
            <a:xfrm>
              <a:off x="116990" y="3515096"/>
              <a:ext cx="951790" cy="2677656"/>
            </a:xfrm>
            <a:prstGeom prst="rect">
              <a:avLst/>
            </a:prstGeom>
            <a:noFill/>
            <a:ln>
              <a:noFill/>
            </a:ln>
          </p:spPr>
          <p:txBody>
            <a:bodyPr wrap="square" rtlCol="1">
              <a:spAutoFit/>
            </a:bodyPr>
            <a:lstStyle/>
            <a:p>
              <a:pPr algn="ctr"/>
              <a:r>
                <a:rPr lang="fa-IR" sz="2800" dirty="0">
                  <a:cs typeface="2  Nazanin" panose="00000400000000000000" pitchFamily="2" charset="-78"/>
                </a:rPr>
                <a:t>ملات هوایی</a:t>
              </a:r>
            </a:p>
            <a:p>
              <a:pPr algn="ctr"/>
              <a:endParaRPr lang="fa-IR" sz="2800" dirty="0">
                <a:cs typeface="2  Nazanin" panose="00000400000000000000" pitchFamily="2" charset="-78"/>
              </a:endParaRPr>
            </a:p>
            <a:p>
              <a:pPr algn="ctr"/>
              <a:endParaRPr lang="en-US" sz="2800" dirty="0">
                <a:cs typeface="2  Nazanin" panose="00000400000000000000" pitchFamily="2" charset="-78"/>
              </a:endParaRPr>
            </a:p>
            <a:p>
              <a:pPr algn="ctr"/>
              <a:r>
                <a:rPr lang="fa-IR" sz="2800" dirty="0">
                  <a:cs typeface="2  Nazanin" panose="00000400000000000000" pitchFamily="2" charset="-78"/>
                </a:rPr>
                <a:t>ملات آبی</a:t>
              </a:r>
            </a:p>
          </p:txBody>
        </p:sp>
      </p:grpSp>
      <p:grpSp>
        <p:nvGrpSpPr>
          <p:cNvPr id="64" name="Group 63">
            <a:extLst>
              <a:ext uri="{FF2B5EF4-FFF2-40B4-BE49-F238E27FC236}">
                <a16:creationId xmlns:a16="http://schemas.microsoft.com/office/drawing/2014/main" id="{A3921C50-E42F-4721-BEED-D2659DB0AA5B}"/>
              </a:ext>
            </a:extLst>
          </p:cNvPr>
          <p:cNvGrpSpPr/>
          <p:nvPr/>
        </p:nvGrpSpPr>
        <p:grpSpPr>
          <a:xfrm>
            <a:off x="-333542" y="3172038"/>
            <a:ext cx="1199408" cy="3667665"/>
            <a:chOff x="0" y="3190335"/>
            <a:chExt cx="1199408" cy="3667665"/>
          </a:xfrm>
          <a:solidFill>
            <a:srgbClr val="DACCF4"/>
          </a:solidFill>
        </p:grpSpPr>
        <p:sp>
          <p:nvSpPr>
            <p:cNvPr id="65" name="Rectangle 64">
              <a:extLst>
                <a:ext uri="{FF2B5EF4-FFF2-40B4-BE49-F238E27FC236}">
                  <a16:creationId xmlns:a16="http://schemas.microsoft.com/office/drawing/2014/main" id="{09FDB192-694F-4975-87D0-00C87E5995BC}"/>
                </a:ext>
              </a:extLst>
            </p:cNvPr>
            <p:cNvSpPr/>
            <p:nvPr/>
          </p:nvSpPr>
          <p:spPr>
            <a:xfrm>
              <a:off x="0" y="3190335"/>
              <a:ext cx="1199408" cy="366766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6" name="TextBox 65">
              <a:extLst>
                <a:ext uri="{FF2B5EF4-FFF2-40B4-BE49-F238E27FC236}">
                  <a16:creationId xmlns:a16="http://schemas.microsoft.com/office/drawing/2014/main" id="{79E618F5-C3FC-46B2-8E40-7082EA4EF76D}"/>
                </a:ext>
              </a:extLst>
            </p:cNvPr>
            <p:cNvSpPr txBox="1"/>
            <p:nvPr/>
          </p:nvSpPr>
          <p:spPr>
            <a:xfrm>
              <a:off x="49259" y="3515096"/>
              <a:ext cx="1127481" cy="1938992"/>
            </a:xfrm>
            <a:prstGeom prst="rect">
              <a:avLst/>
            </a:prstGeom>
            <a:grpFill/>
          </p:spPr>
          <p:txBody>
            <a:bodyPr wrap="square" rtlCol="1">
              <a:spAutoFit/>
            </a:bodyPr>
            <a:lstStyle/>
            <a:p>
              <a:pPr algn="ctr"/>
              <a:r>
                <a:rPr lang="fa-IR" sz="2400" dirty="0">
                  <a:cs typeface="2  Nazanin" panose="00000400000000000000" pitchFamily="2" charset="-78"/>
                </a:rPr>
                <a:t>ملات ساختمانی از نظر مواد چسباننده</a:t>
              </a: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135408"/>
            <a:ext cx="12192000" cy="7550727"/>
            <a:chOff x="0" y="0"/>
            <a:chExt cx="12192000" cy="7550727"/>
          </a:xfrm>
          <a:solidFill>
            <a:srgbClr val="F9B69C"/>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pic>
        <p:nvPicPr>
          <p:cNvPr id="21" name="Picture 20">
            <a:extLst>
              <a:ext uri="{FF2B5EF4-FFF2-40B4-BE49-F238E27FC236}">
                <a16:creationId xmlns:a16="http://schemas.microsoft.com/office/drawing/2014/main" id="{0ABAB0FE-6C4B-44B5-AFDA-99A8FB0E0E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585" y="4460519"/>
            <a:ext cx="3404903" cy="2042942"/>
          </a:xfrm>
          <a:prstGeom prst="rect">
            <a:avLst/>
          </a:prstGeom>
        </p:spPr>
      </p:pic>
      <p:pic>
        <p:nvPicPr>
          <p:cNvPr id="24" name="Picture 23">
            <a:extLst>
              <a:ext uri="{FF2B5EF4-FFF2-40B4-BE49-F238E27FC236}">
                <a16:creationId xmlns:a16="http://schemas.microsoft.com/office/drawing/2014/main" id="{E22CE373-13CE-48A3-9B07-F564562EFA8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5581" y="1870755"/>
            <a:ext cx="3384905" cy="2252500"/>
          </a:xfrm>
          <a:prstGeom prst="rect">
            <a:avLst/>
          </a:prstGeom>
        </p:spPr>
      </p:pic>
      <p:pic>
        <p:nvPicPr>
          <p:cNvPr id="61" name="Picture 60">
            <a:extLst>
              <a:ext uri="{FF2B5EF4-FFF2-40B4-BE49-F238E27FC236}">
                <a16:creationId xmlns:a16="http://schemas.microsoft.com/office/drawing/2014/main" id="{E6D8DD4D-6B31-4B15-B208-285C67F433B3}"/>
              </a:ext>
            </a:extLst>
          </p:cNvPr>
          <p:cNvPicPr>
            <a:picLocks noChangeAspect="1"/>
          </p:cNvPicPr>
          <p:nvPr/>
        </p:nvPicPr>
        <p:blipFill>
          <a:blip r:embed="rId5"/>
          <a:stretch>
            <a:fillRect/>
          </a:stretch>
        </p:blipFill>
        <p:spPr>
          <a:xfrm>
            <a:off x="4506254" y="1889142"/>
            <a:ext cx="7335467" cy="4944285"/>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145304"/>
            <a:ext cx="12192000" cy="7550727"/>
            <a:chOff x="0" y="0"/>
            <a:chExt cx="12192000" cy="7550727"/>
          </a:xfrm>
          <a:solidFill>
            <a:srgbClr val="E25D70"/>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pic>
        <p:nvPicPr>
          <p:cNvPr id="23" name="Picture 22">
            <a:extLst>
              <a:ext uri="{FF2B5EF4-FFF2-40B4-BE49-F238E27FC236}">
                <a16:creationId xmlns:a16="http://schemas.microsoft.com/office/drawing/2014/main" id="{7FC3B53F-96F2-48B1-8CF1-D9DA0A45C340}"/>
              </a:ext>
            </a:extLst>
          </p:cNvPr>
          <p:cNvPicPr>
            <a:picLocks noChangeAspect="1"/>
          </p:cNvPicPr>
          <p:nvPr/>
        </p:nvPicPr>
        <p:blipFill rotWithShape="1">
          <a:blip r:embed="rId6">
            <a:extLst>
              <a:ext uri="{28A0092B-C50C-407E-A947-70E740481C1C}">
                <a14:useLocalDpi xmlns:a14="http://schemas.microsoft.com/office/drawing/2010/main" val="0"/>
              </a:ext>
            </a:extLst>
          </a:blip>
          <a:srcRect b="12009"/>
          <a:stretch/>
        </p:blipFill>
        <p:spPr>
          <a:xfrm>
            <a:off x="266162" y="1535569"/>
            <a:ext cx="4039606" cy="1875030"/>
          </a:xfrm>
          <a:prstGeom prst="rect">
            <a:avLst/>
          </a:prstGeom>
        </p:spPr>
      </p:pic>
      <p:pic>
        <p:nvPicPr>
          <p:cNvPr id="26" name="Picture 25">
            <a:extLst>
              <a:ext uri="{FF2B5EF4-FFF2-40B4-BE49-F238E27FC236}">
                <a16:creationId xmlns:a16="http://schemas.microsoft.com/office/drawing/2014/main" id="{20BB251E-8909-4F97-A693-112C9960FF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7096" y="3758682"/>
            <a:ext cx="3420331" cy="2738990"/>
          </a:xfrm>
          <a:prstGeom prst="rect">
            <a:avLst/>
          </a:prstGeom>
        </p:spPr>
      </p:pic>
      <p:pic>
        <p:nvPicPr>
          <p:cNvPr id="27" name="Picture 26">
            <a:extLst>
              <a:ext uri="{FF2B5EF4-FFF2-40B4-BE49-F238E27FC236}">
                <a16:creationId xmlns:a16="http://schemas.microsoft.com/office/drawing/2014/main" id="{033F1533-2A49-4CB6-99C2-81ABE4EEE086}"/>
              </a:ext>
            </a:extLst>
          </p:cNvPr>
          <p:cNvPicPr>
            <a:picLocks noChangeAspect="1"/>
          </p:cNvPicPr>
          <p:nvPr/>
        </p:nvPicPr>
        <p:blipFill>
          <a:blip r:embed="rId8"/>
          <a:stretch>
            <a:fillRect/>
          </a:stretch>
        </p:blipFill>
        <p:spPr>
          <a:xfrm>
            <a:off x="4285168" y="1770160"/>
            <a:ext cx="7663336" cy="3859102"/>
          </a:xfrm>
          <a:prstGeom prst="rect">
            <a:avLst/>
          </a:prstGeom>
        </p:spPr>
      </p:pic>
      <p:grpSp>
        <p:nvGrpSpPr>
          <p:cNvPr id="16" name="Group 15">
            <a:extLst>
              <a:ext uri="{FF2B5EF4-FFF2-40B4-BE49-F238E27FC236}">
                <a16:creationId xmlns:a16="http://schemas.microsoft.com/office/drawing/2014/main" id="{F5CD2D5A-83F7-4113-8244-4BCEF4D825AB}"/>
              </a:ext>
            </a:extLst>
          </p:cNvPr>
          <p:cNvGrpSpPr/>
          <p:nvPr/>
        </p:nvGrpSpPr>
        <p:grpSpPr>
          <a:xfrm>
            <a:off x="-51" y="-90311"/>
            <a:ext cx="12192000" cy="7738159"/>
            <a:chOff x="0" y="0"/>
            <a:chExt cx="12192000" cy="7550727"/>
          </a:xfrm>
          <a:solidFill>
            <a:srgbClr val="866669"/>
          </a:solidFill>
        </p:grpSpPr>
        <p:sp>
          <p:nvSpPr>
            <p:cNvPr id="17" name="Rectangle 16">
              <a:extLst>
                <a:ext uri="{FF2B5EF4-FFF2-40B4-BE49-F238E27FC236}">
                  <a16:creationId xmlns:a16="http://schemas.microsoft.com/office/drawing/2014/main" id="{1092A976-07AA-4909-8170-98532AC58162}"/>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8" name="Rectangle: Top Corners Rounded 17">
              <a:extLst>
                <a:ext uri="{FF2B5EF4-FFF2-40B4-BE49-F238E27FC236}">
                  <a16:creationId xmlns:a16="http://schemas.microsoft.com/office/drawing/2014/main" id="{D4908F68-2827-4277-9BC2-DB776E8D56AA}"/>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9" name="TextBox 18">
              <a:extLst>
                <a:ext uri="{FF2B5EF4-FFF2-40B4-BE49-F238E27FC236}">
                  <a16:creationId xmlns:a16="http://schemas.microsoft.com/office/drawing/2014/main" id="{6776A55D-685E-4940-A380-C44CD5803EC8}"/>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5" name="TextBox 24">
            <a:extLst>
              <a:ext uri="{FF2B5EF4-FFF2-40B4-BE49-F238E27FC236}">
                <a16:creationId xmlns:a16="http://schemas.microsoft.com/office/drawing/2014/main" id="{042A1159-4B62-4C8E-A476-1C97E0356FD8}"/>
              </a:ext>
            </a:extLst>
          </p:cNvPr>
          <p:cNvSpPr txBox="1"/>
          <p:nvPr/>
        </p:nvSpPr>
        <p:spPr>
          <a:xfrm>
            <a:off x="4847597" y="936978"/>
            <a:ext cx="6678359" cy="4154984"/>
          </a:xfrm>
          <a:prstGeom prst="rect">
            <a:avLst/>
          </a:prstGeom>
          <a:noFill/>
        </p:spPr>
        <p:txBody>
          <a:bodyPr wrap="square" rtlCol="1">
            <a:spAutoFit/>
          </a:bodyPr>
          <a:lstStyle/>
          <a:p>
            <a:pPr algn="r"/>
            <a:r>
              <a:rPr lang="fa-IR" sz="2400" b="1" dirty="0">
                <a:cs typeface="2  Nazanin" panose="00000400000000000000" pitchFamily="2" charset="-78"/>
              </a:rPr>
              <a:t>سازگاری</a:t>
            </a:r>
          </a:p>
          <a:p>
            <a:pPr algn="r"/>
            <a:r>
              <a:rPr lang="fa-IR" sz="2400" dirty="0">
                <a:cs typeface="2  Nazanin" panose="00000400000000000000" pitchFamily="2" charset="-78"/>
              </a:rPr>
              <a:t>آب آهك سبب خوردگي فلزات، به ويژه سرب، روي و آلومينيم ميشود، بنابراين، بايد قطعات فلزي را، پيش از قرار دادن در ملات هاي آهكي يا سيماني، با مواد مناسب اندود كرد</a:t>
            </a:r>
          </a:p>
          <a:p>
            <a:pPr algn="r"/>
            <a:endParaRPr lang="fa-IR" sz="2400" dirty="0">
              <a:cs typeface="2  Nazanin" panose="00000400000000000000" pitchFamily="2" charset="-78"/>
            </a:endParaRPr>
          </a:p>
          <a:p>
            <a:pPr algn="r"/>
            <a:r>
              <a:rPr lang="fa-IR" sz="2400" b="1" dirty="0">
                <a:cs typeface="2  Nazanin" panose="00000400000000000000" pitchFamily="2" charset="-78"/>
              </a:rPr>
              <a:t>بسته بندی و حمل</a:t>
            </a:r>
          </a:p>
          <a:p>
            <a:pPr algn="r"/>
            <a:r>
              <a:rPr lang="fa-IR" sz="2400" dirty="0">
                <a:cs typeface="2  Nazanin" panose="00000400000000000000" pitchFamily="2" charset="-78"/>
              </a:rPr>
              <a:t>مواد چسباننده و سنگدانه را بايد به گونه هاي انبار كرد كه از آلودگي يا داخل شدن مواد خـارجي در آنها جلوگيري شود. </a:t>
            </a:r>
          </a:p>
          <a:p>
            <a:pPr algn="r"/>
            <a:r>
              <a:rPr lang="fa-IR" sz="2400" dirty="0">
                <a:cs typeface="2  Nazanin" panose="00000400000000000000" pitchFamily="2" charset="-78"/>
              </a:rPr>
              <a:t>انبار كردن و نگهداري سيمان بايد مطابق استاندارد مربوط صورت گيرد. هنگام تهيه و حمل ملات، بايد آن را از آسيب در اثر يخ زدگي، باران، آفتاب و ديگر عوامل جوي محافظـت كرد. </a:t>
            </a:r>
          </a:p>
        </p:txBody>
      </p:sp>
      <p:pic>
        <p:nvPicPr>
          <p:cNvPr id="29" name="Picture 28">
            <a:extLst>
              <a:ext uri="{FF2B5EF4-FFF2-40B4-BE49-F238E27FC236}">
                <a16:creationId xmlns:a16="http://schemas.microsoft.com/office/drawing/2014/main" id="{BFD19B8F-9F91-4EFF-85DC-270B387401A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8776" y="2415080"/>
            <a:ext cx="3514616" cy="1968185"/>
          </a:xfrm>
          <a:prstGeom prst="rect">
            <a:avLst/>
          </a:prstGeom>
        </p:spPr>
      </p:pic>
      <p:pic>
        <p:nvPicPr>
          <p:cNvPr id="31" name="Picture 30">
            <a:extLst>
              <a:ext uri="{FF2B5EF4-FFF2-40B4-BE49-F238E27FC236}">
                <a16:creationId xmlns:a16="http://schemas.microsoft.com/office/drawing/2014/main" id="{2C56B84C-E127-4285-804F-03FC3334A426}"/>
              </a:ext>
            </a:extLst>
          </p:cNvPr>
          <p:cNvPicPr>
            <a:picLocks noChangeAspect="1"/>
          </p:cNvPicPr>
          <p:nvPr/>
        </p:nvPicPr>
        <p:blipFill rotWithShape="1">
          <a:blip r:embed="rId10">
            <a:extLst>
              <a:ext uri="{28A0092B-C50C-407E-A947-70E740481C1C}">
                <a14:useLocalDpi xmlns:a14="http://schemas.microsoft.com/office/drawing/2010/main" val="0"/>
              </a:ext>
            </a:extLst>
          </a:blip>
          <a:srcRect t="10495" b="11796"/>
          <a:stretch/>
        </p:blipFill>
        <p:spPr>
          <a:xfrm>
            <a:off x="540341" y="449075"/>
            <a:ext cx="3591487" cy="1794118"/>
          </a:xfrm>
          <a:prstGeom prst="rect">
            <a:avLst/>
          </a:prstGeom>
        </p:spPr>
      </p:pic>
      <p:pic>
        <p:nvPicPr>
          <p:cNvPr id="63" name="Picture 62">
            <a:extLst>
              <a:ext uri="{FF2B5EF4-FFF2-40B4-BE49-F238E27FC236}">
                <a16:creationId xmlns:a16="http://schemas.microsoft.com/office/drawing/2014/main" id="{F763A9B2-35C7-437B-A95D-05E19D6A8E93}"/>
              </a:ext>
            </a:extLst>
          </p:cNvPr>
          <p:cNvPicPr>
            <a:picLocks noChangeAspect="1"/>
          </p:cNvPicPr>
          <p:nvPr/>
        </p:nvPicPr>
        <p:blipFill rotWithShape="1">
          <a:blip r:embed="rId11">
            <a:extLst>
              <a:ext uri="{28A0092B-C50C-407E-A947-70E740481C1C}">
                <a14:useLocalDpi xmlns:a14="http://schemas.microsoft.com/office/drawing/2010/main" val="0"/>
              </a:ext>
            </a:extLst>
          </a:blip>
          <a:srcRect t="2821" r="21001"/>
          <a:stretch/>
        </p:blipFill>
        <p:spPr>
          <a:xfrm>
            <a:off x="585929" y="4679680"/>
            <a:ext cx="2841757" cy="1939490"/>
          </a:xfrm>
          <a:prstGeom prst="rect">
            <a:avLst/>
          </a:prstGeom>
        </p:spPr>
      </p:pic>
    </p:spTree>
    <p:extLst>
      <p:ext uri="{BB962C8B-B14F-4D97-AF65-F5344CB8AC3E}">
        <p14:creationId xmlns:p14="http://schemas.microsoft.com/office/powerpoint/2010/main" val="11136024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3.33333E-6 0.00486 L 0.08295 0.00301 " pathEditMode="relative" rAng="0" ptsTypes="AA">
                                      <p:cBhvr>
                                        <p:cTn id="6" dur="2000" fill="hold"/>
                                        <p:tgtEl>
                                          <p:spTgt spid="51"/>
                                        </p:tgtEl>
                                        <p:attrNameLst>
                                          <p:attrName>ppt_x</p:attrName>
                                          <p:attrName>ppt_y</p:attrName>
                                        </p:attrNameLst>
                                      </p:cBhvr>
                                      <p:rCtr x="4141" y="-93"/>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00273 0.00162 L 0.16315 -0.00115 " pathEditMode="relative" rAng="0" ptsTypes="AA">
                                      <p:cBhvr>
                                        <p:cTn id="10" dur="2000" fill="hold"/>
                                        <p:tgtEl>
                                          <p:spTgt spid="52"/>
                                        </p:tgtEl>
                                        <p:attrNameLst>
                                          <p:attrName>ppt_x</p:attrName>
                                          <p:attrName>ppt_y</p:attrName>
                                        </p:attrNameLst>
                                      </p:cBhvr>
                                      <p:rCtr x="8294" y="-139"/>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0.00183 0.00324 L 0.24023 0.00209 " pathEditMode="relative" rAng="0" ptsTypes="AA">
                                      <p:cBhvr>
                                        <p:cTn id="14" dur="2000" fill="hold"/>
                                        <p:tgtEl>
                                          <p:spTgt spid="53"/>
                                        </p:tgtEl>
                                        <p:attrNameLst>
                                          <p:attrName>ppt_x</p:attrName>
                                          <p:attrName>ppt_y</p:attrName>
                                        </p:attrNameLst>
                                      </p:cBhvr>
                                      <p:rCtr x="12096" y="-69"/>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00091 2.96296E-6 L 0.31081 0.00347 " pathEditMode="relative" rAng="0" ptsTypes="AA">
                                      <p:cBhvr>
                                        <p:cTn id="18" dur="2000" fill="hold"/>
                                        <p:tgtEl>
                                          <p:spTgt spid="54"/>
                                        </p:tgtEl>
                                        <p:attrNameLst>
                                          <p:attrName>ppt_x</p:attrName>
                                          <p:attrName>ppt_y</p:attrName>
                                        </p:attrNameLst>
                                      </p:cBhvr>
                                      <p:rCtr x="15586" y="162"/>
                                    </p:animMotion>
                                  </p:childTnLst>
                                </p:cTn>
                              </p:par>
                            </p:childTnLst>
                          </p:cTn>
                        </p:par>
                      </p:childTnLst>
                    </p:cTn>
                  </p:par>
                  <p:par>
                    <p:cTn id="19" fill="hold">
                      <p:stCondLst>
                        <p:cond delay="indefinite"/>
                      </p:stCondLst>
                      <p:childTnLst>
                        <p:par>
                          <p:cTn id="20" fill="hold">
                            <p:stCondLst>
                              <p:cond delay="0"/>
                            </p:stCondLst>
                            <p:childTnLst>
                              <p:par>
                                <p:cTn id="21" presetID="63" presetClass="path" presetSubtype="0" accel="50000" decel="50000" fill="hold" nodeType="clickEffect">
                                  <p:stCondLst>
                                    <p:cond delay="0"/>
                                  </p:stCondLst>
                                  <p:childTnLst>
                                    <p:animMotion origin="layout" path="M -0.00638 0.00162 L 0.39414 0.00301 " pathEditMode="relative" rAng="0" ptsTypes="AA">
                                      <p:cBhvr>
                                        <p:cTn id="22" dur="2000" fill="hold"/>
                                        <p:tgtEl>
                                          <p:spTgt spid="55"/>
                                        </p:tgtEl>
                                        <p:attrNameLst>
                                          <p:attrName>ppt_x</p:attrName>
                                          <p:attrName>ppt_y</p:attrName>
                                        </p:attrNameLst>
                                      </p:cBhvr>
                                      <p:rCtr x="20026" y="69"/>
                                    </p:animMotion>
                                  </p:childTnLst>
                                </p:cTn>
                              </p:par>
                            </p:childTnLst>
                          </p:cTn>
                        </p:par>
                      </p:childTnLst>
                    </p:cTn>
                  </p:par>
                  <p:par>
                    <p:cTn id="23" fill="hold">
                      <p:stCondLst>
                        <p:cond delay="indefinite"/>
                      </p:stCondLst>
                      <p:childTnLst>
                        <p:par>
                          <p:cTn id="24" fill="hold">
                            <p:stCondLst>
                              <p:cond delay="0"/>
                            </p:stCondLst>
                            <p:childTnLst>
                              <p:par>
                                <p:cTn id="25" presetID="63" presetClass="path" presetSubtype="0" accel="50000" decel="50000" fill="hold" nodeType="clickEffect">
                                  <p:stCondLst>
                                    <p:cond delay="0"/>
                                  </p:stCondLst>
                                  <p:childTnLst>
                                    <p:animMotion origin="layout" path="M -0.00821 0.00486 L 0.47916 0.00463 " pathEditMode="relative" rAng="0" ptsTypes="AA">
                                      <p:cBhvr>
                                        <p:cTn id="26" dur="2000" fill="hold"/>
                                        <p:tgtEl>
                                          <p:spTgt spid="56"/>
                                        </p:tgtEl>
                                        <p:attrNameLst>
                                          <p:attrName>ppt_x</p:attrName>
                                          <p:attrName>ppt_y</p:attrName>
                                        </p:attrNameLst>
                                      </p:cBhvr>
                                      <p:rCtr x="24362" y="-23"/>
                                    </p:animMotion>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0.00364 0.0051 L 0.56796 0.00185 " pathEditMode="relative" rAng="0" ptsTypes="AA">
                                      <p:cBhvr>
                                        <p:cTn id="30" dur="2000" fill="hold"/>
                                        <p:tgtEl>
                                          <p:spTgt spid="57"/>
                                        </p:tgtEl>
                                        <p:attrNameLst>
                                          <p:attrName>ppt_x</p:attrName>
                                          <p:attrName>ppt_y</p:attrName>
                                        </p:attrNameLst>
                                      </p:cBhvr>
                                      <p:rCtr x="28216" y="-162"/>
                                    </p:animMotion>
                                  </p:childTnLst>
                                </p:cTn>
                              </p:par>
                            </p:childTnLst>
                          </p:cTn>
                        </p:par>
                      </p:childTnLst>
                    </p:cTn>
                  </p:par>
                  <p:par>
                    <p:cTn id="31" fill="hold">
                      <p:stCondLst>
                        <p:cond delay="indefinite"/>
                      </p:stCondLst>
                      <p:childTnLst>
                        <p:par>
                          <p:cTn id="32" fill="hold">
                            <p:stCondLst>
                              <p:cond delay="0"/>
                            </p:stCondLst>
                            <p:childTnLst>
                              <p:par>
                                <p:cTn id="33" presetID="63" presetClass="path" presetSubtype="0" accel="50000" decel="50000" fill="hold" nodeType="clickEffect">
                                  <p:stCondLst>
                                    <p:cond delay="0"/>
                                  </p:stCondLst>
                                  <p:childTnLst>
                                    <p:animMotion origin="layout" path="M 0.00273 0.0081 L 0.63958 0.00301 " pathEditMode="relative" rAng="0" ptsTypes="AA">
                                      <p:cBhvr>
                                        <p:cTn id="34" dur="2000" fill="hold"/>
                                        <p:tgtEl>
                                          <p:spTgt spid="58"/>
                                        </p:tgtEl>
                                        <p:attrNameLst>
                                          <p:attrName>ppt_x</p:attrName>
                                          <p:attrName>ppt_y</p:attrName>
                                        </p:attrNameLst>
                                      </p:cBhvr>
                                      <p:rCtr x="31836" y="-255"/>
                                    </p:animMotion>
                                  </p:childTnLst>
                                </p:cTn>
                              </p:par>
                            </p:childTnLst>
                          </p:cTn>
                        </p:par>
                      </p:childTnLst>
                    </p:cTn>
                  </p:par>
                  <p:par>
                    <p:cTn id="35" fill="hold">
                      <p:stCondLst>
                        <p:cond delay="indefinite"/>
                      </p:stCondLst>
                      <p:childTnLst>
                        <p:par>
                          <p:cTn id="36" fill="hold">
                            <p:stCondLst>
                              <p:cond delay="0"/>
                            </p:stCondLst>
                            <p:childTnLst>
                              <p:par>
                                <p:cTn id="37" presetID="63" presetClass="path" presetSubtype="0" accel="50000" decel="50000" fill="hold" nodeType="clickEffect">
                                  <p:stCondLst>
                                    <p:cond delay="0"/>
                                  </p:stCondLst>
                                  <p:childTnLst>
                                    <p:animMotion origin="layout" path="M 0.00364 -0.00162 L 0.70507 0.00208 " pathEditMode="relative" rAng="0" ptsTypes="AA">
                                      <p:cBhvr>
                                        <p:cTn id="38" dur="2000" fill="hold"/>
                                        <p:tgtEl>
                                          <p:spTgt spid="59"/>
                                        </p:tgtEl>
                                        <p:attrNameLst>
                                          <p:attrName>ppt_x</p:attrName>
                                          <p:attrName>ppt_y</p:attrName>
                                        </p:attrNameLst>
                                      </p:cBhvr>
                                      <p:rCtr x="35065" y="185"/>
                                    </p:animMotion>
                                  </p:childTnLst>
                                </p:cTn>
                              </p:par>
                            </p:childTnLst>
                          </p:cTn>
                        </p:par>
                      </p:childTnLst>
                    </p:cTn>
                  </p:par>
                  <p:par>
                    <p:cTn id="39" fill="hold">
                      <p:stCondLst>
                        <p:cond delay="indefinite"/>
                      </p:stCondLst>
                      <p:childTnLst>
                        <p:par>
                          <p:cTn id="40" fill="hold">
                            <p:stCondLst>
                              <p:cond delay="0"/>
                            </p:stCondLst>
                            <p:childTnLst>
                              <p:par>
                                <p:cTn id="41" presetID="63" presetClass="path" presetSubtype="0" accel="50000" decel="50000" fill="hold" nodeType="clickEffect">
                                  <p:stCondLst>
                                    <p:cond delay="0"/>
                                  </p:stCondLst>
                                  <p:childTnLst>
                                    <p:animMotion origin="layout" path="M 0.00547 -0.00648 L 0.78269 0.00093 " pathEditMode="relative" rAng="0" ptsTypes="AA">
                                      <p:cBhvr>
                                        <p:cTn id="42" dur="2000" fill="hold"/>
                                        <p:tgtEl>
                                          <p:spTgt spid="60"/>
                                        </p:tgtEl>
                                        <p:attrNameLst>
                                          <p:attrName>ppt_x</p:attrName>
                                          <p:attrName>ppt_y</p:attrName>
                                        </p:attrNameLst>
                                      </p:cBhvr>
                                      <p:rCtr x="38854" y="37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459110" y="3778501"/>
            <a:ext cx="7485247" cy="2862322"/>
          </a:xfrm>
          <a:prstGeom prst="rect">
            <a:avLst/>
          </a:prstGeom>
          <a:noFill/>
        </p:spPr>
        <p:txBody>
          <a:bodyPr wrap="square" rtlCol="1">
            <a:spAutoFit/>
          </a:bodyPr>
          <a:lstStyle/>
          <a:p>
            <a:pPr algn="r"/>
            <a:r>
              <a:rPr lang="fa-IR" sz="2000" b="1" dirty="0">
                <a:cs typeface="2  Nazanin" panose="00000400000000000000" pitchFamily="2" charset="-78"/>
              </a:rPr>
              <a:t>سنگ های ساختمانی</a:t>
            </a:r>
          </a:p>
          <a:p>
            <a:pPr algn="r"/>
            <a:r>
              <a:rPr lang="fa-IR" sz="2000" dirty="0">
                <a:cs typeface="2  Nazanin" panose="00000400000000000000" pitchFamily="2" charset="-78"/>
              </a:rPr>
              <a:t>سنگ طبيعي جسمي است كه از يك يا چند كاني تشـكيل شـده اسـت.</a:t>
            </a:r>
          </a:p>
          <a:p>
            <a:pPr algn="r"/>
            <a:r>
              <a:rPr lang="fa-IR" sz="2000" dirty="0">
                <a:cs typeface="2  Nazanin" panose="00000400000000000000" pitchFamily="2" charset="-78"/>
              </a:rPr>
              <a:t> سـنگ داراي كاربردهاي زيادي در ساخت و ساز است كه از جمله آنها ميتوان به موارد زير اشاره كرد: </a:t>
            </a:r>
          </a:p>
          <a:p>
            <a:pPr algn="r"/>
            <a:r>
              <a:rPr lang="fa-IR" sz="2000" dirty="0">
                <a:cs typeface="2  Nazanin" panose="00000400000000000000" pitchFamily="2" charset="-78"/>
              </a:rPr>
              <a:t>الف) به شكل بلوك در ساختمان سازي، سدسازي، باراندازها، ديوارهاي جان پناه و مانند آنها. </a:t>
            </a:r>
          </a:p>
          <a:p>
            <a:pPr algn="r"/>
            <a:r>
              <a:rPr lang="fa-IR" sz="2000" dirty="0">
                <a:cs typeface="2  Nazanin" panose="00000400000000000000" pitchFamily="2" charset="-78"/>
              </a:rPr>
              <a:t>ب) به شكل بريده، براي مصارف تزييني، نما و كف ساختمان. </a:t>
            </a:r>
          </a:p>
          <a:p>
            <a:pPr algn="r"/>
            <a:r>
              <a:rPr lang="fa-IR" sz="2000" dirty="0">
                <a:cs typeface="2  Nazanin" panose="00000400000000000000" pitchFamily="2" charset="-78"/>
              </a:rPr>
              <a:t>پ) استفاده به عنوان سنگ فرش. </a:t>
            </a:r>
          </a:p>
          <a:p>
            <a:pPr algn="r"/>
            <a:r>
              <a:rPr lang="fa-IR" sz="2000" dirty="0">
                <a:cs typeface="2  Nazanin" panose="00000400000000000000" pitchFamily="2" charset="-78"/>
              </a:rPr>
              <a:t>سنگ مصنوعي فرآوردهاي صنعتي است كه از مخلـوط سـنگ دانه ها افزودني ها و چسب ساخته شده اسـت. چسـب مـيتوانـد رزيـن، سـيمان هيـدروليكي يا مخلوطي از هر دو باشد</a:t>
            </a:r>
          </a:p>
        </p:txBody>
      </p:sp>
      <p:pic>
        <p:nvPicPr>
          <p:cNvPr id="20" name="Picture 19">
            <a:extLst>
              <a:ext uri="{FF2B5EF4-FFF2-40B4-BE49-F238E27FC236}">
                <a16:creationId xmlns:a16="http://schemas.microsoft.com/office/drawing/2014/main" id="{F8471805-F8D6-4D92-8CB8-0CD0303335B0}"/>
              </a:ext>
            </a:extLst>
          </p:cNvPr>
          <p:cNvPicPr>
            <a:picLocks noChangeAspect="1"/>
          </p:cNvPicPr>
          <p:nvPr/>
        </p:nvPicPr>
        <p:blipFill rotWithShape="1">
          <a:blip r:embed="rId2">
            <a:extLst>
              <a:ext uri="{28A0092B-C50C-407E-A947-70E740481C1C}">
                <a14:useLocalDpi xmlns:a14="http://schemas.microsoft.com/office/drawing/2010/main" val="0"/>
              </a:ext>
            </a:extLst>
          </a:blip>
          <a:srcRect r="6270" b="10183"/>
          <a:stretch/>
        </p:blipFill>
        <p:spPr>
          <a:xfrm>
            <a:off x="137275" y="3907634"/>
            <a:ext cx="4423436" cy="2422163"/>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40" y="-3707659"/>
            <a:ext cx="12192000" cy="7550727"/>
            <a:chOff x="0" y="0"/>
            <a:chExt cx="12192000" cy="7550727"/>
          </a:xfrm>
          <a:solidFill>
            <a:srgbClr val="F0AD9D"/>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6ABE83"/>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DEE2D1"/>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F06B66"/>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Tree>
    <p:extLst>
      <p:ext uri="{BB962C8B-B14F-4D97-AF65-F5344CB8AC3E}">
        <p14:creationId xmlns:p14="http://schemas.microsoft.com/office/powerpoint/2010/main" val="31040903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459110" y="3778501"/>
            <a:ext cx="7485247" cy="2862322"/>
          </a:xfrm>
          <a:prstGeom prst="rect">
            <a:avLst/>
          </a:prstGeom>
          <a:noFill/>
        </p:spPr>
        <p:txBody>
          <a:bodyPr wrap="square" rtlCol="1">
            <a:spAutoFit/>
          </a:bodyPr>
          <a:lstStyle/>
          <a:p>
            <a:pPr algn="r"/>
            <a:r>
              <a:rPr lang="fa-IR" sz="2000" b="1" dirty="0">
                <a:cs typeface="2  Nazanin" panose="00000400000000000000" pitchFamily="2" charset="-78"/>
              </a:rPr>
              <a:t>سنگ های ساختمانی</a:t>
            </a:r>
          </a:p>
          <a:p>
            <a:pPr algn="r"/>
            <a:r>
              <a:rPr lang="fa-IR" sz="2000" dirty="0">
                <a:cs typeface="2  Nazanin" panose="00000400000000000000" pitchFamily="2" charset="-78"/>
              </a:rPr>
              <a:t>سنگ طبيعي جسمي است كه از يك يا چند كاني تشـكيل شـده اسـت.</a:t>
            </a:r>
          </a:p>
          <a:p>
            <a:pPr algn="r"/>
            <a:r>
              <a:rPr lang="fa-IR" sz="2000" dirty="0">
                <a:cs typeface="2  Nazanin" panose="00000400000000000000" pitchFamily="2" charset="-78"/>
              </a:rPr>
              <a:t> سـنگ داراي كاربردهـاي زيادي در ساخت و ساز است كه از جملة آنها ميتوان به موارد زير اشاره كرد: </a:t>
            </a:r>
          </a:p>
          <a:p>
            <a:pPr algn="r"/>
            <a:r>
              <a:rPr lang="fa-IR" sz="2000" dirty="0">
                <a:cs typeface="2  Nazanin" panose="00000400000000000000" pitchFamily="2" charset="-78"/>
              </a:rPr>
              <a:t>الف) به شكل بلوك در ساختمانسازي، سدسازي، باراندازها، ديوارهاي جانپناه و مانند آنها. </a:t>
            </a:r>
          </a:p>
          <a:p>
            <a:pPr algn="r"/>
            <a:r>
              <a:rPr lang="fa-IR" sz="2000" dirty="0">
                <a:cs typeface="2  Nazanin" panose="00000400000000000000" pitchFamily="2" charset="-78"/>
              </a:rPr>
              <a:t>ب) به شكل بريده، براي مصارف تزييني، نما و كف ساختمان. </a:t>
            </a:r>
          </a:p>
          <a:p>
            <a:pPr algn="r"/>
            <a:r>
              <a:rPr lang="fa-IR" sz="2000" dirty="0">
                <a:cs typeface="2  Nazanin" panose="00000400000000000000" pitchFamily="2" charset="-78"/>
              </a:rPr>
              <a:t>پ) استفاده به عنوان سنگفرش. </a:t>
            </a:r>
          </a:p>
          <a:p>
            <a:pPr algn="r"/>
            <a:r>
              <a:rPr lang="fa-IR" sz="2000" dirty="0">
                <a:cs typeface="2  Nazanin" panose="00000400000000000000" pitchFamily="2" charset="-78"/>
              </a:rPr>
              <a:t>سنگ مصنوعي فرآوردهاي صنعتي است كه از مخلـوط سـنگدانه ها افزودني ها و چسب ساخته شده اسـت. چسـب مـيتوانـد رزيـن، سـيمان هيـدروليكي يا مخلوطي از هر دو باشد</a:t>
            </a:r>
          </a:p>
        </p:txBody>
      </p:sp>
      <p:pic>
        <p:nvPicPr>
          <p:cNvPr id="20" name="Picture 19">
            <a:extLst>
              <a:ext uri="{FF2B5EF4-FFF2-40B4-BE49-F238E27FC236}">
                <a16:creationId xmlns:a16="http://schemas.microsoft.com/office/drawing/2014/main" id="{F8471805-F8D6-4D92-8CB8-0CD0303335B0}"/>
              </a:ext>
            </a:extLst>
          </p:cNvPr>
          <p:cNvPicPr>
            <a:picLocks noChangeAspect="1"/>
          </p:cNvPicPr>
          <p:nvPr/>
        </p:nvPicPr>
        <p:blipFill rotWithShape="1">
          <a:blip r:embed="rId2">
            <a:extLst>
              <a:ext uri="{28A0092B-C50C-407E-A947-70E740481C1C}">
                <a14:useLocalDpi xmlns:a14="http://schemas.microsoft.com/office/drawing/2010/main" val="0"/>
              </a:ext>
            </a:extLst>
          </a:blip>
          <a:srcRect r="6270" b="10183"/>
          <a:stretch/>
        </p:blipFill>
        <p:spPr>
          <a:xfrm>
            <a:off x="137275" y="3907634"/>
            <a:ext cx="4423436" cy="2422163"/>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0AD9D"/>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6ABE83"/>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DEE2D1"/>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F06B66"/>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93D3BDFF-9BB1-48D1-9A7C-0CC43A47C4AD}"/>
              </a:ext>
            </a:extLst>
          </p:cNvPr>
          <p:cNvSpPr txBox="1"/>
          <p:nvPr/>
        </p:nvSpPr>
        <p:spPr>
          <a:xfrm>
            <a:off x="2876309" y="2861622"/>
            <a:ext cx="8935329" cy="3847207"/>
          </a:xfrm>
          <a:prstGeom prst="rect">
            <a:avLst/>
          </a:prstGeom>
          <a:noFill/>
        </p:spPr>
        <p:txBody>
          <a:bodyPr wrap="square" rtlCol="1">
            <a:spAutoFit/>
          </a:bodyPr>
          <a:lstStyle/>
          <a:p>
            <a:pPr algn="r"/>
            <a:r>
              <a:rPr lang="fa-IR" sz="2400" b="1" dirty="0">
                <a:cs typeface="2  Nazanin" panose="00000400000000000000" pitchFamily="2" charset="-78"/>
              </a:rPr>
              <a:t>دستبه بندی سنگ ها</a:t>
            </a:r>
          </a:p>
          <a:p>
            <a:pPr algn="r"/>
            <a:r>
              <a:rPr lang="fa-IR" sz="2000" b="1" dirty="0">
                <a:cs typeface="2  Nazanin" panose="00000400000000000000" pitchFamily="2" charset="-78"/>
              </a:rPr>
              <a:t> </a:t>
            </a:r>
            <a:r>
              <a:rPr lang="fa-IR" sz="2200" b="1" dirty="0">
                <a:cs typeface="2  Nazanin" panose="00000400000000000000" pitchFamily="2" charset="-78"/>
              </a:rPr>
              <a:t>سنگ آهك ساختماني</a:t>
            </a:r>
            <a:r>
              <a:rPr lang="fa-IR" sz="2200" dirty="0">
                <a:cs typeface="2  Nazanin" panose="00000400000000000000" pitchFamily="2" charset="-78"/>
              </a:rPr>
              <a:t>: سنگي رسوبي كه اساساً متشكل از كربنات كلسـيم يـا كربنـات دوگانه كلسيم و منيزيم (دولوميت) و يا تركيبي از هر دو است. اين سنگ ها، می باشد</a:t>
            </a:r>
            <a:endParaRPr lang="en-US" sz="2200" dirty="0">
              <a:cs typeface="2  Nazanin" panose="00000400000000000000" pitchFamily="2" charset="-78"/>
            </a:endParaRPr>
          </a:p>
          <a:p>
            <a:pPr algn="r"/>
            <a:r>
              <a:rPr lang="fa-IR" sz="2200" b="1" dirty="0">
                <a:cs typeface="2  Nazanin" panose="00000400000000000000" pitchFamily="2" charset="-78"/>
              </a:rPr>
              <a:t>گرانيت</a:t>
            </a:r>
            <a:r>
              <a:rPr lang="fa-IR" sz="2200" dirty="0">
                <a:cs typeface="2  Nazanin" panose="00000400000000000000" pitchFamily="2" charset="-78"/>
              </a:rPr>
              <a:t>: سنگ آذرين نفـوذي بلـوري، بـا دانـه هاي تقريبـاً مسـاوي، حـاوي كـوارتز و فلدسپات هاي قليايي می باشد</a:t>
            </a:r>
          </a:p>
          <a:p>
            <a:pPr algn="r"/>
            <a:r>
              <a:rPr lang="fa-IR" sz="2200" b="1" dirty="0">
                <a:cs typeface="2  Nazanin" panose="00000400000000000000" pitchFamily="2" charset="-78"/>
              </a:rPr>
              <a:t>مرمر و مرمريت</a:t>
            </a:r>
            <a:r>
              <a:rPr lang="fa-IR" sz="2200" dirty="0">
                <a:cs typeface="2  Nazanin" panose="00000400000000000000" pitchFamily="2" charset="-78"/>
              </a:rPr>
              <a:t>: سنگي كربناتي دگرگوني كه به علت تبلور مجدد تحت حرارت و فشار در دوره دگرگوني، داراي بافت بلوري مشخصي است</a:t>
            </a:r>
            <a:endParaRPr lang="en-US" sz="2200" dirty="0">
              <a:cs typeface="2  Nazanin" panose="00000400000000000000" pitchFamily="2" charset="-78"/>
            </a:endParaRPr>
          </a:p>
          <a:p>
            <a:pPr algn="r"/>
            <a:r>
              <a:rPr lang="fa-IR" sz="2200" b="1" dirty="0">
                <a:cs typeface="2  Nazanin" panose="00000400000000000000" pitchFamily="2" charset="-78"/>
              </a:rPr>
              <a:t>تراورتن</a:t>
            </a:r>
            <a:r>
              <a:rPr lang="fa-IR" sz="2200" dirty="0">
                <a:cs typeface="2  Nazanin" panose="00000400000000000000" pitchFamily="2" charset="-78"/>
              </a:rPr>
              <a:t>: نوعي سنگ آهك رسوبي، با ساختار متخلخل و گـاه لايـه هاي كـه از تـه نشين شدن كربنات کلسيم در چشمه ها، يا آب هاي گرم كربناتي تشكيل ميشـود</a:t>
            </a:r>
            <a:endParaRPr lang="en-US" sz="2200" dirty="0">
              <a:cs typeface="2  Nazanin" panose="00000400000000000000" pitchFamily="2" charset="-78"/>
            </a:endParaRPr>
          </a:p>
          <a:p>
            <a:pPr algn="r"/>
            <a:r>
              <a:rPr lang="fa-IR" sz="2200" b="1" dirty="0">
                <a:cs typeface="2  Nazanin" panose="00000400000000000000" pitchFamily="2" charset="-78"/>
              </a:rPr>
              <a:t>سنگ لوح (اسليت): </a:t>
            </a:r>
            <a:r>
              <a:rPr lang="fa-IR" sz="2200" dirty="0">
                <a:cs typeface="2  Nazanin" panose="00000400000000000000" pitchFamily="2" charset="-78"/>
              </a:rPr>
              <a:t>يك سنگ دگرگونشده ريزبلورين، كه اغلب حاصل دگرگـوني شـيل و داراي كاني هاي ميكا، كلريت و كوارتز است. مهمتـرين كـاربرد سـنگ لـوح، پوشـش دادن سـقف هاي شيبدار است</a:t>
            </a:r>
            <a:r>
              <a:rPr lang="en-US" sz="2200" dirty="0">
                <a:cs typeface="2  Nazanin" panose="00000400000000000000" pitchFamily="2" charset="-78"/>
              </a:rPr>
              <a:t> </a:t>
            </a:r>
            <a:endParaRPr lang="fa-IR" sz="2200" dirty="0">
              <a:cs typeface="2  Nazanin" panose="00000400000000000000" pitchFamily="2" charset="-78"/>
            </a:endParaRPr>
          </a:p>
        </p:txBody>
      </p:sp>
      <p:pic>
        <p:nvPicPr>
          <p:cNvPr id="17" name="Picture 16">
            <a:extLst>
              <a:ext uri="{FF2B5EF4-FFF2-40B4-BE49-F238E27FC236}">
                <a16:creationId xmlns:a16="http://schemas.microsoft.com/office/drawing/2014/main" id="{7CCD718C-5062-42C4-BAF0-5A0EF225DA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816" y="2630851"/>
            <a:ext cx="2258493" cy="1737981"/>
          </a:xfrm>
          <a:prstGeom prst="rect">
            <a:avLst/>
          </a:prstGeom>
        </p:spPr>
      </p:pic>
      <p:pic>
        <p:nvPicPr>
          <p:cNvPr id="19" name="Picture 18">
            <a:extLst>
              <a:ext uri="{FF2B5EF4-FFF2-40B4-BE49-F238E27FC236}">
                <a16:creationId xmlns:a16="http://schemas.microsoft.com/office/drawing/2014/main" id="{76B4AE20-0D5E-4CC9-AEDC-BBF3E10218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5500" y="4574052"/>
            <a:ext cx="2143125" cy="2143125"/>
          </a:xfrm>
          <a:prstGeom prst="rect">
            <a:avLst/>
          </a:prstGeom>
        </p:spPr>
      </p:pic>
    </p:spTree>
    <p:extLst>
      <p:ext uri="{BB962C8B-B14F-4D97-AF65-F5344CB8AC3E}">
        <p14:creationId xmlns:p14="http://schemas.microsoft.com/office/powerpoint/2010/main" val="718809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459110" y="3778501"/>
            <a:ext cx="7485247" cy="2862322"/>
          </a:xfrm>
          <a:prstGeom prst="rect">
            <a:avLst/>
          </a:prstGeom>
          <a:noFill/>
        </p:spPr>
        <p:txBody>
          <a:bodyPr wrap="square" rtlCol="1">
            <a:spAutoFit/>
          </a:bodyPr>
          <a:lstStyle/>
          <a:p>
            <a:pPr algn="r"/>
            <a:r>
              <a:rPr lang="fa-IR" sz="2000" b="1" dirty="0">
                <a:cs typeface="2  Nazanin" panose="00000400000000000000" pitchFamily="2" charset="-78"/>
              </a:rPr>
              <a:t>سنگ های ساختمانی</a:t>
            </a:r>
          </a:p>
          <a:p>
            <a:pPr algn="r"/>
            <a:r>
              <a:rPr lang="fa-IR" sz="2000" dirty="0">
                <a:cs typeface="2  Nazanin" panose="00000400000000000000" pitchFamily="2" charset="-78"/>
              </a:rPr>
              <a:t>سنگ طبيعي جسمي است كه از يك يا چند كاني تشـكيل شـده اسـت.</a:t>
            </a:r>
          </a:p>
          <a:p>
            <a:pPr algn="r"/>
            <a:r>
              <a:rPr lang="fa-IR" sz="2000" dirty="0">
                <a:cs typeface="2  Nazanin" panose="00000400000000000000" pitchFamily="2" charset="-78"/>
              </a:rPr>
              <a:t> سـنگ داراي كاربردهـاي زيادي در ساخت و ساز است كه از جملة آنها ميتوان به موارد زير اشاره كرد: </a:t>
            </a:r>
          </a:p>
          <a:p>
            <a:pPr algn="r"/>
            <a:r>
              <a:rPr lang="fa-IR" sz="2000" dirty="0">
                <a:cs typeface="2  Nazanin" panose="00000400000000000000" pitchFamily="2" charset="-78"/>
              </a:rPr>
              <a:t>الف) به شكل بلوك در ساختمانسازي، سدسازي، باراندازها، ديوارهاي جانپناه و مانند آنها. </a:t>
            </a:r>
          </a:p>
          <a:p>
            <a:pPr algn="r"/>
            <a:r>
              <a:rPr lang="fa-IR" sz="2000" dirty="0">
                <a:cs typeface="2  Nazanin" panose="00000400000000000000" pitchFamily="2" charset="-78"/>
              </a:rPr>
              <a:t>ب) به شكل بريده، براي مصارف تزييني، نما و كف ساختمان. </a:t>
            </a:r>
          </a:p>
          <a:p>
            <a:pPr algn="r"/>
            <a:r>
              <a:rPr lang="fa-IR" sz="2000" dirty="0">
                <a:cs typeface="2  Nazanin" panose="00000400000000000000" pitchFamily="2" charset="-78"/>
              </a:rPr>
              <a:t>پ) استفاده به عنوان سنگفرش. </a:t>
            </a:r>
          </a:p>
          <a:p>
            <a:pPr algn="r"/>
            <a:r>
              <a:rPr lang="fa-IR" sz="2000" dirty="0">
                <a:cs typeface="2  Nazanin" panose="00000400000000000000" pitchFamily="2" charset="-78"/>
              </a:rPr>
              <a:t>سنگ مصنوعي فرآوردهاي صنعتي است كه از مخلـوط سـنگدانه ها افزودني ها و چسب ساخته شده اسـت. چسـب مـيتوانـد رزيـن، سـيمان هيـدروليكي يا مخلوطي از هر دو باشد</a:t>
            </a:r>
          </a:p>
        </p:txBody>
      </p:sp>
      <p:pic>
        <p:nvPicPr>
          <p:cNvPr id="20" name="Picture 19">
            <a:extLst>
              <a:ext uri="{FF2B5EF4-FFF2-40B4-BE49-F238E27FC236}">
                <a16:creationId xmlns:a16="http://schemas.microsoft.com/office/drawing/2014/main" id="{F8471805-F8D6-4D92-8CB8-0CD0303335B0}"/>
              </a:ext>
            </a:extLst>
          </p:cNvPr>
          <p:cNvPicPr>
            <a:picLocks noChangeAspect="1"/>
          </p:cNvPicPr>
          <p:nvPr/>
        </p:nvPicPr>
        <p:blipFill rotWithShape="1">
          <a:blip r:embed="rId2">
            <a:extLst>
              <a:ext uri="{28A0092B-C50C-407E-A947-70E740481C1C}">
                <a14:useLocalDpi xmlns:a14="http://schemas.microsoft.com/office/drawing/2010/main" val="0"/>
              </a:ext>
            </a:extLst>
          </a:blip>
          <a:srcRect r="6270" b="10183"/>
          <a:stretch/>
        </p:blipFill>
        <p:spPr>
          <a:xfrm>
            <a:off x="137275" y="3907634"/>
            <a:ext cx="4423436" cy="2422163"/>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40" y="3137"/>
            <a:ext cx="12192000" cy="7550727"/>
            <a:chOff x="0" y="0"/>
            <a:chExt cx="12192000" cy="7550727"/>
          </a:xfrm>
          <a:solidFill>
            <a:srgbClr val="F0AD9D"/>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56" y="11307"/>
            <a:ext cx="12192000" cy="7550727"/>
            <a:chOff x="0" y="0"/>
            <a:chExt cx="12192000" cy="7550727"/>
          </a:xfrm>
          <a:solidFill>
            <a:srgbClr val="6ABE83"/>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662B3D9B-2FE4-49BC-BF8D-0B37ABCBE0DC}"/>
              </a:ext>
            </a:extLst>
          </p:cNvPr>
          <p:cNvSpPr txBox="1"/>
          <p:nvPr/>
        </p:nvSpPr>
        <p:spPr>
          <a:xfrm>
            <a:off x="3744876" y="1799249"/>
            <a:ext cx="8034474" cy="4893647"/>
          </a:xfrm>
          <a:prstGeom prst="rect">
            <a:avLst/>
          </a:prstGeom>
          <a:noFill/>
        </p:spPr>
        <p:txBody>
          <a:bodyPr wrap="square" rtlCol="1">
            <a:spAutoFit/>
          </a:bodyPr>
          <a:lstStyle/>
          <a:p>
            <a:pPr algn="r"/>
            <a:r>
              <a:rPr lang="fa-IR" sz="2400" b="1" dirty="0">
                <a:cs typeface="2  Nazanin" panose="00000400000000000000" pitchFamily="2" charset="-78"/>
              </a:rPr>
              <a:t>ایمنی</a:t>
            </a:r>
          </a:p>
          <a:p>
            <a:pPr algn="r"/>
            <a:r>
              <a:rPr lang="fa-IR" sz="2400" dirty="0">
                <a:cs typeface="2  Nazanin" panose="00000400000000000000" pitchFamily="2" charset="-78"/>
              </a:rPr>
              <a:t>استفاده از سنگ در ساختمان يا نوع مصالح يا روش اجرا، نبايد خطري براي بهداشت و سلامتي افراد و محيط زيست ايجاد كند. در صورت احتمال هرگونه تابش مضر از سنگ، آن را بايـد مورد بررسي و آزمايش قرار داد.</a:t>
            </a:r>
            <a:endParaRPr lang="en-US" sz="2400" dirty="0">
              <a:cs typeface="2  Nazanin" panose="00000400000000000000" pitchFamily="2" charset="-78"/>
            </a:endParaRPr>
          </a:p>
          <a:p>
            <a:pPr algn="r"/>
            <a:r>
              <a:rPr lang="fa-IR" sz="2400" dirty="0">
                <a:cs typeface="2  Nazanin" panose="00000400000000000000" pitchFamily="2" charset="-78"/>
              </a:rPr>
              <a:t>عمليات ساخت و ساز و دفع ضـايعات نبايـد موجـب آلـوده شـدن محيط زيست، آب، خاك و فضاي سبز در محيط پيرامون ساختمان گردد. </a:t>
            </a:r>
            <a:endParaRPr lang="en-US" sz="2400" dirty="0">
              <a:cs typeface="2  Nazanin" panose="00000400000000000000" pitchFamily="2" charset="-78"/>
            </a:endParaRPr>
          </a:p>
          <a:p>
            <a:pPr algn="r"/>
            <a:r>
              <a:rPr lang="fa-IR" sz="2400" dirty="0">
                <a:cs typeface="2  Nazanin" panose="00000400000000000000" pitchFamily="2" charset="-78"/>
              </a:rPr>
              <a:t>برش سنگ بايد در يك محيط سرپوشيده با استفاده از آب انجام پذيرد. در هنگام برش سنگ بايد از ماسك استفاده شود. </a:t>
            </a:r>
            <a:endParaRPr lang="en-US" sz="2400" dirty="0">
              <a:cs typeface="2  Nazanin" panose="00000400000000000000" pitchFamily="2" charset="-78"/>
            </a:endParaRPr>
          </a:p>
          <a:p>
            <a:pPr algn="r"/>
            <a:r>
              <a:rPr lang="fa-IR" sz="2400" dirty="0">
                <a:cs typeface="2  Nazanin" panose="00000400000000000000" pitchFamily="2" charset="-78"/>
              </a:rPr>
              <a:t>وجـود اورانيوم و تـوريم در بعضي سنگ هاي گرانيتي موجـب توليـد گـاز رادون و انتشار آن از اين نوع سنگ مـيشـود. تـابش طبيعي از سنگ هاي گرانيتي، به گاز راديواكتيو رادون تبديل ميشوند و اگر در يـك فضـاي كـاملا بسته ايجاد شوند، با تجمع در محيط قادر به ورود به ريه انسان بوده و با ماندگاري خود مـيتواننـد اثرات سوء در سلامتي ساكنين بر جاي بگذارند</a:t>
            </a:r>
            <a:r>
              <a:rPr lang="fa-IR" sz="2000" dirty="0">
                <a:cs typeface="2  Nazanin" panose="00000400000000000000" pitchFamily="2" charset="-78"/>
              </a:rPr>
              <a:t>.</a:t>
            </a:r>
          </a:p>
        </p:txBody>
      </p:sp>
      <p:pic>
        <p:nvPicPr>
          <p:cNvPr id="22" name="Picture 21">
            <a:extLst>
              <a:ext uri="{FF2B5EF4-FFF2-40B4-BE49-F238E27FC236}">
                <a16:creationId xmlns:a16="http://schemas.microsoft.com/office/drawing/2014/main" id="{A0171559-8412-458E-B950-92B4F6A61A2D}"/>
              </a:ext>
            </a:extLst>
          </p:cNvPr>
          <p:cNvPicPr>
            <a:picLocks noChangeAspect="1"/>
          </p:cNvPicPr>
          <p:nvPr/>
        </p:nvPicPr>
        <p:blipFill rotWithShape="1">
          <a:blip r:embed="rId3">
            <a:extLst>
              <a:ext uri="{28A0092B-C50C-407E-A947-70E740481C1C}">
                <a14:useLocalDpi xmlns:a14="http://schemas.microsoft.com/office/drawing/2010/main" val="0"/>
              </a:ext>
            </a:extLst>
          </a:blip>
          <a:srcRect b="7366"/>
          <a:stretch/>
        </p:blipFill>
        <p:spPr>
          <a:xfrm>
            <a:off x="221670" y="1592381"/>
            <a:ext cx="3412838" cy="1667687"/>
          </a:xfrm>
          <a:prstGeom prst="rect">
            <a:avLst/>
          </a:prstGeom>
        </p:spPr>
      </p:pic>
      <p:pic>
        <p:nvPicPr>
          <p:cNvPr id="24" name="Picture 23">
            <a:extLst>
              <a:ext uri="{FF2B5EF4-FFF2-40B4-BE49-F238E27FC236}">
                <a16:creationId xmlns:a16="http://schemas.microsoft.com/office/drawing/2014/main" id="{4D548F86-6FBC-484F-BF36-0F1FB7186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643" y="3434360"/>
            <a:ext cx="2326224" cy="310562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5591257"/>
            <a:ext cx="12192000" cy="7550727"/>
            <a:chOff x="0" y="0"/>
            <a:chExt cx="12192000" cy="7550727"/>
          </a:xfrm>
          <a:solidFill>
            <a:srgbClr val="DEE2D1"/>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6" name="Group 25">
            <a:extLst>
              <a:ext uri="{FF2B5EF4-FFF2-40B4-BE49-F238E27FC236}">
                <a16:creationId xmlns:a16="http://schemas.microsoft.com/office/drawing/2014/main" id="{5E2F6B8A-C098-4EE7-825D-8822D72FF2C6}"/>
              </a:ext>
            </a:extLst>
          </p:cNvPr>
          <p:cNvGrpSpPr/>
          <p:nvPr/>
        </p:nvGrpSpPr>
        <p:grpSpPr>
          <a:xfrm>
            <a:off x="0" y="-6356055"/>
            <a:ext cx="12192000" cy="7550727"/>
            <a:chOff x="0" y="0"/>
            <a:chExt cx="12192000" cy="7550727"/>
          </a:xfrm>
          <a:solidFill>
            <a:srgbClr val="F06B66"/>
          </a:solidFill>
        </p:grpSpPr>
        <p:sp>
          <p:nvSpPr>
            <p:cNvPr id="27" name="Rectangle 26">
              <a:extLst>
                <a:ext uri="{FF2B5EF4-FFF2-40B4-BE49-F238E27FC236}">
                  <a16:creationId xmlns:a16="http://schemas.microsoft.com/office/drawing/2014/main" id="{8FF3C12D-51DD-4FAC-98E3-0FE7EF77636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8" name="Rectangle: Top Corners Rounded 27">
              <a:extLst>
                <a:ext uri="{FF2B5EF4-FFF2-40B4-BE49-F238E27FC236}">
                  <a16:creationId xmlns:a16="http://schemas.microsoft.com/office/drawing/2014/main" id="{8256F05D-74F2-40C0-B23C-2903B4DBC19C}"/>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9" name="TextBox 28">
              <a:extLst>
                <a:ext uri="{FF2B5EF4-FFF2-40B4-BE49-F238E27FC236}">
                  <a16:creationId xmlns:a16="http://schemas.microsoft.com/office/drawing/2014/main" id="{90EF605A-44F3-4595-B809-FB142A5C394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Tree>
    <p:extLst>
      <p:ext uri="{BB962C8B-B14F-4D97-AF65-F5344CB8AC3E}">
        <p14:creationId xmlns:p14="http://schemas.microsoft.com/office/powerpoint/2010/main" val="6755504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459110" y="3778501"/>
            <a:ext cx="7485247" cy="2862322"/>
          </a:xfrm>
          <a:prstGeom prst="rect">
            <a:avLst/>
          </a:prstGeom>
          <a:noFill/>
        </p:spPr>
        <p:txBody>
          <a:bodyPr wrap="square" rtlCol="1">
            <a:spAutoFit/>
          </a:bodyPr>
          <a:lstStyle/>
          <a:p>
            <a:pPr algn="r"/>
            <a:r>
              <a:rPr lang="fa-IR" sz="2000" b="1" dirty="0">
                <a:cs typeface="2  Nazanin" panose="00000400000000000000" pitchFamily="2" charset="-78"/>
              </a:rPr>
              <a:t>سنگ های ساختمانی</a:t>
            </a:r>
          </a:p>
          <a:p>
            <a:pPr algn="r"/>
            <a:r>
              <a:rPr lang="fa-IR" sz="2000" dirty="0">
                <a:cs typeface="2  Nazanin" panose="00000400000000000000" pitchFamily="2" charset="-78"/>
              </a:rPr>
              <a:t>سنگ طبيعي جسمي است كه از يك يا چند كاني تشـكيل شـده اسـت.</a:t>
            </a:r>
          </a:p>
          <a:p>
            <a:pPr algn="r"/>
            <a:r>
              <a:rPr lang="fa-IR" sz="2000" dirty="0">
                <a:cs typeface="2  Nazanin" panose="00000400000000000000" pitchFamily="2" charset="-78"/>
              </a:rPr>
              <a:t> سـنگ داراي كاربردهـاي زيادي در ساخت و ساز است كه از جملة آنها ميتوان به موارد زير اشاره كرد: </a:t>
            </a:r>
          </a:p>
          <a:p>
            <a:pPr algn="r"/>
            <a:r>
              <a:rPr lang="fa-IR" sz="2000" dirty="0">
                <a:cs typeface="2  Nazanin" panose="00000400000000000000" pitchFamily="2" charset="-78"/>
              </a:rPr>
              <a:t>الف) به شكل بلوك در ساختمانسازي، سدسازي، باراندازها، ديوارهاي جانپناه و مانند آنها. </a:t>
            </a:r>
          </a:p>
          <a:p>
            <a:pPr algn="r"/>
            <a:r>
              <a:rPr lang="fa-IR" sz="2000" dirty="0">
                <a:cs typeface="2  Nazanin" panose="00000400000000000000" pitchFamily="2" charset="-78"/>
              </a:rPr>
              <a:t>ب) به شكل بريده، براي مصارف تزييني، نما و كف ساختمان. </a:t>
            </a:r>
          </a:p>
          <a:p>
            <a:pPr algn="r"/>
            <a:r>
              <a:rPr lang="fa-IR" sz="2000" dirty="0">
                <a:cs typeface="2  Nazanin" panose="00000400000000000000" pitchFamily="2" charset="-78"/>
              </a:rPr>
              <a:t>پ) استفاده به عنوان سنگفرش. </a:t>
            </a:r>
          </a:p>
          <a:p>
            <a:pPr algn="r"/>
            <a:r>
              <a:rPr lang="fa-IR" sz="2000" dirty="0">
                <a:cs typeface="2  Nazanin" panose="00000400000000000000" pitchFamily="2" charset="-78"/>
              </a:rPr>
              <a:t>سنگ مصنوعي فرآوردهاي صنعتي است كه از مخلـوط سـنگدانه ها افزودني ها و چسب ساخته شده اسـت. چسـب مـيتوانـد رزيـن، سـيمان هيـدروليكي يا مخلوطي از هر دو باشد</a:t>
            </a:r>
          </a:p>
        </p:txBody>
      </p:sp>
      <p:pic>
        <p:nvPicPr>
          <p:cNvPr id="20" name="Picture 19">
            <a:extLst>
              <a:ext uri="{FF2B5EF4-FFF2-40B4-BE49-F238E27FC236}">
                <a16:creationId xmlns:a16="http://schemas.microsoft.com/office/drawing/2014/main" id="{F8471805-F8D6-4D92-8CB8-0CD0303335B0}"/>
              </a:ext>
            </a:extLst>
          </p:cNvPr>
          <p:cNvPicPr>
            <a:picLocks noChangeAspect="1"/>
          </p:cNvPicPr>
          <p:nvPr/>
        </p:nvPicPr>
        <p:blipFill rotWithShape="1">
          <a:blip r:embed="rId2">
            <a:extLst>
              <a:ext uri="{28A0092B-C50C-407E-A947-70E740481C1C}">
                <a14:useLocalDpi xmlns:a14="http://schemas.microsoft.com/office/drawing/2010/main" val="0"/>
              </a:ext>
            </a:extLst>
          </a:blip>
          <a:srcRect r="6270" b="10183"/>
          <a:stretch/>
        </p:blipFill>
        <p:spPr>
          <a:xfrm>
            <a:off x="137275" y="3907634"/>
            <a:ext cx="4423436" cy="2422163"/>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40" y="3137"/>
            <a:ext cx="12192000" cy="7550727"/>
            <a:chOff x="0" y="0"/>
            <a:chExt cx="12192000" cy="7550727"/>
          </a:xfrm>
          <a:solidFill>
            <a:srgbClr val="F0AD9D"/>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56" y="11307"/>
            <a:ext cx="12192000" cy="7550727"/>
            <a:chOff x="0" y="0"/>
            <a:chExt cx="12192000" cy="7550727"/>
          </a:xfrm>
          <a:solidFill>
            <a:srgbClr val="6ABE83"/>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662B3D9B-2FE4-49BC-BF8D-0B37ABCBE0DC}"/>
              </a:ext>
            </a:extLst>
          </p:cNvPr>
          <p:cNvSpPr txBox="1"/>
          <p:nvPr/>
        </p:nvSpPr>
        <p:spPr>
          <a:xfrm>
            <a:off x="4341309" y="2231823"/>
            <a:ext cx="7441412" cy="3785652"/>
          </a:xfrm>
          <a:prstGeom prst="rect">
            <a:avLst/>
          </a:prstGeom>
          <a:noFill/>
        </p:spPr>
        <p:txBody>
          <a:bodyPr wrap="square" rtlCol="1">
            <a:spAutoFit/>
          </a:bodyPr>
          <a:lstStyle/>
          <a:p>
            <a:pPr algn="r"/>
            <a:r>
              <a:rPr lang="fa-IR" sz="2000" b="1" dirty="0">
                <a:cs typeface="2  Nazanin" panose="00000400000000000000" pitchFamily="2" charset="-78"/>
              </a:rPr>
              <a:t>ایمینی</a:t>
            </a:r>
          </a:p>
          <a:p>
            <a:pPr algn="r"/>
            <a:r>
              <a:rPr lang="fa-IR" sz="2000" dirty="0">
                <a:cs typeface="2  Nazanin" panose="00000400000000000000" pitchFamily="2" charset="-78"/>
              </a:rPr>
              <a:t>استفاده از سنگ در ساختمان يا نوع مصالح يا روش اجرا، نبايد خطري براي بهداشت و سلامتي افراد و محيط زيست ايجاد كند. در صورت احتمال هرگونه تابش مضر از سنگ، آن را بايـد مورد بررسي و آزمايش قرار داد.</a:t>
            </a:r>
          </a:p>
          <a:p>
            <a:pPr algn="r"/>
            <a:r>
              <a:rPr lang="fa-IR" sz="2000" dirty="0">
                <a:cs typeface="2  Nazanin" panose="00000400000000000000" pitchFamily="2" charset="-78"/>
              </a:rPr>
              <a:t> عمليات ساخت و ساز و دفع ضـايعات نبايـد موجـب آلـوده شـدن محيط زيست، آب، خاك و فضاي سبز در محيط پيرامون ساختمان گردد. </a:t>
            </a:r>
          </a:p>
          <a:p>
            <a:pPr algn="r"/>
            <a:r>
              <a:rPr lang="fa-IR" sz="2000" dirty="0">
                <a:cs typeface="2  Nazanin" panose="00000400000000000000" pitchFamily="2" charset="-78"/>
              </a:rPr>
              <a:t>برش سنگ بايد در يك محيط سرپوشيده با استفاده از آب انجام پذيرد. در هنگام برش سنگ بايد از ماسك استفاده شود. </a:t>
            </a:r>
          </a:p>
          <a:p>
            <a:pPr algn="r"/>
            <a:r>
              <a:rPr lang="fa-IR" sz="2000" dirty="0">
                <a:cs typeface="2  Nazanin" panose="00000400000000000000" pitchFamily="2" charset="-78"/>
              </a:rPr>
              <a:t> وجـود اورانيوم و تـوريم در بعضي سنگهاي گرانيتي موجـب توليـد گـاز رادون و انتشار آن از اين نوع سنگ مـيشـود. تـابش طبيعي از سنگهاي گرانيتي، به گاز راديواكتيو رادون تبديل ميشوند و اگر در يـك فضـاي كـاملا بسته ايجاد شوند، با تجمع در محيط قادر به ورود به ريه انسان بوده و با ماندگاري خود مـيتواننـد اثرات سوء در سلامتي ساكنين بر جاي بگذارند.</a:t>
            </a:r>
          </a:p>
        </p:txBody>
      </p:sp>
      <p:pic>
        <p:nvPicPr>
          <p:cNvPr id="22" name="Picture 21">
            <a:extLst>
              <a:ext uri="{FF2B5EF4-FFF2-40B4-BE49-F238E27FC236}">
                <a16:creationId xmlns:a16="http://schemas.microsoft.com/office/drawing/2014/main" id="{A0171559-8412-458E-B950-92B4F6A61A2D}"/>
              </a:ext>
            </a:extLst>
          </p:cNvPr>
          <p:cNvPicPr>
            <a:picLocks noChangeAspect="1"/>
          </p:cNvPicPr>
          <p:nvPr/>
        </p:nvPicPr>
        <p:blipFill rotWithShape="1">
          <a:blip r:embed="rId3">
            <a:extLst>
              <a:ext uri="{28A0092B-C50C-407E-A947-70E740481C1C}">
                <a14:useLocalDpi xmlns:a14="http://schemas.microsoft.com/office/drawing/2010/main" val="0"/>
              </a:ext>
            </a:extLst>
          </a:blip>
          <a:srcRect b="7366"/>
          <a:stretch/>
        </p:blipFill>
        <p:spPr>
          <a:xfrm>
            <a:off x="425384" y="2115097"/>
            <a:ext cx="3412838" cy="1667687"/>
          </a:xfrm>
          <a:prstGeom prst="rect">
            <a:avLst/>
          </a:prstGeom>
        </p:spPr>
      </p:pic>
      <p:pic>
        <p:nvPicPr>
          <p:cNvPr id="24" name="Picture 23">
            <a:extLst>
              <a:ext uri="{FF2B5EF4-FFF2-40B4-BE49-F238E27FC236}">
                <a16:creationId xmlns:a16="http://schemas.microsoft.com/office/drawing/2014/main" id="{4D548F86-6FBC-484F-BF36-0F1FB7186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676" y="3907634"/>
            <a:ext cx="2129168" cy="284254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72" y="5032"/>
            <a:ext cx="12192000" cy="7550727"/>
            <a:chOff x="0" y="0"/>
            <a:chExt cx="12192000" cy="7550727"/>
          </a:xfrm>
          <a:solidFill>
            <a:srgbClr val="DEE2D1"/>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3" name="TextBox 22">
            <a:extLst>
              <a:ext uri="{FF2B5EF4-FFF2-40B4-BE49-F238E27FC236}">
                <a16:creationId xmlns:a16="http://schemas.microsoft.com/office/drawing/2014/main" id="{A1F6F37D-F1FD-4573-A4B1-A186F0E15448}"/>
              </a:ext>
            </a:extLst>
          </p:cNvPr>
          <p:cNvSpPr txBox="1"/>
          <p:nvPr/>
        </p:nvSpPr>
        <p:spPr>
          <a:xfrm>
            <a:off x="4093182" y="1452640"/>
            <a:ext cx="7761232" cy="4893647"/>
          </a:xfrm>
          <a:prstGeom prst="rect">
            <a:avLst/>
          </a:prstGeom>
          <a:noFill/>
        </p:spPr>
        <p:txBody>
          <a:bodyPr wrap="square" rtlCol="1">
            <a:spAutoFit/>
          </a:bodyPr>
          <a:lstStyle/>
          <a:p>
            <a:pPr algn="r"/>
            <a:r>
              <a:rPr lang="fa-IR" sz="2400" b="1" dirty="0"/>
              <a:t>بسته بندی</a:t>
            </a:r>
          </a:p>
          <a:p>
            <a:pPr algn="r"/>
            <a:r>
              <a:rPr lang="fa-IR" sz="2400" dirty="0"/>
              <a:t>سنگ ساختماني بايد به طور مناسبي بسته بندي شود، چنانچه سنگ در حمل و نقل و انبار كردن آسيب نبيند. بسته  بندي بايد مانع از تكان خوردن و حركت كردن آنها در داخل بسته ها شود. بسته ها بايد داراي وزن و ابعاد مناسب براي حمل باشند</a:t>
            </a:r>
          </a:p>
          <a:p>
            <a:pPr algn="r"/>
            <a:r>
              <a:rPr lang="fa-IR" sz="2400" dirty="0"/>
              <a:t>در هنگام انتقال سنگ ساختماني بريده شده از محل توليد به محـل فـروش و كارگـاه ساختماني بايد اصول ايمني در بارگيري، حمل و تخليه از قبيـل بسـته بنـدي و اسـتفاده از وسـائل بارگيري مناسب كاملاً رعايت شود، تا كارگران يا ديگر افراد آسيبي نبينند.</a:t>
            </a:r>
          </a:p>
          <a:p>
            <a:pPr algn="r"/>
            <a:r>
              <a:rPr lang="fa-IR" sz="2400" dirty="0"/>
              <a:t> براي حمل سنگ ها، بايد از دستكش مناسب استفاده شود</a:t>
            </a:r>
          </a:p>
          <a:p>
            <a:pPr algn="r"/>
            <a:r>
              <a:rPr lang="fa-IR" sz="2400" dirty="0"/>
              <a:t>براي شستن سنگ، بهتر است تنها از آب استفاده شود. براي تميـز كـردن گرانيـت ها ميتوان برس مويي غيرفلزي و محلولهاي شوينده رقيق و مناسب به كار برد</a:t>
            </a:r>
          </a:p>
        </p:txBody>
      </p:sp>
      <p:grpSp>
        <p:nvGrpSpPr>
          <p:cNvPr id="27" name="Group 26">
            <a:extLst>
              <a:ext uri="{FF2B5EF4-FFF2-40B4-BE49-F238E27FC236}">
                <a16:creationId xmlns:a16="http://schemas.microsoft.com/office/drawing/2014/main" id="{22FA5864-ECAA-4453-AB11-04DCBF5C7FA4}"/>
              </a:ext>
            </a:extLst>
          </p:cNvPr>
          <p:cNvGrpSpPr/>
          <p:nvPr/>
        </p:nvGrpSpPr>
        <p:grpSpPr>
          <a:xfrm>
            <a:off x="0" y="-6092243"/>
            <a:ext cx="12192000" cy="7550727"/>
            <a:chOff x="0" y="0"/>
            <a:chExt cx="12192000" cy="7550727"/>
          </a:xfrm>
          <a:solidFill>
            <a:srgbClr val="F06B66"/>
          </a:solidFill>
        </p:grpSpPr>
        <p:sp>
          <p:nvSpPr>
            <p:cNvPr id="28" name="Rectangle 27">
              <a:extLst>
                <a:ext uri="{FF2B5EF4-FFF2-40B4-BE49-F238E27FC236}">
                  <a16:creationId xmlns:a16="http://schemas.microsoft.com/office/drawing/2014/main" id="{FF9CE2FE-84BD-4D40-BAC9-3E17247069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9" name="Rectangle: Top Corners Rounded 28">
              <a:extLst>
                <a:ext uri="{FF2B5EF4-FFF2-40B4-BE49-F238E27FC236}">
                  <a16:creationId xmlns:a16="http://schemas.microsoft.com/office/drawing/2014/main" id="{64E4E6D4-49D2-4589-AB9E-D7B69CA64647}"/>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0" name="TextBox 29">
              <a:extLst>
                <a:ext uri="{FF2B5EF4-FFF2-40B4-BE49-F238E27FC236}">
                  <a16:creationId xmlns:a16="http://schemas.microsoft.com/office/drawing/2014/main" id="{4DC43974-D963-4C59-B63D-9B898F76304A}"/>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pic>
        <p:nvPicPr>
          <p:cNvPr id="32" name="Picture 31">
            <a:extLst>
              <a:ext uri="{FF2B5EF4-FFF2-40B4-BE49-F238E27FC236}">
                <a16:creationId xmlns:a16="http://schemas.microsoft.com/office/drawing/2014/main" id="{9FB49151-6011-45B7-B17F-E8779969FE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1169" y="1276679"/>
            <a:ext cx="3412838" cy="2556334"/>
          </a:xfrm>
          <a:prstGeom prst="rect">
            <a:avLst/>
          </a:prstGeom>
        </p:spPr>
      </p:pic>
      <p:pic>
        <p:nvPicPr>
          <p:cNvPr id="34" name="Picture 33">
            <a:extLst>
              <a:ext uri="{FF2B5EF4-FFF2-40B4-BE49-F238E27FC236}">
                <a16:creationId xmlns:a16="http://schemas.microsoft.com/office/drawing/2014/main" id="{5C945E20-7574-436A-AA67-D393D13E18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9279" y="4259077"/>
            <a:ext cx="3566102" cy="2139661"/>
          </a:xfrm>
          <a:prstGeom prst="rect">
            <a:avLst/>
          </a:prstGeom>
        </p:spPr>
      </p:pic>
    </p:spTree>
    <p:extLst>
      <p:ext uri="{BB962C8B-B14F-4D97-AF65-F5344CB8AC3E}">
        <p14:creationId xmlns:p14="http://schemas.microsoft.com/office/powerpoint/2010/main" val="37482946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4459110" y="3778501"/>
            <a:ext cx="7485247" cy="2862322"/>
          </a:xfrm>
          <a:prstGeom prst="rect">
            <a:avLst/>
          </a:prstGeom>
          <a:noFill/>
        </p:spPr>
        <p:txBody>
          <a:bodyPr wrap="square" rtlCol="1">
            <a:spAutoFit/>
          </a:bodyPr>
          <a:lstStyle/>
          <a:p>
            <a:pPr algn="r"/>
            <a:r>
              <a:rPr lang="fa-IR" sz="2000" b="1" dirty="0">
                <a:cs typeface="2  Nazanin" panose="00000400000000000000" pitchFamily="2" charset="-78"/>
              </a:rPr>
              <a:t>سنگ های ساختمانی</a:t>
            </a:r>
          </a:p>
          <a:p>
            <a:pPr algn="r"/>
            <a:r>
              <a:rPr lang="fa-IR" sz="2000" dirty="0">
                <a:cs typeface="2  Nazanin" panose="00000400000000000000" pitchFamily="2" charset="-78"/>
              </a:rPr>
              <a:t>سنگ طبيعي جسمي است كه از يك يا چند كاني تشـكيل شـده اسـت.</a:t>
            </a:r>
          </a:p>
          <a:p>
            <a:pPr algn="r"/>
            <a:r>
              <a:rPr lang="fa-IR" sz="2000" dirty="0">
                <a:cs typeface="2  Nazanin" panose="00000400000000000000" pitchFamily="2" charset="-78"/>
              </a:rPr>
              <a:t> سـنگ داراي كاربردهـاي زيادي در ساخت و ساز است كه از جملة آنها ميتوان به موارد زير اشاره كرد: </a:t>
            </a:r>
          </a:p>
          <a:p>
            <a:pPr algn="r"/>
            <a:r>
              <a:rPr lang="fa-IR" sz="2000" dirty="0">
                <a:cs typeface="2  Nazanin" panose="00000400000000000000" pitchFamily="2" charset="-78"/>
              </a:rPr>
              <a:t>الف) به شكل بلوك در ساختمانسازي، سدسازي، باراندازها، ديوارهاي جانپناه و مانند آنها. </a:t>
            </a:r>
          </a:p>
          <a:p>
            <a:pPr algn="r"/>
            <a:r>
              <a:rPr lang="fa-IR" sz="2000" dirty="0">
                <a:cs typeface="2  Nazanin" panose="00000400000000000000" pitchFamily="2" charset="-78"/>
              </a:rPr>
              <a:t>ب) به شكل بريده، براي مصارف تزييني، نما و كف ساختمان. </a:t>
            </a:r>
          </a:p>
          <a:p>
            <a:pPr algn="r"/>
            <a:r>
              <a:rPr lang="fa-IR" sz="2000" dirty="0">
                <a:cs typeface="2  Nazanin" panose="00000400000000000000" pitchFamily="2" charset="-78"/>
              </a:rPr>
              <a:t>پ) استفاده به عنوان سنگفرش. </a:t>
            </a:r>
          </a:p>
          <a:p>
            <a:pPr algn="r"/>
            <a:r>
              <a:rPr lang="fa-IR" sz="2000" dirty="0">
                <a:cs typeface="2  Nazanin" panose="00000400000000000000" pitchFamily="2" charset="-78"/>
              </a:rPr>
              <a:t>سنگ مصنوعي فرآوردهاي صنعتي است كه از مخلـوط سـنگدانه ها افزودني ها و چسب ساخته شده اسـت. چسـب مـيتوانـد رزيـن، سـيمان هيـدروليكي يا مخلوطي از هر دو باشد</a:t>
            </a:r>
          </a:p>
        </p:txBody>
      </p:sp>
      <p:pic>
        <p:nvPicPr>
          <p:cNvPr id="20" name="Picture 19">
            <a:extLst>
              <a:ext uri="{FF2B5EF4-FFF2-40B4-BE49-F238E27FC236}">
                <a16:creationId xmlns:a16="http://schemas.microsoft.com/office/drawing/2014/main" id="{F8471805-F8D6-4D92-8CB8-0CD0303335B0}"/>
              </a:ext>
            </a:extLst>
          </p:cNvPr>
          <p:cNvPicPr>
            <a:picLocks noChangeAspect="1"/>
          </p:cNvPicPr>
          <p:nvPr/>
        </p:nvPicPr>
        <p:blipFill rotWithShape="1">
          <a:blip r:embed="rId2">
            <a:extLst>
              <a:ext uri="{28A0092B-C50C-407E-A947-70E740481C1C}">
                <a14:useLocalDpi xmlns:a14="http://schemas.microsoft.com/office/drawing/2010/main" val="0"/>
              </a:ext>
            </a:extLst>
          </a:blip>
          <a:srcRect r="6270" b="10183"/>
          <a:stretch/>
        </p:blipFill>
        <p:spPr>
          <a:xfrm>
            <a:off x="137275" y="3907634"/>
            <a:ext cx="4423436" cy="2422163"/>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40" y="3137"/>
            <a:ext cx="12192000" cy="7550727"/>
            <a:chOff x="0" y="0"/>
            <a:chExt cx="12192000" cy="7550727"/>
          </a:xfrm>
          <a:solidFill>
            <a:srgbClr val="F0AD9D"/>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56" y="11307"/>
            <a:ext cx="12192000" cy="7550727"/>
            <a:chOff x="0" y="0"/>
            <a:chExt cx="12192000" cy="7550727"/>
          </a:xfrm>
          <a:solidFill>
            <a:srgbClr val="6ABE83"/>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662B3D9B-2FE4-49BC-BF8D-0B37ABCBE0DC}"/>
              </a:ext>
            </a:extLst>
          </p:cNvPr>
          <p:cNvSpPr txBox="1"/>
          <p:nvPr/>
        </p:nvSpPr>
        <p:spPr>
          <a:xfrm>
            <a:off x="4341309" y="2231823"/>
            <a:ext cx="7441412" cy="3785652"/>
          </a:xfrm>
          <a:prstGeom prst="rect">
            <a:avLst/>
          </a:prstGeom>
          <a:noFill/>
        </p:spPr>
        <p:txBody>
          <a:bodyPr wrap="square" rtlCol="1">
            <a:spAutoFit/>
          </a:bodyPr>
          <a:lstStyle/>
          <a:p>
            <a:pPr algn="r"/>
            <a:r>
              <a:rPr lang="fa-IR" sz="2000" b="1" dirty="0">
                <a:cs typeface="2  Nazanin" panose="00000400000000000000" pitchFamily="2" charset="-78"/>
              </a:rPr>
              <a:t>ایمینی</a:t>
            </a:r>
          </a:p>
          <a:p>
            <a:pPr algn="r"/>
            <a:r>
              <a:rPr lang="fa-IR" sz="2000" dirty="0">
                <a:cs typeface="2  Nazanin" panose="00000400000000000000" pitchFamily="2" charset="-78"/>
              </a:rPr>
              <a:t>استفاده از سنگ در ساختمان يا نوع مصالح يا روش اجرا، نبايد خطري براي بهداشت و سلامتي افراد و محيط زيست ايجاد كند. در صورت احتمال هرگونه تابش مضر از سنگ، آن را بايـد مورد بررسي و آزمايش قرار داد.</a:t>
            </a:r>
          </a:p>
          <a:p>
            <a:pPr algn="r"/>
            <a:r>
              <a:rPr lang="fa-IR" sz="2000" dirty="0">
                <a:cs typeface="2  Nazanin" panose="00000400000000000000" pitchFamily="2" charset="-78"/>
              </a:rPr>
              <a:t> عمليات ساخت و ساز و دفع ضـايعات نبايـد موجـب آلـوده شـدن محيط زيست، آب، خاك و فضاي سبز در محيط پيرامون ساختمان گردد. </a:t>
            </a:r>
          </a:p>
          <a:p>
            <a:pPr algn="r"/>
            <a:r>
              <a:rPr lang="fa-IR" sz="2000" dirty="0">
                <a:cs typeface="2  Nazanin" panose="00000400000000000000" pitchFamily="2" charset="-78"/>
              </a:rPr>
              <a:t>برش سنگ بايد در يك محيط سرپوشيده با استفاده از آب انجام پذيرد. در هنگام برش سنگ بايد از ماسك استفاده شود. </a:t>
            </a:r>
          </a:p>
          <a:p>
            <a:pPr algn="r"/>
            <a:r>
              <a:rPr lang="fa-IR" sz="2000" dirty="0">
                <a:cs typeface="2  Nazanin" panose="00000400000000000000" pitchFamily="2" charset="-78"/>
              </a:rPr>
              <a:t> وجـود اورانيوم و تـوريم در بعضي سنگهاي گرانيتي موجـب توليـد گـاز رادون و انتشار آن از اين نوع سنگ مـيشـود. تـابش طبيعي از سنگهاي گرانيتي، به گاز راديواكتيو رادون تبديل ميشوند و اگر در يـك فضـاي كـاملا بسته ايجاد شوند، با تجمع در محيط قادر به ورود به ريه انسان بوده و با ماندگاري خود مـيتواننـد اثرات سوء در سلامتي ساكنين بر جاي بگذارند.</a:t>
            </a:r>
          </a:p>
        </p:txBody>
      </p:sp>
      <p:pic>
        <p:nvPicPr>
          <p:cNvPr id="22" name="Picture 21">
            <a:extLst>
              <a:ext uri="{FF2B5EF4-FFF2-40B4-BE49-F238E27FC236}">
                <a16:creationId xmlns:a16="http://schemas.microsoft.com/office/drawing/2014/main" id="{A0171559-8412-458E-B950-92B4F6A61A2D}"/>
              </a:ext>
            </a:extLst>
          </p:cNvPr>
          <p:cNvPicPr>
            <a:picLocks noChangeAspect="1"/>
          </p:cNvPicPr>
          <p:nvPr/>
        </p:nvPicPr>
        <p:blipFill rotWithShape="1">
          <a:blip r:embed="rId3">
            <a:extLst>
              <a:ext uri="{28A0092B-C50C-407E-A947-70E740481C1C}">
                <a14:useLocalDpi xmlns:a14="http://schemas.microsoft.com/office/drawing/2010/main" val="0"/>
              </a:ext>
            </a:extLst>
          </a:blip>
          <a:srcRect b="7366"/>
          <a:stretch/>
        </p:blipFill>
        <p:spPr>
          <a:xfrm>
            <a:off x="425384" y="2115097"/>
            <a:ext cx="3412838" cy="1667687"/>
          </a:xfrm>
          <a:prstGeom prst="rect">
            <a:avLst/>
          </a:prstGeom>
        </p:spPr>
      </p:pic>
      <p:pic>
        <p:nvPicPr>
          <p:cNvPr id="24" name="Picture 23">
            <a:extLst>
              <a:ext uri="{FF2B5EF4-FFF2-40B4-BE49-F238E27FC236}">
                <a16:creationId xmlns:a16="http://schemas.microsoft.com/office/drawing/2014/main" id="{4D548F86-6FBC-484F-BF36-0F1FB71865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9676" y="3907634"/>
            <a:ext cx="2129168" cy="284254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72" y="5032"/>
            <a:ext cx="12192000" cy="7550727"/>
            <a:chOff x="0" y="0"/>
            <a:chExt cx="12192000" cy="7550727"/>
          </a:xfrm>
          <a:solidFill>
            <a:srgbClr val="DEE2D1"/>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3" name="TextBox 22">
            <a:extLst>
              <a:ext uri="{FF2B5EF4-FFF2-40B4-BE49-F238E27FC236}">
                <a16:creationId xmlns:a16="http://schemas.microsoft.com/office/drawing/2014/main" id="{A1F6F37D-F1FD-4573-A4B1-A186F0E15448}"/>
              </a:ext>
            </a:extLst>
          </p:cNvPr>
          <p:cNvSpPr txBox="1"/>
          <p:nvPr/>
        </p:nvSpPr>
        <p:spPr>
          <a:xfrm>
            <a:off x="4369166" y="1452640"/>
            <a:ext cx="7485247" cy="4893647"/>
          </a:xfrm>
          <a:prstGeom prst="rect">
            <a:avLst/>
          </a:prstGeom>
          <a:noFill/>
        </p:spPr>
        <p:txBody>
          <a:bodyPr wrap="square" rtlCol="1">
            <a:spAutoFit/>
          </a:bodyPr>
          <a:lstStyle/>
          <a:p>
            <a:pPr algn="r"/>
            <a:r>
              <a:rPr lang="fa-IR" sz="2400" dirty="0"/>
              <a:t>بسته بندی</a:t>
            </a:r>
          </a:p>
          <a:p>
            <a:pPr algn="r"/>
            <a:r>
              <a:rPr lang="fa-IR" sz="2400" dirty="0"/>
              <a:t>سنگ ساختماني بايد به طور مناسبي بسته بندي شود، چنانچه سنگ در حمل و نقل و انبار كردن آسيب نبيند. بسته  بندي بايد مانع از تكان خوردن و حركت كردن آنها در داخل بسته ها شود. بسته ها بايد داراي وزن و ابعاد مناسب براي حمل باشند</a:t>
            </a:r>
          </a:p>
          <a:p>
            <a:pPr algn="r"/>
            <a:r>
              <a:rPr lang="fa-IR" sz="2400" dirty="0"/>
              <a:t>در هنگام انتقال سنگ ساختماني بريده شده از محل توليد به محـل فـروش و كارگـاه ساختماني بايد اصول ايمني در بارگيري، حمل و تخليه از قبيـل بسـته بنـدي و اسـتفاده از وسـائل بارگيري مناسب كاملاً رعايت شود، تا كارگران يا ديگر افراد آسيبي نبينند.</a:t>
            </a:r>
          </a:p>
          <a:p>
            <a:pPr algn="r"/>
            <a:r>
              <a:rPr lang="fa-IR" sz="2400" dirty="0"/>
              <a:t> براي حمل سنگها، بايد از دستكش مناسب استفاده شود</a:t>
            </a:r>
          </a:p>
          <a:p>
            <a:pPr algn="r"/>
            <a:r>
              <a:rPr lang="fa-IR" sz="2400" dirty="0"/>
              <a:t>براي شستن سنگ، بهتر است تنها از آب استفاده شود. براي تميـز كـردن گرانيـتها ميتوان برس مويي غيرفلزي و محلولهاي شويندة رقيق و مناسب به كار برد</a:t>
            </a:r>
          </a:p>
        </p:txBody>
      </p:sp>
      <p:pic>
        <p:nvPicPr>
          <p:cNvPr id="32" name="Picture 31">
            <a:extLst>
              <a:ext uri="{FF2B5EF4-FFF2-40B4-BE49-F238E27FC236}">
                <a16:creationId xmlns:a16="http://schemas.microsoft.com/office/drawing/2014/main" id="{9FB49151-6011-45B7-B17F-E8779969FE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1169" y="1276679"/>
            <a:ext cx="3412838" cy="2556334"/>
          </a:xfrm>
          <a:prstGeom prst="rect">
            <a:avLst/>
          </a:prstGeom>
        </p:spPr>
      </p:pic>
      <p:pic>
        <p:nvPicPr>
          <p:cNvPr id="34" name="Picture 33">
            <a:extLst>
              <a:ext uri="{FF2B5EF4-FFF2-40B4-BE49-F238E27FC236}">
                <a16:creationId xmlns:a16="http://schemas.microsoft.com/office/drawing/2014/main" id="{5C945E20-7574-436A-AA67-D393D13E183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9279" y="4259077"/>
            <a:ext cx="3566102" cy="2139661"/>
          </a:xfrm>
          <a:prstGeom prst="rect">
            <a:avLst/>
          </a:prstGeom>
        </p:spPr>
      </p:pic>
      <p:grpSp>
        <p:nvGrpSpPr>
          <p:cNvPr id="27" name="Group 26">
            <a:extLst>
              <a:ext uri="{FF2B5EF4-FFF2-40B4-BE49-F238E27FC236}">
                <a16:creationId xmlns:a16="http://schemas.microsoft.com/office/drawing/2014/main" id="{22FA5864-ECAA-4453-AB11-04DCBF5C7FA4}"/>
              </a:ext>
            </a:extLst>
          </p:cNvPr>
          <p:cNvGrpSpPr/>
          <p:nvPr/>
        </p:nvGrpSpPr>
        <p:grpSpPr>
          <a:xfrm>
            <a:off x="0" y="57649"/>
            <a:ext cx="12192000" cy="7550727"/>
            <a:chOff x="0" y="0"/>
            <a:chExt cx="12192000" cy="7550727"/>
          </a:xfrm>
          <a:solidFill>
            <a:srgbClr val="F06B66"/>
          </a:solidFill>
        </p:grpSpPr>
        <p:sp>
          <p:nvSpPr>
            <p:cNvPr id="28" name="Rectangle 27">
              <a:extLst>
                <a:ext uri="{FF2B5EF4-FFF2-40B4-BE49-F238E27FC236}">
                  <a16:creationId xmlns:a16="http://schemas.microsoft.com/office/drawing/2014/main" id="{FF9CE2FE-84BD-4D40-BAC9-3E17247069FA}"/>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9" name="Rectangle: Top Corners Rounded 28">
              <a:extLst>
                <a:ext uri="{FF2B5EF4-FFF2-40B4-BE49-F238E27FC236}">
                  <a16:creationId xmlns:a16="http://schemas.microsoft.com/office/drawing/2014/main" id="{64E4E6D4-49D2-4589-AB9E-D7B69CA64647}"/>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0" name="TextBox 29">
              <a:extLst>
                <a:ext uri="{FF2B5EF4-FFF2-40B4-BE49-F238E27FC236}">
                  <a16:creationId xmlns:a16="http://schemas.microsoft.com/office/drawing/2014/main" id="{4DC43974-D963-4C59-B63D-9B898F76304A}"/>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pic>
        <p:nvPicPr>
          <p:cNvPr id="17" name="Picture 16">
            <a:extLst>
              <a:ext uri="{FF2B5EF4-FFF2-40B4-BE49-F238E27FC236}">
                <a16:creationId xmlns:a16="http://schemas.microsoft.com/office/drawing/2014/main" id="{4D563C81-22C3-401C-B3E8-B36B0C5BD0E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92372" y="413060"/>
            <a:ext cx="2219565" cy="2963234"/>
          </a:xfrm>
          <a:prstGeom prst="rect">
            <a:avLst/>
          </a:prstGeom>
        </p:spPr>
      </p:pic>
      <p:pic>
        <p:nvPicPr>
          <p:cNvPr id="19" name="Picture 18">
            <a:extLst>
              <a:ext uri="{FF2B5EF4-FFF2-40B4-BE49-F238E27FC236}">
                <a16:creationId xmlns:a16="http://schemas.microsoft.com/office/drawing/2014/main" id="{1F32662B-29AB-47DE-AD89-4D5CCD4073F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664060" y="499801"/>
            <a:ext cx="6116771" cy="3058386"/>
          </a:xfrm>
          <a:prstGeom prst="rect">
            <a:avLst/>
          </a:prstGeom>
        </p:spPr>
      </p:pic>
      <p:pic>
        <p:nvPicPr>
          <p:cNvPr id="25" name="Picture 24">
            <a:extLst>
              <a:ext uri="{FF2B5EF4-FFF2-40B4-BE49-F238E27FC236}">
                <a16:creationId xmlns:a16="http://schemas.microsoft.com/office/drawing/2014/main" id="{B1743B0F-4869-43CD-9670-B61E5925C13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17947" y="3586666"/>
            <a:ext cx="5309928" cy="3225781"/>
          </a:xfrm>
          <a:prstGeom prst="rect">
            <a:avLst/>
          </a:prstGeom>
        </p:spPr>
      </p:pic>
      <p:pic>
        <p:nvPicPr>
          <p:cNvPr id="31" name="Picture 30">
            <a:extLst>
              <a:ext uri="{FF2B5EF4-FFF2-40B4-BE49-F238E27FC236}">
                <a16:creationId xmlns:a16="http://schemas.microsoft.com/office/drawing/2014/main" id="{01C4972D-BAF9-4B81-B454-7BC8BEE44E4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05647" y="3641304"/>
            <a:ext cx="6000839" cy="3159047"/>
          </a:xfrm>
          <a:prstGeom prst="rect">
            <a:avLst/>
          </a:prstGeom>
        </p:spPr>
      </p:pic>
      <p:pic>
        <p:nvPicPr>
          <p:cNvPr id="35" name="Picture 34">
            <a:extLst>
              <a:ext uri="{FF2B5EF4-FFF2-40B4-BE49-F238E27FC236}">
                <a16:creationId xmlns:a16="http://schemas.microsoft.com/office/drawing/2014/main" id="{7BDFF893-D95A-49A8-A115-0B662F72DAE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845666" y="467527"/>
            <a:ext cx="2759643" cy="3016437"/>
          </a:xfrm>
          <a:prstGeom prst="rect">
            <a:avLst/>
          </a:prstGeom>
        </p:spPr>
      </p:pic>
    </p:spTree>
    <p:extLst>
      <p:ext uri="{BB962C8B-B14F-4D97-AF65-F5344CB8AC3E}">
        <p14:creationId xmlns:p14="http://schemas.microsoft.com/office/powerpoint/2010/main" val="20423153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78234" y="3704522"/>
            <a:ext cx="7966123" cy="2739211"/>
          </a:xfrm>
          <a:prstGeom prst="rect">
            <a:avLst/>
          </a:prstGeom>
          <a:noFill/>
        </p:spPr>
        <p:txBody>
          <a:bodyPr wrap="square" rtlCol="1">
            <a:spAutoFit/>
          </a:bodyPr>
          <a:lstStyle/>
          <a:p>
            <a:pPr algn="r"/>
            <a:r>
              <a:rPr lang="fa-IR" sz="2800" b="1" dirty="0">
                <a:cs typeface="2  Nazanin" panose="00000400000000000000" pitchFamily="2" charset="-78"/>
              </a:rPr>
              <a:t>کاشی سرامیکی</a:t>
            </a:r>
          </a:p>
          <a:p>
            <a:pPr algn="r"/>
            <a:r>
              <a:rPr lang="fa-IR" sz="2400" dirty="0">
                <a:cs typeface="2  Nazanin" panose="00000400000000000000" pitchFamily="2" charset="-78"/>
              </a:rPr>
              <a:t>كاشي سراميكي فرآوردهاي است كه با خواص و سامانه هاي مختلف توليد ميگردد و به طور معمول براي پوشش ديوار، كف و تزيين سطوح داخـل و خـارج برخـي اجـزاي سـاختماني و همچنـين حـوضهـا و استخرها به كار برده ميشود. </a:t>
            </a:r>
          </a:p>
          <a:p>
            <a:pPr algn="r"/>
            <a:r>
              <a:rPr lang="fa-IR" sz="2400" dirty="0">
                <a:cs typeface="2  Nazanin" panose="00000400000000000000" pitchFamily="2" charset="-78"/>
              </a:rPr>
              <a:t>مواد اوليه توليد كاشـي عبـارت اسـت از: كـائولن، خـاك رس، بـالكلـي، فلدسپات، دولوميت، شاموت و برخي كاني هاي ديگر كه به صورت دانه هاي كوچكت درمي ايند. در برخي از كاشيها از مواد رنگي نيز استفاده ميشود</a:t>
            </a:r>
          </a:p>
        </p:txBody>
      </p:sp>
      <p:grpSp>
        <p:nvGrpSpPr>
          <p:cNvPr id="7" name="Group 6">
            <a:extLst>
              <a:ext uri="{FF2B5EF4-FFF2-40B4-BE49-F238E27FC236}">
                <a16:creationId xmlns:a16="http://schemas.microsoft.com/office/drawing/2014/main" id="{02A088D3-A642-47E9-8843-D04D55D8CBF1}"/>
              </a:ext>
            </a:extLst>
          </p:cNvPr>
          <p:cNvGrpSpPr/>
          <p:nvPr/>
        </p:nvGrpSpPr>
        <p:grpSpPr>
          <a:xfrm>
            <a:off x="40" y="-3707659"/>
            <a:ext cx="12192000" cy="7550727"/>
            <a:chOff x="0" y="0"/>
            <a:chExt cx="12192000" cy="7550727"/>
          </a:xfrm>
          <a:solidFill>
            <a:srgbClr val="F9F1E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E5CB8E"/>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BAB54"/>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AA3D16"/>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pic>
        <p:nvPicPr>
          <p:cNvPr id="16" name="Picture 15">
            <a:extLst>
              <a:ext uri="{FF2B5EF4-FFF2-40B4-BE49-F238E27FC236}">
                <a16:creationId xmlns:a16="http://schemas.microsoft.com/office/drawing/2014/main" id="{2E882FF8-1357-43BC-8D76-E8091D14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08" y="3818366"/>
            <a:ext cx="3830226" cy="2868973"/>
          </a:xfrm>
          <a:prstGeom prst="rect">
            <a:avLst/>
          </a:prstGeom>
        </p:spPr>
      </p:pic>
    </p:spTree>
    <p:extLst>
      <p:ext uri="{BB962C8B-B14F-4D97-AF65-F5344CB8AC3E}">
        <p14:creationId xmlns:p14="http://schemas.microsoft.com/office/powerpoint/2010/main" val="335499210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78234" y="3704522"/>
            <a:ext cx="7966123" cy="2739211"/>
          </a:xfrm>
          <a:prstGeom prst="rect">
            <a:avLst/>
          </a:prstGeom>
          <a:noFill/>
        </p:spPr>
        <p:txBody>
          <a:bodyPr wrap="square" rtlCol="1">
            <a:spAutoFit/>
          </a:bodyPr>
          <a:lstStyle/>
          <a:p>
            <a:pPr algn="r"/>
            <a:r>
              <a:rPr lang="fa-IR" sz="2800" b="1" dirty="0">
                <a:cs typeface="2  Nazanin" panose="00000400000000000000" pitchFamily="2" charset="-78"/>
              </a:rPr>
              <a:t>کاشی سرامیکی</a:t>
            </a:r>
          </a:p>
          <a:p>
            <a:pPr algn="r"/>
            <a:r>
              <a:rPr lang="fa-IR" sz="2400" dirty="0">
                <a:cs typeface="2  Nazanin" panose="00000400000000000000" pitchFamily="2" charset="-78"/>
              </a:rPr>
              <a:t>كاشي سراميكي فرآوردهاي است كه با خواص و سامانههاي مختلف توليد ميگردد و به طور معمول براي پوشش ديوار، كف و تزيين سطوح داخـل و خـارج برخـي اجـزاي سـاختماني و همچنـين حـوضهـا و استخرها به كار برده ميشود. </a:t>
            </a:r>
          </a:p>
          <a:p>
            <a:pPr algn="r"/>
            <a:r>
              <a:rPr lang="fa-IR" sz="2400" dirty="0">
                <a:cs typeface="2  Nazanin" panose="00000400000000000000" pitchFamily="2" charset="-78"/>
              </a:rPr>
              <a:t>مواد اولية توليد كاشـي عبـارت اسـت از: كـائولن، خـاك رس، بـالكلـي، فلدسپات، دولوميت، شاموت و برخي كانيهاي ديگر كه به صورت دانه هاي كوچكتـر از 1/0 ميلـيمتـر درميآيند. در برخي از كاشيها از مواد رنگي نيز استفاده ميشود</a:t>
            </a:r>
          </a:p>
        </p:txBody>
      </p:sp>
      <p:pic>
        <p:nvPicPr>
          <p:cNvPr id="16" name="Picture 15">
            <a:extLst>
              <a:ext uri="{FF2B5EF4-FFF2-40B4-BE49-F238E27FC236}">
                <a16:creationId xmlns:a16="http://schemas.microsoft.com/office/drawing/2014/main" id="{2E882FF8-1357-43BC-8D76-E8091D14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08" y="3978477"/>
            <a:ext cx="3616470" cy="2708862"/>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17570"/>
            <a:ext cx="12192000" cy="7550727"/>
            <a:chOff x="0" y="0"/>
            <a:chExt cx="12192000" cy="7550727"/>
          </a:xfrm>
          <a:solidFill>
            <a:srgbClr val="F9F1E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E5CB8E"/>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BAB54"/>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AA3D16"/>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cxnSp>
        <p:nvCxnSpPr>
          <p:cNvPr id="20" name="Straight Connector 19">
            <a:extLst>
              <a:ext uri="{FF2B5EF4-FFF2-40B4-BE49-F238E27FC236}">
                <a16:creationId xmlns:a16="http://schemas.microsoft.com/office/drawing/2014/main" id="{F44DCC39-B7A4-47D2-B4B8-284A9CAE544D}"/>
              </a:ext>
            </a:extLst>
          </p:cNvPr>
          <p:cNvCxnSpPr>
            <a:cxnSpLocks/>
          </p:cNvCxnSpPr>
          <p:nvPr/>
        </p:nvCxnSpPr>
        <p:spPr>
          <a:xfrm>
            <a:off x="4769523" y="4704133"/>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AE5DF7C-DF6E-4264-93D6-1CD2B0FF0FB6}"/>
              </a:ext>
            </a:extLst>
          </p:cNvPr>
          <p:cNvCxnSpPr>
            <a:cxnSpLocks/>
            <a:endCxn id="36" idx="2"/>
          </p:cNvCxnSpPr>
          <p:nvPr/>
        </p:nvCxnSpPr>
        <p:spPr>
          <a:xfrm>
            <a:off x="1625568" y="4715429"/>
            <a:ext cx="2929466"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Arc 21">
            <a:extLst>
              <a:ext uri="{FF2B5EF4-FFF2-40B4-BE49-F238E27FC236}">
                <a16:creationId xmlns:a16="http://schemas.microsoft.com/office/drawing/2014/main" id="{8F2984E4-5EB1-45AC-A5BE-9D5EBBE292CD}"/>
              </a:ext>
            </a:extLst>
          </p:cNvPr>
          <p:cNvSpPr/>
          <p:nvPr/>
        </p:nvSpPr>
        <p:spPr>
          <a:xfrm>
            <a:off x="893553" y="4077076"/>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cxnSp>
        <p:nvCxnSpPr>
          <p:cNvPr id="27" name="Straight Connector 26">
            <a:extLst>
              <a:ext uri="{FF2B5EF4-FFF2-40B4-BE49-F238E27FC236}">
                <a16:creationId xmlns:a16="http://schemas.microsoft.com/office/drawing/2014/main" id="{DC7926CD-98C2-4761-8858-598CF176752E}"/>
              </a:ext>
            </a:extLst>
          </p:cNvPr>
          <p:cNvCxnSpPr/>
          <p:nvPr/>
        </p:nvCxnSpPr>
        <p:spPr>
          <a:xfrm>
            <a:off x="-32" y="4715430"/>
            <a:ext cx="1512711" cy="0"/>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8" name="Flowchart: Connector 27">
            <a:extLst>
              <a:ext uri="{FF2B5EF4-FFF2-40B4-BE49-F238E27FC236}">
                <a16:creationId xmlns:a16="http://schemas.microsoft.com/office/drawing/2014/main" id="{5E99823B-431A-4BCE-BEE5-DB6839681FDF}"/>
              </a:ext>
            </a:extLst>
          </p:cNvPr>
          <p:cNvSpPr/>
          <p:nvPr/>
        </p:nvSpPr>
        <p:spPr>
          <a:xfrm>
            <a:off x="1411079" y="4602541"/>
            <a:ext cx="214489" cy="225777"/>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9" name="Circle: Hollow 28">
            <a:extLst>
              <a:ext uri="{FF2B5EF4-FFF2-40B4-BE49-F238E27FC236}">
                <a16:creationId xmlns:a16="http://schemas.microsoft.com/office/drawing/2014/main" id="{1E6C9701-9693-4C0C-9C75-433376FA822E}"/>
              </a:ext>
            </a:extLst>
          </p:cNvPr>
          <p:cNvSpPr/>
          <p:nvPr/>
        </p:nvSpPr>
        <p:spPr>
          <a:xfrm>
            <a:off x="1200823" y="4396651"/>
            <a:ext cx="623711" cy="637557"/>
          </a:xfrm>
          <a:prstGeom prst="donut">
            <a:avLst>
              <a:gd name="adj" fmla="val 6690"/>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30" name="Circle: Hollow 29">
            <a:extLst>
              <a:ext uri="{FF2B5EF4-FFF2-40B4-BE49-F238E27FC236}">
                <a16:creationId xmlns:a16="http://schemas.microsoft.com/office/drawing/2014/main" id="{3A22173B-C093-4CD6-A6E2-2DA3ECCB5E28}"/>
              </a:ext>
            </a:extLst>
          </p:cNvPr>
          <p:cNvSpPr/>
          <p:nvPr/>
        </p:nvSpPr>
        <p:spPr>
          <a:xfrm>
            <a:off x="1019492" y="4234305"/>
            <a:ext cx="986367" cy="962246"/>
          </a:xfrm>
          <a:prstGeom prst="donut">
            <a:avLst>
              <a:gd name="adj" fmla="val 199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1" name="Straight Connector 30">
            <a:extLst>
              <a:ext uri="{FF2B5EF4-FFF2-40B4-BE49-F238E27FC236}">
                <a16:creationId xmlns:a16="http://schemas.microsoft.com/office/drawing/2014/main" id="{54597842-237D-4E6D-BF00-F6F7F2BC692A}"/>
              </a:ext>
            </a:extLst>
          </p:cNvPr>
          <p:cNvCxnSpPr>
            <a:cxnSpLocks/>
          </p:cNvCxnSpPr>
          <p:nvPr/>
        </p:nvCxnSpPr>
        <p:spPr>
          <a:xfrm flipV="1">
            <a:off x="1512678" y="4828320"/>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2" name="Flowchart: Connector 31">
            <a:extLst>
              <a:ext uri="{FF2B5EF4-FFF2-40B4-BE49-F238E27FC236}">
                <a16:creationId xmlns:a16="http://schemas.microsoft.com/office/drawing/2014/main" id="{D85F1764-DBB4-4A03-ACCF-4AE274DF580B}"/>
              </a:ext>
            </a:extLst>
          </p:cNvPr>
          <p:cNvSpPr/>
          <p:nvPr/>
        </p:nvSpPr>
        <p:spPr>
          <a:xfrm>
            <a:off x="1428362" y="5992133"/>
            <a:ext cx="168625" cy="166642"/>
          </a:xfrm>
          <a:prstGeom prst="flowChartConnector">
            <a:avLst/>
          </a:prstGeom>
          <a:solidFill>
            <a:srgbClr val="0179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3" name="TextBox 32">
            <a:extLst>
              <a:ext uri="{FF2B5EF4-FFF2-40B4-BE49-F238E27FC236}">
                <a16:creationId xmlns:a16="http://schemas.microsoft.com/office/drawing/2014/main" id="{E5EFE99D-31FB-45BF-B005-39477336FF93}"/>
              </a:ext>
            </a:extLst>
          </p:cNvPr>
          <p:cNvSpPr txBox="1"/>
          <p:nvPr/>
        </p:nvSpPr>
        <p:spPr>
          <a:xfrm>
            <a:off x="362265" y="3742120"/>
            <a:ext cx="2302933" cy="369332"/>
          </a:xfrm>
          <a:prstGeom prst="rect">
            <a:avLst/>
          </a:prstGeom>
          <a:noFill/>
        </p:spPr>
        <p:txBody>
          <a:bodyPr wrap="square" rtlCol="1">
            <a:spAutoFit/>
          </a:bodyPr>
          <a:lstStyle/>
          <a:p>
            <a:pPr algn="ctr"/>
            <a:r>
              <a:rPr lang="fa-IR" b="1" dirty="0">
                <a:cs typeface="2  Nazanin" panose="00000400000000000000" pitchFamily="2" charset="-78"/>
              </a:rPr>
              <a:t>روش تولید</a:t>
            </a:r>
          </a:p>
        </p:txBody>
      </p:sp>
      <p:sp>
        <p:nvSpPr>
          <p:cNvPr id="34" name="TextBox 33">
            <a:extLst>
              <a:ext uri="{FF2B5EF4-FFF2-40B4-BE49-F238E27FC236}">
                <a16:creationId xmlns:a16="http://schemas.microsoft.com/office/drawing/2014/main" id="{A4991892-0A9A-4B8F-B83D-0282B19DD9A7}"/>
              </a:ext>
            </a:extLst>
          </p:cNvPr>
          <p:cNvSpPr txBox="1"/>
          <p:nvPr/>
        </p:nvSpPr>
        <p:spPr>
          <a:xfrm>
            <a:off x="359444" y="6158775"/>
            <a:ext cx="2302933" cy="646331"/>
          </a:xfrm>
          <a:prstGeom prst="rect">
            <a:avLst/>
          </a:prstGeom>
          <a:noFill/>
        </p:spPr>
        <p:txBody>
          <a:bodyPr wrap="square" rtlCol="1">
            <a:spAutoFit/>
          </a:bodyPr>
          <a:lstStyle/>
          <a:p>
            <a:pPr algn="ctr"/>
            <a:r>
              <a:rPr lang="fa-IR" dirty="0">
                <a:cs typeface="2  Nazanin" panose="00000400000000000000" pitchFamily="2" charset="-78"/>
              </a:rPr>
              <a:t>روش اکسترودی</a:t>
            </a:r>
          </a:p>
          <a:p>
            <a:pPr algn="ctr"/>
            <a:r>
              <a:rPr lang="fa-IR" dirty="0">
                <a:cs typeface="2  Nazanin" panose="00000400000000000000" pitchFamily="2" charset="-78"/>
              </a:rPr>
              <a:t>روش پرس خشک</a:t>
            </a:r>
          </a:p>
        </p:txBody>
      </p:sp>
      <p:sp>
        <p:nvSpPr>
          <p:cNvPr id="35" name="Arc 34">
            <a:extLst>
              <a:ext uri="{FF2B5EF4-FFF2-40B4-BE49-F238E27FC236}">
                <a16:creationId xmlns:a16="http://schemas.microsoft.com/office/drawing/2014/main" id="{C40C2591-3476-42A5-A3E8-571B1CA65093}"/>
              </a:ext>
            </a:extLst>
          </p:cNvPr>
          <p:cNvSpPr/>
          <p:nvPr/>
        </p:nvSpPr>
        <p:spPr>
          <a:xfrm rot="5158658">
            <a:off x="4037508" y="407707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36" name="Flowchart: Connector 35">
            <a:extLst>
              <a:ext uri="{FF2B5EF4-FFF2-40B4-BE49-F238E27FC236}">
                <a16:creationId xmlns:a16="http://schemas.microsoft.com/office/drawing/2014/main" id="{AFCCF035-8B65-4C4C-A54E-7654F90A16ED}"/>
              </a:ext>
            </a:extLst>
          </p:cNvPr>
          <p:cNvSpPr/>
          <p:nvPr/>
        </p:nvSpPr>
        <p:spPr>
          <a:xfrm>
            <a:off x="4555034" y="4602540"/>
            <a:ext cx="214489" cy="225777"/>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7" name="Circle: Hollow 36">
            <a:extLst>
              <a:ext uri="{FF2B5EF4-FFF2-40B4-BE49-F238E27FC236}">
                <a16:creationId xmlns:a16="http://schemas.microsoft.com/office/drawing/2014/main" id="{2707D258-6552-4DBF-94B7-4EE825DD56A3}"/>
              </a:ext>
            </a:extLst>
          </p:cNvPr>
          <p:cNvSpPr/>
          <p:nvPr/>
        </p:nvSpPr>
        <p:spPr>
          <a:xfrm>
            <a:off x="4344778" y="4396650"/>
            <a:ext cx="623711" cy="637557"/>
          </a:xfrm>
          <a:prstGeom prst="donut">
            <a:avLst>
              <a:gd name="adj" fmla="val 6690"/>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38" name="Circle: Hollow 37">
            <a:extLst>
              <a:ext uri="{FF2B5EF4-FFF2-40B4-BE49-F238E27FC236}">
                <a16:creationId xmlns:a16="http://schemas.microsoft.com/office/drawing/2014/main" id="{46D7DCD5-D5D7-418E-A547-B27828CCE062}"/>
              </a:ext>
            </a:extLst>
          </p:cNvPr>
          <p:cNvSpPr/>
          <p:nvPr/>
        </p:nvSpPr>
        <p:spPr>
          <a:xfrm>
            <a:off x="4163447" y="423430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39" name="Straight Connector 38">
            <a:extLst>
              <a:ext uri="{FF2B5EF4-FFF2-40B4-BE49-F238E27FC236}">
                <a16:creationId xmlns:a16="http://schemas.microsoft.com/office/drawing/2014/main" id="{41299499-C906-458C-8873-D293593C6080}"/>
              </a:ext>
            </a:extLst>
          </p:cNvPr>
          <p:cNvCxnSpPr>
            <a:cxnSpLocks/>
          </p:cNvCxnSpPr>
          <p:nvPr/>
        </p:nvCxnSpPr>
        <p:spPr>
          <a:xfrm flipV="1">
            <a:off x="4656629" y="3438727"/>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0" name="Flowchart: Connector 39">
            <a:extLst>
              <a:ext uri="{FF2B5EF4-FFF2-40B4-BE49-F238E27FC236}">
                <a16:creationId xmlns:a16="http://schemas.microsoft.com/office/drawing/2014/main" id="{37DD2C97-509F-405E-BC5D-DF63C3627311}"/>
              </a:ext>
            </a:extLst>
          </p:cNvPr>
          <p:cNvSpPr/>
          <p:nvPr/>
        </p:nvSpPr>
        <p:spPr>
          <a:xfrm>
            <a:off x="4572670" y="3311331"/>
            <a:ext cx="168625" cy="166642"/>
          </a:xfrm>
          <a:prstGeom prst="flowChartConnector">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1" name="TextBox 40">
            <a:extLst>
              <a:ext uri="{FF2B5EF4-FFF2-40B4-BE49-F238E27FC236}">
                <a16:creationId xmlns:a16="http://schemas.microsoft.com/office/drawing/2014/main" id="{AB958F62-CF98-40EB-940B-D34E067A3ACA}"/>
              </a:ext>
            </a:extLst>
          </p:cNvPr>
          <p:cNvSpPr txBox="1"/>
          <p:nvPr/>
        </p:nvSpPr>
        <p:spPr>
          <a:xfrm>
            <a:off x="3504535" y="5219994"/>
            <a:ext cx="2302933" cy="369332"/>
          </a:xfrm>
          <a:prstGeom prst="rect">
            <a:avLst/>
          </a:prstGeom>
          <a:noFill/>
        </p:spPr>
        <p:txBody>
          <a:bodyPr wrap="square" rtlCol="1">
            <a:spAutoFit/>
          </a:bodyPr>
          <a:lstStyle/>
          <a:p>
            <a:pPr algn="ctr"/>
            <a:r>
              <a:rPr lang="fa-IR" b="1" dirty="0">
                <a:cs typeface="2  Nazanin" panose="00000400000000000000" pitchFamily="2" charset="-78"/>
              </a:rPr>
              <a:t>مقدار جذب اب</a:t>
            </a:r>
          </a:p>
        </p:txBody>
      </p:sp>
      <p:sp>
        <p:nvSpPr>
          <p:cNvPr id="42" name="TextBox 41">
            <a:extLst>
              <a:ext uri="{FF2B5EF4-FFF2-40B4-BE49-F238E27FC236}">
                <a16:creationId xmlns:a16="http://schemas.microsoft.com/office/drawing/2014/main" id="{2F8F7053-2272-433D-8082-EC29ECF965AE}"/>
              </a:ext>
            </a:extLst>
          </p:cNvPr>
          <p:cNvSpPr txBox="1"/>
          <p:nvPr/>
        </p:nvSpPr>
        <p:spPr>
          <a:xfrm>
            <a:off x="3469506" y="2500039"/>
            <a:ext cx="2302933" cy="923330"/>
          </a:xfrm>
          <a:prstGeom prst="rect">
            <a:avLst/>
          </a:prstGeom>
          <a:noFill/>
        </p:spPr>
        <p:txBody>
          <a:bodyPr wrap="square" rtlCol="1">
            <a:spAutoFit/>
          </a:bodyPr>
          <a:lstStyle/>
          <a:p>
            <a:pPr algn="ctr"/>
            <a:r>
              <a:rPr lang="fa-IR" dirty="0">
                <a:cs typeface="2  Nazanin" panose="00000400000000000000" pitchFamily="2" charset="-78"/>
              </a:rPr>
              <a:t>جذب اب کم</a:t>
            </a:r>
          </a:p>
          <a:p>
            <a:pPr algn="ctr"/>
            <a:r>
              <a:rPr lang="fa-IR" dirty="0">
                <a:cs typeface="2  Nazanin" panose="00000400000000000000" pitchFamily="2" charset="-78"/>
              </a:rPr>
              <a:t>جذب اب متوسط</a:t>
            </a:r>
          </a:p>
          <a:p>
            <a:pPr algn="ctr"/>
            <a:r>
              <a:rPr lang="fa-IR" dirty="0">
                <a:cs typeface="2  Nazanin" panose="00000400000000000000" pitchFamily="2" charset="-78"/>
              </a:rPr>
              <a:t>جذب اب زیاد</a:t>
            </a:r>
          </a:p>
        </p:txBody>
      </p:sp>
      <p:sp>
        <p:nvSpPr>
          <p:cNvPr id="43" name="Arc 42">
            <a:extLst>
              <a:ext uri="{FF2B5EF4-FFF2-40B4-BE49-F238E27FC236}">
                <a16:creationId xmlns:a16="http://schemas.microsoft.com/office/drawing/2014/main" id="{A442B619-3F99-4CE3-AF67-FAE7A9106081}"/>
              </a:ext>
            </a:extLst>
          </p:cNvPr>
          <p:cNvSpPr/>
          <p:nvPr/>
        </p:nvSpPr>
        <p:spPr>
          <a:xfrm>
            <a:off x="7021904" y="4077075"/>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44" name="Flowchart: Connector 43">
            <a:extLst>
              <a:ext uri="{FF2B5EF4-FFF2-40B4-BE49-F238E27FC236}">
                <a16:creationId xmlns:a16="http://schemas.microsoft.com/office/drawing/2014/main" id="{00A48EA7-1CD4-4D0D-B0F3-7787EE15D158}"/>
              </a:ext>
            </a:extLst>
          </p:cNvPr>
          <p:cNvSpPr/>
          <p:nvPr/>
        </p:nvSpPr>
        <p:spPr>
          <a:xfrm>
            <a:off x="7539430" y="4602540"/>
            <a:ext cx="214489" cy="225777"/>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5" name="Circle: Hollow 44">
            <a:extLst>
              <a:ext uri="{FF2B5EF4-FFF2-40B4-BE49-F238E27FC236}">
                <a16:creationId xmlns:a16="http://schemas.microsoft.com/office/drawing/2014/main" id="{2EE2F66D-48BA-410B-8088-86EA0302FEB7}"/>
              </a:ext>
            </a:extLst>
          </p:cNvPr>
          <p:cNvSpPr/>
          <p:nvPr/>
        </p:nvSpPr>
        <p:spPr>
          <a:xfrm>
            <a:off x="7329174" y="4396650"/>
            <a:ext cx="623711" cy="637557"/>
          </a:xfrm>
          <a:prstGeom prst="donut">
            <a:avLst>
              <a:gd name="adj" fmla="val 6690"/>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46" name="Circle: Hollow 45">
            <a:extLst>
              <a:ext uri="{FF2B5EF4-FFF2-40B4-BE49-F238E27FC236}">
                <a16:creationId xmlns:a16="http://schemas.microsoft.com/office/drawing/2014/main" id="{5437FC96-37F4-4800-83A8-3F22A898FD17}"/>
              </a:ext>
            </a:extLst>
          </p:cNvPr>
          <p:cNvSpPr/>
          <p:nvPr/>
        </p:nvSpPr>
        <p:spPr>
          <a:xfrm>
            <a:off x="7147843" y="4234304"/>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47" name="Straight Connector 46">
            <a:extLst>
              <a:ext uri="{FF2B5EF4-FFF2-40B4-BE49-F238E27FC236}">
                <a16:creationId xmlns:a16="http://schemas.microsoft.com/office/drawing/2014/main" id="{A4820C8F-B402-4DDD-BEEB-4F7327C820F5}"/>
              </a:ext>
            </a:extLst>
          </p:cNvPr>
          <p:cNvCxnSpPr>
            <a:cxnSpLocks/>
          </p:cNvCxnSpPr>
          <p:nvPr/>
        </p:nvCxnSpPr>
        <p:spPr>
          <a:xfrm flipV="1">
            <a:off x="7641029" y="4828319"/>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48" name="Flowchart: Connector 47">
            <a:extLst>
              <a:ext uri="{FF2B5EF4-FFF2-40B4-BE49-F238E27FC236}">
                <a16:creationId xmlns:a16="http://schemas.microsoft.com/office/drawing/2014/main" id="{720CEA72-420E-4B53-B8CE-21F37874C973}"/>
              </a:ext>
            </a:extLst>
          </p:cNvPr>
          <p:cNvSpPr/>
          <p:nvPr/>
        </p:nvSpPr>
        <p:spPr>
          <a:xfrm>
            <a:off x="7556713" y="5992132"/>
            <a:ext cx="168625" cy="166642"/>
          </a:xfrm>
          <a:prstGeom prst="flowChartConnector">
            <a:avLst/>
          </a:prstGeom>
          <a:solidFill>
            <a:srgbClr val="FF6A7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9" name="TextBox 48">
            <a:extLst>
              <a:ext uri="{FF2B5EF4-FFF2-40B4-BE49-F238E27FC236}">
                <a16:creationId xmlns:a16="http://schemas.microsoft.com/office/drawing/2014/main" id="{3FF42DFB-9D63-43F3-99A3-F34457AD9C79}"/>
              </a:ext>
            </a:extLst>
          </p:cNvPr>
          <p:cNvSpPr txBox="1"/>
          <p:nvPr/>
        </p:nvSpPr>
        <p:spPr>
          <a:xfrm>
            <a:off x="6489556" y="3760490"/>
            <a:ext cx="2302933" cy="369332"/>
          </a:xfrm>
          <a:prstGeom prst="rect">
            <a:avLst/>
          </a:prstGeom>
          <a:noFill/>
        </p:spPr>
        <p:txBody>
          <a:bodyPr wrap="square" rtlCol="1">
            <a:spAutoFit/>
          </a:bodyPr>
          <a:lstStyle/>
          <a:p>
            <a:pPr algn="ctr"/>
            <a:r>
              <a:rPr lang="fa-IR" b="1" dirty="0">
                <a:cs typeface="2  Nazanin" panose="00000400000000000000" pitchFamily="2" charset="-78"/>
              </a:rPr>
              <a:t>نوع نصب</a:t>
            </a:r>
          </a:p>
        </p:txBody>
      </p:sp>
      <p:sp>
        <p:nvSpPr>
          <p:cNvPr id="50" name="TextBox 49">
            <a:extLst>
              <a:ext uri="{FF2B5EF4-FFF2-40B4-BE49-F238E27FC236}">
                <a16:creationId xmlns:a16="http://schemas.microsoft.com/office/drawing/2014/main" id="{9282DB48-6F12-4DF7-9D9D-7B8A7643DA0B}"/>
              </a:ext>
            </a:extLst>
          </p:cNvPr>
          <p:cNvSpPr txBox="1"/>
          <p:nvPr/>
        </p:nvSpPr>
        <p:spPr>
          <a:xfrm>
            <a:off x="6381501" y="6254715"/>
            <a:ext cx="2519045" cy="646331"/>
          </a:xfrm>
          <a:prstGeom prst="rect">
            <a:avLst/>
          </a:prstGeom>
          <a:noFill/>
        </p:spPr>
        <p:txBody>
          <a:bodyPr wrap="square" rtlCol="1">
            <a:spAutoFit/>
          </a:bodyPr>
          <a:lstStyle/>
          <a:p>
            <a:pPr algn="ctr"/>
            <a:r>
              <a:rPr lang="fa-IR" dirty="0">
                <a:cs typeface="2  Nazanin" panose="00000400000000000000" pitchFamily="2" charset="-78"/>
              </a:rPr>
              <a:t>تکی </a:t>
            </a:r>
          </a:p>
          <a:p>
            <a:pPr algn="ctr"/>
            <a:r>
              <a:rPr lang="fa-IR" dirty="0">
                <a:cs typeface="2  Nazanin" panose="00000400000000000000" pitchFamily="2" charset="-78"/>
              </a:rPr>
              <a:t>گروهی</a:t>
            </a:r>
          </a:p>
        </p:txBody>
      </p:sp>
      <p:cxnSp>
        <p:nvCxnSpPr>
          <p:cNvPr id="51" name="Straight Connector 50">
            <a:extLst>
              <a:ext uri="{FF2B5EF4-FFF2-40B4-BE49-F238E27FC236}">
                <a16:creationId xmlns:a16="http://schemas.microsoft.com/office/drawing/2014/main" id="{AAC105FD-64A2-4945-B9FF-23F890241519}"/>
              </a:ext>
            </a:extLst>
          </p:cNvPr>
          <p:cNvCxnSpPr>
            <a:cxnSpLocks/>
          </p:cNvCxnSpPr>
          <p:nvPr/>
        </p:nvCxnSpPr>
        <p:spPr>
          <a:xfrm>
            <a:off x="7725338" y="4715426"/>
            <a:ext cx="2794001" cy="1129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2" name="Arc 51">
            <a:extLst>
              <a:ext uri="{FF2B5EF4-FFF2-40B4-BE49-F238E27FC236}">
                <a16:creationId xmlns:a16="http://schemas.microsoft.com/office/drawing/2014/main" id="{3673A404-6900-46B8-B9E4-9D391CF7CDA9}"/>
              </a:ext>
            </a:extLst>
          </p:cNvPr>
          <p:cNvSpPr/>
          <p:nvPr/>
        </p:nvSpPr>
        <p:spPr>
          <a:xfrm rot="5158658">
            <a:off x="9975959" y="4065779"/>
            <a:ext cx="1249541" cy="1276703"/>
          </a:xfrm>
          <a:prstGeom prst="arc">
            <a:avLst>
              <a:gd name="adj1" fmla="val 5589210"/>
              <a:gd name="adj2" fmla="val 10979306"/>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1" anchor="ctr"/>
          <a:lstStyle/>
          <a:p>
            <a:pPr algn="ctr"/>
            <a:endParaRPr lang="fa-IR"/>
          </a:p>
        </p:txBody>
      </p:sp>
      <p:sp>
        <p:nvSpPr>
          <p:cNvPr id="53" name="Flowchart: Connector 52">
            <a:extLst>
              <a:ext uri="{FF2B5EF4-FFF2-40B4-BE49-F238E27FC236}">
                <a16:creationId xmlns:a16="http://schemas.microsoft.com/office/drawing/2014/main" id="{E8AC2821-E5B0-4EED-AFD3-8C87019C5158}"/>
              </a:ext>
            </a:extLst>
          </p:cNvPr>
          <p:cNvSpPr/>
          <p:nvPr/>
        </p:nvSpPr>
        <p:spPr>
          <a:xfrm>
            <a:off x="10493485" y="4591244"/>
            <a:ext cx="214489" cy="225777"/>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4" name="Circle: Hollow 53">
            <a:extLst>
              <a:ext uri="{FF2B5EF4-FFF2-40B4-BE49-F238E27FC236}">
                <a16:creationId xmlns:a16="http://schemas.microsoft.com/office/drawing/2014/main" id="{936BFB73-C4B9-4066-AF8B-090B1282927B}"/>
              </a:ext>
            </a:extLst>
          </p:cNvPr>
          <p:cNvSpPr/>
          <p:nvPr/>
        </p:nvSpPr>
        <p:spPr>
          <a:xfrm>
            <a:off x="10283229" y="4385354"/>
            <a:ext cx="623711" cy="637557"/>
          </a:xfrm>
          <a:prstGeom prst="donut">
            <a:avLst>
              <a:gd name="adj" fmla="val 6690"/>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sp>
        <p:nvSpPr>
          <p:cNvPr id="55" name="Circle: Hollow 54">
            <a:extLst>
              <a:ext uri="{FF2B5EF4-FFF2-40B4-BE49-F238E27FC236}">
                <a16:creationId xmlns:a16="http://schemas.microsoft.com/office/drawing/2014/main" id="{351C0292-3457-4533-B8D9-20050CB7AAD9}"/>
              </a:ext>
            </a:extLst>
          </p:cNvPr>
          <p:cNvSpPr/>
          <p:nvPr/>
        </p:nvSpPr>
        <p:spPr>
          <a:xfrm>
            <a:off x="10101898" y="4223008"/>
            <a:ext cx="986367" cy="962246"/>
          </a:xfrm>
          <a:prstGeom prst="donut">
            <a:avLst>
              <a:gd name="adj" fmla="val 1997"/>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solidFill>
                <a:schemeClr val="tx1"/>
              </a:solidFill>
            </a:endParaRPr>
          </a:p>
        </p:txBody>
      </p:sp>
      <p:cxnSp>
        <p:nvCxnSpPr>
          <p:cNvPr id="56" name="Straight Connector 55">
            <a:extLst>
              <a:ext uri="{FF2B5EF4-FFF2-40B4-BE49-F238E27FC236}">
                <a16:creationId xmlns:a16="http://schemas.microsoft.com/office/drawing/2014/main" id="{917DDD84-A1CC-45BE-B44E-77F9933F407D}"/>
              </a:ext>
            </a:extLst>
          </p:cNvPr>
          <p:cNvCxnSpPr>
            <a:cxnSpLocks/>
          </p:cNvCxnSpPr>
          <p:nvPr/>
        </p:nvCxnSpPr>
        <p:spPr>
          <a:xfrm flipV="1">
            <a:off x="10595080" y="3427431"/>
            <a:ext cx="1" cy="1163813"/>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7" name="Flowchart: Connector 56">
            <a:extLst>
              <a:ext uri="{FF2B5EF4-FFF2-40B4-BE49-F238E27FC236}">
                <a16:creationId xmlns:a16="http://schemas.microsoft.com/office/drawing/2014/main" id="{43A48633-AAE4-44CB-B141-1DB178371CCF}"/>
              </a:ext>
            </a:extLst>
          </p:cNvPr>
          <p:cNvSpPr/>
          <p:nvPr/>
        </p:nvSpPr>
        <p:spPr>
          <a:xfrm>
            <a:off x="10511121" y="3300035"/>
            <a:ext cx="168625" cy="166642"/>
          </a:xfrm>
          <a:prstGeom prst="flowChartConnector">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58" name="TextBox 57">
            <a:extLst>
              <a:ext uri="{FF2B5EF4-FFF2-40B4-BE49-F238E27FC236}">
                <a16:creationId xmlns:a16="http://schemas.microsoft.com/office/drawing/2014/main" id="{38803749-BF38-487B-83A6-191732494B4C}"/>
              </a:ext>
            </a:extLst>
          </p:cNvPr>
          <p:cNvSpPr txBox="1"/>
          <p:nvPr/>
        </p:nvSpPr>
        <p:spPr>
          <a:xfrm>
            <a:off x="9485881" y="5198770"/>
            <a:ext cx="2302933" cy="369332"/>
          </a:xfrm>
          <a:prstGeom prst="rect">
            <a:avLst/>
          </a:prstGeom>
          <a:noFill/>
        </p:spPr>
        <p:txBody>
          <a:bodyPr wrap="square" rtlCol="1">
            <a:spAutoFit/>
          </a:bodyPr>
          <a:lstStyle/>
          <a:p>
            <a:pPr algn="ctr"/>
            <a:r>
              <a:rPr lang="fa-IR" b="1" dirty="0">
                <a:cs typeface="2  Nazanin" panose="00000400000000000000" pitchFamily="2" charset="-78"/>
              </a:rPr>
              <a:t>پوشش رویه</a:t>
            </a:r>
          </a:p>
        </p:txBody>
      </p:sp>
      <p:sp>
        <p:nvSpPr>
          <p:cNvPr id="59" name="TextBox 58">
            <a:extLst>
              <a:ext uri="{FF2B5EF4-FFF2-40B4-BE49-F238E27FC236}">
                <a16:creationId xmlns:a16="http://schemas.microsoft.com/office/drawing/2014/main" id="{B81D9092-8779-4AF7-BEA8-3F8CEB38BB9E}"/>
              </a:ext>
            </a:extLst>
          </p:cNvPr>
          <p:cNvSpPr txBox="1"/>
          <p:nvPr/>
        </p:nvSpPr>
        <p:spPr>
          <a:xfrm>
            <a:off x="9305509" y="2626636"/>
            <a:ext cx="2519045" cy="646331"/>
          </a:xfrm>
          <a:prstGeom prst="rect">
            <a:avLst/>
          </a:prstGeom>
          <a:noFill/>
        </p:spPr>
        <p:txBody>
          <a:bodyPr wrap="square" rtlCol="1">
            <a:spAutoFit/>
          </a:bodyPr>
          <a:lstStyle/>
          <a:p>
            <a:pPr algn="ctr"/>
            <a:r>
              <a:rPr lang="fa-IR" dirty="0">
                <a:cs typeface="2  Nazanin" panose="00000400000000000000" pitchFamily="2" charset="-78"/>
              </a:rPr>
              <a:t>لعاب دار </a:t>
            </a:r>
          </a:p>
          <a:p>
            <a:pPr algn="ctr"/>
            <a:r>
              <a:rPr lang="fa-IR" dirty="0">
                <a:cs typeface="2  Nazanin" panose="00000400000000000000" pitchFamily="2" charset="-78"/>
              </a:rPr>
              <a:t>بدون لعاب</a:t>
            </a:r>
            <a:endParaRPr lang="en-US" dirty="0">
              <a:cs typeface="2  Nazanin" panose="00000400000000000000" pitchFamily="2" charset="-78"/>
            </a:endParaRPr>
          </a:p>
        </p:txBody>
      </p:sp>
      <p:cxnSp>
        <p:nvCxnSpPr>
          <p:cNvPr id="60" name="Straight Connector 59">
            <a:extLst>
              <a:ext uri="{FF2B5EF4-FFF2-40B4-BE49-F238E27FC236}">
                <a16:creationId xmlns:a16="http://schemas.microsoft.com/office/drawing/2014/main" id="{8A4CC21F-B4FC-4892-8694-E43AC4E2B92D}"/>
              </a:ext>
            </a:extLst>
          </p:cNvPr>
          <p:cNvCxnSpPr>
            <a:cxnSpLocks/>
          </p:cNvCxnSpPr>
          <p:nvPr/>
        </p:nvCxnSpPr>
        <p:spPr>
          <a:xfrm>
            <a:off x="10688915" y="4704130"/>
            <a:ext cx="1503053" cy="2784"/>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6075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500"/>
                                        <p:tgtEl>
                                          <p:spTgt spid="27"/>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p:cTn id="11" dur="500" fill="hold"/>
                                        <p:tgtEl>
                                          <p:spTgt spid="28"/>
                                        </p:tgtEl>
                                        <p:attrNameLst>
                                          <p:attrName>ppt_w</p:attrName>
                                        </p:attrNameLst>
                                      </p:cBhvr>
                                      <p:tavLst>
                                        <p:tav tm="0">
                                          <p:val>
                                            <p:fltVal val="0"/>
                                          </p:val>
                                        </p:tav>
                                        <p:tav tm="100000">
                                          <p:val>
                                            <p:strVal val="#ppt_w"/>
                                          </p:val>
                                        </p:tav>
                                      </p:tavLst>
                                    </p:anim>
                                    <p:anim calcmode="lin" valueType="num">
                                      <p:cBhvr>
                                        <p:cTn id="12" dur="500" fill="hold"/>
                                        <p:tgtEl>
                                          <p:spTgt spid="28"/>
                                        </p:tgtEl>
                                        <p:attrNameLst>
                                          <p:attrName>ppt_h</p:attrName>
                                        </p:attrNameLst>
                                      </p:cBhvr>
                                      <p:tavLst>
                                        <p:tav tm="0">
                                          <p:val>
                                            <p:fltVal val="0"/>
                                          </p:val>
                                        </p:tav>
                                        <p:tav tm="100000">
                                          <p:val>
                                            <p:strVal val="#ppt_h"/>
                                          </p:val>
                                        </p:tav>
                                      </p:tavLst>
                                    </p:anim>
                                    <p:animEffect transition="in" filter="fade">
                                      <p:cBhvr>
                                        <p:cTn id="13" dur="500"/>
                                        <p:tgtEl>
                                          <p:spTgt spid="28"/>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29"/>
                                        </p:tgtEl>
                                        <p:attrNameLst>
                                          <p:attrName>style.visibility</p:attrName>
                                        </p:attrNameLst>
                                      </p:cBhvr>
                                      <p:to>
                                        <p:strVal val="visible"/>
                                      </p:to>
                                    </p:set>
                                    <p:anim calcmode="lin" valueType="num">
                                      <p:cBhvr>
                                        <p:cTn id="17" dur="500" fill="hold"/>
                                        <p:tgtEl>
                                          <p:spTgt spid="29"/>
                                        </p:tgtEl>
                                        <p:attrNameLst>
                                          <p:attrName>ppt_w</p:attrName>
                                        </p:attrNameLst>
                                      </p:cBhvr>
                                      <p:tavLst>
                                        <p:tav tm="0">
                                          <p:val>
                                            <p:fltVal val="0"/>
                                          </p:val>
                                        </p:tav>
                                        <p:tav tm="100000">
                                          <p:val>
                                            <p:strVal val="#ppt_w"/>
                                          </p:val>
                                        </p:tav>
                                      </p:tavLst>
                                    </p:anim>
                                    <p:anim calcmode="lin" valueType="num">
                                      <p:cBhvr>
                                        <p:cTn id="18" dur="500" fill="hold"/>
                                        <p:tgtEl>
                                          <p:spTgt spid="29"/>
                                        </p:tgtEl>
                                        <p:attrNameLst>
                                          <p:attrName>ppt_h</p:attrName>
                                        </p:attrNameLst>
                                      </p:cBhvr>
                                      <p:tavLst>
                                        <p:tav tm="0">
                                          <p:val>
                                            <p:fltVal val="0"/>
                                          </p:val>
                                        </p:tav>
                                        <p:tav tm="100000">
                                          <p:val>
                                            <p:strVal val="#ppt_h"/>
                                          </p:val>
                                        </p:tav>
                                      </p:tavLst>
                                    </p:anim>
                                    <p:animEffect transition="in" filter="fade">
                                      <p:cBhvr>
                                        <p:cTn id="19" dur="500"/>
                                        <p:tgtEl>
                                          <p:spTgt spid="29"/>
                                        </p:tgtEl>
                                      </p:cBhvr>
                                    </p:animEffect>
                                  </p:childTnLst>
                                </p:cTn>
                              </p:par>
                            </p:childTnLst>
                          </p:cTn>
                        </p:par>
                        <p:par>
                          <p:cTn id="20" fill="hold">
                            <p:stCondLst>
                              <p:cond delay="1500"/>
                            </p:stCondLst>
                            <p:childTnLst>
                              <p:par>
                                <p:cTn id="21" presetID="53" presetClass="entr" presetSubtype="16" fill="hold" grpId="0" nodeType="after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p:cTn id="23" dur="500" fill="hold"/>
                                        <p:tgtEl>
                                          <p:spTgt spid="30"/>
                                        </p:tgtEl>
                                        <p:attrNameLst>
                                          <p:attrName>ppt_w</p:attrName>
                                        </p:attrNameLst>
                                      </p:cBhvr>
                                      <p:tavLst>
                                        <p:tav tm="0">
                                          <p:val>
                                            <p:fltVal val="0"/>
                                          </p:val>
                                        </p:tav>
                                        <p:tav tm="100000">
                                          <p:val>
                                            <p:strVal val="#ppt_w"/>
                                          </p:val>
                                        </p:tav>
                                      </p:tavLst>
                                    </p:anim>
                                    <p:anim calcmode="lin" valueType="num">
                                      <p:cBhvr>
                                        <p:cTn id="24" dur="500" fill="hold"/>
                                        <p:tgtEl>
                                          <p:spTgt spid="30"/>
                                        </p:tgtEl>
                                        <p:attrNameLst>
                                          <p:attrName>ppt_h</p:attrName>
                                        </p:attrNameLst>
                                      </p:cBhvr>
                                      <p:tavLst>
                                        <p:tav tm="0">
                                          <p:val>
                                            <p:fltVal val="0"/>
                                          </p:val>
                                        </p:tav>
                                        <p:tav tm="100000">
                                          <p:val>
                                            <p:strVal val="#ppt_h"/>
                                          </p:val>
                                        </p:tav>
                                      </p:tavLst>
                                    </p:anim>
                                    <p:animEffect transition="in" filter="fade">
                                      <p:cBhvr>
                                        <p:cTn id="25" dur="500"/>
                                        <p:tgtEl>
                                          <p:spTgt spid="30"/>
                                        </p:tgtEl>
                                      </p:cBhvr>
                                    </p:animEffect>
                                  </p:childTnLst>
                                </p:cTn>
                              </p:par>
                            </p:childTnLst>
                          </p:cTn>
                        </p:par>
                        <p:par>
                          <p:cTn id="26" fill="hold">
                            <p:stCondLst>
                              <p:cond delay="2000"/>
                            </p:stCondLst>
                            <p:childTnLst>
                              <p:par>
                                <p:cTn id="27" presetID="22" presetClass="entr" presetSubtype="1" fill="hold"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wipe(up)">
                                      <p:cBhvr>
                                        <p:cTn id="29" dur="500"/>
                                        <p:tgtEl>
                                          <p:spTgt spid="31"/>
                                        </p:tgtEl>
                                      </p:cBhvr>
                                    </p:animEffect>
                                  </p:childTnLst>
                                </p:cTn>
                              </p:par>
                            </p:childTnLst>
                          </p:cTn>
                        </p:par>
                        <p:par>
                          <p:cTn id="30" fill="hold">
                            <p:stCondLst>
                              <p:cond delay="2500"/>
                            </p:stCondLst>
                            <p:childTnLst>
                              <p:par>
                                <p:cTn id="31" presetID="53" presetClass="entr" presetSubtype="16" fill="hold" grpId="0" nodeType="after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p:cTn id="33" dur="500" fill="hold"/>
                                        <p:tgtEl>
                                          <p:spTgt spid="32"/>
                                        </p:tgtEl>
                                        <p:attrNameLst>
                                          <p:attrName>ppt_w</p:attrName>
                                        </p:attrNameLst>
                                      </p:cBhvr>
                                      <p:tavLst>
                                        <p:tav tm="0">
                                          <p:val>
                                            <p:fltVal val="0"/>
                                          </p:val>
                                        </p:tav>
                                        <p:tav tm="100000">
                                          <p:val>
                                            <p:strVal val="#ppt_w"/>
                                          </p:val>
                                        </p:tav>
                                      </p:tavLst>
                                    </p:anim>
                                    <p:anim calcmode="lin" valueType="num">
                                      <p:cBhvr>
                                        <p:cTn id="34" dur="500" fill="hold"/>
                                        <p:tgtEl>
                                          <p:spTgt spid="32"/>
                                        </p:tgtEl>
                                        <p:attrNameLst>
                                          <p:attrName>ppt_h</p:attrName>
                                        </p:attrNameLst>
                                      </p:cBhvr>
                                      <p:tavLst>
                                        <p:tav tm="0">
                                          <p:val>
                                            <p:fltVal val="0"/>
                                          </p:val>
                                        </p:tav>
                                        <p:tav tm="100000">
                                          <p:val>
                                            <p:strVal val="#ppt_h"/>
                                          </p:val>
                                        </p:tav>
                                      </p:tavLst>
                                    </p:anim>
                                    <p:animEffect transition="in" filter="fade">
                                      <p:cBhvr>
                                        <p:cTn id="35" dur="500"/>
                                        <p:tgtEl>
                                          <p:spTgt spid="32"/>
                                        </p:tgtEl>
                                      </p:cBhvr>
                                    </p:animEffect>
                                  </p:childTnLst>
                                </p:cTn>
                              </p:par>
                            </p:childTnLst>
                          </p:cTn>
                        </p:par>
                        <p:par>
                          <p:cTn id="36" fill="hold">
                            <p:stCondLst>
                              <p:cond delay="3000"/>
                            </p:stCondLst>
                            <p:childTnLst>
                              <p:par>
                                <p:cTn id="37" presetID="53" presetClass="entr" presetSubtype="16"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 calcmode="lin" valueType="num">
                                      <p:cBhvr>
                                        <p:cTn id="39" dur="500" fill="hold"/>
                                        <p:tgtEl>
                                          <p:spTgt spid="22"/>
                                        </p:tgtEl>
                                        <p:attrNameLst>
                                          <p:attrName>ppt_w</p:attrName>
                                        </p:attrNameLst>
                                      </p:cBhvr>
                                      <p:tavLst>
                                        <p:tav tm="0">
                                          <p:val>
                                            <p:fltVal val="0"/>
                                          </p:val>
                                        </p:tav>
                                        <p:tav tm="100000">
                                          <p:val>
                                            <p:strVal val="#ppt_w"/>
                                          </p:val>
                                        </p:tav>
                                      </p:tavLst>
                                    </p:anim>
                                    <p:anim calcmode="lin" valueType="num">
                                      <p:cBhvr>
                                        <p:cTn id="40" dur="500" fill="hold"/>
                                        <p:tgtEl>
                                          <p:spTgt spid="22"/>
                                        </p:tgtEl>
                                        <p:attrNameLst>
                                          <p:attrName>ppt_h</p:attrName>
                                        </p:attrNameLst>
                                      </p:cBhvr>
                                      <p:tavLst>
                                        <p:tav tm="0">
                                          <p:val>
                                            <p:fltVal val="0"/>
                                          </p:val>
                                        </p:tav>
                                        <p:tav tm="100000">
                                          <p:val>
                                            <p:strVal val="#ppt_h"/>
                                          </p:val>
                                        </p:tav>
                                      </p:tavLst>
                                    </p:anim>
                                    <p:animEffect transition="in" filter="fade">
                                      <p:cBhvr>
                                        <p:cTn id="41" dur="500"/>
                                        <p:tgtEl>
                                          <p:spTgt spid="22"/>
                                        </p:tgtEl>
                                      </p:cBhvr>
                                    </p:animEffect>
                                  </p:childTnLst>
                                </p:cTn>
                              </p:par>
                              <p:par>
                                <p:cTn id="42" presetID="47" presetClass="entr" presetSubtype="0" fill="hold" grpId="0" nodeType="withEffect">
                                  <p:stCondLst>
                                    <p:cond delay="0"/>
                                  </p:stCondLst>
                                  <p:childTnLst>
                                    <p:set>
                                      <p:cBhvr>
                                        <p:cTn id="43" dur="1" fill="hold">
                                          <p:stCondLst>
                                            <p:cond delay="0"/>
                                          </p:stCondLst>
                                        </p:cTn>
                                        <p:tgtEl>
                                          <p:spTgt spid="33"/>
                                        </p:tgtEl>
                                        <p:attrNameLst>
                                          <p:attrName>style.visibility</p:attrName>
                                        </p:attrNameLst>
                                      </p:cBhvr>
                                      <p:to>
                                        <p:strVal val="visible"/>
                                      </p:to>
                                    </p:set>
                                    <p:animEffect transition="in" filter="fade">
                                      <p:cBhvr>
                                        <p:cTn id="44" dur="1000"/>
                                        <p:tgtEl>
                                          <p:spTgt spid="33"/>
                                        </p:tgtEl>
                                      </p:cBhvr>
                                    </p:animEffect>
                                    <p:anim calcmode="lin" valueType="num">
                                      <p:cBhvr>
                                        <p:cTn id="45" dur="1000" fill="hold"/>
                                        <p:tgtEl>
                                          <p:spTgt spid="33"/>
                                        </p:tgtEl>
                                        <p:attrNameLst>
                                          <p:attrName>ppt_x</p:attrName>
                                        </p:attrNameLst>
                                      </p:cBhvr>
                                      <p:tavLst>
                                        <p:tav tm="0">
                                          <p:val>
                                            <p:strVal val="#ppt_x"/>
                                          </p:val>
                                        </p:tav>
                                        <p:tav tm="100000">
                                          <p:val>
                                            <p:strVal val="#ppt_x"/>
                                          </p:val>
                                        </p:tav>
                                      </p:tavLst>
                                    </p:anim>
                                    <p:anim calcmode="lin" valueType="num">
                                      <p:cBhvr>
                                        <p:cTn id="46" dur="1000" fill="hold"/>
                                        <p:tgtEl>
                                          <p:spTgt spid="33"/>
                                        </p:tgtEl>
                                        <p:attrNameLst>
                                          <p:attrName>ppt_y</p:attrName>
                                        </p:attrNameLst>
                                      </p:cBhvr>
                                      <p:tavLst>
                                        <p:tav tm="0">
                                          <p:val>
                                            <p:strVal val="#ppt_y-.1"/>
                                          </p:val>
                                        </p:tav>
                                        <p:tav tm="100000">
                                          <p:val>
                                            <p:strVal val="#ppt_y"/>
                                          </p:val>
                                        </p:tav>
                                      </p:tavLst>
                                    </p:anim>
                                  </p:childTnLst>
                                </p:cTn>
                              </p:par>
                            </p:childTnLst>
                          </p:cTn>
                        </p:par>
                        <p:par>
                          <p:cTn id="47" fill="hold">
                            <p:stCondLst>
                              <p:cond delay="4000"/>
                            </p:stCondLst>
                            <p:childTnLst>
                              <p:par>
                                <p:cTn id="48" presetID="42" presetClass="entr" presetSubtype="0" fill="hold" grpId="0" nodeType="afterEffect">
                                  <p:stCondLst>
                                    <p:cond delay="0"/>
                                  </p:stCondLst>
                                  <p:childTnLst>
                                    <p:set>
                                      <p:cBhvr>
                                        <p:cTn id="49" dur="1" fill="hold">
                                          <p:stCondLst>
                                            <p:cond delay="0"/>
                                          </p:stCondLst>
                                        </p:cTn>
                                        <p:tgtEl>
                                          <p:spTgt spid="34"/>
                                        </p:tgtEl>
                                        <p:attrNameLst>
                                          <p:attrName>style.visibility</p:attrName>
                                        </p:attrNameLst>
                                      </p:cBhvr>
                                      <p:to>
                                        <p:strVal val="visible"/>
                                      </p:to>
                                    </p:set>
                                    <p:animEffect transition="in" filter="fade">
                                      <p:cBhvr>
                                        <p:cTn id="50" dur="1500"/>
                                        <p:tgtEl>
                                          <p:spTgt spid="34"/>
                                        </p:tgtEl>
                                      </p:cBhvr>
                                    </p:animEffect>
                                    <p:anim calcmode="lin" valueType="num">
                                      <p:cBhvr>
                                        <p:cTn id="51" dur="1500" fill="hold"/>
                                        <p:tgtEl>
                                          <p:spTgt spid="34"/>
                                        </p:tgtEl>
                                        <p:attrNameLst>
                                          <p:attrName>ppt_x</p:attrName>
                                        </p:attrNameLst>
                                      </p:cBhvr>
                                      <p:tavLst>
                                        <p:tav tm="0">
                                          <p:val>
                                            <p:strVal val="#ppt_x"/>
                                          </p:val>
                                        </p:tav>
                                        <p:tav tm="100000">
                                          <p:val>
                                            <p:strVal val="#ppt_x"/>
                                          </p:val>
                                        </p:tav>
                                      </p:tavLst>
                                    </p:anim>
                                    <p:anim calcmode="lin" valueType="num">
                                      <p:cBhvr>
                                        <p:cTn id="52" dur="1500" fill="hold"/>
                                        <p:tgtEl>
                                          <p:spTgt spid="34"/>
                                        </p:tgtEl>
                                        <p:attrNameLst>
                                          <p:attrName>ppt_y</p:attrName>
                                        </p:attrNameLst>
                                      </p:cBhvr>
                                      <p:tavLst>
                                        <p:tav tm="0">
                                          <p:val>
                                            <p:strVal val="#ppt_y+.1"/>
                                          </p:val>
                                        </p:tav>
                                        <p:tav tm="100000">
                                          <p:val>
                                            <p:strVal val="#ppt_y"/>
                                          </p:val>
                                        </p:tav>
                                      </p:tavLst>
                                    </p:anim>
                                  </p:childTnLst>
                                </p:cTn>
                              </p:par>
                            </p:childTnLst>
                          </p:cTn>
                        </p:par>
                        <p:par>
                          <p:cTn id="53" fill="hold">
                            <p:stCondLst>
                              <p:cond delay="5500"/>
                            </p:stCondLst>
                            <p:childTnLst>
                              <p:par>
                                <p:cTn id="54" presetID="22" presetClass="entr" presetSubtype="8" fill="hold"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wipe(left)">
                                      <p:cBhvr>
                                        <p:cTn id="56" dur="500"/>
                                        <p:tgtEl>
                                          <p:spTgt spid="21"/>
                                        </p:tgtEl>
                                      </p:cBhvr>
                                    </p:animEffect>
                                  </p:childTnLst>
                                </p:cTn>
                              </p:par>
                            </p:childTnLst>
                          </p:cTn>
                        </p:par>
                        <p:par>
                          <p:cTn id="57" fill="hold">
                            <p:stCondLst>
                              <p:cond delay="6000"/>
                            </p:stCondLst>
                            <p:childTnLst>
                              <p:par>
                                <p:cTn id="58" presetID="53" presetClass="entr" presetSubtype="16" fill="hold" grpId="0" nodeType="afterEffect">
                                  <p:stCondLst>
                                    <p:cond delay="0"/>
                                  </p:stCondLst>
                                  <p:childTnLst>
                                    <p:set>
                                      <p:cBhvr>
                                        <p:cTn id="59" dur="1" fill="hold">
                                          <p:stCondLst>
                                            <p:cond delay="0"/>
                                          </p:stCondLst>
                                        </p:cTn>
                                        <p:tgtEl>
                                          <p:spTgt spid="36"/>
                                        </p:tgtEl>
                                        <p:attrNameLst>
                                          <p:attrName>style.visibility</p:attrName>
                                        </p:attrNameLst>
                                      </p:cBhvr>
                                      <p:to>
                                        <p:strVal val="visible"/>
                                      </p:to>
                                    </p:set>
                                    <p:anim calcmode="lin" valueType="num">
                                      <p:cBhvr>
                                        <p:cTn id="60" dur="500" fill="hold"/>
                                        <p:tgtEl>
                                          <p:spTgt spid="36"/>
                                        </p:tgtEl>
                                        <p:attrNameLst>
                                          <p:attrName>ppt_w</p:attrName>
                                        </p:attrNameLst>
                                      </p:cBhvr>
                                      <p:tavLst>
                                        <p:tav tm="0">
                                          <p:val>
                                            <p:fltVal val="0"/>
                                          </p:val>
                                        </p:tav>
                                        <p:tav tm="100000">
                                          <p:val>
                                            <p:strVal val="#ppt_w"/>
                                          </p:val>
                                        </p:tav>
                                      </p:tavLst>
                                    </p:anim>
                                    <p:anim calcmode="lin" valueType="num">
                                      <p:cBhvr>
                                        <p:cTn id="61" dur="500" fill="hold"/>
                                        <p:tgtEl>
                                          <p:spTgt spid="36"/>
                                        </p:tgtEl>
                                        <p:attrNameLst>
                                          <p:attrName>ppt_h</p:attrName>
                                        </p:attrNameLst>
                                      </p:cBhvr>
                                      <p:tavLst>
                                        <p:tav tm="0">
                                          <p:val>
                                            <p:fltVal val="0"/>
                                          </p:val>
                                        </p:tav>
                                        <p:tav tm="100000">
                                          <p:val>
                                            <p:strVal val="#ppt_h"/>
                                          </p:val>
                                        </p:tav>
                                      </p:tavLst>
                                    </p:anim>
                                    <p:animEffect transition="in" filter="fade">
                                      <p:cBhvr>
                                        <p:cTn id="62" dur="500"/>
                                        <p:tgtEl>
                                          <p:spTgt spid="36"/>
                                        </p:tgtEl>
                                      </p:cBhvr>
                                    </p:animEffect>
                                  </p:childTnLst>
                                </p:cTn>
                              </p:par>
                            </p:childTnLst>
                          </p:cTn>
                        </p:par>
                        <p:par>
                          <p:cTn id="63" fill="hold">
                            <p:stCondLst>
                              <p:cond delay="6500"/>
                            </p:stCondLst>
                            <p:childTnLst>
                              <p:par>
                                <p:cTn id="64" presetID="53" presetClass="entr" presetSubtype="16" fill="hold" grpId="0" nodeType="afterEffect">
                                  <p:stCondLst>
                                    <p:cond delay="0"/>
                                  </p:stCondLst>
                                  <p:childTnLst>
                                    <p:set>
                                      <p:cBhvr>
                                        <p:cTn id="65" dur="1" fill="hold">
                                          <p:stCondLst>
                                            <p:cond delay="0"/>
                                          </p:stCondLst>
                                        </p:cTn>
                                        <p:tgtEl>
                                          <p:spTgt spid="37"/>
                                        </p:tgtEl>
                                        <p:attrNameLst>
                                          <p:attrName>style.visibility</p:attrName>
                                        </p:attrNameLst>
                                      </p:cBhvr>
                                      <p:to>
                                        <p:strVal val="visible"/>
                                      </p:to>
                                    </p:set>
                                    <p:anim calcmode="lin" valueType="num">
                                      <p:cBhvr>
                                        <p:cTn id="66" dur="500" fill="hold"/>
                                        <p:tgtEl>
                                          <p:spTgt spid="37"/>
                                        </p:tgtEl>
                                        <p:attrNameLst>
                                          <p:attrName>ppt_w</p:attrName>
                                        </p:attrNameLst>
                                      </p:cBhvr>
                                      <p:tavLst>
                                        <p:tav tm="0">
                                          <p:val>
                                            <p:fltVal val="0"/>
                                          </p:val>
                                        </p:tav>
                                        <p:tav tm="100000">
                                          <p:val>
                                            <p:strVal val="#ppt_w"/>
                                          </p:val>
                                        </p:tav>
                                      </p:tavLst>
                                    </p:anim>
                                    <p:anim calcmode="lin" valueType="num">
                                      <p:cBhvr>
                                        <p:cTn id="67" dur="500" fill="hold"/>
                                        <p:tgtEl>
                                          <p:spTgt spid="37"/>
                                        </p:tgtEl>
                                        <p:attrNameLst>
                                          <p:attrName>ppt_h</p:attrName>
                                        </p:attrNameLst>
                                      </p:cBhvr>
                                      <p:tavLst>
                                        <p:tav tm="0">
                                          <p:val>
                                            <p:fltVal val="0"/>
                                          </p:val>
                                        </p:tav>
                                        <p:tav tm="100000">
                                          <p:val>
                                            <p:strVal val="#ppt_h"/>
                                          </p:val>
                                        </p:tav>
                                      </p:tavLst>
                                    </p:anim>
                                    <p:animEffect transition="in" filter="fade">
                                      <p:cBhvr>
                                        <p:cTn id="68" dur="500"/>
                                        <p:tgtEl>
                                          <p:spTgt spid="37"/>
                                        </p:tgtEl>
                                      </p:cBhvr>
                                    </p:animEffect>
                                  </p:childTnLst>
                                </p:cTn>
                              </p:par>
                            </p:childTnLst>
                          </p:cTn>
                        </p:par>
                        <p:par>
                          <p:cTn id="69" fill="hold">
                            <p:stCondLst>
                              <p:cond delay="7000"/>
                            </p:stCondLst>
                            <p:childTnLst>
                              <p:par>
                                <p:cTn id="70" presetID="53" presetClass="entr" presetSubtype="16" fill="hold" grpId="0" nodeType="afterEffect">
                                  <p:stCondLst>
                                    <p:cond delay="0"/>
                                  </p:stCondLst>
                                  <p:childTnLst>
                                    <p:set>
                                      <p:cBhvr>
                                        <p:cTn id="71" dur="1" fill="hold">
                                          <p:stCondLst>
                                            <p:cond delay="0"/>
                                          </p:stCondLst>
                                        </p:cTn>
                                        <p:tgtEl>
                                          <p:spTgt spid="38"/>
                                        </p:tgtEl>
                                        <p:attrNameLst>
                                          <p:attrName>style.visibility</p:attrName>
                                        </p:attrNameLst>
                                      </p:cBhvr>
                                      <p:to>
                                        <p:strVal val="visible"/>
                                      </p:to>
                                    </p:set>
                                    <p:anim calcmode="lin" valueType="num">
                                      <p:cBhvr>
                                        <p:cTn id="72" dur="500" fill="hold"/>
                                        <p:tgtEl>
                                          <p:spTgt spid="38"/>
                                        </p:tgtEl>
                                        <p:attrNameLst>
                                          <p:attrName>ppt_w</p:attrName>
                                        </p:attrNameLst>
                                      </p:cBhvr>
                                      <p:tavLst>
                                        <p:tav tm="0">
                                          <p:val>
                                            <p:fltVal val="0"/>
                                          </p:val>
                                        </p:tav>
                                        <p:tav tm="100000">
                                          <p:val>
                                            <p:strVal val="#ppt_w"/>
                                          </p:val>
                                        </p:tav>
                                      </p:tavLst>
                                    </p:anim>
                                    <p:anim calcmode="lin" valueType="num">
                                      <p:cBhvr>
                                        <p:cTn id="73" dur="500" fill="hold"/>
                                        <p:tgtEl>
                                          <p:spTgt spid="38"/>
                                        </p:tgtEl>
                                        <p:attrNameLst>
                                          <p:attrName>ppt_h</p:attrName>
                                        </p:attrNameLst>
                                      </p:cBhvr>
                                      <p:tavLst>
                                        <p:tav tm="0">
                                          <p:val>
                                            <p:fltVal val="0"/>
                                          </p:val>
                                        </p:tav>
                                        <p:tav tm="100000">
                                          <p:val>
                                            <p:strVal val="#ppt_h"/>
                                          </p:val>
                                        </p:tav>
                                      </p:tavLst>
                                    </p:anim>
                                    <p:animEffect transition="in" filter="fade">
                                      <p:cBhvr>
                                        <p:cTn id="74" dur="500"/>
                                        <p:tgtEl>
                                          <p:spTgt spid="38"/>
                                        </p:tgtEl>
                                      </p:cBhvr>
                                    </p:animEffect>
                                  </p:childTnLst>
                                </p:cTn>
                              </p:par>
                            </p:childTnLst>
                          </p:cTn>
                        </p:par>
                        <p:par>
                          <p:cTn id="75" fill="hold">
                            <p:stCondLst>
                              <p:cond delay="7500"/>
                            </p:stCondLst>
                            <p:childTnLst>
                              <p:par>
                                <p:cTn id="76" presetID="22" presetClass="entr" presetSubtype="4" fill="hold" nodeType="after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wipe(down)">
                                      <p:cBhvr>
                                        <p:cTn id="78" dur="500"/>
                                        <p:tgtEl>
                                          <p:spTgt spid="39"/>
                                        </p:tgtEl>
                                      </p:cBhvr>
                                    </p:animEffect>
                                  </p:childTnLst>
                                </p:cTn>
                              </p:par>
                            </p:childTnLst>
                          </p:cTn>
                        </p:par>
                        <p:par>
                          <p:cTn id="79" fill="hold">
                            <p:stCondLst>
                              <p:cond delay="8000"/>
                            </p:stCondLst>
                            <p:childTnLst>
                              <p:par>
                                <p:cTn id="80" presetID="53" presetClass="entr" presetSubtype="16" fill="hold" grpId="0" nodeType="afterEffect">
                                  <p:stCondLst>
                                    <p:cond delay="0"/>
                                  </p:stCondLst>
                                  <p:childTnLst>
                                    <p:set>
                                      <p:cBhvr>
                                        <p:cTn id="81" dur="1" fill="hold">
                                          <p:stCondLst>
                                            <p:cond delay="0"/>
                                          </p:stCondLst>
                                        </p:cTn>
                                        <p:tgtEl>
                                          <p:spTgt spid="40"/>
                                        </p:tgtEl>
                                        <p:attrNameLst>
                                          <p:attrName>style.visibility</p:attrName>
                                        </p:attrNameLst>
                                      </p:cBhvr>
                                      <p:to>
                                        <p:strVal val="visible"/>
                                      </p:to>
                                    </p:set>
                                    <p:anim calcmode="lin" valueType="num">
                                      <p:cBhvr>
                                        <p:cTn id="82" dur="500" fill="hold"/>
                                        <p:tgtEl>
                                          <p:spTgt spid="40"/>
                                        </p:tgtEl>
                                        <p:attrNameLst>
                                          <p:attrName>ppt_w</p:attrName>
                                        </p:attrNameLst>
                                      </p:cBhvr>
                                      <p:tavLst>
                                        <p:tav tm="0">
                                          <p:val>
                                            <p:fltVal val="0"/>
                                          </p:val>
                                        </p:tav>
                                        <p:tav tm="100000">
                                          <p:val>
                                            <p:strVal val="#ppt_w"/>
                                          </p:val>
                                        </p:tav>
                                      </p:tavLst>
                                    </p:anim>
                                    <p:anim calcmode="lin" valueType="num">
                                      <p:cBhvr>
                                        <p:cTn id="83" dur="500" fill="hold"/>
                                        <p:tgtEl>
                                          <p:spTgt spid="40"/>
                                        </p:tgtEl>
                                        <p:attrNameLst>
                                          <p:attrName>ppt_h</p:attrName>
                                        </p:attrNameLst>
                                      </p:cBhvr>
                                      <p:tavLst>
                                        <p:tav tm="0">
                                          <p:val>
                                            <p:fltVal val="0"/>
                                          </p:val>
                                        </p:tav>
                                        <p:tav tm="100000">
                                          <p:val>
                                            <p:strVal val="#ppt_h"/>
                                          </p:val>
                                        </p:tav>
                                      </p:tavLst>
                                    </p:anim>
                                    <p:animEffect transition="in" filter="fade">
                                      <p:cBhvr>
                                        <p:cTn id="84" dur="500"/>
                                        <p:tgtEl>
                                          <p:spTgt spid="40"/>
                                        </p:tgtEl>
                                      </p:cBhvr>
                                    </p:animEffect>
                                  </p:childTnLst>
                                </p:cTn>
                              </p:par>
                            </p:childTnLst>
                          </p:cTn>
                        </p:par>
                        <p:par>
                          <p:cTn id="85" fill="hold">
                            <p:stCondLst>
                              <p:cond delay="8500"/>
                            </p:stCondLst>
                            <p:childTnLst>
                              <p:par>
                                <p:cTn id="86" presetID="53" presetClass="entr" presetSubtype="16" fill="hold" grpId="0" nodeType="afterEffect">
                                  <p:stCondLst>
                                    <p:cond delay="0"/>
                                  </p:stCondLst>
                                  <p:childTnLst>
                                    <p:set>
                                      <p:cBhvr>
                                        <p:cTn id="87" dur="1" fill="hold">
                                          <p:stCondLst>
                                            <p:cond delay="0"/>
                                          </p:stCondLst>
                                        </p:cTn>
                                        <p:tgtEl>
                                          <p:spTgt spid="35"/>
                                        </p:tgtEl>
                                        <p:attrNameLst>
                                          <p:attrName>style.visibility</p:attrName>
                                        </p:attrNameLst>
                                      </p:cBhvr>
                                      <p:to>
                                        <p:strVal val="visible"/>
                                      </p:to>
                                    </p:set>
                                    <p:anim calcmode="lin" valueType="num">
                                      <p:cBhvr>
                                        <p:cTn id="88" dur="500" fill="hold"/>
                                        <p:tgtEl>
                                          <p:spTgt spid="35"/>
                                        </p:tgtEl>
                                        <p:attrNameLst>
                                          <p:attrName>ppt_w</p:attrName>
                                        </p:attrNameLst>
                                      </p:cBhvr>
                                      <p:tavLst>
                                        <p:tav tm="0">
                                          <p:val>
                                            <p:fltVal val="0"/>
                                          </p:val>
                                        </p:tav>
                                        <p:tav tm="100000">
                                          <p:val>
                                            <p:strVal val="#ppt_w"/>
                                          </p:val>
                                        </p:tav>
                                      </p:tavLst>
                                    </p:anim>
                                    <p:anim calcmode="lin" valueType="num">
                                      <p:cBhvr>
                                        <p:cTn id="89" dur="500" fill="hold"/>
                                        <p:tgtEl>
                                          <p:spTgt spid="35"/>
                                        </p:tgtEl>
                                        <p:attrNameLst>
                                          <p:attrName>ppt_h</p:attrName>
                                        </p:attrNameLst>
                                      </p:cBhvr>
                                      <p:tavLst>
                                        <p:tav tm="0">
                                          <p:val>
                                            <p:fltVal val="0"/>
                                          </p:val>
                                        </p:tav>
                                        <p:tav tm="100000">
                                          <p:val>
                                            <p:strVal val="#ppt_h"/>
                                          </p:val>
                                        </p:tav>
                                      </p:tavLst>
                                    </p:anim>
                                    <p:animEffect transition="in" filter="fade">
                                      <p:cBhvr>
                                        <p:cTn id="90" dur="500"/>
                                        <p:tgtEl>
                                          <p:spTgt spid="35"/>
                                        </p:tgtEl>
                                      </p:cBhvr>
                                    </p:animEffect>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41"/>
                                        </p:tgtEl>
                                        <p:attrNameLst>
                                          <p:attrName>style.visibility</p:attrName>
                                        </p:attrNameLst>
                                      </p:cBhvr>
                                      <p:to>
                                        <p:strVal val="visible"/>
                                      </p:to>
                                    </p:set>
                                    <p:animEffect transition="in" filter="fade">
                                      <p:cBhvr>
                                        <p:cTn id="95" dur="1000"/>
                                        <p:tgtEl>
                                          <p:spTgt spid="41"/>
                                        </p:tgtEl>
                                      </p:cBhvr>
                                    </p:animEffect>
                                    <p:anim calcmode="lin" valueType="num">
                                      <p:cBhvr>
                                        <p:cTn id="96" dur="1000" fill="hold"/>
                                        <p:tgtEl>
                                          <p:spTgt spid="41"/>
                                        </p:tgtEl>
                                        <p:attrNameLst>
                                          <p:attrName>ppt_x</p:attrName>
                                        </p:attrNameLst>
                                      </p:cBhvr>
                                      <p:tavLst>
                                        <p:tav tm="0">
                                          <p:val>
                                            <p:strVal val="#ppt_x"/>
                                          </p:val>
                                        </p:tav>
                                        <p:tav tm="100000">
                                          <p:val>
                                            <p:strVal val="#ppt_x"/>
                                          </p:val>
                                        </p:tav>
                                      </p:tavLst>
                                    </p:anim>
                                    <p:anim calcmode="lin" valueType="num">
                                      <p:cBhvr>
                                        <p:cTn id="97"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47" presetClass="entr" presetSubtype="0" fill="hold" grpId="0" nodeType="clickEffect">
                                  <p:stCondLst>
                                    <p:cond delay="0"/>
                                  </p:stCondLst>
                                  <p:childTnLst>
                                    <p:set>
                                      <p:cBhvr>
                                        <p:cTn id="101" dur="1" fill="hold">
                                          <p:stCondLst>
                                            <p:cond delay="0"/>
                                          </p:stCondLst>
                                        </p:cTn>
                                        <p:tgtEl>
                                          <p:spTgt spid="42"/>
                                        </p:tgtEl>
                                        <p:attrNameLst>
                                          <p:attrName>style.visibility</p:attrName>
                                        </p:attrNameLst>
                                      </p:cBhvr>
                                      <p:to>
                                        <p:strVal val="visible"/>
                                      </p:to>
                                    </p:set>
                                    <p:animEffect transition="in" filter="fade">
                                      <p:cBhvr>
                                        <p:cTn id="102" dur="1500"/>
                                        <p:tgtEl>
                                          <p:spTgt spid="42"/>
                                        </p:tgtEl>
                                      </p:cBhvr>
                                    </p:animEffect>
                                    <p:anim calcmode="lin" valueType="num">
                                      <p:cBhvr>
                                        <p:cTn id="103" dur="1500" fill="hold"/>
                                        <p:tgtEl>
                                          <p:spTgt spid="42"/>
                                        </p:tgtEl>
                                        <p:attrNameLst>
                                          <p:attrName>ppt_x</p:attrName>
                                        </p:attrNameLst>
                                      </p:cBhvr>
                                      <p:tavLst>
                                        <p:tav tm="0">
                                          <p:val>
                                            <p:strVal val="#ppt_x"/>
                                          </p:val>
                                        </p:tav>
                                        <p:tav tm="100000">
                                          <p:val>
                                            <p:strVal val="#ppt_x"/>
                                          </p:val>
                                        </p:tav>
                                      </p:tavLst>
                                    </p:anim>
                                    <p:anim calcmode="lin" valueType="num">
                                      <p:cBhvr>
                                        <p:cTn id="104" dur="1500" fill="hold"/>
                                        <p:tgtEl>
                                          <p:spTgt spid="42"/>
                                        </p:tgtEl>
                                        <p:attrNameLst>
                                          <p:attrName>ppt_y</p:attrName>
                                        </p:attrNameLst>
                                      </p:cBhvr>
                                      <p:tavLst>
                                        <p:tav tm="0">
                                          <p:val>
                                            <p:strVal val="#ppt_y-.1"/>
                                          </p:val>
                                        </p:tav>
                                        <p:tav tm="100000">
                                          <p:val>
                                            <p:strVal val="#ppt_y"/>
                                          </p:val>
                                        </p:tav>
                                      </p:tavLst>
                                    </p:anim>
                                  </p:childTnLst>
                                </p:cTn>
                              </p:par>
                            </p:childTnLst>
                          </p:cTn>
                        </p:par>
                        <p:par>
                          <p:cTn id="105" fill="hold">
                            <p:stCondLst>
                              <p:cond delay="1500"/>
                            </p:stCondLst>
                            <p:childTnLst>
                              <p:par>
                                <p:cTn id="106" presetID="22" presetClass="entr" presetSubtype="8" fill="hold" nodeType="afterEffect">
                                  <p:stCondLst>
                                    <p:cond delay="0"/>
                                  </p:stCondLst>
                                  <p:childTnLst>
                                    <p:set>
                                      <p:cBhvr>
                                        <p:cTn id="107" dur="1" fill="hold">
                                          <p:stCondLst>
                                            <p:cond delay="0"/>
                                          </p:stCondLst>
                                        </p:cTn>
                                        <p:tgtEl>
                                          <p:spTgt spid="20"/>
                                        </p:tgtEl>
                                        <p:attrNameLst>
                                          <p:attrName>style.visibility</p:attrName>
                                        </p:attrNameLst>
                                      </p:cBhvr>
                                      <p:to>
                                        <p:strVal val="visible"/>
                                      </p:to>
                                    </p:set>
                                    <p:animEffect transition="in" filter="wipe(left)">
                                      <p:cBhvr>
                                        <p:cTn id="108" dur="500"/>
                                        <p:tgtEl>
                                          <p:spTgt spid="20"/>
                                        </p:tgtEl>
                                      </p:cBhvr>
                                    </p:animEffect>
                                  </p:childTnLst>
                                </p:cTn>
                              </p:par>
                            </p:childTnLst>
                          </p:cTn>
                        </p:par>
                        <p:par>
                          <p:cTn id="109" fill="hold">
                            <p:stCondLst>
                              <p:cond delay="2000"/>
                            </p:stCondLst>
                            <p:childTnLst>
                              <p:par>
                                <p:cTn id="110" presetID="53" presetClass="entr" presetSubtype="16" fill="hold" grpId="0" nodeType="afterEffect">
                                  <p:stCondLst>
                                    <p:cond delay="0"/>
                                  </p:stCondLst>
                                  <p:childTnLst>
                                    <p:set>
                                      <p:cBhvr>
                                        <p:cTn id="111" dur="1" fill="hold">
                                          <p:stCondLst>
                                            <p:cond delay="0"/>
                                          </p:stCondLst>
                                        </p:cTn>
                                        <p:tgtEl>
                                          <p:spTgt spid="44"/>
                                        </p:tgtEl>
                                        <p:attrNameLst>
                                          <p:attrName>style.visibility</p:attrName>
                                        </p:attrNameLst>
                                      </p:cBhvr>
                                      <p:to>
                                        <p:strVal val="visible"/>
                                      </p:to>
                                    </p:set>
                                    <p:anim calcmode="lin" valueType="num">
                                      <p:cBhvr>
                                        <p:cTn id="112" dur="500" fill="hold"/>
                                        <p:tgtEl>
                                          <p:spTgt spid="44"/>
                                        </p:tgtEl>
                                        <p:attrNameLst>
                                          <p:attrName>ppt_w</p:attrName>
                                        </p:attrNameLst>
                                      </p:cBhvr>
                                      <p:tavLst>
                                        <p:tav tm="0">
                                          <p:val>
                                            <p:fltVal val="0"/>
                                          </p:val>
                                        </p:tav>
                                        <p:tav tm="100000">
                                          <p:val>
                                            <p:strVal val="#ppt_w"/>
                                          </p:val>
                                        </p:tav>
                                      </p:tavLst>
                                    </p:anim>
                                    <p:anim calcmode="lin" valueType="num">
                                      <p:cBhvr>
                                        <p:cTn id="113" dur="500" fill="hold"/>
                                        <p:tgtEl>
                                          <p:spTgt spid="44"/>
                                        </p:tgtEl>
                                        <p:attrNameLst>
                                          <p:attrName>ppt_h</p:attrName>
                                        </p:attrNameLst>
                                      </p:cBhvr>
                                      <p:tavLst>
                                        <p:tav tm="0">
                                          <p:val>
                                            <p:fltVal val="0"/>
                                          </p:val>
                                        </p:tav>
                                        <p:tav tm="100000">
                                          <p:val>
                                            <p:strVal val="#ppt_h"/>
                                          </p:val>
                                        </p:tav>
                                      </p:tavLst>
                                    </p:anim>
                                    <p:animEffect transition="in" filter="fade">
                                      <p:cBhvr>
                                        <p:cTn id="114" dur="500"/>
                                        <p:tgtEl>
                                          <p:spTgt spid="44"/>
                                        </p:tgtEl>
                                      </p:cBhvr>
                                    </p:animEffect>
                                  </p:childTnLst>
                                </p:cTn>
                              </p:par>
                            </p:childTnLst>
                          </p:cTn>
                        </p:par>
                        <p:par>
                          <p:cTn id="115" fill="hold">
                            <p:stCondLst>
                              <p:cond delay="2500"/>
                            </p:stCondLst>
                            <p:childTnLst>
                              <p:par>
                                <p:cTn id="116" presetID="53" presetClass="entr" presetSubtype="16" fill="hold" grpId="0" nodeType="afterEffect">
                                  <p:stCondLst>
                                    <p:cond delay="0"/>
                                  </p:stCondLst>
                                  <p:childTnLst>
                                    <p:set>
                                      <p:cBhvr>
                                        <p:cTn id="117" dur="1" fill="hold">
                                          <p:stCondLst>
                                            <p:cond delay="0"/>
                                          </p:stCondLst>
                                        </p:cTn>
                                        <p:tgtEl>
                                          <p:spTgt spid="45"/>
                                        </p:tgtEl>
                                        <p:attrNameLst>
                                          <p:attrName>style.visibility</p:attrName>
                                        </p:attrNameLst>
                                      </p:cBhvr>
                                      <p:to>
                                        <p:strVal val="visible"/>
                                      </p:to>
                                    </p:set>
                                    <p:anim calcmode="lin" valueType="num">
                                      <p:cBhvr>
                                        <p:cTn id="118" dur="500" fill="hold"/>
                                        <p:tgtEl>
                                          <p:spTgt spid="45"/>
                                        </p:tgtEl>
                                        <p:attrNameLst>
                                          <p:attrName>ppt_w</p:attrName>
                                        </p:attrNameLst>
                                      </p:cBhvr>
                                      <p:tavLst>
                                        <p:tav tm="0">
                                          <p:val>
                                            <p:fltVal val="0"/>
                                          </p:val>
                                        </p:tav>
                                        <p:tav tm="100000">
                                          <p:val>
                                            <p:strVal val="#ppt_w"/>
                                          </p:val>
                                        </p:tav>
                                      </p:tavLst>
                                    </p:anim>
                                    <p:anim calcmode="lin" valueType="num">
                                      <p:cBhvr>
                                        <p:cTn id="119" dur="500" fill="hold"/>
                                        <p:tgtEl>
                                          <p:spTgt spid="45"/>
                                        </p:tgtEl>
                                        <p:attrNameLst>
                                          <p:attrName>ppt_h</p:attrName>
                                        </p:attrNameLst>
                                      </p:cBhvr>
                                      <p:tavLst>
                                        <p:tav tm="0">
                                          <p:val>
                                            <p:fltVal val="0"/>
                                          </p:val>
                                        </p:tav>
                                        <p:tav tm="100000">
                                          <p:val>
                                            <p:strVal val="#ppt_h"/>
                                          </p:val>
                                        </p:tav>
                                      </p:tavLst>
                                    </p:anim>
                                    <p:animEffect transition="in" filter="fade">
                                      <p:cBhvr>
                                        <p:cTn id="120" dur="500"/>
                                        <p:tgtEl>
                                          <p:spTgt spid="45"/>
                                        </p:tgtEl>
                                      </p:cBhvr>
                                    </p:animEffect>
                                  </p:childTnLst>
                                </p:cTn>
                              </p:par>
                            </p:childTnLst>
                          </p:cTn>
                        </p:par>
                        <p:par>
                          <p:cTn id="121" fill="hold">
                            <p:stCondLst>
                              <p:cond delay="3000"/>
                            </p:stCondLst>
                            <p:childTnLst>
                              <p:par>
                                <p:cTn id="122" presetID="53" presetClass="entr" presetSubtype="16" fill="hold" grpId="0" nodeType="afterEffect">
                                  <p:stCondLst>
                                    <p:cond delay="0"/>
                                  </p:stCondLst>
                                  <p:childTnLst>
                                    <p:set>
                                      <p:cBhvr>
                                        <p:cTn id="123" dur="1" fill="hold">
                                          <p:stCondLst>
                                            <p:cond delay="0"/>
                                          </p:stCondLst>
                                        </p:cTn>
                                        <p:tgtEl>
                                          <p:spTgt spid="46"/>
                                        </p:tgtEl>
                                        <p:attrNameLst>
                                          <p:attrName>style.visibility</p:attrName>
                                        </p:attrNameLst>
                                      </p:cBhvr>
                                      <p:to>
                                        <p:strVal val="visible"/>
                                      </p:to>
                                    </p:set>
                                    <p:anim calcmode="lin" valueType="num">
                                      <p:cBhvr>
                                        <p:cTn id="124" dur="500" fill="hold"/>
                                        <p:tgtEl>
                                          <p:spTgt spid="46"/>
                                        </p:tgtEl>
                                        <p:attrNameLst>
                                          <p:attrName>ppt_w</p:attrName>
                                        </p:attrNameLst>
                                      </p:cBhvr>
                                      <p:tavLst>
                                        <p:tav tm="0">
                                          <p:val>
                                            <p:fltVal val="0"/>
                                          </p:val>
                                        </p:tav>
                                        <p:tav tm="100000">
                                          <p:val>
                                            <p:strVal val="#ppt_w"/>
                                          </p:val>
                                        </p:tav>
                                      </p:tavLst>
                                    </p:anim>
                                    <p:anim calcmode="lin" valueType="num">
                                      <p:cBhvr>
                                        <p:cTn id="125" dur="500" fill="hold"/>
                                        <p:tgtEl>
                                          <p:spTgt spid="46"/>
                                        </p:tgtEl>
                                        <p:attrNameLst>
                                          <p:attrName>ppt_h</p:attrName>
                                        </p:attrNameLst>
                                      </p:cBhvr>
                                      <p:tavLst>
                                        <p:tav tm="0">
                                          <p:val>
                                            <p:fltVal val="0"/>
                                          </p:val>
                                        </p:tav>
                                        <p:tav tm="100000">
                                          <p:val>
                                            <p:strVal val="#ppt_h"/>
                                          </p:val>
                                        </p:tav>
                                      </p:tavLst>
                                    </p:anim>
                                    <p:animEffect transition="in" filter="fade">
                                      <p:cBhvr>
                                        <p:cTn id="126" dur="500"/>
                                        <p:tgtEl>
                                          <p:spTgt spid="46"/>
                                        </p:tgtEl>
                                      </p:cBhvr>
                                    </p:animEffect>
                                  </p:childTnLst>
                                </p:cTn>
                              </p:par>
                            </p:childTnLst>
                          </p:cTn>
                        </p:par>
                        <p:par>
                          <p:cTn id="127" fill="hold">
                            <p:stCondLst>
                              <p:cond delay="3500"/>
                            </p:stCondLst>
                            <p:childTnLst>
                              <p:par>
                                <p:cTn id="128" presetID="22" presetClass="entr" presetSubtype="1" fill="hold" nodeType="afterEffect">
                                  <p:stCondLst>
                                    <p:cond delay="0"/>
                                  </p:stCondLst>
                                  <p:childTnLst>
                                    <p:set>
                                      <p:cBhvr>
                                        <p:cTn id="129" dur="1" fill="hold">
                                          <p:stCondLst>
                                            <p:cond delay="0"/>
                                          </p:stCondLst>
                                        </p:cTn>
                                        <p:tgtEl>
                                          <p:spTgt spid="47"/>
                                        </p:tgtEl>
                                        <p:attrNameLst>
                                          <p:attrName>style.visibility</p:attrName>
                                        </p:attrNameLst>
                                      </p:cBhvr>
                                      <p:to>
                                        <p:strVal val="visible"/>
                                      </p:to>
                                    </p:set>
                                    <p:animEffect transition="in" filter="wipe(up)">
                                      <p:cBhvr>
                                        <p:cTn id="130" dur="500"/>
                                        <p:tgtEl>
                                          <p:spTgt spid="47"/>
                                        </p:tgtEl>
                                      </p:cBhvr>
                                    </p:animEffect>
                                  </p:childTnLst>
                                </p:cTn>
                              </p:par>
                            </p:childTnLst>
                          </p:cTn>
                        </p:par>
                        <p:par>
                          <p:cTn id="131" fill="hold">
                            <p:stCondLst>
                              <p:cond delay="4000"/>
                            </p:stCondLst>
                            <p:childTnLst>
                              <p:par>
                                <p:cTn id="132" presetID="53" presetClass="entr" presetSubtype="16" fill="hold" grpId="0" nodeType="afterEffect">
                                  <p:stCondLst>
                                    <p:cond delay="0"/>
                                  </p:stCondLst>
                                  <p:childTnLst>
                                    <p:set>
                                      <p:cBhvr>
                                        <p:cTn id="133" dur="1" fill="hold">
                                          <p:stCondLst>
                                            <p:cond delay="0"/>
                                          </p:stCondLst>
                                        </p:cTn>
                                        <p:tgtEl>
                                          <p:spTgt spid="48"/>
                                        </p:tgtEl>
                                        <p:attrNameLst>
                                          <p:attrName>style.visibility</p:attrName>
                                        </p:attrNameLst>
                                      </p:cBhvr>
                                      <p:to>
                                        <p:strVal val="visible"/>
                                      </p:to>
                                    </p:set>
                                    <p:anim calcmode="lin" valueType="num">
                                      <p:cBhvr>
                                        <p:cTn id="134" dur="500" fill="hold"/>
                                        <p:tgtEl>
                                          <p:spTgt spid="48"/>
                                        </p:tgtEl>
                                        <p:attrNameLst>
                                          <p:attrName>ppt_w</p:attrName>
                                        </p:attrNameLst>
                                      </p:cBhvr>
                                      <p:tavLst>
                                        <p:tav tm="0">
                                          <p:val>
                                            <p:fltVal val="0"/>
                                          </p:val>
                                        </p:tav>
                                        <p:tav tm="100000">
                                          <p:val>
                                            <p:strVal val="#ppt_w"/>
                                          </p:val>
                                        </p:tav>
                                      </p:tavLst>
                                    </p:anim>
                                    <p:anim calcmode="lin" valueType="num">
                                      <p:cBhvr>
                                        <p:cTn id="135" dur="500" fill="hold"/>
                                        <p:tgtEl>
                                          <p:spTgt spid="48"/>
                                        </p:tgtEl>
                                        <p:attrNameLst>
                                          <p:attrName>ppt_h</p:attrName>
                                        </p:attrNameLst>
                                      </p:cBhvr>
                                      <p:tavLst>
                                        <p:tav tm="0">
                                          <p:val>
                                            <p:fltVal val="0"/>
                                          </p:val>
                                        </p:tav>
                                        <p:tav tm="100000">
                                          <p:val>
                                            <p:strVal val="#ppt_h"/>
                                          </p:val>
                                        </p:tav>
                                      </p:tavLst>
                                    </p:anim>
                                    <p:animEffect transition="in" filter="fade">
                                      <p:cBhvr>
                                        <p:cTn id="136" dur="500"/>
                                        <p:tgtEl>
                                          <p:spTgt spid="48"/>
                                        </p:tgtEl>
                                      </p:cBhvr>
                                    </p:animEffect>
                                  </p:childTnLst>
                                </p:cTn>
                              </p:par>
                            </p:childTnLst>
                          </p:cTn>
                        </p:par>
                        <p:par>
                          <p:cTn id="137" fill="hold">
                            <p:stCondLst>
                              <p:cond delay="4500"/>
                            </p:stCondLst>
                            <p:childTnLst>
                              <p:par>
                                <p:cTn id="138" presetID="53" presetClass="entr" presetSubtype="16" fill="hold" grpId="0" nodeType="afterEffect">
                                  <p:stCondLst>
                                    <p:cond delay="0"/>
                                  </p:stCondLst>
                                  <p:childTnLst>
                                    <p:set>
                                      <p:cBhvr>
                                        <p:cTn id="139" dur="1" fill="hold">
                                          <p:stCondLst>
                                            <p:cond delay="0"/>
                                          </p:stCondLst>
                                        </p:cTn>
                                        <p:tgtEl>
                                          <p:spTgt spid="43"/>
                                        </p:tgtEl>
                                        <p:attrNameLst>
                                          <p:attrName>style.visibility</p:attrName>
                                        </p:attrNameLst>
                                      </p:cBhvr>
                                      <p:to>
                                        <p:strVal val="visible"/>
                                      </p:to>
                                    </p:set>
                                    <p:anim calcmode="lin" valueType="num">
                                      <p:cBhvr>
                                        <p:cTn id="140" dur="500" fill="hold"/>
                                        <p:tgtEl>
                                          <p:spTgt spid="43"/>
                                        </p:tgtEl>
                                        <p:attrNameLst>
                                          <p:attrName>ppt_w</p:attrName>
                                        </p:attrNameLst>
                                      </p:cBhvr>
                                      <p:tavLst>
                                        <p:tav tm="0">
                                          <p:val>
                                            <p:fltVal val="0"/>
                                          </p:val>
                                        </p:tav>
                                        <p:tav tm="100000">
                                          <p:val>
                                            <p:strVal val="#ppt_w"/>
                                          </p:val>
                                        </p:tav>
                                      </p:tavLst>
                                    </p:anim>
                                    <p:anim calcmode="lin" valueType="num">
                                      <p:cBhvr>
                                        <p:cTn id="141" dur="500" fill="hold"/>
                                        <p:tgtEl>
                                          <p:spTgt spid="43"/>
                                        </p:tgtEl>
                                        <p:attrNameLst>
                                          <p:attrName>ppt_h</p:attrName>
                                        </p:attrNameLst>
                                      </p:cBhvr>
                                      <p:tavLst>
                                        <p:tav tm="0">
                                          <p:val>
                                            <p:fltVal val="0"/>
                                          </p:val>
                                        </p:tav>
                                        <p:tav tm="100000">
                                          <p:val>
                                            <p:strVal val="#ppt_h"/>
                                          </p:val>
                                        </p:tav>
                                      </p:tavLst>
                                    </p:anim>
                                    <p:animEffect transition="in" filter="fade">
                                      <p:cBhvr>
                                        <p:cTn id="142" dur="500"/>
                                        <p:tgtEl>
                                          <p:spTgt spid="43"/>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49"/>
                                        </p:tgtEl>
                                        <p:attrNameLst>
                                          <p:attrName>style.visibility</p:attrName>
                                        </p:attrNameLst>
                                      </p:cBhvr>
                                      <p:to>
                                        <p:strVal val="visible"/>
                                      </p:to>
                                    </p:set>
                                    <p:animEffect transition="in" filter="wipe(up)">
                                      <p:cBhvr>
                                        <p:cTn id="147" dur="1000"/>
                                        <p:tgtEl>
                                          <p:spTgt spid="49"/>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50"/>
                                        </p:tgtEl>
                                        <p:attrNameLst>
                                          <p:attrName>style.visibility</p:attrName>
                                        </p:attrNameLst>
                                      </p:cBhvr>
                                      <p:to>
                                        <p:strVal val="visible"/>
                                      </p:to>
                                    </p:set>
                                    <p:animEffect transition="in" filter="wipe(up)">
                                      <p:cBhvr>
                                        <p:cTn id="152" dur="1500"/>
                                        <p:tgtEl>
                                          <p:spTgt spid="50"/>
                                        </p:tgtEl>
                                      </p:cBhvr>
                                    </p:animEffect>
                                  </p:childTnLst>
                                </p:cTn>
                              </p:par>
                            </p:childTnLst>
                          </p:cTn>
                        </p:par>
                        <p:par>
                          <p:cTn id="153" fill="hold">
                            <p:stCondLst>
                              <p:cond delay="1500"/>
                            </p:stCondLst>
                            <p:childTnLst>
                              <p:par>
                                <p:cTn id="154" presetID="22" presetClass="entr" presetSubtype="8" fill="hold" nodeType="afterEffect">
                                  <p:stCondLst>
                                    <p:cond delay="0"/>
                                  </p:stCondLst>
                                  <p:childTnLst>
                                    <p:set>
                                      <p:cBhvr>
                                        <p:cTn id="155" dur="1" fill="hold">
                                          <p:stCondLst>
                                            <p:cond delay="0"/>
                                          </p:stCondLst>
                                        </p:cTn>
                                        <p:tgtEl>
                                          <p:spTgt spid="51"/>
                                        </p:tgtEl>
                                        <p:attrNameLst>
                                          <p:attrName>style.visibility</p:attrName>
                                        </p:attrNameLst>
                                      </p:cBhvr>
                                      <p:to>
                                        <p:strVal val="visible"/>
                                      </p:to>
                                    </p:set>
                                    <p:animEffect transition="in" filter="wipe(left)">
                                      <p:cBhvr>
                                        <p:cTn id="156" dur="500"/>
                                        <p:tgtEl>
                                          <p:spTgt spid="51"/>
                                        </p:tgtEl>
                                      </p:cBhvr>
                                    </p:animEffect>
                                  </p:childTnLst>
                                </p:cTn>
                              </p:par>
                            </p:childTnLst>
                          </p:cTn>
                        </p:par>
                        <p:par>
                          <p:cTn id="157" fill="hold">
                            <p:stCondLst>
                              <p:cond delay="2000"/>
                            </p:stCondLst>
                            <p:childTnLst>
                              <p:par>
                                <p:cTn id="158" presetID="53" presetClass="entr" presetSubtype="16" fill="hold" grpId="0" nodeType="afterEffect">
                                  <p:stCondLst>
                                    <p:cond delay="0"/>
                                  </p:stCondLst>
                                  <p:childTnLst>
                                    <p:set>
                                      <p:cBhvr>
                                        <p:cTn id="159" dur="1" fill="hold">
                                          <p:stCondLst>
                                            <p:cond delay="0"/>
                                          </p:stCondLst>
                                        </p:cTn>
                                        <p:tgtEl>
                                          <p:spTgt spid="53"/>
                                        </p:tgtEl>
                                        <p:attrNameLst>
                                          <p:attrName>style.visibility</p:attrName>
                                        </p:attrNameLst>
                                      </p:cBhvr>
                                      <p:to>
                                        <p:strVal val="visible"/>
                                      </p:to>
                                    </p:set>
                                    <p:anim calcmode="lin" valueType="num">
                                      <p:cBhvr>
                                        <p:cTn id="160" dur="500" fill="hold"/>
                                        <p:tgtEl>
                                          <p:spTgt spid="53"/>
                                        </p:tgtEl>
                                        <p:attrNameLst>
                                          <p:attrName>ppt_w</p:attrName>
                                        </p:attrNameLst>
                                      </p:cBhvr>
                                      <p:tavLst>
                                        <p:tav tm="0">
                                          <p:val>
                                            <p:fltVal val="0"/>
                                          </p:val>
                                        </p:tav>
                                        <p:tav tm="100000">
                                          <p:val>
                                            <p:strVal val="#ppt_w"/>
                                          </p:val>
                                        </p:tav>
                                      </p:tavLst>
                                    </p:anim>
                                    <p:anim calcmode="lin" valueType="num">
                                      <p:cBhvr>
                                        <p:cTn id="161" dur="500" fill="hold"/>
                                        <p:tgtEl>
                                          <p:spTgt spid="53"/>
                                        </p:tgtEl>
                                        <p:attrNameLst>
                                          <p:attrName>ppt_h</p:attrName>
                                        </p:attrNameLst>
                                      </p:cBhvr>
                                      <p:tavLst>
                                        <p:tav tm="0">
                                          <p:val>
                                            <p:fltVal val="0"/>
                                          </p:val>
                                        </p:tav>
                                        <p:tav tm="100000">
                                          <p:val>
                                            <p:strVal val="#ppt_h"/>
                                          </p:val>
                                        </p:tav>
                                      </p:tavLst>
                                    </p:anim>
                                    <p:animEffect transition="in" filter="fade">
                                      <p:cBhvr>
                                        <p:cTn id="162" dur="500"/>
                                        <p:tgtEl>
                                          <p:spTgt spid="53"/>
                                        </p:tgtEl>
                                      </p:cBhvr>
                                    </p:animEffect>
                                  </p:childTnLst>
                                </p:cTn>
                              </p:par>
                            </p:childTnLst>
                          </p:cTn>
                        </p:par>
                        <p:par>
                          <p:cTn id="163" fill="hold">
                            <p:stCondLst>
                              <p:cond delay="2500"/>
                            </p:stCondLst>
                            <p:childTnLst>
                              <p:par>
                                <p:cTn id="164" presetID="53" presetClass="entr" presetSubtype="16" fill="hold" grpId="0" nodeType="afterEffect">
                                  <p:stCondLst>
                                    <p:cond delay="0"/>
                                  </p:stCondLst>
                                  <p:childTnLst>
                                    <p:set>
                                      <p:cBhvr>
                                        <p:cTn id="165" dur="1" fill="hold">
                                          <p:stCondLst>
                                            <p:cond delay="0"/>
                                          </p:stCondLst>
                                        </p:cTn>
                                        <p:tgtEl>
                                          <p:spTgt spid="54"/>
                                        </p:tgtEl>
                                        <p:attrNameLst>
                                          <p:attrName>style.visibility</p:attrName>
                                        </p:attrNameLst>
                                      </p:cBhvr>
                                      <p:to>
                                        <p:strVal val="visible"/>
                                      </p:to>
                                    </p:set>
                                    <p:anim calcmode="lin" valueType="num">
                                      <p:cBhvr>
                                        <p:cTn id="166" dur="500" fill="hold"/>
                                        <p:tgtEl>
                                          <p:spTgt spid="54"/>
                                        </p:tgtEl>
                                        <p:attrNameLst>
                                          <p:attrName>ppt_w</p:attrName>
                                        </p:attrNameLst>
                                      </p:cBhvr>
                                      <p:tavLst>
                                        <p:tav tm="0">
                                          <p:val>
                                            <p:fltVal val="0"/>
                                          </p:val>
                                        </p:tav>
                                        <p:tav tm="100000">
                                          <p:val>
                                            <p:strVal val="#ppt_w"/>
                                          </p:val>
                                        </p:tav>
                                      </p:tavLst>
                                    </p:anim>
                                    <p:anim calcmode="lin" valueType="num">
                                      <p:cBhvr>
                                        <p:cTn id="167" dur="500" fill="hold"/>
                                        <p:tgtEl>
                                          <p:spTgt spid="54"/>
                                        </p:tgtEl>
                                        <p:attrNameLst>
                                          <p:attrName>ppt_h</p:attrName>
                                        </p:attrNameLst>
                                      </p:cBhvr>
                                      <p:tavLst>
                                        <p:tav tm="0">
                                          <p:val>
                                            <p:fltVal val="0"/>
                                          </p:val>
                                        </p:tav>
                                        <p:tav tm="100000">
                                          <p:val>
                                            <p:strVal val="#ppt_h"/>
                                          </p:val>
                                        </p:tav>
                                      </p:tavLst>
                                    </p:anim>
                                    <p:animEffect transition="in" filter="fade">
                                      <p:cBhvr>
                                        <p:cTn id="168" dur="500"/>
                                        <p:tgtEl>
                                          <p:spTgt spid="54"/>
                                        </p:tgtEl>
                                      </p:cBhvr>
                                    </p:animEffect>
                                  </p:childTnLst>
                                </p:cTn>
                              </p:par>
                            </p:childTnLst>
                          </p:cTn>
                        </p:par>
                        <p:par>
                          <p:cTn id="169" fill="hold">
                            <p:stCondLst>
                              <p:cond delay="3000"/>
                            </p:stCondLst>
                            <p:childTnLst>
                              <p:par>
                                <p:cTn id="170" presetID="53" presetClass="entr" presetSubtype="16" fill="hold" grpId="0" nodeType="afterEffect">
                                  <p:stCondLst>
                                    <p:cond delay="0"/>
                                  </p:stCondLst>
                                  <p:childTnLst>
                                    <p:set>
                                      <p:cBhvr>
                                        <p:cTn id="171" dur="1" fill="hold">
                                          <p:stCondLst>
                                            <p:cond delay="0"/>
                                          </p:stCondLst>
                                        </p:cTn>
                                        <p:tgtEl>
                                          <p:spTgt spid="55"/>
                                        </p:tgtEl>
                                        <p:attrNameLst>
                                          <p:attrName>style.visibility</p:attrName>
                                        </p:attrNameLst>
                                      </p:cBhvr>
                                      <p:to>
                                        <p:strVal val="visible"/>
                                      </p:to>
                                    </p:set>
                                    <p:anim calcmode="lin" valueType="num">
                                      <p:cBhvr>
                                        <p:cTn id="172" dur="500" fill="hold"/>
                                        <p:tgtEl>
                                          <p:spTgt spid="55"/>
                                        </p:tgtEl>
                                        <p:attrNameLst>
                                          <p:attrName>ppt_w</p:attrName>
                                        </p:attrNameLst>
                                      </p:cBhvr>
                                      <p:tavLst>
                                        <p:tav tm="0">
                                          <p:val>
                                            <p:fltVal val="0"/>
                                          </p:val>
                                        </p:tav>
                                        <p:tav tm="100000">
                                          <p:val>
                                            <p:strVal val="#ppt_w"/>
                                          </p:val>
                                        </p:tav>
                                      </p:tavLst>
                                    </p:anim>
                                    <p:anim calcmode="lin" valueType="num">
                                      <p:cBhvr>
                                        <p:cTn id="173" dur="500" fill="hold"/>
                                        <p:tgtEl>
                                          <p:spTgt spid="55"/>
                                        </p:tgtEl>
                                        <p:attrNameLst>
                                          <p:attrName>ppt_h</p:attrName>
                                        </p:attrNameLst>
                                      </p:cBhvr>
                                      <p:tavLst>
                                        <p:tav tm="0">
                                          <p:val>
                                            <p:fltVal val="0"/>
                                          </p:val>
                                        </p:tav>
                                        <p:tav tm="100000">
                                          <p:val>
                                            <p:strVal val="#ppt_h"/>
                                          </p:val>
                                        </p:tav>
                                      </p:tavLst>
                                    </p:anim>
                                    <p:animEffect transition="in" filter="fade">
                                      <p:cBhvr>
                                        <p:cTn id="174" dur="500"/>
                                        <p:tgtEl>
                                          <p:spTgt spid="55"/>
                                        </p:tgtEl>
                                      </p:cBhvr>
                                    </p:animEffect>
                                  </p:childTnLst>
                                </p:cTn>
                              </p:par>
                            </p:childTnLst>
                          </p:cTn>
                        </p:par>
                        <p:par>
                          <p:cTn id="175" fill="hold">
                            <p:stCondLst>
                              <p:cond delay="3500"/>
                            </p:stCondLst>
                            <p:childTnLst>
                              <p:par>
                                <p:cTn id="176" presetID="22" presetClass="entr" presetSubtype="4" fill="hold" nodeType="afterEffect">
                                  <p:stCondLst>
                                    <p:cond delay="0"/>
                                  </p:stCondLst>
                                  <p:childTnLst>
                                    <p:set>
                                      <p:cBhvr>
                                        <p:cTn id="177" dur="1" fill="hold">
                                          <p:stCondLst>
                                            <p:cond delay="0"/>
                                          </p:stCondLst>
                                        </p:cTn>
                                        <p:tgtEl>
                                          <p:spTgt spid="56"/>
                                        </p:tgtEl>
                                        <p:attrNameLst>
                                          <p:attrName>style.visibility</p:attrName>
                                        </p:attrNameLst>
                                      </p:cBhvr>
                                      <p:to>
                                        <p:strVal val="visible"/>
                                      </p:to>
                                    </p:set>
                                    <p:animEffect transition="in" filter="wipe(down)">
                                      <p:cBhvr>
                                        <p:cTn id="178" dur="500"/>
                                        <p:tgtEl>
                                          <p:spTgt spid="56"/>
                                        </p:tgtEl>
                                      </p:cBhvr>
                                    </p:animEffect>
                                  </p:childTnLst>
                                </p:cTn>
                              </p:par>
                            </p:childTnLst>
                          </p:cTn>
                        </p:par>
                        <p:par>
                          <p:cTn id="179" fill="hold">
                            <p:stCondLst>
                              <p:cond delay="4000"/>
                            </p:stCondLst>
                            <p:childTnLst>
                              <p:par>
                                <p:cTn id="180" presetID="53" presetClass="entr" presetSubtype="16" fill="hold" grpId="0" nodeType="afterEffect">
                                  <p:stCondLst>
                                    <p:cond delay="0"/>
                                  </p:stCondLst>
                                  <p:childTnLst>
                                    <p:set>
                                      <p:cBhvr>
                                        <p:cTn id="181" dur="1" fill="hold">
                                          <p:stCondLst>
                                            <p:cond delay="0"/>
                                          </p:stCondLst>
                                        </p:cTn>
                                        <p:tgtEl>
                                          <p:spTgt spid="57"/>
                                        </p:tgtEl>
                                        <p:attrNameLst>
                                          <p:attrName>style.visibility</p:attrName>
                                        </p:attrNameLst>
                                      </p:cBhvr>
                                      <p:to>
                                        <p:strVal val="visible"/>
                                      </p:to>
                                    </p:set>
                                    <p:anim calcmode="lin" valueType="num">
                                      <p:cBhvr>
                                        <p:cTn id="182" dur="500" fill="hold"/>
                                        <p:tgtEl>
                                          <p:spTgt spid="57"/>
                                        </p:tgtEl>
                                        <p:attrNameLst>
                                          <p:attrName>ppt_w</p:attrName>
                                        </p:attrNameLst>
                                      </p:cBhvr>
                                      <p:tavLst>
                                        <p:tav tm="0">
                                          <p:val>
                                            <p:fltVal val="0"/>
                                          </p:val>
                                        </p:tav>
                                        <p:tav tm="100000">
                                          <p:val>
                                            <p:strVal val="#ppt_w"/>
                                          </p:val>
                                        </p:tav>
                                      </p:tavLst>
                                    </p:anim>
                                    <p:anim calcmode="lin" valueType="num">
                                      <p:cBhvr>
                                        <p:cTn id="183" dur="500" fill="hold"/>
                                        <p:tgtEl>
                                          <p:spTgt spid="57"/>
                                        </p:tgtEl>
                                        <p:attrNameLst>
                                          <p:attrName>ppt_h</p:attrName>
                                        </p:attrNameLst>
                                      </p:cBhvr>
                                      <p:tavLst>
                                        <p:tav tm="0">
                                          <p:val>
                                            <p:fltVal val="0"/>
                                          </p:val>
                                        </p:tav>
                                        <p:tav tm="100000">
                                          <p:val>
                                            <p:strVal val="#ppt_h"/>
                                          </p:val>
                                        </p:tav>
                                      </p:tavLst>
                                    </p:anim>
                                    <p:animEffect transition="in" filter="fade">
                                      <p:cBhvr>
                                        <p:cTn id="184" dur="500"/>
                                        <p:tgtEl>
                                          <p:spTgt spid="57"/>
                                        </p:tgtEl>
                                      </p:cBhvr>
                                    </p:animEffect>
                                  </p:childTnLst>
                                </p:cTn>
                              </p:par>
                            </p:childTnLst>
                          </p:cTn>
                        </p:par>
                        <p:par>
                          <p:cTn id="185" fill="hold">
                            <p:stCondLst>
                              <p:cond delay="4500"/>
                            </p:stCondLst>
                            <p:childTnLst>
                              <p:par>
                                <p:cTn id="186" presetID="53" presetClass="entr" presetSubtype="16" fill="hold" grpId="0" nodeType="afterEffect">
                                  <p:stCondLst>
                                    <p:cond delay="0"/>
                                  </p:stCondLst>
                                  <p:childTnLst>
                                    <p:set>
                                      <p:cBhvr>
                                        <p:cTn id="187" dur="1" fill="hold">
                                          <p:stCondLst>
                                            <p:cond delay="0"/>
                                          </p:stCondLst>
                                        </p:cTn>
                                        <p:tgtEl>
                                          <p:spTgt spid="52"/>
                                        </p:tgtEl>
                                        <p:attrNameLst>
                                          <p:attrName>style.visibility</p:attrName>
                                        </p:attrNameLst>
                                      </p:cBhvr>
                                      <p:to>
                                        <p:strVal val="visible"/>
                                      </p:to>
                                    </p:set>
                                    <p:anim calcmode="lin" valueType="num">
                                      <p:cBhvr>
                                        <p:cTn id="188" dur="500" fill="hold"/>
                                        <p:tgtEl>
                                          <p:spTgt spid="52"/>
                                        </p:tgtEl>
                                        <p:attrNameLst>
                                          <p:attrName>ppt_w</p:attrName>
                                        </p:attrNameLst>
                                      </p:cBhvr>
                                      <p:tavLst>
                                        <p:tav tm="0">
                                          <p:val>
                                            <p:fltVal val="0"/>
                                          </p:val>
                                        </p:tav>
                                        <p:tav tm="100000">
                                          <p:val>
                                            <p:strVal val="#ppt_w"/>
                                          </p:val>
                                        </p:tav>
                                      </p:tavLst>
                                    </p:anim>
                                    <p:anim calcmode="lin" valueType="num">
                                      <p:cBhvr>
                                        <p:cTn id="189" dur="500" fill="hold"/>
                                        <p:tgtEl>
                                          <p:spTgt spid="52"/>
                                        </p:tgtEl>
                                        <p:attrNameLst>
                                          <p:attrName>ppt_h</p:attrName>
                                        </p:attrNameLst>
                                      </p:cBhvr>
                                      <p:tavLst>
                                        <p:tav tm="0">
                                          <p:val>
                                            <p:fltVal val="0"/>
                                          </p:val>
                                        </p:tav>
                                        <p:tav tm="100000">
                                          <p:val>
                                            <p:strVal val="#ppt_h"/>
                                          </p:val>
                                        </p:tav>
                                      </p:tavLst>
                                    </p:anim>
                                    <p:animEffect transition="in" filter="fade">
                                      <p:cBhvr>
                                        <p:cTn id="190" dur="500"/>
                                        <p:tgtEl>
                                          <p:spTgt spid="52"/>
                                        </p:tgtEl>
                                      </p:cBhvr>
                                    </p:animEffect>
                                  </p:childTnLst>
                                </p:cTn>
                              </p:par>
                            </p:childTnLst>
                          </p:cTn>
                        </p:par>
                      </p:childTnLst>
                    </p:cTn>
                  </p:par>
                  <p:par>
                    <p:cTn id="191" fill="hold">
                      <p:stCondLst>
                        <p:cond delay="indefinite"/>
                      </p:stCondLst>
                      <p:childTnLst>
                        <p:par>
                          <p:cTn id="192" fill="hold">
                            <p:stCondLst>
                              <p:cond delay="0"/>
                            </p:stCondLst>
                            <p:childTnLst>
                              <p:par>
                                <p:cTn id="193" presetID="42" presetClass="entr" presetSubtype="0" fill="hold" grpId="0" nodeType="clickEffect">
                                  <p:stCondLst>
                                    <p:cond delay="0"/>
                                  </p:stCondLst>
                                  <p:childTnLst>
                                    <p:set>
                                      <p:cBhvr>
                                        <p:cTn id="194" dur="1" fill="hold">
                                          <p:stCondLst>
                                            <p:cond delay="0"/>
                                          </p:stCondLst>
                                        </p:cTn>
                                        <p:tgtEl>
                                          <p:spTgt spid="58"/>
                                        </p:tgtEl>
                                        <p:attrNameLst>
                                          <p:attrName>style.visibility</p:attrName>
                                        </p:attrNameLst>
                                      </p:cBhvr>
                                      <p:to>
                                        <p:strVal val="visible"/>
                                      </p:to>
                                    </p:set>
                                    <p:animEffect transition="in" filter="fade">
                                      <p:cBhvr>
                                        <p:cTn id="195" dur="1000"/>
                                        <p:tgtEl>
                                          <p:spTgt spid="58"/>
                                        </p:tgtEl>
                                      </p:cBhvr>
                                    </p:animEffect>
                                    <p:anim calcmode="lin" valueType="num">
                                      <p:cBhvr>
                                        <p:cTn id="196" dur="1000" fill="hold"/>
                                        <p:tgtEl>
                                          <p:spTgt spid="58"/>
                                        </p:tgtEl>
                                        <p:attrNameLst>
                                          <p:attrName>ppt_x</p:attrName>
                                        </p:attrNameLst>
                                      </p:cBhvr>
                                      <p:tavLst>
                                        <p:tav tm="0">
                                          <p:val>
                                            <p:strVal val="#ppt_x"/>
                                          </p:val>
                                        </p:tav>
                                        <p:tav tm="100000">
                                          <p:val>
                                            <p:strVal val="#ppt_x"/>
                                          </p:val>
                                        </p:tav>
                                      </p:tavLst>
                                    </p:anim>
                                    <p:anim calcmode="lin" valueType="num">
                                      <p:cBhvr>
                                        <p:cTn id="197" dur="1000" fill="hold"/>
                                        <p:tgtEl>
                                          <p:spTgt spid="58"/>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47" presetClass="entr" presetSubtype="0" fill="hold" grpId="0" nodeType="clickEffect">
                                  <p:stCondLst>
                                    <p:cond delay="0"/>
                                  </p:stCondLst>
                                  <p:childTnLst>
                                    <p:set>
                                      <p:cBhvr>
                                        <p:cTn id="201" dur="1" fill="hold">
                                          <p:stCondLst>
                                            <p:cond delay="0"/>
                                          </p:stCondLst>
                                        </p:cTn>
                                        <p:tgtEl>
                                          <p:spTgt spid="59"/>
                                        </p:tgtEl>
                                        <p:attrNameLst>
                                          <p:attrName>style.visibility</p:attrName>
                                        </p:attrNameLst>
                                      </p:cBhvr>
                                      <p:to>
                                        <p:strVal val="visible"/>
                                      </p:to>
                                    </p:set>
                                    <p:animEffect transition="in" filter="fade">
                                      <p:cBhvr>
                                        <p:cTn id="202" dur="1500"/>
                                        <p:tgtEl>
                                          <p:spTgt spid="59"/>
                                        </p:tgtEl>
                                      </p:cBhvr>
                                    </p:animEffect>
                                    <p:anim calcmode="lin" valueType="num">
                                      <p:cBhvr>
                                        <p:cTn id="203" dur="1500" fill="hold"/>
                                        <p:tgtEl>
                                          <p:spTgt spid="59"/>
                                        </p:tgtEl>
                                        <p:attrNameLst>
                                          <p:attrName>ppt_x</p:attrName>
                                        </p:attrNameLst>
                                      </p:cBhvr>
                                      <p:tavLst>
                                        <p:tav tm="0">
                                          <p:val>
                                            <p:strVal val="#ppt_x"/>
                                          </p:val>
                                        </p:tav>
                                        <p:tav tm="100000">
                                          <p:val>
                                            <p:strVal val="#ppt_x"/>
                                          </p:val>
                                        </p:tav>
                                      </p:tavLst>
                                    </p:anim>
                                    <p:anim calcmode="lin" valueType="num">
                                      <p:cBhvr>
                                        <p:cTn id="204" dur="15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205" fill="hold">
                      <p:stCondLst>
                        <p:cond delay="indefinite"/>
                      </p:stCondLst>
                      <p:childTnLst>
                        <p:par>
                          <p:cTn id="206" fill="hold">
                            <p:stCondLst>
                              <p:cond delay="0"/>
                            </p:stCondLst>
                            <p:childTnLst>
                              <p:par>
                                <p:cTn id="207" presetID="22" presetClass="entr" presetSubtype="8" fill="hold" nodeType="clickEffect">
                                  <p:stCondLst>
                                    <p:cond delay="0"/>
                                  </p:stCondLst>
                                  <p:childTnLst>
                                    <p:set>
                                      <p:cBhvr>
                                        <p:cTn id="208" dur="1" fill="hold">
                                          <p:stCondLst>
                                            <p:cond delay="0"/>
                                          </p:stCondLst>
                                        </p:cTn>
                                        <p:tgtEl>
                                          <p:spTgt spid="60"/>
                                        </p:tgtEl>
                                        <p:attrNameLst>
                                          <p:attrName>style.visibility</p:attrName>
                                        </p:attrNameLst>
                                      </p:cBhvr>
                                      <p:to>
                                        <p:strVal val="visible"/>
                                      </p:to>
                                    </p:set>
                                    <p:animEffect transition="in" filter="wipe(left)">
                                      <p:cBhvr>
                                        <p:cTn id="209"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8" grpId="0" animBg="1"/>
      <p:bldP spid="29" grpId="0" animBg="1"/>
      <p:bldP spid="30" grpId="0" animBg="1"/>
      <p:bldP spid="32" grpId="0" animBg="1"/>
      <p:bldP spid="33" grpId="0"/>
      <p:bldP spid="34" grpId="0"/>
      <p:bldP spid="35" grpId="0" animBg="1"/>
      <p:bldP spid="36" grpId="0" animBg="1"/>
      <p:bldP spid="37" grpId="0" animBg="1"/>
      <p:bldP spid="38" grpId="0" animBg="1"/>
      <p:bldP spid="40" grpId="0" animBg="1"/>
      <p:bldP spid="41" grpId="0"/>
      <p:bldP spid="42" grpId="0"/>
      <p:bldP spid="43" grpId="0" animBg="1"/>
      <p:bldP spid="44" grpId="0" animBg="1"/>
      <p:bldP spid="45" grpId="0" animBg="1"/>
      <p:bldP spid="46" grpId="0" animBg="1"/>
      <p:bldP spid="48" grpId="0" animBg="1"/>
      <p:bldP spid="49" grpId="0"/>
      <p:bldP spid="50" grpId="0"/>
      <p:bldP spid="52" grpId="0" animBg="1"/>
      <p:bldP spid="53" grpId="0" animBg="1"/>
      <p:bldP spid="54" grpId="0" animBg="1"/>
      <p:bldP spid="55" grpId="0" animBg="1"/>
      <p:bldP spid="57" grpId="0" animBg="1"/>
      <p:bldP spid="58" grpId="0"/>
      <p:bldP spid="59"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78234" y="3704522"/>
            <a:ext cx="7966123" cy="2739211"/>
          </a:xfrm>
          <a:prstGeom prst="rect">
            <a:avLst/>
          </a:prstGeom>
          <a:noFill/>
        </p:spPr>
        <p:txBody>
          <a:bodyPr wrap="square" rtlCol="1">
            <a:spAutoFit/>
          </a:bodyPr>
          <a:lstStyle/>
          <a:p>
            <a:pPr algn="r"/>
            <a:r>
              <a:rPr lang="fa-IR" sz="2800" b="1" dirty="0">
                <a:cs typeface="2  Nazanin" panose="00000400000000000000" pitchFamily="2" charset="-78"/>
              </a:rPr>
              <a:t>کاشی سرامیکی</a:t>
            </a:r>
          </a:p>
          <a:p>
            <a:pPr algn="r"/>
            <a:r>
              <a:rPr lang="fa-IR" sz="2400" dirty="0">
                <a:cs typeface="2  Nazanin" panose="00000400000000000000" pitchFamily="2" charset="-78"/>
              </a:rPr>
              <a:t>كاشي سراميكي فرآوردهاي است كه با خواص و سامانههاي مختلف توليد ميگردد و به طور معمول براي پوشش ديوار، كف و تزيين سطوح داخـل و خـارج برخـي اجـزاي سـاختماني و همچنـين حـوضهـا و استخرها به كار برده ميشود. </a:t>
            </a:r>
          </a:p>
          <a:p>
            <a:pPr algn="r"/>
            <a:r>
              <a:rPr lang="fa-IR" sz="2400" dirty="0">
                <a:cs typeface="2  Nazanin" panose="00000400000000000000" pitchFamily="2" charset="-78"/>
              </a:rPr>
              <a:t>مواد اولية توليد كاشـي عبـارت اسـت از: كـائولن، خـاك رس، بـالكلـي، فلدسپات، دولوميت، شاموت و برخي كانيهاي ديگر كه به صورت دانه هاي كوچكتـر از 1/0 ميلـيمتـر درميآيند. در برخي از كاشيها از مواد رنگي نيز استفاده ميشود</a:t>
            </a:r>
          </a:p>
        </p:txBody>
      </p:sp>
      <p:pic>
        <p:nvPicPr>
          <p:cNvPr id="16" name="Picture 15">
            <a:extLst>
              <a:ext uri="{FF2B5EF4-FFF2-40B4-BE49-F238E27FC236}">
                <a16:creationId xmlns:a16="http://schemas.microsoft.com/office/drawing/2014/main" id="{2E882FF8-1357-43BC-8D76-E8091D14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08" y="3978477"/>
            <a:ext cx="3616470" cy="2708862"/>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17570"/>
            <a:ext cx="12192000" cy="7550727"/>
            <a:chOff x="0" y="0"/>
            <a:chExt cx="12192000" cy="7550727"/>
          </a:xfrm>
          <a:solidFill>
            <a:srgbClr val="F9F1E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9317"/>
            <a:ext cx="12192000" cy="7550727"/>
            <a:chOff x="0" y="0"/>
            <a:chExt cx="12192000" cy="7550727"/>
          </a:xfrm>
          <a:solidFill>
            <a:srgbClr val="E5CB8E"/>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BAB54"/>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AA3D16"/>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DE18EA47-E428-42D2-B1CF-0D220B5E4C82}"/>
              </a:ext>
            </a:extLst>
          </p:cNvPr>
          <p:cNvSpPr txBox="1"/>
          <p:nvPr/>
        </p:nvSpPr>
        <p:spPr>
          <a:xfrm>
            <a:off x="3912486" y="2282491"/>
            <a:ext cx="8123533" cy="4493538"/>
          </a:xfrm>
          <a:prstGeom prst="rect">
            <a:avLst/>
          </a:prstGeom>
          <a:noFill/>
        </p:spPr>
        <p:txBody>
          <a:bodyPr wrap="square" rtlCol="1">
            <a:spAutoFit/>
          </a:bodyPr>
          <a:lstStyle/>
          <a:p>
            <a:pPr algn="r"/>
            <a:r>
              <a:rPr lang="fa-IR" sz="2400" dirty="0">
                <a:cs typeface="2  Nazanin" panose="00000400000000000000" pitchFamily="2" charset="-78"/>
              </a:rPr>
              <a:t> </a:t>
            </a:r>
            <a:r>
              <a:rPr lang="fa-IR" sz="2200" dirty="0">
                <a:cs typeface="2  Nazanin" panose="00000400000000000000" pitchFamily="2" charset="-78"/>
              </a:rPr>
              <a:t>كاشي هاي سـراميكي ضـدباكتري بـا خاصـيت خـود تميزشـوندگي هستند كه در سطح آنها از پوششهاي فوتوكاتاليستي همچون پوشـشهـاي حـاوي نانواكسـيدتيتانيوم استفاده ميگردد</a:t>
            </a:r>
          </a:p>
          <a:p>
            <a:pPr algn="r"/>
            <a:r>
              <a:rPr lang="fa-IR" sz="2200" dirty="0">
                <a:cs typeface="2  Nazanin" panose="00000400000000000000" pitchFamily="2" charset="-78"/>
              </a:rPr>
              <a:t>كاشي هاي ضداسيد (مقاوم در برابر اسيد) محصولاتي بدون لعاب با جذب آب متوسط می باشندكـه داراي اسـتحكام بـالا و مقاومـت در برابـر اسـيدها (بـه جـز اسـيدفلوئوريدريك) هستند.</a:t>
            </a:r>
          </a:p>
          <a:p>
            <a:pPr algn="r"/>
            <a:r>
              <a:rPr lang="fa-IR" sz="2200" b="1" dirty="0">
                <a:cs typeface="2  Nazanin" panose="00000400000000000000" pitchFamily="2" charset="-78"/>
              </a:rPr>
              <a:t>آزمايش هاي </a:t>
            </a:r>
          </a:p>
          <a:p>
            <a:pPr algn="r"/>
            <a:r>
              <a:rPr lang="fa-IR" sz="2200" dirty="0">
                <a:cs typeface="2  Nazanin" panose="00000400000000000000" pitchFamily="2" charset="-78"/>
              </a:rPr>
              <a:t> اندازهگيري طول و عـرض، ضـخامت، مسـتقيم بـودن اضلاع، گونيا بودن اضلاع، تخت بودن سـطح، كيفيـت سـطح، جـذب آب، نيـروي شكسـت، مـدول گسيختگي، مقاومت در برابر سايش عمقي (كاشي هاي بدون لعاب)، مقاومت در برابر سايش سطحي ضريب انبساط حرارتي خطي، مقاومت در برابر شوك حرارتي، مقاومت در برابر ترك سطحي در برابر حرارت و رطوبت  مقاومـت در برابـريـخزدگـي، ضـريب اصطكاك (لغزندگي)، انبساط رطوبتي، تفاوت رنگ جزئي كاشيها، مقاومت در برابر ضربه،  مقاومـت در برابر لكه گذاري، مقاومت در برابر مواد شيميايي، ميزان سرب و كادميم آزاد شده از سطح كاشي می باشد</a:t>
            </a:r>
          </a:p>
        </p:txBody>
      </p:sp>
      <p:pic>
        <p:nvPicPr>
          <p:cNvPr id="18" name="Picture 17">
            <a:extLst>
              <a:ext uri="{FF2B5EF4-FFF2-40B4-BE49-F238E27FC236}">
                <a16:creationId xmlns:a16="http://schemas.microsoft.com/office/drawing/2014/main" id="{BBFA8FD4-3397-4326-8FC7-D3E1C4028A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870" y="1937415"/>
            <a:ext cx="3424608" cy="2380675"/>
          </a:xfrm>
          <a:prstGeom prst="rect">
            <a:avLst/>
          </a:prstGeom>
        </p:spPr>
      </p:pic>
      <p:pic>
        <p:nvPicPr>
          <p:cNvPr id="20" name="Picture 19">
            <a:extLst>
              <a:ext uri="{FF2B5EF4-FFF2-40B4-BE49-F238E27FC236}">
                <a16:creationId xmlns:a16="http://schemas.microsoft.com/office/drawing/2014/main" id="{5461A746-70EB-457D-A110-E52AD6E5F5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870" y="4724942"/>
            <a:ext cx="3572616" cy="1982149"/>
          </a:xfrm>
          <a:prstGeom prst="rect">
            <a:avLst/>
          </a:prstGeom>
        </p:spPr>
      </p:pic>
    </p:spTree>
    <p:extLst>
      <p:ext uri="{BB962C8B-B14F-4D97-AF65-F5344CB8AC3E}">
        <p14:creationId xmlns:p14="http://schemas.microsoft.com/office/powerpoint/2010/main" val="14746512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78234" y="3704522"/>
            <a:ext cx="7966123" cy="2739211"/>
          </a:xfrm>
          <a:prstGeom prst="rect">
            <a:avLst/>
          </a:prstGeom>
          <a:noFill/>
        </p:spPr>
        <p:txBody>
          <a:bodyPr wrap="square" rtlCol="1">
            <a:spAutoFit/>
          </a:bodyPr>
          <a:lstStyle/>
          <a:p>
            <a:pPr algn="r"/>
            <a:r>
              <a:rPr lang="fa-IR" sz="2800" b="1" dirty="0">
                <a:cs typeface="2  Nazanin" panose="00000400000000000000" pitchFamily="2" charset="-78"/>
              </a:rPr>
              <a:t>کاشی سرامیکی</a:t>
            </a:r>
          </a:p>
          <a:p>
            <a:pPr algn="r"/>
            <a:r>
              <a:rPr lang="fa-IR" sz="2400" dirty="0">
                <a:cs typeface="2  Nazanin" panose="00000400000000000000" pitchFamily="2" charset="-78"/>
              </a:rPr>
              <a:t>كاشي سراميكي فرآوردهاي است كه با خواص و سامانههاي مختلف توليد ميگردد و به طور معمول براي پوشش ديوار، كف و تزيين سطوح داخـل و خـارج برخـي اجـزاي سـاختماني و همچنـين حـوضهـا و استخرها به كار برده ميشود. </a:t>
            </a:r>
          </a:p>
          <a:p>
            <a:pPr algn="r"/>
            <a:r>
              <a:rPr lang="fa-IR" sz="2400" dirty="0">
                <a:cs typeface="2  Nazanin" panose="00000400000000000000" pitchFamily="2" charset="-78"/>
              </a:rPr>
              <a:t>مواد اولية توليد كاشـي عبـارت اسـت از: كـائولن، خـاك رس، بـالكلـي، فلدسپات، دولوميت، شاموت و برخي كانيهاي ديگر كه به صورت دانه هاي كوچكتـر از 1/0 ميلـيمتـر درميآيند. در برخي از كاشيها از مواد رنگي نيز استفاده ميشود</a:t>
            </a:r>
          </a:p>
        </p:txBody>
      </p:sp>
      <p:pic>
        <p:nvPicPr>
          <p:cNvPr id="16" name="Picture 15">
            <a:extLst>
              <a:ext uri="{FF2B5EF4-FFF2-40B4-BE49-F238E27FC236}">
                <a16:creationId xmlns:a16="http://schemas.microsoft.com/office/drawing/2014/main" id="{2E882FF8-1357-43BC-8D76-E8091D14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08" y="3978477"/>
            <a:ext cx="3616470" cy="2708862"/>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17570"/>
            <a:ext cx="12192000" cy="7550727"/>
            <a:chOff x="0" y="0"/>
            <a:chExt cx="12192000" cy="7550727"/>
          </a:xfrm>
          <a:solidFill>
            <a:srgbClr val="F9F1E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17570"/>
            <a:ext cx="12192000" cy="7550727"/>
            <a:chOff x="0" y="0"/>
            <a:chExt cx="12192000" cy="7550727"/>
          </a:xfrm>
          <a:solidFill>
            <a:srgbClr val="E5CB8E"/>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DE18EA47-E428-42D2-B1CF-0D220B5E4C82}"/>
              </a:ext>
            </a:extLst>
          </p:cNvPr>
          <p:cNvSpPr txBox="1"/>
          <p:nvPr/>
        </p:nvSpPr>
        <p:spPr>
          <a:xfrm>
            <a:off x="4714504" y="2303906"/>
            <a:ext cx="7030193" cy="3785652"/>
          </a:xfrm>
          <a:prstGeom prst="rect">
            <a:avLst/>
          </a:prstGeom>
          <a:noFill/>
        </p:spPr>
        <p:txBody>
          <a:bodyPr wrap="square" rtlCol="1">
            <a:spAutoFit/>
          </a:bodyPr>
          <a:lstStyle/>
          <a:p>
            <a:pPr algn="r"/>
            <a:r>
              <a:rPr lang="fa-IR" sz="2400" dirty="0">
                <a:cs typeface="2  Nazanin" panose="00000400000000000000" pitchFamily="2" charset="-78"/>
              </a:rPr>
              <a:t>آزمايشهاي استاندارد كاشي عبارت است از:</a:t>
            </a:r>
          </a:p>
          <a:p>
            <a:pPr algn="r"/>
            <a:r>
              <a:rPr lang="fa-IR" sz="2400" dirty="0">
                <a:cs typeface="2  Nazanin" panose="00000400000000000000" pitchFamily="2" charset="-78"/>
              </a:rPr>
              <a:t> اندازهگيري طول و عـرض، ضـخامت، مسـتقيم بـودن اضلاع، گونيا بودن اضلاع، تخت بودن سـطح، كيفيـت سـطح، جـذب آب، نيـروي شكسـت، مـدول گسيختگي، مقاومت در برابر سايش عمقي (كاشيهاي بدون لعاب)، مقاومت در برابر سايش سطحي ضريب انبساط حرارتي خطي، مقاومت در برابر شوك حرارتي، مقاومت در برابر ترك سطحي در برابر حرارت و رطوبت  مقاومـت در برابـريـخزدگـي، ضـريب ااصطكاك (لغزندگي)، انبساط رطوبتي، تفاوت رنگ جزئي كاشيها، مقاومت در برابر ضربه،  مقاومـت در برابر لكه گذاري، مقاومت در برابر مواد شيميايي، ميزان سرب و كادميم آزاد شده از سطح كاشي می باشد</a:t>
            </a:r>
          </a:p>
        </p:txBody>
      </p:sp>
      <p:pic>
        <p:nvPicPr>
          <p:cNvPr id="18" name="Picture 17">
            <a:extLst>
              <a:ext uri="{FF2B5EF4-FFF2-40B4-BE49-F238E27FC236}">
                <a16:creationId xmlns:a16="http://schemas.microsoft.com/office/drawing/2014/main" id="{BBFA8FD4-3397-4326-8FC7-D3E1C4028A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870" y="1937415"/>
            <a:ext cx="3424608" cy="2380675"/>
          </a:xfrm>
          <a:prstGeom prst="rect">
            <a:avLst/>
          </a:prstGeom>
        </p:spPr>
      </p:pic>
      <p:pic>
        <p:nvPicPr>
          <p:cNvPr id="20" name="Picture 19">
            <a:extLst>
              <a:ext uri="{FF2B5EF4-FFF2-40B4-BE49-F238E27FC236}">
                <a16:creationId xmlns:a16="http://schemas.microsoft.com/office/drawing/2014/main" id="{5461A746-70EB-457D-A110-E52AD6E5F5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870" y="4724942"/>
            <a:ext cx="3572616" cy="198214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66133"/>
            <a:ext cx="12192000" cy="7550727"/>
            <a:chOff x="0" y="0"/>
            <a:chExt cx="12192000" cy="7550727"/>
          </a:xfrm>
          <a:solidFill>
            <a:srgbClr val="EBAB54"/>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AA3D16"/>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17" name="TextBox 16">
            <a:extLst>
              <a:ext uri="{FF2B5EF4-FFF2-40B4-BE49-F238E27FC236}">
                <a16:creationId xmlns:a16="http://schemas.microsoft.com/office/drawing/2014/main" id="{4078DA50-4FB7-4931-85A7-21E8ED5D4790}"/>
              </a:ext>
            </a:extLst>
          </p:cNvPr>
          <p:cNvSpPr txBox="1"/>
          <p:nvPr/>
        </p:nvSpPr>
        <p:spPr>
          <a:xfrm>
            <a:off x="4286479" y="1097521"/>
            <a:ext cx="7458220" cy="5170646"/>
          </a:xfrm>
          <a:prstGeom prst="rect">
            <a:avLst/>
          </a:prstGeom>
          <a:noFill/>
        </p:spPr>
        <p:txBody>
          <a:bodyPr wrap="square" rtlCol="1">
            <a:spAutoFit/>
          </a:bodyPr>
          <a:lstStyle/>
          <a:p>
            <a:pPr algn="r"/>
            <a:r>
              <a:rPr lang="fa-IR" sz="2200" b="1" dirty="0">
                <a:cs typeface="2  Nazanin" panose="00000400000000000000" pitchFamily="2" charset="-78"/>
              </a:rPr>
              <a:t>ایمنی</a:t>
            </a:r>
          </a:p>
          <a:p>
            <a:pPr algn="r"/>
            <a:r>
              <a:rPr lang="fa-IR" sz="2200" dirty="0">
                <a:cs typeface="2  Nazanin" panose="00000400000000000000" pitchFamily="2" charset="-78"/>
              </a:rPr>
              <a:t>استفاده از كاشي هاي لعاب دار كه در لعـاب آنهـا تركيبـاتي ماننـد اكسـيدهاي سـرب و كادميم وجود دارد، براي محيط زيست زيان بخش است</a:t>
            </a:r>
          </a:p>
          <a:p>
            <a:pPr algn="r"/>
            <a:r>
              <a:rPr lang="fa-IR" sz="2200" dirty="0">
                <a:cs typeface="2  Nazanin" panose="00000400000000000000" pitchFamily="2" charset="-78"/>
              </a:rPr>
              <a:t>كاركنان محل انباشت بسته هاي كاشي، بايد به تجهيزات حفاظت شخصي مجهز باشند. </a:t>
            </a:r>
          </a:p>
          <a:p>
            <a:pPr algn="r"/>
            <a:r>
              <a:rPr lang="fa-IR" sz="2200" dirty="0">
                <a:cs typeface="2  Nazanin" panose="00000400000000000000" pitchFamily="2" charset="-78"/>
              </a:rPr>
              <a:t>استفاده از كلاه ايمني، كفش و پوتين كار، دستكش و لباس هاي ايمني براي كارگران الزامي است. </a:t>
            </a:r>
          </a:p>
          <a:p>
            <a:pPr algn="r"/>
            <a:r>
              <a:rPr lang="fa-IR" sz="2200" b="1" dirty="0">
                <a:cs typeface="2  Nazanin" panose="00000400000000000000" pitchFamily="2" charset="-78"/>
              </a:rPr>
              <a:t>بسته بندی</a:t>
            </a:r>
          </a:p>
          <a:p>
            <a:pPr algn="r"/>
            <a:r>
              <a:rPr lang="fa-IR" sz="2200" dirty="0">
                <a:cs typeface="2  Nazanin" panose="00000400000000000000" pitchFamily="2" charset="-78"/>
              </a:rPr>
              <a:t>حمل كاشي بايد به گونهاي انجام شود كه جابجايي و امكان آسيب ديـدگي بـه حـداقل برسد. حمل كارتن ها و يا پالت هاي حاوي كاشي با اسـتفاده از وسـايل نقليـه ماننـد ليفتـراك و در بعضي از موارد با استفاده از چرخ دستي صورت ميگيرد. در هواي باراني استفاده از برزنـت و چـادر براي حفاظت كارتن ها الزامي است.</a:t>
            </a:r>
          </a:p>
          <a:p>
            <a:pPr algn="r"/>
            <a:r>
              <a:rPr lang="fa-IR" sz="2200" dirty="0">
                <a:cs typeface="2  Nazanin" panose="00000400000000000000" pitchFamily="2" charset="-78"/>
              </a:rPr>
              <a:t>نگهداري كاشي ها در انبار بايد با فاصله از كف انبار باشد. چنانچه بسته هاي كاشـي بـا پالت از كارخانه ارسال شده است به همان صورت انبار شود. درصورتيكـه بسـته هاي كاشـي بـدون پالت ارسال شوند لازم است در انبار روي قفسه هاي مناسب قرار گيرند</a:t>
            </a:r>
          </a:p>
        </p:txBody>
      </p:sp>
      <p:pic>
        <p:nvPicPr>
          <p:cNvPr id="21" name="Picture 20">
            <a:extLst>
              <a:ext uri="{FF2B5EF4-FFF2-40B4-BE49-F238E27FC236}">
                <a16:creationId xmlns:a16="http://schemas.microsoft.com/office/drawing/2014/main" id="{75362117-4667-4FD3-A5E7-2C09633E59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024" y="1285332"/>
            <a:ext cx="4027085" cy="2234296"/>
          </a:xfrm>
          <a:prstGeom prst="rect">
            <a:avLst/>
          </a:prstGeom>
        </p:spPr>
      </p:pic>
      <p:pic>
        <p:nvPicPr>
          <p:cNvPr id="27" name="Picture 26">
            <a:extLst>
              <a:ext uri="{FF2B5EF4-FFF2-40B4-BE49-F238E27FC236}">
                <a16:creationId xmlns:a16="http://schemas.microsoft.com/office/drawing/2014/main" id="{82768490-933B-403C-B03E-EC732CB2CE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643" y="3925386"/>
            <a:ext cx="4038835" cy="2687661"/>
          </a:xfrm>
          <a:prstGeom prst="rect">
            <a:avLst/>
          </a:prstGeom>
        </p:spPr>
      </p:pic>
    </p:spTree>
    <p:extLst>
      <p:ext uri="{BB962C8B-B14F-4D97-AF65-F5344CB8AC3E}">
        <p14:creationId xmlns:p14="http://schemas.microsoft.com/office/powerpoint/2010/main" val="5904680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78234" y="3704522"/>
            <a:ext cx="7966123" cy="2739211"/>
          </a:xfrm>
          <a:prstGeom prst="rect">
            <a:avLst/>
          </a:prstGeom>
          <a:noFill/>
        </p:spPr>
        <p:txBody>
          <a:bodyPr wrap="square" rtlCol="1">
            <a:spAutoFit/>
          </a:bodyPr>
          <a:lstStyle/>
          <a:p>
            <a:pPr algn="r"/>
            <a:r>
              <a:rPr lang="fa-IR" sz="2800" b="1" dirty="0">
                <a:cs typeface="2  Nazanin" panose="00000400000000000000" pitchFamily="2" charset="-78"/>
              </a:rPr>
              <a:t>کاشی سرامیکی</a:t>
            </a:r>
          </a:p>
          <a:p>
            <a:pPr algn="r"/>
            <a:r>
              <a:rPr lang="fa-IR" sz="2400" dirty="0">
                <a:cs typeface="2  Nazanin" panose="00000400000000000000" pitchFamily="2" charset="-78"/>
              </a:rPr>
              <a:t>كاشي سراميكي فرآوردهاي است كه با خواص و سامانههاي مختلف توليد ميگردد و به طور معمول براي پوشش ديوار، كف و تزيين سطوح داخـل و خـارج برخـي اجـزاي سـاختماني و همچنـين حـوضهـا و استخرها به كار برده ميشود. </a:t>
            </a:r>
          </a:p>
          <a:p>
            <a:pPr algn="r"/>
            <a:r>
              <a:rPr lang="fa-IR" sz="2400" dirty="0">
                <a:cs typeface="2  Nazanin" panose="00000400000000000000" pitchFamily="2" charset="-78"/>
              </a:rPr>
              <a:t>مواد اولية توليد كاشـي عبـارت اسـت از: كـائولن، خـاك رس، بـالكلـي، فلدسپات، دولوميت، شاموت و برخي كانيهاي ديگر كه به صورت دانه هاي كوچكتـر از 1/0 ميلـيمتـر درميآيند. در برخي از كاشيها از مواد رنگي نيز استفاده ميشود</a:t>
            </a:r>
          </a:p>
        </p:txBody>
      </p:sp>
      <p:pic>
        <p:nvPicPr>
          <p:cNvPr id="16" name="Picture 15">
            <a:extLst>
              <a:ext uri="{FF2B5EF4-FFF2-40B4-BE49-F238E27FC236}">
                <a16:creationId xmlns:a16="http://schemas.microsoft.com/office/drawing/2014/main" id="{2E882FF8-1357-43BC-8D76-E8091D1472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008" y="3978477"/>
            <a:ext cx="3616470" cy="2708862"/>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17570"/>
            <a:ext cx="12192000" cy="7550727"/>
            <a:chOff x="0" y="0"/>
            <a:chExt cx="12192000" cy="7550727"/>
          </a:xfrm>
          <a:solidFill>
            <a:srgbClr val="F9F1E6"/>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17570"/>
            <a:ext cx="12192000" cy="7550727"/>
            <a:chOff x="0" y="0"/>
            <a:chExt cx="12192000" cy="7550727"/>
          </a:xfrm>
          <a:solidFill>
            <a:srgbClr val="E5CB8E"/>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DE18EA47-E428-42D2-B1CF-0D220B5E4C82}"/>
              </a:ext>
            </a:extLst>
          </p:cNvPr>
          <p:cNvSpPr txBox="1"/>
          <p:nvPr/>
        </p:nvSpPr>
        <p:spPr>
          <a:xfrm>
            <a:off x="4714504" y="2303906"/>
            <a:ext cx="7030193" cy="3785652"/>
          </a:xfrm>
          <a:prstGeom prst="rect">
            <a:avLst/>
          </a:prstGeom>
          <a:noFill/>
        </p:spPr>
        <p:txBody>
          <a:bodyPr wrap="square" rtlCol="1">
            <a:spAutoFit/>
          </a:bodyPr>
          <a:lstStyle/>
          <a:p>
            <a:pPr algn="r"/>
            <a:r>
              <a:rPr lang="fa-IR" sz="2400" dirty="0">
                <a:cs typeface="2  Nazanin" panose="00000400000000000000" pitchFamily="2" charset="-78"/>
              </a:rPr>
              <a:t>آزمايشهاي استاندارد كاشي عبارت است از:</a:t>
            </a:r>
          </a:p>
          <a:p>
            <a:pPr algn="r"/>
            <a:r>
              <a:rPr lang="fa-IR" sz="2400" dirty="0">
                <a:cs typeface="2  Nazanin" panose="00000400000000000000" pitchFamily="2" charset="-78"/>
              </a:rPr>
              <a:t> اندازهگيري طول و عـرض، ضـخامت، مسـتقيم بـودن اضلاع، گونيا بودن اضلاع، تخت بودن سـطح، كيفيـت سـطح، جـذب آب، نيـروي شكسـت، مـدول گسيختگي، مقاومت در برابر سايش عمقي (كاشيهاي بدون لعاب)، مقاومت در برابر سايش سطحي ضريب انبساط حرارتي خطي، مقاومت در برابر شوك حرارتي، مقاومت در برابر ترك سطحي در برابر حرارت و رطوبت  مقاومـت در برابـريـخزدگـي، ضـريب ااصطكاك (لغزندگي)، انبساط رطوبتي، تفاوت رنگ جزئي كاشيها، مقاومت در برابر ضربه،  مقاومـت در برابر لكه گذاري، مقاومت در برابر مواد شيميايي، ميزان سرب و كادميم آزاد شده از سطح كاشي می باشد</a:t>
            </a:r>
          </a:p>
        </p:txBody>
      </p:sp>
      <p:pic>
        <p:nvPicPr>
          <p:cNvPr id="18" name="Picture 17">
            <a:extLst>
              <a:ext uri="{FF2B5EF4-FFF2-40B4-BE49-F238E27FC236}">
                <a16:creationId xmlns:a16="http://schemas.microsoft.com/office/drawing/2014/main" id="{BBFA8FD4-3397-4326-8FC7-D3E1C4028A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870" y="1937415"/>
            <a:ext cx="3424608" cy="2380675"/>
          </a:xfrm>
          <a:prstGeom prst="rect">
            <a:avLst/>
          </a:prstGeom>
        </p:spPr>
      </p:pic>
      <p:pic>
        <p:nvPicPr>
          <p:cNvPr id="20" name="Picture 19">
            <a:extLst>
              <a:ext uri="{FF2B5EF4-FFF2-40B4-BE49-F238E27FC236}">
                <a16:creationId xmlns:a16="http://schemas.microsoft.com/office/drawing/2014/main" id="{5461A746-70EB-457D-A110-E52AD6E5F5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9870" y="4724942"/>
            <a:ext cx="3572616" cy="198214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0" y="66133"/>
            <a:ext cx="12192000" cy="7550727"/>
            <a:chOff x="0" y="0"/>
            <a:chExt cx="12192000" cy="7550727"/>
          </a:xfrm>
          <a:solidFill>
            <a:srgbClr val="EBAB54"/>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17" name="TextBox 16">
            <a:extLst>
              <a:ext uri="{FF2B5EF4-FFF2-40B4-BE49-F238E27FC236}">
                <a16:creationId xmlns:a16="http://schemas.microsoft.com/office/drawing/2014/main" id="{4078DA50-4FB7-4931-85A7-21E8ED5D4790}"/>
              </a:ext>
            </a:extLst>
          </p:cNvPr>
          <p:cNvSpPr txBox="1"/>
          <p:nvPr/>
        </p:nvSpPr>
        <p:spPr>
          <a:xfrm>
            <a:off x="4583876" y="1097521"/>
            <a:ext cx="7160822" cy="5847755"/>
          </a:xfrm>
          <a:prstGeom prst="rect">
            <a:avLst/>
          </a:prstGeom>
          <a:noFill/>
        </p:spPr>
        <p:txBody>
          <a:bodyPr wrap="square" rtlCol="1">
            <a:spAutoFit/>
          </a:bodyPr>
          <a:lstStyle/>
          <a:p>
            <a:pPr algn="r"/>
            <a:r>
              <a:rPr lang="fa-IR" sz="2200" b="1" dirty="0">
                <a:cs typeface="2  Nazanin" panose="00000400000000000000" pitchFamily="2" charset="-78"/>
              </a:rPr>
              <a:t>ایمینی</a:t>
            </a:r>
          </a:p>
          <a:p>
            <a:pPr algn="r"/>
            <a:r>
              <a:rPr lang="fa-IR" sz="2200" dirty="0">
                <a:cs typeface="2  Nazanin" panose="00000400000000000000" pitchFamily="2" charset="-78"/>
              </a:rPr>
              <a:t>استفاده از كاشيهاي لعابدار كه در لعـاب آنهـا تركيبـاتي ماننـد اكسـيدهاي سـرب و كادميم وجود دارد، براي محيط زيست زيانبخش است</a:t>
            </a:r>
          </a:p>
          <a:p>
            <a:pPr algn="r"/>
            <a:r>
              <a:rPr lang="fa-IR" sz="2200" dirty="0">
                <a:cs typeface="2  Nazanin" panose="00000400000000000000" pitchFamily="2" charset="-78"/>
              </a:rPr>
              <a:t>كاركنان محل انباشت بستهه اي كاشي، بايد به تجهيزات حفاظت شخصي مجهز باشند. </a:t>
            </a:r>
          </a:p>
          <a:p>
            <a:pPr algn="r"/>
            <a:r>
              <a:rPr lang="fa-IR" sz="2200" dirty="0">
                <a:cs typeface="2  Nazanin" panose="00000400000000000000" pitchFamily="2" charset="-78"/>
              </a:rPr>
              <a:t>استفاده از كلاه ايمني، كفش و پوتين كار، دستكش و لباسهاي ايمني براي كارگران الزامي است. </a:t>
            </a:r>
          </a:p>
          <a:p>
            <a:pPr algn="r"/>
            <a:r>
              <a:rPr lang="fa-IR" sz="2200" b="1" dirty="0">
                <a:cs typeface="2  Nazanin" panose="00000400000000000000" pitchFamily="2" charset="-78"/>
              </a:rPr>
              <a:t>بسته بندی</a:t>
            </a:r>
          </a:p>
          <a:p>
            <a:pPr algn="r"/>
            <a:r>
              <a:rPr lang="fa-IR" sz="2200" dirty="0">
                <a:cs typeface="2  Nazanin" panose="00000400000000000000" pitchFamily="2" charset="-78"/>
              </a:rPr>
              <a:t>حمل كاشي بايد به گونهاي انجام شود كه جابجايي و امكان آسيب ديـدگي بـه حـداقل برسد. حمل كارتن ها و يا پالتهاي حاوي كاشي با اسـتفاده از وسـايل نقليـه ماننـد ليفتـراك و در بعضي از موارد با استفاده از چرخ دستي صورت ميگيرد. در هواي باراني استفاده از برزنـت و چـادر براي حفاظت كارتنها الزامي است.</a:t>
            </a:r>
          </a:p>
          <a:p>
            <a:pPr algn="r"/>
            <a:r>
              <a:rPr lang="fa-IR" sz="2200" dirty="0">
                <a:cs typeface="2  Nazanin" panose="00000400000000000000" pitchFamily="2" charset="-78"/>
              </a:rPr>
              <a:t>نگهداري كاشيها در انبار بايد با فاصله از كف انبار باشد. چنانچه بسته هاي كاشـي بـا پالت از كارخانه ارسال شده است به همان صورت انبار شود. درصورتيكـه بسـته هاي كاشـي بـدون پالت ارسال شوند لازم است در انبار روي قفسه هاي مناسب قرار گيرند</a:t>
            </a:r>
          </a:p>
        </p:txBody>
      </p:sp>
      <p:pic>
        <p:nvPicPr>
          <p:cNvPr id="21" name="Picture 20">
            <a:extLst>
              <a:ext uri="{FF2B5EF4-FFF2-40B4-BE49-F238E27FC236}">
                <a16:creationId xmlns:a16="http://schemas.microsoft.com/office/drawing/2014/main" id="{75362117-4667-4FD3-A5E7-2C09633E59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0024" y="1285332"/>
            <a:ext cx="4027085" cy="2234296"/>
          </a:xfrm>
          <a:prstGeom prst="rect">
            <a:avLst/>
          </a:prstGeom>
        </p:spPr>
      </p:pic>
      <p:pic>
        <p:nvPicPr>
          <p:cNvPr id="27" name="Picture 26">
            <a:extLst>
              <a:ext uri="{FF2B5EF4-FFF2-40B4-BE49-F238E27FC236}">
                <a16:creationId xmlns:a16="http://schemas.microsoft.com/office/drawing/2014/main" id="{82768490-933B-403C-B03E-EC732CB2CE9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7643" y="3925386"/>
            <a:ext cx="4038835" cy="2687661"/>
          </a:xfrm>
          <a:prstGeom prst="rect">
            <a:avLst/>
          </a:prstGeom>
        </p:spPr>
      </p:pic>
      <p:grpSp>
        <p:nvGrpSpPr>
          <p:cNvPr id="23" name="Group 22">
            <a:extLst>
              <a:ext uri="{FF2B5EF4-FFF2-40B4-BE49-F238E27FC236}">
                <a16:creationId xmlns:a16="http://schemas.microsoft.com/office/drawing/2014/main" id="{CE9F4577-2F48-44A4-957B-59D6407693D0}"/>
              </a:ext>
            </a:extLst>
          </p:cNvPr>
          <p:cNvGrpSpPr/>
          <p:nvPr/>
        </p:nvGrpSpPr>
        <p:grpSpPr>
          <a:xfrm>
            <a:off x="-2" y="11295"/>
            <a:ext cx="12192000" cy="7550727"/>
            <a:chOff x="0" y="0"/>
            <a:chExt cx="12192000" cy="7550727"/>
          </a:xfrm>
          <a:solidFill>
            <a:srgbClr val="AA3D16"/>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pic>
        <p:nvPicPr>
          <p:cNvPr id="33" name="Picture 32">
            <a:extLst>
              <a:ext uri="{FF2B5EF4-FFF2-40B4-BE49-F238E27FC236}">
                <a16:creationId xmlns:a16="http://schemas.microsoft.com/office/drawing/2014/main" id="{5616714D-A73C-43C1-9710-EE4AEFCBC3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05717" y="194743"/>
            <a:ext cx="4088791" cy="3050867"/>
          </a:xfrm>
          <a:prstGeom prst="rect">
            <a:avLst/>
          </a:prstGeom>
        </p:spPr>
      </p:pic>
      <p:pic>
        <p:nvPicPr>
          <p:cNvPr id="35" name="Picture 34">
            <a:extLst>
              <a:ext uri="{FF2B5EF4-FFF2-40B4-BE49-F238E27FC236}">
                <a16:creationId xmlns:a16="http://schemas.microsoft.com/office/drawing/2014/main" id="{89735E14-9173-4350-8030-991D1E193A2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21314" y="3571215"/>
            <a:ext cx="4088791" cy="2884130"/>
          </a:xfrm>
          <a:prstGeom prst="rect">
            <a:avLst/>
          </a:prstGeom>
        </p:spPr>
      </p:pic>
      <p:pic>
        <p:nvPicPr>
          <p:cNvPr id="28" name="Picture 27">
            <a:extLst>
              <a:ext uri="{FF2B5EF4-FFF2-40B4-BE49-F238E27FC236}">
                <a16:creationId xmlns:a16="http://schemas.microsoft.com/office/drawing/2014/main" id="{6B9B6F5C-C282-4FFA-AF96-C1E918013F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9323" y="474500"/>
            <a:ext cx="7566735" cy="6051488"/>
          </a:xfrm>
          <a:prstGeom prst="rect">
            <a:avLst/>
          </a:prstGeom>
        </p:spPr>
      </p:pic>
    </p:spTree>
    <p:extLst>
      <p:ext uri="{BB962C8B-B14F-4D97-AF65-F5344CB8AC3E}">
        <p14:creationId xmlns:p14="http://schemas.microsoft.com/office/powerpoint/2010/main" val="24622045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90109" y="4080980"/>
            <a:ext cx="7966123" cy="2369880"/>
          </a:xfrm>
          <a:prstGeom prst="rect">
            <a:avLst/>
          </a:prstGeom>
          <a:noFill/>
        </p:spPr>
        <p:txBody>
          <a:bodyPr wrap="square" rtlCol="1">
            <a:spAutoFit/>
          </a:bodyPr>
          <a:lstStyle/>
          <a:p>
            <a:pPr algn="r"/>
            <a:r>
              <a:rPr lang="fa-IR" sz="2800" b="1" dirty="0">
                <a:cs typeface="2  Nazanin" panose="00000400000000000000" pitchFamily="2" charset="-78"/>
              </a:rPr>
              <a:t>عایق رطوبتی</a:t>
            </a:r>
          </a:p>
          <a:p>
            <a:pPr algn="r"/>
            <a:r>
              <a:rPr lang="fa-IR" sz="2400" dirty="0">
                <a:cs typeface="2  Nazanin" panose="00000400000000000000" pitchFamily="2" charset="-78"/>
              </a:rPr>
              <a:t>عايق هاي رطوبتي مواد و مصالحي هستند كه براي جلوگيري از نفـوذ آب و رطوبـت، در سـاختمان استفاده ميشوند. </a:t>
            </a:r>
          </a:p>
          <a:p>
            <a:pPr algn="r"/>
            <a:r>
              <a:rPr lang="fa-IR" sz="2400" dirty="0">
                <a:cs typeface="2  Nazanin" panose="00000400000000000000" pitchFamily="2" charset="-78"/>
              </a:rPr>
              <a:t>عايق رطوبتي قيري، غشاي نيمه انعطاف پذير پيوست هاي است شامل لايه هاي متنـاوب نمـد اشـباع شده يا روكش شده، يا منسوج، با لايه هاي قير و ممكن است با رويه سنگدانه معدني، مواد قيري يـا ساير ورق ها روكش شود</a:t>
            </a:r>
          </a:p>
        </p:txBody>
      </p:sp>
      <p:grpSp>
        <p:nvGrpSpPr>
          <p:cNvPr id="7" name="Group 6">
            <a:extLst>
              <a:ext uri="{FF2B5EF4-FFF2-40B4-BE49-F238E27FC236}">
                <a16:creationId xmlns:a16="http://schemas.microsoft.com/office/drawing/2014/main" id="{02A088D3-A642-47E9-8843-D04D55D8CBF1}"/>
              </a:ext>
            </a:extLst>
          </p:cNvPr>
          <p:cNvGrpSpPr/>
          <p:nvPr/>
        </p:nvGrpSpPr>
        <p:grpSpPr>
          <a:xfrm>
            <a:off x="40" y="-3707659"/>
            <a:ext cx="12192000" cy="7550727"/>
            <a:chOff x="0" y="0"/>
            <a:chExt cx="12192000" cy="7550727"/>
          </a:xfrm>
          <a:solidFill>
            <a:srgbClr val="F9E5D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FFB5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BADDD7"/>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3BFBE"/>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pic>
        <p:nvPicPr>
          <p:cNvPr id="17" name="Picture 16">
            <a:extLst>
              <a:ext uri="{FF2B5EF4-FFF2-40B4-BE49-F238E27FC236}">
                <a16:creationId xmlns:a16="http://schemas.microsoft.com/office/drawing/2014/main" id="{25070FD8-3523-45B0-810C-2598D0443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68" y="4157788"/>
            <a:ext cx="3146095" cy="2516876"/>
          </a:xfrm>
          <a:prstGeom prst="rect">
            <a:avLst/>
          </a:prstGeom>
        </p:spPr>
      </p:pic>
    </p:spTree>
    <p:extLst>
      <p:ext uri="{BB962C8B-B14F-4D97-AF65-F5344CB8AC3E}">
        <p14:creationId xmlns:p14="http://schemas.microsoft.com/office/powerpoint/2010/main" val="20990618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90109" y="4080980"/>
            <a:ext cx="7966123" cy="2369880"/>
          </a:xfrm>
          <a:prstGeom prst="rect">
            <a:avLst/>
          </a:prstGeom>
          <a:noFill/>
        </p:spPr>
        <p:txBody>
          <a:bodyPr wrap="square" rtlCol="1">
            <a:spAutoFit/>
          </a:bodyPr>
          <a:lstStyle/>
          <a:p>
            <a:pPr algn="r"/>
            <a:r>
              <a:rPr lang="fa-IR" sz="2800" b="1" dirty="0">
                <a:cs typeface="2  Nazanin" panose="00000400000000000000" pitchFamily="2" charset="-78"/>
              </a:rPr>
              <a:t>عایق رطوبتی</a:t>
            </a:r>
          </a:p>
          <a:p>
            <a:pPr algn="r"/>
            <a:r>
              <a:rPr lang="fa-IR" sz="2400" dirty="0">
                <a:cs typeface="2  Nazanin" panose="00000400000000000000" pitchFamily="2" charset="-78"/>
              </a:rPr>
              <a:t>عايقهاي رطوبتي مواد و مصالحي هستند كه براي جلوگيري از نفـوذ آب و رطوبـت، در سـاختمان استفاده ميشوند. </a:t>
            </a:r>
          </a:p>
          <a:p>
            <a:pPr algn="r"/>
            <a:r>
              <a:rPr lang="fa-IR" sz="2400" dirty="0">
                <a:cs typeface="2  Nazanin" panose="00000400000000000000" pitchFamily="2" charset="-78"/>
              </a:rPr>
              <a:t>عايق رطوبتي قيري، غشاي نيمه انعطافپذير پيوستهاي است شامل لايه هاي متنـاوب نمـد اشـباع شده يا روكش شده، يا منسوج، با لايه هاي قير و ممكن است با روية سنگدانة معدني، مواد قيري يـا ساير ورقها روكش شود</a:t>
            </a:r>
          </a:p>
        </p:txBody>
      </p:sp>
      <p:pic>
        <p:nvPicPr>
          <p:cNvPr id="17" name="Picture 16">
            <a:extLst>
              <a:ext uri="{FF2B5EF4-FFF2-40B4-BE49-F238E27FC236}">
                <a16:creationId xmlns:a16="http://schemas.microsoft.com/office/drawing/2014/main" id="{25070FD8-3523-45B0-810C-2598D0443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68" y="4157788"/>
            <a:ext cx="3146095" cy="251687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9E5D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FFB5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BADDD7"/>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3BFBE"/>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8C874392-60BA-41FC-A82B-E737D20D4DCA}"/>
              </a:ext>
            </a:extLst>
          </p:cNvPr>
          <p:cNvSpPr txBox="1"/>
          <p:nvPr/>
        </p:nvSpPr>
        <p:spPr>
          <a:xfrm>
            <a:off x="4679127" y="3567103"/>
            <a:ext cx="7248765" cy="2400657"/>
          </a:xfrm>
          <a:prstGeom prst="rect">
            <a:avLst/>
          </a:prstGeom>
          <a:noFill/>
        </p:spPr>
        <p:txBody>
          <a:bodyPr wrap="square" rtlCol="1">
            <a:spAutoFit/>
          </a:bodyPr>
          <a:lstStyle/>
          <a:p>
            <a:pPr marL="342900" indent="-342900" algn="r" rtl="1">
              <a:buFont typeface="Wingdings" panose="05000000000000000000" pitchFamily="2" charset="2"/>
              <a:buChar char="Ø"/>
            </a:pPr>
            <a:r>
              <a:rPr lang="fa-IR" sz="2500" dirty="0">
                <a:cs typeface="2  Nazanin" panose="00000400000000000000" pitchFamily="2" charset="-78"/>
              </a:rPr>
              <a:t>عايق رطوبتي قير و گوني. </a:t>
            </a:r>
          </a:p>
          <a:p>
            <a:pPr marL="342900" indent="-342900" algn="r" rtl="1">
              <a:buFont typeface="Wingdings" panose="05000000000000000000" pitchFamily="2" charset="2"/>
              <a:buChar char="Ø"/>
            </a:pPr>
            <a:r>
              <a:rPr lang="fa-IR" sz="2500" dirty="0">
                <a:cs typeface="2  Nazanin" panose="00000400000000000000" pitchFamily="2" charset="-78"/>
              </a:rPr>
              <a:t> عايق رطوبتي پليمري تك لاية پـيش سـاخته يـا اجراپـذير در محـل.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پيش ساخته با قير اصلاح شده به وسيلة پليمرها،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پي: براي عايق كردن پي و سطوح داخلي ساختمان 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بام و سطوح خارجي ساختمان</a:t>
            </a:r>
          </a:p>
          <a:p>
            <a:pPr marL="342900" indent="-342900" algn="r" rtl="1">
              <a:buFont typeface="Wingdings" panose="05000000000000000000" pitchFamily="2" charset="2"/>
              <a:buChar char="Ø"/>
            </a:pPr>
            <a:endParaRPr lang="fa-IR" sz="2500" dirty="0">
              <a:cs typeface="2  Nazanin" panose="00000400000000000000" pitchFamily="2" charset="-78"/>
            </a:endParaRPr>
          </a:p>
        </p:txBody>
      </p:sp>
      <p:pic>
        <p:nvPicPr>
          <p:cNvPr id="18" name="Picture 17">
            <a:extLst>
              <a:ext uri="{FF2B5EF4-FFF2-40B4-BE49-F238E27FC236}">
                <a16:creationId xmlns:a16="http://schemas.microsoft.com/office/drawing/2014/main" id="{898942AA-3829-4C48-AF80-86708B0C8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0022" y="2615789"/>
            <a:ext cx="3067422" cy="1971914"/>
          </a:xfrm>
          <a:prstGeom prst="rect">
            <a:avLst/>
          </a:prstGeom>
        </p:spPr>
      </p:pic>
      <p:pic>
        <p:nvPicPr>
          <p:cNvPr id="20" name="Picture 19">
            <a:extLst>
              <a:ext uri="{FF2B5EF4-FFF2-40B4-BE49-F238E27FC236}">
                <a16:creationId xmlns:a16="http://schemas.microsoft.com/office/drawing/2014/main" id="{F9FF4F99-3DFC-4BDE-A3F5-460C32C78EE9}"/>
              </a:ext>
            </a:extLst>
          </p:cNvPr>
          <p:cNvPicPr>
            <a:picLocks noChangeAspect="1"/>
          </p:cNvPicPr>
          <p:nvPr/>
        </p:nvPicPr>
        <p:blipFill rotWithShape="1">
          <a:blip r:embed="rId4">
            <a:extLst>
              <a:ext uri="{28A0092B-C50C-407E-A947-70E740481C1C}">
                <a14:useLocalDpi xmlns:a14="http://schemas.microsoft.com/office/drawing/2010/main" val="0"/>
              </a:ext>
            </a:extLst>
          </a:blip>
          <a:srcRect b="8546"/>
          <a:stretch/>
        </p:blipFill>
        <p:spPr>
          <a:xfrm>
            <a:off x="544918" y="4703888"/>
            <a:ext cx="3342526" cy="2037927"/>
          </a:xfrm>
          <a:prstGeom prst="rect">
            <a:avLst/>
          </a:prstGeom>
        </p:spPr>
      </p:pic>
    </p:spTree>
    <p:extLst>
      <p:ext uri="{BB962C8B-B14F-4D97-AF65-F5344CB8AC3E}">
        <p14:creationId xmlns:p14="http://schemas.microsoft.com/office/powerpoint/2010/main" val="32606817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90109" y="4080980"/>
            <a:ext cx="7966123" cy="2369880"/>
          </a:xfrm>
          <a:prstGeom prst="rect">
            <a:avLst/>
          </a:prstGeom>
          <a:noFill/>
        </p:spPr>
        <p:txBody>
          <a:bodyPr wrap="square" rtlCol="1">
            <a:spAutoFit/>
          </a:bodyPr>
          <a:lstStyle/>
          <a:p>
            <a:pPr algn="r"/>
            <a:r>
              <a:rPr lang="fa-IR" sz="2800" b="1" dirty="0">
                <a:cs typeface="2  Nazanin" panose="00000400000000000000" pitchFamily="2" charset="-78"/>
              </a:rPr>
              <a:t>عایق رطوبتی</a:t>
            </a:r>
          </a:p>
          <a:p>
            <a:pPr algn="r"/>
            <a:r>
              <a:rPr lang="fa-IR" sz="2400" dirty="0">
                <a:cs typeface="2  Nazanin" panose="00000400000000000000" pitchFamily="2" charset="-78"/>
              </a:rPr>
              <a:t>عايقهاي رطوبتي مواد و مصالحي هستند كه براي جلوگيري از نفـوذ آب و رطوبـت، در سـاختمان استفاده ميشوند. </a:t>
            </a:r>
          </a:p>
          <a:p>
            <a:pPr algn="r"/>
            <a:r>
              <a:rPr lang="fa-IR" sz="2400" dirty="0">
                <a:cs typeface="2  Nazanin" panose="00000400000000000000" pitchFamily="2" charset="-78"/>
              </a:rPr>
              <a:t>عايق رطوبتي قيري، غشاي نيمه انعطافپذير پيوستهاي است شامل لايه هاي متنـاوب نمـد اشـباع شده يا روكش شده، يا منسوج، با لايه هاي قير و ممكن است با روية سنگدانة معدني، مواد قيري يـا ساير ورقها روكش شود</a:t>
            </a:r>
          </a:p>
        </p:txBody>
      </p:sp>
      <p:pic>
        <p:nvPicPr>
          <p:cNvPr id="17" name="Picture 16">
            <a:extLst>
              <a:ext uri="{FF2B5EF4-FFF2-40B4-BE49-F238E27FC236}">
                <a16:creationId xmlns:a16="http://schemas.microsoft.com/office/drawing/2014/main" id="{25070FD8-3523-45B0-810C-2598D0443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68" y="4157788"/>
            <a:ext cx="3146095" cy="251687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9E5D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8C874392-60BA-41FC-A82B-E737D20D4DCA}"/>
              </a:ext>
            </a:extLst>
          </p:cNvPr>
          <p:cNvSpPr txBox="1"/>
          <p:nvPr/>
        </p:nvSpPr>
        <p:spPr>
          <a:xfrm>
            <a:off x="3892736" y="3046242"/>
            <a:ext cx="8063496" cy="3554819"/>
          </a:xfrm>
          <a:prstGeom prst="rect">
            <a:avLst/>
          </a:prstGeom>
          <a:noFill/>
        </p:spPr>
        <p:txBody>
          <a:bodyPr wrap="square" rtlCol="1">
            <a:spAutoFit/>
          </a:bodyPr>
          <a:lstStyle/>
          <a:p>
            <a:pPr algn="r"/>
            <a:r>
              <a:rPr lang="fa-IR" sz="2500" dirty="0">
                <a:cs typeface="2  Nazanin" panose="00000400000000000000" pitchFamily="2" charset="-78"/>
              </a:rPr>
              <a:t>عايق رطوبتي قير و گوني. </a:t>
            </a:r>
          </a:p>
          <a:p>
            <a:pPr algn="r"/>
            <a:r>
              <a:rPr lang="fa-IR" sz="2500" dirty="0">
                <a:cs typeface="2  Nazanin" panose="00000400000000000000" pitchFamily="2" charset="-78"/>
              </a:rPr>
              <a:t> عايق رطوبتي پليمري تك لاية پـيش سـاخته يـا اجراپـذير در محـل. </a:t>
            </a:r>
          </a:p>
          <a:p>
            <a:pPr algn="r"/>
            <a:r>
              <a:rPr lang="fa-IR" sz="2500" dirty="0">
                <a:cs typeface="2  Nazanin" panose="00000400000000000000" pitchFamily="2" charset="-78"/>
              </a:rPr>
              <a:t>عايق رطوبتي پيش ساخته با قير اصلاح شده به وسيلة پليمرها،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پي: براي عايق كردن پي و سطوح داخلي ساختمانها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بام و سطوح خارجي ساختمان: اين عايق ها به صـورت تـك لايـه بـا بستري از يك لاية پلي استر ترمي و يا به صورت دو لايه با بستري از يك لايه اليـاف شيشـه و يـك لايه پلي استر ساخته و با مذاب قير اصلاح شده با مواد پليمري مخلوط ميشوند و براي عايق كردن سطوح خارجي ساختمان ها، استخرها و تونل ها به كار ميروند</a:t>
            </a:r>
          </a:p>
        </p:txBody>
      </p:sp>
      <p:pic>
        <p:nvPicPr>
          <p:cNvPr id="18" name="Picture 17">
            <a:extLst>
              <a:ext uri="{FF2B5EF4-FFF2-40B4-BE49-F238E27FC236}">
                <a16:creationId xmlns:a16="http://schemas.microsoft.com/office/drawing/2014/main" id="{898942AA-3829-4C48-AF80-86708B0C8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05" y="2634199"/>
            <a:ext cx="3067422" cy="1971914"/>
          </a:xfrm>
          <a:prstGeom prst="rect">
            <a:avLst/>
          </a:prstGeom>
        </p:spPr>
      </p:pic>
      <p:pic>
        <p:nvPicPr>
          <p:cNvPr id="20" name="Picture 19">
            <a:extLst>
              <a:ext uri="{FF2B5EF4-FFF2-40B4-BE49-F238E27FC236}">
                <a16:creationId xmlns:a16="http://schemas.microsoft.com/office/drawing/2014/main" id="{F9FF4F99-3DFC-4BDE-A3F5-460C32C78EE9}"/>
              </a:ext>
            </a:extLst>
          </p:cNvPr>
          <p:cNvPicPr>
            <a:picLocks noChangeAspect="1"/>
          </p:cNvPicPr>
          <p:nvPr/>
        </p:nvPicPr>
        <p:blipFill rotWithShape="1">
          <a:blip r:embed="rId4">
            <a:extLst>
              <a:ext uri="{28A0092B-C50C-407E-A947-70E740481C1C}">
                <a14:useLocalDpi xmlns:a14="http://schemas.microsoft.com/office/drawing/2010/main" val="0"/>
              </a:ext>
            </a:extLst>
          </a:blip>
          <a:srcRect b="8546"/>
          <a:stretch/>
        </p:blipFill>
        <p:spPr>
          <a:xfrm>
            <a:off x="275105" y="4703888"/>
            <a:ext cx="3342526" cy="2037927"/>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1282"/>
            <a:ext cx="12192000" cy="7550727"/>
            <a:chOff x="0" y="0"/>
            <a:chExt cx="12192000" cy="7550727"/>
          </a:xfrm>
          <a:solidFill>
            <a:srgbClr val="FFB5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BADDD7"/>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3BFBE"/>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16" name="TextBox 15">
            <a:extLst>
              <a:ext uri="{FF2B5EF4-FFF2-40B4-BE49-F238E27FC236}">
                <a16:creationId xmlns:a16="http://schemas.microsoft.com/office/drawing/2014/main" id="{FFB767D8-404A-4FFE-B704-8AABC979740E}"/>
              </a:ext>
            </a:extLst>
          </p:cNvPr>
          <p:cNvSpPr txBox="1"/>
          <p:nvPr/>
        </p:nvSpPr>
        <p:spPr>
          <a:xfrm>
            <a:off x="4963885" y="2518024"/>
            <a:ext cx="6804561" cy="4001095"/>
          </a:xfrm>
          <a:prstGeom prst="rect">
            <a:avLst/>
          </a:prstGeom>
          <a:noFill/>
        </p:spPr>
        <p:txBody>
          <a:bodyPr wrap="square" rtlCol="1">
            <a:spAutoFit/>
          </a:bodyPr>
          <a:lstStyle/>
          <a:p>
            <a:pPr algn="r"/>
            <a:r>
              <a:rPr lang="fa-IR" sz="2600" b="1" dirty="0">
                <a:cs typeface="2  Nazanin" panose="00000400000000000000" pitchFamily="2" charset="-78"/>
              </a:rPr>
              <a:t>ازمایش ها</a:t>
            </a:r>
          </a:p>
          <a:p>
            <a:pPr algn="r"/>
            <a:r>
              <a:rPr lang="fa-IR" sz="2600" dirty="0">
                <a:cs typeface="2  Nazanin" panose="00000400000000000000" pitchFamily="2" charset="-78"/>
              </a:rPr>
              <a:t> تعيين حلاليت مـواد قيـري در تري كلرو اتيلن، مقاومت عايق رطوبتي پيش ساخته در برابر پارگي، تاب كششي اتصالات عـايق رطوبتي پيش ساخته، ميزان انعطاف پذيري عـايق رطـوبتي پـيش سـاخته در سرما، اندازهگيري ابعاد و جرم واحد سطح، مقاومـت كششـي عـايق هـاي رطـوبتي، مقاومـت عـايق رطوبتي پيش ساخته در مقابل ازون، مقاومت عايق رطوبتي پيش ساخته در مقابـل نفـوذ بخـار آب، پايداري ابعادي عايق هاي رطوبتي در برابر حرارت می باشد</a:t>
            </a:r>
            <a:endParaRPr lang="en-US" sz="2600" dirty="0">
              <a:cs typeface="2  Nazanin" panose="00000400000000000000" pitchFamily="2" charset="-78"/>
            </a:endParaRPr>
          </a:p>
          <a:p>
            <a:pPr algn="r"/>
            <a:endParaRPr lang="fa-IR" sz="2000" dirty="0">
              <a:cs typeface="2  Nazanin" panose="00000400000000000000" pitchFamily="2" charset="-78"/>
            </a:endParaRPr>
          </a:p>
        </p:txBody>
      </p:sp>
      <p:pic>
        <p:nvPicPr>
          <p:cNvPr id="21" name="Picture 20">
            <a:extLst>
              <a:ext uri="{FF2B5EF4-FFF2-40B4-BE49-F238E27FC236}">
                <a16:creationId xmlns:a16="http://schemas.microsoft.com/office/drawing/2014/main" id="{F43D966D-15F5-4DBB-AFBD-8AB0A8854C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848" y="2553290"/>
            <a:ext cx="4354932" cy="3261995"/>
          </a:xfrm>
          <a:prstGeom prst="rect">
            <a:avLst/>
          </a:prstGeom>
        </p:spPr>
      </p:pic>
    </p:spTree>
    <p:extLst>
      <p:ext uri="{BB962C8B-B14F-4D97-AF65-F5344CB8AC3E}">
        <p14:creationId xmlns:p14="http://schemas.microsoft.com/office/powerpoint/2010/main" val="105044282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90109" y="4080980"/>
            <a:ext cx="7966123" cy="2369880"/>
          </a:xfrm>
          <a:prstGeom prst="rect">
            <a:avLst/>
          </a:prstGeom>
          <a:noFill/>
        </p:spPr>
        <p:txBody>
          <a:bodyPr wrap="square" rtlCol="1">
            <a:spAutoFit/>
          </a:bodyPr>
          <a:lstStyle/>
          <a:p>
            <a:pPr algn="r"/>
            <a:r>
              <a:rPr lang="fa-IR" sz="2800" b="1" dirty="0">
                <a:cs typeface="2  Nazanin" panose="00000400000000000000" pitchFamily="2" charset="-78"/>
              </a:rPr>
              <a:t>عایق رطوبتی</a:t>
            </a:r>
          </a:p>
          <a:p>
            <a:pPr algn="r"/>
            <a:r>
              <a:rPr lang="fa-IR" sz="2400" dirty="0">
                <a:cs typeface="2  Nazanin" panose="00000400000000000000" pitchFamily="2" charset="-78"/>
              </a:rPr>
              <a:t>عايقهاي رطوبتي مواد و مصالحي هستند كه براي جلوگيري از نفـوذ آب و رطوبـت، در سـاختمان استفاده ميشوند. </a:t>
            </a:r>
          </a:p>
          <a:p>
            <a:pPr algn="r"/>
            <a:r>
              <a:rPr lang="fa-IR" sz="2400" dirty="0">
                <a:cs typeface="2  Nazanin" panose="00000400000000000000" pitchFamily="2" charset="-78"/>
              </a:rPr>
              <a:t>عايق رطوبتي قيري، غشاي نيمه انعطافپذير پيوستهاي است شامل لايه هاي متنـاوب نمـد اشـباع شده يا روكش شده، يا منسوج، با لايه هاي قير و ممكن است با روية سنگدانة معدني، مواد قيري يـا ساير ورقها روكش شود</a:t>
            </a:r>
          </a:p>
        </p:txBody>
      </p:sp>
      <p:pic>
        <p:nvPicPr>
          <p:cNvPr id="17" name="Picture 16">
            <a:extLst>
              <a:ext uri="{FF2B5EF4-FFF2-40B4-BE49-F238E27FC236}">
                <a16:creationId xmlns:a16="http://schemas.microsoft.com/office/drawing/2014/main" id="{25070FD8-3523-45B0-810C-2598D0443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68" y="4157788"/>
            <a:ext cx="3146095" cy="251687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9E5D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8C874392-60BA-41FC-A82B-E737D20D4DCA}"/>
              </a:ext>
            </a:extLst>
          </p:cNvPr>
          <p:cNvSpPr txBox="1"/>
          <p:nvPr/>
        </p:nvSpPr>
        <p:spPr>
          <a:xfrm>
            <a:off x="3892736" y="3046242"/>
            <a:ext cx="8063496" cy="3554819"/>
          </a:xfrm>
          <a:prstGeom prst="rect">
            <a:avLst/>
          </a:prstGeom>
          <a:noFill/>
        </p:spPr>
        <p:txBody>
          <a:bodyPr wrap="square" rtlCol="1">
            <a:spAutoFit/>
          </a:bodyPr>
          <a:lstStyle/>
          <a:p>
            <a:pPr algn="r"/>
            <a:r>
              <a:rPr lang="fa-IR" sz="2500" dirty="0">
                <a:cs typeface="2  Nazanin" panose="00000400000000000000" pitchFamily="2" charset="-78"/>
              </a:rPr>
              <a:t>عايق رطوبتي قير و گوني. </a:t>
            </a:r>
          </a:p>
          <a:p>
            <a:pPr algn="r"/>
            <a:r>
              <a:rPr lang="fa-IR" sz="2500" dirty="0">
                <a:cs typeface="2  Nazanin" panose="00000400000000000000" pitchFamily="2" charset="-78"/>
              </a:rPr>
              <a:t> عايق رطوبتي پليمري تك لاية پـيش سـاخته يـا اجراپـذير در محـل. </a:t>
            </a:r>
          </a:p>
          <a:p>
            <a:pPr algn="r"/>
            <a:r>
              <a:rPr lang="fa-IR" sz="2500" dirty="0">
                <a:cs typeface="2  Nazanin" panose="00000400000000000000" pitchFamily="2" charset="-78"/>
              </a:rPr>
              <a:t>عايق رطوبتي پيش ساخته با قير اصلاح شده به وسيلة پليمرها،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پي: براي عايق كردن پي و سطوح داخلي ساختمانها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بام و سطوح خارجي ساختمان: اين عايق ها به صـورت تـك لايـه بـا بستري از يك لاية پلي استر ترمي و يا به صورت دو لايه با بستري از يك لايه اليـاف شيشـه و يـك لايه پلي استر ساخته و با مذاب قير اصلاح شده با مواد پليمري مخلوط ميشوند و براي عايق كردن سطوح خارجي ساختمان ها، استخرها و تونل ها به كار ميروند</a:t>
            </a:r>
          </a:p>
        </p:txBody>
      </p:sp>
      <p:pic>
        <p:nvPicPr>
          <p:cNvPr id="18" name="Picture 17">
            <a:extLst>
              <a:ext uri="{FF2B5EF4-FFF2-40B4-BE49-F238E27FC236}">
                <a16:creationId xmlns:a16="http://schemas.microsoft.com/office/drawing/2014/main" id="{898942AA-3829-4C48-AF80-86708B0C8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05" y="2634199"/>
            <a:ext cx="3067422" cy="1971914"/>
          </a:xfrm>
          <a:prstGeom prst="rect">
            <a:avLst/>
          </a:prstGeom>
        </p:spPr>
      </p:pic>
      <p:pic>
        <p:nvPicPr>
          <p:cNvPr id="20" name="Picture 19">
            <a:extLst>
              <a:ext uri="{FF2B5EF4-FFF2-40B4-BE49-F238E27FC236}">
                <a16:creationId xmlns:a16="http://schemas.microsoft.com/office/drawing/2014/main" id="{F9FF4F99-3DFC-4BDE-A3F5-460C32C78EE9}"/>
              </a:ext>
            </a:extLst>
          </p:cNvPr>
          <p:cNvPicPr>
            <a:picLocks noChangeAspect="1"/>
          </p:cNvPicPr>
          <p:nvPr/>
        </p:nvPicPr>
        <p:blipFill rotWithShape="1">
          <a:blip r:embed="rId4">
            <a:extLst>
              <a:ext uri="{28A0092B-C50C-407E-A947-70E740481C1C}">
                <a14:useLocalDpi xmlns:a14="http://schemas.microsoft.com/office/drawing/2010/main" val="0"/>
              </a:ext>
            </a:extLst>
          </a:blip>
          <a:srcRect b="8546"/>
          <a:stretch/>
        </p:blipFill>
        <p:spPr>
          <a:xfrm>
            <a:off x="275105" y="4703888"/>
            <a:ext cx="3342526" cy="2037927"/>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1282"/>
            <a:ext cx="12192000" cy="7550727"/>
            <a:chOff x="0" y="0"/>
            <a:chExt cx="12192000" cy="7550727"/>
          </a:xfrm>
          <a:solidFill>
            <a:srgbClr val="FFB5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16" name="TextBox 15">
            <a:extLst>
              <a:ext uri="{FF2B5EF4-FFF2-40B4-BE49-F238E27FC236}">
                <a16:creationId xmlns:a16="http://schemas.microsoft.com/office/drawing/2014/main" id="{FFB767D8-404A-4FFE-B704-8AABC979740E}"/>
              </a:ext>
            </a:extLst>
          </p:cNvPr>
          <p:cNvSpPr txBox="1"/>
          <p:nvPr/>
        </p:nvSpPr>
        <p:spPr>
          <a:xfrm>
            <a:off x="4963885" y="2518024"/>
            <a:ext cx="6804561" cy="4001095"/>
          </a:xfrm>
          <a:prstGeom prst="rect">
            <a:avLst/>
          </a:prstGeom>
          <a:noFill/>
        </p:spPr>
        <p:txBody>
          <a:bodyPr wrap="square" rtlCol="1">
            <a:spAutoFit/>
          </a:bodyPr>
          <a:lstStyle/>
          <a:p>
            <a:pPr algn="r"/>
            <a:r>
              <a:rPr lang="fa-IR" sz="2600" dirty="0">
                <a:cs typeface="2  Nazanin" panose="00000400000000000000" pitchFamily="2" charset="-78"/>
              </a:rPr>
              <a:t>آزمايشهاي لازم براي تعيين كيفيت عايقهاي رطوبتي عبارت است از: تعيين حلاليت مـواد قيـري در تري كلرو اتيلن، مقاومت عايق رطوبتي پيش ساخته در برابر پارگي، تاب كششي اتصالات عـايق رطوبتي پيش ساخته، ميزان انعطاف پذيري (دماي تاب خمشي) عـايق رطـوبتي پـيش سـاخته در سرما، اندازهگيري ابعاد و جرم واحد سطح، مقاومـت كششـي عـايقهـاي رطـوبتي، مقاومـت عـايق رطوبتي پيش ساخته در مقابل ازون، مقاومت عايق رطوبتي پيش ساخته در مقابـل نفـوذ بخـار آب(ضريب مقاومت)، پايداري ابعادي عايقهاي رطوبتي در برابر حرارت</a:t>
            </a:r>
            <a:endParaRPr lang="en-US" sz="2600" dirty="0">
              <a:cs typeface="2  Nazanin" panose="00000400000000000000" pitchFamily="2" charset="-78"/>
            </a:endParaRPr>
          </a:p>
          <a:p>
            <a:pPr algn="r"/>
            <a:endParaRPr lang="fa-IR" sz="2000" dirty="0">
              <a:cs typeface="2  Nazanin" panose="00000400000000000000" pitchFamily="2" charset="-78"/>
            </a:endParaRPr>
          </a:p>
        </p:txBody>
      </p:sp>
      <p:pic>
        <p:nvPicPr>
          <p:cNvPr id="21" name="Picture 20">
            <a:extLst>
              <a:ext uri="{FF2B5EF4-FFF2-40B4-BE49-F238E27FC236}">
                <a16:creationId xmlns:a16="http://schemas.microsoft.com/office/drawing/2014/main" id="{F43D966D-15F5-4DBB-AFBD-8AB0A8854C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848" y="2553290"/>
            <a:ext cx="4354932" cy="3261995"/>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2" y="1283"/>
            <a:ext cx="12192000" cy="7550727"/>
            <a:chOff x="0" y="0"/>
            <a:chExt cx="12192000" cy="7550727"/>
          </a:xfrm>
          <a:solidFill>
            <a:srgbClr val="BADDD7"/>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3BFBE"/>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19" name="TextBox 18">
            <a:extLst>
              <a:ext uri="{FF2B5EF4-FFF2-40B4-BE49-F238E27FC236}">
                <a16:creationId xmlns:a16="http://schemas.microsoft.com/office/drawing/2014/main" id="{606A1C6E-ECB2-45DF-91B5-CC918D5CD04E}"/>
              </a:ext>
            </a:extLst>
          </p:cNvPr>
          <p:cNvSpPr txBox="1"/>
          <p:nvPr/>
        </p:nvSpPr>
        <p:spPr>
          <a:xfrm>
            <a:off x="4107992" y="989031"/>
            <a:ext cx="7966123" cy="5632311"/>
          </a:xfrm>
          <a:prstGeom prst="rect">
            <a:avLst/>
          </a:prstGeom>
          <a:noFill/>
        </p:spPr>
        <p:txBody>
          <a:bodyPr wrap="square" rtlCol="1">
            <a:spAutoFit/>
          </a:bodyPr>
          <a:lstStyle/>
          <a:p>
            <a:pPr algn="r"/>
            <a:r>
              <a:rPr lang="fa-IR" sz="2400" b="1" dirty="0">
                <a:cs typeface="2  Nazanin" panose="00000400000000000000" pitchFamily="2" charset="-78"/>
              </a:rPr>
              <a:t>ایمنی</a:t>
            </a:r>
          </a:p>
          <a:p>
            <a:pPr algn="r"/>
            <a:r>
              <a:rPr lang="fa-IR" sz="2400" dirty="0">
                <a:cs typeface="2  Nazanin" panose="00000400000000000000" pitchFamily="2" charset="-78"/>
              </a:rPr>
              <a:t>حرارت دادن قير، براي اجراي قيرگوني در محل ساختمان، سبب انتشار گازهاي مضـر و افزايش آلودگي ميشود. همچنين خطـر سـوختگي شـديد بـراي افـراد در معـرض آن دارد، لـذا ضروري است تمهيدات لازم در اين زمينه انديشيده شود. كارخانة توليدكننده عـايقهـاي رطـوبتي قير اصلاح شدة پيش ساخته بايد دور از شهر باشد، تا از آلودگي منـاطق شـهري جلـوگيري شـود. </a:t>
            </a:r>
          </a:p>
          <a:p>
            <a:pPr algn="r"/>
            <a:r>
              <a:rPr lang="fa-IR" sz="2400" dirty="0">
                <a:cs typeface="2  Nazanin" panose="00000400000000000000" pitchFamily="2" charset="-78"/>
              </a:rPr>
              <a:t>نخاله هاي حاصل از تعمير و بازسازي عايق هاي رطوبتي بر پايه قير از لحاظ اقتصادي قابـل بازيافـت نيست. </a:t>
            </a:r>
          </a:p>
          <a:p>
            <a:pPr algn="r"/>
            <a:r>
              <a:rPr lang="fa-IR" sz="2400" dirty="0">
                <a:cs typeface="2  Nazanin" panose="00000400000000000000" pitchFamily="2" charset="-78"/>
              </a:rPr>
              <a:t> هنگام كار با عايق هاي رطوبتي، از دستكش، لباس كار مناسب و كلاه ايمن ااسـتفاده شود. تمهيدات لازم براي جلوگيري از خطر آتیش سوزي به عمل آيد</a:t>
            </a:r>
            <a:endParaRPr lang="en-US" sz="2400" dirty="0">
              <a:cs typeface="2  Nazanin" panose="00000400000000000000" pitchFamily="2" charset="-78"/>
            </a:endParaRPr>
          </a:p>
          <a:p>
            <a:pPr algn="r"/>
            <a:r>
              <a:rPr lang="fa-IR" sz="2400" b="1" dirty="0">
                <a:cs typeface="2  Nazanin" panose="00000400000000000000" pitchFamily="2" charset="-78"/>
              </a:rPr>
              <a:t>بسته بندی</a:t>
            </a:r>
          </a:p>
          <a:p>
            <a:pPr algn="r"/>
            <a:r>
              <a:rPr lang="fa-IR" sz="2400" dirty="0">
                <a:cs typeface="2  Nazanin" panose="00000400000000000000" pitchFamily="2" charset="-78"/>
              </a:rPr>
              <a:t>محصول نهايي عايق هاي پيش ساخته قيري بايـد بـه صـورت رول بسـته بنـدي شـود. </a:t>
            </a:r>
          </a:p>
          <a:p>
            <a:pPr algn="r"/>
            <a:r>
              <a:rPr lang="fa-IR" sz="2400" dirty="0">
                <a:cs typeface="2  Nazanin" panose="00000400000000000000" pitchFamily="2" charset="-78"/>
              </a:rPr>
              <a:t>هنگام بسته بندي، براي جلوگيري از چسبندگي، يك طرف عايق بايد با پودر معدني، مانند تالك يـا روكش آلومينيوم، با حرارت مشعل پوشانده شود</a:t>
            </a:r>
          </a:p>
        </p:txBody>
      </p:sp>
      <p:pic>
        <p:nvPicPr>
          <p:cNvPr id="27" name="Picture 26">
            <a:extLst>
              <a:ext uri="{FF2B5EF4-FFF2-40B4-BE49-F238E27FC236}">
                <a16:creationId xmlns:a16="http://schemas.microsoft.com/office/drawing/2014/main" id="{E7B56D88-2AFF-433B-A125-33004DA7EC26}"/>
              </a:ext>
            </a:extLst>
          </p:cNvPr>
          <p:cNvPicPr>
            <a:picLocks noChangeAspect="1"/>
          </p:cNvPicPr>
          <p:nvPr/>
        </p:nvPicPr>
        <p:blipFill rotWithShape="1">
          <a:blip r:embed="rId6">
            <a:extLst>
              <a:ext uri="{28A0092B-C50C-407E-A947-70E740481C1C}">
                <a14:useLocalDpi xmlns:a14="http://schemas.microsoft.com/office/drawing/2010/main" val="0"/>
              </a:ext>
            </a:extLst>
          </a:blip>
          <a:srcRect t="21990"/>
          <a:stretch/>
        </p:blipFill>
        <p:spPr>
          <a:xfrm>
            <a:off x="275104" y="1342975"/>
            <a:ext cx="3909885" cy="2284640"/>
          </a:xfrm>
          <a:prstGeom prst="rect">
            <a:avLst/>
          </a:prstGeom>
        </p:spPr>
      </p:pic>
      <p:pic>
        <p:nvPicPr>
          <p:cNvPr id="29" name="Picture 28">
            <a:extLst>
              <a:ext uri="{FF2B5EF4-FFF2-40B4-BE49-F238E27FC236}">
                <a16:creationId xmlns:a16="http://schemas.microsoft.com/office/drawing/2014/main" id="{0F27D9AB-655C-4B8F-8784-198A4ADB79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58161" y="4090637"/>
            <a:ext cx="4043675" cy="2426205"/>
          </a:xfrm>
          <a:prstGeom prst="rect">
            <a:avLst/>
          </a:prstGeom>
        </p:spPr>
      </p:pic>
    </p:spTree>
    <p:extLst>
      <p:ext uri="{BB962C8B-B14F-4D97-AF65-F5344CB8AC3E}">
        <p14:creationId xmlns:p14="http://schemas.microsoft.com/office/powerpoint/2010/main" val="328226080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1312D0-2A39-4D17-8D31-7C5C4CB37DCC}"/>
              </a:ext>
            </a:extLst>
          </p:cNvPr>
          <p:cNvSpPr txBox="1"/>
          <p:nvPr/>
        </p:nvSpPr>
        <p:spPr>
          <a:xfrm>
            <a:off x="3990109" y="4080980"/>
            <a:ext cx="7966123" cy="2369880"/>
          </a:xfrm>
          <a:prstGeom prst="rect">
            <a:avLst/>
          </a:prstGeom>
          <a:noFill/>
        </p:spPr>
        <p:txBody>
          <a:bodyPr wrap="square" rtlCol="1">
            <a:spAutoFit/>
          </a:bodyPr>
          <a:lstStyle/>
          <a:p>
            <a:pPr algn="r"/>
            <a:r>
              <a:rPr lang="fa-IR" sz="2800" b="1" dirty="0">
                <a:cs typeface="2  Nazanin" panose="00000400000000000000" pitchFamily="2" charset="-78"/>
              </a:rPr>
              <a:t>عایق رطوبتی</a:t>
            </a:r>
          </a:p>
          <a:p>
            <a:pPr algn="r"/>
            <a:r>
              <a:rPr lang="fa-IR" sz="2400" dirty="0">
                <a:cs typeface="2  Nazanin" panose="00000400000000000000" pitchFamily="2" charset="-78"/>
              </a:rPr>
              <a:t>عايقهاي رطوبتي مواد و مصالحي هستند كه براي جلوگيري از نفـوذ آب و رطوبـت، در سـاختمان استفاده ميشوند. </a:t>
            </a:r>
          </a:p>
          <a:p>
            <a:pPr algn="r"/>
            <a:r>
              <a:rPr lang="fa-IR" sz="2400" dirty="0">
                <a:cs typeface="2  Nazanin" panose="00000400000000000000" pitchFamily="2" charset="-78"/>
              </a:rPr>
              <a:t>عايق رطوبتي قيري، غشاي نيمه انعطافپذير پيوستهاي است شامل لايه هاي متنـاوب نمـد اشـباع شده يا روكش شده، يا منسوج، با لايه هاي قير و ممكن است با روية سنگدانة معدني، مواد قيري يـا ساير ورقها روكش شود</a:t>
            </a:r>
          </a:p>
        </p:txBody>
      </p:sp>
      <p:pic>
        <p:nvPicPr>
          <p:cNvPr id="17" name="Picture 16">
            <a:extLst>
              <a:ext uri="{FF2B5EF4-FFF2-40B4-BE49-F238E27FC236}">
                <a16:creationId xmlns:a16="http://schemas.microsoft.com/office/drawing/2014/main" id="{25070FD8-3523-45B0-810C-2598D0443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768" y="4157788"/>
            <a:ext cx="3146095" cy="251687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0"/>
            <a:ext cx="12192000" cy="7550727"/>
            <a:chOff x="0" y="0"/>
            <a:chExt cx="12192000" cy="7550727"/>
          </a:xfrm>
          <a:solidFill>
            <a:srgbClr val="F9E5DA"/>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8C874392-60BA-41FC-A82B-E737D20D4DCA}"/>
              </a:ext>
            </a:extLst>
          </p:cNvPr>
          <p:cNvSpPr txBox="1"/>
          <p:nvPr/>
        </p:nvSpPr>
        <p:spPr>
          <a:xfrm>
            <a:off x="3892736" y="3046242"/>
            <a:ext cx="8063496" cy="3554819"/>
          </a:xfrm>
          <a:prstGeom prst="rect">
            <a:avLst/>
          </a:prstGeom>
          <a:noFill/>
        </p:spPr>
        <p:txBody>
          <a:bodyPr wrap="square" rtlCol="1">
            <a:spAutoFit/>
          </a:bodyPr>
          <a:lstStyle/>
          <a:p>
            <a:pPr algn="r"/>
            <a:r>
              <a:rPr lang="fa-IR" sz="2500" dirty="0">
                <a:cs typeface="2  Nazanin" panose="00000400000000000000" pitchFamily="2" charset="-78"/>
              </a:rPr>
              <a:t>عايق رطوبتي قير و گوني. </a:t>
            </a:r>
          </a:p>
          <a:p>
            <a:pPr algn="r"/>
            <a:r>
              <a:rPr lang="fa-IR" sz="2500" dirty="0">
                <a:cs typeface="2  Nazanin" panose="00000400000000000000" pitchFamily="2" charset="-78"/>
              </a:rPr>
              <a:t> عايق رطوبتي پليمري تك لاية پـيش سـاخته يـا اجراپـذير در محـل. </a:t>
            </a:r>
          </a:p>
          <a:p>
            <a:pPr algn="r"/>
            <a:r>
              <a:rPr lang="fa-IR" sz="2500" dirty="0">
                <a:cs typeface="2  Nazanin" panose="00000400000000000000" pitchFamily="2" charset="-78"/>
              </a:rPr>
              <a:t>عايق رطوبتي پيش ساخته با قير اصلاح شده به وسيلة پليمرها،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پي: براي عايق كردن پي و سطوح داخلي ساختمانها </a:t>
            </a:r>
          </a:p>
          <a:p>
            <a:pPr marL="342900" indent="-342900" algn="r" rtl="1">
              <a:buFont typeface="Wingdings" panose="05000000000000000000" pitchFamily="2" charset="2"/>
              <a:buChar char="Ø"/>
            </a:pPr>
            <a:r>
              <a:rPr lang="fa-IR" sz="2500" dirty="0">
                <a:cs typeface="2  Nazanin" panose="00000400000000000000" pitchFamily="2" charset="-78"/>
              </a:rPr>
              <a:t>عايق رطوبتي بام و سطوح خارجي ساختمان: اين عايق ها به صـورت تـك لايـه بـا بستري از يك لاية پلي استر ترمي و يا به صورت دو لايه با بستري از يك لايه اليـاف شيشـه و يـك لايه پلي استر ساخته و با مذاب قير اصلاح شده با مواد پليمري مخلوط ميشوند و براي عايق كردن سطوح خارجي ساختمان ها، استخرها و تونل ها به كار ميروند</a:t>
            </a:r>
          </a:p>
        </p:txBody>
      </p:sp>
      <p:pic>
        <p:nvPicPr>
          <p:cNvPr id="18" name="Picture 17">
            <a:extLst>
              <a:ext uri="{FF2B5EF4-FFF2-40B4-BE49-F238E27FC236}">
                <a16:creationId xmlns:a16="http://schemas.microsoft.com/office/drawing/2014/main" id="{898942AA-3829-4C48-AF80-86708B0C8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5105" y="2634199"/>
            <a:ext cx="3067422" cy="1971914"/>
          </a:xfrm>
          <a:prstGeom prst="rect">
            <a:avLst/>
          </a:prstGeom>
        </p:spPr>
      </p:pic>
      <p:pic>
        <p:nvPicPr>
          <p:cNvPr id="20" name="Picture 19">
            <a:extLst>
              <a:ext uri="{FF2B5EF4-FFF2-40B4-BE49-F238E27FC236}">
                <a16:creationId xmlns:a16="http://schemas.microsoft.com/office/drawing/2014/main" id="{F9FF4F99-3DFC-4BDE-A3F5-460C32C78EE9}"/>
              </a:ext>
            </a:extLst>
          </p:cNvPr>
          <p:cNvPicPr>
            <a:picLocks noChangeAspect="1"/>
          </p:cNvPicPr>
          <p:nvPr/>
        </p:nvPicPr>
        <p:blipFill rotWithShape="1">
          <a:blip r:embed="rId4">
            <a:extLst>
              <a:ext uri="{28A0092B-C50C-407E-A947-70E740481C1C}">
                <a14:useLocalDpi xmlns:a14="http://schemas.microsoft.com/office/drawing/2010/main" val="0"/>
              </a:ext>
            </a:extLst>
          </a:blip>
          <a:srcRect b="8546"/>
          <a:stretch/>
        </p:blipFill>
        <p:spPr>
          <a:xfrm>
            <a:off x="275105" y="4703888"/>
            <a:ext cx="3342526" cy="2037927"/>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1282"/>
            <a:ext cx="12192000" cy="7550727"/>
            <a:chOff x="0" y="0"/>
            <a:chExt cx="12192000" cy="7550727"/>
          </a:xfrm>
          <a:solidFill>
            <a:srgbClr val="FFB5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16" name="TextBox 15">
            <a:extLst>
              <a:ext uri="{FF2B5EF4-FFF2-40B4-BE49-F238E27FC236}">
                <a16:creationId xmlns:a16="http://schemas.microsoft.com/office/drawing/2014/main" id="{FFB767D8-404A-4FFE-B704-8AABC979740E}"/>
              </a:ext>
            </a:extLst>
          </p:cNvPr>
          <p:cNvSpPr txBox="1"/>
          <p:nvPr/>
        </p:nvSpPr>
        <p:spPr>
          <a:xfrm>
            <a:off x="4963885" y="2518024"/>
            <a:ext cx="6804561" cy="4001095"/>
          </a:xfrm>
          <a:prstGeom prst="rect">
            <a:avLst/>
          </a:prstGeom>
          <a:noFill/>
        </p:spPr>
        <p:txBody>
          <a:bodyPr wrap="square" rtlCol="1">
            <a:spAutoFit/>
          </a:bodyPr>
          <a:lstStyle/>
          <a:p>
            <a:pPr algn="r"/>
            <a:r>
              <a:rPr lang="fa-IR" sz="2600" dirty="0">
                <a:cs typeface="2  Nazanin" panose="00000400000000000000" pitchFamily="2" charset="-78"/>
              </a:rPr>
              <a:t>آزمايشهاي لازم براي تعيين كيفيت عايقهاي رطوبتي عبارت است از: تعيين حلاليت مـواد قيـري در تري كلرو اتيلن، مقاومت عايق رطوبتي پيش ساخته در برابر پارگي، تاب كششي اتصالات عـايق رطوبتي پيش ساخته، ميزان انعطاف پذيري (دماي تاب خمشي) عـايق رطـوبتي پـيش سـاخته در سرما، اندازهگيري ابعاد و جرم واحد سطح، مقاومـت كششـي عـايقهـاي رطـوبتي، مقاومـت عـايق رطوبتي پيش ساخته در مقابل ازون، مقاومت عايق رطوبتي پيش ساخته در مقابـل نفـوذ بخـار آب(ضريب مقاومت)، پايداري ابعادي عايقهاي رطوبتي در برابر حرارت</a:t>
            </a:r>
            <a:endParaRPr lang="en-US" sz="2600" dirty="0">
              <a:cs typeface="2  Nazanin" panose="00000400000000000000" pitchFamily="2" charset="-78"/>
            </a:endParaRPr>
          </a:p>
          <a:p>
            <a:pPr algn="r"/>
            <a:endParaRPr lang="fa-IR" sz="2000" dirty="0">
              <a:cs typeface="2  Nazanin" panose="00000400000000000000" pitchFamily="2" charset="-78"/>
            </a:endParaRPr>
          </a:p>
        </p:txBody>
      </p:sp>
      <p:pic>
        <p:nvPicPr>
          <p:cNvPr id="21" name="Picture 20">
            <a:extLst>
              <a:ext uri="{FF2B5EF4-FFF2-40B4-BE49-F238E27FC236}">
                <a16:creationId xmlns:a16="http://schemas.microsoft.com/office/drawing/2014/main" id="{F43D966D-15F5-4DBB-AFBD-8AB0A8854C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3848" y="2553290"/>
            <a:ext cx="4354932" cy="3261995"/>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2" y="1283"/>
            <a:ext cx="12192000" cy="7550727"/>
            <a:chOff x="0" y="0"/>
            <a:chExt cx="12192000" cy="7550727"/>
          </a:xfrm>
          <a:solidFill>
            <a:srgbClr val="BADDD7"/>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19" name="TextBox 18">
            <a:extLst>
              <a:ext uri="{FF2B5EF4-FFF2-40B4-BE49-F238E27FC236}">
                <a16:creationId xmlns:a16="http://schemas.microsoft.com/office/drawing/2014/main" id="{606A1C6E-ECB2-45DF-91B5-CC918D5CD04E}"/>
              </a:ext>
            </a:extLst>
          </p:cNvPr>
          <p:cNvSpPr txBox="1"/>
          <p:nvPr/>
        </p:nvSpPr>
        <p:spPr>
          <a:xfrm>
            <a:off x="5257799" y="1110114"/>
            <a:ext cx="6510647" cy="5078313"/>
          </a:xfrm>
          <a:prstGeom prst="rect">
            <a:avLst/>
          </a:prstGeom>
          <a:noFill/>
        </p:spPr>
        <p:txBody>
          <a:bodyPr wrap="square" rtlCol="1">
            <a:spAutoFit/>
          </a:bodyPr>
          <a:lstStyle/>
          <a:p>
            <a:pPr algn="r"/>
            <a:r>
              <a:rPr lang="fa-IR" sz="2400" b="1" dirty="0">
                <a:cs typeface="2  Nazanin" panose="00000400000000000000" pitchFamily="2" charset="-78"/>
              </a:rPr>
              <a:t>ایمینی</a:t>
            </a:r>
          </a:p>
          <a:p>
            <a:pPr algn="r"/>
            <a:r>
              <a:rPr lang="fa-IR" sz="2000" dirty="0">
                <a:cs typeface="2  Nazanin" panose="00000400000000000000" pitchFamily="2" charset="-78"/>
              </a:rPr>
              <a:t>حرارت دادن قير، براي اجراي قيرگوني در محل ساختمان، سبب انتشار گازهاي مضـر و افزايش آلودگي ميشود. همچنين خطـر سـوختگي شـديد بـراي افـراد در معـرض آن دارد، لـذا ضروري است تمهيدات لازم در اين زمينه انديشيده شود. كارخانة توليدكننده عـايقهـاي رطـوبتي قير اصلاح شدة پيش ساخته بايد دور از شهر باشد، تا از آلودگي منـاطق شـهري جلـوگيري شـود. </a:t>
            </a:r>
          </a:p>
          <a:p>
            <a:pPr algn="r"/>
            <a:r>
              <a:rPr lang="fa-IR" sz="2000" dirty="0">
                <a:cs typeface="2  Nazanin" panose="00000400000000000000" pitchFamily="2" charset="-78"/>
              </a:rPr>
              <a:t>نخاله هاي حاصل از تعمير و بازسازي عايقهاي رطوبتي بر پاية قير از لحاظ اقتصادي قابـل بازيافـت نيست. </a:t>
            </a:r>
          </a:p>
          <a:p>
            <a:pPr algn="r"/>
            <a:r>
              <a:rPr lang="fa-IR" sz="2000" dirty="0">
                <a:cs typeface="2  Nazanin" panose="00000400000000000000" pitchFamily="2" charset="-78"/>
              </a:rPr>
              <a:t> هنگام كار با عايق هاي رطوبتي، از دستكش، لباس كار مناسب و كلاه ايمني اسـتفاده شود. تمهيدات لازم براي جلوگيري از خطر آتشسوزي به عمل آيد</a:t>
            </a:r>
            <a:endParaRPr lang="en-US" sz="2000" dirty="0">
              <a:cs typeface="2  Nazanin" panose="00000400000000000000" pitchFamily="2" charset="-78"/>
            </a:endParaRPr>
          </a:p>
          <a:p>
            <a:pPr algn="r"/>
            <a:r>
              <a:rPr lang="fa-IR" sz="2000" b="1" dirty="0">
                <a:cs typeface="2  Nazanin" panose="00000400000000000000" pitchFamily="2" charset="-78"/>
              </a:rPr>
              <a:t>بسته بندی</a:t>
            </a:r>
          </a:p>
          <a:p>
            <a:pPr algn="r"/>
            <a:r>
              <a:rPr lang="fa-IR" sz="2000" dirty="0">
                <a:cs typeface="2  Nazanin" panose="00000400000000000000" pitchFamily="2" charset="-78"/>
              </a:rPr>
              <a:t>محصول نهايي عايقهاي پيش ساختة قيري بايـد بـه صـورت رول بسـته بنـدي شـود. </a:t>
            </a:r>
          </a:p>
          <a:p>
            <a:pPr algn="r"/>
            <a:r>
              <a:rPr lang="fa-IR" sz="2000" dirty="0">
                <a:cs typeface="2  Nazanin" panose="00000400000000000000" pitchFamily="2" charset="-78"/>
              </a:rPr>
              <a:t>هنگام بستهب ندي، براي جلوگيري از چسبندگي، يك طرف عايق بايد با پودر معدني، مانند تالك يـا روكش آلومينيوم، و طرف ديگر با فيلم پلياتيلن قابل ذوب با حرارت مشعل پوشانده شود</a:t>
            </a:r>
          </a:p>
        </p:txBody>
      </p:sp>
      <p:pic>
        <p:nvPicPr>
          <p:cNvPr id="27" name="Picture 26">
            <a:extLst>
              <a:ext uri="{FF2B5EF4-FFF2-40B4-BE49-F238E27FC236}">
                <a16:creationId xmlns:a16="http://schemas.microsoft.com/office/drawing/2014/main" id="{E7B56D88-2AFF-433B-A125-33004DA7EC26}"/>
              </a:ext>
            </a:extLst>
          </p:cNvPr>
          <p:cNvPicPr>
            <a:picLocks noChangeAspect="1"/>
          </p:cNvPicPr>
          <p:nvPr/>
        </p:nvPicPr>
        <p:blipFill rotWithShape="1">
          <a:blip r:embed="rId6">
            <a:extLst>
              <a:ext uri="{28A0092B-C50C-407E-A947-70E740481C1C}">
                <a14:useLocalDpi xmlns:a14="http://schemas.microsoft.com/office/drawing/2010/main" val="0"/>
              </a:ext>
            </a:extLst>
          </a:blip>
          <a:srcRect t="21990"/>
          <a:stretch/>
        </p:blipFill>
        <p:spPr>
          <a:xfrm>
            <a:off x="275105" y="1062889"/>
            <a:ext cx="3809788" cy="2226151"/>
          </a:xfrm>
          <a:prstGeom prst="rect">
            <a:avLst/>
          </a:prstGeom>
        </p:spPr>
      </p:pic>
      <p:pic>
        <p:nvPicPr>
          <p:cNvPr id="29" name="Picture 28">
            <a:extLst>
              <a:ext uri="{FF2B5EF4-FFF2-40B4-BE49-F238E27FC236}">
                <a16:creationId xmlns:a16="http://schemas.microsoft.com/office/drawing/2014/main" id="{0F27D9AB-655C-4B8F-8784-198A4ADB79C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75105" y="3545979"/>
            <a:ext cx="3803477" cy="2282086"/>
          </a:xfrm>
          <a:prstGeom prst="rect">
            <a:avLst/>
          </a:prstGeom>
        </p:spPr>
      </p:pic>
      <p:grpSp>
        <p:nvGrpSpPr>
          <p:cNvPr id="23" name="Group 22">
            <a:extLst>
              <a:ext uri="{FF2B5EF4-FFF2-40B4-BE49-F238E27FC236}">
                <a16:creationId xmlns:a16="http://schemas.microsoft.com/office/drawing/2014/main" id="{CE9F4577-2F48-44A4-957B-59D6407693D0}"/>
              </a:ext>
            </a:extLst>
          </p:cNvPr>
          <p:cNvGrpSpPr/>
          <p:nvPr/>
        </p:nvGrpSpPr>
        <p:grpSpPr>
          <a:xfrm>
            <a:off x="-4" y="-6275"/>
            <a:ext cx="12192000" cy="7550727"/>
            <a:chOff x="0" y="0"/>
            <a:chExt cx="12192000" cy="7550727"/>
          </a:xfrm>
          <a:solidFill>
            <a:srgbClr val="63BFBE"/>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2" name="TextBox 21">
            <a:extLst>
              <a:ext uri="{FF2B5EF4-FFF2-40B4-BE49-F238E27FC236}">
                <a16:creationId xmlns:a16="http://schemas.microsoft.com/office/drawing/2014/main" id="{C7EDD930-802F-4CDE-B327-78EF78BB4ED8}"/>
              </a:ext>
            </a:extLst>
          </p:cNvPr>
          <p:cNvSpPr txBox="1"/>
          <p:nvPr/>
        </p:nvSpPr>
        <p:spPr>
          <a:xfrm>
            <a:off x="4004619" y="603105"/>
            <a:ext cx="7763828" cy="5601533"/>
          </a:xfrm>
          <a:prstGeom prst="rect">
            <a:avLst/>
          </a:prstGeom>
          <a:noFill/>
        </p:spPr>
        <p:txBody>
          <a:bodyPr wrap="square" rtlCol="1">
            <a:spAutoFit/>
          </a:bodyPr>
          <a:lstStyle/>
          <a:p>
            <a:pPr algn="r"/>
            <a:r>
              <a:rPr lang="fa-IR" sz="2200" b="1" dirty="0">
                <a:cs typeface="2  Nazanin" panose="00000400000000000000" pitchFamily="2" charset="-78"/>
              </a:rPr>
              <a:t>بسته بندی</a:t>
            </a:r>
          </a:p>
          <a:p>
            <a:pPr algn="r"/>
            <a:r>
              <a:rPr lang="fa-IR" sz="2400" dirty="0">
                <a:cs typeface="2  Nazanin" panose="00000400000000000000" pitchFamily="2" charset="-78"/>
              </a:rPr>
              <a:t>لول ها هميشه بايد ب هطور عمودي حمل شوند. هنگام حمل بايد مراقبت كرد كه لبـه عايق پاره نشود. هنگام تخليه بايد از پرتاب كردن رول ها خـودداري كـرد</a:t>
            </a:r>
          </a:p>
          <a:p>
            <a:pPr algn="r"/>
            <a:r>
              <a:rPr lang="fa-IR" sz="2400" dirty="0">
                <a:cs typeface="2  Nazanin" panose="00000400000000000000" pitchFamily="2" charset="-78"/>
              </a:rPr>
              <a:t>عايق هاي رطوبتي را ميتـوان بـر روي پالـت در كـف انبـار و همچنـين در قفسه ها نگهداري كرد. </a:t>
            </a:r>
          </a:p>
          <a:p>
            <a:pPr algn="r"/>
            <a:r>
              <a:rPr lang="fa-IR" sz="2400" dirty="0">
                <a:cs typeface="2  Nazanin" panose="00000400000000000000" pitchFamily="2" charset="-78"/>
              </a:rPr>
              <a:t>چنانچه عايق داراي لايه محافظ كدر در زير لايه پلي اتيلن نباشد و قرار اسـت عـايق به مدت طولاني در معرض تابش نور خورشيد در انبـار قـرار گيـرد، بايـد محصـول در برابـر تـابش محافظت شود</a:t>
            </a:r>
            <a:endParaRPr lang="en-US" sz="2400" dirty="0">
              <a:cs typeface="2  Nazanin" panose="00000400000000000000" pitchFamily="2" charset="-78"/>
            </a:endParaRPr>
          </a:p>
          <a:p>
            <a:pPr algn="r"/>
            <a:r>
              <a:rPr lang="fa-IR" sz="2400" dirty="0">
                <a:cs typeface="2  Nazanin" panose="00000400000000000000" pitchFamily="2" charset="-78"/>
              </a:rPr>
              <a:t>زمان نگهداري عايق رطوبتي از تاريخ توليد تـا نصب نبايد بيشتر از شش ماه باشد.</a:t>
            </a:r>
          </a:p>
          <a:p>
            <a:pPr algn="r"/>
            <a:r>
              <a:rPr lang="fa-IR" sz="2400" dirty="0">
                <a:cs typeface="2  Nazanin" panose="00000400000000000000" pitchFamily="2" charset="-78"/>
              </a:rPr>
              <a:t> در صورت نگهداري آن در فضاي بـاز، بايـد روي پالـت نهـاده و روكش پلي اتيلن رنگي بر روي آن كشيده شود.</a:t>
            </a:r>
          </a:p>
          <a:p>
            <a:pPr algn="r"/>
            <a:r>
              <a:rPr lang="fa-IR" sz="2400" dirty="0">
                <a:cs typeface="2  Nazanin" panose="00000400000000000000" pitchFamily="2" charset="-78"/>
              </a:rPr>
              <a:t> رول نبايد بيش از يك هفته، در فضـاي بـاز بمانـد. </a:t>
            </a:r>
          </a:p>
          <a:p>
            <a:pPr algn="r"/>
            <a:r>
              <a:rPr lang="fa-IR" sz="2400" dirty="0">
                <a:cs typeface="2  Nazanin" panose="00000400000000000000" pitchFamily="2" charset="-78"/>
              </a:rPr>
              <a:t>رول ها بايد به شكلي كنار هم قرار داده شوند كه جريان هوا بتواند از بين آنها عبـور كنـد. </a:t>
            </a:r>
          </a:p>
          <a:p>
            <a:pPr algn="r"/>
            <a:r>
              <a:rPr lang="fa-IR" sz="2400" dirty="0">
                <a:cs typeface="2  Nazanin" panose="00000400000000000000" pitchFamily="2" charset="-78"/>
              </a:rPr>
              <a:t>هيچگـاه نبايد دو رول را روي هم قرار داد.</a:t>
            </a:r>
          </a:p>
        </p:txBody>
      </p:sp>
      <p:pic>
        <p:nvPicPr>
          <p:cNvPr id="30" name="Picture 29">
            <a:extLst>
              <a:ext uri="{FF2B5EF4-FFF2-40B4-BE49-F238E27FC236}">
                <a16:creationId xmlns:a16="http://schemas.microsoft.com/office/drawing/2014/main" id="{2868696A-4A87-457D-AA82-63A332F9D09D}"/>
              </a:ext>
            </a:extLst>
          </p:cNvPr>
          <p:cNvPicPr>
            <a:picLocks noChangeAspect="1"/>
          </p:cNvPicPr>
          <p:nvPr/>
        </p:nvPicPr>
        <p:blipFill rotWithShape="1">
          <a:blip r:embed="rId8">
            <a:extLst>
              <a:ext uri="{28A0092B-C50C-407E-A947-70E740481C1C}">
                <a14:useLocalDpi xmlns:a14="http://schemas.microsoft.com/office/drawing/2010/main" val="0"/>
              </a:ext>
            </a:extLst>
          </a:blip>
          <a:srcRect r="9812" b="21732"/>
          <a:stretch/>
        </p:blipFill>
        <p:spPr>
          <a:xfrm>
            <a:off x="623463" y="214968"/>
            <a:ext cx="3106759" cy="3370212"/>
          </a:xfrm>
          <a:prstGeom prst="rect">
            <a:avLst/>
          </a:prstGeom>
        </p:spPr>
      </p:pic>
      <p:pic>
        <p:nvPicPr>
          <p:cNvPr id="32" name="Picture 31">
            <a:extLst>
              <a:ext uri="{FF2B5EF4-FFF2-40B4-BE49-F238E27FC236}">
                <a16:creationId xmlns:a16="http://schemas.microsoft.com/office/drawing/2014/main" id="{C68413A6-DC4E-42C4-8D8E-574AD5902642}"/>
              </a:ext>
            </a:extLst>
          </p:cNvPr>
          <p:cNvPicPr>
            <a:picLocks noChangeAspect="1"/>
          </p:cNvPicPr>
          <p:nvPr/>
        </p:nvPicPr>
        <p:blipFill rotWithShape="1">
          <a:blip r:embed="rId9">
            <a:extLst>
              <a:ext uri="{28A0092B-C50C-407E-A947-70E740481C1C}">
                <a14:useLocalDpi xmlns:a14="http://schemas.microsoft.com/office/drawing/2010/main" val="0"/>
              </a:ext>
            </a:extLst>
          </a:blip>
          <a:srcRect b="10519"/>
          <a:stretch/>
        </p:blipFill>
        <p:spPr>
          <a:xfrm>
            <a:off x="608246" y="3762241"/>
            <a:ext cx="3106758" cy="2779944"/>
          </a:xfrm>
          <a:prstGeom prst="rect">
            <a:avLst/>
          </a:prstGeom>
        </p:spPr>
      </p:pic>
    </p:spTree>
    <p:extLst>
      <p:ext uri="{BB962C8B-B14F-4D97-AF65-F5344CB8AC3E}">
        <p14:creationId xmlns:p14="http://schemas.microsoft.com/office/powerpoint/2010/main" val="277847466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B8C196-1A39-47A0-9A89-04928A57AE72}"/>
              </a:ext>
            </a:extLst>
          </p:cNvPr>
          <p:cNvSpPr>
            <a:spLocks noGrp="1"/>
          </p:cNvSpPr>
          <p:nvPr>
            <p:ph idx="1"/>
          </p:nvPr>
        </p:nvSpPr>
        <p:spPr>
          <a:xfrm>
            <a:off x="439387" y="886002"/>
            <a:ext cx="10914413" cy="2059079"/>
          </a:xfrm>
        </p:spPr>
        <p:txBody>
          <a:bodyPr>
            <a:normAutofit/>
          </a:bodyPr>
          <a:lstStyle/>
          <a:p>
            <a:pPr marL="0" indent="0" algn="r">
              <a:buNone/>
            </a:pPr>
            <a:r>
              <a:rPr lang="fa-IR" sz="2400" dirty="0">
                <a:cs typeface="2  Nazanin" panose="00000400000000000000" pitchFamily="2" charset="-78"/>
              </a:rPr>
              <a:t>يراقآلات (متعلقات) درها، پنجرهها، كمد لباس و كابينـت آشـپزخانه بـه لـوازم و ملزومـاتي گفتـه ميشود كه به درها، پنجره ها، بازشوها و مانند اينها نصب ميشوند و مشـتمل بـر لولاهـا، قفـل هـا،دستگيره هـا، كشـوها، شـیب بنـدها، درزگيرهـا، چشـمي هـاي درهـاي ورودي، زنجيرهـا، آرام بندها  (استوپ ها) و دزدگيرها هستند</a:t>
            </a:r>
          </a:p>
          <a:p>
            <a:pPr marL="0" indent="0" algn="r">
              <a:buNone/>
            </a:pPr>
            <a:r>
              <a:rPr lang="fa-IR" sz="2400" dirty="0">
                <a:cs typeface="2  Nazanin" panose="00000400000000000000" pitchFamily="2" charset="-78"/>
              </a:rPr>
              <a:t>از ديدگاه محل مصرف: درها، پنجرهها، كمد لباس و كابينت آشپزخانه </a:t>
            </a:r>
          </a:p>
          <a:p>
            <a:pPr marL="0" indent="0" algn="r">
              <a:buNone/>
            </a:pPr>
            <a:r>
              <a:rPr lang="fa-IR" sz="2400" dirty="0">
                <a:cs typeface="2  Nazanin" panose="00000400000000000000" pitchFamily="2" charset="-78"/>
              </a:rPr>
              <a:t>ازلحاظ مصالح: فلزي، پلاستيكي و تركيبي از فلز و پلاستيك</a:t>
            </a:r>
          </a:p>
          <a:p>
            <a:pPr marL="0" indent="0">
              <a:buNone/>
            </a:pPr>
            <a:endParaRPr lang="fa-IR" dirty="0"/>
          </a:p>
        </p:txBody>
      </p:sp>
      <p:pic>
        <p:nvPicPr>
          <p:cNvPr id="5" name="Picture 4">
            <a:extLst>
              <a:ext uri="{FF2B5EF4-FFF2-40B4-BE49-F238E27FC236}">
                <a16:creationId xmlns:a16="http://schemas.microsoft.com/office/drawing/2014/main" id="{0C7E0778-2547-4A19-95BE-749E36312394}"/>
              </a:ext>
            </a:extLst>
          </p:cNvPr>
          <p:cNvPicPr>
            <a:picLocks noChangeAspect="1"/>
          </p:cNvPicPr>
          <p:nvPr/>
        </p:nvPicPr>
        <p:blipFill rotWithShape="1">
          <a:blip r:embed="rId2">
            <a:extLst>
              <a:ext uri="{28A0092B-C50C-407E-A947-70E740481C1C}">
                <a14:useLocalDpi xmlns:a14="http://schemas.microsoft.com/office/drawing/2010/main" val="0"/>
              </a:ext>
            </a:extLst>
          </a:blip>
          <a:srcRect l="8701" r="5741"/>
          <a:stretch/>
        </p:blipFill>
        <p:spPr>
          <a:xfrm>
            <a:off x="356260" y="3190888"/>
            <a:ext cx="6115792" cy="2680533"/>
          </a:xfrm>
          <a:prstGeom prst="rect">
            <a:avLst/>
          </a:prstGeom>
        </p:spPr>
      </p:pic>
      <p:sp>
        <p:nvSpPr>
          <p:cNvPr id="6" name="TextBox 5">
            <a:extLst>
              <a:ext uri="{FF2B5EF4-FFF2-40B4-BE49-F238E27FC236}">
                <a16:creationId xmlns:a16="http://schemas.microsoft.com/office/drawing/2014/main" id="{0103DA7B-7F52-4E07-AE26-48AF58BB292E}"/>
              </a:ext>
            </a:extLst>
          </p:cNvPr>
          <p:cNvSpPr txBox="1"/>
          <p:nvPr/>
        </p:nvSpPr>
        <p:spPr>
          <a:xfrm>
            <a:off x="8431481" y="368135"/>
            <a:ext cx="2624446" cy="461665"/>
          </a:xfrm>
          <a:prstGeom prst="rect">
            <a:avLst/>
          </a:prstGeom>
          <a:noFill/>
        </p:spPr>
        <p:txBody>
          <a:bodyPr wrap="square" rtlCol="1">
            <a:spAutoFit/>
          </a:bodyPr>
          <a:lstStyle/>
          <a:p>
            <a:r>
              <a:rPr lang="fa-IR" sz="2400" b="1" dirty="0">
                <a:cs typeface="2  Nazanin" panose="00000400000000000000" pitchFamily="2" charset="-78"/>
              </a:rPr>
              <a:t>یراق الات ساختمانی</a:t>
            </a:r>
          </a:p>
        </p:txBody>
      </p:sp>
      <p:pic>
        <p:nvPicPr>
          <p:cNvPr id="8" name="Picture 7">
            <a:extLst>
              <a:ext uri="{FF2B5EF4-FFF2-40B4-BE49-F238E27FC236}">
                <a16:creationId xmlns:a16="http://schemas.microsoft.com/office/drawing/2014/main" id="{0D8801B9-68FA-4B22-AAEC-32BE6195D1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9491" y="3190888"/>
            <a:ext cx="4868328" cy="3239651"/>
          </a:xfrm>
          <a:prstGeom prst="rect">
            <a:avLst/>
          </a:prstGeom>
        </p:spPr>
      </p:pic>
    </p:spTree>
    <p:extLst>
      <p:ext uri="{BB962C8B-B14F-4D97-AF65-F5344CB8AC3E}">
        <p14:creationId xmlns:p14="http://schemas.microsoft.com/office/powerpoint/2010/main" val="30757088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2A088D3-A642-47E9-8843-D04D55D8CBF1}"/>
              </a:ext>
            </a:extLst>
          </p:cNvPr>
          <p:cNvGrpSpPr/>
          <p:nvPr/>
        </p:nvGrpSpPr>
        <p:grpSpPr>
          <a:xfrm>
            <a:off x="40" y="-3707659"/>
            <a:ext cx="12192000" cy="7550727"/>
            <a:chOff x="0" y="0"/>
            <a:chExt cx="12192000" cy="7550727"/>
          </a:xfrm>
          <a:solidFill>
            <a:srgbClr val="C3D4DE"/>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99AA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2B49C"/>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E8C77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18" name="TextBox 17">
            <a:extLst>
              <a:ext uri="{FF2B5EF4-FFF2-40B4-BE49-F238E27FC236}">
                <a16:creationId xmlns:a16="http://schemas.microsoft.com/office/drawing/2014/main" id="{1613B86D-B881-4C0F-BFF1-8F82D4952B4A}"/>
              </a:ext>
            </a:extLst>
          </p:cNvPr>
          <p:cNvSpPr txBox="1"/>
          <p:nvPr/>
        </p:nvSpPr>
        <p:spPr>
          <a:xfrm>
            <a:off x="4750130" y="4429496"/>
            <a:ext cx="6947065" cy="1569660"/>
          </a:xfrm>
          <a:prstGeom prst="rect">
            <a:avLst/>
          </a:prstGeom>
          <a:noFill/>
        </p:spPr>
        <p:txBody>
          <a:bodyPr wrap="square" rtlCol="1">
            <a:spAutoFit/>
          </a:bodyPr>
          <a:lstStyle/>
          <a:p>
            <a:pPr algn="r"/>
            <a:r>
              <a:rPr lang="fa-IR" sz="2400" b="1" dirty="0">
                <a:cs typeface="2  Nazanin" panose="00000400000000000000" pitchFamily="2" charset="-78"/>
              </a:rPr>
              <a:t>رنگ و پوشش ساختمانی</a:t>
            </a:r>
          </a:p>
          <a:p>
            <a:pPr algn="r"/>
            <a:r>
              <a:rPr lang="fa-IR" sz="2400" dirty="0">
                <a:cs typeface="2  Nazanin" panose="00000400000000000000" pitchFamily="2" charset="-78"/>
              </a:rPr>
              <a:t>تركيباتي است از مواد آلي و معـدني، ماننـد رزيـن هـا، مـواد افزودنـي، رنگدانـه هـا، پركننده ها، حلال ها، كه براي تزيين و حفاظت اجزاي ساختماني به كار ميرود.</a:t>
            </a:r>
          </a:p>
        </p:txBody>
      </p:sp>
      <p:pic>
        <p:nvPicPr>
          <p:cNvPr id="20" name="Picture 19">
            <a:extLst>
              <a:ext uri="{FF2B5EF4-FFF2-40B4-BE49-F238E27FC236}">
                <a16:creationId xmlns:a16="http://schemas.microsoft.com/office/drawing/2014/main" id="{B7E75326-8451-4093-B379-AD780410C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021" y="3978477"/>
            <a:ext cx="3402714" cy="2548751"/>
          </a:xfrm>
          <a:prstGeom prst="rect">
            <a:avLst/>
          </a:prstGeom>
        </p:spPr>
      </p:pic>
    </p:spTree>
    <p:extLst>
      <p:ext uri="{BB962C8B-B14F-4D97-AF65-F5344CB8AC3E}">
        <p14:creationId xmlns:p14="http://schemas.microsoft.com/office/powerpoint/2010/main" val="118333821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4750130" y="4429496"/>
            <a:ext cx="6947065" cy="1569660"/>
          </a:xfrm>
          <a:prstGeom prst="rect">
            <a:avLst/>
          </a:prstGeom>
          <a:noFill/>
        </p:spPr>
        <p:txBody>
          <a:bodyPr wrap="square" rtlCol="1">
            <a:spAutoFit/>
          </a:bodyPr>
          <a:lstStyle/>
          <a:p>
            <a:pPr algn="r"/>
            <a:r>
              <a:rPr lang="fa-IR" sz="2400" b="1" dirty="0">
                <a:cs typeface="2  Nazanin" panose="00000400000000000000" pitchFamily="2" charset="-78"/>
              </a:rPr>
              <a:t>رنگ و پوشش ساختمانی</a:t>
            </a:r>
          </a:p>
          <a:p>
            <a:pPr algn="r"/>
            <a:r>
              <a:rPr lang="fa-IR" sz="2400" dirty="0">
                <a:cs typeface="2  Nazanin" panose="00000400000000000000" pitchFamily="2" charset="-78"/>
              </a:rPr>
              <a:t>تركيباتي است از مواد آلي و معـدني، ماننـد رزيـنهـا، مـواد افزودنـي، رنگدانـه هـا، پركنندهها، حلالها، كه براي تزيين (زيبايي) و حفاظت اجزاي ساختماني به كار ميرود.</a:t>
            </a:r>
          </a:p>
        </p:txBody>
      </p:sp>
      <p:pic>
        <p:nvPicPr>
          <p:cNvPr id="20" name="Picture 19">
            <a:extLst>
              <a:ext uri="{FF2B5EF4-FFF2-40B4-BE49-F238E27FC236}">
                <a16:creationId xmlns:a16="http://schemas.microsoft.com/office/drawing/2014/main" id="{B7E75326-8451-4093-B379-AD780410C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021" y="3978477"/>
            <a:ext cx="3402714" cy="254875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62755"/>
            <a:ext cx="12192000" cy="7550727"/>
            <a:chOff x="0" y="0"/>
            <a:chExt cx="12192000" cy="7550727"/>
          </a:xfrm>
          <a:solidFill>
            <a:srgbClr val="C3D4DE"/>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99AA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2B49C"/>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E8C77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grpSp>
        <p:nvGrpSpPr>
          <p:cNvPr id="19" name="Group 18">
            <a:extLst>
              <a:ext uri="{FF2B5EF4-FFF2-40B4-BE49-F238E27FC236}">
                <a16:creationId xmlns:a16="http://schemas.microsoft.com/office/drawing/2014/main" id="{3895CFE7-72DE-4EDA-AF3C-9DD94B4076F8}"/>
              </a:ext>
            </a:extLst>
          </p:cNvPr>
          <p:cNvGrpSpPr/>
          <p:nvPr/>
        </p:nvGrpSpPr>
        <p:grpSpPr>
          <a:xfrm>
            <a:off x="566120" y="3243726"/>
            <a:ext cx="3321131" cy="3596822"/>
            <a:chOff x="8870867" y="3261178"/>
            <a:chExt cx="3321131" cy="3596822"/>
          </a:xfrm>
        </p:grpSpPr>
        <p:sp>
          <p:nvSpPr>
            <p:cNvPr id="33" name="Rectangle 32">
              <a:extLst>
                <a:ext uri="{FF2B5EF4-FFF2-40B4-BE49-F238E27FC236}">
                  <a16:creationId xmlns:a16="http://schemas.microsoft.com/office/drawing/2014/main" id="{C48F8474-257C-4038-8E2D-5416ED5DB7F0}"/>
                </a:ext>
              </a:extLst>
            </p:cNvPr>
            <p:cNvSpPr/>
            <p:nvPr/>
          </p:nvSpPr>
          <p:spPr>
            <a:xfrm>
              <a:off x="8870867" y="3261178"/>
              <a:ext cx="3321131" cy="359682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TextBox 35">
              <a:extLst>
                <a:ext uri="{FF2B5EF4-FFF2-40B4-BE49-F238E27FC236}">
                  <a16:creationId xmlns:a16="http://schemas.microsoft.com/office/drawing/2014/main" id="{23219129-5EA5-4F21-AAE7-545C9EE96F4B}"/>
                </a:ext>
              </a:extLst>
            </p:cNvPr>
            <p:cNvSpPr txBox="1"/>
            <p:nvPr/>
          </p:nvSpPr>
          <p:spPr>
            <a:xfrm>
              <a:off x="9025713"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پودری</a:t>
              </a:r>
            </a:p>
          </p:txBody>
        </p:sp>
      </p:grpSp>
      <p:grpSp>
        <p:nvGrpSpPr>
          <p:cNvPr id="17" name="Group 16">
            <a:extLst>
              <a:ext uri="{FF2B5EF4-FFF2-40B4-BE49-F238E27FC236}">
                <a16:creationId xmlns:a16="http://schemas.microsoft.com/office/drawing/2014/main" id="{1B633311-DEE9-48BC-B181-45C318A83C7A}"/>
              </a:ext>
            </a:extLst>
          </p:cNvPr>
          <p:cNvGrpSpPr/>
          <p:nvPr/>
        </p:nvGrpSpPr>
        <p:grpSpPr>
          <a:xfrm>
            <a:off x="592743" y="3261178"/>
            <a:ext cx="2956956" cy="3596822"/>
            <a:chOff x="5913912" y="3261178"/>
            <a:chExt cx="2956956" cy="3596822"/>
          </a:xfrm>
        </p:grpSpPr>
        <p:sp>
          <p:nvSpPr>
            <p:cNvPr id="32" name="Rectangle 31">
              <a:extLst>
                <a:ext uri="{FF2B5EF4-FFF2-40B4-BE49-F238E27FC236}">
                  <a16:creationId xmlns:a16="http://schemas.microsoft.com/office/drawing/2014/main" id="{3510252A-C7A8-4A2F-BFA9-D72B31BC14B6}"/>
                </a:ext>
              </a:extLst>
            </p:cNvPr>
            <p:cNvSpPr/>
            <p:nvPr/>
          </p:nvSpPr>
          <p:spPr>
            <a:xfrm>
              <a:off x="5913912" y="3261178"/>
              <a:ext cx="2956956" cy="359682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5" name="TextBox 34">
              <a:extLst>
                <a:ext uri="{FF2B5EF4-FFF2-40B4-BE49-F238E27FC236}">
                  <a16:creationId xmlns:a16="http://schemas.microsoft.com/office/drawing/2014/main" id="{006E17D8-3AC5-42A8-830D-25E554AB01B0}"/>
                </a:ext>
              </a:extLst>
            </p:cNvPr>
            <p:cNvSpPr txBox="1"/>
            <p:nvPr/>
          </p:nvSpPr>
          <p:spPr>
            <a:xfrm>
              <a:off x="5951951"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پایه ابی</a:t>
              </a:r>
            </a:p>
          </p:txBody>
        </p:sp>
      </p:grpSp>
      <p:grpSp>
        <p:nvGrpSpPr>
          <p:cNvPr id="16" name="Group 15">
            <a:extLst>
              <a:ext uri="{FF2B5EF4-FFF2-40B4-BE49-F238E27FC236}">
                <a16:creationId xmlns:a16="http://schemas.microsoft.com/office/drawing/2014/main" id="{F14D46A4-7A28-4D57-8632-C1BEBBC5BC24}"/>
              </a:ext>
            </a:extLst>
          </p:cNvPr>
          <p:cNvGrpSpPr/>
          <p:nvPr/>
        </p:nvGrpSpPr>
        <p:grpSpPr>
          <a:xfrm>
            <a:off x="314664" y="3261178"/>
            <a:ext cx="2956988" cy="3596822"/>
            <a:chOff x="2956924" y="3261178"/>
            <a:chExt cx="2956988" cy="3596822"/>
          </a:xfrm>
        </p:grpSpPr>
        <p:sp>
          <p:nvSpPr>
            <p:cNvPr id="31" name="Rectangle 30">
              <a:extLst>
                <a:ext uri="{FF2B5EF4-FFF2-40B4-BE49-F238E27FC236}">
                  <a16:creationId xmlns:a16="http://schemas.microsoft.com/office/drawing/2014/main" id="{32D3866E-F568-4523-B153-90FAF6ED6A09}"/>
                </a:ext>
              </a:extLst>
            </p:cNvPr>
            <p:cNvSpPr/>
            <p:nvPr/>
          </p:nvSpPr>
          <p:spPr>
            <a:xfrm>
              <a:off x="2956956" y="3261178"/>
              <a:ext cx="2956956" cy="359682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4" name="TextBox 33">
              <a:extLst>
                <a:ext uri="{FF2B5EF4-FFF2-40B4-BE49-F238E27FC236}">
                  <a16:creationId xmlns:a16="http://schemas.microsoft.com/office/drawing/2014/main" id="{AC800F3F-64F2-49E6-9F8C-C505FAFE1CBA}"/>
                </a:ext>
              </a:extLst>
            </p:cNvPr>
            <p:cNvSpPr txBox="1"/>
            <p:nvPr/>
          </p:nvSpPr>
          <p:spPr>
            <a:xfrm>
              <a:off x="2956924" y="4275117"/>
              <a:ext cx="2956955"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پر جامد</a:t>
              </a:r>
            </a:p>
          </p:txBody>
        </p:sp>
      </p:grpSp>
      <p:grpSp>
        <p:nvGrpSpPr>
          <p:cNvPr id="37" name="Group 36">
            <a:extLst>
              <a:ext uri="{FF2B5EF4-FFF2-40B4-BE49-F238E27FC236}">
                <a16:creationId xmlns:a16="http://schemas.microsoft.com/office/drawing/2014/main" id="{86AFD233-5280-489B-9C63-8F9AC56C85BA}"/>
              </a:ext>
            </a:extLst>
          </p:cNvPr>
          <p:cNvGrpSpPr/>
          <p:nvPr/>
        </p:nvGrpSpPr>
        <p:grpSpPr>
          <a:xfrm>
            <a:off x="0" y="3261178"/>
            <a:ext cx="2956956" cy="3596822"/>
            <a:chOff x="0" y="3261178"/>
            <a:chExt cx="2956956" cy="3596822"/>
          </a:xfrm>
        </p:grpSpPr>
        <p:sp>
          <p:nvSpPr>
            <p:cNvPr id="2" name="Rectangle 1">
              <a:extLst>
                <a:ext uri="{FF2B5EF4-FFF2-40B4-BE49-F238E27FC236}">
                  <a16:creationId xmlns:a16="http://schemas.microsoft.com/office/drawing/2014/main" id="{B164CDCB-C4E2-4A38-812B-2940BB6E02F5}"/>
                </a:ext>
              </a:extLst>
            </p:cNvPr>
            <p:cNvSpPr/>
            <p:nvPr/>
          </p:nvSpPr>
          <p:spPr>
            <a:xfrm>
              <a:off x="0" y="3261178"/>
              <a:ext cx="2956956" cy="359682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 name="TextBox 2">
              <a:extLst>
                <a:ext uri="{FF2B5EF4-FFF2-40B4-BE49-F238E27FC236}">
                  <a16:creationId xmlns:a16="http://schemas.microsoft.com/office/drawing/2014/main" id="{9E1323FF-3C80-4585-81FB-33032A28FB76}"/>
                </a:ext>
              </a:extLst>
            </p:cNvPr>
            <p:cNvSpPr txBox="1"/>
            <p:nvPr/>
          </p:nvSpPr>
          <p:spPr>
            <a:xfrm>
              <a:off x="0" y="4275117"/>
              <a:ext cx="2918917"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حلالی</a:t>
              </a:r>
            </a:p>
          </p:txBody>
        </p:sp>
      </p:grpSp>
    </p:spTree>
    <p:extLst>
      <p:ext uri="{BB962C8B-B14F-4D97-AF65-F5344CB8AC3E}">
        <p14:creationId xmlns:p14="http://schemas.microsoft.com/office/powerpoint/2010/main" val="312136564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79167E-6 -1.48148E-6 L 0.21822 -0.00324 " pathEditMode="relative" rAng="0" ptsTypes="AA">
                                      <p:cBhvr>
                                        <p:cTn id="6" dur="2000" fill="hold"/>
                                        <p:tgtEl>
                                          <p:spTgt spid="16"/>
                                        </p:tgtEl>
                                        <p:attrNameLst>
                                          <p:attrName>ppt_x</p:attrName>
                                          <p:attrName>ppt_y</p:attrName>
                                        </p:attrNameLst>
                                      </p:cBhvr>
                                      <p:rCtr x="10911" y="-162"/>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1.66667E-6 -1.48148E-6 L 0.43893 -0.00324 " pathEditMode="relative" rAng="0" ptsTypes="AA">
                                      <p:cBhvr>
                                        <p:cTn id="10" dur="2000" fill="hold"/>
                                        <p:tgtEl>
                                          <p:spTgt spid="17"/>
                                        </p:tgtEl>
                                        <p:attrNameLst>
                                          <p:attrName>ppt_x</p:attrName>
                                          <p:attrName>ppt_y</p:attrName>
                                        </p:attrNameLst>
                                      </p:cBhvr>
                                      <p:rCtr x="21940" y="-162"/>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2.29167E-6 4.81481E-6 L 0.68034 -0.0007 " pathEditMode="relative" rAng="0" ptsTypes="AA">
                                      <p:cBhvr>
                                        <p:cTn id="14" dur="2000" fill="hold"/>
                                        <p:tgtEl>
                                          <p:spTgt spid="19"/>
                                        </p:tgtEl>
                                        <p:attrNameLst>
                                          <p:attrName>ppt_x</p:attrName>
                                          <p:attrName>ppt_y</p:attrName>
                                        </p:attrNameLst>
                                      </p:cBhvr>
                                      <p:rCtr x="34010"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4750130" y="4429496"/>
            <a:ext cx="6947065" cy="1569660"/>
          </a:xfrm>
          <a:prstGeom prst="rect">
            <a:avLst/>
          </a:prstGeom>
          <a:noFill/>
        </p:spPr>
        <p:txBody>
          <a:bodyPr wrap="square" rtlCol="1">
            <a:spAutoFit/>
          </a:bodyPr>
          <a:lstStyle/>
          <a:p>
            <a:pPr algn="r"/>
            <a:r>
              <a:rPr lang="fa-IR" sz="2400" b="1" dirty="0">
                <a:cs typeface="2  Nazanin" panose="00000400000000000000" pitchFamily="2" charset="-78"/>
              </a:rPr>
              <a:t>رنگ و پوشش ساختمانی</a:t>
            </a:r>
          </a:p>
          <a:p>
            <a:pPr algn="r"/>
            <a:r>
              <a:rPr lang="fa-IR" sz="2400" dirty="0">
                <a:cs typeface="2  Nazanin" panose="00000400000000000000" pitchFamily="2" charset="-78"/>
              </a:rPr>
              <a:t>تركيباتي است از مواد آلي و معـدني، ماننـد رزيـنهـا، مـواد افزودنـي، رنگدانـه هـا، پركنندهها، حلالها، كه براي تزيين (زيبايي) و حفاظت اجزاي ساختماني به كار ميرود.</a:t>
            </a:r>
          </a:p>
        </p:txBody>
      </p:sp>
      <p:pic>
        <p:nvPicPr>
          <p:cNvPr id="20" name="Picture 19">
            <a:extLst>
              <a:ext uri="{FF2B5EF4-FFF2-40B4-BE49-F238E27FC236}">
                <a16:creationId xmlns:a16="http://schemas.microsoft.com/office/drawing/2014/main" id="{B7E75326-8451-4093-B379-AD780410C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021" y="3978477"/>
            <a:ext cx="3402714" cy="254875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62755"/>
            <a:ext cx="12192000" cy="7550727"/>
            <a:chOff x="0" y="0"/>
            <a:chExt cx="12192000" cy="7550727"/>
          </a:xfrm>
          <a:solidFill>
            <a:srgbClr val="C3D4DE"/>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19" name="Group 18">
            <a:extLst>
              <a:ext uri="{FF2B5EF4-FFF2-40B4-BE49-F238E27FC236}">
                <a16:creationId xmlns:a16="http://schemas.microsoft.com/office/drawing/2014/main" id="{3895CFE7-72DE-4EDA-AF3C-9DD94B4076F8}"/>
              </a:ext>
            </a:extLst>
          </p:cNvPr>
          <p:cNvGrpSpPr/>
          <p:nvPr/>
        </p:nvGrpSpPr>
        <p:grpSpPr>
          <a:xfrm>
            <a:off x="566120" y="3243726"/>
            <a:ext cx="3321131" cy="3596822"/>
            <a:chOff x="8870867" y="3261178"/>
            <a:chExt cx="3321131" cy="3596822"/>
          </a:xfrm>
        </p:grpSpPr>
        <p:sp>
          <p:nvSpPr>
            <p:cNvPr id="33" name="Rectangle 32">
              <a:extLst>
                <a:ext uri="{FF2B5EF4-FFF2-40B4-BE49-F238E27FC236}">
                  <a16:creationId xmlns:a16="http://schemas.microsoft.com/office/drawing/2014/main" id="{C48F8474-257C-4038-8E2D-5416ED5DB7F0}"/>
                </a:ext>
              </a:extLst>
            </p:cNvPr>
            <p:cNvSpPr/>
            <p:nvPr/>
          </p:nvSpPr>
          <p:spPr>
            <a:xfrm>
              <a:off x="8870867" y="3261178"/>
              <a:ext cx="3321131" cy="359682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TextBox 35">
              <a:extLst>
                <a:ext uri="{FF2B5EF4-FFF2-40B4-BE49-F238E27FC236}">
                  <a16:creationId xmlns:a16="http://schemas.microsoft.com/office/drawing/2014/main" id="{23219129-5EA5-4F21-AAE7-545C9EE96F4B}"/>
                </a:ext>
              </a:extLst>
            </p:cNvPr>
            <p:cNvSpPr txBox="1"/>
            <p:nvPr/>
          </p:nvSpPr>
          <p:spPr>
            <a:xfrm>
              <a:off x="9025713"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پودری</a:t>
              </a:r>
            </a:p>
          </p:txBody>
        </p:sp>
      </p:grpSp>
      <p:grpSp>
        <p:nvGrpSpPr>
          <p:cNvPr id="17" name="Group 16">
            <a:extLst>
              <a:ext uri="{FF2B5EF4-FFF2-40B4-BE49-F238E27FC236}">
                <a16:creationId xmlns:a16="http://schemas.microsoft.com/office/drawing/2014/main" id="{1B633311-DEE9-48BC-B181-45C318A83C7A}"/>
              </a:ext>
            </a:extLst>
          </p:cNvPr>
          <p:cNvGrpSpPr/>
          <p:nvPr/>
        </p:nvGrpSpPr>
        <p:grpSpPr>
          <a:xfrm>
            <a:off x="592743" y="3261178"/>
            <a:ext cx="2956956" cy="3596822"/>
            <a:chOff x="5913912" y="3261178"/>
            <a:chExt cx="2956956" cy="3596822"/>
          </a:xfrm>
        </p:grpSpPr>
        <p:sp>
          <p:nvSpPr>
            <p:cNvPr id="32" name="Rectangle 31">
              <a:extLst>
                <a:ext uri="{FF2B5EF4-FFF2-40B4-BE49-F238E27FC236}">
                  <a16:creationId xmlns:a16="http://schemas.microsoft.com/office/drawing/2014/main" id="{3510252A-C7A8-4A2F-BFA9-D72B31BC14B6}"/>
                </a:ext>
              </a:extLst>
            </p:cNvPr>
            <p:cNvSpPr/>
            <p:nvPr/>
          </p:nvSpPr>
          <p:spPr>
            <a:xfrm>
              <a:off x="5913912" y="3261178"/>
              <a:ext cx="2956956" cy="359682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5" name="TextBox 34">
              <a:extLst>
                <a:ext uri="{FF2B5EF4-FFF2-40B4-BE49-F238E27FC236}">
                  <a16:creationId xmlns:a16="http://schemas.microsoft.com/office/drawing/2014/main" id="{006E17D8-3AC5-42A8-830D-25E554AB01B0}"/>
                </a:ext>
              </a:extLst>
            </p:cNvPr>
            <p:cNvSpPr txBox="1"/>
            <p:nvPr/>
          </p:nvSpPr>
          <p:spPr>
            <a:xfrm>
              <a:off x="5951951"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پایه ابی</a:t>
              </a:r>
            </a:p>
          </p:txBody>
        </p:sp>
      </p:grpSp>
      <p:grpSp>
        <p:nvGrpSpPr>
          <p:cNvPr id="16" name="Group 15">
            <a:extLst>
              <a:ext uri="{FF2B5EF4-FFF2-40B4-BE49-F238E27FC236}">
                <a16:creationId xmlns:a16="http://schemas.microsoft.com/office/drawing/2014/main" id="{F14D46A4-7A28-4D57-8632-C1BEBBC5BC24}"/>
              </a:ext>
            </a:extLst>
          </p:cNvPr>
          <p:cNvGrpSpPr/>
          <p:nvPr/>
        </p:nvGrpSpPr>
        <p:grpSpPr>
          <a:xfrm>
            <a:off x="314664" y="3261178"/>
            <a:ext cx="2956988" cy="3596822"/>
            <a:chOff x="2956924" y="3261178"/>
            <a:chExt cx="2956988" cy="3596822"/>
          </a:xfrm>
        </p:grpSpPr>
        <p:sp>
          <p:nvSpPr>
            <p:cNvPr id="31" name="Rectangle 30">
              <a:extLst>
                <a:ext uri="{FF2B5EF4-FFF2-40B4-BE49-F238E27FC236}">
                  <a16:creationId xmlns:a16="http://schemas.microsoft.com/office/drawing/2014/main" id="{32D3866E-F568-4523-B153-90FAF6ED6A09}"/>
                </a:ext>
              </a:extLst>
            </p:cNvPr>
            <p:cNvSpPr/>
            <p:nvPr/>
          </p:nvSpPr>
          <p:spPr>
            <a:xfrm>
              <a:off x="2956956" y="3261178"/>
              <a:ext cx="2956956" cy="359682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4" name="TextBox 33">
              <a:extLst>
                <a:ext uri="{FF2B5EF4-FFF2-40B4-BE49-F238E27FC236}">
                  <a16:creationId xmlns:a16="http://schemas.microsoft.com/office/drawing/2014/main" id="{AC800F3F-64F2-49E6-9F8C-C505FAFE1CBA}"/>
                </a:ext>
              </a:extLst>
            </p:cNvPr>
            <p:cNvSpPr txBox="1"/>
            <p:nvPr/>
          </p:nvSpPr>
          <p:spPr>
            <a:xfrm>
              <a:off x="2956924" y="4275117"/>
              <a:ext cx="2956955"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پر جامد</a:t>
              </a:r>
            </a:p>
          </p:txBody>
        </p:sp>
      </p:grpSp>
      <p:grpSp>
        <p:nvGrpSpPr>
          <p:cNvPr id="37" name="Group 36">
            <a:extLst>
              <a:ext uri="{FF2B5EF4-FFF2-40B4-BE49-F238E27FC236}">
                <a16:creationId xmlns:a16="http://schemas.microsoft.com/office/drawing/2014/main" id="{86AFD233-5280-489B-9C63-8F9AC56C85BA}"/>
              </a:ext>
            </a:extLst>
          </p:cNvPr>
          <p:cNvGrpSpPr/>
          <p:nvPr/>
        </p:nvGrpSpPr>
        <p:grpSpPr>
          <a:xfrm>
            <a:off x="0" y="3261178"/>
            <a:ext cx="2956956" cy="3596822"/>
            <a:chOff x="0" y="3261178"/>
            <a:chExt cx="2956956" cy="3596822"/>
          </a:xfrm>
        </p:grpSpPr>
        <p:sp>
          <p:nvSpPr>
            <p:cNvPr id="2" name="Rectangle 1">
              <a:extLst>
                <a:ext uri="{FF2B5EF4-FFF2-40B4-BE49-F238E27FC236}">
                  <a16:creationId xmlns:a16="http://schemas.microsoft.com/office/drawing/2014/main" id="{B164CDCB-C4E2-4A38-812B-2940BB6E02F5}"/>
                </a:ext>
              </a:extLst>
            </p:cNvPr>
            <p:cNvSpPr/>
            <p:nvPr/>
          </p:nvSpPr>
          <p:spPr>
            <a:xfrm>
              <a:off x="0" y="3261178"/>
              <a:ext cx="2956956" cy="359682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 name="TextBox 2">
              <a:extLst>
                <a:ext uri="{FF2B5EF4-FFF2-40B4-BE49-F238E27FC236}">
                  <a16:creationId xmlns:a16="http://schemas.microsoft.com/office/drawing/2014/main" id="{9E1323FF-3C80-4585-81FB-33032A28FB76}"/>
                </a:ext>
              </a:extLst>
            </p:cNvPr>
            <p:cNvSpPr txBox="1"/>
            <p:nvPr/>
          </p:nvSpPr>
          <p:spPr>
            <a:xfrm>
              <a:off x="0" y="4275117"/>
              <a:ext cx="2918917"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حلالی</a:t>
              </a: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0" y="67659"/>
            <a:ext cx="12192000" cy="7550727"/>
            <a:chOff x="0" y="0"/>
            <a:chExt cx="12192000" cy="7550727"/>
          </a:xfrm>
          <a:solidFill>
            <a:srgbClr val="99AA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2B49C"/>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E8C77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1" name="TextBox 20">
            <a:extLst>
              <a:ext uri="{FF2B5EF4-FFF2-40B4-BE49-F238E27FC236}">
                <a16:creationId xmlns:a16="http://schemas.microsoft.com/office/drawing/2014/main" id="{6A2B04D3-A44D-4DB8-A2B5-F7F589F1A62B}"/>
              </a:ext>
            </a:extLst>
          </p:cNvPr>
          <p:cNvSpPr txBox="1"/>
          <p:nvPr/>
        </p:nvSpPr>
        <p:spPr>
          <a:xfrm>
            <a:off x="6979681" y="1666120"/>
            <a:ext cx="5212319" cy="2677656"/>
          </a:xfrm>
          <a:prstGeom prst="rect">
            <a:avLst/>
          </a:prstGeom>
          <a:noFill/>
        </p:spPr>
        <p:txBody>
          <a:bodyPr wrap="square" rtlCol="1">
            <a:spAutoFit/>
          </a:bodyPr>
          <a:lstStyle/>
          <a:p>
            <a:pPr algn="r"/>
            <a:r>
              <a:rPr lang="fa-IR" sz="2100" dirty="0">
                <a:cs typeface="2  Nazanin" panose="00000400000000000000" pitchFamily="2" charset="-78"/>
              </a:rPr>
              <a:t>از نظر فرآيند تشكيل فيلم، تقسيم بندي رنگها و پوشش هـا بـه صـورت هـوا خشـك،كورهاي، و پرتو سخت است. با توجه به نحوة تشكيل فيلم، رنگ هـا و پوشـشهـاي هـوا خشـك در صنعت ساختمان كاربرد بيشتري دارند و از نظر نحوة خشك شدن، در سه حالت:</a:t>
            </a:r>
          </a:p>
          <a:p>
            <a:pPr algn="r"/>
            <a:r>
              <a:rPr lang="fa-IR" sz="2100" dirty="0">
                <a:cs typeface="2  Nazanin" panose="00000400000000000000" pitchFamily="2" charset="-78"/>
              </a:rPr>
              <a:t>خشك شدن فيزيكي و يا تبخير حلال</a:t>
            </a:r>
          </a:p>
          <a:p>
            <a:pPr algn="r"/>
            <a:r>
              <a:rPr lang="fa-IR" sz="2100" dirty="0">
                <a:cs typeface="2  Nazanin" panose="00000400000000000000" pitchFamily="2" charset="-78"/>
              </a:rPr>
              <a:t>خشك شدن اكسايشي </a:t>
            </a:r>
          </a:p>
          <a:p>
            <a:pPr algn="r"/>
            <a:r>
              <a:rPr lang="fa-IR" sz="2100" dirty="0">
                <a:cs typeface="2  Nazanin" panose="00000400000000000000" pitchFamily="2" charset="-78"/>
              </a:rPr>
              <a:t>سخت شـدن شـيميايي (رنـگهـاي دوجزئي)</a:t>
            </a:r>
          </a:p>
        </p:txBody>
      </p:sp>
      <p:sp>
        <p:nvSpPr>
          <p:cNvPr id="22" name="TextBox 21">
            <a:extLst>
              <a:ext uri="{FF2B5EF4-FFF2-40B4-BE49-F238E27FC236}">
                <a16:creationId xmlns:a16="http://schemas.microsoft.com/office/drawing/2014/main" id="{B42ED5EF-2672-422C-8EEC-BAF5B37E43F2}"/>
              </a:ext>
            </a:extLst>
          </p:cNvPr>
          <p:cNvSpPr txBox="1"/>
          <p:nvPr/>
        </p:nvSpPr>
        <p:spPr>
          <a:xfrm>
            <a:off x="0" y="1651697"/>
            <a:ext cx="5212319" cy="2862322"/>
          </a:xfrm>
          <a:prstGeom prst="rect">
            <a:avLst/>
          </a:prstGeom>
          <a:noFill/>
        </p:spPr>
        <p:txBody>
          <a:bodyPr wrap="square" rtlCol="1">
            <a:spAutoFit/>
          </a:bodyPr>
          <a:lstStyle/>
          <a:p>
            <a:pPr algn="r"/>
            <a:r>
              <a:rPr lang="fa-IR" sz="2000" dirty="0">
                <a:cs typeface="2  Nazanin" panose="00000400000000000000" pitchFamily="2" charset="-78"/>
              </a:rPr>
              <a:t>رنگدانه ها بر حسب تركيـب شـيميايي در يكي از رده هاي تركيبات زير قرار ميگيرند:</a:t>
            </a:r>
          </a:p>
          <a:p>
            <a:pPr algn="r"/>
            <a:r>
              <a:rPr lang="fa-IR" sz="2000" dirty="0">
                <a:cs typeface="2  Nazanin" panose="00000400000000000000" pitchFamily="2" charset="-78"/>
              </a:rPr>
              <a:t>اكسيدها و هيدروكسيدهاي مصنوعي يا طبيعي آهن</a:t>
            </a:r>
          </a:p>
          <a:p>
            <a:pPr algn="r"/>
            <a:r>
              <a:rPr lang="fa-IR" sz="2000" dirty="0">
                <a:cs typeface="2  Nazanin" panose="00000400000000000000" pitchFamily="2" charset="-78"/>
              </a:rPr>
              <a:t>اكسيدهاي كروم، تيتانيوم و منگنز</a:t>
            </a:r>
          </a:p>
          <a:p>
            <a:pPr algn="r" rtl="1"/>
            <a:r>
              <a:rPr lang="fa-IR" sz="2000" dirty="0">
                <a:cs typeface="2  Nazanin" panose="00000400000000000000" pitchFamily="2" charset="-78"/>
              </a:rPr>
              <a:t>رنگدانه هاي كمپلكس غيرآلي</a:t>
            </a:r>
          </a:p>
          <a:p>
            <a:pPr algn="r" rtl="1"/>
            <a:r>
              <a:rPr lang="fa-IR" sz="2000" dirty="0">
                <a:cs typeface="2  Nazanin" panose="00000400000000000000" pitchFamily="2" charset="-78"/>
              </a:rPr>
              <a:t>رنگدانه از نوع لاجورد.</a:t>
            </a:r>
          </a:p>
          <a:p>
            <a:pPr algn="r"/>
            <a:r>
              <a:rPr lang="fa-IR" sz="2000" dirty="0">
                <a:cs typeface="2  Nazanin" panose="00000400000000000000" pitchFamily="2" charset="-78"/>
              </a:rPr>
              <a:t>فتالوسيانين آبي و سبزرنگ</a:t>
            </a:r>
          </a:p>
          <a:p>
            <a:pPr algn="r" rtl="1"/>
            <a:r>
              <a:rPr lang="fa-IR" sz="2000" dirty="0">
                <a:cs typeface="2  Nazanin" panose="00000400000000000000" pitchFamily="2" charset="-78"/>
              </a:rPr>
              <a:t>كربن به شكل دوده</a:t>
            </a:r>
          </a:p>
          <a:p>
            <a:pPr algn="r" rtl="1"/>
            <a:r>
              <a:rPr lang="fa-IR" sz="2000" dirty="0">
                <a:cs typeface="2  Nazanin" panose="00000400000000000000" pitchFamily="2" charset="-78"/>
              </a:rPr>
              <a:t> مخلوطي از مواد يادشده در بالاميتواند داراي رنگدانه يار نيز باشد</a:t>
            </a:r>
          </a:p>
        </p:txBody>
      </p:sp>
      <p:pic>
        <p:nvPicPr>
          <p:cNvPr id="28" name="Picture 27">
            <a:extLst>
              <a:ext uri="{FF2B5EF4-FFF2-40B4-BE49-F238E27FC236}">
                <a16:creationId xmlns:a16="http://schemas.microsoft.com/office/drawing/2014/main" id="{1E03D3DE-C36E-41D6-934D-FA2E03ADFF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9805" y="4475172"/>
            <a:ext cx="4516709" cy="2265479"/>
          </a:xfrm>
          <a:prstGeom prst="rect">
            <a:avLst/>
          </a:prstGeom>
        </p:spPr>
      </p:pic>
      <p:pic>
        <p:nvPicPr>
          <p:cNvPr id="29" name="Picture 28">
            <a:extLst>
              <a:ext uri="{FF2B5EF4-FFF2-40B4-BE49-F238E27FC236}">
                <a16:creationId xmlns:a16="http://schemas.microsoft.com/office/drawing/2014/main" id="{1C5FD821-0350-4CB0-907F-C731442924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2214" y="4561003"/>
            <a:ext cx="3966440" cy="2228635"/>
          </a:xfrm>
          <a:prstGeom prst="rect">
            <a:avLst/>
          </a:prstGeom>
        </p:spPr>
      </p:pic>
    </p:spTree>
    <p:extLst>
      <p:ext uri="{BB962C8B-B14F-4D97-AF65-F5344CB8AC3E}">
        <p14:creationId xmlns:p14="http://schemas.microsoft.com/office/powerpoint/2010/main" val="21493844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79167E-6 -1.48148E-6 L 0.21822 -0.00324 " pathEditMode="relative" rAng="0" ptsTypes="AA">
                                      <p:cBhvr>
                                        <p:cTn id="6" dur="2000" fill="hold"/>
                                        <p:tgtEl>
                                          <p:spTgt spid="16"/>
                                        </p:tgtEl>
                                        <p:attrNameLst>
                                          <p:attrName>ppt_x</p:attrName>
                                          <p:attrName>ppt_y</p:attrName>
                                        </p:attrNameLst>
                                      </p:cBhvr>
                                      <p:rCtr x="10911" y="-162"/>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1.66667E-6 -1.48148E-6 L 0.43893 -0.00324 " pathEditMode="relative" rAng="0" ptsTypes="AA">
                                      <p:cBhvr>
                                        <p:cTn id="10" dur="2000" fill="hold"/>
                                        <p:tgtEl>
                                          <p:spTgt spid="17"/>
                                        </p:tgtEl>
                                        <p:attrNameLst>
                                          <p:attrName>ppt_x</p:attrName>
                                          <p:attrName>ppt_y</p:attrName>
                                        </p:attrNameLst>
                                      </p:cBhvr>
                                      <p:rCtr x="21940" y="-162"/>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2.29167E-6 4.81481E-6 L 0.68034 -0.0007 " pathEditMode="relative" rAng="0" ptsTypes="AA">
                                      <p:cBhvr>
                                        <p:cTn id="14" dur="2000" fill="hold"/>
                                        <p:tgtEl>
                                          <p:spTgt spid="19"/>
                                        </p:tgtEl>
                                        <p:attrNameLst>
                                          <p:attrName>ppt_x</p:attrName>
                                          <p:attrName>ppt_y</p:attrName>
                                        </p:attrNameLst>
                                      </p:cBhvr>
                                      <p:rCtr x="34010"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4750130" y="4429496"/>
            <a:ext cx="6947065" cy="1569660"/>
          </a:xfrm>
          <a:prstGeom prst="rect">
            <a:avLst/>
          </a:prstGeom>
          <a:noFill/>
        </p:spPr>
        <p:txBody>
          <a:bodyPr wrap="square" rtlCol="1">
            <a:spAutoFit/>
          </a:bodyPr>
          <a:lstStyle/>
          <a:p>
            <a:pPr algn="r"/>
            <a:r>
              <a:rPr lang="fa-IR" sz="2400" b="1" dirty="0">
                <a:cs typeface="2  Nazanin" panose="00000400000000000000" pitchFamily="2" charset="-78"/>
              </a:rPr>
              <a:t>رنگ و پوشش ساختمانی</a:t>
            </a:r>
          </a:p>
          <a:p>
            <a:pPr algn="r"/>
            <a:r>
              <a:rPr lang="fa-IR" sz="2400" dirty="0">
                <a:cs typeface="2  Nazanin" panose="00000400000000000000" pitchFamily="2" charset="-78"/>
              </a:rPr>
              <a:t>تركيباتي است از مواد آلي و معـدني، ماننـد رزيـنهـا، مـواد افزودنـي، رنگدانـه هـا، پركنندهها، حلالها، كه براي تزيين (زيبايي) و حفاظت اجزاي ساختماني به كار ميرود.</a:t>
            </a:r>
          </a:p>
        </p:txBody>
      </p:sp>
      <p:pic>
        <p:nvPicPr>
          <p:cNvPr id="20" name="Picture 19">
            <a:extLst>
              <a:ext uri="{FF2B5EF4-FFF2-40B4-BE49-F238E27FC236}">
                <a16:creationId xmlns:a16="http://schemas.microsoft.com/office/drawing/2014/main" id="{B7E75326-8451-4093-B379-AD780410C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021" y="3978477"/>
            <a:ext cx="3402714" cy="254875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62755"/>
            <a:ext cx="12192000" cy="7550727"/>
            <a:chOff x="0" y="0"/>
            <a:chExt cx="12192000" cy="7550727"/>
          </a:xfrm>
          <a:solidFill>
            <a:srgbClr val="C3D4DE"/>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19" name="Group 18">
            <a:extLst>
              <a:ext uri="{FF2B5EF4-FFF2-40B4-BE49-F238E27FC236}">
                <a16:creationId xmlns:a16="http://schemas.microsoft.com/office/drawing/2014/main" id="{3895CFE7-72DE-4EDA-AF3C-9DD94B4076F8}"/>
              </a:ext>
            </a:extLst>
          </p:cNvPr>
          <p:cNvGrpSpPr/>
          <p:nvPr/>
        </p:nvGrpSpPr>
        <p:grpSpPr>
          <a:xfrm>
            <a:off x="566120" y="3243726"/>
            <a:ext cx="3321131" cy="3596822"/>
            <a:chOff x="8870867" y="3261178"/>
            <a:chExt cx="3321131" cy="3596822"/>
          </a:xfrm>
        </p:grpSpPr>
        <p:sp>
          <p:nvSpPr>
            <p:cNvPr id="33" name="Rectangle 32">
              <a:extLst>
                <a:ext uri="{FF2B5EF4-FFF2-40B4-BE49-F238E27FC236}">
                  <a16:creationId xmlns:a16="http://schemas.microsoft.com/office/drawing/2014/main" id="{C48F8474-257C-4038-8E2D-5416ED5DB7F0}"/>
                </a:ext>
              </a:extLst>
            </p:cNvPr>
            <p:cNvSpPr/>
            <p:nvPr/>
          </p:nvSpPr>
          <p:spPr>
            <a:xfrm>
              <a:off x="8870867" y="3261178"/>
              <a:ext cx="3321131" cy="359682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TextBox 35">
              <a:extLst>
                <a:ext uri="{FF2B5EF4-FFF2-40B4-BE49-F238E27FC236}">
                  <a16:creationId xmlns:a16="http://schemas.microsoft.com/office/drawing/2014/main" id="{23219129-5EA5-4F21-AAE7-545C9EE96F4B}"/>
                </a:ext>
              </a:extLst>
            </p:cNvPr>
            <p:cNvSpPr txBox="1"/>
            <p:nvPr/>
          </p:nvSpPr>
          <p:spPr>
            <a:xfrm>
              <a:off x="9025713"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پودری</a:t>
              </a:r>
            </a:p>
          </p:txBody>
        </p:sp>
      </p:grpSp>
      <p:grpSp>
        <p:nvGrpSpPr>
          <p:cNvPr id="17" name="Group 16">
            <a:extLst>
              <a:ext uri="{FF2B5EF4-FFF2-40B4-BE49-F238E27FC236}">
                <a16:creationId xmlns:a16="http://schemas.microsoft.com/office/drawing/2014/main" id="{1B633311-DEE9-48BC-B181-45C318A83C7A}"/>
              </a:ext>
            </a:extLst>
          </p:cNvPr>
          <p:cNvGrpSpPr/>
          <p:nvPr/>
        </p:nvGrpSpPr>
        <p:grpSpPr>
          <a:xfrm>
            <a:off x="592743" y="3261178"/>
            <a:ext cx="2956956" cy="3596822"/>
            <a:chOff x="5913912" y="3261178"/>
            <a:chExt cx="2956956" cy="3596822"/>
          </a:xfrm>
        </p:grpSpPr>
        <p:sp>
          <p:nvSpPr>
            <p:cNvPr id="32" name="Rectangle 31">
              <a:extLst>
                <a:ext uri="{FF2B5EF4-FFF2-40B4-BE49-F238E27FC236}">
                  <a16:creationId xmlns:a16="http://schemas.microsoft.com/office/drawing/2014/main" id="{3510252A-C7A8-4A2F-BFA9-D72B31BC14B6}"/>
                </a:ext>
              </a:extLst>
            </p:cNvPr>
            <p:cNvSpPr/>
            <p:nvPr/>
          </p:nvSpPr>
          <p:spPr>
            <a:xfrm>
              <a:off x="5913912" y="3261178"/>
              <a:ext cx="2956956" cy="359682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5" name="TextBox 34">
              <a:extLst>
                <a:ext uri="{FF2B5EF4-FFF2-40B4-BE49-F238E27FC236}">
                  <a16:creationId xmlns:a16="http://schemas.microsoft.com/office/drawing/2014/main" id="{006E17D8-3AC5-42A8-830D-25E554AB01B0}"/>
                </a:ext>
              </a:extLst>
            </p:cNvPr>
            <p:cNvSpPr txBox="1"/>
            <p:nvPr/>
          </p:nvSpPr>
          <p:spPr>
            <a:xfrm>
              <a:off x="5951951"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پایه ابی</a:t>
              </a:r>
            </a:p>
          </p:txBody>
        </p:sp>
      </p:grpSp>
      <p:grpSp>
        <p:nvGrpSpPr>
          <p:cNvPr id="16" name="Group 15">
            <a:extLst>
              <a:ext uri="{FF2B5EF4-FFF2-40B4-BE49-F238E27FC236}">
                <a16:creationId xmlns:a16="http://schemas.microsoft.com/office/drawing/2014/main" id="{F14D46A4-7A28-4D57-8632-C1BEBBC5BC24}"/>
              </a:ext>
            </a:extLst>
          </p:cNvPr>
          <p:cNvGrpSpPr/>
          <p:nvPr/>
        </p:nvGrpSpPr>
        <p:grpSpPr>
          <a:xfrm>
            <a:off x="314664" y="3261178"/>
            <a:ext cx="2956988" cy="3596822"/>
            <a:chOff x="2956924" y="3261178"/>
            <a:chExt cx="2956988" cy="3596822"/>
          </a:xfrm>
        </p:grpSpPr>
        <p:sp>
          <p:nvSpPr>
            <p:cNvPr id="31" name="Rectangle 30">
              <a:extLst>
                <a:ext uri="{FF2B5EF4-FFF2-40B4-BE49-F238E27FC236}">
                  <a16:creationId xmlns:a16="http://schemas.microsoft.com/office/drawing/2014/main" id="{32D3866E-F568-4523-B153-90FAF6ED6A09}"/>
                </a:ext>
              </a:extLst>
            </p:cNvPr>
            <p:cNvSpPr/>
            <p:nvPr/>
          </p:nvSpPr>
          <p:spPr>
            <a:xfrm>
              <a:off x="2956956" y="3261178"/>
              <a:ext cx="2956956" cy="359682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4" name="TextBox 33">
              <a:extLst>
                <a:ext uri="{FF2B5EF4-FFF2-40B4-BE49-F238E27FC236}">
                  <a16:creationId xmlns:a16="http://schemas.microsoft.com/office/drawing/2014/main" id="{AC800F3F-64F2-49E6-9F8C-C505FAFE1CBA}"/>
                </a:ext>
              </a:extLst>
            </p:cNvPr>
            <p:cNvSpPr txBox="1"/>
            <p:nvPr/>
          </p:nvSpPr>
          <p:spPr>
            <a:xfrm>
              <a:off x="2956924" y="4275117"/>
              <a:ext cx="2956955"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پر جامد</a:t>
              </a:r>
            </a:p>
          </p:txBody>
        </p:sp>
      </p:grpSp>
      <p:grpSp>
        <p:nvGrpSpPr>
          <p:cNvPr id="37" name="Group 36">
            <a:extLst>
              <a:ext uri="{FF2B5EF4-FFF2-40B4-BE49-F238E27FC236}">
                <a16:creationId xmlns:a16="http://schemas.microsoft.com/office/drawing/2014/main" id="{86AFD233-5280-489B-9C63-8F9AC56C85BA}"/>
              </a:ext>
            </a:extLst>
          </p:cNvPr>
          <p:cNvGrpSpPr/>
          <p:nvPr/>
        </p:nvGrpSpPr>
        <p:grpSpPr>
          <a:xfrm>
            <a:off x="0" y="3261178"/>
            <a:ext cx="2956956" cy="3596822"/>
            <a:chOff x="0" y="3261178"/>
            <a:chExt cx="2956956" cy="3596822"/>
          </a:xfrm>
        </p:grpSpPr>
        <p:sp>
          <p:nvSpPr>
            <p:cNvPr id="2" name="Rectangle 1">
              <a:extLst>
                <a:ext uri="{FF2B5EF4-FFF2-40B4-BE49-F238E27FC236}">
                  <a16:creationId xmlns:a16="http://schemas.microsoft.com/office/drawing/2014/main" id="{B164CDCB-C4E2-4A38-812B-2940BB6E02F5}"/>
                </a:ext>
              </a:extLst>
            </p:cNvPr>
            <p:cNvSpPr/>
            <p:nvPr/>
          </p:nvSpPr>
          <p:spPr>
            <a:xfrm>
              <a:off x="0" y="3261178"/>
              <a:ext cx="2956956" cy="359682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 name="TextBox 2">
              <a:extLst>
                <a:ext uri="{FF2B5EF4-FFF2-40B4-BE49-F238E27FC236}">
                  <a16:creationId xmlns:a16="http://schemas.microsoft.com/office/drawing/2014/main" id="{9E1323FF-3C80-4585-81FB-33032A28FB76}"/>
                </a:ext>
              </a:extLst>
            </p:cNvPr>
            <p:cNvSpPr txBox="1"/>
            <p:nvPr/>
          </p:nvSpPr>
          <p:spPr>
            <a:xfrm>
              <a:off x="0" y="4275117"/>
              <a:ext cx="2918917"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حلالی</a:t>
              </a: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16" y="70650"/>
            <a:ext cx="12192000" cy="7550727"/>
            <a:chOff x="0" y="0"/>
            <a:chExt cx="12192000" cy="7550727"/>
          </a:xfrm>
          <a:solidFill>
            <a:srgbClr val="99AA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1" name="TextBox 20">
            <a:extLst>
              <a:ext uri="{FF2B5EF4-FFF2-40B4-BE49-F238E27FC236}">
                <a16:creationId xmlns:a16="http://schemas.microsoft.com/office/drawing/2014/main" id="{6A2B04D3-A44D-4DB8-A2B5-F7F589F1A62B}"/>
              </a:ext>
            </a:extLst>
          </p:cNvPr>
          <p:cNvSpPr txBox="1"/>
          <p:nvPr/>
        </p:nvSpPr>
        <p:spPr>
          <a:xfrm>
            <a:off x="7159805" y="1898708"/>
            <a:ext cx="4866896" cy="2554545"/>
          </a:xfrm>
          <a:prstGeom prst="rect">
            <a:avLst/>
          </a:prstGeom>
          <a:noFill/>
        </p:spPr>
        <p:txBody>
          <a:bodyPr wrap="square" rtlCol="1">
            <a:spAutoFit/>
          </a:bodyPr>
          <a:lstStyle/>
          <a:p>
            <a:pPr algn="r"/>
            <a:r>
              <a:rPr lang="fa-IR" sz="2000" dirty="0">
                <a:cs typeface="2  Nazanin" panose="00000400000000000000" pitchFamily="2" charset="-78"/>
              </a:rPr>
              <a:t>از نظر فرآيند تشكيل فيلم، تقسيم بندي رنگها و پوششهـا بـهصـورت هـوا خشـك،كورهاي، و پرتو سخت است. با توجه به نحوة تشكيل فيلم، رنگهـا و پوشـشهـاي هـوا خشـك در صنعت ساختمان كاربرد بيشتري دارند و از نظر نحوة خشك شدن، در سه حالت</a:t>
            </a:r>
          </a:p>
          <a:p>
            <a:pPr algn="r"/>
            <a:r>
              <a:rPr lang="fa-IR" sz="2000" dirty="0">
                <a:cs typeface="2  Nazanin" panose="00000400000000000000" pitchFamily="2" charset="-78"/>
              </a:rPr>
              <a:t>خشك شدن فيزيكي و يا تبخير حلال، </a:t>
            </a:r>
          </a:p>
          <a:p>
            <a:pPr algn="r"/>
            <a:r>
              <a:rPr lang="fa-IR" sz="2000" dirty="0">
                <a:cs typeface="2  Nazanin" panose="00000400000000000000" pitchFamily="2" charset="-78"/>
              </a:rPr>
              <a:t>خشك شدن اكسايشي </a:t>
            </a:r>
          </a:p>
          <a:p>
            <a:pPr algn="r"/>
            <a:r>
              <a:rPr lang="fa-IR" sz="2000" dirty="0">
                <a:cs typeface="2  Nazanin" panose="00000400000000000000" pitchFamily="2" charset="-78"/>
              </a:rPr>
              <a:t>سخت شـدن شـيميايي (رنـگهـاي دوجزئي)</a:t>
            </a:r>
          </a:p>
        </p:txBody>
      </p:sp>
      <p:sp>
        <p:nvSpPr>
          <p:cNvPr id="22" name="TextBox 21">
            <a:extLst>
              <a:ext uri="{FF2B5EF4-FFF2-40B4-BE49-F238E27FC236}">
                <a16:creationId xmlns:a16="http://schemas.microsoft.com/office/drawing/2014/main" id="{B42ED5EF-2672-422C-8EEC-BAF5B37E43F2}"/>
              </a:ext>
            </a:extLst>
          </p:cNvPr>
          <p:cNvSpPr txBox="1"/>
          <p:nvPr/>
        </p:nvSpPr>
        <p:spPr>
          <a:xfrm>
            <a:off x="1" y="1710565"/>
            <a:ext cx="5228146" cy="4093428"/>
          </a:xfrm>
          <a:prstGeom prst="rect">
            <a:avLst/>
          </a:prstGeom>
          <a:noFill/>
        </p:spPr>
        <p:txBody>
          <a:bodyPr wrap="square" rtlCol="1">
            <a:spAutoFit/>
          </a:bodyPr>
          <a:lstStyle/>
          <a:p>
            <a:pPr algn="r"/>
            <a:r>
              <a:rPr lang="fa-IR" sz="2000" dirty="0">
                <a:cs typeface="2  Nazanin" panose="00000400000000000000" pitchFamily="2" charset="-78"/>
              </a:rPr>
              <a:t>رنگدانه ها بر حسب تركيـب شـيميايي در يكي از رده هاي تركيبات زير قرار ميگيرند:</a:t>
            </a:r>
          </a:p>
          <a:p>
            <a:pPr algn="r"/>
            <a:r>
              <a:rPr lang="fa-IR" sz="2000" dirty="0">
                <a:cs typeface="2  Nazanin" panose="00000400000000000000" pitchFamily="2" charset="-78"/>
              </a:rPr>
              <a:t>- اكسيدها و هيدروكسيدهاي مصنوعي يا طبيعي آهن. </a:t>
            </a:r>
          </a:p>
          <a:p>
            <a:pPr algn="r"/>
            <a:r>
              <a:rPr lang="fa-IR" sz="2000" dirty="0">
                <a:cs typeface="2  Nazanin" panose="00000400000000000000" pitchFamily="2" charset="-78"/>
              </a:rPr>
              <a:t>- اكسيدهاي كروم، تيتانيوم و منگنز. </a:t>
            </a:r>
          </a:p>
          <a:p>
            <a:pPr algn="r"/>
            <a:r>
              <a:rPr lang="fa-IR" sz="2000" dirty="0">
                <a:cs typeface="2  Nazanin" panose="00000400000000000000" pitchFamily="2" charset="-78"/>
              </a:rPr>
              <a:t>- رنگدانه هاي كمپلكس غيرآلي، براي مثال مخلوطي از اكسيدها و هيدروكسيدهاي فلـزي يادشده در بالا با اكسيدها و هيدروكسيدهاي كبالت، آلومينيم، نيكل و آنتيموان.</a:t>
            </a:r>
          </a:p>
          <a:p>
            <a:pPr algn="r"/>
            <a:r>
              <a:rPr lang="fa-IR" sz="2000" dirty="0">
                <a:cs typeface="2  Nazanin" panose="00000400000000000000" pitchFamily="2" charset="-78"/>
              </a:rPr>
              <a:t>- رنگدانه از نوع لاجورد.</a:t>
            </a:r>
          </a:p>
          <a:p>
            <a:pPr algn="r"/>
            <a:r>
              <a:rPr lang="fa-IR" sz="2000" dirty="0">
                <a:cs typeface="2  Nazanin" panose="00000400000000000000" pitchFamily="2" charset="-78"/>
              </a:rPr>
              <a:t>- فتالوسيانين آبي و سبزرنگ.</a:t>
            </a:r>
          </a:p>
          <a:p>
            <a:pPr algn="r"/>
            <a:r>
              <a:rPr lang="fa-IR" sz="2000" dirty="0">
                <a:cs typeface="2  Nazanin" panose="00000400000000000000" pitchFamily="2" charset="-78"/>
              </a:rPr>
              <a:t>- كربن به شكل دوده ( بايد به عنوان رنگدانه غيرآلي درنظر گرفته شود).</a:t>
            </a:r>
          </a:p>
          <a:p>
            <a:pPr algn="r"/>
            <a:r>
              <a:rPr lang="fa-IR" sz="2000" dirty="0">
                <a:cs typeface="2  Nazanin" panose="00000400000000000000" pitchFamily="2" charset="-78"/>
              </a:rPr>
              <a:t>- مخلوطي از مواد يادشده در بالا (ميتواند داراي رنگدانه يار نيز باشد).</a:t>
            </a:r>
          </a:p>
        </p:txBody>
      </p:sp>
      <p:pic>
        <p:nvPicPr>
          <p:cNvPr id="28" name="Picture 27">
            <a:extLst>
              <a:ext uri="{FF2B5EF4-FFF2-40B4-BE49-F238E27FC236}">
                <a16:creationId xmlns:a16="http://schemas.microsoft.com/office/drawing/2014/main" id="{1E03D3DE-C36E-41D6-934D-FA2E03ADFF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9805" y="4475172"/>
            <a:ext cx="4516709" cy="226547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32" y="64375"/>
            <a:ext cx="12192000" cy="7550727"/>
            <a:chOff x="0" y="0"/>
            <a:chExt cx="12192000" cy="7550727"/>
          </a:xfrm>
          <a:solidFill>
            <a:srgbClr val="E2B49C"/>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E8C77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9" name="TextBox 28">
            <a:extLst>
              <a:ext uri="{FF2B5EF4-FFF2-40B4-BE49-F238E27FC236}">
                <a16:creationId xmlns:a16="http://schemas.microsoft.com/office/drawing/2014/main" id="{B3826F9B-502D-4C09-AB22-5A45CE66D7D7}"/>
              </a:ext>
            </a:extLst>
          </p:cNvPr>
          <p:cNvSpPr txBox="1"/>
          <p:nvPr/>
        </p:nvSpPr>
        <p:spPr>
          <a:xfrm>
            <a:off x="4037254" y="1262228"/>
            <a:ext cx="7887061" cy="5478423"/>
          </a:xfrm>
          <a:prstGeom prst="rect">
            <a:avLst/>
          </a:prstGeom>
          <a:noFill/>
        </p:spPr>
        <p:txBody>
          <a:bodyPr wrap="square" rtlCol="1">
            <a:spAutoFit/>
          </a:bodyPr>
          <a:lstStyle/>
          <a:p>
            <a:pPr algn="r"/>
            <a:r>
              <a:rPr lang="fa-IR" sz="2200" b="1" dirty="0">
                <a:cs typeface="2  Nazanin" panose="00000400000000000000" pitchFamily="2" charset="-78"/>
              </a:rPr>
              <a:t>ویژگی ها</a:t>
            </a:r>
          </a:p>
          <a:p>
            <a:pPr algn="r"/>
            <a:r>
              <a:rPr lang="fa-IR" sz="2200" dirty="0">
                <a:cs typeface="2  Nazanin" panose="00000400000000000000" pitchFamily="2" charset="-78"/>
              </a:rPr>
              <a:t>رنگ هاي تزييني مورد استفاده در ساختمان بايد بر پاية آب باشند اين رنگها براي سطوح خارجي ساختمان ها به كار برده ميشود، بايد در برابـر شرايط محيطي، مانند </a:t>
            </a:r>
            <a:r>
              <a:rPr lang="en-US" sz="2200" dirty="0">
                <a:cs typeface="2  Nazanin" panose="00000400000000000000" pitchFamily="2" charset="-78"/>
              </a:rPr>
              <a:t>،</a:t>
            </a:r>
            <a:r>
              <a:rPr lang="fa-IR" sz="2200" dirty="0">
                <a:cs typeface="2  Nazanin" panose="00000400000000000000" pitchFamily="2" charset="-78"/>
              </a:rPr>
              <a:t>دما و رطوبت، يخبندان، مقاوم باشد و در كوتاه مدت  تخريب نشود. </a:t>
            </a:r>
          </a:p>
          <a:p>
            <a:pPr algn="r"/>
            <a:r>
              <a:rPr lang="fa-IR" sz="2200" dirty="0">
                <a:cs typeface="2  Nazanin" panose="00000400000000000000" pitchFamily="2" charset="-78"/>
              </a:rPr>
              <a:t>پيش از پوشش، همه عيوب سـطحي، تـرك هـا و درزهـا، كـه ممكـن اسـت موجـب غيريكنواختي رنگ يا پوشش شود، بايد درزگيري و بتانه كاري شوند</a:t>
            </a:r>
          </a:p>
          <a:p>
            <a:pPr algn="r"/>
            <a:r>
              <a:rPr lang="fa-IR" sz="2200" dirty="0">
                <a:cs typeface="2  Nazanin" panose="00000400000000000000" pitchFamily="2" charset="-78"/>
              </a:rPr>
              <a:t>لوازم چوبي معمولاً در كارگاه ها و پاركت ها پس از نصـب پوشـش داده مـيشـوند. لاك هاي چوبي مصرفي در ساختمان بايد بر پاي ه آب باشند</a:t>
            </a:r>
            <a:endParaRPr lang="en-US" sz="2200" dirty="0">
              <a:cs typeface="2  Nazanin" panose="00000400000000000000" pitchFamily="2" charset="-78"/>
            </a:endParaRPr>
          </a:p>
          <a:p>
            <a:pPr algn="r"/>
            <a:r>
              <a:rPr lang="fa-IR" sz="2200" b="1" dirty="0">
                <a:cs typeface="2  Nazanin" panose="00000400000000000000" pitchFamily="2" charset="-78"/>
              </a:rPr>
              <a:t>ازمایش ها</a:t>
            </a:r>
            <a:endParaRPr lang="en-US" sz="2200" b="1" dirty="0">
              <a:cs typeface="2  Nazanin" panose="00000400000000000000" pitchFamily="2" charset="-78"/>
            </a:endParaRPr>
          </a:p>
          <a:p>
            <a:pPr algn="r"/>
            <a:r>
              <a:rPr lang="fa-IR" sz="2200" dirty="0">
                <a:cs typeface="2  Nazanin" panose="00000400000000000000" pitchFamily="2" charset="-78"/>
              </a:rPr>
              <a:t>ازمايش هاي استاندارد شامل، اندازهگيري درصـد مـواد جامـد، انـدازهگيـري زمـان خشك شدن، تعيين گرانروي، تعيين چگالي، تعيين مقاومت در شرايط مه نمكي (براي پوشش هـا)، تعيين مقاومت در شرايط رطوبت صد در صد (براي پوشش هـا)، تعيـين قـدرت پوشـانندگي (بـراي رنگ هاي تزييني)، تعيين مقاومت شستشو (براي رنگهاي تزييني)، اندازهگيري خصوصيات فيزيكي و مكانيكي، شامل: مقاومت سايشي، ضربه و جاري شدن، تعيين مقدار مـاده غيرفـرار و مقاومـت دربرابر شرايط محيطي ميباشند</a:t>
            </a:r>
            <a:endParaRPr lang="en-US" sz="2200" dirty="0">
              <a:cs typeface="2  Nazanin" panose="00000400000000000000" pitchFamily="2" charset="-78"/>
            </a:endParaRPr>
          </a:p>
          <a:p>
            <a:pPr algn="r"/>
            <a:endParaRPr lang="fa-IR" sz="2000" dirty="0">
              <a:cs typeface="2  Nazanin" panose="00000400000000000000" pitchFamily="2" charset="-78"/>
            </a:endParaRPr>
          </a:p>
        </p:txBody>
      </p:sp>
      <p:pic>
        <p:nvPicPr>
          <p:cNvPr id="38" name="Picture 37">
            <a:extLst>
              <a:ext uri="{FF2B5EF4-FFF2-40B4-BE49-F238E27FC236}">
                <a16:creationId xmlns:a16="http://schemas.microsoft.com/office/drawing/2014/main" id="{EBB1AE91-AE0C-4FC0-8B4C-EC2979646E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123" y="1154021"/>
            <a:ext cx="3820755" cy="2139623"/>
          </a:xfrm>
          <a:prstGeom prst="rect">
            <a:avLst/>
          </a:prstGeom>
        </p:spPr>
      </p:pic>
      <p:pic>
        <p:nvPicPr>
          <p:cNvPr id="40" name="Picture 39">
            <a:extLst>
              <a:ext uri="{FF2B5EF4-FFF2-40B4-BE49-F238E27FC236}">
                <a16:creationId xmlns:a16="http://schemas.microsoft.com/office/drawing/2014/main" id="{2B2B90D6-83EB-4F13-86A3-E16B6E0296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7685" y="3791143"/>
            <a:ext cx="3828207" cy="2769650"/>
          </a:xfrm>
          <a:prstGeom prst="rect">
            <a:avLst/>
          </a:prstGeom>
        </p:spPr>
      </p:pic>
    </p:spTree>
    <p:extLst>
      <p:ext uri="{BB962C8B-B14F-4D97-AF65-F5344CB8AC3E}">
        <p14:creationId xmlns:p14="http://schemas.microsoft.com/office/powerpoint/2010/main" val="31968576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79167E-6 -1.48148E-6 L 0.21822 -0.00324 " pathEditMode="relative" rAng="0" ptsTypes="AA">
                                      <p:cBhvr>
                                        <p:cTn id="6" dur="2000" fill="hold"/>
                                        <p:tgtEl>
                                          <p:spTgt spid="16"/>
                                        </p:tgtEl>
                                        <p:attrNameLst>
                                          <p:attrName>ppt_x</p:attrName>
                                          <p:attrName>ppt_y</p:attrName>
                                        </p:attrNameLst>
                                      </p:cBhvr>
                                      <p:rCtr x="10911" y="-162"/>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1.66667E-6 -1.48148E-6 L 0.43893 -0.00324 " pathEditMode="relative" rAng="0" ptsTypes="AA">
                                      <p:cBhvr>
                                        <p:cTn id="10" dur="2000" fill="hold"/>
                                        <p:tgtEl>
                                          <p:spTgt spid="17"/>
                                        </p:tgtEl>
                                        <p:attrNameLst>
                                          <p:attrName>ppt_x</p:attrName>
                                          <p:attrName>ppt_y</p:attrName>
                                        </p:attrNameLst>
                                      </p:cBhvr>
                                      <p:rCtr x="21940" y="-162"/>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2.29167E-6 4.81481E-6 L 0.68034 -0.0007 " pathEditMode="relative" rAng="0" ptsTypes="AA">
                                      <p:cBhvr>
                                        <p:cTn id="14" dur="2000" fill="hold"/>
                                        <p:tgtEl>
                                          <p:spTgt spid="19"/>
                                        </p:tgtEl>
                                        <p:attrNameLst>
                                          <p:attrName>ppt_x</p:attrName>
                                          <p:attrName>ppt_y</p:attrName>
                                        </p:attrNameLst>
                                      </p:cBhvr>
                                      <p:rCtr x="34010"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4750130" y="4429496"/>
            <a:ext cx="6947065" cy="1569660"/>
          </a:xfrm>
          <a:prstGeom prst="rect">
            <a:avLst/>
          </a:prstGeom>
          <a:noFill/>
        </p:spPr>
        <p:txBody>
          <a:bodyPr wrap="square" rtlCol="1">
            <a:spAutoFit/>
          </a:bodyPr>
          <a:lstStyle/>
          <a:p>
            <a:pPr algn="r"/>
            <a:r>
              <a:rPr lang="fa-IR" sz="2400" b="1" dirty="0">
                <a:cs typeface="2  Nazanin" panose="00000400000000000000" pitchFamily="2" charset="-78"/>
              </a:rPr>
              <a:t>رنگ و پوشش ساختمانی</a:t>
            </a:r>
          </a:p>
          <a:p>
            <a:pPr algn="r"/>
            <a:r>
              <a:rPr lang="fa-IR" sz="2400" dirty="0">
                <a:cs typeface="2  Nazanin" panose="00000400000000000000" pitchFamily="2" charset="-78"/>
              </a:rPr>
              <a:t>تركيباتي است از مواد آلي و معـدني، ماننـد رزيـنهـا، مـواد افزودنـي، رنگدانـه هـا، پركنندهها، حلالها، كه براي تزيين (زيبايي) و حفاظت اجزاي ساختماني به كار ميرود.</a:t>
            </a:r>
          </a:p>
        </p:txBody>
      </p:sp>
      <p:pic>
        <p:nvPicPr>
          <p:cNvPr id="20" name="Picture 19">
            <a:extLst>
              <a:ext uri="{FF2B5EF4-FFF2-40B4-BE49-F238E27FC236}">
                <a16:creationId xmlns:a16="http://schemas.microsoft.com/office/drawing/2014/main" id="{B7E75326-8451-4093-B379-AD780410C5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021" y="3978477"/>
            <a:ext cx="3402714" cy="2548751"/>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0" y="62755"/>
            <a:ext cx="12192000" cy="7550727"/>
            <a:chOff x="0" y="0"/>
            <a:chExt cx="12192000" cy="7550727"/>
          </a:xfrm>
          <a:solidFill>
            <a:srgbClr val="C3D4DE"/>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19" name="Group 18">
            <a:extLst>
              <a:ext uri="{FF2B5EF4-FFF2-40B4-BE49-F238E27FC236}">
                <a16:creationId xmlns:a16="http://schemas.microsoft.com/office/drawing/2014/main" id="{3895CFE7-72DE-4EDA-AF3C-9DD94B4076F8}"/>
              </a:ext>
            </a:extLst>
          </p:cNvPr>
          <p:cNvGrpSpPr/>
          <p:nvPr/>
        </p:nvGrpSpPr>
        <p:grpSpPr>
          <a:xfrm>
            <a:off x="566120" y="3243726"/>
            <a:ext cx="3321131" cy="3596822"/>
            <a:chOff x="8870867" y="3261178"/>
            <a:chExt cx="3321131" cy="3596822"/>
          </a:xfrm>
        </p:grpSpPr>
        <p:sp>
          <p:nvSpPr>
            <p:cNvPr id="33" name="Rectangle 32">
              <a:extLst>
                <a:ext uri="{FF2B5EF4-FFF2-40B4-BE49-F238E27FC236}">
                  <a16:creationId xmlns:a16="http://schemas.microsoft.com/office/drawing/2014/main" id="{C48F8474-257C-4038-8E2D-5416ED5DB7F0}"/>
                </a:ext>
              </a:extLst>
            </p:cNvPr>
            <p:cNvSpPr/>
            <p:nvPr/>
          </p:nvSpPr>
          <p:spPr>
            <a:xfrm>
              <a:off x="8870867" y="3261178"/>
              <a:ext cx="3321131" cy="3596822"/>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6" name="TextBox 35">
              <a:extLst>
                <a:ext uri="{FF2B5EF4-FFF2-40B4-BE49-F238E27FC236}">
                  <a16:creationId xmlns:a16="http://schemas.microsoft.com/office/drawing/2014/main" id="{23219129-5EA5-4F21-AAE7-545C9EE96F4B}"/>
                </a:ext>
              </a:extLst>
            </p:cNvPr>
            <p:cNvSpPr txBox="1"/>
            <p:nvPr/>
          </p:nvSpPr>
          <p:spPr>
            <a:xfrm>
              <a:off x="9025713"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پودری</a:t>
              </a:r>
            </a:p>
          </p:txBody>
        </p:sp>
      </p:grpSp>
      <p:grpSp>
        <p:nvGrpSpPr>
          <p:cNvPr id="17" name="Group 16">
            <a:extLst>
              <a:ext uri="{FF2B5EF4-FFF2-40B4-BE49-F238E27FC236}">
                <a16:creationId xmlns:a16="http://schemas.microsoft.com/office/drawing/2014/main" id="{1B633311-DEE9-48BC-B181-45C318A83C7A}"/>
              </a:ext>
            </a:extLst>
          </p:cNvPr>
          <p:cNvGrpSpPr/>
          <p:nvPr/>
        </p:nvGrpSpPr>
        <p:grpSpPr>
          <a:xfrm>
            <a:off x="592743" y="3261178"/>
            <a:ext cx="2956956" cy="3596822"/>
            <a:chOff x="5913912" y="3261178"/>
            <a:chExt cx="2956956" cy="3596822"/>
          </a:xfrm>
        </p:grpSpPr>
        <p:sp>
          <p:nvSpPr>
            <p:cNvPr id="32" name="Rectangle 31">
              <a:extLst>
                <a:ext uri="{FF2B5EF4-FFF2-40B4-BE49-F238E27FC236}">
                  <a16:creationId xmlns:a16="http://schemas.microsoft.com/office/drawing/2014/main" id="{3510252A-C7A8-4A2F-BFA9-D72B31BC14B6}"/>
                </a:ext>
              </a:extLst>
            </p:cNvPr>
            <p:cNvSpPr/>
            <p:nvPr/>
          </p:nvSpPr>
          <p:spPr>
            <a:xfrm>
              <a:off x="5913912" y="3261178"/>
              <a:ext cx="2956956" cy="3596822"/>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5" name="TextBox 34">
              <a:extLst>
                <a:ext uri="{FF2B5EF4-FFF2-40B4-BE49-F238E27FC236}">
                  <a16:creationId xmlns:a16="http://schemas.microsoft.com/office/drawing/2014/main" id="{006E17D8-3AC5-42A8-830D-25E554AB01B0}"/>
                </a:ext>
              </a:extLst>
            </p:cNvPr>
            <p:cNvSpPr txBox="1"/>
            <p:nvPr/>
          </p:nvSpPr>
          <p:spPr>
            <a:xfrm>
              <a:off x="5951951" y="4275117"/>
              <a:ext cx="2918884"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پایه ابی</a:t>
              </a:r>
            </a:p>
          </p:txBody>
        </p:sp>
      </p:grpSp>
      <p:grpSp>
        <p:nvGrpSpPr>
          <p:cNvPr id="16" name="Group 15">
            <a:extLst>
              <a:ext uri="{FF2B5EF4-FFF2-40B4-BE49-F238E27FC236}">
                <a16:creationId xmlns:a16="http://schemas.microsoft.com/office/drawing/2014/main" id="{F14D46A4-7A28-4D57-8632-C1BEBBC5BC24}"/>
              </a:ext>
            </a:extLst>
          </p:cNvPr>
          <p:cNvGrpSpPr/>
          <p:nvPr/>
        </p:nvGrpSpPr>
        <p:grpSpPr>
          <a:xfrm>
            <a:off x="314664" y="3261178"/>
            <a:ext cx="2956988" cy="3596822"/>
            <a:chOff x="2956924" y="3261178"/>
            <a:chExt cx="2956988" cy="3596822"/>
          </a:xfrm>
        </p:grpSpPr>
        <p:sp>
          <p:nvSpPr>
            <p:cNvPr id="31" name="Rectangle 30">
              <a:extLst>
                <a:ext uri="{FF2B5EF4-FFF2-40B4-BE49-F238E27FC236}">
                  <a16:creationId xmlns:a16="http://schemas.microsoft.com/office/drawing/2014/main" id="{32D3866E-F568-4523-B153-90FAF6ED6A09}"/>
                </a:ext>
              </a:extLst>
            </p:cNvPr>
            <p:cNvSpPr/>
            <p:nvPr/>
          </p:nvSpPr>
          <p:spPr>
            <a:xfrm>
              <a:off x="2956956" y="3261178"/>
              <a:ext cx="2956956" cy="3596822"/>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4" name="TextBox 33">
              <a:extLst>
                <a:ext uri="{FF2B5EF4-FFF2-40B4-BE49-F238E27FC236}">
                  <a16:creationId xmlns:a16="http://schemas.microsoft.com/office/drawing/2014/main" id="{AC800F3F-64F2-49E6-9F8C-C505FAFE1CBA}"/>
                </a:ext>
              </a:extLst>
            </p:cNvPr>
            <p:cNvSpPr txBox="1"/>
            <p:nvPr/>
          </p:nvSpPr>
          <p:spPr>
            <a:xfrm>
              <a:off x="2956924" y="4275117"/>
              <a:ext cx="2956955"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پر جامد</a:t>
              </a:r>
            </a:p>
          </p:txBody>
        </p:sp>
      </p:grpSp>
      <p:grpSp>
        <p:nvGrpSpPr>
          <p:cNvPr id="37" name="Group 36">
            <a:extLst>
              <a:ext uri="{FF2B5EF4-FFF2-40B4-BE49-F238E27FC236}">
                <a16:creationId xmlns:a16="http://schemas.microsoft.com/office/drawing/2014/main" id="{86AFD233-5280-489B-9C63-8F9AC56C85BA}"/>
              </a:ext>
            </a:extLst>
          </p:cNvPr>
          <p:cNvGrpSpPr/>
          <p:nvPr/>
        </p:nvGrpSpPr>
        <p:grpSpPr>
          <a:xfrm>
            <a:off x="0" y="3261178"/>
            <a:ext cx="2956956" cy="3596822"/>
            <a:chOff x="0" y="3261178"/>
            <a:chExt cx="2956956" cy="3596822"/>
          </a:xfrm>
        </p:grpSpPr>
        <p:sp>
          <p:nvSpPr>
            <p:cNvPr id="2" name="Rectangle 1">
              <a:extLst>
                <a:ext uri="{FF2B5EF4-FFF2-40B4-BE49-F238E27FC236}">
                  <a16:creationId xmlns:a16="http://schemas.microsoft.com/office/drawing/2014/main" id="{B164CDCB-C4E2-4A38-812B-2940BB6E02F5}"/>
                </a:ext>
              </a:extLst>
            </p:cNvPr>
            <p:cNvSpPr/>
            <p:nvPr/>
          </p:nvSpPr>
          <p:spPr>
            <a:xfrm>
              <a:off x="0" y="3261178"/>
              <a:ext cx="2956956" cy="359682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3" name="TextBox 2">
              <a:extLst>
                <a:ext uri="{FF2B5EF4-FFF2-40B4-BE49-F238E27FC236}">
                  <a16:creationId xmlns:a16="http://schemas.microsoft.com/office/drawing/2014/main" id="{9E1323FF-3C80-4585-81FB-33032A28FB76}"/>
                </a:ext>
              </a:extLst>
            </p:cNvPr>
            <p:cNvSpPr txBox="1"/>
            <p:nvPr/>
          </p:nvSpPr>
          <p:spPr>
            <a:xfrm>
              <a:off x="0" y="4275117"/>
              <a:ext cx="2918917" cy="400110"/>
            </a:xfrm>
            <a:prstGeom prst="rect">
              <a:avLst/>
            </a:prstGeom>
            <a:noFill/>
            <a:ln>
              <a:noFill/>
            </a:ln>
          </p:spPr>
          <p:txBody>
            <a:bodyPr wrap="square" rtlCol="1">
              <a:spAutoFit/>
            </a:bodyPr>
            <a:lstStyle/>
            <a:p>
              <a:pPr algn="ctr"/>
              <a:r>
                <a:rPr lang="fa-IR" sz="2000" dirty="0">
                  <a:cs typeface="2  Sina" panose="00000700000000000000" pitchFamily="2" charset="-78"/>
                </a:rPr>
                <a:t>رنگ و پوشش حلالی</a:t>
              </a: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16" y="70650"/>
            <a:ext cx="12192000" cy="7550727"/>
            <a:chOff x="0" y="0"/>
            <a:chExt cx="12192000" cy="7550727"/>
          </a:xfrm>
          <a:solidFill>
            <a:srgbClr val="99AABA"/>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1" name="TextBox 20">
            <a:extLst>
              <a:ext uri="{FF2B5EF4-FFF2-40B4-BE49-F238E27FC236}">
                <a16:creationId xmlns:a16="http://schemas.microsoft.com/office/drawing/2014/main" id="{6A2B04D3-A44D-4DB8-A2B5-F7F589F1A62B}"/>
              </a:ext>
            </a:extLst>
          </p:cNvPr>
          <p:cNvSpPr txBox="1"/>
          <p:nvPr/>
        </p:nvSpPr>
        <p:spPr>
          <a:xfrm>
            <a:off x="7159805" y="1898708"/>
            <a:ext cx="4866896" cy="2554545"/>
          </a:xfrm>
          <a:prstGeom prst="rect">
            <a:avLst/>
          </a:prstGeom>
          <a:noFill/>
        </p:spPr>
        <p:txBody>
          <a:bodyPr wrap="square" rtlCol="1">
            <a:spAutoFit/>
          </a:bodyPr>
          <a:lstStyle/>
          <a:p>
            <a:pPr algn="r"/>
            <a:r>
              <a:rPr lang="fa-IR" sz="2000" dirty="0">
                <a:cs typeface="2  Nazanin" panose="00000400000000000000" pitchFamily="2" charset="-78"/>
              </a:rPr>
              <a:t>از نظر فرآيند تشكيل فيلم، تقسيم بندي رنگها و پوششهـا بـهصـورت هـوا خشـك،كورهاي، و پرتو سخت است. با توجه به نحوة تشكيل فيلم، رنگهـا و پوشـشهـاي هـوا خشـك در صنعت ساختمان كاربرد بيشتري دارند و از نظر نحوة خشك شدن، در سه حالت</a:t>
            </a:r>
          </a:p>
          <a:p>
            <a:pPr algn="r"/>
            <a:r>
              <a:rPr lang="fa-IR" sz="2000" dirty="0">
                <a:cs typeface="2  Nazanin" panose="00000400000000000000" pitchFamily="2" charset="-78"/>
              </a:rPr>
              <a:t>خشك شدن فيزيكي و يا تبخير حلال، </a:t>
            </a:r>
          </a:p>
          <a:p>
            <a:pPr algn="r"/>
            <a:r>
              <a:rPr lang="fa-IR" sz="2000" dirty="0">
                <a:cs typeface="2  Nazanin" panose="00000400000000000000" pitchFamily="2" charset="-78"/>
              </a:rPr>
              <a:t>خشك شدن اكسايشي </a:t>
            </a:r>
          </a:p>
          <a:p>
            <a:pPr algn="r"/>
            <a:r>
              <a:rPr lang="fa-IR" sz="2000" dirty="0">
                <a:cs typeface="2  Nazanin" panose="00000400000000000000" pitchFamily="2" charset="-78"/>
              </a:rPr>
              <a:t>سخت شـدن شـيميايي (رنـگهـاي دوجزئي)</a:t>
            </a:r>
          </a:p>
        </p:txBody>
      </p:sp>
      <p:sp>
        <p:nvSpPr>
          <p:cNvPr id="22" name="TextBox 21">
            <a:extLst>
              <a:ext uri="{FF2B5EF4-FFF2-40B4-BE49-F238E27FC236}">
                <a16:creationId xmlns:a16="http://schemas.microsoft.com/office/drawing/2014/main" id="{B42ED5EF-2672-422C-8EEC-BAF5B37E43F2}"/>
              </a:ext>
            </a:extLst>
          </p:cNvPr>
          <p:cNvSpPr txBox="1"/>
          <p:nvPr/>
        </p:nvSpPr>
        <p:spPr>
          <a:xfrm>
            <a:off x="1" y="1710565"/>
            <a:ext cx="5228146" cy="4093428"/>
          </a:xfrm>
          <a:prstGeom prst="rect">
            <a:avLst/>
          </a:prstGeom>
          <a:noFill/>
        </p:spPr>
        <p:txBody>
          <a:bodyPr wrap="square" rtlCol="1">
            <a:spAutoFit/>
          </a:bodyPr>
          <a:lstStyle/>
          <a:p>
            <a:pPr algn="r"/>
            <a:r>
              <a:rPr lang="fa-IR" sz="2000" dirty="0">
                <a:cs typeface="2  Nazanin" panose="00000400000000000000" pitchFamily="2" charset="-78"/>
              </a:rPr>
              <a:t>رنگدانه ها بر حسب تركيـب شـيميايي در يكي از رده هاي تركيبات زير قرار ميگيرند:</a:t>
            </a:r>
          </a:p>
          <a:p>
            <a:pPr algn="r"/>
            <a:r>
              <a:rPr lang="fa-IR" sz="2000" dirty="0">
                <a:cs typeface="2  Nazanin" panose="00000400000000000000" pitchFamily="2" charset="-78"/>
              </a:rPr>
              <a:t>- اكسيدها و هيدروكسيدهاي مصنوعي يا طبيعي آهن. </a:t>
            </a:r>
          </a:p>
          <a:p>
            <a:pPr algn="r"/>
            <a:r>
              <a:rPr lang="fa-IR" sz="2000" dirty="0">
                <a:cs typeface="2  Nazanin" panose="00000400000000000000" pitchFamily="2" charset="-78"/>
              </a:rPr>
              <a:t>- اكسيدهاي كروم، تيتانيوم و منگنز. </a:t>
            </a:r>
          </a:p>
          <a:p>
            <a:pPr algn="r"/>
            <a:r>
              <a:rPr lang="fa-IR" sz="2000" dirty="0">
                <a:cs typeface="2  Nazanin" panose="00000400000000000000" pitchFamily="2" charset="-78"/>
              </a:rPr>
              <a:t>- رنگدانه هاي كمپلكس غيرآلي، براي مثال مخلوطي از اكسيدها و هيدروكسيدهاي فلـزي يادشده در بالا با اكسيدها و هيدروكسيدهاي كبالت، آلومينيم، نيكل و آنتيموان.</a:t>
            </a:r>
          </a:p>
          <a:p>
            <a:pPr algn="r"/>
            <a:r>
              <a:rPr lang="fa-IR" sz="2000" dirty="0">
                <a:cs typeface="2  Nazanin" panose="00000400000000000000" pitchFamily="2" charset="-78"/>
              </a:rPr>
              <a:t>- رنگدانه از نوع لاجورد.</a:t>
            </a:r>
          </a:p>
          <a:p>
            <a:pPr algn="r"/>
            <a:r>
              <a:rPr lang="fa-IR" sz="2000" dirty="0">
                <a:cs typeface="2  Nazanin" panose="00000400000000000000" pitchFamily="2" charset="-78"/>
              </a:rPr>
              <a:t>- فتالوسيانين آبي و سبزرنگ.</a:t>
            </a:r>
          </a:p>
          <a:p>
            <a:pPr algn="r"/>
            <a:r>
              <a:rPr lang="fa-IR" sz="2000" dirty="0">
                <a:cs typeface="2  Nazanin" panose="00000400000000000000" pitchFamily="2" charset="-78"/>
              </a:rPr>
              <a:t>- كربن به شكل دوده ( بايد به عنوان رنگدانه غيرآلي درنظر گرفته شود).</a:t>
            </a:r>
          </a:p>
          <a:p>
            <a:pPr algn="r"/>
            <a:r>
              <a:rPr lang="fa-IR" sz="2000" dirty="0">
                <a:cs typeface="2  Nazanin" panose="00000400000000000000" pitchFamily="2" charset="-78"/>
              </a:rPr>
              <a:t>- مخلوطي از مواد يادشده در بالا (ميتواند داراي رنگدانه يار نيز باشد).</a:t>
            </a:r>
          </a:p>
        </p:txBody>
      </p:sp>
      <p:pic>
        <p:nvPicPr>
          <p:cNvPr id="28" name="Picture 27">
            <a:extLst>
              <a:ext uri="{FF2B5EF4-FFF2-40B4-BE49-F238E27FC236}">
                <a16:creationId xmlns:a16="http://schemas.microsoft.com/office/drawing/2014/main" id="{1E03D3DE-C36E-41D6-934D-FA2E03ADFF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9805" y="4475172"/>
            <a:ext cx="4516709" cy="2265479"/>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32" y="64375"/>
            <a:ext cx="12192000" cy="7550727"/>
            <a:chOff x="0" y="0"/>
            <a:chExt cx="12192000" cy="7550727"/>
          </a:xfrm>
          <a:solidFill>
            <a:srgbClr val="E2B49C"/>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29" name="TextBox 28">
            <a:extLst>
              <a:ext uri="{FF2B5EF4-FFF2-40B4-BE49-F238E27FC236}">
                <a16:creationId xmlns:a16="http://schemas.microsoft.com/office/drawing/2014/main" id="{B3826F9B-502D-4C09-AB22-5A45CE66D7D7}"/>
              </a:ext>
            </a:extLst>
          </p:cNvPr>
          <p:cNvSpPr txBox="1"/>
          <p:nvPr/>
        </p:nvSpPr>
        <p:spPr>
          <a:xfrm>
            <a:off x="4103653" y="1288093"/>
            <a:ext cx="7768604" cy="5478423"/>
          </a:xfrm>
          <a:prstGeom prst="rect">
            <a:avLst/>
          </a:prstGeom>
          <a:noFill/>
        </p:spPr>
        <p:txBody>
          <a:bodyPr wrap="square" rtlCol="1">
            <a:spAutoFit/>
          </a:bodyPr>
          <a:lstStyle/>
          <a:p>
            <a:pPr algn="r"/>
            <a:r>
              <a:rPr lang="fa-IR" sz="2200" b="1" dirty="0">
                <a:cs typeface="2  Nazanin" panose="00000400000000000000" pitchFamily="2" charset="-78"/>
              </a:rPr>
              <a:t>ویژگی ها</a:t>
            </a:r>
          </a:p>
          <a:p>
            <a:pPr algn="r"/>
            <a:r>
              <a:rPr lang="fa-IR" sz="2200" dirty="0">
                <a:cs typeface="2  Nazanin" panose="00000400000000000000" pitchFamily="2" charset="-78"/>
              </a:rPr>
              <a:t>رنگهاي تزييني مورد استفاده در ساختمان بايد بر پاية آب باشند اين رنگها براي سطوح خارجي ساختمانها به كار برده ميشود، بايد در برابـر شرايط محيطي، مانند </a:t>
            </a:r>
            <a:r>
              <a:rPr lang="en-US" sz="2200" dirty="0">
                <a:cs typeface="2  Nazanin" panose="00000400000000000000" pitchFamily="2" charset="-78"/>
              </a:rPr>
              <a:t>،</a:t>
            </a:r>
            <a:r>
              <a:rPr lang="fa-IR" sz="2200" dirty="0">
                <a:cs typeface="2  Nazanin" panose="00000400000000000000" pitchFamily="2" charset="-78"/>
              </a:rPr>
              <a:t>دما و رطوبت، يخبندان، مقاوم باشد و در كوتاه مدت (كمتر از 5 سـال)  تخريب نشود. </a:t>
            </a:r>
          </a:p>
          <a:p>
            <a:pPr algn="r"/>
            <a:r>
              <a:rPr lang="fa-IR" sz="2200" dirty="0">
                <a:cs typeface="2  Nazanin" panose="00000400000000000000" pitchFamily="2" charset="-78"/>
              </a:rPr>
              <a:t>پيش از پوشش، همة عيوب سـطحي، تـركهـا و درزهـا، كـه ممكـن اسـت موجـب غيريكنواختي رنگ يا پوشش شود، بايد درزگيري و بتانه كاري شوند</a:t>
            </a:r>
          </a:p>
          <a:p>
            <a:pPr algn="r"/>
            <a:r>
              <a:rPr lang="fa-IR" sz="2200" dirty="0">
                <a:cs typeface="2  Nazanin" panose="00000400000000000000" pitchFamily="2" charset="-78"/>
              </a:rPr>
              <a:t>لوازم چوبي معمولاً در كارگاهها و پاركتها پس از نصـب پوشـش داده مـيشـوند. لاكهاي چوبي مصرفي در ساختمان بايد بر پاية آب باشند</a:t>
            </a:r>
            <a:endParaRPr lang="en-US" sz="2200" dirty="0">
              <a:cs typeface="2  Nazanin" panose="00000400000000000000" pitchFamily="2" charset="-78"/>
            </a:endParaRPr>
          </a:p>
          <a:p>
            <a:pPr algn="r"/>
            <a:r>
              <a:rPr lang="fa-IR" sz="2200" b="1" dirty="0">
                <a:cs typeface="2  Nazanin" panose="00000400000000000000" pitchFamily="2" charset="-78"/>
              </a:rPr>
              <a:t>ازمایش ها</a:t>
            </a:r>
            <a:endParaRPr lang="en-US" sz="2200" b="1" dirty="0">
              <a:cs typeface="2  Nazanin" panose="00000400000000000000" pitchFamily="2" charset="-78"/>
            </a:endParaRPr>
          </a:p>
          <a:p>
            <a:pPr algn="r"/>
            <a:r>
              <a:rPr lang="fa-IR" sz="2200" dirty="0">
                <a:cs typeface="2  Nazanin" panose="00000400000000000000" pitchFamily="2" charset="-78"/>
              </a:rPr>
              <a:t>ازمايشهاي استاندارد شامل، اندازهگيري درصـد مـواد جامـد، انـدازهگيـري زمـان خشك شدن، تعيين گرانروي، تعيين چگالي، تعيين مقاومت در شرايط مه نمكي (براي پوششهـا)، تعيين مقاومت در شرايط رطوبت صد در صد (براي پوششهـا)، تعيـين قـدرت پوشـانندگي (بـرايرنگهاي تزييني)، تعيين مقاومت شستشو (براي رنگهاي تزييني)، اندازهگيري خصوصيات فيزيكي و مكانيكي، شامل: مقاومت سايشي، ضربه و جاري شدن، تعيين مقدار مـاده غيرفـرار و مقاومـت دربرابر شرايط محيطي ميباشند</a:t>
            </a:r>
            <a:endParaRPr lang="en-US" sz="2200" dirty="0">
              <a:cs typeface="2  Nazanin" panose="00000400000000000000" pitchFamily="2" charset="-78"/>
            </a:endParaRPr>
          </a:p>
          <a:p>
            <a:pPr algn="r"/>
            <a:endParaRPr lang="fa-IR" sz="2000" dirty="0">
              <a:cs typeface="2  Nazanin" panose="00000400000000000000" pitchFamily="2" charset="-78"/>
            </a:endParaRPr>
          </a:p>
        </p:txBody>
      </p:sp>
      <p:pic>
        <p:nvPicPr>
          <p:cNvPr id="38" name="Picture 37">
            <a:extLst>
              <a:ext uri="{FF2B5EF4-FFF2-40B4-BE49-F238E27FC236}">
                <a16:creationId xmlns:a16="http://schemas.microsoft.com/office/drawing/2014/main" id="{EBB1AE91-AE0C-4FC0-8B4C-EC2979646E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123" y="1154021"/>
            <a:ext cx="3820755" cy="2139623"/>
          </a:xfrm>
          <a:prstGeom prst="rect">
            <a:avLst/>
          </a:prstGeom>
        </p:spPr>
      </p:pic>
      <p:pic>
        <p:nvPicPr>
          <p:cNvPr id="40" name="Picture 39">
            <a:extLst>
              <a:ext uri="{FF2B5EF4-FFF2-40B4-BE49-F238E27FC236}">
                <a16:creationId xmlns:a16="http://schemas.microsoft.com/office/drawing/2014/main" id="{2B2B90D6-83EB-4F13-86A3-E16B6E0296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7685" y="3791143"/>
            <a:ext cx="3828207" cy="2769650"/>
          </a:xfrm>
          <a:prstGeom prst="rect">
            <a:avLst/>
          </a:prstGeom>
        </p:spPr>
      </p:pic>
      <p:grpSp>
        <p:nvGrpSpPr>
          <p:cNvPr id="23" name="Group 22">
            <a:extLst>
              <a:ext uri="{FF2B5EF4-FFF2-40B4-BE49-F238E27FC236}">
                <a16:creationId xmlns:a16="http://schemas.microsoft.com/office/drawing/2014/main" id="{CE9F4577-2F48-44A4-957B-59D6407693D0}"/>
              </a:ext>
            </a:extLst>
          </p:cNvPr>
          <p:cNvGrpSpPr/>
          <p:nvPr/>
        </p:nvGrpSpPr>
        <p:grpSpPr>
          <a:xfrm>
            <a:off x="-64" y="7574"/>
            <a:ext cx="12192000" cy="7550727"/>
            <a:chOff x="0" y="0"/>
            <a:chExt cx="12192000" cy="7550727"/>
          </a:xfrm>
          <a:solidFill>
            <a:srgbClr val="E8C77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7" name="TextBox 26">
            <a:extLst>
              <a:ext uri="{FF2B5EF4-FFF2-40B4-BE49-F238E27FC236}">
                <a16:creationId xmlns:a16="http://schemas.microsoft.com/office/drawing/2014/main" id="{D253766D-7BD1-43A0-BA99-94D74835AA7F}"/>
              </a:ext>
            </a:extLst>
          </p:cNvPr>
          <p:cNvSpPr txBox="1"/>
          <p:nvPr/>
        </p:nvSpPr>
        <p:spPr>
          <a:xfrm>
            <a:off x="7578467" y="331107"/>
            <a:ext cx="4346916" cy="3785652"/>
          </a:xfrm>
          <a:prstGeom prst="rect">
            <a:avLst/>
          </a:prstGeom>
          <a:noFill/>
        </p:spPr>
        <p:txBody>
          <a:bodyPr wrap="square" rtlCol="1">
            <a:spAutoFit/>
          </a:bodyPr>
          <a:lstStyle/>
          <a:p>
            <a:pPr algn="r"/>
            <a:r>
              <a:rPr lang="fa-IR" sz="2000" dirty="0">
                <a:cs typeface="2  Nazanin" panose="00000400000000000000" pitchFamily="2" charset="-78"/>
              </a:rPr>
              <a:t>آزمايش ها روي رنگدانـه هـاي مـورد اسـتفاده در موادپايـه سـيماني شامل كنترل تاثير روي خواص بتن شامل:  </a:t>
            </a:r>
          </a:p>
          <a:p>
            <a:pPr algn="r"/>
            <a:r>
              <a:rPr lang="fa-IR" sz="2000" dirty="0">
                <a:cs typeface="2  Nazanin" panose="00000400000000000000" pitchFamily="2" charset="-78"/>
              </a:rPr>
              <a:t>زمان گيرش و مقاومت فشـاري، </a:t>
            </a:r>
          </a:p>
          <a:p>
            <a:pPr algn="r"/>
            <a:r>
              <a:rPr lang="fa-IR" sz="2000" dirty="0">
                <a:cs typeface="2  Nazanin" panose="00000400000000000000" pitchFamily="2" charset="-78"/>
              </a:rPr>
              <a:t>تركيـب شـامل: تركيب شيميايي رنگدانه، مواد محلول در آب، كلريد محلول در آب، مقدار كلريد كل</a:t>
            </a:r>
          </a:p>
          <a:p>
            <a:pPr algn="r"/>
            <a:r>
              <a:rPr lang="fa-IR" sz="2000" dirty="0">
                <a:cs typeface="2  Nazanin" panose="00000400000000000000" pitchFamily="2" charset="-78"/>
              </a:rPr>
              <a:t>كسر وزن بعد از سرخ شدن</a:t>
            </a:r>
          </a:p>
          <a:p>
            <a:pPr algn="r"/>
            <a:r>
              <a:rPr lang="fa-IR" sz="2000" dirty="0">
                <a:cs typeface="2  Nazanin" panose="00000400000000000000" pitchFamily="2" charset="-78"/>
              </a:rPr>
              <a:t>انتشار راديواكتيو</a:t>
            </a:r>
          </a:p>
          <a:p>
            <a:pPr algn="r"/>
            <a:r>
              <a:rPr lang="fa-IR" sz="2000" dirty="0">
                <a:cs typeface="2  Nazanin" panose="00000400000000000000" pitchFamily="2" charset="-78"/>
              </a:rPr>
              <a:t>آزادشدن مواد خطرناك</a:t>
            </a:r>
          </a:p>
          <a:p>
            <a:pPr algn="r"/>
            <a:r>
              <a:rPr lang="fa-IR" sz="2000" dirty="0">
                <a:cs typeface="2  Nazanin" panose="00000400000000000000" pitchFamily="2" charset="-78"/>
              </a:rPr>
              <a:t>قـدرت نسـبي فـام بخشـي رنگ، </a:t>
            </a:r>
          </a:p>
          <a:p>
            <a:pPr algn="r"/>
            <a:r>
              <a:rPr lang="fa-IR" sz="2000" dirty="0">
                <a:cs typeface="2  Nazanin" panose="00000400000000000000" pitchFamily="2" charset="-78"/>
              </a:rPr>
              <a:t>مانده روي الک</a:t>
            </a:r>
          </a:p>
          <a:p>
            <a:pPr algn="r"/>
            <a:endParaRPr lang="fa-IR" sz="2000" dirty="0">
              <a:cs typeface="2  Nazanin" panose="00000400000000000000" pitchFamily="2" charset="-78"/>
            </a:endParaRPr>
          </a:p>
        </p:txBody>
      </p:sp>
      <p:sp>
        <p:nvSpPr>
          <p:cNvPr id="30" name="TextBox 29">
            <a:extLst>
              <a:ext uri="{FF2B5EF4-FFF2-40B4-BE49-F238E27FC236}">
                <a16:creationId xmlns:a16="http://schemas.microsoft.com/office/drawing/2014/main" id="{87B21185-D13E-41A3-A369-E033AE622A3E}"/>
              </a:ext>
            </a:extLst>
          </p:cNvPr>
          <p:cNvSpPr txBox="1"/>
          <p:nvPr/>
        </p:nvSpPr>
        <p:spPr>
          <a:xfrm>
            <a:off x="319673" y="3182538"/>
            <a:ext cx="6980747" cy="3477875"/>
          </a:xfrm>
          <a:prstGeom prst="rect">
            <a:avLst/>
          </a:prstGeom>
          <a:noFill/>
        </p:spPr>
        <p:txBody>
          <a:bodyPr wrap="square" rtlCol="1">
            <a:spAutoFit/>
          </a:bodyPr>
          <a:lstStyle/>
          <a:p>
            <a:pPr algn="r"/>
            <a:r>
              <a:rPr lang="fa-IR" sz="2000" b="1" dirty="0">
                <a:cs typeface="2  Nazanin" panose="00000400000000000000" pitchFamily="2" charset="-78"/>
              </a:rPr>
              <a:t> ایمنی</a:t>
            </a:r>
            <a:endParaRPr lang="en-US" sz="2000" b="1" dirty="0">
              <a:cs typeface="2  Nazanin" panose="00000400000000000000" pitchFamily="2" charset="-78"/>
            </a:endParaRPr>
          </a:p>
          <a:p>
            <a:pPr algn="r"/>
            <a:r>
              <a:rPr lang="fa-IR" sz="2000" dirty="0">
                <a:cs typeface="2  Nazanin" panose="00000400000000000000" pitchFamily="2" charset="-78"/>
              </a:rPr>
              <a:t>رنگ ها و پوشش هاي ساختماني نبايد مواد سمي مانند سرب و كـروم داشـته باشـند. سطوح رنگ شده نبايد داراي مواد آلايندهاي باشد كه تماس با آن براي انسان زيان اور باشد. </a:t>
            </a:r>
          </a:p>
          <a:p>
            <a:pPr algn="r"/>
            <a:r>
              <a:rPr lang="fa-IR" sz="2000" dirty="0">
                <a:cs typeface="2  Nazanin" panose="00000400000000000000" pitchFamily="2" charset="-78"/>
              </a:rPr>
              <a:t> رنگ هاي معروف به رنگ روغني، عمدتا داراي تركيبات سـمي اسـت و نبايـد از آنها استفاده شود رنگ هاي مورد استفاده در ساختمان بايد عاري از حلال آلي باشد.</a:t>
            </a:r>
            <a:endParaRPr lang="fa-IR" sz="2000" b="1" dirty="0">
              <a:cs typeface="2  Nazanin" panose="00000400000000000000" pitchFamily="2" charset="-78"/>
            </a:endParaRPr>
          </a:p>
          <a:p>
            <a:pPr algn="r"/>
            <a:r>
              <a:rPr lang="fa-IR" sz="2000" b="1" dirty="0">
                <a:cs typeface="2  Nazanin" panose="00000400000000000000" pitchFamily="2" charset="-78"/>
              </a:rPr>
              <a:t>بسته بندی </a:t>
            </a:r>
          </a:p>
          <a:p>
            <a:pPr algn="r"/>
            <a:r>
              <a:rPr lang="fa-IR" sz="2000" dirty="0">
                <a:cs typeface="2  Nazanin" panose="00000400000000000000" pitchFamily="2" charset="-78"/>
              </a:rPr>
              <a:t>رنگها و پوششها بايد به نحوي بسته بنـدي شـوند كـه بـه هنگـام انتقـال، حتـي در مسافتهاي طولاني، به آنها آسيب نرسد</a:t>
            </a:r>
          </a:p>
          <a:p>
            <a:pPr algn="r"/>
            <a:r>
              <a:rPr lang="fa-IR" sz="2000" dirty="0">
                <a:cs typeface="2  Nazanin" panose="00000400000000000000" pitchFamily="2" charset="-78"/>
              </a:rPr>
              <a:t>بر روي برچسب ظرف رنگ، بايد مشخصـات كـاربردي، تـاريخ توليـد، تـاريخ انقضـا و ويژگيهاي عمومي رنگ نوشته شده باشند</a:t>
            </a:r>
          </a:p>
        </p:txBody>
      </p:sp>
      <p:pic>
        <p:nvPicPr>
          <p:cNvPr id="43" name="Picture 42">
            <a:extLst>
              <a:ext uri="{FF2B5EF4-FFF2-40B4-BE49-F238E27FC236}">
                <a16:creationId xmlns:a16="http://schemas.microsoft.com/office/drawing/2014/main" id="{E5EE917C-A361-4F85-821B-7C8BCF52D3B7}"/>
              </a:ext>
            </a:extLst>
          </p:cNvPr>
          <p:cNvPicPr>
            <a:picLocks noChangeAspect="1"/>
          </p:cNvPicPr>
          <p:nvPr/>
        </p:nvPicPr>
        <p:blipFill rotWithShape="1">
          <a:blip r:embed="rId6">
            <a:extLst>
              <a:ext uri="{28A0092B-C50C-407E-A947-70E740481C1C}">
                <a14:useLocalDpi xmlns:a14="http://schemas.microsoft.com/office/drawing/2010/main" val="0"/>
              </a:ext>
            </a:extLst>
          </a:blip>
          <a:srcRect b="16933"/>
          <a:stretch/>
        </p:blipFill>
        <p:spPr>
          <a:xfrm>
            <a:off x="136888" y="197587"/>
            <a:ext cx="3437197" cy="1899989"/>
          </a:xfrm>
          <a:prstGeom prst="rect">
            <a:avLst/>
          </a:prstGeom>
        </p:spPr>
      </p:pic>
      <p:pic>
        <p:nvPicPr>
          <p:cNvPr id="45" name="Picture 44">
            <a:extLst>
              <a:ext uri="{FF2B5EF4-FFF2-40B4-BE49-F238E27FC236}">
                <a16:creationId xmlns:a16="http://schemas.microsoft.com/office/drawing/2014/main" id="{64FA52E5-D3C0-4EC0-8202-09F5EE91C2D8}"/>
              </a:ext>
            </a:extLst>
          </p:cNvPr>
          <p:cNvPicPr>
            <a:picLocks noChangeAspect="1"/>
          </p:cNvPicPr>
          <p:nvPr/>
        </p:nvPicPr>
        <p:blipFill rotWithShape="1">
          <a:blip r:embed="rId7">
            <a:extLst>
              <a:ext uri="{28A0092B-C50C-407E-A947-70E740481C1C}">
                <a14:useLocalDpi xmlns:a14="http://schemas.microsoft.com/office/drawing/2010/main" val="0"/>
              </a:ext>
            </a:extLst>
          </a:blip>
          <a:srcRect r="15622" b="19901"/>
          <a:stretch/>
        </p:blipFill>
        <p:spPr>
          <a:xfrm>
            <a:off x="7561963" y="3510089"/>
            <a:ext cx="4443570" cy="3159585"/>
          </a:xfrm>
          <a:prstGeom prst="rect">
            <a:avLst/>
          </a:prstGeom>
        </p:spPr>
      </p:pic>
      <p:pic>
        <p:nvPicPr>
          <p:cNvPr id="42" name="Picture 41">
            <a:extLst>
              <a:ext uri="{FF2B5EF4-FFF2-40B4-BE49-F238E27FC236}">
                <a16:creationId xmlns:a16="http://schemas.microsoft.com/office/drawing/2014/main" id="{7EFBEBB0-9FEB-438A-988C-BBE4E3260A5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71642" y="733377"/>
            <a:ext cx="3890887" cy="2227107"/>
          </a:xfrm>
          <a:prstGeom prst="rect">
            <a:avLst/>
          </a:prstGeom>
        </p:spPr>
      </p:pic>
    </p:spTree>
    <p:extLst>
      <p:ext uri="{BB962C8B-B14F-4D97-AF65-F5344CB8AC3E}">
        <p14:creationId xmlns:p14="http://schemas.microsoft.com/office/powerpoint/2010/main" val="40063959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4.79167E-6 -1.48148E-6 L 0.21822 -0.00324 " pathEditMode="relative" rAng="0" ptsTypes="AA">
                                      <p:cBhvr>
                                        <p:cTn id="6" dur="2000" fill="hold"/>
                                        <p:tgtEl>
                                          <p:spTgt spid="16"/>
                                        </p:tgtEl>
                                        <p:attrNameLst>
                                          <p:attrName>ppt_x</p:attrName>
                                          <p:attrName>ppt_y</p:attrName>
                                        </p:attrNameLst>
                                      </p:cBhvr>
                                      <p:rCtr x="10911" y="-162"/>
                                    </p:animMotion>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1.66667E-6 -1.48148E-6 L 0.43893 -0.00324 " pathEditMode="relative" rAng="0" ptsTypes="AA">
                                      <p:cBhvr>
                                        <p:cTn id="10" dur="2000" fill="hold"/>
                                        <p:tgtEl>
                                          <p:spTgt spid="17"/>
                                        </p:tgtEl>
                                        <p:attrNameLst>
                                          <p:attrName>ppt_x</p:attrName>
                                          <p:attrName>ppt_y</p:attrName>
                                        </p:attrNameLst>
                                      </p:cBhvr>
                                      <p:rCtr x="21940" y="-162"/>
                                    </p:animMotion>
                                  </p:childTnLst>
                                </p:cTn>
                              </p:par>
                            </p:childTnLst>
                          </p:cTn>
                        </p:par>
                      </p:childTnLst>
                    </p:cTn>
                  </p:par>
                  <p:par>
                    <p:cTn id="11" fill="hold">
                      <p:stCondLst>
                        <p:cond delay="indefinite"/>
                      </p:stCondLst>
                      <p:childTnLst>
                        <p:par>
                          <p:cTn id="12" fill="hold">
                            <p:stCondLst>
                              <p:cond delay="0"/>
                            </p:stCondLst>
                            <p:childTnLst>
                              <p:par>
                                <p:cTn id="13" presetID="63" presetClass="path" presetSubtype="0" accel="50000" decel="50000" fill="hold" nodeType="clickEffect">
                                  <p:stCondLst>
                                    <p:cond delay="0"/>
                                  </p:stCondLst>
                                  <p:childTnLst>
                                    <p:animMotion origin="layout" path="M -2.29167E-6 4.81481E-6 L 0.68034 -0.0007 " pathEditMode="relative" rAng="0" ptsTypes="AA">
                                      <p:cBhvr>
                                        <p:cTn id="14" dur="2000" fill="hold"/>
                                        <p:tgtEl>
                                          <p:spTgt spid="19"/>
                                        </p:tgtEl>
                                        <p:attrNameLst>
                                          <p:attrName>ppt_x</p:attrName>
                                          <p:attrName>ppt_y</p:attrName>
                                        </p:attrNameLst>
                                      </p:cBhvr>
                                      <p:rCtr x="34010" y="-4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2A088D3-A642-47E9-8843-D04D55D8CBF1}"/>
              </a:ext>
            </a:extLst>
          </p:cNvPr>
          <p:cNvGrpSpPr/>
          <p:nvPr/>
        </p:nvGrpSpPr>
        <p:grpSpPr>
          <a:xfrm>
            <a:off x="40" y="-3707659"/>
            <a:ext cx="12192000" cy="7550727"/>
            <a:chOff x="0" y="0"/>
            <a:chExt cx="12192000" cy="7550727"/>
          </a:xfrm>
          <a:solidFill>
            <a:srgbClr val="9DAAE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EEBE74"/>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88A88"/>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DB19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18" name="TextBox 17">
            <a:extLst>
              <a:ext uri="{FF2B5EF4-FFF2-40B4-BE49-F238E27FC236}">
                <a16:creationId xmlns:a16="http://schemas.microsoft.com/office/drawing/2014/main" id="{1613B86D-B881-4C0F-BFF1-8F82D4952B4A}"/>
              </a:ext>
            </a:extLst>
          </p:cNvPr>
          <p:cNvSpPr txBox="1"/>
          <p:nvPr/>
        </p:nvSpPr>
        <p:spPr>
          <a:xfrm>
            <a:off x="5424053" y="3903345"/>
            <a:ext cx="6672906" cy="2954655"/>
          </a:xfrm>
          <a:prstGeom prst="rect">
            <a:avLst/>
          </a:prstGeom>
          <a:noFill/>
        </p:spPr>
        <p:txBody>
          <a:bodyPr wrap="square" rtlCol="1">
            <a:spAutoFit/>
          </a:bodyPr>
          <a:lstStyle/>
          <a:p>
            <a:pPr algn="r"/>
            <a:r>
              <a:rPr lang="fa-IR" sz="2400" b="1" dirty="0">
                <a:cs typeface="2  Nazanin" panose="00000400000000000000" pitchFamily="2" charset="-78"/>
              </a:rPr>
              <a:t>چوب و فراورد های ان</a:t>
            </a:r>
          </a:p>
          <a:p>
            <a:pPr algn="r"/>
            <a:r>
              <a:rPr lang="fa-IR" sz="2400" dirty="0">
                <a:cs typeface="2  Nazanin" panose="00000400000000000000" pitchFamily="2" charset="-78"/>
              </a:rPr>
              <a:t>چوبي كه در ساختمان به مصرف ميرسد، به يكي از صورتهـاي طبيعـي، اشـباع شـده، اصـلاح شـده،لايه هاي يـا چندسـازهاي اسـت.</a:t>
            </a:r>
          </a:p>
          <a:p>
            <a:pPr algn="r"/>
            <a:r>
              <a:rPr lang="fa-IR" sz="2400" dirty="0">
                <a:cs typeface="2  Nazanin" panose="00000400000000000000" pitchFamily="2" charset="-78"/>
              </a:rPr>
              <a:t>محصول ساختماني چوب شامل چوب ماسيو، لاي هاي، تيرچه هاي با مقطـع و پنـل و تخته هاي چند سازهاي است</a:t>
            </a:r>
          </a:p>
          <a:p>
            <a:pPr algn="r"/>
            <a:r>
              <a:rPr lang="fa-IR" sz="2400" dirty="0">
                <a:cs typeface="2  Nazanin" panose="00000400000000000000" pitchFamily="2" charset="-78"/>
              </a:rPr>
              <a:t>چوب ماسيو از نظر گونه، به دو دسته پهن برگان و سوزني برگان تقسيم ميشوند</a:t>
            </a:r>
          </a:p>
          <a:p>
            <a:pPr algn="r"/>
            <a:endParaRPr lang="fa-IR" dirty="0">
              <a:cs typeface="2  Nazanin" panose="00000400000000000000" pitchFamily="2" charset="-78"/>
            </a:endParaRPr>
          </a:p>
        </p:txBody>
      </p:sp>
      <p:pic>
        <p:nvPicPr>
          <p:cNvPr id="3" name="Picture 2">
            <a:extLst>
              <a:ext uri="{FF2B5EF4-FFF2-40B4-BE49-F238E27FC236}">
                <a16:creationId xmlns:a16="http://schemas.microsoft.com/office/drawing/2014/main" id="{FDAB3936-401A-4C0A-949F-5E265E309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577" y="3704522"/>
            <a:ext cx="5037223" cy="2837636"/>
          </a:xfrm>
          <a:prstGeom prst="rect">
            <a:avLst/>
          </a:prstGeom>
        </p:spPr>
      </p:pic>
    </p:spTree>
    <p:extLst>
      <p:ext uri="{BB962C8B-B14F-4D97-AF65-F5344CB8AC3E}">
        <p14:creationId xmlns:p14="http://schemas.microsoft.com/office/powerpoint/2010/main" val="7148664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5424053" y="4040412"/>
            <a:ext cx="6672906" cy="2308324"/>
          </a:xfrm>
          <a:prstGeom prst="rect">
            <a:avLst/>
          </a:prstGeom>
          <a:noFill/>
        </p:spPr>
        <p:txBody>
          <a:bodyPr wrap="square" rtlCol="1">
            <a:spAutoFit/>
          </a:bodyPr>
          <a:lstStyle/>
          <a:p>
            <a:pPr algn="r"/>
            <a:r>
              <a:rPr lang="fa-IR" sz="2400" b="1" dirty="0">
                <a:cs typeface="2  Nazanin" panose="00000400000000000000" pitchFamily="2" charset="-78"/>
              </a:rPr>
              <a:t>چوب و فراورد های ان</a:t>
            </a:r>
          </a:p>
          <a:p>
            <a:pPr algn="r"/>
            <a:r>
              <a:rPr lang="fa-IR" sz="2400" dirty="0">
                <a:cs typeface="2  Nazanin" panose="00000400000000000000" pitchFamily="2" charset="-78"/>
              </a:rPr>
              <a:t>چوبي كه در ساختمان به مصرف ميرسد، به يكي از صورتهـاي طبيعـي، اشـباع شـده، اصـلاح شـده،لايهاي يـا چندسـازهاي اسـت.</a:t>
            </a:r>
          </a:p>
          <a:p>
            <a:pPr algn="r"/>
            <a:r>
              <a:rPr lang="fa-IR" sz="2400" dirty="0">
                <a:cs typeface="2  Nazanin" panose="00000400000000000000" pitchFamily="2" charset="-78"/>
              </a:rPr>
              <a:t> از جملـه كاربردهـاي چـوب ماسـيو و لايـهاي سـاختن اسـكلت (تـاب) ساختمان هاي چوبي، ساخت در و پنجره، ديوارپوش، كفپوش، سقفپوش، نرده، شمعكوبي، قالب بندي، جانپناه، راهپله و داربست است</a:t>
            </a:r>
          </a:p>
        </p:txBody>
      </p:sp>
      <p:pic>
        <p:nvPicPr>
          <p:cNvPr id="3" name="Picture 2">
            <a:extLst>
              <a:ext uri="{FF2B5EF4-FFF2-40B4-BE49-F238E27FC236}">
                <a16:creationId xmlns:a16="http://schemas.microsoft.com/office/drawing/2014/main" id="{FDAB3936-401A-4C0A-949F-5E265E309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577" y="3704522"/>
            <a:ext cx="5037223" cy="283763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32" y="0"/>
            <a:ext cx="12192000" cy="7550727"/>
            <a:chOff x="0" y="0"/>
            <a:chExt cx="12192000" cy="7550727"/>
          </a:xfrm>
          <a:solidFill>
            <a:srgbClr val="9DAAE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grpSp>
        <p:nvGrpSpPr>
          <p:cNvPr id="8" name="Group 7">
            <a:extLst>
              <a:ext uri="{FF2B5EF4-FFF2-40B4-BE49-F238E27FC236}">
                <a16:creationId xmlns:a16="http://schemas.microsoft.com/office/drawing/2014/main" id="{4205C264-7ADF-4471-B6A3-9D96A1814A4F}"/>
              </a:ext>
            </a:extLst>
          </p:cNvPr>
          <p:cNvGrpSpPr/>
          <p:nvPr/>
        </p:nvGrpSpPr>
        <p:grpSpPr>
          <a:xfrm>
            <a:off x="32" y="-4424958"/>
            <a:ext cx="12192000" cy="7550727"/>
            <a:chOff x="0" y="0"/>
            <a:chExt cx="12192000" cy="7550727"/>
          </a:xfrm>
          <a:solidFill>
            <a:srgbClr val="EEBE74"/>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88A88"/>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DB19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16" name="TextBox 15">
            <a:extLst>
              <a:ext uri="{FF2B5EF4-FFF2-40B4-BE49-F238E27FC236}">
                <a16:creationId xmlns:a16="http://schemas.microsoft.com/office/drawing/2014/main" id="{77616D45-A46C-4B68-90D9-747C8D4B635B}"/>
              </a:ext>
            </a:extLst>
          </p:cNvPr>
          <p:cNvSpPr txBox="1"/>
          <p:nvPr/>
        </p:nvSpPr>
        <p:spPr>
          <a:xfrm>
            <a:off x="0" y="3313216"/>
            <a:ext cx="3942607" cy="3544784"/>
          </a:xfrm>
          <a:prstGeom prst="rect">
            <a:avLst/>
          </a:prstGeom>
          <a:solidFill>
            <a:schemeClr val="accent1">
              <a:lumMod val="20000"/>
              <a:lumOff val="80000"/>
            </a:schemeClr>
          </a:solidFill>
          <a:ln>
            <a:noFill/>
          </a:ln>
        </p:spPr>
        <p:txBody>
          <a:bodyPr wrap="square" rtlCol="1">
            <a:spAutoFit/>
          </a:bodyPr>
          <a:lstStyle/>
          <a:p>
            <a:endParaRPr lang="fa-IR" dirty="0"/>
          </a:p>
        </p:txBody>
      </p:sp>
      <p:sp>
        <p:nvSpPr>
          <p:cNvPr id="28" name="TextBox 27">
            <a:extLst>
              <a:ext uri="{FF2B5EF4-FFF2-40B4-BE49-F238E27FC236}">
                <a16:creationId xmlns:a16="http://schemas.microsoft.com/office/drawing/2014/main" id="{60819D09-FA2D-4771-8DFA-D9A5E6B583AF}"/>
              </a:ext>
            </a:extLst>
          </p:cNvPr>
          <p:cNvSpPr txBox="1"/>
          <p:nvPr/>
        </p:nvSpPr>
        <p:spPr>
          <a:xfrm>
            <a:off x="3942607" y="3322750"/>
            <a:ext cx="3942607" cy="3544784"/>
          </a:xfrm>
          <a:prstGeom prst="rect">
            <a:avLst/>
          </a:prstGeom>
          <a:solidFill>
            <a:schemeClr val="accent2">
              <a:lumMod val="20000"/>
              <a:lumOff val="80000"/>
            </a:schemeClr>
          </a:solidFill>
          <a:ln>
            <a:noFill/>
          </a:ln>
        </p:spPr>
        <p:txBody>
          <a:bodyPr wrap="square" rtlCol="1">
            <a:spAutoFit/>
          </a:bodyPr>
          <a:lstStyle/>
          <a:p>
            <a:endParaRPr lang="fa-IR" dirty="0"/>
          </a:p>
        </p:txBody>
      </p:sp>
      <p:sp>
        <p:nvSpPr>
          <p:cNvPr id="29" name="TextBox 28">
            <a:extLst>
              <a:ext uri="{FF2B5EF4-FFF2-40B4-BE49-F238E27FC236}">
                <a16:creationId xmlns:a16="http://schemas.microsoft.com/office/drawing/2014/main" id="{2B4C8E96-F85E-4317-BC24-B09B40DEBF0B}"/>
              </a:ext>
            </a:extLst>
          </p:cNvPr>
          <p:cNvSpPr txBox="1"/>
          <p:nvPr/>
        </p:nvSpPr>
        <p:spPr>
          <a:xfrm>
            <a:off x="7885214" y="3309088"/>
            <a:ext cx="4306754" cy="3544784"/>
          </a:xfrm>
          <a:prstGeom prst="rect">
            <a:avLst/>
          </a:prstGeom>
          <a:solidFill>
            <a:schemeClr val="accent4">
              <a:lumMod val="20000"/>
              <a:lumOff val="80000"/>
            </a:schemeClr>
          </a:solidFill>
          <a:ln>
            <a:noFill/>
          </a:ln>
        </p:spPr>
        <p:txBody>
          <a:bodyPr wrap="square" rtlCol="1">
            <a:spAutoFit/>
          </a:bodyPr>
          <a:lstStyle/>
          <a:p>
            <a:endParaRPr lang="fa-IR" dirty="0"/>
          </a:p>
        </p:txBody>
      </p:sp>
      <p:sp>
        <p:nvSpPr>
          <p:cNvPr id="17" name="TextBox 16">
            <a:extLst>
              <a:ext uri="{FF2B5EF4-FFF2-40B4-BE49-F238E27FC236}">
                <a16:creationId xmlns:a16="http://schemas.microsoft.com/office/drawing/2014/main" id="{8C79BA60-C547-4C81-9BB2-9B0431A9FAC1}"/>
              </a:ext>
            </a:extLst>
          </p:cNvPr>
          <p:cNvSpPr txBox="1"/>
          <p:nvPr/>
        </p:nvSpPr>
        <p:spPr>
          <a:xfrm>
            <a:off x="54324" y="3550722"/>
            <a:ext cx="3722027" cy="1477328"/>
          </a:xfrm>
          <a:prstGeom prst="rect">
            <a:avLst/>
          </a:prstGeom>
          <a:noFill/>
        </p:spPr>
        <p:txBody>
          <a:bodyPr wrap="square" rtlCol="1">
            <a:spAutoFit/>
          </a:bodyPr>
          <a:lstStyle/>
          <a:p>
            <a:pPr algn="r"/>
            <a:r>
              <a:rPr lang="fa-IR" dirty="0"/>
              <a:t>پارکت</a:t>
            </a:r>
          </a:p>
          <a:p>
            <a:pPr algn="r"/>
            <a:r>
              <a:rPr lang="fa-IR" dirty="0">
                <a:cs typeface="2  Nazanin" panose="00000400000000000000" pitchFamily="2" charset="-78"/>
              </a:rPr>
              <a:t>اجزا پاركت از گونه هاي داراي نقشهاي طبيعي جذاب، پرداخـت پـذير بـا چيدمان شطرنجي، جناغي يا حصـيري اسـت كـه در چگـالي و انـدازه مناسـب سـفارش، توليـد وبسته بندي ميشود.</a:t>
            </a:r>
          </a:p>
        </p:txBody>
      </p:sp>
      <p:pic>
        <p:nvPicPr>
          <p:cNvPr id="20" name="Picture 19">
            <a:extLst>
              <a:ext uri="{FF2B5EF4-FFF2-40B4-BE49-F238E27FC236}">
                <a16:creationId xmlns:a16="http://schemas.microsoft.com/office/drawing/2014/main" id="{8A849C5A-3CF0-49E7-A198-F499393D2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825" y="5086969"/>
            <a:ext cx="2695575" cy="1695450"/>
          </a:xfrm>
          <a:prstGeom prst="rect">
            <a:avLst/>
          </a:prstGeom>
        </p:spPr>
      </p:pic>
      <p:sp>
        <p:nvSpPr>
          <p:cNvPr id="21" name="TextBox 20">
            <a:extLst>
              <a:ext uri="{FF2B5EF4-FFF2-40B4-BE49-F238E27FC236}">
                <a16:creationId xmlns:a16="http://schemas.microsoft.com/office/drawing/2014/main" id="{C66CBD8C-7B92-4131-94D4-D648FDF4EA43}"/>
              </a:ext>
            </a:extLst>
          </p:cNvPr>
          <p:cNvSpPr txBox="1"/>
          <p:nvPr/>
        </p:nvSpPr>
        <p:spPr>
          <a:xfrm>
            <a:off x="4108735" y="3550722"/>
            <a:ext cx="3610223" cy="1477328"/>
          </a:xfrm>
          <a:prstGeom prst="rect">
            <a:avLst/>
          </a:prstGeom>
          <a:noFill/>
        </p:spPr>
        <p:txBody>
          <a:bodyPr wrap="square" rtlCol="1">
            <a:spAutoFit/>
          </a:bodyPr>
          <a:lstStyle/>
          <a:p>
            <a:pPr algn="r"/>
            <a:r>
              <a:rPr lang="fa-IR" b="1" dirty="0">
                <a:cs typeface="2  Nazanin" panose="00000400000000000000" pitchFamily="2" charset="-78"/>
              </a:rPr>
              <a:t>کف پوش</a:t>
            </a:r>
          </a:p>
          <a:p>
            <a:pPr algn="r"/>
            <a:r>
              <a:rPr lang="fa-IR" dirty="0">
                <a:cs typeface="2  Nazanin" panose="00000400000000000000" pitchFamily="2" charset="-78"/>
              </a:rPr>
              <a:t>كفپوش پهن برگ بر حسب كيفيت فيزيك چوب، قطعات آن ابعاد متغيـر دارنـد و بـه طـور عمده از گونه هاي داراي طرح طبيعي جذاب در برش شعاعي يا مماسي تهيه ميشود</a:t>
            </a:r>
          </a:p>
        </p:txBody>
      </p:sp>
      <p:pic>
        <p:nvPicPr>
          <p:cNvPr id="31" name="Picture 30">
            <a:extLst>
              <a:ext uri="{FF2B5EF4-FFF2-40B4-BE49-F238E27FC236}">
                <a16:creationId xmlns:a16="http://schemas.microsoft.com/office/drawing/2014/main" id="{E014FC4B-FD54-4D33-B5C9-71DF42E82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3532" y="5094510"/>
            <a:ext cx="3028950" cy="1514475"/>
          </a:xfrm>
          <a:prstGeom prst="rect">
            <a:avLst/>
          </a:prstGeom>
        </p:spPr>
      </p:pic>
      <p:sp>
        <p:nvSpPr>
          <p:cNvPr id="32" name="TextBox 31">
            <a:extLst>
              <a:ext uri="{FF2B5EF4-FFF2-40B4-BE49-F238E27FC236}">
                <a16:creationId xmlns:a16="http://schemas.microsoft.com/office/drawing/2014/main" id="{23EEC192-9241-4811-967D-8E3DD9B252B9}"/>
              </a:ext>
            </a:extLst>
          </p:cNvPr>
          <p:cNvSpPr txBox="1"/>
          <p:nvPr/>
        </p:nvSpPr>
        <p:spPr>
          <a:xfrm>
            <a:off x="8051342" y="3550722"/>
            <a:ext cx="3920081" cy="923330"/>
          </a:xfrm>
          <a:prstGeom prst="rect">
            <a:avLst/>
          </a:prstGeom>
          <a:noFill/>
        </p:spPr>
        <p:txBody>
          <a:bodyPr wrap="square" rtlCol="1">
            <a:spAutoFit/>
          </a:bodyPr>
          <a:lstStyle/>
          <a:p>
            <a:pPr algn="r"/>
            <a:r>
              <a:rPr lang="fa-IR" b="1" dirty="0">
                <a:cs typeface="2  Nazanin" panose="00000400000000000000" pitchFamily="2" charset="-78"/>
              </a:rPr>
              <a:t>قرنیز چوبی</a:t>
            </a:r>
          </a:p>
          <a:p>
            <a:pPr algn="r"/>
            <a:r>
              <a:rPr lang="fa-IR" dirty="0">
                <a:cs typeface="2  Nazanin" panose="00000400000000000000" pitchFamily="2" charset="-78"/>
              </a:rPr>
              <a:t>قرنيز چوبي به طور معمول از گونه هاي پهن برگ چوب توليد ميشود</a:t>
            </a:r>
          </a:p>
        </p:txBody>
      </p:sp>
      <p:pic>
        <p:nvPicPr>
          <p:cNvPr id="36" name="Picture 35">
            <a:extLst>
              <a:ext uri="{FF2B5EF4-FFF2-40B4-BE49-F238E27FC236}">
                <a16:creationId xmlns:a16="http://schemas.microsoft.com/office/drawing/2014/main" id="{417E97FA-5D6B-43B9-8AE8-C9A06FABA0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3972" y="5001466"/>
            <a:ext cx="3028950" cy="1514475"/>
          </a:xfrm>
          <a:prstGeom prst="rect">
            <a:avLst/>
          </a:prstGeom>
        </p:spPr>
      </p:pic>
    </p:spTree>
    <p:extLst>
      <p:ext uri="{BB962C8B-B14F-4D97-AF65-F5344CB8AC3E}">
        <p14:creationId xmlns:p14="http://schemas.microsoft.com/office/powerpoint/2010/main" val="16953530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1250" fill="hold"/>
                                        <p:tgtEl>
                                          <p:spTgt spid="20"/>
                                        </p:tgtEl>
                                        <p:attrNameLst>
                                          <p:attrName>ppt_x</p:attrName>
                                        </p:attrNameLst>
                                      </p:cBhvr>
                                      <p:tavLst>
                                        <p:tav tm="0">
                                          <p:val>
                                            <p:strVal val="#ppt_x"/>
                                          </p:val>
                                        </p:tav>
                                        <p:tav tm="100000">
                                          <p:val>
                                            <p:strVal val="#ppt_x"/>
                                          </p:val>
                                        </p:tav>
                                      </p:tavLst>
                                    </p:anim>
                                    <p:anim calcmode="lin" valueType="num">
                                      <p:cBhvr additive="base">
                                        <p:cTn id="19" dur="1250" fill="hold"/>
                                        <p:tgtEl>
                                          <p:spTgt spid="20"/>
                                        </p:tgtEl>
                                        <p:attrNameLst>
                                          <p:attrName>ppt_y</p:attrName>
                                        </p:attrNameLst>
                                      </p:cBhvr>
                                      <p:tavLst>
                                        <p:tav tm="0">
                                          <p:val>
                                            <p:strVal val="1+#ppt_h/2"/>
                                          </p:val>
                                        </p:tav>
                                        <p:tav tm="100000">
                                          <p:val>
                                            <p:strVal val="#ppt_y"/>
                                          </p:val>
                                        </p:tav>
                                      </p:tavLst>
                                    </p:anim>
                                  </p:childTnLst>
                                </p:cTn>
                              </p:par>
                            </p:childTnLst>
                          </p:cTn>
                        </p:par>
                        <p:par>
                          <p:cTn id="20" fill="hold">
                            <p:stCondLst>
                              <p:cond delay="1750"/>
                            </p:stCondLst>
                            <p:childTnLst>
                              <p:par>
                                <p:cTn id="21" presetID="22" presetClass="entr" presetSubtype="8"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20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500" fill="hold"/>
                                        <p:tgtEl>
                                          <p:spTgt spid="21"/>
                                        </p:tgtEl>
                                        <p:attrNameLst>
                                          <p:attrName>ppt_w</p:attrName>
                                        </p:attrNameLst>
                                      </p:cBhvr>
                                      <p:tavLst>
                                        <p:tav tm="0">
                                          <p:val>
                                            <p:fltVal val="0"/>
                                          </p:val>
                                        </p:tav>
                                        <p:tav tm="100000">
                                          <p:val>
                                            <p:strVal val="#ppt_w"/>
                                          </p:val>
                                        </p:tav>
                                      </p:tavLst>
                                    </p:anim>
                                    <p:anim calcmode="lin" valueType="num">
                                      <p:cBhvr>
                                        <p:cTn id="29" dur="500" fill="hold"/>
                                        <p:tgtEl>
                                          <p:spTgt spid="21"/>
                                        </p:tgtEl>
                                        <p:attrNameLst>
                                          <p:attrName>ppt_h</p:attrName>
                                        </p:attrNameLst>
                                      </p:cBhvr>
                                      <p:tavLst>
                                        <p:tav tm="0">
                                          <p:val>
                                            <p:fltVal val="0"/>
                                          </p:val>
                                        </p:tav>
                                        <p:tav tm="100000">
                                          <p:val>
                                            <p:strVal val="#ppt_h"/>
                                          </p:val>
                                        </p:tav>
                                      </p:tavLst>
                                    </p:anim>
                                    <p:animEffect transition="in" filter="fade">
                                      <p:cBhvr>
                                        <p:cTn id="30" dur="500"/>
                                        <p:tgtEl>
                                          <p:spTgt spid="21"/>
                                        </p:tgtEl>
                                      </p:cBhvr>
                                    </p:animEffect>
                                  </p:child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1250" fill="hold"/>
                                        <p:tgtEl>
                                          <p:spTgt spid="31"/>
                                        </p:tgtEl>
                                        <p:attrNameLst>
                                          <p:attrName>ppt_x</p:attrName>
                                        </p:attrNameLst>
                                      </p:cBhvr>
                                      <p:tavLst>
                                        <p:tav tm="0">
                                          <p:val>
                                            <p:strVal val="#ppt_x"/>
                                          </p:val>
                                        </p:tav>
                                        <p:tav tm="100000">
                                          <p:val>
                                            <p:strVal val="#ppt_x"/>
                                          </p:val>
                                        </p:tav>
                                      </p:tavLst>
                                    </p:anim>
                                    <p:anim calcmode="lin" valueType="num">
                                      <p:cBhvr additive="base">
                                        <p:cTn id="35" dur="1250" fill="hold"/>
                                        <p:tgtEl>
                                          <p:spTgt spid="31"/>
                                        </p:tgtEl>
                                        <p:attrNameLst>
                                          <p:attrName>ppt_y</p:attrName>
                                        </p:attrNameLst>
                                      </p:cBhvr>
                                      <p:tavLst>
                                        <p:tav tm="0">
                                          <p:val>
                                            <p:strVal val="1+#ppt_h/2"/>
                                          </p:val>
                                        </p:tav>
                                        <p:tav tm="100000">
                                          <p:val>
                                            <p:strVal val="#ppt_y"/>
                                          </p:val>
                                        </p:tav>
                                      </p:tavLst>
                                    </p:anim>
                                  </p:childTnLst>
                                </p:cTn>
                              </p:par>
                            </p:childTnLst>
                          </p:cTn>
                        </p:par>
                        <p:par>
                          <p:cTn id="36" fill="hold">
                            <p:stCondLst>
                              <p:cond delay="1750"/>
                            </p:stCondLst>
                            <p:childTnLst>
                              <p:par>
                                <p:cTn id="37" presetID="22" presetClass="entr" presetSubtype="8"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left)">
                                      <p:cBhvr>
                                        <p:cTn id="39" dur="1500"/>
                                        <p:tgtEl>
                                          <p:spTgt spid="29"/>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p:cTn id="44" dur="500" fill="hold"/>
                                        <p:tgtEl>
                                          <p:spTgt spid="32"/>
                                        </p:tgtEl>
                                        <p:attrNameLst>
                                          <p:attrName>ppt_w</p:attrName>
                                        </p:attrNameLst>
                                      </p:cBhvr>
                                      <p:tavLst>
                                        <p:tav tm="0">
                                          <p:val>
                                            <p:fltVal val="0"/>
                                          </p:val>
                                        </p:tav>
                                        <p:tav tm="100000">
                                          <p:val>
                                            <p:strVal val="#ppt_w"/>
                                          </p:val>
                                        </p:tav>
                                      </p:tavLst>
                                    </p:anim>
                                    <p:anim calcmode="lin" valueType="num">
                                      <p:cBhvr>
                                        <p:cTn id="45" dur="500" fill="hold"/>
                                        <p:tgtEl>
                                          <p:spTgt spid="32"/>
                                        </p:tgtEl>
                                        <p:attrNameLst>
                                          <p:attrName>ppt_h</p:attrName>
                                        </p:attrNameLst>
                                      </p:cBhvr>
                                      <p:tavLst>
                                        <p:tav tm="0">
                                          <p:val>
                                            <p:fltVal val="0"/>
                                          </p:val>
                                        </p:tav>
                                        <p:tav tm="100000">
                                          <p:val>
                                            <p:strVal val="#ppt_h"/>
                                          </p:val>
                                        </p:tav>
                                      </p:tavLst>
                                    </p:anim>
                                    <p:animEffect transition="in" filter="fade">
                                      <p:cBhvr>
                                        <p:cTn id="46" dur="500"/>
                                        <p:tgtEl>
                                          <p:spTgt spid="32"/>
                                        </p:tgtEl>
                                      </p:cBhvr>
                                    </p:animEffect>
                                  </p:childTnLst>
                                </p:cTn>
                              </p:par>
                            </p:childTnLst>
                          </p:cTn>
                        </p:par>
                        <p:par>
                          <p:cTn id="47" fill="hold">
                            <p:stCondLst>
                              <p:cond delay="500"/>
                            </p:stCondLst>
                            <p:childTnLst>
                              <p:par>
                                <p:cTn id="48" presetID="2" presetClass="entr" presetSubtype="4" fill="hold" nodeType="after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additive="base">
                                        <p:cTn id="50" dur="1250" fill="hold"/>
                                        <p:tgtEl>
                                          <p:spTgt spid="36"/>
                                        </p:tgtEl>
                                        <p:attrNameLst>
                                          <p:attrName>ppt_x</p:attrName>
                                        </p:attrNameLst>
                                      </p:cBhvr>
                                      <p:tavLst>
                                        <p:tav tm="0">
                                          <p:val>
                                            <p:strVal val="#ppt_x"/>
                                          </p:val>
                                        </p:tav>
                                        <p:tav tm="100000">
                                          <p:val>
                                            <p:strVal val="#ppt_x"/>
                                          </p:val>
                                        </p:tav>
                                      </p:tavLst>
                                    </p:anim>
                                    <p:anim calcmode="lin" valueType="num">
                                      <p:cBhvr additive="base">
                                        <p:cTn id="51" dur="125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8" grpId="0" animBg="1"/>
      <p:bldP spid="29" grpId="0" animBg="1"/>
      <p:bldP spid="17" grpId="0"/>
      <p:bldP spid="21" grpId="0"/>
      <p:bldP spid="32" grpId="0"/>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5424053" y="4040412"/>
            <a:ext cx="6672906" cy="2308324"/>
          </a:xfrm>
          <a:prstGeom prst="rect">
            <a:avLst/>
          </a:prstGeom>
          <a:noFill/>
        </p:spPr>
        <p:txBody>
          <a:bodyPr wrap="square" rtlCol="1">
            <a:spAutoFit/>
          </a:bodyPr>
          <a:lstStyle/>
          <a:p>
            <a:pPr algn="r"/>
            <a:r>
              <a:rPr lang="fa-IR" sz="2400" b="1" dirty="0">
                <a:cs typeface="2  Nazanin" panose="00000400000000000000" pitchFamily="2" charset="-78"/>
              </a:rPr>
              <a:t>چوب و فراورد های ان</a:t>
            </a:r>
          </a:p>
          <a:p>
            <a:pPr algn="r"/>
            <a:r>
              <a:rPr lang="fa-IR" sz="2400" dirty="0">
                <a:cs typeface="2  Nazanin" panose="00000400000000000000" pitchFamily="2" charset="-78"/>
              </a:rPr>
              <a:t>چوبي كه در ساختمان به مصرف ميرسد، به يكي از صورتهـاي طبيعـي، اشـباع شـده، اصـلاح شـده،لايهاي يـا چندسـازهاي اسـت.</a:t>
            </a:r>
          </a:p>
          <a:p>
            <a:pPr algn="r"/>
            <a:r>
              <a:rPr lang="fa-IR" sz="2400" dirty="0">
                <a:cs typeface="2  Nazanin" panose="00000400000000000000" pitchFamily="2" charset="-78"/>
              </a:rPr>
              <a:t> از جملـه كاربردهـاي چـوب ماسـيو و لايـهاي سـاختن اسـكلت (تـاب) ساختمان هاي چوبي، ساخت در و پنجره، ديوارپوش، كفپوش، سقفپوش، نرده، شمعكوبي، قالب بندي، جانپناه، راهپله و داربست است</a:t>
            </a:r>
          </a:p>
        </p:txBody>
      </p:sp>
      <p:pic>
        <p:nvPicPr>
          <p:cNvPr id="3" name="Picture 2">
            <a:extLst>
              <a:ext uri="{FF2B5EF4-FFF2-40B4-BE49-F238E27FC236}">
                <a16:creationId xmlns:a16="http://schemas.microsoft.com/office/drawing/2014/main" id="{FDAB3936-401A-4C0A-949F-5E265E309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577" y="3704522"/>
            <a:ext cx="5037223" cy="283763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32" y="0"/>
            <a:ext cx="12192000" cy="7550727"/>
            <a:chOff x="0" y="0"/>
            <a:chExt cx="12192000" cy="7550727"/>
          </a:xfrm>
          <a:solidFill>
            <a:srgbClr val="9DAAE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16" name="TextBox 15">
            <a:extLst>
              <a:ext uri="{FF2B5EF4-FFF2-40B4-BE49-F238E27FC236}">
                <a16:creationId xmlns:a16="http://schemas.microsoft.com/office/drawing/2014/main" id="{77616D45-A46C-4B68-90D9-747C8D4B635B}"/>
              </a:ext>
            </a:extLst>
          </p:cNvPr>
          <p:cNvSpPr txBox="1"/>
          <p:nvPr/>
        </p:nvSpPr>
        <p:spPr>
          <a:xfrm>
            <a:off x="0" y="3313216"/>
            <a:ext cx="3942607" cy="3544784"/>
          </a:xfrm>
          <a:prstGeom prst="rect">
            <a:avLst/>
          </a:prstGeom>
          <a:solidFill>
            <a:schemeClr val="bg1">
              <a:lumMod val="95000"/>
            </a:schemeClr>
          </a:solidFill>
          <a:ln>
            <a:noFill/>
          </a:ln>
        </p:spPr>
        <p:txBody>
          <a:bodyPr wrap="square" rtlCol="1">
            <a:spAutoFit/>
          </a:bodyPr>
          <a:lstStyle/>
          <a:p>
            <a:endParaRPr lang="fa-IR" dirty="0"/>
          </a:p>
        </p:txBody>
      </p:sp>
      <p:sp>
        <p:nvSpPr>
          <p:cNvPr id="28" name="TextBox 27">
            <a:extLst>
              <a:ext uri="{FF2B5EF4-FFF2-40B4-BE49-F238E27FC236}">
                <a16:creationId xmlns:a16="http://schemas.microsoft.com/office/drawing/2014/main" id="{60819D09-FA2D-4771-8DFA-D9A5E6B583AF}"/>
              </a:ext>
            </a:extLst>
          </p:cNvPr>
          <p:cNvSpPr txBox="1"/>
          <p:nvPr/>
        </p:nvSpPr>
        <p:spPr>
          <a:xfrm>
            <a:off x="3942607" y="3322750"/>
            <a:ext cx="3942607" cy="3544784"/>
          </a:xfrm>
          <a:prstGeom prst="rect">
            <a:avLst/>
          </a:prstGeom>
          <a:solidFill>
            <a:schemeClr val="bg1">
              <a:lumMod val="85000"/>
            </a:schemeClr>
          </a:solidFill>
          <a:ln>
            <a:noFill/>
          </a:ln>
        </p:spPr>
        <p:txBody>
          <a:bodyPr wrap="square" rtlCol="1">
            <a:spAutoFit/>
          </a:bodyPr>
          <a:lstStyle/>
          <a:p>
            <a:endParaRPr lang="fa-IR" dirty="0"/>
          </a:p>
        </p:txBody>
      </p:sp>
      <p:sp>
        <p:nvSpPr>
          <p:cNvPr id="29" name="TextBox 28">
            <a:extLst>
              <a:ext uri="{FF2B5EF4-FFF2-40B4-BE49-F238E27FC236}">
                <a16:creationId xmlns:a16="http://schemas.microsoft.com/office/drawing/2014/main" id="{2B4C8E96-F85E-4317-BC24-B09B40DEBF0B}"/>
              </a:ext>
            </a:extLst>
          </p:cNvPr>
          <p:cNvSpPr txBox="1"/>
          <p:nvPr/>
        </p:nvSpPr>
        <p:spPr>
          <a:xfrm>
            <a:off x="7885214" y="3291782"/>
            <a:ext cx="4306754" cy="3544784"/>
          </a:xfrm>
          <a:prstGeom prst="rect">
            <a:avLst/>
          </a:prstGeom>
          <a:solidFill>
            <a:schemeClr val="bg1">
              <a:lumMod val="75000"/>
            </a:schemeClr>
          </a:solidFill>
          <a:ln>
            <a:noFill/>
          </a:ln>
        </p:spPr>
        <p:txBody>
          <a:bodyPr wrap="square" rtlCol="1">
            <a:spAutoFit/>
          </a:bodyPr>
          <a:lstStyle/>
          <a:p>
            <a:endParaRPr lang="fa-IR" dirty="0"/>
          </a:p>
        </p:txBody>
      </p:sp>
      <p:sp>
        <p:nvSpPr>
          <p:cNvPr id="17" name="TextBox 16">
            <a:extLst>
              <a:ext uri="{FF2B5EF4-FFF2-40B4-BE49-F238E27FC236}">
                <a16:creationId xmlns:a16="http://schemas.microsoft.com/office/drawing/2014/main" id="{8C79BA60-C547-4C81-9BB2-9B0431A9FAC1}"/>
              </a:ext>
            </a:extLst>
          </p:cNvPr>
          <p:cNvSpPr txBox="1"/>
          <p:nvPr/>
        </p:nvSpPr>
        <p:spPr>
          <a:xfrm>
            <a:off x="54324" y="3550722"/>
            <a:ext cx="3722027" cy="1477328"/>
          </a:xfrm>
          <a:prstGeom prst="rect">
            <a:avLst/>
          </a:prstGeom>
          <a:noFill/>
        </p:spPr>
        <p:txBody>
          <a:bodyPr wrap="square" rtlCol="1">
            <a:spAutoFit/>
          </a:bodyPr>
          <a:lstStyle/>
          <a:p>
            <a:pPr algn="r"/>
            <a:r>
              <a:rPr lang="fa-IR" dirty="0"/>
              <a:t>پارکت</a:t>
            </a:r>
          </a:p>
          <a:p>
            <a:pPr algn="r"/>
            <a:r>
              <a:rPr lang="fa-IR" dirty="0">
                <a:cs typeface="2  Nazanin" panose="00000400000000000000" pitchFamily="2" charset="-78"/>
              </a:rPr>
              <a:t>اجزا پاركت از گونه هاي داراي نقشهاي طبيعي جذاب، پرداخـت پـذير بـا چيدمان شطرنجي، جناغي يا حصـيري اسـت كـه در چگـالي و انـدازه مناسـب سـفارش، توليـد وبسته بندي ميشود.</a:t>
            </a:r>
          </a:p>
        </p:txBody>
      </p:sp>
      <p:pic>
        <p:nvPicPr>
          <p:cNvPr id="20" name="Picture 19">
            <a:extLst>
              <a:ext uri="{FF2B5EF4-FFF2-40B4-BE49-F238E27FC236}">
                <a16:creationId xmlns:a16="http://schemas.microsoft.com/office/drawing/2014/main" id="{8A849C5A-3CF0-49E7-A198-F499393D2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825" y="5086969"/>
            <a:ext cx="2695575" cy="1695450"/>
          </a:xfrm>
          <a:prstGeom prst="rect">
            <a:avLst/>
          </a:prstGeom>
        </p:spPr>
      </p:pic>
      <p:sp>
        <p:nvSpPr>
          <p:cNvPr id="21" name="TextBox 20">
            <a:extLst>
              <a:ext uri="{FF2B5EF4-FFF2-40B4-BE49-F238E27FC236}">
                <a16:creationId xmlns:a16="http://schemas.microsoft.com/office/drawing/2014/main" id="{C66CBD8C-7B92-4131-94D4-D648FDF4EA43}"/>
              </a:ext>
            </a:extLst>
          </p:cNvPr>
          <p:cNvSpPr txBox="1"/>
          <p:nvPr/>
        </p:nvSpPr>
        <p:spPr>
          <a:xfrm>
            <a:off x="4108735" y="3550722"/>
            <a:ext cx="3610223" cy="1477328"/>
          </a:xfrm>
          <a:prstGeom prst="rect">
            <a:avLst/>
          </a:prstGeom>
          <a:noFill/>
        </p:spPr>
        <p:txBody>
          <a:bodyPr wrap="square" rtlCol="1">
            <a:spAutoFit/>
          </a:bodyPr>
          <a:lstStyle/>
          <a:p>
            <a:pPr algn="r"/>
            <a:r>
              <a:rPr lang="fa-IR" dirty="0">
                <a:cs typeface="2  Nazanin" panose="00000400000000000000" pitchFamily="2" charset="-78"/>
              </a:rPr>
              <a:t>کف پوش</a:t>
            </a:r>
          </a:p>
          <a:p>
            <a:pPr algn="r"/>
            <a:r>
              <a:rPr lang="fa-IR" dirty="0">
                <a:cs typeface="2  Nazanin" panose="00000400000000000000" pitchFamily="2" charset="-78"/>
              </a:rPr>
              <a:t>كفپوش پهن برگ بر حسب كيفيت فيزيك چوب، قطعات آن ابعاد متغيـر دارنـد و بـه طـور عمده از گونه هاي داراي طرح طبيعي جذاب در برش شعاعي يا مماسي تهيه ميشود</a:t>
            </a:r>
          </a:p>
        </p:txBody>
      </p:sp>
      <p:pic>
        <p:nvPicPr>
          <p:cNvPr id="31" name="Picture 30">
            <a:extLst>
              <a:ext uri="{FF2B5EF4-FFF2-40B4-BE49-F238E27FC236}">
                <a16:creationId xmlns:a16="http://schemas.microsoft.com/office/drawing/2014/main" id="{E014FC4B-FD54-4D33-B5C9-71DF42E82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3532" y="5094510"/>
            <a:ext cx="3028950" cy="1514475"/>
          </a:xfrm>
          <a:prstGeom prst="rect">
            <a:avLst/>
          </a:prstGeom>
        </p:spPr>
      </p:pic>
      <p:sp>
        <p:nvSpPr>
          <p:cNvPr id="32" name="TextBox 31">
            <a:extLst>
              <a:ext uri="{FF2B5EF4-FFF2-40B4-BE49-F238E27FC236}">
                <a16:creationId xmlns:a16="http://schemas.microsoft.com/office/drawing/2014/main" id="{23EEC192-9241-4811-967D-8E3DD9B252B9}"/>
              </a:ext>
            </a:extLst>
          </p:cNvPr>
          <p:cNvSpPr txBox="1"/>
          <p:nvPr/>
        </p:nvSpPr>
        <p:spPr>
          <a:xfrm>
            <a:off x="8051342" y="3550722"/>
            <a:ext cx="3920081" cy="923330"/>
          </a:xfrm>
          <a:prstGeom prst="rect">
            <a:avLst/>
          </a:prstGeom>
          <a:noFill/>
        </p:spPr>
        <p:txBody>
          <a:bodyPr wrap="square" rtlCol="1">
            <a:spAutoFit/>
          </a:bodyPr>
          <a:lstStyle/>
          <a:p>
            <a:pPr algn="r"/>
            <a:r>
              <a:rPr lang="fa-IR" dirty="0">
                <a:cs typeface="2  Nazanin" panose="00000400000000000000" pitchFamily="2" charset="-78"/>
              </a:rPr>
              <a:t>قرنیز چوبی</a:t>
            </a:r>
          </a:p>
          <a:p>
            <a:pPr algn="r"/>
            <a:r>
              <a:rPr lang="fa-IR" dirty="0">
                <a:cs typeface="2  Nazanin" panose="00000400000000000000" pitchFamily="2" charset="-78"/>
              </a:rPr>
              <a:t>قرنيز چوبي به طور معمول از گونه هاي پهن برگ چوب توليد ميشود</a:t>
            </a:r>
          </a:p>
        </p:txBody>
      </p:sp>
      <p:pic>
        <p:nvPicPr>
          <p:cNvPr id="36" name="Picture 35">
            <a:extLst>
              <a:ext uri="{FF2B5EF4-FFF2-40B4-BE49-F238E27FC236}">
                <a16:creationId xmlns:a16="http://schemas.microsoft.com/office/drawing/2014/main" id="{417E97FA-5D6B-43B9-8AE8-C9A06FABA0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3972" y="5001466"/>
            <a:ext cx="3028950" cy="1514475"/>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8338" y="73690"/>
            <a:ext cx="12192000" cy="7550727"/>
            <a:chOff x="0" y="0"/>
            <a:chExt cx="12192000" cy="7550727"/>
          </a:xfrm>
          <a:solidFill>
            <a:srgbClr val="EEBE74"/>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grpSp>
        <p:nvGrpSpPr>
          <p:cNvPr id="12" name="Group 11">
            <a:extLst>
              <a:ext uri="{FF2B5EF4-FFF2-40B4-BE49-F238E27FC236}">
                <a16:creationId xmlns:a16="http://schemas.microsoft.com/office/drawing/2014/main" id="{15A4D828-C5F6-4A28-804D-9AB280CE04AD}"/>
              </a:ext>
            </a:extLst>
          </p:cNvPr>
          <p:cNvGrpSpPr/>
          <p:nvPr/>
        </p:nvGrpSpPr>
        <p:grpSpPr>
          <a:xfrm>
            <a:off x="16" y="-5253094"/>
            <a:ext cx="12192000" cy="7550727"/>
            <a:chOff x="0" y="0"/>
            <a:chExt cx="12192000" cy="7550727"/>
          </a:xfrm>
          <a:solidFill>
            <a:srgbClr val="E88A88"/>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DB19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F0D16695-A398-4BA7-896D-B58BB64F3F6C}"/>
              </a:ext>
            </a:extLst>
          </p:cNvPr>
          <p:cNvSpPr txBox="1"/>
          <p:nvPr/>
        </p:nvSpPr>
        <p:spPr>
          <a:xfrm>
            <a:off x="77375" y="2296716"/>
            <a:ext cx="2694383" cy="2246769"/>
          </a:xfrm>
          <a:prstGeom prst="rect">
            <a:avLst/>
          </a:prstGeom>
          <a:noFill/>
        </p:spPr>
        <p:txBody>
          <a:bodyPr wrap="square" rtlCol="1">
            <a:spAutoFit/>
          </a:bodyPr>
          <a:lstStyle/>
          <a:p>
            <a:pPr algn="r"/>
            <a:r>
              <a:rPr lang="fa-IR" sz="2000" b="1" dirty="0">
                <a:cs typeface="2  Nazanin" panose="00000400000000000000" pitchFamily="2" charset="-78"/>
              </a:rPr>
              <a:t>راه پله</a:t>
            </a:r>
          </a:p>
          <a:p>
            <a:pPr algn="r"/>
            <a:r>
              <a:rPr lang="fa-IR" sz="2400" dirty="0">
                <a:cs typeface="2  Nazanin" panose="00000400000000000000" pitchFamily="2" charset="-78"/>
              </a:rPr>
              <a:t>از چوب ماسيو يا چندسازه چوب پلاستيك ميباشد. </a:t>
            </a:r>
          </a:p>
          <a:p>
            <a:pPr algn="r"/>
            <a:r>
              <a:rPr lang="fa-IR" sz="2400" dirty="0">
                <a:cs typeface="2  Nazanin" panose="00000400000000000000" pitchFamily="2" charset="-78"/>
              </a:rPr>
              <a:t>نرده-دستگيره: از چوب ماسيو يا چندسازه چوب پلاستيك ميباشد</a:t>
            </a:r>
          </a:p>
        </p:txBody>
      </p:sp>
      <p:pic>
        <p:nvPicPr>
          <p:cNvPr id="22" name="Picture 21">
            <a:extLst>
              <a:ext uri="{FF2B5EF4-FFF2-40B4-BE49-F238E27FC236}">
                <a16:creationId xmlns:a16="http://schemas.microsoft.com/office/drawing/2014/main" id="{8E13F3CB-7833-40B5-8996-7FA4BC60F7E2}"/>
              </a:ext>
            </a:extLst>
          </p:cNvPr>
          <p:cNvPicPr>
            <a:picLocks noChangeAspect="1"/>
          </p:cNvPicPr>
          <p:nvPr/>
        </p:nvPicPr>
        <p:blipFill rotWithShape="1">
          <a:blip r:embed="rId6">
            <a:extLst>
              <a:ext uri="{28A0092B-C50C-407E-A947-70E740481C1C}">
                <a14:useLocalDpi xmlns:a14="http://schemas.microsoft.com/office/drawing/2010/main" val="0"/>
              </a:ext>
            </a:extLst>
          </a:blip>
          <a:srcRect l="14338" t="3609" r="21168"/>
          <a:stretch/>
        </p:blipFill>
        <p:spPr>
          <a:xfrm>
            <a:off x="220545" y="4751783"/>
            <a:ext cx="2373584" cy="1787599"/>
          </a:xfrm>
          <a:prstGeom prst="rect">
            <a:avLst/>
          </a:prstGeom>
        </p:spPr>
      </p:pic>
      <p:sp>
        <p:nvSpPr>
          <p:cNvPr id="33" name="TextBox 32">
            <a:extLst>
              <a:ext uri="{FF2B5EF4-FFF2-40B4-BE49-F238E27FC236}">
                <a16:creationId xmlns:a16="http://schemas.microsoft.com/office/drawing/2014/main" id="{5477481B-0C2A-4452-840E-B6081F1EBB16}"/>
              </a:ext>
            </a:extLst>
          </p:cNvPr>
          <p:cNvSpPr txBox="1"/>
          <p:nvPr/>
        </p:nvSpPr>
        <p:spPr>
          <a:xfrm>
            <a:off x="2914960" y="2291358"/>
            <a:ext cx="2694383" cy="1938992"/>
          </a:xfrm>
          <a:prstGeom prst="rect">
            <a:avLst/>
          </a:prstGeom>
          <a:noFill/>
        </p:spPr>
        <p:txBody>
          <a:bodyPr wrap="square" rtlCol="1">
            <a:spAutoFit/>
          </a:bodyPr>
          <a:lstStyle/>
          <a:p>
            <a:pPr algn="r"/>
            <a:r>
              <a:rPr lang="fa-IR" sz="2400" b="1" dirty="0">
                <a:cs typeface="2  Nazanin" panose="00000400000000000000" pitchFamily="2" charset="-78"/>
              </a:rPr>
              <a:t>در و پنجره</a:t>
            </a:r>
          </a:p>
          <a:p>
            <a:pPr algn="r"/>
            <a:r>
              <a:rPr lang="fa-IR" sz="2400" dirty="0">
                <a:cs typeface="2  Nazanin" panose="00000400000000000000" pitchFamily="2" charset="-78"/>
              </a:rPr>
              <a:t>درهاي چوبي به شكل تك لنگه، چندلنگه سـاده و شيشه دار يا بدون شيشه توليد ميشوند. </a:t>
            </a:r>
          </a:p>
        </p:txBody>
      </p:sp>
      <p:pic>
        <p:nvPicPr>
          <p:cNvPr id="30" name="Picture 29">
            <a:extLst>
              <a:ext uri="{FF2B5EF4-FFF2-40B4-BE49-F238E27FC236}">
                <a16:creationId xmlns:a16="http://schemas.microsoft.com/office/drawing/2014/main" id="{7FA72550-77FF-4E0D-8381-953633E788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5433" y="4757846"/>
            <a:ext cx="2762250" cy="1657350"/>
          </a:xfrm>
          <a:prstGeom prst="rect">
            <a:avLst/>
          </a:prstGeom>
        </p:spPr>
      </p:pic>
      <p:sp>
        <p:nvSpPr>
          <p:cNvPr id="35" name="TextBox 34">
            <a:extLst>
              <a:ext uri="{FF2B5EF4-FFF2-40B4-BE49-F238E27FC236}">
                <a16:creationId xmlns:a16="http://schemas.microsoft.com/office/drawing/2014/main" id="{607B3A19-87AD-4245-AA90-AA80F8961182}"/>
              </a:ext>
            </a:extLst>
          </p:cNvPr>
          <p:cNvSpPr txBox="1"/>
          <p:nvPr/>
        </p:nvSpPr>
        <p:spPr>
          <a:xfrm>
            <a:off x="6095999" y="2361183"/>
            <a:ext cx="2694383" cy="1938992"/>
          </a:xfrm>
          <a:prstGeom prst="rect">
            <a:avLst/>
          </a:prstGeom>
          <a:noFill/>
        </p:spPr>
        <p:txBody>
          <a:bodyPr wrap="square" rtlCol="1">
            <a:spAutoFit/>
          </a:bodyPr>
          <a:lstStyle/>
          <a:p>
            <a:pPr algn="r"/>
            <a:r>
              <a:rPr lang="fa-IR" sz="2400" b="1" dirty="0">
                <a:cs typeface="2  Nazanin" panose="00000400000000000000" pitchFamily="2" charset="-78"/>
              </a:rPr>
              <a:t>تزیینات داخلی</a:t>
            </a:r>
          </a:p>
          <a:p>
            <a:pPr algn="r"/>
            <a:r>
              <a:rPr lang="fa-IR" sz="2400" dirty="0">
                <a:cs typeface="2  Nazanin" panose="00000400000000000000" pitchFamily="2" charset="-78"/>
              </a:rPr>
              <a:t>حسب نظر طراح</a:t>
            </a:r>
            <a:r>
              <a:rPr lang="en-US" sz="2400" dirty="0">
                <a:cs typeface="2  Nazanin" panose="00000400000000000000" pitchFamily="2" charset="-78"/>
              </a:rPr>
              <a:t> </a:t>
            </a:r>
            <a:r>
              <a:rPr lang="fa-IR" sz="2400" dirty="0">
                <a:cs typeface="2  Nazanin" panose="00000400000000000000" pitchFamily="2" charset="-78"/>
              </a:rPr>
              <a:t>بر دكوراسيون داخلي بـا مصـالح چـوب پايـه اجـرا</a:t>
            </a:r>
          </a:p>
          <a:p>
            <a:pPr algn="r"/>
            <a:r>
              <a:rPr lang="fa-IR" sz="2400" dirty="0">
                <a:cs typeface="2  Nazanin" panose="00000400000000000000" pitchFamily="2" charset="-78"/>
              </a:rPr>
              <a:t>ميشود</a:t>
            </a:r>
          </a:p>
        </p:txBody>
      </p:sp>
      <p:sp>
        <p:nvSpPr>
          <p:cNvPr id="37" name="TextBox 36">
            <a:extLst>
              <a:ext uri="{FF2B5EF4-FFF2-40B4-BE49-F238E27FC236}">
                <a16:creationId xmlns:a16="http://schemas.microsoft.com/office/drawing/2014/main" id="{E743B3F9-5D11-46C0-AE32-0E01CCA379A9}"/>
              </a:ext>
            </a:extLst>
          </p:cNvPr>
          <p:cNvSpPr txBox="1"/>
          <p:nvPr/>
        </p:nvSpPr>
        <p:spPr>
          <a:xfrm>
            <a:off x="8919253" y="2343398"/>
            <a:ext cx="2923298" cy="1569660"/>
          </a:xfrm>
          <a:prstGeom prst="rect">
            <a:avLst/>
          </a:prstGeom>
          <a:noFill/>
        </p:spPr>
        <p:txBody>
          <a:bodyPr wrap="square" rtlCol="1">
            <a:spAutoFit/>
          </a:bodyPr>
          <a:lstStyle/>
          <a:p>
            <a:pPr algn="r"/>
            <a:r>
              <a:rPr lang="fa-IR" sz="2400" b="1" dirty="0">
                <a:cs typeface="2  Nazanin" panose="00000400000000000000" pitchFamily="2" charset="-78"/>
              </a:rPr>
              <a:t>مواد و مصالح اتصال دهنده</a:t>
            </a:r>
          </a:p>
          <a:p>
            <a:pPr algn="r"/>
            <a:r>
              <a:rPr lang="fa-IR" sz="2400" dirty="0">
                <a:cs typeface="2  Nazanin" panose="00000400000000000000" pitchFamily="2" charset="-78"/>
              </a:rPr>
              <a:t>مواد و مصالح اتصـال دهنـده و نصـب شـامل</a:t>
            </a:r>
          </a:p>
          <a:p>
            <a:pPr algn="r"/>
            <a:r>
              <a:rPr lang="fa-IR" sz="2400" dirty="0">
                <a:cs typeface="2  Nazanin" panose="00000400000000000000" pitchFamily="2" charset="-78"/>
              </a:rPr>
              <a:t>ميخ، پيچ، بست ها است</a:t>
            </a:r>
          </a:p>
        </p:txBody>
      </p:sp>
      <p:pic>
        <p:nvPicPr>
          <p:cNvPr id="38" name="Picture 37">
            <a:extLst>
              <a:ext uri="{FF2B5EF4-FFF2-40B4-BE49-F238E27FC236}">
                <a16:creationId xmlns:a16="http://schemas.microsoft.com/office/drawing/2014/main" id="{D292F97C-F07E-4A02-B778-6662417E7586}"/>
              </a:ext>
            </a:extLst>
          </p:cNvPr>
          <p:cNvPicPr>
            <a:picLocks noChangeAspect="1"/>
          </p:cNvPicPr>
          <p:nvPr/>
        </p:nvPicPr>
        <p:blipFill rotWithShape="1">
          <a:blip r:embed="rId8">
            <a:extLst>
              <a:ext uri="{28A0092B-C50C-407E-A947-70E740481C1C}">
                <a14:useLocalDpi xmlns:a14="http://schemas.microsoft.com/office/drawing/2010/main" val="0"/>
              </a:ext>
            </a:extLst>
          </a:blip>
          <a:srcRect r="8254" b="9158"/>
          <a:stretch/>
        </p:blipFill>
        <p:spPr>
          <a:xfrm>
            <a:off x="6147284" y="4538368"/>
            <a:ext cx="2895846" cy="1910348"/>
          </a:xfrm>
          <a:prstGeom prst="rect">
            <a:avLst/>
          </a:prstGeom>
        </p:spPr>
      </p:pic>
      <p:pic>
        <p:nvPicPr>
          <p:cNvPr id="40" name="Picture 39">
            <a:extLst>
              <a:ext uri="{FF2B5EF4-FFF2-40B4-BE49-F238E27FC236}">
                <a16:creationId xmlns:a16="http://schemas.microsoft.com/office/drawing/2014/main" id="{838FA182-2BE5-40B3-A1DB-D45004F14DD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66753" y="4484686"/>
            <a:ext cx="1964030" cy="1964030"/>
          </a:xfrm>
          <a:prstGeom prst="rect">
            <a:avLst/>
          </a:prstGeom>
        </p:spPr>
      </p:pic>
    </p:spTree>
    <p:extLst>
      <p:ext uri="{BB962C8B-B14F-4D97-AF65-F5344CB8AC3E}">
        <p14:creationId xmlns:p14="http://schemas.microsoft.com/office/powerpoint/2010/main" val="37901568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2" presetClass="entr" presetSubtype="4" fill="hold" nodeType="after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down)">
                                      <p:cBhvr>
                                        <p:cTn id="12" dur="125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 calcmode="lin" valueType="num">
                                      <p:cBhvr additive="base">
                                        <p:cTn id="17" dur="500" fill="hold"/>
                                        <p:tgtEl>
                                          <p:spTgt spid="33"/>
                                        </p:tgtEl>
                                        <p:attrNameLst>
                                          <p:attrName>ppt_x</p:attrName>
                                        </p:attrNameLst>
                                      </p:cBhvr>
                                      <p:tavLst>
                                        <p:tav tm="0">
                                          <p:val>
                                            <p:strVal val="#ppt_x"/>
                                          </p:val>
                                        </p:tav>
                                        <p:tav tm="100000">
                                          <p:val>
                                            <p:strVal val="#ppt_x"/>
                                          </p:val>
                                        </p:tav>
                                      </p:tavLst>
                                    </p:anim>
                                    <p:anim calcmode="lin" valueType="num">
                                      <p:cBhvr additive="base">
                                        <p:cTn id="18" dur="500" fill="hold"/>
                                        <p:tgtEl>
                                          <p:spTgt spid="33"/>
                                        </p:tgtEl>
                                        <p:attrNameLst>
                                          <p:attrName>ppt_y</p:attrName>
                                        </p:attrNameLst>
                                      </p:cBhvr>
                                      <p:tavLst>
                                        <p:tav tm="0">
                                          <p:val>
                                            <p:strVal val="0-#ppt_h/2"/>
                                          </p:val>
                                        </p:tav>
                                        <p:tav tm="100000">
                                          <p:val>
                                            <p:strVal val="#ppt_y"/>
                                          </p:val>
                                        </p:tav>
                                      </p:tavLst>
                                    </p:anim>
                                  </p:childTnLst>
                                </p:cTn>
                              </p:par>
                            </p:childTnLst>
                          </p:cTn>
                        </p:par>
                        <p:par>
                          <p:cTn id="19" fill="hold">
                            <p:stCondLst>
                              <p:cond delay="500"/>
                            </p:stCondLst>
                            <p:childTnLst>
                              <p:par>
                                <p:cTn id="20" presetID="22" presetClass="entr" presetSubtype="4" fill="hold" nodeType="after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wipe(down)">
                                      <p:cBhvr>
                                        <p:cTn id="22" dur="125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ppt_x"/>
                                          </p:val>
                                        </p:tav>
                                        <p:tav tm="100000">
                                          <p:val>
                                            <p:strVal val="#ppt_x"/>
                                          </p:val>
                                        </p:tav>
                                      </p:tavLst>
                                    </p:anim>
                                    <p:anim calcmode="lin" valueType="num">
                                      <p:cBhvr additive="base">
                                        <p:cTn id="28" dur="500" fill="hold"/>
                                        <p:tgtEl>
                                          <p:spTgt spid="35"/>
                                        </p:tgtEl>
                                        <p:attrNameLst>
                                          <p:attrName>ppt_y</p:attrName>
                                        </p:attrNameLst>
                                      </p:cBhvr>
                                      <p:tavLst>
                                        <p:tav tm="0">
                                          <p:val>
                                            <p:strVal val="0-#ppt_h/2"/>
                                          </p:val>
                                        </p:tav>
                                        <p:tav tm="100000">
                                          <p:val>
                                            <p:strVal val="#ppt_y"/>
                                          </p:val>
                                        </p:tav>
                                      </p:tavLst>
                                    </p:anim>
                                  </p:childTnLst>
                                </p:cTn>
                              </p:par>
                            </p:childTnLst>
                          </p:cTn>
                        </p:par>
                        <p:par>
                          <p:cTn id="29" fill="hold">
                            <p:stCondLst>
                              <p:cond delay="500"/>
                            </p:stCondLst>
                            <p:childTnLst>
                              <p:par>
                                <p:cTn id="30" presetID="22" presetClass="entr" presetSubtype="4" fill="hold" nodeType="after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wipe(down)">
                                      <p:cBhvr>
                                        <p:cTn id="32" dur="125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500" fill="hold"/>
                                        <p:tgtEl>
                                          <p:spTgt spid="37"/>
                                        </p:tgtEl>
                                        <p:attrNameLst>
                                          <p:attrName>ppt_x</p:attrName>
                                        </p:attrNameLst>
                                      </p:cBhvr>
                                      <p:tavLst>
                                        <p:tav tm="0">
                                          <p:val>
                                            <p:strVal val="#ppt_x"/>
                                          </p:val>
                                        </p:tav>
                                        <p:tav tm="100000">
                                          <p:val>
                                            <p:strVal val="#ppt_x"/>
                                          </p:val>
                                        </p:tav>
                                      </p:tavLst>
                                    </p:anim>
                                    <p:anim calcmode="lin" valueType="num">
                                      <p:cBhvr additive="base">
                                        <p:cTn id="38" dur="500" fill="hold"/>
                                        <p:tgtEl>
                                          <p:spTgt spid="37"/>
                                        </p:tgtEl>
                                        <p:attrNameLst>
                                          <p:attrName>ppt_y</p:attrName>
                                        </p:attrNameLst>
                                      </p:cBhvr>
                                      <p:tavLst>
                                        <p:tav tm="0">
                                          <p:val>
                                            <p:strVal val="0-#ppt_h/2"/>
                                          </p:val>
                                        </p:tav>
                                        <p:tav tm="100000">
                                          <p:val>
                                            <p:strVal val="#ppt_y"/>
                                          </p:val>
                                        </p:tav>
                                      </p:tavLst>
                                    </p:anim>
                                  </p:childTnLst>
                                </p:cTn>
                              </p:par>
                            </p:childTnLst>
                          </p:cTn>
                        </p:par>
                        <p:par>
                          <p:cTn id="39" fill="hold">
                            <p:stCondLst>
                              <p:cond delay="500"/>
                            </p:stCondLst>
                            <p:childTnLst>
                              <p:par>
                                <p:cTn id="40" presetID="22" presetClass="entr" presetSubtype="4" fill="hold" nodeType="after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wipe(down)">
                                      <p:cBhvr>
                                        <p:cTn id="42" dur="125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3" grpId="0"/>
      <p:bldP spid="35" grpId="0"/>
      <p:bldP spid="37" grpId="0"/>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5424053" y="4040412"/>
            <a:ext cx="6672906" cy="2308324"/>
          </a:xfrm>
          <a:prstGeom prst="rect">
            <a:avLst/>
          </a:prstGeom>
          <a:noFill/>
        </p:spPr>
        <p:txBody>
          <a:bodyPr wrap="square" rtlCol="1">
            <a:spAutoFit/>
          </a:bodyPr>
          <a:lstStyle/>
          <a:p>
            <a:pPr algn="r"/>
            <a:r>
              <a:rPr lang="fa-IR" sz="2400" b="1" dirty="0">
                <a:cs typeface="2  Nazanin" panose="00000400000000000000" pitchFamily="2" charset="-78"/>
              </a:rPr>
              <a:t>چوب و فراورد های ان</a:t>
            </a:r>
          </a:p>
          <a:p>
            <a:pPr algn="r"/>
            <a:r>
              <a:rPr lang="fa-IR" sz="2400" dirty="0">
                <a:cs typeface="2  Nazanin" panose="00000400000000000000" pitchFamily="2" charset="-78"/>
              </a:rPr>
              <a:t>چوبي كه در ساختمان به مصرف ميرسد، به يكي از صورتهـاي طبيعـي، اشـباع شـده، اصـلاح شـده،لايهاي يـا چندسـازهاي اسـت.</a:t>
            </a:r>
          </a:p>
          <a:p>
            <a:pPr algn="r"/>
            <a:r>
              <a:rPr lang="fa-IR" sz="2400" dirty="0">
                <a:cs typeface="2  Nazanin" panose="00000400000000000000" pitchFamily="2" charset="-78"/>
              </a:rPr>
              <a:t> از جملـه كاربردهـاي چـوب ماسـيو و لايـهاي سـاختن اسـكلت (تـاب) ساختمان هاي چوبي، ساخت در و پنجره، ديوارپوش، كفپوش، سقفپوش، نرده، شمعكوبي، قالب بندي، جانپناه، راهپله و داربست است</a:t>
            </a:r>
          </a:p>
        </p:txBody>
      </p:sp>
      <p:pic>
        <p:nvPicPr>
          <p:cNvPr id="3" name="Picture 2">
            <a:extLst>
              <a:ext uri="{FF2B5EF4-FFF2-40B4-BE49-F238E27FC236}">
                <a16:creationId xmlns:a16="http://schemas.microsoft.com/office/drawing/2014/main" id="{FDAB3936-401A-4C0A-949F-5E265E309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577" y="3704522"/>
            <a:ext cx="5037223" cy="283763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32" y="0"/>
            <a:ext cx="12192000" cy="7550727"/>
            <a:chOff x="0" y="0"/>
            <a:chExt cx="12192000" cy="7550727"/>
          </a:xfrm>
          <a:solidFill>
            <a:srgbClr val="9DAAE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16" name="TextBox 15">
            <a:extLst>
              <a:ext uri="{FF2B5EF4-FFF2-40B4-BE49-F238E27FC236}">
                <a16:creationId xmlns:a16="http://schemas.microsoft.com/office/drawing/2014/main" id="{77616D45-A46C-4B68-90D9-747C8D4B635B}"/>
              </a:ext>
            </a:extLst>
          </p:cNvPr>
          <p:cNvSpPr txBox="1"/>
          <p:nvPr/>
        </p:nvSpPr>
        <p:spPr>
          <a:xfrm>
            <a:off x="0" y="3313216"/>
            <a:ext cx="3942607" cy="3544784"/>
          </a:xfrm>
          <a:prstGeom prst="rect">
            <a:avLst/>
          </a:prstGeom>
          <a:solidFill>
            <a:schemeClr val="bg1">
              <a:lumMod val="95000"/>
            </a:schemeClr>
          </a:solidFill>
          <a:ln>
            <a:noFill/>
          </a:ln>
        </p:spPr>
        <p:txBody>
          <a:bodyPr wrap="square" rtlCol="1">
            <a:spAutoFit/>
          </a:bodyPr>
          <a:lstStyle/>
          <a:p>
            <a:endParaRPr lang="fa-IR" dirty="0"/>
          </a:p>
        </p:txBody>
      </p:sp>
      <p:sp>
        <p:nvSpPr>
          <p:cNvPr id="28" name="TextBox 27">
            <a:extLst>
              <a:ext uri="{FF2B5EF4-FFF2-40B4-BE49-F238E27FC236}">
                <a16:creationId xmlns:a16="http://schemas.microsoft.com/office/drawing/2014/main" id="{60819D09-FA2D-4771-8DFA-D9A5E6B583AF}"/>
              </a:ext>
            </a:extLst>
          </p:cNvPr>
          <p:cNvSpPr txBox="1"/>
          <p:nvPr/>
        </p:nvSpPr>
        <p:spPr>
          <a:xfrm>
            <a:off x="3942607" y="3322750"/>
            <a:ext cx="3942607" cy="3544784"/>
          </a:xfrm>
          <a:prstGeom prst="rect">
            <a:avLst/>
          </a:prstGeom>
          <a:solidFill>
            <a:schemeClr val="bg1">
              <a:lumMod val="85000"/>
            </a:schemeClr>
          </a:solidFill>
          <a:ln>
            <a:noFill/>
          </a:ln>
        </p:spPr>
        <p:txBody>
          <a:bodyPr wrap="square" rtlCol="1">
            <a:spAutoFit/>
          </a:bodyPr>
          <a:lstStyle/>
          <a:p>
            <a:endParaRPr lang="fa-IR" dirty="0"/>
          </a:p>
        </p:txBody>
      </p:sp>
      <p:sp>
        <p:nvSpPr>
          <p:cNvPr id="29" name="TextBox 28">
            <a:extLst>
              <a:ext uri="{FF2B5EF4-FFF2-40B4-BE49-F238E27FC236}">
                <a16:creationId xmlns:a16="http://schemas.microsoft.com/office/drawing/2014/main" id="{2B4C8E96-F85E-4317-BC24-B09B40DEBF0B}"/>
              </a:ext>
            </a:extLst>
          </p:cNvPr>
          <p:cNvSpPr txBox="1"/>
          <p:nvPr/>
        </p:nvSpPr>
        <p:spPr>
          <a:xfrm>
            <a:off x="7885214" y="3291782"/>
            <a:ext cx="4306754" cy="3544784"/>
          </a:xfrm>
          <a:prstGeom prst="rect">
            <a:avLst/>
          </a:prstGeom>
          <a:solidFill>
            <a:schemeClr val="bg1">
              <a:lumMod val="75000"/>
            </a:schemeClr>
          </a:solidFill>
          <a:ln>
            <a:noFill/>
          </a:ln>
        </p:spPr>
        <p:txBody>
          <a:bodyPr wrap="square" rtlCol="1">
            <a:spAutoFit/>
          </a:bodyPr>
          <a:lstStyle/>
          <a:p>
            <a:endParaRPr lang="fa-IR" dirty="0"/>
          </a:p>
        </p:txBody>
      </p:sp>
      <p:sp>
        <p:nvSpPr>
          <p:cNvPr id="17" name="TextBox 16">
            <a:extLst>
              <a:ext uri="{FF2B5EF4-FFF2-40B4-BE49-F238E27FC236}">
                <a16:creationId xmlns:a16="http://schemas.microsoft.com/office/drawing/2014/main" id="{8C79BA60-C547-4C81-9BB2-9B0431A9FAC1}"/>
              </a:ext>
            </a:extLst>
          </p:cNvPr>
          <p:cNvSpPr txBox="1"/>
          <p:nvPr/>
        </p:nvSpPr>
        <p:spPr>
          <a:xfrm>
            <a:off x="54324" y="3550722"/>
            <a:ext cx="3722027" cy="1477328"/>
          </a:xfrm>
          <a:prstGeom prst="rect">
            <a:avLst/>
          </a:prstGeom>
          <a:noFill/>
        </p:spPr>
        <p:txBody>
          <a:bodyPr wrap="square" rtlCol="1">
            <a:spAutoFit/>
          </a:bodyPr>
          <a:lstStyle/>
          <a:p>
            <a:pPr algn="r"/>
            <a:r>
              <a:rPr lang="fa-IR" dirty="0"/>
              <a:t>پارکت</a:t>
            </a:r>
          </a:p>
          <a:p>
            <a:pPr algn="r"/>
            <a:r>
              <a:rPr lang="fa-IR" dirty="0">
                <a:cs typeface="2  Nazanin" panose="00000400000000000000" pitchFamily="2" charset="-78"/>
              </a:rPr>
              <a:t>اجزا پاركت از گونه هاي داراي نقشهاي طبيعي جذاب، پرداخـت پـذير بـا چيدمان شطرنجي، جناغي يا حصـيري اسـت كـه در چگـالي و انـدازه مناسـب سـفارش، توليـد وبسته بندي ميشود.</a:t>
            </a:r>
          </a:p>
        </p:txBody>
      </p:sp>
      <p:pic>
        <p:nvPicPr>
          <p:cNvPr id="20" name="Picture 19">
            <a:extLst>
              <a:ext uri="{FF2B5EF4-FFF2-40B4-BE49-F238E27FC236}">
                <a16:creationId xmlns:a16="http://schemas.microsoft.com/office/drawing/2014/main" id="{8A849C5A-3CF0-49E7-A198-F499393D2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825" y="5086969"/>
            <a:ext cx="2695575" cy="1695450"/>
          </a:xfrm>
          <a:prstGeom prst="rect">
            <a:avLst/>
          </a:prstGeom>
        </p:spPr>
      </p:pic>
      <p:sp>
        <p:nvSpPr>
          <p:cNvPr id="21" name="TextBox 20">
            <a:extLst>
              <a:ext uri="{FF2B5EF4-FFF2-40B4-BE49-F238E27FC236}">
                <a16:creationId xmlns:a16="http://schemas.microsoft.com/office/drawing/2014/main" id="{C66CBD8C-7B92-4131-94D4-D648FDF4EA43}"/>
              </a:ext>
            </a:extLst>
          </p:cNvPr>
          <p:cNvSpPr txBox="1"/>
          <p:nvPr/>
        </p:nvSpPr>
        <p:spPr>
          <a:xfrm>
            <a:off x="4108735" y="3550722"/>
            <a:ext cx="3610223" cy="1477328"/>
          </a:xfrm>
          <a:prstGeom prst="rect">
            <a:avLst/>
          </a:prstGeom>
          <a:noFill/>
        </p:spPr>
        <p:txBody>
          <a:bodyPr wrap="square" rtlCol="1">
            <a:spAutoFit/>
          </a:bodyPr>
          <a:lstStyle/>
          <a:p>
            <a:pPr algn="r"/>
            <a:r>
              <a:rPr lang="fa-IR" dirty="0">
                <a:cs typeface="2  Nazanin" panose="00000400000000000000" pitchFamily="2" charset="-78"/>
              </a:rPr>
              <a:t>کف پوش</a:t>
            </a:r>
          </a:p>
          <a:p>
            <a:pPr algn="r"/>
            <a:r>
              <a:rPr lang="fa-IR" dirty="0">
                <a:cs typeface="2  Nazanin" panose="00000400000000000000" pitchFamily="2" charset="-78"/>
              </a:rPr>
              <a:t>كفپوش پهن برگ بر حسب كيفيت فيزيك چوب، قطعات آن ابعاد متغيـر دارنـد و بـه طـور عمده از گونه هاي داراي طرح طبيعي جذاب در برش شعاعي يا مماسي تهيه ميشود</a:t>
            </a:r>
          </a:p>
        </p:txBody>
      </p:sp>
      <p:pic>
        <p:nvPicPr>
          <p:cNvPr id="31" name="Picture 30">
            <a:extLst>
              <a:ext uri="{FF2B5EF4-FFF2-40B4-BE49-F238E27FC236}">
                <a16:creationId xmlns:a16="http://schemas.microsoft.com/office/drawing/2014/main" id="{E014FC4B-FD54-4D33-B5C9-71DF42E82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3532" y="5094510"/>
            <a:ext cx="3028950" cy="1514475"/>
          </a:xfrm>
          <a:prstGeom prst="rect">
            <a:avLst/>
          </a:prstGeom>
        </p:spPr>
      </p:pic>
      <p:sp>
        <p:nvSpPr>
          <p:cNvPr id="32" name="TextBox 31">
            <a:extLst>
              <a:ext uri="{FF2B5EF4-FFF2-40B4-BE49-F238E27FC236}">
                <a16:creationId xmlns:a16="http://schemas.microsoft.com/office/drawing/2014/main" id="{23EEC192-9241-4811-967D-8E3DD9B252B9}"/>
              </a:ext>
            </a:extLst>
          </p:cNvPr>
          <p:cNvSpPr txBox="1"/>
          <p:nvPr/>
        </p:nvSpPr>
        <p:spPr>
          <a:xfrm>
            <a:off x="8051342" y="3550722"/>
            <a:ext cx="3920081" cy="923330"/>
          </a:xfrm>
          <a:prstGeom prst="rect">
            <a:avLst/>
          </a:prstGeom>
          <a:noFill/>
        </p:spPr>
        <p:txBody>
          <a:bodyPr wrap="square" rtlCol="1">
            <a:spAutoFit/>
          </a:bodyPr>
          <a:lstStyle/>
          <a:p>
            <a:pPr algn="r"/>
            <a:r>
              <a:rPr lang="fa-IR" dirty="0">
                <a:cs typeface="2  Nazanin" panose="00000400000000000000" pitchFamily="2" charset="-78"/>
              </a:rPr>
              <a:t>قرنیز چوبی</a:t>
            </a:r>
          </a:p>
          <a:p>
            <a:pPr algn="r"/>
            <a:r>
              <a:rPr lang="fa-IR" dirty="0">
                <a:cs typeface="2  Nazanin" panose="00000400000000000000" pitchFamily="2" charset="-78"/>
              </a:rPr>
              <a:t>قرنيز چوبي به طور معمول از گونه هاي پهن برگ چوب توليد ميشود</a:t>
            </a:r>
          </a:p>
        </p:txBody>
      </p:sp>
      <p:pic>
        <p:nvPicPr>
          <p:cNvPr id="36" name="Picture 35">
            <a:extLst>
              <a:ext uri="{FF2B5EF4-FFF2-40B4-BE49-F238E27FC236}">
                <a16:creationId xmlns:a16="http://schemas.microsoft.com/office/drawing/2014/main" id="{417E97FA-5D6B-43B9-8AE8-C9A06FABA0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3972" y="5001466"/>
            <a:ext cx="3028950" cy="1514475"/>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0"/>
            <a:ext cx="12192000" cy="7550727"/>
            <a:chOff x="0" y="0"/>
            <a:chExt cx="12192000" cy="7550727"/>
          </a:xfrm>
          <a:solidFill>
            <a:srgbClr val="EEBE74"/>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F0D16695-A398-4BA7-896D-B58BB64F3F6C}"/>
              </a:ext>
            </a:extLst>
          </p:cNvPr>
          <p:cNvSpPr txBox="1"/>
          <p:nvPr/>
        </p:nvSpPr>
        <p:spPr>
          <a:xfrm>
            <a:off x="67145" y="2259752"/>
            <a:ext cx="2694383" cy="2246769"/>
          </a:xfrm>
          <a:prstGeom prst="rect">
            <a:avLst/>
          </a:prstGeom>
          <a:noFill/>
        </p:spPr>
        <p:txBody>
          <a:bodyPr wrap="square" rtlCol="1">
            <a:spAutoFit/>
          </a:bodyPr>
          <a:lstStyle/>
          <a:p>
            <a:pPr algn="r"/>
            <a:r>
              <a:rPr lang="fa-IR" sz="2000" dirty="0">
                <a:cs typeface="2  Nazanin" panose="00000400000000000000" pitchFamily="2" charset="-78"/>
              </a:rPr>
              <a:t>راه پله</a:t>
            </a:r>
          </a:p>
          <a:p>
            <a:pPr algn="r"/>
            <a:r>
              <a:rPr lang="fa-IR" sz="2000" dirty="0">
                <a:cs typeface="2  Nazanin" panose="00000400000000000000" pitchFamily="2" charset="-78"/>
              </a:rPr>
              <a:t>تخته راه پله: از چوب ماسيو يا چندسازه چوب پلاستيك ميباشد. </a:t>
            </a:r>
          </a:p>
          <a:p>
            <a:pPr algn="r"/>
            <a:r>
              <a:rPr lang="fa-IR" sz="2000" dirty="0">
                <a:cs typeface="2  Nazanin" panose="00000400000000000000" pitchFamily="2" charset="-78"/>
              </a:rPr>
              <a:t>ب- جانپناه (نرده-دستگيره): از چوب ماسيو يا چندسازه چوب پلاستيك ميباشد</a:t>
            </a:r>
          </a:p>
        </p:txBody>
      </p:sp>
      <p:pic>
        <p:nvPicPr>
          <p:cNvPr id="22" name="Picture 21">
            <a:extLst>
              <a:ext uri="{FF2B5EF4-FFF2-40B4-BE49-F238E27FC236}">
                <a16:creationId xmlns:a16="http://schemas.microsoft.com/office/drawing/2014/main" id="{8E13F3CB-7833-40B5-8996-7FA4BC60F7E2}"/>
              </a:ext>
            </a:extLst>
          </p:cNvPr>
          <p:cNvPicPr>
            <a:picLocks noChangeAspect="1"/>
          </p:cNvPicPr>
          <p:nvPr/>
        </p:nvPicPr>
        <p:blipFill rotWithShape="1">
          <a:blip r:embed="rId6">
            <a:extLst>
              <a:ext uri="{28A0092B-C50C-407E-A947-70E740481C1C}">
                <a14:useLocalDpi xmlns:a14="http://schemas.microsoft.com/office/drawing/2010/main" val="0"/>
              </a:ext>
            </a:extLst>
          </a:blip>
          <a:srcRect l="14338" t="3609" r="21168"/>
          <a:stretch/>
        </p:blipFill>
        <p:spPr>
          <a:xfrm>
            <a:off x="196455" y="4711835"/>
            <a:ext cx="2373584" cy="1787599"/>
          </a:xfrm>
          <a:prstGeom prst="rect">
            <a:avLst/>
          </a:prstGeom>
        </p:spPr>
      </p:pic>
      <p:sp>
        <p:nvSpPr>
          <p:cNvPr id="33" name="TextBox 32">
            <a:extLst>
              <a:ext uri="{FF2B5EF4-FFF2-40B4-BE49-F238E27FC236}">
                <a16:creationId xmlns:a16="http://schemas.microsoft.com/office/drawing/2014/main" id="{5477481B-0C2A-4452-840E-B6081F1EBB16}"/>
              </a:ext>
            </a:extLst>
          </p:cNvPr>
          <p:cNvSpPr txBox="1"/>
          <p:nvPr/>
        </p:nvSpPr>
        <p:spPr>
          <a:xfrm>
            <a:off x="2914960" y="2291358"/>
            <a:ext cx="2694383" cy="2308324"/>
          </a:xfrm>
          <a:prstGeom prst="rect">
            <a:avLst/>
          </a:prstGeom>
          <a:noFill/>
        </p:spPr>
        <p:txBody>
          <a:bodyPr wrap="square" rtlCol="1">
            <a:spAutoFit/>
          </a:bodyPr>
          <a:lstStyle/>
          <a:p>
            <a:pPr algn="r"/>
            <a:r>
              <a:rPr lang="fa-IR" sz="2400" dirty="0">
                <a:cs typeface="2  Nazanin" panose="00000400000000000000" pitchFamily="2" charset="-78"/>
              </a:rPr>
              <a:t>در و پنجره</a:t>
            </a:r>
          </a:p>
          <a:p>
            <a:pPr algn="r"/>
            <a:r>
              <a:rPr lang="fa-IR" sz="2400" dirty="0">
                <a:cs typeface="2  Nazanin" panose="00000400000000000000" pitchFamily="2" charset="-78"/>
              </a:rPr>
              <a:t>در و پنجره چوبي: درهاي چوبي به شكل تكلنگه، چندلنگه قابلمـهاي يـا سـاده و شيشه دار يا بدون شيشه توليد ميشوند. </a:t>
            </a:r>
          </a:p>
        </p:txBody>
      </p:sp>
      <p:pic>
        <p:nvPicPr>
          <p:cNvPr id="30" name="Picture 29">
            <a:extLst>
              <a:ext uri="{FF2B5EF4-FFF2-40B4-BE49-F238E27FC236}">
                <a16:creationId xmlns:a16="http://schemas.microsoft.com/office/drawing/2014/main" id="{7FA72550-77FF-4E0D-8381-953633E788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5433" y="4757846"/>
            <a:ext cx="2762250" cy="1657350"/>
          </a:xfrm>
          <a:prstGeom prst="rect">
            <a:avLst/>
          </a:prstGeom>
        </p:spPr>
      </p:pic>
      <p:sp>
        <p:nvSpPr>
          <p:cNvPr id="35" name="TextBox 34">
            <a:extLst>
              <a:ext uri="{FF2B5EF4-FFF2-40B4-BE49-F238E27FC236}">
                <a16:creationId xmlns:a16="http://schemas.microsoft.com/office/drawing/2014/main" id="{607B3A19-87AD-4245-AA90-AA80F8961182}"/>
              </a:ext>
            </a:extLst>
          </p:cNvPr>
          <p:cNvSpPr txBox="1"/>
          <p:nvPr/>
        </p:nvSpPr>
        <p:spPr>
          <a:xfrm>
            <a:off x="5999291" y="2361183"/>
            <a:ext cx="2694383" cy="1938992"/>
          </a:xfrm>
          <a:prstGeom prst="rect">
            <a:avLst/>
          </a:prstGeom>
          <a:noFill/>
        </p:spPr>
        <p:txBody>
          <a:bodyPr wrap="square" rtlCol="1">
            <a:spAutoFit/>
          </a:bodyPr>
          <a:lstStyle/>
          <a:p>
            <a:pPr algn="r"/>
            <a:r>
              <a:rPr lang="fa-IR" sz="2400" dirty="0">
                <a:cs typeface="2  Nazanin" panose="00000400000000000000" pitchFamily="2" charset="-78"/>
              </a:rPr>
              <a:t>تزیینات داخلی</a:t>
            </a:r>
          </a:p>
          <a:p>
            <a:pPr algn="r"/>
            <a:r>
              <a:rPr lang="fa-IR" sz="2400" dirty="0">
                <a:cs typeface="2  Nazanin" panose="00000400000000000000" pitchFamily="2" charset="-78"/>
              </a:rPr>
              <a:t>تزئينات داخلي: حسب نظر طراح دكوراسيون داخلي بـا مصـالح چـوب پايـه اجـرا</a:t>
            </a:r>
          </a:p>
          <a:p>
            <a:pPr algn="r"/>
            <a:r>
              <a:rPr lang="fa-IR" sz="2400" dirty="0">
                <a:cs typeface="2  Nazanin" panose="00000400000000000000" pitchFamily="2" charset="-78"/>
              </a:rPr>
              <a:t>ميشود</a:t>
            </a:r>
          </a:p>
        </p:txBody>
      </p:sp>
      <p:sp>
        <p:nvSpPr>
          <p:cNvPr id="37" name="TextBox 36">
            <a:extLst>
              <a:ext uri="{FF2B5EF4-FFF2-40B4-BE49-F238E27FC236}">
                <a16:creationId xmlns:a16="http://schemas.microsoft.com/office/drawing/2014/main" id="{E743B3F9-5D11-46C0-AE32-0E01CCA379A9}"/>
              </a:ext>
            </a:extLst>
          </p:cNvPr>
          <p:cNvSpPr txBox="1"/>
          <p:nvPr/>
        </p:nvSpPr>
        <p:spPr>
          <a:xfrm>
            <a:off x="9059851" y="2223830"/>
            <a:ext cx="2694383" cy="2677656"/>
          </a:xfrm>
          <a:prstGeom prst="rect">
            <a:avLst/>
          </a:prstGeom>
          <a:noFill/>
        </p:spPr>
        <p:txBody>
          <a:bodyPr wrap="square" rtlCol="1">
            <a:spAutoFit/>
          </a:bodyPr>
          <a:lstStyle/>
          <a:p>
            <a:pPr algn="r"/>
            <a:r>
              <a:rPr lang="fa-IR" sz="2400" dirty="0">
                <a:cs typeface="2  Nazanin" panose="00000400000000000000" pitchFamily="2" charset="-78"/>
              </a:rPr>
              <a:t>مواد و مصالح اتصال دهنده</a:t>
            </a:r>
          </a:p>
          <a:p>
            <a:pPr algn="r"/>
            <a:r>
              <a:rPr lang="fa-IR" sz="2400" dirty="0">
                <a:cs typeface="2  Nazanin" panose="00000400000000000000" pitchFamily="2" charset="-78"/>
              </a:rPr>
              <a:t>واد و مصالح اتصال دهنده و نصب: مواد و مصالح اتصـال دهنـده و نصـب شـامل</a:t>
            </a:r>
          </a:p>
          <a:p>
            <a:pPr algn="r"/>
            <a:r>
              <a:rPr lang="fa-IR" sz="2400" dirty="0">
                <a:cs typeface="2  Nazanin" panose="00000400000000000000" pitchFamily="2" charset="-78"/>
              </a:rPr>
              <a:t>ميخ، پيچ، بستها است كه در فصلهاي مربوط به فلزات آورده شده است.</a:t>
            </a:r>
          </a:p>
        </p:txBody>
      </p:sp>
      <p:pic>
        <p:nvPicPr>
          <p:cNvPr id="38" name="Picture 37">
            <a:extLst>
              <a:ext uri="{FF2B5EF4-FFF2-40B4-BE49-F238E27FC236}">
                <a16:creationId xmlns:a16="http://schemas.microsoft.com/office/drawing/2014/main" id="{D292F97C-F07E-4A02-B778-6662417E7586}"/>
              </a:ext>
            </a:extLst>
          </p:cNvPr>
          <p:cNvPicPr>
            <a:picLocks noChangeAspect="1"/>
          </p:cNvPicPr>
          <p:nvPr/>
        </p:nvPicPr>
        <p:blipFill rotWithShape="1">
          <a:blip r:embed="rId8">
            <a:extLst>
              <a:ext uri="{28A0092B-C50C-407E-A947-70E740481C1C}">
                <a14:useLocalDpi xmlns:a14="http://schemas.microsoft.com/office/drawing/2010/main" val="0"/>
              </a:ext>
            </a:extLst>
          </a:blip>
          <a:srcRect r="8254" b="9158"/>
          <a:stretch/>
        </p:blipFill>
        <p:spPr>
          <a:xfrm>
            <a:off x="6087662" y="4589086"/>
            <a:ext cx="2895846" cy="1910348"/>
          </a:xfrm>
          <a:prstGeom prst="rect">
            <a:avLst/>
          </a:prstGeom>
        </p:spPr>
      </p:pic>
      <p:pic>
        <p:nvPicPr>
          <p:cNvPr id="40" name="Picture 39">
            <a:extLst>
              <a:ext uri="{FF2B5EF4-FFF2-40B4-BE49-F238E27FC236}">
                <a16:creationId xmlns:a16="http://schemas.microsoft.com/office/drawing/2014/main" id="{838FA182-2BE5-40B3-A1DB-D45004F14DD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75712" y="4818389"/>
            <a:ext cx="1964030" cy="1964030"/>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8338" y="-22473"/>
            <a:ext cx="12192000" cy="7550727"/>
            <a:chOff x="0" y="0"/>
            <a:chExt cx="12192000" cy="7550727"/>
          </a:xfrm>
          <a:solidFill>
            <a:srgbClr val="E88A88"/>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grpSp>
        <p:nvGrpSpPr>
          <p:cNvPr id="23" name="Group 22">
            <a:extLst>
              <a:ext uri="{FF2B5EF4-FFF2-40B4-BE49-F238E27FC236}">
                <a16:creationId xmlns:a16="http://schemas.microsoft.com/office/drawing/2014/main" id="{CE9F4577-2F48-44A4-957B-59D6407693D0}"/>
              </a:ext>
            </a:extLst>
          </p:cNvPr>
          <p:cNvGrpSpPr/>
          <p:nvPr/>
        </p:nvGrpSpPr>
        <p:grpSpPr>
          <a:xfrm>
            <a:off x="0" y="-6201478"/>
            <a:ext cx="12192000" cy="7550727"/>
            <a:chOff x="0" y="0"/>
            <a:chExt cx="12192000" cy="7550727"/>
          </a:xfrm>
          <a:solidFill>
            <a:srgbClr val="6DB19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19" name="TextBox 18">
            <a:extLst>
              <a:ext uri="{FF2B5EF4-FFF2-40B4-BE49-F238E27FC236}">
                <a16:creationId xmlns:a16="http://schemas.microsoft.com/office/drawing/2014/main" id="{493724F7-E70E-4203-95AA-CC288A2F4D33}"/>
              </a:ext>
            </a:extLst>
          </p:cNvPr>
          <p:cNvSpPr txBox="1"/>
          <p:nvPr/>
        </p:nvSpPr>
        <p:spPr>
          <a:xfrm>
            <a:off x="3365182" y="1232813"/>
            <a:ext cx="8389052" cy="1877437"/>
          </a:xfrm>
          <a:prstGeom prst="rect">
            <a:avLst/>
          </a:prstGeom>
          <a:noFill/>
        </p:spPr>
        <p:txBody>
          <a:bodyPr wrap="square" rtlCol="1">
            <a:spAutoFit/>
          </a:bodyPr>
          <a:lstStyle/>
          <a:p>
            <a:pPr algn="r"/>
            <a:r>
              <a:rPr lang="fa-IR" sz="2400" b="1" dirty="0">
                <a:cs typeface="2  Nazanin" panose="00000400000000000000" pitchFamily="2" charset="-78"/>
              </a:rPr>
              <a:t>ازمایش ها </a:t>
            </a:r>
          </a:p>
          <a:p>
            <a:pPr algn="r"/>
            <a:r>
              <a:rPr lang="fa-IR" sz="2400" dirty="0">
                <a:cs typeface="2  Nazanin" panose="00000400000000000000" pitchFamily="2" charset="-78"/>
              </a:rPr>
              <a:t>آزمايش هاي استاندارد چوب عبارت است از: اندازهگيري معايب چوب هاي بريده شده، تعيين مقاومـت طبيعي چوب در برابـر فسـاد، جـذب آب، تـورم پـذيري، مقاومـت خمشـي، كششـي، فشـاري، مـدول الاستيسيته، استحكام سطح، تعيين انبساط و انقباض</a:t>
            </a:r>
            <a:endParaRPr lang="en-US" sz="2400" dirty="0">
              <a:cs typeface="2  Nazanin" panose="00000400000000000000" pitchFamily="2" charset="-78"/>
            </a:endParaRPr>
          </a:p>
          <a:p>
            <a:pPr algn="r"/>
            <a:endParaRPr lang="fa-IR" sz="2000" dirty="0">
              <a:cs typeface="2  Nazanin" panose="00000400000000000000" pitchFamily="2" charset="-78"/>
            </a:endParaRPr>
          </a:p>
        </p:txBody>
      </p:sp>
      <p:sp>
        <p:nvSpPr>
          <p:cNvPr id="27" name="TextBox 26">
            <a:extLst>
              <a:ext uri="{FF2B5EF4-FFF2-40B4-BE49-F238E27FC236}">
                <a16:creationId xmlns:a16="http://schemas.microsoft.com/office/drawing/2014/main" id="{47F3F36D-8E22-4294-B34B-D85FB610A5C5}"/>
              </a:ext>
            </a:extLst>
          </p:cNvPr>
          <p:cNvSpPr txBox="1"/>
          <p:nvPr/>
        </p:nvSpPr>
        <p:spPr>
          <a:xfrm>
            <a:off x="6415681" y="3156681"/>
            <a:ext cx="5415397" cy="3416320"/>
          </a:xfrm>
          <a:prstGeom prst="rect">
            <a:avLst/>
          </a:prstGeom>
          <a:noFill/>
        </p:spPr>
        <p:txBody>
          <a:bodyPr wrap="square" rtlCol="1">
            <a:spAutoFit/>
          </a:bodyPr>
          <a:lstStyle/>
          <a:p>
            <a:pPr algn="r"/>
            <a:r>
              <a:rPr lang="fa-IR" sz="2400" b="1" dirty="0">
                <a:cs typeface="2  Nazanin" panose="00000400000000000000" pitchFamily="2" charset="-78"/>
              </a:rPr>
              <a:t>نگهداری چوب</a:t>
            </a:r>
          </a:p>
          <a:p>
            <a:pPr algn="r"/>
            <a:r>
              <a:rPr lang="fa-IR" sz="2400" dirty="0">
                <a:cs typeface="2  Nazanin" panose="00000400000000000000" pitchFamily="2" charset="-78"/>
              </a:rPr>
              <a:t>چوب بايد در انبار به صورتي نگهداري شود كه ويژگـي هـاي آن تغييـر نكنـد و از عوامـل آسيب رسان دور باشد. </a:t>
            </a:r>
          </a:p>
          <a:p>
            <a:pPr algn="r"/>
            <a:r>
              <a:rPr lang="fa-IR" sz="2400" dirty="0">
                <a:cs typeface="2  Nazanin" panose="00000400000000000000" pitchFamily="2" charset="-78"/>
              </a:rPr>
              <a:t>انبار مواد چوبي بايد از آتش محافظت شود و از مواد قابل اشتعال دور و مجهز به سيستم هاي علام و اطفاي حريق باشد. </a:t>
            </a:r>
          </a:p>
          <a:p>
            <a:pPr algn="r"/>
            <a:r>
              <a:rPr lang="fa-IR" sz="2400" dirty="0">
                <a:cs typeface="2  Nazanin" panose="00000400000000000000" pitchFamily="2" charset="-78"/>
              </a:rPr>
              <a:t>چوب بايد در برابر حشرات، آتش و رطوبت محافظت شود</a:t>
            </a:r>
            <a:r>
              <a:rPr lang="fa-IR" sz="2000" dirty="0"/>
              <a:t>.</a:t>
            </a:r>
          </a:p>
        </p:txBody>
      </p:sp>
      <p:pic>
        <p:nvPicPr>
          <p:cNvPr id="39" name="Picture 38">
            <a:extLst>
              <a:ext uri="{FF2B5EF4-FFF2-40B4-BE49-F238E27FC236}">
                <a16:creationId xmlns:a16="http://schemas.microsoft.com/office/drawing/2014/main" id="{A07F45DC-F030-413F-A336-9AE26BC44C7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6825" y="878195"/>
            <a:ext cx="2908864" cy="1935717"/>
          </a:xfrm>
          <a:prstGeom prst="rect">
            <a:avLst/>
          </a:prstGeom>
        </p:spPr>
      </p:pic>
      <p:pic>
        <p:nvPicPr>
          <p:cNvPr id="44" name="Picture 43">
            <a:extLst>
              <a:ext uri="{FF2B5EF4-FFF2-40B4-BE49-F238E27FC236}">
                <a16:creationId xmlns:a16="http://schemas.microsoft.com/office/drawing/2014/main" id="{5525A9E0-3197-4C65-B847-07E2219F377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77528" y="2879742"/>
            <a:ext cx="5834974" cy="3839474"/>
          </a:xfrm>
          <a:prstGeom prst="rect">
            <a:avLst/>
          </a:prstGeom>
        </p:spPr>
      </p:pic>
    </p:spTree>
    <p:extLst>
      <p:ext uri="{BB962C8B-B14F-4D97-AF65-F5344CB8AC3E}">
        <p14:creationId xmlns:p14="http://schemas.microsoft.com/office/powerpoint/2010/main" val="408938966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1250" fill="hold"/>
                                        <p:tgtEl>
                                          <p:spTgt spid="20"/>
                                        </p:tgtEl>
                                        <p:attrNameLst>
                                          <p:attrName>ppt_x</p:attrName>
                                        </p:attrNameLst>
                                      </p:cBhvr>
                                      <p:tavLst>
                                        <p:tav tm="0">
                                          <p:val>
                                            <p:strVal val="#ppt_x"/>
                                          </p:val>
                                        </p:tav>
                                        <p:tav tm="100000">
                                          <p:val>
                                            <p:strVal val="#ppt_x"/>
                                          </p:val>
                                        </p:tav>
                                      </p:tavLst>
                                    </p:anim>
                                    <p:anim calcmode="lin" valueType="num">
                                      <p:cBhvr additive="base">
                                        <p:cTn id="19" dur="1250" fill="hold"/>
                                        <p:tgtEl>
                                          <p:spTgt spid="20"/>
                                        </p:tgtEl>
                                        <p:attrNameLst>
                                          <p:attrName>ppt_y</p:attrName>
                                        </p:attrNameLst>
                                      </p:cBhvr>
                                      <p:tavLst>
                                        <p:tav tm="0">
                                          <p:val>
                                            <p:strVal val="1+#ppt_h/2"/>
                                          </p:val>
                                        </p:tav>
                                        <p:tav tm="100000">
                                          <p:val>
                                            <p:strVal val="#ppt_y"/>
                                          </p:val>
                                        </p:tav>
                                      </p:tavLst>
                                    </p:anim>
                                  </p:childTnLst>
                                </p:cTn>
                              </p:par>
                            </p:childTnLst>
                          </p:cTn>
                        </p:par>
                        <p:par>
                          <p:cTn id="20" fill="hold">
                            <p:stCondLst>
                              <p:cond delay="1750"/>
                            </p:stCondLst>
                            <p:childTnLst>
                              <p:par>
                                <p:cTn id="21" presetID="22" presetClass="entr" presetSubtype="8"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20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500" fill="hold"/>
                                        <p:tgtEl>
                                          <p:spTgt spid="21"/>
                                        </p:tgtEl>
                                        <p:attrNameLst>
                                          <p:attrName>ppt_w</p:attrName>
                                        </p:attrNameLst>
                                      </p:cBhvr>
                                      <p:tavLst>
                                        <p:tav tm="0">
                                          <p:val>
                                            <p:fltVal val="0"/>
                                          </p:val>
                                        </p:tav>
                                        <p:tav tm="100000">
                                          <p:val>
                                            <p:strVal val="#ppt_w"/>
                                          </p:val>
                                        </p:tav>
                                      </p:tavLst>
                                    </p:anim>
                                    <p:anim calcmode="lin" valueType="num">
                                      <p:cBhvr>
                                        <p:cTn id="29" dur="500" fill="hold"/>
                                        <p:tgtEl>
                                          <p:spTgt spid="21"/>
                                        </p:tgtEl>
                                        <p:attrNameLst>
                                          <p:attrName>ppt_h</p:attrName>
                                        </p:attrNameLst>
                                      </p:cBhvr>
                                      <p:tavLst>
                                        <p:tav tm="0">
                                          <p:val>
                                            <p:fltVal val="0"/>
                                          </p:val>
                                        </p:tav>
                                        <p:tav tm="100000">
                                          <p:val>
                                            <p:strVal val="#ppt_h"/>
                                          </p:val>
                                        </p:tav>
                                      </p:tavLst>
                                    </p:anim>
                                    <p:animEffect transition="in" filter="fade">
                                      <p:cBhvr>
                                        <p:cTn id="30" dur="500"/>
                                        <p:tgtEl>
                                          <p:spTgt spid="21"/>
                                        </p:tgtEl>
                                      </p:cBhvr>
                                    </p:animEffect>
                                  </p:child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1250" fill="hold"/>
                                        <p:tgtEl>
                                          <p:spTgt spid="31"/>
                                        </p:tgtEl>
                                        <p:attrNameLst>
                                          <p:attrName>ppt_x</p:attrName>
                                        </p:attrNameLst>
                                      </p:cBhvr>
                                      <p:tavLst>
                                        <p:tav tm="0">
                                          <p:val>
                                            <p:strVal val="#ppt_x"/>
                                          </p:val>
                                        </p:tav>
                                        <p:tav tm="100000">
                                          <p:val>
                                            <p:strVal val="#ppt_x"/>
                                          </p:val>
                                        </p:tav>
                                      </p:tavLst>
                                    </p:anim>
                                    <p:anim calcmode="lin" valueType="num">
                                      <p:cBhvr additive="base">
                                        <p:cTn id="35" dur="1250" fill="hold"/>
                                        <p:tgtEl>
                                          <p:spTgt spid="31"/>
                                        </p:tgtEl>
                                        <p:attrNameLst>
                                          <p:attrName>ppt_y</p:attrName>
                                        </p:attrNameLst>
                                      </p:cBhvr>
                                      <p:tavLst>
                                        <p:tav tm="0">
                                          <p:val>
                                            <p:strVal val="1+#ppt_h/2"/>
                                          </p:val>
                                        </p:tav>
                                        <p:tav tm="100000">
                                          <p:val>
                                            <p:strVal val="#ppt_y"/>
                                          </p:val>
                                        </p:tav>
                                      </p:tavLst>
                                    </p:anim>
                                  </p:childTnLst>
                                </p:cTn>
                              </p:par>
                            </p:childTnLst>
                          </p:cTn>
                        </p:par>
                        <p:par>
                          <p:cTn id="36" fill="hold">
                            <p:stCondLst>
                              <p:cond delay="1750"/>
                            </p:stCondLst>
                            <p:childTnLst>
                              <p:par>
                                <p:cTn id="37" presetID="22" presetClass="entr" presetSubtype="8"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left)">
                                      <p:cBhvr>
                                        <p:cTn id="39" dur="1500"/>
                                        <p:tgtEl>
                                          <p:spTgt spid="29"/>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p:cTn id="44" dur="500" fill="hold"/>
                                        <p:tgtEl>
                                          <p:spTgt spid="32"/>
                                        </p:tgtEl>
                                        <p:attrNameLst>
                                          <p:attrName>ppt_w</p:attrName>
                                        </p:attrNameLst>
                                      </p:cBhvr>
                                      <p:tavLst>
                                        <p:tav tm="0">
                                          <p:val>
                                            <p:fltVal val="0"/>
                                          </p:val>
                                        </p:tav>
                                        <p:tav tm="100000">
                                          <p:val>
                                            <p:strVal val="#ppt_w"/>
                                          </p:val>
                                        </p:tav>
                                      </p:tavLst>
                                    </p:anim>
                                    <p:anim calcmode="lin" valueType="num">
                                      <p:cBhvr>
                                        <p:cTn id="45" dur="500" fill="hold"/>
                                        <p:tgtEl>
                                          <p:spTgt spid="32"/>
                                        </p:tgtEl>
                                        <p:attrNameLst>
                                          <p:attrName>ppt_h</p:attrName>
                                        </p:attrNameLst>
                                      </p:cBhvr>
                                      <p:tavLst>
                                        <p:tav tm="0">
                                          <p:val>
                                            <p:fltVal val="0"/>
                                          </p:val>
                                        </p:tav>
                                        <p:tav tm="100000">
                                          <p:val>
                                            <p:strVal val="#ppt_h"/>
                                          </p:val>
                                        </p:tav>
                                      </p:tavLst>
                                    </p:anim>
                                    <p:animEffect transition="in" filter="fade">
                                      <p:cBhvr>
                                        <p:cTn id="46" dur="500"/>
                                        <p:tgtEl>
                                          <p:spTgt spid="32"/>
                                        </p:tgtEl>
                                      </p:cBhvr>
                                    </p:animEffect>
                                  </p:childTnLst>
                                </p:cTn>
                              </p:par>
                            </p:childTnLst>
                          </p:cTn>
                        </p:par>
                        <p:par>
                          <p:cTn id="47" fill="hold">
                            <p:stCondLst>
                              <p:cond delay="500"/>
                            </p:stCondLst>
                            <p:childTnLst>
                              <p:par>
                                <p:cTn id="48" presetID="2" presetClass="entr" presetSubtype="4" fill="hold" nodeType="after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additive="base">
                                        <p:cTn id="50" dur="1250" fill="hold"/>
                                        <p:tgtEl>
                                          <p:spTgt spid="36"/>
                                        </p:tgtEl>
                                        <p:attrNameLst>
                                          <p:attrName>ppt_x</p:attrName>
                                        </p:attrNameLst>
                                      </p:cBhvr>
                                      <p:tavLst>
                                        <p:tav tm="0">
                                          <p:val>
                                            <p:strVal val="#ppt_x"/>
                                          </p:val>
                                        </p:tav>
                                        <p:tav tm="100000">
                                          <p:val>
                                            <p:strVal val="#ppt_x"/>
                                          </p:val>
                                        </p:tav>
                                      </p:tavLst>
                                    </p:anim>
                                    <p:anim calcmode="lin" valueType="num">
                                      <p:cBhvr additive="base">
                                        <p:cTn id="51" dur="125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wipe(up)">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ppt_x"/>
                                          </p:val>
                                        </p:tav>
                                        <p:tav tm="100000">
                                          <p:val>
                                            <p:strVal val="#ppt_x"/>
                                          </p:val>
                                        </p:tav>
                                      </p:tavLst>
                                    </p:anim>
                                    <p:anim calcmode="lin" valueType="num">
                                      <p:cBhvr additive="base">
                                        <p:cTn id="6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 calcmode="lin" valueType="num">
                                      <p:cBhvr additive="base">
                                        <p:cTn id="67" dur="500" fill="hold"/>
                                        <p:tgtEl>
                                          <p:spTgt spid="38"/>
                                        </p:tgtEl>
                                        <p:attrNameLst>
                                          <p:attrName>ppt_x</p:attrName>
                                        </p:attrNameLst>
                                      </p:cBhvr>
                                      <p:tavLst>
                                        <p:tav tm="0">
                                          <p:val>
                                            <p:strVal val="#ppt_x"/>
                                          </p:val>
                                        </p:tav>
                                        <p:tav tm="100000">
                                          <p:val>
                                            <p:strVal val="#ppt_x"/>
                                          </p:val>
                                        </p:tav>
                                      </p:tavLst>
                                    </p:anim>
                                    <p:anim calcmode="lin" valueType="num">
                                      <p:cBhvr additive="base">
                                        <p:cTn id="6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1" nodeType="click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up)">
                                      <p:cBhvr>
                                        <p:cTn id="73" dur="5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40"/>
                                        </p:tgtEl>
                                        <p:attrNameLst>
                                          <p:attrName>style.visibility</p:attrName>
                                        </p:attrNameLst>
                                      </p:cBhvr>
                                      <p:to>
                                        <p:strVal val="visible"/>
                                      </p:to>
                                    </p:set>
                                    <p:anim calcmode="lin" valueType="num">
                                      <p:cBhvr additive="base">
                                        <p:cTn id="78" dur="500" fill="hold"/>
                                        <p:tgtEl>
                                          <p:spTgt spid="40"/>
                                        </p:tgtEl>
                                        <p:attrNameLst>
                                          <p:attrName>ppt_x</p:attrName>
                                        </p:attrNameLst>
                                      </p:cBhvr>
                                      <p:tavLst>
                                        <p:tav tm="0">
                                          <p:val>
                                            <p:strVal val="#ppt_x"/>
                                          </p:val>
                                        </p:tav>
                                        <p:tav tm="100000">
                                          <p:val>
                                            <p:strVal val="#ppt_x"/>
                                          </p:val>
                                        </p:tav>
                                      </p:tavLst>
                                    </p:anim>
                                    <p:anim calcmode="lin" valueType="num">
                                      <p:cBhvr additive="base">
                                        <p:cTn id="7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00" fill="hold"/>
                                        <p:tgtEl>
                                          <p:spTgt spid="22"/>
                                        </p:tgtEl>
                                        <p:attrNameLst>
                                          <p:attrName>ppt_x</p:attrName>
                                        </p:attrNameLst>
                                      </p:cBhvr>
                                      <p:tavLst>
                                        <p:tav tm="0">
                                          <p:val>
                                            <p:strVal val="#ppt_x"/>
                                          </p:val>
                                        </p:tav>
                                        <p:tav tm="100000">
                                          <p:val>
                                            <p:strVal val="#ppt_x"/>
                                          </p:val>
                                        </p:tav>
                                      </p:tavLst>
                                    </p:anim>
                                    <p:anim calcmode="lin" valueType="num">
                                      <p:cBhvr additive="base">
                                        <p:cTn id="8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wipe(up)">
                                      <p:cBhvr>
                                        <p:cTn id="90" dur="500"/>
                                        <p:tgtEl>
                                          <p:spTgt spid="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wipe(up)">
                                      <p:cBhvr>
                                        <p:cTn id="95" dur="500"/>
                                        <p:tgtEl>
                                          <p:spTgt spid="35"/>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wipe(up)">
                                      <p:cBhvr>
                                        <p:cTn id="10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8" grpId="0" animBg="1"/>
      <p:bldP spid="29" grpId="0" animBg="1"/>
      <p:bldP spid="17" grpId="0"/>
      <p:bldP spid="21" grpId="0"/>
      <p:bldP spid="32" grpId="0"/>
      <p:bldP spid="2" grpId="0"/>
      <p:bldP spid="33" grpId="0"/>
      <p:bldP spid="33" grpId="1"/>
      <p:bldP spid="35" grpId="0"/>
      <p:bldP spid="37" grpId="0"/>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1613B86D-B881-4C0F-BFF1-8F82D4952B4A}"/>
              </a:ext>
            </a:extLst>
          </p:cNvPr>
          <p:cNvSpPr txBox="1"/>
          <p:nvPr/>
        </p:nvSpPr>
        <p:spPr>
          <a:xfrm>
            <a:off x="5424053" y="4040412"/>
            <a:ext cx="6672906" cy="2308324"/>
          </a:xfrm>
          <a:prstGeom prst="rect">
            <a:avLst/>
          </a:prstGeom>
          <a:noFill/>
        </p:spPr>
        <p:txBody>
          <a:bodyPr wrap="square" rtlCol="1">
            <a:spAutoFit/>
          </a:bodyPr>
          <a:lstStyle/>
          <a:p>
            <a:pPr algn="r"/>
            <a:r>
              <a:rPr lang="fa-IR" sz="2400" b="1" dirty="0">
                <a:cs typeface="2  Nazanin" panose="00000400000000000000" pitchFamily="2" charset="-78"/>
              </a:rPr>
              <a:t>چوب و فراورد های ان</a:t>
            </a:r>
          </a:p>
          <a:p>
            <a:pPr algn="r"/>
            <a:r>
              <a:rPr lang="fa-IR" sz="2400" dirty="0">
                <a:cs typeface="2  Nazanin" panose="00000400000000000000" pitchFamily="2" charset="-78"/>
              </a:rPr>
              <a:t>چوبي كه در ساختمان به مصرف ميرسد، به يكي از صورتهـاي طبيعـي، اشـباع شـده، اصـلاح شـده،لايهاي يـا چندسـازهاي اسـت.</a:t>
            </a:r>
          </a:p>
          <a:p>
            <a:pPr algn="r"/>
            <a:r>
              <a:rPr lang="fa-IR" sz="2400" dirty="0">
                <a:cs typeface="2  Nazanin" panose="00000400000000000000" pitchFamily="2" charset="-78"/>
              </a:rPr>
              <a:t> از جملـه كاربردهـاي چـوب ماسـيو و لايـهاي سـاختن اسـكلت (تـاب) ساختمان هاي چوبي، ساخت در و پنجره، ديوارپوش، كفپوش، سقفپوش، نرده، شمعكوبي، قالب بندي، جانپناه، راهپله و داربست است</a:t>
            </a:r>
          </a:p>
        </p:txBody>
      </p:sp>
      <p:pic>
        <p:nvPicPr>
          <p:cNvPr id="3" name="Picture 2">
            <a:extLst>
              <a:ext uri="{FF2B5EF4-FFF2-40B4-BE49-F238E27FC236}">
                <a16:creationId xmlns:a16="http://schemas.microsoft.com/office/drawing/2014/main" id="{FDAB3936-401A-4C0A-949F-5E265E309E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577" y="3704522"/>
            <a:ext cx="5037223" cy="2837636"/>
          </a:xfrm>
          <a:prstGeom prst="rect">
            <a:avLst/>
          </a:prstGeom>
        </p:spPr>
      </p:pic>
      <p:grpSp>
        <p:nvGrpSpPr>
          <p:cNvPr id="7" name="Group 6">
            <a:extLst>
              <a:ext uri="{FF2B5EF4-FFF2-40B4-BE49-F238E27FC236}">
                <a16:creationId xmlns:a16="http://schemas.microsoft.com/office/drawing/2014/main" id="{02A088D3-A642-47E9-8843-D04D55D8CBF1}"/>
              </a:ext>
            </a:extLst>
          </p:cNvPr>
          <p:cNvGrpSpPr/>
          <p:nvPr/>
        </p:nvGrpSpPr>
        <p:grpSpPr>
          <a:xfrm>
            <a:off x="-32" y="0"/>
            <a:ext cx="12192000" cy="7550727"/>
            <a:chOff x="0" y="0"/>
            <a:chExt cx="12192000" cy="7550727"/>
          </a:xfrm>
          <a:solidFill>
            <a:srgbClr val="9DAAE1"/>
          </a:solidFill>
        </p:grpSpPr>
        <p:sp>
          <p:nvSpPr>
            <p:cNvPr id="4" name="Rectangle 3">
              <a:extLst>
                <a:ext uri="{FF2B5EF4-FFF2-40B4-BE49-F238E27FC236}">
                  <a16:creationId xmlns:a16="http://schemas.microsoft.com/office/drawing/2014/main" id="{E935ECAB-8D68-4D32-A8B2-6DCBD91B0DAC}"/>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5" name="Rectangle: Top Corners Rounded 4">
              <a:extLst>
                <a:ext uri="{FF2B5EF4-FFF2-40B4-BE49-F238E27FC236}">
                  <a16:creationId xmlns:a16="http://schemas.microsoft.com/office/drawing/2014/main" id="{A06FB631-53E3-46EC-97F8-73D5F2A7930F}"/>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6" name="TextBox 5">
              <a:extLst>
                <a:ext uri="{FF2B5EF4-FFF2-40B4-BE49-F238E27FC236}">
                  <a16:creationId xmlns:a16="http://schemas.microsoft.com/office/drawing/2014/main" id="{8F94D9CA-DF19-4694-AE8F-B58497FAF0FE}"/>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1</a:t>
              </a:r>
              <a:endParaRPr lang="fa-IR" sz="4000" b="1" dirty="0">
                <a:latin typeface="Tw Cen MT" panose="020B0602020104020603" pitchFamily="34" charset="0"/>
              </a:endParaRPr>
            </a:p>
          </p:txBody>
        </p:sp>
      </p:grpSp>
      <p:sp>
        <p:nvSpPr>
          <p:cNvPr id="16" name="TextBox 15">
            <a:extLst>
              <a:ext uri="{FF2B5EF4-FFF2-40B4-BE49-F238E27FC236}">
                <a16:creationId xmlns:a16="http://schemas.microsoft.com/office/drawing/2014/main" id="{77616D45-A46C-4B68-90D9-747C8D4B635B}"/>
              </a:ext>
            </a:extLst>
          </p:cNvPr>
          <p:cNvSpPr txBox="1"/>
          <p:nvPr/>
        </p:nvSpPr>
        <p:spPr>
          <a:xfrm>
            <a:off x="0" y="3313216"/>
            <a:ext cx="3942607" cy="3544784"/>
          </a:xfrm>
          <a:prstGeom prst="rect">
            <a:avLst/>
          </a:prstGeom>
          <a:solidFill>
            <a:schemeClr val="bg1">
              <a:lumMod val="95000"/>
            </a:schemeClr>
          </a:solidFill>
          <a:ln>
            <a:noFill/>
          </a:ln>
        </p:spPr>
        <p:txBody>
          <a:bodyPr wrap="square" rtlCol="1">
            <a:spAutoFit/>
          </a:bodyPr>
          <a:lstStyle/>
          <a:p>
            <a:endParaRPr lang="fa-IR" dirty="0"/>
          </a:p>
        </p:txBody>
      </p:sp>
      <p:sp>
        <p:nvSpPr>
          <p:cNvPr id="28" name="TextBox 27">
            <a:extLst>
              <a:ext uri="{FF2B5EF4-FFF2-40B4-BE49-F238E27FC236}">
                <a16:creationId xmlns:a16="http://schemas.microsoft.com/office/drawing/2014/main" id="{60819D09-FA2D-4771-8DFA-D9A5E6B583AF}"/>
              </a:ext>
            </a:extLst>
          </p:cNvPr>
          <p:cNvSpPr txBox="1"/>
          <p:nvPr/>
        </p:nvSpPr>
        <p:spPr>
          <a:xfrm>
            <a:off x="3942607" y="3322750"/>
            <a:ext cx="3942607" cy="3544784"/>
          </a:xfrm>
          <a:prstGeom prst="rect">
            <a:avLst/>
          </a:prstGeom>
          <a:solidFill>
            <a:schemeClr val="bg1">
              <a:lumMod val="85000"/>
            </a:schemeClr>
          </a:solidFill>
          <a:ln>
            <a:noFill/>
          </a:ln>
        </p:spPr>
        <p:txBody>
          <a:bodyPr wrap="square" rtlCol="1">
            <a:spAutoFit/>
          </a:bodyPr>
          <a:lstStyle/>
          <a:p>
            <a:endParaRPr lang="fa-IR" dirty="0"/>
          </a:p>
        </p:txBody>
      </p:sp>
      <p:sp>
        <p:nvSpPr>
          <p:cNvPr id="29" name="TextBox 28">
            <a:extLst>
              <a:ext uri="{FF2B5EF4-FFF2-40B4-BE49-F238E27FC236}">
                <a16:creationId xmlns:a16="http://schemas.microsoft.com/office/drawing/2014/main" id="{2B4C8E96-F85E-4317-BC24-B09B40DEBF0B}"/>
              </a:ext>
            </a:extLst>
          </p:cNvPr>
          <p:cNvSpPr txBox="1"/>
          <p:nvPr/>
        </p:nvSpPr>
        <p:spPr>
          <a:xfrm>
            <a:off x="7885214" y="3291782"/>
            <a:ext cx="4306754" cy="3544784"/>
          </a:xfrm>
          <a:prstGeom prst="rect">
            <a:avLst/>
          </a:prstGeom>
          <a:solidFill>
            <a:schemeClr val="bg1">
              <a:lumMod val="75000"/>
            </a:schemeClr>
          </a:solidFill>
          <a:ln>
            <a:noFill/>
          </a:ln>
        </p:spPr>
        <p:txBody>
          <a:bodyPr wrap="square" rtlCol="1">
            <a:spAutoFit/>
          </a:bodyPr>
          <a:lstStyle/>
          <a:p>
            <a:endParaRPr lang="fa-IR" dirty="0"/>
          </a:p>
        </p:txBody>
      </p:sp>
      <p:sp>
        <p:nvSpPr>
          <p:cNvPr id="17" name="TextBox 16">
            <a:extLst>
              <a:ext uri="{FF2B5EF4-FFF2-40B4-BE49-F238E27FC236}">
                <a16:creationId xmlns:a16="http://schemas.microsoft.com/office/drawing/2014/main" id="{8C79BA60-C547-4C81-9BB2-9B0431A9FAC1}"/>
              </a:ext>
            </a:extLst>
          </p:cNvPr>
          <p:cNvSpPr txBox="1"/>
          <p:nvPr/>
        </p:nvSpPr>
        <p:spPr>
          <a:xfrm>
            <a:off x="54324" y="3550722"/>
            <a:ext cx="3722027" cy="1477328"/>
          </a:xfrm>
          <a:prstGeom prst="rect">
            <a:avLst/>
          </a:prstGeom>
          <a:noFill/>
        </p:spPr>
        <p:txBody>
          <a:bodyPr wrap="square" rtlCol="1">
            <a:spAutoFit/>
          </a:bodyPr>
          <a:lstStyle/>
          <a:p>
            <a:pPr algn="r"/>
            <a:r>
              <a:rPr lang="fa-IR" dirty="0"/>
              <a:t>پارکت</a:t>
            </a:r>
          </a:p>
          <a:p>
            <a:pPr algn="r"/>
            <a:r>
              <a:rPr lang="fa-IR" dirty="0">
                <a:cs typeface="2  Nazanin" panose="00000400000000000000" pitchFamily="2" charset="-78"/>
              </a:rPr>
              <a:t>اجزا پاركت از گونه هاي داراي نقشهاي طبيعي جذاب، پرداخـت پـذير بـا چيدمان شطرنجي، جناغي يا حصـيري اسـت كـه در چگـالي و انـدازه مناسـب سـفارش، توليـد وبسته بندي ميشود.</a:t>
            </a:r>
          </a:p>
        </p:txBody>
      </p:sp>
      <p:pic>
        <p:nvPicPr>
          <p:cNvPr id="20" name="Picture 19">
            <a:extLst>
              <a:ext uri="{FF2B5EF4-FFF2-40B4-BE49-F238E27FC236}">
                <a16:creationId xmlns:a16="http://schemas.microsoft.com/office/drawing/2014/main" id="{8A849C5A-3CF0-49E7-A198-F499393D2C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6825" y="5086969"/>
            <a:ext cx="2695575" cy="1695450"/>
          </a:xfrm>
          <a:prstGeom prst="rect">
            <a:avLst/>
          </a:prstGeom>
        </p:spPr>
      </p:pic>
      <p:sp>
        <p:nvSpPr>
          <p:cNvPr id="21" name="TextBox 20">
            <a:extLst>
              <a:ext uri="{FF2B5EF4-FFF2-40B4-BE49-F238E27FC236}">
                <a16:creationId xmlns:a16="http://schemas.microsoft.com/office/drawing/2014/main" id="{C66CBD8C-7B92-4131-94D4-D648FDF4EA43}"/>
              </a:ext>
            </a:extLst>
          </p:cNvPr>
          <p:cNvSpPr txBox="1"/>
          <p:nvPr/>
        </p:nvSpPr>
        <p:spPr>
          <a:xfrm>
            <a:off x="4108735" y="3550722"/>
            <a:ext cx="3610223" cy="1477328"/>
          </a:xfrm>
          <a:prstGeom prst="rect">
            <a:avLst/>
          </a:prstGeom>
          <a:noFill/>
        </p:spPr>
        <p:txBody>
          <a:bodyPr wrap="square" rtlCol="1">
            <a:spAutoFit/>
          </a:bodyPr>
          <a:lstStyle/>
          <a:p>
            <a:pPr algn="r"/>
            <a:r>
              <a:rPr lang="fa-IR" dirty="0">
                <a:cs typeface="2  Nazanin" panose="00000400000000000000" pitchFamily="2" charset="-78"/>
              </a:rPr>
              <a:t>کف پوش</a:t>
            </a:r>
          </a:p>
          <a:p>
            <a:pPr algn="r"/>
            <a:r>
              <a:rPr lang="fa-IR" dirty="0">
                <a:cs typeface="2  Nazanin" panose="00000400000000000000" pitchFamily="2" charset="-78"/>
              </a:rPr>
              <a:t>كفپوش پهن برگ بر حسب كيفيت فيزيك چوب، قطعات آن ابعاد متغيـر دارنـد و بـه طـور عمده از گونه هاي داراي طرح طبيعي جذاب در برش شعاعي يا مماسي تهيه ميشود</a:t>
            </a:r>
          </a:p>
        </p:txBody>
      </p:sp>
      <p:pic>
        <p:nvPicPr>
          <p:cNvPr id="31" name="Picture 30">
            <a:extLst>
              <a:ext uri="{FF2B5EF4-FFF2-40B4-BE49-F238E27FC236}">
                <a16:creationId xmlns:a16="http://schemas.microsoft.com/office/drawing/2014/main" id="{E014FC4B-FD54-4D33-B5C9-71DF42E82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3532" y="5094510"/>
            <a:ext cx="3028950" cy="1514475"/>
          </a:xfrm>
          <a:prstGeom prst="rect">
            <a:avLst/>
          </a:prstGeom>
        </p:spPr>
      </p:pic>
      <p:sp>
        <p:nvSpPr>
          <p:cNvPr id="32" name="TextBox 31">
            <a:extLst>
              <a:ext uri="{FF2B5EF4-FFF2-40B4-BE49-F238E27FC236}">
                <a16:creationId xmlns:a16="http://schemas.microsoft.com/office/drawing/2014/main" id="{23EEC192-9241-4811-967D-8E3DD9B252B9}"/>
              </a:ext>
            </a:extLst>
          </p:cNvPr>
          <p:cNvSpPr txBox="1"/>
          <p:nvPr/>
        </p:nvSpPr>
        <p:spPr>
          <a:xfrm>
            <a:off x="8051342" y="3550722"/>
            <a:ext cx="3920081" cy="923330"/>
          </a:xfrm>
          <a:prstGeom prst="rect">
            <a:avLst/>
          </a:prstGeom>
          <a:noFill/>
        </p:spPr>
        <p:txBody>
          <a:bodyPr wrap="square" rtlCol="1">
            <a:spAutoFit/>
          </a:bodyPr>
          <a:lstStyle/>
          <a:p>
            <a:pPr algn="r"/>
            <a:r>
              <a:rPr lang="fa-IR" dirty="0">
                <a:cs typeface="2  Nazanin" panose="00000400000000000000" pitchFamily="2" charset="-78"/>
              </a:rPr>
              <a:t>قرنیز چوبی</a:t>
            </a:r>
          </a:p>
          <a:p>
            <a:pPr algn="r"/>
            <a:r>
              <a:rPr lang="fa-IR" dirty="0">
                <a:cs typeface="2  Nazanin" panose="00000400000000000000" pitchFamily="2" charset="-78"/>
              </a:rPr>
              <a:t>قرنيز چوبي به طور معمول از گونه هاي پهن برگ چوب توليد ميشود</a:t>
            </a:r>
          </a:p>
        </p:txBody>
      </p:sp>
      <p:pic>
        <p:nvPicPr>
          <p:cNvPr id="36" name="Picture 35">
            <a:extLst>
              <a:ext uri="{FF2B5EF4-FFF2-40B4-BE49-F238E27FC236}">
                <a16:creationId xmlns:a16="http://schemas.microsoft.com/office/drawing/2014/main" id="{417E97FA-5D6B-43B9-8AE8-C9A06FABA0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13972" y="5001466"/>
            <a:ext cx="3028950" cy="1514475"/>
          </a:xfrm>
          <a:prstGeom prst="rect">
            <a:avLst/>
          </a:prstGeom>
        </p:spPr>
      </p:pic>
      <p:grpSp>
        <p:nvGrpSpPr>
          <p:cNvPr id="8" name="Group 7">
            <a:extLst>
              <a:ext uri="{FF2B5EF4-FFF2-40B4-BE49-F238E27FC236}">
                <a16:creationId xmlns:a16="http://schemas.microsoft.com/office/drawing/2014/main" id="{4205C264-7ADF-4471-B6A3-9D96A1814A4F}"/>
              </a:ext>
            </a:extLst>
          </p:cNvPr>
          <p:cNvGrpSpPr/>
          <p:nvPr/>
        </p:nvGrpSpPr>
        <p:grpSpPr>
          <a:xfrm>
            <a:off x="0" y="0"/>
            <a:ext cx="12192000" cy="7550727"/>
            <a:chOff x="0" y="0"/>
            <a:chExt cx="12192000" cy="7550727"/>
          </a:xfrm>
          <a:solidFill>
            <a:srgbClr val="EEBE74"/>
          </a:solidFill>
        </p:grpSpPr>
        <p:sp>
          <p:nvSpPr>
            <p:cNvPr id="9" name="Rectangle 8">
              <a:extLst>
                <a:ext uri="{FF2B5EF4-FFF2-40B4-BE49-F238E27FC236}">
                  <a16:creationId xmlns:a16="http://schemas.microsoft.com/office/drawing/2014/main" id="{50B10B3B-0C32-4ED6-B4BD-C9DAB5EFE2EE}"/>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0" name="Rectangle: Top Corners Rounded 9">
              <a:extLst>
                <a:ext uri="{FF2B5EF4-FFF2-40B4-BE49-F238E27FC236}">
                  <a16:creationId xmlns:a16="http://schemas.microsoft.com/office/drawing/2014/main" id="{DDD1A382-563B-4F30-B2DB-651CF5C32B06}"/>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1" name="TextBox 10">
              <a:extLst>
                <a:ext uri="{FF2B5EF4-FFF2-40B4-BE49-F238E27FC236}">
                  <a16:creationId xmlns:a16="http://schemas.microsoft.com/office/drawing/2014/main" id="{E420310F-C9B1-4943-A2A4-9ECFAD758154}"/>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2</a:t>
              </a:r>
              <a:endParaRPr lang="fa-IR" sz="4000" b="1" dirty="0">
                <a:latin typeface="Tw Cen MT" panose="020B0602020104020603" pitchFamily="34" charset="0"/>
              </a:endParaRPr>
            </a:p>
          </p:txBody>
        </p:sp>
      </p:grpSp>
      <p:sp>
        <p:nvSpPr>
          <p:cNvPr id="2" name="TextBox 1">
            <a:extLst>
              <a:ext uri="{FF2B5EF4-FFF2-40B4-BE49-F238E27FC236}">
                <a16:creationId xmlns:a16="http://schemas.microsoft.com/office/drawing/2014/main" id="{F0D16695-A398-4BA7-896D-B58BB64F3F6C}"/>
              </a:ext>
            </a:extLst>
          </p:cNvPr>
          <p:cNvSpPr txBox="1"/>
          <p:nvPr/>
        </p:nvSpPr>
        <p:spPr>
          <a:xfrm>
            <a:off x="67145" y="2259752"/>
            <a:ext cx="2694383" cy="2246769"/>
          </a:xfrm>
          <a:prstGeom prst="rect">
            <a:avLst/>
          </a:prstGeom>
          <a:noFill/>
        </p:spPr>
        <p:txBody>
          <a:bodyPr wrap="square" rtlCol="1">
            <a:spAutoFit/>
          </a:bodyPr>
          <a:lstStyle/>
          <a:p>
            <a:pPr algn="r"/>
            <a:r>
              <a:rPr lang="fa-IR" sz="2000" dirty="0">
                <a:cs typeface="2  Nazanin" panose="00000400000000000000" pitchFamily="2" charset="-78"/>
              </a:rPr>
              <a:t>راه پله</a:t>
            </a:r>
          </a:p>
          <a:p>
            <a:pPr algn="r"/>
            <a:r>
              <a:rPr lang="fa-IR" sz="2000" dirty="0">
                <a:cs typeface="2  Nazanin" panose="00000400000000000000" pitchFamily="2" charset="-78"/>
              </a:rPr>
              <a:t>تخته راه پله: از چوب ماسيو يا چندسازه چوب پلاستيك ميباشد. </a:t>
            </a:r>
          </a:p>
          <a:p>
            <a:pPr algn="r"/>
            <a:r>
              <a:rPr lang="fa-IR" sz="2000" dirty="0">
                <a:cs typeface="2  Nazanin" panose="00000400000000000000" pitchFamily="2" charset="-78"/>
              </a:rPr>
              <a:t>ب- جانپناه (نرده-دستگيره): از چوب ماسيو يا چندسازه چوب پلاستيك ميباشد</a:t>
            </a:r>
          </a:p>
        </p:txBody>
      </p:sp>
      <p:pic>
        <p:nvPicPr>
          <p:cNvPr id="22" name="Picture 21">
            <a:extLst>
              <a:ext uri="{FF2B5EF4-FFF2-40B4-BE49-F238E27FC236}">
                <a16:creationId xmlns:a16="http://schemas.microsoft.com/office/drawing/2014/main" id="{8E13F3CB-7833-40B5-8996-7FA4BC60F7E2}"/>
              </a:ext>
            </a:extLst>
          </p:cNvPr>
          <p:cNvPicPr>
            <a:picLocks noChangeAspect="1"/>
          </p:cNvPicPr>
          <p:nvPr/>
        </p:nvPicPr>
        <p:blipFill rotWithShape="1">
          <a:blip r:embed="rId6">
            <a:extLst>
              <a:ext uri="{28A0092B-C50C-407E-A947-70E740481C1C}">
                <a14:useLocalDpi xmlns:a14="http://schemas.microsoft.com/office/drawing/2010/main" val="0"/>
              </a:ext>
            </a:extLst>
          </a:blip>
          <a:srcRect l="14338" t="3609" r="21168"/>
          <a:stretch/>
        </p:blipFill>
        <p:spPr>
          <a:xfrm>
            <a:off x="196455" y="4711835"/>
            <a:ext cx="2373584" cy="1787599"/>
          </a:xfrm>
          <a:prstGeom prst="rect">
            <a:avLst/>
          </a:prstGeom>
        </p:spPr>
      </p:pic>
      <p:sp>
        <p:nvSpPr>
          <p:cNvPr id="33" name="TextBox 32">
            <a:extLst>
              <a:ext uri="{FF2B5EF4-FFF2-40B4-BE49-F238E27FC236}">
                <a16:creationId xmlns:a16="http://schemas.microsoft.com/office/drawing/2014/main" id="{5477481B-0C2A-4452-840E-B6081F1EBB16}"/>
              </a:ext>
            </a:extLst>
          </p:cNvPr>
          <p:cNvSpPr txBox="1"/>
          <p:nvPr/>
        </p:nvSpPr>
        <p:spPr>
          <a:xfrm>
            <a:off x="2914960" y="2291358"/>
            <a:ext cx="2694383" cy="2308324"/>
          </a:xfrm>
          <a:prstGeom prst="rect">
            <a:avLst/>
          </a:prstGeom>
          <a:noFill/>
        </p:spPr>
        <p:txBody>
          <a:bodyPr wrap="square" rtlCol="1">
            <a:spAutoFit/>
          </a:bodyPr>
          <a:lstStyle/>
          <a:p>
            <a:pPr algn="r"/>
            <a:r>
              <a:rPr lang="fa-IR" sz="2400" dirty="0">
                <a:cs typeface="2  Nazanin" panose="00000400000000000000" pitchFamily="2" charset="-78"/>
              </a:rPr>
              <a:t>در و پنجره</a:t>
            </a:r>
          </a:p>
          <a:p>
            <a:pPr algn="r"/>
            <a:r>
              <a:rPr lang="fa-IR" sz="2400" dirty="0">
                <a:cs typeface="2  Nazanin" panose="00000400000000000000" pitchFamily="2" charset="-78"/>
              </a:rPr>
              <a:t>در و پنجره چوبي: درهاي چوبي به شكل تكلنگه، چندلنگه قابلمـهاي يـا سـاده و شيشه دار يا بدون شيشه توليد ميشوند. </a:t>
            </a:r>
          </a:p>
        </p:txBody>
      </p:sp>
      <p:pic>
        <p:nvPicPr>
          <p:cNvPr id="30" name="Picture 29">
            <a:extLst>
              <a:ext uri="{FF2B5EF4-FFF2-40B4-BE49-F238E27FC236}">
                <a16:creationId xmlns:a16="http://schemas.microsoft.com/office/drawing/2014/main" id="{7FA72550-77FF-4E0D-8381-953633E7881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5433" y="4757846"/>
            <a:ext cx="2762250" cy="1657350"/>
          </a:xfrm>
          <a:prstGeom prst="rect">
            <a:avLst/>
          </a:prstGeom>
        </p:spPr>
      </p:pic>
      <p:sp>
        <p:nvSpPr>
          <p:cNvPr id="35" name="TextBox 34">
            <a:extLst>
              <a:ext uri="{FF2B5EF4-FFF2-40B4-BE49-F238E27FC236}">
                <a16:creationId xmlns:a16="http://schemas.microsoft.com/office/drawing/2014/main" id="{607B3A19-87AD-4245-AA90-AA80F8961182}"/>
              </a:ext>
            </a:extLst>
          </p:cNvPr>
          <p:cNvSpPr txBox="1"/>
          <p:nvPr/>
        </p:nvSpPr>
        <p:spPr>
          <a:xfrm>
            <a:off x="5999291" y="2361183"/>
            <a:ext cx="2694383" cy="1938992"/>
          </a:xfrm>
          <a:prstGeom prst="rect">
            <a:avLst/>
          </a:prstGeom>
          <a:noFill/>
        </p:spPr>
        <p:txBody>
          <a:bodyPr wrap="square" rtlCol="1">
            <a:spAutoFit/>
          </a:bodyPr>
          <a:lstStyle/>
          <a:p>
            <a:pPr algn="r"/>
            <a:r>
              <a:rPr lang="fa-IR" sz="2400" dirty="0">
                <a:cs typeface="2  Nazanin" panose="00000400000000000000" pitchFamily="2" charset="-78"/>
              </a:rPr>
              <a:t>تزیینات داخلی</a:t>
            </a:r>
          </a:p>
          <a:p>
            <a:pPr algn="r"/>
            <a:r>
              <a:rPr lang="fa-IR" sz="2400" dirty="0">
                <a:cs typeface="2  Nazanin" panose="00000400000000000000" pitchFamily="2" charset="-78"/>
              </a:rPr>
              <a:t>تزئينات داخلي: حسب نظر طراح دكوراسيون داخلي بـا مصـالح چـوب پايـه اجـرا</a:t>
            </a:r>
          </a:p>
          <a:p>
            <a:pPr algn="r"/>
            <a:r>
              <a:rPr lang="fa-IR" sz="2400" dirty="0">
                <a:cs typeface="2  Nazanin" panose="00000400000000000000" pitchFamily="2" charset="-78"/>
              </a:rPr>
              <a:t>ميشود</a:t>
            </a:r>
          </a:p>
        </p:txBody>
      </p:sp>
      <p:sp>
        <p:nvSpPr>
          <p:cNvPr id="37" name="TextBox 36">
            <a:extLst>
              <a:ext uri="{FF2B5EF4-FFF2-40B4-BE49-F238E27FC236}">
                <a16:creationId xmlns:a16="http://schemas.microsoft.com/office/drawing/2014/main" id="{E743B3F9-5D11-46C0-AE32-0E01CCA379A9}"/>
              </a:ext>
            </a:extLst>
          </p:cNvPr>
          <p:cNvSpPr txBox="1"/>
          <p:nvPr/>
        </p:nvSpPr>
        <p:spPr>
          <a:xfrm>
            <a:off x="9059851" y="2223830"/>
            <a:ext cx="2694383" cy="2677656"/>
          </a:xfrm>
          <a:prstGeom prst="rect">
            <a:avLst/>
          </a:prstGeom>
          <a:noFill/>
        </p:spPr>
        <p:txBody>
          <a:bodyPr wrap="square" rtlCol="1">
            <a:spAutoFit/>
          </a:bodyPr>
          <a:lstStyle/>
          <a:p>
            <a:pPr algn="r"/>
            <a:r>
              <a:rPr lang="fa-IR" sz="2400" dirty="0">
                <a:cs typeface="2  Nazanin" panose="00000400000000000000" pitchFamily="2" charset="-78"/>
              </a:rPr>
              <a:t>مواد و مصالح اتصال دهنده</a:t>
            </a:r>
          </a:p>
          <a:p>
            <a:pPr algn="r"/>
            <a:r>
              <a:rPr lang="fa-IR" sz="2400" dirty="0">
                <a:cs typeface="2  Nazanin" panose="00000400000000000000" pitchFamily="2" charset="-78"/>
              </a:rPr>
              <a:t>واد و مصالح اتصال دهنده و نصب: مواد و مصالح اتصـال دهنـده و نصـب شـامل</a:t>
            </a:r>
          </a:p>
          <a:p>
            <a:pPr algn="r"/>
            <a:r>
              <a:rPr lang="fa-IR" sz="2400" dirty="0">
                <a:cs typeface="2  Nazanin" panose="00000400000000000000" pitchFamily="2" charset="-78"/>
              </a:rPr>
              <a:t>ميخ، پيچ، بستها است كه در فصلهاي مربوط به فلزات آورده شده است.</a:t>
            </a:r>
          </a:p>
        </p:txBody>
      </p:sp>
      <p:pic>
        <p:nvPicPr>
          <p:cNvPr id="38" name="Picture 37">
            <a:extLst>
              <a:ext uri="{FF2B5EF4-FFF2-40B4-BE49-F238E27FC236}">
                <a16:creationId xmlns:a16="http://schemas.microsoft.com/office/drawing/2014/main" id="{D292F97C-F07E-4A02-B778-6662417E7586}"/>
              </a:ext>
            </a:extLst>
          </p:cNvPr>
          <p:cNvPicPr>
            <a:picLocks noChangeAspect="1"/>
          </p:cNvPicPr>
          <p:nvPr/>
        </p:nvPicPr>
        <p:blipFill rotWithShape="1">
          <a:blip r:embed="rId8">
            <a:extLst>
              <a:ext uri="{28A0092B-C50C-407E-A947-70E740481C1C}">
                <a14:useLocalDpi xmlns:a14="http://schemas.microsoft.com/office/drawing/2010/main" val="0"/>
              </a:ext>
            </a:extLst>
          </a:blip>
          <a:srcRect r="8254" b="9158"/>
          <a:stretch/>
        </p:blipFill>
        <p:spPr>
          <a:xfrm>
            <a:off x="6087662" y="4589086"/>
            <a:ext cx="2895846" cy="1910348"/>
          </a:xfrm>
          <a:prstGeom prst="rect">
            <a:avLst/>
          </a:prstGeom>
        </p:spPr>
      </p:pic>
      <p:pic>
        <p:nvPicPr>
          <p:cNvPr id="40" name="Picture 39">
            <a:extLst>
              <a:ext uri="{FF2B5EF4-FFF2-40B4-BE49-F238E27FC236}">
                <a16:creationId xmlns:a16="http://schemas.microsoft.com/office/drawing/2014/main" id="{838FA182-2BE5-40B3-A1DB-D45004F14DD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75712" y="4818389"/>
            <a:ext cx="1964030" cy="1964030"/>
          </a:xfrm>
          <a:prstGeom prst="rect">
            <a:avLst/>
          </a:prstGeom>
        </p:spPr>
      </p:pic>
      <p:grpSp>
        <p:nvGrpSpPr>
          <p:cNvPr id="12" name="Group 11">
            <a:extLst>
              <a:ext uri="{FF2B5EF4-FFF2-40B4-BE49-F238E27FC236}">
                <a16:creationId xmlns:a16="http://schemas.microsoft.com/office/drawing/2014/main" id="{15A4D828-C5F6-4A28-804D-9AB280CE04AD}"/>
              </a:ext>
            </a:extLst>
          </p:cNvPr>
          <p:cNvGrpSpPr/>
          <p:nvPr/>
        </p:nvGrpSpPr>
        <p:grpSpPr>
          <a:xfrm>
            <a:off x="-8338" y="0"/>
            <a:ext cx="12192000" cy="7550727"/>
            <a:chOff x="0" y="0"/>
            <a:chExt cx="12192000" cy="7550727"/>
          </a:xfrm>
          <a:solidFill>
            <a:srgbClr val="E88A88"/>
          </a:solidFill>
        </p:grpSpPr>
        <p:sp>
          <p:nvSpPr>
            <p:cNvPr id="13" name="Rectangle 12">
              <a:extLst>
                <a:ext uri="{FF2B5EF4-FFF2-40B4-BE49-F238E27FC236}">
                  <a16:creationId xmlns:a16="http://schemas.microsoft.com/office/drawing/2014/main" id="{A7668592-ECB0-4977-9395-E766144AF580}"/>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14" name="Rectangle: Top Corners Rounded 13">
              <a:extLst>
                <a:ext uri="{FF2B5EF4-FFF2-40B4-BE49-F238E27FC236}">
                  <a16:creationId xmlns:a16="http://schemas.microsoft.com/office/drawing/2014/main" id="{0CCED6CC-7750-4A84-A8BD-166483C06D34}"/>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5" name="TextBox 14">
              <a:extLst>
                <a:ext uri="{FF2B5EF4-FFF2-40B4-BE49-F238E27FC236}">
                  <a16:creationId xmlns:a16="http://schemas.microsoft.com/office/drawing/2014/main" id="{16B330A9-DFA0-4645-A0CB-5B7328D884C0}"/>
                </a:ext>
              </a:extLst>
            </p:cNvPr>
            <p:cNvSpPr txBox="1"/>
            <p:nvPr/>
          </p:nvSpPr>
          <p:spPr>
            <a:xfrm>
              <a:off x="5424053" y="6836566"/>
              <a:ext cx="1343891" cy="707886"/>
            </a:xfrm>
            <a:prstGeom prst="rect">
              <a:avLst/>
            </a:prstGeom>
            <a:grpFill/>
          </p:spPr>
          <p:txBody>
            <a:bodyPr wrap="square" rtlCol="1">
              <a:spAutoFit/>
            </a:bodyPr>
            <a:lstStyle/>
            <a:p>
              <a:pPr algn="ctr"/>
              <a:r>
                <a:rPr lang="en-US" sz="4000" b="1" dirty="0">
                  <a:latin typeface="Tw Cen MT" panose="020B0602020104020603" pitchFamily="34" charset="0"/>
                </a:rPr>
                <a:t>3</a:t>
              </a:r>
              <a:endParaRPr lang="fa-IR" sz="4000" b="1" dirty="0">
                <a:latin typeface="Tw Cen MT" panose="020B0602020104020603" pitchFamily="34" charset="0"/>
              </a:endParaRPr>
            </a:p>
          </p:txBody>
        </p:sp>
      </p:grpSp>
      <p:sp>
        <p:nvSpPr>
          <p:cNvPr id="19" name="TextBox 18">
            <a:extLst>
              <a:ext uri="{FF2B5EF4-FFF2-40B4-BE49-F238E27FC236}">
                <a16:creationId xmlns:a16="http://schemas.microsoft.com/office/drawing/2014/main" id="{493724F7-E70E-4203-95AA-CC288A2F4D33}"/>
              </a:ext>
            </a:extLst>
          </p:cNvPr>
          <p:cNvSpPr txBox="1"/>
          <p:nvPr/>
        </p:nvSpPr>
        <p:spPr>
          <a:xfrm>
            <a:off x="6087662" y="1557867"/>
            <a:ext cx="5883761" cy="2554545"/>
          </a:xfrm>
          <a:prstGeom prst="rect">
            <a:avLst/>
          </a:prstGeom>
          <a:noFill/>
        </p:spPr>
        <p:txBody>
          <a:bodyPr wrap="square" rtlCol="1">
            <a:spAutoFit/>
          </a:bodyPr>
          <a:lstStyle/>
          <a:p>
            <a:pPr algn="r"/>
            <a:r>
              <a:rPr lang="fa-IR" sz="2000" b="1" dirty="0">
                <a:cs typeface="2  Nazanin" panose="00000400000000000000" pitchFamily="2" charset="-78"/>
              </a:rPr>
              <a:t>ازمایش ها </a:t>
            </a:r>
          </a:p>
          <a:p>
            <a:pPr algn="r"/>
            <a:r>
              <a:rPr lang="fa-IR" sz="2400" dirty="0">
                <a:cs typeface="2  Nazanin" panose="00000400000000000000" pitchFamily="2" charset="-78"/>
              </a:rPr>
              <a:t>آزمايشهاي استاندارد چوب عبارت است از: اندازهگيري معايب چوبهاي بريده شده، تعيين مقاومـت طبيعي چوب در برابـر فسـاد، جـذب آب، تـورمپـذيري، مقاومـت خمشـي، كششـي، فشـاري، مـدول الاستيسيته، استحكام سطح، تعيين انبساط و انقباض</a:t>
            </a:r>
            <a:endParaRPr lang="en-US" sz="2400" dirty="0">
              <a:cs typeface="2  Nazanin" panose="00000400000000000000" pitchFamily="2" charset="-78"/>
            </a:endParaRPr>
          </a:p>
          <a:p>
            <a:pPr algn="r"/>
            <a:endParaRPr lang="fa-IR" sz="2000" dirty="0">
              <a:cs typeface="2  Nazanin" panose="00000400000000000000" pitchFamily="2" charset="-78"/>
            </a:endParaRPr>
          </a:p>
        </p:txBody>
      </p:sp>
      <p:sp>
        <p:nvSpPr>
          <p:cNvPr id="27" name="TextBox 26">
            <a:extLst>
              <a:ext uri="{FF2B5EF4-FFF2-40B4-BE49-F238E27FC236}">
                <a16:creationId xmlns:a16="http://schemas.microsoft.com/office/drawing/2014/main" id="{47F3F36D-8E22-4294-B34B-D85FB610A5C5}"/>
              </a:ext>
            </a:extLst>
          </p:cNvPr>
          <p:cNvSpPr txBox="1"/>
          <p:nvPr/>
        </p:nvSpPr>
        <p:spPr>
          <a:xfrm>
            <a:off x="6167728" y="3975578"/>
            <a:ext cx="5831787" cy="2308324"/>
          </a:xfrm>
          <a:prstGeom prst="rect">
            <a:avLst/>
          </a:prstGeom>
          <a:noFill/>
        </p:spPr>
        <p:txBody>
          <a:bodyPr wrap="square" rtlCol="1">
            <a:spAutoFit/>
          </a:bodyPr>
          <a:lstStyle/>
          <a:p>
            <a:pPr algn="r"/>
            <a:r>
              <a:rPr lang="fa-IR" sz="2400" b="1" dirty="0">
                <a:cs typeface="2  Nazanin" panose="00000400000000000000" pitchFamily="2" charset="-78"/>
              </a:rPr>
              <a:t>نگهداری چوب</a:t>
            </a:r>
          </a:p>
          <a:p>
            <a:pPr algn="r"/>
            <a:r>
              <a:rPr lang="fa-IR" sz="2400" dirty="0">
                <a:cs typeface="2  Nazanin" panose="00000400000000000000" pitchFamily="2" charset="-78"/>
              </a:rPr>
              <a:t>چوب بايد در انبار به صورتي نگهداري شود كه ويژگـيهـاي آن تغييـر نكنـد و از عوامـل آسيب رسان دور باشد. </a:t>
            </a:r>
          </a:p>
          <a:p>
            <a:pPr algn="r"/>
            <a:r>
              <a:rPr lang="fa-IR" sz="2400" dirty="0">
                <a:cs typeface="2  Nazanin" panose="00000400000000000000" pitchFamily="2" charset="-78"/>
              </a:rPr>
              <a:t>انبار مواد چوبي بايد از آتش محافظت شود و از مواد قابل اشتعال دور و مجهز به سيستمهاي علام و اطفاي حريق باشد. </a:t>
            </a:r>
          </a:p>
          <a:p>
            <a:pPr algn="r"/>
            <a:r>
              <a:rPr lang="fa-IR" sz="2400" dirty="0">
                <a:cs typeface="2  Nazanin" panose="00000400000000000000" pitchFamily="2" charset="-78"/>
              </a:rPr>
              <a:t> چوب بايد در برابر حشرات، آتش و رطوبت محافظت شود</a:t>
            </a:r>
            <a:r>
              <a:rPr lang="fa-IR" sz="2000" dirty="0"/>
              <a:t>.</a:t>
            </a:r>
          </a:p>
        </p:txBody>
      </p:sp>
      <p:pic>
        <p:nvPicPr>
          <p:cNvPr id="39" name="Picture 38">
            <a:extLst>
              <a:ext uri="{FF2B5EF4-FFF2-40B4-BE49-F238E27FC236}">
                <a16:creationId xmlns:a16="http://schemas.microsoft.com/office/drawing/2014/main" id="{A07F45DC-F030-413F-A336-9AE26BC44C7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56825" y="878195"/>
            <a:ext cx="2908864" cy="1935717"/>
          </a:xfrm>
          <a:prstGeom prst="rect">
            <a:avLst/>
          </a:prstGeom>
        </p:spPr>
      </p:pic>
      <p:pic>
        <p:nvPicPr>
          <p:cNvPr id="44" name="Picture 43">
            <a:extLst>
              <a:ext uri="{FF2B5EF4-FFF2-40B4-BE49-F238E27FC236}">
                <a16:creationId xmlns:a16="http://schemas.microsoft.com/office/drawing/2014/main" id="{5525A9E0-3197-4C65-B847-07E2219F377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34356" y="2980064"/>
            <a:ext cx="5524500" cy="3676650"/>
          </a:xfrm>
          <a:prstGeom prst="rect">
            <a:avLst/>
          </a:prstGeom>
        </p:spPr>
      </p:pic>
      <p:grpSp>
        <p:nvGrpSpPr>
          <p:cNvPr id="23" name="Group 22">
            <a:extLst>
              <a:ext uri="{FF2B5EF4-FFF2-40B4-BE49-F238E27FC236}">
                <a16:creationId xmlns:a16="http://schemas.microsoft.com/office/drawing/2014/main" id="{CE9F4577-2F48-44A4-957B-59D6407693D0}"/>
              </a:ext>
            </a:extLst>
          </p:cNvPr>
          <p:cNvGrpSpPr/>
          <p:nvPr/>
        </p:nvGrpSpPr>
        <p:grpSpPr>
          <a:xfrm>
            <a:off x="-8370" y="21434"/>
            <a:ext cx="12192000" cy="7550727"/>
            <a:chOff x="0" y="0"/>
            <a:chExt cx="12192000" cy="7550727"/>
          </a:xfrm>
          <a:solidFill>
            <a:srgbClr val="6DB19A"/>
          </a:solidFill>
        </p:grpSpPr>
        <p:sp>
          <p:nvSpPr>
            <p:cNvPr id="24" name="Rectangle 23">
              <a:extLst>
                <a:ext uri="{FF2B5EF4-FFF2-40B4-BE49-F238E27FC236}">
                  <a16:creationId xmlns:a16="http://schemas.microsoft.com/office/drawing/2014/main" id="{C2EA93C7-17FE-4B8C-AF7F-39AA2E61576D}"/>
                </a:ext>
              </a:extLst>
            </p:cNvPr>
            <p:cNvSpPr/>
            <p:nvPr/>
          </p:nvSpPr>
          <p:spPr>
            <a:xfrm>
              <a:off x="0" y="0"/>
              <a:ext cx="12192000" cy="685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dirty="0"/>
            </a:p>
          </p:txBody>
        </p:sp>
        <p:sp>
          <p:nvSpPr>
            <p:cNvPr id="25" name="Rectangle: Top Corners Rounded 24">
              <a:extLst>
                <a:ext uri="{FF2B5EF4-FFF2-40B4-BE49-F238E27FC236}">
                  <a16:creationId xmlns:a16="http://schemas.microsoft.com/office/drawing/2014/main" id="{DCA7E19C-39EC-4811-80A8-93C9069018A1}"/>
                </a:ext>
              </a:extLst>
            </p:cNvPr>
            <p:cNvSpPr/>
            <p:nvPr/>
          </p:nvSpPr>
          <p:spPr>
            <a:xfrm rot="10800000">
              <a:off x="5257800" y="6608618"/>
              <a:ext cx="1676400" cy="942109"/>
            </a:xfrm>
            <a:prstGeom prst="round2Same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6" name="TextBox 25">
              <a:extLst>
                <a:ext uri="{FF2B5EF4-FFF2-40B4-BE49-F238E27FC236}">
                  <a16:creationId xmlns:a16="http://schemas.microsoft.com/office/drawing/2014/main" id="{A4E54D7B-D43D-4597-AFCF-F5A4BE31856D}"/>
                </a:ext>
              </a:extLst>
            </p:cNvPr>
            <p:cNvSpPr txBox="1"/>
            <p:nvPr/>
          </p:nvSpPr>
          <p:spPr>
            <a:xfrm>
              <a:off x="5424053" y="6836566"/>
              <a:ext cx="1343891" cy="707886"/>
            </a:xfrm>
            <a:prstGeom prst="rect">
              <a:avLst/>
            </a:prstGeom>
            <a:grpFill/>
            <a:ln>
              <a:noFill/>
            </a:ln>
          </p:spPr>
          <p:txBody>
            <a:bodyPr wrap="square" rtlCol="1">
              <a:spAutoFit/>
            </a:bodyPr>
            <a:lstStyle/>
            <a:p>
              <a:pPr algn="ctr"/>
              <a:r>
                <a:rPr lang="en-US" sz="4000" b="1" dirty="0">
                  <a:latin typeface="Tw Cen MT" panose="020B0602020104020603" pitchFamily="34" charset="0"/>
                </a:rPr>
                <a:t>4</a:t>
              </a:r>
              <a:endParaRPr lang="fa-IR" sz="4000" b="1" dirty="0">
                <a:latin typeface="Tw Cen MT" panose="020B0602020104020603" pitchFamily="34" charset="0"/>
              </a:endParaRPr>
            </a:p>
          </p:txBody>
        </p:sp>
      </p:grpSp>
      <p:sp>
        <p:nvSpPr>
          <p:cNvPr id="34" name="TextBox 33">
            <a:extLst>
              <a:ext uri="{FF2B5EF4-FFF2-40B4-BE49-F238E27FC236}">
                <a16:creationId xmlns:a16="http://schemas.microsoft.com/office/drawing/2014/main" id="{8B3A8FCD-2002-48C9-9C8C-536DE59736F9}"/>
              </a:ext>
            </a:extLst>
          </p:cNvPr>
          <p:cNvSpPr txBox="1"/>
          <p:nvPr/>
        </p:nvSpPr>
        <p:spPr>
          <a:xfrm>
            <a:off x="5423321" y="509264"/>
            <a:ext cx="6219601" cy="2677656"/>
          </a:xfrm>
          <a:prstGeom prst="rect">
            <a:avLst/>
          </a:prstGeom>
          <a:noFill/>
        </p:spPr>
        <p:txBody>
          <a:bodyPr wrap="square" rtlCol="1">
            <a:spAutoFit/>
          </a:bodyPr>
          <a:lstStyle/>
          <a:p>
            <a:pPr algn="r"/>
            <a:r>
              <a:rPr lang="fa-IR" sz="2400" dirty="0">
                <a:cs typeface="2  Nazanin" panose="00000400000000000000" pitchFamily="2" charset="-78"/>
              </a:rPr>
              <a:t>ویژگی ها</a:t>
            </a:r>
          </a:p>
          <a:p>
            <a:pPr algn="r"/>
            <a:r>
              <a:rPr lang="fa-IR" sz="2400" dirty="0">
                <a:cs typeface="2  Nazanin" panose="00000400000000000000" pitchFamily="2" charset="-78"/>
              </a:rPr>
              <a:t>چوبي كه در صنعت ساختمان به كار برود، ميتواند معايب رشد را در حد مجاز درجـه كيفيت تعيين شده مربوط داشته باشد. ليكن لازم است عاري از معايب خشك شدن (ترك، شان عسلي،كاس و سينه، تابيدگي و كماني شده) رگه هاي معدني و شيره گياهي باشد. انواع معايب چـوب و حـدود قابل قبول آنها در استاندارد ملي ايران باشد</a:t>
            </a:r>
          </a:p>
        </p:txBody>
      </p:sp>
      <p:pic>
        <p:nvPicPr>
          <p:cNvPr id="42" name="Picture 41">
            <a:extLst>
              <a:ext uri="{FF2B5EF4-FFF2-40B4-BE49-F238E27FC236}">
                <a16:creationId xmlns:a16="http://schemas.microsoft.com/office/drawing/2014/main" id="{6361F328-6E7D-4167-97C5-8189574E0AA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27701" y="335991"/>
            <a:ext cx="4928654" cy="3279795"/>
          </a:xfrm>
          <a:prstGeom prst="rect">
            <a:avLst/>
          </a:prstGeom>
        </p:spPr>
      </p:pic>
      <p:pic>
        <p:nvPicPr>
          <p:cNvPr id="45" name="Picture 44">
            <a:extLst>
              <a:ext uri="{FF2B5EF4-FFF2-40B4-BE49-F238E27FC236}">
                <a16:creationId xmlns:a16="http://schemas.microsoft.com/office/drawing/2014/main" id="{AFA58338-F4F0-4E78-83CF-08C07FF450AE}"/>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373544" y="3309296"/>
            <a:ext cx="6573521" cy="3374408"/>
          </a:xfrm>
          <a:prstGeom prst="rect">
            <a:avLst/>
          </a:prstGeom>
        </p:spPr>
      </p:pic>
      <p:sp>
        <p:nvSpPr>
          <p:cNvPr id="41" name="TextBox 40">
            <a:extLst>
              <a:ext uri="{FF2B5EF4-FFF2-40B4-BE49-F238E27FC236}">
                <a16:creationId xmlns:a16="http://schemas.microsoft.com/office/drawing/2014/main" id="{0036AA62-2BBE-450F-9C61-60513B092F32}"/>
              </a:ext>
            </a:extLst>
          </p:cNvPr>
          <p:cNvSpPr txBox="1"/>
          <p:nvPr/>
        </p:nvSpPr>
        <p:spPr>
          <a:xfrm>
            <a:off x="244278" y="3969178"/>
            <a:ext cx="4995660" cy="2308324"/>
          </a:xfrm>
          <a:prstGeom prst="rect">
            <a:avLst/>
          </a:prstGeom>
          <a:noFill/>
        </p:spPr>
        <p:txBody>
          <a:bodyPr wrap="square" rtlCol="1">
            <a:spAutoFit/>
          </a:bodyPr>
          <a:lstStyle/>
          <a:p>
            <a:pPr algn="r"/>
            <a:r>
              <a:rPr lang="fa-IR" sz="2400" dirty="0">
                <a:cs typeface="2  Nazanin" panose="00000400000000000000" pitchFamily="2" charset="-78"/>
              </a:rPr>
              <a:t>سطح رويـه درهـا بايد هموار و بدون فرورفتگي، برجستگي و پيچيدگي باشد.درهاي ساخته شده، پس از برش نهـايي،گونيا باشند. </a:t>
            </a:r>
          </a:p>
          <a:p>
            <a:pPr algn="r"/>
            <a:r>
              <a:rPr lang="fa-IR" sz="2400" dirty="0">
                <a:cs typeface="2  Nazanin" panose="00000400000000000000" pitchFamily="2" charset="-78"/>
              </a:rPr>
              <a:t>پنجره هاي چوبي بايد از الوارهايي به ضخامت معين ساخته شود، تا پس از رنده كردن آنها، ضخامتهاي استاندارد به دست آيد </a:t>
            </a:r>
          </a:p>
        </p:txBody>
      </p:sp>
    </p:spTree>
    <p:extLst>
      <p:ext uri="{BB962C8B-B14F-4D97-AF65-F5344CB8AC3E}">
        <p14:creationId xmlns:p14="http://schemas.microsoft.com/office/powerpoint/2010/main" val="337285664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10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par>
                          <p:cTn id="15" fill="hold">
                            <p:stCondLst>
                              <p:cond delay="500"/>
                            </p:stCondLst>
                            <p:childTnLst>
                              <p:par>
                                <p:cTn id="16" presetID="2" presetClass="entr" presetSubtype="4"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additive="base">
                                        <p:cTn id="18" dur="1250" fill="hold"/>
                                        <p:tgtEl>
                                          <p:spTgt spid="20"/>
                                        </p:tgtEl>
                                        <p:attrNameLst>
                                          <p:attrName>ppt_x</p:attrName>
                                        </p:attrNameLst>
                                      </p:cBhvr>
                                      <p:tavLst>
                                        <p:tav tm="0">
                                          <p:val>
                                            <p:strVal val="#ppt_x"/>
                                          </p:val>
                                        </p:tav>
                                        <p:tav tm="100000">
                                          <p:val>
                                            <p:strVal val="#ppt_x"/>
                                          </p:val>
                                        </p:tav>
                                      </p:tavLst>
                                    </p:anim>
                                    <p:anim calcmode="lin" valueType="num">
                                      <p:cBhvr additive="base">
                                        <p:cTn id="19" dur="1250" fill="hold"/>
                                        <p:tgtEl>
                                          <p:spTgt spid="20"/>
                                        </p:tgtEl>
                                        <p:attrNameLst>
                                          <p:attrName>ppt_y</p:attrName>
                                        </p:attrNameLst>
                                      </p:cBhvr>
                                      <p:tavLst>
                                        <p:tav tm="0">
                                          <p:val>
                                            <p:strVal val="1+#ppt_h/2"/>
                                          </p:val>
                                        </p:tav>
                                        <p:tav tm="100000">
                                          <p:val>
                                            <p:strVal val="#ppt_y"/>
                                          </p:val>
                                        </p:tav>
                                      </p:tavLst>
                                    </p:anim>
                                  </p:childTnLst>
                                </p:cTn>
                              </p:par>
                            </p:childTnLst>
                          </p:cTn>
                        </p:par>
                        <p:par>
                          <p:cTn id="20" fill="hold">
                            <p:stCondLst>
                              <p:cond delay="1750"/>
                            </p:stCondLst>
                            <p:childTnLst>
                              <p:par>
                                <p:cTn id="21" presetID="22" presetClass="entr" presetSubtype="8"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20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500" fill="hold"/>
                                        <p:tgtEl>
                                          <p:spTgt spid="21"/>
                                        </p:tgtEl>
                                        <p:attrNameLst>
                                          <p:attrName>ppt_w</p:attrName>
                                        </p:attrNameLst>
                                      </p:cBhvr>
                                      <p:tavLst>
                                        <p:tav tm="0">
                                          <p:val>
                                            <p:fltVal val="0"/>
                                          </p:val>
                                        </p:tav>
                                        <p:tav tm="100000">
                                          <p:val>
                                            <p:strVal val="#ppt_w"/>
                                          </p:val>
                                        </p:tav>
                                      </p:tavLst>
                                    </p:anim>
                                    <p:anim calcmode="lin" valueType="num">
                                      <p:cBhvr>
                                        <p:cTn id="29" dur="500" fill="hold"/>
                                        <p:tgtEl>
                                          <p:spTgt spid="21"/>
                                        </p:tgtEl>
                                        <p:attrNameLst>
                                          <p:attrName>ppt_h</p:attrName>
                                        </p:attrNameLst>
                                      </p:cBhvr>
                                      <p:tavLst>
                                        <p:tav tm="0">
                                          <p:val>
                                            <p:fltVal val="0"/>
                                          </p:val>
                                        </p:tav>
                                        <p:tav tm="100000">
                                          <p:val>
                                            <p:strVal val="#ppt_h"/>
                                          </p:val>
                                        </p:tav>
                                      </p:tavLst>
                                    </p:anim>
                                    <p:animEffect transition="in" filter="fade">
                                      <p:cBhvr>
                                        <p:cTn id="30" dur="500"/>
                                        <p:tgtEl>
                                          <p:spTgt spid="21"/>
                                        </p:tgtEl>
                                      </p:cBhvr>
                                    </p:animEffect>
                                  </p:child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1250" fill="hold"/>
                                        <p:tgtEl>
                                          <p:spTgt spid="31"/>
                                        </p:tgtEl>
                                        <p:attrNameLst>
                                          <p:attrName>ppt_x</p:attrName>
                                        </p:attrNameLst>
                                      </p:cBhvr>
                                      <p:tavLst>
                                        <p:tav tm="0">
                                          <p:val>
                                            <p:strVal val="#ppt_x"/>
                                          </p:val>
                                        </p:tav>
                                        <p:tav tm="100000">
                                          <p:val>
                                            <p:strVal val="#ppt_x"/>
                                          </p:val>
                                        </p:tav>
                                      </p:tavLst>
                                    </p:anim>
                                    <p:anim calcmode="lin" valueType="num">
                                      <p:cBhvr additive="base">
                                        <p:cTn id="35" dur="1250" fill="hold"/>
                                        <p:tgtEl>
                                          <p:spTgt spid="31"/>
                                        </p:tgtEl>
                                        <p:attrNameLst>
                                          <p:attrName>ppt_y</p:attrName>
                                        </p:attrNameLst>
                                      </p:cBhvr>
                                      <p:tavLst>
                                        <p:tav tm="0">
                                          <p:val>
                                            <p:strVal val="1+#ppt_h/2"/>
                                          </p:val>
                                        </p:tav>
                                        <p:tav tm="100000">
                                          <p:val>
                                            <p:strVal val="#ppt_y"/>
                                          </p:val>
                                        </p:tav>
                                      </p:tavLst>
                                    </p:anim>
                                  </p:childTnLst>
                                </p:cTn>
                              </p:par>
                            </p:childTnLst>
                          </p:cTn>
                        </p:par>
                        <p:par>
                          <p:cTn id="36" fill="hold">
                            <p:stCondLst>
                              <p:cond delay="1750"/>
                            </p:stCondLst>
                            <p:childTnLst>
                              <p:par>
                                <p:cTn id="37" presetID="22" presetClass="entr" presetSubtype="8" fill="hold" grpId="0" nodeType="after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left)">
                                      <p:cBhvr>
                                        <p:cTn id="39" dur="1500"/>
                                        <p:tgtEl>
                                          <p:spTgt spid="29"/>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p:cTn id="44" dur="500" fill="hold"/>
                                        <p:tgtEl>
                                          <p:spTgt spid="32"/>
                                        </p:tgtEl>
                                        <p:attrNameLst>
                                          <p:attrName>ppt_w</p:attrName>
                                        </p:attrNameLst>
                                      </p:cBhvr>
                                      <p:tavLst>
                                        <p:tav tm="0">
                                          <p:val>
                                            <p:fltVal val="0"/>
                                          </p:val>
                                        </p:tav>
                                        <p:tav tm="100000">
                                          <p:val>
                                            <p:strVal val="#ppt_w"/>
                                          </p:val>
                                        </p:tav>
                                      </p:tavLst>
                                    </p:anim>
                                    <p:anim calcmode="lin" valueType="num">
                                      <p:cBhvr>
                                        <p:cTn id="45" dur="500" fill="hold"/>
                                        <p:tgtEl>
                                          <p:spTgt spid="32"/>
                                        </p:tgtEl>
                                        <p:attrNameLst>
                                          <p:attrName>ppt_h</p:attrName>
                                        </p:attrNameLst>
                                      </p:cBhvr>
                                      <p:tavLst>
                                        <p:tav tm="0">
                                          <p:val>
                                            <p:fltVal val="0"/>
                                          </p:val>
                                        </p:tav>
                                        <p:tav tm="100000">
                                          <p:val>
                                            <p:strVal val="#ppt_h"/>
                                          </p:val>
                                        </p:tav>
                                      </p:tavLst>
                                    </p:anim>
                                    <p:animEffect transition="in" filter="fade">
                                      <p:cBhvr>
                                        <p:cTn id="46" dur="500"/>
                                        <p:tgtEl>
                                          <p:spTgt spid="32"/>
                                        </p:tgtEl>
                                      </p:cBhvr>
                                    </p:animEffect>
                                  </p:childTnLst>
                                </p:cTn>
                              </p:par>
                            </p:childTnLst>
                          </p:cTn>
                        </p:par>
                        <p:par>
                          <p:cTn id="47" fill="hold">
                            <p:stCondLst>
                              <p:cond delay="500"/>
                            </p:stCondLst>
                            <p:childTnLst>
                              <p:par>
                                <p:cTn id="48" presetID="2" presetClass="entr" presetSubtype="4" fill="hold" nodeType="afterEffect">
                                  <p:stCondLst>
                                    <p:cond delay="0"/>
                                  </p:stCondLst>
                                  <p:childTnLst>
                                    <p:set>
                                      <p:cBhvr>
                                        <p:cTn id="49" dur="1" fill="hold">
                                          <p:stCondLst>
                                            <p:cond delay="0"/>
                                          </p:stCondLst>
                                        </p:cTn>
                                        <p:tgtEl>
                                          <p:spTgt spid="36"/>
                                        </p:tgtEl>
                                        <p:attrNameLst>
                                          <p:attrName>style.visibility</p:attrName>
                                        </p:attrNameLst>
                                      </p:cBhvr>
                                      <p:to>
                                        <p:strVal val="visible"/>
                                      </p:to>
                                    </p:set>
                                    <p:anim calcmode="lin" valueType="num">
                                      <p:cBhvr additive="base">
                                        <p:cTn id="50" dur="1250" fill="hold"/>
                                        <p:tgtEl>
                                          <p:spTgt spid="36"/>
                                        </p:tgtEl>
                                        <p:attrNameLst>
                                          <p:attrName>ppt_x</p:attrName>
                                        </p:attrNameLst>
                                      </p:cBhvr>
                                      <p:tavLst>
                                        <p:tav tm="0">
                                          <p:val>
                                            <p:strVal val="#ppt_x"/>
                                          </p:val>
                                        </p:tav>
                                        <p:tav tm="100000">
                                          <p:val>
                                            <p:strVal val="#ppt_x"/>
                                          </p:val>
                                        </p:tav>
                                      </p:tavLst>
                                    </p:anim>
                                    <p:anim calcmode="lin" valueType="num">
                                      <p:cBhvr additive="base">
                                        <p:cTn id="51" dur="125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2" presetClass="entr" presetSubtype="1"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animEffect transition="in" filter="wipe(up)">
                                      <p:cBhvr>
                                        <p:cTn id="56" dur="500"/>
                                        <p:tgtEl>
                                          <p:spTgt spid="33"/>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ppt_x"/>
                                          </p:val>
                                        </p:tav>
                                        <p:tav tm="100000">
                                          <p:val>
                                            <p:strVal val="#ppt_x"/>
                                          </p:val>
                                        </p:tav>
                                      </p:tavLst>
                                    </p:anim>
                                    <p:anim calcmode="lin" valueType="num">
                                      <p:cBhvr additive="base">
                                        <p:cTn id="62"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8"/>
                                        </p:tgtEl>
                                        <p:attrNameLst>
                                          <p:attrName>style.visibility</p:attrName>
                                        </p:attrNameLst>
                                      </p:cBhvr>
                                      <p:to>
                                        <p:strVal val="visible"/>
                                      </p:to>
                                    </p:set>
                                    <p:anim calcmode="lin" valueType="num">
                                      <p:cBhvr additive="base">
                                        <p:cTn id="67" dur="500" fill="hold"/>
                                        <p:tgtEl>
                                          <p:spTgt spid="38"/>
                                        </p:tgtEl>
                                        <p:attrNameLst>
                                          <p:attrName>ppt_x</p:attrName>
                                        </p:attrNameLst>
                                      </p:cBhvr>
                                      <p:tavLst>
                                        <p:tav tm="0">
                                          <p:val>
                                            <p:strVal val="#ppt_x"/>
                                          </p:val>
                                        </p:tav>
                                        <p:tav tm="100000">
                                          <p:val>
                                            <p:strVal val="#ppt_x"/>
                                          </p:val>
                                        </p:tav>
                                      </p:tavLst>
                                    </p:anim>
                                    <p:anim calcmode="lin" valueType="num">
                                      <p:cBhvr additive="base">
                                        <p:cTn id="6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1" nodeType="clickEffect">
                                  <p:stCondLst>
                                    <p:cond delay="0"/>
                                  </p:stCondLst>
                                  <p:childTnLst>
                                    <p:set>
                                      <p:cBhvr>
                                        <p:cTn id="72" dur="1" fill="hold">
                                          <p:stCondLst>
                                            <p:cond delay="0"/>
                                          </p:stCondLst>
                                        </p:cTn>
                                        <p:tgtEl>
                                          <p:spTgt spid="33"/>
                                        </p:tgtEl>
                                        <p:attrNameLst>
                                          <p:attrName>style.visibility</p:attrName>
                                        </p:attrNameLst>
                                      </p:cBhvr>
                                      <p:to>
                                        <p:strVal val="visible"/>
                                      </p:to>
                                    </p:set>
                                    <p:animEffect transition="in" filter="wipe(up)">
                                      <p:cBhvr>
                                        <p:cTn id="73" dur="500"/>
                                        <p:tgtEl>
                                          <p:spTgt spid="33"/>
                                        </p:tgtEl>
                                      </p:cBhvr>
                                    </p:animEffect>
                                  </p:childTnLst>
                                </p:cTn>
                              </p:par>
                            </p:childTnLst>
                          </p:cTn>
                        </p:par>
                      </p:childTnLst>
                    </p:cTn>
                  </p:par>
                  <p:par>
                    <p:cTn id="74" fill="hold">
                      <p:stCondLst>
                        <p:cond delay="indefinite"/>
                      </p:stCondLst>
                      <p:childTnLst>
                        <p:par>
                          <p:cTn id="75" fill="hold">
                            <p:stCondLst>
                              <p:cond delay="0"/>
                            </p:stCondLst>
                            <p:childTnLst>
                              <p:par>
                                <p:cTn id="76" presetID="2" presetClass="entr" presetSubtype="4" fill="hold" nodeType="clickEffect">
                                  <p:stCondLst>
                                    <p:cond delay="0"/>
                                  </p:stCondLst>
                                  <p:childTnLst>
                                    <p:set>
                                      <p:cBhvr>
                                        <p:cTn id="77" dur="1" fill="hold">
                                          <p:stCondLst>
                                            <p:cond delay="0"/>
                                          </p:stCondLst>
                                        </p:cTn>
                                        <p:tgtEl>
                                          <p:spTgt spid="40"/>
                                        </p:tgtEl>
                                        <p:attrNameLst>
                                          <p:attrName>style.visibility</p:attrName>
                                        </p:attrNameLst>
                                      </p:cBhvr>
                                      <p:to>
                                        <p:strVal val="visible"/>
                                      </p:to>
                                    </p:set>
                                    <p:anim calcmode="lin" valueType="num">
                                      <p:cBhvr additive="base">
                                        <p:cTn id="78" dur="500" fill="hold"/>
                                        <p:tgtEl>
                                          <p:spTgt spid="40"/>
                                        </p:tgtEl>
                                        <p:attrNameLst>
                                          <p:attrName>ppt_x</p:attrName>
                                        </p:attrNameLst>
                                      </p:cBhvr>
                                      <p:tavLst>
                                        <p:tav tm="0">
                                          <p:val>
                                            <p:strVal val="#ppt_x"/>
                                          </p:val>
                                        </p:tav>
                                        <p:tav tm="100000">
                                          <p:val>
                                            <p:strVal val="#ppt_x"/>
                                          </p:val>
                                        </p:tav>
                                      </p:tavLst>
                                    </p:anim>
                                    <p:anim calcmode="lin" valueType="num">
                                      <p:cBhvr additive="base">
                                        <p:cTn id="79"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nodeType="click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00" fill="hold"/>
                                        <p:tgtEl>
                                          <p:spTgt spid="22"/>
                                        </p:tgtEl>
                                        <p:attrNameLst>
                                          <p:attrName>ppt_x</p:attrName>
                                        </p:attrNameLst>
                                      </p:cBhvr>
                                      <p:tavLst>
                                        <p:tav tm="0">
                                          <p:val>
                                            <p:strVal val="#ppt_x"/>
                                          </p:val>
                                        </p:tav>
                                        <p:tav tm="100000">
                                          <p:val>
                                            <p:strVal val="#ppt_x"/>
                                          </p:val>
                                        </p:tav>
                                      </p:tavLst>
                                    </p:anim>
                                    <p:anim calcmode="lin" valueType="num">
                                      <p:cBhvr additive="base">
                                        <p:cTn id="8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grpId="0" nodeType="clickEffect">
                                  <p:stCondLst>
                                    <p:cond delay="0"/>
                                  </p:stCondLst>
                                  <p:childTnLst>
                                    <p:set>
                                      <p:cBhvr>
                                        <p:cTn id="89" dur="1" fill="hold">
                                          <p:stCondLst>
                                            <p:cond delay="0"/>
                                          </p:stCondLst>
                                        </p:cTn>
                                        <p:tgtEl>
                                          <p:spTgt spid="2"/>
                                        </p:tgtEl>
                                        <p:attrNameLst>
                                          <p:attrName>style.visibility</p:attrName>
                                        </p:attrNameLst>
                                      </p:cBhvr>
                                      <p:to>
                                        <p:strVal val="visible"/>
                                      </p:to>
                                    </p:set>
                                    <p:animEffect transition="in" filter="wipe(up)">
                                      <p:cBhvr>
                                        <p:cTn id="90" dur="500"/>
                                        <p:tgtEl>
                                          <p:spTgt spid="2"/>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35"/>
                                        </p:tgtEl>
                                        <p:attrNameLst>
                                          <p:attrName>style.visibility</p:attrName>
                                        </p:attrNameLst>
                                      </p:cBhvr>
                                      <p:to>
                                        <p:strVal val="visible"/>
                                      </p:to>
                                    </p:set>
                                    <p:animEffect transition="in" filter="wipe(up)">
                                      <p:cBhvr>
                                        <p:cTn id="95" dur="500"/>
                                        <p:tgtEl>
                                          <p:spTgt spid="35"/>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wipe(up)">
                                      <p:cBhvr>
                                        <p:cTn id="100"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8" grpId="0" animBg="1"/>
      <p:bldP spid="29" grpId="0" animBg="1"/>
      <p:bldP spid="17" grpId="0"/>
      <p:bldP spid="21" grpId="0"/>
      <p:bldP spid="32" grpId="0"/>
      <p:bldP spid="2" grpId="0"/>
      <p:bldP spid="33" grpId="0"/>
      <p:bldP spid="33" grpId="1"/>
      <p:bldP spid="35" grpId="0"/>
      <p:bldP spid="3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1021</TotalTime>
  <Words>16597</Words>
  <Application>Microsoft Office PowerPoint</Application>
  <PresentationFormat>Widescreen</PresentationFormat>
  <Paragraphs>1194</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Tw Cen MT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aida bigdeli</dc:creator>
  <cp:lastModifiedBy>aida bigdeli</cp:lastModifiedBy>
  <cp:revision>120</cp:revision>
  <dcterms:created xsi:type="dcterms:W3CDTF">2023-10-25T23:37:48Z</dcterms:created>
  <dcterms:modified xsi:type="dcterms:W3CDTF">2023-11-08T06:14:22Z</dcterms:modified>
</cp:coreProperties>
</file>