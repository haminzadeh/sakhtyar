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60"/>
  </p:notesMasterIdLst>
  <p:sldIdLst>
    <p:sldId id="256" r:id="rId3"/>
    <p:sldId id="257" r:id="rId4"/>
    <p:sldId id="258" r:id="rId5"/>
    <p:sldId id="305" r:id="rId6"/>
    <p:sldId id="306" r:id="rId7"/>
    <p:sldId id="307" r:id="rId8"/>
    <p:sldId id="308" r:id="rId9"/>
    <p:sldId id="263" r:id="rId10"/>
    <p:sldId id="260" r:id="rId11"/>
    <p:sldId id="259" r:id="rId12"/>
    <p:sldId id="309" r:id="rId13"/>
    <p:sldId id="261" r:id="rId14"/>
    <p:sldId id="310" r:id="rId15"/>
    <p:sldId id="262" r:id="rId16"/>
    <p:sldId id="311" r:id="rId17"/>
    <p:sldId id="312" r:id="rId18"/>
    <p:sldId id="264" r:id="rId19"/>
    <p:sldId id="265" r:id="rId20"/>
    <p:sldId id="313" r:id="rId21"/>
    <p:sldId id="314" r:id="rId22"/>
    <p:sldId id="315" r:id="rId23"/>
    <p:sldId id="316" r:id="rId24"/>
    <p:sldId id="269" r:id="rId25"/>
    <p:sldId id="317" r:id="rId26"/>
    <p:sldId id="266" r:id="rId27"/>
    <p:sldId id="318" r:id="rId28"/>
    <p:sldId id="267" r:id="rId29"/>
    <p:sldId id="319" r:id="rId30"/>
    <p:sldId id="268" r:id="rId31"/>
    <p:sldId id="278" r:id="rId32"/>
    <p:sldId id="335" r:id="rId33"/>
    <p:sldId id="334" r:id="rId34"/>
    <p:sldId id="336" r:id="rId35"/>
    <p:sldId id="337" r:id="rId36"/>
    <p:sldId id="270" r:id="rId37"/>
    <p:sldId id="272" r:id="rId38"/>
    <p:sldId id="273" r:id="rId39"/>
    <p:sldId id="274" r:id="rId40"/>
    <p:sldId id="320" r:id="rId41"/>
    <p:sldId id="321" r:id="rId42"/>
    <p:sldId id="322" r:id="rId43"/>
    <p:sldId id="323" r:id="rId44"/>
    <p:sldId id="277" r:id="rId45"/>
    <p:sldId id="271" r:id="rId46"/>
    <p:sldId id="324" r:id="rId47"/>
    <p:sldId id="325" r:id="rId48"/>
    <p:sldId id="326" r:id="rId49"/>
    <p:sldId id="328" r:id="rId50"/>
    <p:sldId id="332" r:id="rId51"/>
    <p:sldId id="338" r:id="rId52"/>
    <p:sldId id="343" r:id="rId53"/>
    <p:sldId id="339" r:id="rId54"/>
    <p:sldId id="340" r:id="rId55"/>
    <p:sldId id="341" r:id="rId56"/>
    <p:sldId id="342" r:id="rId57"/>
    <p:sldId id="344" r:id="rId58"/>
    <p:sldId id="327" r:id="rId59"/>
  </p:sldIdLst>
  <p:sldSz cx="9144000" cy="5143500" type="screen16x9"/>
  <p:notesSz cx="6858000" cy="9144000"/>
  <p:embeddedFontLst>
    <p:embeddedFont>
      <p:font typeface="Calibri" panose="020F0502020204030204" pitchFamily="34" charset="0"/>
      <p:regular r:id="rId61"/>
      <p:bold r:id="rId62"/>
      <p:italic r:id="rId63"/>
      <p:boldItalic r:id="rId64"/>
    </p:embeddedFont>
    <p:embeddedFont>
      <p:font typeface="IRAmir" panose="02000503000000020002" pitchFamily="2" charset="-78"/>
      <p:regular r:id="rId65"/>
    </p:embeddedFont>
    <p:embeddedFont>
      <p:font typeface="IRNazanin" panose="02000506000000020002" pitchFamily="2" charset="-78"/>
      <p:regular r:id="rId66"/>
      <p:bold r:id="rId67"/>
      <p:italic r:id="rId68"/>
    </p:embeddedFont>
    <p:embeddedFont>
      <p:font typeface="IRTitr" panose="02000506000000020002" pitchFamily="2" charset="-78"/>
      <p:regular r:id="rId69"/>
    </p:embeddedFont>
    <p:embeddedFont>
      <p:font typeface="IRZeytoon" panose="02000503000000020002" pitchFamily="2" charset="-78"/>
      <p:regular r:id="rId70"/>
    </p:embeddedFont>
    <p:embeddedFont>
      <p:font typeface="Open Sans" panose="020B0606030504020204" pitchFamily="34" charset="0"/>
      <p:regular r:id="rId71"/>
      <p:bold r:id="rId72"/>
      <p:italic r:id="rId73"/>
      <p:boldItalic r:id="rId7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47963D-BE64-4BE7-A561-9B19AAAD165A}" v="9" dt="2023-11-25T20:17:58.4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83" autoAdjust="0"/>
    <p:restoredTop sz="95020" autoAdjust="0"/>
  </p:normalViewPr>
  <p:slideViewPr>
    <p:cSldViewPr snapToGrid="0">
      <p:cViewPr varScale="1">
        <p:scale>
          <a:sx n="62" d="100"/>
          <a:sy n="62" d="100"/>
        </p:scale>
        <p:origin x="1162" y="53"/>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3.fntdata"/><Relationship Id="rId68" Type="http://schemas.openxmlformats.org/officeDocument/2006/relationships/font" Target="fonts/font8.fntdata"/><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6.fntdata"/><Relationship Id="rId74" Type="http://schemas.openxmlformats.org/officeDocument/2006/relationships/font" Target="fonts/font14.fntdata"/><Relationship Id="rId79" Type="http://schemas.microsoft.com/office/2015/10/relationships/revisionInfo" Target="revisionInfo.xml"/><Relationship Id="rId5" Type="http://schemas.openxmlformats.org/officeDocument/2006/relationships/slide" Target="slides/slide3.xml"/><Relationship Id="rId61" Type="http://schemas.openxmlformats.org/officeDocument/2006/relationships/font" Target="fonts/font1.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4.fntdata"/><Relationship Id="rId69" Type="http://schemas.openxmlformats.org/officeDocument/2006/relationships/font" Target="fonts/font9.fntdata"/><Relationship Id="rId77"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2.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font" Target="fonts/font7.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2.fntdata"/><Relationship Id="rId70" Type="http://schemas.openxmlformats.org/officeDocument/2006/relationships/font" Target="fonts/font10.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65" Type="http://schemas.openxmlformats.org/officeDocument/2006/relationships/font" Target="fonts/font5.fntdata"/><Relationship Id="rId73" Type="http://schemas.openxmlformats.org/officeDocument/2006/relationships/font" Target="fonts/font13.fntdata"/><Relationship Id="rId78"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font" Target="fonts/font11.fntdata"/><Relationship Id="rId2" Type="http://schemas.openxmlformats.org/officeDocument/2006/relationships/slideMaster" Target="slideMasters/slideMaster2.xml"/><Relationship Id="rId29" Type="http://schemas.openxmlformats.org/officeDocument/2006/relationships/slide" Target="slides/slide2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ED07DE-1772-4299-9235-A4E152F37804}"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DB21D72F-6FAE-4EA4-B06A-AA41A1A81489}">
      <dgm:prSet custT="1">
        <dgm:style>
          <a:lnRef idx="3">
            <a:schemeClr val="lt1"/>
          </a:lnRef>
          <a:fillRef idx="1">
            <a:schemeClr val="dk1"/>
          </a:fillRef>
          <a:effectRef idx="1">
            <a:schemeClr val="dk1"/>
          </a:effectRef>
          <a:fontRef idx="minor">
            <a:schemeClr val="lt1"/>
          </a:fontRef>
        </dgm:style>
      </dgm:prSet>
      <dgm:spPr/>
      <dgm:t>
        <a:bodyPr/>
        <a:lstStyle/>
        <a:p>
          <a:r>
            <a:rPr lang="fa-IR" sz="1400" b="1" dirty="0">
              <a:latin typeface="IRZeytoon" panose="02000503000000020002" pitchFamily="2" charset="-78"/>
              <a:cs typeface="B Nazanin" panose="00000400000000000000" pitchFamily="2" charset="-78"/>
            </a:rPr>
            <a:t>معاملات شهرداري ها از نظر ميزان مبلغ به سه نوع تقسيم مي شود:</a:t>
          </a:r>
        </a:p>
        <a:p>
          <a:endParaRPr lang="en-US" sz="1400" dirty="0"/>
        </a:p>
      </dgm:t>
    </dgm:pt>
    <dgm:pt modelId="{C37733EF-C6D7-4F06-B5E2-FEF19DE7E240}" type="parTrans" cxnId="{6F5DC5FA-40B2-4706-BB29-7C8D8EF65448}">
      <dgm:prSet/>
      <dgm:spPr/>
      <dgm:t>
        <a:bodyPr/>
        <a:lstStyle/>
        <a:p>
          <a:endParaRPr lang="en-US"/>
        </a:p>
      </dgm:t>
    </dgm:pt>
    <dgm:pt modelId="{16432072-9F6E-46BD-A903-288E5BE8B0FD}" type="sibTrans" cxnId="{6F5DC5FA-40B2-4706-BB29-7C8D8EF65448}">
      <dgm:prSet/>
      <dgm:spPr/>
      <dgm:t>
        <a:bodyPr/>
        <a:lstStyle/>
        <a:p>
          <a:endParaRPr lang="en-US"/>
        </a:p>
      </dgm:t>
    </dgm:pt>
    <dgm:pt modelId="{578D1303-D720-43DB-A6A0-670FA5F78CFA}">
      <dgm:prSet custT="1">
        <dgm:style>
          <a:lnRef idx="3">
            <a:schemeClr val="lt1"/>
          </a:lnRef>
          <a:fillRef idx="1">
            <a:schemeClr val="dk1"/>
          </a:fillRef>
          <a:effectRef idx="1">
            <a:schemeClr val="dk1"/>
          </a:effectRef>
          <a:fontRef idx="minor">
            <a:schemeClr val="lt1"/>
          </a:fontRef>
        </dgm:style>
      </dgm:prSet>
      <dgm:spPr/>
      <dgm:t>
        <a:bodyPr/>
        <a:lstStyle/>
        <a:p>
          <a:r>
            <a:rPr lang="fa-IR" sz="1400" b="1" dirty="0">
              <a:latin typeface="IRZeytoon" panose="02000503000000020002" pitchFamily="2" charset="-78"/>
              <a:cs typeface="B Nazanin" panose="00000400000000000000" pitchFamily="2" charset="-78"/>
            </a:rPr>
            <a:t>نوع سوم: معاملات عمده </a:t>
          </a:r>
          <a:endParaRPr lang="en-US" sz="1400" dirty="0"/>
        </a:p>
      </dgm:t>
    </dgm:pt>
    <dgm:pt modelId="{311C4CDC-B16A-4B83-B4AC-3223F939C813}" type="parTrans" cxnId="{F1B92C61-F78F-4693-8E30-5622910E1BEB}">
      <dgm:prSet/>
      <dgm:spPr/>
      <dgm:t>
        <a:bodyPr/>
        <a:lstStyle/>
        <a:p>
          <a:endParaRPr lang="en-US"/>
        </a:p>
      </dgm:t>
    </dgm:pt>
    <dgm:pt modelId="{E6BF865D-BACB-44AA-8173-2E1A3A5DA7CD}" type="sibTrans" cxnId="{F1B92C61-F78F-4693-8E30-5622910E1BEB}">
      <dgm:prSet/>
      <dgm:spPr/>
      <dgm:t>
        <a:bodyPr/>
        <a:lstStyle/>
        <a:p>
          <a:endParaRPr lang="en-US"/>
        </a:p>
      </dgm:t>
    </dgm:pt>
    <dgm:pt modelId="{72A2C789-B6D7-49D2-BF60-0B6B63DE6E3F}">
      <dgm:prSet custT="1">
        <dgm:style>
          <a:lnRef idx="3">
            <a:schemeClr val="lt1"/>
          </a:lnRef>
          <a:fillRef idx="1">
            <a:schemeClr val="dk1"/>
          </a:fillRef>
          <a:effectRef idx="1">
            <a:schemeClr val="dk1"/>
          </a:effectRef>
          <a:fontRef idx="minor">
            <a:schemeClr val="lt1"/>
          </a:fontRef>
        </dgm:style>
      </dgm:prSet>
      <dgm:spPr/>
      <dgm:t>
        <a:bodyPr/>
        <a:lstStyle/>
        <a:p>
          <a:r>
            <a:rPr lang="fa-IR" sz="1400" b="1" dirty="0">
              <a:latin typeface="IRZeytoon" panose="02000503000000020002" pitchFamily="2" charset="-78"/>
              <a:cs typeface="B Nazanin" panose="00000400000000000000" pitchFamily="2" charset="-78"/>
            </a:rPr>
            <a:t> نوع دوم: معاملات متوسط </a:t>
          </a:r>
          <a:endParaRPr lang="en-US" sz="1400" dirty="0"/>
        </a:p>
      </dgm:t>
    </dgm:pt>
    <dgm:pt modelId="{4A7D0197-8217-4936-95B6-7943CAAABD21}" type="parTrans" cxnId="{92717303-22B4-4223-B727-B62B2BC6EE3D}">
      <dgm:prSet/>
      <dgm:spPr/>
      <dgm:t>
        <a:bodyPr/>
        <a:lstStyle/>
        <a:p>
          <a:endParaRPr lang="en-US"/>
        </a:p>
      </dgm:t>
    </dgm:pt>
    <dgm:pt modelId="{D3F0BE83-C030-41F6-B96A-A207D0C0A4B6}" type="sibTrans" cxnId="{92717303-22B4-4223-B727-B62B2BC6EE3D}">
      <dgm:prSet/>
      <dgm:spPr/>
      <dgm:t>
        <a:bodyPr/>
        <a:lstStyle/>
        <a:p>
          <a:endParaRPr lang="en-US"/>
        </a:p>
      </dgm:t>
    </dgm:pt>
    <dgm:pt modelId="{3184A026-51DB-4209-ABAA-C07B7FD29B4E}">
      <dgm:prSet custT="1">
        <dgm:style>
          <a:lnRef idx="3">
            <a:schemeClr val="lt1"/>
          </a:lnRef>
          <a:fillRef idx="1">
            <a:schemeClr val="dk1"/>
          </a:fillRef>
          <a:effectRef idx="1">
            <a:schemeClr val="dk1"/>
          </a:effectRef>
          <a:fontRef idx="minor">
            <a:schemeClr val="lt1"/>
          </a:fontRef>
        </dgm:style>
      </dgm:prSet>
      <dgm:spPr/>
      <dgm:t>
        <a:bodyPr/>
        <a:lstStyle/>
        <a:p>
          <a:r>
            <a:rPr lang="fa-IR" sz="1400" b="1" dirty="0">
              <a:latin typeface="IRZeytoon" panose="02000503000000020002" pitchFamily="2" charset="-78"/>
              <a:cs typeface="B Nazanin" panose="00000400000000000000" pitchFamily="2" charset="-78"/>
            </a:rPr>
            <a:t>نوع اول: معامالت جزيي </a:t>
          </a:r>
          <a:endParaRPr lang="en-US" sz="1400" dirty="0"/>
        </a:p>
      </dgm:t>
    </dgm:pt>
    <dgm:pt modelId="{563EE7C2-A762-4C73-BA12-8486E98BB874}" type="parTrans" cxnId="{34CAED34-3DA8-48CA-81F0-7A63400C5BD4}">
      <dgm:prSet/>
      <dgm:spPr/>
      <dgm:t>
        <a:bodyPr/>
        <a:lstStyle/>
        <a:p>
          <a:endParaRPr lang="en-US"/>
        </a:p>
      </dgm:t>
    </dgm:pt>
    <dgm:pt modelId="{A5F10574-ADE1-48D0-844B-554D5C9939E2}" type="sibTrans" cxnId="{34CAED34-3DA8-48CA-81F0-7A63400C5BD4}">
      <dgm:prSet/>
      <dgm:spPr/>
      <dgm:t>
        <a:bodyPr/>
        <a:lstStyle/>
        <a:p>
          <a:endParaRPr lang="en-US"/>
        </a:p>
      </dgm:t>
    </dgm:pt>
    <dgm:pt modelId="{76A45BE5-EDCA-4784-8929-C5863DB58517}">
      <dgm:prSet>
        <dgm:style>
          <a:lnRef idx="3">
            <a:schemeClr val="lt1"/>
          </a:lnRef>
          <a:fillRef idx="1">
            <a:schemeClr val="dk1"/>
          </a:fillRef>
          <a:effectRef idx="1">
            <a:schemeClr val="dk1"/>
          </a:effectRef>
          <a:fontRef idx="minor">
            <a:schemeClr val="lt1"/>
          </a:fontRef>
        </dgm:style>
      </dgm:prSet>
      <dgm:spPr/>
      <dgm:t>
        <a:bodyPr/>
        <a:lstStyle/>
        <a:p>
          <a:r>
            <a:rPr lang="fa-IR" b="1" dirty="0">
              <a:latin typeface="IRZeytoon" panose="02000503000000020002" pitchFamily="2" charset="-78"/>
              <a:cs typeface="B Nazanin" panose="00000400000000000000" pitchFamily="2" charset="-78"/>
            </a:rPr>
            <a:t>از مبلغ پنجاه ميليون </a:t>
          </a:r>
        </a:p>
        <a:p>
          <a:r>
            <a:rPr lang="fa-IR" b="1" dirty="0">
              <a:latin typeface="IRZeytoon" panose="02000503000000020002" pitchFamily="2" charset="-78"/>
              <a:cs typeface="B Nazanin" panose="00000400000000000000" pitchFamily="2" charset="-78"/>
            </a:rPr>
            <a:t>ريال تا پانصد ميليون ريال.</a:t>
          </a:r>
        </a:p>
        <a:p>
          <a:endParaRPr lang="en-US" dirty="0"/>
        </a:p>
      </dgm:t>
    </dgm:pt>
    <dgm:pt modelId="{661F268E-357B-43CC-9589-C3D9C324279C}" type="parTrans" cxnId="{096D18AC-EEE1-4CDC-881A-3D3098F02933}">
      <dgm:prSet/>
      <dgm:spPr/>
      <dgm:t>
        <a:bodyPr/>
        <a:lstStyle/>
        <a:p>
          <a:endParaRPr lang="en-US"/>
        </a:p>
      </dgm:t>
    </dgm:pt>
    <dgm:pt modelId="{0EA7698C-A074-44CF-BBAA-1A10993AE1FD}" type="sibTrans" cxnId="{096D18AC-EEE1-4CDC-881A-3D3098F02933}">
      <dgm:prSet/>
      <dgm:spPr/>
      <dgm:t>
        <a:bodyPr/>
        <a:lstStyle/>
        <a:p>
          <a:endParaRPr lang="en-US"/>
        </a:p>
      </dgm:t>
    </dgm:pt>
    <dgm:pt modelId="{7A18EAC2-85B1-4992-9D5C-E5345C14F4B5}">
      <dgm:prSet>
        <dgm:style>
          <a:lnRef idx="3">
            <a:schemeClr val="lt1"/>
          </a:lnRef>
          <a:fillRef idx="1">
            <a:schemeClr val="dk1"/>
          </a:fillRef>
          <a:effectRef idx="1">
            <a:schemeClr val="dk1"/>
          </a:effectRef>
          <a:fontRef idx="minor">
            <a:schemeClr val="lt1"/>
          </a:fontRef>
        </dgm:style>
      </dgm:prSet>
      <dgm:spPr/>
      <dgm:t>
        <a:bodyPr/>
        <a:lstStyle/>
        <a:p>
          <a:r>
            <a:rPr lang="fa-IR" b="1" dirty="0">
              <a:latin typeface="IRZeytoon" panose="02000503000000020002" pitchFamily="2" charset="-78"/>
              <a:cs typeface="B Nazanin" panose="00000400000000000000" pitchFamily="2" charset="-78"/>
            </a:rPr>
            <a:t> از مبلغ پانصد ميليون ريال و بیشتر.</a:t>
          </a:r>
          <a:endParaRPr lang="en-US" dirty="0"/>
        </a:p>
      </dgm:t>
    </dgm:pt>
    <dgm:pt modelId="{04445EC9-0E21-4804-AD3D-1C13F72743B8}" type="parTrans" cxnId="{CC91FCFC-6EB3-47BE-9C3F-A87A5C7DB5DC}">
      <dgm:prSet/>
      <dgm:spPr/>
      <dgm:t>
        <a:bodyPr/>
        <a:lstStyle/>
        <a:p>
          <a:endParaRPr lang="en-US"/>
        </a:p>
      </dgm:t>
    </dgm:pt>
    <dgm:pt modelId="{7318D022-5F34-49A8-A270-0B8D7B3EF312}" type="sibTrans" cxnId="{CC91FCFC-6EB3-47BE-9C3F-A87A5C7DB5DC}">
      <dgm:prSet/>
      <dgm:spPr/>
      <dgm:t>
        <a:bodyPr/>
        <a:lstStyle/>
        <a:p>
          <a:endParaRPr lang="en-US"/>
        </a:p>
      </dgm:t>
    </dgm:pt>
    <dgm:pt modelId="{98145718-D62F-4B06-95BE-5E2218210176}">
      <dgm:prSet>
        <dgm:style>
          <a:lnRef idx="3">
            <a:schemeClr val="lt1"/>
          </a:lnRef>
          <a:fillRef idx="1">
            <a:schemeClr val="dk1"/>
          </a:fillRef>
          <a:effectRef idx="1">
            <a:schemeClr val="dk1"/>
          </a:effectRef>
          <a:fontRef idx="minor">
            <a:schemeClr val="lt1"/>
          </a:fontRef>
        </dgm:style>
      </dgm:prSet>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fa-IR" b="1" dirty="0">
              <a:latin typeface="IRZeytoon" panose="02000503000000020002" pitchFamily="2" charset="-78"/>
              <a:cs typeface="B Nazanin" panose="00000400000000000000" pitchFamily="2" charset="-78"/>
            </a:rPr>
            <a:t>از مبلغ دو ميليون ريال تا مبلغ پنجاه ميليون ريال.</a:t>
          </a:r>
        </a:p>
        <a:p>
          <a:pPr marL="0" lvl="0" defTabSz="266700">
            <a:lnSpc>
              <a:spcPct val="90000"/>
            </a:lnSpc>
            <a:spcBef>
              <a:spcPct val="0"/>
            </a:spcBef>
            <a:spcAft>
              <a:spcPct val="35000"/>
            </a:spcAft>
            <a:buNone/>
          </a:pPr>
          <a:endParaRPr lang="en-US" dirty="0"/>
        </a:p>
      </dgm:t>
    </dgm:pt>
    <dgm:pt modelId="{1E1DDFDF-30F8-4590-8A1E-CD7D41878050}" type="parTrans" cxnId="{C9F4ACDB-C9FB-42E0-91DE-95BCC8CCEBD6}">
      <dgm:prSet/>
      <dgm:spPr/>
      <dgm:t>
        <a:bodyPr/>
        <a:lstStyle/>
        <a:p>
          <a:endParaRPr lang="en-US"/>
        </a:p>
      </dgm:t>
    </dgm:pt>
    <dgm:pt modelId="{F6A20750-7B16-40A1-810B-3C487C65B309}" type="sibTrans" cxnId="{C9F4ACDB-C9FB-42E0-91DE-95BCC8CCEBD6}">
      <dgm:prSet/>
      <dgm:spPr/>
      <dgm:t>
        <a:bodyPr/>
        <a:lstStyle/>
        <a:p>
          <a:endParaRPr lang="en-US"/>
        </a:p>
      </dgm:t>
    </dgm:pt>
    <dgm:pt modelId="{8FDA1CF8-F109-406A-9DCB-488FE65E2AC9}" type="pres">
      <dgm:prSet presAssocID="{A1ED07DE-1772-4299-9235-A4E152F37804}" presName="hierChild1" presStyleCnt="0">
        <dgm:presLayoutVars>
          <dgm:orgChart val="1"/>
          <dgm:chPref val="1"/>
          <dgm:dir/>
          <dgm:animOne val="branch"/>
          <dgm:animLvl val="lvl"/>
          <dgm:resizeHandles/>
        </dgm:presLayoutVars>
      </dgm:prSet>
      <dgm:spPr/>
    </dgm:pt>
    <dgm:pt modelId="{1C2FB178-CEA1-4725-8D29-CF282A6AAB51}" type="pres">
      <dgm:prSet presAssocID="{DB21D72F-6FAE-4EA4-B06A-AA41A1A81489}" presName="hierRoot1" presStyleCnt="0">
        <dgm:presLayoutVars>
          <dgm:hierBranch val="init"/>
        </dgm:presLayoutVars>
      </dgm:prSet>
      <dgm:spPr/>
    </dgm:pt>
    <dgm:pt modelId="{51566D5D-E216-4211-BC14-71CBAA323593}" type="pres">
      <dgm:prSet presAssocID="{DB21D72F-6FAE-4EA4-B06A-AA41A1A81489}" presName="rootComposite1" presStyleCnt="0"/>
      <dgm:spPr/>
    </dgm:pt>
    <dgm:pt modelId="{0ABC652F-708B-4232-A7BD-226048ACDCF7}" type="pres">
      <dgm:prSet presAssocID="{DB21D72F-6FAE-4EA4-B06A-AA41A1A81489}" presName="rootText1" presStyleLbl="node0" presStyleIdx="0" presStyleCnt="1" custScaleX="315175" custScaleY="115682">
        <dgm:presLayoutVars>
          <dgm:chPref val="3"/>
        </dgm:presLayoutVars>
      </dgm:prSet>
      <dgm:spPr/>
    </dgm:pt>
    <dgm:pt modelId="{055279A3-B2E0-486C-86A2-51EEAB7D4406}" type="pres">
      <dgm:prSet presAssocID="{DB21D72F-6FAE-4EA4-B06A-AA41A1A81489}" presName="rootConnector1" presStyleLbl="node1" presStyleIdx="0" presStyleCnt="0"/>
      <dgm:spPr/>
    </dgm:pt>
    <dgm:pt modelId="{F4B45C7E-2045-49AE-AFD8-DEB906FDE139}" type="pres">
      <dgm:prSet presAssocID="{DB21D72F-6FAE-4EA4-B06A-AA41A1A81489}" presName="hierChild2" presStyleCnt="0"/>
      <dgm:spPr/>
    </dgm:pt>
    <dgm:pt modelId="{FF48EB2A-95CB-4A9E-9E8D-0FCA8BA9D11D}" type="pres">
      <dgm:prSet presAssocID="{311C4CDC-B16A-4B83-B4AC-3223F939C813}" presName="Name37" presStyleLbl="parChTrans1D2" presStyleIdx="0" presStyleCnt="3"/>
      <dgm:spPr/>
    </dgm:pt>
    <dgm:pt modelId="{35D362CE-F215-43C9-8714-C6B251675312}" type="pres">
      <dgm:prSet presAssocID="{578D1303-D720-43DB-A6A0-670FA5F78CFA}" presName="hierRoot2" presStyleCnt="0">
        <dgm:presLayoutVars>
          <dgm:hierBranch val="l"/>
        </dgm:presLayoutVars>
      </dgm:prSet>
      <dgm:spPr/>
    </dgm:pt>
    <dgm:pt modelId="{C183BF7F-A76C-4BAF-849C-B9F2741E8446}" type="pres">
      <dgm:prSet presAssocID="{578D1303-D720-43DB-A6A0-670FA5F78CFA}" presName="rootComposite" presStyleCnt="0"/>
      <dgm:spPr/>
    </dgm:pt>
    <dgm:pt modelId="{CF6AADC1-C9D3-4E8C-9101-A472C72E0458}" type="pres">
      <dgm:prSet presAssocID="{578D1303-D720-43DB-A6A0-670FA5F78CFA}" presName="rootText" presStyleLbl="node2" presStyleIdx="0" presStyleCnt="3">
        <dgm:presLayoutVars>
          <dgm:chPref val="3"/>
        </dgm:presLayoutVars>
      </dgm:prSet>
      <dgm:spPr/>
    </dgm:pt>
    <dgm:pt modelId="{E7786358-E58A-40BD-AD5C-D3546249C0E7}" type="pres">
      <dgm:prSet presAssocID="{578D1303-D720-43DB-A6A0-670FA5F78CFA}" presName="rootConnector" presStyleLbl="node2" presStyleIdx="0" presStyleCnt="3"/>
      <dgm:spPr/>
    </dgm:pt>
    <dgm:pt modelId="{42A7FAD6-B1BE-4E12-BAA2-57E48EECF1A9}" type="pres">
      <dgm:prSet presAssocID="{578D1303-D720-43DB-A6A0-670FA5F78CFA}" presName="hierChild4" presStyleCnt="0"/>
      <dgm:spPr/>
    </dgm:pt>
    <dgm:pt modelId="{60AA51A5-D44C-4DAB-AEB7-307CFBBF76C5}" type="pres">
      <dgm:prSet presAssocID="{04445EC9-0E21-4804-AD3D-1C13F72743B8}" presName="Name50" presStyleLbl="parChTrans1D3" presStyleIdx="0" presStyleCnt="3"/>
      <dgm:spPr/>
    </dgm:pt>
    <dgm:pt modelId="{71582A52-FD36-4066-977E-98289C0DC434}" type="pres">
      <dgm:prSet presAssocID="{7A18EAC2-85B1-4992-9D5C-E5345C14F4B5}" presName="hierRoot2" presStyleCnt="0">
        <dgm:presLayoutVars>
          <dgm:hierBranch val="init"/>
        </dgm:presLayoutVars>
      </dgm:prSet>
      <dgm:spPr/>
    </dgm:pt>
    <dgm:pt modelId="{BAEA2138-F69D-4C48-80BA-52E0B54BD5D3}" type="pres">
      <dgm:prSet presAssocID="{7A18EAC2-85B1-4992-9D5C-E5345C14F4B5}" presName="rootComposite" presStyleCnt="0"/>
      <dgm:spPr/>
    </dgm:pt>
    <dgm:pt modelId="{22CF39E7-A4DD-43F2-81B4-BF6EB7D395CE}" type="pres">
      <dgm:prSet presAssocID="{7A18EAC2-85B1-4992-9D5C-E5345C14F4B5}" presName="rootText" presStyleLbl="node3" presStyleIdx="0" presStyleCnt="3">
        <dgm:presLayoutVars>
          <dgm:chPref val="3"/>
        </dgm:presLayoutVars>
      </dgm:prSet>
      <dgm:spPr/>
    </dgm:pt>
    <dgm:pt modelId="{DDCFD0FC-5A8B-4C9F-9951-E1CCA233CB3D}" type="pres">
      <dgm:prSet presAssocID="{7A18EAC2-85B1-4992-9D5C-E5345C14F4B5}" presName="rootConnector" presStyleLbl="node3" presStyleIdx="0" presStyleCnt="3"/>
      <dgm:spPr/>
    </dgm:pt>
    <dgm:pt modelId="{A3F11C8E-FE05-44DE-A226-B019B6E05D57}" type="pres">
      <dgm:prSet presAssocID="{7A18EAC2-85B1-4992-9D5C-E5345C14F4B5}" presName="hierChild4" presStyleCnt="0"/>
      <dgm:spPr/>
    </dgm:pt>
    <dgm:pt modelId="{2124267B-48CF-4D73-996C-826A82DD750E}" type="pres">
      <dgm:prSet presAssocID="{7A18EAC2-85B1-4992-9D5C-E5345C14F4B5}" presName="hierChild5" presStyleCnt="0"/>
      <dgm:spPr/>
    </dgm:pt>
    <dgm:pt modelId="{ED10203E-50E9-4A02-9643-F7DF5C6CB454}" type="pres">
      <dgm:prSet presAssocID="{578D1303-D720-43DB-A6A0-670FA5F78CFA}" presName="hierChild5" presStyleCnt="0"/>
      <dgm:spPr/>
    </dgm:pt>
    <dgm:pt modelId="{5D1FFD9F-0075-49E4-8D43-1BE81392D4A2}" type="pres">
      <dgm:prSet presAssocID="{4A7D0197-8217-4936-95B6-7943CAAABD21}" presName="Name37" presStyleLbl="parChTrans1D2" presStyleIdx="1" presStyleCnt="3"/>
      <dgm:spPr/>
    </dgm:pt>
    <dgm:pt modelId="{2E15FB39-4127-4459-A537-B1DE569099F0}" type="pres">
      <dgm:prSet presAssocID="{72A2C789-B6D7-49D2-BF60-0B6B63DE6E3F}" presName="hierRoot2" presStyleCnt="0">
        <dgm:presLayoutVars>
          <dgm:hierBranch/>
        </dgm:presLayoutVars>
      </dgm:prSet>
      <dgm:spPr/>
    </dgm:pt>
    <dgm:pt modelId="{EAC240C4-0991-4627-88A7-5F26AFA2C9FE}" type="pres">
      <dgm:prSet presAssocID="{72A2C789-B6D7-49D2-BF60-0B6B63DE6E3F}" presName="rootComposite" presStyleCnt="0"/>
      <dgm:spPr/>
    </dgm:pt>
    <dgm:pt modelId="{70CF9C74-716D-4D42-AB87-8B0909559529}" type="pres">
      <dgm:prSet presAssocID="{72A2C789-B6D7-49D2-BF60-0B6B63DE6E3F}" presName="rootText" presStyleLbl="node2" presStyleIdx="1" presStyleCnt="3">
        <dgm:presLayoutVars>
          <dgm:chPref val="3"/>
        </dgm:presLayoutVars>
      </dgm:prSet>
      <dgm:spPr/>
    </dgm:pt>
    <dgm:pt modelId="{0FC2AF51-1F70-4B8D-868A-131DEBDDBD81}" type="pres">
      <dgm:prSet presAssocID="{72A2C789-B6D7-49D2-BF60-0B6B63DE6E3F}" presName="rootConnector" presStyleLbl="node2" presStyleIdx="1" presStyleCnt="3"/>
      <dgm:spPr/>
    </dgm:pt>
    <dgm:pt modelId="{FE500022-4C35-4DFC-8604-59D982DDE524}" type="pres">
      <dgm:prSet presAssocID="{72A2C789-B6D7-49D2-BF60-0B6B63DE6E3F}" presName="hierChild4" presStyleCnt="0"/>
      <dgm:spPr/>
    </dgm:pt>
    <dgm:pt modelId="{9E13013D-2B1B-49C6-B200-60395591F4D7}" type="pres">
      <dgm:prSet presAssocID="{661F268E-357B-43CC-9589-C3D9C324279C}" presName="Name35" presStyleLbl="parChTrans1D3" presStyleIdx="1" presStyleCnt="3"/>
      <dgm:spPr/>
    </dgm:pt>
    <dgm:pt modelId="{ADDD47C8-A928-4EEE-89FD-A33DCF180512}" type="pres">
      <dgm:prSet presAssocID="{76A45BE5-EDCA-4784-8929-C5863DB58517}" presName="hierRoot2" presStyleCnt="0">
        <dgm:presLayoutVars>
          <dgm:hierBranch/>
        </dgm:presLayoutVars>
      </dgm:prSet>
      <dgm:spPr/>
    </dgm:pt>
    <dgm:pt modelId="{7DB4B603-C1A4-4FDD-9323-EB57CA2254A6}" type="pres">
      <dgm:prSet presAssocID="{76A45BE5-EDCA-4784-8929-C5863DB58517}" presName="rootComposite" presStyleCnt="0"/>
      <dgm:spPr/>
    </dgm:pt>
    <dgm:pt modelId="{C805B57D-36C3-474A-974C-2EE547028877}" type="pres">
      <dgm:prSet presAssocID="{76A45BE5-EDCA-4784-8929-C5863DB58517}" presName="rootText" presStyleLbl="node3" presStyleIdx="1" presStyleCnt="3">
        <dgm:presLayoutVars>
          <dgm:chPref val="3"/>
        </dgm:presLayoutVars>
      </dgm:prSet>
      <dgm:spPr/>
    </dgm:pt>
    <dgm:pt modelId="{5F9C8E92-983C-4647-ACBB-93073A01187B}" type="pres">
      <dgm:prSet presAssocID="{76A45BE5-EDCA-4784-8929-C5863DB58517}" presName="rootConnector" presStyleLbl="node3" presStyleIdx="1" presStyleCnt="3"/>
      <dgm:spPr/>
    </dgm:pt>
    <dgm:pt modelId="{CE6EBB93-DAAA-420D-BD2C-20C922DFA077}" type="pres">
      <dgm:prSet presAssocID="{76A45BE5-EDCA-4784-8929-C5863DB58517}" presName="hierChild4" presStyleCnt="0"/>
      <dgm:spPr/>
    </dgm:pt>
    <dgm:pt modelId="{39B324DB-914F-487F-AF37-1511AEC1F966}" type="pres">
      <dgm:prSet presAssocID="{76A45BE5-EDCA-4784-8929-C5863DB58517}" presName="hierChild5" presStyleCnt="0"/>
      <dgm:spPr/>
    </dgm:pt>
    <dgm:pt modelId="{9292480E-CF88-4C9E-BDB8-657AD3967F23}" type="pres">
      <dgm:prSet presAssocID="{72A2C789-B6D7-49D2-BF60-0B6B63DE6E3F}" presName="hierChild5" presStyleCnt="0"/>
      <dgm:spPr/>
    </dgm:pt>
    <dgm:pt modelId="{8CCF3E53-65EA-47B7-B2EC-84D4550B6F29}" type="pres">
      <dgm:prSet presAssocID="{563EE7C2-A762-4C73-BA12-8486E98BB874}" presName="Name37" presStyleLbl="parChTrans1D2" presStyleIdx="2" presStyleCnt="3"/>
      <dgm:spPr/>
    </dgm:pt>
    <dgm:pt modelId="{C95F1A36-AED9-4B8A-AC93-B6CD32DF0A1A}" type="pres">
      <dgm:prSet presAssocID="{3184A026-51DB-4209-ABAA-C07B7FD29B4E}" presName="hierRoot2" presStyleCnt="0">
        <dgm:presLayoutVars>
          <dgm:hierBranch val="r"/>
        </dgm:presLayoutVars>
      </dgm:prSet>
      <dgm:spPr/>
    </dgm:pt>
    <dgm:pt modelId="{6515FDEC-CDC6-4F4D-8DAE-DA74C0DDCA7A}" type="pres">
      <dgm:prSet presAssocID="{3184A026-51DB-4209-ABAA-C07B7FD29B4E}" presName="rootComposite" presStyleCnt="0"/>
      <dgm:spPr/>
    </dgm:pt>
    <dgm:pt modelId="{C6AA8B04-90EA-4E98-A6BE-CE4B6FFCDE08}" type="pres">
      <dgm:prSet presAssocID="{3184A026-51DB-4209-ABAA-C07B7FD29B4E}" presName="rootText" presStyleLbl="node2" presStyleIdx="2" presStyleCnt="3" custLinFactNeighborX="3329" custLinFactNeighborY="574">
        <dgm:presLayoutVars>
          <dgm:chPref val="3"/>
        </dgm:presLayoutVars>
      </dgm:prSet>
      <dgm:spPr/>
    </dgm:pt>
    <dgm:pt modelId="{12960074-C8C1-4803-BEF3-7AB76DC4B368}" type="pres">
      <dgm:prSet presAssocID="{3184A026-51DB-4209-ABAA-C07B7FD29B4E}" presName="rootConnector" presStyleLbl="node2" presStyleIdx="2" presStyleCnt="3"/>
      <dgm:spPr/>
    </dgm:pt>
    <dgm:pt modelId="{A710FD02-288E-4AEB-9E51-BC0818ED8D77}" type="pres">
      <dgm:prSet presAssocID="{3184A026-51DB-4209-ABAA-C07B7FD29B4E}" presName="hierChild4" presStyleCnt="0"/>
      <dgm:spPr/>
    </dgm:pt>
    <dgm:pt modelId="{DE4E8E8F-6B0D-40AA-AC05-191EAD4F0A1F}" type="pres">
      <dgm:prSet presAssocID="{1E1DDFDF-30F8-4590-8A1E-CD7D41878050}" presName="Name50" presStyleLbl="parChTrans1D3" presStyleIdx="2" presStyleCnt="3"/>
      <dgm:spPr/>
    </dgm:pt>
    <dgm:pt modelId="{D1BD61CC-8E4F-4309-B112-A48946E3CCC9}" type="pres">
      <dgm:prSet presAssocID="{98145718-D62F-4B06-95BE-5E2218210176}" presName="hierRoot2" presStyleCnt="0">
        <dgm:presLayoutVars>
          <dgm:hierBranch val="hang"/>
        </dgm:presLayoutVars>
      </dgm:prSet>
      <dgm:spPr/>
    </dgm:pt>
    <dgm:pt modelId="{954CEAF7-A0BE-4630-99D9-15939C186633}" type="pres">
      <dgm:prSet presAssocID="{98145718-D62F-4B06-95BE-5E2218210176}" presName="rootComposite" presStyleCnt="0"/>
      <dgm:spPr/>
    </dgm:pt>
    <dgm:pt modelId="{E08190C6-1E62-4718-9C2B-4821AF34347B}" type="pres">
      <dgm:prSet presAssocID="{98145718-D62F-4B06-95BE-5E2218210176}" presName="rootText" presStyleLbl="node3" presStyleIdx="2" presStyleCnt="3">
        <dgm:presLayoutVars>
          <dgm:chPref val="3"/>
        </dgm:presLayoutVars>
      </dgm:prSet>
      <dgm:spPr/>
    </dgm:pt>
    <dgm:pt modelId="{3159CCD3-269B-425E-B446-D3EDE8A3CBC2}" type="pres">
      <dgm:prSet presAssocID="{98145718-D62F-4B06-95BE-5E2218210176}" presName="rootConnector" presStyleLbl="node3" presStyleIdx="2" presStyleCnt="3"/>
      <dgm:spPr/>
    </dgm:pt>
    <dgm:pt modelId="{E7B250B8-8D64-402D-9BD7-70FB9EFC350E}" type="pres">
      <dgm:prSet presAssocID="{98145718-D62F-4B06-95BE-5E2218210176}" presName="hierChild4" presStyleCnt="0"/>
      <dgm:spPr/>
    </dgm:pt>
    <dgm:pt modelId="{8606B88E-B6FB-4897-8BF5-9EC6957613DC}" type="pres">
      <dgm:prSet presAssocID="{98145718-D62F-4B06-95BE-5E2218210176}" presName="hierChild5" presStyleCnt="0"/>
      <dgm:spPr/>
    </dgm:pt>
    <dgm:pt modelId="{9C223734-0ACE-4C35-9756-D48BB396DFC1}" type="pres">
      <dgm:prSet presAssocID="{3184A026-51DB-4209-ABAA-C07B7FD29B4E}" presName="hierChild5" presStyleCnt="0"/>
      <dgm:spPr/>
    </dgm:pt>
    <dgm:pt modelId="{F5D6AC42-6821-47ED-8B2F-E263168DB01B}" type="pres">
      <dgm:prSet presAssocID="{DB21D72F-6FAE-4EA4-B06A-AA41A1A81489}" presName="hierChild3" presStyleCnt="0"/>
      <dgm:spPr/>
    </dgm:pt>
  </dgm:ptLst>
  <dgm:cxnLst>
    <dgm:cxn modelId="{1A59D600-C82C-4666-996B-322788F7F246}" type="presOf" srcId="{A1ED07DE-1772-4299-9235-A4E152F37804}" destId="{8FDA1CF8-F109-406A-9DCB-488FE65E2AC9}" srcOrd="0" destOrd="0" presId="urn:microsoft.com/office/officeart/2005/8/layout/orgChart1"/>
    <dgm:cxn modelId="{92717303-22B4-4223-B727-B62B2BC6EE3D}" srcId="{DB21D72F-6FAE-4EA4-B06A-AA41A1A81489}" destId="{72A2C789-B6D7-49D2-BF60-0B6B63DE6E3F}" srcOrd="1" destOrd="0" parTransId="{4A7D0197-8217-4936-95B6-7943CAAABD21}" sibTransId="{D3F0BE83-C030-41F6-B96A-A207D0C0A4B6}"/>
    <dgm:cxn modelId="{480BC809-7DC5-4937-B5BD-885AD44A7652}" type="presOf" srcId="{DB21D72F-6FAE-4EA4-B06A-AA41A1A81489}" destId="{055279A3-B2E0-486C-86A2-51EEAB7D4406}" srcOrd="1" destOrd="0" presId="urn:microsoft.com/office/officeart/2005/8/layout/orgChart1"/>
    <dgm:cxn modelId="{61A8DE09-16E6-4730-A4EB-11C9C3BE92C8}" type="presOf" srcId="{1E1DDFDF-30F8-4590-8A1E-CD7D41878050}" destId="{DE4E8E8F-6B0D-40AA-AC05-191EAD4F0A1F}" srcOrd="0" destOrd="0" presId="urn:microsoft.com/office/officeart/2005/8/layout/orgChart1"/>
    <dgm:cxn modelId="{4A446129-BB84-49C2-87D9-B3C5C0DDDBD2}" type="presOf" srcId="{72A2C789-B6D7-49D2-BF60-0B6B63DE6E3F}" destId="{70CF9C74-716D-4D42-AB87-8B0909559529}" srcOrd="0" destOrd="0" presId="urn:microsoft.com/office/officeart/2005/8/layout/orgChart1"/>
    <dgm:cxn modelId="{C8FD4B2A-0454-4956-875F-0BB39E09B753}" type="presOf" srcId="{3184A026-51DB-4209-ABAA-C07B7FD29B4E}" destId="{12960074-C8C1-4803-BEF3-7AB76DC4B368}" srcOrd="1" destOrd="0" presId="urn:microsoft.com/office/officeart/2005/8/layout/orgChart1"/>
    <dgm:cxn modelId="{34CAED34-3DA8-48CA-81F0-7A63400C5BD4}" srcId="{DB21D72F-6FAE-4EA4-B06A-AA41A1A81489}" destId="{3184A026-51DB-4209-ABAA-C07B7FD29B4E}" srcOrd="2" destOrd="0" parTransId="{563EE7C2-A762-4C73-BA12-8486E98BB874}" sibTransId="{A5F10574-ADE1-48D0-844B-554D5C9939E2}"/>
    <dgm:cxn modelId="{74215535-9833-4491-A111-71D75D542BC9}" type="presOf" srcId="{76A45BE5-EDCA-4784-8929-C5863DB58517}" destId="{5F9C8E92-983C-4647-ACBB-93073A01187B}" srcOrd="1" destOrd="0" presId="urn:microsoft.com/office/officeart/2005/8/layout/orgChart1"/>
    <dgm:cxn modelId="{A49AEE37-9849-48DA-B707-336F734849DE}" type="presOf" srcId="{578D1303-D720-43DB-A6A0-670FA5F78CFA}" destId="{CF6AADC1-C9D3-4E8C-9101-A472C72E0458}" srcOrd="0" destOrd="0" presId="urn:microsoft.com/office/officeart/2005/8/layout/orgChart1"/>
    <dgm:cxn modelId="{280DE838-1965-4D29-8CFF-0F368F950F36}" type="presOf" srcId="{98145718-D62F-4B06-95BE-5E2218210176}" destId="{E08190C6-1E62-4718-9C2B-4821AF34347B}" srcOrd="0" destOrd="0" presId="urn:microsoft.com/office/officeart/2005/8/layout/orgChart1"/>
    <dgm:cxn modelId="{F1B92C61-F78F-4693-8E30-5622910E1BEB}" srcId="{DB21D72F-6FAE-4EA4-B06A-AA41A1A81489}" destId="{578D1303-D720-43DB-A6A0-670FA5F78CFA}" srcOrd="0" destOrd="0" parTransId="{311C4CDC-B16A-4B83-B4AC-3223F939C813}" sibTransId="{E6BF865D-BACB-44AA-8173-2E1A3A5DA7CD}"/>
    <dgm:cxn modelId="{A5969D61-F7B3-4EB8-A6FD-5FFE83C24CE5}" type="presOf" srcId="{7A18EAC2-85B1-4992-9D5C-E5345C14F4B5}" destId="{DDCFD0FC-5A8B-4C9F-9951-E1CCA233CB3D}" srcOrd="1" destOrd="0" presId="urn:microsoft.com/office/officeart/2005/8/layout/orgChart1"/>
    <dgm:cxn modelId="{ECA8CD4B-93CC-441A-AB4A-B1DCFE247433}" type="presOf" srcId="{7A18EAC2-85B1-4992-9D5C-E5345C14F4B5}" destId="{22CF39E7-A4DD-43F2-81B4-BF6EB7D395CE}" srcOrd="0" destOrd="0" presId="urn:microsoft.com/office/officeart/2005/8/layout/orgChart1"/>
    <dgm:cxn modelId="{B39A626F-4AAD-414A-BB58-74C4642F713E}" type="presOf" srcId="{76A45BE5-EDCA-4784-8929-C5863DB58517}" destId="{C805B57D-36C3-474A-974C-2EE547028877}" srcOrd="0" destOrd="0" presId="urn:microsoft.com/office/officeart/2005/8/layout/orgChart1"/>
    <dgm:cxn modelId="{03816C52-0860-49FB-A3BA-48E3E0B630C3}" type="presOf" srcId="{661F268E-357B-43CC-9589-C3D9C324279C}" destId="{9E13013D-2B1B-49C6-B200-60395591F4D7}" srcOrd="0" destOrd="0" presId="urn:microsoft.com/office/officeart/2005/8/layout/orgChart1"/>
    <dgm:cxn modelId="{A21B3485-8571-4D2D-92EC-46472D8561B3}" type="presOf" srcId="{98145718-D62F-4B06-95BE-5E2218210176}" destId="{3159CCD3-269B-425E-B446-D3EDE8A3CBC2}" srcOrd="1" destOrd="0" presId="urn:microsoft.com/office/officeart/2005/8/layout/orgChart1"/>
    <dgm:cxn modelId="{23D1499D-32C5-450F-8957-4720172F150F}" type="presOf" srcId="{DB21D72F-6FAE-4EA4-B06A-AA41A1A81489}" destId="{0ABC652F-708B-4232-A7BD-226048ACDCF7}" srcOrd="0" destOrd="0" presId="urn:microsoft.com/office/officeart/2005/8/layout/orgChart1"/>
    <dgm:cxn modelId="{1E7212A3-FAE9-41E1-9A48-B163B70A0B83}" type="presOf" srcId="{4A7D0197-8217-4936-95B6-7943CAAABD21}" destId="{5D1FFD9F-0075-49E4-8D43-1BE81392D4A2}" srcOrd="0" destOrd="0" presId="urn:microsoft.com/office/officeart/2005/8/layout/orgChart1"/>
    <dgm:cxn modelId="{998140A3-B106-49A7-80DF-FF9261396372}" type="presOf" srcId="{3184A026-51DB-4209-ABAA-C07B7FD29B4E}" destId="{C6AA8B04-90EA-4E98-A6BE-CE4B6FFCDE08}" srcOrd="0" destOrd="0" presId="urn:microsoft.com/office/officeart/2005/8/layout/orgChart1"/>
    <dgm:cxn modelId="{FC827BA9-DC1C-4F9E-85CF-AEFD3060A84C}" type="presOf" srcId="{72A2C789-B6D7-49D2-BF60-0B6B63DE6E3F}" destId="{0FC2AF51-1F70-4B8D-868A-131DEBDDBD81}" srcOrd="1" destOrd="0" presId="urn:microsoft.com/office/officeart/2005/8/layout/orgChart1"/>
    <dgm:cxn modelId="{C1A77CAB-0EA2-4CE0-8DF5-43699BB1DEF6}" type="presOf" srcId="{563EE7C2-A762-4C73-BA12-8486E98BB874}" destId="{8CCF3E53-65EA-47B7-B2EC-84D4550B6F29}" srcOrd="0" destOrd="0" presId="urn:microsoft.com/office/officeart/2005/8/layout/orgChart1"/>
    <dgm:cxn modelId="{096D18AC-EEE1-4CDC-881A-3D3098F02933}" srcId="{72A2C789-B6D7-49D2-BF60-0B6B63DE6E3F}" destId="{76A45BE5-EDCA-4784-8929-C5863DB58517}" srcOrd="0" destOrd="0" parTransId="{661F268E-357B-43CC-9589-C3D9C324279C}" sibTransId="{0EA7698C-A074-44CF-BBAA-1A10993AE1FD}"/>
    <dgm:cxn modelId="{7E8EAAB5-8852-4D58-A7EE-680D0DF1F040}" type="presOf" srcId="{311C4CDC-B16A-4B83-B4AC-3223F939C813}" destId="{FF48EB2A-95CB-4A9E-9E8D-0FCA8BA9D11D}" srcOrd="0" destOrd="0" presId="urn:microsoft.com/office/officeart/2005/8/layout/orgChart1"/>
    <dgm:cxn modelId="{646691D1-426C-46D5-A45C-6C2B124C719C}" type="presOf" srcId="{04445EC9-0E21-4804-AD3D-1C13F72743B8}" destId="{60AA51A5-D44C-4DAB-AEB7-307CFBBF76C5}" srcOrd="0" destOrd="0" presId="urn:microsoft.com/office/officeart/2005/8/layout/orgChart1"/>
    <dgm:cxn modelId="{C9F4ACDB-C9FB-42E0-91DE-95BCC8CCEBD6}" srcId="{3184A026-51DB-4209-ABAA-C07B7FD29B4E}" destId="{98145718-D62F-4B06-95BE-5E2218210176}" srcOrd="0" destOrd="0" parTransId="{1E1DDFDF-30F8-4590-8A1E-CD7D41878050}" sibTransId="{F6A20750-7B16-40A1-810B-3C487C65B309}"/>
    <dgm:cxn modelId="{B840F7DC-30E1-4F65-8515-274B67BC0AEC}" type="presOf" srcId="{578D1303-D720-43DB-A6A0-670FA5F78CFA}" destId="{E7786358-E58A-40BD-AD5C-D3546249C0E7}" srcOrd="1" destOrd="0" presId="urn:microsoft.com/office/officeart/2005/8/layout/orgChart1"/>
    <dgm:cxn modelId="{6F5DC5FA-40B2-4706-BB29-7C8D8EF65448}" srcId="{A1ED07DE-1772-4299-9235-A4E152F37804}" destId="{DB21D72F-6FAE-4EA4-B06A-AA41A1A81489}" srcOrd="0" destOrd="0" parTransId="{C37733EF-C6D7-4F06-B5E2-FEF19DE7E240}" sibTransId="{16432072-9F6E-46BD-A903-288E5BE8B0FD}"/>
    <dgm:cxn modelId="{CC91FCFC-6EB3-47BE-9C3F-A87A5C7DB5DC}" srcId="{578D1303-D720-43DB-A6A0-670FA5F78CFA}" destId="{7A18EAC2-85B1-4992-9D5C-E5345C14F4B5}" srcOrd="0" destOrd="0" parTransId="{04445EC9-0E21-4804-AD3D-1C13F72743B8}" sibTransId="{7318D022-5F34-49A8-A270-0B8D7B3EF312}"/>
    <dgm:cxn modelId="{8A7BA2C7-C56E-496C-B045-FB1DF11F0AF6}" type="presParOf" srcId="{8FDA1CF8-F109-406A-9DCB-488FE65E2AC9}" destId="{1C2FB178-CEA1-4725-8D29-CF282A6AAB51}" srcOrd="0" destOrd="0" presId="urn:microsoft.com/office/officeart/2005/8/layout/orgChart1"/>
    <dgm:cxn modelId="{0E790AC4-5056-4507-8E20-58D3D871283A}" type="presParOf" srcId="{1C2FB178-CEA1-4725-8D29-CF282A6AAB51}" destId="{51566D5D-E216-4211-BC14-71CBAA323593}" srcOrd="0" destOrd="0" presId="urn:microsoft.com/office/officeart/2005/8/layout/orgChart1"/>
    <dgm:cxn modelId="{DC7D364F-CD13-4A5E-81BF-93090453A96F}" type="presParOf" srcId="{51566D5D-E216-4211-BC14-71CBAA323593}" destId="{0ABC652F-708B-4232-A7BD-226048ACDCF7}" srcOrd="0" destOrd="0" presId="urn:microsoft.com/office/officeart/2005/8/layout/orgChart1"/>
    <dgm:cxn modelId="{AAA45659-005B-4C9F-8B3A-172D73606D47}" type="presParOf" srcId="{51566D5D-E216-4211-BC14-71CBAA323593}" destId="{055279A3-B2E0-486C-86A2-51EEAB7D4406}" srcOrd="1" destOrd="0" presId="urn:microsoft.com/office/officeart/2005/8/layout/orgChart1"/>
    <dgm:cxn modelId="{02FE0A0E-592C-4597-B007-AC2728C31564}" type="presParOf" srcId="{1C2FB178-CEA1-4725-8D29-CF282A6AAB51}" destId="{F4B45C7E-2045-49AE-AFD8-DEB906FDE139}" srcOrd="1" destOrd="0" presId="urn:microsoft.com/office/officeart/2005/8/layout/orgChart1"/>
    <dgm:cxn modelId="{4BD8C71C-8A00-45E0-B4C7-92A066122166}" type="presParOf" srcId="{F4B45C7E-2045-49AE-AFD8-DEB906FDE139}" destId="{FF48EB2A-95CB-4A9E-9E8D-0FCA8BA9D11D}" srcOrd="0" destOrd="0" presId="urn:microsoft.com/office/officeart/2005/8/layout/orgChart1"/>
    <dgm:cxn modelId="{20C5AE16-C269-4612-9735-07D19A1C3B7F}" type="presParOf" srcId="{F4B45C7E-2045-49AE-AFD8-DEB906FDE139}" destId="{35D362CE-F215-43C9-8714-C6B251675312}" srcOrd="1" destOrd="0" presId="urn:microsoft.com/office/officeart/2005/8/layout/orgChart1"/>
    <dgm:cxn modelId="{858C0568-65BC-4491-9220-86382432D03F}" type="presParOf" srcId="{35D362CE-F215-43C9-8714-C6B251675312}" destId="{C183BF7F-A76C-4BAF-849C-B9F2741E8446}" srcOrd="0" destOrd="0" presId="urn:microsoft.com/office/officeart/2005/8/layout/orgChart1"/>
    <dgm:cxn modelId="{E14EBEA3-8595-4F2D-9A86-BB89318DA447}" type="presParOf" srcId="{C183BF7F-A76C-4BAF-849C-B9F2741E8446}" destId="{CF6AADC1-C9D3-4E8C-9101-A472C72E0458}" srcOrd="0" destOrd="0" presId="urn:microsoft.com/office/officeart/2005/8/layout/orgChart1"/>
    <dgm:cxn modelId="{AC18F64B-6F38-4E43-8FA6-553E3DAEF4DB}" type="presParOf" srcId="{C183BF7F-A76C-4BAF-849C-B9F2741E8446}" destId="{E7786358-E58A-40BD-AD5C-D3546249C0E7}" srcOrd="1" destOrd="0" presId="urn:microsoft.com/office/officeart/2005/8/layout/orgChart1"/>
    <dgm:cxn modelId="{5B9F8ADB-C0CE-4C49-A084-5405C5148B37}" type="presParOf" srcId="{35D362CE-F215-43C9-8714-C6B251675312}" destId="{42A7FAD6-B1BE-4E12-BAA2-57E48EECF1A9}" srcOrd="1" destOrd="0" presId="urn:microsoft.com/office/officeart/2005/8/layout/orgChart1"/>
    <dgm:cxn modelId="{32699531-609B-4EE3-9E81-70F4FCC06DB5}" type="presParOf" srcId="{42A7FAD6-B1BE-4E12-BAA2-57E48EECF1A9}" destId="{60AA51A5-D44C-4DAB-AEB7-307CFBBF76C5}" srcOrd="0" destOrd="0" presId="urn:microsoft.com/office/officeart/2005/8/layout/orgChart1"/>
    <dgm:cxn modelId="{A6A0EBDC-351D-416B-8A0B-F0D9C31C3634}" type="presParOf" srcId="{42A7FAD6-B1BE-4E12-BAA2-57E48EECF1A9}" destId="{71582A52-FD36-4066-977E-98289C0DC434}" srcOrd="1" destOrd="0" presId="urn:microsoft.com/office/officeart/2005/8/layout/orgChart1"/>
    <dgm:cxn modelId="{8364AB8E-82CF-4F20-A03A-977985235207}" type="presParOf" srcId="{71582A52-FD36-4066-977E-98289C0DC434}" destId="{BAEA2138-F69D-4C48-80BA-52E0B54BD5D3}" srcOrd="0" destOrd="0" presId="urn:microsoft.com/office/officeart/2005/8/layout/orgChart1"/>
    <dgm:cxn modelId="{5E02A2E2-E17B-4FA8-A4C5-8B1FA11BF3D6}" type="presParOf" srcId="{BAEA2138-F69D-4C48-80BA-52E0B54BD5D3}" destId="{22CF39E7-A4DD-43F2-81B4-BF6EB7D395CE}" srcOrd="0" destOrd="0" presId="urn:microsoft.com/office/officeart/2005/8/layout/orgChart1"/>
    <dgm:cxn modelId="{B2C313F9-CE61-4F48-9BEF-74138543CC75}" type="presParOf" srcId="{BAEA2138-F69D-4C48-80BA-52E0B54BD5D3}" destId="{DDCFD0FC-5A8B-4C9F-9951-E1CCA233CB3D}" srcOrd="1" destOrd="0" presId="urn:microsoft.com/office/officeart/2005/8/layout/orgChart1"/>
    <dgm:cxn modelId="{2C9C3FB8-A3A2-4C1F-B1E6-B83FA5A6510E}" type="presParOf" srcId="{71582A52-FD36-4066-977E-98289C0DC434}" destId="{A3F11C8E-FE05-44DE-A226-B019B6E05D57}" srcOrd="1" destOrd="0" presId="urn:microsoft.com/office/officeart/2005/8/layout/orgChart1"/>
    <dgm:cxn modelId="{9BC9640F-FC37-4B5A-9F5B-F51C5EAD5C33}" type="presParOf" srcId="{71582A52-FD36-4066-977E-98289C0DC434}" destId="{2124267B-48CF-4D73-996C-826A82DD750E}" srcOrd="2" destOrd="0" presId="urn:microsoft.com/office/officeart/2005/8/layout/orgChart1"/>
    <dgm:cxn modelId="{F87DF31C-294C-4C47-90A9-1AE2EE5AF385}" type="presParOf" srcId="{35D362CE-F215-43C9-8714-C6B251675312}" destId="{ED10203E-50E9-4A02-9643-F7DF5C6CB454}" srcOrd="2" destOrd="0" presId="urn:microsoft.com/office/officeart/2005/8/layout/orgChart1"/>
    <dgm:cxn modelId="{D13637EC-DB93-4C82-B530-752B4B1FCA19}" type="presParOf" srcId="{F4B45C7E-2045-49AE-AFD8-DEB906FDE139}" destId="{5D1FFD9F-0075-49E4-8D43-1BE81392D4A2}" srcOrd="2" destOrd="0" presId="urn:microsoft.com/office/officeart/2005/8/layout/orgChart1"/>
    <dgm:cxn modelId="{E187B752-DCDA-493F-98B8-FA92F987DA86}" type="presParOf" srcId="{F4B45C7E-2045-49AE-AFD8-DEB906FDE139}" destId="{2E15FB39-4127-4459-A537-B1DE569099F0}" srcOrd="3" destOrd="0" presId="urn:microsoft.com/office/officeart/2005/8/layout/orgChart1"/>
    <dgm:cxn modelId="{183C1CEA-3297-4716-AEB3-14A951FE139F}" type="presParOf" srcId="{2E15FB39-4127-4459-A537-B1DE569099F0}" destId="{EAC240C4-0991-4627-88A7-5F26AFA2C9FE}" srcOrd="0" destOrd="0" presId="urn:microsoft.com/office/officeart/2005/8/layout/orgChart1"/>
    <dgm:cxn modelId="{7B05C98E-88CB-488C-A595-F3D52397CE70}" type="presParOf" srcId="{EAC240C4-0991-4627-88A7-5F26AFA2C9FE}" destId="{70CF9C74-716D-4D42-AB87-8B0909559529}" srcOrd="0" destOrd="0" presId="urn:microsoft.com/office/officeart/2005/8/layout/orgChart1"/>
    <dgm:cxn modelId="{6E146269-7587-4F08-B2EA-8C77372A178D}" type="presParOf" srcId="{EAC240C4-0991-4627-88A7-5F26AFA2C9FE}" destId="{0FC2AF51-1F70-4B8D-868A-131DEBDDBD81}" srcOrd="1" destOrd="0" presId="urn:microsoft.com/office/officeart/2005/8/layout/orgChart1"/>
    <dgm:cxn modelId="{2DCB9BC1-2EB2-4274-A4D6-44C215C18DE0}" type="presParOf" srcId="{2E15FB39-4127-4459-A537-B1DE569099F0}" destId="{FE500022-4C35-4DFC-8604-59D982DDE524}" srcOrd="1" destOrd="0" presId="urn:microsoft.com/office/officeart/2005/8/layout/orgChart1"/>
    <dgm:cxn modelId="{E84AA6F3-4C0B-4CB0-AE98-B2056505C055}" type="presParOf" srcId="{FE500022-4C35-4DFC-8604-59D982DDE524}" destId="{9E13013D-2B1B-49C6-B200-60395591F4D7}" srcOrd="0" destOrd="0" presId="urn:microsoft.com/office/officeart/2005/8/layout/orgChart1"/>
    <dgm:cxn modelId="{C4717C5F-666C-4AA2-BDBE-4488221FF677}" type="presParOf" srcId="{FE500022-4C35-4DFC-8604-59D982DDE524}" destId="{ADDD47C8-A928-4EEE-89FD-A33DCF180512}" srcOrd="1" destOrd="0" presId="urn:microsoft.com/office/officeart/2005/8/layout/orgChart1"/>
    <dgm:cxn modelId="{AABF747E-6FE7-442D-B5BE-4AD6149DBCC8}" type="presParOf" srcId="{ADDD47C8-A928-4EEE-89FD-A33DCF180512}" destId="{7DB4B603-C1A4-4FDD-9323-EB57CA2254A6}" srcOrd="0" destOrd="0" presId="urn:microsoft.com/office/officeart/2005/8/layout/orgChart1"/>
    <dgm:cxn modelId="{B705BE84-8B9D-4BBF-A9A0-5DC9FB8A1BA8}" type="presParOf" srcId="{7DB4B603-C1A4-4FDD-9323-EB57CA2254A6}" destId="{C805B57D-36C3-474A-974C-2EE547028877}" srcOrd="0" destOrd="0" presId="urn:microsoft.com/office/officeart/2005/8/layout/orgChart1"/>
    <dgm:cxn modelId="{26D81DF4-5166-4EEE-9DB3-97F6AA48FE09}" type="presParOf" srcId="{7DB4B603-C1A4-4FDD-9323-EB57CA2254A6}" destId="{5F9C8E92-983C-4647-ACBB-93073A01187B}" srcOrd="1" destOrd="0" presId="urn:microsoft.com/office/officeart/2005/8/layout/orgChart1"/>
    <dgm:cxn modelId="{83A3A4C0-A692-4B1C-BC62-5AA60E14BBE5}" type="presParOf" srcId="{ADDD47C8-A928-4EEE-89FD-A33DCF180512}" destId="{CE6EBB93-DAAA-420D-BD2C-20C922DFA077}" srcOrd="1" destOrd="0" presId="urn:microsoft.com/office/officeart/2005/8/layout/orgChart1"/>
    <dgm:cxn modelId="{89A3AC4F-A8A0-408D-84F4-B84D34178218}" type="presParOf" srcId="{ADDD47C8-A928-4EEE-89FD-A33DCF180512}" destId="{39B324DB-914F-487F-AF37-1511AEC1F966}" srcOrd="2" destOrd="0" presId="urn:microsoft.com/office/officeart/2005/8/layout/orgChart1"/>
    <dgm:cxn modelId="{5386ABA5-473E-4B5B-AF77-E6E09B3AFB6E}" type="presParOf" srcId="{2E15FB39-4127-4459-A537-B1DE569099F0}" destId="{9292480E-CF88-4C9E-BDB8-657AD3967F23}" srcOrd="2" destOrd="0" presId="urn:microsoft.com/office/officeart/2005/8/layout/orgChart1"/>
    <dgm:cxn modelId="{3CCA50B5-2CE8-4EBC-9CBC-F38D2EF1F865}" type="presParOf" srcId="{F4B45C7E-2045-49AE-AFD8-DEB906FDE139}" destId="{8CCF3E53-65EA-47B7-B2EC-84D4550B6F29}" srcOrd="4" destOrd="0" presId="urn:microsoft.com/office/officeart/2005/8/layout/orgChart1"/>
    <dgm:cxn modelId="{FE7252F6-8817-4EAC-B963-DC17407A5D05}" type="presParOf" srcId="{F4B45C7E-2045-49AE-AFD8-DEB906FDE139}" destId="{C95F1A36-AED9-4B8A-AC93-B6CD32DF0A1A}" srcOrd="5" destOrd="0" presId="urn:microsoft.com/office/officeart/2005/8/layout/orgChart1"/>
    <dgm:cxn modelId="{A73624C5-E9E1-46A6-A8A0-E383C717A15F}" type="presParOf" srcId="{C95F1A36-AED9-4B8A-AC93-B6CD32DF0A1A}" destId="{6515FDEC-CDC6-4F4D-8DAE-DA74C0DDCA7A}" srcOrd="0" destOrd="0" presId="urn:microsoft.com/office/officeart/2005/8/layout/orgChart1"/>
    <dgm:cxn modelId="{C425C074-3F7E-49BA-B368-86ED391ED497}" type="presParOf" srcId="{6515FDEC-CDC6-4F4D-8DAE-DA74C0DDCA7A}" destId="{C6AA8B04-90EA-4E98-A6BE-CE4B6FFCDE08}" srcOrd="0" destOrd="0" presId="urn:microsoft.com/office/officeart/2005/8/layout/orgChart1"/>
    <dgm:cxn modelId="{A4E3CCF8-1A3C-48C4-8570-C5D428D2158C}" type="presParOf" srcId="{6515FDEC-CDC6-4F4D-8DAE-DA74C0DDCA7A}" destId="{12960074-C8C1-4803-BEF3-7AB76DC4B368}" srcOrd="1" destOrd="0" presId="urn:microsoft.com/office/officeart/2005/8/layout/orgChart1"/>
    <dgm:cxn modelId="{72E0C887-D6DF-467B-A85B-5F003E42E225}" type="presParOf" srcId="{C95F1A36-AED9-4B8A-AC93-B6CD32DF0A1A}" destId="{A710FD02-288E-4AEB-9E51-BC0818ED8D77}" srcOrd="1" destOrd="0" presId="urn:microsoft.com/office/officeart/2005/8/layout/orgChart1"/>
    <dgm:cxn modelId="{D0B4772D-C751-4A51-B991-F287495C1B40}" type="presParOf" srcId="{A710FD02-288E-4AEB-9E51-BC0818ED8D77}" destId="{DE4E8E8F-6B0D-40AA-AC05-191EAD4F0A1F}" srcOrd="0" destOrd="0" presId="urn:microsoft.com/office/officeart/2005/8/layout/orgChart1"/>
    <dgm:cxn modelId="{6328E31E-62E7-4C1E-93BD-474108D08511}" type="presParOf" srcId="{A710FD02-288E-4AEB-9E51-BC0818ED8D77}" destId="{D1BD61CC-8E4F-4309-B112-A48946E3CCC9}" srcOrd="1" destOrd="0" presId="urn:microsoft.com/office/officeart/2005/8/layout/orgChart1"/>
    <dgm:cxn modelId="{84239D46-4CD8-419E-81F5-F8B8C7914B0E}" type="presParOf" srcId="{D1BD61CC-8E4F-4309-B112-A48946E3CCC9}" destId="{954CEAF7-A0BE-4630-99D9-15939C186633}" srcOrd="0" destOrd="0" presId="urn:microsoft.com/office/officeart/2005/8/layout/orgChart1"/>
    <dgm:cxn modelId="{F225369F-FABF-4150-9896-06F67B4E8F8D}" type="presParOf" srcId="{954CEAF7-A0BE-4630-99D9-15939C186633}" destId="{E08190C6-1E62-4718-9C2B-4821AF34347B}" srcOrd="0" destOrd="0" presId="urn:microsoft.com/office/officeart/2005/8/layout/orgChart1"/>
    <dgm:cxn modelId="{E837A6E2-AF30-4C5B-8D1B-8AC22EE64CB7}" type="presParOf" srcId="{954CEAF7-A0BE-4630-99D9-15939C186633}" destId="{3159CCD3-269B-425E-B446-D3EDE8A3CBC2}" srcOrd="1" destOrd="0" presId="urn:microsoft.com/office/officeart/2005/8/layout/orgChart1"/>
    <dgm:cxn modelId="{B82394C2-6FF7-4592-827F-6C05725179F3}" type="presParOf" srcId="{D1BD61CC-8E4F-4309-B112-A48946E3CCC9}" destId="{E7B250B8-8D64-402D-9BD7-70FB9EFC350E}" srcOrd="1" destOrd="0" presId="urn:microsoft.com/office/officeart/2005/8/layout/orgChart1"/>
    <dgm:cxn modelId="{AC3731FB-377F-4E2C-94AD-9583A4F1DC37}" type="presParOf" srcId="{D1BD61CC-8E4F-4309-B112-A48946E3CCC9}" destId="{8606B88E-B6FB-4897-8BF5-9EC6957613DC}" srcOrd="2" destOrd="0" presId="urn:microsoft.com/office/officeart/2005/8/layout/orgChart1"/>
    <dgm:cxn modelId="{C5351992-A1C2-4105-B088-B9759386E6E7}" type="presParOf" srcId="{C95F1A36-AED9-4B8A-AC93-B6CD32DF0A1A}" destId="{9C223734-0ACE-4C35-9756-D48BB396DFC1}" srcOrd="2" destOrd="0" presId="urn:microsoft.com/office/officeart/2005/8/layout/orgChart1"/>
    <dgm:cxn modelId="{AA0BD0C0-5145-4340-B27F-52A898AC70FC}" type="presParOf" srcId="{1C2FB178-CEA1-4725-8D29-CF282A6AAB51}" destId="{F5D6AC42-6821-47ED-8B2F-E263168DB01B}"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4E8E8F-6B0D-40AA-AC05-191EAD4F0A1F}">
      <dsp:nvSpPr>
        <dsp:cNvPr id="0" name=""/>
        <dsp:cNvSpPr/>
      </dsp:nvSpPr>
      <dsp:spPr>
        <a:xfrm>
          <a:off x="6363447" y="2001368"/>
          <a:ext cx="180830" cy="708278"/>
        </a:xfrm>
        <a:custGeom>
          <a:avLst/>
          <a:gdLst/>
          <a:ahLst/>
          <a:cxnLst/>
          <a:rect l="0" t="0" r="0" b="0"/>
          <a:pathLst>
            <a:path>
              <a:moveTo>
                <a:pt x="0" y="0"/>
              </a:moveTo>
              <a:lnTo>
                <a:pt x="0" y="708278"/>
              </a:lnTo>
              <a:lnTo>
                <a:pt x="180830" y="70827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CF3E53-65EA-47B7-B2EC-84D4550B6F29}">
      <dsp:nvSpPr>
        <dsp:cNvPr id="0" name=""/>
        <dsp:cNvSpPr/>
      </dsp:nvSpPr>
      <dsp:spPr>
        <a:xfrm>
          <a:off x="5056852" y="896846"/>
          <a:ext cx="1926355" cy="329821"/>
        </a:xfrm>
        <a:custGeom>
          <a:avLst/>
          <a:gdLst/>
          <a:ahLst/>
          <a:cxnLst/>
          <a:rect l="0" t="0" r="0" b="0"/>
          <a:pathLst>
            <a:path>
              <a:moveTo>
                <a:pt x="0" y="0"/>
              </a:moveTo>
              <a:lnTo>
                <a:pt x="0" y="167133"/>
              </a:lnTo>
              <a:lnTo>
                <a:pt x="1926355" y="167133"/>
              </a:lnTo>
              <a:lnTo>
                <a:pt x="1926355" y="32982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13013D-2B1B-49C6-B200-60395591F4D7}">
      <dsp:nvSpPr>
        <dsp:cNvPr id="0" name=""/>
        <dsp:cNvSpPr/>
      </dsp:nvSpPr>
      <dsp:spPr>
        <a:xfrm>
          <a:off x="5011132" y="1996921"/>
          <a:ext cx="91440" cy="325374"/>
        </a:xfrm>
        <a:custGeom>
          <a:avLst/>
          <a:gdLst/>
          <a:ahLst/>
          <a:cxnLst/>
          <a:rect l="0" t="0" r="0" b="0"/>
          <a:pathLst>
            <a:path>
              <a:moveTo>
                <a:pt x="45720" y="0"/>
              </a:moveTo>
              <a:lnTo>
                <a:pt x="45720" y="32537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D1FFD9F-0075-49E4-8D43-1BE81392D4A2}">
      <dsp:nvSpPr>
        <dsp:cNvPr id="0" name=""/>
        <dsp:cNvSpPr/>
      </dsp:nvSpPr>
      <dsp:spPr>
        <a:xfrm>
          <a:off x="5011132" y="896846"/>
          <a:ext cx="91440" cy="325374"/>
        </a:xfrm>
        <a:custGeom>
          <a:avLst/>
          <a:gdLst/>
          <a:ahLst/>
          <a:cxnLst/>
          <a:rect l="0" t="0" r="0" b="0"/>
          <a:pathLst>
            <a:path>
              <a:moveTo>
                <a:pt x="45720" y="0"/>
              </a:moveTo>
              <a:lnTo>
                <a:pt x="45720" y="32537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0AA51A5-D44C-4DAB-AEB7-307CFBBF76C5}">
      <dsp:nvSpPr>
        <dsp:cNvPr id="0" name=""/>
        <dsp:cNvSpPr/>
      </dsp:nvSpPr>
      <dsp:spPr>
        <a:xfrm>
          <a:off x="3569426" y="1996921"/>
          <a:ext cx="232410" cy="712724"/>
        </a:xfrm>
        <a:custGeom>
          <a:avLst/>
          <a:gdLst/>
          <a:ahLst/>
          <a:cxnLst/>
          <a:rect l="0" t="0" r="0" b="0"/>
          <a:pathLst>
            <a:path>
              <a:moveTo>
                <a:pt x="232410" y="0"/>
              </a:moveTo>
              <a:lnTo>
                <a:pt x="232410" y="712724"/>
              </a:lnTo>
              <a:lnTo>
                <a:pt x="0" y="71272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48EB2A-95CB-4A9E-9E8D-0FCA8BA9D11D}">
      <dsp:nvSpPr>
        <dsp:cNvPr id="0" name=""/>
        <dsp:cNvSpPr/>
      </dsp:nvSpPr>
      <dsp:spPr>
        <a:xfrm>
          <a:off x="3182076" y="896846"/>
          <a:ext cx="1874776" cy="325374"/>
        </a:xfrm>
        <a:custGeom>
          <a:avLst/>
          <a:gdLst/>
          <a:ahLst/>
          <a:cxnLst/>
          <a:rect l="0" t="0" r="0" b="0"/>
          <a:pathLst>
            <a:path>
              <a:moveTo>
                <a:pt x="1874776" y="0"/>
              </a:moveTo>
              <a:lnTo>
                <a:pt x="1874776" y="162687"/>
              </a:lnTo>
              <a:lnTo>
                <a:pt x="0" y="162687"/>
              </a:lnTo>
              <a:lnTo>
                <a:pt x="0" y="32537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ABC652F-708B-4232-A7BD-226048ACDCF7}">
      <dsp:nvSpPr>
        <dsp:cNvPr id="0" name=""/>
        <dsp:cNvSpPr/>
      </dsp:nvSpPr>
      <dsp:spPr>
        <a:xfrm>
          <a:off x="2615188" y="656"/>
          <a:ext cx="4883327" cy="896189"/>
        </a:xfrm>
        <a:prstGeom prst="rect">
          <a:avLst/>
        </a:prstGeom>
        <a:solidFill>
          <a:schemeClr val="dk1"/>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dk1"/>
        </a:fillRef>
        <a:effectRef idx="1">
          <a:schemeClr val="dk1"/>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a-IR" sz="1400" b="1" kern="1200" dirty="0">
              <a:latin typeface="IRZeytoon" panose="02000503000000020002" pitchFamily="2" charset="-78"/>
              <a:cs typeface="B Nazanin" panose="00000400000000000000" pitchFamily="2" charset="-78"/>
            </a:rPr>
            <a:t>معاملات شهرداري ها از نظر ميزان مبلغ به سه نوع تقسيم مي شود:</a:t>
          </a:r>
        </a:p>
        <a:p>
          <a:pPr marL="0" lvl="0" indent="0" algn="ctr" defTabSz="622300">
            <a:lnSpc>
              <a:spcPct val="90000"/>
            </a:lnSpc>
            <a:spcBef>
              <a:spcPct val="0"/>
            </a:spcBef>
            <a:spcAft>
              <a:spcPct val="35000"/>
            </a:spcAft>
            <a:buNone/>
          </a:pPr>
          <a:endParaRPr lang="en-US" sz="1400" kern="1200" dirty="0"/>
        </a:p>
      </dsp:txBody>
      <dsp:txXfrm>
        <a:off x="2615188" y="656"/>
        <a:ext cx="4883327" cy="896189"/>
      </dsp:txXfrm>
    </dsp:sp>
    <dsp:sp modelId="{CF6AADC1-C9D3-4E8C-9101-A472C72E0458}">
      <dsp:nvSpPr>
        <dsp:cNvPr id="0" name=""/>
        <dsp:cNvSpPr/>
      </dsp:nvSpPr>
      <dsp:spPr>
        <a:xfrm>
          <a:off x="2407375" y="1222220"/>
          <a:ext cx="1549401" cy="774700"/>
        </a:xfrm>
        <a:prstGeom prst="rect">
          <a:avLst/>
        </a:prstGeom>
        <a:solidFill>
          <a:schemeClr val="dk1"/>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dk1"/>
        </a:fillRef>
        <a:effectRef idx="1">
          <a:schemeClr val="dk1"/>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a-IR" sz="1400" b="1" kern="1200" dirty="0">
              <a:latin typeface="IRZeytoon" panose="02000503000000020002" pitchFamily="2" charset="-78"/>
              <a:cs typeface="B Nazanin" panose="00000400000000000000" pitchFamily="2" charset="-78"/>
            </a:rPr>
            <a:t>نوع سوم: معاملات عمده </a:t>
          </a:r>
          <a:endParaRPr lang="en-US" sz="1400" kern="1200" dirty="0"/>
        </a:p>
      </dsp:txBody>
      <dsp:txXfrm>
        <a:off x="2407375" y="1222220"/>
        <a:ext cx="1549401" cy="774700"/>
      </dsp:txXfrm>
    </dsp:sp>
    <dsp:sp modelId="{22CF39E7-A4DD-43F2-81B4-BF6EB7D395CE}">
      <dsp:nvSpPr>
        <dsp:cNvPr id="0" name=""/>
        <dsp:cNvSpPr/>
      </dsp:nvSpPr>
      <dsp:spPr>
        <a:xfrm>
          <a:off x="2020024" y="2322296"/>
          <a:ext cx="1549401" cy="774700"/>
        </a:xfrm>
        <a:prstGeom prst="rect">
          <a:avLst/>
        </a:prstGeom>
        <a:solidFill>
          <a:schemeClr val="dk1"/>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dk1"/>
        </a:fillRef>
        <a:effectRef idx="1">
          <a:schemeClr val="dk1"/>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a-IR" sz="1200" b="1" kern="1200" dirty="0">
              <a:latin typeface="IRZeytoon" panose="02000503000000020002" pitchFamily="2" charset="-78"/>
              <a:cs typeface="B Nazanin" panose="00000400000000000000" pitchFamily="2" charset="-78"/>
            </a:rPr>
            <a:t> از مبلغ پانصد ميليون ريال و بیشتر.</a:t>
          </a:r>
          <a:endParaRPr lang="en-US" sz="1200" kern="1200" dirty="0"/>
        </a:p>
      </dsp:txBody>
      <dsp:txXfrm>
        <a:off x="2020024" y="2322296"/>
        <a:ext cx="1549401" cy="774700"/>
      </dsp:txXfrm>
    </dsp:sp>
    <dsp:sp modelId="{70CF9C74-716D-4D42-AB87-8B0909559529}">
      <dsp:nvSpPr>
        <dsp:cNvPr id="0" name=""/>
        <dsp:cNvSpPr/>
      </dsp:nvSpPr>
      <dsp:spPr>
        <a:xfrm>
          <a:off x="4282151" y="1222220"/>
          <a:ext cx="1549401" cy="774700"/>
        </a:xfrm>
        <a:prstGeom prst="rect">
          <a:avLst/>
        </a:prstGeom>
        <a:solidFill>
          <a:schemeClr val="dk1"/>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dk1"/>
        </a:fillRef>
        <a:effectRef idx="1">
          <a:schemeClr val="dk1"/>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a-IR" sz="1400" b="1" kern="1200" dirty="0">
              <a:latin typeface="IRZeytoon" panose="02000503000000020002" pitchFamily="2" charset="-78"/>
              <a:cs typeface="B Nazanin" panose="00000400000000000000" pitchFamily="2" charset="-78"/>
            </a:rPr>
            <a:t> نوع دوم: معاملات متوسط </a:t>
          </a:r>
          <a:endParaRPr lang="en-US" sz="1400" kern="1200" dirty="0"/>
        </a:p>
      </dsp:txBody>
      <dsp:txXfrm>
        <a:off x="4282151" y="1222220"/>
        <a:ext cx="1549401" cy="774700"/>
      </dsp:txXfrm>
    </dsp:sp>
    <dsp:sp modelId="{C805B57D-36C3-474A-974C-2EE547028877}">
      <dsp:nvSpPr>
        <dsp:cNvPr id="0" name=""/>
        <dsp:cNvSpPr/>
      </dsp:nvSpPr>
      <dsp:spPr>
        <a:xfrm>
          <a:off x="4282151" y="2322296"/>
          <a:ext cx="1549401" cy="774700"/>
        </a:xfrm>
        <a:prstGeom prst="rect">
          <a:avLst/>
        </a:prstGeom>
        <a:solidFill>
          <a:schemeClr val="dk1"/>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dk1"/>
        </a:fillRef>
        <a:effectRef idx="1">
          <a:schemeClr val="dk1"/>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a-IR" sz="1200" b="1" kern="1200" dirty="0">
              <a:latin typeface="IRZeytoon" panose="02000503000000020002" pitchFamily="2" charset="-78"/>
              <a:cs typeface="B Nazanin" panose="00000400000000000000" pitchFamily="2" charset="-78"/>
            </a:rPr>
            <a:t>از مبلغ پنجاه ميليون </a:t>
          </a:r>
        </a:p>
        <a:p>
          <a:pPr marL="0" lvl="0" indent="0" algn="ctr" defTabSz="533400">
            <a:lnSpc>
              <a:spcPct val="90000"/>
            </a:lnSpc>
            <a:spcBef>
              <a:spcPct val="0"/>
            </a:spcBef>
            <a:spcAft>
              <a:spcPct val="35000"/>
            </a:spcAft>
            <a:buNone/>
          </a:pPr>
          <a:r>
            <a:rPr lang="fa-IR" sz="1200" b="1" kern="1200" dirty="0">
              <a:latin typeface="IRZeytoon" panose="02000503000000020002" pitchFamily="2" charset="-78"/>
              <a:cs typeface="B Nazanin" panose="00000400000000000000" pitchFamily="2" charset="-78"/>
            </a:rPr>
            <a:t>ريال تا پانصد ميليون ريال.</a:t>
          </a:r>
        </a:p>
        <a:p>
          <a:pPr marL="0" lvl="0" indent="0" algn="ctr" defTabSz="533400">
            <a:lnSpc>
              <a:spcPct val="90000"/>
            </a:lnSpc>
            <a:spcBef>
              <a:spcPct val="0"/>
            </a:spcBef>
            <a:spcAft>
              <a:spcPct val="35000"/>
            </a:spcAft>
            <a:buNone/>
          </a:pPr>
          <a:endParaRPr lang="en-US" sz="1200" kern="1200" dirty="0"/>
        </a:p>
      </dsp:txBody>
      <dsp:txXfrm>
        <a:off x="4282151" y="2322296"/>
        <a:ext cx="1549401" cy="774700"/>
      </dsp:txXfrm>
    </dsp:sp>
    <dsp:sp modelId="{C6AA8B04-90EA-4E98-A6BE-CE4B6FFCDE08}">
      <dsp:nvSpPr>
        <dsp:cNvPr id="0" name=""/>
        <dsp:cNvSpPr/>
      </dsp:nvSpPr>
      <dsp:spPr>
        <a:xfrm>
          <a:off x="6208507" y="1226667"/>
          <a:ext cx="1549401" cy="774700"/>
        </a:xfrm>
        <a:prstGeom prst="rect">
          <a:avLst/>
        </a:prstGeom>
        <a:solidFill>
          <a:schemeClr val="dk1"/>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dk1"/>
        </a:fillRef>
        <a:effectRef idx="1">
          <a:schemeClr val="dk1"/>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a-IR" sz="1400" b="1" kern="1200" dirty="0">
              <a:latin typeface="IRZeytoon" panose="02000503000000020002" pitchFamily="2" charset="-78"/>
              <a:cs typeface="B Nazanin" panose="00000400000000000000" pitchFamily="2" charset="-78"/>
            </a:rPr>
            <a:t>نوع اول: معامالت جزيي </a:t>
          </a:r>
          <a:endParaRPr lang="en-US" sz="1400" kern="1200" dirty="0"/>
        </a:p>
      </dsp:txBody>
      <dsp:txXfrm>
        <a:off x="6208507" y="1226667"/>
        <a:ext cx="1549401" cy="774700"/>
      </dsp:txXfrm>
    </dsp:sp>
    <dsp:sp modelId="{E08190C6-1E62-4718-9C2B-4821AF34347B}">
      <dsp:nvSpPr>
        <dsp:cNvPr id="0" name=""/>
        <dsp:cNvSpPr/>
      </dsp:nvSpPr>
      <dsp:spPr>
        <a:xfrm>
          <a:off x="6544278" y="2322296"/>
          <a:ext cx="1549401" cy="774700"/>
        </a:xfrm>
        <a:prstGeom prst="rect">
          <a:avLst/>
        </a:prstGeom>
        <a:solidFill>
          <a:schemeClr val="dk1"/>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dk1"/>
        </a:fillRef>
        <a:effectRef idx="1">
          <a:schemeClr val="dk1"/>
        </a:effectRef>
        <a:fontRef idx="minor">
          <a:schemeClr val="lt1"/>
        </a:fontRef>
      </dsp:style>
      <dsp:txBody>
        <a:bodyPr spcFirstLastPara="0" vert="horz" wrap="square" lIns="7620" tIns="7620" rIns="7620" bIns="7620"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fa-IR" sz="1200" b="1" kern="1200" dirty="0">
              <a:latin typeface="IRZeytoon" panose="02000503000000020002" pitchFamily="2" charset="-78"/>
              <a:cs typeface="B Nazanin" panose="00000400000000000000" pitchFamily="2" charset="-78"/>
            </a:rPr>
            <a:t>از مبلغ دو ميليون ريال تا مبلغ پنجاه ميليون ريال.</a:t>
          </a:r>
        </a:p>
        <a:p>
          <a:pPr marL="0" lvl="0" algn="ctr" defTabSz="266700">
            <a:lnSpc>
              <a:spcPct val="90000"/>
            </a:lnSpc>
            <a:spcBef>
              <a:spcPct val="0"/>
            </a:spcBef>
            <a:spcAft>
              <a:spcPct val="35000"/>
            </a:spcAft>
            <a:buNone/>
          </a:pPr>
          <a:endParaRPr lang="en-US" sz="1200" kern="1200" dirty="0"/>
        </a:p>
      </dsp:txBody>
      <dsp:txXfrm>
        <a:off x="6544278" y="2322296"/>
        <a:ext cx="1549401" cy="77470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7b70f739eb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g17b70f739eb_2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17b70f739eb_2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g17b70f739eb_2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17b70f739eb_2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g17b70f739eb_2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17b70f739eb_2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3" name="Google Shape;163;g17b70f739eb_2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7775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17b70f739eb_2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3" name="Google Shape;163;g17b70f739eb_2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50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17b70f739eb_2_5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0" name="Google Shape;580;g17b70f739eb_2_5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7188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17b70f739eb_2_5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6" name="Google Shape;596;g17b70f739eb_2_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543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7b70f739eb_2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g17b70f739eb_2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31635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7b70f739eb_2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17b70f739eb_2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7b70f739eb_2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g17b70f739eb_2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7b70f739eb_2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g17b70f739eb_2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68069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17b70f739eb_2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g17b70f739eb_2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17b70f739eb_2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g17b70f739eb_2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69933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17b70f739eb_2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g17b70f739eb_2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17b70f739eb_2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g17b70f739eb_2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10219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17b70f739eb_2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g17b70f739eb_2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19721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7b70f739eb_2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g17b70f739eb_2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17b70f739eb_2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2" name="Google Shape;292;g17b70f739eb_2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7b70f739eb_2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g17b70f739eb_2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553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7b70f739eb_2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g17b70f739eb_2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30105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7b70f739eb_2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g17b70f739eb_2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43262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7b70f739eb_2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g17b70f739eb_2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46268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17b70f739eb_2_3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2" name="Google Shape;382;g17b70f739eb_2_3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17b70f739eb_2_3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2" name="Google Shape;382;g17b70f739eb_2_3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2484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17b70f739eb_2_2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g17b70f739eb_2_2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17b70f739eb_2_2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g17b70f739eb_2_2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10378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17b70f739eb_2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0" name="Google Shape;320;g17b70f739eb_2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17b70f739eb_2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0" name="Google Shape;320;g17b70f739eb_2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29333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17b70f739eb_2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8" name="Google Shape;368;g17b70f739eb_2_3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17b70f739eb_2_5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6" name="Google Shape;596;g17b70f739eb_2_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17b70f739eb_2_5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6" name="Google Shape;596;g17b70f739eb_2_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10773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17b70f739eb_2_5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6" name="Google Shape;596;g17b70f739eb_2_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11923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17b70f739eb_2_5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6" name="Google Shape;596;g17b70f739eb_2_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1523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17b70f739eb_2_5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6" name="Google Shape;596;g17b70f739eb_2_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67454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17b70f739eb_2_3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6" name="Google Shape;406;g17b70f739eb_2_3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17b70f739eb_2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8" name="Google Shape;448;g17b70f739eb_2_3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17b70f739eb_2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1" name="Google Shape;471;g17b70f739eb_2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17b70f739eb_2_4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6" name="Google Shape;486;g17b70f739eb_2_4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17b70f739eb_2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g17b70f739eb_2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37298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17b70f739eb_2_5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0" name="Google Shape;580;g17b70f739eb_2_5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9240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17b70f739eb_2_5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6" name="Google Shape;596;g17b70f739eb_2_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91814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7b70f739eb_2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g17b70f739eb_2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562836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17b70f739eb_2_5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0" name="Google Shape;580;g17b70f739eb_2_5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17b70f739eb_2_3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2" name="Google Shape;422;g17b70f739eb_2_3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17b70f739eb_2_5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0" name="Google Shape;580;g17b70f739eb_2_5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65739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17b70f739eb_2_3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2" name="Google Shape;422;g17b70f739eb_2_3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268812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17b70f739eb_2_5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0" name="Google Shape;580;g17b70f739eb_2_5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2296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17b70f739eb_2_4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6" name="Google Shape;486;g17b70f739eb_2_4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49261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17b70f739eb_2_5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6" name="Google Shape;596;g17b70f739eb_2_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8483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17b70f739eb_2_5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6" name="Google Shape;596;g17b70f739eb_2_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294780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17b70f739eb_2_5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6" name="Google Shape;596;g17b70f739eb_2_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075004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17b70f739eb_2_5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6" name="Google Shape;596;g17b70f739eb_2_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459494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17b70f739eb_2_5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6" name="Google Shape;596;g17b70f739eb_2_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85507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17b70f739eb_2_5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6" name="Google Shape;596;g17b70f739eb_2_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9131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17b70f739eb_2_5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6" name="Google Shape;596;g17b70f739eb_2_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95057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17b70f739eb_2_5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6" name="Google Shape;596;g17b70f739eb_2_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1118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4"/>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8" name="Google Shape;58;p14"/>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9" name="Google Shape;59;p14"/>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8" name="Google Shape;68;p16"/>
          <p:cNvSpPr txBox="1">
            <a:spLocks noGrp="1"/>
          </p:cNvSpPr>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69" name="Google Shape;69;p16"/>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0" name="Google Shape;70;p16"/>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1" name="Google Shape;71;p16"/>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361156" y="2203450"/>
            <a:ext cx="3886200" cy="681038"/>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74" name="Google Shape;74;p17"/>
          <p:cNvSpPr txBox="1">
            <a:spLocks noGrp="1"/>
          </p:cNvSpPr>
          <p:nvPr>
            <p:ph type="body" idx="1"/>
          </p:nvPr>
        </p:nvSpPr>
        <p:spPr>
          <a:xfrm>
            <a:off x="361156" y="1453357"/>
            <a:ext cx="3886200" cy="750094"/>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a:endParaRPr/>
          </a:p>
        </p:txBody>
      </p:sp>
      <p:sp>
        <p:nvSpPr>
          <p:cNvPr id="75" name="Google Shape;75;p17"/>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6" name="Google Shape;76;p17"/>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7" name="Google Shape;77;p17"/>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0" name="Google Shape;80;p18"/>
          <p:cNvSpPr txBox="1">
            <a:spLocks noGrp="1"/>
          </p:cNvSpPr>
          <p:nvPr>
            <p:ph type="body" idx="1"/>
          </p:nvPr>
        </p:nvSpPr>
        <p:spPr>
          <a:xfrm>
            <a:off x="2286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81" name="Google Shape;81;p18"/>
          <p:cNvSpPr txBox="1">
            <a:spLocks noGrp="1"/>
          </p:cNvSpPr>
          <p:nvPr>
            <p:ph type="body" idx="2"/>
          </p:nvPr>
        </p:nvSpPr>
        <p:spPr>
          <a:xfrm>
            <a:off x="23241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82" name="Google Shape;82;p18"/>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3" name="Google Shape;83;p18"/>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4" name="Google Shape;84;p18"/>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5"/>
        <p:cNvGrpSpPr/>
        <p:nvPr/>
      </p:nvGrpSpPr>
      <p:grpSpPr>
        <a:xfrm>
          <a:off x="0" y="0"/>
          <a:ext cx="0" cy="0"/>
          <a:chOff x="0" y="0"/>
          <a:chExt cx="0" cy="0"/>
        </a:xfrm>
      </p:grpSpPr>
      <p:sp>
        <p:nvSpPr>
          <p:cNvPr id="86" name="Google Shape;86;p19"/>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7" name="Google Shape;87;p19"/>
          <p:cNvSpPr txBox="1">
            <a:spLocks noGrp="1"/>
          </p:cNvSpPr>
          <p:nvPr>
            <p:ph type="body" idx="1"/>
          </p:nvPr>
        </p:nvSpPr>
        <p:spPr>
          <a:xfrm>
            <a:off x="228600" y="767556"/>
            <a:ext cx="2020094"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88" name="Google Shape;88;p19"/>
          <p:cNvSpPr txBox="1">
            <a:spLocks noGrp="1"/>
          </p:cNvSpPr>
          <p:nvPr>
            <p:ph type="body" idx="2"/>
          </p:nvPr>
        </p:nvSpPr>
        <p:spPr>
          <a:xfrm>
            <a:off x="228600" y="1087438"/>
            <a:ext cx="2020094"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89" name="Google Shape;89;p19"/>
          <p:cNvSpPr txBox="1">
            <a:spLocks noGrp="1"/>
          </p:cNvSpPr>
          <p:nvPr>
            <p:ph type="body" idx="3"/>
          </p:nvPr>
        </p:nvSpPr>
        <p:spPr>
          <a:xfrm>
            <a:off x="2322513" y="767556"/>
            <a:ext cx="2020888"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90" name="Google Shape;90;p19"/>
          <p:cNvSpPr txBox="1">
            <a:spLocks noGrp="1"/>
          </p:cNvSpPr>
          <p:nvPr>
            <p:ph type="body" idx="4"/>
          </p:nvPr>
        </p:nvSpPr>
        <p:spPr>
          <a:xfrm>
            <a:off x="2322513" y="1087438"/>
            <a:ext cx="2020888"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91" name="Google Shape;91;p19"/>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2" name="Google Shape;92;p19"/>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3" name="Google Shape;93;p19"/>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228600" y="136525"/>
            <a:ext cx="1504157" cy="581025"/>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01" name="Google Shape;101;p21"/>
          <p:cNvSpPr txBox="1">
            <a:spLocks noGrp="1"/>
          </p:cNvSpPr>
          <p:nvPr>
            <p:ph type="body" idx="1"/>
          </p:nvPr>
        </p:nvSpPr>
        <p:spPr>
          <a:xfrm>
            <a:off x="1787525" y="136525"/>
            <a:ext cx="2555875" cy="2926557"/>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a:endParaRPr/>
          </a:p>
        </p:txBody>
      </p:sp>
      <p:sp>
        <p:nvSpPr>
          <p:cNvPr id="102" name="Google Shape;102;p21"/>
          <p:cNvSpPr txBox="1">
            <a:spLocks noGrp="1"/>
          </p:cNvSpPr>
          <p:nvPr>
            <p:ph type="body" idx="2"/>
          </p:nvPr>
        </p:nvSpPr>
        <p:spPr>
          <a:xfrm>
            <a:off x="228600" y="717550"/>
            <a:ext cx="1504157" cy="2345532"/>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103" name="Google Shape;103;p21"/>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4" name="Google Shape;104;p21"/>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5" name="Google Shape;105;p21"/>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896144" y="2400300"/>
            <a:ext cx="2743200" cy="283369"/>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08" name="Google Shape;108;p22"/>
          <p:cNvSpPr>
            <a:spLocks noGrp="1"/>
          </p:cNvSpPr>
          <p:nvPr>
            <p:ph type="pic" idx="2"/>
          </p:nvPr>
        </p:nvSpPr>
        <p:spPr>
          <a:xfrm>
            <a:off x="896144" y="306388"/>
            <a:ext cx="2743200" cy="2057400"/>
          </a:xfrm>
          <a:prstGeom prst="rect">
            <a:avLst/>
          </a:prstGeom>
          <a:noFill/>
          <a:ln>
            <a:noFill/>
          </a:ln>
        </p:spPr>
      </p:sp>
      <p:sp>
        <p:nvSpPr>
          <p:cNvPr id="109" name="Google Shape;109;p22"/>
          <p:cNvSpPr txBox="1">
            <a:spLocks noGrp="1"/>
          </p:cNvSpPr>
          <p:nvPr>
            <p:ph type="body" idx="1"/>
          </p:nvPr>
        </p:nvSpPr>
        <p:spPr>
          <a:xfrm>
            <a:off x="896144" y="2683669"/>
            <a:ext cx="2743200" cy="402431"/>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110" name="Google Shape;110;p22"/>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1" name="Google Shape;111;p22"/>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2" name="Google Shape;112;p22"/>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15" name="Google Shape;115;p23"/>
          <p:cNvSpPr txBox="1">
            <a:spLocks noGrp="1"/>
          </p:cNvSpPr>
          <p:nvPr>
            <p:ph type="body" idx="1"/>
          </p:nvPr>
        </p:nvSpPr>
        <p:spPr>
          <a:xfrm rot="5400000">
            <a:off x="1154509" y="-125809"/>
            <a:ext cx="2262982"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116" name="Google Shape;116;p23"/>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7" name="Google Shape;117;p23"/>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8" name="Google Shape;118;p23"/>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2366169" y="1085850"/>
            <a:ext cx="2925763"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21" name="Google Shape;121;p24"/>
          <p:cNvSpPr txBox="1">
            <a:spLocks noGrp="1"/>
          </p:cNvSpPr>
          <p:nvPr>
            <p:ph type="body" idx="1"/>
          </p:nvPr>
        </p:nvSpPr>
        <p:spPr>
          <a:xfrm rot="5400000">
            <a:off x="270669" y="95250"/>
            <a:ext cx="2925763"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122" name="Google Shape;122;p24"/>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3" name="Google Shape;123;p24"/>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4" name="Google Shape;124;p24"/>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rtl="0">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a:endParaRPr/>
          </a:p>
        </p:txBody>
      </p:sp>
      <p:sp>
        <p:nvSpPr>
          <p:cNvPr id="52" name="Google Shape;52;p13"/>
          <p:cNvSpPr txBox="1">
            <a:spLocks noGrp="1"/>
          </p:cNvSpPr>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marR="0" lvl="0" indent="-330200" algn="l" rtl="0">
              <a:spcBef>
                <a:spcPts val="3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1pPr>
            <a:lvl2pPr marL="914400" marR="0" lvl="1" indent="-317500" algn="l" rtl="0">
              <a:spcBef>
                <a:spcPts val="3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2pPr>
            <a:lvl3pPr marL="1371600" marR="0" lvl="2" indent="-304800" algn="l" rtl="0">
              <a:spcBef>
                <a:spcPts val="2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4pPr>
            <a:lvl5pPr marL="2286000" marR="0" lvl="4"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5pPr>
            <a:lvl6pPr marL="2743200" marR="0" lvl="5"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marR="0" lvl="0" algn="l"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marR="0" lvl="0" algn="ctr"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marR="0" lvl="0" indent="0" algn="r" rtl="0">
              <a:spcBef>
                <a:spcPts val="0"/>
              </a:spcBef>
              <a:buNone/>
              <a:defRPr sz="600" b="0" i="0" u="none" strike="noStrike" cap="none">
                <a:solidFill>
                  <a:srgbClr val="888888"/>
                </a:solidFill>
                <a:latin typeface="Calibri"/>
                <a:ea typeface="Calibri"/>
                <a:cs typeface="Calibri"/>
                <a:sym typeface="Calibri"/>
              </a:defRPr>
            </a:lvl1pPr>
            <a:lvl2pPr marL="0" marR="0" lvl="1" indent="0" algn="r" rtl="0">
              <a:spcBef>
                <a:spcPts val="0"/>
              </a:spcBef>
              <a:buNone/>
              <a:defRPr sz="600" b="0" i="0" u="none" strike="noStrike" cap="none">
                <a:solidFill>
                  <a:srgbClr val="888888"/>
                </a:solidFill>
                <a:latin typeface="Calibri"/>
                <a:ea typeface="Calibri"/>
                <a:cs typeface="Calibri"/>
                <a:sym typeface="Calibri"/>
              </a:defRPr>
            </a:lvl2pPr>
            <a:lvl3pPr marL="0" marR="0" lvl="2" indent="0" algn="r" rtl="0">
              <a:spcBef>
                <a:spcPts val="0"/>
              </a:spcBef>
              <a:buNone/>
              <a:defRPr sz="600" b="0" i="0" u="none" strike="noStrike" cap="none">
                <a:solidFill>
                  <a:srgbClr val="888888"/>
                </a:solidFill>
                <a:latin typeface="Calibri"/>
                <a:ea typeface="Calibri"/>
                <a:cs typeface="Calibri"/>
                <a:sym typeface="Calibri"/>
              </a:defRPr>
            </a:lvl3pPr>
            <a:lvl4pPr marL="0" marR="0" lvl="3" indent="0" algn="r" rtl="0">
              <a:spcBef>
                <a:spcPts val="0"/>
              </a:spcBef>
              <a:buNone/>
              <a:defRPr sz="600" b="0" i="0" u="none" strike="noStrike" cap="none">
                <a:solidFill>
                  <a:srgbClr val="888888"/>
                </a:solidFill>
                <a:latin typeface="Calibri"/>
                <a:ea typeface="Calibri"/>
                <a:cs typeface="Calibri"/>
                <a:sym typeface="Calibri"/>
              </a:defRPr>
            </a:lvl4pPr>
            <a:lvl5pPr marL="0" marR="0" lvl="4" indent="0" algn="r" rtl="0">
              <a:spcBef>
                <a:spcPts val="0"/>
              </a:spcBef>
              <a:buNone/>
              <a:defRPr sz="600" b="0" i="0" u="none" strike="noStrike" cap="none">
                <a:solidFill>
                  <a:srgbClr val="888888"/>
                </a:solidFill>
                <a:latin typeface="Calibri"/>
                <a:ea typeface="Calibri"/>
                <a:cs typeface="Calibri"/>
                <a:sym typeface="Calibri"/>
              </a:defRPr>
            </a:lvl5pPr>
            <a:lvl6pPr marL="0" marR="0" lvl="5" indent="0" algn="r" rtl="0">
              <a:spcBef>
                <a:spcPts val="0"/>
              </a:spcBef>
              <a:buNone/>
              <a:defRPr sz="600" b="0" i="0" u="none" strike="noStrike" cap="none">
                <a:solidFill>
                  <a:srgbClr val="888888"/>
                </a:solidFill>
                <a:latin typeface="Calibri"/>
                <a:ea typeface="Calibri"/>
                <a:cs typeface="Calibri"/>
                <a:sym typeface="Calibri"/>
              </a:defRPr>
            </a:lvl6pPr>
            <a:lvl7pPr marL="0" marR="0" lvl="6" indent="0" algn="r" rtl="0">
              <a:spcBef>
                <a:spcPts val="0"/>
              </a:spcBef>
              <a:buNone/>
              <a:defRPr sz="600" b="0" i="0" u="none" strike="noStrike" cap="none">
                <a:solidFill>
                  <a:srgbClr val="888888"/>
                </a:solidFill>
                <a:latin typeface="Calibri"/>
                <a:ea typeface="Calibri"/>
                <a:cs typeface="Calibri"/>
                <a:sym typeface="Calibri"/>
              </a:defRPr>
            </a:lvl7pPr>
            <a:lvl8pPr marL="0" marR="0" lvl="7" indent="0" algn="r" rtl="0">
              <a:spcBef>
                <a:spcPts val="0"/>
              </a:spcBef>
              <a:buNone/>
              <a:defRPr sz="600" b="0" i="0" u="none" strike="noStrike" cap="none">
                <a:solidFill>
                  <a:srgbClr val="888888"/>
                </a:solidFill>
                <a:latin typeface="Calibri"/>
                <a:ea typeface="Calibri"/>
                <a:cs typeface="Calibri"/>
                <a:sym typeface="Calibri"/>
              </a:defRPr>
            </a:lvl8pPr>
            <a:lvl9pPr marL="0" marR="0" lvl="8" indent="0" algn="r" rtl="0">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1" r:id="rId2"/>
    <p:sldLayoutId id="2147483662" r:id="rId3"/>
    <p:sldLayoutId id="2147483663" r:id="rId4"/>
    <p:sldLayoutId id="2147483664" r:id="rId5"/>
    <p:sldLayoutId id="2147483666" r:id="rId6"/>
    <p:sldLayoutId id="2147483667" r:id="rId7"/>
    <p:sldLayoutId id="2147483668" r:id="rId8"/>
    <p:sldLayoutId id="214748366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0.jpg"/><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15.jp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9.xml"/><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3.jpg"/></Relationships>
</file>

<file path=ppt/slides/_rels/slide4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0.xml"/><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7.jpg"/></Relationships>
</file>

<file path=ppt/slides/_rels/slide4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1.xml"/><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7.jpg"/></Relationships>
</file>

<file path=ppt/slides/_rels/slide4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26.jpg"/></Relationships>
</file>

<file path=ppt/slides/_rels/slide4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28.jp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25"/>
          <p:cNvPicPr preferRelativeResize="0"/>
          <p:nvPr/>
        </p:nvPicPr>
        <p:blipFill rotWithShape="1">
          <a:blip r:embed="rId3">
            <a:alphaModFix/>
          </a:blip>
          <a:srcRect t="28906" b="28906"/>
          <a:stretch/>
        </p:blipFill>
        <p:spPr>
          <a:xfrm>
            <a:off x="0" y="0"/>
            <a:ext cx="9144000" cy="5143500"/>
          </a:xfrm>
          <a:prstGeom prst="rect">
            <a:avLst/>
          </a:prstGeom>
          <a:noFill/>
          <a:ln>
            <a:noFill/>
          </a:ln>
        </p:spPr>
      </p:pic>
      <p:cxnSp>
        <p:nvCxnSpPr>
          <p:cNvPr id="130" name="Google Shape;130;p25"/>
          <p:cNvCxnSpPr/>
          <p:nvPr/>
        </p:nvCxnSpPr>
        <p:spPr>
          <a:xfrm rot="5400000">
            <a:off x="4654933" y="2656618"/>
            <a:ext cx="5564694" cy="0"/>
          </a:xfrm>
          <a:prstGeom prst="straightConnector1">
            <a:avLst/>
          </a:prstGeom>
          <a:noFill/>
          <a:ln w="9525" cap="flat" cmpd="sng">
            <a:solidFill>
              <a:srgbClr val="FFFFFF"/>
            </a:solidFill>
            <a:prstDash val="solid"/>
            <a:round/>
            <a:headEnd type="none" w="sm" len="sm"/>
            <a:tailEnd type="none" w="sm" len="sm"/>
          </a:ln>
        </p:spPr>
      </p:cxnSp>
      <p:cxnSp>
        <p:nvCxnSpPr>
          <p:cNvPr id="131" name="Google Shape;131;p25"/>
          <p:cNvCxnSpPr/>
          <p:nvPr/>
        </p:nvCxnSpPr>
        <p:spPr>
          <a:xfrm rot="5400000">
            <a:off x="-1075627" y="2656618"/>
            <a:ext cx="5564694" cy="0"/>
          </a:xfrm>
          <a:prstGeom prst="straightConnector1">
            <a:avLst/>
          </a:prstGeom>
          <a:noFill/>
          <a:ln w="9525" cap="flat" cmpd="sng">
            <a:solidFill>
              <a:srgbClr val="FFFFFF"/>
            </a:solidFill>
            <a:prstDash val="solid"/>
            <a:round/>
            <a:headEnd type="none" w="sm" len="sm"/>
            <a:tailEnd type="none" w="sm" len="sm"/>
          </a:ln>
        </p:spPr>
      </p:cxnSp>
      <p:grpSp>
        <p:nvGrpSpPr>
          <p:cNvPr id="132" name="Google Shape;132;p25"/>
          <p:cNvGrpSpPr/>
          <p:nvPr/>
        </p:nvGrpSpPr>
        <p:grpSpPr>
          <a:xfrm>
            <a:off x="0" y="-72324"/>
            <a:ext cx="1704306" cy="5215712"/>
            <a:chOff x="0" y="-38100"/>
            <a:chExt cx="897759" cy="3059607"/>
          </a:xfrm>
        </p:grpSpPr>
        <p:sp>
          <p:nvSpPr>
            <p:cNvPr id="133" name="Google Shape;133;p25"/>
            <p:cNvSpPr/>
            <p:nvPr/>
          </p:nvSpPr>
          <p:spPr>
            <a:xfrm>
              <a:off x="0" y="0"/>
              <a:ext cx="897759" cy="3021507"/>
            </a:xfrm>
            <a:custGeom>
              <a:avLst/>
              <a:gdLst/>
              <a:ahLst/>
              <a:cxnLst/>
              <a:rect l="l" t="t" r="r" b="b"/>
              <a:pathLst>
                <a:path w="897759" h="3021507" extrusionOk="0">
                  <a:moveTo>
                    <a:pt x="0" y="0"/>
                  </a:moveTo>
                  <a:lnTo>
                    <a:pt x="897759" y="0"/>
                  </a:lnTo>
                  <a:lnTo>
                    <a:pt x="897759" y="3021507"/>
                  </a:lnTo>
                  <a:lnTo>
                    <a:pt x="0" y="3021507"/>
                  </a:lnTo>
                  <a:close/>
                </a:path>
              </a:pathLst>
            </a:custGeom>
            <a:solidFill>
              <a:srgbClr val="000000">
                <a:alpha val="30588"/>
              </a:srgbClr>
            </a:solidFill>
            <a:ln>
              <a:noFill/>
            </a:ln>
          </p:spPr>
          <p:txBody>
            <a:bodyPr/>
            <a:lstStyle/>
            <a:p>
              <a:endParaRPr lang="en-US"/>
            </a:p>
          </p:txBody>
        </p:sp>
        <p:sp>
          <p:nvSpPr>
            <p:cNvPr id="134" name="Google Shape;134;p25"/>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grpSp>
        <p:nvGrpSpPr>
          <p:cNvPr id="135" name="Google Shape;135;p25"/>
          <p:cNvGrpSpPr/>
          <p:nvPr/>
        </p:nvGrpSpPr>
        <p:grpSpPr>
          <a:xfrm>
            <a:off x="7439650" y="-72325"/>
            <a:ext cx="1704306" cy="5215712"/>
            <a:chOff x="0" y="-38100"/>
            <a:chExt cx="897759" cy="3059607"/>
          </a:xfrm>
        </p:grpSpPr>
        <p:sp>
          <p:nvSpPr>
            <p:cNvPr id="136" name="Google Shape;136;p25"/>
            <p:cNvSpPr/>
            <p:nvPr/>
          </p:nvSpPr>
          <p:spPr>
            <a:xfrm>
              <a:off x="0" y="0"/>
              <a:ext cx="897759" cy="3021507"/>
            </a:xfrm>
            <a:custGeom>
              <a:avLst/>
              <a:gdLst/>
              <a:ahLst/>
              <a:cxnLst/>
              <a:rect l="l" t="t" r="r" b="b"/>
              <a:pathLst>
                <a:path w="897759" h="3021507" extrusionOk="0">
                  <a:moveTo>
                    <a:pt x="0" y="0"/>
                  </a:moveTo>
                  <a:lnTo>
                    <a:pt x="897759" y="0"/>
                  </a:lnTo>
                  <a:lnTo>
                    <a:pt x="897759" y="3021507"/>
                  </a:lnTo>
                  <a:lnTo>
                    <a:pt x="0" y="3021507"/>
                  </a:lnTo>
                  <a:close/>
                </a:path>
              </a:pathLst>
            </a:custGeom>
            <a:solidFill>
              <a:srgbClr val="000000">
                <a:alpha val="30588"/>
              </a:srgbClr>
            </a:solidFill>
            <a:ln>
              <a:noFill/>
            </a:ln>
          </p:spPr>
          <p:txBody>
            <a:bodyPr/>
            <a:lstStyle/>
            <a:p>
              <a:endParaRPr lang="en-US"/>
            </a:p>
          </p:txBody>
        </p:sp>
        <p:sp>
          <p:nvSpPr>
            <p:cNvPr id="137" name="Google Shape;137;p25"/>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138" name="Google Shape;138;p25"/>
          <p:cNvSpPr txBox="1"/>
          <p:nvPr/>
        </p:nvSpPr>
        <p:spPr>
          <a:xfrm>
            <a:off x="1663121" y="543193"/>
            <a:ext cx="5610458" cy="28931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fa-IR" sz="4700" b="1" dirty="0">
                <a:solidFill>
                  <a:srgbClr val="FFFFFF"/>
                </a:solidFill>
                <a:latin typeface="Open Sans"/>
                <a:ea typeface="Open Sans"/>
                <a:cs typeface="B Nazanin" panose="00000700000000000000" pitchFamily="2" charset="-78"/>
                <a:sym typeface="Open Sans"/>
              </a:rPr>
              <a:t>درس مدیریت تشکیلات کارگاهی</a:t>
            </a:r>
            <a:endParaRPr lang="fa-IR" sz="4700" b="1" i="0" u="none" strike="noStrike" cap="none" dirty="0">
              <a:solidFill>
                <a:srgbClr val="FFFF00"/>
              </a:solidFill>
              <a:latin typeface="Open Sans"/>
              <a:ea typeface="Open Sans"/>
              <a:cs typeface="B Nazanin" panose="00000700000000000000" pitchFamily="2" charset="-78"/>
              <a:sym typeface="Open Sans"/>
            </a:endParaRPr>
          </a:p>
          <a:p>
            <a:pPr marL="0" marR="0" lvl="0" indent="0" algn="ctr" rtl="0">
              <a:lnSpc>
                <a:spcPct val="100000"/>
              </a:lnSpc>
              <a:spcBef>
                <a:spcPts val="0"/>
              </a:spcBef>
              <a:spcAft>
                <a:spcPts val="0"/>
              </a:spcAft>
              <a:buNone/>
            </a:pPr>
            <a:r>
              <a:rPr lang="fa-IR" sz="4700" b="1" i="0" u="none" strike="noStrike" cap="none" dirty="0">
                <a:solidFill>
                  <a:srgbClr val="FFFF00"/>
                </a:solidFill>
                <a:latin typeface="Open Sans"/>
                <a:ea typeface="Open Sans"/>
                <a:cs typeface="B Nazanin" panose="00000700000000000000" pitchFamily="2" charset="-78"/>
                <a:sym typeface="Open Sans"/>
              </a:rPr>
              <a:t> </a:t>
            </a:r>
            <a:r>
              <a:rPr lang="fa-IR" sz="4700" b="1" dirty="0">
                <a:solidFill>
                  <a:srgbClr val="FFFF00"/>
                </a:solidFill>
                <a:latin typeface="Open Sans"/>
                <a:ea typeface="Open Sans"/>
                <a:cs typeface="B Nazanin" panose="00000700000000000000" pitchFamily="2" charset="-78"/>
                <a:sym typeface="Open Sans"/>
              </a:rPr>
              <a:t>موضوع: قوانین شهرداری و شهر سازی</a:t>
            </a:r>
            <a:endParaRPr lang="en-US" sz="700" b="1" dirty="0">
              <a:solidFill>
                <a:srgbClr val="FFFF00"/>
              </a:solidFill>
              <a:latin typeface="Open Sans"/>
              <a:ea typeface="Open Sans"/>
              <a:cs typeface="B Nazanin" panose="00000700000000000000" pitchFamily="2" charset="-78"/>
              <a:sym typeface="Open Sans"/>
            </a:endParaRPr>
          </a:p>
        </p:txBody>
      </p:sp>
      <p:sp>
        <p:nvSpPr>
          <p:cNvPr id="139" name="Google Shape;139;p25"/>
          <p:cNvSpPr txBox="1"/>
          <p:nvPr/>
        </p:nvSpPr>
        <p:spPr>
          <a:xfrm>
            <a:off x="3146972" y="4363319"/>
            <a:ext cx="2845226" cy="473976"/>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100" b="0" i="0" u="none" strike="noStrike" cap="none" dirty="0">
                <a:solidFill>
                  <a:srgbClr val="FFFFFF"/>
                </a:solidFill>
                <a:latin typeface="Open Sans"/>
                <a:ea typeface="Open Sans"/>
                <a:cs typeface="B Nazanin" panose="00000700000000000000" pitchFamily="2" charset="-78"/>
                <a:sym typeface="Open Sans"/>
              </a:rPr>
              <a:t>Drmostafanajafi.ir</a:t>
            </a:r>
            <a:r>
              <a:rPr lang="fa-IR" sz="1100" b="0" i="0" u="none" strike="noStrike" cap="none" dirty="0">
                <a:solidFill>
                  <a:srgbClr val="FFFFFF"/>
                </a:solidFill>
                <a:latin typeface="Open Sans"/>
                <a:ea typeface="Open Sans"/>
                <a:cs typeface="B Nazanin" panose="00000700000000000000" pitchFamily="2" charset="-78"/>
                <a:sym typeface="Open Sans"/>
              </a:rPr>
              <a:t>منبع: </a:t>
            </a:r>
          </a:p>
          <a:p>
            <a:pPr marL="0" marR="0" lvl="0" indent="0" algn="ctr" rtl="0">
              <a:lnSpc>
                <a:spcPct val="140000"/>
              </a:lnSpc>
              <a:spcBef>
                <a:spcPts val="0"/>
              </a:spcBef>
              <a:spcAft>
                <a:spcPts val="0"/>
              </a:spcAft>
              <a:buNone/>
            </a:pPr>
            <a:r>
              <a:rPr lang="fa-IR" sz="1100" dirty="0">
                <a:solidFill>
                  <a:srgbClr val="FFFFFF"/>
                </a:solidFill>
                <a:latin typeface="Open Sans"/>
                <a:ea typeface="Open Sans"/>
                <a:cs typeface="B Nazanin" panose="00000700000000000000" pitchFamily="2" charset="-78"/>
                <a:sym typeface="Open Sans"/>
              </a:rPr>
              <a:t>پاییز1402</a:t>
            </a:r>
            <a:endParaRPr sz="700" dirty="0">
              <a:cs typeface="B Nazanin" panose="00000700000000000000" pitchFamily="2" charset="-78"/>
            </a:endParaRPr>
          </a:p>
        </p:txBody>
      </p:sp>
      <p:sp>
        <p:nvSpPr>
          <p:cNvPr id="140" name="Google Shape;140;p25"/>
          <p:cNvSpPr txBox="1"/>
          <p:nvPr/>
        </p:nvSpPr>
        <p:spPr>
          <a:xfrm>
            <a:off x="7559749" y="2398078"/>
            <a:ext cx="1069901" cy="603242"/>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fa-IR" b="0" i="0" u="none" strike="noStrike" cap="none" dirty="0">
                <a:solidFill>
                  <a:srgbClr val="FFFFFF"/>
                </a:solidFill>
                <a:latin typeface="Open Sans"/>
                <a:ea typeface="Open Sans"/>
                <a:cs typeface="B Nazanin" panose="00000700000000000000" pitchFamily="2" charset="-78"/>
                <a:sym typeface="Open Sans"/>
              </a:rPr>
              <a:t>استاد: دکتر مصطفی نجفی</a:t>
            </a:r>
            <a:endParaRPr sz="1050" dirty="0">
              <a:cs typeface="B Nazanin" panose="00000700000000000000" pitchFamily="2" charset="-78"/>
            </a:endParaRPr>
          </a:p>
        </p:txBody>
      </p:sp>
      <p:sp>
        <p:nvSpPr>
          <p:cNvPr id="141" name="Google Shape;141;p25"/>
          <p:cNvSpPr txBox="1"/>
          <p:nvPr/>
        </p:nvSpPr>
        <p:spPr>
          <a:xfrm>
            <a:off x="514350" y="2398078"/>
            <a:ext cx="1028670" cy="52783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fa-IR" b="0" i="0" u="none" strike="noStrike" cap="none" dirty="0">
                <a:solidFill>
                  <a:srgbClr val="FFFFFF"/>
                </a:solidFill>
                <a:latin typeface="Open Sans"/>
                <a:ea typeface="Open Sans"/>
                <a:cs typeface="B Nazanin" panose="00000700000000000000" pitchFamily="2" charset="-78"/>
                <a:sym typeface="Open Sans"/>
              </a:rPr>
              <a:t>نام نام خانوادگی:</a:t>
            </a:r>
            <a:r>
              <a:rPr lang="fa-IR" sz="1050" b="0" i="0" u="none" strike="noStrike" cap="none" dirty="0">
                <a:solidFill>
                  <a:srgbClr val="FFFFFF"/>
                </a:solidFill>
                <a:latin typeface="Open Sans"/>
                <a:ea typeface="Open Sans"/>
                <a:cs typeface="B Nazanin" panose="00000700000000000000" pitchFamily="2" charset="-78"/>
                <a:sym typeface="Open Sans"/>
              </a:rPr>
              <a:t> محمدعلی نوریان</a:t>
            </a:r>
            <a:endParaRPr lang="fa-IR" b="0" i="0" u="none" strike="noStrike" cap="none" dirty="0">
              <a:solidFill>
                <a:srgbClr val="FFFFFF"/>
              </a:solidFill>
              <a:latin typeface="Open Sans"/>
              <a:ea typeface="Open Sans"/>
              <a:cs typeface="B Nazanin" panose="00000700000000000000" pitchFamily="2" charset="-78"/>
              <a:sym typeface="Open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5" name="Picture 4" descr="A map of a city&#10;&#10;Description automatically generated">
            <a:extLst>
              <a:ext uri="{FF2B5EF4-FFF2-40B4-BE49-F238E27FC236}">
                <a16:creationId xmlns:a16="http://schemas.microsoft.com/office/drawing/2014/main" id="{3EC82280-266C-4650-9371-DBDB3B2E5874}"/>
              </a:ext>
            </a:extLst>
          </p:cNvPr>
          <p:cNvPicPr>
            <a:picLocks noChangeAspect="1"/>
          </p:cNvPicPr>
          <p:nvPr/>
        </p:nvPicPr>
        <p:blipFill>
          <a:blip r:embed="rId3"/>
          <a:stretch>
            <a:fillRect/>
          </a:stretch>
        </p:blipFill>
        <p:spPr>
          <a:xfrm rot="5400000">
            <a:off x="5787789" y="-807508"/>
            <a:ext cx="2584593" cy="4101776"/>
          </a:xfrm>
          <a:prstGeom prst="rect">
            <a:avLst/>
          </a:prstGeom>
        </p:spPr>
      </p:pic>
      <p:pic>
        <p:nvPicPr>
          <p:cNvPr id="3" name="Picture 2" descr="An aerial view of a road with cars and a bus on it&#10;&#10;Description automatically generated">
            <a:extLst>
              <a:ext uri="{FF2B5EF4-FFF2-40B4-BE49-F238E27FC236}">
                <a16:creationId xmlns:a16="http://schemas.microsoft.com/office/drawing/2014/main" id="{7955CEDE-1E13-B057-731D-C339D2E5A8A1}"/>
              </a:ext>
            </a:extLst>
          </p:cNvPr>
          <p:cNvPicPr>
            <a:picLocks noChangeAspect="1"/>
          </p:cNvPicPr>
          <p:nvPr/>
        </p:nvPicPr>
        <p:blipFill>
          <a:blip r:embed="rId4"/>
          <a:stretch>
            <a:fillRect/>
          </a:stretch>
        </p:blipFill>
        <p:spPr>
          <a:xfrm>
            <a:off x="5029198" y="2669589"/>
            <a:ext cx="4101775" cy="2515842"/>
          </a:xfrm>
          <a:prstGeom prst="rect">
            <a:avLst/>
          </a:prstGeom>
        </p:spPr>
      </p:pic>
      <p:sp>
        <p:nvSpPr>
          <p:cNvPr id="148" name="Google Shape;148;p26"/>
          <p:cNvSpPr txBox="1"/>
          <p:nvPr/>
        </p:nvSpPr>
        <p:spPr>
          <a:xfrm>
            <a:off x="148856" y="754580"/>
            <a:ext cx="4241592" cy="723275"/>
          </a:xfrm>
          <a:prstGeom prst="rect">
            <a:avLst/>
          </a:prstGeom>
          <a:noFill/>
          <a:ln>
            <a:noFill/>
          </a:ln>
        </p:spPr>
        <p:txBody>
          <a:bodyPr spcFirstLastPara="1" wrap="square" lIns="0" tIns="0" rIns="0" bIns="0" anchor="t" anchorCtr="0">
            <a:spAutoFit/>
          </a:bodyPr>
          <a:lstStyle/>
          <a:p>
            <a:pPr marL="0" marR="0" lvl="0" indent="0" algn="r" rtl="1">
              <a:lnSpc>
                <a:spcPct val="100000"/>
              </a:lnSpc>
              <a:spcBef>
                <a:spcPts val="0"/>
              </a:spcBef>
              <a:spcAft>
                <a:spcPts val="0"/>
              </a:spcAft>
              <a:buNone/>
            </a:pPr>
            <a:r>
              <a:rPr lang="fa-IR" sz="4000" b="1" i="0" u="none" strike="noStrike" cap="none" dirty="0">
                <a:solidFill>
                  <a:srgbClr val="000000"/>
                </a:solidFill>
                <a:latin typeface="Open Sans"/>
                <a:ea typeface="Open Sans"/>
                <a:cs typeface="B Nazanin" panose="00000700000000000000" pitchFamily="2" charset="-78"/>
                <a:sym typeface="Open Sans"/>
              </a:rPr>
              <a:t>قانون اصلاح توسعه ی معابر</a:t>
            </a:r>
            <a:endParaRPr lang="fa-IR" sz="3600" b="1" i="0" u="none" strike="noStrike" cap="none" dirty="0">
              <a:solidFill>
                <a:srgbClr val="000000"/>
              </a:solidFill>
              <a:latin typeface="Open Sans"/>
              <a:ea typeface="Open Sans"/>
              <a:cs typeface="B Nazanin" panose="00000700000000000000" pitchFamily="2" charset="-78"/>
              <a:sym typeface="Open Sans"/>
            </a:endParaRPr>
          </a:p>
          <a:p>
            <a:pPr marL="0" marR="0" lvl="0" indent="0" algn="r" rtl="1">
              <a:lnSpc>
                <a:spcPct val="100000"/>
              </a:lnSpc>
              <a:spcBef>
                <a:spcPts val="0"/>
              </a:spcBef>
              <a:spcAft>
                <a:spcPts val="0"/>
              </a:spcAft>
              <a:buNone/>
            </a:pPr>
            <a:endParaRPr sz="700" b="1" dirty="0">
              <a:latin typeface="Open Sans"/>
              <a:ea typeface="Open Sans"/>
              <a:cs typeface="B Nazanin" panose="00000700000000000000" pitchFamily="2" charset="-78"/>
              <a:sym typeface="Open Sans"/>
            </a:endParaRPr>
          </a:p>
        </p:txBody>
      </p:sp>
      <p:grpSp>
        <p:nvGrpSpPr>
          <p:cNvPr id="149" name="Google Shape;149;p26"/>
          <p:cNvGrpSpPr/>
          <p:nvPr/>
        </p:nvGrpSpPr>
        <p:grpSpPr>
          <a:xfrm>
            <a:off x="265814" y="1483780"/>
            <a:ext cx="3666849" cy="2901543"/>
            <a:chOff x="-662763" y="-3677330"/>
            <a:chExt cx="9778264" cy="7737449"/>
          </a:xfrm>
        </p:grpSpPr>
        <p:sp>
          <p:nvSpPr>
            <p:cNvPr id="150" name="Google Shape;150;p26"/>
            <p:cNvSpPr txBox="1"/>
            <p:nvPr/>
          </p:nvSpPr>
          <p:spPr>
            <a:xfrm>
              <a:off x="185853" y="-3677330"/>
              <a:ext cx="6193800" cy="804323"/>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i="0" u="none" strike="noStrike" cap="none" dirty="0">
                  <a:solidFill>
                    <a:srgbClr val="000000"/>
                  </a:solidFill>
                  <a:latin typeface="Open Sans"/>
                  <a:ea typeface="Open Sans"/>
                  <a:cs typeface="B Nazanin" panose="00000700000000000000" pitchFamily="2" charset="-78"/>
                  <a:sym typeface="Open Sans"/>
                </a:rPr>
                <a:t>مصوب اول تیرماه 1320</a:t>
              </a:r>
              <a:endParaRPr sz="1050" dirty="0">
                <a:latin typeface="Open Sans"/>
                <a:ea typeface="Open Sans"/>
                <a:cs typeface="B Nazanin" panose="00000700000000000000" pitchFamily="2" charset="-78"/>
                <a:sym typeface="Open Sans"/>
              </a:endParaRPr>
            </a:p>
          </p:txBody>
        </p:sp>
        <p:sp>
          <p:nvSpPr>
            <p:cNvPr id="151" name="Google Shape;151;p26"/>
            <p:cNvSpPr txBox="1"/>
            <p:nvPr/>
          </p:nvSpPr>
          <p:spPr>
            <a:xfrm>
              <a:off x="-662763" y="842828"/>
              <a:ext cx="9778264" cy="3217291"/>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100" i="0" u="none" strike="noStrike" cap="none" dirty="0">
                  <a:solidFill>
                    <a:srgbClr val="000000"/>
                  </a:solidFill>
                  <a:latin typeface="Open Sans"/>
                  <a:ea typeface="Open Sans"/>
                  <a:cs typeface="B Nazanin" panose="00000700000000000000" pitchFamily="2" charset="-78"/>
                  <a:sym typeface="Open Sans"/>
                </a:rPr>
                <a:t>این قانون به مسائل مربوط به شهرداری ها برای تغییر خیابان ها و ... در شهر می پردازد.</a:t>
              </a:r>
            </a:p>
            <a:p>
              <a:pPr marL="0" marR="0" lvl="0" indent="0" algn="r" rtl="1">
                <a:lnSpc>
                  <a:spcPct val="140000"/>
                </a:lnSpc>
                <a:spcBef>
                  <a:spcPts val="0"/>
                </a:spcBef>
                <a:spcAft>
                  <a:spcPts val="0"/>
                </a:spcAft>
                <a:buNone/>
              </a:pPr>
              <a:r>
                <a:rPr lang="fa-IR" sz="900" dirty="0">
                  <a:latin typeface="Open Sans"/>
                  <a:ea typeface="Open Sans"/>
                  <a:cs typeface="B Nazanin" panose="00000700000000000000" pitchFamily="2" charset="-78"/>
                  <a:sym typeface="Open Sans"/>
                </a:rPr>
                <a:t>آئين نامه هاي وابسته به اين قانون باید به تصويب هيئت وزيران برسد.</a:t>
              </a:r>
            </a:p>
            <a:p>
              <a:pPr marL="0" marR="0" lvl="0" indent="0" algn="r" rtl="1">
                <a:lnSpc>
                  <a:spcPct val="140000"/>
                </a:lnSpc>
                <a:spcBef>
                  <a:spcPts val="0"/>
                </a:spcBef>
                <a:spcAft>
                  <a:spcPts val="0"/>
                </a:spcAft>
                <a:buNone/>
              </a:pPr>
              <a:r>
                <a:rPr lang="fa-IR" sz="900" dirty="0">
                  <a:latin typeface="Open Sans"/>
                  <a:ea typeface="Open Sans"/>
                  <a:cs typeface="B Nazanin" panose="00000700000000000000" pitchFamily="2" charset="-78"/>
                  <a:sym typeface="Open Sans"/>
                </a:rPr>
                <a:t>پس از تصویب این قانون، قانون توسعه معابر مصوب آبان 1312 لغو ميگردد.</a:t>
              </a:r>
            </a:p>
            <a:p>
              <a:pPr marL="0" marR="0" lvl="0" indent="0" algn="r" rtl="1">
                <a:lnSpc>
                  <a:spcPct val="140000"/>
                </a:lnSpc>
                <a:spcBef>
                  <a:spcPts val="0"/>
                </a:spcBef>
                <a:spcAft>
                  <a:spcPts val="0"/>
                </a:spcAft>
                <a:buNone/>
              </a:pPr>
              <a:r>
                <a:rPr lang="fa-IR" sz="900" dirty="0">
                  <a:latin typeface="Open Sans"/>
                  <a:ea typeface="Open Sans"/>
                  <a:cs typeface="B Nazanin" panose="00000700000000000000" pitchFamily="2" charset="-78"/>
                  <a:sym typeface="Open Sans"/>
                </a:rPr>
                <a:t>اين قانون به تصويب مجلس شوراي ملي رسيده است.</a:t>
              </a:r>
            </a:p>
            <a:p>
              <a:pPr marL="0" marR="0" lvl="0" indent="0" algn="r" rtl="1">
                <a:lnSpc>
                  <a:spcPct val="140000"/>
                </a:lnSpc>
                <a:spcBef>
                  <a:spcPts val="0"/>
                </a:spcBef>
                <a:spcAft>
                  <a:spcPts val="0"/>
                </a:spcAft>
                <a:buNone/>
              </a:pPr>
              <a:endParaRPr lang="fa-IR" sz="900" dirty="0">
                <a:latin typeface="Open Sans"/>
                <a:ea typeface="Open Sans"/>
                <a:cs typeface="B Nazanin" panose="00000700000000000000" pitchFamily="2" charset="-78"/>
                <a:sym typeface="Open Sans"/>
              </a:endParaRPr>
            </a:p>
            <a:p>
              <a:pPr marL="0" marR="0" lvl="0" indent="0" algn="r" rtl="1">
                <a:lnSpc>
                  <a:spcPct val="140000"/>
                </a:lnSpc>
                <a:spcBef>
                  <a:spcPts val="0"/>
                </a:spcBef>
                <a:spcAft>
                  <a:spcPts val="0"/>
                </a:spcAft>
                <a:buNone/>
              </a:pPr>
              <a:endParaRPr sz="900" dirty="0">
                <a:latin typeface="Open Sans"/>
                <a:ea typeface="Open Sans"/>
                <a:cs typeface="B Nazanin" panose="00000700000000000000" pitchFamily="2" charset="-78"/>
                <a:sym typeface="Open Sans"/>
              </a:endParaRPr>
            </a:p>
          </p:txBody>
        </p:sp>
      </p:grpSp>
      <p:grpSp>
        <p:nvGrpSpPr>
          <p:cNvPr id="152" name="Google Shape;152;p26"/>
          <p:cNvGrpSpPr/>
          <p:nvPr/>
        </p:nvGrpSpPr>
        <p:grpSpPr>
          <a:xfrm>
            <a:off x="514350" y="4156166"/>
            <a:ext cx="1716556" cy="1651544"/>
            <a:chOff x="0" y="-57150"/>
            <a:chExt cx="904194" cy="869950"/>
          </a:xfrm>
        </p:grpSpPr>
        <p:sp>
          <p:nvSpPr>
            <p:cNvPr id="153" name="Google Shape;153;p26"/>
            <p:cNvSpPr/>
            <p:nvPr/>
          </p:nvSpPr>
          <p:spPr>
            <a:xfrm>
              <a:off x="0" y="0"/>
              <a:ext cx="904194" cy="157520"/>
            </a:xfrm>
            <a:custGeom>
              <a:avLst/>
              <a:gdLst/>
              <a:ahLst/>
              <a:cxnLst/>
              <a:rect l="l" t="t" r="r" b="b"/>
              <a:pathLst>
                <a:path w="904194" h="157520" extrusionOk="0">
                  <a:moveTo>
                    <a:pt x="0" y="0"/>
                  </a:moveTo>
                  <a:lnTo>
                    <a:pt x="904194" y="0"/>
                  </a:lnTo>
                  <a:lnTo>
                    <a:pt x="904194" y="157520"/>
                  </a:lnTo>
                  <a:lnTo>
                    <a:pt x="0" y="157520"/>
                  </a:lnTo>
                  <a:close/>
                </a:path>
              </a:pathLst>
            </a:custGeom>
            <a:solidFill>
              <a:srgbClr val="000000"/>
            </a:solidFill>
            <a:ln>
              <a:noFill/>
            </a:ln>
          </p:spPr>
          <p:txBody>
            <a:bodyPr/>
            <a:lstStyle/>
            <a:p>
              <a:endParaRPr lang="en-US"/>
            </a:p>
          </p:txBody>
        </p:sp>
        <p:sp>
          <p:nvSpPr>
            <p:cNvPr id="154" name="Google Shape;154;p26"/>
            <p:cNvSpPr txBox="1"/>
            <p:nvPr/>
          </p:nvSpPr>
          <p:spPr>
            <a:xfrm>
              <a:off x="0" y="-57150"/>
              <a:ext cx="812800" cy="869950"/>
            </a:xfrm>
            <a:prstGeom prst="rect">
              <a:avLst/>
            </a:prstGeom>
            <a:noFill/>
            <a:ln>
              <a:noFill/>
            </a:ln>
          </p:spPr>
          <p:txBody>
            <a:bodyPr spcFirstLastPara="1" wrap="square" lIns="25400" tIns="25400" rIns="25400" bIns="25400" anchor="ctr" anchorCtr="0">
              <a:noAutofit/>
            </a:bodyPr>
            <a:lstStyle/>
            <a:p>
              <a:pPr marL="0" marR="0" lvl="0" indent="0" algn="ctr" rtl="1">
                <a:lnSpc>
                  <a:spcPct val="178888"/>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155" name="Google Shape;155;p26"/>
          <p:cNvSpPr txBox="1"/>
          <p:nvPr/>
        </p:nvSpPr>
        <p:spPr>
          <a:xfrm>
            <a:off x="514350" y="4241828"/>
            <a:ext cx="1750500" cy="344710"/>
          </a:xfrm>
          <a:prstGeom prst="rect">
            <a:avLst/>
          </a:prstGeom>
          <a:noFill/>
          <a:ln>
            <a:noFill/>
          </a:ln>
        </p:spPr>
        <p:txBody>
          <a:bodyPr spcFirstLastPara="1" wrap="square" lIns="0" tIns="0" rIns="0" bIns="0" anchor="t" anchorCtr="0">
            <a:spAutoFit/>
          </a:bodyPr>
          <a:lstStyle/>
          <a:p>
            <a:pPr marL="0" marR="0" lvl="0" indent="0" algn="ctr" rtl="1">
              <a:lnSpc>
                <a:spcPct val="140000"/>
              </a:lnSpc>
              <a:spcBef>
                <a:spcPts val="0"/>
              </a:spcBef>
              <a:spcAft>
                <a:spcPts val="0"/>
              </a:spcAft>
              <a:buNone/>
            </a:pPr>
            <a:r>
              <a:rPr lang="fa-IR" sz="1600" i="0" u="none" strike="noStrike" cap="none" dirty="0">
                <a:solidFill>
                  <a:srgbClr val="FFFFFF"/>
                </a:solidFill>
                <a:latin typeface="Open Sans"/>
                <a:ea typeface="Open Sans"/>
                <a:cs typeface="B Nazanin" panose="00000700000000000000" pitchFamily="2" charset="-78"/>
                <a:sym typeface="Open Sans"/>
              </a:rPr>
              <a:t>17 ماده</a:t>
            </a:r>
            <a:endParaRPr sz="1100" dirty="0">
              <a:latin typeface="Open Sans"/>
              <a:ea typeface="Open Sans"/>
              <a:cs typeface="B Nazanin" panose="00000700000000000000" pitchFamily="2" charset="-78"/>
              <a:sym typeface="Open Sans"/>
            </a:endParaRPr>
          </a:p>
        </p:txBody>
      </p:sp>
      <p:grpSp>
        <p:nvGrpSpPr>
          <p:cNvPr id="156" name="Google Shape;156;p26"/>
          <p:cNvGrpSpPr/>
          <p:nvPr/>
        </p:nvGrpSpPr>
        <p:grpSpPr>
          <a:xfrm>
            <a:off x="8837359" y="-72330"/>
            <a:ext cx="1543051" cy="5808473"/>
            <a:chOff x="0" y="-38100"/>
            <a:chExt cx="812800" cy="3059607"/>
          </a:xfrm>
        </p:grpSpPr>
        <p:sp>
          <p:nvSpPr>
            <p:cNvPr id="157" name="Google Shape;157;p26"/>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endParaRPr lang="en-US"/>
            </a:p>
          </p:txBody>
        </p:sp>
        <p:sp>
          <p:nvSpPr>
            <p:cNvPr id="158" name="Google Shape;158;p26"/>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159" name="Google Shape;159;p26"/>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dirty="0">
                <a:solidFill>
                  <a:srgbClr val="FFFFFF"/>
                </a:solidFill>
                <a:latin typeface="Open Sans"/>
                <a:ea typeface="Open Sans"/>
                <a:cs typeface="B Nazanin" panose="00000700000000000000" pitchFamily="2" charset="-78"/>
                <a:sym typeface="Open Sans"/>
              </a:rPr>
              <a:t>N  E  X  T</a:t>
            </a:r>
            <a:endParaRPr sz="700" b="1" dirty="0">
              <a:cs typeface="B Nazanin" panose="00000700000000000000" pitchFamily="2" charset="-78"/>
            </a:endParaRPr>
          </a:p>
        </p:txBody>
      </p:sp>
      <p:cxnSp>
        <p:nvCxnSpPr>
          <p:cNvPr id="160" name="Google Shape;160;p26"/>
          <p:cNvCxnSpPr/>
          <p:nvPr/>
        </p:nvCxnSpPr>
        <p:spPr>
          <a:xfrm flipH="1">
            <a:off x="4574400" y="0"/>
            <a:ext cx="18000" cy="2520300"/>
          </a:xfrm>
          <a:prstGeom prst="straightConnector1">
            <a:avLst/>
          </a:prstGeom>
          <a:noFill/>
          <a:ln w="9525" cap="flat" cmpd="sng">
            <a:solidFill>
              <a:srgbClr val="000000"/>
            </a:solidFill>
            <a:prstDash val="solid"/>
            <a:round/>
            <a:headEnd type="none" w="sm" len="sm"/>
            <a:tailEnd type="none" w="sm" len="sm"/>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64"/>
        <p:cNvGrpSpPr/>
        <p:nvPr/>
      </p:nvGrpSpPr>
      <p:grpSpPr>
        <a:xfrm>
          <a:off x="0" y="0"/>
          <a:ext cx="0" cy="0"/>
          <a:chOff x="0" y="0"/>
          <a:chExt cx="0" cy="0"/>
        </a:xfrm>
      </p:grpSpPr>
      <p:pic>
        <p:nvPicPr>
          <p:cNvPr id="5" name="Picture 4" descr="A street with cars parked in front of a building">
            <a:extLst>
              <a:ext uri="{FF2B5EF4-FFF2-40B4-BE49-F238E27FC236}">
                <a16:creationId xmlns:a16="http://schemas.microsoft.com/office/drawing/2014/main" id="{B4DD98F7-CE12-0F4E-1D39-E0430D1AE8A7}"/>
              </a:ext>
            </a:extLst>
          </p:cNvPr>
          <p:cNvPicPr>
            <a:picLocks noChangeAspect="1"/>
          </p:cNvPicPr>
          <p:nvPr/>
        </p:nvPicPr>
        <p:blipFill>
          <a:blip r:embed="rId3"/>
          <a:stretch>
            <a:fillRect/>
          </a:stretch>
        </p:blipFill>
        <p:spPr>
          <a:xfrm>
            <a:off x="5159887" y="156916"/>
            <a:ext cx="3984107" cy="2571750"/>
          </a:xfrm>
          <a:prstGeom prst="rect">
            <a:avLst/>
          </a:prstGeom>
        </p:spPr>
      </p:pic>
      <p:sp>
        <p:nvSpPr>
          <p:cNvPr id="166" name="Google Shape;166;p27"/>
          <p:cNvSpPr txBox="1"/>
          <p:nvPr/>
        </p:nvSpPr>
        <p:spPr>
          <a:xfrm>
            <a:off x="125582" y="925649"/>
            <a:ext cx="4499889" cy="738664"/>
          </a:xfrm>
          <a:prstGeom prst="rect">
            <a:avLst/>
          </a:prstGeom>
          <a:noFill/>
          <a:ln>
            <a:noFill/>
          </a:ln>
        </p:spPr>
        <p:txBody>
          <a:bodyPr spcFirstLastPara="1" wrap="square" lIns="0" tIns="0" rIns="0" bIns="0" anchor="t" anchorCtr="0">
            <a:spAutoFit/>
          </a:bodyPr>
          <a:lstStyle/>
          <a:p>
            <a:pPr marL="0" marR="0" lvl="0" indent="0" algn="ctr" rtl="1">
              <a:lnSpc>
                <a:spcPct val="120000"/>
              </a:lnSpc>
              <a:spcBef>
                <a:spcPts val="0"/>
              </a:spcBef>
              <a:spcAft>
                <a:spcPts val="0"/>
              </a:spcAft>
              <a:buNone/>
            </a:pPr>
            <a:r>
              <a:rPr lang="fa-IR" sz="4000" b="1" i="0" u="none" strike="noStrike" cap="none" dirty="0">
                <a:solidFill>
                  <a:srgbClr val="FFFFFF"/>
                </a:solidFill>
                <a:latin typeface="Open Sans"/>
                <a:ea typeface="Open Sans"/>
                <a:cs typeface="B Nazanin" panose="00000700000000000000" pitchFamily="2" charset="-78"/>
                <a:sym typeface="Open Sans"/>
              </a:rPr>
              <a:t>ماده های مهم قانون</a:t>
            </a:r>
            <a:endParaRPr sz="700" dirty="0">
              <a:cs typeface="B Nazanin" panose="00000700000000000000" pitchFamily="2" charset="-78"/>
            </a:endParaRPr>
          </a:p>
        </p:txBody>
      </p:sp>
      <p:sp>
        <p:nvSpPr>
          <p:cNvPr id="167" name="Google Shape;167;p27"/>
          <p:cNvSpPr txBox="1"/>
          <p:nvPr/>
        </p:nvSpPr>
        <p:spPr>
          <a:xfrm>
            <a:off x="514350" y="3554616"/>
            <a:ext cx="2141400" cy="1231106"/>
          </a:xfrm>
          <a:prstGeom prst="rect">
            <a:avLst/>
          </a:prstGeom>
          <a:noFill/>
          <a:ln>
            <a:noFill/>
          </a:ln>
        </p:spPr>
        <p:txBody>
          <a:bodyPr spcFirstLastPara="1" wrap="square" lIns="0" tIns="0" rIns="0" bIns="0" anchor="t" anchorCtr="0">
            <a:spAutoFit/>
          </a:bodyPr>
          <a:lstStyle/>
          <a:p>
            <a:pPr marL="0" marR="0" lvl="0" indent="0" algn="r" rtl="1">
              <a:lnSpc>
                <a:spcPct val="200000"/>
              </a:lnSpc>
              <a:spcBef>
                <a:spcPts val="0"/>
              </a:spcBef>
              <a:spcAft>
                <a:spcPts val="0"/>
              </a:spcAft>
              <a:buNone/>
            </a:pPr>
            <a:r>
              <a:rPr lang="fa-IR" sz="1000" i="0" u="none" strike="noStrike" cap="none" dirty="0">
                <a:solidFill>
                  <a:srgbClr val="FFFFFF"/>
                </a:solidFill>
                <a:latin typeface="Open Sans"/>
                <a:ea typeface="Open Sans"/>
                <a:cs typeface="B Nazanin" panose="00000700000000000000" pitchFamily="2" charset="-78"/>
                <a:sym typeface="Open Sans"/>
              </a:rPr>
              <a:t>خانه های مسکونی که پروانه ساخت از شهرداری گرفته و ساخته اند. هرگاه شهرداری تا ده سال بعد از گرفتن پروانه بخواهد میدان یا خیابانی جای آنها احداث کند، شهرداری بهای آن خانه ها را نقداً باید بپردازد. </a:t>
            </a:r>
          </a:p>
        </p:txBody>
      </p:sp>
      <p:sp>
        <p:nvSpPr>
          <p:cNvPr id="168" name="Google Shape;168;p27"/>
          <p:cNvSpPr txBox="1"/>
          <p:nvPr/>
        </p:nvSpPr>
        <p:spPr>
          <a:xfrm>
            <a:off x="514350" y="3235612"/>
            <a:ext cx="1370400" cy="301621"/>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b="1" i="0" u="none" strike="noStrike" cap="none" dirty="0">
                <a:solidFill>
                  <a:srgbClr val="FFFFFF"/>
                </a:solidFill>
                <a:latin typeface="Open Sans"/>
                <a:ea typeface="Open Sans"/>
                <a:cs typeface="B Nazanin" panose="00000700000000000000" pitchFamily="2" charset="-78"/>
                <a:sym typeface="Open Sans"/>
              </a:rPr>
              <a:t>ماده 6</a:t>
            </a:r>
            <a:endParaRPr sz="1050" b="1" dirty="0">
              <a:latin typeface="Open Sans"/>
              <a:ea typeface="Open Sans"/>
              <a:cs typeface="B Nazanin" panose="00000700000000000000" pitchFamily="2" charset="-78"/>
              <a:sym typeface="Open Sans"/>
            </a:endParaRPr>
          </a:p>
        </p:txBody>
      </p:sp>
      <p:grpSp>
        <p:nvGrpSpPr>
          <p:cNvPr id="169" name="Google Shape;169;p27"/>
          <p:cNvGrpSpPr/>
          <p:nvPr/>
        </p:nvGrpSpPr>
        <p:grpSpPr>
          <a:xfrm>
            <a:off x="5159887" y="3240374"/>
            <a:ext cx="1979888" cy="1854315"/>
            <a:chOff x="0" y="-38100"/>
            <a:chExt cx="5279700" cy="4944841"/>
          </a:xfrm>
        </p:grpSpPr>
        <p:sp>
          <p:nvSpPr>
            <p:cNvPr id="170" name="Google Shape;170;p27"/>
            <p:cNvSpPr txBox="1"/>
            <p:nvPr/>
          </p:nvSpPr>
          <p:spPr>
            <a:xfrm>
              <a:off x="0" y="803052"/>
              <a:ext cx="5279700" cy="4103689"/>
            </a:xfrm>
            <a:prstGeom prst="rect">
              <a:avLst/>
            </a:prstGeom>
            <a:noFill/>
            <a:ln>
              <a:noFill/>
            </a:ln>
          </p:spPr>
          <p:txBody>
            <a:bodyPr spcFirstLastPara="1" wrap="square" lIns="0" tIns="0" rIns="0" bIns="0" anchor="t" anchorCtr="0">
              <a:spAutoFit/>
            </a:bodyPr>
            <a:lstStyle/>
            <a:p>
              <a:pPr marL="0" marR="0" lvl="0" indent="0" algn="r" rtl="1">
                <a:lnSpc>
                  <a:spcPct val="200000"/>
                </a:lnSpc>
                <a:spcBef>
                  <a:spcPts val="0"/>
                </a:spcBef>
                <a:spcAft>
                  <a:spcPts val="0"/>
                </a:spcAft>
                <a:buNone/>
              </a:pPr>
              <a:r>
                <a:rPr lang="fa-IR" sz="1000" i="0" u="none" strike="noStrike" cap="none" dirty="0">
                  <a:solidFill>
                    <a:srgbClr val="FFFFFF"/>
                  </a:solidFill>
                  <a:latin typeface="Open Sans"/>
                  <a:ea typeface="Open Sans"/>
                  <a:cs typeface="B Nazanin" panose="00000700000000000000" pitchFamily="2" charset="-78"/>
                  <a:sym typeface="Open Sans"/>
                </a:rPr>
                <a:t>شهرداری مکلف است نقشه مشروح میدان، خیابان، قنات و گذر و... را که قرار است تغییر کند یا توسعه پیدا کند، تهیه کرده و آن را به وزارت کشور ارائه کند. پس از تایید، آن به اطلاع اهالی آن محل برساند.</a:t>
              </a:r>
            </a:p>
          </p:txBody>
        </p:sp>
        <p:sp>
          <p:nvSpPr>
            <p:cNvPr id="171" name="Google Shape;171;p27"/>
            <p:cNvSpPr txBox="1"/>
            <p:nvPr/>
          </p:nvSpPr>
          <p:spPr>
            <a:xfrm>
              <a:off x="0" y="-38100"/>
              <a:ext cx="4339799" cy="804323"/>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i="0" u="none" strike="noStrike" cap="none" dirty="0">
                  <a:solidFill>
                    <a:srgbClr val="FFFFFF"/>
                  </a:solidFill>
                  <a:latin typeface="Open Sans"/>
                  <a:ea typeface="Open Sans"/>
                  <a:cs typeface="B Nazanin" panose="00000700000000000000" pitchFamily="2" charset="-78"/>
                  <a:sym typeface="Open Sans"/>
                </a:rPr>
                <a:t>ماده 2 و 3</a:t>
              </a:r>
              <a:endParaRPr lang="fa-IR" sz="1050" dirty="0">
                <a:latin typeface="Open Sans"/>
                <a:ea typeface="Open Sans"/>
                <a:cs typeface="B Nazanin" panose="00000700000000000000" pitchFamily="2" charset="-78"/>
                <a:sym typeface="Open Sans"/>
              </a:endParaRPr>
            </a:p>
          </p:txBody>
        </p:sp>
      </p:grpSp>
      <p:sp>
        <p:nvSpPr>
          <p:cNvPr id="172" name="Google Shape;172;p27"/>
          <p:cNvSpPr txBox="1"/>
          <p:nvPr/>
        </p:nvSpPr>
        <p:spPr>
          <a:xfrm>
            <a:off x="2791293" y="3554616"/>
            <a:ext cx="1941600" cy="1231106"/>
          </a:xfrm>
          <a:prstGeom prst="rect">
            <a:avLst/>
          </a:prstGeom>
          <a:noFill/>
          <a:ln>
            <a:noFill/>
          </a:ln>
        </p:spPr>
        <p:txBody>
          <a:bodyPr spcFirstLastPara="1" wrap="square" lIns="0" tIns="0" rIns="0" bIns="0" anchor="t" anchorCtr="0">
            <a:spAutoFit/>
          </a:bodyPr>
          <a:lstStyle/>
          <a:p>
            <a:pPr marL="0" marR="0" lvl="0" indent="0" algn="r" rtl="1">
              <a:lnSpc>
                <a:spcPct val="200000"/>
              </a:lnSpc>
              <a:spcBef>
                <a:spcPts val="0"/>
              </a:spcBef>
              <a:spcAft>
                <a:spcPts val="0"/>
              </a:spcAft>
              <a:buNone/>
            </a:pPr>
            <a:r>
              <a:rPr lang="fa-IR" sz="1000" i="0" u="none" strike="noStrike" cap="none" dirty="0">
                <a:solidFill>
                  <a:srgbClr val="FFFFFF"/>
                </a:solidFill>
                <a:latin typeface="Open Sans"/>
                <a:ea typeface="Open Sans"/>
                <a:cs typeface="B Nazanin" panose="00000700000000000000" pitchFamily="2" charset="-78"/>
                <a:sym typeface="Open Sans"/>
              </a:rPr>
              <a:t>شهرداری‌ها می‌توانند ملک، نهر یا قناتی را که لازم است به بهای عادله خریداری کنند. شهرداری ها مکلف اند در صورتی که بهای مورد معامله را نقداً نپردازد، قرار موعد یا اقساط بدهد.</a:t>
            </a:r>
          </a:p>
        </p:txBody>
      </p:sp>
      <p:sp>
        <p:nvSpPr>
          <p:cNvPr id="173" name="Google Shape;173;p27"/>
          <p:cNvSpPr txBox="1"/>
          <p:nvPr/>
        </p:nvSpPr>
        <p:spPr>
          <a:xfrm>
            <a:off x="2791293" y="3235612"/>
            <a:ext cx="1370400" cy="301621"/>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i="0" u="none" strike="noStrike" cap="none" dirty="0">
                <a:solidFill>
                  <a:srgbClr val="FFFFFF"/>
                </a:solidFill>
                <a:latin typeface="Open Sans"/>
                <a:ea typeface="Open Sans"/>
                <a:cs typeface="B Nazanin" panose="00000700000000000000" pitchFamily="2" charset="-78"/>
                <a:sym typeface="Open Sans"/>
              </a:rPr>
              <a:t>ماده 4</a:t>
            </a:r>
            <a:endParaRPr lang="fa-IR" sz="1050" dirty="0">
              <a:latin typeface="Open Sans"/>
              <a:ea typeface="Open Sans"/>
              <a:cs typeface="B Nazanin" panose="00000700000000000000" pitchFamily="2" charset="-78"/>
              <a:sym typeface="Open Sans"/>
            </a:endParaRPr>
          </a:p>
        </p:txBody>
      </p:sp>
      <p:cxnSp>
        <p:nvCxnSpPr>
          <p:cNvPr id="174" name="Google Shape;174;p27"/>
          <p:cNvCxnSpPr/>
          <p:nvPr/>
        </p:nvCxnSpPr>
        <p:spPr>
          <a:xfrm rot="5400000">
            <a:off x="3324363" y="1322512"/>
            <a:ext cx="2812307" cy="0"/>
          </a:xfrm>
          <a:prstGeom prst="straightConnector1">
            <a:avLst/>
          </a:prstGeom>
          <a:noFill/>
          <a:ln w="9525" cap="flat" cmpd="sng">
            <a:solidFill>
              <a:srgbClr val="FFFFFF"/>
            </a:solidFill>
            <a:prstDash val="solid"/>
            <a:round/>
            <a:headEnd type="none" w="sm" len="sm"/>
            <a:tailEnd type="none" w="sm" len="sm"/>
          </a:ln>
        </p:spPr>
      </p:cxnSp>
      <p:cxnSp>
        <p:nvCxnSpPr>
          <p:cNvPr id="175" name="Google Shape;175;p27"/>
          <p:cNvCxnSpPr/>
          <p:nvPr/>
        </p:nvCxnSpPr>
        <p:spPr>
          <a:xfrm rot="5400000">
            <a:off x="7221115" y="4650195"/>
            <a:ext cx="2812307" cy="0"/>
          </a:xfrm>
          <a:prstGeom prst="straightConnector1">
            <a:avLst/>
          </a:prstGeom>
          <a:noFill/>
          <a:ln w="9525" cap="flat" cmpd="sng">
            <a:solidFill>
              <a:srgbClr val="FFFFFF"/>
            </a:solidFill>
            <a:prstDash val="solid"/>
            <a:round/>
            <a:headEnd type="none" w="sm" len="sm"/>
            <a:tailEnd type="none" w="sm" len="sm"/>
          </a:ln>
        </p:spPr>
      </p:cxnSp>
      <p:grpSp>
        <p:nvGrpSpPr>
          <p:cNvPr id="176" name="Google Shape;176;p27"/>
          <p:cNvGrpSpPr/>
          <p:nvPr/>
        </p:nvGrpSpPr>
        <p:grpSpPr>
          <a:xfrm>
            <a:off x="8837359" y="-72329"/>
            <a:ext cx="1542830" cy="5808358"/>
            <a:chOff x="0" y="-38100"/>
            <a:chExt cx="812700" cy="3059607"/>
          </a:xfrm>
        </p:grpSpPr>
        <p:sp>
          <p:nvSpPr>
            <p:cNvPr id="177" name="Google Shape;177;p27"/>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0"/>
              </a:srgbClr>
            </a:solidFill>
            <a:ln>
              <a:noFill/>
            </a:ln>
          </p:spPr>
          <p:txBody>
            <a:bodyPr/>
            <a:lstStyle/>
            <a:p>
              <a:endParaRPr lang="en-US"/>
            </a:p>
          </p:txBody>
        </p:sp>
        <p:sp>
          <p:nvSpPr>
            <p:cNvPr id="178" name="Google Shape;178;p27"/>
            <p:cNvSpPr txBox="1"/>
            <p:nvPr/>
          </p:nvSpPr>
          <p:spPr>
            <a:xfrm>
              <a:off x="0" y="-38100"/>
              <a:ext cx="812700" cy="8508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179" name="Google Shape;179;p27"/>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b="1">
              <a:cs typeface="B Nazanin" panose="00000700000000000000" pitchFamily="2" charset="-7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64"/>
        <p:cNvGrpSpPr/>
        <p:nvPr/>
      </p:nvGrpSpPr>
      <p:grpSpPr>
        <a:xfrm>
          <a:off x="0" y="0"/>
          <a:ext cx="0" cy="0"/>
          <a:chOff x="0" y="0"/>
          <a:chExt cx="0" cy="0"/>
        </a:xfrm>
      </p:grpSpPr>
      <p:pic>
        <p:nvPicPr>
          <p:cNvPr id="3" name="Picture 2" descr="A couple of people walking on the street&#10;&#10;Description automatically generated">
            <a:extLst>
              <a:ext uri="{FF2B5EF4-FFF2-40B4-BE49-F238E27FC236}">
                <a16:creationId xmlns:a16="http://schemas.microsoft.com/office/drawing/2014/main" id="{742B368C-FF25-B948-7BF7-66B48D43F552}"/>
              </a:ext>
            </a:extLst>
          </p:cNvPr>
          <p:cNvPicPr>
            <a:picLocks noChangeAspect="1"/>
          </p:cNvPicPr>
          <p:nvPr/>
        </p:nvPicPr>
        <p:blipFill>
          <a:blip r:embed="rId3"/>
          <a:stretch>
            <a:fillRect/>
          </a:stretch>
        </p:blipFill>
        <p:spPr>
          <a:xfrm>
            <a:off x="5159887" y="156916"/>
            <a:ext cx="3984113" cy="2571750"/>
          </a:xfrm>
          <a:prstGeom prst="rect">
            <a:avLst/>
          </a:prstGeom>
        </p:spPr>
      </p:pic>
      <p:sp>
        <p:nvSpPr>
          <p:cNvPr id="166" name="Google Shape;166;p27"/>
          <p:cNvSpPr txBox="1"/>
          <p:nvPr/>
        </p:nvSpPr>
        <p:spPr>
          <a:xfrm>
            <a:off x="125582" y="925649"/>
            <a:ext cx="4499889" cy="738664"/>
          </a:xfrm>
          <a:prstGeom prst="rect">
            <a:avLst/>
          </a:prstGeom>
          <a:noFill/>
          <a:ln>
            <a:noFill/>
          </a:ln>
        </p:spPr>
        <p:txBody>
          <a:bodyPr spcFirstLastPara="1" wrap="square" lIns="0" tIns="0" rIns="0" bIns="0" anchor="t" anchorCtr="0">
            <a:spAutoFit/>
          </a:bodyPr>
          <a:lstStyle/>
          <a:p>
            <a:pPr marL="0" marR="0" lvl="0" indent="0" algn="ctr" rtl="1">
              <a:lnSpc>
                <a:spcPct val="120000"/>
              </a:lnSpc>
              <a:spcBef>
                <a:spcPts val="0"/>
              </a:spcBef>
              <a:spcAft>
                <a:spcPts val="0"/>
              </a:spcAft>
              <a:buNone/>
            </a:pPr>
            <a:r>
              <a:rPr lang="fa-IR" sz="4000" b="1" i="0" u="none" strike="noStrike" cap="none" dirty="0">
                <a:solidFill>
                  <a:srgbClr val="FFFFFF"/>
                </a:solidFill>
                <a:latin typeface="Open Sans"/>
                <a:ea typeface="Open Sans"/>
                <a:cs typeface="B Nazanin" panose="00000700000000000000" pitchFamily="2" charset="-78"/>
                <a:sym typeface="Open Sans"/>
              </a:rPr>
              <a:t>ماده های مهم قانون</a:t>
            </a:r>
            <a:endParaRPr sz="700" dirty="0">
              <a:cs typeface="B Nazanin" panose="00000700000000000000" pitchFamily="2" charset="-78"/>
            </a:endParaRPr>
          </a:p>
        </p:txBody>
      </p:sp>
      <p:sp>
        <p:nvSpPr>
          <p:cNvPr id="167" name="Google Shape;167;p27"/>
          <p:cNvSpPr txBox="1"/>
          <p:nvPr/>
        </p:nvSpPr>
        <p:spPr>
          <a:xfrm>
            <a:off x="514350" y="3554616"/>
            <a:ext cx="2141400" cy="1538883"/>
          </a:xfrm>
          <a:prstGeom prst="rect">
            <a:avLst/>
          </a:prstGeom>
          <a:noFill/>
          <a:ln>
            <a:noFill/>
          </a:ln>
        </p:spPr>
        <p:txBody>
          <a:bodyPr spcFirstLastPara="1" wrap="square" lIns="0" tIns="0" rIns="0" bIns="0" anchor="t" anchorCtr="0">
            <a:spAutoFit/>
          </a:bodyPr>
          <a:lstStyle/>
          <a:p>
            <a:pPr marL="0" marR="0" lvl="0" indent="0" algn="r" rtl="1">
              <a:lnSpc>
                <a:spcPct val="200000"/>
              </a:lnSpc>
              <a:spcBef>
                <a:spcPts val="0"/>
              </a:spcBef>
              <a:spcAft>
                <a:spcPts val="0"/>
              </a:spcAft>
              <a:buNone/>
            </a:pPr>
            <a:r>
              <a:rPr lang="fa-IR" sz="1000" i="0" u="none" strike="noStrike" cap="none" dirty="0">
                <a:solidFill>
                  <a:srgbClr val="FFFFFF"/>
                </a:solidFill>
                <a:latin typeface="Open Sans"/>
                <a:ea typeface="Open Sans"/>
                <a:cs typeface="B Nazanin" panose="00000700000000000000" pitchFamily="2" charset="-78"/>
                <a:sym typeface="Open Sans"/>
              </a:rPr>
              <a:t>كساني كه طبق مواد 10 و 11 به شهرداري بدهكار شوند مكلف اند بدهي خود را تا بيست روز بعد از اخطار شهرداري بپردازند یا هرگونه اعتراضي که نسبت به بدهي خود دارند مي توانند قبل از این بيست روز به هيئت مذكور در ماده 14 شكايت نمايند. </a:t>
            </a:r>
          </a:p>
        </p:txBody>
      </p:sp>
      <p:sp>
        <p:nvSpPr>
          <p:cNvPr id="168" name="Google Shape;168;p27"/>
          <p:cNvSpPr txBox="1"/>
          <p:nvPr/>
        </p:nvSpPr>
        <p:spPr>
          <a:xfrm>
            <a:off x="514350" y="3235612"/>
            <a:ext cx="1370400" cy="301621"/>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b="1" i="0" u="none" strike="noStrike" cap="none" dirty="0">
                <a:solidFill>
                  <a:srgbClr val="FFFFFF"/>
                </a:solidFill>
                <a:latin typeface="Open Sans"/>
                <a:ea typeface="Open Sans"/>
                <a:cs typeface="B Nazanin" panose="00000700000000000000" pitchFamily="2" charset="-78"/>
                <a:sym typeface="Open Sans"/>
              </a:rPr>
              <a:t>ماده 12</a:t>
            </a:r>
            <a:endParaRPr sz="1050" b="1" dirty="0">
              <a:latin typeface="Open Sans"/>
              <a:ea typeface="Open Sans"/>
              <a:cs typeface="B Nazanin" panose="00000700000000000000" pitchFamily="2" charset="-78"/>
              <a:sym typeface="Open Sans"/>
            </a:endParaRPr>
          </a:p>
        </p:txBody>
      </p:sp>
      <p:grpSp>
        <p:nvGrpSpPr>
          <p:cNvPr id="169" name="Google Shape;169;p27"/>
          <p:cNvGrpSpPr/>
          <p:nvPr/>
        </p:nvGrpSpPr>
        <p:grpSpPr>
          <a:xfrm>
            <a:off x="5159887" y="3240374"/>
            <a:ext cx="1979888" cy="1854315"/>
            <a:chOff x="0" y="-38100"/>
            <a:chExt cx="5279700" cy="4944841"/>
          </a:xfrm>
        </p:grpSpPr>
        <p:sp>
          <p:nvSpPr>
            <p:cNvPr id="170" name="Google Shape;170;p27"/>
            <p:cNvSpPr txBox="1"/>
            <p:nvPr/>
          </p:nvSpPr>
          <p:spPr>
            <a:xfrm>
              <a:off x="0" y="803052"/>
              <a:ext cx="5279700" cy="4103689"/>
            </a:xfrm>
            <a:prstGeom prst="rect">
              <a:avLst/>
            </a:prstGeom>
            <a:noFill/>
            <a:ln>
              <a:noFill/>
            </a:ln>
          </p:spPr>
          <p:txBody>
            <a:bodyPr spcFirstLastPara="1" wrap="square" lIns="0" tIns="0" rIns="0" bIns="0" anchor="t" anchorCtr="0">
              <a:spAutoFit/>
            </a:bodyPr>
            <a:lstStyle/>
            <a:p>
              <a:pPr marL="0" marR="0" lvl="0" indent="0" algn="r" rtl="1">
                <a:lnSpc>
                  <a:spcPct val="200000"/>
                </a:lnSpc>
                <a:spcBef>
                  <a:spcPts val="0"/>
                </a:spcBef>
                <a:spcAft>
                  <a:spcPts val="0"/>
                </a:spcAft>
                <a:buNone/>
              </a:pPr>
              <a:r>
                <a:rPr lang="fa-IR" sz="1000" i="0" u="none" strike="noStrike" cap="none" dirty="0">
                  <a:solidFill>
                    <a:srgbClr val="FFFFFF"/>
                  </a:solidFill>
                  <a:latin typeface="Open Sans"/>
                  <a:ea typeface="Open Sans"/>
                  <a:cs typeface="B Nazanin" panose="00000700000000000000" pitchFamily="2" charset="-78"/>
                  <a:sym typeface="Open Sans"/>
                </a:rPr>
                <a:t>زمين و يا بناهاي مخروبه که بَر خیابان یا میدان دارند و این بَر دیواری ندارد و منافی با زیبایی شهری باشد، شهرداری به مالک اخطار می دهد که تا یک ماه دیوار کند. </a:t>
              </a:r>
              <a:r>
                <a:rPr lang="fa-IR" sz="1000" dirty="0">
                  <a:solidFill>
                    <a:srgbClr val="FFFFFF"/>
                  </a:solidFill>
                  <a:latin typeface="Open Sans"/>
                  <a:ea typeface="Open Sans"/>
                  <a:cs typeface="B Nazanin" panose="00000700000000000000" pitchFamily="2" charset="-78"/>
                  <a:sym typeface="Open Sans"/>
                </a:rPr>
                <a:t>اگر دیوار نکرد خود شهرداری با هزینه ده برابری از مالک دیوار می کند.</a:t>
              </a:r>
              <a:r>
                <a:rPr lang="fa-IR" sz="1000" i="0" u="none" strike="noStrike" cap="none" dirty="0">
                  <a:solidFill>
                    <a:srgbClr val="FFFFFF"/>
                  </a:solidFill>
                  <a:latin typeface="Open Sans"/>
                  <a:ea typeface="Open Sans"/>
                  <a:cs typeface="B Nazanin" panose="00000700000000000000" pitchFamily="2" charset="-78"/>
                  <a:sym typeface="Open Sans"/>
                </a:rPr>
                <a:t> </a:t>
              </a:r>
            </a:p>
          </p:txBody>
        </p:sp>
        <p:sp>
          <p:nvSpPr>
            <p:cNvPr id="171" name="Google Shape;171;p27"/>
            <p:cNvSpPr txBox="1"/>
            <p:nvPr/>
          </p:nvSpPr>
          <p:spPr>
            <a:xfrm>
              <a:off x="0" y="-38100"/>
              <a:ext cx="4339799" cy="804323"/>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i="0" u="none" strike="noStrike" cap="none" dirty="0">
                  <a:solidFill>
                    <a:srgbClr val="FFFFFF"/>
                  </a:solidFill>
                  <a:latin typeface="Open Sans"/>
                  <a:ea typeface="Open Sans"/>
                  <a:cs typeface="B Nazanin" panose="00000700000000000000" pitchFamily="2" charset="-78"/>
                  <a:sym typeface="Open Sans"/>
                </a:rPr>
                <a:t>ماده 10</a:t>
              </a:r>
              <a:endParaRPr lang="fa-IR" sz="1050" dirty="0">
                <a:latin typeface="Open Sans"/>
                <a:ea typeface="Open Sans"/>
                <a:cs typeface="B Nazanin" panose="00000700000000000000" pitchFamily="2" charset="-78"/>
                <a:sym typeface="Open Sans"/>
              </a:endParaRPr>
            </a:p>
          </p:txBody>
        </p:sp>
      </p:grpSp>
      <p:sp>
        <p:nvSpPr>
          <p:cNvPr id="172" name="Google Shape;172;p27"/>
          <p:cNvSpPr txBox="1"/>
          <p:nvPr/>
        </p:nvSpPr>
        <p:spPr>
          <a:xfrm>
            <a:off x="2791293" y="3554616"/>
            <a:ext cx="1941600" cy="1231106"/>
          </a:xfrm>
          <a:prstGeom prst="rect">
            <a:avLst/>
          </a:prstGeom>
          <a:noFill/>
          <a:ln>
            <a:noFill/>
          </a:ln>
        </p:spPr>
        <p:txBody>
          <a:bodyPr spcFirstLastPara="1" wrap="square" lIns="0" tIns="0" rIns="0" bIns="0" anchor="t" anchorCtr="0">
            <a:spAutoFit/>
          </a:bodyPr>
          <a:lstStyle/>
          <a:p>
            <a:pPr marL="0" marR="0" lvl="0" indent="0" algn="r" rtl="1">
              <a:lnSpc>
                <a:spcPct val="200000"/>
              </a:lnSpc>
              <a:spcBef>
                <a:spcPts val="0"/>
              </a:spcBef>
              <a:spcAft>
                <a:spcPts val="0"/>
              </a:spcAft>
              <a:buNone/>
            </a:pPr>
            <a:r>
              <a:rPr lang="fa-IR" sz="1000" i="0" u="none" strike="noStrike" cap="none" dirty="0">
                <a:solidFill>
                  <a:srgbClr val="FFFFFF"/>
                </a:solidFill>
                <a:latin typeface="Open Sans"/>
                <a:ea typeface="Open Sans"/>
                <a:cs typeface="B Nazanin" panose="00000700000000000000" pitchFamily="2" charset="-78"/>
                <a:sym typeface="Open Sans"/>
              </a:rPr>
              <a:t>ساخت کف سواره رو ها مثل آسفالت و... به هزینه شهرداری است و كوچه هایی كه عرض آنها از هفت متر كمتر و قابليت پياده روسازي ندارد با مالكين مجاور آن.</a:t>
            </a:r>
          </a:p>
        </p:txBody>
      </p:sp>
      <p:sp>
        <p:nvSpPr>
          <p:cNvPr id="173" name="Google Shape;173;p27"/>
          <p:cNvSpPr txBox="1"/>
          <p:nvPr/>
        </p:nvSpPr>
        <p:spPr>
          <a:xfrm>
            <a:off x="2791293" y="3235612"/>
            <a:ext cx="1370400" cy="301621"/>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i="0" u="none" strike="noStrike" cap="none" dirty="0">
                <a:solidFill>
                  <a:srgbClr val="FFFFFF"/>
                </a:solidFill>
                <a:latin typeface="Open Sans"/>
                <a:ea typeface="Open Sans"/>
                <a:cs typeface="B Nazanin" panose="00000700000000000000" pitchFamily="2" charset="-78"/>
                <a:sym typeface="Open Sans"/>
              </a:rPr>
              <a:t>ماده 11</a:t>
            </a:r>
            <a:endParaRPr lang="fa-IR" sz="1050" dirty="0">
              <a:latin typeface="Open Sans"/>
              <a:ea typeface="Open Sans"/>
              <a:cs typeface="B Nazanin" panose="00000700000000000000" pitchFamily="2" charset="-78"/>
              <a:sym typeface="Open Sans"/>
            </a:endParaRPr>
          </a:p>
        </p:txBody>
      </p:sp>
      <p:cxnSp>
        <p:nvCxnSpPr>
          <p:cNvPr id="174" name="Google Shape;174;p27"/>
          <p:cNvCxnSpPr/>
          <p:nvPr/>
        </p:nvCxnSpPr>
        <p:spPr>
          <a:xfrm rot="5400000">
            <a:off x="3324363" y="1322512"/>
            <a:ext cx="2812307" cy="0"/>
          </a:xfrm>
          <a:prstGeom prst="straightConnector1">
            <a:avLst/>
          </a:prstGeom>
          <a:noFill/>
          <a:ln w="9525" cap="flat" cmpd="sng">
            <a:solidFill>
              <a:srgbClr val="FFFFFF"/>
            </a:solidFill>
            <a:prstDash val="solid"/>
            <a:round/>
            <a:headEnd type="none" w="sm" len="sm"/>
            <a:tailEnd type="none" w="sm" len="sm"/>
          </a:ln>
        </p:spPr>
      </p:cxnSp>
      <p:cxnSp>
        <p:nvCxnSpPr>
          <p:cNvPr id="175" name="Google Shape;175;p27"/>
          <p:cNvCxnSpPr/>
          <p:nvPr/>
        </p:nvCxnSpPr>
        <p:spPr>
          <a:xfrm rot="5400000">
            <a:off x="7221115" y="4650195"/>
            <a:ext cx="2812307" cy="0"/>
          </a:xfrm>
          <a:prstGeom prst="straightConnector1">
            <a:avLst/>
          </a:prstGeom>
          <a:noFill/>
          <a:ln w="9525" cap="flat" cmpd="sng">
            <a:solidFill>
              <a:srgbClr val="FFFFFF"/>
            </a:solidFill>
            <a:prstDash val="solid"/>
            <a:round/>
            <a:headEnd type="none" w="sm" len="sm"/>
            <a:tailEnd type="none" w="sm" len="sm"/>
          </a:ln>
        </p:spPr>
      </p:cxnSp>
      <p:grpSp>
        <p:nvGrpSpPr>
          <p:cNvPr id="176" name="Google Shape;176;p27"/>
          <p:cNvGrpSpPr/>
          <p:nvPr/>
        </p:nvGrpSpPr>
        <p:grpSpPr>
          <a:xfrm>
            <a:off x="8837359" y="-72329"/>
            <a:ext cx="1542830" cy="5808358"/>
            <a:chOff x="0" y="-38100"/>
            <a:chExt cx="812700" cy="3059607"/>
          </a:xfrm>
        </p:grpSpPr>
        <p:sp>
          <p:nvSpPr>
            <p:cNvPr id="177" name="Google Shape;177;p27"/>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0"/>
              </a:srgbClr>
            </a:solidFill>
            <a:ln>
              <a:noFill/>
            </a:ln>
          </p:spPr>
          <p:txBody>
            <a:bodyPr/>
            <a:lstStyle/>
            <a:p>
              <a:endParaRPr lang="en-US"/>
            </a:p>
          </p:txBody>
        </p:sp>
        <p:sp>
          <p:nvSpPr>
            <p:cNvPr id="178" name="Google Shape;178;p27"/>
            <p:cNvSpPr txBox="1"/>
            <p:nvPr/>
          </p:nvSpPr>
          <p:spPr>
            <a:xfrm>
              <a:off x="0" y="-38100"/>
              <a:ext cx="812700" cy="8508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179" name="Google Shape;179;p27"/>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b="1">
              <a:cs typeface="B Nazanin" panose="00000700000000000000" pitchFamily="2" charset="-78"/>
            </a:endParaRPr>
          </a:p>
        </p:txBody>
      </p:sp>
    </p:spTree>
    <p:extLst>
      <p:ext uri="{BB962C8B-B14F-4D97-AF65-F5344CB8AC3E}">
        <p14:creationId xmlns:p14="http://schemas.microsoft.com/office/powerpoint/2010/main" val="39100902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64"/>
        <p:cNvGrpSpPr/>
        <p:nvPr/>
      </p:nvGrpSpPr>
      <p:grpSpPr>
        <a:xfrm>
          <a:off x="0" y="0"/>
          <a:ext cx="0" cy="0"/>
          <a:chOff x="0" y="0"/>
          <a:chExt cx="0" cy="0"/>
        </a:xfrm>
      </p:grpSpPr>
      <p:sp>
        <p:nvSpPr>
          <p:cNvPr id="166" name="Google Shape;166;p27"/>
          <p:cNvSpPr txBox="1"/>
          <p:nvPr/>
        </p:nvSpPr>
        <p:spPr>
          <a:xfrm>
            <a:off x="125582" y="925649"/>
            <a:ext cx="4499889" cy="738664"/>
          </a:xfrm>
          <a:prstGeom prst="rect">
            <a:avLst/>
          </a:prstGeom>
          <a:noFill/>
          <a:ln>
            <a:noFill/>
          </a:ln>
        </p:spPr>
        <p:txBody>
          <a:bodyPr spcFirstLastPara="1" wrap="square" lIns="0" tIns="0" rIns="0" bIns="0" anchor="t" anchorCtr="0">
            <a:spAutoFit/>
          </a:bodyPr>
          <a:lstStyle/>
          <a:p>
            <a:pPr marL="0" marR="0" lvl="0" indent="0" algn="ctr" rtl="1">
              <a:lnSpc>
                <a:spcPct val="120000"/>
              </a:lnSpc>
              <a:spcBef>
                <a:spcPts val="0"/>
              </a:spcBef>
              <a:spcAft>
                <a:spcPts val="0"/>
              </a:spcAft>
              <a:buNone/>
            </a:pPr>
            <a:r>
              <a:rPr lang="fa-IR" sz="4000" b="1" i="0" u="none" strike="noStrike" cap="none" dirty="0">
                <a:solidFill>
                  <a:srgbClr val="FFFFFF"/>
                </a:solidFill>
                <a:latin typeface="Open Sans"/>
                <a:ea typeface="Open Sans"/>
                <a:cs typeface="B Nazanin" panose="00000700000000000000" pitchFamily="2" charset="-78"/>
                <a:sym typeface="Open Sans"/>
              </a:rPr>
              <a:t>ماده های مهم قانون</a:t>
            </a:r>
            <a:endParaRPr sz="700" dirty="0">
              <a:cs typeface="B Nazanin" panose="00000700000000000000" pitchFamily="2" charset="-78"/>
            </a:endParaRPr>
          </a:p>
        </p:txBody>
      </p:sp>
      <p:grpSp>
        <p:nvGrpSpPr>
          <p:cNvPr id="169" name="Google Shape;169;p27"/>
          <p:cNvGrpSpPr/>
          <p:nvPr/>
        </p:nvGrpSpPr>
        <p:grpSpPr>
          <a:xfrm>
            <a:off x="1279055" y="3240374"/>
            <a:ext cx="6112018" cy="1854315"/>
            <a:chOff x="0" y="-38100"/>
            <a:chExt cx="5279700" cy="4944841"/>
          </a:xfrm>
        </p:grpSpPr>
        <p:sp>
          <p:nvSpPr>
            <p:cNvPr id="170" name="Google Shape;170;p27"/>
            <p:cNvSpPr txBox="1"/>
            <p:nvPr/>
          </p:nvSpPr>
          <p:spPr>
            <a:xfrm>
              <a:off x="0" y="803052"/>
              <a:ext cx="5279700" cy="4103689"/>
            </a:xfrm>
            <a:prstGeom prst="rect">
              <a:avLst/>
            </a:prstGeom>
            <a:noFill/>
            <a:ln>
              <a:noFill/>
            </a:ln>
          </p:spPr>
          <p:txBody>
            <a:bodyPr spcFirstLastPara="1" wrap="square" lIns="0" tIns="0" rIns="0" bIns="0" anchor="t" anchorCtr="0">
              <a:spAutoFit/>
            </a:bodyPr>
            <a:lstStyle/>
            <a:p>
              <a:pPr marL="0" marR="0" lvl="0" indent="0" algn="r" rtl="1">
                <a:lnSpc>
                  <a:spcPct val="200000"/>
                </a:lnSpc>
                <a:spcBef>
                  <a:spcPts val="0"/>
                </a:spcBef>
                <a:spcAft>
                  <a:spcPts val="0"/>
                </a:spcAft>
                <a:buNone/>
              </a:pPr>
              <a:r>
                <a:rPr lang="fa-IR" sz="1000" i="0" u="none" strike="noStrike" cap="none" dirty="0">
                  <a:solidFill>
                    <a:srgbClr val="FFFFFF"/>
                  </a:solidFill>
                  <a:latin typeface="Open Sans"/>
                  <a:ea typeface="Open Sans"/>
                  <a:cs typeface="B Nazanin" panose="00000700000000000000" pitchFamily="2" charset="-78"/>
                  <a:sym typeface="Open Sans"/>
                </a:rPr>
                <a:t>حل کننده ی اختلافات  شهرداری و اشخاص  هيئت سه نفري خواهد بود که شامل يك نفر نماينده انجمن شهرداري يك نفر دادرس از طرف وزارت دادگستري و يك نفر از طرف وزارت كشور و رأی این هیئت غيرقابل واخواهي خواهد بود.</a:t>
              </a:r>
            </a:p>
          </p:txBody>
        </p:sp>
        <p:sp>
          <p:nvSpPr>
            <p:cNvPr id="171" name="Google Shape;171;p27"/>
            <p:cNvSpPr txBox="1"/>
            <p:nvPr/>
          </p:nvSpPr>
          <p:spPr>
            <a:xfrm>
              <a:off x="891698" y="-38100"/>
              <a:ext cx="4339799" cy="804323"/>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i="0" u="none" strike="noStrike" cap="none" dirty="0">
                  <a:solidFill>
                    <a:srgbClr val="FFFFFF"/>
                  </a:solidFill>
                  <a:latin typeface="Open Sans"/>
                  <a:ea typeface="Open Sans"/>
                  <a:cs typeface="B Nazanin" panose="00000700000000000000" pitchFamily="2" charset="-78"/>
                  <a:sym typeface="Open Sans"/>
                </a:rPr>
                <a:t>ماده 14</a:t>
              </a:r>
              <a:endParaRPr lang="fa-IR" sz="1050" dirty="0">
                <a:latin typeface="Open Sans"/>
                <a:ea typeface="Open Sans"/>
                <a:cs typeface="B Nazanin" panose="00000700000000000000" pitchFamily="2" charset="-78"/>
                <a:sym typeface="Open Sans"/>
              </a:endParaRPr>
            </a:p>
          </p:txBody>
        </p:sp>
      </p:grpSp>
      <p:cxnSp>
        <p:nvCxnSpPr>
          <p:cNvPr id="174" name="Google Shape;174;p27"/>
          <p:cNvCxnSpPr/>
          <p:nvPr/>
        </p:nvCxnSpPr>
        <p:spPr>
          <a:xfrm rot="5400000">
            <a:off x="3324363" y="1322512"/>
            <a:ext cx="2812307" cy="0"/>
          </a:xfrm>
          <a:prstGeom prst="straightConnector1">
            <a:avLst/>
          </a:prstGeom>
          <a:noFill/>
          <a:ln w="9525" cap="flat" cmpd="sng">
            <a:solidFill>
              <a:srgbClr val="FFFFFF"/>
            </a:solidFill>
            <a:prstDash val="solid"/>
            <a:round/>
            <a:headEnd type="none" w="sm" len="sm"/>
            <a:tailEnd type="none" w="sm" len="sm"/>
          </a:ln>
        </p:spPr>
      </p:cxnSp>
      <p:cxnSp>
        <p:nvCxnSpPr>
          <p:cNvPr id="175" name="Google Shape;175;p27"/>
          <p:cNvCxnSpPr/>
          <p:nvPr/>
        </p:nvCxnSpPr>
        <p:spPr>
          <a:xfrm rot="5400000">
            <a:off x="7221115" y="4650195"/>
            <a:ext cx="2812307" cy="0"/>
          </a:xfrm>
          <a:prstGeom prst="straightConnector1">
            <a:avLst/>
          </a:prstGeom>
          <a:noFill/>
          <a:ln w="9525" cap="flat" cmpd="sng">
            <a:solidFill>
              <a:srgbClr val="FFFFFF"/>
            </a:solidFill>
            <a:prstDash val="solid"/>
            <a:round/>
            <a:headEnd type="none" w="sm" len="sm"/>
            <a:tailEnd type="none" w="sm" len="sm"/>
          </a:ln>
        </p:spPr>
      </p:cxnSp>
      <p:grpSp>
        <p:nvGrpSpPr>
          <p:cNvPr id="176" name="Google Shape;176;p27"/>
          <p:cNvGrpSpPr/>
          <p:nvPr/>
        </p:nvGrpSpPr>
        <p:grpSpPr>
          <a:xfrm>
            <a:off x="8837359" y="-72329"/>
            <a:ext cx="1542830" cy="5808358"/>
            <a:chOff x="0" y="-38100"/>
            <a:chExt cx="812700" cy="3059607"/>
          </a:xfrm>
        </p:grpSpPr>
        <p:sp>
          <p:nvSpPr>
            <p:cNvPr id="177" name="Google Shape;177;p27"/>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0"/>
              </a:srgbClr>
            </a:solidFill>
            <a:ln>
              <a:noFill/>
            </a:ln>
          </p:spPr>
          <p:txBody>
            <a:bodyPr/>
            <a:lstStyle/>
            <a:p>
              <a:endParaRPr lang="en-US"/>
            </a:p>
          </p:txBody>
        </p:sp>
        <p:sp>
          <p:nvSpPr>
            <p:cNvPr id="178" name="Google Shape;178;p27"/>
            <p:cNvSpPr txBox="1"/>
            <p:nvPr/>
          </p:nvSpPr>
          <p:spPr>
            <a:xfrm>
              <a:off x="0" y="-38100"/>
              <a:ext cx="812700" cy="8508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179" name="Google Shape;179;p27"/>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b="1">
              <a:cs typeface="B Nazanin" panose="00000700000000000000" pitchFamily="2" charset="-78"/>
            </a:endParaRPr>
          </a:p>
        </p:txBody>
      </p:sp>
      <p:grpSp>
        <p:nvGrpSpPr>
          <p:cNvPr id="7" name="Google Shape;9765;p78">
            <a:extLst>
              <a:ext uri="{FF2B5EF4-FFF2-40B4-BE49-F238E27FC236}">
                <a16:creationId xmlns:a16="http://schemas.microsoft.com/office/drawing/2014/main" id="{4F50356F-38E3-073F-0BA0-A8C8096D8028}"/>
              </a:ext>
            </a:extLst>
          </p:cNvPr>
          <p:cNvGrpSpPr/>
          <p:nvPr/>
        </p:nvGrpSpPr>
        <p:grpSpPr>
          <a:xfrm>
            <a:off x="6022137" y="792637"/>
            <a:ext cx="1866626" cy="1590113"/>
            <a:chOff x="6671087" y="2009304"/>
            <a:chExt cx="332757" cy="281833"/>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grpSpPr>
        <p:sp>
          <p:nvSpPr>
            <p:cNvPr id="8" name="Google Shape;9766;p78">
              <a:extLst>
                <a:ext uri="{FF2B5EF4-FFF2-40B4-BE49-F238E27FC236}">
                  <a16:creationId xmlns:a16="http://schemas.microsoft.com/office/drawing/2014/main" id="{B6CD81E9-C46E-8647-A6ED-67D27C96C6B1}"/>
                </a:ext>
              </a:extLst>
            </p:cNvPr>
            <p:cNvSpPr/>
            <p:nvPr/>
          </p:nvSpPr>
          <p:spPr>
            <a:xfrm>
              <a:off x="6671087" y="2023658"/>
              <a:ext cx="331993" cy="267478"/>
            </a:xfrm>
            <a:custGeom>
              <a:avLst/>
              <a:gdLst/>
              <a:ahLst/>
              <a:cxnLst/>
              <a:rect l="l" t="t" r="r" b="b"/>
              <a:pathLst>
                <a:path w="10431" h="8404" extrusionOk="0">
                  <a:moveTo>
                    <a:pt x="6359" y="2272"/>
                  </a:moveTo>
                  <a:lnTo>
                    <a:pt x="7192" y="2546"/>
                  </a:lnTo>
                  <a:cubicBezTo>
                    <a:pt x="7203" y="2553"/>
                    <a:pt x="7215" y="2556"/>
                    <a:pt x="7228" y="2556"/>
                  </a:cubicBezTo>
                  <a:cubicBezTo>
                    <a:pt x="7261" y="2556"/>
                    <a:pt x="7298" y="2539"/>
                    <a:pt x="7323" y="2522"/>
                  </a:cubicBezTo>
                  <a:lnTo>
                    <a:pt x="7585" y="2332"/>
                  </a:lnTo>
                  <a:lnTo>
                    <a:pt x="9419" y="4725"/>
                  </a:lnTo>
                  <a:lnTo>
                    <a:pt x="9109" y="4951"/>
                  </a:lnTo>
                  <a:cubicBezTo>
                    <a:pt x="9097" y="4927"/>
                    <a:pt x="9061" y="4915"/>
                    <a:pt x="9050" y="4903"/>
                  </a:cubicBezTo>
                  <a:lnTo>
                    <a:pt x="5882" y="3177"/>
                  </a:lnTo>
                  <a:lnTo>
                    <a:pt x="6002" y="2987"/>
                  </a:lnTo>
                  <a:cubicBezTo>
                    <a:pt x="6049" y="2903"/>
                    <a:pt x="6025" y="2820"/>
                    <a:pt x="5954" y="2772"/>
                  </a:cubicBezTo>
                  <a:cubicBezTo>
                    <a:pt x="5929" y="2755"/>
                    <a:pt x="5900" y="2747"/>
                    <a:pt x="5873" y="2747"/>
                  </a:cubicBezTo>
                  <a:cubicBezTo>
                    <a:pt x="5822" y="2747"/>
                    <a:pt x="5775" y="2774"/>
                    <a:pt x="5752" y="2820"/>
                  </a:cubicBezTo>
                  <a:lnTo>
                    <a:pt x="5418" y="3356"/>
                  </a:lnTo>
                  <a:cubicBezTo>
                    <a:pt x="5406" y="3379"/>
                    <a:pt x="5382" y="3415"/>
                    <a:pt x="5382" y="3427"/>
                  </a:cubicBezTo>
                  <a:lnTo>
                    <a:pt x="5382" y="4725"/>
                  </a:lnTo>
                  <a:cubicBezTo>
                    <a:pt x="5382" y="4987"/>
                    <a:pt x="5168" y="5213"/>
                    <a:pt x="4894" y="5213"/>
                  </a:cubicBezTo>
                  <a:cubicBezTo>
                    <a:pt x="4632" y="5213"/>
                    <a:pt x="4406" y="4987"/>
                    <a:pt x="4406" y="4725"/>
                  </a:cubicBezTo>
                  <a:lnTo>
                    <a:pt x="4406" y="3439"/>
                  </a:lnTo>
                  <a:lnTo>
                    <a:pt x="4704" y="2272"/>
                  </a:lnTo>
                  <a:close/>
                  <a:moveTo>
                    <a:pt x="2692" y="1796"/>
                  </a:moveTo>
                  <a:lnTo>
                    <a:pt x="2930" y="1927"/>
                  </a:lnTo>
                  <a:lnTo>
                    <a:pt x="929" y="5392"/>
                  </a:lnTo>
                  <a:lnTo>
                    <a:pt x="691" y="5261"/>
                  </a:lnTo>
                  <a:lnTo>
                    <a:pt x="2692" y="1796"/>
                  </a:lnTo>
                  <a:close/>
                  <a:moveTo>
                    <a:pt x="3215" y="4844"/>
                  </a:moveTo>
                  <a:cubicBezTo>
                    <a:pt x="3323" y="4844"/>
                    <a:pt x="3406" y="4892"/>
                    <a:pt x="3489" y="4975"/>
                  </a:cubicBezTo>
                  <a:cubicBezTo>
                    <a:pt x="3608" y="5130"/>
                    <a:pt x="3561" y="5344"/>
                    <a:pt x="3406" y="5451"/>
                  </a:cubicBezTo>
                  <a:lnTo>
                    <a:pt x="2323" y="6213"/>
                  </a:lnTo>
                  <a:cubicBezTo>
                    <a:pt x="2266" y="6255"/>
                    <a:pt x="2199" y="6275"/>
                    <a:pt x="2131" y="6275"/>
                  </a:cubicBezTo>
                  <a:cubicBezTo>
                    <a:pt x="2027" y="6275"/>
                    <a:pt x="1923" y="6228"/>
                    <a:pt x="1858" y="6142"/>
                  </a:cubicBezTo>
                  <a:cubicBezTo>
                    <a:pt x="1763" y="5987"/>
                    <a:pt x="1787" y="5785"/>
                    <a:pt x="1942" y="5677"/>
                  </a:cubicBezTo>
                  <a:lnTo>
                    <a:pt x="3025" y="4903"/>
                  </a:lnTo>
                  <a:cubicBezTo>
                    <a:pt x="3085" y="4856"/>
                    <a:pt x="3156" y="4844"/>
                    <a:pt x="3215" y="4844"/>
                  </a:cubicBezTo>
                  <a:close/>
                  <a:moveTo>
                    <a:pt x="3811" y="5606"/>
                  </a:moveTo>
                  <a:cubicBezTo>
                    <a:pt x="3918" y="5606"/>
                    <a:pt x="4001" y="5665"/>
                    <a:pt x="4061" y="5737"/>
                  </a:cubicBezTo>
                  <a:cubicBezTo>
                    <a:pt x="4180" y="5880"/>
                    <a:pt x="4144" y="6106"/>
                    <a:pt x="3989" y="6213"/>
                  </a:cubicBezTo>
                  <a:lnTo>
                    <a:pt x="3156" y="6820"/>
                  </a:lnTo>
                  <a:cubicBezTo>
                    <a:pt x="3100" y="6863"/>
                    <a:pt x="3032" y="6883"/>
                    <a:pt x="2964" y="6883"/>
                  </a:cubicBezTo>
                  <a:cubicBezTo>
                    <a:pt x="2861" y="6883"/>
                    <a:pt x="2756" y="6835"/>
                    <a:pt x="2692" y="6749"/>
                  </a:cubicBezTo>
                  <a:cubicBezTo>
                    <a:pt x="2573" y="6594"/>
                    <a:pt x="2620" y="6380"/>
                    <a:pt x="2775" y="6273"/>
                  </a:cubicBezTo>
                  <a:lnTo>
                    <a:pt x="3573" y="5689"/>
                  </a:lnTo>
                  <a:cubicBezTo>
                    <a:pt x="3608" y="5677"/>
                    <a:pt x="3632" y="5642"/>
                    <a:pt x="3668" y="5630"/>
                  </a:cubicBezTo>
                  <a:cubicBezTo>
                    <a:pt x="3704" y="5618"/>
                    <a:pt x="3763" y="5606"/>
                    <a:pt x="3811" y="5606"/>
                  </a:cubicBezTo>
                  <a:close/>
                  <a:moveTo>
                    <a:pt x="4415" y="6386"/>
                  </a:moveTo>
                  <a:cubicBezTo>
                    <a:pt x="4516" y="6386"/>
                    <a:pt x="4617" y="6431"/>
                    <a:pt x="4680" y="6523"/>
                  </a:cubicBezTo>
                  <a:cubicBezTo>
                    <a:pt x="4799" y="6666"/>
                    <a:pt x="4751" y="6892"/>
                    <a:pt x="4597" y="6999"/>
                  </a:cubicBezTo>
                  <a:lnTo>
                    <a:pt x="4001" y="7416"/>
                  </a:lnTo>
                  <a:cubicBezTo>
                    <a:pt x="3946" y="7462"/>
                    <a:pt x="3883" y="7479"/>
                    <a:pt x="3814" y="7479"/>
                  </a:cubicBezTo>
                  <a:cubicBezTo>
                    <a:pt x="3793" y="7479"/>
                    <a:pt x="3773" y="7478"/>
                    <a:pt x="3751" y="7475"/>
                  </a:cubicBezTo>
                  <a:cubicBezTo>
                    <a:pt x="3668" y="7463"/>
                    <a:pt x="3585" y="7416"/>
                    <a:pt x="3525" y="7344"/>
                  </a:cubicBezTo>
                  <a:cubicBezTo>
                    <a:pt x="3430" y="7189"/>
                    <a:pt x="3454" y="6987"/>
                    <a:pt x="3608" y="6880"/>
                  </a:cubicBezTo>
                  <a:lnTo>
                    <a:pt x="4180" y="6463"/>
                  </a:lnTo>
                  <a:lnTo>
                    <a:pt x="4216" y="6451"/>
                  </a:lnTo>
                  <a:cubicBezTo>
                    <a:pt x="4274" y="6407"/>
                    <a:pt x="4344" y="6386"/>
                    <a:pt x="4415" y="6386"/>
                  </a:cubicBezTo>
                  <a:close/>
                  <a:moveTo>
                    <a:pt x="2894" y="2594"/>
                  </a:moveTo>
                  <a:lnTo>
                    <a:pt x="3168" y="2760"/>
                  </a:lnTo>
                  <a:cubicBezTo>
                    <a:pt x="3193" y="2769"/>
                    <a:pt x="3212" y="2777"/>
                    <a:pt x="3234" y="2777"/>
                  </a:cubicBezTo>
                  <a:cubicBezTo>
                    <a:pt x="3243" y="2777"/>
                    <a:pt x="3253" y="2776"/>
                    <a:pt x="3263" y="2772"/>
                  </a:cubicBezTo>
                  <a:lnTo>
                    <a:pt x="3977" y="2677"/>
                  </a:lnTo>
                  <a:lnTo>
                    <a:pt x="4239" y="2784"/>
                  </a:lnTo>
                  <a:lnTo>
                    <a:pt x="4097" y="3379"/>
                  </a:lnTo>
                  <a:lnTo>
                    <a:pt x="4097" y="3415"/>
                  </a:lnTo>
                  <a:lnTo>
                    <a:pt x="4097" y="4701"/>
                  </a:lnTo>
                  <a:cubicBezTo>
                    <a:pt x="4097" y="5154"/>
                    <a:pt x="4454" y="5511"/>
                    <a:pt x="4894" y="5511"/>
                  </a:cubicBezTo>
                  <a:cubicBezTo>
                    <a:pt x="5347" y="5511"/>
                    <a:pt x="5704" y="5154"/>
                    <a:pt x="5704" y="4701"/>
                  </a:cubicBezTo>
                  <a:lnTo>
                    <a:pt x="5704" y="3439"/>
                  </a:lnTo>
                  <a:lnTo>
                    <a:pt x="5728" y="3391"/>
                  </a:lnTo>
                  <a:lnTo>
                    <a:pt x="8919" y="5118"/>
                  </a:lnTo>
                  <a:cubicBezTo>
                    <a:pt x="9061" y="5261"/>
                    <a:pt x="9121" y="5463"/>
                    <a:pt x="9038" y="5630"/>
                  </a:cubicBezTo>
                  <a:cubicBezTo>
                    <a:pt x="8973" y="5742"/>
                    <a:pt x="8860" y="5806"/>
                    <a:pt x="8742" y="5806"/>
                  </a:cubicBezTo>
                  <a:cubicBezTo>
                    <a:pt x="8685" y="5806"/>
                    <a:pt x="8627" y="5792"/>
                    <a:pt x="8573" y="5761"/>
                  </a:cubicBezTo>
                  <a:lnTo>
                    <a:pt x="6799" y="4796"/>
                  </a:lnTo>
                  <a:cubicBezTo>
                    <a:pt x="6777" y="4781"/>
                    <a:pt x="6753" y="4775"/>
                    <a:pt x="6730" y="4775"/>
                  </a:cubicBezTo>
                  <a:cubicBezTo>
                    <a:pt x="6679" y="4775"/>
                    <a:pt x="6630" y="4807"/>
                    <a:pt x="6597" y="4856"/>
                  </a:cubicBezTo>
                  <a:cubicBezTo>
                    <a:pt x="6549" y="4927"/>
                    <a:pt x="6585" y="5023"/>
                    <a:pt x="6656" y="5058"/>
                  </a:cubicBezTo>
                  <a:lnTo>
                    <a:pt x="8133" y="5868"/>
                  </a:lnTo>
                  <a:cubicBezTo>
                    <a:pt x="8288" y="5951"/>
                    <a:pt x="8347" y="6166"/>
                    <a:pt x="8264" y="6332"/>
                  </a:cubicBezTo>
                  <a:cubicBezTo>
                    <a:pt x="8198" y="6439"/>
                    <a:pt x="8080" y="6501"/>
                    <a:pt x="7959" y="6501"/>
                  </a:cubicBezTo>
                  <a:cubicBezTo>
                    <a:pt x="7905" y="6501"/>
                    <a:pt x="7851" y="6489"/>
                    <a:pt x="7799" y="6463"/>
                  </a:cubicBezTo>
                  <a:lnTo>
                    <a:pt x="6299" y="5642"/>
                  </a:lnTo>
                  <a:cubicBezTo>
                    <a:pt x="6277" y="5627"/>
                    <a:pt x="6252" y="5620"/>
                    <a:pt x="6227" y="5620"/>
                  </a:cubicBezTo>
                  <a:cubicBezTo>
                    <a:pt x="6173" y="5620"/>
                    <a:pt x="6118" y="5652"/>
                    <a:pt x="6085" y="5701"/>
                  </a:cubicBezTo>
                  <a:cubicBezTo>
                    <a:pt x="6049" y="5773"/>
                    <a:pt x="6073" y="5868"/>
                    <a:pt x="6144" y="5916"/>
                  </a:cubicBezTo>
                  <a:lnTo>
                    <a:pt x="7371" y="6570"/>
                  </a:lnTo>
                  <a:cubicBezTo>
                    <a:pt x="7537" y="6654"/>
                    <a:pt x="7597" y="6868"/>
                    <a:pt x="7502" y="7023"/>
                  </a:cubicBezTo>
                  <a:cubicBezTo>
                    <a:pt x="7444" y="7139"/>
                    <a:pt x="7322" y="7203"/>
                    <a:pt x="7197" y="7203"/>
                  </a:cubicBezTo>
                  <a:cubicBezTo>
                    <a:pt x="7143" y="7203"/>
                    <a:pt x="7088" y="7191"/>
                    <a:pt x="7037" y="7166"/>
                  </a:cubicBezTo>
                  <a:lnTo>
                    <a:pt x="5775" y="6463"/>
                  </a:lnTo>
                  <a:cubicBezTo>
                    <a:pt x="5753" y="6448"/>
                    <a:pt x="5728" y="6442"/>
                    <a:pt x="5704" y="6442"/>
                  </a:cubicBezTo>
                  <a:cubicBezTo>
                    <a:pt x="5650" y="6442"/>
                    <a:pt x="5597" y="6474"/>
                    <a:pt x="5573" y="6523"/>
                  </a:cubicBezTo>
                  <a:cubicBezTo>
                    <a:pt x="5525" y="6594"/>
                    <a:pt x="5549" y="6689"/>
                    <a:pt x="5632" y="6725"/>
                  </a:cubicBezTo>
                  <a:lnTo>
                    <a:pt x="6609" y="7261"/>
                  </a:lnTo>
                  <a:cubicBezTo>
                    <a:pt x="6775" y="7356"/>
                    <a:pt x="6835" y="7559"/>
                    <a:pt x="6740" y="7725"/>
                  </a:cubicBezTo>
                  <a:cubicBezTo>
                    <a:pt x="6683" y="7838"/>
                    <a:pt x="6567" y="7902"/>
                    <a:pt x="6450" y="7902"/>
                  </a:cubicBezTo>
                  <a:cubicBezTo>
                    <a:pt x="6394" y="7902"/>
                    <a:pt x="6337" y="7887"/>
                    <a:pt x="6287" y="7856"/>
                  </a:cubicBezTo>
                  <a:lnTo>
                    <a:pt x="5597" y="7487"/>
                  </a:lnTo>
                  <a:cubicBezTo>
                    <a:pt x="5597" y="7344"/>
                    <a:pt x="5549" y="7201"/>
                    <a:pt x="5466" y="7082"/>
                  </a:cubicBezTo>
                  <a:cubicBezTo>
                    <a:pt x="5347" y="6939"/>
                    <a:pt x="5168" y="6844"/>
                    <a:pt x="4990" y="6832"/>
                  </a:cubicBezTo>
                  <a:cubicBezTo>
                    <a:pt x="4990" y="6820"/>
                    <a:pt x="4990" y="6808"/>
                    <a:pt x="5001" y="6785"/>
                  </a:cubicBezTo>
                  <a:cubicBezTo>
                    <a:pt x="5037" y="6606"/>
                    <a:pt x="4990" y="6451"/>
                    <a:pt x="4882" y="6308"/>
                  </a:cubicBezTo>
                  <a:cubicBezTo>
                    <a:pt x="4763" y="6166"/>
                    <a:pt x="4585" y="6070"/>
                    <a:pt x="4406" y="6058"/>
                  </a:cubicBezTo>
                  <a:cubicBezTo>
                    <a:pt x="4406" y="6046"/>
                    <a:pt x="4406" y="6035"/>
                    <a:pt x="4418" y="6011"/>
                  </a:cubicBezTo>
                  <a:cubicBezTo>
                    <a:pt x="4454" y="5832"/>
                    <a:pt x="4406" y="5677"/>
                    <a:pt x="4299" y="5535"/>
                  </a:cubicBezTo>
                  <a:cubicBezTo>
                    <a:pt x="4180" y="5392"/>
                    <a:pt x="4001" y="5296"/>
                    <a:pt x="3823" y="5284"/>
                  </a:cubicBezTo>
                  <a:cubicBezTo>
                    <a:pt x="3823" y="5273"/>
                    <a:pt x="3823" y="5261"/>
                    <a:pt x="3847" y="5237"/>
                  </a:cubicBezTo>
                  <a:cubicBezTo>
                    <a:pt x="3870" y="5058"/>
                    <a:pt x="3823" y="4903"/>
                    <a:pt x="3727" y="4761"/>
                  </a:cubicBezTo>
                  <a:cubicBezTo>
                    <a:pt x="3600" y="4597"/>
                    <a:pt x="3413" y="4515"/>
                    <a:pt x="3222" y="4515"/>
                  </a:cubicBezTo>
                  <a:cubicBezTo>
                    <a:pt x="3093" y="4515"/>
                    <a:pt x="2962" y="4553"/>
                    <a:pt x="2846" y="4630"/>
                  </a:cubicBezTo>
                  <a:lnTo>
                    <a:pt x="1775" y="5404"/>
                  </a:lnTo>
                  <a:lnTo>
                    <a:pt x="1382" y="5201"/>
                  </a:lnTo>
                  <a:lnTo>
                    <a:pt x="2894" y="2594"/>
                  </a:lnTo>
                  <a:close/>
                  <a:moveTo>
                    <a:pt x="5009" y="7159"/>
                  </a:moveTo>
                  <a:cubicBezTo>
                    <a:pt x="5109" y="7159"/>
                    <a:pt x="5207" y="7205"/>
                    <a:pt x="5263" y="7297"/>
                  </a:cubicBezTo>
                  <a:cubicBezTo>
                    <a:pt x="5311" y="7356"/>
                    <a:pt x="5347" y="7451"/>
                    <a:pt x="5335" y="7535"/>
                  </a:cubicBezTo>
                  <a:cubicBezTo>
                    <a:pt x="5311" y="7630"/>
                    <a:pt x="5263" y="7701"/>
                    <a:pt x="5192" y="7761"/>
                  </a:cubicBezTo>
                  <a:lnTo>
                    <a:pt x="4835" y="8011"/>
                  </a:lnTo>
                  <a:cubicBezTo>
                    <a:pt x="4778" y="8053"/>
                    <a:pt x="4711" y="8073"/>
                    <a:pt x="4643" y="8073"/>
                  </a:cubicBezTo>
                  <a:cubicBezTo>
                    <a:pt x="4539" y="8073"/>
                    <a:pt x="4435" y="8026"/>
                    <a:pt x="4370" y="7940"/>
                  </a:cubicBezTo>
                  <a:cubicBezTo>
                    <a:pt x="4275" y="7785"/>
                    <a:pt x="4299" y="7582"/>
                    <a:pt x="4454" y="7475"/>
                  </a:cubicBezTo>
                  <a:lnTo>
                    <a:pt x="4775" y="7237"/>
                  </a:lnTo>
                  <a:lnTo>
                    <a:pt x="4811" y="7225"/>
                  </a:lnTo>
                  <a:cubicBezTo>
                    <a:pt x="4869" y="7181"/>
                    <a:pt x="4940" y="7159"/>
                    <a:pt x="5009" y="7159"/>
                  </a:cubicBezTo>
                  <a:close/>
                  <a:moveTo>
                    <a:pt x="182" y="0"/>
                  </a:moveTo>
                  <a:cubicBezTo>
                    <a:pt x="131" y="0"/>
                    <a:pt x="81" y="32"/>
                    <a:pt x="48" y="81"/>
                  </a:cubicBezTo>
                  <a:cubicBezTo>
                    <a:pt x="1" y="153"/>
                    <a:pt x="25" y="248"/>
                    <a:pt x="108" y="284"/>
                  </a:cubicBezTo>
                  <a:lnTo>
                    <a:pt x="2430" y="1629"/>
                  </a:lnTo>
                  <a:lnTo>
                    <a:pt x="418" y="5094"/>
                  </a:lnTo>
                  <a:lnTo>
                    <a:pt x="251" y="5011"/>
                  </a:lnTo>
                  <a:cubicBezTo>
                    <a:pt x="226" y="4994"/>
                    <a:pt x="200" y="4986"/>
                    <a:pt x="175" y="4986"/>
                  </a:cubicBezTo>
                  <a:cubicBezTo>
                    <a:pt x="126" y="4986"/>
                    <a:pt x="80" y="5015"/>
                    <a:pt x="48" y="5070"/>
                  </a:cubicBezTo>
                  <a:cubicBezTo>
                    <a:pt x="1" y="5142"/>
                    <a:pt x="25" y="5225"/>
                    <a:pt x="108" y="5273"/>
                  </a:cubicBezTo>
                  <a:lnTo>
                    <a:pt x="906" y="5737"/>
                  </a:lnTo>
                  <a:cubicBezTo>
                    <a:pt x="932" y="5752"/>
                    <a:pt x="958" y="5759"/>
                    <a:pt x="983" y="5759"/>
                  </a:cubicBezTo>
                  <a:cubicBezTo>
                    <a:pt x="1038" y="5759"/>
                    <a:pt x="1087" y="5726"/>
                    <a:pt x="1120" y="5677"/>
                  </a:cubicBezTo>
                  <a:lnTo>
                    <a:pt x="1239" y="5463"/>
                  </a:lnTo>
                  <a:lnTo>
                    <a:pt x="1561" y="5642"/>
                  </a:lnTo>
                  <a:cubicBezTo>
                    <a:pt x="1465" y="5856"/>
                    <a:pt x="1465" y="6106"/>
                    <a:pt x="1608" y="6320"/>
                  </a:cubicBezTo>
                  <a:cubicBezTo>
                    <a:pt x="1727" y="6499"/>
                    <a:pt x="1942" y="6582"/>
                    <a:pt x="2132" y="6582"/>
                  </a:cubicBezTo>
                  <a:cubicBezTo>
                    <a:pt x="2192" y="6582"/>
                    <a:pt x="2263" y="6570"/>
                    <a:pt x="2323" y="6558"/>
                  </a:cubicBezTo>
                  <a:cubicBezTo>
                    <a:pt x="2323" y="6689"/>
                    <a:pt x="2370" y="6820"/>
                    <a:pt x="2442" y="6928"/>
                  </a:cubicBezTo>
                  <a:cubicBezTo>
                    <a:pt x="2561" y="7094"/>
                    <a:pt x="2751" y="7178"/>
                    <a:pt x="2965" y="7178"/>
                  </a:cubicBezTo>
                  <a:cubicBezTo>
                    <a:pt x="3025" y="7178"/>
                    <a:pt x="3096" y="7166"/>
                    <a:pt x="3156" y="7154"/>
                  </a:cubicBezTo>
                  <a:cubicBezTo>
                    <a:pt x="3156" y="7285"/>
                    <a:pt x="3204" y="7404"/>
                    <a:pt x="3275" y="7523"/>
                  </a:cubicBezTo>
                  <a:cubicBezTo>
                    <a:pt x="3382" y="7654"/>
                    <a:pt x="3525" y="7749"/>
                    <a:pt x="3692" y="7773"/>
                  </a:cubicBezTo>
                  <a:cubicBezTo>
                    <a:pt x="3716" y="7773"/>
                    <a:pt x="3763" y="7785"/>
                    <a:pt x="3799" y="7785"/>
                  </a:cubicBezTo>
                  <a:cubicBezTo>
                    <a:pt x="3858" y="7785"/>
                    <a:pt x="3930" y="7773"/>
                    <a:pt x="3989" y="7761"/>
                  </a:cubicBezTo>
                  <a:cubicBezTo>
                    <a:pt x="3989" y="7892"/>
                    <a:pt x="4037" y="8011"/>
                    <a:pt x="4108" y="8130"/>
                  </a:cubicBezTo>
                  <a:cubicBezTo>
                    <a:pt x="4216" y="8261"/>
                    <a:pt x="4358" y="8356"/>
                    <a:pt x="4525" y="8380"/>
                  </a:cubicBezTo>
                  <a:cubicBezTo>
                    <a:pt x="4549" y="8380"/>
                    <a:pt x="4597" y="8404"/>
                    <a:pt x="4632" y="8404"/>
                  </a:cubicBezTo>
                  <a:cubicBezTo>
                    <a:pt x="4763" y="8404"/>
                    <a:pt x="4894" y="8356"/>
                    <a:pt x="5001" y="8285"/>
                  </a:cubicBezTo>
                  <a:lnTo>
                    <a:pt x="5359" y="8023"/>
                  </a:lnTo>
                  <a:cubicBezTo>
                    <a:pt x="5430" y="7963"/>
                    <a:pt x="5490" y="7904"/>
                    <a:pt x="5537" y="7820"/>
                  </a:cubicBezTo>
                  <a:lnTo>
                    <a:pt x="6156" y="8166"/>
                  </a:lnTo>
                  <a:cubicBezTo>
                    <a:pt x="6252" y="8201"/>
                    <a:pt x="6359" y="8237"/>
                    <a:pt x="6478" y="8237"/>
                  </a:cubicBezTo>
                  <a:cubicBezTo>
                    <a:pt x="6537" y="8237"/>
                    <a:pt x="6597" y="8225"/>
                    <a:pt x="6656" y="8201"/>
                  </a:cubicBezTo>
                  <a:cubicBezTo>
                    <a:pt x="6811" y="8166"/>
                    <a:pt x="6954" y="8047"/>
                    <a:pt x="7037" y="7892"/>
                  </a:cubicBezTo>
                  <a:cubicBezTo>
                    <a:pt x="7097" y="7773"/>
                    <a:pt x="7133" y="7642"/>
                    <a:pt x="7109" y="7523"/>
                  </a:cubicBezTo>
                  <a:cubicBezTo>
                    <a:pt x="7156" y="7523"/>
                    <a:pt x="7192" y="7535"/>
                    <a:pt x="7228" y="7535"/>
                  </a:cubicBezTo>
                  <a:cubicBezTo>
                    <a:pt x="7454" y="7535"/>
                    <a:pt x="7680" y="7416"/>
                    <a:pt x="7799" y="7213"/>
                  </a:cubicBezTo>
                  <a:cubicBezTo>
                    <a:pt x="7859" y="7094"/>
                    <a:pt x="7883" y="6951"/>
                    <a:pt x="7871" y="6832"/>
                  </a:cubicBezTo>
                  <a:cubicBezTo>
                    <a:pt x="7918" y="6832"/>
                    <a:pt x="7942" y="6856"/>
                    <a:pt x="7990" y="6856"/>
                  </a:cubicBezTo>
                  <a:cubicBezTo>
                    <a:pt x="8216" y="6856"/>
                    <a:pt x="8442" y="6737"/>
                    <a:pt x="8561" y="6523"/>
                  </a:cubicBezTo>
                  <a:cubicBezTo>
                    <a:pt x="8621" y="6404"/>
                    <a:pt x="8645" y="6273"/>
                    <a:pt x="8633" y="6154"/>
                  </a:cubicBezTo>
                  <a:cubicBezTo>
                    <a:pt x="8680" y="6154"/>
                    <a:pt x="8704" y="6166"/>
                    <a:pt x="8752" y="6166"/>
                  </a:cubicBezTo>
                  <a:cubicBezTo>
                    <a:pt x="8811" y="6166"/>
                    <a:pt x="8871" y="6154"/>
                    <a:pt x="8930" y="6142"/>
                  </a:cubicBezTo>
                  <a:cubicBezTo>
                    <a:pt x="9097" y="6094"/>
                    <a:pt x="9228" y="5975"/>
                    <a:pt x="9311" y="5820"/>
                  </a:cubicBezTo>
                  <a:cubicBezTo>
                    <a:pt x="9407" y="5677"/>
                    <a:pt x="9419" y="5499"/>
                    <a:pt x="9359" y="5332"/>
                  </a:cubicBezTo>
                  <a:cubicBezTo>
                    <a:pt x="9347" y="5284"/>
                    <a:pt x="9335" y="5261"/>
                    <a:pt x="9311" y="5213"/>
                  </a:cubicBezTo>
                  <a:lnTo>
                    <a:pt x="9585" y="5023"/>
                  </a:lnTo>
                  <a:lnTo>
                    <a:pt x="9728" y="5201"/>
                  </a:lnTo>
                  <a:cubicBezTo>
                    <a:pt x="9756" y="5236"/>
                    <a:pt x="9804" y="5254"/>
                    <a:pt x="9853" y="5254"/>
                  </a:cubicBezTo>
                  <a:cubicBezTo>
                    <a:pt x="9889" y="5254"/>
                    <a:pt x="9925" y="5245"/>
                    <a:pt x="9954" y="5225"/>
                  </a:cubicBezTo>
                  <a:lnTo>
                    <a:pt x="10371" y="4903"/>
                  </a:lnTo>
                  <a:cubicBezTo>
                    <a:pt x="10431" y="4808"/>
                    <a:pt x="10431" y="4725"/>
                    <a:pt x="10395" y="4653"/>
                  </a:cubicBezTo>
                  <a:cubicBezTo>
                    <a:pt x="10350" y="4616"/>
                    <a:pt x="10300" y="4592"/>
                    <a:pt x="10254" y="4592"/>
                  </a:cubicBezTo>
                  <a:cubicBezTo>
                    <a:pt x="10228" y="4592"/>
                    <a:pt x="10202" y="4600"/>
                    <a:pt x="10181" y="4618"/>
                  </a:cubicBezTo>
                  <a:lnTo>
                    <a:pt x="9883" y="4856"/>
                  </a:lnTo>
                  <a:lnTo>
                    <a:pt x="7454" y="1689"/>
                  </a:lnTo>
                  <a:lnTo>
                    <a:pt x="8835" y="796"/>
                  </a:lnTo>
                  <a:cubicBezTo>
                    <a:pt x="8919" y="748"/>
                    <a:pt x="8930" y="665"/>
                    <a:pt x="8883" y="582"/>
                  </a:cubicBezTo>
                  <a:cubicBezTo>
                    <a:pt x="8854" y="539"/>
                    <a:pt x="8813" y="517"/>
                    <a:pt x="8769" y="517"/>
                  </a:cubicBezTo>
                  <a:cubicBezTo>
                    <a:pt x="8740" y="517"/>
                    <a:pt x="8709" y="527"/>
                    <a:pt x="8680" y="546"/>
                  </a:cubicBezTo>
                  <a:lnTo>
                    <a:pt x="7156" y="1522"/>
                  </a:lnTo>
                  <a:cubicBezTo>
                    <a:pt x="7085" y="1570"/>
                    <a:pt x="7073" y="1677"/>
                    <a:pt x="7109" y="1748"/>
                  </a:cubicBezTo>
                  <a:lnTo>
                    <a:pt x="7395" y="2106"/>
                  </a:lnTo>
                  <a:lnTo>
                    <a:pt x="7204" y="2248"/>
                  </a:lnTo>
                  <a:lnTo>
                    <a:pt x="6418" y="1998"/>
                  </a:lnTo>
                  <a:cubicBezTo>
                    <a:pt x="6406" y="1998"/>
                    <a:pt x="6383" y="1986"/>
                    <a:pt x="6371" y="1986"/>
                  </a:cubicBezTo>
                  <a:lnTo>
                    <a:pt x="4585" y="1986"/>
                  </a:lnTo>
                  <a:cubicBezTo>
                    <a:pt x="4513" y="1986"/>
                    <a:pt x="4454" y="2034"/>
                    <a:pt x="4442" y="2106"/>
                  </a:cubicBezTo>
                  <a:lnTo>
                    <a:pt x="4335" y="2510"/>
                  </a:lnTo>
                  <a:lnTo>
                    <a:pt x="4073" y="2403"/>
                  </a:lnTo>
                  <a:cubicBezTo>
                    <a:pt x="4049" y="2391"/>
                    <a:pt x="4037" y="2391"/>
                    <a:pt x="4001" y="2391"/>
                  </a:cubicBezTo>
                  <a:lnTo>
                    <a:pt x="3287" y="2475"/>
                  </a:lnTo>
                  <a:lnTo>
                    <a:pt x="3049" y="2344"/>
                  </a:lnTo>
                  <a:lnTo>
                    <a:pt x="3275" y="1939"/>
                  </a:lnTo>
                  <a:cubicBezTo>
                    <a:pt x="3323" y="1867"/>
                    <a:pt x="3287" y="1772"/>
                    <a:pt x="3215" y="1736"/>
                  </a:cubicBezTo>
                  <a:lnTo>
                    <a:pt x="251" y="22"/>
                  </a:lnTo>
                  <a:cubicBezTo>
                    <a:pt x="228" y="7"/>
                    <a:pt x="205" y="0"/>
                    <a:pt x="1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767;p78">
              <a:extLst>
                <a:ext uri="{FF2B5EF4-FFF2-40B4-BE49-F238E27FC236}">
                  <a16:creationId xmlns:a16="http://schemas.microsoft.com/office/drawing/2014/main" id="{1AB1325D-E616-9DAF-2F12-7E471202DAF9}"/>
                </a:ext>
              </a:extLst>
            </p:cNvPr>
            <p:cNvSpPr/>
            <p:nvPr/>
          </p:nvSpPr>
          <p:spPr>
            <a:xfrm>
              <a:off x="6965173" y="2009304"/>
              <a:ext cx="38670" cy="27181"/>
            </a:xfrm>
            <a:custGeom>
              <a:avLst/>
              <a:gdLst/>
              <a:ahLst/>
              <a:cxnLst/>
              <a:rect l="l" t="t" r="r" b="b"/>
              <a:pathLst>
                <a:path w="1215" h="854" extrusionOk="0">
                  <a:moveTo>
                    <a:pt x="1023" y="1"/>
                  </a:moveTo>
                  <a:cubicBezTo>
                    <a:pt x="995" y="1"/>
                    <a:pt x="966" y="8"/>
                    <a:pt x="941" y="20"/>
                  </a:cubicBezTo>
                  <a:lnTo>
                    <a:pt x="95" y="580"/>
                  </a:lnTo>
                  <a:cubicBezTo>
                    <a:pt x="12" y="616"/>
                    <a:pt x="0" y="711"/>
                    <a:pt x="48" y="782"/>
                  </a:cubicBezTo>
                  <a:cubicBezTo>
                    <a:pt x="83" y="830"/>
                    <a:pt x="119" y="854"/>
                    <a:pt x="179" y="854"/>
                  </a:cubicBezTo>
                  <a:cubicBezTo>
                    <a:pt x="214" y="854"/>
                    <a:pt x="238" y="842"/>
                    <a:pt x="274" y="830"/>
                  </a:cubicBezTo>
                  <a:lnTo>
                    <a:pt x="1119" y="282"/>
                  </a:lnTo>
                  <a:cubicBezTo>
                    <a:pt x="1179" y="235"/>
                    <a:pt x="1214" y="140"/>
                    <a:pt x="1155" y="68"/>
                  </a:cubicBezTo>
                  <a:cubicBezTo>
                    <a:pt x="1124" y="22"/>
                    <a:pt x="1074" y="1"/>
                    <a:pt x="102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7521903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pic>
        <p:nvPicPr>
          <p:cNvPr id="582" name="Google Shape;582;p46"/>
          <p:cNvPicPr preferRelativeResize="0"/>
          <p:nvPr/>
        </p:nvPicPr>
        <p:blipFill rotWithShape="1">
          <a:blip r:embed="rId3">
            <a:alphaModFix/>
          </a:blip>
          <a:srcRect/>
          <a:stretch/>
        </p:blipFill>
        <p:spPr>
          <a:xfrm>
            <a:off x="-3391776" y="-30624"/>
            <a:ext cx="7368273" cy="5526205"/>
          </a:xfrm>
          <a:prstGeom prst="rect">
            <a:avLst/>
          </a:prstGeom>
          <a:noFill/>
          <a:ln>
            <a:noFill/>
          </a:ln>
        </p:spPr>
      </p:pic>
      <p:grpSp>
        <p:nvGrpSpPr>
          <p:cNvPr id="583" name="Google Shape;583;p46"/>
          <p:cNvGrpSpPr/>
          <p:nvPr/>
        </p:nvGrpSpPr>
        <p:grpSpPr>
          <a:xfrm>
            <a:off x="4919150" y="1542469"/>
            <a:ext cx="2975513" cy="2377004"/>
            <a:chOff x="0" y="0"/>
            <a:chExt cx="7934700" cy="6338677"/>
          </a:xfrm>
        </p:grpSpPr>
        <p:sp>
          <p:nvSpPr>
            <p:cNvPr id="584" name="Google Shape;584;p46"/>
            <p:cNvSpPr txBox="1"/>
            <p:nvPr/>
          </p:nvSpPr>
          <p:spPr>
            <a:xfrm>
              <a:off x="228432" y="0"/>
              <a:ext cx="7477799" cy="147732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fa-IR" sz="3000" b="1" i="0" u="none" strike="noStrike" cap="none" dirty="0">
                  <a:solidFill>
                    <a:srgbClr val="000000"/>
                  </a:solidFill>
                  <a:latin typeface="Open Sans"/>
                  <a:ea typeface="Open Sans"/>
                  <a:cs typeface="B Nazanin" panose="00000700000000000000" pitchFamily="2" charset="-78"/>
                  <a:sym typeface="Open Sans"/>
                </a:rPr>
                <a:t>قانون شهرداری ها</a:t>
              </a:r>
              <a:endParaRPr sz="700" b="1" dirty="0">
                <a:latin typeface="Open Sans"/>
                <a:ea typeface="Open Sans"/>
                <a:cs typeface="B Nazanin" panose="00000700000000000000" pitchFamily="2" charset="-78"/>
                <a:sym typeface="Open Sans"/>
              </a:endParaRPr>
            </a:p>
          </p:txBody>
        </p:sp>
        <p:sp>
          <p:nvSpPr>
            <p:cNvPr id="585" name="Google Shape;585;p46"/>
            <p:cNvSpPr txBox="1"/>
            <p:nvPr/>
          </p:nvSpPr>
          <p:spPr>
            <a:xfrm>
              <a:off x="0" y="3466096"/>
              <a:ext cx="7934700" cy="2872581"/>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fa-IR" sz="1000" i="0" u="none" strike="noStrike" cap="none" dirty="0">
                  <a:solidFill>
                    <a:srgbClr val="000000"/>
                  </a:solidFill>
                  <a:latin typeface="Open Sans"/>
                  <a:ea typeface="Open Sans"/>
                  <a:cs typeface="B Nazanin" panose="00000700000000000000" pitchFamily="2" charset="-78"/>
                  <a:sym typeface="Open Sans"/>
                </a:rPr>
                <a:t>این قانون شامل ۱۱۵ ماده و ۷۰ تبصره است.</a:t>
              </a:r>
            </a:p>
            <a:p>
              <a:pPr marL="0" marR="0" lvl="0" indent="0" algn="ctr" rtl="0">
                <a:lnSpc>
                  <a:spcPct val="140020"/>
                </a:lnSpc>
                <a:spcBef>
                  <a:spcPts val="0"/>
                </a:spcBef>
                <a:spcAft>
                  <a:spcPts val="0"/>
                </a:spcAft>
                <a:buNone/>
              </a:pPr>
              <a:r>
                <a:rPr lang="fa-IR" sz="1000" i="0" u="none" strike="noStrike" cap="none" dirty="0">
                  <a:solidFill>
                    <a:srgbClr val="000000"/>
                  </a:solidFill>
                  <a:latin typeface="Open Sans"/>
                  <a:ea typeface="Open Sans"/>
                  <a:cs typeface="B Nazanin" panose="00000700000000000000" pitchFamily="2" charset="-78"/>
                  <a:sym typeface="Open Sans"/>
                </a:rPr>
                <a:t> در آن از تشکیل شهرداری تا وظایف و اختیارات شهردار و انجمن شهر، از انتخابات انجمن شهر تا مالیات و عوارض شهرداری، از نظارت و بازرسی تا تشکیلات و کارکنان شهرداری و از مسائل مربوط به املاک و اموال شهرداری تا مسائل حقوقی و قضایی شهرداری سخن گفته شده است.</a:t>
              </a:r>
              <a:endParaRPr lang="fa-IR" sz="700" dirty="0">
                <a:latin typeface="Open Sans"/>
                <a:ea typeface="Open Sans"/>
                <a:cs typeface="B Nazanin" panose="00000700000000000000" pitchFamily="2" charset="-78"/>
                <a:sym typeface="Open Sans"/>
              </a:endParaRPr>
            </a:p>
          </p:txBody>
        </p:sp>
        <p:sp>
          <p:nvSpPr>
            <p:cNvPr id="586" name="Google Shape;586;p46"/>
            <p:cNvSpPr txBox="1"/>
            <p:nvPr/>
          </p:nvSpPr>
          <p:spPr>
            <a:xfrm>
              <a:off x="0" y="1887597"/>
              <a:ext cx="7934700" cy="574517"/>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fa-IR" sz="1000" b="1" i="0" u="none" strike="noStrike" cap="none" dirty="0">
                  <a:solidFill>
                    <a:srgbClr val="000000"/>
                  </a:solidFill>
                  <a:latin typeface="Open Sans"/>
                  <a:ea typeface="Open Sans"/>
                  <a:cs typeface="B Nazanin" panose="00000700000000000000" pitchFamily="2" charset="-78"/>
                  <a:sym typeface="Open Sans"/>
                </a:rPr>
                <a:t>مصوب سال1334 ولی در طول سال ها بروز شده</a:t>
              </a:r>
              <a:endParaRPr sz="700" b="1" dirty="0">
                <a:latin typeface="Open Sans"/>
                <a:ea typeface="Open Sans"/>
                <a:cs typeface="B Nazanin" panose="00000700000000000000" pitchFamily="2" charset="-78"/>
                <a:sym typeface="Open Sans"/>
              </a:endParaRPr>
            </a:p>
          </p:txBody>
        </p:sp>
      </p:grpSp>
      <p:cxnSp>
        <p:nvCxnSpPr>
          <p:cNvPr id="588" name="Google Shape;588;p46"/>
          <p:cNvCxnSpPr/>
          <p:nvPr/>
        </p:nvCxnSpPr>
        <p:spPr>
          <a:xfrm rot="5400000">
            <a:off x="6428372" y="4703694"/>
            <a:ext cx="3626382" cy="0"/>
          </a:xfrm>
          <a:prstGeom prst="straightConnector1">
            <a:avLst/>
          </a:prstGeom>
          <a:noFill/>
          <a:ln w="9525" cap="flat" cmpd="sng">
            <a:solidFill>
              <a:srgbClr val="000000"/>
            </a:solidFill>
            <a:prstDash val="solid"/>
            <a:round/>
            <a:headEnd type="none" w="sm" len="sm"/>
            <a:tailEnd type="none" w="sm" len="sm"/>
          </a:ln>
        </p:spPr>
      </p:cxnSp>
      <p:cxnSp>
        <p:nvCxnSpPr>
          <p:cNvPr id="589" name="Google Shape;589;p46"/>
          <p:cNvCxnSpPr/>
          <p:nvPr/>
        </p:nvCxnSpPr>
        <p:spPr>
          <a:xfrm rot="5400000">
            <a:off x="2748651" y="98247"/>
            <a:ext cx="3626382" cy="0"/>
          </a:xfrm>
          <a:prstGeom prst="straightConnector1">
            <a:avLst/>
          </a:prstGeom>
          <a:noFill/>
          <a:ln w="9525" cap="flat" cmpd="sng">
            <a:solidFill>
              <a:srgbClr val="000000"/>
            </a:solidFill>
            <a:prstDash val="solid"/>
            <a:round/>
            <a:headEnd type="none" w="sm" len="sm"/>
            <a:tailEnd type="none" w="sm" len="sm"/>
          </a:ln>
        </p:spPr>
      </p:cxnSp>
      <p:grpSp>
        <p:nvGrpSpPr>
          <p:cNvPr id="590" name="Google Shape;590;p46"/>
          <p:cNvGrpSpPr/>
          <p:nvPr/>
        </p:nvGrpSpPr>
        <p:grpSpPr>
          <a:xfrm>
            <a:off x="8837359" y="-72330"/>
            <a:ext cx="1543051" cy="5808473"/>
            <a:chOff x="0" y="-38100"/>
            <a:chExt cx="812800" cy="3059607"/>
          </a:xfrm>
        </p:grpSpPr>
        <p:sp>
          <p:nvSpPr>
            <p:cNvPr id="591" name="Google Shape;591;p46"/>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592" name="Google Shape;592;p46"/>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593" name="Google Shape;593;p46"/>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000000"/>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sp>
        <p:nvSpPr>
          <p:cNvPr id="2" name="Google Shape;587;p46">
            <a:extLst>
              <a:ext uri="{FF2B5EF4-FFF2-40B4-BE49-F238E27FC236}">
                <a16:creationId xmlns:a16="http://schemas.microsoft.com/office/drawing/2014/main" id="{8D8EBF60-B402-0700-9BCE-59E947D238F5}"/>
              </a:ext>
            </a:extLst>
          </p:cNvPr>
          <p:cNvSpPr txBox="1"/>
          <p:nvPr/>
        </p:nvSpPr>
        <p:spPr>
          <a:xfrm>
            <a:off x="4919142" y="4080522"/>
            <a:ext cx="2975513" cy="215444"/>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fa-IR" sz="1000" b="1" i="0" u="none" strike="noStrike" cap="none" dirty="0">
                <a:solidFill>
                  <a:srgbClr val="000000"/>
                </a:solidFill>
                <a:latin typeface="Open Sans"/>
                <a:ea typeface="Open Sans"/>
                <a:cs typeface="B Nazanin" panose="00000700000000000000" pitchFamily="2" charset="-78"/>
                <a:sym typeface="Open Sans"/>
              </a:rPr>
              <a:t>خلاصه همه چیه شهرداری ها توش هست!</a:t>
            </a:r>
            <a:endParaRPr sz="700" b="1" dirty="0">
              <a:latin typeface="Open Sans"/>
              <a:ea typeface="Open Sans"/>
              <a:cs typeface="B Nazanin" panose="00000700000000000000" pitchFamily="2" charset="-78"/>
              <a:sym typeface="Open Sans"/>
            </a:endParaRPr>
          </a:p>
        </p:txBody>
      </p:sp>
      <p:pic>
        <p:nvPicPr>
          <p:cNvPr id="4" name="Picture 3" descr="A building with flags in front of it">
            <a:extLst>
              <a:ext uri="{FF2B5EF4-FFF2-40B4-BE49-F238E27FC236}">
                <a16:creationId xmlns:a16="http://schemas.microsoft.com/office/drawing/2014/main" id="{B1E2D610-2E3A-0629-2CD4-62E33E5EBDFC}"/>
              </a:ext>
            </a:extLst>
          </p:cNvPr>
          <p:cNvPicPr>
            <a:picLocks noChangeAspect="1"/>
          </p:cNvPicPr>
          <p:nvPr/>
        </p:nvPicPr>
        <p:blipFill rotWithShape="1">
          <a:blip r:embed="rId4"/>
          <a:srcRect l="-29298" r="29298"/>
          <a:stretch/>
        </p:blipFill>
        <p:spPr>
          <a:xfrm>
            <a:off x="-5318394" y="-15312"/>
            <a:ext cx="9294834" cy="5174124"/>
          </a:xfrm>
          <a:prstGeom prst="rect">
            <a:avLst/>
          </a:prstGeom>
        </p:spPr>
      </p:pic>
    </p:spTree>
    <p:extLst>
      <p:ext uri="{BB962C8B-B14F-4D97-AF65-F5344CB8AC3E}">
        <p14:creationId xmlns:p14="http://schemas.microsoft.com/office/powerpoint/2010/main" val="3686435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grpSp>
        <p:nvGrpSpPr>
          <p:cNvPr id="4" name="Group 3">
            <a:extLst>
              <a:ext uri="{FF2B5EF4-FFF2-40B4-BE49-F238E27FC236}">
                <a16:creationId xmlns:a16="http://schemas.microsoft.com/office/drawing/2014/main" id="{6F09356D-9C7C-A8E4-8FA4-04595DCAD21C}"/>
              </a:ext>
            </a:extLst>
          </p:cNvPr>
          <p:cNvGrpSpPr/>
          <p:nvPr/>
        </p:nvGrpSpPr>
        <p:grpSpPr>
          <a:xfrm>
            <a:off x="3107733" y="-300370"/>
            <a:ext cx="6767787" cy="5660403"/>
            <a:chOff x="3107733" y="-300370"/>
            <a:chExt cx="6767787" cy="5660403"/>
          </a:xfrm>
        </p:grpSpPr>
        <p:sp>
          <p:nvSpPr>
            <p:cNvPr id="3" name="Rectangle 2">
              <a:extLst>
                <a:ext uri="{FF2B5EF4-FFF2-40B4-BE49-F238E27FC236}">
                  <a16:creationId xmlns:a16="http://schemas.microsoft.com/office/drawing/2014/main" id="{73840D21-7B00-AB6B-970B-FB5083EE9FD9}"/>
                </a:ext>
              </a:extLst>
            </p:cNvPr>
            <p:cNvSpPr/>
            <p:nvPr/>
          </p:nvSpPr>
          <p:spPr>
            <a:xfrm>
              <a:off x="5189220" y="-72330"/>
              <a:ext cx="4686300" cy="521583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grpSp>
          <p:nvGrpSpPr>
            <p:cNvPr id="53" name="Group 52">
              <a:extLst>
                <a:ext uri="{FF2B5EF4-FFF2-40B4-BE49-F238E27FC236}">
                  <a16:creationId xmlns:a16="http://schemas.microsoft.com/office/drawing/2014/main" id="{443FDF21-A278-6C4E-4CAE-B98A8DDFC112}"/>
                </a:ext>
              </a:extLst>
            </p:cNvPr>
            <p:cNvGrpSpPr/>
            <p:nvPr/>
          </p:nvGrpSpPr>
          <p:grpSpPr>
            <a:xfrm>
              <a:off x="3107733" y="-300370"/>
              <a:ext cx="2527167" cy="5660403"/>
              <a:chOff x="2964349" y="-300370"/>
              <a:chExt cx="2527167" cy="5660403"/>
            </a:xfrm>
          </p:grpSpPr>
          <p:grpSp>
            <p:nvGrpSpPr>
              <p:cNvPr id="31" name="Group 30">
                <a:extLst>
                  <a:ext uri="{FF2B5EF4-FFF2-40B4-BE49-F238E27FC236}">
                    <a16:creationId xmlns:a16="http://schemas.microsoft.com/office/drawing/2014/main" id="{798B4ACA-80F3-5114-01DD-6A28BDA23919}"/>
                  </a:ext>
                </a:extLst>
              </p:cNvPr>
              <p:cNvGrpSpPr/>
              <p:nvPr/>
            </p:nvGrpSpPr>
            <p:grpSpPr>
              <a:xfrm>
                <a:off x="2964349" y="2396240"/>
                <a:ext cx="2517110" cy="2963793"/>
                <a:chOff x="2429937" y="463838"/>
                <a:chExt cx="3319584" cy="3908673"/>
              </a:xfrm>
            </p:grpSpPr>
            <p:sp>
              <p:nvSpPr>
                <p:cNvPr id="32" name="Hexagon 31">
                  <a:extLst>
                    <a:ext uri="{FF2B5EF4-FFF2-40B4-BE49-F238E27FC236}">
                      <a16:creationId xmlns:a16="http://schemas.microsoft.com/office/drawing/2014/main" id="{7EE7D8ED-5EC9-3C6F-DA32-D35B7EFA15D8}"/>
                    </a:ext>
                  </a:extLst>
                </p:cNvPr>
                <p:cNvSpPr/>
                <p:nvPr/>
              </p:nvSpPr>
              <p:spPr>
                <a:xfrm>
                  <a:off x="3238500" y="1356582"/>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Hexagon 32">
                  <a:extLst>
                    <a:ext uri="{FF2B5EF4-FFF2-40B4-BE49-F238E27FC236}">
                      <a16:creationId xmlns:a16="http://schemas.microsoft.com/office/drawing/2014/main" id="{27009969-A7CF-3578-BFDB-C6D16AF5E811}"/>
                    </a:ext>
                  </a:extLst>
                </p:cNvPr>
                <p:cNvSpPr/>
                <p:nvPr/>
              </p:nvSpPr>
              <p:spPr>
                <a:xfrm>
                  <a:off x="2429937" y="1772540"/>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Hexagon 33">
                  <a:extLst>
                    <a:ext uri="{FF2B5EF4-FFF2-40B4-BE49-F238E27FC236}">
                      <a16:creationId xmlns:a16="http://schemas.microsoft.com/office/drawing/2014/main" id="{67950DCB-B944-D97B-E879-8E3CA3232450}"/>
                    </a:ext>
                  </a:extLst>
                </p:cNvPr>
                <p:cNvSpPr/>
                <p:nvPr/>
              </p:nvSpPr>
              <p:spPr>
                <a:xfrm>
                  <a:off x="2429937" y="908266"/>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Hexagon 34">
                  <a:extLst>
                    <a:ext uri="{FF2B5EF4-FFF2-40B4-BE49-F238E27FC236}">
                      <a16:creationId xmlns:a16="http://schemas.microsoft.com/office/drawing/2014/main" id="{4AE7B0BC-C503-ED94-6463-AFAE220E8D95}"/>
                    </a:ext>
                  </a:extLst>
                </p:cNvPr>
                <p:cNvSpPr/>
                <p:nvPr/>
              </p:nvSpPr>
              <p:spPr>
                <a:xfrm>
                  <a:off x="3238499" y="475190"/>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Hexagon 35">
                  <a:extLst>
                    <a:ext uri="{FF2B5EF4-FFF2-40B4-BE49-F238E27FC236}">
                      <a16:creationId xmlns:a16="http://schemas.microsoft.com/office/drawing/2014/main" id="{9C20EAF7-2287-5317-0474-0B1219816AF1}"/>
                    </a:ext>
                  </a:extLst>
                </p:cNvPr>
                <p:cNvSpPr/>
                <p:nvPr/>
              </p:nvSpPr>
              <p:spPr>
                <a:xfrm>
                  <a:off x="3238500" y="3143236"/>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7" name="Hexagon 36">
                  <a:extLst>
                    <a:ext uri="{FF2B5EF4-FFF2-40B4-BE49-F238E27FC236}">
                      <a16:creationId xmlns:a16="http://schemas.microsoft.com/office/drawing/2014/main" id="{57674FEF-A460-BA71-9C70-4DB656C2D630}"/>
                    </a:ext>
                  </a:extLst>
                </p:cNvPr>
                <p:cNvSpPr/>
                <p:nvPr/>
              </p:nvSpPr>
              <p:spPr>
                <a:xfrm>
                  <a:off x="2429937" y="3559194"/>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Hexagon 37">
                  <a:extLst>
                    <a:ext uri="{FF2B5EF4-FFF2-40B4-BE49-F238E27FC236}">
                      <a16:creationId xmlns:a16="http://schemas.microsoft.com/office/drawing/2014/main" id="{B50AB4FF-F82C-93BC-53DA-CD3FCBE8E262}"/>
                    </a:ext>
                  </a:extLst>
                </p:cNvPr>
                <p:cNvSpPr/>
                <p:nvPr/>
              </p:nvSpPr>
              <p:spPr>
                <a:xfrm>
                  <a:off x="2429937" y="2694920"/>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9" name="Hexagon 38">
                  <a:extLst>
                    <a:ext uri="{FF2B5EF4-FFF2-40B4-BE49-F238E27FC236}">
                      <a16:creationId xmlns:a16="http://schemas.microsoft.com/office/drawing/2014/main" id="{05BE6DAE-81A8-5385-8597-62FE48CBD0EF}"/>
                    </a:ext>
                  </a:extLst>
                </p:cNvPr>
                <p:cNvSpPr/>
                <p:nvPr/>
              </p:nvSpPr>
              <p:spPr>
                <a:xfrm>
                  <a:off x="3238499" y="2261844"/>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Hexagon 39">
                  <a:extLst>
                    <a:ext uri="{FF2B5EF4-FFF2-40B4-BE49-F238E27FC236}">
                      <a16:creationId xmlns:a16="http://schemas.microsoft.com/office/drawing/2014/main" id="{F017EC15-96E9-BC75-EB6F-B43E9E575286}"/>
                    </a:ext>
                  </a:extLst>
                </p:cNvPr>
                <p:cNvSpPr/>
                <p:nvPr/>
              </p:nvSpPr>
              <p:spPr>
                <a:xfrm>
                  <a:off x="4807802" y="1345230"/>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1" name="Hexagon 40">
                  <a:extLst>
                    <a:ext uri="{FF2B5EF4-FFF2-40B4-BE49-F238E27FC236}">
                      <a16:creationId xmlns:a16="http://schemas.microsoft.com/office/drawing/2014/main" id="{0B4D7C83-518F-D3A1-F2B9-6C4FBCCDE65A}"/>
                    </a:ext>
                  </a:extLst>
                </p:cNvPr>
                <p:cNvSpPr/>
                <p:nvPr/>
              </p:nvSpPr>
              <p:spPr>
                <a:xfrm>
                  <a:off x="4023150" y="1799624"/>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2" name="Hexagon 41">
                  <a:extLst>
                    <a:ext uri="{FF2B5EF4-FFF2-40B4-BE49-F238E27FC236}">
                      <a16:creationId xmlns:a16="http://schemas.microsoft.com/office/drawing/2014/main" id="{EB574907-483E-6E98-EF9F-12E1D131E4F4}"/>
                    </a:ext>
                  </a:extLst>
                </p:cNvPr>
                <p:cNvSpPr/>
                <p:nvPr/>
              </p:nvSpPr>
              <p:spPr>
                <a:xfrm>
                  <a:off x="4021053" y="912154"/>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3" name="Hexagon 42">
                  <a:extLst>
                    <a:ext uri="{FF2B5EF4-FFF2-40B4-BE49-F238E27FC236}">
                      <a16:creationId xmlns:a16="http://schemas.microsoft.com/office/drawing/2014/main" id="{76190643-49D3-FECC-48B5-9783CD2AF9EB}"/>
                    </a:ext>
                  </a:extLst>
                </p:cNvPr>
                <p:cNvSpPr/>
                <p:nvPr/>
              </p:nvSpPr>
              <p:spPr>
                <a:xfrm>
                  <a:off x="4807801" y="463838"/>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4" name="Hexagon 43">
                  <a:extLst>
                    <a:ext uri="{FF2B5EF4-FFF2-40B4-BE49-F238E27FC236}">
                      <a16:creationId xmlns:a16="http://schemas.microsoft.com/office/drawing/2014/main" id="{B509CB4F-7AAF-E30A-6AC0-B1CA36147FF7}"/>
                    </a:ext>
                  </a:extLst>
                </p:cNvPr>
                <p:cNvSpPr/>
                <p:nvPr/>
              </p:nvSpPr>
              <p:spPr>
                <a:xfrm>
                  <a:off x="4817858" y="3153395"/>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5" name="Hexagon 44">
                  <a:extLst>
                    <a:ext uri="{FF2B5EF4-FFF2-40B4-BE49-F238E27FC236}">
                      <a16:creationId xmlns:a16="http://schemas.microsoft.com/office/drawing/2014/main" id="{3C545A24-DBCF-44BE-2516-1240E879C059}"/>
                    </a:ext>
                  </a:extLst>
                </p:cNvPr>
                <p:cNvSpPr/>
                <p:nvPr/>
              </p:nvSpPr>
              <p:spPr>
                <a:xfrm>
                  <a:off x="4009295" y="3569353"/>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6" name="Hexagon 45">
                  <a:extLst>
                    <a:ext uri="{FF2B5EF4-FFF2-40B4-BE49-F238E27FC236}">
                      <a16:creationId xmlns:a16="http://schemas.microsoft.com/office/drawing/2014/main" id="{F7D4B750-4D0F-A663-4ED4-0DC0E26C3F87}"/>
                    </a:ext>
                  </a:extLst>
                </p:cNvPr>
                <p:cNvSpPr/>
                <p:nvPr/>
              </p:nvSpPr>
              <p:spPr>
                <a:xfrm>
                  <a:off x="4009295" y="2705079"/>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7" name="Hexagon 46">
                  <a:extLst>
                    <a:ext uri="{FF2B5EF4-FFF2-40B4-BE49-F238E27FC236}">
                      <a16:creationId xmlns:a16="http://schemas.microsoft.com/office/drawing/2014/main" id="{9492ABE0-7004-7D20-030E-71CEAB9BF860}"/>
                    </a:ext>
                  </a:extLst>
                </p:cNvPr>
                <p:cNvSpPr/>
                <p:nvPr/>
              </p:nvSpPr>
              <p:spPr>
                <a:xfrm>
                  <a:off x="4817857" y="2272003"/>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31392D0E-AC28-2933-0D4C-4F6C26382D1D}"/>
                  </a:ext>
                </a:extLst>
              </p:cNvPr>
              <p:cNvGrpSpPr/>
              <p:nvPr/>
            </p:nvGrpSpPr>
            <p:grpSpPr>
              <a:xfrm>
                <a:off x="2974406" y="-300370"/>
                <a:ext cx="2517110" cy="2963793"/>
                <a:chOff x="2429937" y="463838"/>
                <a:chExt cx="3319584" cy="3908673"/>
              </a:xfrm>
            </p:grpSpPr>
            <p:sp>
              <p:nvSpPr>
                <p:cNvPr id="14" name="Hexagon 13">
                  <a:extLst>
                    <a:ext uri="{FF2B5EF4-FFF2-40B4-BE49-F238E27FC236}">
                      <a16:creationId xmlns:a16="http://schemas.microsoft.com/office/drawing/2014/main" id="{55D69F1F-B08E-AE0B-B8FF-677A17E5F888}"/>
                    </a:ext>
                  </a:extLst>
                </p:cNvPr>
                <p:cNvSpPr/>
                <p:nvPr/>
              </p:nvSpPr>
              <p:spPr>
                <a:xfrm>
                  <a:off x="3238500" y="1356582"/>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Hexagon 14">
                  <a:extLst>
                    <a:ext uri="{FF2B5EF4-FFF2-40B4-BE49-F238E27FC236}">
                      <a16:creationId xmlns:a16="http://schemas.microsoft.com/office/drawing/2014/main" id="{3BA2CD21-5F79-2C93-DBF6-A366DA59683D}"/>
                    </a:ext>
                  </a:extLst>
                </p:cNvPr>
                <p:cNvSpPr/>
                <p:nvPr/>
              </p:nvSpPr>
              <p:spPr>
                <a:xfrm>
                  <a:off x="2429937" y="1772540"/>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Hexagon 15">
                  <a:extLst>
                    <a:ext uri="{FF2B5EF4-FFF2-40B4-BE49-F238E27FC236}">
                      <a16:creationId xmlns:a16="http://schemas.microsoft.com/office/drawing/2014/main" id="{9CFC5B18-8978-8BB5-4C91-DA8086DF3D56}"/>
                    </a:ext>
                  </a:extLst>
                </p:cNvPr>
                <p:cNvSpPr/>
                <p:nvPr/>
              </p:nvSpPr>
              <p:spPr>
                <a:xfrm>
                  <a:off x="2429937" y="908266"/>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Hexagon 16">
                  <a:extLst>
                    <a:ext uri="{FF2B5EF4-FFF2-40B4-BE49-F238E27FC236}">
                      <a16:creationId xmlns:a16="http://schemas.microsoft.com/office/drawing/2014/main" id="{B9AE15CA-4623-480D-F7CB-C2ADD26549DF}"/>
                    </a:ext>
                  </a:extLst>
                </p:cNvPr>
                <p:cNvSpPr/>
                <p:nvPr/>
              </p:nvSpPr>
              <p:spPr>
                <a:xfrm>
                  <a:off x="3238499" y="475190"/>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Hexagon 17">
                  <a:extLst>
                    <a:ext uri="{FF2B5EF4-FFF2-40B4-BE49-F238E27FC236}">
                      <a16:creationId xmlns:a16="http://schemas.microsoft.com/office/drawing/2014/main" id="{E2C8791B-F10F-A522-81A1-E9131627CBE7}"/>
                    </a:ext>
                  </a:extLst>
                </p:cNvPr>
                <p:cNvSpPr/>
                <p:nvPr/>
              </p:nvSpPr>
              <p:spPr>
                <a:xfrm>
                  <a:off x="3238500" y="3143236"/>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Hexagon 18">
                  <a:extLst>
                    <a:ext uri="{FF2B5EF4-FFF2-40B4-BE49-F238E27FC236}">
                      <a16:creationId xmlns:a16="http://schemas.microsoft.com/office/drawing/2014/main" id="{3BE3C0E5-6799-A01E-77CA-759DEC033E94}"/>
                    </a:ext>
                  </a:extLst>
                </p:cNvPr>
                <p:cNvSpPr/>
                <p:nvPr/>
              </p:nvSpPr>
              <p:spPr>
                <a:xfrm>
                  <a:off x="2429937" y="3559194"/>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Hexagon 19">
                  <a:extLst>
                    <a:ext uri="{FF2B5EF4-FFF2-40B4-BE49-F238E27FC236}">
                      <a16:creationId xmlns:a16="http://schemas.microsoft.com/office/drawing/2014/main" id="{D892917E-6309-4710-631F-0B7ED3FE2CFB}"/>
                    </a:ext>
                  </a:extLst>
                </p:cNvPr>
                <p:cNvSpPr/>
                <p:nvPr/>
              </p:nvSpPr>
              <p:spPr>
                <a:xfrm>
                  <a:off x="2429937" y="2694920"/>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Hexagon 20">
                  <a:extLst>
                    <a:ext uri="{FF2B5EF4-FFF2-40B4-BE49-F238E27FC236}">
                      <a16:creationId xmlns:a16="http://schemas.microsoft.com/office/drawing/2014/main" id="{EC071FFD-933D-73F3-0A9D-BAE5C326AC82}"/>
                    </a:ext>
                  </a:extLst>
                </p:cNvPr>
                <p:cNvSpPr/>
                <p:nvPr/>
              </p:nvSpPr>
              <p:spPr>
                <a:xfrm>
                  <a:off x="3238499" y="2261844"/>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Hexagon 21">
                  <a:extLst>
                    <a:ext uri="{FF2B5EF4-FFF2-40B4-BE49-F238E27FC236}">
                      <a16:creationId xmlns:a16="http://schemas.microsoft.com/office/drawing/2014/main" id="{A23D0349-818C-42AE-CB23-A374D46DB90E}"/>
                    </a:ext>
                  </a:extLst>
                </p:cNvPr>
                <p:cNvSpPr/>
                <p:nvPr/>
              </p:nvSpPr>
              <p:spPr>
                <a:xfrm>
                  <a:off x="4807802" y="1345230"/>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Hexagon 22">
                  <a:extLst>
                    <a:ext uri="{FF2B5EF4-FFF2-40B4-BE49-F238E27FC236}">
                      <a16:creationId xmlns:a16="http://schemas.microsoft.com/office/drawing/2014/main" id="{19B0373D-5127-704E-892A-293E290953B7}"/>
                    </a:ext>
                  </a:extLst>
                </p:cNvPr>
                <p:cNvSpPr/>
                <p:nvPr/>
              </p:nvSpPr>
              <p:spPr>
                <a:xfrm>
                  <a:off x="4023150" y="1799624"/>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Hexagon 23">
                  <a:extLst>
                    <a:ext uri="{FF2B5EF4-FFF2-40B4-BE49-F238E27FC236}">
                      <a16:creationId xmlns:a16="http://schemas.microsoft.com/office/drawing/2014/main" id="{83208242-E288-0AA6-BE46-41E1AEE1EF46}"/>
                    </a:ext>
                  </a:extLst>
                </p:cNvPr>
                <p:cNvSpPr/>
                <p:nvPr/>
              </p:nvSpPr>
              <p:spPr>
                <a:xfrm>
                  <a:off x="4021053" y="912154"/>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Hexagon 24">
                  <a:extLst>
                    <a:ext uri="{FF2B5EF4-FFF2-40B4-BE49-F238E27FC236}">
                      <a16:creationId xmlns:a16="http://schemas.microsoft.com/office/drawing/2014/main" id="{02B04883-846E-60B1-E3F2-38E1E7B33718}"/>
                    </a:ext>
                  </a:extLst>
                </p:cNvPr>
                <p:cNvSpPr/>
                <p:nvPr/>
              </p:nvSpPr>
              <p:spPr>
                <a:xfrm>
                  <a:off x="4807801" y="463838"/>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Hexagon 25">
                  <a:extLst>
                    <a:ext uri="{FF2B5EF4-FFF2-40B4-BE49-F238E27FC236}">
                      <a16:creationId xmlns:a16="http://schemas.microsoft.com/office/drawing/2014/main" id="{86451A39-BABF-0C3D-85D9-375E23BF823D}"/>
                    </a:ext>
                  </a:extLst>
                </p:cNvPr>
                <p:cNvSpPr/>
                <p:nvPr/>
              </p:nvSpPr>
              <p:spPr>
                <a:xfrm>
                  <a:off x="4817858" y="3153395"/>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Hexagon 26">
                  <a:extLst>
                    <a:ext uri="{FF2B5EF4-FFF2-40B4-BE49-F238E27FC236}">
                      <a16:creationId xmlns:a16="http://schemas.microsoft.com/office/drawing/2014/main" id="{0A07CCA7-86FD-528B-B714-0C45BD24E34A}"/>
                    </a:ext>
                  </a:extLst>
                </p:cNvPr>
                <p:cNvSpPr/>
                <p:nvPr/>
              </p:nvSpPr>
              <p:spPr>
                <a:xfrm>
                  <a:off x="4009295" y="3569353"/>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Hexagon 27">
                  <a:extLst>
                    <a:ext uri="{FF2B5EF4-FFF2-40B4-BE49-F238E27FC236}">
                      <a16:creationId xmlns:a16="http://schemas.microsoft.com/office/drawing/2014/main" id="{35EFC781-ED1F-6F65-3836-991899113687}"/>
                    </a:ext>
                  </a:extLst>
                </p:cNvPr>
                <p:cNvSpPr/>
                <p:nvPr/>
              </p:nvSpPr>
              <p:spPr>
                <a:xfrm>
                  <a:off x="4009295" y="2705079"/>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Hexagon 28">
                  <a:extLst>
                    <a:ext uri="{FF2B5EF4-FFF2-40B4-BE49-F238E27FC236}">
                      <a16:creationId xmlns:a16="http://schemas.microsoft.com/office/drawing/2014/main" id="{9D048C4B-5465-00E2-BA8B-1531BFC35E7D}"/>
                    </a:ext>
                  </a:extLst>
                </p:cNvPr>
                <p:cNvSpPr/>
                <p:nvPr/>
              </p:nvSpPr>
              <p:spPr>
                <a:xfrm>
                  <a:off x="4817857" y="2272003"/>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grpSp>
      </p:grpSp>
      <p:pic>
        <p:nvPicPr>
          <p:cNvPr id="598" name="Google Shape;598;p47"/>
          <p:cNvPicPr preferRelativeResize="0"/>
          <p:nvPr/>
        </p:nvPicPr>
        <p:blipFill rotWithShape="1">
          <a:blip r:embed="rId3">
            <a:alphaModFix/>
          </a:blip>
          <a:srcRect l="84412"/>
          <a:stretch/>
        </p:blipFill>
        <p:spPr>
          <a:xfrm>
            <a:off x="0" y="-30624"/>
            <a:ext cx="1148520" cy="5526205"/>
          </a:xfrm>
          <a:prstGeom prst="rect">
            <a:avLst/>
          </a:prstGeom>
          <a:noFill/>
          <a:ln>
            <a:noFill/>
          </a:ln>
        </p:spPr>
      </p:pic>
      <p:cxnSp>
        <p:nvCxnSpPr>
          <p:cNvPr id="604" name="Google Shape;604;p47"/>
          <p:cNvCxnSpPr/>
          <p:nvPr/>
        </p:nvCxnSpPr>
        <p:spPr>
          <a:xfrm rot="5400000">
            <a:off x="3416334" y="4476614"/>
            <a:ext cx="3626382" cy="0"/>
          </a:xfrm>
          <a:prstGeom prst="straightConnector1">
            <a:avLst/>
          </a:prstGeom>
          <a:noFill/>
          <a:ln w="9525" cap="flat" cmpd="sng">
            <a:solidFill>
              <a:srgbClr val="FFFFFF"/>
            </a:solidFill>
            <a:prstDash val="solid"/>
            <a:round/>
            <a:headEnd type="none" w="sm" len="sm"/>
            <a:tailEnd type="none" w="sm" len="sm"/>
          </a:ln>
        </p:spPr>
      </p:cxnSp>
      <p:cxnSp>
        <p:nvCxnSpPr>
          <p:cNvPr id="605" name="Google Shape;605;p47"/>
          <p:cNvCxnSpPr/>
          <p:nvPr/>
        </p:nvCxnSpPr>
        <p:spPr>
          <a:xfrm rot="5400000">
            <a:off x="-263387" y="-244188"/>
            <a:ext cx="3626382" cy="0"/>
          </a:xfrm>
          <a:prstGeom prst="straightConnector1">
            <a:avLst/>
          </a:prstGeom>
          <a:noFill/>
          <a:ln w="9525" cap="flat" cmpd="sng">
            <a:solidFill>
              <a:srgbClr val="FFFFFF"/>
            </a:solidFill>
            <a:prstDash val="solid"/>
            <a:round/>
            <a:headEnd type="none" w="sm" len="sm"/>
            <a:tailEnd type="none" w="sm" len="sm"/>
          </a:ln>
        </p:spPr>
      </p:cxnSp>
      <p:grpSp>
        <p:nvGrpSpPr>
          <p:cNvPr id="606" name="Google Shape;606;p47"/>
          <p:cNvGrpSpPr/>
          <p:nvPr/>
        </p:nvGrpSpPr>
        <p:grpSpPr>
          <a:xfrm>
            <a:off x="8837359" y="-72330"/>
            <a:ext cx="1543051" cy="5808473"/>
            <a:chOff x="0" y="-38100"/>
            <a:chExt cx="812800" cy="3059607"/>
          </a:xfrm>
        </p:grpSpPr>
        <p:sp>
          <p:nvSpPr>
            <p:cNvPr id="607" name="Google Shape;607;p47"/>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endParaRPr lang="en-US"/>
            </a:p>
          </p:txBody>
        </p:sp>
        <p:sp>
          <p:nvSpPr>
            <p:cNvPr id="608" name="Google Shape;608;p47"/>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609" name="Google Shape;609;p47"/>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pic>
        <p:nvPicPr>
          <p:cNvPr id="2" name="Picture 1" descr="A building with flags in front of it">
            <a:extLst>
              <a:ext uri="{FF2B5EF4-FFF2-40B4-BE49-F238E27FC236}">
                <a16:creationId xmlns:a16="http://schemas.microsoft.com/office/drawing/2014/main" id="{25A9FC8B-1F02-905D-3971-2263D458B829}"/>
              </a:ext>
            </a:extLst>
          </p:cNvPr>
          <p:cNvPicPr>
            <a:picLocks noChangeAspect="1"/>
          </p:cNvPicPr>
          <p:nvPr/>
        </p:nvPicPr>
        <p:blipFill>
          <a:blip r:embed="rId4"/>
          <a:stretch>
            <a:fillRect/>
          </a:stretch>
        </p:blipFill>
        <p:spPr>
          <a:xfrm>
            <a:off x="-8125734" y="-30624"/>
            <a:ext cx="9294834" cy="5174124"/>
          </a:xfrm>
          <a:prstGeom prst="rect">
            <a:avLst/>
          </a:prstGeom>
        </p:spPr>
      </p:pic>
      <p:grpSp>
        <p:nvGrpSpPr>
          <p:cNvPr id="599" name="Google Shape;599;p47"/>
          <p:cNvGrpSpPr/>
          <p:nvPr/>
        </p:nvGrpSpPr>
        <p:grpSpPr>
          <a:xfrm>
            <a:off x="5640161" y="313133"/>
            <a:ext cx="2804175" cy="1384787"/>
            <a:chOff x="228432" y="0"/>
            <a:chExt cx="7477799" cy="3692768"/>
          </a:xfrm>
        </p:grpSpPr>
        <p:sp>
          <p:nvSpPr>
            <p:cNvPr id="600" name="Google Shape;600;p47"/>
            <p:cNvSpPr txBox="1"/>
            <p:nvPr/>
          </p:nvSpPr>
          <p:spPr>
            <a:xfrm>
              <a:off x="228432" y="0"/>
              <a:ext cx="7477799" cy="147732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fa-IR" sz="3000" b="1" i="0" u="none" strike="noStrike" cap="none" dirty="0">
                  <a:solidFill>
                    <a:schemeClr val="bg1"/>
                  </a:solidFill>
                  <a:latin typeface="Open Sans"/>
                  <a:ea typeface="Open Sans"/>
                  <a:cs typeface="B Nazanin" panose="00000700000000000000" pitchFamily="2" charset="-78"/>
                  <a:sym typeface="Open Sans"/>
                </a:rPr>
                <a:t>فصل های این قانون</a:t>
              </a:r>
              <a:endParaRPr sz="700" b="1" dirty="0">
                <a:solidFill>
                  <a:schemeClr val="bg1"/>
                </a:solidFill>
                <a:latin typeface="Open Sans"/>
                <a:ea typeface="Open Sans"/>
                <a:cs typeface="B Nazanin" panose="00000700000000000000" pitchFamily="2" charset="-78"/>
                <a:sym typeface="Open Sans"/>
              </a:endParaRPr>
            </a:p>
          </p:txBody>
        </p:sp>
        <p:sp>
          <p:nvSpPr>
            <p:cNvPr id="602" name="Google Shape;602;p47"/>
            <p:cNvSpPr txBox="1"/>
            <p:nvPr/>
          </p:nvSpPr>
          <p:spPr>
            <a:xfrm>
              <a:off x="647701" y="3118251"/>
              <a:ext cx="6639300" cy="574517"/>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fa-IR" sz="1000" b="1" i="0" u="none" strike="noStrike" cap="none" dirty="0">
                  <a:solidFill>
                    <a:schemeClr val="bg1"/>
                  </a:solidFill>
                  <a:latin typeface="Open Sans"/>
                  <a:ea typeface="Open Sans"/>
                  <a:cs typeface="B Nazanin" panose="00000700000000000000" pitchFamily="2" charset="-78"/>
                  <a:sym typeface="Open Sans"/>
                </a:rPr>
                <a:t>این قانون شامل 9 فصل می باشد:</a:t>
              </a:r>
              <a:endParaRPr sz="700" b="1" dirty="0">
                <a:solidFill>
                  <a:schemeClr val="bg1"/>
                </a:solidFill>
                <a:latin typeface="Open Sans"/>
                <a:ea typeface="Open Sans"/>
                <a:cs typeface="B Nazanin" panose="00000700000000000000" pitchFamily="2" charset="-78"/>
                <a:sym typeface="Open Sans"/>
              </a:endParaRPr>
            </a:p>
          </p:txBody>
        </p:sp>
      </p:grpSp>
      <p:sp>
        <p:nvSpPr>
          <p:cNvPr id="50" name="Google Shape;601;p47">
            <a:extLst>
              <a:ext uri="{FF2B5EF4-FFF2-40B4-BE49-F238E27FC236}">
                <a16:creationId xmlns:a16="http://schemas.microsoft.com/office/drawing/2014/main" id="{ED022846-F5C6-3332-544F-BEF422647BD4}"/>
              </a:ext>
            </a:extLst>
          </p:cNvPr>
          <p:cNvSpPr txBox="1"/>
          <p:nvPr/>
        </p:nvSpPr>
        <p:spPr>
          <a:xfrm>
            <a:off x="5554499" y="2019040"/>
            <a:ext cx="2975513" cy="1292662"/>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fa-IR" sz="1000" i="0" u="none" strike="noStrike" cap="none" dirty="0">
                <a:solidFill>
                  <a:schemeClr val="bg1"/>
                </a:solidFill>
                <a:latin typeface="Open Sans"/>
                <a:ea typeface="Open Sans"/>
                <a:cs typeface="B Nazanin" panose="00000700000000000000" pitchFamily="2" charset="-78"/>
                <a:sym typeface="Open Sans"/>
              </a:rPr>
              <a:t>1- درمورد تاسیس شهرداری ها</a:t>
            </a:r>
          </a:p>
          <a:p>
            <a:pPr marL="0" marR="0" lvl="0" indent="0" algn="ctr" rtl="0">
              <a:lnSpc>
                <a:spcPct val="140020"/>
              </a:lnSpc>
              <a:spcBef>
                <a:spcPts val="0"/>
              </a:spcBef>
              <a:spcAft>
                <a:spcPts val="0"/>
              </a:spcAft>
              <a:buNone/>
            </a:pPr>
            <a:r>
              <a:rPr lang="fa-IR" sz="1000" dirty="0">
                <a:solidFill>
                  <a:schemeClr val="bg1"/>
                </a:solidFill>
                <a:latin typeface="Open Sans"/>
                <a:ea typeface="Open Sans"/>
                <a:cs typeface="B Nazanin" panose="00000700000000000000" pitchFamily="2" charset="-78"/>
                <a:sym typeface="Open Sans"/>
              </a:rPr>
              <a:t>2- انتخابات انجمن شهر</a:t>
            </a:r>
          </a:p>
          <a:p>
            <a:pPr marL="0" marR="0" lvl="0" indent="0" algn="ctr" rtl="0">
              <a:lnSpc>
                <a:spcPct val="140020"/>
              </a:lnSpc>
              <a:spcBef>
                <a:spcPts val="0"/>
              </a:spcBef>
              <a:spcAft>
                <a:spcPts val="0"/>
              </a:spcAft>
              <a:buNone/>
            </a:pPr>
            <a:r>
              <a:rPr lang="fa-IR" sz="1000" i="0" u="none" strike="noStrike" cap="none" dirty="0">
                <a:solidFill>
                  <a:schemeClr val="bg1"/>
                </a:solidFill>
                <a:latin typeface="Open Sans"/>
                <a:ea typeface="Open Sans"/>
                <a:cs typeface="B Nazanin" panose="00000700000000000000" pitchFamily="2" charset="-78"/>
                <a:sym typeface="Open Sans"/>
              </a:rPr>
              <a:t>3- تشکیل انجمن شهر</a:t>
            </a:r>
          </a:p>
          <a:p>
            <a:pPr marL="0" marR="0" lvl="0" indent="0" algn="ctr" rtl="0">
              <a:lnSpc>
                <a:spcPct val="140020"/>
              </a:lnSpc>
              <a:spcBef>
                <a:spcPts val="0"/>
              </a:spcBef>
              <a:spcAft>
                <a:spcPts val="0"/>
              </a:spcAft>
              <a:buNone/>
            </a:pPr>
            <a:r>
              <a:rPr lang="fa-IR" sz="1000" dirty="0">
                <a:solidFill>
                  <a:schemeClr val="bg1"/>
                </a:solidFill>
                <a:latin typeface="Open Sans"/>
                <a:ea typeface="Open Sans"/>
                <a:cs typeface="B Nazanin" panose="00000700000000000000" pitchFamily="2" charset="-78"/>
                <a:sym typeface="Open Sans"/>
              </a:rPr>
              <a:t>4- وظایف انجمن شهر</a:t>
            </a:r>
          </a:p>
          <a:p>
            <a:pPr marL="0" marR="0" lvl="0" indent="0" algn="ctr" rtl="0">
              <a:lnSpc>
                <a:spcPct val="140020"/>
              </a:lnSpc>
              <a:spcBef>
                <a:spcPts val="0"/>
              </a:spcBef>
              <a:spcAft>
                <a:spcPts val="0"/>
              </a:spcAft>
              <a:buNone/>
            </a:pPr>
            <a:r>
              <a:rPr lang="fa-IR" sz="1000" i="0" u="none" strike="noStrike" cap="none" dirty="0">
                <a:solidFill>
                  <a:schemeClr val="bg1"/>
                </a:solidFill>
                <a:latin typeface="Open Sans"/>
                <a:ea typeface="Open Sans"/>
                <a:cs typeface="B Nazanin" panose="00000700000000000000" pitchFamily="2" charset="-78"/>
                <a:sym typeface="Open Sans"/>
              </a:rPr>
              <a:t>5- انتخاب </a:t>
            </a:r>
            <a:r>
              <a:rPr lang="fa-IR" sz="1000" dirty="0">
                <a:solidFill>
                  <a:schemeClr val="bg1"/>
                </a:solidFill>
                <a:latin typeface="Open Sans"/>
                <a:ea typeface="Open Sans"/>
                <a:cs typeface="B Nazanin" panose="00000700000000000000" pitchFamily="2" charset="-78"/>
                <a:sym typeface="Open Sans"/>
              </a:rPr>
              <a:t>شهردار و معاون شهردار</a:t>
            </a:r>
          </a:p>
          <a:p>
            <a:pPr marL="0" marR="0" lvl="0" indent="0" algn="ctr" rtl="0">
              <a:lnSpc>
                <a:spcPct val="140020"/>
              </a:lnSpc>
              <a:spcBef>
                <a:spcPts val="0"/>
              </a:spcBef>
              <a:spcAft>
                <a:spcPts val="0"/>
              </a:spcAft>
              <a:buNone/>
            </a:pPr>
            <a:r>
              <a:rPr lang="fa-IR" sz="1000" i="0" u="none" strike="noStrike" cap="none" dirty="0">
                <a:solidFill>
                  <a:schemeClr val="bg1"/>
                </a:solidFill>
                <a:latin typeface="Open Sans"/>
                <a:ea typeface="Open Sans"/>
                <a:cs typeface="B Nazanin" panose="00000700000000000000" pitchFamily="2" charset="-78"/>
                <a:sym typeface="Open Sans"/>
              </a:rPr>
              <a:t>6- وظایف شهرداری</a:t>
            </a:r>
          </a:p>
        </p:txBody>
      </p:sp>
      <p:sp>
        <p:nvSpPr>
          <p:cNvPr id="52" name="Rectangle 51">
            <a:extLst>
              <a:ext uri="{FF2B5EF4-FFF2-40B4-BE49-F238E27FC236}">
                <a16:creationId xmlns:a16="http://schemas.microsoft.com/office/drawing/2014/main" id="{1ADA6BE5-0F75-6AEB-8DFC-13A1D8FABBA6}"/>
              </a:ext>
            </a:extLst>
          </p:cNvPr>
          <p:cNvSpPr/>
          <p:nvPr/>
        </p:nvSpPr>
        <p:spPr>
          <a:xfrm>
            <a:off x="-1737359" y="-72330"/>
            <a:ext cx="2906460" cy="5352990"/>
          </a:xfrm>
          <a:prstGeom prst="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5995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2"/>
          <p:cNvSpPr txBox="1"/>
          <p:nvPr/>
        </p:nvSpPr>
        <p:spPr>
          <a:xfrm>
            <a:off x="3625382" y="530918"/>
            <a:ext cx="3975568" cy="615553"/>
          </a:xfrm>
          <a:prstGeom prst="rect">
            <a:avLst/>
          </a:prstGeom>
          <a:noFill/>
          <a:ln>
            <a:noFill/>
          </a:ln>
        </p:spPr>
        <p:txBody>
          <a:bodyPr spcFirstLastPara="1" wrap="square" lIns="0" tIns="0" rIns="0" bIns="0" anchor="t" anchorCtr="0">
            <a:spAutoFit/>
          </a:bodyPr>
          <a:lstStyle/>
          <a:p>
            <a:pPr marL="0" marR="0" lvl="0" indent="0" algn="r" rtl="1">
              <a:lnSpc>
                <a:spcPct val="100000"/>
              </a:lnSpc>
              <a:spcBef>
                <a:spcPts val="0"/>
              </a:spcBef>
              <a:spcAft>
                <a:spcPts val="0"/>
              </a:spcAft>
              <a:buNone/>
            </a:pPr>
            <a:r>
              <a:rPr lang="fa-IR" sz="4000" b="1" i="0" u="none" strike="noStrike" cap="none" dirty="0">
                <a:solidFill>
                  <a:srgbClr val="000000"/>
                </a:solidFill>
                <a:latin typeface="Open Sans"/>
                <a:ea typeface="Open Sans"/>
                <a:cs typeface="B Nazanin" panose="00000700000000000000" pitchFamily="2" charset="-78"/>
                <a:sym typeface="Open Sans"/>
              </a:rPr>
              <a:t>تاسیس شهرداری ها</a:t>
            </a:r>
            <a:endParaRPr sz="700" dirty="0">
              <a:cs typeface="B Nazanin" panose="00000700000000000000" pitchFamily="2" charset="-78"/>
            </a:endParaRPr>
          </a:p>
        </p:txBody>
      </p:sp>
      <p:pic>
        <p:nvPicPr>
          <p:cNvPr id="255" name="Google Shape;255;p32"/>
          <p:cNvPicPr preferRelativeResize="0"/>
          <p:nvPr/>
        </p:nvPicPr>
        <p:blipFill rotWithShape="1">
          <a:blip r:embed="rId3">
            <a:alphaModFix/>
          </a:blip>
          <a:srcRect b="16763"/>
          <a:stretch/>
        </p:blipFill>
        <p:spPr>
          <a:xfrm>
            <a:off x="514350" y="2111631"/>
            <a:ext cx="2499939" cy="1387660"/>
          </a:xfrm>
          <a:prstGeom prst="rect">
            <a:avLst/>
          </a:prstGeom>
          <a:noFill/>
          <a:ln>
            <a:noFill/>
          </a:ln>
        </p:spPr>
      </p:pic>
      <p:pic>
        <p:nvPicPr>
          <p:cNvPr id="256" name="Google Shape;256;p32"/>
          <p:cNvPicPr preferRelativeResize="0"/>
          <p:nvPr/>
        </p:nvPicPr>
        <p:blipFill rotWithShape="1">
          <a:blip r:embed="rId4">
            <a:alphaModFix/>
          </a:blip>
          <a:srcRect t="12994" b="12994"/>
          <a:stretch/>
        </p:blipFill>
        <p:spPr>
          <a:xfrm>
            <a:off x="3322031" y="2111631"/>
            <a:ext cx="2499939" cy="1387660"/>
          </a:xfrm>
          <a:prstGeom prst="rect">
            <a:avLst/>
          </a:prstGeom>
          <a:noFill/>
          <a:ln>
            <a:noFill/>
          </a:ln>
        </p:spPr>
      </p:pic>
      <p:pic>
        <p:nvPicPr>
          <p:cNvPr id="257" name="Google Shape;257;p32"/>
          <p:cNvPicPr preferRelativeResize="0"/>
          <p:nvPr/>
        </p:nvPicPr>
        <p:blipFill rotWithShape="1">
          <a:blip r:embed="rId5">
            <a:alphaModFix/>
          </a:blip>
          <a:srcRect t="8343" b="8342"/>
          <a:stretch/>
        </p:blipFill>
        <p:spPr>
          <a:xfrm>
            <a:off x="6129711" y="2111631"/>
            <a:ext cx="2499939" cy="1387660"/>
          </a:xfrm>
          <a:prstGeom prst="rect">
            <a:avLst/>
          </a:prstGeom>
          <a:noFill/>
          <a:ln>
            <a:noFill/>
          </a:ln>
        </p:spPr>
      </p:pic>
      <p:grpSp>
        <p:nvGrpSpPr>
          <p:cNvPr id="258" name="Google Shape;258;p32"/>
          <p:cNvGrpSpPr/>
          <p:nvPr/>
        </p:nvGrpSpPr>
        <p:grpSpPr>
          <a:xfrm>
            <a:off x="514350" y="3619361"/>
            <a:ext cx="2499939" cy="446704"/>
            <a:chOff x="0" y="-38100"/>
            <a:chExt cx="6666504" cy="1191210"/>
          </a:xfrm>
        </p:grpSpPr>
        <p:sp>
          <p:nvSpPr>
            <p:cNvPr id="259" name="Google Shape;259;p32"/>
            <p:cNvSpPr txBox="1"/>
            <p:nvPr/>
          </p:nvSpPr>
          <p:spPr>
            <a:xfrm>
              <a:off x="0" y="578593"/>
              <a:ext cx="6666504" cy="574517"/>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000" b="0" i="0" u="none" strike="noStrike" cap="none" dirty="0">
                  <a:solidFill>
                    <a:srgbClr val="000000"/>
                  </a:solidFill>
                  <a:latin typeface="Open Sans"/>
                  <a:ea typeface="Open Sans"/>
                  <a:cs typeface="B Nazanin" panose="00000700000000000000" pitchFamily="2" charset="-78"/>
                  <a:sym typeface="Open Sans"/>
                </a:rPr>
                <a:t>شهرداری دارای شخصیت حقوقی می باشد.</a:t>
              </a:r>
              <a:endParaRPr sz="700" dirty="0">
                <a:cs typeface="B Nazanin" panose="00000700000000000000" pitchFamily="2" charset="-78"/>
              </a:endParaRPr>
            </a:p>
          </p:txBody>
        </p:sp>
        <p:sp>
          <p:nvSpPr>
            <p:cNvPr id="260" name="Google Shape;260;p32"/>
            <p:cNvSpPr txBox="1"/>
            <p:nvPr/>
          </p:nvSpPr>
          <p:spPr>
            <a:xfrm>
              <a:off x="0" y="-38100"/>
              <a:ext cx="6666504" cy="603242"/>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050" b="1" i="0" u="none" strike="noStrike" cap="none" dirty="0">
                  <a:solidFill>
                    <a:srgbClr val="000000"/>
                  </a:solidFill>
                  <a:latin typeface="Open Sans"/>
                  <a:ea typeface="Open Sans"/>
                  <a:cs typeface="B Nazanin" panose="00000700000000000000" pitchFamily="2" charset="-78"/>
                  <a:sym typeface="Open Sans"/>
                </a:rPr>
                <a:t>حقوقی یا حقیقی</a:t>
              </a:r>
              <a:endParaRPr sz="800" b="1" dirty="0">
                <a:cs typeface="B Nazanin" panose="00000700000000000000" pitchFamily="2" charset="-78"/>
              </a:endParaRPr>
            </a:p>
          </p:txBody>
        </p:sp>
      </p:grpSp>
      <p:grpSp>
        <p:nvGrpSpPr>
          <p:cNvPr id="261" name="Google Shape;261;p32"/>
          <p:cNvGrpSpPr/>
          <p:nvPr/>
        </p:nvGrpSpPr>
        <p:grpSpPr>
          <a:xfrm>
            <a:off x="3322031" y="3619361"/>
            <a:ext cx="2499939" cy="1308478"/>
            <a:chOff x="0" y="-38100"/>
            <a:chExt cx="6666504" cy="3489274"/>
          </a:xfrm>
        </p:grpSpPr>
        <p:sp>
          <p:nvSpPr>
            <p:cNvPr id="262" name="Google Shape;262;p32"/>
            <p:cNvSpPr txBox="1"/>
            <p:nvPr/>
          </p:nvSpPr>
          <p:spPr>
            <a:xfrm>
              <a:off x="0" y="578593"/>
              <a:ext cx="6666504" cy="2872581"/>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000" b="0" i="0" u="none" strike="noStrike" cap="none" dirty="0">
                  <a:solidFill>
                    <a:srgbClr val="000000"/>
                  </a:solidFill>
                  <a:latin typeface="Open Sans"/>
                  <a:ea typeface="Open Sans"/>
                  <a:cs typeface="B Nazanin" panose="00000700000000000000" pitchFamily="2" charset="-78"/>
                  <a:sym typeface="Open Sans"/>
                </a:rPr>
                <a:t>حدود حوزه شهرداری را انجمن شهر تصویب می کند، سپس بعد از تصویب شورای شهرستان باید به تصویب وزارت کشور برسد. این حدود باید با رعایت موازین شرعی و قانونی و با توجه به نیازهای عمرانی و اقتصادی و اجتماعی و فرهنگی و بهداشتی و محیط زیستی شهر انتخاب شوند.</a:t>
              </a:r>
              <a:endParaRPr lang="fa-IR" sz="700" dirty="0">
                <a:cs typeface="B Nazanin" panose="00000700000000000000" pitchFamily="2" charset="-78"/>
              </a:endParaRPr>
            </a:p>
          </p:txBody>
        </p:sp>
        <p:sp>
          <p:nvSpPr>
            <p:cNvPr id="263" name="Google Shape;263;p32"/>
            <p:cNvSpPr txBox="1"/>
            <p:nvPr/>
          </p:nvSpPr>
          <p:spPr>
            <a:xfrm>
              <a:off x="0" y="-38100"/>
              <a:ext cx="6666504" cy="603243"/>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050" b="1" i="0" u="none" strike="noStrike" cap="none" dirty="0">
                  <a:solidFill>
                    <a:srgbClr val="000000"/>
                  </a:solidFill>
                  <a:latin typeface="Open Sans"/>
                  <a:ea typeface="Open Sans"/>
                  <a:cs typeface="B Nazanin" panose="00000700000000000000" pitchFamily="2" charset="-78"/>
                  <a:sym typeface="Open Sans"/>
                </a:rPr>
                <a:t>حدود حوزه ی شهری</a:t>
              </a:r>
              <a:endParaRPr sz="800" b="1" dirty="0">
                <a:cs typeface="B Nazanin" panose="00000700000000000000" pitchFamily="2" charset="-78"/>
              </a:endParaRPr>
            </a:p>
          </p:txBody>
        </p:sp>
      </p:grpSp>
      <p:grpSp>
        <p:nvGrpSpPr>
          <p:cNvPr id="264" name="Google Shape;264;p32"/>
          <p:cNvGrpSpPr/>
          <p:nvPr/>
        </p:nvGrpSpPr>
        <p:grpSpPr>
          <a:xfrm>
            <a:off x="6131532" y="3619361"/>
            <a:ext cx="2499939" cy="877591"/>
            <a:chOff x="0" y="-38100"/>
            <a:chExt cx="6666504" cy="2340242"/>
          </a:xfrm>
        </p:grpSpPr>
        <p:sp>
          <p:nvSpPr>
            <p:cNvPr id="265" name="Google Shape;265;p32"/>
            <p:cNvSpPr txBox="1"/>
            <p:nvPr/>
          </p:nvSpPr>
          <p:spPr>
            <a:xfrm>
              <a:off x="0" y="578593"/>
              <a:ext cx="6666504" cy="1723549"/>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000" b="0" i="0" u="none" strike="noStrike" cap="none" dirty="0">
                  <a:solidFill>
                    <a:srgbClr val="000000"/>
                  </a:solidFill>
                  <a:latin typeface="Open Sans"/>
                  <a:ea typeface="Open Sans"/>
                  <a:cs typeface="B Nazanin" panose="00000700000000000000" pitchFamily="2" charset="-78"/>
                  <a:sym typeface="Open Sans"/>
                </a:rPr>
                <a:t>برای تأسیس شهرداری در یک محل، باید جمعیت آن حداقل به پنج هزار نفر برسد. این جمعیت بر اساس آخرین سرشماری رسمی مشخص می شود.</a:t>
              </a:r>
              <a:endParaRPr lang="fa-IR" sz="700" dirty="0">
                <a:cs typeface="B Nazanin" panose="00000700000000000000" pitchFamily="2" charset="-78"/>
              </a:endParaRPr>
            </a:p>
          </p:txBody>
        </p:sp>
        <p:sp>
          <p:nvSpPr>
            <p:cNvPr id="266" name="Google Shape;266;p32"/>
            <p:cNvSpPr txBox="1"/>
            <p:nvPr/>
          </p:nvSpPr>
          <p:spPr>
            <a:xfrm>
              <a:off x="0" y="-38100"/>
              <a:ext cx="6666504" cy="603242"/>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050" b="1" i="0" u="none" strike="noStrike" cap="none" dirty="0">
                  <a:solidFill>
                    <a:srgbClr val="000000"/>
                  </a:solidFill>
                  <a:latin typeface="Open Sans"/>
                  <a:ea typeface="Open Sans"/>
                  <a:cs typeface="B Nazanin" panose="00000700000000000000" pitchFamily="2" charset="-78"/>
                  <a:sym typeface="Open Sans"/>
                </a:rPr>
                <a:t>جمعیت شهر</a:t>
              </a:r>
              <a:endParaRPr sz="800" b="1" dirty="0">
                <a:cs typeface="B Nazanin" panose="00000700000000000000" pitchFamily="2" charset="-78"/>
              </a:endParaRPr>
            </a:p>
          </p:txBody>
        </p:sp>
      </p:grpSp>
      <p:cxnSp>
        <p:nvCxnSpPr>
          <p:cNvPr id="267" name="Google Shape;267;p32"/>
          <p:cNvCxnSpPr/>
          <p:nvPr/>
        </p:nvCxnSpPr>
        <p:spPr>
          <a:xfrm rot="5400000">
            <a:off x="7221115" y="113503"/>
            <a:ext cx="2812307" cy="0"/>
          </a:xfrm>
          <a:prstGeom prst="straightConnector1">
            <a:avLst/>
          </a:prstGeom>
          <a:noFill/>
          <a:ln w="9525" cap="flat" cmpd="sng">
            <a:solidFill>
              <a:srgbClr val="000000"/>
            </a:solidFill>
            <a:prstDash val="solid"/>
            <a:round/>
            <a:headEnd type="none" w="sm" len="sm"/>
            <a:tailEnd type="none" w="sm" len="sm"/>
          </a:ln>
        </p:spPr>
      </p:cxnSp>
      <p:cxnSp>
        <p:nvCxnSpPr>
          <p:cNvPr id="268" name="Google Shape;268;p32"/>
          <p:cNvCxnSpPr/>
          <p:nvPr/>
        </p:nvCxnSpPr>
        <p:spPr>
          <a:xfrm rot="5400000">
            <a:off x="1918258" y="113503"/>
            <a:ext cx="2812307" cy="0"/>
          </a:xfrm>
          <a:prstGeom prst="straightConnector1">
            <a:avLst/>
          </a:prstGeom>
          <a:noFill/>
          <a:ln w="9525" cap="flat" cmpd="sng">
            <a:solidFill>
              <a:srgbClr val="000000"/>
            </a:solidFill>
            <a:prstDash val="solid"/>
            <a:round/>
            <a:headEnd type="none" w="sm" len="sm"/>
            <a:tailEnd type="none" w="sm" len="sm"/>
          </a:ln>
        </p:spPr>
      </p:cxnSp>
      <p:grpSp>
        <p:nvGrpSpPr>
          <p:cNvPr id="269" name="Google Shape;269;p32"/>
          <p:cNvGrpSpPr/>
          <p:nvPr/>
        </p:nvGrpSpPr>
        <p:grpSpPr>
          <a:xfrm>
            <a:off x="8837359" y="-72330"/>
            <a:ext cx="1543051" cy="5808473"/>
            <a:chOff x="0" y="-38100"/>
            <a:chExt cx="812800" cy="3059607"/>
          </a:xfrm>
        </p:grpSpPr>
        <p:sp>
          <p:nvSpPr>
            <p:cNvPr id="270" name="Google Shape;270;p32"/>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271" name="Google Shape;271;p32"/>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272" name="Google Shape;272;p32"/>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000000"/>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spTree>
    <p:extLst>
      <p:ext uri="{BB962C8B-B14F-4D97-AF65-F5344CB8AC3E}">
        <p14:creationId xmlns:p14="http://schemas.microsoft.com/office/powerpoint/2010/main" val="40373132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02"/>
        <p:cNvGrpSpPr/>
        <p:nvPr/>
      </p:nvGrpSpPr>
      <p:grpSpPr>
        <a:xfrm>
          <a:off x="0" y="0"/>
          <a:ext cx="0" cy="0"/>
          <a:chOff x="0" y="0"/>
          <a:chExt cx="0" cy="0"/>
        </a:xfrm>
      </p:grpSpPr>
      <p:cxnSp>
        <p:nvCxnSpPr>
          <p:cNvPr id="203" name="Google Shape;203;p29"/>
          <p:cNvCxnSpPr/>
          <p:nvPr/>
        </p:nvCxnSpPr>
        <p:spPr>
          <a:xfrm rot="5399999">
            <a:off x="3188083" y="-162538"/>
            <a:ext cx="3084866" cy="0"/>
          </a:xfrm>
          <a:prstGeom prst="straightConnector1">
            <a:avLst/>
          </a:prstGeom>
          <a:noFill/>
          <a:ln w="9525" cap="flat" cmpd="sng">
            <a:solidFill>
              <a:srgbClr val="FFFFFF"/>
            </a:solidFill>
            <a:prstDash val="solid"/>
            <a:round/>
            <a:headEnd type="none" w="sm" len="sm"/>
            <a:tailEnd type="none" w="sm" len="sm"/>
          </a:ln>
        </p:spPr>
      </p:cxnSp>
      <p:cxnSp>
        <p:nvCxnSpPr>
          <p:cNvPr id="204" name="Google Shape;204;p29"/>
          <p:cNvCxnSpPr/>
          <p:nvPr/>
        </p:nvCxnSpPr>
        <p:spPr>
          <a:xfrm rot="5400000">
            <a:off x="7330663" y="5270017"/>
            <a:ext cx="2602737" cy="0"/>
          </a:xfrm>
          <a:prstGeom prst="straightConnector1">
            <a:avLst/>
          </a:prstGeom>
          <a:noFill/>
          <a:ln w="9525" cap="flat" cmpd="sng">
            <a:solidFill>
              <a:srgbClr val="FFFFFF"/>
            </a:solidFill>
            <a:prstDash val="solid"/>
            <a:round/>
            <a:headEnd type="none" w="sm" len="sm"/>
            <a:tailEnd type="none" w="sm" len="sm"/>
          </a:ln>
        </p:spPr>
      </p:cxnSp>
      <p:grpSp>
        <p:nvGrpSpPr>
          <p:cNvPr id="205" name="Google Shape;205;p29"/>
          <p:cNvGrpSpPr/>
          <p:nvPr/>
        </p:nvGrpSpPr>
        <p:grpSpPr>
          <a:xfrm>
            <a:off x="8837359" y="-72330"/>
            <a:ext cx="1543051" cy="5808473"/>
            <a:chOff x="0" y="-38100"/>
            <a:chExt cx="812800" cy="3059607"/>
          </a:xfrm>
        </p:grpSpPr>
        <p:sp>
          <p:nvSpPr>
            <p:cNvPr id="206" name="Google Shape;206;p29"/>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FFFFFF">
                <a:alpha val="13333"/>
              </a:srgbClr>
            </a:solidFill>
            <a:ln>
              <a:noFill/>
            </a:ln>
          </p:spPr>
          <p:txBody>
            <a:bodyPr/>
            <a:lstStyle/>
            <a:p>
              <a:endParaRPr lang="en-US"/>
            </a:p>
          </p:txBody>
        </p:sp>
        <p:sp>
          <p:nvSpPr>
            <p:cNvPr id="207" name="Google Shape;207;p29"/>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pic>
        <p:nvPicPr>
          <p:cNvPr id="208" name="Google Shape;208;p29"/>
          <p:cNvPicPr preferRelativeResize="0"/>
          <p:nvPr/>
        </p:nvPicPr>
        <p:blipFill rotWithShape="1">
          <a:blip r:embed="rId3">
            <a:alphaModFix/>
          </a:blip>
          <a:srcRect t="5050" b="5051"/>
          <a:stretch/>
        </p:blipFill>
        <p:spPr>
          <a:xfrm>
            <a:off x="0" y="0"/>
            <a:ext cx="4516393" cy="6093898"/>
          </a:xfrm>
          <a:prstGeom prst="rect">
            <a:avLst/>
          </a:prstGeom>
          <a:noFill/>
          <a:ln>
            <a:noFill/>
          </a:ln>
        </p:spPr>
      </p:pic>
      <p:sp>
        <p:nvSpPr>
          <p:cNvPr id="209" name="Google Shape;209;p29"/>
          <p:cNvSpPr txBox="1"/>
          <p:nvPr/>
        </p:nvSpPr>
        <p:spPr>
          <a:xfrm>
            <a:off x="514350" y="1657367"/>
            <a:ext cx="3684900" cy="692497"/>
          </a:xfrm>
          <a:prstGeom prst="rect">
            <a:avLst/>
          </a:prstGeom>
          <a:noFill/>
          <a:ln>
            <a:noFill/>
          </a:ln>
        </p:spPr>
        <p:txBody>
          <a:bodyPr spcFirstLastPara="1" wrap="square" lIns="0" tIns="0" rIns="0" bIns="0" anchor="t" anchorCtr="0">
            <a:spAutoFit/>
          </a:bodyPr>
          <a:lstStyle/>
          <a:p>
            <a:pPr marL="0" marR="0" lvl="0" indent="0" algn="ctr" rtl="1">
              <a:lnSpc>
                <a:spcPct val="150000"/>
              </a:lnSpc>
              <a:spcBef>
                <a:spcPts val="0"/>
              </a:spcBef>
              <a:spcAft>
                <a:spcPts val="0"/>
              </a:spcAft>
              <a:buNone/>
            </a:pPr>
            <a:r>
              <a:rPr lang="fa-IR" sz="3000" b="1" i="0" u="none" strike="noStrike" cap="none" dirty="0">
                <a:solidFill>
                  <a:srgbClr val="FFFFFF"/>
                </a:solidFill>
                <a:latin typeface="Open Sans"/>
                <a:ea typeface="Open Sans"/>
                <a:cs typeface="B Nazanin" panose="00000700000000000000" pitchFamily="2" charset="-78"/>
                <a:sym typeface="Open Sans"/>
              </a:rPr>
              <a:t>انتخابات انجمن شهر</a:t>
            </a:r>
            <a:endParaRPr sz="700" b="1" dirty="0">
              <a:latin typeface="Open Sans"/>
              <a:ea typeface="Open Sans"/>
              <a:cs typeface="B Nazanin" panose="00000700000000000000" pitchFamily="2" charset="-78"/>
              <a:sym typeface="Open Sans"/>
            </a:endParaRPr>
          </a:p>
        </p:txBody>
      </p:sp>
      <p:grpSp>
        <p:nvGrpSpPr>
          <p:cNvPr id="210" name="Google Shape;210;p29"/>
          <p:cNvGrpSpPr/>
          <p:nvPr/>
        </p:nvGrpSpPr>
        <p:grpSpPr>
          <a:xfrm>
            <a:off x="5079180" y="536440"/>
            <a:ext cx="3238489" cy="1180778"/>
            <a:chOff x="0" y="-38100"/>
            <a:chExt cx="8635971" cy="3148741"/>
          </a:xfrm>
        </p:grpSpPr>
        <p:sp>
          <p:nvSpPr>
            <p:cNvPr id="211" name="Google Shape;211;p29"/>
            <p:cNvSpPr txBox="1"/>
            <p:nvPr/>
          </p:nvSpPr>
          <p:spPr>
            <a:xfrm>
              <a:off x="0" y="812577"/>
              <a:ext cx="8635971" cy="2298064"/>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000" b="0" i="0" u="none" strike="noStrike" cap="none" dirty="0">
                  <a:solidFill>
                    <a:srgbClr val="FFFFFF"/>
                  </a:solidFill>
                  <a:latin typeface="Open Sans"/>
                  <a:ea typeface="Open Sans"/>
                  <a:cs typeface="B Nazanin" panose="00000700000000000000" pitchFamily="2" charset="-78"/>
                  <a:sym typeface="Open Sans"/>
                </a:rPr>
                <a:t>هر شهرداری انجمنی خواهد داشت به نام انجمن شهر که اعضای آن از طرف اهالی مستقیما و با رای مخفی با اکثریت نسبی برای مدت چهار سال انتخاب می‌شوند. تعداد اعضای انجمن شهر بر اساس جمعیت شهر متفاوت است و حداکثر ۳۰ نفر در تهران و حداقل ۵ نفر در شهرهای کمتر از ۱۰ هزار نفر جمعیت است.( ماده 1تا6)</a:t>
              </a:r>
            </a:p>
          </p:txBody>
        </p:sp>
        <p:sp>
          <p:nvSpPr>
            <p:cNvPr id="212" name="Google Shape;212;p29"/>
            <p:cNvSpPr txBox="1"/>
            <p:nvPr/>
          </p:nvSpPr>
          <p:spPr>
            <a:xfrm>
              <a:off x="1680656" y="-38100"/>
              <a:ext cx="6847384" cy="603243"/>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050" b="1" dirty="0">
                  <a:solidFill>
                    <a:srgbClr val="FFFFFF"/>
                  </a:solidFill>
                  <a:latin typeface="Open Sans"/>
                  <a:ea typeface="Open Sans"/>
                  <a:cs typeface="B Nazanin" panose="00000700000000000000" pitchFamily="2" charset="-78"/>
                  <a:sym typeface="Open Sans"/>
                </a:rPr>
                <a:t>1. تقسیم بندی شهر، حوزه های انتخابیه و تعداد انجمن</a:t>
              </a:r>
              <a:endParaRPr sz="800" b="1" dirty="0">
                <a:cs typeface="B Nazanin" panose="00000700000000000000" pitchFamily="2" charset="-78"/>
              </a:endParaRPr>
            </a:p>
          </p:txBody>
        </p:sp>
      </p:grpSp>
      <p:grpSp>
        <p:nvGrpSpPr>
          <p:cNvPr id="215" name="Google Shape;215;p29"/>
          <p:cNvGrpSpPr/>
          <p:nvPr/>
        </p:nvGrpSpPr>
        <p:grpSpPr>
          <a:xfrm>
            <a:off x="5079180" y="1873041"/>
            <a:ext cx="3238489" cy="1397418"/>
            <a:chOff x="0" y="-41289"/>
            <a:chExt cx="8635971" cy="3726446"/>
          </a:xfrm>
        </p:grpSpPr>
        <p:sp>
          <p:nvSpPr>
            <p:cNvPr id="216" name="Google Shape;216;p29"/>
            <p:cNvSpPr txBox="1"/>
            <p:nvPr/>
          </p:nvSpPr>
          <p:spPr>
            <a:xfrm>
              <a:off x="0" y="812577"/>
              <a:ext cx="8635971" cy="2872580"/>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000" b="0" i="0" u="none" strike="noStrike" cap="none" dirty="0">
                  <a:solidFill>
                    <a:srgbClr val="FFFFFF"/>
                  </a:solidFill>
                  <a:latin typeface="Open Sans"/>
                  <a:ea typeface="Open Sans"/>
                  <a:cs typeface="B Nazanin" panose="00000700000000000000" pitchFamily="2" charset="-78"/>
                  <a:sym typeface="Open Sans"/>
                </a:rPr>
                <a:t>انتخاب کننده باید واجد شرایطی مانند تابعیت ایران، داشتن 18 سال تمام، زندگی در محل انتخاب و عدم محکومیت به جنایت یا جرمی که موجب محرومیت از حقوق اجتماعی است، باشد. همچنین انتخاب شونده باید دارای شرایطی مانند تابعیت ایران، داشتن 30 سال تمام سن، توانایی خواندن و نوشتن فارسی به اندازه کافی، لااقل سه سال ساکن محل انتخاب، عدم محرومیت از حقوق اجتماعی باشد.( ماده 6 تا 9)</a:t>
              </a:r>
              <a:endParaRPr lang="fa-IR" sz="700" dirty="0">
                <a:cs typeface="B Nazanin" panose="00000700000000000000" pitchFamily="2" charset="-78"/>
              </a:endParaRPr>
            </a:p>
          </p:txBody>
        </p:sp>
        <p:sp>
          <p:nvSpPr>
            <p:cNvPr id="217" name="Google Shape;217;p29"/>
            <p:cNvSpPr txBox="1"/>
            <p:nvPr/>
          </p:nvSpPr>
          <p:spPr>
            <a:xfrm>
              <a:off x="1680656" y="-41289"/>
              <a:ext cx="6955315" cy="603243"/>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050" b="1" i="0" u="none" strike="noStrike" cap="none" dirty="0">
                  <a:solidFill>
                    <a:srgbClr val="FFFFFF"/>
                  </a:solidFill>
                  <a:latin typeface="Open Sans"/>
                  <a:ea typeface="Open Sans"/>
                  <a:cs typeface="B Nazanin" panose="00000700000000000000" pitchFamily="2" charset="-78"/>
                  <a:sym typeface="Open Sans"/>
                </a:rPr>
                <a:t>2. شرایط انتخاب کردن و انتخاب شدن</a:t>
              </a:r>
              <a:endParaRPr sz="800" b="1" dirty="0">
                <a:cs typeface="B Nazanin" panose="00000700000000000000" pitchFamily="2" charset="-78"/>
              </a:endParaRPr>
            </a:p>
          </p:txBody>
        </p:sp>
      </p:grpSp>
      <p:sp>
        <p:nvSpPr>
          <p:cNvPr id="218" name="Google Shape;218;p29"/>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sp>
        <p:nvSpPr>
          <p:cNvPr id="2" name="Google Shape;213;p29">
            <a:extLst>
              <a:ext uri="{FF2B5EF4-FFF2-40B4-BE49-F238E27FC236}">
                <a16:creationId xmlns:a16="http://schemas.microsoft.com/office/drawing/2014/main" id="{E4870073-1BF6-243C-186E-543BAE38DC6E}"/>
              </a:ext>
            </a:extLst>
          </p:cNvPr>
          <p:cNvSpPr txBox="1"/>
          <p:nvPr/>
        </p:nvSpPr>
        <p:spPr>
          <a:xfrm>
            <a:off x="5076557" y="3620318"/>
            <a:ext cx="3238489" cy="1292662"/>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000" b="0" i="0" u="none" strike="noStrike" cap="none" dirty="0">
                <a:solidFill>
                  <a:srgbClr val="FFFFFF"/>
                </a:solidFill>
                <a:latin typeface="Open Sans"/>
                <a:ea typeface="Open Sans"/>
                <a:cs typeface="B Nazanin" panose="00000700000000000000" pitchFamily="2" charset="-78"/>
                <a:sym typeface="Open Sans"/>
              </a:rPr>
              <a:t> برخی از اشخاص مانند نخست وزیر، وزیران و معاونان آنان، استانداران و فرمانداران، قضات دادگستری، شهرداران و بخشداران، کلیه روسای ادارات و سازمانهای دولتی و موسسات وابسته به دولت و شهرداریها، افسران و نفرات شهربانی و ژاندارمری و ارتش و همردیفان آنها، اعضای انجمن های ایالتی و ولایتی و اعضا انجمن نظارت انتخابات انجمن شهر در دوره ای که دارای این سمت هستند، از انتخاب کردن و انتخاب شدن محروم هستند. ماده 10 تا 13)</a:t>
            </a:r>
            <a:endParaRPr lang="fa-IR" sz="700" dirty="0">
              <a:cs typeface="B Nazanin" panose="00000700000000000000" pitchFamily="2" charset="-78"/>
            </a:endParaRPr>
          </a:p>
        </p:txBody>
      </p:sp>
      <p:sp>
        <p:nvSpPr>
          <p:cNvPr id="3" name="Google Shape;214;p29">
            <a:extLst>
              <a:ext uri="{FF2B5EF4-FFF2-40B4-BE49-F238E27FC236}">
                <a16:creationId xmlns:a16="http://schemas.microsoft.com/office/drawing/2014/main" id="{BF2E9DF7-E195-F5C0-64D9-D4F86590E98E}"/>
              </a:ext>
            </a:extLst>
          </p:cNvPr>
          <p:cNvSpPr txBox="1"/>
          <p:nvPr/>
        </p:nvSpPr>
        <p:spPr>
          <a:xfrm>
            <a:off x="6056802" y="3364443"/>
            <a:ext cx="2261234" cy="226216"/>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050" b="1" i="0" u="none" strike="noStrike" cap="none" dirty="0">
                <a:solidFill>
                  <a:srgbClr val="FFFFFF"/>
                </a:solidFill>
                <a:latin typeface="Open Sans"/>
                <a:ea typeface="Open Sans"/>
                <a:cs typeface="B Nazanin" panose="00000700000000000000" pitchFamily="2" charset="-78"/>
                <a:sym typeface="Open Sans"/>
              </a:rPr>
              <a:t>3. محرومیت از انتخاب کردن و انتخاب شدن</a:t>
            </a:r>
            <a:endParaRPr sz="800" b="1" dirty="0">
              <a:cs typeface="B Nazanin" panose="00000700000000000000" pitchFamily="2" charset="-7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anim calcmode="lin" valueType="num">
                                      <p:cBhvr additive="base">
                                        <p:cTn id="7" dur="500" fill="hold"/>
                                        <p:tgtEl>
                                          <p:spTgt spid="210"/>
                                        </p:tgtEl>
                                        <p:attrNameLst>
                                          <p:attrName>ppt_x</p:attrName>
                                        </p:attrNameLst>
                                      </p:cBhvr>
                                      <p:tavLst>
                                        <p:tav tm="0">
                                          <p:val>
                                            <p:strVal val="#ppt_x"/>
                                          </p:val>
                                        </p:tav>
                                        <p:tav tm="100000">
                                          <p:val>
                                            <p:strVal val="#ppt_x"/>
                                          </p:val>
                                        </p:tav>
                                      </p:tavLst>
                                    </p:anim>
                                    <p:anim calcmode="lin" valueType="num">
                                      <p:cBhvr additive="base">
                                        <p:cTn id="8" dur="500" fill="hold"/>
                                        <p:tgtEl>
                                          <p:spTgt spid="2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15"/>
                                        </p:tgtEl>
                                        <p:attrNameLst>
                                          <p:attrName>style.visibility</p:attrName>
                                        </p:attrNameLst>
                                      </p:cBhvr>
                                      <p:to>
                                        <p:strVal val="visible"/>
                                      </p:to>
                                    </p:set>
                                    <p:animEffect transition="in" filter="fade">
                                      <p:cBhvr>
                                        <p:cTn id="13" dur="500"/>
                                        <p:tgtEl>
                                          <p:spTgt spid="21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cxnSp>
        <p:nvCxnSpPr>
          <p:cNvPr id="184" name="Google Shape;184;p28"/>
          <p:cNvCxnSpPr>
            <a:cxnSpLocks/>
          </p:cNvCxnSpPr>
          <p:nvPr/>
        </p:nvCxnSpPr>
        <p:spPr>
          <a:xfrm flipH="1" flipV="1">
            <a:off x="4730516" y="1379895"/>
            <a:ext cx="1" cy="1638643"/>
          </a:xfrm>
          <a:prstGeom prst="straightConnector1">
            <a:avLst/>
          </a:prstGeom>
          <a:noFill/>
          <a:ln w="9525" cap="flat" cmpd="sng">
            <a:solidFill>
              <a:srgbClr val="000000"/>
            </a:solidFill>
            <a:prstDash val="solid"/>
            <a:round/>
            <a:headEnd type="none" w="sm" len="sm"/>
            <a:tailEnd type="none" w="sm" len="sm"/>
          </a:ln>
        </p:spPr>
      </p:cxnSp>
      <p:cxnSp>
        <p:nvCxnSpPr>
          <p:cNvPr id="185" name="Google Shape;185;p28"/>
          <p:cNvCxnSpPr>
            <a:cxnSpLocks/>
          </p:cNvCxnSpPr>
          <p:nvPr/>
        </p:nvCxnSpPr>
        <p:spPr>
          <a:xfrm flipV="1">
            <a:off x="8632032" y="6571385"/>
            <a:ext cx="0" cy="1382546"/>
          </a:xfrm>
          <a:prstGeom prst="straightConnector1">
            <a:avLst/>
          </a:prstGeom>
          <a:noFill/>
          <a:ln w="9525" cap="flat" cmpd="sng">
            <a:solidFill>
              <a:srgbClr val="000000"/>
            </a:solidFill>
            <a:prstDash val="solid"/>
            <a:round/>
            <a:headEnd type="none" w="sm" len="sm"/>
            <a:tailEnd type="none" w="sm" len="sm"/>
          </a:ln>
        </p:spPr>
      </p:cxnSp>
      <p:grpSp>
        <p:nvGrpSpPr>
          <p:cNvPr id="186" name="Google Shape;186;p28"/>
          <p:cNvGrpSpPr/>
          <p:nvPr/>
        </p:nvGrpSpPr>
        <p:grpSpPr>
          <a:xfrm>
            <a:off x="8826785" y="-72330"/>
            <a:ext cx="1553625" cy="5808473"/>
            <a:chOff x="0" y="-38100"/>
            <a:chExt cx="812800" cy="3059607"/>
          </a:xfrm>
        </p:grpSpPr>
        <p:sp>
          <p:nvSpPr>
            <p:cNvPr id="187" name="Google Shape;187;p28"/>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188" name="Google Shape;188;p28"/>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pic>
        <p:nvPicPr>
          <p:cNvPr id="189" name="Google Shape;189;p28"/>
          <p:cNvPicPr preferRelativeResize="0"/>
          <p:nvPr/>
        </p:nvPicPr>
        <p:blipFill rotWithShape="1">
          <a:blip r:embed="rId3">
            <a:alphaModFix/>
          </a:blip>
          <a:srcRect t="5023" b="5023"/>
          <a:stretch/>
        </p:blipFill>
        <p:spPr>
          <a:xfrm>
            <a:off x="-30950" y="0"/>
            <a:ext cx="4547343" cy="6093898"/>
          </a:xfrm>
          <a:prstGeom prst="rect">
            <a:avLst/>
          </a:prstGeom>
          <a:noFill/>
          <a:ln>
            <a:noFill/>
          </a:ln>
        </p:spPr>
      </p:pic>
      <p:sp>
        <p:nvSpPr>
          <p:cNvPr id="190" name="Google Shape;190;p28"/>
          <p:cNvSpPr txBox="1"/>
          <p:nvPr/>
        </p:nvSpPr>
        <p:spPr>
          <a:xfrm>
            <a:off x="139119" y="1206078"/>
            <a:ext cx="4082292" cy="553998"/>
          </a:xfrm>
          <a:prstGeom prst="rect">
            <a:avLst/>
          </a:prstGeom>
          <a:noFill/>
          <a:ln>
            <a:noFill/>
          </a:ln>
        </p:spPr>
        <p:txBody>
          <a:bodyPr spcFirstLastPara="1" wrap="square" lIns="0" tIns="0" rIns="0" bIns="0" anchor="t" anchorCtr="0">
            <a:spAutoFit/>
          </a:bodyPr>
          <a:lstStyle/>
          <a:p>
            <a:pPr marL="0" marR="0" lvl="0" indent="0" algn="ctr" rtl="1">
              <a:lnSpc>
                <a:spcPct val="120000"/>
              </a:lnSpc>
              <a:spcBef>
                <a:spcPts val="0"/>
              </a:spcBef>
              <a:spcAft>
                <a:spcPts val="0"/>
              </a:spcAft>
              <a:buNone/>
            </a:pPr>
            <a:r>
              <a:rPr lang="fa-IR" sz="3000" b="1" i="0" u="none" strike="noStrike" cap="none" dirty="0">
                <a:solidFill>
                  <a:srgbClr val="FFFFFF"/>
                </a:solidFill>
                <a:latin typeface="Open Sans"/>
                <a:ea typeface="Open Sans"/>
                <a:cs typeface="B Nazanin" panose="00000700000000000000" pitchFamily="2" charset="-78"/>
                <a:sym typeface="Open Sans"/>
              </a:rPr>
              <a:t>تشکیل انجمن شهر</a:t>
            </a:r>
            <a:endParaRPr sz="700" b="1" dirty="0">
              <a:latin typeface="Open Sans"/>
              <a:ea typeface="Open Sans"/>
              <a:cs typeface="B Nazanin" panose="00000700000000000000" pitchFamily="2" charset="-78"/>
              <a:sym typeface="Open Sans"/>
            </a:endParaRPr>
          </a:p>
        </p:txBody>
      </p:sp>
      <p:sp>
        <p:nvSpPr>
          <p:cNvPr id="192" name="Google Shape;192;p28"/>
          <p:cNvSpPr txBox="1"/>
          <p:nvPr/>
        </p:nvSpPr>
        <p:spPr>
          <a:xfrm>
            <a:off x="7003335" y="568055"/>
            <a:ext cx="1379748" cy="226216"/>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050" b="1" i="0" u="none" strike="noStrike" cap="none" dirty="0">
                <a:solidFill>
                  <a:srgbClr val="000000"/>
                </a:solidFill>
                <a:latin typeface="Open Sans"/>
                <a:ea typeface="Open Sans"/>
                <a:cs typeface="B Nazanin" panose="00000700000000000000" pitchFamily="2" charset="-78"/>
                <a:sym typeface="Open Sans"/>
              </a:rPr>
              <a:t>1. انتخابات هیئت رئیسه</a:t>
            </a:r>
            <a:endParaRPr sz="800" b="1" dirty="0">
              <a:cs typeface="B Nazanin" panose="00000700000000000000" pitchFamily="2" charset="-78"/>
            </a:endParaRPr>
          </a:p>
        </p:txBody>
      </p:sp>
      <p:sp>
        <p:nvSpPr>
          <p:cNvPr id="198" name="Google Shape;198;p28"/>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000000"/>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sp>
        <p:nvSpPr>
          <p:cNvPr id="3" name="Rectangle 2">
            <a:extLst>
              <a:ext uri="{FF2B5EF4-FFF2-40B4-BE49-F238E27FC236}">
                <a16:creationId xmlns:a16="http://schemas.microsoft.com/office/drawing/2014/main" id="{3435759E-B374-3273-D556-DE82BD1541D3}"/>
              </a:ext>
            </a:extLst>
          </p:cNvPr>
          <p:cNvSpPr/>
          <p:nvPr/>
        </p:nvSpPr>
        <p:spPr>
          <a:xfrm>
            <a:off x="7300336" y="951571"/>
            <a:ext cx="1082748" cy="42832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a-IR" b="1" spc="50" dirty="0">
                <a:ln w="9525" cmpd="sng">
                  <a:solidFill>
                    <a:schemeClr val="tx2"/>
                  </a:solidFill>
                  <a:prstDash val="solid"/>
                </a:ln>
                <a:solidFill>
                  <a:srgbClr val="70AD47">
                    <a:tint val="1000"/>
                  </a:srgbClr>
                </a:solidFill>
                <a:effectLst>
                  <a:glow rad="38100">
                    <a:schemeClr val="accent1">
                      <a:alpha val="40000"/>
                    </a:schemeClr>
                  </a:glow>
                </a:effectLst>
              </a:rPr>
              <a:t>در جلسه اول</a:t>
            </a:r>
            <a:endParaRPr lang="en-US" b="1" spc="50" dirty="0">
              <a:ln w="9525" cmpd="sng">
                <a:solidFill>
                  <a:schemeClr val="tx2"/>
                </a:solidFill>
                <a:prstDash val="solid"/>
              </a:ln>
              <a:solidFill>
                <a:srgbClr val="70AD47">
                  <a:tint val="1000"/>
                </a:srgbClr>
              </a:solidFill>
              <a:effectLst>
                <a:glow rad="38100">
                  <a:schemeClr val="accent1">
                    <a:alpha val="40000"/>
                  </a:schemeClr>
                </a:glow>
              </a:effectLst>
            </a:endParaRPr>
          </a:p>
        </p:txBody>
      </p:sp>
      <p:sp>
        <p:nvSpPr>
          <p:cNvPr id="4" name="Rectangle 3">
            <a:extLst>
              <a:ext uri="{FF2B5EF4-FFF2-40B4-BE49-F238E27FC236}">
                <a16:creationId xmlns:a16="http://schemas.microsoft.com/office/drawing/2014/main" id="{8CC082B6-6885-434E-BF99-32DFAF0373E1}"/>
              </a:ext>
            </a:extLst>
          </p:cNvPr>
          <p:cNvSpPr/>
          <p:nvPr/>
        </p:nvSpPr>
        <p:spPr>
          <a:xfrm>
            <a:off x="6217588" y="2143426"/>
            <a:ext cx="1082748" cy="42832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a-IR" b="1" spc="50" dirty="0">
                <a:ln w="9525" cmpd="sng">
                  <a:solidFill>
                    <a:schemeClr val="tx2"/>
                  </a:solidFill>
                  <a:prstDash val="solid"/>
                </a:ln>
                <a:solidFill>
                  <a:srgbClr val="70AD47">
                    <a:tint val="1000"/>
                  </a:srgbClr>
                </a:solidFill>
                <a:effectLst>
                  <a:glow rad="38100">
                    <a:schemeClr val="accent1">
                      <a:alpha val="40000"/>
                    </a:schemeClr>
                  </a:glow>
                </a:effectLst>
              </a:rPr>
              <a:t>رای گیری </a:t>
            </a:r>
            <a:endParaRPr lang="en-US" b="1" spc="50" dirty="0">
              <a:ln w="9525" cmpd="sng">
                <a:solidFill>
                  <a:schemeClr val="tx2"/>
                </a:solidFill>
                <a:prstDash val="solid"/>
              </a:ln>
              <a:solidFill>
                <a:srgbClr val="70AD47">
                  <a:tint val="1000"/>
                </a:srgbClr>
              </a:solidFill>
              <a:effectLst>
                <a:glow rad="38100">
                  <a:schemeClr val="accent1">
                    <a:alpha val="40000"/>
                  </a:schemeClr>
                </a:glow>
              </a:effectLst>
            </a:endParaRPr>
          </a:p>
        </p:txBody>
      </p:sp>
      <p:cxnSp>
        <p:nvCxnSpPr>
          <p:cNvPr id="7" name="Connector: Elbow 6">
            <a:extLst>
              <a:ext uri="{FF2B5EF4-FFF2-40B4-BE49-F238E27FC236}">
                <a16:creationId xmlns:a16="http://schemas.microsoft.com/office/drawing/2014/main" id="{507722C3-11CD-3B3F-C3E0-B31C6CC8CD3E}"/>
              </a:ext>
            </a:extLst>
          </p:cNvPr>
          <p:cNvCxnSpPr>
            <a:stCxn id="3" idx="1"/>
            <a:endCxn id="4" idx="0"/>
          </p:cNvCxnSpPr>
          <p:nvPr/>
        </p:nvCxnSpPr>
        <p:spPr>
          <a:xfrm rot="10800000" flipV="1">
            <a:off x="6758962" y="1165732"/>
            <a:ext cx="541374" cy="977693"/>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sp>
        <p:nvSpPr>
          <p:cNvPr id="8" name="Rectangle 7">
            <a:extLst>
              <a:ext uri="{FF2B5EF4-FFF2-40B4-BE49-F238E27FC236}">
                <a16:creationId xmlns:a16="http://schemas.microsoft.com/office/drawing/2014/main" id="{F5FD8414-7835-AD6A-2840-90CC4C89519D}"/>
              </a:ext>
            </a:extLst>
          </p:cNvPr>
          <p:cNvSpPr/>
          <p:nvPr/>
        </p:nvSpPr>
        <p:spPr>
          <a:xfrm>
            <a:off x="6217588" y="2798910"/>
            <a:ext cx="1082748" cy="42832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a-IR" b="1" spc="50" dirty="0">
                <a:ln w="9525" cmpd="sng">
                  <a:solidFill>
                    <a:schemeClr val="tx2"/>
                  </a:solidFill>
                  <a:prstDash val="solid"/>
                </a:ln>
                <a:solidFill>
                  <a:srgbClr val="70AD47">
                    <a:tint val="1000"/>
                  </a:srgbClr>
                </a:solidFill>
                <a:effectLst>
                  <a:glow rad="38100">
                    <a:schemeClr val="accent1">
                      <a:alpha val="40000"/>
                    </a:schemeClr>
                  </a:glow>
                </a:effectLst>
              </a:rPr>
              <a:t>یک رئیس</a:t>
            </a:r>
            <a:endParaRPr lang="en-US" b="1" spc="50" dirty="0">
              <a:ln w="9525" cmpd="sng">
                <a:solidFill>
                  <a:schemeClr val="tx2"/>
                </a:solidFill>
                <a:prstDash val="solid"/>
              </a:ln>
              <a:solidFill>
                <a:srgbClr val="70AD47">
                  <a:tint val="1000"/>
                </a:srgbClr>
              </a:solidFill>
              <a:effectLst>
                <a:glow rad="38100">
                  <a:schemeClr val="accent1">
                    <a:alpha val="40000"/>
                  </a:schemeClr>
                </a:glow>
              </a:effectLst>
            </a:endParaRPr>
          </a:p>
        </p:txBody>
      </p:sp>
      <p:sp>
        <p:nvSpPr>
          <p:cNvPr id="11" name="Rectangle 10">
            <a:extLst>
              <a:ext uri="{FF2B5EF4-FFF2-40B4-BE49-F238E27FC236}">
                <a16:creationId xmlns:a16="http://schemas.microsoft.com/office/drawing/2014/main" id="{EFEFB821-21F9-4B1D-BFA5-BA73C9C50AB8}"/>
              </a:ext>
            </a:extLst>
          </p:cNvPr>
          <p:cNvSpPr/>
          <p:nvPr/>
        </p:nvSpPr>
        <p:spPr>
          <a:xfrm>
            <a:off x="7527749" y="2798910"/>
            <a:ext cx="1082748" cy="42832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a-IR" b="1" spc="50" dirty="0">
                <a:ln w="9525" cmpd="sng">
                  <a:solidFill>
                    <a:schemeClr val="tx2"/>
                  </a:solidFill>
                  <a:prstDash val="solid"/>
                </a:ln>
                <a:solidFill>
                  <a:srgbClr val="70AD47">
                    <a:tint val="1000"/>
                  </a:srgbClr>
                </a:solidFill>
                <a:effectLst>
                  <a:glow rad="38100">
                    <a:schemeClr val="accent1">
                      <a:alpha val="40000"/>
                    </a:schemeClr>
                  </a:glow>
                </a:effectLst>
              </a:rPr>
              <a:t>یک یا دو معاون</a:t>
            </a:r>
            <a:endParaRPr lang="en-US" b="1" spc="50" dirty="0">
              <a:ln w="9525" cmpd="sng">
                <a:solidFill>
                  <a:schemeClr val="tx2"/>
                </a:solidFill>
                <a:prstDash val="solid"/>
              </a:ln>
              <a:solidFill>
                <a:srgbClr val="70AD47">
                  <a:tint val="1000"/>
                </a:srgbClr>
              </a:solidFill>
              <a:effectLst>
                <a:glow rad="38100">
                  <a:schemeClr val="accent1">
                    <a:alpha val="40000"/>
                  </a:schemeClr>
                </a:glow>
              </a:effectLst>
            </a:endParaRPr>
          </a:p>
        </p:txBody>
      </p:sp>
      <p:cxnSp>
        <p:nvCxnSpPr>
          <p:cNvPr id="18" name="Straight Connector 17">
            <a:extLst>
              <a:ext uri="{FF2B5EF4-FFF2-40B4-BE49-F238E27FC236}">
                <a16:creationId xmlns:a16="http://schemas.microsoft.com/office/drawing/2014/main" id="{2E629B46-A0E4-77A9-7835-E97850A3BCDB}"/>
              </a:ext>
            </a:extLst>
          </p:cNvPr>
          <p:cNvCxnSpPr>
            <a:stCxn id="8" idx="0"/>
            <a:endCxn id="4" idx="2"/>
          </p:cNvCxnSpPr>
          <p:nvPr/>
        </p:nvCxnSpPr>
        <p:spPr>
          <a:xfrm flipV="1">
            <a:off x="6758962" y="2571750"/>
            <a:ext cx="0" cy="227160"/>
          </a:xfrm>
          <a:prstGeom prst="line">
            <a:avLst/>
          </a:prstGeom>
        </p:spPr>
        <p:style>
          <a:lnRef idx="3">
            <a:schemeClr val="accent1"/>
          </a:lnRef>
          <a:fillRef idx="0">
            <a:schemeClr val="accent1"/>
          </a:fillRef>
          <a:effectRef idx="2">
            <a:schemeClr val="accent1"/>
          </a:effectRef>
          <a:fontRef idx="minor">
            <a:schemeClr val="tx1"/>
          </a:fontRef>
        </p:style>
      </p:cxnSp>
      <p:sp>
        <p:nvSpPr>
          <p:cNvPr id="21" name="Rectangle 20">
            <a:extLst>
              <a:ext uri="{FF2B5EF4-FFF2-40B4-BE49-F238E27FC236}">
                <a16:creationId xmlns:a16="http://schemas.microsoft.com/office/drawing/2014/main" id="{8E35AE82-EDE7-C518-FFC0-6BFB49F6BC7B}"/>
              </a:ext>
            </a:extLst>
          </p:cNvPr>
          <p:cNvSpPr/>
          <p:nvPr/>
        </p:nvSpPr>
        <p:spPr>
          <a:xfrm>
            <a:off x="4907428" y="2791158"/>
            <a:ext cx="1082748" cy="42832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a-IR" b="1" spc="50" dirty="0">
                <a:ln w="9525" cmpd="sng">
                  <a:solidFill>
                    <a:schemeClr val="tx2"/>
                  </a:solidFill>
                  <a:prstDash val="solid"/>
                </a:ln>
                <a:solidFill>
                  <a:srgbClr val="70AD47">
                    <a:tint val="1000"/>
                  </a:srgbClr>
                </a:solidFill>
                <a:effectLst>
                  <a:glow rad="38100">
                    <a:schemeClr val="accent1">
                      <a:alpha val="40000"/>
                    </a:schemeClr>
                  </a:glow>
                </a:effectLst>
              </a:rPr>
              <a:t>دو منشی</a:t>
            </a:r>
            <a:endParaRPr lang="en-US" b="1" spc="50" dirty="0">
              <a:ln w="9525" cmpd="sng">
                <a:solidFill>
                  <a:schemeClr val="tx2"/>
                </a:solidFill>
                <a:prstDash val="solid"/>
              </a:ln>
              <a:solidFill>
                <a:srgbClr val="70AD47">
                  <a:tint val="1000"/>
                </a:srgbClr>
              </a:solidFill>
              <a:effectLst>
                <a:glow rad="38100">
                  <a:schemeClr val="accent1">
                    <a:alpha val="40000"/>
                  </a:schemeClr>
                </a:glow>
              </a:effectLst>
            </a:endParaRPr>
          </a:p>
        </p:txBody>
      </p:sp>
      <p:cxnSp>
        <p:nvCxnSpPr>
          <p:cNvPr id="25" name="Connector: Elbow 24">
            <a:extLst>
              <a:ext uri="{FF2B5EF4-FFF2-40B4-BE49-F238E27FC236}">
                <a16:creationId xmlns:a16="http://schemas.microsoft.com/office/drawing/2014/main" id="{0C11938C-1CF3-3F10-4831-847FE4DA56A4}"/>
              </a:ext>
            </a:extLst>
          </p:cNvPr>
          <p:cNvCxnSpPr>
            <a:stCxn id="4" idx="2"/>
            <a:endCxn id="11" idx="0"/>
          </p:cNvCxnSpPr>
          <p:nvPr/>
        </p:nvCxnSpPr>
        <p:spPr>
          <a:xfrm rot="16200000" flipH="1">
            <a:off x="7300462" y="2030249"/>
            <a:ext cx="227160" cy="1310161"/>
          </a:xfrm>
          <a:prstGeom prst="bentConnector3">
            <a:avLst/>
          </a:prstGeom>
        </p:spPr>
        <p:style>
          <a:lnRef idx="3">
            <a:schemeClr val="accent1"/>
          </a:lnRef>
          <a:fillRef idx="0">
            <a:schemeClr val="accent1"/>
          </a:fillRef>
          <a:effectRef idx="2">
            <a:schemeClr val="accent1"/>
          </a:effectRef>
          <a:fontRef idx="minor">
            <a:schemeClr val="tx1"/>
          </a:fontRef>
        </p:style>
      </p:cxnSp>
      <p:cxnSp>
        <p:nvCxnSpPr>
          <p:cNvPr id="27" name="Connector: Elbow 26">
            <a:extLst>
              <a:ext uri="{FF2B5EF4-FFF2-40B4-BE49-F238E27FC236}">
                <a16:creationId xmlns:a16="http://schemas.microsoft.com/office/drawing/2014/main" id="{6FED43B8-3367-2444-41A5-09063866A30A}"/>
              </a:ext>
            </a:extLst>
          </p:cNvPr>
          <p:cNvCxnSpPr>
            <a:stCxn id="4" idx="2"/>
            <a:endCxn id="21" idx="0"/>
          </p:cNvCxnSpPr>
          <p:nvPr/>
        </p:nvCxnSpPr>
        <p:spPr>
          <a:xfrm rot="5400000">
            <a:off x="5994178" y="2026374"/>
            <a:ext cx="219408" cy="1310160"/>
          </a:xfrm>
          <a:prstGeom prst="bentConnector3">
            <a:avLst>
              <a:gd name="adj1" fmla="val 50000"/>
            </a:avLst>
          </a:prstGeom>
        </p:spPr>
        <p:style>
          <a:lnRef idx="3">
            <a:schemeClr val="accent1"/>
          </a:lnRef>
          <a:fillRef idx="0">
            <a:schemeClr val="accent1"/>
          </a:fillRef>
          <a:effectRef idx="2">
            <a:schemeClr val="accent1"/>
          </a:effectRef>
          <a:fontRef idx="minor">
            <a:schemeClr val="tx1"/>
          </a:fontRef>
        </p:style>
      </p:cxnSp>
      <p:sp>
        <p:nvSpPr>
          <p:cNvPr id="30" name="Rectangle 29">
            <a:extLst>
              <a:ext uri="{FF2B5EF4-FFF2-40B4-BE49-F238E27FC236}">
                <a16:creationId xmlns:a16="http://schemas.microsoft.com/office/drawing/2014/main" id="{5A722C2A-92E6-4811-6169-930BA666FAAE}"/>
              </a:ext>
            </a:extLst>
          </p:cNvPr>
          <p:cNvSpPr/>
          <p:nvPr/>
        </p:nvSpPr>
        <p:spPr>
          <a:xfrm>
            <a:off x="6211166" y="1492224"/>
            <a:ext cx="1082748" cy="42832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a-IR" b="1" spc="50" dirty="0">
                <a:ln w="9525" cmpd="sng">
                  <a:solidFill>
                    <a:schemeClr val="tx2"/>
                  </a:solidFill>
                  <a:prstDash val="solid"/>
                </a:ln>
                <a:solidFill>
                  <a:srgbClr val="70AD47">
                    <a:tint val="1000"/>
                  </a:srgbClr>
                </a:solidFill>
                <a:effectLst>
                  <a:glow rad="38100">
                    <a:schemeClr val="accent1">
                      <a:alpha val="40000"/>
                    </a:schemeClr>
                  </a:glow>
                </a:effectLst>
              </a:rPr>
              <a:t>سوگند نامه</a:t>
            </a:r>
            <a:endParaRPr lang="en-US" b="1" spc="50" dirty="0">
              <a:ln w="9525" cmpd="sng">
                <a:solidFill>
                  <a:schemeClr val="tx2"/>
                </a:solidFill>
                <a:prstDash val="solid"/>
              </a:ln>
              <a:solidFill>
                <a:srgbClr val="70AD47">
                  <a:tint val="1000"/>
                </a:srgbClr>
              </a:solidFill>
              <a:effectLst>
                <a:glow rad="38100">
                  <a:schemeClr val="accent1">
                    <a:alpha val="40000"/>
                  </a:schemeClr>
                </a:glow>
              </a:effectLs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heel(1)">
                                      <p:cBhvr>
                                        <p:cTn id="22" dur="2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p:cTn id="27" dur="500" fill="hold"/>
                                        <p:tgtEl>
                                          <p:spTgt spid="25"/>
                                        </p:tgtEl>
                                        <p:attrNameLst>
                                          <p:attrName>ppt_w</p:attrName>
                                        </p:attrNameLst>
                                      </p:cBhvr>
                                      <p:tavLst>
                                        <p:tav tm="0">
                                          <p:val>
                                            <p:fltVal val="0"/>
                                          </p:val>
                                        </p:tav>
                                        <p:tav tm="100000">
                                          <p:val>
                                            <p:strVal val="#ppt_w"/>
                                          </p:val>
                                        </p:tav>
                                      </p:tavLst>
                                    </p:anim>
                                    <p:anim calcmode="lin" valueType="num">
                                      <p:cBhvr>
                                        <p:cTn id="28" dur="500" fill="hold"/>
                                        <p:tgtEl>
                                          <p:spTgt spid="25"/>
                                        </p:tgtEl>
                                        <p:attrNameLst>
                                          <p:attrName>ppt_h</p:attrName>
                                        </p:attrNameLst>
                                      </p:cBhvr>
                                      <p:tavLst>
                                        <p:tav tm="0">
                                          <p:val>
                                            <p:fltVal val="0"/>
                                          </p:val>
                                        </p:tav>
                                        <p:tav tm="100000">
                                          <p:val>
                                            <p:strVal val="#ppt_h"/>
                                          </p:val>
                                        </p:tav>
                                      </p:tavLst>
                                    </p:anim>
                                    <p:animEffect transition="in" filter="fade">
                                      <p:cBhvr>
                                        <p:cTn id="29" dur="500"/>
                                        <p:tgtEl>
                                          <p:spTgt spid="25"/>
                                        </p:tgtEl>
                                      </p:cBhvr>
                                    </p:animEffect>
                                  </p:childTnLst>
                                </p:cTn>
                              </p:par>
                              <p:par>
                                <p:cTn id="30" presetID="31"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 calcmode="lin" valueType="num">
                                      <p:cBhvr>
                                        <p:cTn id="32" dur="1000" fill="hold"/>
                                        <p:tgtEl>
                                          <p:spTgt spid="18"/>
                                        </p:tgtEl>
                                        <p:attrNameLst>
                                          <p:attrName>ppt_w</p:attrName>
                                        </p:attrNameLst>
                                      </p:cBhvr>
                                      <p:tavLst>
                                        <p:tav tm="0">
                                          <p:val>
                                            <p:fltVal val="0"/>
                                          </p:val>
                                        </p:tav>
                                        <p:tav tm="100000">
                                          <p:val>
                                            <p:strVal val="#ppt_w"/>
                                          </p:val>
                                        </p:tav>
                                      </p:tavLst>
                                    </p:anim>
                                    <p:anim calcmode="lin" valueType="num">
                                      <p:cBhvr>
                                        <p:cTn id="33" dur="1000" fill="hold"/>
                                        <p:tgtEl>
                                          <p:spTgt spid="18"/>
                                        </p:tgtEl>
                                        <p:attrNameLst>
                                          <p:attrName>ppt_h</p:attrName>
                                        </p:attrNameLst>
                                      </p:cBhvr>
                                      <p:tavLst>
                                        <p:tav tm="0">
                                          <p:val>
                                            <p:fltVal val="0"/>
                                          </p:val>
                                        </p:tav>
                                        <p:tav tm="100000">
                                          <p:val>
                                            <p:strVal val="#ppt_h"/>
                                          </p:val>
                                        </p:tav>
                                      </p:tavLst>
                                    </p:anim>
                                    <p:anim calcmode="lin" valueType="num">
                                      <p:cBhvr>
                                        <p:cTn id="34" dur="1000" fill="hold"/>
                                        <p:tgtEl>
                                          <p:spTgt spid="18"/>
                                        </p:tgtEl>
                                        <p:attrNameLst>
                                          <p:attrName>style.rotation</p:attrName>
                                        </p:attrNameLst>
                                      </p:cBhvr>
                                      <p:tavLst>
                                        <p:tav tm="0">
                                          <p:val>
                                            <p:fltVal val="90"/>
                                          </p:val>
                                        </p:tav>
                                        <p:tav tm="100000">
                                          <p:val>
                                            <p:fltVal val="0"/>
                                          </p:val>
                                        </p:tav>
                                      </p:tavLst>
                                    </p:anim>
                                    <p:animEffect transition="in" filter="fade">
                                      <p:cBhvr>
                                        <p:cTn id="35" dur="1000"/>
                                        <p:tgtEl>
                                          <p:spTgt spid="18"/>
                                        </p:tgtEl>
                                      </p:cBhvr>
                                    </p:animEffect>
                                  </p:childTnLst>
                                </p:cTn>
                              </p:par>
                              <p:par>
                                <p:cTn id="36" presetID="31" presetClass="entr" presetSubtype="0" fill="hold" nodeType="withEffect">
                                  <p:stCondLst>
                                    <p:cond delay="0"/>
                                  </p:stCondLst>
                                  <p:childTnLst>
                                    <p:set>
                                      <p:cBhvr>
                                        <p:cTn id="37" dur="1" fill="hold">
                                          <p:stCondLst>
                                            <p:cond delay="0"/>
                                          </p:stCondLst>
                                        </p:cTn>
                                        <p:tgtEl>
                                          <p:spTgt spid="27"/>
                                        </p:tgtEl>
                                        <p:attrNameLst>
                                          <p:attrName>style.visibility</p:attrName>
                                        </p:attrNameLst>
                                      </p:cBhvr>
                                      <p:to>
                                        <p:strVal val="visible"/>
                                      </p:to>
                                    </p:set>
                                    <p:anim calcmode="lin" valueType="num">
                                      <p:cBhvr>
                                        <p:cTn id="38" dur="1000" fill="hold"/>
                                        <p:tgtEl>
                                          <p:spTgt spid="27"/>
                                        </p:tgtEl>
                                        <p:attrNameLst>
                                          <p:attrName>ppt_w</p:attrName>
                                        </p:attrNameLst>
                                      </p:cBhvr>
                                      <p:tavLst>
                                        <p:tav tm="0">
                                          <p:val>
                                            <p:fltVal val="0"/>
                                          </p:val>
                                        </p:tav>
                                        <p:tav tm="100000">
                                          <p:val>
                                            <p:strVal val="#ppt_w"/>
                                          </p:val>
                                        </p:tav>
                                      </p:tavLst>
                                    </p:anim>
                                    <p:anim calcmode="lin" valueType="num">
                                      <p:cBhvr>
                                        <p:cTn id="39" dur="1000" fill="hold"/>
                                        <p:tgtEl>
                                          <p:spTgt spid="27"/>
                                        </p:tgtEl>
                                        <p:attrNameLst>
                                          <p:attrName>ppt_h</p:attrName>
                                        </p:attrNameLst>
                                      </p:cBhvr>
                                      <p:tavLst>
                                        <p:tav tm="0">
                                          <p:val>
                                            <p:fltVal val="0"/>
                                          </p:val>
                                        </p:tav>
                                        <p:tav tm="100000">
                                          <p:val>
                                            <p:strVal val="#ppt_h"/>
                                          </p:val>
                                        </p:tav>
                                      </p:tavLst>
                                    </p:anim>
                                    <p:anim calcmode="lin" valueType="num">
                                      <p:cBhvr>
                                        <p:cTn id="40" dur="1000" fill="hold"/>
                                        <p:tgtEl>
                                          <p:spTgt spid="27"/>
                                        </p:tgtEl>
                                        <p:attrNameLst>
                                          <p:attrName>style.rotation</p:attrName>
                                        </p:attrNameLst>
                                      </p:cBhvr>
                                      <p:tavLst>
                                        <p:tav tm="0">
                                          <p:val>
                                            <p:fltVal val="90"/>
                                          </p:val>
                                        </p:tav>
                                        <p:tav tm="100000">
                                          <p:val>
                                            <p:fltVal val="0"/>
                                          </p:val>
                                        </p:tav>
                                      </p:tavLst>
                                    </p:anim>
                                    <p:animEffect transition="in" filter="fade">
                                      <p:cBhvr>
                                        <p:cTn id="41" dur="1000"/>
                                        <p:tgtEl>
                                          <p:spTgt spid="27"/>
                                        </p:tgtEl>
                                      </p:cBhvr>
                                    </p:animEffect>
                                  </p:childTnLst>
                                </p:cTn>
                              </p:par>
                              <p:par>
                                <p:cTn id="42" presetID="31" presetClass="entr" presetSubtype="0" fill="hold" grpId="0" nodeType="withEffect">
                                  <p:stCondLst>
                                    <p:cond delay="0"/>
                                  </p:stCondLst>
                                  <p:childTnLst>
                                    <p:set>
                                      <p:cBhvr>
                                        <p:cTn id="43" dur="1" fill="hold">
                                          <p:stCondLst>
                                            <p:cond delay="0"/>
                                          </p:stCondLst>
                                        </p:cTn>
                                        <p:tgtEl>
                                          <p:spTgt spid="8"/>
                                        </p:tgtEl>
                                        <p:attrNameLst>
                                          <p:attrName>style.visibility</p:attrName>
                                        </p:attrNameLst>
                                      </p:cBhvr>
                                      <p:to>
                                        <p:strVal val="visible"/>
                                      </p:to>
                                    </p:set>
                                    <p:anim calcmode="lin" valueType="num">
                                      <p:cBhvr>
                                        <p:cTn id="44" dur="1000" fill="hold"/>
                                        <p:tgtEl>
                                          <p:spTgt spid="8"/>
                                        </p:tgtEl>
                                        <p:attrNameLst>
                                          <p:attrName>ppt_w</p:attrName>
                                        </p:attrNameLst>
                                      </p:cBhvr>
                                      <p:tavLst>
                                        <p:tav tm="0">
                                          <p:val>
                                            <p:fltVal val="0"/>
                                          </p:val>
                                        </p:tav>
                                        <p:tav tm="100000">
                                          <p:val>
                                            <p:strVal val="#ppt_w"/>
                                          </p:val>
                                        </p:tav>
                                      </p:tavLst>
                                    </p:anim>
                                    <p:anim calcmode="lin" valueType="num">
                                      <p:cBhvr>
                                        <p:cTn id="45" dur="1000" fill="hold"/>
                                        <p:tgtEl>
                                          <p:spTgt spid="8"/>
                                        </p:tgtEl>
                                        <p:attrNameLst>
                                          <p:attrName>ppt_h</p:attrName>
                                        </p:attrNameLst>
                                      </p:cBhvr>
                                      <p:tavLst>
                                        <p:tav tm="0">
                                          <p:val>
                                            <p:fltVal val="0"/>
                                          </p:val>
                                        </p:tav>
                                        <p:tav tm="100000">
                                          <p:val>
                                            <p:strVal val="#ppt_h"/>
                                          </p:val>
                                        </p:tav>
                                      </p:tavLst>
                                    </p:anim>
                                    <p:anim calcmode="lin" valueType="num">
                                      <p:cBhvr>
                                        <p:cTn id="46" dur="1000" fill="hold"/>
                                        <p:tgtEl>
                                          <p:spTgt spid="8"/>
                                        </p:tgtEl>
                                        <p:attrNameLst>
                                          <p:attrName>style.rotation</p:attrName>
                                        </p:attrNameLst>
                                      </p:cBhvr>
                                      <p:tavLst>
                                        <p:tav tm="0">
                                          <p:val>
                                            <p:fltVal val="90"/>
                                          </p:val>
                                        </p:tav>
                                        <p:tav tm="100000">
                                          <p:val>
                                            <p:fltVal val="0"/>
                                          </p:val>
                                        </p:tav>
                                      </p:tavLst>
                                    </p:anim>
                                    <p:animEffect transition="in" filter="fade">
                                      <p:cBhvr>
                                        <p:cTn id="47" dur="1000"/>
                                        <p:tgtEl>
                                          <p:spTgt spid="8"/>
                                        </p:tgtEl>
                                      </p:cBhvr>
                                    </p:animEffect>
                                  </p:childTnLst>
                                </p:cTn>
                              </p:par>
                              <p:par>
                                <p:cTn id="48" presetID="31"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 calcmode="lin" valueType="num">
                                      <p:cBhvr>
                                        <p:cTn id="50" dur="1000" fill="hold"/>
                                        <p:tgtEl>
                                          <p:spTgt spid="21"/>
                                        </p:tgtEl>
                                        <p:attrNameLst>
                                          <p:attrName>ppt_w</p:attrName>
                                        </p:attrNameLst>
                                      </p:cBhvr>
                                      <p:tavLst>
                                        <p:tav tm="0">
                                          <p:val>
                                            <p:fltVal val="0"/>
                                          </p:val>
                                        </p:tav>
                                        <p:tav tm="100000">
                                          <p:val>
                                            <p:strVal val="#ppt_w"/>
                                          </p:val>
                                        </p:tav>
                                      </p:tavLst>
                                    </p:anim>
                                    <p:anim calcmode="lin" valueType="num">
                                      <p:cBhvr>
                                        <p:cTn id="51" dur="1000" fill="hold"/>
                                        <p:tgtEl>
                                          <p:spTgt spid="21"/>
                                        </p:tgtEl>
                                        <p:attrNameLst>
                                          <p:attrName>ppt_h</p:attrName>
                                        </p:attrNameLst>
                                      </p:cBhvr>
                                      <p:tavLst>
                                        <p:tav tm="0">
                                          <p:val>
                                            <p:fltVal val="0"/>
                                          </p:val>
                                        </p:tav>
                                        <p:tav tm="100000">
                                          <p:val>
                                            <p:strVal val="#ppt_h"/>
                                          </p:val>
                                        </p:tav>
                                      </p:tavLst>
                                    </p:anim>
                                    <p:anim calcmode="lin" valueType="num">
                                      <p:cBhvr>
                                        <p:cTn id="52" dur="1000" fill="hold"/>
                                        <p:tgtEl>
                                          <p:spTgt spid="21"/>
                                        </p:tgtEl>
                                        <p:attrNameLst>
                                          <p:attrName>style.rotation</p:attrName>
                                        </p:attrNameLst>
                                      </p:cBhvr>
                                      <p:tavLst>
                                        <p:tav tm="0">
                                          <p:val>
                                            <p:fltVal val="90"/>
                                          </p:val>
                                        </p:tav>
                                        <p:tav tm="100000">
                                          <p:val>
                                            <p:fltVal val="0"/>
                                          </p:val>
                                        </p:tav>
                                      </p:tavLst>
                                    </p:anim>
                                    <p:animEffect transition="in" filter="fade">
                                      <p:cBhvr>
                                        <p:cTn id="53" dur="1000"/>
                                        <p:tgtEl>
                                          <p:spTgt spid="21"/>
                                        </p:tgtEl>
                                      </p:cBhvr>
                                    </p:animEffect>
                                  </p:childTnLst>
                                </p:cTn>
                              </p:par>
                              <p:par>
                                <p:cTn id="54" presetID="31" presetClass="entr" presetSubtype="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 calcmode="lin" valueType="num">
                                      <p:cBhvr>
                                        <p:cTn id="56" dur="1000" fill="hold"/>
                                        <p:tgtEl>
                                          <p:spTgt spid="11"/>
                                        </p:tgtEl>
                                        <p:attrNameLst>
                                          <p:attrName>ppt_w</p:attrName>
                                        </p:attrNameLst>
                                      </p:cBhvr>
                                      <p:tavLst>
                                        <p:tav tm="0">
                                          <p:val>
                                            <p:fltVal val="0"/>
                                          </p:val>
                                        </p:tav>
                                        <p:tav tm="100000">
                                          <p:val>
                                            <p:strVal val="#ppt_w"/>
                                          </p:val>
                                        </p:tav>
                                      </p:tavLst>
                                    </p:anim>
                                    <p:anim calcmode="lin" valueType="num">
                                      <p:cBhvr>
                                        <p:cTn id="57" dur="1000" fill="hold"/>
                                        <p:tgtEl>
                                          <p:spTgt spid="11"/>
                                        </p:tgtEl>
                                        <p:attrNameLst>
                                          <p:attrName>ppt_h</p:attrName>
                                        </p:attrNameLst>
                                      </p:cBhvr>
                                      <p:tavLst>
                                        <p:tav tm="0">
                                          <p:val>
                                            <p:fltVal val="0"/>
                                          </p:val>
                                        </p:tav>
                                        <p:tav tm="100000">
                                          <p:val>
                                            <p:strVal val="#ppt_h"/>
                                          </p:val>
                                        </p:tav>
                                      </p:tavLst>
                                    </p:anim>
                                    <p:anim calcmode="lin" valueType="num">
                                      <p:cBhvr>
                                        <p:cTn id="58" dur="1000" fill="hold"/>
                                        <p:tgtEl>
                                          <p:spTgt spid="11"/>
                                        </p:tgtEl>
                                        <p:attrNameLst>
                                          <p:attrName>style.rotation</p:attrName>
                                        </p:attrNameLst>
                                      </p:cBhvr>
                                      <p:tavLst>
                                        <p:tav tm="0">
                                          <p:val>
                                            <p:fltVal val="90"/>
                                          </p:val>
                                        </p:tav>
                                        <p:tav tm="100000">
                                          <p:val>
                                            <p:fltVal val="0"/>
                                          </p:val>
                                        </p:tav>
                                      </p:tavLst>
                                    </p:anim>
                                    <p:animEffect transition="in" filter="fade">
                                      <p:cBhvr>
                                        <p:cTn id="59"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P spid="11" grpId="0" animBg="1"/>
      <p:bldP spid="21" grpId="0" animBg="1"/>
      <p:bldP spid="3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grpSp>
        <p:nvGrpSpPr>
          <p:cNvPr id="5" name="Group 4">
            <a:extLst>
              <a:ext uri="{FF2B5EF4-FFF2-40B4-BE49-F238E27FC236}">
                <a16:creationId xmlns:a16="http://schemas.microsoft.com/office/drawing/2014/main" id="{6C6DF8D6-0C23-A668-99D0-F6CAEF618F5D}"/>
              </a:ext>
            </a:extLst>
          </p:cNvPr>
          <p:cNvGrpSpPr/>
          <p:nvPr/>
        </p:nvGrpSpPr>
        <p:grpSpPr>
          <a:xfrm>
            <a:off x="4931161" y="1817073"/>
            <a:ext cx="3703069" cy="2275663"/>
            <a:chOff x="4907428" y="951571"/>
            <a:chExt cx="3703069" cy="2275663"/>
          </a:xfrm>
        </p:grpSpPr>
        <p:cxnSp>
          <p:nvCxnSpPr>
            <p:cNvPr id="7" name="Connector: Elbow 6">
              <a:extLst>
                <a:ext uri="{FF2B5EF4-FFF2-40B4-BE49-F238E27FC236}">
                  <a16:creationId xmlns:a16="http://schemas.microsoft.com/office/drawing/2014/main" id="{507722C3-11CD-3B3F-C3E0-B31C6CC8CD3E}"/>
                </a:ext>
              </a:extLst>
            </p:cNvPr>
            <p:cNvCxnSpPr>
              <a:stCxn id="3" idx="1"/>
              <a:endCxn id="4" idx="0"/>
            </p:cNvCxnSpPr>
            <p:nvPr/>
          </p:nvCxnSpPr>
          <p:spPr>
            <a:xfrm rot="10800000" flipV="1">
              <a:off x="6758962" y="1165732"/>
              <a:ext cx="541374" cy="977693"/>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8" name="Straight Connector 17">
              <a:extLst>
                <a:ext uri="{FF2B5EF4-FFF2-40B4-BE49-F238E27FC236}">
                  <a16:creationId xmlns:a16="http://schemas.microsoft.com/office/drawing/2014/main" id="{2E629B46-A0E4-77A9-7835-E97850A3BCDB}"/>
                </a:ext>
              </a:extLst>
            </p:cNvPr>
            <p:cNvCxnSpPr>
              <a:stCxn id="8" idx="0"/>
              <a:endCxn id="4" idx="2"/>
            </p:cNvCxnSpPr>
            <p:nvPr/>
          </p:nvCxnSpPr>
          <p:spPr>
            <a:xfrm flipV="1">
              <a:off x="6758962" y="2571750"/>
              <a:ext cx="0" cy="227160"/>
            </a:xfrm>
            <a:prstGeom prst="line">
              <a:avLst/>
            </a:prstGeom>
          </p:spPr>
          <p:style>
            <a:lnRef idx="3">
              <a:schemeClr val="accent1"/>
            </a:lnRef>
            <a:fillRef idx="0">
              <a:schemeClr val="accent1"/>
            </a:fillRef>
            <a:effectRef idx="2">
              <a:schemeClr val="accent1"/>
            </a:effectRef>
            <a:fontRef idx="minor">
              <a:schemeClr val="tx1"/>
            </a:fontRef>
          </p:style>
        </p:cxnSp>
        <p:cxnSp>
          <p:nvCxnSpPr>
            <p:cNvPr id="25" name="Connector: Elbow 24">
              <a:extLst>
                <a:ext uri="{FF2B5EF4-FFF2-40B4-BE49-F238E27FC236}">
                  <a16:creationId xmlns:a16="http://schemas.microsoft.com/office/drawing/2014/main" id="{0C11938C-1CF3-3F10-4831-847FE4DA56A4}"/>
                </a:ext>
              </a:extLst>
            </p:cNvPr>
            <p:cNvCxnSpPr>
              <a:stCxn id="4" idx="2"/>
              <a:endCxn id="11" idx="0"/>
            </p:cNvCxnSpPr>
            <p:nvPr/>
          </p:nvCxnSpPr>
          <p:spPr>
            <a:xfrm rot="16200000" flipH="1">
              <a:off x="7300462" y="2030249"/>
              <a:ext cx="227160" cy="1310161"/>
            </a:xfrm>
            <a:prstGeom prst="bentConnector3">
              <a:avLst/>
            </a:prstGeom>
          </p:spPr>
          <p:style>
            <a:lnRef idx="3">
              <a:schemeClr val="accent1"/>
            </a:lnRef>
            <a:fillRef idx="0">
              <a:schemeClr val="accent1"/>
            </a:fillRef>
            <a:effectRef idx="2">
              <a:schemeClr val="accent1"/>
            </a:effectRef>
            <a:fontRef idx="minor">
              <a:schemeClr val="tx1"/>
            </a:fontRef>
          </p:style>
        </p:cxnSp>
        <p:cxnSp>
          <p:nvCxnSpPr>
            <p:cNvPr id="27" name="Connector: Elbow 26">
              <a:extLst>
                <a:ext uri="{FF2B5EF4-FFF2-40B4-BE49-F238E27FC236}">
                  <a16:creationId xmlns:a16="http://schemas.microsoft.com/office/drawing/2014/main" id="{6FED43B8-3367-2444-41A5-09063866A30A}"/>
                </a:ext>
              </a:extLst>
            </p:cNvPr>
            <p:cNvCxnSpPr>
              <a:stCxn id="4" idx="2"/>
              <a:endCxn id="21" idx="0"/>
            </p:cNvCxnSpPr>
            <p:nvPr/>
          </p:nvCxnSpPr>
          <p:spPr>
            <a:xfrm rot="5400000">
              <a:off x="5994178" y="2026374"/>
              <a:ext cx="219408" cy="1310160"/>
            </a:xfrm>
            <a:prstGeom prst="bentConnector3">
              <a:avLst>
                <a:gd name="adj1" fmla="val 50000"/>
              </a:avLst>
            </a:prstGeom>
          </p:spPr>
          <p:style>
            <a:lnRef idx="3">
              <a:schemeClr val="accent1"/>
            </a:lnRef>
            <a:fillRef idx="0">
              <a:schemeClr val="accent1"/>
            </a:fillRef>
            <a:effectRef idx="2">
              <a:schemeClr val="accent1"/>
            </a:effectRef>
            <a:fontRef idx="minor">
              <a:schemeClr val="tx1"/>
            </a:fontRef>
          </p:style>
        </p:cxnSp>
        <p:grpSp>
          <p:nvGrpSpPr>
            <p:cNvPr id="2" name="Group 1">
              <a:extLst>
                <a:ext uri="{FF2B5EF4-FFF2-40B4-BE49-F238E27FC236}">
                  <a16:creationId xmlns:a16="http://schemas.microsoft.com/office/drawing/2014/main" id="{29FD42D7-263E-313D-8BB4-8B595EDDC865}"/>
                </a:ext>
              </a:extLst>
            </p:cNvPr>
            <p:cNvGrpSpPr/>
            <p:nvPr/>
          </p:nvGrpSpPr>
          <p:grpSpPr>
            <a:xfrm>
              <a:off x="4907428" y="951571"/>
              <a:ext cx="3703069" cy="2275663"/>
              <a:chOff x="4907428" y="951571"/>
              <a:chExt cx="3703069" cy="2275663"/>
            </a:xfrm>
          </p:grpSpPr>
          <p:sp>
            <p:nvSpPr>
              <p:cNvPr id="3" name="Rectangle 2">
                <a:extLst>
                  <a:ext uri="{FF2B5EF4-FFF2-40B4-BE49-F238E27FC236}">
                    <a16:creationId xmlns:a16="http://schemas.microsoft.com/office/drawing/2014/main" id="{3435759E-B374-3273-D556-DE82BD1541D3}"/>
                  </a:ext>
                </a:extLst>
              </p:cNvPr>
              <p:cNvSpPr/>
              <p:nvPr/>
            </p:nvSpPr>
            <p:spPr>
              <a:xfrm>
                <a:off x="7300336" y="951571"/>
                <a:ext cx="1082748" cy="42832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a-IR" b="1" spc="50" dirty="0">
                    <a:ln w="9525" cmpd="sng">
                      <a:solidFill>
                        <a:schemeClr val="tx2"/>
                      </a:solidFill>
                      <a:prstDash val="solid"/>
                    </a:ln>
                    <a:solidFill>
                      <a:srgbClr val="70AD47">
                        <a:tint val="1000"/>
                      </a:srgbClr>
                    </a:solidFill>
                    <a:effectLst>
                      <a:glow rad="38100">
                        <a:schemeClr val="accent1">
                          <a:alpha val="40000"/>
                        </a:schemeClr>
                      </a:glow>
                    </a:effectLst>
                  </a:rPr>
                  <a:t>در جلسه اول</a:t>
                </a:r>
                <a:endParaRPr lang="en-US" b="1" spc="50" dirty="0">
                  <a:ln w="9525" cmpd="sng">
                    <a:solidFill>
                      <a:schemeClr val="tx2"/>
                    </a:solidFill>
                    <a:prstDash val="solid"/>
                  </a:ln>
                  <a:solidFill>
                    <a:srgbClr val="70AD47">
                      <a:tint val="1000"/>
                    </a:srgbClr>
                  </a:solidFill>
                  <a:effectLst>
                    <a:glow rad="38100">
                      <a:schemeClr val="accent1">
                        <a:alpha val="40000"/>
                      </a:schemeClr>
                    </a:glow>
                  </a:effectLst>
                </a:endParaRPr>
              </a:p>
            </p:txBody>
          </p:sp>
          <p:sp>
            <p:nvSpPr>
              <p:cNvPr id="4" name="Rectangle 3">
                <a:extLst>
                  <a:ext uri="{FF2B5EF4-FFF2-40B4-BE49-F238E27FC236}">
                    <a16:creationId xmlns:a16="http://schemas.microsoft.com/office/drawing/2014/main" id="{8CC082B6-6885-434E-BF99-32DFAF0373E1}"/>
                  </a:ext>
                </a:extLst>
              </p:cNvPr>
              <p:cNvSpPr/>
              <p:nvPr/>
            </p:nvSpPr>
            <p:spPr>
              <a:xfrm>
                <a:off x="6217588" y="2143426"/>
                <a:ext cx="1082748" cy="42832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a-IR" b="1" spc="50" dirty="0">
                    <a:ln w="9525" cmpd="sng">
                      <a:solidFill>
                        <a:schemeClr val="tx2"/>
                      </a:solidFill>
                      <a:prstDash val="solid"/>
                    </a:ln>
                    <a:solidFill>
                      <a:srgbClr val="70AD47">
                        <a:tint val="1000"/>
                      </a:srgbClr>
                    </a:solidFill>
                    <a:effectLst>
                      <a:glow rad="38100">
                        <a:schemeClr val="accent1">
                          <a:alpha val="40000"/>
                        </a:schemeClr>
                      </a:glow>
                    </a:effectLst>
                  </a:rPr>
                  <a:t>رای گیری </a:t>
                </a:r>
                <a:endParaRPr lang="en-US" b="1" spc="50" dirty="0">
                  <a:ln w="9525" cmpd="sng">
                    <a:solidFill>
                      <a:schemeClr val="tx2"/>
                    </a:solidFill>
                    <a:prstDash val="solid"/>
                  </a:ln>
                  <a:solidFill>
                    <a:srgbClr val="70AD47">
                      <a:tint val="1000"/>
                    </a:srgbClr>
                  </a:solidFill>
                  <a:effectLst>
                    <a:glow rad="38100">
                      <a:schemeClr val="accent1">
                        <a:alpha val="40000"/>
                      </a:schemeClr>
                    </a:glow>
                  </a:effectLst>
                </a:endParaRPr>
              </a:p>
            </p:txBody>
          </p:sp>
          <p:sp>
            <p:nvSpPr>
              <p:cNvPr id="8" name="Rectangle 7">
                <a:extLst>
                  <a:ext uri="{FF2B5EF4-FFF2-40B4-BE49-F238E27FC236}">
                    <a16:creationId xmlns:a16="http://schemas.microsoft.com/office/drawing/2014/main" id="{F5FD8414-7835-AD6A-2840-90CC4C89519D}"/>
                  </a:ext>
                </a:extLst>
              </p:cNvPr>
              <p:cNvSpPr/>
              <p:nvPr/>
            </p:nvSpPr>
            <p:spPr>
              <a:xfrm>
                <a:off x="6217588" y="2798910"/>
                <a:ext cx="1082748" cy="42832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a-IR" b="1" spc="50" dirty="0">
                    <a:ln w="9525" cmpd="sng">
                      <a:solidFill>
                        <a:schemeClr val="tx2"/>
                      </a:solidFill>
                      <a:prstDash val="solid"/>
                    </a:ln>
                    <a:solidFill>
                      <a:srgbClr val="70AD47">
                        <a:tint val="1000"/>
                      </a:srgbClr>
                    </a:solidFill>
                    <a:effectLst>
                      <a:glow rad="38100">
                        <a:schemeClr val="accent1">
                          <a:alpha val="40000"/>
                        </a:schemeClr>
                      </a:glow>
                    </a:effectLst>
                  </a:rPr>
                  <a:t>یک رئیس</a:t>
                </a:r>
                <a:endParaRPr lang="en-US" b="1" spc="50" dirty="0">
                  <a:ln w="9525" cmpd="sng">
                    <a:solidFill>
                      <a:schemeClr val="tx2"/>
                    </a:solidFill>
                    <a:prstDash val="solid"/>
                  </a:ln>
                  <a:solidFill>
                    <a:srgbClr val="70AD47">
                      <a:tint val="1000"/>
                    </a:srgbClr>
                  </a:solidFill>
                  <a:effectLst>
                    <a:glow rad="38100">
                      <a:schemeClr val="accent1">
                        <a:alpha val="40000"/>
                      </a:schemeClr>
                    </a:glow>
                  </a:effectLst>
                </a:endParaRPr>
              </a:p>
            </p:txBody>
          </p:sp>
          <p:sp>
            <p:nvSpPr>
              <p:cNvPr id="11" name="Rectangle 10">
                <a:extLst>
                  <a:ext uri="{FF2B5EF4-FFF2-40B4-BE49-F238E27FC236}">
                    <a16:creationId xmlns:a16="http://schemas.microsoft.com/office/drawing/2014/main" id="{EFEFB821-21F9-4B1D-BFA5-BA73C9C50AB8}"/>
                  </a:ext>
                </a:extLst>
              </p:cNvPr>
              <p:cNvSpPr/>
              <p:nvPr/>
            </p:nvSpPr>
            <p:spPr>
              <a:xfrm>
                <a:off x="7527749" y="2798910"/>
                <a:ext cx="1082748" cy="42832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a-IR" b="1" spc="50" dirty="0">
                    <a:ln w="9525" cmpd="sng">
                      <a:solidFill>
                        <a:schemeClr val="tx2"/>
                      </a:solidFill>
                      <a:prstDash val="solid"/>
                    </a:ln>
                    <a:solidFill>
                      <a:srgbClr val="70AD47">
                        <a:tint val="1000"/>
                      </a:srgbClr>
                    </a:solidFill>
                    <a:effectLst>
                      <a:glow rad="38100">
                        <a:schemeClr val="accent1">
                          <a:alpha val="40000"/>
                        </a:schemeClr>
                      </a:glow>
                    </a:effectLst>
                  </a:rPr>
                  <a:t>یک یا دو معاون</a:t>
                </a:r>
                <a:endParaRPr lang="en-US" b="1" spc="50" dirty="0">
                  <a:ln w="9525" cmpd="sng">
                    <a:solidFill>
                      <a:schemeClr val="tx2"/>
                    </a:solidFill>
                    <a:prstDash val="solid"/>
                  </a:ln>
                  <a:solidFill>
                    <a:srgbClr val="70AD47">
                      <a:tint val="1000"/>
                    </a:srgbClr>
                  </a:solidFill>
                  <a:effectLst>
                    <a:glow rad="38100">
                      <a:schemeClr val="accent1">
                        <a:alpha val="40000"/>
                      </a:schemeClr>
                    </a:glow>
                  </a:effectLst>
                </a:endParaRPr>
              </a:p>
            </p:txBody>
          </p:sp>
          <p:sp>
            <p:nvSpPr>
              <p:cNvPr id="21" name="Rectangle 20">
                <a:extLst>
                  <a:ext uri="{FF2B5EF4-FFF2-40B4-BE49-F238E27FC236}">
                    <a16:creationId xmlns:a16="http://schemas.microsoft.com/office/drawing/2014/main" id="{8E35AE82-EDE7-C518-FFC0-6BFB49F6BC7B}"/>
                  </a:ext>
                </a:extLst>
              </p:cNvPr>
              <p:cNvSpPr/>
              <p:nvPr/>
            </p:nvSpPr>
            <p:spPr>
              <a:xfrm>
                <a:off x="4907428" y="2791158"/>
                <a:ext cx="1082748" cy="42832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a-IR" b="1" spc="50" dirty="0">
                    <a:ln w="9525" cmpd="sng">
                      <a:solidFill>
                        <a:schemeClr val="tx2"/>
                      </a:solidFill>
                      <a:prstDash val="solid"/>
                    </a:ln>
                    <a:solidFill>
                      <a:srgbClr val="70AD47">
                        <a:tint val="1000"/>
                      </a:srgbClr>
                    </a:solidFill>
                    <a:effectLst>
                      <a:glow rad="38100">
                        <a:schemeClr val="accent1">
                          <a:alpha val="40000"/>
                        </a:schemeClr>
                      </a:glow>
                    </a:effectLst>
                  </a:rPr>
                  <a:t>دو منشی</a:t>
                </a:r>
                <a:endParaRPr lang="en-US" b="1" spc="50" dirty="0">
                  <a:ln w="9525" cmpd="sng">
                    <a:solidFill>
                      <a:schemeClr val="tx2"/>
                    </a:solidFill>
                    <a:prstDash val="solid"/>
                  </a:ln>
                  <a:solidFill>
                    <a:srgbClr val="70AD47">
                      <a:tint val="1000"/>
                    </a:srgbClr>
                  </a:solidFill>
                  <a:effectLst>
                    <a:glow rad="38100">
                      <a:schemeClr val="accent1">
                        <a:alpha val="40000"/>
                      </a:schemeClr>
                    </a:glow>
                  </a:effectLst>
                </a:endParaRPr>
              </a:p>
            </p:txBody>
          </p:sp>
          <p:sp>
            <p:nvSpPr>
              <p:cNvPr id="30" name="Rectangle 29">
                <a:extLst>
                  <a:ext uri="{FF2B5EF4-FFF2-40B4-BE49-F238E27FC236}">
                    <a16:creationId xmlns:a16="http://schemas.microsoft.com/office/drawing/2014/main" id="{5A722C2A-92E6-4811-6169-930BA666FAAE}"/>
                  </a:ext>
                </a:extLst>
              </p:cNvPr>
              <p:cNvSpPr/>
              <p:nvPr/>
            </p:nvSpPr>
            <p:spPr>
              <a:xfrm>
                <a:off x="6211166" y="1492224"/>
                <a:ext cx="1082748" cy="42832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a-IR" b="1" spc="50" dirty="0">
                    <a:ln w="9525" cmpd="sng">
                      <a:solidFill>
                        <a:schemeClr val="tx2"/>
                      </a:solidFill>
                      <a:prstDash val="solid"/>
                    </a:ln>
                    <a:solidFill>
                      <a:srgbClr val="70AD47">
                        <a:tint val="1000"/>
                      </a:srgbClr>
                    </a:solidFill>
                    <a:effectLst>
                      <a:glow rad="38100">
                        <a:schemeClr val="accent1">
                          <a:alpha val="40000"/>
                        </a:schemeClr>
                      </a:glow>
                    </a:effectLst>
                  </a:rPr>
                  <a:t>سوگندنامه</a:t>
                </a:r>
                <a:endParaRPr lang="en-US" b="1" spc="50" dirty="0">
                  <a:ln w="9525" cmpd="sng">
                    <a:solidFill>
                      <a:schemeClr val="tx2"/>
                    </a:solidFill>
                    <a:prstDash val="solid"/>
                  </a:ln>
                  <a:solidFill>
                    <a:srgbClr val="70AD47">
                      <a:tint val="1000"/>
                    </a:srgbClr>
                  </a:solidFill>
                  <a:effectLst>
                    <a:glow rad="38100">
                      <a:schemeClr val="accent1">
                        <a:alpha val="40000"/>
                      </a:schemeClr>
                    </a:glow>
                  </a:effectLst>
                </a:endParaRPr>
              </a:p>
            </p:txBody>
          </p:sp>
        </p:grpSp>
      </p:grpSp>
      <p:cxnSp>
        <p:nvCxnSpPr>
          <p:cNvPr id="184" name="Google Shape;184;p28"/>
          <p:cNvCxnSpPr>
            <a:cxnSpLocks/>
          </p:cNvCxnSpPr>
          <p:nvPr/>
        </p:nvCxnSpPr>
        <p:spPr>
          <a:xfrm flipH="1" flipV="1">
            <a:off x="4730516" y="1379895"/>
            <a:ext cx="1" cy="1638643"/>
          </a:xfrm>
          <a:prstGeom prst="straightConnector1">
            <a:avLst/>
          </a:prstGeom>
          <a:noFill/>
          <a:ln w="9525" cap="flat" cmpd="sng">
            <a:solidFill>
              <a:srgbClr val="000000"/>
            </a:solidFill>
            <a:prstDash val="solid"/>
            <a:round/>
            <a:headEnd type="none" w="sm" len="sm"/>
            <a:tailEnd type="none" w="sm" len="sm"/>
          </a:ln>
        </p:spPr>
      </p:cxnSp>
      <p:cxnSp>
        <p:nvCxnSpPr>
          <p:cNvPr id="185" name="Google Shape;185;p28"/>
          <p:cNvCxnSpPr>
            <a:cxnSpLocks/>
          </p:cNvCxnSpPr>
          <p:nvPr/>
        </p:nvCxnSpPr>
        <p:spPr>
          <a:xfrm flipV="1">
            <a:off x="8632032" y="6571385"/>
            <a:ext cx="0" cy="1382546"/>
          </a:xfrm>
          <a:prstGeom prst="straightConnector1">
            <a:avLst/>
          </a:prstGeom>
          <a:noFill/>
          <a:ln w="9525" cap="flat" cmpd="sng">
            <a:solidFill>
              <a:srgbClr val="000000"/>
            </a:solidFill>
            <a:prstDash val="solid"/>
            <a:round/>
            <a:headEnd type="none" w="sm" len="sm"/>
            <a:tailEnd type="none" w="sm" len="sm"/>
          </a:ln>
        </p:spPr>
      </p:cxnSp>
      <p:grpSp>
        <p:nvGrpSpPr>
          <p:cNvPr id="186" name="Google Shape;186;p28"/>
          <p:cNvGrpSpPr/>
          <p:nvPr/>
        </p:nvGrpSpPr>
        <p:grpSpPr>
          <a:xfrm>
            <a:off x="8826785" y="-72330"/>
            <a:ext cx="1553625" cy="5808473"/>
            <a:chOff x="0" y="-38100"/>
            <a:chExt cx="812800" cy="3059607"/>
          </a:xfrm>
        </p:grpSpPr>
        <p:sp>
          <p:nvSpPr>
            <p:cNvPr id="187" name="Google Shape;187;p28"/>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188" name="Google Shape;188;p28"/>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pic>
        <p:nvPicPr>
          <p:cNvPr id="189" name="Google Shape;189;p28"/>
          <p:cNvPicPr preferRelativeResize="0"/>
          <p:nvPr/>
        </p:nvPicPr>
        <p:blipFill rotWithShape="1">
          <a:blip r:embed="rId3">
            <a:alphaModFix/>
          </a:blip>
          <a:srcRect t="5023" b="5023"/>
          <a:stretch/>
        </p:blipFill>
        <p:spPr>
          <a:xfrm>
            <a:off x="-42363" y="4698380"/>
            <a:ext cx="4547343" cy="6093898"/>
          </a:xfrm>
          <a:prstGeom prst="rect">
            <a:avLst/>
          </a:prstGeom>
          <a:noFill/>
          <a:ln>
            <a:noFill/>
          </a:ln>
        </p:spPr>
      </p:pic>
      <p:sp>
        <p:nvSpPr>
          <p:cNvPr id="190" name="Google Shape;190;p28"/>
          <p:cNvSpPr txBox="1"/>
          <p:nvPr/>
        </p:nvSpPr>
        <p:spPr>
          <a:xfrm>
            <a:off x="2021590" y="291056"/>
            <a:ext cx="4082292" cy="553998"/>
          </a:xfrm>
          <a:prstGeom prst="rect">
            <a:avLst/>
          </a:prstGeom>
          <a:noFill/>
          <a:ln>
            <a:noFill/>
          </a:ln>
        </p:spPr>
        <p:txBody>
          <a:bodyPr spcFirstLastPara="1" wrap="square" lIns="0" tIns="0" rIns="0" bIns="0" anchor="t" anchorCtr="0">
            <a:spAutoFit/>
          </a:bodyPr>
          <a:lstStyle/>
          <a:p>
            <a:pPr marL="0" marR="0" lvl="0" indent="0" algn="ctr" rtl="1">
              <a:lnSpc>
                <a:spcPct val="120000"/>
              </a:lnSpc>
              <a:spcBef>
                <a:spcPts val="0"/>
              </a:spcBef>
              <a:spcAft>
                <a:spcPts val="0"/>
              </a:spcAft>
              <a:buNone/>
            </a:pPr>
            <a:r>
              <a:rPr lang="fa-IR" sz="3000" b="1" i="0" u="none" strike="noStrike" cap="none" dirty="0">
                <a:solidFill>
                  <a:schemeClr val="tx1"/>
                </a:solidFill>
                <a:latin typeface="Open Sans"/>
                <a:ea typeface="Open Sans"/>
                <a:cs typeface="B Nazanin" panose="00000700000000000000" pitchFamily="2" charset="-78"/>
                <a:sym typeface="Open Sans"/>
              </a:rPr>
              <a:t>تشکیل انجمن شهر</a:t>
            </a:r>
            <a:endParaRPr sz="700" b="1" dirty="0">
              <a:solidFill>
                <a:schemeClr val="tx1"/>
              </a:solidFill>
              <a:latin typeface="Open Sans"/>
              <a:ea typeface="Open Sans"/>
              <a:cs typeface="B Nazanin" panose="00000700000000000000" pitchFamily="2" charset="-78"/>
              <a:sym typeface="Open Sans"/>
            </a:endParaRPr>
          </a:p>
        </p:txBody>
      </p:sp>
      <p:sp>
        <p:nvSpPr>
          <p:cNvPr id="192" name="Google Shape;192;p28"/>
          <p:cNvSpPr txBox="1"/>
          <p:nvPr/>
        </p:nvSpPr>
        <p:spPr>
          <a:xfrm>
            <a:off x="6034294" y="1142907"/>
            <a:ext cx="1379748" cy="236988"/>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100" b="1" i="0" u="none" strike="noStrike" cap="none" dirty="0">
                <a:solidFill>
                  <a:srgbClr val="000000"/>
                </a:solidFill>
                <a:latin typeface="Open Sans"/>
                <a:ea typeface="Open Sans"/>
                <a:cs typeface="B Nazanin" panose="00000700000000000000" pitchFamily="2" charset="-78"/>
                <a:sym typeface="Open Sans"/>
              </a:rPr>
              <a:t>1. انتخابات هیئت رئیسه</a:t>
            </a:r>
            <a:endParaRPr sz="900" b="1" dirty="0">
              <a:cs typeface="B Nazanin" panose="00000700000000000000" pitchFamily="2" charset="-78"/>
            </a:endParaRPr>
          </a:p>
        </p:txBody>
      </p:sp>
      <p:sp>
        <p:nvSpPr>
          <p:cNvPr id="194" name="Google Shape;194;p28"/>
          <p:cNvSpPr txBox="1"/>
          <p:nvPr/>
        </p:nvSpPr>
        <p:spPr>
          <a:xfrm>
            <a:off x="5069790" y="3909097"/>
            <a:ext cx="1379748" cy="215444"/>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en" sz="1000" b="0" i="0" u="none" strike="noStrike" cap="none">
                <a:solidFill>
                  <a:srgbClr val="000000"/>
                </a:solidFill>
                <a:latin typeface="Open Sans"/>
                <a:ea typeface="Open Sans"/>
                <a:cs typeface="B Nazanin" panose="00000700000000000000" pitchFamily="2" charset="-78"/>
                <a:sym typeface="Open Sans"/>
              </a:rPr>
              <a:t>3.</a:t>
            </a:r>
            <a:endParaRPr sz="700">
              <a:cs typeface="B Nazanin" panose="00000700000000000000" pitchFamily="2" charset="-78"/>
            </a:endParaRPr>
          </a:p>
        </p:txBody>
      </p:sp>
      <p:sp>
        <p:nvSpPr>
          <p:cNvPr id="198" name="Google Shape;198;p28"/>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000000"/>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sp>
        <p:nvSpPr>
          <p:cNvPr id="6" name="Google Shape;192;p28">
            <a:extLst>
              <a:ext uri="{FF2B5EF4-FFF2-40B4-BE49-F238E27FC236}">
                <a16:creationId xmlns:a16="http://schemas.microsoft.com/office/drawing/2014/main" id="{95A81724-EDC5-CAFB-2406-49A84708F329}"/>
              </a:ext>
            </a:extLst>
          </p:cNvPr>
          <p:cNvSpPr txBox="1"/>
          <p:nvPr/>
        </p:nvSpPr>
        <p:spPr>
          <a:xfrm>
            <a:off x="993497" y="1142907"/>
            <a:ext cx="2286934" cy="236988"/>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100" b="1" i="0" u="none" strike="noStrike" cap="none" dirty="0">
                <a:solidFill>
                  <a:srgbClr val="000000"/>
                </a:solidFill>
                <a:latin typeface="Open Sans"/>
                <a:ea typeface="Open Sans"/>
                <a:cs typeface="B Nazanin" panose="00000700000000000000" pitchFamily="2" charset="-78"/>
                <a:sym typeface="Open Sans"/>
              </a:rPr>
              <a:t>2. رسميت جلسات انجمن شهر و طرز تشكيل آن </a:t>
            </a:r>
            <a:endParaRPr sz="900" b="1" dirty="0">
              <a:cs typeface="B Nazanin" panose="00000700000000000000" pitchFamily="2" charset="-78"/>
            </a:endParaRPr>
          </a:p>
        </p:txBody>
      </p:sp>
      <p:sp>
        <p:nvSpPr>
          <p:cNvPr id="13" name="Rectangle 12">
            <a:extLst>
              <a:ext uri="{FF2B5EF4-FFF2-40B4-BE49-F238E27FC236}">
                <a16:creationId xmlns:a16="http://schemas.microsoft.com/office/drawing/2014/main" id="{A7448848-B79E-1D1F-F640-A22E70C1CCA5}"/>
              </a:ext>
            </a:extLst>
          </p:cNvPr>
          <p:cNvSpPr/>
          <p:nvPr/>
        </p:nvSpPr>
        <p:spPr>
          <a:xfrm>
            <a:off x="3397501" y="1817073"/>
            <a:ext cx="1082748" cy="42832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a-IR" b="1" spc="50" dirty="0">
                <a:ln w="9525" cmpd="sng">
                  <a:solidFill>
                    <a:schemeClr val="tx2"/>
                  </a:solidFill>
                  <a:prstDash val="solid"/>
                </a:ln>
                <a:solidFill>
                  <a:srgbClr val="70AD47">
                    <a:tint val="1000"/>
                  </a:srgbClr>
                </a:solidFill>
                <a:effectLst>
                  <a:glow rad="38100">
                    <a:schemeClr val="accent1">
                      <a:alpha val="40000"/>
                    </a:schemeClr>
                  </a:glow>
                </a:effectLst>
              </a:rPr>
              <a:t>رسمیت</a:t>
            </a:r>
            <a:endParaRPr lang="en-US" b="1" spc="50" dirty="0">
              <a:ln w="9525" cmpd="sng">
                <a:solidFill>
                  <a:schemeClr val="tx2"/>
                </a:solidFill>
                <a:prstDash val="solid"/>
              </a:ln>
              <a:solidFill>
                <a:srgbClr val="70AD47">
                  <a:tint val="1000"/>
                </a:srgbClr>
              </a:solidFill>
              <a:effectLst>
                <a:glow rad="38100">
                  <a:schemeClr val="accent1">
                    <a:alpha val="40000"/>
                  </a:schemeClr>
                </a:glow>
              </a:effectLst>
            </a:endParaRPr>
          </a:p>
        </p:txBody>
      </p:sp>
      <p:sp>
        <p:nvSpPr>
          <p:cNvPr id="14" name="Rectangle 13">
            <a:extLst>
              <a:ext uri="{FF2B5EF4-FFF2-40B4-BE49-F238E27FC236}">
                <a16:creationId xmlns:a16="http://schemas.microsoft.com/office/drawing/2014/main" id="{C3277F0C-A125-AA38-2524-AA020146B584}"/>
              </a:ext>
            </a:extLst>
          </p:cNvPr>
          <p:cNvSpPr/>
          <p:nvPr/>
        </p:nvSpPr>
        <p:spPr>
          <a:xfrm>
            <a:off x="983142" y="1543051"/>
            <a:ext cx="1378163" cy="48818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a-IR" b="1" spc="50" dirty="0">
                <a:ln w="9525" cmpd="sng">
                  <a:solidFill>
                    <a:schemeClr val="tx2"/>
                  </a:solidFill>
                  <a:prstDash val="solid"/>
                </a:ln>
                <a:solidFill>
                  <a:srgbClr val="70AD47">
                    <a:tint val="1000"/>
                  </a:srgbClr>
                </a:solidFill>
                <a:effectLst>
                  <a:glow rad="38100">
                    <a:schemeClr val="accent1">
                      <a:alpha val="40000"/>
                    </a:schemeClr>
                  </a:glow>
                </a:effectLst>
              </a:rPr>
              <a:t>حضور دو سوم اعضا</a:t>
            </a:r>
            <a:endParaRPr lang="en-US" b="1" spc="50" dirty="0">
              <a:ln w="9525" cmpd="sng">
                <a:solidFill>
                  <a:schemeClr val="tx2"/>
                </a:solidFill>
                <a:prstDash val="solid"/>
              </a:ln>
              <a:solidFill>
                <a:srgbClr val="70AD47">
                  <a:tint val="1000"/>
                </a:srgbClr>
              </a:solidFill>
              <a:effectLst>
                <a:glow rad="38100">
                  <a:schemeClr val="accent1">
                    <a:alpha val="40000"/>
                  </a:schemeClr>
                </a:glow>
              </a:effectLst>
            </a:endParaRPr>
          </a:p>
        </p:txBody>
      </p:sp>
      <p:sp>
        <p:nvSpPr>
          <p:cNvPr id="15" name="Rectangle 14">
            <a:extLst>
              <a:ext uri="{FF2B5EF4-FFF2-40B4-BE49-F238E27FC236}">
                <a16:creationId xmlns:a16="http://schemas.microsoft.com/office/drawing/2014/main" id="{AB85972D-1FED-8ED2-5B4C-8F905A49E07B}"/>
              </a:ext>
            </a:extLst>
          </p:cNvPr>
          <p:cNvSpPr/>
          <p:nvPr/>
        </p:nvSpPr>
        <p:spPr>
          <a:xfrm>
            <a:off x="983142" y="2143426"/>
            <a:ext cx="1367806" cy="64262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a-IR" b="1" spc="50" dirty="0">
                <a:ln w="9525" cmpd="sng">
                  <a:solidFill>
                    <a:schemeClr val="tx2"/>
                  </a:solidFill>
                  <a:prstDash val="solid"/>
                </a:ln>
                <a:solidFill>
                  <a:srgbClr val="70AD47">
                    <a:tint val="1000"/>
                  </a:srgbClr>
                </a:solidFill>
                <a:effectLst>
                  <a:glow rad="38100">
                    <a:schemeClr val="accent1">
                      <a:alpha val="40000"/>
                    </a:schemeClr>
                  </a:glow>
                </a:effectLst>
              </a:rPr>
              <a:t>تصمیمات با رای اکثریت بیش از نصف</a:t>
            </a:r>
            <a:endParaRPr lang="en-US" b="1" spc="50" dirty="0">
              <a:ln w="9525" cmpd="sng">
                <a:solidFill>
                  <a:schemeClr val="tx2"/>
                </a:solidFill>
                <a:prstDash val="solid"/>
              </a:ln>
              <a:solidFill>
                <a:srgbClr val="70AD47">
                  <a:tint val="1000"/>
                </a:srgbClr>
              </a:solidFill>
              <a:effectLst>
                <a:glow rad="38100">
                  <a:schemeClr val="accent1">
                    <a:alpha val="40000"/>
                  </a:schemeClr>
                </a:glow>
              </a:effectLst>
            </a:endParaRPr>
          </a:p>
        </p:txBody>
      </p:sp>
      <p:cxnSp>
        <p:nvCxnSpPr>
          <p:cNvPr id="20" name="Connector: Elbow 19">
            <a:extLst>
              <a:ext uri="{FF2B5EF4-FFF2-40B4-BE49-F238E27FC236}">
                <a16:creationId xmlns:a16="http://schemas.microsoft.com/office/drawing/2014/main" id="{5A2E21C5-7D13-4CCF-462A-1F194FD3EED7}"/>
              </a:ext>
            </a:extLst>
          </p:cNvPr>
          <p:cNvCxnSpPr>
            <a:cxnSpLocks/>
            <a:stCxn id="13" idx="1"/>
            <a:endCxn id="14" idx="3"/>
          </p:cNvCxnSpPr>
          <p:nvPr/>
        </p:nvCxnSpPr>
        <p:spPr>
          <a:xfrm rot="10800000">
            <a:off x="2361305" y="1787143"/>
            <a:ext cx="1036196" cy="244092"/>
          </a:xfrm>
          <a:prstGeom prst="bentConnector3">
            <a:avLst/>
          </a:prstGeom>
        </p:spPr>
        <p:style>
          <a:lnRef idx="3">
            <a:schemeClr val="accent1"/>
          </a:lnRef>
          <a:fillRef idx="0">
            <a:schemeClr val="accent1"/>
          </a:fillRef>
          <a:effectRef idx="2">
            <a:schemeClr val="accent1"/>
          </a:effectRef>
          <a:fontRef idx="minor">
            <a:schemeClr val="tx1"/>
          </a:fontRef>
        </p:style>
      </p:cxnSp>
      <p:cxnSp>
        <p:nvCxnSpPr>
          <p:cNvPr id="26" name="Connector: Elbow 25">
            <a:extLst>
              <a:ext uri="{FF2B5EF4-FFF2-40B4-BE49-F238E27FC236}">
                <a16:creationId xmlns:a16="http://schemas.microsoft.com/office/drawing/2014/main" id="{ADAE7F91-07A0-E8F4-160D-4FC9AEE4C5BC}"/>
              </a:ext>
            </a:extLst>
          </p:cNvPr>
          <p:cNvCxnSpPr>
            <a:cxnSpLocks/>
            <a:stCxn id="31" idx="1"/>
            <a:endCxn id="15" idx="3"/>
          </p:cNvCxnSpPr>
          <p:nvPr/>
        </p:nvCxnSpPr>
        <p:spPr>
          <a:xfrm rot="10800000">
            <a:off x="2350949" y="2464738"/>
            <a:ext cx="1046553" cy="160656"/>
          </a:xfrm>
          <a:prstGeom prst="bentConnector3">
            <a:avLst>
              <a:gd name="adj1" fmla="val 50000"/>
            </a:avLst>
          </a:prstGeom>
        </p:spPr>
        <p:style>
          <a:lnRef idx="3">
            <a:schemeClr val="accent1"/>
          </a:lnRef>
          <a:fillRef idx="0">
            <a:schemeClr val="accent1"/>
          </a:fillRef>
          <a:effectRef idx="2">
            <a:schemeClr val="accent1"/>
          </a:effectRef>
          <a:fontRef idx="minor">
            <a:schemeClr val="tx1"/>
          </a:fontRef>
        </p:style>
      </p:cxnSp>
      <p:sp>
        <p:nvSpPr>
          <p:cNvPr id="31" name="Rectangle 30">
            <a:extLst>
              <a:ext uri="{FF2B5EF4-FFF2-40B4-BE49-F238E27FC236}">
                <a16:creationId xmlns:a16="http://schemas.microsoft.com/office/drawing/2014/main" id="{752F751D-32F7-917F-272D-653C051416EC}"/>
              </a:ext>
            </a:extLst>
          </p:cNvPr>
          <p:cNvSpPr/>
          <p:nvPr/>
        </p:nvSpPr>
        <p:spPr>
          <a:xfrm>
            <a:off x="3397501" y="2411232"/>
            <a:ext cx="1082748" cy="42832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a-IR" b="1" spc="50" dirty="0">
                <a:ln w="9525" cmpd="sng">
                  <a:solidFill>
                    <a:schemeClr val="tx2"/>
                  </a:solidFill>
                  <a:prstDash val="solid"/>
                </a:ln>
                <a:solidFill>
                  <a:srgbClr val="70AD47">
                    <a:tint val="1000"/>
                  </a:srgbClr>
                </a:solidFill>
                <a:effectLst>
                  <a:glow rad="38100">
                    <a:schemeClr val="accent1">
                      <a:alpha val="40000"/>
                    </a:schemeClr>
                  </a:glow>
                </a:effectLst>
              </a:rPr>
              <a:t>تصمیم گیری</a:t>
            </a:r>
            <a:endParaRPr lang="en-US" b="1" spc="50" dirty="0">
              <a:ln w="9525" cmpd="sng">
                <a:solidFill>
                  <a:schemeClr val="tx2"/>
                </a:solidFill>
                <a:prstDash val="solid"/>
              </a:ln>
              <a:solidFill>
                <a:srgbClr val="70AD47">
                  <a:tint val="1000"/>
                </a:srgbClr>
              </a:solidFill>
              <a:effectLst>
                <a:glow rad="38100">
                  <a:schemeClr val="accent1">
                    <a:alpha val="40000"/>
                  </a:schemeClr>
                </a:glow>
              </a:effectLst>
            </a:endParaRPr>
          </a:p>
        </p:txBody>
      </p:sp>
      <p:sp>
        <p:nvSpPr>
          <p:cNvPr id="35" name="Rectangle 34">
            <a:extLst>
              <a:ext uri="{FF2B5EF4-FFF2-40B4-BE49-F238E27FC236}">
                <a16:creationId xmlns:a16="http://schemas.microsoft.com/office/drawing/2014/main" id="{33AAE3E8-ACEE-7A61-EC71-861879350B77}"/>
              </a:ext>
            </a:extLst>
          </p:cNvPr>
          <p:cNvSpPr/>
          <p:nvPr/>
        </p:nvSpPr>
        <p:spPr>
          <a:xfrm>
            <a:off x="3397501" y="2954905"/>
            <a:ext cx="1082748" cy="42832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a-IR" b="1" spc="50" dirty="0">
                <a:ln w="9525" cmpd="sng">
                  <a:solidFill>
                    <a:schemeClr val="tx2"/>
                  </a:solidFill>
                  <a:prstDash val="solid"/>
                </a:ln>
                <a:solidFill>
                  <a:srgbClr val="70AD47">
                    <a:tint val="1000"/>
                  </a:srgbClr>
                </a:solidFill>
                <a:effectLst>
                  <a:glow rad="38100">
                    <a:schemeClr val="accent1">
                      <a:alpha val="40000"/>
                    </a:schemeClr>
                  </a:glow>
                </a:effectLst>
              </a:rPr>
              <a:t>غیبت</a:t>
            </a:r>
            <a:endParaRPr lang="en-US" b="1" spc="50" dirty="0">
              <a:ln w="9525" cmpd="sng">
                <a:solidFill>
                  <a:schemeClr val="tx2"/>
                </a:solidFill>
                <a:prstDash val="solid"/>
              </a:ln>
              <a:solidFill>
                <a:srgbClr val="70AD47">
                  <a:tint val="1000"/>
                </a:srgbClr>
              </a:solidFill>
              <a:effectLst>
                <a:glow rad="38100">
                  <a:schemeClr val="accent1">
                    <a:alpha val="40000"/>
                  </a:schemeClr>
                </a:glow>
              </a:effectLst>
            </a:endParaRPr>
          </a:p>
        </p:txBody>
      </p:sp>
      <p:sp>
        <p:nvSpPr>
          <p:cNvPr id="36" name="Rectangle 35">
            <a:extLst>
              <a:ext uri="{FF2B5EF4-FFF2-40B4-BE49-F238E27FC236}">
                <a16:creationId xmlns:a16="http://schemas.microsoft.com/office/drawing/2014/main" id="{8A880540-3650-4779-6A71-8ECFAF4CC803}"/>
              </a:ext>
            </a:extLst>
          </p:cNvPr>
          <p:cNvSpPr/>
          <p:nvPr/>
        </p:nvSpPr>
        <p:spPr>
          <a:xfrm>
            <a:off x="993497" y="2922953"/>
            <a:ext cx="1367807" cy="64262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a-IR" b="1" spc="50" dirty="0">
                <a:ln w="9525" cmpd="sng">
                  <a:solidFill>
                    <a:schemeClr val="tx2"/>
                  </a:solidFill>
                  <a:prstDash val="solid"/>
                </a:ln>
                <a:solidFill>
                  <a:srgbClr val="70AD47">
                    <a:tint val="1000"/>
                  </a:srgbClr>
                </a:solidFill>
                <a:effectLst>
                  <a:glow rad="38100">
                    <a:schemeClr val="accent1">
                      <a:alpha val="40000"/>
                    </a:schemeClr>
                  </a:glow>
                </a:effectLst>
              </a:rPr>
              <a:t>دو جلسه متوالی یا سه جلسه متناوب در سه ما</a:t>
            </a:r>
            <a:endParaRPr lang="en-US" b="1" spc="50" dirty="0">
              <a:ln w="9525" cmpd="sng">
                <a:solidFill>
                  <a:schemeClr val="tx2"/>
                </a:solidFill>
                <a:prstDash val="solid"/>
              </a:ln>
              <a:solidFill>
                <a:srgbClr val="70AD47">
                  <a:tint val="1000"/>
                </a:srgbClr>
              </a:solidFill>
              <a:effectLst>
                <a:glow rad="38100">
                  <a:schemeClr val="accent1">
                    <a:alpha val="40000"/>
                  </a:schemeClr>
                </a:glow>
              </a:effectLst>
            </a:endParaRPr>
          </a:p>
        </p:txBody>
      </p:sp>
      <p:cxnSp>
        <p:nvCxnSpPr>
          <p:cNvPr id="40" name="Connector: Elbow 39">
            <a:extLst>
              <a:ext uri="{FF2B5EF4-FFF2-40B4-BE49-F238E27FC236}">
                <a16:creationId xmlns:a16="http://schemas.microsoft.com/office/drawing/2014/main" id="{72787AEF-8B72-878A-47B2-C3B517B0900D}"/>
              </a:ext>
            </a:extLst>
          </p:cNvPr>
          <p:cNvCxnSpPr>
            <a:stCxn id="36" idx="3"/>
            <a:endCxn id="35" idx="1"/>
          </p:cNvCxnSpPr>
          <p:nvPr/>
        </p:nvCxnSpPr>
        <p:spPr>
          <a:xfrm flipV="1">
            <a:off x="2361304" y="3169067"/>
            <a:ext cx="1036197" cy="75198"/>
          </a:xfrm>
          <a:prstGeom prst="bentConnector3">
            <a:avLst/>
          </a:prstGeom>
        </p:spPr>
        <p:style>
          <a:lnRef idx="3">
            <a:schemeClr val="accent1"/>
          </a:lnRef>
          <a:fillRef idx="0">
            <a:schemeClr val="accent1"/>
          </a:fillRef>
          <a:effectRef idx="2">
            <a:schemeClr val="accent1"/>
          </a:effectRef>
          <a:fontRef idx="minor">
            <a:schemeClr val="tx1"/>
          </a:fontRef>
        </p:style>
      </p:cxnSp>
      <p:sp>
        <p:nvSpPr>
          <p:cNvPr id="41" name="Rectangle 40">
            <a:extLst>
              <a:ext uri="{FF2B5EF4-FFF2-40B4-BE49-F238E27FC236}">
                <a16:creationId xmlns:a16="http://schemas.microsoft.com/office/drawing/2014/main" id="{47DE9BF3-9191-E45C-240D-A62727F5BE51}"/>
              </a:ext>
            </a:extLst>
          </p:cNvPr>
          <p:cNvSpPr/>
          <p:nvPr/>
        </p:nvSpPr>
        <p:spPr>
          <a:xfrm>
            <a:off x="3422232" y="3546956"/>
            <a:ext cx="1082748" cy="42832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a-IR" b="1" spc="50" dirty="0">
                <a:ln w="9525" cmpd="sng">
                  <a:solidFill>
                    <a:schemeClr val="tx2"/>
                  </a:solidFill>
                  <a:prstDash val="solid"/>
                </a:ln>
                <a:solidFill>
                  <a:srgbClr val="70AD47">
                    <a:tint val="1000"/>
                  </a:srgbClr>
                </a:solidFill>
                <a:effectLst>
                  <a:glow rad="38100">
                    <a:schemeClr val="accent1">
                      <a:alpha val="40000"/>
                    </a:schemeClr>
                  </a:glow>
                </a:effectLst>
              </a:rPr>
              <a:t>جلسه و جامعه</a:t>
            </a:r>
            <a:endParaRPr lang="en-US" b="1" spc="50" dirty="0">
              <a:ln w="9525" cmpd="sng">
                <a:solidFill>
                  <a:schemeClr val="tx2"/>
                </a:solidFill>
                <a:prstDash val="solid"/>
              </a:ln>
              <a:solidFill>
                <a:srgbClr val="70AD47">
                  <a:tint val="1000"/>
                </a:srgbClr>
              </a:solidFill>
              <a:effectLst>
                <a:glow rad="38100">
                  <a:schemeClr val="accent1">
                    <a:alpha val="40000"/>
                  </a:schemeClr>
                </a:glow>
              </a:effectLst>
            </a:endParaRPr>
          </a:p>
        </p:txBody>
      </p:sp>
      <p:sp>
        <p:nvSpPr>
          <p:cNvPr id="42" name="Rectangle 41">
            <a:extLst>
              <a:ext uri="{FF2B5EF4-FFF2-40B4-BE49-F238E27FC236}">
                <a16:creationId xmlns:a16="http://schemas.microsoft.com/office/drawing/2014/main" id="{AAEFBFE4-2D5E-D26F-6A01-5775A5E73099}"/>
              </a:ext>
            </a:extLst>
          </p:cNvPr>
          <p:cNvSpPr/>
          <p:nvPr/>
        </p:nvSpPr>
        <p:spPr>
          <a:xfrm>
            <a:off x="1011441" y="3707222"/>
            <a:ext cx="1367807" cy="64262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a-IR" b="1" spc="50" dirty="0">
                <a:ln w="9525" cmpd="sng">
                  <a:solidFill>
                    <a:schemeClr val="tx2"/>
                  </a:solidFill>
                  <a:prstDash val="solid"/>
                </a:ln>
                <a:solidFill>
                  <a:srgbClr val="70AD47">
                    <a:tint val="1000"/>
                  </a:srgbClr>
                </a:solidFill>
                <a:effectLst>
                  <a:glow rad="38100">
                    <a:schemeClr val="accent1">
                      <a:alpha val="40000"/>
                    </a:schemeClr>
                  </a:glow>
                </a:effectLst>
              </a:rPr>
              <a:t>جلسات بصورت علنی مگر به درخواست شهردار</a:t>
            </a:r>
            <a:endParaRPr lang="en-US" b="1" spc="50" dirty="0">
              <a:ln w="9525" cmpd="sng">
                <a:solidFill>
                  <a:schemeClr val="tx2"/>
                </a:solidFill>
                <a:prstDash val="solid"/>
              </a:ln>
              <a:solidFill>
                <a:srgbClr val="70AD47">
                  <a:tint val="1000"/>
                </a:srgbClr>
              </a:solidFill>
              <a:effectLst>
                <a:glow rad="38100">
                  <a:schemeClr val="accent1">
                    <a:alpha val="40000"/>
                  </a:schemeClr>
                </a:glow>
              </a:effectLst>
            </a:endParaRPr>
          </a:p>
        </p:txBody>
      </p:sp>
      <p:cxnSp>
        <p:nvCxnSpPr>
          <p:cNvPr id="46" name="Connector: Elbow 45">
            <a:extLst>
              <a:ext uri="{FF2B5EF4-FFF2-40B4-BE49-F238E27FC236}">
                <a16:creationId xmlns:a16="http://schemas.microsoft.com/office/drawing/2014/main" id="{4F79DB39-CB3E-5CE3-6D7A-75186DC9F745}"/>
              </a:ext>
            </a:extLst>
          </p:cNvPr>
          <p:cNvCxnSpPr>
            <a:stCxn id="42" idx="3"/>
            <a:endCxn id="41" idx="1"/>
          </p:cNvCxnSpPr>
          <p:nvPr/>
        </p:nvCxnSpPr>
        <p:spPr>
          <a:xfrm flipV="1">
            <a:off x="2379248" y="3761118"/>
            <a:ext cx="1042984" cy="267416"/>
          </a:xfrm>
          <a:prstGeom prst="bentConnector3">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916287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3" name="TextBox 2">
            <a:extLst>
              <a:ext uri="{FF2B5EF4-FFF2-40B4-BE49-F238E27FC236}">
                <a16:creationId xmlns:a16="http://schemas.microsoft.com/office/drawing/2014/main" id="{404E59BA-6B84-2D15-B14B-24D2B7861FA7}"/>
              </a:ext>
            </a:extLst>
          </p:cNvPr>
          <p:cNvSpPr txBox="1"/>
          <p:nvPr/>
        </p:nvSpPr>
        <p:spPr>
          <a:xfrm>
            <a:off x="4813563" y="1225452"/>
            <a:ext cx="3341110" cy="3939540"/>
          </a:xfrm>
          <a:prstGeom prst="rect">
            <a:avLst/>
          </a:prstGeom>
          <a:noFill/>
        </p:spPr>
        <p:txBody>
          <a:bodyPr wrap="square" rtlCol="0">
            <a:spAutoFit/>
          </a:bodyPr>
          <a:lstStyle/>
          <a:p>
            <a:pPr algn="r" rtl="1"/>
            <a:r>
              <a:rPr lang="fa-IR" sz="1000" dirty="0"/>
              <a:t>1. نظارت در حسن اداره و حفظ سرمایه و دارایی نقدی و جنسی و اموال منقول و غیرمنقول متعلق به شهر و همچنین نظارت در حساب درآمد و هزینه آنها.</a:t>
            </a:r>
          </a:p>
          <a:p>
            <a:pPr algn="r" rtl="1"/>
            <a:r>
              <a:rPr lang="fa-IR" sz="1000" dirty="0"/>
              <a:t>2. تصویب بودجه سالیانه و اصلاح بودجه و متمم بودجه و تفریغ بودجه شهرداری و بنگاه های وابسته بشهرداری و تصویب برنامه ساختمانی که از طرف شهرداری پیشنهاد می شود.</a:t>
            </a:r>
          </a:p>
          <a:p>
            <a:pPr algn="r" rtl="1"/>
            <a:r>
              <a:rPr lang="fa-IR" sz="1000" dirty="0"/>
              <a:t>3. تصویب معاملات و نظارت در آنها اعم از خرید و فروش و مقاطعه و اجاره و استیجاره به نام شهر با در نظر گرفتن صرفه و صلاح و با رعایت مقررات آیین نامه مالی شهرداریها.</a:t>
            </a:r>
          </a:p>
          <a:p>
            <a:pPr algn="r" rtl="1"/>
            <a:r>
              <a:rPr lang="fa-IR" sz="1000" dirty="0"/>
              <a:t>4. مراقبت در اقامه کلیه دعاوی مربوطه به شهرداری و نظارت در حسن جریان امر.</a:t>
            </a:r>
          </a:p>
          <a:p>
            <a:pPr algn="r" rtl="1"/>
            <a:r>
              <a:rPr lang="fa-IR" sz="1000" dirty="0"/>
              <a:t>5. رفع اختلافات صنفی در صورت مراجعه از طرف شهرداری یا اصناف.</a:t>
            </a:r>
          </a:p>
          <a:p>
            <a:pPr algn="r" rtl="1"/>
            <a:r>
              <a:rPr lang="fa-IR" sz="1000" dirty="0"/>
              <a:t>6. مراقبت در اجرا وظایف شهرداری در امور بهداشت حوزه شهر و نظارت در امور بیمارستان هاو پرورشگاه ها و سایر موسساتی که از طرف شهرداری اداره می شود.</a:t>
            </a:r>
          </a:p>
          <a:p>
            <a:pPr algn="r" rtl="1"/>
            <a:r>
              <a:rPr lang="fa-IR" sz="1000" dirty="0"/>
              <a:t>7. اظهارنظر در مورد مشارکت شهرداری با ادارات و بنگاههای مربوط برای دایر کردن نمایشگاه های کشاورزی و هنری و بازرگانی و غیره.</a:t>
            </a:r>
          </a:p>
          <a:p>
            <a:pPr algn="r" rtl="1"/>
            <a:r>
              <a:rPr lang="fa-IR" sz="1000" dirty="0"/>
              <a:t>8. تصویب لوایح برقراری یا الغا عوارض شهر و همچنین تغییر نوع و میزان آن.</a:t>
            </a:r>
          </a:p>
          <a:p>
            <a:pPr algn="r" rtl="1"/>
            <a:r>
              <a:rPr lang="fa-IR" sz="1000" dirty="0"/>
              <a:t>9. تصویب آیین نامه های پیشنهادی شهرداری پس از رسیدگی به آنها.</a:t>
            </a:r>
          </a:p>
          <a:p>
            <a:pPr algn="r" rtl="1"/>
            <a:r>
              <a:rPr lang="fa-IR" sz="1000" dirty="0"/>
              <a:t>10. مراقبت برای ایجاد رختشویخانه های عمومی و آبریزها و گورستان و مرده شوی خانه و تهیه وسایل حمل اموات مطابق اصول بهداشت.</a:t>
            </a:r>
          </a:p>
          <a:p>
            <a:pPr algn="r" rtl="1"/>
            <a:r>
              <a:rPr lang="fa-IR" sz="1000" dirty="0"/>
              <a:t>11. نظارت در امور تماشاخانه ها و سینما و امثال آن و همچنین تدوین مقررات مخصوص برای حسن ترتیب و نظافت و بهداشت این قبیل موسسات.</a:t>
            </a:r>
          </a:p>
          <a:p>
            <a:pPr algn="r" rtl="1"/>
            <a:endParaRPr lang="en-US" sz="1000" dirty="0"/>
          </a:p>
        </p:txBody>
      </p:sp>
      <p:sp>
        <p:nvSpPr>
          <p:cNvPr id="229" name="Google Shape;229;p30"/>
          <p:cNvSpPr txBox="1"/>
          <p:nvPr/>
        </p:nvSpPr>
        <p:spPr>
          <a:xfrm>
            <a:off x="879805" y="920652"/>
            <a:ext cx="2860164" cy="738664"/>
          </a:xfrm>
          <a:prstGeom prst="rect">
            <a:avLst/>
          </a:prstGeom>
          <a:noFill/>
          <a:ln>
            <a:noFill/>
          </a:ln>
        </p:spPr>
        <p:txBody>
          <a:bodyPr spcFirstLastPara="1" wrap="square" lIns="0" tIns="0" rIns="0" bIns="0" anchor="t" anchorCtr="0">
            <a:spAutoFit/>
          </a:bodyPr>
          <a:lstStyle/>
          <a:p>
            <a:pPr marL="0" marR="0" lvl="0" indent="0" algn="ctr" rtl="1">
              <a:lnSpc>
                <a:spcPct val="120000"/>
              </a:lnSpc>
              <a:spcBef>
                <a:spcPts val="0"/>
              </a:spcBef>
              <a:spcAft>
                <a:spcPts val="0"/>
              </a:spcAft>
              <a:buNone/>
            </a:pPr>
            <a:r>
              <a:rPr lang="fa-IR" sz="4000" b="1" i="0" u="none" strike="noStrike" cap="none" dirty="0">
                <a:solidFill>
                  <a:srgbClr val="000000"/>
                </a:solidFill>
                <a:latin typeface="Open Sans"/>
                <a:ea typeface="Open Sans"/>
                <a:cs typeface="B Nazanin" panose="00000700000000000000" pitchFamily="2" charset="-78"/>
                <a:sym typeface="Open Sans"/>
              </a:rPr>
              <a:t>وظایف انجمن</a:t>
            </a:r>
            <a:endParaRPr sz="700" b="1" dirty="0">
              <a:latin typeface="Open Sans"/>
              <a:ea typeface="Open Sans"/>
              <a:cs typeface="B Nazanin" panose="00000700000000000000" pitchFamily="2" charset="-78"/>
              <a:sym typeface="Open Sans"/>
            </a:endParaRPr>
          </a:p>
        </p:txBody>
      </p:sp>
      <p:pic>
        <p:nvPicPr>
          <p:cNvPr id="230" name="Google Shape;230;p30"/>
          <p:cNvPicPr preferRelativeResize="0"/>
          <p:nvPr/>
        </p:nvPicPr>
        <p:blipFill rotWithShape="1">
          <a:blip r:embed="rId3">
            <a:alphaModFix/>
          </a:blip>
          <a:srcRect t="4144" b="4143"/>
          <a:stretch/>
        </p:blipFill>
        <p:spPr>
          <a:xfrm>
            <a:off x="0" y="2627658"/>
            <a:ext cx="4114800" cy="2515842"/>
          </a:xfrm>
          <a:prstGeom prst="rect">
            <a:avLst/>
          </a:prstGeom>
          <a:noFill/>
          <a:ln>
            <a:noFill/>
          </a:ln>
        </p:spPr>
      </p:pic>
      <p:cxnSp>
        <p:nvCxnSpPr>
          <p:cNvPr id="231" name="Google Shape;231;p30"/>
          <p:cNvCxnSpPr/>
          <p:nvPr/>
        </p:nvCxnSpPr>
        <p:spPr>
          <a:xfrm rot="5400000">
            <a:off x="6077525" y="3293299"/>
            <a:ext cx="4135694" cy="0"/>
          </a:xfrm>
          <a:prstGeom prst="straightConnector1">
            <a:avLst/>
          </a:prstGeom>
          <a:noFill/>
          <a:ln w="9525" cap="flat" cmpd="sng">
            <a:solidFill>
              <a:srgbClr val="000000"/>
            </a:solidFill>
            <a:prstDash val="solid"/>
            <a:round/>
            <a:headEnd type="none" w="sm" len="sm"/>
            <a:tailEnd type="none" w="sm" len="sm"/>
          </a:ln>
        </p:spPr>
      </p:cxnSp>
      <p:cxnSp>
        <p:nvCxnSpPr>
          <p:cNvPr id="232" name="Google Shape;232;p30"/>
          <p:cNvCxnSpPr/>
          <p:nvPr/>
        </p:nvCxnSpPr>
        <p:spPr>
          <a:xfrm rot="5400000">
            <a:off x="3359143" y="4031430"/>
            <a:ext cx="2812307" cy="0"/>
          </a:xfrm>
          <a:prstGeom prst="straightConnector1">
            <a:avLst/>
          </a:prstGeom>
          <a:noFill/>
          <a:ln w="9525" cap="flat" cmpd="sng">
            <a:solidFill>
              <a:srgbClr val="000000"/>
            </a:solidFill>
            <a:prstDash val="solid"/>
            <a:round/>
            <a:headEnd type="none" w="sm" len="sm"/>
            <a:tailEnd type="none" w="sm" len="sm"/>
          </a:ln>
        </p:spPr>
      </p:cxnSp>
      <p:grpSp>
        <p:nvGrpSpPr>
          <p:cNvPr id="233" name="Google Shape;233;p30"/>
          <p:cNvGrpSpPr/>
          <p:nvPr/>
        </p:nvGrpSpPr>
        <p:grpSpPr>
          <a:xfrm>
            <a:off x="8837359" y="-72330"/>
            <a:ext cx="1543051" cy="5808473"/>
            <a:chOff x="0" y="-38100"/>
            <a:chExt cx="812800" cy="3059607"/>
          </a:xfrm>
        </p:grpSpPr>
        <p:sp>
          <p:nvSpPr>
            <p:cNvPr id="234" name="Google Shape;234;p30"/>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235" name="Google Shape;235;p30"/>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236" name="Google Shape;236;p30"/>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000000"/>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500"/>
                                        <p:tgtEl>
                                          <p:spTgt spid="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wipe(down)">
                                      <p:cBhvr>
                                        <p:cTn id="24" dur="5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circle(in)">
                                      <p:cBhvr>
                                        <p:cTn id="29" dur="2000"/>
                                        <p:tgtEl>
                                          <p:spTgt spid="3">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1" presetClass="entr" presetSubtype="1" fill="hold" nodeType="click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wheel(1)">
                                      <p:cBhvr>
                                        <p:cTn id="34" dur="2000"/>
                                        <p:tgtEl>
                                          <p:spTgt spid="3">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fade">
                                      <p:cBhvr>
                                        <p:cTn id="39" dur="1000"/>
                                        <p:tgtEl>
                                          <p:spTgt spid="3">
                                            <p:txEl>
                                              <p:pRg st="5" end="5"/>
                                            </p:txEl>
                                          </p:spTgt>
                                        </p:tgtEl>
                                      </p:cBhvr>
                                    </p:animEffect>
                                    <p:anim calcmode="lin" valueType="num">
                                      <p:cBhvr>
                                        <p:cTn id="4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3">
                                            <p:txEl>
                                              <p:pRg st="6" end="6"/>
                                            </p:txEl>
                                          </p:spTgt>
                                        </p:tgtEl>
                                        <p:attrNameLst>
                                          <p:attrName>style.visibility</p:attrName>
                                        </p:attrNameLst>
                                      </p:cBhvr>
                                      <p:to>
                                        <p:strVal val="visible"/>
                                      </p:to>
                                    </p:set>
                                    <p:anim calcmode="lin" valueType="num">
                                      <p:cBhvr additive="base">
                                        <p:cTn id="46"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fade">
                                      <p:cBhvr>
                                        <p:cTn id="52" dur="1000"/>
                                        <p:tgtEl>
                                          <p:spTgt spid="3">
                                            <p:txEl>
                                              <p:pRg st="7" end="7"/>
                                            </p:txEl>
                                          </p:spTgt>
                                        </p:tgtEl>
                                      </p:cBhvr>
                                    </p:animEffect>
                                    <p:anim calcmode="lin" valueType="num">
                                      <p:cBhvr>
                                        <p:cTn id="5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6" presetClass="entr" presetSubtype="16" fill="hold" nodeType="click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animEffect transition="in" filter="circle(in)">
                                      <p:cBhvr>
                                        <p:cTn id="59" dur="2000"/>
                                        <p:tgtEl>
                                          <p:spTgt spid="3">
                                            <p:txEl>
                                              <p:pRg st="8" end="8"/>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3">
                                            <p:txEl>
                                              <p:pRg st="9" end="9"/>
                                            </p:txEl>
                                          </p:spTgt>
                                        </p:tgtEl>
                                        <p:attrNameLst>
                                          <p:attrName>style.visibility</p:attrName>
                                        </p:attrNameLst>
                                      </p:cBhvr>
                                      <p:to>
                                        <p:strVal val="visible"/>
                                      </p:to>
                                    </p:set>
                                    <p:animEffect transition="in" filter="wipe(down)">
                                      <p:cBhvr>
                                        <p:cTn id="64" dur="500"/>
                                        <p:tgtEl>
                                          <p:spTgt spid="3">
                                            <p:txEl>
                                              <p:pRg st="9" end="9"/>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6" presetClass="entr" presetSubtype="16" fill="hold" nodeType="clickEffect">
                                  <p:stCondLst>
                                    <p:cond delay="0"/>
                                  </p:stCondLst>
                                  <p:childTnLst>
                                    <p:set>
                                      <p:cBhvr>
                                        <p:cTn id="68" dur="1" fill="hold">
                                          <p:stCondLst>
                                            <p:cond delay="0"/>
                                          </p:stCondLst>
                                        </p:cTn>
                                        <p:tgtEl>
                                          <p:spTgt spid="3">
                                            <p:txEl>
                                              <p:pRg st="10" end="10"/>
                                            </p:txEl>
                                          </p:spTgt>
                                        </p:tgtEl>
                                        <p:attrNameLst>
                                          <p:attrName>style.visibility</p:attrName>
                                        </p:attrNameLst>
                                      </p:cBhvr>
                                      <p:to>
                                        <p:strVal val="visible"/>
                                      </p:to>
                                    </p:set>
                                    <p:animEffect transition="in" filter="circle(in)">
                                      <p:cBhvr>
                                        <p:cTn id="69"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9" name="Google Shape;229;p30"/>
          <p:cNvSpPr txBox="1"/>
          <p:nvPr/>
        </p:nvSpPr>
        <p:spPr>
          <a:xfrm>
            <a:off x="5247473" y="1054275"/>
            <a:ext cx="2948780" cy="732985"/>
          </a:xfrm>
          <a:prstGeom prst="rect">
            <a:avLst/>
          </a:prstGeom>
          <a:noFill/>
          <a:ln>
            <a:noFill/>
          </a:ln>
        </p:spPr>
        <p:txBody>
          <a:bodyPr spcFirstLastPara="1" wrap="square" lIns="0" tIns="0" rIns="0" bIns="0" anchor="t" anchorCtr="0">
            <a:spAutoFit/>
          </a:bodyPr>
          <a:lstStyle/>
          <a:p>
            <a:pPr marL="0" marR="0" lvl="0" indent="0" algn="ctr" rtl="1">
              <a:lnSpc>
                <a:spcPct val="120000"/>
              </a:lnSpc>
              <a:spcBef>
                <a:spcPts val="0"/>
              </a:spcBef>
              <a:spcAft>
                <a:spcPts val="0"/>
              </a:spcAft>
              <a:buNone/>
            </a:pPr>
            <a:r>
              <a:rPr lang="fa-IR" sz="4000" b="1" i="0" u="none" strike="noStrike" cap="none" dirty="0">
                <a:solidFill>
                  <a:srgbClr val="000000"/>
                </a:solidFill>
                <a:latin typeface="Open Sans"/>
                <a:ea typeface="Open Sans"/>
                <a:cs typeface="B Nazanin" panose="00000700000000000000" pitchFamily="2" charset="-78"/>
                <a:sym typeface="Open Sans"/>
              </a:rPr>
              <a:t>وظایف انجمن</a:t>
            </a:r>
            <a:endParaRPr sz="700" b="1" dirty="0">
              <a:latin typeface="Open Sans"/>
              <a:ea typeface="Open Sans"/>
              <a:cs typeface="B Nazanin" panose="00000700000000000000" pitchFamily="2" charset="-78"/>
              <a:sym typeface="Open Sans"/>
            </a:endParaRPr>
          </a:p>
        </p:txBody>
      </p:sp>
      <p:pic>
        <p:nvPicPr>
          <p:cNvPr id="230" name="Google Shape;230;p30"/>
          <p:cNvPicPr preferRelativeResize="0"/>
          <p:nvPr/>
        </p:nvPicPr>
        <p:blipFill rotWithShape="1">
          <a:blip r:embed="rId3">
            <a:alphaModFix/>
          </a:blip>
          <a:srcRect t="4144" b="4143"/>
          <a:stretch/>
        </p:blipFill>
        <p:spPr>
          <a:xfrm>
            <a:off x="5029200" y="2627658"/>
            <a:ext cx="4114800" cy="2515842"/>
          </a:xfrm>
          <a:prstGeom prst="rect">
            <a:avLst/>
          </a:prstGeom>
          <a:noFill/>
          <a:ln>
            <a:noFill/>
          </a:ln>
        </p:spPr>
      </p:pic>
      <p:cxnSp>
        <p:nvCxnSpPr>
          <p:cNvPr id="231" name="Google Shape;231;p30"/>
          <p:cNvCxnSpPr/>
          <p:nvPr/>
        </p:nvCxnSpPr>
        <p:spPr>
          <a:xfrm rot="5400000">
            <a:off x="2504153" y="3293299"/>
            <a:ext cx="4135694" cy="0"/>
          </a:xfrm>
          <a:prstGeom prst="straightConnector1">
            <a:avLst/>
          </a:prstGeom>
          <a:noFill/>
          <a:ln w="9525" cap="flat" cmpd="sng">
            <a:solidFill>
              <a:srgbClr val="000000"/>
            </a:solidFill>
            <a:prstDash val="solid"/>
            <a:round/>
            <a:headEnd type="none" w="sm" len="sm"/>
            <a:tailEnd type="none" w="sm" len="sm"/>
          </a:ln>
        </p:spPr>
      </p:cxnSp>
      <p:cxnSp>
        <p:nvCxnSpPr>
          <p:cNvPr id="232" name="Google Shape;232;p30"/>
          <p:cNvCxnSpPr/>
          <p:nvPr/>
        </p:nvCxnSpPr>
        <p:spPr>
          <a:xfrm rot="5400000">
            <a:off x="-713597" y="4031430"/>
            <a:ext cx="2812307" cy="0"/>
          </a:xfrm>
          <a:prstGeom prst="straightConnector1">
            <a:avLst/>
          </a:prstGeom>
          <a:noFill/>
          <a:ln w="9525" cap="flat" cmpd="sng">
            <a:solidFill>
              <a:srgbClr val="000000"/>
            </a:solidFill>
            <a:prstDash val="solid"/>
            <a:round/>
            <a:headEnd type="none" w="sm" len="sm"/>
            <a:tailEnd type="none" w="sm" len="sm"/>
          </a:ln>
        </p:spPr>
      </p:cxnSp>
      <p:grpSp>
        <p:nvGrpSpPr>
          <p:cNvPr id="233" name="Google Shape;233;p30"/>
          <p:cNvGrpSpPr/>
          <p:nvPr/>
        </p:nvGrpSpPr>
        <p:grpSpPr>
          <a:xfrm>
            <a:off x="8837359" y="-72330"/>
            <a:ext cx="1543051" cy="5808473"/>
            <a:chOff x="0" y="-38100"/>
            <a:chExt cx="812800" cy="3059607"/>
          </a:xfrm>
        </p:grpSpPr>
        <p:sp>
          <p:nvSpPr>
            <p:cNvPr id="234" name="Google Shape;234;p30"/>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235" name="Google Shape;235;p30"/>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236" name="Google Shape;236;p30"/>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000000"/>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sp>
        <p:nvSpPr>
          <p:cNvPr id="3" name="TextBox 2">
            <a:extLst>
              <a:ext uri="{FF2B5EF4-FFF2-40B4-BE49-F238E27FC236}">
                <a16:creationId xmlns:a16="http://schemas.microsoft.com/office/drawing/2014/main" id="{E8EC476D-4595-CE65-17C3-24A23AEBC702}"/>
              </a:ext>
            </a:extLst>
          </p:cNvPr>
          <p:cNvSpPr txBox="1"/>
          <p:nvPr/>
        </p:nvSpPr>
        <p:spPr>
          <a:xfrm>
            <a:off x="975700" y="1359966"/>
            <a:ext cx="3341110" cy="3016210"/>
          </a:xfrm>
          <a:prstGeom prst="rect">
            <a:avLst/>
          </a:prstGeom>
          <a:noFill/>
        </p:spPr>
        <p:txBody>
          <a:bodyPr wrap="square" rtlCol="0">
            <a:spAutoFit/>
          </a:bodyPr>
          <a:lstStyle/>
          <a:p>
            <a:pPr algn="r" rtl="1"/>
            <a:r>
              <a:rPr lang="fa-IR" sz="1000" dirty="0"/>
              <a:t>12. وضع مقررات و نظارت در حفر مجرا براي فاضلاب شهر يا لوله اب يا برق و تصويب قراردادهاي مربوط به انها.</a:t>
            </a:r>
          </a:p>
          <a:p>
            <a:pPr algn="r" rtl="1"/>
            <a:r>
              <a:rPr lang="fa-IR" sz="1000" dirty="0"/>
              <a:t>13.  بررسی و موافقت با تهيه وسائل اتوبوسرانی و برق و ساير نيازمندي هاي عمومی از طريق تاسيس شركت ها و مؤسسات با رعايت قوانين كشور.</a:t>
            </a:r>
          </a:p>
          <a:p>
            <a:pPr algn="r" rtl="1"/>
            <a:r>
              <a:rPr lang="fa-IR" sz="1000" dirty="0"/>
              <a:t>14. بررسی و موافقت با پيشنهادات شهرداري در مورد فراوانی و ارزانی خواربار و اقدام در تامين و توزيع موادغذايی در مواقع لازم مخصوص به هنگام قحطی و پيش بينی و جلوگيري از كميابی خواربار و تهيه ميدان هاي عمومی براي خريد و فروش خواربار و همچنين نظارت در صحت اوزان و مقادير و مقياس ها و ملزم ساختن اصناف به الصاق برگه قيمت بر روي اجناس .</a:t>
            </a:r>
          </a:p>
          <a:p>
            <a:pPr algn="r" rtl="1"/>
            <a:r>
              <a:rPr lang="fa-IR" sz="1000" dirty="0"/>
              <a:t>15. تصويب نرخ كرايه وسايل نقليه در شهر.</a:t>
            </a:r>
          </a:p>
          <a:p>
            <a:pPr algn="r" rtl="1"/>
            <a:r>
              <a:rPr lang="fa-IR" sz="1000" dirty="0"/>
              <a:t>16. تصويب مقررات براي تنظيم اب هاي شهر و اجاره و استيجار اب هايی كه براي مصرف شهر ضروريست و جلوگيري از تجاوز به قنوات شهري.</a:t>
            </a:r>
          </a:p>
          <a:p>
            <a:pPr algn="r" rtl="1"/>
            <a:r>
              <a:rPr lang="fa-IR" sz="1000" dirty="0"/>
              <a:t>17. موافقت با ايجاد و توسعه معابر و خيابان ها و ميدانها و باغهاي عمومی بر طبق مقرر ات قانون توسعه معابر .</a:t>
            </a:r>
          </a:p>
          <a:p>
            <a:pPr algn="r" rtl="1"/>
            <a:r>
              <a:rPr lang="fa-IR" sz="1000" dirty="0"/>
              <a:t>18. تصويب مقررات الزم برا ي اراضی غير محصور شهر از نظر بهداشت و اسايش عمومی و عمران و زيبايی شهر.</a:t>
            </a:r>
          </a:p>
          <a:p>
            <a:pPr algn="r" rtl="1"/>
            <a:r>
              <a:rPr lang="fa-IR" sz="1000" dirty="0"/>
              <a:t>19. تصويب وامهاي پيشنهادي شهرداري پس از بررسی دقيق نسبت به مبلغ و مدت و ميزان بهره و ترتيب استهالك و مصرف وام .</a:t>
            </a:r>
            <a:endParaRPr lang="en-US" sz="1000" dirty="0"/>
          </a:p>
        </p:txBody>
      </p:sp>
    </p:spTree>
    <p:extLst>
      <p:ext uri="{BB962C8B-B14F-4D97-AF65-F5344CB8AC3E}">
        <p14:creationId xmlns:p14="http://schemas.microsoft.com/office/powerpoint/2010/main" val="18695264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500"/>
                                        <p:tgtEl>
                                          <p:spTgt spid="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5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500"/>
                                        <p:tgtEl>
                                          <p:spTgt spid="3">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500"/>
                                        <p:tgtEl>
                                          <p:spTgt spid="3">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fade">
                                      <p:cBhvr>
                                        <p:cTn id="39" dur="500"/>
                                        <p:tgtEl>
                                          <p:spTgt spid="3">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Effect transition="in" filter="fade">
                                      <p:cBhvr>
                                        <p:cTn id="44" dur="500"/>
                                        <p:tgtEl>
                                          <p:spTgt spid="3">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40"/>
        <p:cNvGrpSpPr/>
        <p:nvPr/>
      </p:nvGrpSpPr>
      <p:grpSpPr>
        <a:xfrm>
          <a:off x="0" y="0"/>
          <a:ext cx="0" cy="0"/>
          <a:chOff x="0" y="0"/>
          <a:chExt cx="0" cy="0"/>
        </a:xfrm>
      </p:grpSpPr>
      <p:cxnSp>
        <p:nvCxnSpPr>
          <p:cNvPr id="242" name="Google Shape;242;p31"/>
          <p:cNvCxnSpPr/>
          <p:nvPr/>
        </p:nvCxnSpPr>
        <p:spPr>
          <a:xfrm rot="5400000">
            <a:off x="6464103" y="4678881"/>
            <a:ext cx="3626382" cy="0"/>
          </a:xfrm>
          <a:prstGeom prst="straightConnector1">
            <a:avLst/>
          </a:prstGeom>
          <a:noFill/>
          <a:ln w="9525" cap="flat" cmpd="sng">
            <a:solidFill>
              <a:srgbClr val="FFFFFF"/>
            </a:solidFill>
            <a:prstDash val="solid"/>
            <a:round/>
            <a:headEnd type="none" w="sm" len="sm"/>
            <a:tailEnd type="none" w="sm" len="sm"/>
          </a:ln>
        </p:spPr>
      </p:cxnSp>
      <p:cxnSp>
        <p:nvCxnSpPr>
          <p:cNvPr id="243" name="Google Shape;243;p31"/>
          <p:cNvCxnSpPr/>
          <p:nvPr/>
        </p:nvCxnSpPr>
        <p:spPr>
          <a:xfrm rot="5400000">
            <a:off x="2180160" y="189098"/>
            <a:ext cx="3626382" cy="0"/>
          </a:xfrm>
          <a:prstGeom prst="straightConnector1">
            <a:avLst/>
          </a:prstGeom>
          <a:noFill/>
          <a:ln w="9525" cap="flat" cmpd="sng">
            <a:solidFill>
              <a:srgbClr val="FFFFFF"/>
            </a:solidFill>
            <a:prstDash val="solid"/>
            <a:round/>
            <a:headEnd type="none" w="sm" len="sm"/>
            <a:tailEnd type="none" w="sm" len="sm"/>
          </a:ln>
        </p:spPr>
      </p:cxnSp>
      <p:sp>
        <p:nvSpPr>
          <p:cNvPr id="244" name="Google Shape;244;p31"/>
          <p:cNvSpPr txBox="1"/>
          <p:nvPr/>
        </p:nvSpPr>
        <p:spPr>
          <a:xfrm>
            <a:off x="4752722" y="1640200"/>
            <a:ext cx="2867400" cy="1107996"/>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fa-IR" sz="3000" b="1" i="0" u="none" strike="noStrike" cap="none" dirty="0">
                <a:solidFill>
                  <a:srgbClr val="FFFFFF"/>
                </a:solidFill>
                <a:latin typeface="Open Sans"/>
                <a:ea typeface="Open Sans"/>
                <a:cs typeface="B Nazanin" panose="00000700000000000000" pitchFamily="2" charset="-78"/>
                <a:sym typeface="Open Sans"/>
              </a:rPr>
              <a:t>در انتخاب شهردار و معاون شهرداری</a:t>
            </a:r>
            <a:endParaRPr sz="700" b="1" dirty="0">
              <a:latin typeface="Open Sans"/>
              <a:ea typeface="Open Sans"/>
              <a:cs typeface="B Nazanin" panose="00000700000000000000" pitchFamily="2" charset="-78"/>
              <a:sym typeface="Open Sans"/>
            </a:endParaRPr>
          </a:p>
        </p:txBody>
      </p:sp>
      <p:grpSp>
        <p:nvGrpSpPr>
          <p:cNvPr id="246" name="Google Shape;246;p31"/>
          <p:cNvGrpSpPr/>
          <p:nvPr/>
        </p:nvGrpSpPr>
        <p:grpSpPr>
          <a:xfrm>
            <a:off x="8837359" y="-72330"/>
            <a:ext cx="1543051" cy="5808473"/>
            <a:chOff x="0" y="-38100"/>
            <a:chExt cx="812800" cy="3059607"/>
          </a:xfrm>
        </p:grpSpPr>
        <p:sp>
          <p:nvSpPr>
            <p:cNvPr id="247" name="Google Shape;247;p31"/>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FFFFFF">
                <a:alpha val="13333"/>
              </a:srgbClr>
            </a:solidFill>
            <a:ln>
              <a:noFill/>
            </a:ln>
          </p:spPr>
          <p:txBody>
            <a:bodyPr/>
            <a:lstStyle/>
            <a:p>
              <a:endParaRPr lang="en-US"/>
            </a:p>
          </p:txBody>
        </p:sp>
        <p:sp>
          <p:nvSpPr>
            <p:cNvPr id="248" name="Google Shape;248;p31"/>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249" name="Google Shape;249;p31"/>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grpSp>
        <p:nvGrpSpPr>
          <p:cNvPr id="2" name="Google Shape;10751;p79">
            <a:extLst>
              <a:ext uri="{FF2B5EF4-FFF2-40B4-BE49-F238E27FC236}">
                <a16:creationId xmlns:a16="http://schemas.microsoft.com/office/drawing/2014/main" id="{B031FE6B-E507-0DD7-3F9B-FF7707829567}"/>
              </a:ext>
            </a:extLst>
          </p:cNvPr>
          <p:cNvGrpSpPr/>
          <p:nvPr/>
        </p:nvGrpSpPr>
        <p:grpSpPr>
          <a:xfrm>
            <a:off x="1035018" y="189098"/>
            <a:ext cx="1654930" cy="2115923"/>
            <a:chOff x="4899999" y="2882095"/>
            <a:chExt cx="271244" cy="346801"/>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grpSpPr>
        <p:sp>
          <p:nvSpPr>
            <p:cNvPr id="3" name="Google Shape;10752;p79">
              <a:extLst>
                <a:ext uri="{FF2B5EF4-FFF2-40B4-BE49-F238E27FC236}">
                  <a16:creationId xmlns:a16="http://schemas.microsoft.com/office/drawing/2014/main" id="{E3AC55C3-D406-908B-653C-0E8B91B91D8C}"/>
                </a:ext>
              </a:extLst>
            </p:cNvPr>
            <p:cNvSpPr/>
            <p:nvPr/>
          </p:nvSpPr>
          <p:spPr>
            <a:xfrm>
              <a:off x="4899999" y="2882095"/>
              <a:ext cx="271244" cy="346801"/>
            </a:xfrm>
            <a:custGeom>
              <a:avLst/>
              <a:gdLst/>
              <a:ahLst/>
              <a:cxnLst/>
              <a:rect l="l" t="t" r="r" b="b"/>
              <a:pathLst>
                <a:path w="8562" h="10947" extrusionOk="0">
                  <a:moveTo>
                    <a:pt x="6609" y="1719"/>
                  </a:moveTo>
                  <a:cubicBezTo>
                    <a:pt x="6823" y="1803"/>
                    <a:pt x="6954" y="2041"/>
                    <a:pt x="6906" y="2279"/>
                  </a:cubicBezTo>
                  <a:lnTo>
                    <a:pt x="6716" y="3398"/>
                  </a:lnTo>
                  <a:lnTo>
                    <a:pt x="6502" y="3398"/>
                  </a:lnTo>
                  <a:cubicBezTo>
                    <a:pt x="6406" y="3398"/>
                    <a:pt x="6323" y="3327"/>
                    <a:pt x="6323" y="3220"/>
                  </a:cubicBezTo>
                  <a:lnTo>
                    <a:pt x="6323" y="1969"/>
                  </a:lnTo>
                  <a:cubicBezTo>
                    <a:pt x="6454" y="1910"/>
                    <a:pt x="6537" y="1815"/>
                    <a:pt x="6609" y="1719"/>
                  </a:cubicBezTo>
                  <a:close/>
                  <a:moveTo>
                    <a:pt x="2287" y="1684"/>
                  </a:moveTo>
                  <a:cubicBezTo>
                    <a:pt x="2287" y="1743"/>
                    <a:pt x="2263" y="1803"/>
                    <a:pt x="2263" y="1862"/>
                  </a:cubicBezTo>
                  <a:lnTo>
                    <a:pt x="2263" y="3231"/>
                  </a:lnTo>
                  <a:cubicBezTo>
                    <a:pt x="2263" y="3339"/>
                    <a:pt x="2191" y="3410"/>
                    <a:pt x="2084" y="3410"/>
                  </a:cubicBezTo>
                  <a:lnTo>
                    <a:pt x="1882" y="3410"/>
                  </a:lnTo>
                  <a:lnTo>
                    <a:pt x="1691" y="2291"/>
                  </a:lnTo>
                  <a:cubicBezTo>
                    <a:pt x="1656" y="2136"/>
                    <a:pt x="1703" y="1981"/>
                    <a:pt x="1810" y="1862"/>
                  </a:cubicBezTo>
                  <a:cubicBezTo>
                    <a:pt x="1906" y="1743"/>
                    <a:pt x="2037" y="1684"/>
                    <a:pt x="2203" y="1684"/>
                  </a:cubicBezTo>
                  <a:close/>
                  <a:moveTo>
                    <a:pt x="6454" y="386"/>
                  </a:moveTo>
                  <a:lnTo>
                    <a:pt x="6454" y="386"/>
                  </a:lnTo>
                  <a:cubicBezTo>
                    <a:pt x="6597" y="815"/>
                    <a:pt x="6573" y="1207"/>
                    <a:pt x="6394" y="1469"/>
                  </a:cubicBezTo>
                  <a:cubicBezTo>
                    <a:pt x="6228" y="1707"/>
                    <a:pt x="5954" y="1862"/>
                    <a:pt x="5680" y="1862"/>
                  </a:cubicBezTo>
                  <a:lnTo>
                    <a:pt x="3120" y="1862"/>
                  </a:lnTo>
                  <a:cubicBezTo>
                    <a:pt x="3025" y="1862"/>
                    <a:pt x="2953" y="1934"/>
                    <a:pt x="2953" y="2029"/>
                  </a:cubicBezTo>
                  <a:cubicBezTo>
                    <a:pt x="2953" y="2112"/>
                    <a:pt x="3025" y="2184"/>
                    <a:pt x="3120" y="2184"/>
                  </a:cubicBezTo>
                  <a:lnTo>
                    <a:pt x="5680" y="2184"/>
                  </a:lnTo>
                  <a:cubicBezTo>
                    <a:pt x="5799" y="2184"/>
                    <a:pt x="5918" y="2172"/>
                    <a:pt x="6037" y="2136"/>
                  </a:cubicBezTo>
                  <a:lnTo>
                    <a:pt x="6037" y="3220"/>
                  </a:lnTo>
                  <a:cubicBezTo>
                    <a:pt x="6037" y="3493"/>
                    <a:pt x="6252" y="3720"/>
                    <a:pt x="6537" y="3720"/>
                  </a:cubicBezTo>
                  <a:lnTo>
                    <a:pt x="6787" y="3720"/>
                  </a:lnTo>
                  <a:cubicBezTo>
                    <a:pt x="6871" y="3720"/>
                    <a:pt x="6942" y="3755"/>
                    <a:pt x="6990" y="3815"/>
                  </a:cubicBezTo>
                  <a:cubicBezTo>
                    <a:pt x="7025" y="3874"/>
                    <a:pt x="7061" y="3946"/>
                    <a:pt x="7061" y="4017"/>
                  </a:cubicBezTo>
                  <a:cubicBezTo>
                    <a:pt x="7049" y="4148"/>
                    <a:pt x="6930" y="4255"/>
                    <a:pt x="6763" y="4255"/>
                  </a:cubicBezTo>
                  <a:lnTo>
                    <a:pt x="6692" y="4255"/>
                  </a:lnTo>
                  <a:lnTo>
                    <a:pt x="6692" y="4244"/>
                  </a:lnTo>
                  <a:cubicBezTo>
                    <a:pt x="6692" y="4148"/>
                    <a:pt x="6609" y="4077"/>
                    <a:pt x="6525" y="4077"/>
                  </a:cubicBezTo>
                  <a:cubicBezTo>
                    <a:pt x="6430" y="4077"/>
                    <a:pt x="6359" y="4148"/>
                    <a:pt x="6359" y="4244"/>
                  </a:cubicBezTo>
                  <a:cubicBezTo>
                    <a:pt x="6359" y="5375"/>
                    <a:pt x="5442" y="6315"/>
                    <a:pt x="4287" y="6315"/>
                  </a:cubicBezTo>
                  <a:cubicBezTo>
                    <a:pt x="3180" y="6315"/>
                    <a:pt x="2239" y="5387"/>
                    <a:pt x="2239" y="4244"/>
                  </a:cubicBezTo>
                  <a:cubicBezTo>
                    <a:pt x="2239" y="4160"/>
                    <a:pt x="2168" y="4077"/>
                    <a:pt x="2072" y="4077"/>
                  </a:cubicBezTo>
                  <a:cubicBezTo>
                    <a:pt x="1989" y="4077"/>
                    <a:pt x="1906" y="4160"/>
                    <a:pt x="1906" y="4244"/>
                  </a:cubicBezTo>
                  <a:lnTo>
                    <a:pt x="1906" y="4255"/>
                  </a:lnTo>
                  <a:lnTo>
                    <a:pt x="1822" y="4255"/>
                  </a:lnTo>
                  <a:cubicBezTo>
                    <a:pt x="1751" y="4255"/>
                    <a:pt x="1668" y="4232"/>
                    <a:pt x="1632" y="4172"/>
                  </a:cubicBezTo>
                  <a:cubicBezTo>
                    <a:pt x="1584" y="4113"/>
                    <a:pt x="1549" y="4041"/>
                    <a:pt x="1549" y="3958"/>
                  </a:cubicBezTo>
                  <a:cubicBezTo>
                    <a:pt x="1572" y="3827"/>
                    <a:pt x="1691" y="3720"/>
                    <a:pt x="1846" y="3720"/>
                  </a:cubicBezTo>
                  <a:lnTo>
                    <a:pt x="2084" y="3720"/>
                  </a:lnTo>
                  <a:cubicBezTo>
                    <a:pt x="2370" y="3720"/>
                    <a:pt x="2596" y="3505"/>
                    <a:pt x="2596" y="3220"/>
                  </a:cubicBezTo>
                  <a:lnTo>
                    <a:pt x="2596" y="1850"/>
                  </a:lnTo>
                  <a:cubicBezTo>
                    <a:pt x="2596" y="1184"/>
                    <a:pt x="3132" y="648"/>
                    <a:pt x="3799" y="648"/>
                  </a:cubicBezTo>
                  <a:lnTo>
                    <a:pt x="5335" y="648"/>
                  </a:lnTo>
                  <a:cubicBezTo>
                    <a:pt x="5894" y="648"/>
                    <a:pt x="6252" y="493"/>
                    <a:pt x="6454" y="386"/>
                  </a:cubicBezTo>
                  <a:close/>
                  <a:moveTo>
                    <a:pt x="5347" y="6387"/>
                  </a:moveTo>
                  <a:lnTo>
                    <a:pt x="5347" y="6911"/>
                  </a:lnTo>
                  <a:lnTo>
                    <a:pt x="4299" y="7494"/>
                  </a:lnTo>
                  <a:lnTo>
                    <a:pt x="3263" y="6911"/>
                  </a:lnTo>
                  <a:lnTo>
                    <a:pt x="3263" y="6387"/>
                  </a:lnTo>
                  <a:cubicBezTo>
                    <a:pt x="3573" y="6541"/>
                    <a:pt x="3930" y="6625"/>
                    <a:pt x="4299" y="6625"/>
                  </a:cubicBezTo>
                  <a:cubicBezTo>
                    <a:pt x="4680" y="6625"/>
                    <a:pt x="5037" y="6541"/>
                    <a:pt x="5347" y="6387"/>
                  </a:cubicBezTo>
                  <a:close/>
                  <a:moveTo>
                    <a:pt x="2846" y="7041"/>
                  </a:moveTo>
                  <a:lnTo>
                    <a:pt x="4073" y="7708"/>
                  </a:lnTo>
                  <a:lnTo>
                    <a:pt x="3704" y="8149"/>
                  </a:lnTo>
                  <a:cubicBezTo>
                    <a:pt x="3680" y="8184"/>
                    <a:pt x="3632" y="8208"/>
                    <a:pt x="3596" y="8220"/>
                  </a:cubicBezTo>
                  <a:cubicBezTo>
                    <a:pt x="3549" y="8220"/>
                    <a:pt x="3489" y="8208"/>
                    <a:pt x="3454" y="8173"/>
                  </a:cubicBezTo>
                  <a:lnTo>
                    <a:pt x="2620" y="7458"/>
                  </a:lnTo>
                  <a:lnTo>
                    <a:pt x="2834" y="7041"/>
                  </a:lnTo>
                  <a:close/>
                  <a:moveTo>
                    <a:pt x="5787" y="7041"/>
                  </a:moveTo>
                  <a:lnTo>
                    <a:pt x="6001" y="7458"/>
                  </a:lnTo>
                  <a:lnTo>
                    <a:pt x="5156" y="8173"/>
                  </a:lnTo>
                  <a:cubicBezTo>
                    <a:pt x="5109" y="8208"/>
                    <a:pt x="5061" y="8220"/>
                    <a:pt x="5013" y="8220"/>
                  </a:cubicBezTo>
                  <a:cubicBezTo>
                    <a:pt x="4978" y="8220"/>
                    <a:pt x="4930" y="8184"/>
                    <a:pt x="4894" y="8149"/>
                  </a:cubicBezTo>
                  <a:lnTo>
                    <a:pt x="4561" y="7708"/>
                  </a:lnTo>
                  <a:lnTo>
                    <a:pt x="5775" y="7041"/>
                  </a:lnTo>
                  <a:close/>
                  <a:moveTo>
                    <a:pt x="6497" y="1"/>
                  </a:moveTo>
                  <a:cubicBezTo>
                    <a:pt x="6455" y="1"/>
                    <a:pt x="6419" y="16"/>
                    <a:pt x="6382" y="53"/>
                  </a:cubicBezTo>
                  <a:cubicBezTo>
                    <a:pt x="6382" y="53"/>
                    <a:pt x="6073" y="350"/>
                    <a:pt x="5299" y="350"/>
                  </a:cubicBezTo>
                  <a:lnTo>
                    <a:pt x="3763" y="350"/>
                  </a:lnTo>
                  <a:cubicBezTo>
                    <a:pt x="3096" y="350"/>
                    <a:pt x="2537" y="779"/>
                    <a:pt x="2322" y="1374"/>
                  </a:cubicBezTo>
                  <a:lnTo>
                    <a:pt x="2180" y="1374"/>
                  </a:lnTo>
                  <a:cubicBezTo>
                    <a:pt x="1918" y="1374"/>
                    <a:pt x="1703" y="1481"/>
                    <a:pt x="1537" y="1672"/>
                  </a:cubicBezTo>
                  <a:cubicBezTo>
                    <a:pt x="1370" y="1862"/>
                    <a:pt x="1310" y="2112"/>
                    <a:pt x="1346" y="2350"/>
                  </a:cubicBezTo>
                  <a:lnTo>
                    <a:pt x="1537" y="3505"/>
                  </a:lnTo>
                  <a:cubicBezTo>
                    <a:pt x="1358" y="3589"/>
                    <a:pt x="1239" y="3755"/>
                    <a:pt x="1203" y="3958"/>
                  </a:cubicBezTo>
                  <a:cubicBezTo>
                    <a:pt x="1191" y="4124"/>
                    <a:pt x="1251" y="4291"/>
                    <a:pt x="1358" y="4422"/>
                  </a:cubicBezTo>
                  <a:cubicBezTo>
                    <a:pt x="1465" y="4541"/>
                    <a:pt x="1620" y="4613"/>
                    <a:pt x="1787" y="4613"/>
                  </a:cubicBezTo>
                  <a:lnTo>
                    <a:pt x="1906" y="4613"/>
                  </a:lnTo>
                  <a:cubicBezTo>
                    <a:pt x="2001" y="5291"/>
                    <a:pt x="2382" y="5863"/>
                    <a:pt x="2906" y="6244"/>
                  </a:cubicBezTo>
                  <a:lnTo>
                    <a:pt x="2906" y="6780"/>
                  </a:lnTo>
                  <a:cubicBezTo>
                    <a:pt x="2876" y="6762"/>
                    <a:pt x="2843" y="6753"/>
                    <a:pt x="2808" y="6753"/>
                  </a:cubicBezTo>
                  <a:cubicBezTo>
                    <a:pt x="2772" y="6753"/>
                    <a:pt x="2733" y="6762"/>
                    <a:pt x="2692" y="6780"/>
                  </a:cubicBezTo>
                  <a:cubicBezTo>
                    <a:pt x="2608" y="6803"/>
                    <a:pt x="2537" y="6863"/>
                    <a:pt x="2501" y="6934"/>
                  </a:cubicBezTo>
                  <a:lnTo>
                    <a:pt x="2251" y="7434"/>
                  </a:lnTo>
                  <a:lnTo>
                    <a:pt x="846" y="7851"/>
                  </a:lnTo>
                  <a:cubicBezTo>
                    <a:pt x="346" y="7994"/>
                    <a:pt x="1" y="8458"/>
                    <a:pt x="1" y="8982"/>
                  </a:cubicBezTo>
                  <a:lnTo>
                    <a:pt x="1" y="10780"/>
                  </a:lnTo>
                  <a:cubicBezTo>
                    <a:pt x="1" y="10863"/>
                    <a:pt x="72" y="10947"/>
                    <a:pt x="167" y="10947"/>
                  </a:cubicBezTo>
                  <a:cubicBezTo>
                    <a:pt x="251" y="10947"/>
                    <a:pt x="334" y="10863"/>
                    <a:pt x="334" y="10780"/>
                  </a:cubicBezTo>
                  <a:lnTo>
                    <a:pt x="334" y="8982"/>
                  </a:lnTo>
                  <a:cubicBezTo>
                    <a:pt x="334" y="8589"/>
                    <a:pt x="584" y="8244"/>
                    <a:pt x="953" y="8149"/>
                  </a:cubicBezTo>
                  <a:lnTo>
                    <a:pt x="1549" y="7958"/>
                  </a:lnTo>
                  <a:lnTo>
                    <a:pt x="1549" y="10756"/>
                  </a:lnTo>
                  <a:cubicBezTo>
                    <a:pt x="1549" y="10851"/>
                    <a:pt x="1620" y="10923"/>
                    <a:pt x="1715" y="10923"/>
                  </a:cubicBezTo>
                  <a:cubicBezTo>
                    <a:pt x="1799" y="10923"/>
                    <a:pt x="1882" y="10851"/>
                    <a:pt x="1882" y="10756"/>
                  </a:cubicBezTo>
                  <a:lnTo>
                    <a:pt x="1882" y="7863"/>
                  </a:lnTo>
                  <a:lnTo>
                    <a:pt x="2239" y="7756"/>
                  </a:lnTo>
                  <a:lnTo>
                    <a:pt x="2239" y="10756"/>
                  </a:lnTo>
                  <a:cubicBezTo>
                    <a:pt x="2239" y="10851"/>
                    <a:pt x="2311" y="10923"/>
                    <a:pt x="2394" y="10923"/>
                  </a:cubicBezTo>
                  <a:cubicBezTo>
                    <a:pt x="2489" y="10923"/>
                    <a:pt x="2561" y="10851"/>
                    <a:pt x="2561" y="10756"/>
                  </a:cubicBezTo>
                  <a:lnTo>
                    <a:pt x="2561" y="7863"/>
                  </a:lnTo>
                  <a:lnTo>
                    <a:pt x="3227" y="8423"/>
                  </a:lnTo>
                  <a:cubicBezTo>
                    <a:pt x="3323" y="8494"/>
                    <a:pt x="3442" y="8542"/>
                    <a:pt x="3561" y="8542"/>
                  </a:cubicBezTo>
                  <a:lnTo>
                    <a:pt x="3608" y="8542"/>
                  </a:lnTo>
                  <a:cubicBezTo>
                    <a:pt x="3739" y="8530"/>
                    <a:pt x="3858" y="8470"/>
                    <a:pt x="3942" y="8351"/>
                  </a:cubicBezTo>
                  <a:lnTo>
                    <a:pt x="4287" y="7934"/>
                  </a:lnTo>
                  <a:lnTo>
                    <a:pt x="4632" y="8351"/>
                  </a:lnTo>
                  <a:cubicBezTo>
                    <a:pt x="4716" y="8458"/>
                    <a:pt x="4835" y="8530"/>
                    <a:pt x="4978" y="8542"/>
                  </a:cubicBezTo>
                  <a:lnTo>
                    <a:pt x="5013" y="8542"/>
                  </a:lnTo>
                  <a:cubicBezTo>
                    <a:pt x="5132" y="8542"/>
                    <a:pt x="5251" y="8494"/>
                    <a:pt x="5347" y="8423"/>
                  </a:cubicBezTo>
                  <a:lnTo>
                    <a:pt x="6180" y="7708"/>
                  </a:lnTo>
                  <a:lnTo>
                    <a:pt x="6680" y="7863"/>
                  </a:lnTo>
                  <a:lnTo>
                    <a:pt x="6680" y="10756"/>
                  </a:lnTo>
                  <a:cubicBezTo>
                    <a:pt x="6680" y="10851"/>
                    <a:pt x="6763" y="10923"/>
                    <a:pt x="6847" y="10923"/>
                  </a:cubicBezTo>
                  <a:cubicBezTo>
                    <a:pt x="6942" y="10923"/>
                    <a:pt x="7014" y="10851"/>
                    <a:pt x="7014" y="10756"/>
                  </a:cubicBezTo>
                  <a:lnTo>
                    <a:pt x="7014" y="7958"/>
                  </a:lnTo>
                  <a:lnTo>
                    <a:pt x="7609" y="8149"/>
                  </a:lnTo>
                  <a:cubicBezTo>
                    <a:pt x="7978" y="8244"/>
                    <a:pt x="8228" y="8589"/>
                    <a:pt x="8228" y="8982"/>
                  </a:cubicBezTo>
                  <a:lnTo>
                    <a:pt x="8228" y="10780"/>
                  </a:lnTo>
                  <a:cubicBezTo>
                    <a:pt x="8228" y="10863"/>
                    <a:pt x="8311" y="10947"/>
                    <a:pt x="8395" y="10947"/>
                  </a:cubicBezTo>
                  <a:cubicBezTo>
                    <a:pt x="8490" y="10947"/>
                    <a:pt x="8561" y="10863"/>
                    <a:pt x="8561" y="10780"/>
                  </a:cubicBezTo>
                  <a:lnTo>
                    <a:pt x="8561" y="8982"/>
                  </a:lnTo>
                  <a:cubicBezTo>
                    <a:pt x="8561" y="8423"/>
                    <a:pt x="8216" y="7970"/>
                    <a:pt x="7716" y="7815"/>
                  </a:cubicBezTo>
                  <a:lnTo>
                    <a:pt x="6311" y="7399"/>
                  </a:lnTo>
                  <a:lnTo>
                    <a:pt x="6061" y="6911"/>
                  </a:lnTo>
                  <a:cubicBezTo>
                    <a:pt x="6013" y="6839"/>
                    <a:pt x="5942" y="6756"/>
                    <a:pt x="5871" y="6744"/>
                  </a:cubicBezTo>
                  <a:cubicBezTo>
                    <a:pt x="5829" y="6738"/>
                    <a:pt x="5793" y="6735"/>
                    <a:pt x="5759" y="6735"/>
                  </a:cubicBezTo>
                  <a:cubicBezTo>
                    <a:pt x="5725" y="6735"/>
                    <a:pt x="5692" y="6738"/>
                    <a:pt x="5656" y="6744"/>
                  </a:cubicBezTo>
                  <a:lnTo>
                    <a:pt x="5656" y="6208"/>
                  </a:lnTo>
                  <a:cubicBezTo>
                    <a:pt x="6192" y="5839"/>
                    <a:pt x="6561" y="5256"/>
                    <a:pt x="6656" y="4589"/>
                  </a:cubicBezTo>
                  <a:lnTo>
                    <a:pt x="6740" y="4589"/>
                  </a:lnTo>
                  <a:cubicBezTo>
                    <a:pt x="7061" y="4589"/>
                    <a:pt x="7323" y="4351"/>
                    <a:pt x="7359" y="4065"/>
                  </a:cubicBezTo>
                  <a:cubicBezTo>
                    <a:pt x="7371" y="3898"/>
                    <a:pt x="7311" y="3743"/>
                    <a:pt x="7204" y="3601"/>
                  </a:cubicBezTo>
                  <a:cubicBezTo>
                    <a:pt x="7156" y="3541"/>
                    <a:pt x="7097" y="3505"/>
                    <a:pt x="7025" y="3470"/>
                  </a:cubicBezTo>
                  <a:lnTo>
                    <a:pt x="7216" y="2339"/>
                  </a:lnTo>
                  <a:cubicBezTo>
                    <a:pt x="7275" y="1969"/>
                    <a:pt x="7085" y="1600"/>
                    <a:pt x="6763" y="1446"/>
                  </a:cubicBezTo>
                  <a:cubicBezTo>
                    <a:pt x="6906" y="1065"/>
                    <a:pt x="6883" y="600"/>
                    <a:pt x="6656" y="88"/>
                  </a:cubicBezTo>
                  <a:cubicBezTo>
                    <a:pt x="6644" y="53"/>
                    <a:pt x="6597" y="5"/>
                    <a:pt x="6537" y="5"/>
                  </a:cubicBezTo>
                  <a:cubicBezTo>
                    <a:pt x="6523" y="2"/>
                    <a:pt x="6510" y="1"/>
                    <a:pt x="649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0753;p79">
              <a:extLst>
                <a:ext uri="{FF2B5EF4-FFF2-40B4-BE49-F238E27FC236}">
                  <a16:creationId xmlns:a16="http://schemas.microsoft.com/office/drawing/2014/main" id="{993B55B4-5A7B-9625-B381-57475FEDDA5D}"/>
                </a:ext>
              </a:extLst>
            </p:cNvPr>
            <p:cNvSpPr/>
            <p:nvPr/>
          </p:nvSpPr>
          <p:spPr>
            <a:xfrm>
              <a:off x="5090491" y="3141364"/>
              <a:ext cx="10581" cy="86391"/>
            </a:xfrm>
            <a:custGeom>
              <a:avLst/>
              <a:gdLst/>
              <a:ahLst/>
              <a:cxnLst/>
              <a:rect l="l" t="t" r="r" b="b"/>
              <a:pathLst>
                <a:path w="334" h="2727" extrusionOk="0">
                  <a:moveTo>
                    <a:pt x="167" y="0"/>
                  </a:moveTo>
                  <a:cubicBezTo>
                    <a:pt x="84" y="0"/>
                    <a:pt x="0" y="84"/>
                    <a:pt x="0" y="167"/>
                  </a:cubicBezTo>
                  <a:lnTo>
                    <a:pt x="0" y="2560"/>
                  </a:lnTo>
                  <a:cubicBezTo>
                    <a:pt x="0" y="2656"/>
                    <a:pt x="84" y="2727"/>
                    <a:pt x="167" y="2727"/>
                  </a:cubicBezTo>
                  <a:cubicBezTo>
                    <a:pt x="262" y="2727"/>
                    <a:pt x="334" y="2656"/>
                    <a:pt x="334" y="2560"/>
                  </a:cubicBezTo>
                  <a:lnTo>
                    <a:pt x="334" y="167"/>
                  </a:lnTo>
                  <a:cubicBezTo>
                    <a:pt x="334" y="84"/>
                    <a:pt x="262"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0754;p79">
              <a:extLst>
                <a:ext uri="{FF2B5EF4-FFF2-40B4-BE49-F238E27FC236}">
                  <a16:creationId xmlns:a16="http://schemas.microsoft.com/office/drawing/2014/main" id="{B7ECF014-3337-94B0-A629-E937B1DD7E5B}"/>
                </a:ext>
              </a:extLst>
            </p:cNvPr>
            <p:cNvSpPr/>
            <p:nvPr/>
          </p:nvSpPr>
          <p:spPr>
            <a:xfrm>
              <a:off x="5031281" y="3152294"/>
              <a:ext cx="10201" cy="10613"/>
            </a:xfrm>
            <a:custGeom>
              <a:avLst/>
              <a:gdLst/>
              <a:ahLst/>
              <a:cxnLst/>
              <a:rect l="l" t="t" r="r" b="b"/>
              <a:pathLst>
                <a:path w="322" h="335" extrusionOk="0">
                  <a:moveTo>
                    <a:pt x="155" y="1"/>
                  </a:moveTo>
                  <a:cubicBezTo>
                    <a:pt x="72" y="1"/>
                    <a:pt x="0" y="72"/>
                    <a:pt x="0" y="167"/>
                  </a:cubicBezTo>
                  <a:cubicBezTo>
                    <a:pt x="0" y="251"/>
                    <a:pt x="72" y="334"/>
                    <a:pt x="155" y="334"/>
                  </a:cubicBezTo>
                  <a:cubicBezTo>
                    <a:pt x="250" y="334"/>
                    <a:pt x="322" y="251"/>
                    <a:pt x="322" y="167"/>
                  </a:cubicBezTo>
                  <a:cubicBezTo>
                    <a:pt x="322" y="72"/>
                    <a:pt x="250" y="1"/>
                    <a:pt x="15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755;p79">
              <a:extLst>
                <a:ext uri="{FF2B5EF4-FFF2-40B4-BE49-F238E27FC236}">
                  <a16:creationId xmlns:a16="http://schemas.microsoft.com/office/drawing/2014/main" id="{AF0A9E91-52A4-1377-36D1-51F2331F98BD}"/>
                </a:ext>
              </a:extLst>
            </p:cNvPr>
            <p:cNvSpPr/>
            <p:nvPr/>
          </p:nvSpPr>
          <p:spPr>
            <a:xfrm>
              <a:off x="5031281" y="3217555"/>
              <a:ext cx="10201" cy="10201"/>
            </a:xfrm>
            <a:custGeom>
              <a:avLst/>
              <a:gdLst/>
              <a:ahLst/>
              <a:cxnLst/>
              <a:rect l="l" t="t" r="r" b="b"/>
              <a:pathLst>
                <a:path w="322" h="322" extrusionOk="0">
                  <a:moveTo>
                    <a:pt x="155" y="1"/>
                  </a:moveTo>
                  <a:cubicBezTo>
                    <a:pt x="72" y="1"/>
                    <a:pt x="0" y="72"/>
                    <a:pt x="0" y="155"/>
                  </a:cubicBezTo>
                  <a:cubicBezTo>
                    <a:pt x="0" y="251"/>
                    <a:pt x="72" y="322"/>
                    <a:pt x="155" y="322"/>
                  </a:cubicBezTo>
                  <a:cubicBezTo>
                    <a:pt x="250" y="322"/>
                    <a:pt x="322" y="251"/>
                    <a:pt x="322" y="155"/>
                  </a:cubicBezTo>
                  <a:cubicBezTo>
                    <a:pt x="322" y="72"/>
                    <a:pt x="250" y="1"/>
                    <a:pt x="15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0756;p79">
              <a:extLst>
                <a:ext uri="{FF2B5EF4-FFF2-40B4-BE49-F238E27FC236}">
                  <a16:creationId xmlns:a16="http://schemas.microsoft.com/office/drawing/2014/main" id="{77AC4D97-7876-FA58-B374-7B1629EFA0D0}"/>
                </a:ext>
              </a:extLst>
            </p:cNvPr>
            <p:cNvSpPr/>
            <p:nvPr/>
          </p:nvSpPr>
          <p:spPr>
            <a:xfrm>
              <a:off x="5031281" y="3184734"/>
              <a:ext cx="10201" cy="10613"/>
            </a:xfrm>
            <a:custGeom>
              <a:avLst/>
              <a:gdLst/>
              <a:ahLst/>
              <a:cxnLst/>
              <a:rect l="l" t="t" r="r" b="b"/>
              <a:pathLst>
                <a:path w="322" h="335" extrusionOk="0">
                  <a:moveTo>
                    <a:pt x="155" y="1"/>
                  </a:moveTo>
                  <a:cubicBezTo>
                    <a:pt x="72" y="1"/>
                    <a:pt x="0" y="84"/>
                    <a:pt x="0" y="167"/>
                  </a:cubicBezTo>
                  <a:cubicBezTo>
                    <a:pt x="0" y="263"/>
                    <a:pt x="72" y="334"/>
                    <a:pt x="155" y="334"/>
                  </a:cubicBezTo>
                  <a:cubicBezTo>
                    <a:pt x="250" y="334"/>
                    <a:pt x="322" y="263"/>
                    <a:pt x="322" y="167"/>
                  </a:cubicBezTo>
                  <a:cubicBezTo>
                    <a:pt x="322" y="84"/>
                    <a:pt x="250" y="1"/>
                    <a:pt x="15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757;p79">
              <a:extLst>
                <a:ext uri="{FF2B5EF4-FFF2-40B4-BE49-F238E27FC236}">
                  <a16:creationId xmlns:a16="http://schemas.microsoft.com/office/drawing/2014/main" id="{6584667A-F7A5-E6B1-6115-8D6F72BAB0DB}"/>
                </a:ext>
              </a:extLst>
            </p:cNvPr>
            <p:cNvSpPr/>
            <p:nvPr/>
          </p:nvSpPr>
          <p:spPr>
            <a:xfrm>
              <a:off x="4998841" y="2995763"/>
              <a:ext cx="10201" cy="15492"/>
            </a:xfrm>
            <a:custGeom>
              <a:avLst/>
              <a:gdLst/>
              <a:ahLst/>
              <a:cxnLst/>
              <a:rect l="l" t="t" r="r" b="b"/>
              <a:pathLst>
                <a:path w="322" h="489" extrusionOk="0">
                  <a:moveTo>
                    <a:pt x="155" y="1"/>
                  </a:moveTo>
                  <a:cubicBezTo>
                    <a:pt x="72" y="1"/>
                    <a:pt x="0" y="72"/>
                    <a:pt x="0" y="167"/>
                  </a:cubicBezTo>
                  <a:lnTo>
                    <a:pt x="0" y="334"/>
                  </a:lnTo>
                  <a:cubicBezTo>
                    <a:pt x="0" y="417"/>
                    <a:pt x="72" y="489"/>
                    <a:pt x="155" y="489"/>
                  </a:cubicBezTo>
                  <a:cubicBezTo>
                    <a:pt x="250" y="489"/>
                    <a:pt x="322" y="417"/>
                    <a:pt x="322" y="334"/>
                  </a:cubicBezTo>
                  <a:lnTo>
                    <a:pt x="322" y="167"/>
                  </a:lnTo>
                  <a:cubicBezTo>
                    <a:pt x="322" y="72"/>
                    <a:pt x="250" y="1"/>
                    <a:pt x="15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758;p79">
              <a:extLst>
                <a:ext uri="{FF2B5EF4-FFF2-40B4-BE49-F238E27FC236}">
                  <a16:creationId xmlns:a16="http://schemas.microsoft.com/office/drawing/2014/main" id="{8A1695EE-C63A-5621-4669-9C0DA8B3C5A2}"/>
                </a:ext>
              </a:extLst>
            </p:cNvPr>
            <p:cNvSpPr/>
            <p:nvPr/>
          </p:nvSpPr>
          <p:spPr>
            <a:xfrm>
              <a:off x="5063721" y="2995763"/>
              <a:ext cx="10201" cy="15492"/>
            </a:xfrm>
            <a:custGeom>
              <a:avLst/>
              <a:gdLst/>
              <a:ahLst/>
              <a:cxnLst/>
              <a:rect l="l" t="t" r="r" b="b"/>
              <a:pathLst>
                <a:path w="322" h="489" extrusionOk="0">
                  <a:moveTo>
                    <a:pt x="167" y="1"/>
                  </a:moveTo>
                  <a:cubicBezTo>
                    <a:pt x="71" y="1"/>
                    <a:pt x="0" y="72"/>
                    <a:pt x="0" y="167"/>
                  </a:cubicBezTo>
                  <a:lnTo>
                    <a:pt x="0" y="334"/>
                  </a:lnTo>
                  <a:cubicBezTo>
                    <a:pt x="0" y="417"/>
                    <a:pt x="71" y="489"/>
                    <a:pt x="167" y="489"/>
                  </a:cubicBezTo>
                  <a:cubicBezTo>
                    <a:pt x="250" y="489"/>
                    <a:pt x="322" y="417"/>
                    <a:pt x="322" y="334"/>
                  </a:cubicBezTo>
                  <a:lnTo>
                    <a:pt x="322" y="167"/>
                  </a:lnTo>
                  <a:cubicBezTo>
                    <a:pt x="322" y="72"/>
                    <a:pt x="250"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759;p79">
              <a:extLst>
                <a:ext uri="{FF2B5EF4-FFF2-40B4-BE49-F238E27FC236}">
                  <a16:creationId xmlns:a16="http://schemas.microsoft.com/office/drawing/2014/main" id="{A6EC94E5-B61A-E4EA-9968-90318426F6F7}"/>
                </a:ext>
              </a:extLst>
            </p:cNvPr>
            <p:cNvSpPr/>
            <p:nvPr/>
          </p:nvSpPr>
          <p:spPr>
            <a:xfrm>
              <a:off x="4993550" y="2979163"/>
              <a:ext cx="21162" cy="10613"/>
            </a:xfrm>
            <a:custGeom>
              <a:avLst/>
              <a:gdLst/>
              <a:ahLst/>
              <a:cxnLst/>
              <a:rect l="l" t="t" r="r" b="b"/>
              <a:pathLst>
                <a:path w="668" h="335" extrusionOk="0">
                  <a:moveTo>
                    <a:pt x="167" y="1"/>
                  </a:moveTo>
                  <a:cubicBezTo>
                    <a:pt x="72" y="1"/>
                    <a:pt x="0" y="84"/>
                    <a:pt x="0" y="167"/>
                  </a:cubicBezTo>
                  <a:cubicBezTo>
                    <a:pt x="0" y="263"/>
                    <a:pt x="72" y="334"/>
                    <a:pt x="167" y="334"/>
                  </a:cubicBezTo>
                  <a:lnTo>
                    <a:pt x="501" y="334"/>
                  </a:lnTo>
                  <a:cubicBezTo>
                    <a:pt x="596" y="334"/>
                    <a:pt x="667" y="263"/>
                    <a:pt x="667" y="167"/>
                  </a:cubicBezTo>
                  <a:cubicBezTo>
                    <a:pt x="655" y="84"/>
                    <a:pt x="584" y="1"/>
                    <a:pt x="50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0760;p79">
              <a:extLst>
                <a:ext uri="{FF2B5EF4-FFF2-40B4-BE49-F238E27FC236}">
                  <a16:creationId xmlns:a16="http://schemas.microsoft.com/office/drawing/2014/main" id="{B6087BF1-A241-602E-56FA-8B03BE50B0CB}"/>
                </a:ext>
              </a:extLst>
            </p:cNvPr>
            <p:cNvSpPr/>
            <p:nvPr/>
          </p:nvSpPr>
          <p:spPr>
            <a:xfrm>
              <a:off x="5058051" y="2979163"/>
              <a:ext cx="21162" cy="10613"/>
            </a:xfrm>
            <a:custGeom>
              <a:avLst/>
              <a:gdLst/>
              <a:ahLst/>
              <a:cxnLst/>
              <a:rect l="l" t="t" r="r" b="b"/>
              <a:pathLst>
                <a:path w="668" h="335" extrusionOk="0">
                  <a:moveTo>
                    <a:pt x="167" y="1"/>
                  </a:moveTo>
                  <a:cubicBezTo>
                    <a:pt x="72" y="1"/>
                    <a:pt x="0" y="84"/>
                    <a:pt x="0" y="167"/>
                  </a:cubicBezTo>
                  <a:cubicBezTo>
                    <a:pt x="0" y="263"/>
                    <a:pt x="72" y="334"/>
                    <a:pt x="167" y="334"/>
                  </a:cubicBezTo>
                  <a:lnTo>
                    <a:pt x="501" y="334"/>
                  </a:lnTo>
                  <a:cubicBezTo>
                    <a:pt x="596" y="334"/>
                    <a:pt x="667" y="263"/>
                    <a:pt x="667" y="167"/>
                  </a:cubicBezTo>
                  <a:cubicBezTo>
                    <a:pt x="667" y="84"/>
                    <a:pt x="596" y="1"/>
                    <a:pt x="50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761;p79">
              <a:extLst>
                <a:ext uri="{FF2B5EF4-FFF2-40B4-BE49-F238E27FC236}">
                  <a16:creationId xmlns:a16="http://schemas.microsoft.com/office/drawing/2014/main" id="{88B1635F-0015-A453-BD55-DD84CFC8950A}"/>
                </a:ext>
              </a:extLst>
            </p:cNvPr>
            <p:cNvSpPr/>
            <p:nvPr/>
          </p:nvSpPr>
          <p:spPr>
            <a:xfrm>
              <a:off x="5007141" y="3025574"/>
              <a:ext cx="58481" cy="32092"/>
            </a:xfrm>
            <a:custGeom>
              <a:avLst/>
              <a:gdLst/>
              <a:ahLst/>
              <a:cxnLst/>
              <a:rect l="l" t="t" r="r" b="b"/>
              <a:pathLst>
                <a:path w="1846" h="1013" extrusionOk="0">
                  <a:moveTo>
                    <a:pt x="1500" y="322"/>
                  </a:moveTo>
                  <a:cubicBezTo>
                    <a:pt x="1429" y="536"/>
                    <a:pt x="1191" y="679"/>
                    <a:pt x="917" y="679"/>
                  </a:cubicBezTo>
                  <a:cubicBezTo>
                    <a:pt x="655" y="679"/>
                    <a:pt x="417" y="536"/>
                    <a:pt x="345" y="322"/>
                  </a:cubicBezTo>
                  <a:close/>
                  <a:moveTo>
                    <a:pt x="167" y="0"/>
                  </a:moveTo>
                  <a:cubicBezTo>
                    <a:pt x="72" y="0"/>
                    <a:pt x="0" y="72"/>
                    <a:pt x="0" y="167"/>
                  </a:cubicBezTo>
                  <a:cubicBezTo>
                    <a:pt x="0" y="619"/>
                    <a:pt x="417" y="1012"/>
                    <a:pt x="929" y="1012"/>
                  </a:cubicBezTo>
                  <a:cubicBezTo>
                    <a:pt x="1429" y="1012"/>
                    <a:pt x="1846" y="643"/>
                    <a:pt x="1846" y="167"/>
                  </a:cubicBezTo>
                  <a:cubicBezTo>
                    <a:pt x="1846" y="72"/>
                    <a:pt x="1786" y="0"/>
                    <a:pt x="170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 name="TextBox 12">
            <a:extLst>
              <a:ext uri="{FF2B5EF4-FFF2-40B4-BE49-F238E27FC236}">
                <a16:creationId xmlns:a16="http://schemas.microsoft.com/office/drawing/2014/main" id="{9A1C835D-2616-C561-FCD0-846416E271E7}"/>
              </a:ext>
            </a:extLst>
          </p:cNvPr>
          <p:cNvSpPr txBox="1"/>
          <p:nvPr/>
        </p:nvSpPr>
        <p:spPr>
          <a:xfrm>
            <a:off x="693336" y="3536120"/>
            <a:ext cx="3993224" cy="1015663"/>
          </a:xfrm>
          <a:prstGeom prst="rect">
            <a:avLst/>
          </a:prstGeom>
          <a:noFill/>
        </p:spPr>
        <p:txBody>
          <a:bodyPr wrap="square" rtlCol="0">
            <a:spAutoFit/>
          </a:bodyPr>
          <a:lstStyle/>
          <a:p>
            <a:pPr algn="r" rtl="1"/>
            <a:r>
              <a:rPr lang="fa-IR" sz="1200" dirty="0">
                <a:solidFill>
                  <a:schemeClr val="bg1"/>
                </a:solidFill>
              </a:rPr>
              <a:t>انجمن شهر مکلف است پس از رسمیت یافتن، بلافاصله و قبل از شروع بکار، یک نفر را که عضو انجمن شهر نباشد و واجد شرایط  (آئین نامه ی فرستده شده ی وزارت کشور) تعیین شده باشد، برای مدت دو سال با رای اکثریت انجمن شهر(بصورت رای مخفی) به سمت شهردار انتخاب و به فرماندار اعلام کند.</a:t>
            </a:r>
            <a:endParaRPr lang="en-US" sz="1200"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2"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2"/>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40"/>
        <p:cNvGrpSpPr/>
        <p:nvPr/>
      </p:nvGrpSpPr>
      <p:grpSpPr>
        <a:xfrm>
          <a:off x="0" y="0"/>
          <a:ext cx="0" cy="0"/>
          <a:chOff x="0" y="0"/>
          <a:chExt cx="0" cy="0"/>
        </a:xfrm>
      </p:grpSpPr>
      <p:cxnSp>
        <p:nvCxnSpPr>
          <p:cNvPr id="242" name="Google Shape;242;p31"/>
          <p:cNvCxnSpPr/>
          <p:nvPr/>
        </p:nvCxnSpPr>
        <p:spPr>
          <a:xfrm rot="5400000">
            <a:off x="6464103" y="4678881"/>
            <a:ext cx="3626382" cy="0"/>
          </a:xfrm>
          <a:prstGeom prst="straightConnector1">
            <a:avLst/>
          </a:prstGeom>
          <a:noFill/>
          <a:ln w="9525" cap="flat" cmpd="sng">
            <a:solidFill>
              <a:srgbClr val="FFFFFF"/>
            </a:solidFill>
            <a:prstDash val="solid"/>
            <a:round/>
            <a:headEnd type="none" w="sm" len="sm"/>
            <a:tailEnd type="none" w="sm" len="sm"/>
          </a:ln>
        </p:spPr>
      </p:cxnSp>
      <p:cxnSp>
        <p:nvCxnSpPr>
          <p:cNvPr id="243" name="Google Shape;243;p31"/>
          <p:cNvCxnSpPr/>
          <p:nvPr/>
        </p:nvCxnSpPr>
        <p:spPr>
          <a:xfrm rot="5400000">
            <a:off x="2180160" y="189098"/>
            <a:ext cx="3626382" cy="0"/>
          </a:xfrm>
          <a:prstGeom prst="straightConnector1">
            <a:avLst/>
          </a:prstGeom>
          <a:noFill/>
          <a:ln w="9525" cap="flat" cmpd="sng">
            <a:solidFill>
              <a:srgbClr val="FFFFFF"/>
            </a:solidFill>
            <a:prstDash val="solid"/>
            <a:round/>
            <a:headEnd type="none" w="sm" len="sm"/>
            <a:tailEnd type="none" w="sm" len="sm"/>
          </a:ln>
        </p:spPr>
      </p:cxnSp>
      <p:sp>
        <p:nvSpPr>
          <p:cNvPr id="244" name="Google Shape;244;p31"/>
          <p:cNvSpPr txBox="1"/>
          <p:nvPr/>
        </p:nvSpPr>
        <p:spPr>
          <a:xfrm>
            <a:off x="4752722" y="1640200"/>
            <a:ext cx="2867400" cy="55399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fa-IR" sz="3000" b="1" dirty="0">
                <a:solidFill>
                  <a:srgbClr val="FFFFFF"/>
                </a:solidFill>
                <a:latin typeface="Open Sans"/>
                <a:ea typeface="Open Sans"/>
                <a:cs typeface="B Nazanin" panose="00000700000000000000" pitchFamily="2" charset="-78"/>
                <a:sym typeface="Open Sans"/>
              </a:rPr>
              <a:t>پایان شهردار</a:t>
            </a:r>
            <a:endParaRPr sz="700" b="1" dirty="0">
              <a:latin typeface="Open Sans"/>
              <a:ea typeface="Open Sans"/>
              <a:cs typeface="B Nazanin" panose="00000700000000000000" pitchFamily="2" charset="-78"/>
              <a:sym typeface="Open Sans"/>
            </a:endParaRPr>
          </a:p>
        </p:txBody>
      </p:sp>
      <p:grpSp>
        <p:nvGrpSpPr>
          <p:cNvPr id="246" name="Google Shape;246;p31"/>
          <p:cNvGrpSpPr/>
          <p:nvPr/>
        </p:nvGrpSpPr>
        <p:grpSpPr>
          <a:xfrm>
            <a:off x="8837359" y="-72330"/>
            <a:ext cx="1543051" cy="5808473"/>
            <a:chOff x="0" y="-38100"/>
            <a:chExt cx="812800" cy="3059607"/>
          </a:xfrm>
        </p:grpSpPr>
        <p:sp>
          <p:nvSpPr>
            <p:cNvPr id="247" name="Google Shape;247;p31"/>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FFFFFF">
                <a:alpha val="13333"/>
              </a:srgbClr>
            </a:solidFill>
            <a:ln>
              <a:noFill/>
            </a:ln>
          </p:spPr>
          <p:txBody>
            <a:bodyPr/>
            <a:lstStyle/>
            <a:p>
              <a:endParaRPr lang="en-US"/>
            </a:p>
          </p:txBody>
        </p:sp>
        <p:sp>
          <p:nvSpPr>
            <p:cNvPr id="248" name="Google Shape;248;p31"/>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249" name="Google Shape;249;p31"/>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grpSp>
        <p:nvGrpSpPr>
          <p:cNvPr id="2" name="Google Shape;10751;p79">
            <a:extLst>
              <a:ext uri="{FF2B5EF4-FFF2-40B4-BE49-F238E27FC236}">
                <a16:creationId xmlns:a16="http://schemas.microsoft.com/office/drawing/2014/main" id="{B031FE6B-E507-0DD7-3F9B-FF7707829567}"/>
              </a:ext>
            </a:extLst>
          </p:cNvPr>
          <p:cNvGrpSpPr/>
          <p:nvPr/>
        </p:nvGrpSpPr>
        <p:grpSpPr>
          <a:xfrm rot="10800000">
            <a:off x="6342332" y="2995740"/>
            <a:ext cx="1654930" cy="2115923"/>
            <a:chOff x="4899999" y="2882095"/>
            <a:chExt cx="271244" cy="346801"/>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grpSpPr>
        <p:sp>
          <p:nvSpPr>
            <p:cNvPr id="3" name="Google Shape;10752;p79">
              <a:extLst>
                <a:ext uri="{FF2B5EF4-FFF2-40B4-BE49-F238E27FC236}">
                  <a16:creationId xmlns:a16="http://schemas.microsoft.com/office/drawing/2014/main" id="{E3AC55C3-D406-908B-653C-0E8B91B91D8C}"/>
                </a:ext>
              </a:extLst>
            </p:cNvPr>
            <p:cNvSpPr/>
            <p:nvPr/>
          </p:nvSpPr>
          <p:spPr>
            <a:xfrm>
              <a:off x="4899999" y="2882095"/>
              <a:ext cx="271244" cy="346801"/>
            </a:xfrm>
            <a:custGeom>
              <a:avLst/>
              <a:gdLst/>
              <a:ahLst/>
              <a:cxnLst/>
              <a:rect l="l" t="t" r="r" b="b"/>
              <a:pathLst>
                <a:path w="8562" h="10947" extrusionOk="0">
                  <a:moveTo>
                    <a:pt x="6609" y="1719"/>
                  </a:moveTo>
                  <a:cubicBezTo>
                    <a:pt x="6823" y="1803"/>
                    <a:pt x="6954" y="2041"/>
                    <a:pt x="6906" y="2279"/>
                  </a:cubicBezTo>
                  <a:lnTo>
                    <a:pt x="6716" y="3398"/>
                  </a:lnTo>
                  <a:lnTo>
                    <a:pt x="6502" y="3398"/>
                  </a:lnTo>
                  <a:cubicBezTo>
                    <a:pt x="6406" y="3398"/>
                    <a:pt x="6323" y="3327"/>
                    <a:pt x="6323" y="3220"/>
                  </a:cubicBezTo>
                  <a:lnTo>
                    <a:pt x="6323" y="1969"/>
                  </a:lnTo>
                  <a:cubicBezTo>
                    <a:pt x="6454" y="1910"/>
                    <a:pt x="6537" y="1815"/>
                    <a:pt x="6609" y="1719"/>
                  </a:cubicBezTo>
                  <a:close/>
                  <a:moveTo>
                    <a:pt x="2287" y="1684"/>
                  </a:moveTo>
                  <a:cubicBezTo>
                    <a:pt x="2287" y="1743"/>
                    <a:pt x="2263" y="1803"/>
                    <a:pt x="2263" y="1862"/>
                  </a:cubicBezTo>
                  <a:lnTo>
                    <a:pt x="2263" y="3231"/>
                  </a:lnTo>
                  <a:cubicBezTo>
                    <a:pt x="2263" y="3339"/>
                    <a:pt x="2191" y="3410"/>
                    <a:pt x="2084" y="3410"/>
                  </a:cubicBezTo>
                  <a:lnTo>
                    <a:pt x="1882" y="3410"/>
                  </a:lnTo>
                  <a:lnTo>
                    <a:pt x="1691" y="2291"/>
                  </a:lnTo>
                  <a:cubicBezTo>
                    <a:pt x="1656" y="2136"/>
                    <a:pt x="1703" y="1981"/>
                    <a:pt x="1810" y="1862"/>
                  </a:cubicBezTo>
                  <a:cubicBezTo>
                    <a:pt x="1906" y="1743"/>
                    <a:pt x="2037" y="1684"/>
                    <a:pt x="2203" y="1684"/>
                  </a:cubicBezTo>
                  <a:close/>
                  <a:moveTo>
                    <a:pt x="6454" y="386"/>
                  </a:moveTo>
                  <a:lnTo>
                    <a:pt x="6454" y="386"/>
                  </a:lnTo>
                  <a:cubicBezTo>
                    <a:pt x="6597" y="815"/>
                    <a:pt x="6573" y="1207"/>
                    <a:pt x="6394" y="1469"/>
                  </a:cubicBezTo>
                  <a:cubicBezTo>
                    <a:pt x="6228" y="1707"/>
                    <a:pt x="5954" y="1862"/>
                    <a:pt x="5680" y="1862"/>
                  </a:cubicBezTo>
                  <a:lnTo>
                    <a:pt x="3120" y="1862"/>
                  </a:lnTo>
                  <a:cubicBezTo>
                    <a:pt x="3025" y="1862"/>
                    <a:pt x="2953" y="1934"/>
                    <a:pt x="2953" y="2029"/>
                  </a:cubicBezTo>
                  <a:cubicBezTo>
                    <a:pt x="2953" y="2112"/>
                    <a:pt x="3025" y="2184"/>
                    <a:pt x="3120" y="2184"/>
                  </a:cubicBezTo>
                  <a:lnTo>
                    <a:pt x="5680" y="2184"/>
                  </a:lnTo>
                  <a:cubicBezTo>
                    <a:pt x="5799" y="2184"/>
                    <a:pt x="5918" y="2172"/>
                    <a:pt x="6037" y="2136"/>
                  </a:cubicBezTo>
                  <a:lnTo>
                    <a:pt x="6037" y="3220"/>
                  </a:lnTo>
                  <a:cubicBezTo>
                    <a:pt x="6037" y="3493"/>
                    <a:pt x="6252" y="3720"/>
                    <a:pt x="6537" y="3720"/>
                  </a:cubicBezTo>
                  <a:lnTo>
                    <a:pt x="6787" y="3720"/>
                  </a:lnTo>
                  <a:cubicBezTo>
                    <a:pt x="6871" y="3720"/>
                    <a:pt x="6942" y="3755"/>
                    <a:pt x="6990" y="3815"/>
                  </a:cubicBezTo>
                  <a:cubicBezTo>
                    <a:pt x="7025" y="3874"/>
                    <a:pt x="7061" y="3946"/>
                    <a:pt x="7061" y="4017"/>
                  </a:cubicBezTo>
                  <a:cubicBezTo>
                    <a:pt x="7049" y="4148"/>
                    <a:pt x="6930" y="4255"/>
                    <a:pt x="6763" y="4255"/>
                  </a:cubicBezTo>
                  <a:lnTo>
                    <a:pt x="6692" y="4255"/>
                  </a:lnTo>
                  <a:lnTo>
                    <a:pt x="6692" y="4244"/>
                  </a:lnTo>
                  <a:cubicBezTo>
                    <a:pt x="6692" y="4148"/>
                    <a:pt x="6609" y="4077"/>
                    <a:pt x="6525" y="4077"/>
                  </a:cubicBezTo>
                  <a:cubicBezTo>
                    <a:pt x="6430" y="4077"/>
                    <a:pt x="6359" y="4148"/>
                    <a:pt x="6359" y="4244"/>
                  </a:cubicBezTo>
                  <a:cubicBezTo>
                    <a:pt x="6359" y="5375"/>
                    <a:pt x="5442" y="6315"/>
                    <a:pt x="4287" y="6315"/>
                  </a:cubicBezTo>
                  <a:cubicBezTo>
                    <a:pt x="3180" y="6315"/>
                    <a:pt x="2239" y="5387"/>
                    <a:pt x="2239" y="4244"/>
                  </a:cubicBezTo>
                  <a:cubicBezTo>
                    <a:pt x="2239" y="4160"/>
                    <a:pt x="2168" y="4077"/>
                    <a:pt x="2072" y="4077"/>
                  </a:cubicBezTo>
                  <a:cubicBezTo>
                    <a:pt x="1989" y="4077"/>
                    <a:pt x="1906" y="4160"/>
                    <a:pt x="1906" y="4244"/>
                  </a:cubicBezTo>
                  <a:lnTo>
                    <a:pt x="1906" y="4255"/>
                  </a:lnTo>
                  <a:lnTo>
                    <a:pt x="1822" y="4255"/>
                  </a:lnTo>
                  <a:cubicBezTo>
                    <a:pt x="1751" y="4255"/>
                    <a:pt x="1668" y="4232"/>
                    <a:pt x="1632" y="4172"/>
                  </a:cubicBezTo>
                  <a:cubicBezTo>
                    <a:pt x="1584" y="4113"/>
                    <a:pt x="1549" y="4041"/>
                    <a:pt x="1549" y="3958"/>
                  </a:cubicBezTo>
                  <a:cubicBezTo>
                    <a:pt x="1572" y="3827"/>
                    <a:pt x="1691" y="3720"/>
                    <a:pt x="1846" y="3720"/>
                  </a:cubicBezTo>
                  <a:lnTo>
                    <a:pt x="2084" y="3720"/>
                  </a:lnTo>
                  <a:cubicBezTo>
                    <a:pt x="2370" y="3720"/>
                    <a:pt x="2596" y="3505"/>
                    <a:pt x="2596" y="3220"/>
                  </a:cubicBezTo>
                  <a:lnTo>
                    <a:pt x="2596" y="1850"/>
                  </a:lnTo>
                  <a:cubicBezTo>
                    <a:pt x="2596" y="1184"/>
                    <a:pt x="3132" y="648"/>
                    <a:pt x="3799" y="648"/>
                  </a:cubicBezTo>
                  <a:lnTo>
                    <a:pt x="5335" y="648"/>
                  </a:lnTo>
                  <a:cubicBezTo>
                    <a:pt x="5894" y="648"/>
                    <a:pt x="6252" y="493"/>
                    <a:pt x="6454" y="386"/>
                  </a:cubicBezTo>
                  <a:close/>
                  <a:moveTo>
                    <a:pt x="5347" y="6387"/>
                  </a:moveTo>
                  <a:lnTo>
                    <a:pt x="5347" y="6911"/>
                  </a:lnTo>
                  <a:lnTo>
                    <a:pt x="4299" y="7494"/>
                  </a:lnTo>
                  <a:lnTo>
                    <a:pt x="3263" y="6911"/>
                  </a:lnTo>
                  <a:lnTo>
                    <a:pt x="3263" y="6387"/>
                  </a:lnTo>
                  <a:cubicBezTo>
                    <a:pt x="3573" y="6541"/>
                    <a:pt x="3930" y="6625"/>
                    <a:pt x="4299" y="6625"/>
                  </a:cubicBezTo>
                  <a:cubicBezTo>
                    <a:pt x="4680" y="6625"/>
                    <a:pt x="5037" y="6541"/>
                    <a:pt x="5347" y="6387"/>
                  </a:cubicBezTo>
                  <a:close/>
                  <a:moveTo>
                    <a:pt x="2846" y="7041"/>
                  </a:moveTo>
                  <a:lnTo>
                    <a:pt x="4073" y="7708"/>
                  </a:lnTo>
                  <a:lnTo>
                    <a:pt x="3704" y="8149"/>
                  </a:lnTo>
                  <a:cubicBezTo>
                    <a:pt x="3680" y="8184"/>
                    <a:pt x="3632" y="8208"/>
                    <a:pt x="3596" y="8220"/>
                  </a:cubicBezTo>
                  <a:cubicBezTo>
                    <a:pt x="3549" y="8220"/>
                    <a:pt x="3489" y="8208"/>
                    <a:pt x="3454" y="8173"/>
                  </a:cubicBezTo>
                  <a:lnTo>
                    <a:pt x="2620" y="7458"/>
                  </a:lnTo>
                  <a:lnTo>
                    <a:pt x="2834" y="7041"/>
                  </a:lnTo>
                  <a:close/>
                  <a:moveTo>
                    <a:pt x="5787" y="7041"/>
                  </a:moveTo>
                  <a:lnTo>
                    <a:pt x="6001" y="7458"/>
                  </a:lnTo>
                  <a:lnTo>
                    <a:pt x="5156" y="8173"/>
                  </a:lnTo>
                  <a:cubicBezTo>
                    <a:pt x="5109" y="8208"/>
                    <a:pt x="5061" y="8220"/>
                    <a:pt x="5013" y="8220"/>
                  </a:cubicBezTo>
                  <a:cubicBezTo>
                    <a:pt x="4978" y="8220"/>
                    <a:pt x="4930" y="8184"/>
                    <a:pt x="4894" y="8149"/>
                  </a:cubicBezTo>
                  <a:lnTo>
                    <a:pt x="4561" y="7708"/>
                  </a:lnTo>
                  <a:lnTo>
                    <a:pt x="5775" y="7041"/>
                  </a:lnTo>
                  <a:close/>
                  <a:moveTo>
                    <a:pt x="6497" y="1"/>
                  </a:moveTo>
                  <a:cubicBezTo>
                    <a:pt x="6455" y="1"/>
                    <a:pt x="6419" y="16"/>
                    <a:pt x="6382" y="53"/>
                  </a:cubicBezTo>
                  <a:cubicBezTo>
                    <a:pt x="6382" y="53"/>
                    <a:pt x="6073" y="350"/>
                    <a:pt x="5299" y="350"/>
                  </a:cubicBezTo>
                  <a:lnTo>
                    <a:pt x="3763" y="350"/>
                  </a:lnTo>
                  <a:cubicBezTo>
                    <a:pt x="3096" y="350"/>
                    <a:pt x="2537" y="779"/>
                    <a:pt x="2322" y="1374"/>
                  </a:cubicBezTo>
                  <a:lnTo>
                    <a:pt x="2180" y="1374"/>
                  </a:lnTo>
                  <a:cubicBezTo>
                    <a:pt x="1918" y="1374"/>
                    <a:pt x="1703" y="1481"/>
                    <a:pt x="1537" y="1672"/>
                  </a:cubicBezTo>
                  <a:cubicBezTo>
                    <a:pt x="1370" y="1862"/>
                    <a:pt x="1310" y="2112"/>
                    <a:pt x="1346" y="2350"/>
                  </a:cubicBezTo>
                  <a:lnTo>
                    <a:pt x="1537" y="3505"/>
                  </a:lnTo>
                  <a:cubicBezTo>
                    <a:pt x="1358" y="3589"/>
                    <a:pt x="1239" y="3755"/>
                    <a:pt x="1203" y="3958"/>
                  </a:cubicBezTo>
                  <a:cubicBezTo>
                    <a:pt x="1191" y="4124"/>
                    <a:pt x="1251" y="4291"/>
                    <a:pt x="1358" y="4422"/>
                  </a:cubicBezTo>
                  <a:cubicBezTo>
                    <a:pt x="1465" y="4541"/>
                    <a:pt x="1620" y="4613"/>
                    <a:pt x="1787" y="4613"/>
                  </a:cubicBezTo>
                  <a:lnTo>
                    <a:pt x="1906" y="4613"/>
                  </a:lnTo>
                  <a:cubicBezTo>
                    <a:pt x="2001" y="5291"/>
                    <a:pt x="2382" y="5863"/>
                    <a:pt x="2906" y="6244"/>
                  </a:cubicBezTo>
                  <a:lnTo>
                    <a:pt x="2906" y="6780"/>
                  </a:lnTo>
                  <a:cubicBezTo>
                    <a:pt x="2876" y="6762"/>
                    <a:pt x="2843" y="6753"/>
                    <a:pt x="2808" y="6753"/>
                  </a:cubicBezTo>
                  <a:cubicBezTo>
                    <a:pt x="2772" y="6753"/>
                    <a:pt x="2733" y="6762"/>
                    <a:pt x="2692" y="6780"/>
                  </a:cubicBezTo>
                  <a:cubicBezTo>
                    <a:pt x="2608" y="6803"/>
                    <a:pt x="2537" y="6863"/>
                    <a:pt x="2501" y="6934"/>
                  </a:cubicBezTo>
                  <a:lnTo>
                    <a:pt x="2251" y="7434"/>
                  </a:lnTo>
                  <a:lnTo>
                    <a:pt x="846" y="7851"/>
                  </a:lnTo>
                  <a:cubicBezTo>
                    <a:pt x="346" y="7994"/>
                    <a:pt x="1" y="8458"/>
                    <a:pt x="1" y="8982"/>
                  </a:cubicBezTo>
                  <a:lnTo>
                    <a:pt x="1" y="10780"/>
                  </a:lnTo>
                  <a:cubicBezTo>
                    <a:pt x="1" y="10863"/>
                    <a:pt x="72" y="10947"/>
                    <a:pt x="167" y="10947"/>
                  </a:cubicBezTo>
                  <a:cubicBezTo>
                    <a:pt x="251" y="10947"/>
                    <a:pt x="334" y="10863"/>
                    <a:pt x="334" y="10780"/>
                  </a:cubicBezTo>
                  <a:lnTo>
                    <a:pt x="334" y="8982"/>
                  </a:lnTo>
                  <a:cubicBezTo>
                    <a:pt x="334" y="8589"/>
                    <a:pt x="584" y="8244"/>
                    <a:pt x="953" y="8149"/>
                  </a:cubicBezTo>
                  <a:lnTo>
                    <a:pt x="1549" y="7958"/>
                  </a:lnTo>
                  <a:lnTo>
                    <a:pt x="1549" y="10756"/>
                  </a:lnTo>
                  <a:cubicBezTo>
                    <a:pt x="1549" y="10851"/>
                    <a:pt x="1620" y="10923"/>
                    <a:pt x="1715" y="10923"/>
                  </a:cubicBezTo>
                  <a:cubicBezTo>
                    <a:pt x="1799" y="10923"/>
                    <a:pt x="1882" y="10851"/>
                    <a:pt x="1882" y="10756"/>
                  </a:cubicBezTo>
                  <a:lnTo>
                    <a:pt x="1882" y="7863"/>
                  </a:lnTo>
                  <a:lnTo>
                    <a:pt x="2239" y="7756"/>
                  </a:lnTo>
                  <a:lnTo>
                    <a:pt x="2239" y="10756"/>
                  </a:lnTo>
                  <a:cubicBezTo>
                    <a:pt x="2239" y="10851"/>
                    <a:pt x="2311" y="10923"/>
                    <a:pt x="2394" y="10923"/>
                  </a:cubicBezTo>
                  <a:cubicBezTo>
                    <a:pt x="2489" y="10923"/>
                    <a:pt x="2561" y="10851"/>
                    <a:pt x="2561" y="10756"/>
                  </a:cubicBezTo>
                  <a:lnTo>
                    <a:pt x="2561" y="7863"/>
                  </a:lnTo>
                  <a:lnTo>
                    <a:pt x="3227" y="8423"/>
                  </a:lnTo>
                  <a:cubicBezTo>
                    <a:pt x="3323" y="8494"/>
                    <a:pt x="3442" y="8542"/>
                    <a:pt x="3561" y="8542"/>
                  </a:cubicBezTo>
                  <a:lnTo>
                    <a:pt x="3608" y="8542"/>
                  </a:lnTo>
                  <a:cubicBezTo>
                    <a:pt x="3739" y="8530"/>
                    <a:pt x="3858" y="8470"/>
                    <a:pt x="3942" y="8351"/>
                  </a:cubicBezTo>
                  <a:lnTo>
                    <a:pt x="4287" y="7934"/>
                  </a:lnTo>
                  <a:lnTo>
                    <a:pt x="4632" y="8351"/>
                  </a:lnTo>
                  <a:cubicBezTo>
                    <a:pt x="4716" y="8458"/>
                    <a:pt x="4835" y="8530"/>
                    <a:pt x="4978" y="8542"/>
                  </a:cubicBezTo>
                  <a:lnTo>
                    <a:pt x="5013" y="8542"/>
                  </a:lnTo>
                  <a:cubicBezTo>
                    <a:pt x="5132" y="8542"/>
                    <a:pt x="5251" y="8494"/>
                    <a:pt x="5347" y="8423"/>
                  </a:cubicBezTo>
                  <a:lnTo>
                    <a:pt x="6180" y="7708"/>
                  </a:lnTo>
                  <a:lnTo>
                    <a:pt x="6680" y="7863"/>
                  </a:lnTo>
                  <a:lnTo>
                    <a:pt x="6680" y="10756"/>
                  </a:lnTo>
                  <a:cubicBezTo>
                    <a:pt x="6680" y="10851"/>
                    <a:pt x="6763" y="10923"/>
                    <a:pt x="6847" y="10923"/>
                  </a:cubicBezTo>
                  <a:cubicBezTo>
                    <a:pt x="6942" y="10923"/>
                    <a:pt x="7014" y="10851"/>
                    <a:pt x="7014" y="10756"/>
                  </a:cubicBezTo>
                  <a:lnTo>
                    <a:pt x="7014" y="7958"/>
                  </a:lnTo>
                  <a:lnTo>
                    <a:pt x="7609" y="8149"/>
                  </a:lnTo>
                  <a:cubicBezTo>
                    <a:pt x="7978" y="8244"/>
                    <a:pt x="8228" y="8589"/>
                    <a:pt x="8228" y="8982"/>
                  </a:cubicBezTo>
                  <a:lnTo>
                    <a:pt x="8228" y="10780"/>
                  </a:lnTo>
                  <a:cubicBezTo>
                    <a:pt x="8228" y="10863"/>
                    <a:pt x="8311" y="10947"/>
                    <a:pt x="8395" y="10947"/>
                  </a:cubicBezTo>
                  <a:cubicBezTo>
                    <a:pt x="8490" y="10947"/>
                    <a:pt x="8561" y="10863"/>
                    <a:pt x="8561" y="10780"/>
                  </a:cubicBezTo>
                  <a:lnTo>
                    <a:pt x="8561" y="8982"/>
                  </a:lnTo>
                  <a:cubicBezTo>
                    <a:pt x="8561" y="8423"/>
                    <a:pt x="8216" y="7970"/>
                    <a:pt x="7716" y="7815"/>
                  </a:cubicBezTo>
                  <a:lnTo>
                    <a:pt x="6311" y="7399"/>
                  </a:lnTo>
                  <a:lnTo>
                    <a:pt x="6061" y="6911"/>
                  </a:lnTo>
                  <a:cubicBezTo>
                    <a:pt x="6013" y="6839"/>
                    <a:pt x="5942" y="6756"/>
                    <a:pt x="5871" y="6744"/>
                  </a:cubicBezTo>
                  <a:cubicBezTo>
                    <a:pt x="5829" y="6738"/>
                    <a:pt x="5793" y="6735"/>
                    <a:pt x="5759" y="6735"/>
                  </a:cubicBezTo>
                  <a:cubicBezTo>
                    <a:pt x="5725" y="6735"/>
                    <a:pt x="5692" y="6738"/>
                    <a:pt x="5656" y="6744"/>
                  </a:cubicBezTo>
                  <a:lnTo>
                    <a:pt x="5656" y="6208"/>
                  </a:lnTo>
                  <a:cubicBezTo>
                    <a:pt x="6192" y="5839"/>
                    <a:pt x="6561" y="5256"/>
                    <a:pt x="6656" y="4589"/>
                  </a:cubicBezTo>
                  <a:lnTo>
                    <a:pt x="6740" y="4589"/>
                  </a:lnTo>
                  <a:cubicBezTo>
                    <a:pt x="7061" y="4589"/>
                    <a:pt x="7323" y="4351"/>
                    <a:pt x="7359" y="4065"/>
                  </a:cubicBezTo>
                  <a:cubicBezTo>
                    <a:pt x="7371" y="3898"/>
                    <a:pt x="7311" y="3743"/>
                    <a:pt x="7204" y="3601"/>
                  </a:cubicBezTo>
                  <a:cubicBezTo>
                    <a:pt x="7156" y="3541"/>
                    <a:pt x="7097" y="3505"/>
                    <a:pt x="7025" y="3470"/>
                  </a:cubicBezTo>
                  <a:lnTo>
                    <a:pt x="7216" y="2339"/>
                  </a:lnTo>
                  <a:cubicBezTo>
                    <a:pt x="7275" y="1969"/>
                    <a:pt x="7085" y="1600"/>
                    <a:pt x="6763" y="1446"/>
                  </a:cubicBezTo>
                  <a:cubicBezTo>
                    <a:pt x="6906" y="1065"/>
                    <a:pt x="6883" y="600"/>
                    <a:pt x="6656" y="88"/>
                  </a:cubicBezTo>
                  <a:cubicBezTo>
                    <a:pt x="6644" y="53"/>
                    <a:pt x="6597" y="5"/>
                    <a:pt x="6537" y="5"/>
                  </a:cubicBezTo>
                  <a:cubicBezTo>
                    <a:pt x="6523" y="2"/>
                    <a:pt x="6510" y="1"/>
                    <a:pt x="649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0753;p79">
              <a:extLst>
                <a:ext uri="{FF2B5EF4-FFF2-40B4-BE49-F238E27FC236}">
                  <a16:creationId xmlns:a16="http://schemas.microsoft.com/office/drawing/2014/main" id="{993B55B4-5A7B-9625-B381-57475FEDDA5D}"/>
                </a:ext>
              </a:extLst>
            </p:cNvPr>
            <p:cNvSpPr/>
            <p:nvPr/>
          </p:nvSpPr>
          <p:spPr>
            <a:xfrm>
              <a:off x="5090491" y="3141364"/>
              <a:ext cx="10581" cy="86391"/>
            </a:xfrm>
            <a:custGeom>
              <a:avLst/>
              <a:gdLst/>
              <a:ahLst/>
              <a:cxnLst/>
              <a:rect l="l" t="t" r="r" b="b"/>
              <a:pathLst>
                <a:path w="334" h="2727" extrusionOk="0">
                  <a:moveTo>
                    <a:pt x="167" y="0"/>
                  </a:moveTo>
                  <a:cubicBezTo>
                    <a:pt x="84" y="0"/>
                    <a:pt x="0" y="84"/>
                    <a:pt x="0" y="167"/>
                  </a:cubicBezTo>
                  <a:lnTo>
                    <a:pt x="0" y="2560"/>
                  </a:lnTo>
                  <a:cubicBezTo>
                    <a:pt x="0" y="2656"/>
                    <a:pt x="84" y="2727"/>
                    <a:pt x="167" y="2727"/>
                  </a:cubicBezTo>
                  <a:cubicBezTo>
                    <a:pt x="262" y="2727"/>
                    <a:pt x="334" y="2656"/>
                    <a:pt x="334" y="2560"/>
                  </a:cubicBezTo>
                  <a:lnTo>
                    <a:pt x="334" y="167"/>
                  </a:lnTo>
                  <a:cubicBezTo>
                    <a:pt x="334" y="84"/>
                    <a:pt x="262"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0754;p79">
              <a:extLst>
                <a:ext uri="{FF2B5EF4-FFF2-40B4-BE49-F238E27FC236}">
                  <a16:creationId xmlns:a16="http://schemas.microsoft.com/office/drawing/2014/main" id="{B7ECF014-3337-94B0-A629-E937B1DD7E5B}"/>
                </a:ext>
              </a:extLst>
            </p:cNvPr>
            <p:cNvSpPr/>
            <p:nvPr/>
          </p:nvSpPr>
          <p:spPr>
            <a:xfrm>
              <a:off x="5031281" y="3152294"/>
              <a:ext cx="10201" cy="10613"/>
            </a:xfrm>
            <a:custGeom>
              <a:avLst/>
              <a:gdLst/>
              <a:ahLst/>
              <a:cxnLst/>
              <a:rect l="l" t="t" r="r" b="b"/>
              <a:pathLst>
                <a:path w="322" h="335" extrusionOk="0">
                  <a:moveTo>
                    <a:pt x="155" y="1"/>
                  </a:moveTo>
                  <a:cubicBezTo>
                    <a:pt x="72" y="1"/>
                    <a:pt x="0" y="72"/>
                    <a:pt x="0" y="167"/>
                  </a:cubicBezTo>
                  <a:cubicBezTo>
                    <a:pt x="0" y="251"/>
                    <a:pt x="72" y="334"/>
                    <a:pt x="155" y="334"/>
                  </a:cubicBezTo>
                  <a:cubicBezTo>
                    <a:pt x="250" y="334"/>
                    <a:pt x="322" y="251"/>
                    <a:pt x="322" y="167"/>
                  </a:cubicBezTo>
                  <a:cubicBezTo>
                    <a:pt x="322" y="72"/>
                    <a:pt x="250" y="1"/>
                    <a:pt x="15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755;p79">
              <a:extLst>
                <a:ext uri="{FF2B5EF4-FFF2-40B4-BE49-F238E27FC236}">
                  <a16:creationId xmlns:a16="http://schemas.microsoft.com/office/drawing/2014/main" id="{AF0A9E91-52A4-1377-36D1-51F2331F98BD}"/>
                </a:ext>
              </a:extLst>
            </p:cNvPr>
            <p:cNvSpPr/>
            <p:nvPr/>
          </p:nvSpPr>
          <p:spPr>
            <a:xfrm>
              <a:off x="5031281" y="3217555"/>
              <a:ext cx="10201" cy="10201"/>
            </a:xfrm>
            <a:custGeom>
              <a:avLst/>
              <a:gdLst/>
              <a:ahLst/>
              <a:cxnLst/>
              <a:rect l="l" t="t" r="r" b="b"/>
              <a:pathLst>
                <a:path w="322" h="322" extrusionOk="0">
                  <a:moveTo>
                    <a:pt x="155" y="1"/>
                  </a:moveTo>
                  <a:cubicBezTo>
                    <a:pt x="72" y="1"/>
                    <a:pt x="0" y="72"/>
                    <a:pt x="0" y="155"/>
                  </a:cubicBezTo>
                  <a:cubicBezTo>
                    <a:pt x="0" y="251"/>
                    <a:pt x="72" y="322"/>
                    <a:pt x="155" y="322"/>
                  </a:cubicBezTo>
                  <a:cubicBezTo>
                    <a:pt x="250" y="322"/>
                    <a:pt x="322" y="251"/>
                    <a:pt x="322" y="155"/>
                  </a:cubicBezTo>
                  <a:cubicBezTo>
                    <a:pt x="322" y="72"/>
                    <a:pt x="250" y="1"/>
                    <a:pt x="15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0756;p79">
              <a:extLst>
                <a:ext uri="{FF2B5EF4-FFF2-40B4-BE49-F238E27FC236}">
                  <a16:creationId xmlns:a16="http://schemas.microsoft.com/office/drawing/2014/main" id="{77AC4D97-7876-FA58-B374-7B1629EFA0D0}"/>
                </a:ext>
              </a:extLst>
            </p:cNvPr>
            <p:cNvSpPr/>
            <p:nvPr/>
          </p:nvSpPr>
          <p:spPr>
            <a:xfrm>
              <a:off x="5031281" y="3184734"/>
              <a:ext cx="10201" cy="10613"/>
            </a:xfrm>
            <a:custGeom>
              <a:avLst/>
              <a:gdLst/>
              <a:ahLst/>
              <a:cxnLst/>
              <a:rect l="l" t="t" r="r" b="b"/>
              <a:pathLst>
                <a:path w="322" h="335" extrusionOk="0">
                  <a:moveTo>
                    <a:pt x="155" y="1"/>
                  </a:moveTo>
                  <a:cubicBezTo>
                    <a:pt x="72" y="1"/>
                    <a:pt x="0" y="84"/>
                    <a:pt x="0" y="167"/>
                  </a:cubicBezTo>
                  <a:cubicBezTo>
                    <a:pt x="0" y="263"/>
                    <a:pt x="72" y="334"/>
                    <a:pt x="155" y="334"/>
                  </a:cubicBezTo>
                  <a:cubicBezTo>
                    <a:pt x="250" y="334"/>
                    <a:pt x="322" y="263"/>
                    <a:pt x="322" y="167"/>
                  </a:cubicBezTo>
                  <a:cubicBezTo>
                    <a:pt x="322" y="84"/>
                    <a:pt x="250" y="1"/>
                    <a:pt x="15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757;p79">
              <a:extLst>
                <a:ext uri="{FF2B5EF4-FFF2-40B4-BE49-F238E27FC236}">
                  <a16:creationId xmlns:a16="http://schemas.microsoft.com/office/drawing/2014/main" id="{6584667A-F7A5-E6B1-6115-8D6F72BAB0DB}"/>
                </a:ext>
              </a:extLst>
            </p:cNvPr>
            <p:cNvSpPr/>
            <p:nvPr/>
          </p:nvSpPr>
          <p:spPr>
            <a:xfrm>
              <a:off x="4998841" y="2995763"/>
              <a:ext cx="10201" cy="15492"/>
            </a:xfrm>
            <a:custGeom>
              <a:avLst/>
              <a:gdLst/>
              <a:ahLst/>
              <a:cxnLst/>
              <a:rect l="l" t="t" r="r" b="b"/>
              <a:pathLst>
                <a:path w="322" h="489" extrusionOk="0">
                  <a:moveTo>
                    <a:pt x="155" y="1"/>
                  </a:moveTo>
                  <a:cubicBezTo>
                    <a:pt x="72" y="1"/>
                    <a:pt x="0" y="72"/>
                    <a:pt x="0" y="167"/>
                  </a:cubicBezTo>
                  <a:lnTo>
                    <a:pt x="0" y="334"/>
                  </a:lnTo>
                  <a:cubicBezTo>
                    <a:pt x="0" y="417"/>
                    <a:pt x="72" y="489"/>
                    <a:pt x="155" y="489"/>
                  </a:cubicBezTo>
                  <a:cubicBezTo>
                    <a:pt x="250" y="489"/>
                    <a:pt x="322" y="417"/>
                    <a:pt x="322" y="334"/>
                  </a:cubicBezTo>
                  <a:lnTo>
                    <a:pt x="322" y="167"/>
                  </a:lnTo>
                  <a:cubicBezTo>
                    <a:pt x="322" y="72"/>
                    <a:pt x="250" y="1"/>
                    <a:pt x="15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758;p79">
              <a:extLst>
                <a:ext uri="{FF2B5EF4-FFF2-40B4-BE49-F238E27FC236}">
                  <a16:creationId xmlns:a16="http://schemas.microsoft.com/office/drawing/2014/main" id="{8A1695EE-C63A-5621-4669-9C0DA8B3C5A2}"/>
                </a:ext>
              </a:extLst>
            </p:cNvPr>
            <p:cNvSpPr/>
            <p:nvPr/>
          </p:nvSpPr>
          <p:spPr>
            <a:xfrm>
              <a:off x="5063721" y="2995763"/>
              <a:ext cx="10201" cy="15492"/>
            </a:xfrm>
            <a:custGeom>
              <a:avLst/>
              <a:gdLst/>
              <a:ahLst/>
              <a:cxnLst/>
              <a:rect l="l" t="t" r="r" b="b"/>
              <a:pathLst>
                <a:path w="322" h="489" extrusionOk="0">
                  <a:moveTo>
                    <a:pt x="167" y="1"/>
                  </a:moveTo>
                  <a:cubicBezTo>
                    <a:pt x="71" y="1"/>
                    <a:pt x="0" y="72"/>
                    <a:pt x="0" y="167"/>
                  </a:cubicBezTo>
                  <a:lnTo>
                    <a:pt x="0" y="334"/>
                  </a:lnTo>
                  <a:cubicBezTo>
                    <a:pt x="0" y="417"/>
                    <a:pt x="71" y="489"/>
                    <a:pt x="167" y="489"/>
                  </a:cubicBezTo>
                  <a:cubicBezTo>
                    <a:pt x="250" y="489"/>
                    <a:pt x="322" y="417"/>
                    <a:pt x="322" y="334"/>
                  </a:cubicBezTo>
                  <a:lnTo>
                    <a:pt x="322" y="167"/>
                  </a:lnTo>
                  <a:cubicBezTo>
                    <a:pt x="322" y="72"/>
                    <a:pt x="250"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759;p79">
              <a:extLst>
                <a:ext uri="{FF2B5EF4-FFF2-40B4-BE49-F238E27FC236}">
                  <a16:creationId xmlns:a16="http://schemas.microsoft.com/office/drawing/2014/main" id="{A6EC94E5-B61A-E4EA-9968-90318426F6F7}"/>
                </a:ext>
              </a:extLst>
            </p:cNvPr>
            <p:cNvSpPr/>
            <p:nvPr/>
          </p:nvSpPr>
          <p:spPr>
            <a:xfrm>
              <a:off x="4993550" y="2979163"/>
              <a:ext cx="21162" cy="10613"/>
            </a:xfrm>
            <a:custGeom>
              <a:avLst/>
              <a:gdLst/>
              <a:ahLst/>
              <a:cxnLst/>
              <a:rect l="l" t="t" r="r" b="b"/>
              <a:pathLst>
                <a:path w="668" h="335" extrusionOk="0">
                  <a:moveTo>
                    <a:pt x="167" y="1"/>
                  </a:moveTo>
                  <a:cubicBezTo>
                    <a:pt x="72" y="1"/>
                    <a:pt x="0" y="84"/>
                    <a:pt x="0" y="167"/>
                  </a:cubicBezTo>
                  <a:cubicBezTo>
                    <a:pt x="0" y="263"/>
                    <a:pt x="72" y="334"/>
                    <a:pt x="167" y="334"/>
                  </a:cubicBezTo>
                  <a:lnTo>
                    <a:pt x="501" y="334"/>
                  </a:lnTo>
                  <a:cubicBezTo>
                    <a:pt x="596" y="334"/>
                    <a:pt x="667" y="263"/>
                    <a:pt x="667" y="167"/>
                  </a:cubicBezTo>
                  <a:cubicBezTo>
                    <a:pt x="655" y="84"/>
                    <a:pt x="584" y="1"/>
                    <a:pt x="50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0760;p79">
              <a:extLst>
                <a:ext uri="{FF2B5EF4-FFF2-40B4-BE49-F238E27FC236}">
                  <a16:creationId xmlns:a16="http://schemas.microsoft.com/office/drawing/2014/main" id="{B6087BF1-A241-602E-56FA-8B03BE50B0CB}"/>
                </a:ext>
              </a:extLst>
            </p:cNvPr>
            <p:cNvSpPr/>
            <p:nvPr/>
          </p:nvSpPr>
          <p:spPr>
            <a:xfrm>
              <a:off x="5058051" y="2979163"/>
              <a:ext cx="21162" cy="10613"/>
            </a:xfrm>
            <a:custGeom>
              <a:avLst/>
              <a:gdLst/>
              <a:ahLst/>
              <a:cxnLst/>
              <a:rect l="l" t="t" r="r" b="b"/>
              <a:pathLst>
                <a:path w="668" h="335" extrusionOk="0">
                  <a:moveTo>
                    <a:pt x="167" y="1"/>
                  </a:moveTo>
                  <a:cubicBezTo>
                    <a:pt x="72" y="1"/>
                    <a:pt x="0" y="84"/>
                    <a:pt x="0" y="167"/>
                  </a:cubicBezTo>
                  <a:cubicBezTo>
                    <a:pt x="0" y="263"/>
                    <a:pt x="72" y="334"/>
                    <a:pt x="167" y="334"/>
                  </a:cubicBezTo>
                  <a:lnTo>
                    <a:pt x="501" y="334"/>
                  </a:lnTo>
                  <a:cubicBezTo>
                    <a:pt x="596" y="334"/>
                    <a:pt x="667" y="263"/>
                    <a:pt x="667" y="167"/>
                  </a:cubicBezTo>
                  <a:cubicBezTo>
                    <a:pt x="667" y="84"/>
                    <a:pt x="596" y="1"/>
                    <a:pt x="50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761;p79">
              <a:extLst>
                <a:ext uri="{FF2B5EF4-FFF2-40B4-BE49-F238E27FC236}">
                  <a16:creationId xmlns:a16="http://schemas.microsoft.com/office/drawing/2014/main" id="{88B1635F-0015-A453-BD55-DD84CFC8950A}"/>
                </a:ext>
              </a:extLst>
            </p:cNvPr>
            <p:cNvSpPr/>
            <p:nvPr/>
          </p:nvSpPr>
          <p:spPr>
            <a:xfrm>
              <a:off x="5007141" y="3025574"/>
              <a:ext cx="58481" cy="32092"/>
            </a:xfrm>
            <a:custGeom>
              <a:avLst/>
              <a:gdLst/>
              <a:ahLst/>
              <a:cxnLst/>
              <a:rect l="l" t="t" r="r" b="b"/>
              <a:pathLst>
                <a:path w="1846" h="1013" extrusionOk="0">
                  <a:moveTo>
                    <a:pt x="1500" y="322"/>
                  </a:moveTo>
                  <a:cubicBezTo>
                    <a:pt x="1429" y="536"/>
                    <a:pt x="1191" y="679"/>
                    <a:pt x="917" y="679"/>
                  </a:cubicBezTo>
                  <a:cubicBezTo>
                    <a:pt x="655" y="679"/>
                    <a:pt x="417" y="536"/>
                    <a:pt x="345" y="322"/>
                  </a:cubicBezTo>
                  <a:close/>
                  <a:moveTo>
                    <a:pt x="167" y="0"/>
                  </a:moveTo>
                  <a:cubicBezTo>
                    <a:pt x="72" y="0"/>
                    <a:pt x="0" y="72"/>
                    <a:pt x="0" y="167"/>
                  </a:cubicBezTo>
                  <a:cubicBezTo>
                    <a:pt x="0" y="619"/>
                    <a:pt x="417" y="1012"/>
                    <a:pt x="929" y="1012"/>
                  </a:cubicBezTo>
                  <a:cubicBezTo>
                    <a:pt x="1429" y="1012"/>
                    <a:pt x="1846" y="643"/>
                    <a:pt x="1846" y="167"/>
                  </a:cubicBezTo>
                  <a:cubicBezTo>
                    <a:pt x="1846" y="72"/>
                    <a:pt x="1786" y="0"/>
                    <a:pt x="170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244;p31">
            <a:extLst>
              <a:ext uri="{FF2B5EF4-FFF2-40B4-BE49-F238E27FC236}">
                <a16:creationId xmlns:a16="http://schemas.microsoft.com/office/drawing/2014/main" id="{A3F47E4E-2C1B-DF2E-570D-BDD8AD25FCF5}"/>
              </a:ext>
            </a:extLst>
          </p:cNvPr>
          <p:cNvSpPr txBox="1"/>
          <p:nvPr/>
        </p:nvSpPr>
        <p:spPr>
          <a:xfrm>
            <a:off x="4822124" y="2188704"/>
            <a:ext cx="2867400" cy="258532"/>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fa-IR" b="1" dirty="0">
                <a:solidFill>
                  <a:srgbClr val="FFFFFF"/>
                </a:solidFill>
                <a:latin typeface="Open Sans"/>
                <a:ea typeface="Open Sans"/>
                <a:cs typeface="B Nazanin" panose="00000700000000000000" pitchFamily="2" charset="-78"/>
                <a:sym typeface="Open Sans"/>
              </a:rPr>
              <a:t>دوره خدمت شهردار در امور زير خاتمه ميپذيرد :</a:t>
            </a:r>
            <a:endParaRPr lang="fa-IR" sz="100" b="1" dirty="0">
              <a:latin typeface="Open Sans"/>
              <a:ea typeface="Open Sans"/>
              <a:cs typeface="B Nazanin" panose="00000700000000000000" pitchFamily="2" charset="-78"/>
              <a:sym typeface="Open Sans"/>
            </a:endParaRPr>
          </a:p>
        </p:txBody>
      </p:sp>
      <p:cxnSp>
        <p:nvCxnSpPr>
          <p:cNvPr id="20" name="Straight Connector 19">
            <a:extLst>
              <a:ext uri="{FF2B5EF4-FFF2-40B4-BE49-F238E27FC236}">
                <a16:creationId xmlns:a16="http://schemas.microsoft.com/office/drawing/2014/main" id="{1C96688F-E360-4CE5-F86B-CC081A94ECA7}"/>
              </a:ext>
            </a:extLst>
          </p:cNvPr>
          <p:cNvCxnSpPr>
            <a:cxnSpLocks/>
          </p:cNvCxnSpPr>
          <p:nvPr/>
        </p:nvCxnSpPr>
        <p:spPr>
          <a:xfrm flipH="1">
            <a:off x="-148683" y="2571750"/>
            <a:ext cx="9582615"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22" name="Rectangle 21">
            <a:extLst>
              <a:ext uri="{FF2B5EF4-FFF2-40B4-BE49-F238E27FC236}">
                <a16:creationId xmlns:a16="http://schemas.microsoft.com/office/drawing/2014/main" id="{2D7E84E4-8CDB-8B81-9439-E23BCC5DF5A5}"/>
              </a:ext>
            </a:extLst>
          </p:cNvPr>
          <p:cNvSpPr/>
          <p:nvPr/>
        </p:nvSpPr>
        <p:spPr>
          <a:xfrm>
            <a:off x="3812485" y="2774027"/>
            <a:ext cx="2178204" cy="443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a:t>استعفا كتبی</a:t>
            </a:r>
            <a:endParaRPr lang="en-US"/>
          </a:p>
        </p:txBody>
      </p:sp>
      <p:sp>
        <p:nvSpPr>
          <p:cNvPr id="23" name="Rectangle 22">
            <a:extLst>
              <a:ext uri="{FF2B5EF4-FFF2-40B4-BE49-F238E27FC236}">
                <a16:creationId xmlns:a16="http://schemas.microsoft.com/office/drawing/2014/main" id="{541F7B2A-0CF6-71DD-8760-BC663414BB13}"/>
              </a:ext>
            </a:extLst>
          </p:cNvPr>
          <p:cNvSpPr/>
          <p:nvPr/>
        </p:nvSpPr>
        <p:spPr>
          <a:xfrm>
            <a:off x="2074342" y="3545741"/>
            <a:ext cx="2178204" cy="443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t> درموارد تعليق طبق مقررات قانونی</a:t>
            </a:r>
            <a:endParaRPr lang="en-US" dirty="0"/>
          </a:p>
        </p:txBody>
      </p:sp>
      <p:sp>
        <p:nvSpPr>
          <p:cNvPr id="24" name="Rectangle 23">
            <a:extLst>
              <a:ext uri="{FF2B5EF4-FFF2-40B4-BE49-F238E27FC236}">
                <a16:creationId xmlns:a16="http://schemas.microsoft.com/office/drawing/2014/main" id="{E992D7B4-5E02-E70C-B6C7-D461676E9421}"/>
              </a:ext>
            </a:extLst>
          </p:cNvPr>
          <p:cNvSpPr/>
          <p:nvPr/>
        </p:nvSpPr>
        <p:spPr>
          <a:xfrm>
            <a:off x="3803063" y="4320514"/>
            <a:ext cx="2178204" cy="443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t>در صورت فقدان هر يك از شرايط مربوط به انتخاب شهردار .</a:t>
            </a:r>
            <a:endParaRPr lang="en-US" dirty="0"/>
          </a:p>
        </p:txBody>
      </p:sp>
      <p:sp>
        <p:nvSpPr>
          <p:cNvPr id="26" name="Rectangle 25">
            <a:extLst>
              <a:ext uri="{FF2B5EF4-FFF2-40B4-BE49-F238E27FC236}">
                <a16:creationId xmlns:a16="http://schemas.microsoft.com/office/drawing/2014/main" id="{9C9F2C12-CC21-D8DE-FEA8-41E68B377420}"/>
              </a:ext>
            </a:extLst>
          </p:cNvPr>
          <p:cNvSpPr/>
          <p:nvPr/>
        </p:nvSpPr>
        <p:spPr>
          <a:xfrm>
            <a:off x="301380" y="2772498"/>
            <a:ext cx="2178204" cy="443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t>درصورت انحلال انجمن يا خاتمه دوره قانونی ان</a:t>
            </a:r>
            <a:endParaRPr lang="en-US" dirty="0"/>
          </a:p>
        </p:txBody>
      </p:sp>
      <p:sp>
        <p:nvSpPr>
          <p:cNvPr id="27" name="Rectangle 26">
            <a:extLst>
              <a:ext uri="{FF2B5EF4-FFF2-40B4-BE49-F238E27FC236}">
                <a16:creationId xmlns:a16="http://schemas.microsoft.com/office/drawing/2014/main" id="{EBF797F8-B33E-0546-90FC-D6F8023AF9FC}"/>
              </a:ext>
            </a:extLst>
          </p:cNvPr>
          <p:cNvSpPr/>
          <p:nvPr/>
        </p:nvSpPr>
        <p:spPr>
          <a:xfrm>
            <a:off x="298557" y="4317455"/>
            <a:ext cx="2178204" cy="443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t>برکناری شهردار توسط انجمن شهر براساس ماده 53 این قانون</a:t>
            </a:r>
            <a:endParaRPr lang="en-US" dirty="0"/>
          </a:p>
        </p:txBody>
      </p:sp>
      <p:sp>
        <p:nvSpPr>
          <p:cNvPr id="28" name="Google Shape;12215;p82">
            <a:extLst>
              <a:ext uri="{FF2B5EF4-FFF2-40B4-BE49-F238E27FC236}">
                <a16:creationId xmlns:a16="http://schemas.microsoft.com/office/drawing/2014/main" id="{84D3450B-4261-0B81-2037-C80D3645FACE}"/>
              </a:ext>
            </a:extLst>
          </p:cNvPr>
          <p:cNvSpPr/>
          <p:nvPr/>
        </p:nvSpPr>
        <p:spPr>
          <a:xfrm>
            <a:off x="494199" y="208156"/>
            <a:ext cx="2576102" cy="2190589"/>
          </a:xfrm>
          <a:custGeom>
            <a:avLst/>
            <a:gdLst/>
            <a:ahLst/>
            <a:cxnLst/>
            <a:rect l="l" t="t" r="r" b="b"/>
            <a:pathLst>
              <a:path w="11693" h="9716" extrusionOk="0">
                <a:moveTo>
                  <a:pt x="2906" y="346"/>
                </a:moveTo>
                <a:cubicBezTo>
                  <a:pt x="3120" y="346"/>
                  <a:pt x="3287" y="524"/>
                  <a:pt x="3287" y="727"/>
                </a:cubicBezTo>
                <a:lnTo>
                  <a:pt x="3287" y="1096"/>
                </a:lnTo>
                <a:cubicBezTo>
                  <a:pt x="3299" y="1429"/>
                  <a:pt x="3049" y="1679"/>
                  <a:pt x="2727" y="1679"/>
                </a:cubicBezTo>
                <a:cubicBezTo>
                  <a:pt x="2406" y="1679"/>
                  <a:pt x="2144" y="1429"/>
                  <a:pt x="2144" y="1096"/>
                </a:cubicBezTo>
                <a:lnTo>
                  <a:pt x="2144" y="727"/>
                </a:lnTo>
                <a:cubicBezTo>
                  <a:pt x="2144" y="500"/>
                  <a:pt x="2322" y="346"/>
                  <a:pt x="2525" y="346"/>
                </a:cubicBezTo>
                <a:close/>
                <a:moveTo>
                  <a:pt x="5894" y="346"/>
                </a:moveTo>
                <a:cubicBezTo>
                  <a:pt x="6120" y="346"/>
                  <a:pt x="6275" y="524"/>
                  <a:pt x="6275" y="727"/>
                </a:cubicBezTo>
                <a:lnTo>
                  <a:pt x="6275" y="1096"/>
                </a:lnTo>
                <a:cubicBezTo>
                  <a:pt x="6299" y="1429"/>
                  <a:pt x="6037" y="1679"/>
                  <a:pt x="5716" y="1679"/>
                </a:cubicBezTo>
                <a:cubicBezTo>
                  <a:pt x="5406" y="1679"/>
                  <a:pt x="5132" y="1429"/>
                  <a:pt x="5132" y="1096"/>
                </a:cubicBezTo>
                <a:lnTo>
                  <a:pt x="5132" y="727"/>
                </a:lnTo>
                <a:cubicBezTo>
                  <a:pt x="5132" y="500"/>
                  <a:pt x="5311" y="346"/>
                  <a:pt x="5525" y="346"/>
                </a:cubicBezTo>
                <a:close/>
                <a:moveTo>
                  <a:pt x="8895" y="346"/>
                </a:moveTo>
                <a:cubicBezTo>
                  <a:pt x="9121" y="346"/>
                  <a:pt x="9287" y="524"/>
                  <a:pt x="9287" y="727"/>
                </a:cubicBezTo>
                <a:lnTo>
                  <a:pt x="9287" y="1096"/>
                </a:lnTo>
                <a:cubicBezTo>
                  <a:pt x="9299" y="1429"/>
                  <a:pt x="9026" y="1679"/>
                  <a:pt x="8716" y="1679"/>
                </a:cubicBezTo>
                <a:cubicBezTo>
                  <a:pt x="8406" y="1679"/>
                  <a:pt x="8144" y="1429"/>
                  <a:pt x="8144" y="1096"/>
                </a:cubicBezTo>
                <a:lnTo>
                  <a:pt x="8144" y="727"/>
                </a:lnTo>
                <a:cubicBezTo>
                  <a:pt x="8144" y="500"/>
                  <a:pt x="8323" y="346"/>
                  <a:pt x="8525" y="346"/>
                </a:cubicBezTo>
                <a:close/>
                <a:moveTo>
                  <a:pt x="2930" y="2036"/>
                </a:moveTo>
                <a:lnTo>
                  <a:pt x="2930" y="2120"/>
                </a:lnTo>
                <a:cubicBezTo>
                  <a:pt x="2930" y="2179"/>
                  <a:pt x="2941" y="2263"/>
                  <a:pt x="2977" y="2310"/>
                </a:cubicBezTo>
                <a:lnTo>
                  <a:pt x="2739" y="2548"/>
                </a:lnTo>
                <a:lnTo>
                  <a:pt x="2703" y="2548"/>
                </a:lnTo>
                <a:lnTo>
                  <a:pt x="2465" y="2310"/>
                </a:lnTo>
                <a:cubicBezTo>
                  <a:pt x="2501" y="2251"/>
                  <a:pt x="2513" y="2191"/>
                  <a:pt x="2513" y="2120"/>
                </a:cubicBezTo>
                <a:lnTo>
                  <a:pt x="2513" y="2036"/>
                </a:lnTo>
                <a:close/>
                <a:moveTo>
                  <a:pt x="5918" y="2036"/>
                </a:moveTo>
                <a:lnTo>
                  <a:pt x="5918" y="2120"/>
                </a:lnTo>
                <a:cubicBezTo>
                  <a:pt x="5918" y="2179"/>
                  <a:pt x="5942" y="2263"/>
                  <a:pt x="5966" y="2310"/>
                </a:cubicBezTo>
                <a:lnTo>
                  <a:pt x="5728" y="2548"/>
                </a:lnTo>
                <a:lnTo>
                  <a:pt x="5704" y="2548"/>
                </a:lnTo>
                <a:lnTo>
                  <a:pt x="5466" y="2310"/>
                </a:lnTo>
                <a:cubicBezTo>
                  <a:pt x="5489" y="2251"/>
                  <a:pt x="5501" y="2191"/>
                  <a:pt x="5501" y="2120"/>
                </a:cubicBezTo>
                <a:lnTo>
                  <a:pt x="5501" y="2036"/>
                </a:lnTo>
                <a:close/>
                <a:moveTo>
                  <a:pt x="8930" y="2036"/>
                </a:moveTo>
                <a:lnTo>
                  <a:pt x="8930" y="2120"/>
                </a:lnTo>
                <a:cubicBezTo>
                  <a:pt x="8930" y="2179"/>
                  <a:pt x="8942" y="2263"/>
                  <a:pt x="8966" y="2310"/>
                </a:cubicBezTo>
                <a:lnTo>
                  <a:pt x="8728" y="2548"/>
                </a:lnTo>
                <a:lnTo>
                  <a:pt x="8704" y="2548"/>
                </a:lnTo>
                <a:lnTo>
                  <a:pt x="8466" y="2310"/>
                </a:lnTo>
                <a:cubicBezTo>
                  <a:pt x="8490" y="2251"/>
                  <a:pt x="8514" y="2191"/>
                  <a:pt x="8514" y="2120"/>
                </a:cubicBezTo>
                <a:lnTo>
                  <a:pt x="8514" y="2036"/>
                </a:lnTo>
                <a:close/>
                <a:moveTo>
                  <a:pt x="1394" y="3525"/>
                </a:moveTo>
                <a:cubicBezTo>
                  <a:pt x="1620" y="3525"/>
                  <a:pt x="1798" y="3703"/>
                  <a:pt x="1798" y="3918"/>
                </a:cubicBezTo>
                <a:lnTo>
                  <a:pt x="1798" y="4287"/>
                </a:lnTo>
                <a:cubicBezTo>
                  <a:pt x="1798" y="4596"/>
                  <a:pt x="1548" y="4870"/>
                  <a:pt x="1215" y="4870"/>
                </a:cubicBezTo>
                <a:cubicBezTo>
                  <a:pt x="905" y="4870"/>
                  <a:pt x="644" y="4608"/>
                  <a:pt x="644" y="4287"/>
                </a:cubicBezTo>
                <a:lnTo>
                  <a:pt x="644" y="3918"/>
                </a:lnTo>
                <a:cubicBezTo>
                  <a:pt x="644" y="3691"/>
                  <a:pt x="822" y="3525"/>
                  <a:pt x="1025" y="3525"/>
                </a:cubicBezTo>
                <a:close/>
                <a:moveTo>
                  <a:pt x="4406" y="3525"/>
                </a:moveTo>
                <a:cubicBezTo>
                  <a:pt x="4632" y="3525"/>
                  <a:pt x="4811" y="3703"/>
                  <a:pt x="4811" y="3918"/>
                </a:cubicBezTo>
                <a:lnTo>
                  <a:pt x="4811" y="4287"/>
                </a:lnTo>
                <a:cubicBezTo>
                  <a:pt x="4811" y="4596"/>
                  <a:pt x="4549" y="4870"/>
                  <a:pt x="4227" y="4870"/>
                </a:cubicBezTo>
                <a:cubicBezTo>
                  <a:pt x="3918" y="4870"/>
                  <a:pt x="3644" y="4608"/>
                  <a:pt x="3644" y="4287"/>
                </a:cubicBezTo>
                <a:lnTo>
                  <a:pt x="3644" y="3918"/>
                </a:lnTo>
                <a:cubicBezTo>
                  <a:pt x="3644" y="3691"/>
                  <a:pt x="3823" y="3525"/>
                  <a:pt x="4037" y="3525"/>
                </a:cubicBezTo>
                <a:close/>
                <a:moveTo>
                  <a:pt x="7394" y="3525"/>
                </a:moveTo>
                <a:cubicBezTo>
                  <a:pt x="7621" y="3525"/>
                  <a:pt x="7799" y="3703"/>
                  <a:pt x="7799" y="3918"/>
                </a:cubicBezTo>
                <a:lnTo>
                  <a:pt x="7799" y="4287"/>
                </a:lnTo>
                <a:cubicBezTo>
                  <a:pt x="7799" y="4596"/>
                  <a:pt x="7537" y="4870"/>
                  <a:pt x="7216" y="4870"/>
                </a:cubicBezTo>
                <a:cubicBezTo>
                  <a:pt x="6906" y="4870"/>
                  <a:pt x="6632" y="4608"/>
                  <a:pt x="6632" y="4287"/>
                </a:cubicBezTo>
                <a:lnTo>
                  <a:pt x="6632" y="3918"/>
                </a:lnTo>
                <a:cubicBezTo>
                  <a:pt x="6632" y="3691"/>
                  <a:pt x="6811" y="3525"/>
                  <a:pt x="7025" y="3525"/>
                </a:cubicBezTo>
                <a:close/>
                <a:moveTo>
                  <a:pt x="10407" y="3525"/>
                </a:moveTo>
                <a:cubicBezTo>
                  <a:pt x="10621" y="3525"/>
                  <a:pt x="10788" y="3703"/>
                  <a:pt x="10788" y="3918"/>
                </a:cubicBezTo>
                <a:lnTo>
                  <a:pt x="10788" y="4287"/>
                </a:lnTo>
                <a:cubicBezTo>
                  <a:pt x="10800" y="4608"/>
                  <a:pt x="10538" y="4870"/>
                  <a:pt x="10216" y="4870"/>
                </a:cubicBezTo>
                <a:cubicBezTo>
                  <a:pt x="9907" y="4870"/>
                  <a:pt x="9645" y="4608"/>
                  <a:pt x="9645" y="4287"/>
                </a:cubicBezTo>
                <a:lnTo>
                  <a:pt x="9645" y="3918"/>
                </a:lnTo>
                <a:cubicBezTo>
                  <a:pt x="9645" y="3691"/>
                  <a:pt x="9823" y="3525"/>
                  <a:pt x="10026" y="3525"/>
                </a:cubicBezTo>
                <a:close/>
                <a:moveTo>
                  <a:pt x="1429" y="5215"/>
                </a:moveTo>
                <a:lnTo>
                  <a:pt x="1429" y="5311"/>
                </a:lnTo>
                <a:cubicBezTo>
                  <a:pt x="1429" y="5370"/>
                  <a:pt x="1441" y="5442"/>
                  <a:pt x="1477" y="5489"/>
                </a:cubicBezTo>
                <a:lnTo>
                  <a:pt x="1239" y="5727"/>
                </a:lnTo>
                <a:lnTo>
                  <a:pt x="1203" y="5727"/>
                </a:lnTo>
                <a:lnTo>
                  <a:pt x="965" y="5489"/>
                </a:lnTo>
                <a:cubicBezTo>
                  <a:pt x="989" y="5430"/>
                  <a:pt x="1013" y="5370"/>
                  <a:pt x="1013" y="5311"/>
                </a:cubicBezTo>
                <a:lnTo>
                  <a:pt x="1013" y="5215"/>
                </a:lnTo>
                <a:close/>
                <a:moveTo>
                  <a:pt x="4430" y="5215"/>
                </a:moveTo>
                <a:lnTo>
                  <a:pt x="4430" y="5311"/>
                </a:lnTo>
                <a:cubicBezTo>
                  <a:pt x="4430" y="5370"/>
                  <a:pt x="4454" y="5442"/>
                  <a:pt x="4477" y="5489"/>
                </a:cubicBezTo>
                <a:lnTo>
                  <a:pt x="4239" y="5727"/>
                </a:lnTo>
                <a:lnTo>
                  <a:pt x="4215" y="5727"/>
                </a:lnTo>
                <a:lnTo>
                  <a:pt x="3977" y="5489"/>
                </a:lnTo>
                <a:cubicBezTo>
                  <a:pt x="4001" y="5430"/>
                  <a:pt x="4013" y="5370"/>
                  <a:pt x="4013" y="5311"/>
                </a:cubicBezTo>
                <a:lnTo>
                  <a:pt x="4013" y="5215"/>
                </a:lnTo>
                <a:close/>
                <a:moveTo>
                  <a:pt x="7418" y="5215"/>
                </a:moveTo>
                <a:lnTo>
                  <a:pt x="7418" y="5311"/>
                </a:lnTo>
                <a:cubicBezTo>
                  <a:pt x="7418" y="5370"/>
                  <a:pt x="7442" y="5442"/>
                  <a:pt x="7466" y="5489"/>
                </a:cubicBezTo>
                <a:lnTo>
                  <a:pt x="7228" y="5727"/>
                </a:lnTo>
                <a:lnTo>
                  <a:pt x="7204" y="5727"/>
                </a:lnTo>
                <a:lnTo>
                  <a:pt x="6966" y="5489"/>
                </a:lnTo>
                <a:cubicBezTo>
                  <a:pt x="6990" y="5430"/>
                  <a:pt x="7001" y="5370"/>
                  <a:pt x="7001" y="5311"/>
                </a:cubicBezTo>
                <a:lnTo>
                  <a:pt x="7001" y="5215"/>
                </a:lnTo>
                <a:close/>
                <a:moveTo>
                  <a:pt x="10419" y="5215"/>
                </a:moveTo>
                <a:lnTo>
                  <a:pt x="10419" y="5311"/>
                </a:lnTo>
                <a:cubicBezTo>
                  <a:pt x="10419" y="5370"/>
                  <a:pt x="10430" y="5442"/>
                  <a:pt x="10454" y="5489"/>
                </a:cubicBezTo>
                <a:lnTo>
                  <a:pt x="10216" y="5727"/>
                </a:lnTo>
                <a:lnTo>
                  <a:pt x="10192" y="5727"/>
                </a:lnTo>
                <a:lnTo>
                  <a:pt x="9954" y="5489"/>
                </a:lnTo>
                <a:cubicBezTo>
                  <a:pt x="9978" y="5430"/>
                  <a:pt x="10002" y="5370"/>
                  <a:pt x="10002" y="5311"/>
                </a:cubicBezTo>
                <a:lnTo>
                  <a:pt x="10002" y="5215"/>
                </a:lnTo>
                <a:close/>
                <a:moveTo>
                  <a:pt x="2584" y="0"/>
                </a:moveTo>
                <a:cubicBezTo>
                  <a:pt x="2191" y="0"/>
                  <a:pt x="1858" y="322"/>
                  <a:pt x="1858" y="727"/>
                </a:cubicBezTo>
                <a:lnTo>
                  <a:pt x="1858" y="1096"/>
                </a:lnTo>
                <a:cubicBezTo>
                  <a:pt x="1858" y="1393"/>
                  <a:pt x="2013" y="1667"/>
                  <a:pt x="2227" y="1846"/>
                </a:cubicBezTo>
                <a:lnTo>
                  <a:pt x="2227" y="2108"/>
                </a:lnTo>
                <a:cubicBezTo>
                  <a:pt x="2227" y="2108"/>
                  <a:pt x="2227" y="2132"/>
                  <a:pt x="2215" y="2132"/>
                </a:cubicBezTo>
                <a:lnTo>
                  <a:pt x="1787" y="2346"/>
                </a:lnTo>
                <a:cubicBezTo>
                  <a:pt x="1608" y="2441"/>
                  <a:pt x="1489" y="2632"/>
                  <a:pt x="1489" y="2846"/>
                </a:cubicBezTo>
                <a:lnTo>
                  <a:pt x="1489" y="3179"/>
                </a:lnTo>
                <a:lnTo>
                  <a:pt x="1096" y="3179"/>
                </a:lnTo>
                <a:cubicBezTo>
                  <a:pt x="703" y="3179"/>
                  <a:pt x="370" y="3513"/>
                  <a:pt x="370" y="3918"/>
                </a:cubicBezTo>
                <a:lnTo>
                  <a:pt x="370" y="4287"/>
                </a:lnTo>
                <a:cubicBezTo>
                  <a:pt x="370" y="4584"/>
                  <a:pt x="524" y="4846"/>
                  <a:pt x="739" y="5025"/>
                </a:cubicBezTo>
                <a:lnTo>
                  <a:pt x="739" y="5299"/>
                </a:lnTo>
                <a:cubicBezTo>
                  <a:pt x="739" y="5299"/>
                  <a:pt x="739" y="5311"/>
                  <a:pt x="727" y="5311"/>
                </a:cubicBezTo>
                <a:lnTo>
                  <a:pt x="298" y="5537"/>
                </a:lnTo>
                <a:cubicBezTo>
                  <a:pt x="120" y="5620"/>
                  <a:pt x="1" y="5823"/>
                  <a:pt x="1" y="6025"/>
                </a:cubicBezTo>
                <a:lnTo>
                  <a:pt x="1" y="7870"/>
                </a:lnTo>
                <a:cubicBezTo>
                  <a:pt x="1" y="8025"/>
                  <a:pt x="48" y="8156"/>
                  <a:pt x="120" y="8275"/>
                </a:cubicBezTo>
                <a:lnTo>
                  <a:pt x="298" y="8561"/>
                </a:lnTo>
                <a:cubicBezTo>
                  <a:pt x="346" y="8621"/>
                  <a:pt x="358" y="8692"/>
                  <a:pt x="358" y="8775"/>
                </a:cubicBezTo>
                <a:lnTo>
                  <a:pt x="358" y="9549"/>
                </a:lnTo>
                <a:cubicBezTo>
                  <a:pt x="358" y="9644"/>
                  <a:pt x="429" y="9716"/>
                  <a:pt x="524" y="9716"/>
                </a:cubicBezTo>
                <a:cubicBezTo>
                  <a:pt x="608" y="9716"/>
                  <a:pt x="679" y="9644"/>
                  <a:pt x="679" y="9549"/>
                </a:cubicBezTo>
                <a:lnTo>
                  <a:pt x="679" y="8775"/>
                </a:lnTo>
                <a:cubicBezTo>
                  <a:pt x="679" y="8632"/>
                  <a:pt x="644" y="8501"/>
                  <a:pt x="560" y="8371"/>
                </a:cubicBezTo>
                <a:lnTo>
                  <a:pt x="382" y="8097"/>
                </a:lnTo>
                <a:cubicBezTo>
                  <a:pt x="346" y="8037"/>
                  <a:pt x="322" y="7966"/>
                  <a:pt x="322" y="7870"/>
                </a:cubicBezTo>
                <a:lnTo>
                  <a:pt x="322" y="6025"/>
                </a:lnTo>
                <a:cubicBezTo>
                  <a:pt x="322" y="5954"/>
                  <a:pt x="370" y="5882"/>
                  <a:pt x="441" y="5846"/>
                </a:cubicBezTo>
                <a:lnTo>
                  <a:pt x="763" y="5692"/>
                </a:lnTo>
                <a:lnTo>
                  <a:pt x="1036" y="5977"/>
                </a:lnTo>
                <a:cubicBezTo>
                  <a:pt x="1120" y="6049"/>
                  <a:pt x="1203" y="6085"/>
                  <a:pt x="1298" y="6085"/>
                </a:cubicBezTo>
                <a:cubicBezTo>
                  <a:pt x="1382" y="6085"/>
                  <a:pt x="1477" y="6049"/>
                  <a:pt x="1548" y="5977"/>
                </a:cubicBezTo>
                <a:lnTo>
                  <a:pt x="1834" y="5692"/>
                </a:lnTo>
                <a:lnTo>
                  <a:pt x="2144" y="5846"/>
                </a:lnTo>
                <a:cubicBezTo>
                  <a:pt x="2215" y="5882"/>
                  <a:pt x="2263" y="5954"/>
                  <a:pt x="2263" y="6025"/>
                </a:cubicBezTo>
                <a:lnTo>
                  <a:pt x="2263" y="7870"/>
                </a:lnTo>
                <a:cubicBezTo>
                  <a:pt x="2263" y="7942"/>
                  <a:pt x="2227" y="8025"/>
                  <a:pt x="2203" y="8097"/>
                </a:cubicBezTo>
                <a:lnTo>
                  <a:pt x="2025" y="8371"/>
                </a:lnTo>
                <a:cubicBezTo>
                  <a:pt x="1953" y="8490"/>
                  <a:pt x="1906" y="8644"/>
                  <a:pt x="1906" y="8775"/>
                </a:cubicBezTo>
                <a:lnTo>
                  <a:pt x="1906" y="9549"/>
                </a:lnTo>
                <a:cubicBezTo>
                  <a:pt x="1906" y="9644"/>
                  <a:pt x="1977" y="9716"/>
                  <a:pt x="2072" y="9716"/>
                </a:cubicBezTo>
                <a:cubicBezTo>
                  <a:pt x="2156" y="9716"/>
                  <a:pt x="2227" y="9644"/>
                  <a:pt x="2227" y="9549"/>
                </a:cubicBezTo>
                <a:lnTo>
                  <a:pt x="2227" y="8775"/>
                </a:lnTo>
                <a:cubicBezTo>
                  <a:pt x="2227" y="8704"/>
                  <a:pt x="2263" y="8632"/>
                  <a:pt x="2287" y="8561"/>
                </a:cubicBezTo>
                <a:lnTo>
                  <a:pt x="2465" y="8275"/>
                </a:lnTo>
                <a:cubicBezTo>
                  <a:pt x="2549" y="8156"/>
                  <a:pt x="2584" y="8001"/>
                  <a:pt x="2584" y="7870"/>
                </a:cubicBezTo>
                <a:lnTo>
                  <a:pt x="2584" y="6025"/>
                </a:lnTo>
                <a:cubicBezTo>
                  <a:pt x="2584" y="5823"/>
                  <a:pt x="2465" y="5644"/>
                  <a:pt x="2287" y="5537"/>
                </a:cubicBezTo>
                <a:lnTo>
                  <a:pt x="1858" y="5311"/>
                </a:lnTo>
                <a:lnTo>
                  <a:pt x="1846" y="5299"/>
                </a:lnTo>
                <a:lnTo>
                  <a:pt x="1846" y="5025"/>
                </a:lnTo>
                <a:cubicBezTo>
                  <a:pt x="2072" y="4870"/>
                  <a:pt x="2215" y="4596"/>
                  <a:pt x="2215" y="4287"/>
                </a:cubicBezTo>
                <a:lnTo>
                  <a:pt x="2215" y="3918"/>
                </a:lnTo>
                <a:cubicBezTo>
                  <a:pt x="2215" y="3644"/>
                  <a:pt x="2072" y="3406"/>
                  <a:pt x="1846" y="3275"/>
                </a:cubicBezTo>
                <a:lnTo>
                  <a:pt x="1846" y="2822"/>
                </a:lnTo>
                <a:cubicBezTo>
                  <a:pt x="1846" y="2751"/>
                  <a:pt x="1894" y="2679"/>
                  <a:pt x="1965" y="2644"/>
                </a:cubicBezTo>
                <a:lnTo>
                  <a:pt x="2275" y="2501"/>
                </a:lnTo>
                <a:lnTo>
                  <a:pt x="2560" y="2786"/>
                </a:lnTo>
                <a:cubicBezTo>
                  <a:pt x="2632" y="2858"/>
                  <a:pt x="2727" y="2882"/>
                  <a:pt x="2810" y="2882"/>
                </a:cubicBezTo>
                <a:cubicBezTo>
                  <a:pt x="2906" y="2882"/>
                  <a:pt x="2989" y="2858"/>
                  <a:pt x="3061" y="2786"/>
                </a:cubicBezTo>
                <a:lnTo>
                  <a:pt x="3346" y="2501"/>
                </a:lnTo>
                <a:lnTo>
                  <a:pt x="3656" y="2644"/>
                </a:lnTo>
                <a:cubicBezTo>
                  <a:pt x="3739" y="2679"/>
                  <a:pt x="3775" y="2751"/>
                  <a:pt x="3775" y="2822"/>
                </a:cubicBezTo>
                <a:lnTo>
                  <a:pt x="3775" y="3275"/>
                </a:lnTo>
                <a:cubicBezTo>
                  <a:pt x="3561" y="3394"/>
                  <a:pt x="3406" y="3632"/>
                  <a:pt x="3406" y="3918"/>
                </a:cubicBezTo>
                <a:lnTo>
                  <a:pt x="3406" y="4287"/>
                </a:lnTo>
                <a:cubicBezTo>
                  <a:pt x="3406" y="4584"/>
                  <a:pt x="3561" y="4846"/>
                  <a:pt x="3775" y="5025"/>
                </a:cubicBezTo>
                <a:lnTo>
                  <a:pt x="3775" y="5299"/>
                </a:lnTo>
                <a:cubicBezTo>
                  <a:pt x="3775" y="5299"/>
                  <a:pt x="3775" y="5311"/>
                  <a:pt x="3763" y="5311"/>
                </a:cubicBezTo>
                <a:lnTo>
                  <a:pt x="3334" y="5537"/>
                </a:lnTo>
                <a:cubicBezTo>
                  <a:pt x="3156" y="5620"/>
                  <a:pt x="3037" y="5823"/>
                  <a:pt x="3037" y="6025"/>
                </a:cubicBezTo>
                <a:lnTo>
                  <a:pt x="3037" y="7870"/>
                </a:lnTo>
                <a:cubicBezTo>
                  <a:pt x="3037" y="8025"/>
                  <a:pt x="3084" y="8156"/>
                  <a:pt x="3156" y="8275"/>
                </a:cubicBezTo>
                <a:lnTo>
                  <a:pt x="3334" y="8561"/>
                </a:lnTo>
                <a:cubicBezTo>
                  <a:pt x="3382" y="8621"/>
                  <a:pt x="3394" y="8692"/>
                  <a:pt x="3394" y="8775"/>
                </a:cubicBezTo>
                <a:lnTo>
                  <a:pt x="3394" y="9549"/>
                </a:lnTo>
                <a:cubicBezTo>
                  <a:pt x="3394" y="9644"/>
                  <a:pt x="3465" y="9716"/>
                  <a:pt x="3561" y="9716"/>
                </a:cubicBezTo>
                <a:cubicBezTo>
                  <a:pt x="3644" y="9716"/>
                  <a:pt x="3715" y="9644"/>
                  <a:pt x="3715" y="9549"/>
                </a:cubicBezTo>
                <a:lnTo>
                  <a:pt x="3715" y="8775"/>
                </a:lnTo>
                <a:cubicBezTo>
                  <a:pt x="3715" y="8632"/>
                  <a:pt x="3680" y="8501"/>
                  <a:pt x="3596" y="8371"/>
                </a:cubicBezTo>
                <a:lnTo>
                  <a:pt x="3418" y="8097"/>
                </a:lnTo>
                <a:cubicBezTo>
                  <a:pt x="3382" y="8037"/>
                  <a:pt x="3358" y="7966"/>
                  <a:pt x="3358" y="7870"/>
                </a:cubicBezTo>
                <a:lnTo>
                  <a:pt x="3358" y="6025"/>
                </a:lnTo>
                <a:cubicBezTo>
                  <a:pt x="3358" y="5954"/>
                  <a:pt x="3406" y="5882"/>
                  <a:pt x="3477" y="5846"/>
                </a:cubicBezTo>
                <a:lnTo>
                  <a:pt x="3799" y="5692"/>
                </a:lnTo>
                <a:lnTo>
                  <a:pt x="4073" y="5977"/>
                </a:lnTo>
                <a:cubicBezTo>
                  <a:pt x="4156" y="6049"/>
                  <a:pt x="4239" y="6085"/>
                  <a:pt x="4334" y="6085"/>
                </a:cubicBezTo>
                <a:cubicBezTo>
                  <a:pt x="4418" y="6085"/>
                  <a:pt x="4513" y="6049"/>
                  <a:pt x="4585" y="5977"/>
                </a:cubicBezTo>
                <a:lnTo>
                  <a:pt x="4870" y="5692"/>
                </a:lnTo>
                <a:lnTo>
                  <a:pt x="5180" y="5846"/>
                </a:lnTo>
                <a:cubicBezTo>
                  <a:pt x="5251" y="5882"/>
                  <a:pt x="5299" y="5954"/>
                  <a:pt x="5299" y="6025"/>
                </a:cubicBezTo>
                <a:lnTo>
                  <a:pt x="5299" y="7870"/>
                </a:lnTo>
                <a:cubicBezTo>
                  <a:pt x="5299" y="7942"/>
                  <a:pt x="5263" y="8025"/>
                  <a:pt x="5239" y="8097"/>
                </a:cubicBezTo>
                <a:lnTo>
                  <a:pt x="5061" y="8371"/>
                </a:lnTo>
                <a:cubicBezTo>
                  <a:pt x="4989" y="8490"/>
                  <a:pt x="4942" y="8644"/>
                  <a:pt x="4942" y="8775"/>
                </a:cubicBezTo>
                <a:lnTo>
                  <a:pt x="4942" y="9549"/>
                </a:lnTo>
                <a:cubicBezTo>
                  <a:pt x="4942" y="9644"/>
                  <a:pt x="5013" y="9716"/>
                  <a:pt x="5108" y="9716"/>
                </a:cubicBezTo>
                <a:cubicBezTo>
                  <a:pt x="5192" y="9716"/>
                  <a:pt x="5263" y="9644"/>
                  <a:pt x="5263" y="9549"/>
                </a:cubicBezTo>
                <a:lnTo>
                  <a:pt x="5263" y="8775"/>
                </a:lnTo>
                <a:cubicBezTo>
                  <a:pt x="5263" y="8704"/>
                  <a:pt x="5299" y="8632"/>
                  <a:pt x="5323" y="8561"/>
                </a:cubicBezTo>
                <a:lnTo>
                  <a:pt x="5501" y="8275"/>
                </a:lnTo>
                <a:cubicBezTo>
                  <a:pt x="5585" y="8156"/>
                  <a:pt x="5620" y="8001"/>
                  <a:pt x="5620" y="7870"/>
                </a:cubicBezTo>
                <a:lnTo>
                  <a:pt x="5620" y="6025"/>
                </a:lnTo>
                <a:cubicBezTo>
                  <a:pt x="5620" y="5823"/>
                  <a:pt x="5501" y="5644"/>
                  <a:pt x="5323" y="5537"/>
                </a:cubicBezTo>
                <a:lnTo>
                  <a:pt x="4894" y="5311"/>
                </a:lnTo>
                <a:lnTo>
                  <a:pt x="4882" y="5299"/>
                </a:lnTo>
                <a:lnTo>
                  <a:pt x="4882" y="5025"/>
                </a:lnTo>
                <a:cubicBezTo>
                  <a:pt x="5108" y="4870"/>
                  <a:pt x="5251" y="4596"/>
                  <a:pt x="5251" y="4287"/>
                </a:cubicBezTo>
                <a:lnTo>
                  <a:pt x="5251" y="3918"/>
                </a:lnTo>
                <a:cubicBezTo>
                  <a:pt x="5251" y="3644"/>
                  <a:pt x="5108" y="3406"/>
                  <a:pt x="4882" y="3275"/>
                </a:cubicBezTo>
                <a:lnTo>
                  <a:pt x="4882" y="2822"/>
                </a:lnTo>
                <a:cubicBezTo>
                  <a:pt x="4882" y="2751"/>
                  <a:pt x="4930" y="2679"/>
                  <a:pt x="5001" y="2644"/>
                </a:cubicBezTo>
                <a:lnTo>
                  <a:pt x="5311" y="2501"/>
                </a:lnTo>
                <a:lnTo>
                  <a:pt x="5597" y="2786"/>
                </a:lnTo>
                <a:cubicBezTo>
                  <a:pt x="5668" y="2858"/>
                  <a:pt x="5763" y="2882"/>
                  <a:pt x="5847" y="2882"/>
                </a:cubicBezTo>
                <a:cubicBezTo>
                  <a:pt x="5942" y="2882"/>
                  <a:pt x="6025" y="2858"/>
                  <a:pt x="6097" y="2786"/>
                </a:cubicBezTo>
                <a:lnTo>
                  <a:pt x="6382" y="2501"/>
                </a:lnTo>
                <a:lnTo>
                  <a:pt x="6692" y="2644"/>
                </a:lnTo>
                <a:cubicBezTo>
                  <a:pt x="6775" y="2679"/>
                  <a:pt x="6811" y="2751"/>
                  <a:pt x="6811" y="2822"/>
                </a:cubicBezTo>
                <a:lnTo>
                  <a:pt x="6811" y="3275"/>
                </a:lnTo>
                <a:cubicBezTo>
                  <a:pt x="6597" y="3394"/>
                  <a:pt x="6442" y="3632"/>
                  <a:pt x="6442" y="3918"/>
                </a:cubicBezTo>
                <a:lnTo>
                  <a:pt x="6442" y="4287"/>
                </a:lnTo>
                <a:cubicBezTo>
                  <a:pt x="6442" y="4584"/>
                  <a:pt x="6597" y="4846"/>
                  <a:pt x="6811" y="5025"/>
                </a:cubicBezTo>
                <a:lnTo>
                  <a:pt x="6811" y="5299"/>
                </a:lnTo>
                <a:cubicBezTo>
                  <a:pt x="6811" y="5299"/>
                  <a:pt x="6811" y="5311"/>
                  <a:pt x="6799" y="5311"/>
                </a:cubicBezTo>
                <a:lnTo>
                  <a:pt x="6370" y="5537"/>
                </a:lnTo>
                <a:cubicBezTo>
                  <a:pt x="6192" y="5620"/>
                  <a:pt x="6073" y="5823"/>
                  <a:pt x="6073" y="6025"/>
                </a:cubicBezTo>
                <a:lnTo>
                  <a:pt x="6073" y="7870"/>
                </a:lnTo>
                <a:cubicBezTo>
                  <a:pt x="6073" y="8025"/>
                  <a:pt x="6120" y="8156"/>
                  <a:pt x="6192" y="8275"/>
                </a:cubicBezTo>
                <a:lnTo>
                  <a:pt x="6370" y="8561"/>
                </a:lnTo>
                <a:cubicBezTo>
                  <a:pt x="6418" y="8621"/>
                  <a:pt x="6430" y="8692"/>
                  <a:pt x="6430" y="8775"/>
                </a:cubicBezTo>
                <a:lnTo>
                  <a:pt x="6430" y="9549"/>
                </a:lnTo>
                <a:cubicBezTo>
                  <a:pt x="6430" y="9644"/>
                  <a:pt x="6501" y="9716"/>
                  <a:pt x="6597" y="9716"/>
                </a:cubicBezTo>
                <a:cubicBezTo>
                  <a:pt x="6680" y="9716"/>
                  <a:pt x="6751" y="9644"/>
                  <a:pt x="6751" y="9549"/>
                </a:cubicBezTo>
                <a:lnTo>
                  <a:pt x="6751" y="8775"/>
                </a:lnTo>
                <a:cubicBezTo>
                  <a:pt x="6751" y="8632"/>
                  <a:pt x="6716" y="8501"/>
                  <a:pt x="6632" y="8371"/>
                </a:cubicBezTo>
                <a:lnTo>
                  <a:pt x="6454" y="8097"/>
                </a:lnTo>
                <a:cubicBezTo>
                  <a:pt x="6418" y="8037"/>
                  <a:pt x="6394" y="7966"/>
                  <a:pt x="6394" y="7870"/>
                </a:cubicBezTo>
                <a:lnTo>
                  <a:pt x="6394" y="6025"/>
                </a:lnTo>
                <a:cubicBezTo>
                  <a:pt x="6394" y="5954"/>
                  <a:pt x="6442" y="5882"/>
                  <a:pt x="6513" y="5846"/>
                </a:cubicBezTo>
                <a:lnTo>
                  <a:pt x="6835" y="5692"/>
                </a:lnTo>
                <a:lnTo>
                  <a:pt x="7109" y="5977"/>
                </a:lnTo>
                <a:cubicBezTo>
                  <a:pt x="7192" y="6049"/>
                  <a:pt x="7275" y="6085"/>
                  <a:pt x="7371" y="6085"/>
                </a:cubicBezTo>
                <a:cubicBezTo>
                  <a:pt x="7454" y="6085"/>
                  <a:pt x="7549" y="6049"/>
                  <a:pt x="7621" y="5977"/>
                </a:cubicBezTo>
                <a:lnTo>
                  <a:pt x="7906" y="5692"/>
                </a:lnTo>
                <a:lnTo>
                  <a:pt x="8216" y="5846"/>
                </a:lnTo>
                <a:cubicBezTo>
                  <a:pt x="8287" y="5882"/>
                  <a:pt x="8335" y="5954"/>
                  <a:pt x="8335" y="6025"/>
                </a:cubicBezTo>
                <a:lnTo>
                  <a:pt x="8335" y="7870"/>
                </a:lnTo>
                <a:cubicBezTo>
                  <a:pt x="8335" y="7942"/>
                  <a:pt x="8299" y="8025"/>
                  <a:pt x="8275" y="8097"/>
                </a:cubicBezTo>
                <a:lnTo>
                  <a:pt x="8097" y="8371"/>
                </a:lnTo>
                <a:cubicBezTo>
                  <a:pt x="8025" y="8490"/>
                  <a:pt x="7978" y="8644"/>
                  <a:pt x="7978" y="8775"/>
                </a:cubicBezTo>
                <a:lnTo>
                  <a:pt x="7978" y="9549"/>
                </a:lnTo>
                <a:cubicBezTo>
                  <a:pt x="7978" y="9644"/>
                  <a:pt x="8049" y="9716"/>
                  <a:pt x="8144" y="9716"/>
                </a:cubicBezTo>
                <a:cubicBezTo>
                  <a:pt x="8228" y="9716"/>
                  <a:pt x="8299" y="9644"/>
                  <a:pt x="8299" y="9549"/>
                </a:cubicBezTo>
                <a:lnTo>
                  <a:pt x="8299" y="8775"/>
                </a:lnTo>
                <a:cubicBezTo>
                  <a:pt x="8299" y="8704"/>
                  <a:pt x="8335" y="8632"/>
                  <a:pt x="8359" y="8561"/>
                </a:cubicBezTo>
                <a:lnTo>
                  <a:pt x="8537" y="8275"/>
                </a:lnTo>
                <a:cubicBezTo>
                  <a:pt x="8621" y="8156"/>
                  <a:pt x="8656" y="8001"/>
                  <a:pt x="8656" y="7870"/>
                </a:cubicBezTo>
                <a:lnTo>
                  <a:pt x="8656" y="6025"/>
                </a:lnTo>
                <a:cubicBezTo>
                  <a:pt x="8656" y="5823"/>
                  <a:pt x="8537" y="5644"/>
                  <a:pt x="8359" y="5537"/>
                </a:cubicBezTo>
                <a:lnTo>
                  <a:pt x="7930" y="5311"/>
                </a:lnTo>
                <a:lnTo>
                  <a:pt x="7918" y="5299"/>
                </a:lnTo>
                <a:lnTo>
                  <a:pt x="7918" y="5025"/>
                </a:lnTo>
                <a:cubicBezTo>
                  <a:pt x="8144" y="4870"/>
                  <a:pt x="8287" y="4596"/>
                  <a:pt x="8287" y="4287"/>
                </a:cubicBezTo>
                <a:lnTo>
                  <a:pt x="8287" y="3918"/>
                </a:lnTo>
                <a:cubicBezTo>
                  <a:pt x="8287" y="3644"/>
                  <a:pt x="8144" y="3406"/>
                  <a:pt x="7918" y="3275"/>
                </a:cubicBezTo>
                <a:lnTo>
                  <a:pt x="7918" y="2822"/>
                </a:lnTo>
                <a:cubicBezTo>
                  <a:pt x="7918" y="2751"/>
                  <a:pt x="7966" y="2679"/>
                  <a:pt x="8037" y="2644"/>
                </a:cubicBezTo>
                <a:lnTo>
                  <a:pt x="8347" y="2501"/>
                </a:lnTo>
                <a:lnTo>
                  <a:pt x="8633" y="2786"/>
                </a:lnTo>
                <a:cubicBezTo>
                  <a:pt x="8704" y="2858"/>
                  <a:pt x="8799" y="2882"/>
                  <a:pt x="8883" y="2882"/>
                </a:cubicBezTo>
                <a:cubicBezTo>
                  <a:pt x="8978" y="2882"/>
                  <a:pt x="9061" y="2858"/>
                  <a:pt x="9133" y="2786"/>
                </a:cubicBezTo>
                <a:lnTo>
                  <a:pt x="9418" y="2501"/>
                </a:lnTo>
                <a:lnTo>
                  <a:pt x="9728" y="2644"/>
                </a:lnTo>
                <a:cubicBezTo>
                  <a:pt x="9811" y="2679"/>
                  <a:pt x="9847" y="2751"/>
                  <a:pt x="9847" y="2822"/>
                </a:cubicBezTo>
                <a:lnTo>
                  <a:pt x="9847" y="3275"/>
                </a:lnTo>
                <a:cubicBezTo>
                  <a:pt x="9633" y="3394"/>
                  <a:pt x="9478" y="3632"/>
                  <a:pt x="9478" y="3918"/>
                </a:cubicBezTo>
                <a:lnTo>
                  <a:pt x="9478" y="4287"/>
                </a:lnTo>
                <a:cubicBezTo>
                  <a:pt x="9478" y="4584"/>
                  <a:pt x="9633" y="4846"/>
                  <a:pt x="9847" y="5025"/>
                </a:cubicBezTo>
                <a:lnTo>
                  <a:pt x="9847" y="5299"/>
                </a:lnTo>
                <a:cubicBezTo>
                  <a:pt x="9847" y="5299"/>
                  <a:pt x="9847" y="5311"/>
                  <a:pt x="9835" y="5311"/>
                </a:cubicBezTo>
                <a:lnTo>
                  <a:pt x="9407" y="5537"/>
                </a:lnTo>
                <a:cubicBezTo>
                  <a:pt x="9228" y="5620"/>
                  <a:pt x="9109" y="5823"/>
                  <a:pt x="9109" y="6025"/>
                </a:cubicBezTo>
                <a:lnTo>
                  <a:pt x="9109" y="7870"/>
                </a:lnTo>
                <a:cubicBezTo>
                  <a:pt x="9109" y="8025"/>
                  <a:pt x="9157" y="8156"/>
                  <a:pt x="9228" y="8275"/>
                </a:cubicBezTo>
                <a:lnTo>
                  <a:pt x="9407" y="8561"/>
                </a:lnTo>
                <a:cubicBezTo>
                  <a:pt x="9454" y="8621"/>
                  <a:pt x="9466" y="8692"/>
                  <a:pt x="9466" y="8775"/>
                </a:cubicBezTo>
                <a:lnTo>
                  <a:pt x="9466" y="9549"/>
                </a:lnTo>
                <a:cubicBezTo>
                  <a:pt x="9466" y="9644"/>
                  <a:pt x="9538" y="9716"/>
                  <a:pt x="9633" y="9716"/>
                </a:cubicBezTo>
                <a:cubicBezTo>
                  <a:pt x="9716" y="9716"/>
                  <a:pt x="9788" y="9644"/>
                  <a:pt x="9788" y="9549"/>
                </a:cubicBezTo>
                <a:lnTo>
                  <a:pt x="9788" y="8775"/>
                </a:lnTo>
                <a:cubicBezTo>
                  <a:pt x="9788" y="8632"/>
                  <a:pt x="9752" y="8501"/>
                  <a:pt x="9668" y="8371"/>
                </a:cubicBezTo>
                <a:lnTo>
                  <a:pt x="9490" y="8097"/>
                </a:lnTo>
                <a:cubicBezTo>
                  <a:pt x="9454" y="8037"/>
                  <a:pt x="9430" y="7966"/>
                  <a:pt x="9430" y="7870"/>
                </a:cubicBezTo>
                <a:lnTo>
                  <a:pt x="9430" y="6025"/>
                </a:lnTo>
                <a:cubicBezTo>
                  <a:pt x="9430" y="5954"/>
                  <a:pt x="9478" y="5882"/>
                  <a:pt x="9549" y="5846"/>
                </a:cubicBezTo>
                <a:lnTo>
                  <a:pt x="9871" y="5692"/>
                </a:lnTo>
                <a:lnTo>
                  <a:pt x="10145" y="5977"/>
                </a:lnTo>
                <a:cubicBezTo>
                  <a:pt x="10228" y="6049"/>
                  <a:pt x="10311" y="6085"/>
                  <a:pt x="10407" y="6085"/>
                </a:cubicBezTo>
                <a:cubicBezTo>
                  <a:pt x="10490" y="6085"/>
                  <a:pt x="10585" y="6049"/>
                  <a:pt x="10657" y="5977"/>
                </a:cubicBezTo>
                <a:lnTo>
                  <a:pt x="10942" y="5692"/>
                </a:lnTo>
                <a:lnTo>
                  <a:pt x="11252" y="5846"/>
                </a:lnTo>
                <a:cubicBezTo>
                  <a:pt x="11323" y="5882"/>
                  <a:pt x="11371" y="5954"/>
                  <a:pt x="11371" y="6025"/>
                </a:cubicBezTo>
                <a:lnTo>
                  <a:pt x="11371" y="7870"/>
                </a:lnTo>
                <a:cubicBezTo>
                  <a:pt x="11371" y="7942"/>
                  <a:pt x="11335" y="8025"/>
                  <a:pt x="11312" y="8097"/>
                </a:cubicBezTo>
                <a:lnTo>
                  <a:pt x="11133" y="8371"/>
                </a:lnTo>
                <a:cubicBezTo>
                  <a:pt x="11062" y="8490"/>
                  <a:pt x="11014" y="8644"/>
                  <a:pt x="11014" y="8775"/>
                </a:cubicBezTo>
                <a:lnTo>
                  <a:pt x="11014" y="9549"/>
                </a:lnTo>
                <a:cubicBezTo>
                  <a:pt x="11014" y="9644"/>
                  <a:pt x="11085" y="9716"/>
                  <a:pt x="11181" y="9716"/>
                </a:cubicBezTo>
                <a:cubicBezTo>
                  <a:pt x="11264" y="9716"/>
                  <a:pt x="11335" y="9644"/>
                  <a:pt x="11335" y="9549"/>
                </a:cubicBezTo>
                <a:lnTo>
                  <a:pt x="11335" y="8775"/>
                </a:lnTo>
                <a:cubicBezTo>
                  <a:pt x="11335" y="8704"/>
                  <a:pt x="11371" y="8632"/>
                  <a:pt x="11395" y="8561"/>
                </a:cubicBezTo>
                <a:lnTo>
                  <a:pt x="11573" y="8275"/>
                </a:lnTo>
                <a:cubicBezTo>
                  <a:pt x="11657" y="8156"/>
                  <a:pt x="11693" y="8001"/>
                  <a:pt x="11693" y="7870"/>
                </a:cubicBezTo>
                <a:lnTo>
                  <a:pt x="11693" y="6025"/>
                </a:lnTo>
                <a:cubicBezTo>
                  <a:pt x="11514" y="5823"/>
                  <a:pt x="11395" y="5620"/>
                  <a:pt x="11204" y="5537"/>
                </a:cubicBezTo>
                <a:lnTo>
                  <a:pt x="10776" y="5311"/>
                </a:lnTo>
                <a:lnTo>
                  <a:pt x="10764" y="5299"/>
                </a:lnTo>
                <a:lnTo>
                  <a:pt x="10764" y="5025"/>
                </a:lnTo>
                <a:cubicBezTo>
                  <a:pt x="10978" y="4870"/>
                  <a:pt x="11133" y="4596"/>
                  <a:pt x="11133" y="4287"/>
                </a:cubicBezTo>
                <a:lnTo>
                  <a:pt x="11133" y="3918"/>
                </a:lnTo>
                <a:cubicBezTo>
                  <a:pt x="11133" y="3513"/>
                  <a:pt x="10800" y="3179"/>
                  <a:pt x="10407" y="3179"/>
                </a:cubicBezTo>
                <a:lnTo>
                  <a:pt x="10014" y="3179"/>
                </a:lnTo>
                <a:lnTo>
                  <a:pt x="10014" y="2846"/>
                </a:lnTo>
                <a:cubicBezTo>
                  <a:pt x="10014" y="2632"/>
                  <a:pt x="9895" y="2453"/>
                  <a:pt x="9716" y="2346"/>
                </a:cubicBezTo>
                <a:lnTo>
                  <a:pt x="9287" y="2132"/>
                </a:lnTo>
                <a:lnTo>
                  <a:pt x="9276" y="2108"/>
                </a:lnTo>
                <a:lnTo>
                  <a:pt x="9276" y="1846"/>
                </a:lnTo>
                <a:cubicBezTo>
                  <a:pt x="9490" y="1679"/>
                  <a:pt x="9645" y="1417"/>
                  <a:pt x="9645" y="1096"/>
                </a:cubicBezTo>
                <a:lnTo>
                  <a:pt x="9645" y="727"/>
                </a:lnTo>
                <a:cubicBezTo>
                  <a:pt x="9645" y="322"/>
                  <a:pt x="9311" y="0"/>
                  <a:pt x="8918" y="0"/>
                </a:cubicBezTo>
                <a:lnTo>
                  <a:pt x="8537" y="0"/>
                </a:lnTo>
                <a:cubicBezTo>
                  <a:pt x="8133" y="0"/>
                  <a:pt x="7811" y="322"/>
                  <a:pt x="7811" y="727"/>
                </a:cubicBezTo>
                <a:lnTo>
                  <a:pt x="7811" y="1096"/>
                </a:lnTo>
                <a:cubicBezTo>
                  <a:pt x="7811" y="1393"/>
                  <a:pt x="7966" y="1667"/>
                  <a:pt x="8180" y="1846"/>
                </a:cubicBezTo>
                <a:lnTo>
                  <a:pt x="8180" y="2108"/>
                </a:lnTo>
                <a:cubicBezTo>
                  <a:pt x="8180" y="2108"/>
                  <a:pt x="8180" y="2132"/>
                  <a:pt x="8168" y="2132"/>
                </a:cubicBezTo>
                <a:lnTo>
                  <a:pt x="7740" y="2346"/>
                </a:lnTo>
                <a:cubicBezTo>
                  <a:pt x="7561" y="2441"/>
                  <a:pt x="7442" y="2632"/>
                  <a:pt x="7442" y="2846"/>
                </a:cubicBezTo>
                <a:lnTo>
                  <a:pt x="7442" y="3179"/>
                </a:lnTo>
                <a:lnTo>
                  <a:pt x="7037" y="3179"/>
                </a:lnTo>
                <a:lnTo>
                  <a:pt x="7037" y="2846"/>
                </a:lnTo>
                <a:cubicBezTo>
                  <a:pt x="7037" y="2632"/>
                  <a:pt x="6918" y="2453"/>
                  <a:pt x="6740" y="2346"/>
                </a:cubicBezTo>
                <a:lnTo>
                  <a:pt x="6311" y="2132"/>
                </a:lnTo>
                <a:lnTo>
                  <a:pt x="6299" y="2108"/>
                </a:lnTo>
                <a:lnTo>
                  <a:pt x="6299" y="1846"/>
                </a:lnTo>
                <a:cubicBezTo>
                  <a:pt x="6513" y="1679"/>
                  <a:pt x="6668" y="1417"/>
                  <a:pt x="6668" y="1096"/>
                </a:cubicBezTo>
                <a:lnTo>
                  <a:pt x="6668" y="727"/>
                </a:lnTo>
                <a:cubicBezTo>
                  <a:pt x="6668" y="322"/>
                  <a:pt x="6335" y="0"/>
                  <a:pt x="5942" y="0"/>
                </a:cubicBezTo>
                <a:lnTo>
                  <a:pt x="5561" y="0"/>
                </a:lnTo>
                <a:cubicBezTo>
                  <a:pt x="5168" y="0"/>
                  <a:pt x="4835" y="322"/>
                  <a:pt x="4835" y="727"/>
                </a:cubicBezTo>
                <a:lnTo>
                  <a:pt x="4835" y="1096"/>
                </a:lnTo>
                <a:cubicBezTo>
                  <a:pt x="4835" y="1393"/>
                  <a:pt x="4989" y="1667"/>
                  <a:pt x="5204" y="1846"/>
                </a:cubicBezTo>
                <a:lnTo>
                  <a:pt x="5204" y="2108"/>
                </a:lnTo>
                <a:cubicBezTo>
                  <a:pt x="5204" y="2108"/>
                  <a:pt x="5204" y="2132"/>
                  <a:pt x="5192" y="2132"/>
                </a:cubicBezTo>
                <a:lnTo>
                  <a:pt x="4763" y="2346"/>
                </a:lnTo>
                <a:cubicBezTo>
                  <a:pt x="4585" y="2441"/>
                  <a:pt x="4465" y="2632"/>
                  <a:pt x="4465" y="2846"/>
                </a:cubicBezTo>
                <a:lnTo>
                  <a:pt x="4465" y="3179"/>
                </a:lnTo>
                <a:lnTo>
                  <a:pt x="4061" y="3179"/>
                </a:lnTo>
                <a:lnTo>
                  <a:pt x="4061" y="2846"/>
                </a:lnTo>
                <a:cubicBezTo>
                  <a:pt x="4061" y="2632"/>
                  <a:pt x="3942" y="2453"/>
                  <a:pt x="3763" y="2346"/>
                </a:cubicBezTo>
                <a:lnTo>
                  <a:pt x="3334" y="2132"/>
                </a:lnTo>
                <a:lnTo>
                  <a:pt x="3322" y="2108"/>
                </a:lnTo>
                <a:lnTo>
                  <a:pt x="3322" y="1846"/>
                </a:lnTo>
                <a:cubicBezTo>
                  <a:pt x="3537" y="1679"/>
                  <a:pt x="3692" y="1417"/>
                  <a:pt x="3692" y="1096"/>
                </a:cubicBezTo>
                <a:lnTo>
                  <a:pt x="3692" y="727"/>
                </a:lnTo>
                <a:cubicBezTo>
                  <a:pt x="3692" y="322"/>
                  <a:pt x="3358" y="0"/>
                  <a:pt x="2965" y="0"/>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9139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down)">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barn(inVertical)">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 calcmode="lin" valueType="num">
                                      <p:cBhvr>
                                        <p:cTn id="27" dur="1000" fill="hold"/>
                                        <p:tgtEl>
                                          <p:spTgt spid="27"/>
                                        </p:tgtEl>
                                        <p:attrNameLst>
                                          <p:attrName>ppt_w</p:attrName>
                                        </p:attrNameLst>
                                      </p:cBhvr>
                                      <p:tavLst>
                                        <p:tav tm="0">
                                          <p:val>
                                            <p:fltVal val="0"/>
                                          </p:val>
                                        </p:tav>
                                        <p:tav tm="100000">
                                          <p:val>
                                            <p:strVal val="#ppt_w"/>
                                          </p:val>
                                        </p:tav>
                                      </p:tavLst>
                                    </p:anim>
                                    <p:anim calcmode="lin" valueType="num">
                                      <p:cBhvr>
                                        <p:cTn id="28" dur="1000" fill="hold"/>
                                        <p:tgtEl>
                                          <p:spTgt spid="27"/>
                                        </p:tgtEl>
                                        <p:attrNameLst>
                                          <p:attrName>ppt_h</p:attrName>
                                        </p:attrNameLst>
                                      </p:cBhvr>
                                      <p:tavLst>
                                        <p:tav tm="0">
                                          <p:val>
                                            <p:fltVal val="0"/>
                                          </p:val>
                                        </p:tav>
                                        <p:tav tm="100000">
                                          <p:val>
                                            <p:strVal val="#ppt_h"/>
                                          </p:val>
                                        </p:tav>
                                      </p:tavLst>
                                    </p:anim>
                                    <p:anim calcmode="lin" valueType="num">
                                      <p:cBhvr>
                                        <p:cTn id="29" dur="1000" fill="hold"/>
                                        <p:tgtEl>
                                          <p:spTgt spid="27"/>
                                        </p:tgtEl>
                                        <p:attrNameLst>
                                          <p:attrName>style.rotation</p:attrName>
                                        </p:attrNameLst>
                                      </p:cBhvr>
                                      <p:tavLst>
                                        <p:tav tm="0">
                                          <p:val>
                                            <p:fltVal val="90"/>
                                          </p:val>
                                        </p:tav>
                                        <p:tav tm="100000">
                                          <p:val>
                                            <p:fltVal val="0"/>
                                          </p:val>
                                        </p:tav>
                                      </p:tavLst>
                                    </p:anim>
                                    <p:animEffect transition="in" filter="fade">
                                      <p:cBhvr>
                                        <p:cTn id="30"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6" grpId="0" animBg="1"/>
      <p:bldP spid="2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40"/>
        <p:cNvGrpSpPr/>
        <p:nvPr/>
      </p:nvGrpSpPr>
      <p:grpSpPr>
        <a:xfrm>
          <a:off x="0" y="0"/>
          <a:ext cx="0" cy="0"/>
          <a:chOff x="0" y="0"/>
          <a:chExt cx="0" cy="0"/>
        </a:xfrm>
      </p:grpSpPr>
      <p:cxnSp>
        <p:nvCxnSpPr>
          <p:cNvPr id="242" name="Google Shape;242;p31"/>
          <p:cNvCxnSpPr>
            <a:cxnSpLocks/>
          </p:cNvCxnSpPr>
          <p:nvPr/>
        </p:nvCxnSpPr>
        <p:spPr>
          <a:xfrm>
            <a:off x="3993351" y="1870209"/>
            <a:ext cx="0" cy="4489783"/>
          </a:xfrm>
          <a:prstGeom prst="straightConnector1">
            <a:avLst/>
          </a:prstGeom>
          <a:noFill/>
          <a:ln w="9525" cap="flat" cmpd="sng">
            <a:solidFill>
              <a:srgbClr val="FFFFFF"/>
            </a:solidFill>
            <a:prstDash val="solid"/>
            <a:round/>
            <a:headEnd type="none" w="sm" len="sm"/>
            <a:tailEnd type="none" w="sm" len="sm"/>
          </a:ln>
        </p:spPr>
      </p:cxnSp>
      <p:cxnSp>
        <p:nvCxnSpPr>
          <p:cNvPr id="243" name="Google Shape;243;p31"/>
          <p:cNvCxnSpPr/>
          <p:nvPr/>
        </p:nvCxnSpPr>
        <p:spPr>
          <a:xfrm rot="5400000">
            <a:off x="2180160" y="189098"/>
            <a:ext cx="3626382" cy="0"/>
          </a:xfrm>
          <a:prstGeom prst="straightConnector1">
            <a:avLst/>
          </a:prstGeom>
          <a:noFill/>
          <a:ln w="9525" cap="flat" cmpd="sng">
            <a:solidFill>
              <a:srgbClr val="FFFFFF"/>
            </a:solidFill>
            <a:prstDash val="solid"/>
            <a:round/>
            <a:headEnd type="none" w="sm" len="sm"/>
            <a:tailEnd type="none" w="sm" len="sm"/>
          </a:ln>
        </p:spPr>
      </p:cxnSp>
      <p:grpSp>
        <p:nvGrpSpPr>
          <p:cNvPr id="246" name="Google Shape;246;p31"/>
          <p:cNvGrpSpPr/>
          <p:nvPr/>
        </p:nvGrpSpPr>
        <p:grpSpPr>
          <a:xfrm>
            <a:off x="8837359" y="-72330"/>
            <a:ext cx="1543051" cy="5808473"/>
            <a:chOff x="0" y="-38100"/>
            <a:chExt cx="812800" cy="3059607"/>
          </a:xfrm>
        </p:grpSpPr>
        <p:sp>
          <p:nvSpPr>
            <p:cNvPr id="247" name="Google Shape;247;p31"/>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FFFFFF">
                <a:alpha val="13333"/>
              </a:srgbClr>
            </a:solidFill>
            <a:ln>
              <a:noFill/>
            </a:ln>
          </p:spPr>
          <p:txBody>
            <a:bodyPr/>
            <a:lstStyle/>
            <a:p>
              <a:endParaRPr lang="en-US"/>
            </a:p>
          </p:txBody>
        </p:sp>
        <p:sp>
          <p:nvSpPr>
            <p:cNvPr id="248" name="Google Shape;248;p31"/>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249" name="Google Shape;249;p31"/>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sp>
        <p:nvSpPr>
          <p:cNvPr id="27" name="Rectangle 26">
            <a:extLst>
              <a:ext uri="{FF2B5EF4-FFF2-40B4-BE49-F238E27FC236}">
                <a16:creationId xmlns:a16="http://schemas.microsoft.com/office/drawing/2014/main" id="{EBF797F8-B33E-0546-90FC-D6F8023AF9FC}"/>
              </a:ext>
            </a:extLst>
          </p:cNvPr>
          <p:cNvSpPr/>
          <p:nvPr/>
        </p:nvSpPr>
        <p:spPr>
          <a:xfrm>
            <a:off x="5716860" y="222785"/>
            <a:ext cx="2923417" cy="8628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t>برکناری شهردار توسط انجمن شهر براساس ماده 53 این قانون</a:t>
            </a:r>
            <a:endParaRPr lang="en-US" dirty="0"/>
          </a:p>
        </p:txBody>
      </p:sp>
      <p:sp>
        <p:nvSpPr>
          <p:cNvPr id="28" name="Google Shape;12215;p82">
            <a:extLst>
              <a:ext uri="{FF2B5EF4-FFF2-40B4-BE49-F238E27FC236}">
                <a16:creationId xmlns:a16="http://schemas.microsoft.com/office/drawing/2014/main" id="{84D3450B-4261-0B81-2037-C80D3645FACE}"/>
              </a:ext>
            </a:extLst>
          </p:cNvPr>
          <p:cNvSpPr/>
          <p:nvPr/>
        </p:nvSpPr>
        <p:spPr>
          <a:xfrm>
            <a:off x="494199" y="208156"/>
            <a:ext cx="2576102" cy="2190589"/>
          </a:xfrm>
          <a:custGeom>
            <a:avLst/>
            <a:gdLst/>
            <a:ahLst/>
            <a:cxnLst/>
            <a:rect l="l" t="t" r="r" b="b"/>
            <a:pathLst>
              <a:path w="11693" h="9716" extrusionOk="0">
                <a:moveTo>
                  <a:pt x="2906" y="346"/>
                </a:moveTo>
                <a:cubicBezTo>
                  <a:pt x="3120" y="346"/>
                  <a:pt x="3287" y="524"/>
                  <a:pt x="3287" y="727"/>
                </a:cubicBezTo>
                <a:lnTo>
                  <a:pt x="3287" y="1096"/>
                </a:lnTo>
                <a:cubicBezTo>
                  <a:pt x="3299" y="1429"/>
                  <a:pt x="3049" y="1679"/>
                  <a:pt x="2727" y="1679"/>
                </a:cubicBezTo>
                <a:cubicBezTo>
                  <a:pt x="2406" y="1679"/>
                  <a:pt x="2144" y="1429"/>
                  <a:pt x="2144" y="1096"/>
                </a:cubicBezTo>
                <a:lnTo>
                  <a:pt x="2144" y="727"/>
                </a:lnTo>
                <a:cubicBezTo>
                  <a:pt x="2144" y="500"/>
                  <a:pt x="2322" y="346"/>
                  <a:pt x="2525" y="346"/>
                </a:cubicBezTo>
                <a:close/>
                <a:moveTo>
                  <a:pt x="5894" y="346"/>
                </a:moveTo>
                <a:cubicBezTo>
                  <a:pt x="6120" y="346"/>
                  <a:pt x="6275" y="524"/>
                  <a:pt x="6275" y="727"/>
                </a:cubicBezTo>
                <a:lnTo>
                  <a:pt x="6275" y="1096"/>
                </a:lnTo>
                <a:cubicBezTo>
                  <a:pt x="6299" y="1429"/>
                  <a:pt x="6037" y="1679"/>
                  <a:pt x="5716" y="1679"/>
                </a:cubicBezTo>
                <a:cubicBezTo>
                  <a:pt x="5406" y="1679"/>
                  <a:pt x="5132" y="1429"/>
                  <a:pt x="5132" y="1096"/>
                </a:cubicBezTo>
                <a:lnTo>
                  <a:pt x="5132" y="727"/>
                </a:lnTo>
                <a:cubicBezTo>
                  <a:pt x="5132" y="500"/>
                  <a:pt x="5311" y="346"/>
                  <a:pt x="5525" y="346"/>
                </a:cubicBezTo>
                <a:close/>
                <a:moveTo>
                  <a:pt x="8895" y="346"/>
                </a:moveTo>
                <a:cubicBezTo>
                  <a:pt x="9121" y="346"/>
                  <a:pt x="9287" y="524"/>
                  <a:pt x="9287" y="727"/>
                </a:cubicBezTo>
                <a:lnTo>
                  <a:pt x="9287" y="1096"/>
                </a:lnTo>
                <a:cubicBezTo>
                  <a:pt x="9299" y="1429"/>
                  <a:pt x="9026" y="1679"/>
                  <a:pt x="8716" y="1679"/>
                </a:cubicBezTo>
                <a:cubicBezTo>
                  <a:pt x="8406" y="1679"/>
                  <a:pt x="8144" y="1429"/>
                  <a:pt x="8144" y="1096"/>
                </a:cubicBezTo>
                <a:lnTo>
                  <a:pt x="8144" y="727"/>
                </a:lnTo>
                <a:cubicBezTo>
                  <a:pt x="8144" y="500"/>
                  <a:pt x="8323" y="346"/>
                  <a:pt x="8525" y="346"/>
                </a:cubicBezTo>
                <a:close/>
                <a:moveTo>
                  <a:pt x="2930" y="2036"/>
                </a:moveTo>
                <a:lnTo>
                  <a:pt x="2930" y="2120"/>
                </a:lnTo>
                <a:cubicBezTo>
                  <a:pt x="2930" y="2179"/>
                  <a:pt x="2941" y="2263"/>
                  <a:pt x="2977" y="2310"/>
                </a:cubicBezTo>
                <a:lnTo>
                  <a:pt x="2739" y="2548"/>
                </a:lnTo>
                <a:lnTo>
                  <a:pt x="2703" y="2548"/>
                </a:lnTo>
                <a:lnTo>
                  <a:pt x="2465" y="2310"/>
                </a:lnTo>
                <a:cubicBezTo>
                  <a:pt x="2501" y="2251"/>
                  <a:pt x="2513" y="2191"/>
                  <a:pt x="2513" y="2120"/>
                </a:cubicBezTo>
                <a:lnTo>
                  <a:pt x="2513" y="2036"/>
                </a:lnTo>
                <a:close/>
                <a:moveTo>
                  <a:pt x="5918" y="2036"/>
                </a:moveTo>
                <a:lnTo>
                  <a:pt x="5918" y="2120"/>
                </a:lnTo>
                <a:cubicBezTo>
                  <a:pt x="5918" y="2179"/>
                  <a:pt x="5942" y="2263"/>
                  <a:pt x="5966" y="2310"/>
                </a:cubicBezTo>
                <a:lnTo>
                  <a:pt x="5728" y="2548"/>
                </a:lnTo>
                <a:lnTo>
                  <a:pt x="5704" y="2548"/>
                </a:lnTo>
                <a:lnTo>
                  <a:pt x="5466" y="2310"/>
                </a:lnTo>
                <a:cubicBezTo>
                  <a:pt x="5489" y="2251"/>
                  <a:pt x="5501" y="2191"/>
                  <a:pt x="5501" y="2120"/>
                </a:cubicBezTo>
                <a:lnTo>
                  <a:pt x="5501" y="2036"/>
                </a:lnTo>
                <a:close/>
                <a:moveTo>
                  <a:pt x="8930" y="2036"/>
                </a:moveTo>
                <a:lnTo>
                  <a:pt x="8930" y="2120"/>
                </a:lnTo>
                <a:cubicBezTo>
                  <a:pt x="8930" y="2179"/>
                  <a:pt x="8942" y="2263"/>
                  <a:pt x="8966" y="2310"/>
                </a:cubicBezTo>
                <a:lnTo>
                  <a:pt x="8728" y="2548"/>
                </a:lnTo>
                <a:lnTo>
                  <a:pt x="8704" y="2548"/>
                </a:lnTo>
                <a:lnTo>
                  <a:pt x="8466" y="2310"/>
                </a:lnTo>
                <a:cubicBezTo>
                  <a:pt x="8490" y="2251"/>
                  <a:pt x="8514" y="2191"/>
                  <a:pt x="8514" y="2120"/>
                </a:cubicBezTo>
                <a:lnTo>
                  <a:pt x="8514" y="2036"/>
                </a:lnTo>
                <a:close/>
                <a:moveTo>
                  <a:pt x="1394" y="3525"/>
                </a:moveTo>
                <a:cubicBezTo>
                  <a:pt x="1620" y="3525"/>
                  <a:pt x="1798" y="3703"/>
                  <a:pt x="1798" y="3918"/>
                </a:cubicBezTo>
                <a:lnTo>
                  <a:pt x="1798" y="4287"/>
                </a:lnTo>
                <a:cubicBezTo>
                  <a:pt x="1798" y="4596"/>
                  <a:pt x="1548" y="4870"/>
                  <a:pt x="1215" y="4870"/>
                </a:cubicBezTo>
                <a:cubicBezTo>
                  <a:pt x="905" y="4870"/>
                  <a:pt x="644" y="4608"/>
                  <a:pt x="644" y="4287"/>
                </a:cubicBezTo>
                <a:lnTo>
                  <a:pt x="644" y="3918"/>
                </a:lnTo>
                <a:cubicBezTo>
                  <a:pt x="644" y="3691"/>
                  <a:pt x="822" y="3525"/>
                  <a:pt x="1025" y="3525"/>
                </a:cubicBezTo>
                <a:close/>
                <a:moveTo>
                  <a:pt x="4406" y="3525"/>
                </a:moveTo>
                <a:cubicBezTo>
                  <a:pt x="4632" y="3525"/>
                  <a:pt x="4811" y="3703"/>
                  <a:pt x="4811" y="3918"/>
                </a:cubicBezTo>
                <a:lnTo>
                  <a:pt x="4811" y="4287"/>
                </a:lnTo>
                <a:cubicBezTo>
                  <a:pt x="4811" y="4596"/>
                  <a:pt x="4549" y="4870"/>
                  <a:pt x="4227" y="4870"/>
                </a:cubicBezTo>
                <a:cubicBezTo>
                  <a:pt x="3918" y="4870"/>
                  <a:pt x="3644" y="4608"/>
                  <a:pt x="3644" y="4287"/>
                </a:cubicBezTo>
                <a:lnTo>
                  <a:pt x="3644" y="3918"/>
                </a:lnTo>
                <a:cubicBezTo>
                  <a:pt x="3644" y="3691"/>
                  <a:pt x="3823" y="3525"/>
                  <a:pt x="4037" y="3525"/>
                </a:cubicBezTo>
                <a:close/>
                <a:moveTo>
                  <a:pt x="7394" y="3525"/>
                </a:moveTo>
                <a:cubicBezTo>
                  <a:pt x="7621" y="3525"/>
                  <a:pt x="7799" y="3703"/>
                  <a:pt x="7799" y="3918"/>
                </a:cubicBezTo>
                <a:lnTo>
                  <a:pt x="7799" y="4287"/>
                </a:lnTo>
                <a:cubicBezTo>
                  <a:pt x="7799" y="4596"/>
                  <a:pt x="7537" y="4870"/>
                  <a:pt x="7216" y="4870"/>
                </a:cubicBezTo>
                <a:cubicBezTo>
                  <a:pt x="6906" y="4870"/>
                  <a:pt x="6632" y="4608"/>
                  <a:pt x="6632" y="4287"/>
                </a:cubicBezTo>
                <a:lnTo>
                  <a:pt x="6632" y="3918"/>
                </a:lnTo>
                <a:cubicBezTo>
                  <a:pt x="6632" y="3691"/>
                  <a:pt x="6811" y="3525"/>
                  <a:pt x="7025" y="3525"/>
                </a:cubicBezTo>
                <a:close/>
                <a:moveTo>
                  <a:pt x="10407" y="3525"/>
                </a:moveTo>
                <a:cubicBezTo>
                  <a:pt x="10621" y="3525"/>
                  <a:pt x="10788" y="3703"/>
                  <a:pt x="10788" y="3918"/>
                </a:cubicBezTo>
                <a:lnTo>
                  <a:pt x="10788" y="4287"/>
                </a:lnTo>
                <a:cubicBezTo>
                  <a:pt x="10800" y="4608"/>
                  <a:pt x="10538" y="4870"/>
                  <a:pt x="10216" y="4870"/>
                </a:cubicBezTo>
                <a:cubicBezTo>
                  <a:pt x="9907" y="4870"/>
                  <a:pt x="9645" y="4608"/>
                  <a:pt x="9645" y="4287"/>
                </a:cubicBezTo>
                <a:lnTo>
                  <a:pt x="9645" y="3918"/>
                </a:lnTo>
                <a:cubicBezTo>
                  <a:pt x="9645" y="3691"/>
                  <a:pt x="9823" y="3525"/>
                  <a:pt x="10026" y="3525"/>
                </a:cubicBezTo>
                <a:close/>
                <a:moveTo>
                  <a:pt x="1429" y="5215"/>
                </a:moveTo>
                <a:lnTo>
                  <a:pt x="1429" y="5311"/>
                </a:lnTo>
                <a:cubicBezTo>
                  <a:pt x="1429" y="5370"/>
                  <a:pt x="1441" y="5442"/>
                  <a:pt x="1477" y="5489"/>
                </a:cubicBezTo>
                <a:lnTo>
                  <a:pt x="1239" y="5727"/>
                </a:lnTo>
                <a:lnTo>
                  <a:pt x="1203" y="5727"/>
                </a:lnTo>
                <a:lnTo>
                  <a:pt x="965" y="5489"/>
                </a:lnTo>
                <a:cubicBezTo>
                  <a:pt x="989" y="5430"/>
                  <a:pt x="1013" y="5370"/>
                  <a:pt x="1013" y="5311"/>
                </a:cubicBezTo>
                <a:lnTo>
                  <a:pt x="1013" y="5215"/>
                </a:lnTo>
                <a:close/>
                <a:moveTo>
                  <a:pt x="4430" y="5215"/>
                </a:moveTo>
                <a:lnTo>
                  <a:pt x="4430" y="5311"/>
                </a:lnTo>
                <a:cubicBezTo>
                  <a:pt x="4430" y="5370"/>
                  <a:pt x="4454" y="5442"/>
                  <a:pt x="4477" y="5489"/>
                </a:cubicBezTo>
                <a:lnTo>
                  <a:pt x="4239" y="5727"/>
                </a:lnTo>
                <a:lnTo>
                  <a:pt x="4215" y="5727"/>
                </a:lnTo>
                <a:lnTo>
                  <a:pt x="3977" y="5489"/>
                </a:lnTo>
                <a:cubicBezTo>
                  <a:pt x="4001" y="5430"/>
                  <a:pt x="4013" y="5370"/>
                  <a:pt x="4013" y="5311"/>
                </a:cubicBezTo>
                <a:lnTo>
                  <a:pt x="4013" y="5215"/>
                </a:lnTo>
                <a:close/>
                <a:moveTo>
                  <a:pt x="7418" y="5215"/>
                </a:moveTo>
                <a:lnTo>
                  <a:pt x="7418" y="5311"/>
                </a:lnTo>
                <a:cubicBezTo>
                  <a:pt x="7418" y="5370"/>
                  <a:pt x="7442" y="5442"/>
                  <a:pt x="7466" y="5489"/>
                </a:cubicBezTo>
                <a:lnTo>
                  <a:pt x="7228" y="5727"/>
                </a:lnTo>
                <a:lnTo>
                  <a:pt x="7204" y="5727"/>
                </a:lnTo>
                <a:lnTo>
                  <a:pt x="6966" y="5489"/>
                </a:lnTo>
                <a:cubicBezTo>
                  <a:pt x="6990" y="5430"/>
                  <a:pt x="7001" y="5370"/>
                  <a:pt x="7001" y="5311"/>
                </a:cubicBezTo>
                <a:lnTo>
                  <a:pt x="7001" y="5215"/>
                </a:lnTo>
                <a:close/>
                <a:moveTo>
                  <a:pt x="10419" y="5215"/>
                </a:moveTo>
                <a:lnTo>
                  <a:pt x="10419" y="5311"/>
                </a:lnTo>
                <a:cubicBezTo>
                  <a:pt x="10419" y="5370"/>
                  <a:pt x="10430" y="5442"/>
                  <a:pt x="10454" y="5489"/>
                </a:cubicBezTo>
                <a:lnTo>
                  <a:pt x="10216" y="5727"/>
                </a:lnTo>
                <a:lnTo>
                  <a:pt x="10192" y="5727"/>
                </a:lnTo>
                <a:lnTo>
                  <a:pt x="9954" y="5489"/>
                </a:lnTo>
                <a:cubicBezTo>
                  <a:pt x="9978" y="5430"/>
                  <a:pt x="10002" y="5370"/>
                  <a:pt x="10002" y="5311"/>
                </a:cubicBezTo>
                <a:lnTo>
                  <a:pt x="10002" y="5215"/>
                </a:lnTo>
                <a:close/>
                <a:moveTo>
                  <a:pt x="2584" y="0"/>
                </a:moveTo>
                <a:cubicBezTo>
                  <a:pt x="2191" y="0"/>
                  <a:pt x="1858" y="322"/>
                  <a:pt x="1858" y="727"/>
                </a:cubicBezTo>
                <a:lnTo>
                  <a:pt x="1858" y="1096"/>
                </a:lnTo>
                <a:cubicBezTo>
                  <a:pt x="1858" y="1393"/>
                  <a:pt x="2013" y="1667"/>
                  <a:pt x="2227" y="1846"/>
                </a:cubicBezTo>
                <a:lnTo>
                  <a:pt x="2227" y="2108"/>
                </a:lnTo>
                <a:cubicBezTo>
                  <a:pt x="2227" y="2108"/>
                  <a:pt x="2227" y="2132"/>
                  <a:pt x="2215" y="2132"/>
                </a:cubicBezTo>
                <a:lnTo>
                  <a:pt x="1787" y="2346"/>
                </a:lnTo>
                <a:cubicBezTo>
                  <a:pt x="1608" y="2441"/>
                  <a:pt x="1489" y="2632"/>
                  <a:pt x="1489" y="2846"/>
                </a:cubicBezTo>
                <a:lnTo>
                  <a:pt x="1489" y="3179"/>
                </a:lnTo>
                <a:lnTo>
                  <a:pt x="1096" y="3179"/>
                </a:lnTo>
                <a:cubicBezTo>
                  <a:pt x="703" y="3179"/>
                  <a:pt x="370" y="3513"/>
                  <a:pt x="370" y="3918"/>
                </a:cubicBezTo>
                <a:lnTo>
                  <a:pt x="370" y="4287"/>
                </a:lnTo>
                <a:cubicBezTo>
                  <a:pt x="370" y="4584"/>
                  <a:pt x="524" y="4846"/>
                  <a:pt x="739" y="5025"/>
                </a:cubicBezTo>
                <a:lnTo>
                  <a:pt x="739" y="5299"/>
                </a:lnTo>
                <a:cubicBezTo>
                  <a:pt x="739" y="5299"/>
                  <a:pt x="739" y="5311"/>
                  <a:pt x="727" y="5311"/>
                </a:cubicBezTo>
                <a:lnTo>
                  <a:pt x="298" y="5537"/>
                </a:lnTo>
                <a:cubicBezTo>
                  <a:pt x="120" y="5620"/>
                  <a:pt x="1" y="5823"/>
                  <a:pt x="1" y="6025"/>
                </a:cubicBezTo>
                <a:lnTo>
                  <a:pt x="1" y="7870"/>
                </a:lnTo>
                <a:cubicBezTo>
                  <a:pt x="1" y="8025"/>
                  <a:pt x="48" y="8156"/>
                  <a:pt x="120" y="8275"/>
                </a:cubicBezTo>
                <a:lnTo>
                  <a:pt x="298" y="8561"/>
                </a:lnTo>
                <a:cubicBezTo>
                  <a:pt x="346" y="8621"/>
                  <a:pt x="358" y="8692"/>
                  <a:pt x="358" y="8775"/>
                </a:cubicBezTo>
                <a:lnTo>
                  <a:pt x="358" y="9549"/>
                </a:lnTo>
                <a:cubicBezTo>
                  <a:pt x="358" y="9644"/>
                  <a:pt x="429" y="9716"/>
                  <a:pt x="524" y="9716"/>
                </a:cubicBezTo>
                <a:cubicBezTo>
                  <a:pt x="608" y="9716"/>
                  <a:pt x="679" y="9644"/>
                  <a:pt x="679" y="9549"/>
                </a:cubicBezTo>
                <a:lnTo>
                  <a:pt x="679" y="8775"/>
                </a:lnTo>
                <a:cubicBezTo>
                  <a:pt x="679" y="8632"/>
                  <a:pt x="644" y="8501"/>
                  <a:pt x="560" y="8371"/>
                </a:cubicBezTo>
                <a:lnTo>
                  <a:pt x="382" y="8097"/>
                </a:lnTo>
                <a:cubicBezTo>
                  <a:pt x="346" y="8037"/>
                  <a:pt x="322" y="7966"/>
                  <a:pt x="322" y="7870"/>
                </a:cubicBezTo>
                <a:lnTo>
                  <a:pt x="322" y="6025"/>
                </a:lnTo>
                <a:cubicBezTo>
                  <a:pt x="322" y="5954"/>
                  <a:pt x="370" y="5882"/>
                  <a:pt x="441" y="5846"/>
                </a:cubicBezTo>
                <a:lnTo>
                  <a:pt x="763" y="5692"/>
                </a:lnTo>
                <a:lnTo>
                  <a:pt x="1036" y="5977"/>
                </a:lnTo>
                <a:cubicBezTo>
                  <a:pt x="1120" y="6049"/>
                  <a:pt x="1203" y="6085"/>
                  <a:pt x="1298" y="6085"/>
                </a:cubicBezTo>
                <a:cubicBezTo>
                  <a:pt x="1382" y="6085"/>
                  <a:pt x="1477" y="6049"/>
                  <a:pt x="1548" y="5977"/>
                </a:cubicBezTo>
                <a:lnTo>
                  <a:pt x="1834" y="5692"/>
                </a:lnTo>
                <a:lnTo>
                  <a:pt x="2144" y="5846"/>
                </a:lnTo>
                <a:cubicBezTo>
                  <a:pt x="2215" y="5882"/>
                  <a:pt x="2263" y="5954"/>
                  <a:pt x="2263" y="6025"/>
                </a:cubicBezTo>
                <a:lnTo>
                  <a:pt x="2263" y="7870"/>
                </a:lnTo>
                <a:cubicBezTo>
                  <a:pt x="2263" y="7942"/>
                  <a:pt x="2227" y="8025"/>
                  <a:pt x="2203" y="8097"/>
                </a:cubicBezTo>
                <a:lnTo>
                  <a:pt x="2025" y="8371"/>
                </a:lnTo>
                <a:cubicBezTo>
                  <a:pt x="1953" y="8490"/>
                  <a:pt x="1906" y="8644"/>
                  <a:pt x="1906" y="8775"/>
                </a:cubicBezTo>
                <a:lnTo>
                  <a:pt x="1906" y="9549"/>
                </a:lnTo>
                <a:cubicBezTo>
                  <a:pt x="1906" y="9644"/>
                  <a:pt x="1977" y="9716"/>
                  <a:pt x="2072" y="9716"/>
                </a:cubicBezTo>
                <a:cubicBezTo>
                  <a:pt x="2156" y="9716"/>
                  <a:pt x="2227" y="9644"/>
                  <a:pt x="2227" y="9549"/>
                </a:cubicBezTo>
                <a:lnTo>
                  <a:pt x="2227" y="8775"/>
                </a:lnTo>
                <a:cubicBezTo>
                  <a:pt x="2227" y="8704"/>
                  <a:pt x="2263" y="8632"/>
                  <a:pt x="2287" y="8561"/>
                </a:cubicBezTo>
                <a:lnTo>
                  <a:pt x="2465" y="8275"/>
                </a:lnTo>
                <a:cubicBezTo>
                  <a:pt x="2549" y="8156"/>
                  <a:pt x="2584" y="8001"/>
                  <a:pt x="2584" y="7870"/>
                </a:cubicBezTo>
                <a:lnTo>
                  <a:pt x="2584" y="6025"/>
                </a:lnTo>
                <a:cubicBezTo>
                  <a:pt x="2584" y="5823"/>
                  <a:pt x="2465" y="5644"/>
                  <a:pt x="2287" y="5537"/>
                </a:cubicBezTo>
                <a:lnTo>
                  <a:pt x="1858" y="5311"/>
                </a:lnTo>
                <a:lnTo>
                  <a:pt x="1846" y="5299"/>
                </a:lnTo>
                <a:lnTo>
                  <a:pt x="1846" y="5025"/>
                </a:lnTo>
                <a:cubicBezTo>
                  <a:pt x="2072" y="4870"/>
                  <a:pt x="2215" y="4596"/>
                  <a:pt x="2215" y="4287"/>
                </a:cubicBezTo>
                <a:lnTo>
                  <a:pt x="2215" y="3918"/>
                </a:lnTo>
                <a:cubicBezTo>
                  <a:pt x="2215" y="3644"/>
                  <a:pt x="2072" y="3406"/>
                  <a:pt x="1846" y="3275"/>
                </a:cubicBezTo>
                <a:lnTo>
                  <a:pt x="1846" y="2822"/>
                </a:lnTo>
                <a:cubicBezTo>
                  <a:pt x="1846" y="2751"/>
                  <a:pt x="1894" y="2679"/>
                  <a:pt x="1965" y="2644"/>
                </a:cubicBezTo>
                <a:lnTo>
                  <a:pt x="2275" y="2501"/>
                </a:lnTo>
                <a:lnTo>
                  <a:pt x="2560" y="2786"/>
                </a:lnTo>
                <a:cubicBezTo>
                  <a:pt x="2632" y="2858"/>
                  <a:pt x="2727" y="2882"/>
                  <a:pt x="2810" y="2882"/>
                </a:cubicBezTo>
                <a:cubicBezTo>
                  <a:pt x="2906" y="2882"/>
                  <a:pt x="2989" y="2858"/>
                  <a:pt x="3061" y="2786"/>
                </a:cubicBezTo>
                <a:lnTo>
                  <a:pt x="3346" y="2501"/>
                </a:lnTo>
                <a:lnTo>
                  <a:pt x="3656" y="2644"/>
                </a:lnTo>
                <a:cubicBezTo>
                  <a:pt x="3739" y="2679"/>
                  <a:pt x="3775" y="2751"/>
                  <a:pt x="3775" y="2822"/>
                </a:cubicBezTo>
                <a:lnTo>
                  <a:pt x="3775" y="3275"/>
                </a:lnTo>
                <a:cubicBezTo>
                  <a:pt x="3561" y="3394"/>
                  <a:pt x="3406" y="3632"/>
                  <a:pt x="3406" y="3918"/>
                </a:cubicBezTo>
                <a:lnTo>
                  <a:pt x="3406" y="4287"/>
                </a:lnTo>
                <a:cubicBezTo>
                  <a:pt x="3406" y="4584"/>
                  <a:pt x="3561" y="4846"/>
                  <a:pt x="3775" y="5025"/>
                </a:cubicBezTo>
                <a:lnTo>
                  <a:pt x="3775" y="5299"/>
                </a:lnTo>
                <a:cubicBezTo>
                  <a:pt x="3775" y="5299"/>
                  <a:pt x="3775" y="5311"/>
                  <a:pt x="3763" y="5311"/>
                </a:cubicBezTo>
                <a:lnTo>
                  <a:pt x="3334" y="5537"/>
                </a:lnTo>
                <a:cubicBezTo>
                  <a:pt x="3156" y="5620"/>
                  <a:pt x="3037" y="5823"/>
                  <a:pt x="3037" y="6025"/>
                </a:cubicBezTo>
                <a:lnTo>
                  <a:pt x="3037" y="7870"/>
                </a:lnTo>
                <a:cubicBezTo>
                  <a:pt x="3037" y="8025"/>
                  <a:pt x="3084" y="8156"/>
                  <a:pt x="3156" y="8275"/>
                </a:cubicBezTo>
                <a:lnTo>
                  <a:pt x="3334" y="8561"/>
                </a:lnTo>
                <a:cubicBezTo>
                  <a:pt x="3382" y="8621"/>
                  <a:pt x="3394" y="8692"/>
                  <a:pt x="3394" y="8775"/>
                </a:cubicBezTo>
                <a:lnTo>
                  <a:pt x="3394" y="9549"/>
                </a:lnTo>
                <a:cubicBezTo>
                  <a:pt x="3394" y="9644"/>
                  <a:pt x="3465" y="9716"/>
                  <a:pt x="3561" y="9716"/>
                </a:cubicBezTo>
                <a:cubicBezTo>
                  <a:pt x="3644" y="9716"/>
                  <a:pt x="3715" y="9644"/>
                  <a:pt x="3715" y="9549"/>
                </a:cubicBezTo>
                <a:lnTo>
                  <a:pt x="3715" y="8775"/>
                </a:lnTo>
                <a:cubicBezTo>
                  <a:pt x="3715" y="8632"/>
                  <a:pt x="3680" y="8501"/>
                  <a:pt x="3596" y="8371"/>
                </a:cubicBezTo>
                <a:lnTo>
                  <a:pt x="3418" y="8097"/>
                </a:lnTo>
                <a:cubicBezTo>
                  <a:pt x="3382" y="8037"/>
                  <a:pt x="3358" y="7966"/>
                  <a:pt x="3358" y="7870"/>
                </a:cubicBezTo>
                <a:lnTo>
                  <a:pt x="3358" y="6025"/>
                </a:lnTo>
                <a:cubicBezTo>
                  <a:pt x="3358" y="5954"/>
                  <a:pt x="3406" y="5882"/>
                  <a:pt x="3477" y="5846"/>
                </a:cubicBezTo>
                <a:lnTo>
                  <a:pt x="3799" y="5692"/>
                </a:lnTo>
                <a:lnTo>
                  <a:pt x="4073" y="5977"/>
                </a:lnTo>
                <a:cubicBezTo>
                  <a:pt x="4156" y="6049"/>
                  <a:pt x="4239" y="6085"/>
                  <a:pt x="4334" y="6085"/>
                </a:cubicBezTo>
                <a:cubicBezTo>
                  <a:pt x="4418" y="6085"/>
                  <a:pt x="4513" y="6049"/>
                  <a:pt x="4585" y="5977"/>
                </a:cubicBezTo>
                <a:lnTo>
                  <a:pt x="4870" y="5692"/>
                </a:lnTo>
                <a:lnTo>
                  <a:pt x="5180" y="5846"/>
                </a:lnTo>
                <a:cubicBezTo>
                  <a:pt x="5251" y="5882"/>
                  <a:pt x="5299" y="5954"/>
                  <a:pt x="5299" y="6025"/>
                </a:cubicBezTo>
                <a:lnTo>
                  <a:pt x="5299" y="7870"/>
                </a:lnTo>
                <a:cubicBezTo>
                  <a:pt x="5299" y="7942"/>
                  <a:pt x="5263" y="8025"/>
                  <a:pt x="5239" y="8097"/>
                </a:cubicBezTo>
                <a:lnTo>
                  <a:pt x="5061" y="8371"/>
                </a:lnTo>
                <a:cubicBezTo>
                  <a:pt x="4989" y="8490"/>
                  <a:pt x="4942" y="8644"/>
                  <a:pt x="4942" y="8775"/>
                </a:cubicBezTo>
                <a:lnTo>
                  <a:pt x="4942" y="9549"/>
                </a:lnTo>
                <a:cubicBezTo>
                  <a:pt x="4942" y="9644"/>
                  <a:pt x="5013" y="9716"/>
                  <a:pt x="5108" y="9716"/>
                </a:cubicBezTo>
                <a:cubicBezTo>
                  <a:pt x="5192" y="9716"/>
                  <a:pt x="5263" y="9644"/>
                  <a:pt x="5263" y="9549"/>
                </a:cubicBezTo>
                <a:lnTo>
                  <a:pt x="5263" y="8775"/>
                </a:lnTo>
                <a:cubicBezTo>
                  <a:pt x="5263" y="8704"/>
                  <a:pt x="5299" y="8632"/>
                  <a:pt x="5323" y="8561"/>
                </a:cubicBezTo>
                <a:lnTo>
                  <a:pt x="5501" y="8275"/>
                </a:lnTo>
                <a:cubicBezTo>
                  <a:pt x="5585" y="8156"/>
                  <a:pt x="5620" y="8001"/>
                  <a:pt x="5620" y="7870"/>
                </a:cubicBezTo>
                <a:lnTo>
                  <a:pt x="5620" y="6025"/>
                </a:lnTo>
                <a:cubicBezTo>
                  <a:pt x="5620" y="5823"/>
                  <a:pt x="5501" y="5644"/>
                  <a:pt x="5323" y="5537"/>
                </a:cubicBezTo>
                <a:lnTo>
                  <a:pt x="4894" y="5311"/>
                </a:lnTo>
                <a:lnTo>
                  <a:pt x="4882" y="5299"/>
                </a:lnTo>
                <a:lnTo>
                  <a:pt x="4882" y="5025"/>
                </a:lnTo>
                <a:cubicBezTo>
                  <a:pt x="5108" y="4870"/>
                  <a:pt x="5251" y="4596"/>
                  <a:pt x="5251" y="4287"/>
                </a:cubicBezTo>
                <a:lnTo>
                  <a:pt x="5251" y="3918"/>
                </a:lnTo>
                <a:cubicBezTo>
                  <a:pt x="5251" y="3644"/>
                  <a:pt x="5108" y="3406"/>
                  <a:pt x="4882" y="3275"/>
                </a:cubicBezTo>
                <a:lnTo>
                  <a:pt x="4882" y="2822"/>
                </a:lnTo>
                <a:cubicBezTo>
                  <a:pt x="4882" y="2751"/>
                  <a:pt x="4930" y="2679"/>
                  <a:pt x="5001" y="2644"/>
                </a:cubicBezTo>
                <a:lnTo>
                  <a:pt x="5311" y="2501"/>
                </a:lnTo>
                <a:lnTo>
                  <a:pt x="5597" y="2786"/>
                </a:lnTo>
                <a:cubicBezTo>
                  <a:pt x="5668" y="2858"/>
                  <a:pt x="5763" y="2882"/>
                  <a:pt x="5847" y="2882"/>
                </a:cubicBezTo>
                <a:cubicBezTo>
                  <a:pt x="5942" y="2882"/>
                  <a:pt x="6025" y="2858"/>
                  <a:pt x="6097" y="2786"/>
                </a:cubicBezTo>
                <a:lnTo>
                  <a:pt x="6382" y="2501"/>
                </a:lnTo>
                <a:lnTo>
                  <a:pt x="6692" y="2644"/>
                </a:lnTo>
                <a:cubicBezTo>
                  <a:pt x="6775" y="2679"/>
                  <a:pt x="6811" y="2751"/>
                  <a:pt x="6811" y="2822"/>
                </a:cubicBezTo>
                <a:lnTo>
                  <a:pt x="6811" y="3275"/>
                </a:lnTo>
                <a:cubicBezTo>
                  <a:pt x="6597" y="3394"/>
                  <a:pt x="6442" y="3632"/>
                  <a:pt x="6442" y="3918"/>
                </a:cubicBezTo>
                <a:lnTo>
                  <a:pt x="6442" y="4287"/>
                </a:lnTo>
                <a:cubicBezTo>
                  <a:pt x="6442" y="4584"/>
                  <a:pt x="6597" y="4846"/>
                  <a:pt x="6811" y="5025"/>
                </a:cubicBezTo>
                <a:lnTo>
                  <a:pt x="6811" y="5299"/>
                </a:lnTo>
                <a:cubicBezTo>
                  <a:pt x="6811" y="5299"/>
                  <a:pt x="6811" y="5311"/>
                  <a:pt x="6799" y="5311"/>
                </a:cubicBezTo>
                <a:lnTo>
                  <a:pt x="6370" y="5537"/>
                </a:lnTo>
                <a:cubicBezTo>
                  <a:pt x="6192" y="5620"/>
                  <a:pt x="6073" y="5823"/>
                  <a:pt x="6073" y="6025"/>
                </a:cubicBezTo>
                <a:lnTo>
                  <a:pt x="6073" y="7870"/>
                </a:lnTo>
                <a:cubicBezTo>
                  <a:pt x="6073" y="8025"/>
                  <a:pt x="6120" y="8156"/>
                  <a:pt x="6192" y="8275"/>
                </a:cubicBezTo>
                <a:lnTo>
                  <a:pt x="6370" y="8561"/>
                </a:lnTo>
                <a:cubicBezTo>
                  <a:pt x="6418" y="8621"/>
                  <a:pt x="6430" y="8692"/>
                  <a:pt x="6430" y="8775"/>
                </a:cubicBezTo>
                <a:lnTo>
                  <a:pt x="6430" y="9549"/>
                </a:lnTo>
                <a:cubicBezTo>
                  <a:pt x="6430" y="9644"/>
                  <a:pt x="6501" y="9716"/>
                  <a:pt x="6597" y="9716"/>
                </a:cubicBezTo>
                <a:cubicBezTo>
                  <a:pt x="6680" y="9716"/>
                  <a:pt x="6751" y="9644"/>
                  <a:pt x="6751" y="9549"/>
                </a:cubicBezTo>
                <a:lnTo>
                  <a:pt x="6751" y="8775"/>
                </a:lnTo>
                <a:cubicBezTo>
                  <a:pt x="6751" y="8632"/>
                  <a:pt x="6716" y="8501"/>
                  <a:pt x="6632" y="8371"/>
                </a:cubicBezTo>
                <a:lnTo>
                  <a:pt x="6454" y="8097"/>
                </a:lnTo>
                <a:cubicBezTo>
                  <a:pt x="6418" y="8037"/>
                  <a:pt x="6394" y="7966"/>
                  <a:pt x="6394" y="7870"/>
                </a:cubicBezTo>
                <a:lnTo>
                  <a:pt x="6394" y="6025"/>
                </a:lnTo>
                <a:cubicBezTo>
                  <a:pt x="6394" y="5954"/>
                  <a:pt x="6442" y="5882"/>
                  <a:pt x="6513" y="5846"/>
                </a:cubicBezTo>
                <a:lnTo>
                  <a:pt x="6835" y="5692"/>
                </a:lnTo>
                <a:lnTo>
                  <a:pt x="7109" y="5977"/>
                </a:lnTo>
                <a:cubicBezTo>
                  <a:pt x="7192" y="6049"/>
                  <a:pt x="7275" y="6085"/>
                  <a:pt x="7371" y="6085"/>
                </a:cubicBezTo>
                <a:cubicBezTo>
                  <a:pt x="7454" y="6085"/>
                  <a:pt x="7549" y="6049"/>
                  <a:pt x="7621" y="5977"/>
                </a:cubicBezTo>
                <a:lnTo>
                  <a:pt x="7906" y="5692"/>
                </a:lnTo>
                <a:lnTo>
                  <a:pt x="8216" y="5846"/>
                </a:lnTo>
                <a:cubicBezTo>
                  <a:pt x="8287" y="5882"/>
                  <a:pt x="8335" y="5954"/>
                  <a:pt x="8335" y="6025"/>
                </a:cubicBezTo>
                <a:lnTo>
                  <a:pt x="8335" y="7870"/>
                </a:lnTo>
                <a:cubicBezTo>
                  <a:pt x="8335" y="7942"/>
                  <a:pt x="8299" y="8025"/>
                  <a:pt x="8275" y="8097"/>
                </a:cubicBezTo>
                <a:lnTo>
                  <a:pt x="8097" y="8371"/>
                </a:lnTo>
                <a:cubicBezTo>
                  <a:pt x="8025" y="8490"/>
                  <a:pt x="7978" y="8644"/>
                  <a:pt x="7978" y="8775"/>
                </a:cubicBezTo>
                <a:lnTo>
                  <a:pt x="7978" y="9549"/>
                </a:lnTo>
                <a:cubicBezTo>
                  <a:pt x="7978" y="9644"/>
                  <a:pt x="8049" y="9716"/>
                  <a:pt x="8144" y="9716"/>
                </a:cubicBezTo>
                <a:cubicBezTo>
                  <a:pt x="8228" y="9716"/>
                  <a:pt x="8299" y="9644"/>
                  <a:pt x="8299" y="9549"/>
                </a:cubicBezTo>
                <a:lnTo>
                  <a:pt x="8299" y="8775"/>
                </a:lnTo>
                <a:cubicBezTo>
                  <a:pt x="8299" y="8704"/>
                  <a:pt x="8335" y="8632"/>
                  <a:pt x="8359" y="8561"/>
                </a:cubicBezTo>
                <a:lnTo>
                  <a:pt x="8537" y="8275"/>
                </a:lnTo>
                <a:cubicBezTo>
                  <a:pt x="8621" y="8156"/>
                  <a:pt x="8656" y="8001"/>
                  <a:pt x="8656" y="7870"/>
                </a:cubicBezTo>
                <a:lnTo>
                  <a:pt x="8656" y="6025"/>
                </a:lnTo>
                <a:cubicBezTo>
                  <a:pt x="8656" y="5823"/>
                  <a:pt x="8537" y="5644"/>
                  <a:pt x="8359" y="5537"/>
                </a:cubicBezTo>
                <a:lnTo>
                  <a:pt x="7930" y="5311"/>
                </a:lnTo>
                <a:lnTo>
                  <a:pt x="7918" y="5299"/>
                </a:lnTo>
                <a:lnTo>
                  <a:pt x="7918" y="5025"/>
                </a:lnTo>
                <a:cubicBezTo>
                  <a:pt x="8144" y="4870"/>
                  <a:pt x="8287" y="4596"/>
                  <a:pt x="8287" y="4287"/>
                </a:cubicBezTo>
                <a:lnTo>
                  <a:pt x="8287" y="3918"/>
                </a:lnTo>
                <a:cubicBezTo>
                  <a:pt x="8287" y="3644"/>
                  <a:pt x="8144" y="3406"/>
                  <a:pt x="7918" y="3275"/>
                </a:cubicBezTo>
                <a:lnTo>
                  <a:pt x="7918" y="2822"/>
                </a:lnTo>
                <a:cubicBezTo>
                  <a:pt x="7918" y="2751"/>
                  <a:pt x="7966" y="2679"/>
                  <a:pt x="8037" y="2644"/>
                </a:cubicBezTo>
                <a:lnTo>
                  <a:pt x="8347" y="2501"/>
                </a:lnTo>
                <a:lnTo>
                  <a:pt x="8633" y="2786"/>
                </a:lnTo>
                <a:cubicBezTo>
                  <a:pt x="8704" y="2858"/>
                  <a:pt x="8799" y="2882"/>
                  <a:pt x="8883" y="2882"/>
                </a:cubicBezTo>
                <a:cubicBezTo>
                  <a:pt x="8978" y="2882"/>
                  <a:pt x="9061" y="2858"/>
                  <a:pt x="9133" y="2786"/>
                </a:cubicBezTo>
                <a:lnTo>
                  <a:pt x="9418" y="2501"/>
                </a:lnTo>
                <a:lnTo>
                  <a:pt x="9728" y="2644"/>
                </a:lnTo>
                <a:cubicBezTo>
                  <a:pt x="9811" y="2679"/>
                  <a:pt x="9847" y="2751"/>
                  <a:pt x="9847" y="2822"/>
                </a:cubicBezTo>
                <a:lnTo>
                  <a:pt x="9847" y="3275"/>
                </a:lnTo>
                <a:cubicBezTo>
                  <a:pt x="9633" y="3394"/>
                  <a:pt x="9478" y="3632"/>
                  <a:pt x="9478" y="3918"/>
                </a:cubicBezTo>
                <a:lnTo>
                  <a:pt x="9478" y="4287"/>
                </a:lnTo>
                <a:cubicBezTo>
                  <a:pt x="9478" y="4584"/>
                  <a:pt x="9633" y="4846"/>
                  <a:pt x="9847" y="5025"/>
                </a:cubicBezTo>
                <a:lnTo>
                  <a:pt x="9847" y="5299"/>
                </a:lnTo>
                <a:cubicBezTo>
                  <a:pt x="9847" y="5299"/>
                  <a:pt x="9847" y="5311"/>
                  <a:pt x="9835" y="5311"/>
                </a:cubicBezTo>
                <a:lnTo>
                  <a:pt x="9407" y="5537"/>
                </a:lnTo>
                <a:cubicBezTo>
                  <a:pt x="9228" y="5620"/>
                  <a:pt x="9109" y="5823"/>
                  <a:pt x="9109" y="6025"/>
                </a:cubicBezTo>
                <a:lnTo>
                  <a:pt x="9109" y="7870"/>
                </a:lnTo>
                <a:cubicBezTo>
                  <a:pt x="9109" y="8025"/>
                  <a:pt x="9157" y="8156"/>
                  <a:pt x="9228" y="8275"/>
                </a:cubicBezTo>
                <a:lnTo>
                  <a:pt x="9407" y="8561"/>
                </a:lnTo>
                <a:cubicBezTo>
                  <a:pt x="9454" y="8621"/>
                  <a:pt x="9466" y="8692"/>
                  <a:pt x="9466" y="8775"/>
                </a:cubicBezTo>
                <a:lnTo>
                  <a:pt x="9466" y="9549"/>
                </a:lnTo>
                <a:cubicBezTo>
                  <a:pt x="9466" y="9644"/>
                  <a:pt x="9538" y="9716"/>
                  <a:pt x="9633" y="9716"/>
                </a:cubicBezTo>
                <a:cubicBezTo>
                  <a:pt x="9716" y="9716"/>
                  <a:pt x="9788" y="9644"/>
                  <a:pt x="9788" y="9549"/>
                </a:cubicBezTo>
                <a:lnTo>
                  <a:pt x="9788" y="8775"/>
                </a:lnTo>
                <a:cubicBezTo>
                  <a:pt x="9788" y="8632"/>
                  <a:pt x="9752" y="8501"/>
                  <a:pt x="9668" y="8371"/>
                </a:cubicBezTo>
                <a:lnTo>
                  <a:pt x="9490" y="8097"/>
                </a:lnTo>
                <a:cubicBezTo>
                  <a:pt x="9454" y="8037"/>
                  <a:pt x="9430" y="7966"/>
                  <a:pt x="9430" y="7870"/>
                </a:cubicBezTo>
                <a:lnTo>
                  <a:pt x="9430" y="6025"/>
                </a:lnTo>
                <a:cubicBezTo>
                  <a:pt x="9430" y="5954"/>
                  <a:pt x="9478" y="5882"/>
                  <a:pt x="9549" y="5846"/>
                </a:cubicBezTo>
                <a:lnTo>
                  <a:pt x="9871" y="5692"/>
                </a:lnTo>
                <a:lnTo>
                  <a:pt x="10145" y="5977"/>
                </a:lnTo>
                <a:cubicBezTo>
                  <a:pt x="10228" y="6049"/>
                  <a:pt x="10311" y="6085"/>
                  <a:pt x="10407" y="6085"/>
                </a:cubicBezTo>
                <a:cubicBezTo>
                  <a:pt x="10490" y="6085"/>
                  <a:pt x="10585" y="6049"/>
                  <a:pt x="10657" y="5977"/>
                </a:cubicBezTo>
                <a:lnTo>
                  <a:pt x="10942" y="5692"/>
                </a:lnTo>
                <a:lnTo>
                  <a:pt x="11252" y="5846"/>
                </a:lnTo>
                <a:cubicBezTo>
                  <a:pt x="11323" y="5882"/>
                  <a:pt x="11371" y="5954"/>
                  <a:pt x="11371" y="6025"/>
                </a:cubicBezTo>
                <a:lnTo>
                  <a:pt x="11371" y="7870"/>
                </a:lnTo>
                <a:cubicBezTo>
                  <a:pt x="11371" y="7942"/>
                  <a:pt x="11335" y="8025"/>
                  <a:pt x="11312" y="8097"/>
                </a:cubicBezTo>
                <a:lnTo>
                  <a:pt x="11133" y="8371"/>
                </a:lnTo>
                <a:cubicBezTo>
                  <a:pt x="11062" y="8490"/>
                  <a:pt x="11014" y="8644"/>
                  <a:pt x="11014" y="8775"/>
                </a:cubicBezTo>
                <a:lnTo>
                  <a:pt x="11014" y="9549"/>
                </a:lnTo>
                <a:cubicBezTo>
                  <a:pt x="11014" y="9644"/>
                  <a:pt x="11085" y="9716"/>
                  <a:pt x="11181" y="9716"/>
                </a:cubicBezTo>
                <a:cubicBezTo>
                  <a:pt x="11264" y="9716"/>
                  <a:pt x="11335" y="9644"/>
                  <a:pt x="11335" y="9549"/>
                </a:cubicBezTo>
                <a:lnTo>
                  <a:pt x="11335" y="8775"/>
                </a:lnTo>
                <a:cubicBezTo>
                  <a:pt x="11335" y="8704"/>
                  <a:pt x="11371" y="8632"/>
                  <a:pt x="11395" y="8561"/>
                </a:cubicBezTo>
                <a:lnTo>
                  <a:pt x="11573" y="8275"/>
                </a:lnTo>
                <a:cubicBezTo>
                  <a:pt x="11657" y="8156"/>
                  <a:pt x="11693" y="8001"/>
                  <a:pt x="11693" y="7870"/>
                </a:cubicBezTo>
                <a:lnTo>
                  <a:pt x="11693" y="6025"/>
                </a:lnTo>
                <a:cubicBezTo>
                  <a:pt x="11514" y="5823"/>
                  <a:pt x="11395" y="5620"/>
                  <a:pt x="11204" y="5537"/>
                </a:cubicBezTo>
                <a:lnTo>
                  <a:pt x="10776" y="5311"/>
                </a:lnTo>
                <a:lnTo>
                  <a:pt x="10764" y="5299"/>
                </a:lnTo>
                <a:lnTo>
                  <a:pt x="10764" y="5025"/>
                </a:lnTo>
                <a:cubicBezTo>
                  <a:pt x="10978" y="4870"/>
                  <a:pt x="11133" y="4596"/>
                  <a:pt x="11133" y="4287"/>
                </a:cubicBezTo>
                <a:lnTo>
                  <a:pt x="11133" y="3918"/>
                </a:lnTo>
                <a:cubicBezTo>
                  <a:pt x="11133" y="3513"/>
                  <a:pt x="10800" y="3179"/>
                  <a:pt x="10407" y="3179"/>
                </a:cubicBezTo>
                <a:lnTo>
                  <a:pt x="10014" y="3179"/>
                </a:lnTo>
                <a:lnTo>
                  <a:pt x="10014" y="2846"/>
                </a:lnTo>
                <a:cubicBezTo>
                  <a:pt x="10014" y="2632"/>
                  <a:pt x="9895" y="2453"/>
                  <a:pt x="9716" y="2346"/>
                </a:cubicBezTo>
                <a:lnTo>
                  <a:pt x="9287" y="2132"/>
                </a:lnTo>
                <a:lnTo>
                  <a:pt x="9276" y="2108"/>
                </a:lnTo>
                <a:lnTo>
                  <a:pt x="9276" y="1846"/>
                </a:lnTo>
                <a:cubicBezTo>
                  <a:pt x="9490" y="1679"/>
                  <a:pt x="9645" y="1417"/>
                  <a:pt x="9645" y="1096"/>
                </a:cubicBezTo>
                <a:lnTo>
                  <a:pt x="9645" y="727"/>
                </a:lnTo>
                <a:cubicBezTo>
                  <a:pt x="9645" y="322"/>
                  <a:pt x="9311" y="0"/>
                  <a:pt x="8918" y="0"/>
                </a:cubicBezTo>
                <a:lnTo>
                  <a:pt x="8537" y="0"/>
                </a:lnTo>
                <a:cubicBezTo>
                  <a:pt x="8133" y="0"/>
                  <a:pt x="7811" y="322"/>
                  <a:pt x="7811" y="727"/>
                </a:cubicBezTo>
                <a:lnTo>
                  <a:pt x="7811" y="1096"/>
                </a:lnTo>
                <a:cubicBezTo>
                  <a:pt x="7811" y="1393"/>
                  <a:pt x="7966" y="1667"/>
                  <a:pt x="8180" y="1846"/>
                </a:cubicBezTo>
                <a:lnTo>
                  <a:pt x="8180" y="2108"/>
                </a:lnTo>
                <a:cubicBezTo>
                  <a:pt x="8180" y="2108"/>
                  <a:pt x="8180" y="2132"/>
                  <a:pt x="8168" y="2132"/>
                </a:cubicBezTo>
                <a:lnTo>
                  <a:pt x="7740" y="2346"/>
                </a:lnTo>
                <a:cubicBezTo>
                  <a:pt x="7561" y="2441"/>
                  <a:pt x="7442" y="2632"/>
                  <a:pt x="7442" y="2846"/>
                </a:cubicBezTo>
                <a:lnTo>
                  <a:pt x="7442" y="3179"/>
                </a:lnTo>
                <a:lnTo>
                  <a:pt x="7037" y="3179"/>
                </a:lnTo>
                <a:lnTo>
                  <a:pt x="7037" y="2846"/>
                </a:lnTo>
                <a:cubicBezTo>
                  <a:pt x="7037" y="2632"/>
                  <a:pt x="6918" y="2453"/>
                  <a:pt x="6740" y="2346"/>
                </a:cubicBezTo>
                <a:lnTo>
                  <a:pt x="6311" y="2132"/>
                </a:lnTo>
                <a:lnTo>
                  <a:pt x="6299" y="2108"/>
                </a:lnTo>
                <a:lnTo>
                  <a:pt x="6299" y="1846"/>
                </a:lnTo>
                <a:cubicBezTo>
                  <a:pt x="6513" y="1679"/>
                  <a:pt x="6668" y="1417"/>
                  <a:pt x="6668" y="1096"/>
                </a:cubicBezTo>
                <a:lnTo>
                  <a:pt x="6668" y="727"/>
                </a:lnTo>
                <a:cubicBezTo>
                  <a:pt x="6668" y="322"/>
                  <a:pt x="6335" y="0"/>
                  <a:pt x="5942" y="0"/>
                </a:cubicBezTo>
                <a:lnTo>
                  <a:pt x="5561" y="0"/>
                </a:lnTo>
                <a:cubicBezTo>
                  <a:pt x="5168" y="0"/>
                  <a:pt x="4835" y="322"/>
                  <a:pt x="4835" y="727"/>
                </a:cubicBezTo>
                <a:lnTo>
                  <a:pt x="4835" y="1096"/>
                </a:lnTo>
                <a:cubicBezTo>
                  <a:pt x="4835" y="1393"/>
                  <a:pt x="4989" y="1667"/>
                  <a:pt x="5204" y="1846"/>
                </a:cubicBezTo>
                <a:lnTo>
                  <a:pt x="5204" y="2108"/>
                </a:lnTo>
                <a:cubicBezTo>
                  <a:pt x="5204" y="2108"/>
                  <a:pt x="5204" y="2132"/>
                  <a:pt x="5192" y="2132"/>
                </a:cubicBezTo>
                <a:lnTo>
                  <a:pt x="4763" y="2346"/>
                </a:lnTo>
                <a:cubicBezTo>
                  <a:pt x="4585" y="2441"/>
                  <a:pt x="4465" y="2632"/>
                  <a:pt x="4465" y="2846"/>
                </a:cubicBezTo>
                <a:lnTo>
                  <a:pt x="4465" y="3179"/>
                </a:lnTo>
                <a:lnTo>
                  <a:pt x="4061" y="3179"/>
                </a:lnTo>
                <a:lnTo>
                  <a:pt x="4061" y="2846"/>
                </a:lnTo>
                <a:cubicBezTo>
                  <a:pt x="4061" y="2632"/>
                  <a:pt x="3942" y="2453"/>
                  <a:pt x="3763" y="2346"/>
                </a:cubicBezTo>
                <a:lnTo>
                  <a:pt x="3334" y="2132"/>
                </a:lnTo>
                <a:lnTo>
                  <a:pt x="3322" y="2108"/>
                </a:lnTo>
                <a:lnTo>
                  <a:pt x="3322" y="1846"/>
                </a:lnTo>
                <a:cubicBezTo>
                  <a:pt x="3537" y="1679"/>
                  <a:pt x="3692" y="1417"/>
                  <a:pt x="3692" y="1096"/>
                </a:cubicBezTo>
                <a:lnTo>
                  <a:pt x="3692" y="727"/>
                </a:lnTo>
                <a:cubicBezTo>
                  <a:pt x="3692" y="322"/>
                  <a:pt x="3358" y="0"/>
                  <a:pt x="2965" y="0"/>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TextBox 14">
            <a:extLst>
              <a:ext uri="{FF2B5EF4-FFF2-40B4-BE49-F238E27FC236}">
                <a16:creationId xmlns:a16="http://schemas.microsoft.com/office/drawing/2014/main" id="{4174DE2F-3250-8F70-40C9-592388480843}"/>
              </a:ext>
            </a:extLst>
          </p:cNvPr>
          <p:cNvSpPr txBox="1"/>
          <p:nvPr/>
        </p:nvSpPr>
        <p:spPr>
          <a:xfrm>
            <a:off x="4388488" y="2046964"/>
            <a:ext cx="4350330" cy="1815882"/>
          </a:xfrm>
          <a:prstGeom prst="rect">
            <a:avLst/>
          </a:prstGeom>
          <a:noFill/>
        </p:spPr>
        <p:txBody>
          <a:bodyPr wrap="square" rtlCol="0">
            <a:spAutoFit/>
          </a:bodyPr>
          <a:lstStyle/>
          <a:p>
            <a:pPr algn="r" rtl="1"/>
            <a:r>
              <a:rPr lang="fa-IR" dirty="0">
                <a:solidFill>
                  <a:schemeClr val="bg1"/>
                </a:solidFill>
              </a:rPr>
              <a:t>اگر یک یا چند نفر از اعضای انجمن به عملکرد شهردار اعتراض داشته باشند، این اعتراض را کتبا برای استیضاح به رئیس انجمن تحویل می دهند و رئیس انجمن آن را در جلسه خوانده به شهردار ابلاغ می کند. درکم تر از ده روز، در جلسه ی بعدی شهردار باید جواب استیضاح را بدهد.</a:t>
            </a:r>
          </a:p>
          <a:p>
            <a:pPr algn="r" rtl="1"/>
            <a:r>
              <a:rPr lang="fa-IR" dirty="0">
                <a:solidFill>
                  <a:schemeClr val="bg1"/>
                </a:solidFill>
              </a:rPr>
              <a:t>سپس اعضای انجمن پس از این ماجراها رای گیری می کنند و اگر اکثریت رای شان منفی باشد، شهردار از همان تاریخ از شغل خود برکنار می شود.</a:t>
            </a:r>
            <a:endParaRPr lang="en-US" dirty="0">
              <a:solidFill>
                <a:schemeClr val="bg1"/>
              </a:solidFill>
            </a:endParaRPr>
          </a:p>
        </p:txBody>
      </p:sp>
    </p:spTree>
    <p:extLst>
      <p:ext uri="{BB962C8B-B14F-4D97-AF65-F5344CB8AC3E}">
        <p14:creationId xmlns:p14="http://schemas.microsoft.com/office/powerpoint/2010/main" val="30925082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76"/>
        <p:cNvGrpSpPr/>
        <p:nvPr/>
      </p:nvGrpSpPr>
      <p:grpSpPr>
        <a:xfrm>
          <a:off x="0" y="0"/>
          <a:ext cx="0" cy="0"/>
          <a:chOff x="0" y="0"/>
          <a:chExt cx="0" cy="0"/>
        </a:xfrm>
      </p:grpSpPr>
      <p:sp>
        <p:nvSpPr>
          <p:cNvPr id="277" name="Google Shape;277;p33"/>
          <p:cNvSpPr txBox="1"/>
          <p:nvPr/>
        </p:nvSpPr>
        <p:spPr>
          <a:xfrm>
            <a:off x="1148080" y="533156"/>
            <a:ext cx="5279263" cy="615553"/>
          </a:xfrm>
          <a:prstGeom prst="rect">
            <a:avLst/>
          </a:prstGeom>
          <a:noFill/>
          <a:ln>
            <a:noFill/>
          </a:ln>
        </p:spPr>
        <p:txBody>
          <a:bodyPr spcFirstLastPara="1" wrap="square" lIns="0" tIns="0" rIns="0" bIns="0" anchor="t" anchorCtr="0">
            <a:spAutoFit/>
          </a:bodyPr>
          <a:lstStyle/>
          <a:p>
            <a:pPr marL="0" marR="0" lvl="0" indent="0" algn="ctr" rtl="1">
              <a:lnSpc>
                <a:spcPct val="100000"/>
              </a:lnSpc>
              <a:spcBef>
                <a:spcPts val="0"/>
              </a:spcBef>
              <a:spcAft>
                <a:spcPts val="0"/>
              </a:spcAft>
              <a:buNone/>
            </a:pPr>
            <a:r>
              <a:rPr lang="fa-IR" sz="4000" b="1" dirty="0">
                <a:solidFill>
                  <a:srgbClr val="FFFFFF"/>
                </a:solidFill>
                <a:latin typeface="Open Sans"/>
                <a:ea typeface="Open Sans"/>
                <a:cs typeface="B Nazanin" panose="00000700000000000000" pitchFamily="2" charset="-78"/>
                <a:sym typeface="Open Sans"/>
              </a:rPr>
              <a:t>وظایف شهرداری</a:t>
            </a:r>
            <a:endParaRPr sz="700" b="1" dirty="0">
              <a:latin typeface="Open Sans"/>
              <a:ea typeface="Open Sans"/>
              <a:cs typeface="B Nazanin" panose="00000700000000000000" pitchFamily="2" charset="-78"/>
              <a:sym typeface="Open Sans"/>
            </a:endParaRPr>
          </a:p>
        </p:txBody>
      </p:sp>
      <p:sp>
        <p:nvSpPr>
          <p:cNvPr id="278" name="Google Shape;278;p33"/>
          <p:cNvSpPr txBox="1"/>
          <p:nvPr/>
        </p:nvSpPr>
        <p:spPr>
          <a:xfrm>
            <a:off x="1693682" y="1919527"/>
            <a:ext cx="4179726" cy="226216"/>
          </a:xfrm>
          <a:prstGeom prst="rect">
            <a:avLst/>
          </a:prstGeom>
          <a:noFill/>
          <a:ln>
            <a:noFill/>
          </a:ln>
        </p:spPr>
        <p:txBody>
          <a:bodyPr spcFirstLastPara="1" wrap="square" lIns="0" tIns="0" rIns="0" bIns="0" anchor="t" anchorCtr="0">
            <a:spAutoFit/>
          </a:bodyPr>
          <a:lstStyle/>
          <a:p>
            <a:pPr marL="0" marR="0" lvl="0" indent="0" algn="ctr" rtl="1">
              <a:lnSpc>
                <a:spcPct val="140000"/>
              </a:lnSpc>
              <a:spcBef>
                <a:spcPts val="0"/>
              </a:spcBef>
              <a:spcAft>
                <a:spcPts val="0"/>
              </a:spcAft>
              <a:buNone/>
            </a:pPr>
            <a:r>
              <a:rPr lang="fa-IR" sz="1050" b="1" i="0" u="none" strike="noStrike" cap="none" dirty="0">
                <a:solidFill>
                  <a:srgbClr val="FFFFFF"/>
                </a:solidFill>
                <a:latin typeface="Open Sans"/>
                <a:ea typeface="Open Sans"/>
                <a:cs typeface="B Nazanin" panose="00000700000000000000" pitchFamily="2" charset="-78"/>
                <a:sym typeface="Open Sans"/>
              </a:rPr>
              <a:t>شهرداری ها در قانون چندین وظیفه ی نام برده شده دارندکه ما به برخی از آن ها می پردازیم:</a:t>
            </a:r>
            <a:endParaRPr sz="800" b="1" dirty="0">
              <a:latin typeface="Open Sans"/>
              <a:ea typeface="Open Sans"/>
              <a:cs typeface="B Nazanin" panose="00000700000000000000" pitchFamily="2" charset="-78"/>
              <a:sym typeface="Open Sans"/>
            </a:endParaRPr>
          </a:p>
        </p:txBody>
      </p:sp>
      <p:pic>
        <p:nvPicPr>
          <p:cNvPr id="281" name="Google Shape;281;p33"/>
          <p:cNvPicPr preferRelativeResize="0"/>
          <p:nvPr/>
        </p:nvPicPr>
        <p:blipFill rotWithShape="1">
          <a:blip r:embed="rId3">
            <a:alphaModFix/>
          </a:blip>
          <a:srcRect t="5050" r="38065" b="5051"/>
          <a:stretch/>
        </p:blipFill>
        <p:spPr>
          <a:xfrm>
            <a:off x="-1743846" y="-321471"/>
            <a:ext cx="2797224" cy="6093899"/>
          </a:xfrm>
          <a:prstGeom prst="rect">
            <a:avLst/>
          </a:prstGeom>
          <a:noFill/>
          <a:ln>
            <a:noFill/>
          </a:ln>
        </p:spPr>
      </p:pic>
      <p:pic>
        <p:nvPicPr>
          <p:cNvPr id="282" name="Google Shape;282;p33"/>
          <p:cNvPicPr preferRelativeResize="0"/>
          <p:nvPr/>
        </p:nvPicPr>
        <p:blipFill rotWithShape="1">
          <a:blip r:embed="rId4">
            <a:alphaModFix/>
          </a:blip>
          <a:srcRect t="17943" b="8240"/>
          <a:stretch/>
        </p:blipFill>
        <p:spPr>
          <a:xfrm>
            <a:off x="6286891" y="-155822"/>
            <a:ext cx="5384367" cy="5299322"/>
          </a:xfrm>
          <a:prstGeom prst="rect">
            <a:avLst/>
          </a:prstGeom>
          <a:noFill/>
          <a:ln>
            <a:noFill/>
          </a:ln>
        </p:spPr>
      </p:pic>
      <p:grpSp>
        <p:nvGrpSpPr>
          <p:cNvPr id="283" name="Google Shape;283;p33"/>
          <p:cNvGrpSpPr/>
          <p:nvPr/>
        </p:nvGrpSpPr>
        <p:grpSpPr>
          <a:xfrm>
            <a:off x="8837359" y="-72330"/>
            <a:ext cx="1543051" cy="5808473"/>
            <a:chOff x="0" y="-38100"/>
            <a:chExt cx="812800" cy="3059607"/>
          </a:xfrm>
        </p:grpSpPr>
        <p:sp>
          <p:nvSpPr>
            <p:cNvPr id="284" name="Google Shape;284;p33"/>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endParaRPr lang="en-US"/>
            </a:p>
          </p:txBody>
        </p:sp>
        <p:sp>
          <p:nvSpPr>
            <p:cNvPr id="285" name="Google Shape;285;p33"/>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286" name="Google Shape;286;p33"/>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cxnSp>
        <p:nvCxnSpPr>
          <p:cNvPr id="287" name="Google Shape;287;p33"/>
          <p:cNvCxnSpPr/>
          <p:nvPr/>
        </p:nvCxnSpPr>
        <p:spPr>
          <a:xfrm rot="5399999">
            <a:off x="-180732" y="221829"/>
            <a:ext cx="3084866" cy="0"/>
          </a:xfrm>
          <a:prstGeom prst="straightConnector1">
            <a:avLst/>
          </a:prstGeom>
          <a:noFill/>
          <a:ln w="9525" cap="flat" cmpd="sng">
            <a:solidFill>
              <a:srgbClr val="FFFFFF"/>
            </a:solidFill>
            <a:prstDash val="solid"/>
            <a:round/>
            <a:headEnd type="none" w="sm" len="sm"/>
            <a:tailEnd type="none" w="sm" len="sm"/>
          </a:ln>
        </p:spPr>
      </p:cxnSp>
      <p:cxnSp>
        <p:nvCxnSpPr>
          <p:cNvPr id="288" name="Google Shape;288;p33"/>
          <p:cNvCxnSpPr/>
          <p:nvPr/>
        </p:nvCxnSpPr>
        <p:spPr>
          <a:xfrm rot="5399999">
            <a:off x="-180732" y="189098"/>
            <a:ext cx="3084866" cy="0"/>
          </a:xfrm>
          <a:prstGeom prst="straightConnector1">
            <a:avLst/>
          </a:prstGeom>
          <a:noFill/>
          <a:ln w="9525" cap="flat" cmpd="sng">
            <a:solidFill>
              <a:srgbClr val="FFFFFF"/>
            </a:solidFill>
            <a:prstDash val="solid"/>
            <a:round/>
            <a:headEnd type="none" w="sm" len="sm"/>
            <a:tailEnd type="none" w="sm" len="sm"/>
          </a:ln>
        </p:spPr>
      </p:cxnSp>
      <p:cxnSp>
        <p:nvCxnSpPr>
          <p:cNvPr id="289" name="Google Shape;289;p33"/>
          <p:cNvCxnSpPr/>
          <p:nvPr/>
        </p:nvCxnSpPr>
        <p:spPr>
          <a:xfrm rot="5399999">
            <a:off x="2474893" y="4949640"/>
            <a:ext cx="3084866" cy="0"/>
          </a:xfrm>
          <a:prstGeom prst="straightConnector1">
            <a:avLst/>
          </a:prstGeom>
          <a:noFill/>
          <a:ln w="9525" cap="flat" cmpd="sng">
            <a:solidFill>
              <a:srgbClr val="FFFFFF"/>
            </a:solidFill>
            <a:prstDash val="solid"/>
            <a:round/>
            <a:headEnd type="none" w="sm" len="sm"/>
            <a:tailEnd type="none" w="sm" len="sm"/>
          </a:ln>
        </p:spPr>
      </p:cxnSp>
      <p:sp>
        <p:nvSpPr>
          <p:cNvPr id="2" name="Rectangle 1">
            <a:extLst>
              <a:ext uri="{FF2B5EF4-FFF2-40B4-BE49-F238E27FC236}">
                <a16:creationId xmlns:a16="http://schemas.microsoft.com/office/drawing/2014/main" id="{5C1439AC-E2EA-E788-5668-E6851D9216D9}"/>
              </a:ext>
            </a:extLst>
          </p:cNvPr>
          <p:cNvSpPr/>
          <p:nvPr/>
        </p:nvSpPr>
        <p:spPr>
          <a:xfrm>
            <a:off x="4272333" y="2437184"/>
            <a:ext cx="1619100" cy="70969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fa-IR" dirty="0"/>
              <a:t>ایجاد خیابان ها، کوچه ها و میدان ها و...</a:t>
            </a:r>
            <a:endParaRPr lang="en-US" dirty="0"/>
          </a:p>
        </p:txBody>
      </p:sp>
      <p:sp>
        <p:nvSpPr>
          <p:cNvPr id="3" name="Rectangle 2">
            <a:extLst>
              <a:ext uri="{FF2B5EF4-FFF2-40B4-BE49-F238E27FC236}">
                <a16:creationId xmlns:a16="http://schemas.microsoft.com/office/drawing/2014/main" id="{3A7583C6-CC9A-B1D0-C930-3E73ACBF8110}"/>
              </a:ext>
            </a:extLst>
          </p:cNvPr>
          <p:cNvSpPr/>
          <p:nvPr/>
        </p:nvSpPr>
        <p:spPr>
          <a:xfrm>
            <a:off x="4272333" y="3257243"/>
            <a:ext cx="1619100" cy="71609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fa-IR" dirty="0"/>
              <a:t>پاکیزه نگه داشتن و مراقبت کردن از معابر، آب ها و.. شهر</a:t>
            </a:r>
            <a:endParaRPr lang="en-US" dirty="0"/>
          </a:p>
        </p:txBody>
      </p:sp>
      <p:sp>
        <p:nvSpPr>
          <p:cNvPr id="4" name="Rectangle 3">
            <a:extLst>
              <a:ext uri="{FF2B5EF4-FFF2-40B4-BE49-F238E27FC236}">
                <a16:creationId xmlns:a16="http://schemas.microsoft.com/office/drawing/2014/main" id="{274C2C43-1EA5-EF77-E27E-2A328B34F122}"/>
              </a:ext>
            </a:extLst>
          </p:cNvPr>
          <p:cNvSpPr/>
          <p:nvPr/>
        </p:nvSpPr>
        <p:spPr>
          <a:xfrm>
            <a:off x="4272333" y="4083703"/>
            <a:ext cx="1619100" cy="71609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fa-IR" dirty="0"/>
              <a:t>تهيه امار مربوط به امور شهر و مواليد و متوفيات</a:t>
            </a:r>
            <a:endParaRPr lang="en-US" dirty="0"/>
          </a:p>
        </p:txBody>
      </p:sp>
      <p:sp>
        <p:nvSpPr>
          <p:cNvPr id="6" name="Rectangle 5">
            <a:extLst>
              <a:ext uri="{FF2B5EF4-FFF2-40B4-BE49-F238E27FC236}">
                <a16:creationId xmlns:a16="http://schemas.microsoft.com/office/drawing/2014/main" id="{7F72A855-4D2B-93DB-38A2-20DC8B450574}"/>
              </a:ext>
            </a:extLst>
          </p:cNvPr>
          <p:cNvSpPr/>
          <p:nvPr/>
        </p:nvSpPr>
        <p:spPr>
          <a:xfrm>
            <a:off x="1668790" y="2437184"/>
            <a:ext cx="1619100" cy="71609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fa-IR" dirty="0"/>
              <a:t>تهيه مقررات صنفی و پيشنهاد ان به انجمن شهر</a:t>
            </a:r>
          </a:p>
        </p:txBody>
      </p:sp>
      <p:sp>
        <p:nvSpPr>
          <p:cNvPr id="7" name="Rectangle 6">
            <a:extLst>
              <a:ext uri="{FF2B5EF4-FFF2-40B4-BE49-F238E27FC236}">
                <a16:creationId xmlns:a16="http://schemas.microsoft.com/office/drawing/2014/main" id="{7B8E9153-4C01-B302-39FC-D4C8DF1B388E}"/>
              </a:ext>
            </a:extLst>
          </p:cNvPr>
          <p:cNvSpPr/>
          <p:nvPr/>
        </p:nvSpPr>
        <p:spPr>
          <a:xfrm>
            <a:off x="1668790" y="3257244"/>
            <a:ext cx="1619100" cy="71609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fa-IR" dirty="0"/>
              <a:t>تهيه نقشه حدود شهر و حومه و اصلاح واجراي ان</a:t>
            </a:r>
          </a:p>
        </p:txBody>
      </p:sp>
      <p:sp>
        <p:nvSpPr>
          <p:cNvPr id="9" name="Rectangle 8">
            <a:extLst>
              <a:ext uri="{FF2B5EF4-FFF2-40B4-BE49-F238E27FC236}">
                <a16:creationId xmlns:a16="http://schemas.microsoft.com/office/drawing/2014/main" id="{12DB9956-D8FF-8B14-7CC7-F82636BB9459}"/>
              </a:ext>
            </a:extLst>
          </p:cNvPr>
          <p:cNvSpPr/>
          <p:nvPr/>
        </p:nvSpPr>
        <p:spPr>
          <a:xfrm>
            <a:off x="1668790" y="4083704"/>
            <a:ext cx="1619100" cy="71609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fa-IR" dirty="0"/>
              <a:t>صدور پروانه براي كليه ساختمان هايی كه در شهر مي شود.</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1"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grpId="1"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par>
                                <p:cTn id="11" presetID="22" presetClass="entr" presetSubtype="4" fill="hold" grpId="1"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par>
                                <p:cTn id="14" presetID="22" presetClass="entr" presetSubtype="4" fill="hold" grpId="1"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par>
                                <p:cTn id="17" presetID="22" presetClass="entr" presetSubtype="4" fill="hold" grpId="1"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par>
                                <p:cTn id="20" presetID="22" presetClass="entr" presetSubtype="4" fill="hold" grpId="1"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animBg="1"/>
      <p:bldP spid="3" grpId="1" animBg="1"/>
      <p:bldP spid="4" grpId="1" animBg="1"/>
      <p:bldP spid="6" grpId="1" animBg="1"/>
      <p:bldP spid="7" grpId="1" animBg="1"/>
      <p:bldP spid="9"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grpSp>
        <p:nvGrpSpPr>
          <p:cNvPr id="296" name="Google Shape;296;p34"/>
          <p:cNvGrpSpPr/>
          <p:nvPr/>
        </p:nvGrpSpPr>
        <p:grpSpPr>
          <a:xfrm>
            <a:off x="-4762" y="1950601"/>
            <a:ext cx="3847492" cy="1242300"/>
            <a:chOff x="0" y="0"/>
            <a:chExt cx="10259979" cy="3312798"/>
          </a:xfrm>
        </p:grpSpPr>
        <p:sp>
          <p:nvSpPr>
            <p:cNvPr id="297" name="Google Shape;297;p34"/>
            <p:cNvSpPr/>
            <p:nvPr/>
          </p:nvSpPr>
          <p:spPr>
            <a:xfrm>
              <a:off x="0" y="0"/>
              <a:ext cx="10259979" cy="3312798"/>
            </a:xfrm>
            <a:prstGeom prst="rect">
              <a:avLst/>
            </a:prstGeom>
            <a:solidFill>
              <a:srgbClr val="000000"/>
            </a:solidFill>
            <a:ln>
              <a:noFill/>
            </a:ln>
          </p:spPr>
          <p:txBody>
            <a:bodyPr spcFirstLastPara="1" wrap="square" lIns="45725" tIns="45725" rIns="45725" bIns="45725" anchor="ctr" anchorCtr="0">
              <a:noAutofit/>
            </a:bodyPr>
            <a:lstStyle/>
            <a:p>
              <a:pPr marL="0" lvl="0" indent="0" algn="r" rtl="1">
                <a:spcBef>
                  <a:spcPts val="0"/>
                </a:spcBef>
                <a:spcAft>
                  <a:spcPts val="0"/>
                </a:spcAft>
                <a:buNone/>
              </a:pPr>
              <a:endParaRPr>
                <a:cs typeface="B Nazanin" panose="00000700000000000000" pitchFamily="2" charset="-78"/>
              </a:endParaRPr>
            </a:p>
          </p:txBody>
        </p:sp>
        <p:sp>
          <p:nvSpPr>
            <p:cNvPr id="298" name="Google Shape;298;p34"/>
            <p:cNvSpPr txBox="1"/>
            <p:nvPr/>
          </p:nvSpPr>
          <p:spPr>
            <a:xfrm>
              <a:off x="122453" y="449989"/>
              <a:ext cx="10137526" cy="1477327"/>
            </a:xfrm>
            <a:prstGeom prst="rect">
              <a:avLst/>
            </a:prstGeom>
            <a:noFill/>
            <a:ln>
              <a:noFill/>
            </a:ln>
          </p:spPr>
          <p:txBody>
            <a:bodyPr spcFirstLastPara="1" wrap="square" lIns="0" tIns="0" rIns="0" bIns="0" anchor="t" anchorCtr="0">
              <a:spAutoFit/>
            </a:bodyPr>
            <a:lstStyle/>
            <a:p>
              <a:pPr marL="0" marR="0" lvl="0" indent="0" algn="ctr" rtl="1">
                <a:lnSpc>
                  <a:spcPct val="120000"/>
                </a:lnSpc>
                <a:spcBef>
                  <a:spcPts val="0"/>
                </a:spcBef>
                <a:spcAft>
                  <a:spcPts val="0"/>
                </a:spcAft>
                <a:buNone/>
              </a:pPr>
              <a:r>
                <a:rPr lang="fa-IR" sz="3000" b="1" i="0" u="none" strike="noStrike" cap="none" dirty="0">
                  <a:solidFill>
                    <a:srgbClr val="FFFFFF"/>
                  </a:solidFill>
                  <a:latin typeface="Open Sans"/>
                  <a:ea typeface="Open Sans"/>
                  <a:cs typeface="B Nazanin" panose="00000700000000000000" pitchFamily="2" charset="-78"/>
                  <a:sym typeface="Open Sans"/>
                </a:rPr>
                <a:t>آیین نامه مالی شهرداری ها</a:t>
              </a:r>
              <a:endParaRPr sz="700" dirty="0">
                <a:cs typeface="B Nazanin" panose="00000700000000000000" pitchFamily="2" charset="-78"/>
              </a:endParaRPr>
            </a:p>
          </p:txBody>
        </p:sp>
      </p:grpSp>
      <p:cxnSp>
        <p:nvCxnSpPr>
          <p:cNvPr id="299" name="Google Shape;299;p34"/>
          <p:cNvCxnSpPr/>
          <p:nvPr/>
        </p:nvCxnSpPr>
        <p:spPr>
          <a:xfrm rot="5399999">
            <a:off x="-951262" y="189098"/>
            <a:ext cx="3084866" cy="0"/>
          </a:xfrm>
          <a:prstGeom prst="straightConnector1">
            <a:avLst/>
          </a:prstGeom>
          <a:noFill/>
          <a:ln w="9525" cap="flat" cmpd="sng">
            <a:solidFill>
              <a:srgbClr val="000000"/>
            </a:solidFill>
            <a:prstDash val="solid"/>
            <a:round/>
            <a:headEnd type="none" w="sm" len="sm"/>
            <a:tailEnd type="none" w="sm" len="sm"/>
          </a:ln>
        </p:spPr>
      </p:cxnSp>
      <p:cxnSp>
        <p:nvCxnSpPr>
          <p:cNvPr id="300" name="Google Shape;300;p34"/>
          <p:cNvCxnSpPr/>
          <p:nvPr/>
        </p:nvCxnSpPr>
        <p:spPr>
          <a:xfrm rot="5399999">
            <a:off x="-857978" y="4949640"/>
            <a:ext cx="3084866" cy="0"/>
          </a:xfrm>
          <a:prstGeom prst="straightConnector1">
            <a:avLst/>
          </a:prstGeom>
          <a:noFill/>
          <a:ln w="9525" cap="flat" cmpd="sng">
            <a:solidFill>
              <a:srgbClr val="000000"/>
            </a:solidFill>
            <a:prstDash val="solid"/>
            <a:round/>
            <a:headEnd type="none" w="sm" len="sm"/>
            <a:tailEnd type="none" w="sm" len="sm"/>
          </a:ln>
        </p:spPr>
      </p:cxnSp>
      <p:grpSp>
        <p:nvGrpSpPr>
          <p:cNvPr id="301" name="Google Shape;301;p34"/>
          <p:cNvGrpSpPr/>
          <p:nvPr/>
        </p:nvGrpSpPr>
        <p:grpSpPr>
          <a:xfrm>
            <a:off x="8837359" y="-72330"/>
            <a:ext cx="1543051" cy="5808473"/>
            <a:chOff x="0" y="-38100"/>
            <a:chExt cx="812800" cy="3059607"/>
          </a:xfrm>
        </p:grpSpPr>
        <p:sp>
          <p:nvSpPr>
            <p:cNvPr id="302" name="Google Shape;302;p34"/>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endParaRPr lang="en-US"/>
            </a:p>
          </p:txBody>
        </p:sp>
        <p:sp>
          <p:nvSpPr>
            <p:cNvPr id="303" name="Google Shape;303;p34"/>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304" name="Google Shape;304;p34"/>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grpSp>
        <p:nvGrpSpPr>
          <p:cNvPr id="2" name="Google Shape;12431;p82">
            <a:extLst>
              <a:ext uri="{FF2B5EF4-FFF2-40B4-BE49-F238E27FC236}">
                <a16:creationId xmlns:a16="http://schemas.microsoft.com/office/drawing/2014/main" id="{B002C5A6-F2AA-C8E5-7E34-4742004C1700}"/>
              </a:ext>
            </a:extLst>
          </p:cNvPr>
          <p:cNvGrpSpPr/>
          <p:nvPr/>
        </p:nvGrpSpPr>
        <p:grpSpPr>
          <a:xfrm>
            <a:off x="4803751" y="194174"/>
            <a:ext cx="3072587" cy="3074714"/>
            <a:chOff x="4206763" y="2450951"/>
            <a:chExt cx="322151" cy="322374"/>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grpSpPr>
        <p:sp>
          <p:nvSpPr>
            <p:cNvPr id="3" name="Google Shape;12432;p82">
              <a:extLst>
                <a:ext uri="{FF2B5EF4-FFF2-40B4-BE49-F238E27FC236}">
                  <a16:creationId xmlns:a16="http://schemas.microsoft.com/office/drawing/2014/main" id="{6FB22CCD-F5FB-901D-78D8-17B9D5178965}"/>
                </a:ext>
              </a:extLst>
            </p:cNvPr>
            <p:cNvSpPr/>
            <p:nvPr/>
          </p:nvSpPr>
          <p:spPr>
            <a:xfrm>
              <a:off x="4206763" y="2571650"/>
              <a:ext cx="322151" cy="201675"/>
            </a:xfrm>
            <a:custGeom>
              <a:avLst/>
              <a:gdLst/>
              <a:ahLst/>
              <a:cxnLst/>
              <a:rect l="l" t="t" r="r" b="b"/>
              <a:pathLst>
                <a:path w="10121" h="6336" extrusionOk="0">
                  <a:moveTo>
                    <a:pt x="2691" y="2847"/>
                  </a:moveTo>
                  <a:lnTo>
                    <a:pt x="2691" y="6037"/>
                  </a:lnTo>
                  <a:lnTo>
                    <a:pt x="1393" y="6037"/>
                  </a:lnTo>
                  <a:lnTo>
                    <a:pt x="1393" y="2847"/>
                  </a:lnTo>
                  <a:close/>
                  <a:moveTo>
                    <a:pt x="5703" y="2049"/>
                  </a:moveTo>
                  <a:lnTo>
                    <a:pt x="5703" y="6037"/>
                  </a:lnTo>
                  <a:lnTo>
                    <a:pt x="4406" y="6037"/>
                  </a:lnTo>
                  <a:lnTo>
                    <a:pt x="4406" y="2049"/>
                  </a:lnTo>
                  <a:close/>
                  <a:moveTo>
                    <a:pt x="8704" y="299"/>
                  </a:moveTo>
                  <a:lnTo>
                    <a:pt x="8704" y="6037"/>
                  </a:lnTo>
                  <a:lnTo>
                    <a:pt x="7406" y="6037"/>
                  </a:lnTo>
                  <a:lnTo>
                    <a:pt x="7406" y="299"/>
                  </a:lnTo>
                  <a:close/>
                  <a:moveTo>
                    <a:pt x="7275" y="1"/>
                  </a:moveTo>
                  <a:cubicBezTo>
                    <a:pt x="7192" y="1"/>
                    <a:pt x="7132" y="61"/>
                    <a:pt x="7132" y="156"/>
                  </a:cubicBezTo>
                  <a:lnTo>
                    <a:pt x="7132" y="6037"/>
                  </a:lnTo>
                  <a:lnTo>
                    <a:pt x="6001" y="6037"/>
                  </a:lnTo>
                  <a:lnTo>
                    <a:pt x="6001" y="1894"/>
                  </a:lnTo>
                  <a:cubicBezTo>
                    <a:pt x="6001" y="1811"/>
                    <a:pt x="5941" y="1751"/>
                    <a:pt x="5846" y="1751"/>
                  </a:cubicBezTo>
                  <a:lnTo>
                    <a:pt x="4275" y="1751"/>
                  </a:lnTo>
                  <a:cubicBezTo>
                    <a:pt x="4179" y="1751"/>
                    <a:pt x="4120" y="1811"/>
                    <a:pt x="4120" y="1894"/>
                  </a:cubicBezTo>
                  <a:lnTo>
                    <a:pt x="4120" y="6037"/>
                  </a:lnTo>
                  <a:lnTo>
                    <a:pt x="2989" y="6037"/>
                  </a:lnTo>
                  <a:lnTo>
                    <a:pt x="2989" y="2704"/>
                  </a:lnTo>
                  <a:cubicBezTo>
                    <a:pt x="2989" y="2608"/>
                    <a:pt x="2929" y="2549"/>
                    <a:pt x="2846" y="2549"/>
                  </a:cubicBezTo>
                  <a:lnTo>
                    <a:pt x="1262" y="2549"/>
                  </a:lnTo>
                  <a:cubicBezTo>
                    <a:pt x="1167" y="2549"/>
                    <a:pt x="1119" y="2608"/>
                    <a:pt x="1119" y="2704"/>
                  </a:cubicBezTo>
                  <a:lnTo>
                    <a:pt x="1119" y="6037"/>
                  </a:lnTo>
                  <a:lnTo>
                    <a:pt x="143" y="6037"/>
                  </a:lnTo>
                  <a:cubicBezTo>
                    <a:pt x="60" y="6037"/>
                    <a:pt x="0" y="6097"/>
                    <a:pt x="0" y="6180"/>
                  </a:cubicBezTo>
                  <a:cubicBezTo>
                    <a:pt x="0" y="6276"/>
                    <a:pt x="60" y="6335"/>
                    <a:pt x="143" y="6335"/>
                  </a:cubicBezTo>
                  <a:lnTo>
                    <a:pt x="9966" y="6335"/>
                  </a:lnTo>
                  <a:cubicBezTo>
                    <a:pt x="10061" y="6335"/>
                    <a:pt x="10121" y="6276"/>
                    <a:pt x="10121" y="6180"/>
                  </a:cubicBezTo>
                  <a:cubicBezTo>
                    <a:pt x="10121" y="6109"/>
                    <a:pt x="10049" y="6037"/>
                    <a:pt x="9966" y="6037"/>
                  </a:cubicBezTo>
                  <a:lnTo>
                    <a:pt x="9001" y="6037"/>
                  </a:lnTo>
                  <a:lnTo>
                    <a:pt x="9001" y="156"/>
                  </a:lnTo>
                  <a:cubicBezTo>
                    <a:pt x="9001" y="61"/>
                    <a:pt x="8942" y="1"/>
                    <a:pt x="8859" y="1"/>
                  </a:cubicBezTo>
                  <a:close/>
                </a:path>
              </a:pathLst>
            </a:custGeom>
            <a:ln/>
          </p:spPr>
          <p:style>
            <a:lnRef idx="2">
              <a:schemeClr val="dk1">
                <a:shade val="15000"/>
              </a:schemeClr>
            </a:lnRef>
            <a:fillRef idx="1">
              <a:schemeClr val="dk1"/>
            </a:fillRef>
            <a:effectRef idx="0">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2433;p82">
              <a:extLst>
                <a:ext uri="{FF2B5EF4-FFF2-40B4-BE49-F238E27FC236}">
                  <a16:creationId xmlns:a16="http://schemas.microsoft.com/office/drawing/2014/main" id="{3654C640-AB46-3C8F-6D1B-9CCF10B1F788}"/>
                </a:ext>
              </a:extLst>
            </p:cNvPr>
            <p:cNvSpPr/>
            <p:nvPr/>
          </p:nvSpPr>
          <p:spPr>
            <a:xfrm>
              <a:off x="4210933" y="2450951"/>
              <a:ext cx="308878" cy="185537"/>
            </a:xfrm>
            <a:custGeom>
              <a:avLst/>
              <a:gdLst/>
              <a:ahLst/>
              <a:cxnLst/>
              <a:rect l="l" t="t" r="r" b="b"/>
              <a:pathLst>
                <a:path w="9704" h="5829" extrusionOk="0">
                  <a:moveTo>
                    <a:pt x="9212" y="1"/>
                  </a:moveTo>
                  <a:cubicBezTo>
                    <a:pt x="9189" y="1"/>
                    <a:pt x="9167" y="3"/>
                    <a:pt x="9144" y="7"/>
                  </a:cubicBezTo>
                  <a:lnTo>
                    <a:pt x="7870" y="162"/>
                  </a:lnTo>
                  <a:cubicBezTo>
                    <a:pt x="7620" y="197"/>
                    <a:pt x="7442" y="435"/>
                    <a:pt x="7477" y="685"/>
                  </a:cubicBezTo>
                  <a:cubicBezTo>
                    <a:pt x="7500" y="920"/>
                    <a:pt x="7711" y="1092"/>
                    <a:pt x="7944" y="1092"/>
                  </a:cubicBezTo>
                  <a:cubicBezTo>
                    <a:pt x="7959" y="1092"/>
                    <a:pt x="7974" y="1092"/>
                    <a:pt x="7989" y="1090"/>
                  </a:cubicBezTo>
                  <a:lnTo>
                    <a:pt x="8096" y="1066"/>
                  </a:lnTo>
                  <a:lnTo>
                    <a:pt x="8096" y="1066"/>
                  </a:lnTo>
                  <a:cubicBezTo>
                    <a:pt x="6537" y="2876"/>
                    <a:pt x="4691" y="3805"/>
                    <a:pt x="3382" y="4269"/>
                  </a:cubicBezTo>
                  <a:cubicBezTo>
                    <a:pt x="1739" y="4853"/>
                    <a:pt x="476" y="4912"/>
                    <a:pt x="465" y="4912"/>
                  </a:cubicBezTo>
                  <a:cubicBezTo>
                    <a:pt x="203" y="4924"/>
                    <a:pt x="0" y="5138"/>
                    <a:pt x="12" y="5388"/>
                  </a:cubicBezTo>
                  <a:cubicBezTo>
                    <a:pt x="36" y="5638"/>
                    <a:pt x="226" y="5829"/>
                    <a:pt x="476" y="5829"/>
                  </a:cubicBezTo>
                  <a:lnTo>
                    <a:pt x="488" y="5829"/>
                  </a:lnTo>
                  <a:cubicBezTo>
                    <a:pt x="548" y="5829"/>
                    <a:pt x="1893" y="5793"/>
                    <a:pt x="3667" y="5150"/>
                  </a:cubicBezTo>
                  <a:cubicBezTo>
                    <a:pt x="4656" y="4793"/>
                    <a:pt x="5596" y="4317"/>
                    <a:pt x="6442" y="3745"/>
                  </a:cubicBezTo>
                  <a:cubicBezTo>
                    <a:pt x="6525" y="3710"/>
                    <a:pt x="6537" y="3614"/>
                    <a:pt x="6489" y="3543"/>
                  </a:cubicBezTo>
                  <a:cubicBezTo>
                    <a:pt x="6458" y="3497"/>
                    <a:pt x="6413" y="3471"/>
                    <a:pt x="6365" y="3471"/>
                  </a:cubicBezTo>
                  <a:cubicBezTo>
                    <a:pt x="6339" y="3471"/>
                    <a:pt x="6312" y="3478"/>
                    <a:pt x="6287" y="3495"/>
                  </a:cubicBezTo>
                  <a:cubicBezTo>
                    <a:pt x="5453" y="4067"/>
                    <a:pt x="4537" y="4519"/>
                    <a:pt x="3560" y="4865"/>
                  </a:cubicBezTo>
                  <a:cubicBezTo>
                    <a:pt x="1834" y="5484"/>
                    <a:pt x="536" y="5519"/>
                    <a:pt x="476" y="5531"/>
                  </a:cubicBezTo>
                  <a:cubicBezTo>
                    <a:pt x="393" y="5531"/>
                    <a:pt x="310" y="5460"/>
                    <a:pt x="310" y="5377"/>
                  </a:cubicBezTo>
                  <a:cubicBezTo>
                    <a:pt x="310" y="5281"/>
                    <a:pt x="393" y="5210"/>
                    <a:pt x="476" y="5198"/>
                  </a:cubicBezTo>
                  <a:cubicBezTo>
                    <a:pt x="488" y="5198"/>
                    <a:pt x="1798" y="5150"/>
                    <a:pt x="3489" y="4543"/>
                  </a:cubicBezTo>
                  <a:cubicBezTo>
                    <a:pt x="4894" y="4031"/>
                    <a:pt x="6918" y="3007"/>
                    <a:pt x="8573" y="947"/>
                  </a:cubicBezTo>
                  <a:cubicBezTo>
                    <a:pt x="8664" y="856"/>
                    <a:pt x="8579" y="709"/>
                    <a:pt x="8456" y="709"/>
                  </a:cubicBezTo>
                  <a:cubicBezTo>
                    <a:pt x="8451" y="709"/>
                    <a:pt x="8447" y="709"/>
                    <a:pt x="8442" y="709"/>
                  </a:cubicBezTo>
                  <a:lnTo>
                    <a:pt x="7966" y="769"/>
                  </a:lnTo>
                  <a:cubicBezTo>
                    <a:pt x="7951" y="772"/>
                    <a:pt x="7937" y="774"/>
                    <a:pt x="7924" y="774"/>
                  </a:cubicBezTo>
                  <a:cubicBezTo>
                    <a:pt x="7850" y="774"/>
                    <a:pt x="7797" y="720"/>
                    <a:pt x="7787" y="650"/>
                  </a:cubicBezTo>
                  <a:cubicBezTo>
                    <a:pt x="7751" y="554"/>
                    <a:pt x="7835" y="459"/>
                    <a:pt x="7930" y="447"/>
                  </a:cubicBezTo>
                  <a:lnTo>
                    <a:pt x="9204" y="281"/>
                  </a:lnTo>
                  <a:cubicBezTo>
                    <a:pt x="9210" y="280"/>
                    <a:pt x="9216" y="280"/>
                    <a:pt x="9222" y="280"/>
                  </a:cubicBezTo>
                  <a:cubicBezTo>
                    <a:pt x="9311" y="280"/>
                    <a:pt x="9394" y="358"/>
                    <a:pt x="9394" y="447"/>
                  </a:cubicBezTo>
                  <a:lnTo>
                    <a:pt x="9394" y="1709"/>
                  </a:lnTo>
                  <a:cubicBezTo>
                    <a:pt x="9394" y="1805"/>
                    <a:pt x="9323" y="1876"/>
                    <a:pt x="9228" y="1876"/>
                  </a:cubicBezTo>
                  <a:cubicBezTo>
                    <a:pt x="9132" y="1876"/>
                    <a:pt x="9061" y="1805"/>
                    <a:pt x="9061" y="1709"/>
                  </a:cubicBezTo>
                  <a:lnTo>
                    <a:pt x="9061" y="1328"/>
                  </a:lnTo>
                  <a:cubicBezTo>
                    <a:pt x="9061" y="1269"/>
                    <a:pt x="9025" y="1209"/>
                    <a:pt x="8978" y="1186"/>
                  </a:cubicBezTo>
                  <a:cubicBezTo>
                    <a:pt x="8963" y="1183"/>
                    <a:pt x="8948" y="1181"/>
                    <a:pt x="8932" y="1181"/>
                  </a:cubicBezTo>
                  <a:cubicBezTo>
                    <a:pt x="8882" y="1181"/>
                    <a:pt x="8829" y="1197"/>
                    <a:pt x="8811" y="1233"/>
                  </a:cubicBezTo>
                  <a:cubicBezTo>
                    <a:pt x="8263" y="1924"/>
                    <a:pt x="7620" y="2531"/>
                    <a:pt x="6930" y="3067"/>
                  </a:cubicBezTo>
                  <a:cubicBezTo>
                    <a:pt x="6870" y="3114"/>
                    <a:pt x="6858" y="3210"/>
                    <a:pt x="6906" y="3269"/>
                  </a:cubicBezTo>
                  <a:cubicBezTo>
                    <a:pt x="6936" y="3307"/>
                    <a:pt x="6985" y="3330"/>
                    <a:pt x="7032" y="3330"/>
                  </a:cubicBezTo>
                  <a:cubicBezTo>
                    <a:pt x="7060" y="3330"/>
                    <a:pt x="7086" y="3322"/>
                    <a:pt x="7108" y="3305"/>
                  </a:cubicBezTo>
                  <a:cubicBezTo>
                    <a:pt x="7704" y="2840"/>
                    <a:pt x="8275" y="2305"/>
                    <a:pt x="8775" y="1745"/>
                  </a:cubicBezTo>
                  <a:cubicBezTo>
                    <a:pt x="8799" y="1995"/>
                    <a:pt x="8989" y="2186"/>
                    <a:pt x="9239" y="2186"/>
                  </a:cubicBezTo>
                  <a:cubicBezTo>
                    <a:pt x="9490" y="2186"/>
                    <a:pt x="9704" y="1983"/>
                    <a:pt x="9704" y="1721"/>
                  </a:cubicBezTo>
                  <a:lnTo>
                    <a:pt x="9704" y="459"/>
                  </a:lnTo>
                  <a:cubicBezTo>
                    <a:pt x="9680" y="328"/>
                    <a:pt x="9620" y="209"/>
                    <a:pt x="9513" y="126"/>
                  </a:cubicBezTo>
                  <a:cubicBezTo>
                    <a:pt x="9425" y="47"/>
                    <a:pt x="9319" y="1"/>
                    <a:pt x="9212" y="1"/>
                  </a:cubicBezTo>
                  <a:close/>
                </a:path>
              </a:pathLst>
            </a:custGeom>
            <a:ln/>
          </p:spPr>
          <p:style>
            <a:lnRef idx="2">
              <a:schemeClr val="dk1">
                <a:shade val="15000"/>
              </a:schemeClr>
            </a:lnRef>
            <a:fillRef idx="1">
              <a:schemeClr val="dk1"/>
            </a:fillRef>
            <a:effectRef idx="0">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extBox 4">
            <a:extLst>
              <a:ext uri="{FF2B5EF4-FFF2-40B4-BE49-F238E27FC236}">
                <a16:creationId xmlns:a16="http://schemas.microsoft.com/office/drawing/2014/main" id="{AC63B5A6-C5C9-662D-E4F2-B5B6085A3CF4}"/>
              </a:ext>
            </a:extLst>
          </p:cNvPr>
          <p:cNvSpPr txBox="1"/>
          <p:nvPr/>
        </p:nvSpPr>
        <p:spPr>
          <a:xfrm>
            <a:off x="1025750" y="4112305"/>
            <a:ext cx="7470315" cy="523220"/>
          </a:xfrm>
          <a:prstGeom prst="rect">
            <a:avLst/>
          </a:prstGeom>
          <a:noFill/>
        </p:spPr>
        <p:txBody>
          <a:bodyPr wrap="none" rtlCol="0">
            <a:spAutoFit/>
          </a:bodyPr>
          <a:lstStyle/>
          <a:p>
            <a:pPr algn="ctr" rtl="1"/>
            <a:r>
              <a:rPr lang="fa-IR" b="1" dirty="0">
                <a:latin typeface="IRNazanin" panose="02000506000000020002" pitchFamily="2" charset="-78"/>
                <a:cs typeface="IRNazanin" panose="02000506000000020002" pitchFamily="2" charset="-78"/>
              </a:rPr>
              <a:t>آیین‌نامه مالی شهرداریها، مجموعه‌ای از قوانین و مقررات است که برای اداره مالی و معاملات شهرداری‌ها تدوین شده است.</a:t>
            </a:r>
          </a:p>
          <a:p>
            <a:pPr algn="ctr" rtl="1"/>
            <a:r>
              <a:rPr lang="fa-IR" b="1" dirty="0">
                <a:latin typeface="IRNazanin" panose="02000506000000020002" pitchFamily="2" charset="-78"/>
                <a:cs typeface="IRNazanin" panose="02000506000000020002" pitchFamily="2" charset="-78"/>
              </a:rPr>
              <a:t>مصوب 1346/04/12با اصلاحات و الحاقات بعدی</a:t>
            </a:r>
            <a:endParaRPr lang="en-US" b="1" dirty="0">
              <a:latin typeface="IRNazanin" panose="02000506000000020002" pitchFamily="2" charset="-78"/>
              <a:cs typeface="IRNazanin" panose="02000506000000020002" pitchFamily="2" charset="-7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566F6E35-BEDB-EEF1-AA92-5F87E57BBE48}"/>
              </a:ext>
            </a:extLst>
          </p:cNvPr>
          <p:cNvGraphicFramePr/>
          <p:nvPr>
            <p:extLst>
              <p:ext uri="{D42A27DB-BD31-4B8C-83A1-F6EECF244321}">
                <p14:modId xmlns:p14="http://schemas.microsoft.com/office/powerpoint/2010/main" val="3864796013"/>
              </p:ext>
            </p:extLst>
          </p:nvPr>
        </p:nvGraphicFramePr>
        <p:xfrm>
          <a:off x="-835442" y="839768"/>
          <a:ext cx="10113705" cy="30976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85" name="Google Shape;185;p28"/>
          <p:cNvCxnSpPr>
            <a:cxnSpLocks/>
          </p:cNvCxnSpPr>
          <p:nvPr/>
        </p:nvCxnSpPr>
        <p:spPr>
          <a:xfrm flipV="1">
            <a:off x="8632032" y="6571385"/>
            <a:ext cx="0" cy="1382546"/>
          </a:xfrm>
          <a:prstGeom prst="straightConnector1">
            <a:avLst/>
          </a:prstGeom>
          <a:noFill/>
          <a:ln w="9525" cap="flat" cmpd="sng">
            <a:solidFill>
              <a:srgbClr val="000000"/>
            </a:solidFill>
            <a:prstDash val="solid"/>
            <a:round/>
            <a:headEnd type="none" w="sm" len="sm"/>
            <a:tailEnd type="none" w="sm" len="sm"/>
          </a:ln>
        </p:spPr>
      </p:cxnSp>
      <p:grpSp>
        <p:nvGrpSpPr>
          <p:cNvPr id="186" name="Google Shape;186;p28"/>
          <p:cNvGrpSpPr/>
          <p:nvPr/>
        </p:nvGrpSpPr>
        <p:grpSpPr>
          <a:xfrm>
            <a:off x="8826785" y="-72330"/>
            <a:ext cx="1553625" cy="5808473"/>
            <a:chOff x="0" y="-38100"/>
            <a:chExt cx="812800" cy="3059607"/>
          </a:xfrm>
        </p:grpSpPr>
        <p:sp>
          <p:nvSpPr>
            <p:cNvPr id="187" name="Google Shape;187;p28"/>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188" name="Google Shape;188;p28"/>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198" name="Google Shape;198;p28"/>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000000"/>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grpSp>
        <p:nvGrpSpPr>
          <p:cNvPr id="16" name="Group 15">
            <a:extLst>
              <a:ext uri="{FF2B5EF4-FFF2-40B4-BE49-F238E27FC236}">
                <a16:creationId xmlns:a16="http://schemas.microsoft.com/office/drawing/2014/main" id="{DC217F7B-E882-ADC3-CA44-8270079DB482}"/>
              </a:ext>
            </a:extLst>
          </p:cNvPr>
          <p:cNvGrpSpPr/>
          <p:nvPr/>
        </p:nvGrpSpPr>
        <p:grpSpPr>
          <a:xfrm>
            <a:off x="7477760" y="162560"/>
            <a:ext cx="1206291" cy="3045356"/>
            <a:chOff x="7477760" y="162560"/>
            <a:chExt cx="1206291" cy="3045356"/>
          </a:xfrm>
        </p:grpSpPr>
        <p:cxnSp>
          <p:nvCxnSpPr>
            <p:cNvPr id="184" name="Google Shape;184;p28"/>
            <p:cNvCxnSpPr>
              <a:cxnSpLocks/>
            </p:cNvCxnSpPr>
            <p:nvPr/>
          </p:nvCxnSpPr>
          <p:spPr>
            <a:xfrm flipV="1">
              <a:off x="8684051" y="162560"/>
              <a:ext cx="0" cy="3045356"/>
            </a:xfrm>
            <a:prstGeom prst="straightConnector1">
              <a:avLst/>
            </a:prstGeom>
            <a:ln>
              <a:headEnd type="none" w="sm" len="sm"/>
              <a:tailEnd type="none" w="sm" len="sm"/>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4AFBE053-1A6D-D577-9C03-0A75BC56E172}"/>
                </a:ext>
              </a:extLst>
            </p:cNvPr>
            <p:cNvCxnSpPr>
              <a:cxnSpLocks/>
            </p:cNvCxnSpPr>
            <p:nvPr/>
          </p:nvCxnSpPr>
          <p:spPr>
            <a:xfrm flipH="1">
              <a:off x="7477760" y="162560"/>
              <a:ext cx="1206291" cy="0"/>
            </a:xfrm>
            <a:prstGeom prst="line">
              <a:avLst/>
            </a:prstGeom>
          </p:spPr>
          <p:style>
            <a:lnRef idx="2">
              <a:schemeClr val="dk1"/>
            </a:lnRef>
            <a:fillRef idx="0">
              <a:schemeClr val="dk1"/>
            </a:fillRef>
            <a:effectRef idx="1">
              <a:schemeClr val="dk1"/>
            </a:effectRef>
            <a:fontRef idx="minor">
              <a:schemeClr val="tx1"/>
            </a:fontRef>
          </p:style>
        </p:cxnSp>
      </p:grpSp>
      <p:grpSp>
        <p:nvGrpSpPr>
          <p:cNvPr id="17" name="Group 16">
            <a:extLst>
              <a:ext uri="{FF2B5EF4-FFF2-40B4-BE49-F238E27FC236}">
                <a16:creationId xmlns:a16="http://schemas.microsoft.com/office/drawing/2014/main" id="{5B9F6689-9654-2558-D033-3271B8BE7032}"/>
              </a:ext>
            </a:extLst>
          </p:cNvPr>
          <p:cNvGrpSpPr/>
          <p:nvPr/>
        </p:nvGrpSpPr>
        <p:grpSpPr>
          <a:xfrm>
            <a:off x="41158" y="2029460"/>
            <a:ext cx="1206291" cy="3045356"/>
            <a:chOff x="41158" y="2029460"/>
            <a:chExt cx="1206291" cy="3045356"/>
          </a:xfrm>
        </p:grpSpPr>
        <p:cxnSp>
          <p:nvCxnSpPr>
            <p:cNvPr id="13" name="Google Shape;184;p28">
              <a:extLst>
                <a:ext uri="{FF2B5EF4-FFF2-40B4-BE49-F238E27FC236}">
                  <a16:creationId xmlns:a16="http://schemas.microsoft.com/office/drawing/2014/main" id="{5F506DBB-4074-C6A2-1A56-576D638F7964}"/>
                </a:ext>
              </a:extLst>
            </p:cNvPr>
            <p:cNvCxnSpPr>
              <a:cxnSpLocks/>
            </p:cNvCxnSpPr>
            <p:nvPr/>
          </p:nvCxnSpPr>
          <p:spPr>
            <a:xfrm rot="10800000" flipV="1">
              <a:off x="41158" y="2029460"/>
              <a:ext cx="0" cy="3045356"/>
            </a:xfrm>
            <a:prstGeom prst="straightConnector1">
              <a:avLst/>
            </a:prstGeom>
            <a:ln>
              <a:headEnd type="none" w="sm" len="sm"/>
              <a:tailEnd type="none" w="sm" len="sm"/>
            </a:ln>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7098F5DD-AEC9-86E2-4F31-0148DC2DB04F}"/>
                </a:ext>
              </a:extLst>
            </p:cNvPr>
            <p:cNvCxnSpPr>
              <a:cxnSpLocks/>
            </p:cNvCxnSpPr>
            <p:nvPr/>
          </p:nvCxnSpPr>
          <p:spPr>
            <a:xfrm rot="10800000" flipH="1">
              <a:off x="41158" y="5074816"/>
              <a:ext cx="1206291" cy="0"/>
            </a:xfrm>
            <a:prstGeom prst="line">
              <a:avLst/>
            </a:prstGeom>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19854831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cxnSp>
        <p:nvCxnSpPr>
          <p:cNvPr id="185" name="Google Shape;185;p28"/>
          <p:cNvCxnSpPr>
            <a:cxnSpLocks/>
          </p:cNvCxnSpPr>
          <p:nvPr/>
        </p:nvCxnSpPr>
        <p:spPr>
          <a:xfrm flipV="1">
            <a:off x="8632032" y="6571385"/>
            <a:ext cx="0" cy="1382546"/>
          </a:xfrm>
          <a:prstGeom prst="straightConnector1">
            <a:avLst/>
          </a:prstGeom>
          <a:noFill/>
          <a:ln w="9525" cap="flat" cmpd="sng">
            <a:solidFill>
              <a:srgbClr val="000000"/>
            </a:solidFill>
            <a:prstDash val="solid"/>
            <a:round/>
            <a:headEnd type="none" w="sm" len="sm"/>
            <a:tailEnd type="none" w="sm" len="sm"/>
          </a:ln>
        </p:spPr>
      </p:cxnSp>
      <p:grpSp>
        <p:nvGrpSpPr>
          <p:cNvPr id="186" name="Google Shape;186;p28"/>
          <p:cNvGrpSpPr/>
          <p:nvPr/>
        </p:nvGrpSpPr>
        <p:grpSpPr>
          <a:xfrm>
            <a:off x="8826785" y="-72330"/>
            <a:ext cx="1553625" cy="5808473"/>
            <a:chOff x="0" y="-38100"/>
            <a:chExt cx="812800" cy="3059607"/>
          </a:xfrm>
        </p:grpSpPr>
        <p:sp>
          <p:nvSpPr>
            <p:cNvPr id="187" name="Google Shape;187;p28"/>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188" name="Google Shape;188;p28"/>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198" name="Google Shape;198;p28"/>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000000"/>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grpSp>
        <p:nvGrpSpPr>
          <p:cNvPr id="6" name="Group 5">
            <a:extLst>
              <a:ext uri="{FF2B5EF4-FFF2-40B4-BE49-F238E27FC236}">
                <a16:creationId xmlns:a16="http://schemas.microsoft.com/office/drawing/2014/main" id="{C669BF2D-E098-13A3-8F0E-6E42692EE6CB}"/>
              </a:ext>
            </a:extLst>
          </p:cNvPr>
          <p:cNvGrpSpPr/>
          <p:nvPr/>
        </p:nvGrpSpPr>
        <p:grpSpPr>
          <a:xfrm rot="5400000">
            <a:off x="6593912" y="2948993"/>
            <a:ext cx="1206291" cy="3045356"/>
            <a:chOff x="7477760" y="162560"/>
            <a:chExt cx="1206291" cy="3045356"/>
          </a:xfrm>
        </p:grpSpPr>
        <p:cxnSp>
          <p:nvCxnSpPr>
            <p:cNvPr id="184" name="Google Shape;184;p28"/>
            <p:cNvCxnSpPr>
              <a:cxnSpLocks/>
            </p:cNvCxnSpPr>
            <p:nvPr/>
          </p:nvCxnSpPr>
          <p:spPr>
            <a:xfrm flipV="1">
              <a:off x="8684051" y="162560"/>
              <a:ext cx="0" cy="3045356"/>
            </a:xfrm>
            <a:prstGeom prst="straightConnector1">
              <a:avLst/>
            </a:prstGeom>
            <a:ln>
              <a:headEnd type="none" w="sm" len="sm"/>
              <a:tailEnd type="none" w="sm" len="sm"/>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4AFBE053-1A6D-D577-9C03-0A75BC56E172}"/>
                </a:ext>
              </a:extLst>
            </p:cNvPr>
            <p:cNvCxnSpPr>
              <a:cxnSpLocks/>
            </p:cNvCxnSpPr>
            <p:nvPr/>
          </p:nvCxnSpPr>
          <p:spPr>
            <a:xfrm flipH="1">
              <a:off x="7477760" y="162560"/>
              <a:ext cx="1206291" cy="0"/>
            </a:xfrm>
            <a:prstGeom prst="line">
              <a:avLst/>
            </a:prstGeom>
          </p:spPr>
          <p:style>
            <a:lnRef idx="2">
              <a:schemeClr val="dk1"/>
            </a:lnRef>
            <a:fillRef idx="0">
              <a:schemeClr val="dk1"/>
            </a:fillRef>
            <a:effectRef idx="1">
              <a:schemeClr val="dk1"/>
            </a:effectRef>
            <a:fontRef idx="minor">
              <a:schemeClr val="tx1"/>
            </a:fontRef>
          </p:style>
        </p:cxnSp>
      </p:grpSp>
      <p:grpSp>
        <p:nvGrpSpPr>
          <p:cNvPr id="7" name="Group 6">
            <a:extLst>
              <a:ext uri="{FF2B5EF4-FFF2-40B4-BE49-F238E27FC236}">
                <a16:creationId xmlns:a16="http://schemas.microsoft.com/office/drawing/2014/main" id="{1285D4E4-1956-5D17-55BC-D5B251ED3E77}"/>
              </a:ext>
            </a:extLst>
          </p:cNvPr>
          <p:cNvGrpSpPr/>
          <p:nvPr/>
        </p:nvGrpSpPr>
        <p:grpSpPr>
          <a:xfrm rot="5400000">
            <a:off x="964166" y="-866141"/>
            <a:ext cx="1206291" cy="3045356"/>
            <a:chOff x="41158" y="2029460"/>
            <a:chExt cx="1206291" cy="3045356"/>
          </a:xfrm>
        </p:grpSpPr>
        <p:cxnSp>
          <p:nvCxnSpPr>
            <p:cNvPr id="13" name="Google Shape;184;p28">
              <a:extLst>
                <a:ext uri="{FF2B5EF4-FFF2-40B4-BE49-F238E27FC236}">
                  <a16:creationId xmlns:a16="http://schemas.microsoft.com/office/drawing/2014/main" id="{5F506DBB-4074-C6A2-1A56-576D638F7964}"/>
                </a:ext>
              </a:extLst>
            </p:cNvPr>
            <p:cNvCxnSpPr>
              <a:cxnSpLocks/>
            </p:cNvCxnSpPr>
            <p:nvPr/>
          </p:nvCxnSpPr>
          <p:spPr>
            <a:xfrm rot="10800000" flipV="1">
              <a:off x="41158" y="2029460"/>
              <a:ext cx="0" cy="3045356"/>
            </a:xfrm>
            <a:prstGeom prst="straightConnector1">
              <a:avLst/>
            </a:prstGeom>
            <a:ln>
              <a:headEnd type="none" w="sm" len="sm"/>
              <a:tailEnd type="none" w="sm" len="sm"/>
            </a:ln>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7098F5DD-AEC9-86E2-4F31-0148DC2DB04F}"/>
                </a:ext>
              </a:extLst>
            </p:cNvPr>
            <p:cNvCxnSpPr>
              <a:cxnSpLocks/>
            </p:cNvCxnSpPr>
            <p:nvPr/>
          </p:nvCxnSpPr>
          <p:spPr>
            <a:xfrm rot="10800000" flipH="1">
              <a:off x="41158" y="5074816"/>
              <a:ext cx="1206291" cy="0"/>
            </a:xfrm>
            <a:prstGeom prst="line">
              <a:avLst/>
            </a:prstGeom>
          </p:spPr>
          <p:style>
            <a:lnRef idx="2">
              <a:schemeClr val="dk1"/>
            </a:lnRef>
            <a:fillRef idx="0">
              <a:schemeClr val="dk1"/>
            </a:fillRef>
            <a:effectRef idx="1">
              <a:schemeClr val="dk1"/>
            </a:effectRef>
            <a:fontRef idx="minor">
              <a:schemeClr val="tx1"/>
            </a:fontRef>
          </p:style>
        </p:cxnSp>
      </p:grpSp>
      <p:grpSp>
        <p:nvGrpSpPr>
          <p:cNvPr id="3" name="Group 2">
            <a:extLst>
              <a:ext uri="{FF2B5EF4-FFF2-40B4-BE49-F238E27FC236}">
                <a16:creationId xmlns:a16="http://schemas.microsoft.com/office/drawing/2014/main" id="{0B0EB675-693C-48CB-BB97-AF32B2D7AA01}"/>
              </a:ext>
            </a:extLst>
          </p:cNvPr>
          <p:cNvGrpSpPr/>
          <p:nvPr/>
        </p:nvGrpSpPr>
        <p:grpSpPr>
          <a:xfrm>
            <a:off x="6054011" y="200100"/>
            <a:ext cx="2558673" cy="1279336"/>
            <a:chOff x="3405024" y="1689157"/>
            <a:chExt cx="2558673" cy="1279336"/>
          </a:xfrm>
        </p:grpSpPr>
        <p:sp>
          <p:nvSpPr>
            <p:cNvPr id="4" name="Rectangle 3">
              <a:extLst>
                <a:ext uri="{FF2B5EF4-FFF2-40B4-BE49-F238E27FC236}">
                  <a16:creationId xmlns:a16="http://schemas.microsoft.com/office/drawing/2014/main" id="{C74C1BA7-EF8E-E782-19D5-A3A880F01093}"/>
                </a:ext>
              </a:extLst>
            </p:cNvPr>
            <p:cNvSpPr/>
            <p:nvPr/>
          </p:nvSpPr>
          <p:spPr>
            <a:xfrm>
              <a:off x="3405024" y="1689157"/>
              <a:ext cx="2558673" cy="1279336"/>
            </a:xfrm>
            <a:prstGeom prst="rect">
              <a:avLst/>
            </a:prstGeom>
          </p:spPr>
          <p:style>
            <a:lnRef idx="3">
              <a:schemeClr val="lt1"/>
            </a:lnRef>
            <a:fillRef idx="1">
              <a:schemeClr val="accent6"/>
            </a:fillRef>
            <a:effectRef idx="1">
              <a:schemeClr val="accent6"/>
            </a:effectRef>
            <a:fontRef idx="minor">
              <a:schemeClr val="lt1"/>
            </a:fontRef>
          </p:style>
          <p:txBody>
            <a:bodyPr/>
            <a:lstStyle/>
            <a:p>
              <a:endParaRPr lang="en-US"/>
            </a:p>
          </p:txBody>
        </p:sp>
        <p:sp>
          <p:nvSpPr>
            <p:cNvPr id="5" name="TextBox 4">
              <a:extLst>
                <a:ext uri="{FF2B5EF4-FFF2-40B4-BE49-F238E27FC236}">
                  <a16:creationId xmlns:a16="http://schemas.microsoft.com/office/drawing/2014/main" id="{1E8E9AC9-DA26-2C55-7FF2-8F580C2D43BC}"/>
                </a:ext>
              </a:extLst>
            </p:cNvPr>
            <p:cNvSpPr txBox="1"/>
            <p:nvPr/>
          </p:nvSpPr>
          <p:spPr>
            <a:xfrm>
              <a:off x="3405024" y="1689157"/>
              <a:ext cx="2558673" cy="1279336"/>
            </a:xfrm>
            <a:prstGeom prst="rect">
              <a:avLst/>
            </a:prstGeom>
          </p:spPr>
          <p:style>
            <a:lnRef idx="3">
              <a:schemeClr val="lt1"/>
            </a:lnRef>
            <a:fillRef idx="1">
              <a:schemeClr val="accent6"/>
            </a:fillRef>
            <a:effectRef idx="1">
              <a:schemeClr val="accent6"/>
            </a:effectRef>
            <a:fontRef idx="minor">
              <a:schemeClr val="lt1"/>
            </a:fontRef>
          </p:style>
          <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a-IR" sz="1400" b="1" kern="1200" dirty="0">
                  <a:latin typeface="IRZeytoon" panose="02000503000000020002" pitchFamily="2" charset="-78"/>
                  <a:cs typeface="B Nazanin" panose="00000400000000000000" pitchFamily="2" charset="-78"/>
                </a:rPr>
                <a:t>نوع اول: معاملات جزيي </a:t>
              </a:r>
              <a:endParaRPr lang="en-US" sz="1400" kern="1200" dirty="0"/>
            </a:p>
          </p:txBody>
        </p:sp>
      </p:grpSp>
      <p:sp>
        <p:nvSpPr>
          <p:cNvPr id="10" name="TextBox 9">
            <a:extLst>
              <a:ext uri="{FF2B5EF4-FFF2-40B4-BE49-F238E27FC236}">
                <a16:creationId xmlns:a16="http://schemas.microsoft.com/office/drawing/2014/main" id="{A0EDB510-241F-B291-FF98-B8B0B7CE1A8B}"/>
              </a:ext>
            </a:extLst>
          </p:cNvPr>
          <p:cNvSpPr txBox="1"/>
          <p:nvPr/>
        </p:nvSpPr>
        <p:spPr>
          <a:xfrm>
            <a:off x="1596524" y="2247900"/>
            <a:ext cx="5482456" cy="2246769"/>
          </a:xfrm>
          <a:prstGeom prst="rect">
            <a:avLst/>
          </a:prstGeom>
          <a:noFill/>
        </p:spPr>
        <p:txBody>
          <a:bodyPr wrap="square" rtlCol="0">
            <a:spAutoFit/>
          </a:bodyPr>
          <a:lstStyle/>
          <a:p>
            <a:pPr algn="r" rtl="1"/>
            <a:r>
              <a:rPr lang="fa-IR" b="1" dirty="0"/>
              <a:t>در این معاملات متصدی خرید یا کسی که وظیفه مذکور کتباً از طرف شهردار به او داده شده، مکلف است بهای جنس یا اجرت‌کار مورد معامله را به نحو ممکنه با مسئولیت خود به دست آورده و با جلب موافقت کتبی مقامات زیر اقدام نماید. </a:t>
            </a:r>
          </a:p>
          <a:p>
            <a:pPr algn="r" rtl="1"/>
            <a:r>
              <a:rPr lang="fa-IR" b="1" dirty="0"/>
              <a:t>این مقامات بسته به درآمد سالانه شهرداری تعیین می‌شوند:</a:t>
            </a:r>
          </a:p>
          <a:p>
            <a:pPr algn="ctr" rtl="1"/>
            <a:r>
              <a:rPr lang="fa-IR" b="1" dirty="0"/>
              <a:t>1. در شهرداري هایی كه درآمد سالانه آنها، تا10 ميليون ريال است موافقت شهردار.</a:t>
            </a:r>
          </a:p>
          <a:p>
            <a:pPr algn="ctr" rtl="1"/>
            <a:r>
              <a:rPr lang="fa-IR" b="1" dirty="0"/>
              <a:t>2. در شهرداري هایی كه درآمد سالانه آنها از 10 ميليون ريال تا 50 ميليون ريال است موافقت متصدي امور مالي.</a:t>
            </a:r>
          </a:p>
          <a:p>
            <a:pPr algn="ctr" rtl="1"/>
            <a:r>
              <a:rPr lang="fa-IR" b="1" dirty="0"/>
              <a:t>3. در شهرداري هایی كه درآمد سالانه آنها از 50 ميليون ريال بيشتر است موافقت رئيس كارپردازي.</a:t>
            </a:r>
          </a:p>
          <a:p>
            <a:pPr algn="r" rtl="1"/>
            <a:endParaRPr lang="en-US" b="1" dirty="0"/>
          </a:p>
        </p:txBody>
      </p:sp>
    </p:spTree>
    <p:extLst>
      <p:ext uri="{BB962C8B-B14F-4D97-AF65-F5344CB8AC3E}">
        <p14:creationId xmlns:p14="http://schemas.microsoft.com/office/powerpoint/2010/main" val="3774543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5" name="Rectangle 14">
            <a:extLst>
              <a:ext uri="{FF2B5EF4-FFF2-40B4-BE49-F238E27FC236}">
                <a16:creationId xmlns:a16="http://schemas.microsoft.com/office/drawing/2014/main" id="{8AC9B956-B752-1273-980C-9669A1272F91}"/>
              </a:ext>
            </a:extLst>
          </p:cNvPr>
          <p:cNvSpPr/>
          <p:nvPr/>
        </p:nvSpPr>
        <p:spPr>
          <a:xfrm>
            <a:off x="138625" y="4032027"/>
            <a:ext cx="8380069" cy="7386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r>
              <a:rPr lang="fa-IR" b="1" dirty="0">
                <a:solidFill>
                  <a:schemeClr val="tx1"/>
                </a:solidFill>
              </a:rPr>
              <a:t> کمیسیون معاملات :(مجموعه ای متشکل از شهردار يا معاون آن، متصدي امور مالي و يك نفر از رؤساء واحدها يا اعضاء ارشد شهرداري  می باشد و تصميمات كميسيون به اتفاق آراء و با تایید شهردار یا معاون وی می باشد.)</a:t>
            </a:r>
            <a:endParaRPr lang="en-US" dirty="0">
              <a:solidFill>
                <a:schemeClr val="tx1"/>
              </a:solidFill>
            </a:endParaRPr>
          </a:p>
        </p:txBody>
      </p:sp>
      <p:cxnSp>
        <p:nvCxnSpPr>
          <p:cNvPr id="185" name="Google Shape;185;p28"/>
          <p:cNvCxnSpPr>
            <a:cxnSpLocks/>
          </p:cNvCxnSpPr>
          <p:nvPr/>
        </p:nvCxnSpPr>
        <p:spPr>
          <a:xfrm flipV="1">
            <a:off x="8632032" y="6571385"/>
            <a:ext cx="0" cy="1382546"/>
          </a:xfrm>
          <a:prstGeom prst="straightConnector1">
            <a:avLst/>
          </a:prstGeom>
          <a:noFill/>
          <a:ln w="9525" cap="flat" cmpd="sng">
            <a:solidFill>
              <a:srgbClr val="000000"/>
            </a:solidFill>
            <a:prstDash val="solid"/>
            <a:round/>
            <a:headEnd type="none" w="sm" len="sm"/>
            <a:tailEnd type="none" w="sm" len="sm"/>
          </a:ln>
        </p:spPr>
      </p:cxnSp>
      <p:grpSp>
        <p:nvGrpSpPr>
          <p:cNvPr id="186" name="Google Shape;186;p28"/>
          <p:cNvGrpSpPr/>
          <p:nvPr/>
        </p:nvGrpSpPr>
        <p:grpSpPr>
          <a:xfrm>
            <a:off x="8826785" y="-72330"/>
            <a:ext cx="1553625" cy="5808473"/>
            <a:chOff x="0" y="-38100"/>
            <a:chExt cx="812800" cy="3059607"/>
          </a:xfrm>
        </p:grpSpPr>
        <p:sp>
          <p:nvSpPr>
            <p:cNvPr id="187" name="Google Shape;187;p28"/>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188" name="Google Shape;188;p28"/>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198" name="Google Shape;198;p28"/>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000000"/>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grpSp>
        <p:nvGrpSpPr>
          <p:cNvPr id="6" name="Group 5">
            <a:extLst>
              <a:ext uri="{FF2B5EF4-FFF2-40B4-BE49-F238E27FC236}">
                <a16:creationId xmlns:a16="http://schemas.microsoft.com/office/drawing/2014/main" id="{C669BF2D-E098-13A3-8F0E-6E42692EE6CB}"/>
              </a:ext>
            </a:extLst>
          </p:cNvPr>
          <p:cNvGrpSpPr/>
          <p:nvPr/>
        </p:nvGrpSpPr>
        <p:grpSpPr>
          <a:xfrm rot="5400000">
            <a:off x="6593912" y="2948993"/>
            <a:ext cx="1206291" cy="3045356"/>
            <a:chOff x="7477760" y="162560"/>
            <a:chExt cx="1206291" cy="3045356"/>
          </a:xfrm>
        </p:grpSpPr>
        <p:cxnSp>
          <p:nvCxnSpPr>
            <p:cNvPr id="184" name="Google Shape;184;p28"/>
            <p:cNvCxnSpPr>
              <a:cxnSpLocks/>
            </p:cNvCxnSpPr>
            <p:nvPr/>
          </p:nvCxnSpPr>
          <p:spPr>
            <a:xfrm flipV="1">
              <a:off x="8684051" y="162560"/>
              <a:ext cx="0" cy="3045356"/>
            </a:xfrm>
            <a:prstGeom prst="straightConnector1">
              <a:avLst/>
            </a:prstGeom>
            <a:ln>
              <a:headEnd type="none" w="sm" len="sm"/>
              <a:tailEnd type="none" w="sm" len="sm"/>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4AFBE053-1A6D-D577-9C03-0A75BC56E172}"/>
                </a:ext>
              </a:extLst>
            </p:cNvPr>
            <p:cNvCxnSpPr>
              <a:cxnSpLocks/>
            </p:cNvCxnSpPr>
            <p:nvPr/>
          </p:nvCxnSpPr>
          <p:spPr>
            <a:xfrm flipH="1">
              <a:off x="7477760" y="162560"/>
              <a:ext cx="1206291" cy="0"/>
            </a:xfrm>
            <a:prstGeom prst="line">
              <a:avLst/>
            </a:prstGeom>
          </p:spPr>
          <p:style>
            <a:lnRef idx="2">
              <a:schemeClr val="dk1"/>
            </a:lnRef>
            <a:fillRef idx="0">
              <a:schemeClr val="dk1"/>
            </a:fillRef>
            <a:effectRef idx="1">
              <a:schemeClr val="dk1"/>
            </a:effectRef>
            <a:fontRef idx="minor">
              <a:schemeClr val="tx1"/>
            </a:fontRef>
          </p:style>
        </p:cxnSp>
      </p:grpSp>
      <p:grpSp>
        <p:nvGrpSpPr>
          <p:cNvPr id="7" name="Group 6">
            <a:extLst>
              <a:ext uri="{FF2B5EF4-FFF2-40B4-BE49-F238E27FC236}">
                <a16:creationId xmlns:a16="http://schemas.microsoft.com/office/drawing/2014/main" id="{1285D4E4-1956-5D17-55BC-D5B251ED3E77}"/>
              </a:ext>
            </a:extLst>
          </p:cNvPr>
          <p:cNvGrpSpPr/>
          <p:nvPr/>
        </p:nvGrpSpPr>
        <p:grpSpPr>
          <a:xfrm rot="5400000">
            <a:off x="964166" y="-866141"/>
            <a:ext cx="1206291" cy="3045356"/>
            <a:chOff x="41158" y="2029460"/>
            <a:chExt cx="1206291" cy="3045356"/>
          </a:xfrm>
        </p:grpSpPr>
        <p:cxnSp>
          <p:nvCxnSpPr>
            <p:cNvPr id="13" name="Google Shape;184;p28">
              <a:extLst>
                <a:ext uri="{FF2B5EF4-FFF2-40B4-BE49-F238E27FC236}">
                  <a16:creationId xmlns:a16="http://schemas.microsoft.com/office/drawing/2014/main" id="{5F506DBB-4074-C6A2-1A56-576D638F7964}"/>
                </a:ext>
              </a:extLst>
            </p:cNvPr>
            <p:cNvCxnSpPr>
              <a:cxnSpLocks/>
            </p:cNvCxnSpPr>
            <p:nvPr/>
          </p:nvCxnSpPr>
          <p:spPr>
            <a:xfrm rot="10800000" flipV="1">
              <a:off x="41158" y="2029460"/>
              <a:ext cx="0" cy="3045356"/>
            </a:xfrm>
            <a:prstGeom prst="straightConnector1">
              <a:avLst/>
            </a:prstGeom>
            <a:ln>
              <a:headEnd type="none" w="sm" len="sm"/>
              <a:tailEnd type="none" w="sm" len="sm"/>
            </a:ln>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7098F5DD-AEC9-86E2-4F31-0148DC2DB04F}"/>
                </a:ext>
              </a:extLst>
            </p:cNvPr>
            <p:cNvCxnSpPr>
              <a:cxnSpLocks/>
            </p:cNvCxnSpPr>
            <p:nvPr/>
          </p:nvCxnSpPr>
          <p:spPr>
            <a:xfrm rot="10800000" flipH="1">
              <a:off x="41158" y="5074816"/>
              <a:ext cx="1206291" cy="0"/>
            </a:xfrm>
            <a:prstGeom prst="line">
              <a:avLst/>
            </a:prstGeom>
          </p:spPr>
          <p:style>
            <a:lnRef idx="2">
              <a:schemeClr val="dk1"/>
            </a:lnRef>
            <a:fillRef idx="0">
              <a:schemeClr val="dk1"/>
            </a:fillRef>
            <a:effectRef idx="1">
              <a:schemeClr val="dk1"/>
            </a:effectRef>
            <a:fontRef idx="minor">
              <a:schemeClr val="tx1"/>
            </a:fontRef>
          </p:style>
        </p:cxnSp>
      </p:grpSp>
      <p:grpSp>
        <p:nvGrpSpPr>
          <p:cNvPr id="3" name="Group 2">
            <a:extLst>
              <a:ext uri="{FF2B5EF4-FFF2-40B4-BE49-F238E27FC236}">
                <a16:creationId xmlns:a16="http://schemas.microsoft.com/office/drawing/2014/main" id="{0B0EB675-693C-48CB-BB97-AF32B2D7AA01}"/>
              </a:ext>
            </a:extLst>
          </p:cNvPr>
          <p:cNvGrpSpPr/>
          <p:nvPr/>
        </p:nvGrpSpPr>
        <p:grpSpPr>
          <a:xfrm>
            <a:off x="6054011" y="200100"/>
            <a:ext cx="2558673" cy="1279336"/>
            <a:chOff x="3405024" y="1689157"/>
            <a:chExt cx="2558673" cy="1279336"/>
          </a:xfrm>
        </p:grpSpPr>
        <p:sp>
          <p:nvSpPr>
            <p:cNvPr id="4" name="Rectangle 3">
              <a:extLst>
                <a:ext uri="{FF2B5EF4-FFF2-40B4-BE49-F238E27FC236}">
                  <a16:creationId xmlns:a16="http://schemas.microsoft.com/office/drawing/2014/main" id="{C74C1BA7-EF8E-E782-19D5-A3A880F01093}"/>
                </a:ext>
              </a:extLst>
            </p:cNvPr>
            <p:cNvSpPr/>
            <p:nvPr/>
          </p:nvSpPr>
          <p:spPr>
            <a:xfrm>
              <a:off x="3405024" y="1689157"/>
              <a:ext cx="2558673" cy="1279336"/>
            </a:xfrm>
            <a:prstGeom prst="rect">
              <a:avLst/>
            </a:prstGeom>
          </p:spPr>
          <p:style>
            <a:lnRef idx="3">
              <a:schemeClr val="lt1"/>
            </a:lnRef>
            <a:fillRef idx="1">
              <a:schemeClr val="dk1"/>
            </a:fillRef>
            <a:effectRef idx="1">
              <a:schemeClr val="dk1"/>
            </a:effectRef>
            <a:fontRef idx="minor">
              <a:schemeClr val="lt1"/>
            </a:fontRef>
          </p:style>
          <p:txBody>
            <a:bodyPr/>
            <a:lstStyle/>
            <a:p>
              <a:endParaRPr lang="en-US"/>
            </a:p>
          </p:txBody>
        </p:sp>
        <p:sp>
          <p:nvSpPr>
            <p:cNvPr id="5" name="TextBox 4">
              <a:extLst>
                <a:ext uri="{FF2B5EF4-FFF2-40B4-BE49-F238E27FC236}">
                  <a16:creationId xmlns:a16="http://schemas.microsoft.com/office/drawing/2014/main" id="{1E8E9AC9-DA26-2C55-7FF2-8F580C2D43BC}"/>
                </a:ext>
              </a:extLst>
            </p:cNvPr>
            <p:cNvSpPr txBox="1"/>
            <p:nvPr/>
          </p:nvSpPr>
          <p:spPr>
            <a:xfrm>
              <a:off x="3405024" y="1689157"/>
              <a:ext cx="2558673" cy="1279336"/>
            </a:xfrm>
            <a:prstGeom prst="rect">
              <a:avLst/>
            </a:prstGeom>
          </p:spPr>
          <p:style>
            <a:lnRef idx="3">
              <a:schemeClr val="lt1"/>
            </a:lnRef>
            <a:fillRef idx="1">
              <a:schemeClr val="dk1"/>
            </a:fillRef>
            <a:effectRef idx="1">
              <a:schemeClr val="dk1"/>
            </a:effectRef>
            <a:fontRef idx="minor">
              <a:schemeClr val="lt1"/>
            </a:fontRef>
          </p:style>
          <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a-IR" sz="1400" b="1" kern="1200" dirty="0">
                  <a:latin typeface="IRZeytoon" panose="02000503000000020002" pitchFamily="2" charset="-78"/>
                  <a:cs typeface="B Nazanin" panose="00000400000000000000" pitchFamily="2" charset="-78"/>
                </a:rPr>
                <a:t>نوع اول: معامالت جزيي </a:t>
              </a:r>
              <a:endParaRPr lang="en-US" sz="1400" kern="1200" dirty="0"/>
            </a:p>
          </p:txBody>
        </p:sp>
      </p:grpSp>
      <p:sp>
        <p:nvSpPr>
          <p:cNvPr id="10" name="TextBox 9">
            <a:extLst>
              <a:ext uri="{FF2B5EF4-FFF2-40B4-BE49-F238E27FC236}">
                <a16:creationId xmlns:a16="http://schemas.microsoft.com/office/drawing/2014/main" id="{A0EDB510-241F-B291-FF98-B8B0B7CE1A8B}"/>
              </a:ext>
            </a:extLst>
          </p:cNvPr>
          <p:cNvSpPr txBox="1"/>
          <p:nvPr/>
        </p:nvSpPr>
        <p:spPr>
          <a:xfrm>
            <a:off x="1596524" y="2247900"/>
            <a:ext cx="5482456" cy="1384995"/>
          </a:xfrm>
          <a:prstGeom prst="rect">
            <a:avLst/>
          </a:prstGeom>
          <a:noFill/>
        </p:spPr>
        <p:txBody>
          <a:bodyPr wrap="square" rtlCol="0">
            <a:spAutoFit/>
          </a:bodyPr>
          <a:lstStyle/>
          <a:p>
            <a:pPr algn="r" rtl="1"/>
            <a:r>
              <a:rPr lang="fa-IR" b="1" dirty="0"/>
              <a:t>در معاملات متوسط ، متصدي خريد بايد حداقل از سه نفر فروشندگان كالا، از هر يك جداگانه فاکتوری كه نشان دهنده نوع و مشخصات كامل جنس يا موضوع كار مورد معامله و مقدار و شرايط معامله و مدت تحويل باشد بگیرد. فروشنده كالا يا انجام دهنده كار بايد حداقل بهاء ممكنه و تعيين مدت و نشاني دقيق خود را در برگ استعلام بها ذكر و با قيد تاريخ، امضاء نموده و متصدي خريد صحت اطلاعات آن را تایید نمايد. انجام معامله پس از موافقت كميسيون معاملات ممکن است.</a:t>
            </a:r>
          </a:p>
        </p:txBody>
      </p:sp>
      <p:grpSp>
        <p:nvGrpSpPr>
          <p:cNvPr id="2" name="Group 1">
            <a:extLst>
              <a:ext uri="{FF2B5EF4-FFF2-40B4-BE49-F238E27FC236}">
                <a16:creationId xmlns:a16="http://schemas.microsoft.com/office/drawing/2014/main" id="{5AB72FFF-C2B8-B8CC-D578-E1DC2B585838}"/>
              </a:ext>
            </a:extLst>
          </p:cNvPr>
          <p:cNvGrpSpPr/>
          <p:nvPr/>
        </p:nvGrpSpPr>
        <p:grpSpPr>
          <a:xfrm>
            <a:off x="3222756" y="222299"/>
            <a:ext cx="2558673" cy="1279336"/>
            <a:chOff x="4282151" y="1222220"/>
            <a:chExt cx="1549401" cy="774700"/>
          </a:xfrm>
        </p:grpSpPr>
        <p:sp>
          <p:nvSpPr>
            <p:cNvPr id="8" name="Rectangle 7">
              <a:extLst>
                <a:ext uri="{FF2B5EF4-FFF2-40B4-BE49-F238E27FC236}">
                  <a16:creationId xmlns:a16="http://schemas.microsoft.com/office/drawing/2014/main" id="{F67FA51C-3122-8DE1-B50C-035437BC8EFD}"/>
                </a:ext>
              </a:extLst>
            </p:cNvPr>
            <p:cNvSpPr/>
            <p:nvPr/>
          </p:nvSpPr>
          <p:spPr>
            <a:xfrm>
              <a:off x="4282151" y="1222220"/>
              <a:ext cx="1549401" cy="774700"/>
            </a:xfrm>
            <a:prstGeom prst="rect">
              <a:avLst/>
            </a:prstGeom>
          </p:spPr>
          <p:style>
            <a:lnRef idx="3">
              <a:schemeClr val="lt1"/>
            </a:lnRef>
            <a:fillRef idx="1">
              <a:schemeClr val="accent6"/>
            </a:fillRef>
            <a:effectRef idx="1">
              <a:schemeClr val="accent6"/>
            </a:effectRef>
            <a:fontRef idx="minor">
              <a:schemeClr val="lt1"/>
            </a:fontRef>
          </p:style>
          <p:txBody>
            <a:bodyPr/>
            <a:lstStyle/>
            <a:p>
              <a:endParaRPr lang="en-US"/>
            </a:p>
          </p:txBody>
        </p:sp>
        <p:sp>
          <p:nvSpPr>
            <p:cNvPr id="11" name="TextBox 10">
              <a:extLst>
                <a:ext uri="{FF2B5EF4-FFF2-40B4-BE49-F238E27FC236}">
                  <a16:creationId xmlns:a16="http://schemas.microsoft.com/office/drawing/2014/main" id="{5DC0DC8A-AF7D-42F2-351F-B3F5F8A59872}"/>
                </a:ext>
              </a:extLst>
            </p:cNvPr>
            <p:cNvSpPr txBox="1"/>
            <p:nvPr/>
          </p:nvSpPr>
          <p:spPr>
            <a:xfrm>
              <a:off x="4282151" y="1222220"/>
              <a:ext cx="1549401" cy="774700"/>
            </a:xfrm>
            <a:prstGeom prst="rect">
              <a:avLst/>
            </a:prstGeom>
          </p:spPr>
          <p:style>
            <a:lnRef idx="3">
              <a:schemeClr val="lt1"/>
            </a:lnRef>
            <a:fillRef idx="1">
              <a:schemeClr val="accent6"/>
            </a:fillRef>
            <a:effectRef idx="1">
              <a:schemeClr val="accent6"/>
            </a:effectRef>
            <a:fontRef idx="minor">
              <a:schemeClr val="lt1"/>
            </a:fontRef>
          </p:style>
          <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a-IR" sz="1400" b="1" kern="1200" dirty="0">
                  <a:latin typeface="IRZeytoon" panose="02000503000000020002" pitchFamily="2" charset="-78"/>
                  <a:cs typeface="B Nazanin" panose="00000400000000000000" pitchFamily="2" charset="-78"/>
                </a:rPr>
                <a:t> نوع دوم: معاملات متوسط </a:t>
              </a:r>
              <a:endParaRPr lang="en-US" sz="1400" kern="1200" dirty="0"/>
            </a:p>
          </p:txBody>
        </p:sp>
      </p:grpSp>
    </p:spTree>
    <p:extLst>
      <p:ext uri="{BB962C8B-B14F-4D97-AF65-F5344CB8AC3E}">
        <p14:creationId xmlns:p14="http://schemas.microsoft.com/office/powerpoint/2010/main" val="26805289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cxnSp>
        <p:nvCxnSpPr>
          <p:cNvPr id="185" name="Google Shape;185;p28"/>
          <p:cNvCxnSpPr>
            <a:cxnSpLocks/>
          </p:cNvCxnSpPr>
          <p:nvPr/>
        </p:nvCxnSpPr>
        <p:spPr>
          <a:xfrm flipV="1">
            <a:off x="8632032" y="6571385"/>
            <a:ext cx="0" cy="1382546"/>
          </a:xfrm>
          <a:prstGeom prst="straightConnector1">
            <a:avLst/>
          </a:prstGeom>
          <a:noFill/>
          <a:ln w="9525" cap="flat" cmpd="sng">
            <a:solidFill>
              <a:srgbClr val="000000"/>
            </a:solidFill>
            <a:prstDash val="solid"/>
            <a:round/>
            <a:headEnd type="none" w="sm" len="sm"/>
            <a:tailEnd type="none" w="sm" len="sm"/>
          </a:ln>
        </p:spPr>
      </p:cxnSp>
      <p:grpSp>
        <p:nvGrpSpPr>
          <p:cNvPr id="186" name="Google Shape;186;p28"/>
          <p:cNvGrpSpPr/>
          <p:nvPr/>
        </p:nvGrpSpPr>
        <p:grpSpPr>
          <a:xfrm>
            <a:off x="8826785" y="-72330"/>
            <a:ext cx="1553625" cy="5808473"/>
            <a:chOff x="0" y="-38100"/>
            <a:chExt cx="812800" cy="3059607"/>
          </a:xfrm>
        </p:grpSpPr>
        <p:sp>
          <p:nvSpPr>
            <p:cNvPr id="187" name="Google Shape;187;p28"/>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188" name="Google Shape;188;p28"/>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198" name="Google Shape;198;p28"/>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000000"/>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grpSp>
        <p:nvGrpSpPr>
          <p:cNvPr id="6" name="Group 5">
            <a:extLst>
              <a:ext uri="{FF2B5EF4-FFF2-40B4-BE49-F238E27FC236}">
                <a16:creationId xmlns:a16="http://schemas.microsoft.com/office/drawing/2014/main" id="{C669BF2D-E098-13A3-8F0E-6E42692EE6CB}"/>
              </a:ext>
            </a:extLst>
          </p:cNvPr>
          <p:cNvGrpSpPr/>
          <p:nvPr/>
        </p:nvGrpSpPr>
        <p:grpSpPr>
          <a:xfrm rot="5400000">
            <a:off x="6593912" y="2948993"/>
            <a:ext cx="1206291" cy="3045356"/>
            <a:chOff x="7477760" y="162560"/>
            <a:chExt cx="1206291" cy="3045356"/>
          </a:xfrm>
        </p:grpSpPr>
        <p:cxnSp>
          <p:nvCxnSpPr>
            <p:cNvPr id="184" name="Google Shape;184;p28"/>
            <p:cNvCxnSpPr>
              <a:cxnSpLocks/>
            </p:cNvCxnSpPr>
            <p:nvPr/>
          </p:nvCxnSpPr>
          <p:spPr>
            <a:xfrm flipV="1">
              <a:off x="8684051" y="162560"/>
              <a:ext cx="0" cy="3045356"/>
            </a:xfrm>
            <a:prstGeom prst="straightConnector1">
              <a:avLst/>
            </a:prstGeom>
            <a:ln>
              <a:headEnd type="none" w="sm" len="sm"/>
              <a:tailEnd type="none" w="sm" len="sm"/>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4AFBE053-1A6D-D577-9C03-0A75BC56E172}"/>
                </a:ext>
              </a:extLst>
            </p:cNvPr>
            <p:cNvCxnSpPr>
              <a:cxnSpLocks/>
            </p:cNvCxnSpPr>
            <p:nvPr/>
          </p:nvCxnSpPr>
          <p:spPr>
            <a:xfrm flipH="1">
              <a:off x="7477760" y="162560"/>
              <a:ext cx="1206291" cy="0"/>
            </a:xfrm>
            <a:prstGeom prst="line">
              <a:avLst/>
            </a:prstGeom>
          </p:spPr>
          <p:style>
            <a:lnRef idx="2">
              <a:schemeClr val="dk1"/>
            </a:lnRef>
            <a:fillRef idx="0">
              <a:schemeClr val="dk1"/>
            </a:fillRef>
            <a:effectRef idx="1">
              <a:schemeClr val="dk1"/>
            </a:effectRef>
            <a:fontRef idx="minor">
              <a:schemeClr val="tx1"/>
            </a:fontRef>
          </p:style>
        </p:cxnSp>
      </p:grpSp>
      <p:grpSp>
        <p:nvGrpSpPr>
          <p:cNvPr id="7" name="Group 6">
            <a:extLst>
              <a:ext uri="{FF2B5EF4-FFF2-40B4-BE49-F238E27FC236}">
                <a16:creationId xmlns:a16="http://schemas.microsoft.com/office/drawing/2014/main" id="{1285D4E4-1956-5D17-55BC-D5B251ED3E77}"/>
              </a:ext>
            </a:extLst>
          </p:cNvPr>
          <p:cNvGrpSpPr/>
          <p:nvPr/>
        </p:nvGrpSpPr>
        <p:grpSpPr>
          <a:xfrm rot="5400000">
            <a:off x="964166" y="-866141"/>
            <a:ext cx="1206291" cy="3045356"/>
            <a:chOff x="41158" y="2029460"/>
            <a:chExt cx="1206291" cy="3045356"/>
          </a:xfrm>
        </p:grpSpPr>
        <p:cxnSp>
          <p:nvCxnSpPr>
            <p:cNvPr id="13" name="Google Shape;184;p28">
              <a:extLst>
                <a:ext uri="{FF2B5EF4-FFF2-40B4-BE49-F238E27FC236}">
                  <a16:creationId xmlns:a16="http://schemas.microsoft.com/office/drawing/2014/main" id="{5F506DBB-4074-C6A2-1A56-576D638F7964}"/>
                </a:ext>
              </a:extLst>
            </p:cNvPr>
            <p:cNvCxnSpPr>
              <a:cxnSpLocks/>
            </p:cNvCxnSpPr>
            <p:nvPr/>
          </p:nvCxnSpPr>
          <p:spPr>
            <a:xfrm rot="10800000" flipV="1">
              <a:off x="41158" y="2029460"/>
              <a:ext cx="0" cy="3045356"/>
            </a:xfrm>
            <a:prstGeom prst="straightConnector1">
              <a:avLst/>
            </a:prstGeom>
            <a:ln>
              <a:headEnd type="none" w="sm" len="sm"/>
              <a:tailEnd type="none" w="sm" len="sm"/>
            </a:ln>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7098F5DD-AEC9-86E2-4F31-0148DC2DB04F}"/>
                </a:ext>
              </a:extLst>
            </p:cNvPr>
            <p:cNvCxnSpPr>
              <a:cxnSpLocks/>
            </p:cNvCxnSpPr>
            <p:nvPr/>
          </p:nvCxnSpPr>
          <p:spPr>
            <a:xfrm rot="10800000" flipH="1">
              <a:off x="41158" y="5074816"/>
              <a:ext cx="1206291" cy="0"/>
            </a:xfrm>
            <a:prstGeom prst="line">
              <a:avLst/>
            </a:prstGeom>
          </p:spPr>
          <p:style>
            <a:lnRef idx="2">
              <a:schemeClr val="dk1"/>
            </a:lnRef>
            <a:fillRef idx="0">
              <a:schemeClr val="dk1"/>
            </a:fillRef>
            <a:effectRef idx="1">
              <a:schemeClr val="dk1"/>
            </a:effectRef>
            <a:fontRef idx="minor">
              <a:schemeClr val="tx1"/>
            </a:fontRef>
          </p:style>
        </p:cxnSp>
      </p:grpSp>
      <p:grpSp>
        <p:nvGrpSpPr>
          <p:cNvPr id="3" name="Group 2">
            <a:extLst>
              <a:ext uri="{FF2B5EF4-FFF2-40B4-BE49-F238E27FC236}">
                <a16:creationId xmlns:a16="http://schemas.microsoft.com/office/drawing/2014/main" id="{0B0EB675-693C-48CB-BB97-AF32B2D7AA01}"/>
              </a:ext>
            </a:extLst>
          </p:cNvPr>
          <p:cNvGrpSpPr/>
          <p:nvPr/>
        </p:nvGrpSpPr>
        <p:grpSpPr>
          <a:xfrm>
            <a:off x="6054011" y="200100"/>
            <a:ext cx="2558673" cy="1279336"/>
            <a:chOff x="3405024" y="1689157"/>
            <a:chExt cx="2558673" cy="1279336"/>
          </a:xfrm>
        </p:grpSpPr>
        <p:sp>
          <p:nvSpPr>
            <p:cNvPr id="4" name="Rectangle 3">
              <a:extLst>
                <a:ext uri="{FF2B5EF4-FFF2-40B4-BE49-F238E27FC236}">
                  <a16:creationId xmlns:a16="http://schemas.microsoft.com/office/drawing/2014/main" id="{C74C1BA7-EF8E-E782-19D5-A3A880F01093}"/>
                </a:ext>
              </a:extLst>
            </p:cNvPr>
            <p:cNvSpPr/>
            <p:nvPr/>
          </p:nvSpPr>
          <p:spPr>
            <a:xfrm>
              <a:off x="3405024" y="1689157"/>
              <a:ext cx="2558673" cy="1279336"/>
            </a:xfrm>
            <a:prstGeom prst="rect">
              <a:avLst/>
            </a:prstGeom>
          </p:spPr>
          <p:style>
            <a:lnRef idx="3">
              <a:schemeClr val="lt1"/>
            </a:lnRef>
            <a:fillRef idx="1">
              <a:schemeClr val="dk1"/>
            </a:fillRef>
            <a:effectRef idx="1">
              <a:schemeClr val="dk1"/>
            </a:effectRef>
            <a:fontRef idx="minor">
              <a:schemeClr val="lt1"/>
            </a:fontRef>
          </p:style>
          <p:txBody>
            <a:bodyPr/>
            <a:lstStyle/>
            <a:p>
              <a:endParaRPr lang="en-US"/>
            </a:p>
          </p:txBody>
        </p:sp>
        <p:sp>
          <p:nvSpPr>
            <p:cNvPr id="5" name="TextBox 4">
              <a:extLst>
                <a:ext uri="{FF2B5EF4-FFF2-40B4-BE49-F238E27FC236}">
                  <a16:creationId xmlns:a16="http://schemas.microsoft.com/office/drawing/2014/main" id="{1E8E9AC9-DA26-2C55-7FF2-8F580C2D43BC}"/>
                </a:ext>
              </a:extLst>
            </p:cNvPr>
            <p:cNvSpPr txBox="1"/>
            <p:nvPr/>
          </p:nvSpPr>
          <p:spPr>
            <a:xfrm>
              <a:off x="3405024" y="1689157"/>
              <a:ext cx="2558673" cy="1279336"/>
            </a:xfrm>
            <a:prstGeom prst="rect">
              <a:avLst/>
            </a:prstGeom>
          </p:spPr>
          <p:style>
            <a:lnRef idx="3">
              <a:schemeClr val="lt1"/>
            </a:lnRef>
            <a:fillRef idx="1">
              <a:schemeClr val="dk1"/>
            </a:fillRef>
            <a:effectRef idx="1">
              <a:schemeClr val="dk1"/>
            </a:effectRef>
            <a:fontRef idx="minor">
              <a:schemeClr val="lt1"/>
            </a:fontRef>
          </p:style>
          <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a-IR" sz="1400" b="1" kern="1200" dirty="0">
                  <a:latin typeface="IRZeytoon" panose="02000503000000020002" pitchFamily="2" charset="-78"/>
                  <a:cs typeface="B Nazanin" panose="00000400000000000000" pitchFamily="2" charset="-78"/>
                </a:rPr>
                <a:t>نوع اول: معامالت جزيي </a:t>
              </a:r>
              <a:endParaRPr lang="en-US" sz="1400" kern="1200" dirty="0"/>
            </a:p>
          </p:txBody>
        </p:sp>
      </p:grpSp>
      <p:sp>
        <p:nvSpPr>
          <p:cNvPr id="10" name="TextBox 9">
            <a:extLst>
              <a:ext uri="{FF2B5EF4-FFF2-40B4-BE49-F238E27FC236}">
                <a16:creationId xmlns:a16="http://schemas.microsoft.com/office/drawing/2014/main" id="{A0EDB510-241F-B291-FF98-B8B0B7CE1A8B}"/>
              </a:ext>
            </a:extLst>
          </p:cNvPr>
          <p:cNvSpPr txBox="1"/>
          <p:nvPr/>
        </p:nvSpPr>
        <p:spPr>
          <a:xfrm>
            <a:off x="1596524" y="2247900"/>
            <a:ext cx="5482456" cy="1815882"/>
          </a:xfrm>
          <a:prstGeom prst="rect">
            <a:avLst/>
          </a:prstGeom>
          <a:noFill/>
        </p:spPr>
        <p:txBody>
          <a:bodyPr wrap="square" rtlCol="0">
            <a:spAutoFit/>
          </a:bodyPr>
          <a:lstStyle/>
          <a:p>
            <a:pPr algn="r" rtl="1"/>
            <a:r>
              <a:rPr lang="fa-IR" b="1" dirty="0"/>
              <a:t>معاملات عمده بايد بطور كلي بصورت مناقصه يا مزايده عمومي و يا مناقصه محدود انجام شود. اگر ترک مناقصه ضروري شود به طريق زير انجام خواهد شد:</a:t>
            </a:r>
          </a:p>
          <a:p>
            <a:pPr algn="r" rtl="1"/>
            <a:r>
              <a:rPr lang="fa-IR" b="1" dirty="0"/>
              <a:t>1. در صورتي كه ميزان معامله كمتر از دویست میلیون تومان باشد بنا به پيشنهاد با دلیل موجه شهردار و تصويب انجمن شهر .</a:t>
            </a:r>
          </a:p>
          <a:p>
            <a:pPr algn="r" rtl="1"/>
            <a:r>
              <a:rPr lang="fa-IR" b="1" dirty="0"/>
              <a:t>2. در صورتي كه ميزان معامله از دویست میلیون تومان تا هشتصد و پنجاه میلیون تومان باشد بنا به پيشنهاد بادلیل موجه شهردار و تصويب انجمن شهر و تأييد وزارت كشور.</a:t>
            </a:r>
          </a:p>
          <a:p>
            <a:pPr algn="r" rtl="1"/>
            <a:r>
              <a:rPr lang="fa-IR" b="1" dirty="0"/>
              <a:t>3. در صورتي كه ميزان معامله از هشتصد و پنجاه میلیون تومان بيشتر باشد بنا به پيشنهاد با دلیل موجه شهردار و تصويب انجمن شهر و تأييد وزارت كشور و تصويب هيئت دولت.</a:t>
            </a:r>
          </a:p>
        </p:txBody>
      </p:sp>
      <p:grpSp>
        <p:nvGrpSpPr>
          <p:cNvPr id="2" name="Group 1">
            <a:extLst>
              <a:ext uri="{FF2B5EF4-FFF2-40B4-BE49-F238E27FC236}">
                <a16:creationId xmlns:a16="http://schemas.microsoft.com/office/drawing/2014/main" id="{5AB72FFF-C2B8-B8CC-D578-E1DC2B585838}"/>
              </a:ext>
            </a:extLst>
          </p:cNvPr>
          <p:cNvGrpSpPr/>
          <p:nvPr/>
        </p:nvGrpSpPr>
        <p:grpSpPr>
          <a:xfrm>
            <a:off x="3222756" y="222299"/>
            <a:ext cx="2558673" cy="1279336"/>
            <a:chOff x="4282151" y="1222220"/>
            <a:chExt cx="1549401" cy="774700"/>
          </a:xfrm>
        </p:grpSpPr>
        <p:sp>
          <p:nvSpPr>
            <p:cNvPr id="8" name="Rectangle 7">
              <a:extLst>
                <a:ext uri="{FF2B5EF4-FFF2-40B4-BE49-F238E27FC236}">
                  <a16:creationId xmlns:a16="http://schemas.microsoft.com/office/drawing/2014/main" id="{F67FA51C-3122-8DE1-B50C-035437BC8EFD}"/>
                </a:ext>
              </a:extLst>
            </p:cNvPr>
            <p:cNvSpPr/>
            <p:nvPr/>
          </p:nvSpPr>
          <p:spPr>
            <a:xfrm>
              <a:off x="4282151" y="1222220"/>
              <a:ext cx="1549401" cy="774700"/>
            </a:xfrm>
            <a:prstGeom prst="rect">
              <a:avLst/>
            </a:prstGeom>
          </p:spPr>
          <p:style>
            <a:lnRef idx="3">
              <a:schemeClr val="lt1"/>
            </a:lnRef>
            <a:fillRef idx="1">
              <a:schemeClr val="dk1"/>
            </a:fillRef>
            <a:effectRef idx="1">
              <a:schemeClr val="dk1"/>
            </a:effectRef>
            <a:fontRef idx="minor">
              <a:schemeClr val="lt1"/>
            </a:fontRef>
          </p:style>
          <p:txBody>
            <a:bodyPr/>
            <a:lstStyle/>
            <a:p>
              <a:endParaRPr lang="en-US"/>
            </a:p>
          </p:txBody>
        </p:sp>
        <p:sp>
          <p:nvSpPr>
            <p:cNvPr id="11" name="TextBox 10">
              <a:extLst>
                <a:ext uri="{FF2B5EF4-FFF2-40B4-BE49-F238E27FC236}">
                  <a16:creationId xmlns:a16="http://schemas.microsoft.com/office/drawing/2014/main" id="{5DC0DC8A-AF7D-42F2-351F-B3F5F8A59872}"/>
                </a:ext>
              </a:extLst>
            </p:cNvPr>
            <p:cNvSpPr txBox="1"/>
            <p:nvPr/>
          </p:nvSpPr>
          <p:spPr>
            <a:xfrm>
              <a:off x="4282151" y="1222220"/>
              <a:ext cx="1549401" cy="774700"/>
            </a:xfrm>
            <a:prstGeom prst="rect">
              <a:avLst/>
            </a:prstGeom>
          </p:spPr>
          <p:style>
            <a:lnRef idx="3">
              <a:schemeClr val="lt1"/>
            </a:lnRef>
            <a:fillRef idx="1">
              <a:schemeClr val="dk1"/>
            </a:fillRef>
            <a:effectRef idx="1">
              <a:schemeClr val="dk1"/>
            </a:effectRef>
            <a:fontRef idx="minor">
              <a:schemeClr val="lt1"/>
            </a:fontRef>
          </p:style>
          <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a-IR" sz="1400" b="1" kern="1200" dirty="0">
                  <a:latin typeface="IRZeytoon" panose="02000503000000020002" pitchFamily="2" charset="-78"/>
                  <a:cs typeface="B Nazanin" panose="00000400000000000000" pitchFamily="2" charset="-78"/>
                </a:rPr>
                <a:t> نوع دوم: معاملات متوسط </a:t>
              </a:r>
              <a:endParaRPr lang="en-US" sz="1400" kern="1200" dirty="0"/>
            </a:p>
          </p:txBody>
        </p:sp>
      </p:grpSp>
      <p:grpSp>
        <p:nvGrpSpPr>
          <p:cNvPr id="12" name="Group 11">
            <a:extLst>
              <a:ext uri="{FF2B5EF4-FFF2-40B4-BE49-F238E27FC236}">
                <a16:creationId xmlns:a16="http://schemas.microsoft.com/office/drawing/2014/main" id="{09E8C579-F5C5-AF48-1D7B-993F53628524}"/>
              </a:ext>
            </a:extLst>
          </p:cNvPr>
          <p:cNvGrpSpPr/>
          <p:nvPr/>
        </p:nvGrpSpPr>
        <p:grpSpPr>
          <a:xfrm>
            <a:off x="273531" y="222299"/>
            <a:ext cx="2558673" cy="1279336"/>
            <a:chOff x="4282151" y="1222220"/>
            <a:chExt cx="1549401" cy="774700"/>
          </a:xfrm>
        </p:grpSpPr>
        <p:sp>
          <p:nvSpPr>
            <p:cNvPr id="16" name="Rectangle 15">
              <a:extLst>
                <a:ext uri="{FF2B5EF4-FFF2-40B4-BE49-F238E27FC236}">
                  <a16:creationId xmlns:a16="http://schemas.microsoft.com/office/drawing/2014/main" id="{85DD80B9-B59F-C241-C06E-BAB6E7F3532D}"/>
                </a:ext>
              </a:extLst>
            </p:cNvPr>
            <p:cNvSpPr/>
            <p:nvPr/>
          </p:nvSpPr>
          <p:spPr>
            <a:xfrm>
              <a:off x="4282151" y="1222220"/>
              <a:ext cx="1549401" cy="774700"/>
            </a:xfrm>
            <a:prstGeom prst="rect">
              <a:avLst/>
            </a:prstGeom>
          </p:spPr>
          <p:style>
            <a:lnRef idx="3">
              <a:schemeClr val="lt1"/>
            </a:lnRef>
            <a:fillRef idx="1">
              <a:schemeClr val="accent6"/>
            </a:fillRef>
            <a:effectRef idx="1">
              <a:schemeClr val="accent6"/>
            </a:effectRef>
            <a:fontRef idx="minor">
              <a:schemeClr val="lt1"/>
            </a:fontRef>
          </p:style>
          <p:txBody>
            <a:bodyPr/>
            <a:lstStyle/>
            <a:p>
              <a:endParaRPr lang="en-US"/>
            </a:p>
          </p:txBody>
        </p:sp>
        <p:sp>
          <p:nvSpPr>
            <p:cNvPr id="17" name="TextBox 16">
              <a:extLst>
                <a:ext uri="{FF2B5EF4-FFF2-40B4-BE49-F238E27FC236}">
                  <a16:creationId xmlns:a16="http://schemas.microsoft.com/office/drawing/2014/main" id="{5783622D-DC10-EBE0-BA4A-9CC88B9042DD}"/>
                </a:ext>
              </a:extLst>
            </p:cNvPr>
            <p:cNvSpPr txBox="1"/>
            <p:nvPr/>
          </p:nvSpPr>
          <p:spPr>
            <a:xfrm>
              <a:off x="4282151" y="1222220"/>
              <a:ext cx="1549401" cy="774700"/>
            </a:xfrm>
            <a:prstGeom prst="rect">
              <a:avLst/>
            </a:prstGeom>
          </p:spPr>
          <p:style>
            <a:lnRef idx="3">
              <a:schemeClr val="lt1"/>
            </a:lnRef>
            <a:fillRef idx="1">
              <a:schemeClr val="accent6"/>
            </a:fillRef>
            <a:effectRef idx="1">
              <a:schemeClr val="accent6"/>
            </a:effectRef>
            <a:fontRef idx="minor">
              <a:schemeClr val="lt1"/>
            </a:fontRef>
          </p:style>
          <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a-IR" sz="1400" b="1" kern="1200" dirty="0">
                  <a:latin typeface="IRZeytoon" panose="02000503000000020002" pitchFamily="2" charset="-78"/>
                  <a:cs typeface="B Nazanin" panose="00000400000000000000" pitchFamily="2" charset="-78"/>
                </a:rPr>
                <a:t> نوع سوم: معاملات عمده </a:t>
              </a:r>
              <a:endParaRPr lang="en-US" sz="1400" kern="1200" dirty="0"/>
            </a:p>
          </p:txBody>
        </p:sp>
      </p:grpSp>
    </p:spTree>
    <p:extLst>
      <p:ext uri="{BB962C8B-B14F-4D97-AF65-F5344CB8AC3E}">
        <p14:creationId xmlns:p14="http://schemas.microsoft.com/office/powerpoint/2010/main" val="7776835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0" name="Rectangle 29">
            <a:extLst>
              <a:ext uri="{FF2B5EF4-FFF2-40B4-BE49-F238E27FC236}">
                <a16:creationId xmlns:a16="http://schemas.microsoft.com/office/drawing/2014/main" id="{12BC1452-4A4B-EA09-3C99-CCF5F7CA02B6}"/>
              </a:ext>
            </a:extLst>
          </p:cNvPr>
          <p:cNvSpPr/>
          <p:nvPr/>
        </p:nvSpPr>
        <p:spPr>
          <a:xfrm>
            <a:off x="-130913" y="0"/>
            <a:ext cx="3422753" cy="529747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85" name="Google Shape;385;p38"/>
          <p:cNvSpPr txBox="1"/>
          <p:nvPr/>
        </p:nvSpPr>
        <p:spPr>
          <a:xfrm>
            <a:off x="0" y="516974"/>
            <a:ext cx="3147068" cy="553998"/>
          </a:xfrm>
          <a:prstGeom prst="rect">
            <a:avLst/>
          </a:prstGeom>
          <a:noFill/>
          <a:ln>
            <a:noFill/>
          </a:ln>
        </p:spPr>
        <p:txBody>
          <a:bodyPr spcFirstLastPara="1" wrap="square" lIns="0" tIns="0" rIns="0" bIns="0" anchor="t" anchorCtr="0">
            <a:spAutoFit/>
          </a:bodyPr>
          <a:lstStyle/>
          <a:p>
            <a:pPr marL="0" marR="0" lvl="0" indent="0" algn="ctr" rtl="1">
              <a:lnSpc>
                <a:spcPct val="120000"/>
              </a:lnSpc>
              <a:spcBef>
                <a:spcPts val="0"/>
              </a:spcBef>
              <a:spcAft>
                <a:spcPts val="0"/>
              </a:spcAft>
              <a:buNone/>
            </a:pPr>
            <a:r>
              <a:rPr lang="fa-IR" sz="3000" b="1" i="0" u="none" strike="noStrike" cap="none" dirty="0">
                <a:solidFill>
                  <a:schemeClr val="bg1"/>
                </a:solidFill>
                <a:latin typeface="Open Sans"/>
                <a:ea typeface="Open Sans"/>
                <a:cs typeface="B Nazanin" panose="00000700000000000000" pitchFamily="2" charset="-78"/>
                <a:sym typeface="Open Sans"/>
              </a:rPr>
              <a:t>مناقصات</a:t>
            </a:r>
            <a:endParaRPr sz="700" b="1" dirty="0">
              <a:solidFill>
                <a:schemeClr val="bg1"/>
              </a:solidFill>
              <a:latin typeface="Open Sans"/>
              <a:ea typeface="Open Sans"/>
              <a:cs typeface="B Nazanin" panose="00000700000000000000" pitchFamily="2" charset="-78"/>
              <a:sym typeface="Open Sans"/>
            </a:endParaRPr>
          </a:p>
        </p:txBody>
      </p:sp>
      <p:cxnSp>
        <p:nvCxnSpPr>
          <p:cNvPr id="398" name="Google Shape;398;p38"/>
          <p:cNvCxnSpPr/>
          <p:nvPr/>
        </p:nvCxnSpPr>
        <p:spPr>
          <a:xfrm rot="5400000">
            <a:off x="-1301222" y="965264"/>
            <a:ext cx="3626382" cy="0"/>
          </a:xfrm>
          <a:prstGeom prst="straightConnector1">
            <a:avLst/>
          </a:prstGeom>
          <a:noFill/>
          <a:ln w="9525" cap="flat" cmpd="sng">
            <a:solidFill>
              <a:srgbClr val="000000"/>
            </a:solidFill>
            <a:prstDash val="solid"/>
            <a:round/>
            <a:headEnd type="none" w="sm" len="sm"/>
            <a:tailEnd type="none" w="sm" len="sm"/>
          </a:ln>
        </p:spPr>
      </p:cxnSp>
      <p:cxnSp>
        <p:nvCxnSpPr>
          <p:cNvPr id="399" name="Google Shape;399;p38"/>
          <p:cNvCxnSpPr/>
          <p:nvPr/>
        </p:nvCxnSpPr>
        <p:spPr>
          <a:xfrm rot="5400000">
            <a:off x="1946121" y="4147661"/>
            <a:ext cx="3626382" cy="0"/>
          </a:xfrm>
          <a:prstGeom prst="straightConnector1">
            <a:avLst/>
          </a:prstGeom>
          <a:noFill/>
          <a:ln w="9525" cap="flat" cmpd="sng">
            <a:solidFill>
              <a:srgbClr val="000000"/>
            </a:solidFill>
            <a:prstDash val="solid"/>
            <a:round/>
            <a:headEnd type="none" w="sm" len="sm"/>
            <a:tailEnd type="none" w="sm" len="sm"/>
          </a:ln>
        </p:spPr>
      </p:cxnSp>
      <p:grpSp>
        <p:nvGrpSpPr>
          <p:cNvPr id="400" name="Google Shape;400;p38"/>
          <p:cNvGrpSpPr/>
          <p:nvPr/>
        </p:nvGrpSpPr>
        <p:grpSpPr>
          <a:xfrm>
            <a:off x="8837359" y="-72330"/>
            <a:ext cx="1543051" cy="5808473"/>
            <a:chOff x="0" y="-38100"/>
            <a:chExt cx="812800" cy="3059607"/>
          </a:xfrm>
        </p:grpSpPr>
        <p:sp>
          <p:nvSpPr>
            <p:cNvPr id="401" name="Google Shape;401;p38"/>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402" name="Google Shape;402;p38"/>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403" name="Google Shape;403;p38"/>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000000"/>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sp>
        <p:nvSpPr>
          <p:cNvPr id="9" name="Rectangle 8">
            <a:extLst>
              <a:ext uri="{FF2B5EF4-FFF2-40B4-BE49-F238E27FC236}">
                <a16:creationId xmlns:a16="http://schemas.microsoft.com/office/drawing/2014/main" id="{2D8BE8A6-2A34-81A2-1928-C3244E63F909}"/>
              </a:ext>
            </a:extLst>
          </p:cNvPr>
          <p:cNvSpPr/>
          <p:nvPr/>
        </p:nvSpPr>
        <p:spPr>
          <a:xfrm>
            <a:off x="5477807" y="606224"/>
            <a:ext cx="1585731" cy="6597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latin typeface="IRNazanin" panose="02000506000000020002" pitchFamily="2" charset="-78"/>
                <a:cs typeface="IRNazanin" panose="02000506000000020002" pitchFamily="2" charset="-78"/>
              </a:rPr>
              <a:t>مناقصه</a:t>
            </a:r>
            <a:endParaRPr lang="en-US" b="1" dirty="0">
              <a:latin typeface="IRNazanin" panose="02000506000000020002" pitchFamily="2" charset="-78"/>
              <a:cs typeface="IRNazanin" panose="02000506000000020002" pitchFamily="2" charset="-78"/>
            </a:endParaRPr>
          </a:p>
        </p:txBody>
      </p:sp>
      <p:sp>
        <p:nvSpPr>
          <p:cNvPr id="10" name="Rectangle 9">
            <a:extLst>
              <a:ext uri="{FF2B5EF4-FFF2-40B4-BE49-F238E27FC236}">
                <a16:creationId xmlns:a16="http://schemas.microsoft.com/office/drawing/2014/main" id="{F3D9D6B3-2153-46AF-3BCC-C9F78CA430E2}"/>
              </a:ext>
            </a:extLst>
          </p:cNvPr>
          <p:cNvSpPr/>
          <p:nvPr/>
        </p:nvSpPr>
        <p:spPr>
          <a:xfrm>
            <a:off x="6369278" y="1880528"/>
            <a:ext cx="1585731" cy="6597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latin typeface="IRNazanin" panose="02000506000000020002" pitchFamily="2" charset="-78"/>
                <a:cs typeface="IRNazanin" panose="02000506000000020002" pitchFamily="2" charset="-78"/>
              </a:rPr>
              <a:t>عمومی</a:t>
            </a:r>
            <a:endParaRPr lang="en-US" b="1" dirty="0">
              <a:latin typeface="IRNazanin" panose="02000506000000020002" pitchFamily="2" charset="-78"/>
              <a:cs typeface="IRNazanin" panose="02000506000000020002" pitchFamily="2" charset="-78"/>
            </a:endParaRPr>
          </a:p>
        </p:txBody>
      </p:sp>
      <p:sp>
        <p:nvSpPr>
          <p:cNvPr id="11" name="Rectangle 10">
            <a:extLst>
              <a:ext uri="{FF2B5EF4-FFF2-40B4-BE49-F238E27FC236}">
                <a16:creationId xmlns:a16="http://schemas.microsoft.com/office/drawing/2014/main" id="{070C2D70-3A63-8AEE-F379-1EDC9F07C5F9}"/>
              </a:ext>
            </a:extLst>
          </p:cNvPr>
          <p:cNvSpPr/>
          <p:nvPr/>
        </p:nvSpPr>
        <p:spPr>
          <a:xfrm>
            <a:off x="4611278" y="1880528"/>
            <a:ext cx="1585731" cy="6597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latin typeface="IRNazanin" panose="02000506000000020002" pitchFamily="2" charset="-78"/>
                <a:cs typeface="IRNazanin" panose="02000506000000020002" pitchFamily="2" charset="-78"/>
              </a:rPr>
              <a:t>خصوصی</a:t>
            </a:r>
            <a:endParaRPr lang="en-US" b="1" dirty="0">
              <a:latin typeface="IRNazanin" panose="02000506000000020002" pitchFamily="2" charset="-78"/>
              <a:cs typeface="IRNazanin" panose="02000506000000020002" pitchFamily="2" charset="-78"/>
            </a:endParaRPr>
          </a:p>
        </p:txBody>
      </p:sp>
      <p:cxnSp>
        <p:nvCxnSpPr>
          <p:cNvPr id="13" name="Connector: Elbow 12">
            <a:extLst>
              <a:ext uri="{FF2B5EF4-FFF2-40B4-BE49-F238E27FC236}">
                <a16:creationId xmlns:a16="http://schemas.microsoft.com/office/drawing/2014/main" id="{0D28D504-4347-0845-2294-4AB910764FCC}"/>
              </a:ext>
            </a:extLst>
          </p:cNvPr>
          <p:cNvCxnSpPr>
            <a:stCxn id="9" idx="2"/>
            <a:endCxn id="10" idx="0"/>
          </p:cNvCxnSpPr>
          <p:nvPr/>
        </p:nvCxnSpPr>
        <p:spPr>
          <a:xfrm rot="16200000" flipH="1">
            <a:off x="6409135" y="1127518"/>
            <a:ext cx="614547" cy="891471"/>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5" name="Connector: Elbow 14">
            <a:extLst>
              <a:ext uri="{FF2B5EF4-FFF2-40B4-BE49-F238E27FC236}">
                <a16:creationId xmlns:a16="http://schemas.microsoft.com/office/drawing/2014/main" id="{6EF4A529-592F-CE7B-87D2-5A19F2D0BEE6}"/>
              </a:ext>
            </a:extLst>
          </p:cNvPr>
          <p:cNvCxnSpPr>
            <a:stCxn id="9" idx="2"/>
            <a:endCxn id="11" idx="0"/>
          </p:cNvCxnSpPr>
          <p:nvPr/>
        </p:nvCxnSpPr>
        <p:spPr>
          <a:xfrm rot="5400000">
            <a:off x="5530136" y="1139990"/>
            <a:ext cx="614547" cy="866529"/>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sp>
        <p:nvSpPr>
          <p:cNvPr id="18" name="Rectangle 17">
            <a:extLst>
              <a:ext uri="{FF2B5EF4-FFF2-40B4-BE49-F238E27FC236}">
                <a16:creationId xmlns:a16="http://schemas.microsoft.com/office/drawing/2014/main" id="{605A050D-8BA2-BEF0-E05C-D645CE27EB84}"/>
              </a:ext>
            </a:extLst>
          </p:cNvPr>
          <p:cNvSpPr/>
          <p:nvPr/>
        </p:nvSpPr>
        <p:spPr>
          <a:xfrm>
            <a:off x="6369279" y="3181204"/>
            <a:ext cx="2000608" cy="6597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latin typeface="IRNazanin" panose="02000506000000020002" pitchFamily="2" charset="-78"/>
                <a:cs typeface="IRNazanin" panose="02000506000000020002" pitchFamily="2" charset="-78"/>
              </a:rPr>
              <a:t>همه می توانند پیشنهاد خود را ارائه بدهند.</a:t>
            </a:r>
            <a:endParaRPr lang="en-US" b="1" dirty="0">
              <a:latin typeface="IRNazanin" panose="02000506000000020002" pitchFamily="2" charset="-78"/>
              <a:cs typeface="IRNazanin" panose="02000506000000020002" pitchFamily="2" charset="-78"/>
            </a:endParaRPr>
          </a:p>
        </p:txBody>
      </p:sp>
      <p:sp>
        <p:nvSpPr>
          <p:cNvPr id="19" name="Rectangle 18">
            <a:extLst>
              <a:ext uri="{FF2B5EF4-FFF2-40B4-BE49-F238E27FC236}">
                <a16:creationId xmlns:a16="http://schemas.microsoft.com/office/drawing/2014/main" id="{1307330C-1939-B948-EA20-885200E79A46}"/>
              </a:ext>
            </a:extLst>
          </p:cNvPr>
          <p:cNvSpPr/>
          <p:nvPr/>
        </p:nvSpPr>
        <p:spPr>
          <a:xfrm>
            <a:off x="4353142" y="3181203"/>
            <a:ext cx="1843864" cy="6597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latin typeface="IRNazanin" panose="02000506000000020002" pitchFamily="2" charset="-78"/>
                <a:cs typeface="IRNazanin" panose="02000506000000020002" pitchFamily="2" charset="-78"/>
              </a:rPr>
              <a:t>فقط شرکت هایی که دعوت شده اند می توانند پیشنهاد خود را ارائه کنند.</a:t>
            </a:r>
            <a:endParaRPr lang="en-US" b="1" dirty="0">
              <a:latin typeface="IRNazanin" panose="02000506000000020002" pitchFamily="2" charset="-78"/>
              <a:cs typeface="IRNazanin" panose="02000506000000020002" pitchFamily="2" charset="-78"/>
            </a:endParaRPr>
          </a:p>
        </p:txBody>
      </p:sp>
      <p:cxnSp>
        <p:nvCxnSpPr>
          <p:cNvPr id="23" name="Connector: Elbow 22">
            <a:extLst>
              <a:ext uri="{FF2B5EF4-FFF2-40B4-BE49-F238E27FC236}">
                <a16:creationId xmlns:a16="http://schemas.microsoft.com/office/drawing/2014/main" id="{785ACAA6-F8A1-21CE-4E01-2811570211F0}"/>
              </a:ext>
            </a:extLst>
          </p:cNvPr>
          <p:cNvCxnSpPr>
            <a:stCxn id="10" idx="2"/>
            <a:endCxn id="18" idx="0"/>
          </p:cNvCxnSpPr>
          <p:nvPr/>
        </p:nvCxnSpPr>
        <p:spPr>
          <a:xfrm rot="16200000" flipH="1">
            <a:off x="6945404" y="2757024"/>
            <a:ext cx="640919" cy="207439"/>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5" name="Connector: Elbow 24">
            <a:extLst>
              <a:ext uri="{FF2B5EF4-FFF2-40B4-BE49-F238E27FC236}">
                <a16:creationId xmlns:a16="http://schemas.microsoft.com/office/drawing/2014/main" id="{B70B3E4E-4C55-1758-65FF-13B5554CAFC0}"/>
              </a:ext>
            </a:extLst>
          </p:cNvPr>
          <p:cNvCxnSpPr>
            <a:stCxn id="11" idx="2"/>
            <a:endCxn id="19" idx="0"/>
          </p:cNvCxnSpPr>
          <p:nvPr/>
        </p:nvCxnSpPr>
        <p:spPr>
          <a:xfrm rot="5400000">
            <a:off x="5019150" y="2796209"/>
            <a:ext cx="640918" cy="129070"/>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grpSp>
        <p:nvGrpSpPr>
          <p:cNvPr id="26" name="Google Shape;10063;p78">
            <a:extLst>
              <a:ext uri="{FF2B5EF4-FFF2-40B4-BE49-F238E27FC236}">
                <a16:creationId xmlns:a16="http://schemas.microsoft.com/office/drawing/2014/main" id="{A54CFD79-6791-91CE-0C93-A7ABC733F54E}"/>
              </a:ext>
            </a:extLst>
          </p:cNvPr>
          <p:cNvGrpSpPr/>
          <p:nvPr/>
        </p:nvGrpSpPr>
        <p:grpSpPr>
          <a:xfrm>
            <a:off x="515856" y="1483175"/>
            <a:ext cx="2280698" cy="2805031"/>
            <a:chOff x="5782845" y="2906521"/>
            <a:chExt cx="301661" cy="371013"/>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grpSpPr>
        <p:sp>
          <p:nvSpPr>
            <p:cNvPr id="27" name="Google Shape;10064;p78">
              <a:extLst>
                <a:ext uri="{FF2B5EF4-FFF2-40B4-BE49-F238E27FC236}">
                  <a16:creationId xmlns:a16="http://schemas.microsoft.com/office/drawing/2014/main" id="{31C18703-E024-1009-BC1B-1EE03B517C1B}"/>
                </a:ext>
              </a:extLst>
            </p:cNvPr>
            <p:cNvSpPr/>
            <p:nvPr/>
          </p:nvSpPr>
          <p:spPr>
            <a:xfrm>
              <a:off x="5782845" y="3087651"/>
              <a:ext cx="301661" cy="189883"/>
            </a:xfrm>
            <a:custGeom>
              <a:avLst/>
              <a:gdLst/>
              <a:ahLst/>
              <a:cxnLst/>
              <a:rect l="l" t="t" r="r" b="b"/>
              <a:pathLst>
                <a:path w="9478" h="5966" extrusionOk="0">
                  <a:moveTo>
                    <a:pt x="3215" y="322"/>
                  </a:moveTo>
                  <a:cubicBezTo>
                    <a:pt x="3322" y="322"/>
                    <a:pt x="3418" y="370"/>
                    <a:pt x="3489" y="429"/>
                  </a:cubicBezTo>
                  <a:cubicBezTo>
                    <a:pt x="3561" y="513"/>
                    <a:pt x="3596" y="596"/>
                    <a:pt x="3596" y="703"/>
                  </a:cubicBezTo>
                  <a:lnTo>
                    <a:pt x="3596" y="1156"/>
                  </a:lnTo>
                  <a:cubicBezTo>
                    <a:pt x="3608" y="1358"/>
                    <a:pt x="3501" y="1537"/>
                    <a:pt x="3322" y="1644"/>
                  </a:cubicBezTo>
                  <a:cubicBezTo>
                    <a:pt x="3263" y="1668"/>
                    <a:pt x="3239" y="1727"/>
                    <a:pt x="3239" y="1787"/>
                  </a:cubicBezTo>
                  <a:lnTo>
                    <a:pt x="3239" y="1977"/>
                  </a:lnTo>
                  <a:lnTo>
                    <a:pt x="2846" y="1977"/>
                  </a:lnTo>
                  <a:lnTo>
                    <a:pt x="2846" y="1787"/>
                  </a:lnTo>
                  <a:cubicBezTo>
                    <a:pt x="2846" y="1727"/>
                    <a:pt x="2822" y="1668"/>
                    <a:pt x="2763" y="1644"/>
                  </a:cubicBezTo>
                  <a:cubicBezTo>
                    <a:pt x="2584" y="1537"/>
                    <a:pt x="2477" y="1358"/>
                    <a:pt x="2477" y="1156"/>
                  </a:cubicBezTo>
                  <a:lnTo>
                    <a:pt x="2477" y="703"/>
                  </a:lnTo>
                  <a:cubicBezTo>
                    <a:pt x="2477" y="489"/>
                    <a:pt x="2644" y="322"/>
                    <a:pt x="2846" y="322"/>
                  </a:cubicBezTo>
                  <a:close/>
                  <a:moveTo>
                    <a:pt x="6513" y="322"/>
                  </a:moveTo>
                  <a:cubicBezTo>
                    <a:pt x="6609" y="322"/>
                    <a:pt x="6704" y="370"/>
                    <a:pt x="6775" y="429"/>
                  </a:cubicBezTo>
                  <a:cubicBezTo>
                    <a:pt x="6847" y="513"/>
                    <a:pt x="6882" y="596"/>
                    <a:pt x="6882" y="703"/>
                  </a:cubicBezTo>
                  <a:lnTo>
                    <a:pt x="6882" y="1156"/>
                  </a:lnTo>
                  <a:cubicBezTo>
                    <a:pt x="6894" y="1358"/>
                    <a:pt x="6787" y="1537"/>
                    <a:pt x="6609" y="1644"/>
                  </a:cubicBezTo>
                  <a:cubicBezTo>
                    <a:pt x="6549" y="1668"/>
                    <a:pt x="6525" y="1727"/>
                    <a:pt x="6525" y="1787"/>
                  </a:cubicBezTo>
                  <a:lnTo>
                    <a:pt x="6525" y="1977"/>
                  </a:lnTo>
                  <a:lnTo>
                    <a:pt x="6132" y="1977"/>
                  </a:lnTo>
                  <a:lnTo>
                    <a:pt x="6132" y="1787"/>
                  </a:lnTo>
                  <a:cubicBezTo>
                    <a:pt x="6132" y="1727"/>
                    <a:pt x="6108" y="1668"/>
                    <a:pt x="6049" y="1644"/>
                  </a:cubicBezTo>
                  <a:cubicBezTo>
                    <a:pt x="5870" y="1537"/>
                    <a:pt x="5763" y="1358"/>
                    <a:pt x="5763" y="1156"/>
                  </a:cubicBezTo>
                  <a:lnTo>
                    <a:pt x="5763" y="703"/>
                  </a:lnTo>
                  <a:cubicBezTo>
                    <a:pt x="5763" y="489"/>
                    <a:pt x="5930" y="322"/>
                    <a:pt x="6132" y="322"/>
                  </a:cubicBezTo>
                  <a:close/>
                  <a:moveTo>
                    <a:pt x="1572" y="2144"/>
                  </a:moveTo>
                  <a:cubicBezTo>
                    <a:pt x="1667" y="2144"/>
                    <a:pt x="1763" y="2192"/>
                    <a:pt x="1834" y="2251"/>
                  </a:cubicBezTo>
                  <a:cubicBezTo>
                    <a:pt x="1906" y="2323"/>
                    <a:pt x="1941" y="2418"/>
                    <a:pt x="1941" y="2513"/>
                  </a:cubicBezTo>
                  <a:lnTo>
                    <a:pt x="1941" y="2977"/>
                  </a:lnTo>
                  <a:lnTo>
                    <a:pt x="1953" y="2977"/>
                  </a:lnTo>
                  <a:cubicBezTo>
                    <a:pt x="1953" y="3168"/>
                    <a:pt x="1846" y="3370"/>
                    <a:pt x="1667" y="3454"/>
                  </a:cubicBezTo>
                  <a:cubicBezTo>
                    <a:pt x="1608" y="3489"/>
                    <a:pt x="1584" y="3549"/>
                    <a:pt x="1584" y="3608"/>
                  </a:cubicBezTo>
                  <a:lnTo>
                    <a:pt x="1584" y="3799"/>
                  </a:lnTo>
                  <a:lnTo>
                    <a:pt x="1191" y="3799"/>
                  </a:lnTo>
                  <a:lnTo>
                    <a:pt x="1191" y="3608"/>
                  </a:lnTo>
                  <a:cubicBezTo>
                    <a:pt x="1191" y="3549"/>
                    <a:pt x="1167" y="3489"/>
                    <a:pt x="1108" y="3454"/>
                  </a:cubicBezTo>
                  <a:cubicBezTo>
                    <a:pt x="929" y="3346"/>
                    <a:pt x="822" y="3168"/>
                    <a:pt x="822" y="2977"/>
                  </a:cubicBezTo>
                  <a:lnTo>
                    <a:pt x="822" y="2513"/>
                  </a:lnTo>
                  <a:cubicBezTo>
                    <a:pt x="822" y="2311"/>
                    <a:pt x="989" y="2144"/>
                    <a:pt x="1191" y="2144"/>
                  </a:cubicBezTo>
                  <a:close/>
                  <a:moveTo>
                    <a:pt x="4858" y="2144"/>
                  </a:moveTo>
                  <a:cubicBezTo>
                    <a:pt x="4965" y="2144"/>
                    <a:pt x="5049" y="2192"/>
                    <a:pt x="5120" y="2251"/>
                  </a:cubicBezTo>
                  <a:cubicBezTo>
                    <a:pt x="5204" y="2323"/>
                    <a:pt x="5227" y="2418"/>
                    <a:pt x="5227" y="2513"/>
                  </a:cubicBezTo>
                  <a:lnTo>
                    <a:pt x="5227" y="2977"/>
                  </a:lnTo>
                  <a:cubicBezTo>
                    <a:pt x="5239" y="3168"/>
                    <a:pt x="5144" y="3370"/>
                    <a:pt x="4954" y="3454"/>
                  </a:cubicBezTo>
                  <a:cubicBezTo>
                    <a:pt x="4894" y="3489"/>
                    <a:pt x="4870" y="3549"/>
                    <a:pt x="4870" y="3608"/>
                  </a:cubicBezTo>
                  <a:lnTo>
                    <a:pt x="4870" y="3799"/>
                  </a:lnTo>
                  <a:lnTo>
                    <a:pt x="4489" y="3799"/>
                  </a:lnTo>
                  <a:lnTo>
                    <a:pt x="4489" y="3608"/>
                  </a:lnTo>
                  <a:cubicBezTo>
                    <a:pt x="4489" y="3549"/>
                    <a:pt x="4453" y="3489"/>
                    <a:pt x="4394" y="3454"/>
                  </a:cubicBezTo>
                  <a:cubicBezTo>
                    <a:pt x="4215" y="3346"/>
                    <a:pt x="4108" y="3168"/>
                    <a:pt x="4108" y="2977"/>
                  </a:cubicBezTo>
                  <a:lnTo>
                    <a:pt x="4108" y="2513"/>
                  </a:lnTo>
                  <a:cubicBezTo>
                    <a:pt x="4108" y="2311"/>
                    <a:pt x="4275" y="2144"/>
                    <a:pt x="4489" y="2144"/>
                  </a:cubicBezTo>
                  <a:close/>
                  <a:moveTo>
                    <a:pt x="8144" y="2144"/>
                  </a:moveTo>
                  <a:cubicBezTo>
                    <a:pt x="8252" y="2144"/>
                    <a:pt x="8335" y="2192"/>
                    <a:pt x="8418" y="2251"/>
                  </a:cubicBezTo>
                  <a:cubicBezTo>
                    <a:pt x="8490" y="2323"/>
                    <a:pt x="8514" y="2418"/>
                    <a:pt x="8514" y="2513"/>
                  </a:cubicBezTo>
                  <a:lnTo>
                    <a:pt x="8514" y="2977"/>
                  </a:lnTo>
                  <a:cubicBezTo>
                    <a:pt x="8525" y="3168"/>
                    <a:pt x="8430" y="3370"/>
                    <a:pt x="8252" y="3454"/>
                  </a:cubicBezTo>
                  <a:cubicBezTo>
                    <a:pt x="8192" y="3489"/>
                    <a:pt x="8156" y="3549"/>
                    <a:pt x="8156" y="3608"/>
                  </a:cubicBezTo>
                  <a:lnTo>
                    <a:pt x="8156" y="3799"/>
                  </a:lnTo>
                  <a:lnTo>
                    <a:pt x="7775" y="3799"/>
                  </a:lnTo>
                  <a:lnTo>
                    <a:pt x="7775" y="3608"/>
                  </a:lnTo>
                  <a:cubicBezTo>
                    <a:pt x="7775" y="3549"/>
                    <a:pt x="7740" y="3489"/>
                    <a:pt x="7680" y="3454"/>
                  </a:cubicBezTo>
                  <a:cubicBezTo>
                    <a:pt x="7501" y="3346"/>
                    <a:pt x="7406" y="3168"/>
                    <a:pt x="7406" y="2977"/>
                  </a:cubicBezTo>
                  <a:lnTo>
                    <a:pt x="7406" y="2513"/>
                  </a:lnTo>
                  <a:cubicBezTo>
                    <a:pt x="7406" y="2311"/>
                    <a:pt x="7561" y="2144"/>
                    <a:pt x="7775" y="2144"/>
                  </a:cubicBezTo>
                  <a:close/>
                  <a:moveTo>
                    <a:pt x="2894" y="1"/>
                  </a:moveTo>
                  <a:cubicBezTo>
                    <a:pt x="2489" y="1"/>
                    <a:pt x="2179" y="334"/>
                    <a:pt x="2179" y="715"/>
                  </a:cubicBezTo>
                  <a:lnTo>
                    <a:pt x="2179" y="1180"/>
                  </a:lnTo>
                  <a:cubicBezTo>
                    <a:pt x="2179" y="1465"/>
                    <a:pt x="2310" y="1727"/>
                    <a:pt x="2548" y="1894"/>
                  </a:cubicBezTo>
                  <a:lnTo>
                    <a:pt x="2548" y="2061"/>
                  </a:lnTo>
                  <a:lnTo>
                    <a:pt x="2251" y="2180"/>
                  </a:lnTo>
                  <a:cubicBezTo>
                    <a:pt x="2215" y="2120"/>
                    <a:pt x="2179" y="2072"/>
                    <a:pt x="2132" y="2025"/>
                  </a:cubicBezTo>
                  <a:cubicBezTo>
                    <a:pt x="2001" y="1894"/>
                    <a:pt x="1822" y="1822"/>
                    <a:pt x="1620" y="1822"/>
                  </a:cubicBezTo>
                  <a:lnTo>
                    <a:pt x="1251" y="1822"/>
                  </a:lnTo>
                  <a:cubicBezTo>
                    <a:pt x="846" y="1822"/>
                    <a:pt x="536" y="2144"/>
                    <a:pt x="536" y="2537"/>
                  </a:cubicBezTo>
                  <a:lnTo>
                    <a:pt x="536" y="2989"/>
                  </a:lnTo>
                  <a:cubicBezTo>
                    <a:pt x="536" y="3275"/>
                    <a:pt x="679" y="3549"/>
                    <a:pt x="905" y="3704"/>
                  </a:cubicBezTo>
                  <a:lnTo>
                    <a:pt x="905" y="3870"/>
                  </a:lnTo>
                  <a:lnTo>
                    <a:pt x="453" y="4049"/>
                  </a:lnTo>
                  <a:cubicBezTo>
                    <a:pt x="179" y="4156"/>
                    <a:pt x="1" y="4418"/>
                    <a:pt x="1" y="4716"/>
                  </a:cubicBezTo>
                  <a:lnTo>
                    <a:pt x="1" y="5811"/>
                  </a:lnTo>
                  <a:cubicBezTo>
                    <a:pt x="1" y="5894"/>
                    <a:pt x="84" y="5966"/>
                    <a:pt x="167" y="5966"/>
                  </a:cubicBezTo>
                  <a:cubicBezTo>
                    <a:pt x="251" y="5966"/>
                    <a:pt x="334" y="5894"/>
                    <a:pt x="334" y="5811"/>
                  </a:cubicBezTo>
                  <a:lnTo>
                    <a:pt x="334" y="4716"/>
                  </a:lnTo>
                  <a:cubicBezTo>
                    <a:pt x="334" y="4573"/>
                    <a:pt x="417" y="4418"/>
                    <a:pt x="572" y="4358"/>
                  </a:cubicBezTo>
                  <a:lnTo>
                    <a:pt x="1108" y="4156"/>
                  </a:lnTo>
                  <a:lnTo>
                    <a:pt x="1775" y="4156"/>
                  </a:lnTo>
                  <a:lnTo>
                    <a:pt x="2310" y="4358"/>
                  </a:lnTo>
                  <a:cubicBezTo>
                    <a:pt x="2453" y="4418"/>
                    <a:pt x="2548" y="4561"/>
                    <a:pt x="2548" y="4716"/>
                  </a:cubicBezTo>
                  <a:lnTo>
                    <a:pt x="2548" y="5811"/>
                  </a:lnTo>
                  <a:cubicBezTo>
                    <a:pt x="2548" y="5894"/>
                    <a:pt x="2620" y="5966"/>
                    <a:pt x="2715" y="5966"/>
                  </a:cubicBezTo>
                  <a:cubicBezTo>
                    <a:pt x="2799" y="5966"/>
                    <a:pt x="2870" y="5894"/>
                    <a:pt x="2870" y="5811"/>
                  </a:cubicBezTo>
                  <a:lnTo>
                    <a:pt x="2870" y="4716"/>
                  </a:lnTo>
                  <a:cubicBezTo>
                    <a:pt x="2870" y="4418"/>
                    <a:pt x="2691" y="4168"/>
                    <a:pt x="2429" y="4049"/>
                  </a:cubicBezTo>
                  <a:lnTo>
                    <a:pt x="1965" y="3870"/>
                  </a:lnTo>
                  <a:lnTo>
                    <a:pt x="1965" y="3704"/>
                  </a:lnTo>
                  <a:cubicBezTo>
                    <a:pt x="2191" y="3537"/>
                    <a:pt x="2334" y="3275"/>
                    <a:pt x="2334" y="2989"/>
                  </a:cubicBezTo>
                  <a:lnTo>
                    <a:pt x="2334" y="2537"/>
                  </a:lnTo>
                  <a:lnTo>
                    <a:pt x="2334" y="2501"/>
                  </a:lnTo>
                  <a:lnTo>
                    <a:pt x="2751" y="2334"/>
                  </a:lnTo>
                  <a:lnTo>
                    <a:pt x="3430" y="2334"/>
                  </a:lnTo>
                  <a:lnTo>
                    <a:pt x="3846" y="2501"/>
                  </a:lnTo>
                  <a:lnTo>
                    <a:pt x="3846" y="2537"/>
                  </a:lnTo>
                  <a:lnTo>
                    <a:pt x="3846" y="2989"/>
                  </a:lnTo>
                  <a:cubicBezTo>
                    <a:pt x="3846" y="3275"/>
                    <a:pt x="3977" y="3549"/>
                    <a:pt x="4215" y="3704"/>
                  </a:cubicBezTo>
                  <a:lnTo>
                    <a:pt x="4215" y="3870"/>
                  </a:lnTo>
                  <a:lnTo>
                    <a:pt x="3751" y="4049"/>
                  </a:lnTo>
                  <a:cubicBezTo>
                    <a:pt x="3489" y="4156"/>
                    <a:pt x="3310" y="4418"/>
                    <a:pt x="3310" y="4716"/>
                  </a:cubicBezTo>
                  <a:lnTo>
                    <a:pt x="3310" y="5811"/>
                  </a:lnTo>
                  <a:cubicBezTo>
                    <a:pt x="3310" y="5894"/>
                    <a:pt x="3382" y="5966"/>
                    <a:pt x="3465" y="5966"/>
                  </a:cubicBezTo>
                  <a:cubicBezTo>
                    <a:pt x="3561" y="5966"/>
                    <a:pt x="3632" y="5894"/>
                    <a:pt x="3632" y="5811"/>
                  </a:cubicBezTo>
                  <a:lnTo>
                    <a:pt x="3632" y="4716"/>
                  </a:lnTo>
                  <a:cubicBezTo>
                    <a:pt x="3632" y="4573"/>
                    <a:pt x="3727" y="4418"/>
                    <a:pt x="3870" y="4358"/>
                  </a:cubicBezTo>
                  <a:lnTo>
                    <a:pt x="4406" y="4156"/>
                  </a:lnTo>
                  <a:lnTo>
                    <a:pt x="5073" y="4156"/>
                  </a:lnTo>
                  <a:lnTo>
                    <a:pt x="5608" y="4358"/>
                  </a:lnTo>
                  <a:cubicBezTo>
                    <a:pt x="5763" y="4418"/>
                    <a:pt x="5847" y="4561"/>
                    <a:pt x="5847" y="4716"/>
                  </a:cubicBezTo>
                  <a:lnTo>
                    <a:pt x="5847" y="5811"/>
                  </a:lnTo>
                  <a:cubicBezTo>
                    <a:pt x="5847" y="5894"/>
                    <a:pt x="5930" y="5966"/>
                    <a:pt x="6013" y="5966"/>
                  </a:cubicBezTo>
                  <a:cubicBezTo>
                    <a:pt x="6108" y="5966"/>
                    <a:pt x="6180" y="5894"/>
                    <a:pt x="6180" y="5811"/>
                  </a:cubicBezTo>
                  <a:lnTo>
                    <a:pt x="6180" y="4716"/>
                  </a:lnTo>
                  <a:cubicBezTo>
                    <a:pt x="6180" y="4418"/>
                    <a:pt x="6001" y="4168"/>
                    <a:pt x="5727" y="4049"/>
                  </a:cubicBezTo>
                  <a:lnTo>
                    <a:pt x="5275" y="3870"/>
                  </a:lnTo>
                  <a:lnTo>
                    <a:pt x="5275" y="3704"/>
                  </a:lnTo>
                  <a:cubicBezTo>
                    <a:pt x="5489" y="3537"/>
                    <a:pt x="5644" y="3275"/>
                    <a:pt x="5644" y="2989"/>
                  </a:cubicBezTo>
                  <a:lnTo>
                    <a:pt x="5644" y="2537"/>
                  </a:lnTo>
                  <a:lnTo>
                    <a:pt x="5644" y="2501"/>
                  </a:lnTo>
                  <a:lnTo>
                    <a:pt x="6061" y="2334"/>
                  </a:lnTo>
                  <a:lnTo>
                    <a:pt x="6728" y="2334"/>
                  </a:lnTo>
                  <a:lnTo>
                    <a:pt x="7144" y="2501"/>
                  </a:lnTo>
                  <a:lnTo>
                    <a:pt x="7144" y="2537"/>
                  </a:lnTo>
                  <a:lnTo>
                    <a:pt x="7144" y="2989"/>
                  </a:lnTo>
                  <a:cubicBezTo>
                    <a:pt x="7144" y="3275"/>
                    <a:pt x="7275" y="3549"/>
                    <a:pt x="7513" y="3704"/>
                  </a:cubicBezTo>
                  <a:lnTo>
                    <a:pt x="7513" y="3870"/>
                  </a:lnTo>
                  <a:lnTo>
                    <a:pt x="7061" y="4049"/>
                  </a:lnTo>
                  <a:cubicBezTo>
                    <a:pt x="6787" y="4156"/>
                    <a:pt x="6609" y="4418"/>
                    <a:pt x="6609" y="4716"/>
                  </a:cubicBezTo>
                  <a:lnTo>
                    <a:pt x="6609" y="5811"/>
                  </a:lnTo>
                  <a:cubicBezTo>
                    <a:pt x="6609" y="5894"/>
                    <a:pt x="6680" y="5966"/>
                    <a:pt x="6775" y="5966"/>
                  </a:cubicBezTo>
                  <a:cubicBezTo>
                    <a:pt x="6859" y="5966"/>
                    <a:pt x="6942" y="5894"/>
                    <a:pt x="6942" y="5811"/>
                  </a:cubicBezTo>
                  <a:lnTo>
                    <a:pt x="6942" y="4716"/>
                  </a:lnTo>
                  <a:cubicBezTo>
                    <a:pt x="6942" y="4573"/>
                    <a:pt x="7025" y="4418"/>
                    <a:pt x="7180" y="4358"/>
                  </a:cubicBezTo>
                  <a:lnTo>
                    <a:pt x="7716" y="4156"/>
                  </a:lnTo>
                  <a:lnTo>
                    <a:pt x="8383" y="4156"/>
                  </a:lnTo>
                  <a:lnTo>
                    <a:pt x="8918" y="4358"/>
                  </a:lnTo>
                  <a:cubicBezTo>
                    <a:pt x="9061" y="4418"/>
                    <a:pt x="9156" y="4561"/>
                    <a:pt x="9156" y="4716"/>
                  </a:cubicBezTo>
                  <a:lnTo>
                    <a:pt x="9156" y="5811"/>
                  </a:lnTo>
                  <a:cubicBezTo>
                    <a:pt x="9156" y="5894"/>
                    <a:pt x="9228" y="5966"/>
                    <a:pt x="9323" y="5966"/>
                  </a:cubicBezTo>
                  <a:cubicBezTo>
                    <a:pt x="9406" y="5966"/>
                    <a:pt x="9478" y="5894"/>
                    <a:pt x="9478" y="5811"/>
                  </a:cubicBezTo>
                  <a:lnTo>
                    <a:pt x="9478" y="4716"/>
                  </a:lnTo>
                  <a:cubicBezTo>
                    <a:pt x="9418" y="4418"/>
                    <a:pt x="9252" y="4156"/>
                    <a:pt x="8978" y="4049"/>
                  </a:cubicBezTo>
                  <a:lnTo>
                    <a:pt x="8514" y="3870"/>
                  </a:lnTo>
                  <a:lnTo>
                    <a:pt x="8514" y="3704"/>
                  </a:lnTo>
                  <a:cubicBezTo>
                    <a:pt x="8740" y="3537"/>
                    <a:pt x="8895" y="3275"/>
                    <a:pt x="8895" y="2989"/>
                  </a:cubicBezTo>
                  <a:lnTo>
                    <a:pt x="8895" y="2537"/>
                  </a:lnTo>
                  <a:cubicBezTo>
                    <a:pt x="8895" y="2334"/>
                    <a:pt x="8811" y="2156"/>
                    <a:pt x="8680" y="2025"/>
                  </a:cubicBezTo>
                  <a:cubicBezTo>
                    <a:pt x="8549" y="1894"/>
                    <a:pt x="8371" y="1822"/>
                    <a:pt x="8168" y="1822"/>
                  </a:cubicBezTo>
                  <a:lnTo>
                    <a:pt x="7799" y="1822"/>
                  </a:lnTo>
                  <a:cubicBezTo>
                    <a:pt x="7537" y="1822"/>
                    <a:pt x="7311" y="1965"/>
                    <a:pt x="7192" y="2180"/>
                  </a:cubicBezTo>
                  <a:lnTo>
                    <a:pt x="6882" y="2061"/>
                  </a:lnTo>
                  <a:lnTo>
                    <a:pt x="6882" y="1894"/>
                  </a:lnTo>
                  <a:cubicBezTo>
                    <a:pt x="7109" y="1727"/>
                    <a:pt x="7251" y="1465"/>
                    <a:pt x="7251" y="1180"/>
                  </a:cubicBezTo>
                  <a:lnTo>
                    <a:pt x="7251" y="715"/>
                  </a:lnTo>
                  <a:cubicBezTo>
                    <a:pt x="7251" y="525"/>
                    <a:pt x="7180" y="346"/>
                    <a:pt x="7037" y="215"/>
                  </a:cubicBezTo>
                  <a:cubicBezTo>
                    <a:pt x="6906" y="72"/>
                    <a:pt x="6728" y="1"/>
                    <a:pt x="6537" y="1"/>
                  </a:cubicBezTo>
                  <a:lnTo>
                    <a:pt x="6168" y="1"/>
                  </a:lnTo>
                  <a:cubicBezTo>
                    <a:pt x="5763" y="1"/>
                    <a:pt x="5454" y="334"/>
                    <a:pt x="5454" y="715"/>
                  </a:cubicBezTo>
                  <a:lnTo>
                    <a:pt x="5454" y="1180"/>
                  </a:lnTo>
                  <a:cubicBezTo>
                    <a:pt x="5454" y="1465"/>
                    <a:pt x="5585" y="1727"/>
                    <a:pt x="5823" y="1894"/>
                  </a:cubicBezTo>
                  <a:lnTo>
                    <a:pt x="5823" y="2061"/>
                  </a:lnTo>
                  <a:lnTo>
                    <a:pt x="5525" y="2180"/>
                  </a:lnTo>
                  <a:cubicBezTo>
                    <a:pt x="5489" y="2120"/>
                    <a:pt x="5454" y="2072"/>
                    <a:pt x="5406" y="2025"/>
                  </a:cubicBezTo>
                  <a:cubicBezTo>
                    <a:pt x="5275" y="1894"/>
                    <a:pt x="5096" y="1822"/>
                    <a:pt x="4894" y="1822"/>
                  </a:cubicBezTo>
                  <a:lnTo>
                    <a:pt x="4525" y="1822"/>
                  </a:lnTo>
                  <a:cubicBezTo>
                    <a:pt x="4263" y="1822"/>
                    <a:pt x="4037" y="1965"/>
                    <a:pt x="3918" y="2180"/>
                  </a:cubicBezTo>
                  <a:lnTo>
                    <a:pt x="3608" y="2061"/>
                  </a:lnTo>
                  <a:lnTo>
                    <a:pt x="3608" y="1894"/>
                  </a:lnTo>
                  <a:cubicBezTo>
                    <a:pt x="3834" y="1727"/>
                    <a:pt x="3977" y="1465"/>
                    <a:pt x="3977" y="1180"/>
                  </a:cubicBezTo>
                  <a:lnTo>
                    <a:pt x="3977" y="715"/>
                  </a:lnTo>
                  <a:cubicBezTo>
                    <a:pt x="3977" y="525"/>
                    <a:pt x="3906" y="346"/>
                    <a:pt x="3763" y="215"/>
                  </a:cubicBezTo>
                  <a:cubicBezTo>
                    <a:pt x="3632" y="72"/>
                    <a:pt x="3453" y="1"/>
                    <a:pt x="32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0065;p78">
              <a:extLst>
                <a:ext uri="{FF2B5EF4-FFF2-40B4-BE49-F238E27FC236}">
                  <a16:creationId xmlns:a16="http://schemas.microsoft.com/office/drawing/2014/main" id="{D11B433E-3B33-42C3-5D41-5D6EE2626F41}"/>
                </a:ext>
              </a:extLst>
            </p:cNvPr>
            <p:cNvSpPr/>
            <p:nvPr/>
          </p:nvSpPr>
          <p:spPr>
            <a:xfrm>
              <a:off x="5868111" y="2906521"/>
              <a:ext cx="127724" cy="172823"/>
            </a:xfrm>
            <a:custGeom>
              <a:avLst/>
              <a:gdLst/>
              <a:ahLst/>
              <a:cxnLst/>
              <a:rect l="l" t="t" r="r" b="b"/>
              <a:pathLst>
                <a:path w="4013" h="5430" extrusionOk="0">
                  <a:moveTo>
                    <a:pt x="2191" y="334"/>
                  </a:moveTo>
                  <a:cubicBezTo>
                    <a:pt x="2406" y="334"/>
                    <a:pt x="2560" y="501"/>
                    <a:pt x="2560" y="703"/>
                  </a:cubicBezTo>
                  <a:lnTo>
                    <a:pt x="2560" y="1084"/>
                  </a:lnTo>
                  <a:cubicBezTo>
                    <a:pt x="2560" y="1394"/>
                    <a:pt x="2310" y="1644"/>
                    <a:pt x="2001" y="1644"/>
                  </a:cubicBezTo>
                  <a:cubicBezTo>
                    <a:pt x="1691" y="1644"/>
                    <a:pt x="1453" y="1394"/>
                    <a:pt x="1453" y="1084"/>
                  </a:cubicBezTo>
                  <a:lnTo>
                    <a:pt x="1453" y="703"/>
                  </a:lnTo>
                  <a:cubicBezTo>
                    <a:pt x="1453" y="501"/>
                    <a:pt x="1608" y="334"/>
                    <a:pt x="1822" y="334"/>
                  </a:cubicBezTo>
                  <a:close/>
                  <a:moveTo>
                    <a:pt x="2191" y="1953"/>
                  </a:moveTo>
                  <a:lnTo>
                    <a:pt x="2191" y="2060"/>
                  </a:lnTo>
                  <a:cubicBezTo>
                    <a:pt x="2203" y="2120"/>
                    <a:pt x="2227" y="2179"/>
                    <a:pt x="2251" y="2239"/>
                  </a:cubicBezTo>
                  <a:lnTo>
                    <a:pt x="2013" y="2477"/>
                  </a:lnTo>
                  <a:lnTo>
                    <a:pt x="2001" y="2477"/>
                  </a:lnTo>
                  <a:lnTo>
                    <a:pt x="1763" y="2239"/>
                  </a:lnTo>
                  <a:cubicBezTo>
                    <a:pt x="1786" y="2179"/>
                    <a:pt x="1810" y="2120"/>
                    <a:pt x="1810" y="2060"/>
                  </a:cubicBezTo>
                  <a:lnTo>
                    <a:pt x="1810" y="1953"/>
                  </a:lnTo>
                  <a:cubicBezTo>
                    <a:pt x="1870" y="1965"/>
                    <a:pt x="1941" y="1965"/>
                    <a:pt x="2001" y="1965"/>
                  </a:cubicBezTo>
                  <a:cubicBezTo>
                    <a:pt x="2060" y="1965"/>
                    <a:pt x="2132" y="1953"/>
                    <a:pt x="2191" y="1953"/>
                  </a:cubicBezTo>
                  <a:close/>
                  <a:moveTo>
                    <a:pt x="2525" y="2429"/>
                  </a:moveTo>
                  <a:lnTo>
                    <a:pt x="2822" y="2584"/>
                  </a:lnTo>
                  <a:cubicBezTo>
                    <a:pt x="2882" y="2608"/>
                    <a:pt x="2917" y="2680"/>
                    <a:pt x="2917" y="2763"/>
                  </a:cubicBezTo>
                  <a:lnTo>
                    <a:pt x="2917" y="3084"/>
                  </a:lnTo>
                  <a:lnTo>
                    <a:pt x="1072" y="3084"/>
                  </a:lnTo>
                  <a:lnTo>
                    <a:pt x="1072" y="2763"/>
                  </a:lnTo>
                  <a:cubicBezTo>
                    <a:pt x="1072" y="2680"/>
                    <a:pt x="1120" y="2632"/>
                    <a:pt x="1179" y="2584"/>
                  </a:cubicBezTo>
                  <a:lnTo>
                    <a:pt x="1477" y="2429"/>
                  </a:lnTo>
                  <a:lnTo>
                    <a:pt x="1751" y="2703"/>
                  </a:lnTo>
                  <a:cubicBezTo>
                    <a:pt x="1822" y="2775"/>
                    <a:pt x="1905" y="2799"/>
                    <a:pt x="2001" y="2799"/>
                  </a:cubicBezTo>
                  <a:cubicBezTo>
                    <a:pt x="2084" y="2799"/>
                    <a:pt x="2179" y="2775"/>
                    <a:pt x="2251" y="2703"/>
                  </a:cubicBezTo>
                  <a:lnTo>
                    <a:pt x="2525" y="2429"/>
                  </a:lnTo>
                  <a:close/>
                  <a:moveTo>
                    <a:pt x="3560" y="3442"/>
                  </a:moveTo>
                  <a:lnTo>
                    <a:pt x="3370" y="3834"/>
                  </a:lnTo>
                  <a:lnTo>
                    <a:pt x="655" y="3834"/>
                  </a:lnTo>
                  <a:lnTo>
                    <a:pt x="465" y="3442"/>
                  </a:lnTo>
                  <a:close/>
                  <a:moveTo>
                    <a:pt x="1822" y="1"/>
                  </a:moveTo>
                  <a:cubicBezTo>
                    <a:pt x="1417" y="1"/>
                    <a:pt x="1108" y="334"/>
                    <a:pt x="1108" y="715"/>
                  </a:cubicBezTo>
                  <a:lnTo>
                    <a:pt x="1108" y="1096"/>
                  </a:lnTo>
                  <a:cubicBezTo>
                    <a:pt x="1108" y="1394"/>
                    <a:pt x="1251" y="1656"/>
                    <a:pt x="1477" y="1822"/>
                  </a:cubicBezTo>
                  <a:lnTo>
                    <a:pt x="1477" y="2072"/>
                  </a:lnTo>
                  <a:lnTo>
                    <a:pt x="1477" y="2084"/>
                  </a:lnTo>
                  <a:lnTo>
                    <a:pt x="1048" y="2299"/>
                  </a:lnTo>
                  <a:cubicBezTo>
                    <a:pt x="870" y="2382"/>
                    <a:pt x="751" y="2584"/>
                    <a:pt x="751" y="2775"/>
                  </a:cubicBezTo>
                  <a:lnTo>
                    <a:pt x="751" y="3108"/>
                  </a:lnTo>
                  <a:lnTo>
                    <a:pt x="179" y="3108"/>
                  </a:lnTo>
                  <a:cubicBezTo>
                    <a:pt x="120" y="3108"/>
                    <a:pt x="60" y="3132"/>
                    <a:pt x="36" y="3180"/>
                  </a:cubicBezTo>
                  <a:cubicBezTo>
                    <a:pt x="0" y="3227"/>
                    <a:pt x="0" y="3299"/>
                    <a:pt x="24" y="3346"/>
                  </a:cubicBezTo>
                  <a:lnTo>
                    <a:pt x="393" y="4073"/>
                  </a:lnTo>
                  <a:cubicBezTo>
                    <a:pt x="417" y="4132"/>
                    <a:pt x="477" y="4156"/>
                    <a:pt x="536" y="4156"/>
                  </a:cubicBezTo>
                  <a:lnTo>
                    <a:pt x="739" y="4156"/>
                  </a:lnTo>
                  <a:lnTo>
                    <a:pt x="739" y="5263"/>
                  </a:lnTo>
                  <a:cubicBezTo>
                    <a:pt x="739" y="5347"/>
                    <a:pt x="810" y="5430"/>
                    <a:pt x="893" y="5430"/>
                  </a:cubicBezTo>
                  <a:cubicBezTo>
                    <a:pt x="989" y="5430"/>
                    <a:pt x="1060" y="5347"/>
                    <a:pt x="1060" y="5263"/>
                  </a:cubicBezTo>
                  <a:lnTo>
                    <a:pt x="1060" y="4156"/>
                  </a:lnTo>
                  <a:lnTo>
                    <a:pt x="2906" y="4156"/>
                  </a:lnTo>
                  <a:lnTo>
                    <a:pt x="2906" y="5263"/>
                  </a:lnTo>
                  <a:cubicBezTo>
                    <a:pt x="2906" y="5347"/>
                    <a:pt x="2977" y="5430"/>
                    <a:pt x="3072" y="5430"/>
                  </a:cubicBezTo>
                  <a:cubicBezTo>
                    <a:pt x="3156" y="5430"/>
                    <a:pt x="3227" y="5347"/>
                    <a:pt x="3227" y="5263"/>
                  </a:cubicBezTo>
                  <a:lnTo>
                    <a:pt x="3227" y="4156"/>
                  </a:lnTo>
                  <a:lnTo>
                    <a:pt x="3429" y="4156"/>
                  </a:lnTo>
                  <a:cubicBezTo>
                    <a:pt x="3489" y="4156"/>
                    <a:pt x="3549" y="4132"/>
                    <a:pt x="3572" y="4073"/>
                  </a:cubicBezTo>
                  <a:lnTo>
                    <a:pt x="3941" y="3346"/>
                  </a:lnTo>
                  <a:cubicBezTo>
                    <a:pt x="4013" y="3299"/>
                    <a:pt x="4013" y="3227"/>
                    <a:pt x="3977" y="3180"/>
                  </a:cubicBezTo>
                  <a:cubicBezTo>
                    <a:pt x="3953" y="3132"/>
                    <a:pt x="3894" y="3108"/>
                    <a:pt x="3834" y="3108"/>
                  </a:cubicBezTo>
                  <a:lnTo>
                    <a:pt x="3263" y="3108"/>
                  </a:lnTo>
                  <a:lnTo>
                    <a:pt x="3263" y="2775"/>
                  </a:lnTo>
                  <a:cubicBezTo>
                    <a:pt x="3263" y="2572"/>
                    <a:pt x="3144" y="2382"/>
                    <a:pt x="2965" y="2299"/>
                  </a:cubicBezTo>
                  <a:lnTo>
                    <a:pt x="2536" y="2084"/>
                  </a:lnTo>
                  <a:lnTo>
                    <a:pt x="2536" y="2072"/>
                  </a:lnTo>
                  <a:lnTo>
                    <a:pt x="2536" y="1822"/>
                  </a:lnTo>
                  <a:cubicBezTo>
                    <a:pt x="2763" y="1656"/>
                    <a:pt x="2906" y="1394"/>
                    <a:pt x="2906" y="1096"/>
                  </a:cubicBezTo>
                  <a:lnTo>
                    <a:pt x="2906" y="715"/>
                  </a:lnTo>
                  <a:cubicBezTo>
                    <a:pt x="2906" y="322"/>
                    <a:pt x="2572" y="1"/>
                    <a:pt x="21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0066;p78">
              <a:extLst>
                <a:ext uri="{FF2B5EF4-FFF2-40B4-BE49-F238E27FC236}">
                  <a16:creationId xmlns:a16="http://schemas.microsoft.com/office/drawing/2014/main" id="{5F7F95C4-C8D9-8C69-02B7-B643AA328752}"/>
                </a:ext>
              </a:extLst>
            </p:cNvPr>
            <p:cNvSpPr/>
            <p:nvPr/>
          </p:nvSpPr>
          <p:spPr>
            <a:xfrm>
              <a:off x="5915088" y="3051655"/>
              <a:ext cx="34151" cy="10662"/>
            </a:xfrm>
            <a:custGeom>
              <a:avLst/>
              <a:gdLst/>
              <a:ahLst/>
              <a:cxnLst/>
              <a:rect l="l" t="t" r="r" b="b"/>
              <a:pathLst>
                <a:path w="1073" h="335" extrusionOk="0">
                  <a:moveTo>
                    <a:pt x="168" y="1"/>
                  </a:moveTo>
                  <a:cubicBezTo>
                    <a:pt x="72" y="1"/>
                    <a:pt x="1" y="72"/>
                    <a:pt x="1" y="167"/>
                  </a:cubicBezTo>
                  <a:cubicBezTo>
                    <a:pt x="1" y="251"/>
                    <a:pt x="72" y="334"/>
                    <a:pt x="168" y="334"/>
                  </a:cubicBezTo>
                  <a:lnTo>
                    <a:pt x="894" y="334"/>
                  </a:lnTo>
                  <a:cubicBezTo>
                    <a:pt x="989" y="334"/>
                    <a:pt x="1060" y="251"/>
                    <a:pt x="1060" y="167"/>
                  </a:cubicBezTo>
                  <a:cubicBezTo>
                    <a:pt x="1072" y="72"/>
                    <a:pt x="989" y="1"/>
                    <a:pt x="89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0" name="Rectangle 29">
            <a:extLst>
              <a:ext uri="{FF2B5EF4-FFF2-40B4-BE49-F238E27FC236}">
                <a16:creationId xmlns:a16="http://schemas.microsoft.com/office/drawing/2014/main" id="{12BC1452-4A4B-EA09-3C99-CCF5F7CA02B6}"/>
              </a:ext>
            </a:extLst>
          </p:cNvPr>
          <p:cNvSpPr/>
          <p:nvPr/>
        </p:nvSpPr>
        <p:spPr>
          <a:xfrm>
            <a:off x="5752787" y="0"/>
            <a:ext cx="3422753" cy="529747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85" name="Google Shape;385;p38"/>
          <p:cNvSpPr txBox="1"/>
          <p:nvPr/>
        </p:nvSpPr>
        <p:spPr>
          <a:xfrm>
            <a:off x="0" y="516974"/>
            <a:ext cx="3147068" cy="553998"/>
          </a:xfrm>
          <a:prstGeom prst="rect">
            <a:avLst/>
          </a:prstGeom>
          <a:noFill/>
          <a:ln>
            <a:noFill/>
          </a:ln>
        </p:spPr>
        <p:txBody>
          <a:bodyPr spcFirstLastPara="1" wrap="square" lIns="0" tIns="0" rIns="0" bIns="0" anchor="t" anchorCtr="0">
            <a:spAutoFit/>
          </a:bodyPr>
          <a:lstStyle/>
          <a:p>
            <a:pPr marL="0" marR="0" lvl="0" indent="0" algn="ctr" rtl="1">
              <a:lnSpc>
                <a:spcPct val="120000"/>
              </a:lnSpc>
              <a:spcBef>
                <a:spcPts val="0"/>
              </a:spcBef>
              <a:spcAft>
                <a:spcPts val="0"/>
              </a:spcAft>
              <a:buNone/>
            </a:pPr>
            <a:r>
              <a:rPr lang="fa-IR" sz="3000" b="1" i="0" u="none" strike="noStrike" cap="none" dirty="0">
                <a:solidFill>
                  <a:schemeClr val="bg1"/>
                </a:solidFill>
                <a:latin typeface="Open Sans"/>
                <a:ea typeface="Open Sans"/>
                <a:cs typeface="B Nazanin" panose="00000700000000000000" pitchFamily="2" charset="-78"/>
                <a:sym typeface="Open Sans"/>
              </a:rPr>
              <a:t>مناقصات</a:t>
            </a:r>
            <a:endParaRPr sz="700" b="1" dirty="0">
              <a:solidFill>
                <a:schemeClr val="bg1"/>
              </a:solidFill>
              <a:latin typeface="Open Sans"/>
              <a:ea typeface="Open Sans"/>
              <a:cs typeface="B Nazanin" panose="00000700000000000000" pitchFamily="2" charset="-78"/>
              <a:sym typeface="Open Sans"/>
            </a:endParaRPr>
          </a:p>
        </p:txBody>
      </p:sp>
      <p:cxnSp>
        <p:nvCxnSpPr>
          <p:cNvPr id="398" name="Google Shape;398;p38"/>
          <p:cNvCxnSpPr/>
          <p:nvPr/>
        </p:nvCxnSpPr>
        <p:spPr>
          <a:xfrm rot="5400000">
            <a:off x="-1301222" y="965264"/>
            <a:ext cx="3626382" cy="0"/>
          </a:xfrm>
          <a:prstGeom prst="straightConnector1">
            <a:avLst/>
          </a:prstGeom>
          <a:noFill/>
          <a:ln w="9525" cap="flat" cmpd="sng">
            <a:solidFill>
              <a:srgbClr val="000000"/>
            </a:solidFill>
            <a:prstDash val="solid"/>
            <a:round/>
            <a:headEnd type="none" w="sm" len="sm"/>
            <a:tailEnd type="none" w="sm" len="sm"/>
          </a:ln>
        </p:spPr>
      </p:cxnSp>
      <p:grpSp>
        <p:nvGrpSpPr>
          <p:cNvPr id="400" name="Google Shape;400;p38"/>
          <p:cNvGrpSpPr/>
          <p:nvPr/>
        </p:nvGrpSpPr>
        <p:grpSpPr>
          <a:xfrm>
            <a:off x="8837359" y="-72330"/>
            <a:ext cx="1543051" cy="5808473"/>
            <a:chOff x="0" y="-38100"/>
            <a:chExt cx="812800" cy="3059607"/>
          </a:xfrm>
        </p:grpSpPr>
        <p:sp>
          <p:nvSpPr>
            <p:cNvPr id="401" name="Google Shape;401;p38"/>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402" name="Google Shape;402;p38"/>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403" name="Google Shape;403;p38"/>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000000"/>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grpSp>
        <p:nvGrpSpPr>
          <p:cNvPr id="26" name="Google Shape;10063;p78">
            <a:extLst>
              <a:ext uri="{FF2B5EF4-FFF2-40B4-BE49-F238E27FC236}">
                <a16:creationId xmlns:a16="http://schemas.microsoft.com/office/drawing/2014/main" id="{A54CFD79-6791-91CE-0C93-A7ABC733F54E}"/>
              </a:ext>
            </a:extLst>
          </p:cNvPr>
          <p:cNvGrpSpPr/>
          <p:nvPr/>
        </p:nvGrpSpPr>
        <p:grpSpPr>
          <a:xfrm>
            <a:off x="8252501" y="109009"/>
            <a:ext cx="808545" cy="994430"/>
            <a:chOff x="5782845" y="2906521"/>
            <a:chExt cx="301661" cy="371013"/>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grpSpPr>
        <p:sp>
          <p:nvSpPr>
            <p:cNvPr id="27" name="Google Shape;10064;p78">
              <a:extLst>
                <a:ext uri="{FF2B5EF4-FFF2-40B4-BE49-F238E27FC236}">
                  <a16:creationId xmlns:a16="http://schemas.microsoft.com/office/drawing/2014/main" id="{31C18703-E024-1009-BC1B-1EE03B517C1B}"/>
                </a:ext>
              </a:extLst>
            </p:cNvPr>
            <p:cNvSpPr/>
            <p:nvPr/>
          </p:nvSpPr>
          <p:spPr>
            <a:xfrm>
              <a:off x="5782845" y="3087651"/>
              <a:ext cx="301661" cy="189883"/>
            </a:xfrm>
            <a:custGeom>
              <a:avLst/>
              <a:gdLst/>
              <a:ahLst/>
              <a:cxnLst/>
              <a:rect l="l" t="t" r="r" b="b"/>
              <a:pathLst>
                <a:path w="9478" h="5966" extrusionOk="0">
                  <a:moveTo>
                    <a:pt x="3215" y="322"/>
                  </a:moveTo>
                  <a:cubicBezTo>
                    <a:pt x="3322" y="322"/>
                    <a:pt x="3418" y="370"/>
                    <a:pt x="3489" y="429"/>
                  </a:cubicBezTo>
                  <a:cubicBezTo>
                    <a:pt x="3561" y="513"/>
                    <a:pt x="3596" y="596"/>
                    <a:pt x="3596" y="703"/>
                  </a:cubicBezTo>
                  <a:lnTo>
                    <a:pt x="3596" y="1156"/>
                  </a:lnTo>
                  <a:cubicBezTo>
                    <a:pt x="3608" y="1358"/>
                    <a:pt x="3501" y="1537"/>
                    <a:pt x="3322" y="1644"/>
                  </a:cubicBezTo>
                  <a:cubicBezTo>
                    <a:pt x="3263" y="1668"/>
                    <a:pt x="3239" y="1727"/>
                    <a:pt x="3239" y="1787"/>
                  </a:cubicBezTo>
                  <a:lnTo>
                    <a:pt x="3239" y="1977"/>
                  </a:lnTo>
                  <a:lnTo>
                    <a:pt x="2846" y="1977"/>
                  </a:lnTo>
                  <a:lnTo>
                    <a:pt x="2846" y="1787"/>
                  </a:lnTo>
                  <a:cubicBezTo>
                    <a:pt x="2846" y="1727"/>
                    <a:pt x="2822" y="1668"/>
                    <a:pt x="2763" y="1644"/>
                  </a:cubicBezTo>
                  <a:cubicBezTo>
                    <a:pt x="2584" y="1537"/>
                    <a:pt x="2477" y="1358"/>
                    <a:pt x="2477" y="1156"/>
                  </a:cubicBezTo>
                  <a:lnTo>
                    <a:pt x="2477" y="703"/>
                  </a:lnTo>
                  <a:cubicBezTo>
                    <a:pt x="2477" y="489"/>
                    <a:pt x="2644" y="322"/>
                    <a:pt x="2846" y="322"/>
                  </a:cubicBezTo>
                  <a:close/>
                  <a:moveTo>
                    <a:pt x="6513" y="322"/>
                  </a:moveTo>
                  <a:cubicBezTo>
                    <a:pt x="6609" y="322"/>
                    <a:pt x="6704" y="370"/>
                    <a:pt x="6775" y="429"/>
                  </a:cubicBezTo>
                  <a:cubicBezTo>
                    <a:pt x="6847" y="513"/>
                    <a:pt x="6882" y="596"/>
                    <a:pt x="6882" y="703"/>
                  </a:cubicBezTo>
                  <a:lnTo>
                    <a:pt x="6882" y="1156"/>
                  </a:lnTo>
                  <a:cubicBezTo>
                    <a:pt x="6894" y="1358"/>
                    <a:pt x="6787" y="1537"/>
                    <a:pt x="6609" y="1644"/>
                  </a:cubicBezTo>
                  <a:cubicBezTo>
                    <a:pt x="6549" y="1668"/>
                    <a:pt x="6525" y="1727"/>
                    <a:pt x="6525" y="1787"/>
                  </a:cubicBezTo>
                  <a:lnTo>
                    <a:pt x="6525" y="1977"/>
                  </a:lnTo>
                  <a:lnTo>
                    <a:pt x="6132" y="1977"/>
                  </a:lnTo>
                  <a:lnTo>
                    <a:pt x="6132" y="1787"/>
                  </a:lnTo>
                  <a:cubicBezTo>
                    <a:pt x="6132" y="1727"/>
                    <a:pt x="6108" y="1668"/>
                    <a:pt x="6049" y="1644"/>
                  </a:cubicBezTo>
                  <a:cubicBezTo>
                    <a:pt x="5870" y="1537"/>
                    <a:pt x="5763" y="1358"/>
                    <a:pt x="5763" y="1156"/>
                  </a:cubicBezTo>
                  <a:lnTo>
                    <a:pt x="5763" y="703"/>
                  </a:lnTo>
                  <a:cubicBezTo>
                    <a:pt x="5763" y="489"/>
                    <a:pt x="5930" y="322"/>
                    <a:pt x="6132" y="322"/>
                  </a:cubicBezTo>
                  <a:close/>
                  <a:moveTo>
                    <a:pt x="1572" y="2144"/>
                  </a:moveTo>
                  <a:cubicBezTo>
                    <a:pt x="1667" y="2144"/>
                    <a:pt x="1763" y="2192"/>
                    <a:pt x="1834" y="2251"/>
                  </a:cubicBezTo>
                  <a:cubicBezTo>
                    <a:pt x="1906" y="2323"/>
                    <a:pt x="1941" y="2418"/>
                    <a:pt x="1941" y="2513"/>
                  </a:cubicBezTo>
                  <a:lnTo>
                    <a:pt x="1941" y="2977"/>
                  </a:lnTo>
                  <a:lnTo>
                    <a:pt x="1953" y="2977"/>
                  </a:lnTo>
                  <a:cubicBezTo>
                    <a:pt x="1953" y="3168"/>
                    <a:pt x="1846" y="3370"/>
                    <a:pt x="1667" y="3454"/>
                  </a:cubicBezTo>
                  <a:cubicBezTo>
                    <a:pt x="1608" y="3489"/>
                    <a:pt x="1584" y="3549"/>
                    <a:pt x="1584" y="3608"/>
                  </a:cubicBezTo>
                  <a:lnTo>
                    <a:pt x="1584" y="3799"/>
                  </a:lnTo>
                  <a:lnTo>
                    <a:pt x="1191" y="3799"/>
                  </a:lnTo>
                  <a:lnTo>
                    <a:pt x="1191" y="3608"/>
                  </a:lnTo>
                  <a:cubicBezTo>
                    <a:pt x="1191" y="3549"/>
                    <a:pt x="1167" y="3489"/>
                    <a:pt x="1108" y="3454"/>
                  </a:cubicBezTo>
                  <a:cubicBezTo>
                    <a:pt x="929" y="3346"/>
                    <a:pt x="822" y="3168"/>
                    <a:pt x="822" y="2977"/>
                  </a:cubicBezTo>
                  <a:lnTo>
                    <a:pt x="822" y="2513"/>
                  </a:lnTo>
                  <a:cubicBezTo>
                    <a:pt x="822" y="2311"/>
                    <a:pt x="989" y="2144"/>
                    <a:pt x="1191" y="2144"/>
                  </a:cubicBezTo>
                  <a:close/>
                  <a:moveTo>
                    <a:pt x="4858" y="2144"/>
                  </a:moveTo>
                  <a:cubicBezTo>
                    <a:pt x="4965" y="2144"/>
                    <a:pt x="5049" y="2192"/>
                    <a:pt x="5120" y="2251"/>
                  </a:cubicBezTo>
                  <a:cubicBezTo>
                    <a:pt x="5204" y="2323"/>
                    <a:pt x="5227" y="2418"/>
                    <a:pt x="5227" y="2513"/>
                  </a:cubicBezTo>
                  <a:lnTo>
                    <a:pt x="5227" y="2977"/>
                  </a:lnTo>
                  <a:cubicBezTo>
                    <a:pt x="5239" y="3168"/>
                    <a:pt x="5144" y="3370"/>
                    <a:pt x="4954" y="3454"/>
                  </a:cubicBezTo>
                  <a:cubicBezTo>
                    <a:pt x="4894" y="3489"/>
                    <a:pt x="4870" y="3549"/>
                    <a:pt x="4870" y="3608"/>
                  </a:cubicBezTo>
                  <a:lnTo>
                    <a:pt x="4870" y="3799"/>
                  </a:lnTo>
                  <a:lnTo>
                    <a:pt x="4489" y="3799"/>
                  </a:lnTo>
                  <a:lnTo>
                    <a:pt x="4489" y="3608"/>
                  </a:lnTo>
                  <a:cubicBezTo>
                    <a:pt x="4489" y="3549"/>
                    <a:pt x="4453" y="3489"/>
                    <a:pt x="4394" y="3454"/>
                  </a:cubicBezTo>
                  <a:cubicBezTo>
                    <a:pt x="4215" y="3346"/>
                    <a:pt x="4108" y="3168"/>
                    <a:pt x="4108" y="2977"/>
                  </a:cubicBezTo>
                  <a:lnTo>
                    <a:pt x="4108" y="2513"/>
                  </a:lnTo>
                  <a:cubicBezTo>
                    <a:pt x="4108" y="2311"/>
                    <a:pt x="4275" y="2144"/>
                    <a:pt x="4489" y="2144"/>
                  </a:cubicBezTo>
                  <a:close/>
                  <a:moveTo>
                    <a:pt x="8144" y="2144"/>
                  </a:moveTo>
                  <a:cubicBezTo>
                    <a:pt x="8252" y="2144"/>
                    <a:pt x="8335" y="2192"/>
                    <a:pt x="8418" y="2251"/>
                  </a:cubicBezTo>
                  <a:cubicBezTo>
                    <a:pt x="8490" y="2323"/>
                    <a:pt x="8514" y="2418"/>
                    <a:pt x="8514" y="2513"/>
                  </a:cubicBezTo>
                  <a:lnTo>
                    <a:pt x="8514" y="2977"/>
                  </a:lnTo>
                  <a:cubicBezTo>
                    <a:pt x="8525" y="3168"/>
                    <a:pt x="8430" y="3370"/>
                    <a:pt x="8252" y="3454"/>
                  </a:cubicBezTo>
                  <a:cubicBezTo>
                    <a:pt x="8192" y="3489"/>
                    <a:pt x="8156" y="3549"/>
                    <a:pt x="8156" y="3608"/>
                  </a:cubicBezTo>
                  <a:lnTo>
                    <a:pt x="8156" y="3799"/>
                  </a:lnTo>
                  <a:lnTo>
                    <a:pt x="7775" y="3799"/>
                  </a:lnTo>
                  <a:lnTo>
                    <a:pt x="7775" y="3608"/>
                  </a:lnTo>
                  <a:cubicBezTo>
                    <a:pt x="7775" y="3549"/>
                    <a:pt x="7740" y="3489"/>
                    <a:pt x="7680" y="3454"/>
                  </a:cubicBezTo>
                  <a:cubicBezTo>
                    <a:pt x="7501" y="3346"/>
                    <a:pt x="7406" y="3168"/>
                    <a:pt x="7406" y="2977"/>
                  </a:cubicBezTo>
                  <a:lnTo>
                    <a:pt x="7406" y="2513"/>
                  </a:lnTo>
                  <a:cubicBezTo>
                    <a:pt x="7406" y="2311"/>
                    <a:pt x="7561" y="2144"/>
                    <a:pt x="7775" y="2144"/>
                  </a:cubicBezTo>
                  <a:close/>
                  <a:moveTo>
                    <a:pt x="2894" y="1"/>
                  </a:moveTo>
                  <a:cubicBezTo>
                    <a:pt x="2489" y="1"/>
                    <a:pt x="2179" y="334"/>
                    <a:pt x="2179" y="715"/>
                  </a:cubicBezTo>
                  <a:lnTo>
                    <a:pt x="2179" y="1180"/>
                  </a:lnTo>
                  <a:cubicBezTo>
                    <a:pt x="2179" y="1465"/>
                    <a:pt x="2310" y="1727"/>
                    <a:pt x="2548" y="1894"/>
                  </a:cubicBezTo>
                  <a:lnTo>
                    <a:pt x="2548" y="2061"/>
                  </a:lnTo>
                  <a:lnTo>
                    <a:pt x="2251" y="2180"/>
                  </a:lnTo>
                  <a:cubicBezTo>
                    <a:pt x="2215" y="2120"/>
                    <a:pt x="2179" y="2072"/>
                    <a:pt x="2132" y="2025"/>
                  </a:cubicBezTo>
                  <a:cubicBezTo>
                    <a:pt x="2001" y="1894"/>
                    <a:pt x="1822" y="1822"/>
                    <a:pt x="1620" y="1822"/>
                  </a:cubicBezTo>
                  <a:lnTo>
                    <a:pt x="1251" y="1822"/>
                  </a:lnTo>
                  <a:cubicBezTo>
                    <a:pt x="846" y="1822"/>
                    <a:pt x="536" y="2144"/>
                    <a:pt x="536" y="2537"/>
                  </a:cubicBezTo>
                  <a:lnTo>
                    <a:pt x="536" y="2989"/>
                  </a:lnTo>
                  <a:cubicBezTo>
                    <a:pt x="536" y="3275"/>
                    <a:pt x="679" y="3549"/>
                    <a:pt x="905" y="3704"/>
                  </a:cubicBezTo>
                  <a:lnTo>
                    <a:pt x="905" y="3870"/>
                  </a:lnTo>
                  <a:lnTo>
                    <a:pt x="453" y="4049"/>
                  </a:lnTo>
                  <a:cubicBezTo>
                    <a:pt x="179" y="4156"/>
                    <a:pt x="1" y="4418"/>
                    <a:pt x="1" y="4716"/>
                  </a:cubicBezTo>
                  <a:lnTo>
                    <a:pt x="1" y="5811"/>
                  </a:lnTo>
                  <a:cubicBezTo>
                    <a:pt x="1" y="5894"/>
                    <a:pt x="84" y="5966"/>
                    <a:pt x="167" y="5966"/>
                  </a:cubicBezTo>
                  <a:cubicBezTo>
                    <a:pt x="251" y="5966"/>
                    <a:pt x="334" y="5894"/>
                    <a:pt x="334" y="5811"/>
                  </a:cubicBezTo>
                  <a:lnTo>
                    <a:pt x="334" y="4716"/>
                  </a:lnTo>
                  <a:cubicBezTo>
                    <a:pt x="334" y="4573"/>
                    <a:pt x="417" y="4418"/>
                    <a:pt x="572" y="4358"/>
                  </a:cubicBezTo>
                  <a:lnTo>
                    <a:pt x="1108" y="4156"/>
                  </a:lnTo>
                  <a:lnTo>
                    <a:pt x="1775" y="4156"/>
                  </a:lnTo>
                  <a:lnTo>
                    <a:pt x="2310" y="4358"/>
                  </a:lnTo>
                  <a:cubicBezTo>
                    <a:pt x="2453" y="4418"/>
                    <a:pt x="2548" y="4561"/>
                    <a:pt x="2548" y="4716"/>
                  </a:cubicBezTo>
                  <a:lnTo>
                    <a:pt x="2548" y="5811"/>
                  </a:lnTo>
                  <a:cubicBezTo>
                    <a:pt x="2548" y="5894"/>
                    <a:pt x="2620" y="5966"/>
                    <a:pt x="2715" y="5966"/>
                  </a:cubicBezTo>
                  <a:cubicBezTo>
                    <a:pt x="2799" y="5966"/>
                    <a:pt x="2870" y="5894"/>
                    <a:pt x="2870" y="5811"/>
                  </a:cubicBezTo>
                  <a:lnTo>
                    <a:pt x="2870" y="4716"/>
                  </a:lnTo>
                  <a:cubicBezTo>
                    <a:pt x="2870" y="4418"/>
                    <a:pt x="2691" y="4168"/>
                    <a:pt x="2429" y="4049"/>
                  </a:cubicBezTo>
                  <a:lnTo>
                    <a:pt x="1965" y="3870"/>
                  </a:lnTo>
                  <a:lnTo>
                    <a:pt x="1965" y="3704"/>
                  </a:lnTo>
                  <a:cubicBezTo>
                    <a:pt x="2191" y="3537"/>
                    <a:pt x="2334" y="3275"/>
                    <a:pt x="2334" y="2989"/>
                  </a:cubicBezTo>
                  <a:lnTo>
                    <a:pt x="2334" y="2537"/>
                  </a:lnTo>
                  <a:lnTo>
                    <a:pt x="2334" y="2501"/>
                  </a:lnTo>
                  <a:lnTo>
                    <a:pt x="2751" y="2334"/>
                  </a:lnTo>
                  <a:lnTo>
                    <a:pt x="3430" y="2334"/>
                  </a:lnTo>
                  <a:lnTo>
                    <a:pt x="3846" y="2501"/>
                  </a:lnTo>
                  <a:lnTo>
                    <a:pt x="3846" y="2537"/>
                  </a:lnTo>
                  <a:lnTo>
                    <a:pt x="3846" y="2989"/>
                  </a:lnTo>
                  <a:cubicBezTo>
                    <a:pt x="3846" y="3275"/>
                    <a:pt x="3977" y="3549"/>
                    <a:pt x="4215" y="3704"/>
                  </a:cubicBezTo>
                  <a:lnTo>
                    <a:pt x="4215" y="3870"/>
                  </a:lnTo>
                  <a:lnTo>
                    <a:pt x="3751" y="4049"/>
                  </a:lnTo>
                  <a:cubicBezTo>
                    <a:pt x="3489" y="4156"/>
                    <a:pt x="3310" y="4418"/>
                    <a:pt x="3310" y="4716"/>
                  </a:cubicBezTo>
                  <a:lnTo>
                    <a:pt x="3310" y="5811"/>
                  </a:lnTo>
                  <a:cubicBezTo>
                    <a:pt x="3310" y="5894"/>
                    <a:pt x="3382" y="5966"/>
                    <a:pt x="3465" y="5966"/>
                  </a:cubicBezTo>
                  <a:cubicBezTo>
                    <a:pt x="3561" y="5966"/>
                    <a:pt x="3632" y="5894"/>
                    <a:pt x="3632" y="5811"/>
                  </a:cubicBezTo>
                  <a:lnTo>
                    <a:pt x="3632" y="4716"/>
                  </a:lnTo>
                  <a:cubicBezTo>
                    <a:pt x="3632" y="4573"/>
                    <a:pt x="3727" y="4418"/>
                    <a:pt x="3870" y="4358"/>
                  </a:cubicBezTo>
                  <a:lnTo>
                    <a:pt x="4406" y="4156"/>
                  </a:lnTo>
                  <a:lnTo>
                    <a:pt x="5073" y="4156"/>
                  </a:lnTo>
                  <a:lnTo>
                    <a:pt x="5608" y="4358"/>
                  </a:lnTo>
                  <a:cubicBezTo>
                    <a:pt x="5763" y="4418"/>
                    <a:pt x="5847" y="4561"/>
                    <a:pt x="5847" y="4716"/>
                  </a:cubicBezTo>
                  <a:lnTo>
                    <a:pt x="5847" y="5811"/>
                  </a:lnTo>
                  <a:cubicBezTo>
                    <a:pt x="5847" y="5894"/>
                    <a:pt x="5930" y="5966"/>
                    <a:pt x="6013" y="5966"/>
                  </a:cubicBezTo>
                  <a:cubicBezTo>
                    <a:pt x="6108" y="5966"/>
                    <a:pt x="6180" y="5894"/>
                    <a:pt x="6180" y="5811"/>
                  </a:cubicBezTo>
                  <a:lnTo>
                    <a:pt x="6180" y="4716"/>
                  </a:lnTo>
                  <a:cubicBezTo>
                    <a:pt x="6180" y="4418"/>
                    <a:pt x="6001" y="4168"/>
                    <a:pt x="5727" y="4049"/>
                  </a:cubicBezTo>
                  <a:lnTo>
                    <a:pt x="5275" y="3870"/>
                  </a:lnTo>
                  <a:lnTo>
                    <a:pt x="5275" y="3704"/>
                  </a:lnTo>
                  <a:cubicBezTo>
                    <a:pt x="5489" y="3537"/>
                    <a:pt x="5644" y="3275"/>
                    <a:pt x="5644" y="2989"/>
                  </a:cubicBezTo>
                  <a:lnTo>
                    <a:pt x="5644" y="2537"/>
                  </a:lnTo>
                  <a:lnTo>
                    <a:pt x="5644" y="2501"/>
                  </a:lnTo>
                  <a:lnTo>
                    <a:pt x="6061" y="2334"/>
                  </a:lnTo>
                  <a:lnTo>
                    <a:pt x="6728" y="2334"/>
                  </a:lnTo>
                  <a:lnTo>
                    <a:pt x="7144" y="2501"/>
                  </a:lnTo>
                  <a:lnTo>
                    <a:pt x="7144" y="2537"/>
                  </a:lnTo>
                  <a:lnTo>
                    <a:pt x="7144" y="2989"/>
                  </a:lnTo>
                  <a:cubicBezTo>
                    <a:pt x="7144" y="3275"/>
                    <a:pt x="7275" y="3549"/>
                    <a:pt x="7513" y="3704"/>
                  </a:cubicBezTo>
                  <a:lnTo>
                    <a:pt x="7513" y="3870"/>
                  </a:lnTo>
                  <a:lnTo>
                    <a:pt x="7061" y="4049"/>
                  </a:lnTo>
                  <a:cubicBezTo>
                    <a:pt x="6787" y="4156"/>
                    <a:pt x="6609" y="4418"/>
                    <a:pt x="6609" y="4716"/>
                  </a:cubicBezTo>
                  <a:lnTo>
                    <a:pt x="6609" y="5811"/>
                  </a:lnTo>
                  <a:cubicBezTo>
                    <a:pt x="6609" y="5894"/>
                    <a:pt x="6680" y="5966"/>
                    <a:pt x="6775" y="5966"/>
                  </a:cubicBezTo>
                  <a:cubicBezTo>
                    <a:pt x="6859" y="5966"/>
                    <a:pt x="6942" y="5894"/>
                    <a:pt x="6942" y="5811"/>
                  </a:cubicBezTo>
                  <a:lnTo>
                    <a:pt x="6942" y="4716"/>
                  </a:lnTo>
                  <a:cubicBezTo>
                    <a:pt x="6942" y="4573"/>
                    <a:pt x="7025" y="4418"/>
                    <a:pt x="7180" y="4358"/>
                  </a:cubicBezTo>
                  <a:lnTo>
                    <a:pt x="7716" y="4156"/>
                  </a:lnTo>
                  <a:lnTo>
                    <a:pt x="8383" y="4156"/>
                  </a:lnTo>
                  <a:lnTo>
                    <a:pt x="8918" y="4358"/>
                  </a:lnTo>
                  <a:cubicBezTo>
                    <a:pt x="9061" y="4418"/>
                    <a:pt x="9156" y="4561"/>
                    <a:pt x="9156" y="4716"/>
                  </a:cubicBezTo>
                  <a:lnTo>
                    <a:pt x="9156" y="5811"/>
                  </a:lnTo>
                  <a:cubicBezTo>
                    <a:pt x="9156" y="5894"/>
                    <a:pt x="9228" y="5966"/>
                    <a:pt x="9323" y="5966"/>
                  </a:cubicBezTo>
                  <a:cubicBezTo>
                    <a:pt x="9406" y="5966"/>
                    <a:pt x="9478" y="5894"/>
                    <a:pt x="9478" y="5811"/>
                  </a:cubicBezTo>
                  <a:lnTo>
                    <a:pt x="9478" y="4716"/>
                  </a:lnTo>
                  <a:cubicBezTo>
                    <a:pt x="9418" y="4418"/>
                    <a:pt x="9252" y="4156"/>
                    <a:pt x="8978" y="4049"/>
                  </a:cubicBezTo>
                  <a:lnTo>
                    <a:pt x="8514" y="3870"/>
                  </a:lnTo>
                  <a:lnTo>
                    <a:pt x="8514" y="3704"/>
                  </a:lnTo>
                  <a:cubicBezTo>
                    <a:pt x="8740" y="3537"/>
                    <a:pt x="8895" y="3275"/>
                    <a:pt x="8895" y="2989"/>
                  </a:cubicBezTo>
                  <a:lnTo>
                    <a:pt x="8895" y="2537"/>
                  </a:lnTo>
                  <a:cubicBezTo>
                    <a:pt x="8895" y="2334"/>
                    <a:pt x="8811" y="2156"/>
                    <a:pt x="8680" y="2025"/>
                  </a:cubicBezTo>
                  <a:cubicBezTo>
                    <a:pt x="8549" y="1894"/>
                    <a:pt x="8371" y="1822"/>
                    <a:pt x="8168" y="1822"/>
                  </a:cubicBezTo>
                  <a:lnTo>
                    <a:pt x="7799" y="1822"/>
                  </a:lnTo>
                  <a:cubicBezTo>
                    <a:pt x="7537" y="1822"/>
                    <a:pt x="7311" y="1965"/>
                    <a:pt x="7192" y="2180"/>
                  </a:cubicBezTo>
                  <a:lnTo>
                    <a:pt x="6882" y="2061"/>
                  </a:lnTo>
                  <a:lnTo>
                    <a:pt x="6882" y="1894"/>
                  </a:lnTo>
                  <a:cubicBezTo>
                    <a:pt x="7109" y="1727"/>
                    <a:pt x="7251" y="1465"/>
                    <a:pt x="7251" y="1180"/>
                  </a:cubicBezTo>
                  <a:lnTo>
                    <a:pt x="7251" y="715"/>
                  </a:lnTo>
                  <a:cubicBezTo>
                    <a:pt x="7251" y="525"/>
                    <a:pt x="7180" y="346"/>
                    <a:pt x="7037" y="215"/>
                  </a:cubicBezTo>
                  <a:cubicBezTo>
                    <a:pt x="6906" y="72"/>
                    <a:pt x="6728" y="1"/>
                    <a:pt x="6537" y="1"/>
                  </a:cubicBezTo>
                  <a:lnTo>
                    <a:pt x="6168" y="1"/>
                  </a:lnTo>
                  <a:cubicBezTo>
                    <a:pt x="5763" y="1"/>
                    <a:pt x="5454" y="334"/>
                    <a:pt x="5454" y="715"/>
                  </a:cubicBezTo>
                  <a:lnTo>
                    <a:pt x="5454" y="1180"/>
                  </a:lnTo>
                  <a:cubicBezTo>
                    <a:pt x="5454" y="1465"/>
                    <a:pt x="5585" y="1727"/>
                    <a:pt x="5823" y="1894"/>
                  </a:cubicBezTo>
                  <a:lnTo>
                    <a:pt x="5823" y="2061"/>
                  </a:lnTo>
                  <a:lnTo>
                    <a:pt x="5525" y="2180"/>
                  </a:lnTo>
                  <a:cubicBezTo>
                    <a:pt x="5489" y="2120"/>
                    <a:pt x="5454" y="2072"/>
                    <a:pt x="5406" y="2025"/>
                  </a:cubicBezTo>
                  <a:cubicBezTo>
                    <a:pt x="5275" y="1894"/>
                    <a:pt x="5096" y="1822"/>
                    <a:pt x="4894" y="1822"/>
                  </a:cubicBezTo>
                  <a:lnTo>
                    <a:pt x="4525" y="1822"/>
                  </a:lnTo>
                  <a:cubicBezTo>
                    <a:pt x="4263" y="1822"/>
                    <a:pt x="4037" y="1965"/>
                    <a:pt x="3918" y="2180"/>
                  </a:cubicBezTo>
                  <a:lnTo>
                    <a:pt x="3608" y="2061"/>
                  </a:lnTo>
                  <a:lnTo>
                    <a:pt x="3608" y="1894"/>
                  </a:lnTo>
                  <a:cubicBezTo>
                    <a:pt x="3834" y="1727"/>
                    <a:pt x="3977" y="1465"/>
                    <a:pt x="3977" y="1180"/>
                  </a:cubicBezTo>
                  <a:lnTo>
                    <a:pt x="3977" y="715"/>
                  </a:lnTo>
                  <a:cubicBezTo>
                    <a:pt x="3977" y="525"/>
                    <a:pt x="3906" y="346"/>
                    <a:pt x="3763" y="215"/>
                  </a:cubicBezTo>
                  <a:cubicBezTo>
                    <a:pt x="3632" y="72"/>
                    <a:pt x="3453" y="1"/>
                    <a:pt x="32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0065;p78">
              <a:extLst>
                <a:ext uri="{FF2B5EF4-FFF2-40B4-BE49-F238E27FC236}">
                  <a16:creationId xmlns:a16="http://schemas.microsoft.com/office/drawing/2014/main" id="{D11B433E-3B33-42C3-5D41-5D6EE2626F41}"/>
                </a:ext>
              </a:extLst>
            </p:cNvPr>
            <p:cNvSpPr/>
            <p:nvPr/>
          </p:nvSpPr>
          <p:spPr>
            <a:xfrm>
              <a:off x="5868111" y="2906521"/>
              <a:ext cx="127724" cy="172823"/>
            </a:xfrm>
            <a:custGeom>
              <a:avLst/>
              <a:gdLst/>
              <a:ahLst/>
              <a:cxnLst/>
              <a:rect l="l" t="t" r="r" b="b"/>
              <a:pathLst>
                <a:path w="4013" h="5430" extrusionOk="0">
                  <a:moveTo>
                    <a:pt x="2191" y="334"/>
                  </a:moveTo>
                  <a:cubicBezTo>
                    <a:pt x="2406" y="334"/>
                    <a:pt x="2560" y="501"/>
                    <a:pt x="2560" y="703"/>
                  </a:cubicBezTo>
                  <a:lnTo>
                    <a:pt x="2560" y="1084"/>
                  </a:lnTo>
                  <a:cubicBezTo>
                    <a:pt x="2560" y="1394"/>
                    <a:pt x="2310" y="1644"/>
                    <a:pt x="2001" y="1644"/>
                  </a:cubicBezTo>
                  <a:cubicBezTo>
                    <a:pt x="1691" y="1644"/>
                    <a:pt x="1453" y="1394"/>
                    <a:pt x="1453" y="1084"/>
                  </a:cubicBezTo>
                  <a:lnTo>
                    <a:pt x="1453" y="703"/>
                  </a:lnTo>
                  <a:cubicBezTo>
                    <a:pt x="1453" y="501"/>
                    <a:pt x="1608" y="334"/>
                    <a:pt x="1822" y="334"/>
                  </a:cubicBezTo>
                  <a:close/>
                  <a:moveTo>
                    <a:pt x="2191" y="1953"/>
                  </a:moveTo>
                  <a:lnTo>
                    <a:pt x="2191" y="2060"/>
                  </a:lnTo>
                  <a:cubicBezTo>
                    <a:pt x="2203" y="2120"/>
                    <a:pt x="2227" y="2179"/>
                    <a:pt x="2251" y="2239"/>
                  </a:cubicBezTo>
                  <a:lnTo>
                    <a:pt x="2013" y="2477"/>
                  </a:lnTo>
                  <a:lnTo>
                    <a:pt x="2001" y="2477"/>
                  </a:lnTo>
                  <a:lnTo>
                    <a:pt x="1763" y="2239"/>
                  </a:lnTo>
                  <a:cubicBezTo>
                    <a:pt x="1786" y="2179"/>
                    <a:pt x="1810" y="2120"/>
                    <a:pt x="1810" y="2060"/>
                  </a:cubicBezTo>
                  <a:lnTo>
                    <a:pt x="1810" y="1953"/>
                  </a:lnTo>
                  <a:cubicBezTo>
                    <a:pt x="1870" y="1965"/>
                    <a:pt x="1941" y="1965"/>
                    <a:pt x="2001" y="1965"/>
                  </a:cubicBezTo>
                  <a:cubicBezTo>
                    <a:pt x="2060" y="1965"/>
                    <a:pt x="2132" y="1953"/>
                    <a:pt x="2191" y="1953"/>
                  </a:cubicBezTo>
                  <a:close/>
                  <a:moveTo>
                    <a:pt x="2525" y="2429"/>
                  </a:moveTo>
                  <a:lnTo>
                    <a:pt x="2822" y="2584"/>
                  </a:lnTo>
                  <a:cubicBezTo>
                    <a:pt x="2882" y="2608"/>
                    <a:pt x="2917" y="2680"/>
                    <a:pt x="2917" y="2763"/>
                  </a:cubicBezTo>
                  <a:lnTo>
                    <a:pt x="2917" y="3084"/>
                  </a:lnTo>
                  <a:lnTo>
                    <a:pt x="1072" y="3084"/>
                  </a:lnTo>
                  <a:lnTo>
                    <a:pt x="1072" y="2763"/>
                  </a:lnTo>
                  <a:cubicBezTo>
                    <a:pt x="1072" y="2680"/>
                    <a:pt x="1120" y="2632"/>
                    <a:pt x="1179" y="2584"/>
                  </a:cubicBezTo>
                  <a:lnTo>
                    <a:pt x="1477" y="2429"/>
                  </a:lnTo>
                  <a:lnTo>
                    <a:pt x="1751" y="2703"/>
                  </a:lnTo>
                  <a:cubicBezTo>
                    <a:pt x="1822" y="2775"/>
                    <a:pt x="1905" y="2799"/>
                    <a:pt x="2001" y="2799"/>
                  </a:cubicBezTo>
                  <a:cubicBezTo>
                    <a:pt x="2084" y="2799"/>
                    <a:pt x="2179" y="2775"/>
                    <a:pt x="2251" y="2703"/>
                  </a:cubicBezTo>
                  <a:lnTo>
                    <a:pt x="2525" y="2429"/>
                  </a:lnTo>
                  <a:close/>
                  <a:moveTo>
                    <a:pt x="3560" y="3442"/>
                  </a:moveTo>
                  <a:lnTo>
                    <a:pt x="3370" y="3834"/>
                  </a:lnTo>
                  <a:lnTo>
                    <a:pt x="655" y="3834"/>
                  </a:lnTo>
                  <a:lnTo>
                    <a:pt x="465" y="3442"/>
                  </a:lnTo>
                  <a:close/>
                  <a:moveTo>
                    <a:pt x="1822" y="1"/>
                  </a:moveTo>
                  <a:cubicBezTo>
                    <a:pt x="1417" y="1"/>
                    <a:pt x="1108" y="334"/>
                    <a:pt x="1108" y="715"/>
                  </a:cubicBezTo>
                  <a:lnTo>
                    <a:pt x="1108" y="1096"/>
                  </a:lnTo>
                  <a:cubicBezTo>
                    <a:pt x="1108" y="1394"/>
                    <a:pt x="1251" y="1656"/>
                    <a:pt x="1477" y="1822"/>
                  </a:cubicBezTo>
                  <a:lnTo>
                    <a:pt x="1477" y="2072"/>
                  </a:lnTo>
                  <a:lnTo>
                    <a:pt x="1477" y="2084"/>
                  </a:lnTo>
                  <a:lnTo>
                    <a:pt x="1048" y="2299"/>
                  </a:lnTo>
                  <a:cubicBezTo>
                    <a:pt x="870" y="2382"/>
                    <a:pt x="751" y="2584"/>
                    <a:pt x="751" y="2775"/>
                  </a:cubicBezTo>
                  <a:lnTo>
                    <a:pt x="751" y="3108"/>
                  </a:lnTo>
                  <a:lnTo>
                    <a:pt x="179" y="3108"/>
                  </a:lnTo>
                  <a:cubicBezTo>
                    <a:pt x="120" y="3108"/>
                    <a:pt x="60" y="3132"/>
                    <a:pt x="36" y="3180"/>
                  </a:cubicBezTo>
                  <a:cubicBezTo>
                    <a:pt x="0" y="3227"/>
                    <a:pt x="0" y="3299"/>
                    <a:pt x="24" y="3346"/>
                  </a:cubicBezTo>
                  <a:lnTo>
                    <a:pt x="393" y="4073"/>
                  </a:lnTo>
                  <a:cubicBezTo>
                    <a:pt x="417" y="4132"/>
                    <a:pt x="477" y="4156"/>
                    <a:pt x="536" y="4156"/>
                  </a:cubicBezTo>
                  <a:lnTo>
                    <a:pt x="739" y="4156"/>
                  </a:lnTo>
                  <a:lnTo>
                    <a:pt x="739" y="5263"/>
                  </a:lnTo>
                  <a:cubicBezTo>
                    <a:pt x="739" y="5347"/>
                    <a:pt x="810" y="5430"/>
                    <a:pt x="893" y="5430"/>
                  </a:cubicBezTo>
                  <a:cubicBezTo>
                    <a:pt x="989" y="5430"/>
                    <a:pt x="1060" y="5347"/>
                    <a:pt x="1060" y="5263"/>
                  </a:cubicBezTo>
                  <a:lnTo>
                    <a:pt x="1060" y="4156"/>
                  </a:lnTo>
                  <a:lnTo>
                    <a:pt x="2906" y="4156"/>
                  </a:lnTo>
                  <a:lnTo>
                    <a:pt x="2906" y="5263"/>
                  </a:lnTo>
                  <a:cubicBezTo>
                    <a:pt x="2906" y="5347"/>
                    <a:pt x="2977" y="5430"/>
                    <a:pt x="3072" y="5430"/>
                  </a:cubicBezTo>
                  <a:cubicBezTo>
                    <a:pt x="3156" y="5430"/>
                    <a:pt x="3227" y="5347"/>
                    <a:pt x="3227" y="5263"/>
                  </a:cubicBezTo>
                  <a:lnTo>
                    <a:pt x="3227" y="4156"/>
                  </a:lnTo>
                  <a:lnTo>
                    <a:pt x="3429" y="4156"/>
                  </a:lnTo>
                  <a:cubicBezTo>
                    <a:pt x="3489" y="4156"/>
                    <a:pt x="3549" y="4132"/>
                    <a:pt x="3572" y="4073"/>
                  </a:cubicBezTo>
                  <a:lnTo>
                    <a:pt x="3941" y="3346"/>
                  </a:lnTo>
                  <a:cubicBezTo>
                    <a:pt x="4013" y="3299"/>
                    <a:pt x="4013" y="3227"/>
                    <a:pt x="3977" y="3180"/>
                  </a:cubicBezTo>
                  <a:cubicBezTo>
                    <a:pt x="3953" y="3132"/>
                    <a:pt x="3894" y="3108"/>
                    <a:pt x="3834" y="3108"/>
                  </a:cubicBezTo>
                  <a:lnTo>
                    <a:pt x="3263" y="3108"/>
                  </a:lnTo>
                  <a:lnTo>
                    <a:pt x="3263" y="2775"/>
                  </a:lnTo>
                  <a:cubicBezTo>
                    <a:pt x="3263" y="2572"/>
                    <a:pt x="3144" y="2382"/>
                    <a:pt x="2965" y="2299"/>
                  </a:cubicBezTo>
                  <a:lnTo>
                    <a:pt x="2536" y="2084"/>
                  </a:lnTo>
                  <a:lnTo>
                    <a:pt x="2536" y="2072"/>
                  </a:lnTo>
                  <a:lnTo>
                    <a:pt x="2536" y="1822"/>
                  </a:lnTo>
                  <a:cubicBezTo>
                    <a:pt x="2763" y="1656"/>
                    <a:pt x="2906" y="1394"/>
                    <a:pt x="2906" y="1096"/>
                  </a:cubicBezTo>
                  <a:lnTo>
                    <a:pt x="2906" y="715"/>
                  </a:lnTo>
                  <a:cubicBezTo>
                    <a:pt x="2906" y="322"/>
                    <a:pt x="2572" y="1"/>
                    <a:pt x="21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0066;p78">
              <a:extLst>
                <a:ext uri="{FF2B5EF4-FFF2-40B4-BE49-F238E27FC236}">
                  <a16:creationId xmlns:a16="http://schemas.microsoft.com/office/drawing/2014/main" id="{5F7F95C4-C8D9-8C69-02B7-B643AA328752}"/>
                </a:ext>
              </a:extLst>
            </p:cNvPr>
            <p:cNvSpPr/>
            <p:nvPr/>
          </p:nvSpPr>
          <p:spPr>
            <a:xfrm>
              <a:off x="5915088" y="3051655"/>
              <a:ext cx="34151" cy="10662"/>
            </a:xfrm>
            <a:custGeom>
              <a:avLst/>
              <a:gdLst/>
              <a:ahLst/>
              <a:cxnLst/>
              <a:rect l="l" t="t" r="r" b="b"/>
              <a:pathLst>
                <a:path w="1073" h="335" extrusionOk="0">
                  <a:moveTo>
                    <a:pt x="168" y="1"/>
                  </a:moveTo>
                  <a:cubicBezTo>
                    <a:pt x="72" y="1"/>
                    <a:pt x="1" y="72"/>
                    <a:pt x="1" y="167"/>
                  </a:cubicBezTo>
                  <a:cubicBezTo>
                    <a:pt x="1" y="251"/>
                    <a:pt x="72" y="334"/>
                    <a:pt x="168" y="334"/>
                  </a:cubicBezTo>
                  <a:lnTo>
                    <a:pt x="894" y="334"/>
                  </a:lnTo>
                  <a:cubicBezTo>
                    <a:pt x="989" y="334"/>
                    <a:pt x="1060" y="251"/>
                    <a:pt x="1060" y="167"/>
                  </a:cubicBezTo>
                  <a:cubicBezTo>
                    <a:pt x="1072" y="72"/>
                    <a:pt x="989" y="1"/>
                    <a:pt x="89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 name="Straight Connector 4">
            <a:extLst>
              <a:ext uri="{FF2B5EF4-FFF2-40B4-BE49-F238E27FC236}">
                <a16:creationId xmlns:a16="http://schemas.microsoft.com/office/drawing/2014/main" id="{997FEFE3-7384-BA85-9604-98A41A6C2667}"/>
              </a:ext>
            </a:extLst>
          </p:cNvPr>
          <p:cNvCxnSpPr/>
          <p:nvPr/>
        </p:nvCxnSpPr>
        <p:spPr>
          <a:xfrm flipH="1">
            <a:off x="4982645" y="1356852"/>
            <a:ext cx="4213324" cy="0"/>
          </a:xfrm>
          <a:prstGeom prst="line">
            <a:avLst/>
          </a:prstGeom>
        </p:spPr>
        <p:style>
          <a:lnRef idx="1">
            <a:schemeClr val="accent6"/>
          </a:lnRef>
          <a:fillRef idx="0">
            <a:schemeClr val="accent6"/>
          </a:fillRef>
          <a:effectRef idx="0">
            <a:schemeClr val="accent6"/>
          </a:effectRef>
          <a:fontRef idx="minor">
            <a:schemeClr val="tx1"/>
          </a:fontRef>
        </p:style>
      </p:cxnSp>
      <p:sp>
        <p:nvSpPr>
          <p:cNvPr id="6" name="TextBox 5">
            <a:extLst>
              <a:ext uri="{FF2B5EF4-FFF2-40B4-BE49-F238E27FC236}">
                <a16:creationId xmlns:a16="http://schemas.microsoft.com/office/drawing/2014/main" id="{CC8D83B2-F499-BAAE-7C70-9D26492AB559}"/>
              </a:ext>
            </a:extLst>
          </p:cNvPr>
          <p:cNvSpPr txBox="1"/>
          <p:nvPr/>
        </p:nvSpPr>
        <p:spPr>
          <a:xfrm>
            <a:off x="5597015" y="1883442"/>
            <a:ext cx="3546985" cy="584775"/>
          </a:xfrm>
          <a:prstGeom prst="rect">
            <a:avLst/>
          </a:prstGeom>
          <a:noFill/>
        </p:spPr>
        <p:txBody>
          <a:bodyPr wrap="square" rtlCol="0">
            <a:spAutoFit/>
          </a:bodyPr>
          <a:lstStyle/>
          <a:p>
            <a:pPr algn="r" rtl="1"/>
            <a:r>
              <a:rPr lang="fa-IR" sz="3200" b="1" dirty="0">
                <a:solidFill>
                  <a:schemeClr val="bg1"/>
                </a:solidFill>
                <a:latin typeface="IRNazanin" panose="02000506000000020002" pitchFamily="2" charset="-78"/>
                <a:cs typeface="IRNazanin" panose="02000506000000020002" pitchFamily="2" charset="-78"/>
              </a:rPr>
              <a:t>روند مناقصات شهرداری</a:t>
            </a:r>
            <a:endParaRPr lang="en-US" sz="3200" b="1" dirty="0">
              <a:solidFill>
                <a:schemeClr val="bg1"/>
              </a:solidFill>
              <a:latin typeface="IRNazanin" panose="02000506000000020002" pitchFamily="2" charset="-78"/>
              <a:cs typeface="IRNazanin" panose="02000506000000020002" pitchFamily="2" charset="-78"/>
            </a:endParaRPr>
          </a:p>
        </p:txBody>
      </p:sp>
      <p:grpSp>
        <p:nvGrpSpPr>
          <p:cNvPr id="7" name="Google Shape;9638;p78">
            <a:extLst>
              <a:ext uri="{FF2B5EF4-FFF2-40B4-BE49-F238E27FC236}">
                <a16:creationId xmlns:a16="http://schemas.microsoft.com/office/drawing/2014/main" id="{303475BF-A739-257C-71F8-83DF798373A4}"/>
              </a:ext>
            </a:extLst>
          </p:cNvPr>
          <p:cNvGrpSpPr/>
          <p:nvPr/>
        </p:nvGrpSpPr>
        <p:grpSpPr>
          <a:xfrm>
            <a:off x="6979597" y="2868071"/>
            <a:ext cx="1109806" cy="1544212"/>
            <a:chOff x="910723" y="1508212"/>
            <a:chExt cx="251660" cy="350166"/>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grpSpPr>
        <p:sp>
          <p:nvSpPr>
            <p:cNvPr id="8" name="Google Shape;9639;p78">
              <a:extLst>
                <a:ext uri="{FF2B5EF4-FFF2-40B4-BE49-F238E27FC236}">
                  <a16:creationId xmlns:a16="http://schemas.microsoft.com/office/drawing/2014/main" id="{C18F4F08-BEB4-209D-C357-3A88AD4C6030}"/>
                </a:ext>
              </a:extLst>
            </p:cNvPr>
            <p:cNvSpPr/>
            <p:nvPr/>
          </p:nvSpPr>
          <p:spPr>
            <a:xfrm>
              <a:off x="910723" y="1508212"/>
              <a:ext cx="251660" cy="350166"/>
            </a:xfrm>
            <a:custGeom>
              <a:avLst/>
              <a:gdLst/>
              <a:ahLst/>
              <a:cxnLst/>
              <a:rect l="l" t="t" r="r" b="b"/>
              <a:pathLst>
                <a:path w="7907" h="11002" extrusionOk="0">
                  <a:moveTo>
                    <a:pt x="3942" y="334"/>
                  </a:moveTo>
                  <a:cubicBezTo>
                    <a:pt x="4132" y="334"/>
                    <a:pt x="4299" y="441"/>
                    <a:pt x="4394" y="608"/>
                  </a:cubicBezTo>
                  <a:cubicBezTo>
                    <a:pt x="4418" y="644"/>
                    <a:pt x="4466" y="679"/>
                    <a:pt x="4525" y="679"/>
                  </a:cubicBezTo>
                  <a:lnTo>
                    <a:pt x="5132" y="679"/>
                  </a:lnTo>
                  <a:cubicBezTo>
                    <a:pt x="5240" y="679"/>
                    <a:pt x="5311" y="763"/>
                    <a:pt x="5311" y="858"/>
                  </a:cubicBezTo>
                  <a:lnTo>
                    <a:pt x="5311" y="1382"/>
                  </a:lnTo>
                  <a:lnTo>
                    <a:pt x="2573" y="1382"/>
                  </a:lnTo>
                  <a:lnTo>
                    <a:pt x="2573" y="858"/>
                  </a:lnTo>
                  <a:cubicBezTo>
                    <a:pt x="2573" y="751"/>
                    <a:pt x="2668" y="679"/>
                    <a:pt x="2751" y="679"/>
                  </a:cubicBezTo>
                  <a:lnTo>
                    <a:pt x="3358" y="679"/>
                  </a:lnTo>
                  <a:cubicBezTo>
                    <a:pt x="3418" y="679"/>
                    <a:pt x="3466" y="644"/>
                    <a:pt x="3501" y="608"/>
                  </a:cubicBezTo>
                  <a:cubicBezTo>
                    <a:pt x="3585" y="441"/>
                    <a:pt x="3763" y="334"/>
                    <a:pt x="3942" y="334"/>
                  </a:cubicBezTo>
                  <a:close/>
                  <a:moveTo>
                    <a:pt x="7240" y="1013"/>
                  </a:moveTo>
                  <a:cubicBezTo>
                    <a:pt x="7442" y="1013"/>
                    <a:pt x="7609" y="1179"/>
                    <a:pt x="7609" y="1370"/>
                  </a:cubicBezTo>
                  <a:lnTo>
                    <a:pt x="7609" y="10323"/>
                  </a:lnTo>
                  <a:lnTo>
                    <a:pt x="7585" y="10323"/>
                  </a:lnTo>
                  <a:cubicBezTo>
                    <a:pt x="7585" y="10514"/>
                    <a:pt x="7430" y="10681"/>
                    <a:pt x="7228" y="10681"/>
                  </a:cubicBezTo>
                  <a:lnTo>
                    <a:pt x="691" y="10681"/>
                  </a:lnTo>
                  <a:cubicBezTo>
                    <a:pt x="501" y="10681"/>
                    <a:pt x="334" y="10514"/>
                    <a:pt x="334" y="10323"/>
                  </a:cubicBezTo>
                  <a:lnTo>
                    <a:pt x="334" y="1370"/>
                  </a:lnTo>
                  <a:cubicBezTo>
                    <a:pt x="334" y="1179"/>
                    <a:pt x="501" y="1013"/>
                    <a:pt x="691" y="1013"/>
                  </a:cubicBezTo>
                  <a:lnTo>
                    <a:pt x="2263" y="1013"/>
                  </a:lnTo>
                  <a:lnTo>
                    <a:pt x="2263" y="1537"/>
                  </a:lnTo>
                  <a:cubicBezTo>
                    <a:pt x="2263" y="1632"/>
                    <a:pt x="2335" y="1703"/>
                    <a:pt x="2418" y="1703"/>
                  </a:cubicBezTo>
                  <a:lnTo>
                    <a:pt x="5525" y="1703"/>
                  </a:lnTo>
                  <a:cubicBezTo>
                    <a:pt x="5609" y="1703"/>
                    <a:pt x="5680" y="1632"/>
                    <a:pt x="5680" y="1537"/>
                  </a:cubicBezTo>
                  <a:lnTo>
                    <a:pt x="5680" y="1013"/>
                  </a:lnTo>
                  <a:close/>
                  <a:moveTo>
                    <a:pt x="3954" y="1"/>
                  </a:moveTo>
                  <a:cubicBezTo>
                    <a:pt x="3692" y="1"/>
                    <a:pt x="3442" y="144"/>
                    <a:pt x="3275" y="346"/>
                  </a:cubicBezTo>
                  <a:lnTo>
                    <a:pt x="2751" y="346"/>
                  </a:lnTo>
                  <a:cubicBezTo>
                    <a:pt x="2525" y="346"/>
                    <a:pt x="2335" y="501"/>
                    <a:pt x="2275" y="691"/>
                  </a:cubicBezTo>
                  <a:lnTo>
                    <a:pt x="680" y="691"/>
                  </a:lnTo>
                  <a:cubicBezTo>
                    <a:pt x="310" y="691"/>
                    <a:pt x="1" y="989"/>
                    <a:pt x="1" y="1382"/>
                  </a:cubicBezTo>
                  <a:lnTo>
                    <a:pt x="1" y="10323"/>
                  </a:lnTo>
                  <a:cubicBezTo>
                    <a:pt x="1" y="10692"/>
                    <a:pt x="299" y="11002"/>
                    <a:pt x="680" y="11002"/>
                  </a:cubicBezTo>
                  <a:lnTo>
                    <a:pt x="7216" y="11002"/>
                  </a:lnTo>
                  <a:cubicBezTo>
                    <a:pt x="7585" y="11002"/>
                    <a:pt x="7907" y="10704"/>
                    <a:pt x="7907" y="10323"/>
                  </a:cubicBezTo>
                  <a:lnTo>
                    <a:pt x="7907" y="1382"/>
                  </a:lnTo>
                  <a:cubicBezTo>
                    <a:pt x="7907" y="989"/>
                    <a:pt x="7609" y="691"/>
                    <a:pt x="7228" y="691"/>
                  </a:cubicBezTo>
                  <a:lnTo>
                    <a:pt x="5644" y="691"/>
                  </a:lnTo>
                  <a:cubicBezTo>
                    <a:pt x="5561" y="501"/>
                    <a:pt x="5383" y="346"/>
                    <a:pt x="5168" y="346"/>
                  </a:cubicBezTo>
                  <a:lnTo>
                    <a:pt x="4644" y="346"/>
                  </a:lnTo>
                  <a:cubicBezTo>
                    <a:pt x="4478" y="144"/>
                    <a:pt x="4228" y="1"/>
                    <a:pt x="395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9640;p78">
              <a:extLst>
                <a:ext uri="{FF2B5EF4-FFF2-40B4-BE49-F238E27FC236}">
                  <a16:creationId xmlns:a16="http://schemas.microsoft.com/office/drawing/2014/main" id="{32C3BAD6-BF8E-B268-882D-EB033137C8AD}"/>
                </a:ext>
              </a:extLst>
            </p:cNvPr>
            <p:cNvSpPr/>
            <p:nvPr/>
          </p:nvSpPr>
          <p:spPr>
            <a:xfrm>
              <a:off x="1031604" y="1530205"/>
              <a:ext cx="10280" cy="10248"/>
            </a:xfrm>
            <a:custGeom>
              <a:avLst/>
              <a:gdLst/>
              <a:ahLst/>
              <a:cxnLst/>
              <a:rect l="l" t="t" r="r" b="b"/>
              <a:pathLst>
                <a:path w="323" h="322" extrusionOk="0">
                  <a:moveTo>
                    <a:pt x="156" y="0"/>
                  </a:moveTo>
                  <a:cubicBezTo>
                    <a:pt x="72" y="0"/>
                    <a:pt x="1" y="72"/>
                    <a:pt x="1" y="167"/>
                  </a:cubicBezTo>
                  <a:cubicBezTo>
                    <a:pt x="1" y="250"/>
                    <a:pt x="72" y="322"/>
                    <a:pt x="156" y="322"/>
                  </a:cubicBezTo>
                  <a:cubicBezTo>
                    <a:pt x="251" y="322"/>
                    <a:pt x="322" y="250"/>
                    <a:pt x="322" y="167"/>
                  </a:cubicBezTo>
                  <a:cubicBezTo>
                    <a:pt x="322" y="72"/>
                    <a:pt x="251" y="0"/>
                    <a:pt x="15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9641;p78">
              <a:extLst>
                <a:ext uri="{FF2B5EF4-FFF2-40B4-BE49-F238E27FC236}">
                  <a16:creationId xmlns:a16="http://schemas.microsoft.com/office/drawing/2014/main" id="{1D8463EC-5FD2-DA4F-4B42-610F1B82DB8B}"/>
                </a:ext>
              </a:extLst>
            </p:cNvPr>
            <p:cNvSpPr/>
            <p:nvPr/>
          </p:nvSpPr>
          <p:spPr>
            <a:xfrm>
              <a:off x="932334" y="1551784"/>
              <a:ext cx="208088" cy="273653"/>
            </a:xfrm>
            <a:custGeom>
              <a:avLst/>
              <a:gdLst/>
              <a:ahLst/>
              <a:cxnLst/>
              <a:rect l="l" t="t" r="r" b="b"/>
              <a:pathLst>
                <a:path w="6538" h="8598" extrusionOk="0">
                  <a:moveTo>
                    <a:pt x="167" y="1"/>
                  </a:moveTo>
                  <a:cubicBezTo>
                    <a:pt x="72" y="1"/>
                    <a:pt x="1" y="84"/>
                    <a:pt x="1" y="168"/>
                  </a:cubicBezTo>
                  <a:lnTo>
                    <a:pt x="1" y="8430"/>
                  </a:lnTo>
                  <a:cubicBezTo>
                    <a:pt x="1" y="8526"/>
                    <a:pt x="72" y="8597"/>
                    <a:pt x="167" y="8597"/>
                  </a:cubicBezTo>
                  <a:lnTo>
                    <a:pt x="6358" y="8597"/>
                  </a:lnTo>
                  <a:cubicBezTo>
                    <a:pt x="6442" y="8597"/>
                    <a:pt x="6525" y="8526"/>
                    <a:pt x="6525" y="8430"/>
                  </a:cubicBezTo>
                  <a:lnTo>
                    <a:pt x="6525" y="168"/>
                  </a:lnTo>
                  <a:cubicBezTo>
                    <a:pt x="6537" y="84"/>
                    <a:pt x="6466" y="13"/>
                    <a:pt x="6370" y="13"/>
                  </a:cubicBezTo>
                  <a:lnTo>
                    <a:pt x="5513" y="13"/>
                  </a:lnTo>
                  <a:cubicBezTo>
                    <a:pt x="5418" y="13"/>
                    <a:pt x="5346" y="84"/>
                    <a:pt x="5346" y="168"/>
                  </a:cubicBezTo>
                  <a:cubicBezTo>
                    <a:pt x="5346" y="263"/>
                    <a:pt x="5418" y="334"/>
                    <a:pt x="5513" y="334"/>
                  </a:cubicBezTo>
                  <a:lnTo>
                    <a:pt x="6204" y="334"/>
                  </a:lnTo>
                  <a:lnTo>
                    <a:pt x="6204" y="8264"/>
                  </a:lnTo>
                  <a:lnTo>
                    <a:pt x="334" y="8264"/>
                  </a:lnTo>
                  <a:lnTo>
                    <a:pt x="334" y="334"/>
                  </a:lnTo>
                  <a:lnTo>
                    <a:pt x="1024" y="334"/>
                  </a:lnTo>
                  <a:cubicBezTo>
                    <a:pt x="1120" y="334"/>
                    <a:pt x="1191" y="263"/>
                    <a:pt x="1191" y="168"/>
                  </a:cubicBezTo>
                  <a:cubicBezTo>
                    <a:pt x="1191" y="84"/>
                    <a:pt x="1120" y="1"/>
                    <a:pt x="102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9642;p78">
              <a:extLst>
                <a:ext uri="{FF2B5EF4-FFF2-40B4-BE49-F238E27FC236}">
                  <a16:creationId xmlns:a16="http://schemas.microsoft.com/office/drawing/2014/main" id="{0FEE4979-72F7-E836-3C30-EA1DB610962F}"/>
                </a:ext>
              </a:extLst>
            </p:cNvPr>
            <p:cNvSpPr/>
            <p:nvPr/>
          </p:nvSpPr>
          <p:spPr>
            <a:xfrm>
              <a:off x="965689" y="1661302"/>
              <a:ext cx="32241" cy="32241"/>
            </a:xfrm>
            <a:custGeom>
              <a:avLst/>
              <a:gdLst/>
              <a:ahLst/>
              <a:cxnLst/>
              <a:rect l="l" t="t" r="r" b="b"/>
              <a:pathLst>
                <a:path w="1013" h="1013" extrusionOk="0">
                  <a:moveTo>
                    <a:pt x="500" y="346"/>
                  </a:moveTo>
                  <a:cubicBezTo>
                    <a:pt x="608" y="346"/>
                    <a:pt x="679" y="441"/>
                    <a:pt x="679" y="525"/>
                  </a:cubicBezTo>
                  <a:cubicBezTo>
                    <a:pt x="703" y="620"/>
                    <a:pt x="608" y="703"/>
                    <a:pt x="500" y="703"/>
                  </a:cubicBezTo>
                  <a:cubicBezTo>
                    <a:pt x="405" y="703"/>
                    <a:pt x="322" y="620"/>
                    <a:pt x="322" y="525"/>
                  </a:cubicBezTo>
                  <a:cubicBezTo>
                    <a:pt x="322" y="417"/>
                    <a:pt x="417" y="346"/>
                    <a:pt x="500" y="346"/>
                  </a:cubicBezTo>
                  <a:close/>
                  <a:moveTo>
                    <a:pt x="500" y="1"/>
                  </a:moveTo>
                  <a:cubicBezTo>
                    <a:pt x="227" y="1"/>
                    <a:pt x="0" y="227"/>
                    <a:pt x="0" y="513"/>
                  </a:cubicBezTo>
                  <a:cubicBezTo>
                    <a:pt x="0" y="787"/>
                    <a:pt x="227" y="1013"/>
                    <a:pt x="500" y="1013"/>
                  </a:cubicBezTo>
                  <a:cubicBezTo>
                    <a:pt x="786" y="1013"/>
                    <a:pt x="1012" y="787"/>
                    <a:pt x="1012" y="513"/>
                  </a:cubicBezTo>
                  <a:cubicBezTo>
                    <a:pt x="1012" y="227"/>
                    <a:pt x="786" y="1"/>
                    <a:pt x="50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9643;p78">
              <a:extLst>
                <a:ext uri="{FF2B5EF4-FFF2-40B4-BE49-F238E27FC236}">
                  <a16:creationId xmlns:a16="http://schemas.microsoft.com/office/drawing/2014/main" id="{E81A2D78-8908-F7CF-B98D-67AA319705B9}"/>
                </a:ext>
              </a:extLst>
            </p:cNvPr>
            <p:cNvSpPr/>
            <p:nvPr/>
          </p:nvSpPr>
          <p:spPr>
            <a:xfrm>
              <a:off x="965689" y="1710571"/>
              <a:ext cx="32241" cy="32241"/>
            </a:xfrm>
            <a:custGeom>
              <a:avLst/>
              <a:gdLst/>
              <a:ahLst/>
              <a:cxnLst/>
              <a:rect l="l" t="t" r="r" b="b"/>
              <a:pathLst>
                <a:path w="1013" h="1013" extrusionOk="0">
                  <a:moveTo>
                    <a:pt x="500" y="346"/>
                  </a:moveTo>
                  <a:cubicBezTo>
                    <a:pt x="608" y="346"/>
                    <a:pt x="679" y="441"/>
                    <a:pt x="679" y="524"/>
                  </a:cubicBezTo>
                  <a:cubicBezTo>
                    <a:pt x="679" y="608"/>
                    <a:pt x="608" y="703"/>
                    <a:pt x="500" y="703"/>
                  </a:cubicBezTo>
                  <a:cubicBezTo>
                    <a:pt x="405" y="703"/>
                    <a:pt x="322" y="608"/>
                    <a:pt x="322" y="524"/>
                  </a:cubicBezTo>
                  <a:cubicBezTo>
                    <a:pt x="322" y="441"/>
                    <a:pt x="417" y="346"/>
                    <a:pt x="500" y="346"/>
                  </a:cubicBezTo>
                  <a:close/>
                  <a:moveTo>
                    <a:pt x="500" y="1"/>
                  </a:moveTo>
                  <a:cubicBezTo>
                    <a:pt x="227" y="1"/>
                    <a:pt x="0" y="227"/>
                    <a:pt x="0" y="513"/>
                  </a:cubicBezTo>
                  <a:cubicBezTo>
                    <a:pt x="0" y="786"/>
                    <a:pt x="227" y="1013"/>
                    <a:pt x="500" y="1013"/>
                  </a:cubicBezTo>
                  <a:cubicBezTo>
                    <a:pt x="786" y="1013"/>
                    <a:pt x="1012" y="786"/>
                    <a:pt x="1012" y="513"/>
                  </a:cubicBezTo>
                  <a:cubicBezTo>
                    <a:pt x="1012" y="227"/>
                    <a:pt x="786" y="1"/>
                    <a:pt x="50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9644;p78">
              <a:extLst>
                <a:ext uri="{FF2B5EF4-FFF2-40B4-BE49-F238E27FC236}">
                  <a16:creationId xmlns:a16="http://schemas.microsoft.com/office/drawing/2014/main" id="{6763D97D-5E00-C98F-5FEB-EF11E86B8AB0}"/>
                </a:ext>
              </a:extLst>
            </p:cNvPr>
            <p:cNvSpPr/>
            <p:nvPr/>
          </p:nvSpPr>
          <p:spPr>
            <a:xfrm>
              <a:off x="965689" y="1760604"/>
              <a:ext cx="32241" cy="31859"/>
            </a:xfrm>
            <a:custGeom>
              <a:avLst/>
              <a:gdLst/>
              <a:ahLst/>
              <a:cxnLst/>
              <a:rect l="l" t="t" r="r" b="b"/>
              <a:pathLst>
                <a:path w="1013" h="1001" extrusionOk="0">
                  <a:moveTo>
                    <a:pt x="500" y="322"/>
                  </a:moveTo>
                  <a:cubicBezTo>
                    <a:pt x="608" y="322"/>
                    <a:pt x="679" y="417"/>
                    <a:pt x="679" y="500"/>
                  </a:cubicBezTo>
                  <a:cubicBezTo>
                    <a:pt x="703" y="596"/>
                    <a:pt x="608" y="679"/>
                    <a:pt x="500" y="679"/>
                  </a:cubicBezTo>
                  <a:cubicBezTo>
                    <a:pt x="405" y="679"/>
                    <a:pt x="322" y="584"/>
                    <a:pt x="322" y="500"/>
                  </a:cubicBezTo>
                  <a:cubicBezTo>
                    <a:pt x="322" y="393"/>
                    <a:pt x="417" y="322"/>
                    <a:pt x="500" y="322"/>
                  </a:cubicBezTo>
                  <a:close/>
                  <a:moveTo>
                    <a:pt x="500" y="0"/>
                  </a:moveTo>
                  <a:cubicBezTo>
                    <a:pt x="227" y="0"/>
                    <a:pt x="0" y="215"/>
                    <a:pt x="0" y="500"/>
                  </a:cubicBezTo>
                  <a:cubicBezTo>
                    <a:pt x="0" y="786"/>
                    <a:pt x="227" y="1000"/>
                    <a:pt x="500" y="1000"/>
                  </a:cubicBezTo>
                  <a:cubicBezTo>
                    <a:pt x="786" y="1000"/>
                    <a:pt x="1012" y="786"/>
                    <a:pt x="1012" y="500"/>
                  </a:cubicBezTo>
                  <a:cubicBezTo>
                    <a:pt x="1012" y="215"/>
                    <a:pt x="786" y="0"/>
                    <a:pt x="50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645;p78">
              <a:extLst>
                <a:ext uri="{FF2B5EF4-FFF2-40B4-BE49-F238E27FC236}">
                  <a16:creationId xmlns:a16="http://schemas.microsoft.com/office/drawing/2014/main" id="{C977584F-B9AE-B402-A9D1-FDD755BCDB4C}"/>
                </a:ext>
              </a:extLst>
            </p:cNvPr>
            <p:cNvSpPr/>
            <p:nvPr/>
          </p:nvSpPr>
          <p:spPr>
            <a:xfrm>
              <a:off x="1009643" y="1661302"/>
              <a:ext cx="59899" cy="10662"/>
            </a:xfrm>
            <a:custGeom>
              <a:avLst/>
              <a:gdLst/>
              <a:ahLst/>
              <a:cxnLst/>
              <a:rect l="l" t="t" r="r" b="b"/>
              <a:pathLst>
                <a:path w="1882" h="335" extrusionOk="0">
                  <a:moveTo>
                    <a:pt x="167" y="1"/>
                  </a:moveTo>
                  <a:cubicBezTo>
                    <a:pt x="72" y="1"/>
                    <a:pt x="0" y="72"/>
                    <a:pt x="0" y="167"/>
                  </a:cubicBezTo>
                  <a:cubicBezTo>
                    <a:pt x="0" y="263"/>
                    <a:pt x="72" y="334"/>
                    <a:pt x="167" y="334"/>
                  </a:cubicBezTo>
                  <a:lnTo>
                    <a:pt x="1715" y="334"/>
                  </a:lnTo>
                  <a:cubicBezTo>
                    <a:pt x="1798" y="334"/>
                    <a:pt x="1882" y="263"/>
                    <a:pt x="1882" y="167"/>
                  </a:cubicBezTo>
                  <a:cubicBezTo>
                    <a:pt x="1882" y="72"/>
                    <a:pt x="1798" y="1"/>
                    <a:pt x="171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9646;p78">
              <a:extLst>
                <a:ext uri="{FF2B5EF4-FFF2-40B4-BE49-F238E27FC236}">
                  <a16:creationId xmlns:a16="http://schemas.microsoft.com/office/drawing/2014/main" id="{74D43F5D-194D-526C-AC74-DC9206FB20FE}"/>
                </a:ext>
              </a:extLst>
            </p:cNvPr>
            <p:cNvSpPr/>
            <p:nvPr/>
          </p:nvSpPr>
          <p:spPr>
            <a:xfrm>
              <a:off x="1009643" y="1683677"/>
              <a:ext cx="98188" cy="10630"/>
            </a:xfrm>
            <a:custGeom>
              <a:avLst/>
              <a:gdLst/>
              <a:ahLst/>
              <a:cxnLst/>
              <a:rect l="l" t="t" r="r" b="b"/>
              <a:pathLst>
                <a:path w="3085" h="334" extrusionOk="0">
                  <a:moveTo>
                    <a:pt x="167" y="0"/>
                  </a:moveTo>
                  <a:cubicBezTo>
                    <a:pt x="72" y="0"/>
                    <a:pt x="0" y="72"/>
                    <a:pt x="0" y="167"/>
                  </a:cubicBezTo>
                  <a:cubicBezTo>
                    <a:pt x="0" y="250"/>
                    <a:pt x="72" y="334"/>
                    <a:pt x="167" y="334"/>
                  </a:cubicBezTo>
                  <a:lnTo>
                    <a:pt x="2917" y="334"/>
                  </a:lnTo>
                  <a:cubicBezTo>
                    <a:pt x="3013" y="334"/>
                    <a:pt x="3084" y="250"/>
                    <a:pt x="3084" y="167"/>
                  </a:cubicBezTo>
                  <a:cubicBezTo>
                    <a:pt x="3084" y="72"/>
                    <a:pt x="3013" y="0"/>
                    <a:pt x="291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9647;p78">
              <a:extLst>
                <a:ext uri="{FF2B5EF4-FFF2-40B4-BE49-F238E27FC236}">
                  <a16:creationId xmlns:a16="http://schemas.microsoft.com/office/drawing/2014/main" id="{6AE442A2-6C24-9791-9B8B-117BDB466674}"/>
                </a:ext>
              </a:extLst>
            </p:cNvPr>
            <p:cNvSpPr/>
            <p:nvPr/>
          </p:nvSpPr>
          <p:spPr>
            <a:xfrm>
              <a:off x="1009643" y="1710571"/>
              <a:ext cx="59899" cy="10630"/>
            </a:xfrm>
            <a:custGeom>
              <a:avLst/>
              <a:gdLst/>
              <a:ahLst/>
              <a:cxnLst/>
              <a:rect l="l" t="t" r="r" b="b"/>
              <a:pathLst>
                <a:path w="1882" h="334" extrusionOk="0">
                  <a:moveTo>
                    <a:pt x="167" y="1"/>
                  </a:moveTo>
                  <a:cubicBezTo>
                    <a:pt x="72" y="1"/>
                    <a:pt x="0" y="84"/>
                    <a:pt x="0" y="167"/>
                  </a:cubicBezTo>
                  <a:cubicBezTo>
                    <a:pt x="0" y="263"/>
                    <a:pt x="72" y="334"/>
                    <a:pt x="167" y="334"/>
                  </a:cubicBezTo>
                  <a:lnTo>
                    <a:pt x="1715" y="334"/>
                  </a:lnTo>
                  <a:cubicBezTo>
                    <a:pt x="1798" y="334"/>
                    <a:pt x="1882" y="263"/>
                    <a:pt x="1882" y="167"/>
                  </a:cubicBezTo>
                  <a:cubicBezTo>
                    <a:pt x="1882" y="84"/>
                    <a:pt x="1798" y="1"/>
                    <a:pt x="171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9648;p78">
              <a:extLst>
                <a:ext uri="{FF2B5EF4-FFF2-40B4-BE49-F238E27FC236}">
                  <a16:creationId xmlns:a16="http://schemas.microsoft.com/office/drawing/2014/main" id="{7DA1C854-FE56-D118-31B2-3BEF8ACBA499}"/>
                </a:ext>
              </a:extLst>
            </p:cNvPr>
            <p:cNvSpPr/>
            <p:nvPr/>
          </p:nvSpPr>
          <p:spPr>
            <a:xfrm>
              <a:off x="1009643" y="1732946"/>
              <a:ext cx="98188" cy="10630"/>
            </a:xfrm>
            <a:custGeom>
              <a:avLst/>
              <a:gdLst/>
              <a:ahLst/>
              <a:cxnLst/>
              <a:rect l="l" t="t" r="r" b="b"/>
              <a:pathLst>
                <a:path w="3085" h="334" extrusionOk="0">
                  <a:moveTo>
                    <a:pt x="167" y="0"/>
                  </a:moveTo>
                  <a:cubicBezTo>
                    <a:pt x="72" y="0"/>
                    <a:pt x="0" y="71"/>
                    <a:pt x="0" y="167"/>
                  </a:cubicBezTo>
                  <a:cubicBezTo>
                    <a:pt x="0" y="250"/>
                    <a:pt x="72" y="333"/>
                    <a:pt x="167" y="333"/>
                  </a:cubicBezTo>
                  <a:lnTo>
                    <a:pt x="2917" y="333"/>
                  </a:lnTo>
                  <a:cubicBezTo>
                    <a:pt x="3013" y="333"/>
                    <a:pt x="3084" y="250"/>
                    <a:pt x="3084" y="167"/>
                  </a:cubicBezTo>
                  <a:cubicBezTo>
                    <a:pt x="3084" y="71"/>
                    <a:pt x="3013" y="0"/>
                    <a:pt x="291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9649;p78">
              <a:extLst>
                <a:ext uri="{FF2B5EF4-FFF2-40B4-BE49-F238E27FC236}">
                  <a16:creationId xmlns:a16="http://schemas.microsoft.com/office/drawing/2014/main" id="{8C40796B-7279-C0AD-14A4-822FF95CC9B4}"/>
                </a:ext>
              </a:extLst>
            </p:cNvPr>
            <p:cNvSpPr/>
            <p:nvPr/>
          </p:nvSpPr>
          <p:spPr>
            <a:xfrm>
              <a:off x="1009643" y="1760604"/>
              <a:ext cx="59899" cy="10248"/>
            </a:xfrm>
            <a:custGeom>
              <a:avLst/>
              <a:gdLst/>
              <a:ahLst/>
              <a:cxnLst/>
              <a:rect l="l" t="t" r="r" b="b"/>
              <a:pathLst>
                <a:path w="1882" h="322" extrusionOk="0">
                  <a:moveTo>
                    <a:pt x="167" y="0"/>
                  </a:moveTo>
                  <a:cubicBezTo>
                    <a:pt x="72" y="0"/>
                    <a:pt x="0" y="72"/>
                    <a:pt x="0" y="155"/>
                  </a:cubicBezTo>
                  <a:cubicBezTo>
                    <a:pt x="0" y="250"/>
                    <a:pt x="72" y="322"/>
                    <a:pt x="167" y="322"/>
                  </a:cubicBezTo>
                  <a:lnTo>
                    <a:pt x="1715" y="322"/>
                  </a:lnTo>
                  <a:cubicBezTo>
                    <a:pt x="1798" y="322"/>
                    <a:pt x="1882" y="250"/>
                    <a:pt x="1882" y="155"/>
                  </a:cubicBezTo>
                  <a:cubicBezTo>
                    <a:pt x="1882" y="72"/>
                    <a:pt x="1798" y="0"/>
                    <a:pt x="171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9650;p78">
              <a:extLst>
                <a:ext uri="{FF2B5EF4-FFF2-40B4-BE49-F238E27FC236}">
                  <a16:creationId xmlns:a16="http://schemas.microsoft.com/office/drawing/2014/main" id="{37BC4DD5-6DC9-C10F-31E3-BE7416EB6238}"/>
                </a:ext>
              </a:extLst>
            </p:cNvPr>
            <p:cNvSpPr/>
            <p:nvPr/>
          </p:nvSpPr>
          <p:spPr>
            <a:xfrm>
              <a:off x="1009643" y="1782183"/>
              <a:ext cx="98188" cy="10662"/>
            </a:xfrm>
            <a:custGeom>
              <a:avLst/>
              <a:gdLst/>
              <a:ahLst/>
              <a:cxnLst/>
              <a:rect l="l" t="t" r="r" b="b"/>
              <a:pathLst>
                <a:path w="3085" h="335" extrusionOk="0">
                  <a:moveTo>
                    <a:pt x="167" y="1"/>
                  </a:moveTo>
                  <a:cubicBezTo>
                    <a:pt x="72" y="1"/>
                    <a:pt x="0" y="72"/>
                    <a:pt x="0" y="168"/>
                  </a:cubicBezTo>
                  <a:cubicBezTo>
                    <a:pt x="0" y="251"/>
                    <a:pt x="72" y="334"/>
                    <a:pt x="167" y="334"/>
                  </a:cubicBezTo>
                  <a:lnTo>
                    <a:pt x="2917" y="334"/>
                  </a:lnTo>
                  <a:cubicBezTo>
                    <a:pt x="3013" y="334"/>
                    <a:pt x="3084" y="251"/>
                    <a:pt x="3084" y="168"/>
                  </a:cubicBezTo>
                  <a:cubicBezTo>
                    <a:pt x="3084" y="72"/>
                    <a:pt x="3013" y="1"/>
                    <a:pt x="291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9651;p78">
              <a:extLst>
                <a:ext uri="{FF2B5EF4-FFF2-40B4-BE49-F238E27FC236}">
                  <a16:creationId xmlns:a16="http://schemas.microsoft.com/office/drawing/2014/main" id="{EEEC3C1D-FE5C-5B7B-5753-5F1087040FDD}"/>
                </a:ext>
              </a:extLst>
            </p:cNvPr>
            <p:cNvSpPr/>
            <p:nvPr/>
          </p:nvSpPr>
          <p:spPr>
            <a:xfrm>
              <a:off x="1009643" y="1579473"/>
              <a:ext cx="98188" cy="10630"/>
            </a:xfrm>
            <a:custGeom>
              <a:avLst/>
              <a:gdLst/>
              <a:ahLst/>
              <a:cxnLst/>
              <a:rect l="l" t="t" r="r" b="b"/>
              <a:pathLst>
                <a:path w="3085" h="334" extrusionOk="0">
                  <a:moveTo>
                    <a:pt x="167" y="0"/>
                  </a:moveTo>
                  <a:cubicBezTo>
                    <a:pt x="72" y="0"/>
                    <a:pt x="0" y="71"/>
                    <a:pt x="0" y="167"/>
                  </a:cubicBezTo>
                  <a:cubicBezTo>
                    <a:pt x="0" y="250"/>
                    <a:pt x="72" y="333"/>
                    <a:pt x="167" y="333"/>
                  </a:cubicBezTo>
                  <a:lnTo>
                    <a:pt x="2917" y="333"/>
                  </a:lnTo>
                  <a:cubicBezTo>
                    <a:pt x="3013" y="333"/>
                    <a:pt x="3084" y="250"/>
                    <a:pt x="3084" y="167"/>
                  </a:cubicBezTo>
                  <a:cubicBezTo>
                    <a:pt x="3084" y="71"/>
                    <a:pt x="3013" y="0"/>
                    <a:pt x="291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9652;p78">
              <a:extLst>
                <a:ext uri="{FF2B5EF4-FFF2-40B4-BE49-F238E27FC236}">
                  <a16:creationId xmlns:a16="http://schemas.microsoft.com/office/drawing/2014/main" id="{69615D30-6CDF-ACA6-EAC9-51F451B2E661}"/>
                </a:ext>
              </a:extLst>
            </p:cNvPr>
            <p:cNvSpPr/>
            <p:nvPr/>
          </p:nvSpPr>
          <p:spPr>
            <a:xfrm>
              <a:off x="965689" y="1628711"/>
              <a:ext cx="142142" cy="10662"/>
            </a:xfrm>
            <a:custGeom>
              <a:avLst/>
              <a:gdLst/>
              <a:ahLst/>
              <a:cxnLst/>
              <a:rect l="l" t="t" r="r" b="b"/>
              <a:pathLst>
                <a:path w="4466" h="335" extrusionOk="0">
                  <a:moveTo>
                    <a:pt x="155" y="1"/>
                  </a:moveTo>
                  <a:cubicBezTo>
                    <a:pt x="72" y="1"/>
                    <a:pt x="0" y="72"/>
                    <a:pt x="0" y="168"/>
                  </a:cubicBezTo>
                  <a:cubicBezTo>
                    <a:pt x="0" y="251"/>
                    <a:pt x="72" y="334"/>
                    <a:pt x="155" y="334"/>
                  </a:cubicBezTo>
                  <a:lnTo>
                    <a:pt x="4298" y="334"/>
                  </a:lnTo>
                  <a:cubicBezTo>
                    <a:pt x="4394" y="334"/>
                    <a:pt x="4465" y="251"/>
                    <a:pt x="4465" y="168"/>
                  </a:cubicBezTo>
                  <a:cubicBezTo>
                    <a:pt x="4465" y="72"/>
                    <a:pt x="4394" y="1"/>
                    <a:pt x="429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9653;p78">
              <a:extLst>
                <a:ext uri="{FF2B5EF4-FFF2-40B4-BE49-F238E27FC236}">
                  <a16:creationId xmlns:a16="http://schemas.microsoft.com/office/drawing/2014/main" id="{1616D0DC-B722-8E82-7676-DD98C96E266A}"/>
                </a:ext>
              </a:extLst>
            </p:cNvPr>
            <p:cNvSpPr/>
            <p:nvPr/>
          </p:nvSpPr>
          <p:spPr>
            <a:xfrm>
              <a:off x="1009643" y="1601434"/>
              <a:ext cx="26926" cy="10280"/>
            </a:xfrm>
            <a:custGeom>
              <a:avLst/>
              <a:gdLst/>
              <a:ahLst/>
              <a:cxnLst/>
              <a:rect l="l" t="t" r="r" b="b"/>
              <a:pathLst>
                <a:path w="846" h="323" extrusionOk="0">
                  <a:moveTo>
                    <a:pt x="167" y="1"/>
                  </a:moveTo>
                  <a:cubicBezTo>
                    <a:pt x="72" y="1"/>
                    <a:pt x="0" y="72"/>
                    <a:pt x="0" y="155"/>
                  </a:cubicBezTo>
                  <a:cubicBezTo>
                    <a:pt x="0" y="251"/>
                    <a:pt x="72" y="322"/>
                    <a:pt x="167" y="322"/>
                  </a:cubicBezTo>
                  <a:lnTo>
                    <a:pt x="691" y="322"/>
                  </a:lnTo>
                  <a:cubicBezTo>
                    <a:pt x="774" y="322"/>
                    <a:pt x="846" y="251"/>
                    <a:pt x="846" y="155"/>
                  </a:cubicBezTo>
                  <a:cubicBezTo>
                    <a:pt x="846" y="72"/>
                    <a:pt x="762" y="1"/>
                    <a:pt x="6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9654;p78">
              <a:extLst>
                <a:ext uri="{FF2B5EF4-FFF2-40B4-BE49-F238E27FC236}">
                  <a16:creationId xmlns:a16="http://schemas.microsoft.com/office/drawing/2014/main" id="{E9B57F13-FBBB-13D9-FE20-03E46BD6BB74}"/>
                </a:ext>
              </a:extLst>
            </p:cNvPr>
            <p:cNvSpPr/>
            <p:nvPr/>
          </p:nvSpPr>
          <p:spPr>
            <a:xfrm>
              <a:off x="1047550" y="1601434"/>
              <a:ext cx="26926" cy="10280"/>
            </a:xfrm>
            <a:custGeom>
              <a:avLst/>
              <a:gdLst/>
              <a:ahLst/>
              <a:cxnLst/>
              <a:rect l="l" t="t" r="r" b="b"/>
              <a:pathLst>
                <a:path w="846" h="323" extrusionOk="0">
                  <a:moveTo>
                    <a:pt x="167" y="1"/>
                  </a:moveTo>
                  <a:cubicBezTo>
                    <a:pt x="71" y="1"/>
                    <a:pt x="0" y="72"/>
                    <a:pt x="0" y="155"/>
                  </a:cubicBezTo>
                  <a:cubicBezTo>
                    <a:pt x="0" y="251"/>
                    <a:pt x="71" y="322"/>
                    <a:pt x="167" y="322"/>
                  </a:cubicBezTo>
                  <a:lnTo>
                    <a:pt x="691" y="322"/>
                  </a:lnTo>
                  <a:cubicBezTo>
                    <a:pt x="774" y="322"/>
                    <a:pt x="845" y="251"/>
                    <a:pt x="845" y="155"/>
                  </a:cubicBezTo>
                  <a:cubicBezTo>
                    <a:pt x="845" y="72"/>
                    <a:pt x="774" y="1"/>
                    <a:pt x="6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9655;p78">
              <a:extLst>
                <a:ext uri="{FF2B5EF4-FFF2-40B4-BE49-F238E27FC236}">
                  <a16:creationId xmlns:a16="http://schemas.microsoft.com/office/drawing/2014/main" id="{B7A56C8D-F4AD-6EFC-BA3A-01BA2778D100}"/>
                </a:ext>
              </a:extLst>
            </p:cNvPr>
            <p:cNvSpPr/>
            <p:nvPr/>
          </p:nvSpPr>
          <p:spPr>
            <a:xfrm>
              <a:off x="966071" y="1579473"/>
              <a:ext cx="32241" cy="32241"/>
            </a:xfrm>
            <a:custGeom>
              <a:avLst/>
              <a:gdLst/>
              <a:ahLst/>
              <a:cxnLst/>
              <a:rect l="l" t="t" r="r" b="b"/>
              <a:pathLst>
                <a:path w="1013" h="1013" extrusionOk="0">
                  <a:moveTo>
                    <a:pt x="691" y="310"/>
                  </a:moveTo>
                  <a:lnTo>
                    <a:pt x="691" y="691"/>
                  </a:lnTo>
                  <a:lnTo>
                    <a:pt x="310" y="691"/>
                  </a:lnTo>
                  <a:lnTo>
                    <a:pt x="310" y="310"/>
                  </a:lnTo>
                  <a:close/>
                  <a:moveTo>
                    <a:pt x="167" y="0"/>
                  </a:moveTo>
                  <a:cubicBezTo>
                    <a:pt x="72" y="0"/>
                    <a:pt x="0" y="71"/>
                    <a:pt x="0" y="167"/>
                  </a:cubicBezTo>
                  <a:lnTo>
                    <a:pt x="0" y="845"/>
                  </a:lnTo>
                  <a:cubicBezTo>
                    <a:pt x="0" y="941"/>
                    <a:pt x="72" y="1012"/>
                    <a:pt x="167" y="1012"/>
                  </a:cubicBezTo>
                  <a:lnTo>
                    <a:pt x="846" y="1012"/>
                  </a:lnTo>
                  <a:cubicBezTo>
                    <a:pt x="941" y="1012"/>
                    <a:pt x="1012" y="941"/>
                    <a:pt x="1012" y="845"/>
                  </a:cubicBezTo>
                  <a:lnTo>
                    <a:pt x="1012" y="167"/>
                  </a:lnTo>
                  <a:cubicBezTo>
                    <a:pt x="1000" y="71"/>
                    <a:pt x="941" y="0"/>
                    <a:pt x="84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Rectangle 56">
            <a:extLst>
              <a:ext uri="{FF2B5EF4-FFF2-40B4-BE49-F238E27FC236}">
                <a16:creationId xmlns:a16="http://schemas.microsoft.com/office/drawing/2014/main" id="{5656521E-6368-B239-6D98-5C9E378D2CB9}"/>
              </a:ext>
            </a:extLst>
          </p:cNvPr>
          <p:cNvSpPr/>
          <p:nvPr/>
        </p:nvSpPr>
        <p:spPr>
          <a:xfrm>
            <a:off x="2109609" y="165205"/>
            <a:ext cx="1622317" cy="694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t>آگهی مناقصه(روزنامه های کثیرالانتشارو...)</a:t>
            </a:r>
            <a:endParaRPr lang="en-US" dirty="0"/>
          </a:p>
        </p:txBody>
      </p:sp>
      <p:sp>
        <p:nvSpPr>
          <p:cNvPr id="59" name="Rectangle 58">
            <a:extLst>
              <a:ext uri="{FF2B5EF4-FFF2-40B4-BE49-F238E27FC236}">
                <a16:creationId xmlns:a16="http://schemas.microsoft.com/office/drawing/2014/main" id="{F95D38D5-AE6B-BDBF-96A6-F0C719068883}"/>
              </a:ext>
            </a:extLst>
          </p:cNvPr>
          <p:cNvSpPr/>
          <p:nvPr/>
        </p:nvSpPr>
        <p:spPr>
          <a:xfrm>
            <a:off x="3123989" y="1252638"/>
            <a:ext cx="1622317" cy="694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t>پیشنهادات اگر از سه تا بیشتر باشد.</a:t>
            </a:r>
            <a:endParaRPr lang="en-US" dirty="0"/>
          </a:p>
        </p:txBody>
      </p:sp>
      <p:sp>
        <p:nvSpPr>
          <p:cNvPr id="2" name="Rectangle 1">
            <a:extLst>
              <a:ext uri="{FF2B5EF4-FFF2-40B4-BE49-F238E27FC236}">
                <a16:creationId xmlns:a16="http://schemas.microsoft.com/office/drawing/2014/main" id="{A7A9FD60-6E0D-DE1D-8369-3B2A8B18C869}"/>
              </a:ext>
            </a:extLst>
          </p:cNvPr>
          <p:cNvSpPr/>
          <p:nvPr/>
        </p:nvSpPr>
        <p:spPr>
          <a:xfrm>
            <a:off x="3147068" y="2224714"/>
            <a:ext cx="1622317" cy="694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t>بررسی پیشنهادات</a:t>
            </a:r>
            <a:endParaRPr lang="en-US" dirty="0"/>
          </a:p>
        </p:txBody>
      </p:sp>
      <p:sp>
        <p:nvSpPr>
          <p:cNvPr id="3" name="Rectangle 2">
            <a:extLst>
              <a:ext uri="{FF2B5EF4-FFF2-40B4-BE49-F238E27FC236}">
                <a16:creationId xmlns:a16="http://schemas.microsoft.com/office/drawing/2014/main" id="{22D3FB49-BD76-C538-03F2-464D5F2453B4}"/>
              </a:ext>
            </a:extLst>
          </p:cNvPr>
          <p:cNvSpPr/>
          <p:nvPr/>
        </p:nvSpPr>
        <p:spPr>
          <a:xfrm>
            <a:off x="1107960" y="1244676"/>
            <a:ext cx="1622317" cy="553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t> پیشنهادات اگر از سه تا کمتر باشد.</a:t>
            </a:r>
            <a:endParaRPr lang="en-US" dirty="0"/>
          </a:p>
        </p:txBody>
      </p:sp>
      <p:sp>
        <p:nvSpPr>
          <p:cNvPr id="4" name="Rectangle 3">
            <a:extLst>
              <a:ext uri="{FF2B5EF4-FFF2-40B4-BE49-F238E27FC236}">
                <a16:creationId xmlns:a16="http://schemas.microsoft.com/office/drawing/2014/main" id="{433B9401-A89E-4EDE-1620-918CA34D606B}"/>
              </a:ext>
            </a:extLst>
          </p:cNvPr>
          <p:cNvSpPr/>
          <p:nvPr/>
        </p:nvSpPr>
        <p:spPr>
          <a:xfrm>
            <a:off x="1107960" y="1889598"/>
            <a:ext cx="1622317" cy="4598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t>عدم بررسی و آگهی دوباره</a:t>
            </a:r>
            <a:endParaRPr lang="en-US" dirty="0"/>
          </a:p>
        </p:txBody>
      </p:sp>
      <p:sp>
        <p:nvSpPr>
          <p:cNvPr id="9" name="Rectangle 8">
            <a:extLst>
              <a:ext uri="{FF2B5EF4-FFF2-40B4-BE49-F238E27FC236}">
                <a16:creationId xmlns:a16="http://schemas.microsoft.com/office/drawing/2014/main" id="{BD0D4828-362C-6672-A8DB-00EA7C2472EA}"/>
              </a:ext>
            </a:extLst>
          </p:cNvPr>
          <p:cNvSpPr/>
          <p:nvPr/>
        </p:nvSpPr>
        <p:spPr>
          <a:xfrm>
            <a:off x="2023399" y="4267015"/>
            <a:ext cx="1622317" cy="694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t>بستن پیمان و قرارداد</a:t>
            </a:r>
            <a:endParaRPr lang="en-US" dirty="0"/>
          </a:p>
        </p:txBody>
      </p:sp>
      <p:sp>
        <p:nvSpPr>
          <p:cNvPr id="10" name="Rectangle 9">
            <a:extLst>
              <a:ext uri="{FF2B5EF4-FFF2-40B4-BE49-F238E27FC236}">
                <a16:creationId xmlns:a16="http://schemas.microsoft.com/office/drawing/2014/main" id="{964234C0-6756-33DD-CBAB-7D02A1F1DEDD}"/>
              </a:ext>
            </a:extLst>
          </p:cNvPr>
          <p:cNvSpPr/>
          <p:nvPr/>
        </p:nvSpPr>
        <p:spPr>
          <a:xfrm>
            <a:off x="2024202" y="3436866"/>
            <a:ext cx="1622317" cy="694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t>انجام مناقصه</a:t>
            </a:r>
            <a:endParaRPr lang="en-US" dirty="0"/>
          </a:p>
        </p:txBody>
      </p:sp>
      <p:sp>
        <p:nvSpPr>
          <p:cNvPr id="11" name="Rectangle 10">
            <a:extLst>
              <a:ext uri="{FF2B5EF4-FFF2-40B4-BE49-F238E27FC236}">
                <a16:creationId xmlns:a16="http://schemas.microsoft.com/office/drawing/2014/main" id="{456A6945-5A41-CFFD-346B-B0A6DA73218E}"/>
              </a:ext>
            </a:extLst>
          </p:cNvPr>
          <p:cNvSpPr/>
          <p:nvPr/>
        </p:nvSpPr>
        <p:spPr>
          <a:xfrm>
            <a:off x="1107960" y="2458951"/>
            <a:ext cx="1622317" cy="4598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t>بررسی در هرصورت</a:t>
            </a:r>
            <a:endParaRPr lang="en-US" dirty="0"/>
          </a:p>
        </p:txBody>
      </p:sp>
      <p:cxnSp>
        <p:nvCxnSpPr>
          <p:cNvPr id="15" name="Connector: Elbow 14">
            <a:extLst>
              <a:ext uri="{FF2B5EF4-FFF2-40B4-BE49-F238E27FC236}">
                <a16:creationId xmlns:a16="http://schemas.microsoft.com/office/drawing/2014/main" id="{3341FD5E-A797-E4C5-0EDE-5736E9CE7A00}"/>
              </a:ext>
            </a:extLst>
          </p:cNvPr>
          <p:cNvCxnSpPr>
            <a:stCxn id="57" idx="2"/>
            <a:endCxn id="59" idx="0"/>
          </p:cNvCxnSpPr>
          <p:nvPr/>
        </p:nvCxnSpPr>
        <p:spPr>
          <a:xfrm rot="16200000" flipH="1">
            <a:off x="3231278" y="548767"/>
            <a:ext cx="393361" cy="1014380"/>
          </a:xfrm>
          <a:prstGeom prst="bent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25" name="Connector: Elbow 24">
            <a:extLst>
              <a:ext uri="{FF2B5EF4-FFF2-40B4-BE49-F238E27FC236}">
                <a16:creationId xmlns:a16="http://schemas.microsoft.com/office/drawing/2014/main" id="{B09BBFF3-1F59-E311-9081-03FDA70EA6AA}"/>
              </a:ext>
            </a:extLst>
          </p:cNvPr>
          <p:cNvCxnSpPr>
            <a:stCxn id="57" idx="2"/>
            <a:endCxn id="3" idx="0"/>
          </p:cNvCxnSpPr>
          <p:nvPr/>
        </p:nvCxnSpPr>
        <p:spPr>
          <a:xfrm rot="5400000">
            <a:off x="2227245" y="551152"/>
            <a:ext cx="385399" cy="1001649"/>
          </a:xfrm>
          <a:prstGeom prst="bentConnector3">
            <a:avLst/>
          </a:prstGeom>
          <a:ln>
            <a:tailEnd type="triangle"/>
          </a:ln>
        </p:spPr>
        <p:style>
          <a:lnRef idx="3">
            <a:schemeClr val="dk1"/>
          </a:lnRef>
          <a:fillRef idx="0">
            <a:schemeClr val="dk1"/>
          </a:fillRef>
          <a:effectRef idx="2">
            <a:schemeClr val="dk1"/>
          </a:effectRef>
          <a:fontRef idx="minor">
            <a:schemeClr val="tx1"/>
          </a:fontRef>
        </p:style>
      </p:cxnSp>
      <p:sp>
        <p:nvSpPr>
          <p:cNvPr id="39" name="Arrow: Down 38">
            <a:extLst>
              <a:ext uri="{FF2B5EF4-FFF2-40B4-BE49-F238E27FC236}">
                <a16:creationId xmlns:a16="http://schemas.microsoft.com/office/drawing/2014/main" id="{EF859C02-E33C-DAC9-4ADB-46721778D7E8}"/>
              </a:ext>
            </a:extLst>
          </p:cNvPr>
          <p:cNvSpPr/>
          <p:nvPr/>
        </p:nvSpPr>
        <p:spPr>
          <a:xfrm>
            <a:off x="3912507" y="1946710"/>
            <a:ext cx="45719" cy="278004"/>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42" name="Straight Arrow Connector 41">
            <a:extLst>
              <a:ext uri="{FF2B5EF4-FFF2-40B4-BE49-F238E27FC236}">
                <a16:creationId xmlns:a16="http://schemas.microsoft.com/office/drawing/2014/main" id="{43418D57-7E96-555B-2639-2D3200EFC805}"/>
              </a:ext>
            </a:extLst>
          </p:cNvPr>
          <p:cNvCxnSpPr>
            <a:stCxn id="3" idx="2"/>
            <a:endCxn id="4" idx="0"/>
          </p:cNvCxnSpPr>
          <p:nvPr/>
        </p:nvCxnSpPr>
        <p:spPr>
          <a:xfrm>
            <a:off x="1919119" y="1798674"/>
            <a:ext cx="0" cy="9092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4" name="Connector: Elbow 43">
            <a:extLst>
              <a:ext uri="{FF2B5EF4-FFF2-40B4-BE49-F238E27FC236}">
                <a16:creationId xmlns:a16="http://schemas.microsoft.com/office/drawing/2014/main" id="{C6D52D40-841B-FA2A-A69A-381B05279842}"/>
              </a:ext>
            </a:extLst>
          </p:cNvPr>
          <p:cNvCxnSpPr>
            <a:stCxn id="4" idx="1"/>
            <a:endCxn id="57" idx="1"/>
          </p:cNvCxnSpPr>
          <p:nvPr/>
        </p:nvCxnSpPr>
        <p:spPr>
          <a:xfrm rot="10800000" flipH="1">
            <a:off x="1107959" y="512242"/>
            <a:ext cx="1001649" cy="1607275"/>
          </a:xfrm>
          <a:prstGeom prst="bentConnector3">
            <a:avLst>
              <a:gd name="adj1" fmla="val -22822"/>
            </a:avLst>
          </a:prstGeom>
          <a:ln>
            <a:tailEnd type="triangle"/>
          </a:ln>
        </p:spPr>
        <p:style>
          <a:lnRef idx="3">
            <a:schemeClr val="dk1"/>
          </a:lnRef>
          <a:fillRef idx="0">
            <a:schemeClr val="dk1"/>
          </a:fillRef>
          <a:effectRef idx="2">
            <a:schemeClr val="dk1"/>
          </a:effectRef>
          <a:fontRef idx="minor">
            <a:schemeClr val="tx1"/>
          </a:fontRef>
        </p:style>
      </p:cxnSp>
      <p:cxnSp>
        <p:nvCxnSpPr>
          <p:cNvPr id="48" name="Connector: Elbow 47">
            <a:extLst>
              <a:ext uri="{FF2B5EF4-FFF2-40B4-BE49-F238E27FC236}">
                <a16:creationId xmlns:a16="http://schemas.microsoft.com/office/drawing/2014/main" id="{C2A3FD84-BEF1-48EF-FEAD-96EFE50DBD98}"/>
              </a:ext>
            </a:extLst>
          </p:cNvPr>
          <p:cNvCxnSpPr>
            <a:stCxn id="3" idx="3"/>
            <a:endCxn id="11" idx="3"/>
          </p:cNvCxnSpPr>
          <p:nvPr/>
        </p:nvCxnSpPr>
        <p:spPr>
          <a:xfrm>
            <a:off x="2730277" y="1521675"/>
            <a:ext cx="12700" cy="1167194"/>
          </a:xfrm>
          <a:prstGeom prst="bentConnector3">
            <a:avLst>
              <a:gd name="adj1" fmla="val 1800000"/>
            </a:avLst>
          </a:prstGeom>
          <a:ln>
            <a:tailEnd type="triangle"/>
          </a:ln>
        </p:spPr>
        <p:style>
          <a:lnRef idx="3">
            <a:schemeClr val="dk1"/>
          </a:lnRef>
          <a:fillRef idx="0">
            <a:schemeClr val="dk1"/>
          </a:fillRef>
          <a:effectRef idx="2">
            <a:schemeClr val="dk1"/>
          </a:effectRef>
          <a:fontRef idx="minor">
            <a:schemeClr val="tx1"/>
          </a:fontRef>
        </p:style>
      </p:cxnSp>
      <p:cxnSp>
        <p:nvCxnSpPr>
          <p:cNvPr id="52" name="Connector: Elbow 51">
            <a:extLst>
              <a:ext uri="{FF2B5EF4-FFF2-40B4-BE49-F238E27FC236}">
                <a16:creationId xmlns:a16="http://schemas.microsoft.com/office/drawing/2014/main" id="{487E566A-D4EB-F2FA-B83D-F394D1402B44}"/>
              </a:ext>
            </a:extLst>
          </p:cNvPr>
          <p:cNvCxnSpPr>
            <a:stCxn id="11" idx="2"/>
            <a:endCxn id="10" idx="0"/>
          </p:cNvCxnSpPr>
          <p:nvPr/>
        </p:nvCxnSpPr>
        <p:spPr>
          <a:xfrm rot="16200000" flipH="1">
            <a:off x="2118200" y="2719705"/>
            <a:ext cx="518080" cy="916242"/>
          </a:xfrm>
          <a:prstGeom prst="bent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54" name="Connector: Elbow 53">
            <a:extLst>
              <a:ext uri="{FF2B5EF4-FFF2-40B4-BE49-F238E27FC236}">
                <a16:creationId xmlns:a16="http://schemas.microsoft.com/office/drawing/2014/main" id="{C1C82693-FF2B-7D26-7E8E-5E3A05A61311}"/>
              </a:ext>
            </a:extLst>
          </p:cNvPr>
          <p:cNvCxnSpPr>
            <a:stCxn id="2" idx="2"/>
            <a:endCxn id="10" idx="0"/>
          </p:cNvCxnSpPr>
          <p:nvPr/>
        </p:nvCxnSpPr>
        <p:spPr>
          <a:xfrm rot="5400000">
            <a:off x="3137754" y="2616393"/>
            <a:ext cx="518080" cy="1122866"/>
          </a:xfrm>
          <a:prstGeom prst="bent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56" name="Straight Arrow Connector 55">
            <a:extLst>
              <a:ext uri="{FF2B5EF4-FFF2-40B4-BE49-F238E27FC236}">
                <a16:creationId xmlns:a16="http://schemas.microsoft.com/office/drawing/2014/main" id="{AC609F4B-0439-AAA5-5272-D95B564C3A66}"/>
              </a:ext>
            </a:extLst>
          </p:cNvPr>
          <p:cNvCxnSpPr>
            <a:stCxn id="10" idx="2"/>
            <a:endCxn id="9" idx="0"/>
          </p:cNvCxnSpPr>
          <p:nvPr/>
        </p:nvCxnSpPr>
        <p:spPr>
          <a:xfrm flipH="1">
            <a:off x="2834558" y="4130938"/>
            <a:ext cx="803" cy="13607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937683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1000"/>
                                        <p:tgtEl>
                                          <p:spTgt spid="57"/>
                                        </p:tgtEl>
                                      </p:cBhvr>
                                    </p:animEffect>
                                    <p:anim calcmode="lin" valueType="num">
                                      <p:cBhvr>
                                        <p:cTn id="8" dur="1000" fill="hold"/>
                                        <p:tgtEl>
                                          <p:spTgt spid="57"/>
                                        </p:tgtEl>
                                        <p:attrNameLst>
                                          <p:attrName>ppt_x</p:attrName>
                                        </p:attrNameLst>
                                      </p:cBhvr>
                                      <p:tavLst>
                                        <p:tav tm="0">
                                          <p:val>
                                            <p:strVal val="#ppt_x"/>
                                          </p:val>
                                        </p:tav>
                                        <p:tav tm="100000">
                                          <p:val>
                                            <p:strVal val="#ppt_x"/>
                                          </p:val>
                                        </p:tav>
                                      </p:tavLst>
                                    </p:anim>
                                    <p:anim calcmode="lin" valueType="num">
                                      <p:cBhvr>
                                        <p:cTn id="9"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par>
                                <p:cTn id="14" presetID="53" presetClass="entr" presetSubtype="16" fill="hold" grpId="0" nodeType="withEffect">
                                  <p:stCondLst>
                                    <p:cond delay="0"/>
                                  </p:stCondLst>
                                  <p:childTnLst>
                                    <p:set>
                                      <p:cBhvr>
                                        <p:cTn id="15" dur="1" fill="hold">
                                          <p:stCondLst>
                                            <p:cond delay="0"/>
                                          </p:stCondLst>
                                        </p:cTn>
                                        <p:tgtEl>
                                          <p:spTgt spid="59"/>
                                        </p:tgtEl>
                                        <p:attrNameLst>
                                          <p:attrName>style.visibility</p:attrName>
                                        </p:attrNameLst>
                                      </p:cBhvr>
                                      <p:to>
                                        <p:strVal val="visible"/>
                                      </p:to>
                                    </p:set>
                                    <p:anim calcmode="lin" valueType="num">
                                      <p:cBhvr>
                                        <p:cTn id="16" dur="500" fill="hold"/>
                                        <p:tgtEl>
                                          <p:spTgt spid="59"/>
                                        </p:tgtEl>
                                        <p:attrNameLst>
                                          <p:attrName>ppt_w</p:attrName>
                                        </p:attrNameLst>
                                      </p:cBhvr>
                                      <p:tavLst>
                                        <p:tav tm="0">
                                          <p:val>
                                            <p:fltVal val="0"/>
                                          </p:val>
                                        </p:tav>
                                        <p:tav tm="100000">
                                          <p:val>
                                            <p:strVal val="#ppt_w"/>
                                          </p:val>
                                        </p:tav>
                                      </p:tavLst>
                                    </p:anim>
                                    <p:anim calcmode="lin" valueType="num">
                                      <p:cBhvr>
                                        <p:cTn id="17" dur="500" fill="hold"/>
                                        <p:tgtEl>
                                          <p:spTgt spid="59"/>
                                        </p:tgtEl>
                                        <p:attrNameLst>
                                          <p:attrName>ppt_h</p:attrName>
                                        </p:attrNameLst>
                                      </p:cBhvr>
                                      <p:tavLst>
                                        <p:tav tm="0">
                                          <p:val>
                                            <p:fltVal val="0"/>
                                          </p:val>
                                        </p:tav>
                                        <p:tav tm="100000">
                                          <p:val>
                                            <p:strVal val="#ppt_h"/>
                                          </p:val>
                                        </p:tav>
                                      </p:tavLst>
                                    </p:anim>
                                    <p:animEffect transition="in" filter="fade">
                                      <p:cBhvr>
                                        <p:cTn id="18" dur="500"/>
                                        <p:tgtEl>
                                          <p:spTgt spid="59"/>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0"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54"/>
                                        </p:tgtEl>
                                        <p:attrNameLst>
                                          <p:attrName>style.visibility</p:attrName>
                                        </p:attrNameLst>
                                      </p:cBhvr>
                                      <p:to>
                                        <p:strVal val="visible"/>
                                      </p:to>
                                    </p:set>
                                  </p:childTnLst>
                                </p:cTn>
                              </p:par>
                              <p:par>
                                <p:cTn id="30" presetID="2" presetClass="entr" presetSubtype="4"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ppt_x</p:attrName>
                                        </p:attrNameLst>
                                      </p:cBhvr>
                                      <p:tavLst>
                                        <p:tav tm="0">
                                          <p:val>
                                            <p:strVal val="#ppt_x"/>
                                          </p:val>
                                        </p:tav>
                                        <p:tav tm="100000">
                                          <p:val>
                                            <p:strVal val="#ppt_x"/>
                                          </p:val>
                                        </p:tav>
                                      </p:tavLst>
                                    </p:anim>
                                    <p:anim calcmode="lin" valueType="num">
                                      <p:cBhvr additive="base">
                                        <p:cTn id="3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56"/>
                                        </p:tgtEl>
                                        <p:attrNameLst>
                                          <p:attrName>style.visibility</p:attrName>
                                        </p:attrNameLst>
                                      </p:cBhvr>
                                      <p:to>
                                        <p:strVal val="visible"/>
                                      </p:to>
                                    </p:set>
                                  </p:childTnLst>
                                </p:cTn>
                              </p:par>
                              <p:par>
                                <p:cTn id="38" presetID="2" presetClass="entr" presetSubtype="4" fill="hold" grpId="0" nodeType="with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fill="hold"/>
                                        <p:tgtEl>
                                          <p:spTgt spid="9"/>
                                        </p:tgtEl>
                                        <p:attrNameLst>
                                          <p:attrName>ppt_x</p:attrName>
                                        </p:attrNameLst>
                                      </p:cBhvr>
                                      <p:tavLst>
                                        <p:tav tm="0">
                                          <p:val>
                                            <p:strVal val="#ppt_x"/>
                                          </p:val>
                                        </p:tav>
                                        <p:tav tm="100000">
                                          <p:val>
                                            <p:strVal val="#ppt_x"/>
                                          </p:val>
                                        </p:tav>
                                      </p:tavLst>
                                    </p:anim>
                                    <p:anim calcmode="lin" valueType="num">
                                      <p:cBhvr additive="base">
                                        <p:cTn id="4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5"/>
                                        </p:tgtEl>
                                        <p:attrNameLst>
                                          <p:attrName>style.visibility</p:attrName>
                                        </p:attrNameLst>
                                      </p:cBhvr>
                                      <p:to>
                                        <p:strVal val="visible"/>
                                      </p:to>
                                    </p:set>
                                  </p:childTnLst>
                                </p:cTn>
                              </p:par>
                              <p:par>
                                <p:cTn id="46" presetID="6" presetClass="entr" presetSubtype="16" fill="hold" grpId="0" nodeType="with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circle(in)">
                                      <p:cBhvr>
                                        <p:cTn id="48" dur="2000"/>
                                        <p:tgtEl>
                                          <p:spTgt spid="3"/>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par>
                                <p:cTn id="53" presetID="42" presetClass="entr" presetSubtype="0" fill="hold" grpId="0" nodeType="with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fade">
                                      <p:cBhvr>
                                        <p:cTn id="55" dur="1000"/>
                                        <p:tgtEl>
                                          <p:spTgt spid="4"/>
                                        </p:tgtEl>
                                      </p:cBhvr>
                                    </p:animEffect>
                                    <p:anim calcmode="lin" valueType="num">
                                      <p:cBhvr>
                                        <p:cTn id="56" dur="1000" fill="hold"/>
                                        <p:tgtEl>
                                          <p:spTgt spid="4"/>
                                        </p:tgtEl>
                                        <p:attrNameLst>
                                          <p:attrName>ppt_x</p:attrName>
                                        </p:attrNameLst>
                                      </p:cBhvr>
                                      <p:tavLst>
                                        <p:tav tm="0">
                                          <p:val>
                                            <p:strVal val="#ppt_x"/>
                                          </p:val>
                                        </p:tav>
                                        <p:tav tm="100000">
                                          <p:val>
                                            <p:strVal val="#ppt_x"/>
                                          </p:val>
                                        </p:tav>
                                      </p:tavLst>
                                    </p:anim>
                                    <p:anim calcmode="lin" valueType="num">
                                      <p:cBhvr>
                                        <p:cTn id="57" dur="1000" fill="hold"/>
                                        <p:tgtEl>
                                          <p:spTgt spid="4"/>
                                        </p:tgtEl>
                                        <p:attrNameLst>
                                          <p:attrName>ppt_y</p:attrName>
                                        </p:attrNameLst>
                                      </p:cBhvr>
                                      <p:tavLst>
                                        <p:tav tm="0">
                                          <p:val>
                                            <p:strVal val="#ppt_y+.1"/>
                                          </p:val>
                                        </p:tav>
                                        <p:tav tm="100000">
                                          <p:val>
                                            <p:strVal val="#ppt_y"/>
                                          </p:val>
                                        </p:tav>
                                      </p:tavLst>
                                    </p:anim>
                                  </p:childTnLst>
                                </p:cTn>
                              </p:par>
                              <p:par>
                                <p:cTn id="58" presetID="1" presetClass="entr" presetSubtype="0" fill="hold" nodeType="withEffect">
                                  <p:stCondLst>
                                    <p:cond delay="0"/>
                                  </p:stCondLst>
                                  <p:childTnLst>
                                    <p:set>
                                      <p:cBhvr>
                                        <p:cTn id="59" dur="1" fill="hold">
                                          <p:stCondLst>
                                            <p:cond delay="0"/>
                                          </p:stCondLst>
                                        </p:cTn>
                                        <p:tgtEl>
                                          <p:spTgt spid="44"/>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48"/>
                                        </p:tgtEl>
                                        <p:attrNameLst>
                                          <p:attrName>style.visibility</p:attrName>
                                        </p:attrNameLst>
                                      </p:cBhvr>
                                      <p:to>
                                        <p:strVal val="visible"/>
                                      </p:to>
                                    </p:set>
                                  </p:childTnLst>
                                </p:cTn>
                              </p:par>
                              <p:par>
                                <p:cTn id="64" presetID="10" presetClass="entr" presetSubtype="0" fill="hold" grpId="0" nodeType="with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fade">
                                      <p:cBhvr>
                                        <p:cTn id="66" dur="500"/>
                                        <p:tgtEl>
                                          <p:spTgt spid="11"/>
                                        </p:tgtEl>
                                      </p:cBhvr>
                                    </p:animEffect>
                                  </p:childTnLst>
                                </p:cTn>
                              </p:par>
                              <p:par>
                                <p:cTn id="67" presetID="1" presetClass="entr" presetSubtype="0" fill="hold" nodeType="withEffect">
                                  <p:stCondLst>
                                    <p:cond delay="0"/>
                                  </p:stCondLst>
                                  <p:childTnLst>
                                    <p:set>
                                      <p:cBhvr>
                                        <p:cTn id="6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9" grpId="0" animBg="1"/>
      <p:bldP spid="2" grpId="0" animBg="1"/>
      <p:bldP spid="3" grpId="0" animBg="1"/>
      <p:bldP spid="4" grpId="0" animBg="1"/>
      <p:bldP spid="9" grpId="0" animBg="1"/>
      <p:bldP spid="10" grpId="0" animBg="1"/>
      <p:bldP spid="11" grpId="0" animBg="1"/>
      <p:bldP spid="3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08"/>
        <p:cNvGrpSpPr/>
        <p:nvPr/>
      </p:nvGrpSpPr>
      <p:grpSpPr>
        <a:xfrm>
          <a:off x="0" y="0"/>
          <a:ext cx="0" cy="0"/>
          <a:chOff x="0" y="0"/>
          <a:chExt cx="0" cy="0"/>
        </a:xfrm>
      </p:grpSpPr>
      <p:pic>
        <p:nvPicPr>
          <p:cNvPr id="310" name="Google Shape;310;p35"/>
          <p:cNvPicPr preferRelativeResize="0"/>
          <p:nvPr/>
        </p:nvPicPr>
        <p:blipFill rotWithShape="1">
          <a:blip r:embed="rId3">
            <a:alphaModFix/>
          </a:blip>
          <a:srcRect l="15976" r="15975"/>
          <a:stretch/>
        </p:blipFill>
        <p:spPr>
          <a:xfrm>
            <a:off x="-97960" y="-77910"/>
            <a:ext cx="5408990" cy="5299322"/>
          </a:xfrm>
          <a:prstGeom prst="rect">
            <a:avLst/>
          </a:prstGeom>
          <a:noFill/>
          <a:ln>
            <a:noFill/>
          </a:ln>
        </p:spPr>
      </p:pic>
      <p:sp>
        <p:nvSpPr>
          <p:cNvPr id="311" name="Google Shape;311;p35"/>
          <p:cNvSpPr txBox="1"/>
          <p:nvPr/>
        </p:nvSpPr>
        <p:spPr>
          <a:xfrm>
            <a:off x="5858327" y="590550"/>
            <a:ext cx="2481600" cy="615553"/>
          </a:xfrm>
          <a:prstGeom prst="rect">
            <a:avLst/>
          </a:prstGeom>
          <a:noFill/>
          <a:ln>
            <a:noFill/>
          </a:ln>
        </p:spPr>
        <p:txBody>
          <a:bodyPr spcFirstLastPara="1" wrap="square" lIns="0" tIns="0" rIns="0" bIns="0" anchor="t" anchorCtr="0">
            <a:spAutoFit/>
          </a:bodyPr>
          <a:lstStyle/>
          <a:p>
            <a:pPr marL="0" marR="0" lvl="0" indent="0" algn="ctr" rtl="1">
              <a:lnSpc>
                <a:spcPct val="100000"/>
              </a:lnSpc>
              <a:spcBef>
                <a:spcPts val="0"/>
              </a:spcBef>
              <a:spcAft>
                <a:spcPts val="0"/>
              </a:spcAft>
              <a:buNone/>
            </a:pPr>
            <a:r>
              <a:rPr lang="fa-IR" sz="4000" b="1" i="0" u="none" strike="noStrike" cap="none" dirty="0">
                <a:solidFill>
                  <a:srgbClr val="FFFFFF"/>
                </a:solidFill>
                <a:latin typeface="Open Sans"/>
                <a:ea typeface="Open Sans"/>
                <a:cs typeface="B Nazanin" panose="00000700000000000000" pitchFamily="2" charset="-78"/>
                <a:sym typeface="Open Sans"/>
              </a:rPr>
              <a:t>بودجه</a:t>
            </a:r>
            <a:endParaRPr sz="700" b="1" dirty="0">
              <a:latin typeface="Open Sans"/>
              <a:ea typeface="Open Sans"/>
              <a:cs typeface="B Nazanin" panose="00000700000000000000" pitchFamily="2" charset="-78"/>
              <a:sym typeface="Open Sans"/>
            </a:endParaRPr>
          </a:p>
        </p:txBody>
      </p:sp>
      <p:grpSp>
        <p:nvGrpSpPr>
          <p:cNvPr id="313" name="Google Shape;313;p35"/>
          <p:cNvGrpSpPr/>
          <p:nvPr/>
        </p:nvGrpSpPr>
        <p:grpSpPr>
          <a:xfrm>
            <a:off x="8837359" y="-72330"/>
            <a:ext cx="1543051" cy="5808473"/>
            <a:chOff x="0" y="-38100"/>
            <a:chExt cx="812800" cy="3059607"/>
          </a:xfrm>
        </p:grpSpPr>
        <p:sp>
          <p:nvSpPr>
            <p:cNvPr id="314" name="Google Shape;314;p35"/>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FFFFFF">
                <a:alpha val="13333"/>
              </a:srgbClr>
            </a:solidFill>
            <a:ln>
              <a:noFill/>
            </a:ln>
          </p:spPr>
          <p:txBody>
            <a:bodyPr/>
            <a:lstStyle/>
            <a:p>
              <a:endParaRPr lang="en-US"/>
            </a:p>
          </p:txBody>
        </p:sp>
        <p:sp>
          <p:nvSpPr>
            <p:cNvPr id="315" name="Google Shape;315;p35"/>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316" name="Google Shape;316;p35"/>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cxnSp>
        <p:nvCxnSpPr>
          <p:cNvPr id="317" name="Google Shape;317;p35"/>
          <p:cNvCxnSpPr/>
          <p:nvPr/>
        </p:nvCxnSpPr>
        <p:spPr>
          <a:xfrm rot="5400000">
            <a:off x="4204750" y="903533"/>
            <a:ext cx="2812307" cy="0"/>
          </a:xfrm>
          <a:prstGeom prst="straightConnector1">
            <a:avLst/>
          </a:prstGeom>
          <a:noFill/>
          <a:ln w="9525" cap="flat" cmpd="sng">
            <a:solidFill>
              <a:srgbClr val="FFFFFF"/>
            </a:solidFill>
            <a:prstDash val="solid"/>
            <a:round/>
            <a:headEnd type="none" w="sm" len="sm"/>
            <a:tailEnd type="none" w="sm" len="sm"/>
          </a:ln>
        </p:spPr>
      </p:cxnSp>
      <p:sp>
        <p:nvSpPr>
          <p:cNvPr id="2" name="Rectangle 1">
            <a:extLst>
              <a:ext uri="{FF2B5EF4-FFF2-40B4-BE49-F238E27FC236}">
                <a16:creationId xmlns:a16="http://schemas.microsoft.com/office/drawing/2014/main" id="{64C7D4AD-1A3A-0D1E-DABA-E7906D5EA57B}"/>
              </a:ext>
            </a:extLst>
          </p:cNvPr>
          <p:cNvSpPr/>
          <p:nvPr/>
        </p:nvSpPr>
        <p:spPr>
          <a:xfrm>
            <a:off x="-110608" y="-72330"/>
            <a:ext cx="5421638" cy="5352253"/>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Google Shape;317;p35">
            <a:extLst>
              <a:ext uri="{FF2B5EF4-FFF2-40B4-BE49-F238E27FC236}">
                <a16:creationId xmlns:a16="http://schemas.microsoft.com/office/drawing/2014/main" id="{777A3E24-920D-4540-A5DC-9D939FC6FD60}"/>
              </a:ext>
            </a:extLst>
          </p:cNvPr>
          <p:cNvCxnSpPr>
            <a:cxnSpLocks/>
          </p:cNvCxnSpPr>
          <p:nvPr/>
        </p:nvCxnSpPr>
        <p:spPr>
          <a:xfrm>
            <a:off x="291652" y="-178769"/>
            <a:ext cx="0" cy="3652017"/>
          </a:xfrm>
          <a:prstGeom prst="straightConnector1">
            <a:avLst/>
          </a:prstGeom>
          <a:ln>
            <a:headEnd type="none" w="sm" len="sm"/>
            <a:tailEnd type="none" w="sm" len="sm"/>
          </a:ln>
        </p:spPr>
        <p:style>
          <a:lnRef idx="1">
            <a:schemeClr val="dk1"/>
          </a:lnRef>
          <a:fillRef idx="0">
            <a:schemeClr val="dk1"/>
          </a:fillRef>
          <a:effectRef idx="0">
            <a:schemeClr val="dk1"/>
          </a:effectRef>
          <a:fontRef idx="minor">
            <a:schemeClr val="tx1"/>
          </a:fontRef>
        </p:style>
      </p:cxnSp>
      <p:sp>
        <p:nvSpPr>
          <p:cNvPr id="6" name="Rectangle 5">
            <a:extLst>
              <a:ext uri="{FF2B5EF4-FFF2-40B4-BE49-F238E27FC236}">
                <a16:creationId xmlns:a16="http://schemas.microsoft.com/office/drawing/2014/main" id="{F638EA8D-7729-9756-0BA0-1994B86DFEDC}"/>
              </a:ext>
            </a:extLst>
          </p:cNvPr>
          <p:cNvSpPr/>
          <p:nvPr/>
        </p:nvSpPr>
        <p:spPr>
          <a:xfrm>
            <a:off x="939807" y="737462"/>
            <a:ext cx="3682111" cy="3732668"/>
          </a:xfrm>
          <a:prstGeom prst="rect">
            <a:avLst/>
          </a:prstGeom>
          <a:solidFill>
            <a:schemeClr val="tx2">
              <a:lumMod val="25000"/>
            </a:schemeClr>
          </a:solidFill>
        </p:spPr>
        <p:style>
          <a:lnRef idx="3">
            <a:schemeClr val="lt1"/>
          </a:lnRef>
          <a:fillRef idx="1">
            <a:schemeClr val="dk1"/>
          </a:fillRef>
          <a:effectRef idx="1">
            <a:schemeClr val="dk1"/>
          </a:effectRef>
          <a:fontRef idx="minor">
            <a:schemeClr val="lt1"/>
          </a:fontRef>
        </p:style>
        <p:txBody>
          <a:bodyPr rtlCol="0" anchor="ctr"/>
          <a:lstStyle/>
          <a:p>
            <a:pPr algn="r" rtl="1">
              <a:lnSpc>
                <a:spcPct val="120000"/>
              </a:lnSpc>
            </a:pPr>
            <a:r>
              <a:rPr lang="fa-IR" sz="1400" b="1" dirty="0">
                <a:latin typeface="IRZeytoon" panose="02000503000000020002" pitchFamily="2" charset="-78"/>
                <a:cs typeface="B Nazanin" panose="00000400000000000000" pitchFamily="2" charset="-78"/>
              </a:rPr>
              <a:t>بودجه سالانه شهرداري يك برنامه جامع مالي كه در آن كليه خدمات و فعاليت ها و اقداماتي كه بايد در یک سال مالي انجام شود، همراه با برآورد مبلغ و ميزان مخارج و درآمدهاي لازم براي تأمين هزينه انجام آن ها پيش بيني مي شود و پس از تصويب انجمن شهر قابل اجراست.</a:t>
            </a:r>
          </a:p>
          <a:p>
            <a:pPr algn="r" rtl="1">
              <a:lnSpc>
                <a:spcPct val="120000"/>
              </a:lnSpc>
            </a:pPr>
            <a:r>
              <a:rPr lang="fa-IR" sz="1400" b="1" dirty="0">
                <a:latin typeface="IRZeytoon" panose="02000503000000020002" pitchFamily="2" charset="-78"/>
                <a:cs typeface="B Nazanin" panose="00000400000000000000" pitchFamily="2" charset="-78"/>
              </a:rPr>
              <a:t> دوره عمل بودجه هر سال تا 15 ارديبهشت ماه سال بعد خواهد بود.</a:t>
            </a:r>
          </a:p>
          <a:p>
            <a:pPr algn="r" rtl="1">
              <a:lnSpc>
                <a:spcPct val="120000"/>
              </a:lnSpc>
            </a:pPr>
            <a:r>
              <a:rPr lang="fa-IR" sz="1400" b="1" dirty="0">
                <a:latin typeface="IRZeytoon" panose="02000503000000020002" pitchFamily="2" charset="-78"/>
                <a:cs typeface="B Nazanin" panose="00000400000000000000" pitchFamily="2" charset="-78"/>
              </a:rPr>
              <a:t>طرز تنظيم برنامه و بودجه و ... را وزارت كشور تصويب و ابلاغ کرده است.</a:t>
            </a:r>
          </a:p>
          <a:p>
            <a:pPr algn="r" rtl="1">
              <a:lnSpc>
                <a:spcPct val="120000"/>
              </a:lnSpc>
            </a:pPr>
            <a:r>
              <a:rPr lang="fa-IR" sz="1400" b="1" dirty="0">
                <a:latin typeface="IRZeytoon" panose="02000503000000020002" pitchFamily="2" charset="-78"/>
                <a:cs typeface="B Nazanin" panose="00000400000000000000" pitchFamily="2" charset="-78"/>
              </a:rPr>
              <a:t>مسئوليت تنظيم بودجه شهرداري و مراقبت در حسن اجراي آن و همچنين تنظيم تفريغ بودجه به عهده شهردار و مسئول امور مالي است و واگذاري اين وظيفه از طرف شهردار به هر يك از مأمورين ديگر شهرداري رفع مسئوليت نخواهد كرد.</a:t>
            </a:r>
            <a:endParaRPr lang="en-US" dirty="0"/>
          </a:p>
        </p:txBody>
      </p:sp>
      <p:grpSp>
        <p:nvGrpSpPr>
          <p:cNvPr id="7" name="Google Shape;9046;p76">
            <a:extLst>
              <a:ext uri="{FF2B5EF4-FFF2-40B4-BE49-F238E27FC236}">
                <a16:creationId xmlns:a16="http://schemas.microsoft.com/office/drawing/2014/main" id="{14FD32B4-6654-69BA-09DC-FE476570D249}"/>
              </a:ext>
            </a:extLst>
          </p:cNvPr>
          <p:cNvGrpSpPr/>
          <p:nvPr/>
        </p:nvGrpSpPr>
        <p:grpSpPr>
          <a:xfrm>
            <a:off x="6222457" y="2868071"/>
            <a:ext cx="2117470" cy="1479253"/>
            <a:chOff x="6849393" y="3733994"/>
            <a:chExt cx="355053" cy="248038"/>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grpSpPr>
        <p:sp>
          <p:nvSpPr>
            <p:cNvPr id="8" name="Google Shape;9047;p76">
              <a:extLst>
                <a:ext uri="{FF2B5EF4-FFF2-40B4-BE49-F238E27FC236}">
                  <a16:creationId xmlns:a16="http://schemas.microsoft.com/office/drawing/2014/main" id="{B8B99D56-4FF0-814A-7E97-AFAEFDB89A98}"/>
                </a:ext>
              </a:extLst>
            </p:cNvPr>
            <p:cNvSpPr/>
            <p:nvPr/>
          </p:nvSpPr>
          <p:spPr>
            <a:xfrm>
              <a:off x="6849393" y="3733994"/>
              <a:ext cx="355053" cy="248038"/>
            </a:xfrm>
            <a:custGeom>
              <a:avLst/>
              <a:gdLst/>
              <a:ahLst/>
              <a:cxnLst/>
              <a:rect l="l" t="t" r="r" b="b"/>
              <a:pathLst>
                <a:path w="11181" h="7811" extrusionOk="0">
                  <a:moveTo>
                    <a:pt x="10800" y="357"/>
                  </a:moveTo>
                  <a:cubicBezTo>
                    <a:pt x="10800" y="357"/>
                    <a:pt x="10823" y="357"/>
                    <a:pt x="10823" y="369"/>
                  </a:cubicBezTo>
                  <a:lnTo>
                    <a:pt x="10823" y="5227"/>
                  </a:lnTo>
                  <a:lnTo>
                    <a:pt x="346" y="5239"/>
                  </a:lnTo>
                  <a:cubicBezTo>
                    <a:pt x="346" y="5239"/>
                    <a:pt x="334" y="5239"/>
                    <a:pt x="334" y="5227"/>
                  </a:cubicBezTo>
                  <a:lnTo>
                    <a:pt x="334" y="369"/>
                  </a:lnTo>
                  <a:cubicBezTo>
                    <a:pt x="334" y="369"/>
                    <a:pt x="334" y="357"/>
                    <a:pt x="346" y="357"/>
                  </a:cubicBezTo>
                  <a:close/>
                  <a:moveTo>
                    <a:pt x="10835" y="5572"/>
                  </a:moveTo>
                  <a:lnTo>
                    <a:pt x="10823" y="5977"/>
                  </a:lnTo>
                  <a:lnTo>
                    <a:pt x="10252" y="5977"/>
                  </a:lnTo>
                  <a:cubicBezTo>
                    <a:pt x="10169" y="5977"/>
                    <a:pt x="10073" y="6060"/>
                    <a:pt x="10073" y="6156"/>
                  </a:cubicBezTo>
                  <a:cubicBezTo>
                    <a:pt x="10073" y="6263"/>
                    <a:pt x="10157" y="6334"/>
                    <a:pt x="10252" y="6334"/>
                  </a:cubicBezTo>
                  <a:lnTo>
                    <a:pt x="10823" y="6334"/>
                  </a:lnTo>
                  <a:lnTo>
                    <a:pt x="10823" y="6739"/>
                  </a:lnTo>
                  <a:lnTo>
                    <a:pt x="8014" y="6739"/>
                  </a:lnTo>
                  <a:cubicBezTo>
                    <a:pt x="7918" y="6739"/>
                    <a:pt x="7823" y="6811"/>
                    <a:pt x="7823" y="6918"/>
                  </a:cubicBezTo>
                  <a:cubicBezTo>
                    <a:pt x="7823" y="7013"/>
                    <a:pt x="7906" y="7096"/>
                    <a:pt x="8014" y="7096"/>
                  </a:cubicBezTo>
                  <a:lnTo>
                    <a:pt x="10823" y="7096"/>
                  </a:lnTo>
                  <a:lnTo>
                    <a:pt x="10823" y="7489"/>
                  </a:lnTo>
                  <a:cubicBezTo>
                    <a:pt x="10823" y="7489"/>
                    <a:pt x="10823" y="7501"/>
                    <a:pt x="10812" y="7501"/>
                  </a:cubicBezTo>
                  <a:lnTo>
                    <a:pt x="358" y="7501"/>
                  </a:lnTo>
                  <a:cubicBezTo>
                    <a:pt x="358" y="7501"/>
                    <a:pt x="346" y="7501"/>
                    <a:pt x="346" y="7489"/>
                  </a:cubicBezTo>
                  <a:lnTo>
                    <a:pt x="346" y="7096"/>
                  </a:lnTo>
                  <a:lnTo>
                    <a:pt x="7263" y="7096"/>
                  </a:lnTo>
                  <a:cubicBezTo>
                    <a:pt x="7359" y="7096"/>
                    <a:pt x="7442" y="7025"/>
                    <a:pt x="7442" y="6918"/>
                  </a:cubicBezTo>
                  <a:cubicBezTo>
                    <a:pt x="7442" y="6834"/>
                    <a:pt x="7371" y="6739"/>
                    <a:pt x="7263" y="6739"/>
                  </a:cubicBezTo>
                  <a:lnTo>
                    <a:pt x="346" y="6739"/>
                  </a:lnTo>
                  <a:lnTo>
                    <a:pt x="346" y="6334"/>
                  </a:lnTo>
                  <a:lnTo>
                    <a:pt x="9514" y="6334"/>
                  </a:lnTo>
                  <a:cubicBezTo>
                    <a:pt x="9597" y="6334"/>
                    <a:pt x="9692" y="6263"/>
                    <a:pt x="9692" y="6156"/>
                  </a:cubicBezTo>
                  <a:cubicBezTo>
                    <a:pt x="9692" y="6072"/>
                    <a:pt x="9621" y="5977"/>
                    <a:pt x="9514" y="5977"/>
                  </a:cubicBezTo>
                  <a:lnTo>
                    <a:pt x="346" y="5977"/>
                  </a:lnTo>
                  <a:lnTo>
                    <a:pt x="346" y="5572"/>
                  </a:lnTo>
                  <a:close/>
                  <a:moveTo>
                    <a:pt x="358" y="0"/>
                  </a:moveTo>
                  <a:cubicBezTo>
                    <a:pt x="167" y="0"/>
                    <a:pt x="1" y="167"/>
                    <a:pt x="1" y="357"/>
                  </a:cubicBezTo>
                  <a:lnTo>
                    <a:pt x="1" y="7453"/>
                  </a:lnTo>
                  <a:cubicBezTo>
                    <a:pt x="1" y="7644"/>
                    <a:pt x="167" y="7811"/>
                    <a:pt x="358" y="7811"/>
                  </a:cubicBezTo>
                  <a:lnTo>
                    <a:pt x="10823" y="7811"/>
                  </a:lnTo>
                  <a:cubicBezTo>
                    <a:pt x="11014" y="7811"/>
                    <a:pt x="11181" y="7644"/>
                    <a:pt x="11181" y="7453"/>
                  </a:cubicBezTo>
                  <a:lnTo>
                    <a:pt x="11181" y="357"/>
                  </a:lnTo>
                  <a:cubicBezTo>
                    <a:pt x="11181" y="167"/>
                    <a:pt x="11014" y="0"/>
                    <a:pt x="108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9" name="Google Shape;9048;p76">
              <a:extLst>
                <a:ext uri="{FF2B5EF4-FFF2-40B4-BE49-F238E27FC236}">
                  <a16:creationId xmlns:a16="http://schemas.microsoft.com/office/drawing/2014/main" id="{8DE41047-BD7D-020F-C54B-E68AFC23E572}"/>
                </a:ext>
              </a:extLst>
            </p:cNvPr>
            <p:cNvSpPr/>
            <p:nvPr/>
          </p:nvSpPr>
          <p:spPr>
            <a:xfrm>
              <a:off x="7080411" y="3758192"/>
              <a:ext cx="100219" cy="129687"/>
            </a:xfrm>
            <a:custGeom>
              <a:avLst/>
              <a:gdLst/>
              <a:ahLst/>
              <a:cxnLst/>
              <a:rect l="l" t="t" r="r" b="b"/>
              <a:pathLst>
                <a:path w="3156" h="4084" extrusionOk="0">
                  <a:moveTo>
                    <a:pt x="179" y="0"/>
                  </a:moveTo>
                  <a:cubicBezTo>
                    <a:pt x="96" y="0"/>
                    <a:pt x="0" y="72"/>
                    <a:pt x="0" y="179"/>
                  </a:cubicBezTo>
                  <a:cubicBezTo>
                    <a:pt x="0" y="274"/>
                    <a:pt x="84" y="357"/>
                    <a:pt x="179" y="357"/>
                  </a:cubicBezTo>
                  <a:lnTo>
                    <a:pt x="2072" y="357"/>
                  </a:lnTo>
                  <a:cubicBezTo>
                    <a:pt x="2144" y="726"/>
                    <a:pt x="2429" y="1012"/>
                    <a:pt x="2798" y="1084"/>
                  </a:cubicBezTo>
                  <a:lnTo>
                    <a:pt x="2798" y="3001"/>
                  </a:lnTo>
                  <a:cubicBezTo>
                    <a:pt x="2429" y="3072"/>
                    <a:pt x="2144" y="3358"/>
                    <a:pt x="2072" y="3727"/>
                  </a:cubicBezTo>
                  <a:lnTo>
                    <a:pt x="179" y="3727"/>
                  </a:lnTo>
                  <a:cubicBezTo>
                    <a:pt x="96" y="3727"/>
                    <a:pt x="0" y="3810"/>
                    <a:pt x="0" y="3905"/>
                  </a:cubicBezTo>
                  <a:cubicBezTo>
                    <a:pt x="0" y="4013"/>
                    <a:pt x="84" y="4084"/>
                    <a:pt x="179" y="4084"/>
                  </a:cubicBezTo>
                  <a:lnTo>
                    <a:pt x="2239" y="4084"/>
                  </a:lnTo>
                  <a:cubicBezTo>
                    <a:pt x="2322" y="4084"/>
                    <a:pt x="2417" y="4013"/>
                    <a:pt x="2417" y="3905"/>
                  </a:cubicBezTo>
                  <a:cubicBezTo>
                    <a:pt x="2417" y="3596"/>
                    <a:pt x="2667" y="3346"/>
                    <a:pt x="2977" y="3346"/>
                  </a:cubicBezTo>
                  <a:cubicBezTo>
                    <a:pt x="3072" y="3346"/>
                    <a:pt x="3156" y="3274"/>
                    <a:pt x="3156" y="3167"/>
                  </a:cubicBezTo>
                  <a:lnTo>
                    <a:pt x="3156" y="917"/>
                  </a:lnTo>
                  <a:cubicBezTo>
                    <a:pt x="3156" y="810"/>
                    <a:pt x="3072" y="738"/>
                    <a:pt x="2977" y="738"/>
                  </a:cubicBezTo>
                  <a:cubicBezTo>
                    <a:pt x="2667" y="738"/>
                    <a:pt x="2417" y="488"/>
                    <a:pt x="2417" y="179"/>
                  </a:cubicBezTo>
                  <a:cubicBezTo>
                    <a:pt x="2417" y="83"/>
                    <a:pt x="2346" y="0"/>
                    <a:pt x="223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10" name="Google Shape;9049;p76">
              <a:extLst>
                <a:ext uri="{FF2B5EF4-FFF2-40B4-BE49-F238E27FC236}">
                  <a16:creationId xmlns:a16="http://schemas.microsoft.com/office/drawing/2014/main" id="{1A8FDB0D-0D88-D30D-F5CC-B90DD3885D04}"/>
                </a:ext>
              </a:extLst>
            </p:cNvPr>
            <p:cNvSpPr/>
            <p:nvPr/>
          </p:nvSpPr>
          <p:spPr>
            <a:xfrm>
              <a:off x="6873209" y="3757811"/>
              <a:ext cx="100219" cy="130068"/>
            </a:xfrm>
            <a:custGeom>
              <a:avLst/>
              <a:gdLst/>
              <a:ahLst/>
              <a:cxnLst/>
              <a:rect l="l" t="t" r="r" b="b"/>
              <a:pathLst>
                <a:path w="3156" h="4096" extrusionOk="0">
                  <a:moveTo>
                    <a:pt x="918" y="0"/>
                  </a:moveTo>
                  <a:cubicBezTo>
                    <a:pt x="834" y="0"/>
                    <a:pt x="739" y="84"/>
                    <a:pt x="739" y="191"/>
                  </a:cubicBezTo>
                  <a:cubicBezTo>
                    <a:pt x="739" y="500"/>
                    <a:pt x="489" y="750"/>
                    <a:pt x="179" y="750"/>
                  </a:cubicBezTo>
                  <a:cubicBezTo>
                    <a:pt x="84" y="750"/>
                    <a:pt x="1" y="822"/>
                    <a:pt x="1" y="929"/>
                  </a:cubicBezTo>
                  <a:lnTo>
                    <a:pt x="1" y="3179"/>
                  </a:lnTo>
                  <a:cubicBezTo>
                    <a:pt x="1" y="3263"/>
                    <a:pt x="72" y="3358"/>
                    <a:pt x="179" y="3358"/>
                  </a:cubicBezTo>
                  <a:cubicBezTo>
                    <a:pt x="489" y="3358"/>
                    <a:pt x="739" y="3608"/>
                    <a:pt x="739" y="3917"/>
                  </a:cubicBezTo>
                  <a:cubicBezTo>
                    <a:pt x="739" y="4013"/>
                    <a:pt x="810" y="4096"/>
                    <a:pt x="918" y="4096"/>
                  </a:cubicBezTo>
                  <a:lnTo>
                    <a:pt x="2977" y="4096"/>
                  </a:lnTo>
                  <a:cubicBezTo>
                    <a:pt x="3061" y="4096"/>
                    <a:pt x="3156" y="4025"/>
                    <a:pt x="3156" y="3917"/>
                  </a:cubicBezTo>
                  <a:cubicBezTo>
                    <a:pt x="3132" y="3822"/>
                    <a:pt x="3061" y="3739"/>
                    <a:pt x="2977" y="3739"/>
                  </a:cubicBezTo>
                  <a:lnTo>
                    <a:pt x="1084" y="3739"/>
                  </a:lnTo>
                  <a:cubicBezTo>
                    <a:pt x="1013" y="3370"/>
                    <a:pt x="727" y="3084"/>
                    <a:pt x="346" y="3013"/>
                  </a:cubicBezTo>
                  <a:lnTo>
                    <a:pt x="346" y="1096"/>
                  </a:lnTo>
                  <a:cubicBezTo>
                    <a:pt x="727" y="1024"/>
                    <a:pt x="1013" y="738"/>
                    <a:pt x="1084" y="369"/>
                  </a:cubicBezTo>
                  <a:lnTo>
                    <a:pt x="2977" y="369"/>
                  </a:lnTo>
                  <a:cubicBezTo>
                    <a:pt x="3061" y="369"/>
                    <a:pt x="3156" y="286"/>
                    <a:pt x="3156" y="191"/>
                  </a:cubicBezTo>
                  <a:cubicBezTo>
                    <a:pt x="3156" y="95"/>
                    <a:pt x="3073" y="0"/>
                    <a:pt x="297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11" name="Google Shape;9050;p76">
              <a:extLst>
                <a:ext uri="{FF2B5EF4-FFF2-40B4-BE49-F238E27FC236}">
                  <a16:creationId xmlns:a16="http://schemas.microsoft.com/office/drawing/2014/main" id="{344A0AE6-ED26-2383-35E5-A93CD60EFC9B}"/>
                </a:ext>
              </a:extLst>
            </p:cNvPr>
            <p:cNvSpPr/>
            <p:nvPr/>
          </p:nvSpPr>
          <p:spPr>
            <a:xfrm>
              <a:off x="6962060" y="3758192"/>
              <a:ext cx="129338" cy="129338"/>
            </a:xfrm>
            <a:custGeom>
              <a:avLst/>
              <a:gdLst/>
              <a:ahLst/>
              <a:cxnLst/>
              <a:rect l="l" t="t" r="r" b="b"/>
              <a:pathLst>
                <a:path w="4073" h="4073" extrusionOk="0">
                  <a:moveTo>
                    <a:pt x="2037" y="334"/>
                  </a:moveTo>
                  <a:cubicBezTo>
                    <a:pt x="2977" y="334"/>
                    <a:pt x="3727" y="1096"/>
                    <a:pt x="3727" y="2036"/>
                  </a:cubicBezTo>
                  <a:cubicBezTo>
                    <a:pt x="3727" y="2977"/>
                    <a:pt x="2977" y="3727"/>
                    <a:pt x="2037" y="3727"/>
                  </a:cubicBezTo>
                  <a:cubicBezTo>
                    <a:pt x="1096" y="3727"/>
                    <a:pt x="334" y="2977"/>
                    <a:pt x="334" y="2036"/>
                  </a:cubicBezTo>
                  <a:cubicBezTo>
                    <a:pt x="334" y="1096"/>
                    <a:pt x="1096" y="334"/>
                    <a:pt x="2037" y="334"/>
                  </a:cubicBezTo>
                  <a:close/>
                  <a:moveTo>
                    <a:pt x="2037" y="0"/>
                  </a:moveTo>
                  <a:cubicBezTo>
                    <a:pt x="906" y="0"/>
                    <a:pt x="1" y="917"/>
                    <a:pt x="1" y="2036"/>
                  </a:cubicBezTo>
                  <a:cubicBezTo>
                    <a:pt x="1" y="3155"/>
                    <a:pt x="918" y="4072"/>
                    <a:pt x="2037" y="4072"/>
                  </a:cubicBezTo>
                  <a:cubicBezTo>
                    <a:pt x="3156" y="4072"/>
                    <a:pt x="4073" y="3155"/>
                    <a:pt x="4073" y="2036"/>
                  </a:cubicBezTo>
                  <a:cubicBezTo>
                    <a:pt x="4073" y="905"/>
                    <a:pt x="3168" y="0"/>
                    <a:pt x="203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12" name="Google Shape;9051;p76">
              <a:extLst>
                <a:ext uri="{FF2B5EF4-FFF2-40B4-BE49-F238E27FC236}">
                  <a16:creationId xmlns:a16="http://schemas.microsoft.com/office/drawing/2014/main" id="{1E356575-ED63-A4C2-0DB5-E1E7EDF7E88E}"/>
                </a:ext>
              </a:extLst>
            </p:cNvPr>
            <p:cNvSpPr/>
            <p:nvPr/>
          </p:nvSpPr>
          <p:spPr>
            <a:xfrm>
              <a:off x="6997244" y="3781627"/>
              <a:ext cx="59382" cy="82436"/>
            </a:xfrm>
            <a:custGeom>
              <a:avLst/>
              <a:gdLst/>
              <a:ahLst/>
              <a:cxnLst/>
              <a:rect l="l" t="t" r="r" b="b"/>
              <a:pathLst>
                <a:path w="1870" h="2596" extrusionOk="0">
                  <a:moveTo>
                    <a:pt x="750" y="536"/>
                  </a:moveTo>
                  <a:lnTo>
                    <a:pt x="750" y="1060"/>
                  </a:lnTo>
                  <a:cubicBezTo>
                    <a:pt x="452" y="965"/>
                    <a:pt x="345" y="881"/>
                    <a:pt x="345" y="762"/>
                  </a:cubicBezTo>
                  <a:cubicBezTo>
                    <a:pt x="345" y="691"/>
                    <a:pt x="500" y="584"/>
                    <a:pt x="750" y="536"/>
                  </a:cubicBezTo>
                  <a:close/>
                  <a:moveTo>
                    <a:pt x="1107" y="1524"/>
                  </a:moveTo>
                  <a:cubicBezTo>
                    <a:pt x="1405" y="1608"/>
                    <a:pt x="1512" y="1703"/>
                    <a:pt x="1512" y="1822"/>
                  </a:cubicBezTo>
                  <a:cubicBezTo>
                    <a:pt x="1512" y="1893"/>
                    <a:pt x="1357" y="2001"/>
                    <a:pt x="1107" y="2036"/>
                  </a:cubicBezTo>
                  <a:lnTo>
                    <a:pt x="1107" y="1524"/>
                  </a:lnTo>
                  <a:close/>
                  <a:moveTo>
                    <a:pt x="941" y="0"/>
                  </a:moveTo>
                  <a:cubicBezTo>
                    <a:pt x="857" y="0"/>
                    <a:pt x="762" y="72"/>
                    <a:pt x="762" y="179"/>
                  </a:cubicBezTo>
                  <a:lnTo>
                    <a:pt x="762" y="191"/>
                  </a:lnTo>
                  <a:cubicBezTo>
                    <a:pt x="333" y="238"/>
                    <a:pt x="24" y="477"/>
                    <a:pt x="24" y="774"/>
                  </a:cubicBezTo>
                  <a:cubicBezTo>
                    <a:pt x="24" y="1191"/>
                    <a:pt x="441" y="1346"/>
                    <a:pt x="762" y="1429"/>
                  </a:cubicBezTo>
                  <a:lnTo>
                    <a:pt x="762" y="2036"/>
                  </a:lnTo>
                  <a:cubicBezTo>
                    <a:pt x="512" y="2001"/>
                    <a:pt x="357" y="1893"/>
                    <a:pt x="357" y="1822"/>
                  </a:cubicBezTo>
                  <a:cubicBezTo>
                    <a:pt x="357" y="1727"/>
                    <a:pt x="286" y="1643"/>
                    <a:pt x="179" y="1643"/>
                  </a:cubicBezTo>
                  <a:cubicBezTo>
                    <a:pt x="83" y="1643"/>
                    <a:pt x="0" y="1715"/>
                    <a:pt x="0" y="1822"/>
                  </a:cubicBezTo>
                  <a:cubicBezTo>
                    <a:pt x="0" y="2120"/>
                    <a:pt x="310" y="2334"/>
                    <a:pt x="750" y="2393"/>
                  </a:cubicBezTo>
                  <a:lnTo>
                    <a:pt x="750" y="2417"/>
                  </a:lnTo>
                  <a:cubicBezTo>
                    <a:pt x="750" y="2501"/>
                    <a:pt x="822" y="2596"/>
                    <a:pt x="929" y="2596"/>
                  </a:cubicBezTo>
                  <a:cubicBezTo>
                    <a:pt x="1036" y="2596"/>
                    <a:pt x="1107" y="2513"/>
                    <a:pt x="1107" y="2417"/>
                  </a:cubicBezTo>
                  <a:lnTo>
                    <a:pt x="1107" y="2393"/>
                  </a:lnTo>
                  <a:cubicBezTo>
                    <a:pt x="1536" y="2358"/>
                    <a:pt x="1845" y="2120"/>
                    <a:pt x="1845" y="1822"/>
                  </a:cubicBezTo>
                  <a:cubicBezTo>
                    <a:pt x="1845" y="1417"/>
                    <a:pt x="1453" y="1250"/>
                    <a:pt x="1107" y="1167"/>
                  </a:cubicBezTo>
                  <a:lnTo>
                    <a:pt x="1107" y="548"/>
                  </a:lnTo>
                  <a:cubicBezTo>
                    <a:pt x="1357" y="596"/>
                    <a:pt x="1512" y="703"/>
                    <a:pt x="1512" y="774"/>
                  </a:cubicBezTo>
                  <a:cubicBezTo>
                    <a:pt x="1512" y="869"/>
                    <a:pt x="1584" y="953"/>
                    <a:pt x="1691" y="953"/>
                  </a:cubicBezTo>
                  <a:cubicBezTo>
                    <a:pt x="1774" y="953"/>
                    <a:pt x="1869" y="881"/>
                    <a:pt x="1869" y="774"/>
                  </a:cubicBezTo>
                  <a:cubicBezTo>
                    <a:pt x="1869" y="477"/>
                    <a:pt x="1548" y="250"/>
                    <a:pt x="1119" y="191"/>
                  </a:cubicBezTo>
                  <a:lnTo>
                    <a:pt x="1119" y="179"/>
                  </a:lnTo>
                  <a:cubicBezTo>
                    <a:pt x="1119" y="84"/>
                    <a:pt x="1048" y="0"/>
                    <a:pt x="9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08"/>
        <p:cNvGrpSpPr/>
        <p:nvPr/>
      </p:nvGrpSpPr>
      <p:grpSpPr>
        <a:xfrm>
          <a:off x="0" y="0"/>
          <a:ext cx="0" cy="0"/>
          <a:chOff x="0" y="0"/>
          <a:chExt cx="0" cy="0"/>
        </a:xfrm>
      </p:grpSpPr>
      <p:sp>
        <p:nvSpPr>
          <p:cNvPr id="2" name="Rectangle 1">
            <a:extLst>
              <a:ext uri="{FF2B5EF4-FFF2-40B4-BE49-F238E27FC236}">
                <a16:creationId xmlns:a16="http://schemas.microsoft.com/office/drawing/2014/main" id="{64C7D4AD-1A3A-0D1E-DABA-E7906D5EA57B}"/>
              </a:ext>
            </a:extLst>
          </p:cNvPr>
          <p:cNvSpPr/>
          <p:nvPr/>
        </p:nvSpPr>
        <p:spPr>
          <a:xfrm>
            <a:off x="-110608" y="2183149"/>
            <a:ext cx="9254608" cy="309677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E932822-2AAB-2352-C1E4-BB136BDE2383}"/>
              </a:ext>
            </a:extLst>
          </p:cNvPr>
          <p:cNvSpPr/>
          <p:nvPr/>
        </p:nvSpPr>
        <p:spPr>
          <a:xfrm>
            <a:off x="-110608" y="-376084"/>
            <a:ext cx="9326045" cy="267765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11" name="Google Shape;311;p35"/>
          <p:cNvSpPr txBox="1"/>
          <p:nvPr/>
        </p:nvSpPr>
        <p:spPr>
          <a:xfrm>
            <a:off x="3057867" y="-29174"/>
            <a:ext cx="2481600" cy="615553"/>
          </a:xfrm>
          <a:prstGeom prst="rect">
            <a:avLst/>
          </a:prstGeom>
          <a:noFill/>
          <a:ln>
            <a:noFill/>
          </a:ln>
        </p:spPr>
        <p:txBody>
          <a:bodyPr spcFirstLastPara="1" wrap="square" lIns="0" tIns="0" rIns="0" bIns="0" anchor="t" anchorCtr="0">
            <a:spAutoFit/>
          </a:bodyPr>
          <a:lstStyle/>
          <a:p>
            <a:pPr marL="0" marR="0" lvl="0" indent="0" algn="ctr" rtl="1">
              <a:lnSpc>
                <a:spcPct val="100000"/>
              </a:lnSpc>
              <a:spcBef>
                <a:spcPts val="0"/>
              </a:spcBef>
              <a:spcAft>
                <a:spcPts val="0"/>
              </a:spcAft>
              <a:buNone/>
            </a:pPr>
            <a:r>
              <a:rPr lang="fa-IR" sz="4000" b="1" i="0" u="none" strike="noStrike" cap="none" dirty="0">
                <a:solidFill>
                  <a:srgbClr val="FFFFFF"/>
                </a:solidFill>
                <a:latin typeface="Open Sans"/>
                <a:ea typeface="Open Sans"/>
                <a:cs typeface="B Nazanin" panose="00000700000000000000" pitchFamily="2" charset="-78"/>
                <a:sym typeface="Open Sans"/>
              </a:rPr>
              <a:t>بودجه</a:t>
            </a:r>
            <a:endParaRPr sz="700" b="1" dirty="0">
              <a:latin typeface="Open Sans"/>
              <a:ea typeface="Open Sans"/>
              <a:cs typeface="B Nazanin" panose="00000700000000000000" pitchFamily="2" charset="-78"/>
              <a:sym typeface="Open Sans"/>
            </a:endParaRPr>
          </a:p>
        </p:txBody>
      </p:sp>
      <p:grpSp>
        <p:nvGrpSpPr>
          <p:cNvPr id="313" name="Google Shape;313;p35"/>
          <p:cNvGrpSpPr/>
          <p:nvPr/>
        </p:nvGrpSpPr>
        <p:grpSpPr>
          <a:xfrm>
            <a:off x="8837359" y="-72330"/>
            <a:ext cx="1543051" cy="5808473"/>
            <a:chOff x="0" y="-38100"/>
            <a:chExt cx="812800" cy="3059607"/>
          </a:xfrm>
        </p:grpSpPr>
        <p:sp>
          <p:nvSpPr>
            <p:cNvPr id="314" name="Google Shape;314;p35"/>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FFFFFF">
                <a:alpha val="13333"/>
              </a:srgbClr>
            </a:solidFill>
            <a:ln>
              <a:noFill/>
            </a:ln>
          </p:spPr>
          <p:txBody>
            <a:bodyPr/>
            <a:lstStyle/>
            <a:p>
              <a:endParaRPr lang="en-US"/>
            </a:p>
          </p:txBody>
        </p:sp>
        <p:sp>
          <p:nvSpPr>
            <p:cNvPr id="315" name="Google Shape;315;p35"/>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316" name="Google Shape;316;p35"/>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cxnSp>
        <p:nvCxnSpPr>
          <p:cNvPr id="317" name="Google Shape;317;p35"/>
          <p:cNvCxnSpPr/>
          <p:nvPr/>
        </p:nvCxnSpPr>
        <p:spPr>
          <a:xfrm rot="5400000">
            <a:off x="7415601" y="893647"/>
            <a:ext cx="2812307" cy="0"/>
          </a:xfrm>
          <a:prstGeom prst="straightConnector1">
            <a:avLst/>
          </a:prstGeom>
          <a:noFill/>
          <a:ln w="9525" cap="flat" cmpd="sng">
            <a:solidFill>
              <a:srgbClr val="FFFFFF"/>
            </a:solidFill>
            <a:prstDash val="solid"/>
            <a:round/>
            <a:headEnd type="none" w="sm" len="sm"/>
            <a:tailEnd type="none" w="sm" len="sm"/>
          </a:ln>
        </p:spPr>
      </p:cxnSp>
      <p:sp>
        <p:nvSpPr>
          <p:cNvPr id="6" name="Rectangle 5">
            <a:extLst>
              <a:ext uri="{FF2B5EF4-FFF2-40B4-BE49-F238E27FC236}">
                <a16:creationId xmlns:a16="http://schemas.microsoft.com/office/drawing/2014/main" id="{F638EA8D-7729-9756-0BA0-1994B86DFEDC}"/>
              </a:ext>
            </a:extLst>
          </p:cNvPr>
          <p:cNvSpPr/>
          <p:nvPr/>
        </p:nvSpPr>
        <p:spPr>
          <a:xfrm>
            <a:off x="939807" y="2436224"/>
            <a:ext cx="7400120" cy="2033906"/>
          </a:xfrm>
          <a:prstGeom prst="rect">
            <a:avLst/>
          </a:prstGeom>
          <a:solidFill>
            <a:schemeClr val="tx2">
              <a:lumMod val="25000"/>
            </a:schemeClr>
          </a:solidFill>
        </p:spPr>
        <p:style>
          <a:lnRef idx="3">
            <a:schemeClr val="lt1"/>
          </a:lnRef>
          <a:fillRef idx="1">
            <a:schemeClr val="dk1"/>
          </a:fillRef>
          <a:effectRef idx="1">
            <a:schemeClr val="dk1"/>
          </a:effectRef>
          <a:fontRef idx="minor">
            <a:schemeClr val="lt1"/>
          </a:fontRef>
        </p:style>
        <p:txBody>
          <a:bodyPr rtlCol="0" anchor="ctr"/>
          <a:lstStyle/>
          <a:p>
            <a:pPr algn="r" rtl="1">
              <a:lnSpc>
                <a:spcPct val="120000"/>
              </a:lnSpc>
            </a:pPr>
            <a:r>
              <a:rPr lang="fa-IR" sz="1400" b="1" dirty="0">
                <a:latin typeface="IRZeytoon" panose="02000503000000020002" pitchFamily="2" charset="-78"/>
                <a:cs typeface="B Nazanin" panose="00000400000000000000" pitchFamily="2" charset="-78"/>
              </a:rPr>
              <a:t>موعد تصویب نهائي بودجه ساليانه به وسيله انجمن شهر و ابلاغ آن به شهرداري حداكثر تا اول اسفند ماه سال قبل مي باشد و درصورتي كه انجمن، در رأس موعد مذكور به وظيفه قانوني خود در اين مورد عمل نكند شهردار موظف است مراتب را به استاندار يا فرماندار كل و در شهرداري تهران بوزارت كشور اطلاع دهد.</a:t>
            </a:r>
          </a:p>
        </p:txBody>
      </p:sp>
      <p:cxnSp>
        <p:nvCxnSpPr>
          <p:cNvPr id="4" name="Google Shape;317;p35">
            <a:extLst>
              <a:ext uri="{FF2B5EF4-FFF2-40B4-BE49-F238E27FC236}">
                <a16:creationId xmlns:a16="http://schemas.microsoft.com/office/drawing/2014/main" id="{777A3E24-920D-4540-A5DC-9D939FC6FD60}"/>
              </a:ext>
            </a:extLst>
          </p:cNvPr>
          <p:cNvCxnSpPr>
            <a:cxnSpLocks/>
          </p:cNvCxnSpPr>
          <p:nvPr/>
        </p:nvCxnSpPr>
        <p:spPr>
          <a:xfrm>
            <a:off x="291652" y="-178769"/>
            <a:ext cx="0" cy="5156350"/>
          </a:xfrm>
          <a:prstGeom prst="straightConnector1">
            <a:avLst/>
          </a:prstGeom>
          <a:ln>
            <a:headEnd type="none" w="sm" len="sm"/>
            <a:tailEnd type="none" w="sm" len="sm"/>
          </a:ln>
        </p:spPr>
        <p:style>
          <a:lnRef idx="1">
            <a:schemeClr val="dk1"/>
          </a:lnRef>
          <a:fillRef idx="0">
            <a:schemeClr val="dk1"/>
          </a:fillRef>
          <a:effectRef idx="0">
            <a:schemeClr val="dk1"/>
          </a:effectRef>
          <a:fontRef idx="minor">
            <a:schemeClr val="tx1"/>
          </a:fontRef>
        </p:style>
      </p:cxnSp>
      <p:grpSp>
        <p:nvGrpSpPr>
          <p:cNvPr id="7" name="Google Shape;9046;p76">
            <a:extLst>
              <a:ext uri="{FF2B5EF4-FFF2-40B4-BE49-F238E27FC236}">
                <a16:creationId xmlns:a16="http://schemas.microsoft.com/office/drawing/2014/main" id="{2742D36A-70A1-7844-5AB7-5BEDF5BEC535}"/>
              </a:ext>
            </a:extLst>
          </p:cNvPr>
          <p:cNvGrpSpPr/>
          <p:nvPr/>
        </p:nvGrpSpPr>
        <p:grpSpPr>
          <a:xfrm>
            <a:off x="3657605" y="1178589"/>
            <a:ext cx="1282123" cy="895684"/>
            <a:chOff x="6849393" y="3733994"/>
            <a:chExt cx="355053" cy="248038"/>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grpSpPr>
        <p:sp>
          <p:nvSpPr>
            <p:cNvPr id="8" name="Google Shape;9047;p76">
              <a:extLst>
                <a:ext uri="{FF2B5EF4-FFF2-40B4-BE49-F238E27FC236}">
                  <a16:creationId xmlns:a16="http://schemas.microsoft.com/office/drawing/2014/main" id="{0A28E943-13B5-78F7-D67F-EA368B2F5F47}"/>
                </a:ext>
              </a:extLst>
            </p:cNvPr>
            <p:cNvSpPr/>
            <p:nvPr/>
          </p:nvSpPr>
          <p:spPr>
            <a:xfrm>
              <a:off x="6849393" y="3733994"/>
              <a:ext cx="355053" cy="248038"/>
            </a:xfrm>
            <a:custGeom>
              <a:avLst/>
              <a:gdLst/>
              <a:ahLst/>
              <a:cxnLst/>
              <a:rect l="l" t="t" r="r" b="b"/>
              <a:pathLst>
                <a:path w="11181" h="7811" extrusionOk="0">
                  <a:moveTo>
                    <a:pt x="10800" y="357"/>
                  </a:moveTo>
                  <a:cubicBezTo>
                    <a:pt x="10800" y="357"/>
                    <a:pt x="10823" y="357"/>
                    <a:pt x="10823" y="369"/>
                  </a:cubicBezTo>
                  <a:lnTo>
                    <a:pt x="10823" y="5227"/>
                  </a:lnTo>
                  <a:lnTo>
                    <a:pt x="346" y="5239"/>
                  </a:lnTo>
                  <a:cubicBezTo>
                    <a:pt x="346" y="5239"/>
                    <a:pt x="334" y="5239"/>
                    <a:pt x="334" y="5227"/>
                  </a:cubicBezTo>
                  <a:lnTo>
                    <a:pt x="334" y="369"/>
                  </a:lnTo>
                  <a:cubicBezTo>
                    <a:pt x="334" y="369"/>
                    <a:pt x="334" y="357"/>
                    <a:pt x="346" y="357"/>
                  </a:cubicBezTo>
                  <a:close/>
                  <a:moveTo>
                    <a:pt x="10835" y="5572"/>
                  </a:moveTo>
                  <a:lnTo>
                    <a:pt x="10823" y="5977"/>
                  </a:lnTo>
                  <a:lnTo>
                    <a:pt x="10252" y="5977"/>
                  </a:lnTo>
                  <a:cubicBezTo>
                    <a:pt x="10169" y="5977"/>
                    <a:pt x="10073" y="6060"/>
                    <a:pt x="10073" y="6156"/>
                  </a:cubicBezTo>
                  <a:cubicBezTo>
                    <a:pt x="10073" y="6263"/>
                    <a:pt x="10157" y="6334"/>
                    <a:pt x="10252" y="6334"/>
                  </a:cubicBezTo>
                  <a:lnTo>
                    <a:pt x="10823" y="6334"/>
                  </a:lnTo>
                  <a:lnTo>
                    <a:pt x="10823" y="6739"/>
                  </a:lnTo>
                  <a:lnTo>
                    <a:pt x="8014" y="6739"/>
                  </a:lnTo>
                  <a:cubicBezTo>
                    <a:pt x="7918" y="6739"/>
                    <a:pt x="7823" y="6811"/>
                    <a:pt x="7823" y="6918"/>
                  </a:cubicBezTo>
                  <a:cubicBezTo>
                    <a:pt x="7823" y="7013"/>
                    <a:pt x="7906" y="7096"/>
                    <a:pt x="8014" y="7096"/>
                  </a:cubicBezTo>
                  <a:lnTo>
                    <a:pt x="10823" y="7096"/>
                  </a:lnTo>
                  <a:lnTo>
                    <a:pt x="10823" y="7489"/>
                  </a:lnTo>
                  <a:cubicBezTo>
                    <a:pt x="10823" y="7489"/>
                    <a:pt x="10823" y="7501"/>
                    <a:pt x="10812" y="7501"/>
                  </a:cubicBezTo>
                  <a:lnTo>
                    <a:pt x="358" y="7501"/>
                  </a:lnTo>
                  <a:cubicBezTo>
                    <a:pt x="358" y="7501"/>
                    <a:pt x="346" y="7501"/>
                    <a:pt x="346" y="7489"/>
                  </a:cubicBezTo>
                  <a:lnTo>
                    <a:pt x="346" y="7096"/>
                  </a:lnTo>
                  <a:lnTo>
                    <a:pt x="7263" y="7096"/>
                  </a:lnTo>
                  <a:cubicBezTo>
                    <a:pt x="7359" y="7096"/>
                    <a:pt x="7442" y="7025"/>
                    <a:pt x="7442" y="6918"/>
                  </a:cubicBezTo>
                  <a:cubicBezTo>
                    <a:pt x="7442" y="6834"/>
                    <a:pt x="7371" y="6739"/>
                    <a:pt x="7263" y="6739"/>
                  </a:cubicBezTo>
                  <a:lnTo>
                    <a:pt x="346" y="6739"/>
                  </a:lnTo>
                  <a:lnTo>
                    <a:pt x="346" y="6334"/>
                  </a:lnTo>
                  <a:lnTo>
                    <a:pt x="9514" y="6334"/>
                  </a:lnTo>
                  <a:cubicBezTo>
                    <a:pt x="9597" y="6334"/>
                    <a:pt x="9692" y="6263"/>
                    <a:pt x="9692" y="6156"/>
                  </a:cubicBezTo>
                  <a:cubicBezTo>
                    <a:pt x="9692" y="6072"/>
                    <a:pt x="9621" y="5977"/>
                    <a:pt x="9514" y="5977"/>
                  </a:cubicBezTo>
                  <a:lnTo>
                    <a:pt x="346" y="5977"/>
                  </a:lnTo>
                  <a:lnTo>
                    <a:pt x="346" y="5572"/>
                  </a:lnTo>
                  <a:close/>
                  <a:moveTo>
                    <a:pt x="358" y="0"/>
                  </a:moveTo>
                  <a:cubicBezTo>
                    <a:pt x="167" y="0"/>
                    <a:pt x="1" y="167"/>
                    <a:pt x="1" y="357"/>
                  </a:cubicBezTo>
                  <a:lnTo>
                    <a:pt x="1" y="7453"/>
                  </a:lnTo>
                  <a:cubicBezTo>
                    <a:pt x="1" y="7644"/>
                    <a:pt x="167" y="7811"/>
                    <a:pt x="358" y="7811"/>
                  </a:cubicBezTo>
                  <a:lnTo>
                    <a:pt x="10823" y="7811"/>
                  </a:lnTo>
                  <a:cubicBezTo>
                    <a:pt x="11014" y="7811"/>
                    <a:pt x="11181" y="7644"/>
                    <a:pt x="11181" y="7453"/>
                  </a:cubicBezTo>
                  <a:lnTo>
                    <a:pt x="11181" y="357"/>
                  </a:lnTo>
                  <a:cubicBezTo>
                    <a:pt x="11181" y="167"/>
                    <a:pt x="11014" y="0"/>
                    <a:pt x="108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9" name="Google Shape;9048;p76">
              <a:extLst>
                <a:ext uri="{FF2B5EF4-FFF2-40B4-BE49-F238E27FC236}">
                  <a16:creationId xmlns:a16="http://schemas.microsoft.com/office/drawing/2014/main" id="{E5C146FA-0AF7-7E9F-0B78-C7FADCB7B888}"/>
                </a:ext>
              </a:extLst>
            </p:cNvPr>
            <p:cNvSpPr/>
            <p:nvPr/>
          </p:nvSpPr>
          <p:spPr>
            <a:xfrm>
              <a:off x="7080411" y="3758192"/>
              <a:ext cx="100219" cy="129687"/>
            </a:xfrm>
            <a:custGeom>
              <a:avLst/>
              <a:gdLst/>
              <a:ahLst/>
              <a:cxnLst/>
              <a:rect l="l" t="t" r="r" b="b"/>
              <a:pathLst>
                <a:path w="3156" h="4084" extrusionOk="0">
                  <a:moveTo>
                    <a:pt x="179" y="0"/>
                  </a:moveTo>
                  <a:cubicBezTo>
                    <a:pt x="96" y="0"/>
                    <a:pt x="0" y="72"/>
                    <a:pt x="0" y="179"/>
                  </a:cubicBezTo>
                  <a:cubicBezTo>
                    <a:pt x="0" y="274"/>
                    <a:pt x="84" y="357"/>
                    <a:pt x="179" y="357"/>
                  </a:cubicBezTo>
                  <a:lnTo>
                    <a:pt x="2072" y="357"/>
                  </a:lnTo>
                  <a:cubicBezTo>
                    <a:pt x="2144" y="726"/>
                    <a:pt x="2429" y="1012"/>
                    <a:pt x="2798" y="1084"/>
                  </a:cubicBezTo>
                  <a:lnTo>
                    <a:pt x="2798" y="3001"/>
                  </a:lnTo>
                  <a:cubicBezTo>
                    <a:pt x="2429" y="3072"/>
                    <a:pt x="2144" y="3358"/>
                    <a:pt x="2072" y="3727"/>
                  </a:cubicBezTo>
                  <a:lnTo>
                    <a:pt x="179" y="3727"/>
                  </a:lnTo>
                  <a:cubicBezTo>
                    <a:pt x="96" y="3727"/>
                    <a:pt x="0" y="3810"/>
                    <a:pt x="0" y="3905"/>
                  </a:cubicBezTo>
                  <a:cubicBezTo>
                    <a:pt x="0" y="4013"/>
                    <a:pt x="84" y="4084"/>
                    <a:pt x="179" y="4084"/>
                  </a:cubicBezTo>
                  <a:lnTo>
                    <a:pt x="2239" y="4084"/>
                  </a:lnTo>
                  <a:cubicBezTo>
                    <a:pt x="2322" y="4084"/>
                    <a:pt x="2417" y="4013"/>
                    <a:pt x="2417" y="3905"/>
                  </a:cubicBezTo>
                  <a:cubicBezTo>
                    <a:pt x="2417" y="3596"/>
                    <a:pt x="2667" y="3346"/>
                    <a:pt x="2977" y="3346"/>
                  </a:cubicBezTo>
                  <a:cubicBezTo>
                    <a:pt x="3072" y="3346"/>
                    <a:pt x="3156" y="3274"/>
                    <a:pt x="3156" y="3167"/>
                  </a:cubicBezTo>
                  <a:lnTo>
                    <a:pt x="3156" y="917"/>
                  </a:lnTo>
                  <a:cubicBezTo>
                    <a:pt x="3156" y="810"/>
                    <a:pt x="3072" y="738"/>
                    <a:pt x="2977" y="738"/>
                  </a:cubicBezTo>
                  <a:cubicBezTo>
                    <a:pt x="2667" y="738"/>
                    <a:pt x="2417" y="488"/>
                    <a:pt x="2417" y="179"/>
                  </a:cubicBezTo>
                  <a:cubicBezTo>
                    <a:pt x="2417" y="83"/>
                    <a:pt x="2346" y="0"/>
                    <a:pt x="223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10" name="Google Shape;9049;p76">
              <a:extLst>
                <a:ext uri="{FF2B5EF4-FFF2-40B4-BE49-F238E27FC236}">
                  <a16:creationId xmlns:a16="http://schemas.microsoft.com/office/drawing/2014/main" id="{EE497484-C846-C552-6030-1E117A885895}"/>
                </a:ext>
              </a:extLst>
            </p:cNvPr>
            <p:cNvSpPr/>
            <p:nvPr/>
          </p:nvSpPr>
          <p:spPr>
            <a:xfrm>
              <a:off x="6873209" y="3757811"/>
              <a:ext cx="100219" cy="130068"/>
            </a:xfrm>
            <a:custGeom>
              <a:avLst/>
              <a:gdLst/>
              <a:ahLst/>
              <a:cxnLst/>
              <a:rect l="l" t="t" r="r" b="b"/>
              <a:pathLst>
                <a:path w="3156" h="4096" extrusionOk="0">
                  <a:moveTo>
                    <a:pt x="918" y="0"/>
                  </a:moveTo>
                  <a:cubicBezTo>
                    <a:pt x="834" y="0"/>
                    <a:pt x="739" y="84"/>
                    <a:pt x="739" y="191"/>
                  </a:cubicBezTo>
                  <a:cubicBezTo>
                    <a:pt x="739" y="500"/>
                    <a:pt x="489" y="750"/>
                    <a:pt x="179" y="750"/>
                  </a:cubicBezTo>
                  <a:cubicBezTo>
                    <a:pt x="84" y="750"/>
                    <a:pt x="1" y="822"/>
                    <a:pt x="1" y="929"/>
                  </a:cubicBezTo>
                  <a:lnTo>
                    <a:pt x="1" y="3179"/>
                  </a:lnTo>
                  <a:cubicBezTo>
                    <a:pt x="1" y="3263"/>
                    <a:pt x="72" y="3358"/>
                    <a:pt x="179" y="3358"/>
                  </a:cubicBezTo>
                  <a:cubicBezTo>
                    <a:pt x="489" y="3358"/>
                    <a:pt x="739" y="3608"/>
                    <a:pt x="739" y="3917"/>
                  </a:cubicBezTo>
                  <a:cubicBezTo>
                    <a:pt x="739" y="4013"/>
                    <a:pt x="810" y="4096"/>
                    <a:pt x="918" y="4096"/>
                  </a:cubicBezTo>
                  <a:lnTo>
                    <a:pt x="2977" y="4096"/>
                  </a:lnTo>
                  <a:cubicBezTo>
                    <a:pt x="3061" y="4096"/>
                    <a:pt x="3156" y="4025"/>
                    <a:pt x="3156" y="3917"/>
                  </a:cubicBezTo>
                  <a:cubicBezTo>
                    <a:pt x="3132" y="3822"/>
                    <a:pt x="3061" y="3739"/>
                    <a:pt x="2977" y="3739"/>
                  </a:cubicBezTo>
                  <a:lnTo>
                    <a:pt x="1084" y="3739"/>
                  </a:lnTo>
                  <a:cubicBezTo>
                    <a:pt x="1013" y="3370"/>
                    <a:pt x="727" y="3084"/>
                    <a:pt x="346" y="3013"/>
                  </a:cubicBezTo>
                  <a:lnTo>
                    <a:pt x="346" y="1096"/>
                  </a:lnTo>
                  <a:cubicBezTo>
                    <a:pt x="727" y="1024"/>
                    <a:pt x="1013" y="738"/>
                    <a:pt x="1084" y="369"/>
                  </a:cubicBezTo>
                  <a:lnTo>
                    <a:pt x="2977" y="369"/>
                  </a:lnTo>
                  <a:cubicBezTo>
                    <a:pt x="3061" y="369"/>
                    <a:pt x="3156" y="286"/>
                    <a:pt x="3156" y="191"/>
                  </a:cubicBezTo>
                  <a:cubicBezTo>
                    <a:pt x="3156" y="95"/>
                    <a:pt x="3073" y="0"/>
                    <a:pt x="297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11" name="Google Shape;9050;p76">
              <a:extLst>
                <a:ext uri="{FF2B5EF4-FFF2-40B4-BE49-F238E27FC236}">
                  <a16:creationId xmlns:a16="http://schemas.microsoft.com/office/drawing/2014/main" id="{0401D7A8-571E-8A5B-0BFD-7B2C3B83D735}"/>
                </a:ext>
              </a:extLst>
            </p:cNvPr>
            <p:cNvSpPr/>
            <p:nvPr/>
          </p:nvSpPr>
          <p:spPr>
            <a:xfrm>
              <a:off x="6962060" y="3758192"/>
              <a:ext cx="129338" cy="129338"/>
            </a:xfrm>
            <a:custGeom>
              <a:avLst/>
              <a:gdLst/>
              <a:ahLst/>
              <a:cxnLst/>
              <a:rect l="l" t="t" r="r" b="b"/>
              <a:pathLst>
                <a:path w="4073" h="4073" extrusionOk="0">
                  <a:moveTo>
                    <a:pt x="2037" y="334"/>
                  </a:moveTo>
                  <a:cubicBezTo>
                    <a:pt x="2977" y="334"/>
                    <a:pt x="3727" y="1096"/>
                    <a:pt x="3727" y="2036"/>
                  </a:cubicBezTo>
                  <a:cubicBezTo>
                    <a:pt x="3727" y="2977"/>
                    <a:pt x="2977" y="3727"/>
                    <a:pt x="2037" y="3727"/>
                  </a:cubicBezTo>
                  <a:cubicBezTo>
                    <a:pt x="1096" y="3727"/>
                    <a:pt x="334" y="2977"/>
                    <a:pt x="334" y="2036"/>
                  </a:cubicBezTo>
                  <a:cubicBezTo>
                    <a:pt x="334" y="1096"/>
                    <a:pt x="1096" y="334"/>
                    <a:pt x="2037" y="334"/>
                  </a:cubicBezTo>
                  <a:close/>
                  <a:moveTo>
                    <a:pt x="2037" y="0"/>
                  </a:moveTo>
                  <a:cubicBezTo>
                    <a:pt x="906" y="0"/>
                    <a:pt x="1" y="917"/>
                    <a:pt x="1" y="2036"/>
                  </a:cubicBezTo>
                  <a:cubicBezTo>
                    <a:pt x="1" y="3155"/>
                    <a:pt x="918" y="4072"/>
                    <a:pt x="2037" y="4072"/>
                  </a:cubicBezTo>
                  <a:cubicBezTo>
                    <a:pt x="3156" y="4072"/>
                    <a:pt x="4073" y="3155"/>
                    <a:pt x="4073" y="2036"/>
                  </a:cubicBezTo>
                  <a:cubicBezTo>
                    <a:pt x="4073" y="905"/>
                    <a:pt x="3168" y="0"/>
                    <a:pt x="203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12" name="Google Shape;9051;p76">
              <a:extLst>
                <a:ext uri="{FF2B5EF4-FFF2-40B4-BE49-F238E27FC236}">
                  <a16:creationId xmlns:a16="http://schemas.microsoft.com/office/drawing/2014/main" id="{3DBC21D9-B96E-3F3A-09A2-EB9A7105F59E}"/>
                </a:ext>
              </a:extLst>
            </p:cNvPr>
            <p:cNvSpPr/>
            <p:nvPr/>
          </p:nvSpPr>
          <p:spPr>
            <a:xfrm>
              <a:off x="6997244" y="3781627"/>
              <a:ext cx="59382" cy="82436"/>
            </a:xfrm>
            <a:custGeom>
              <a:avLst/>
              <a:gdLst/>
              <a:ahLst/>
              <a:cxnLst/>
              <a:rect l="l" t="t" r="r" b="b"/>
              <a:pathLst>
                <a:path w="1870" h="2596" extrusionOk="0">
                  <a:moveTo>
                    <a:pt x="750" y="536"/>
                  </a:moveTo>
                  <a:lnTo>
                    <a:pt x="750" y="1060"/>
                  </a:lnTo>
                  <a:cubicBezTo>
                    <a:pt x="452" y="965"/>
                    <a:pt x="345" y="881"/>
                    <a:pt x="345" y="762"/>
                  </a:cubicBezTo>
                  <a:cubicBezTo>
                    <a:pt x="345" y="691"/>
                    <a:pt x="500" y="584"/>
                    <a:pt x="750" y="536"/>
                  </a:cubicBezTo>
                  <a:close/>
                  <a:moveTo>
                    <a:pt x="1107" y="1524"/>
                  </a:moveTo>
                  <a:cubicBezTo>
                    <a:pt x="1405" y="1608"/>
                    <a:pt x="1512" y="1703"/>
                    <a:pt x="1512" y="1822"/>
                  </a:cubicBezTo>
                  <a:cubicBezTo>
                    <a:pt x="1512" y="1893"/>
                    <a:pt x="1357" y="2001"/>
                    <a:pt x="1107" y="2036"/>
                  </a:cubicBezTo>
                  <a:lnTo>
                    <a:pt x="1107" y="1524"/>
                  </a:lnTo>
                  <a:close/>
                  <a:moveTo>
                    <a:pt x="941" y="0"/>
                  </a:moveTo>
                  <a:cubicBezTo>
                    <a:pt x="857" y="0"/>
                    <a:pt x="762" y="72"/>
                    <a:pt x="762" y="179"/>
                  </a:cubicBezTo>
                  <a:lnTo>
                    <a:pt x="762" y="191"/>
                  </a:lnTo>
                  <a:cubicBezTo>
                    <a:pt x="333" y="238"/>
                    <a:pt x="24" y="477"/>
                    <a:pt x="24" y="774"/>
                  </a:cubicBezTo>
                  <a:cubicBezTo>
                    <a:pt x="24" y="1191"/>
                    <a:pt x="441" y="1346"/>
                    <a:pt x="762" y="1429"/>
                  </a:cubicBezTo>
                  <a:lnTo>
                    <a:pt x="762" y="2036"/>
                  </a:lnTo>
                  <a:cubicBezTo>
                    <a:pt x="512" y="2001"/>
                    <a:pt x="357" y="1893"/>
                    <a:pt x="357" y="1822"/>
                  </a:cubicBezTo>
                  <a:cubicBezTo>
                    <a:pt x="357" y="1727"/>
                    <a:pt x="286" y="1643"/>
                    <a:pt x="179" y="1643"/>
                  </a:cubicBezTo>
                  <a:cubicBezTo>
                    <a:pt x="83" y="1643"/>
                    <a:pt x="0" y="1715"/>
                    <a:pt x="0" y="1822"/>
                  </a:cubicBezTo>
                  <a:cubicBezTo>
                    <a:pt x="0" y="2120"/>
                    <a:pt x="310" y="2334"/>
                    <a:pt x="750" y="2393"/>
                  </a:cubicBezTo>
                  <a:lnTo>
                    <a:pt x="750" y="2417"/>
                  </a:lnTo>
                  <a:cubicBezTo>
                    <a:pt x="750" y="2501"/>
                    <a:pt x="822" y="2596"/>
                    <a:pt x="929" y="2596"/>
                  </a:cubicBezTo>
                  <a:cubicBezTo>
                    <a:pt x="1036" y="2596"/>
                    <a:pt x="1107" y="2513"/>
                    <a:pt x="1107" y="2417"/>
                  </a:cubicBezTo>
                  <a:lnTo>
                    <a:pt x="1107" y="2393"/>
                  </a:lnTo>
                  <a:cubicBezTo>
                    <a:pt x="1536" y="2358"/>
                    <a:pt x="1845" y="2120"/>
                    <a:pt x="1845" y="1822"/>
                  </a:cubicBezTo>
                  <a:cubicBezTo>
                    <a:pt x="1845" y="1417"/>
                    <a:pt x="1453" y="1250"/>
                    <a:pt x="1107" y="1167"/>
                  </a:cubicBezTo>
                  <a:lnTo>
                    <a:pt x="1107" y="548"/>
                  </a:lnTo>
                  <a:cubicBezTo>
                    <a:pt x="1357" y="596"/>
                    <a:pt x="1512" y="703"/>
                    <a:pt x="1512" y="774"/>
                  </a:cubicBezTo>
                  <a:cubicBezTo>
                    <a:pt x="1512" y="869"/>
                    <a:pt x="1584" y="953"/>
                    <a:pt x="1691" y="953"/>
                  </a:cubicBezTo>
                  <a:cubicBezTo>
                    <a:pt x="1774" y="953"/>
                    <a:pt x="1869" y="881"/>
                    <a:pt x="1869" y="774"/>
                  </a:cubicBezTo>
                  <a:cubicBezTo>
                    <a:pt x="1869" y="477"/>
                    <a:pt x="1548" y="250"/>
                    <a:pt x="1119" y="191"/>
                  </a:cubicBezTo>
                  <a:lnTo>
                    <a:pt x="1119" y="179"/>
                  </a:lnTo>
                  <a:cubicBezTo>
                    <a:pt x="1119" y="84"/>
                    <a:pt x="1048" y="0"/>
                    <a:pt x="9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grpSp>
    </p:spTree>
    <p:extLst>
      <p:ext uri="{BB962C8B-B14F-4D97-AF65-F5344CB8AC3E}">
        <p14:creationId xmlns:p14="http://schemas.microsoft.com/office/powerpoint/2010/main" val="16468425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pic>
        <p:nvPicPr>
          <p:cNvPr id="357" name="Google Shape;357;p36"/>
          <p:cNvPicPr preferRelativeResize="0"/>
          <p:nvPr/>
        </p:nvPicPr>
        <p:blipFill rotWithShape="1">
          <a:blip r:embed="rId3">
            <a:alphaModFix/>
          </a:blip>
          <a:srcRect l="19909" r="89"/>
          <a:stretch/>
        </p:blipFill>
        <p:spPr>
          <a:xfrm>
            <a:off x="5213384" y="0"/>
            <a:ext cx="6176060" cy="5143500"/>
          </a:xfrm>
          <a:prstGeom prst="rect">
            <a:avLst/>
          </a:prstGeom>
          <a:noFill/>
          <a:ln>
            <a:noFill/>
          </a:ln>
        </p:spPr>
      </p:pic>
      <p:sp>
        <p:nvSpPr>
          <p:cNvPr id="358" name="Google Shape;358;p36"/>
          <p:cNvSpPr txBox="1"/>
          <p:nvPr/>
        </p:nvSpPr>
        <p:spPr>
          <a:xfrm>
            <a:off x="807536" y="590550"/>
            <a:ext cx="3521400" cy="615553"/>
          </a:xfrm>
          <a:prstGeom prst="rect">
            <a:avLst/>
          </a:prstGeom>
          <a:noFill/>
          <a:ln>
            <a:noFill/>
          </a:ln>
        </p:spPr>
        <p:txBody>
          <a:bodyPr spcFirstLastPara="1" wrap="square" lIns="0" tIns="0" rIns="0" bIns="0" anchor="t" anchorCtr="0">
            <a:spAutoFit/>
          </a:bodyPr>
          <a:lstStyle/>
          <a:p>
            <a:pPr marL="0" marR="0" lvl="0" indent="0" algn="ctr">
              <a:lnSpc>
                <a:spcPct val="100000"/>
              </a:lnSpc>
              <a:spcBef>
                <a:spcPts val="0"/>
              </a:spcBef>
              <a:spcAft>
                <a:spcPts val="0"/>
              </a:spcAft>
              <a:buNone/>
            </a:pPr>
            <a:r>
              <a:rPr lang="fa-IR" sz="4000" b="1" i="0" u="none" strike="noStrike" cap="none" dirty="0">
                <a:solidFill>
                  <a:srgbClr val="000000"/>
                </a:solidFill>
                <a:latin typeface="Open Sans"/>
                <a:ea typeface="Open Sans"/>
                <a:cs typeface="B Nazanin" panose="00000700000000000000" pitchFamily="2" charset="-78"/>
                <a:sym typeface="Open Sans"/>
              </a:rPr>
              <a:t>درآمد</a:t>
            </a:r>
            <a:endParaRPr sz="700" b="1" dirty="0">
              <a:latin typeface="Open Sans"/>
              <a:ea typeface="Open Sans"/>
              <a:cs typeface="B Nazanin" panose="00000700000000000000" pitchFamily="2" charset="-78"/>
              <a:sym typeface="Open Sans"/>
            </a:endParaRPr>
          </a:p>
        </p:txBody>
      </p:sp>
      <p:grpSp>
        <p:nvGrpSpPr>
          <p:cNvPr id="360" name="Google Shape;360;p36"/>
          <p:cNvGrpSpPr/>
          <p:nvPr/>
        </p:nvGrpSpPr>
        <p:grpSpPr>
          <a:xfrm>
            <a:off x="8837359" y="-72330"/>
            <a:ext cx="1543051" cy="5808473"/>
            <a:chOff x="0" y="-38100"/>
            <a:chExt cx="812800" cy="3059607"/>
          </a:xfrm>
        </p:grpSpPr>
        <p:sp>
          <p:nvSpPr>
            <p:cNvPr id="361" name="Google Shape;361;p36"/>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endParaRPr lang="en-US"/>
            </a:p>
          </p:txBody>
        </p:sp>
        <p:sp>
          <p:nvSpPr>
            <p:cNvPr id="362" name="Google Shape;362;p36"/>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363" name="Google Shape;363;p36"/>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cxnSp>
        <p:nvCxnSpPr>
          <p:cNvPr id="364" name="Google Shape;364;p36"/>
          <p:cNvCxnSpPr/>
          <p:nvPr/>
        </p:nvCxnSpPr>
        <p:spPr>
          <a:xfrm rot="5399999">
            <a:off x="-1082540" y="80769"/>
            <a:ext cx="3084866" cy="0"/>
          </a:xfrm>
          <a:prstGeom prst="straightConnector1">
            <a:avLst/>
          </a:prstGeom>
          <a:noFill/>
          <a:ln w="9525" cap="flat" cmpd="sng">
            <a:solidFill>
              <a:srgbClr val="000000"/>
            </a:solidFill>
            <a:prstDash val="solid"/>
            <a:round/>
            <a:headEnd type="none" w="sm" len="sm"/>
            <a:tailEnd type="none" w="sm" len="sm"/>
          </a:ln>
        </p:spPr>
      </p:cxnSp>
      <p:cxnSp>
        <p:nvCxnSpPr>
          <p:cNvPr id="365" name="Google Shape;365;p36"/>
          <p:cNvCxnSpPr/>
          <p:nvPr/>
        </p:nvCxnSpPr>
        <p:spPr>
          <a:xfrm rot="5400000">
            <a:off x="3375196" y="3870737"/>
            <a:ext cx="2602737" cy="0"/>
          </a:xfrm>
          <a:prstGeom prst="straightConnector1">
            <a:avLst/>
          </a:prstGeom>
          <a:noFill/>
          <a:ln w="9525" cap="flat" cmpd="sng">
            <a:solidFill>
              <a:srgbClr val="000000"/>
            </a:solidFill>
            <a:prstDash val="solid"/>
            <a:round/>
            <a:headEnd type="none" w="sm" len="sm"/>
            <a:tailEnd type="none" w="sm" len="sm"/>
          </a:ln>
        </p:spPr>
      </p:cxnSp>
      <p:sp>
        <p:nvSpPr>
          <p:cNvPr id="2" name="Rectangle 1">
            <a:extLst>
              <a:ext uri="{FF2B5EF4-FFF2-40B4-BE49-F238E27FC236}">
                <a16:creationId xmlns:a16="http://schemas.microsoft.com/office/drawing/2014/main" id="{2AFF56C0-20BD-76AC-A657-235885DD8000}"/>
              </a:ext>
            </a:extLst>
          </p:cNvPr>
          <p:cNvSpPr/>
          <p:nvPr/>
        </p:nvSpPr>
        <p:spPr>
          <a:xfrm>
            <a:off x="807537" y="1553102"/>
            <a:ext cx="3521399" cy="3752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a:lnSpc>
                <a:spcPct val="140000"/>
              </a:lnSpc>
              <a:spcBef>
                <a:spcPts val="0"/>
              </a:spcBef>
              <a:spcAft>
                <a:spcPts val="0"/>
              </a:spcAft>
              <a:buNone/>
            </a:pPr>
            <a:r>
              <a:rPr lang="fa-IR" dirty="0">
                <a:solidFill>
                  <a:srgbClr val="000000"/>
                </a:solidFill>
                <a:latin typeface="Open Sans"/>
                <a:ea typeface="Open Sans"/>
                <a:cs typeface="B Nazanin" panose="00000700000000000000" pitchFamily="2" charset="-78"/>
                <a:sym typeface="Open Sans"/>
              </a:rPr>
              <a:t>د</a:t>
            </a:r>
            <a:r>
              <a:rPr lang="fa-IR" sz="1400" i="0" u="none" strike="noStrike" cap="none" dirty="0">
                <a:solidFill>
                  <a:srgbClr val="000000"/>
                </a:solidFill>
                <a:latin typeface="Open Sans"/>
                <a:ea typeface="Open Sans"/>
                <a:cs typeface="B Nazanin" panose="00000700000000000000" pitchFamily="2" charset="-78"/>
                <a:sym typeface="Open Sans"/>
              </a:rPr>
              <a:t>رآمد شهرداري ها به شش طبقه به شرح زير تقسيم ميشود:</a:t>
            </a:r>
          </a:p>
        </p:txBody>
      </p:sp>
      <p:sp>
        <p:nvSpPr>
          <p:cNvPr id="4" name="Rectangle 3">
            <a:extLst>
              <a:ext uri="{FF2B5EF4-FFF2-40B4-BE49-F238E27FC236}">
                <a16:creationId xmlns:a16="http://schemas.microsoft.com/office/drawing/2014/main" id="{233D432D-89CA-C306-F216-DF3432DF604A}"/>
              </a:ext>
            </a:extLst>
          </p:cNvPr>
          <p:cNvSpPr/>
          <p:nvPr/>
        </p:nvSpPr>
        <p:spPr>
          <a:xfrm>
            <a:off x="807536" y="2042652"/>
            <a:ext cx="3521400" cy="3752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a:lnSpc>
                <a:spcPct val="140000"/>
              </a:lnSpc>
              <a:spcBef>
                <a:spcPts val="0"/>
              </a:spcBef>
              <a:spcAft>
                <a:spcPts val="0"/>
              </a:spcAft>
              <a:buNone/>
            </a:pPr>
            <a:r>
              <a:rPr lang="fa-IR" sz="1400" i="0" u="none" strike="noStrike" cap="none" dirty="0">
                <a:solidFill>
                  <a:srgbClr val="000000"/>
                </a:solidFill>
                <a:latin typeface="Open Sans"/>
                <a:ea typeface="Open Sans"/>
                <a:cs typeface="B Nazanin" panose="00000700000000000000" pitchFamily="2" charset="-78"/>
                <a:sym typeface="Open Sans"/>
              </a:rPr>
              <a:t>1. درآمدهاي ناشي از عوارض عمومي (درآمدهاي مستمر).</a:t>
            </a:r>
          </a:p>
        </p:txBody>
      </p:sp>
      <p:sp>
        <p:nvSpPr>
          <p:cNvPr id="5" name="Rectangle 4">
            <a:extLst>
              <a:ext uri="{FF2B5EF4-FFF2-40B4-BE49-F238E27FC236}">
                <a16:creationId xmlns:a16="http://schemas.microsoft.com/office/drawing/2014/main" id="{49E29D61-4A09-37AA-41C8-B071B3F2D81A}"/>
              </a:ext>
            </a:extLst>
          </p:cNvPr>
          <p:cNvSpPr/>
          <p:nvPr/>
        </p:nvSpPr>
        <p:spPr>
          <a:xfrm>
            <a:off x="807536" y="2532202"/>
            <a:ext cx="3521400" cy="3752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a:lnSpc>
                <a:spcPct val="140000"/>
              </a:lnSpc>
              <a:spcBef>
                <a:spcPts val="0"/>
              </a:spcBef>
              <a:spcAft>
                <a:spcPts val="0"/>
              </a:spcAft>
              <a:buNone/>
            </a:pPr>
            <a:r>
              <a:rPr lang="fa-IR" sz="1400" i="0" u="none" strike="noStrike" cap="none" dirty="0">
                <a:solidFill>
                  <a:srgbClr val="000000"/>
                </a:solidFill>
                <a:latin typeface="Open Sans"/>
                <a:ea typeface="Open Sans"/>
                <a:cs typeface="B Nazanin" panose="00000700000000000000" pitchFamily="2" charset="-78"/>
                <a:sym typeface="Open Sans"/>
              </a:rPr>
              <a:t>2. درآمدهاي ناشي از عوارض اختصاصي.</a:t>
            </a:r>
          </a:p>
        </p:txBody>
      </p:sp>
      <p:sp>
        <p:nvSpPr>
          <p:cNvPr id="6" name="Rectangle 5">
            <a:extLst>
              <a:ext uri="{FF2B5EF4-FFF2-40B4-BE49-F238E27FC236}">
                <a16:creationId xmlns:a16="http://schemas.microsoft.com/office/drawing/2014/main" id="{C7501C57-F52F-4A7B-346B-925D87ADAFF3}"/>
              </a:ext>
            </a:extLst>
          </p:cNvPr>
          <p:cNvSpPr/>
          <p:nvPr/>
        </p:nvSpPr>
        <p:spPr>
          <a:xfrm>
            <a:off x="807536" y="3027593"/>
            <a:ext cx="3521399" cy="3752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a:lnSpc>
                <a:spcPct val="140000"/>
              </a:lnSpc>
              <a:spcBef>
                <a:spcPts val="0"/>
              </a:spcBef>
              <a:spcAft>
                <a:spcPts val="0"/>
              </a:spcAft>
              <a:buNone/>
            </a:pPr>
            <a:r>
              <a:rPr lang="fa-IR" dirty="0">
                <a:solidFill>
                  <a:srgbClr val="000000"/>
                </a:solidFill>
                <a:latin typeface="Open Sans"/>
                <a:ea typeface="Open Sans"/>
                <a:cs typeface="B Nazanin" panose="00000700000000000000" pitchFamily="2" charset="-78"/>
                <a:sym typeface="Open Sans"/>
              </a:rPr>
              <a:t>3. بهاء خدمات و درآمدهاي مؤسسات انتفاعي شهرداري.</a:t>
            </a:r>
          </a:p>
        </p:txBody>
      </p:sp>
      <p:sp>
        <p:nvSpPr>
          <p:cNvPr id="7" name="Rectangle 6">
            <a:extLst>
              <a:ext uri="{FF2B5EF4-FFF2-40B4-BE49-F238E27FC236}">
                <a16:creationId xmlns:a16="http://schemas.microsoft.com/office/drawing/2014/main" id="{1A773800-181E-7C73-A4EC-49A26D684532}"/>
              </a:ext>
            </a:extLst>
          </p:cNvPr>
          <p:cNvSpPr/>
          <p:nvPr/>
        </p:nvSpPr>
        <p:spPr>
          <a:xfrm>
            <a:off x="807535" y="3517143"/>
            <a:ext cx="3521400" cy="3752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a:lnSpc>
                <a:spcPct val="140000"/>
              </a:lnSpc>
              <a:spcBef>
                <a:spcPts val="0"/>
              </a:spcBef>
              <a:spcAft>
                <a:spcPts val="0"/>
              </a:spcAft>
              <a:buNone/>
            </a:pPr>
            <a:r>
              <a:rPr lang="fa-IR" sz="1400" i="0" u="none" strike="noStrike" cap="none" dirty="0">
                <a:solidFill>
                  <a:srgbClr val="000000"/>
                </a:solidFill>
                <a:latin typeface="Open Sans"/>
                <a:ea typeface="Open Sans"/>
                <a:cs typeface="B Nazanin" panose="00000700000000000000" pitchFamily="2" charset="-78"/>
                <a:sym typeface="Open Sans"/>
              </a:rPr>
              <a:t>4. درآمدهاي حاصله از وجوه و اموال شهرداري.</a:t>
            </a:r>
          </a:p>
        </p:txBody>
      </p:sp>
      <p:sp>
        <p:nvSpPr>
          <p:cNvPr id="8" name="Rectangle 7">
            <a:extLst>
              <a:ext uri="{FF2B5EF4-FFF2-40B4-BE49-F238E27FC236}">
                <a16:creationId xmlns:a16="http://schemas.microsoft.com/office/drawing/2014/main" id="{5B152B15-B202-B1FD-7543-B2AA0ABC8CBC}"/>
              </a:ext>
            </a:extLst>
          </p:cNvPr>
          <p:cNvSpPr/>
          <p:nvPr/>
        </p:nvSpPr>
        <p:spPr>
          <a:xfrm>
            <a:off x="807535" y="4006693"/>
            <a:ext cx="3521400" cy="3752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a:lnSpc>
                <a:spcPct val="140000"/>
              </a:lnSpc>
              <a:spcBef>
                <a:spcPts val="0"/>
              </a:spcBef>
              <a:spcAft>
                <a:spcPts val="0"/>
              </a:spcAft>
              <a:buNone/>
            </a:pPr>
            <a:r>
              <a:rPr lang="fa-IR" sz="1400" i="0" u="none" strike="noStrike" cap="none" dirty="0">
                <a:solidFill>
                  <a:srgbClr val="000000"/>
                </a:solidFill>
                <a:latin typeface="Open Sans"/>
                <a:ea typeface="Open Sans"/>
                <a:cs typeface="B Nazanin" panose="00000700000000000000" pitchFamily="2" charset="-78"/>
                <a:sym typeface="Open Sans"/>
              </a:rPr>
              <a:t>5. كمك هاي اعطائي دولت و سازمان هاي دولتي.</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grpSp>
        <p:nvGrpSpPr>
          <p:cNvPr id="360" name="Google Shape;360;p36"/>
          <p:cNvGrpSpPr/>
          <p:nvPr/>
        </p:nvGrpSpPr>
        <p:grpSpPr>
          <a:xfrm>
            <a:off x="8837359" y="-72330"/>
            <a:ext cx="1543051" cy="5808473"/>
            <a:chOff x="0" y="-38100"/>
            <a:chExt cx="812800" cy="3059607"/>
          </a:xfrm>
        </p:grpSpPr>
        <p:sp>
          <p:nvSpPr>
            <p:cNvPr id="361" name="Google Shape;361;p36"/>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endParaRPr lang="en-US"/>
            </a:p>
          </p:txBody>
        </p:sp>
        <p:sp>
          <p:nvSpPr>
            <p:cNvPr id="362" name="Google Shape;362;p36"/>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363" name="Google Shape;363;p36"/>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cxnSp>
        <p:nvCxnSpPr>
          <p:cNvPr id="364" name="Google Shape;364;p36"/>
          <p:cNvCxnSpPr/>
          <p:nvPr/>
        </p:nvCxnSpPr>
        <p:spPr>
          <a:xfrm rot="5399999">
            <a:off x="-1082540" y="80769"/>
            <a:ext cx="3084866" cy="0"/>
          </a:xfrm>
          <a:prstGeom prst="straightConnector1">
            <a:avLst/>
          </a:prstGeom>
          <a:noFill/>
          <a:ln w="9525" cap="flat" cmpd="sng">
            <a:solidFill>
              <a:srgbClr val="000000"/>
            </a:solidFill>
            <a:prstDash val="solid"/>
            <a:round/>
            <a:headEnd type="none" w="sm" len="sm"/>
            <a:tailEnd type="none" w="sm" len="sm"/>
          </a:ln>
        </p:spPr>
      </p:cxnSp>
      <p:cxnSp>
        <p:nvCxnSpPr>
          <p:cNvPr id="365" name="Google Shape;365;p36"/>
          <p:cNvCxnSpPr/>
          <p:nvPr/>
        </p:nvCxnSpPr>
        <p:spPr>
          <a:xfrm rot="5400000">
            <a:off x="3270631" y="3870738"/>
            <a:ext cx="2602737" cy="0"/>
          </a:xfrm>
          <a:prstGeom prst="straightConnector1">
            <a:avLst/>
          </a:prstGeom>
          <a:noFill/>
          <a:ln w="9525" cap="flat" cmpd="sng">
            <a:solidFill>
              <a:srgbClr val="000000"/>
            </a:solidFill>
            <a:prstDash val="solid"/>
            <a:round/>
            <a:headEnd type="none" w="sm" len="sm"/>
            <a:tailEnd type="none" w="sm" len="sm"/>
          </a:ln>
        </p:spPr>
      </p:cxnSp>
      <p:sp>
        <p:nvSpPr>
          <p:cNvPr id="3" name="Rectangle 2">
            <a:extLst>
              <a:ext uri="{FF2B5EF4-FFF2-40B4-BE49-F238E27FC236}">
                <a16:creationId xmlns:a16="http://schemas.microsoft.com/office/drawing/2014/main" id="{751248A6-3518-F093-8FFF-0AD0911D3261}"/>
              </a:ext>
            </a:extLst>
          </p:cNvPr>
          <p:cNvSpPr/>
          <p:nvPr/>
        </p:nvSpPr>
        <p:spPr>
          <a:xfrm>
            <a:off x="4727851" y="0"/>
            <a:ext cx="4109502" cy="51721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2AFF56C0-20BD-76AC-A657-235885DD8000}"/>
              </a:ext>
            </a:extLst>
          </p:cNvPr>
          <p:cNvSpPr/>
          <p:nvPr/>
        </p:nvSpPr>
        <p:spPr>
          <a:xfrm>
            <a:off x="5216215" y="1507254"/>
            <a:ext cx="3521399" cy="375204"/>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a:lnSpc>
                <a:spcPct val="140000"/>
              </a:lnSpc>
              <a:spcBef>
                <a:spcPts val="0"/>
              </a:spcBef>
              <a:spcAft>
                <a:spcPts val="0"/>
              </a:spcAft>
              <a:buNone/>
            </a:pPr>
            <a:r>
              <a:rPr lang="fa-IR" dirty="0">
                <a:solidFill>
                  <a:srgbClr val="000000"/>
                </a:solidFill>
                <a:latin typeface="Open Sans"/>
                <a:ea typeface="Open Sans"/>
                <a:cs typeface="B Nazanin" panose="00000700000000000000" pitchFamily="2" charset="-78"/>
                <a:sym typeface="Open Sans"/>
              </a:rPr>
              <a:t>د</a:t>
            </a:r>
            <a:r>
              <a:rPr lang="fa-IR" sz="1400" i="0" u="none" strike="noStrike" cap="none" dirty="0">
                <a:solidFill>
                  <a:srgbClr val="000000"/>
                </a:solidFill>
                <a:latin typeface="Open Sans"/>
                <a:ea typeface="Open Sans"/>
                <a:cs typeface="B Nazanin" panose="00000700000000000000" pitchFamily="2" charset="-78"/>
                <a:sym typeface="Open Sans"/>
              </a:rPr>
              <a:t>رآمد شهرداري ها به شش طبقه به شرح زير تقسيم ميشود:</a:t>
            </a:r>
          </a:p>
        </p:txBody>
      </p:sp>
      <p:sp>
        <p:nvSpPr>
          <p:cNvPr id="4" name="Rectangle 3">
            <a:extLst>
              <a:ext uri="{FF2B5EF4-FFF2-40B4-BE49-F238E27FC236}">
                <a16:creationId xmlns:a16="http://schemas.microsoft.com/office/drawing/2014/main" id="{233D432D-89CA-C306-F216-DF3432DF604A}"/>
              </a:ext>
            </a:extLst>
          </p:cNvPr>
          <p:cNvSpPr/>
          <p:nvPr/>
        </p:nvSpPr>
        <p:spPr>
          <a:xfrm>
            <a:off x="5216214" y="1996804"/>
            <a:ext cx="3521400" cy="375204"/>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a:lnSpc>
                <a:spcPct val="140000"/>
              </a:lnSpc>
              <a:spcBef>
                <a:spcPts val="0"/>
              </a:spcBef>
              <a:spcAft>
                <a:spcPts val="0"/>
              </a:spcAft>
              <a:buNone/>
            </a:pPr>
            <a:r>
              <a:rPr lang="fa-IR" sz="1400" i="0" u="none" strike="noStrike" cap="none" dirty="0">
                <a:solidFill>
                  <a:srgbClr val="000000"/>
                </a:solidFill>
                <a:latin typeface="Open Sans"/>
                <a:ea typeface="Open Sans"/>
                <a:cs typeface="B Nazanin" panose="00000700000000000000" pitchFamily="2" charset="-78"/>
                <a:sym typeface="Open Sans"/>
              </a:rPr>
              <a:t>1. درآمدهاي ناشي از عوارض عمومي (درآمدهاي مستمر).</a:t>
            </a:r>
          </a:p>
        </p:txBody>
      </p:sp>
      <p:sp>
        <p:nvSpPr>
          <p:cNvPr id="5" name="Rectangle 4">
            <a:extLst>
              <a:ext uri="{FF2B5EF4-FFF2-40B4-BE49-F238E27FC236}">
                <a16:creationId xmlns:a16="http://schemas.microsoft.com/office/drawing/2014/main" id="{49E29D61-4A09-37AA-41C8-B071B3F2D81A}"/>
              </a:ext>
            </a:extLst>
          </p:cNvPr>
          <p:cNvSpPr/>
          <p:nvPr/>
        </p:nvSpPr>
        <p:spPr>
          <a:xfrm>
            <a:off x="5216214" y="2486354"/>
            <a:ext cx="3521400" cy="375204"/>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a:lnSpc>
                <a:spcPct val="140000"/>
              </a:lnSpc>
              <a:spcBef>
                <a:spcPts val="0"/>
              </a:spcBef>
              <a:spcAft>
                <a:spcPts val="0"/>
              </a:spcAft>
              <a:buNone/>
            </a:pPr>
            <a:r>
              <a:rPr lang="fa-IR" sz="1400" i="0" u="none" strike="noStrike" cap="none" dirty="0">
                <a:solidFill>
                  <a:srgbClr val="000000"/>
                </a:solidFill>
                <a:latin typeface="Open Sans"/>
                <a:ea typeface="Open Sans"/>
                <a:cs typeface="B Nazanin" panose="00000700000000000000" pitchFamily="2" charset="-78"/>
                <a:sym typeface="Open Sans"/>
              </a:rPr>
              <a:t>2. درآمدهاي ناشي از عوارض اختصاصي.</a:t>
            </a:r>
          </a:p>
        </p:txBody>
      </p:sp>
      <p:sp>
        <p:nvSpPr>
          <p:cNvPr id="6" name="Rectangle 5">
            <a:extLst>
              <a:ext uri="{FF2B5EF4-FFF2-40B4-BE49-F238E27FC236}">
                <a16:creationId xmlns:a16="http://schemas.microsoft.com/office/drawing/2014/main" id="{C7501C57-F52F-4A7B-346B-925D87ADAFF3}"/>
              </a:ext>
            </a:extLst>
          </p:cNvPr>
          <p:cNvSpPr/>
          <p:nvPr/>
        </p:nvSpPr>
        <p:spPr>
          <a:xfrm>
            <a:off x="5216214" y="2981745"/>
            <a:ext cx="3521399" cy="375204"/>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a:lnSpc>
                <a:spcPct val="140000"/>
              </a:lnSpc>
              <a:spcBef>
                <a:spcPts val="0"/>
              </a:spcBef>
              <a:spcAft>
                <a:spcPts val="0"/>
              </a:spcAft>
              <a:buNone/>
            </a:pPr>
            <a:r>
              <a:rPr lang="fa-IR" dirty="0">
                <a:solidFill>
                  <a:srgbClr val="000000"/>
                </a:solidFill>
                <a:latin typeface="Open Sans"/>
                <a:ea typeface="Open Sans"/>
                <a:cs typeface="B Nazanin" panose="00000700000000000000" pitchFamily="2" charset="-78"/>
                <a:sym typeface="Open Sans"/>
              </a:rPr>
              <a:t>3. بهاء خدمات و درآمدهاي مؤسسات انتفاعي شهرداري.</a:t>
            </a:r>
          </a:p>
        </p:txBody>
      </p:sp>
      <p:sp>
        <p:nvSpPr>
          <p:cNvPr id="7" name="Rectangle 6">
            <a:extLst>
              <a:ext uri="{FF2B5EF4-FFF2-40B4-BE49-F238E27FC236}">
                <a16:creationId xmlns:a16="http://schemas.microsoft.com/office/drawing/2014/main" id="{1A773800-181E-7C73-A4EC-49A26D684532}"/>
              </a:ext>
            </a:extLst>
          </p:cNvPr>
          <p:cNvSpPr/>
          <p:nvPr/>
        </p:nvSpPr>
        <p:spPr>
          <a:xfrm>
            <a:off x="5216213" y="3471295"/>
            <a:ext cx="3521400" cy="375204"/>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a:lnSpc>
                <a:spcPct val="140000"/>
              </a:lnSpc>
              <a:spcBef>
                <a:spcPts val="0"/>
              </a:spcBef>
              <a:spcAft>
                <a:spcPts val="0"/>
              </a:spcAft>
              <a:buNone/>
            </a:pPr>
            <a:r>
              <a:rPr lang="fa-IR" sz="1400" i="0" u="none" strike="noStrike" cap="none" dirty="0">
                <a:solidFill>
                  <a:srgbClr val="000000"/>
                </a:solidFill>
                <a:latin typeface="Open Sans"/>
                <a:ea typeface="Open Sans"/>
                <a:cs typeface="B Nazanin" panose="00000700000000000000" pitchFamily="2" charset="-78"/>
                <a:sym typeface="Open Sans"/>
              </a:rPr>
              <a:t>4. درآمدهاي حاصله از وجوه و اموال شهرداري.</a:t>
            </a:r>
          </a:p>
        </p:txBody>
      </p:sp>
      <p:sp>
        <p:nvSpPr>
          <p:cNvPr id="8" name="Rectangle 7">
            <a:extLst>
              <a:ext uri="{FF2B5EF4-FFF2-40B4-BE49-F238E27FC236}">
                <a16:creationId xmlns:a16="http://schemas.microsoft.com/office/drawing/2014/main" id="{5B152B15-B202-B1FD-7543-B2AA0ABC8CBC}"/>
              </a:ext>
            </a:extLst>
          </p:cNvPr>
          <p:cNvSpPr/>
          <p:nvPr/>
        </p:nvSpPr>
        <p:spPr>
          <a:xfrm>
            <a:off x="5216213" y="3960845"/>
            <a:ext cx="3521400" cy="375204"/>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a:lnSpc>
                <a:spcPct val="140000"/>
              </a:lnSpc>
              <a:spcBef>
                <a:spcPts val="0"/>
              </a:spcBef>
              <a:spcAft>
                <a:spcPts val="0"/>
              </a:spcAft>
              <a:buNone/>
            </a:pPr>
            <a:r>
              <a:rPr lang="fa-IR" sz="1400" i="0" u="none" strike="noStrike" cap="none" dirty="0">
                <a:solidFill>
                  <a:srgbClr val="000000"/>
                </a:solidFill>
                <a:latin typeface="Open Sans"/>
                <a:ea typeface="Open Sans"/>
                <a:cs typeface="B Nazanin" panose="00000700000000000000" pitchFamily="2" charset="-78"/>
                <a:sym typeface="Open Sans"/>
              </a:rPr>
              <a:t>5. كمك هاي اعطائي دولت و سازمان هاي دولتي.</a:t>
            </a:r>
          </a:p>
        </p:txBody>
      </p:sp>
      <p:sp>
        <p:nvSpPr>
          <p:cNvPr id="358" name="Google Shape;358;p36"/>
          <p:cNvSpPr txBox="1"/>
          <p:nvPr/>
        </p:nvSpPr>
        <p:spPr>
          <a:xfrm>
            <a:off x="2967150" y="250198"/>
            <a:ext cx="3521400" cy="615553"/>
          </a:xfrm>
          <a:prstGeom prst="rect">
            <a:avLst/>
          </a:prstGeom>
          <a:noFill/>
          <a:ln>
            <a:noFill/>
          </a:ln>
        </p:spPr>
        <p:txBody>
          <a:bodyPr spcFirstLastPara="1" wrap="square" lIns="0" tIns="0" rIns="0" bIns="0" anchor="t" anchorCtr="0">
            <a:spAutoFit/>
          </a:bodyPr>
          <a:lstStyle/>
          <a:p>
            <a:pPr marL="0" marR="0" lvl="0" indent="0" algn="ctr">
              <a:lnSpc>
                <a:spcPct val="100000"/>
              </a:lnSpc>
              <a:spcBef>
                <a:spcPts val="0"/>
              </a:spcBef>
              <a:spcAft>
                <a:spcPts val="0"/>
              </a:spcAft>
              <a:buNone/>
            </a:pPr>
            <a:r>
              <a:rPr lang="fa-IR" sz="4000" b="1" i="0" u="none" strike="noStrike" cap="none" dirty="0">
                <a:solidFill>
                  <a:schemeClr val="bg1"/>
                </a:solidFill>
                <a:latin typeface="Open Sans"/>
                <a:ea typeface="Open Sans"/>
                <a:cs typeface="B Nazanin" panose="00000700000000000000" pitchFamily="2" charset="-78"/>
                <a:sym typeface="Open Sans"/>
              </a:rPr>
              <a:t>درآ</a:t>
            </a:r>
            <a:r>
              <a:rPr lang="fa-IR" sz="4000" b="1" i="0" u="none" strike="noStrike" cap="none" dirty="0">
                <a:solidFill>
                  <a:srgbClr val="000000"/>
                </a:solidFill>
                <a:latin typeface="Open Sans"/>
                <a:ea typeface="Open Sans"/>
                <a:cs typeface="B Nazanin" panose="00000700000000000000" pitchFamily="2" charset="-78"/>
                <a:sym typeface="Open Sans"/>
              </a:rPr>
              <a:t>مد</a:t>
            </a:r>
            <a:endParaRPr sz="700" b="1" dirty="0">
              <a:latin typeface="Open Sans"/>
              <a:ea typeface="Open Sans"/>
              <a:cs typeface="B Nazanin" panose="00000700000000000000" pitchFamily="2" charset="-78"/>
              <a:sym typeface="Open Sans"/>
            </a:endParaRPr>
          </a:p>
        </p:txBody>
      </p:sp>
      <p:sp>
        <p:nvSpPr>
          <p:cNvPr id="9" name="Rectangle 8">
            <a:extLst>
              <a:ext uri="{FF2B5EF4-FFF2-40B4-BE49-F238E27FC236}">
                <a16:creationId xmlns:a16="http://schemas.microsoft.com/office/drawing/2014/main" id="{3B5F266F-C318-31D9-3039-9DFEC68E855B}"/>
              </a:ext>
            </a:extLst>
          </p:cNvPr>
          <p:cNvSpPr/>
          <p:nvPr/>
        </p:nvSpPr>
        <p:spPr>
          <a:xfrm>
            <a:off x="722873" y="1507254"/>
            <a:ext cx="3521399" cy="979100"/>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rtl="1">
              <a:lnSpc>
                <a:spcPct val="140000"/>
              </a:lnSpc>
              <a:spcBef>
                <a:spcPts val="0"/>
              </a:spcBef>
              <a:spcAft>
                <a:spcPts val="0"/>
              </a:spcAft>
              <a:buNone/>
            </a:pPr>
            <a:r>
              <a:rPr lang="fa-IR" dirty="0">
                <a:solidFill>
                  <a:srgbClr val="000000"/>
                </a:solidFill>
                <a:latin typeface="Open Sans"/>
                <a:ea typeface="Open Sans"/>
                <a:cs typeface="B Nazanin" panose="00000700000000000000" pitchFamily="2" charset="-78"/>
                <a:sym typeface="Open Sans"/>
              </a:rPr>
              <a:t>6. اعانات و كمك هاي اهدائي اشخاص و سازمان هاي خصوصي و اموال و دارائي هائي كه بطور اتفاقي يا به موجب قانون به شهرداري تعلق ميگيرد.</a:t>
            </a:r>
          </a:p>
        </p:txBody>
      </p:sp>
      <p:sp>
        <p:nvSpPr>
          <p:cNvPr id="10" name="Rectangle 9">
            <a:extLst>
              <a:ext uri="{FF2B5EF4-FFF2-40B4-BE49-F238E27FC236}">
                <a16:creationId xmlns:a16="http://schemas.microsoft.com/office/drawing/2014/main" id="{6B9BEF85-F0FA-889C-17F3-0CF06BC0DCAD}"/>
              </a:ext>
            </a:extLst>
          </p:cNvPr>
          <p:cNvSpPr/>
          <p:nvPr/>
        </p:nvSpPr>
        <p:spPr>
          <a:xfrm>
            <a:off x="722872" y="3229212"/>
            <a:ext cx="3521399" cy="1664090"/>
          </a:xfrm>
          <a:prstGeom prst="rect">
            <a:avLst/>
          </a:prstGeom>
          <a:solidFill>
            <a:srgbClr val="C00000"/>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rtl="1">
              <a:lnSpc>
                <a:spcPct val="140000"/>
              </a:lnSpc>
              <a:spcBef>
                <a:spcPts val="0"/>
              </a:spcBef>
              <a:spcAft>
                <a:spcPts val="0"/>
              </a:spcAft>
              <a:buNone/>
            </a:pPr>
            <a:r>
              <a:rPr lang="fa-IR" dirty="0">
                <a:solidFill>
                  <a:srgbClr val="000000"/>
                </a:solidFill>
                <a:latin typeface="Open Sans"/>
                <a:ea typeface="Open Sans"/>
                <a:cs typeface="B Nazanin" panose="00000700000000000000" pitchFamily="2" charset="-78"/>
                <a:sym typeface="Open Sans"/>
              </a:rPr>
              <a:t>نکته:(به شهرداري هاي كل كشور اجازه داده شده تا مطالبات خود را با اقساط حداكثر سي و شش ماهه مطابق دستورالعملي كه به پيشنهاد شهردار به تصويب شوراي اسلامي شهر مربوطه مي رسد، دريافت نمايد.)</a:t>
            </a:r>
          </a:p>
        </p:txBody>
      </p:sp>
    </p:spTree>
    <p:extLst>
      <p:ext uri="{BB962C8B-B14F-4D97-AF65-F5344CB8AC3E}">
        <p14:creationId xmlns:p14="http://schemas.microsoft.com/office/powerpoint/2010/main" val="10987980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80">
                                          <p:stCondLst>
                                            <p:cond delay="0"/>
                                          </p:stCondLst>
                                        </p:cTn>
                                        <p:tgtEl>
                                          <p:spTgt spid="10"/>
                                        </p:tgtEl>
                                      </p:cBhvr>
                                    </p:animEffect>
                                    <p:anim calcmode="lin" valueType="num">
                                      <p:cBhvr>
                                        <p:cTn id="13"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8" dur="26">
                                          <p:stCondLst>
                                            <p:cond delay="650"/>
                                          </p:stCondLst>
                                        </p:cTn>
                                        <p:tgtEl>
                                          <p:spTgt spid="10"/>
                                        </p:tgtEl>
                                      </p:cBhvr>
                                      <p:to x="100000" y="60000"/>
                                    </p:animScale>
                                    <p:animScale>
                                      <p:cBhvr>
                                        <p:cTn id="19" dur="166" decel="50000">
                                          <p:stCondLst>
                                            <p:cond delay="676"/>
                                          </p:stCondLst>
                                        </p:cTn>
                                        <p:tgtEl>
                                          <p:spTgt spid="10"/>
                                        </p:tgtEl>
                                      </p:cBhvr>
                                      <p:to x="100000" y="100000"/>
                                    </p:animScale>
                                    <p:animScale>
                                      <p:cBhvr>
                                        <p:cTn id="20" dur="26">
                                          <p:stCondLst>
                                            <p:cond delay="1312"/>
                                          </p:stCondLst>
                                        </p:cTn>
                                        <p:tgtEl>
                                          <p:spTgt spid="10"/>
                                        </p:tgtEl>
                                      </p:cBhvr>
                                      <p:to x="100000" y="80000"/>
                                    </p:animScale>
                                    <p:animScale>
                                      <p:cBhvr>
                                        <p:cTn id="21" dur="166" decel="50000">
                                          <p:stCondLst>
                                            <p:cond delay="1338"/>
                                          </p:stCondLst>
                                        </p:cTn>
                                        <p:tgtEl>
                                          <p:spTgt spid="10"/>
                                        </p:tgtEl>
                                      </p:cBhvr>
                                      <p:to x="100000" y="100000"/>
                                    </p:animScale>
                                    <p:animScale>
                                      <p:cBhvr>
                                        <p:cTn id="22" dur="26">
                                          <p:stCondLst>
                                            <p:cond delay="1642"/>
                                          </p:stCondLst>
                                        </p:cTn>
                                        <p:tgtEl>
                                          <p:spTgt spid="10"/>
                                        </p:tgtEl>
                                      </p:cBhvr>
                                      <p:to x="100000" y="90000"/>
                                    </p:animScale>
                                    <p:animScale>
                                      <p:cBhvr>
                                        <p:cTn id="23" dur="166" decel="50000">
                                          <p:stCondLst>
                                            <p:cond delay="1668"/>
                                          </p:stCondLst>
                                        </p:cTn>
                                        <p:tgtEl>
                                          <p:spTgt spid="10"/>
                                        </p:tgtEl>
                                      </p:cBhvr>
                                      <p:to x="100000" y="100000"/>
                                    </p:animScale>
                                    <p:animScale>
                                      <p:cBhvr>
                                        <p:cTn id="24" dur="26">
                                          <p:stCondLst>
                                            <p:cond delay="1808"/>
                                          </p:stCondLst>
                                        </p:cTn>
                                        <p:tgtEl>
                                          <p:spTgt spid="10"/>
                                        </p:tgtEl>
                                      </p:cBhvr>
                                      <p:to x="100000" y="95000"/>
                                    </p:animScale>
                                    <p:animScale>
                                      <p:cBhvr>
                                        <p:cTn id="25"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69"/>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DECA4C18-B204-00E6-D3FE-1C4E59B20F8B}"/>
              </a:ext>
            </a:extLst>
          </p:cNvPr>
          <p:cNvSpPr/>
          <p:nvPr/>
        </p:nvSpPr>
        <p:spPr>
          <a:xfrm>
            <a:off x="4846383" y="3679256"/>
            <a:ext cx="3429235" cy="118723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rtl="1"/>
            <a:endParaRPr lang="en-US" dirty="0">
              <a:solidFill>
                <a:schemeClr val="bg1"/>
              </a:solidFill>
              <a:cs typeface="B Nazanin" panose="00000400000000000000" pitchFamily="2" charset="-78"/>
            </a:endParaRPr>
          </a:p>
          <a:p>
            <a:pPr algn="ctr" rtl="1"/>
            <a:r>
              <a:rPr lang="fa-IR" dirty="0">
                <a:solidFill>
                  <a:schemeClr val="bg1"/>
                </a:solidFill>
                <a:cs typeface="B Nazanin" panose="00000400000000000000" pitchFamily="2" charset="-78"/>
              </a:rPr>
              <a:t>اموال اختصاصي شهرداري اموالي است كه شهرداري حق تصرف مالكانه نسبت به آنها را دارد از قبيل اراضي و ابنيه و...</a:t>
            </a:r>
          </a:p>
          <a:p>
            <a:pPr algn="ctr" rtl="1"/>
            <a:endParaRPr lang="en-US" dirty="0">
              <a:solidFill>
                <a:schemeClr val="bg1"/>
              </a:solidFill>
              <a:cs typeface="B Nazanin" panose="00000400000000000000" pitchFamily="2" charset="-78"/>
            </a:endParaRPr>
          </a:p>
        </p:txBody>
      </p:sp>
      <p:sp>
        <p:nvSpPr>
          <p:cNvPr id="372" name="Google Shape;372;p37"/>
          <p:cNvSpPr txBox="1"/>
          <p:nvPr/>
        </p:nvSpPr>
        <p:spPr>
          <a:xfrm>
            <a:off x="2663459" y="974896"/>
            <a:ext cx="3048187" cy="615553"/>
          </a:xfrm>
          <a:prstGeom prst="rect">
            <a:avLst/>
          </a:prstGeom>
          <a:noFill/>
          <a:ln>
            <a:noFill/>
          </a:ln>
        </p:spPr>
        <p:txBody>
          <a:bodyPr spcFirstLastPara="1" wrap="square" lIns="0" tIns="0" rIns="0" bIns="0" anchor="t" anchorCtr="0">
            <a:spAutoFit/>
          </a:bodyPr>
          <a:lstStyle/>
          <a:p>
            <a:pPr marL="0" marR="0" lvl="0" indent="0" algn="ctr" rtl="1">
              <a:lnSpc>
                <a:spcPct val="100000"/>
              </a:lnSpc>
              <a:spcBef>
                <a:spcPts val="0"/>
              </a:spcBef>
              <a:spcAft>
                <a:spcPts val="0"/>
              </a:spcAft>
              <a:buNone/>
            </a:pPr>
            <a:r>
              <a:rPr lang="fa-IR" sz="4000" b="1" i="0" u="none" strike="noStrike" cap="none" dirty="0">
                <a:solidFill>
                  <a:srgbClr val="FFFFFF"/>
                </a:solidFill>
                <a:latin typeface="Open Sans"/>
                <a:ea typeface="Open Sans"/>
                <a:cs typeface="B Nazanin" panose="00000700000000000000" pitchFamily="2" charset="-78"/>
                <a:sym typeface="Open Sans"/>
              </a:rPr>
              <a:t>اموال شهرداری ها</a:t>
            </a:r>
            <a:endParaRPr sz="700" b="1" dirty="0">
              <a:latin typeface="Open Sans"/>
              <a:ea typeface="Open Sans"/>
              <a:cs typeface="B Nazanin" panose="00000700000000000000" pitchFamily="2" charset="-78"/>
              <a:sym typeface="Open Sans"/>
            </a:endParaRPr>
          </a:p>
        </p:txBody>
      </p:sp>
      <p:grpSp>
        <p:nvGrpSpPr>
          <p:cNvPr id="374" name="Google Shape;374;p37"/>
          <p:cNvGrpSpPr/>
          <p:nvPr/>
        </p:nvGrpSpPr>
        <p:grpSpPr>
          <a:xfrm>
            <a:off x="8837359" y="-72330"/>
            <a:ext cx="1543051" cy="5808473"/>
            <a:chOff x="0" y="-38100"/>
            <a:chExt cx="812800" cy="3059607"/>
          </a:xfrm>
        </p:grpSpPr>
        <p:sp>
          <p:nvSpPr>
            <p:cNvPr id="375" name="Google Shape;375;p37"/>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FFFFFF">
                <a:alpha val="13333"/>
              </a:srgbClr>
            </a:solidFill>
            <a:ln>
              <a:noFill/>
            </a:ln>
          </p:spPr>
          <p:txBody>
            <a:bodyPr/>
            <a:lstStyle/>
            <a:p>
              <a:endParaRPr lang="en-US"/>
            </a:p>
          </p:txBody>
        </p:sp>
        <p:sp>
          <p:nvSpPr>
            <p:cNvPr id="376" name="Google Shape;376;p37"/>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377" name="Google Shape;377;p37"/>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cxnSp>
        <p:nvCxnSpPr>
          <p:cNvPr id="378" name="Google Shape;378;p37"/>
          <p:cNvCxnSpPr>
            <a:cxnSpLocks/>
          </p:cNvCxnSpPr>
          <p:nvPr/>
        </p:nvCxnSpPr>
        <p:spPr>
          <a:xfrm>
            <a:off x="4284642" y="2868071"/>
            <a:ext cx="0" cy="2273048"/>
          </a:xfrm>
          <a:prstGeom prst="straightConnector1">
            <a:avLst/>
          </a:prstGeom>
          <a:noFill/>
          <a:ln w="9525" cap="flat" cmpd="sng">
            <a:solidFill>
              <a:srgbClr val="FFFFFF"/>
            </a:solidFill>
            <a:prstDash val="solid"/>
            <a:round/>
            <a:headEnd type="none" w="sm" len="sm"/>
            <a:tailEnd type="none" w="sm" len="sm"/>
          </a:ln>
        </p:spPr>
      </p:cxnSp>
      <p:cxnSp>
        <p:nvCxnSpPr>
          <p:cNvPr id="3" name="Straight Connector 2">
            <a:extLst>
              <a:ext uri="{FF2B5EF4-FFF2-40B4-BE49-F238E27FC236}">
                <a16:creationId xmlns:a16="http://schemas.microsoft.com/office/drawing/2014/main" id="{48E5BD68-F617-6EBB-D5FA-51DAA6CDFC8D}"/>
              </a:ext>
            </a:extLst>
          </p:cNvPr>
          <p:cNvCxnSpPr>
            <a:cxnSpLocks/>
          </p:cNvCxnSpPr>
          <p:nvPr/>
        </p:nvCxnSpPr>
        <p:spPr>
          <a:xfrm flipH="1">
            <a:off x="2905433" y="2268300"/>
            <a:ext cx="2640196"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4" name="Google Shape;372;p37">
            <a:extLst>
              <a:ext uri="{FF2B5EF4-FFF2-40B4-BE49-F238E27FC236}">
                <a16:creationId xmlns:a16="http://schemas.microsoft.com/office/drawing/2014/main" id="{6A37458A-9E78-FE1C-3BFF-D2E9BD7FB496}"/>
              </a:ext>
            </a:extLst>
          </p:cNvPr>
          <p:cNvSpPr txBox="1"/>
          <p:nvPr/>
        </p:nvSpPr>
        <p:spPr>
          <a:xfrm>
            <a:off x="5036907" y="2563641"/>
            <a:ext cx="3048187" cy="369332"/>
          </a:xfrm>
          <a:prstGeom prst="rect">
            <a:avLst/>
          </a:prstGeom>
          <a:noFill/>
          <a:ln>
            <a:noFill/>
          </a:ln>
        </p:spPr>
        <p:txBody>
          <a:bodyPr spcFirstLastPara="1" wrap="square" lIns="0" tIns="0" rIns="0" bIns="0" anchor="t" anchorCtr="0">
            <a:spAutoFit/>
          </a:bodyPr>
          <a:lstStyle/>
          <a:p>
            <a:pPr marL="0" marR="0" lvl="0" indent="0" algn="ctr" rtl="1">
              <a:lnSpc>
                <a:spcPct val="100000"/>
              </a:lnSpc>
              <a:spcBef>
                <a:spcPts val="0"/>
              </a:spcBef>
              <a:spcAft>
                <a:spcPts val="0"/>
              </a:spcAft>
              <a:buNone/>
            </a:pPr>
            <a:r>
              <a:rPr lang="fa-IR" sz="2400" b="1" i="0" u="none" strike="noStrike" cap="none" dirty="0">
                <a:solidFill>
                  <a:srgbClr val="FFFFFF"/>
                </a:solidFill>
                <a:latin typeface="Open Sans"/>
                <a:ea typeface="Open Sans"/>
                <a:cs typeface="B Nazanin" panose="00000700000000000000" pitchFamily="2" charset="-78"/>
                <a:sym typeface="Open Sans"/>
              </a:rPr>
              <a:t>اموال اختصاصی</a:t>
            </a:r>
            <a:endParaRPr sz="300" b="1" dirty="0">
              <a:latin typeface="Open Sans"/>
              <a:ea typeface="Open Sans"/>
              <a:cs typeface="B Nazanin" panose="00000700000000000000" pitchFamily="2" charset="-78"/>
              <a:sym typeface="Open Sans"/>
            </a:endParaRPr>
          </a:p>
        </p:txBody>
      </p:sp>
      <p:sp>
        <p:nvSpPr>
          <p:cNvPr id="5" name="Google Shape;372;p37">
            <a:extLst>
              <a:ext uri="{FF2B5EF4-FFF2-40B4-BE49-F238E27FC236}">
                <a16:creationId xmlns:a16="http://schemas.microsoft.com/office/drawing/2014/main" id="{7B8D288D-664B-92F0-8F41-72702F1A0230}"/>
              </a:ext>
            </a:extLst>
          </p:cNvPr>
          <p:cNvSpPr txBox="1"/>
          <p:nvPr/>
        </p:nvSpPr>
        <p:spPr>
          <a:xfrm>
            <a:off x="752311" y="2563640"/>
            <a:ext cx="3048187" cy="369332"/>
          </a:xfrm>
          <a:prstGeom prst="rect">
            <a:avLst/>
          </a:prstGeom>
          <a:noFill/>
          <a:ln>
            <a:noFill/>
          </a:ln>
        </p:spPr>
        <p:txBody>
          <a:bodyPr spcFirstLastPara="1" wrap="square" lIns="0" tIns="0" rIns="0" bIns="0" anchor="t" anchorCtr="0">
            <a:spAutoFit/>
          </a:bodyPr>
          <a:lstStyle/>
          <a:p>
            <a:pPr marL="0" marR="0" lvl="0" indent="0" algn="ctr" rtl="1">
              <a:lnSpc>
                <a:spcPct val="100000"/>
              </a:lnSpc>
              <a:spcBef>
                <a:spcPts val="0"/>
              </a:spcBef>
              <a:spcAft>
                <a:spcPts val="0"/>
              </a:spcAft>
              <a:buNone/>
            </a:pPr>
            <a:r>
              <a:rPr lang="fa-IR" sz="2400" b="1" i="0" u="none" strike="noStrike" cap="none" dirty="0">
                <a:solidFill>
                  <a:srgbClr val="FFFFFF"/>
                </a:solidFill>
                <a:latin typeface="Open Sans"/>
                <a:ea typeface="Open Sans"/>
                <a:cs typeface="B Nazanin" panose="00000700000000000000" pitchFamily="2" charset="-78"/>
                <a:sym typeface="Open Sans"/>
              </a:rPr>
              <a:t>اموال عمومی</a:t>
            </a:r>
            <a:endParaRPr sz="300" b="1" dirty="0">
              <a:latin typeface="Open Sans"/>
              <a:ea typeface="Open Sans"/>
              <a:cs typeface="B Nazanin" panose="00000700000000000000" pitchFamily="2" charset="-78"/>
              <a:sym typeface="Open Sans"/>
            </a:endParaRPr>
          </a:p>
        </p:txBody>
      </p:sp>
      <p:sp>
        <p:nvSpPr>
          <p:cNvPr id="6" name="Arrow: Down 5">
            <a:extLst>
              <a:ext uri="{FF2B5EF4-FFF2-40B4-BE49-F238E27FC236}">
                <a16:creationId xmlns:a16="http://schemas.microsoft.com/office/drawing/2014/main" id="{A6944BC2-1F84-CAAB-9F24-93E7A50E0DF0}"/>
              </a:ext>
            </a:extLst>
          </p:cNvPr>
          <p:cNvSpPr/>
          <p:nvPr/>
        </p:nvSpPr>
        <p:spPr>
          <a:xfrm>
            <a:off x="6407680" y="2932972"/>
            <a:ext cx="306642" cy="606209"/>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 name="Arrow: Down 6">
            <a:extLst>
              <a:ext uri="{FF2B5EF4-FFF2-40B4-BE49-F238E27FC236}">
                <a16:creationId xmlns:a16="http://schemas.microsoft.com/office/drawing/2014/main" id="{6E0D767A-966D-3EFC-A8ED-BFBE728EA720}"/>
              </a:ext>
            </a:extLst>
          </p:cNvPr>
          <p:cNvSpPr/>
          <p:nvPr/>
        </p:nvSpPr>
        <p:spPr>
          <a:xfrm>
            <a:off x="2123083" y="2932971"/>
            <a:ext cx="306642" cy="606209"/>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C573665C-2631-1885-6EA9-86DBEE924C57}"/>
              </a:ext>
            </a:extLst>
          </p:cNvPr>
          <p:cNvSpPr/>
          <p:nvPr/>
        </p:nvSpPr>
        <p:spPr>
          <a:xfrm>
            <a:off x="479274" y="3679256"/>
            <a:ext cx="3429235" cy="118723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rtl="1"/>
            <a:r>
              <a:rPr lang="fa-IR" dirty="0">
                <a:solidFill>
                  <a:schemeClr val="bg1"/>
                </a:solidFill>
                <a:cs typeface="B Nazanin" panose="00000400000000000000" pitchFamily="2" charset="-78"/>
              </a:rPr>
              <a:t>اموال عمومي شهرداري اموالي است كه متعلق به شهر بوده و براي استفاده عموم اختصاص يافته است مانند معابر عمومي، خيابان ها، ميادين و...</a:t>
            </a:r>
            <a:endParaRPr lang="en-US" dirty="0">
              <a:solidFill>
                <a:schemeClr val="bg1"/>
              </a:solidFill>
              <a:cs typeface="B Nazanin" panose="00000400000000000000" pitchFamily="2" charset="-7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47"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1000"/>
                                        <p:tgtEl>
                                          <p:spTgt spid="11"/>
                                        </p:tgtEl>
                                      </p:cBhvr>
                                    </p:animEffect>
                                    <p:anim calcmode="lin" valueType="num">
                                      <p:cBhvr>
                                        <p:cTn id="12" dur="1000" fill="hold"/>
                                        <p:tgtEl>
                                          <p:spTgt spid="11"/>
                                        </p:tgtEl>
                                        <p:attrNameLst>
                                          <p:attrName>ppt_x</p:attrName>
                                        </p:attrNameLst>
                                      </p:cBhvr>
                                      <p:tavLst>
                                        <p:tav tm="0">
                                          <p:val>
                                            <p:strVal val="#ppt_x"/>
                                          </p:val>
                                        </p:tav>
                                        <p:tav tm="100000">
                                          <p:val>
                                            <p:strVal val="#ppt_x"/>
                                          </p:val>
                                        </p:tav>
                                      </p:tavLst>
                                    </p:anim>
                                    <p:anim calcmode="lin" valueType="num">
                                      <p:cBhvr>
                                        <p:cTn id="13" dur="1000" fill="hold"/>
                                        <p:tgtEl>
                                          <p:spTgt spid="11"/>
                                        </p:tgtEl>
                                        <p:attrNameLst>
                                          <p:attrName>ppt_y</p:attrName>
                                        </p:attrNameLst>
                                      </p:cBhvr>
                                      <p:tavLst>
                                        <p:tav tm="0">
                                          <p:val>
                                            <p:strVal val="#ppt_y-.1"/>
                                          </p:val>
                                        </p:tav>
                                        <p:tav tm="100000">
                                          <p:val>
                                            <p:strVal val="#ppt_y"/>
                                          </p:val>
                                        </p:tav>
                                      </p:tavLst>
                                    </p:anim>
                                  </p:childTnLst>
                                </p:cTn>
                              </p:par>
                              <p:par>
                                <p:cTn id="14" presetID="47"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1000"/>
                                        <p:tgtEl>
                                          <p:spTgt spid="12"/>
                                        </p:tgtEl>
                                      </p:cBhvr>
                                    </p:animEffect>
                                    <p:anim calcmode="lin" valueType="num">
                                      <p:cBhvr>
                                        <p:cTn id="17" dur="1000" fill="hold"/>
                                        <p:tgtEl>
                                          <p:spTgt spid="12"/>
                                        </p:tgtEl>
                                        <p:attrNameLst>
                                          <p:attrName>ppt_x</p:attrName>
                                        </p:attrNameLst>
                                      </p:cBhvr>
                                      <p:tavLst>
                                        <p:tav tm="0">
                                          <p:val>
                                            <p:strVal val="#ppt_x"/>
                                          </p:val>
                                        </p:tav>
                                        <p:tav tm="100000">
                                          <p:val>
                                            <p:strVal val="#ppt_x"/>
                                          </p:val>
                                        </p:tav>
                                      </p:tavLst>
                                    </p:anim>
                                    <p:anim calcmode="lin" valueType="num">
                                      <p:cBhvr>
                                        <p:cTn id="1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6" grpId="0" animBg="1"/>
      <p:bldP spid="7" grpId="0" animBg="1"/>
      <p:bldP spid="1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637" name="Rectangle 636">
            <a:extLst>
              <a:ext uri="{FF2B5EF4-FFF2-40B4-BE49-F238E27FC236}">
                <a16:creationId xmlns:a16="http://schemas.microsoft.com/office/drawing/2014/main" id="{CF6B32E4-300E-3FFE-16D7-F2E6BA1F461A}"/>
              </a:ext>
            </a:extLst>
          </p:cNvPr>
          <p:cNvSpPr/>
          <p:nvPr/>
        </p:nvSpPr>
        <p:spPr>
          <a:xfrm>
            <a:off x="1549804" y="4328966"/>
            <a:ext cx="3247142" cy="6456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rtl="1"/>
            <a:r>
              <a:rPr lang="fa-IR" b="1" dirty="0">
                <a:cs typeface="B Nazanin" panose="00000400000000000000" pitchFamily="2" charset="-78"/>
              </a:rPr>
              <a:t>مصوب17 خرداد 1332 مجلس سنا</a:t>
            </a:r>
            <a:endParaRPr lang="en-US" b="1" dirty="0">
              <a:cs typeface="B Nazanin" panose="00000400000000000000" pitchFamily="2" charset="-78"/>
            </a:endParaRPr>
          </a:p>
        </p:txBody>
      </p:sp>
      <p:sp>
        <p:nvSpPr>
          <p:cNvPr id="636" name="Rectangle 635">
            <a:extLst>
              <a:ext uri="{FF2B5EF4-FFF2-40B4-BE49-F238E27FC236}">
                <a16:creationId xmlns:a16="http://schemas.microsoft.com/office/drawing/2014/main" id="{878866A5-3C84-9E92-CE07-011A5E115147}"/>
              </a:ext>
            </a:extLst>
          </p:cNvPr>
          <p:cNvSpPr/>
          <p:nvPr/>
        </p:nvSpPr>
        <p:spPr>
          <a:xfrm>
            <a:off x="-247132" y="-72330"/>
            <a:ext cx="1796936" cy="552620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grpSp>
        <p:nvGrpSpPr>
          <p:cNvPr id="599" name="Google Shape;599;p47"/>
          <p:cNvGrpSpPr/>
          <p:nvPr/>
        </p:nvGrpSpPr>
        <p:grpSpPr>
          <a:xfrm>
            <a:off x="5385612" y="2762677"/>
            <a:ext cx="2975513" cy="2123911"/>
            <a:chOff x="0" y="0"/>
            <a:chExt cx="7934700" cy="5663764"/>
          </a:xfrm>
        </p:grpSpPr>
        <p:sp>
          <p:nvSpPr>
            <p:cNvPr id="600" name="Google Shape;600;p47"/>
            <p:cNvSpPr txBox="1"/>
            <p:nvPr/>
          </p:nvSpPr>
          <p:spPr>
            <a:xfrm>
              <a:off x="228432" y="0"/>
              <a:ext cx="7477799" cy="3447099"/>
            </a:xfrm>
            <a:prstGeom prst="rect">
              <a:avLst/>
            </a:prstGeom>
            <a:noFill/>
            <a:ln>
              <a:noFill/>
            </a:ln>
          </p:spPr>
          <p:txBody>
            <a:bodyPr spcFirstLastPara="1" wrap="square" lIns="0" tIns="0" rIns="0" bIns="0" anchor="t" anchorCtr="0">
              <a:spAutoFit/>
            </a:bodyPr>
            <a:lstStyle/>
            <a:p>
              <a:pPr marL="0" marR="0" lvl="0" indent="0" algn="ctr" rtl="1">
                <a:lnSpc>
                  <a:spcPct val="120000"/>
                </a:lnSpc>
                <a:spcBef>
                  <a:spcPts val="0"/>
                </a:spcBef>
                <a:spcAft>
                  <a:spcPts val="0"/>
                </a:spcAft>
                <a:buNone/>
              </a:pPr>
              <a:r>
                <a:rPr lang="fa-IR" b="1" dirty="0">
                  <a:cs typeface="B Nazanin" panose="00000400000000000000" pitchFamily="2" charset="-78"/>
                </a:rPr>
                <a:t>این قانون به دولت اجازه می دهد زمين هایی را كه براي اجراي برنامه هاي شهرسازي و خانه سازي لازم و ضروري تشخيص مي دهد و همچنين محلاتي را كه بعلل شهرسازي و بهداشتي بايد تخريب و تجديد بنا گردد، پس از خرید به مالکیت خود درآورد.</a:t>
              </a:r>
              <a:endParaRPr lang="fa-IR" sz="100" b="1" dirty="0">
                <a:solidFill>
                  <a:schemeClr val="tx1"/>
                </a:solidFill>
                <a:latin typeface="Open Sans"/>
                <a:ea typeface="Open Sans"/>
                <a:cs typeface="B Nazanin" panose="00000400000000000000" pitchFamily="2" charset="-78"/>
                <a:sym typeface="Open Sans"/>
              </a:endParaRPr>
            </a:p>
          </p:txBody>
        </p:sp>
        <p:sp>
          <p:nvSpPr>
            <p:cNvPr id="601" name="Google Shape;601;p47"/>
            <p:cNvSpPr txBox="1"/>
            <p:nvPr/>
          </p:nvSpPr>
          <p:spPr>
            <a:xfrm>
              <a:off x="0" y="4514732"/>
              <a:ext cx="7934700" cy="1149032"/>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fa-IR" sz="1000" i="0" u="none" strike="noStrike" cap="none" dirty="0">
                  <a:solidFill>
                    <a:srgbClr val="FFFFFC"/>
                  </a:solidFill>
                  <a:latin typeface="Open Sans"/>
                  <a:ea typeface="Open Sans"/>
                  <a:cs typeface="B Nazanin" panose="00000700000000000000" pitchFamily="2" charset="-78"/>
                  <a:sym typeface="Open Sans"/>
                </a:rPr>
                <a:t>عنوان: </a:t>
              </a:r>
              <a:r>
                <a:rPr lang="en-US" sz="1000" i="0" u="none" strike="noStrike" cap="none" dirty="0">
                  <a:solidFill>
                    <a:srgbClr val="FFFFFC"/>
                  </a:solidFill>
                  <a:latin typeface="Open Sans"/>
                  <a:ea typeface="Open Sans"/>
                  <a:cs typeface="B Nazanin" panose="00000700000000000000" pitchFamily="2" charset="-78"/>
                  <a:sym typeface="Open Sans"/>
                </a:rPr>
                <a:t>Open Sans Bold</a:t>
              </a:r>
              <a:r>
                <a:rPr lang="fa-IR" sz="1000" i="0" u="none" strike="noStrike" cap="none" dirty="0">
                  <a:solidFill>
                    <a:srgbClr val="FFFFFC"/>
                  </a:solidFill>
                  <a:latin typeface="Open Sans"/>
                  <a:ea typeface="Open Sans"/>
                  <a:cs typeface="B Nazanin" panose="00000700000000000000" pitchFamily="2" charset="-78"/>
                  <a:sym typeface="Open Sans"/>
                </a:rPr>
                <a:t>سرصفحه ها: </a:t>
              </a:r>
              <a:r>
                <a:rPr lang="en-US" sz="1000" i="0" u="none" strike="noStrike" cap="none" dirty="0">
                  <a:solidFill>
                    <a:srgbClr val="FFFFFC"/>
                  </a:solidFill>
                  <a:latin typeface="Open Sans"/>
                  <a:ea typeface="Open Sans"/>
                  <a:cs typeface="B Nazanin" panose="00000700000000000000" pitchFamily="2" charset="-78"/>
                  <a:sym typeface="Open Sans"/>
                </a:rPr>
                <a:t>Open </a:t>
              </a:r>
              <a:r>
                <a:rPr lang="en-US" sz="1000" i="0" u="none" strike="noStrike" cap="none" dirty="0" err="1">
                  <a:solidFill>
                    <a:srgbClr val="FFFFFC"/>
                  </a:solidFill>
                  <a:latin typeface="Open Sans"/>
                  <a:ea typeface="Open Sans"/>
                  <a:cs typeface="B Nazanin" panose="00000700000000000000" pitchFamily="2" charset="-78"/>
                  <a:sym typeface="Open Sans"/>
                </a:rPr>
                <a:t>SansBody</a:t>
              </a:r>
              <a:r>
                <a:rPr lang="en-US" sz="1000" i="0" u="none" strike="noStrike" cap="none" dirty="0">
                  <a:solidFill>
                    <a:srgbClr val="FFFFFC"/>
                  </a:solidFill>
                  <a:latin typeface="Open Sans"/>
                  <a:ea typeface="Open Sans"/>
                  <a:cs typeface="B Nazanin" panose="00000700000000000000" pitchFamily="2" charset="-78"/>
                  <a:sym typeface="Open Sans"/>
                </a:rPr>
                <a:t> Copy: Open Sans</a:t>
              </a:r>
              <a:endParaRPr sz="700" dirty="0">
                <a:latin typeface="Open Sans"/>
                <a:ea typeface="Open Sans"/>
                <a:cs typeface="B Nazanin" panose="00000700000000000000" pitchFamily="2" charset="-78"/>
                <a:sym typeface="Open Sans"/>
              </a:endParaRPr>
            </a:p>
          </p:txBody>
        </p:sp>
      </p:grpSp>
      <p:cxnSp>
        <p:nvCxnSpPr>
          <p:cNvPr id="604" name="Google Shape;604;p47"/>
          <p:cNvCxnSpPr/>
          <p:nvPr/>
        </p:nvCxnSpPr>
        <p:spPr>
          <a:xfrm rot="5400000">
            <a:off x="3231979" y="4476614"/>
            <a:ext cx="3626382" cy="0"/>
          </a:xfrm>
          <a:prstGeom prst="straightConnector1">
            <a:avLst/>
          </a:prstGeom>
          <a:ln>
            <a:headEnd type="none" w="sm" len="sm"/>
            <a:tailEnd type="none" w="sm" len="sm"/>
          </a:ln>
        </p:spPr>
        <p:style>
          <a:lnRef idx="1">
            <a:schemeClr val="dk1"/>
          </a:lnRef>
          <a:fillRef idx="0">
            <a:schemeClr val="dk1"/>
          </a:fillRef>
          <a:effectRef idx="0">
            <a:schemeClr val="dk1"/>
          </a:effectRef>
          <a:fontRef idx="minor">
            <a:schemeClr val="tx1"/>
          </a:fontRef>
        </p:style>
      </p:cxnSp>
      <p:cxnSp>
        <p:nvCxnSpPr>
          <p:cNvPr id="605" name="Google Shape;605;p47"/>
          <p:cNvCxnSpPr/>
          <p:nvPr/>
        </p:nvCxnSpPr>
        <p:spPr>
          <a:xfrm rot="5400000">
            <a:off x="-263387" y="-244188"/>
            <a:ext cx="3626382" cy="0"/>
          </a:xfrm>
          <a:prstGeom prst="straightConnector1">
            <a:avLst/>
          </a:prstGeom>
          <a:ln>
            <a:headEnd type="none" w="sm" len="sm"/>
            <a:tailEnd type="none" w="sm" len="sm"/>
          </a:ln>
        </p:spPr>
        <p:style>
          <a:lnRef idx="1">
            <a:schemeClr val="dk1"/>
          </a:lnRef>
          <a:fillRef idx="0">
            <a:schemeClr val="dk1"/>
          </a:fillRef>
          <a:effectRef idx="0">
            <a:schemeClr val="dk1"/>
          </a:effectRef>
          <a:fontRef idx="minor">
            <a:schemeClr val="tx1"/>
          </a:fontRef>
        </p:style>
      </p:cxnSp>
      <p:grpSp>
        <p:nvGrpSpPr>
          <p:cNvPr id="606" name="Google Shape;606;p47"/>
          <p:cNvGrpSpPr/>
          <p:nvPr/>
        </p:nvGrpSpPr>
        <p:grpSpPr>
          <a:xfrm>
            <a:off x="8837359" y="-72330"/>
            <a:ext cx="1543051" cy="5808473"/>
            <a:chOff x="0" y="-38100"/>
            <a:chExt cx="812800" cy="3059607"/>
          </a:xfrm>
        </p:grpSpPr>
        <p:sp>
          <p:nvSpPr>
            <p:cNvPr id="607" name="Google Shape;607;p47"/>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endParaRPr lang="en-US"/>
            </a:p>
          </p:txBody>
        </p:sp>
        <p:sp>
          <p:nvSpPr>
            <p:cNvPr id="608" name="Google Shape;608;p47"/>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609" name="Google Shape;609;p47"/>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grpSp>
        <p:nvGrpSpPr>
          <p:cNvPr id="54" name="Google Shape;1273;p70">
            <a:extLst>
              <a:ext uri="{FF2B5EF4-FFF2-40B4-BE49-F238E27FC236}">
                <a16:creationId xmlns:a16="http://schemas.microsoft.com/office/drawing/2014/main" id="{0DB5C801-7E6D-9688-F51E-B364323E7F77}"/>
              </a:ext>
            </a:extLst>
          </p:cNvPr>
          <p:cNvGrpSpPr/>
          <p:nvPr/>
        </p:nvGrpSpPr>
        <p:grpSpPr>
          <a:xfrm>
            <a:off x="1549804" y="256894"/>
            <a:ext cx="6058470" cy="645679"/>
            <a:chOff x="6336019" y="3733725"/>
            <a:chExt cx="2566206" cy="351310"/>
          </a:xfrm>
        </p:grpSpPr>
        <p:sp>
          <p:nvSpPr>
            <p:cNvPr id="55" name="Google Shape;1274;p70">
              <a:extLst>
                <a:ext uri="{FF2B5EF4-FFF2-40B4-BE49-F238E27FC236}">
                  <a16:creationId xmlns:a16="http://schemas.microsoft.com/office/drawing/2014/main" id="{FE8B970C-4BAB-098A-D775-99D0509979AD}"/>
                </a:ext>
              </a:extLst>
            </p:cNvPr>
            <p:cNvSpPr/>
            <p:nvPr/>
          </p:nvSpPr>
          <p:spPr>
            <a:xfrm>
              <a:off x="6336019" y="3733735"/>
              <a:ext cx="1881300" cy="351300"/>
            </a:xfrm>
            <a:prstGeom prst="homePlate">
              <a:avLst>
                <a:gd name="adj" fmla="val 50000"/>
              </a:avLst>
            </a:prstGeom>
            <a:ln>
              <a:headEnd type="none" w="sm" len="sm"/>
              <a:tailEnd type="none" w="sm" len="sm"/>
            </a:ln>
          </p:spPr>
          <p:style>
            <a:lnRef idx="2">
              <a:schemeClr val="dk1">
                <a:shade val="15000"/>
              </a:schemeClr>
            </a:lnRef>
            <a:fillRef idx="1">
              <a:schemeClr val="dk1"/>
            </a:fillRef>
            <a:effectRef idx="0">
              <a:schemeClr val="dk1"/>
            </a:effectRef>
            <a:fontRef idx="minor">
              <a:schemeClr val="lt1"/>
            </a:fontRef>
          </p:style>
          <p:txBody>
            <a:bodyPr spcFirstLastPara="1" wrap="square" lIns="91425" tIns="91425" rIns="91425" bIns="91425" anchor="ctr" anchorCtr="0">
              <a:noAutofit/>
            </a:bodyPr>
            <a:lstStyle/>
            <a:p>
              <a:pPr marL="0" lvl="0" indent="0" algn="ctr" rtl="0">
                <a:spcBef>
                  <a:spcPts val="0"/>
                </a:spcBef>
                <a:spcAft>
                  <a:spcPts val="0"/>
                </a:spcAft>
                <a:buNone/>
              </a:pPr>
              <a:r>
                <a:rPr lang="fa-IR" sz="3600" b="1" dirty="0">
                  <a:cs typeface="B Nazanin" panose="00000400000000000000" pitchFamily="2" charset="-78"/>
                </a:rPr>
                <a:t>قانون تملک</a:t>
              </a:r>
              <a:endParaRPr sz="3600" b="1" dirty="0">
                <a:cs typeface="B Nazanin" panose="00000400000000000000" pitchFamily="2" charset="-78"/>
              </a:endParaRPr>
            </a:p>
          </p:txBody>
        </p:sp>
        <p:sp>
          <p:nvSpPr>
            <p:cNvPr id="56" name="Google Shape;1275;p70">
              <a:extLst>
                <a:ext uri="{FF2B5EF4-FFF2-40B4-BE49-F238E27FC236}">
                  <a16:creationId xmlns:a16="http://schemas.microsoft.com/office/drawing/2014/main" id="{90939B6A-9B3D-B2E1-FC70-0733F052DF62}"/>
                </a:ext>
              </a:extLst>
            </p:cNvPr>
            <p:cNvSpPr/>
            <p:nvPr/>
          </p:nvSpPr>
          <p:spPr>
            <a:xfrm>
              <a:off x="8098525" y="3733725"/>
              <a:ext cx="346500" cy="351300"/>
            </a:xfrm>
            <a:prstGeom prst="chevron">
              <a:avLst>
                <a:gd name="adj" fmla="val 50000"/>
              </a:avLst>
            </a:prstGeom>
            <a:ln>
              <a:headEnd type="none" w="sm" len="sm"/>
              <a:tailEnd type="none" w="sm" len="sm"/>
            </a:ln>
          </p:spPr>
          <p:style>
            <a:lnRef idx="2">
              <a:schemeClr val="dk1">
                <a:shade val="15000"/>
              </a:schemeClr>
            </a:lnRef>
            <a:fillRef idx="1">
              <a:schemeClr val="dk1"/>
            </a:fillRef>
            <a:effectRef idx="0">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276;p70">
              <a:extLst>
                <a:ext uri="{FF2B5EF4-FFF2-40B4-BE49-F238E27FC236}">
                  <a16:creationId xmlns:a16="http://schemas.microsoft.com/office/drawing/2014/main" id="{8FC8F640-BCC7-A691-216F-4FB6EED36C08}"/>
                </a:ext>
              </a:extLst>
            </p:cNvPr>
            <p:cNvSpPr/>
            <p:nvPr/>
          </p:nvSpPr>
          <p:spPr>
            <a:xfrm>
              <a:off x="8327125" y="3733725"/>
              <a:ext cx="346500" cy="351300"/>
            </a:xfrm>
            <a:prstGeom prst="chevron">
              <a:avLst>
                <a:gd name="adj" fmla="val 50000"/>
              </a:avLst>
            </a:prstGeom>
            <a:ln>
              <a:headEnd type="none" w="sm" len="sm"/>
              <a:tailEnd type="none" w="sm" len="sm"/>
            </a:ln>
          </p:spPr>
          <p:style>
            <a:lnRef idx="2">
              <a:schemeClr val="dk1">
                <a:shade val="15000"/>
              </a:schemeClr>
            </a:lnRef>
            <a:fillRef idx="1">
              <a:schemeClr val="dk1"/>
            </a:fillRef>
            <a:effectRef idx="0">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277;p70">
              <a:extLst>
                <a:ext uri="{FF2B5EF4-FFF2-40B4-BE49-F238E27FC236}">
                  <a16:creationId xmlns:a16="http://schemas.microsoft.com/office/drawing/2014/main" id="{19161AA8-A21B-A6E1-60E4-617BC39AF16F}"/>
                </a:ext>
              </a:extLst>
            </p:cNvPr>
            <p:cNvSpPr/>
            <p:nvPr/>
          </p:nvSpPr>
          <p:spPr>
            <a:xfrm>
              <a:off x="8555725" y="3733725"/>
              <a:ext cx="346500" cy="351300"/>
            </a:xfrm>
            <a:prstGeom prst="chevron">
              <a:avLst>
                <a:gd name="adj" fmla="val 50000"/>
              </a:avLst>
            </a:prstGeom>
            <a:ln>
              <a:headEnd type="none" w="sm" len="sm"/>
              <a:tailEnd type="none" w="sm" len="sm"/>
            </a:ln>
          </p:spPr>
          <p:style>
            <a:lnRef idx="2">
              <a:schemeClr val="dk1">
                <a:shade val="15000"/>
              </a:schemeClr>
            </a:lnRef>
            <a:fillRef idx="1">
              <a:schemeClr val="dk1"/>
            </a:fillRef>
            <a:effectRef idx="0">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5" name="Group 814">
            <a:extLst>
              <a:ext uri="{FF2B5EF4-FFF2-40B4-BE49-F238E27FC236}">
                <a16:creationId xmlns:a16="http://schemas.microsoft.com/office/drawing/2014/main" id="{47110C9A-D42D-1210-11DA-D1DB076A8645}"/>
              </a:ext>
            </a:extLst>
          </p:cNvPr>
          <p:cNvGrpSpPr/>
          <p:nvPr/>
        </p:nvGrpSpPr>
        <p:grpSpPr>
          <a:xfrm>
            <a:off x="2131752" y="1974112"/>
            <a:ext cx="2435960" cy="1297725"/>
            <a:chOff x="2131752" y="1974112"/>
            <a:chExt cx="2435960" cy="1297725"/>
          </a:xfrm>
        </p:grpSpPr>
        <p:grpSp>
          <p:nvGrpSpPr>
            <p:cNvPr id="756" name="Google Shape;3191;p71">
              <a:extLst>
                <a:ext uri="{FF2B5EF4-FFF2-40B4-BE49-F238E27FC236}">
                  <a16:creationId xmlns:a16="http://schemas.microsoft.com/office/drawing/2014/main" id="{8B316085-E397-CCD3-9AA6-D2A6CD92D170}"/>
                </a:ext>
              </a:extLst>
            </p:cNvPr>
            <p:cNvGrpSpPr/>
            <p:nvPr/>
          </p:nvGrpSpPr>
          <p:grpSpPr>
            <a:xfrm>
              <a:off x="2131752" y="1974112"/>
              <a:ext cx="2435960" cy="1297725"/>
              <a:chOff x="233350" y="949250"/>
              <a:chExt cx="7137300" cy="3802300"/>
            </a:xfrm>
          </p:grpSpPr>
          <p:sp>
            <p:nvSpPr>
              <p:cNvPr id="757" name="Google Shape;3192;p71">
                <a:extLst>
                  <a:ext uri="{FF2B5EF4-FFF2-40B4-BE49-F238E27FC236}">
                    <a16:creationId xmlns:a16="http://schemas.microsoft.com/office/drawing/2014/main" id="{21E0BBA5-0BA8-9DF4-6194-E577EA46C510}"/>
                  </a:ext>
                </a:extLst>
              </p:cNvPr>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3193;p71">
                <a:extLst>
                  <a:ext uri="{FF2B5EF4-FFF2-40B4-BE49-F238E27FC236}">
                    <a16:creationId xmlns:a16="http://schemas.microsoft.com/office/drawing/2014/main" id="{D83EAF01-300B-DDEB-EF20-D5474E7C5267}"/>
                  </a:ext>
                </a:extLst>
              </p:cNvPr>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3194;p71">
                <a:extLst>
                  <a:ext uri="{FF2B5EF4-FFF2-40B4-BE49-F238E27FC236}">
                    <a16:creationId xmlns:a16="http://schemas.microsoft.com/office/drawing/2014/main" id="{9835BA80-CE8F-463D-8310-3E163FA802CE}"/>
                  </a:ext>
                </a:extLst>
              </p:cNvPr>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3195;p71">
                <a:extLst>
                  <a:ext uri="{FF2B5EF4-FFF2-40B4-BE49-F238E27FC236}">
                    <a16:creationId xmlns:a16="http://schemas.microsoft.com/office/drawing/2014/main" id="{41B8295A-322D-BEEB-3055-3947D8E19691}"/>
                  </a:ext>
                </a:extLst>
              </p:cNvPr>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3196;p71">
                <a:extLst>
                  <a:ext uri="{FF2B5EF4-FFF2-40B4-BE49-F238E27FC236}">
                    <a16:creationId xmlns:a16="http://schemas.microsoft.com/office/drawing/2014/main" id="{4550416C-428A-8143-FA66-607739641B37}"/>
                  </a:ext>
                </a:extLst>
              </p:cNvPr>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3197;p71">
                <a:extLst>
                  <a:ext uri="{FF2B5EF4-FFF2-40B4-BE49-F238E27FC236}">
                    <a16:creationId xmlns:a16="http://schemas.microsoft.com/office/drawing/2014/main" id="{373C8AB2-C0D6-FFCB-8600-3BA6BB607E75}"/>
                  </a:ext>
                </a:extLst>
              </p:cNvPr>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3198;p71">
                <a:extLst>
                  <a:ext uri="{FF2B5EF4-FFF2-40B4-BE49-F238E27FC236}">
                    <a16:creationId xmlns:a16="http://schemas.microsoft.com/office/drawing/2014/main" id="{7CC2BCB3-8892-A05F-33DB-B41BCC97DF9A}"/>
                  </a:ext>
                </a:extLst>
              </p:cNvPr>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3199;p71">
                <a:extLst>
                  <a:ext uri="{FF2B5EF4-FFF2-40B4-BE49-F238E27FC236}">
                    <a16:creationId xmlns:a16="http://schemas.microsoft.com/office/drawing/2014/main" id="{56444601-8976-68BF-B0F6-B947F7BB353A}"/>
                  </a:ext>
                </a:extLst>
              </p:cNvPr>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3200;p71">
                <a:extLst>
                  <a:ext uri="{FF2B5EF4-FFF2-40B4-BE49-F238E27FC236}">
                    <a16:creationId xmlns:a16="http://schemas.microsoft.com/office/drawing/2014/main" id="{649A5107-1C52-3756-11E2-E6DEE5C7386F}"/>
                  </a:ext>
                </a:extLst>
              </p:cNvPr>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3201;p71">
                <a:extLst>
                  <a:ext uri="{FF2B5EF4-FFF2-40B4-BE49-F238E27FC236}">
                    <a16:creationId xmlns:a16="http://schemas.microsoft.com/office/drawing/2014/main" id="{EC8544D2-786E-CE53-F287-4EE9BC5E7683}"/>
                  </a:ext>
                </a:extLst>
              </p:cNvPr>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3202;p71">
                <a:extLst>
                  <a:ext uri="{FF2B5EF4-FFF2-40B4-BE49-F238E27FC236}">
                    <a16:creationId xmlns:a16="http://schemas.microsoft.com/office/drawing/2014/main" id="{F8CDF6E1-5E8D-66FE-2E2A-6D273C6849EB}"/>
                  </a:ext>
                </a:extLst>
              </p:cNvPr>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3203;p71">
                <a:extLst>
                  <a:ext uri="{FF2B5EF4-FFF2-40B4-BE49-F238E27FC236}">
                    <a16:creationId xmlns:a16="http://schemas.microsoft.com/office/drawing/2014/main" id="{BBC97D95-B5F9-4E66-9EF6-C493048EDA22}"/>
                  </a:ext>
                </a:extLst>
              </p:cNvPr>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3204;p71">
                <a:extLst>
                  <a:ext uri="{FF2B5EF4-FFF2-40B4-BE49-F238E27FC236}">
                    <a16:creationId xmlns:a16="http://schemas.microsoft.com/office/drawing/2014/main" id="{37245000-8418-0D38-30CF-D2E01D8AE8C9}"/>
                  </a:ext>
                </a:extLst>
              </p:cNvPr>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3205;p71">
                <a:extLst>
                  <a:ext uri="{FF2B5EF4-FFF2-40B4-BE49-F238E27FC236}">
                    <a16:creationId xmlns:a16="http://schemas.microsoft.com/office/drawing/2014/main" id="{7D25CE62-CDBE-9A76-330C-4B612182082E}"/>
                  </a:ext>
                </a:extLst>
              </p:cNvPr>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3206;p71">
                <a:extLst>
                  <a:ext uri="{FF2B5EF4-FFF2-40B4-BE49-F238E27FC236}">
                    <a16:creationId xmlns:a16="http://schemas.microsoft.com/office/drawing/2014/main" id="{CFA8D0FE-77AE-DAE6-4C0A-AD356AE23DEE}"/>
                  </a:ext>
                </a:extLst>
              </p:cNvPr>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3207;p71">
                <a:extLst>
                  <a:ext uri="{FF2B5EF4-FFF2-40B4-BE49-F238E27FC236}">
                    <a16:creationId xmlns:a16="http://schemas.microsoft.com/office/drawing/2014/main" id="{72745E93-D0C7-6139-8EE2-EDFED7EF8EA7}"/>
                  </a:ext>
                </a:extLst>
              </p:cNvPr>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3208;p71">
                <a:extLst>
                  <a:ext uri="{FF2B5EF4-FFF2-40B4-BE49-F238E27FC236}">
                    <a16:creationId xmlns:a16="http://schemas.microsoft.com/office/drawing/2014/main" id="{C7DC94D6-2079-B5C3-33A5-0EA24546C040}"/>
                  </a:ext>
                </a:extLst>
              </p:cNvPr>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3209;p71">
                <a:extLst>
                  <a:ext uri="{FF2B5EF4-FFF2-40B4-BE49-F238E27FC236}">
                    <a16:creationId xmlns:a16="http://schemas.microsoft.com/office/drawing/2014/main" id="{67F3B8D3-28FE-B8EF-71E4-111B734A4D17}"/>
                  </a:ext>
                </a:extLst>
              </p:cNvPr>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3210;p71">
                <a:extLst>
                  <a:ext uri="{FF2B5EF4-FFF2-40B4-BE49-F238E27FC236}">
                    <a16:creationId xmlns:a16="http://schemas.microsoft.com/office/drawing/2014/main" id="{E7D8693E-C79A-B2FC-9D18-F22782E91C40}"/>
                  </a:ext>
                </a:extLst>
              </p:cNvPr>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3211;p71">
                <a:extLst>
                  <a:ext uri="{FF2B5EF4-FFF2-40B4-BE49-F238E27FC236}">
                    <a16:creationId xmlns:a16="http://schemas.microsoft.com/office/drawing/2014/main" id="{BB063F43-3836-8CB0-7C5E-195BF4F99577}"/>
                  </a:ext>
                </a:extLst>
              </p:cNvPr>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3212;p71">
                <a:extLst>
                  <a:ext uri="{FF2B5EF4-FFF2-40B4-BE49-F238E27FC236}">
                    <a16:creationId xmlns:a16="http://schemas.microsoft.com/office/drawing/2014/main" id="{FDA74039-A1FC-C0C0-FD67-2DEE972F41C3}"/>
                  </a:ext>
                </a:extLst>
              </p:cNvPr>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3213;p71">
                <a:extLst>
                  <a:ext uri="{FF2B5EF4-FFF2-40B4-BE49-F238E27FC236}">
                    <a16:creationId xmlns:a16="http://schemas.microsoft.com/office/drawing/2014/main" id="{911280B4-8ED6-5AF9-D861-ACC5AAB2723B}"/>
                  </a:ext>
                </a:extLst>
              </p:cNvPr>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3214;p71">
                <a:extLst>
                  <a:ext uri="{FF2B5EF4-FFF2-40B4-BE49-F238E27FC236}">
                    <a16:creationId xmlns:a16="http://schemas.microsoft.com/office/drawing/2014/main" id="{328820FD-0E56-BD78-E63C-954D58DFF03D}"/>
                  </a:ext>
                </a:extLst>
              </p:cNvPr>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3215;p71">
                <a:extLst>
                  <a:ext uri="{FF2B5EF4-FFF2-40B4-BE49-F238E27FC236}">
                    <a16:creationId xmlns:a16="http://schemas.microsoft.com/office/drawing/2014/main" id="{165F273D-F03D-9E02-933C-7D8E5C8D057F}"/>
                  </a:ext>
                </a:extLst>
              </p:cNvPr>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3216;p71">
                <a:extLst>
                  <a:ext uri="{FF2B5EF4-FFF2-40B4-BE49-F238E27FC236}">
                    <a16:creationId xmlns:a16="http://schemas.microsoft.com/office/drawing/2014/main" id="{68FD313E-F791-CF13-4A0A-36FAB9EA3056}"/>
                  </a:ext>
                </a:extLst>
              </p:cNvPr>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3217;p71">
                <a:extLst>
                  <a:ext uri="{FF2B5EF4-FFF2-40B4-BE49-F238E27FC236}">
                    <a16:creationId xmlns:a16="http://schemas.microsoft.com/office/drawing/2014/main" id="{FE48C537-C007-1DD7-0212-66CE630AA9B7}"/>
                  </a:ext>
                </a:extLst>
              </p:cNvPr>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3218;p71">
                <a:extLst>
                  <a:ext uri="{FF2B5EF4-FFF2-40B4-BE49-F238E27FC236}">
                    <a16:creationId xmlns:a16="http://schemas.microsoft.com/office/drawing/2014/main" id="{27F2EE6A-AAA3-DD58-D8CE-2F6FEF282250}"/>
                  </a:ext>
                </a:extLst>
              </p:cNvPr>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3219;p71">
                <a:extLst>
                  <a:ext uri="{FF2B5EF4-FFF2-40B4-BE49-F238E27FC236}">
                    <a16:creationId xmlns:a16="http://schemas.microsoft.com/office/drawing/2014/main" id="{91055CDE-BBEE-6A06-10D9-0450C8965374}"/>
                  </a:ext>
                </a:extLst>
              </p:cNvPr>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3220;p71">
                <a:extLst>
                  <a:ext uri="{FF2B5EF4-FFF2-40B4-BE49-F238E27FC236}">
                    <a16:creationId xmlns:a16="http://schemas.microsoft.com/office/drawing/2014/main" id="{B27A3499-F11A-E113-F6D5-BD146F27420F}"/>
                  </a:ext>
                </a:extLst>
              </p:cNvPr>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3221;p71">
                <a:extLst>
                  <a:ext uri="{FF2B5EF4-FFF2-40B4-BE49-F238E27FC236}">
                    <a16:creationId xmlns:a16="http://schemas.microsoft.com/office/drawing/2014/main" id="{691146F4-C40F-5B99-C72E-F11165174B6F}"/>
                  </a:ext>
                </a:extLst>
              </p:cNvPr>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3222;p71">
                <a:extLst>
                  <a:ext uri="{FF2B5EF4-FFF2-40B4-BE49-F238E27FC236}">
                    <a16:creationId xmlns:a16="http://schemas.microsoft.com/office/drawing/2014/main" id="{5A7BC6FD-499E-476D-C0B3-640D4615C7E4}"/>
                  </a:ext>
                </a:extLst>
              </p:cNvPr>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3223;p71">
                <a:extLst>
                  <a:ext uri="{FF2B5EF4-FFF2-40B4-BE49-F238E27FC236}">
                    <a16:creationId xmlns:a16="http://schemas.microsoft.com/office/drawing/2014/main" id="{A3D0B8C4-A388-B5D4-4910-E3C7DA62DAAF}"/>
                  </a:ext>
                </a:extLst>
              </p:cNvPr>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3224;p71">
                <a:extLst>
                  <a:ext uri="{FF2B5EF4-FFF2-40B4-BE49-F238E27FC236}">
                    <a16:creationId xmlns:a16="http://schemas.microsoft.com/office/drawing/2014/main" id="{E26FBFAC-78F2-8DF5-6235-7CBFB810B25C}"/>
                  </a:ext>
                </a:extLst>
              </p:cNvPr>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3225;p71">
                <a:extLst>
                  <a:ext uri="{FF2B5EF4-FFF2-40B4-BE49-F238E27FC236}">
                    <a16:creationId xmlns:a16="http://schemas.microsoft.com/office/drawing/2014/main" id="{428631C4-6EB7-510E-BFB0-DB975092A75A}"/>
                  </a:ext>
                </a:extLst>
              </p:cNvPr>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3226;p71">
                <a:extLst>
                  <a:ext uri="{FF2B5EF4-FFF2-40B4-BE49-F238E27FC236}">
                    <a16:creationId xmlns:a16="http://schemas.microsoft.com/office/drawing/2014/main" id="{0230261A-AF21-10CD-A9E0-E69FBFA616BA}"/>
                  </a:ext>
                </a:extLst>
              </p:cNvPr>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3227;p71">
                <a:extLst>
                  <a:ext uri="{FF2B5EF4-FFF2-40B4-BE49-F238E27FC236}">
                    <a16:creationId xmlns:a16="http://schemas.microsoft.com/office/drawing/2014/main" id="{82E233C4-C2FD-96E7-8590-9062099C268F}"/>
                  </a:ext>
                </a:extLst>
              </p:cNvPr>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3228;p71">
                <a:extLst>
                  <a:ext uri="{FF2B5EF4-FFF2-40B4-BE49-F238E27FC236}">
                    <a16:creationId xmlns:a16="http://schemas.microsoft.com/office/drawing/2014/main" id="{11E85AC5-7D1B-BC59-5872-40D2A4BF9D37}"/>
                  </a:ext>
                </a:extLst>
              </p:cNvPr>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3229;p71">
                <a:extLst>
                  <a:ext uri="{FF2B5EF4-FFF2-40B4-BE49-F238E27FC236}">
                    <a16:creationId xmlns:a16="http://schemas.microsoft.com/office/drawing/2014/main" id="{F9AA8745-740D-E73B-A4D7-AF4DD5639B08}"/>
                  </a:ext>
                </a:extLst>
              </p:cNvPr>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3230;p71">
                <a:extLst>
                  <a:ext uri="{FF2B5EF4-FFF2-40B4-BE49-F238E27FC236}">
                    <a16:creationId xmlns:a16="http://schemas.microsoft.com/office/drawing/2014/main" id="{82A35DB4-8010-220A-B4FA-D0299418D177}"/>
                  </a:ext>
                </a:extLst>
              </p:cNvPr>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3231;p71">
                <a:extLst>
                  <a:ext uri="{FF2B5EF4-FFF2-40B4-BE49-F238E27FC236}">
                    <a16:creationId xmlns:a16="http://schemas.microsoft.com/office/drawing/2014/main" id="{9B603C8B-3260-B05A-4764-BB54BC86996D}"/>
                  </a:ext>
                </a:extLst>
              </p:cNvPr>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3232;p71">
                <a:extLst>
                  <a:ext uri="{FF2B5EF4-FFF2-40B4-BE49-F238E27FC236}">
                    <a16:creationId xmlns:a16="http://schemas.microsoft.com/office/drawing/2014/main" id="{EB382FE4-9916-555E-E0D4-BCFDE2C4E2C0}"/>
                  </a:ext>
                </a:extLst>
              </p:cNvPr>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3233;p71">
                <a:extLst>
                  <a:ext uri="{FF2B5EF4-FFF2-40B4-BE49-F238E27FC236}">
                    <a16:creationId xmlns:a16="http://schemas.microsoft.com/office/drawing/2014/main" id="{61F5FAD6-953B-C39A-15AE-97E36F904C9B}"/>
                  </a:ext>
                </a:extLst>
              </p:cNvPr>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3234;p71">
                <a:extLst>
                  <a:ext uri="{FF2B5EF4-FFF2-40B4-BE49-F238E27FC236}">
                    <a16:creationId xmlns:a16="http://schemas.microsoft.com/office/drawing/2014/main" id="{7768F573-21A9-D23B-B878-6687233E0071}"/>
                  </a:ext>
                </a:extLst>
              </p:cNvPr>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3235;p71">
                <a:extLst>
                  <a:ext uri="{FF2B5EF4-FFF2-40B4-BE49-F238E27FC236}">
                    <a16:creationId xmlns:a16="http://schemas.microsoft.com/office/drawing/2014/main" id="{92FAF777-C51C-2AA8-B719-1104FC5A8EB0}"/>
                  </a:ext>
                </a:extLst>
              </p:cNvPr>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3236;p71">
                <a:extLst>
                  <a:ext uri="{FF2B5EF4-FFF2-40B4-BE49-F238E27FC236}">
                    <a16:creationId xmlns:a16="http://schemas.microsoft.com/office/drawing/2014/main" id="{76D10F0A-0CC6-A527-B797-2D7D94B61B4D}"/>
                  </a:ext>
                </a:extLst>
              </p:cNvPr>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3237;p71">
                <a:extLst>
                  <a:ext uri="{FF2B5EF4-FFF2-40B4-BE49-F238E27FC236}">
                    <a16:creationId xmlns:a16="http://schemas.microsoft.com/office/drawing/2014/main" id="{60B8F78A-F9C4-29C6-5B7B-77C8F042C1F2}"/>
                  </a:ext>
                </a:extLst>
              </p:cNvPr>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3238;p71">
                <a:extLst>
                  <a:ext uri="{FF2B5EF4-FFF2-40B4-BE49-F238E27FC236}">
                    <a16:creationId xmlns:a16="http://schemas.microsoft.com/office/drawing/2014/main" id="{2C61A132-FA32-4465-75A4-213F33473E5F}"/>
                  </a:ext>
                </a:extLst>
              </p:cNvPr>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3239;p71">
                <a:extLst>
                  <a:ext uri="{FF2B5EF4-FFF2-40B4-BE49-F238E27FC236}">
                    <a16:creationId xmlns:a16="http://schemas.microsoft.com/office/drawing/2014/main" id="{59E188B8-4730-1463-060D-38329BE467C5}"/>
                  </a:ext>
                </a:extLst>
              </p:cNvPr>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3240;p71">
                <a:extLst>
                  <a:ext uri="{FF2B5EF4-FFF2-40B4-BE49-F238E27FC236}">
                    <a16:creationId xmlns:a16="http://schemas.microsoft.com/office/drawing/2014/main" id="{AAEA6E63-91E5-07A1-2FE8-A30D19C518A6}"/>
                  </a:ext>
                </a:extLst>
              </p:cNvPr>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3241;p71">
                <a:extLst>
                  <a:ext uri="{FF2B5EF4-FFF2-40B4-BE49-F238E27FC236}">
                    <a16:creationId xmlns:a16="http://schemas.microsoft.com/office/drawing/2014/main" id="{CE6F6EB0-05BD-BAE9-FF89-037539B9330F}"/>
                  </a:ext>
                </a:extLst>
              </p:cNvPr>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3242;p71">
                <a:extLst>
                  <a:ext uri="{FF2B5EF4-FFF2-40B4-BE49-F238E27FC236}">
                    <a16:creationId xmlns:a16="http://schemas.microsoft.com/office/drawing/2014/main" id="{D6DF0569-5BAE-DAC1-22F6-19F34AC2ABF9}"/>
                  </a:ext>
                </a:extLst>
              </p:cNvPr>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 name="Google Shape;1571;p71">
              <a:extLst>
                <a:ext uri="{FF2B5EF4-FFF2-40B4-BE49-F238E27FC236}">
                  <a16:creationId xmlns:a16="http://schemas.microsoft.com/office/drawing/2014/main" id="{73BEC395-0EE5-D46B-83B5-388E69794861}"/>
                </a:ext>
              </a:extLst>
            </p:cNvPr>
            <p:cNvGrpSpPr/>
            <p:nvPr/>
          </p:nvGrpSpPr>
          <p:grpSpPr>
            <a:xfrm>
              <a:off x="3616664" y="2233497"/>
              <a:ext cx="117005" cy="180917"/>
              <a:chOff x="8615101" y="3738687"/>
              <a:chExt cx="207573" cy="320956"/>
            </a:xfrm>
          </p:grpSpPr>
          <p:sp>
            <p:nvSpPr>
              <p:cNvPr id="812" name="Google Shape;1572;p71">
                <a:extLst>
                  <a:ext uri="{FF2B5EF4-FFF2-40B4-BE49-F238E27FC236}">
                    <a16:creationId xmlns:a16="http://schemas.microsoft.com/office/drawing/2014/main" id="{E63BAF09-88EB-25C3-257F-830DD930F626}"/>
                  </a:ext>
                </a:extLst>
              </p:cNvPr>
              <p:cNvSpPr/>
              <p:nvPr/>
            </p:nvSpPr>
            <p:spPr>
              <a:xfrm>
                <a:off x="8651571" y="3738692"/>
                <a:ext cx="3896" cy="309245"/>
              </a:xfrm>
              <a:custGeom>
                <a:avLst/>
                <a:gdLst/>
                <a:ahLst/>
                <a:cxnLst/>
                <a:rect l="l" t="t" r="r" b="b"/>
                <a:pathLst>
                  <a:path w="1347" h="34011" extrusionOk="0">
                    <a:moveTo>
                      <a:pt x="0" y="0"/>
                    </a:moveTo>
                    <a:lnTo>
                      <a:pt x="0" y="34010"/>
                    </a:lnTo>
                    <a:lnTo>
                      <a:pt x="1347" y="34010"/>
                    </a:lnTo>
                    <a:lnTo>
                      <a:pt x="1347" y="0"/>
                    </a:lnTo>
                    <a:close/>
                  </a:path>
                </a:pathLst>
              </a:custGeom>
              <a:ln>
                <a:headEnd type="none" w="sm" len="sm"/>
                <a:tailEnd type="none" w="sm" len="s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1573;p71">
                <a:extLst>
                  <a:ext uri="{FF2B5EF4-FFF2-40B4-BE49-F238E27FC236}">
                    <a16:creationId xmlns:a16="http://schemas.microsoft.com/office/drawing/2014/main" id="{21BF541B-F8EB-CD68-8821-0CC7472D1D54}"/>
                  </a:ext>
                </a:extLst>
              </p:cNvPr>
              <p:cNvSpPr/>
              <p:nvPr/>
            </p:nvSpPr>
            <p:spPr>
              <a:xfrm>
                <a:off x="8615101" y="4044004"/>
                <a:ext cx="76332" cy="15639"/>
              </a:xfrm>
              <a:custGeom>
                <a:avLst/>
                <a:gdLst/>
                <a:ahLst/>
                <a:cxnLst/>
                <a:rect l="l" t="t" r="r" b="b"/>
                <a:pathLst>
                  <a:path w="8395" h="1720" extrusionOk="0">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ln>
                <a:headEnd type="none" w="sm" len="sm"/>
                <a:tailEnd type="none" w="sm" len="s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1574;p71">
                <a:extLst>
                  <a:ext uri="{FF2B5EF4-FFF2-40B4-BE49-F238E27FC236}">
                    <a16:creationId xmlns:a16="http://schemas.microsoft.com/office/drawing/2014/main" id="{60F4F532-FC95-FADB-00D7-3BA3960E356E}"/>
                  </a:ext>
                </a:extLst>
              </p:cNvPr>
              <p:cNvSpPr/>
              <p:nvPr/>
            </p:nvSpPr>
            <p:spPr>
              <a:xfrm>
                <a:off x="8651953" y="3738687"/>
                <a:ext cx="170721" cy="99808"/>
              </a:xfrm>
              <a:custGeom>
                <a:avLst/>
                <a:gdLst/>
                <a:ahLst/>
                <a:cxnLst/>
                <a:rect l="l" t="t" r="r" b="b"/>
                <a:pathLst>
                  <a:path w="18776" h="10977" extrusionOk="0">
                    <a:moveTo>
                      <a:pt x="707" y="0"/>
                    </a:moveTo>
                    <a:lnTo>
                      <a:pt x="0" y="10977"/>
                    </a:lnTo>
                    <a:lnTo>
                      <a:pt x="18776" y="4360"/>
                    </a:lnTo>
                    <a:lnTo>
                      <a:pt x="707" y="0"/>
                    </a:lnTo>
                    <a:close/>
                  </a:path>
                </a:pathLst>
              </a:custGeom>
              <a:ln>
                <a:headEnd type="none" w="sm" len="sm"/>
                <a:tailEnd type="none" w="sm" len="s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500" fill="hold"/>
                                        <p:tgtEl>
                                          <p:spTgt spid="54"/>
                                        </p:tgtEl>
                                        <p:attrNameLst>
                                          <p:attrName>ppt_x</p:attrName>
                                        </p:attrNameLst>
                                      </p:cBhvr>
                                      <p:tavLst>
                                        <p:tav tm="0">
                                          <p:val>
                                            <p:strVal val="0-#ppt_w/2"/>
                                          </p:val>
                                        </p:tav>
                                        <p:tav tm="100000">
                                          <p:val>
                                            <p:strVal val="#ppt_x"/>
                                          </p:val>
                                        </p:tav>
                                      </p:tavLst>
                                    </p:anim>
                                    <p:anim calcmode="lin" valueType="num">
                                      <p:cBhvr additive="base">
                                        <p:cTn id="8" dur="500" fill="hold"/>
                                        <p:tgtEl>
                                          <p:spTgt spid="5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815"/>
                                        </p:tgtEl>
                                        <p:attrNameLst>
                                          <p:attrName>style.visibility</p:attrName>
                                        </p:attrNameLst>
                                      </p:cBhvr>
                                      <p:to>
                                        <p:strVal val="visible"/>
                                      </p:to>
                                    </p:set>
                                    <p:anim calcmode="lin" valueType="num">
                                      <p:cBhvr>
                                        <p:cTn id="13" dur="500" fill="hold"/>
                                        <p:tgtEl>
                                          <p:spTgt spid="815"/>
                                        </p:tgtEl>
                                        <p:attrNameLst>
                                          <p:attrName>ppt_w</p:attrName>
                                        </p:attrNameLst>
                                      </p:cBhvr>
                                      <p:tavLst>
                                        <p:tav tm="0">
                                          <p:val>
                                            <p:fltVal val="0"/>
                                          </p:val>
                                        </p:tav>
                                        <p:tav tm="100000">
                                          <p:val>
                                            <p:strVal val="#ppt_w"/>
                                          </p:val>
                                        </p:tav>
                                      </p:tavLst>
                                    </p:anim>
                                    <p:anim calcmode="lin" valueType="num">
                                      <p:cBhvr>
                                        <p:cTn id="14" dur="500" fill="hold"/>
                                        <p:tgtEl>
                                          <p:spTgt spid="815"/>
                                        </p:tgtEl>
                                        <p:attrNameLst>
                                          <p:attrName>ppt_h</p:attrName>
                                        </p:attrNameLst>
                                      </p:cBhvr>
                                      <p:tavLst>
                                        <p:tav tm="0">
                                          <p:val>
                                            <p:fltVal val="0"/>
                                          </p:val>
                                        </p:tav>
                                        <p:tav tm="100000">
                                          <p:val>
                                            <p:strVal val="#ppt_h"/>
                                          </p:val>
                                        </p:tav>
                                      </p:tavLst>
                                    </p:anim>
                                    <p:animEffect transition="in" filter="fade">
                                      <p:cBhvr>
                                        <p:cTn id="15" dur="500"/>
                                        <p:tgtEl>
                                          <p:spTgt spid="815"/>
                                        </p:tgtEl>
                                      </p:cBhvr>
                                    </p:animEffect>
                                  </p:childTnLst>
                                </p:cTn>
                              </p:par>
                              <p:par>
                                <p:cTn id="16" presetID="53" presetClass="entr" presetSubtype="16" fill="hold" nodeType="withEffect">
                                  <p:stCondLst>
                                    <p:cond delay="0"/>
                                  </p:stCondLst>
                                  <p:childTnLst>
                                    <p:set>
                                      <p:cBhvr>
                                        <p:cTn id="17" dur="1" fill="hold">
                                          <p:stCondLst>
                                            <p:cond delay="0"/>
                                          </p:stCondLst>
                                        </p:cTn>
                                        <p:tgtEl>
                                          <p:spTgt spid="599"/>
                                        </p:tgtEl>
                                        <p:attrNameLst>
                                          <p:attrName>style.visibility</p:attrName>
                                        </p:attrNameLst>
                                      </p:cBhvr>
                                      <p:to>
                                        <p:strVal val="visible"/>
                                      </p:to>
                                    </p:set>
                                    <p:anim calcmode="lin" valueType="num">
                                      <p:cBhvr>
                                        <p:cTn id="18" dur="500" fill="hold"/>
                                        <p:tgtEl>
                                          <p:spTgt spid="599"/>
                                        </p:tgtEl>
                                        <p:attrNameLst>
                                          <p:attrName>ppt_w</p:attrName>
                                        </p:attrNameLst>
                                      </p:cBhvr>
                                      <p:tavLst>
                                        <p:tav tm="0">
                                          <p:val>
                                            <p:fltVal val="0"/>
                                          </p:val>
                                        </p:tav>
                                        <p:tav tm="100000">
                                          <p:val>
                                            <p:strVal val="#ppt_w"/>
                                          </p:val>
                                        </p:tav>
                                      </p:tavLst>
                                    </p:anim>
                                    <p:anim calcmode="lin" valueType="num">
                                      <p:cBhvr>
                                        <p:cTn id="19" dur="500" fill="hold"/>
                                        <p:tgtEl>
                                          <p:spTgt spid="599"/>
                                        </p:tgtEl>
                                        <p:attrNameLst>
                                          <p:attrName>ppt_h</p:attrName>
                                        </p:attrNameLst>
                                      </p:cBhvr>
                                      <p:tavLst>
                                        <p:tav tm="0">
                                          <p:val>
                                            <p:fltVal val="0"/>
                                          </p:val>
                                        </p:tav>
                                        <p:tav tm="100000">
                                          <p:val>
                                            <p:strVal val="#ppt_h"/>
                                          </p:val>
                                        </p:tav>
                                      </p:tavLst>
                                    </p:anim>
                                    <p:animEffect transition="in" filter="fade">
                                      <p:cBhvr>
                                        <p:cTn id="20" dur="500"/>
                                        <p:tgtEl>
                                          <p:spTgt spid="599"/>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37"/>
                                        </p:tgtEl>
                                        <p:attrNameLst>
                                          <p:attrName>style.visibility</p:attrName>
                                        </p:attrNameLst>
                                      </p:cBhvr>
                                      <p:to>
                                        <p:strVal val="visible"/>
                                      </p:to>
                                    </p:set>
                                    <p:anim calcmode="lin" valueType="num">
                                      <p:cBhvr additive="base">
                                        <p:cTn id="25" dur="500" fill="hold"/>
                                        <p:tgtEl>
                                          <p:spTgt spid="637"/>
                                        </p:tgtEl>
                                        <p:attrNameLst>
                                          <p:attrName>ppt_x</p:attrName>
                                        </p:attrNameLst>
                                      </p:cBhvr>
                                      <p:tavLst>
                                        <p:tav tm="0">
                                          <p:val>
                                            <p:strVal val="#ppt_x"/>
                                          </p:val>
                                        </p:tav>
                                        <p:tav tm="100000">
                                          <p:val>
                                            <p:strVal val="#ppt_x"/>
                                          </p:val>
                                        </p:tav>
                                      </p:tavLst>
                                    </p:anim>
                                    <p:anim calcmode="lin" valueType="num">
                                      <p:cBhvr additive="base">
                                        <p:cTn id="26" dur="500" fill="hold"/>
                                        <p:tgtEl>
                                          <p:spTgt spid="6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636" name="Rectangle 635">
            <a:extLst>
              <a:ext uri="{FF2B5EF4-FFF2-40B4-BE49-F238E27FC236}">
                <a16:creationId xmlns:a16="http://schemas.microsoft.com/office/drawing/2014/main" id="{878866A5-3C84-9E92-CE07-011A5E115147}"/>
              </a:ext>
            </a:extLst>
          </p:cNvPr>
          <p:cNvSpPr/>
          <p:nvPr/>
        </p:nvSpPr>
        <p:spPr>
          <a:xfrm>
            <a:off x="-247133" y="-72330"/>
            <a:ext cx="9531241" cy="552620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cxnSp>
        <p:nvCxnSpPr>
          <p:cNvPr id="604" name="Google Shape;604;p47"/>
          <p:cNvCxnSpPr/>
          <p:nvPr/>
        </p:nvCxnSpPr>
        <p:spPr>
          <a:xfrm rot="5400000">
            <a:off x="3231979" y="4476614"/>
            <a:ext cx="3626382" cy="0"/>
          </a:xfrm>
          <a:prstGeom prst="straightConnector1">
            <a:avLst/>
          </a:prstGeom>
          <a:ln>
            <a:headEnd type="none" w="sm" len="sm"/>
            <a:tailEnd type="none" w="sm" len="sm"/>
          </a:ln>
        </p:spPr>
        <p:style>
          <a:lnRef idx="1">
            <a:schemeClr val="dk1"/>
          </a:lnRef>
          <a:fillRef idx="0">
            <a:schemeClr val="dk1"/>
          </a:fillRef>
          <a:effectRef idx="0">
            <a:schemeClr val="dk1"/>
          </a:effectRef>
          <a:fontRef idx="minor">
            <a:schemeClr val="tx1"/>
          </a:fontRef>
        </p:style>
      </p:cxnSp>
      <p:cxnSp>
        <p:nvCxnSpPr>
          <p:cNvPr id="605" name="Google Shape;605;p47"/>
          <p:cNvCxnSpPr/>
          <p:nvPr/>
        </p:nvCxnSpPr>
        <p:spPr>
          <a:xfrm rot="5400000">
            <a:off x="-263387" y="-244188"/>
            <a:ext cx="3626382" cy="0"/>
          </a:xfrm>
          <a:prstGeom prst="straightConnector1">
            <a:avLst/>
          </a:prstGeom>
          <a:ln>
            <a:headEnd type="none" w="sm" len="sm"/>
            <a:tailEnd type="none" w="sm" len="sm"/>
          </a:ln>
        </p:spPr>
        <p:style>
          <a:lnRef idx="1">
            <a:schemeClr val="dk1"/>
          </a:lnRef>
          <a:fillRef idx="0">
            <a:schemeClr val="dk1"/>
          </a:fillRef>
          <a:effectRef idx="0">
            <a:schemeClr val="dk1"/>
          </a:effectRef>
          <a:fontRef idx="minor">
            <a:schemeClr val="tx1"/>
          </a:fontRef>
        </p:style>
      </p:cxnSp>
      <p:grpSp>
        <p:nvGrpSpPr>
          <p:cNvPr id="606" name="Google Shape;606;p47"/>
          <p:cNvGrpSpPr/>
          <p:nvPr/>
        </p:nvGrpSpPr>
        <p:grpSpPr>
          <a:xfrm>
            <a:off x="8837359" y="-72330"/>
            <a:ext cx="1543051" cy="5808473"/>
            <a:chOff x="0" y="-38100"/>
            <a:chExt cx="812800" cy="3059607"/>
          </a:xfrm>
        </p:grpSpPr>
        <p:sp>
          <p:nvSpPr>
            <p:cNvPr id="607" name="Google Shape;607;p47"/>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endParaRPr lang="en-US"/>
            </a:p>
          </p:txBody>
        </p:sp>
        <p:sp>
          <p:nvSpPr>
            <p:cNvPr id="608" name="Google Shape;608;p47"/>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609" name="Google Shape;609;p47"/>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sp>
        <p:nvSpPr>
          <p:cNvPr id="2" name="TextBox 1">
            <a:extLst>
              <a:ext uri="{FF2B5EF4-FFF2-40B4-BE49-F238E27FC236}">
                <a16:creationId xmlns:a16="http://schemas.microsoft.com/office/drawing/2014/main" id="{C2C73928-AD3E-0FEE-9511-F8FA8D786DC8}"/>
              </a:ext>
            </a:extLst>
          </p:cNvPr>
          <p:cNvSpPr txBox="1"/>
          <p:nvPr/>
        </p:nvSpPr>
        <p:spPr>
          <a:xfrm>
            <a:off x="455663" y="2310140"/>
            <a:ext cx="8232673" cy="1077218"/>
          </a:xfrm>
          <a:prstGeom prst="rect">
            <a:avLst/>
          </a:prstGeom>
          <a:noFill/>
        </p:spPr>
        <p:txBody>
          <a:bodyPr wrap="square" rtlCol="0">
            <a:spAutoFit/>
          </a:bodyPr>
          <a:lstStyle/>
          <a:p>
            <a:pPr algn="r" rtl="1"/>
            <a:r>
              <a:rPr lang="fa-IR" sz="2000" dirty="0">
                <a:solidFill>
                  <a:srgbClr val="FFFF00"/>
                </a:solidFill>
                <a:cs typeface="B Nazanin" panose="00000400000000000000" pitchFamily="2" charset="-78"/>
              </a:rPr>
              <a:t>این قانون به دولت اجازه می دهد زمين هایی را كه براي اجراي برنامه هاي شهرسازی و خانه سازي لازم و ضروري تشخيص می دهد و محلاتی را كه به دلیل های شهر سازي و بهداشتي بايد تخريب و تجديد بنا گردد، پس از پرداخت </a:t>
            </a:r>
            <a:r>
              <a:rPr lang="fa-IR" sz="2400" b="1" dirty="0">
                <a:solidFill>
                  <a:schemeClr val="bg1"/>
                </a:solidFill>
                <a:cs typeface="B Nazanin" panose="00000400000000000000" pitchFamily="2" charset="-78"/>
              </a:rPr>
              <a:t>بهاي عادله </a:t>
            </a:r>
            <a:r>
              <a:rPr lang="fa-IR" sz="2000" dirty="0">
                <a:solidFill>
                  <a:srgbClr val="FFFF00"/>
                </a:solidFill>
                <a:cs typeface="B Nazanin" panose="00000400000000000000" pitchFamily="2" charset="-78"/>
              </a:rPr>
              <a:t>تملك و تصرف نمايد.</a:t>
            </a:r>
            <a:endParaRPr lang="en-US" sz="2000" dirty="0">
              <a:solidFill>
                <a:srgbClr val="FFFF00"/>
              </a:solidFill>
              <a:cs typeface="B Nazanin" panose="00000400000000000000" pitchFamily="2" charset="-78"/>
            </a:endParaRPr>
          </a:p>
        </p:txBody>
      </p:sp>
    </p:spTree>
    <p:extLst>
      <p:ext uri="{BB962C8B-B14F-4D97-AF65-F5344CB8AC3E}">
        <p14:creationId xmlns:p14="http://schemas.microsoft.com/office/powerpoint/2010/main" val="1852948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636" name="Rectangle 635">
            <a:extLst>
              <a:ext uri="{FF2B5EF4-FFF2-40B4-BE49-F238E27FC236}">
                <a16:creationId xmlns:a16="http://schemas.microsoft.com/office/drawing/2014/main" id="{878866A5-3C84-9E92-CE07-011A5E115147}"/>
              </a:ext>
            </a:extLst>
          </p:cNvPr>
          <p:cNvSpPr/>
          <p:nvPr/>
        </p:nvSpPr>
        <p:spPr>
          <a:xfrm>
            <a:off x="-247133" y="-72330"/>
            <a:ext cx="4814843" cy="552620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grpSp>
        <p:nvGrpSpPr>
          <p:cNvPr id="599" name="Google Shape;599;p47"/>
          <p:cNvGrpSpPr/>
          <p:nvPr/>
        </p:nvGrpSpPr>
        <p:grpSpPr>
          <a:xfrm>
            <a:off x="5144372" y="321819"/>
            <a:ext cx="3216745" cy="2013314"/>
            <a:chOff x="-643306" y="0"/>
            <a:chExt cx="8577985" cy="5368801"/>
          </a:xfrm>
        </p:grpSpPr>
        <p:sp>
          <p:nvSpPr>
            <p:cNvPr id="600" name="Google Shape;600;p47"/>
            <p:cNvSpPr txBox="1"/>
            <p:nvPr/>
          </p:nvSpPr>
          <p:spPr>
            <a:xfrm>
              <a:off x="-643306" y="0"/>
              <a:ext cx="8574735" cy="1181853"/>
            </a:xfrm>
            <a:prstGeom prst="rect">
              <a:avLst/>
            </a:prstGeom>
            <a:noFill/>
            <a:ln>
              <a:noFill/>
            </a:ln>
          </p:spPr>
          <p:txBody>
            <a:bodyPr spcFirstLastPara="1" wrap="square" lIns="0" tIns="0" rIns="0" bIns="0" anchor="t" anchorCtr="0">
              <a:spAutoFit/>
            </a:bodyPr>
            <a:lstStyle/>
            <a:p>
              <a:pPr marL="0" marR="0" lvl="0" indent="0" algn="ctr" rtl="1">
                <a:lnSpc>
                  <a:spcPct val="120000"/>
                </a:lnSpc>
                <a:spcBef>
                  <a:spcPts val="0"/>
                </a:spcBef>
                <a:spcAft>
                  <a:spcPts val="0"/>
                </a:spcAft>
                <a:buNone/>
              </a:pPr>
              <a:r>
                <a:rPr lang="fa-IR" sz="2400" b="1" i="0" u="none" strike="noStrike" cap="none" dirty="0">
                  <a:solidFill>
                    <a:schemeClr val="tx1"/>
                  </a:solidFill>
                  <a:latin typeface="Open Sans"/>
                  <a:ea typeface="Open Sans"/>
                  <a:cs typeface="B Nazanin" panose="00000700000000000000" pitchFamily="2" charset="-78"/>
                  <a:sym typeface="Open Sans"/>
                </a:rPr>
                <a:t>بهای عادله چیست؟</a:t>
              </a:r>
              <a:endParaRPr lang="fa-IR" sz="500" b="1" dirty="0">
                <a:solidFill>
                  <a:schemeClr val="tx1"/>
                </a:solidFill>
                <a:latin typeface="Open Sans"/>
                <a:ea typeface="Open Sans"/>
                <a:cs typeface="B Nazanin" panose="00000700000000000000" pitchFamily="2" charset="-78"/>
                <a:sym typeface="Open Sans"/>
              </a:endParaRPr>
            </a:p>
          </p:txBody>
        </p:sp>
        <p:sp>
          <p:nvSpPr>
            <p:cNvPr id="601" name="Google Shape;601;p47"/>
            <p:cNvSpPr txBox="1"/>
            <p:nvPr/>
          </p:nvSpPr>
          <p:spPr>
            <a:xfrm>
              <a:off x="-21" y="4219769"/>
              <a:ext cx="7934700" cy="1149032"/>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fa-IR" sz="1000" i="0" u="none" strike="noStrike" cap="none" dirty="0">
                  <a:solidFill>
                    <a:srgbClr val="FFFFFC"/>
                  </a:solidFill>
                  <a:latin typeface="Open Sans"/>
                  <a:ea typeface="Open Sans"/>
                  <a:cs typeface="B Nazanin" panose="00000700000000000000" pitchFamily="2" charset="-78"/>
                  <a:sym typeface="Open Sans"/>
                </a:rPr>
                <a:t>عنوان: </a:t>
              </a:r>
              <a:r>
                <a:rPr lang="en-US" sz="1000" i="0" u="none" strike="noStrike" cap="none" dirty="0">
                  <a:solidFill>
                    <a:srgbClr val="FFFFFC"/>
                  </a:solidFill>
                  <a:latin typeface="Open Sans"/>
                  <a:ea typeface="Open Sans"/>
                  <a:cs typeface="B Nazanin" panose="00000700000000000000" pitchFamily="2" charset="-78"/>
                  <a:sym typeface="Open Sans"/>
                </a:rPr>
                <a:t>Open Sans Bold</a:t>
              </a:r>
              <a:r>
                <a:rPr lang="fa-IR" sz="1000" i="0" u="none" strike="noStrike" cap="none" dirty="0">
                  <a:solidFill>
                    <a:srgbClr val="FFFFFC"/>
                  </a:solidFill>
                  <a:latin typeface="Open Sans"/>
                  <a:ea typeface="Open Sans"/>
                  <a:cs typeface="B Nazanin" panose="00000700000000000000" pitchFamily="2" charset="-78"/>
                  <a:sym typeface="Open Sans"/>
                </a:rPr>
                <a:t>سرصفحه ها: </a:t>
              </a:r>
              <a:r>
                <a:rPr lang="en-US" sz="1000" i="0" u="none" strike="noStrike" cap="none" dirty="0">
                  <a:solidFill>
                    <a:srgbClr val="FFFFFC"/>
                  </a:solidFill>
                  <a:latin typeface="Open Sans"/>
                  <a:ea typeface="Open Sans"/>
                  <a:cs typeface="B Nazanin" panose="00000700000000000000" pitchFamily="2" charset="-78"/>
                  <a:sym typeface="Open Sans"/>
                </a:rPr>
                <a:t>Open </a:t>
              </a:r>
              <a:r>
                <a:rPr lang="en-US" sz="1000" i="0" u="none" strike="noStrike" cap="none" dirty="0" err="1">
                  <a:solidFill>
                    <a:srgbClr val="FFFFFC"/>
                  </a:solidFill>
                  <a:latin typeface="Open Sans"/>
                  <a:ea typeface="Open Sans"/>
                  <a:cs typeface="B Nazanin" panose="00000700000000000000" pitchFamily="2" charset="-78"/>
                  <a:sym typeface="Open Sans"/>
                </a:rPr>
                <a:t>SansBody</a:t>
              </a:r>
              <a:r>
                <a:rPr lang="en-US" sz="1000" i="0" u="none" strike="noStrike" cap="none" dirty="0">
                  <a:solidFill>
                    <a:srgbClr val="FFFFFC"/>
                  </a:solidFill>
                  <a:latin typeface="Open Sans"/>
                  <a:ea typeface="Open Sans"/>
                  <a:cs typeface="B Nazanin" panose="00000700000000000000" pitchFamily="2" charset="-78"/>
                  <a:sym typeface="Open Sans"/>
                </a:rPr>
                <a:t> Copy: Open Sans</a:t>
              </a:r>
              <a:endParaRPr sz="700" dirty="0">
                <a:latin typeface="Open Sans"/>
                <a:ea typeface="Open Sans"/>
                <a:cs typeface="B Nazanin" panose="00000700000000000000" pitchFamily="2" charset="-78"/>
                <a:sym typeface="Open Sans"/>
              </a:endParaRPr>
            </a:p>
          </p:txBody>
        </p:sp>
      </p:grpSp>
      <p:cxnSp>
        <p:nvCxnSpPr>
          <p:cNvPr id="604" name="Google Shape;604;p47"/>
          <p:cNvCxnSpPr>
            <a:cxnSpLocks/>
          </p:cNvCxnSpPr>
          <p:nvPr/>
        </p:nvCxnSpPr>
        <p:spPr>
          <a:xfrm>
            <a:off x="5889764" y="1156328"/>
            <a:ext cx="3626382" cy="0"/>
          </a:xfrm>
          <a:prstGeom prst="straightConnector1">
            <a:avLst/>
          </a:prstGeom>
          <a:ln>
            <a:headEnd type="none" w="sm" len="sm"/>
            <a:tailEnd type="none" w="sm" len="sm"/>
          </a:ln>
        </p:spPr>
        <p:style>
          <a:lnRef idx="1">
            <a:schemeClr val="dk1"/>
          </a:lnRef>
          <a:fillRef idx="0">
            <a:schemeClr val="dk1"/>
          </a:fillRef>
          <a:effectRef idx="0">
            <a:schemeClr val="dk1"/>
          </a:effectRef>
          <a:fontRef idx="minor">
            <a:schemeClr val="tx1"/>
          </a:fontRef>
        </p:style>
      </p:cxnSp>
      <p:cxnSp>
        <p:nvCxnSpPr>
          <p:cNvPr id="605" name="Google Shape;605;p47"/>
          <p:cNvCxnSpPr/>
          <p:nvPr/>
        </p:nvCxnSpPr>
        <p:spPr>
          <a:xfrm rot="5400000">
            <a:off x="-263387" y="-244188"/>
            <a:ext cx="3626382" cy="0"/>
          </a:xfrm>
          <a:prstGeom prst="straightConnector1">
            <a:avLst/>
          </a:prstGeom>
          <a:ln>
            <a:headEnd type="none" w="sm" len="sm"/>
            <a:tailEnd type="none" w="sm" len="sm"/>
          </a:ln>
        </p:spPr>
        <p:style>
          <a:lnRef idx="1">
            <a:schemeClr val="dk1"/>
          </a:lnRef>
          <a:fillRef idx="0">
            <a:schemeClr val="dk1"/>
          </a:fillRef>
          <a:effectRef idx="0">
            <a:schemeClr val="dk1"/>
          </a:effectRef>
          <a:fontRef idx="minor">
            <a:schemeClr val="tx1"/>
          </a:fontRef>
        </p:style>
      </p:cxnSp>
      <p:grpSp>
        <p:nvGrpSpPr>
          <p:cNvPr id="606" name="Google Shape;606;p47"/>
          <p:cNvGrpSpPr/>
          <p:nvPr/>
        </p:nvGrpSpPr>
        <p:grpSpPr>
          <a:xfrm>
            <a:off x="8837359" y="-72330"/>
            <a:ext cx="1543051" cy="5808473"/>
            <a:chOff x="0" y="-38100"/>
            <a:chExt cx="812800" cy="3059607"/>
          </a:xfrm>
        </p:grpSpPr>
        <p:sp>
          <p:nvSpPr>
            <p:cNvPr id="607" name="Google Shape;607;p47"/>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endParaRPr lang="en-US"/>
            </a:p>
          </p:txBody>
        </p:sp>
        <p:sp>
          <p:nvSpPr>
            <p:cNvPr id="608" name="Google Shape;608;p47"/>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609" name="Google Shape;609;p47"/>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sp>
        <p:nvSpPr>
          <p:cNvPr id="2" name="Google Shape;9788;p78">
            <a:extLst>
              <a:ext uri="{FF2B5EF4-FFF2-40B4-BE49-F238E27FC236}">
                <a16:creationId xmlns:a16="http://schemas.microsoft.com/office/drawing/2014/main" id="{7BA08617-5BDE-7A76-E421-D77BF027A59B}"/>
              </a:ext>
            </a:extLst>
          </p:cNvPr>
          <p:cNvSpPr/>
          <p:nvPr/>
        </p:nvSpPr>
        <p:spPr>
          <a:xfrm>
            <a:off x="38904" y="144039"/>
            <a:ext cx="1859547" cy="1698238"/>
          </a:xfrm>
          <a:custGeom>
            <a:avLst/>
            <a:gdLst/>
            <a:ahLst/>
            <a:cxnLst/>
            <a:rect l="l" t="t" r="r" b="b"/>
            <a:pathLst>
              <a:path w="13038" h="11907" extrusionOk="0">
                <a:moveTo>
                  <a:pt x="6632" y="369"/>
                </a:moveTo>
                <a:cubicBezTo>
                  <a:pt x="6680" y="369"/>
                  <a:pt x="6704" y="405"/>
                  <a:pt x="6704" y="441"/>
                </a:cubicBezTo>
                <a:lnTo>
                  <a:pt x="6704" y="881"/>
                </a:lnTo>
                <a:cubicBezTo>
                  <a:pt x="6644" y="864"/>
                  <a:pt x="6582" y="855"/>
                  <a:pt x="6519" y="855"/>
                </a:cubicBezTo>
                <a:cubicBezTo>
                  <a:pt x="6457" y="855"/>
                  <a:pt x="6394" y="864"/>
                  <a:pt x="6335" y="881"/>
                </a:cubicBezTo>
                <a:lnTo>
                  <a:pt x="6335" y="441"/>
                </a:lnTo>
                <a:lnTo>
                  <a:pt x="6323" y="441"/>
                </a:lnTo>
                <a:cubicBezTo>
                  <a:pt x="6323" y="405"/>
                  <a:pt x="6347" y="369"/>
                  <a:pt x="6394" y="369"/>
                </a:cubicBezTo>
                <a:close/>
                <a:moveTo>
                  <a:pt x="6501" y="1251"/>
                </a:moveTo>
                <a:cubicBezTo>
                  <a:pt x="7061" y="1251"/>
                  <a:pt x="7275" y="2013"/>
                  <a:pt x="6763" y="2286"/>
                </a:cubicBezTo>
                <a:cubicBezTo>
                  <a:pt x="6692" y="2322"/>
                  <a:pt x="6585" y="2346"/>
                  <a:pt x="6501" y="2346"/>
                </a:cubicBezTo>
                <a:cubicBezTo>
                  <a:pt x="6204" y="2346"/>
                  <a:pt x="5954" y="2096"/>
                  <a:pt x="5954" y="1798"/>
                </a:cubicBezTo>
                <a:cubicBezTo>
                  <a:pt x="5954" y="1489"/>
                  <a:pt x="6204" y="1251"/>
                  <a:pt x="6501" y="1251"/>
                </a:cubicBezTo>
                <a:close/>
                <a:moveTo>
                  <a:pt x="2382" y="2429"/>
                </a:moveTo>
                <a:cubicBezTo>
                  <a:pt x="2560" y="2429"/>
                  <a:pt x="2703" y="2572"/>
                  <a:pt x="2703" y="2751"/>
                </a:cubicBezTo>
                <a:cubicBezTo>
                  <a:pt x="2703" y="2929"/>
                  <a:pt x="2560" y="3084"/>
                  <a:pt x="2382" y="3084"/>
                </a:cubicBezTo>
                <a:cubicBezTo>
                  <a:pt x="2215" y="3084"/>
                  <a:pt x="2048" y="2941"/>
                  <a:pt x="2048" y="2751"/>
                </a:cubicBezTo>
                <a:cubicBezTo>
                  <a:pt x="2048" y="2560"/>
                  <a:pt x="2203" y="2429"/>
                  <a:pt x="2382" y="2429"/>
                </a:cubicBezTo>
                <a:close/>
                <a:moveTo>
                  <a:pt x="10657" y="2429"/>
                </a:moveTo>
                <a:cubicBezTo>
                  <a:pt x="10835" y="2429"/>
                  <a:pt x="10978" y="2572"/>
                  <a:pt x="10978" y="2751"/>
                </a:cubicBezTo>
                <a:cubicBezTo>
                  <a:pt x="10978" y="2929"/>
                  <a:pt x="10835" y="3084"/>
                  <a:pt x="10657" y="3084"/>
                </a:cubicBezTo>
                <a:cubicBezTo>
                  <a:pt x="10478" y="3084"/>
                  <a:pt x="10323" y="2941"/>
                  <a:pt x="10323" y="2751"/>
                </a:cubicBezTo>
                <a:cubicBezTo>
                  <a:pt x="10323" y="2560"/>
                  <a:pt x="10478" y="2429"/>
                  <a:pt x="10657" y="2429"/>
                </a:cubicBezTo>
                <a:close/>
                <a:moveTo>
                  <a:pt x="2477" y="3441"/>
                </a:moveTo>
                <a:lnTo>
                  <a:pt x="3715" y="6025"/>
                </a:lnTo>
                <a:lnTo>
                  <a:pt x="1024" y="6025"/>
                </a:lnTo>
                <a:lnTo>
                  <a:pt x="2239" y="3441"/>
                </a:lnTo>
                <a:cubicBezTo>
                  <a:pt x="2275" y="3447"/>
                  <a:pt x="2316" y="3450"/>
                  <a:pt x="2358" y="3450"/>
                </a:cubicBezTo>
                <a:cubicBezTo>
                  <a:pt x="2400" y="3450"/>
                  <a:pt x="2441" y="3447"/>
                  <a:pt x="2477" y="3441"/>
                </a:cubicBezTo>
                <a:close/>
                <a:moveTo>
                  <a:pt x="10776" y="3441"/>
                </a:moveTo>
                <a:lnTo>
                  <a:pt x="11990" y="6025"/>
                </a:lnTo>
                <a:lnTo>
                  <a:pt x="9299" y="6025"/>
                </a:lnTo>
                <a:lnTo>
                  <a:pt x="10538" y="3441"/>
                </a:lnTo>
                <a:cubicBezTo>
                  <a:pt x="10573" y="3447"/>
                  <a:pt x="10612" y="3450"/>
                  <a:pt x="10652" y="3450"/>
                </a:cubicBezTo>
                <a:cubicBezTo>
                  <a:pt x="10692" y="3450"/>
                  <a:pt x="10734" y="3447"/>
                  <a:pt x="10776" y="3441"/>
                </a:cubicBezTo>
                <a:close/>
                <a:moveTo>
                  <a:pt x="4251" y="6418"/>
                </a:moveTo>
                <a:cubicBezTo>
                  <a:pt x="4322" y="6418"/>
                  <a:pt x="4382" y="6477"/>
                  <a:pt x="4382" y="6549"/>
                </a:cubicBezTo>
                <a:lnTo>
                  <a:pt x="4382" y="6668"/>
                </a:lnTo>
                <a:cubicBezTo>
                  <a:pt x="4382" y="6739"/>
                  <a:pt x="4322" y="6799"/>
                  <a:pt x="4251" y="6799"/>
                </a:cubicBezTo>
                <a:lnTo>
                  <a:pt x="501" y="6799"/>
                </a:lnTo>
                <a:cubicBezTo>
                  <a:pt x="429" y="6799"/>
                  <a:pt x="370" y="6739"/>
                  <a:pt x="370" y="6668"/>
                </a:cubicBezTo>
                <a:lnTo>
                  <a:pt x="370" y="6549"/>
                </a:lnTo>
                <a:cubicBezTo>
                  <a:pt x="370" y="6477"/>
                  <a:pt x="429" y="6418"/>
                  <a:pt x="501" y="6418"/>
                </a:cubicBezTo>
                <a:close/>
                <a:moveTo>
                  <a:pt x="12526" y="6418"/>
                </a:moveTo>
                <a:cubicBezTo>
                  <a:pt x="12597" y="6418"/>
                  <a:pt x="12657" y="6477"/>
                  <a:pt x="12657" y="6549"/>
                </a:cubicBezTo>
                <a:lnTo>
                  <a:pt x="12657" y="6668"/>
                </a:lnTo>
                <a:cubicBezTo>
                  <a:pt x="12657" y="6739"/>
                  <a:pt x="12597" y="6799"/>
                  <a:pt x="12526" y="6799"/>
                </a:cubicBezTo>
                <a:lnTo>
                  <a:pt x="8775" y="6799"/>
                </a:lnTo>
                <a:cubicBezTo>
                  <a:pt x="8704" y="6799"/>
                  <a:pt x="8644" y="6739"/>
                  <a:pt x="8644" y="6668"/>
                </a:cubicBezTo>
                <a:lnTo>
                  <a:pt x="8644" y="6549"/>
                </a:lnTo>
                <a:cubicBezTo>
                  <a:pt x="8644" y="6477"/>
                  <a:pt x="8704" y="6418"/>
                  <a:pt x="8775" y="6418"/>
                </a:cubicBezTo>
                <a:close/>
                <a:moveTo>
                  <a:pt x="3715" y="7168"/>
                </a:moveTo>
                <a:cubicBezTo>
                  <a:pt x="3525" y="7787"/>
                  <a:pt x="2953" y="8228"/>
                  <a:pt x="2298" y="8228"/>
                </a:cubicBezTo>
                <a:cubicBezTo>
                  <a:pt x="1644" y="8228"/>
                  <a:pt x="1084" y="7799"/>
                  <a:pt x="905" y="7168"/>
                </a:cubicBezTo>
                <a:close/>
                <a:moveTo>
                  <a:pt x="12145" y="7168"/>
                </a:moveTo>
                <a:cubicBezTo>
                  <a:pt x="11942" y="7787"/>
                  <a:pt x="11383" y="8228"/>
                  <a:pt x="10728" y="8228"/>
                </a:cubicBezTo>
                <a:cubicBezTo>
                  <a:pt x="10073" y="8228"/>
                  <a:pt x="9502" y="7799"/>
                  <a:pt x="9323" y="7168"/>
                </a:cubicBezTo>
                <a:close/>
                <a:moveTo>
                  <a:pt x="7942" y="10371"/>
                </a:moveTo>
                <a:cubicBezTo>
                  <a:pt x="8013" y="10371"/>
                  <a:pt x="8073" y="10430"/>
                  <a:pt x="8073" y="10502"/>
                </a:cubicBezTo>
                <a:lnTo>
                  <a:pt x="8073" y="10764"/>
                </a:lnTo>
                <a:lnTo>
                  <a:pt x="4918" y="10764"/>
                </a:lnTo>
                <a:lnTo>
                  <a:pt x="4918" y="10502"/>
                </a:lnTo>
                <a:cubicBezTo>
                  <a:pt x="4918" y="10430"/>
                  <a:pt x="4977" y="10371"/>
                  <a:pt x="5049" y="10371"/>
                </a:cubicBezTo>
                <a:close/>
                <a:moveTo>
                  <a:pt x="6382" y="0"/>
                </a:moveTo>
                <a:cubicBezTo>
                  <a:pt x="6132" y="0"/>
                  <a:pt x="5930" y="203"/>
                  <a:pt x="5930" y="441"/>
                </a:cubicBezTo>
                <a:lnTo>
                  <a:pt x="5930" y="1060"/>
                </a:lnTo>
                <a:cubicBezTo>
                  <a:pt x="5692" y="1251"/>
                  <a:pt x="5549" y="1536"/>
                  <a:pt x="5561" y="1858"/>
                </a:cubicBezTo>
                <a:lnTo>
                  <a:pt x="3703" y="2370"/>
                </a:lnTo>
                <a:cubicBezTo>
                  <a:pt x="3477" y="2429"/>
                  <a:pt x="3251" y="2465"/>
                  <a:pt x="3037" y="2501"/>
                </a:cubicBezTo>
                <a:cubicBezTo>
                  <a:pt x="2929" y="2227"/>
                  <a:pt x="2679" y="2036"/>
                  <a:pt x="2382" y="2036"/>
                </a:cubicBezTo>
                <a:cubicBezTo>
                  <a:pt x="1989" y="2036"/>
                  <a:pt x="1679" y="2346"/>
                  <a:pt x="1679" y="2739"/>
                </a:cubicBezTo>
                <a:cubicBezTo>
                  <a:pt x="1679" y="2941"/>
                  <a:pt x="1763" y="3132"/>
                  <a:pt x="1917" y="3275"/>
                </a:cubicBezTo>
                <a:lnTo>
                  <a:pt x="608" y="6025"/>
                </a:lnTo>
                <a:lnTo>
                  <a:pt x="501" y="6025"/>
                </a:lnTo>
                <a:cubicBezTo>
                  <a:pt x="215" y="6025"/>
                  <a:pt x="1" y="6251"/>
                  <a:pt x="1" y="6525"/>
                </a:cubicBezTo>
                <a:lnTo>
                  <a:pt x="1" y="6644"/>
                </a:lnTo>
                <a:cubicBezTo>
                  <a:pt x="1" y="6930"/>
                  <a:pt x="215" y="7156"/>
                  <a:pt x="501" y="7156"/>
                </a:cubicBezTo>
                <a:cubicBezTo>
                  <a:pt x="691" y="7989"/>
                  <a:pt x="1441" y="8585"/>
                  <a:pt x="2298" y="8585"/>
                </a:cubicBezTo>
                <a:cubicBezTo>
                  <a:pt x="3168" y="8585"/>
                  <a:pt x="3906" y="7978"/>
                  <a:pt x="4108" y="7156"/>
                </a:cubicBezTo>
                <a:lnTo>
                  <a:pt x="4251" y="7156"/>
                </a:lnTo>
                <a:cubicBezTo>
                  <a:pt x="4537" y="7156"/>
                  <a:pt x="4763" y="6930"/>
                  <a:pt x="4763" y="6644"/>
                </a:cubicBezTo>
                <a:lnTo>
                  <a:pt x="4763" y="6525"/>
                </a:lnTo>
                <a:cubicBezTo>
                  <a:pt x="4763" y="6251"/>
                  <a:pt x="4537" y="6025"/>
                  <a:pt x="4251" y="6025"/>
                </a:cubicBezTo>
                <a:lnTo>
                  <a:pt x="4144" y="6025"/>
                </a:lnTo>
                <a:lnTo>
                  <a:pt x="2834" y="3275"/>
                </a:lnTo>
                <a:cubicBezTo>
                  <a:pt x="2953" y="3167"/>
                  <a:pt x="3037" y="3036"/>
                  <a:pt x="3060" y="2870"/>
                </a:cubicBezTo>
                <a:cubicBezTo>
                  <a:pt x="3310" y="2846"/>
                  <a:pt x="3549" y="2798"/>
                  <a:pt x="3787" y="2727"/>
                </a:cubicBezTo>
                <a:lnTo>
                  <a:pt x="5656" y="2215"/>
                </a:lnTo>
                <a:cubicBezTo>
                  <a:pt x="5716" y="2346"/>
                  <a:pt x="5811" y="2453"/>
                  <a:pt x="5918" y="2548"/>
                </a:cubicBezTo>
                <a:lnTo>
                  <a:pt x="5918" y="10002"/>
                </a:lnTo>
                <a:lnTo>
                  <a:pt x="5037" y="10002"/>
                </a:lnTo>
                <a:cubicBezTo>
                  <a:pt x="4763" y="10002"/>
                  <a:pt x="4537" y="10228"/>
                  <a:pt x="4537" y="10502"/>
                </a:cubicBezTo>
                <a:lnTo>
                  <a:pt x="4537" y="10776"/>
                </a:lnTo>
                <a:cubicBezTo>
                  <a:pt x="4299" y="10823"/>
                  <a:pt x="4120" y="11026"/>
                  <a:pt x="4120" y="11276"/>
                </a:cubicBezTo>
                <a:lnTo>
                  <a:pt x="4120" y="11395"/>
                </a:lnTo>
                <a:cubicBezTo>
                  <a:pt x="4120" y="11680"/>
                  <a:pt x="4346" y="11907"/>
                  <a:pt x="4620" y="11907"/>
                </a:cubicBezTo>
                <a:lnTo>
                  <a:pt x="6049" y="11907"/>
                </a:lnTo>
                <a:cubicBezTo>
                  <a:pt x="6156" y="11907"/>
                  <a:pt x="6251" y="11811"/>
                  <a:pt x="6251" y="11704"/>
                </a:cubicBezTo>
                <a:cubicBezTo>
                  <a:pt x="6251" y="11609"/>
                  <a:pt x="6156" y="11514"/>
                  <a:pt x="6049" y="11514"/>
                </a:cubicBezTo>
                <a:lnTo>
                  <a:pt x="4620" y="11514"/>
                </a:lnTo>
                <a:cubicBezTo>
                  <a:pt x="4549" y="11514"/>
                  <a:pt x="4489" y="11454"/>
                  <a:pt x="4489" y="11383"/>
                </a:cubicBezTo>
                <a:lnTo>
                  <a:pt x="4489" y="11264"/>
                </a:lnTo>
                <a:cubicBezTo>
                  <a:pt x="4489" y="11192"/>
                  <a:pt x="4549" y="11133"/>
                  <a:pt x="4620" y="11133"/>
                </a:cubicBezTo>
                <a:lnTo>
                  <a:pt x="8371" y="11133"/>
                </a:lnTo>
                <a:cubicBezTo>
                  <a:pt x="8454" y="11133"/>
                  <a:pt x="8513" y="11192"/>
                  <a:pt x="8513" y="11264"/>
                </a:cubicBezTo>
                <a:lnTo>
                  <a:pt x="8513" y="11383"/>
                </a:lnTo>
                <a:cubicBezTo>
                  <a:pt x="8513" y="11454"/>
                  <a:pt x="8454" y="11514"/>
                  <a:pt x="8371" y="11514"/>
                </a:cubicBezTo>
                <a:lnTo>
                  <a:pt x="6930" y="11514"/>
                </a:lnTo>
                <a:cubicBezTo>
                  <a:pt x="6823" y="11514"/>
                  <a:pt x="6739" y="11609"/>
                  <a:pt x="6739" y="11704"/>
                </a:cubicBezTo>
                <a:cubicBezTo>
                  <a:pt x="6739" y="11811"/>
                  <a:pt x="6823" y="11907"/>
                  <a:pt x="6930" y="11907"/>
                </a:cubicBezTo>
                <a:lnTo>
                  <a:pt x="8371" y="11907"/>
                </a:lnTo>
                <a:cubicBezTo>
                  <a:pt x="8656" y="11907"/>
                  <a:pt x="8883" y="11680"/>
                  <a:pt x="8883" y="11395"/>
                </a:cubicBezTo>
                <a:lnTo>
                  <a:pt x="8883" y="11276"/>
                </a:lnTo>
                <a:cubicBezTo>
                  <a:pt x="8883" y="11026"/>
                  <a:pt x="8692" y="10799"/>
                  <a:pt x="8454" y="10776"/>
                </a:cubicBezTo>
                <a:lnTo>
                  <a:pt x="8454" y="10502"/>
                </a:lnTo>
                <a:cubicBezTo>
                  <a:pt x="8454" y="10228"/>
                  <a:pt x="8228" y="10002"/>
                  <a:pt x="7942" y="10002"/>
                </a:cubicBezTo>
                <a:lnTo>
                  <a:pt x="7061" y="10002"/>
                </a:lnTo>
                <a:lnTo>
                  <a:pt x="7061" y="7049"/>
                </a:lnTo>
                <a:cubicBezTo>
                  <a:pt x="7061" y="6954"/>
                  <a:pt x="6978" y="6858"/>
                  <a:pt x="6870" y="6858"/>
                </a:cubicBezTo>
                <a:cubicBezTo>
                  <a:pt x="6763" y="6858"/>
                  <a:pt x="6680" y="6954"/>
                  <a:pt x="6680" y="7049"/>
                </a:cubicBezTo>
                <a:lnTo>
                  <a:pt x="6680" y="10002"/>
                </a:lnTo>
                <a:lnTo>
                  <a:pt x="6311" y="10002"/>
                </a:lnTo>
                <a:lnTo>
                  <a:pt x="6311" y="2727"/>
                </a:lnTo>
                <a:cubicBezTo>
                  <a:pt x="6370" y="2739"/>
                  <a:pt x="6430" y="2745"/>
                  <a:pt x="6491" y="2745"/>
                </a:cubicBezTo>
                <a:cubicBezTo>
                  <a:pt x="6552" y="2745"/>
                  <a:pt x="6614" y="2739"/>
                  <a:pt x="6680" y="2727"/>
                </a:cubicBezTo>
                <a:lnTo>
                  <a:pt x="6680" y="6156"/>
                </a:lnTo>
                <a:cubicBezTo>
                  <a:pt x="6680" y="6263"/>
                  <a:pt x="6763" y="6358"/>
                  <a:pt x="6870" y="6358"/>
                </a:cubicBezTo>
                <a:cubicBezTo>
                  <a:pt x="6978" y="6358"/>
                  <a:pt x="7061" y="6263"/>
                  <a:pt x="7061" y="6156"/>
                </a:cubicBezTo>
                <a:lnTo>
                  <a:pt x="7061" y="2548"/>
                </a:lnTo>
                <a:cubicBezTo>
                  <a:pt x="7180" y="2453"/>
                  <a:pt x="7275" y="2346"/>
                  <a:pt x="7335" y="2215"/>
                </a:cubicBezTo>
                <a:lnTo>
                  <a:pt x="9228" y="2739"/>
                </a:lnTo>
                <a:cubicBezTo>
                  <a:pt x="9466" y="2798"/>
                  <a:pt x="9716" y="2858"/>
                  <a:pt x="9954" y="2882"/>
                </a:cubicBezTo>
                <a:cubicBezTo>
                  <a:pt x="9978" y="3048"/>
                  <a:pt x="10073" y="3179"/>
                  <a:pt x="10180" y="3287"/>
                </a:cubicBezTo>
                <a:lnTo>
                  <a:pt x="8871" y="6037"/>
                </a:lnTo>
                <a:lnTo>
                  <a:pt x="8764" y="6037"/>
                </a:lnTo>
                <a:cubicBezTo>
                  <a:pt x="8478" y="6037"/>
                  <a:pt x="8252" y="6263"/>
                  <a:pt x="8252" y="6549"/>
                </a:cubicBezTo>
                <a:lnTo>
                  <a:pt x="8252" y="6668"/>
                </a:lnTo>
                <a:cubicBezTo>
                  <a:pt x="8252" y="6954"/>
                  <a:pt x="8478" y="7168"/>
                  <a:pt x="8764" y="7168"/>
                </a:cubicBezTo>
                <a:lnTo>
                  <a:pt x="8906" y="7168"/>
                </a:lnTo>
                <a:cubicBezTo>
                  <a:pt x="9109" y="8001"/>
                  <a:pt x="9847" y="8597"/>
                  <a:pt x="10716" y="8597"/>
                </a:cubicBezTo>
                <a:cubicBezTo>
                  <a:pt x="11573" y="8597"/>
                  <a:pt x="12323" y="7989"/>
                  <a:pt x="12514" y="7168"/>
                </a:cubicBezTo>
                <a:cubicBezTo>
                  <a:pt x="12800" y="7168"/>
                  <a:pt x="13014" y="6954"/>
                  <a:pt x="13014" y="6668"/>
                </a:cubicBezTo>
                <a:lnTo>
                  <a:pt x="13014" y="6549"/>
                </a:lnTo>
                <a:cubicBezTo>
                  <a:pt x="13038" y="6263"/>
                  <a:pt x="12812" y="6025"/>
                  <a:pt x="12526" y="6025"/>
                </a:cubicBezTo>
                <a:lnTo>
                  <a:pt x="12419" y="6025"/>
                </a:lnTo>
                <a:lnTo>
                  <a:pt x="11109" y="3275"/>
                </a:lnTo>
                <a:cubicBezTo>
                  <a:pt x="11264" y="3144"/>
                  <a:pt x="11347" y="2965"/>
                  <a:pt x="11347" y="2739"/>
                </a:cubicBezTo>
                <a:cubicBezTo>
                  <a:pt x="11347" y="2346"/>
                  <a:pt x="11038" y="2036"/>
                  <a:pt x="10657" y="2036"/>
                </a:cubicBezTo>
                <a:cubicBezTo>
                  <a:pt x="10359" y="2036"/>
                  <a:pt x="10097" y="2227"/>
                  <a:pt x="10002" y="2501"/>
                </a:cubicBezTo>
                <a:cubicBezTo>
                  <a:pt x="9776" y="2465"/>
                  <a:pt x="9549" y="2429"/>
                  <a:pt x="9323" y="2370"/>
                </a:cubicBezTo>
                <a:lnTo>
                  <a:pt x="7442" y="1846"/>
                </a:lnTo>
                <a:cubicBezTo>
                  <a:pt x="7454" y="1536"/>
                  <a:pt x="7323" y="1239"/>
                  <a:pt x="7061" y="1060"/>
                </a:cubicBezTo>
                <a:lnTo>
                  <a:pt x="7061" y="441"/>
                </a:lnTo>
                <a:cubicBezTo>
                  <a:pt x="7061" y="191"/>
                  <a:pt x="6859" y="0"/>
                  <a:pt x="6620" y="0"/>
                </a:cubicBez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138E99FE-E532-E961-EDAE-AF8AC4E71ACD}"/>
              </a:ext>
            </a:extLst>
          </p:cNvPr>
          <p:cNvSpPr txBox="1"/>
          <p:nvPr/>
        </p:nvSpPr>
        <p:spPr>
          <a:xfrm>
            <a:off x="125361" y="2834953"/>
            <a:ext cx="4173794" cy="954107"/>
          </a:xfrm>
          <a:prstGeom prst="rect">
            <a:avLst/>
          </a:prstGeom>
          <a:noFill/>
        </p:spPr>
        <p:txBody>
          <a:bodyPr wrap="square" rtlCol="0">
            <a:spAutoFit/>
          </a:bodyPr>
          <a:lstStyle/>
          <a:p>
            <a:pPr algn="r" rtl="1"/>
            <a:r>
              <a:rPr lang="fa-IR" dirty="0">
                <a:solidFill>
                  <a:schemeClr val="bg1"/>
                </a:solidFill>
                <a:cs typeface="B Nazanin" panose="00000400000000000000" pitchFamily="2" charset="-78"/>
              </a:rPr>
              <a:t>یعنی قيمت زمین، يك سال قبل از تاريخ اعلام تصميم دولت. </a:t>
            </a:r>
          </a:p>
          <a:p>
            <a:pPr algn="r" rtl="1"/>
            <a:r>
              <a:rPr lang="fa-IR" dirty="0">
                <a:solidFill>
                  <a:schemeClr val="bg1"/>
                </a:solidFill>
                <a:cs typeface="B Nazanin" panose="00000400000000000000" pitchFamily="2" charset="-78"/>
              </a:rPr>
              <a:t>اگر اين قیمت از بهاي روز بيشتر باشد قيمت عادله روز ملاك عمل قرار خواهد گرفت. بهاي عادله بدون در نظر گرفتن دلیل خرید و تأثير اجراي برنامه ی شهرسازي و خانه سازي در قيمت ها خواهد بود.</a:t>
            </a:r>
            <a:endParaRPr lang="en-US" dirty="0">
              <a:solidFill>
                <a:schemeClr val="bg1"/>
              </a:solidFill>
              <a:cs typeface="B Nazanin" panose="00000400000000000000" pitchFamily="2" charset="-78"/>
            </a:endParaRPr>
          </a:p>
        </p:txBody>
      </p:sp>
    </p:spTree>
    <p:extLst>
      <p:ext uri="{BB962C8B-B14F-4D97-AF65-F5344CB8AC3E}">
        <p14:creationId xmlns:p14="http://schemas.microsoft.com/office/powerpoint/2010/main" val="4079533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636" name="Rectangle 635">
            <a:extLst>
              <a:ext uri="{FF2B5EF4-FFF2-40B4-BE49-F238E27FC236}">
                <a16:creationId xmlns:a16="http://schemas.microsoft.com/office/drawing/2014/main" id="{878866A5-3C84-9E92-CE07-011A5E115147}"/>
              </a:ext>
            </a:extLst>
          </p:cNvPr>
          <p:cNvSpPr/>
          <p:nvPr/>
        </p:nvSpPr>
        <p:spPr>
          <a:xfrm>
            <a:off x="-247133" y="-72330"/>
            <a:ext cx="4814843" cy="552620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grpSp>
        <p:nvGrpSpPr>
          <p:cNvPr id="599" name="Google Shape;599;p47"/>
          <p:cNvGrpSpPr/>
          <p:nvPr/>
        </p:nvGrpSpPr>
        <p:grpSpPr>
          <a:xfrm>
            <a:off x="5144372" y="321819"/>
            <a:ext cx="3216745" cy="2013314"/>
            <a:chOff x="-643306" y="0"/>
            <a:chExt cx="8577985" cy="5368801"/>
          </a:xfrm>
        </p:grpSpPr>
        <p:sp>
          <p:nvSpPr>
            <p:cNvPr id="600" name="Google Shape;600;p47"/>
            <p:cNvSpPr txBox="1"/>
            <p:nvPr/>
          </p:nvSpPr>
          <p:spPr>
            <a:xfrm>
              <a:off x="-643306" y="0"/>
              <a:ext cx="8574734" cy="984879"/>
            </a:xfrm>
            <a:prstGeom prst="rect">
              <a:avLst/>
            </a:prstGeom>
            <a:noFill/>
            <a:ln>
              <a:noFill/>
            </a:ln>
          </p:spPr>
          <p:txBody>
            <a:bodyPr spcFirstLastPara="1" wrap="square" lIns="0" tIns="0" rIns="0" bIns="0" anchor="t" anchorCtr="0">
              <a:spAutoFit/>
            </a:bodyPr>
            <a:lstStyle/>
            <a:p>
              <a:pPr marL="0" marR="0" lvl="0" indent="0" algn="ctr" rtl="1">
                <a:lnSpc>
                  <a:spcPct val="120000"/>
                </a:lnSpc>
                <a:spcBef>
                  <a:spcPts val="0"/>
                </a:spcBef>
                <a:spcAft>
                  <a:spcPts val="0"/>
                </a:spcAft>
                <a:buNone/>
              </a:pPr>
              <a:r>
                <a:rPr lang="fa-IR" sz="2000" b="1" i="0" u="none" strike="noStrike" cap="none" dirty="0">
                  <a:solidFill>
                    <a:schemeClr val="tx1"/>
                  </a:solidFill>
                  <a:latin typeface="Open Sans"/>
                  <a:ea typeface="Open Sans"/>
                  <a:cs typeface="B Nazanin" panose="00000700000000000000" pitchFamily="2" charset="-78"/>
                  <a:sym typeface="Open Sans"/>
                </a:rPr>
                <a:t>بهای عادله چیست؟</a:t>
              </a:r>
              <a:endParaRPr lang="fa-IR" sz="400" b="1" dirty="0">
                <a:solidFill>
                  <a:schemeClr val="tx1"/>
                </a:solidFill>
                <a:latin typeface="Open Sans"/>
                <a:ea typeface="Open Sans"/>
                <a:cs typeface="B Nazanin" panose="00000700000000000000" pitchFamily="2" charset="-78"/>
                <a:sym typeface="Open Sans"/>
              </a:endParaRPr>
            </a:p>
          </p:txBody>
        </p:sp>
        <p:sp>
          <p:nvSpPr>
            <p:cNvPr id="601" name="Google Shape;601;p47"/>
            <p:cNvSpPr txBox="1"/>
            <p:nvPr/>
          </p:nvSpPr>
          <p:spPr>
            <a:xfrm>
              <a:off x="-21" y="4219769"/>
              <a:ext cx="7934700" cy="1149032"/>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fa-IR" sz="1000" i="0" u="none" strike="noStrike" cap="none" dirty="0">
                  <a:solidFill>
                    <a:srgbClr val="FFFFFC"/>
                  </a:solidFill>
                  <a:latin typeface="Open Sans"/>
                  <a:ea typeface="Open Sans"/>
                  <a:cs typeface="B Nazanin" panose="00000700000000000000" pitchFamily="2" charset="-78"/>
                  <a:sym typeface="Open Sans"/>
                </a:rPr>
                <a:t>عنوان: </a:t>
              </a:r>
              <a:r>
                <a:rPr lang="en-US" sz="1000" i="0" u="none" strike="noStrike" cap="none" dirty="0">
                  <a:solidFill>
                    <a:srgbClr val="FFFFFC"/>
                  </a:solidFill>
                  <a:latin typeface="Open Sans"/>
                  <a:ea typeface="Open Sans"/>
                  <a:cs typeface="B Nazanin" panose="00000700000000000000" pitchFamily="2" charset="-78"/>
                  <a:sym typeface="Open Sans"/>
                </a:rPr>
                <a:t>Open Sans Bold</a:t>
              </a:r>
              <a:r>
                <a:rPr lang="fa-IR" sz="1000" i="0" u="none" strike="noStrike" cap="none" dirty="0">
                  <a:solidFill>
                    <a:srgbClr val="FFFFFC"/>
                  </a:solidFill>
                  <a:latin typeface="Open Sans"/>
                  <a:ea typeface="Open Sans"/>
                  <a:cs typeface="B Nazanin" panose="00000700000000000000" pitchFamily="2" charset="-78"/>
                  <a:sym typeface="Open Sans"/>
                </a:rPr>
                <a:t>سرصفحه ها: </a:t>
              </a:r>
              <a:r>
                <a:rPr lang="en-US" sz="1000" i="0" u="none" strike="noStrike" cap="none" dirty="0">
                  <a:solidFill>
                    <a:srgbClr val="FFFFFC"/>
                  </a:solidFill>
                  <a:latin typeface="Open Sans"/>
                  <a:ea typeface="Open Sans"/>
                  <a:cs typeface="B Nazanin" panose="00000700000000000000" pitchFamily="2" charset="-78"/>
                  <a:sym typeface="Open Sans"/>
                </a:rPr>
                <a:t>Open </a:t>
              </a:r>
              <a:r>
                <a:rPr lang="en-US" sz="1000" i="0" u="none" strike="noStrike" cap="none" dirty="0" err="1">
                  <a:solidFill>
                    <a:srgbClr val="FFFFFC"/>
                  </a:solidFill>
                  <a:latin typeface="Open Sans"/>
                  <a:ea typeface="Open Sans"/>
                  <a:cs typeface="B Nazanin" panose="00000700000000000000" pitchFamily="2" charset="-78"/>
                  <a:sym typeface="Open Sans"/>
                </a:rPr>
                <a:t>SansBody</a:t>
              </a:r>
              <a:r>
                <a:rPr lang="en-US" sz="1000" i="0" u="none" strike="noStrike" cap="none" dirty="0">
                  <a:solidFill>
                    <a:srgbClr val="FFFFFC"/>
                  </a:solidFill>
                  <a:latin typeface="Open Sans"/>
                  <a:ea typeface="Open Sans"/>
                  <a:cs typeface="B Nazanin" panose="00000700000000000000" pitchFamily="2" charset="-78"/>
                  <a:sym typeface="Open Sans"/>
                </a:rPr>
                <a:t> Copy: Open Sans</a:t>
              </a:r>
              <a:endParaRPr sz="700" dirty="0">
                <a:latin typeface="Open Sans"/>
                <a:ea typeface="Open Sans"/>
                <a:cs typeface="B Nazanin" panose="00000700000000000000" pitchFamily="2" charset="-78"/>
                <a:sym typeface="Open Sans"/>
              </a:endParaRPr>
            </a:p>
          </p:txBody>
        </p:sp>
      </p:grpSp>
      <p:cxnSp>
        <p:nvCxnSpPr>
          <p:cNvPr id="604" name="Google Shape;604;p47"/>
          <p:cNvCxnSpPr>
            <a:cxnSpLocks/>
          </p:cNvCxnSpPr>
          <p:nvPr/>
        </p:nvCxnSpPr>
        <p:spPr>
          <a:xfrm>
            <a:off x="5889764" y="1156328"/>
            <a:ext cx="3626382" cy="0"/>
          </a:xfrm>
          <a:prstGeom prst="straightConnector1">
            <a:avLst/>
          </a:prstGeom>
          <a:ln>
            <a:headEnd type="none" w="sm" len="sm"/>
            <a:tailEnd type="none" w="sm" len="sm"/>
          </a:ln>
        </p:spPr>
        <p:style>
          <a:lnRef idx="1">
            <a:schemeClr val="dk1"/>
          </a:lnRef>
          <a:fillRef idx="0">
            <a:schemeClr val="dk1"/>
          </a:fillRef>
          <a:effectRef idx="0">
            <a:schemeClr val="dk1"/>
          </a:effectRef>
          <a:fontRef idx="minor">
            <a:schemeClr val="tx1"/>
          </a:fontRef>
        </p:style>
      </p:cxnSp>
      <p:cxnSp>
        <p:nvCxnSpPr>
          <p:cNvPr id="605" name="Google Shape;605;p47"/>
          <p:cNvCxnSpPr/>
          <p:nvPr/>
        </p:nvCxnSpPr>
        <p:spPr>
          <a:xfrm rot="5400000">
            <a:off x="-263387" y="-244188"/>
            <a:ext cx="3626382" cy="0"/>
          </a:xfrm>
          <a:prstGeom prst="straightConnector1">
            <a:avLst/>
          </a:prstGeom>
          <a:ln>
            <a:headEnd type="none" w="sm" len="sm"/>
            <a:tailEnd type="none" w="sm" len="sm"/>
          </a:ln>
        </p:spPr>
        <p:style>
          <a:lnRef idx="1">
            <a:schemeClr val="dk1"/>
          </a:lnRef>
          <a:fillRef idx="0">
            <a:schemeClr val="dk1"/>
          </a:fillRef>
          <a:effectRef idx="0">
            <a:schemeClr val="dk1"/>
          </a:effectRef>
          <a:fontRef idx="minor">
            <a:schemeClr val="tx1"/>
          </a:fontRef>
        </p:style>
      </p:cxnSp>
      <p:grpSp>
        <p:nvGrpSpPr>
          <p:cNvPr id="606" name="Google Shape;606;p47"/>
          <p:cNvGrpSpPr/>
          <p:nvPr/>
        </p:nvGrpSpPr>
        <p:grpSpPr>
          <a:xfrm>
            <a:off x="8837359" y="-72330"/>
            <a:ext cx="1543051" cy="5808473"/>
            <a:chOff x="0" y="-38100"/>
            <a:chExt cx="812800" cy="3059607"/>
          </a:xfrm>
        </p:grpSpPr>
        <p:sp>
          <p:nvSpPr>
            <p:cNvPr id="607" name="Google Shape;607;p47"/>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endParaRPr lang="en-US"/>
            </a:p>
          </p:txBody>
        </p:sp>
        <p:sp>
          <p:nvSpPr>
            <p:cNvPr id="608" name="Google Shape;608;p47"/>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609" name="Google Shape;609;p47"/>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sp>
        <p:nvSpPr>
          <p:cNvPr id="2" name="Google Shape;9788;p78">
            <a:extLst>
              <a:ext uri="{FF2B5EF4-FFF2-40B4-BE49-F238E27FC236}">
                <a16:creationId xmlns:a16="http://schemas.microsoft.com/office/drawing/2014/main" id="{7BA08617-5BDE-7A76-E421-D77BF027A59B}"/>
              </a:ext>
            </a:extLst>
          </p:cNvPr>
          <p:cNvSpPr/>
          <p:nvPr/>
        </p:nvSpPr>
        <p:spPr>
          <a:xfrm>
            <a:off x="6292220" y="3286450"/>
            <a:ext cx="1859547" cy="1698238"/>
          </a:xfrm>
          <a:custGeom>
            <a:avLst/>
            <a:gdLst/>
            <a:ahLst/>
            <a:cxnLst/>
            <a:rect l="l" t="t" r="r" b="b"/>
            <a:pathLst>
              <a:path w="13038" h="11907" extrusionOk="0">
                <a:moveTo>
                  <a:pt x="6632" y="369"/>
                </a:moveTo>
                <a:cubicBezTo>
                  <a:pt x="6680" y="369"/>
                  <a:pt x="6704" y="405"/>
                  <a:pt x="6704" y="441"/>
                </a:cubicBezTo>
                <a:lnTo>
                  <a:pt x="6704" y="881"/>
                </a:lnTo>
                <a:cubicBezTo>
                  <a:pt x="6644" y="864"/>
                  <a:pt x="6582" y="855"/>
                  <a:pt x="6519" y="855"/>
                </a:cubicBezTo>
                <a:cubicBezTo>
                  <a:pt x="6457" y="855"/>
                  <a:pt x="6394" y="864"/>
                  <a:pt x="6335" y="881"/>
                </a:cubicBezTo>
                <a:lnTo>
                  <a:pt x="6335" y="441"/>
                </a:lnTo>
                <a:lnTo>
                  <a:pt x="6323" y="441"/>
                </a:lnTo>
                <a:cubicBezTo>
                  <a:pt x="6323" y="405"/>
                  <a:pt x="6347" y="369"/>
                  <a:pt x="6394" y="369"/>
                </a:cubicBezTo>
                <a:close/>
                <a:moveTo>
                  <a:pt x="6501" y="1251"/>
                </a:moveTo>
                <a:cubicBezTo>
                  <a:pt x="7061" y="1251"/>
                  <a:pt x="7275" y="2013"/>
                  <a:pt x="6763" y="2286"/>
                </a:cubicBezTo>
                <a:cubicBezTo>
                  <a:pt x="6692" y="2322"/>
                  <a:pt x="6585" y="2346"/>
                  <a:pt x="6501" y="2346"/>
                </a:cubicBezTo>
                <a:cubicBezTo>
                  <a:pt x="6204" y="2346"/>
                  <a:pt x="5954" y="2096"/>
                  <a:pt x="5954" y="1798"/>
                </a:cubicBezTo>
                <a:cubicBezTo>
                  <a:pt x="5954" y="1489"/>
                  <a:pt x="6204" y="1251"/>
                  <a:pt x="6501" y="1251"/>
                </a:cubicBezTo>
                <a:close/>
                <a:moveTo>
                  <a:pt x="2382" y="2429"/>
                </a:moveTo>
                <a:cubicBezTo>
                  <a:pt x="2560" y="2429"/>
                  <a:pt x="2703" y="2572"/>
                  <a:pt x="2703" y="2751"/>
                </a:cubicBezTo>
                <a:cubicBezTo>
                  <a:pt x="2703" y="2929"/>
                  <a:pt x="2560" y="3084"/>
                  <a:pt x="2382" y="3084"/>
                </a:cubicBezTo>
                <a:cubicBezTo>
                  <a:pt x="2215" y="3084"/>
                  <a:pt x="2048" y="2941"/>
                  <a:pt x="2048" y="2751"/>
                </a:cubicBezTo>
                <a:cubicBezTo>
                  <a:pt x="2048" y="2560"/>
                  <a:pt x="2203" y="2429"/>
                  <a:pt x="2382" y="2429"/>
                </a:cubicBezTo>
                <a:close/>
                <a:moveTo>
                  <a:pt x="10657" y="2429"/>
                </a:moveTo>
                <a:cubicBezTo>
                  <a:pt x="10835" y="2429"/>
                  <a:pt x="10978" y="2572"/>
                  <a:pt x="10978" y="2751"/>
                </a:cubicBezTo>
                <a:cubicBezTo>
                  <a:pt x="10978" y="2929"/>
                  <a:pt x="10835" y="3084"/>
                  <a:pt x="10657" y="3084"/>
                </a:cubicBezTo>
                <a:cubicBezTo>
                  <a:pt x="10478" y="3084"/>
                  <a:pt x="10323" y="2941"/>
                  <a:pt x="10323" y="2751"/>
                </a:cubicBezTo>
                <a:cubicBezTo>
                  <a:pt x="10323" y="2560"/>
                  <a:pt x="10478" y="2429"/>
                  <a:pt x="10657" y="2429"/>
                </a:cubicBezTo>
                <a:close/>
                <a:moveTo>
                  <a:pt x="2477" y="3441"/>
                </a:moveTo>
                <a:lnTo>
                  <a:pt x="3715" y="6025"/>
                </a:lnTo>
                <a:lnTo>
                  <a:pt x="1024" y="6025"/>
                </a:lnTo>
                <a:lnTo>
                  <a:pt x="2239" y="3441"/>
                </a:lnTo>
                <a:cubicBezTo>
                  <a:pt x="2275" y="3447"/>
                  <a:pt x="2316" y="3450"/>
                  <a:pt x="2358" y="3450"/>
                </a:cubicBezTo>
                <a:cubicBezTo>
                  <a:pt x="2400" y="3450"/>
                  <a:pt x="2441" y="3447"/>
                  <a:pt x="2477" y="3441"/>
                </a:cubicBezTo>
                <a:close/>
                <a:moveTo>
                  <a:pt x="10776" y="3441"/>
                </a:moveTo>
                <a:lnTo>
                  <a:pt x="11990" y="6025"/>
                </a:lnTo>
                <a:lnTo>
                  <a:pt x="9299" y="6025"/>
                </a:lnTo>
                <a:lnTo>
                  <a:pt x="10538" y="3441"/>
                </a:lnTo>
                <a:cubicBezTo>
                  <a:pt x="10573" y="3447"/>
                  <a:pt x="10612" y="3450"/>
                  <a:pt x="10652" y="3450"/>
                </a:cubicBezTo>
                <a:cubicBezTo>
                  <a:pt x="10692" y="3450"/>
                  <a:pt x="10734" y="3447"/>
                  <a:pt x="10776" y="3441"/>
                </a:cubicBezTo>
                <a:close/>
                <a:moveTo>
                  <a:pt x="4251" y="6418"/>
                </a:moveTo>
                <a:cubicBezTo>
                  <a:pt x="4322" y="6418"/>
                  <a:pt x="4382" y="6477"/>
                  <a:pt x="4382" y="6549"/>
                </a:cubicBezTo>
                <a:lnTo>
                  <a:pt x="4382" y="6668"/>
                </a:lnTo>
                <a:cubicBezTo>
                  <a:pt x="4382" y="6739"/>
                  <a:pt x="4322" y="6799"/>
                  <a:pt x="4251" y="6799"/>
                </a:cubicBezTo>
                <a:lnTo>
                  <a:pt x="501" y="6799"/>
                </a:lnTo>
                <a:cubicBezTo>
                  <a:pt x="429" y="6799"/>
                  <a:pt x="370" y="6739"/>
                  <a:pt x="370" y="6668"/>
                </a:cubicBezTo>
                <a:lnTo>
                  <a:pt x="370" y="6549"/>
                </a:lnTo>
                <a:cubicBezTo>
                  <a:pt x="370" y="6477"/>
                  <a:pt x="429" y="6418"/>
                  <a:pt x="501" y="6418"/>
                </a:cubicBezTo>
                <a:close/>
                <a:moveTo>
                  <a:pt x="12526" y="6418"/>
                </a:moveTo>
                <a:cubicBezTo>
                  <a:pt x="12597" y="6418"/>
                  <a:pt x="12657" y="6477"/>
                  <a:pt x="12657" y="6549"/>
                </a:cubicBezTo>
                <a:lnTo>
                  <a:pt x="12657" y="6668"/>
                </a:lnTo>
                <a:cubicBezTo>
                  <a:pt x="12657" y="6739"/>
                  <a:pt x="12597" y="6799"/>
                  <a:pt x="12526" y="6799"/>
                </a:cubicBezTo>
                <a:lnTo>
                  <a:pt x="8775" y="6799"/>
                </a:lnTo>
                <a:cubicBezTo>
                  <a:pt x="8704" y="6799"/>
                  <a:pt x="8644" y="6739"/>
                  <a:pt x="8644" y="6668"/>
                </a:cubicBezTo>
                <a:lnTo>
                  <a:pt x="8644" y="6549"/>
                </a:lnTo>
                <a:cubicBezTo>
                  <a:pt x="8644" y="6477"/>
                  <a:pt x="8704" y="6418"/>
                  <a:pt x="8775" y="6418"/>
                </a:cubicBezTo>
                <a:close/>
                <a:moveTo>
                  <a:pt x="3715" y="7168"/>
                </a:moveTo>
                <a:cubicBezTo>
                  <a:pt x="3525" y="7787"/>
                  <a:pt x="2953" y="8228"/>
                  <a:pt x="2298" y="8228"/>
                </a:cubicBezTo>
                <a:cubicBezTo>
                  <a:pt x="1644" y="8228"/>
                  <a:pt x="1084" y="7799"/>
                  <a:pt x="905" y="7168"/>
                </a:cubicBezTo>
                <a:close/>
                <a:moveTo>
                  <a:pt x="12145" y="7168"/>
                </a:moveTo>
                <a:cubicBezTo>
                  <a:pt x="11942" y="7787"/>
                  <a:pt x="11383" y="8228"/>
                  <a:pt x="10728" y="8228"/>
                </a:cubicBezTo>
                <a:cubicBezTo>
                  <a:pt x="10073" y="8228"/>
                  <a:pt x="9502" y="7799"/>
                  <a:pt x="9323" y="7168"/>
                </a:cubicBezTo>
                <a:close/>
                <a:moveTo>
                  <a:pt x="7942" y="10371"/>
                </a:moveTo>
                <a:cubicBezTo>
                  <a:pt x="8013" y="10371"/>
                  <a:pt x="8073" y="10430"/>
                  <a:pt x="8073" y="10502"/>
                </a:cubicBezTo>
                <a:lnTo>
                  <a:pt x="8073" y="10764"/>
                </a:lnTo>
                <a:lnTo>
                  <a:pt x="4918" y="10764"/>
                </a:lnTo>
                <a:lnTo>
                  <a:pt x="4918" y="10502"/>
                </a:lnTo>
                <a:cubicBezTo>
                  <a:pt x="4918" y="10430"/>
                  <a:pt x="4977" y="10371"/>
                  <a:pt x="5049" y="10371"/>
                </a:cubicBezTo>
                <a:close/>
                <a:moveTo>
                  <a:pt x="6382" y="0"/>
                </a:moveTo>
                <a:cubicBezTo>
                  <a:pt x="6132" y="0"/>
                  <a:pt x="5930" y="203"/>
                  <a:pt x="5930" y="441"/>
                </a:cubicBezTo>
                <a:lnTo>
                  <a:pt x="5930" y="1060"/>
                </a:lnTo>
                <a:cubicBezTo>
                  <a:pt x="5692" y="1251"/>
                  <a:pt x="5549" y="1536"/>
                  <a:pt x="5561" y="1858"/>
                </a:cubicBezTo>
                <a:lnTo>
                  <a:pt x="3703" y="2370"/>
                </a:lnTo>
                <a:cubicBezTo>
                  <a:pt x="3477" y="2429"/>
                  <a:pt x="3251" y="2465"/>
                  <a:pt x="3037" y="2501"/>
                </a:cubicBezTo>
                <a:cubicBezTo>
                  <a:pt x="2929" y="2227"/>
                  <a:pt x="2679" y="2036"/>
                  <a:pt x="2382" y="2036"/>
                </a:cubicBezTo>
                <a:cubicBezTo>
                  <a:pt x="1989" y="2036"/>
                  <a:pt x="1679" y="2346"/>
                  <a:pt x="1679" y="2739"/>
                </a:cubicBezTo>
                <a:cubicBezTo>
                  <a:pt x="1679" y="2941"/>
                  <a:pt x="1763" y="3132"/>
                  <a:pt x="1917" y="3275"/>
                </a:cubicBezTo>
                <a:lnTo>
                  <a:pt x="608" y="6025"/>
                </a:lnTo>
                <a:lnTo>
                  <a:pt x="501" y="6025"/>
                </a:lnTo>
                <a:cubicBezTo>
                  <a:pt x="215" y="6025"/>
                  <a:pt x="1" y="6251"/>
                  <a:pt x="1" y="6525"/>
                </a:cubicBezTo>
                <a:lnTo>
                  <a:pt x="1" y="6644"/>
                </a:lnTo>
                <a:cubicBezTo>
                  <a:pt x="1" y="6930"/>
                  <a:pt x="215" y="7156"/>
                  <a:pt x="501" y="7156"/>
                </a:cubicBezTo>
                <a:cubicBezTo>
                  <a:pt x="691" y="7989"/>
                  <a:pt x="1441" y="8585"/>
                  <a:pt x="2298" y="8585"/>
                </a:cubicBezTo>
                <a:cubicBezTo>
                  <a:pt x="3168" y="8585"/>
                  <a:pt x="3906" y="7978"/>
                  <a:pt x="4108" y="7156"/>
                </a:cubicBezTo>
                <a:lnTo>
                  <a:pt x="4251" y="7156"/>
                </a:lnTo>
                <a:cubicBezTo>
                  <a:pt x="4537" y="7156"/>
                  <a:pt x="4763" y="6930"/>
                  <a:pt x="4763" y="6644"/>
                </a:cubicBezTo>
                <a:lnTo>
                  <a:pt x="4763" y="6525"/>
                </a:lnTo>
                <a:cubicBezTo>
                  <a:pt x="4763" y="6251"/>
                  <a:pt x="4537" y="6025"/>
                  <a:pt x="4251" y="6025"/>
                </a:cubicBezTo>
                <a:lnTo>
                  <a:pt x="4144" y="6025"/>
                </a:lnTo>
                <a:lnTo>
                  <a:pt x="2834" y="3275"/>
                </a:lnTo>
                <a:cubicBezTo>
                  <a:pt x="2953" y="3167"/>
                  <a:pt x="3037" y="3036"/>
                  <a:pt x="3060" y="2870"/>
                </a:cubicBezTo>
                <a:cubicBezTo>
                  <a:pt x="3310" y="2846"/>
                  <a:pt x="3549" y="2798"/>
                  <a:pt x="3787" y="2727"/>
                </a:cubicBezTo>
                <a:lnTo>
                  <a:pt x="5656" y="2215"/>
                </a:lnTo>
                <a:cubicBezTo>
                  <a:pt x="5716" y="2346"/>
                  <a:pt x="5811" y="2453"/>
                  <a:pt x="5918" y="2548"/>
                </a:cubicBezTo>
                <a:lnTo>
                  <a:pt x="5918" y="10002"/>
                </a:lnTo>
                <a:lnTo>
                  <a:pt x="5037" y="10002"/>
                </a:lnTo>
                <a:cubicBezTo>
                  <a:pt x="4763" y="10002"/>
                  <a:pt x="4537" y="10228"/>
                  <a:pt x="4537" y="10502"/>
                </a:cubicBezTo>
                <a:lnTo>
                  <a:pt x="4537" y="10776"/>
                </a:lnTo>
                <a:cubicBezTo>
                  <a:pt x="4299" y="10823"/>
                  <a:pt x="4120" y="11026"/>
                  <a:pt x="4120" y="11276"/>
                </a:cubicBezTo>
                <a:lnTo>
                  <a:pt x="4120" y="11395"/>
                </a:lnTo>
                <a:cubicBezTo>
                  <a:pt x="4120" y="11680"/>
                  <a:pt x="4346" y="11907"/>
                  <a:pt x="4620" y="11907"/>
                </a:cubicBezTo>
                <a:lnTo>
                  <a:pt x="6049" y="11907"/>
                </a:lnTo>
                <a:cubicBezTo>
                  <a:pt x="6156" y="11907"/>
                  <a:pt x="6251" y="11811"/>
                  <a:pt x="6251" y="11704"/>
                </a:cubicBezTo>
                <a:cubicBezTo>
                  <a:pt x="6251" y="11609"/>
                  <a:pt x="6156" y="11514"/>
                  <a:pt x="6049" y="11514"/>
                </a:cubicBezTo>
                <a:lnTo>
                  <a:pt x="4620" y="11514"/>
                </a:lnTo>
                <a:cubicBezTo>
                  <a:pt x="4549" y="11514"/>
                  <a:pt x="4489" y="11454"/>
                  <a:pt x="4489" y="11383"/>
                </a:cubicBezTo>
                <a:lnTo>
                  <a:pt x="4489" y="11264"/>
                </a:lnTo>
                <a:cubicBezTo>
                  <a:pt x="4489" y="11192"/>
                  <a:pt x="4549" y="11133"/>
                  <a:pt x="4620" y="11133"/>
                </a:cubicBezTo>
                <a:lnTo>
                  <a:pt x="8371" y="11133"/>
                </a:lnTo>
                <a:cubicBezTo>
                  <a:pt x="8454" y="11133"/>
                  <a:pt x="8513" y="11192"/>
                  <a:pt x="8513" y="11264"/>
                </a:cubicBezTo>
                <a:lnTo>
                  <a:pt x="8513" y="11383"/>
                </a:lnTo>
                <a:cubicBezTo>
                  <a:pt x="8513" y="11454"/>
                  <a:pt x="8454" y="11514"/>
                  <a:pt x="8371" y="11514"/>
                </a:cubicBezTo>
                <a:lnTo>
                  <a:pt x="6930" y="11514"/>
                </a:lnTo>
                <a:cubicBezTo>
                  <a:pt x="6823" y="11514"/>
                  <a:pt x="6739" y="11609"/>
                  <a:pt x="6739" y="11704"/>
                </a:cubicBezTo>
                <a:cubicBezTo>
                  <a:pt x="6739" y="11811"/>
                  <a:pt x="6823" y="11907"/>
                  <a:pt x="6930" y="11907"/>
                </a:cubicBezTo>
                <a:lnTo>
                  <a:pt x="8371" y="11907"/>
                </a:lnTo>
                <a:cubicBezTo>
                  <a:pt x="8656" y="11907"/>
                  <a:pt x="8883" y="11680"/>
                  <a:pt x="8883" y="11395"/>
                </a:cubicBezTo>
                <a:lnTo>
                  <a:pt x="8883" y="11276"/>
                </a:lnTo>
                <a:cubicBezTo>
                  <a:pt x="8883" y="11026"/>
                  <a:pt x="8692" y="10799"/>
                  <a:pt x="8454" y="10776"/>
                </a:cubicBezTo>
                <a:lnTo>
                  <a:pt x="8454" y="10502"/>
                </a:lnTo>
                <a:cubicBezTo>
                  <a:pt x="8454" y="10228"/>
                  <a:pt x="8228" y="10002"/>
                  <a:pt x="7942" y="10002"/>
                </a:cubicBezTo>
                <a:lnTo>
                  <a:pt x="7061" y="10002"/>
                </a:lnTo>
                <a:lnTo>
                  <a:pt x="7061" y="7049"/>
                </a:lnTo>
                <a:cubicBezTo>
                  <a:pt x="7061" y="6954"/>
                  <a:pt x="6978" y="6858"/>
                  <a:pt x="6870" y="6858"/>
                </a:cubicBezTo>
                <a:cubicBezTo>
                  <a:pt x="6763" y="6858"/>
                  <a:pt x="6680" y="6954"/>
                  <a:pt x="6680" y="7049"/>
                </a:cubicBezTo>
                <a:lnTo>
                  <a:pt x="6680" y="10002"/>
                </a:lnTo>
                <a:lnTo>
                  <a:pt x="6311" y="10002"/>
                </a:lnTo>
                <a:lnTo>
                  <a:pt x="6311" y="2727"/>
                </a:lnTo>
                <a:cubicBezTo>
                  <a:pt x="6370" y="2739"/>
                  <a:pt x="6430" y="2745"/>
                  <a:pt x="6491" y="2745"/>
                </a:cubicBezTo>
                <a:cubicBezTo>
                  <a:pt x="6552" y="2745"/>
                  <a:pt x="6614" y="2739"/>
                  <a:pt x="6680" y="2727"/>
                </a:cubicBezTo>
                <a:lnTo>
                  <a:pt x="6680" y="6156"/>
                </a:lnTo>
                <a:cubicBezTo>
                  <a:pt x="6680" y="6263"/>
                  <a:pt x="6763" y="6358"/>
                  <a:pt x="6870" y="6358"/>
                </a:cubicBezTo>
                <a:cubicBezTo>
                  <a:pt x="6978" y="6358"/>
                  <a:pt x="7061" y="6263"/>
                  <a:pt x="7061" y="6156"/>
                </a:cubicBezTo>
                <a:lnTo>
                  <a:pt x="7061" y="2548"/>
                </a:lnTo>
                <a:cubicBezTo>
                  <a:pt x="7180" y="2453"/>
                  <a:pt x="7275" y="2346"/>
                  <a:pt x="7335" y="2215"/>
                </a:cubicBezTo>
                <a:lnTo>
                  <a:pt x="9228" y="2739"/>
                </a:lnTo>
                <a:cubicBezTo>
                  <a:pt x="9466" y="2798"/>
                  <a:pt x="9716" y="2858"/>
                  <a:pt x="9954" y="2882"/>
                </a:cubicBezTo>
                <a:cubicBezTo>
                  <a:pt x="9978" y="3048"/>
                  <a:pt x="10073" y="3179"/>
                  <a:pt x="10180" y="3287"/>
                </a:cubicBezTo>
                <a:lnTo>
                  <a:pt x="8871" y="6037"/>
                </a:lnTo>
                <a:lnTo>
                  <a:pt x="8764" y="6037"/>
                </a:lnTo>
                <a:cubicBezTo>
                  <a:pt x="8478" y="6037"/>
                  <a:pt x="8252" y="6263"/>
                  <a:pt x="8252" y="6549"/>
                </a:cubicBezTo>
                <a:lnTo>
                  <a:pt x="8252" y="6668"/>
                </a:lnTo>
                <a:cubicBezTo>
                  <a:pt x="8252" y="6954"/>
                  <a:pt x="8478" y="7168"/>
                  <a:pt x="8764" y="7168"/>
                </a:cubicBezTo>
                <a:lnTo>
                  <a:pt x="8906" y="7168"/>
                </a:lnTo>
                <a:cubicBezTo>
                  <a:pt x="9109" y="8001"/>
                  <a:pt x="9847" y="8597"/>
                  <a:pt x="10716" y="8597"/>
                </a:cubicBezTo>
                <a:cubicBezTo>
                  <a:pt x="11573" y="8597"/>
                  <a:pt x="12323" y="7989"/>
                  <a:pt x="12514" y="7168"/>
                </a:cubicBezTo>
                <a:cubicBezTo>
                  <a:pt x="12800" y="7168"/>
                  <a:pt x="13014" y="6954"/>
                  <a:pt x="13014" y="6668"/>
                </a:cubicBezTo>
                <a:lnTo>
                  <a:pt x="13014" y="6549"/>
                </a:lnTo>
                <a:cubicBezTo>
                  <a:pt x="13038" y="6263"/>
                  <a:pt x="12812" y="6025"/>
                  <a:pt x="12526" y="6025"/>
                </a:cubicBezTo>
                <a:lnTo>
                  <a:pt x="12419" y="6025"/>
                </a:lnTo>
                <a:lnTo>
                  <a:pt x="11109" y="3275"/>
                </a:lnTo>
                <a:cubicBezTo>
                  <a:pt x="11264" y="3144"/>
                  <a:pt x="11347" y="2965"/>
                  <a:pt x="11347" y="2739"/>
                </a:cubicBezTo>
                <a:cubicBezTo>
                  <a:pt x="11347" y="2346"/>
                  <a:pt x="11038" y="2036"/>
                  <a:pt x="10657" y="2036"/>
                </a:cubicBezTo>
                <a:cubicBezTo>
                  <a:pt x="10359" y="2036"/>
                  <a:pt x="10097" y="2227"/>
                  <a:pt x="10002" y="2501"/>
                </a:cubicBezTo>
                <a:cubicBezTo>
                  <a:pt x="9776" y="2465"/>
                  <a:pt x="9549" y="2429"/>
                  <a:pt x="9323" y="2370"/>
                </a:cubicBezTo>
                <a:lnTo>
                  <a:pt x="7442" y="1846"/>
                </a:lnTo>
                <a:cubicBezTo>
                  <a:pt x="7454" y="1536"/>
                  <a:pt x="7323" y="1239"/>
                  <a:pt x="7061" y="1060"/>
                </a:cubicBezTo>
                <a:lnTo>
                  <a:pt x="7061" y="441"/>
                </a:lnTo>
                <a:cubicBezTo>
                  <a:pt x="7061" y="191"/>
                  <a:pt x="6859" y="0"/>
                  <a:pt x="6620"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138E99FE-E532-E961-EDAE-AF8AC4E71ACD}"/>
              </a:ext>
            </a:extLst>
          </p:cNvPr>
          <p:cNvSpPr txBox="1"/>
          <p:nvPr/>
        </p:nvSpPr>
        <p:spPr>
          <a:xfrm>
            <a:off x="4567710" y="1341448"/>
            <a:ext cx="4173794" cy="954107"/>
          </a:xfrm>
          <a:prstGeom prst="rect">
            <a:avLst/>
          </a:prstGeom>
          <a:noFill/>
        </p:spPr>
        <p:txBody>
          <a:bodyPr wrap="square" rtlCol="0">
            <a:spAutoFit/>
          </a:bodyPr>
          <a:lstStyle/>
          <a:p>
            <a:pPr algn="r" rtl="1"/>
            <a:r>
              <a:rPr lang="fa-IR" dirty="0">
                <a:solidFill>
                  <a:schemeClr val="tx1"/>
                </a:solidFill>
                <a:cs typeface="B Nazanin" panose="00000400000000000000" pitchFamily="2" charset="-78"/>
              </a:rPr>
              <a:t>یعنی قيمت زمین، يك سال قبل از تاريخ اعلام تصميم دولت. </a:t>
            </a:r>
          </a:p>
          <a:p>
            <a:pPr algn="r" rtl="1"/>
            <a:r>
              <a:rPr lang="fa-IR" dirty="0">
                <a:solidFill>
                  <a:schemeClr val="tx1"/>
                </a:solidFill>
                <a:cs typeface="B Nazanin" panose="00000400000000000000" pitchFamily="2" charset="-78"/>
              </a:rPr>
              <a:t>اگر اين قیمت از بهاي روز بيشتر باشد قيمت عادله روز ملاك عمل قرار خواهد گرفت. بهاي عادله بدون در نظر گرفتن دلیل خرید و تأثير اجراي برنامه ی شهرسازي و خانه سازي در قيمت ها خواهد بود.</a:t>
            </a:r>
            <a:endParaRPr lang="en-US" dirty="0">
              <a:solidFill>
                <a:schemeClr val="tx1"/>
              </a:solidFill>
              <a:cs typeface="B Nazanin" panose="00000400000000000000" pitchFamily="2" charset="-78"/>
            </a:endParaRPr>
          </a:p>
        </p:txBody>
      </p:sp>
      <p:sp>
        <p:nvSpPr>
          <p:cNvPr id="4" name="TextBox 3">
            <a:extLst>
              <a:ext uri="{FF2B5EF4-FFF2-40B4-BE49-F238E27FC236}">
                <a16:creationId xmlns:a16="http://schemas.microsoft.com/office/drawing/2014/main" id="{45340246-B4B8-44A5-A841-D062435AB2CF}"/>
              </a:ext>
            </a:extLst>
          </p:cNvPr>
          <p:cNvSpPr txBox="1"/>
          <p:nvPr/>
        </p:nvSpPr>
        <p:spPr>
          <a:xfrm>
            <a:off x="671052" y="2750574"/>
            <a:ext cx="3502742" cy="1384995"/>
          </a:xfrm>
          <a:prstGeom prst="rect">
            <a:avLst/>
          </a:prstGeom>
          <a:noFill/>
        </p:spPr>
        <p:txBody>
          <a:bodyPr wrap="square" rtlCol="0">
            <a:spAutoFit/>
          </a:bodyPr>
          <a:lstStyle/>
          <a:p>
            <a:pPr algn="r" rtl="1"/>
            <a:r>
              <a:rPr lang="fa-IR" dirty="0">
                <a:solidFill>
                  <a:schemeClr val="bg1"/>
                </a:solidFill>
                <a:cs typeface="B Nazanin" panose="00000400000000000000" pitchFamily="2" charset="-78"/>
              </a:rPr>
              <a:t> بهاي عادله توسط كميسيون كارشناسي مركب از سه نفر تعيين ميشود كه يك</a:t>
            </a:r>
            <a:r>
              <a:rPr lang="en-US" dirty="0">
                <a:solidFill>
                  <a:schemeClr val="bg1"/>
                </a:solidFill>
                <a:cs typeface="B Nazanin" panose="00000400000000000000" pitchFamily="2" charset="-78"/>
              </a:rPr>
              <a:t> </a:t>
            </a:r>
            <a:r>
              <a:rPr lang="fa-IR" dirty="0">
                <a:solidFill>
                  <a:schemeClr val="bg1"/>
                </a:solidFill>
                <a:cs typeface="B Nazanin" panose="00000400000000000000" pitchFamily="2" charset="-78"/>
              </a:rPr>
              <a:t>نفر از طرف دولت نفردوم از طرف مالك يا مالكين و نفرسوم به رضايت طرفين و در صورت عدم توافق يا استنكاف در تهران از طرف دادستان كل و در ساير نقاط از طرف دادستان شهرستان هر محل انتخاب ميشوند. رأي اكثريت هيأت مزبور قطعي و لازم الاجراست.</a:t>
            </a:r>
            <a:endParaRPr lang="en-US" dirty="0">
              <a:solidFill>
                <a:schemeClr val="bg1"/>
              </a:solidFill>
              <a:cs typeface="B Nazanin" panose="00000400000000000000" pitchFamily="2" charset="-78"/>
            </a:endParaRPr>
          </a:p>
        </p:txBody>
      </p:sp>
      <p:sp>
        <p:nvSpPr>
          <p:cNvPr id="5" name="TextBox 4">
            <a:extLst>
              <a:ext uri="{FF2B5EF4-FFF2-40B4-BE49-F238E27FC236}">
                <a16:creationId xmlns:a16="http://schemas.microsoft.com/office/drawing/2014/main" id="{67D13B02-EDA2-6EB6-34A7-FA2BBFA4EE3C}"/>
              </a:ext>
            </a:extLst>
          </p:cNvPr>
          <p:cNvSpPr txBox="1"/>
          <p:nvPr/>
        </p:nvSpPr>
        <p:spPr>
          <a:xfrm>
            <a:off x="283556" y="399770"/>
            <a:ext cx="3753463" cy="461665"/>
          </a:xfrm>
          <a:prstGeom prst="rect">
            <a:avLst/>
          </a:prstGeom>
          <a:noFill/>
        </p:spPr>
        <p:txBody>
          <a:bodyPr wrap="square" rtlCol="0">
            <a:spAutoFit/>
          </a:bodyPr>
          <a:lstStyle/>
          <a:p>
            <a:pPr algn="r" rtl="1"/>
            <a:r>
              <a:rPr lang="fa-IR" sz="2400" b="1" dirty="0">
                <a:solidFill>
                  <a:schemeClr val="bg1"/>
                </a:solidFill>
              </a:rPr>
              <a:t>بهای عادله چگونه تعیین می شود؟</a:t>
            </a:r>
            <a:endParaRPr lang="en-US" sz="2400" b="1" dirty="0">
              <a:solidFill>
                <a:schemeClr val="bg1"/>
              </a:solidFill>
            </a:endParaRPr>
          </a:p>
        </p:txBody>
      </p:sp>
    </p:spTree>
    <p:extLst>
      <p:ext uri="{BB962C8B-B14F-4D97-AF65-F5344CB8AC3E}">
        <p14:creationId xmlns:p14="http://schemas.microsoft.com/office/powerpoint/2010/main" val="30132884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636" name="Rectangle 635">
            <a:extLst>
              <a:ext uri="{FF2B5EF4-FFF2-40B4-BE49-F238E27FC236}">
                <a16:creationId xmlns:a16="http://schemas.microsoft.com/office/drawing/2014/main" id="{878866A5-3C84-9E92-CE07-011A5E115147}"/>
              </a:ext>
            </a:extLst>
          </p:cNvPr>
          <p:cNvSpPr/>
          <p:nvPr/>
        </p:nvSpPr>
        <p:spPr>
          <a:xfrm>
            <a:off x="3748311" y="-130517"/>
            <a:ext cx="5265174" cy="552620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cxnSp>
        <p:nvCxnSpPr>
          <p:cNvPr id="604" name="Google Shape;604;p47"/>
          <p:cNvCxnSpPr>
            <a:cxnSpLocks/>
          </p:cNvCxnSpPr>
          <p:nvPr/>
        </p:nvCxnSpPr>
        <p:spPr>
          <a:xfrm rot="5400000">
            <a:off x="2133923" y="4881941"/>
            <a:ext cx="3626382" cy="0"/>
          </a:xfrm>
          <a:prstGeom prst="straightConnector1">
            <a:avLst/>
          </a:prstGeom>
          <a:ln>
            <a:solidFill>
              <a:schemeClr val="bg1"/>
            </a:solidFill>
            <a:headEnd type="none" w="sm" len="sm"/>
            <a:tailEnd type="none" w="sm" len="sm"/>
          </a:ln>
        </p:spPr>
        <p:style>
          <a:lnRef idx="1">
            <a:schemeClr val="dk1"/>
          </a:lnRef>
          <a:fillRef idx="0">
            <a:schemeClr val="dk1"/>
          </a:fillRef>
          <a:effectRef idx="0">
            <a:schemeClr val="dk1"/>
          </a:effectRef>
          <a:fontRef idx="minor">
            <a:schemeClr val="tx1"/>
          </a:fontRef>
        </p:style>
      </p:cxnSp>
      <p:cxnSp>
        <p:nvCxnSpPr>
          <p:cNvPr id="605" name="Google Shape;605;p47"/>
          <p:cNvCxnSpPr/>
          <p:nvPr/>
        </p:nvCxnSpPr>
        <p:spPr>
          <a:xfrm rot="5400000">
            <a:off x="-263387" y="-244188"/>
            <a:ext cx="3626382" cy="0"/>
          </a:xfrm>
          <a:prstGeom prst="straightConnector1">
            <a:avLst/>
          </a:prstGeom>
          <a:ln>
            <a:headEnd type="none" w="sm" len="sm"/>
            <a:tailEnd type="none" w="sm" len="sm"/>
          </a:ln>
        </p:spPr>
        <p:style>
          <a:lnRef idx="1">
            <a:schemeClr val="dk1"/>
          </a:lnRef>
          <a:fillRef idx="0">
            <a:schemeClr val="dk1"/>
          </a:fillRef>
          <a:effectRef idx="0">
            <a:schemeClr val="dk1"/>
          </a:effectRef>
          <a:fontRef idx="minor">
            <a:schemeClr val="tx1"/>
          </a:fontRef>
        </p:style>
      </p:cxnSp>
      <p:grpSp>
        <p:nvGrpSpPr>
          <p:cNvPr id="606" name="Google Shape;606;p47"/>
          <p:cNvGrpSpPr/>
          <p:nvPr/>
        </p:nvGrpSpPr>
        <p:grpSpPr>
          <a:xfrm>
            <a:off x="8837359" y="-72330"/>
            <a:ext cx="1543051" cy="5808473"/>
            <a:chOff x="0" y="-38100"/>
            <a:chExt cx="812800" cy="3059607"/>
          </a:xfrm>
        </p:grpSpPr>
        <p:sp>
          <p:nvSpPr>
            <p:cNvPr id="607" name="Google Shape;607;p47"/>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endParaRPr lang="en-US"/>
            </a:p>
          </p:txBody>
        </p:sp>
        <p:sp>
          <p:nvSpPr>
            <p:cNvPr id="608" name="Google Shape;608;p47"/>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609" name="Google Shape;609;p47"/>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pic>
        <p:nvPicPr>
          <p:cNvPr id="7" name="Picture 6" descr="A map of a city&#10;&#10;Description automatically generated">
            <a:extLst>
              <a:ext uri="{FF2B5EF4-FFF2-40B4-BE49-F238E27FC236}">
                <a16:creationId xmlns:a16="http://schemas.microsoft.com/office/drawing/2014/main" id="{AB3775CF-6636-155E-4313-BAA2116A2970}"/>
              </a:ext>
            </a:extLst>
          </p:cNvPr>
          <p:cNvPicPr>
            <a:picLocks noChangeAspect="1"/>
          </p:cNvPicPr>
          <p:nvPr/>
        </p:nvPicPr>
        <p:blipFill>
          <a:blip r:embed="rId3"/>
          <a:stretch>
            <a:fillRect/>
          </a:stretch>
        </p:blipFill>
        <p:spPr>
          <a:xfrm>
            <a:off x="0" y="0"/>
            <a:ext cx="3637231" cy="5143500"/>
          </a:xfrm>
          <a:prstGeom prst="rect">
            <a:avLst/>
          </a:prstGeom>
          <a:noFill/>
          <a:ln>
            <a:noFill/>
          </a:ln>
          <a:effectLst>
            <a:outerShdw blurRad="50800" dist="50800" dir="5400000" algn="ctr" rotWithShape="0">
              <a:schemeClr val="bg1"/>
            </a:outerShdw>
          </a:effectLst>
        </p:spPr>
      </p:pic>
      <p:sp>
        <p:nvSpPr>
          <p:cNvPr id="13" name="Freeform: Shape 12">
            <a:extLst>
              <a:ext uri="{FF2B5EF4-FFF2-40B4-BE49-F238E27FC236}">
                <a16:creationId xmlns:a16="http://schemas.microsoft.com/office/drawing/2014/main" id="{F99B8B1B-3E15-63BD-1A1B-646DE3BC1EFC}"/>
              </a:ext>
            </a:extLst>
          </p:cNvPr>
          <p:cNvSpPr/>
          <p:nvPr/>
        </p:nvSpPr>
        <p:spPr>
          <a:xfrm>
            <a:off x="967299" y="3045481"/>
            <a:ext cx="1293155" cy="1315530"/>
          </a:xfrm>
          <a:custGeom>
            <a:avLst/>
            <a:gdLst>
              <a:gd name="connsiteX0" fmla="*/ 634790 w 1293155"/>
              <a:gd name="connsiteY0" fmla="*/ 1314922 h 1315530"/>
              <a:gd name="connsiteX1" fmla="*/ 612119 w 1293155"/>
              <a:gd name="connsiteY1" fmla="*/ 1231795 h 1315530"/>
              <a:gd name="connsiteX2" fmla="*/ 581891 w 1293155"/>
              <a:gd name="connsiteY2" fmla="*/ 1171339 h 1315530"/>
              <a:gd name="connsiteX3" fmla="*/ 566777 w 1293155"/>
              <a:gd name="connsiteY3" fmla="*/ 1110883 h 1315530"/>
              <a:gd name="connsiteX4" fmla="*/ 559220 w 1293155"/>
              <a:gd name="connsiteY4" fmla="*/ 1080655 h 1315530"/>
              <a:gd name="connsiteX5" fmla="*/ 513878 w 1293155"/>
              <a:gd name="connsiteY5" fmla="*/ 1035312 h 1315530"/>
              <a:gd name="connsiteX6" fmla="*/ 498764 w 1293155"/>
              <a:gd name="connsiteY6" fmla="*/ 997527 h 1315530"/>
              <a:gd name="connsiteX7" fmla="*/ 476093 w 1293155"/>
              <a:gd name="connsiteY7" fmla="*/ 959742 h 1315530"/>
              <a:gd name="connsiteX8" fmla="*/ 453422 w 1293155"/>
              <a:gd name="connsiteY8" fmla="*/ 899286 h 1315530"/>
              <a:gd name="connsiteX9" fmla="*/ 400522 w 1293155"/>
              <a:gd name="connsiteY9" fmla="*/ 846387 h 1315530"/>
              <a:gd name="connsiteX10" fmla="*/ 347623 w 1293155"/>
              <a:gd name="connsiteY10" fmla="*/ 808602 h 1315530"/>
              <a:gd name="connsiteX11" fmla="*/ 324952 w 1293155"/>
              <a:gd name="connsiteY11" fmla="*/ 748145 h 1315530"/>
              <a:gd name="connsiteX12" fmla="*/ 302281 w 1293155"/>
              <a:gd name="connsiteY12" fmla="*/ 695246 h 1315530"/>
              <a:gd name="connsiteX13" fmla="*/ 294724 w 1293155"/>
              <a:gd name="connsiteY13" fmla="*/ 665018 h 1315530"/>
              <a:gd name="connsiteX14" fmla="*/ 256939 w 1293155"/>
              <a:gd name="connsiteY14" fmla="*/ 634790 h 1315530"/>
              <a:gd name="connsiteX15" fmla="*/ 226711 w 1293155"/>
              <a:gd name="connsiteY15" fmla="*/ 604562 h 1315530"/>
              <a:gd name="connsiteX16" fmla="*/ 188926 w 1293155"/>
              <a:gd name="connsiteY16" fmla="*/ 551663 h 1315530"/>
              <a:gd name="connsiteX17" fmla="*/ 173812 w 1293155"/>
              <a:gd name="connsiteY17" fmla="*/ 521435 h 1315530"/>
              <a:gd name="connsiteX18" fmla="*/ 151141 w 1293155"/>
              <a:gd name="connsiteY18" fmla="*/ 491207 h 1315530"/>
              <a:gd name="connsiteX19" fmla="*/ 98241 w 1293155"/>
              <a:gd name="connsiteY19" fmla="*/ 423193 h 1315530"/>
              <a:gd name="connsiteX20" fmla="*/ 75570 w 1293155"/>
              <a:gd name="connsiteY20" fmla="*/ 415636 h 1315530"/>
              <a:gd name="connsiteX21" fmla="*/ 52899 w 1293155"/>
              <a:gd name="connsiteY21" fmla="*/ 392965 h 1315530"/>
              <a:gd name="connsiteX22" fmla="*/ 37785 w 1293155"/>
              <a:gd name="connsiteY22" fmla="*/ 302281 h 1315530"/>
              <a:gd name="connsiteX23" fmla="*/ 0 w 1293155"/>
              <a:gd name="connsiteY23" fmla="*/ 226711 h 1315530"/>
              <a:gd name="connsiteX24" fmla="*/ 22671 w 1293155"/>
              <a:gd name="connsiteY24" fmla="*/ 181369 h 1315530"/>
              <a:gd name="connsiteX25" fmla="*/ 45342 w 1293155"/>
              <a:gd name="connsiteY25" fmla="*/ 173812 h 1315530"/>
              <a:gd name="connsiteX26" fmla="*/ 90684 w 1293155"/>
              <a:gd name="connsiteY26" fmla="*/ 196483 h 1315530"/>
              <a:gd name="connsiteX27" fmla="*/ 105799 w 1293155"/>
              <a:gd name="connsiteY27" fmla="*/ 211597 h 1315530"/>
              <a:gd name="connsiteX28" fmla="*/ 136027 w 1293155"/>
              <a:gd name="connsiteY28" fmla="*/ 219154 h 1315530"/>
              <a:gd name="connsiteX29" fmla="*/ 166255 w 1293155"/>
              <a:gd name="connsiteY29" fmla="*/ 234268 h 1315530"/>
              <a:gd name="connsiteX30" fmla="*/ 196483 w 1293155"/>
              <a:gd name="connsiteY30" fmla="*/ 196483 h 1315530"/>
              <a:gd name="connsiteX31" fmla="*/ 211597 w 1293155"/>
              <a:gd name="connsiteY31" fmla="*/ 173812 h 1315530"/>
              <a:gd name="connsiteX32" fmla="*/ 264496 w 1293155"/>
              <a:gd name="connsiteY32" fmla="*/ 151140 h 1315530"/>
              <a:gd name="connsiteX33" fmla="*/ 521435 w 1293155"/>
              <a:gd name="connsiteY33" fmla="*/ 143583 h 1315530"/>
              <a:gd name="connsiteX34" fmla="*/ 536549 w 1293155"/>
              <a:gd name="connsiteY34" fmla="*/ 83127 h 1315530"/>
              <a:gd name="connsiteX35" fmla="*/ 544106 w 1293155"/>
              <a:gd name="connsiteY35" fmla="*/ 60456 h 1315530"/>
              <a:gd name="connsiteX36" fmla="*/ 627233 w 1293155"/>
              <a:gd name="connsiteY36" fmla="*/ 52899 h 1315530"/>
              <a:gd name="connsiteX37" fmla="*/ 740589 w 1293155"/>
              <a:gd name="connsiteY37" fmla="*/ 45342 h 1315530"/>
              <a:gd name="connsiteX38" fmla="*/ 808602 w 1293155"/>
              <a:gd name="connsiteY38" fmla="*/ 30228 h 1315530"/>
              <a:gd name="connsiteX39" fmla="*/ 838830 w 1293155"/>
              <a:gd name="connsiteY39" fmla="*/ 22671 h 1315530"/>
              <a:gd name="connsiteX40" fmla="*/ 884172 w 1293155"/>
              <a:gd name="connsiteY40" fmla="*/ 15114 h 1315530"/>
              <a:gd name="connsiteX41" fmla="*/ 914400 w 1293155"/>
              <a:gd name="connsiteY41" fmla="*/ 7557 h 1315530"/>
              <a:gd name="connsiteX42" fmla="*/ 989970 w 1293155"/>
              <a:gd name="connsiteY42" fmla="*/ 0 h 1315530"/>
              <a:gd name="connsiteX43" fmla="*/ 1284694 w 1293155"/>
              <a:gd name="connsiteY43" fmla="*/ 7557 h 1315530"/>
              <a:gd name="connsiteX44" fmla="*/ 1292251 w 1293155"/>
              <a:gd name="connsiteY44" fmla="*/ 37785 h 1315530"/>
              <a:gd name="connsiteX45" fmla="*/ 1277137 w 1293155"/>
              <a:gd name="connsiteY45" fmla="*/ 68013 h 1315530"/>
              <a:gd name="connsiteX46" fmla="*/ 1269580 w 1293155"/>
              <a:gd name="connsiteY46" fmla="*/ 98241 h 1315530"/>
              <a:gd name="connsiteX47" fmla="*/ 1246909 w 1293155"/>
              <a:gd name="connsiteY47" fmla="*/ 113355 h 1315530"/>
              <a:gd name="connsiteX48" fmla="*/ 1216681 w 1293155"/>
              <a:gd name="connsiteY48" fmla="*/ 143583 h 1315530"/>
              <a:gd name="connsiteX49" fmla="*/ 1209124 w 1293155"/>
              <a:gd name="connsiteY49" fmla="*/ 166255 h 1315530"/>
              <a:gd name="connsiteX50" fmla="*/ 1194010 w 1293155"/>
              <a:gd name="connsiteY50" fmla="*/ 241825 h 1315530"/>
              <a:gd name="connsiteX51" fmla="*/ 1163782 w 1293155"/>
              <a:gd name="connsiteY51" fmla="*/ 279610 h 1315530"/>
              <a:gd name="connsiteX52" fmla="*/ 1148668 w 1293155"/>
              <a:gd name="connsiteY52" fmla="*/ 302281 h 1315530"/>
              <a:gd name="connsiteX53" fmla="*/ 1103326 w 1293155"/>
              <a:gd name="connsiteY53" fmla="*/ 332509 h 1315530"/>
              <a:gd name="connsiteX54" fmla="*/ 1073098 w 1293155"/>
              <a:gd name="connsiteY54" fmla="*/ 355180 h 1315530"/>
              <a:gd name="connsiteX55" fmla="*/ 1065541 w 1293155"/>
              <a:gd name="connsiteY55" fmla="*/ 377851 h 1315530"/>
              <a:gd name="connsiteX56" fmla="*/ 1027756 w 1293155"/>
              <a:gd name="connsiteY56" fmla="*/ 423193 h 1315530"/>
              <a:gd name="connsiteX57" fmla="*/ 997527 w 1293155"/>
              <a:gd name="connsiteY57" fmla="*/ 491207 h 1315530"/>
              <a:gd name="connsiteX58" fmla="*/ 967299 w 1293155"/>
              <a:gd name="connsiteY58" fmla="*/ 506321 h 1315530"/>
              <a:gd name="connsiteX59" fmla="*/ 944628 w 1293155"/>
              <a:gd name="connsiteY59" fmla="*/ 528992 h 1315530"/>
              <a:gd name="connsiteX60" fmla="*/ 929514 w 1293155"/>
              <a:gd name="connsiteY60" fmla="*/ 551663 h 1315530"/>
              <a:gd name="connsiteX61" fmla="*/ 914400 w 1293155"/>
              <a:gd name="connsiteY61" fmla="*/ 604562 h 1315530"/>
              <a:gd name="connsiteX62" fmla="*/ 899286 w 1293155"/>
              <a:gd name="connsiteY62" fmla="*/ 634790 h 1315530"/>
              <a:gd name="connsiteX63" fmla="*/ 884172 w 1293155"/>
              <a:gd name="connsiteY63" fmla="*/ 680132 h 1315530"/>
              <a:gd name="connsiteX64" fmla="*/ 876615 w 1293155"/>
              <a:gd name="connsiteY64" fmla="*/ 755702 h 1315530"/>
              <a:gd name="connsiteX65" fmla="*/ 869058 w 1293155"/>
              <a:gd name="connsiteY65" fmla="*/ 778374 h 1315530"/>
              <a:gd name="connsiteX66" fmla="*/ 831273 w 1293155"/>
              <a:gd name="connsiteY66" fmla="*/ 899286 h 1315530"/>
              <a:gd name="connsiteX67" fmla="*/ 816159 w 1293155"/>
              <a:gd name="connsiteY67" fmla="*/ 952185 h 1315530"/>
              <a:gd name="connsiteX68" fmla="*/ 808602 w 1293155"/>
              <a:gd name="connsiteY68" fmla="*/ 974856 h 1315530"/>
              <a:gd name="connsiteX69" fmla="*/ 793488 w 1293155"/>
              <a:gd name="connsiteY69" fmla="*/ 1005084 h 1315530"/>
              <a:gd name="connsiteX70" fmla="*/ 770817 w 1293155"/>
              <a:gd name="connsiteY70" fmla="*/ 1027755 h 1315530"/>
              <a:gd name="connsiteX71" fmla="*/ 763260 w 1293155"/>
              <a:gd name="connsiteY71" fmla="*/ 1057983 h 1315530"/>
              <a:gd name="connsiteX72" fmla="*/ 748146 w 1293155"/>
              <a:gd name="connsiteY72" fmla="*/ 1080655 h 1315530"/>
              <a:gd name="connsiteX73" fmla="*/ 740589 w 1293155"/>
              <a:gd name="connsiteY73" fmla="*/ 1118440 h 1315530"/>
              <a:gd name="connsiteX74" fmla="*/ 717918 w 1293155"/>
              <a:gd name="connsiteY74" fmla="*/ 1125997 h 1315530"/>
              <a:gd name="connsiteX75" fmla="*/ 680132 w 1293155"/>
              <a:gd name="connsiteY75" fmla="*/ 1178896 h 1315530"/>
              <a:gd name="connsiteX76" fmla="*/ 665018 w 1293155"/>
              <a:gd name="connsiteY76" fmla="*/ 1246909 h 1315530"/>
              <a:gd name="connsiteX77" fmla="*/ 649904 w 1293155"/>
              <a:gd name="connsiteY77" fmla="*/ 1269580 h 1315530"/>
              <a:gd name="connsiteX78" fmla="*/ 634790 w 1293155"/>
              <a:gd name="connsiteY78" fmla="*/ 1314922 h 1315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293155" h="1315530">
                <a:moveTo>
                  <a:pt x="634790" y="1314922"/>
                </a:moveTo>
                <a:cubicBezTo>
                  <a:pt x="628493" y="1308625"/>
                  <a:pt x="622048" y="1258745"/>
                  <a:pt x="612119" y="1231795"/>
                </a:cubicBezTo>
                <a:cubicBezTo>
                  <a:pt x="604330" y="1210654"/>
                  <a:pt x="581891" y="1171339"/>
                  <a:pt x="581891" y="1171339"/>
                </a:cubicBezTo>
                <a:cubicBezTo>
                  <a:pt x="566527" y="1094518"/>
                  <a:pt x="582269" y="1165104"/>
                  <a:pt x="566777" y="1110883"/>
                </a:cubicBezTo>
                <a:cubicBezTo>
                  <a:pt x="563924" y="1100897"/>
                  <a:pt x="565176" y="1089164"/>
                  <a:pt x="559220" y="1080655"/>
                </a:cubicBezTo>
                <a:cubicBezTo>
                  <a:pt x="546963" y="1063144"/>
                  <a:pt x="513878" y="1035312"/>
                  <a:pt x="513878" y="1035312"/>
                </a:cubicBezTo>
                <a:cubicBezTo>
                  <a:pt x="508840" y="1022717"/>
                  <a:pt x="504831" y="1009660"/>
                  <a:pt x="498764" y="997527"/>
                </a:cubicBezTo>
                <a:cubicBezTo>
                  <a:pt x="492195" y="984390"/>
                  <a:pt x="482058" y="973164"/>
                  <a:pt x="476093" y="959742"/>
                </a:cubicBezTo>
                <a:cubicBezTo>
                  <a:pt x="449312" y="899485"/>
                  <a:pt x="491068" y="959520"/>
                  <a:pt x="453422" y="899286"/>
                </a:cubicBezTo>
                <a:cubicBezTo>
                  <a:pt x="428231" y="858981"/>
                  <a:pt x="435790" y="876616"/>
                  <a:pt x="400522" y="846387"/>
                </a:cubicBezTo>
                <a:cubicBezTo>
                  <a:pt x="357629" y="809622"/>
                  <a:pt x="400330" y="834955"/>
                  <a:pt x="347623" y="808602"/>
                </a:cubicBezTo>
                <a:cubicBezTo>
                  <a:pt x="328226" y="731013"/>
                  <a:pt x="354590" y="827181"/>
                  <a:pt x="324952" y="748145"/>
                </a:cubicBezTo>
                <a:cubicBezTo>
                  <a:pt x="304039" y="692376"/>
                  <a:pt x="332909" y="741189"/>
                  <a:pt x="302281" y="695246"/>
                </a:cubicBezTo>
                <a:cubicBezTo>
                  <a:pt x="299762" y="685170"/>
                  <a:pt x="300956" y="673327"/>
                  <a:pt x="294724" y="665018"/>
                </a:cubicBezTo>
                <a:cubicBezTo>
                  <a:pt x="285046" y="652114"/>
                  <a:pt x="268994" y="645506"/>
                  <a:pt x="256939" y="634790"/>
                </a:cubicBezTo>
                <a:cubicBezTo>
                  <a:pt x="246289" y="625323"/>
                  <a:pt x="236094" y="615286"/>
                  <a:pt x="226711" y="604562"/>
                </a:cubicBezTo>
                <a:cubicBezTo>
                  <a:pt x="220032" y="596929"/>
                  <a:pt x="195565" y="563280"/>
                  <a:pt x="188926" y="551663"/>
                </a:cubicBezTo>
                <a:cubicBezTo>
                  <a:pt x="183337" y="541882"/>
                  <a:pt x="179783" y="530988"/>
                  <a:pt x="173812" y="521435"/>
                </a:cubicBezTo>
                <a:cubicBezTo>
                  <a:pt x="167137" y="510754"/>
                  <a:pt x="158364" y="501525"/>
                  <a:pt x="151141" y="491207"/>
                </a:cubicBezTo>
                <a:cubicBezTo>
                  <a:pt x="138002" y="472436"/>
                  <a:pt x="120216" y="437843"/>
                  <a:pt x="98241" y="423193"/>
                </a:cubicBezTo>
                <a:cubicBezTo>
                  <a:pt x="91613" y="418774"/>
                  <a:pt x="83127" y="418155"/>
                  <a:pt x="75570" y="415636"/>
                </a:cubicBezTo>
                <a:cubicBezTo>
                  <a:pt x="68013" y="408079"/>
                  <a:pt x="57678" y="402524"/>
                  <a:pt x="52899" y="392965"/>
                </a:cubicBezTo>
                <a:cubicBezTo>
                  <a:pt x="48331" y="383830"/>
                  <a:pt x="38169" y="303944"/>
                  <a:pt x="37785" y="302281"/>
                </a:cubicBezTo>
                <a:cubicBezTo>
                  <a:pt x="27176" y="256307"/>
                  <a:pt x="25520" y="260738"/>
                  <a:pt x="0" y="226711"/>
                </a:cubicBezTo>
                <a:cubicBezTo>
                  <a:pt x="7557" y="211597"/>
                  <a:pt x="11674" y="194199"/>
                  <a:pt x="22671" y="181369"/>
                </a:cubicBezTo>
                <a:cubicBezTo>
                  <a:pt x="27855" y="175321"/>
                  <a:pt x="37376" y="173812"/>
                  <a:pt x="45342" y="173812"/>
                </a:cubicBezTo>
                <a:cubicBezTo>
                  <a:pt x="59310" y="173812"/>
                  <a:pt x="81132" y="188841"/>
                  <a:pt x="90684" y="196483"/>
                </a:cubicBezTo>
                <a:cubicBezTo>
                  <a:pt x="96248" y="200934"/>
                  <a:pt x="99426" y="208411"/>
                  <a:pt x="105799" y="211597"/>
                </a:cubicBezTo>
                <a:cubicBezTo>
                  <a:pt x="115089" y="216242"/>
                  <a:pt x="126302" y="215507"/>
                  <a:pt x="136027" y="219154"/>
                </a:cubicBezTo>
                <a:cubicBezTo>
                  <a:pt x="146575" y="223110"/>
                  <a:pt x="156179" y="229230"/>
                  <a:pt x="166255" y="234268"/>
                </a:cubicBezTo>
                <a:cubicBezTo>
                  <a:pt x="176331" y="221673"/>
                  <a:pt x="186805" y="209387"/>
                  <a:pt x="196483" y="196483"/>
                </a:cubicBezTo>
                <a:cubicBezTo>
                  <a:pt x="201932" y="189217"/>
                  <a:pt x="205175" y="180234"/>
                  <a:pt x="211597" y="173812"/>
                </a:cubicBezTo>
                <a:cubicBezTo>
                  <a:pt x="224779" y="160630"/>
                  <a:pt x="246190" y="152104"/>
                  <a:pt x="264496" y="151140"/>
                </a:cubicBezTo>
                <a:cubicBezTo>
                  <a:pt x="350061" y="146636"/>
                  <a:pt x="435789" y="146102"/>
                  <a:pt x="521435" y="143583"/>
                </a:cubicBezTo>
                <a:cubicBezTo>
                  <a:pt x="526473" y="123431"/>
                  <a:pt x="531083" y="103167"/>
                  <a:pt x="536549" y="83127"/>
                </a:cubicBezTo>
                <a:cubicBezTo>
                  <a:pt x="538645" y="75442"/>
                  <a:pt x="536549" y="62975"/>
                  <a:pt x="544106" y="60456"/>
                </a:cubicBezTo>
                <a:cubicBezTo>
                  <a:pt x="570501" y="51658"/>
                  <a:pt x="599492" y="55033"/>
                  <a:pt x="627233" y="52899"/>
                </a:cubicBezTo>
                <a:cubicBezTo>
                  <a:pt x="664991" y="49995"/>
                  <a:pt x="702804" y="47861"/>
                  <a:pt x="740589" y="45342"/>
                </a:cubicBezTo>
                <a:lnTo>
                  <a:pt x="808602" y="30228"/>
                </a:lnTo>
                <a:cubicBezTo>
                  <a:pt x="818722" y="27893"/>
                  <a:pt x="828646" y="24708"/>
                  <a:pt x="838830" y="22671"/>
                </a:cubicBezTo>
                <a:cubicBezTo>
                  <a:pt x="853855" y="19666"/>
                  <a:pt x="869147" y="18119"/>
                  <a:pt x="884172" y="15114"/>
                </a:cubicBezTo>
                <a:cubicBezTo>
                  <a:pt x="894356" y="13077"/>
                  <a:pt x="904118" y="9026"/>
                  <a:pt x="914400" y="7557"/>
                </a:cubicBezTo>
                <a:cubicBezTo>
                  <a:pt x="939461" y="3977"/>
                  <a:pt x="964780" y="2519"/>
                  <a:pt x="989970" y="0"/>
                </a:cubicBezTo>
                <a:lnTo>
                  <a:pt x="1284694" y="7557"/>
                </a:lnTo>
                <a:cubicBezTo>
                  <a:pt x="1295000" y="8845"/>
                  <a:pt x="1293539" y="27479"/>
                  <a:pt x="1292251" y="37785"/>
                </a:cubicBezTo>
                <a:cubicBezTo>
                  <a:pt x="1290854" y="48963"/>
                  <a:pt x="1281093" y="57465"/>
                  <a:pt x="1277137" y="68013"/>
                </a:cubicBezTo>
                <a:cubicBezTo>
                  <a:pt x="1273490" y="77738"/>
                  <a:pt x="1275341" y="89599"/>
                  <a:pt x="1269580" y="98241"/>
                </a:cubicBezTo>
                <a:cubicBezTo>
                  <a:pt x="1264542" y="105798"/>
                  <a:pt x="1253805" y="107444"/>
                  <a:pt x="1246909" y="113355"/>
                </a:cubicBezTo>
                <a:cubicBezTo>
                  <a:pt x="1236090" y="122629"/>
                  <a:pt x="1226757" y="133507"/>
                  <a:pt x="1216681" y="143583"/>
                </a:cubicBezTo>
                <a:cubicBezTo>
                  <a:pt x="1214162" y="151140"/>
                  <a:pt x="1210915" y="158493"/>
                  <a:pt x="1209124" y="166255"/>
                </a:cubicBezTo>
                <a:cubicBezTo>
                  <a:pt x="1203348" y="191286"/>
                  <a:pt x="1203551" y="217973"/>
                  <a:pt x="1194010" y="241825"/>
                </a:cubicBezTo>
                <a:cubicBezTo>
                  <a:pt x="1188020" y="256801"/>
                  <a:pt x="1173460" y="266706"/>
                  <a:pt x="1163782" y="279610"/>
                </a:cubicBezTo>
                <a:cubicBezTo>
                  <a:pt x="1158333" y="286876"/>
                  <a:pt x="1155503" y="296300"/>
                  <a:pt x="1148668" y="302281"/>
                </a:cubicBezTo>
                <a:cubicBezTo>
                  <a:pt x="1134998" y="314243"/>
                  <a:pt x="1118207" y="322092"/>
                  <a:pt x="1103326" y="332509"/>
                </a:cubicBezTo>
                <a:cubicBezTo>
                  <a:pt x="1093008" y="339732"/>
                  <a:pt x="1083174" y="347623"/>
                  <a:pt x="1073098" y="355180"/>
                </a:cubicBezTo>
                <a:cubicBezTo>
                  <a:pt x="1070579" y="362737"/>
                  <a:pt x="1069103" y="370726"/>
                  <a:pt x="1065541" y="377851"/>
                </a:cubicBezTo>
                <a:cubicBezTo>
                  <a:pt x="1055020" y="398893"/>
                  <a:pt x="1044469" y="406480"/>
                  <a:pt x="1027756" y="423193"/>
                </a:cubicBezTo>
                <a:cubicBezTo>
                  <a:pt x="1021038" y="450063"/>
                  <a:pt x="1019317" y="469417"/>
                  <a:pt x="997527" y="491207"/>
                </a:cubicBezTo>
                <a:cubicBezTo>
                  <a:pt x="989561" y="499173"/>
                  <a:pt x="976466" y="499773"/>
                  <a:pt x="967299" y="506321"/>
                </a:cubicBezTo>
                <a:cubicBezTo>
                  <a:pt x="958602" y="512533"/>
                  <a:pt x="951470" y="520782"/>
                  <a:pt x="944628" y="528992"/>
                </a:cubicBezTo>
                <a:cubicBezTo>
                  <a:pt x="938814" y="535969"/>
                  <a:pt x="933576" y="543539"/>
                  <a:pt x="929514" y="551663"/>
                </a:cubicBezTo>
                <a:cubicBezTo>
                  <a:pt x="920379" y="569933"/>
                  <a:pt x="921664" y="585192"/>
                  <a:pt x="914400" y="604562"/>
                </a:cubicBezTo>
                <a:cubicBezTo>
                  <a:pt x="910444" y="615110"/>
                  <a:pt x="903470" y="624330"/>
                  <a:pt x="899286" y="634790"/>
                </a:cubicBezTo>
                <a:cubicBezTo>
                  <a:pt x="893369" y="649582"/>
                  <a:pt x="889210" y="665018"/>
                  <a:pt x="884172" y="680132"/>
                </a:cubicBezTo>
                <a:cubicBezTo>
                  <a:pt x="881653" y="705322"/>
                  <a:pt x="880464" y="730681"/>
                  <a:pt x="876615" y="755702"/>
                </a:cubicBezTo>
                <a:cubicBezTo>
                  <a:pt x="875404" y="763575"/>
                  <a:pt x="870620" y="770563"/>
                  <a:pt x="869058" y="778374"/>
                </a:cubicBezTo>
                <a:cubicBezTo>
                  <a:pt x="847187" y="887730"/>
                  <a:pt x="874257" y="841974"/>
                  <a:pt x="831273" y="899286"/>
                </a:cubicBezTo>
                <a:cubicBezTo>
                  <a:pt x="826235" y="916919"/>
                  <a:pt x="821429" y="934620"/>
                  <a:pt x="816159" y="952185"/>
                </a:cubicBezTo>
                <a:cubicBezTo>
                  <a:pt x="813870" y="959815"/>
                  <a:pt x="811740" y="967534"/>
                  <a:pt x="808602" y="974856"/>
                </a:cubicBezTo>
                <a:cubicBezTo>
                  <a:pt x="804164" y="985210"/>
                  <a:pt x="800036" y="995917"/>
                  <a:pt x="793488" y="1005084"/>
                </a:cubicBezTo>
                <a:cubicBezTo>
                  <a:pt x="787276" y="1013781"/>
                  <a:pt x="778374" y="1020198"/>
                  <a:pt x="770817" y="1027755"/>
                </a:cubicBezTo>
                <a:cubicBezTo>
                  <a:pt x="768298" y="1037831"/>
                  <a:pt x="767351" y="1048437"/>
                  <a:pt x="763260" y="1057983"/>
                </a:cubicBezTo>
                <a:cubicBezTo>
                  <a:pt x="759682" y="1066331"/>
                  <a:pt x="751335" y="1072151"/>
                  <a:pt x="748146" y="1080655"/>
                </a:cubicBezTo>
                <a:cubicBezTo>
                  <a:pt x="743636" y="1092682"/>
                  <a:pt x="747714" y="1107753"/>
                  <a:pt x="740589" y="1118440"/>
                </a:cubicBezTo>
                <a:cubicBezTo>
                  <a:pt x="736170" y="1125068"/>
                  <a:pt x="725475" y="1123478"/>
                  <a:pt x="717918" y="1125997"/>
                </a:cubicBezTo>
                <a:cubicBezTo>
                  <a:pt x="698064" y="1145850"/>
                  <a:pt x="688658" y="1150476"/>
                  <a:pt x="680132" y="1178896"/>
                </a:cubicBezTo>
                <a:cubicBezTo>
                  <a:pt x="671425" y="1207920"/>
                  <a:pt x="677338" y="1222270"/>
                  <a:pt x="665018" y="1246909"/>
                </a:cubicBezTo>
                <a:cubicBezTo>
                  <a:pt x="660956" y="1255033"/>
                  <a:pt x="653966" y="1261456"/>
                  <a:pt x="649904" y="1269580"/>
                </a:cubicBezTo>
                <a:cubicBezTo>
                  <a:pt x="646342" y="1276705"/>
                  <a:pt x="641087" y="1321219"/>
                  <a:pt x="634790" y="1314922"/>
                </a:cubicBezTo>
                <a:close/>
              </a:path>
            </a:pathLst>
          </a:custGeom>
          <a:ln>
            <a:solidFill>
              <a:schemeClr val="accent1">
                <a:lumMod val="5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BB37A1E-DF1E-21B0-2E70-80941294C743}"/>
              </a:ext>
            </a:extLst>
          </p:cNvPr>
          <p:cNvSpPr/>
          <p:nvPr/>
        </p:nvSpPr>
        <p:spPr>
          <a:xfrm>
            <a:off x="1141111" y="2111632"/>
            <a:ext cx="1118803" cy="828051"/>
          </a:xfrm>
          <a:custGeom>
            <a:avLst/>
            <a:gdLst>
              <a:gd name="connsiteX0" fmla="*/ 1095768 w 1118803"/>
              <a:gd name="connsiteY0" fmla="*/ 767594 h 828051"/>
              <a:gd name="connsiteX1" fmla="*/ 967299 w 1118803"/>
              <a:gd name="connsiteY1" fmla="*/ 760037 h 828051"/>
              <a:gd name="connsiteX2" fmla="*/ 944628 w 1118803"/>
              <a:gd name="connsiteY2" fmla="*/ 752480 h 828051"/>
              <a:gd name="connsiteX3" fmla="*/ 672575 w 1118803"/>
              <a:gd name="connsiteY3" fmla="*/ 767594 h 828051"/>
              <a:gd name="connsiteX4" fmla="*/ 574334 w 1118803"/>
              <a:gd name="connsiteY4" fmla="*/ 828051 h 828051"/>
              <a:gd name="connsiteX5" fmla="*/ 506320 w 1118803"/>
              <a:gd name="connsiteY5" fmla="*/ 820494 h 828051"/>
              <a:gd name="connsiteX6" fmla="*/ 468535 w 1118803"/>
              <a:gd name="connsiteY6" fmla="*/ 812937 h 828051"/>
              <a:gd name="connsiteX7" fmla="*/ 445864 w 1118803"/>
              <a:gd name="connsiteY7" fmla="*/ 790266 h 828051"/>
              <a:gd name="connsiteX8" fmla="*/ 415636 w 1118803"/>
              <a:gd name="connsiteY8" fmla="*/ 775151 h 828051"/>
              <a:gd name="connsiteX9" fmla="*/ 355180 w 1118803"/>
              <a:gd name="connsiteY9" fmla="*/ 729809 h 828051"/>
              <a:gd name="connsiteX10" fmla="*/ 324952 w 1118803"/>
              <a:gd name="connsiteY10" fmla="*/ 714695 h 828051"/>
              <a:gd name="connsiteX11" fmla="*/ 302281 w 1118803"/>
              <a:gd name="connsiteY11" fmla="*/ 699581 h 828051"/>
              <a:gd name="connsiteX12" fmla="*/ 279610 w 1118803"/>
              <a:gd name="connsiteY12" fmla="*/ 692024 h 828051"/>
              <a:gd name="connsiteX13" fmla="*/ 241825 w 1118803"/>
              <a:gd name="connsiteY13" fmla="*/ 669353 h 828051"/>
              <a:gd name="connsiteX14" fmla="*/ 68013 w 1118803"/>
              <a:gd name="connsiteY14" fmla="*/ 646682 h 828051"/>
              <a:gd name="connsiteX15" fmla="*/ 7557 w 1118803"/>
              <a:gd name="connsiteY15" fmla="*/ 616454 h 828051"/>
              <a:gd name="connsiteX16" fmla="*/ 0 w 1118803"/>
              <a:gd name="connsiteY16" fmla="*/ 555998 h 828051"/>
              <a:gd name="connsiteX17" fmla="*/ 22671 w 1118803"/>
              <a:gd name="connsiteY17" fmla="*/ 465313 h 828051"/>
              <a:gd name="connsiteX18" fmla="*/ 52899 w 1118803"/>
              <a:gd name="connsiteY18" fmla="*/ 450199 h 828051"/>
              <a:gd name="connsiteX19" fmla="*/ 83127 w 1118803"/>
              <a:gd name="connsiteY19" fmla="*/ 457756 h 828051"/>
              <a:gd name="connsiteX20" fmla="*/ 158697 w 1118803"/>
              <a:gd name="connsiteY20" fmla="*/ 480428 h 828051"/>
              <a:gd name="connsiteX21" fmla="*/ 264496 w 1118803"/>
              <a:gd name="connsiteY21" fmla="*/ 465313 h 828051"/>
              <a:gd name="connsiteX22" fmla="*/ 287167 w 1118803"/>
              <a:gd name="connsiteY22" fmla="*/ 442642 h 828051"/>
              <a:gd name="connsiteX23" fmla="*/ 332509 w 1118803"/>
              <a:gd name="connsiteY23" fmla="*/ 412414 h 828051"/>
              <a:gd name="connsiteX24" fmla="*/ 355180 w 1118803"/>
              <a:gd name="connsiteY24" fmla="*/ 397300 h 828051"/>
              <a:gd name="connsiteX25" fmla="*/ 468535 w 1118803"/>
              <a:gd name="connsiteY25" fmla="*/ 389743 h 828051"/>
              <a:gd name="connsiteX26" fmla="*/ 438307 w 1118803"/>
              <a:gd name="connsiteY26" fmla="*/ 314173 h 828051"/>
              <a:gd name="connsiteX27" fmla="*/ 423193 w 1118803"/>
              <a:gd name="connsiteY27" fmla="*/ 283945 h 828051"/>
              <a:gd name="connsiteX28" fmla="*/ 408079 w 1118803"/>
              <a:gd name="connsiteY28" fmla="*/ 238603 h 828051"/>
              <a:gd name="connsiteX29" fmla="*/ 377851 w 1118803"/>
              <a:gd name="connsiteY29" fmla="*/ 208375 h 828051"/>
              <a:gd name="connsiteX30" fmla="*/ 355180 w 1118803"/>
              <a:gd name="connsiteY30" fmla="*/ 147918 h 828051"/>
              <a:gd name="connsiteX31" fmla="*/ 340066 w 1118803"/>
              <a:gd name="connsiteY31" fmla="*/ 125247 h 828051"/>
              <a:gd name="connsiteX32" fmla="*/ 317395 w 1118803"/>
              <a:gd name="connsiteY32" fmla="*/ 110133 h 828051"/>
              <a:gd name="connsiteX33" fmla="*/ 294724 w 1118803"/>
              <a:gd name="connsiteY33" fmla="*/ 57234 h 828051"/>
              <a:gd name="connsiteX34" fmla="*/ 279610 w 1118803"/>
              <a:gd name="connsiteY34" fmla="*/ 19449 h 828051"/>
              <a:gd name="connsiteX35" fmla="*/ 370294 w 1118803"/>
              <a:gd name="connsiteY35" fmla="*/ 11892 h 828051"/>
              <a:gd name="connsiteX36" fmla="*/ 1073097 w 1118803"/>
              <a:gd name="connsiteY36" fmla="*/ 208375 h 828051"/>
              <a:gd name="connsiteX37" fmla="*/ 1065540 w 1118803"/>
              <a:gd name="connsiteY37" fmla="*/ 246160 h 828051"/>
              <a:gd name="connsiteX38" fmla="*/ 1073097 w 1118803"/>
              <a:gd name="connsiteY38" fmla="*/ 336844 h 828051"/>
              <a:gd name="connsiteX39" fmla="*/ 1080654 w 1118803"/>
              <a:gd name="connsiteY39" fmla="*/ 359515 h 828051"/>
              <a:gd name="connsiteX40" fmla="*/ 1095768 w 1118803"/>
              <a:gd name="connsiteY40" fmla="*/ 397300 h 828051"/>
              <a:gd name="connsiteX41" fmla="*/ 1103325 w 1118803"/>
              <a:gd name="connsiteY41" fmla="*/ 442642 h 828051"/>
              <a:gd name="connsiteX42" fmla="*/ 1118439 w 1118803"/>
              <a:gd name="connsiteY42" fmla="*/ 472870 h 828051"/>
              <a:gd name="connsiteX43" fmla="*/ 1088211 w 1118803"/>
              <a:gd name="connsiteY43" fmla="*/ 654239 h 828051"/>
              <a:gd name="connsiteX44" fmla="*/ 1095768 w 1118803"/>
              <a:gd name="connsiteY44" fmla="*/ 767594 h 828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118803" h="828051">
                <a:moveTo>
                  <a:pt x="1095768" y="767594"/>
                </a:moveTo>
                <a:cubicBezTo>
                  <a:pt x="1052945" y="765075"/>
                  <a:pt x="1009983" y="764305"/>
                  <a:pt x="967299" y="760037"/>
                </a:cubicBezTo>
                <a:cubicBezTo>
                  <a:pt x="959373" y="759244"/>
                  <a:pt x="952591" y="752276"/>
                  <a:pt x="944628" y="752480"/>
                </a:cubicBezTo>
                <a:cubicBezTo>
                  <a:pt x="853834" y="754808"/>
                  <a:pt x="763259" y="762556"/>
                  <a:pt x="672575" y="767594"/>
                </a:cubicBezTo>
                <a:cubicBezTo>
                  <a:pt x="595189" y="819186"/>
                  <a:pt x="628933" y="800752"/>
                  <a:pt x="574334" y="828051"/>
                </a:cubicBezTo>
                <a:cubicBezTo>
                  <a:pt x="551663" y="825532"/>
                  <a:pt x="528902" y="823720"/>
                  <a:pt x="506320" y="820494"/>
                </a:cubicBezTo>
                <a:cubicBezTo>
                  <a:pt x="493605" y="818678"/>
                  <a:pt x="480023" y="818681"/>
                  <a:pt x="468535" y="812937"/>
                </a:cubicBezTo>
                <a:cubicBezTo>
                  <a:pt x="458976" y="808158"/>
                  <a:pt x="454560" y="796478"/>
                  <a:pt x="445864" y="790266"/>
                </a:cubicBezTo>
                <a:cubicBezTo>
                  <a:pt x="436697" y="783718"/>
                  <a:pt x="425009" y="781400"/>
                  <a:pt x="415636" y="775151"/>
                </a:cubicBezTo>
                <a:cubicBezTo>
                  <a:pt x="394677" y="761178"/>
                  <a:pt x="377711" y="741074"/>
                  <a:pt x="355180" y="729809"/>
                </a:cubicBezTo>
                <a:cubicBezTo>
                  <a:pt x="345104" y="724771"/>
                  <a:pt x="334733" y="720284"/>
                  <a:pt x="324952" y="714695"/>
                </a:cubicBezTo>
                <a:cubicBezTo>
                  <a:pt x="317066" y="710189"/>
                  <a:pt x="310405" y="703643"/>
                  <a:pt x="302281" y="699581"/>
                </a:cubicBezTo>
                <a:cubicBezTo>
                  <a:pt x="295156" y="696019"/>
                  <a:pt x="286735" y="695586"/>
                  <a:pt x="279610" y="692024"/>
                </a:cubicBezTo>
                <a:cubicBezTo>
                  <a:pt x="266473" y="685455"/>
                  <a:pt x="256030" y="673091"/>
                  <a:pt x="241825" y="669353"/>
                </a:cubicBezTo>
                <a:cubicBezTo>
                  <a:pt x="215021" y="662299"/>
                  <a:pt x="106392" y="650946"/>
                  <a:pt x="68013" y="646682"/>
                </a:cubicBezTo>
                <a:cubicBezTo>
                  <a:pt x="49196" y="641978"/>
                  <a:pt x="17438" y="638193"/>
                  <a:pt x="7557" y="616454"/>
                </a:cubicBezTo>
                <a:cubicBezTo>
                  <a:pt x="-847" y="597966"/>
                  <a:pt x="2519" y="576150"/>
                  <a:pt x="0" y="555998"/>
                </a:cubicBezTo>
                <a:cubicBezTo>
                  <a:pt x="7557" y="525770"/>
                  <a:pt x="8737" y="493182"/>
                  <a:pt x="22671" y="465313"/>
                </a:cubicBezTo>
                <a:cubicBezTo>
                  <a:pt x="27709" y="455237"/>
                  <a:pt x="41721" y="451596"/>
                  <a:pt x="52899" y="450199"/>
                </a:cubicBezTo>
                <a:cubicBezTo>
                  <a:pt x="63205" y="448911"/>
                  <a:pt x="73179" y="454772"/>
                  <a:pt x="83127" y="457756"/>
                </a:cubicBezTo>
                <a:cubicBezTo>
                  <a:pt x="175143" y="485361"/>
                  <a:pt x="89009" y="463004"/>
                  <a:pt x="158697" y="480428"/>
                </a:cubicBezTo>
                <a:cubicBezTo>
                  <a:pt x="193963" y="475390"/>
                  <a:pt x="230319" y="475365"/>
                  <a:pt x="264496" y="465313"/>
                </a:cubicBezTo>
                <a:cubicBezTo>
                  <a:pt x="274749" y="462297"/>
                  <a:pt x="278731" y="449203"/>
                  <a:pt x="287167" y="442642"/>
                </a:cubicBezTo>
                <a:cubicBezTo>
                  <a:pt x="301505" y="431490"/>
                  <a:pt x="317395" y="422490"/>
                  <a:pt x="332509" y="412414"/>
                </a:cubicBezTo>
                <a:cubicBezTo>
                  <a:pt x="340066" y="407376"/>
                  <a:pt x="346118" y="397904"/>
                  <a:pt x="355180" y="397300"/>
                </a:cubicBezTo>
                <a:lnTo>
                  <a:pt x="468535" y="389743"/>
                </a:lnTo>
                <a:cubicBezTo>
                  <a:pt x="438016" y="343964"/>
                  <a:pt x="466482" y="391653"/>
                  <a:pt x="438307" y="314173"/>
                </a:cubicBezTo>
                <a:cubicBezTo>
                  <a:pt x="434457" y="303586"/>
                  <a:pt x="427377" y="294405"/>
                  <a:pt x="423193" y="283945"/>
                </a:cubicBezTo>
                <a:cubicBezTo>
                  <a:pt x="417276" y="269153"/>
                  <a:pt x="419344" y="249868"/>
                  <a:pt x="408079" y="238603"/>
                </a:cubicBezTo>
                <a:lnTo>
                  <a:pt x="377851" y="208375"/>
                </a:lnTo>
                <a:cubicBezTo>
                  <a:pt x="369586" y="175315"/>
                  <a:pt x="372743" y="178654"/>
                  <a:pt x="355180" y="147918"/>
                </a:cubicBezTo>
                <a:cubicBezTo>
                  <a:pt x="350674" y="140032"/>
                  <a:pt x="346488" y="131669"/>
                  <a:pt x="340066" y="125247"/>
                </a:cubicBezTo>
                <a:cubicBezTo>
                  <a:pt x="333644" y="118825"/>
                  <a:pt x="324952" y="115171"/>
                  <a:pt x="317395" y="110133"/>
                </a:cubicBezTo>
                <a:cubicBezTo>
                  <a:pt x="301874" y="63569"/>
                  <a:pt x="319626" y="113263"/>
                  <a:pt x="294724" y="57234"/>
                </a:cubicBezTo>
                <a:cubicBezTo>
                  <a:pt x="289215" y="44838"/>
                  <a:pt x="284648" y="32044"/>
                  <a:pt x="279610" y="19449"/>
                </a:cubicBezTo>
                <a:cubicBezTo>
                  <a:pt x="316202" y="-4946"/>
                  <a:pt x="305959" y="-5138"/>
                  <a:pt x="370294" y="11892"/>
                </a:cubicBezTo>
                <a:cubicBezTo>
                  <a:pt x="605446" y="74138"/>
                  <a:pt x="838829" y="142881"/>
                  <a:pt x="1073097" y="208375"/>
                </a:cubicBezTo>
                <a:cubicBezTo>
                  <a:pt x="1070578" y="220970"/>
                  <a:pt x="1065540" y="233316"/>
                  <a:pt x="1065540" y="246160"/>
                </a:cubicBezTo>
                <a:cubicBezTo>
                  <a:pt x="1065540" y="276493"/>
                  <a:pt x="1069088" y="306777"/>
                  <a:pt x="1073097" y="336844"/>
                </a:cubicBezTo>
                <a:cubicBezTo>
                  <a:pt x="1074150" y="344740"/>
                  <a:pt x="1077857" y="352056"/>
                  <a:pt x="1080654" y="359515"/>
                </a:cubicBezTo>
                <a:cubicBezTo>
                  <a:pt x="1085417" y="372217"/>
                  <a:pt x="1090730" y="384705"/>
                  <a:pt x="1095768" y="397300"/>
                </a:cubicBezTo>
                <a:cubicBezTo>
                  <a:pt x="1098287" y="412414"/>
                  <a:pt x="1098922" y="427966"/>
                  <a:pt x="1103325" y="442642"/>
                </a:cubicBezTo>
                <a:cubicBezTo>
                  <a:pt x="1106562" y="453432"/>
                  <a:pt x="1117575" y="461638"/>
                  <a:pt x="1118439" y="472870"/>
                </a:cubicBezTo>
                <a:cubicBezTo>
                  <a:pt x="1122696" y="528208"/>
                  <a:pt x="1088211" y="604623"/>
                  <a:pt x="1088211" y="654239"/>
                </a:cubicBezTo>
                <a:lnTo>
                  <a:pt x="1095768" y="767594"/>
                </a:lnTo>
                <a:close/>
              </a:path>
            </a:pathLst>
          </a:custGeom>
          <a:ln>
            <a:solidFill>
              <a:schemeClr val="accent3">
                <a:lumMod val="50000"/>
              </a:scheme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55A6397-9D65-A5FC-5661-2E31DAE020FC}"/>
              </a:ext>
            </a:extLst>
          </p:cNvPr>
          <p:cNvSpPr/>
          <p:nvPr/>
        </p:nvSpPr>
        <p:spPr>
          <a:xfrm>
            <a:off x="1561753" y="2864112"/>
            <a:ext cx="690567" cy="324952"/>
          </a:xfrm>
          <a:custGeom>
            <a:avLst/>
            <a:gdLst>
              <a:gd name="connsiteX0" fmla="*/ 682683 w 690567"/>
              <a:gd name="connsiteY0" fmla="*/ 30228 h 324952"/>
              <a:gd name="connsiteX1" fmla="*/ 614670 w 690567"/>
              <a:gd name="connsiteY1" fmla="*/ 22671 h 324952"/>
              <a:gd name="connsiteX2" fmla="*/ 523986 w 690567"/>
              <a:gd name="connsiteY2" fmla="*/ 15114 h 324952"/>
              <a:gd name="connsiteX3" fmla="*/ 471087 w 690567"/>
              <a:gd name="connsiteY3" fmla="*/ 0 h 324952"/>
              <a:gd name="connsiteX4" fmla="*/ 236819 w 690567"/>
              <a:gd name="connsiteY4" fmla="*/ 30228 h 324952"/>
              <a:gd name="connsiteX5" fmla="*/ 214148 w 690567"/>
              <a:gd name="connsiteY5" fmla="*/ 45343 h 324952"/>
              <a:gd name="connsiteX6" fmla="*/ 168806 w 690567"/>
              <a:gd name="connsiteY6" fmla="*/ 52900 h 324952"/>
              <a:gd name="connsiteX7" fmla="*/ 146135 w 690567"/>
              <a:gd name="connsiteY7" fmla="*/ 68014 h 324952"/>
              <a:gd name="connsiteX8" fmla="*/ 100792 w 690567"/>
              <a:gd name="connsiteY8" fmla="*/ 113356 h 324952"/>
              <a:gd name="connsiteX9" fmla="*/ 123464 w 690567"/>
              <a:gd name="connsiteY9" fmla="*/ 128470 h 324952"/>
              <a:gd name="connsiteX10" fmla="*/ 47893 w 690567"/>
              <a:gd name="connsiteY10" fmla="*/ 166255 h 324952"/>
              <a:gd name="connsiteX11" fmla="*/ 32779 w 690567"/>
              <a:gd name="connsiteY11" fmla="*/ 188926 h 324952"/>
              <a:gd name="connsiteX12" fmla="*/ 10108 w 690567"/>
              <a:gd name="connsiteY12" fmla="*/ 196483 h 324952"/>
              <a:gd name="connsiteX13" fmla="*/ 10108 w 690567"/>
              <a:gd name="connsiteY13" fmla="*/ 294724 h 324952"/>
              <a:gd name="connsiteX14" fmla="*/ 40336 w 690567"/>
              <a:gd name="connsiteY14" fmla="*/ 324952 h 324952"/>
              <a:gd name="connsiteX15" fmla="*/ 199034 w 690567"/>
              <a:gd name="connsiteY15" fmla="*/ 309838 h 324952"/>
              <a:gd name="connsiteX16" fmla="*/ 244376 w 690567"/>
              <a:gd name="connsiteY16" fmla="*/ 287167 h 324952"/>
              <a:gd name="connsiteX17" fmla="*/ 380402 w 690567"/>
              <a:gd name="connsiteY17" fmla="*/ 279610 h 324952"/>
              <a:gd name="connsiteX18" fmla="*/ 448416 w 690567"/>
              <a:gd name="connsiteY18" fmla="*/ 272053 h 324952"/>
              <a:gd name="connsiteX19" fmla="*/ 493758 w 690567"/>
              <a:gd name="connsiteY19" fmla="*/ 249382 h 324952"/>
              <a:gd name="connsiteX20" fmla="*/ 539100 w 690567"/>
              <a:gd name="connsiteY20" fmla="*/ 241825 h 324952"/>
              <a:gd name="connsiteX21" fmla="*/ 682683 w 690567"/>
              <a:gd name="connsiteY21" fmla="*/ 226711 h 324952"/>
              <a:gd name="connsiteX22" fmla="*/ 675126 w 690567"/>
              <a:gd name="connsiteY22" fmla="*/ 158698 h 324952"/>
              <a:gd name="connsiteX23" fmla="*/ 667569 w 690567"/>
              <a:gd name="connsiteY23" fmla="*/ 60457 h 324952"/>
              <a:gd name="connsiteX24" fmla="*/ 682683 w 690567"/>
              <a:gd name="connsiteY24" fmla="*/ 30228 h 324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90567" h="324952">
                <a:moveTo>
                  <a:pt x="682683" y="30228"/>
                </a:moveTo>
                <a:cubicBezTo>
                  <a:pt x="673867" y="23930"/>
                  <a:pt x="637378" y="24834"/>
                  <a:pt x="614670" y="22671"/>
                </a:cubicBezTo>
                <a:cubicBezTo>
                  <a:pt x="584474" y="19795"/>
                  <a:pt x="553948" y="19845"/>
                  <a:pt x="523986" y="15114"/>
                </a:cubicBezTo>
                <a:cubicBezTo>
                  <a:pt x="505872" y="12254"/>
                  <a:pt x="488720" y="5038"/>
                  <a:pt x="471087" y="0"/>
                </a:cubicBezTo>
                <a:cubicBezTo>
                  <a:pt x="392998" y="10076"/>
                  <a:pt x="314358" y="16544"/>
                  <a:pt x="236819" y="30228"/>
                </a:cubicBezTo>
                <a:cubicBezTo>
                  <a:pt x="227875" y="31806"/>
                  <a:pt x="222764" y="42471"/>
                  <a:pt x="214148" y="45343"/>
                </a:cubicBezTo>
                <a:cubicBezTo>
                  <a:pt x="199612" y="50189"/>
                  <a:pt x="183920" y="50381"/>
                  <a:pt x="168806" y="52900"/>
                </a:cubicBezTo>
                <a:cubicBezTo>
                  <a:pt x="161249" y="57938"/>
                  <a:pt x="154834" y="65404"/>
                  <a:pt x="146135" y="68014"/>
                </a:cubicBezTo>
                <a:cubicBezTo>
                  <a:pt x="109845" y="78901"/>
                  <a:pt x="68595" y="57013"/>
                  <a:pt x="100792" y="113356"/>
                </a:cubicBezTo>
                <a:cubicBezTo>
                  <a:pt x="105298" y="121242"/>
                  <a:pt x="115907" y="123432"/>
                  <a:pt x="123464" y="128470"/>
                </a:cubicBezTo>
                <a:cubicBezTo>
                  <a:pt x="141469" y="182484"/>
                  <a:pt x="133408" y="133365"/>
                  <a:pt x="47893" y="166255"/>
                </a:cubicBezTo>
                <a:cubicBezTo>
                  <a:pt x="39416" y="169515"/>
                  <a:pt x="39871" y="183252"/>
                  <a:pt x="32779" y="188926"/>
                </a:cubicBezTo>
                <a:cubicBezTo>
                  <a:pt x="26559" y="193902"/>
                  <a:pt x="17665" y="193964"/>
                  <a:pt x="10108" y="196483"/>
                </a:cubicBezTo>
                <a:cubicBezTo>
                  <a:pt x="862" y="233468"/>
                  <a:pt x="-7036" y="250149"/>
                  <a:pt x="10108" y="294724"/>
                </a:cubicBezTo>
                <a:cubicBezTo>
                  <a:pt x="15223" y="308024"/>
                  <a:pt x="30260" y="314876"/>
                  <a:pt x="40336" y="324952"/>
                </a:cubicBezTo>
                <a:cubicBezTo>
                  <a:pt x="41242" y="324892"/>
                  <a:pt x="168023" y="320175"/>
                  <a:pt x="199034" y="309838"/>
                </a:cubicBezTo>
                <a:cubicBezTo>
                  <a:pt x="233678" y="298290"/>
                  <a:pt x="208400" y="290593"/>
                  <a:pt x="244376" y="287167"/>
                </a:cubicBezTo>
                <a:cubicBezTo>
                  <a:pt x="289583" y="282862"/>
                  <a:pt x="335114" y="282965"/>
                  <a:pt x="380402" y="279610"/>
                </a:cubicBezTo>
                <a:cubicBezTo>
                  <a:pt x="403151" y="277925"/>
                  <a:pt x="425745" y="274572"/>
                  <a:pt x="448416" y="272053"/>
                </a:cubicBezTo>
                <a:cubicBezTo>
                  <a:pt x="463530" y="264496"/>
                  <a:pt x="477727" y="254726"/>
                  <a:pt x="493758" y="249382"/>
                </a:cubicBezTo>
                <a:cubicBezTo>
                  <a:pt x="508294" y="244537"/>
                  <a:pt x="523887" y="243651"/>
                  <a:pt x="539100" y="241825"/>
                </a:cubicBezTo>
                <a:cubicBezTo>
                  <a:pt x="586883" y="236091"/>
                  <a:pt x="634822" y="231749"/>
                  <a:pt x="682683" y="226711"/>
                </a:cubicBezTo>
                <a:cubicBezTo>
                  <a:pt x="698614" y="162987"/>
                  <a:pt x="687457" y="232686"/>
                  <a:pt x="675126" y="158698"/>
                </a:cubicBezTo>
                <a:cubicBezTo>
                  <a:pt x="669727" y="126301"/>
                  <a:pt x="671643" y="93047"/>
                  <a:pt x="667569" y="60457"/>
                </a:cubicBezTo>
                <a:cubicBezTo>
                  <a:pt x="666581" y="52553"/>
                  <a:pt x="691499" y="36526"/>
                  <a:pt x="682683" y="30228"/>
                </a:cubicBezTo>
                <a:close/>
              </a:path>
            </a:pathLst>
          </a:cu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0242A94-E384-4390-C220-7F1F79DC83A3}"/>
              </a:ext>
            </a:extLst>
          </p:cNvPr>
          <p:cNvSpPr/>
          <p:nvPr/>
        </p:nvSpPr>
        <p:spPr>
          <a:xfrm>
            <a:off x="75570" y="3702941"/>
            <a:ext cx="1148668" cy="6045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C25EB82-452A-5A28-7630-8E690EED9F3F}"/>
              </a:ext>
            </a:extLst>
          </p:cNvPr>
          <p:cNvSpPr txBox="1"/>
          <p:nvPr/>
        </p:nvSpPr>
        <p:spPr>
          <a:xfrm>
            <a:off x="3947070" y="3702941"/>
            <a:ext cx="1020812" cy="276999"/>
          </a:xfrm>
          <a:prstGeom prst="rect">
            <a:avLst/>
          </a:prstGeom>
          <a:noFill/>
        </p:spPr>
        <p:txBody>
          <a:bodyPr wrap="square" rtlCol="0">
            <a:spAutoFit/>
          </a:bodyPr>
          <a:lstStyle/>
          <a:p>
            <a:pPr algn="r" rtl="1"/>
            <a:r>
              <a:rPr lang="fa-IR" sz="1200" b="1" dirty="0">
                <a:solidFill>
                  <a:schemeClr val="bg1"/>
                </a:solidFill>
              </a:rPr>
              <a:t>منطقه مالک </a:t>
            </a:r>
            <a:r>
              <a:rPr lang="fa-IR" sz="1200" b="1" u="sng" dirty="0">
                <a:solidFill>
                  <a:schemeClr val="bg1"/>
                </a:solidFill>
              </a:rPr>
              <a:t>1</a:t>
            </a:r>
            <a:endParaRPr lang="en-US" sz="1200" b="1" u="sng" dirty="0">
              <a:solidFill>
                <a:schemeClr val="bg1"/>
              </a:solidFill>
            </a:endParaRPr>
          </a:p>
        </p:txBody>
      </p:sp>
      <p:sp>
        <p:nvSpPr>
          <p:cNvPr id="18" name="Rectangle 17">
            <a:extLst>
              <a:ext uri="{FF2B5EF4-FFF2-40B4-BE49-F238E27FC236}">
                <a16:creationId xmlns:a16="http://schemas.microsoft.com/office/drawing/2014/main" id="{A40F37C4-65BA-9E24-A2CC-A867F690D5E7}"/>
              </a:ext>
            </a:extLst>
          </p:cNvPr>
          <p:cNvSpPr/>
          <p:nvPr/>
        </p:nvSpPr>
        <p:spPr>
          <a:xfrm>
            <a:off x="5123997" y="3702941"/>
            <a:ext cx="498429" cy="27205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4EC04C1-A534-DFF4-ADAC-6E3A3EE35695}"/>
              </a:ext>
            </a:extLst>
          </p:cNvPr>
          <p:cNvSpPr txBox="1"/>
          <p:nvPr/>
        </p:nvSpPr>
        <p:spPr>
          <a:xfrm>
            <a:off x="3947070" y="4080795"/>
            <a:ext cx="1020812" cy="276999"/>
          </a:xfrm>
          <a:prstGeom prst="rect">
            <a:avLst/>
          </a:prstGeom>
          <a:noFill/>
        </p:spPr>
        <p:txBody>
          <a:bodyPr wrap="square" rtlCol="0">
            <a:spAutoFit/>
          </a:bodyPr>
          <a:lstStyle/>
          <a:p>
            <a:pPr algn="r" rtl="1"/>
            <a:r>
              <a:rPr lang="fa-IR" sz="1200" b="1" dirty="0">
                <a:solidFill>
                  <a:schemeClr val="bg1"/>
                </a:solidFill>
              </a:rPr>
              <a:t>منطقه مالک </a:t>
            </a:r>
            <a:r>
              <a:rPr lang="fa-IR" sz="1200" b="1" u="sng" dirty="0">
                <a:solidFill>
                  <a:schemeClr val="bg1"/>
                </a:solidFill>
              </a:rPr>
              <a:t>2</a:t>
            </a:r>
            <a:endParaRPr lang="en-US" sz="1200" b="1" u="sng" dirty="0">
              <a:solidFill>
                <a:schemeClr val="bg1"/>
              </a:solidFill>
            </a:endParaRPr>
          </a:p>
        </p:txBody>
      </p:sp>
      <p:sp>
        <p:nvSpPr>
          <p:cNvPr id="20" name="Rectangle 19">
            <a:extLst>
              <a:ext uri="{FF2B5EF4-FFF2-40B4-BE49-F238E27FC236}">
                <a16:creationId xmlns:a16="http://schemas.microsoft.com/office/drawing/2014/main" id="{8EE9129B-E136-E945-4381-113661ECC899}"/>
              </a:ext>
            </a:extLst>
          </p:cNvPr>
          <p:cNvSpPr/>
          <p:nvPr/>
        </p:nvSpPr>
        <p:spPr>
          <a:xfrm>
            <a:off x="5123997" y="4080795"/>
            <a:ext cx="498429" cy="2720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055312EE-E2B4-3A0C-C1D6-04A2C5E62D60}"/>
              </a:ext>
            </a:extLst>
          </p:cNvPr>
          <p:cNvSpPr txBox="1"/>
          <p:nvPr/>
        </p:nvSpPr>
        <p:spPr>
          <a:xfrm>
            <a:off x="3947070" y="4449834"/>
            <a:ext cx="1020812" cy="276999"/>
          </a:xfrm>
          <a:prstGeom prst="rect">
            <a:avLst/>
          </a:prstGeom>
          <a:noFill/>
        </p:spPr>
        <p:txBody>
          <a:bodyPr wrap="square" rtlCol="0">
            <a:spAutoFit/>
          </a:bodyPr>
          <a:lstStyle/>
          <a:p>
            <a:pPr algn="r" rtl="1"/>
            <a:r>
              <a:rPr lang="fa-IR" sz="1200" b="1" dirty="0">
                <a:solidFill>
                  <a:schemeClr val="bg1"/>
                </a:solidFill>
              </a:rPr>
              <a:t>منطقه محل دعوا</a:t>
            </a:r>
            <a:endParaRPr lang="en-US" sz="1200" b="1" u="sng" dirty="0">
              <a:solidFill>
                <a:schemeClr val="bg1"/>
              </a:solidFill>
            </a:endParaRPr>
          </a:p>
        </p:txBody>
      </p:sp>
      <p:sp>
        <p:nvSpPr>
          <p:cNvPr id="22" name="Rectangle 21">
            <a:extLst>
              <a:ext uri="{FF2B5EF4-FFF2-40B4-BE49-F238E27FC236}">
                <a16:creationId xmlns:a16="http://schemas.microsoft.com/office/drawing/2014/main" id="{393C6FE9-59D8-13F5-E6BD-AAA32B4BBB26}"/>
              </a:ext>
            </a:extLst>
          </p:cNvPr>
          <p:cNvSpPr/>
          <p:nvPr/>
        </p:nvSpPr>
        <p:spPr>
          <a:xfrm>
            <a:off x="5123997" y="4449834"/>
            <a:ext cx="498429" cy="27205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8723E1C-D5F8-12FB-4429-319A2AA57638}"/>
              </a:ext>
            </a:extLst>
          </p:cNvPr>
          <p:cNvSpPr txBox="1"/>
          <p:nvPr/>
        </p:nvSpPr>
        <p:spPr>
          <a:xfrm>
            <a:off x="4844053" y="1711650"/>
            <a:ext cx="3582030" cy="954107"/>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fa-IR" sz="1400" b="0" i="0" u="none" strike="noStrike" kern="0" cap="none" spc="0" normalizeH="0" baseline="0" noProof="0" dirty="0">
                <a:ln>
                  <a:noFill/>
                </a:ln>
                <a:solidFill>
                  <a:srgbClr val="FFFFFF"/>
                </a:solidFill>
                <a:effectLst/>
                <a:uLnTx/>
                <a:uFillTx/>
                <a:ea typeface="+mn-ea"/>
                <a:cs typeface="B Nazanin" panose="00000400000000000000" pitchFamily="2" charset="-78"/>
                <a:sym typeface="Arial"/>
              </a:rPr>
              <a:t>درمواردی كه مالكيت زمين و اعياني به صورتی باشد که مدعيان مالكيت نتوانند در انتخاب كارشناس و يا نماينده توافق كنند دادستان اين تكليف را انجام خواهد داد بهاي تعيين شده پس از آنكه مالك مشخص شد بوي تسليم خواهد شد.</a:t>
            </a:r>
            <a:endParaRPr kumimoji="0" lang="en-US" sz="1400" b="0" i="0" u="none" strike="noStrike" kern="0" cap="none" spc="0" normalizeH="0" baseline="0" noProof="0" dirty="0">
              <a:ln>
                <a:noFill/>
              </a:ln>
              <a:solidFill>
                <a:srgbClr val="FFFFFF"/>
              </a:solidFill>
              <a:effectLst/>
              <a:uLnTx/>
              <a:uFillTx/>
              <a:ea typeface="+mn-ea"/>
              <a:cs typeface="B Nazanin" panose="00000400000000000000" pitchFamily="2" charset="-78"/>
              <a:sym typeface="Arial"/>
            </a:endParaRPr>
          </a:p>
        </p:txBody>
      </p:sp>
      <p:sp>
        <p:nvSpPr>
          <p:cNvPr id="24" name="TextBox 23">
            <a:extLst>
              <a:ext uri="{FF2B5EF4-FFF2-40B4-BE49-F238E27FC236}">
                <a16:creationId xmlns:a16="http://schemas.microsoft.com/office/drawing/2014/main" id="{6FD4621C-EC70-1CA6-3175-BE507D4FBB96}"/>
              </a:ext>
            </a:extLst>
          </p:cNvPr>
          <p:cNvSpPr txBox="1"/>
          <p:nvPr/>
        </p:nvSpPr>
        <p:spPr>
          <a:xfrm>
            <a:off x="4967882" y="317395"/>
            <a:ext cx="3276832" cy="400110"/>
          </a:xfrm>
          <a:prstGeom prst="rect">
            <a:avLst/>
          </a:prstGeom>
          <a:noFill/>
        </p:spPr>
        <p:txBody>
          <a:bodyPr wrap="square" rtlCol="0">
            <a:spAutoFit/>
          </a:bodyPr>
          <a:lstStyle/>
          <a:p>
            <a:pPr algn="r" rtl="1"/>
            <a:r>
              <a:rPr lang="fa-IR" sz="2000" b="1" dirty="0">
                <a:solidFill>
                  <a:schemeClr val="bg1"/>
                </a:solidFill>
                <a:cs typeface="B Nazanin" panose="00000400000000000000" pitchFamily="2" charset="-78"/>
              </a:rPr>
              <a:t>زمین هایی با تکلیف نامشخص!</a:t>
            </a:r>
            <a:endParaRPr lang="en-US" sz="2000" b="1" dirty="0">
              <a:solidFill>
                <a:schemeClr val="bg1"/>
              </a:solidFill>
              <a:cs typeface="B Nazanin" panose="00000400000000000000" pitchFamily="2" charset="-78"/>
            </a:endParaRPr>
          </a:p>
        </p:txBody>
      </p:sp>
      <p:sp>
        <p:nvSpPr>
          <p:cNvPr id="25" name="TextBox 24">
            <a:extLst>
              <a:ext uri="{FF2B5EF4-FFF2-40B4-BE49-F238E27FC236}">
                <a16:creationId xmlns:a16="http://schemas.microsoft.com/office/drawing/2014/main" id="{A13C06E5-3A3B-7CE7-1D83-03A579061F65}"/>
              </a:ext>
            </a:extLst>
          </p:cNvPr>
          <p:cNvSpPr txBox="1"/>
          <p:nvPr/>
        </p:nvSpPr>
        <p:spPr>
          <a:xfrm>
            <a:off x="6313287" y="3702941"/>
            <a:ext cx="2226152" cy="1169551"/>
          </a:xfrm>
          <a:prstGeom prst="rect">
            <a:avLst/>
          </a:prstGeom>
          <a:solidFill>
            <a:schemeClr val="tx1"/>
          </a:solidFill>
        </p:spPr>
        <p:txBody>
          <a:bodyPr wrap="square" rtlCol="0">
            <a:spAutoFit/>
          </a:bodyPr>
          <a:lstStyle/>
          <a:p>
            <a:pPr algn="r" rtl="1"/>
            <a:r>
              <a:rPr lang="fa-IR" dirty="0">
                <a:solidFill>
                  <a:srgbClr val="FFFF00"/>
                </a:solidFill>
                <a:cs typeface="B Nazanin" panose="00000400000000000000" pitchFamily="2" charset="-78"/>
              </a:rPr>
              <a:t>نکته:(به زمین هایی که حق کسب به آنها تعلق می گیرد دولت یا باید حق کسب را علاوه بر بهای عادله بپردازد یا در بنای جدید محلی برای کسب وی قراردهد.)</a:t>
            </a:r>
            <a:endParaRPr lang="en-US" dirty="0">
              <a:solidFill>
                <a:srgbClr val="FFFF00"/>
              </a:solidFill>
              <a:cs typeface="B Nazanin" panose="00000400000000000000" pitchFamily="2" charset="-78"/>
            </a:endParaRPr>
          </a:p>
        </p:txBody>
      </p:sp>
    </p:spTree>
    <p:extLst>
      <p:ext uri="{BB962C8B-B14F-4D97-AF65-F5344CB8AC3E}">
        <p14:creationId xmlns:p14="http://schemas.microsoft.com/office/powerpoint/2010/main" val="31212586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1000" fill="hold"/>
                                        <p:tgtEl>
                                          <p:spTgt spid="24"/>
                                        </p:tgtEl>
                                        <p:attrNameLst>
                                          <p:attrName>ppt_w</p:attrName>
                                        </p:attrNameLst>
                                      </p:cBhvr>
                                      <p:tavLst>
                                        <p:tav tm="0">
                                          <p:val>
                                            <p:fltVal val="0"/>
                                          </p:val>
                                        </p:tav>
                                        <p:tav tm="100000">
                                          <p:val>
                                            <p:strVal val="#ppt_w"/>
                                          </p:val>
                                        </p:tav>
                                      </p:tavLst>
                                    </p:anim>
                                    <p:anim calcmode="lin" valueType="num">
                                      <p:cBhvr>
                                        <p:cTn id="8" dur="1000" fill="hold"/>
                                        <p:tgtEl>
                                          <p:spTgt spid="24"/>
                                        </p:tgtEl>
                                        <p:attrNameLst>
                                          <p:attrName>ppt_h</p:attrName>
                                        </p:attrNameLst>
                                      </p:cBhvr>
                                      <p:tavLst>
                                        <p:tav tm="0">
                                          <p:val>
                                            <p:fltVal val="0"/>
                                          </p:val>
                                        </p:tav>
                                        <p:tav tm="100000">
                                          <p:val>
                                            <p:strVal val="#ppt_h"/>
                                          </p:val>
                                        </p:tav>
                                      </p:tavLst>
                                    </p:anim>
                                    <p:anim calcmode="lin" valueType="num">
                                      <p:cBhvr>
                                        <p:cTn id="9" dur="1000" fill="hold"/>
                                        <p:tgtEl>
                                          <p:spTgt spid="24"/>
                                        </p:tgtEl>
                                        <p:attrNameLst>
                                          <p:attrName>style.rotation</p:attrName>
                                        </p:attrNameLst>
                                      </p:cBhvr>
                                      <p:tavLst>
                                        <p:tav tm="0">
                                          <p:val>
                                            <p:fltVal val="90"/>
                                          </p:val>
                                        </p:tav>
                                        <p:tav tm="100000">
                                          <p:val>
                                            <p:fltVal val="0"/>
                                          </p:val>
                                        </p:tav>
                                      </p:tavLst>
                                    </p:anim>
                                    <p:animEffect transition="in" filter="fade">
                                      <p:cBhvr>
                                        <p:cTn id="10" dur="10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barn(inVertical)">
                                      <p:cBhvr>
                                        <p:cTn id="15" dur="500"/>
                                        <p:tgtEl>
                                          <p:spTgt spid="23"/>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p:cTn id="20" dur="500" fill="hold"/>
                                        <p:tgtEl>
                                          <p:spTgt spid="25"/>
                                        </p:tgtEl>
                                        <p:attrNameLst>
                                          <p:attrName>ppt_w</p:attrName>
                                        </p:attrNameLst>
                                      </p:cBhvr>
                                      <p:tavLst>
                                        <p:tav tm="0">
                                          <p:val>
                                            <p:fltVal val="0"/>
                                          </p:val>
                                        </p:tav>
                                        <p:tav tm="100000">
                                          <p:val>
                                            <p:strVal val="#ppt_w"/>
                                          </p:val>
                                        </p:tav>
                                      </p:tavLst>
                                    </p:anim>
                                    <p:anim calcmode="lin" valueType="num">
                                      <p:cBhvr>
                                        <p:cTn id="21" dur="500" fill="hold"/>
                                        <p:tgtEl>
                                          <p:spTgt spid="25"/>
                                        </p:tgtEl>
                                        <p:attrNameLst>
                                          <p:attrName>ppt_h</p:attrName>
                                        </p:attrNameLst>
                                      </p:cBhvr>
                                      <p:tavLst>
                                        <p:tav tm="0">
                                          <p:val>
                                            <p:fltVal val="0"/>
                                          </p:val>
                                        </p:tav>
                                        <p:tav tm="100000">
                                          <p:val>
                                            <p:strVal val="#ppt_h"/>
                                          </p:val>
                                        </p:tav>
                                      </p:tavLst>
                                    </p:anim>
                                    <p:animEffect transition="in" filter="fade">
                                      <p:cBhvr>
                                        <p:cTn id="2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407"/>
        <p:cNvGrpSpPr/>
        <p:nvPr/>
      </p:nvGrpSpPr>
      <p:grpSpPr>
        <a:xfrm>
          <a:off x="0" y="0"/>
          <a:ext cx="0" cy="0"/>
          <a:chOff x="0" y="0"/>
          <a:chExt cx="0" cy="0"/>
        </a:xfrm>
      </p:grpSpPr>
      <p:sp>
        <p:nvSpPr>
          <p:cNvPr id="408" name="Google Shape;408;p39"/>
          <p:cNvSpPr txBox="1"/>
          <p:nvPr/>
        </p:nvSpPr>
        <p:spPr>
          <a:xfrm>
            <a:off x="1438826" y="2789277"/>
            <a:ext cx="6266348" cy="553998"/>
          </a:xfrm>
          <a:prstGeom prst="rect">
            <a:avLst/>
          </a:prstGeom>
          <a:noFill/>
          <a:ln>
            <a:noFill/>
          </a:ln>
        </p:spPr>
        <p:txBody>
          <a:bodyPr spcFirstLastPara="1" wrap="square" lIns="0" tIns="0" rIns="0" bIns="0" anchor="t" anchorCtr="0">
            <a:spAutoFit/>
          </a:bodyPr>
          <a:lstStyle/>
          <a:p>
            <a:pPr marL="0" marR="0" lvl="0" indent="0" algn="r" rtl="1">
              <a:lnSpc>
                <a:spcPct val="120000"/>
              </a:lnSpc>
              <a:spcBef>
                <a:spcPts val="0"/>
              </a:spcBef>
              <a:spcAft>
                <a:spcPts val="0"/>
              </a:spcAft>
              <a:buNone/>
            </a:pPr>
            <a:r>
              <a:rPr lang="fa-IR" sz="3000" b="1" i="0" u="none" strike="noStrike" cap="none" dirty="0">
                <a:solidFill>
                  <a:srgbClr val="FFFFFF"/>
                </a:solidFill>
                <a:latin typeface="Open Sans"/>
                <a:ea typeface="Open Sans"/>
                <a:cs typeface="B Nazanin" panose="00000700000000000000" pitchFamily="2" charset="-78"/>
                <a:sym typeface="Open Sans"/>
              </a:rPr>
              <a:t>قانون تأسيس شورای عالی شهرسازی و معماری ایران</a:t>
            </a:r>
            <a:endParaRPr lang="en" sz="700" dirty="0">
              <a:cs typeface="B Nazanin" panose="00000700000000000000" pitchFamily="2" charset="-78"/>
            </a:endParaRPr>
          </a:p>
        </p:txBody>
      </p:sp>
      <p:sp>
        <p:nvSpPr>
          <p:cNvPr id="409" name="Google Shape;409;p39"/>
          <p:cNvSpPr txBox="1"/>
          <p:nvPr/>
        </p:nvSpPr>
        <p:spPr>
          <a:xfrm>
            <a:off x="1216566" y="3831075"/>
            <a:ext cx="6710868" cy="904863"/>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b="0" i="0" u="none" strike="noStrike" cap="none" dirty="0">
                <a:solidFill>
                  <a:schemeClr val="accent2"/>
                </a:solidFill>
                <a:latin typeface="Open Sans"/>
                <a:ea typeface="Open Sans"/>
                <a:cs typeface="B Nazanin" panose="00000700000000000000" pitchFamily="2" charset="-78"/>
                <a:sym typeface="Open Sans"/>
              </a:rPr>
              <a:t>این قانون با هدف هماهنگ کردن برنامه‌های شهرسازی برای ایجاد محیط زیست بهتر برای مردم و اعتلای هنر معماری ایران و‌رعایت سبکهای مختلف معماری سنتی و ملی و ارائه ضوابط و جنبه‌های اصیل آن با در نظر گرفتن روشهای نوین علمی و فنی در سال 29 اسفند1351تصویب شد.</a:t>
            </a:r>
            <a:endParaRPr lang="fa-IR" sz="1050" dirty="0">
              <a:solidFill>
                <a:schemeClr val="accent2"/>
              </a:solidFill>
              <a:cs typeface="B Nazanin" panose="00000700000000000000" pitchFamily="2" charset="-78"/>
            </a:endParaRPr>
          </a:p>
        </p:txBody>
      </p:sp>
      <p:pic>
        <p:nvPicPr>
          <p:cNvPr id="410" name="Google Shape;410;p39"/>
          <p:cNvPicPr preferRelativeResize="0"/>
          <p:nvPr/>
        </p:nvPicPr>
        <p:blipFill rotWithShape="1">
          <a:blip r:embed="rId3">
            <a:alphaModFix/>
          </a:blip>
          <a:srcRect t="1086" b="61412"/>
          <a:stretch/>
        </p:blipFill>
        <p:spPr>
          <a:xfrm>
            <a:off x="0" y="0"/>
            <a:ext cx="9144000" cy="2571750"/>
          </a:xfrm>
          <a:prstGeom prst="rect">
            <a:avLst/>
          </a:prstGeom>
          <a:noFill/>
          <a:ln>
            <a:noFill/>
          </a:ln>
        </p:spPr>
      </p:pic>
      <p:cxnSp>
        <p:nvCxnSpPr>
          <p:cNvPr id="411" name="Google Shape;411;p39"/>
          <p:cNvCxnSpPr/>
          <p:nvPr/>
        </p:nvCxnSpPr>
        <p:spPr>
          <a:xfrm rot="5399999">
            <a:off x="-857978" y="4949640"/>
            <a:ext cx="3084866" cy="0"/>
          </a:xfrm>
          <a:prstGeom prst="straightConnector1">
            <a:avLst/>
          </a:prstGeom>
          <a:noFill/>
          <a:ln w="9525" cap="flat" cmpd="sng">
            <a:solidFill>
              <a:srgbClr val="FFFFFF"/>
            </a:solidFill>
            <a:prstDash val="solid"/>
            <a:round/>
            <a:headEnd type="none" w="sm" len="sm"/>
            <a:tailEnd type="none" w="sm" len="sm"/>
          </a:ln>
        </p:spPr>
      </p:cxnSp>
      <p:cxnSp>
        <p:nvCxnSpPr>
          <p:cNvPr id="412" name="Google Shape;412;p39"/>
          <p:cNvCxnSpPr/>
          <p:nvPr/>
        </p:nvCxnSpPr>
        <p:spPr>
          <a:xfrm rot="5400000">
            <a:off x="7489440" y="3426438"/>
            <a:ext cx="1714138" cy="0"/>
          </a:xfrm>
          <a:prstGeom prst="straightConnector1">
            <a:avLst/>
          </a:prstGeom>
          <a:noFill/>
          <a:ln w="9525" cap="flat" cmpd="sng">
            <a:solidFill>
              <a:srgbClr val="FFFFFF"/>
            </a:solidFill>
            <a:prstDash val="solid"/>
            <a:round/>
            <a:headEnd type="none" w="sm" len="sm"/>
            <a:tailEnd type="none" w="sm" len="sm"/>
          </a:ln>
        </p:spPr>
      </p:cxnSp>
      <p:grpSp>
        <p:nvGrpSpPr>
          <p:cNvPr id="413" name="Google Shape;413;p39"/>
          <p:cNvGrpSpPr/>
          <p:nvPr/>
        </p:nvGrpSpPr>
        <p:grpSpPr>
          <a:xfrm>
            <a:off x="8837359" y="-72330"/>
            <a:ext cx="1543051" cy="5808473"/>
            <a:chOff x="0" y="-38100"/>
            <a:chExt cx="812800" cy="3059607"/>
          </a:xfrm>
        </p:grpSpPr>
        <p:sp>
          <p:nvSpPr>
            <p:cNvPr id="414" name="Google Shape;414;p39"/>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endParaRPr lang="en-US"/>
            </a:p>
          </p:txBody>
        </p:sp>
        <p:sp>
          <p:nvSpPr>
            <p:cNvPr id="415" name="Google Shape;415;p39"/>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grpSp>
        <p:nvGrpSpPr>
          <p:cNvPr id="416" name="Google Shape;416;p39"/>
          <p:cNvGrpSpPr/>
          <p:nvPr/>
        </p:nvGrpSpPr>
        <p:grpSpPr>
          <a:xfrm>
            <a:off x="8837359" y="2499420"/>
            <a:ext cx="1543051" cy="5808473"/>
            <a:chOff x="0" y="-38100"/>
            <a:chExt cx="812800" cy="3059607"/>
          </a:xfrm>
        </p:grpSpPr>
        <p:sp>
          <p:nvSpPr>
            <p:cNvPr id="417" name="Google Shape;417;p39"/>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FFFFFF">
                <a:alpha val="12549"/>
              </a:srgbClr>
            </a:solidFill>
            <a:ln>
              <a:noFill/>
            </a:ln>
          </p:spPr>
          <p:txBody>
            <a:bodyPr/>
            <a:lstStyle/>
            <a:p>
              <a:endParaRPr lang="en-US"/>
            </a:p>
          </p:txBody>
        </p:sp>
        <p:sp>
          <p:nvSpPr>
            <p:cNvPr id="418" name="Google Shape;418;p39"/>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419" name="Google Shape;419;p39"/>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pic>
        <p:nvPicPr>
          <p:cNvPr id="450" name="Google Shape;450;p41"/>
          <p:cNvPicPr preferRelativeResize="0"/>
          <p:nvPr/>
        </p:nvPicPr>
        <p:blipFill rotWithShape="1">
          <a:blip r:embed="rId3">
            <a:alphaModFix/>
          </a:blip>
          <a:srcRect t="21875" b="21874"/>
          <a:stretch/>
        </p:blipFill>
        <p:spPr>
          <a:xfrm>
            <a:off x="0" y="-2381"/>
            <a:ext cx="9144000" cy="5143500"/>
          </a:xfrm>
          <a:prstGeom prst="rect">
            <a:avLst/>
          </a:prstGeom>
          <a:noFill/>
          <a:ln>
            <a:noFill/>
          </a:ln>
        </p:spPr>
      </p:pic>
      <p:sp>
        <p:nvSpPr>
          <p:cNvPr id="451" name="Google Shape;451;p41"/>
          <p:cNvSpPr txBox="1"/>
          <p:nvPr/>
        </p:nvSpPr>
        <p:spPr>
          <a:xfrm>
            <a:off x="533341" y="1274472"/>
            <a:ext cx="3689400" cy="1846659"/>
          </a:xfrm>
          <a:prstGeom prst="rect">
            <a:avLst/>
          </a:prstGeom>
          <a:noFill/>
          <a:ln>
            <a:noFill/>
          </a:ln>
        </p:spPr>
        <p:txBody>
          <a:bodyPr spcFirstLastPara="1" wrap="square" lIns="0" tIns="0" rIns="0" bIns="0" anchor="t" anchorCtr="0">
            <a:spAutoFit/>
          </a:bodyPr>
          <a:lstStyle/>
          <a:p>
            <a:pPr marL="0" marR="0" lvl="0" indent="0" algn="ctr" rtl="1">
              <a:lnSpc>
                <a:spcPct val="150000"/>
              </a:lnSpc>
              <a:spcBef>
                <a:spcPts val="0"/>
              </a:spcBef>
              <a:spcAft>
                <a:spcPts val="0"/>
              </a:spcAft>
              <a:buNone/>
            </a:pPr>
            <a:r>
              <a:rPr lang="fa-IR" sz="4000" b="1" i="0" u="none" strike="noStrike" cap="none" dirty="0">
                <a:solidFill>
                  <a:srgbClr val="FFFFFF"/>
                </a:solidFill>
                <a:latin typeface="Open Sans"/>
                <a:ea typeface="Open Sans"/>
                <a:cs typeface="B Nazanin" panose="00000700000000000000" pitchFamily="2" charset="-78"/>
                <a:sym typeface="Open Sans"/>
              </a:rPr>
              <a:t>وظایف شورای عالی شهرسازی و معماری</a:t>
            </a:r>
            <a:endParaRPr sz="700" b="1" dirty="0">
              <a:latin typeface="Open Sans"/>
              <a:ea typeface="Open Sans"/>
              <a:cs typeface="B Nazanin" panose="00000700000000000000" pitchFamily="2" charset="-78"/>
              <a:sym typeface="Open Sans"/>
            </a:endParaRPr>
          </a:p>
        </p:txBody>
      </p:sp>
      <p:grpSp>
        <p:nvGrpSpPr>
          <p:cNvPr id="452" name="Google Shape;452;p41"/>
          <p:cNvGrpSpPr/>
          <p:nvPr/>
        </p:nvGrpSpPr>
        <p:grpSpPr>
          <a:xfrm>
            <a:off x="4756082" y="-72330"/>
            <a:ext cx="4387918" cy="5808473"/>
            <a:chOff x="0" y="-38100"/>
            <a:chExt cx="2311331" cy="3059607"/>
          </a:xfrm>
        </p:grpSpPr>
        <p:sp>
          <p:nvSpPr>
            <p:cNvPr id="453" name="Google Shape;453;p41"/>
            <p:cNvSpPr/>
            <p:nvPr/>
          </p:nvSpPr>
          <p:spPr>
            <a:xfrm>
              <a:off x="0" y="0"/>
              <a:ext cx="2311331" cy="3021507"/>
            </a:xfrm>
            <a:custGeom>
              <a:avLst/>
              <a:gdLst/>
              <a:ahLst/>
              <a:cxnLst/>
              <a:rect l="l" t="t" r="r" b="b"/>
              <a:pathLst>
                <a:path w="2311331" h="3021507" extrusionOk="0">
                  <a:moveTo>
                    <a:pt x="0" y="0"/>
                  </a:moveTo>
                  <a:lnTo>
                    <a:pt x="2311331" y="0"/>
                  </a:lnTo>
                  <a:lnTo>
                    <a:pt x="2311331" y="3021507"/>
                  </a:lnTo>
                  <a:lnTo>
                    <a:pt x="0" y="3021507"/>
                  </a:lnTo>
                  <a:close/>
                </a:path>
              </a:pathLst>
            </a:custGeom>
            <a:solidFill>
              <a:srgbClr val="000000">
                <a:alpha val="62352"/>
              </a:srgbClr>
            </a:solidFill>
            <a:ln>
              <a:noFill/>
            </a:ln>
          </p:spPr>
          <p:txBody>
            <a:bodyPr/>
            <a:lstStyle/>
            <a:p>
              <a:endParaRPr lang="en-US"/>
            </a:p>
          </p:txBody>
        </p:sp>
        <p:sp>
          <p:nvSpPr>
            <p:cNvPr id="454" name="Google Shape;454;p41"/>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456" name="Google Shape;456;p41"/>
          <p:cNvSpPr txBox="1"/>
          <p:nvPr/>
        </p:nvSpPr>
        <p:spPr>
          <a:xfrm>
            <a:off x="5846168" y="2734717"/>
            <a:ext cx="1994100" cy="430887"/>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000" i="0" u="none" strike="noStrike" cap="none" dirty="0">
                <a:solidFill>
                  <a:srgbClr val="FFFFFF"/>
                </a:solidFill>
                <a:latin typeface="Open Sans"/>
                <a:ea typeface="Open Sans"/>
                <a:cs typeface="B Nazanin" panose="00000700000000000000" pitchFamily="2" charset="-78"/>
                <a:sym typeface="Open Sans"/>
              </a:rPr>
              <a:t>جزئیات شخصی را که می خواهید به اشتراک بگذارید توضیح دهید.</a:t>
            </a:r>
            <a:endParaRPr sz="700" dirty="0">
              <a:latin typeface="Open Sans"/>
              <a:ea typeface="Open Sans"/>
              <a:cs typeface="B Nazanin" panose="00000700000000000000" pitchFamily="2" charset="-78"/>
              <a:sym typeface="Open Sans"/>
            </a:endParaRPr>
          </a:p>
        </p:txBody>
      </p:sp>
      <p:sp>
        <p:nvSpPr>
          <p:cNvPr id="459" name="Google Shape;459;p41"/>
          <p:cNvSpPr txBox="1"/>
          <p:nvPr/>
        </p:nvSpPr>
        <p:spPr>
          <a:xfrm>
            <a:off x="6329967" y="3256087"/>
            <a:ext cx="1260300" cy="215444"/>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000" i="0" u="none" strike="noStrike" cap="none" dirty="0">
                <a:solidFill>
                  <a:srgbClr val="FFFFFF"/>
                </a:solidFill>
                <a:latin typeface="Open Sans"/>
                <a:ea typeface="Open Sans"/>
                <a:cs typeface="B Nazanin" panose="00000700000000000000" pitchFamily="2" charset="-78"/>
                <a:sym typeface="Open Sans"/>
              </a:rPr>
              <a:t>یک نکته اصلی را اضافه کنید</a:t>
            </a:r>
            <a:endParaRPr sz="700" dirty="0">
              <a:latin typeface="Open Sans"/>
              <a:ea typeface="Open Sans"/>
              <a:cs typeface="B Nazanin" panose="00000700000000000000" pitchFamily="2" charset="-78"/>
              <a:sym typeface="Open Sans"/>
            </a:endParaRPr>
          </a:p>
        </p:txBody>
      </p:sp>
      <p:grpSp>
        <p:nvGrpSpPr>
          <p:cNvPr id="461" name="Google Shape;461;p41"/>
          <p:cNvGrpSpPr/>
          <p:nvPr/>
        </p:nvGrpSpPr>
        <p:grpSpPr>
          <a:xfrm>
            <a:off x="8837359" y="-72330"/>
            <a:ext cx="1543051" cy="5808473"/>
            <a:chOff x="0" y="-38100"/>
            <a:chExt cx="812800" cy="3059607"/>
          </a:xfrm>
        </p:grpSpPr>
        <p:sp>
          <p:nvSpPr>
            <p:cNvPr id="462" name="Google Shape;462;p41"/>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endParaRPr lang="en-US"/>
            </a:p>
          </p:txBody>
        </p:sp>
        <p:sp>
          <p:nvSpPr>
            <p:cNvPr id="463" name="Google Shape;463;p41"/>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464" name="Google Shape;464;p41"/>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cxnSp>
        <p:nvCxnSpPr>
          <p:cNvPr id="465" name="Google Shape;465;p41"/>
          <p:cNvCxnSpPr/>
          <p:nvPr/>
        </p:nvCxnSpPr>
        <p:spPr>
          <a:xfrm rot="5400000">
            <a:off x="2042004" y="1893892"/>
            <a:ext cx="6494454" cy="0"/>
          </a:xfrm>
          <a:prstGeom prst="straightConnector1">
            <a:avLst/>
          </a:prstGeom>
          <a:noFill/>
          <a:ln w="9525" cap="flat" cmpd="sng">
            <a:solidFill>
              <a:srgbClr val="FFFFFF"/>
            </a:solidFill>
            <a:prstDash val="solid"/>
            <a:round/>
            <a:headEnd type="none" w="sm" len="sm"/>
            <a:tailEnd type="none" w="sm" len="sm"/>
          </a:ln>
        </p:spPr>
      </p:cxnSp>
      <p:cxnSp>
        <p:nvCxnSpPr>
          <p:cNvPr id="466" name="Google Shape;466;p41"/>
          <p:cNvCxnSpPr/>
          <p:nvPr/>
        </p:nvCxnSpPr>
        <p:spPr>
          <a:xfrm rot="10800000">
            <a:off x="5086296" y="1149356"/>
            <a:ext cx="410632" cy="0"/>
          </a:xfrm>
          <a:prstGeom prst="straightConnector1">
            <a:avLst/>
          </a:prstGeom>
          <a:noFill/>
          <a:ln w="9525" cap="flat" cmpd="sng">
            <a:solidFill>
              <a:srgbClr val="FFFFFF"/>
            </a:solidFill>
            <a:prstDash val="solid"/>
            <a:round/>
            <a:headEnd type="none" w="sm" len="sm"/>
            <a:tailEnd type="none" w="sm" len="sm"/>
          </a:ln>
        </p:spPr>
      </p:cxnSp>
      <p:cxnSp>
        <p:nvCxnSpPr>
          <p:cNvPr id="467" name="Google Shape;467;p41"/>
          <p:cNvCxnSpPr/>
          <p:nvPr/>
        </p:nvCxnSpPr>
        <p:spPr>
          <a:xfrm rot="10800000">
            <a:off x="5086296" y="2605706"/>
            <a:ext cx="410632" cy="0"/>
          </a:xfrm>
          <a:prstGeom prst="straightConnector1">
            <a:avLst/>
          </a:prstGeom>
          <a:noFill/>
          <a:ln w="9525" cap="flat" cmpd="sng">
            <a:solidFill>
              <a:srgbClr val="FFFFFF"/>
            </a:solidFill>
            <a:prstDash val="solid"/>
            <a:round/>
            <a:headEnd type="none" w="sm" len="sm"/>
            <a:tailEnd type="none" w="sm" len="sm"/>
          </a:ln>
        </p:spPr>
      </p:cxnSp>
      <p:cxnSp>
        <p:nvCxnSpPr>
          <p:cNvPr id="468" name="Google Shape;468;p41"/>
          <p:cNvCxnSpPr/>
          <p:nvPr/>
        </p:nvCxnSpPr>
        <p:spPr>
          <a:xfrm rot="10800000">
            <a:off x="5086296" y="4062056"/>
            <a:ext cx="410632" cy="0"/>
          </a:xfrm>
          <a:prstGeom prst="straightConnector1">
            <a:avLst/>
          </a:prstGeom>
          <a:noFill/>
          <a:ln w="9525" cap="flat" cmpd="sng">
            <a:solidFill>
              <a:srgbClr val="FFFFFF"/>
            </a:solidFill>
            <a:prstDash val="solid"/>
            <a:round/>
            <a:headEnd type="none" w="sm" len="sm"/>
            <a:tailEnd type="none" w="sm" len="sm"/>
          </a:ln>
        </p:spPr>
      </p:cxnSp>
      <p:sp>
        <p:nvSpPr>
          <p:cNvPr id="2" name="Rectangle 1">
            <a:extLst>
              <a:ext uri="{FF2B5EF4-FFF2-40B4-BE49-F238E27FC236}">
                <a16:creationId xmlns:a16="http://schemas.microsoft.com/office/drawing/2014/main" id="{42815412-E09A-42C1-EA16-1511F3B4AB68}"/>
              </a:ext>
            </a:extLst>
          </p:cNvPr>
          <p:cNvSpPr/>
          <p:nvPr/>
        </p:nvSpPr>
        <p:spPr>
          <a:xfrm>
            <a:off x="5699863" y="953943"/>
            <a:ext cx="2721461" cy="49877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rtl="1">
              <a:lnSpc>
                <a:spcPct val="140000"/>
              </a:lnSpc>
              <a:spcBef>
                <a:spcPts val="0"/>
              </a:spcBef>
              <a:spcAft>
                <a:spcPts val="0"/>
              </a:spcAft>
              <a:buNone/>
            </a:pPr>
            <a:r>
              <a:rPr lang="fa-IR" sz="1200" i="0" u="none" strike="noStrike" cap="none" dirty="0">
                <a:solidFill>
                  <a:srgbClr val="FFFFFF"/>
                </a:solidFill>
                <a:latin typeface="Open Sans"/>
                <a:ea typeface="Open Sans"/>
                <a:cs typeface="B Nazanin" panose="00000700000000000000" pitchFamily="2" charset="-78"/>
                <a:sym typeface="Open Sans"/>
              </a:rPr>
              <a:t>1. بررسي پيشنهادهاي لازم در مورد سياست كلي شهرسازي براي طرح در هيأت وزيران </a:t>
            </a:r>
          </a:p>
        </p:txBody>
      </p:sp>
      <p:sp>
        <p:nvSpPr>
          <p:cNvPr id="3" name="Rectangle 2">
            <a:extLst>
              <a:ext uri="{FF2B5EF4-FFF2-40B4-BE49-F238E27FC236}">
                <a16:creationId xmlns:a16="http://schemas.microsoft.com/office/drawing/2014/main" id="{A9F640CD-EB75-AF92-2A93-5BFB1FB78122}"/>
              </a:ext>
            </a:extLst>
          </p:cNvPr>
          <p:cNvSpPr/>
          <p:nvPr/>
        </p:nvSpPr>
        <p:spPr>
          <a:xfrm>
            <a:off x="5699862" y="1546711"/>
            <a:ext cx="2721461" cy="161537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r" rtl="1">
              <a:lnSpc>
                <a:spcPct val="140000"/>
              </a:lnSpc>
              <a:spcBef>
                <a:spcPts val="0"/>
              </a:spcBef>
              <a:spcAft>
                <a:spcPts val="0"/>
              </a:spcAft>
              <a:buNone/>
            </a:pPr>
            <a:r>
              <a:rPr lang="fa-IR" sz="1200" dirty="0">
                <a:solidFill>
                  <a:srgbClr val="FFFFFF"/>
                </a:solidFill>
                <a:latin typeface="Open Sans"/>
                <a:ea typeface="Open Sans"/>
                <a:cs typeface="B Nazanin" panose="00000700000000000000" pitchFamily="2" charset="-78"/>
                <a:sym typeface="Open Sans"/>
              </a:rPr>
              <a:t>2. </a:t>
            </a:r>
            <a:r>
              <a:rPr lang="fa-IR" sz="1200" i="0" u="none" strike="noStrike" cap="none" dirty="0">
                <a:solidFill>
                  <a:srgbClr val="FFFFFF"/>
                </a:solidFill>
                <a:latin typeface="Open Sans"/>
                <a:ea typeface="Open Sans"/>
                <a:cs typeface="B Nazanin" panose="00000700000000000000" pitchFamily="2" charset="-78"/>
                <a:sym typeface="Open Sans"/>
              </a:rPr>
              <a:t>اظهارنظر نسبت به پيشنهادها و لوايح شهرسازي و مقررات مربوط به طرح هاي جامع شهري كه شامل منطقه بندي- نحوه استفاده از زمين- تعيين مناطق صنعتي- بازرگاني- اداري- مسكوني- تأسيسات عمومي - فضاي سبز و ساير نيازمندي هاي عمومي شهر مي باشد</a:t>
            </a:r>
          </a:p>
        </p:txBody>
      </p:sp>
      <p:sp>
        <p:nvSpPr>
          <p:cNvPr id="5" name="Rectangle 4">
            <a:extLst>
              <a:ext uri="{FF2B5EF4-FFF2-40B4-BE49-F238E27FC236}">
                <a16:creationId xmlns:a16="http://schemas.microsoft.com/office/drawing/2014/main" id="{0933545F-BA3A-C1A9-0882-FE865A4CCD3C}"/>
              </a:ext>
            </a:extLst>
          </p:cNvPr>
          <p:cNvSpPr/>
          <p:nvPr/>
        </p:nvSpPr>
        <p:spPr>
          <a:xfrm>
            <a:off x="5699862" y="3238694"/>
            <a:ext cx="2721461" cy="49877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rtl="1">
              <a:lnSpc>
                <a:spcPct val="140000"/>
              </a:lnSpc>
              <a:spcBef>
                <a:spcPts val="0"/>
              </a:spcBef>
              <a:spcAft>
                <a:spcPts val="0"/>
              </a:spcAft>
              <a:buNone/>
            </a:pPr>
            <a:r>
              <a:rPr lang="fa-IR" sz="1200" dirty="0">
                <a:solidFill>
                  <a:srgbClr val="FFFFFF"/>
                </a:solidFill>
                <a:latin typeface="Open Sans"/>
                <a:ea typeface="Open Sans"/>
                <a:cs typeface="B Nazanin" panose="00000700000000000000" pitchFamily="2" charset="-78"/>
                <a:sym typeface="Open Sans"/>
              </a:rPr>
              <a:t>3</a:t>
            </a:r>
            <a:r>
              <a:rPr lang="fa-IR" sz="1200" i="0" u="none" strike="noStrike" cap="none" dirty="0">
                <a:solidFill>
                  <a:srgbClr val="FFFFFF"/>
                </a:solidFill>
                <a:latin typeface="Open Sans"/>
                <a:ea typeface="Open Sans"/>
                <a:cs typeface="B Nazanin" panose="00000700000000000000" pitchFamily="2" charset="-78"/>
                <a:sym typeface="Open Sans"/>
              </a:rPr>
              <a:t>. بررسي و تصويب نهائي طرحهاي جامع شهري و تغييرات آنها خارج از نقشه هاي تفصيلي</a:t>
            </a:r>
          </a:p>
        </p:txBody>
      </p:sp>
      <p:sp>
        <p:nvSpPr>
          <p:cNvPr id="6" name="Rectangle 5">
            <a:extLst>
              <a:ext uri="{FF2B5EF4-FFF2-40B4-BE49-F238E27FC236}">
                <a16:creationId xmlns:a16="http://schemas.microsoft.com/office/drawing/2014/main" id="{689417CD-A861-713F-799A-C010F42E7D84}"/>
              </a:ext>
            </a:extLst>
          </p:cNvPr>
          <p:cNvSpPr/>
          <p:nvPr/>
        </p:nvSpPr>
        <p:spPr>
          <a:xfrm>
            <a:off x="5699862" y="3814069"/>
            <a:ext cx="2721461" cy="49877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rtl="1">
              <a:lnSpc>
                <a:spcPct val="140000"/>
              </a:lnSpc>
              <a:spcBef>
                <a:spcPts val="0"/>
              </a:spcBef>
              <a:spcAft>
                <a:spcPts val="0"/>
              </a:spcAft>
              <a:buNone/>
            </a:pPr>
            <a:r>
              <a:rPr lang="fa-IR" sz="1200" dirty="0">
                <a:solidFill>
                  <a:srgbClr val="FFFFFF"/>
                </a:solidFill>
                <a:latin typeface="Open Sans"/>
                <a:ea typeface="Open Sans"/>
                <a:cs typeface="B Nazanin" panose="00000700000000000000" pitchFamily="2" charset="-78"/>
                <a:sym typeface="Open Sans"/>
              </a:rPr>
              <a:t>4. تصويب معيارها و ضوابط و آئين نامه هاي شهرسازي</a:t>
            </a:r>
            <a:endParaRPr lang="fa-IR" sz="1200" i="0" u="none" strike="noStrike" cap="none" dirty="0">
              <a:solidFill>
                <a:srgbClr val="FFFFFF"/>
              </a:solidFill>
              <a:latin typeface="Open Sans"/>
              <a:ea typeface="Open Sans"/>
              <a:cs typeface="B Nazanin" panose="00000700000000000000" pitchFamily="2" charset="-78"/>
              <a:sym typeface="Open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pic>
        <p:nvPicPr>
          <p:cNvPr id="473" name="Google Shape;473;p42"/>
          <p:cNvPicPr preferRelativeResize="0"/>
          <p:nvPr/>
        </p:nvPicPr>
        <p:blipFill rotWithShape="1">
          <a:blip r:embed="rId3">
            <a:alphaModFix/>
          </a:blip>
          <a:srcRect t="11362" b="11361"/>
          <a:stretch/>
        </p:blipFill>
        <p:spPr>
          <a:xfrm>
            <a:off x="0" y="0"/>
            <a:ext cx="9144000" cy="5143500"/>
          </a:xfrm>
          <a:prstGeom prst="rect">
            <a:avLst/>
          </a:prstGeom>
          <a:noFill/>
          <a:ln>
            <a:noFill/>
          </a:ln>
        </p:spPr>
      </p:pic>
      <p:grpSp>
        <p:nvGrpSpPr>
          <p:cNvPr id="474" name="Google Shape;474;p42"/>
          <p:cNvGrpSpPr/>
          <p:nvPr/>
        </p:nvGrpSpPr>
        <p:grpSpPr>
          <a:xfrm>
            <a:off x="-4762" y="1950600"/>
            <a:ext cx="4714065" cy="1251874"/>
            <a:chOff x="0" y="0"/>
            <a:chExt cx="12570839" cy="3338331"/>
          </a:xfrm>
        </p:grpSpPr>
        <p:sp>
          <p:nvSpPr>
            <p:cNvPr id="475" name="Google Shape;475;p42"/>
            <p:cNvSpPr/>
            <p:nvPr/>
          </p:nvSpPr>
          <p:spPr>
            <a:xfrm>
              <a:off x="0" y="0"/>
              <a:ext cx="12570839" cy="3338331"/>
            </a:xfrm>
            <a:prstGeom prst="rect">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cs typeface="B Nazanin" panose="00000700000000000000" pitchFamily="2" charset="-78"/>
              </a:endParaRPr>
            </a:p>
          </p:txBody>
        </p:sp>
        <p:sp>
          <p:nvSpPr>
            <p:cNvPr id="476" name="Google Shape;476;p42"/>
            <p:cNvSpPr txBox="1"/>
            <p:nvPr/>
          </p:nvSpPr>
          <p:spPr>
            <a:xfrm>
              <a:off x="598672" y="917736"/>
              <a:ext cx="11197172" cy="147732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fa-IR" sz="3000" b="1" i="0" u="none" strike="noStrike" cap="none" dirty="0">
                  <a:solidFill>
                    <a:srgbClr val="000000"/>
                  </a:solidFill>
                  <a:latin typeface="Open Sans"/>
                  <a:ea typeface="Open Sans"/>
                  <a:cs typeface="B Nazanin" panose="00000700000000000000" pitchFamily="2" charset="-78"/>
                  <a:sym typeface="Open Sans"/>
                </a:rPr>
                <a:t>اعضای شورا</a:t>
              </a:r>
              <a:endParaRPr sz="700" dirty="0">
                <a:cs typeface="B Nazanin" panose="00000700000000000000" pitchFamily="2" charset="-78"/>
              </a:endParaRPr>
            </a:p>
          </p:txBody>
        </p:sp>
      </p:grpSp>
      <p:cxnSp>
        <p:nvCxnSpPr>
          <p:cNvPr id="477" name="Google Shape;477;p42"/>
          <p:cNvCxnSpPr/>
          <p:nvPr/>
        </p:nvCxnSpPr>
        <p:spPr>
          <a:xfrm rot="5399999">
            <a:off x="-857978" y="189098"/>
            <a:ext cx="3084866" cy="0"/>
          </a:xfrm>
          <a:prstGeom prst="straightConnector1">
            <a:avLst/>
          </a:prstGeom>
          <a:noFill/>
          <a:ln w="9525" cap="flat" cmpd="sng">
            <a:solidFill>
              <a:srgbClr val="FFFFFF"/>
            </a:solidFill>
            <a:prstDash val="solid"/>
            <a:round/>
            <a:headEnd type="none" w="sm" len="sm"/>
            <a:tailEnd type="none" w="sm" len="sm"/>
          </a:ln>
        </p:spPr>
      </p:cxnSp>
      <p:cxnSp>
        <p:nvCxnSpPr>
          <p:cNvPr id="478" name="Google Shape;478;p42"/>
          <p:cNvCxnSpPr/>
          <p:nvPr/>
        </p:nvCxnSpPr>
        <p:spPr>
          <a:xfrm rot="5399999">
            <a:off x="-857978" y="4949640"/>
            <a:ext cx="3084866" cy="0"/>
          </a:xfrm>
          <a:prstGeom prst="straightConnector1">
            <a:avLst/>
          </a:prstGeom>
          <a:noFill/>
          <a:ln w="9525" cap="flat" cmpd="sng">
            <a:solidFill>
              <a:srgbClr val="FFFFFF"/>
            </a:solidFill>
            <a:prstDash val="solid"/>
            <a:round/>
            <a:headEnd type="none" w="sm" len="sm"/>
            <a:tailEnd type="none" w="sm" len="sm"/>
          </a:ln>
        </p:spPr>
      </p:cxnSp>
      <p:grpSp>
        <p:nvGrpSpPr>
          <p:cNvPr id="480" name="Google Shape;480;p42"/>
          <p:cNvGrpSpPr/>
          <p:nvPr/>
        </p:nvGrpSpPr>
        <p:grpSpPr>
          <a:xfrm>
            <a:off x="8837359" y="-72330"/>
            <a:ext cx="1543051" cy="5808473"/>
            <a:chOff x="0" y="-38100"/>
            <a:chExt cx="812800" cy="3059607"/>
          </a:xfrm>
        </p:grpSpPr>
        <p:sp>
          <p:nvSpPr>
            <p:cNvPr id="481" name="Google Shape;481;p42"/>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482" name="Google Shape;482;p42"/>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483" name="Google Shape;483;p42"/>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sp>
        <p:nvSpPr>
          <p:cNvPr id="2" name="Rectangle: Rounded Corners 1">
            <a:extLst>
              <a:ext uri="{FF2B5EF4-FFF2-40B4-BE49-F238E27FC236}">
                <a16:creationId xmlns:a16="http://schemas.microsoft.com/office/drawing/2014/main" id="{54D2E5F6-5B3B-A89F-B4A8-76565320AB93}"/>
              </a:ext>
            </a:extLst>
          </p:cNvPr>
          <p:cNvSpPr/>
          <p:nvPr/>
        </p:nvSpPr>
        <p:spPr>
          <a:xfrm>
            <a:off x="6529275" y="189098"/>
            <a:ext cx="2168861" cy="312347"/>
          </a:xfrm>
          <a:prstGeom prst="round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rtl="1">
              <a:lnSpc>
                <a:spcPct val="140000"/>
              </a:lnSpc>
              <a:spcBef>
                <a:spcPts val="0"/>
              </a:spcBef>
              <a:spcAft>
                <a:spcPts val="0"/>
              </a:spcAft>
              <a:buNone/>
            </a:pPr>
            <a:r>
              <a:rPr lang="fa-IR" sz="1200" b="0" i="0" u="none" strike="noStrike" cap="none" dirty="0">
                <a:solidFill>
                  <a:schemeClr val="tx1"/>
                </a:solidFill>
                <a:latin typeface="Open Sans"/>
                <a:ea typeface="Open Sans"/>
                <a:cs typeface="B Nazanin" panose="00000700000000000000" pitchFamily="2" charset="-78"/>
                <a:sym typeface="Open Sans"/>
              </a:rPr>
              <a:t>1. وزير آباداني و مسكن.</a:t>
            </a:r>
          </a:p>
        </p:txBody>
      </p:sp>
      <p:sp>
        <p:nvSpPr>
          <p:cNvPr id="3" name="Rectangle: Rounded Corners 2">
            <a:extLst>
              <a:ext uri="{FF2B5EF4-FFF2-40B4-BE49-F238E27FC236}">
                <a16:creationId xmlns:a16="http://schemas.microsoft.com/office/drawing/2014/main" id="{324F016F-D010-9CE2-8467-BDC38FCA3B39}"/>
              </a:ext>
            </a:extLst>
          </p:cNvPr>
          <p:cNvSpPr/>
          <p:nvPr/>
        </p:nvSpPr>
        <p:spPr>
          <a:xfrm>
            <a:off x="6529274" y="614381"/>
            <a:ext cx="2168861" cy="312347"/>
          </a:xfrm>
          <a:prstGeom prst="round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rtl="1">
              <a:lnSpc>
                <a:spcPct val="140000"/>
              </a:lnSpc>
              <a:spcBef>
                <a:spcPts val="0"/>
              </a:spcBef>
              <a:spcAft>
                <a:spcPts val="0"/>
              </a:spcAft>
              <a:buNone/>
            </a:pPr>
            <a:r>
              <a:rPr lang="fa-IR" sz="1200" b="0" i="0" u="none" strike="noStrike" cap="none" dirty="0">
                <a:solidFill>
                  <a:schemeClr val="tx1"/>
                </a:solidFill>
                <a:latin typeface="Open Sans"/>
                <a:ea typeface="Open Sans"/>
                <a:cs typeface="B Nazanin" panose="00000700000000000000" pitchFamily="2" charset="-78"/>
                <a:sym typeface="Open Sans"/>
              </a:rPr>
              <a:t>2. وزير كشور</a:t>
            </a:r>
          </a:p>
        </p:txBody>
      </p:sp>
      <p:sp>
        <p:nvSpPr>
          <p:cNvPr id="4" name="Rectangle: Rounded Corners 3">
            <a:extLst>
              <a:ext uri="{FF2B5EF4-FFF2-40B4-BE49-F238E27FC236}">
                <a16:creationId xmlns:a16="http://schemas.microsoft.com/office/drawing/2014/main" id="{FDD590FE-8A7D-04DE-C5FB-F3E4E785B40C}"/>
              </a:ext>
            </a:extLst>
          </p:cNvPr>
          <p:cNvSpPr/>
          <p:nvPr/>
        </p:nvSpPr>
        <p:spPr>
          <a:xfrm>
            <a:off x="6529275" y="1039664"/>
            <a:ext cx="2168861" cy="312347"/>
          </a:xfrm>
          <a:prstGeom prst="round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rtl="1">
              <a:lnSpc>
                <a:spcPct val="140000"/>
              </a:lnSpc>
              <a:spcBef>
                <a:spcPts val="0"/>
              </a:spcBef>
              <a:spcAft>
                <a:spcPts val="0"/>
              </a:spcAft>
              <a:buNone/>
            </a:pPr>
            <a:r>
              <a:rPr lang="fa-IR" sz="1200" b="0" i="0" u="none" strike="noStrike" cap="none">
                <a:solidFill>
                  <a:schemeClr val="tx1"/>
                </a:solidFill>
                <a:latin typeface="Open Sans"/>
                <a:ea typeface="Open Sans"/>
                <a:cs typeface="B Nazanin" panose="00000700000000000000" pitchFamily="2" charset="-78"/>
                <a:sym typeface="Open Sans"/>
              </a:rPr>
              <a:t>3. وزير اقتصاد </a:t>
            </a:r>
            <a:endParaRPr lang="fa-IR" sz="1200" b="0" i="0" u="none" strike="noStrike" cap="none" dirty="0">
              <a:solidFill>
                <a:schemeClr val="tx1"/>
              </a:solidFill>
              <a:latin typeface="Open Sans"/>
              <a:ea typeface="Open Sans"/>
              <a:cs typeface="B Nazanin" panose="00000700000000000000" pitchFamily="2" charset="-78"/>
              <a:sym typeface="Open Sans"/>
            </a:endParaRPr>
          </a:p>
        </p:txBody>
      </p:sp>
      <p:sp>
        <p:nvSpPr>
          <p:cNvPr id="5" name="Rectangle: Rounded Corners 4">
            <a:extLst>
              <a:ext uri="{FF2B5EF4-FFF2-40B4-BE49-F238E27FC236}">
                <a16:creationId xmlns:a16="http://schemas.microsoft.com/office/drawing/2014/main" id="{E86D8D26-7180-63DD-5459-3C6B6DEE3892}"/>
              </a:ext>
            </a:extLst>
          </p:cNvPr>
          <p:cNvSpPr/>
          <p:nvPr/>
        </p:nvSpPr>
        <p:spPr>
          <a:xfrm>
            <a:off x="6529274" y="1464947"/>
            <a:ext cx="2168861" cy="312347"/>
          </a:xfrm>
          <a:prstGeom prst="round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rtl="1">
              <a:lnSpc>
                <a:spcPct val="140000"/>
              </a:lnSpc>
              <a:spcBef>
                <a:spcPts val="0"/>
              </a:spcBef>
              <a:spcAft>
                <a:spcPts val="0"/>
              </a:spcAft>
              <a:buNone/>
            </a:pPr>
            <a:r>
              <a:rPr lang="fa-IR" sz="1200" b="0" i="0" u="none" strike="noStrike" cap="none" dirty="0">
                <a:solidFill>
                  <a:schemeClr val="tx1"/>
                </a:solidFill>
                <a:latin typeface="Open Sans"/>
                <a:ea typeface="Open Sans"/>
                <a:cs typeface="B Nazanin" panose="00000700000000000000" pitchFamily="2" charset="-78"/>
                <a:sym typeface="Open Sans"/>
              </a:rPr>
              <a:t>4. وزير فرهنگ و هنر.</a:t>
            </a:r>
          </a:p>
        </p:txBody>
      </p:sp>
      <p:sp>
        <p:nvSpPr>
          <p:cNvPr id="6" name="Rectangle: Rounded Corners 5">
            <a:extLst>
              <a:ext uri="{FF2B5EF4-FFF2-40B4-BE49-F238E27FC236}">
                <a16:creationId xmlns:a16="http://schemas.microsoft.com/office/drawing/2014/main" id="{3B955579-CF1D-3FEC-AC06-8D180BE469B9}"/>
              </a:ext>
            </a:extLst>
          </p:cNvPr>
          <p:cNvSpPr/>
          <p:nvPr/>
        </p:nvSpPr>
        <p:spPr>
          <a:xfrm>
            <a:off x="6529274" y="1890230"/>
            <a:ext cx="2168861" cy="312347"/>
          </a:xfrm>
          <a:prstGeom prst="round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rtl="1">
              <a:lnSpc>
                <a:spcPct val="140000"/>
              </a:lnSpc>
              <a:spcBef>
                <a:spcPts val="0"/>
              </a:spcBef>
              <a:spcAft>
                <a:spcPts val="0"/>
              </a:spcAft>
              <a:buNone/>
            </a:pPr>
            <a:r>
              <a:rPr lang="fa-IR" sz="1200" b="0" i="0" u="none" strike="noStrike" cap="none" dirty="0">
                <a:solidFill>
                  <a:schemeClr val="tx1"/>
                </a:solidFill>
                <a:latin typeface="Open Sans"/>
                <a:ea typeface="Open Sans"/>
                <a:cs typeface="B Nazanin" panose="00000700000000000000" pitchFamily="2" charset="-78"/>
                <a:sym typeface="Open Sans"/>
              </a:rPr>
              <a:t>5. وزير آب و برق.</a:t>
            </a:r>
          </a:p>
        </p:txBody>
      </p:sp>
      <p:sp>
        <p:nvSpPr>
          <p:cNvPr id="7" name="Rectangle: Rounded Corners 6">
            <a:extLst>
              <a:ext uri="{FF2B5EF4-FFF2-40B4-BE49-F238E27FC236}">
                <a16:creationId xmlns:a16="http://schemas.microsoft.com/office/drawing/2014/main" id="{FC114387-98B3-B19D-4707-F9C328EA11A7}"/>
              </a:ext>
            </a:extLst>
          </p:cNvPr>
          <p:cNvSpPr/>
          <p:nvPr/>
        </p:nvSpPr>
        <p:spPr>
          <a:xfrm>
            <a:off x="6529273" y="2315513"/>
            <a:ext cx="2168861" cy="312347"/>
          </a:xfrm>
          <a:prstGeom prst="round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rtl="1">
              <a:lnSpc>
                <a:spcPct val="140000"/>
              </a:lnSpc>
              <a:spcBef>
                <a:spcPts val="0"/>
              </a:spcBef>
              <a:spcAft>
                <a:spcPts val="0"/>
              </a:spcAft>
              <a:buNone/>
            </a:pPr>
            <a:r>
              <a:rPr lang="fa-IR" sz="1200" b="0" i="0" u="none" strike="noStrike" cap="none" dirty="0">
                <a:solidFill>
                  <a:schemeClr val="tx1"/>
                </a:solidFill>
                <a:latin typeface="Open Sans"/>
                <a:ea typeface="Open Sans"/>
                <a:cs typeface="B Nazanin" panose="00000700000000000000" pitchFamily="2" charset="-78"/>
                <a:sym typeface="Open Sans"/>
              </a:rPr>
              <a:t>6. وزير كشاورزي و منابع طبيعي .</a:t>
            </a:r>
          </a:p>
        </p:txBody>
      </p:sp>
      <p:sp>
        <p:nvSpPr>
          <p:cNvPr id="8" name="Rectangle: Rounded Corners 7">
            <a:extLst>
              <a:ext uri="{FF2B5EF4-FFF2-40B4-BE49-F238E27FC236}">
                <a16:creationId xmlns:a16="http://schemas.microsoft.com/office/drawing/2014/main" id="{01C9B309-396A-9C8D-4C53-BEB974B9A5B4}"/>
              </a:ext>
            </a:extLst>
          </p:cNvPr>
          <p:cNvSpPr/>
          <p:nvPr/>
        </p:nvSpPr>
        <p:spPr>
          <a:xfrm>
            <a:off x="6529274" y="2740796"/>
            <a:ext cx="2168861" cy="312347"/>
          </a:xfrm>
          <a:prstGeom prst="round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rtl="1">
              <a:lnSpc>
                <a:spcPct val="140000"/>
              </a:lnSpc>
              <a:spcBef>
                <a:spcPts val="0"/>
              </a:spcBef>
              <a:spcAft>
                <a:spcPts val="0"/>
              </a:spcAft>
              <a:buNone/>
            </a:pPr>
            <a:r>
              <a:rPr lang="fa-IR" sz="1200" b="0" i="0" u="none" strike="noStrike" cap="none" dirty="0">
                <a:solidFill>
                  <a:schemeClr val="tx1"/>
                </a:solidFill>
                <a:latin typeface="Open Sans"/>
                <a:ea typeface="Open Sans"/>
                <a:cs typeface="B Nazanin" panose="00000700000000000000" pitchFamily="2" charset="-78"/>
                <a:sym typeface="Open Sans"/>
              </a:rPr>
              <a:t>7. وزير جنگ.</a:t>
            </a:r>
          </a:p>
        </p:txBody>
      </p:sp>
      <p:sp>
        <p:nvSpPr>
          <p:cNvPr id="9" name="Rectangle: Rounded Corners 8">
            <a:extLst>
              <a:ext uri="{FF2B5EF4-FFF2-40B4-BE49-F238E27FC236}">
                <a16:creationId xmlns:a16="http://schemas.microsoft.com/office/drawing/2014/main" id="{1570C264-5097-BA4D-62DF-9466C2C416DD}"/>
              </a:ext>
            </a:extLst>
          </p:cNvPr>
          <p:cNvSpPr/>
          <p:nvPr/>
        </p:nvSpPr>
        <p:spPr>
          <a:xfrm>
            <a:off x="6529273" y="3166079"/>
            <a:ext cx="2168861" cy="312347"/>
          </a:xfrm>
          <a:prstGeom prst="round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rtl="1">
              <a:lnSpc>
                <a:spcPct val="140000"/>
              </a:lnSpc>
              <a:spcBef>
                <a:spcPts val="0"/>
              </a:spcBef>
              <a:spcAft>
                <a:spcPts val="0"/>
              </a:spcAft>
              <a:buNone/>
            </a:pPr>
            <a:r>
              <a:rPr lang="fa-IR" sz="1200" b="0" i="0" u="none" strike="noStrike" cap="none" dirty="0">
                <a:solidFill>
                  <a:schemeClr val="tx1"/>
                </a:solidFill>
                <a:latin typeface="Open Sans"/>
                <a:ea typeface="Open Sans"/>
                <a:cs typeface="B Nazanin" panose="00000700000000000000" pitchFamily="2" charset="-78"/>
                <a:sym typeface="Open Sans"/>
              </a:rPr>
              <a:t>8. رئيس سازمان برنامه و بودجه.</a:t>
            </a:r>
          </a:p>
        </p:txBody>
      </p:sp>
      <p:sp>
        <p:nvSpPr>
          <p:cNvPr id="11" name="Rectangle: Rounded Corners 10">
            <a:extLst>
              <a:ext uri="{FF2B5EF4-FFF2-40B4-BE49-F238E27FC236}">
                <a16:creationId xmlns:a16="http://schemas.microsoft.com/office/drawing/2014/main" id="{41D7AF03-81BF-A48C-F4E7-AFDD4B797893}"/>
              </a:ext>
            </a:extLst>
          </p:cNvPr>
          <p:cNvSpPr/>
          <p:nvPr/>
        </p:nvSpPr>
        <p:spPr>
          <a:xfrm>
            <a:off x="6529272" y="3591361"/>
            <a:ext cx="2168861" cy="312347"/>
          </a:xfrm>
          <a:prstGeom prst="round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rtl="1">
              <a:lnSpc>
                <a:spcPct val="140000"/>
              </a:lnSpc>
              <a:spcBef>
                <a:spcPts val="0"/>
              </a:spcBef>
              <a:spcAft>
                <a:spcPts val="0"/>
              </a:spcAft>
              <a:buNone/>
            </a:pPr>
            <a:r>
              <a:rPr lang="fa-IR" sz="1200" b="0" i="0" u="none" strike="noStrike" cap="none" dirty="0">
                <a:solidFill>
                  <a:schemeClr val="tx1"/>
                </a:solidFill>
                <a:latin typeface="Open Sans"/>
                <a:ea typeface="Open Sans"/>
                <a:cs typeface="B Nazanin" panose="00000700000000000000" pitchFamily="2" charset="-78"/>
                <a:sym typeface="Open Sans"/>
              </a:rPr>
              <a:t>9. وزير جهاد سازندگي </a:t>
            </a:r>
          </a:p>
        </p:txBody>
      </p:sp>
      <p:sp>
        <p:nvSpPr>
          <p:cNvPr id="12" name="Rectangle: Rounded Corners 11">
            <a:extLst>
              <a:ext uri="{FF2B5EF4-FFF2-40B4-BE49-F238E27FC236}">
                <a16:creationId xmlns:a16="http://schemas.microsoft.com/office/drawing/2014/main" id="{83CDB69A-2274-313A-27E7-E3C178CD3F31}"/>
              </a:ext>
            </a:extLst>
          </p:cNvPr>
          <p:cNvSpPr/>
          <p:nvPr/>
        </p:nvSpPr>
        <p:spPr>
          <a:xfrm>
            <a:off x="6529273" y="4016644"/>
            <a:ext cx="2168861" cy="312347"/>
          </a:xfrm>
          <a:prstGeom prst="round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rtl="1">
              <a:lnSpc>
                <a:spcPct val="140000"/>
              </a:lnSpc>
              <a:spcBef>
                <a:spcPts val="0"/>
              </a:spcBef>
              <a:spcAft>
                <a:spcPts val="0"/>
              </a:spcAft>
              <a:buNone/>
            </a:pPr>
            <a:r>
              <a:rPr lang="fa-IR" sz="1200" b="0" i="0" u="none" strike="noStrike" cap="none" dirty="0">
                <a:solidFill>
                  <a:schemeClr val="tx1"/>
                </a:solidFill>
                <a:latin typeface="Open Sans"/>
                <a:ea typeface="Open Sans"/>
                <a:cs typeface="B Nazanin" panose="00000700000000000000" pitchFamily="2" charset="-78"/>
                <a:sym typeface="Open Sans"/>
              </a:rPr>
              <a:t>10. وزير راه و شهرسازي</a:t>
            </a:r>
          </a:p>
        </p:txBody>
      </p:sp>
      <p:sp>
        <p:nvSpPr>
          <p:cNvPr id="13" name="Rectangle: Rounded Corners 12">
            <a:extLst>
              <a:ext uri="{FF2B5EF4-FFF2-40B4-BE49-F238E27FC236}">
                <a16:creationId xmlns:a16="http://schemas.microsoft.com/office/drawing/2014/main" id="{71BBA5B7-B7BA-F2A9-FB3F-240A0DD141A6}"/>
              </a:ext>
            </a:extLst>
          </p:cNvPr>
          <p:cNvSpPr/>
          <p:nvPr/>
        </p:nvSpPr>
        <p:spPr>
          <a:xfrm>
            <a:off x="6529272" y="4441927"/>
            <a:ext cx="2168861" cy="312347"/>
          </a:xfrm>
          <a:prstGeom prst="round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lvl="0" algn="r" rtl="1">
              <a:lnSpc>
                <a:spcPct val="140000"/>
              </a:lnSpc>
            </a:pPr>
            <a:r>
              <a:rPr lang="fa-IR" sz="1200" dirty="0">
                <a:solidFill>
                  <a:schemeClr val="tx1"/>
                </a:solidFill>
                <a:latin typeface="Open Sans"/>
                <a:ea typeface="Open Sans"/>
                <a:cs typeface="B Nazanin" panose="00000700000000000000" pitchFamily="2" charset="-78"/>
                <a:sym typeface="Open Sans"/>
              </a:rPr>
              <a:t>11. رئيس سازمان مديريت بحران كشور </a:t>
            </a:r>
          </a:p>
        </p:txBody>
      </p:sp>
      <p:sp>
        <p:nvSpPr>
          <p:cNvPr id="18" name="Rectangle: Rounded Corners 17">
            <a:extLst>
              <a:ext uri="{FF2B5EF4-FFF2-40B4-BE49-F238E27FC236}">
                <a16:creationId xmlns:a16="http://schemas.microsoft.com/office/drawing/2014/main" id="{75BA2C30-7BB9-4C71-1A40-93EE5C053798}"/>
              </a:ext>
            </a:extLst>
          </p:cNvPr>
          <p:cNvSpPr/>
          <p:nvPr/>
        </p:nvSpPr>
        <p:spPr>
          <a:xfrm>
            <a:off x="1187249" y="189098"/>
            <a:ext cx="5089692" cy="425283"/>
          </a:xfrm>
          <a:prstGeom prst="round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rtl="1">
              <a:lnSpc>
                <a:spcPct val="140000"/>
              </a:lnSpc>
              <a:spcBef>
                <a:spcPts val="0"/>
              </a:spcBef>
              <a:spcAft>
                <a:spcPts val="0"/>
              </a:spcAft>
              <a:buNone/>
            </a:pPr>
            <a:r>
              <a:rPr lang="fa-IR" sz="1200" b="0" i="0" u="none" strike="noStrike" cap="none" dirty="0">
                <a:solidFill>
                  <a:schemeClr val="tx1"/>
                </a:solidFill>
                <a:latin typeface="Open Sans"/>
                <a:ea typeface="Open Sans"/>
                <a:cs typeface="B Nazanin" panose="00000700000000000000" pitchFamily="2" charset="-78"/>
                <a:sym typeface="Open Sans"/>
              </a:rPr>
              <a:t>12. يك نفر از اعضاي كميسيون مسكن و شهرسازي و راه و ترابري مجلس شوراي اسلامي به عنوان ناظر</a:t>
            </a:r>
          </a:p>
        </p:txBody>
      </p:sp>
      <p:sp>
        <p:nvSpPr>
          <p:cNvPr id="19" name="Rectangle: Rounded Corners 18">
            <a:extLst>
              <a:ext uri="{FF2B5EF4-FFF2-40B4-BE49-F238E27FC236}">
                <a16:creationId xmlns:a16="http://schemas.microsoft.com/office/drawing/2014/main" id="{284A7A20-8573-2B65-DD69-5EE0ADC4F661}"/>
              </a:ext>
            </a:extLst>
          </p:cNvPr>
          <p:cNvSpPr/>
          <p:nvPr/>
        </p:nvSpPr>
        <p:spPr>
          <a:xfrm>
            <a:off x="1187249" y="4203290"/>
            <a:ext cx="4020506" cy="550984"/>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r" rtl="1">
              <a:lnSpc>
                <a:spcPct val="140000"/>
              </a:lnSpc>
              <a:spcBef>
                <a:spcPts val="0"/>
              </a:spcBef>
              <a:spcAft>
                <a:spcPts val="0"/>
              </a:spcAft>
              <a:buNone/>
            </a:pPr>
            <a:r>
              <a:rPr lang="fa-IR" sz="1400" b="0" i="0" u="none" strike="noStrike" cap="none" dirty="0">
                <a:solidFill>
                  <a:srgbClr val="C00000"/>
                </a:solidFill>
                <a:latin typeface="Open Sans"/>
                <a:ea typeface="Open Sans"/>
                <a:cs typeface="B Nazanin" panose="00000700000000000000" pitchFamily="2" charset="-78"/>
                <a:sym typeface="Open Sans"/>
              </a:rPr>
              <a:t>*رياست شوراي عالي شهرسازي و معماري ايران با وزير آباداني و مسكن خواهد بود.*</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down)">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down)">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down)">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down)">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down)">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down)">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wipe(down)">
                                      <p:cBhvr>
                                        <p:cTn id="45" dur="5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6" presetClass="entr" presetSubtype="16"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circle(in)">
                                      <p:cBhvr>
                                        <p:cTn id="50" dur="20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1000"/>
                                        <p:tgtEl>
                                          <p:spTgt spid="12"/>
                                        </p:tgtEl>
                                      </p:cBhvr>
                                    </p:animEffect>
                                    <p:anim calcmode="lin" valueType="num">
                                      <p:cBhvr>
                                        <p:cTn id="56" dur="1000" fill="hold"/>
                                        <p:tgtEl>
                                          <p:spTgt spid="12"/>
                                        </p:tgtEl>
                                        <p:attrNameLst>
                                          <p:attrName>ppt_x</p:attrName>
                                        </p:attrNameLst>
                                      </p:cBhvr>
                                      <p:tavLst>
                                        <p:tav tm="0">
                                          <p:val>
                                            <p:strVal val="#ppt_x"/>
                                          </p:val>
                                        </p:tav>
                                        <p:tav tm="100000">
                                          <p:val>
                                            <p:strVal val="#ppt_x"/>
                                          </p:val>
                                        </p:tav>
                                      </p:tavLst>
                                    </p:anim>
                                    <p:anim calcmode="lin" valueType="num">
                                      <p:cBhvr>
                                        <p:cTn id="5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500" fill="hold"/>
                                        <p:tgtEl>
                                          <p:spTgt spid="13"/>
                                        </p:tgtEl>
                                        <p:attrNameLst>
                                          <p:attrName>ppt_x</p:attrName>
                                        </p:attrNameLst>
                                      </p:cBhvr>
                                      <p:tavLst>
                                        <p:tav tm="0">
                                          <p:val>
                                            <p:strVal val="#ppt_x"/>
                                          </p:val>
                                        </p:tav>
                                        <p:tav tm="100000">
                                          <p:val>
                                            <p:strVal val="#ppt_x"/>
                                          </p:val>
                                        </p:tav>
                                      </p:tavLst>
                                    </p:anim>
                                    <p:anim calcmode="lin" valueType="num">
                                      <p:cBhvr additive="base">
                                        <p:cTn id="6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500"/>
                                        <p:tgtEl>
                                          <p:spTgt spid="18"/>
                                        </p:tgtEl>
                                      </p:cBhvr>
                                    </p:animEffect>
                                  </p:childTnLst>
                                </p:cTn>
                              </p:par>
                            </p:childTnLst>
                          </p:cTn>
                        </p:par>
                      </p:childTnLst>
                    </p:cTn>
                  </p:par>
                  <p:par>
                    <p:cTn id="69" fill="hold">
                      <p:stCondLst>
                        <p:cond delay="indefinite"/>
                      </p:stCondLst>
                      <p:childTnLst>
                        <p:par>
                          <p:cTn id="70" fill="hold">
                            <p:stCondLst>
                              <p:cond delay="0"/>
                            </p:stCondLst>
                            <p:childTnLst>
                              <p:par>
                                <p:cTn id="71" presetID="26" presetClass="entr" presetSubtype="0" fill="hold" grpId="0" nodeType="click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wipe(down)">
                                      <p:cBhvr>
                                        <p:cTn id="73" dur="580">
                                          <p:stCondLst>
                                            <p:cond delay="0"/>
                                          </p:stCondLst>
                                        </p:cTn>
                                        <p:tgtEl>
                                          <p:spTgt spid="19"/>
                                        </p:tgtEl>
                                      </p:cBhvr>
                                    </p:animEffect>
                                    <p:anim calcmode="lin" valueType="num">
                                      <p:cBhvr>
                                        <p:cTn id="74"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75"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76"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77"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78"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79" dur="26">
                                          <p:stCondLst>
                                            <p:cond delay="650"/>
                                          </p:stCondLst>
                                        </p:cTn>
                                        <p:tgtEl>
                                          <p:spTgt spid="19"/>
                                        </p:tgtEl>
                                      </p:cBhvr>
                                      <p:to x="100000" y="60000"/>
                                    </p:animScale>
                                    <p:animScale>
                                      <p:cBhvr>
                                        <p:cTn id="80" dur="166" decel="50000">
                                          <p:stCondLst>
                                            <p:cond delay="676"/>
                                          </p:stCondLst>
                                        </p:cTn>
                                        <p:tgtEl>
                                          <p:spTgt spid="19"/>
                                        </p:tgtEl>
                                      </p:cBhvr>
                                      <p:to x="100000" y="100000"/>
                                    </p:animScale>
                                    <p:animScale>
                                      <p:cBhvr>
                                        <p:cTn id="81" dur="26">
                                          <p:stCondLst>
                                            <p:cond delay="1312"/>
                                          </p:stCondLst>
                                        </p:cTn>
                                        <p:tgtEl>
                                          <p:spTgt spid="19"/>
                                        </p:tgtEl>
                                      </p:cBhvr>
                                      <p:to x="100000" y="80000"/>
                                    </p:animScale>
                                    <p:animScale>
                                      <p:cBhvr>
                                        <p:cTn id="82" dur="166" decel="50000">
                                          <p:stCondLst>
                                            <p:cond delay="1338"/>
                                          </p:stCondLst>
                                        </p:cTn>
                                        <p:tgtEl>
                                          <p:spTgt spid="19"/>
                                        </p:tgtEl>
                                      </p:cBhvr>
                                      <p:to x="100000" y="100000"/>
                                    </p:animScale>
                                    <p:animScale>
                                      <p:cBhvr>
                                        <p:cTn id="83" dur="26">
                                          <p:stCondLst>
                                            <p:cond delay="1642"/>
                                          </p:stCondLst>
                                        </p:cTn>
                                        <p:tgtEl>
                                          <p:spTgt spid="19"/>
                                        </p:tgtEl>
                                      </p:cBhvr>
                                      <p:to x="100000" y="90000"/>
                                    </p:animScale>
                                    <p:animScale>
                                      <p:cBhvr>
                                        <p:cTn id="84" dur="166" decel="50000">
                                          <p:stCondLst>
                                            <p:cond delay="1668"/>
                                          </p:stCondLst>
                                        </p:cTn>
                                        <p:tgtEl>
                                          <p:spTgt spid="19"/>
                                        </p:tgtEl>
                                      </p:cBhvr>
                                      <p:to x="100000" y="100000"/>
                                    </p:animScale>
                                    <p:animScale>
                                      <p:cBhvr>
                                        <p:cTn id="85" dur="26">
                                          <p:stCondLst>
                                            <p:cond delay="1808"/>
                                          </p:stCondLst>
                                        </p:cTn>
                                        <p:tgtEl>
                                          <p:spTgt spid="19"/>
                                        </p:tgtEl>
                                      </p:cBhvr>
                                      <p:to x="100000" y="95000"/>
                                    </p:animScale>
                                    <p:animScale>
                                      <p:cBhvr>
                                        <p:cTn id="86" dur="166" decel="50000">
                                          <p:stCondLst>
                                            <p:cond delay="1834"/>
                                          </p:stCondLst>
                                        </p:cTn>
                                        <p:tgtEl>
                                          <p:spTgt spid="1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1" grpId="0" animBg="1"/>
      <p:bldP spid="12" grpId="0" animBg="1"/>
      <p:bldP spid="13" grpId="0" animBg="1"/>
      <p:bldP spid="18" grpId="0" animBg="1"/>
      <p:bldP spid="1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487"/>
        <p:cNvGrpSpPr/>
        <p:nvPr/>
      </p:nvGrpSpPr>
      <p:grpSpPr>
        <a:xfrm>
          <a:off x="0" y="0"/>
          <a:ext cx="0" cy="0"/>
          <a:chOff x="0" y="0"/>
          <a:chExt cx="0" cy="0"/>
        </a:xfrm>
      </p:grpSpPr>
      <p:sp>
        <p:nvSpPr>
          <p:cNvPr id="491" name="Google Shape;491;p43"/>
          <p:cNvSpPr txBox="1"/>
          <p:nvPr/>
        </p:nvSpPr>
        <p:spPr>
          <a:xfrm>
            <a:off x="1661324" y="807009"/>
            <a:ext cx="5821500" cy="55399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fa-IR" sz="3000" b="1" i="0" u="none" strike="noStrike" cap="none" dirty="0">
                <a:solidFill>
                  <a:srgbClr val="FFFFFF"/>
                </a:solidFill>
                <a:latin typeface="Open Sans"/>
                <a:ea typeface="Open Sans"/>
                <a:cs typeface="B Nazanin" panose="00000700000000000000" pitchFamily="2" charset="-78"/>
                <a:sym typeface="Open Sans"/>
              </a:rPr>
              <a:t>طرح تفصیلی</a:t>
            </a:r>
            <a:endParaRPr sz="700" b="1" dirty="0">
              <a:latin typeface="Open Sans"/>
              <a:ea typeface="Open Sans"/>
              <a:cs typeface="B Nazanin" panose="00000700000000000000" pitchFamily="2" charset="-78"/>
              <a:sym typeface="Open Sans"/>
            </a:endParaRPr>
          </a:p>
        </p:txBody>
      </p:sp>
      <p:sp>
        <p:nvSpPr>
          <p:cNvPr id="496" name="Google Shape;496;p43"/>
          <p:cNvSpPr txBox="1"/>
          <p:nvPr/>
        </p:nvSpPr>
        <p:spPr>
          <a:xfrm>
            <a:off x="1128252" y="2000335"/>
            <a:ext cx="6872748" cy="155119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fa-IR" sz="1200" i="0" u="none" strike="noStrike" cap="none" dirty="0">
                <a:solidFill>
                  <a:srgbClr val="FFFFFF"/>
                </a:solidFill>
                <a:latin typeface="Open Sans"/>
                <a:ea typeface="Open Sans"/>
                <a:cs typeface="B Nazanin" panose="00000700000000000000" pitchFamily="2" charset="-78"/>
                <a:sym typeface="Open Sans"/>
              </a:rPr>
              <a:t>بررسي و تصويب طرحهاي تفصيلي شهري و تغييرات آنها در هراستان به وسيله كميسيوني به رياست استاندار (ودر غياب وي معاون عمراني استانداري) و با عضويت شهردار و نمايندگان وزارت راه و شهرسازي، وزارت جهاد كشاورزي ، وزارت كشاورزي و سازمان ميراث فرهنگي و گردشگري و صنايع دستي و همچنين رئيس شوراي اسالمي شهر ذي ربط و نماينده سازمان نظام مهندسي استان (با تخصص معماري يا شهرسازي) بدون حق رأي انجام مي شود. تغييرات نقشه هاي تفصيلي اگر بر اساس طرح جامع شهري مؤثر باشد بايد به تأييد مرجع تصويب كننده طرح جامع (شوراي عالي شهرسازي و معماري ايران يا مرجع تعيين شده از طرف شوراي عالي) برسد.</a:t>
            </a:r>
          </a:p>
          <a:p>
            <a:pPr marL="0" marR="0" lvl="0" indent="0" algn="ctr" rtl="0">
              <a:lnSpc>
                <a:spcPct val="140000"/>
              </a:lnSpc>
              <a:spcBef>
                <a:spcPts val="0"/>
              </a:spcBef>
              <a:spcAft>
                <a:spcPts val="0"/>
              </a:spcAft>
              <a:buNone/>
            </a:pPr>
            <a:r>
              <a:rPr lang="fa-IR" sz="1200" i="0" u="none" strike="noStrike" cap="none" dirty="0">
                <a:solidFill>
                  <a:srgbClr val="FFFFFF"/>
                </a:solidFill>
                <a:latin typeface="Open Sans"/>
                <a:ea typeface="Open Sans"/>
                <a:cs typeface="B Nazanin" panose="00000700000000000000" pitchFamily="2" charset="-78"/>
                <a:sym typeface="Open Sans"/>
              </a:rPr>
              <a:t>دبيرخانه كميسيون در سازمان مسكن و شهرسازي استان مي باشد.</a:t>
            </a:r>
          </a:p>
        </p:txBody>
      </p:sp>
      <p:grpSp>
        <p:nvGrpSpPr>
          <p:cNvPr id="498" name="Google Shape;498;p43"/>
          <p:cNvGrpSpPr/>
          <p:nvPr/>
        </p:nvGrpSpPr>
        <p:grpSpPr>
          <a:xfrm>
            <a:off x="8837359" y="-72330"/>
            <a:ext cx="1543051" cy="5808473"/>
            <a:chOff x="0" y="-38100"/>
            <a:chExt cx="812800" cy="3059607"/>
          </a:xfrm>
        </p:grpSpPr>
        <p:sp>
          <p:nvSpPr>
            <p:cNvPr id="499" name="Google Shape;499;p43"/>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FFFFFF">
                <a:alpha val="13333"/>
              </a:srgbClr>
            </a:solidFill>
            <a:ln>
              <a:noFill/>
            </a:ln>
          </p:spPr>
          <p:txBody>
            <a:bodyPr/>
            <a:lstStyle/>
            <a:p>
              <a:endParaRPr lang="en-US"/>
            </a:p>
          </p:txBody>
        </p:sp>
        <p:sp>
          <p:nvSpPr>
            <p:cNvPr id="500" name="Google Shape;500;p43"/>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501" name="Google Shape;501;p43"/>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cxnSp>
        <p:nvCxnSpPr>
          <p:cNvPr id="502" name="Google Shape;502;p43"/>
          <p:cNvCxnSpPr/>
          <p:nvPr/>
        </p:nvCxnSpPr>
        <p:spPr>
          <a:xfrm rot="5400000">
            <a:off x="-827527" y="-551371"/>
            <a:ext cx="3626382" cy="0"/>
          </a:xfrm>
          <a:prstGeom prst="straightConnector1">
            <a:avLst/>
          </a:prstGeom>
          <a:noFill/>
          <a:ln w="9525" cap="flat" cmpd="sng">
            <a:solidFill>
              <a:srgbClr val="FFFFFF"/>
            </a:solidFill>
            <a:prstDash val="solid"/>
            <a:round/>
            <a:headEnd type="none" w="sm" len="sm"/>
            <a:tailEnd type="none" w="sm" len="sm"/>
          </a:ln>
        </p:spPr>
      </p:cxnSp>
      <p:cxnSp>
        <p:nvCxnSpPr>
          <p:cNvPr id="503" name="Google Shape;503;p43"/>
          <p:cNvCxnSpPr/>
          <p:nvPr/>
        </p:nvCxnSpPr>
        <p:spPr>
          <a:xfrm rot="5400000">
            <a:off x="6345145" y="5707093"/>
            <a:ext cx="3626382" cy="0"/>
          </a:xfrm>
          <a:prstGeom prst="straightConnector1">
            <a:avLst/>
          </a:prstGeom>
          <a:noFill/>
          <a:ln w="9525" cap="flat" cmpd="sng">
            <a:solidFill>
              <a:srgbClr val="FFFFFF"/>
            </a:solidFill>
            <a:prstDash val="solid"/>
            <a:round/>
            <a:headEnd type="none" w="sm" len="sm"/>
            <a:tailEnd type="none" w="sm" len="sm"/>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5" name="Picture 4" descr="A map of a city&#10;&#10;Description automatically generated">
            <a:extLst>
              <a:ext uri="{FF2B5EF4-FFF2-40B4-BE49-F238E27FC236}">
                <a16:creationId xmlns:a16="http://schemas.microsoft.com/office/drawing/2014/main" id="{3EC82280-266C-4650-9371-DBDB3B2E5874}"/>
              </a:ext>
            </a:extLst>
          </p:cNvPr>
          <p:cNvPicPr>
            <a:picLocks noChangeAspect="1"/>
          </p:cNvPicPr>
          <p:nvPr/>
        </p:nvPicPr>
        <p:blipFill>
          <a:blip r:embed="rId3"/>
          <a:stretch>
            <a:fillRect/>
          </a:stretch>
        </p:blipFill>
        <p:spPr>
          <a:xfrm rot="5400000">
            <a:off x="5787789" y="-807508"/>
            <a:ext cx="2584593" cy="4101776"/>
          </a:xfrm>
          <a:prstGeom prst="rect">
            <a:avLst/>
          </a:prstGeom>
        </p:spPr>
      </p:pic>
      <p:pic>
        <p:nvPicPr>
          <p:cNvPr id="3" name="Picture 2" descr="An aerial view of a road with cars and a bus on it&#10;&#10;Description automatically generated">
            <a:extLst>
              <a:ext uri="{FF2B5EF4-FFF2-40B4-BE49-F238E27FC236}">
                <a16:creationId xmlns:a16="http://schemas.microsoft.com/office/drawing/2014/main" id="{7955CEDE-1E13-B057-731D-C339D2E5A8A1}"/>
              </a:ext>
            </a:extLst>
          </p:cNvPr>
          <p:cNvPicPr>
            <a:picLocks noChangeAspect="1"/>
          </p:cNvPicPr>
          <p:nvPr/>
        </p:nvPicPr>
        <p:blipFill>
          <a:blip r:embed="rId4"/>
          <a:stretch>
            <a:fillRect/>
          </a:stretch>
        </p:blipFill>
        <p:spPr>
          <a:xfrm>
            <a:off x="5029198" y="2669589"/>
            <a:ext cx="4101775" cy="2515842"/>
          </a:xfrm>
          <a:prstGeom prst="rect">
            <a:avLst/>
          </a:prstGeom>
        </p:spPr>
      </p:pic>
      <p:sp>
        <p:nvSpPr>
          <p:cNvPr id="148" name="Google Shape;148;p26"/>
          <p:cNvSpPr txBox="1"/>
          <p:nvPr/>
        </p:nvSpPr>
        <p:spPr>
          <a:xfrm>
            <a:off x="148856" y="754580"/>
            <a:ext cx="4241592" cy="1231106"/>
          </a:xfrm>
          <a:prstGeom prst="rect">
            <a:avLst/>
          </a:prstGeom>
          <a:noFill/>
          <a:ln>
            <a:noFill/>
          </a:ln>
        </p:spPr>
        <p:txBody>
          <a:bodyPr spcFirstLastPara="1" wrap="square" lIns="0" tIns="0" rIns="0" bIns="0" anchor="t" anchorCtr="0">
            <a:spAutoFit/>
          </a:bodyPr>
          <a:lstStyle/>
          <a:p>
            <a:pPr marL="0" marR="0" lvl="0" indent="0" algn="ctr" rtl="1">
              <a:lnSpc>
                <a:spcPct val="100000"/>
              </a:lnSpc>
              <a:spcBef>
                <a:spcPts val="0"/>
              </a:spcBef>
              <a:spcAft>
                <a:spcPts val="0"/>
              </a:spcAft>
              <a:buNone/>
            </a:pPr>
            <a:r>
              <a:rPr lang="fa-IR" sz="4000" b="1" i="0" u="none" strike="noStrike" cap="none" dirty="0">
                <a:solidFill>
                  <a:srgbClr val="000000"/>
                </a:solidFill>
                <a:latin typeface="Open Sans"/>
                <a:ea typeface="Open Sans"/>
                <a:cs typeface="B Nazanin" panose="00000700000000000000" pitchFamily="2" charset="-78"/>
                <a:sym typeface="Open Sans"/>
              </a:rPr>
              <a:t>قانون تعاريف و ضوابط تقسيمات كشوری</a:t>
            </a:r>
            <a:endParaRPr lang="fa-IR" sz="700" b="1" dirty="0">
              <a:latin typeface="Open Sans"/>
              <a:ea typeface="Open Sans"/>
              <a:cs typeface="B Nazanin" panose="00000700000000000000" pitchFamily="2" charset="-78"/>
              <a:sym typeface="Open Sans"/>
            </a:endParaRPr>
          </a:p>
        </p:txBody>
      </p:sp>
      <p:grpSp>
        <p:nvGrpSpPr>
          <p:cNvPr id="149" name="Google Shape;149;p26"/>
          <p:cNvGrpSpPr/>
          <p:nvPr/>
        </p:nvGrpSpPr>
        <p:grpSpPr>
          <a:xfrm>
            <a:off x="265814" y="1985686"/>
            <a:ext cx="3666849" cy="1875825"/>
            <a:chOff x="-662763" y="-3677330"/>
            <a:chExt cx="9778264" cy="6048457"/>
          </a:xfrm>
        </p:grpSpPr>
        <p:sp>
          <p:nvSpPr>
            <p:cNvPr id="150" name="Google Shape;150;p26"/>
            <p:cNvSpPr txBox="1"/>
            <p:nvPr/>
          </p:nvSpPr>
          <p:spPr>
            <a:xfrm>
              <a:off x="1571098" y="-3677330"/>
              <a:ext cx="6193800" cy="1135616"/>
            </a:xfrm>
            <a:prstGeom prst="rect">
              <a:avLst/>
            </a:prstGeom>
            <a:noFill/>
            <a:ln>
              <a:noFill/>
            </a:ln>
          </p:spPr>
          <p:txBody>
            <a:bodyPr spcFirstLastPara="1" wrap="square" lIns="0" tIns="0" rIns="0" bIns="0" anchor="t" anchorCtr="0">
              <a:spAutoFit/>
            </a:bodyPr>
            <a:lstStyle/>
            <a:p>
              <a:pPr marL="0" marR="0" lvl="0" indent="0" algn="ctr" rtl="1">
                <a:lnSpc>
                  <a:spcPct val="140000"/>
                </a:lnSpc>
                <a:spcBef>
                  <a:spcPts val="0"/>
                </a:spcBef>
                <a:spcAft>
                  <a:spcPts val="0"/>
                </a:spcAft>
                <a:buNone/>
              </a:pPr>
              <a:r>
                <a:rPr lang="fa-IR" i="0" u="none" strike="noStrike" cap="none" dirty="0">
                  <a:solidFill>
                    <a:srgbClr val="000000"/>
                  </a:solidFill>
                  <a:latin typeface="Open Sans"/>
                  <a:ea typeface="Open Sans"/>
                  <a:cs typeface="B Nazanin" panose="00000700000000000000" pitchFamily="2" charset="-78"/>
                  <a:sym typeface="Open Sans"/>
                </a:rPr>
                <a:t>مصوب سال1360</a:t>
              </a:r>
              <a:endParaRPr sz="1050" dirty="0">
                <a:latin typeface="Open Sans"/>
                <a:ea typeface="Open Sans"/>
                <a:cs typeface="B Nazanin" panose="00000700000000000000" pitchFamily="2" charset="-78"/>
                <a:sym typeface="Open Sans"/>
              </a:endParaRPr>
            </a:p>
          </p:txBody>
        </p:sp>
        <p:sp>
          <p:nvSpPr>
            <p:cNvPr id="151" name="Google Shape;151;p26"/>
            <p:cNvSpPr txBox="1"/>
            <p:nvPr/>
          </p:nvSpPr>
          <p:spPr>
            <a:xfrm>
              <a:off x="-662763" y="842827"/>
              <a:ext cx="9778264" cy="1528300"/>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100" b="1" i="0" u="none" strike="noStrike" cap="none" dirty="0">
                  <a:solidFill>
                    <a:srgbClr val="000000"/>
                  </a:solidFill>
                  <a:latin typeface="Open Sans"/>
                  <a:ea typeface="Open Sans"/>
                  <a:cs typeface="B Nazanin" panose="00000700000000000000" pitchFamily="2" charset="-78"/>
                  <a:sym typeface="Open Sans"/>
                </a:rPr>
                <a:t> این قانون تعیین می‌کند که چگونه کشور به استان‌ها، شهرستان‌ها، بخش‌ها و دهستان‌ها تقسیم شود.</a:t>
              </a:r>
              <a:endParaRPr lang="fa-IR" sz="900" b="1" dirty="0">
                <a:latin typeface="Open Sans"/>
                <a:ea typeface="Open Sans"/>
                <a:cs typeface="B Nazanin" panose="00000700000000000000" pitchFamily="2" charset="-78"/>
                <a:sym typeface="Open Sans"/>
              </a:endParaRPr>
            </a:p>
          </p:txBody>
        </p:sp>
      </p:grpSp>
      <p:grpSp>
        <p:nvGrpSpPr>
          <p:cNvPr id="152" name="Google Shape;152;p26"/>
          <p:cNvGrpSpPr/>
          <p:nvPr/>
        </p:nvGrpSpPr>
        <p:grpSpPr>
          <a:xfrm>
            <a:off x="514350" y="4156166"/>
            <a:ext cx="1716556" cy="1651544"/>
            <a:chOff x="0" y="-57150"/>
            <a:chExt cx="904194" cy="869950"/>
          </a:xfrm>
        </p:grpSpPr>
        <p:sp>
          <p:nvSpPr>
            <p:cNvPr id="153" name="Google Shape;153;p26"/>
            <p:cNvSpPr/>
            <p:nvPr/>
          </p:nvSpPr>
          <p:spPr>
            <a:xfrm>
              <a:off x="0" y="0"/>
              <a:ext cx="904194" cy="157520"/>
            </a:xfrm>
            <a:custGeom>
              <a:avLst/>
              <a:gdLst/>
              <a:ahLst/>
              <a:cxnLst/>
              <a:rect l="l" t="t" r="r" b="b"/>
              <a:pathLst>
                <a:path w="904194" h="157520" extrusionOk="0">
                  <a:moveTo>
                    <a:pt x="0" y="0"/>
                  </a:moveTo>
                  <a:lnTo>
                    <a:pt x="904194" y="0"/>
                  </a:lnTo>
                  <a:lnTo>
                    <a:pt x="904194" y="157520"/>
                  </a:lnTo>
                  <a:lnTo>
                    <a:pt x="0" y="157520"/>
                  </a:lnTo>
                  <a:close/>
                </a:path>
              </a:pathLst>
            </a:custGeom>
            <a:solidFill>
              <a:srgbClr val="000000"/>
            </a:solidFill>
            <a:ln>
              <a:noFill/>
            </a:ln>
          </p:spPr>
          <p:txBody>
            <a:bodyPr/>
            <a:lstStyle/>
            <a:p>
              <a:endParaRPr lang="en-US"/>
            </a:p>
          </p:txBody>
        </p:sp>
        <p:sp>
          <p:nvSpPr>
            <p:cNvPr id="154" name="Google Shape;154;p26"/>
            <p:cNvSpPr txBox="1"/>
            <p:nvPr/>
          </p:nvSpPr>
          <p:spPr>
            <a:xfrm>
              <a:off x="0" y="-57150"/>
              <a:ext cx="812800" cy="869950"/>
            </a:xfrm>
            <a:prstGeom prst="rect">
              <a:avLst/>
            </a:prstGeom>
            <a:noFill/>
            <a:ln>
              <a:noFill/>
            </a:ln>
          </p:spPr>
          <p:txBody>
            <a:bodyPr spcFirstLastPara="1" wrap="square" lIns="25400" tIns="25400" rIns="25400" bIns="25400" anchor="ctr" anchorCtr="0">
              <a:noAutofit/>
            </a:bodyPr>
            <a:lstStyle/>
            <a:p>
              <a:pPr marL="0" marR="0" lvl="0" indent="0" algn="ctr" rtl="1">
                <a:lnSpc>
                  <a:spcPct val="178888"/>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155" name="Google Shape;155;p26"/>
          <p:cNvSpPr txBox="1"/>
          <p:nvPr/>
        </p:nvSpPr>
        <p:spPr>
          <a:xfrm>
            <a:off x="514350" y="4241828"/>
            <a:ext cx="1750500" cy="344710"/>
          </a:xfrm>
          <a:prstGeom prst="rect">
            <a:avLst/>
          </a:prstGeom>
          <a:noFill/>
          <a:ln>
            <a:noFill/>
          </a:ln>
        </p:spPr>
        <p:txBody>
          <a:bodyPr spcFirstLastPara="1" wrap="square" lIns="0" tIns="0" rIns="0" bIns="0" anchor="t" anchorCtr="0">
            <a:spAutoFit/>
          </a:bodyPr>
          <a:lstStyle/>
          <a:p>
            <a:pPr marL="0" marR="0" lvl="0" indent="0" algn="ctr" rtl="1">
              <a:lnSpc>
                <a:spcPct val="140000"/>
              </a:lnSpc>
              <a:spcBef>
                <a:spcPts val="0"/>
              </a:spcBef>
              <a:spcAft>
                <a:spcPts val="0"/>
              </a:spcAft>
              <a:buNone/>
            </a:pPr>
            <a:r>
              <a:rPr lang="fa-IR" sz="1600" i="0" u="none" strike="noStrike" cap="none" dirty="0">
                <a:solidFill>
                  <a:srgbClr val="FFFFFF"/>
                </a:solidFill>
                <a:latin typeface="Open Sans"/>
                <a:ea typeface="Open Sans"/>
                <a:cs typeface="B Nazanin" panose="00000700000000000000" pitchFamily="2" charset="-78"/>
                <a:sym typeface="Open Sans"/>
              </a:rPr>
              <a:t>7 بخش</a:t>
            </a:r>
            <a:endParaRPr sz="1100" dirty="0">
              <a:latin typeface="Open Sans"/>
              <a:ea typeface="Open Sans"/>
              <a:cs typeface="B Nazanin" panose="00000700000000000000" pitchFamily="2" charset="-78"/>
              <a:sym typeface="Open Sans"/>
            </a:endParaRPr>
          </a:p>
        </p:txBody>
      </p:sp>
      <p:grpSp>
        <p:nvGrpSpPr>
          <p:cNvPr id="156" name="Google Shape;156;p26"/>
          <p:cNvGrpSpPr/>
          <p:nvPr/>
        </p:nvGrpSpPr>
        <p:grpSpPr>
          <a:xfrm>
            <a:off x="8837359" y="-72330"/>
            <a:ext cx="1543051" cy="5808473"/>
            <a:chOff x="0" y="-38100"/>
            <a:chExt cx="812800" cy="3059607"/>
          </a:xfrm>
        </p:grpSpPr>
        <p:sp>
          <p:nvSpPr>
            <p:cNvPr id="157" name="Google Shape;157;p26"/>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endParaRPr lang="en-US"/>
            </a:p>
          </p:txBody>
        </p:sp>
        <p:sp>
          <p:nvSpPr>
            <p:cNvPr id="158" name="Google Shape;158;p26"/>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159" name="Google Shape;159;p26"/>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dirty="0">
                <a:solidFill>
                  <a:srgbClr val="FFFFFF"/>
                </a:solidFill>
                <a:latin typeface="Open Sans"/>
                <a:ea typeface="Open Sans"/>
                <a:cs typeface="B Nazanin" panose="00000700000000000000" pitchFamily="2" charset="-78"/>
                <a:sym typeface="Open Sans"/>
              </a:rPr>
              <a:t>N  E  X  T</a:t>
            </a:r>
            <a:endParaRPr sz="700" b="1" dirty="0">
              <a:cs typeface="B Nazanin" panose="00000700000000000000" pitchFamily="2" charset="-78"/>
            </a:endParaRPr>
          </a:p>
        </p:txBody>
      </p:sp>
      <p:cxnSp>
        <p:nvCxnSpPr>
          <p:cNvPr id="160" name="Google Shape;160;p26"/>
          <p:cNvCxnSpPr/>
          <p:nvPr/>
        </p:nvCxnSpPr>
        <p:spPr>
          <a:xfrm flipH="1">
            <a:off x="4574400" y="0"/>
            <a:ext cx="18000" cy="2520300"/>
          </a:xfrm>
          <a:prstGeom prst="straightConnector1">
            <a:avLst/>
          </a:prstGeom>
          <a:noFill/>
          <a:ln w="9525" cap="flat" cmpd="sng">
            <a:solidFill>
              <a:srgbClr val="000000"/>
            </a:solidFill>
            <a:prstDash val="solid"/>
            <a:round/>
            <a:headEnd type="none" w="sm" len="sm"/>
            <a:tailEnd type="none" w="sm" len="sm"/>
          </a:ln>
        </p:spPr>
      </p:cxnSp>
      <p:pic>
        <p:nvPicPr>
          <p:cNvPr id="7" name="Picture 6" descr="A map of different colors with white text">
            <a:extLst>
              <a:ext uri="{FF2B5EF4-FFF2-40B4-BE49-F238E27FC236}">
                <a16:creationId xmlns:a16="http://schemas.microsoft.com/office/drawing/2014/main" id="{2E208D71-063B-EB1A-4F6A-760F135D131A}"/>
              </a:ext>
            </a:extLst>
          </p:cNvPr>
          <p:cNvPicPr>
            <a:picLocks noChangeAspect="1"/>
          </p:cNvPicPr>
          <p:nvPr/>
        </p:nvPicPr>
        <p:blipFill>
          <a:blip r:embed="rId5"/>
          <a:stretch>
            <a:fillRect/>
          </a:stretch>
        </p:blipFill>
        <p:spPr>
          <a:xfrm>
            <a:off x="4701179" y="0"/>
            <a:ext cx="4878208" cy="5185430"/>
          </a:xfrm>
          <a:prstGeom prst="rect">
            <a:avLst/>
          </a:prstGeom>
        </p:spPr>
      </p:pic>
    </p:spTree>
    <p:extLst>
      <p:ext uri="{BB962C8B-B14F-4D97-AF65-F5344CB8AC3E}">
        <p14:creationId xmlns:p14="http://schemas.microsoft.com/office/powerpoint/2010/main" val="33340056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pic>
        <p:nvPicPr>
          <p:cNvPr id="582" name="Google Shape;582;p46"/>
          <p:cNvPicPr preferRelativeResize="0"/>
          <p:nvPr/>
        </p:nvPicPr>
        <p:blipFill rotWithShape="1">
          <a:blip r:embed="rId3">
            <a:alphaModFix/>
          </a:blip>
          <a:srcRect/>
          <a:stretch/>
        </p:blipFill>
        <p:spPr>
          <a:xfrm>
            <a:off x="-3391776" y="-30624"/>
            <a:ext cx="7368273" cy="5526205"/>
          </a:xfrm>
          <a:prstGeom prst="rect">
            <a:avLst/>
          </a:prstGeom>
          <a:noFill/>
          <a:ln>
            <a:noFill/>
          </a:ln>
        </p:spPr>
      </p:pic>
      <p:cxnSp>
        <p:nvCxnSpPr>
          <p:cNvPr id="588" name="Google Shape;588;p46"/>
          <p:cNvCxnSpPr/>
          <p:nvPr/>
        </p:nvCxnSpPr>
        <p:spPr>
          <a:xfrm rot="5400000">
            <a:off x="6428372" y="4703694"/>
            <a:ext cx="3626382" cy="0"/>
          </a:xfrm>
          <a:prstGeom prst="straightConnector1">
            <a:avLst/>
          </a:prstGeom>
          <a:noFill/>
          <a:ln w="9525" cap="flat" cmpd="sng">
            <a:solidFill>
              <a:srgbClr val="000000"/>
            </a:solidFill>
            <a:prstDash val="solid"/>
            <a:round/>
            <a:headEnd type="none" w="sm" len="sm"/>
            <a:tailEnd type="none" w="sm" len="sm"/>
          </a:ln>
        </p:spPr>
      </p:cxnSp>
      <p:cxnSp>
        <p:nvCxnSpPr>
          <p:cNvPr id="589" name="Google Shape;589;p46"/>
          <p:cNvCxnSpPr/>
          <p:nvPr/>
        </p:nvCxnSpPr>
        <p:spPr>
          <a:xfrm rot="5400000">
            <a:off x="2748651" y="98247"/>
            <a:ext cx="3626382" cy="0"/>
          </a:xfrm>
          <a:prstGeom prst="straightConnector1">
            <a:avLst/>
          </a:prstGeom>
          <a:noFill/>
          <a:ln w="9525" cap="flat" cmpd="sng">
            <a:solidFill>
              <a:srgbClr val="000000"/>
            </a:solidFill>
            <a:prstDash val="solid"/>
            <a:round/>
            <a:headEnd type="none" w="sm" len="sm"/>
            <a:tailEnd type="none" w="sm" len="sm"/>
          </a:ln>
        </p:spPr>
      </p:cxnSp>
      <p:grpSp>
        <p:nvGrpSpPr>
          <p:cNvPr id="590" name="Google Shape;590;p46"/>
          <p:cNvGrpSpPr/>
          <p:nvPr/>
        </p:nvGrpSpPr>
        <p:grpSpPr>
          <a:xfrm>
            <a:off x="8837359" y="-72330"/>
            <a:ext cx="1543051" cy="5808473"/>
            <a:chOff x="0" y="-38100"/>
            <a:chExt cx="812800" cy="3059607"/>
          </a:xfrm>
        </p:grpSpPr>
        <p:sp>
          <p:nvSpPr>
            <p:cNvPr id="591" name="Google Shape;591;p46"/>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592" name="Google Shape;592;p46"/>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593" name="Google Shape;593;p46"/>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000000"/>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pic>
        <p:nvPicPr>
          <p:cNvPr id="4" name="Picture 3" descr="A building with flags in front of it">
            <a:extLst>
              <a:ext uri="{FF2B5EF4-FFF2-40B4-BE49-F238E27FC236}">
                <a16:creationId xmlns:a16="http://schemas.microsoft.com/office/drawing/2014/main" id="{B1E2D610-2E3A-0629-2CD4-62E33E5EBDFC}"/>
              </a:ext>
            </a:extLst>
          </p:cNvPr>
          <p:cNvPicPr>
            <a:picLocks noChangeAspect="1"/>
          </p:cNvPicPr>
          <p:nvPr/>
        </p:nvPicPr>
        <p:blipFill rotWithShape="1">
          <a:blip r:embed="rId4"/>
          <a:srcRect l="-29298" r="29298"/>
          <a:stretch/>
        </p:blipFill>
        <p:spPr>
          <a:xfrm>
            <a:off x="-5318394" y="-15312"/>
            <a:ext cx="9294834" cy="5174124"/>
          </a:xfrm>
          <a:prstGeom prst="rect">
            <a:avLst/>
          </a:prstGeom>
        </p:spPr>
      </p:pic>
      <p:pic>
        <p:nvPicPr>
          <p:cNvPr id="3" name="Picture 2" descr="A map of different colors with white text">
            <a:extLst>
              <a:ext uri="{FF2B5EF4-FFF2-40B4-BE49-F238E27FC236}">
                <a16:creationId xmlns:a16="http://schemas.microsoft.com/office/drawing/2014/main" id="{38F643EE-63A1-A834-6A15-C1F55CD8771D}"/>
              </a:ext>
            </a:extLst>
          </p:cNvPr>
          <p:cNvPicPr>
            <a:picLocks noChangeAspect="1"/>
          </p:cNvPicPr>
          <p:nvPr/>
        </p:nvPicPr>
        <p:blipFill>
          <a:blip r:embed="rId5"/>
          <a:stretch>
            <a:fillRect/>
          </a:stretch>
        </p:blipFill>
        <p:spPr>
          <a:xfrm>
            <a:off x="-1687412" y="-20965"/>
            <a:ext cx="6220876" cy="5185430"/>
          </a:xfrm>
          <a:prstGeom prst="rect">
            <a:avLst/>
          </a:prstGeom>
        </p:spPr>
      </p:pic>
      <p:sp>
        <p:nvSpPr>
          <p:cNvPr id="5" name="Google Shape;148;p26">
            <a:extLst>
              <a:ext uri="{FF2B5EF4-FFF2-40B4-BE49-F238E27FC236}">
                <a16:creationId xmlns:a16="http://schemas.microsoft.com/office/drawing/2014/main" id="{BB8F32DF-1A51-7BF7-59D6-06C2F17BB38A}"/>
              </a:ext>
            </a:extLst>
          </p:cNvPr>
          <p:cNvSpPr txBox="1"/>
          <p:nvPr/>
        </p:nvSpPr>
        <p:spPr>
          <a:xfrm>
            <a:off x="4403461" y="754580"/>
            <a:ext cx="4241592" cy="1231106"/>
          </a:xfrm>
          <a:prstGeom prst="rect">
            <a:avLst/>
          </a:prstGeom>
          <a:noFill/>
          <a:ln>
            <a:noFill/>
          </a:ln>
        </p:spPr>
        <p:txBody>
          <a:bodyPr spcFirstLastPara="1" wrap="square" lIns="0" tIns="0" rIns="0" bIns="0" anchor="t" anchorCtr="0">
            <a:spAutoFit/>
          </a:bodyPr>
          <a:lstStyle/>
          <a:p>
            <a:pPr marL="0" marR="0" lvl="0" indent="0" algn="ctr" rtl="1">
              <a:lnSpc>
                <a:spcPct val="100000"/>
              </a:lnSpc>
              <a:spcBef>
                <a:spcPts val="0"/>
              </a:spcBef>
              <a:spcAft>
                <a:spcPts val="0"/>
              </a:spcAft>
              <a:buNone/>
            </a:pPr>
            <a:r>
              <a:rPr lang="fa-IR" sz="4000" b="1" i="0" u="none" strike="noStrike" cap="none" dirty="0">
                <a:solidFill>
                  <a:srgbClr val="000000"/>
                </a:solidFill>
                <a:latin typeface="Open Sans"/>
                <a:ea typeface="Open Sans"/>
                <a:cs typeface="B Nazanin" panose="00000700000000000000" pitchFamily="2" charset="-78"/>
                <a:sym typeface="Open Sans"/>
              </a:rPr>
              <a:t>قانون تعاريف و ضوابط تقسيمات كشوری</a:t>
            </a:r>
            <a:endParaRPr lang="fa-IR" sz="700" b="1" dirty="0">
              <a:latin typeface="Open Sans"/>
              <a:ea typeface="Open Sans"/>
              <a:cs typeface="B Nazanin" panose="00000700000000000000" pitchFamily="2" charset="-78"/>
              <a:sym typeface="Open Sans"/>
            </a:endParaRPr>
          </a:p>
        </p:txBody>
      </p:sp>
      <p:grpSp>
        <p:nvGrpSpPr>
          <p:cNvPr id="6" name="Google Shape;149;p26">
            <a:extLst>
              <a:ext uri="{FF2B5EF4-FFF2-40B4-BE49-F238E27FC236}">
                <a16:creationId xmlns:a16="http://schemas.microsoft.com/office/drawing/2014/main" id="{2A7474E0-10E0-8B7D-EBC0-E3659978B58C}"/>
              </a:ext>
            </a:extLst>
          </p:cNvPr>
          <p:cNvGrpSpPr/>
          <p:nvPr/>
        </p:nvGrpSpPr>
        <p:grpSpPr>
          <a:xfrm>
            <a:off x="4520419" y="1985686"/>
            <a:ext cx="3666849" cy="1875825"/>
            <a:chOff x="-662763" y="-3677330"/>
            <a:chExt cx="9778264" cy="6048457"/>
          </a:xfrm>
        </p:grpSpPr>
        <p:sp>
          <p:nvSpPr>
            <p:cNvPr id="7" name="Google Shape;150;p26">
              <a:extLst>
                <a:ext uri="{FF2B5EF4-FFF2-40B4-BE49-F238E27FC236}">
                  <a16:creationId xmlns:a16="http://schemas.microsoft.com/office/drawing/2014/main" id="{1CD0ED13-EC87-294A-2EEF-E2990A3E6E1E}"/>
                </a:ext>
              </a:extLst>
            </p:cNvPr>
            <p:cNvSpPr txBox="1"/>
            <p:nvPr/>
          </p:nvSpPr>
          <p:spPr>
            <a:xfrm>
              <a:off x="1571098" y="-3677330"/>
              <a:ext cx="6193800" cy="1135616"/>
            </a:xfrm>
            <a:prstGeom prst="rect">
              <a:avLst/>
            </a:prstGeom>
            <a:noFill/>
            <a:ln>
              <a:noFill/>
            </a:ln>
          </p:spPr>
          <p:txBody>
            <a:bodyPr spcFirstLastPara="1" wrap="square" lIns="0" tIns="0" rIns="0" bIns="0" anchor="t" anchorCtr="0">
              <a:spAutoFit/>
            </a:bodyPr>
            <a:lstStyle/>
            <a:p>
              <a:pPr marL="0" marR="0" lvl="0" indent="0" algn="ctr" rtl="1">
                <a:lnSpc>
                  <a:spcPct val="140000"/>
                </a:lnSpc>
                <a:spcBef>
                  <a:spcPts val="0"/>
                </a:spcBef>
                <a:spcAft>
                  <a:spcPts val="0"/>
                </a:spcAft>
                <a:buNone/>
              </a:pPr>
              <a:r>
                <a:rPr lang="fa-IR" i="0" u="none" strike="noStrike" cap="none" dirty="0">
                  <a:solidFill>
                    <a:srgbClr val="000000"/>
                  </a:solidFill>
                  <a:latin typeface="Open Sans"/>
                  <a:ea typeface="Open Sans"/>
                  <a:cs typeface="B Nazanin" panose="00000700000000000000" pitchFamily="2" charset="-78"/>
                  <a:sym typeface="Open Sans"/>
                </a:rPr>
                <a:t>مصوب سال1360</a:t>
              </a:r>
              <a:endParaRPr sz="1050" dirty="0">
                <a:latin typeface="Open Sans"/>
                <a:ea typeface="Open Sans"/>
                <a:cs typeface="B Nazanin" panose="00000700000000000000" pitchFamily="2" charset="-78"/>
                <a:sym typeface="Open Sans"/>
              </a:endParaRPr>
            </a:p>
          </p:txBody>
        </p:sp>
        <p:sp>
          <p:nvSpPr>
            <p:cNvPr id="8" name="Google Shape;151;p26">
              <a:extLst>
                <a:ext uri="{FF2B5EF4-FFF2-40B4-BE49-F238E27FC236}">
                  <a16:creationId xmlns:a16="http://schemas.microsoft.com/office/drawing/2014/main" id="{AA8A43F0-153D-3216-F253-D0F6E960AC08}"/>
                </a:ext>
              </a:extLst>
            </p:cNvPr>
            <p:cNvSpPr txBox="1"/>
            <p:nvPr/>
          </p:nvSpPr>
          <p:spPr>
            <a:xfrm>
              <a:off x="-662763" y="842827"/>
              <a:ext cx="9778264" cy="1528300"/>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100" b="1" i="0" u="none" strike="noStrike" cap="none" dirty="0">
                  <a:solidFill>
                    <a:srgbClr val="000000"/>
                  </a:solidFill>
                  <a:latin typeface="Open Sans"/>
                  <a:ea typeface="Open Sans"/>
                  <a:cs typeface="B Nazanin" panose="00000700000000000000" pitchFamily="2" charset="-78"/>
                  <a:sym typeface="Open Sans"/>
                </a:rPr>
                <a:t> این قانون تعیین می‌کند که چگونه کشور به استان‌ها، شهرستان‌ها، بخش‌ها و دهستان‌ها تقسیم شود.</a:t>
              </a:r>
              <a:endParaRPr lang="fa-IR" sz="900" b="1" dirty="0">
                <a:latin typeface="Open Sans"/>
                <a:ea typeface="Open Sans"/>
                <a:cs typeface="B Nazanin" panose="00000700000000000000" pitchFamily="2" charset="-78"/>
                <a:sym typeface="Open Sans"/>
              </a:endParaRPr>
            </a:p>
          </p:txBody>
        </p:sp>
      </p:grpSp>
      <p:sp>
        <p:nvSpPr>
          <p:cNvPr id="9" name="Google Shape;155;p26">
            <a:extLst>
              <a:ext uri="{FF2B5EF4-FFF2-40B4-BE49-F238E27FC236}">
                <a16:creationId xmlns:a16="http://schemas.microsoft.com/office/drawing/2014/main" id="{E0B2BA13-EC63-5828-AE4E-CA12AE6960C2}"/>
              </a:ext>
            </a:extLst>
          </p:cNvPr>
          <p:cNvSpPr txBox="1"/>
          <p:nvPr/>
        </p:nvSpPr>
        <p:spPr>
          <a:xfrm>
            <a:off x="4768955" y="4241828"/>
            <a:ext cx="1750500" cy="344710"/>
          </a:xfrm>
          <a:prstGeom prst="rect">
            <a:avLst/>
          </a:prstGeom>
          <a:ln/>
        </p:spPr>
        <p:style>
          <a:lnRef idx="2">
            <a:schemeClr val="dk1">
              <a:shade val="15000"/>
            </a:schemeClr>
          </a:lnRef>
          <a:fillRef idx="1">
            <a:schemeClr val="dk1"/>
          </a:fillRef>
          <a:effectRef idx="0">
            <a:schemeClr val="dk1"/>
          </a:effectRef>
          <a:fontRef idx="minor">
            <a:schemeClr val="lt1"/>
          </a:fontRef>
        </p:style>
        <p:txBody>
          <a:bodyPr spcFirstLastPara="1" wrap="square" lIns="0" tIns="0" rIns="0" bIns="0" anchor="t" anchorCtr="0">
            <a:spAutoFit/>
          </a:bodyPr>
          <a:lstStyle/>
          <a:p>
            <a:pPr marL="0" marR="0" lvl="0" indent="0" algn="ctr" rtl="1">
              <a:lnSpc>
                <a:spcPct val="140000"/>
              </a:lnSpc>
              <a:spcBef>
                <a:spcPts val="0"/>
              </a:spcBef>
              <a:spcAft>
                <a:spcPts val="0"/>
              </a:spcAft>
              <a:buNone/>
            </a:pPr>
            <a:r>
              <a:rPr lang="fa-IR" sz="1600" i="0" u="none" strike="noStrike" cap="none" dirty="0">
                <a:solidFill>
                  <a:srgbClr val="FFFFFF"/>
                </a:solidFill>
                <a:latin typeface="Open Sans"/>
                <a:ea typeface="Open Sans"/>
                <a:cs typeface="B Nazanin" panose="00000700000000000000" pitchFamily="2" charset="-78"/>
                <a:sym typeface="Open Sans"/>
              </a:rPr>
              <a:t>7 بخش</a:t>
            </a:r>
            <a:endParaRPr sz="1100" dirty="0">
              <a:latin typeface="Open Sans"/>
              <a:ea typeface="Open Sans"/>
              <a:cs typeface="B Nazanin" panose="00000700000000000000" pitchFamily="2" charset="-78"/>
              <a:sym typeface="Open Sans"/>
            </a:endParaRPr>
          </a:p>
        </p:txBody>
      </p:sp>
    </p:spTree>
    <p:extLst>
      <p:ext uri="{BB962C8B-B14F-4D97-AF65-F5344CB8AC3E}">
        <p14:creationId xmlns:p14="http://schemas.microsoft.com/office/powerpoint/2010/main" val="4044701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pic>
        <p:nvPicPr>
          <p:cNvPr id="598" name="Google Shape;598;p47"/>
          <p:cNvPicPr preferRelativeResize="0"/>
          <p:nvPr/>
        </p:nvPicPr>
        <p:blipFill rotWithShape="1">
          <a:blip r:embed="rId3">
            <a:alphaModFix/>
          </a:blip>
          <a:srcRect l="84412"/>
          <a:stretch/>
        </p:blipFill>
        <p:spPr>
          <a:xfrm>
            <a:off x="0" y="-30624"/>
            <a:ext cx="1148520" cy="5526205"/>
          </a:xfrm>
          <a:prstGeom prst="rect">
            <a:avLst/>
          </a:prstGeom>
          <a:noFill/>
          <a:ln>
            <a:noFill/>
          </a:ln>
        </p:spPr>
      </p:pic>
      <p:cxnSp>
        <p:nvCxnSpPr>
          <p:cNvPr id="604" name="Google Shape;604;p47"/>
          <p:cNvCxnSpPr/>
          <p:nvPr/>
        </p:nvCxnSpPr>
        <p:spPr>
          <a:xfrm rot="5400000">
            <a:off x="3416334" y="4476614"/>
            <a:ext cx="3626382" cy="0"/>
          </a:xfrm>
          <a:prstGeom prst="straightConnector1">
            <a:avLst/>
          </a:prstGeom>
          <a:noFill/>
          <a:ln w="9525" cap="flat" cmpd="sng">
            <a:solidFill>
              <a:srgbClr val="FFFFFF"/>
            </a:solidFill>
            <a:prstDash val="solid"/>
            <a:round/>
            <a:headEnd type="none" w="sm" len="sm"/>
            <a:tailEnd type="none" w="sm" len="sm"/>
          </a:ln>
        </p:spPr>
      </p:cxnSp>
      <p:cxnSp>
        <p:nvCxnSpPr>
          <p:cNvPr id="605" name="Google Shape;605;p47"/>
          <p:cNvCxnSpPr/>
          <p:nvPr/>
        </p:nvCxnSpPr>
        <p:spPr>
          <a:xfrm rot="5400000">
            <a:off x="-263387" y="-244188"/>
            <a:ext cx="3626382" cy="0"/>
          </a:xfrm>
          <a:prstGeom prst="straightConnector1">
            <a:avLst/>
          </a:prstGeom>
          <a:noFill/>
          <a:ln w="9525" cap="flat" cmpd="sng">
            <a:solidFill>
              <a:srgbClr val="FFFFFF"/>
            </a:solidFill>
            <a:prstDash val="solid"/>
            <a:round/>
            <a:headEnd type="none" w="sm" len="sm"/>
            <a:tailEnd type="none" w="sm" len="sm"/>
          </a:ln>
        </p:spPr>
      </p:cxnSp>
      <p:grpSp>
        <p:nvGrpSpPr>
          <p:cNvPr id="606" name="Google Shape;606;p47"/>
          <p:cNvGrpSpPr/>
          <p:nvPr/>
        </p:nvGrpSpPr>
        <p:grpSpPr>
          <a:xfrm>
            <a:off x="8837359" y="-72330"/>
            <a:ext cx="1543051" cy="5808473"/>
            <a:chOff x="0" y="-38100"/>
            <a:chExt cx="812800" cy="3059607"/>
          </a:xfrm>
        </p:grpSpPr>
        <p:sp>
          <p:nvSpPr>
            <p:cNvPr id="607" name="Google Shape;607;p47"/>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endParaRPr lang="en-US"/>
            </a:p>
          </p:txBody>
        </p:sp>
        <p:sp>
          <p:nvSpPr>
            <p:cNvPr id="608" name="Google Shape;608;p47"/>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609" name="Google Shape;609;p47"/>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pic>
        <p:nvPicPr>
          <p:cNvPr id="2" name="Picture 1" descr="A building with flags in front of it">
            <a:extLst>
              <a:ext uri="{FF2B5EF4-FFF2-40B4-BE49-F238E27FC236}">
                <a16:creationId xmlns:a16="http://schemas.microsoft.com/office/drawing/2014/main" id="{25A9FC8B-1F02-905D-3971-2263D458B829}"/>
              </a:ext>
            </a:extLst>
          </p:cNvPr>
          <p:cNvPicPr>
            <a:picLocks noChangeAspect="1"/>
          </p:cNvPicPr>
          <p:nvPr/>
        </p:nvPicPr>
        <p:blipFill>
          <a:blip r:embed="rId4"/>
          <a:stretch>
            <a:fillRect/>
          </a:stretch>
        </p:blipFill>
        <p:spPr>
          <a:xfrm>
            <a:off x="-8125734" y="-30624"/>
            <a:ext cx="9294834" cy="5174124"/>
          </a:xfrm>
          <a:prstGeom prst="rect">
            <a:avLst/>
          </a:prstGeom>
        </p:spPr>
      </p:pic>
      <p:sp>
        <p:nvSpPr>
          <p:cNvPr id="3" name="Rectangle 2">
            <a:extLst>
              <a:ext uri="{FF2B5EF4-FFF2-40B4-BE49-F238E27FC236}">
                <a16:creationId xmlns:a16="http://schemas.microsoft.com/office/drawing/2014/main" id="{73840D21-7B00-AB6B-970B-FB5083EE9FD9}"/>
              </a:ext>
            </a:extLst>
          </p:cNvPr>
          <p:cNvSpPr/>
          <p:nvPr/>
        </p:nvSpPr>
        <p:spPr>
          <a:xfrm>
            <a:off x="5189220" y="-72330"/>
            <a:ext cx="4686300" cy="521583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grpSp>
        <p:nvGrpSpPr>
          <p:cNvPr id="599" name="Google Shape;599;p47"/>
          <p:cNvGrpSpPr/>
          <p:nvPr/>
        </p:nvGrpSpPr>
        <p:grpSpPr>
          <a:xfrm>
            <a:off x="5640161" y="313133"/>
            <a:ext cx="2889851" cy="1384787"/>
            <a:chOff x="228432" y="0"/>
            <a:chExt cx="7706268" cy="3692768"/>
          </a:xfrm>
        </p:grpSpPr>
        <p:sp>
          <p:nvSpPr>
            <p:cNvPr id="600" name="Google Shape;600;p47"/>
            <p:cNvSpPr txBox="1"/>
            <p:nvPr/>
          </p:nvSpPr>
          <p:spPr>
            <a:xfrm>
              <a:off x="228432" y="0"/>
              <a:ext cx="7706268" cy="1477329"/>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fa-IR" sz="3000" b="1" i="0" u="none" strike="noStrike" cap="none" dirty="0">
                  <a:solidFill>
                    <a:schemeClr val="bg1"/>
                  </a:solidFill>
                  <a:latin typeface="Open Sans"/>
                  <a:ea typeface="Open Sans"/>
                  <a:cs typeface="B Nazanin" panose="00000700000000000000" pitchFamily="2" charset="-78"/>
                  <a:sym typeface="Open Sans"/>
                </a:rPr>
                <a:t>عناصر تقسیمات کشوری</a:t>
              </a:r>
              <a:endParaRPr lang="fa-IR" sz="700" b="1" dirty="0">
                <a:solidFill>
                  <a:schemeClr val="bg1"/>
                </a:solidFill>
                <a:latin typeface="Open Sans"/>
                <a:ea typeface="Open Sans"/>
                <a:cs typeface="B Nazanin" panose="00000700000000000000" pitchFamily="2" charset="-78"/>
                <a:sym typeface="Open Sans"/>
              </a:endParaRPr>
            </a:p>
          </p:txBody>
        </p:sp>
        <p:sp>
          <p:nvSpPr>
            <p:cNvPr id="602" name="Google Shape;602;p47"/>
            <p:cNvSpPr txBox="1"/>
            <p:nvPr/>
          </p:nvSpPr>
          <p:spPr>
            <a:xfrm>
              <a:off x="647701" y="3118251"/>
              <a:ext cx="6639300" cy="574517"/>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fa-IR" sz="1000" b="1" dirty="0">
                  <a:solidFill>
                    <a:schemeClr val="bg1"/>
                  </a:solidFill>
                  <a:latin typeface="Open Sans"/>
                  <a:ea typeface="Open Sans"/>
                  <a:cs typeface="B Nazanin" panose="00000700000000000000" pitchFamily="2" charset="-78"/>
                  <a:sym typeface="Open Sans"/>
                </a:rPr>
                <a:t>کشور به 7 عنصر تقسیم می شود</a:t>
              </a:r>
              <a:r>
                <a:rPr lang="fa-IR" sz="1000" b="1" i="0" u="none" strike="noStrike" cap="none" dirty="0">
                  <a:solidFill>
                    <a:schemeClr val="bg1"/>
                  </a:solidFill>
                  <a:latin typeface="Open Sans"/>
                  <a:ea typeface="Open Sans"/>
                  <a:cs typeface="B Nazanin" panose="00000700000000000000" pitchFamily="2" charset="-78"/>
                  <a:sym typeface="Open Sans"/>
                </a:rPr>
                <a:t>:</a:t>
              </a:r>
              <a:endParaRPr sz="700" b="1" dirty="0">
                <a:solidFill>
                  <a:schemeClr val="bg1"/>
                </a:solidFill>
                <a:latin typeface="Open Sans"/>
                <a:ea typeface="Open Sans"/>
                <a:cs typeface="B Nazanin" panose="00000700000000000000" pitchFamily="2" charset="-78"/>
                <a:sym typeface="Open Sans"/>
              </a:endParaRPr>
            </a:p>
          </p:txBody>
        </p:sp>
      </p:grpSp>
      <p:sp>
        <p:nvSpPr>
          <p:cNvPr id="50" name="Google Shape;601;p47">
            <a:extLst>
              <a:ext uri="{FF2B5EF4-FFF2-40B4-BE49-F238E27FC236}">
                <a16:creationId xmlns:a16="http://schemas.microsoft.com/office/drawing/2014/main" id="{ED022846-F5C6-3332-544F-BEF422647BD4}"/>
              </a:ext>
            </a:extLst>
          </p:cNvPr>
          <p:cNvSpPr txBox="1"/>
          <p:nvPr/>
        </p:nvSpPr>
        <p:spPr>
          <a:xfrm>
            <a:off x="5554499" y="2019040"/>
            <a:ext cx="2975513" cy="1508105"/>
          </a:xfrm>
          <a:prstGeom prst="rect">
            <a:avLst/>
          </a:prstGeom>
          <a:noFill/>
          <a:ln>
            <a:noFill/>
          </a:ln>
        </p:spPr>
        <p:txBody>
          <a:bodyPr spcFirstLastPara="1" wrap="square" lIns="0" tIns="0" rIns="0" bIns="0" anchor="t" anchorCtr="0">
            <a:spAutoFit/>
          </a:bodyPr>
          <a:lstStyle/>
          <a:p>
            <a:pPr marL="0" marR="0" lvl="0" indent="0" algn="ctr" rtl="1">
              <a:lnSpc>
                <a:spcPct val="140020"/>
              </a:lnSpc>
              <a:spcBef>
                <a:spcPts val="0"/>
              </a:spcBef>
              <a:spcAft>
                <a:spcPts val="0"/>
              </a:spcAft>
              <a:buNone/>
            </a:pPr>
            <a:r>
              <a:rPr lang="fa-IR" sz="1000" i="0" u="none" strike="noStrike" cap="none" dirty="0">
                <a:solidFill>
                  <a:schemeClr val="bg1"/>
                </a:solidFill>
                <a:latin typeface="Open Sans"/>
                <a:ea typeface="Open Sans"/>
                <a:cs typeface="B Nazanin" panose="00000700000000000000" pitchFamily="2" charset="-78"/>
                <a:sym typeface="Open Sans"/>
              </a:rPr>
              <a:t>1- روستا</a:t>
            </a:r>
          </a:p>
          <a:p>
            <a:pPr marL="0" marR="0" lvl="0" indent="0" algn="ctr" rtl="1">
              <a:lnSpc>
                <a:spcPct val="140020"/>
              </a:lnSpc>
              <a:spcBef>
                <a:spcPts val="0"/>
              </a:spcBef>
              <a:spcAft>
                <a:spcPts val="0"/>
              </a:spcAft>
              <a:buNone/>
            </a:pPr>
            <a:r>
              <a:rPr lang="fa-IR" sz="1000" dirty="0">
                <a:solidFill>
                  <a:schemeClr val="bg1"/>
                </a:solidFill>
                <a:latin typeface="Open Sans"/>
                <a:ea typeface="Open Sans"/>
                <a:cs typeface="B Nazanin" panose="00000700000000000000" pitchFamily="2" charset="-78"/>
                <a:sym typeface="Open Sans"/>
              </a:rPr>
              <a:t>2- دهستان</a:t>
            </a:r>
          </a:p>
          <a:p>
            <a:pPr marL="0" marR="0" lvl="0" indent="0" algn="ctr" rtl="1">
              <a:lnSpc>
                <a:spcPct val="140020"/>
              </a:lnSpc>
              <a:spcBef>
                <a:spcPts val="0"/>
              </a:spcBef>
              <a:spcAft>
                <a:spcPts val="0"/>
              </a:spcAft>
              <a:buNone/>
            </a:pPr>
            <a:r>
              <a:rPr lang="fa-IR" sz="1000" i="0" u="none" strike="noStrike" cap="none" dirty="0">
                <a:solidFill>
                  <a:schemeClr val="bg1"/>
                </a:solidFill>
                <a:latin typeface="Open Sans"/>
                <a:ea typeface="Open Sans"/>
                <a:cs typeface="B Nazanin" panose="00000700000000000000" pitchFamily="2" charset="-78"/>
                <a:sym typeface="Open Sans"/>
              </a:rPr>
              <a:t>3- شهر</a:t>
            </a:r>
          </a:p>
          <a:p>
            <a:pPr marL="0" marR="0" lvl="0" indent="0" algn="ctr" rtl="1">
              <a:lnSpc>
                <a:spcPct val="140020"/>
              </a:lnSpc>
              <a:spcBef>
                <a:spcPts val="0"/>
              </a:spcBef>
              <a:spcAft>
                <a:spcPts val="0"/>
              </a:spcAft>
              <a:buNone/>
            </a:pPr>
            <a:r>
              <a:rPr lang="fa-IR" sz="1000" dirty="0">
                <a:solidFill>
                  <a:schemeClr val="bg1"/>
                </a:solidFill>
                <a:latin typeface="Open Sans"/>
                <a:ea typeface="Open Sans"/>
                <a:cs typeface="B Nazanin" panose="00000700000000000000" pitchFamily="2" charset="-78"/>
                <a:sym typeface="Open Sans"/>
              </a:rPr>
              <a:t>4- بخش</a:t>
            </a:r>
          </a:p>
          <a:p>
            <a:pPr marL="0" marR="0" lvl="0" indent="0" algn="ctr" rtl="1">
              <a:lnSpc>
                <a:spcPct val="140020"/>
              </a:lnSpc>
              <a:spcBef>
                <a:spcPts val="0"/>
              </a:spcBef>
              <a:spcAft>
                <a:spcPts val="0"/>
              </a:spcAft>
              <a:buNone/>
            </a:pPr>
            <a:r>
              <a:rPr lang="fa-IR" sz="1000" i="0" u="none" strike="noStrike" cap="none" dirty="0">
                <a:solidFill>
                  <a:schemeClr val="bg1"/>
                </a:solidFill>
                <a:latin typeface="Open Sans"/>
                <a:ea typeface="Open Sans"/>
                <a:cs typeface="B Nazanin" panose="00000700000000000000" pitchFamily="2" charset="-78"/>
                <a:sym typeface="Open Sans"/>
              </a:rPr>
              <a:t>5- شهرستان</a:t>
            </a:r>
            <a:endParaRPr lang="fa-IR" sz="1000" dirty="0">
              <a:solidFill>
                <a:schemeClr val="bg1"/>
              </a:solidFill>
              <a:latin typeface="Open Sans"/>
              <a:ea typeface="Open Sans"/>
              <a:cs typeface="B Nazanin" panose="00000700000000000000" pitchFamily="2" charset="-78"/>
              <a:sym typeface="Open Sans"/>
            </a:endParaRPr>
          </a:p>
          <a:p>
            <a:pPr marL="0" marR="0" lvl="0" indent="0" algn="ctr" rtl="1">
              <a:lnSpc>
                <a:spcPct val="140020"/>
              </a:lnSpc>
              <a:spcBef>
                <a:spcPts val="0"/>
              </a:spcBef>
              <a:spcAft>
                <a:spcPts val="0"/>
              </a:spcAft>
              <a:buNone/>
            </a:pPr>
            <a:r>
              <a:rPr lang="fa-IR" sz="1000" i="0" u="none" strike="noStrike" cap="none" dirty="0">
                <a:solidFill>
                  <a:schemeClr val="bg1"/>
                </a:solidFill>
                <a:latin typeface="Open Sans"/>
                <a:ea typeface="Open Sans"/>
                <a:cs typeface="B Nazanin" panose="00000700000000000000" pitchFamily="2" charset="-78"/>
                <a:sym typeface="Open Sans"/>
              </a:rPr>
              <a:t>6- استان</a:t>
            </a:r>
          </a:p>
          <a:p>
            <a:pPr marL="0" marR="0" lvl="0" indent="0" algn="ctr" rtl="1">
              <a:lnSpc>
                <a:spcPct val="140020"/>
              </a:lnSpc>
              <a:spcBef>
                <a:spcPts val="0"/>
              </a:spcBef>
              <a:spcAft>
                <a:spcPts val="0"/>
              </a:spcAft>
              <a:buNone/>
            </a:pPr>
            <a:r>
              <a:rPr lang="fa-IR" sz="1000" dirty="0">
                <a:solidFill>
                  <a:schemeClr val="bg1"/>
                </a:solidFill>
                <a:latin typeface="Open Sans"/>
                <a:ea typeface="Open Sans"/>
                <a:cs typeface="B Nazanin" panose="00000700000000000000" pitchFamily="2" charset="-78"/>
                <a:sym typeface="Open Sans"/>
              </a:rPr>
              <a:t>7- نظام تقسیمات کشوری</a:t>
            </a:r>
            <a:endParaRPr lang="fa-IR" sz="1000" i="0" u="none" strike="noStrike" cap="none" dirty="0">
              <a:solidFill>
                <a:schemeClr val="bg1"/>
              </a:solidFill>
              <a:latin typeface="Open Sans"/>
              <a:ea typeface="Open Sans"/>
              <a:cs typeface="B Nazanin" panose="00000700000000000000" pitchFamily="2" charset="-78"/>
              <a:sym typeface="Open Sans"/>
            </a:endParaRPr>
          </a:p>
        </p:txBody>
      </p:sp>
      <p:sp>
        <p:nvSpPr>
          <p:cNvPr id="52" name="Rectangle 51">
            <a:extLst>
              <a:ext uri="{FF2B5EF4-FFF2-40B4-BE49-F238E27FC236}">
                <a16:creationId xmlns:a16="http://schemas.microsoft.com/office/drawing/2014/main" id="{1ADA6BE5-0F75-6AEB-8DFC-13A1D8FABBA6}"/>
              </a:ext>
            </a:extLst>
          </p:cNvPr>
          <p:cNvSpPr/>
          <p:nvPr/>
        </p:nvSpPr>
        <p:spPr>
          <a:xfrm>
            <a:off x="-1737359" y="-72330"/>
            <a:ext cx="2906460" cy="5352990"/>
          </a:xfrm>
          <a:prstGeom prst="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nvGrpSpPr>
          <p:cNvPr id="53" name="Group 52">
            <a:extLst>
              <a:ext uri="{FF2B5EF4-FFF2-40B4-BE49-F238E27FC236}">
                <a16:creationId xmlns:a16="http://schemas.microsoft.com/office/drawing/2014/main" id="{443FDF21-A278-6C4E-4CAE-B98A8DDFC112}"/>
              </a:ext>
            </a:extLst>
          </p:cNvPr>
          <p:cNvGrpSpPr/>
          <p:nvPr/>
        </p:nvGrpSpPr>
        <p:grpSpPr>
          <a:xfrm>
            <a:off x="3107733" y="-300370"/>
            <a:ext cx="2527167" cy="5660403"/>
            <a:chOff x="2964349" y="-300370"/>
            <a:chExt cx="2527167" cy="5660403"/>
          </a:xfrm>
        </p:grpSpPr>
        <p:grpSp>
          <p:nvGrpSpPr>
            <p:cNvPr id="31" name="Group 30">
              <a:extLst>
                <a:ext uri="{FF2B5EF4-FFF2-40B4-BE49-F238E27FC236}">
                  <a16:creationId xmlns:a16="http://schemas.microsoft.com/office/drawing/2014/main" id="{798B4ACA-80F3-5114-01DD-6A28BDA23919}"/>
                </a:ext>
              </a:extLst>
            </p:cNvPr>
            <p:cNvGrpSpPr/>
            <p:nvPr/>
          </p:nvGrpSpPr>
          <p:grpSpPr>
            <a:xfrm>
              <a:off x="2964349" y="2396240"/>
              <a:ext cx="2517110" cy="2963793"/>
              <a:chOff x="2429937" y="463838"/>
              <a:chExt cx="3319584" cy="3908673"/>
            </a:xfrm>
          </p:grpSpPr>
          <p:sp>
            <p:nvSpPr>
              <p:cNvPr id="32" name="Hexagon 31">
                <a:extLst>
                  <a:ext uri="{FF2B5EF4-FFF2-40B4-BE49-F238E27FC236}">
                    <a16:creationId xmlns:a16="http://schemas.microsoft.com/office/drawing/2014/main" id="{7EE7D8ED-5EC9-3C6F-DA32-D35B7EFA15D8}"/>
                  </a:ext>
                </a:extLst>
              </p:cNvPr>
              <p:cNvSpPr/>
              <p:nvPr/>
            </p:nvSpPr>
            <p:spPr>
              <a:xfrm>
                <a:off x="3238500" y="1356582"/>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Hexagon 32">
                <a:extLst>
                  <a:ext uri="{FF2B5EF4-FFF2-40B4-BE49-F238E27FC236}">
                    <a16:creationId xmlns:a16="http://schemas.microsoft.com/office/drawing/2014/main" id="{27009969-A7CF-3578-BFDB-C6D16AF5E811}"/>
                  </a:ext>
                </a:extLst>
              </p:cNvPr>
              <p:cNvSpPr/>
              <p:nvPr/>
            </p:nvSpPr>
            <p:spPr>
              <a:xfrm>
                <a:off x="2429937" y="1772540"/>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Hexagon 33">
                <a:extLst>
                  <a:ext uri="{FF2B5EF4-FFF2-40B4-BE49-F238E27FC236}">
                    <a16:creationId xmlns:a16="http://schemas.microsoft.com/office/drawing/2014/main" id="{67950DCB-B944-D97B-E879-8E3CA3232450}"/>
                  </a:ext>
                </a:extLst>
              </p:cNvPr>
              <p:cNvSpPr/>
              <p:nvPr/>
            </p:nvSpPr>
            <p:spPr>
              <a:xfrm>
                <a:off x="2429937" y="908266"/>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Hexagon 34">
                <a:extLst>
                  <a:ext uri="{FF2B5EF4-FFF2-40B4-BE49-F238E27FC236}">
                    <a16:creationId xmlns:a16="http://schemas.microsoft.com/office/drawing/2014/main" id="{4AE7B0BC-C503-ED94-6463-AFAE220E8D95}"/>
                  </a:ext>
                </a:extLst>
              </p:cNvPr>
              <p:cNvSpPr/>
              <p:nvPr/>
            </p:nvSpPr>
            <p:spPr>
              <a:xfrm>
                <a:off x="3238499" y="475190"/>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Hexagon 35">
                <a:extLst>
                  <a:ext uri="{FF2B5EF4-FFF2-40B4-BE49-F238E27FC236}">
                    <a16:creationId xmlns:a16="http://schemas.microsoft.com/office/drawing/2014/main" id="{9C20EAF7-2287-5317-0474-0B1219816AF1}"/>
                  </a:ext>
                </a:extLst>
              </p:cNvPr>
              <p:cNvSpPr/>
              <p:nvPr/>
            </p:nvSpPr>
            <p:spPr>
              <a:xfrm>
                <a:off x="3238500" y="3143236"/>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7" name="Hexagon 36">
                <a:extLst>
                  <a:ext uri="{FF2B5EF4-FFF2-40B4-BE49-F238E27FC236}">
                    <a16:creationId xmlns:a16="http://schemas.microsoft.com/office/drawing/2014/main" id="{57674FEF-A460-BA71-9C70-4DB656C2D630}"/>
                  </a:ext>
                </a:extLst>
              </p:cNvPr>
              <p:cNvSpPr/>
              <p:nvPr/>
            </p:nvSpPr>
            <p:spPr>
              <a:xfrm>
                <a:off x="2429937" y="3559194"/>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Hexagon 37">
                <a:extLst>
                  <a:ext uri="{FF2B5EF4-FFF2-40B4-BE49-F238E27FC236}">
                    <a16:creationId xmlns:a16="http://schemas.microsoft.com/office/drawing/2014/main" id="{B50AB4FF-F82C-93BC-53DA-CD3FCBE8E262}"/>
                  </a:ext>
                </a:extLst>
              </p:cNvPr>
              <p:cNvSpPr/>
              <p:nvPr/>
            </p:nvSpPr>
            <p:spPr>
              <a:xfrm>
                <a:off x="2429937" y="2694920"/>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9" name="Hexagon 38">
                <a:extLst>
                  <a:ext uri="{FF2B5EF4-FFF2-40B4-BE49-F238E27FC236}">
                    <a16:creationId xmlns:a16="http://schemas.microsoft.com/office/drawing/2014/main" id="{05BE6DAE-81A8-5385-8597-62FE48CBD0EF}"/>
                  </a:ext>
                </a:extLst>
              </p:cNvPr>
              <p:cNvSpPr/>
              <p:nvPr/>
            </p:nvSpPr>
            <p:spPr>
              <a:xfrm>
                <a:off x="3238499" y="2261844"/>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Hexagon 39">
                <a:extLst>
                  <a:ext uri="{FF2B5EF4-FFF2-40B4-BE49-F238E27FC236}">
                    <a16:creationId xmlns:a16="http://schemas.microsoft.com/office/drawing/2014/main" id="{F017EC15-96E9-BC75-EB6F-B43E9E575286}"/>
                  </a:ext>
                </a:extLst>
              </p:cNvPr>
              <p:cNvSpPr/>
              <p:nvPr/>
            </p:nvSpPr>
            <p:spPr>
              <a:xfrm>
                <a:off x="4807802" y="1345230"/>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1" name="Hexagon 40">
                <a:extLst>
                  <a:ext uri="{FF2B5EF4-FFF2-40B4-BE49-F238E27FC236}">
                    <a16:creationId xmlns:a16="http://schemas.microsoft.com/office/drawing/2014/main" id="{0B4D7C83-518F-D3A1-F2B9-6C4FBCCDE65A}"/>
                  </a:ext>
                </a:extLst>
              </p:cNvPr>
              <p:cNvSpPr/>
              <p:nvPr/>
            </p:nvSpPr>
            <p:spPr>
              <a:xfrm>
                <a:off x="4023150" y="1799624"/>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2" name="Hexagon 41">
                <a:extLst>
                  <a:ext uri="{FF2B5EF4-FFF2-40B4-BE49-F238E27FC236}">
                    <a16:creationId xmlns:a16="http://schemas.microsoft.com/office/drawing/2014/main" id="{EB574907-483E-6E98-EF9F-12E1D131E4F4}"/>
                  </a:ext>
                </a:extLst>
              </p:cNvPr>
              <p:cNvSpPr/>
              <p:nvPr/>
            </p:nvSpPr>
            <p:spPr>
              <a:xfrm>
                <a:off x="4021053" y="912154"/>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3" name="Hexagon 42">
                <a:extLst>
                  <a:ext uri="{FF2B5EF4-FFF2-40B4-BE49-F238E27FC236}">
                    <a16:creationId xmlns:a16="http://schemas.microsoft.com/office/drawing/2014/main" id="{76190643-49D3-FECC-48B5-9783CD2AF9EB}"/>
                  </a:ext>
                </a:extLst>
              </p:cNvPr>
              <p:cNvSpPr/>
              <p:nvPr/>
            </p:nvSpPr>
            <p:spPr>
              <a:xfrm>
                <a:off x="4807801" y="463838"/>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4" name="Hexagon 43">
                <a:extLst>
                  <a:ext uri="{FF2B5EF4-FFF2-40B4-BE49-F238E27FC236}">
                    <a16:creationId xmlns:a16="http://schemas.microsoft.com/office/drawing/2014/main" id="{B509CB4F-7AAF-E30A-6AC0-B1CA36147FF7}"/>
                  </a:ext>
                </a:extLst>
              </p:cNvPr>
              <p:cNvSpPr/>
              <p:nvPr/>
            </p:nvSpPr>
            <p:spPr>
              <a:xfrm>
                <a:off x="4817858" y="3153395"/>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5" name="Hexagon 44">
                <a:extLst>
                  <a:ext uri="{FF2B5EF4-FFF2-40B4-BE49-F238E27FC236}">
                    <a16:creationId xmlns:a16="http://schemas.microsoft.com/office/drawing/2014/main" id="{3C545A24-DBCF-44BE-2516-1240E879C059}"/>
                  </a:ext>
                </a:extLst>
              </p:cNvPr>
              <p:cNvSpPr/>
              <p:nvPr/>
            </p:nvSpPr>
            <p:spPr>
              <a:xfrm>
                <a:off x="4009295" y="3569353"/>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6" name="Hexagon 45">
                <a:extLst>
                  <a:ext uri="{FF2B5EF4-FFF2-40B4-BE49-F238E27FC236}">
                    <a16:creationId xmlns:a16="http://schemas.microsoft.com/office/drawing/2014/main" id="{F7D4B750-4D0F-A663-4ED4-0DC0E26C3F87}"/>
                  </a:ext>
                </a:extLst>
              </p:cNvPr>
              <p:cNvSpPr/>
              <p:nvPr/>
            </p:nvSpPr>
            <p:spPr>
              <a:xfrm>
                <a:off x="4009295" y="2705079"/>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7" name="Hexagon 46">
                <a:extLst>
                  <a:ext uri="{FF2B5EF4-FFF2-40B4-BE49-F238E27FC236}">
                    <a16:creationId xmlns:a16="http://schemas.microsoft.com/office/drawing/2014/main" id="{9492ABE0-7004-7D20-030E-71CEAB9BF860}"/>
                  </a:ext>
                </a:extLst>
              </p:cNvPr>
              <p:cNvSpPr/>
              <p:nvPr/>
            </p:nvSpPr>
            <p:spPr>
              <a:xfrm>
                <a:off x="4817857" y="2272003"/>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31392D0E-AC28-2933-0D4C-4F6C26382D1D}"/>
                </a:ext>
              </a:extLst>
            </p:cNvPr>
            <p:cNvGrpSpPr/>
            <p:nvPr/>
          </p:nvGrpSpPr>
          <p:grpSpPr>
            <a:xfrm>
              <a:off x="2974406" y="-300370"/>
              <a:ext cx="2517110" cy="2963793"/>
              <a:chOff x="2429937" y="463838"/>
              <a:chExt cx="3319584" cy="3908673"/>
            </a:xfrm>
          </p:grpSpPr>
          <p:sp>
            <p:nvSpPr>
              <p:cNvPr id="14" name="Hexagon 13">
                <a:extLst>
                  <a:ext uri="{FF2B5EF4-FFF2-40B4-BE49-F238E27FC236}">
                    <a16:creationId xmlns:a16="http://schemas.microsoft.com/office/drawing/2014/main" id="{55D69F1F-B08E-AE0B-B8FF-677A17E5F888}"/>
                  </a:ext>
                </a:extLst>
              </p:cNvPr>
              <p:cNvSpPr/>
              <p:nvPr/>
            </p:nvSpPr>
            <p:spPr>
              <a:xfrm>
                <a:off x="3238500" y="1356582"/>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Hexagon 14">
                <a:extLst>
                  <a:ext uri="{FF2B5EF4-FFF2-40B4-BE49-F238E27FC236}">
                    <a16:creationId xmlns:a16="http://schemas.microsoft.com/office/drawing/2014/main" id="{3BA2CD21-5F79-2C93-DBF6-A366DA59683D}"/>
                  </a:ext>
                </a:extLst>
              </p:cNvPr>
              <p:cNvSpPr/>
              <p:nvPr/>
            </p:nvSpPr>
            <p:spPr>
              <a:xfrm>
                <a:off x="2429937" y="1772540"/>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Hexagon 15">
                <a:extLst>
                  <a:ext uri="{FF2B5EF4-FFF2-40B4-BE49-F238E27FC236}">
                    <a16:creationId xmlns:a16="http://schemas.microsoft.com/office/drawing/2014/main" id="{9CFC5B18-8978-8BB5-4C91-DA8086DF3D56}"/>
                  </a:ext>
                </a:extLst>
              </p:cNvPr>
              <p:cNvSpPr/>
              <p:nvPr/>
            </p:nvSpPr>
            <p:spPr>
              <a:xfrm>
                <a:off x="2429937" y="908266"/>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Hexagon 16">
                <a:extLst>
                  <a:ext uri="{FF2B5EF4-FFF2-40B4-BE49-F238E27FC236}">
                    <a16:creationId xmlns:a16="http://schemas.microsoft.com/office/drawing/2014/main" id="{B9AE15CA-4623-480D-F7CB-C2ADD26549DF}"/>
                  </a:ext>
                </a:extLst>
              </p:cNvPr>
              <p:cNvSpPr/>
              <p:nvPr/>
            </p:nvSpPr>
            <p:spPr>
              <a:xfrm>
                <a:off x="3238499" y="475190"/>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Hexagon 17">
                <a:extLst>
                  <a:ext uri="{FF2B5EF4-FFF2-40B4-BE49-F238E27FC236}">
                    <a16:creationId xmlns:a16="http://schemas.microsoft.com/office/drawing/2014/main" id="{E2C8791B-F10F-A522-81A1-E9131627CBE7}"/>
                  </a:ext>
                </a:extLst>
              </p:cNvPr>
              <p:cNvSpPr/>
              <p:nvPr/>
            </p:nvSpPr>
            <p:spPr>
              <a:xfrm>
                <a:off x="3238500" y="3143236"/>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Hexagon 18">
                <a:extLst>
                  <a:ext uri="{FF2B5EF4-FFF2-40B4-BE49-F238E27FC236}">
                    <a16:creationId xmlns:a16="http://schemas.microsoft.com/office/drawing/2014/main" id="{3BE3C0E5-6799-A01E-77CA-759DEC033E94}"/>
                  </a:ext>
                </a:extLst>
              </p:cNvPr>
              <p:cNvSpPr/>
              <p:nvPr/>
            </p:nvSpPr>
            <p:spPr>
              <a:xfrm>
                <a:off x="2429937" y="3559194"/>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Hexagon 19">
                <a:extLst>
                  <a:ext uri="{FF2B5EF4-FFF2-40B4-BE49-F238E27FC236}">
                    <a16:creationId xmlns:a16="http://schemas.microsoft.com/office/drawing/2014/main" id="{D892917E-6309-4710-631F-0B7ED3FE2CFB}"/>
                  </a:ext>
                </a:extLst>
              </p:cNvPr>
              <p:cNvSpPr/>
              <p:nvPr/>
            </p:nvSpPr>
            <p:spPr>
              <a:xfrm>
                <a:off x="2429937" y="2694920"/>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Hexagon 20">
                <a:extLst>
                  <a:ext uri="{FF2B5EF4-FFF2-40B4-BE49-F238E27FC236}">
                    <a16:creationId xmlns:a16="http://schemas.microsoft.com/office/drawing/2014/main" id="{EC071FFD-933D-73F3-0A9D-BAE5C326AC82}"/>
                  </a:ext>
                </a:extLst>
              </p:cNvPr>
              <p:cNvSpPr/>
              <p:nvPr/>
            </p:nvSpPr>
            <p:spPr>
              <a:xfrm>
                <a:off x="3238499" y="2261844"/>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Hexagon 21">
                <a:extLst>
                  <a:ext uri="{FF2B5EF4-FFF2-40B4-BE49-F238E27FC236}">
                    <a16:creationId xmlns:a16="http://schemas.microsoft.com/office/drawing/2014/main" id="{A23D0349-818C-42AE-CB23-A374D46DB90E}"/>
                  </a:ext>
                </a:extLst>
              </p:cNvPr>
              <p:cNvSpPr/>
              <p:nvPr/>
            </p:nvSpPr>
            <p:spPr>
              <a:xfrm>
                <a:off x="4807802" y="1345230"/>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Hexagon 22">
                <a:extLst>
                  <a:ext uri="{FF2B5EF4-FFF2-40B4-BE49-F238E27FC236}">
                    <a16:creationId xmlns:a16="http://schemas.microsoft.com/office/drawing/2014/main" id="{19B0373D-5127-704E-892A-293E290953B7}"/>
                  </a:ext>
                </a:extLst>
              </p:cNvPr>
              <p:cNvSpPr/>
              <p:nvPr/>
            </p:nvSpPr>
            <p:spPr>
              <a:xfrm>
                <a:off x="4023150" y="1799624"/>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Hexagon 23">
                <a:extLst>
                  <a:ext uri="{FF2B5EF4-FFF2-40B4-BE49-F238E27FC236}">
                    <a16:creationId xmlns:a16="http://schemas.microsoft.com/office/drawing/2014/main" id="{83208242-E288-0AA6-BE46-41E1AEE1EF46}"/>
                  </a:ext>
                </a:extLst>
              </p:cNvPr>
              <p:cNvSpPr/>
              <p:nvPr/>
            </p:nvSpPr>
            <p:spPr>
              <a:xfrm>
                <a:off x="4021053" y="912154"/>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Hexagon 24">
                <a:extLst>
                  <a:ext uri="{FF2B5EF4-FFF2-40B4-BE49-F238E27FC236}">
                    <a16:creationId xmlns:a16="http://schemas.microsoft.com/office/drawing/2014/main" id="{02B04883-846E-60B1-E3F2-38E1E7B33718}"/>
                  </a:ext>
                </a:extLst>
              </p:cNvPr>
              <p:cNvSpPr/>
              <p:nvPr/>
            </p:nvSpPr>
            <p:spPr>
              <a:xfrm>
                <a:off x="4807801" y="463838"/>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Hexagon 25">
                <a:extLst>
                  <a:ext uri="{FF2B5EF4-FFF2-40B4-BE49-F238E27FC236}">
                    <a16:creationId xmlns:a16="http://schemas.microsoft.com/office/drawing/2014/main" id="{86451A39-BABF-0C3D-85D9-375E23BF823D}"/>
                  </a:ext>
                </a:extLst>
              </p:cNvPr>
              <p:cNvSpPr/>
              <p:nvPr/>
            </p:nvSpPr>
            <p:spPr>
              <a:xfrm>
                <a:off x="4817858" y="3153395"/>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Hexagon 26">
                <a:extLst>
                  <a:ext uri="{FF2B5EF4-FFF2-40B4-BE49-F238E27FC236}">
                    <a16:creationId xmlns:a16="http://schemas.microsoft.com/office/drawing/2014/main" id="{0A07CCA7-86FD-528B-B714-0C45BD24E34A}"/>
                  </a:ext>
                </a:extLst>
              </p:cNvPr>
              <p:cNvSpPr/>
              <p:nvPr/>
            </p:nvSpPr>
            <p:spPr>
              <a:xfrm>
                <a:off x="4009295" y="3569353"/>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Hexagon 27">
                <a:extLst>
                  <a:ext uri="{FF2B5EF4-FFF2-40B4-BE49-F238E27FC236}">
                    <a16:creationId xmlns:a16="http://schemas.microsoft.com/office/drawing/2014/main" id="{35EFC781-ED1F-6F65-3836-991899113687}"/>
                  </a:ext>
                </a:extLst>
              </p:cNvPr>
              <p:cNvSpPr/>
              <p:nvPr/>
            </p:nvSpPr>
            <p:spPr>
              <a:xfrm>
                <a:off x="4009295" y="2705079"/>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Hexagon 28">
                <a:extLst>
                  <a:ext uri="{FF2B5EF4-FFF2-40B4-BE49-F238E27FC236}">
                    <a16:creationId xmlns:a16="http://schemas.microsoft.com/office/drawing/2014/main" id="{9D048C4B-5465-00E2-BA8B-1531BFC35E7D}"/>
                  </a:ext>
                </a:extLst>
              </p:cNvPr>
              <p:cNvSpPr/>
              <p:nvPr/>
            </p:nvSpPr>
            <p:spPr>
              <a:xfrm>
                <a:off x="4817857" y="2272003"/>
                <a:ext cx="931663" cy="803158"/>
              </a:xfrm>
              <a:prstGeom prst="hexag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grpSp>
      <p:pic>
        <p:nvPicPr>
          <p:cNvPr id="4" name="Picture 3" descr="A map of different colors with white text">
            <a:extLst>
              <a:ext uri="{FF2B5EF4-FFF2-40B4-BE49-F238E27FC236}">
                <a16:creationId xmlns:a16="http://schemas.microsoft.com/office/drawing/2014/main" id="{7BD1FD3A-09C4-6BBE-B3B4-EF194872800F}"/>
              </a:ext>
            </a:extLst>
          </p:cNvPr>
          <p:cNvPicPr>
            <a:picLocks noChangeAspect="1"/>
          </p:cNvPicPr>
          <p:nvPr/>
        </p:nvPicPr>
        <p:blipFill>
          <a:blip r:embed="rId5"/>
          <a:stretch>
            <a:fillRect/>
          </a:stretch>
        </p:blipFill>
        <p:spPr>
          <a:xfrm>
            <a:off x="-6132300" y="-20965"/>
            <a:ext cx="7479348" cy="5185430"/>
          </a:xfrm>
          <a:prstGeom prst="rect">
            <a:avLst/>
          </a:prstGeom>
        </p:spPr>
      </p:pic>
    </p:spTree>
    <p:extLst>
      <p:ext uri="{BB962C8B-B14F-4D97-AF65-F5344CB8AC3E}">
        <p14:creationId xmlns:p14="http://schemas.microsoft.com/office/powerpoint/2010/main" val="3238459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pic>
        <p:nvPicPr>
          <p:cNvPr id="3" name="Picture 2" descr="A group of houses in a field&#10;&#10;Description automatically generated">
            <a:extLst>
              <a:ext uri="{FF2B5EF4-FFF2-40B4-BE49-F238E27FC236}">
                <a16:creationId xmlns:a16="http://schemas.microsoft.com/office/drawing/2014/main" id="{CA4CDC1E-F421-A25D-3FD7-97885C849610}"/>
              </a:ext>
            </a:extLst>
          </p:cNvPr>
          <p:cNvPicPr>
            <a:picLocks noChangeAspect="1"/>
          </p:cNvPicPr>
          <p:nvPr/>
        </p:nvPicPr>
        <p:blipFill>
          <a:blip r:embed="rId3">
            <a:alphaModFix amt="50000"/>
          </a:blip>
          <a:stretch>
            <a:fillRect/>
          </a:stretch>
        </p:blipFill>
        <p:spPr>
          <a:xfrm>
            <a:off x="292576" y="124146"/>
            <a:ext cx="8229648" cy="3301004"/>
          </a:xfrm>
          <a:prstGeom prst="rect">
            <a:avLst/>
          </a:prstGeom>
        </p:spPr>
      </p:pic>
      <p:sp>
        <p:nvSpPr>
          <p:cNvPr id="254" name="Google Shape;254;p32"/>
          <p:cNvSpPr txBox="1"/>
          <p:nvPr/>
        </p:nvSpPr>
        <p:spPr>
          <a:xfrm>
            <a:off x="3625382" y="530918"/>
            <a:ext cx="3975568" cy="615553"/>
          </a:xfrm>
          <a:prstGeom prst="rect">
            <a:avLst/>
          </a:prstGeom>
          <a:noFill/>
          <a:ln>
            <a:noFill/>
          </a:ln>
        </p:spPr>
        <p:txBody>
          <a:bodyPr spcFirstLastPara="1" wrap="square" lIns="0" tIns="0" rIns="0" bIns="0" anchor="t" anchorCtr="0">
            <a:spAutoFit/>
          </a:bodyPr>
          <a:lstStyle/>
          <a:p>
            <a:pPr marL="0" marR="0" lvl="0" indent="0" algn="r" rtl="1">
              <a:lnSpc>
                <a:spcPct val="100000"/>
              </a:lnSpc>
              <a:spcBef>
                <a:spcPts val="0"/>
              </a:spcBef>
              <a:spcAft>
                <a:spcPts val="0"/>
              </a:spcAft>
              <a:buNone/>
            </a:pPr>
            <a:r>
              <a:rPr lang="fa-IR" sz="4000" b="1" i="0" u="none" strike="noStrike" cap="none" dirty="0">
                <a:solidFill>
                  <a:srgbClr val="000000"/>
                </a:solidFill>
                <a:latin typeface="Open Sans"/>
                <a:ea typeface="Open Sans"/>
                <a:cs typeface="B Nazanin" panose="00000700000000000000" pitchFamily="2" charset="-78"/>
                <a:sym typeface="Open Sans"/>
              </a:rPr>
              <a:t>روستا</a:t>
            </a:r>
            <a:endParaRPr sz="700" dirty="0">
              <a:cs typeface="B Nazanin" panose="00000700000000000000" pitchFamily="2" charset="-78"/>
            </a:endParaRPr>
          </a:p>
        </p:txBody>
      </p:sp>
      <p:sp>
        <p:nvSpPr>
          <p:cNvPr id="265" name="Google Shape;265;p32"/>
          <p:cNvSpPr txBox="1"/>
          <p:nvPr/>
        </p:nvSpPr>
        <p:spPr>
          <a:xfrm>
            <a:off x="292575" y="3623843"/>
            <a:ext cx="7948740" cy="1292662"/>
          </a:xfrm>
          <a:prstGeom prst="rect">
            <a:avLst/>
          </a:prstGeom>
          <a:noFill/>
          <a:ln>
            <a:noFill/>
          </a:ln>
        </p:spPr>
        <p:txBody>
          <a:bodyPr spcFirstLastPara="1" wrap="square" lIns="0" tIns="0" rIns="0" bIns="0" anchor="t" anchorCtr="0">
            <a:spAutoFit/>
          </a:bodyPr>
          <a:lstStyle/>
          <a:p>
            <a:pPr marL="0" marR="0" lvl="0" indent="0" algn="r" rtl="1">
              <a:lnSpc>
                <a:spcPct val="140000"/>
              </a:lnSpc>
              <a:spcBef>
                <a:spcPts val="0"/>
              </a:spcBef>
              <a:spcAft>
                <a:spcPts val="0"/>
              </a:spcAft>
              <a:buNone/>
            </a:pPr>
            <a:r>
              <a:rPr lang="fa-IR" sz="1000" b="1" i="0" u="none" strike="noStrike" cap="none" dirty="0">
                <a:solidFill>
                  <a:srgbClr val="000000"/>
                </a:solidFill>
                <a:latin typeface="Open Sans"/>
                <a:ea typeface="Open Sans"/>
                <a:cs typeface="B Nazanin" panose="00000700000000000000" pitchFamily="2" charset="-78"/>
                <a:sym typeface="Open Sans"/>
              </a:rPr>
              <a:t>روستا واحد مبداء تقسيمات كشوري است كه از لحاظ محيط زيستي همگن بوده كه با منطقه معين ثبتي كه حداقل تعداد 20 خانوار يا صد نفر اعم از متمركز يا پراكنده در آنجا سكونت داشته باشند و اكثريت ساكنان دائمي آن بطور مستقيم يا غيرمستقيم به يكي از فعاليت هاي كشاورزي، دامداري، باغداري بطور اعم و صنايع روستائي و صيد و يا تركيبي از اين فعاليت ها اشتغال داشته باشند و در عرف بعنوان ده، آبادي، دهكده يا قريه ناميده مي شده است.</a:t>
            </a:r>
          </a:p>
          <a:p>
            <a:pPr marL="0" marR="0" lvl="0" indent="0" algn="r" rtl="1">
              <a:lnSpc>
                <a:spcPct val="140000"/>
              </a:lnSpc>
              <a:spcBef>
                <a:spcPts val="0"/>
              </a:spcBef>
              <a:spcAft>
                <a:spcPts val="0"/>
              </a:spcAft>
              <a:buNone/>
            </a:pPr>
            <a:r>
              <a:rPr lang="fa-IR" sz="1000" b="1" i="0" u="none" strike="noStrike" cap="none" dirty="0">
                <a:solidFill>
                  <a:srgbClr val="000000"/>
                </a:solidFill>
                <a:latin typeface="Open Sans"/>
                <a:ea typeface="Open Sans"/>
                <a:cs typeface="B Nazanin" panose="00000700000000000000" pitchFamily="2" charset="-78"/>
                <a:sym typeface="Open Sans"/>
              </a:rPr>
              <a:t>مكان به نقطه اي اطلاق ميشود كه بنا به تعريف روستا نبوده و بيشتر محل انجام فعاليتهاي غيركشاورزي ( كارخانه، ايستگاه، كارگاه، قهوه خانه و نظائر آنها) است كه به دو شكل مستقل و تابع شناخته مي شود.</a:t>
            </a:r>
          </a:p>
          <a:p>
            <a:pPr marL="0" marR="0" lvl="0" indent="0" algn="r" rtl="1">
              <a:lnSpc>
                <a:spcPct val="140000"/>
              </a:lnSpc>
              <a:spcBef>
                <a:spcPts val="0"/>
              </a:spcBef>
              <a:spcAft>
                <a:spcPts val="0"/>
              </a:spcAft>
              <a:buNone/>
            </a:pPr>
            <a:r>
              <a:rPr lang="fa-IR" sz="1000" b="1" i="0" u="none" strike="noStrike" cap="none" dirty="0">
                <a:solidFill>
                  <a:srgbClr val="000000"/>
                </a:solidFill>
                <a:latin typeface="Open Sans"/>
                <a:ea typeface="Open Sans"/>
                <a:cs typeface="B Nazanin" panose="00000700000000000000" pitchFamily="2" charset="-78"/>
                <a:sym typeface="Open Sans"/>
              </a:rPr>
              <a:t>مزرعه در محدوده ثبتي يا عرفي روستاي متبوع خود بوده و بطور كلي از لحاظ نظام تقسيمات كشوري جزو آن محسوب ميشود.</a:t>
            </a:r>
          </a:p>
        </p:txBody>
      </p:sp>
      <p:cxnSp>
        <p:nvCxnSpPr>
          <p:cNvPr id="267" name="Google Shape;267;p32"/>
          <p:cNvCxnSpPr/>
          <p:nvPr/>
        </p:nvCxnSpPr>
        <p:spPr>
          <a:xfrm rot="5400000">
            <a:off x="7221115" y="113503"/>
            <a:ext cx="2812307" cy="0"/>
          </a:xfrm>
          <a:prstGeom prst="straightConnector1">
            <a:avLst/>
          </a:prstGeom>
          <a:noFill/>
          <a:ln w="9525" cap="flat" cmpd="sng">
            <a:solidFill>
              <a:srgbClr val="000000"/>
            </a:solidFill>
            <a:prstDash val="solid"/>
            <a:round/>
            <a:headEnd type="none" w="sm" len="sm"/>
            <a:tailEnd type="none" w="sm" len="sm"/>
          </a:ln>
        </p:spPr>
      </p:cxnSp>
      <p:cxnSp>
        <p:nvCxnSpPr>
          <p:cNvPr id="268" name="Google Shape;268;p32"/>
          <p:cNvCxnSpPr/>
          <p:nvPr/>
        </p:nvCxnSpPr>
        <p:spPr>
          <a:xfrm rot="5400000">
            <a:off x="-1218622" y="3960751"/>
            <a:ext cx="2812307" cy="0"/>
          </a:xfrm>
          <a:prstGeom prst="straightConnector1">
            <a:avLst/>
          </a:prstGeom>
          <a:noFill/>
          <a:ln w="9525" cap="flat" cmpd="sng">
            <a:solidFill>
              <a:srgbClr val="000000"/>
            </a:solidFill>
            <a:prstDash val="solid"/>
            <a:round/>
            <a:headEnd type="none" w="sm" len="sm"/>
            <a:tailEnd type="none" w="sm" len="sm"/>
          </a:ln>
        </p:spPr>
      </p:cxnSp>
      <p:grpSp>
        <p:nvGrpSpPr>
          <p:cNvPr id="269" name="Google Shape;269;p32"/>
          <p:cNvGrpSpPr/>
          <p:nvPr/>
        </p:nvGrpSpPr>
        <p:grpSpPr>
          <a:xfrm>
            <a:off x="8837359" y="-72330"/>
            <a:ext cx="1543051" cy="5808473"/>
            <a:chOff x="0" y="-38100"/>
            <a:chExt cx="812800" cy="3059607"/>
          </a:xfrm>
        </p:grpSpPr>
        <p:sp>
          <p:nvSpPr>
            <p:cNvPr id="270" name="Google Shape;270;p32"/>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271" name="Google Shape;271;p32"/>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272" name="Google Shape;272;p32"/>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000000"/>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spTree>
    <p:extLst>
      <p:ext uri="{BB962C8B-B14F-4D97-AF65-F5344CB8AC3E}">
        <p14:creationId xmlns:p14="http://schemas.microsoft.com/office/powerpoint/2010/main" val="18104239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grpSp>
        <p:nvGrpSpPr>
          <p:cNvPr id="583" name="Google Shape;583;p46"/>
          <p:cNvGrpSpPr/>
          <p:nvPr/>
        </p:nvGrpSpPr>
        <p:grpSpPr>
          <a:xfrm>
            <a:off x="5157638" y="378687"/>
            <a:ext cx="2975513" cy="4257123"/>
            <a:chOff x="-123843" y="0"/>
            <a:chExt cx="7934700" cy="11352328"/>
          </a:xfrm>
        </p:grpSpPr>
        <p:sp>
          <p:nvSpPr>
            <p:cNvPr id="584" name="Google Shape;584;p46"/>
            <p:cNvSpPr txBox="1"/>
            <p:nvPr/>
          </p:nvSpPr>
          <p:spPr>
            <a:xfrm>
              <a:off x="228432" y="0"/>
              <a:ext cx="7477799" cy="1575816"/>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fa-IR" sz="3200" b="1" i="0" u="none" strike="noStrike" cap="none" dirty="0">
                  <a:solidFill>
                    <a:srgbClr val="000000"/>
                  </a:solidFill>
                  <a:latin typeface="Open Sans"/>
                  <a:ea typeface="Open Sans"/>
                  <a:cs typeface="B Nazanin" panose="00000700000000000000" pitchFamily="2" charset="-78"/>
                  <a:sym typeface="Open Sans"/>
                </a:rPr>
                <a:t>دهستان</a:t>
              </a:r>
              <a:endParaRPr sz="700" b="1" dirty="0">
                <a:latin typeface="Open Sans"/>
                <a:ea typeface="Open Sans"/>
                <a:cs typeface="B Nazanin" panose="00000700000000000000" pitchFamily="2" charset="-78"/>
                <a:sym typeface="Open Sans"/>
              </a:endParaRPr>
            </a:p>
          </p:txBody>
        </p:sp>
        <p:sp>
          <p:nvSpPr>
            <p:cNvPr id="586" name="Google Shape;586;p46"/>
            <p:cNvSpPr txBox="1"/>
            <p:nvPr/>
          </p:nvSpPr>
          <p:spPr>
            <a:xfrm>
              <a:off x="-123843" y="3883616"/>
              <a:ext cx="7934700" cy="7468712"/>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fa-IR" sz="1000" b="1" i="0" u="none" strike="noStrike" cap="none" dirty="0">
                  <a:solidFill>
                    <a:srgbClr val="000000"/>
                  </a:solidFill>
                  <a:latin typeface="Open Sans"/>
                  <a:ea typeface="Open Sans"/>
                  <a:cs typeface="B Nazanin" panose="00000700000000000000" pitchFamily="2" charset="-78"/>
                  <a:sym typeface="Open Sans"/>
                </a:rPr>
                <a:t>دهستان كوچكترين واحد تقسيمات كشوري است كه داراي محدوده جغرافيائي معين بوده و از بهم پيوستن چند روستا، مكان، مزرعه همجوار تشكيل ميشود كه از لحاظ محيط طبيعي، فرهنگي، اقتصادي و اجتماعي همگن بوده و امكان خدمات رساني و برنامه ريزي در سيستم و شبكه واحدي را فراهم مينمايد .</a:t>
              </a:r>
            </a:p>
            <a:p>
              <a:pPr marL="0" marR="0" lvl="0" indent="0" algn="ctr" rtl="0">
                <a:lnSpc>
                  <a:spcPct val="140020"/>
                </a:lnSpc>
                <a:spcBef>
                  <a:spcPts val="0"/>
                </a:spcBef>
                <a:spcAft>
                  <a:spcPts val="0"/>
                </a:spcAft>
                <a:buNone/>
              </a:pPr>
              <a:r>
                <a:rPr lang="fa-IR" sz="1000" b="1" i="0" u="none" strike="noStrike" cap="none" dirty="0">
                  <a:solidFill>
                    <a:srgbClr val="000000"/>
                  </a:solidFill>
                  <a:latin typeface="Open Sans"/>
                  <a:ea typeface="Open Sans"/>
                  <a:cs typeface="B Nazanin" panose="00000700000000000000" pitchFamily="2" charset="-78"/>
                  <a:sym typeface="Open Sans"/>
                </a:rPr>
                <a:t> حداقل جمعيت دهستان با در نظر گرفتن وضع پراكندگي و اقليمي كشور به سه درجه تراكمي زير تقسيم ميشود:</a:t>
              </a:r>
            </a:p>
            <a:p>
              <a:pPr marL="0" marR="0" lvl="0" indent="0" algn="ctr" rtl="0">
                <a:lnSpc>
                  <a:spcPct val="140020"/>
                </a:lnSpc>
                <a:spcBef>
                  <a:spcPts val="0"/>
                </a:spcBef>
                <a:spcAft>
                  <a:spcPts val="0"/>
                </a:spcAft>
                <a:buNone/>
              </a:pPr>
              <a:endParaRPr lang="fa-IR" sz="1000" b="1" i="0" u="none" strike="noStrike" cap="none" dirty="0">
                <a:solidFill>
                  <a:srgbClr val="000000"/>
                </a:solidFill>
                <a:latin typeface="Open Sans"/>
                <a:ea typeface="Open Sans"/>
                <a:cs typeface="B Nazanin" panose="00000700000000000000" pitchFamily="2" charset="-78"/>
                <a:sym typeface="Open Sans"/>
              </a:endParaRPr>
            </a:p>
            <a:p>
              <a:pPr marL="0" marR="0" lvl="0" indent="0" algn="ctr" rtl="0">
                <a:lnSpc>
                  <a:spcPct val="140020"/>
                </a:lnSpc>
                <a:spcBef>
                  <a:spcPts val="0"/>
                </a:spcBef>
                <a:spcAft>
                  <a:spcPts val="0"/>
                </a:spcAft>
                <a:buNone/>
              </a:pPr>
              <a:r>
                <a:rPr lang="fa-IR" sz="1000" b="1" i="0" u="none" strike="noStrike" cap="none" dirty="0">
                  <a:solidFill>
                    <a:srgbClr val="000000"/>
                  </a:solidFill>
                  <a:latin typeface="Open Sans"/>
                  <a:ea typeface="Open Sans"/>
                  <a:cs typeface="B Nazanin" panose="00000700000000000000" pitchFamily="2" charset="-78"/>
                  <a:sym typeface="Open Sans"/>
                </a:rPr>
                <a:t>   الف- تراكم زياد 8000 نفر.                   ب- تراكم متوسط 6000 نفر.                 ج- تراكم كم 4000 نفر.</a:t>
              </a:r>
            </a:p>
            <a:p>
              <a:pPr marL="0" marR="0" lvl="0" indent="0" algn="ctr" rtl="0">
                <a:lnSpc>
                  <a:spcPct val="140020"/>
                </a:lnSpc>
                <a:spcBef>
                  <a:spcPts val="0"/>
                </a:spcBef>
                <a:spcAft>
                  <a:spcPts val="0"/>
                </a:spcAft>
                <a:buNone/>
              </a:pPr>
              <a:r>
                <a:rPr lang="fa-IR" sz="1000" b="1" i="0" u="none" strike="noStrike" cap="none" dirty="0">
                  <a:solidFill>
                    <a:srgbClr val="000000"/>
                  </a:solidFill>
                  <a:latin typeface="Open Sans"/>
                  <a:ea typeface="Open Sans"/>
                  <a:cs typeface="B Nazanin" panose="00000700000000000000" pitchFamily="2" charset="-78"/>
                  <a:sym typeface="Open Sans"/>
                </a:rPr>
                <a:t> </a:t>
              </a:r>
            </a:p>
            <a:p>
              <a:pPr marL="0" marR="0" lvl="0" indent="0" algn="ctr" rtl="0">
                <a:lnSpc>
                  <a:spcPct val="140020"/>
                </a:lnSpc>
                <a:spcBef>
                  <a:spcPts val="0"/>
                </a:spcBef>
                <a:spcAft>
                  <a:spcPts val="0"/>
                </a:spcAft>
                <a:buNone/>
              </a:pPr>
              <a:r>
                <a:rPr lang="fa-IR" sz="1000" b="1" i="0" u="none" strike="noStrike" cap="none" dirty="0">
                  <a:solidFill>
                    <a:srgbClr val="000000"/>
                  </a:solidFill>
                  <a:latin typeface="Open Sans"/>
                  <a:ea typeface="Open Sans"/>
                  <a:cs typeface="B Nazanin" panose="00000700000000000000" pitchFamily="2" charset="-78"/>
                  <a:sym typeface="Open Sans"/>
                </a:rPr>
                <a:t>مركز دهستان روستایي از همان دهستان است كه مناسب ترين مركز خدمات روستایي آن محدوده شناخته مي شود.</a:t>
              </a:r>
            </a:p>
          </p:txBody>
        </p:sp>
      </p:grpSp>
      <p:cxnSp>
        <p:nvCxnSpPr>
          <p:cNvPr id="588" name="Google Shape;588;p46"/>
          <p:cNvCxnSpPr/>
          <p:nvPr/>
        </p:nvCxnSpPr>
        <p:spPr>
          <a:xfrm rot="5400000">
            <a:off x="6428372" y="4703694"/>
            <a:ext cx="3626382" cy="0"/>
          </a:xfrm>
          <a:prstGeom prst="straightConnector1">
            <a:avLst/>
          </a:prstGeom>
          <a:noFill/>
          <a:ln w="9525" cap="flat" cmpd="sng">
            <a:solidFill>
              <a:srgbClr val="000000"/>
            </a:solidFill>
            <a:prstDash val="solid"/>
            <a:round/>
            <a:headEnd type="none" w="sm" len="sm"/>
            <a:tailEnd type="none" w="sm" len="sm"/>
          </a:ln>
        </p:spPr>
      </p:cxnSp>
      <p:cxnSp>
        <p:nvCxnSpPr>
          <p:cNvPr id="589" name="Google Shape;589;p46"/>
          <p:cNvCxnSpPr/>
          <p:nvPr/>
        </p:nvCxnSpPr>
        <p:spPr>
          <a:xfrm rot="5400000">
            <a:off x="2748651" y="98247"/>
            <a:ext cx="3626382" cy="0"/>
          </a:xfrm>
          <a:prstGeom prst="straightConnector1">
            <a:avLst/>
          </a:prstGeom>
          <a:noFill/>
          <a:ln w="9525" cap="flat" cmpd="sng">
            <a:solidFill>
              <a:srgbClr val="000000"/>
            </a:solidFill>
            <a:prstDash val="solid"/>
            <a:round/>
            <a:headEnd type="none" w="sm" len="sm"/>
            <a:tailEnd type="none" w="sm" len="sm"/>
          </a:ln>
        </p:spPr>
      </p:cxnSp>
      <p:grpSp>
        <p:nvGrpSpPr>
          <p:cNvPr id="590" name="Google Shape;590;p46"/>
          <p:cNvGrpSpPr/>
          <p:nvPr/>
        </p:nvGrpSpPr>
        <p:grpSpPr>
          <a:xfrm>
            <a:off x="8837359" y="-72330"/>
            <a:ext cx="1543051" cy="5808473"/>
            <a:chOff x="0" y="-38100"/>
            <a:chExt cx="812800" cy="3059607"/>
          </a:xfrm>
        </p:grpSpPr>
        <p:sp>
          <p:nvSpPr>
            <p:cNvPr id="591" name="Google Shape;591;p46"/>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592" name="Google Shape;592;p46"/>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593" name="Google Shape;593;p46"/>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000000"/>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pic>
        <p:nvPicPr>
          <p:cNvPr id="3" name="Picture 2" descr="A collage of different colored maps">
            <a:extLst>
              <a:ext uri="{FF2B5EF4-FFF2-40B4-BE49-F238E27FC236}">
                <a16:creationId xmlns:a16="http://schemas.microsoft.com/office/drawing/2014/main" id="{31DE9276-5DDC-83E4-5E50-AAF1EEFF044C}"/>
              </a:ext>
            </a:extLst>
          </p:cNvPr>
          <p:cNvPicPr>
            <a:picLocks noChangeAspect="1"/>
          </p:cNvPicPr>
          <p:nvPr/>
        </p:nvPicPr>
        <p:blipFill rotWithShape="1">
          <a:blip r:embed="rId3"/>
          <a:srcRect t="50000" r="50000"/>
          <a:stretch/>
        </p:blipFill>
        <p:spPr>
          <a:xfrm>
            <a:off x="41158" y="295714"/>
            <a:ext cx="4340094" cy="434009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2" name="Rectangle 1">
            <a:extLst>
              <a:ext uri="{FF2B5EF4-FFF2-40B4-BE49-F238E27FC236}">
                <a16:creationId xmlns:a16="http://schemas.microsoft.com/office/drawing/2014/main" id="{9C1D4E6A-F22A-B833-3D44-890E952A6865}"/>
              </a:ext>
            </a:extLst>
          </p:cNvPr>
          <p:cNvSpPr/>
          <p:nvPr/>
        </p:nvSpPr>
        <p:spPr>
          <a:xfrm>
            <a:off x="0" y="0"/>
            <a:ext cx="4281616" cy="51435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424" name="Google Shape;424;p40"/>
          <p:cNvGrpSpPr/>
          <p:nvPr/>
        </p:nvGrpSpPr>
        <p:grpSpPr>
          <a:xfrm>
            <a:off x="8629650" y="-72330"/>
            <a:ext cx="1543052" cy="1615380"/>
            <a:chOff x="0" y="-38100"/>
            <a:chExt cx="812800" cy="850900"/>
          </a:xfrm>
        </p:grpSpPr>
        <p:sp>
          <p:nvSpPr>
            <p:cNvPr id="425" name="Google Shape;425;p40"/>
            <p:cNvSpPr/>
            <p:nvPr/>
          </p:nvSpPr>
          <p:spPr>
            <a:xfrm>
              <a:off x="0" y="0"/>
              <a:ext cx="270933" cy="80000"/>
            </a:xfrm>
            <a:custGeom>
              <a:avLst/>
              <a:gdLst/>
              <a:ahLst/>
              <a:cxnLst/>
              <a:rect l="l" t="t" r="r" b="b"/>
              <a:pathLst>
                <a:path w="270933" h="80000" extrusionOk="0">
                  <a:moveTo>
                    <a:pt x="0" y="0"/>
                  </a:moveTo>
                  <a:lnTo>
                    <a:pt x="270933" y="0"/>
                  </a:lnTo>
                  <a:lnTo>
                    <a:pt x="270933" y="80000"/>
                  </a:lnTo>
                  <a:lnTo>
                    <a:pt x="0" y="80000"/>
                  </a:lnTo>
                  <a:close/>
                </a:path>
              </a:pathLst>
            </a:custGeom>
            <a:solidFill>
              <a:srgbClr val="7ED8FD"/>
            </a:solidFill>
            <a:ln>
              <a:noFill/>
            </a:ln>
          </p:spPr>
          <p:txBody>
            <a:bodyPr/>
            <a:lstStyle/>
            <a:p>
              <a:endParaRPr lang="en-US"/>
            </a:p>
          </p:txBody>
        </p:sp>
        <p:sp>
          <p:nvSpPr>
            <p:cNvPr id="426" name="Google Shape;426;p40"/>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grpSp>
        <p:nvGrpSpPr>
          <p:cNvPr id="427" name="Google Shape;427;p40"/>
          <p:cNvGrpSpPr/>
          <p:nvPr/>
        </p:nvGrpSpPr>
        <p:grpSpPr>
          <a:xfrm>
            <a:off x="8629650" y="4919295"/>
            <a:ext cx="1543052" cy="1615380"/>
            <a:chOff x="0" y="-38100"/>
            <a:chExt cx="812800" cy="850900"/>
          </a:xfrm>
        </p:grpSpPr>
        <p:sp>
          <p:nvSpPr>
            <p:cNvPr id="428" name="Google Shape;428;p40"/>
            <p:cNvSpPr/>
            <p:nvPr/>
          </p:nvSpPr>
          <p:spPr>
            <a:xfrm>
              <a:off x="0" y="0"/>
              <a:ext cx="270933" cy="80000"/>
            </a:xfrm>
            <a:custGeom>
              <a:avLst/>
              <a:gdLst/>
              <a:ahLst/>
              <a:cxnLst/>
              <a:rect l="l" t="t" r="r" b="b"/>
              <a:pathLst>
                <a:path w="270933" h="80000" extrusionOk="0">
                  <a:moveTo>
                    <a:pt x="0" y="0"/>
                  </a:moveTo>
                  <a:lnTo>
                    <a:pt x="270933" y="0"/>
                  </a:lnTo>
                  <a:lnTo>
                    <a:pt x="270933" y="80000"/>
                  </a:lnTo>
                  <a:lnTo>
                    <a:pt x="0" y="80000"/>
                  </a:lnTo>
                  <a:close/>
                </a:path>
              </a:pathLst>
            </a:custGeom>
            <a:solidFill>
              <a:srgbClr val="00C282"/>
            </a:solidFill>
            <a:ln>
              <a:noFill/>
            </a:ln>
          </p:spPr>
          <p:txBody>
            <a:bodyPr/>
            <a:lstStyle/>
            <a:p>
              <a:endParaRPr lang="en-US"/>
            </a:p>
          </p:txBody>
        </p:sp>
        <p:sp>
          <p:nvSpPr>
            <p:cNvPr id="429" name="Google Shape;429;p40"/>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pic>
        <p:nvPicPr>
          <p:cNvPr id="430" name="Google Shape;430;p40"/>
          <p:cNvPicPr preferRelativeResize="0"/>
          <p:nvPr/>
        </p:nvPicPr>
        <p:blipFill rotWithShape="1">
          <a:blip r:embed="rId3">
            <a:alphaModFix/>
          </a:blip>
          <a:srcRect t="1058" b="1057"/>
          <a:stretch/>
        </p:blipFill>
        <p:spPr>
          <a:xfrm>
            <a:off x="4281616" y="-1099400"/>
            <a:ext cx="5157377" cy="6776059"/>
          </a:xfrm>
          <a:prstGeom prst="rect">
            <a:avLst/>
          </a:prstGeom>
          <a:noFill/>
          <a:ln>
            <a:noFill/>
          </a:ln>
        </p:spPr>
      </p:pic>
      <p:grpSp>
        <p:nvGrpSpPr>
          <p:cNvPr id="431" name="Google Shape;431;p40"/>
          <p:cNvGrpSpPr/>
          <p:nvPr/>
        </p:nvGrpSpPr>
        <p:grpSpPr>
          <a:xfrm>
            <a:off x="362562" y="213703"/>
            <a:ext cx="3522600" cy="1106819"/>
            <a:chOff x="0" y="-897047"/>
            <a:chExt cx="9393600" cy="2951515"/>
          </a:xfrm>
        </p:grpSpPr>
        <p:sp>
          <p:nvSpPr>
            <p:cNvPr id="432" name="Google Shape;432;p40"/>
            <p:cNvSpPr txBox="1"/>
            <p:nvPr/>
          </p:nvSpPr>
          <p:spPr>
            <a:xfrm>
              <a:off x="0" y="1479951"/>
              <a:ext cx="9393600" cy="574517"/>
            </a:xfrm>
            <a:prstGeom prst="rect">
              <a:avLst/>
            </a:prstGeom>
            <a:noFill/>
            <a:ln>
              <a:noFill/>
            </a:ln>
          </p:spPr>
          <p:txBody>
            <a:bodyPr spcFirstLastPara="1" wrap="square" lIns="0" tIns="0" rIns="0" bIns="0" anchor="t" anchorCtr="0">
              <a:spAutoFit/>
            </a:bodyPr>
            <a:lstStyle/>
            <a:p>
              <a:pPr marL="0" marR="0" lvl="0" indent="0" algn="ctr" rtl="1">
                <a:lnSpc>
                  <a:spcPct val="140000"/>
                </a:lnSpc>
                <a:spcBef>
                  <a:spcPts val="0"/>
                </a:spcBef>
                <a:spcAft>
                  <a:spcPts val="0"/>
                </a:spcAft>
                <a:buNone/>
              </a:pPr>
              <a:r>
                <a:rPr lang="fa-IR" sz="1000" b="0" i="0" u="none" strike="noStrike" cap="none" dirty="0">
                  <a:solidFill>
                    <a:srgbClr val="000000"/>
                  </a:solidFill>
                  <a:latin typeface="Open Sans"/>
                  <a:ea typeface="Open Sans"/>
                  <a:cs typeface="B Nazanin" panose="00000700000000000000" pitchFamily="2" charset="-78"/>
                  <a:sym typeface="Open Sans"/>
                </a:rPr>
                <a:t>در مورد آمار برجسته توضیح دهید.</a:t>
              </a:r>
              <a:endParaRPr sz="700" dirty="0">
                <a:cs typeface="B Nazanin" panose="00000700000000000000" pitchFamily="2" charset="-78"/>
              </a:endParaRPr>
            </a:p>
          </p:txBody>
        </p:sp>
        <p:sp>
          <p:nvSpPr>
            <p:cNvPr id="433" name="Google Shape;433;p40"/>
            <p:cNvSpPr txBox="1"/>
            <p:nvPr/>
          </p:nvSpPr>
          <p:spPr>
            <a:xfrm>
              <a:off x="478832" y="-897047"/>
              <a:ext cx="8436000" cy="1969769"/>
            </a:xfrm>
            <a:prstGeom prst="rect">
              <a:avLst/>
            </a:prstGeom>
            <a:noFill/>
            <a:ln>
              <a:noFill/>
            </a:ln>
          </p:spPr>
          <p:txBody>
            <a:bodyPr spcFirstLastPara="1" wrap="square" lIns="0" tIns="0" rIns="0" bIns="0" anchor="t" anchorCtr="0">
              <a:spAutoFit/>
            </a:bodyPr>
            <a:lstStyle/>
            <a:p>
              <a:pPr marL="0" marR="0" lvl="0" indent="0" algn="ctr" rtl="1">
                <a:lnSpc>
                  <a:spcPct val="120000"/>
                </a:lnSpc>
                <a:spcBef>
                  <a:spcPts val="0"/>
                </a:spcBef>
                <a:spcAft>
                  <a:spcPts val="0"/>
                </a:spcAft>
                <a:buNone/>
              </a:pPr>
              <a:r>
                <a:rPr lang="fa-IR" sz="4000" b="1" i="0" u="none" strike="noStrike" cap="none" dirty="0">
                  <a:solidFill>
                    <a:schemeClr val="bg1"/>
                  </a:solidFill>
                  <a:latin typeface="Open Sans"/>
                  <a:ea typeface="Open Sans"/>
                  <a:cs typeface="B Nazanin" panose="00000700000000000000" pitchFamily="2" charset="-78"/>
                  <a:sym typeface="Open Sans"/>
                </a:rPr>
                <a:t>شهر</a:t>
              </a:r>
              <a:endParaRPr sz="1000" dirty="0">
                <a:solidFill>
                  <a:schemeClr val="bg1"/>
                </a:solidFill>
                <a:cs typeface="B Nazanin" panose="00000700000000000000" pitchFamily="2" charset="-78"/>
              </a:endParaRPr>
            </a:p>
          </p:txBody>
        </p:sp>
      </p:grpSp>
      <p:cxnSp>
        <p:nvCxnSpPr>
          <p:cNvPr id="440" name="Google Shape;440;p40"/>
          <p:cNvCxnSpPr/>
          <p:nvPr/>
        </p:nvCxnSpPr>
        <p:spPr>
          <a:xfrm rot="10800000">
            <a:off x="-961005" y="1842566"/>
            <a:ext cx="3084866" cy="0"/>
          </a:xfrm>
          <a:prstGeom prst="straightConnector1">
            <a:avLst/>
          </a:prstGeom>
          <a:noFill/>
          <a:ln w="9525" cap="flat" cmpd="sng">
            <a:solidFill>
              <a:srgbClr val="000000"/>
            </a:solidFill>
            <a:prstDash val="solid"/>
            <a:round/>
            <a:headEnd type="none" w="sm" len="sm"/>
            <a:tailEnd type="none" w="sm" len="sm"/>
          </a:ln>
        </p:spPr>
      </p:cxnSp>
      <p:cxnSp>
        <p:nvCxnSpPr>
          <p:cNvPr id="441" name="Google Shape;441;p40"/>
          <p:cNvCxnSpPr/>
          <p:nvPr/>
        </p:nvCxnSpPr>
        <p:spPr>
          <a:xfrm rot="10800000">
            <a:off x="2123862" y="3561734"/>
            <a:ext cx="2157755" cy="0"/>
          </a:xfrm>
          <a:prstGeom prst="straightConnector1">
            <a:avLst/>
          </a:prstGeom>
          <a:noFill/>
          <a:ln w="9525" cap="flat" cmpd="sng">
            <a:solidFill>
              <a:srgbClr val="000000"/>
            </a:solidFill>
            <a:prstDash val="solid"/>
            <a:round/>
            <a:headEnd type="none" w="sm" len="sm"/>
            <a:tailEnd type="none" w="sm" len="sm"/>
          </a:ln>
        </p:spPr>
      </p:cxnSp>
      <p:grpSp>
        <p:nvGrpSpPr>
          <p:cNvPr id="442" name="Google Shape;442;p40"/>
          <p:cNvGrpSpPr/>
          <p:nvPr/>
        </p:nvGrpSpPr>
        <p:grpSpPr>
          <a:xfrm>
            <a:off x="8837175" y="-889048"/>
            <a:ext cx="1542992" cy="6565611"/>
            <a:chOff x="0" y="-38100"/>
            <a:chExt cx="812700" cy="3059607"/>
          </a:xfrm>
        </p:grpSpPr>
        <p:sp>
          <p:nvSpPr>
            <p:cNvPr id="443" name="Google Shape;443;p40"/>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0"/>
              </a:srgbClr>
            </a:solidFill>
            <a:ln>
              <a:noFill/>
            </a:ln>
          </p:spPr>
          <p:txBody>
            <a:bodyPr/>
            <a:lstStyle/>
            <a:p>
              <a:endParaRPr lang="en-US"/>
            </a:p>
          </p:txBody>
        </p:sp>
        <p:sp>
          <p:nvSpPr>
            <p:cNvPr id="444" name="Google Shape;444;p40"/>
            <p:cNvSpPr txBox="1"/>
            <p:nvPr/>
          </p:nvSpPr>
          <p:spPr>
            <a:xfrm>
              <a:off x="0" y="-38100"/>
              <a:ext cx="812700" cy="8508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445" name="Google Shape;445;p40"/>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cxnSp>
        <p:nvCxnSpPr>
          <p:cNvPr id="3" name="Google Shape;589;p46">
            <a:extLst>
              <a:ext uri="{FF2B5EF4-FFF2-40B4-BE49-F238E27FC236}">
                <a16:creationId xmlns:a16="http://schemas.microsoft.com/office/drawing/2014/main" id="{73507700-87C8-0B3B-437B-A9051E35D714}"/>
              </a:ext>
            </a:extLst>
          </p:cNvPr>
          <p:cNvCxnSpPr/>
          <p:nvPr/>
        </p:nvCxnSpPr>
        <p:spPr>
          <a:xfrm rot="5400000">
            <a:off x="2272558" y="35833"/>
            <a:ext cx="3626382" cy="0"/>
          </a:xfrm>
          <a:prstGeom prst="straightConnector1">
            <a:avLst/>
          </a:prstGeom>
          <a:ln>
            <a:solidFill>
              <a:schemeClr val="bg1"/>
            </a:solidFill>
            <a:headEnd type="none" w="sm" len="sm"/>
            <a:tailEnd type="none" w="sm" len="sm"/>
          </a:ln>
        </p:spPr>
        <p:style>
          <a:lnRef idx="1">
            <a:schemeClr val="dk1"/>
          </a:lnRef>
          <a:fillRef idx="0">
            <a:schemeClr val="dk1"/>
          </a:fillRef>
          <a:effectRef idx="0">
            <a:schemeClr val="dk1"/>
          </a:effectRef>
          <a:fontRef idx="minor">
            <a:schemeClr val="tx1"/>
          </a:fontRef>
        </p:style>
      </p:cxnSp>
      <p:pic>
        <p:nvPicPr>
          <p:cNvPr id="5" name="Picture 4" descr="A map of Iran with many small colored dots&#10;&#10;Description automatically generated">
            <a:extLst>
              <a:ext uri="{FF2B5EF4-FFF2-40B4-BE49-F238E27FC236}">
                <a16:creationId xmlns:a16="http://schemas.microsoft.com/office/drawing/2014/main" id="{C331D243-0492-E368-C790-0C8E93EF33A9}"/>
              </a:ext>
            </a:extLst>
          </p:cNvPr>
          <p:cNvPicPr>
            <a:picLocks noChangeAspect="1"/>
          </p:cNvPicPr>
          <p:nvPr/>
        </p:nvPicPr>
        <p:blipFill>
          <a:blip r:embed="rId4"/>
          <a:stretch>
            <a:fillRect/>
          </a:stretch>
        </p:blipFill>
        <p:spPr>
          <a:xfrm>
            <a:off x="4247723" y="0"/>
            <a:ext cx="5291530" cy="5115601"/>
          </a:xfrm>
          <a:prstGeom prst="rect">
            <a:avLst/>
          </a:prstGeom>
        </p:spPr>
      </p:pic>
      <p:sp>
        <p:nvSpPr>
          <p:cNvPr id="6" name="TextBox 5">
            <a:extLst>
              <a:ext uri="{FF2B5EF4-FFF2-40B4-BE49-F238E27FC236}">
                <a16:creationId xmlns:a16="http://schemas.microsoft.com/office/drawing/2014/main" id="{C0DBA22E-44FD-F90C-C6C8-310782499035}"/>
              </a:ext>
            </a:extLst>
          </p:cNvPr>
          <p:cNvSpPr txBox="1"/>
          <p:nvPr/>
        </p:nvSpPr>
        <p:spPr>
          <a:xfrm>
            <a:off x="41158" y="1283675"/>
            <a:ext cx="3945308" cy="3927229"/>
          </a:xfrm>
          <a:prstGeom prst="rect">
            <a:avLst/>
          </a:prstGeom>
          <a:noFill/>
        </p:spPr>
        <p:txBody>
          <a:bodyPr wrap="square" rtlCol="0">
            <a:spAutoFit/>
          </a:bodyPr>
          <a:lstStyle/>
          <a:p>
            <a:pPr algn="just" rtl="1">
              <a:lnSpc>
                <a:spcPct val="120000"/>
              </a:lnSpc>
            </a:pPr>
            <a:r>
              <a:rPr lang="fa-IR" sz="1400" dirty="0">
                <a:solidFill>
                  <a:schemeClr val="bg1"/>
                </a:solidFill>
                <a:latin typeface="IRZeytoon" panose="02000503000000020002" pitchFamily="2" charset="-78"/>
                <a:cs typeface="B Nazanin" panose="00000400000000000000" pitchFamily="2" charset="-78"/>
              </a:rPr>
              <a:t>شهر محلي است با محدوده جغرافيایی که از نظر بافت ساختماني، اشتغال و ساير عوامل، داراي سيمائي با ويژگي هاي خاص خود است. اكثريت ساكنان دائمي آن در مشاغل كسب، تجارت، صنعت، كشاورزي، خدمات و فعاليتهاي اداري اشتغال داشته و در زمينه خدمات شهري از خودكفایی نسبي برخوردار و كانون مبادلات اجتماعي، اقتصادي، فرهنگي و سياسي و... می باشد و حداقل داراي ده هزار نفر جمعيت باشد .</a:t>
            </a:r>
          </a:p>
          <a:p>
            <a:pPr algn="just" rtl="1">
              <a:lnSpc>
                <a:spcPct val="120000"/>
              </a:lnSpc>
            </a:pPr>
            <a:r>
              <a:rPr lang="fa-IR" sz="1400" dirty="0">
                <a:solidFill>
                  <a:schemeClr val="bg1"/>
                </a:solidFill>
                <a:latin typeface="IRZeytoon" panose="02000503000000020002" pitchFamily="2" charset="-78"/>
                <a:cs typeface="B Nazanin" panose="00000400000000000000" pitchFamily="2" charset="-78"/>
              </a:rPr>
              <a:t>تعيين محدوده شهري به پيشنهاد شوراي شهر و تصويب وزارت های كشور و راه و شهرسازي خواهد بود.</a:t>
            </a:r>
          </a:p>
          <a:p>
            <a:pPr algn="just" rtl="1">
              <a:lnSpc>
                <a:spcPct val="120000"/>
              </a:lnSpc>
            </a:pPr>
            <a:r>
              <a:rPr lang="fa-IR" sz="1400" b="1" dirty="0">
                <a:solidFill>
                  <a:schemeClr val="bg1"/>
                </a:solidFill>
                <a:latin typeface="IRZeytoon" panose="02000503000000020002" pitchFamily="2" charset="-78"/>
                <a:cs typeface="B Nazanin" panose="00000400000000000000" pitchFamily="2" charset="-78"/>
              </a:rPr>
              <a:t>محله</a:t>
            </a:r>
            <a:r>
              <a:rPr lang="fa-IR" sz="1400" dirty="0">
                <a:solidFill>
                  <a:schemeClr val="bg1"/>
                </a:solidFill>
                <a:latin typeface="IRZeytoon" panose="02000503000000020002" pitchFamily="2" charset="-78"/>
                <a:cs typeface="B Nazanin" panose="00000400000000000000" pitchFamily="2" charset="-78"/>
              </a:rPr>
              <a:t>: مجموعه ساختمانهاي مسكوني و خدماتي است كه از لحاظ بافت اجتماعي ساكنانش خود را اهل آن محل مي دانند و داراي محدوده ای معين است، حدود محله هاي شهر تابع تقسيمات شهرداري خواهد بود.</a:t>
            </a:r>
          </a:p>
          <a:p>
            <a:pPr algn="just" rtl="1">
              <a:lnSpc>
                <a:spcPct val="120000"/>
              </a:lnSpc>
            </a:pPr>
            <a:r>
              <a:rPr lang="fa-IR" sz="1400" b="1" dirty="0">
                <a:solidFill>
                  <a:schemeClr val="bg1"/>
                </a:solidFill>
                <a:latin typeface="IRZeytoon" panose="02000503000000020002" pitchFamily="2" charset="-78"/>
                <a:cs typeface="B Nazanin" panose="00000400000000000000" pitchFamily="2" charset="-78"/>
              </a:rPr>
              <a:t>منطقه</a:t>
            </a:r>
            <a:r>
              <a:rPr lang="fa-IR" sz="1400" dirty="0">
                <a:solidFill>
                  <a:schemeClr val="bg1"/>
                </a:solidFill>
                <a:latin typeface="IRZeytoon" panose="02000503000000020002" pitchFamily="2" charset="-78"/>
                <a:cs typeface="B Nazanin" panose="00000400000000000000" pitchFamily="2" charset="-78"/>
              </a:rPr>
              <a:t>: در شهرهاي بزرگ از بهم پيوستن چند محله، منطقه شهري تشكيل ميشود.</a:t>
            </a:r>
          </a:p>
          <a:p>
            <a:pPr algn="r" rtl="1"/>
            <a:endParaRPr lang="en-US" dirty="0">
              <a:solidFill>
                <a:schemeClr val="bg1"/>
              </a:solidFill>
              <a:cs typeface="B Nazanin" panose="00000400000000000000" pitchFamily="2" charset="-7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grpSp>
        <p:nvGrpSpPr>
          <p:cNvPr id="583" name="Google Shape;583;p46"/>
          <p:cNvGrpSpPr/>
          <p:nvPr/>
        </p:nvGrpSpPr>
        <p:grpSpPr>
          <a:xfrm>
            <a:off x="5157638" y="378687"/>
            <a:ext cx="2975513" cy="4084323"/>
            <a:chOff x="-123843" y="0"/>
            <a:chExt cx="7934700" cy="10891528"/>
          </a:xfrm>
        </p:grpSpPr>
        <p:sp>
          <p:nvSpPr>
            <p:cNvPr id="584" name="Google Shape;584;p46"/>
            <p:cNvSpPr txBox="1"/>
            <p:nvPr/>
          </p:nvSpPr>
          <p:spPr>
            <a:xfrm>
              <a:off x="228432" y="0"/>
              <a:ext cx="7477799" cy="1575816"/>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fa-IR" sz="3200" b="1" i="0" u="none" strike="noStrike" cap="none" dirty="0">
                  <a:solidFill>
                    <a:srgbClr val="000000"/>
                  </a:solidFill>
                  <a:latin typeface="Open Sans"/>
                  <a:ea typeface="Open Sans"/>
                  <a:cs typeface="B Nazanin" panose="00000700000000000000" pitchFamily="2" charset="-78"/>
                  <a:sym typeface="Open Sans"/>
                </a:rPr>
                <a:t>بخش</a:t>
              </a:r>
              <a:endParaRPr sz="700" b="1" dirty="0">
                <a:latin typeface="Open Sans"/>
                <a:ea typeface="Open Sans"/>
                <a:cs typeface="B Nazanin" panose="00000700000000000000" pitchFamily="2" charset="-78"/>
                <a:sym typeface="Open Sans"/>
              </a:endParaRPr>
            </a:p>
          </p:txBody>
        </p:sp>
        <p:sp>
          <p:nvSpPr>
            <p:cNvPr id="586" name="Google Shape;586;p46"/>
            <p:cNvSpPr txBox="1"/>
            <p:nvPr/>
          </p:nvSpPr>
          <p:spPr>
            <a:xfrm>
              <a:off x="-123843" y="2848301"/>
              <a:ext cx="7934700" cy="8043227"/>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fa-IR" sz="1000" b="1" i="0" u="none" strike="noStrike" cap="none" dirty="0">
                  <a:solidFill>
                    <a:srgbClr val="000000"/>
                  </a:solidFill>
                  <a:latin typeface="Open Sans"/>
                  <a:ea typeface="Open Sans"/>
                  <a:cs typeface="B Nazanin" panose="00000700000000000000" pitchFamily="2" charset="-78"/>
                  <a:sym typeface="Open Sans"/>
                </a:rPr>
                <a:t>بخش: واحدي است از تقسيمات كشوري كه داراي محدوده جغرافيائي معين بوده و از بهم پيوستن چند دهستان همجوار شامل چندين مزرعه، مكان، روستا و احياناً شهر است كه در آن عوامل طبيعي و اوضاع اجتماعي، فرهنگي، اقتصادي و سياسي واحد همگني را بوجود مي آورند.</a:t>
              </a:r>
            </a:p>
            <a:p>
              <a:pPr marL="0" marR="0" lvl="0" indent="0" algn="ctr" rtl="0">
                <a:lnSpc>
                  <a:spcPct val="140020"/>
                </a:lnSpc>
                <a:spcBef>
                  <a:spcPts val="0"/>
                </a:spcBef>
                <a:spcAft>
                  <a:spcPts val="0"/>
                </a:spcAft>
                <a:buNone/>
              </a:pPr>
              <a:r>
                <a:rPr lang="fa-IR" sz="1000" b="1" i="0" u="none" strike="noStrike" cap="none" dirty="0">
                  <a:solidFill>
                    <a:srgbClr val="000000"/>
                  </a:solidFill>
                  <a:latin typeface="Open Sans"/>
                  <a:ea typeface="Open Sans"/>
                  <a:cs typeface="B Nazanin" panose="00000700000000000000" pitchFamily="2" charset="-78"/>
                  <a:sym typeface="Open Sans"/>
                </a:rPr>
                <a:t>حداقل جمعيت محدوده هر بخش، با در نظر گرفتن وضع پراكندگي و اقليمي كشور به دو درجه تراكمي به شرح زير تقسيم شده است:</a:t>
              </a:r>
            </a:p>
            <a:p>
              <a:pPr marL="0" marR="0" lvl="0" indent="0" algn="ctr" rtl="0">
                <a:lnSpc>
                  <a:spcPct val="140020"/>
                </a:lnSpc>
                <a:spcBef>
                  <a:spcPts val="0"/>
                </a:spcBef>
                <a:spcAft>
                  <a:spcPts val="0"/>
                </a:spcAft>
                <a:buNone/>
              </a:pPr>
              <a:r>
                <a:rPr lang="fa-IR" sz="1000" b="1" i="0" u="none" strike="noStrike" cap="none" dirty="0">
                  <a:solidFill>
                    <a:srgbClr val="000000"/>
                  </a:solidFill>
                  <a:latin typeface="Open Sans"/>
                  <a:ea typeface="Open Sans"/>
                  <a:cs typeface="B Nazanin" panose="00000700000000000000" pitchFamily="2" charset="-78"/>
                  <a:sym typeface="Open Sans"/>
                </a:rPr>
                <a:t>                   الف ـ مناطق با تراكم زياد سي هزار نفر.         </a:t>
              </a:r>
            </a:p>
            <a:p>
              <a:pPr marL="0" marR="0" lvl="0" indent="0" algn="ctr" rtl="0">
                <a:lnSpc>
                  <a:spcPct val="140020"/>
                </a:lnSpc>
                <a:spcBef>
                  <a:spcPts val="0"/>
                </a:spcBef>
                <a:spcAft>
                  <a:spcPts val="0"/>
                </a:spcAft>
                <a:buNone/>
              </a:pPr>
              <a:r>
                <a:rPr lang="fa-IR" sz="1000" b="1" i="0" u="none" strike="noStrike" cap="none" dirty="0">
                  <a:solidFill>
                    <a:srgbClr val="000000"/>
                  </a:solidFill>
                  <a:latin typeface="Open Sans"/>
                  <a:ea typeface="Open Sans"/>
                  <a:cs typeface="B Nazanin" panose="00000700000000000000" pitchFamily="2" charset="-78"/>
                  <a:sym typeface="Open Sans"/>
                </a:rPr>
                <a:t> ب ـ مناطق با تراكم متوسط بيست هزار نفر.</a:t>
              </a:r>
            </a:p>
            <a:p>
              <a:pPr marL="0" marR="0" lvl="0" indent="0" algn="ctr" rtl="0">
                <a:lnSpc>
                  <a:spcPct val="140020"/>
                </a:lnSpc>
                <a:spcBef>
                  <a:spcPts val="0"/>
                </a:spcBef>
                <a:spcAft>
                  <a:spcPts val="0"/>
                </a:spcAft>
                <a:buNone/>
              </a:pPr>
              <a:r>
                <a:rPr lang="fa-IR" sz="1000" b="1" i="0" u="none" strike="noStrike" cap="none" dirty="0">
                  <a:solidFill>
                    <a:srgbClr val="000000"/>
                  </a:solidFill>
                  <a:latin typeface="Open Sans"/>
                  <a:ea typeface="Open Sans"/>
                  <a:cs typeface="B Nazanin" panose="00000700000000000000" pitchFamily="2" charset="-78"/>
                  <a:sym typeface="Open Sans"/>
                </a:rPr>
                <a:t> در نقاط كم تراكم، دورافتاده، مرزي، جزايري، جنگلي، كويري و نقاط محروم و توسعه نيافته تا حداقل ده هزار نفر جمعيت با تصويب هيأت وزيران و در موارد استثنائي با تصويب مجلس، جمعيت بخش مي تواند كمتر از ميزان فوق باشد.</a:t>
              </a:r>
            </a:p>
            <a:p>
              <a:pPr marL="0" marR="0" lvl="0" indent="0" algn="ctr" rtl="0">
                <a:lnSpc>
                  <a:spcPct val="140020"/>
                </a:lnSpc>
                <a:spcBef>
                  <a:spcPts val="0"/>
                </a:spcBef>
                <a:spcAft>
                  <a:spcPts val="0"/>
                </a:spcAft>
                <a:buNone/>
              </a:pPr>
              <a:r>
                <a:rPr lang="fa-IR" sz="1000" b="1" i="0" u="none" strike="noStrike" cap="none" dirty="0">
                  <a:solidFill>
                    <a:srgbClr val="000000"/>
                  </a:solidFill>
                  <a:latin typeface="Open Sans"/>
                  <a:ea typeface="Open Sans"/>
                  <a:cs typeface="B Nazanin" panose="00000700000000000000" pitchFamily="2" charset="-78"/>
                  <a:sym typeface="Open Sans"/>
                </a:rPr>
                <a:t> مركز بخش، روستا يا شهري، از همان بخش است كه مناسبترين كانون طبيعي، فرهنگي، اقتصادي و سياسي آن محدوده شناخته مي شود. </a:t>
              </a:r>
            </a:p>
          </p:txBody>
        </p:sp>
      </p:grpSp>
      <p:cxnSp>
        <p:nvCxnSpPr>
          <p:cNvPr id="588" name="Google Shape;588;p46"/>
          <p:cNvCxnSpPr/>
          <p:nvPr/>
        </p:nvCxnSpPr>
        <p:spPr>
          <a:xfrm rot="5400000">
            <a:off x="6428372" y="4703694"/>
            <a:ext cx="3626382" cy="0"/>
          </a:xfrm>
          <a:prstGeom prst="straightConnector1">
            <a:avLst/>
          </a:prstGeom>
          <a:noFill/>
          <a:ln w="9525" cap="flat" cmpd="sng">
            <a:solidFill>
              <a:srgbClr val="000000"/>
            </a:solidFill>
            <a:prstDash val="solid"/>
            <a:round/>
            <a:headEnd type="none" w="sm" len="sm"/>
            <a:tailEnd type="none" w="sm" len="sm"/>
          </a:ln>
        </p:spPr>
      </p:cxnSp>
      <p:cxnSp>
        <p:nvCxnSpPr>
          <p:cNvPr id="589" name="Google Shape;589;p46"/>
          <p:cNvCxnSpPr/>
          <p:nvPr/>
        </p:nvCxnSpPr>
        <p:spPr>
          <a:xfrm rot="5400000">
            <a:off x="2748651" y="98247"/>
            <a:ext cx="3626382" cy="0"/>
          </a:xfrm>
          <a:prstGeom prst="straightConnector1">
            <a:avLst/>
          </a:prstGeom>
          <a:noFill/>
          <a:ln w="9525" cap="flat" cmpd="sng">
            <a:solidFill>
              <a:srgbClr val="000000"/>
            </a:solidFill>
            <a:prstDash val="solid"/>
            <a:round/>
            <a:headEnd type="none" w="sm" len="sm"/>
            <a:tailEnd type="none" w="sm" len="sm"/>
          </a:ln>
        </p:spPr>
      </p:cxnSp>
      <p:grpSp>
        <p:nvGrpSpPr>
          <p:cNvPr id="590" name="Google Shape;590;p46"/>
          <p:cNvGrpSpPr/>
          <p:nvPr/>
        </p:nvGrpSpPr>
        <p:grpSpPr>
          <a:xfrm>
            <a:off x="8837359" y="-72330"/>
            <a:ext cx="1543051" cy="5808473"/>
            <a:chOff x="0" y="-38100"/>
            <a:chExt cx="812800" cy="3059607"/>
          </a:xfrm>
        </p:grpSpPr>
        <p:sp>
          <p:nvSpPr>
            <p:cNvPr id="591" name="Google Shape;591;p46"/>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592" name="Google Shape;592;p46"/>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593" name="Google Shape;593;p46"/>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000000"/>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pic>
        <p:nvPicPr>
          <p:cNvPr id="3" name="Picture 2" descr="A collage of different colored maps">
            <a:extLst>
              <a:ext uri="{FF2B5EF4-FFF2-40B4-BE49-F238E27FC236}">
                <a16:creationId xmlns:a16="http://schemas.microsoft.com/office/drawing/2014/main" id="{31DE9276-5DDC-83E4-5E50-AAF1EEFF044C}"/>
              </a:ext>
            </a:extLst>
          </p:cNvPr>
          <p:cNvPicPr>
            <a:picLocks noChangeAspect="1"/>
          </p:cNvPicPr>
          <p:nvPr/>
        </p:nvPicPr>
        <p:blipFill rotWithShape="1">
          <a:blip r:embed="rId3"/>
          <a:srcRect t="50000" r="50000"/>
          <a:stretch/>
        </p:blipFill>
        <p:spPr>
          <a:xfrm>
            <a:off x="41158" y="295714"/>
            <a:ext cx="4340094" cy="4340096"/>
          </a:xfrm>
          <a:prstGeom prst="rect">
            <a:avLst/>
          </a:prstGeom>
        </p:spPr>
      </p:pic>
      <p:pic>
        <p:nvPicPr>
          <p:cNvPr id="4" name="Picture 3" descr="A collage of different colored maps">
            <a:extLst>
              <a:ext uri="{FF2B5EF4-FFF2-40B4-BE49-F238E27FC236}">
                <a16:creationId xmlns:a16="http://schemas.microsoft.com/office/drawing/2014/main" id="{8DA177DD-C29E-4C3F-FEA4-8EF4514A346B}"/>
              </a:ext>
            </a:extLst>
          </p:cNvPr>
          <p:cNvPicPr>
            <a:picLocks noChangeAspect="1"/>
          </p:cNvPicPr>
          <p:nvPr/>
        </p:nvPicPr>
        <p:blipFill rotWithShape="1">
          <a:blip r:embed="rId3"/>
          <a:srcRect l="51001" t="50000" r="553" b="-1482"/>
          <a:stretch/>
        </p:blipFill>
        <p:spPr>
          <a:xfrm>
            <a:off x="24674" y="182875"/>
            <a:ext cx="4496010" cy="4777750"/>
          </a:xfrm>
          <a:prstGeom prst="rect">
            <a:avLst/>
          </a:prstGeom>
        </p:spPr>
      </p:pic>
    </p:spTree>
    <p:extLst>
      <p:ext uri="{BB962C8B-B14F-4D97-AF65-F5344CB8AC3E}">
        <p14:creationId xmlns:p14="http://schemas.microsoft.com/office/powerpoint/2010/main" val="33773662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2" name="Rectangle 1">
            <a:extLst>
              <a:ext uri="{FF2B5EF4-FFF2-40B4-BE49-F238E27FC236}">
                <a16:creationId xmlns:a16="http://schemas.microsoft.com/office/drawing/2014/main" id="{9C1D4E6A-F22A-B833-3D44-890E952A6865}"/>
              </a:ext>
            </a:extLst>
          </p:cNvPr>
          <p:cNvSpPr/>
          <p:nvPr/>
        </p:nvSpPr>
        <p:spPr>
          <a:xfrm>
            <a:off x="0" y="0"/>
            <a:ext cx="4281616" cy="51435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424" name="Google Shape;424;p40"/>
          <p:cNvGrpSpPr/>
          <p:nvPr/>
        </p:nvGrpSpPr>
        <p:grpSpPr>
          <a:xfrm>
            <a:off x="8629650" y="-72330"/>
            <a:ext cx="1543052" cy="1615380"/>
            <a:chOff x="0" y="-38100"/>
            <a:chExt cx="812800" cy="850900"/>
          </a:xfrm>
        </p:grpSpPr>
        <p:sp>
          <p:nvSpPr>
            <p:cNvPr id="425" name="Google Shape;425;p40"/>
            <p:cNvSpPr/>
            <p:nvPr/>
          </p:nvSpPr>
          <p:spPr>
            <a:xfrm>
              <a:off x="0" y="0"/>
              <a:ext cx="270933" cy="80000"/>
            </a:xfrm>
            <a:custGeom>
              <a:avLst/>
              <a:gdLst/>
              <a:ahLst/>
              <a:cxnLst/>
              <a:rect l="l" t="t" r="r" b="b"/>
              <a:pathLst>
                <a:path w="270933" h="80000" extrusionOk="0">
                  <a:moveTo>
                    <a:pt x="0" y="0"/>
                  </a:moveTo>
                  <a:lnTo>
                    <a:pt x="270933" y="0"/>
                  </a:lnTo>
                  <a:lnTo>
                    <a:pt x="270933" y="80000"/>
                  </a:lnTo>
                  <a:lnTo>
                    <a:pt x="0" y="80000"/>
                  </a:lnTo>
                  <a:close/>
                </a:path>
              </a:pathLst>
            </a:custGeom>
            <a:solidFill>
              <a:srgbClr val="7ED8FD"/>
            </a:solidFill>
            <a:ln>
              <a:noFill/>
            </a:ln>
          </p:spPr>
          <p:txBody>
            <a:bodyPr/>
            <a:lstStyle/>
            <a:p>
              <a:endParaRPr lang="en-US"/>
            </a:p>
          </p:txBody>
        </p:sp>
        <p:sp>
          <p:nvSpPr>
            <p:cNvPr id="426" name="Google Shape;426;p40"/>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grpSp>
        <p:nvGrpSpPr>
          <p:cNvPr id="427" name="Google Shape;427;p40"/>
          <p:cNvGrpSpPr/>
          <p:nvPr/>
        </p:nvGrpSpPr>
        <p:grpSpPr>
          <a:xfrm>
            <a:off x="8629650" y="4919295"/>
            <a:ext cx="1543052" cy="1615380"/>
            <a:chOff x="0" y="-38100"/>
            <a:chExt cx="812800" cy="850900"/>
          </a:xfrm>
        </p:grpSpPr>
        <p:sp>
          <p:nvSpPr>
            <p:cNvPr id="428" name="Google Shape;428;p40"/>
            <p:cNvSpPr/>
            <p:nvPr/>
          </p:nvSpPr>
          <p:spPr>
            <a:xfrm>
              <a:off x="0" y="0"/>
              <a:ext cx="270933" cy="80000"/>
            </a:xfrm>
            <a:custGeom>
              <a:avLst/>
              <a:gdLst/>
              <a:ahLst/>
              <a:cxnLst/>
              <a:rect l="l" t="t" r="r" b="b"/>
              <a:pathLst>
                <a:path w="270933" h="80000" extrusionOk="0">
                  <a:moveTo>
                    <a:pt x="0" y="0"/>
                  </a:moveTo>
                  <a:lnTo>
                    <a:pt x="270933" y="0"/>
                  </a:lnTo>
                  <a:lnTo>
                    <a:pt x="270933" y="80000"/>
                  </a:lnTo>
                  <a:lnTo>
                    <a:pt x="0" y="80000"/>
                  </a:lnTo>
                  <a:close/>
                </a:path>
              </a:pathLst>
            </a:custGeom>
            <a:solidFill>
              <a:srgbClr val="00C282"/>
            </a:solidFill>
            <a:ln>
              <a:noFill/>
            </a:ln>
          </p:spPr>
          <p:txBody>
            <a:bodyPr/>
            <a:lstStyle/>
            <a:p>
              <a:endParaRPr lang="en-US"/>
            </a:p>
          </p:txBody>
        </p:sp>
        <p:sp>
          <p:nvSpPr>
            <p:cNvPr id="429" name="Google Shape;429;p40"/>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grpSp>
        <p:nvGrpSpPr>
          <p:cNvPr id="431" name="Google Shape;431;p40"/>
          <p:cNvGrpSpPr/>
          <p:nvPr/>
        </p:nvGrpSpPr>
        <p:grpSpPr>
          <a:xfrm>
            <a:off x="362562" y="213703"/>
            <a:ext cx="3522600" cy="1106819"/>
            <a:chOff x="0" y="-897047"/>
            <a:chExt cx="9393600" cy="2951515"/>
          </a:xfrm>
        </p:grpSpPr>
        <p:sp>
          <p:nvSpPr>
            <p:cNvPr id="432" name="Google Shape;432;p40"/>
            <p:cNvSpPr txBox="1"/>
            <p:nvPr/>
          </p:nvSpPr>
          <p:spPr>
            <a:xfrm>
              <a:off x="0" y="1479951"/>
              <a:ext cx="9393600" cy="574517"/>
            </a:xfrm>
            <a:prstGeom prst="rect">
              <a:avLst/>
            </a:prstGeom>
            <a:noFill/>
            <a:ln>
              <a:noFill/>
            </a:ln>
          </p:spPr>
          <p:txBody>
            <a:bodyPr spcFirstLastPara="1" wrap="square" lIns="0" tIns="0" rIns="0" bIns="0" anchor="t" anchorCtr="0">
              <a:spAutoFit/>
            </a:bodyPr>
            <a:lstStyle/>
            <a:p>
              <a:pPr marL="0" marR="0" lvl="0" indent="0" algn="ctr" rtl="1">
                <a:lnSpc>
                  <a:spcPct val="140000"/>
                </a:lnSpc>
                <a:spcBef>
                  <a:spcPts val="0"/>
                </a:spcBef>
                <a:spcAft>
                  <a:spcPts val="0"/>
                </a:spcAft>
                <a:buNone/>
              </a:pPr>
              <a:r>
                <a:rPr lang="fa-IR" sz="1000" b="0" i="0" u="none" strike="noStrike" cap="none" dirty="0">
                  <a:solidFill>
                    <a:srgbClr val="000000"/>
                  </a:solidFill>
                  <a:latin typeface="Open Sans"/>
                  <a:ea typeface="Open Sans"/>
                  <a:cs typeface="B Nazanin" panose="00000700000000000000" pitchFamily="2" charset="-78"/>
                  <a:sym typeface="Open Sans"/>
                </a:rPr>
                <a:t>در مورد آمار برجسته توضیح دهید.</a:t>
              </a:r>
              <a:endParaRPr sz="700" dirty="0">
                <a:cs typeface="B Nazanin" panose="00000700000000000000" pitchFamily="2" charset="-78"/>
              </a:endParaRPr>
            </a:p>
          </p:txBody>
        </p:sp>
        <p:sp>
          <p:nvSpPr>
            <p:cNvPr id="433" name="Google Shape;433;p40"/>
            <p:cNvSpPr txBox="1"/>
            <p:nvPr/>
          </p:nvSpPr>
          <p:spPr>
            <a:xfrm>
              <a:off x="478832" y="-897047"/>
              <a:ext cx="8436000" cy="1969769"/>
            </a:xfrm>
            <a:prstGeom prst="rect">
              <a:avLst/>
            </a:prstGeom>
            <a:noFill/>
            <a:ln>
              <a:noFill/>
            </a:ln>
          </p:spPr>
          <p:txBody>
            <a:bodyPr spcFirstLastPara="1" wrap="square" lIns="0" tIns="0" rIns="0" bIns="0" anchor="t" anchorCtr="0">
              <a:spAutoFit/>
            </a:bodyPr>
            <a:lstStyle/>
            <a:p>
              <a:pPr marL="0" marR="0" lvl="0" indent="0" algn="ctr" rtl="1">
                <a:lnSpc>
                  <a:spcPct val="120000"/>
                </a:lnSpc>
                <a:spcBef>
                  <a:spcPts val="0"/>
                </a:spcBef>
                <a:spcAft>
                  <a:spcPts val="0"/>
                </a:spcAft>
                <a:buNone/>
              </a:pPr>
              <a:r>
                <a:rPr lang="fa-IR" sz="4000" b="1" i="0" u="none" strike="noStrike" cap="none" dirty="0">
                  <a:solidFill>
                    <a:schemeClr val="bg1"/>
                  </a:solidFill>
                  <a:latin typeface="Open Sans"/>
                  <a:ea typeface="Open Sans"/>
                  <a:cs typeface="B Nazanin" panose="00000700000000000000" pitchFamily="2" charset="-78"/>
                  <a:sym typeface="Open Sans"/>
                </a:rPr>
                <a:t>شهرستان</a:t>
              </a:r>
              <a:endParaRPr sz="1000" dirty="0">
                <a:solidFill>
                  <a:schemeClr val="bg1"/>
                </a:solidFill>
                <a:cs typeface="B Nazanin" panose="00000700000000000000" pitchFamily="2" charset="-78"/>
              </a:endParaRPr>
            </a:p>
          </p:txBody>
        </p:sp>
      </p:grpSp>
      <p:cxnSp>
        <p:nvCxnSpPr>
          <p:cNvPr id="440" name="Google Shape;440;p40"/>
          <p:cNvCxnSpPr/>
          <p:nvPr/>
        </p:nvCxnSpPr>
        <p:spPr>
          <a:xfrm rot="10800000">
            <a:off x="-961005" y="1842566"/>
            <a:ext cx="3084866" cy="0"/>
          </a:xfrm>
          <a:prstGeom prst="straightConnector1">
            <a:avLst/>
          </a:prstGeom>
          <a:noFill/>
          <a:ln w="9525" cap="flat" cmpd="sng">
            <a:solidFill>
              <a:srgbClr val="000000"/>
            </a:solidFill>
            <a:prstDash val="solid"/>
            <a:round/>
            <a:headEnd type="none" w="sm" len="sm"/>
            <a:tailEnd type="none" w="sm" len="sm"/>
          </a:ln>
        </p:spPr>
      </p:cxnSp>
      <p:cxnSp>
        <p:nvCxnSpPr>
          <p:cNvPr id="441" name="Google Shape;441;p40"/>
          <p:cNvCxnSpPr/>
          <p:nvPr/>
        </p:nvCxnSpPr>
        <p:spPr>
          <a:xfrm rot="10800000">
            <a:off x="2123862" y="3561734"/>
            <a:ext cx="2157755" cy="0"/>
          </a:xfrm>
          <a:prstGeom prst="straightConnector1">
            <a:avLst/>
          </a:prstGeom>
          <a:noFill/>
          <a:ln w="9525" cap="flat" cmpd="sng">
            <a:solidFill>
              <a:srgbClr val="000000"/>
            </a:solidFill>
            <a:prstDash val="solid"/>
            <a:round/>
            <a:headEnd type="none" w="sm" len="sm"/>
            <a:tailEnd type="none" w="sm" len="sm"/>
          </a:ln>
        </p:spPr>
      </p:cxnSp>
      <p:grpSp>
        <p:nvGrpSpPr>
          <p:cNvPr id="442" name="Google Shape;442;p40"/>
          <p:cNvGrpSpPr/>
          <p:nvPr/>
        </p:nvGrpSpPr>
        <p:grpSpPr>
          <a:xfrm>
            <a:off x="8837175" y="-889048"/>
            <a:ext cx="1542992" cy="6565611"/>
            <a:chOff x="0" y="-38100"/>
            <a:chExt cx="812700" cy="3059607"/>
          </a:xfrm>
        </p:grpSpPr>
        <p:sp>
          <p:nvSpPr>
            <p:cNvPr id="443" name="Google Shape;443;p40"/>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0"/>
              </a:srgbClr>
            </a:solidFill>
            <a:ln>
              <a:noFill/>
            </a:ln>
          </p:spPr>
          <p:txBody>
            <a:bodyPr/>
            <a:lstStyle/>
            <a:p>
              <a:endParaRPr lang="en-US"/>
            </a:p>
          </p:txBody>
        </p:sp>
        <p:sp>
          <p:nvSpPr>
            <p:cNvPr id="444" name="Google Shape;444;p40"/>
            <p:cNvSpPr txBox="1"/>
            <p:nvPr/>
          </p:nvSpPr>
          <p:spPr>
            <a:xfrm>
              <a:off x="0" y="-38100"/>
              <a:ext cx="812700" cy="850800"/>
            </a:xfrm>
            <a:prstGeom prst="rect">
              <a:avLst/>
            </a:prstGeom>
            <a:noFill/>
            <a:ln>
              <a:noFill/>
            </a:ln>
          </p:spPr>
          <p:txBody>
            <a:bodyPr spcFirstLastPara="1" wrap="square" lIns="25400" tIns="25400" rIns="25400" bIns="25400" anchor="ctr" anchorCtr="0">
              <a:noAutofit/>
            </a:bodyPr>
            <a:lstStyle/>
            <a:p>
              <a:pPr marL="0" marR="0" lvl="0" indent="0" algn="ctr" rtl="1">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445" name="Google Shape;445;p40"/>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1">
              <a:lnSpc>
                <a:spcPct val="160000"/>
              </a:lnSpc>
              <a:spcBef>
                <a:spcPts val="0"/>
              </a:spcBef>
              <a:spcAft>
                <a:spcPts val="0"/>
              </a:spcAft>
              <a:buNone/>
            </a:pPr>
            <a:r>
              <a:rPr lang="en" sz="700" b="1" i="0" u="none" strike="noStrike" cap="none">
                <a:solidFill>
                  <a:srgbClr val="FFFFFF"/>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cxnSp>
        <p:nvCxnSpPr>
          <p:cNvPr id="3" name="Google Shape;589;p46">
            <a:extLst>
              <a:ext uri="{FF2B5EF4-FFF2-40B4-BE49-F238E27FC236}">
                <a16:creationId xmlns:a16="http://schemas.microsoft.com/office/drawing/2014/main" id="{73507700-87C8-0B3B-437B-A9051E35D714}"/>
              </a:ext>
            </a:extLst>
          </p:cNvPr>
          <p:cNvCxnSpPr/>
          <p:nvPr/>
        </p:nvCxnSpPr>
        <p:spPr>
          <a:xfrm rot="5400000">
            <a:off x="2272558" y="35833"/>
            <a:ext cx="3626382" cy="0"/>
          </a:xfrm>
          <a:prstGeom prst="straightConnector1">
            <a:avLst/>
          </a:prstGeom>
          <a:ln>
            <a:solidFill>
              <a:schemeClr val="bg1"/>
            </a:solidFill>
            <a:headEnd type="none" w="sm" len="sm"/>
            <a:tailEnd type="none" w="sm" len="sm"/>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C0DBA22E-44FD-F90C-C6C8-310782499035}"/>
              </a:ext>
            </a:extLst>
          </p:cNvPr>
          <p:cNvSpPr txBox="1"/>
          <p:nvPr/>
        </p:nvSpPr>
        <p:spPr>
          <a:xfrm>
            <a:off x="41158" y="1249538"/>
            <a:ext cx="3945308" cy="3970318"/>
          </a:xfrm>
          <a:prstGeom prst="rect">
            <a:avLst/>
          </a:prstGeom>
          <a:noFill/>
        </p:spPr>
        <p:txBody>
          <a:bodyPr wrap="square" rtlCol="0">
            <a:spAutoFit/>
          </a:bodyPr>
          <a:lstStyle/>
          <a:p>
            <a:pPr algn="just" rtl="1">
              <a:lnSpc>
                <a:spcPct val="120000"/>
              </a:lnSpc>
            </a:pPr>
            <a:r>
              <a:rPr lang="fa-IR" sz="1400" dirty="0">
                <a:solidFill>
                  <a:schemeClr val="bg1"/>
                </a:solidFill>
                <a:latin typeface="IRZeytoon" panose="02000503000000020002" pitchFamily="2" charset="-78"/>
                <a:cs typeface="B Nazanin" panose="00000400000000000000" pitchFamily="2" charset="-78"/>
              </a:rPr>
              <a:t>شهرستان واحدي از تقسيمات كشوري است با محدوده جغرافيائي معين كه از بهم پيوستن چند بخش همجوار كه از نظر عوامل طبيعي، اجتماعي، اقتصادي، سياسي و فرهنگي واحد متناسب و همگني را بوجود آورده اند .</a:t>
            </a:r>
          </a:p>
          <a:p>
            <a:pPr algn="just" rtl="1">
              <a:lnSpc>
                <a:spcPct val="120000"/>
              </a:lnSpc>
            </a:pPr>
            <a:r>
              <a:rPr lang="fa-IR" sz="1400" dirty="0">
                <a:solidFill>
                  <a:schemeClr val="bg1"/>
                </a:solidFill>
                <a:latin typeface="IRZeytoon" panose="02000503000000020002" pitchFamily="2" charset="-78"/>
                <a:cs typeface="B Nazanin" panose="00000400000000000000" pitchFamily="2" charset="-78"/>
              </a:rPr>
              <a:t>حداقل جمعيت شهرستان با در نظرگرفتن وضع پراكندگي و اقليمي كشور به دو درجه تراكمي بشرح زير تقسيم مي شود.</a:t>
            </a:r>
          </a:p>
          <a:p>
            <a:pPr algn="just" rtl="1">
              <a:lnSpc>
                <a:spcPct val="120000"/>
              </a:lnSpc>
            </a:pPr>
            <a:endParaRPr lang="fa-IR" sz="1400" b="1" dirty="0">
              <a:solidFill>
                <a:schemeClr val="bg1"/>
              </a:solidFill>
              <a:latin typeface="IRZeytoon" panose="02000503000000020002" pitchFamily="2" charset="-78"/>
              <a:cs typeface="B Nazanin" panose="00000400000000000000" pitchFamily="2" charset="-78"/>
            </a:endParaRPr>
          </a:p>
          <a:p>
            <a:pPr algn="just" rtl="1">
              <a:lnSpc>
                <a:spcPct val="120000"/>
              </a:lnSpc>
            </a:pPr>
            <a:r>
              <a:rPr lang="fa-IR" sz="1400" b="1" dirty="0">
                <a:solidFill>
                  <a:schemeClr val="bg1"/>
                </a:solidFill>
                <a:latin typeface="IRZeytoon" panose="02000503000000020002" pitchFamily="2" charset="-78"/>
                <a:cs typeface="B Nazanin" panose="00000400000000000000" pitchFamily="2" charset="-78"/>
              </a:rPr>
              <a:t> الف- تراكم زياد 120000 نفر.           ب- تراكم متوسط 80000 نفر.</a:t>
            </a:r>
          </a:p>
          <a:p>
            <a:pPr algn="just" rtl="1">
              <a:lnSpc>
                <a:spcPct val="120000"/>
              </a:lnSpc>
            </a:pPr>
            <a:endParaRPr lang="fa-IR" sz="1400" dirty="0">
              <a:solidFill>
                <a:schemeClr val="bg1"/>
              </a:solidFill>
              <a:latin typeface="IRZeytoon" panose="02000503000000020002" pitchFamily="2" charset="-78"/>
              <a:cs typeface="B Nazanin" panose="00000400000000000000" pitchFamily="2" charset="-78"/>
            </a:endParaRPr>
          </a:p>
          <a:p>
            <a:pPr algn="just" rtl="1">
              <a:lnSpc>
                <a:spcPct val="120000"/>
              </a:lnSpc>
            </a:pPr>
            <a:r>
              <a:rPr lang="fa-IR" sz="1400" dirty="0">
                <a:solidFill>
                  <a:schemeClr val="bg1"/>
                </a:solidFill>
                <a:latin typeface="IRZeytoon" panose="02000503000000020002" pitchFamily="2" charset="-78"/>
                <a:cs typeface="B Nazanin" panose="00000400000000000000" pitchFamily="2" charset="-78"/>
              </a:rPr>
              <a:t>درنقاط كم تراكم، دورافتاده، مرزي، جزائري و كويري و نقاط كمتر توسعه يافته با تصويب هيئت وزيران و درموارد استثنائي با تصويب مجلس شوراي اسلامي مي تواند كمتر از 50 هزار نفر باشد.</a:t>
            </a:r>
          </a:p>
          <a:p>
            <a:pPr algn="just" rtl="1">
              <a:lnSpc>
                <a:spcPct val="120000"/>
              </a:lnSpc>
            </a:pPr>
            <a:r>
              <a:rPr lang="fa-IR" sz="1400" dirty="0">
                <a:solidFill>
                  <a:schemeClr val="bg1"/>
                </a:solidFill>
                <a:latin typeface="IRZeytoon" panose="02000503000000020002" pitchFamily="2" charset="-78"/>
                <a:cs typeface="B Nazanin" panose="00000400000000000000" pitchFamily="2" charset="-78"/>
              </a:rPr>
              <a:t>مركز شهرستان يكي از شهرهاي همان شهرستان است كه مناسبترين كانون طبيعي، فرهنگي، اقتصادي، سياسي اجتماعي آن محدوده شناخته ميشود.</a:t>
            </a:r>
          </a:p>
        </p:txBody>
      </p:sp>
      <p:pic>
        <p:nvPicPr>
          <p:cNvPr id="7" name="Picture 6" descr="A map of Iran with different colored states&#10;&#10;Description automatically generated">
            <a:extLst>
              <a:ext uri="{FF2B5EF4-FFF2-40B4-BE49-F238E27FC236}">
                <a16:creationId xmlns:a16="http://schemas.microsoft.com/office/drawing/2014/main" id="{8216B923-4CE6-DD9D-9E19-6CD8177AEBE6}"/>
              </a:ext>
            </a:extLst>
          </p:cNvPr>
          <p:cNvPicPr>
            <a:picLocks noChangeAspect="1"/>
          </p:cNvPicPr>
          <p:nvPr/>
        </p:nvPicPr>
        <p:blipFill>
          <a:blip r:embed="rId3"/>
          <a:stretch>
            <a:fillRect/>
          </a:stretch>
        </p:blipFill>
        <p:spPr>
          <a:xfrm>
            <a:off x="4247721" y="-27900"/>
            <a:ext cx="5291531" cy="5238803"/>
          </a:xfrm>
          <a:prstGeom prst="rect">
            <a:avLst/>
          </a:prstGeom>
        </p:spPr>
      </p:pic>
    </p:spTree>
    <p:extLst>
      <p:ext uri="{BB962C8B-B14F-4D97-AF65-F5344CB8AC3E}">
        <p14:creationId xmlns:p14="http://schemas.microsoft.com/office/powerpoint/2010/main" val="3787890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grpSp>
        <p:nvGrpSpPr>
          <p:cNvPr id="583" name="Google Shape;583;p46"/>
          <p:cNvGrpSpPr/>
          <p:nvPr/>
        </p:nvGrpSpPr>
        <p:grpSpPr>
          <a:xfrm>
            <a:off x="5157638" y="378687"/>
            <a:ext cx="2975513" cy="3868880"/>
            <a:chOff x="-123843" y="0"/>
            <a:chExt cx="7934700" cy="10317012"/>
          </a:xfrm>
        </p:grpSpPr>
        <p:sp>
          <p:nvSpPr>
            <p:cNvPr id="584" name="Google Shape;584;p46"/>
            <p:cNvSpPr txBox="1"/>
            <p:nvPr/>
          </p:nvSpPr>
          <p:spPr>
            <a:xfrm>
              <a:off x="228432" y="0"/>
              <a:ext cx="7477799" cy="1575816"/>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fa-IR" sz="3200" b="1" i="0" u="none" strike="noStrike" cap="none" dirty="0">
                  <a:solidFill>
                    <a:srgbClr val="000000"/>
                  </a:solidFill>
                  <a:latin typeface="Open Sans"/>
                  <a:ea typeface="Open Sans"/>
                  <a:cs typeface="B Nazanin" panose="00000700000000000000" pitchFamily="2" charset="-78"/>
                  <a:sym typeface="Open Sans"/>
                </a:rPr>
                <a:t>استان</a:t>
              </a:r>
              <a:endParaRPr sz="700" b="1" dirty="0">
                <a:latin typeface="Open Sans"/>
                <a:ea typeface="Open Sans"/>
                <a:cs typeface="B Nazanin" panose="00000700000000000000" pitchFamily="2" charset="-78"/>
                <a:sym typeface="Open Sans"/>
              </a:endParaRPr>
            </a:p>
          </p:txBody>
        </p:sp>
        <p:sp>
          <p:nvSpPr>
            <p:cNvPr id="586" name="Google Shape;586;p46"/>
            <p:cNvSpPr txBox="1"/>
            <p:nvPr/>
          </p:nvSpPr>
          <p:spPr>
            <a:xfrm>
              <a:off x="-123843" y="2848301"/>
              <a:ext cx="7934700" cy="7468711"/>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fa-IR" sz="1000" b="1" i="0" u="none" strike="noStrike" cap="none" dirty="0">
                  <a:solidFill>
                    <a:srgbClr val="000000"/>
                  </a:solidFill>
                  <a:latin typeface="Open Sans"/>
                  <a:ea typeface="Open Sans"/>
                  <a:cs typeface="B Nazanin" panose="00000700000000000000" pitchFamily="2" charset="-78"/>
                  <a:sym typeface="Open Sans"/>
                </a:rPr>
                <a:t>  استان، واحدي از تقسيمات كشوري است با محدوده جغرافيائي معين، كه از بهم پيوستن چند شهرستان همجوار با توجه به موقعيتهاي سياسي، اجتماعي، فرهنگي، اقتصادي و طبيعي تشكيل مي شود.</a:t>
              </a:r>
            </a:p>
            <a:p>
              <a:pPr marL="0" marR="0" lvl="0" indent="0" algn="ctr" rtl="0">
                <a:lnSpc>
                  <a:spcPct val="140020"/>
                </a:lnSpc>
                <a:spcBef>
                  <a:spcPts val="0"/>
                </a:spcBef>
                <a:spcAft>
                  <a:spcPts val="0"/>
                </a:spcAft>
                <a:buNone/>
              </a:pPr>
              <a:r>
                <a:rPr lang="fa-IR" sz="1000" b="1" i="0" u="none" strike="noStrike" cap="none" dirty="0">
                  <a:solidFill>
                    <a:srgbClr val="000000"/>
                  </a:solidFill>
                  <a:latin typeface="Open Sans"/>
                  <a:ea typeface="Open Sans"/>
                  <a:cs typeface="B Nazanin" panose="00000700000000000000" pitchFamily="2" charset="-78"/>
                  <a:sym typeface="Open Sans"/>
                </a:rPr>
                <a:t> وزارت كشور بنا به ضرورت مي تواند با تصويب هيئت وزيران با انتزاع و الحاق روستاها، بخشها يا شهرستانهاي مجاور، استانها را تعدیل کند.مگر آنكه به تصويب مجلس، ايجاد استان جديد ضروري شناخته شود.استان جديد بايد حداقل يك ميليون نفر جمعيت داشته باشد .</a:t>
              </a:r>
            </a:p>
            <a:p>
              <a:pPr marL="0" marR="0" lvl="0" indent="0" algn="ctr" rtl="0">
                <a:lnSpc>
                  <a:spcPct val="140020"/>
                </a:lnSpc>
                <a:spcBef>
                  <a:spcPts val="0"/>
                </a:spcBef>
                <a:spcAft>
                  <a:spcPts val="0"/>
                </a:spcAft>
                <a:buNone/>
              </a:pPr>
              <a:r>
                <a:rPr lang="fa-IR" sz="1000" b="1" i="0" u="none" strike="noStrike" cap="none" dirty="0">
                  <a:solidFill>
                    <a:srgbClr val="000000"/>
                  </a:solidFill>
                  <a:latin typeface="Open Sans"/>
                  <a:ea typeface="Open Sans"/>
                  <a:cs typeface="B Nazanin" panose="00000700000000000000" pitchFamily="2" charset="-78"/>
                  <a:sym typeface="Open Sans"/>
                </a:rPr>
                <a:t>مركز استان يكي از شهرهاي همان استان است كه مناسب ترين كانون سياسي، اقتصادي، فرهنگي، طبيعي و اجتماعي آن استان شناخته ميشود.</a:t>
              </a:r>
            </a:p>
            <a:p>
              <a:pPr marL="0" marR="0" lvl="0" indent="0" algn="ctr" rtl="0">
                <a:lnSpc>
                  <a:spcPct val="140020"/>
                </a:lnSpc>
                <a:spcBef>
                  <a:spcPts val="0"/>
                </a:spcBef>
                <a:spcAft>
                  <a:spcPts val="0"/>
                </a:spcAft>
                <a:buNone/>
              </a:pPr>
              <a:endParaRPr lang="fa-IR" sz="1000" b="1" i="0" u="none" strike="noStrike" cap="none" dirty="0">
                <a:solidFill>
                  <a:srgbClr val="000000"/>
                </a:solidFill>
                <a:latin typeface="Open Sans"/>
                <a:ea typeface="Open Sans"/>
                <a:cs typeface="B Nazanin" panose="00000700000000000000" pitchFamily="2" charset="-78"/>
                <a:sym typeface="Open Sans"/>
              </a:endParaRPr>
            </a:p>
            <a:p>
              <a:pPr marL="0" marR="0" lvl="0" indent="0" algn="ctr" rtl="0">
                <a:lnSpc>
                  <a:spcPct val="140020"/>
                </a:lnSpc>
                <a:spcBef>
                  <a:spcPts val="0"/>
                </a:spcBef>
                <a:spcAft>
                  <a:spcPts val="0"/>
                </a:spcAft>
                <a:buNone/>
              </a:pPr>
              <a:r>
                <a:rPr lang="fa-IR" sz="1000" b="1" i="0" u="none" strike="noStrike" cap="none" dirty="0">
                  <a:solidFill>
                    <a:srgbClr val="000000"/>
                  </a:solidFill>
                  <a:latin typeface="Open Sans"/>
                  <a:ea typeface="Open Sans"/>
                  <a:cs typeface="B Nazanin" panose="00000700000000000000" pitchFamily="2" charset="-78"/>
                  <a:sym typeface="Open Sans"/>
                </a:rPr>
                <a:t>* بخشها، شهرها، شهرستانها و استان هایی كه فاقد شرايط مذكور در اين قانون هستند با همان عنوان باقي مي مانند، دولت موظف است حتي الامكان اي نگونه واحدها را با شرايط نوشته در اين قانون منطبق گرداند .*</a:t>
              </a:r>
            </a:p>
          </p:txBody>
        </p:sp>
      </p:grpSp>
      <p:cxnSp>
        <p:nvCxnSpPr>
          <p:cNvPr id="588" name="Google Shape;588;p46"/>
          <p:cNvCxnSpPr/>
          <p:nvPr/>
        </p:nvCxnSpPr>
        <p:spPr>
          <a:xfrm rot="5400000">
            <a:off x="6428372" y="4703694"/>
            <a:ext cx="3626382" cy="0"/>
          </a:xfrm>
          <a:prstGeom prst="straightConnector1">
            <a:avLst/>
          </a:prstGeom>
          <a:noFill/>
          <a:ln w="9525" cap="flat" cmpd="sng">
            <a:solidFill>
              <a:srgbClr val="000000"/>
            </a:solidFill>
            <a:prstDash val="solid"/>
            <a:round/>
            <a:headEnd type="none" w="sm" len="sm"/>
            <a:tailEnd type="none" w="sm" len="sm"/>
          </a:ln>
        </p:spPr>
      </p:cxnSp>
      <p:cxnSp>
        <p:nvCxnSpPr>
          <p:cNvPr id="589" name="Google Shape;589;p46"/>
          <p:cNvCxnSpPr/>
          <p:nvPr/>
        </p:nvCxnSpPr>
        <p:spPr>
          <a:xfrm rot="5400000">
            <a:off x="2748651" y="98247"/>
            <a:ext cx="3626382" cy="0"/>
          </a:xfrm>
          <a:prstGeom prst="straightConnector1">
            <a:avLst/>
          </a:prstGeom>
          <a:noFill/>
          <a:ln w="9525" cap="flat" cmpd="sng">
            <a:solidFill>
              <a:srgbClr val="000000"/>
            </a:solidFill>
            <a:prstDash val="solid"/>
            <a:round/>
            <a:headEnd type="none" w="sm" len="sm"/>
            <a:tailEnd type="none" w="sm" len="sm"/>
          </a:ln>
        </p:spPr>
      </p:cxnSp>
      <p:grpSp>
        <p:nvGrpSpPr>
          <p:cNvPr id="590" name="Google Shape;590;p46"/>
          <p:cNvGrpSpPr/>
          <p:nvPr/>
        </p:nvGrpSpPr>
        <p:grpSpPr>
          <a:xfrm>
            <a:off x="8837359" y="-72330"/>
            <a:ext cx="1543051" cy="5808473"/>
            <a:chOff x="0" y="-38100"/>
            <a:chExt cx="812800" cy="3059607"/>
          </a:xfrm>
        </p:grpSpPr>
        <p:sp>
          <p:nvSpPr>
            <p:cNvPr id="591" name="Google Shape;591;p46"/>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592" name="Google Shape;592;p46"/>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B Nazanin" panose="00000700000000000000" pitchFamily="2" charset="-78"/>
                <a:sym typeface="Calibri"/>
              </a:endParaRPr>
            </a:p>
          </p:txBody>
        </p:sp>
      </p:grpSp>
      <p:sp>
        <p:nvSpPr>
          <p:cNvPr id="593" name="Google Shape;593;p46"/>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000000"/>
                </a:solidFill>
                <a:latin typeface="Open Sans"/>
                <a:ea typeface="Open Sans"/>
                <a:cs typeface="B Nazanin" panose="00000700000000000000" pitchFamily="2" charset="-78"/>
                <a:sym typeface="Open Sans"/>
              </a:rPr>
              <a:t>N  E  X  T</a:t>
            </a:r>
            <a:endParaRPr sz="700">
              <a:cs typeface="B Nazanin" panose="00000700000000000000" pitchFamily="2" charset="-78"/>
            </a:endParaRPr>
          </a:p>
        </p:txBody>
      </p:sp>
      <p:pic>
        <p:nvPicPr>
          <p:cNvPr id="3" name="Picture 2" descr="A collage of different colored maps">
            <a:extLst>
              <a:ext uri="{FF2B5EF4-FFF2-40B4-BE49-F238E27FC236}">
                <a16:creationId xmlns:a16="http://schemas.microsoft.com/office/drawing/2014/main" id="{31DE9276-5DDC-83E4-5E50-AAF1EEFF044C}"/>
              </a:ext>
            </a:extLst>
          </p:cNvPr>
          <p:cNvPicPr>
            <a:picLocks noChangeAspect="1"/>
          </p:cNvPicPr>
          <p:nvPr/>
        </p:nvPicPr>
        <p:blipFill rotWithShape="1">
          <a:blip r:embed="rId3"/>
          <a:srcRect t="50000" r="50000"/>
          <a:stretch/>
        </p:blipFill>
        <p:spPr>
          <a:xfrm>
            <a:off x="41158" y="295714"/>
            <a:ext cx="4340094" cy="4340096"/>
          </a:xfrm>
          <a:prstGeom prst="rect">
            <a:avLst/>
          </a:prstGeom>
        </p:spPr>
      </p:pic>
      <p:pic>
        <p:nvPicPr>
          <p:cNvPr id="4" name="Picture 3" descr="A collage of different colored maps">
            <a:extLst>
              <a:ext uri="{FF2B5EF4-FFF2-40B4-BE49-F238E27FC236}">
                <a16:creationId xmlns:a16="http://schemas.microsoft.com/office/drawing/2014/main" id="{8DA177DD-C29E-4C3F-FEA4-8EF4514A346B}"/>
              </a:ext>
            </a:extLst>
          </p:cNvPr>
          <p:cNvPicPr>
            <a:picLocks noChangeAspect="1"/>
          </p:cNvPicPr>
          <p:nvPr/>
        </p:nvPicPr>
        <p:blipFill rotWithShape="1">
          <a:blip r:embed="rId3"/>
          <a:srcRect l="51001" t="50000" r="553" b="-1482"/>
          <a:stretch/>
        </p:blipFill>
        <p:spPr>
          <a:xfrm>
            <a:off x="24674" y="182875"/>
            <a:ext cx="4496010" cy="4777750"/>
          </a:xfrm>
          <a:prstGeom prst="rect">
            <a:avLst/>
          </a:prstGeom>
        </p:spPr>
      </p:pic>
      <p:pic>
        <p:nvPicPr>
          <p:cNvPr id="5" name="Picture 4" descr="A map of Iran with different colored states">
            <a:extLst>
              <a:ext uri="{FF2B5EF4-FFF2-40B4-BE49-F238E27FC236}">
                <a16:creationId xmlns:a16="http://schemas.microsoft.com/office/drawing/2014/main" id="{91B2AD34-0960-E9B1-2820-2DB704ECA7A7}"/>
              </a:ext>
            </a:extLst>
          </p:cNvPr>
          <p:cNvPicPr>
            <a:picLocks noChangeAspect="1"/>
          </p:cNvPicPr>
          <p:nvPr/>
        </p:nvPicPr>
        <p:blipFill>
          <a:blip r:embed="rId4"/>
          <a:stretch>
            <a:fillRect/>
          </a:stretch>
        </p:blipFill>
        <p:spPr>
          <a:xfrm>
            <a:off x="-16485" y="0"/>
            <a:ext cx="4524121" cy="5143500"/>
          </a:xfrm>
          <a:prstGeom prst="rect">
            <a:avLst/>
          </a:prstGeom>
        </p:spPr>
      </p:pic>
    </p:spTree>
    <p:extLst>
      <p:ext uri="{BB962C8B-B14F-4D97-AF65-F5344CB8AC3E}">
        <p14:creationId xmlns:p14="http://schemas.microsoft.com/office/powerpoint/2010/main" val="14923852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487"/>
        <p:cNvGrpSpPr/>
        <p:nvPr/>
      </p:nvGrpSpPr>
      <p:grpSpPr>
        <a:xfrm>
          <a:off x="0" y="0"/>
          <a:ext cx="0" cy="0"/>
          <a:chOff x="0" y="0"/>
          <a:chExt cx="0" cy="0"/>
        </a:xfrm>
      </p:grpSpPr>
      <p:sp>
        <p:nvSpPr>
          <p:cNvPr id="491" name="Google Shape;491;p43"/>
          <p:cNvSpPr txBox="1"/>
          <p:nvPr/>
        </p:nvSpPr>
        <p:spPr>
          <a:xfrm>
            <a:off x="1661324" y="807009"/>
            <a:ext cx="5821500" cy="55399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20000"/>
              </a:lnSpc>
              <a:spcBef>
                <a:spcPts val="0"/>
              </a:spcBef>
              <a:spcAft>
                <a:spcPts val="0"/>
              </a:spcAft>
              <a:buClr>
                <a:srgbClr val="000000"/>
              </a:buClr>
              <a:buSzTx/>
              <a:buFont typeface="Arial"/>
              <a:buNone/>
              <a:tabLst/>
              <a:defRPr/>
            </a:pPr>
            <a:r>
              <a:rPr kumimoji="0" lang="fa-IR" sz="3000" b="1" i="0" u="none" strike="noStrike" kern="0" cap="none" spc="0" normalizeH="0" baseline="0" noProof="0" dirty="0">
                <a:ln>
                  <a:noFill/>
                </a:ln>
                <a:solidFill>
                  <a:srgbClr val="FFFFFF"/>
                </a:solidFill>
                <a:effectLst/>
                <a:uLnTx/>
                <a:uFillTx/>
                <a:latin typeface="Open Sans"/>
                <a:ea typeface="Open Sans"/>
                <a:cs typeface="B Nazanin" panose="00000700000000000000" pitchFamily="2" charset="-78"/>
                <a:sym typeface="Open Sans"/>
              </a:rPr>
              <a:t>نظام تقسیمات کشوری</a:t>
            </a:r>
            <a:endParaRPr kumimoji="0" sz="700" b="1" i="0" u="none" strike="noStrike" kern="0" cap="none" spc="0" normalizeH="0" baseline="0" noProof="0" dirty="0">
              <a:ln>
                <a:noFill/>
              </a:ln>
              <a:solidFill>
                <a:srgbClr val="000000"/>
              </a:solidFill>
              <a:effectLst/>
              <a:uLnTx/>
              <a:uFillTx/>
              <a:latin typeface="Open Sans"/>
              <a:ea typeface="Open Sans"/>
              <a:cs typeface="B Nazanin" panose="00000700000000000000" pitchFamily="2" charset="-78"/>
              <a:sym typeface="Open Sans"/>
            </a:endParaRPr>
          </a:p>
        </p:txBody>
      </p:sp>
      <p:sp>
        <p:nvSpPr>
          <p:cNvPr id="496" name="Google Shape;496;p43"/>
          <p:cNvSpPr txBox="1"/>
          <p:nvPr/>
        </p:nvSpPr>
        <p:spPr>
          <a:xfrm>
            <a:off x="1128252" y="2000335"/>
            <a:ext cx="6872748" cy="1292662"/>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40000"/>
              </a:lnSpc>
              <a:spcBef>
                <a:spcPts val="0"/>
              </a:spcBef>
              <a:spcAft>
                <a:spcPts val="0"/>
              </a:spcAft>
              <a:buClr>
                <a:srgbClr val="000000"/>
              </a:buClr>
              <a:buSzTx/>
              <a:buFont typeface="Arial"/>
              <a:buNone/>
              <a:tabLst/>
              <a:defRPr/>
            </a:pPr>
            <a:r>
              <a:rPr kumimoji="0" lang="fa-IR" sz="1200" b="0" i="0" u="none" strike="noStrike" kern="0" cap="none" spc="0" normalizeH="0" baseline="0" noProof="0" dirty="0">
                <a:ln>
                  <a:noFill/>
                </a:ln>
                <a:solidFill>
                  <a:srgbClr val="FFFFFF"/>
                </a:solidFill>
                <a:effectLst/>
                <a:uLnTx/>
                <a:uFillTx/>
                <a:latin typeface="Open Sans"/>
                <a:ea typeface="Open Sans"/>
                <a:cs typeface="B Nazanin" panose="00000700000000000000" pitchFamily="2" charset="-78"/>
                <a:sym typeface="Open Sans"/>
              </a:rPr>
              <a:t>از لحاظ نظام اداري دهستان تابع بخش و بخش تابع شهرستان و شهرستان تابع استان و استان تابع تشكيلات مركزي خواهد بود.</a:t>
            </a:r>
          </a:p>
          <a:p>
            <a:pPr marL="0" marR="0" lvl="0" indent="0" algn="ctr" defTabSz="914400" rtl="0" eaLnBrk="1" fontAlgn="auto" latinLnBrk="0" hangingPunct="1">
              <a:lnSpc>
                <a:spcPct val="140000"/>
              </a:lnSpc>
              <a:spcBef>
                <a:spcPts val="0"/>
              </a:spcBef>
              <a:spcAft>
                <a:spcPts val="0"/>
              </a:spcAft>
              <a:buClr>
                <a:srgbClr val="000000"/>
              </a:buClr>
              <a:buSzTx/>
              <a:buFont typeface="Arial"/>
              <a:buNone/>
              <a:tabLst/>
              <a:defRPr/>
            </a:pPr>
            <a:r>
              <a:rPr kumimoji="0" lang="fa-IR" sz="1200" b="0" i="0" u="none" strike="noStrike" kern="0" cap="none" spc="0" normalizeH="0" baseline="0" noProof="0" dirty="0">
                <a:ln>
                  <a:noFill/>
                </a:ln>
                <a:solidFill>
                  <a:srgbClr val="FFFFFF"/>
                </a:solidFill>
                <a:effectLst/>
                <a:uLnTx/>
                <a:uFillTx/>
                <a:latin typeface="Open Sans"/>
                <a:ea typeface="Open Sans"/>
                <a:cs typeface="B Nazanin" panose="00000700000000000000" pitchFamily="2" charset="-78"/>
                <a:sym typeface="Open Sans"/>
              </a:rPr>
              <a:t>هرگونه انتزاع، الحاق، تبديل، ايجاد و ادغام و نيز تعيين و تغيير مركزيت و تغيير نام و نامگذاري واحدهاي تقسيمات كشوري، بجز استان بنا به پيشنهاد وزارت كشور و تصويب هيئت وزيران خواهد بود.</a:t>
            </a:r>
          </a:p>
          <a:p>
            <a:pPr marL="0" marR="0" lvl="0" indent="0" algn="ctr" defTabSz="914400" rtl="0" eaLnBrk="1" fontAlgn="auto" latinLnBrk="0" hangingPunct="1">
              <a:lnSpc>
                <a:spcPct val="140000"/>
              </a:lnSpc>
              <a:spcBef>
                <a:spcPts val="0"/>
              </a:spcBef>
              <a:spcAft>
                <a:spcPts val="0"/>
              </a:spcAft>
              <a:buClr>
                <a:srgbClr val="000000"/>
              </a:buClr>
              <a:buSzTx/>
              <a:buFont typeface="Arial"/>
              <a:buNone/>
              <a:tabLst/>
              <a:defRPr/>
            </a:pPr>
            <a:r>
              <a:rPr kumimoji="0" lang="fa-IR" sz="1200" b="0" i="0" u="none" strike="noStrike" kern="0" cap="none" spc="0" normalizeH="0" baseline="0" noProof="0" dirty="0">
                <a:ln>
                  <a:noFill/>
                </a:ln>
                <a:solidFill>
                  <a:srgbClr val="FFFFFF"/>
                </a:solidFill>
                <a:effectLst/>
                <a:uLnTx/>
                <a:uFillTx/>
                <a:latin typeface="Open Sans"/>
                <a:ea typeface="Open Sans"/>
                <a:cs typeface="B Nazanin" panose="00000700000000000000" pitchFamily="2" charset="-78"/>
                <a:sym typeface="Open Sans"/>
              </a:rPr>
              <a:t>دولت موظف است همزمان با تهيه آئين نامه هاي اجرائي آخرين آمار جمعيت كشور را تهيه و براساس آن اين قانون را اجراء نمايد .</a:t>
            </a:r>
          </a:p>
          <a:p>
            <a:pPr marL="0" marR="0" lvl="0" indent="0" algn="ctr" defTabSz="914400" rtl="0" eaLnBrk="1" fontAlgn="auto" latinLnBrk="0" hangingPunct="1">
              <a:lnSpc>
                <a:spcPct val="140000"/>
              </a:lnSpc>
              <a:spcBef>
                <a:spcPts val="0"/>
              </a:spcBef>
              <a:spcAft>
                <a:spcPts val="0"/>
              </a:spcAft>
              <a:buClr>
                <a:srgbClr val="000000"/>
              </a:buClr>
              <a:buSzTx/>
              <a:buFont typeface="Arial"/>
              <a:buNone/>
              <a:tabLst/>
              <a:defRPr/>
            </a:pPr>
            <a:r>
              <a:rPr kumimoji="0" lang="fa-IR" sz="1200" b="0" i="0" u="none" strike="noStrike" kern="0" cap="none" spc="0" normalizeH="0" baseline="0" noProof="0" dirty="0">
                <a:ln>
                  <a:noFill/>
                </a:ln>
                <a:solidFill>
                  <a:srgbClr val="FFFFFF"/>
                </a:solidFill>
                <a:effectLst/>
                <a:uLnTx/>
                <a:uFillTx/>
                <a:latin typeface="Open Sans"/>
                <a:ea typeface="Open Sans"/>
                <a:cs typeface="B Nazanin" panose="00000700000000000000" pitchFamily="2" charset="-78"/>
                <a:sym typeface="Open Sans"/>
              </a:rPr>
              <a:t>وزارت كشور موظف است اجراء اين قانون را از نقاط دورافتاده و محروم آغاز نمايد.</a:t>
            </a:r>
          </a:p>
        </p:txBody>
      </p:sp>
      <p:grpSp>
        <p:nvGrpSpPr>
          <p:cNvPr id="498" name="Google Shape;498;p43"/>
          <p:cNvGrpSpPr/>
          <p:nvPr/>
        </p:nvGrpSpPr>
        <p:grpSpPr>
          <a:xfrm>
            <a:off x="8837359" y="-72330"/>
            <a:ext cx="1543051" cy="5808473"/>
            <a:chOff x="0" y="-38100"/>
            <a:chExt cx="812800" cy="3059607"/>
          </a:xfrm>
        </p:grpSpPr>
        <p:sp>
          <p:nvSpPr>
            <p:cNvPr id="499" name="Google Shape;499;p43"/>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FFFFFF">
                <a:alpha val="13333"/>
              </a:srgbClr>
            </a:solidFill>
            <a:ln>
              <a:noFill/>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500" name="Google Shape;500;p43"/>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defTabSz="914400" rtl="0" eaLnBrk="1" fontAlgn="auto" latinLnBrk="0" hangingPunct="1">
                <a:lnSpc>
                  <a:spcPct val="163333"/>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B Nazanin" panose="00000700000000000000" pitchFamily="2" charset="-78"/>
                <a:sym typeface="Calibri"/>
              </a:endParaRPr>
            </a:p>
          </p:txBody>
        </p:sp>
      </p:grpSp>
      <p:sp>
        <p:nvSpPr>
          <p:cNvPr id="501" name="Google Shape;501;p43"/>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60000"/>
              </a:lnSpc>
              <a:spcBef>
                <a:spcPts val="0"/>
              </a:spcBef>
              <a:spcAft>
                <a:spcPts val="0"/>
              </a:spcAft>
              <a:buClr>
                <a:srgbClr val="000000"/>
              </a:buClr>
              <a:buSzTx/>
              <a:buFont typeface="Arial"/>
              <a:buNone/>
              <a:tabLst/>
              <a:defRPr/>
            </a:pPr>
            <a:r>
              <a:rPr kumimoji="0" lang="en" sz="700" b="1" i="0" u="none" strike="noStrike" kern="0" cap="none" spc="0" normalizeH="0" baseline="0" noProof="0">
                <a:ln>
                  <a:noFill/>
                </a:ln>
                <a:solidFill>
                  <a:srgbClr val="FFFFFF"/>
                </a:solidFill>
                <a:effectLst/>
                <a:uLnTx/>
                <a:uFillTx/>
                <a:latin typeface="Open Sans"/>
                <a:ea typeface="Open Sans"/>
                <a:cs typeface="B Nazanin" panose="00000700000000000000" pitchFamily="2" charset="-78"/>
                <a:sym typeface="Open Sans"/>
              </a:rPr>
              <a:t>N  E  X  T</a:t>
            </a:r>
            <a:endParaRPr kumimoji="0" sz="700" b="0" i="0" u="none" strike="noStrike" kern="0" cap="none" spc="0" normalizeH="0" baseline="0" noProof="0">
              <a:ln>
                <a:noFill/>
              </a:ln>
              <a:solidFill>
                <a:srgbClr val="000000"/>
              </a:solidFill>
              <a:effectLst/>
              <a:uLnTx/>
              <a:uFillTx/>
              <a:latin typeface="Arial"/>
              <a:cs typeface="B Nazanin" panose="00000700000000000000" pitchFamily="2" charset="-78"/>
              <a:sym typeface="Arial"/>
            </a:endParaRPr>
          </a:p>
        </p:txBody>
      </p:sp>
      <p:cxnSp>
        <p:nvCxnSpPr>
          <p:cNvPr id="502" name="Google Shape;502;p43"/>
          <p:cNvCxnSpPr/>
          <p:nvPr/>
        </p:nvCxnSpPr>
        <p:spPr>
          <a:xfrm rot="5400000">
            <a:off x="-827527" y="-551371"/>
            <a:ext cx="3626382" cy="0"/>
          </a:xfrm>
          <a:prstGeom prst="straightConnector1">
            <a:avLst/>
          </a:prstGeom>
          <a:noFill/>
          <a:ln w="9525" cap="flat" cmpd="sng">
            <a:solidFill>
              <a:srgbClr val="FFFFFF"/>
            </a:solidFill>
            <a:prstDash val="solid"/>
            <a:round/>
            <a:headEnd type="none" w="sm" len="sm"/>
            <a:tailEnd type="none" w="sm" len="sm"/>
          </a:ln>
        </p:spPr>
      </p:cxnSp>
      <p:cxnSp>
        <p:nvCxnSpPr>
          <p:cNvPr id="503" name="Google Shape;503;p43"/>
          <p:cNvCxnSpPr/>
          <p:nvPr/>
        </p:nvCxnSpPr>
        <p:spPr>
          <a:xfrm rot="5400000">
            <a:off x="6345145" y="5707093"/>
            <a:ext cx="3626382" cy="0"/>
          </a:xfrm>
          <a:prstGeom prst="straightConnector1">
            <a:avLst/>
          </a:prstGeom>
          <a:noFill/>
          <a:ln w="9525" cap="flat" cmpd="sng">
            <a:solidFill>
              <a:srgbClr val="FFFFFF"/>
            </a:solidFill>
            <a:prstDash val="solid"/>
            <a:round/>
            <a:headEnd type="none" w="sm" len="sm"/>
            <a:tailEnd type="none" w="sm" len="sm"/>
          </a:ln>
        </p:spPr>
      </p:cxnSp>
    </p:spTree>
    <p:extLst>
      <p:ext uri="{BB962C8B-B14F-4D97-AF65-F5344CB8AC3E}">
        <p14:creationId xmlns:p14="http://schemas.microsoft.com/office/powerpoint/2010/main" val="6148346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97"/>
        <p:cNvGrpSpPr/>
        <p:nvPr/>
      </p:nvGrpSpPr>
      <p:grpSpPr>
        <a:xfrm>
          <a:off x="0" y="0"/>
          <a:ext cx="0" cy="0"/>
          <a:chOff x="0" y="0"/>
          <a:chExt cx="0" cy="0"/>
        </a:xfrm>
      </p:grpSpPr>
      <p:pic>
        <p:nvPicPr>
          <p:cNvPr id="12" name="Picture 11" descr="A city with mountains in the background">
            <a:extLst>
              <a:ext uri="{FF2B5EF4-FFF2-40B4-BE49-F238E27FC236}">
                <a16:creationId xmlns:a16="http://schemas.microsoft.com/office/drawing/2014/main" id="{52216371-3143-A92C-5CDC-54E9C6798F1D}"/>
              </a:ext>
            </a:extLst>
          </p:cNvPr>
          <p:cNvPicPr>
            <a:picLocks noChangeAspect="1"/>
          </p:cNvPicPr>
          <p:nvPr/>
        </p:nvPicPr>
        <p:blipFill>
          <a:blip r:embed="rId3"/>
          <a:stretch>
            <a:fillRect/>
          </a:stretch>
        </p:blipFill>
        <p:spPr>
          <a:xfrm>
            <a:off x="9194" y="-13042"/>
            <a:ext cx="9144000" cy="3611418"/>
          </a:xfrm>
          <a:prstGeom prst="rect">
            <a:avLst/>
          </a:prstGeom>
        </p:spPr>
      </p:pic>
      <p:sp>
        <p:nvSpPr>
          <p:cNvPr id="2" name="Rectangle 1">
            <a:extLst>
              <a:ext uri="{FF2B5EF4-FFF2-40B4-BE49-F238E27FC236}">
                <a16:creationId xmlns:a16="http://schemas.microsoft.com/office/drawing/2014/main" id="{B240E718-3BAE-0378-006C-FC79012305D0}"/>
              </a:ext>
            </a:extLst>
          </p:cNvPr>
          <p:cNvSpPr/>
          <p:nvPr/>
        </p:nvSpPr>
        <p:spPr>
          <a:xfrm>
            <a:off x="-60455" y="2571750"/>
            <a:ext cx="9204456" cy="274083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9" name="Google Shape;599;p47"/>
          <p:cNvGrpSpPr/>
          <p:nvPr/>
        </p:nvGrpSpPr>
        <p:grpSpPr>
          <a:xfrm>
            <a:off x="1304187" y="355759"/>
            <a:ext cx="6962042" cy="3196122"/>
            <a:chOff x="-11625558" y="-2961977"/>
            <a:chExt cx="18565442" cy="8522995"/>
          </a:xfrm>
        </p:grpSpPr>
        <p:sp>
          <p:nvSpPr>
            <p:cNvPr id="600" name="Google Shape;600;p47"/>
            <p:cNvSpPr txBox="1"/>
            <p:nvPr/>
          </p:nvSpPr>
          <p:spPr>
            <a:xfrm>
              <a:off x="-11148838" y="-2961977"/>
              <a:ext cx="18088722" cy="147732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20000"/>
                </a:lnSpc>
                <a:spcBef>
                  <a:spcPts val="0"/>
                </a:spcBef>
                <a:spcAft>
                  <a:spcPts val="0"/>
                </a:spcAft>
                <a:buClr>
                  <a:srgbClr val="000000"/>
                </a:buClr>
                <a:buSzTx/>
                <a:buFont typeface="Arial"/>
                <a:buNone/>
                <a:tabLst/>
                <a:defRPr/>
              </a:pPr>
              <a:r>
                <a:rPr lang="fa-IR" sz="3000" b="1" dirty="0">
                  <a:solidFill>
                    <a:schemeClr val="tx1"/>
                  </a:solidFill>
                  <a:latin typeface="Open Sans"/>
                  <a:ea typeface="Open Sans"/>
                  <a:cs typeface="B Zar" panose="00000400000000000000" pitchFamily="2" charset="-78"/>
                  <a:sym typeface="Open Sans"/>
                </a:rPr>
                <a:t>* </a:t>
              </a:r>
              <a:r>
                <a:rPr kumimoji="0" lang="fa-IR" sz="3000" b="1" i="0" u="none" strike="noStrike" kern="0" cap="none" spc="0" normalizeH="0" baseline="0" noProof="0" dirty="0">
                  <a:ln>
                    <a:noFill/>
                  </a:ln>
                  <a:solidFill>
                    <a:schemeClr val="tx1"/>
                  </a:solidFill>
                  <a:effectLst/>
                  <a:uLnTx/>
                  <a:uFillTx/>
                  <a:latin typeface="Open Sans"/>
                  <a:ea typeface="Open Sans"/>
                  <a:cs typeface="B Zar" panose="00000400000000000000" pitchFamily="2" charset="-78"/>
                  <a:sym typeface="Open Sans"/>
                </a:rPr>
                <a:t>قانون زمین شهری *</a:t>
              </a:r>
              <a:endParaRPr kumimoji="0" lang="fa-IR" sz="700" b="1" i="0" u="none" strike="noStrike" kern="0" cap="none" spc="0" normalizeH="0" baseline="0" noProof="0" dirty="0">
                <a:ln>
                  <a:noFill/>
                </a:ln>
                <a:solidFill>
                  <a:schemeClr val="tx1"/>
                </a:solidFill>
                <a:effectLst/>
                <a:uLnTx/>
                <a:uFillTx/>
                <a:latin typeface="Open Sans"/>
                <a:ea typeface="Open Sans"/>
                <a:cs typeface="B Zar" panose="00000400000000000000" pitchFamily="2" charset="-78"/>
                <a:sym typeface="Open Sans"/>
              </a:endParaRPr>
            </a:p>
          </p:txBody>
        </p:sp>
        <p:sp>
          <p:nvSpPr>
            <p:cNvPr id="602" name="Google Shape;602;p47"/>
            <p:cNvSpPr txBox="1"/>
            <p:nvPr/>
          </p:nvSpPr>
          <p:spPr>
            <a:xfrm>
              <a:off x="-11625558" y="3952372"/>
              <a:ext cx="17777743" cy="1608646"/>
            </a:xfrm>
            <a:prstGeom prst="rect">
              <a:avLst/>
            </a:prstGeom>
            <a:noFill/>
            <a:ln>
              <a:noFill/>
            </a:ln>
          </p:spPr>
          <p:txBody>
            <a:bodyPr spcFirstLastPara="1" wrap="square" lIns="0" tIns="0" rIns="0" bIns="0" anchor="t" anchorCtr="0">
              <a:spAutoFit/>
            </a:bodyPr>
            <a:lstStyle/>
            <a:p>
              <a:pPr marL="0" marR="0" lvl="0" indent="0" algn="ctr" defTabSz="914400" eaLnBrk="1" fontAlgn="auto" latinLnBrk="0" hangingPunct="1">
                <a:lnSpc>
                  <a:spcPct val="140020"/>
                </a:lnSpc>
                <a:spcBef>
                  <a:spcPts val="0"/>
                </a:spcBef>
                <a:spcAft>
                  <a:spcPts val="0"/>
                </a:spcAft>
                <a:buClr>
                  <a:srgbClr val="000000"/>
                </a:buClr>
                <a:buSzTx/>
                <a:buFont typeface="Arial"/>
                <a:buNone/>
                <a:tabLst/>
                <a:defRPr/>
              </a:pPr>
              <a:r>
                <a:rPr kumimoji="0" lang="fa-IR" i="0" u="none" strike="noStrike" kern="0" normalizeH="0" baseline="0" noProof="0" dirty="0">
                  <a:ln w="0"/>
                  <a:solidFill>
                    <a:schemeClr val="tx1"/>
                  </a:solidFill>
                  <a:effectLst>
                    <a:outerShdw blurRad="38100" dist="19050" dir="2700000" algn="tl" rotWithShape="0">
                      <a:schemeClr val="dk1">
                        <a:alpha val="40000"/>
                      </a:schemeClr>
                    </a:outerShdw>
                  </a:effectLst>
                  <a:uLnTx/>
                  <a:uFillTx/>
                  <a:latin typeface="Open Sans"/>
                  <a:ea typeface="Open Sans"/>
                  <a:cs typeface="B Nazanin" panose="00000700000000000000" pitchFamily="2" charset="-78"/>
                  <a:sym typeface="Open Sans"/>
                </a:rPr>
                <a:t>این قانون برای اجرای برنامه ‌های شهرسازی به منظور تنظیم مسائل مربوط به زمین‌ها، ازدیاد عرضه، تعدیل و تثبیت قیمت آن‌ها به عنوان یکی از عوامل عمده تولید و تامین رفاه عمومی و اجتماعی در نظر گرفته می‌شود.</a:t>
              </a:r>
            </a:p>
          </p:txBody>
        </p:sp>
      </p:grpSp>
      <p:cxnSp>
        <p:nvCxnSpPr>
          <p:cNvPr id="604" name="Google Shape;604;p47"/>
          <p:cNvCxnSpPr>
            <a:cxnSpLocks/>
          </p:cNvCxnSpPr>
          <p:nvPr/>
        </p:nvCxnSpPr>
        <p:spPr>
          <a:xfrm rot="5400000">
            <a:off x="-1419896" y="5016235"/>
            <a:ext cx="3626382" cy="0"/>
          </a:xfrm>
          <a:prstGeom prst="straightConnector1">
            <a:avLst/>
          </a:prstGeom>
          <a:ln>
            <a:headEnd type="none" w="sm" len="sm"/>
            <a:tailEnd type="none" w="sm" len="sm"/>
          </a:ln>
        </p:spPr>
        <p:style>
          <a:lnRef idx="1">
            <a:schemeClr val="dk1"/>
          </a:lnRef>
          <a:fillRef idx="0">
            <a:schemeClr val="dk1"/>
          </a:fillRef>
          <a:effectRef idx="0">
            <a:schemeClr val="dk1"/>
          </a:effectRef>
          <a:fontRef idx="minor">
            <a:schemeClr val="tx1"/>
          </a:fontRef>
        </p:style>
      </p:cxnSp>
      <p:cxnSp>
        <p:nvCxnSpPr>
          <p:cNvPr id="605" name="Google Shape;605;p47"/>
          <p:cNvCxnSpPr/>
          <p:nvPr/>
        </p:nvCxnSpPr>
        <p:spPr>
          <a:xfrm rot="5400000">
            <a:off x="6937513" y="355759"/>
            <a:ext cx="3626382" cy="0"/>
          </a:xfrm>
          <a:prstGeom prst="straightConnector1">
            <a:avLst/>
          </a:prstGeom>
          <a:noFill/>
          <a:ln w="9525" cap="flat" cmpd="sng">
            <a:solidFill>
              <a:srgbClr val="FFFFFF"/>
            </a:solidFill>
            <a:prstDash val="solid"/>
            <a:round/>
            <a:headEnd type="none" w="sm" len="sm"/>
            <a:tailEnd type="none" w="sm" len="sm"/>
          </a:ln>
        </p:spPr>
      </p:cxnSp>
      <p:grpSp>
        <p:nvGrpSpPr>
          <p:cNvPr id="606" name="Google Shape;606;p47"/>
          <p:cNvGrpSpPr/>
          <p:nvPr/>
        </p:nvGrpSpPr>
        <p:grpSpPr>
          <a:xfrm>
            <a:off x="8837359" y="-72330"/>
            <a:ext cx="1543051" cy="5808473"/>
            <a:chOff x="0" y="-38100"/>
            <a:chExt cx="812800" cy="3059607"/>
          </a:xfrm>
        </p:grpSpPr>
        <p:sp>
          <p:nvSpPr>
            <p:cNvPr id="607" name="Google Shape;607;p47"/>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608" name="Google Shape;608;p47"/>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defTabSz="914400" rtl="0" eaLnBrk="1" fontAlgn="auto" latinLnBrk="0" hangingPunct="1">
                <a:lnSpc>
                  <a:spcPct val="163333"/>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B Nazanin" panose="00000700000000000000" pitchFamily="2" charset="-78"/>
                <a:sym typeface="Calibri"/>
              </a:endParaRPr>
            </a:p>
          </p:txBody>
        </p:sp>
      </p:grpSp>
      <p:sp>
        <p:nvSpPr>
          <p:cNvPr id="609" name="Google Shape;609;p47"/>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60000"/>
              </a:lnSpc>
              <a:spcBef>
                <a:spcPts val="0"/>
              </a:spcBef>
              <a:spcAft>
                <a:spcPts val="0"/>
              </a:spcAft>
              <a:buClr>
                <a:srgbClr val="000000"/>
              </a:buClr>
              <a:buSzTx/>
              <a:buFont typeface="Arial"/>
              <a:buNone/>
              <a:tabLst/>
              <a:defRPr/>
            </a:pPr>
            <a:r>
              <a:rPr kumimoji="0" lang="en" sz="700" b="1" i="0" u="none" strike="noStrike" kern="0" cap="none" spc="0" normalizeH="0" baseline="0" noProof="0">
                <a:ln>
                  <a:noFill/>
                </a:ln>
                <a:solidFill>
                  <a:srgbClr val="FFFFFF"/>
                </a:solidFill>
                <a:effectLst/>
                <a:uLnTx/>
                <a:uFillTx/>
                <a:latin typeface="Open Sans"/>
                <a:ea typeface="Open Sans"/>
                <a:cs typeface="B Nazanin" panose="00000700000000000000" pitchFamily="2" charset="-78"/>
                <a:sym typeface="Open Sans"/>
              </a:rPr>
              <a:t>N  E  X  T</a:t>
            </a:r>
            <a:endParaRPr kumimoji="0" sz="700" b="0" i="0" u="none" strike="noStrike" kern="0" cap="none" spc="0" normalizeH="0" baseline="0" noProof="0">
              <a:ln>
                <a:noFill/>
              </a:ln>
              <a:solidFill>
                <a:srgbClr val="000000"/>
              </a:solidFill>
              <a:effectLst/>
              <a:uLnTx/>
              <a:uFillTx/>
              <a:latin typeface="Arial"/>
              <a:cs typeface="B Nazanin" panose="00000700000000000000" pitchFamily="2" charset="-78"/>
              <a:sym typeface="Arial"/>
            </a:endParaRPr>
          </a:p>
        </p:txBody>
      </p:sp>
      <p:sp>
        <p:nvSpPr>
          <p:cNvPr id="10" name="Rectangle 9">
            <a:extLst>
              <a:ext uri="{FF2B5EF4-FFF2-40B4-BE49-F238E27FC236}">
                <a16:creationId xmlns:a16="http://schemas.microsoft.com/office/drawing/2014/main" id="{522A05BA-5E2F-5BC8-61B1-00E9CD790F27}"/>
              </a:ext>
            </a:extLst>
          </p:cNvPr>
          <p:cNvSpPr/>
          <p:nvPr/>
        </p:nvSpPr>
        <p:spPr>
          <a:xfrm>
            <a:off x="5267248" y="4126800"/>
            <a:ext cx="4088349" cy="60514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dirty="0">
                <a:solidFill>
                  <a:schemeClr val="bg1"/>
                </a:solidFill>
              </a:rPr>
              <a:t>مصوب 22 شهریور1366</a:t>
            </a:r>
            <a:endParaRPr lang="en-US" dirty="0">
              <a:solidFill>
                <a:schemeClr val="bg1"/>
              </a:solidFill>
            </a:endParaRPr>
          </a:p>
        </p:txBody>
      </p:sp>
    </p:spTree>
    <p:extLst>
      <p:ext uri="{BB962C8B-B14F-4D97-AF65-F5344CB8AC3E}">
        <p14:creationId xmlns:p14="http://schemas.microsoft.com/office/powerpoint/2010/main" val="362464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97"/>
        <p:cNvGrpSpPr/>
        <p:nvPr/>
      </p:nvGrpSpPr>
      <p:grpSpPr>
        <a:xfrm>
          <a:off x="0" y="0"/>
          <a:ext cx="0" cy="0"/>
          <a:chOff x="0" y="0"/>
          <a:chExt cx="0" cy="0"/>
        </a:xfrm>
      </p:grpSpPr>
      <p:grpSp>
        <p:nvGrpSpPr>
          <p:cNvPr id="599" name="Google Shape;599;p47"/>
          <p:cNvGrpSpPr/>
          <p:nvPr/>
        </p:nvGrpSpPr>
        <p:grpSpPr>
          <a:xfrm>
            <a:off x="1304187" y="355758"/>
            <a:ext cx="6962042" cy="4201127"/>
            <a:chOff x="-11625558" y="-2961977"/>
            <a:chExt cx="18565442" cy="8522995"/>
          </a:xfrm>
        </p:grpSpPr>
        <p:sp>
          <p:nvSpPr>
            <p:cNvPr id="600" name="Google Shape;600;p47"/>
            <p:cNvSpPr txBox="1"/>
            <p:nvPr/>
          </p:nvSpPr>
          <p:spPr>
            <a:xfrm>
              <a:off x="-11148838" y="-2961977"/>
              <a:ext cx="18088722" cy="147732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20000"/>
                </a:lnSpc>
                <a:spcBef>
                  <a:spcPts val="0"/>
                </a:spcBef>
                <a:spcAft>
                  <a:spcPts val="0"/>
                </a:spcAft>
                <a:buClr>
                  <a:srgbClr val="000000"/>
                </a:buClr>
                <a:buSzTx/>
                <a:buFont typeface="Arial"/>
                <a:buNone/>
                <a:tabLst/>
                <a:defRPr/>
              </a:pPr>
              <a:r>
                <a:rPr lang="fa-IR" sz="3000" b="1" dirty="0">
                  <a:solidFill>
                    <a:schemeClr val="tx1"/>
                  </a:solidFill>
                  <a:latin typeface="Open Sans"/>
                  <a:ea typeface="Open Sans"/>
                  <a:cs typeface="B Zar" panose="00000400000000000000" pitchFamily="2" charset="-78"/>
                  <a:sym typeface="Open Sans"/>
                </a:rPr>
                <a:t>* </a:t>
              </a:r>
              <a:r>
                <a:rPr kumimoji="0" lang="fa-IR" sz="3000" b="1" i="0" u="none" strike="noStrike" kern="0" cap="none" spc="0" normalizeH="0" baseline="0" noProof="0" dirty="0">
                  <a:ln>
                    <a:noFill/>
                  </a:ln>
                  <a:solidFill>
                    <a:schemeClr val="tx1"/>
                  </a:solidFill>
                  <a:effectLst/>
                  <a:uLnTx/>
                  <a:uFillTx/>
                  <a:latin typeface="Open Sans"/>
                  <a:ea typeface="Open Sans"/>
                  <a:cs typeface="B Zar" panose="00000400000000000000" pitchFamily="2" charset="-78"/>
                  <a:sym typeface="Open Sans"/>
                </a:rPr>
                <a:t>قانون زمین شهری *</a:t>
              </a:r>
              <a:endParaRPr kumimoji="0" lang="fa-IR" sz="700" b="1" i="0" u="none" strike="noStrike" kern="0" cap="none" spc="0" normalizeH="0" baseline="0" noProof="0" dirty="0">
                <a:ln>
                  <a:noFill/>
                </a:ln>
                <a:solidFill>
                  <a:schemeClr val="tx1"/>
                </a:solidFill>
                <a:effectLst/>
                <a:uLnTx/>
                <a:uFillTx/>
                <a:latin typeface="Open Sans"/>
                <a:ea typeface="Open Sans"/>
                <a:cs typeface="B Zar" panose="00000400000000000000" pitchFamily="2" charset="-78"/>
                <a:sym typeface="Open Sans"/>
              </a:endParaRPr>
            </a:p>
          </p:txBody>
        </p:sp>
        <p:sp>
          <p:nvSpPr>
            <p:cNvPr id="602" name="Google Shape;602;p47"/>
            <p:cNvSpPr txBox="1"/>
            <p:nvPr/>
          </p:nvSpPr>
          <p:spPr>
            <a:xfrm>
              <a:off x="-11625558" y="3952372"/>
              <a:ext cx="17777743" cy="1608646"/>
            </a:xfrm>
            <a:prstGeom prst="rect">
              <a:avLst/>
            </a:prstGeom>
            <a:noFill/>
            <a:ln>
              <a:noFill/>
            </a:ln>
          </p:spPr>
          <p:txBody>
            <a:bodyPr spcFirstLastPara="1" wrap="square" lIns="0" tIns="0" rIns="0" bIns="0" anchor="t" anchorCtr="0">
              <a:spAutoFit/>
            </a:bodyPr>
            <a:lstStyle/>
            <a:p>
              <a:pPr marL="0" marR="0" lvl="0" indent="0" algn="ctr" defTabSz="914400" eaLnBrk="1" fontAlgn="auto" latinLnBrk="0" hangingPunct="1">
                <a:lnSpc>
                  <a:spcPct val="140020"/>
                </a:lnSpc>
                <a:spcBef>
                  <a:spcPts val="0"/>
                </a:spcBef>
                <a:spcAft>
                  <a:spcPts val="0"/>
                </a:spcAft>
                <a:buClr>
                  <a:srgbClr val="000000"/>
                </a:buClr>
                <a:buSzTx/>
                <a:buFont typeface="Arial"/>
                <a:buNone/>
                <a:tabLst/>
                <a:defRPr/>
              </a:pPr>
              <a:r>
                <a:rPr kumimoji="0" lang="fa-IR" i="0" u="none" strike="noStrike" kern="0" normalizeH="0" baseline="0" noProof="0" dirty="0">
                  <a:ln w="0"/>
                  <a:solidFill>
                    <a:schemeClr val="tx1"/>
                  </a:solidFill>
                  <a:effectLst>
                    <a:outerShdw blurRad="38100" dist="19050" dir="2700000" algn="tl" rotWithShape="0">
                      <a:schemeClr val="dk1">
                        <a:alpha val="40000"/>
                      </a:schemeClr>
                    </a:outerShdw>
                  </a:effectLst>
                  <a:uLnTx/>
                  <a:uFillTx/>
                  <a:latin typeface="Open Sans"/>
                  <a:ea typeface="Open Sans"/>
                  <a:cs typeface="B Nazanin" panose="00000700000000000000" pitchFamily="2" charset="-78"/>
                  <a:sym typeface="Open Sans"/>
                </a:rPr>
                <a:t>این قانون برای اجرای برنامه ‌های شهرسازی به منظور تنظیم مسائل مربوط به زمین‌ها، ازدیاد عرضه، تعدیل و تثبیت قیمت آن‌ها به عنوان یکی از عوامل عمده تولید و تامین رفاه عمومی و اجتماعی در نظر گرفته می‌شود.</a:t>
              </a:r>
            </a:p>
          </p:txBody>
        </p:sp>
      </p:grpSp>
      <p:cxnSp>
        <p:nvCxnSpPr>
          <p:cNvPr id="604" name="Google Shape;604;p47"/>
          <p:cNvCxnSpPr>
            <a:cxnSpLocks/>
          </p:cNvCxnSpPr>
          <p:nvPr/>
        </p:nvCxnSpPr>
        <p:spPr>
          <a:xfrm rot="5400000">
            <a:off x="-1419896" y="5016235"/>
            <a:ext cx="3626382" cy="0"/>
          </a:xfrm>
          <a:prstGeom prst="straightConnector1">
            <a:avLst/>
          </a:prstGeom>
          <a:ln>
            <a:headEnd type="none" w="sm" len="sm"/>
            <a:tailEnd type="none" w="sm" len="sm"/>
          </a:ln>
        </p:spPr>
        <p:style>
          <a:lnRef idx="1">
            <a:schemeClr val="dk1"/>
          </a:lnRef>
          <a:fillRef idx="0">
            <a:schemeClr val="dk1"/>
          </a:fillRef>
          <a:effectRef idx="0">
            <a:schemeClr val="dk1"/>
          </a:effectRef>
          <a:fontRef idx="minor">
            <a:schemeClr val="tx1"/>
          </a:fontRef>
        </p:style>
      </p:cxnSp>
      <p:cxnSp>
        <p:nvCxnSpPr>
          <p:cNvPr id="605" name="Google Shape;605;p47"/>
          <p:cNvCxnSpPr/>
          <p:nvPr/>
        </p:nvCxnSpPr>
        <p:spPr>
          <a:xfrm rot="5400000">
            <a:off x="6937513" y="355759"/>
            <a:ext cx="3626382" cy="0"/>
          </a:xfrm>
          <a:prstGeom prst="straightConnector1">
            <a:avLst/>
          </a:prstGeom>
          <a:noFill/>
          <a:ln w="9525" cap="flat" cmpd="sng">
            <a:solidFill>
              <a:srgbClr val="FFFFFF"/>
            </a:solidFill>
            <a:prstDash val="solid"/>
            <a:round/>
            <a:headEnd type="none" w="sm" len="sm"/>
            <a:tailEnd type="none" w="sm" len="sm"/>
          </a:ln>
        </p:spPr>
      </p:cxnSp>
      <p:grpSp>
        <p:nvGrpSpPr>
          <p:cNvPr id="606" name="Google Shape;606;p47"/>
          <p:cNvGrpSpPr/>
          <p:nvPr/>
        </p:nvGrpSpPr>
        <p:grpSpPr>
          <a:xfrm>
            <a:off x="8837359" y="-72330"/>
            <a:ext cx="1543051" cy="5808473"/>
            <a:chOff x="0" y="-38100"/>
            <a:chExt cx="812800" cy="3059607"/>
          </a:xfrm>
        </p:grpSpPr>
        <p:sp>
          <p:nvSpPr>
            <p:cNvPr id="607" name="Google Shape;607;p47"/>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608" name="Google Shape;608;p47"/>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defTabSz="914400" rtl="0" eaLnBrk="1" fontAlgn="auto" latinLnBrk="0" hangingPunct="1">
                <a:lnSpc>
                  <a:spcPct val="163333"/>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B Nazanin" panose="00000700000000000000" pitchFamily="2" charset="-78"/>
                <a:sym typeface="Calibri"/>
              </a:endParaRPr>
            </a:p>
          </p:txBody>
        </p:sp>
      </p:grpSp>
      <p:sp>
        <p:nvSpPr>
          <p:cNvPr id="609" name="Google Shape;609;p47"/>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60000"/>
              </a:lnSpc>
              <a:spcBef>
                <a:spcPts val="0"/>
              </a:spcBef>
              <a:spcAft>
                <a:spcPts val="0"/>
              </a:spcAft>
              <a:buClr>
                <a:srgbClr val="000000"/>
              </a:buClr>
              <a:buSzTx/>
              <a:buFont typeface="Arial"/>
              <a:buNone/>
              <a:tabLst/>
              <a:defRPr/>
            </a:pPr>
            <a:r>
              <a:rPr kumimoji="0" lang="en" sz="700" b="1" i="0" u="none" strike="noStrike" kern="0" cap="none" spc="0" normalizeH="0" baseline="0" noProof="0">
                <a:ln>
                  <a:noFill/>
                </a:ln>
                <a:solidFill>
                  <a:srgbClr val="FFFFFF"/>
                </a:solidFill>
                <a:effectLst/>
                <a:uLnTx/>
                <a:uFillTx/>
                <a:latin typeface="Open Sans"/>
                <a:ea typeface="Open Sans"/>
                <a:cs typeface="B Nazanin" panose="00000700000000000000" pitchFamily="2" charset="-78"/>
                <a:sym typeface="Open Sans"/>
              </a:rPr>
              <a:t>N  E  X  T</a:t>
            </a:r>
            <a:endParaRPr kumimoji="0" sz="700" b="0" i="0" u="none" strike="noStrike" kern="0" cap="none" spc="0" normalizeH="0" baseline="0" noProof="0">
              <a:ln>
                <a:noFill/>
              </a:ln>
              <a:solidFill>
                <a:srgbClr val="000000"/>
              </a:solidFill>
              <a:effectLst/>
              <a:uLnTx/>
              <a:uFillTx/>
              <a:latin typeface="Arial"/>
              <a:cs typeface="B Nazanin" panose="00000700000000000000" pitchFamily="2" charset="-78"/>
              <a:sym typeface="Arial"/>
            </a:endParaRPr>
          </a:p>
        </p:txBody>
      </p:sp>
      <p:sp>
        <p:nvSpPr>
          <p:cNvPr id="3" name="TextBox 2">
            <a:extLst>
              <a:ext uri="{FF2B5EF4-FFF2-40B4-BE49-F238E27FC236}">
                <a16:creationId xmlns:a16="http://schemas.microsoft.com/office/drawing/2014/main" id="{192C8929-2433-CE51-19F6-F9A83DB6AD4C}"/>
              </a:ext>
            </a:extLst>
          </p:cNvPr>
          <p:cNvSpPr txBox="1"/>
          <p:nvPr/>
        </p:nvSpPr>
        <p:spPr>
          <a:xfrm>
            <a:off x="4050566" y="173812"/>
            <a:ext cx="4215663" cy="523220"/>
          </a:xfrm>
          <a:prstGeom prst="rect">
            <a:avLst/>
          </a:prstGeom>
          <a:noFill/>
        </p:spPr>
        <p:txBody>
          <a:bodyPr wrap="square" rtlCol="0">
            <a:spAutoFit/>
          </a:bodyPr>
          <a:lstStyle/>
          <a:p>
            <a:pPr algn="r" rtl="1"/>
            <a:r>
              <a:rPr lang="fa-IR" sz="2800" b="1" dirty="0">
                <a:solidFill>
                  <a:schemeClr val="bg1"/>
                </a:solidFill>
                <a:cs typeface="B Nazanin" panose="00000400000000000000" pitchFamily="2" charset="-78"/>
              </a:rPr>
              <a:t>انواع اراضی</a:t>
            </a:r>
            <a:endParaRPr lang="en-US" sz="2800" b="1" dirty="0">
              <a:solidFill>
                <a:schemeClr val="bg1"/>
              </a:solidFill>
              <a:cs typeface="B Nazanin" panose="00000400000000000000" pitchFamily="2" charset="-78"/>
            </a:endParaRPr>
          </a:p>
        </p:txBody>
      </p:sp>
      <p:sp>
        <p:nvSpPr>
          <p:cNvPr id="5" name="Rectangle: Rounded Corners 4">
            <a:extLst>
              <a:ext uri="{FF2B5EF4-FFF2-40B4-BE49-F238E27FC236}">
                <a16:creationId xmlns:a16="http://schemas.microsoft.com/office/drawing/2014/main" id="{4A159369-45E8-8A6F-53F8-16D40F484D1F}"/>
              </a:ext>
            </a:extLst>
          </p:cNvPr>
          <p:cNvSpPr/>
          <p:nvPr/>
        </p:nvSpPr>
        <p:spPr>
          <a:xfrm>
            <a:off x="6703084" y="1972543"/>
            <a:ext cx="1563145"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cs typeface="B Nazanin" panose="00000400000000000000" pitchFamily="2" charset="-78"/>
              </a:rPr>
              <a:t>1. اراضی شهری</a:t>
            </a:r>
            <a:endParaRPr lang="en-US" dirty="0">
              <a:cs typeface="B Nazanin" panose="00000400000000000000" pitchFamily="2" charset="-78"/>
            </a:endParaRPr>
          </a:p>
        </p:txBody>
      </p:sp>
      <p:sp>
        <p:nvSpPr>
          <p:cNvPr id="6" name="Rectangle: Rounded Corners 5">
            <a:extLst>
              <a:ext uri="{FF2B5EF4-FFF2-40B4-BE49-F238E27FC236}">
                <a16:creationId xmlns:a16="http://schemas.microsoft.com/office/drawing/2014/main" id="{C756A3B1-F794-D504-FF79-352572554494}"/>
              </a:ext>
            </a:extLst>
          </p:cNvPr>
          <p:cNvSpPr/>
          <p:nvPr/>
        </p:nvSpPr>
        <p:spPr>
          <a:xfrm>
            <a:off x="5025751" y="2901725"/>
            <a:ext cx="1563145"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dirty="0">
                <a:cs typeface="B Nazanin" panose="00000400000000000000" pitchFamily="2" charset="-78"/>
              </a:rPr>
              <a:t>2. اراضی موات</a:t>
            </a:r>
            <a:endParaRPr lang="en-US" dirty="0">
              <a:cs typeface="B Nazanin" panose="00000400000000000000" pitchFamily="2" charset="-78"/>
            </a:endParaRPr>
          </a:p>
        </p:txBody>
      </p:sp>
      <p:sp>
        <p:nvSpPr>
          <p:cNvPr id="7" name="Rectangle: Rounded Corners 6">
            <a:extLst>
              <a:ext uri="{FF2B5EF4-FFF2-40B4-BE49-F238E27FC236}">
                <a16:creationId xmlns:a16="http://schemas.microsoft.com/office/drawing/2014/main" id="{20E7C90F-45D3-67FC-5C4F-749A04B8D9D2}"/>
              </a:ext>
            </a:extLst>
          </p:cNvPr>
          <p:cNvSpPr/>
          <p:nvPr/>
        </p:nvSpPr>
        <p:spPr>
          <a:xfrm>
            <a:off x="3043790" y="1968508"/>
            <a:ext cx="1563145"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cs typeface="B Nazanin" panose="00000400000000000000" pitchFamily="2" charset="-78"/>
              </a:rPr>
              <a:t>3. اراضی بایر</a:t>
            </a:r>
            <a:endParaRPr lang="en-US" dirty="0">
              <a:cs typeface="B Nazanin" panose="00000400000000000000" pitchFamily="2" charset="-78"/>
            </a:endParaRPr>
          </a:p>
        </p:txBody>
      </p:sp>
      <p:sp>
        <p:nvSpPr>
          <p:cNvPr id="8" name="Rectangle: Rounded Corners 7">
            <a:extLst>
              <a:ext uri="{FF2B5EF4-FFF2-40B4-BE49-F238E27FC236}">
                <a16:creationId xmlns:a16="http://schemas.microsoft.com/office/drawing/2014/main" id="{81EBB574-DFD6-5284-1341-37FC9368DE22}"/>
              </a:ext>
            </a:extLst>
          </p:cNvPr>
          <p:cNvSpPr/>
          <p:nvPr/>
        </p:nvSpPr>
        <p:spPr>
          <a:xfrm>
            <a:off x="1214143" y="2903927"/>
            <a:ext cx="1563145"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cs typeface="B Nazanin" panose="00000400000000000000" pitchFamily="2" charset="-78"/>
              </a:rPr>
              <a:t>4. اراضی دایر</a:t>
            </a:r>
            <a:endParaRPr lang="en-US" dirty="0">
              <a:cs typeface="B Nazanin" panose="00000400000000000000" pitchFamily="2" charset="-78"/>
            </a:endParaRPr>
          </a:p>
        </p:txBody>
      </p:sp>
    </p:spTree>
    <p:extLst>
      <p:ext uri="{BB962C8B-B14F-4D97-AF65-F5344CB8AC3E}">
        <p14:creationId xmlns:p14="http://schemas.microsoft.com/office/powerpoint/2010/main" val="24508253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97"/>
        <p:cNvGrpSpPr/>
        <p:nvPr/>
      </p:nvGrpSpPr>
      <p:grpSpPr>
        <a:xfrm>
          <a:off x="0" y="0"/>
          <a:ext cx="0" cy="0"/>
          <a:chOff x="0" y="0"/>
          <a:chExt cx="0" cy="0"/>
        </a:xfrm>
      </p:grpSpPr>
      <p:sp>
        <p:nvSpPr>
          <p:cNvPr id="2" name="Rectangle 1">
            <a:extLst>
              <a:ext uri="{FF2B5EF4-FFF2-40B4-BE49-F238E27FC236}">
                <a16:creationId xmlns:a16="http://schemas.microsoft.com/office/drawing/2014/main" id="{B240E718-3BAE-0378-006C-FC79012305D0}"/>
              </a:ext>
            </a:extLst>
          </p:cNvPr>
          <p:cNvSpPr/>
          <p:nvPr/>
        </p:nvSpPr>
        <p:spPr>
          <a:xfrm rot="5400000">
            <a:off x="4025532" y="25033"/>
            <a:ext cx="5143500" cy="509343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04" name="Google Shape;604;p47"/>
          <p:cNvCxnSpPr>
            <a:cxnSpLocks/>
          </p:cNvCxnSpPr>
          <p:nvPr/>
        </p:nvCxnSpPr>
        <p:spPr>
          <a:xfrm rot="5400000">
            <a:off x="-1419896" y="5016235"/>
            <a:ext cx="3626382" cy="0"/>
          </a:xfrm>
          <a:prstGeom prst="straightConnector1">
            <a:avLst/>
          </a:prstGeom>
          <a:ln>
            <a:headEnd type="none" w="sm" len="sm"/>
            <a:tailEnd type="none" w="sm" len="sm"/>
          </a:ln>
        </p:spPr>
        <p:style>
          <a:lnRef idx="1">
            <a:schemeClr val="dk1"/>
          </a:lnRef>
          <a:fillRef idx="0">
            <a:schemeClr val="dk1"/>
          </a:fillRef>
          <a:effectRef idx="0">
            <a:schemeClr val="dk1"/>
          </a:effectRef>
          <a:fontRef idx="minor">
            <a:schemeClr val="tx1"/>
          </a:fontRef>
        </p:style>
      </p:cxnSp>
      <p:cxnSp>
        <p:nvCxnSpPr>
          <p:cNvPr id="605" name="Google Shape;605;p47"/>
          <p:cNvCxnSpPr/>
          <p:nvPr/>
        </p:nvCxnSpPr>
        <p:spPr>
          <a:xfrm rot="5400000">
            <a:off x="6937513" y="355759"/>
            <a:ext cx="3626382" cy="0"/>
          </a:xfrm>
          <a:prstGeom prst="straightConnector1">
            <a:avLst/>
          </a:prstGeom>
          <a:noFill/>
          <a:ln w="9525" cap="flat" cmpd="sng">
            <a:solidFill>
              <a:srgbClr val="FFFFFF"/>
            </a:solidFill>
            <a:prstDash val="solid"/>
            <a:round/>
            <a:headEnd type="none" w="sm" len="sm"/>
            <a:tailEnd type="none" w="sm" len="sm"/>
          </a:ln>
        </p:spPr>
      </p:cxnSp>
      <p:grpSp>
        <p:nvGrpSpPr>
          <p:cNvPr id="606" name="Google Shape;606;p47"/>
          <p:cNvGrpSpPr/>
          <p:nvPr/>
        </p:nvGrpSpPr>
        <p:grpSpPr>
          <a:xfrm>
            <a:off x="8837359" y="-72330"/>
            <a:ext cx="1543051" cy="5808473"/>
            <a:chOff x="0" y="-38100"/>
            <a:chExt cx="812800" cy="3059607"/>
          </a:xfrm>
        </p:grpSpPr>
        <p:sp>
          <p:nvSpPr>
            <p:cNvPr id="607" name="Google Shape;607;p47"/>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608" name="Google Shape;608;p47"/>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defTabSz="914400" rtl="0" eaLnBrk="1" fontAlgn="auto" latinLnBrk="0" hangingPunct="1">
                <a:lnSpc>
                  <a:spcPct val="163333"/>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B Nazanin" panose="00000700000000000000" pitchFamily="2" charset="-78"/>
                <a:sym typeface="Calibri"/>
              </a:endParaRPr>
            </a:p>
          </p:txBody>
        </p:sp>
      </p:grpSp>
      <p:sp>
        <p:nvSpPr>
          <p:cNvPr id="609" name="Google Shape;609;p47"/>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60000"/>
              </a:lnSpc>
              <a:spcBef>
                <a:spcPts val="0"/>
              </a:spcBef>
              <a:spcAft>
                <a:spcPts val="0"/>
              </a:spcAft>
              <a:buClr>
                <a:srgbClr val="000000"/>
              </a:buClr>
              <a:buSzTx/>
              <a:buFont typeface="Arial"/>
              <a:buNone/>
              <a:tabLst/>
              <a:defRPr/>
            </a:pPr>
            <a:r>
              <a:rPr kumimoji="0" lang="en" sz="700" b="1" i="0" u="none" strike="noStrike" kern="0" cap="none" spc="0" normalizeH="0" baseline="0" noProof="0">
                <a:ln>
                  <a:noFill/>
                </a:ln>
                <a:solidFill>
                  <a:srgbClr val="FFFFFF"/>
                </a:solidFill>
                <a:effectLst/>
                <a:uLnTx/>
                <a:uFillTx/>
                <a:latin typeface="Open Sans"/>
                <a:ea typeface="Open Sans"/>
                <a:cs typeface="B Nazanin" panose="00000700000000000000" pitchFamily="2" charset="-78"/>
                <a:sym typeface="Open Sans"/>
              </a:rPr>
              <a:t>N  E  X  T</a:t>
            </a:r>
            <a:endParaRPr kumimoji="0" sz="700" b="0" i="0" u="none" strike="noStrike" kern="0" cap="none" spc="0" normalizeH="0" baseline="0" noProof="0">
              <a:ln>
                <a:noFill/>
              </a:ln>
              <a:solidFill>
                <a:srgbClr val="000000"/>
              </a:solidFill>
              <a:effectLst/>
              <a:uLnTx/>
              <a:uFillTx/>
              <a:latin typeface="Arial"/>
              <a:cs typeface="B Nazanin" panose="00000700000000000000" pitchFamily="2" charset="-78"/>
              <a:sym typeface="Arial"/>
            </a:endParaRPr>
          </a:p>
        </p:txBody>
      </p:sp>
      <p:sp>
        <p:nvSpPr>
          <p:cNvPr id="3" name="TextBox 2">
            <a:extLst>
              <a:ext uri="{FF2B5EF4-FFF2-40B4-BE49-F238E27FC236}">
                <a16:creationId xmlns:a16="http://schemas.microsoft.com/office/drawing/2014/main" id="{192C8929-2433-CE51-19F6-F9A83DB6AD4C}"/>
              </a:ext>
            </a:extLst>
          </p:cNvPr>
          <p:cNvSpPr txBox="1"/>
          <p:nvPr/>
        </p:nvSpPr>
        <p:spPr>
          <a:xfrm>
            <a:off x="4050566" y="173812"/>
            <a:ext cx="4215663" cy="523220"/>
          </a:xfrm>
          <a:prstGeom prst="rect">
            <a:avLst/>
          </a:prstGeom>
          <a:noFill/>
        </p:spPr>
        <p:txBody>
          <a:bodyPr wrap="square" rtlCol="0">
            <a:spAutoFit/>
          </a:bodyPr>
          <a:lstStyle/>
          <a:p>
            <a:pPr algn="r" rtl="1"/>
            <a:r>
              <a:rPr lang="fa-IR" sz="2800" dirty="0">
                <a:solidFill>
                  <a:schemeClr val="tx1"/>
                </a:solidFill>
                <a:cs typeface="B Nazanin" panose="00000400000000000000" pitchFamily="2" charset="-78"/>
              </a:rPr>
              <a:t>انواع اراضی</a:t>
            </a:r>
            <a:endParaRPr lang="en-US" sz="2800" dirty="0">
              <a:solidFill>
                <a:schemeClr val="tx1"/>
              </a:solidFill>
              <a:cs typeface="B Nazanin" panose="00000400000000000000" pitchFamily="2" charset="-78"/>
            </a:endParaRPr>
          </a:p>
        </p:txBody>
      </p:sp>
      <p:sp>
        <p:nvSpPr>
          <p:cNvPr id="5" name="Rectangle: Rounded Corners 4">
            <a:extLst>
              <a:ext uri="{FF2B5EF4-FFF2-40B4-BE49-F238E27FC236}">
                <a16:creationId xmlns:a16="http://schemas.microsoft.com/office/drawing/2014/main" id="{4A159369-45E8-8A6F-53F8-16D40F484D1F}"/>
              </a:ext>
            </a:extLst>
          </p:cNvPr>
          <p:cNvSpPr/>
          <p:nvPr/>
        </p:nvSpPr>
        <p:spPr>
          <a:xfrm>
            <a:off x="522613" y="1322397"/>
            <a:ext cx="1563146"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latin typeface="IRTitr" panose="02000506000000020002" pitchFamily="2" charset="-78"/>
                <a:cs typeface="B Nazanin" panose="00000400000000000000" pitchFamily="2" charset="-78"/>
              </a:rPr>
              <a:t>1. اراضی شهری</a:t>
            </a:r>
            <a:endParaRPr lang="en-US" dirty="0">
              <a:latin typeface="IRTitr" panose="02000506000000020002" pitchFamily="2" charset="-78"/>
              <a:cs typeface="B Nazanin" panose="00000400000000000000" pitchFamily="2" charset="-78"/>
            </a:endParaRPr>
          </a:p>
        </p:txBody>
      </p:sp>
      <p:sp>
        <p:nvSpPr>
          <p:cNvPr id="6" name="Rectangle: Rounded Corners 5">
            <a:extLst>
              <a:ext uri="{FF2B5EF4-FFF2-40B4-BE49-F238E27FC236}">
                <a16:creationId xmlns:a16="http://schemas.microsoft.com/office/drawing/2014/main" id="{C756A3B1-F794-D504-FF79-352572554494}"/>
              </a:ext>
            </a:extLst>
          </p:cNvPr>
          <p:cNvSpPr/>
          <p:nvPr/>
        </p:nvSpPr>
        <p:spPr>
          <a:xfrm>
            <a:off x="522613" y="2141065"/>
            <a:ext cx="1563145"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b="1" dirty="0">
                <a:cs typeface="B Nazanin" panose="00000400000000000000" pitchFamily="2" charset="-78"/>
              </a:rPr>
              <a:t>2. اراضی موات</a:t>
            </a:r>
            <a:endParaRPr lang="en-US" b="1" dirty="0">
              <a:cs typeface="B Nazanin" panose="00000400000000000000" pitchFamily="2" charset="-78"/>
            </a:endParaRPr>
          </a:p>
        </p:txBody>
      </p:sp>
      <p:sp>
        <p:nvSpPr>
          <p:cNvPr id="7" name="Rectangle: Rounded Corners 6">
            <a:extLst>
              <a:ext uri="{FF2B5EF4-FFF2-40B4-BE49-F238E27FC236}">
                <a16:creationId xmlns:a16="http://schemas.microsoft.com/office/drawing/2014/main" id="{20E7C90F-45D3-67FC-5C4F-749A04B8D9D2}"/>
              </a:ext>
            </a:extLst>
          </p:cNvPr>
          <p:cNvSpPr/>
          <p:nvPr/>
        </p:nvSpPr>
        <p:spPr>
          <a:xfrm>
            <a:off x="522613" y="2954890"/>
            <a:ext cx="1563145"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cs typeface="B Nazanin" panose="00000400000000000000" pitchFamily="2" charset="-78"/>
              </a:rPr>
              <a:t>3. اراضی بایر</a:t>
            </a:r>
            <a:endParaRPr lang="en-US" b="1" dirty="0">
              <a:cs typeface="B Nazanin" panose="00000400000000000000" pitchFamily="2" charset="-78"/>
            </a:endParaRPr>
          </a:p>
        </p:txBody>
      </p:sp>
      <p:sp>
        <p:nvSpPr>
          <p:cNvPr id="8" name="Rectangle: Rounded Corners 7">
            <a:extLst>
              <a:ext uri="{FF2B5EF4-FFF2-40B4-BE49-F238E27FC236}">
                <a16:creationId xmlns:a16="http://schemas.microsoft.com/office/drawing/2014/main" id="{81EBB574-DFD6-5284-1341-37FC9368DE22}"/>
              </a:ext>
            </a:extLst>
          </p:cNvPr>
          <p:cNvSpPr/>
          <p:nvPr/>
        </p:nvSpPr>
        <p:spPr>
          <a:xfrm>
            <a:off x="522614" y="3833882"/>
            <a:ext cx="1563145"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cs typeface="B Nazanin" panose="00000400000000000000" pitchFamily="2" charset="-78"/>
              </a:rPr>
              <a:t>4. اراضی دایر</a:t>
            </a:r>
            <a:endParaRPr lang="en-US" b="1" dirty="0">
              <a:cs typeface="B Nazanin" panose="00000400000000000000" pitchFamily="2" charset="-78"/>
            </a:endParaRPr>
          </a:p>
        </p:txBody>
      </p:sp>
    </p:spTree>
    <p:extLst>
      <p:ext uri="{BB962C8B-B14F-4D97-AF65-F5344CB8AC3E}">
        <p14:creationId xmlns:p14="http://schemas.microsoft.com/office/powerpoint/2010/main" val="6862341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97"/>
        <p:cNvGrpSpPr/>
        <p:nvPr/>
      </p:nvGrpSpPr>
      <p:grpSpPr>
        <a:xfrm>
          <a:off x="0" y="0"/>
          <a:ext cx="0" cy="0"/>
          <a:chOff x="0" y="0"/>
          <a:chExt cx="0" cy="0"/>
        </a:xfrm>
      </p:grpSpPr>
      <p:sp>
        <p:nvSpPr>
          <p:cNvPr id="2" name="Rectangle 1">
            <a:extLst>
              <a:ext uri="{FF2B5EF4-FFF2-40B4-BE49-F238E27FC236}">
                <a16:creationId xmlns:a16="http://schemas.microsoft.com/office/drawing/2014/main" id="{B240E718-3BAE-0378-006C-FC79012305D0}"/>
              </a:ext>
            </a:extLst>
          </p:cNvPr>
          <p:cNvSpPr/>
          <p:nvPr/>
        </p:nvSpPr>
        <p:spPr>
          <a:xfrm rot="5400000">
            <a:off x="4025532" y="25033"/>
            <a:ext cx="5143500" cy="509343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04" name="Google Shape;604;p47"/>
          <p:cNvCxnSpPr>
            <a:cxnSpLocks/>
          </p:cNvCxnSpPr>
          <p:nvPr/>
        </p:nvCxnSpPr>
        <p:spPr>
          <a:xfrm rot="5400000">
            <a:off x="-1419896" y="5016235"/>
            <a:ext cx="3626382" cy="0"/>
          </a:xfrm>
          <a:prstGeom prst="straightConnector1">
            <a:avLst/>
          </a:prstGeom>
          <a:ln>
            <a:headEnd type="none" w="sm" len="sm"/>
            <a:tailEnd type="none" w="sm" len="sm"/>
          </a:ln>
        </p:spPr>
        <p:style>
          <a:lnRef idx="1">
            <a:schemeClr val="dk1"/>
          </a:lnRef>
          <a:fillRef idx="0">
            <a:schemeClr val="dk1"/>
          </a:fillRef>
          <a:effectRef idx="0">
            <a:schemeClr val="dk1"/>
          </a:effectRef>
          <a:fontRef idx="minor">
            <a:schemeClr val="tx1"/>
          </a:fontRef>
        </p:style>
      </p:cxnSp>
      <p:cxnSp>
        <p:nvCxnSpPr>
          <p:cNvPr id="605" name="Google Shape;605;p47"/>
          <p:cNvCxnSpPr/>
          <p:nvPr/>
        </p:nvCxnSpPr>
        <p:spPr>
          <a:xfrm rot="5400000">
            <a:off x="6937513" y="355759"/>
            <a:ext cx="3626382" cy="0"/>
          </a:xfrm>
          <a:prstGeom prst="straightConnector1">
            <a:avLst/>
          </a:prstGeom>
          <a:noFill/>
          <a:ln w="9525" cap="flat" cmpd="sng">
            <a:solidFill>
              <a:srgbClr val="FFFFFF"/>
            </a:solidFill>
            <a:prstDash val="solid"/>
            <a:round/>
            <a:headEnd type="none" w="sm" len="sm"/>
            <a:tailEnd type="none" w="sm" len="sm"/>
          </a:ln>
        </p:spPr>
      </p:cxnSp>
      <p:grpSp>
        <p:nvGrpSpPr>
          <p:cNvPr id="606" name="Google Shape;606;p47"/>
          <p:cNvGrpSpPr/>
          <p:nvPr/>
        </p:nvGrpSpPr>
        <p:grpSpPr>
          <a:xfrm>
            <a:off x="8837359" y="-72330"/>
            <a:ext cx="1543051" cy="5808473"/>
            <a:chOff x="0" y="-38100"/>
            <a:chExt cx="812800" cy="3059607"/>
          </a:xfrm>
        </p:grpSpPr>
        <p:sp>
          <p:nvSpPr>
            <p:cNvPr id="607" name="Google Shape;607;p47"/>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608" name="Google Shape;608;p47"/>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defTabSz="914400" rtl="0" eaLnBrk="1" fontAlgn="auto" latinLnBrk="0" hangingPunct="1">
                <a:lnSpc>
                  <a:spcPct val="163333"/>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B Nazanin" panose="00000700000000000000" pitchFamily="2" charset="-78"/>
                <a:sym typeface="Calibri"/>
              </a:endParaRPr>
            </a:p>
          </p:txBody>
        </p:sp>
      </p:grpSp>
      <p:sp>
        <p:nvSpPr>
          <p:cNvPr id="609" name="Google Shape;609;p47"/>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60000"/>
              </a:lnSpc>
              <a:spcBef>
                <a:spcPts val="0"/>
              </a:spcBef>
              <a:spcAft>
                <a:spcPts val="0"/>
              </a:spcAft>
              <a:buClr>
                <a:srgbClr val="000000"/>
              </a:buClr>
              <a:buSzTx/>
              <a:buFont typeface="Arial"/>
              <a:buNone/>
              <a:tabLst/>
              <a:defRPr/>
            </a:pPr>
            <a:r>
              <a:rPr kumimoji="0" lang="en" sz="700" b="1" i="0" u="none" strike="noStrike" kern="0" cap="none" spc="0" normalizeH="0" baseline="0" noProof="0">
                <a:ln>
                  <a:noFill/>
                </a:ln>
                <a:solidFill>
                  <a:srgbClr val="FFFFFF"/>
                </a:solidFill>
                <a:effectLst/>
                <a:uLnTx/>
                <a:uFillTx/>
                <a:latin typeface="Open Sans"/>
                <a:ea typeface="Open Sans"/>
                <a:cs typeface="B Nazanin" panose="00000700000000000000" pitchFamily="2" charset="-78"/>
                <a:sym typeface="Open Sans"/>
              </a:rPr>
              <a:t>N  E  X  T</a:t>
            </a:r>
            <a:endParaRPr kumimoji="0" sz="700" b="0" i="0" u="none" strike="noStrike" kern="0" cap="none" spc="0" normalizeH="0" baseline="0" noProof="0">
              <a:ln>
                <a:noFill/>
              </a:ln>
              <a:solidFill>
                <a:srgbClr val="000000"/>
              </a:solidFill>
              <a:effectLst/>
              <a:uLnTx/>
              <a:uFillTx/>
              <a:latin typeface="Arial"/>
              <a:cs typeface="B Nazanin" panose="00000700000000000000" pitchFamily="2" charset="-78"/>
              <a:sym typeface="Arial"/>
            </a:endParaRPr>
          </a:p>
        </p:txBody>
      </p:sp>
      <p:sp>
        <p:nvSpPr>
          <p:cNvPr id="3" name="TextBox 2">
            <a:extLst>
              <a:ext uri="{FF2B5EF4-FFF2-40B4-BE49-F238E27FC236}">
                <a16:creationId xmlns:a16="http://schemas.microsoft.com/office/drawing/2014/main" id="{192C8929-2433-CE51-19F6-F9A83DB6AD4C}"/>
              </a:ext>
            </a:extLst>
          </p:cNvPr>
          <p:cNvSpPr txBox="1"/>
          <p:nvPr/>
        </p:nvSpPr>
        <p:spPr>
          <a:xfrm>
            <a:off x="4050566" y="173812"/>
            <a:ext cx="4215663" cy="523220"/>
          </a:xfrm>
          <a:prstGeom prst="rect">
            <a:avLst/>
          </a:prstGeom>
          <a:noFill/>
        </p:spPr>
        <p:txBody>
          <a:bodyPr wrap="square" rtlCol="0">
            <a:spAutoFit/>
          </a:bodyPr>
          <a:lstStyle/>
          <a:p>
            <a:pPr algn="r" rtl="1"/>
            <a:r>
              <a:rPr lang="fa-IR" sz="2800" dirty="0">
                <a:solidFill>
                  <a:schemeClr val="tx1"/>
                </a:solidFill>
                <a:cs typeface="B Nazanin" panose="00000400000000000000" pitchFamily="2" charset="-78"/>
              </a:rPr>
              <a:t>انواع اراضی</a:t>
            </a:r>
            <a:endParaRPr lang="en-US" sz="2800" dirty="0">
              <a:solidFill>
                <a:schemeClr val="tx1"/>
              </a:solidFill>
              <a:cs typeface="B Nazanin" panose="00000400000000000000" pitchFamily="2" charset="-78"/>
            </a:endParaRPr>
          </a:p>
        </p:txBody>
      </p:sp>
      <p:sp>
        <p:nvSpPr>
          <p:cNvPr id="5" name="Rectangle: Rounded Corners 4">
            <a:extLst>
              <a:ext uri="{FF2B5EF4-FFF2-40B4-BE49-F238E27FC236}">
                <a16:creationId xmlns:a16="http://schemas.microsoft.com/office/drawing/2014/main" id="{4A159369-45E8-8A6F-53F8-16D40F484D1F}"/>
              </a:ext>
            </a:extLst>
          </p:cNvPr>
          <p:cNvSpPr/>
          <p:nvPr/>
        </p:nvSpPr>
        <p:spPr>
          <a:xfrm>
            <a:off x="522612" y="1080655"/>
            <a:ext cx="2189557" cy="8449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000" dirty="0">
                <a:latin typeface="IRTitr" panose="02000506000000020002" pitchFamily="2" charset="-78"/>
                <a:cs typeface="IRTitr" panose="02000506000000020002" pitchFamily="2" charset="-78"/>
              </a:rPr>
              <a:t>1. اراضی شهری</a:t>
            </a:r>
            <a:endParaRPr lang="en-US" sz="2000" dirty="0">
              <a:latin typeface="IRTitr" panose="02000506000000020002" pitchFamily="2" charset="-78"/>
              <a:cs typeface="IRTitr" panose="02000506000000020002" pitchFamily="2" charset="-78"/>
            </a:endParaRPr>
          </a:p>
        </p:txBody>
      </p:sp>
      <p:sp>
        <p:nvSpPr>
          <p:cNvPr id="6" name="Rectangle: Rounded Corners 5">
            <a:extLst>
              <a:ext uri="{FF2B5EF4-FFF2-40B4-BE49-F238E27FC236}">
                <a16:creationId xmlns:a16="http://schemas.microsoft.com/office/drawing/2014/main" id="{C756A3B1-F794-D504-FF79-352572554494}"/>
              </a:ext>
            </a:extLst>
          </p:cNvPr>
          <p:cNvSpPr/>
          <p:nvPr/>
        </p:nvSpPr>
        <p:spPr>
          <a:xfrm>
            <a:off x="522613" y="2141065"/>
            <a:ext cx="1563145"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b="1" dirty="0">
                <a:cs typeface="B Nazanin" panose="00000400000000000000" pitchFamily="2" charset="-78"/>
              </a:rPr>
              <a:t>2. اراضی موات</a:t>
            </a:r>
            <a:endParaRPr lang="en-US" b="1" dirty="0">
              <a:cs typeface="B Nazanin" panose="00000400000000000000" pitchFamily="2" charset="-78"/>
            </a:endParaRPr>
          </a:p>
        </p:txBody>
      </p:sp>
      <p:sp>
        <p:nvSpPr>
          <p:cNvPr id="7" name="Rectangle: Rounded Corners 6">
            <a:extLst>
              <a:ext uri="{FF2B5EF4-FFF2-40B4-BE49-F238E27FC236}">
                <a16:creationId xmlns:a16="http://schemas.microsoft.com/office/drawing/2014/main" id="{20E7C90F-45D3-67FC-5C4F-749A04B8D9D2}"/>
              </a:ext>
            </a:extLst>
          </p:cNvPr>
          <p:cNvSpPr/>
          <p:nvPr/>
        </p:nvSpPr>
        <p:spPr>
          <a:xfrm>
            <a:off x="522613" y="2954890"/>
            <a:ext cx="1563145"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cs typeface="B Nazanin" panose="00000400000000000000" pitchFamily="2" charset="-78"/>
              </a:rPr>
              <a:t>3. اراضی بایر</a:t>
            </a:r>
            <a:endParaRPr lang="en-US" b="1" dirty="0">
              <a:cs typeface="B Nazanin" panose="00000400000000000000" pitchFamily="2" charset="-78"/>
            </a:endParaRPr>
          </a:p>
        </p:txBody>
      </p:sp>
      <p:sp>
        <p:nvSpPr>
          <p:cNvPr id="8" name="Rectangle: Rounded Corners 7">
            <a:extLst>
              <a:ext uri="{FF2B5EF4-FFF2-40B4-BE49-F238E27FC236}">
                <a16:creationId xmlns:a16="http://schemas.microsoft.com/office/drawing/2014/main" id="{81EBB574-DFD6-5284-1341-37FC9368DE22}"/>
              </a:ext>
            </a:extLst>
          </p:cNvPr>
          <p:cNvSpPr/>
          <p:nvPr/>
        </p:nvSpPr>
        <p:spPr>
          <a:xfrm>
            <a:off x="522614" y="3833882"/>
            <a:ext cx="1563145"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cs typeface="B Nazanin" panose="00000400000000000000" pitchFamily="2" charset="-78"/>
              </a:rPr>
              <a:t>4. اراضی دایر</a:t>
            </a:r>
            <a:endParaRPr lang="en-US" b="1" dirty="0">
              <a:cs typeface="B Nazanin" panose="00000400000000000000" pitchFamily="2" charset="-78"/>
            </a:endParaRPr>
          </a:p>
        </p:txBody>
      </p:sp>
      <p:sp>
        <p:nvSpPr>
          <p:cNvPr id="4" name="Rectangle 3">
            <a:extLst>
              <a:ext uri="{FF2B5EF4-FFF2-40B4-BE49-F238E27FC236}">
                <a16:creationId xmlns:a16="http://schemas.microsoft.com/office/drawing/2014/main" id="{3F9C0136-F48E-FE54-9996-3C24BC4E4E8E}"/>
              </a:ext>
            </a:extLst>
          </p:cNvPr>
          <p:cNvSpPr/>
          <p:nvPr/>
        </p:nvSpPr>
        <p:spPr>
          <a:xfrm>
            <a:off x="4050563" y="1080655"/>
            <a:ext cx="4700135" cy="9144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r" rtl="1"/>
            <a:r>
              <a:rPr lang="fa-IR" dirty="0">
                <a:cs typeface="B Nazanin" panose="00000400000000000000" pitchFamily="2" charset="-78"/>
              </a:rPr>
              <a:t>اراضي شهري زمينهایي است كه در محدوده قانوني و حريم استحفاظي شهرها و شهرک ها قرار گرفته است.</a:t>
            </a:r>
            <a:endParaRPr lang="en-US" dirty="0">
              <a:cs typeface="B Nazanin" panose="00000400000000000000" pitchFamily="2" charset="-78"/>
            </a:endParaRPr>
          </a:p>
        </p:txBody>
      </p:sp>
    </p:spTree>
    <p:extLst>
      <p:ext uri="{BB962C8B-B14F-4D97-AF65-F5344CB8AC3E}">
        <p14:creationId xmlns:p14="http://schemas.microsoft.com/office/powerpoint/2010/main" val="1247863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97"/>
        <p:cNvGrpSpPr/>
        <p:nvPr/>
      </p:nvGrpSpPr>
      <p:grpSpPr>
        <a:xfrm>
          <a:off x="0" y="0"/>
          <a:ext cx="0" cy="0"/>
          <a:chOff x="0" y="0"/>
          <a:chExt cx="0" cy="0"/>
        </a:xfrm>
      </p:grpSpPr>
      <p:sp>
        <p:nvSpPr>
          <p:cNvPr id="2" name="Rectangle 1">
            <a:extLst>
              <a:ext uri="{FF2B5EF4-FFF2-40B4-BE49-F238E27FC236}">
                <a16:creationId xmlns:a16="http://schemas.microsoft.com/office/drawing/2014/main" id="{B240E718-3BAE-0378-006C-FC79012305D0}"/>
              </a:ext>
            </a:extLst>
          </p:cNvPr>
          <p:cNvSpPr/>
          <p:nvPr/>
        </p:nvSpPr>
        <p:spPr>
          <a:xfrm rot="5400000">
            <a:off x="4025532" y="25033"/>
            <a:ext cx="5143500" cy="509343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04" name="Google Shape;604;p47"/>
          <p:cNvCxnSpPr>
            <a:cxnSpLocks/>
          </p:cNvCxnSpPr>
          <p:nvPr/>
        </p:nvCxnSpPr>
        <p:spPr>
          <a:xfrm rot="5400000">
            <a:off x="-1419896" y="5016235"/>
            <a:ext cx="3626382" cy="0"/>
          </a:xfrm>
          <a:prstGeom prst="straightConnector1">
            <a:avLst/>
          </a:prstGeom>
          <a:ln>
            <a:headEnd type="none" w="sm" len="sm"/>
            <a:tailEnd type="none" w="sm" len="sm"/>
          </a:ln>
        </p:spPr>
        <p:style>
          <a:lnRef idx="1">
            <a:schemeClr val="dk1"/>
          </a:lnRef>
          <a:fillRef idx="0">
            <a:schemeClr val="dk1"/>
          </a:fillRef>
          <a:effectRef idx="0">
            <a:schemeClr val="dk1"/>
          </a:effectRef>
          <a:fontRef idx="minor">
            <a:schemeClr val="tx1"/>
          </a:fontRef>
        </p:style>
      </p:cxnSp>
      <p:cxnSp>
        <p:nvCxnSpPr>
          <p:cNvPr id="605" name="Google Shape;605;p47"/>
          <p:cNvCxnSpPr/>
          <p:nvPr/>
        </p:nvCxnSpPr>
        <p:spPr>
          <a:xfrm rot="5400000">
            <a:off x="6937513" y="355759"/>
            <a:ext cx="3626382" cy="0"/>
          </a:xfrm>
          <a:prstGeom prst="straightConnector1">
            <a:avLst/>
          </a:prstGeom>
          <a:noFill/>
          <a:ln w="9525" cap="flat" cmpd="sng">
            <a:solidFill>
              <a:srgbClr val="FFFFFF"/>
            </a:solidFill>
            <a:prstDash val="solid"/>
            <a:round/>
            <a:headEnd type="none" w="sm" len="sm"/>
            <a:tailEnd type="none" w="sm" len="sm"/>
          </a:ln>
        </p:spPr>
      </p:cxnSp>
      <p:grpSp>
        <p:nvGrpSpPr>
          <p:cNvPr id="606" name="Google Shape;606;p47"/>
          <p:cNvGrpSpPr/>
          <p:nvPr/>
        </p:nvGrpSpPr>
        <p:grpSpPr>
          <a:xfrm>
            <a:off x="8837359" y="-72330"/>
            <a:ext cx="1543051" cy="5808473"/>
            <a:chOff x="0" y="-38100"/>
            <a:chExt cx="812800" cy="3059607"/>
          </a:xfrm>
        </p:grpSpPr>
        <p:sp>
          <p:nvSpPr>
            <p:cNvPr id="607" name="Google Shape;607;p47"/>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608" name="Google Shape;608;p47"/>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defTabSz="914400" rtl="0" eaLnBrk="1" fontAlgn="auto" latinLnBrk="0" hangingPunct="1">
                <a:lnSpc>
                  <a:spcPct val="163333"/>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B Nazanin" panose="00000700000000000000" pitchFamily="2" charset="-78"/>
                <a:sym typeface="Calibri"/>
              </a:endParaRPr>
            </a:p>
          </p:txBody>
        </p:sp>
      </p:grpSp>
      <p:sp>
        <p:nvSpPr>
          <p:cNvPr id="609" name="Google Shape;609;p47"/>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60000"/>
              </a:lnSpc>
              <a:spcBef>
                <a:spcPts val="0"/>
              </a:spcBef>
              <a:spcAft>
                <a:spcPts val="0"/>
              </a:spcAft>
              <a:buClr>
                <a:srgbClr val="000000"/>
              </a:buClr>
              <a:buSzTx/>
              <a:buFont typeface="Arial"/>
              <a:buNone/>
              <a:tabLst/>
              <a:defRPr/>
            </a:pPr>
            <a:r>
              <a:rPr kumimoji="0" lang="en" sz="700" b="1" i="0" u="none" strike="noStrike" kern="0" cap="none" spc="0" normalizeH="0" baseline="0" noProof="0">
                <a:ln>
                  <a:noFill/>
                </a:ln>
                <a:solidFill>
                  <a:srgbClr val="FFFFFF"/>
                </a:solidFill>
                <a:effectLst/>
                <a:uLnTx/>
                <a:uFillTx/>
                <a:latin typeface="Open Sans"/>
                <a:ea typeface="Open Sans"/>
                <a:cs typeface="B Nazanin" panose="00000700000000000000" pitchFamily="2" charset="-78"/>
                <a:sym typeface="Open Sans"/>
              </a:rPr>
              <a:t>N  E  X  T</a:t>
            </a:r>
            <a:endParaRPr kumimoji="0" sz="700" b="0" i="0" u="none" strike="noStrike" kern="0" cap="none" spc="0" normalizeH="0" baseline="0" noProof="0">
              <a:ln>
                <a:noFill/>
              </a:ln>
              <a:solidFill>
                <a:srgbClr val="000000"/>
              </a:solidFill>
              <a:effectLst/>
              <a:uLnTx/>
              <a:uFillTx/>
              <a:latin typeface="Arial"/>
              <a:cs typeface="B Nazanin" panose="00000700000000000000" pitchFamily="2" charset="-78"/>
              <a:sym typeface="Arial"/>
            </a:endParaRPr>
          </a:p>
        </p:txBody>
      </p:sp>
      <p:sp>
        <p:nvSpPr>
          <p:cNvPr id="3" name="TextBox 2">
            <a:extLst>
              <a:ext uri="{FF2B5EF4-FFF2-40B4-BE49-F238E27FC236}">
                <a16:creationId xmlns:a16="http://schemas.microsoft.com/office/drawing/2014/main" id="{192C8929-2433-CE51-19F6-F9A83DB6AD4C}"/>
              </a:ext>
            </a:extLst>
          </p:cNvPr>
          <p:cNvSpPr txBox="1"/>
          <p:nvPr/>
        </p:nvSpPr>
        <p:spPr>
          <a:xfrm>
            <a:off x="4050566" y="173812"/>
            <a:ext cx="4215663" cy="523220"/>
          </a:xfrm>
          <a:prstGeom prst="rect">
            <a:avLst/>
          </a:prstGeom>
          <a:noFill/>
        </p:spPr>
        <p:txBody>
          <a:bodyPr wrap="square" rtlCol="0">
            <a:spAutoFit/>
          </a:bodyPr>
          <a:lstStyle/>
          <a:p>
            <a:pPr algn="r" rtl="1"/>
            <a:r>
              <a:rPr lang="fa-IR" sz="2800" dirty="0">
                <a:solidFill>
                  <a:schemeClr val="tx1"/>
                </a:solidFill>
                <a:cs typeface="B Nazanin" panose="00000400000000000000" pitchFamily="2" charset="-78"/>
              </a:rPr>
              <a:t>انواع اراضی</a:t>
            </a:r>
            <a:endParaRPr lang="en-US" sz="2800" dirty="0">
              <a:solidFill>
                <a:schemeClr val="tx1"/>
              </a:solidFill>
              <a:cs typeface="B Nazanin" panose="00000400000000000000" pitchFamily="2" charset="-78"/>
            </a:endParaRPr>
          </a:p>
        </p:txBody>
      </p:sp>
      <p:sp>
        <p:nvSpPr>
          <p:cNvPr id="5" name="Rectangle: Rounded Corners 4">
            <a:extLst>
              <a:ext uri="{FF2B5EF4-FFF2-40B4-BE49-F238E27FC236}">
                <a16:creationId xmlns:a16="http://schemas.microsoft.com/office/drawing/2014/main" id="{4A159369-45E8-8A6F-53F8-16D40F484D1F}"/>
              </a:ext>
            </a:extLst>
          </p:cNvPr>
          <p:cNvSpPr/>
          <p:nvPr/>
        </p:nvSpPr>
        <p:spPr>
          <a:xfrm>
            <a:off x="522612" y="1080655"/>
            <a:ext cx="1563145"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latin typeface="IRTitr" panose="02000506000000020002" pitchFamily="2" charset="-78"/>
                <a:cs typeface="B Nazanin" panose="00000400000000000000" pitchFamily="2" charset="-78"/>
              </a:rPr>
              <a:t>1. اراضی شهری</a:t>
            </a:r>
            <a:endParaRPr lang="en-US" b="1" dirty="0">
              <a:latin typeface="IRTitr" panose="02000506000000020002" pitchFamily="2" charset="-78"/>
              <a:cs typeface="B Nazanin" panose="00000400000000000000" pitchFamily="2" charset="-78"/>
            </a:endParaRPr>
          </a:p>
        </p:txBody>
      </p:sp>
      <p:sp>
        <p:nvSpPr>
          <p:cNvPr id="6" name="Rectangle: Rounded Corners 5">
            <a:extLst>
              <a:ext uri="{FF2B5EF4-FFF2-40B4-BE49-F238E27FC236}">
                <a16:creationId xmlns:a16="http://schemas.microsoft.com/office/drawing/2014/main" id="{C756A3B1-F794-D504-FF79-352572554494}"/>
              </a:ext>
            </a:extLst>
          </p:cNvPr>
          <p:cNvSpPr/>
          <p:nvPr/>
        </p:nvSpPr>
        <p:spPr>
          <a:xfrm>
            <a:off x="522613" y="1899323"/>
            <a:ext cx="2189556" cy="8449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2000" dirty="0">
                <a:latin typeface="IRTitr" panose="02000506000000020002" pitchFamily="2" charset="-78"/>
                <a:cs typeface="IRTitr" panose="02000506000000020002" pitchFamily="2" charset="-78"/>
              </a:rPr>
              <a:t>2. اراضی موات</a:t>
            </a:r>
            <a:endParaRPr lang="en-US" sz="2000" dirty="0">
              <a:latin typeface="IRTitr" panose="02000506000000020002" pitchFamily="2" charset="-78"/>
              <a:cs typeface="IRTitr" panose="02000506000000020002" pitchFamily="2" charset="-78"/>
            </a:endParaRPr>
          </a:p>
        </p:txBody>
      </p:sp>
      <p:sp>
        <p:nvSpPr>
          <p:cNvPr id="7" name="Rectangle: Rounded Corners 6">
            <a:extLst>
              <a:ext uri="{FF2B5EF4-FFF2-40B4-BE49-F238E27FC236}">
                <a16:creationId xmlns:a16="http://schemas.microsoft.com/office/drawing/2014/main" id="{20E7C90F-45D3-67FC-5C4F-749A04B8D9D2}"/>
              </a:ext>
            </a:extLst>
          </p:cNvPr>
          <p:cNvSpPr/>
          <p:nvPr/>
        </p:nvSpPr>
        <p:spPr>
          <a:xfrm>
            <a:off x="522613" y="2954890"/>
            <a:ext cx="1563145"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cs typeface="B Nazanin" panose="00000400000000000000" pitchFamily="2" charset="-78"/>
              </a:rPr>
              <a:t>3. اراضی بایر</a:t>
            </a:r>
            <a:endParaRPr lang="en-US" b="1" dirty="0">
              <a:cs typeface="B Nazanin" panose="00000400000000000000" pitchFamily="2" charset="-78"/>
            </a:endParaRPr>
          </a:p>
        </p:txBody>
      </p:sp>
      <p:sp>
        <p:nvSpPr>
          <p:cNvPr id="8" name="Rectangle: Rounded Corners 7">
            <a:extLst>
              <a:ext uri="{FF2B5EF4-FFF2-40B4-BE49-F238E27FC236}">
                <a16:creationId xmlns:a16="http://schemas.microsoft.com/office/drawing/2014/main" id="{81EBB574-DFD6-5284-1341-37FC9368DE22}"/>
              </a:ext>
            </a:extLst>
          </p:cNvPr>
          <p:cNvSpPr/>
          <p:nvPr/>
        </p:nvSpPr>
        <p:spPr>
          <a:xfrm>
            <a:off x="522614" y="3833882"/>
            <a:ext cx="1563145"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cs typeface="B Nazanin" panose="00000400000000000000" pitchFamily="2" charset="-78"/>
              </a:rPr>
              <a:t>4. اراضی دایر</a:t>
            </a:r>
            <a:endParaRPr lang="en-US" b="1" dirty="0">
              <a:cs typeface="B Nazanin" panose="00000400000000000000" pitchFamily="2" charset="-78"/>
            </a:endParaRPr>
          </a:p>
        </p:txBody>
      </p:sp>
      <p:sp>
        <p:nvSpPr>
          <p:cNvPr id="4" name="Rectangle 3">
            <a:extLst>
              <a:ext uri="{FF2B5EF4-FFF2-40B4-BE49-F238E27FC236}">
                <a16:creationId xmlns:a16="http://schemas.microsoft.com/office/drawing/2014/main" id="{3F9C0136-F48E-FE54-9996-3C24BC4E4E8E}"/>
              </a:ext>
            </a:extLst>
          </p:cNvPr>
          <p:cNvSpPr/>
          <p:nvPr/>
        </p:nvSpPr>
        <p:spPr>
          <a:xfrm>
            <a:off x="4050563" y="1080655"/>
            <a:ext cx="4700135" cy="60324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r" rtl="1"/>
            <a:r>
              <a:rPr lang="fa-IR" sz="1200" dirty="0">
                <a:cs typeface="B Nazanin" panose="00000400000000000000" pitchFamily="2" charset="-78"/>
              </a:rPr>
              <a:t>اراضي شهري زمينهایي است كه در محدوده قانوني و حريم استحفاظي شهرها و شهرک ها قرار گرفته است.</a:t>
            </a:r>
            <a:endParaRPr lang="en-US" sz="1200" dirty="0">
              <a:cs typeface="B Nazanin" panose="00000400000000000000" pitchFamily="2" charset="-78"/>
            </a:endParaRPr>
          </a:p>
        </p:txBody>
      </p:sp>
      <p:sp>
        <p:nvSpPr>
          <p:cNvPr id="9" name="Rectangle 8">
            <a:extLst>
              <a:ext uri="{FF2B5EF4-FFF2-40B4-BE49-F238E27FC236}">
                <a16:creationId xmlns:a16="http://schemas.microsoft.com/office/drawing/2014/main" id="{A6D52772-9FA1-D884-33B6-C1E97078786F}"/>
              </a:ext>
            </a:extLst>
          </p:cNvPr>
          <p:cNvSpPr/>
          <p:nvPr/>
        </p:nvSpPr>
        <p:spPr>
          <a:xfrm>
            <a:off x="4050563" y="1882592"/>
            <a:ext cx="4700135" cy="9144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r" rtl="1"/>
            <a:r>
              <a:rPr lang="fa-IR" dirty="0">
                <a:cs typeface="B Nazanin" panose="00000400000000000000" pitchFamily="2" charset="-78"/>
              </a:rPr>
              <a:t>اراضي موات شهري زمينهائي است كه سابقه عمران و احياء نداشته باشد.</a:t>
            </a:r>
            <a:endParaRPr lang="en-US" dirty="0">
              <a:cs typeface="B Nazanin" panose="00000400000000000000" pitchFamily="2" charset="-78"/>
            </a:endParaRPr>
          </a:p>
        </p:txBody>
      </p:sp>
    </p:spTree>
    <p:extLst>
      <p:ext uri="{BB962C8B-B14F-4D97-AF65-F5344CB8AC3E}">
        <p14:creationId xmlns:p14="http://schemas.microsoft.com/office/powerpoint/2010/main" val="25626797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97"/>
        <p:cNvGrpSpPr/>
        <p:nvPr/>
      </p:nvGrpSpPr>
      <p:grpSpPr>
        <a:xfrm>
          <a:off x="0" y="0"/>
          <a:ext cx="0" cy="0"/>
          <a:chOff x="0" y="0"/>
          <a:chExt cx="0" cy="0"/>
        </a:xfrm>
      </p:grpSpPr>
      <p:sp>
        <p:nvSpPr>
          <p:cNvPr id="2" name="Rectangle 1">
            <a:extLst>
              <a:ext uri="{FF2B5EF4-FFF2-40B4-BE49-F238E27FC236}">
                <a16:creationId xmlns:a16="http://schemas.microsoft.com/office/drawing/2014/main" id="{B240E718-3BAE-0378-006C-FC79012305D0}"/>
              </a:ext>
            </a:extLst>
          </p:cNvPr>
          <p:cNvSpPr/>
          <p:nvPr/>
        </p:nvSpPr>
        <p:spPr>
          <a:xfrm rot="5400000">
            <a:off x="4025532" y="25033"/>
            <a:ext cx="5143500" cy="509343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04" name="Google Shape;604;p47"/>
          <p:cNvCxnSpPr>
            <a:cxnSpLocks/>
          </p:cNvCxnSpPr>
          <p:nvPr/>
        </p:nvCxnSpPr>
        <p:spPr>
          <a:xfrm rot="5400000">
            <a:off x="-1419896" y="5016235"/>
            <a:ext cx="3626382" cy="0"/>
          </a:xfrm>
          <a:prstGeom prst="straightConnector1">
            <a:avLst/>
          </a:prstGeom>
          <a:ln>
            <a:headEnd type="none" w="sm" len="sm"/>
            <a:tailEnd type="none" w="sm" len="sm"/>
          </a:ln>
        </p:spPr>
        <p:style>
          <a:lnRef idx="1">
            <a:schemeClr val="dk1"/>
          </a:lnRef>
          <a:fillRef idx="0">
            <a:schemeClr val="dk1"/>
          </a:fillRef>
          <a:effectRef idx="0">
            <a:schemeClr val="dk1"/>
          </a:effectRef>
          <a:fontRef idx="minor">
            <a:schemeClr val="tx1"/>
          </a:fontRef>
        </p:style>
      </p:cxnSp>
      <p:cxnSp>
        <p:nvCxnSpPr>
          <p:cNvPr id="605" name="Google Shape;605;p47"/>
          <p:cNvCxnSpPr/>
          <p:nvPr/>
        </p:nvCxnSpPr>
        <p:spPr>
          <a:xfrm rot="5400000">
            <a:off x="6937513" y="355759"/>
            <a:ext cx="3626382" cy="0"/>
          </a:xfrm>
          <a:prstGeom prst="straightConnector1">
            <a:avLst/>
          </a:prstGeom>
          <a:noFill/>
          <a:ln w="9525" cap="flat" cmpd="sng">
            <a:solidFill>
              <a:srgbClr val="FFFFFF"/>
            </a:solidFill>
            <a:prstDash val="solid"/>
            <a:round/>
            <a:headEnd type="none" w="sm" len="sm"/>
            <a:tailEnd type="none" w="sm" len="sm"/>
          </a:ln>
        </p:spPr>
      </p:cxnSp>
      <p:grpSp>
        <p:nvGrpSpPr>
          <p:cNvPr id="606" name="Google Shape;606;p47"/>
          <p:cNvGrpSpPr/>
          <p:nvPr/>
        </p:nvGrpSpPr>
        <p:grpSpPr>
          <a:xfrm>
            <a:off x="8837359" y="-72330"/>
            <a:ext cx="1543051" cy="5808473"/>
            <a:chOff x="0" y="-38100"/>
            <a:chExt cx="812800" cy="3059607"/>
          </a:xfrm>
        </p:grpSpPr>
        <p:sp>
          <p:nvSpPr>
            <p:cNvPr id="607" name="Google Shape;607;p47"/>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608" name="Google Shape;608;p47"/>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defTabSz="914400" rtl="0" eaLnBrk="1" fontAlgn="auto" latinLnBrk="0" hangingPunct="1">
                <a:lnSpc>
                  <a:spcPct val="163333"/>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B Nazanin" panose="00000700000000000000" pitchFamily="2" charset="-78"/>
                <a:sym typeface="Calibri"/>
              </a:endParaRPr>
            </a:p>
          </p:txBody>
        </p:sp>
      </p:grpSp>
      <p:sp>
        <p:nvSpPr>
          <p:cNvPr id="609" name="Google Shape;609;p47"/>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60000"/>
              </a:lnSpc>
              <a:spcBef>
                <a:spcPts val="0"/>
              </a:spcBef>
              <a:spcAft>
                <a:spcPts val="0"/>
              </a:spcAft>
              <a:buClr>
                <a:srgbClr val="000000"/>
              </a:buClr>
              <a:buSzTx/>
              <a:buFont typeface="Arial"/>
              <a:buNone/>
              <a:tabLst/>
              <a:defRPr/>
            </a:pPr>
            <a:r>
              <a:rPr kumimoji="0" lang="en" sz="700" b="1" i="0" u="none" strike="noStrike" kern="0" cap="none" spc="0" normalizeH="0" baseline="0" noProof="0">
                <a:ln>
                  <a:noFill/>
                </a:ln>
                <a:solidFill>
                  <a:srgbClr val="FFFFFF"/>
                </a:solidFill>
                <a:effectLst/>
                <a:uLnTx/>
                <a:uFillTx/>
                <a:latin typeface="Open Sans"/>
                <a:ea typeface="Open Sans"/>
                <a:cs typeface="B Nazanin" panose="00000700000000000000" pitchFamily="2" charset="-78"/>
                <a:sym typeface="Open Sans"/>
              </a:rPr>
              <a:t>N  E  X  T</a:t>
            </a:r>
            <a:endParaRPr kumimoji="0" sz="700" b="0" i="0" u="none" strike="noStrike" kern="0" cap="none" spc="0" normalizeH="0" baseline="0" noProof="0">
              <a:ln>
                <a:noFill/>
              </a:ln>
              <a:solidFill>
                <a:srgbClr val="000000"/>
              </a:solidFill>
              <a:effectLst/>
              <a:uLnTx/>
              <a:uFillTx/>
              <a:latin typeface="Arial"/>
              <a:cs typeface="B Nazanin" panose="00000700000000000000" pitchFamily="2" charset="-78"/>
              <a:sym typeface="Arial"/>
            </a:endParaRPr>
          </a:p>
        </p:txBody>
      </p:sp>
      <p:sp>
        <p:nvSpPr>
          <p:cNvPr id="3" name="TextBox 2">
            <a:extLst>
              <a:ext uri="{FF2B5EF4-FFF2-40B4-BE49-F238E27FC236}">
                <a16:creationId xmlns:a16="http://schemas.microsoft.com/office/drawing/2014/main" id="{192C8929-2433-CE51-19F6-F9A83DB6AD4C}"/>
              </a:ext>
            </a:extLst>
          </p:cNvPr>
          <p:cNvSpPr txBox="1"/>
          <p:nvPr/>
        </p:nvSpPr>
        <p:spPr>
          <a:xfrm>
            <a:off x="4050566" y="173812"/>
            <a:ext cx="4215663" cy="523220"/>
          </a:xfrm>
          <a:prstGeom prst="rect">
            <a:avLst/>
          </a:prstGeom>
          <a:noFill/>
        </p:spPr>
        <p:txBody>
          <a:bodyPr wrap="square" rtlCol="0">
            <a:spAutoFit/>
          </a:bodyPr>
          <a:lstStyle/>
          <a:p>
            <a:pPr algn="r" rtl="1"/>
            <a:r>
              <a:rPr lang="fa-IR" sz="2800" dirty="0">
                <a:solidFill>
                  <a:schemeClr val="tx1"/>
                </a:solidFill>
                <a:cs typeface="B Nazanin" panose="00000400000000000000" pitchFamily="2" charset="-78"/>
              </a:rPr>
              <a:t>انواع اراضی</a:t>
            </a:r>
            <a:endParaRPr lang="en-US" sz="2800" dirty="0">
              <a:solidFill>
                <a:schemeClr val="tx1"/>
              </a:solidFill>
              <a:cs typeface="B Nazanin" panose="00000400000000000000" pitchFamily="2" charset="-78"/>
            </a:endParaRPr>
          </a:p>
        </p:txBody>
      </p:sp>
      <p:sp>
        <p:nvSpPr>
          <p:cNvPr id="5" name="Rectangle: Rounded Corners 4">
            <a:extLst>
              <a:ext uri="{FF2B5EF4-FFF2-40B4-BE49-F238E27FC236}">
                <a16:creationId xmlns:a16="http://schemas.microsoft.com/office/drawing/2014/main" id="{4A159369-45E8-8A6F-53F8-16D40F484D1F}"/>
              </a:ext>
            </a:extLst>
          </p:cNvPr>
          <p:cNvSpPr/>
          <p:nvPr/>
        </p:nvSpPr>
        <p:spPr>
          <a:xfrm>
            <a:off x="522612" y="1080655"/>
            <a:ext cx="1563145"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latin typeface="IRTitr" panose="02000506000000020002" pitchFamily="2" charset="-78"/>
                <a:cs typeface="B Nazanin" panose="00000400000000000000" pitchFamily="2" charset="-78"/>
              </a:rPr>
              <a:t>1. اراضی شهری</a:t>
            </a:r>
            <a:endParaRPr lang="en-US" b="1" dirty="0">
              <a:latin typeface="IRTitr" panose="02000506000000020002" pitchFamily="2" charset="-78"/>
              <a:cs typeface="B Nazanin" panose="00000400000000000000" pitchFamily="2" charset="-78"/>
            </a:endParaRPr>
          </a:p>
        </p:txBody>
      </p:sp>
      <p:sp>
        <p:nvSpPr>
          <p:cNvPr id="6" name="Rectangle: Rounded Corners 5">
            <a:extLst>
              <a:ext uri="{FF2B5EF4-FFF2-40B4-BE49-F238E27FC236}">
                <a16:creationId xmlns:a16="http://schemas.microsoft.com/office/drawing/2014/main" id="{C756A3B1-F794-D504-FF79-352572554494}"/>
              </a:ext>
            </a:extLst>
          </p:cNvPr>
          <p:cNvSpPr/>
          <p:nvPr/>
        </p:nvSpPr>
        <p:spPr>
          <a:xfrm>
            <a:off x="522613" y="1899323"/>
            <a:ext cx="1563144"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b="1" dirty="0">
                <a:latin typeface="IRTitr" panose="02000506000000020002" pitchFamily="2" charset="-78"/>
                <a:cs typeface="B Nazanin" panose="00000400000000000000" pitchFamily="2" charset="-78"/>
              </a:rPr>
              <a:t>2. اراضی موات</a:t>
            </a:r>
            <a:endParaRPr lang="en-US" b="1" dirty="0">
              <a:latin typeface="IRTitr" panose="02000506000000020002" pitchFamily="2" charset="-78"/>
              <a:cs typeface="B Nazanin" panose="00000400000000000000" pitchFamily="2" charset="-78"/>
            </a:endParaRPr>
          </a:p>
        </p:txBody>
      </p:sp>
      <p:sp>
        <p:nvSpPr>
          <p:cNvPr id="7" name="Rectangle: Rounded Corners 6">
            <a:extLst>
              <a:ext uri="{FF2B5EF4-FFF2-40B4-BE49-F238E27FC236}">
                <a16:creationId xmlns:a16="http://schemas.microsoft.com/office/drawing/2014/main" id="{20E7C90F-45D3-67FC-5C4F-749A04B8D9D2}"/>
              </a:ext>
            </a:extLst>
          </p:cNvPr>
          <p:cNvSpPr/>
          <p:nvPr/>
        </p:nvSpPr>
        <p:spPr>
          <a:xfrm>
            <a:off x="522613" y="2713148"/>
            <a:ext cx="2189557" cy="8449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000" dirty="0">
                <a:latin typeface="IRTitr" panose="02000506000000020002" pitchFamily="2" charset="-78"/>
                <a:cs typeface="IRTitr" panose="02000506000000020002" pitchFamily="2" charset="-78"/>
              </a:rPr>
              <a:t>3. اراضی بایر</a:t>
            </a:r>
            <a:endParaRPr lang="en-US" sz="2000" dirty="0">
              <a:latin typeface="IRTitr" panose="02000506000000020002" pitchFamily="2" charset="-78"/>
              <a:cs typeface="IRTitr" panose="02000506000000020002" pitchFamily="2" charset="-78"/>
            </a:endParaRPr>
          </a:p>
        </p:txBody>
      </p:sp>
      <p:sp>
        <p:nvSpPr>
          <p:cNvPr id="8" name="Rectangle: Rounded Corners 7">
            <a:extLst>
              <a:ext uri="{FF2B5EF4-FFF2-40B4-BE49-F238E27FC236}">
                <a16:creationId xmlns:a16="http://schemas.microsoft.com/office/drawing/2014/main" id="{81EBB574-DFD6-5284-1341-37FC9368DE22}"/>
              </a:ext>
            </a:extLst>
          </p:cNvPr>
          <p:cNvSpPr/>
          <p:nvPr/>
        </p:nvSpPr>
        <p:spPr>
          <a:xfrm>
            <a:off x="522614" y="3833882"/>
            <a:ext cx="1563145"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cs typeface="B Nazanin" panose="00000400000000000000" pitchFamily="2" charset="-78"/>
              </a:rPr>
              <a:t>4. اراضی دایر</a:t>
            </a:r>
            <a:endParaRPr lang="en-US" b="1" dirty="0">
              <a:cs typeface="B Nazanin" panose="00000400000000000000" pitchFamily="2" charset="-78"/>
            </a:endParaRPr>
          </a:p>
        </p:txBody>
      </p:sp>
      <p:sp>
        <p:nvSpPr>
          <p:cNvPr id="4" name="Rectangle 3">
            <a:extLst>
              <a:ext uri="{FF2B5EF4-FFF2-40B4-BE49-F238E27FC236}">
                <a16:creationId xmlns:a16="http://schemas.microsoft.com/office/drawing/2014/main" id="{3F9C0136-F48E-FE54-9996-3C24BC4E4E8E}"/>
              </a:ext>
            </a:extLst>
          </p:cNvPr>
          <p:cNvSpPr/>
          <p:nvPr/>
        </p:nvSpPr>
        <p:spPr>
          <a:xfrm>
            <a:off x="4050563" y="1080655"/>
            <a:ext cx="4700135" cy="60324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r" rtl="1"/>
            <a:r>
              <a:rPr lang="fa-IR" sz="1200" dirty="0">
                <a:cs typeface="B Nazanin" panose="00000400000000000000" pitchFamily="2" charset="-78"/>
              </a:rPr>
              <a:t>اراضي شهري زمينهایي است كه در محدوده قانوني و حريم استحفاظي شهرها و شهرک ها قرار گرفته است.</a:t>
            </a:r>
            <a:endParaRPr lang="en-US" sz="1200" dirty="0">
              <a:cs typeface="B Nazanin" panose="00000400000000000000" pitchFamily="2" charset="-78"/>
            </a:endParaRPr>
          </a:p>
        </p:txBody>
      </p:sp>
      <p:sp>
        <p:nvSpPr>
          <p:cNvPr id="9" name="Rectangle 8">
            <a:extLst>
              <a:ext uri="{FF2B5EF4-FFF2-40B4-BE49-F238E27FC236}">
                <a16:creationId xmlns:a16="http://schemas.microsoft.com/office/drawing/2014/main" id="{A6D52772-9FA1-D884-33B6-C1E97078786F}"/>
              </a:ext>
            </a:extLst>
          </p:cNvPr>
          <p:cNvSpPr/>
          <p:nvPr/>
        </p:nvSpPr>
        <p:spPr>
          <a:xfrm>
            <a:off x="4050563" y="1899322"/>
            <a:ext cx="4700135" cy="60324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r" rtl="1"/>
            <a:r>
              <a:rPr lang="fa-IR" sz="1200" dirty="0">
                <a:cs typeface="B Nazanin" panose="00000400000000000000" pitchFamily="2" charset="-78"/>
              </a:rPr>
              <a:t>اراضي موات شهري زمينهائي است كه سابقه عمران و احياء نداشته باشد.</a:t>
            </a:r>
            <a:endParaRPr lang="en-US" sz="1200" dirty="0">
              <a:cs typeface="B Nazanin" panose="00000400000000000000" pitchFamily="2" charset="-78"/>
            </a:endParaRPr>
          </a:p>
        </p:txBody>
      </p:sp>
      <p:sp>
        <p:nvSpPr>
          <p:cNvPr id="10" name="Rectangle 9">
            <a:extLst>
              <a:ext uri="{FF2B5EF4-FFF2-40B4-BE49-F238E27FC236}">
                <a16:creationId xmlns:a16="http://schemas.microsoft.com/office/drawing/2014/main" id="{F4D901FD-CB78-B4DD-A74D-37A6A24E2CC4}"/>
              </a:ext>
            </a:extLst>
          </p:cNvPr>
          <p:cNvSpPr/>
          <p:nvPr/>
        </p:nvSpPr>
        <p:spPr>
          <a:xfrm>
            <a:off x="4050562" y="2741825"/>
            <a:ext cx="4700135" cy="9144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r" rtl="1"/>
            <a:r>
              <a:rPr lang="fa-IR" dirty="0">
                <a:cs typeface="B Nazanin" panose="00000400000000000000" pitchFamily="2" charset="-78"/>
              </a:rPr>
              <a:t>اراضي باير شهري زمينهایي است كه سابقه عمران و احياء داشته و به تدريج به حالت موات برگشته اعم از آنكه صاحب مشخصي داشته و يا نداشته باشد.</a:t>
            </a:r>
            <a:endParaRPr lang="en-US" dirty="0">
              <a:cs typeface="B Nazanin" panose="00000400000000000000" pitchFamily="2" charset="-78"/>
            </a:endParaRPr>
          </a:p>
        </p:txBody>
      </p:sp>
    </p:spTree>
    <p:extLst>
      <p:ext uri="{BB962C8B-B14F-4D97-AF65-F5344CB8AC3E}">
        <p14:creationId xmlns:p14="http://schemas.microsoft.com/office/powerpoint/2010/main" val="33600909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97"/>
        <p:cNvGrpSpPr/>
        <p:nvPr/>
      </p:nvGrpSpPr>
      <p:grpSpPr>
        <a:xfrm>
          <a:off x="0" y="0"/>
          <a:ext cx="0" cy="0"/>
          <a:chOff x="0" y="0"/>
          <a:chExt cx="0" cy="0"/>
        </a:xfrm>
      </p:grpSpPr>
      <p:sp>
        <p:nvSpPr>
          <p:cNvPr id="2" name="Rectangle 1">
            <a:extLst>
              <a:ext uri="{FF2B5EF4-FFF2-40B4-BE49-F238E27FC236}">
                <a16:creationId xmlns:a16="http://schemas.microsoft.com/office/drawing/2014/main" id="{B240E718-3BAE-0378-006C-FC79012305D0}"/>
              </a:ext>
            </a:extLst>
          </p:cNvPr>
          <p:cNvSpPr/>
          <p:nvPr/>
        </p:nvSpPr>
        <p:spPr>
          <a:xfrm rot="5400000">
            <a:off x="4025532" y="25033"/>
            <a:ext cx="5143500" cy="509343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04" name="Google Shape;604;p47"/>
          <p:cNvCxnSpPr>
            <a:cxnSpLocks/>
          </p:cNvCxnSpPr>
          <p:nvPr/>
        </p:nvCxnSpPr>
        <p:spPr>
          <a:xfrm rot="5400000">
            <a:off x="-1419896" y="5016235"/>
            <a:ext cx="3626382" cy="0"/>
          </a:xfrm>
          <a:prstGeom prst="straightConnector1">
            <a:avLst/>
          </a:prstGeom>
          <a:ln>
            <a:headEnd type="none" w="sm" len="sm"/>
            <a:tailEnd type="none" w="sm" len="sm"/>
          </a:ln>
        </p:spPr>
        <p:style>
          <a:lnRef idx="1">
            <a:schemeClr val="dk1"/>
          </a:lnRef>
          <a:fillRef idx="0">
            <a:schemeClr val="dk1"/>
          </a:fillRef>
          <a:effectRef idx="0">
            <a:schemeClr val="dk1"/>
          </a:effectRef>
          <a:fontRef idx="minor">
            <a:schemeClr val="tx1"/>
          </a:fontRef>
        </p:style>
      </p:cxnSp>
      <p:cxnSp>
        <p:nvCxnSpPr>
          <p:cNvPr id="605" name="Google Shape;605;p47"/>
          <p:cNvCxnSpPr/>
          <p:nvPr/>
        </p:nvCxnSpPr>
        <p:spPr>
          <a:xfrm rot="5400000">
            <a:off x="6937513" y="355759"/>
            <a:ext cx="3626382" cy="0"/>
          </a:xfrm>
          <a:prstGeom prst="straightConnector1">
            <a:avLst/>
          </a:prstGeom>
          <a:noFill/>
          <a:ln w="9525" cap="flat" cmpd="sng">
            <a:solidFill>
              <a:srgbClr val="FFFFFF"/>
            </a:solidFill>
            <a:prstDash val="solid"/>
            <a:round/>
            <a:headEnd type="none" w="sm" len="sm"/>
            <a:tailEnd type="none" w="sm" len="sm"/>
          </a:ln>
        </p:spPr>
      </p:cxnSp>
      <p:grpSp>
        <p:nvGrpSpPr>
          <p:cNvPr id="606" name="Google Shape;606;p47"/>
          <p:cNvGrpSpPr/>
          <p:nvPr/>
        </p:nvGrpSpPr>
        <p:grpSpPr>
          <a:xfrm>
            <a:off x="8837359" y="-72330"/>
            <a:ext cx="1543051" cy="5808473"/>
            <a:chOff x="0" y="-38100"/>
            <a:chExt cx="812800" cy="3059607"/>
          </a:xfrm>
        </p:grpSpPr>
        <p:sp>
          <p:nvSpPr>
            <p:cNvPr id="607" name="Google Shape;607;p47"/>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608" name="Google Shape;608;p47"/>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defTabSz="914400" rtl="0" eaLnBrk="1" fontAlgn="auto" latinLnBrk="0" hangingPunct="1">
                <a:lnSpc>
                  <a:spcPct val="163333"/>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B Nazanin" panose="00000700000000000000" pitchFamily="2" charset="-78"/>
                <a:sym typeface="Calibri"/>
              </a:endParaRPr>
            </a:p>
          </p:txBody>
        </p:sp>
      </p:grpSp>
      <p:sp>
        <p:nvSpPr>
          <p:cNvPr id="609" name="Google Shape;609;p47"/>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60000"/>
              </a:lnSpc>
              <a:spcBef>
                <a:spcPts val="0"/>
              </a:spcBef>
              <a:spcAft>
                <a:spcPts val="0"/>
              </a:spcAft>
              <a:buClr>
                <a:srgbClr val="000000"/>
              </a:buClr>
              <a:buSzTx/>
              <a:buFont typeface="Arial"/>
              <a:buNone/>
              <a:tabLst/>
              <a:defRPr/>
            </a:pPr>
            <a:r>
              <a:rPr kumimoji="0" lang="en" sz="700" b="1" i="0" u="none" strike="noStrike" kern="0" cap="none" spc="0" normalizeH="0" baseline="0" noProof="0">
                <a:ln>
                  <a:noFill/>
                </a:ln>
                <a:solidFill>
                  <a:srgbClr val="FFFFFF"/>
                </a:solidFill>
                <a:effectLst/>
                <a:uLnTx/>
                <a:uFillTx/>
                <a:latin typeface="Open Sans"/>
                <a:ea typeface="Open Sans"/>
                <a:cs typeface="B Nazanin" panose="00000700000000000000" pitchFamily="2" charset="-78"/>
                <a:sym typeface="Open Sans"/>
              </a:rPr>
              <a:t>N  E  X  T</a:t>
            </a:r>
            <a:endParaRPr kumimoji="0" sz="700" b="0" i="0" u="none" strike="noStrike" kern="0" cap="none" spc="0" normalizeH="0" baseline="0" noProof="0">
              <a:ln>
                <a:noFill/>
              </a:ln>
              <a:solidFill>
                <a:srgbClr val="000000"/>
              </a:solidFill>
              <a:effectLst/>
              <a:uLnTx/>
              <a:uFillTx/>
              <a:latin typeface="Arial"/>
              <a:cs typeface="B Nazanin" panose="00000700000000000000" pitchFamily="2" charset="-78"/>
              <a:sym typeface="Arial"/>
            </a:endParaRPr>
          </a:p>
        </p:txBody>
      </p:sp>
      <p:sp>
        <p:nvSpPr>
          <p:cNvPr id="3" name="TextBox 2">
            <a:extLst>
              <a:ext uri="{FF2B5EF4-FFF2-40B4-BE49-F238E27FC236}">
                <a16:creationId xmlns:a16="http://schemas.microsoft.com/office/drawing/2014/main" id="{192C8929-2433-CE51-19F6-F9A83DB6AD4C}"/>
              </a:ext>
            </a:extLst>
          </p:cNvPr>
          <p:cNvSpPr txBox="1"/>
          <p:nvPr/>
        </p:nvSpPr>
        <p:spPr>
          <a:xfrm>
            <a:off x="4050566" y="173812"/>
            <a:ext cx="4215663" cy="523220"/>
          </a:xfrm>
          <a:prstGeom prst="rect">
            <a:avLst/>
          </a:prstGeom>
          <a:noFill/>
        </p:spPr>
        <p:txBody>
          <a:bodyPr wrap="square" rtlCol="0">
            <a:spAutoFit/>
          </a:bodyPr>
          <a:lstStyle/>
          <a:p>
            <a:pPr algn="r" rtl="1"/>
            <a:r>
              <a:rPr lang="fa-IR" sz="2800" b="1" dirty="0">
                <a:solidFill>
                  <a:schemeClr val="tx1"/>
                </a:solidFill>
                <a:cs typeface="B Nazanin" panose="00000400000000000000" pitchFamily="2" charset="-78"/>
              </a:rPr>
              <a:t>انواع اراضی</a:t>
            </a:r>
            <a:endParaRPr lang="en-US" sz="2800" b="1" dirty="0">
              <a:solidFill>
                <a:schemeClr val="tx1"/>
              </a:solidFill>
              <a:cs typeface="B Nazanin" panose="00000400000000000000" pitchFamily="2" charset="-78"/>
            </a:endParaRPr>
          </a:p>
        </p:txBody>
      </p:sp>
      <p:sp>
        <p:nvSpPr>
          <p:cNvPr id="5" name="Rectangle: Rounded Corners 4">
            <a:extLst>
              <a:ext uri="{FF2B5EF4-FFF2-40B4-BE49-F238E27FC236}">
                <a16:creationId xmlns:a16="http://schemas.microsoft.com/office/drawing/2014/main" id="{4A159369-45E8-8A6F-53F8-16D40F484D1F}"/>
              </a:ext>
            </a:extLst>
          </p:cNvPr>
          <p:cNvSpPr/>
          <p:nvPr/>
        </p:nvSpPr>
        <p:spPr>
          <a:xfrm>
            <a:off x="522612" y="1080655"/>
            <a:ext cx="1563145"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latin typeface="IRTitr" panose="02000506000000020002" pitchFamily="2" charset="-78"/>
                <a:cs typeface="B Nazanin" panose="00000400000000000000" pitchFamily="2" charset="-78"/>
              </a:rPr>
              <a:t>1. اراضی شهری</a:t>
            </a:r>
            <a:endParaRPr lang="en-US" b="1" dirty="0">
              <a:latin typeface="IRTitr" panose="02000506000000020002" pitchFamily="2" charset="-78"/>
              <a:cs typeface="B Nazanin" panose="00000400000000000000" pitchFamily="2" charset="-78"/>
            </a:endParaRPr>
          </a:p>
        </p:txBody>
      </p:sp>
      <p:sp>
        <p:nvSpPr>
          <p:cNvPr id="6" name="Rectangle: Rounded Corners 5">
            <a:extLst>
              <a:ext uri="{FF2B5EF4-FFF2-40B4-BE49-F238E27FC236}">
                <a16:creationId xmlns:a16="http://schemas.microsoft.com/office/drawing/2014/main" id="{C756A3B1-F794-D504-FF79-352572554494}"/>
              </a:ext>
            </a:extLst>
          </p:cNvPr>
          <p:cNvSpPr/>
          <p:nvPr/>
        </p:nvSpPr>
        <p:spPr>
          <a:xfrm>
            <a:off x="522613" y="1899323"/>
            <a:ext cx="1563144"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b="1" dirty="0">
                <a:latin typeface="IRTitr" panose="02000506000000020002" pitchFamily="2" charset="-78"/>
                <a:cs typeface="B Nazanin" panose="00000400000000000000" pitchFamily="2" charset="-78"/>
              </a:rPr>
              <a:t>2. اراضی موات</a:t>
            </a:r>
            <a:endParaRPr lang="en-US" b="1" dirty="0">
              <a:latin typeface="IRTitr" panose="02000506000000020002" pitchFamily="2" charset="-78"/>
              <a:cs typeface="B Nazanin" panose="00000400000000000000" pitchFamily="2" charset="-78"/>
            </a:endParaRPr>
          </a:p>
        </p:txBody>
      </p:sp>
      <p:sp>
        <p:nvSpPr>
          <p:cNvPr id="7" name="Rectangle: Rounded Corners 6">
            <a:extLst>
              <a:ext uri="{FF2B5EF4-FFF2-40B4-BE49-F238E27FC236}">
                <a16:creationId xmlns:a16="http://schemas.microsoft.com/office/drawing/2014/main" id="{20E7C90F-45D3-67FC-5C4F-749A04B8D9D2}"/>
              </a:ext>
            </a:extLst>
          </p:cNvPr>
          <p:cNvSpPr/>
          <p:nvPr/>
        </p:nvSpPr>
        <p:spPr>
          <a:xfrm>
            <a:off x="522613" y="2713148"/>
            <a:ext cx="1563145"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latin typeface="IRTitr" panose="02000506000000020002" pitchFamily="2" charset="-78"/>
                <a:cs typeface="B Nazanin" panose="00000400000000000000" pitchFamily="2" charset="-78"/>
              </a:rPr>
              <a:t>3. اراضی بایر</a:t>
            </a:r>
            <a:endParaRPr lang="en-US" b="1" dirty="0">
              <a:latin typeface="IRTitr" panose="02000506000000020002" pitchFamily="2" charset="-78"/>
              <a:cs typeface="B Nazanin" panose="00000400000000000000" pitchFamily="2" charset="-78"/>
            </a:endParaRPr>
          </a:p>
        </p:txBody>
      </p:sp>
      <p:sp>
        <p:nvSpPr>
          <p:cNvPr id="8" name="Rectangle: Rounded Corners 7">
            <a:extLst>
              <a:ext uri="{FF2B5EF4-FFF2-40B4-BE49-F238E27FC236}">
                <a16:creationId xmlns:a16="http://schemas.microsoft.com/office/drawing/2014/main" id="{81EBB574-DFD6-5284-1341-37FC9368DE22}"/>
              </a:ext>
            </a:extLst>
          </p:cNvPr>
          <p:cNvSpPr/>
          <p:nvPr/>
        </p:nvSpPr>
        <p:spPr>
          <a:xfrm>
            <a:off x="522614" y="3592142"/>
            <a:ext cx="2189552" cy="8449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000" dirty="0">
                <a:latin typeface="IRTitr" panose="02000506000000020002" pitchFamily="2" charset="-78"/>
                <a:cs typeface="IRTitr" panose="02000506000000020002" pitchFamily="2" charset="-78"/>
              </a:rPr>
              <a:t>4. اراضی دایر</a:t>
            </a:r>
            <a:endParaRPr lang="en-US" sz="2000" dirty="0">
              <a:latin typeface="IRTitr" panose="02000506000000020002" pitchFamily="2" charset="-78"/>
              <a:cs typeface="IRTitr" panose="02000506000000020002" pitchFamily="2" charset="-78"/>
            </a:endParaRPr>
          </a:p>
        </p:txBody>
      </p:sp>
      <p:sp>
        <p:nvSpPr>
          <p:cNvPr id="4" name="Rectangle 3">
            <a:extLst>
              <a:ext uri="{FF2B5EF4-FFF2-40B4-BE49-F238E27FC236}">
                <a16:creationId xmlns:a16="http://schemas.microsoft.com/office/drawing/2014/main" id="{3F9C0136-F48E-FE54-9996-3C24BC4E4E8E}"/>
              </a:ext>
            </a:extLst>
          </p:cNvPr>
          <p:cNvSpPr/>
          <p:nvPr/>
        </p:nvSpPr>
        <p:spPr>
          <a:xfrm>
            <a:off x="4050563" y="1080655"/>
            <a:ext cx="4700135" cy="60324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r" rtl="1"/>
            <a:r>
              <a:rPr lang="fa-IR" sz="1200" dirty="0">
                <a:cs typeface="B Nazanin" panose="00000400000000000000" pitchFamily="2" charset="-78"/>
              </a:rPr>
              <a:t>اراضي شهري زمينهایي است كه در محدوده قانوني و حريم استحفاظي شهرها و شهرک ها قرار گرفته است.</a:t>
            </a:r>
            <a:endParaRPr lang="en-US" sz="1200" dirty="0">
              <a:cs typeface="B Nazanin" panose="00000400000000000000" pitchFamily="2" charset="-78"/>
            </a:endParaRPr>
          </a:p>
        </p:txBody>
      </p:sp>
      <p:sp>
        <p:nvSpPr>
          <p:cNvPr id="9" name="Rectangle 8">
            <a:extLst>
              <a:ext uri="{FF2B5EF4-FFF2-40B4-BE49-F238E27FC236}">
                <a16:creationId xmlns:a16="http://schemas.microsoft.com/office/drawing/2014/main" id="{A6D52772-9FA1-D884-33B6-C1E97078786F}"/>
              </a:ext>
            </a:extLst>
          </p:cNvPr>
          <p:cNvSpPr/>
          <p:nvPr/>
        </p:nvSpPr>
        <p:spPr>
          <a:xfrm>
            <a:off x="4050563" y="1899322"/>
            <a:ext cx="4700135" cy="60324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r" rtl="1"/>
            <a:r>
              <a:rPr lang="fa-IR" sz="1200" dirty="0">
                <a:cs typeface="B Nazanin" panose="00000400000000000000" pitchFamily="2" charset="-78"/>
              </a:rPr>
              <a:t>اراضي موات شهري زمينهائي است كه سابقه عمران و احياء نداشته باشد.</a:t>
            </a:r>
            <a:endParaRPr lang="en-US" sz="1200" dirty="0">
              <a:cs typeface="B Nazanin" panose="00000400000000000000" pitchFamily="2" charset="-78"/>
            </a:endParaRPr>
          </a:p>
        </p:txBody>
      </p:sp>
      <p:sp>
        <p:nvSpPr>
          <p:cNvPr id="10" name="Rectangle 9">
            <a:extLst>
              <a:ext uri="{FF2B5EF4-FFF2-40B4-BE49-F238E27FC236}">
                <a16:creationId xmlns:a16="http://schemas.microsoft.com/office/drawing/2014/main" id="{F4D901FD-CB78-B4DD-A74D-37A6A24E2CC4}"/>
              </a:ext>
            </a:extLst>
          </p:cNvPr>
          <p:cNvSpPr/>
          <p:nvPr/>
        </p:nvSpPr>
        <p:spPr>
          <a:xfrm>
            <a:off x="4050562" y="2713149"/>
            <a:ext cx="4700135" cy="60324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r" rtl="1"/>
            <a:r>
              <a:rPr lang="fa-IR" sz="1200" dirty="0">
                <a:cs typeface="B Nazanin" panose="00000400000000000000" pitchFamily="2" charset="-78"/>
              </a:rPr>
              <a:t>اراضي باير شهري زمينهایي است كه سابقه عمران و احياء داشته و به تدريج به حالت موات برگشته اعم از آنكه صاحب مشخصي داشته و يا نداشته باشد.</a:t>
            </a:r>
            <a:endParaRPr lang="en-US" sz="1200" dirty="0">
              <a:cs typeface="B Nazanin" panose="00000400000000000000" pitchFamily="2" charset="-78"/>
            </a:endParaRPr>
          </a:p>
        </p:txBody>
      </p:sp>
      <p:sp>
        <p:nvSpPr>
          <p:cNvPr id="11" name="Rectangle 10">
            <a:extLst>
              <a:ext uri="{FF2B5EF4-FFF2-40B4-BE49-F238E27FC236}">
                <a16:creationId xmlns:a16="http://schemas.microsoft.com/office/drawing/2014/main" id="{C8328F6A-8EB2-2C45-C784-043A53991B7B}"/>
              </a:ext>
            </a:extLst>
          </p:cNvPr>
          <p:cNvSpPr/>
          <p:nvPr/>
        </p:nvSpPr>
        <p:spPr>
          <a:xfrm>
            <a:off x="4050561" y="3592142"/>
            <a:ext cx="4700135" cy="84498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r" rtl="1"/>
            <a:r>
              <a:rPr lang="fa-IR" dirty="0">
                <a:cs typeface="B Nazanin" panose="00000400000000000000" pitchFamily="2" charset="-78"/>
              </a:rPr>
              <a:t> اراضي داير زمين هایي است كه آن را احياء و آباد نموده اند و در حال حاضر مورد بهره برداري مالك است زمين هاي داير مشمول اين قانون صرفاً اراضي كشاورزي اعم از محصور يا غيرمحصور ميباشد.</a:t>
            </a:r>
            <a:endParaRPr lang="en-US" dirty="0">
              <a:cs typeface="B Nazanin" panose="00000400000000000000" pitchFamily="2" charset="-78"/>
            </a:endParaRPr>
          </a:p>
        </p:txBody>
      </p:sp>
    </p:spTree>
    <p:extLst>
      <p:ext uri="{BB962C8B-B14F-4D97-AF65-F5344CB8AC3E}">
        <p14:creationId xmlns:p14="http://schemas.microsoft.com/office/powerpoint/2010/main" val="21411525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97"/>
        <p:cNvGrpSpPr/>
        <p:nvPr/>
      </p:nvGrpSpPr>
      <p:grpSpPr>
        <a:xfrm>
          <a:off x="0" y="0"/>
          <a:ext cx="0" cy="0"/>
          <a:chOff x="0" y="0"/>
          <a:chExt cx="0" cy="0"/>
        </a:xfrm>
      </p:grpSpPr>
      <p:sp>
        <p:nvSpPr>
          <p:cNvPr id="2" name="Rectangle 1">
            <a:extLst>
              <a:ext uri="{FF2B5EF4-FFF2-40B4-BE49-F238E27FC236}">
                <a16:creationId xmlns:a16="http://schemas.microsoft.com/office/drawing/2014/main" id="{B240E718-3BAE-0378-006C-FC79012305D0}"/>
              </a:ext>
            </a:extLst>
          </p:cNvPr>
          <p:cNvSpPr/>
          <p:nvPr/>
        </p:nvSpPr>
        <p:spPr>
          <a:xfrm rot="5400000">
            <a:off x="4025532" y="25033"/>
            <a:ext cx="5143500" cy="509343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04" name="Google Shape;604;p47"/>
          <p:cNvCxnSpPr>
            <a:cxnSpLocks/>
          </p:cNvCxnSpPr>
          <p:nvPr/>
        </p:nvCxnSpPr>
        <p:spPr>
          <a:xfrm rot="5400000">
            <a:off x="-1419896" y="5016235"/>
            <a:ext cx="3626382" cy="0"/>
          </a:xfrm>
          <a:prstGeom prst="straightConnector1">
            <a:avLst/>
          </a:prstGeom>
          <a:ln>
            <a:headEnd type="none" w="sm" len="sm"/>
            <a:tailEnd type="none" w="sm" len="sm"/>
          </a:ln>
        </p:spPr>
        <p:style>
          <a:lnRef idx="1">
            <a:schemeClr val="dk1"/>
          </a:lnRef>
          <a:fillRef idx="0">
            <a:schemeClr val="dk1"/>
          </a:fillRef>
          <a:effectRef idx="0">
            <a:schemeClr val="dk1"/>
          </a:effectRef>
          <a:fontRef idx="minor">
            <a:schemeClr val="tx1"/>
          </a:fontRef>
        </p:style>
      </p:cxnSp>
      <p:cxnSp>
        <p:nvCxnSpPr>
          <p:cNvPr id="605" name="Google Shape;605;p47"/>
          <p:cNvCxnSpPr/>
          <p:nvPr/>
        </p:nvCxnSpPr>
        <p:spPr>
          <a:xfrm rot="5400000">
            <a:off x="6937513" y="355759"/>
            <a:ext cx="3626382" cy="0"/>
          </a:xfrm>
          <a:prstGeom prst="straightConnector1">
            <a:avLst/>
          </a:prstGeom>
          <a:noFill/>
          <a:ln w="9525" cap="flat" cmpd="sng">
            <a:solidFill>
              <a:srgbClr val="FFFFFF"/>
            </a:solidFill>
            <a:prstDash val="solid"/>
            <a:round/>
            <a:headEnd type="none" w="sm" len="sm"/>
            <a:tailEnd type="none" w="sm" len="sm"/>
          </a:ln>
        </p:spPr>
      </p:cxnSp>
      <p:grpSp>
        <p:nvGrpSpPr>
          <p:cNvPr id="606" name="Google Shape;606;p47"/>
          <p:cNvGrpSpPr/>
          <p:nvPr/>
        </p:nvGrpSpPr>
        <p:grpSpPr>
          <a:xfrm>
            <a:off x="8837359" y="-72330"/>
            <a:ext cx="1543051" cy="5808473"/>
            <a:chOff x="0" y="-38100"/>
            <a:chExt cx="812800" cy="3059607"/>
          </a:xfrm>
        </p:grpSpPr>
        <p:sp>
          <p:nvSpPr>
            <p:cNvPr id="607" name="Google Shape;607;p47"/>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62352"/>
              </a:srgbClr>
            </a:solidFill>
            <a:ln>
              <a:noFill/>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608" name="Google Shape;608;p47"/>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defTabSz="914400" rtl="0" eaLnBrk="1" fontAlgn="auto" latinLnBrk="0" hangingPunct="1">
                <a:lnSpc>
                  <a:spcPct val="163333"/>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B Nazanin" panose="00000700000000000000" pitchFamily="2" charset="-78"/>
                <a:sym typeface="Calibri"/>
              </a:endParaRPr>
            </a:p>
          </p:txBody>
        </p:sp>
      </p:grpSp>
      <p:sp>
        <p:nvSpPr>
          <p:cNvPr id="609" name="Google Shape;609;p47"/>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60000"/>
              </a:lnSpc>
              <a:spcBef>
                <a:spcPts val="0"/>
              </a:spcBef>
              <a:spcAft>
                <a:spcPts val="0"/>
              </a:spcAft>
              <a:buClr>
                <a:srgbClr val="000000"/>
              </a:buClr>
              <a:buSzTx/>
              <a:buFont typeface="Arial"/>
              <a:buNone/>
              <a:tabLst/>
              <a:defRPr/>
            </a:pPr>
            <a:r>
              <a:rPr kumimoji="0" lang="en" sz="700" b="1" i="0" u="none" strike="noStrike" kern="0" cap="none" spc="0" normalizeH="0" baseline="0" noProof="0">
                <a:ln>
                  <a:noFill/>
                </a:ln>
                <a:solidFill>
                  <a:srgbClr val="FFFFFF"/>
                </a:solidFill>
                <a:effectLst/>
                <a:uLnTx/>
                <a:uFillTx/>
                <a:latin typeface="Open Sans"/>
                <a:ea typeface="Open Sans"/>
                <a:cs typeface="B Nazanin" panose="00000700000000000000" pitchFamily="2" charset="-78"/>
                <a:sym typeface="Open Sans"/>
              </a:rPr>
              <a:t>N  E  X  T</a:t>
            </a:r>
            <a:endParaRPr kumimoji="0" sz="700" b="0" i="0" u="none" strike="noStrike" kern="0" cap="none" spc="0" normalizeH="0" baseline="0" noProof="0">
              <a:ln>
                <a:noFill/>
              </a:ln>
              <a:solidFill>
                <a:srgbClr val="000000"/>
              </a:solidFill>
              <a:effectLst/>
              <a:uLnTx/>
              <a:uFillTx/>
              <a:latin typeface="Arial"/>
              <a:cs typeface="B Nazanin" panose="00000700000000000000" pitchFamily="2" charset="-78"/>
              <a:sym typeface="Arial"/>
            </a:endParaRPr>
          </a:p>
        </p:txBody>
      </p:sp>
      <p:sp>
        <p:nvSpPr>
          <p:cNvPr id="3" name="TextBox 2">
            <a:extLst>
              <a:ext uri="{FF2B5EF4-FFF2-40B4-BE49-F238E27FC236}">
                <a16:creationId xmlns:a16="http://schemas.microsoft.com/office/drawing/2014/main" id="{192C8929-2433-CE51-19F6-F9A83DB6AD4C}"/>
              </a:ext>
            </a:extLst>
          </p:cNvPr>
          <p:cNvSpPr txBox="1"/>
          <p:nvPr/>
        </p:nvSpPr>
        <p:spPr>
          <a:xfrm>
            <a:off x="4050566" y="173812"/>
            <a:ext cx="4215663" cy="523220"/>
          </a:xfrm>
          <a:prstGeom prst="rect">
            <a:avLst/>
          </a:prstGeom>
          <a:noFill/>
        </p:spPr>
        <p:txBody>
          <a:bodyPr wrap="square" rtlCol="0">
            <a:spAutoFit/>
          </a:bodyPr>
          <a:lstStyle/>
          <a:p>
            <a:pPr algn="r" rtl="1"/>
            <a:r>
              <a:rPr lang="fa-IR" sz="2800" b="1" dirty="0">
                <a:solidFill>
                  <a:schemeClr val="tx1"/>
                </a:solidFill>
                <a:cs typeface="B Nazanin" panose="00000400000000000000" pitchFamily="2" charset="-78"/>
              </a:rPr>
              <a:t>انواع اراضی</a:t>
            </a:r>
            <a:endParaRPr lang="en-US" sz="2800" b="1" dirty="0">
              <a:solidFill>
                <a:schemeClr val="tx1"/>
              </a:solidFill>
              <a:cs typeface="B Nazanin" panose="00000400000000000000" pitchFamily="2" charset="-78"/>
            </a:endParaRPr>
          </a:p>
        </p:txBody>
      </p:sp>
      <p:sp>
        <p:nvSpPr>
          <p:cNvPr id="5" name="Rectangle: Rounded Corners 4">
            <a:extLst>
              <a:ext uri="{FF2B5EF4-FFF2-40B4-BE49-F238E27FC236}">
                <a16:creationId xmlns:a16="http://schemas.microsoft.com/office/drawing/2014/main" id="{4A159369-45E8-8A6F-53F8-16D40F484D1F}"/>
              </a:ext>
            </a:extLst>
          </p:cNvPr>
          <p:cNvSpPr/>
          <p:nvPr/>
        </p:nvSpPr>
        <p:spPr>
          <a:xfrm>
            <a:off x="522612" y="1080655"/>
            <a:ext cx="1563145"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latin typeface="IRTitr" panose="02000506000000020002" pitchFamily="2" charset="-78"/>
                <a:cs typeface="B Nazanin" panose="00000400000000000000" pitchFamily="2" charset="-78"/>
              </a:rPr>
              <a:t>1. اراضی شهری</a:t>
            </a:r>
            <a:endParaRPr lang="en-US" b="1" dirty="0">
              <a:latin typeface="IRTitr" panose="02000506000000020002" pitchFamily="2" charset="-78"/>
              <a:cs typeface="B Nazanin" panose="00000400000000000000" pitchFamily="2" charset="-78"/>
            </a:endParaRPr>
          </a:p>
        </p:txBody>
      </p:sp>
      <p:sp>
        <p:nvSpPr>
          <p:cNvPr id="6" name="Rectangle: Rounded Corners 5">
            <a:extLst>
              <a:ext uri="{FF2B5EF4-FFF2-40B4-BE49-F238E27FC236}">
                <a16:creationId xmlns:a16="http://schemas.microsoft.com/office/drawing/2014/main" id="{C756A3B1-F794-D504-FF79-352572554494}"/>
              </a:ext>
            </a:extLst>
          </p:cNvPr>
          <p:cNvSpPr/>
          <p:nvPr/>
        </p:nvSpPr>
        <p:spPr>
          <a:xfrm>
            <a:off x="522613" y="1899323"/>
            <a:ext cx="1563144"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b="1" dirty="0">
                <a:latin typeface="IRTitr" panose="02000506000000020002" pitchFamily="2" charset="-78"/>
                <a:cs typeface="B Nazanin" panose="00000400000000000000" pitchFamily="2" charset="-78"/>
              </a:rPr>
              <a:t>2. اراضی موات</a:t>
            </a:r>
            <a:endParaRPr lang="en-US" b="1" dirty="0">
              <a:latin typeface="IRTitr" panose="02000506000000020002" pitchFamily="2" charset="-78"/>
              <a:cs typeface="B Nazanin" panose="00000400000000000000" pitchFamily="2" charset="-78"/>
            </a:endParaRPr>
          </a:p>
        </p:txBody>
      </p:sp>
      <p:sp>
        <p:nvSpPr>
          <p:cNvPr id="7" name="Rectangle: Rounded Corners 6">
            <a:extLst>
              <a:ext uri="{FF2B5EF4-FFF2-40B4-BE49-F238E27FC236}">
                <a16:creationId xmlns:a16="http://schemas.microsoft.com/office/drawing/2014/main" id="{20E7C90F-45D3-67FC-5C4F-749A04B8D9D2}"/>
              </a:ext>
            </a:extLst>
          </p:cNvPr>
          <p:cNvSpPr/>
          <p:nvPr/>
        </p:nvSpPr>
        <p:spPr>
          <a:xfrm>
            <a:off x="522613" y="2713148"/>
            <a:ext cx="1563145"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latin typeface="IRTitr" panose="02000506000000020002" pitchFamily="2" charset="-78"/>
                <a:cs typeface="B Nazanin" panose="00000400000000000000" pitchFamily="2" charset="-78"/>
              </a:rPr>
              <a:t>3. اراضی بایر</a:t>
            </a:r>
            <a:endParaRPr lang="en-US" b="1" dirty="0">
              <a:latin typeface="IRTitr" panose="02000506000000020002" pitchFamily="2" charset="-78"/>
              <a:cs typeface="B Nazanin" panose="00000400000000000000" pitchFamily="2" charset="-78"/>
            </a:endParaRPr>
          </a:p>
        </p:txBody>
      </p:sp>
      <p:sp>
        <p:nvSpPr>
          <p:cNvPr id="8" name="Rectangle: Rounded Corners 7">
            <a:extLst>
              <a:ext uri="{FF2B5EF4-FFF2-40B4-BE49-F238E27FC236}">
                <a16:creationId xmlns:a16="http://schemas.microsoft.com/office/drawing/2014/main" id="{81EBB574-DFD6-5284-1341-37FC9368DE22}"/>
              </a:ext>
            </a:extLst>
          </p:cNvPr>
          <p:cNvSpPr/>
          <p:nvPr/>
        </p:nvSpPr>
        <p:spPr>
          <a:xfrm>
            <a:off x="522614" y="3592142"/>
            <a:ext cx="1563145" cy="6032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latin typeface="IRTitr" panose="02000506000000020002" pitchFamily="2" charset="-78"/>
                <a:cs typeface="B Nazanin" panose="00000400000000000000" pitchFamily="2" charset="-78"/>
              </a:rPr>
              <a:t>4. اراضی دایر</a:t>
            </a:r>
            <a:endParaRPr lang="en-US" b="1" dirty="0">
              <a:latin typeface="IRTitr" panose="02000506000000020002" pitchFamily="2" charset="-78"/>
              <a:cs typeface="B Nazanin" panose="00000400000000000000" pitchFamily="2" charset="-78"/>
            </a:endParaRPr>
          </a:p>
        </p:txBody>
      </p:sp>
      <p:sp>
        <p:nvSpPr>
          <p:cNvPr id="4" name="Rectangle 3">
            <a:extLst>
              <a:ext uri="{FF2B5EF4-FFF2-40B4-BE49-F238E27FC236}">
                <a16:creationId xmlns:a16="http://schemas.microsoft.com/office/drawing/2014/main" id="{3F9C0136-F48E-FE54-9996-3C24BC4E4E8E}"/>
              </a:ext>
            </a:extLst>
          </p:cNvPr>
          <p:cNvSpPr/>
          <p:nvPr/>
        </p:nvSpPr>
        <p:spPr>
          <a:xfrm>
            <a:off x="4050563" y="1080655"/>
            <a:ext cx="4700135" cy="60324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r" rtl="1"/>
            <a:r>
              <a:rPr lang="fa-IR" sz="1200" dirty="0">
                <a:cs typeface="B Nazanin" panose="00000400000000000000" pitchFamily="2" charset="-78"/>
              </a:rPr>
              <a:t>اراضي شهري زمينهایي است كه در محدوده قانوني و حريم استحفاظي شهرها و شهرک ها قرار گرفته است.</a:t>
            </a:r>
            <a:endParaRPr lang="en-US" sz="1200" dirty="0">
              <a:cs typeface="B Nazanin" panose="00000400000000000000" pitchFamily="2" charset="-78"/>
            </a:endParaRPr>
          </a:p>
        </p:txBody>
      </p:sp>
      <p:sp>
        <p:nvSpPr>
          <p:cNvPr id="9" name="Rectangle 8">
            <a:extLst>
              <a:ext uri="{FF2B5EF4-FFF2-40B4-BE49-F238E27FC236}">
                <a16:creationId xmlns:a16="http://schemas.microsoft.com/office/drawing/2014/main" id="{A6D52772-9FA1-D884-33B6-C1E97078786F}"/>
              </a:ext>
            </a:extLst>
          </p:cNvPr>
          <p:cNvSpPr/>
          <p:nvPr/>
        </p:nvSpPr>
        <p:spPr>
          <a:xfrm>
            <a:off x="4050563" y="1899322"/>
            <a:ext cx="4700135" cy="60324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r" rtl="1"/>
            <a:r>
              <a:rPr lang="fa-IR" sz="1200" dirty="0">
                <a:cs typeface="B Nazanin" panose="00000400000000000000" pitchFamily="2" charset="-78"/>
              </a:rPr>
              <a:t>اراضي موات شهري زمينهائي است كه سابقه عمران و احياء نداشته باشد.</a:t>
            </a:r>
            <a:endParaRPr lang="en-US" sz="1200" dirty="0">
              <a:cs typeface="B Nazanin" panose="00000400000000000000" pitchFamily="2" charset="-78"/>
            </a:endParaRPr>
          </a:p>
        </p:txBody>
      </p:sp>
      <p:sp>
        <p:nvSpPr>
          <p:cNvPr id="10" name="Rectangle 9">
            <a:extLst>
              <a:ext uri="{FF2B5EF4-FFF2-40B4-BE49-F238E27FC236}">
                <a16:creationId xmlns:a16="http://schemas.microsoft.com/office/drawing/2014/main" id="{F4D901FD-CB78-B4DD-A74D-37A6A24E2CC4}"/>
              </a:ext>
            </a:extLst>
          </p:cNvPr>
          <p:cNvSpPr/>
          <p:nvPr/>
        </p:nvSpPr>
        <p:spPr>
          <a:xfrm>
            <a:off x="4050562" y="2713149"/>
            <a:ext cx="4700135" cy="60324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r" rtl="1"/>
            <a:r>
              <a:rPr lang="fa-IR" sz="1200" dirty="0">
                <a:cs typeface="B Nazanin" panose="00000400000000000000" pitchFamily="2" charset="-78"/>
              </a:rPr>
              <a:t>اراضي باير شهري زمينهایي است كه سابقه عمران و احياء داشته و به تدريج به حالت موات برگشته اعم از آنكه صاحب مشخصي داشته و يا نداشته باشد.</a:t>
            </a:r>
            <a:endParaRPr lang="en-US" sz="1200" dirty="0">
              <a:cs typeface="B Nazanin" panose="00000400000000000000" pitchFamily="2" charset="-78"/>
            </a:endParaRPr>
          </a:p>
        </p:txBody>
      </p:sp>
      <p:sp>
        <p:nvSpPr>
          <p:cNvPr id="11" name="Rectangle 10">
            <a:extLst>
              <a:ext uri="{FF2B5EF4-FFF2-40B4-BE49-F238E27FC236}">
                <a16:creationId xmlns:a16="http://schemas.microsoft.com/office/drawing/2014/main" id="{C8328F6A-8EB2-2C45-C784-043A53991B7B}"/>
              </a:ext>
            </a:extLst>
          </p:cNvPr>
          <p:cNvSpPr/>
          <p:nvPr/>
        </p:nvSpPr>
        <p:spPr>
          <a:xfrm>
            <a:off x="4050561" y="3592142"/>
            <a:ext cx="4700135" cy="60324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r" rtl="1"/>
            <a:r>
              <a:rPr lang="fa-IR" sz="1200" dirty="0">
                <a:cs typeface="B Nazanin" panose="00000400000000000000" pitchFamily="2" charset="-78"/>
              </a:rPr>
              <a:t> اراضي داير زمين هایي است كه آن را احياء و آباد نموده اند و در حال حاضر مورد بهره برداري مالك است زمين هاي داير مشمول اين قانون صرفاً اراضي كشاورزي اعم از محصور يا غيرمحصور ميباشد.</a:t>
            </a:r>
            <a:endParaRPr lang="en-US" sz="1200" dirty="0">
              <a:cs typeface="B Nazanin" panose="00000400000000000000" pitchFamily="2" charset="-78"/>
            </a:endParaRPr>
          </a:p>
        </p:txBody>
      </p:sp>
    </p:spTree>
    <p:extLst>
      <p:ext uri="{BB962C8B-B14F-4D97-AF65-F5344CB8AC3E}">
        <p14:creationId xmlns:p14="http://schemas.microsoft.com/office/powerpoint/2010/main" val="15050032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CD636-7CF3-7FCF-F6DF-A2A7CC7FF3D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B540FA2-5BBA-5AF0-8F55-E7A134EC0FD9}"/>
              </a:ext>
            </a:extLst>
          </p:cNvPr>
          <p:cNvSpPr>
            <a:spLocks noGrp="1"/>
          </p:cNvSpPr>
          <p:nvPr>
            <p:ph type="body" idx="1"/>
          </p:nvPr>
        </p:nvSpPr>
        <p:spPr/>
        <p:txBody>
          <a:bodyPr/>
          <a:lstStyle/>
          <a:p>
            <a:endParaRPr lang="en-US"/>
          </a:p>
        </p:txBody>
      </p:sp>
      <p:sp>
        <p:nvSpPr>
          <p:cNvPr id="4" name="Rectangle 3">
            <a:extLst>
              <a:ext uri="{FF2B5EF4-FFF2-40B4-BE49-F238E27FC236}">
                <a16:creationId xmlns:a16="http://schemas.microsoft.com/office/drawing/2014/main" id="{821F419D-D244-3505-13E4-1D3EAF40FEE1}"/>
              </a:ext>
            </a:extLst>
          </p:cNvPr>
          <p:cNvSpPr/>
          <p:nvPr/>
        </p:nvSpPr>
        <p:spPr>
          <a:xfrm>
            <a:off x="-76200" y="-76200"/>
            <a:ext cx="9380220" cy="528828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cs typeface="B Nazanin" panose="00000400000000000000" pitchFamily="2" charset="-78"/>
            </a:endParaRPr>
          </a:p>
        </p:txBody>
      </p:sp>
      <p:sp>
        <p:nvSpPr>
          <p:cNvPr id="5" name="Rectangle 4">
            <a:extLst>
              <a:ext uri="{FF2B5EF4-FFF2-40B4-BE49-F238E27FC236}">
                <a16:creationId xmlns:a16="http://schemas.microsoft.com/office/drawing/2014/main" id="{192FE58F-8B3B-D629-92A8-E203601DEC0E}"/>
              </a:ext>
            </a:extLst>
          </p:cNvPr>
          <p:cNvSpPr/>
          <p:nvPr/>
        </p:nvSpPr>
        <p:spPr>
          <a:xfrm>
            <a:off x="1638300" y="1893570"/>
            <a:ext cx="5844540" cy="1348740"/>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fa-IR" sz="4000" dirty="0"/>
              <a:t>باتشکر از حسن توجه شما</a:t>
            </a:r>
            <a:endParaRPr lang="en-US" sz="4000" dirty="0"/>
          </a:p>
        </p:txBody>
      </p:sp>
      <p:sp>
        <p:nvSpPr>
          <p:cNvPr id="6" name="TextBox 5">
            <a:extLst>
              <a:ext uri="{FF2B5EF4-FFF2-40B4-BE49-F238E27FC236}">
                <a16:creationId xmlns:a16="http://schemas.microsoft.com/office/drawing/2014/main" id="{C18652C8-4D2C-4CD8-5469-2749F5854AAF}"/>
              </a:ext>
            </a:extLst>
          </p:cNvPr>
          <p:cNvSpPr txBox="1"/>
          <p:nvPr/>
        </p:nvSpPr>
        <p:spPr>
          <a:xfrm>
            <a:off x="383059" y="4427061"/>
            <a:ext cx="8377881" cy="523220"/>
          </a:xfrm>
          <a:prstGeom prst="rect">
            <a:avLst/>
          </a:prstGeom>
          <a:noFill/>
        </p:spPr>
        <p:txBody>
          <a:bodyPr wrap="square" rtlCol="0">
            <a:spAutoFit/>
          </a:bodyPr>
          <a:lstStyle/>
          <a:p>
            <a:pPr algn="ctr" rtl="1"/>
            <a:r>
              <a:rPr lang="fa-IR" b="1" dirty="0">
                <a:solidFill>
                  <a:schemeClr val="bg1"/>
                </a:solidFill>
                <a:latin typeface="IRAmir" panose="02000503000000020002" pitchFamily="2" charset="-78"/>
                <a:cs typeface="IRAmir" panose="02000503000000020002" pitchFamily="2" charset="-78"/>
              </a:rPr>
              <a:t>نکته: این پاور پوینت به هیچ وجه 100 درصد کامل نیست و مطالعه ی خودتان اطلاعات کامل تر و دقیق تری در اختیارتان خواهد گذاشت.</a:t>
            </a:r>
            <a:endParaRPr lang="en-US" b="1" dirty="0">
              <a:solidFill>
                <a:schemeClr val="bg1"/>
              </a:solidFill>
              <a:latin typeface="IRAmir" panose="02000503000000020002" pitchFamily="2" charset="-78"/>
              <a:cs typeface="IRAmir" panose="02000503000000020002" pitchFamily="2" charset="-78"/>
            </a:endParaRPr>
          </a:p>
        </p:txBody>
      </p:sp>
    </p:spTree>
    <p:extLst>
      <p:ext uri="{BB962C8B-B14F-4D97-AF65-F5344CB8AC3E}">
        <p14:creationId xmlns:p14="http://schemas.microsoft.com/office/powerpoint/2010/main" val="4086582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500" fill="hold"/>
                                        <p:tgtEl>
                                          <p:spTgt spid="5"/>
                                        </p:tgtEl>
                                        <p:attrNameLst>
                                          <p:attrName>ppt_x</p:attrName>
                                        </p:attrNameLst>
                                      </p:cBhvr>
                                      <p:tavLst>
                                        <p:tav tm="0">
                                          <p:val>
                                            <p:strVal val="#ppt_x"/>
                                          </p:val>
                                        </p:tav>
                                        <p:tav tm="100000">
                                          <p:val>
                                            <p:strVal val="#ppt_x"/>
                                          </p:val>
                                        </p:tav>
                                      </p:tavLst>
                                    </p:anim>
                                    <p:anim calcmode="lin" valueType="num">
                                      <p:cBhvr additive="base">
                                        <p:cTn id="8" dur="1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1420</TotalTime>
  <Words>5541</Words>
  <Application>Microsoft Office PowerPoint</Application>
  <PresentationFormat>On-screen Show (16:9)</PresentationFormat>
  <Paragraphs>416</Paragraphs>
  <Slides>57</Slides>
  <Notes>56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57</vt:i4>
      </vt:variant>
    </vt:vector>
  </HeadingPairs>
  <TitlesOfParts>
    <vt:vector size="66" baseType="lpstr">
      <vt:lpstr>IRAmir</vt:lpstr>
      <vt:lpstr>Arial</vt:lpstr>
      <vt:lpstr>Calibri</vt:lpstr>
      <vt:lpstr>IRNazanin</vt:lpstr>
      <vt:lpstr>IRTitr</vt:lpstr>
      <vt:lpstr>IRZeytoon</vt:lpstr>
      <vt:lpstr>Open Sans</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M N</cp:lastModifiedBy>
  <cp:revision>52</cp:revision>
  <dcterms:modified xsi:type="dcterms:W3CDTF">2023-12-19T08:52:59Z</dcterms:modified>
</cp:coreProperties>
</file>