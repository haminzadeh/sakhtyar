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02"/>
  </p:notesMasterIdLst>
  <p:handoutMasterIdLst>
    <p:handoutMasterId r:id="rId103"/>
  </p:handoutMasterIdLst>
  <p:sldIdLst>
    <p:sldId id="256" r:id="rId5"/>
    <p:sldId id="346" r:id="rId6"/>
    <p:sldId id="304" r:id="rId7"/>
    <p:sldId id="348" r:id="rId8"/>
    <p:sldId id="347" r:id="rId9"/>
    <p:sldId id="305" r:id="rId10"/>
    <p:sldId id="306" r:id="rId11"/>
    <p:sldId id="342" r:id="rId12"/>
    <p:sldId id="307" r:id="rId13"/>
    <p:sldId id="309" r:id="rId14"/>
    <p:sldId id="310" r:id="rId15"/>
    <p:sldId id="311" r:id="rId16"/>
    <p:sldId id="352" r:id="rId17"/>
    <p:sldId id="351" r:id="rId18"/>
    <p:sldId id="353" r:id="rId19"/>
    <p:sldId id="354" r:id="rId20"/>
    <p:sldId id="355" r:id="rId21"/>
    <p:sldId id="359" r:id="rId22"/>
    <p:sldId id="360" r:id="rId23"/>
    <p:sldId id="356" r:id="rId24"/>
    <p:sldId id="357" r:id="rId25"/>
    <p:sldId id="345" r:id="rId26"/>
    <p:sldId id="313" r:id="rId27"/>
    <p:sldId id="314" r:id="rId28"/>
    <p:sldId id="315" r:id="rId29"/>
    <p:sldId id="349" r:id="rId30"/>
    <p:sldId id="344" r:id="rId31"/>
    <p:sldId id="322" r:id="rId32"/>
    <p:sldId id="333" r:id="rId33"/>
    <p:sldId id="323" r:id="rId34"/>
    <p:sldId id="324" r:id="rId35"/>
    <p:sldId id="325" r:id="rId36"/>
    <p:sldId id="317" r:id="rId37"/>
    <p:sldId id="332" r:id="rId38"/>
    <p:sldId id="320" r:id="rId39"/>
    <p:sldId id="350" r:id="rId40"/>
    <p:sldId id="326" r:id="rId41"/>
    <p:sldId id="334" r:id="rId42"/>
    <p:sldId id="329" r:id="rId43"/>
    <p:sldId id="330" r:id="rId44"/>
    <p:sldId id="331" r:id="rId45"/>
    <p:sldId id="335" r:id="rId46"/>
    <p:sldId id="336" r:id="rId47"/>
    <p:sldId id="337" r:id="rId48"/>
    <p:sldId id="339" r:id="rId49"/>
    <p:sldId id="341" r:id="rId50"/>
    <p:sldId id="338" r:id="rId51"/>
    <p:sldId id="362" r:id="rId52"/>
    <p:sldId id="363" r:id="rId53"/>
    <p:sldId id="418" r:id="rId54"/>
    <p:sldId id="404" r:id="rId55"/>
    <p:sldId id="405" r:id="rId56"/>
    <p:sldId id="406" r:id="rId57"/>
    <p:sldId id="420" r:id="rId58"/>
    <p:sldId id="407" r:id="rId59"/>
    <p:sldId id="421" r:id="rId60"/>
    <p:sldId id="408" r:id="rId61"/>
    <p:sldId id="422" r:id="rId62"/>
    <p:sldId id="409" r:id="rId63"/>
    <p:sldId id="411" r:id="rId64"/>
    <p:sldId id="412" r:id="rId65"/>
    <p:sldId id="413" r:id="rId66"/>
    <p:sldId id="410" r:id="rId67"/>
    <p:sldId id="419" r:id="rId68"/>
    <p:sldId id="414" r:id="rId69"/>
    <p:sldId id="416" r:id="rId70"/>
    <p:sldId id="417" r:id="rId71"/>
    <p:sldId id="423" r:id="rId72"/>
    <p:sldId id="381" r:id="rId73"/>
    <p:sldId id="383" r:id="rId74"/>
    <p:sldId id="382" r:id="rId75"/>
    <p:sldId id="385" r:id="rId76"/>
    <p:sldId id="386" r:id="rId77"/>
    <p:sldId id="387" r:id="rId78"/>
    <p:sldId id="402" r:id="rId79"/>
    <p:sldId id="403" r:id="rId80"/>
    <p:sldId id="388" r:id="rId81"/>
    <p:sldId id="389" r:id="rId82"/>
    <p:sldId id="424" r:id="rId83"/>
    <p:sldId id="390" r:id="rId84"/>
    <p:sldId id="391" r:id="rId85"/>
    <p:sldId id="425" r:id="rId86"/>
    <p:sldId id="392" r:id="rId87"/>
    <p:sldId id="393" r:id="rId88"/>
    <p:sldId id="394" r:id="rId89"/>
    <p:sldId id="395" r:id="rId90"/>
    <p:sldId id="396" r:id="rId91"/>
    <p:sldId id="397" r:id="rId92"/>
    <p:sldId id="398" r:id="rId93"/>
    <p:sldId id="384" r:id="rId94"/>
    <p:sldId id="426" r:id="rId95"/>
    <p:sldId id="399" r:id="rId96"/>
    <p:sldId id="400" r:id="rId97"/>
    <p:sldId id="427" r:id="rId98"/>
    <p:sldId id="401" r:id="rId99"/>
    <p:sldId id="428" r:id="rId100"/>
    <p:sldId id="284" r:id="rId10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8F7"/>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979" autoAdjust="0"/>
    <p:restoredTop sz="94598" autoAdjust="0"/>
  </p:normalViewPr>
  <p:slideViewPr>
    <p:cSldViewPr snapToGrid="0">
      <p:cViewPr varScale="1">
        <p:scale>
          <a:sx n="83" d="100"/>
          <a:sy n="83" d="100"/>
        </p:scale>
        <p:origin x="917" y="77"/>
      </p:cViewPr>
      <p:guideLst/>
    </p:cSldViewPr>
  </p:slideViewPr>
  <p:outlineViewPr>
    <p:cViewPr>
      <p:scale>
        <a:sx n="33" d="100"/>
        <a:sy n="33" d="100"/>
      </p:scale>
      <p:origin x="0" y="-576"/>
    </p:cViewPr>
  </p:outlineViewPr>
  <p:notesTextViewPr>
    <p:cViewPr>
      <p:scale>
        <a:sx n="1" d="1"/>
        <a:sy n="1" d="1"/>
      </p:scale>
      <p:origin x="0" y="0"/>
    </p:cViewPr>
  </p:notesTextViewPr>
  <p:sorterViewPr>
    <p:cViewPr>
      <p:scale>
        <a:sx n="100" d="100"/>
        <a:sy n="100" d="100"/>
      </p:scale>
      <p:origin x="0" y="-4176"/>
    </p:cViewPr>
  </p:sorterViewPr>
  <p:notesViewPr>
    <p:cSldViewPr snapToGrid="0">
      <p:cViewPr varScale="1">
        <p:scale>
          <a:sx n="65" d="100"/>
          <a:sy n="65" d="100"/>
        </p:scale>
        <p:origin x="3154" y="43"/>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07" Type="http://schemas.openxmlformats.org/officeDocument/2006/relationships/tableStyles" Target="tableStyles.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notesMaster" Target="notesMasters/notesMaster1.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589D207-BE08-4B33-B5B0-5A5A94C9512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5E58DB9-49DC-495B-A68F-33D105C9065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67A1AC4-3AE8-4F87-AAED-904EC6054702}" type="datetimeFigureOut">
              <a:rPr lang="en-US" smtClean="0"/>
              <a:t>1/8/2024</a:t>
            </a:fld>
            <a:endParaRPr lang="en-US" dirty="0"/>
          </a:p>
        </p:txBody>
      </p:sp>
      <p:sp>
        <p:nvSpPr>
          <p:cNvPr id="4" name="Footer Placeholder 3">
            <a:extLst>
              <a:ext uri="{FF2B5EF4-FFF2-40B4-BE49-F238E27FC236}">
                <a16:creationId xmlns:a16="http://schemas.microsoft.com/office/drawing/2014/main" id="{7F66337E-DAD5-442C-9B8F-E10EB7D972C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EE3BDF2-02BD-4181-AC28-FD56172CC6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AF8A362-CAFC-4987-9A50-47570528395E}" type="slidenum">
              <a:rPr lang="en-US" smtClean="0"/>
              <a:t>‹#›</a:t>
            </a:fld>
            <a:endParaRPr lang="en-US" dirty="0"/>
          </a:p>
        </p:txBody>
      </p:sp>
    </p:spTree>
    <p:extLst>
      <p:ext uri="{BB962C8B-B14F-4D97-AF65-F5344CB8AC3E}">
        <p14:creationId xmlns:p14="http://schemas.microsoft.com/office/powerpoint/2010/main" val="4523749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556653-6123-4FE4-861F-5F9583BF59B0}" type="datetimeFigureOut">
              <a:rPr lang="en-US" smtClean="0"/>
              <a:t>1/8/2024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EB602-95FC-483A-B12D-216A7AD7EA24}" type="slidenum">
              <a:rPr lang="en-US" smtClean="0"/>
              <a:t>‹#›</a:t>
            </a:fld>
            <a:endParaRPr lang="en-US" dirty="0"/>
          </a:p>
        </p:txBody>
      </p:sp>
    </p:spTree>
    <p:extLst>
      <p:ext uri="{BB962C8B-B14F-4D97-AF65-F5344CB8AC3E}">
        <p14:creationId xmlns:p14="http://schemas.microsoft.com/office/powerpoint/2010/main" val="1325843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F07F282E-55F5-4803-B60F-09BA4600E538}" type="slidenum">
              <a:rPr lang="en-US" smtClean="0"/>
              <a:t>97</a:t>
            </a:fld>
            <a:endParaRPr lang="en-US" dirty="0"/>
          </a:p>
        </p:txBody>
      </p:sp>
    </p:spTree>
    <p:extLst>
      <p:ext uri="{BB962C8B-B14F-4D97-AF65-F5344CB8AC3E}">
        <p14:creationId xmlns:p14="http://schemas.microsoft.com/office/powerpoint/2010/main" val="16668859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EA8D8870-8337-4ABD-9EA6-3D5AAB7E42D9}"/>
              </a:ext>
            </a:extLst>
          </p:cNvPr>
          <p:cNvSpPr/>
          <p:nvPr userDrawn="1"/>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53" name="Rectangle 52">
            <a:extLst>
              <a:ext uri="{FF2B5EF4-FFF2-40B4-BE49-F238E27FC236}">
                <a16:creationId xmlns:a16="http://schemas.microsoft.com/office/drawing/2014/main" id="{BAC3B2DB-2CCA-4BD4-8D63-98257049E273}"/>
              </a:ext>
            </a:extLst>
          </p:cNvPr>
          <p:cNvSpPr/>
          <p:nvPr userDrawn="1"/>
        </p:nvSpPr>
        <p:spPr>
          <a:xfrm>
            <a:off x="1" y="825689"/>
            <a:ext cx="6795928" cy="259421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54" name="Title 1">
            <a:extLst>
              <a:ext uri="{FF2B5EF4-FFF2-40B4-BE49-F238E27FC236}">
                <a16:creationId xmlns:a16="http://schemas.microsoft.com/office/drawing/2014/main" id="{324DAAC3-FA37-4838-A298-327679F99F8A}"/>
              </a:ext>
            </a:extLst>
          </p:cNvPr>
          <p:cNvSpPr>
            <a:spLocks noGrp="1"/>
          </p:cNvSpPr>
          <p:nvPr>
            <p:ph type="ctrTitle" hasCustomPrompt="1"/>
          </p:nvPr>
        </p:nvSpPr>
        <p:spPr>
          <a:xfrm>
            <a:off x="1628168" y="1057522"/>
            <a:ext cx="5003540" cy="2173433"/>
          </a:xfrm>
        </p:spPr>
        <p:txBody>
          <a:bodyPr>
            <a:noAutofit/>
          </a:bodyPr>
          <a:lstStyle>
            <a:lvl1pPr>
              <a:lnSpc>
                <a:spcPct val="100000"/>
              </a:lnSpc>
              <a:defRPr sz="4400" cap="all" baseline="0">
                <a:solidFill>
                  <a:schemeClr val="bg1"/>
                </a:solidFill>
              </a:defRPr>
            </a:lvl1pPr>
          </a:lstStyle>
          <a:p>
            <a:r>
              <a:rPr lang="en-US" sz="4400" dirty="0">
                <a:solidFill>
                  <a:schemeClr val="bg1"/>
                </a:solidFill>
              </a:rPr>
              <a:t>CLICK TO ADD TITLE</a:t>
            </a:r>
          </a:p>
        </p:txBody>
      </p:sp>
      <p:sp>
        <p:nvSpPr>
          <p:cNvPr id="55" name="Subtitle 2">
            <a:extLst>
              <a:ext uri="{FF2B5EF4-FFF2-40B4-BE49-F238E27FC236}">
                <a16:creationId xmlns:a16="http://schemas.microsoft.com/office/drawing/2014/main" id="{50BC9D78-FF13-4CEB-8ECB-E64E85C5D0B4}"/>
              </a:ext>
            </a:extLst>
          </p:cNvPr>
          <p:cNvSpPr>
            <a:spLocks noGrp="1"/>
          </p:cNvSpPr>
          <p:nvPr>
            <p:ph type="subTitle" idx="1" hasCustomPrompt="1"/>
          </p:nvPr>
        </p:nvSpPr>
        <p:spPr>
          <a:xfrm>
            <a:off x="1646643" y="3751119"/>
            <a:ext cx="4985065" cy="1606163"/>
          </a:xfrm>
        </p:spPr>
        <p:txBody>
          <a:bodyPr anchor="t">
            <a:noAutofit/>
          </a:bodyPr>
          <a:lstStyle>
            <a:lvl1pPr>
              <a:defRPr sz="2400" b="0"/>
            </a:lvl1pPr>
          </a:lstStyle>
          <a:p>
            <a:r>
              <a:rPr lang="en-US" dirty="0">
                <a:solidFill>
                  <a:schemeClr val="tx1">
                    <a:lumMod val="75000"/>
                    <a:lumOff val="25000"/>
                  </a:schemeClr>
                </a:solidFill>
              </a:rPr>
              <a:t>Click to add subtitle</a:t>
            </a:r>
          </a:p>
        </p:txBody>
      </p:sp>
      <p:sp>
        <p:nvSpPr>
          <p:cNvPr id="56" name="Rectangle 55">
            <a:extLst>
              <a:ext uri="{FF2B5EF4-FFF2-40B4-BE49-F238E27FC236}">
                <a16:creationId xmlns:a16="http://schemas.microsoft.com/office/drawing/2014/main" id="{FB792E4C-AD3B-4E88-8540-E75759746368}"/>
              </a:ext>
            </a:extLst>
          </p:cNvPr>
          <p:cNvSpPr/>
          <p:nvPr userDrawn="1"/>
        </p:nvSpPr>
        <p:spPr>
          <a:xfrm>
            <a:off x="-1" y="889697"/>
            <a:ext cx="1070775" cy="2466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57" name="Rectangle 56">
            <a:extLst>
              <a:ext uri="{FF2B5EF4-FFF2-40B4-BE49-F238E27FC236}">
                <a16:creationId xmlns:a16="http://schemas.microsoft.com/office/drawing/2014/main" id="{6A32632F-9ED1-4328-BBE3-B4E014156A29}"/>
              </a:ext>
            </a:extLst>
          </p:cNvPr>
          <p:cNvSpPr/>
          <p:nvPr userDrawn="1"/>
        </p:nvSpPr>
        <p:spPr>
          <a:xfrm rot="5400000">
            <a:off x="-236512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58" name="Footer Placeholder 4">
            <a:extLst>
              <a:ext uri="{FF2B5EF4-FFF2-40B4-BE49-F238E27FC236}">
                <a16:creationId xmlns:a16="http://schemas.microsoft.com/office/drawing/2014/main" id="{15A37EDE-F10B-4C4B-9572-8778C2D6A686}"/>
              </a:ext>
            </a:extLst>
          </p:cNvPr>
          <p:cNvSpPr>
            <a:spLocks noGrp="1"/>
          </p:cNvSpPr>
          <p:nvPr>
            <p:ph type="ftr" sz="quarter" idx="11"/>
          </p:nvPr>
        </p:nvSpPr>
        <p:spPr>
          <a:xfrm>
            <a:off x="1635103" y="6309360"/>
            <a:ext cx="4797504" cy="457200"/>
          </a:xfrm>
        </p:spPr>
        <p:txBody>
          <a:bodyPr/>
          <a:lstStyle/>
          <a:p>
            <a:pPr algn="l"/>
            <a:r>
              <a:rPr lang="en-US" dirty="0"/>
              <a:t>Presentation Title</a:t>
            </a:r>
          </a:p>
        </p:txBody>
      </p:sp>
      <p:sp>
        <p:nvSpPr>
          <p:cNvPr id="59" name="Rectangle 58">
            <a:extLst>
              <a:ext uri="{FF2B5EF4-FFF2-40B4-BE49-F238E27FC236}">
                <a16:creationId xmlns:a16="http://schemas.microsoft.com/office/drawing/2014/main" id="{EA124D3C-01E3-4B96-BDF0-54851D1739D0}"/>
              </a:ext>
            </a:extLst>
          </p:cNvPr>
          <p:cNvSpPr/>
          <p:nvPr userDrawn="1"/>
        </p:nvSpPr>
        <p:spPr>
          <a:xfrm rot="5400000">
            <a:off x="339893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61" name="Date Placeholder 35">
            <a:extLst>
              <a:ext uri="{FF2B5EF4-FFF2-40B4-BE49-F238E27FC236}">
                <a16:creationId xmlns:a16="http://schemas.microsoft.com/office/drawing/2014/main" id="{D6890A67-3C66-4F8A-B1A6-05469F40F879}"/>
              </a:ext>
            </a:extLst>
          </p:cNvPr>
          <p:cNvSpPr>
            <a:spLocks noGrp="1"/>
          </p:cNvSpPr>
          <p:nvPr>
            <p:ph type="dt" sz="half" idx="10"/>
          </p:nvPr>
        </p:nvSpPr>
        <p:spPr>
          <a:xfrm>
            <a:off x="8197353" y="6309360"/>
            <a:ext cx="2151134" cy="457200"/>
          </a:xfrm>
        </p:spPr>
        <p:txBody>
          <a:bodyPr/>
          <a:lstStyle/>
          <a:p>
            <a:pPr algn="l"/>
            <a:r>
              <a:rPr lang="en-US">
                <a:solidFill>
                  <a:srgbClr val="FFFFFF"/>
                </a:solidFill>
                <a:effectLst>
                  <a:outerShdw blurRad="50800" dist="38100" dir="2700000" algn="tl" rotWithShape="0">
                    <a:prstClr val="black">
                      <a:alpha val="43000"/>
                    </a:prstClr>
                  </a:outerShdw>
                </a:effectLst>
              </a:rPr>
              <a:t>2/1/20XX</a:t>
            </a:r>
            <a:endParaRPr lang="en-US" dirty="0">
              <a:solidFill>
                <a:srgbClr val="FFFFFF"/>
              </a:solidFill>
              <a:effectLst>
                <a:outerShdw blurRad="50800" dist="38100" dir="2700000" algn="tl" rotWithShape="0">
                  <a:prstClr val="black">
                    <a:alpha val="43000"/>
                  </a:prstClr>
                </a:outerShdw>
              </a:effectLst>
            </a:endParaRPr>
          </a:p>
        </p:txBody>
      </p:sp>
      <p:sp>
        <p:nvSpPr>
          <p:cNvPr id="62" name="Slide Number Placeholder 36">
            <a:extLst>
              <a:ext uri="{FF2B5EF4-FFF2-40B4-BE49-F238E27FC236}">
                <a16:creationId xmlns:a16="http://schemas.microsoft.com/office/drawing/2014/main" id="{46849723-0CBF-47CA-9477-4D42CAC71FCC}"/>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solidFill>
                  <a:srgbClr val="FFFFFF"/>
                </a:solidFill>
                <a:effectLst>
                  <a:outerShdw blurRad="50800" dist="38100" dir="2700000" algn="tl" rotWithShape="0">
                    <a:prstClr val="black">
                      <a:alpha val="43000"/>
                    </a:prstClr>
                  </a:outerShdw>
                </a:effectLst>
              </a:rPr>
              <a:pPr/>
              <a:t>‹#›</a:t>
            </a:fld>
            <a:endParaRPr lang="en-US" dirty="0">
              <a:solidFill>
                <a:srgbClr val="FFFFFF"/>
              </a:solidFill>
              <a:effectLst>
                <a:outerShdw blurRad="50800" dist="38100" dir="2700000" algn="tl" rotWithShape="0">
                  <a:prstClr val="black">
                    <a:alpha val="43000"/>
                  </a:prstClr>
                </a:outerShdw>
              </a:effectLst>
            </a:endParaRPr>
          </a:p>
        </p:txBody>
      </p:sp>
      <p:sp>
        <p:nvSpPr>
          <p:cNvPr id="65" name="Picture Placeholder 64">
            <a:extLst>
              <a:ext uri="{FF2B5EF4-FFF2-40B4-BE49-F238E27FC236}">
                <a16:creationId xmlns:a16="http://schemas.microsoft.com/office/drawing/2014/main" id="{D60E3C33-714C-4528-93A6-4470C3E89AE4}"/>
              </a:ext>
            </a:extLst>
          </p:cNvPr>
          <p:cNvSpPr>
            <a:spLocks noGrp="1"/>
          </p:cNvSpPr>
          <p:nvPr>
            <p:ph type="pic" sz="quarter" idx="13" hasCustomPrompt="1"/>
          </p:nvPr>
        </p:nvSpPr>
        <p:spPr>
          <a:xfrm>
            <a:off x="6859936" y="-2"/>
            <a:ext cx="5332064" cy="6858002"/>
          </a:xfrm>
          <a:custGeom>
            <a:avLst/>
            <a:gdLst>
              <a:gd name="connsiteX0" fmla="*/ 0 w 5332064"/>
              <a:gd name="connsiteY0" fmla="*/ 0 h 6858002"/>
              <a:gd name="connsiteX1" fmla="*/ 5332064 w 5332064"/>
              <a:gd name="connsiteY1" fmla="*/ 0 h 6858002"/>
              <a:gd name="connsiteX2" fmla="*/ 5332064 w 5332064"/>
              <a:gd name="connsiteY2" fmla="*/ 6858002 h 6858002"/>
              <a:gd name="connsiteX3" fmla="*/ 0 w 5332064"/>
              <a:gd name="connsiteY3" fmla="*/ 6858002 h 6858002"/>
            </a:gdLst>
            <a:ahLst/>
            <a:cxnLst>
              <a:cxn ang="0">
                <a:pos x="connsiteX0" y="connsiteY0"/>
              </a:cxn>
              <a:cxn ang="0">
                <a:pos x="connsiteX1" y="connsiteY1"/>
              </a:cxn>
              <a:cxn ang="0">
                <a:pos x="connsiteX2" y="connsiteY2"/>
              </a:cxn>
              <a:cxn ang="0">
                <a:pos x="connsiteX3" y="connsiteY3"/>
              </a:cxn>
            </a:cxnLst>
            <a:rect l="l" t="t" r="r" b="b"/>
            <a:pathLst>
              <a:path w="5332064" h="6858002">
                <a:moveTo>
                  <a:pt x="0" y="0"/>
                </a:moveTo>
                <a:lnTo>
                  <a:pt x="5332064" y="0"/>
                </a:lnTo>
                <a:lnTo>
                  <a:pt x="5332064" y="6858002"/>
                </a:lnTo>
                <a:lnTo>
                  <a:pt x="0" y="6858002"/>
                </a:lnTo>
                <a:close/>
              </a:path>
            </a:pathLst>
          </a:custGeom>
        </p:spPr>
        <p:txBody>
          <a:bodyPr wrap="square" anchor="t">
            <a:noAutofit/>
          </a:bodyPr>
          <a:lstStyle>
            <a:lvl1pPr algn="ctr">
              <a:defRPr/>
            </a:lvl1pPr>
          </a:lstStyle>
          <a:p>
            <a:r>
              <a:rPr lang="en-US" dirty="0"/>
              <a:t>Click to add photo</a:t>
            </a:r>
          </a:p>
        </p:txBody>
      </p:sp>
    </p:spTree>
    <p:extLst>
      <p:ext uri="{BB962C8B-B14F-4D97-AF65-F5344CB8AC3E}">
        <p14:creationId xmlns:p14="http://schemas.microsoft.com/office/powerpoint/2010/main" val="4258252642"/>
      </p:ext>
    </p:extLst>
  </p:cSld>
  <p:clrMapOvr>
    <a:masterClrMapping/>
  </p:clrMapOvr>
  <p:extLst>
    <p:ext uri="{DCECCB84-F9BA-43D5-87BE-67443E8EF086}">
      <p15:sldGuideLst xmlns:p15="http://schemas.microsoft.com/office/powerpoint/2012/main">
        <p15:guide id="1" orient="horz" pos="405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F5F5DFA-1BC3-4062-9356-6145C9F7CD56}"/>
              </a:ext>
              <a:ext uri="{C183D7F6-B498-43B3-948B-1728B52AA6E4}">
                <adec:decorative xmlns:adec="http://schemas.microsoft.com/office/drawing/2017/decorative" val="1"/>
              </a:ext>
            </a:extLst>
          </p:cNvPr>
          <p:cNvSpPr/>
          <p:nvPr userDrawn="1"/>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8" name="Rectangle 7">
            <a:extLst>
              <a:ext uri="{FF2B5EF4-FFF2-40B4-BE49-F238E27FC236}">
                <a16:creationId xmlns:a16="http://schemas.microsoft.com/office/drawing/2014/main" id="{E6B5D461-AEC0-477F-A77A-6227F95A8374}"/>
              </a:ext>
              <a:ext uri="{C183D7F6-B498-43B3-948B-1728B52AA6E4}">
                <adec:decorative xmlns:adec="http://schemas.microsoft.com/office/drawing/2017/decorative" val="1"/>
              </a:ext>
            </a:extLst>
          </p:cNvPr>
          <p:cNvSpPr/>
          <p:nvPr userDrawn="1"/>
        </p:nvSpPr>
        <p:spPr>
          <a:xfrm>
            <a:off x="8175813" y="0"/>
            <a:ext cx="4016188" cy="105654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10" name="Rectangle 9">
            <a:extLst>
              <a:ext uri="{FF2B5EF4-FFF2-40B4-BE49-F238E27FC236}">
                <a16:creationId xmlns:a16="http://schemas.microsoft.com/office/drawing/2014/main" id="{DE1A041D-DE47-45FA-AC78-CC7FD02571F2}"/>
              </a:ext>
              <a:ext uri="{C183D7F6-B498-43B3-948B-1728B52AA6E4}">
                <adec:decorative xmlns:adec="http://schemas.microsoft.com/office/drawing/2017/decorative" val="1"/>
              </a:ext>
            </a:extLst>
          </p:cNvPr>
          <p:cNvSpPr/>
          <p:nvPr userDrawn="1"/>
        </p:nvSpPr>
        <p:spPr>
          <a:xfrm>
            <a:off x="1525" y="1031500"/>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11" name="Rectangle 10">
            <a:extLst>
              <a:ext uri="{FF2B5EF4-FFF2-40B4-BE49-F238E27FC236}">
                <a16:creationId xmlns:a16="http://schemas.microsoft.com/office/drawing/2014/main" id="{11614254-52EF-4F58-99B1-CDA7C39223C1}"/>
              </a:ext>
              <a:ext uri="{C183D7F6-B498-43B3-948B-1728B52AA6E4}">
                <adec:decorative xmlns:adec="http://schemas.microsoft.com/office/drawing/2017/decorative" val="1"/>
              </a:ext>
            </a:extLst>
          </p:cNvPr>
          <p:cNvSpPr/>
          <p:nvPr userDrawn="1"/>
        </p:nvSpPr>
        <p:spPr>
          <a:xfrm>
            <a:off x="3049" y="1095508"/>
            <a:ext cx="8203482" cy="5016893"/>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12" name="Title 1">
            <a:extLst>
              <a:ext uri="{FF2B5EF4-FFF2-40B4-BE49-F238E27FC236}">
                <a16:creationId xmlns:a16="http://schemas.microsoft.com/office/drawing/2014/main" id="{BD3B3ABA-0408-41EA-935D-D4F4586AA840}"/>
              </a:ext>
            </a:extLst>
          </p:cNvPr>
          <p:cNvSpPr>
            <a:spLocks noGrp="1"/>
          </p:cNvSpPr>
          <p:nvPr>
            <p:ph type="title" hasCustomPrompt="1"/>
          </p:nvPr>
        </p:nvSpPr>
        <p:spPr>
          <a:xfrm>
            <a:off x="787178" y="1475399"/>
            <a:ext cx="6623040" cy="791861"/>
          </a:xfrm>
        </p:spPr>
        <p:txBody>
          <a:bodyPr>
            <a:normAutofit/>
          </a:bodyPr>
          <a:lstStyle>
            <a:lvl1pPr>
              <a:defRPr/>
            </a:lvl1pPr>
          </a:lstStyle>
          <a:p>
            <a:r>
              <a:rPr lang="en-US" dirty="0"/>
              <a:t>Click to add title</a:t>
            </a:r>
          </a:p>
        </p:txBody>
      </p:sp>
      <p:sp>
        <p:nvSpPr>
          <p:cNvPr id="13" name="Content Placeholder 2">
            <a:extLst>
              <a:ext uri="{FF2B5EF4-FFF2-40B4-BE49-F238E27FC236}">
                <a16:creationId xmlns:a16="http://schemas.microsoft.com/office/drawing/2014/main" id="{40D7EF23-28EE-4115-879A-D95BBAC66241}"/>
              </a:ext>
            </a:extLst>
          </p:cNvPr>
          <p:cNvSpPr>
            <a:spLocks noGrp="1"/>
          </p:cNvSpPr>
          <p:nvPr>
            <p:ph idx="1" hasCustomPrompt="1"/>
          </p:nvPr>
        </p:nvSpPr>
        <p:spPr>
          <a:xfrm>
            <a:off x="787179" y="2502047"/>
            <a:ext cx="6623039" cy="3030599"/>
          </a:xfrm>
        </p:spPr>
        <p:txBody>
          <a:bodyPr anchor="t">
            <a:normAutofit/>
          </a:bodyPr>
          <a:lstStyle>
            <a:lvl1pPr>
              <a:defRPr sz="2000" b="0"/>
            </a:lvl1pPr>
          </a:lstStyle>
          <a:p>
            <a:r>
              <a:rPr lang="en-US" dirty="0"/>
              <a:t>Click to add text</a:t>
            </a:r>
          </a:p>
        </p:txBody>
      </p:sp>
      <p:sp>
        <p:nvSpPr>
          <p:cNvPr id="23" name="Picture Placeholder 22">
            <a:extLst>
              <a:ext uri="{FF2B5EF4-FFF2-40B4-BE49-F238E27FC236}">
                <a16:creationId xmlns:a16="http://schemas.microsoft.com/office/drawing/2014/main" id="{E4B41004-DE9E-4B19-B7DE-91782B37C841}"/>
              </a:ext>
            </a:extLst>
          </p:cNvPr>
          <p:cNvSpPr>
            <a:spLocks noGrp="1"/>
          </p:cNvSpPr>
          <p:nvPr>
            <p:ph type="pic" sz="quarter" idx="13" hasCustomPrompt="1"/>
          </p:nvPr>
        </p:nvSpPr>
        <p:spPr>
          <a:xfrm>
            <a:off x="8194348" y="1085431"/>
            <a:ext cx="3997652" cy="5037857"/>
          </a:xfrm>
          <a:custGeom>
            <a:avLst/>
            <a:gdLst>
              <a:gd name="connsiteX0" fmla="*/ 0 w 3997652"/>
              <a:gd name="connsiteY0" fmla="*/ 0 h 5037857"/>
              <a:gd name="connsiteX1" fmla="*/ 3997652 w 3997652"/>
              <a:gd name="connsiteY1" fmla="*/ 0 h 5037857"/>
              <a:gd name="connsiteX2" fmla="*/ 3997652 w 3997652"/>
              <a:gd name="connsiteY2" fmla="*/ 5037857 h 5037857"/>
              <a:gd name="connsiteX3" fmla="*/ 0 w 3997652"/>
              <a:gd name="connsiteY3" fmla="*/ 5037857 h 5037857"/>
            </a:gdLst>
            <a:ahLst/>
            <a:cxnLst>
              <a:cxn ang="0">
                <a:pos x="connsiteX0" y="connsiteY0"/>
              </a:cxn>
              <a:cxn ang="0">
                <a:pos x="connsiteX1" y="connsiteY1"/>
              </a:cxn>
              <a:cxn ang="0">
                <a:pos x="connsiteX2" y="connsiteY2"/>
              </a:cxn>
              <a:cxn ang="0">
                <a:pos x="connsiteX3" y="connsiteY3"/>
              </a:cxn>
            </a:cxnLst>
            <a:rect l="l" t="t" r="r" b="b"/>
            <a:pathLst>
              <a:path w="3997652" h="5037857">
                <a:moveTo>
                  <a:pt x="0" y="0"/>
                </a:moveTo>
                <a:lnTo>
                  <a:pt x="3997652" y="0"/>
                </a:lnTo>
                <a:lnTo>
                  <a:pt x="3997652" y="5037857"/>
                </a:lnTo>
                <a:lnTo>
                  <a:pt x="0" y="5037857"/>
                </a:lnTo>
                <a:close/>
              </a:path>
            </a:pathLst>
          </a:custGeom>
        </p:spPr>
        <p:txBody>
          <a:bodyPr wrap="square" anchor="t">
            <a:noAutofit/>
          </a:bodyPr>
          <a:lstStyle>
            <a:lvl1pPr algn="ctr">
              <a:defRPr/>
            </a:lvl1pPr>
          </a:lstStyle>
          <a:p>
            <a:r>
              <a:rPr lang="en-US" dirty="0"/>
              <a:t>Click to add photo</a:t>
            </a:r>
          </a:p>
        </p:txBody>
      </p:sp>
      <p:sp>
        <p:nvSpPr>
          <p:cNvPr id="14" name="Rectangle 13">
            <a:extLst>
              <a:ext uri="{FF2B5EF4-FFF2-40B4-BE49-F238E27FC236}">
                <a16:creationId xmlns:a16="http://schemas.microsoft.com/office/drawing/2014/main" id="{1837301C-2B9B-4119-9002-BD6DB2AB87FB}"/>
              </a:ext>
              <a:ext uri="{C183D7F6-B498-43B3-948B-1728B52AA6E4}">
                <adec:decorative xmlns:adec="http://schemas.microsoft.com/office/drawing/2017/decorative" val="1"/>
              </a:ext>
            </a:extLst>
          </p:cNvPr>
          <p:cNvSpPr/>
          <p:nvPr userDrawn="1"/>
        </p:nvSpPr>
        <p:spPr>
          <a:xfrm>
            <a:off x="-1" y="6144405"/>
            <a:ext cx="8150087" cy="71359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15" name="Rectangle 14">
            <a:extLst>
              <a:ext uri="{FF2B5EF4-FFF2-40B4-BE49-F238E27FC236}">
                <a16:creationId xmlns:a16="http://schemas.microsoft.com/office/drawing/2014/main" id="{BD12738D-D0ED-4899-A01C-42439B5B3E64}"/>
              </a:ext>
              <a:ext uri="{C183D7F6-B498-43B3-948B-1728B52AA6E4}">
                <adec:decorative xmlns:adec="http://schemas.microsoft.com/office/drawing/2017/decorative" val="1"/>
              </a:ext>
            </a:extLst>
          </p:cNvPr>
          <p:cNvSpPr/>
          <p:nvPr userDrawn="1"/>
        </p:nvSpPr>
        <p:spPr>
          <a:xfrm>
            <a:off x="8206532" y="6167615"/>
            <a:ext cx="3982418" cy="690385"/>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16" name="Rectangle 15">
            <a:extLst>
              <a:ext uri="{FF2B5EF4-FFF2-40B4-BE49-F238E27FC236}">
                <a16:creationId xmlns:a16="http://schemas.microsoft.com/office/drawing/2014/main" id="{5EED261D-45B9-40C1-8341-8B8B796E8AE2}"/>
              </a:ext>
              <a:ext uri="{C183D7F6-B498-43B3-948B-1728B52AA6E4}">
                <adec:decorative xmlns:adec="http://schemas.microsoft.com/office/drawing/2017/decorative" val="1"/>
              </a:ext>
            </a:extLst>
          </p:cNvPr>
          <p:cNvSpPr/>
          <p:nvPr userDrawn="1"/>
        </p:nvSpPr>
        <p:spPr>
          <a:xfrm>
            <a:off x="1525" y="6112401"/>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17" name="Footer Placeholder 7">
            <a:extLst>
              <a:ext uri="{FF2B5EF4-FFF2-40B4-BE49-F238E27FC236}">
                <a16:creationId xmlns:a16="http://schemas.microsoft.com/office/drawing/2014/main" id="{182CF530-D736-4104-8678-850EEDF997E6}"/>
              </a:ext>
            </a:extLst>
          </p:cNvPr>
          <p:cNvSpPr>
            <a:spLocks noGrp="1"/>
          </p:cNvSpPr>
          <p:nvPr>
            <p:ph type="ftr" sz="quarter" idx="11"/>
          </p:nvPr>
        </p:nvSpPr>
        <p:spPr>
          <a:xfrm>
            <a:off x="787178" y="6309360"/>
            <a:ext cx="6623040" cy="457200"/>
          </a:xfrm>
        </p:spPr>
        <p:txBody>
          <a:bodyPr/>
          <a:lstStyle>
            <a:lvl1pPr>
              <a:defRPr>
                <a:solidFill>
                  <a:schemeClr val="bg1"/>
                </a:solidFill>
              </a:defRPr>
            </a:lvl1pPr>
          </a:lstStyle>
          <a:p>
            <a:r>
              <a:rPr lang="en-US" dirty="0"/>
              <a:t>Presentation Title</a:t>
            </a:r>
          </a:p>
        </p:txBody>
      </p:sp>
      <p:sp>
        <p:nvSpPr>
          <p:cNvPr id="18" name="Rectangle 17">
            <a:extLst>
              <a:ext uri="{FF2B5EF4-FFF2-40B4-BE49-F238E27FC236}">
                <a16:creationId xmlns:a16="http://schemas.microsoft.com/office/drawing/2014/main" id="{3E23953F-BF80-48E0-8282-62907D6C29C6}"/>
              </a:ext>
              <a:ext uri="{C183D7F6-B498-43B3-948B-1728B52AA6E4}">
                <adec:decorative xmlns:adec="http://schemas.microsoft.com/office/drawing/2017/decorative" val="1"/>
              </a:ext>
            </a:extLst>
          </p:cNvPr>
          <p:cNvSpPr/>
          <p:nvPr userDrawn="1"/>
        </p:nvSpPr>
        <p:spPr>
          <a:xfrm>
            <a:off x="8142523"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19" name="Date Placeholder 5">
            <a:extLst>
              <a:ext uri="{FF2B5EF4-FFF2-40B4-BE49-F238E27FC236}">
                <a16:creationId xmlns:a16="http://schemas.microsoft.com/office/drawing/2014/main" id="{8DEDB7CE-711E-4E43-9450-4C7BECE2FCFC}"/>
              </a:ext>
            </a:extLst>
          </p:cNvPr>
          <p:cNvSpPr>
            <a:spLocks noGrp="1"/>
          </p:cNvSpPr>
          <p:nvPr>
            <p:ph type="dt" sz="half" idx="10"/>
          </p:nvPr>
        </p:nvSpPr>
        <p:spPr>
          <a:xfrm>
            <a:off x="8379537" y="6309360"/>
            <a:ext cx="1885598" cy="457200"/>
          </a:xfrm>
        </p:spPr>
        <p:txBody>
          <a:bodyPr/>
          <a:lstStyle/>
          <a:p>
            <a:r>
              <a:rPr lang="en-US"/>
              <a:t>2/1/20XX</a:t>
            </a:r>
            <a:endParaRPr lang="en-US" dirty="0"/>
          </a:p>
        </p:txBody>
      </p:sp>
      <p:sp>
        <p:nvSpPr>
          <p:cNvPr id="20" name="Slide Number Placeholder 9">
            <a:extLst>
              <a:ext uri="{FF2B5EF4-FFF2-40B4-BE49-F238E27FC236}">
                <a16:creationId xmlns:a16="http://schemas.microsoft.com/office/drawing/2014/main" id="{F5D9588C-9E6B-42F6-8B42-D18388626ACB}"/>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t>‹#›</a:t>
            </a:fld>
            <a:endParaRPr lang="en-US" dirty="0"/>
          </a:p>
        </p:txBody>
      </p:sp>
    </p:spTree>
    <p:extLst>
      <p:ext uri="{BB962C8B-B14F-4D97-AF65-F5344CB8AC3E}">
        <p14:creationId xmlns:p14="http://schemas.microsoft.com/office/powerpoint/2010/main" val="22573483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Introduction">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C341663-7159-49AD-AAF3-4B3C490D8123}"/>
              </a:ext>
              <a:ext uri="{C183D7F6-B498-43B3-948B-1728B52AA6E4}">
                <adec:decorative xmlns:adec="http://schemas.microsoft.com/office/drawing/2017/decorative" val="1"/>
              </a:ext>
            </a:extLst>
          </p:cNvPr>
          <p:cNvSpPr/>
          <p:nvPr userDrawn="1"/>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25" name="Rectangle 24">
            <a:extLst>
              <a:ext uri="{FF2B5EF4-FFF2-40B4-BE49-F238E27FC236}">
                <a16:creationId xmlns:a16="http://schemas.microsoft.com/office/drawing/2014/main" id="{96DEFA91-CCB3-4B9E-9CFC-AA9D92073BB2}"/>
              </a:ext>
              <a:ext uri="{C183D7F6-B498-43B3-948B-1728B52AA6E4}">
                <adec:decorative xmlns:adec="http://schemas.microsoft.com/office/drawing/2017/decorative" val="1"/>
              </a:ext>
            </a:extLst>
          </p:cNvPr>
          <p:cNvSpPr/>
          <p:nvPr userDrawn="1"/>
        </p:nvSpPr>
        <p:spPr>
          <a:xfrm>
            <a:off x="0" y="3396996"/>
            <a:ext cx="461772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24" name="Rectangle 23">
            <a:extLst>
              <a:ext uri="{FF2B5EF4-FFF2-40B4-BE49-F238E27FC236}">
                <a16:creationId xmlns:a16="http://schemas.microsoft.com/office/drawing/2014/main" id="{D83D2425-8E71-4C9D-8737-018CE44525D0}"/>
              </a:ext>
              <a:ext uri="{C183D7F6-B498-43B3-948B-1728B52AA6E4}">
                <adec:decorative xmlns:adec="http://schemas.microsoft.com/office/drawing/2017/decorative" val="1"/>
              </a:ext>
            </a:extLst>
          </p:cNvPr>
          <p:cNvSpPr/>
          <p:nvPr userDrawn="1"/>
        </p:nvSpPr>
        <p:spPr>
          <a:xfrm rot="5400000">
            <a:off x="121655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27" name="Rectangle 26">
            <a:extLst>
              <a:ext uri="{FF2B5EF4-FFF2-40B4-BE49-F238E27FC236}">
                <a16:creationId xmlns:a16="http://schemas.microsoft.com/office/drawing/2014/main" id="{20F2EB12-394C-40E4-9186-CBD6635B5DA9}"/>
              </a:ext>
              <a:ext uri="{C183D7F6-B498-43B3-948B-1728B52AA6E4}">
                <adec:decorative xmlns:adec="http://schemas.microsoft.com/office/drawing/2017/decorative" val="1"/>
              </a:ext>
            </a:extLst>
          </p:cNvPr>
          <p:cNvSpPr/>
          <p:nvPr userDrawn="1"/>
        </p:nvSpPr>
        <p:spPr>
          <a:xfrm>
            <a:off x="4677552" y="0"/>
            <a:ext cx="7514448"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28" name="Title 1">
            <a:extLst>
              <a:ext uri="{FF2B5EF4-FFF2-40B4-BE49-F238E27FC236}">
                <a16:creationId xmlns:a16="http://schemas.microsoft.com/office/drawing/2014/main" id="{53F9468C-8821-4670-9C7C-78E7D75861AD}"/>
              </a:ext>
            </a:extLst>
          </p:cNvPr>
          <p:cNvSpPr>
            <a:spLocks noGrp="1"/>
          </p:cNvSpPr>
          <p:nvPr>
            <p:ph type="title" hasCustomPrompt="1"/>
          </p:nvPr>
        </p:nvSpPr>
        <p:spPr>
          <a:xfrm>
            <a:off x="5205915" y="673308"/>
            <a:ext cx="6457717" cy="1580890"/>
          </a:xfrm>
        </p:spPr>
        <p:txBody>
          <a:bodyPr/>
          <a:lstStyle>
            <a:lvl1pPr>
              <a:defRPr/>
            </a:lvl1pPr>
          </a:lstStyle>
          <a:p>
            <a:r>
              <a:rPr lang="en-US" dirty="0"/>
              <a:t>Click to add title</a:t>
            </a:r>
          </a:p>
        </p:txBody>
      </p:sp>
      <p:sp>
        <p:nvSpPr>
          <p:cNvPr id="35" name="Picture Placeholder 5">
            <a:extLst>
              <a:ext uri="{FF2B5EF4-FFF2-40B4-BE49-F238E27FC236}">
                <a16:creationId xmlns:a16="http://schemas.microsoft.com/office/drawing/2014/main" id="{6198A97B-719D-4F79-A04B-46EE272A1D90}"/>
              </a:ext>
            </a:extLst>
          </p:cNvPr>
          <p:cNvSpPr>
            <a:spLocks noGrp="1"/>
          </p:cNvSpPr>
          <p:nvPr>
            <p:ph type="pic" sz="quarter" idx="14" hasCustomPrompt="1"/>
          </p:nvPr>
        </p:nvSpPr>
        <p:spPr>
          <a:xfrm>
            <a:off x="0" y="3461004"/>
            <a:ext cx="4613547" cy="3396996"/>
          </a:xfrm>
        </p:spPr>
        <p:txBody>
          <a:bodyPr anchor="t"/>
          <a:lstStyle>
            <a:lvl1pPr algn="ctr">
              <a:defRPr/>
            </a:lvl1pPr>
          </a:lstStyle>
          <a:p>
            <a:r>
              <a:rPr lang="en-US" dirty="0"/>
              <a:t>Click to add photo</a:t>
            </a:r>
          </a:p>
        </p:txBody>
      </p:sp>
      <p:sp>
        <p:nvSpPr>
          <p:cNvPr id="34" name="Picture Placeholder 5">
            <a:extLst>
              <a:ext uri="{FF2B5EF4-FFF2-40B4-BE49-F238E27FC236}">
                <a16:creationId xmlns:a16="http://schemas.microsoft.com/office/drawing/2014/main" id="{79E62157-5D84-47E4-9718-5408E1C7E769}"/>
              </a:ext>
            </a:extLst>
          </p:cNvPr>
          <p:cNvSpPr>
            <a:spLocks noGrp="1"/>
          </p:cNvSpPr>
          <p:nvPr>
            <p:ph type="pic" sz="quarter" idx="13" hasCustomPrompt="1"/>
          </p:nvPr>
        </p:nvSpPr>
        <p:spPr>
          <a:xfrm>
            <a:off x="0" y="0"/>
            <a:ext cx="4613548" cy="3396994"/>
          </a:xfrm>
        </p:spPr>
        <p:txBody>
          <a:bodyPr anchor="t"/>
          <a:lstStyle>
            <a:lvl1pPr algn="ctr">
              <a:defRPr/>
            </a:lvl1pPr>
          </a:lstStyle>
          <a:p>
            <a:r>
              <a:rPr lang="en-US" dirty="0"/>
              <a:t>Click to add photo</a:t>
            </a:r>
          </a:p>
        </p:txBody>
      </p:sp>
      <p:sp>
        <p:nvSpPr>
          <p:cNvPr id="29" name="Content Placeholder 2">
            <a:extLst>
              <a:ext uri="{FF2B5EF4-FFF2-40B4-BE49-F238E27FC236}">
                <a16:creationId xmlns:a16="http://schemas.microsoft.com/office/drawing/2014/main" id="{551E6FEF-934C-427E-A65F-F501B04FC71D}"/>
              </a:ext>
            </a:extLst>
          </p:cNvPr>
          <p:cNvSpPr>
            <a:spLocks noGrp="1"/>
          </p:cNvSpPr>
          <p:nvPr>
            <p:ph idx="1" hasCustomPrompt="1"/>
          </p:nvPr>
        </p:nvSpPr>
        <p:spPr>
          <a:xfrm>
            <a:off x="5205918" y="2353586"/>
            <a:ext cx="6457717" cy="3767496"/>
          </a:xfrm>
        </p:spPr>
        <p:txBody>
          <a:bodyPr anchor="t">
            <a:normAutofit/>
          </a:bodyPr>
          <a:lstStyle>
            <a:lvl1pPr>
              <a:defRPr sz="1600" b="0" baseline="0"/>
            </a:lvl1pPr>
          </a:lstStyle>
          <a:p>
            <a:r>
              <a:rPr lang="en-US" dirty="0"/>
              <a:t>Click to add text</a:t>
            </a:r>
          </a:p>
        </p:txBody>
      </p:sp>
      <p:sp>
        <p:nvSpPr>
          <p:cNvPr id="31" name="Footer Placeholder 4">
            <a:extLst>
              <a:ext uri="{FF2B5EF4-FFF2-40B4-BE49-F238E27FC236}">
                <a16:creationId xmlns:a16="http://schemas.microsoft.com/office/drawing/2014/main" id="{CA12CF76-B207-465C-A494-3C57818ACCE6}"/>
              </a:ext>
            </a:extLst>
          </p:cNvPr>
          <p:cNvSpPr>
            <a:spLocks noGrp="1"/>
          </p:cNvSpPr>
          <p:nvPr>
            <p:ph type="ftr" sz="quarter" idx="11"/>
          </p:nvPr>
        </p:nvSpPr>
        <p:spPr>
          <a:xfrm>
            <a:off x="261906" y="6309360"/>
            <a:ext cx="4097030" cy="457200"/>
          </a:xfrm>
        </p:spPr>
        <p:txBody>
          <a:bodyPr/>
          <a:lstStyle>
            <a:lvl1pPr>
              <a:defRPr>
                <a:effectLst>
                  <a:outerShdw blurRad="50800" dist="38100" dir="240000" algn="ctr" rotWithShape="0">
                    <a:schemeClr val="tx1">
                      <a:alpha val="43000"/>
                    </a:schemeClr>
                  </a:outerShdw>
                </a:effectLst>
              </a:defRPr>
            </a:lvl1pPr>
          </a:lstStyle>
          <a:p>
            <a:r>
              <a:rPr lang="en-US" dirty="0"/>
              <a:t>Presentation Title</a:t>
            </a:r>
          </a:p>
        </p:txBody>
      </p:sp>
      <p:sp>
        <p:nvSpPr>
          <p:cNvPr id="30" name="Date Placeholder 3">
            <a:extLst>
              <a:ext uri="{FF2B5EF4-FFF2-40B4-BE49-F238E27FC236}">
                <a16:creationId xmlns:a16="http://schemas.microsoft.com/office/drawing/2014/main" id="{9F682261-0FB4-4600-86B5-DDF27881F743}"/>
              </a:ext>
            </a:extLst>
          </p:cNvPr>
          <p:cNvSpPr>
            <a:spLocks noGrp="1"/>
          </p:cNvSpPr>
          <p:nvPr>
            <p:ph type="dt" sz="half" idx="10"/>
          </p:nvPr>
        </p:nvSpPr>
        <p:spPr>
          <a:xfrm>
            <a:off x="5205303" y="6309360"/>
            <a:ext cx="3411973" cy="457200"/>
          </a:xfrm>
        </p:spPr>
        <p:txBody>
          <a:bodyPr/>
          <a:lstStyle>
            <a:lvl1pPr>
              <a:defRPr>
                <a:effectLst/>
              </a:defRPr>
            </a:lvl1pPr>
          </a:lstStyle>
          <a:p>
            <a:r>
              <a:rPr lang="en-US">
                <a:solidFill>
                  <a:schemeClr val="tx2"/>
                </a:solidFill>
              </a:rPr>
              <a:t>2/1/20XX</a:t>
            </a:r>
            <a:endParaRPr lang="en-US" dirty="0"/>
          </a:p>
        </p:txBody>
      </p:sp>
      <p:sp>
        <p:nvSpPr>
          <p:cNvPr id="32" name="Slide Number Placeholder 5">
            <a:extLst>
              <a:ext uri="{FF2B5EF4-FFF2-40B4-BE49-F238E27FC236}">
                <a16:creationId xmlns:a16="http://schemas.microsoft.com/office/drawing/2014/main" id="{632EB37A-06D5-4BC7-BC11-75B1719B0EA4}"/>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t>‹#›</a:t>
            </a:fld>
            <a:endParaRPr lang="en-US" dirty="0"/>
          </a:p>
        </p:txBody>
      </p:sp>
    </p:spTree>
    <p:extLst>
      <p:ext uri="{BB962C8B-B14F-4D97-AF65-F5344CB8AC3E}">
        <p14:creationId xmlns:p14="http://schemas.microsoft.com/office/powerpoint/2010/main" val="23485229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E7E77A60-3019-43AE-AA38-E130C04CFD8D}"/>
              </a:ext>
            </a:extLst>
          </p:cNvPr>
          <p:cNvSpPr/>
          <p:nvPr userDrawn="1"/>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25" name="Rectangle 24">
            <a:extLst>
              <a:ext uri="{FF2B5EF4-FFF2-40B4-BE49-F238E27FC236}">
                <a16:creationId xmlns:a16="http://schemas.microsoft.com/office/drawing/2014/main" id="{3FDBF0FB-88D2-4271-BFAF-D129CF8C2F68}"/>
              </a:ext>
            </a:extLst>
          </p:cNvPr>
          <p:cNvSpPr/>
          <p:nvPr userDrawn="1"/>
        </p:nvSpPr>
        <p:spPr>
          <a:xfrm>
            <a:off x="7547855" y="-4078"/>
            <a:ext cx="4641096" cy="105654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27" name="Rectangle 26">
            <a:extLst>
              <a:ext uri="{FF2B5EF4-FFF2-40B4-BE49-F238E27FC236}">
                <a16:creationId xmlns:a16="http://schemas.microsoft.com/office/drawing/2014/main" id="{862B807B-6DFA-471C-B675-016416207F0E}"/>
              </a:ext>
            </a:extLst>
          </p:cNvPr>
          <p:cNvSpPr/>
          <p:nvPr userDrawn="1"/>
        </p:nvSpPr>
        <p:spPr>
          <a:xfrm>
            <a:off x="1525" y="1031500"/>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28" name="Rectangle 27">
            <a:extLst>
              <a:ext uri="{FF2B5EF4-FFF2-40B4-BE49-F238E27FC236}">
                <a16:creationId xmlns:a16="http://schemas.microsoft.com/office/drawing/2014/main" id="{0555D4C0-9882-489D-AD77-A9F38B3784A6}"/>
              </a:ext>
            </a:extLst>
          </p:cNvPr>
          <p:cNvSpPr/>
          <p:nvPr userDrawn="1"/>
        </p:nvSpPr>
        <p:spPr>
          <a:xfrm>
            <a:off x="7585468" y="1095508"/>
            <a:ext cx="4603482" cy="5016893"/>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29" name="Title 1">
            <a:extLst>
              <a:ext uri="{FF2B5EF4-FFF2-40B4-BE49-F238E27FC236}">
                <a16:creationId xmlns:a16="http://schemas.microsoft.com/office/drawing/2014/main" id="{63F61843-5C9C-49E0-8A90-64085BC79F79}"/>
              </a:ext>
            </a:extLst>
          </p:cNvPr>
          <p:cNvSpPr>
            <a:spLocks noGrp="1"/>
          </p:cNvSpPr>
          <p:nvPr>
            <p:ph type="ctrTitle" hasCustomPrompt="1"/>
          </p:nvPr>
        </p:nvSpPr>
        <p:spPr>
          <a:xfrm>
            <a:off x="7973503" y="1709530"/>
            <a:ext cx="3754671" cy="2528515"/>
          </a:xfrm>
        </p:spPr>
        <p:txBody>
          <a:bodyPr anchor="b"/>
          <a:lstStyle>
            <a:lvl1pPr>
              <a:lnSpc>
                <a:spcPct val="100000"/>
              </a:lnSpc>
              <a:defRPr/>
            </a:lvl1pPr>
          </a:lstStyle>
          <a:p>
            <a:r>
              <a:rPr lang="en-US" sz="3600" b="1" cap="none" dirty="0">
                <a:solidFill>
                  <a:schemeClr val="tx2"/>
                </a:solidFill>
              </a:rPr>
              <a:t>Click to add title</a:t>
            </a:r>
          </a:p>
        </p:txBody>
      </p:sp>
      <p:sp>
        <p:nvSpPr>
          <p:cNvPr id="30" name="Subtitle 2">
            <a:extLst>
              <a:ext uri="{FF2B5EF4-FFF2-40B4-BE49-F238E27FC236}">
                <a16:creationId xmlns:a16="http://schemas.microsoft.com/office/drawing/2014/main" id="{15C8BDC7-F09C-40A3-B14E-9A49781EE6CE}"/>
              </a:ext>
            </a:extLst>
          </p:cNvPr>
          <p:cNvSpPr>
            <a:spLocks noGrp="1"/>
          </p:cNvSpPr>
          <p:nvPr>
            <p:ph type="subTitle" idx="1" hasCustomPrompt="1"/>
          </p:nvPr>
        </p:nvSpPr>
        <p:spPr>
          <a:xfrm>
            <a:off x="7976914" y="4238046"/>
            <a:ext cx="3806919" cy="1741404"/>
          </a:xfrm>
        </p:spPr>
        <p:txBody>
          <a:bodyPr anchor="t">
            <a:normAutofit/>
          </a:bodyPr>
          <a:lstStyle>
            <a:lvl1pPr>
              <a:defRPr sz="1600" b="0"/>
            </a:lvl1pPr>
          </a:lstStyle>
          <a:p>
            <a:r>
              <a:rPr lang="en-US" sz="2000" dirty="0">
                <a:solidFill>
                  <a:schemeClr val="tx2"/>
                </a:solidFill>
              </a:rPr>
              <a:t>Click to add subtitle</a:t>
            </a:r>
          </a:p>
        </p:txBody>
      </p:sp>
      <p:sp>
        <p:nvSpPr>
          <p:cNvPr id="32" name="Rectangle 31">
            <a:extLst>
              <a:ext uri="{FF2B5EF4-FFF2-40B4-BE49-F238E27FC236}">
                <a16:creationId xmlns:a16="http://schemas.microsoft.com/office/drawing/2014/main" id="{247A5DB4-1ED7-4630-89AF-F1802E44EF89}"/>
              </a:ext>
            </a:extLst>
          </p:cNvPr>
          <p:cNvSpPr/>
          <p:nvPr userDrawn="1"/>
        </p:nvSpPr>
        <p:spPr>
          <a:xfrm>
            <a:off x="0" y="6144405"/>
            <a:ext cx="7534656" cy="71359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33" name="Rectangle 32">
            <a:extLst>
              <a:ext uri="{FF2B5EF4-FFF2-40B4-BE49-F238E27FC236}">
                <a16:creationId xmlns:a16="http://schemas.microsoft.com/office/drawing/2014/main" id="{6E5D4012-4107-490F-A369-EA7063242A98}"/>
              </a:ext>
            </a:extLst>
          </p:cNvPr>
          <p:cNvSpPr/>
          <p:nvPr userDrawn="1"/>
        </p:nvSpPr>
        <p:spPr>
          <a:xfrm>
            <a:off x="7585468" y="6167615"/>
            <a:ext cx="4603482" cy="690385"/>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34" name="Rectangle 33">
            <a:extLst>
              <a:ext uri="{FF2B5EF4-FFF2-40B4-BE49-F238E27FC236}">
                <a16:creationId xmlns:a16="http://schemas.microsoft.com/office/drawing/2014/main" id="{795C79E2-9EA5-4713-B4AF-0E4572CFFA2F}"/>
              </a:ext>
            </a:extLst>
          </p:cNvPr>
          <p:cNvSpPr/>
          <p:nvPr userDrawn="1"/>
        </p:nvSpPr>
        <p:spPr>
          <a:xfrm>
            <a:off x="1525" y="6112401"/>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36" name="Rectangle 35">
            <a:extLst>
              <a:ext uri="{FF2B5EF4-FFF2-40B4-BE49-F238E27FC236}">
                <a16:creationId xmlns:a16="http://schemas.microsoft.com/office/drawing/2014/main" id="{274C09E2-06F0-4230-8DAD-A0DBF01F8603}"/>
              </a:ext>
            </a:extLst>
          </p:cNvPr>
          <p:cNvSpPr/>
          <p:nvPr userDrawn="1"/>
        </p:nvSpPr>
        <p:spPr>
          <a:xfrm>
            <a:off x="7521459"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40" name="Picture Placeholder 38">
            <a:extLst>
              <a:ext uri="{FF2B5EF4-FFF2-40B4-BE49-F238E27FC236}">
                <a16:creationId xmlns:a16="http://schemas.microsoft.com/office/drawing/2014/main" id="{AB2070F4-085F-4F8D-A1E8-A58E5F8F0687}"/>
              </a:ext>
            </a:extLst>
          </p:cNvPr>
          <p:cNvSpPr>
            <a:spLocks noGrp="1"/>
          </p:cNvSpPr>
          <p:nvPr>
            <p:ph type="pic" sz="quarter" idx="13" hasCustomPrompt="1"/>
          </p:nvPr>
        </p:nvSpPr>
        <p:spPr>
          <a:xfrm>
            <a:off x="1" y="1095509"/>
            <a:ext cx="7519932" cy="5016892"/>
          </a:xfrm>
        </p:spPr>
        <p:txBody>
          <a:bodyPr anchor="t"/>
          <a:lstStyle>
            <a:lvl1pPr algn="ctr">
              <a:defRPr/>
            </a:lvl1pPr>
          </a:lstStyle>
          <a:p>
            <a:r>
              <a:rPr lang="en-US" dirty="0"/>
              <a:t>Click to add photo</a:t>
            </a:r>
          </a:p>
        </p:txBody>
      </p:sp>
    </p:spTree>
    <p:extLst>
      <p:ext uri="{BB962C8B-B14F-4D97-AF65-F5344CB8AC3E}">
        <p14:creationId xmlns:p14="http://schemas.microsoft.com/office/powerpoint/2010/main" val="36404905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DEBA854-A26D-41C5-9D40-DF6B49ACB136}"/>
              </a:ext>
            </a:extLst>
          </p:cNvPr>
          <p:cNvSpPr/>
          <p:nvPr userDrawn="1"/>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13" name="Rectangle 12">
            <a:extLst>
              <a:ext uri="{FF2B5EF4-FFF2-40B4-BE49-F238E27FC236}">
                <a16:creationId xmlns:a16="http://schemas.microsoft.com/office/drawing/2014/main" id="{0995BFA7-EB65-4E20-A693-324FEF74D3AE}"/>
              </a:ext>
            </a:extLst>
          </p:cNvPr>
          <p:cNvSpPr/>
          <p:nvPr userDrawn="1"/>
        </p:nvSpPr>
        <p:spPr>
          <a:xfrm>
            <a:off x="1038768" y="2130218"/>
            <a:ext cx="11153231" cy="4727782"/>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14" name="Rectangle 13">
            <a:extLst>
              <a:ext uri="{FF2B5EF4-FFF2-40B4-BE49-F238E27FC236}">
                <a16:creationId xmlns:a16="http://schemas.microsoft.com/office/drawing/2014/main" id="{6A9E9218-0397-4231-81F4-03972AB6A3DD}"/>
              </a:ext>
            </a:extLst>
          </p:cNvPr>
          <p:cNvSpPr/>
          <p:nvPr userDrawn="1"/>
        </p:nvSpPr>
        <p:spPr>
          <a:xfrm>
            <a:off x="0" y="896641"/>
            <a:ext cx="12192000" cy="13477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15" name="Title 1">
            <a:extLst>
              <a:ext uri="{FF2B5EF4-FFF2-40B4-BE49-F238E27FC236}">
                <a16:creationId xmlns:a16="http://schemas.microsoft.com/office/drawing/2014/main" id="{81905177-1789-44BB-950A-7018653E6466}"/>
              </a:ext>
            </a:extLst>
          </p:cNvPr>
          <p:cNvSpPr>
            <a:spLocks noGrp="1"/>
          </p:cNvSpPr>
          <p:nvPr>
            <p:ph type="title" hasCustomPrompt="1"/>
          </p:nvPr>
        </p:nvSpPr>
        <p:spPr>
          <a:xfrm>
            <a:off x="1535371" y="1044054"/>
            <a:ext cx="10013709" cy="1030360"/>
          </a:xfrm>
        </p:spPr>
        <p:txBody>
          <a:bodyPr/>
          <a:lstStyle>
            <a:lvl1pPr>
              <a:defRPr>
                <a:solidFill>
                  <a:schemeClr val="bg1"/>
                </a:solidFill>
              </a:defRPr>
            </a:lvl1pPr>
          </a:lstStyle>
          <a:p>
            <a:r>
              <a:rPr lang="en-US" dirty="0">
                <a:solidFill>
                  <a:schemeClr val="bg1"/>
                </a:solidFill>
              </a:rPr>
              <a:t>Click to add title</a:t>
            </a:r>
          </a:p>
        </p:txBody>
      </p:sp>
      <p:sp>
        <p:nvSpPr>
          <p:cNvPr id="16" name="Rectangle 15">
            <a:extLst>
              <a:ext uri="{FF2B5EF4-FFF2-40B4-BE49-F238E27FC236}">
                <a16:creationId xmlns:a16="http://schemas.microsoft.com/office/drawing/2014/main" id="{AF2F4B8C-C655-4441-A7FF-616EF634E6E1}"/>
              </a:ext>
            </a:extLst>
          </p:cNvPr>
          <p:cNvSpPr/>
          <p:nvPr userDrawn="1"/>
        </p:nvSpPr>
        <p:spPr>
          <a:xfrm>
            <a:off x="-1" y="962423"/>
            <a:ext cx="1006766" cy="12161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17" name="Rectangle 16">
            <a:extLst>
              <a:ext uri="{FF2B5EF4-FFF2-40B4-BE49-F238E27FC236}">
                <a16:creationId xmlns:a16="http://schemas.microsoft.com/office/drawing/2014/main" id="{F89301A4-3CA9-4D0E-944E-1BE5921FA0B3}"/>
              </a:ext>
            </a:extLst>
          </p:cNvPr>
          <p:cNvSpPr/>
          <p:nvPr userDrawn="1"/>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19" name="Footer Placeholder 4">
            <a:extLst>
              <a:ext uri="{FF2B5EF4-FFF2-40B4-BE49-F238E27FC236}">
                <a16:creationId xmlns:a16="http://schemas.microsoft.com/office/drawing/2014/main" id="{A9C29C55-D1EC-4DD4-BA5B-11E4AB1578D7}"/>
              </a:ext>
            </a:extLst>
          </p:cNvPr>
          <p:cNvSpPr>
            <a:spLocks noGrp="1"/>
          </p:cNvSpPr>
          <p:nvPr>
            <p:ph type="ftr" sz="quarter" idx="11"/>
          </p:nvPr>
        </p:nvSpPr>
        <p:spPr>
          <a:xfrm>
            <a:off x="1535371" y="6309360"/>
            <a:ext cx="5732061" cy="457200"/>
          </a:xfrm>
        </p:spPr>
        <p:txBody>
          <a:bodyPr/>
          <a:lstStyle/>
          <a:p>
            <a:r>
              <a:rPr lang="en-US" dirty="0"/>
              <a:t>Presentation Title</a:t>
            </a:r>
          </a:p>
        </p:txBody>
      </p:sp>
      <p:sp>
        <p:nvSpPr>
          <p:cNvPr id="20" name="Date Placeholder 3">
            <a:extLst>
              <a:ext uri="{FF2B5EF4-FFF2-40B4-BE49-F238E27FC236}">
                <a16:creationId xmlns:a16="http://schemas.microsoft.com/office/drawing/2014/main" id="{C31C8C6B-3212-41F0-A8A1-4A6A700AFB9D}"/>
              </a:ext>
            </a:extLst>
          </p:cNvPr>
          <p:cNvSpPr>
            <a:spLocks noGrp="1"/>
          </p:cNvSpPr>
          <p:nvPr>
            <p:ph type="dt" sz="half" idx="10"/>
          </p:nvPr>
        </p:nvSpPr>
        <p:spPr>
          <a:xfrm>
            <a:off x="8202168" y="6309360"/>
            <a:ext cx="2148840" cy="457200"/>
          </a:xfrm>
        </p:spPr>
        <p:txBody>
          <a:bodyPr/>
          <a:lstStyle/>
          <a:p>
            <a:r>
              <a:rPr lang="en-US"/>
              <a:t>2/1/20XX</a:t>
            </a:r>
            <a:endParaRPr lang="en-US" dirty="0"/>
          </a:p>
        </p:txBody>
      </p:sp>
      <p:sp>
        <p:nvSpPr>
          <p:cNvPr id="21" name="Slide Number Placeholder 5">
            <a:extLst>
              <a:ext uri="{FF2B5EF4-FFF2-40B4-BE49-F238E27FC236}">
                <a16:creationId xmlns:a16="http://schemas.microsoft.com/office/drawing/2014/main" id="{67357410-255F-470C-AD92-44B15997A771}"/>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t>‹#›</a:t>
            </a:fld>
            <a:endParaRPr lang="en-US" dirty="0"/>
          </a:p>
        </p:txBody>
      </p:sp>
    </p:spTree>
    <p:extLst>
      <p:ext uri="{BB962C8B-B14F-4D97-AF65-F5344CB8AC3E}">
        <p14:creationId xmlns:p14="http://schemas.microsoft.com/office/powerpoint/2010/main" val="2604351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DF88512-9E62-4695-B350-39488566A1F7}"/>
              </a:ext>
            </a:extLst>
          </p:cNvPr>
          <p:cNvSpPr/>
          <p:nvPr userDrawn="1"/>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7" name="Rectangle 6">
            <a:extLst>
              <a:ext uri="{FF2B5EF4-FFF2-40B4-BE49-F238E27FC236}">
                <a16:creationId xmlns:a16="http://schemas.microsoft.com/office/drawing/2014/main" id="{18CD596D-95F4-4C5C-A0E7-86D747FE70BE}"/>
              </a:ext>
            </a:extLst>
          </p:cNvPr>
          <p:cNvSpPr/>
          <p:nvPr userDrawn="1"/>
        </p:nvSpPr>
        <p:spPr>
          <a:xfrm>
            <a:off x="1038768" y="2130218"/>
            <a:ext cx="11153231" cy="4727782"/>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8" name="Rectangle 7">
            <a:extLst>
              <a:ext uri="{FF2B5EF4-FFF2-40B4-BE49-F238E27FC236}">
                <a16:creationId xmlns:a16="http://schemas.microsoft.com/office/drawing/2014/main" id="{67553E9F-DCBF-4BEE-A261-5AA97361A0E0}"/>
              </a:ext>
            </a:extLst>
          </p:cNvPr>
          <p:cNvSpPr/>
          <p:nvPr userDrawn="1"/>
        </p:nvSpPr>
        <p:spPr>
          <a:xfrm>
            <a:off x="0" y="896641"/>
            <a:ext cx="12192000" cy="13477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9" name="Title 1">
            <a:extLst>
              <a:ext uri="{FF2B5EF4-FFF2-40B4-BE49-F238E27FC236}">
                <a16:creationId xmlns:a16="http://schemas.microsoft.com/office/drawing/2014/main" id="{949B0EB0-AEBA-44ED-BC77-4188C7486144}"/>
              </a:ext>
            </a:extLst>
          </p:cNvPr>
          <p:cNvSpPr>
            <a:spLocks noGrp="1"/>
          </p:cNvSpPr>
          <p:nvPr>
            <p:ph type="title" hasCustomPrompt="1"/>
          </p:nvPr>
        </p:nvSpPr>
        <p:spPr>
          <a:xfrm>
            <a:off x="1535371" y="1044054"/>
            <a:ext cx="10013709" cy="1030360"/>
          </a:xfrm>
        </p:spPr>
        <p:txBody>
          <a:bodyPr/>
          <a:lstStyle>
            <a:lvl1pPr>
              <a:defRPr>
                <a:solidFill>
                  <a:schemeClr val="bg1"/>
                </a:solidFill>
              </a:defRPr>
            </a:lvl1pPr>
          </a:lstStyle>
          <a:p>
            <a:r>
              <a:rPr lang="en-US" dirty="0">
                <a:solidFill>
                  <a:schemeClr val="bg1"/>
                </a:solidFill>
              </a:rPr>
              <a:t>Click to add title</a:t>
            </a:r>
          </a:p>
        </p:txBody>
      </p:sp>
      <p:sp>
        <p:nvSpPr>
          <p:cNvPr id="10" name="Rectangle 9">
            <a:extLst>
              <a:ext uri="{FF2B5EF4-FFF2-40B4-BE49-F238E27FC236}">
                <a16:creationId xmlns:a16="http://schemas.microsoft.com/office/drawing/2014/main" id="{7278DD10-67BC-4E87-A788-A45C6093F5F8}"/>
              </a:ext>
            </a:extLst>
          </p:cNvPr>
          <p:cNvSpPr/>
          <p:nvPr userDrawn="1"/>
        </p:nvSpPr>
        <p:spPr>
          <a:xfrm>
            <a:off x="-1" y="962423"/>
            <a:ext cx="1006766" cy="12161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11" name="Rectangle 10">
            <a:extLst>
              <a:ext uri="{FF2B5EF4-FFF2-40B4-BE49-F238E27FC236}">
                <a16:creationId xmlns:a16="http://schemas.microsoft.com/office/drawing/2014/main" id="{916769F5-486B-4B48-A543-2C70359DF66E}"/>
              </a:ext>
            </a:extLst>
          </p:cNvPr>
          <p:cNvSpPr/>
          <p:nvPr userDrawn="1"/>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12" name="Footer Placeholder 4">
            <a:extLst>
              <a:ext uri="{FF2B5EF4-FFF2-40B4-BE49-F238E27FC236}">
                <a16:creationId xmlns:a16="http://schemas.microsoft.com/office/drawing/2014/main" id="{B47BB165-F380-48C4-B95B-C09C91893B2D}"/>
              </a:ext>
            </a:extLst>
          </p:cNvPr>
          <p:cNvSpPr>
            <a:spLocks noGrp="1"/>
          </p:cNvSpPr>
          <p:nvPr>
            <p:ph type="ftr" sz="quarter" idx="11"/>
          </p:nvPr>
        </p:nvSpPr>
        <p:spPr>
          <a:xfrm>
            <a:off x="1535371" y="6309360"/>
            <a:ext cx="5732061" cy="457200"/>
          </a:xfrm>
        </p:spPr>
        <p:txBody>
          <a:bodyPr/>
          <a:lstStyle/>
          <a:p>
            <a:r>
              <a:rPr lang="en-US" dirty="0"/>
              <a:t>Presentation Title</a:t>
            </a:r>
          </a:p>
        </p:txBody>
      </p:sp>
      <p:sp>
        <p:nvSpPr>
          <p:cNvPr id="13" name="Date Placeholder 3">
            <a:extLst>
              <a:ext uri="{FF2B5EF4-FFF2-40B4-BE49-F238E27FC236}">
                <a16:creationId xmlns:a16="http://schemas.microsoft.com/office/drawing/2014/main" id="{49ADD171-0134-4347-A2D8-0B9D7634F1B2}"/>
              </a:ext>
            </a:extLst>
          </p:cNvPr>
          <p:cNvSpPr>
            <a:spLocks noGrp="1"/>
          </p:cNvSpPr>
          <p:nvPr>
            <p:ph type="dt" sz="half" idx="10"/>
          </p:nvPr>
        </p:nvSpPr>
        <p:spPr>
          <a:xfrm>
            <a:off x="8202168" y="6309360"/>
            <a:ext cx="2148840" cy="457200"/>
          </a:xfrm>
        </p:spPr>
        <p:txBody>
          <a:bodyPr/>
          <a:lstStyle/>
          <a:p>
            <a:r>
              <a:rPr lang="en-US"/>
              <a:t>2/1/20XX</a:t>
            </a:r>
            <a:endParaRPr lang="en-US" dirty="0"/>
          </a:p>
        </p:txBody>
      </p:sp>
      <p:sp>
        <p:nvSpPr>
          <p:cNvPr id="14" name="Slide Number Placeholder 5">
            <a:extLst>
              <a:ext uri="{FF2B5EF4-FFF2-40B4-BE49-F238E27FC236}">
                <a16:creationId xmlns:a16="http://schemas.microsoft.com/office/drawing/2014/main" id="{F0805E9B-6657-4167-BD79-CAC59C0D841D}"/>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t>‹#›</a:t>
            </a:fld>
            <a:endParaRPr lang="en-US" dirty="0"/>
          </a:p>
        </p:txBody>
      </p:sp>
    </p:spTree>
    <p:extLst>
      <p:ext uri="{BB962C8B-B14F-4D97-AF65-F5344CB8AC3E}">
        <p14:creationId xmlns:p14="http://schemas.microsoft.com/office/powerpoint/2010/main" val="3684561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A8A107B-E23F-4793-95B4-335240DB97AF}"/>
              </a:ext>
              <a:ext uri="{C183D7F6-B498-43B3-948B-1728B52AA6E4}">
                <adec:decorative xmlns:adec="http://schemas.microsoft.com/office/drawing/2017/decorative" val="1"/>
              </a:ext>
            </a:extLst>
          </p:cNvPr>
          <p:cNvSpPr/>
          <p:nvPr userDrawn="1"/>
        </p:nvSpPr>
        <p:spPr>
          <a:xfrm>
            <a:off x="4551118"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9" name="Picture Placeholder 8">
            <a:extLst>
              <a:ext uri="{FF2B5EF4-FFF2-40B4-BE49-F238E27FC236}">
                <a16:creationId xmlns:a16="http://schemas.microsoft.com/office/drawing/2014/main" id="{B7568F3C-8CA8-489A-9870-E2C458355CCA}"/>
              </a:ext>
            </a:extLst>
          </p:cNvPr>
          <p:cNvSpPr>
            <a:spLocks noGrp="1"/>
          </p:cNvSpPr>
          <p:nvPr>
            <p:ph type="pic" sz="quarter" idx="13" hasCustomPrompt="1"/>
          </p:nvPr>
        </p:nvSpPr>
        <p:spPr>
          <a:xfrm>
            <a:off x="0" y="0"/>
            <a:ext cx="12192000" cy="6858000"/>
          </a:xfrm>
          <a:custGeom>
            <a:avLst/>
            <a:gdLst>
              <a:gd name="connsiteX0" fmla="*/ 4615126 w 12192000"/>
              <a:gd name="connsiteY0" fmla="*/ 0 h 6858000"/>
              <a:gd name="connsiteX1" fmla="*/ 12192000 w 12192000"/>
              <a:gd name="connsiteY1" fmla="*/ 0 h 6858000"/>
              <a:gd name="connsiteX2" fmla="*/ 12192000 w 12192000"/>
              <a:gd name="connsiteY2" fmla="*/ 6858000 h 6858000"/>
              <a:gd name="connsiteX3" fmla="*/ 4615126 w 12192000"/>
              <a:gd name="connsiteY3" fmla="*/ 6858000 h 6858000"/>
              <a:gd name="connsiteX4" fmla="*/ 0 w 12192000"/>
              <a:gd name="connsiteY4" fmla="*/ 0 h 6858000"/>
              <a:gd name="connsiteX5" fmla="*/ 4551118 w 12192000"/>
              <a:gd name="connsiteY5" fmla="*/ 0 h 6858000"/>
              <a:gd name="connsiteX6" fmla="*/ 4551118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4615126" y="0"/>
                </a:moveTo>
                <a:lnTo>
                  <a:pt x="12192000" y="0"/>
                </a:lnTo>
                <a:lnTo>
                  <a:pt x="12192000" y="6858000"/>
                </a:lnTo>
                <a:lnTo>
                  <a:pt x="4615126" y="6858000"/>
                </a:lnTo>
                <a:close/>
                <a:moveTo>
                  <a:pt x="0" y="0"/>
                </a:moveTo>
                <a:lnTo>
                  <a:pt x="4551118" y="0"/>
                </a:lnTo>
                <a:lnTo>
                  <a:pt x="4551118" y="6858000"/>
                </a:lnTo>
                <a:lnTo>
                  <a:pt x="0" y="6858000"/>
                </a:lnTo>
                <a:close/>
              </a:path>
            </a:pathLst>
          </a:custGeom>
        </p:spPr>
        <p:txBody>
          <a:bodyPr wrap="square" anchor="t">
            <a:noAutofit/>
          </a:bodyPr>
          <a:lstStyle>
            <a:lvl1pPr algn="ctr">
              <a:defRPr/>
            </a:lvl1pPr>
          </a:lstStyle>
          <a:p>
            <a:r>
              <a:rPr lang="en-US" dirty="0"/>
              <a:t>Click to add photo</a:t>
            </a:r>
          </a:p>
        </p:txBody>
      </p:sp>
      <p:sp>
        <p:nvSpPr>
          <p:cNvPr id="2" name="Title 1">
            <a:extLst>
              <a:ext uri="{FF2B5EF4-FFF2-40B4-BE49-F238E27FC236}">
                <a16:creationId xmlns:a16="http://schemas.microsoft.com/office/drawing/2014/main" id="{CE2C14E8-F37D-4BEA-9D62-5E707EDF0D44}"/>
              </a:ext>
            </a:extLst>
          </p:cNvPr>
          <p:cNvSpPr>
            <a:spLocks noGrp="1"/>
          </p:cNvSpPr>
          <p:nvPr>
            <p:ph type="title" hasCustomPrompt="1"/>
          </p:nvPr>
        </p:nvSpPr>
        <p:spPr>
          <a:xfrm>
            <a:off x="-1725" y="1095508"/>
            <a:ext cx="4606535" cy="3936931"/>
          </a:xfrm>
          <a:solidFill>
            <a:schemeClr val="tx2"/>
          </a:solidFill>
        </p:spPr>
        <p:txBody>
          <a:bodyPr rIns="365760" anchor="b"/>
          <a:lstStyle>
            <a:lvl1pPr marL="365760">
              <a:lnSpc>
                <a:spcPct val="100000"/>
              </a:lnSpc>
              <a:spcBef>
                <a:spcPts val="1000"/>
              </a:spcBef>
              <a:defRPr sz="3600">
                <a:solidFill>
                  <a:schemeClr val="bg1"/>
                </a:solidFill>
              </a:defRPr>
            </a:lvl1pPr>
          </a:lstStyle>
          <a:p>
            <a:r>
              <a:rPr lang="en-US" dirty="0"/>
              <a:t>CLICK TO EDIT MASTER TITLE STYLE</a:t>
            </a:r>
          </a:p>
        </p:txBody>
      </p:sp>
      <p:sp>
        <p:nvSpPr>
          <p:cNvPr id="5" name="Text Placeholder 4">
            <a:extLst>
              <a:ext uri="{FF2B5EF4-FFF2-40B4-BE49-F238E27FC236}">
                <a16:creationId xmlns:a16="http://schemas.microsoft.com/office/drawing/2014/main" id="{D1784D33-9C88-49E6-8F90-05148C5496F5}"/>
              </a:ext>
            </a:extLst>
          </p:cNvPr>
          <p:cNvSpPr>
            <a:spLocks noGrp="1"/>
          </p:cNvSpPr>
          <p:nvPr>
            <p:ph type="body" sz="quarter" idx="14"/>
          </p:nvPr>
        </p:nvSpPr>
        <p:spPr>
          <a:xfrm>
            <a:off x="-1726" y="5032439"/>
            <a:ext cx="4606535" cy="1079962"/>
          </a:xfrm>
          <a:solidFill>
            <a:schemeClr val="tx2"/>
          </a:solidFill>
        </p:spPr>
        <p:txBody>
          <a:bodyPr anchor="ctr"/>
          <a:lstStyle>
            <a:lvl1pPr marL="365760">
              <a:spcBef>
                <a:spcPts val="1000"/>
              </a:spcBef>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24" name="Footer Placeholder 4">
            <a:extLst>
              <a:ext uri="{FF2B5EF4-FFF2-40B4-BE49-F238E27FC236}">
                <a16:creationId xmlns:a16="http://schemas.microsoft.com/office/drawing/2014/main" id="{5CD820E0-0083-439B-A9DE-C3DEA1DEA851}"/>
              </a:ext>
            </a:extLst>
          </p:cNvPr>
          <p:cNvSpPr>
            <a:spLocks noGrp="1"/>
          </p:cNvSpPr>
          <p:nvPr>
            <p:ph type="ftr" sz="quarter" idx="11"/>
          </p:nvPr>
        </p:nvSpPr>
        <p:spPr>
          <a:xfrm>
            <a:off x="855388" y="6309360"/>
            <a:ext cx="6007691" cy="457200"/>
          </a:xfrm>
        </p:spPr>
        <p:txBody>
          <a:bodyPr/>
          <a:lstStyle>
            <a:lvl1pPr>
              <a:defRPr>
                <a:solidFill>
                  <a:schemeClr val="bg1"/>
                </a:solidFill>
                <a:effectLst>
                  <a:outerShdw blurRad="38100" dist="38100" dir="2700000" algn="tl">
                    <a:srgbClr val="000000">
                      <a:alpha val="43137"/>
                    </a:srgbClr>
                  </a:outerShdw>
                </a:effectLst>
              </a:defRPr>
            </a:lvl1pPr>
          </a:lstStyle>
          <a:p>
            <a:r>
              <a:rPr lang="en-US" dirty="0"/>
              <a:t>Presentation Title</a:t>
            </a:r>
          </a:p>
        </p:txBody>
      </p:sp>
      <p:sp>
        <p:nvSpPr>
          <p:cNvPr id="26" name="Date Placeholder 3">
            <a:extLst>
              <a:ext uri="{FF2B5EF4-FFF2-40B4-BE49-F238E27FC236}">
                <a16:creationId xmlns:a16="http://schemas.microsoft.com/office/drawing/2014/main" id="{D8A8D931-E01B-43C0-806F-2413BF5938FC}"/>
              </a:ext>
            </a:extLst>
          </p:cNvPr>
          <p:cNvSpPr>
            <a:spLocks noGrp="1"/>
          </p:cNvSpPr>
          <p:nvPr>
            <p:ph type="dt" sz="half" idx="10"/>
          </p:nvPr>
        </p:nvSpPr>
        <p:spPr>
          <a:xfrm>
            <a:off x="8197353" y="6309360"/>
            <a:ext cx="2151134" cy="457200"/>
          </a:xfrm>
        </p:spPr>
        <p:txBody>
          <a:bodyPr/>
          <a:lstStyle>
            <a:lvl1pPr>
              <a:defRPr>
                <a:solidFill>
                  <a:schemeClr val="bg1"/>
                </a:solidFill>
                <a:effectLst>
                  <a:outerShdw blurRad="38100" dist="38100" dir="2700000" algn="tl">
                    <a:srgbClr val="000000">
                      <a:alpha val="43137"/>
                    </a:srgbClr>
                  </a:outerShdw>
                </a:effectLst>
              </a:defRPr>
            </a:lvl1pPr>
          </a:lstStyle>
          <a:p>
            <a:r>
              <a:rPr lang="en-US"/>
              <a:t>2/1/20XX</a:t>
            </a:r>
            <a:endParaRPr lang="en-US" dirty="0"/>
          </a:p>
        </p:txBody>
      </p:sp>
      <p:sp>
        <p:nvSpPr>
          <p:cNvPr id="27" name="Slide Number Placeholder 6">
            <a:extLst>
              <a:ext uri="{FF2B5EF4-FFF2-40B4-BE49-F238E27FC236}">
                <a16:creationId xmlns:a16="http://schemas.microsoft.com/office/drawing/2014/main" id="{0F3F4E6D-F4D2-430F-A2C3-3C037D778F4B}"/>
              </a:ext>
            </a:extLst>
          </p:cNvPr>
          <p:cNvSpPr>
            <a:spLocks noGrp="1"/>
          </p:cNvSpPr>
          <p:nvPr>
            <p:ph type="sldNum" sz="quarter" idx="12"/>
          </p:nvPr>
        </p:nvSpPr>
        <p:spPr>
          <a:xfrm>
            <a:off x="10569202" y="6309360"/>
            <a:ext cx="979879" cy="457200"/>
          </a:xfrm>
        </p:spPr>
        <p:txBody>
          <a:bodyPr/>
          <a:lstStyle>
            <a:lvl1pPr>
              <a:defRPr>
                <a:solidFill>
                  <a:schemeClr val="bg1"/>
                </a:solidFill>
                <a:effectLst>
                  <a:outerShdw blurRad="38100" dist="38100" dir="2700000" algn="tl">
                    <a:srgbClr val="000000">
                      <a:alpha val="43137"/>
                    </a:srgbClr>
                  </a:outerShdw>
                </a:effectLst>
              </a:defRPr>
            </a:lvl1p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1747931588"/>
      </p:ext>
    </p:extLst>
  </p:cSld>
  <p:clrMapOvr>
    <a:masterClrMapping/>
  </p:clrMapOvr>
  <p:extLst>
    <p:ext uri="{DCECCB84-F9BA-43D5-87BE-67443E8EF086}">
      <p15:sldGuideLst xmlns:p15="http://schemas.microsoft.com/office/powerpoint/2012/main">
        <p15:guide id="1" pos="540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eam">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29F91A3C-7ABB-4E5E-B04F-29DB072AE13C}"/>
              </a:ext>
            </a:extLst>
          </p:cNvPr>
          <p:cNvSpPr/>
          <p:nvPr userDrawn="1"/>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27" name="Rectangle 26">
            <a:extLst>
              <a:ext uri="{FF2B5EF4-FFF2-40B4-BE49-F238E27FC236}">
                <a16:creationId xmlns:a16="http://schemas.microsoft.com/office/drawing/2014/main" id="{9EB9AABE-3FBC-4E64-8672-D073D4A3F412}"/>
              </a:ext>
            </a:extLst>
          </p:cNvPr>
          <p:cNvSpPr/>
          <p:nvPr userDrawn="1"/>
        </p:nvSpPr>
        <p:spPr>
          <a:xfrm>
            <a:off x="1038768" y="-2946"/>
            <a:ext cx="11153231" cy="4727782"/>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28" name="Rectangle 27">
            <a:extLst>
              <a:ext uri="{FF2B5EF4-FFF2-40B4-BE49-F238E27FC236}">
                <a16:creationId xmlns:a16="http://schemas.microsoft.com/office/drawing/2014/main" id="{38FF13AE-FEBF-40A1-A799-6EB275CBBCB5}"/>
              </a:ext>
            </a:extLst>
          </p:cNvPr>
          <p:cNvSpPr/>
          <p:nvPr userDrawn="1"/>
        </p:nvSpPr>
        <p:spPr>
          <a:xfrm>
            <a:off x="0" y="4724838"/>
            <a:ext cx="12192000" cy="13477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29" name="Title 1">
            <a:extLst>
              <a:ext uri="{FF2B5EF4-FFF2-40B4-BE49-F238E27FC236}">
                <a16:creationId xmlns:a16="http://schemas.microsoft.com/office/drawing/2014/main" id="{EACBDB11-07EC-4982-BBFA-8EECF50C7B93}"/>
              </a:ext>
            </a:extLst>
          </p:cNvPr>
          <p:cNvSpPr>
            <a:spLocks noGrp="1"/>
          </p:cNvSpPr>
          <p:nvPr>
            <p:ph type="title" hasCustomPrompt="1"/>
          </p:nvPr>
        </p:nvSpPr>
        <p:spPr>
          <a:xfrm>
            <a:off x="1535372" y="4872251"/>
            <a:ext cx="10013709" cy="1030360"/>
          </a:xfrm>
        </p:spPr>
        <p:txBody>
          <a:bodyPr/>
          <a:lstStyle>
            <a:lvl1pPr>
              <a:defRPr>
                <a:solidFill>
                  <a:schemeClr val="bg1"/>
                </a:solidFill>
              </a:defRPr>
            </a:lvl1pPr>
          </a:lstStyle>
          <a:p>
            <a:r>
              <a:rPr lang="en-US" dirty="0">
                <a:solidFill>
                  <a:schemeClr val="bg1"/>
                </a:solidFill>
              </a:rPr>
              <a:t>Click to add title</a:t>
            </a:r>
          </a:p>
        </p:txBody>
      </p:sp>
      <p:sp>
        <p:nvSpPr>
          <p:cNvPr id="30" name="Rectangle 29">
            <a:extLst>
              <a:ext uri="{FF2B5EF4-FFF2-40B4-BE49-F238E27FC236}">
                <a16:creationId xmlns:a16="http://schemas.microsoft.com/office/drawing/2014/main" id="{67B21770-EBB9-4C73-BE13-26901F3CC9FB}"/>
              </a:ext>
            </a:extLst>
          </p:cNvPr>
          <p:cNvSpPr/>
          <p:nvPr userDrawn="1"/>
        </p:nvSpPr>
        <p:spPr>
          <a:xfrm>
            <a:off x="-1" y="4790620"/>
            <a:ext cx="1006766" cy="12161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31" name="Rectangle 30">
            <a:extLst>
              <a:ext uri="{FF2B5EF4-FFF2-40B4-BE49-F238E27FC236}">
                <a16:creationId xmlns:a16="http://schemas.microsoft.com/office/drawing/2014/main" id="{4172AFA4-5141-4F0F-B9F6-0BE3ADBED218}"/>
              </a:ext>
            </a:extLst>
          </p:cNvPr>
          <p:cNvSpPr/>
          <p:nvPr userDrawn="1"/>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33" name="Footer Placeholder 4">
            <a:extLst>
              <a:ext uri="{FF2B5EF4-FFF2-40B4-BE49-F238E27FC236}">
                <a16:creationId xmlns:a16="http://schemas.microsoft.com/office/drawing/2014/main" id="{41DE758B-03CF-48F8-BCBE-AD97B70428DF}"/>
              </a:ext>
            </a:extLst>
          </p:cNvPr>
          <p:cNvSpPr>
            <a:spLocks noGrp="1"/>
          </p:cNvSpPr>
          <p:nvPr>
            <p:ph type="ftr" sz="quarter" idx="11"/>
          </p:nvPr>
        </p:nvSpPr>
        <p:spPr>
          <a:xfrm>
            <a:off x="1535372" y="6309360"/>
            <a:ext cx="4946592" cy="457200"/>
          </a:xfrm>
        </p:spPr>
        <p:txBody>
          <a:bodyPr/>
          <a:lstStyle/>
          <a:p>
            <a:r>
              <a:rPr lang="en-US" dirty="0"/>
              <a:t>Presentation Title</a:t>
            </a:r>
          </a:p>
        </p:txBody>
      </p:sp>
      <p:sp>
        <p:nvSpPr>
          <p:cNvPr id="34" name="Date Placeholder 3">
            <a:extLst>
              <a:ext uri="{FF2B5EF4-FFF2-40B4-BE49-F238E27FC236}">
                <a16:creationId xmlns:a16="http://schemas.microsoft.com/office/drawing/2014/main" id="{1640606E-041A-4385-96D7-3C6E775E3FA4}"/>
              </a:ext>
            </a:extLst>
          </p:cNvPr>
          <p:cNvSpPr>
            <a:spLocks noGrp="1"/>
          </p:cNvSpPr>
          <p:nvPr>
            <p:ph type="dt" sz="half" idx="10"/>
          </p:nvPr>
        </p:nvSpPr>
        <p:spPr>
          <a:xfrm>
            <a:off x="8202168" y="6309360"/>
            <a:ext cx="2148840" cy="457200"/>
          </a:xfrm>
        </p:spPr>
        <p:txBody>
          <a:bodyPr/>
          <a:lstStyle/>
          <a:p>
            <a:r>
              <a:rPr lang="en-US"/>
              <a:t>2/1/20XX</a:t>
            </a:r>
            <a:endParaRPr lang="en-US" dirty="0"/>
          </a:p>
        </p:txBody>
      </p:sp>
      <p:sp>
        <p:nvSpPr>
          <p:cNvPr id="35" name="Slide Number Placeholder 5">
            <a:extLst>
              <a:ext uri="{FF2B5EF4-FFF2-40B4-BE49-F238E27FC236}">
                <a16:creationId xmlns:a16="http://schemas.microsoft.com/office/drawing/2014/main" id="{35844B60-1EF6-4A90-9030-B5043BCD058B}"/>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t>‹#›</a:t>
            </a:fld>
            <a:endParaRPr lang="en-US" dirty="0"/>
          </a:p>
        </p:txBody>
      </p:sp>
    </p:spTree>
    <p:extLst>
      <p:ext uri="{BB962C8B-B14F-4D97-AF65-F5344CB8AC3E}">
        <p14:creationId xmlns:p14="http://schemas.microsoft.com/office/powerpoint/2010/main" val="3672599757"/>
      </p:ext>
    </p:extLst>
  </p:cSld>
  <p:clrMapOvr>
    <a:masterClrMapping/>
  </p:clrMapOvr>
  <p:extLst>
    <p:ext uri="{DCECCB84-F9BA-43D5-87BE-67443E8EF086}">
      <p15:sldGuideLst xmlns:p15="http://schemas.microsoft.com/office/powerpoint/2012/main">
        <p15:guide id="1" pos="540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meline">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30FB3D5A-25E2-453F-A78E-0A20BDCE80A2}"/>
              </a:ext>
            </a:extLst>
          </p:cNvPr>
          <p:cNvSpPr/>
          <p:nvPr userDrawn="1"/>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3" name="Rectangle 2">
            <a:extLst>
              <a:ext uri="{FF2B5EF4-FFF2-40B4-BE49-F238E27FC236}">
                <a16:creationId xmlns:a16="http://schemas.microsoft.com/office/drawing/2014/main" id="{28796342-0E80-4F8E-9563-9F5EDFC0DDF2}"/>
              </a:ext>
            </a:extLst>
          </p:cNvPr>
          <p:cNvSpPr/>
          <p:nvPr userDrawn="1"/>
        </p:nvSpPr>
        <p:spPr>
          <a:xfrm>
            <a:off x="1038768" y="-2946"/>
            <a:ext cx="11153231" cy="4727782"/>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4" name="Rectangle 3">
            <a:extLst>
              <a:ext uri="{FF2B5EF4-FFF2-40B4-BE49-F238E27FC236}">
                <a16:creationId xmlns:a16="http://schemas.microsoft.com/office/drawing/2014/main" id="{C39B2F5D-C3BA-453E-8F4D-97074F48C7AE}"/>
              </a:ext>
            </a:extLst>
          </p:cNvPr>
          <p:cNvSpPr/>
          <p:nvPr userDrawn="1"/>
        </p:nvSpPr>
        <p:spPr>
          <a:xfrm>
            <a:off x="0" y="4724838"/>
            <a:ext cx="12192000" cy="13477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5" name="Title 1">
            <a:extLst>
              <a:ext uri="{FF2B5EF4-FFF2-40B4-BE49-F238E27FC236}">
                <a16:creationId xmlns:a16="http://schemas.microsoft.com/office/drawing/2014/main" id="{452D50E3-A27A-4AF6-928B-286E7BDB4BD9}"/>
              </a:ext>
            </a:extLst>
          </p:cNvPr>
          <p:cNvSpPr>
            <a:spLocks noGrp="1"/>
          </p:cNvSpPr>
          <p:nvPr>
            <p:ph type="title" hasCustomPrompt="1"/>
          </p:nvPr>
        </p:nvSpPr>
        <p:spPr>
          <a:xfrm>
            <a:off x="1535372" y="4872251"/>
            <a:ext cx="10013709" cy="1030360"/>
          </a:xfrm>
        </p:spPr>
        <p:txBody>
          <a:bodyPr/>
          <a:lstStyle>
            <a:lvl1pPr>
              <a:defRPr>
                <a:solidFill>
                  <a:schemeClr val="bg1"/>
                </a:solidFill>
              </a:defRPr>
            </a:lvl1pPr>
          </a:lstStyle>
          <a:p>
            <a:r>
              <a:rPr lang="en-US" dirty="0">
                <a:solidFill>
                  <a:schemeClr val="bg1"/>
                </a:solidFill>
              </a:rPr>
              <a:t>Click to add title</a:t>
            </a:r>
          </a:p>
        </p:txBody>
      </p:sp>
      <p:sp>
        <p:nvSpPr>
          <p:cNvPr id="6" name="Rectangle 5">
            <a:extLst>
              <a:ext uri="{FF2B5EF4-FFF2-40B4-BE49-F238E27FC236}">
                <a16:creationId xmlns:a16="http://schemas.microsoft.com/office/drawing/2014/main" id="{D874FDF0-F4BE-433D-86EE-9E1832D4388B}"/>
              </a:ext>
            </a:extLst>
          </p:cNvPr>
          <p:cNvSpPr/>
          <p:nvPr userDrawn="1"/>
        </p:nvSpPr>
        <p:spPr>
          <a:xfrm>
            <a:off x="-1" y="4790620"/>
            <a:ext cx="1006766" cy="12161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7" name="Rectangle 6">
            <a:extLst>
              <a:ext uri="{FF2B5EF4-FFF2-40B4-BE49-F238E27FC236}">
                <a16:creationId xmlns:a16="http://schemas.microsoft.com/office/drawing/2014/main" id="{25DFCD07-1301-45ED-B326-449ECFADE70D}"/>
              </a:ext>
            </a:extLst>
          </p:cNvPr>
          <p:cNvSpPr/>
          <p:nvPr userDrawn="1"/>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8" name="Footer Placeholder 4">
            <a:extLst>
              <a:ext uri="{FF2B5EF4-FFF2-40B4-BE49-F238E27FC236}">
                <a16:creationId xmlns:a16="http://schemas.microsoft.com/office/drawing/2014/main" id="{BD5DA270-E83F-4CC8-9DA6-27CA3AEC0745}"/>
              </a:ext>
            </a:extLst>
          </p:cNvPr>
          <p:cNvSpPr>
            <a:spLocks noGrp="1"/>
          </p:cNvSpPr>
          <p:nvPr>
            <p:ph type="ftr" sz="quarter" idx="11"/>
          </p:nvPr>
        </p:nvSpPr>
        <p:spPr>
          <a:xfrm>
            <a:off x="1535372" y="6309360"/>
            <a:ext cx="4946592" cy="457200"/>
          </a:xfrm>
        </p:spPr>
        <p:txBody>
          <a:bodyPr/>
          <a:lstStyle/>
          <a:p>
            <a:r>
              <a:rPr lang="en-US" dirty="0"/>
              <a:t>Presentation Title</a:t>
            </a:r>
          </a:p>
        </p:txBody>
      </p:sp>
      <p:sp>
        <p:nvSpPr>
          <p:cNvPr id="9" name="Date Placeholder 3">
            <a:extLst>
              <a:ext uri="{FF2B5EF4-FFF2-40B4-BE49-F238E27FC236}">
                <a16:creationId xmlns:a16="http://schemas.microsoft.com/office/drawing/2014/main" id="{57804587-2E59-4D83-B86E-83ADAE4FDC13}"/>
              </a:ext>
            </a:extLst>
          </p:cNvPr>
          <p:cNvSpPr>
            <a:spLocks noGrp="1"/>
          </p:cNvSpPr>
          <p:nvPr>
            <p:ph type="dt" sz="half" idx="10"/>
          </p:nvPr>
        </p:nvSpPr>
        <p:spPr>
          <a:xfrm>
            <a:off x="8202168" y="6309360"/>
            <a:ext cx="2148840" cy="457200"/>
          </a:xfrm>
        </p:spPr>
        <p:txBody>
          <a:bodyPr/>
          <a:lstStyle/>
          <a:p>
            <a:r>
              <a:rPr lang="en-US"/>
              <a:t>2/1/20XX</a:t>
            </a:r>
            <a:endParaRPr lang="en-US" dirty="0"/>
          </a:p>
        </p:txBody>
      </p:sp>
      <p:sp>
        <p:nvSpPr>
          <p:cNvPr id="10" name="Slide Number Placeholder 5">
            <a:extLst>
              <a:ext uri="{FF2B5EF4-FFF2-40B4-BE49-F238E27FC236}">
                <a16:creationId xmlns:a16="http://schemas.microsoft.com/office/drawing/2014/main" id="{5339F117-3072-4F0C-8D1D-E5DC918CE4F0}"/>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t>‹#›</a:t>
            </a:fld>
            <a:endParaRPr lang="en-US" dirty="0"/>
          </a:p>
        </p:txBody>
      </p:sp>
    </p:spTree>
    <p:extLst>
      <p:ext uri="{BB962C8B-B14F-4D97-AF65-F5344CB8AC3E}">
        <p14:creationId xmlns:p14="http://schemas.microsoft.com/office/powerpoint/2010/main" val="30668932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2A19A957-1FB5-43F8-B325-BBD9FEF23E88}"/>
              </a:ext>
              <a:ext uri="{C183D7F6-B498-43B3-948B-1728B52AA6E4}">
                <adec:decorative xmlns:adec="http://schemas.microsoft.com/office/drawing/2017/decorative" val="1"/>
              </a:ext>
            </a:extLst>
          </p:cNvPr>
          <p:cNvSpPr/>
          <p:nvPr userDrawn="1"/>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Unicode MS" panose="020B0604020202020204" pitchFamily="34" charset="-128"/>
              <a:ea typeface="+mn-ea"/>
              <a:cs typeface="+mn-cs"/>
            </a:endParaRPr>
          </a:p>
        </p:txBody>
      </p:sp>
      <p:sp>
        <p:nvSpPr>
          <p:cNvPr id="20" name="Rectangle 19">
            <a:extLst>
              <a:ext uri="{FF2B5EF4-FFF2-40B4-BE49-F238E27FC236}">
                <a16:creationId xmlns:a16="http://schemas.microsoft.com/office/drawing/2014/main" id="{3FA5410A-92A6-4C0B-9D89-186B7DDB20BD}"/>
              </a:ext>
              <a:ext uri="{C183D7F6-B498-43B3-948B-1728B52AA6E4}">
                <adec:decorative xmlns:adec="http://schemas.microsoft.com/office/drawing/2017/decorative" val="1"/>
              </a:ext>
            </a:extLst>
          </p:cNvPr>
          <p:cNvSpPr/>
          <p:nvPr userDrawn="1"/>
        </p:nvSpPr>
        <p:spPr>
          <a:xfrm>
            <a:off x="0" y="3903"/>
            <a:ext cx="12192000" cy="13477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4" name="Title 1">
            <a:extLst>
              <a:ext uri="{FF2B5EF4-FFF2-40B4-BE49-F238E27FC236}">
                <a16:creationId xmlns:a16="http://schemas.microsoft.com/office/drawing/2014/main" id="{CD8F3F22-19C9-4C61-8202-3220217D2938}"/>
              </a:ext>
            </a:extLst>
          </p:cNvPr>
          <p:cNvSpPr>
            <a:spLocks noGrp="1"/>
          </p:cNvSpPr>
          <p:nvPr>
            <p:ph type="title" hasCustomPrompt="1"/>
          </p:nvPr>
        </p:nvSpPr>
        <p:spPr>
          <a:xfrm>
            <a:off x="648935" y="180644"/>
            <a:ext cx="10900146" cy="935776"/>
          </a:xfrm>
        </p:spPr>
        <p:txBody>
          <a:bodyPr>
            <a:noAutofit/>
          </a:bodyPr>
          <a:lstStyle>
            <a:lvl1pPr>
              <a:defRPr sz="3600">
                <a:solidFill>
                  <a:schemeClr val="bg1"/>
                </a:solidFill>
              </a:defRPr>
            </a:lvl1pPr>
          </a:lstStyle>
          <a:p>
            <a:r>
              <a:rPr lang="en-US" dirty="0">
                <a:solidFill>
                  <a:schemeClr val="bg1"/>
                </a:solidFill>
              </a:rPr>
              <a:t>Click to add title</a:t>
            </a:r>
          </a:p>
        </p:txBody>
      </p:sp>
      <p:sp>
        <p:nvSpPr>
          <p:cNvPr id="5" name="Rectangle 4">
            <a:extLst>
              <a:ext uri="{FF2B5EF4-FFF2-40B4-BE49-F238E27FC236}">
                <a16:creationId xmlns:a16="http://schemas.microsoft.com/office/drawing/2014/main" id="{21A26073-23A2-4B91-A128-79AA1BE93523}"/>
              </a:ext>
              <a:ext uri="{C183D7F6-B498-43B3-948B-1728B52AA6E4}">
                <adec:decorative xmlns:adec="http://schemas.microsoft.com/office/drawing/2017/decorative" val="1"/>
              </a:ext>
            </a:extLst>
          </p:cNvPr>
          <p:cNvSpPr/>
          <p:nvPr userDrawn="1"/>
        </p:nvSpPr>
        <p:spPr>
          <a:xfrm>
            <a:off x="1" y="1351619"/>
            <a:ext cx="12192000" cy="4749487"/>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6" name="Rectangle 5">
            <a:extLst>
              <a:ext uri="{FF2B5EF4-FFF2-40B4-BE49-F238E27FC236}">
                <a16:creationId xmlns:a16="http://schemas.microsoft.com/office/drawing/2014/main" id="{C14D5DFA-0CEA-43F0-98EE-6C9F741F7C96}"/>
              </a:ext>
              <a:ext uri="{C183D7F6-B498-43B3-948B-1728B52AA6E4}">
                <adec:decorative xmlns:adec="http://schemas.microsoft.com/office/drawing/2017/decorative" val="1"/>
              </a:ext>
            </a:extLst>
          </p:cNvPr>
          <p:cNvSpPr/>
          <p:nvPr userDrawn="1"/>
        </p:nvSpPr>
        <p:spPr>
          <a:xfrm>
            <a:off x="1" y="6107836"/>
            <a:ext cx="4651248" cy="750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15" name="Content Placeholder 2">
            <a:extLst>
              <a:ext uri="{FF2B5EF4-FFF2-40B4-BE49-F238E27FC236}">
                <a16:creationId xmlns:a16="http://schemas.microsoft.com/office/drawing/2014/main" id="{0F94B471-6707-4251-8230-A51AED0767C9}"/>
              </a:ext>
            </a:extLst>
          </p:cNvPr>
          <p:cNvSpPr>
            <a:spLocks noGrp="1"/>
          </p:cNvSpPr>
          <p:nvPr>
            <p:ph idx="14" hasCustomPrompt="1"/>
          </p:nvPr>
        </p:nvSpPr>
        <p:spPr>
          <a:xfrm>
            <a:off x="648934" y="1834005"/>
            <a:ext cx="4727735" cy="465155"/>
          </a:xfrm>
        </p:spPr>
        <p:txBody>
          <a:bodyPr anchor="t">
            <a:noAutofit/>
          </a:bodyPr>
          <a:lstStyle>
            <a:lvl1pPr>
              <a:buFont typeface="Arial" panose="020B0604020202020204" pitchFamily="34" charset="0"/>
              <a:buNone/>
              <a:defRPr sz="2000" b="1"/>
            </a:lvl1pPr>
          </a:lstStyle>
          <a:p>
            <a:r>
              <a:rPr lang="en-US" dirty="0"/>
              <a:t>Click to add subtitle</a:t>
            </a:r>
          </a:p>
        </p:txBody>
      </p:sp>
      <p:sp>
        <p:nvSpPr>
          <p:cNvPr id="8" name="Content Placeholder 2">
            <a:extLst>
              <a:ext uri="{FF2B5EF4-FFF2-40B4-BE49-F238E27FC236}">
                <a16:creationId xmlns:a16="http://schemas.microsoft.com/office/drawing/2014/main" id="{ED986D97-E6F1-49E8-977A-C802B4E41B73}"/>
              </a:ext>
            </a:extLst>
          </p:cNvPr>
          <p:cNvSpPr>
            <a:spLocks noGrp="1"/>
          </p:cNvSpPr>
          <p:nvPr>
            <p:ph idx="1" hasCustomPrompt="1"/>
          </p:nvPr>
        </p:nvSpPr>
        <p:spPr>
          <a:xfrm>
            <a:off x="648934" y="2422380"/>
            <a:ext cx="4727735" cy="3029446"/>
          </a:xfrm>
        </p:spPr>
        <p:txBody>
          <a:bodyPr anchor="t">
            <a:noAutofit/>
          </a:bodyPr>
          <a:lstStyle>
            <a:lvl1pPr marL="283464" indent="-283464">
              <a:buFont typeface="Arial" panose="020B0604020202020204" pitchFamily="34" charset="0"/>
              <a:buChar char="•"/>
              <a:defRPr sz="1600" b="0" baseline="0"/>
            </a:lvl1pPr>
          </a:lstStyle>
          <a:p>
            <a:r>
              <a:rPr lang="en-US" dirty="0"/>
              <a:t> Click to add text</a:t>
            </a:r>
          </a:p>
        </p:txBody>
      </p:sp>
      <p:sp>
        <p:nvSpPr>
          <p:cNvPr id="16" name="Content Placeholder 2">
            <a:extLst>
              <a:ext uri="{FF2B5EF4-FFF2-40B4-BE49-F238E27FC236}">
                <a16:creationId xmlns:a16="http://schemas.microsoft.com/office/drawing/2014/main" id="{762163C0-B07F-43E4-B17C-2E6A96553B98}"/>
              </a:ext>
            </a:extLst>
          </p:cNvPr>
          <p:cNvSpPr>
            <a:spLocks noGrp="1"/>
          </p:cNvSpPr>
          <p:nvPr>
            <p:ph idx="15" hasCustomPrompt="1"/>
          </p:nvPr>
        </p:nvSpPr>
        <p:spPr>
          <a:xfrm>
            <a:off x="6095999" y="1834004"/>
            <a:ext cx="4727735" cy="465155"/>
          </a:xfrm>
        </p:spPr>
        <p:txBody>
          <a:bodyPr anchor="t">
            <a:noAutofit/>
          </a:bodyPr>
          <a:lstStyle>
            <a:lvl1pPr>
              <a:buFont typeface="Arial" panose="020B0604020202020204" pitchFamily="34" charset="0"/>
              <a:buNone/>
              <a:defRPr sz="2000" b="1"/>
            </a:lvl1pPr>
          </a:lstStyle>
          <a:p>
            <a:r>
              <a:rPr lang="en-US" dirty="0"/>
              <a:t>Click to add subtitle</a:t>
            </a:r>
          </a:p>
        </p:txBody>
      </p:sp>
      <p:sp>
        <p:nvSpPr>
          <p:cNvPr id="14" name="Content Placeholder 2">
            <a:extLst>
              <a:ext uri="{FF2B5EF4-FFF2-40B4-BE49-F238E27FC236}">
                <a16:creationId xmlns:a16="http://schemas.microsoft.com/office/drawing/2014/main" id="{9098FA6D-3C80-4FE1-B248-1CA2B6862F6D}"/>
              </a:ext>
            </a:extLst>
          </p:cNvPr>
          <p:cNvSpPr>
            <a:spLocks noGrp="1"/>
          </p:cNvSpPr>
          <p:nvPr>
            <p:ph idx="13" hasCustomPrompt="1"/>
          </p:nvPr>
        </p:nvSpPr>
        <p:spPr>
          <a:xfrm>
            <a:off x="6095999" y="2422380"/>
            <a:ext cx="4727735" cy="3029446"/>
          </a:xfrm>
        </p:spPr>
        <p:txBody>
          <a:bodyPr anchor="t">
            <a:noAutofit/>
          </a:bodyPr>
          <a:lstStyle>
            <a:lvl1pPr marL="283464" indent="-283464">
              <a:buFont typeface="Arial" panose="020B0604020202020204" pitchFamily="34" charset="0"/>
              <a:buChar char="•"/>
              <a:defRPr sz="1600" b="0" baseline="0"/>
            </a:lvl1pPr>
          </a:lstStyle>
          <a:p>
            <a:r>
              <a:rPr lang="en-US" dirty="0"/>
              <a:t> Click to add text</a:t>
            </a:r>
          </a:p>
        </p:txBody>
      </p:sp>
      <p:sp>
        <p:nvSpPr>
          <p:cNvPr id="9" name="Rectangle 8">
            <a:extLst>
              <a:ext uri="{FF2B5EF4-FFF2-40B4-BE49-F238E27FC236}">
                <a16:creationId xmlns:a16="http://schemas.microsoft.com/office/drawing/2014/main" id="{8352712D-F957-4B22-8B50-BE10410FF895}"/>
              </a:ext>
              <a:ext uri="{C183D7F6-B498-43B3-948B-1728B52AA6E4}">
                <adec:decorative xmlns:adec="http://schemas.microsoft.com/office/drawing/2017/decorative" val="1"/>
              </a:ext>
            </a:extLst>
          </p:cNvPr>
          <p:cNvSpPr/>
          <p:nvPr userDrawn="1"/>
        </p:nvSpPr>
        <p:spPr>
          <a:xfrm>
            <a:off x="1524" y="6101107"/>
            <a:ext cx="1218895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11" name="Footer Placeholder 29">
            <a:extLst>
              <a:ext uri="{FF2B5EF4-FFF2-40B4-BE49-F238E27FC236}">
                <a16:creationId xmlns:a16="http://schemas.microsoft.com/office/drawing/2014/main" id="{26FD74F8-42BB-4CB4-ABF1-5F149743B464}"/>
              </a:ext>
            </a:extLst>
          </p:cNvPr>
          <p:cNvSpPr>
            <a:spLocks noGrp="1"/>
          </p:cNvSpPr>
          <p:nvPr>
            <p:ph type="ftr" sz="quarter" idx="11"/>
          </p:nvPr>
        </p:nvSpPr>
        <p:spPr>
          <a:xfrm>
            <a:off x="642917" y="6309360"/>
            <a:ext cx="3423986" cy="457200"/>
          </a:xfrm>
        </p:spPr>
        <p:txBody>
          <a:bodyPr/>
          <a:lstStyle>
            <a:lvl1pPr>
              <a:defRPr>
                <a:solidFill>
                  <a:schemeClr val="bg1"/>
                </a:solidFill>
              </a:defRPr>
            </a:lvl1pPr>
          </a:lstStyle>
          <a:p>
            <a:r>
              <a:rPr lang="en-US" dirty="0"/>
              <a:t>Presentation Title</a:t>
            </a:r>
            <a:endParaRPr lang="en-US" dirty="0">
              <a:solidFill>
                <a:schemeClr val="bg1"/>
              </a:solidFill>
            </a:endParaRPr>
          </a:p>
        </p:txBody>
      </p:sp>
      <p:sp>
        <p:nvSpPr>
          <p:cNvPr id="10" name="Date Placeholder 28">
            <a:extLst>
              <a:ext uri="{FF2B5EF4-FFF2-40B4-BE49-F238E27FC236}">
                <a16:creationId xmlns:a16="http://schemas.microsoft.com/office/drawing/2014/main" id="{5B031752-6400-4BFB-979F-E2EE795E4B90}"/>
              </a:ext>
            </a:extLst>
          </p:cNvPr>
          <p:cNvSpPr>
            <a:spLocks noGrp="1"/>
          </p:cNvSpPr>
          <p:nvPr>
            <p:ph type="dt" sz="half" idx="10"/>
          </p:nvPr>
        </p:nvSpPr>
        <p:spPr>
          <a:xfrm>
            <a:off x="5373620" y="6309360"/>
            <a:ext cx="3411973" cy="457200"/>
          </a:xfrm>
        </p:spPr>
        <p:txBody>
          <a:bodyPr/>
          <a:lstStyle>
            <a:lvl1pPr>
              <a:defRPr>
                <a:solidFill>
                  <a:schemeClr val="tx2"/>
                </a:solidFill>
              </a:defRPr>
            </a:lvl1pPr>
          </a:lstStyle>
          <a:p>
            <a:r>
              <a:rPr lang="en-US"/>
              <a:t>2/1/20XX</a:t>
            </a:r>
            <a:endParaRPr lang="en-US" dirty="0"/>
          </a:p>
        </p:txBody>
      </p:sp>
      <p:sp>
        <p:nvSpPr>
          <p:cNvPr id="12" name="Slide Number Placeholder 30">
            <a:extLst>
              <a:ext uri="{FF2B5EF4-FFF2-40B4-BE49-F238E27FC236}">
                <a16:creationId xmlns:a16="http://schemas.microsoft.com/office/drawing/2014/main" id="{6A5CAEAF-7DEC-4B20-8B1E-301A9D0E684A}"/>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t>‹#›</a:t>
            </a:fld>
            <a:endParaRPr lang="en-US" dirty="0"/>
          </a:p>
        </p:txBody>
      </p:sp>
      <p:sp>
        <p:nvSpPr>
          <p:cNvPr id="13" name="Rectangle 12">
            <a:extLst>
              <a:ext uri="{FF2B5EF4-FFF2-40B4-BE49-F238E27FC236}">
                <a16:creationId xmlns:a16="http://schemas.microsoft.com/office/drawing/2014/main" id="{70B696A3-EA34-4924-9037-E330B1CB890E}"/>
              </a:ext>
              <a:ext uri="{C183D7F6-B498-43B3-948B-1728B52AA6E4}">
                <adec:decorative xmlns:adec="http://schemas.microsoft.com/office/drawing/2017/decorative" val="1"/>
              </a:ext>
            </a:extLst>
          </p:cNvPr>
          <p:cNvSpPr/>
          <p:nvPr userDrawn="1"/>
        </p:nvSpPr>
        <p:spPr>
          <a:xfrm>
            <a:off x="4633798" y="6117631"/>
            <a:ext cx="64008" cy="74036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Tree>
    <p:extLst>
      <p:ext uri="{BB962C8B-B14F-4D97-AF65-F5344CB8AC3E}">
        <p14:creationId xmlns:p14="http://schemas.microsoft.com/office/powerpoint/2010/main" val="36291036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ontent 3 Column">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725A2F16-8CE0-4F2E-933C-EFDFB1E196A3}"/>
              </a:ext>
              <a:ext uri="{C183D7F6-B498-43B3-948B-1728B52AA6E4}">
                <adec:decorative xmlns:adec="http://schemas.microsoft.com/office/drawing/2017/decorative" val="1"/>
              </a:ext>
            </a:extLst>
          </p:cNvPr>
          <p:cNvSpPr/>
          <p:nvPr userDrawn="1"/>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Unicode MS" panose="020B0604020202020204" pitchFamily="34" charset="-128"/>
              <a:ea typeface="+mn-ea"/>
              <a:cs typeface="+mn-cs"/>
            </a:endParaRPr>
          </a:p>
        </p:txBody>
      </p:sp>
      <p:sp>
        <p:nvSpPr>
          <p:cNvPr id="3" name="Rectangle 2">
            <a:extLst>
              <a:ext uri="{FF2B5EF4-FFF2-40B4-BE49-F238E27FC236}">
                <a16:creationId xmlns:a16="http://schemas.microsoft.com/office/drawing/2014/main" id="{18C70705-E2EE-4992-AE78-FDBE1285C809}"/>
              </a:ext>
              <a:ext uri="{C183D7F6-B498-43B3-948B-1728B52AA6E4}">
                <adec:decorative xmlns:adec="http://schemas.microsoft.com/office/drawing/2017/decorative" val="1"/>
              </a:ext>
            </a:extLst>
          </p:cNvPr>
          <p:cNvSpPr/>
          <p:nvPr userDrawn="1"/>
        </p:nvSpPr>
        <p:spPr>
          <a:xfrm>
            <a:off x="0" y="3903"/>
            <a:ext cx="12192000" cy="13477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4" name="Title 1">
            <a:extLst>
              <a:ext uri="{FF2B5EF4-FFF2-40B4-BE49-F238E27FC236}">
                <a16:creationId xmlns:a16="http://schemas.microsoft.com/office/drawing/2014/main" id="{21C428A7-7771-4474-8BB4-8A6F0FEF8766}"/>
              </a:ext>
            </a:extLst>
          </p:cNvPr>
          <p:cNvSpPr>
            <a:spLocks noGrp="1"/>
          </p:cNvSpPr>
          <p:nvPr>
            <p:ph type="title" hasCustomPrompt="1"/>
          </p:nvPr>
        </p:nvSpPr>
        <p:spPr>
          <a:xfrm>
            <a:off x="648935" y="180644"/>
            <a:ext cx="10900146" cy="935776"/>
          </a:xfrm>
        </p:spPr>
        <p:txBody>
          <a:bodyPr>
            <a:noAutofit/>
          </a:bodyPr>
          <a:lstStyle>
            <a:lvl1pPr>
              <a:defRPr sz="3600">
                <a:solidFill>
                  <a:schemeClr val="bg1"/>
                </a:solidFill>
              </a:defRPr>
            </a:lvl1pPr>
          </a:lstStyle>
          <a:p>
            <a:r>
              <a:rPr lang="en-US" dirty="0">
                <a:solidFill>
                  <a:schemeClr val="bg1"/>
                </a:solidFill>
              </a:rPr>
              <a:t>Click to add title</a:t>
            </a:r>
          </a:p>
        </p:txBody>
      </p:sp>
      <p:sp>
        <p:nvSpPr>
          <p:cNvPr id="5" name="Rectangle 4">
            <a:extLst>
              <a:ext uri="{FF2B5EF4-FFF2-40B4-BE49-F238E27FC236}">
                <a16:creationId xmlns:a16="http://schemas.microsoft.com/office/drawing/2014/main" id="{B98730F6-0DF6-48BC-86CC-00BE18350199}"/>
              </a:ext>
              <a:ext uri="{C183D7F6-B498-43B3-948B-1728B52AA6E4}">
                <adec:decorative xmlns:adec="http://schemas.microsoft.com/office/drawing/2017/decorative" val="1"/>
              </a:ext>
            </a:extLst>
          </p:cNvPr>
          <p:cNvSpPr/>
          <p:nvPr userDrawn="1"/>
        </p:nvSpPr>
        <p:spPr>
          <a:xfrm>
            <a:off x="1" y="1351619"/>
            <a:ext cx="12192000" cy="4749487"/>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6" name="Rectangle 5">
            <a:extLst>
              <a:ext uri="{FF2B5EF4-FFF2-40B4-BE49-F238E27FC236}">
                <a16:creationId xmlns:a16="http://schemas.microsoft.com/office/drawing/2014/main" id="{12D31104-1E19-4E17-A3FE-2B2C551344DF}"/>
              </a:ext>
              <a:ext uri="{C183D7F6-B498-43B3-948B-1728B52AA6E4}">
                <adec:decorative xmlns:adec="http://schemas.microsoft.com/office/drawing/2017/decorative" val="1"/>
              </a:ext>
            </a:extLst>
          </p:cNvPr>
          <p:cNvSpPr/>
          <p:nvPr userDrawn="1"/>
        </p:nvSpPr>
        <p:spPr>
          <a:xfrm>
            <a:off x="1" y="6107836"/>
            <a:ext cx="4651248" cy="750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14" name="Content Placeholder 2">
            <a:extLst>
              <a:ext uri="{FF2B5EF4-FFF2-40B4-BE49-F238E27FC236}">
                <a16:creationId xmlns:a16="http://schemas.microsoft.com/office/drawing/2014/main" id="{02CEB59E-1776-4FF1-BF4D-A33B618FD59F}"/>
              </a:ext>
            </a:extLst>
          </p:cNvPr>
          <p:cNvSpPr>
            <a:spLocks noGrp="1"/>
          </p:cNvSpPr>
          <p:nvPr>
            <p:ph idx="14" hasCustomPrompt="1"/>
          </p:nvPr>
        </p:nvSpPr>
        <p:spPr>
          <a:xfrm>
            <a:off x="648935" y="1834005"/>
            <a:ext cx="3519028" cy="465155"/>
          </a:xfrm>
        </p:spPr>
        <p:txBody>
          <a:bodyPr anchor="t">
            <a:noAutofit/>
          </a:bodyPr>
          <a:lstStyle>
            <a:lvl1pPr>
              <a:buFont typeface="Arial" panose="020B0604020202020204" pitchFamily="34" charset="0"/>
              <a:buNone/>
              <a:defRPr sz="2000" b="1"/>
            </a:lvl1pPr>
          </a:lstStyle>
          <a:p>
            <a:r>
              <a:rPr lang="en-US" dirty="0"/>
              <a:t>Click to add subtitle</a:t>
            </a:r>
          </a:p>
        </p:txBody>
      </p:sp>
      <p:sp>
        <p:nvSpPr>
          <p:cNvPr id="7" name="Content Placeholder 2">
            <a:extLst>
              <a:ext uri="{FF2B5EF4-FFF2-40B4-BE49-F238E27FC236}">
                <a16:creationId xmlns:a16="http://schemas.microsoft.com/office/drawing/2014/main" id="{26B55E76-BA79-44AC-B206-DA13D60FDA2E}"/>
              </a:ext>
            </a:extLst>
          </p:cNvPr>
          <p:cNvSpPr>
            <a:spLocks noGrp="1"/>
          </p:cNvSpPr>
          <p:nvPr>
            <p:ph idx="1" hasCustomPrompt="1"/>
          </p:nvPr>
        </p:nvSpPr>
        <p:spPr>
          <a:xfrm>
            <a:off x="648935" y="2419555"/>
            <a:ext cx="3519028" cy="3197260"/>
          </a:xfrm>
        </p:spPr>
        <p:txBody>
          <a:bodyPr anchor="t">
            <a:normAutofit/>
          </a:bodyPr>
          <a:lstStyle>
            <a:lvl1pPr marL="283464" indent="-283464">
              <a:buFont typeface="Arial" panose="020B0604020202020204" pitchFamily="34" charset="0"/>
              <a:buChar char="•"/>
              <a:defRPr sz="1600" b="0" baseline="0"/>
            </a:lvl1pPr>
          </a:lstStyle>
          <a:p>
            <a:r>
              <a:rPr lang="en-US" dirty="0"/>
              <a:t> Click to add text</a:t>
            </a:r>
          </a:p>
        </p:txBody>
      </p:sp>
      <p:sp>
        <p:nvSpPr>
          <p:cNvPr id="21" name="Content Placeholder 2">
            <a:extLst>
              <a:ext uri="{FF2B5EF4-FFF2-40B4-BE49-F238E27FC236}">
                <a16:creationId xmlns:a16="http://schemas.microsoft.com/office/drawing/2014/main" id="{60518C4D-71E5-4211-A191-A8ED7185DED2}"/>
              </a:ext>
            </a:extLst>
          </p:cNvPr>
          <p:cNvSpPr>
            <a:spLocks noGrp="1"/>
          </p:cNvSpPr>
          <p:nvPr>
            <p:ph idx="18" hasCustomPrompt="1"/>
          </p:nvPr>
        </p:nvSpPr>
        <p:spPr>
          <a:xfrm>
            <a:off x="4336486" y="1828356"/>
            <a:ext cx="3519028" cy="465155"/>
          </a:xfrm>
        </p:spPr>
        <p:txBody>
          <a:bodyPr anchor="t">
            <a:noAutofit/>
          </a:bodyPr>
          <a:lstStyle>
            <a:lvl1pPr>
              <a:buFont typeface="Arial" panose="020B0604020202020204" pitchFamily="34" charset="0"/>
              <a:buNone/>
              <a:defRPr sz="2000" b="1"/>
            </a:lvl1pPr>
          </a:lstStyle>
          <a:p>
            <a:r>
              <a:rPr lang="en-US" dirty="0"/>
              <a:t>Click to add subtitle</a:t>
            </a:r>
          </a:p>
        </p:txBody>
      </p:sp>
      <p:sp>
        <p:nvSpPr>
          <p:cNvPr id="20" name="Content Placeholder 2">
            <a:extLst>
              <a:ext uri="{FF2B5EF4-FFF2-40B4-BE49-F238E27FC236}">
                <a16:creationId xmlns:a16="http://schemas.microsoft.com/office/drawing/2014/main" id="{D7EF9B63-4443-4EE5-A88B-2F1FA4CC4043}"/>
              </a:ext>
            </a:extLst>
          </p:cNvPr>
          <p:cNvSpPr>
            <a:spLocks noGrp="1"/>
          </p:cNvSpPr>
          <p:nvPr>
            <p:ph idx="17" hasCustomPrompt="1"/>
          </p:nvPr>
        </p:nvSpPr>
        <p:spPr>
          <a:xfrm>
            <a:off x="4336486" y="2419555"/>
            <a:ext cx="3519028" cy="3197260"/>
          </a:xfrm>
        </p:spPr>
        <p:txBody>
          <a:bodyPr anchor="t">
            <a:normAutofit/>
          </a:bodyPr>
          <a:lstStyle>
            <a:lvl1pPr marL="283464" indent="-283464">
              <a:buFont typeface="Arial" panose="020B0604020202020204" pitchFamily="34" charset="0"/>
              <a:buChar char="•"/>
              <a:defRPr sz="1600" b="0" baseline="0"/>
            </a:lvl1pPr>
          </a:lstStyle>
          <a:p>
            <a:r>
              <a:rPr lang="en-US" dirty="0"/>
              <a:t> Click to add text</a:t>
            </a:r>
          </a:p>
        </p:txBody>
      </p:sp>
      <p:sp>
        <p:nvSpPr>
          <p:cNvPr id="19" name="Content Placeholder 2">
            <a:extLst>
              <a:ext uri="{FF2B5EF4-FFF2-40B4-BE49-F238E27FC236}">
                <a16:creationId xmlns:a16="http://schemas.microsoft.com/office/drawing/2014/main" id="{E54FF8D9-50D3-4515-B896-B127F664C1E1}"/>
              </a:ext>
            </a:extLst>
          </p:cNvPr>
          <p:cNvSpPr>
            <a:spLocks noGrp="1"/>
          </p:cNvSpPr>
          <p:nvPr>
            <p:ph idx="16" hasCustomPrompt="1"/>
          </p:nvPr>
        </p:nvSpPr>
        <p:spPr>
          <a:xfrm>
            <a:off x="8024037" y="1834005"/>
            <a:ext cx="3519028" cy="465155"/>
          </a:xfrm>
        </p:spPr>
        <p:txBody>
          <a:bodyPr anchor="t">
            <a:noAutofit/>
          </a:bodyPr>
          <a:lstStyle>
            <a:lvl1pPr>
              <a:buFont typeface="Arial" panose="020B0604020202020204" pitchFamily="34" charset="0"/>
              <a:buNone/>
              <a:defRPr sz="2000" b="1"/>
            </a:lvl1pPr>
          </a:lstStyle>
          <a:p>
            <a:r>
              <a:rPr lang="en-US" dirty="0"/>
              <a:t>Click to add subtitle</a:t>
            </a:r>
          </a:p>
        </p:txBody>
      </p:sp>
      <p:sp>
        <p:nvSpPr>
          <p:cNvPr id="18" name="Content Placeholder 2">
            <a:extLst>
              <a:ext uri="{FF2B5EF4-FFF2-40B4-BE49-F238E27FC236}">
                <a16:creationId xmlns:a16="http://schemas.microsoft.com/office/drawing/2014/main" id="{E95B62E8-2D9A-443A-8560-D347C4703894}"/>
              </a:ext>
            </a:extLst>
          </p:cNvPr>
          <p:cNvSpPr>
            <a:spLocks noGrp="1"/>
          </p:cNvSpPr>
          <p:nvPr>
            <p:ph idx="15" hasCustomPrompt="1"/>
          </p:nvPr>
        </p:nvSpPr>
        <p:spPr>
          <a:xfrm>
            <a:off x="8024037" y="2419555"/>
            <a:ext cx="3519028" cy="3197260"/>
          </a:xfrm>
        </p:spPr>
        <p:txBody>
          <a:bodyPr anchor="t">
            <a:normAutofit/>
          </a:bodyPr>
          <a:lstStyle>
            <a:lvl1pPr marL="283464" indent="-283464">
              <a:buFont typeface="Arial" panose="020B0604020202020204" pitchFamily="34" charset="0"/>
              <a:buChar char="•"/>
              <a:defRPr sz="1600" b="0" baseline="0"/>
            </a:lvl1pPr>
          </a:lstStyle>
          <a:p>
            <a:r>
              <a:rPr lang="en-US" dirty="0"/>
              <a:t> Click to add text</a:t>
            </a:r>
          </a:p>
        </p:txBody>
      </p:sp>
      <p:sp>
        <p:nvSpPr>
          <p:cNvPr id="8" name="Rectangle 7">
            <a:extLst>
              <a:ext uri="{FF2B5EF4-FFF2-40B4-BE49-F238E27FC236}">
                <a16:creationId xmlns:a16="http://schemas.microsoft.com/office/drawing/2014/main" id="{2DA7A17E-1562-4B10-9BC8-AB6B45E6BD6C}"/>
              </a:ext>
              <a:ext uri="{C183D7F6-B498-43B3-948B-1728B52AA6E4}">
                <adec:decorative xmlns:adec="http://schemas.microsoft.com/office/drawing/2017/decorative" val="1"/>
              </a:ext>
            </a:extLst>
          </p:cNvPr>
          <p:cNvSpPr/>
          <p:nvPr userDrawn="1"/>
        </p:nvSpPr>
        <p:spPr>
          <a:xfrm>
            <a:off x="1524" y="6101107"/>
            <a:ext cx="1218895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12" name="Rectangle 11">
            <a:extLst>
              <a:ext uri="{FF2B5EF4-FFF2-40B4-BE49-F238E27FC236}">
                <a16:creationId xmlns:a16="http://schemas.microsoft.com/office/drawing/2014/main" id="{CD37258C-9B58-4DC0-BC98-826A38D4B6B1}"/>
              </a:ext>
              <a:ext uri="{C183D7F6-B498-43B3-948B-1728B52AA6E4}">
                <adec:decorative xmlns:adec="http://schemas.microsoft.com/office/drawing/2017/decorative" val="1"/>
              </a:ext>
            </a:extLst>
          </p:cNvPr>
          <p:cNvSpPr/>
          <p:nvPr userDrawn="1"/>
        </p:nvSpPr>
        <p:spPr>
          <a:xfrm>
            <a:off x="4633798" y="6117631"/>
            <a:ext cx="64008" cy="74036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23" name="Footer Placeholder 29">
            <a:extLst>
              <a:ext uri="{FF2B5EF4-FFF2-40B4-BE49-F238E27FC236}">
                <a16:creationId xmlns:a16="http://schemas.microsoft.com/office/drawing/2014/main" id="{2F8E2987-7F65-44D5-B3AD-776ECF8D85CC}"/>
              </a:ext>
            </a:extLst>
          </p:cNvPr>
          <p:cNvSpPr>
            <a:spLocks noGrp="1"/>
          </p:cNvSpPr>
          <p:nvPr>
            <p:ph type="ftr" sz="quarter" idx="11"/>
          </p:nvPr>
        </p:nvSpPr>
        <p:spPr>
          <a:xfrm>
            <a:off x="642917" y="6309360"/>
            <a:ext cx="3423986" cy="457200"/>
          </a:xfrm>
        </p:spPr>
        <p:txBody>
          <a:bodyPr/>
          <a:lstStyle>
            <a:lvl1pPr>
              <a:defRPr>
                <a:solidFill>
                  <a:schemeClr val="bg1"/>
                </a:solidFill>
              </a:defRPr>
            </a:lvl1pPr>
          </a:lstStyle>
          <a:p>
            <a:r>
              <a:rPr lang="en-US" dirty="0"/>
              <a:t>Presentation Title</a:t>
            </a:r>
            <a:endParaRPr lang="en-US" dirty="0">
              <a:solidFill>
                <a:schemeClr val="bg1"/>
              </a:solidFill>
            </a:endParaRPr>
          </a:p>
        </p:txBody>
      </p:sp>
      <p:sp>
        <p:nvSpPr>
          <p:cNvPr id="22" name="Date Placeholder 28">
            <a:extLst>
              <a:ext uri="{FF2B5EF4-FFF2-40B4-BE49-F238E27FC236}">
                <a16:creationId xmlns:a16="http://schemas.microsoft.com/office/drawing/2014/main" id="{08BD4E48-A35B-4475-BC85-E58DA2920FE4}"/>
              </a:ext>
            </a:extLst>
          </p:cNvPr>
          <p:cNvSpPr>
            <a:spLocks noGrp="1"/>
          </p:cNvSpPr>
          <p:nvPr>
            <p:ph type="dt" sz="half" idx="10"/>
          </p:nvPr>
        </p:nvSpPr>
        <p:spPr>
          <a:xfrm>
            <a:off x="5373620" y="6309360"/>
            <a:ext cx="3411973" cy="457200"/>
          </a:xfrm>
        </p:spPr>
        <p:txBody>
          <a:bodyPr/>
          <a:lstStyle>
            <a:lvl1pPr>
              <a:defRPr>
                <a:solidFill>
                  <a:schemeClr val="tx2"/>
                </a:solidFill>
              </a:defRPr>
            </a:lvl1pPr>
          </a:lstStyle>
          <a:p>
            <a:r>
              <a:rPr lang="en-US"/>
              <a:t>2/1/20XX</a:t>
            </a:r>
            <a:endParaRPr lang="en-US" dirty="0"/>
          </a:p>
        </p:txBody>
      </p:sp>
      <p:sp>
        <p:nvSpPr>
          <p:cNvPr id="11" name="Slide Number Placeholder 30">
            <a:extLst>
              <a:ext uri="{FF2B5EF4-FFF2-40B4-BE49-F238E27FC236}">
                <a16:creationId xmlns:a16="http://schemas.microsoft.com/office/drawing/2014/main" id="{FBDAEBAB-F3AA-4DB3-96B7-6387085C1E0E}"/>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t>‹#›</a:t>
            </a:fld>
            <a:endParaRPr lang="en-US" dirty="0"/>
          </a:p>
        </p:txBody>
      </p:sp>
    </p:spTree>
    <p:extLst>
      <p:ext uri="{BB962C8B-B14F-4D97-AF65-F5344CB8AC3E}">
        <p14:creationId xmlns:p14="http://schemas.microsoft.com/office/powerpoint/2010/main" val="15637555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53C66564-535A-4715-9B27-B8AB14F77E42}"/>
              </a:ext>
              <a:ext uri="{C183D7F6-B498-43B3-948B-1728B52AA6E4}">
                <adec:decorative xmlns:adec="http://schemas.microsoft.com/office/drawing/2017/decorative" val="1"/>
              </a:ext>
            </a:extLst>
          </p:cNvPr>
          <p:cNvSpPr/>
          <p:nvPr userDrawn="1"/>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11" name="Rectangle 10">
            <a:extLst>
              <a:ext uri="{FF2B5EF4-FFF2-40B4-BE49-F238E27FC236}">
                <a16:creationId xmlns:a16="http://schemas.microsoft.com/office/drawing/2014/main" id="{E3821E99-F411-4BAB-8211-C344272A2A1A}"/>
              </a:ext>
              <a:ext uri="{C183D7F6-B498-43B3-948B-1728B52AA6E4}">
                <adec:decorative xmlns:adec="http://schemas.microsoft.com/office/drawing/2017/decorative" val="1"/>
              </a:ext>
            </a:extLst>
          </p:cNvPr>
          <p:cNvSpPr/>
          <p:nvPr userDrawn="1"/>
        </p:nvSpPr>
        <p:spPr>
          <a:xfrm>
            <a:off x="4677552" y="0"/>
            <a:ext cx="7514448"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12" name="Title 1">
            <a:extLst>
              <a:ext uri="{FF2B5EF4-FFF2-40B4-BE49-F238E27FC236}">
                <a16:creationId xmlns:a16="http://schemas.microsoft.com/office/drawing/2014/main" id="{029B7F2A-CF10-474B-91F1-7C50A7DAF83C}"/>
              </a:ext>
            </a:extLst>
          </p:cNvPr>
          <p:cNvSpPr>
            <a:spLocks noGrp="1"/>
          </p:cNvSpPr>
          <p:nvPr>
            <p:ph type="title" hasCustomPrompt="1"/>
          </p:nvPr>
        </p:nvSpPr>
        <p:spPr>
          <a:xfrm>
            <a:off x="5376668" y="537381"/>
            <a:ext cx="6172412" cy="1031927"/>
          </a:xfrm>
        </p:spPr>
        <p:txBody>
          <a:bodyPr/>
          <a:lstStyle>
            <a:lvl1pPr>
              <a:defRPr/>
            </a:lvl1pPr>
          </a:lstStyle>
          <a:p>
            <a:r>
              <a:rPr lang="en-US" dirty="0"/>
              <a:t>Click to add title</a:t>
            </a:r>
          </a:p>
        </p:txBody>
      </p:sp>
      <p:sp>
        <p:nvSpPr>
          <p:cNvPr id="10" name="Rectangle 9">
            <a:extLst>
              <a:ext uri="{FF2B5EF4-FFF2-40B4-BE49-F238E27FC236}">
                <a16:creationId xmlns:a16="http://schemas.microsoft.com/office/drawing/2014/main" id="{58F0D6D9-A64A-415F-BA44-494062CA6983}"/>
              </a:ext>
              <a:ext uri="{C183D7F6-B498-43B3-948B-1728B52AA6E4}">
                <adec:decorative xmlns:adec="http://schemas.microsoft.com/office/drawing/2017/decorative" val="1"/>
              </a:ext>
            </a:extLst>
          </p:cNvPr>
          <p:cNvSpPr/>
          <p:nvPr userDrawn="1"/>
        </p:nvSpPr>
        <p:spPr>
          <a:xfrm rot="5400000">
            <a:off x="121655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13" name="Rectangle 12">
            <a:extLst>
              <a:ext uri="{FF2B5EF4-FFF2-40B4-BE49-F238E27FC236}">
                <a16:creationId xmlns:a16="http://schemas.microsoft.com/office/drawing/2014/main" id="{3777B49C-9749-4042-A729-C27F583654CC}"/>
              </a:ext>
              <a:ext uri="{C183D7F6-B498-43B3-948B-1728B52AA6E4}">
                <adec:decorative xmlns:adec="http://schemas.microsoft.com/office/drawing/2017/decorative" val="1"/>
              </a:ext>
            </a:extLst>
          </p:cNvPr>
          <p:cNvSpPr/>
          <p:nvPr userDrawn="1"/>
        </p:nvSpPr>
        <p:spPr>
          <a:xfrm>
            <a:off x="0" y="2249324"/>
            <a:ext cx="461772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14" name="Rectangle 13">
            <a:extLst>
              <a:ext uri="{FF2B5EF4-FFF2-40B4-BE49-F238E27FC236}">
                <a16:creationId xmlns:a16="http://schemas.microsoft.com/office/drawing/2014/main" id="{11B79F49-5021-4A8F-A90A-5E08F7FB5196}"/>
              </a:ext>
              <a:ext uri="{C183D7F6-B498-43B3-948B-1728B52AA6E4}">
                <adec:decorative xmlns:adec="http://schemas.microsoft.com/office/drawing/2017/decorative" val="1"/>
              </a:ext>
            </a:extLst>
          </p:cNvPr>
          <p:cNvSpPr/>
          <p:nvPr userDrawn="1"/>
        </p:nvSpPr>
        <p:spPr>
          <a:xfrm>
            <a:off x="0" y="4546655"/>
            <a:ext cx="461772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23" name="Picture Placeholder 19">
            <a:extLst>
              <a:ext uri="{FF2B5EF4-FFF2-40B4-BE49-F238E27FC236}">
                <a16:creationId xmlns:a16="http://schemas.microsoft.com/office/drawing/2014/main" id="{B6E270BA-010E-406C-8FBF-0ED0DA28D071}"/>
              </a:ext>
            </a:extLst>
          </p:cNvPr>
          <p:cNvSpPr>
            <a:spLocks noGrp="1"/>
          </p:cNvSpPr>
          <p:nvPr>
            <p:ph type="pic" sz="quarter" idx="13" hasCustomPrompt="1"/>
          </p:nvPr>
        </p:nvSpPr>
        <p:spPr>
          <a:xfrm>
            <a:off x="-1" y="-3"/>
            <a:ext cx="4613544" cy="2249321"/>
          </a:xfrm>
        </p:spPr>
        <p:txBody>
          <a:bodyPr anchor="t"/>
          <a:lstStyle>
            <a:lvl1pPr algn="ctr">
              <a:defRPr/>
            </a:lvl1pPr>
          </a:lstStyle>
          <a:p>
            <a:r>
              <a:rPr lang="en-US" dirty="0"/>
              <a:t>Click to add picture</a:t>
            </a:r>
          </a:p>
        </p:txBody>
      </p:sp>
      <p:sp>
        <p:nvSpPr>
          <p:cNvPr id="24" name="Picture Placeholder 19">
            <a:extLst>
              <a:ext uri="{FF2B5EF4-FFF2-40B4-BE49-F238E27FC236}">
                <a16:creationId xmlns:a16="http://schemas.microsoft.com/office/drawing/2014/main" id="{6E15371C-3F24-44D7-97EB-74C12D53CBBC}"/>
              </a:ext>
            </a:extLst>
          </p:cNvPr>
          <p:cNvSpPr>
            <a:spLocks noGrp="1"/>
          </p:cNvSpPr>
          <p:nvPr>
            <p:ph type="pic" sz="quarter" idx="14" hasCustomPrompt="1"/>
          </p:nvPr>
        </p:nvSpPr>
        <p:spPr>
          <a:xfrm>
            <a:off x="-1" y="2311339"/>
            <a:ext cx="4613544" cy="2241520"/>
          </a:xfrm>
        </p:spPr>
        <p:txBody>
          <a:bodyPr anchor="t"/>
          <a:lstStyle>
            <a:lvl1pPr algn="ctr">
              <a:defRPr/>
            </a:lvl1pPr>
          </a:lstStyle>
          <a:p>
            <a:r>
              <a:rPr lang="en-US" dirty="0"/>
              <a:t>Click to add picture</a:t>
            </a:r>
          </a:p>
        </p:txBody>
      </p:sp>
      <p:sp>
        <p:nvSpPr>
          <p:cNvPr id="25" name="Picture Placeholder 19">
            <a:extLst>
              <a:ext uri="{FF2B5EF4-FFF2-40B4-BE49-F238E27FC236}">
                <a16:creationId xmlns:a16="http://schemas.microsoft.com/office/drawing/2014/main" id="{E39E0BDE-5895-4B94-90AC-7045292B0B34}"/>
              </a:ext>
            </a:extLst>
          </p:cNvPr>
          <p:cNvSpPr>
            <a:spLocks noGrp="1"/>
          </p:cNvSpPr>
          <p:nvPr>
            <p:ph type="pic" sz="quarter" idx="15" hasCustomPrompt="1"/>
          </p:nvPr>
        </p:nvSpPr>
        <p:spPr>
          <a:xfrm>
            <a:off x="-1" y="4613572"/>
            <a:ext cx="4613544" cy="2241520"/>
          </a:xfrm>
        </p:spPr>
        <p:txBody>
          <a:bodyPr anchor="t"/>
          <a:lstStyle>
            <a:lvl1pPr algn="ctr">
              <a:defRPr/>
            </a:lvl1pPr>
          </a:lstStyle>
          <a:p>
            <a:r>
              <a:rPr lang="en-US" dirty="0"/>
              <a:t>Click to add picture</a:t>
            </a:r>
          </a:p>
        </p:txBody>
      </p:sp>
      <p:sp>
        <p:nvSpPr>
          <p:cNvPr id="15" name="Content Placeholder 2">
            <a:extLst>
              <a:ext uri="{FF2B5EF4-FFF2-40B4-BE49-F238E27FC236}">
                <a16:creationId xmlns:a16="http://schemas.microsoft.com/office/drawing/2014/main" id="{E8823570-AC4F-4679-98CA-DC7F7B2CC109}"/>
              </a:ext>
            </a:extLst>
          </p:cNvPr>
          <p:cNvSpPr>
            <a:spLocks noGrp="1"/>
          </p:cNvSpPr>
          <p:nvPr>
            <p:ph idx="1" hasCustomPrompt="1"/>
          </p:nvPr>
        </p:nvSpPr>
        <p:spPr>
          <a:xfrm>
            <a:off x="5376671" y="1735745"/>
            <a:ext cx="6172412" cy="3767496"/>
          </a:xfrm>
        </p:spPr>
        <p:txBody>
          <a:bodyPr anchor="t">
            <a:normAutofit/>
          </a:bodyPr>
          <a:lstStyle>
            <a:lvl1pPr>
              <a:buFont typeface="Arial" panose="020B0604020202020204" pitchFamily="34" charset="0"/>
              <a:buNone/>
              <a:defRPr sz="1600" b="0"/>
            </a:lvl1pPr>
          </a:lstStyle>
          <a:p>
            <a:r>
              <a:rPr lang="en-US" dirty="0"/>
              <a:t> Click to add text</a:t>
            </a:r>
          </a:p>
        </p:txBody>
      </p:sp>
      <p:sp>
        <p:nvSpPr>
          <p:cNvPr id="17" name="Footer Placeholder 4">
            <a:extLst>
              <a:ext uri="{FF2B5EF4-FFF2-40B4-BE49-F238E27FC236}">
                <a16:creationId xmlns:a16="http://schemas.microsoft.com/office/drawing/2014/main" id="{BB6B62FA-FEDE-42B0-8B7B-24AE138EB6CE}"/>
              </a:ext>
            </a:extLst>
          </p:cNvPr>
          <p:cNvSpPr>
            <a:spLocks noGrp="1"/>
          </p:cNvSpPr>
          <p:nvPr>
            <p:ph type="ftr" sz="quarter" idx="11"/>
          </p:nvPr>
        </p:nvSpPr>
        <p:spPr>
          <a:xfrm>
            <a:off x="642917" y="6309360"/>
            <a:ext cx="3271516" cy="457200"/>
          </a:xfrm>
        </p:spPr>
        <p:txBody>
          <a:bodyPr/>
          <a:lstStyle>
            <a:lvl1pPr>
              <a:defRPr>
                <a:solidFill>
                  <a:schemeClr val="bg1"/>
                </a:solidFill>
                <a:effectLst>
                  <a:outerShdw blurRad="50800" dist="38100" dir="2700000" algn="tl" rotWithShape="0">
                    <a:prstClr val="black">
                      <a:alpha val="43000"/>
                    </a:prstClr>
                  </a:outerShdw>
                </a:effectLst>
              </a:defRPr>
            </a:lvl1pPr>
          </a:lstStyle>
          <a:p>
            <a:r>
              <a:rPr lang="en-US" dirty="0"/>
              <a:t>Presentation Title</a:t>
            </a:r>
          </a:p>
        </p:txBody>
      </p:sp>
      <p:sp>
        <p:nvSpPr>
          <p:cNvPr id="16" name="Date Placeholder 3">
            <a:extLst>
              <a:ext uri="{FF2B5EF4-FFF2-40B4-BE49-F238E27FC236}">
                <a16:creationId xmlns:a16="http://schemas.microsoft.com/office/drawing/2014/main" id="{9E8578BE-8DB2-4FE6-B45A-2B3415CEE1C4}"/>
              </a:ext>
            </a:extLst>
          </p:cNvPr>
          <p:cNvSpPr>
            <a:spLocks noGrp="1"/>
          </p:cNvSpPr>
          <p:nvPr>
            <p:ph type="dt" sz="half" idx="10"/>
          </p:nvPr>
        </p:nvSpPr>
        <p:spPr>
          <a:xfrm>
            <a:off x="5376668" y="6309360"/>
            <a:ext cx="3411973" cy="457200"/>
          </a:xfrm>
        </p:spPr>
        <p:txBody>
          <a:bodyPr/>
          <a:lstStyle>
            <a:lvl1pPr>
              <a:defRPr>
                <a:solidFill>
                  <a:schemeClr val="tx2"/>
                </a:solidFill>
                <a:effectLst/>
              </a:defRPr>
            </a:lvl1pPr>
          </a:lstStyle>
          <a:p>
            <a:r>
              <a:rPr lang="en-US"/>
              <a:t>2/1/20XX</a:t>
            </a:r>
            <a:endParaRPr lang="en-US" dirty="0"/>
          </a:p>
        </p:txBody>
      </p:sp>
      <p:sp>
        <p:nvSpPr>
          <p:cNvPr id="18" name="Slide Number Placeholder 5">
            <a:extLst>
              <a:ext uri="{FF2B5EF4-FFF2-40B4-BE49-F238E27FC236}">
                <a16:creationId xmlns:a16="http://schemas.microsoft.com/office/drawing/2014/main" id="{6AF7C96F-C1E5-45F5-B070-2D025E7BD35C}"/>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t>‹#›</a:t>
            </a:fld>
            <a:endParaRPr lang="en-US" dirty="0"/>
          </a:p>
        </p:txBody>
      </p:sp>
    </p:spTree>
    <p:extLst>
      <p:ext uri="{BB962C8B-B14F-4D97-AF65-F5344CB8AC3E}">
        <p14:creationId xmlns:p14="http://schemas.microsoft.com/office/powerpoint/2010/main" val="39584577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3DC2F0A-1748-49AE-AF72-D6BBB4F8FEC3}"/>
              </a:ext>
              <a:ext uri="{C183D7F6-B498-43B3-948B-1728B52AA6E4}">
                <adec:decorative xmlns:adec="http://schemas.microsoft.com/office/drawing/2017/decorative" val="1"/>
              </a:ext>
            </a:extLst>
          </p:cNvPr>
          <p:cNvSpPr/>
          <p:nvPr userDrawn="1"/>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7" name="Rectangle 6">
            <a:extLst>
              <a:ext uri="{FF2B5EF4-FFF2-40B4-BE49-F238E27FC236}">
                <a16:creationId xmlns:a16="http://schemas.microsoft.com/office/drawing/2014/main" id="{683DF7B1-E0C5-4E09-BB5C-F11EA14D7C95}"/>
              </a:ext>
              <a:ext uri="{C183D7F6-B498-43B3-948B-1728B52AA6E4}">
                <adec:decorative xmlns:adec="http://schemas.microsoft.com/office/drawing/2017/decorative" val="1"/>
              </a:ext>
            </a:extLst>
          </p:cNvPr>
          <p:cNvSpPr/>
          <p:nvPr userDrawn="1"/>
        </p:nvSpPr>
        <p:spPr>
          <a:xfrm>
            <a:off x="0" y="866789"/>
            <a:ext cx="6833381" cy="259421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8" name="Title 1">
            <a:extLst>
              <a:ext uri="{FF2B5EF4-FFF2-40B4-BE49-F238E27FC236}">
                <a16:creationId xmlns:a16="http://schemas.microsoft.com/office/drawing/2014/main" id="{BBC678EC-E47C-4AC2-A75A-7022CECD0031}"/>
              </a:ext>
            </a:extLst>
          </p:cNvPr>
          <p:cNvSpPr>
            <a:spLocks noGrp="1"/>
          </p:cNvSpPr>
          <p:nvPr>
            <p:ph type="title" hasCustomPrompt="1"/>
          </p:nvPr>
        </p:nvSpPr>
        <p:spPr>
          <a:xfrm>
            <a:off x="1434622" y="1138041"/>
            <a:ext cx="4862811" cy="2019488"/>
          </a:xfrm>
        </p:spPr>
        <p:txBody>
          <a:bodyPr/>
          <a:lstStyle>
            <a:lvl1pPr>
              <a:lnSpc>
                <a:spcPct val="100000"/>
              </a:lnSpc>
              <a:defRPr>
                <a:solidFill>
                  <a:schemeClr val="bg1"/>
                </a:solidFill>
              </a:defRPr>
            </a:lvl1pPr>
          </a:lstStyle>
          <a:p>
            <a:r>
              <a:rPr lang="en-US" dirty="0">
                <a:solidFill>
                  <a:schemeClr val="bg1"/>
                </a:solidFill>
              </a:rPr>
              <a:t>CLICK TO ADD TITLE</a:t>
            </a:r>
          </a:p>
        </p:txBody>
      </p:sp>
      <p:sp>
        <p:nvSpPr>
          <p:cNvPr id="25" name="Picture Placeholder 21">
            <a:extLst>
              <a:ext uri="{FF2B5EF4-FFF2-40B4-BE49-F238E27FC236}">
                <a16:creationId xmlns:a16="http://schemas.microsoft.com/office/drawing/2014/main" id="{8B745891-A8DA-4640-BB3F-1693FC5AC4AB}"/>
              </a:ext>
            </a:extLst>
          </p:cNvPr>
          <p:cNvSpPr>
            <a:spLocks noGrp="1"/>
          </p:cNvSpPr>
          <p:nvPr>
            <p:ph type="pic" sz="quarter" idx="14" hasCustomPrompt="1"/>
          </p:nvPr>
        </p:nvSpPr>
        <p:spPr>
          <a:xfrm>
            <a:off x="6858023" y="4941"/>
            <a:ext cx="5333977" cy="3392053"/>
          </a:xfrm>
        </p:spPr>
        <p:txBody>
          <a:bodyPr anchor="t"/>
          <a:lstStyle>
            <a:lvl1pPr algn="ctr">
              <a:defRPr/>
            </a:lvl1pPr>
          </a:lstStyle>
          <a:p>
            <a:r>
              <a:rPr lang="en-US" dirty="0"/>
              <a:t>Click to add photo</a:t>
            </a:r>
          </a:p>
        </p:txBody>
      </p:sp>
      <p:sp>
        <p:nvSpPr>
          <p:cNvPr id="24" name="Picture Placeholder 21">
            <a:extLst>
              <a:ext uri="{FF2B5EF4-FFF2-40B4-BE49-F238E27FC236}">
                <a16:creationId xmlns:a16="http://schemas.microsoft.com/office/drawing/2014/main" id="{BC2DF568-4EA5-4F79-980F-47FC90AEA129}"/>
              </a:ext>
            </a:extLst>
          </p:cNvPr>
          <p:cNvSpPr>
            <a:spLocks noGrp="1"/>
          </p:cNvSpPr>
          <p:nvPr>
            <p:ph type="pic" sz="quarter" idx="13" hasCustomPrompt="1"/>
          </p:nvPr>
        </p:nvSpPr>
        <p:spPr>
          <a:xfrm>
            <a:off x="1067712" y="3461002"/>
            <a:ext cx="5728215" cy="3396997"/>
          </a:xfrm>
        </p:spPr>
        <p:txBody>
          <a:bodyPr anchor="t"/>
          <a:lstStyle>
            <a:lvl1pPr algn="ctr">
              <a:defRPr/>
            </a:lvl1pPr>
          </a:lstStyle>
          <a:p>
            <a:r>
              <a:rPr lang="en-US" dirty="0"/>
              <a:t>Click to add photo</a:t>
            </a:r>
          </a:p>
        </p:txBody>
      </p:sp>
      <p:sp>
        <p:nvSpPr>
          <p:cNvPr id="9" name="Rectangle 8">
            <a:extLst>
              <a:ext uri="{FF2B5EF4-FFF2-40B4-BE49-F238E27FC236}">
                <a16:creationId xmlns:a16="http://schemas.microsoft.com/office/drawing/2014/main" id="{5E74E69A-5ABD-42DF-A2B0-997A626257D4}"/>
              </a:ext>
              <a:ext uri="{C183D7F6-B498-43B3-948B-1728B52AA6E4}">
                <adec:decorative xmlns:adec="http://schemas.microsoft.com/office/drawing/2017/decorative" val="1"/>
              </a:ext>
            </a:extLst>
          </p:cNvPr>
          <p:cNvSpPr/>
          <p:nvPr userDrawn="1"/>
        </p:nvSpPr>
        <p:spPr>
          <a:xfrm>
            <a:off x="-3063" y="920164"/>
            <a:ext cx="1070775" cy="24661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10" name="Rectangle 9">
            <a:extLst>
              <a:ext uri="{FF2B5EF4-FFF2-40B4-BE49-F238E27FC236}">
                <a16:creationId xmlns:a16="http://schemas.microsoft.com/office/drawing/2014/main" id="{EC2B6D0A-4A1F-4B59-B429-AD3FABC74F33}"/>
              </a:ext>
              <a:ext uri="{C183D7F6-B498-43B3-948B-1728B52AA6E4}">
                <adec:decorative xmlns:adec="http://schemas.microsoft.com/office/drawing/2017/decorative" val="1"/>
              </a:ext>
            </a:extLst>
          </p:cNvPr>
          <p:cNvSpPr/>
          <p:nvPr userDrawn="1"/>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11" name="Rectangle 10">
            <a:extLst>
              <a:ext uri="{FF2B5EF4-FFF2-40B4-BE49-F238E27FC236}">
                <a16:creationId xmlns:a16="http://schemas.microsoft.com/office/drawing/2014/main" id="{32B66529-F6B7-4C1C-8291-8139628DF6C0}"/>
              </a:ext>
              <a:ext uri="{C183D7F6-B498-43B3-948B-1728B52AA6E4}">
                <adec:decorative xmlns:adec="http://schemas.microsoft.com/office/drawing/2017/decorative" val="1"/>
              </a:ext>
            </a:extLst>
          </p:cNvPr>
          <p:cNvSpPr/>
          <p:nvPr userDrawn="1"/>
        </p:nvSpPr>
        <p:spPr>
          <a:xfrm>
            <a:off x="0" y="848456"/>
            <a:ext cx="6833382" cy="7170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14" name="Rectangle 13">
            <a:extLst>
              <a:ext uri="{FF2B5EF4-FFF2-40B4-BE49-F238E27FC236}">
                <a16:creationId xmlns:a16="http://schemas.microsoft.com/office/drawing/2014/main" id="{872245B9-34B5-4F89-8EA6-C018B9D4FA46}"/>
              </a:ext>
              <a:ext uri="{C183D7F6-B498-43B3-948B-1728B52AA6E4}">
                <adec:decorative xmlns:adec="http://schemas.microsoft.com/office/drawing/2017/decorative" val="1"/>
              </a:ext>
            </a:extLst>
          </p:cNvPr>
          <p:cNvSpPr/>
          <p:nvPr userDrawn="1"/>
        </p:nvSpPr>
        <p:spPr>
          <a:xfrm>
            <a:off x="6858023" y="3442673"/>
            <a:ext cx="5333977" cy="3415328"/>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15" name="Rectangle 14">
            <a:extLst>
              <a:ext uri="{FF2B5EF4-FFF2-40B4-BE49-F238E27FC236}">
                <a16:creationId xmlns:a16="http://schemas.microsoft.com/office/drawing/2014/main" id="{690814BE-76E8-43EC-9616-A1F02F053AD5}"/>
              </a:ext>
              <a:ext uri="{C183D7F6-B498-43B3-948B-1728B52AA6E4}">
                <adec:decorative xmlns:adec="http://schemas.microsoft.com/office/drawing/2017/decorative" val="1"/>
              </a:ext>
            </a:extLst>
          </p:cNvPr>
          <p:cNvSpPr/>
          <p:nvPr userDrawn="1"/>
        </p:nvSpPr>
        <p:spPr>
          <a:xfrm>
            <a:off x="0" y="3396996"/>
            <a:ext cx="1219200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16" name="Content Placeholder 2">
            <a:extLst>
              <a:ext uri="{FF2B5EF4-FFF2-40B4-BE49-F238E27FC236}">
                <a16:creationId xmlns:a16="http://schemas.microsoft.com/office/drawing/2014/main" id="{F8AAA0A6-9D4B-4AA2-82F0-77E5ECF4B647}"/>
              </a:ext>
            </a:extLst>
          </p:cNvPr>
          <p:cNvSpPr>
            <a:spLocks noGrp="1"/>
          </p:cNvSpPr>
          <p:nvPr>
            <p:ph idx="1" hasCustomPrompt="1"/>
          </p:nvPr>
        </p:nvSpPr>
        <p:spPr>
          <a:xfrm>
            <a:off x="7386762" y="3928342"/>
            <a:ext cx="4162319" cy="2285000"/>
          </a:xfrm>
        </p:spPr>
        <p:txBody>
          <a:bodyPr anchor="t">
            <a:normAutofit/>
          </a:bodyPr>
          <a:lstStyle>
            <a:lvl1pPr>
              <a:lnSpc>
                <a:spcPct val="100000"/>
              </a:lnSpc>
              <a:defRPr sz="2400" b="0"/>
            </a:lvl1pPr>
          </a:lstStyle>
          <a:p>
            <a:r>
              <a:rPr lang="en-US" dirty="0"/>
              <a:t>Click to add text</a:t>
            </a:r>
          </a:p>
        </p:txBody>
      </p:sp>
      <p:sp>
        <p:nvSpPr>
          <p:cNvPr id="17" name="Footer Placeholder 12">
            <a:extLst>
              <a:ext uri="{FF2B5EF4-FFF2-40B4-BE49-F238E27FC236}">
                <a16:creationId xmlns:a16="http://schemas.microsoft.com/office/drawing/2014/main" id="{8E3FFD99-95F0-47A4-8642-FB9FECEC4F37}"/>
              </a:ext>
            </a:extLst>
          </p:cNvPr>
          <p:cNvSpPr>
            <a:spLocks noGrp="1"/>
          </p:cNvSpPr>
          <p:nvPr>
            <p:ph type="ftr" sz="quarter" idx="11"/>
          </p:nvPr>
        </p:nvSpPr>
        <p:spPr>
          <a:xfrm>
            <a:off x="1525917" y="6309360"/>
            <a:ext cx="4946592" cy="457200"/>
          </a:xfrm>
        </p:spPr>
        <p:txBody>
          <a:bodyPr/>
          <a:lstStyle>
            <a:lvl1pPr>
              <a:defRPr>
                <a:solidFill>
                  <a:schemeClr val="bg1"/>
                </a:solidFill>
                <a:effectLst>
                  <a:outerShdw blurRad="38100" dist="38100" dir="2700000" algn="tl">
                    <a:srgbClr val="000000">
                      <a:alpha val="43137"/>
                    </a:srgbClr>
                  </a:outerShdw>
                </a:effectLst>
              </a:defRPr>
            </a:lvl1pPr>
          </a:lstStyle>
          <a:p>
            <a:r>
              <a:rPr lang="en-US" dirty="0"/>
              <a:t>Presentation Title</a:t>
            </a:r>
          </a:p>
        </p:txBody>
      </p:sp>
      <p:sp>
        <p:nvSpPr>
          <p:cNvPr id="18" name="Rectangle 17">
            <a:extLst>
              <a:ext uri="{FF2B5EF4-FFF2-40B4-BE49-F238E27FC236}">
                <a16:creationId xmlns:a16="http://schemas.microsoft.com/office/drawing/2014/main" id="{94727536-E532-4015-A178-0ABB6B09C661}"/>
              </a:ext>
              <a:ext uri="{C183D7F6-B498-43B3-948B-1728B52AA6E4}">
                <adec:decorative xmlns:adec="http://schemas.microsoft.com/office/drawing/2017/decorative" val="1"/>
              </a:ext>
            </a:extLst>
          </p:cNvPr>
          <p:cNvSpPr/>
          <p:nvPr userDrawn="1"/>
        </p:nvSpPr>
        <p:spPr>
          <a:xfrm rot="5400000">
            <a:off x="339893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19" name="Date Placeholder 11">
            <a:extLst>
              <a:ext uri="{FF2B5EF4-FFF2-40B4-BE49-F238E27FC236}">
                <a16:creationId xmlns:a16="http://schemas.microsoft.com/office/drawing/2014/main" id="{22977876-C29D-4D32-9948-303465AEC312}"/>
              </a:ext>
            </a:extLst>
          </p:cNvPr>
          <p:cNvSpPr>
            <a:spLocks noGrp="1"/>
          </p:cNvSpPr>
          <p:nvPr>
            <p:ph type="dt" sz="half" idx="10"/>
          </p:nvPr>
        </p:nvSpPr>
        <p:spPr>
          <a:xfrm>
            <a:off x="7377730" y="6309360"/>
            <a:ext cx="2736329" cy="457200"/>
          </a:xfrm>
        </p:spPr>
        <p:txBody>
          <a:bodyPr/>
          <a:lstStyle/>
          <a:p>
            <a:r>
              <a:rPr lang="en-US"/>
              <a:t>2/1/20XX</a:t>
            </a:r>
            <a:endParaRPr lang="en-US" dirty="0"/>
          </a:p>
        </p:txBody>
      </p:sp>
      <p:sp>
        <p:nvSpPr>
          <p:cNvPr id="20" name="Slide Number Placeholder 15">
            <a:extLst>
              <a:ext uri="{FF2B5EF4-FFF2-40B4-BE49-F238E27FC236}">
                <a16:creationId xmlns:a16="http://schemas.microsoft.com/office/drawing/2014/main" id="{6A7BC11E-2EF0-4989-9A7E-7AB377DB8534}"/>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t>‹#›</a:t>
            </a:fld>
            <a:endParaRPr lang="en-US" dirty="0"/>
          </a:p>
        </p:txBody>
      </p:sp>
    </p:spTree>
    <p:extLst>
      <p:ext uri="{BB962C8B-B14F-4D97-AF65-F5344CB8AC3E}">
        <p14:creationId xmlns:p14="http://schemas.microsoft.com/office/powerpoint/2010/main" val="42197670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786F82F-1B47-46ED-8EAE-53EF71E59E9A}"/>
              </a:ext>
            </a:extLst>
          </p:cNvPr>
          <p:cNvSpPr/>
          <p:nvPr/>
        </p:nvSpPr>
        <p:spPr>
          <a:xfrm>
            <a:off x="4718302" y="0"/>
            <a:ext cx="7473698"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2" name="Title Placeholder 1"/>
          <p:cNvSpPr>
            <a:spLocks noGrp="1"/>
          </p:cNvSpPr>
          <p:nvPr>
            <p:ph type="title"/>
          </p:nvPr>
        </p:nvSpPr>
        <p:spPr>
          <a:xfrm>
            <a:off x="642918" y="705113"/>
            <a:ext cx="3411973" cy="5197498"/>
          </a:xfrm>
          <a:prstGeom prst="rect">
            <a:avLst/>
          </a:prstGeom>
        </p:spPr>
        <p:txBody>
          <a:bodyPr vert="horz" lIns="109728" tIns="109728" rIns="109728" bIns="91440" rtlCol="0" anchor="ctr">
            <a:normAutofit/>
          </a:bodyPr>
          <a:lstStyle/>
          <a:p>
            <a:r>
              <a:rPr lang="en-US" dirty="0"/>
              <a:t>Click to edit Master title style</a:t>
            </a:r>
          </a:p>
        </p:txBody>
      </p:sp>
      <p:sp>
        <p:nvSpPr>
          <p:cNvPr id="3" name="Text Placeholder 2"/>
          <p:cNvSpPr>
            <a:spLocks noGrp="1"/>
          </p:cNvSpPr>
          <p:nvPr>
            <p:ph type="body" idx="1"/>
          </p:nvPr>
        </p:nvSpPr>
        <p:spPr>
          <a:xfrm>
            <a:off x="5376671" y="705113"/>
            <a:ext cx="6172412" cy="5197497"/>
          </a:xfrm>
          <a:prstGeom prst="rect">
            <a:avLst/>
          </a:prstGeom>
        </p:spPr>
        <p:txBody>
          <a:bodyPr vert="horz" lIns="109728" tIns="109728" rIns="109728" bIns="9144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376671" y="6309360"/>
            <a:ext cx="4549612" cy="457200"/>
          </a:xfrm>
          <a:prstGeom prst="rect">
            <a:avLst/>
          </a:prstGeom>
        </p:spPr>
        <p:txBody>
          <a:bodyPr vert="horz" lIns="109728" tIns="109728" rIns="109728" bIns="91440" rtlCol="0" anchor="ctr"/>
          <a:lstStyle>
            <a:lvl1pPr algn="l">
              <a:defRPr sz="1200" spc="150" baseline="0">
                <a:solidFill>
                  <a:schemeClr val="tx1">
                    <a:lumMod val="75000"/>
                    <a:lumOff val="25000"/>
                  </a:schemeClr>
                </a:solidFill>
                <a:latin typeface="Arial Unicode MS" panose="020B0604020202020204" pitchFamily="34" charset="-128"/>
              </a:defRPr>
            </a:lvl1pPr>
          </a:lstStyle>
          <a:p>
            <a:r>
              <a:rPr lang="en-US" dirty="0"/>
              <a:t>2/1/20XX</a:t>
            </a:r>
          </a:p>
        </p:txBody>
      </p:sp>
      <p:sp>
        <p:nvSpPr>
          <p:cNvPr id="5" name="Footer Placeholder 4"/>
          <p:cNvSpPr>
            <a:spLocks noGrp="1"/>
          </p:cNvSpPr>
          <p:nvPr>
            <p:ph type="ftr" sz="quarter" idx="3"/>
          </p:nvPr>
        </p:nvSpPr>
        <p:spPr>
          <a:xfrm>
            <a:off x="642918" y="6309360"/>
            <a:ext cx="3411973" cy="457200"/>
          </a:xfrm>
          <a:prstGeom prst="rect">
            <a:avLst/>
          </a:prstGeom>
        </p:spPr>
        <p:txBody>
          <a:bodyPr vert="horz" lIns="109728" tIns="109728" rIns="109728" bIns="91440" rtlCol="0" anchor="ctr"/>
          <a:lstStyle>
            <a:lvl1pPr algn="l">
              <a:defRPr sz="1200" spc="150" baseline="0">
                <a:solidFill>
                  <a:schemeClr val="tx1">
                    <a:lumMod val="75000"/>
                    <a:lumOff val="25000"/>
                  </a:schemeClr>
                </a:solidFill>
                <a:latin typeface="Arial Unicode MS" panose="020B0604020202020204" pitchFamily="34" charset="-128"/>
              </a:defRPr>
            </a:lvl1pPr>
          </a:lstStyle>
          <a:p>
            <a:r>
              <a:rPr lang="en-US" dirty="0"/>
              <a:t>Presentation Title</a:t>
            </a:r>
          </a:p>
        </p:txBody>
      </p:sp>
      <p:sp>
        <p:nvSpPr>
          <p:cNvPr id="6" name="Slide Number Placeholder 5"/>
          <p:cNvSpPr>
            <a:spLocks noGrp="1"/>
          </p:cNvSpPr>
          <p:nvPr>
            <p:ph type="sldNum" sz="quarter" idx="4"/>
          </p:nvPr>
        </p:nvSpPr>
        <p:spPr>
          <a:xfrm>
            <a:off x="10569202" y="6309360"/>
            <a:ext cx="979879" cy="457200"/>
          </a:xfrm>
          <a:prstGeom prst="rect">
            <a:avLst/>
          </a:prstGeom>
        </p:spPr>
        <p:txBody>
          <a:bodyPr vert="horz" lIns="109728" tIns="109728" rIns="109728" bIns="91440" rtlCol="0" anchor="b"/>
          <a:lstStyle>
            <a:lvl1pPr algn="r">
              <a:defRPr sz="1600" b="1" spc="150" baseline="0">
                <a:solidFill>
                  <a:schemeClr val="tx1">
                    <a:lumMod val="75000"/>
                    <a:lumOff val="25000"/>
                  </a:schemeClr>
                </a:solidFill>
                <a:latin typeface="Arial Unicode MS" panose="020B0604020202020204" pitchFamily="34" charset="-128"/>
              </a:defRPr>
            </a:lvl1pPr>
          </a:lstStyle>
          <a:p>
            <a:fld id="{FAEF9944-A4F6-4C59-AEBD-678D6480B8EA}" type="slidenum">
              <a:rPr lang="en-US" smtClean="0"/>
              <a:pPr/>
              <a:t>‹#›</a:t>
            </a:fld>
            <a:endParaRPr lang="en-US" dirty="0"/>
          </a:p>
        </p:txBody>
      </p:sp>
      <p:sp>
        <p:nvSpPr>
          <p:cNvPr id="21" name="Rectangle 20">
            <a:extLst>
              <a:ext uri="{FF2B5EF4-FFF2-40B4-BE49-F238E27FC236}">
                <a16:creationId xmlns:a16="http://schemas.microsoft.com/office/drawing/2014/main" id="{EF1BAF6F-6275-4646-9C59-331B29B9550F}"/>
              </a:ext>
            </a:extLst>
          </p:cNvPr>
          <p:cNvSpPr/>
          <p:nvPr/>
        </p:nvSpPr>
        <p:spPr>
          <a:xfrm rot="5400000">
            <a:off x="1257298"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Tree>
    <p:extLst>
      <p:ext uri="{BB962C8B-B14F-4D97-AF65-F5344CB8AC3E}">
        <p14:creationId xmlns:p14="http://schemas.microsoft.com/office/powerpoint/2010/main" val="22012932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3" r:id="rId12"/>
    <p:sldLayoutId id="2147483674" r:id="rId13"/>
  </p:sldLayoutIdLst>
  <p:hf hdr="0"/>
  <p:txStyles>
    <p:titleStyle>
      <a:lvl1pPr algn="l" defTabSz="914400" rtl="0" eaLnBrk="1" latinLnBrk="0" hangingPunct="1">
        <a:lnSpc>
          <a:spcPct val="150000"/>
        </a:lnSpc>
        <a:spcBef>
          <a:spcPct val="0"/>
        </a:spcBef>
        <a:buNone/>
        <a:defRPr sz="3600" b="1" kern="1200" spc="150" baseline="0">
          <a:solidFill>
            <a:schemeClr val="tx1">
              <a:lumMod val="75000"/>
              <a:lumOff val="25000"/>
            </a:schemeClr>
          </a:solidFill>
          <a:latin typeface="Arial Unicode MS" panose="020B0604020202020204" pitchFamily="34" charset="-128"/>
          <a:ea typeface="+mj-ea"/>
          <a:cs typeface="+mj-cs"/>
        </a:defRPr>
      </a:lvl1pPr>
    </p:titleStyle>
    <p:body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Arial Unicode MS" panose="020B0604020202020204" pitchFamily="34" charset="-128"/>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Arial Unicode MS" panose="020B0604020202020204" pitchFamily="34" charset="-128"/>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Arial Unicode MS" panose="020B0604020202020204" pitchFamily="34" charset="-128"/>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Arial Unicode MS" panose="020B0604020202020204" pitchFamily="34" charset="-128"/>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Arial Unicode MS" panose="020B0604020202020204" pitchFamily="34" charset="-128"/>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848">
          <p15:clr>
            <a:srgbClr val="F26B43"/>
          </p15:clr>
        </p15:guide>
        <p15:guide id="2" orient="horz" pos="3960">
          <p15:clr>
            <a:srgbClr val="F26B43"/>
          </p15:clr>
        </p15:guide>
        <p15:guide id="3" orient="horz" pos="1536">
          <p15:clr>
            <a:srgbClr val="F26B43"/>
          </p15:clr>
        </p15:guide>
        <p15:guide id="4" orient="horz" pos="3840">
          <p15:clr>
            <a:srgbClr val="F26B43"/>
          </p15:clr>
        </p15:guide>
        <p15:guide id="5" pos="4416">
          <p15:clr>
            <a:srgbClr val="F26B43"/>
          </p15:clr>
        </p15:guide>
        <p15:guide id="6" pos="4800">
          <p15:clr>
            <a:srgbClr val="F26B43"/>
          </p15:clr>
        </p15:guide>
        <p15:guide id="7" orient="horz" pos="360">
          <p15:clr>
            <a:srgbClr val="F26B43"/>
          </p15:clr>
        </p15:guide>
        <p15:guide id="8" pos="7368">
          <p15:clr>
            <a:srgbClr val="F26B43"/>
          </p15:clr>
        </p15:guide>
        <p15:guide id="9" pos="2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1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arget="../media/image28.jpeg" Type="http://schemas.openxmlformats.org/officeDocument/2006/relationships/image"/><Relationship Id="rId1" Target="../slideLayouts/slideLayout11.xml" Type="http://schemas.openxmlformats.org/officeDocument/2006/relationships/slideLayout"/></Relationships>
</file>

<file path=ppt/slides/_rels/slide24.xml.rels><?xml version="1.0" encoding="UTF-8" standalone="yes" ?><Relationships xmlns="http://schemas.openxmlformats.org/package/2006/relationships"><Relationship Id="rId3" Target="../media/image30.jpeg" Type="http://schemas.openxmlformats.org/officeDocument/2006/relationships/image"/><Relationship Id="rId2" Target="../media/image29.jpeg" Type="http://schemas.openxmlformats.org/officeDocument/2006/relationships/image"/><Relationship Id="rId1" Target="../slideLayouts/slideLayout11.xml" Type="http://schemas.openxmlformats.org/officeDocument/2006/relationships/slideLayout"/></Relationships>
</file>

<file path=ppt/slides/_rels/slide25.xml.rels><?xml version="1.0" encoding="UTF-8" standalone="yes" ?><Relationships xmlns="http://schemas.openxmlformats.org/package/2006/relationships"><Relationship Id="rId3" Target="../media/image32.png" Type="http://schemas.openxmlformats.org/officeDocument/2006/relationships/image"/><Relationship Id="rId2" Target="../media/image31.jpeg" Type="http://schemas.openxmlformats.org/officeDocument/2006/relationships/image"/><Relationship Id="rId1" Target="../slideLayouts/slideLayout11.xml" Type="http://schemas.openxmlformats.org/officeDocument/2006/relationships/slideLayout"/></Relationships>
</file>

<file path=ppt/slides/_rels/slide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arget="../media/image34.jpeg" Type="http://schemas.openxmlformats.org/officeDocument/2006/relationships/image"/><Relationship Id="rId2" Target="../media/image33.png" Type="http://schemas.openxmlformats.org/officeDocument/2006/relationships/image"/><Relationship Id="rId1" Target="../slideLayouts/slideLayout11.xml" Type="http://schemas.openxmlformats.org/officeDocument/2006/relationships/slideLayout"/></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3" Target="../media/image36.jpeg" Type="http://schemas.openxmlformats.org/officeDocument/2006/relationships/image"/><Relationship Id="rId2" Target="../media/image35.jpeg" Type="http://schemas.openxmlformats.org/officeDocument/2006/relationships/image"/><Relationship Id="rId1" Target="../slideLayouts/slideLayout11.xml" Type="http://schemas.openxmlformats.org/officeDocument/2006/relationships/slideLayout"/><Relationship Id="rId5" Target="../media/image38.jpeg" Type="http://schemas.openxmlformats.org/officeDocument/2006/relationships/image"/><Relationship Id="rId4" Target="../media/image37.png" Type="http://schemas.openxmlformats.org/officeDocument/2006/relationships/image"/></Relationships>
</file>

<file path=ppt/slides/_rels/slide34.xml.rels><?xml version="1.0" encoding="UTF-8" standalone="yes" ?><Relationships xmlns="http://schemas.openxmlformats.org/package/2006/relationships"><Relationship Id="rId3" Target="../media/image40.jpeg" Type="http://schemas.openxmlformats.org/officeDocument/2006/relationships/image"/><Relationship Id="rId7" Target="../media/image44.jpeg" Type="http://schemas.openxmlformats.org/officeDocument/2006/relationships/image"/><Relationship Id="rId2" Target="../media/image39.jpeg" Type="http://schemas.openxmlformats.org/officeDocument/2006/relationships/image"/><Relationship Id="rId1" Target="../slideLayouts/slideLayout11.xml" Type="http://schemas.openxmlformats.org/officeDocument/2006/relationships/slideLayout"/><Relationship Id="rId6" Target="../media/image43.jpeg" Type="http://schemas.openxmlformats.org/officeDocument/2006/relationships/image"/><Relationship Id="rId5" Target="../media/image42.jpeg" Type="http://schemas.openxmlformats.org/officeDocument/2006/relationships/image"/><Relationship Id="rId4" Target="../media/image41.jpeg" Type="http://schemas.openxmlformats.org/officeDocument/2006/relationships/image"/></Relationships>
</file>

<file path=ppt/slides/_rels/slide35.xml.rels><?xml version="1.0" encoding="UTF-8" standalone="yes" ?><Relationships xmlns="http://schemas.openxmlformats.org/package/2006/relationships"><Relationship Id="rId3" Target="../media/image46.jpeg" Type="http://schemas.openxmlformats.org/officeDocument/2006/relationships/image"/><Relationship Id="rId2" Target="../media/image45.jpeg" Type="http://schemas.openxmlformats.org/officeDocument/2006/relationships/image"/><Relationship Id="rId1" Target="../slideLayouts/slideLayout11.xml" Type="http://schemas.openxmlformats.org/officeDocument/2006/relationships/slideLayout"/></Relationships>
</file>

<file path=ppt/slides/_rels/slide36.xml.rels><?xml version="1.0" encoding="UTF-8" standalone="yes" ?><Relationships xmlns="http://schemas.openxmlformats.org/package/2006/relationships"><Relationship Id="rId3" Target="../media/image47.jpeg" Type="http://schemas.openxmlformats.org/officeDocument/2006/relationships/image"/><Relationship Id="rId2" Target="../media/image46.jpeg" Type="http://schemas.openxmlformats.org/officeDocument/2006/relationships/image"/><Relationship Id="rId1" Target="../slideLayouts/slideLayout11.xml" Type="http://schemas.openxmlformats.org/officeDocument/2006/relationships/slideLayout"/></Relationships>
</file>

<file path=ppt/slides/_rels/slide3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3" Target="../media/image50.jpeg" Type="http://schemas.openxmlformats.org/officeDocument/2006/relationships/image"/><Relationship Id="rId2" Target="../media/image49.jpeg" Type="http://schemas.openxmlformats.org/officeDocument/2006/relationships/image"/><Relationship Id="rId1" Target="../slideLayouts/slideLayout11.xml" Type="http://schemas.openxmlformats.org/officeDocument/2006/relationships/slideLayout"/></Relationships>
</file>

<file path=ppt/slides/_rels/slide3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3" Target="../media/image54.jpeg" Type="http://schemas.openxmlformats.org/officeDocument/2006/relationships/image"/><Relationship Id="rId2" Target="../media/image53.jpeg" Type="http://schemas.openxmlformats.org/officeDocument/2006/relationships/image"/><Relationship Id="rId1" Target="../slideLayouts/slideLayout11.xml" Type="http://schemas.openxmlformats.org/officeDocument/2006/relationships/slideLayout"/></Relationships>
</file>

<file path=ppt/slides/_rels/slide43.xml.rels><?xml version="1.0" encoding="UTF-8" standalone="yes" ?><Relationships xmlns="http://schemas.openxmlformats.org/package/2006/relationships"><Relationship Id="rId2" Target="../media/image55.jpeg" Type="http://schemas.openxmlformats.org/officeDocument/2006/relationships/image"/><Relationship Id="rId1" Target="../slideLayouts/slideLayout11.xml" Type="http://schemas.openxmlformats.org/officeDocument/2006/relationships/slideLayout"/></Relationships>
</file>

<file path=ppt/slides/_rels/slide44.xml.rels><?xml version="1.0" encoding="UTF-8" standalone="yes" ?><Relationships xmlns="http://schemas.openxmlformats.org/package/2006/relationships"><Relationship Id="rId3" Target="../media/image57.jpeg" Type="http://schemas.openxmlformats.org/officeDocument/2006/relationships/image"/><Relationship Id="rId2" Target="../media/image56.jpeg" Type="http://schemas.openxmlformats.org/officeDocument/2006/relationships/image"/><Relationship Id="rId1" Target="../slideLayouts/slideLayout11.xml" Type="http://schemas.openxmlformats.org/officeDocument/2006/relationships/slideLayout"/></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1.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1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3.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1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5.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image" Target="../media/image63.jpeg"/><Relationship Id="rId1" Type="http://schemas.openxmlformats.org/officeDocument/2006/relationships/slideLayout" Target="../slideLayouts/slideLayout8.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11.xml"/></Relationships>
</file>

<file path=ppt/slides/_rels/slide78.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1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7.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814B6A3-5F3E-4909-8ED5-87FE82492264}"/>
              </a:ext>
            </a:extLst>
          </p:cNvPr>
          <p:cNvSpPr>
            <a:spLocks noGrp="1"/>
          </p:cNvSpPr>
          <p:nvPr>
            <p:ph type="ctrTitle"/>
          </p:nvPr>
        </p:nvSpPr>
        <p:spPr>
          <a:xfrm>
            <a:off x="1353680" y="1255711"/>
            <a:ext cx="5650914" cy="2173288"/>
          </a:xfrm>
        </p:spPr>
        <p:txBody>
          <a:bodyPr vert="horz" lIns="109728" tIns="109728" rIns="109728" bIns="91440" rtlCol="0" anchor="ctr">
            <a:normAutofit/>
          </a:bodyPr>
          <a:lstStyle/>
          <a:p>
            <a:r>
              <a:rPr lang="fa-IR" spc="0" dirty="0">
                <a:cs typeface="B Nazanin" panose="00000400000000000000" pitchFamily="2" charset="-78"/>
              </a:rPr>
              <a:t>به نام یگانه معمار هستی</a:t>
            </a:r>
            <a:endParaRPr lang="en-US" spc="0" dirty="0">
              <a:cs typeface="B Nazanin" panose="00000400000000000000" pitchFamily="2" charset="-78"/>
            </a:endParaRPr>
          </a:p>
        </p:txBody>
      </p:sp>
      <p:sp>
        <p:nvSpPr>
          <p:cNvPr id="8" name="Subtitle 7">
            <a:extLst>
              <a:ext uri="{FF2B5EF4-FFF2-40B4-BE49-F238E27FC236}">
                <a16:creationId xmlns:a16="http://schemas.microsoft.com/office/drawing/2014/main" id="{4B0552E2-3F84-4A73-A16B-C54043C663D5}"/>
              </a:ext>
            </a:extLst>
          </p:cNvPr>
          <p:cNvSpPr>
            <a:spLocks noGrp="1"/>
          </p:cNvSpPr>
          <p:nvPr>
            <p:ph type="subTitle" idx="1"/>
          </p:nvPr>
        </p:nvSpPr>
        <p:spPr>
          <a:xfrm>
            <a:off x="1353680" y="3645144"/>
            <a:ext cx="4985065" cy="2589401"/>
          </a:xfrm>
        </p:spPr>
        <p:txBody>
          <a:bodyPr vert="horz" lIns="109728" tIns="109728" rIns="109728" bIns="91440" rtlCol="0" anchor="t">
            <a:normAutofit fontScale="25000" lnSpcReduction="20000"/>
          </a:bodyPr>
          <a:lstStyle/>
          <a:p>
            <a:pPr algn="ctr"/>
            <a:r>
              <a:rPr lang="fa-IR" sz="8000" spc="0" dirty="0">
                <a:cs typeface="B Narm" panose="00000400000000000000" pitchFamily="2" charset="-78"/>
              </a:rPr>
              <a:t>عنوان ارائه: رایج ترین سقف ها</a:t>
            </a:r>
          </a:p>
          <a:p>
            <a:pPr algn="ctr"/>
            <a:r>
              <a:rPr lang="fa-IR" sz="8000" spc="0" dirty="0">
                <a:cs typeface="B Narm" panose="00000400000000000000" pitchFamily="2" charset="-78"/>
              </a:rPr>
              <a:t>عنوان درس: مدیریت تشکیلات کارگاهی</a:t>
            </a:r>
          </a:p>
          <a:p>
            <a:pPr algn="ctr"/>
            <a:r>
              <a:rPr lang="fa-IR" sz="8000" spc="0" dirty="0">
                <a:cs typeface="B Narm" panose="00000400000000000000" pitchFamily="2" charset="-78"/>
              </a:rPr>
              <a:t>استاد راهنما: استاد موسوی احمد ابادی</a:t>
            </a:r>
          </a:p>
          <a:p>
            <a:pPr algn="ctr"/>
            <a:r>
              <a:rPr lang="fa-IR" sz="8000" spc="0" dirty="0">
                <a:cs typeface="B Narm" panose="00000400000000000000" pitchFamily="2" charset="-78"/>
              </a:rPr>
              <a:t>ارائه کنندگان:ملیکا محمدی زاده-زینب زارعی</a:t>
            </a:r>
          </a:p>
          <a:p>
            <a:pPr algn="ctr"/>
            <a:r>
              <a:rPr lang="fa-IR" sz="8000" spc="0" dirty="0">
                <a:cs typeface="B Narm" panose="00000400000000000000" pitchFamily="2" charset="-78"/>
              </a:rPr>
              <a:t>دانشگاه قم</a:t>
            </a:r>
          </a:p>
          <a:p>
            <a:pPr algn="ctr"/>
            <a:r>
              <a:rPr lang="fa-IR" sz="8000" spc="0" dirty="0">
                <a:cs typeface="B Narm" panose="00000400000000000000" pitchFamily="2" charset="-78"/>
              </a:rPr>
              <a:t>پاییز 1402</a:t>
            </a:r>
          </a:p>
          <a:p>
            <a:pPr algn="ctr"/>
            <a:endParaRPr lang="fa-IR" spc="0" dirty="0">
              <a:cs typeface="B Nazanin" panose="00000400000000000000" pitchFamily="2" charset="-78"/>
            </a:endParaRPr>
          </a:p>
        </p:txBody>
      </p:sp>
      <p:pic>
        <p:nvPicPr>
          <p:cNvPr id="41" name="Picture Placeholder 40" descr="A large room with glass walls&#10;">
            <a:extLst>
              <a:ext uri="{FF2B5EF4-FFF2-40B4-BE49-F238E27FC236}">
                <a16:creationId xmlns:a16="http://schemas.microsoft.com/office/drawing/2014/main" id="{9FB4A3D7-302B-4FAB-B9BD-5F75A796AC7C}"/>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6859936" y="-2"/>
            <a:ext cx="5332064" cy="6858002"/>
          </a:xfrm>
        </p:spPr>
      </p:pic>
      <p:sp>
        <p:nvSpPr>
          <p:cNvPr id="9" name="Slide Number Placeholder 8">
            <a:extLst>
              <a:ext uri="{FF2B5EF4-FFF2-40B4-BE49-F238E27FC236}">
                <a16:creationId xmlns:a16="http://schemas.microsoft.com/office/drawing/2014/main" id="{8933138F-06C1-46B9-8F23-C4B5783F6C5F}"/>
              </a:ext>
            </a:extLst>
          </p:cNvPr>
          <p:cNvSpPr>
            <a:spLocks noGrp="1"/>
          </p:cNvSpPr>
          <p:nvPr>
            <p:ph type="sldNum" sz="quarter" idx="12"/>
          </p:nvPr>
        </p:nvSpPr>
        <p:spPr/>
        <p:txBody>
          <a:bodyPr/>
          <a:lstStyle/>
          <a:p>
            <a:fld id="{FAEF9944-A4F6-4C59-AEBD-678D6480B8EA}" type="slidenum">
              <a:rPr lang="en-US" smtClean="0">
                <a:solidFill>
                  <a:srgbClr val="FFFFFF"/>
                </a:solidFill>
                <a:effectLst>
                  <a:outerShdw blurRad="50800" dist="38100" dir="2700000" algn="tl" rotWithShape="0">
                    <a:prstClr val="black">
                      <a:alpha val="43000"/>
                    </a:prstClr>
                  </a:outerShdw>
                </a:effectLst>
              </a:rPr>
              <a:pPr/>
              <a:t>1</a:t>
            </a:fld>
            <a:endParaRPr lang="en-US" dirty="0">
              <a:solidFill>
                <a:srgbClr val="FFFFFF"/>
              </a:solidFill>
              <a:effectLst>
                <a:outerShdw blurRad="50800" dist="38100" dir="2700000" algn="tl" rotWithShape="0">
                  <a:prstClr val="black">
                    <a:alpha val="43000"/>
                  </a:prstClr>
                </a:outerShdw>
              </a:effectLst>
            </a:endParaRPr>
          </a:p>
        </p:txBody>
      </p:sp>
    </p:spTree>
    <p:extLst>
      <p:ext uri="{BB962C8B-B14F-4D97-AF65-F5344CB8AC3E}">
        <p14:creationId xmlns:p14="http://schemas.microsoft.com/office/powerpoint/2010/main" val="31115493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42539429-9547-4E01-8052-220253E7C93E}"/>
              </a:ext>
            </a:extLst>
          </p:cNvPr>
          <p:cNvSpPr>
            <a:spLocks noGrp="1"/>
          </p:cNvSpPr>
          <p:nvPr>
            <p:ph type="sldNum" sz="quarter" idx="12"/>
          </p:nvPr>
        </p:nvSpPr>
        <p:spPr/>
        <p:txBody>
          <a:bodyPr/>
          <a:lstStyle/>
          <a:p>
            <a:fld id="{FAEF9944-A4F6-4C59-AEBD-678D6480B8EA}" type="slidenum">
              <a:rPr lang="en-US" smtClean="0"/>
              <a:t>2</a:t>
            </a:fld>
            <a:endParaRPr lang="en-US" dirty="0"/>
          </a:p>
        </p:txBody>
      </p:sp>
      <p:sp>
        <p:nvSpPr>
          <p:cNvPr id="2" name="TextBox 1">
            <a:extLst>
              <a:ext uri="{FF2B5EF4-FFF2-40B4-BE49-F238E27FC236}">
                <a16:creationId xmlns:a16="http://schemas.microsoft.com/office/drawing/2014/main" id="{D5E5F3F9-9ECD-4D32-B672-244F77D4B27B}"/>
              </a:ext>
            </a:extLst>
          </p:cNvPr>
          <p:cNvSpPr txBox="1"/>
          <p:nvPr/>
        </p:nvSpPr>
        <p:spPr>
          <a:xfrm>
            <a:off x="3527028" y="2705725"/>
            <a:ext cx="9268287" cy="1446550"/>
          </a:xfrm>
          <a:prstGeom prst="rect">
            <a:avLst/>
          </a:prstGeom>
          <a:noFill/>
        </p:spPr>
        <p:txBody>
          <a:bodyPr wrap="square" rtlCol="0">
            <a:spAutoFit/>
          </a:bodyPr>
          <a:lstStyle/>
          <a:p>
            <a:r>
              <a:rPr lang="fa-IR" sz="8800" dirty="0">
                <a:latin typeface="Arial Unicode MS" panose="020B0604020202020204" pitchFamily="34" charset="-128"/>
                <a:cs typeface="B Nazanin" panose="00000400000000000000" pitchFamily="2" charset="-78"/>
              </a:rPr>
              <a:t>رفتار سقف ها:</a:t>
            </a:r>
            <a:endParaRPr lang="en-US" sz="4000" dirty="0">
              <a:latin typeface="Arial Unicode MS" panose="020B0604020202020204" pitchFamily="34" charset="-128"/>
              <a:cs typeface="B Nazanin" panose="00000400000000000000" pitchFamily="2" charset="-78"/>
            </a:endParaRPr>
          </a:p>
        </p:txBody>
      </p:sp>
    </p:spTree>
    <p:extLst>
      <p:ext uri="{BB962C8B-B14F-4D97-AF65-F5344CB8AC3E}">
        <p14:creationId xmlns:p14="http://schemas.microsoft.com/office/powerpoint/2010/main" val="34828804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D0AE722-3A17-4292-8B0C-015DEE23F973}"/>
              </a:ext>
            </a:extLst>
          </p:cNvPr>
          <p:cNvSpPr>
            <a:spLocks noGrp="1"/>
          </p:cNvSpPr>
          <p:nvPr>
            <p:ph type="title"/>
          </p:nvPr>
        </p:nvSpPr>
        <p:spPr>
          <a:xfrm>
            <a:off x="946337" y="460975"/>
            <a:ext cx="10900146" cy="935776"/>
          </a:xfrm>
        </p:spPr>
        <p:txBody>
          <a:bodyPr>
            <a:noAutofit/>
          </a:bodyPr>
          <a:lstStyle/>
          <a:p>
            <a:pPr algn="r"/>
            <a:r>
              <a:rPr lang="fa-IR" b="0" spc="0" dirty="0">
                <a:cs typeface="B Nazanin" panose="00000400000000000000" pitchFamily="2" charset="-78"/>
              </a:rPr>
              <a:t>وظایف کف:</a:t>
            </a:r>
            <a:endParaRPr lang="en-US" b="0" spc="0" dirty="0">
              <a:cs typeface="B Nazanin" panose="00000400000000000000" pitchFamily="2" charset="-78"/>
            </a:endParaRPr>
          </a:p>
        </p:txBody>
      </p:sp>
      <p:sp>
        <p:nvSpPr>
          <p:cNvPr id="6" name="Slide Number Placeholder 5">
            <a:extLst>
              <a:ext uri="{FF2B5EF4-FFF2-40B4-BE49-F238E27FC236}">
                <a16:creationId xmlns:a16="http://schemas.microsoft.com/office/drawing/2014/main" id="{8A75989F-94E4-487A-845C-A4F547DDFE8D}"/>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pPr/>
              <a:t>3</a:t>
            </a:fld>
            <a:endParaRPr lang="en-US" dirty="0"/>
          </a:p>
        </p:txBody>
      </p:sp>
      <p:sp>
        <p:nvSpPr>
          <p:cNvPr id="25" name="TextBox 24">
            <a:extLst>
              <a:ext uri="{FF2B5EF4-FFF2-40B4-BE49-F238E27FC236}">
                <a16:creationId xmlns:a16="http://schemas.microsoft.com/office/drawing/2014/main" id="{87322C07-EC5C-4192-9ED6-4B496278CC69}"/>
              </a:ext>
            </a:extLst>
          </p:cNvPr>
          <p:cNvSpPr txBox="1"/>
          <p:nvPr/>
        </p:nvSpPr>
        <p:spPr>
          <a:xfrm>
            <a:off x="4066903" y="1792852"/>
            <a:ext cx="7866743" cy="2862322"/>
          </a:xfrm>
          <a:prstGeom prst="rect">
            <a:avLst/>
          </a:prstGeom>
          <a:noFill/>
        </p:spPr>
        <p:txBody>
          <a:bodyPr wrap="square">
            <a:spAutoFit/>
          </a:bodyPr>
          <a:lstStyle/>
          <a:p>
            <a:pPr lvl="1" algn="r"/>
            <a:r>
              <a:rPr lang="fa-IR" sz="2000" dirty="0">
                <a:latin typeface="Arial Unicode MS" panose="020B0604020202020204" pitchFamily="34" charset="-128"/>
                <a:cs typeface="B Nazanin" panose="00000400000000000000" pitchFamily="2" charset="-78"/>
              </a:rPr>
              <a:t>• سازه حفاظت کننده ساختمان در برابر عوامل جوی و پوشش بین دهانه ها</a:t>
            </a:r>
          </a:p>
          <a:p>
            <a:pPr lvl="1" algn="r"/>
            <a:endParaRPr lang="fa-IR" sz="2000" dirty="0">
              <a:latin typeface="Arial Unicode MS" panose="020B0604020202020204" pitchFamily="34" charset="-128"/>
              <a:cs typeface="B Nazanin" panose="00000400000000000000" pitchFamily="2" charset="-78"/>
            </a:endParaRPr>
          </a:p>
          <a:p>
            <a:pPr lvl="1" algn="r"/>
            <a:r>
              <a:rPr lang="fa-IR" sz="2000" dirty="0">
                <a:latin typeface="Arial Unicode MS" panose="020B0604020202020204" pitchFamily="34" charset="-128"/>
                <a:cs typeface="B Nazanin" panose="00000400000000000000" pitchFamily="2" charset="-78"/>
              </a:rPr>
              <a:t>• مقاومت و پایداری در </a:t>
            </a:r>
            <a:r>
              <a:rPr lang="fa-IR" sz="2000" dirty="0" err="1">
                <a:latin typeface="Arial Unicode MS" panose="020B0604020202020204" pitchFamily="34" charset="-128"/>
                <a:cs typeface="B Nazanin" panose="00000400000000000000" pitchFamily="2" charset="-78"/>
              </a:rPr>
              <a:t>برابرنیروهای</a:t>
            </a:r>
            <a:r>
              <a:rPr lang="fa-IR" sz="2000" dirty="0">
                <a:latin typeface="Arial Unicode MS" panose="020B0604020202020204" pitchFamily="34" charset="-128"/>
                <a:cs typeface="B Nazanin" panose="00000400000000000000" pitchFamily="2" charset="-78"/>
              </a:rPr>
              <a:t> وزن خود</a:t>
            </a:r>
          </a:p>
          <a:p>
            <a:pPr lvl="1" algn="r"/>
            <a:endParaRPr lang="fa-IR" sz="2000" dirty="0">
              <a:latin typeface="Arial Unicode MS" panose="020B0604020202020204" pitchFamily="34" charset="-128"/>
              <a:cs typeface="B Nazanin" panose="00000400000000000000" pitchFamily="2" charset="-78"/>
            </a:endParaRPr>
          </a:p>
          <a:p>
            <a:pPr lvl="1" algn="r"/>
            <a:r>
              <a:rPr lang="fa-IR" sz="2000" dirty="0">
                <a:latin typeface="Arial Unicode MS" panose="020B0604020202020204" pitchFamily="34" charset="-128"/>
                <a:cs typeface="B Nazanin" panose="00000400000000000000" pitchFamily="2" charset="-78"/>
              </a:rPr>
              <a:t>• تحمل بارهای زنده (در بام عمدتاً بار برف)</a:t>
            </a:r>
          </a:p>
          <a:p>
            <a:pPr lvl="1" algn="r"/>
            <a:endParaRPr lang="fa-IR" sz="2000" dirty="0">
              <a:latin typeface="Arial Unicode MS" panose="020B0604020202020204" pitchFamily="34" charset="-128"/>
              <a:cs typeface="B Nazanin" panose="00000400000000000000" pitchFamily="2" charset="-78"/>
            </a:endParaRPr>
          </a:p>
          <a:p>
            <a:pPr lvl="1" algn="r"/>
            <a:r>
              <a:rPr lang="fa-IR" sz="2000" dirty="0">
                <a:latin typeface="Arial Unicode MS" panose="020B0604020202020204" pitchFamily="34" charset="-128"/>
                <a:cs typeface="B Nazanin" panose="00000400000000000000" pitchFamily="2" charset="-78"/>
              </a:rPr>
              <a:t>• دیافراگم سازه ای</a:t>
            </a:r>
          </a:p>
          <a:p>
            <a:pPr lvl="1" algn="r"/>
            <a:endParaRPr lang="fa-IR" sz="2000" dirty="0">
              <a:latin typeface="Arial Unicode MS" panose="020B0604020202020204" pitchFamily="34" charset="-128"/>
              <a:cs typeface="B Nazanin" panose="00000400000000000000" pitchFamily="2" charset="-78"/>
            </a:endParaRPr>
          </a:p>
          <a:p>
            <a:pPr lvl="1" algn="r"/>
            <a:r>
              <a:rPr lang="fa-IR" sz="2000" dirty="0">
                <a:latin typeface="Arial Unicode MS" panose="020B0604020202020204" pitchFamily="34" charset="-128"/>
                <a:cs typeface="B Nazanin" panose="00000400000000000000" pitchFamily="2" charset="-78"/>
              </a:rPr>
              <a:t>•</a:t>
            </a:r>
            <a:endParaRPr lang="en-US" sz="2000" dirty="0">
              <a:latin typeface="Arial Unicode MS" panose="020B0604020202020204" pitchFamily="34" charset="-128"/>
              <a:cs typeface="B Nazanin" panose="00000400000000000000" pitchFamily="2" charset="-78"/>
            </a:endParaRPr>
          </a:p>
        </p:txBody>
      </p:sp>
      <p:pic>
        <p:nvPicPr>
          <p:cNvPr id="26" name="Picture 25">
            <a:extLst>
              <a:ext uri="{FF2B5EF4-FFF2-40B4-BE49-F238E27FC236}">
                <a16:creationId xmlns:a16="http://schemas.microsoft.com/office/drawing/2014/main" id="{0D9B9F32-E7D3-4346-A3B1-DA6C290735A1}"/>
              </a:ext>
            </a:extLst>
          </p:cNvPr>
          <p:cNvPicPr>
            <a:picLocks noChangeAspect="1"/>
          </p:cNvPicPr>
          <p:nvPr/>
        </p:nvPicPr>
        <p:blipFill>
          <a:blip r:embed="rId2"/>
          <a:stretch>
            <a:fillRect/>
          </a:stretch>
        </p:blipFill>
        <p:spPr>
          <a:xfrm>
            <a:off x="759279" y="1755956"/>
            <a:ext cx="3028950" cy="3697100"/>
          </a:xfrm>
          <a:prstGeom prst="rect">
            <a:avLst/>
          </a:prstGeom>
        </p:spPr>
      </p:pic>
      <p:sp>
        <p:nvSpPr>
          <p:cNvPr id="2" name="Rectangle 1">
            <a:extLst>
              <a:ext uri="{FF2B5EF4-FFF2-40B4-BE49-F238E27FC236}">
                <a16:creationId xmlns:a16="http://schemas.microsoft.com/office/drawing/2014/main" id="{69B1A036-241F-43EA-9294-1269843B51C4}"/>
              </a:ext>
            </a:extLst>
          </p:cNvPr>
          <p:cNvSpPr/>
          <p:nvPr/>
        </p:nvSpPr>
        <p:spPr>
          <a:xfrm>
            <a:off x="11606786" y="4273434"/>
            <a:ext cx="239697" cy="381740"/>
          </a:xfrm>
          <a:prstGeom prst="rect">
            <a:avLst/>
          </a:prstGeom>
          <a:solidFill>
            <a:srgbClr val="F7F8F7"/>
          </a:solidFill>
          <a:ln>
            <a:solidFill>
              <a:srgbClr val="F7F8F7"/>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Arial Unicode MS" panose="020B0604020202020204" pitchFamily="34" charset="-128"/>
            </a:endParaRPr>
          </a:p>
        </p:txBody>
      </p:sp>
    </p:spTree>
    <p:extLst>
      <p:ext uri="{BB962C8B-B14F-4D97-AF65-F5344CB8AC3E}">
        <p14:creationId xmlns:p14="http://schemas.microsoft.com/office/powerpoint/2010/main" val="28105452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A75989F-94E4-487A-845C-A4F547DDFE8D}"/>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pPr/>
              <a:t>4</a:t>
            </a:fld>
            <a:endParaRPr lang="en-US" dirty="0"/>
          </a:p>
        </p:txBody>
      </p:sp>
      <p:pic>
        <p:nvPicPr>
          <p:cNvPr id="26" name="Picture 25">
            <a:extLst>
              <a:ext uri="{FF2B5EF4-FFF2-40B4-BE49-F238E27FC236}">
                <a16:creationId xmlns:a16="http://schemas.microsoft.com/office/drawing/2014/main" id="{0D9B9F32-E7D3-4346-A3B1-DA6C290735A1}"/>
              </a:ext>
            </a:extLst>
          </p:cNvPr>
          <p:cNvPicPr>
            <a:picLocks noChangeAspect="1"/>
          </p:cNvPicPr>
          <p:nvPr/>
        </p:nvPicPr>
        <p:blipFill>
          <a:blip r:embed="rId2"/>
          <a:stretch>
            <a:fillRect/>
          </a:stretch>
        </p:blipFill>
        <p:spPr>
          <a:xfrm>
            <a:off x="1283154" y="1850211"/>
            <a:ext cx="3028950" cy="3697100"/>
          </a:xfrm>
          <a:prstGeom prst="rect">
            <a:avLst/>
          </a:prstGeom>
        </p:spPr>
      </p:pic>
      <p:sp>
        <p:nvSpPr>
          <p:cNvPr id="2" name="Rectangle 1">
            <a:extLst>
              <a:ext uri="{FF2B5EF4-FFF2-40B4-BE49-F238E27FC236}">
                <a16:creationId xmlns:a16="http://schemas.microsoft.com/office/drawing/2014/main" id="{69B1A036-241F-43EA-9294-1269843B51C4}"/>
              </a:ext>
            </a:extLst>
          </p:cNvPr>
          <p:cNvSpPr/>
          <p:nvPr/>
        </p:nvSpPr>
        <p:spPr>
          <a:xfrm>
            <a:off x="11606786" y="4273434"/>
            <a:ext cx="239697" cy="381740"/>
          </a:xfrm>
          <a:prstGeom prst="rect">
            <a:avLst/>
          </a:prstGeom>
          <a:solidFill>
            <a:srgbClr val="F7F8F7"/>
          </a:solidFill>
          <a:ln>
            <a:solidFill>
              <a:srgbClr val="F7F8F7"/>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Arial Unicode MS" panose="020B0604020202020204" pitchFamily="34" charset="-128"/>
            </a:endParaRPr>
          </a:p>
        </p:txBody>
      </p:sp>
      <p:sp>
        <p:nvSpPr>
          <p:cNvPr id="8" name="TextBox 7">
            <a:extLst>
              <a:ext uri="{FF2B5EF4-FFF2-40B4-BE49-F238E27FC236}">
                <a16:creationId xmlns:a16="http://schemas.microsoft.com/office/drawing/2014/main" id="{1D76BAD9-9277-4769-BF68-60CA6D98EA31}"/>
              </a:ext>
            </a:extLst>
          </p:cNvPr>
          <p:cNvSpPr txBox="1"/>
          <p:nvPr/>
        </p:nvSpPr>
        <p:spPr>
          <a:xfrm>
            <a:off x="5948308" y="1761296"/>
            <a:ext cx="3940404" cy="3693319"/>
          </a:xfrm>
          <a:prstGeom prst="rect">
            <a:avLst/>
          </a:prstGeom>
          <a:noFill/>
        </p:spPr>
        <p:txBody>
          <a:bodyPr wrap="square" rtlCol="0">
            <a:spAutoFit/>
          </a:bodyPr>
          <a:lstStyle/>
          <a:p>
            <a:pPr algn="ctr"/>
            <a:r>
              <a:rPr lang="fa-IR" dirty="0">
                <a:latin typeface="Arial Unicode MS" panose="020B0604020202020204" pitchFamily="34" charset="-128"/>
                <a:cs typeface="B Nazanin" panose="00000400000000000000" pitchFamily="2" charset="-78"/>
              </a:rPr>
              <a:t>انتقال بار به کف</a:t>
            </a:r>
          </a:p>
          <a:p>
            <a:pPr algn="ctr"/>
            <a:endParaRPr lang="fa-IR" dirty="0">
              <a:latin typeface="Arial Unicode MS" panose="020B0604020202020204" pitchFamily="34" charset="-128"/>
              <a:cs typeface="B Nazanin" panose="00000400000000000000" pitchFamily="2" charset="-78"/>
            </a:endParaRPr>
          </a:p>
          <a:p>
            <a:pPr algn="ctr"/>
            <a:endParaRPr lang="fa-IR" dirty="0">
              <a:latin typeface="Arial Unicode MS" panose="020B0604020202020204" pitchFamily="34" charset="-128"/>
              <a:cs typeface="B Nazanin" panose="00000400000000000000" pitchFamily="2" charset="-78"/>
            </a:endParaRPr>
          </a:p>
          <a:p>
            <a:pPr algn="ctr"/>
            <a:r>
              <a:rPr lang="fa-IR" dirty="0">
                <a:latin typeface="Arial Unicode MS" panose="020B0604020202020204" pitchFamily="34" charset="-128"/>
                <a:cs typeface="B Nazanin" panose="00000400000000000000" pitchFamily="2" charset="-78"/>
              </a:rPr>
              <a:t>انتقال بار از دال به تیرها </a:t>
            </a:r>
          </a:p>
          <a:p>
            <a:pPr algn="ctr"/>
            <a:endParaRPr lang="fa-IR" dirty="0">
              <a:latin typeface="Arial Unicode MS" panose="020B0604020202020204" pitchFamily="34" charset="-128"/>
              <a:cs typeface="B Nazanin" panose="00000400000000000000" pitchFamily="2" charset="-78"/>
            </a:endParaRPr>
          </a:p>
          <a:p>
            <a:pPr algn="ctr"/>
            <a:endParaRPr lang="fa-IR" dirty="0">
              <a:latin typeface="Arial Unicode MS" panose="020B0604020202020204" pitchFamily="34" charset="-128"/>
              <a:cs typeface="B Nazanin" panose="00000400000000000000" pitchFamily="2" charset="-78"/>
            </a:endParaRPr>
          </a:p>
          <a:p>
            <a:pPr algn="ctr"/>
            <a:r>
              <a:rPr lang="fa-IR" dirty="0">
                <a:latin typeface="Arial Unicode MS" panose="020B0604020202020204" pitchFamily="34" charset="-128"/>
                <a:cs typeface="B Nazanin" panose="00000400000000000000" pitchFamily="2" charset="-78"/>
              </a:rPr>
              <a:t>انتقال بار از تیرها به ستون ها </a:t>
            </a:r>
          </a:p>
          <a:p>
            <a:pPr algn="ctr"/>
            <a:endParaRPr lang="fa-IR" dirty="0">
              <a:latin typeface="Arial Unicode MS" panose="020B0604020202020204" pitchFamily="34" charset="-128"/>
              <a:cs typeface="B Nazanin" panose="00000400000000000000" pitchFamily="2" charset="-78"/>
            </a:endParaRPr>
          </a:p>
          <a:p>
            <a:pPr algn="ctr"/>
            <a:endParaRPr lang="fa-IR" dirty="0">
              <a:latin typeface="Arial Unicode MS" panose="020B0604020202020204" pitchFamily="34" charset="-128"/>
              <a:cs typeface="B Nazanin" panose="00000400000000000000" pitchFamily="2" charset="-78"/>
            </a:endParaRPr>
          </a:p>
          <a:p>
            <a:pPr algn="ctr"/>
            <a:r>
              <a:rPr lang="fa-IR" dirty="0">
                <a:latin typeface="Arial Unicode MS" panose="020B0604020202020204" pitchFamily="34" charset="-128"/>
                <a:cs typeface="B Nazanin" panose="00000400000000000000" pitchFamily="2" charset="-78"/>
              </a:rPr>
              <a:t>انتقال بار از ستون ها به </a:t>
            </a:r>
            <a:r>
              <a:rPr lang="fa-IR" dirty="0" err="1">
                <a:latin typeface="Arial Unicode MS" panose="020B0604020202020204" pitchFamily="34" charset="-128"/>
                <a:cs typeface="B Nazanin" panose="00000400000000000000" pitchFamily="2" charset="-78"/>
              </a:rPr>
              <a:t>فنداسیون</a:t>
            </a:r>
            <a:r>
              <a:rPr lang="fa-IR" dirty="0">
                <a:latin typeface="Arial Unicode MS" panose="020B0604020202020204" pitchFamily="34" charset="-128"/>
                <a:cs typeface="B Nazanin" panose="00000400000000000000" pitchFamily="2" charset="-78"/>
              </a:rPr>
              <a:t> </a:t>
            </a:r>
          </a:p>
          <a:p>
            <a:pPr algn="ctr"/>
            <a:endParaRPr lang="fa-IR" dirty="0">
              <a:latin typeface="Arial Unicode MS" panose="020B0604020202020204" pitchFamily="34" charset="-128"/>
              <a:cs typeface="B Nazanin" panose="00000400000000000000" pitchFamily="2" charset="-78"/>
            </a:endParaRPr>
          </a:p>
          <a:p>
            <a:pPr algn="ctr"/>
            <a:endParaRPr lang="fa-IR" dirty="0">
              <a:latin typeface="Arial Unicode MS" panose="020B0604020202020204" pitchFamily="34" charset="-128"/>
              <a:cs typeface="B Nazanin" panose="00000400000000000000" pitchFamily="2" charset="-78"/>
            </a:endParaRPr>
          </a:p>
          <a:p>
            <a:pPr algn="ctr"/>
            <a:r>
              <a:rPr lang="fa-IR" dirty="0">
                <a:latin typeface="Arial Unicode MS" panose="020B0604020202020204" pitchFamily="34" charset="-128"/>
                <a:cs typeface="B Nazanin" panose="00000400000000000000" pitchFamily="2" charset="-78"/>
              </a:rPr>
              <a:t>انتقال بار از </a:t>
            </a:r>
            <a:r>
              <a:rPr lang="fa-IR" dirty="0" err="1">
                <a:latin typeface="Arial Unicode MS" panose="020B0604020202020204" pitchFamily="34" charset="-128"/>
                <a:cs typeface="B Nazanin" panose="00000400000000000000" pitchFamily="2" charset="-78"/>
              </a:rPr>
              <a:t>فنداسیون</a:t>
            </a:r>
            <a:r>
              <a:rPr lang="fa-IR" dirty="0">
                <a:latin typeface="Arial Unicode MS" panose="020B0604020202020204" pitchFamily="34" charset="-128"/>
                <a:cs typeface="B Nazanin" panose="00000400000000000000" pitchFamily="2" charset="-78"/>
              </a:rPr>
              <a:t> به خاک</a:t>
            </a:r>
            <a:endParaRPr lang="en-US" dirty="0">
              <a:latin typeface="Arial Unicode MS" panose="020B0604020202020204" pitchFamily="34" charset="-128"/>
              <a:cs typeface="B Nazanin" panose="00000400000000000000" pitchFamily="2" charset="-78"/>
            </a:endParaRPr>
          </a:p>
        </p:txBody>
      </p:sp>
      <p:sp>
        <p:nvSpPr>
          <p:cNvPr id="13" name="Arrow: Down 12">
            <a:extLst>
              <a:ext uri="{FF2B5EF4-FFF2-40B4-BE49-F238E27FC236}">
                <a16:creationId xmlns:a16="http://schemas.microsoft.com/office/drawing/2014/main" id="{063852B8-72BE-42B8-9E52-0BB503D17666}"/>
              </a:ext>
            </a:extLst>
          </p:cNvPr>
          <p:cNvSpPr/>
          <p:nvPr/>
        </p:nvSpPr>
        <p:spPr>
          <a:xfrm>
            <a:off x="7814820" y="2168165"/>
            <a:ext cx="245097" cy="28280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16" name="Arrow: Down 15">
            <a:extLst>
              <a:ext uri="{FF2B5EF4-FFF2-40B4-BE49-F238E27FC236}">
                <a16:creationId xmlns:a16="http://schemas.microsoft.com/office/drawing/2014/main" id="{4F5A54F3-2541-4F3D-9DAC-099E63965488}"/>
              </a:ext>
            </a:extLst>
          </p:cNvPr>
          <p:cNvSpPr/>
          <p:nvPr/>
        </p:nvSpPr>
        <p:spPr>
          <a:xfrm>
            <a:off x="7814819" y="3018934"/>
            <a:ext cx="245097" cy="28280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17" name="Arrow: Down 16">
            <a:extLst>
              <a:ext uri="{FF2B5EF4-FFF2-40B4-BE49-F238E27FC236}">
                <a16:creationId xmlns:a16="http://schemas.microsoft.com/office/drawing/2014/main" id="{F526A443-8766-4D83-A3CB-F31E7EA15E76}"/>
              </a:ext>
            </a:extLst>
          </p:cNvPr>
          <p:cNvSpPr/>
          <p:nvPr/>
        </p:nvSpPr>
        <p:spPr>
          <a:xfrm>
            <a:off x="7795963" y="3794573"/>
            <a:ext cx="245097" cy="28280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18" name="Arrow: Down 17">
            <a:extLst>
              <a:ext uri="{FF2B5EF4-FFF2-40B4-BE49-F238E27FC236}">
                <a16:creationId xmlns:a16="http://schemas.microsoft.com/office/drawing/2014/main" id="{44B71A0A-FDA1-4AA4-8170-C90FFDAFF0C0}"/>
              </a:ext>
            </a:extLst>
          </p:cNvPr>
          <p:cNvSpPr/>
          <p:nvPr/>
        </p:nvSpPr>
        <p:spPr>
          <a:xfrm>
            <a:off x="7795962" y="4743254"/>
            <a:ext cx="245097" cy="28280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Unicode MS" panose="020B0604020202020204" pitchFamily="34" charset="-128"/>
            </a:endParaRPr>
          </a:p>
        </p:txBody>
      </p:sp>
      <p:sp>
        <p:nvSpPr>
          <p:cNvPr id="14" name="TextBox 13">
            <a:extLst>
              <a:ext uri="{FF2B5EF4-FFF2-40B4-BE49-F238E27FC236}">
                <a16:creationId xmlns:a16="http://schemas.microsoft.com/office/drawing/2014/main" id="{915E10A2-2B7B-46EC-B117-E34AE2D458F9}"/>
              </a:ext>
            </a:extLst>
          </p:cNvPr>
          <p:cNvSpPr txBox="1"/>
          <p:nvPr/>
        </p:nvSpPr>
        <p:spPr>
          <a:xfrm>
            <a:off x="9404483" y="635552"/>
            <a:ext cx="4289196" cy="646331"/>
          </a:xfrm>
          <a:prstGeom prst="rect">
            <a:avLst/>
          </a:prstGeom>
          <a:noFill/>
        </p:spPr>
        <p:txBody>
          <a:bodyPr wrap="square" rtlCol="0">
            <a:spAutoFit/>
          </a:bodyPr>
          <a:lstStyle/>
          <a:p>
            <a:r>
              <a:rPr lang="fa-IR" sz="3600" dirty="0">
                <a:solidFill>
                  <a:schemeClr val="bg1"/>
                </a:solidFill>
                <a:latin typeface="Arial Unicode MS" panose="020B0604020202020204" pitchFamily="34" charset="-128"/>
                <a:cs typeface="B Nazanin" panose="00000400000000000000" pitchFamily="2" charset="-78"/>
              </a:rPr>
              <a:t>نوع انتقال نیرو :</a:t>
            </a:r>
            <a:endParaRPr lang="en-US" sz="3600" dirty="0">
              <a:solidFill>
                <a:schemeClr val="bg1"/>
              </a:solidFill>
              <a:latin typeface="Arial Unicode MS" panose="020B0604020202020204" pitchFamily="34" charset="-128"/>
              <a:cs typeface="B Nazanin" panose="00000400000000000000" pitchFamily="2" charset="-78"/>
            </a:endParaRPr>
          </a:p>
        </p:txBody>
      </p:sp>
    </p:spTree>
    <p:extLst>
      <p:ext uri="{BB962C8B-B14F-4D97-AF65-F5344CB8AC3E}">
        <p14:creationId xmlns:p14="http://schemas.microsoft.com/office/powerpoint/2010/main" val="30884721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A75989F-94E4-487A-845C-A4F547DDFE8D}"/>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pPr/>
              <a:t>5</a:t>
            </a:fld>
            <a:endParaRPr lang="en-US" dirty="0"/>
          </a:p>
        </p:txBody>
      </p:sp>
      <p:pic>
        <p:nvPicPr>
          <p:cNvPr id="26" name="Picture 25">
            <a:extLst>
              <a:ext uri="{FF2B5EF4-FFF2-40B4-BE49-F238E27FC236}">
                <a16:creationId xmlns:a16="http://schemas.microsoft.com/office/drawing/2014/main" id="{0D9B9F32-E7D3-4346-A3B1-DA6C290735A1}"/>
              </a:ext>
            </a:extLst>
          </p:cNvPr>
          <p:cNvPicPr>
            <a:picLocks noChangeAspect="1"/>
          </p:cNvPicPr>
          <p:nvPr/>
        </p:nvPicPr>
        <p:blipFill>
          <a:blip r:embed="rId2"/>
          <a:stretch>
            <a:fillRect/>
          </a:stretch>
        </p:blipFill>
        <p:spPr>
          <a:xfrm>
            <a:off x="1114337" y="1846142"/>
            <a:ext cx="3028950" cy="3697100"/>
          </a:xfrm>
          <a:prstGeom prst="rect">
            <a:avLst/>
          </a:prstGeom>
        </p:spPr>
      </p:pic>
      <p:sp>
        <p:nvSpPr>
          <p:cNvPr id="2" name="Rectangle 1">
            <a:extLst>
              <a:ext uri="{FF2B5EF4-FFF2-40B4-BE49-F238E27FC236}">
                <a16:creationId xmlns:a16="http://schemas.microsoft.com/office/drawing/2014/main" id="{69B1A036-241F-43EA-9294-1269843B51C4}"/>
              </a:ext>
            </a:extLst>
          </p:cNvPr>
          <p:cNvSpPr/>
          <p:nvPr/>
        </p:nvSpPr>
        <p:spPr>
          <a:xfrm>
            <a:off x="11606786" y="4273434"/>
            <a:ext cx="239697" cy="381740"/>
          </a:xfrm>
          <a:prstGeom prst="rect">
            <a:avLst/>
          </a:prstGeom>
          <a:solidFill>
            <a:srgbClr val="F7F8F7"/>
          </a:solidFill>
          <a:ln>
            <a:solidFill>
              <a:srgbClr val="F7F8F7"/>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Arial Unicode MS" panose="020B0604020202020204" pitchFamily="34" charset="-128"/>
            </a:endParaRPr>
          </a:p>
        </p:txBody>
      </p:sp>
      <p:sp>
        <p:nvSpPr>
          <p:cNvPr id="3" name="TextBox 2">
            <a:extLst>
              <a:ext uri="{FF2B5EF4-FFF2-40B4-BE49-F238E27FC236}">
                <a16:creationId xmlns:a16="http://schemas.microsoft.com/office/drawing/2014/main" id="{4CD5AB2A-B328-48CE-9C8B-9C1EE1760954}"/>
              </a:ext>
            </a:extLst>
          </p:cNvPr>
          <p:cNvSpPr txBox="1"/>
          <p:nvPr/>
        </p:nvSpPr>
        <p:spPr>
          <a:xfrm>
            <a:off x="8882445" y="2986806"/>
            <a:ext cx="1686757" cy="707886"/>
          </a:xfrm>
          <a:prstGeom prst="rect">
            <a:avLst/>
          </a:prstGeom>
          <a:noFill/>
        </p:spPr>
        <p:txBody>
          <a:bodyPr wrap="square" rtlCol="0">
            <a:spAutoFit/>
          </a:bodyPr>
          <a:lstStyle/>
          <a:p>
            <a:r>
              <a:rPr lang="fa-IR" sz="4000" dirty="0">
                <a:latin typeface="Arial Unicode MS" panose="020B0604020202020204" pitchFamily="34" charset="-128"/>
                <a:cs typeface="B Nazanin" panose="00000400000000000000" pitchFamily="2" charset="-78"/>
              </a:rPr>
              <a:t>سقف ها </a:t>
            </a:r>
            <a:endParaRPr lang="en-US" sz="4000" dirty="0">
              <a:latin typeface="Arial Unicode MS" panose="020B0604020202020204" pitchFamily="34" charset="-128"/>
              <a:cs typeface="B Nazanin" panose="00000400000000000000" pitchFamily="2" charset="-78"/>
            </a:endParaRPr>
          </a:p>
        </p:txBody>
      </p:sp>
      <p:sp>
        <p:nvSpPr>
          <p:cNvPr id="4" name="TextBox 3">
            <a:extLst>
              <a:ext uri="{FF2B5EF4-FFF2-40B4-BE49-F238E27FC236}">
                <a16:creationId xmlns:a16="http://schemas.microsoft.com/office/drawing/2014/main" id="{254BC6E8-E1CF-44E7-BA13-3B62201178B5}"/>
              </a:ext>
            </a:extLst>
          </p:cNvPr>
          <p:cNvSpPr txBox="1"/>
          <p:nvPr/>
        </p:nvSpPr>
        <p:spPr>
          <a:xfrm>
            <a:off x="6154463" y="2237499"/>
            <a:ext cx="2281561" cy="369332"/>
          </a:xfrm>
          <a:prstGeom prst="rect">
            <a:avLst/>
          </a:prstGeom>
          <a:noFill/>
        </p:spPr>
        <p:txBody>
          <a:bodyPr wrap="square" rtlCol="0">
            <a:spAutoFit/>
          </a:bodyPr>
          <a:lstStyle/>
          <a:p>
            <a:r>
              <a:rPr lang="fa-IR" dirty="0">
                <a:latin typeface="Arial Unicode MS" panose="020B0604020202020204" pitchFamily="34" charset="-128"/>
                <a:cs typeface="B Nazanin" panose="00000400000000000000" pitchFamily="2" charset="-78"/>
              </a:rPr>
              <a:t>یک بعدی (خط)</a:t>
            </a:r>
            <a:endParaRPr lang="en-US" dirty="0">
              <a:latin typeface="Arial Unicode MS" panose="020B0604020202020204" pitchFamily="34" charset="-128"/>
              <a:cs typeface="B Nazanin" panose="00000400000000000000" pitchFamily="2" charset="-78"/>
            </a:endParaRPr>
          </a:p>
        </p:txBody>
      </p:sp>
      <p:sp>
        <p:nvSpPr>
          <p:cNvPr id="5" name="TextBox 4">
            <a:extLst>
              <a:ext uri="{FF2B5EF4-FFF2-40B4-BE49-F238E27FC236}">
                <a16:creationId xmlns:a16="http://schemas.microsoft.com/office/drawing/2014/main" id="{01B3F6C0-56AD-4105-B772-B7E77E4EB366}"/>
              </a:ext>
            </a:extLst>
          </p:cNvPr>
          <p:cNvSpPr txBox="1"/>
          <p:nvPr/>
        </p:nvSpPr>
        <p:spPr>
          <a:xfrm>
            <a:off x="6007559" y="4273434"/>
            <a:ext cx="1731146" cy="400110"/>
          </a:xfrm>
          <a:prstGeom prst="rect">
            <a:avLst/>
          </a:prstGeom>
          <a:noFill/>
        </p:spPr>
        <p:txBody>
          <a:bodyPr wrap="square" rtlCol="0">
            <a:spAutoFit/>
          </a:bodyPr>
          <a:lstStyle/>
          <a:p>
            <a:r>
              <a:rPr lang="fa-IR" sz="2000" dirty="0">
                <a:latin typeface="Arial Unicode MS" panose="020B0604020202020204" pitchFamily="34" charset="-128"/>
                <a:cs typeface="B Nazanin" panose="00000400000000000000" pitchFamily="2" charset="-78"/>
              </a:rPr>
              <a:t>دو بعدی (صفحه)</a:t>
            </a:r>
            <a:endParaRPr lang="en-US" sz="2000" dirty="0">
              <a:latin typeface="Arial Unicode MS" panose="020B0604020202020204" pitchFamily="34" charset="-128"/>
              <a:cs typeface="B Nazanin" panose="00000400000000000000" pitchFamily="2" charset="-78"/>
            </a:endParaRPr>
          </a:p>
        </p:txBody>
      </p:sp>
      <p:cxnSp>
        <p:nvCxnSpPr>
          <p:cNvPr id="11" name="Connector: Elbow 10">
            <a:extLst>
              <a:ext uri="{FF2B5EF4-FFF2-40B4-BE49-F238E27FC236}">
                <a16:creationId xmlns:a16="http://schemas.microsoft.com/office/drawing/2014/main" id="{9DE06664-9962-4404-A3C4-996CAB28D186}"/>
              </a:ext>
            </a:extLst>
          </p:cNvPr>
          <p:cNvCxnSpPr>
            <a:cxnSpLocks/>
          </p:cNvCxnSpPr>
          <p:nvPr/>
        </p:nvCxnSpPr>
        <p:spPr>
          <a:xfrm rot="10800000">
            <a:off x="7591802" y="2422165"/>
            <a:ext cx="1290643" cy="1062970"/>
          </a:xfrm>
          <a:prstGeom prst="bentConnector3">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43EE85F7-2062-4EC9-9B2A-B49CD7CA00DC}"/>
              </a:ext>
            </a:extLst>
          </p:cNvPr>
          <p:cNvCxnSpPr>
            <a:cxnSpLocks/>
          </p:cNvCxnSpPr>
          <p:nvPr/>
        </p:nvCxnSpPr>
        <p:spPr>
          <a:xfrm rot="10800000" flipV="1">
            <a:off x="7628262" y="3485135"/>
            <a:ext cx="1217722" cy="1045831"/>
          </a:xfrm>
          <a:prstGeom prst="bentConnector3">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81A32962-6F88-4719-BC93-F4858E6AA1CA}"/>
              </a:ext>
            </a:extLst>
          </p:cNvPr>
          <p:cNvSpPr txBox="1"/>
          <p:nvPr/>
        </p:nvSpPr>
        <p:spPr>
          <a:xfrm>
            <a:off x="8568966" y="735291"/>
            <a:ext cx="3912124" cy="646331"/>
          </a:xfrm>
          <a:prstGeom prst="rect">
            <a:avLst/>
          </a:prstGeom>
          <a:noFill/>
        </p:spPr>
        <p:txBody>
          <a:bodyPr wrap="square" rtlCol="0">
            <a:spAutoFit/>
          </a:bodyPr>
          <a:lstStyle/>
          <a:p>
            <a:r>
              <a:rPr lang="fa-IR" sz="3600" dirty="0">
                <a:solidFill>
                  <a:schemeClr val="bg1"/>
                </a:solidFill>
                <a:latin typeface="Arial Unicode MS" panose="020B0604020202020204" pitchFamily="34" charset="-128"/>
                <a:cs typeface="B Nazanin" panose="00000400000000000000" pitchFamily="2" charset="-78"/>
              </a:rPr>
              <a:t>طبقه بندی سقف ها:</a:t>
            </a:r>
            <a:endParaRPr lang="en-US" sz="3600" dirty="0">
              <a:solidFill>
                <a:schemeClr val="bg1"/>
              </a:solidFill>
              <a:latin typeface="Arial Unicode MS" panose="020B0604020202020204" pitchFamily="34" charset="-128"/>
              <a:cs typeface="B Nazanin" panose="00000400000000000000" pitchFamily="2" charset="-78"/>
            </a:endParaRPr>
          </a:p>
        </p:txBody>
      </p:sp>
    </p:spTree>
    <p:extLst>
      <p:ext uri="{BB962C8B-B14F-4D97-AF65-F5344CB8AC3E}">
        <p14:creationId xmlns:p14="http://schemas.microsoft.com/office/powerpoint/2010/main" val="41836599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D0AE722-3A17-4292-8B0C-015DEE23F973}"/>
              </a:ext>
            </a:extLst>
          </p:cNvPr>
          <p:cNvSpPr>
            <a:spLocks noGrp="1"/>
          </p:cNvSpPr>
          <p:nvPr>
            <p:ph type="title"/>
          </p:nvPr>
        </p:nvSpPr>
        <p:spPr>
          <a:xfrm>
            <a:off x="996171" y="322070"/>
            <a:ext cx="10900146" cy="935776"/>
          </a:xfrm>
        </p:spPr>
        <p:txBody>
          <a:bodyPr>
            <a:noAutofit/>
          </a:bodyPr>
          <a:lstStyle/>
          <a:p>
            <a:pPr algn="r"/>
            <a:r>
              <a:rPr lang="fa-IR" spc="0" dirty="0">
                <a:cs typeface="B Nazanin" panose="00000400000000000000" pitchFamily="2" charset="-78"/>
              </a:rPr>
              <a:t>سازه یک بعدی:</a:t>
            </a:r>
            <a:endParaRPr lang="en-US" spc="0" dirty="0">
              <a:cs typeface="B Nazanin" panose="00000400000000000000" pitchFamily="2" charset="-78"/>
            </a:endParaRPr>
          </a:p>
        </p:txBody>
      </p:sp>
      <p:sp>
        <p:nvSpPr>
          <p:cNvPr id="6" name="Slide Number Placeholder 5">
            <a:extLst>
              <a:ext uri="{FF2B5EF4-FFF2-40B4-BE49-F238E27FC236}">
                <a16:creationId xmlns:a16="http://schemas.microsoft.com/office/drawing/2014/main" id="{8A75989F-94E4-487A-845C-A4F547DDFE8D}"/>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pPr/>
              <a:t>6</a:t>
            </a:fld>
            <a:endParaRPr lang="en-US" dirty="0"/>
          </a:p>
        </p:txBody>
      </p:sp>
      <p:sp>
        <p:nvSpPr>
          <p:cNvPr id="25" name="TextBox 24">
            <a:extLst>
              <a:ext uri="{FF2B5EF4-FFF2-40B4-BE49-F238E27FC236}">
                <a16:creationId xmlns:a16="http://schemas.microsoft.com/office/drawing/2014/main" id="{87322C07-EC5C-4192-9ED6-4B496278CC69}"/>
              </a:ext>
            </a:extLst>
          </p:cNvPr>
          <p:cNvSpPr txBox="1"/>
          <p:nvPr/>
        </p:nvSpPr>
        <p:spPr>
          <a:xfrm>
            <a:off x="3951493" y="1792852"/>
            <a:ext cx="7866743" cy="707886"/>
          </a:xfrm>
          <a:prstGeom prst="rect">
            <a:avLst/>
          </a:prstGeom>
          <a:noFill/>
        </p:spPr>
        <p:txBody>
          <a:bodyPr wrap="square">
            <a:spAutoFit/>
          </a:bodyPr>
          <a:lstStyle/>
          <a:p>
            <a:pPr lvl="1" algn="r"/>
            <a:r>
              <a:rPr lang="fa-IR" sz="2000" b="0" i="0" dirty="0">
                <a:solidFill>
                  <a:srgbClr val="000000"/>
                </a:solidFill>
                <a:effectLst/>
                <a:latin typeface="B Nazanin" panose="00000400000000000000" pitchFamily="2" charset="-78"/>
                <a:cs typeface="B Nazanin" panose="00000400000000000000" pitchFamily="2" charset="-78"/>
              </a:rPr>
              <a:t>سازه </a:t>
            </a:r>
            <a:r>
              <a:rPr lang="fa-IR" sz="2000" b="0" i="0" dirty="0" err="1">
                <a:solidFill>
                  <a:srgbClr val="000000"/>
                </a:solidFill>
                <a:effectLst/>
                <a:latin typeface="B Nazanin" panose="00000400000000000000" pitchFamily="2" charset="-78"/>
                <a:cs typeface="B Nazanin" panose="00000400000000000000" pitchFamily="2" charset="-78"/>
              </a:rPr>
              <a:t>هایی</a:t>
            </a:r>
            <a:r>
              <a:rPr lang="fa-IR" sz="2000" b="0" i="0" dirty="0">
                <a:solidFill>
                  <a:srgbClr val="000000"/>
                </a:solidFill>
                <a:effectLst/>
                <a:latin typeface="B Nazanin" panose="00000400000000000000" pitchFamily="2" charset="-78"/>
                <a:cs typeface="B Nazanin" panose="00000400000000000000" pitchFamily="2" charset="-78"/>
              </a:rPr>
              <a:t> مانند تیر، کابل، ستون، قوس که نیرو را در یک راستا منتقل می کنند.</a:t>
            </a:r>
            <a:r>
              <a:rPr lang="fa-IR" sz="2000" dirty="0">
                <a:latin typeface="Arial Unicode MS" panose="020B0604020202020204" pitchFamily="34" charset="-128"/>
              </a:rPr>
              <a:t> </a:t>
            </a:r>
            <a:br>
              <a:rPr lang="fa-IR" sz="2000" dirty="0">
                <a:latin typeface="Arial Unicode MS" panose="020B0604020202020204" pitchFamily="34" charset="-128"/>
              </a:rPr>
            </a:br>
            <a:endParaRPr lang="en-US" sz="2000" dirty="0">
              <a:latin typeface="Arial Unicode MS" panose="020B0604020202020204" pitchFamily="34" charset="-128"/>
              <a:cs typeface="B Nazanin" panose="00000400000000000000" pitchFamily="2" charset="-78"/>
            </a:endParaRPr>
          </a:p>
        </p:txBody>
      </p:sp>
      <p:pic>
        <p:nvPicPr>
          <p:cNvPr id="2" name="Picture 1">
            <a:extLst>
              <a:ext uri="{FF2B5EF4-FFF2-40B4-BE49-F238E27FC236}">
                <a16:creationId xmlns:a16="http://schemas.microsoft.com/office/drawing/2014/main" id="{773B1B05-9C65-47A1-B6C9-F22EA757E66D}"/>
              </a:ext>
            </a:extLst>
          </p:cNvPr>
          <p:cNvPicPr>
            <a:picLocks noChangeAspect="1"/>
          </p:cNvPicPr>
          <p:nvPr/>
        </p:nvPicPr>
        <p:blipFill>
          <a:blip r:embed="rId2"/>
          <a:stretch>
            <a:fillRect/>
          </a:stretch>
        </p:blipFill>
        <p:spPr>
          <a:xfrm>
            <a:off x="8496803" y="2500738"/>
            <a:ext cx="2371550" cy="2956816"/>
          </a:xfrm>
          <a:prstGeom prst="rect">
            <a:avLst/>
          </a:prstGeom>
        </p:spPr>
      </p:pic>
      <p:pic>
        <p:nvPicPr>
          <p:cNvPr id="3" name="Picture 2">
            <a:extLst>
              <a:ext uri="{FF2B5EF4-FFF2-40B4-BE49-F238E27FC236}">
                <a16:creationId xmlns:a16="http://schemas.microsoft.com/office/drawing/2014/main" id="{8D6CC059-92B0-467F-B487-4B64DFCEDD91}"/>
              </a:ext>
            </a:extLst>
          </p:cNvPr>
          <p:cNvPicPr>
            <a:picLocks noChangeAspect="1"/>
          </p:cNvPicPr>
          <p:nvPr/>
        </p:nvPicPr>
        <p:blipFill>
          <a:blip r:embed="rId3"/>
          <a:stretch>
            <a:fillRect/>
          </a:stretch>
        </p:blipFill>
        <p:spPr>
          <a:xfrm>
            <a:off x="4671990" y="2500738"/>
            <a:ext cx="2699079" cy="2956816"/>
          </a:xfrm>
          <a:prstGeom prst="rect">
            <a:avLst/>
          </a:prstGeom>
        </p:spPr>
      </p:pic>
      <p:pic>
        <p:nvPicPr>
          <p:cNvPr id="4" name="Picture 3">
            <a:extLst>
              <a:ext uri="{FF2B5EF4-FFF2-40B4-BE49-F238E27FC236}">
                <a16:creationId xmlns:a16="http://schemas.microsoft.com/office/drawing/2014/main" id="{5F827DC0-52A2-47F5-A3BE-8D9A9CD95E5E}"/>
              </a:ext>
            </a:extLst>
          </p:cNvPr>
          <p:cNvPicPr>
            <a:picLocks noChangeAspect="1"/>
          </p:cNvPicPr>
          <p:nvPr/>
        </p:nvPicPr>
        <p:blipFill>
          <a:blip r:embed="rId4"/>
          <a:stretch>
            <a:fillRect/>
          </a:stretch>
        </p:blipFill>
        <p:spPr>
          <a:xfrm>
            <a:off x="462200" y="2500738"/>
            <a:ext cx="3368742" cy="3021173"/>
          </a:xfrm>
          <a:prstGeom prst="rect">
            <a:avLst/>
          </a:prstGeom>
        </p:spPr>
      </p:pic>
    </p:spTree>
    <p:extLst>
      <p:ext uri="{BB962C8B-B14F-4D97-AF65-F5344CB8AC3E}">
        <p14:creationId xmlns:p14="http://schemas.microsoft.com/office/powerpoint/2010/main" val="4535172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D0AE722-3A17-4292-8B0C-015DEE23F973}"/>
              </a:ext>
            </a:extLst>
          </p:cNvPr>
          <p:cNvSpPr>
            <a:spLocks noGrp="1"/>
          </p:cNvSpPr>
          <p:nvPr>
            <p:ph type="title"/>
          </p:nvPr>
        </p:nvSpPr>
        <p:spPr>
          <a:xfrm>
            <a:off x="826489" y="190095"/>
            <a:ext cx="10900146" cy="935776"/>
          </a:xfrm>
        </p:spPr>
        <p:txBody>
          <a:bodyPr>
            <a:noAutofit/>
          </a:bodyPr>
          <a:lstStyle/>
          <a:p>
            <a:pPr algn="r"/>
            <a:r>
              <a:rPr lang="fa-IR" spc="0" dirty="0">
                <a:cs typeface="B Nazanin" panose="00000400000000000000" pitchFamily="2" charset="-78"/>
              </a:rPr>
              <a:t>سیستم سازه ای با رفتار دو طرفه:</a:t>
            </a:r>
          </a:p>
        </p:txBody>
      </p:sp>
      <p:sp>
        <p:nvSpPr>
          <p:cNvPr id="6" name="Slide Number Placeholder 5">
            <a:extLst>
              <a:ext uri="{FF2B5EF4-FFF2-40B4-BE49-F238E27FC236}">
                <a16:creationId xmlns:a16="http://schemas.microsoft.com/office/drawing/2014/main" id="{8A75989F-94E4-487A-845C-A4F547DDFE8D}"/>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pPr/>
              <a:t>7</a:t>
            </a:fld>
            <a:endParaRPr lang="en-US" dirty="0"/>
          </a:p>
        </p:txBody>
      </p:sp>
      <p:sp>
        <p:nvSpPr>
          <p:cNvPr id="25" name="TextBox 24">
            <a:extLst>
              <a:ext uri="{FF2B5EF4-FFF2-40B4-BE49-F238E27FC236}">
                <a16:creationId xmlns:a16="http://schemas.microsoft.com/office/drawing/2014/main" id="{87322C07-EC5C-4192-9ED6-4B496278CC69}"/>
              </a:ext>
            </a:extLst>
          </p:cNvPr>
          <p:cNvSpPr txBox="1"/>
          <p:nvPr/>
        </p:nvSpPr>
        <p:spPr>
          <a:xfrm>
            <a:off x="1951348" y="1886310"/>
            <a:ext cx="9775287" cy="2123658"/>
          </a:xfrm>
          <a:prstGeom prst="rect">
            <a:avLst/>
          </a:prstGeom>
          <a:noFill/>
        </p:spPr>
        <p:txBody>
          <a:bodyPr wrap="square">
            <a:spAutoFit/>
          </a:bodyPr>
          <a:lstStyle/>
          <a:p>
            <a:pPr lvl="1" algn="r"/>
            <a:r>
              <a:rPr lang="fa-IR" sz="2200" b="0" i="0" dirty="0">
                <a:solidFill>
                  <a:srgbClr val="000000"/>
                </a:solidFill>
                <a:effectLst/>
                <a:latin typeface="B Nazanin" panose="00000400000000000000" pitchFamily="2" charset="-78"/>
                <a:cs typeface="B Nazanin" panose="00000400000000000000" pitchFamily="2" charset="-78"/>
              </a:rPr>
              <a:t>•  اگر یک ضلع سقف بسیار بزرگتر از ضلع دیگر شود (بیش از 2برابر) رفتار دو طرفه سقف از بین می رود.</a:t>
            </a:r>
            <a:endParaRPr lang="en-US" sz="2200" b="0" i="0" dirty="0">
              <a:solidFill>
                <a:srgbClr val="000000"/>
              </a:solidFill>
              <a:effectLst/>
              <a:latin typeface="B Nazanin" panose="00000400000000000000" pitchFamily="2" charset="-78"/>
              <a:cs typeface="B Nazanin" panose="00000400000000000000" pitchFamily="2" charset="-78"/>
            </a:endParaRPr>
          </a:p>
          <a:p>
            <a:pPr lvl="1" algn="r"/>
            <a:endParaRPr lang="fa-IR" sz="2200" b="0" i="0" dirty="0">
              <a:solidFill>
                <a:srgbClr val="000000"/>
              </a:solidFill>
              <a:effectLst/>
              <a:latin typeface="B Nazanin" panose="00000400000000000000" pitchFamily="2" charset="-78"/>
              <a:cs typeface="B Nazanin" panose="00000400000000000000" pitchFamily="2" charset="-78"/>
            </a:endParaRPr>
          </a:p>
          <a:p>
            <a:pPr lvl="1" algn="r"/>
            <a:r>
              <a:rPr lang="fa-IR" sz="2200" b="0" i="0" dirty="0">
                <a:solidFill>
                  <a:srgbClr val="000000"/>
                </a:solidFill>
                <a:effectLst/>
                <a:latin typeface="B Nazanin" panose="00000400000000000000" pitchFamily="2" charset="-78"/>
                <a:cs typeface="B Nazanin" panose="00000400000000000000" pitchFamily="2" charset="-78"/>
              </a:rPr>
              <a:t>• در سقف دوطرفه شبکه ای اگر بر روی یک تیر نیرویی وارد شود تیر تغییر شکل می دهد اما این تغییر شکل </a:t>
            </a:r>
            <a:r>
              <a:rPr lang="fa-IR" sz="2200" b="0" i="0" dirty="0" err="1">
                <a:solidFill>
                  <a:srgbClr val="000000"/>
                </a:solidFill>
                <a:effectLst/>
                <a:latin typeface="B Nazanin" panose="00000400000000000000" pitchFamily="2" charset="-78"/>
                <a:cs typeface="B Nazanin" panose="00000400000000000000" pitchFamily="2" charset="-78"/>
              </a:rPr>
              <a:t>درتمام</a:t>
            </a:r>
            <a:r>
              <a:rPr lang="fa-IR" sz="2200" b="0" i="0" dirty="0">
                <a:solidFill>
                  <a:srgbClr val="000000"/>
                </a:solidFill>
                <a:effectLst/>
                <a:latin typeface="B Nazanin" panose="00000400000000000000" pitchFamily="2" charset="-78"/>
                <a:cs typeface="B Nazanin" panose="00000400000000000000" pitchFamily="2" charset="-78"/>
              </a:rPr>
              <a:t> تیرهای اطراف آن نیز اتفاق می افتد.</a:t>
            </a:r>
          </a:p>
          <a:p>
            <a:pPr lvl="1" algn="r"/>
            <a:endParaRPr lang="fa-IR" sz="2200" b="0" i="0" dirty="0">
              <a:solidFill>
                <a:srgbClr val="000000"/>
              </a:solidFill>
              <a:effectLst/>
              <a:latin typeface="B Nazanin" panose="00000400000000000000" pitchFamily="2" charset="-78"/>
              <a:cs typeface="B Nazanin" panose="00000400000000000000" pitchFamily="2" charset="-78"/>
            </a:endParaRPr>
          </a:p>
          <a:p>
            <a:pPr lvl="1" algn="r"/>
            <a:r>
              <a:rPr lang="fa-IR" sz="2200" b="0" i="0" dirty="0">
                <a:solidFill>
                  <a:srgbClr val="000000"/>
                </a:solidFill>
                <a:effectLst/>
                <a:latin typeface="B Nazanin" panose="00000400000000000000" pitchFamily="2" charset="-78"/>
                <a:cs typeface="B Nazanin" panose="00000400000000000000" pitchFamily="2" charset="-78"/>
              </a:rPr>
              <a:t>• تیرهای سیستم عمود بر هم دارای اتصال صلب می باشند.</a:t>
            </a:r>
          </a:p>
        </p:txBody>
      </p:sp>
      <p:pic>
        <p:nvPicPr>
          <p:cNvPr id="5" name="Picture 4">
            <a:extLst>
              <a:ext uri="{FF2B5EF4-FFF2-40B4-BE49-F238E27FC236}">
                <a16:creationId xmlns:a16="http://schemas.microsoft.com/office/drawing/2014/main" id="{0998965B-D4F5-4FA4-88AF-E50252273D13}"/>
              </a:ext>
            </a:extLst>
          </p:cNvPr>
          <p:cNvPicPr>
            <a:picLocks noChangeAspect="1"/>
          </p:cNvPicPr>
          <p:nvPr/>
        </p:nvPicPr>
        <p:blipFill>
          <a:blip r:embed="rId2"/>
          <a:stretch>
            <a:fillRect/>
          </a:stretch>
        </p:blipFill>
        <p:spPr>
          <a:xfrm>
            <a:off x="281992" y="1781122"/>
            <a:ext cx="2156408" cy="1995481"/>
          </a:xfrm>
          <a:prstGeom prst="rect">
            <a:avLst/>
          </a:prstGeom>
        </p:spPr>
      </p:pic>
      <p:pic>
        <p:nvPicPr>
          <p:cNvPr id="7" name="Picture 6">
            <a:extLst>
              <a:ext uri="{FF2B5EF4-FFF2-40B4-BE49-F238E27FC236}">
                <a16:creationId xmlns:a16="http://schemas.microsoft.com/office/drawing/2014/main" id="{499E9597-3EEA-44E9-909A-1D4B73D4ED55}"/>
              </a:ext>
            </a:extLst>
          </p:cNvPr>
          <p:cNvPicPr>
            <a:picLocks noChangeAspect="1"/>
          </p:cNvPicPr>
          <p:nvPr/>
        </p:nvPicPr>
        <p:blipFill>
          <a:blip r:embed="rId3"/>
          <a:stretch>
            <a:fillRect/>
          </a:stretch>
        </p:blipFill>
        <p:spPr>
          <a:xfrm>
            <a:off x="281992" y="4054460"/>
            <a:ext cx="2156407" cy="1629439"/>
          </a:xfrm>
          <a:prstGeom prst="rect">
            <a:avLst/>
          </a:prstGeom>
        </p:spPr>
      </p:pic>
    </p:spTree>
    <p:extLst>
      <p:ext uri="{BB962C8B-B14F-4D97-AF65-F5344CB8AC3E}">
        <p14:creationId xmlns:p14="http://schemas.microsoft.com/office/powerpoint/2010/main" val="23989528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D0AE722-3A17-4292-8B0C-015DEE23F973}"/>
              </a:ext>
            </a:extLst>
          </p:cNvPr>
          <p:cNvSpPr>
            <a:spLocks noGrp="1"/>
          </p:cNvSpPr>
          <p:nvPr>
            <p:ph type="title"/>
          </p:nvPr>
        </p:nvSpPr>
        <p:spPr>
          <a:xfrm>
            <a:off x="826489" y="190095"/>
            <a:ext cx="10900146" cy="935776"/>
          </a:xfrm>
        </p:spPr>
        <p:txBody>
          <a:bodyPr>
            <a:noAutofit/>
          </a:bodyPr>
          <a:lstStyle/>
          <a:p>
            <a:pPr algn="r"/>
            <a:r>
              <a:rPr lang="fa-IR" spc="0" dirty="0">
                <a:cs typeface="B Nazanin" panose="00000400000000000000" pitchFamily="2" charset="-78"/>
              </a:rPr>
              <a:t>سیستم سازه ای با رفتار دو طرفه:</a:t>
            </a:r>
          </a:p>
        </p:txBody>
      </p:sp>
      <p:sp>
        <p:nvSpPr>
          <p:cNvPr id="6" name="Slide Number Placeholder 5">
            <a:extLst>
              <a:ext uri="{FF2B5EF4-FFF2-40B4-BE49-F238E27FC236}">
                <a16:creationId xmlns:a16="http://schemas.microsoft.com/office/drawing/2014/main" id="{8A75989F-94E4-487A-845C-A4F547DDFE8D}"/>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pPr/>
              <a:t>8</a:t>
            </a:fld>
            <a:endParaRPr lang="en-US" dirty="0"/>
          </a:p>
        </p:txBody>
      </p:sp>
      <p:sp>
        <p:nvSpPr>
          <p:cNvPr id="25" name="TextBox 24">
            <a:extLst>
              <a:ext uri="{FF2B5EF4-FFF2-40B4-BE49-F238E27FC236}">
                <a16:creationId xmlns:a16="http://schemas.microsoft.com/office/drawing/2014/main" id="{87322C07-EC5C-4192-9ED6-4B496278CC69}"/>
              </a:ext>
            </a:extLst>
          </p:cNvPr>
          <p:cNvSpPr txBox="1"/>
          <p:nvPr/>
        </p:nvSpPr>
        <p:spPr>
          <a:xfrm>
            <a:off x="152055" y="1635442"/>
            <a:ext cx="11397026" cy="1754326"/>
          </a:xfrm>
          <a:prstGeom prst="rect">
            <a:avLst/>
          </a:prstGeom>
          <a:noFill/>
        </p:spPr>
        <p:txBody>
          <a:bodyPr wrap="square">
            <a:spAutoFit/>
          </a:bodyPr>
          <a:lstStyle/>
          <a:p>
            <a:pPr lvl="1" algn="r"/>
            <a:r>
              <a:rPr lang="fa-IR" sz="2200" b="0" i="0" dirty="0">
                <a:solidFill>
                  <a:srgbClr val="000000"/>
                </a:solidFill>
                <a:effectLst/>
                <a:latin typeface="B Nazanin" panose="00000400000000000000" pitchFamily="2" charset="-78"/>
                <a:cs typeface="B Nazanin" panose="00000400000000000000" pitchFamily="2" charset="-78"/>
              </a:rPr>
              <a:t>• اگرچه شبکه های مستطیلی بسیار </a:t>
            </a:r>
            <a:r>
              <a:rPr lang="fa-IR" sz="2200" b="0" i="0" dirty="0" err="1">
                <a:solidFill>
                  <a:srgbClr val="000000"/>
                </a:solidFill>
                <a:effectLst/>
                <a:latin typeface="B Nazanin" panose="00000400000000000000" pitchFamily="2" charset="-78"/>
                <a:cs typeface="B Nazanin" panose="00000400000000000000" pitchFamily="2" charset="-78"/>
              </a:rPr>
              <a:t>پرکاربردند</a:t>
            </a:r>
            <a:r>
              <a:rPr lang="fa-IR" sz="2200" b="0" i="0" dirty="0">
                <a:solidFill>
                  <a:srgbClr val="000000"/>
                </a:solidFill>
                <a:effectLst/>
                <a:latin typeface="B Nazanin" panose="00000400000000000000" pitchFamily="2" charset="-78"/>
                <a:cs typeface="B Nazanin" panose="00000400000000000000" pitchFamily="2" charset="-78"/>
              </a:rPr>
              <a:t> اما شبکه های </a:t>
            </a:r>
            <a:r>
              <a:rPr lang="fa-IR" sz="2200" b="0" i="0" dirty="0" err="1">
                <a:solidFill>
                  <a:srgbClr val="000000"/>
                </a:solidFill>
                <a:effectLst/>
                <a:latin typeface="B Nazanin" panose="00000400000000000000" pitchFamily="2" charset="-78"/>
                <a:cs typeface="B Nazanin" panose="00000400000000000000" pitchFamily="2" charset="-78"/>
              </a:rPr>
              <a:t>مورب</a:t>
            </a:r>
            <a:r>
              <a:rPr lang="fa-IR" sz="2200" b="0" i="0" dirty="0">
                <a:solidFill>
                  <a:srgbClr val="000000"/>
                </a:solidFill>
                <a:effectLst/>
                <a:latin typeface="B Nazanin" panose="00000400000000000000" pitchFamily="2" charset="-78"/>
                <a:cs typeface="B Nazanin" panose="00000400000000000000" pitchFamily="2" charset="-78"/>
              </a:rPr>
              <a:t> علاوه بر کیفیت زیبای </a:t>
            </a:r>
            <a:r>
              <a:rPr lang="fa-IR" sz="2200" b="0" i="0" dirty="0" err="1">
                <a:solidFill>
                  <a:srgbClr val="000000"/>
                </a:solidFill>
                <a:effectLst/>
                <a:latin typeface="B Nazanin" panose="00000400000000000000" pitchFamily="2" charset="-78"/>
                <a:cs typeface="B Nazanin" panose="00000400000000000000" pitchFamily="2" charset="-78"/>
              </a:rPr>
              <a:t>شناسی</a:t>
            </a:r>
            <a:r>
              <a:rPr lang="fa-IR" sz="2200" b="0" i="0" dirty="0">
                <a:solidFill>
                  <a:srgbClr val="000000"/>
                </a:solidFill>
                <a:effectLst/>
                <a:latin typeface="B Nazanin" panose="00000400000000000000" pitchFamily="2" charset="-78"/>
                <a:cs typeface="B Nazanin" panose="00000400000000000000" pitchFamily="2" charset="-78"/>
              </a:rPr>
              <a:t> دارای مزیت</a:t>
            </a:r>
          </a:p>
          <a:p>
            <a:pPr lvl="1" algn="r"/>
            <a:r>
              <a:rPr lang="fa-IR" sz="2200" b="0" i="0" dirty="0">
                <a:solidFill>
                  <a:srgbClr val="000000"/>
                </a:solidFill>
                <a:effectLst/>
                <a:latin typeface="B Nazanin" panose="00000400000000000000" pitchFamily="2" charset="-78"/>
                <a:cs typeface="B Nazanin" panose="00000400000000000000" pitchFamily="2" charset="-78"/>
              </a:rPr>
              <a:t>سازه ای و اقتصادی در استفاده از تیرهای با طول یکسان هستند.</a:t>
            </a:r>
          </a:p>
          <a:p>
            <a:pPr lvl="1" algn="r"/>
            <a:r>
              <a:rPr lang="fa-IR" sz="2200" b="0" i="0" dirty="0">
                <a:solidFill>
                  <a:srgbClr val="000000"/>
                </a:solidFill>
                <a:effectLst/>
                <a:latin typeface="B Nazanin" panose="00000400000000000000" pitchFamily="2" charset="-78"/>
                <a:cs typeface="B Nazanin" panose="00000400000000000000" pitchFamily="2" charset="-78"/>
              </a:rPr>
              <a:t>• شبکه های </a:t>
            </a:r>
            <a:r>
              <a:rPr lang="fa-IR" sz="2200" b="0" i="0" dirty="0" err="1">
                <a:solidFill>
                  <a:srgbClr val="000000"/>
                </a:solidFill>
                <a:effectLst/>
                <a:latin typeface="B Nazanin" panose="00000400000000000000" pitchFamily="2" charset="-78"/>
                <a:cs typeface="B Nazanin" panose="00000400000000000000" pitchFamily="2" charset="-78"/>
              </a:rPr>
              <a:t>مورب</a:t>
            </a:r>
            <a:r>
              <a:rPr lang="fa-IR" sz="2200" b="0" i="0" dirty="0">
                <a:solidFill>
                  <a:srgbClr val="000000"/>
                </a:solidFill>
                <a:effectLst/>
                <a:latin typeface="B Nazanin" panose="00000400000000000000" pitchFamily="2" charset="-78"/>
                <a:cs typeface="B Nazanin" panose="00000400000000000000" pitchFamily="2" charset="-78"/>
              </a:rPr>
              <a:t> راه حل اقتصادی برای کاهش ضخامت کف ها و هزینه های کلی ساختمان هستند که در آنها</a:t>
            </a:r>
          </a:p>
          <a:p>
            <a:pPr lvl="1" algn="r"/>
            <a:r>
              <a:rPr lang="fa-IR" sz="2200" b="0" i="0" dirty="0">
                <a:solidFill>
                  <a:srgbClr val="000000"/>
                </a:solidFill>
                <a:effectLst/>
                <a:latin typeface="B Nazanin" panose="00000400000000000000" pitchFamily="2" charset="-78"/>
                <a:cs typeface="B Nazanin" panose="00000400000000000000" pitchFamily="2" charset="-78"/>
              </a:rPr>
              <a:t>تیرها بر هم عمود نیستند.</a:t>
            </a:r>
            <a:br>
              <a:rPr lang="fa-IR" sz="2000" dirty="0">
                <a:latin typeface="Arial Unicode MS" panose="020B0604020202020204" pitchFamily="34" charset="-128"/>
              </a:rPr>
            </a:br>
            <a:endParaRPr lang="en-US" sz="2000" dirty="0">
              <a:latin typeface="Arial Unicode MS" panose="020B0604020202020204" pitchFamily="34" charset="-128"/>
              <a:cs typeface="B Nazanin" panose="00000400000000000000" pitchFamily="2" charset="-78"/>
            </a:endParaRPr>
          </a:p>
        </p:txBody>
      </p:sp>
      <p:pic>
        <p:nvPicPr>
          <p:cNvPr id="8" name="Picture 7">
            <a:extLst>
              <a:ext uri="{FF2B5EF4-FFF2-40B4-BE49-F238E27FC236}">
                <a16:creationId xmlns:a16="http://schemas.microsoft.com/office/drawing/2014/main" id="{3056DB51-3B17-4036-806D-87A1527A041D}"/>
              </a:ext>
            </a:extLst>
          </p:cNvPr>
          <p:cNvPicPr>
            <a:picLocks noChangeAspect="1"/>
          </p:cNvPicPr>
          <p:nvPr/>
        </p:nvPicPr>
        <p:blipFill>
          <a:blip r:embed="rId2"/>
          <a:stretch>
            <a:fillRect/>
          </a:stretch>
        </p:blipFill>
        <p:spPr>
          <a:xfrm>
            <a:off x="2122966" y="3517687"/>
            <a:ext cx="2597889" cy="2044361"/>
          </a:xfrm>
          <a:prstGeom prst="rect">
            <a:avLst/>
          </a:prstGeom>
        </p:spPr>
      </p:pic>
      <p:pic>
        <p:nvPicPr>
          <p:cNvPr id="11" name="object 8">
            <a:extLst>
              <a:ext uri="{FF2B5EF4-FFF2-40B4-BE49-F238E27FC236}">
                <a16:creationId xmlns:a16="http://schemas.microsoft.com/office/drawing/2014/main" id="{52B37B49-0E38-4A49-8966-7D0D33143CB9}"/>
              </a:ext>
            </a:extLst>
          </p:cNvPr>
          <p:cNvPicPr/>
          <p:nvPr/>
        </p:nvPicPr>
        <p:blipFill>
          <a:blip r:embed="rId3" cstate="print"/>
          <a:stretch>
            <a:fillRect/>
          </a:stretch>
        </p:blipFill>
        <p:spPr>
          <a:xfrm>
            <a:off x="6595539" y="3593945"/>
            <a:ext cx="2597889" cy="1891844"/>
          </a:xfrm>
          <a:prstGeom prst="rect">
            <a:avLst/>
          </a:prstGeom>
        </p:spPr>
      </p:pic>
    </p:spTree>
    <p:extLst>
      <p:ext uri="{BB962C8B-B14F-4D97-AF65-F5344CB8AC3E}">
        <p14:creationId xmlns:p14="http://schemas.microsoft.com/office/powerpoint/2010/main" val="42402834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D0AE722-3A17-4292-8B0C-015DEE23F973}"/>
              </a:ext>
            </a:extLst>
          </p:cNvPr>
          <p:cNvSpPr>
            <a:spLocks noGrp="1"/>
          </p:cNvSpPr>
          <p:nvPr>
            <p:ph type="title"/>
          </p:nvPr>
        </p:nvSpPr>
        <p:spPr>
          <a:xfrm>
            <a:off x="826489" y="325318"/>
            <a:ext cx="10900146" cy="935776"/>
          </a:xfrm>
        </p:spPr>
        <p:txBody>
          <a:bodyPr>
            <a:noAutofit/>
          </a:bodyPr>
          <a:lstStyle/>
          <a:p>
            <a:pPr algn="r"/>
            <a:r>
              <a:rPr lang="fa-IR" spc="0" dirty="0">
                <a:cs typeface="B Nazanin" panose="00000400000000000000" pitchFamily="2" charset="-78"/>
              </a:rPr>
              <a:t>دال کف </a:t>
            </a:r>
            <a:r>
              <a:rPr lang="fa-IR" spc="0" dirty="0" err="1">
                <a:cs typeface="B Nazanin" panose="00000400000000000000" pitchFamily="2" charset="-78"/>
              </a:rPr>
              <a:t>بتنی</a:t>
            </a:r>
            <a:r>
              <a:rPr lang="fa-IR" spc="0" dirty="0">
                <a:cs typeface="B Nazanin" panose="00000400000000000000" pitchFamily="2" charset="-78"/>
              </a:rPr>
              <a:t>:</a:t>
            </a:r>
            <a:endParaRPr lang="en-US" spc="0" dirty="0">
              <a:cs typeface="B Nazanin" panose="00000400000000000000" pitchFamily="2" charset="-78"/>
            </a:endParaRPr>
          </a:p>
        </p:txBody>
      </p:sp>
      <p:sp>
        <p:nvSpPr>
          <p:cNvPr id="6" name="Slide Number Placeholder 5">
            <a:extLst>
              <a:ext uri="{FF2B5EF4-FFF2-40B4-BE49-F238E27FC236}">
                <a16:creationId xmlns:a16="http://schemas.microsoft.com/office/drawing/2014/main" id="{8A75989F-94E4-487A-845C-A4F547DDFE8D}"/>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pPr/>
              <a:t>9</a:t>
            </a:fld>
            <a:endParaRPr lang="en-US" dirty="0"/>
          </a:p>
        </p:txBody>
      </p:sp>
      <p:sp>
        <p:nvSpPr>
          <p:cNvPr id="25" name="TextBox 24">
            <a:extLst>
              <a:ext uri="{FF2B5EF4-FFF2-40B4-BE49-F238E27FC236}">
                <a16:creationId xmlns:a16="http://schemas.microsoft.com/office/drawing/2014/main" id="{87322C07-EC5C-4192-9ED6-4B496278CC69}"/>
              </a:ext>
            </a:extLst>
          </p:cNvPr>
          <p:cNvSpPr txBox="1"/>
          <p:nvPr/>
        </p:nvSpPr>
        <p:spPr>
          <a:xfrm>
            <a:off x="5948039" y="1935651"/>
            <a:ext cx="5858495" cy="3077766"/>
          </a:xfrm>
          <a:prstGeom prst="rect">
            <a:avLst/>
          </a:prstGeom>
          <a:noFill/>
        </p:spPr>
        <p:txBody>
          <a:bodyPr wrap="square">
            <a:spAutoFit/>
          </a:bodyPr>
          <a:lstStyle/>
          <a:p>
            <a:pPr lvl="1" algn="ctr"/>
            <a:r>
              <a:rPr lang="fa-IR" sz="2200" b="0" i="0" dirty="0" err="1">
                <a:solidFill>
                  <a:srgbClr val="000000"/>
                </a:solidFill>
                <a:effectLst/>
                <a:latin typeface="B Nazanin" panose="00000400000000000000" pitchFamily="2" charset="-78"/>
                <a:cs typeface="B Nazanin" panose="00000400000000000000" pitchFamily="2" charset="-78"/>
              </a:rPr>
              <a:t>تصورکنیدکه</a:t>
            </a:r>
            <a:r>
              <a:rPr lang="fa-IR" sz="2200" b="0" i="0" dirty="0">
                <a:solidFill>
                  <a:srgbClr val="000000"/>
                </a:solidFill>
                <a:effectLst/>
                <a:latin typeface="B Nazanin" panose="00000400000000000000" pitchFamily="2" charset="-78"/>
                <a:cs typeface="B Nazanin" panose="00000400000000000000" pitchFamily="2" charset="-78"/>
              </a:rPr>
              <a:t> تیرهای شبکه مستطیلی بسیار نزدیک یکدیگر قرار گیرند تا به یکدیگر بچسبند و یک سطح یکپارچه ای </a:t>
            </a:r>
            <a:r>
              <a:rPr lang="fa-IR" sz="2200" b="0" i="0" dirty="0" err="1">
                <a:solidFill>
                  <a:srgbClr val="000000"/>
                </a:solidFill>
                <a:effectLst/>
                <a:latin typeface="B Nazanin" panose="00000400000000000000" pitchFamily="2" charset="-78"/>
                <a:cs typeface="B Nazanin" panose="00000400000000000000" pitchFamily="2" charset="-78"/>
              </a:rPr>
              <a:t>راتشکیل</a:t>
            </a:r>
            <a:r>
              <a:rPr lang="fa-IR" sz="2200" b="0" i="0" dirty="0">
                <a:solidFill>
                  <a:srgbClr val="000000"/>
                </a:solidFill>
                <a:effectLst/>
                <a:latin typeface="B Nazanin" panose="00000400000000000000" pitchFamily="2" charset="-78"/>
                <a:cs typeface="B Nazanin" panose="00000400000000000000" pitchFamily="2" charset="-78"/>
              </a:rPr>
              <a:t> دهند،</a:t>
            </a:r>
          </a:p>
          <a:p>
            <a:pPr lvl="1" algn="ctr"/>
            <a:r>
              <a:rPr lang="fa-IR" sz="2200" b="0" i="0" dirty="0">
                <a:solidFill>
                  <a:srgbClr val="000000"/>
                </a:solidFill>
                <a:effectLst/>
                <a:latin typeface="B Nazanin" panose="00000400000000000000" pitchFamily="2" charset="-78"/>
                <a:cs typeface="B Nazanin" panose="00000400000000000000" pitchFamily="2" charset="-78"/>
              </a:rPr>
              <a:t>چنین سطح یکپارچه ای صفحه یا دال نامیده می شود که علاوه بر اینکه تمام مزایای شبکه را </a:t>
            </a:r>
            <a:r>
              <a:rPr lang="fa-IR" sz="2200" b="0" i="0" dirty="0" err="1">
                <a:solidFill>
                  <a:srgbClr val="000000"/>
                </a:solidFill>
                <a:effectLst/>
                <a:latin typeface="B Nazanin" panose="00000400000000000000" pitchFamily="2" charset="-78"/>
                <a:cs typeface="B Nazanin" panose="00000400000000000000" pitchFamily="2" charset="-78"/>
              </a:rPr>
              <a:t>داراست</a:t>
            </a:r>
            <a:r>
              <a:rPr lang="fa-IR" sz="2200" b="0" i="0" dirty="0">
                <a:solidFill>
                  <a:srgbClr val="000000"/>
                </a:solidFill>
                <a:effectLst/>
                <a:latin typeface="B Nazanin" panose="00000400000000000000" pitchFamily="2" charset="-78"/>
                <a:cs typeface="B Nazanin" panose="00000400000000000000" pitchFamily="2" charset="-78"/>
              </a:rPr>
              <a:t> ساختن آن نیز ساده تر است.</a:t>
            </a:r>
            <a:br>
              <a:rPr lang="fa-IR" sz="2200" b="0" i="0" dirty="0">
                <a:solidFill>
                  <a:srgbClr val="000000"/>
                </a:solidFill>
                <a:effectLst/>
                <a:latin typeface="B Nazanin" panose="00000400000000000000" pitchFamily="2" charset="-78"/>
                <a:cs typeface="B Nazanin" panose="00000400000000000000" pitchFamily="2" charset="-78"/>
              </a:rPr>
            </a:br>
            <a:r>
              <a:rPr lang="fa-IR" sz="2200" b="0" i="0" dirty="0">
                <a:solidFill>
                  <a:srgbClr val="000000"/>
                </a:solidFill>
                <a:effectLst/>
                <a:latin typeface="B Nazanin" panose="00000400000000000000" pitchFamily="2" charset="-78"/>
                <a:cs typeface="B Nazanin" panose="00000400000000000000" pitchFamily="2" charset="-78"/>
              </a:rPr>
              <a:t>مقاومت </a:t>
            </a:r>
            <a:r>
              <a:rPr lang="fa-IR" sz="2200" b="0" i="0" dirty="0" err="1">
                <a:solidFill>
                  <a:srgbClr val="000000"/>
                </a:solidFill>
                <a:effectLst/>
                <a:latin typeface="B Nazanin" panose="00000400000000000000" pitchFamily="2" charset="-78"/>
                <a:cs typeface="B Nazanin" panose="00000400000000000000" pitchFamily="2" charset="-78"/>
              </a:rPr>
              <a:t>خمشی</a:t>
            </a:r>
            <a:r>
              <a:rPr lang="fa-IR" sz="2200" b="0" i="0" dirty="0">
                <a:solidFill>
                  <a:srgbClr val="000000"/>
                </a:solidFill>
                <a:effectLst/>
                <a:latin typeface="B Nazanin" panose="00000400000000000000" pitchFamily="2" charset="-78"/>
                <a:cs typeface="B Nazanin" panose="00000400000000000000" pitchFamily="2" charset="-78"/>
              </a:rPr>
              <a:t> یک دال مشابه تیر است.</a:t>
            </a:r>
            <a:r>
              <a:rPr lang="fa-IR" sz="2200" dirty="0">
                <a:latin typeface="Arial Unicode MS" panose="020B0604020202020204" pitchFamily="34" charset="-128"/>
              </a:rPr>
              <a:t> </a:t>
            </a:r>
            <a:br>
              <a:rPr lang="fa-IR" dirty="0">
                <a:latin typeface="Arial Unicode MS" panose="020B0604020202020204" pitchFamily="34" charset="-128"/>
              </a:rPr>
            </a:br>
            <a:br>
              <a:rPr lang="fa-IR" sz="2000" dirty="0">
                <a:latin typeface="Arial Unicode MS" panose="020B0604020202020204" pitchFamily="34" charset="-128"/>
              </a:rPr>
            </a:br>
            <a:endParaRPr lang="en-US" sz="2000" dirty="0">
              <a:latin typeface="Arial Unicode MS" panose="020B0604020202020204" pitchFamily="34" charset="-128"/>
              <a:cs typeface="B Nazanin" panose="00000400000000000000" pitchFamily="2" charset="-78"/>
            </a:endParaRPr>
          </a:p>
        </p:txBody>
      </p:sp>
      <p:pic>
        <p:nvPicPr>
          <p:cNvPr id="5" name="Picture 4">
            <a:extLst>
              <a:ext uri="{FF2B5EF4-FFF2-40B4-BE49-F238E27FC236}">
                <a16:creationId xmlns:a16="http://schemas.microsoft.com/office/drawing/2014/main" id="{4EDE4F53-6FD5-4767-842A-F3B1C8DB69B1}"/>
              </a:ext>
            </a:extLst>
          </p:cNvPr>
          <p:cNvPicPr>
            <a:picLocks noChangeAspect="1"/>
          </p:cNvPicPr>
          <p:nvPr/>
        </p:nvPicPr>
        <p:blipFill>
          <a:blip r:embed="rId2"/>
          <a:stretch>
            <a:fillRect/>
          </a:stretch>
        </p:blipFill>
        <p:spPr>
          <a:xfrm>
            <a:off x="684445" y="1784730"/>
            <a:ext cx="2531202" cy="3587388"/>
          </a:xfrm>
          <a:prstGeom prst="rect">
            <a:avLst/>
          </a:prstGeom>
        </p:spPr>
      </p:pic>
      <p:pic>
        <p:nvPicPr>
          <p:cNvPr id="7" name="Picture 6">
            <a:extLst>
              <a:ext uri="{FF2B5EF4-FFF2-40B4-BE49-F238E27FC236}">
                <a16:creationId xmlns:a16="http://schemas.microsoft.com/office/drawing/2014/main" id="{4516B1BC-3C97-4FB1-8BAC-014017562C0E}"/>
              </a:ext>
            </a:extLst>
          </p:cNvPr>
          <p:cNvPicPr>
            <a:picLocks noChangeAspect="1"/>
          </p:cNvPicPr>
          <p:nvPr/>
        </p:nvPicPr>
        <p:blipFill>
          <a:blip r:embed="rId3"/>
          <a:stretch>
            <a:fillRect/>
          </a:stretch>
        </p:blipFill>
        <p:spPr>
          <a:xfrm>
            <a:off x="3771562" y="1621261"/>
            <a:ext cx="1688738" cy="3901778"/>
          </a:xfrm>
          <a:prstGeom prst="rect">
            <a:avLst/>
          </a:prstGeom>
        </p:spPr>
      </p:pic>
    </p:spTree>
    <p:extLst>
      <p:ext uri="{BB962C8B-B14F-4D97-AF65-F5344CB8AC3E}">
        <p14:creationId xmlns:p14="http://schemas.microsoft.com/office/powerpoint/2010/main" val="5245388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D0AE722-3A17-4292-8B0C-015DEE23F973}"/>
              </a:ext>
            </a:extLst>
          </p:cNvPr>
          <p:cNvSpPr>
            <a:spLocks noGrp="1"/>
          </p:cNvSpPr>
          <p:nvPr>
            <p:ph type="title"/>
          </p:nvPr>
        </p:nvSpPr>
        <p:spPr>
          <a:xfrm>
            <a:off x="949037" y="424702"/>
            <a:ext cx="10900146" cy="935776"/>
          </a:xfrm>
        </p:spPr>
        <p:txBody>
          <a:bodyPr>
            <a:noAutofit/>
          </a:bodyPr>
          <a:lstStyle/>
          <a:p>
            <a:pPr algn="r"/>
            <a:r>
              <a:rPr lang="fa-IR" spc="0" dirty="0">
                <a:cs typeface="B Nazanin" panose="00000400000000000000" pitchFamily="2" charset="-78"/>
              </a:rPr>
              <a:t>طبقه بندی دال ها:</a:t>
            </a:r>
            <a:endParaRPr lang="en-US" spc="0" dirty="0">
              <a:cs typeface="B Nazanin" panose="00000400000000000000" pitchFamily="2" charset="-78"/>
            </a:endParaRPr>
          </a:p>
        </p:txBody>
      </p:sp>
      <p:sp>
        <p:nvSpPr>
          <p:cNvPr id="6" name="Slide Number Placeholder 5">
            <a:extLst>
              <a:ext uri="{FF2B5EF4-FFF2-40B4-BE49-F238E27FC236}">
                <a16:creationId xmlns:a16="http://schemas.microsoft.com/office/drawing/2014/main" id="{8A75989F-94E4-487A-845C-A4F547DDFE8D}"/>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pPr/>
              <a:t>10</a:t>
            </a:fld>
            <a:endParaRPr lang="en-US" dirty="0"/>
          </a:p>
        </p:txBody>
      </p:sp>
      <p:sp>
        <p:nvSpPr>
          <p:cNvPr id="25" name="TextBox 24">
            <a:extLst>
              <a:ext uri="{FF2B5EF4-FFF2-40B4-BE49-F238E27FC236}">
                <a16:creationId xmlns:a16="http://schemas.microsoft.com/office/drawing/2014/main" id="{87322C07-EC5C-4192-9ED6-4B496278CC69}"/>
              </a:ext>
            </a:extLst>
          </p:cNvPr>
          <p:cNvSpPr txBox="1"/>
          <p:nvPr/>
        </p:nvSpPr>
        <p:spPr>
          <a:xfrm>
            <a:off x="433633" y="1562032"/>
            <a:ext cx="11485717" cy="3077766"/>
          </a:xfrm>
          <a:prstGeom prst="rect">
            <a:avLst/>
          </a:prstGeom>
          <a:noFill/>
        </p:spPr>
        <p:txBody>
          <a:bodyPr wrap="square">
            <a:spAutoFit/>
          </a:bodyPr>
          <a:lstStyle/>
          <a:p>
            <a:pPr lvl="1" algn="r"/>
            <a:r>
              <a:rPr lang="fa-IR" sz="2200" b="0" i="0" dirty="0">
                <a:solidFill>
                  <a:srgbClr val="000000"/>
                </a:solidFill>
                <a:effectLst/>
                <a:latin typeface="B Nazanin" panose="00000400000000000000" pitchFamily="2" charset="-78"/>
                <a:cs typeface="B Nazanin" panose="00000400000000000000" pitchFamily="2" charset="-78"/>
              </a:rPr>
              <a:t>دال ها با توجه به نوع و محل قرارگیری تکیه </a:t>
            </a:r>
            <a:r>
              <a:rPr lang="fa-IR" sz="2200" b="0" i="0" dirty="0" err="1">
                <a:solidFill>
                  <a:srgbClr val="000000"/>
                </a:solidFill>
                <a:effectLst/>
                <a:latin typeface="B Nazanin" panose="00000400000000000000" pitchFamily="2" charset="-78"/>
                <a:cs typeface="B Nazanin" panose="00000400000000000000" pitchFamily="2" charset="-78"/>
              </a:rPr>
              <a:t>گاهشان</a:t>
            </a:r>
            <a:r>
              <a:rPr lang="fa-IR" sz="2200" b="0" i="0" dirty="0">
                <a:solidFill>
                  <a:srgbClr val="000000"/>
                </a:solidFill>
                <a:effectLst/>
                <a:latin typeface="B Nazanin" panose="00000400000000000000" pitchFamily="2" charset="-78"/>
                <a:cs typeface="B Nazanin" panose="00000400000000000000" pitchFamily="2" charset="-78"/>
              </a:rPr>
              <a:t> طبقه بندی می شوند.</a:t>
            </a:r>
            <a:br>
              <a:rPr lang="fa-IR" sz="2200" b="0" i="0" dirty="0">
                <a:solidFill>
                  <a:srgbClr val="000000"/>
                </a:solidFill>
                <a:effectLst/>
                <a:latin typeface="B Nazanin" panose="00000400000000000000" pitchFamily="2" charset="-78"/>
                <a:cs typeface="B Nazanin" panose="00000400000000000000" pitchFamily="2" charset="-78"/>
              </a:rPr>
            </a:br>
            <a:r>
              <a:rPr lang="fa-IR" sz="2200" b="1" i="0" dirty="0">
                <a:solidFill>
                  <a:srgbClr val="000000"/>
                </a:solidFill>
                <a:effectLst/>
                <a:latin typeface="B Nazanin" panose="00000400000000000000" pitchFamily="2" charset="-78"/>
                <a:cs typeface="B Nazanin" panose="00000400000000000000" pitchFamily="2" charset="-78"/>
              </a:rPr>
              <a:t>دال یک طرفه: </a:t>
            </a:r>
            <a:r>
              <a:rPr lang="fa-IR" sz="2200" b="0" i="0" dirty="0">
                <a:solidFill>
                  <a:srgbClr val="000000"/>
                </a:solidFill>
                <a:effectLst/>
                <a:latin typeface="B Nazanin" panose="00000400000000000000" pitchFamily="2" charset="-78"/>
                <a:cs typeface="B Nazanin" panose="00000400000000000000" pitchFamily="2" charset="-78"/>
              </a:rPr>
              <a:t>توسط دو تکیه گاه موازی نگاه داشته می شوند و به صورت عمده در یک جهت در برابر </a:t>
            </a:r>
            <a:r>
              <a:rPr lang="fa-IR" sz="2200" b="0" i="0" dirty="0" err="1">
                <a:solidFill>
                  <a:srgbClr val="000000"/>
                </a:solidFill>
                <a:effectLst/>
                <a:latin typeface="B Nazanin" panose="00000400000000000000" pitchFamily="2" charset="-78"/>
                <a:cs typeface="B Nazanin" panose="00000400000000000000" pitchFamily="2" charset="-78"/>
              </a:rPr>
              <a:t>خمش</a:t>
            </a:r>
            <a:r>
              <a:rPr lang="fa-IR" sz="2200" b="0" i="0" dirty="0">
                <a:solidFill>
                  <a:srgbClr val="000000"/>
                </a:solidFill>
                <a:effectLst/>
                <a:latin typeface="B Nazanin" panose="00000400000000000000" pitchFamily="2" charset="-78"/>
                <a:cs typeface="B Nazanin" panose="00000400000000000000" pitchFamily="2" charset="-78"/>
              </a:rPr>
              <a:t> مقاومت می کنند. (دریک راستا </a:t>
            </a:r>
            <a:r>
              <a:rPr lang="fa-IR" sz="2200" b="0" i="0" dirty="0" err="1">
                <a:solidFill>
                  <a:srgbClr val="000000"/>
                </a:solidFill>
                <a:effectLst/>
                <a:latin typeface="B Nazanin" panose="00000400000000000000" pitchFamily="2" charset="-78"/>
                <a:cs typeface="B Nazanin" panose="00000400000000000000" pitchFamily="2" charset="-78"/>
              </a:rPr>
              <a:t>باربری</a:t>
            </a:r>
            <a:r>
              <a:rPr lang="fa-IR" sz="2200" b="0" i="0" dirty="0">
                <a:solidFill>
                  <a:srgbClr val="000000"/>
                </a:solidFill>
                <a:effectLst/>
                <a:latin typeface="B Nazanin" panose="00000400000000000000" pitchFamily="2" charset="-78"/>
                <a:cs typeface="B Nazanin" panose="00000400000000000000" pitchFamily="2" charset="-78"/>
              </a:rPr>
              <a:t> دارند)</a:t>
            </a:r>
            <a:br>
              <a:rPr lang="fa-IR" sz="2200" b="0" i="0" dirty="0">
                <a:solidFill>
                  <a:srgbClr val="000000"/>
                </a:solidFill>
                <a:effectLst/>
                <a:latin typeface="B Nazanin" panose="00000400000000000000" pitchFamily="2" charset="-78"/>
                <a:cs typeface="B Nazanin" panose="00000400000000000000" pitchFamily="2" charset="-78"/>
              </a:rPr>
            </a:br>
            <a:r>
              <a:rPr lang="fa-IR" sz="2200" b="0" i="0" dirty="0">
                <a:solidFill>
                  <a:srgbClr val="000000"/>
                </a:solidFill>
                <a:effectLst/>
                <a:latin typeface="B Nazanin" panose="00000400000000000000" pitchFamily="2" charset="-78"/>
                <a:cs typeface="B Nazanin" panose="00000400000000000000" pitchFamily="2" charset="-78"/>
              </a:rPr>
              <a:t>ویژگی سقف های یک طرفه:</a:t>
            </a:r>
            <a:br>
              <a:rPr lang="fa-IR" sz="2200" b="0" i="0" dirty="0">
                <a:solidFill>
                  <a:srgbClr val="000000"/>
                </a:solidFill>
                <a:effectLst/>
                <a:latin typeface="B Nazanin" panose="00000400000000000000" pitchFamily="2" charset="-78"/>
                <a:cs typeface="B Nazanin" panose="00000400000000000000" pitchFamily="2" charset="-78"/>
              </a:rPr>
            </a:br>
            <a:r>
              <a:rPr lang="fa-IR" sz="2200" b="0" i="0" dirty="0">
                <a:solidFill>
                  <a:srgbClr val="000000"/>
                </a:solidFill>
                <a:effectLst/>
                <a:latin typeface="B Nazanin" panose="00000400000000000000" pitchFamily="2" charset="-78"/>
                <a:cs typeface="B Nazanin" panose="00000400000000000000" pitchFamily="2" charset="-78"/>
              </a:rPr>
              <a:t>1-نسبت دهانه بزرگ به دهانه کوچک آن از 2بیشتر باشد.</a:t>
            </a:r>
            <a:br>
              <a:rPr lang="fa-IR" sz="2200" b="0" i="0" dirty="0">
                <a:solidFill>
                  <a:srgbClr val="000000"/>
                </a:solidFill>
                <a:effectLst/>
                <a:latin typeface="B Nazanin" panose="00000400000000000000" pitchFamily="2" charset="-78"/>
                <a:cs typeface="B Nazanin" panose="00000400000000000000" pitchFamily="2" charset="-78"/>
              </a:rPr>
            </a:br>
            <a:r>
              <a:rPr lang="fa-IR" sz="2200" b="0" i="0" dirty="0">
                <a:solidFill>
                  <a:srgbClr val="000000"/>
                </a:solidFill>
                <a:effectLst/>
                <a:latin typeface="B Nazanin" panose="00000400000000000000" pitchFamily="2" charset="-78"/>
                <a:cs typeface="B Nazanin" panose="00000400000000000000" pitchFamily="2" charset="-78"/>
              </a:rPr>
              <a:t>2- تیرچه ها در یک جهت امتداد داشته باشند.</a:t>
            </a:r>
          </a:p>
          <a:p>
            <a:pPr lvl="1" algn="r"/>
            <a:r>
              <a:rPr lang="fa-IR" sz="2200" b="1" i="0" dirty="0">
                <a:solidFill>
                  <a:srgbClr val="000000"/>
                </a:solidFill>
                <a:effectLst/>
                <a:latin typeface="B Nazanin" panose="00000400000000000000" pitchFamily="2" charset="-78"/>
                <a:cs typeface="B Nazanin" panose="00000400000000000000" pitchFamily="2" charset="-78"/>
              </a:rPr>
              <a:t>دال دوطرفه: </a:t>
            </a:r>
            <a:r>
              <a:rPr lang="fa-IR" sz="2200" b="0" i="0" dirty="0">
                <a:solidFill>
                  <a:srgbClr val="000000"/>
                </a:solidFill>
                <a:effectLst/>
                <a:latin typeface="B Nazanin" panose="00000400000000000000" pitchFamily="2" charset="-78"/>
                <a:cs typeface="B Nazanin" panose="00000400000000000000" pitchFamily="2" charset="-78"/>
              </a:rPr>
              <a:t>روی چهار جهت نگاه داشته می شوند و مقاومت </a:t>
            </a:r>
            <a:r>
              <a:rPr lang="fa-IR" sz="2200" b="0" i="0" dirty="0" err="1">
                <a:solidFill>
                  <a:srgbClr val="000000"/>
                </a:solidFill>
                <a:effectLst/>
                <a:latin typeface="B Nazanin" panose="00000400000000000000" pitchFamily="2" charset="-78"/>
                <a:cs typeface="B Nazanin" panose="00000400000000000000" pitchFamily="2" charset="-78"/>
              </a:rPr>
              <a:t>خمشی</a:t>
            </a:r>
            <a:r>
              <a:rPr lang="fa-IR" sz="2200" b="0" i="0" dirty="0">
                <a:solidFill>
                  <a:srgbClr val="000000"/>
                </a:solidFill>
                <a:effectLst/>
                <a:latin typeface="B Nazanin" panose="00000400000000000000" pitchFamily="2" charset="-78"/>
                <a:cs typeface="B Nazanin" panose="00000400000000000000" pitchFamily="2" charset="-78"/>
              </a:rPr>
              <a:t> در دو جهت دارند.( در دو راستا </a:t>
            </a:r>
            <a:r>
              <a:rPr lang="fa-IR" sz="2200" b="0" i="0" dirty="0" err="1">
                <a:solidFill>
                  <a:srgbClr val="000000"/>
                </a:solidFill>
                <a:effectLst/>
                <a:latin typeface="B Nazanin" panose="00000400000000000000" pitchFamily="2" charset="-78"/>
                <a:cs typeface="B Nazanin" panose="00000400000000000000" pitchFamily="2" charset="-78"/>
              </a:rPr>
              <a:t>باربری</a:t>
            </a:r>
            <a:r>
              <a:rPr lang="fa-IR" sz="2200" b="0" i="0" dirty="0">
                <a:solidFill>
                  <a:srgbClr val="000000"/>
                </a:solidFill>
                <a:effectLst/>
                <a:latin typeface="B Nazanin" panose="00000400000000000000" pitchFamily="2" charset="-78"/>
                <a:cs typeface="B Nazanin" panose="00000400000000000000" pitchFamily="2" charset="-78"/>
              </a:rPr>
              <a:t> دارند)</a:t>
            </a:r>
            <a:r>
              <a:rPr lang="fa-IR" sz="2200" dirty="0">
                <a:latin typeface="Arial Unicode MS" panose="020B0604020202020204" pitchFamily="34" charset="-128"/>
              </a:rPr>
              <a:t> </a:t>
            </a:r>
            <a:br>
              <a:rPr lang="fa-IR" dirty="0">
                <a:latin typeface="Arial Unicode MS" panose="020B0604020202020204" pitchFamily="34" charset="-128"/>
              </a:rPr>
            </a:br>
            <a:br>
              <a:rPr lang="fa-IR" sz="2000" dirty="0">
                <a:latin typeface="Arial Unicode MS" panose="020B0604020202020204" pitchFamily="34" charset="-128"/>
              </a:rPr>
            </a:br>
            <a:endParaRPr lang="en-US" sz="2000" dirty="0">
              <a:latin typeface="Arial Unicode MS" panose="020B0604020202020204" pitchFamily="34" charset="-128"/>
              <a:cs typeface="B Nazanin" panose="00000400000000000000" pitchFamily="2" charset="-78"/>
            </a:endParaRPr>
          </a:p>
        </p:txBody>
      </p:sp>
      <p:pic>
        <p:nvPicPr>
          <p:cNvPr id="2" name="Picture 1">
            <a:extLst>
              <a:ext uri="{FF2B5EF4-FFF2-40B4-BE49-F238E27FC236}">
                <a16:creationId xmlns:a16="http://schemas.microsoft.com/office/drawing/2014/main" id="{81B86FEA-DBDD-4593-BE2D-F07BB8F6049B}"/>
              </a:ext>
            </a:extLst>
          </p:cNvPr>
          <p:cNvPicPr>
            <a:picLocks noChangeAspect="1"/>
          </p:cNvPicPr>
          <p:nvPr/>
        </p:nvPicPr>
        <p:blipFill rotWithShape="1">
          <a:blip r:embed="rId2"/>
          <a:srcRect b="5632"/>
          <a:stretch/>
        </p:blipFill>
        <p:spPr>
          <a:xfrm>
            <a:off x="2429244" y="4044112"/>
            <a:ext cx="8139958" cy="2063694"/>
          </a:xfrm>
          <a:prstGeom prst="rect">
            <a:avLst/>
          </a:prstGeom>
        </p:spPr>
      </p:pic>
    </p:spTree>
    <p:extLst>
      <p:ext uri="{BB962C8B-B14F-4D97-AF65-F5344CB8AC3E}">
        <p14:creationId xmlns:p14="http://schemas.microsoft.com/office/powerpoint/2010/main" val="9913834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D0AE722-3A17-4292-8B0C-015DEE23F973}"/>
              </a:ext>
            </a:extLst>
          </p:cNvPr>
          <p:cNvSpPr>
            <a:spLocks noGrp="1"/>
          </p:cNvSpPr>
          <p:nvPr>
            <p:ph type="title"/>
          </p:nvPr>
        </p:nvSpPr>
        <p:spPr>
          <a:xfrm>
            <a:off x="1090440" y="391057"/>
            <a:ext cx="10900146" cy="935776"/>
          </a:xfrm>
        </p:spPr>
        <p:txBody>
          <a:bodyPr>
            <a:noAutofit/>
          </a:bodyPr>
          <a:lstStyle/>
          <a:p>
            <a:pPr algn="r"/>
            <a:r>
              <a:rPr lang="fa-IR" spc="0" dirty="0">
                <a:cs typeface="B Nazanin" panose="00000400000000000000" pitchFamily="2" charset="-78"/>
              </a:rPr>
              <a:t>سیستم های قاب </a:t>
            </a:r>
            <a:r>
              <a:rPr lang="fa-IR" spc="0" dirty="0" err="1">
                <a:cs typeface="B Nazanin" panose="00000400000000000000" pitchFamily="2" charset="-78"/>
              </a:rPr>
              <a:t>بتنی</a:t>
            </a:r>
            <a:r>
              <a:rPr lang="fa-IR" spc="0" dirty="0">
                <a:cs typeface="B Nazanin" panose="00000400000000000000" pitchFamily="2" charset="-78"/>
              </a:rPr>
              <a:t> </a:t>
            </a:r>
            <a:r>
              <a:rPr lang="fa-IR" spc="0" dirty="0" err="1">
                <a:cs typeface="B Nazanin" panose="00000400000000000000" pitchFamily="2" charset="-78"/>
              </a:rPr>
              <a:t>درجای</a:t>
            </a:r>
            <a:r>
              <a:rPr lang="fa-IR" spc="0" dirty="0">
                <a:cs typeface="B Nazanin" panose="00000400000000000000" pitchFamily="2" charset="-78"/>
              </a:rPr>
              <a:t> یک طرفه:</a:t>
            </a:r>
            <a:endParaRPr lang="en-US" spc="0" dirty="0">
              <a:cs typeface="B Nazanin" panose="00000400000000000000" pitchFamily="2" charset="-78"/>
            </a:endParaRPr>
          </a:p>
        </p:txBody>
      </p:sp>
      <p:sp>
        <p:nvSpPr>
          <p:cNvPr id="6" name="Slide Number Placeholder 5">
            <a:extLst>
              <a:ext uri="{FF2B5EF4-FFF2-40B4-BE49-F238E27FC236}">
                <a16:creationId xmlns:a16="http://schemas.microsoft.com/office/drawing/2014/main" id="{8A75989F-94E4-487A-845C-A4F547DDFE8D}"/>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pPr/>
              <a:t>11</a:t>
            </a:fld>
            <a:endParaRPr lang="en-US" dirty="0"/>
          </a:p>
        </p:txBody>
      </p:sp>
      <p:sp>
        <p:nvSpPr>
          <p:cNvPr id="25" name="TextBox 24">
            <a:extLst>
              <a:ext uri="{FF2B5EF4-FFF2-40B4-BE49-F238E27FC236}">
                <a16:creationId xmlns:a16="http://schemas.microsoft.com/office/drawing/2014/main" id="{87322C07-EC5C-4192-9ED6-4B496278CC69}"/>
              </a:ext>
            </a:extLst>
          </p:cNvPr>
          <p:cNvSpPr txBox="1"/>
          <p:nvPr/>
        </p:nvSpPr>
        <p:spPr>
          <a:xfrm>
            <a:off x="705010" y="2176402"/>
            <a:ext cx="11285576" cy="3354765"/>
          </a:xfrm>
          <a:prstGeom prst="rect">
            <a:avLst/>
          </a:prstGeom>
          <a:noFill/>
        </p:spPr>
        <p:txBody>
          <a:bodyPr wrap="square">
            <a:spAutoFit/>
          </a:bodyPr>
          <a:lstStyle/>
          <a:p>
            <a:pPr lvl="1" algn="r"/>
            <a:r>
              <a:rPr lang="fa-IR" sz="2200" b="0" i="0" dirty="0">
                <a:solidFill>
                  <a:srgbClr val="000000"/>
                </a:solidFill>
                <a:effectLst/>
                <a:latin typeface="B Nazanin" panose="00000400000000000000" pitchFamily="2" charset="-78"/>
                <a:cs typeface="B Nazanin" panose="00000400000000000000" pitchFamily="2" charset="-78"/>
              </a:rPr>
              <a:t>1-دال صلب با تیرها و شاه تیرها</a:t>
            </a:r>
          </a:p>
          <a:p>
            <a:pPr lvl="1" algn="r"/>
            <a:br>
              <a:rPr lang="fa-IR" sz="2200" b="0" i="0" dirty="0">
                <a:solidFill>
                  <a:srgbClr val="000000"/>
                </a:solidFill>
                <a:effectLst/>
                <a:latin typeface="B Nazanin" panose="00000400000000000000" pitchFamily="2" charset="-78"/>
                <a:cs typeface="B Nazanin" panose="00000400000000000000" pitchFamily="2" charset="-78"/>
              </a:rPr>
            </a:br>
            <a:r>
              <a:rPr lang="fa-IR" sz="2200" b="0" i="0" dirty="0">
                <a:solidFill>
                  <a:srgbClr val="000000"/>
                </a:solidFill>
                <a:effectLst/>
                <a:latin typeface="B Nazanin" panose="00000400000000000000" pitchFamily="2" charset="-78"/>
                <a:cs typeface="B Nazanin" panose="00000400000000000000" pitchFamily="2" charset="-78"/>
              </a:rPr>
              <a:t>2-دال صلب یک طرفه با نوارهای دال</a:t>
            </a:r>
          </a:p>
          <a:p>
            <a:pPr lvl="1" algn="r"/>
            <a:br>
              <a:rPr lang="fa-IR" sz="2200" b="0" i="0" dirty="0">
                <a:solidFill>
                  <a:srgbClr val="000000"/>
                </a:solidFill>
                <a:effectLst/>
                <a:latin typeface="B Nazanin" panose="00000400000000000000" pitchFamily="2" charset="-78"/>
                <a:cs typeface="B Nazanin" panose="00000400000000000000" pitchFamily="2" charset="-78"/>
              </a:rPr>
            </a:br>
            <a:r>
              <a:rPr lang="fa-IR" sz="2200" b="0" i="0" dirty="0">
                <a:solidFill>
                  <a:srgbClr val="000000"/>
                </a:solidFill>
                <a:effectLst/>
                <a:latin typeface="B Nazanin" panose="00000400000000000000" pitchFamily="2" charset="-78"/>
                <a:cs typeface="B Nazanin" panose="00000400000000000000" pitchFamily="2" charset="-78"/>
              </a:rPr>
              <a:t>3-سیستم تیرچه </a:t>
            </a:r>
            <a:r>
              <a:rPr lang="fa-IR" sz="2200" b="0" i="0" dirty="0" err="1">
                <a:solidFill>
                  <a:srgbClr val="000000"/>
                </a:solidFill>
                <a:effectLst/>
                <a:latin typeface="B Nazanin" panose="00000400000000000000" pitchFamily="2" charset="-78"/>
                <a:cs typeface="B Nazanin" panose="00000400000000000000" pitchFamily="2" charset="-78"/>
              </a:rPr>
              <a:t>بتنی</a:t>
            </a:r>
            <a:r>
              <a:rPr lang="fa-IR" sz="2200" b="0" i="0" dirty="0">
                <a:solidFill>
                  <a:srgbClr val="000000"/>
                </a:solidFill>
                <a:effectLst/>
                <a:latin typeface="B Nazanin" panose="00000400000000000000" pitchFamily="2" charset="-78"/>
                <a:cs typeface="B Nazanin" panose="00000400000000000000" pitchFamily="2" charset="-78"/>
              </a:rPr>
              <a:t> یک طرفه (دال دندانه ای) با نوارهای تیرچه</a:t>
            </a:r>
          </a:p>
          <a:p>
            <a:pPr lvl="1" algn="r"/>
            <a:br>
              <a:rPr lang="fa-IR" sz="2200" b="0" i="0" dirty="0">
                <a:solidFill>
                  <a:srgbClr val="000000"/>
                </a:solidFill>
                <a:effectLst/>
                <a:latin typeface="B Nazanin" panose="00000400000000000000" pitchFamily="2" charset="-78"/>
                <a:cs typeface="B Nazanin" panose="00000400000000000000" pitchFamily="2" charset="-78"/>
              </a:rPr>
            </a:br>
            <a:r>
              <a:rPr lang="fa-IR" sz="2200" b="0" i="0" dirty="0">
                <a:solidFill>
                  <a:srgbClr val="000000"/>
                </a:solidFill>
                <a:effectLst/>
                <a:latin typeface="B Nazanin" panose="00000400000000000000" pitchFamily="2" charset="-78"/>
                <a:cs typeface="B Nazanin" panose="00000400000000000000" pitchFamily="2" charset="-78"/>
              </a:rPr>
              <a:t>4-سیستم تیرچه با </a:t>
            </a:r>
            <a:r>
              <a:rPr lang="fa-IR" sz="2200" b="0" i="0" dirty="0" err="1">
                <a:solidFill>
                  <a:srgbClr val="000000"/>
                </a:solidFill>
                <a:effectLst/>
                <a:latin typeface="B Nazanin" panose="00000400000000000000" pitchFamily="2" charset="-78"/>
                <a:cs typeface="B Nazanin" panose="00000400000000000000" pitchFamily="2" charset="-78"/>
              </a:rPr>
              <a:t>مدول</a:t>
            </a:r>
            <a:r>
              <a:rPr lang="fa-IR" sz="2200" b="0" i="0" dirty="0">
                <a:solidFill>
                  <a:srgbClr val="000000"/>
                </a:solidFill>
                <a:effectLst/>
                <a:latin typeface="B Nazanin" panose="00000400000000000000" pitchFamily="2" charset="-78"/>
                <a:cs typeface="B Nazanin" panose="00000400000000000000" pitchFamily="2" charset="-78"/>
              </a:rPr>
              <a:t> عریض با نوارهای تیرچه</a:t>
            </a:r>
            <a:r>
              <a:rPr lang="fa-IR" sz="2200" dirty="0">
                <a:latin typeface="Arial Unicode MS" panose="020B0604020202020204" pitchFamily="34" charset="-128"/>
              </a:rPr>
              <a:t> </a:t>
            </a:r>
            <a:br>
              <a:rPr lang="fa-IR" sz="2200" dirty="0">
                <a:latin typeface="Arial Unicode MS" panose="020B0604020202020204" pitchFamily="34" charset="-128"/>
              </a:rPr>
            </a:br>
            <a:br>
              <a:rPr lang="fa-IR" dirty="0">
                <a:latin typeface="Arial Unicode MS" panose="020B0604020202020204" pitchFamily="34" charset="-128"/>
              </a:rPr>
            </a:br>
            <a:br>
              <a:rPr lang="fa-IR" sz="2000" dirty="0">
                <a:latin typeface="Arial Unicode MS" panose="020B0604020202020204" pitchFamily="34" charset="-128"/>
              </a:rPr>
            </a:br>
            <a:endParaRPr lang="en-US" sz="2000" dirty="0">
              <a:latin typeface="Arial Unicode MS" panose="020B0604020202020204" pitchFamily="34" charset="-128"/>
              <a:cs typeface="B Nazanin" panose="00000400000000000000" pitchFamily="2" charset="-78"/>
            </a:endParaRPr>
          </a:p>
        </p:txBody>
      </p:sp>
      <p:pic>
        <p:nvPicPr>
          <p:cNvPr id="3" name="Picture 2">
            <a:extLst>
              <a:ext uri="{FF2B5EF4-FFF2-40B4-BE49-F238E27FC236}">
                <a16:creationId xmlns:a16="http://schemas.microsoft.com/office/drawing/2014/main" id="{FEE11F82-8DB6-4617-B7E0-0576AA065AC2}"/>
              </a:ext>
            </a:extLst>
          </p:cNvPr>
          <p:cNvPicPr>
            <a:picLocks noChangeAspect="1"/>
          </p:cNvPicPr>
          <p:nvPr/>
        </p:nvPicPr>
        <p:blipFill>
          <a:blip r:embed="rId2"/>
          <a:stretch>
            <a:fillRect/>
          </a:stretch>
        </p:blipFill>
        <p:spPr>
          <a:xfrm>
            <a:off x="376588" y="1921530"/>
            <a:ext cx="5720238" cy="3014940"/>
          </a:xfrm>
          <a:prstGeom prst="rect">
            <a:avLst/>
          </a:prstGeom>
        </p:spPr>
      </p:pic>
    </p:spTree>
    <p:extLst>
      <p:ext uri="{BB962C8B-B14F-4D97-AF65-F5344CB8AC3E}">
        <p14:creationId xmlns:p14="http://schemas.microsoft.com/office/powerpoint/2010/main" val="13862317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D0AE722-3A17-4292-8B0C-015DEE23F973}"/>
              </a:ext>
            </a:extLst>
          </p:cNvPr>
          <p:cNvSpPr>
            <a:spLocks noGrp="1"/>
          </p:cNvSpPr>
          <p:nvPr>
            <p:ph type="title"/>
          </p:nvPr>
        </p:nvSpPr>
        <p:spPr>
          <a:xfrm>
            <a:off x="1170391" y="382297"/>
            <a:ext cx="10900146" cy="935776"/>
          </a:xfrm>
        </p:spPr>
        <p:txBody>
          <a:bodyPr>
            <a:noAutofit/>
          </a:bodyPr>
          <a:lstStyle/>
          <a:p>
            <a:pPr algn="r"/>
            <a:r>
              <a:rPr lang="fa-IR" spc="0" dirty="0">
                <a:cs typeface="B Nazanin" panose="00000400000000000000" pitchFamily="2" charset="-78"/>
              </a:rPr>
              <a:t>سیستم های قاب </a:t>
            </a:r>
            <a:r>
              <a:rPr lang="fa-IR" spc="0" dirty="0" err="1">
                <a:cs typeface="B Nazanin" panose="00000400000000000000" pitchFamily="2" charset="-78"/>
              </a:rPr>
              <a:t>بتنی</a:t>
            </a:r>
            <a:r>
              <a:rPr lang="fa-IR" spc="0" dirty="0">
                <a:cs typeface="B Nazanin" panose="00000400000000000000" pitchFamily="2" charset="-78"/>
              </a:rPr>
              <a:t> </a:t>
            </a:r>
            <a:r>
              <a:rPr lang="fa-IR" spc="0" dirty="0" err="1">
                <a:cs typeface="B Nazanin" panose="00000400000000000000" pitchFamily="2" charset="-78"/>
              </a:rPr>
              <a:t>درجای</a:t>
            </a:r>
            <a:r>
              <a:rPr lang="fa-IR" spc="0" dirty="0">
                <a:cs typeface="B Nazanin" panose="00000400000000000000" pitchFamily="2" charset="-78"/>
              </a:rPr>
              <a:t> دو طرفه:</a:t>
            </a:r>
            <a:endParaRPr lang="en-US" spc="0" dirty="0">
              <a:cs typeface="B Nazanin" panose="00000400000000000000" pitchFamily="2" charset="-78"/>
            </a:endParaRPr>
          </a:p>
        </p:txBody>
      </p:sp>
      <p:sp>
        <p:nvSpPr>
          <p:cNvPr id="6" name="Slide Number Placeholder 5">
            <a:extLst>
              <a:ext uri="{FF2B5EF4-FFF2-40B4-BE49-F238E27FC236}">
                <a16:creationId xmlns:a16="http://schemas.microsoft.com/office/drawing/2014/main" id="{8A75989F-94E4-487A-845C-A4F547DDFE8D}"/>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pPr/>
              <a:t>12</a:t>
            </a:fld>
            <a:endParaRPr lang="en-US" dirty="0"/>
          </a:p>
        </p:txBody>
      </p:sp>
      <p:sp>
        <p:nvSpPr>
          <p:cNvPr id="25" name="TextBox 24">
            <a:extLst>
              <a:ext uri="{FF2B5EF4-FFF2-40B4-BE49-F238E27FC236}">
                <a16:creationId xmlns:a16="http://schemas.microsoft.com/office/drawing/2014/main" id="{87322C07-EC5C-4192-9ED6-4B496278CC69}"/>
              </a:ext>
            </a:extLst>
          </p:cNvPr>
          <p:cNvSpPr txBox="1"/>
          <p:nvPr/>
        </p:nvSpPr>
        <p:spPr>
          <a:xfrm>
            <a:off x="3965991" y="2173591"/>
            <a:ext cx="8104546" cy="3631763"/>
          </a:xfrm>
          <a:prstGeom prst="rect">
            <a:avLst/>
          </a:prstGeom>
          <a:noFill/>
        </p:spPr>
        <p:txBody>
          <a:bodyPr wrap="square">
            <a:spAutoFit/>
          </a:bodyPr>
          <a:lstStyle/>
          <a:p>
            <a:pPr lvl="1" algn="r"/>
            <a:r>
              <a:rPr lang="fa-IR" sz="2200" b="0" i="0" dirty="0">
                <a:solidFill>
                  <a:srgbClr val="000000"/>
                </a:solidFill>
                <a:effectLst/>
                <a:latin typeface="B Nazanin" panose="00000400000000000000" pitchFamily="2" charset="-78"/>
                <a:cs typeface="B Nazanin" panose="00000400000000000000" pitchFamily="2" charset="-78"/>
              </a:rPr>
              <a:t>1-دال صلب دو طرفه</a:t>
            </a:r>
          </a:p>
          <a:p>
            <a:pPr lvl="1" algn="r"/>
            <a:br>
              <a:rPr lang="fa-IR" sz="2200" b="0" i="0" dirty="0">
                <a:solidFill>
                  <a:srgbClr val="000000"/>
                </a:solidFill>
                <a:effectLst/>
                <a:latin typeface="B Nazanin" panose="00000400000000000000" pitchFamily="2" charset="-78"/>
                <a:cs typeface="B Nazanin" panose="00000400000000000000" pitchFamily="2" charset="-78"/>
              </a:rPr>
            </a:br>
            <a:r>
              <a:rPr lang="fa-IR" sz="2200" b="0" i="0" dirty="0">
                <a:solidFill>
                  <a:srgbClr val="000000"/>
                </a:solidFill>
                <a:effectLst/>
                <a:latin typeface="B Nazanin" panose="00000400000000000000" pitchFamily="2" charset="-78"/>
                <a:cs typeface="B Nazanin" panose="00000400000000000000" pitchFamily="2" charset="-78"/>
              </a:rPr>
              <a:t>2-دال مسطح دو طرفه با پانل های قطره ای و </a:t>
            </a:r>
            <a:r>
              <a:rPr lang="fa-IR" sz="2200" b="0" i="0" dirty="0" err="1">
                <a:solidFill>
                  <a:srgbClr val="000000"/>
                </a:solidFill>
                <a:effectLst/>
                <a:latin typeface="B Nazanin" panose="00000400000000000000" pitchFamily="2" charset="-78"/>
                <a:cs typeface="B Nazanin" panose="00000400000000000000" pitchFamily="2" charset="-78"/>
              </a:rPr>
              <a:t>سرستون</a:t>
            </a:r>
            <a:r>
              <a:rPr lang="fa-IR" sz="2200" b="0" i="0" dirty="0">
                <a:solidFill>
                  <a:srgbClr val="000000"/>
                </a:solidFill>
                <a:effectLst/>
                <a:latin typeface="B Nazanin" panose="00000400000000000000" pitchFamily="2" charset="-78"/>
                <a:cs typeface="B Nazanin" panose="00000400000000000000" pitchFamily="2" charset="-78"/>
              </a:rPr>
              <a:t> قارچی</a:t>
            </a:r>
          </a:p>
          <a:p>
            <a:pPr lvl="1" algn="r"/>
            <a:br>
              <a:rPr lang="fa-IR" sz="2200" b="0" i="0" dirty="0">
                <a:solidFill>
                  <a:srgbClr val="000000"/>
                </a:solidFill>
                <a:effectLst/>
                <a:latin typeface="B Nazanin" panose="00000400000000000000" pitchFamily="2" charset="-78"/>
                <a:cs typeface="B Nazanin" panose="00000400000000000000" pitchFamily="2" charset="-78"/>
              </a:rPr>
            </a:br>
            <a:r>
              <a:rPr lang="fa-IR" sz="2200" b="0" i="0" dirty="0">
                <a:solidFill>
                  <a:srgbClr val="000000"/>
                </a:solidFill>
                <a:effectLst/>
                <a:latin typeface="B Nazanin" panose="00000400000000000000" pitchFamily="2" charset="-78"/>
                <a:cs typeface="B Nazanin" panose="00000400000000000000" pitchFamily="2" charset="-78"/>
              </a:rPr>
              <a:t>3-صفحه مسطح دوطرفه</a:t>
            </a:r>
          </a:p>
          <a:p>
            <a:pPr lvl="1" algn="r"/>
            <a:br>
              <a:rPr lang="fa-IR" sz="2200" b="0" i="0" dirty="0">
                <a:solidFill>
                  <a:srgbClr val="000000"/>
                </a:solidFill>
                <a:effectLst/>
                <a:latin typeface="B Nazanin" panose="00000400000000000000" pitchFamily="2" charset="-78"/>
                <a:cs typeface="B Nazanin" panose="00000400000000000000" pitchFamily="2" charset="-78"/>
              </a:rPr>
            </a:br>
            <a:r>
              <a:rPr lang="fa-IR" sz="2200" b="0" i="0" dirty="0">
                <a:solidFill>
                  <a:srgbClr val="000000"/>
                </a:solidFill>
                <a:effectLst/>
                <a:latin typeface="B Nazanin" panose="00000400000000000000" pitchFamily="2" charset="-78"/>
                <a:cs typeface="B Nazanin" panose="00000400000000000000" pitchFamily="2" charset="-78"/>
              </a:rPr>
              <a:t>4-سیستم تیرچه </a:t>
            </a:r>
            <a:r>
              <a:rPr lang="fa-IR" sz="2200" b="0" i="0" dirty="0" err="1">
                <a:solidFill>
                  <a:srgbClr val="000000"/>
                </a:solidFill>
                <a:effectLst/>
                <a:latin typeface="B Nazanin" panose="00000400000000000000" pitchFamily="2" charset="-78"/>
                <a:cs typeface="B Nazanin" panose="00000400000000000000" pitchFamily="2" charset="-78"/>
              </a:rPr>
              <a:t>بتنی</a:t>
            </a:r>
            <a:r>
              <a:rPr lang="fa-IR" sz="2200" b="0" i="0" dirty="0">
                <a:solidFill>
                  <a:srgbClr val="000000"/>
                </a:solidFill>
                <a:effectLst/>
                <a:latin typeface="B Nazanin" panose="00000400000000000000" pitchFamily="2" charset="-78"/>
                <a:cs typeface="B Nazanin" panose="00000400000000000000" pitchFamily="2" charset="-78"/>
              </a:rPr>
              <a:t> دوطرفه ( دال </a:t>
            </a:r>
            <a:r>
              <a:rPr lang="fa-IR" sz="2200" b="0" i="0" dirty="0" err="1">
                <a:solidFill>
                  <a:srgbClr val="000000"/>
                </a:solidFill>
                <a:effectLst/>
                <a:latin typeface="B Nazanin" panose="00000400000000000000" pitchFamily="2" charset="-78"/>
                <a:cs typeface="B Nazanin" panose="00000400000000000000" pitchFamily="2" charset="-78"/>
              </a:rPr>
              <a:t>وافل</a:t>
            </a:r>
            <a:r>
              <a:rPr lang="fa-IR" sz="2200" b="0" i="0" dirty="0">
                <a:solidFill>
                  <a:srgbClr val="000000"/>
                </a:solidFill>
                <a:effectLst/>
                <a:latin typeface="B Nazanin" panose="00000400000000000000" pitchFamily="2" charset="-78"/>
                <a:cs typeface="B Nazanin" panose="00000400000000000000" pitchFamily="2" charset="-78"/>
              </a:rPr>
              <a:t>)</a:t>
            </a:r>
            <a:r>
              <a:rPr lang="fa-IR" sz="2200" dirty="0">
                <a:latin typeface="Arial Unicode MS" panose="020B0604020202020204" pitchFamily="34" charset="-128"/>
              </a:rPr>
              <a:t> </a:t>
            </a:r>
            <a:br>
              <a:rPr lang="fa-IR" sz="2200" dirty="0">
                <a:latin typeface="Arial Unicode MS" panose="020B0604020202020204" pitchFamily="34" charset="-128"/>
              </a:rPr>
            </a:br>
            <a:br>
              <a:rPr lang="fa-IR" dirty="0">
                <a:latin typeface="Arial Unicode MS" panose="020B0604020202020204" pitchFamily="34" charset="-128"/>
              </a:rPr>
            </a:br>
            <a:br>
              <a:rPr lang="fa-IR" dirty="0">
                <a:latin typeface="Arial Unicode MS" panose="020B0604020202020204" pitchFamily="34" charset="-128"/>
              </a:rPr>
            </a:br>
            <a:br>
              <a:rPr lang="fa-IR" sz="2000" dirty="0">
                <a:latin typeface="Arial Unicode MS" panose="020B0604020202020204" pitchFamily="34" charset="-128"/>
              </a:rPr>
            </a:br>
            <a:endParaRPr lang="en-US" sz="2000" dirty="0">
              <a:latin typeface="Arial Unicode MS" panose="020B0604020202020204" pitchFamily="34" charset="-128"/>
              <a:cs typeface="B Nazanin" panose="00000400000000000000" pitchFamily="2" charset="-78"/>
            </a:endParaRPr>
          </a:p>
        </p:txBody>
      </p:sp>
      <p:pic>
        <p:nvPicPr>
          <p:cNvPr id="2" name="Picture 1">
            <a:extLst>
              <a:ext uri="{FF2B5EF4-FFF2-40B4-BE49-F238E27FC236}">
                <a16:creationId xmlns:a16="http://schemas.microsoft.com/office/drawing/2014/main" id="{30A310C5-EA67-42B2-9AE4-6A6FDFBC17AD}"/>
              </a:ext>
            </a:extLst>
          </p:cNvPr>
          <p:cNvPicPr>
            <a:picLocks noChangeAspect="1"/>
          </p:cNvPicPr>
          <p:nvPr/>
        </p:nvPicPr>
        <p:blipFill>
          <a:blip r:embed="rId2"/>
          <a:stretch>
            <a:fillRect/>
          </a:stretch>
        </p:blipFill>
        <p:spPr>
          <a:xfrm>
            <a:off x="121463" y="1910990"/>
            <a:ext cx="6350856" cy="3763470"/>
          </a:xfrm>
          <a:prstGeom prst="rect">
            <a:avLst/>
          </a:prstGeom>
        </p:spPr>
      </p:pic>
    </p:spTree>
    <p:extLst>
      <p:ext uri="{BB962C8B-B14F-4D97-AF65-F5344CB8AC3E}">
        <p14:creationId xmlns:p14="http://schemas.microsoft.com/office/powerpoint/2010/main" val="16924054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42539429-9547-4E01-8052-220253E7C93E}"/>
              </a:ext>
            </a:extLst>
          </p:cNvPr>
          <p:cNvSpPr>
            <a:spLocks noGrp="1"/>
          </p:cNvSpPr>
          <p:nvPr>
            <p:ph type="sldNum" sz="quarter" idx="12"/>
          </p:nvPr>
        </p:nvSpPr>
        <p:spPr/>
        <p:txBody>
          <a:bodyPr/>
          <a:lstStyle/>
          <a:p>
            <a:fld id="{FAEF9944-A4F6-4C59-AEBD-678D6480B8EA}" type="slidenum">
              <a:rPr lang="en-US" smtClean="0"/>
              <a:t>13</a:t>
            </a:fld>
            <a:endParaRPr lang="en-US" dirty="0"/>
          </a:p>
        </p:txBody>
      </p:sp>
      <p:sp>
        <p:nvSpPr>
          <p:cNvPr id="2" name="TextBox 1">
            <a:extLst>
              <a:ext uri="{FF2B5EF4-FFF2-40B4-BE49-F238E27FC236}">
                <a16:creationId xmlns:a16="http://schemas.microsoft.com/office/drawing/2014/main" id="{D5E5F3F9-9ECD-4D32-B672-244F77D4B27B}"/>
              </a:ext>
            </a:extLst>
          </p:cNvPr>
          <p:cNvSpPr txBox="1"/>
          <p:nvPr/>
        </p:nvSpPr>
        <p:spPr>
          <a:xfrm>
            <a:off x="2651464" y="2876049"/>
            <a:ext cx="9268287" cy="1446550"/>
          </a:xfrm>
          <a:prstGeom prst="rect">
            <a:avLst/>
          </a:prstGeom>
          <a:noFill/>
        </p:spPr>
        <p:txBody>
          <a:bodyPr wrap="square" rtlCol="0">
            <a:spAutoFit/>
          </a:bodyPr>
          <a:lstStyle/>
          <a:p>
            <a:r>
              <a:rPr lang="fa-IR" sz="8800" dirty="0">
                <a:latin typeface="Arial Unicode MS" panose="020B0604020202020204" pitchFamily="34" charset="-128"/>
                <a:cs typeface="B Nazanin" panose="00000400000000000000" pitchFamily="2" charset="-78"/>
              </a:rPr>
              <a:t>سقف دال </a:t>
            </a:r>
            <a:r>
              <a:rPr lang="fa-IR" sz="8800" dirty="0" err="1">
                <a:latin typeface="Arial Unicode MS" panose="020B0604020202020204" pitchFamily="34" charset="-128"/>
                <a:cs typeface="B Nazanin" panose="00000400000000000000" pitchFamily="2" charset="-78"/>
              </a:rPr>
              <a:t>بتنی</a:t>
            </a:r>
            <a:r>
              <a:rPr lang="fa-IR" sz="8800" dirty="0">
                <a:latin typeface="Arial Unicode MS" panose="020B0604020202020204" pitchFamily="34" charset="-128"/>
                <a:cs typeface="B Nazanin" panose="00000400000000000000" pitchFamily="2" charset="-78"/>
              </a:rPr>
              <a:t> :  </a:t>
            </a:r>
            <a:endParaRPr lang="en-US" sz="4000" dirty="0">
              <a:latin typeface="Arial Unicode MS" panose="020B0604020202020204" pitchFamily="34" charset="-128"/>
              <a:cs typeface="B Nazanin" panose="00000400000000000000" pitchFamily="2" charset="-78"/>
            </a:endParaRPr>
          </a:p>
        </p:txBody>
      </p:sp>
    </p:spTree>
    <p:extLst>
      <p:ext uri="{BB962C8B-B14F-4D97-AF65-F5344CB8AC3E}">
        <p14:creationId xmlns:p14="http://schemas.microsoft.com/office/powerpoint/2010/main" val="35547028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D0AE722-3A17-4292-8B0C-015DEE23F973}"/>
              </a:ext>
            </a:extLst>
          </p:cNvPr>
          <p:cNvSpPr>
            <a:spLocks noGrp="1"/>
          </p:cNvSpPr>
          <p:nvPr>
            <p:ph type="title"/>
          </p:nvPr>
        </p:nvSpPr>
        <p:spPr>
          <a:xfrm>
            <a:off x="1170391" y="382297"/>
            <a:ext cx="10900146" cy="935776"/>
          </a:xfrm>
        </p:spPr>
        <p:txBody>
          <a:bodyPr>
            <a:noAutofit/>
          </a:bodyPr>
          <a:lstStyle/>
          <a:p>
            <a:pPr algn="r"/>
            <a:r>
              <a:rPr lang="fa-IR" spc="0" dirty="0">
                <a:cs typeface="B Nazanin" panose="00000400000000000000" pitchFamily="2" charset="-78"/>
              </a:rPr>
              <a:t>دال مسطح </a:t>
            </a:r>
            <a:r>
              <a:rPr lang="fa-IR" spc="0" dirty="0" err="1">
                <a:cs typeface="B Nazanin" panose="00000400000000000000" pitchFamily="2" charset="-78"/>
              </a:rPr>
              <a:t>بتنی</a:t>
            </a:r>
            <a:r>
              <a:rPr lang="fa-IR" spc="0" dirty="0">
                <a:cs typeface="B Nazanin" panose="00000400000000000000" pitchFamily="2" charset="-78"/>
              </a:rPr>
              <a:t>(دال یکپارچه ممتد):</a:t>
            </a:r>
            <a:endParaRPr lang="en-US" spc="0" dirty="0">
              <a:cs typeface="B Nazanin" panose="00000400000000000000" pitchFamily="2" charset="-78"/>
            </a:endParaRPr>
          </a:p>
        </p:txBody>
      </p:sp>
      <p:sp>
        <p:nvSpPr>
          <p:cNvPr id="6" name="Slide Number Placeholder 5">
            <a:extLst>
              <a:ext uri="{FF2B5EF4-FFF2-40B4-BE49-F238E27FC236}">
                <a16:creationId xmlns:a16="http://schemas.microsoft.com/office/drawing/2014/main" id="{8A75989F-94E4-487A-845C-A4F547DDFE8D}"/>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pPr/>
              <a:t>14</a:t>
            </a:fld>
            <a:endParaRPr lang="en-US" dirty="0"/>
          </a:p>
        </p:txBody>
      </p:sp>
      <p:sp>
        <p:nvSpPr>
          <p:cNvPr id="25" name="TextBox 24">
            <a:extLst>
              <a:ext uri="{FF2B5EF4-FFF2-40B4-BE49-F238E27FC236}">
                <a16:creationId xmlns:a16="http://schemas.microsoft.com/office/drawing/2014/main" id="{87322C07-EC5C-4192-9ED6-4B496278CC69}"/>
              </a:ext>
            </a:extLst>
          </p:cNvPr>
          <p:cNvSpPr txBox="1"/>
          <p:nvPr/>
        </p:nvSpPr>
        <p:spPr>
          <a:xfrm>
            <a:off x="4275990" y="1838550"/>
            <a:ext cx="8104546" cy="2954655"/>
          </a:xfrm>
          <a:prstGeom prst="rect">
            <a:avLst/>
          </a:prstGeom>
          <a:noFill/>
        </p:spPr>
        <p:txBody>
          <a:bodyPr wrap="square">
            <a:spAutoFit/>
          </a:bodyPr>
          <a:lstStyle/>
          <a:p>
            <a:pPr marL="800100" lvl="1" indent="-342900" algn="r" rtl="1">
              <a:buFont typeface="Arial" panose="020B0604020202020204" pitchFamily="34" charset="0"/>
              <a:buChar char="•"/>
            </a:pPr>
            <a:r>
              <a:rPr lang="fa-IR" sz="2200" b="0" i="0" dirty="0">
                <a:solidFill>
                  <a:srgbClr val="000000"/>
                </a:solidFill>
                <a:effectLst/>
                <a:latin typeface="B Nazanin" panose="00000400000000000000" pitchFamily="2" charset="-78"/>
                <a:cs typeface="B Nazanin" panose="00000400000000000000" pitchFamily="2" charset="-78"/>
              </a:rPr>
              <a:t>دال یکپارچه با ضخامت ثابت هست.</a:t>
            </a:r>
          </a:p>
          <a:p>
            <a:pPr marL="800100" lvl="1" indent="-342900" algn="r" rtl="1">
              <a:buFont typeface="Arial" panose="020B0604020202020204" pitchFamily="34" charset="0"/>
              <a:buChar char="•"/>
            </a:pPr>
            <a:endParaRPr lang="fa-IR" sz="2200" b="0" i="0" dirty="0">
              <a:solidFill>
                <a:srgbClr val="000000"/>
              </a:solidFill>
              <a:effectLst/>
              <a:latin typeface="B Nazanin" panose="00000400000000000000" pitchFamily="2" charset="-78"/>
              <a:cs typeface="B Nazanin" panose="00000400000000000000" pitchFamily="2" charset="-78"/>
            </a:endParaRPr>
          </a:p>
          <a:p>
            <a:pPr marL="800100" lvl="1" indent="-342900" algn="r" rtl="1">
              <a:buFont typeface="Arial" panose="020B0604020202020204" pitchFamily="34" charset="0"/>
              <a:buChar char="•"/>
            </a:pPr>
            <a:r>
              <a:rPr lang="fa-IR" sz="2200" b="0" i="0" dirty="0" err="1">
                <a:solidFill>
                  <a:srgbClr val="000000"/>
                </a:solidFill>
                <a:effectLst/>
                <a:latin typeface="B Nazanin" panose="00000400000000000000" pitchFamily="2" charset="-78"/>
                <a:cs typeface="B Nazanin" panose="00000400000000000000" pitchFamily="2" charset="-78"/>
              </a:rPr>
              <a:t>میلگرد</a:t>
            </a:r>
            <a:r>
              <a:rPr lang="fa-IR" sz="2200" b="0" i="0" dirty="0">
                <a:solidFill>
                  <a:srgbClr val="000000"/>
                </a:solidFill>
                <a:effectLst/>
                <a:latin typeface="B Nazanin" panose="00000400000000000000" pitchFamily="2" charset="-78"/>
                <a:cs typeface="B Nazanin" panose="00000400000000000000" pitchFamily="2" charset="-78"/>
              </a:rPr>
              <a:t> گذاری در دو جهت صورت می گیرد.</a:t>
            </a:r>
          </a:p>
          <a:p>
            <a:pPr marL="800100" lvl="1" indent="-342900" algn="r" rtl="1">
              <a:buFont typeface="Arial" panose="020B0604020202020204" pitchFamily="34" charset="0"/>
              <a:buChar char="•"/>
            </a:pPr>
            <a:endParaRPr lang="fa-IR" sz="2200" b="0" i="0" dirty="0">
              <a:solidFill>
                <a:srgbClr val="000000"/>
              </a:solidFill>
              <a:effectLst/>
              <a:latin typeface="B Nazanin" panose="00000400000000000000" pitchFamily="2" charset="-78"/>
              <a:cs typeface="B Nazanin" panose="00000400000000000000" pitchFamily="2" charset="-78"/>
            </a:endParaRPr>
          </a:p>
          <a:p>
            <a:pPr marL="800100" lvl="1" indent="-342900" algn="r" rtl="1">
              <a:buFont typeface="Arial" panose="020B0604020202020204" pitchFamily="34" charset="0"/>
              <a:buChar char="•"/>
            </a:pPr>
            <a:r>
              <a:rPr lang="fa-IR" sz="2200" b="0" i="0" dirty="0">
                <a:solidFill>
                  <a:srgbClr val="000000"/>
                </a:solidFill>
                <a:effectLst/>
                <a:latin typeface="B Nazanin" panose="00000400000000000000" pitchFamily="2" charset="-78"/>
                <a:cs typeface="B Nazanin" panose="00000400000000000000" pitchFamily="2" charset="-78"/>
              </a:rPr>
              <a:t>در دهانه های متوسط و </a:t>
            </a:r>
            <a:r>
              <a:rPr lang="fa-IR" sz="2200" b="0" i="0" dirty="0" err="1">
                <a:solidFill>
                  <a:srgbClr val="000000"/>
                </a:solidFill>
                <a:effectLst/>
                <a:latin typeface="B Nazanin" panose="00000400000000000000" pitchFamily="2" charset="-78"/>
                <a:cs typeface="B Nazanin" panose="00000400000000000000" pitchFamily="2" charset="-78"/>
              </a:rPr>
              <a:t>بارگذاری</a:t>
            </a:r>
            <a:r>
              <a:rPr lang="fa-IR" sz="2200" b="0" i="0" dirty="0">
                <a:solidFill>
                  <a:srgbClr val="000000"/>
                </a:solidFill>
                <a:effectLst/>
                <a:latin typeface="B Nazanin" panose="00000400000000000000" pitchFamily="2" charset="-78"/>
                <a:cs typeface="B Nazanin" panose="00000400000000000000" pitchFamily="2" charset="-78"/>
              </a:rPr>
              <a:t> های سبک اقتصادی است.</a:t>
            </a:r>
            <a:br>
              <a:rPr lang="fa-IR" sz="2200" dirty="0">
                <a:latin typeface="Arial Unicode MS" panose="020B0604020202020204" pitchFamily="34" charset="-128"/>
              </a:rPr>
            </a:br>
            <a:br>
              <a:rPr lang="fa-IR" dirty="0">
                <a:latin typeface="Arial Unicode MS" panose="020B0604020202020204" pitchFamily="34" charset="-128"/>
              </a:rPr>
            </a:br>
            <a:br>
              <a:rPr lang="fa-IR" dirty="0">
                <a:latin typeface="Arial Unicode MS" panose="020B0604020202020204" pitchFamily="34" charset="-128"/>
              </a:rPr>
            </a:br>
            <a:br>
              <a:rPr lang="fa-IR" sz="2000" dirty="0">
                <a:latin typeface="Arial Unicode MS" panose="020B0604020202020204" pitchFamily="34" charset="-128"/>
              </a:rPr>
            </a:br>
            <a:endParaRPr lang="en-US" sz="2000" dirty="0">
              <a:latin typeface="Arial Unicode MS" panose="020B0604020202020204" pitchFamily="34" charset="-128"/>
              <a:cs typeface="B Nazanin" panose="00000400000000000000" pitchFamily="2" charset="-78"/>
            </a:endParaRPr>
          </a:p>
        </p:txBody>
      </p:sp>
      <p:pic>
        <p:nvPicPr>
          <p:cNvPr id="3" name="Picture 2">
            <a:extLst>
              <a:ext uri="{FF2B5EF4-FFF2-40B4-BE49-F238E27FC236}">
                <a16:creationId xmlns:a16="http://schemas.microsoft.com/office/drawing/2014/main" id="{63E51901-E2EB-441B-9E35-6C31CA53B09F}"/>
              </a:ext>
            </a:extLst>
          </p:cNvPr>
          <p:cNvPicPr>
            <a:picLocks noChangeAspect="1"/>
          </p:cNvPicPr>
          <p:nvPr/>
        </p:nvPicPr>
        <p:blipFill>
          <a:blip r:embed="rId2"/>
          <a:stretch>
            <a:fillRect/>
          </a:stretch>
        </p:blipFill>
        <p:spPr>
          <a:xfrm>
            <a:off x="490539" y="1838550"/>
            <a:ext cx="4561823" cy="3678890"/>
          </a:xfrm>
          <a:prstGeom prst="rect">
            <a:avLst/>
          </a:prstGeom>
        </p:spPr>
      </p:pic>
    </p:spTree>
    <p:extLst>
      <p:ext uri="{BB962C8B-B14F-4D97-AF65-F5344CB8AC3E}">
        <p14:creationId xmlns:p14="http://schemas.microsoft.com/office/powerpoint/2010/main" val="3263089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D0AE722-3A17-4292-8B0C-015DEE23F973}"/>
              </a:ext>
            </a:extLst>
          </p:cNvPr>
          <p:cNvSpPr>
            <a:spLocks noGrp="1"/>
          </p:cNvSpPr>
          <p:nvPr>
            <p:ph type="title"/>
          </p:nvPr>
        </p:nvSpPr>
        <p:spPr>
          <a:xfrm>
            <a:off x="1170391" y="382297"/>
            <a:ext cx="10900146" cy="935776"/>
          </a:xfrm>
        </p:spPr>
        <p:txBody>
          <a:bodyPr>
            <a:noAutofit/>
          </a:bodyPr>
          <a:lstStyle/>
          <a:p>
            <a:pPr algn="r"/>
            <a:r>
              <a:rPr lang="fa-IR" spc="0" dirty="0">
                <a:cs typeface="B Nazanin" panose="00000400000000000000" pitchFamily="2" charset="-78"/>
              </a:rPr>
              <a:t>دال مسطح </a:t>
            </a:r>
            <a:r>
              <a:rPr lang="fa-IR" spc="0" dirty="0" err="1">
                <a:cs typeface="B Nazanin" panose="00000400000000000000" pitchFamily="2" charset="-78"/>
              </a:rPr>
              <a:t>بتنی</a:t>
            </a:r>
            <a:r>
              <a:rPr lang="fa-IR" spc="0" dirty="0">
                <a:cs typeface="B Nazanin" panose="00000400000000000000" pitchFamily="2" charset="-78"/>
              </a:rPr>
              <a:t>(دال یکپارچه ممتد):</a:t>
            </a:r>
            <a:endParaRPr lang="en-US" spc="0" dirty="0">
              <a:cs typeface="B Nazanin" panose="00000400000000000000" pitchFamily="2" charset="-78"/>
            </a:endParaRPr>
          </a:p>
        </p:txBody>
      </p:sp>
      <p:sp>
        <p:nvSpPr>
          <p:cNvPr id="6" name="Slide Number Placeholder 5">
            <a:extLst>
              <a:ext uri="{FF2B5EF4-FFF2-40B4-BE49-F238E27FC236}">
                <a16:creationId xmlns:a16="http://schemas.microsoft.com/office/drawing/2014/main" id="{8A75989F-94E4-487A-845C-A4F547DDFE8D}"/>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pPr/>
              <a:t>15</a:t>
            </a:fld>
            <a:endParaRPr lang="en-US" dirty="0"/>
          </a:p>
        </p:txBody>
      </p:sp>
      <p:pic>
        <p:nvPicPr>
          <p:cNvPr id="2" name="Picture 1">
            <a:extLst>
              <a:ext uri="{FF2B5EF4-FFF2-40B4-BE49-F238E27FC236}">
                <a16:creationId xmlns:a16="http://schemas.microsoft.com/office/drawing/2014/main" id="{BA34CA4F-38CD-4EB8-95BE-EA612ADB65A7}"/>
              </a:ext>
            </a:extLst>
          </p:cNvPr>
          <p:cNvPicPr>
            <a:picLocks noChangeAspect="1"/>
          </p:cNvPicPr>
          <p:nvPr/>
        </p:nvPicPr>
        <p:blipFill>
          <a:blip r:embed="rId2"/>
          <a:stretch>
            <a:fillRect/>
          </a:stretch>
        </p:blipFill>
        <p:spPr>
          <a:xfrm>
            <a:off x="2114174" y="1533615"/>
            <a:ext cx="8114479" cy="4560203"/>
          </a:xfrm>
          <a:prstGeom prst="rect">
            <a:avLst/>
          </a:prstGeom>
        </p:spPr>
      </p:pic>
    </p:spTree>
    <p:extLst>
      <p:ext uri="{BB962C8B-B14F-4D97-AF65-F5344CB8AC3E}">
        <p14:creationId xmlns:p14="http://schemas.microsoft.com/office/powerpoint/2010/main" val="25123829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D0AE722-3A17-4292-8B0C-015DEE23F973}"/>
              </a:ext>
            </a:extLst>
          </p:cNvPr>
          <p:cNvSpPr>
            <a:spLocks noGrp="1"/>
          </p:cNvSpPr>
          <p:nvPr>
            <p:ph type="title"/>
          </p:nvPr>
        </p:nvSpPr>
        <p:spPr>
          <a:xfrm>
            <a:off x="1170391" y="382297"/>
            <a:ext cx="10900146" cy="935776"/>
          </a:xfrm>
        </p:spPr>
        <p:txBody>
          <a:bodyPr>
            <a:noAutofit/>
          </a:bodyPr>
          <a:lstStyle/>
          <a:p>
            <a:pPr algn="r"/>
            <a:r>
              <a:rPr lang="fa-IR" spc="0" dirty="0">
                <a:cs typeface="B Nazanin" panose="00000400000000000000" pitchFamily="2" charset="-78"/>
              </a:rPr>
              <a:t>دال مسطح </a:t>
            </a:r>
            <a:r>
              <a:rPr lang="fa-IR" spc="0" dirty="0" err="1">
                <a:cs typeface="B Nazanin" panose="00000400000000000000" pitchFamily="2" charset="-78"/>
              </a:rPr>
              <a:t>بتنی</a:t>
            </a:r>
            <a:r>
              <a:rPr lang="fa-IR" spc="0" dirty="0">
                <a:cs typeface="B Nazanin" panose="00000400000000000000" pitchFamily="2" charset="-78"/>
              </a:rPr>
              <a:t>(دال یکپارچه ممتد):</a:t>
            </a:r>
            <a:endParaRPr lang="en-US" spc="0" dirty="0">
              <a:cs typeface="B Nazanin" panose="00000400000000000000" pitchFamily="2" charset="-78"/>
            </a:endParaRPr>
          </a:p>
        </p:txBody>
      </p:sp>
      <p:sp>
        <p:nvSpPr>
          <p:cNvPr id="6" name="Slide Number Placeholder 5">
            <a:extLst>
              <a:ext uri="{FF2B5EF4-FFF2-40B4-BE49-F238E27FC236}">
                <a16:creationId xmlns:a16="http://schemas.microsoft.com/office/drawing/2014/main" id="{8A75989F-94E4-487A-845C-A4F547DDFE8D}"/>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pPr/>
              <a:t>16</a:t>
            </a:fld>
            <a:endParaRPr lang="en-US" dirty="0"/>
          </a:p>
        </p:txBody>
      </p:sp>
      <p:sp>
        <p:nvSpPr>
          <p:cNvPr id="25" name="TextBox 24">
            <a:extLst>
              <a:ext uri="{FF2B5EF4-FFF2-40B4-BE49-F238E27FC236}">
                <a16:creationId xmlns:a16="http://schemas.microsoft.com/office/drawing/2014/main" id="{87322C07-EC5C-4192-9ED6-4B496278CC69}"/>
              </a:ext>
            </a:extLst>
          </p:cNvPr>
          <p:cNvSpPr txBox="1"/>
          <p:nvPr/>
        </p:nvSpPr>
        <p:spPr>
          <a:xfrm>
            <a:off x="4087454" y="1838550"/>
            <a:ext cx="8104546" cy="1969770"/>
          </a:xfrm>
          <a:prstGeom prst="rect">
            <a:avLst/>
          </a:prstGeom>
          <a:noFill/>
        </p:spPr>
        <p:txBody>
          <a:bodyPr wrap="square">
            <a:spAutoFit/>
          </a:bodyPr>
          <a:lstStyle/>
          <a:p>
            <a:pPr lvl="1" algn="r" rtl="1"/>
            <a:r>
              <a:rPr lang="fa-IR" sz="2200" b="0" i="0" dirty="0">
                <a:solidFill>
                  <a:srgbClr val="000000"/>
                </a:solidFill>
                <a:effectLst/>
                <a:latin typeface="B Nazanin" panose="00000400000000000000" pitchFamily="2" charset="-78"/>
                <a:cs typeface="B Nazanin" panose="00000400000000000000" pitchFamily="2" charset="-78"/>
              </a:rPr>
              <a:t>نقطه ضعف اصلی دال های مسطح:</a:t>
            </a:r>
          </a:p>
          <a:p>
            <a:pPr lvl="1" algn="r" rtl="1"/>
            <a:r>
              <a:rPr lang="fa-IR" sz="2200" b="0" i="0" dirty="0">
                <a:solidFill>
                  <a:srgbClr val="000000"/>
                </a:solidFill>
                <a:effectLst/>
                <a:latin typeface="B Nazanin" panose="00000400000000000000" pitchFamily="2" charset="-78"/>
                <a:cs typeface="B Nazanin" panose="00000400000000000000" pitchFamily="2" charset="-78"/>
              </a:rPr>
              <a:t>گسیختگی ناشی از تو رفتگی (</a:t>
            </a:r>
            <a:r>
              <a:rPr lang="fa-IR" sz="2200" b="0" i="0" dirty="0" err="1">
                <a:solidFill>
                  <a:srgbClr val="000000"/>
                </a:solidFill>
                <a:effectLst/>
                <a:latin typeface="B Nazanin" panose="00000400000000000000" pitchFamily="2" charset="-78"/>
                <a:cs typeface="B Nazanin" panose="00000400000000000000" pitchFamily="2" charset="-78"/>
              </a:rPr>
              <a:t>منگنه</a:t>
            </a:r>
            <a:r>
              <a:rPr lang="fa-IR" sz="2200" b="0" i="0" dirty="0">
                <a:solidFill>
                  <a:srgbClr val="000000"/>
                </a:solidFill>
                <a:effectLst/>
                <a:latin typeface="B Nazanin" panose="00000400000000000000" pitchFamily="2" charset="-78"/>
                <a:cs typeface="B Nazanin" panose="00000400000000000000" pitchFamily="2" charset="-78"/>
              </a:rPr>
              <a:t> </a:t>
            </a:r>
            <a:r>
              <a:rPr lang="fa-IR" sz="2200" b="0" i="0" dirty="0" err="1">
                <a:solidFill>
                  <a:srgbClr val="000000"/>
                </a:solidFill>
                <a:effectLst/>
                <a:latin typeface="B Nazanin" panose="00000400000000000000" pitchFamily="2" charset="-78"/>
                <a:cs typeface="B Nazanin" panose="00000400000000000000" pitchFamily="2" charset="-78"/>
              </a:rPr>
              <a:t>شدن،برش</a:t>
            </a:r>
            <a:r>
              <a:rPr lang="fa-IR" sz="2200" b="0" i="0" dirty="0">
                <a:solidFill>
                  <a:srgbClr val="000000"/>
                </a:solidFill>
                <a:effectLst/>
                <a:latin typeface="B Nazanin" panose="00000400000000000000" pitchFamily="2" charset="-78"/>
                <a:cs typeface="B Nazanin" panose="00000400000000000000" pitchFamily="2" charset="-78"/>
              </a:rPr>
              <a:t> سوراخ کننده).</a:t>
            </a:r>
            <a:br>
              <a:rPr lang="fa-IR" sz="2200" dirty="0">
                <a:latin typeface="Arial Unicode MS" panose="020B0604020202020204" pitchFamily="34" charset="-128"/>
              </a:rPr>
            </a:br>
            <a:br>
              <a:rPr lang="fa-IR" dirty="0">
                <a:latin typeface="Arial Unicode MS" panose="020B0604020202020204" pitchFamily="34" charset="-128"/>
              </a:rPr>
            </a:br>
            <a:br>
              <a:rPr lang="fa-IR" dirty="0">
                <a:latin typeface="Arial Unicode MS" panose="020B0604020202020204" pitchFamily="34" charset="-128"/>
              </a:rPr>
            </a:br>
            <a:br>
              <a:rPr lang="fa-IR" sz="2000" dirty="0">
                <a:latin typeface="Arial Unicode MS" panose="020B0604020202020204" pitchFamily="34" charset="-128"/>
              </a:rPr>
            </a:br>
            <a:endParaRPr lang="en-US" sz="2000" dirty="0">
              <a:latin typeface="Arial Unicode MS" panose="020B0604020202020204" pitchFamily="34" charset="-128"/>
              <a:cs typeface="B Nazanin" panose="00000400000000000000" pitchFamily="2" charset="-78"/>
            </a:endParaRPr>
          </a:p>
        </p:txBody>
      </p:sp>
      <p:pic>
        <p:nvPicPr>
          <p:cNvPr id="2" name="Picture 1">
            <a:extLst>
              <a:ext uri="{FF2B5EF4-FFF2-40B4-BE49-F238E27FC236}">
                <a16:creationId xmlns:a16="http://schemas.microsoft.com/office/drawing/2014/main" id="{065547BF-5B7B-41B1-9ADA-D9070AAAB6AB}"/>
              </a:ext>
            </a:extLst>
          </p:cNvPr>
          <p:cNvPicPr>
            <a:picLocks noChangeAspect="1"/>
          </p:cNvPicPr>
          <p:nvPr/>
        </p:nvPicPr>
        <p:blipFill>
          <a:blip r:embed="rId2"/>
          <a:stretch>
            <a:fillRect/>
          </a:stretch>
        </p:blipFill>
        <p:spPr>
          <a:xfrm>
            <a:off x="422538" y="2325018"/>
            <a:ext cx="5474717" cy="2529786"/>
          </a:xfrm>
          <a:prstGeom prst="rect">
            <a:avLst/>
          </a:prstGeom>
        </p:spPr>
      </p:pic>
    </p:spTree>
    <p:extLst>
      <p:ext uri="{BB962C8B-B14F-4D97-AF65-F5344CB8AC3E}">
        <p14:creationId xmlns:p14="http://schemas.microsoft.com/office/powerpoint/2010/main" val="3768690245"/>
      </p:ext>
    </p:extLst>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D0AE722-3A17-4292-8B0C-015DEE23F973}"/>
              </a:ext>
            </a:extLst>
          </p:cNvPr>
          <p:cNvSpPr>
            <a:spLocks noGrp="1"/>
          </p:cNvSpPr>
          <p:nvPr>
            <p:ph type="title"/>
          </p:nvPr>
        </p:nvSpPr>
        <p:spPr>
          <a:xfrm>
            <a:off x="1170391" y="382297"/>
            <a:ext cx="10900146" cy="935776"/>
          </a:xfrm>
        </p:spPr>
        <p:txBody>
          <a:bodyPr>
            <a:noAutofit/>
          </a:bodyPr>
          <a:lstStyle/>
          <a:p>
            <a:pPr algn="r"/>
            <a:r>
              <a:rPr dirty="0" lang="fa-IR" spc="0">
                <a:cs charset="-78" panose="00000400000000000000" pitchFamily="2" typeface="B Nazanin"/>
              </a:rPr>
              <a:t>روش های کاهش تنش </a:t>
            </a:r>
            <a:r>
              <a:rPr dirty="0" err="1" lang="fa-IR" spc="0">
                <a:cs charset="-78" panose="00000400000000000000" pitchFamily="2" typeface="B Nazanin"/>
              </a:rPr>
              <a:t>برشی</a:t>
            </a:r>
            <a:r>
              <a:rPr dirty="0" lang="fa-IR" spc="0">
                <a:cs charset="-78" panose="00000400000000000000" pitchFamily="2" typeface="B Nazanin"/>
              </a:rPr>
              <a:t> در ساخت دال مسطح :</a:t>
            </a:r>
            <a:endParaRPr dirty="0" lang="en-US" spc="0">
              <a:cs charset="-78" panose="00000400000000000000" pitchFamily="2" typeface="B Nazanin"/>
            </a:endParaRPr>
          </a:p>
        </p:txBody>
      </p:sp>
      <p:sp>
        <p:nvSpPr>
          <p:cNvPr id="6" name="Slide Number Placeholder 5">
            <a:extLst>
              <a:ext uri="{FF2B5EF4-FFF2-40B4-BE49-F238E27FC236}">
                <a16:creationId xmlns:a16="http://schemas.microsoft.com/office/drawing/2014/main" id="{8A75989F-94E4-487A-845C-A4F547DDFE8D}"/>
              </a:ext>
            </a:extLst>
          </p:cNvPr>
          <p:cNvSpPr>
            <a:spLocks noGrp="1"/>
          </p:cNvSpPr>
          <p:nvPr>
            <p:ph idx="12" sz="quarter" type="sldNum"/>
          </p:nvPr>
        </p:nvSpPr>
        <p:spPr>
          <a:xfrm>
            <a:off x="10569202" y="6309360"/>
            <a:ext cx="979879" cy="457200"/>
          </a:xfrm>
        </p:spPr>
        <p:txBody>
          <a:bodyPr/>
          <a:lstStyle/>
          <a:p>
            <a:fld id="{FAEF9944-A4F6-4C59-AEBD-678D6480B8EA}" type="slidenum">
              <a:rPr lang="en-US" smtClean="0"/>
              <a:pPr/>
              <a:t>17</a:t>
            </a:fld>
            <a:endParaRPr dirty="0" lang="en-US"/>
          </a:p>
        </p:txBody>
      </p:sp>
      <p:sp>
        <p:nvSpPr>
          <p:cNvPr id="25" name="TextBox 24">
            <a:extLst>
              <a:ext uri="{FF2B5EF4-FFF2-40B4-BE49-F238E27FC236}">
                <a16:creationId xmlns:a16="http://schemas.microsoft.com/office/drawing/2014/main" id="{87322C07-EC5C-4192-9ED6-4B496278CC69}"/>
              </a:ext>
            </a:extLst>
          </p:cNvPr>
          <p:cNvSpPr txBox="1"/>
          <p:nvPr/>
        </p:nvSpPr>
        <p:spPr>
          <a:xfrm>
            <a:off x="4087454" y="2203205"/>
            <a:ext cx="8104546" cy="3016210"/>
          </a:xfrm>
          <a:prstGeom prst="rect">
            <a:avLst/>
          </a:prstGeom>
          <a:noFill/>
        </p:spPr>
        <p:txBody>
          <a:bodyPr wrap="square">
            <a:spAutoFit/>
          </a:bodyPr>
          <a:lstStyle/>
          <a:p>
            <a:pPr algn="r" lvl="1" rtl="1"/>
            <a:r>
              <a:rPr b="0" dirty="0" i="0" lang="fa-IR" sz="2200">
                <a:solidFill>
                  <a:srgbClr val="000000"/>
                </a:solidFill>
                <a:effectLst/>
                <a:latin charset="-78" panose="00000400000000000000" pitchFamily="2" typeface="B Nazanin"/>
                <a:cs charset="-78" panose="00000400000000000000" pitchFamily="2" typeface="B Nazanin"/>
              </a:rPr>
              <a:t>الف) دال عمیق و ستون بزرگ</a:t>
            </a:r>
          </a:p>
          <a:p>
            <a:pPr algn="r" lvl="1" rtl="1"/>
            <a:endParaRPr dirty="0" lang="fa-IR" sz="2200">
              <a:solidFill>
                <a:srgbClr val="000000"/>
              </a:solidFill>
              <a:latin charset="-128" panose="020B0604020202020204" pitchFamily="34" typeface="Arial Unicode MS"/>
              <a:cs charset="-78" panose="00000400000000000000" pitchFamily="2" typeface="B Nazanin"/>
            </a:endParaRPr>
          </a:p>
          <a:p>
            <a:pPr algn="r" lvl="1" rtl="1"/>
            <a:r>
              <a:rPr dirty="0" lang="fa-IR" sz="2200">
                <a:solidFill>
                  <a:srgbClr val="000000"/>
                </a:solidFill>
                <a:latin charset="-128" panose="020B0604020202020204" pitchFamily="34" typeface="Arial Unicode MS"/>
                <a:cs charset="-78" panose="00000400000000000000" pitchFamily="2" typeface="B Nazanin"/>
              </a:rPr>
              <a:t>ب)دال با سر ستون قارچی</a:t>
            </a:r>
          </a:p>
          <a:p>
            <a:pPr algn="r" lvl="1" rtl="1"/>
            <a:endParaRPr dirty="0" lang="fa-IR" sz="2200">
              <a:solidFill>
                <a:srgbClr val="000000"/>
              </a:solidFill>
              <a:latin charset="-128" panose="020B0604020202020204" pitchFamily="34" typeface="Arial Unicode MS"/>
              <a:cs charset="-78" panose="00000400000000000000" pitchFamily="2" typeface="B Nazanin"/>
            </a:endParaRPr>
          </a:p>
          <a:p>
            <a:pPr algn="r" lvl="1" rtl="1"/>
            <a:r>
              <a:rPr dirty="0" lang="fa-IR" sz="2200">
                <a:solidFill>
                  <a:srgbClr val="000000"/>
                </a:solidFill>
                <a:latin charset="-128" panose="020B0604020202020204" pitchFamily="34" typeface="Arial Unicode MS"/>
                <a:cs charset="-78" panose="00000400000000000000" pitchFamily="2" typeface="B Nazanin"/>
              </a:rPr>
              <a:t>ج)دال با پانل قطره ای و سر ستون</a:t>
            </a:r>
            <a:br>
              <a:rPr dirty="0" lang="fa-IR" sz="2200">
                <a:latin charset="-128" panose="020B0604020202020204" pitchFamily="34" typeface="Arial Unicode MS"/>
              </a:rPr>
            </a:br>
            <a:br>
              <a:rPr dirty="0" lang="fa-IR">
                <a:latin charset="-128" panose="020B0604020202020204" pitchFamily="34" typeface="Arial Unicode MS"/>
              </a:rPr>
            </a:br>
            <a:br>
              <a:rPr dirty="0" lang="fa-IR">
                <a:latin charset="-128" panose="020B0604020202020204" pitchFamily="34" typeface="Arial Unicode MS"/>
              </a:rPr>
            </a:br>
            <a:br>
              <a:rPr dirty="0" lang="fa-IR" sz="2000">
                <a:latin charset="-128" panose="020B0604020202020204" pitchFamily="34" typeface="Arial Unicode MS"/>
              </a:rPr>
            </a:br>
            <a:endParaRPr dirty="0" lang="en-US" sz="2000">
              <a:latin charset="-128" panose="020B0604020202020204" pitchFamily="34" typeface="Arial Unicode MS"/>
              <a:cs charset="-78" panose="00000400000000000000" pitchFamily="2" typeface="B Nazanin"/>
            </a:endParaRPr>
          </a:p>
        </p:txBody>
      </p:sp>
      <p:pic>
        <p:nvPicPr>
          <p:cNvPr id="3" name="Picture 2">
            <a:extLst>
              <a:ext uri="{FF2B5EF4-FFF2-40B4-BE49-F238E27FC236}">
                <a16:creationId xmlns:a16="http://schemas.microsoft.com/office/drawing/2014/main" id="{D5FFBEE7-163C-4AD0-A7F8-B55D3A9D30CB}"/>
              </a:ext>
            </a:extLst>
          </p:cNvPr>
          <p:cNvPicPr>
            <a:picLocks noChangeAspect="1"/>
          </p:cNvPicPr>
          <p:nvPr/>
        </p:nvPicPr>
        <p:blipFill rotWithShape="1">
          <a:blip r:embed="rId2"/>
          <a:srcRect b="211"/>
          <a:stretch/>
        </p:blipFill>
        <p:spPr>
          <a:xfrm>
            <a:off x="504780" y="2065494"/>
            <a:ext cx="6750568" cy="2406500"/>
          </a:xfrm>
          <a:prstGeom prst="rect">
            <a:avLst/>
          </a:prstGeom>
        </p:spPr>
      </p:pic>
    </p:spTree>
    <p:extLst>
      <p:ext uri="{BB962C8B-B14F-4D97-AF65-F5344CB8AC3E}">
        <p14:creationId xmlns:p14="http://schemas.microsoft.com/office/powerpoint/2010/main" val="27212288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D0AE722-3A17-4292-8B0C-015DEE23F973}"/>
              </a:ext>
            </a:extLst>
          </p:cNvPr>
          <p:cNvSpPr>
            <a:spLocks noGrp="1"/>
          </p:cNvSpPr>
          <p:nvPr>
            <p:ph type="title"/>
          </p:nvPr>
        </p:nvSpPr>
        <p:spPr>
          <a:xfrm>
            <a:off x="1170391" y="382297"/>
            <a:ext cx="10900146" cy="935776"/>
          </a:xfrm>
        </p:spPr>
        <p:txBody>
          <a:bodyPr>
            <a:noAutofit/>
          </a:bodyPr>
          <a:lstStyle/>
          <a:p>
            <a:pPr algn="r"/>
            <a:r>
              <a:rPr lang="fa-IR" spc="0" dirty="0">
                <a:cs typeface="B Nazanin" panose="00000400000000000000" pitchFamily="2" charset="-78"/>
              </a:rPr>
              <a:t>راه حل های جدید برای مقابله با برش سوراخ کننده:</a:t>
            </a:r>
          </a:p>
        </p:txBody>
      </p:sp>
      <p:sp>
        <p:nvSpPr>
          <p:cNvPr id="6" name="Slide Number Placeholder 5">
            <a:extLst>
              <a:ext uri="{FF2B5EF4-FFF2-40B4-BE49-F238E27FC236}">
                <a16:creationId xmlns:a16="http://schemas.microsoft.com/office/drawing/2014/main" id="{8A75989F-94E4-487A-845C-A4F547DDFE8D}"/>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pPr/>
              <a:t>18</a:t>
            </a:fld>
            <a:endParaRPr lang="en-US" dirty="0"/>
          </a:p>
        </p:txBody>
      </p:sp>
      <p:sp>
        <p:nvSpPr>
          <p:cNvPr id="25" name="TextBox 24">
            <a:extLst>
              <a:ext uri="{FF2B5EF4-FFF2-40B4-BE49-F238E27FC236}">
                <a16:creationId xmlns:a16="http://schemas.microsoft.com/office/drawing/2014/main" id="{87322C07-EC5C-4192-9ED6-4B496278CC69}"/>
              </a:ext>
            </a:extLst>
          </p:cNvPr>
          <p:cNvSpPr txBox="1"/>
          <p:nvPr/>
        </p:nvSpPr>
        <p:spPr>
          <a:xfrm>
            <a:off x="3889491" y="1725740"/>
            <a:ext cx="8104546" cy="3631763"/>
          </a:xfrm>
          <a:prstGeom prst="rect">
            <a:avLst/>
          </a:prstGeom>
          <a:noFill/>
        </p:spPr>
        <p:txBody>
          <a:bodyPr wrap="square">
            <a:spAutoFit/>
          </a:bodyPr>
          <a:lstStyle/>
          <a:p>
            <a:pPr lvl="1" algn="r" rtl="1"/>
            <a:r>
              <a:rPr lang="fa-IR" sz="2200" b="0" i="0" dirty="0">
                <a:solidFill>
                  <a:srgbClr val="000000"/>
                </a:solidFill>
                <a:effectLst/>
                <a:latin typeface="B Nazanin" panose="00000400000000000000" pitchFamily="2" charset="-78"/>
                <a:cs typeface="B Nazanin" panose="00000400000000000000" pitchFamily="2" charset="-78"/>
              </a:rPr>
              <a:t>• حلقه </a:t>
            </a:r>
            <a:r>
              <a:rPr lang="fa-IR" sz="2200" b="0" i="0" dirty="0" err="1">
                <a:solidFill>
                  <a:srgbClr val="000000"/>
                </a:solidFill>
                <a:effectLst/>
                <a:latin typeface="B Nazanin" panose="00000400000000000000" pitchFamily="2" charset="-78"/>
                <a:cs typeface="B Nazanin" panose="00000400000000000000" pitchFamily="2" charset="-78"/>
              </a:rPr>
              <a:t>برشی</a:t>
            </a:r>
            <a:endParaRPr lang="en-US" sz="2200" b="0" i="0" dirty="0">
              <a:solidFill>
                <a:srgbClr val="000000"/>
              </a:solidFill>
              <a:effectLst/>
              <a:latin typeface="B Nazanin" panose="00000400000000000000" pitchFamily="2" charset="-78"/>
              <a:cs typeface="B Nazanin" panose="00000400000000000000" pitchFamily="2" charset="-78"/>
            </a:endParaRPr>
          </a:p>
          <a:p>
            <a:pPr lvl="1" algn="r" rtl="1"/>
            <a:endParaRPr lang="en-US" sz="2200" dirty="0">
              <a:solidFill>
                <a:srgbClr val="000000"/>
              </a:solidFill>
              <a:latin typeface="B Nazanin" panose="00000400000000000000" pitchFamily="2" charset="-78"/>
              <a:cs typeface="B Nazanin" panose="00000400000000000000" pitchFamily="2" charset="-78"/>
            </a:endParaRPr>
          </a:p>
          <a:p>
            <a:pPr lvl="1" algn="r" rtl="1"/>
            <a:r>
              <a:rPr lang="fa-IR" sz="2200" b="0" i="0" dirty="0">
                <a:solidFill>
                  <a:srgbClr val="000000"/>
                </a:solidFill>
                <a:effectLst/>
                <a:latin typeface="B Nazanin" panose="00000400000000000000" pitchFamily="2" charset="-78"/>
                <a:cs typeface="B Nazanin" panose="00000400000000000000" pitchFamily="2" charset="-78"/>
              </a:rPr>
              <a:t>• </a:t>
            </a:r>
            <a:r>
              <a:rPr lang="fa-IR" sz="2200" b="0" i="0" dirty="0" err="1">
                <a:solidFill>
                  <a:srgbClr val="000000"/>
                </a:solidFill>
                <a:effectLst/>
                <a:latin typeface="B Nazanin" panose="00000400000000000000" pitchFamily="2" charset="-78"/>
                <a:cs typeface="B Nazanin" panose="00000400000000000000" pitchFamily="2" charset="-78"/>
              </a:rPr>
              <a:t>خاموت</a:t>
            </a:r>
            <a:r>
              <a:rPr lang="fa-IR" sz="2200" b="0" i="0" dirty="0">
                <a:solidFill>
                  <a:srgbClr val="000000"/>
                </a:solidFill>
                <a:effectLst/>
                <a:latin typeface="B Nazanin" panose="00000400000000000000" pitchFamily="2" charset="-78"/>
                <a:cs typeface="B Nazanin" panose="00000400000000000000" pitchFamily="2" charset="-78"/>
              </a:rPr>
              <a:t> </a:t>
            </a:r>
            <a:r>
              <a:rPr lang="fa-IR" sz="2200" b="0" i="0" dirty="0" err="1">
                <a:solidFill>
                  <a:srgbClr val="000000"/>
                </a:solidFill>
                <a:effectLst/>
                <a:latin typeface="B Nazanin" panose="00000400000000000000" pitchFamily="2" charset="-78"/>
                <a:cs typeface="B Nazanin" panose="00000400000000000000" pitchFamily="2" charset="-78"/>
              </a:rPr>
              <a:t>برشی</a:t>
            </a:r>
            <a:endParaRPr lang="en-US" sz="2200" b="0" i="0" dirty="0">
              <a:solidFill>
                <a:srgbClr val="000000"/>
              </a:solidFill>
              <a:effectLst/>
              <a:latin typeface="B Nazanin" panose="00000400000000000000" pitchFamily="2" charset="-78"/>
              <a:cs typeface="B Nazanin" panose="00000400000000000000" pitchFamily="2" charset="-78"/>
            </a:endParaRPr>
          </a:p>
          <a:p>
            <a:pPr lvl="1" algn="r" rtl="1"/>
            <a:endParaRPr lang="fa-IR" sz="2200" b="0" i="0" dirty="0">
              <a:solidFill>
                <a:srgbClr val="000000"/>
              </a:solidFill>
              <a:effectLst/>
              <a:latin typeface="B Nazanin" panose="00000400000000000000" pitchFamily="2" charset="-78"/>
              <a:cs typeface="B Nazanin" panose="00000400000000000000" pitchFamily="2" charset="-78"/>
            </a:endParaRPr>
          </a:p>
          <a:p>
            <a:pPr lvl="1" algn="r" rtl="1"/>
            <a:r>
              <a:rPr lang="fa-IR" sz="2200" b="0" i="0" dirty="0">
                <a:solidFill>
                  <a:srgbClr val="000000"/>
                </a:solidFill>
                <a:effectLst/>
                <a:latin typeface="B Nazanin" panose="00000400000000000000" pitchFamily="2" charset="-78"/>
                <a:cs typeface="B Nazanin" panose="00000400000000000000" pitchFamily="2" charset="-78"/>
              </a:rPr>
              <a:t>• نردبان های </a:t>
            </a:r>
            <a:r>
              <a:rPr lang="fa-IR" sz="2200" b="0" i="0" dirty="0" err="1">
                <a:solidFill>
                  <a:srgbClr val="000000"/>
                </a:solidFill>
                <a:effectLst/>
                <a:latin typeface="B Nazanin" panose="00000400000000000000" pitchFamily="2" charset="-78"/>
                <a:cs typeface="B Nazanin" panose="00000400000000000000" pitchFamily="2" charset="-78"/>
              </a:rPr>
              <a:t>برشی</a:t>
            </a:r>
            <a:endParaRPr lang="en-US" sz="2200" b="0" i="0" dirty="0">
              <a:solidFill>
                <a:srgbClr val="000000"/>
              </a:solidFill>
              <a:effectLst/>
              <a:latin typeface="B Nazanin" panose="00000400000000000000" pitchFamily="2" charset="-78"/>
              <a:cs typeface="B Nazanin" panose="00000400000000000000" pitchFamily="2" charset="-78"/>
            </a:endParaRPr>
          </a:p>
          <a:p>
            <a:pPr lvl="1" algn="r" rtl="1"/>
            <a:endParaRPr lang="fa-IR" sz="2200" b="0" i="0" dirty="0">
              <a:solidFill>
                <a:srgbClr val="000000"/>
              </a:solidFill>
              <a:effectLst/>
              <a:latin typeface="B Nazanin" panose="00000400000000000000" pitchFamily="2" charset="-78"/>
              <a:cs typeface="B Nazanin" panose="00000400000000000000" pitchFamily="2" charset="-78"/>
            </a:endParaRPr>
          </a:p>
          <a:p>
            <a:pPr lvl="1" algn="r" rtl="1"/>
            <a:r>
              <a:rPr lang="fa-IR" sz="2200" b="0" i="0" dirty="0">
                <a:solidFill>
                  <a:srgbClr val="000000"/>
                </a:solidFill>
                <a:effectLst/>
                <a:latin typeface="B Nazanin" panose="00000400000000000000" pitchFamily="2" charset="-78"/>
                <a:cs typeface="B Nazanin" panose="00000400000000000000" pitchFamily="2" charset="-78"/>
              </a:rPr>
              <a:t>• گل میخ</a:t>
            </a:r>
            <a:r>
              <a:rPr lang="en-US" sz="2200" b="0" i="0" dirty="0">
                <a:solidFill>
                  <a:srgbClr val="000000"/>
                </a:solidFill>
                <a:effectLst/>
                <a:latin typeface="B Nazanin" panose="00000400000000000000" pitchFamily="2" charset="-78"/>
                <a:cs typeface="B Nazanin" panose="00000400000000000000" pitchFamily="2" charset="-78"/>
              </a:rPr>
              <a:t> )</a:t>
            </a:r>
            <a:r>
              <a:rPr lang="fa-IR" sz="2200" b="0" i="0" dirty="0">
                <a:solidFill>
                  <a:srgbClr val="000000"/>
                </a:solidFill>
                <a:effectLst/>
                <a:latin typeface="B Nazanin" panose="00000400000000000000" pitchFamily="2" charset="-78"/>
                <a:cs typeface="B Nazanin" panose="00000400000000000000" pitchFamily="2" charset="-78"/>
              </a:rPr>
              <a:t>ریل های </a:t>
            </a:r>
            <a:r>
              <a:rPr lang="fa-IR" sz="2200" b="0" i="0" dirty="0" err="1">
                <a:solidFill>
                  <a:srgbClr val="000000"/>
                </a:solidFill>
                <a:effectLst/>
                <a:latin typeface="B Nazanin" panose="00000400000000000000" pitchFamily="2" charset="-78"/>
                <a:cs typeface="B Nazanin" panose="00000400000000000000" pitchFamily="2" charset="-78"/>
              </a:rPr>
              <a:t>ستونکی</a:t>
            </a:r>
            <a:r>
              <a:rPr lang="fa-IR" sz="2200" b="0" i="0" dirty="0">
                <a:solidFill>
                  <a:srgbClr val="000000"/>
                </a:solidFill>
                <a:effectLst/>
                <a:latin typeface="B Nazanin" panose="00000400000000000000" pitchFamily="2" charset="-78"/>
                <a:cs typeface="B Nazanin" panose="00000400000000000000" pitchFamily="2" charset="-78"/>
              </a:rPr>
              <a:t> ) </a:t>
            </a:r>
            <a:br>
              <a:rPr lang="fa-IR" sz="2200" dirty="0">
                <a:latin typeface="Arial Unicode MS" panose="020B0604020202020204" pitchFamily="34" charset="-128"/>
              </a:rPr>
            </a:br>
            <a:br>
              <a:rPr lang="fa-IR" dirty="0">
                <a:latin typeface="Arial Unicode MS" panose="020B0604020202020204" pitchFamily="34" charset="-128"/>
              </a:rPr>
            </a:br>
            <a:br>
              <a:rPr lang="fa-IR" dirty="0">
                <a:latin typeface="Arial Unicode MS" panose="020B0604020202020204" pitchFamily="34" charset="-128"/>
              </a:rPr>
            </a:br>
            <a:br>
              <a:rPr lang="fa-IR" sz="2000" dirty="0">
                <a:latin typeface="Arial Unicode MS" panose="020B0604020202020204" pitchFamily="34" charset="-128"/>
              </a:rPr>
            </a:br>
            <a:endParaRPr lang="en-US" sz="2000" dirty="0">
              <a:latin typeface="Arial Unicode MS" panose="020B0604020202020204" pitchFamily="34" charset="-128"/>
              <a:cs typeface="B Nazanin" panose="00000400000000000000" pitchFamily="2" charset="-78"/>
            </a:endParaRPr>
          </a:p>
        </p:txBody>
      </p:sp>
    </p:spTree>
    <p:extLst>
      <p:ext uri="{BB962C8B-B14F-4D97-AF65-F5344CB8AC3E}">
        <p14:creationId xmlns:p14="http://schemas.microsoft.com/office/powerpoint/2010/main" val="35073482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D0AE722-3A17-4292-8B0C-015DEE23F973}"/>
              </a:ext>
            </a:extLst>
          </p:cNvPr>
          <p:cNvSpPr>
            <a:spLocks noGrp="1"/>
          </p:cNvSpPr>
          <p:nvPr>
            <p:ph type="title"/>
          </p:nvPr>
        </p:nvSpPr>
        <p:spPr>
          <a:xfrm>
            <a:off x="1170391" y="382297"/>
            <a:ext cx="10900146" cy="935776"/>
          </a:xfrm>
        </p:spPr>
        <p:txBody>
          <a:bodyPr>
            <a:noAutofit/>
          </a:bodyPr>
          <a:lstStyle/>
          <a:p>
            <a:pPr algn="r"/>
            <a:r>
              <a:rPr lang="fa-IR" spc="0" dirty="0">
                <a:cs typeface="B Nazanin" panose="00000400000000000000" pitchFamily="2" charset="-78"/>
              </a:rPr>
              <a:t>راه حل های جدید برای مقابله با برش سوراخ کننده:</a:t>
            </a:r>
          </a:p>
        </p:txBody>
      </p:sp>
      <p:sp>
        <p:nvSpPr>
          <p:cNvPr id="6" name="Slide Number Placeholder 5">
            <a:extLst>
              <a:ext uri="{FF2B5EF4-FFF2-40B4-BE49-F238E27FC236}">
                <a16:creationId xmlns:a16="http://schemas.microsoft.com/office/drawing/2014/main" id="{8A75989F-94E4-487A-845C-A4F547DDFE8D}"/>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pPr/>
              <a:t>19</a:t>
            </a:fld>
            <a:endParaRPr lang="en-US" dirty="0"/>
          </a:p>
        </p:txBody>
      </p:sp>
      <p:sp>
        <p:nvSpPr>
          <p:cNvPr id="25" name="TextBox 24">
            <a:extLst>
              <a:ext uri="{FF2B5EF4-FFF2-40B4-BE49-F238E27FC236}">
                <a16:creationId xmlns:a16="http://schemas.microsoft.com/office/drawing/2014/main" id="{87322C07-EC5C-4192-9ED6-4B496278CC69}"/>
              </a:ext>
            </a:extLst>
          </p:cNvPr>
          <p:cNvSpPr txBox="1"/>
          <p:nvPr/>
        </p:nvSpPr>
        <p:spPr>
          <a:xfrm>
            <a:off x="3918858" y="4708922"/>
            <a:ext cx="8104546" cy="1600438"/>
          </a:xfrm>
          <a:prstGeom prst="rect">
            <a:avLst/>
          </a:prstGeom>
          <a:noFill/>
        </p:spPr>
        <p:txBody>
          <a:bodyPr wrap="square">
            <a:spAutoFit/>
          </a:bodyPr>
          <a:lstStyle/>
          <a:p>
            <a:pPr marL="800100" lvl="1" indent="-342900" algn="r" rtl="1">
              <a:buFont typeface="Arial" panose="020B0604020202020204" pitchFamily="34" charset="0"/>
              <a:buChar char="•"/>
            </a:pPr>
            <a:r>
              <a:rPr lang="fa-IR" sz="2200" b="0" i="0" dirty="0">
                <a:solidFill>
                  <a:srgbClr val="000000"/>
                </a:solidFill>
                <a:effectLst/>
                <a:latin typeface="B Nazanin" panose="00000400000000000000" pitchFamily="2" charset="-78"/>
                <a:cs typeface="B Nazanin" panose="00000400000000000000" pitchFamily="2" charset="-78"/>
              </a:rPr>
              <a:t>گل میخ</a:t>
            </a:r>
            <a:br>
              <a:rPr lang="fa-IR" sz="2200" dirty="0">
                <a:latin typeface="Arial Unicode MS" panose="020B0604020202020204" pitchFamily="34" charset="-128"/>
              </a:rPr>
            </a:br>
            <a:br>
              <a:rPr lang="fa-IR" dirty="0">
                <a:latin typeface="Arial Unicode MS" panose="020B0604020202020204" pitchFamily="34" charset="-128"/>
              </a:rPr>
            </a:br>
            <a:br>
              <a:rPr lang="fa-IR" dirty="0">
                <a:latin typeface="Arial Unicode MS" panose="020B0604020202020204" pitchFamily="34" charset="-128"/>
              </a:rPr>
            </a:br>
            <a:br>
              <a:rPr lang="fa-IR" sz="2000" dirty="0">
                <a:latin typeface="Arial Unicode MS" panose="020B0604020202020204" pitchFamily="34" charset="-128"/>
              </a:rPr>
            </a:br>
            <a:endParaRPr lang="en-US" sz="2000" dirty="0">
              <a:latin typeface="Arial Unicode MS" panose="020B0604020202020204" pitchFamily="34" charset="-128"/>
              <a:cs typeface="B Nazanin" panose="00000400000000000000" pitchFamily="2" charset="-78"/>
            </a:endParaRPr>
          </a:p>
        </p:txBody>
      </p:sp>
      <p:pic>
        <p:nvPicPr>
          <p:cNvPr id="2" name="Picture 1">
            <a:extLst>
              <a:ext uri="{FF2B5EF4-FFF2-40B4-BE49-F238E27FC236}">
                <a16:creationId xmlns:a16="http://schemas.microsoft.com/office/drawing/2014/main" id="{82A59499-CD51-4147-8E86-478DAEEF74AE}"/>
              </a:ext>
            </a:extLst>
          </p:cNvPr>
          <p:cNvPicPr>
            <a:picLocks noChangeAspect="1"/>
          </p:cNvPicPr>
          <p:nvPr/>
        </p:nvPicPr>
        <p:blipFill>
          <a:blip r:embed="rId2"/>
          <a:stretch>
            <a:fillRect/>
          </a:stretch>
        </p:blipFill>
        <p:spPr>
          <a:xfrm>
            <a:off x="4477732" y="1627710"/>
            <a:ext cx="5018982" cy="2003572"/>
          </a:xfrm>
          <a:prstGeom prst="rect">
            <a:avLst/>
          </a:prstGeom>
        </p:spPr>
      </p:pic>
      <p:pic>
        <p:nvPicPr>
          <p:cNvPr id="3" name="Picture 2">
            <a:extLst>
              <a:ext uri="{FF2B5EF4-FFF2-40B4-BE49-F238E27FC236}">
                <a16:creationId xmlns:a16="http://schemas.microsoft.com/office/drawing/2014/main" id="{85860223-0EF1-4CCA-8BAF-0C21D0EB8097}"/>
              </a:ext>
            </a:extLst>
          </p:cNvPr>
          <p:cNvPicPr>
            <a:picLocks noChangeAspect="1"/>
          </p:cNvPicPr>
          <p:nvPr/>
        </p:nvPicPr>
        <p:blipFill>
          <a:blip r:embed="rId3"/>
          <a:stretch>
            <a:fillRect/>
          </a:stretch>
        </p:blipFill>
        <p:spPr>
          <a:xfrm>
            <a:off x="247550" y="1781666"/>
            <a:ext cx="4086569" cy="1861013"/>
          </a:xfrm>
          <a:prstGeom prst="rect">
            <a:avLst/>
          </a:prstGeom>
        </p:spPr>
      </p:pic>
      <p:sp>
        <p:nvSpPr>
          <p:cNvPr id="4" name="TextBox 3">
            <a:extLst>
              <a:ext uri="{FF2B5EF4-FFF2-40B4-BE49-F238E27FC236}">
                <a16:creationId xmlns:a16="http://schemas.microsoft.com/office/drawing/2014/main" id="{B1360A58-781C-4D3A-B56E-512027929C8F}"/>
              </a:ext>
            </a:extLst>
          </p:cNvPr>
          <p:cNvSpPr txBox="1"/>
          <p:nvPr/>
        </p:nvSpPr>
        <p:spPr>
          <a:xfrm>
            <a:off x="6620464" y="3705126"/>
            <a:ext cx="2884602" cy="430887"/>
          </a:xfrm>
          <a:prstGeom prst="rect">
            <a:avLst/>
          </a:prstGeom>
          <a:noFill/>
        </p:spPr>
        <p:txBody>
          <a:bodyPr wrap="square" rtlCol="0">
            <a:spAutoFit/>
          </a:bodyPr>
          <a:lstStyle/>
          <a:p>
            <a:pPr marL="342900" indent="-342900" algn="r" rtl="1">
              <a:buFont typeface="Arial" panose="020B0604020202020204" pitchFamily="34" charset="0"/>
              <a:buChar char="•"/>
            </a:pPr>
            <a:r>
              <a:rPr lang="fa-IR" sz="2200" dirty="0">
                <a:latin typeface="Arial Unicode MS" panose="020B0604020202020204" pitchFamily="34" charset="-128"/>
                <a:cs typeface="B Nazanin" panose="00000400000000000000" pitchFamily="2" charset="-78"/>
              </a:rPr>
              <a:t>حلقه </a:t>
            </a:r>
            <a:r>
              <a:rPr lang="fa-IR" sz="2200" dirty="0" err="1">
                <a:latin typeface="Arial Unicode MS" panose="020B0604020202020204" pitchFamily="34" charset="-128"/>
                <a:cs typeface="B Nazanin" panose="00000400000000000000" pitchFamily="2" charset="-78"/>
              </a:rPr>
              <a:t>برشی</a:t>
            </a:r>
            <a:r>
              <a:rPr lang="fa-IR" sz="2200" dirty="0">
                <a:latin typeface="Arial Unicode MS" panose="020B0604020202020204" pitchFamily="34" charset="-128"/>
                <a:cs typeface="B Nazanin" panose="00000400000000000000" pitchFamily="2" charset="-78"/>
              </a:rPr>
              <a:t>    </a:t>
            </a:r>
            <a:endParaRPr lang="en-US" sz="2200" dirty="0">
              <a:latin typeface="Arial Unicode MS" panose="020B0604020202020204" pitchFamily="34" charset="-128"/>
              <a:cs typeface="B Nazanin" panose="00000400000000000000" pitchFamily="2" charset="-78"/>
            </a:endParaRPr>
          </a:p>
        </p:txBody>
      </p:sp>
      <p:sp>
        <p:nvSpPr>
          <p:cNvPr id="5" name="TextBox 4">
            <a:extLst>
              <a:ext uri="{FF2B5EF4-FFF2-40B4-BE49-F238E27FC236}">
                <a16:creationId xmlns:a16="http://schemas.microsoft.com/office/drawing/2014/main" id="{C68B6856-B49C-496E-8107-F1F4EE14EFA9}"/>
              </a:ext>
            </a:extLst>
          </p:cNvPr>
          <p:cNvSpPr txBox="1"/>
          <p:nvPr/>
        </p:nvSpPr>
        <p:spPr>
          <a:xfrm>
            <a:off x="1661420" y="3663159"/>
            <a:ext cx="2672699" cy="430887"/>
          </a:xfrm>
          <a:prstGeom prst="rect">
            <a:avLst/>
          </a:prstGeom>
          <a:noFill/>
        </p:spPr>
        <p:txBody>
          <a:bodyPr wrap="square" rtlCol="0">
            <a:spAutoFit/>
          </a:bodyPr>
          <a:lstStyle/>
          <a:p>
            <a:pPr marL="342900" indent="-342900" algn="r" rtl="1">
              <a:buFont typeface="Arial" panose="020B0604020202020204" pitchFamily="34" charset="0"/>
              <a:buChar char="•"/>
            </a:pPr>
            <a:r>
              <a:rPr lang="fa-IR" sz="2200" dirty="0">
                <a:latin typeface="Arial Unicode MS" panose="020B0604020202020204" pitchFamily="34" charset="-128"/>
                <a:cs typeface="B Nazanin" panose="00000400000000000000" pitchFamily="2" charset="-78"/>
              </a:rPr>
              <a:t>نردبان های </a:t>
            </a:r>
            <a:r>
              <a:rPr lang="fa-IR" sz="2200" dirty="0" err="1">
                <a:latin typeface="Arial Unicode MS" panose="020B0604020202020204" pitchFamily="34" charset="-128"/>
                <a:cs typeface="B Nazanin" panose="00000400000000000000" pitchFamily="2" charset="-78"/>
              </a:rPr>
              <a:t>برشی</a:t>
            </a:r>
            <a:endParaRPr lang="en-US" sz="2200" dirty="0">
              <a:latin typeface="Arial Unicode MS" panose="020B0604020202020204" pitchFamily="34" charset="-128"/>
              <a:cs typeface="B Nazanin" panose="00000400000000000000" pitchFamily="2" charset="-78"/>
            </a:endParaRPr>
          </a:p>
        </p:txBody>
      </p:sp>
      <p:pic>
        <p:nvPicPr>
          <p:cNvPr id="7" name="Picture 6">
            <a:extLst>
              <a:ext uri="{FF2B5EF4-FFF2-40B4-BE49-F238E27FC236}">
                <a16:creationId xmlns:a16="http://schemas.microsoft.com/office/drawing/2014/main" id="{6BFC52F2-A531-4338-BE62-86DB46F69487}"/>
              </a:ext>
            </a:extLst>
          </p:cNvPr>
          <p:cNvPicPr>
            <a:picLocks noChangeAspect="1"/>
          </p:cNvPicPr>
          <p:nvPr/>
        </p:nvPicPr>
        <p:blipFill>
          <a:blip r:embed="rId4"/>
          <a:stretch>
            <a:fillRect/>
          </a:stretch>
        </p:blipFill>
        <p:spPr>
          <a:xfrm>
            <a:off x="9759961" y="1665259"/>
            <a:ext cx="1969179" cy="3036071"/>
          </a:xfrm>
          <a:prstGeom prst="rect">
            <a:avLst/>
          </a:prstGeom>
        </p:spPr>
      </p:pic>
      <p:pic>
        <p:nvPicPr>
          <p:cNvPr id="9" name="Picture 8">
            <a:extLst>
              <a:ext uri="{FF2B5EF4-FFF2-40B4-BE49-F238E27FC236}">
                <a16:creationId xmlns:a16="http://schemas.microsoft.com/office/drawing/2014/main" id="{BC614A5A-A092-43D4-8DCB-F0A8CFF1875A}"/>
              </a:ext>
            </a:extLst>
          </p:cNvPr>
          <p:cNvPicPr>
            <a:picLocks noChangeAspect="1"/>
          </p:cNvPicPr>
          <p:nvPr/>
        </p:nvPicPr>
        <p:blipFill>
          <a:blip r:embed="rId5"/>
          <a:stretch>
            <a:fillRect/>
          </a:stretch>
        </p:blipFill>
        <p:spPr>
          <a:xfrm>
            <a:off x="422277" y="3799678"/>
            <a:ext cx="1889924" cy="1803304"/>
          </a:xfrm>
          <a:prstGeom prst="rect">
            <a:avLst/>
          </a:prstGeom>
        </p:spPr>
      </p:pic>
      <p:pic>
        <p:nvPicPr>
          <p:cNvPr id="11" name="Picture 10">
            <a:extLst>
              <a:ext uri="{FF2B5EF4-FFF2-40B4-BE49-F238E27FC236}">
                <a16:creationId xmlns:a16="http://schemas.microsoft.com/office/drawing/2014/main" id="{3F472065-5C38-4B12-8EF3-628A3007A5F6}"/>
              </a:ext>
            </a:extLst>
          </p:cNvPr>
          <p:cNvPicPr>
            <a:picLocks noChangeAspect="1"/>
          </p:cNvPicPr>
          <p:nvPr/>
        </p:nvPicPr>
        <p:blipFill>
          <a:blip r:embed="rId6"/>
          <a:stretch>
            <a:fillRect/>
          </a:stretch>
        </p:blipFill>
        <p:spPr>
          <a:xfrm>
            <a:off x="2908412" y="4228430"/>
            <a:ext cx="6011177" cy="1298561"/>
          </a:xfrm>
          <a:prstGeom prst="rect">
            <a:avLst/>
          </a:prstGeom>
        </p:spPr>
      </p:pic>
      <p:sp>
        <p:nvSpPr>
          <p:cNvPr id="13" name="TextBox 12">
            <a:extLst>
              <a:ext uri="{FF2B5EF4-FFF2-40B4-BE49-F238E27FC236}">
                <a16:creationId xmlns:a16="http://schemas.microsoft.com/office/drawing/2014/main" id="{6A00E170-319C-46BF-AA46-8CEB348B54BD}"/>
              </a:ext>
            </a:extLst>
          </p:cNvPr>
          <p:cNvSpPr txBox="1"/>
          <p:nvPr/>
        </p:nvSpPr>
        <p:spPr>
          <a:xfrm>
            <a:off x="315566" y="5710376"/>
            <a:ext cx="1975268" cy="430887"/>
          </a:xfrm>
          <a:prstGeom prst="rect">
            <a:avLst/>
          </a:prstGeom>
          <a:noFill/>
        </p:spPr>
        <p:txBody>
          <a:bodyPr wrap="square" rtlCol="0">
            <a:spAutoFit/>
          </a:bodyPr>
          <a:lstStyle/>
          <a:p>
            <a:pPr marL="342900" indent="-342900" algn="r" rtl="1">
              <a:buFont typeface="Arial" panose="020B0604020202020204" pitchFamily="34" charset="0"/>
              <a:buChar char="•"/>
            </a:pPr>
            <a:r>
              <a:rPr lang="fa-IR" sz="2200" dirty="0" err="1">
                <a:latin typeface="Arial Unicode MS" panose="020B0604020202020204" pitchFamily="34" charset="-128"/>
                <a:cs typeface="B Nazanin" panose="00000400000000000000" pitchFamily="2" charset="-78"/>
              </a:rPr>
              <a:t>خاموت</a:t>
            </a:r>
            <a:r>
              <a:rPr lang="fa-IR" sz="2000" dirty="0">
                <a:latin typeface="Arial Unicode MS" panose="020B0604020202020204" pitchFamily="34" charset="-128"/>
                <a:cs typeface="B Nazanin" panose="00000400000000000000" pitchFamily="2" charset="-78"/>
              </a:rPr>
              <a:t> </a:t>
            </a:r>
            <a:r>
              <a:rPr lang="fa-IR" sz="2000" dirty="0" err="1">
                <a:latin typeface="Arial Unicode MS" panose="020B0604020202020204" pitchFamily="34" charset="-128"/>
                <a:cs typeface="B Nazanin" panose="00000400000000000000" pitchFamily="2" charset="-78"/>
              </a:rPr>
              <a:t>برشی</a:t>
            </a:r>
            <a:endParaRPr lang="en-US" sz="2000" dirty="0">
              <a:latin typeface="Arial Unicode MS" panose="020B0604020202020204" pitchFamily="34" charset="-128"/>
              <a:cs typeface="B Nazanin" panose="00000400000000000000" pitchFamily="2" charset="-78"/>
            </a:endParaRPr>
          </a:p>
        </p:txBody>
      </p:sp>
      <p:sp>
        <p:nvSpPr>
          <p:cNvPr id="23" name="TextBox 22">
            <a:extLst>
              <a:ext uri="{FF2B5EF4-FFF2-40B4-BE49-F238E27FC236}">
                <a16:creationId xmlns:a16="http://schemas.microsoft.com/office/drawing/2014/main" id="{C88ADD91-37B1-41F2-80A3-32C3274C27AC}"/>
              </a:ext>
            </a:extLst>
          </p:cNvPr>
          <p:cNvSpPr txBox="1"/>
          <p:nvPr/>
        </p:nvSpPr>
        <p:spPr>
          <a:xfrm>
            <a:off x="2908412" y="5616995"/>
            <a:ext cx="6117996" cy="1107996"/>
          </a:xfrm>
          <a:prstGeom prst="rect">
            <a:avLst/>
          </a:prstGeom>
          <a:noFill/>
        </p:spPr>
        <p:txBody>
          <a:bodyPr wrap="square">
            <a:spAutoFit/>
          </a:bodyPr>
          <a:lstStyle/>
          <a:p>
            <a:pPr marL="342900" indent="-342900" algn="r" rtl="1">
              <a:buFont typeface="Arial" panose="020B0604020202020204" pitchFamily="34" charset="0"/>
              <a:buChar char="•"/>
            </a:pPr>
            <a:r>
              <a:rPr lang="fa-IR" sz="2200" b="0" i="0" dirty="0">
                <a:solidFill>
                  <a:srgbClr val="000000"/>
                </a:solidFill>
                <a:effectLst/>
                <a:latin typeface="B Nazanin" panose="00000400000000000000" pitchFamily="2" charset="-78"/>
                <a:cs typeface="B Nazanin" panose="00000400000000000000" pitchFamily="2" charset="-78"/>
              </a:rPr>
              <a:t>گل میخ</a:t>
            </a:r>
            <a:r>
              <a:rPr lang="en-US" sz="2200" b="0" i="0" dirty="0">
                <a:solidFill>
                  <a:srgbClr val="000000"/>
                </a:solidFill>
                <a:effectLst/>
                <a:latin typeface="B Nazanin" panose="00000400000000000000" pitchFamily="2" charset="-78"/>
                <a:cs typeface="B Nazanin" panose="00000400000000000000" pitchFamily="2" charset="-78"/>
              </a:rPr>
              <a:t> )</a:t>
            </a:r>
            <a:r>
              <a:rPr lang="fa-IR" sz="2200" b="0" i="0" dirty="0">
                <a:solidFill>
                  <a:srgbClr val="000000"/>
                </a:solidFill>
                <a:effectLst/>
                <a:latin typeface="B Nazanin" panose="00000400000000000000" pitchFamily="2" charset="-78"/>
                <a:cs typeface="B Nazanin" panose="00000400000000000000" pitchFamily="2" charset="-78"/>
              </a:rPr>
              <a:t>ریل های </a:t>
            </a:r>
            <a:r>
              <a:rPr lang="fa-IR" sz="2200" b="0" i="0" dirty="0" err="1">
                <a:solidFill>
                  <a:srgbClr val="000000"/>
                </a:solidFill>
                <a:effectLst/>
                <a:latin typeface="B Nazanin" panose="00000400000000000000" pitchFamily="2" charset="-78"/>
                <a:cs typeface="B Nazanin" panose="00000400000000000000" pitchFamily="2" charset="-78"/>
              </a:rPr>
              <a:t>ستونکی</a:t>
            </a:r>
            <a:r>
              <a:rPr lang="fa-IR" sz="2200" b="0" i="0" dirty="0">
                <a:solidFill>
                  <a:srgbClr val="000000"/>
                </a:solidFill>
                <a:effectLst/>
                <a:latin typeface="B Nazanin" panose="00000400000000000000" pitchFamily="2" charset="-78"/>
                <a:cs typeface="B Nazanin" panose="00000400000000000000" pitchFamily="2" charset="-78"/>
              </a:rPr>
              <a:t> ) </a:t>
            </a:r>
            <a:br>
              <a:rPr lang="fa-IR" sz="2200" dirty="0">
                <a:latin typeface="Arial Unicode MS" panose="020B0604020202020204" pitchFamily="34" charset="-128"/>
                <a:cs typeface="B Nazanin" panose="00000400000000000000" pitchFamily="2" charset="-78"/>
              </a:rPr>
            </a:br>
            <a:br>
              <a:rPr lang="fa-IR" sz="2200" dirty="0">
                <a:latin typeface="Arial Unicode MS" panose="020B0604020202020204" pitchFamily="34" charset="-128"/>
                <a:cs typeface="B Nazanin" panose="00000400000000000000" pitchFamily="2" charset="-78"/>
              </a:rPr>
            </a:br>
            <a:endParaRPr lang="en-US" sz="2200" dirty="0">
              <a:latin typeface="Arial Unicode MS" panose="020B0604020202020204" pitchFamily="34" charset="-128"/>
              <a:cs typeface="B Nazanin" panose="00000400000000000000" pitchFamily="2" charset="-78"/>
            </a:endParaRPr>
          </a:p>
        </p:txBody>
      </p:sp>
      <p:pic>
        <p:nvPicPr>
          <p:cNvPr id="22" name="Picture 21">
            <a:extLst>
              <a:ext uri="{FF2B5EF4-FFF2-40B4-BE49-F238E27FC236}">
                <a16:creationId xmlns:a16="http://schemas.microsoft.com/office/drawing/2014/main" id="{0ECA4C4B-ED10-4B67-A2A4-6A1897B8ACBA}"/>
              </a:ext>
            </a:extLst>
          </p:cNvPr>
          <p:cNvPicPr>
            <a:picLocks noChangeAspect="1"/>
          </p:cNvPicPr>
          <p:nvPr/>
        </p:nvPicPr>
        <p:blipFill>
          <a:blip r:embed="rId7"/>
          <a:stretch>
            <a:fillRect/>
          </a:stretch>
        </p:blipFill>
        <p:spPr>
          <a:xfrm>
            <a:off x="719210" y="3923604"/>
            <a:ext cx="1371719" cy="1603387"/>
          </a:xfrm>
          <a:prstGeom prst="rect">
            <a:avLst/>
          </a:prstGeom>
        </p:spPr>
      </p:pic>
    </p:spTree>
    <p:extLst>
      <p:ext uri="{BB962C8B-B14F-4D97-AF65-F5344CB8AC3E}">
        <p14:creationId xmlns:p14="http://schemas.microsoft.com/office/powerpoint/2010/main" val="40812671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D0AE722-3A17-4292-8B0C-015DEE23F973}"/>
              </a:ext>
            </a:extLst>
          </p:cNvPr>
          <p:cNvSpPr>
            <a:spLocks noGrp="1"/>
          </p:cNvSpPr>
          <p:nvPr>
            <p:ph type="title"/>
          </p:nvPr>
        </p:nvSpPr>
        <p:spPr>
          <a:xfrm>
            <a:off x="1170391" y="382297"/>
            <a:ext cx="10900146" cy="935776"/>
          </a:xfrm>
        </p:spPr>
        <p:txBody>
          <a:bodyPr>
            <a:noAutofit/>
          </a:bodyPr>
          <a:lstStyle/>
          <a:p>
            <a:pPr algn="r"/>
            <a:r>
              <a:rPr lang="fa-IR" spc="0" dirty="0">
                <a:cs typeface="B Nazanin" panose="00000400000000000000" pitchFamily="2" charset="-78"/>
              </a:rPr>
              <a:t>دال مسطح </a:t>
            </a:r>
            <a:r>
              <a:rPr lang="fa-IR" spc="0" dirty="0" err="1">
                <a:cs typeface="B Nazanin" panose="00000400000000000000" pitchFamily="2" charset="-78"/>
              </a:rPr>
              <a:t>بتنی</a:t>
            </a:r>
            <a:r>
              <a:rPr lang="fa-IR" spc="0" dirty="0">
                <a:cs typeface="B Nazanin" panose="00000400000000000000" pitchFamily="2" charset="-78"/>
              </a:rPr>
              <a:t>(دال یکپارچه ممتد):</a:t>
            </a:r>
            <a:endParaRPr lang="en-US" spc="0" dirty="0">
              <a:cs typeface="B Nazanin" panose="00000400000000000000" pitchFamily="2" charset="-78"/>
            </a:endParaRPr>
          </a:p>
        </p:txBody>
      </p:sp>
      <p:sp>
        <p:nvSpPr>
          <p:cNvPr id="6" name="Slide Number Placeholder 5">
            <a:extLst>
              <a:ext uri="{FF2B5EF4-FFF2-40B4-BE49-F238E27FC236}">
                <a16:creationId xmlns:a16="http://schemas.microsoft.com/office/drawing/2014/main" id="{8A75989F-94E4-487A-845C-A4F547DDFE8D}"/>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pPr/>
              <a:t>20</a:t>
            </a:fld>
            <a:endParaRPr lang="en-US" dirty="0"/>
          </a:p>
        </p:txBody>
      </p:sp>
      <p:sp>
        <p:nvSpPr>
          <p:cNvPr id="25" name="TextBox 24">
            <a:extLst>
              <a:ext uri="{FF2B5EF4-FFF2-40B4-BE49-F238E27FC236}">
                <a16:creationId xmlns:a16="http://schemas.microsoft.com/office/drawing/2014/main" id="{87322C07-EC5C-4192-9ED6-4B496278CC69}"/>
              </a:ext>
            </a:extLst>
          </p:cNvPr>
          <p:cNvSpPr txBox="1"/>
          <p:nvPr/>
        </p:nvSpPr>
        <p:spPr>
          <a:xfrm>
            <a:off x="4162868" y="1508924"/>
            <a:ext cx="8104546" cy="3293209"/>
          </a:xfrm>
          <a:prstGeom prst="rect">
            <a:avLst/>
          </a:prstGeom>
          <a:noFill/>
        </p:spPr>
        <p:txBody>
          <a:bodyPr wrap="square">
            <a:spAutoFit/>
          </a:bodyPr>
          <a:lstStyle/>
          <a:p>
            <a:pPr lvl="1" algn="r" rtl="1"/>
            <a:r>
              <a:rPr lang="fa-IR" sz="2200" b="0" i="0" dirty="0">
                <a:solidFill>
                  <a:srgbClr val="000000"/>
                </a:solidFill>
                <a:effectLst/>
                <a:latin typeface="B Nazanin" panose="00000400000000000000" pitchFamily="2" charset="-78"/>
                <a:cs typeface="B Nazanin" panose="00000400000000000000" pitchFamily="2" charset="-78"/>
              </a:rPr>
              <a:t>ابعاد مناسب ستون برای جلوگیری از برش سوراخ کننده:</a:t>
            </a:r>
          </a:p>
          <a:p>
            <a:pPr lvl="1" algn="r" rtl="1"/>
            <a:endParaRPr lang="fa-IR" sz="2200" b="0" i="0" dirty="0">
              <a:solidFill>
                <a:srgbClr val="000000"/>
              </a:solidFill>
              <a:effectLst/>
              <a:latin typeface="B Nazanin" panose="00000400000000000000" pitchFamily="2" charset="-78"/>
              <a:cs typeface="B Nazanin" panose="00000400000000000000" pitchFamily="2" charset="-78"/>
            </a:endParaRPr>
          </a:p>
          <a:p>
            <a:pPr lvl="1" algn="r" rtl="1"/>
            <a:r>
              <a:rPr lang="fa-IR" sz="2200" b="0" i="0" dirty="0">
                <a:solidFill>
                  <a:srgbClr val="000000"/>
                </a:solidFill>
                <a:effectLst/>
                <a:latin typeface="B Nazanin" panose="00000400000000000000" pitchFamily="2" charset="-78"/>
                <a:cs typeface="B Nazanin" panose="00000400000000000000" pitchFamily="2" charset="-78"/>
              </a:rPr>
              <a:t>ستون </a:t>
            </a:r>
            <a:r>
              <a:rPr lang="fa-IR" sz="2200" b="0" i="0" dirty="0" err="1">
                <a:solidFill>
                  <a:srgbClr val="000000"/>
                </a:solidFill>
                <a:effectLst/>
                <a:latin typeface="B Nazanin" panose="00000400000000000000" pitchFamily="2" charset="-78"/>
                <a:cs typeface="B Nazanin" panose="00000400000000000000" pitchFamily="2" charset="-78"/>
              </a:rPr>
              <a:t>مربعی</a:t>
            </a:r>
            <a:r>
              <a:rPr lang="fa-IR" sz="2200" b="0" i="0" dirty="0">
                <a:solidFill>
                  <a:srgbClr val="000000"/>
                </a:solidFill>
                <a:effectLst/>
                <a:latin typeface="B Nazanin" panose="00000400000000000000" pitchFamily="2" charset="-78"/>
                <a:cs typeface="B Nazanin" panose="00000400000000000000" pitchFamily="2" charset="-78"/>
              </a:rPr>
              <a:t> : </a:t>
            </a:r>
            <a:r>
              <a:rPr lang="fa-IR" sz="2200" b="0" i="0" dirty="0" err="1">
                <a:solidFill>
                  <a:srgbClr val="000000"/>
                </a:solidFill>
                <a:effectLst/>
                <a:latin typeface="B Nazanin" panose="00000400000000000000" pitchFamily="2" charset="-78"/>
                <a:cs typeface="B Nazanin" panose="00000400000000000000" pitchFamily="2" charset="-78"/>
              </a:rPr>
              <a:t>اضلاع</a:t>
            </a:r>
            <a:r>
              <a:rPr lang="fa-IR" sz="2200" b="0" i="0" dirty="0">
                <a:solidFill>
                  <a:srgbClr val="000000"/>
                </a:solidFill>
                <a:effectLst/>
                <a:latin typeface="B Nazanin" panose="00000400000000000000" pitchFamily="2" charset="-78"/>
                <a:cs typeface="B Nazanin" panose="00000400000000000000" pitchFamily="2" charset="-78"/>
              </a:rPr>
              <a:t> ستون </a:t>
            </a:r>
            <a:r>
              <a:rPr lang="fa-IR" sz="2200" b="0" i="0" dirty="0" err="1">
                <a:solidFill>
                  <a:srgbClr val="000000"/>
                </a:solidFill>
                <a:effectLst/>
                <a:latin typeface="B Nazanin" panose="00000400000000000000" pitchFamily="2" charset="-78"/>
                <a:cs typeface="B Nazanin" panose="00000400000000000000" pitchFamily="2" charset="-78"/>
              </a:rPr>
              <a:t>مربعی</a:t>
            </a:r>
            <a:r>
              <a:rPr lang="fa-IR" sz="2200" b="0" i="0" dirty="0">
                <a:solidFill>
                  <a:srgbClr val="000000"/>
                </a:solidFill>
                <a:effectLst/>
                <a:latin typeface="B Nazanin" panose="00000400000000000000" pitchFamily="2" charset="-78"/>
                <a:cs typeface="B Nazanin" panose="00000400000000000000" pitchFamily="2" charset="-78"/>
              </a:rPr>
              <a:t> نباید از دو برابر ضخامت دال کمتر باشد.</a:t>
            </a:r>
          </a:p>
          <a:p>
            <a:pPr lvl="1" algn="r" rtl="1"/>
            <a:endParaRPr lang="fa-IR" sz="2200" b="0" i="0" dirty="0">
              <a:solidFill>
                <a:srgbClr val="000000"/>
              </a:solidFill>
              <a:effectLst/>
              <a:latin typeface="B Nazanin" panose="00000400000000000000" pitchFamily="2" charset="-78"/>
              <a:cs typeface="B Nazanin" panose="00000400000000000000" pitchFamily="2" charset="-78"/>
            </a:endParaRPr>
          </a:p>
          <a:p>
            <a:pPr lvl="1" algn="r" rtl="1"/>
            <a:r>
              <a:rPr lang="fa-IR" sz="2200" b="0" i="0" dirty="0">
                <a:solidFill>
                  <a:srgbClr val="000000"/>
                </a:solidFill>
                <a:effectLst/>
                <a:latin typeface="B Nazanin" panose="00000400000000000000" pitchFamily="2" charset="-78"/>
                <a:cs typeface="B Nazanin" panose="00000400000000000000" pitchFamily="2" charset="-78"/>
              </a:rPr>
              <a:t>ستون دایره ای: حداقل قطر باید 2.6برابر ضخامت دال باشد.</a:t>
            </a:r>
          </a:p>
          <a:p>
            <a:pPr lvl="1" algn="r" rtl="1"/>
            <a:br>
              <a:rPr lang="fa-IR" sz="2200" dirty="0">
                <a:latin typeface="Arial Unicode MS" panose="020B0604020202020204" pitchFamily="34" charset="-128"/>
              </a:rPr>
            </a:br>
            <a:br>
              <a:rPr lang="fa-IR" dirty="0">
                <a:latin typeface="Arial Unicode MS" panose="020B0604020202020204" pitchFamily="34" charset="-128"/>
              </a:rPr>
            </a:br>
            <a:br>
              <a:rPr lang="fa-IR" dirty="0">
                <a:latin typeface="Arial Unicode MS" panose="020B0604020202020204" pitchFamily="34" charset="-128"/>
              </a:rPr>
            </a:br>
            <a:br>
              <a:rPr lang="fa-IR" sz="2000" dirty="0">
                <a:latin typeface="Arial Unicode MS" panose="020B0604020202020204" pitchFamily="34" charset="-128"/>
              </a:rPr>
            </a:br>
            <a:endParaRPr lang="en-US" sz="2000" dirty="0">
              <a:latin typeface="Arial Unicode MS" panose="020B0604020202020204" pitchFamily="34" charset="-128"/>
              <a:cs typeface="B Nazanin" panose="00000400000000000000" pitchFamily="2" charset="-78"/>
            </a:endParaRPr>
          </a:p>
        </p:txBody>
      </p:sp>
      <p:pic>
        <p:nvPicPr>
          <p:cNvPr id="2" name="Picture 1">
            <a:extLst>
              <a:ext uri="{FF2B5EF4-FFF2-40B4-BE49-F238E27FC236}">
                <a16:creationId xmlns:a16="http://schemas.microsoft.com/office/drawing/2014/main" id="{4DBE2583-EE3D-4792-99A6-A871DAD8AB95}"/>
              </a:ext>
            </a:extLst>
          </p:cNvPr>
          <p:cNvPicPr>
            <a:picLocks noChangeAspect="1"/>
          </p:cNvPicPr>
          <p:nvPr/>
        </p:nvPicPr>
        <p:blipFill>
          <a:blip r:embed="rId2"/>
          <a:stretch>
            <a:fillRect/>
          </a:stretch>
        </p:blipFill>
        <p:spPr>
          <a:xfrm>
            <a:off x="113121" y="1508924"/>
            <a:ext cx="3346994" cy="2847079"/>
          </a:xfrm>
          <a:prstGeom prst="rect">
            <a:avLst/>
          </a:prstGeom>
        </p:spPr>
      </p:pic>
      <p:pic>
        <p:nvPicPr>
          <p:cNvPr id="4" name="Picture 3">
            <a:extLst>
              <a:ext uri="{FF2B5EF4-FFF2-40B4-BE49-F238E27FC236}">
                <a16:creationId xmlns:a16="http://schemas.microsoft.com/office/drawing/2014/main" id="{91B28ACA-DBBF-48D9-8B4D-038BEB6F8D96}"/>
              </a:ext>
            </a:extLst>
          </p:cNvPr>
          <p:cNvPicPr>
            <a:picLocks noChangeAspect="1"/>
          </p:cNvPicPr>
          <p:nvPr/>
        </p:nvPicPr>
        <p:blipFill>
          <a:blip r:embed="rId3"/>
          <a:stretch>
            <a:fillRect/>
          </a:stretch>
        </p:blipFill>
        <p:spPr>
          <a:xfrm>
            <a:off x="3384701" y="3113685"/>
            <a:ext cx="3042809" cy="2866337"/>
          </a:xfrm>
          <a:prstGeom prst="rect">
            <a:avLst/>
          </a:prstGeom>
        </p:spPr>
      </p:pic>
    </p:spTree>
    <p:extLst>
      <p:ext uri="{BB962C8B-B14F-4D97-AF65-F5344CB8AC3E}">
        <p14:creationId xmlns:p14="http://schemas.microsoft.com/office/powerpoint/2010/main" val="40787286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D0AE722-3A17-4292-8B0C-015DEE23F973}"/>
              </a:ext>
            </a:extLst>
          </p:cNvPr>
          <p:cNvSpPr>
            <a:spLocks noGrp="1"/>
          </p:cNvSpPr>
          <p:nvPr>
            <p:ph type="title"/>
          </p:nvPr>
        </p:nvSpPr>
        <p:spPr>
          <a:xfrm>
            <a:off x="1170391" y="382297"/>
            <a:ext cx="10900146" cy="935776"/>
          </a:xfrm>
        </p:spPr>
        <p:txBody>
          <a:bodyPr>
            <a:noAutofit/>
          </a:bodyPr>
          <a:lstStyle/>
          <a:p>
            <a:pPr algn="r"/>
            <a:r>
              <a:rPr lang="fa-IR" spc="0" dirty="0">
                <a:cs typeface="B Nazanin" panose="00000400000000000000" pitchFamily="2" charset="-78"/>
              </a:rPr>
              <a:t>دال مسطح </a:t>
            </a:r>
            <a:r>
              <a:rPr lang="fa-IR" spc="0" dirty="0" err="1">
                <a:cs typeface="B Nazanin" panose="00000400000000000000" pitchFamily="2" charset="-78"/>
              </a:rPr>
              <a:t>بتنی</a:t>
            </a:r>
            <a:r>
              <a:rPr lang="fa-IR" spc="0" dirty="0">
                <a:cs typeface="B Nazanin" panose="00000400000000000000" pitchFamily="2" charset="-78"/>
              </a:rPr>
              <a:t>(دال یکپارچه ممتد):</a:t>
            </a:r>
            <a:endParaRPr lang="en-US" spc="0" dirty="0">
              <a:cs typeface="B Nazanin" panose="00000400000000000000" pitchFamily="2" charset="-78"/>
            </a:endParaRPr>
          </a:p>
        </p:txBody>
      </p:sp>
      <p:sp>
        <p:nvSpPr>
          <p:cNvPr id="6" name="Slide Number Placeholder 5">
            <a:extLst>
              <a:ext uri="{FF2B5EF4-FFF2-40B4-BE49-F238E27FC236}">
                <a16:creationId xmlns:a16="http://schemas.microsoft.com/office/drawing/2014/main" id="{8A75989F-94E4-487A-845C-A4F547DDFE8D}"/>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pPr/>
              <a:t>21</a:t>
            </a:fld>
            <a:endParaRPr lang="en-US" dirty="0"/>
          </a:p>
        </p:txBody>
      </p:sp>
      <p:pic>
        <p:nvPicPr>
          <p:cNvPr id="3" name="Picture 2">
            <a:extLst>
              <a:ext uri="{FF2B5EF4-FFF2-40B4-BE49-F238E27FC236}">
                <a16:creationId xmlns:a16="http://schemas.microsoft.com/office/drawing/2014/main" id="{74D9F203-F597-464B-95EA-E2A1E4F86D12}"/>
              </a:ext>
            </a:extLst>
          </p:cNvPr>
          <p:cNvPicPr>
            <a:picLocks noChangeAspect="1"/>
          </p:cNvPicPr>
          <p:nvPr/>
        </p:nvPicPr>
        <p:blipFill>
          <a:blip r:embed="rId2"/>
          <a:stretch>
            <a:fillRect/>
          </a:stretch>
        </p:blipFill>
        <p:spPr>
          <a:xfrm>
            <a:off x="2939744" y="1397607"/>
            <a:ext cx="6633023" cy="4590686"/>
          </a:xfrm>
          <a:prstGeom prst="rect">
            <a:avLst/>
          </a:prstGeom>
        </p:spPr>
      </p:pic>
    </p:spTree>
    <p:extLst>
      <p:ext uri="{BB962C8B-B14F-4D97-AF65-F5344CB8AC3E}">
        <p14:creationId xmlns:p14="http://schemas.microsoft.com/office/powerpoint/2010/main" val="30416948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42539429-9547-4E01-8052-220253E7C93E}"/>
              </a:ext>
            </a:extLst>
          </p:cNvPr>
          <p:cNvSpPr>
            <a:spLocks noGrp="1"/>
          </p:cNvSpPr>
          <p:nvPr>
            <p:ph type="sldNum" sz="quarter" idx="12"/>
          </p:nvPr>
        </p:nvSpPr>
        <p:spPr/>
        <p:txBody>
          <a:bodyPr/>
          <a:lstStyle/>
          <a:p>
            <a:fld id="{FAEF9944-A4F6-4C59-AEBD-678D6480B8EA}" type="slidenum">
              <a:rPr lang="en-US" smtClean="0"/>
              <a:t>22</a:t>
            </a:fld>
            <a:endParaRPr lang="en-US" dirty="0"/>
          </a:p>
        </p:txBody>
      </p:sp>
      <p:sp>
        <p:nvSpPr>
          <p:cNvPr id="2" name="TextBox 1">
            <a:extLst>
              <a:ext uri="{FF2B5EF4-FFF2-40B4-BE49-F238E27FC236}">
                <a16:creationId xmlns:a16="http://schemas.microsoft.com/office/drawing/2014/main" id="{D5E5F3F9-9ECD-4D32-B672-244F77D4B27B}"/>
              </a:ext>
            </a:extLst>
          </p:cNvPr>
          <p:cNvSpPr txBox="1"/>
          <p:nvPr/>
        </p:nvSpPr>
        <p:spPr>
          <a:xfrm>
            <a:off x="2651464" y="2847768"/>
            <a:ext cx="9268287" cy="1446550"/>
          </a:xfrm>
          <a:prstGeom prst="rect">
            <a:avLst/>
          </a:prstGeom>
          <a:noFill/>
        </p:spPr>
        <p:txBody>
          <a:bodyPr wrap="square" rtlCol="0">
            <a:spAutoFit/>
          </a:bodyPr>
          <a:lstStyle/>
          <a:p>
            <a:r>
              <a:rPr lang="fa-IR" sz="8800" dirty="0">
                <a:latin typeface="Arial Unicode MS" panose="020B0604020202020204" pitchFamily="34" charset="-128"/>
                <a:cs typeface="B Nazanin" panose="00000400000000000000" pitchFamily="2" charset="-78"/>
              </a:rPr>
              <a:t>سقف ضربی</a:t>
            </a:r>
            <a:r>
              <a:rPr lang="fa-IR" sz="4000" dirty="0">
                <a:latin typeface="Arial Unicode MS" panose="020B0604020202020204" pitchFamily="34" charset="-128"/>
                <a:cs typeface="B Nazanin" panose="00000400000000000000" pitchFamily="2" charset="-78"/>
              </a:rPr>
              <a:t>(طاق ضربی):</a:t>
            </a:r>
            <a:endParaRPr lang="en-US" sz="4000" dirty="0">
              <a:latin typeface="Arial Unicode MS" panose="020B0604020202020204" pitchFamily="34" charset="-128"/>
              <a:cs typeface="B Nazanin" panose="00000400000000000000" pitchFamily="2" charset="-78"/>
            </a:endParaRPr>
          </a:p>
        </p:txBody>
      </p:sp>
    </p:spTree>
    <p:extLst>
      <p:ext uri="{BB962C8B-B14F-4D97-AF65-F5344CB8AC3E}">
        <p14:creationId xmlns:p14="http://schemas.microsoft.com/office/powerpoint/2010/main" val="33465254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D0AE722-3A17-4292-8B0C-015DEE23F973}"/>
              </a:ext>
            </a:extLst>
          </p:cNvPr>
          <p:cNvSpPr>
            <a:spLocks noGrp="1"/>
          </p:cNvSpPr>
          <p:nvPr>
            <p:ph type="title"/>
          </p:nvPr>
        </p:nvSpPr>
        <p:spPr>
          <a:xfrm>
            <a:off x="826489" y="190095"/>
            <a:ext cx="10900146" cy="935776"/>
          </a:xfrm>
        </p:spPr>
        <p:txBody>
          <a:bodyPr>
            <a:noAutofit/>
          </a:bodyPr>
          <a:lstStyle/>
          <a:p>
            <a:pPr algn="r"/>
            <a:r>
              <a:rPr lang="fa-IR" spc="0" dirty="0">
                <a:cs typeface="B Nazanin" panose="00000400000000000000" pitchFamily="2" charset="-78"/>
              </a:rPr>
              <a:t>طاق ضربی</a:t>
            </a:r>
            <a:endParaRPr lang="en-US" spc="0" dirty="0">
              <a:cs typeface="B Nazanin" panose="00000400000000000000" pitchFamily="2" charset="-78"/>
            </a:endParaRPr>
          </a:p>
        </p:txBody>
      </p:sp>
      <p:sp>
        <p:nvSpPr>
          <p:cNvPr id="6" name="Slide Number Placeholder 5">
            <a:extLst>
              <a:ext uri="{FF2B5EF4-FFF2-40B4-BE49-F238E27FC236}">
                <a16:creationId xmlns:a16="http://schemas.microsoft.com/office/drawing/2014/main" id="{8A75989F-94E4-487A-845C-A4F547DDFE8D}"/>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pPr/>
              <a:t>23</a:t>
            </a:fld>
            <a:endParaRPr lang="en-US" dirty="0"/>
          </a:p>
        </p:txBody>
      </p:sp>
      <p:sp>
        <p:nvSpPr>
          <p:cNvPr id="25" name="TextBox 24">
            <a:extLst>
              <a:ext uri="{FF2B5EF4-FFF2-40B4-BE49-F238E27FC236}">
                <a16:creationId xmlns:a16="http://schemas.microsoft.com/office/drawing/2014/main" id="{87322C07-EC5C-4192-9ED6-4B496278CC69}"/>
              </a:ext>
            </a:extLst>
          </p:cNvPr>
          <p:cNvSpPr txBox="1"/>
          <p:nvPr/>
        </p:nvSpPr>
        <p:spPr>
          <a:xfrm>
            <a:off x="3551067" y="1704098"/>
            <a:ext cx="8104546" cy="3908762"/>
          </a:xfrm>
          <a:prstGeom prst="rect">
            <a:avLst/>
          </a:prstGeom>
          <a:noFill/>
        </p:spPr>
        <p:txBody>
          <a:bodyPr wrap="square">
            <a:spAutoFit/>
          </a:bodyPr>
          <a:lstStyle/>
          <a:p>
            <a:pPr lvl="1" algn="r"/>
            <a:r>
              <a:rPr lang="fa-IR" sz="2200" b="0" i="0" dirty="0">
                <a:solidFill>
                  <a:srgbClr val="000000"/>
                </a:solidFill>
                <a:effectLst/>
                <a:latin typeface="B Nazanin" panose="00000400000000000000" pitchFamily="2" charset="-78"/>
                <a:cs typeface="B Nazanin" panose="00000400000000000000" pitchFamily="2" charset="-78"/>
              </a:rPr>
              <a:t>اجزا تشکیل دهنده سقف:</a:t>
            </a:r>
          </a:p>
          <a:p>
            <a:pPr lvl="1" algn="r"/>
            <a:endParaRPr lang="fa-IR" sz="2200" b="0" i="0" dirty="0">
              <a:solidFill>
                <a:srgbClr val="000000"/>
              </a:solidFill>
              <a:effectLst/>
              <a:latin typeface="B Nazanin" panose="00000400000000000000" pitchFamily="2" charset="-78"/>
              <a:cs typeface="B Nazanin" panose="00000400000000000000" pitchFamily="2" charset="-78"/>
            </a:endParaRPr>
          </a:p>
          <a:p>
            <a:pPr lvl="1" algn="r"/>
            <a:r>
              <a:rPr lang="fa-IR" sz="2200" b="0" i="0" dirty="0">
                <a:solidFill>
                  <a:srgbClr val="000000"/>
                </a:solidFill>
                <a:effectLst/>
                <a:latin typeface="B Nazanin" panose="00000400000000000000" pitchFamily="2" charset="-78"/>
                <a:cs typeface="B Nazanin" panose="00000400000000000000" pitchFamily="2" charset="-78"/>
              </a:rPr>
              <a:t>• </a:t>
            </a:r>
            <a:r>
              <a:rPr lang="fa-IR" sz="2200" b="0" i="0" dirty="0" err="1">
                <a:solidFill>
                  <a:srgbClr val="000000"/>
                </a:solidFill>
                <a:effectLst/>
                <a:latin typeface="B Nazanin" panose="00000400000000000000" pitchFamily="2" charset="-78"/>
                <a:cs typeface="B Nazanin" panose="00000400000000000000" pitchFamily="2" charset="-78"/>
              </a:rPr>
              <a:t>تیرفولادی</a:t>
            </a:r>
            <a:r>
              <a:rPr lang="fa-IR" sz="2200" b="0" i="0" dirty="0">
                <a:solidFill>
                  <a:srgbClr val="000000"/>
                </a:solidFill>
                <a:effectLst/>
                <a:latin typeface="B Nazanin" panose="00000400000000000000" pitchFamily="2" charset="-78"/>
                <a:cs typeface="B Nazanin" panose="00000400000000000000" pitchFamily="2" charset="-78"/>
              </a:rPr>
              <a:t> به عنوان عضو باربر</a:t>
            </a:r>
          </a:p>
          <a:p>
            <a:pPr lvl="1" algn="r"/>
            <a:endParaRPr lang="fa-IR" sz="2200" b="0" i="0" dirty="0">
              <a:solidFill>
                <a:srgbClr val="000000"/>
              </a:solidFill>
              <a:effectLst/>
              <a:latin typeface="B Nazanin" panose="00000400000000000000" pitchFamily="2" charset="-78"/>
              <a:cs typeface="B Nazanin" panose="00000400000000000000" pitchFamily="2" charset="-78"/>
            </a:endParaRPr>
          </a:p>
          <a:p>
            <a:pPr lvl="1" algn="r"/>
            <a:r>
              <a:rPr lang="fa-IR" sz="2200" b="0" i="0" dirty="0">
                <a:solidFill>
                  <a:srgbClr val="000000"/>
                </a:solidFill>
                <a:effectLst/>
                <a:latin typeface="B Nazanin" panose="00000400000000000000" pitchFamily="2" charset="-78"/>
                <a:cs typeface="B Nazanin" panose="00000400000000000000" pitchFamily="2" charset="-78"/>
              </a:rPr>
              <a:t>• آجر فشاری به عنوان پرکننده</a:t>
            </a:r>
          </a:p>
          <a:p>
            <a:pPr lvl="1" algn="r"/>
            <a:endParaRPr lang="fa-IR" sz="2200" b="0" i="0" dirty="0">
              <a:solidFill>
                <a:srgbClr val="000000"/>
              </a:solidFill>
              <a:effectLst/>
              <a:latin typeface="B Nazanin" panose="00000400000000000000" pitchFamily="2" charset="-78"/>
              <a:cs typeface="B Nazanin" panose="00000400000000000000" pitchFamily="2" charset="-78"/>
            </a:endParaRPr>
          </a:p>
          <a:p>
            <a:pPr lvl="1" algn="r"/>
            <a:r>
              <a:rPr lang="fa-IR" sz="2200" b="0" i="0" dirty="0">
                <a:solidFill>
                  <a:srgbClr val="000000"/>
                </a:solidFill>
                <a:effectLst/>
                <a:latin typeface="B Nazanin" panose="00000400000000000000" pitchFamily="2" charset="-78"/>
                <a:cs typeface="B Nazanin" panose="00000400000000000000" pitchFamily="2" charset="-78"/>
              </a:rPr>
              <a:t>• ملات گچ و خاک</a:t>
            </a:r>
            <a:br>
              <a:rPr lang="fa-IR" sz="2000" dirty="0">
                <a:latin typeface="Arial Unicode MS" panose="020B0604020202020204" pitchFamily="34" charset="-128"/>
              </a:rPr>
            </a:br>
            <a:br>
              <a:rPr lang="fa-IR" dirty="0">
                <a:latin typeface="Arial Unicode MS" panose="020B0604020202020204" pitchFamily="34" charset="-128"/>
              </a:rPr>
            </a:br>
            <a:br>
              <a:rPr lang="fa-IR" dirty="0">
                <a:latin typeface="Arial Unicode MS" panose="020B0604020202020204" pitchFamily="34" charset="-128"/>
              </a:rPr>
            </a:br>
            <a:br>
              <a:rPr lang="fa-IR" dirty="0">
                <a:latin typeface="Arial Unicode MS" panose="020B0604020202020204" pitchFamily="34" charset="-128"/>
              </a:rPr>
            </a:br>
            <a:br>
              <a:rPr lang="fa-IR" sz="2000" dirty="0">
                <a:latin typeface="Arial Unicode MS" panose="020B0604020202020204" pitchFamily="34" charset="-128"/>
              </a:rPr>
            </a:br>
            <a:endParaRPr lang="en-US" sz="2000" dirty="0">
              <a:latin typeface="Arial Unicode MS" panose="020B0604020202020204" pitchFamily="34" charset="-128"/>
              <a:cs typeface="B Nazanin" panose="00000400000000000000" pitchFamily="2" charset="-78"/>
            </a:endParaRPr>
          </a:p>
        </p:txBody>
      </p:sp>
      <p:pic>
        <p:nvPicPr>
          <p:cNvPr id="2" name="Picture 1">
            <a:extLst>
              <a:ext uri="{FF2B5EF4-FFF2-40B4-BE49-F238E27FC236}">
                <a16:creationId xmlns:a16="http://schemas.microsoft.com/office/drawing/2014/main" id="{437D6DEC-5CB7-40A0-AD26-CF19840411C3}"/>
              </a:ext>
            </a:extLst>
          </p:cNvPr>
          <p:cNvPicPr>
            <a:picLocks noChangeAspect="1"/>
          </p:cNvPicPr>
          <p:nvPr/>
        </p:nvPicPr>
        <p:blipFill>
          <a:blip r:embed="rId2"/>
          <a:stretch>
            <a:fillRect/>
          </a:stretch>
        </p:blipFill>
        <p:spPr>
          <a:xfrm>
            <a:off x="826489" y="1945350"/>
            <a:ext cx="7225648" cy="3159310"/>
          </a:xfrm>
          <a:prstGeom prst="rect">
            <a:avLst/>
          </a:prstGeom>
        </p:spPr>
      </p:pic>
    </p:spTree>
    <p:extLst>
      <p:ext uri="{BB962C8B-B14F-4D97-AF65-F5344CB8AC3E}">
        <p14:creationId xmlns:p14="http://schemas.microsoft.com/office/powerpoint/2010/main" val="37399105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D0AE722-3A17-4292-8B0C-015DEE23F973}"/>
              </a:ext>
            </a:extLst>
          </p:cNvPr>
          <p:cNvSpPr>
            <a:spLocks noGrp="1"/>
          </p:cNvSpPr>
          <p:nvPr>
            <p:ph type="title"/>
          </p:nvPr>
        </p:nvSpPr>
        <p:spPr>
          <a:xfrm>
            <a:off x="826489" y="190095"/>
            <a:ext cx="10900146" cy="935776"/>
          </a:xfrm>
        </p:spPr>
        <p:txBody>
          <a:bodyPr>
            <a:noAutofit/>
          </a:bodyPr>
          <a:lstStyle/>
          <a:p>
            <a:pPr algn="r"/>
            <a:r>
              <a:rPr lang="fa-IR" spc="0" dirty="0">
                <a:cs typeface="B Nazanin" panose="00000400000000000000" pitchFamily="2" charset="-78"/>
              </a:rPr>
              <a:t>طاق ضربی</a:t>
            </a:r>
            <a:endParaRPr lang="en-US" spc="0" dirty="0">
              <a:cs typeface="B Nazanin" panose="00000400000000000000" pitchFamily="2" charset="-78"/>
            </a:endParaRPr>
          </a:p>
        </p:txBody>
      </p:sp>
      <p:sp>
        <p:nvSpPr>
          <p:cNvPr id="6" name="Slide Number Placeholder 5">
            <a:extLst>
              <a:ext uri="{FF2B5EF4-FFF2-40B4-BE49-F238E27FC236}">
                <a16:creationId xmlns:a16="http://schemas.microsoft.com/office/drawing/2014/main" id="{8A75989F-94E4-487A-845C-A4F547DDFE8D}"/>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pPr/>
              <a:t>24</a:t>
            </a:fld>
            <a:endParaRPr lang="en-US" dirty="0"/>
          </a:p>
        </p:txBody>
      </p:sp>
      <p:sp>
        <p:nvSpPr>
          <p:cNvPr id="25" name="TextBox 24">
            <a:extLst>
              <a:ext uri="{FF2B5EF4-FFF2-40B4-BE49-F238E27FC236}">
                <a16:creationId xmlns:a16="http://schemas.microsoft.com/office/drawing/2014/main" id="{87322C07-EC5C-4192-9ED6-4B496278CC69}"/>
              </a:ext>
            </a:extLst>
          </p:cNvPr>
          <p:cNvSpPr txBox="1"/>
          <p:nvPr/>
        </p:nvSpPr>
        <p:spPr>
          <a:xfrm>
            <a:off x="3444535" y="1909570"/>
            <a:ext cx="8104546" cy="3477875"/>
          </a:xfrm>
          <a:prstGeom prst="rect">
            <a:avLst/>
          </a:prstGeom>
          <a:noFill/>
        </p:spPr>
        <p:txBody>
          <a:bodyPr wrap="square">
            <a:spAutoFit/>
          </a:bodyPr>
          <a:lstStyle/>
          <a:p>
            <a:pPr lvl="1" algn="r"/>
            <a:r>
              <a:rPr lang="fa-IR" sz="2200" b="0" i="0" dirty="0">
                <a:solidFill>
                  <a:srgbClr val="000000"/>
                </a:solidFill>
                <a:effectLst/>
                <a:latin typeface="B Nazanin" panose="00000400000000000000" pitchFamily="2" charset="-78"/>
                <a:cs typeface="B Nazanin" panose="00000400000000000000" pitchFamily="2" charset="-78"/>
              </a:rPr>
              <a:t>• فاصله ی تیرها تا 1متر</a:t>
            </a:r>
          </a:p>
          <a:p>
            <a:pPr lvl="1" algn="r"/>
            <a:endParaRPr lang="fa-IR" sz="2200" b="0" i="0" dirty="0">
              <a:solidFill>
                <a:srgbClr val="000000"/>
              </a:solidFill>
              <a:effectLst/>
              <a:latin typeface="B Nazanin" panose="00000400000000000000" pitchFamily="2" charset="-78"/>
              <a:cs typeface="B Nazanin" panose="00000400000000000000" pitchFamily="2" charset="-78"/>
            </a:endParaRPr>
          </a:p>
          <a:p>
            <a:pPr lvl="1" algn="r"/>
            <a:r>
              <a:rPr lang="fa-IR" sz="2200" b="0" i="0" dirty="0">
                <a:solidFill>
                  <a:srgbClr val="000000"/>
                </a:solidFill>
                <a:effectLst/>
                <a:latin typeface="B Nazanin" panose="00000400000000000000" pitchFamily="2" charset="-78"/>
                <a:cs typeface="B Nazanin" panose="00000400000000000000" pitchFamily="2" charset="-78"/>
              </a:rPr>
              <a:t>• اجرا از طرفین شروع شده و به وسط ختم می شود.</a:t>
            </a:r>
          </a:p>
          <a:p>
            <a:pPr lvl="1" algn="r"/>
            <a:endParaRPr lang="fa-IR" sz="2200" b="0" i="0" dirty="0">
              <a:solidFill>
                <a:srgbClr val="000000"/>
              </a:solidFill>
              <a:effectLst/>
              <a:latin typeface="B Nazanin" panose="00000400000000000000" pitchFamily="2" charset="-78"/>
              <a:cs typeface="B Nazanin" panose="00000400000000000000" pitchFamily="2" charset="-78"/>
            </a:endParaRPr>
          </a:p>
          <a:p>
            <a:pPr lvl="1" algn="r"/>
            <a:r>
              <a:rPr lang="fa-IR" sz="2200" b="0" i="0" dirty="0">
                <a:solidFill>
                  <a:srgbClr val="000000"/>
                </a:solidFill>
                <a:effectLst/>
                <a:latin typeface="B Nazanin" panose="00000400000000000000" pitchFamily="2" charset="-78"/>
                <a:cs typeface="B Nazanin" panose="00000400000000000000" pitchFamily="2" charset="-78"/>
              </a:rPr>
              <a:t>• خیز طاق در هر دهانه بین  3تا  5سانتی متر است.</a:t>
            </a:r>
          </a:p>
          <a:p>
            <a:pPr lvl="1" algn="r"/>
            <a:endParaRPr lang="fa-IR" sz="2200" b="0" i="0" dirty="0">
              <a:solidFill>
                <a:srgbClr val="000000"/>
              </a:solidFill>
              <a:effectLst/>
              <a:latin typeface="B Nazanin" panose="00000400000000000000" pitchFamily="2" charset="-78"/>
              <a:cs typeface="B Nazanin" panose="00000400000000000000" pitchFamily="2" charset="-78"/>
            </a:endParaRPr>
          </a:p>
          <a:p>
            <a:pPr lvl="1" algn="r"/>
            <a:r>
              <a:rPr lang="fa-IR" sz="2200" b="0" i="0" dirty="0">
                <a:solidFill>
                  <a:srgbClr val="000000"/>
                </a:solidFill>
                <a:effectLst/>
                <a:latin typeface="B Nazanin" panose="00000400000000000000" pitchFamily="2" charset="-78"/>
                <a:cs typeface="B Nazanin" panose="00000400000000000000" pitchFamily="2" charset="-78"/>
              </a:rPr>
              <a:t>• حداقل ضخامت مواد پرکننده روی طاق  5سانتی متر می باشد.</a:t>
            </a:r>
          </a:p>
          <a:p>
            <a:pPr lvl="1" algn="r"/>
            <a:endParaRPr lang="fa-IR" sz="2200" b="0" i="0" dirty="0">
              <a:solidFill>
                <a:srgbClr val="000000"/>
              </a:solidFill>
              <a:effectLst/>
              <a:latin typeface="B Nazanin" panose="00000400000000000000" pitchFamily="2" charset="-78"/>
              <a:cs typeface="B Nazanin" panose="00000400000000000000" pitchFamily="2" charset="-78"/>
            </a:endParaRPr>
          </a:p>
          <a:p>
            <a:pPr lvl="1" algn="r"/>
            <a:r>
              <a:rPr lang="fa-IR" sz="2200" b="0" i="0" dirty="0">
                <a:solidFill>
                  <a:srgbClr val="000000"/>
                </a:solidFill>
                <a:effectLst/>
                <a:latin typeface="B Nazanin" panose="00000400000000000000" pitchFamily="2" charset="-78"/>
                <a:cs typeface="B Nazanin" panose="00000400000000000000" pitchFamily="2" charset="-78"/>
              </a:rPr>
              <a:t>• تیرها باید توسط تسمه یا </a:t>
            </a:r>
            <a:r>
              <a:rPr lang="fa-IR" sz="2200" b="0" i="0" dirty="0" err="1">
                <a:solidFill>
                  <a:srgbClr val="000000"/>
                </a:solidFill>
                <a:effectLst/>
                <a:latin typeface="B Nazanin" panose="00000400000000000000" pitchFamily="2" charset="-78"/>
                <a:cs typeface="B Nazanin" panose="00000400000000000000" pitchFamily="2" charset="-78"/>
              </a:rPr>
              <a:t>میلگرد</a:t>
            </a:r>
            <a:r>
              <a:rPr lang="fa-IR" sz="2200" b="0" i="0" dirty="0">
                <a:solidFill>
                  <a:srgbClr val="000000"/>
                </a:solidFill>
                <a:effectLst/>
                <a:latin typeface="B Nazanin" panose="00000400000000000000" pitchFamily="2" charset="-78"/>
                <a:cs typeface="B Nazanin" panose="00000400000000000000" pitchFamily="2" charset="-78"/>
              </a:rPr>
              <a:t> </a:t>
            </a:r>
            <a:r>
              <a:rPr lang="fa-IR" sz="2200" b="0" i="0" dirty="0" err="1">
                <a:solidFill>
                  <a:srgbClr val="000000"/>
                </a:solidFill>
                <a:effectLst/>
                <a:latin typeface="B Nazanin" panose="00000400000000000000" pitchFamily="2" charset="-78"/>
                <a:cs typeface="B Nazanin" panose="00000400000000000000" pitchFamily="2" charset="-78"/>
              </a:rPr>
              <a:t>هایی</a:t>
            </a:r>
            <a:r>
              <a:rPr lang="fa-IR" sz="2200" b="0" i="0" dirty="0">
                <a:solidFill>
                  <a:srgbClr val="000000"/>
                </a:solidFill>
                <a:effectLst/>
                <a:latin typeface="B Nazanin" panose="00000400000000000000" pitchFamily="2" charset="-78"/>
                <a:cs typeface="B Nazanin" panose="00000400000000000000" pitchFamily="2" charset="-78"/>
              </a:rPr>
              <a:t> به صورت </a:t>
            </a:r>
            <a:r>
              <a:rPr lang="fa-IR" sz="2200" b="0" i="0" dirty="0" err="1">
                <a:solidFill>
                  <a:srgbClr val="000000"/>
                </a:solidFill>
                <a:effectLst/>
                <a:latin typeface="B Nazanin" panose="00000400000000000000" pitchFamily="2" charset="-78"/>
                <a:cs typeface="B Nazanin" panose="00000400000000000000" pitchFamily="2" charset="-78"/>
              </a:rPr>
              <a:t>ضربدری</a:t>
            </a:r>
            <a:r>
              <a:rPr lang="fa-IR" sz="2200" b="0" i="0" dirty="0">
                <a:solidFill>
                  <a:srgbClr val="000000"/>
                </a:solidFill>
                <a:effectLst/>
                <a:latin typeface="B Nazanin" panose="00000400000000000000" pitchFamily="2" charset="-78"/>
                <a:cs typeface="B Nazanin" panose="00000400000000000000" pitchFamily="2" charset="-78"/>
              </a:rPr>
              <a:t> به هم</a:t>
            </a:r>
          </a:p>
          <a:p>
            <a:pPr lvl="1" algn="r"/>
            <a:r>
              <a:rPr lang="fa-IR" sz="2200" b="0" i="0" dirty="0">
                <a:solidFill>
                  <a:srgbClr val="000000"/>
                </a:solidFill>
                <a:effectLst/>
                <a:latin typeface="B Nazanin" panose="00000400000000000000" pitchFamily="2" charset="-78"/>
                <a:cs typeface="B Nazanin" panose="00000400000000000000" pitchFamily="2" charset="-78"/>
              </a:rPr>
              <a:t>متصل شوند.</a:t>
            </a:r>
            <a:endParaRPr lang="en-US" sz="2200" dirty="0">
              <a:latin typeface="Arial Unicode MS" panose="020B0604020202020204" pitchFamily="34" charset="-128"/>
              <a:cs typeface="B Nazanin" panose="00000400000000000000" pitchFamily="2" charset="-78"/>
            </a:endParaRPr>
          </a:p>
        </p:txBody>
      </p:sp>
      <p:pic>
        <p:nvPicPr>
          <p:cNvPr id="3" name="Picture 2">
            <a:extLst>
              <a:ext uri="{FF2B5EF4-FFF2-40B4-BE49-F238E27FC236}">
                <a16:creationId xmlns:a16="http://schemas.microsoft.com/office/drawing/2014/main" id="{E39EFCA9-D769-4A87-B3F7-681587E7E762}"/>
              </a:ext>
            </a:extLst>
          </p:cNvPr>
          <p:cNvPicPr>
            <a:picLocks noChangeAspect="1"/>
          </p:cNvPicPr>
          <p:nvPr/>
        </p:nvPicPr>
        <p:blipFill>
          <a:blip r:embed="rId2"/>
          <a:stretch>
            <a:fillRect/>
          </a:stretch>
        </p:blipFill>
        <p:spPr>
          <a:xfrm>
            <a:off x="642919" y="4015606"/>
            <a:ext cx="3307630" cy="1942043"/>
          </a:xfrm>
          <a:prstGeom prst="rect">
            <a:avLst/>
          </a:prstGeom>
        </p:spPr>
      </p:pic>
      <p:pic>
        <p:nvPicPr>
          <p:cNvPr id="4" name="Picture 3">
            <a:extLst>
              <a:ext uri="{FF2B5EF4-FFF2-40B4-BE49-F238E27FC236}">
                <a16:creationId xmlns:a16="http://schemas.microsoft.com/office/drawing/2014/main" id="{47274FA3-5BF8-4334-8B06-0E53A093B763}"/>
              </a:ext>
            </a:extLst>
          </p:cNvPr>
          <p:cNvPicPr>
            <a:picLocks noChangeAspect="1"/>
          </p:cNvPicPr>
          <p:nvPr/>
        </p:nvPicPr>
        <p:blipFill>
          <a:blip r:embed="rId3"/>
          <a:stretch>
            <a:fillRect/>
          </a:stretch>
        </p:blipFill>
        <p:spPr>
          <a:xfrm>
            <a:off x="642919" y="1422775"/>
            <a:ext cx="3307630" cy="2380110"/>
          </a:xfrm>
          <a:prstGeom prst="rect">
            <a:avLst/>
          </a:prstGeom>
        </p:spPr>
      </p:pic>
    </p:spTree>
    <p:extLst>
      <p:ext uri="{BB962C8B-B14F-4D97-AF65-F5344CB8AC3E}">
        <p14:creationId xmlns:p14="http://schemas.microsoft.com/office/powerpoint/2010/main" val="39286361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D0AE722-3A17-4292-8B0C-015DEE23F973}"/>
              </a:ext>
            </a:extLst>
          </p:cNvPr>
          <p:cNvSpPr>
            <a:spLocks noGrp="1"/>
          </p:cNvSpPr>
          <p:nvPr>
            <p:ph type="title"/>
          </p:nvPr>
        </p:nvSpPr>
        <p:spPr>
          <a:xfrm>
            <a:off x="826489" y="190095"/>
            <a:ext cx="10900146" cy="935776"/>
          </a:xfrm>
        </p:spPr>
        <p:txBody>
          <a:bodyPr>
            <a:noAutofit/>
          </a:bodyPr>
          <a:lstStyle/>
          <a:p>
            <a:pPr algn="r"/>
            <a:r>
              <a:rPr lang="fa-IR" spc="0" dirty="0">
                <a:cs typeface="B Nazanin" panose="00000400000000000000" pitchFamily="2" charset="-78"/>
              </a:rPr>
              <a:t>طاق ضربی</a:t>
            </a:r>
            <a:endParaRPr lang="en-US" spc="0" dirty="0">
              <a:cs typeface="B Nazanin" panose="00000400000000000000" pitchFamily="2" charset="-78"/>
            </a:endParaRPr>
          </a:p>
        </p:txBody>
      </p:sp>
      <p:sp>
        <p:nvSpPr>
          <p:cNvPr id="6" name="Slide Number Placeholder 5">
            <a:extLst>
              <a:ext uri="{FF2B5EF4-FFF2-40B4-BE49-F238E27FC236}">
                <a16:creationId xmlns:a16="http://schemas.microsoft.com/office/drawing/2014/main" id="{8A75989F-94E4-487A-845C-A4F547DDFE8D}"/>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pPr/>
              <a:t>25</a:t>
            </a:fld>
            <a:endParaRPr lang="en-US" dirty="0"/>
          </a:p>
        </p:txBody>
      </p:sp>
      <p:pic>
        <p:nvPicPr>
          <p:cNvPr id="2" name="Picture 1">
            <a:extLst>
              <a:ext uri="{FF2B5EF4-FFF2-40B4-BE49-F238E27FC236}">
                <a16:creationId xmlns:a16="http://schemas.microsoft.com/office/drawing/2014/main" id="{6316DA31-8D38-4D97-B3BB-5DD95822B019}"/>
              </a:ext>
            </a:extLst>
          </p:cNvPr>
          <p:cNvPicPr>
            <a:picLocks noChangeAspect="1"/>
          </p:cNvPicPr>
          <p:nvPr/>
        </p:nvPicPr>
        <p:blipFill>
          <a:blip r:embed="rId2"/>
          <a:stretch>
            <a:fillRect/>
          </a:stretch>
        </p:blipFill>
        <p:spPr>
          <a:xfrm>
            <a:off x="212038" y="1865532"/>
            <a:ext cx="3372752" cy="1899285"/>
          </a:xfrm>
          <a:prstGeom prst="rect">
            <a:avLst/>
          </a:prstGeom>
        </p:spPr>
      </p:pic>
      <p:pic>
        <p:nvPicPr>
          <p:cNvPr id="5" name="Picture 4">
            <a:extLst>
              <a:ext uri="{FF2B5EF4-FFF2-40B4-BE49-F238E27FC236}">
                <a16:creationId xmlns:a16="http://schemas.microsoft.com/office/drawing/2014/main" id="{B889C40A-3FDC-4D2B-B9F2-BD2602688F41}"/>
              </a:ext>
            </a:extLst>
          </p:cNvPr>
          <p:cNvPicPr>
            <a:picLocks noChangeAspect="1"/>
          </p:cNvPicPr>
          <p:nvPr/>
        </p:nvPicPr>
        <p:blipFill rotWithShape="1">
          <a:blip r:embed="rId3"/>
          <a:srcRect b="38227"/>
          <a:stretch/>
        </p:blipFill>
        <p:spPr>
          <a:xfrm>
            <a:off x="212038" y="3995691"/>
            <a:ext cx="3372752" cy="1968804"/>
          </a:xfrm>
          <a:prstGeom prst="rect">
            <a:avLst/>
          </a:prstGeom>
        </p:spPr>
      </p:pic>
      <p:sp>
        <p:nvSpPr>
          <p:cNvPr id="15" name="TextBox 14">
            <a:extLst>
              <a:ext uri="{FF2B5EF4-FFF2-40B4-BE49-F238E27FC236}">
                <a16:creationId xmlns:a16="http://schemas.microsoft.com/office/drawing/2014/main" id="{8EEBC0AF-E45C-43FA-BD86-8E6C6F93F469}"/>
              </a:ext>
            </a:extLst>
          </p:cNvPr>
          <p:cNvSpPr txBox="1"/>
          <p:nvPr/>
        </p:nvSpPr>
        <p:spPr>
          <a:xfrm>
            <a:off x="4505704" y="1698000"/>
            <a:ext cx="7296346" cy="3139321"/>
          </a:xfrm>
          <a:prstGeom prst="rect">
            <a:avLst/>
          </a:prstGeom>
          <a:noFill/>
        </p:spPr>
        <p:txBody>
          <a:bodyPr wrap="square">
            <a:spAutoFit/>
          </a:bodyPr>
          <a:lstStyle/>
          <a:p>
            <a:pPr marL="457200" marR="0" lvl="1" indent="0" algn="r" defTabSz="914400" rtl="0" eaLnBrk="1" fontAlgn="auto" latinLnBrk="0" hangingPunct="1">
              <a:lnSpc>
                <a:spcPct val="100000"/>
              </a:lnSpc>
              <a:spcBef>
                <a:spcPts val="0"/>
              </a:spcBef>
              <a:spcAft>
                <a:spcPts val="0"/>
              </a:spcAft>
              <a:buClrTx/>
              <a:buSzTx/>
              <a:buFontTx/>
              <a:buNone/>
              <a:tabLst/>
              <a:defRPr/>
            </a:pPr>
            <a:r>
              <a:rPr kumimoji="0" lang="fa-IR" sz="2200" b="1" i="0" u="none" strike="noStrike" kern="1200" cap="none" spc="0" normalizeH="0" baseline="0" noProof="0" dirty="0">
                <a:ln>
                  <a:noFill/>
                </a:ln>
                <a:solidFill>
                  <a:srgbClr val="000000"/>
                </a:solidFill>
                <a:effectLst/>
                <a:uLnTx/>
                <a:uFillTx/>
                <a:latin typeface="B Nazanin" panose="00000400000000000000" pitchFamily="2" charset="-78"/>
                <a:ea typeface="+mn-ea"/>
                <a:cs typeface="B Nazanin" panose="00000400000000000000" pitchFamily="2" charset="-78"/>
              </a:rPr>
              <a:t>معایب</a:t>
            </a:r>
          </a:p>
          <a:p>
            <a:pPr marL="457200" marR="0" lvl="1" indent="0" algn="r" defTabSz="914400" rtl="0" eaLnBrk="1" fontAlgn="auto" latinLnBrk="0" hangingPunct="1">
              <a:lnSpc>
                <a:spcPct val="100000"/>
              </a:lnSpc>
              <a:spcBef>
                <a:spcPts val="0"/>
              </a:spcBef>
              <a:spcAft>
                <a:spcPts val="0"/>
              </a:spcAft>
              <a:buClrTx/>
              <a:buSzTx/>
              <a:buFontTx/>
              <a:buNone/>
              <a:tabLst/>
              <a:defRPr/>
            </a:pPr>
            <a:endParaRPr kumimoji="0" lang="fa-IR" sz="2200" b="1" i="0" u="none" strike="noStrike" kern="1200" cap="none" spc="0" normalizeH="0" baseline="0" noProof="0" dirty="0">
              <a:ln>
                <a:noFill/>
              </a:ln>
              <a:solidFill>
                <a:srgbClr val="000000"/>
              </a:solidFill>
              <a:effectLst/>
              <a:uLnTx/>
              <a:uFillTx/>
              <a:latin typeface="B Nazanin" panose="00000400000000000000" pitchFamily="2" charset="-78"/>
              <a:ea typeface="+mn-ea"/>
              <a:cs typeface="B Nazanin" panose="00000400000000000000" pitchFamily="2" charset="-78"/>
            </a:endParaRPr>
          </a:p>
          <a:p>
            <a:pPr marL="457200" marR="0" lvl="1" indent="0" algn="r" defTabSz="914400" rtl="0" eaLnBrk="1" fontAlgn="auto" latinLnBrk="0" hangingPunct="1">
              <a:lnSpc>
                <a:spcPct val="100000"/>
              </a:lnSpc>
              <a:spcBef>
                <a:spcPts val="0"/>
              </a:spcBef>
              <a:spcAft>
                <a:spcPts val="0"/>
              </a:spcAft>
              <a:buClrTx/>
              <a:buSzTx/>
              <a:buFontTx/>
              <a:buNone/>
              <a:tabLst/>
              <a:defRPr/>
            </a:pPr>
            <a:r>
              <a:rPr kumimoji="0" lang="fa-IR" sz="2200" b="0" i="0" u="none" strike="noStrike" kern="1200" cap="none" spc="0" normalizeH="0" baseline="0" noProof="0" dirty="0">
                <a:ln>
                  <a:noFill/>
                </a:ln>
                <a:solidFill>
                  <a:srgbClr val="000000"/>
                </a:solidFill>
                <a:effectLst/>
                <a:uLnTx/>
                <a:uFillTx/>
                <a:latin typeface="B Nazanin" panose="00000400000000000000" pitchFamily="2" charset="-78"/>
                <a:ea typeface="+mn-ea"/>
                <a:cs typeface="B Nazanin" panose="00000400000000000000" pitchFamily="2" charset="-78"/>
              </a:rPr>
              <a:t>• سنگینی بسیار زیاد، عدم </a:t>
            </a:r>
            <a:r>
              <a:rPr kumimoji="0" lang="fa-IR" sz="2200" b="0" i="0" u="none" strike="noStrike" kern="1200" cap="none" spc="0" normalizeH="0" baseline="0" noProof="0" dirty="0" err="1">
                <a:ln>
                  <a:noFill/>
                </a:ln>
                <a:solidFill>
                  <a:srgbClr val="000000"/>
                </a:solidFill>
                <a:effectLst/>
                <a:uLnTx/>
                <a:uFillTx/>
                <a:latin typeface="B Nazanin" panose="00000400000000000000" pitchFamily="2" charset="-78"/>
                <a:ea typeface="+mn-ea"/>
                <a:cs typeface="B Nazanin" panose="00000400000000000000" pitchFamily="2" charset="-78"/>
              </a:rPr>
              <a:t>صلبیت</a:t>
            </a:r>
            <a:r>
              <a:rPr kumimoji="0" lang="fa-IR" sz="2200" b="0" i="0" u="none" strike="noStrike" kern="1200" cap="none" spc="0" normalizeH="0" baseline="0" noProof="0" dirty="0">
                <a:ln>
                  <a:noFill/>
                </a:ln>
                <a:solidFill>
                  <a:srgbClr val="000000"/>
                </a:solidFill>
                <a:effectLst/>
                <a:uLnTx/>
                <a:uFillTx/>
                <a:latin typeface="B Nazanin" panose="00000400000000000000" pitchFamily="2" charset="-78"/>
                <a:ea typeface="+mn-ea"/>
                <a:cs typeface="B Nazanin" panose="00000400000000000000" pitchFamily="2" charset="-78"/>
              </a:rPr>
              <a:t> دیافراگم سقف</a:t>
            </a:r>
          </a:p>
          <a:p>
            <a:pPr marL="457200" marR="0" lvl="1" indent="0" algn="r" defTabSz="914400" rtl="0" eaLnBrk="1" fontAlgn="auto" latinLnBrk="0" hangingPunct="1">
              <a:lnSpc>
                <a:spcPct val="100000"/>
              </a:lnSpc>
              <a:spcBef>
                <a:spcPts val="0"/>
              </a:spcBef>
              <a:spcAft>
                <a:spcPts val="0"/>
              </a:spcAft>
              <a:buClrTx/>
              <a:buSzTx/>
              <a:buFontTx/>
              <a:buNone/>
              <a:tabLst/>
              <a:defRPr/>
            </a:pPr>
            <a:endParaRPr kumimoji="0" lang="fa-IR" sz="2200" b="0" i="0" u="none" strike="noStrike" kern="1200" cap="none" spc="0" normalizeH="0" baseline="0" noProof="0" dirty="0">
              <a:ln>
                <a:noFill/>
              </a:ln>
              <a:solidFill>
                <a:srgbClr val="000000"/>
              </a:solidFill>
              <a:effectLst/>
              <a:uLnTx/>
              <a:uFillTx/>
              <a:latin typeface="B Nazanin" panose="00000400000000000000" pitchFamily="2" charset="-78"/>
              <a:ea typeface="+mn-ea"/>
              <a:cs typeface="B Nazanin" panose="00000400000000000000" pitchFamily="2" charset="-78"/>
            </a:endParaRPr>
          </a:p>
          <a:p>
            <a:pPr marL="457200" marR="0" lvl="1" indent="0" algn="r" defTabSz="914400" rtl="0" eaLnBrk="1" fontAlgn="auto" latinLnBrk="0" hangingPunct="1">
              <a:lnSpc>
                <a:spcPct val="100000"/>
              </a:lnSpc>
              <a:spcBef>
                <a:spcPts val="0"/>
              </a:spcBef>
              <a:spcAft>
                <a:spcPts val="0"/>
              </a:spcAft>
              <a:buClrTx/>
              <a:buSzTx/>
              <a:buFontTx/>
              <a:buNone/>
              <a:tabLst/>
              <a:defRPr/>
            </a:pPr>
            <a:r>
              <a:rPr kumimoji="0" lang="fa-IR" sz="2200" b="0" i="0" u="none" strike="noStrike" kern="1200" cap="none" spc="0" normalizeH="0" baseline="0" noProof="0" dirty="0">
                <a:ln>
                  <a:noFill/>
                </a:ln>
                <a:solidFill>
                  <a:srgbClr val="000000"/>
                </a:solidFill>
                <a:effectLst/>
                <a:uLnTx/>
                <a:uFillTx/>
                <a:latin typeface="B Nazanin" panose="00000400000000000000" pitchFamily="2" charset="-78"/>
                <a:ea typeface="+mn-ea"/>
                <a:cs typeface="B Nazanin" panose="00000400000000000000" pitchFamily="2" charset="-78"/>
              </a:rPr>
              <a:t>• امکان رد شدن تاسیسات از داخل سقف وجود ندارد، مگر با افزایش</a:t>
            </a:r>
          </a:p>
          <a:p>
            <a:pPr marL="457200" marR="0" lvl="1" indent="0" algn="r" defTabSz="914400" rtl="0" eaLnBrk="1" fontAlgn="auto" latinLnBrk="0" hangingPunct="1">
              <a:lnSpc>
                <a:spcPct val="100000"/>
              </a:lnSpc>
              <a:spcBef>
                <a:spcPts val="0"/>
              </a:spcBef>
              <a:spcAft>
                <a:spcPts val="0"/>
              </a:spcAft>
              <a:buClrTx/>
              <a:buSzTx/>
              <a:buFontTx/>
              <a:buNone/>
              <a:tabLst/>
              <a:defRPr/>
            </a:pPr>
            <a:endParaRPr kumimoji="0" lang="fa-IR" sz="2200" b="0" i="0" u="none" strike="noStrike" kern="1200" cap="none" spc="0" normalizeH="0" baseline="0" noProof="0" dirty="0">
              <a:ln>
                <a:noFill/>
              </a:ln>
              <a:solidFill>
                <a:srgbClr val="000000"/>
              </a:solidFill>
              <a:effectLst/>
              <a:uLnTx/>
              <a:uFillTx/>
              <a:latin typeface="B Nazanin" panose="00000400000000000000" pitchFamily="2" charset="-78"/>
              <a:ea typeface="+mn-ea"/>
              <a:cs typeface="B Nazanin" panose="00000400000000000000" pitchFamily="2" charset="-78"/>
            </a:endParaRPr>
          </a:p>
          <a:p>
            <a:pPr marL="457200" marR="0" lvl="1" indent="0" algn="r" defTabSz="914400" rtl="0" eaLnBrk="1" fontAlgn="auto" latinLnBrk="0" hangingPunct="1">
              <a:lnSpc>
                <a:spcPct val="100000"/>
              </a:lnSpc>
              <a:spcBef>
                <a:spcPts val="0"/>
              </a:spcBef>
              <a:spcAft>
                <a:spcPts val="0"/>
              </a:spcAft>
              <a:buClrTx/>
              <a:buSzTx/>
              <a:buFontTx/>
              <a:buNone/>
              <a:tabLst/>
              <a:defRPr/>
            </a:pPr>
            <a:r>
              <a:rPr kumimoji="0" lang="fa-IR" sz="2200" b="0" i="0" u="none" strike="noStrike" kern="1200" cap="none" spc="0" normalizeH="0" baseline="0" noProof="0" dirty="0">
                <a:ln>
                  <a:noFill/>
                </a:ln>
                <a:solidFill>
                  <a:srgbClr val="000000"/>
                </a:solidFill>
                <a:effectLst/>
                <a:uLnTx/>
                <a:uFillTx/>
                <a:latin typeface="B Nazanin" panose="00000400000000000000" pitchFamily="2" charset="-78"/>
                <a:ea typeface="+mn-ea"/>
                <a:cs typeface="B Nazanin" panose="00000400000000000000" pitchFamily="2" charset="-78"/>
              </a:rPr>
              <a:t>ضخامت که باعث سنگین تر شدن سقف می شود.</a:t>
            </a:r>
          </a:p>
          <a:p>
            <a:pPr marL="457200" marR="0" lvl="1" indent="0" algn="r" defTabSz="914400" rtl="0" eaLnBrk="1" fontAlgn="auto" latinLnBrk="0" hangingPunct="1">
              <a:lnSpc>
                <a:spcPct val="100000"/>
              </a:lnSpc>
              <a:spcBef>
                <a:spcPts val="0"/>
              </a:spcBef>
              <a:spcAft>
                <a:spcPts val="0"/>
              </a:spcAft>
              <a:buClrTx/>
              <a:buSzTx/>
              <a:buFontTx/>
              <a:buNone/>
              <a:tabLst/>
              <a:defRPr/>
            </a:pPr>
            <a:endParaRPr kumimoji="0" lang="fa-IR" sz="2200" b="0" i="0" u="none" strike="noStrike" kern="1200" cap="none" spc="0" normalizeH="0" baseline="0" noProof="0" dirty="0">
              <a:ln>
                <a:noFill/>
              </a:ln>
              <a:solidFill>
                <a:srgbClr val="000000"/>
              </a:solidFill>
              <a:effectLst/>
              <a:uLnTx/>
              <a:uFillTx/>
              <a:latin typeface="B Nazanin" panose="00000400000000000000" pitchFamily="2" charset="-78"/>
              <a:ea typeface="+mn-ea"/>
              <a:cs typeface="B Nazanin" panose="00000400000000000000" pitchFamily="2" charset="-78"/>
            </a:endParaRPr>
          </a:p>
          <a:p>
            <a:pPr marL="457200" marR="0" lvl="1" indent="0" algn="r" defTabSz="914400" rtl="0" eaLnBrk="1" fontAlgn="auto" latinLnBrk="0" hangingPunct="1">
              <a:lnSpc>
                <a:spcPct val="100000"/>
              </a:lnSpc>
              <a:spcBef>
                <a:spcPts val="0"/>
              </a:spcBef>
              <a:spcAft>
                <a:spcPts val="0"/>
              </a:spcAft>
              <a:buClrTx/>
              <a:buSzTx/>
              <a:buFontTx/>
              <a:buNone/>
              <a:tabLst/>
              <a:defRPr/>
            </a:pPr>
            <a:r>
              <a:rPr kumimoji="0" lang="fa-IR" sz="2200" b="0" i="0" u="none" strike="noStrike" kern="1200" cap="none" spc="0" normalizeH="0" baseline="0" noProof="0" dirty="0">
                <a:ln>
                  <a:noFill/>
                </a:ln>
                <a:solidFill>
                  <a:srgbClr val="000000"/>
                </a:solidFill>
                <a:effectLst/>
                <a:uLnTx/>
                <a:uFillTx/>
                <a:latin typeface="B Nazanin" panose="00000400000000000000" pitchFamily="2" charset="-78"/>
                <a:ea typeface="+mn-ea"/>
                <a:cs typeface="B Nazanin" panose="00000400000000000000" pitchFamily="2" charset="-78"/>
              </a:rPr>
              <a:t>• رانش در دهانه های انتهایی باید مهار شود.</a:t>
            </a:r>
          </a:p>
        </p:txBody>
      </p:sp>
    </p:spTree>
    <p:extLst>
      <p:ext uri="{BB962C8B-B14F-4D97-AF65-F5344CB8AC3E}">
        <p14:creationId xmlns:p14="http://schemas.microsoft.com/office/powerpoint/2010/main" val="18628814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D0AE722-3A17-4292-8B0C-015DEE23F973}"/>
              </a:ext>
            </a:extLst>
          </p:cNvPr>
          <p:cNvSpPr>
            <a:spLocks noGrp="1"/>
          </p:cNvSpPr>
          <p:nvPr>
            <p:ph type="title"/>
          </p:nvPr>
        </p:nvSpPr>
        <p:spPr>
          <a:xfrm>
            <a:off x="826489" y="190095"/>
            <a:ext cx="10900146" cy="935776"/>
          </a:xfrm>
        </p:spPr>
        <p:txBody>
          <a:bodyPr>
            <a:noAutofit/>
          </a:bodyPr>
          <a:lstStyle/>
          <a:p>
            <a:pPr algn="r"/>
            <a:r>
              <a:rPr lang="fa-IR" spc="0" dirty="0">
                <a:cs typeface="B Nazanin" panose="00000400000000000000" pitchFamily="2" charset="-78"/>
              </a:rPr>
              <a:t>طاق ضربی</a:t>
            </a:r>
            <a:endParaRPr lang="en-US" spc="0" dirty="0">
              <a:cs typeface="B Nazanin" panose="00000400000000000000" pitchFamily="2" charset="-78"/>
            </a:endParaRPr>
          </a:p>
        </p:txBody>
      </p:sp>
      <p:sp>
        <p:nvSpPr>
          <p:cNvPr id="6" name="Slide Number Placeholder 5">
            <a:extLst>
              <a:ext uri="{FF2B5EF4-FFF2-40B4-BE49-F238E27FC236}">
                <a16:creationId xmlns:a16="http://schemas.microsoft.com/office/drawing/2014/main" id="{8A75989F-94E4-487A-845C-A4F547DDFE8D}"/>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pPr/>
              <a:t>26</a:t>
            </a:fld>
            <a:endParaRPr lang="en-US" dirty="0"/>
          </a:p>
        </p:txBody>
      </p:sp>
      <p:sp>
        <p:nvSpPr>
          <p:cNvPr id="25" name="TextBox 24">
            <a:extLst>
              <a:ext uri="{FF2B5EF4-FFF2-40B4-BE49-F238E27FC236}">
                <a16:creationId xmlns:a16="http://schemas.microsoft.com/office/drawing/2014/main" id="{87322C07-EC5C-4192-9ED6-4B496278CC69}"/>
              </a:ext>
            </a:extLst>
          </p:cNvPr>
          <p:cNvSpPr txBox="1"/>
          <p:nvPr/>
        </p:nvSpPr>
        <p:spPr>
          <a:xfrm>
            <a:off x="3725784" y="347478"/>
            <a:ext cx="8104546" cy="2123658"/>
          </a:xfrm>
          <a:prstGeom prst="rect">
            <a:avLst/>
          </a:prstGeom>
          <a:noFill/>
        </p:spPr>
        <p:txBody>
          <a:bodyPr wrap="square">
            <a:spAutoFit/>
          </a:bodyPr>
          <a:lstStyle/>
          <a:p>
            <a:pPr lvl="1" algn="r"/>
            <a:endParaRPr lang="fa-IR" sz="2200" dirty="0">
              <a:solidFill>
                <a:srgbClr val="000000"/>
              </a:solidFill>
              <a:latin typeface="B Nazanin" panose="00000400000000000000" pitchFamily="2" charset="-78"/>
              <a:cs typeface="B Nazanin" panose="00000400000000000000" pitchFamily="2" charset="-78"/>
            </a:endParaRPr>
          </a:p>
          <a:p>
            <a:pPr lvl="1" algn="r"/>
            <a:endParaRPr lang="fa-IR" sz="2200" b="0" i="0" dirty="0">
              <a:solidFill>
                <a:srgbClr val="000000"/>
              </a:solidFill>
              <a:effectLst/>
              <a:latin typeface="B Nazanin" panose="00000400000000000000" pitchFamily="2" charset="-78"/>
              <a:cs typeface="B Nazanin" panose="00000400000000000000" pitchFamily="2" charset="-78"/>
            </a:endParaRPr>
          </a:p>
          <a:p>
            <a:pPr lvl="1" algn="r"/>
            <a:endParaRPr lang="fa-IR" sz="2200" dirty="0">
              <a:solidFill>
                <a:srgbClr val="000000"/>
              </a:solidFill>
              <a:latin typeface="B Nazanin" panose="00000400000000000000" pitchFamily="2" charset="-78"/>
              <a:cs typeface="B Nazanin" panose="00000400000000000000" pitchFamily="2" charset="-78"/>
            </a:endParaRPr>
          </a:p>
          <a:p>
            <a:pPr lvl="1" algn="r"/>
            <a:endParaRPr lang="fa-IR" sz="2200" b="0" i="0" dirty="0">
              <a:solidFill>
                <a:srgbClr val="000000"/>
              </a:solidFill>
              <a:effectLst/>
              <a:latin typeface="B Nazanin" panose="00000400000000000000" pitchFamily="2" charset="-78"/>
              <a:cs typeface="B Nazanin" panose="00000400000000000000" pitchFamily="2" charset="-78"/>
            </a:endParaRPr>
          </a:p>
          <a:p>
            <a:pPr lvl="1" algn="r"/>
            <a:endParaRPr lang="fa-IR" sz="2200" b="0" i="0" dirty="0">
              <a:solidFill>
                <a:srgbClr val="000000"/>
              </a:solidFill>
              <a:effectLst/>
              <a:latin typeface="B Nazanin" panose="00000400000000000000" pitchFamily="2" charset="-78"/>
              <a:cs typeface="B Nazanin" panose="00000400000000000000" pitchFamily="2" charset="-78"/>
            </a:endParaRPr>
          </a:p>
          <a:p>
            <a:pPr lvl="1" algn="r"/>
            <a:r>
              <a:rPr lang="fa-IR" sz="2200" b="0" i="0" dirty="0">
                <a:solidFill>
                  <a:srgbClr val="000000"/>
                </a:solidFill>
                <a:effectLst/>
                <a:latin typeface="B Nazanin" panose="00000400000000000000" pitchFamily="2" charset="-78"/>
                <a:cs typeface="B Nazanin" panose="00000400000000000000" pitchFamily="2" charset="-78"/>
              </a:rPr>
              <a:t>استفاده از طاق ضربی در مناطق مرطوب</a:t>
            </a:r>
            <a:endParaRPr lang="en-US" sz="2200" dirty="0">
              <a:latin typeface="Arial Unicode MS" panose="020B0604020202020204" pitchFamily="34" charset="-128"/>
              <a:cs typeface="B Nazanin" panose="00000400000000000000" pitchFamily="2" charset="-78"/>
            </a:endParaRPr>
          </a:p>
        </p:txBody>
      </p:sp>
      <p:pic>
        <p:nvPicPr>
          <p:cNvPr id="7" name="Picture 6">
            <a:extLst>
              <a:ext uri="{FF2B5EF4-FFF2-40B4-BE49-F238E27FC236}">
                <a16:creationId xmlns:a16="http://schemas.microsoft.com/office/drawing/2014/main" id="{8C2C2213-F0BB-4869-A88E-53855E2F0012}"/>
              </a:ext>
            </a:extLst>
          </p:cNvPr>
          <p:cNvPicPr>
            <a:picLocks noChangeAspect="1"/>
          </p:cNvPicPr>
          <p:nvPr/>
        </p:nvPicPr>
        <p:blipFill rotWithShape="1">
          <a:blip r:embed="rId2"/>
          <a:srcRect t="62803" r="24003"/>
          <a:stretch/>
        </p:blipFill>
        <p:spPr>
          <a:xfrm>
            <a:off x="133341" y="1948903"/>
            <a:ext cx="5962659" cy="3499790"/>
          </a:xfrm>
          <a:prstGeom prst="rect">
            <a:avLst/>
          </a:prstGeom>
        </p:spPr>
      </p:pic>
    </p:spTree>
    <p:extLst>
      <p:ext uri="{BB962C8B-B14F-4D97-AF65-F5344CB8AC3E}">
        <p14:creationId xmlns:p14="http://schemas.microsoft.com/office/powerpoint/2010/main" val="36658193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42539429-9547-4E01-8052-220253E7C93E}"/>
              </a:ext>
            </a:extLst>
          </p:cNvPr>
          <p:cNvSpPr>
            <a:spLocks noGrp="1"/>
          </p:cNvSpPr>
          <p:nvPr>
            <p:ph type="sldNum" sz="quarter" idx="12"/>
          </p:nvPr>
        </p:nvSpPr>
        <p:spPr/>
        <p:txBody>
          <a:bodyPr/>
          <a:lstStyle/>
          <a:p>
            <a:fld id="{FAEF9944-A4F6-4C59-AEBD-678D6480B8EA}" type="slidenum">
              <a:rPr lang="en-US" smtClean="0"/>
              <a:t>27</a:t>
            </a:fld>
            <a:endParaRPr lang="en-US" dirty="0"/>
          </a:p>
        </p:txBody>
      </p:sp>
      <p:sp>
        <p:nvSpPr>
          <p:cNvPr id="2" name="TextBox 1">
            <a:extLst>
              <a:ext uri="{FF2B5EF4-FFF2-40B4-BE49-F238E27FC236}">
                <a16:creationId xmlns:a16="http://schemas.microsoft.com/office/drawing/2014/main" id="{D5E5F3F9-9ECD-4D32-B672-244F77D4B27B}"/>
              </a:ext>
            </a:extLst>
          </p:cNvPr>
          <p:cNvSpPr txBox="1"/>
          <p:nvPr/>
        </p:nvSpPr>
        <p:spPr>
          <a:xfrm>
            <a:off x="3628008" y="2705725"/>
            <a:ext cx="9268287" cy="1446550"/>
          </a:xfrm>
          <a:prstGeom prst="rect">
            <a:avLst/>
          </a:prstGeom>
          <a:noFill/>
        </p:spPr>
        <p:txBody>
          <a:bodyPr wrap="square" rtlCol="0">
            <a:spAutoFit/>
          </a:bodyPr>
          <a:lstStyle/>
          <a:p>
            <a:r>
              <a:rPr lang="fa-IR" sz="8800" dirty="0">
                <a:latin typeface="Arial Unicode MS" panose="020B0604020202020204" pitchFamily="34" charset="-128"/>
                <a:cs typeface="B Nazanin" panose="00000400000000000000" pitchFamily="2" charset="-78"/>
              </a:rPr>
              <a:t>سقف </a:t>
            </a:r>
            <a:r>
              <a:rPr lang="fa-IR" sz="8800" dirty="0" err="1">
                <a:latin typeface="Arial Unicode MS" panose="020B0604020202020204" pitchFamily="34" charset="-128"/>
                <a:cs typeface="B Nazanin" panose="00000400000000000000" pitchFamily="2" charset="-78"/>
              </a:rPr>
              <a:t>کرمیت</a:t>
            </a:r>
            <a:r>
              <a:rPr lang="fa-IR" sz="8800" dirty="0">
                <a:latin typeface="Arial Unicode MS" panose="020B0604020202020204" pitchFamily="34" charset="-128"/>
                <a:cs typeface="B Nazanin" panose="00000400000000000000" pitchFamily="2" charset="-78"/>
              </a:rPr>
              <a:t>:</a:t>
            </a:r>
            <a:endParaRPr lang="en-US" sz="8800" dirty="0">
              <a:latin typeface="Arial Unicode MS" panose="020B0604020202020204" pitchFamily="34" charset="-128"/>
              <a:cs typeface="B Nazanin" panose="00000400000000000000" pitchFamily="2" charset="-78"/>
            </a:endParaRPr>
          </a:p>
        </p:txBody>
      </p:sp>
    </p:spTree>
    <p:extLst>
      <p:ext uri="{BB962C8B-B14F-4D97-AF65-F5344CB8AC3E}">
        <p14:creationId xmlns:p14="http://schemas.microsoft.com/office/powerpoint/2010/main" val="11255175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A75989F-94E4-487A-845C-A4F547DDFE8D}"/>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pPr/>
              <a:t>28</a:t>
            </a:fld>
            <a:endParaRPr lang="en-US" dirty="0"/>
          </a:p>
        </p:txBody>
      </p:sp>
      <p:sp>
        <p:nvSpPr>
          <p:cNvPr id="7" name="Title 1">
            <a:extLst>
              <a:ext uri="{FF2B5EF4-FFF2-40B4-BE49-F238E27FC236}">
                <a16:creationId xmlns:a16="http://schemas.microsoft.com/office/drawing/2014/main" id="{E85F04DA-5A2C-465F-BB55-B2432AA713CB}"/>
              </a:ext>
            </a:extLst>
          </p:cNvPr>
          <p:cNvSpPr txBox="1">
            <a:spLocks/>
          </p:cNvSpPr>
          <p:nvPr/>
        </p:nvSpPr>
        <p:spPr>
          <a:xfrm>
            <a:off x="8163612" y="399190"/>
            <a:ext cx="6269183" cy="838200"/>
          </a:xfrm>
          <a:prstGeom prst="rect">
            <a:avLst/>
          </a:prstGeom>
        </p:spPr>
        <p:txBody>
          <a:bodyPr vert="horz" lIns="109728" tIns="109728" rIns="109728" bIns="91440" rtlCol="0" anchor="ctr">
            <a:noAutofit/>
          </a:bodyPr>
          <a:lstStyle>
            <a:lvl1pPr algn="l" defTabSz="914400" rtl="0" eaLnBrk="1" latinLnBrk="0" hangingPunct="1">
              <a:lnSpc>
                <a:spcPct val="150000"/>
              </a:lnSpc>
              <a:spcBef>
                <a:spcPct val="0"/>
              </a:spcBef>
              <a:buNone/>
              <a:defRPr sz="3600" b="1" kern="1200" spc="150" baseline="0">
                <a:solidFill>
                  <a:schemeClr val="bg1"/>
                </a:solidFill>
                <a:latin typeface="+mj-lt"/>
                <a:ea typeface="+mj-ea"/>
                <a:cs typeface="+mj-cs"/>
              </a:defRPr>
            </a:lvl1pPr>
          </a:lstStyle>
          <a:p>
            <a:pPr algn="r" rtl="1"/>
            <a:r>
              <a:rPr lang="fa-IR" sz="5400" dirty="0">
                <a:effectLst>
                  <a:outerShdw blurRad="38100" dist="38100" dir="2700000" algn="tl">
                    <a:srgbClr val="000000">
                      <a:alpha val="43137"/>
                    </a:srgbClr>
                  </a:outerShdw>
                </a:effectLst>
                <a:latin typeface="IranNastaliq" pitchFamily="18" charset="0"/>
                <a:cs typeface="B Nazanin" panose="00000400000000000000" pitchFamily="2" charset="-78"/>
              </a:rPr>
              <a:t>                </a:t>
            </a:r>
            <a:r>
              <a:rPr lang="fa-IR" sz="4800" spc="0" dirty="0">
                <a:effectLst>
                  <a:outerShdw blurRad="38100" dist="38100" dir="2700000" algn="tl">
                    <a:srgbClr val="000000">
                      <a:alpha val="43137"/>
                    </a:srgbClr>
                  </a:outerShdw>
                </a:effectLst>
                <a:latin typeface="IranNastaliq" pitchFamily="18" charset="0"/>
                <a:cs typeface="B Nazanin" panose="00000400000000000000" pitchFamily="2" charset="-78"/>
              </a:rPr>
              <a:t> </a:t>
            </a:r>
            <a:r>
              <a:rPr lang="fa-IR" sz="4800" b="0" spc="0" dirty="0">
                <a:effectLst>
                  <a:outerShdw blurRad="38100" dist="38100" dir="2700000" algn="tl">
                    <a:srgbClr val="000000">
                      <a:alpha val="43137"/>
                    </a:srgbClr>
                  </a:outerShdw>
                </a:effectLst>
                <a:latin typeface="IranNastaliq" pitchFamily="18" charset="0"/>
                <a:cs typeface="B Nazanin" panose="00000400000000000000" pitchFamily="2" charset="-78"/>
              </a:rPr>
              <a:t>سقف </a:t>
            </a:r>
            <a:r>
              <a:rPr lang="fa-IR" sz="4800" b="0" spc="0" dirty="0" err="1">
                <a:effectLst>
                  <a:outerShdw blurRad="38100" dist="38100" dir="2700000" algn="tl">
                    <a:srgbClr val="000000">
                      <a:alpha val="43137"/>
                    </a:srgbClr>
                  </a:outerShdw>
                </a:effectLst>
                <a:latin typeface="IranNastaliq" pitchFamily="18" charset="0"/>
                <a:cs typeface="B Nazanin" panose="00000400000000000000" pitchFamily="2" charset="-78"/>
              </a:rPr>
              <a:t>کرمیت</a:t>
            </a:r>
            <a:r>
              <a:rPr lang="en-US" sz="4800" b="0" spc="0" dirty="0">
                <a:effectLst>
                  <a:outerShdw blurRad="38100" dist="38100" dir="2700000" algn="tl">
                    <a:srgbClr val="000000">
                      <a:alpha val="43137"/>
                    </a:srgbClr>
                  </a:outerShdw>
                </a:effectLst>
                <a:latin typeface="IranNastaliq" pitchFamily="18" charset="0"/>
                <a:cs typeface="B Nazanin" panose="00000400000000000000" pitchFamily="2" charset="-78"/>
              </a:rPr>
              <a:t>:</a:t>
            </a:r>
            <a:endParaRPr lang="en-US" sz="5400" b="0" dirty="0">
              <a:effectLst>
                <a:outerShdw blurRad="38100" dist="38100" dir="2700000" algn="tl">
                  <a:srgbClr val="000000">
                    <a:alpha val="43137"/>
                  </a:srgbClr>
                </a:outerShdw>
              </a:effectLst>
              <a:latin typeface="IranNastaliq" pitchFamily="18" charset="0"/>
              <a:cs typeface="B Nazanin" panose="00000400000000000000" pitchFamily="2" charset="-78"/>
            </a:endParaRPr>
          </a:p>
        </p:txBody>
      </p:sp>
      <p:sp>
        <p:nvSpPr>
          <p:cNvPr id="8" name="Content Placeholder 2">
            <a:extLst>
              <a:ext uri="{FF2B5EF4-FFF2-40B4-BE49-F238E27FC236}">
                <a16:creationId xmlns:a16="http://schemas.microsoft.com/office/drawing/2014/main" id="{6BDCA569-E0AD-44A9-B4C7-59E29506FBDF}"/>
              </a:ext>
            </a:extLst>
          </p:cNvPr>
          <p:cNvSpPr txBox="1">
            <a:spLocks/>
          </p:cNvSpPr>
          <p:nvPr/>
        </p:nvSpPr>
        <p:spPr>
          <a:xfrm>
            <a:off x="518616" y="1839025"/>
            <a:ext cx="11339994" cy="5105400"/>
          </a:xfrm>
          <a:prstGeom prst="rect">
            <a:avLst/>
          </a:prstGeom>
        </p:spPr>
        <p:txBody>
          <a:bodyPr vert="horz" lIns="109728" tIns="109728" rIns="109728" bIns="91440" rtlCol="0" anchor="t">
            <a:noAutofit/>
          </a:bodyPr>
          <a:lstStyle>
            <a:lvl1pPr marL="283464" indent="-283464" algn="l" defTabSz="914400" rtl="0" eaLnBrk="1" latinLnBrk="0" hangingPunct="1">
              <a:lnSpc>
                <a:spcPct val="140000"/>
              </a:lnSpc>
              <a:spcBef>
                <a:spcPts val="930"/>
              </a:spcBef>
              <a:buFont typeface="Arial" panose="020B0604020202020204" pitchFamily="34" charset="0"/>
              <a:buChar char="•"/>
              <a:defRPr sz="1600" b="0"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pPr marL="3175" indent="454025" algn="ctr" rtl="1">
              <a:lnSpc>
                <a:spcPct val="150000"/>
              </a:lnSpc>
              <a:buFont typeface="Arial" panose="020B0604020202020204" pitchFamily="34" charset="0"/>
              <a:buNone/>
            </a:pPr>
            <a:r>
              <a:rPr lang="ar-SA" sz="2200" spc="0" dirty="0">
                <a:solidFill>
                  <a:schemeClr val="tx1"/>
                </a:solidFill>
                <a:latin typeface="Arial Unicode MS" panose="020B0604020202020204" pitchFamily="34" charset="-128"/>
                <a:cs typeface="B Nazanin" panose="00000400000000000000" pitchFamily="2" charset="-78"/>
              </a:rPr>
              <a:t>در سیستم سقف کُرمیت از تیرچه‌های فولادی با جان باز در ترکیب با بتن استفاده می</a:t>
            </a:r>
            <a:r>
              <a:rPr lang="fa-IR" sz="2200" spc="0" dirty="0">
                <a:solidFill>
                  <a:schemeClr val="tx1"/>
                </a:solidFill>
                <a:latin typeface="Arial Unicode MS" panose="020B0604020202020204" pitchFamily="34" charset="-128"/>
                <a:cs typeface="B Nazanin" panose="00000400000000000000" pitchFamily="2" charset="-78"/>
              </a:rPr>
              <a:t>‌</a:t>
            </a:r>
            <a:r>
              <a:rPr lang="ar-SA" sz="2200" spc="0" dirty="0">
                <a:solidFill>
                  <a:schemeClr val="tx1"/>
                </a:solidFill>
                <a:latin typeface="Arial Unicode MS" panose="020B0604020202020204" pitchFamily="34" charset="-128"/>
                <a:cs typeface="B Nazanin" panose="00000400000000000000" pitchFamily="2" charset="-78"/>
              </a:rPr>
              <a:t>شود. در ساخت تیرچه‌های مذکور از یک تسمه، در بال تحتانی و نیز یک میلگرد خم شده در جان استفاده می‌شود. برای پرکردن فضای خالی بین تیرچه‌ها از قالب‌های ثابت مانند بلوک‌های سیمانی، پلی استایرن، طاق ضربی، قالب‌های موقت فولادی (کامپوزیت ) و یا هر پرکننده سبک استفاده می‌شود. فواصل تیرچه‌ها بسته به نوع قالب از 73 سانتی تا 100 سانتی متر متغیراست، روی سقف نیز با 4 الی 10 سانتی متر بتن پوشانده می‌شود. </a:t>
            </a:r>
            <a:endParaRPr lang="en-US" sz="2200" spc="0" dirty="0">
              <a:solidFill>
                <a:schemeClr val="tx1"/>
              </a:solidFill>
              <a:latin typeface="Arial Unicode MS" panose="020B0604020202020204" pitchFamily="34" charset="-128"/>
              <a:cs typeface="B Nazanin" panose="00000400000000000000" pitchFamily="2" charset="-78"/>
            </a:endParaRPr>
          </a:p>
        </p:txBody>
      </p:sp>
    </p:spTree>
    <p:extLst>
      <p:ext uri="{BB962C8B-B14F-4D97-AF65-F5344CB8AC3E}">
        <p14:creationId xmlns:p14="http://schemas.microsoft.com/office/powerpoint/2010/main" val="333134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000"/>
                                        <p:tgtEl>
                                          <p:spTgt spid="7"/>
                                        </p:tgtEl>
                                      </p:cBhvr>
                                    </p:animEffect>
                                  </p:childTnLst>
                                </p:cTn>
                              </p:par>
                            </p:childTnLst>
                          </p:cTn>
                        </p:par>
                        <p:par>
                          <p:cTn id="8" fill="hold">
                            <p:stCondLst>
                              <p:cond delay="2000"/>
                            </p:stCondLst>
                            <p:childTnLst>
                              <p:par>
                                <p:cTn id="9" presetID="22" presetClass="entr" presetSubtype="1" fill="hold" grpId="0" nodeType="after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animEffect transition="in" filter="wipe(up)">
                                      <p:cBhvr>
                                        <p:cTn id="11" dur="30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A75989F-94E4-487A-845C-A4F547DDFE8D}"/>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pPr/>
              <a:t>29</a:t>
            </a:fld>
            <a:endParaRPr lang="en-US" dirty="0"/>
          </a:p>
        </p:txBody>
      </p:sp>
      <p:sp>
        <p:nvSpPr>
          <p:cNvPr id="7" name="Title 1">
            <a:extLst>
              <a:ext uri="{FF2B5EF4-FFF2-40B4-BE49-F238E27FC236}">
                <a16:creationId xmlns:a16="http://schemas.microsoft.com/office/drawing/2014/main" id="{E85F04DA-5A2C-465F-BB55-B2432AA713CB}"/>
              </a:ext>
            </a:extLst>
          </p:cNvPr>
          <p:cNvSpPr txBox="1">
            <a:spLocks/>
          </p:cNvSpPr>
          <p:nvPr/>
        </p:nvSpPr>
        <p:spPr>
          <a:xfrm>
            <a:off x="7073694" y="342629"/>
            <a:ext cx="4827860" cy="838200"/>
          </a:xfrm>
          <a:prstGeom prst="rect">
            <a:avLst/>
          </a:prstGeom>
        </p:spPr>
        <p:txBody>
          <a:bodyPr vert="horz" lIns="109728" tIns="109728" rIns="109728" bIns="91440" rtlCol="0" anchor="ctr">
            <a:noAutofit/>
          </a:bodyPr>
          <a:lstStyle>
            <a:lvl1pPr algn="l" defTabSz="914400" rtl="0" eaLnBrk="1" latinLnBrk="0" hangingPunct="1">
              <a:lnSpc>
                <a:spcPct val="150000"/>
              </a:lnSpc>
              <a:spcBef>
                <a:spcPct val="0"/>
              </a:spcBef>
              <a:buNone/>
              <a:defRPr sz="3600" b="1" kern="1200" spc="150" baseline="0">
                <a:solidFill>
                  <a:schemeClr val="bg1"/>
                </a:solidFill>
                <a:latin typeface="+mj-lt"/>
                <a:ea typeface="+mj-ea"/>
                <a:cs typeface="+mj-cs"/>
              </a:defRPr>
            </a:lvl1pPr>
          </a:lstStyle>
          <a:p>
            <a:pPr algn="r" rtl="1"/>
            <a:r>
              <a:rPr lang="fa-IR" sz="4400" spc="0" dirty="0">
                <a:effectLst>
                  <a:outerShdw blurRad="38100" dist="38100" dir="2700000" algn="tl">
                    <a:srgbClr val="000000">
                      <a:alpha val="43137"/>
                    </a:srgbClr>
                  </a:outerShdw>
                </a:effectLst>
                <a:latin typeface="IranNastaliq" pitchFamily="18" charset="0"/>
                <a:cs typeface="B Nazanin" panose="00000400000000000000" pitchFamily="2" charset="-78"/>
              </a:rPr>
              <a:t>سقف </a:t>
            </a:r>
            <a:r>
              <a:rPr lang="fa-IR" sz="4400" spc="0" dirty="0" err="1">
                <a:effectLst>
                  <a:outerShdw blurRad="38100" dist="38100" dir="2700000" algn="tl">
                    <a:srgbClr val="000000">
                      <a:alpha val="43137"/>
                    </a:srgbClr>
                  </a:outerShdw>
                </a:effectLst>
                <a:latin typeface="IranNastaliq" pitchFamily="18" charset="0"/>
                <a:cs typeface="B Nazanin" panose="00000400000000000000" pitchFamily="2" charset="-78"/>
              </a:rPr>
              <a:t>کرمیت</a:t>
            </a:r>
            <a:r>
              <a:rPr lang="en-US" sz="4400" spc="0" dirty="0">
                <a:effectLst>
                  <a:outerShdw blurRad="38100" dist="38100" dir="2700000" algn="tl">
                    <a:srgbClr val="000000">
                      <a:alpha val="43137"/>
                    </a:srgbClr>
                  </a:outerShdw>
                </a:effectLst>
                <a:latin typeface="IranNastaliq" pitchFamily="18" charset="0"/>
                <a:cs typeface="B Nazanin" panose="00000400000000000000" pitchFamily="2" charset="-78"/>
              </a:rPr>
              <a:t>:</a:t>
            </a:r>
          </a:p>
        </p:txBody>
      </p:sp>
      <p:sp>
        <p:nvSpPr>
          <p:cNvPr id="8" name="Content Placeholder 2">
            <a:extLst>
              <a:ext uri="{FF2B5EF4-FFF2-40B4-BE49-F238E27FC236}">
                <a16:creationId xmlns:a16="http://schemas.microsoft.com/office/drawing/2014/main" id="{6BDCA569-E0AD-44A9-B4C7-59E29506FBDF}"/>
              </a:ext>
            </a:extLst>
          </p:cNvPr>
          <p:cNvSpPr txBox="1">
            <a:spLocks/>
          </p:cNvSpPr>
          <p:nvPr/>
        </p:nvSpPr>
        <p:spPr>
          <a:xfrm>
            <a:off x="386641" y="1867305"/>
            <a:ext cx="11339994" cy="5105400"/>
          </a:xfrm>
          <a:prstGeom prst="rect">
            <a:avLst/>
          </a:prstGeom>
        </p:spPr>
        <p:txBody>
          <a:bodyPr vert="horz" lIns="109728" tIns="109728" rIns="109728" bIns="91440" rtlCol="0" anchor="t">
            <a:noAutofit/>
          </a:bodyPr>
          <a:lstStyle>
            <a:lvl1pPr marL="283464" indent="-283464" algn="l" defTabSz="914400" rtl="0" eaLnBrk="1" latinLnBrk="0" hangingPunct="1">
              <a:lnSpc>
                <a:spcPct val="140000"/>
              </a:lnSpc>
              <a:spcBef>
                <a:spcPts val="930"/>
              </a:spcBef>
              <a:buFont typeface="Arial" panose="020B0604020202020204" pitchFamily="34" charset="0"/>
              <a:buChar char="•"/>
              <a:defRPr sz="1600" b="0"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pPr marL="3175" indent="454025" algn="r">
              <a:lnSpc>
                <a:spcPct val="150000"/>
              </a:lnSpc>
              <a:buNone/>
            </a:pPr>
            <a:r>
              <a:rPr lang="ar-SA" sz="2200" spc="0" dirty="0">
                <a:solidFill>
                  <a:schemeClr val="tx1"/>
                </a:solidFill>
                <a:latin typeface="Arial Unicode MS" panose="020B0604020202020204" pitchFamily="34" charset="-128"/>
                <a:cs typeface="B Nazanin" panose="00000400000000000000" pitchFamily="2" charset="-78"/>
              </a:rPr>
              <a:t>تیرچه‌ها از نوع خود ایستا بوده و به همین علت هیچ نوع شمع بندی در زیر سقف مورد نیاز نمی‌باشد و تیرچه‌ها به نحوی طراحی می‌شوند که بتوانند وزن بتن خیس، قالب‌ها و عوامل اجرایی سقف را به تنهایی تحمل کنند.</a:t>
            </a:r>
          </a:p>
          <a:p>
            <a:pPr marL="3175" indent="454025" algn="r">
              <a:lnSpc>
                <a:spcPct val="150000"/>
              </a:lnSpc>
              <a:buNone/>
            </a:pPr>
            <a:r>
              <a:rPr lang="ar-SA" sz="2200" spc="0" dirty="0">
                <a:solidFill>
                  <a:schemeClr val="tx1"/>
                </a:solidFill>
                <a:latin typeface="Arial Unicode MS" panose="020B0604020202020204" pitchFamily="34" charset="-128"/>
                <a:cs typeface="B Nazanin" panose="00000400000000000000" pitchFamily="2" charset="-78"/>
              </a:rPr>
              <a:t>پس ازاین که بتن به 75% مقاومت مشخصه خود می‌رسد، تیرچه‌های فولادی با بتن به صورت یک مقطع مختلط وارد عمل شده و بارهای مرده و زنده سقف را تحمل می‌کنند</a:t>
            </a:r>
            <a:r>
              <a:rPr lang="fa-IR" sz="2200" spc="0" dirty="0">
                <a:solidFill>
                  <a:schemeClr val="tx1"/>
                </a:solidFill>
                <a:latin typeface="Arial Unicode MS" panose="020B0604020202020204" pitchFamily="34" charset="-128"/>
                <a:cs typeface="B Nazanin" panose="00000400000000000000" pitchFamily="2" charset="-78"/>
              </a:rPr>
              <a:t>.</a:t>
            </a:r>
            <a:endParaRPr lang="en-US" sz="2200" spc="0" dirty="0">
              <a:solidFill>
                <a:schemeClr val="tx1"/>
              </a:solidFill>
              <a:latin typeface="Arial Unicode MS" panose="020B0604020202020204" pitchFamily="34" charset="-128"/>
              <a:cs typeface="B Nazanin" panose="00000400000000000000" pitchFamily="2" charset="-78"/>
            </a:endParaRPr>
          </a:p>
        </p:txBody>
      </p:sp>
    </p:spTree>
    <p:extLst>
      <p:ext uri="{BB962C8B-B14F-4D97-AF65-F5344CB8AC3E}">
        <p14:creationId xmlns:p14="http://schemas.microsoft.com/office/powerpoint/2010/main" val="1117247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000"/>
                                        <p:tgtEl>
                                          <p:spTgt spid="7"/>
                                        </p:tgtEl>
                                      </p:cBhvr>
                                    </p:animEffect>
                                  </p:childTnLst>
                                </p:cTn>
                              </p:par>
                            </p:childTnLst>
                          </p:cTn>
                        </p:par>
                        <p:par>
                          <p:cTn id="8" fill="hold">
                            <p:stCondLst>
                              <p:cond delay="2000"/>
                            </p:stCondLst>
                            <p:childTnLst>
                              <p:par>
                                <p:cTn id="9" presetID="22" presetClass="entr" presetSubtype="1" fill="hold" grpId="0" nodeType="after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animEffect transition="in" filter="wipe(up)">
                                      <p:cBhvr>
                                        <p:cTn id="11" dur="3000"/>
                                        <p:tgtEl>
                                          <p:spTgt spid="8">
                                            <p:txEl>
                                              <p:pRg st="0" end="0"/>
                                            </p:txEl>
                                          </p:spTgt>
                                        </p:tgtEl>
                                      </p:cBhvr>
                                    </p:animEffect>
                                  </p:childTnLst>
                                </p:cTn>
                              </p:par>
                            </p:childTnLst>
                          </p:cTn>
                        </p:par>
                        <p:par>
                          <p:cTn id="12" fill="hold">
                            <p:stCondLst>
                              <p:cond delay="5000"/>
                            </p:stCondLst>
                            <p:childTnLst>
                              <p:par>
                                <p:cTn id="13" presetID="22" presetClass="entr" presetSubtype="1" fill="hold" grpId="0" nodeType="after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animEffect transition="in" filter="wipe(up)">
                                      <p:cBhvr>
                                        <p:cTn id="15" dur="30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D0AE722-3A17-4292-8B0C-015DEE23F973}"/>
              </a:ext>
            </a:extLst>
          </p:cNvPr>
          <p:cNvSpPr>
            <a:spLocks noGrp="1"/>
          </p:cNvSpPr>
          <p:nvPr>
            <p:ph type="title"/>
          </p:nvPr>
        </p:nvSpPr>
        <p:spPr>
          <a:xfrm>
            <a:off x="826489" y="190095"/>
            <a:ext cx="10900146" cy="935776"/>
          </a:xfrm>
        </p:spPr>
        <p:txBody>
          <a:bodyPr>
            <a:noAutofit/>
          </a:bodyPr>
          <a:lstStyle/>
          <a:p>
            <a:pPr algn="r"/>
            <a:r>
              <a:rPr lang="fa-IR" b="0" spc="0" dirty="0">
                <a:cs typeface="B Nazanin" panose="00000400000000000000" pitchFamily="2" charset="-78"/>
              </a:rPr>
              <a:t>اجزای تشکیل دهنده سقف </a:t>
            </a:r>
            <a:r>
              <a:rPr lang="fa-IR" b="0" spc="0" dirty="0" err="1">
                <a:cs typeface="B Nazanin" panose="00000400000000000000" pitchFamily="2" charset="-78"/>
              </a:rPr>
              <a:t>کرومیت</a:t>
            </a:r>
            <a:r>
              <a:rPr lang="fa-IR" b="0" spc="0" dirty="0">
                <a:cs typeface="B Nazanin" panose="00000400000000000000" pitchFamily="2" charset="-78"/>
              </a:rPr>
              <a:t> :</a:t>
            </a:r>
          </a:p>
        </p:txBody>
      </p:sp>
      <p:sp>
        <p:nvSpPr>
          <p:cNvPr id="6" name="Slide Number Placeholder 5">
            <a:extLst>
              <a:ext uri="{FF2B5EF4-FFF2-40B4-BE49-F238E27FC236}">
                <a16:creationId xmlns:a16="http://schemas.microsoft.com/office/drawing/2014/main" id="{8A75989F-94E4-487A-845C-A4F547DDFE8D}"/>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pPr/>
              <a:t>30</a:t>
            </a:fld>
            <a:endParaRPr lang="en-US" dirty="0"/>
          </a:p>
        </p:txBody>
      </p:sp>
      <p:sp>
        <p:nvSpPr>
          <p:cNvPr id="25" name="TextBox 24">
            <a:extLst>
              <a:ext uri="{FF2B5EF4-FFF2-40B4-BE49-F238E27FC236}">
                <a16:creationId xmlns:a16="http://schemas.microsoft.com/office/drawing/2014/main" id="{87322C07-EC5C-4192-9ED6-4B496278CC69}"/>
              </a:ext>
            </a:extLst>
          </p:cNvPr>
          <p:cNvSpPr txBox="1"/>
          <p:nvPr/>
        </p:nvSpPr>
        <p:spPr>
          <a:xfrm>
            <a:off x="-362857" y="1607235"/>
            <a:ext cx="12089492" cy="2939266"/>
          </a:xfrm>
          <a:prstGeom prst="rect">
            <a:avLst/>
          </a:prstGeom>
          <a:noFill/>
        </p:spPr>
        <p:txBody>
          <a:bodyPr wrap="square">
            <a:spAutoFit/>
          </a:bodyPr>
          <a:lstStyle/>
          <a:p>
            <a:pPr marL="0" marR="0" lvl="0" indent="0" algn="just" defTabSz="914400" rtl="1" eaLnBrk="1" fontAlgn="auto" latinLnBrk="0" hangingPunct="1">
              <a:lnSpc>
                <a:spcPct val="150000"/>
              </a:lnSpc>
              <a:spcBef>
                <a:spcPts val="0"/>
              </a:spcBef>
              <a:spcAft>
                <a:spcPts val="0"/>
              </a:spcAft>
              <a:buClrTx/>
              <a:buSzTx/>
              <a:buFont typeface="Wingdings 2"/>
              <a:buNone/>
              <a:tabLst/>
              <a:defRPr/>
            </a:pPr>
            <a:r>
              <a:rPr kumimoji="0" lang="fa-IR" sz="2200" i="0" u="none" strike="noStrike" kern="1200" cap="none" spc="0" normalizeH="0" baseline="0" noProof="0" dirty="0">
                <a:ln>
                  <a:noFill/>
                </a:ln>
                <a:solidFill>
                  <a:prstClr val="black"/>
                </a:solidFill>
                <a:effectLst/>
                <a:uLnTx/>
                <a:uFillTx/>
                <a:latin typeface="Arial Unicode MS" panose="020B0604020202020204" pitchFamily="34" charset="-128"/>
                <a:cs typeface="B Nazanin" panose="00000400000000000000" pitchFamily="2" charset="-78"/>
              </a:rPr>
              <a:t>1) </a:t>
            </a:r>
            <a:r>
              <a:rPr kumimoji="0" lang="ar-SA" sz="2200" i="0" u="none" strike="noStrike" kern="1200" cap="none" spc="0" normalizeH="0" baseline="0" noProof="0" dirty="0">
                <a:ln>
                  <a:noFill/>
                </a:ln>
                <a:solidFill>
                  <a:prstClr val="black"/>
                </a:solidFill>
                <a:effectLst/>
                <a:uLnTx/>
                <a:uFillTx/>
                <a:latin typeface="Arial Unicode MS" panose="020B0604020202020204" pitchFamily="34" charset="-128"/>
                <a:cs typeface="B Nazanin" panose="00000400000000000000" pitchFamily="2" charset="-78"/>
              </a:rPr>
              <a:t>تيرچه فولادي با جان باز </a:t>
            </a:r>
            <a:endParaRPr kumimoji="0" lang="en-US" sz="2200" i="0" u="none" strike="noStrike" kern="1200" cap="none" spc="0" normalizeH="0" baseline="0" noProof="0" dirty="0">
              <a:ln>
                <a:noFill/>
              </a:ln>
              <a:solidFill>
                <a:prstClr val="black"/>
              </a:solidFill>
              <a:effectLst/>
              <a:uLnTx/>
              <a:uFillTx/>
              <a:latin typeface="Arial Unicode MS" panose="020B0604020202020204" pitchFamily="34" charset="-128"/>
              <a:cs typeface="B Nazanin" panose="00000400000000000000" pitchFamily="2" charset="-78"/>
            </a:endParaRPr>
          </a:p>
          <a:p>
            <a:pPr marL="0" marR="0" lvl="0" indent="0" algn="just" defTabSz="914400" rtl="1" eaLnBrk="1" fontAlgn="auto" latinLnBrk="0" hangingPunct="1">
              <a:lnSpc>
                <a:spcPct val="150000"/>
              </a:lnSpc>
              <a:spcBef>
                <a:spcPts val="0"/>
              </a:spcBef>
              <a:spcAft>
                <a:spcPts val="0"/>
              </a:spcAft>
              <a:buClrTx/>
              <a:buSzTx/>
              <a:buFont typeface="Wingdings 2"/>
              <a:buNone/>
              <a:tabLst/>
              <a:defRPr/>
            </a:pPr>
            <a:r>
              <a:rPr kumimoji="0" lang="fa-IR" sz="2200" i="0" u="none" strike="noStrike" kern="1200" cap="none" spc="0" normalizeH="0" baseline="0" noProof="0" dirty="0">
                <a:ln>
                  <a:noFill/>
                </a:ln>
                <a:solidFill>
                  <a:prstClr val="black"/>
                </a:solidFill>
                <a:effectLst/>
                <a:uLnTx/>
                <a:uFillTx/>
                <a:latin typeface="Arial Unicode MS" panose="020B0604020202020204" pitchFamily="34" charset="-128"/>
                <a:cs typeface="B Nazanin" panose="00000400000000000000" pitchFamily="2" charset="-78"/>
              </a:rPr>
              <a:t>2) </a:t>
            </a:r>
            <a:r>
              <a:rPr kumimoji="0" lang="ar-SA" sz="2200" i="0" u="none" strike="noStrike" kern="1200" cap="none" spc="0" normalizeH="0" baseline="0" noProof="0" dirty="0">
                <a:ln>
                  <a:noFill/>
                </a:ln>
                <a:solidFill>
                  <a:prstClr val="black"/>
                </a:solidFill>
                <a:effectLst/>
                <a:uLnTx/>
                <a:uFillTx/>
                <a:latin typeface="Arial Unicode MS" panose="020B0604020202020204" pitchFamily="34" charset="-128"/>
                <a:cs typeface="B Nazanin" panose="00000400000000000000" pitchFamily="2" charset="-78"/>
              </a:rPr>
              <a:t>بلوك </a:t>
            </a:r>
            <a:endParaRPr kumimoji="0" lang="en-US" sz="2200" i="0" u="none" strike="noStrike" kern="1200" cap="none" spc="0" normalizeH="0" baseline="0" noProof="0" dirty="0">
              <a:ln>
                <a:noFill/>
              </a:ln>
              <a:solidFill>
                <a:prstClr val="black"/>
              </a:solidFill>
              <a:effectLst/>
              <a:uLnTx/>
              <a:uFillTx/>
              <a:latin typeface="Arial Unicode MS" panose="020B0604020202020204" pitchFamily="34" charset="-128"/>
              <a:cs typeface="B Nazanin" panose="00000400000000000000" pitchFamily="2" charset="-78"/>
            </a:endParaRPr>
          </a:p>
          <a:p>
            <a:pPr marL="0" marR="0" lvl="0" indent="0" algn="just" defTabSz="914400" rtl="1" eaLnBrk="1" fontAlgn="auto" latinLnBrk="0" hangingPunct="1">
              <a:lnSpc>
                <a:spcPct val="150000"/>
              </a:lnSpc>
              <a:spcBef>
                <a:spcPts val="0"/>
              </a:spcBef>
              <a:spcAft>
                <a:spcPts val="0"/>
              </a:spcAft>
              <a:buClrTx/>
              <a:buSzTx/>
              <a:buFont typeface="Wingdings 2"/>
              <a:buNone/>
              <a:tabLst/>
              <a:defRPr/>
            </a:pPr>
            <a:r>
              <a:rPr kumimoji="0" lang="fa-IR" sz="2200" i="0" u="none" strike="noStrike" kern="1200" cap="none" spc="0" normalizeH="0" baseline="0" noProof="0" dirty="0">
                <a:ln>
                  <a:noFill/>
                </a:ln>
                <a:solidFill>
                  <a:prstClr val="black"/>
                </a:solidFill>
                <a:effectLst/>
                <a:uLnTx/>
                <a:uFillTx/>
                <a:latin typeface="Arial Unicode MS" panose="020B0604020202020204" pitchFamily="34" charset="-128"/>
                <a:cs typeface="B Nazanin" panose="00000400000000000000" pitchFamily="2" charset="-78"/>
              </a:rPr>
              <a:t>3) </a:t>
            </a:r>
            <a:r>
              <a:rPr kumimoji="0" lang="ar-SA" sz="2200" i="0" u="none" strike="noStrike" kern="1200" cap="none" spc="0" normalizeH="0" baseline="0" noProof="0" dirty="0">
                <a:ln>
                  <a:noFill/>
                </a:ln>
                <a:solidFill>
                  <a:prstClr val="black"/>
                </a:solidFill>
                <a:effectLst/>
                <a:uLnTx/>
                <a:uFillTx/>
                <a:latin typeface="Arial Unicode MS" panose="020B0604020202020204" pitchFamily="34" charset="-128"/>
                <a:cs typeface="B Nazanin" panose="00000400000000000000" pitchFamily="2" charset="-78"/>
              </a:rPr>
              <a:t>ميلگرد افت وحرارت </a:t>
            </a:r>
            <a:endParaRPr kumimoji="0" lang="en-US" sz="2200" i="0" u="none" strike="noStrike" kern="1200" cap="none" spc="0" normalizeH="0" baseline="0" noProof="0" dirty="0">
              <a:ln>
                <a:noFill/>
              </a:ln>
              <a:solidFill>
                <a:prstClr val="black"/>
              </a:solidFill>
              <a:effectLst/>
              <a:uLnTx/>
              <a:uFillTx/>
              <a:latin typeface="Arial Unicode MS" panose="020B0604020202020204" pitchFamily="34" charset="-128"/>
              <a:cs typeface="B Nazanin" panose="00000400000000000000" pitchFamily="2" charset="-78"/>
            </a:endParaRPr>
          </a:p>
          <a:p>
            <a:pPr marL="0" marR="0" lvl="0" indent="0" algn="just" defTabSz="914400" rtl="1" eaLnBrk="1" fontAlgn="auto" latinLnBrk="0" hangingPunct="1">
              <a:lnSpc>
                <a:spcPct val="150000"/>
              </a:lnSpc>
              <a:spcBef>
                <a:spcPts val="0"/>
              </a:spcBef>
              <a:spcAft>
                <a:spcPts val="0"/>
              </a:spcAft>
              <a:buClrTx/>
              <a:buSzTx/>
              <a:buFont typeface="Wingdings 2"/>
              <a:buNone/>
              <a:tabLst/>
              <a:defRPr/>
            </a:pPr>
            <a:r>
              <a:rPr kumimoji="0" lang="fa-IR" sz="2200" i="0" u="none" strike="noStrike" kern="1200" cap="none" spc="0" normalizeH="0" baseline="0" noProof="0" dirty="0">
                <a:ln>
                  <a:noFill/>
                </a:ln>
                <a:solidFill>
                  <a:prstClr val="black"/>
                </a:solidFill>
                <a:effectLst/>
                <a:uLnTx/>
                <a:uFillTx/>
                <a:latin typeface="Arial Unicode MS" panose="020B0604020202020204" pitchFamily="34" charset="-128"/>
                <a:cs typeface="B Nazanin" panose="00000400000000000000" pitchFamily="2" charset="-78"/>
              </a:rPr>
              <a:t>4) </a:t>
            </a:r>
            <a:r>
              <a:rPr kumimoji="0" lang="ar-SA" sz="2200" i="0" u="none" strike="noStrike" kern="1200" cap="none" spc="0" normalizeH="0" baseline="0" noProof="0" dirty="0">
                <a:ln>
                  <a:noFill/>
                </a:ln>
                <a:solidFill>
                  <a:prstClr val="black"/>
                </a:solidFill>
                <a:effectLst/>
                <a:uLnTx/>
                <a:uFillTx/>
                <a:latin typeface="Arial Unicode MS" panose="020B0604020202020204" pitchFamily="34" charset="-128"/>
                <a:cs typeface="B Nazanin" panose="00000400000000000000" pitchFamily="2" charset="-78"/>
              </a:rPr>
              <a:t>كلاف عرضي </a:t>
            </a:r>
            <a:endParaRPr kumimoji="0" lang="en-US" sz="2200" i="0" u="none" strike="noStrike" kern="1200" cap="none" spc="0" normalizeH="0" baseline="0" noProof="0" dirty="0">
              <a:ln>
                <a:noFill/>
              </a:ln>
              <a:solidFill>
                <a:prstClr val="black"/>
              </a:solidFill>
              <a:effectLst/>
              <a:uLnTx/>
              <a:uFillTx/>
              <a:latin typeface="Arial Unicode MS" panose="020B0604020202020204" pitchFamily="34" charset="-128"/>
              <a:cs typeface="B Nazanin" panose="00000400000000000000" pitchFamily="2" charset="-78"/>
            </a:endParaRPr>
          </a:p>
          <a:p>
            <a:pPr marL="0" marR="0" lvl="0" indent="0" algn="just" defTabSz="914400" rtl="1" eaLnBrk="1" fontAlgn="auto" latinLnBrk="0" hangingPunct="1">
              <a:lnSpc>
                <a:spcPct val="150000"/>
              </a:lnSpc>
              <a:spcBef>
                <a:spcPts val="0"/>
              </a:spcBef>
              <a:spcAft>
                <a:spcPts val="0"/>
              </a:spcAft>
              <a:buClrTx/>
              <a:buSzTx/>
              <a:buFont typeface="Wingdings 2"/>
              <a:buNone/>
              <a:tabLst/>
              <a:defRPr/>
            </a:pPr>
            <a:r>
              <a:rPr kumimoji="0" lang="fa-IR" sz="2200" i="0" u="none" strike="noStrike" kern="1200" cap="none" spc="0" normalizeH="0" baseline="0" noProof="0" dirty="0">
                <a:ln>
                  <a:noFill/>
                </a:ln>
                <a:solidFill>
                  <a:prstClr val="black"/>
                </a:solidFill>
                <a:effectLst/>
                <a:uLnTx/>
                <a:uFillTx/>
                <a:latin typeface="Arial Unicode MS" panose="020B0604020202020204" pitchFamily="34" charset="-128"/>
                <a:cs typeface="B Nazanin" panose="00000400000000000000" pitchFamily="2" charset="-78"/>
              </a:rPr>
              <a:t>5) </a:t>
            </a:r>
            <a:r>
              <a:rPr kumimoji="0" lang="ar-SA" sz="2200" i="0" u="none" strike="noStrike" kern="1200" cap="none" spc="0" normalizeH="0" baseline="0" noProof="0" dirty="0">
                <a:ln>
                  <a:noFill/>
                </a:ln>
                <a:solidFill>
                  <a:prstClr val="black"/>
                </a:solidFill>
                <a:effectLst/>
                <a:uLnTx/>
                <a:uFillTx/>
                <a:latin typeface="Arial Unicode MS" panose="020B0604020202020204" pitchFamily="34" charset="-128"/>
                <a:cs typeface="B Nazanin" panose="00000400000000000000" pitchFamily="2" charset="-78"/>
              </a:rPr>
              <a:t>بتن پوششي در جا</a:t>
            </a:r>
            <a:endParaRPr kumimoji="0" lang="fa-IR" sz="2200" i="0" u="none" strike="noStrike" kern="1200" cap="none" spc="-150" normalizeH="0" baseline="0" noProof="0" dirty="0">
              <a:ln>
                <a:noFill/>
              </a:ln>
              <a:solidFill>
                <a:prstClr val="black"/>
              </a:solidFill>
              <a:effectLst/>
              <a:uLnTx/>
              <a:uFillTx/>
              <a:latin typeface="Arial Unicode MS" panose="020B0604020202020204" pitchFamily="34" charset="-128"/>
              <a:cs typeface="B Nazanin" panose="00000400000000000000" pitchFamily="2" charset="-78"/>
            </a:endParaRPr>
          </a:p>
          <a:p>
            <a:pPr lvl="1" algn="r"/>
            <a:endParaRPr lang="en-US" sz="2000" dirty="0">
              <a:latin typeface="Arial Unicode MS" panose="020B0604020202020204" pitchFamily="34" charset="-128"/>
              <a:cs typeface="B Nazanin" panose="00000400000000000000" pitchFamily="2" charset="-78"/>
            </a:endParaRPr>
          </a:p>
        </p:txBody>
      </p:sp>
    </p:spTree>
    <p:extLst>
      <p:ext uri="{BB962C8B-B14F-4D97-AF65-F5344CB8AC3E}">
        <p14:creationId xmlns:p14="http://schemas.microsoft.com/office/powerpoint/2010/main" val="17031685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D0AE722-3A17-4292-8B0C-015DEE23F973}"/>
              </a:ext>
            </a:extLst>
          </p:cNvPr>
          <p:cNvSpPr>
            <a:spLocks noGrp="1"/>
          </p:cNvSpPr>
          <p:nvPr>
            <p:ph type="title"/>
          </p:nvPr>
        </p:nvSpPr>
        <p:spPr>
          <a:xfrm>
            <a:off x="826489" y="190095"/>
            <a:ext cx="10900146" cy="935776"/>
          </a:xfrm>
        </p:spPr>
        <p:txBody>
          <a:bodyPr>
            <a:noAutofit/>
          </a:bodyPr>
          <a:lstStyle/>
          <a:p>
            <a:pPr algn="r"/>
            <a:r>
              <a:rPr lang="fa-IR" spc="0" dirty="0">
                <a:cs typeface="B Nazanin" panose="00000400000000000000" pitchFamily="2" charset="-78"/>
              </a:rPr>
              <a:t>1) تیرچه </a:t>
            </a:r>
            <a:r>
              <a:rPr lang="fa-IR" spc="0" dirty="0" err="1">
                <a:cs typeface="B Nazanin" panose="00000400000000000000" pitchFamily="2" charset="-78"/>
              </a:rPr>
              <a:t>فولادي</a:t>
            </a:r>
            <a:r>
              <a:rPr lang="fa-IR" spc="0" dirty="0">
                <a:cs typeface="B Nazanin" panose="00000400000000000000" pitchFamily="2" charset="-78"/>
              </a:rPr>
              <a:t> با جان باز :</a:t>
            </a:r>
          </a:p>
        </p:txBody>
      </p:sp>
      <p:sp>
        <p:nvSpPr>
          <p:cNvPr id="6" name="Slide Number Placeholder 5">
            <a:extLst>
              <a:ext uri="{FF2B5EF4-FFF2-40B4-BE49-F238E27FC236}">
                <a16:creationId xmlns:a16="http://schemas.microsoft.com/office/drawing/2014/main" id="{8A75989F-94E4-487A-845C-A4F547DDFE8D}"/>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pPr/>
              <a:t>31</a:t>
            </a:fld>
            <a:endParaRPr lang="en-US" dirty="0"/>
          </a:p>
        </p:txBody>
      </p:sp>
      <p:sp>
        <p:nvSpPr>
          <p:cNvPr id="5" name="Content Placeholder 2">
            <a:extLst>
              <a:ext uri="{FF2B5EF4-FFF2-40B4-BE49-F238E27FC236}">
                <a16:creationId xmlns:a16="http://schemas.microsoft.com/office/drawing/2014/main" id="{9E32022C-103B-4C99-BFD9-BCCEE1945C0E}"/>
              </a:ext>
            </a:extLst>
          </p:cNvPr>
          <p:cNvSpPr txBox="1">
            <a:spLocks/>
          </p:cNvSpPr>
          <p:nvPr/>
        </p:nvSpPr>
        <p:spPr>
          <a:xfrm>
            <a:off x="653143" y="1726244"/>
            <a:ext cx="11073492" cy="2789238"/>
          </a:xfrm>
          <a:prstGeom prst="rect">
            <a:avLst/>
          </a:prstGeom>
        </p:spPr>
        <p:txBody>
          <a:bodyPr vert="horz">
            <a:normAutofit/>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marL="3175" indent="454025" algn="ctr" rtl="1">
              <a:buFont typeface="Wingdings 2"/>
              <a:buNone/>
            </a:pPr>
            <a:r>
              <a:rPr lang="ar-SA" sz="2200" dirty="0">
                <a:latin typeface="Arial Unicode MS" panose="020B0604020202020204" pitchFamily="34" charset="-128"/>
                <a:cs typeface="B Nazanin" panose="00000400000000000000" pitchFamily="2" charset="-78"/>
              </a:rPr>
              <a:t>تیرچه فولادي با جان باز شامل بال تحتاني، اعضاي قطري و</a:t>
            </a:r>
            <a:r>
              <a:rPr lang="fa-IR" sz="2200" dirty="0">
                <a:latin typeface="Arial Unicode MS" panose="020B0604020202020204" pitchFamily="34" charset="-128"/>
                <a:cs typeface="B Nazanin" panose="00000400000000000000" pitchFamily="2" charset="-78"/>
              </a:rPr>
              <a:t> </a:t>
            </a:r>
            <a:r>
              <a:rPr lang="ar-SA" sz="2200" dirty="0">
                <a:latin typeface="Arial Unicode MS" panose="020B0604020202020204" pitchFamily="34" charset="-128"/>
                <a:cs typeface="B Nazanin" panose="00000400000000000000" pitchFamily="2" charset="-78"/>
              </a:rPr>
              <a:t>بال فوقاني مي باشد. ميلگردهاي فولادي مورد</a:t>
            </a:r>
            <a:r>
              <a:rPr lang="fa-IR" sz="2200" dirty="0">
                <a:latin typeface="Arial Unicode MS" panose="020B0604020202020204" pitchFamily="34" charset="-128"/>
                <a:cs typeface="B Nazanin" panose="00000400000000000000" pitchFamily="2" charset="-78"/>
              </a:rPr>
              <a:t> </a:t>
            </a:r>
            <a:r>
              <a:rPr lang="ar-SA" sz="2200" dirty="0">
                <a:latin typeface="Arial Unicode MS" panose="020B0604020202020204" pitchFamily="34" charset="-128"/>
                <a:cs typeface="B Nazanin" panose="00000400000000000000" pitchFamily="2" charset="-78"/>
              </a:rPr>
              <a:t>استفاده در تيرچه‌ها، بايد علاوه بر دارا بودن مدول ارتجاعي كافي، بايد جوش پذير و شكل پذير نيز باشند. و نيز بايد از</a:t>
            </a:r>
            <a:r>
              <a:rPr lang="fa-IR" sz="2200" dirty="0">
                <a:latin typeface="Arial Unicode MS" panose="020B0604020202020204" pitchFamily="34" charset="-128"/>
                <a:cs typeface="B Nazanin" panose="00000400000000000000" pitchFamily="2" charset="-78"/>
              </a:rPr>
              <a:t> </a:t>
            </a:r>
            <a:r>
              <a:rPr lang="ar-SA" sz="2200" dirty="0">
                <a:latin typeface="Arial Unicode MS" panose="020B0604020202020204" pitchFamily="34" charset="-128"/>
                <a:cs typeface="B Nazanin" panose="00000400000000000000" pitchFamily="2" charset="-78"/>
              </a:rPr>
              <a:t>حداقل مجاز تغييرات طول نسبي در</a:t>
            </a:r>
            <a:r>
              <a:rPr lang="fa-IR" sz="2200" dirty="0">
                <a:latin typeface="Arial Unicode MS" panose="020B0604020202020204" pitchFamily="34" charset="-128"/>
                <a:cs typeface="B Nazanin" panose="00000400000000000000" pitchFamily="2" charset="-78"/>
              </a:rPr>
              <a:t> </a:t>
            </a:r>
            <a:r>
              <a:rPr lang="ar-SA" sz="2200" dirty="0">
                <a:latin typeface="Arial Unicode MS" panose="020B0604020202020204" pitchFamily="34" charset="-128"/>
                <a:cs typeface="B Nazanin" panose="00000400000000000000" pitchFamily="2" charset="-78"/>
              </a:rPr>
              <a:t>مرحله گسيختگي را دارا باشند. اين ميلگردها مي توانند از نوعي ساده يا آجدار انتخاب شوند و</a:t>
            </a:r>
            <a:r>
              <a:rPr lang="fa-IR" sz="2200" dirty="0">
                <a:latin typeface="Arial Unicode MS" panose="020B0604020202020204" pitchFamily="34" charset="-128"/>
                <a:cs typeface="B Nazanin" panose="00000400000000000000" pitchFamily="2" charset="-78"/>
              </a:rPr>
              <a:t> </a:t>
            </a:r>
            <a:r>
              <a:rPr lang="ar-SA" sz="2200" dirty="0">
                <a:latin typeface="Arial Unicode MS" panose="020B0604020202020204" pitchFamily="34" charset="-128"/>
                <a:cs typeface="B Nazanin" panose="00000400000000000000" pitchFamily="2" charset="-78"/>
              </a:rPr>
              <a:t>بايد از فولاد نرم </a:t>
            </a:r>
            <a:r>
              <a:rPr lang="en-US" sz="2200" dirty="0">
                <a:latin typeface="Arial Unicode MS" panose="020B0604020202020204" pitchFamily="34" charset="-128"/>
                <a:cs typeface="B Nazanin" panose="00000400000000000000" pitchFamily="2" charset="-78"/>
              </a:rPr>
              <a:t>AI</a:t>
            </a:r>
            <a:r>
              <a:rPr lang="ar-SA" sz="2200" dirty="0">
                <a:latin typeface="Arial Unicode MS" panose="020B0604020202020204" pitchFamily="34" charset="-128"/>
                <a:cs typeface="B Nazanin" panose="00000400000000000000" pitchFamily="2" charset="-78"/>
              </a:rPr>
              <a:t>  يا فولاد نیمه سخت </a:t>
            </a:r>
            <a:r>
              <a:rPr lang="en-US" sz="2200" dirty="0">
                <a:latin typeface="Arial Unicode MS" panose="020B0604020202020204" pitchFamily="34" charset="-128"/>
                <a:cs typeface="B Nazanin" panose="00000400000000000000" pitchFamily="2" charset="-78"/>
              </a:rPr>
              <a:t>AII</a:t>
            </a:r>
            <a:r>
              <a:rPr lang="ar-SA" sz="2200" dirty="0">
                <a:latin typeface="Arial Unicode MS" panose="020B0604020202020204" pitchFamily="34" charset="-128"/>
                <a:cs typeface="B Nazanin" panose="00000400000000000000" pitchFamily="2" charset="-78"/>
              </a:rPr>
              <a:t> باشند.</a:t>
            </a:r>
            <a:endParaRPr lang="en-US" sz="2200" dirty="0">
              <a:latin typeface="Arial Unicode MS" panose="020B0604020202020204" pitchFamily="34" charset="-128"/>
              <a:cs typeface="B Nazanin" panose="00000400000000000000" pitchFamily="2" charset="-78"/>
            </a:endParaRPr>
          </a:p>
          <a:p>
            <a:pPr marL="3175" indent="454025" algn="just" rtl="1">
              <a:buFont typeface="Wingdings 2"/>
              <a:buNone/>
            </a:pPr>
            <a:endParaRPr lang="en-US" sz="2800" b="1" dirty="0">
              <a:latin typeface="Arial Unicode MS" panose="020B0604020202020204" pitchFamily="34" charset="-128"/>
              <a:cs typeface="B Nazanin" pitchFamily="2" charset="-78"/>
            </a:endParaRPr>
          </a:p>
        </p:txBody>
      </p:sp>
      <p:pic>
        <p:nvPicPr>
          <p:cNvPr id="7" name="Picture 4" descr="C:\Documents and Settings\Reza\Desktop\Tir2.bmp">
            <a:extLst>
              <a:ext uri="{FF2B5EF4-FFF2-40B4-BE49-F238E27FC236}">
                <a16:creationId xmlns:a16="http://schemas.microsoft.com/office/drawing/2014/main" id="{F950D48B-D7FD-4A11-8C8C-45D9F5907CB8}"/>
              </a:ext>
            </a:extLst>
          </p:cNvPr>
          <p:cNvPicPr>
            <a:picLocks noChangeAspect="1" noChangeArrowheads="1"/>
          </p:cNvPicPr>
          <p:nvPr/>
        </p:nvPicPr>
        <p:blipFill>
          <a:blip r:embed="rId2"/>
          <a:srcRect/>
          <a:stretch>
            <a:fillRect/>
          </a:stretch>
        </p:blipFill>
        <p:spPr bwMode="auto">
          <a:xfrm>
            <a:off x="1178425" y="3626172"/>
            <a:ext cx="1848845" cy="2428875"/>
          </a:xfrm>
          <a:prstGeom prst="rect">
            <a:avLst/>
          </a:prstGeom>
          <a:noFill/>
        </p:spPr>
      </p:pic>
      <p:pic>
        <p:nvPicPr>
          <p:cNvPr id="2" name="Picture 1">
            <a:extLst>
              <a:ext uri="{FF2B5EF4-FFF2-40B4-BE49-F238E27FC236}">
                <a16:creationId xmlns:a16="http://schemas.microsoft.com/office/drawing/2014/main" id="{0AFCCE2B-4BCC-4B00-9639-D8F720E1647A}"/>
              </a:ext>
            </a:extLst>
          </p:cNvPr>
          <p:cNvPicPr>
            <a:picLocks noChangeAspect="1"/>
          </p:cNvPicPr>
          <p:nvPr/>
        </p:nvPicPr>
        <p:blipFill>
          <a:blip r:embed="rId3"/>
          <a:stretch>
            <a:fillRect/>
          </a:stretch>
        </p:blipFill>
        <p:spPr>
          <a:xfrm>
            <a:off x="5802810" y="3626172"/>
            <a:ext cx="5828281" cy="2206943"/>
          </a:xfrm>
          <a:prstGeom prst="rect">
            <a:avLst/>
          </a:prstGeom>
        </p:spPr>
      </p:pic>
    </p:spTree>
    <p:extLst>
      <p:ext uri="{BB962C8B-B14F-4D97-AF65-F5344CB8AC3E}">
        <p14:creationId xmlns:p14="http://schemas.microsoft.com/office/powerpoint/2010/main" val="2539328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up)">
                                      <p:cBhvr>
                                        <p:cTn id="7" dur="3000"/>
                                        <p:tgtEl>
                                          <p:spTgt spid="5">
                                            <p:txEl>
                                              <p:pRg st="0" end="0"/>
                                            </p:txEl>
                                          </p:spTgt>
                                        </p:tgtEl>
                                      </p:cBhvr>
                                    </p:animEffect>
                                  </p:childTnLst>
                                </p:cTn>
                              </p:par>
                            </p:childTnLst>
                          </p:cTn>
                        </p:par>
                        <p:par>
                          <p:cTn id="8" fill="hold">
                            <p:stCondLst>
                              <p:cond delay="3000"/>
                            </p:stCondLst>
                            <p:childTnLst>
                              <p:par>
                                <p:cTn id="9" presetID="21" presetClass="entr" presetSubtype="4"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heel(4)">
                                      <p:cBhvr>
                                        <p:cTn id="11"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D0AE722-3A17-4292-8B0C-015DEE23F973}"/>
              </a:ext>
            </a:extLst>
          </p:cNvPr>
          <p:cNvSpPr>
            <a:spLocks noGrp="1"/>
          </p:cNvSpPr>
          <p:nvPr>
            <p:ph type="title"/>
          </p:nvPr>
        </p:nvSpPr>
        <p:spPr>
          <a:xfrm>
            <a:off x="826489" y="190095"/>
            <a:ext cx="10900146" cy="935776"/>
          </a:xfrm>
        </p:spPr>
        <p:txBody>
          <a:bodyPr>
            <a:noAutofit/>
          </a:bodyPr>
          <a:lstStyle/>
          <a:p>
            <a:pPr algn="r"/>
            <a:r>
              <a:rPr lang="fa-IR" spc="0" dirty="0">
                <a:cs typeface="B Nazanin" panose="00000400000000000000" pitchFamily="2" charset="-78"/>
              </a:rPr>
              <a:t>1) تیرچه </a:t>
            </a:r>
            <a:r>
              <a:rPr lang="fa-IR" spc="0" dirty="0" err="1">
                <a:cs typeface="B Nazanin" panose="00000400000000000000" pitchFamily="2" charset="-78"/>
              </a:rPr>
              <a:t>فولادي</a:t>
            </a:r>
            <a:r>
              <a:rPr lang="fa-IR" spc="0" dirty="0">
                <a:cs typeface="B Nazanin" panose="00000400000000000000" pitchFamily="2" charset="-78"/>
              </a:rPr>
              <a:t> با جان باز :</a:t>
            </a:r>
            <a:endParaRPr lang="en-US" spc="0" dirty="0">
              <a:cs typeface="B Nazanin" panose="00000400000000000000" pitchFamily="2" charset="-78"/>
            </a:endParaRPr>
          </a:p>
        </p:txBody>
      </p:sp>
      <p:sp>
        <p:nvSpPr>
          <p:cNvPr id="6" name="Slide Number Placeholder 5">
            <a:extLst>
              <a:ext uri="{FF2B5EF4-FFF2-40B4-BE49-F238E27FC236}">
                <a16:creationId xmlns:a16="http://schemas.microsoft.com/office/drawing/2014/main" id="{8A75989F-94E4-487A-845C-A4F547DDFE8D}"/>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pPr/>
              <a:t>32</a:t>
            </a:fld>
            <a:endParaRPr lang="en-US" dirty="0"/>
          </a:p>
        </p:txBody>
      </p:sp>
      <p:sp>
        <p:nvSpPr>
          <p:cNvPr id="25" name="TextBox 24">
            <a:extLst>
              <a:ext uri="{FF2B5EF4-FFF2-40B4-BE49-F238E27FC236}">
                <a16:creationId xmlns:a16="http://schemas.microsoft.com/office/drawing/2014/main" id="{87322C07-EC5C-4192-9ED6-4B496278CC69}"/>
              </a:ext>
            </a:extLst>
          </p:cNvPr>
          <p:cNvSpPr txBox="1"/>
          <p:nvPr/>
        </p:nvSpPr>
        <p:spPr>
          <a:xfrm>
            <a:off x="1650338" y="1520785"/>
            <a:ext cx="9898743" cy="3816429"/>
          </a:xfrm>
          <a:prstGeom prst="rect">
            <a:avLst/>
          </a:prstGeom>
          <a:noFill/>
        </p:spPr>
        <p:txBody>
          <a:bodyPr wrap="square">
            <a:spAutoFit/>
          </a:bodyPr>
          <a:lstStyle/>
          <a:p>
            <a:pPr lvl="1" algn="r"/>
            <a:r>
              <a:rPr lang="fa-IR" sz="2200" i="0" dirty="0">
                <a:solidFill>
                  <a:srgbClr val="000000"/>
                </a:solidFill>
                <a:effectLst/>
                <a:latin typeface="B Nazanin" panose="00000400000000000000" pitchFamily="2" charset="-78"/>
                <a:cs typeface="B Nazanin" panose="00000400000000000000" pitchFamily="2" charset="-78"/>
              </a:rPr>
              <a:t>بال </a:t>
            </a:r>
            <a:r>
              <a:rPr lang="fa-IR" sz="2200" i="0" dirty="0" err="1">
                <a:solidFill>
                  <a:srgbClr val="000000"/>
                </a:solidFill>
                <a:effectLst/>
                <a:latin typeface="B Nazanin" panose="00000400000000000000" pitchFamily="2" charset="-78"/>
                <a:cs typeface="B Nazanin" panose="00000400000000000000" pitchFamily="2" charset="-78"/>
              </a:rPr>
              <a:t>تحتاني</a:t>
            </a:r>
            <a:r>
              <a:rPr lang="fa-IR" sz="2200" i="0" dirty="0">
                <a:solidFill>
                  <a:srgbClr val="000000"/>
                </a:solidFill>
                <a:effectLst/>
                <a:latin typeface="B Nazanin" panose="00000400000000000000" pitchFamily="2" charset="-78"/>
                <a:cs typeface="B Nazanin" panose="00000400000000000000" pitchFamily="2" charset="-78"/>
              </a:rPr>
              <a:t> </a:t>
            </a:r>
          </a:p>
          <a:p>
            <a:pPr lvl="1" algn="r"/>
            <a:endParaRPr lang="fa-IR" sz="2200" i="0" dirty="0">
              <a:solidFill>
                <a:srgbClr val="000000"/>
              </a:solidFill>
              <a:effectLst/>
              <a:latin typeface="B Nazanin" panose="00000400000000000000" pitchFamily="2" charset="-78"/>
              <a:cs typeface="B Nazanin" panose="00000400000000000000" pitchFamily="2" charset="-78"/>
            </a:endParaRPr>
          </a:p>
          <a:p>
            <a:pPr lvl="1" algn="r"/>
            <a:r>
              <a:rPr lang="fa-IR" sz="2200" i="0" dirty="0">
                <a:solidFill>
                  <a:srgbClr val="000000"/>
                </a:solidFill>
                <a:effectLst/>
                <a:latin typeface="B Nazanin" panose="00000400000000000000" pitchFamily="2" charset="-78"/>
                <a:cs typeface="B Nazanin" panose="00000400000000000000" pitchFamily="2" charset="-78"/>
              </a:rPr>
              <a:t>بال </a:t>
            </a:r>
            <a:r>
              <a:rPr lang="fa-IR" sz="2200" i="0" dirty="0" err="1">
                <a:solidFill>
                  <a:srgbClr val="000000"/>
                </a:solidFill>
                <a:effectLst/>
                <a:latin typeface="B Nazanin" panose="00000400000000000000" pitchFamily="2" charset="-78"/>
                <a:cs typeface="B Nazanin" panose="00000400000000000000" pitchFamily="2" charset="-78"/>
              </a:rPr>
              <a:t>تحتاني</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تيرچه</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كه</a:t>
            </a:r>
            <a:r>
              <a:rPr lang="fa-IR" sz="2200" i="0" dirty="0">
                <a:solidFill>
                  <a:srgbClr val="000000"/>
                </a:solidFill>
                <a:effectLst/>
                <a:latin typeface="B Nazanin" panose="00000400000000000000" pitchFamily="2" charset="-78"/>
                <a:cs typeface="B Nazanin" panose="00000400000000000000" pitchFamily="2" charset="-78"/>
              </a:rPr>
              <a:t> از تسمه ساخته </a:t>
            </a:r>
            <a:r>
              <a:rPr lang="fa-IR" sz="2200" i="0" dirty="0" err="1">
                <a:solidFill>
                  <a:srgbClr val="000000"/>
                </a:solidFill>
                <a:effectLst/>
                <a:latin typeface="B Nazanin" panose="00000400000000000000" pitchFamily="2" charset="-78"/>
                <a:cs typeface="B Nazanin" panose="00000400000000000000" pitchFamily="2" charset="-78"/>
              </a:rPr>
              <a:t>مي</a:t>
            </a:r>
            <a:r>
              <a:rPr lang="fa-IR" sz="2200" i="0" dirty="0">
                <a:solidFill>
                  <a:srgbClr val="000000"/>
                </a:solidFill>
                <a:effectLst/>
                <a:latin typeface="B Nazanin" panose="00000400000000000000" pitchFamily="2" charset="-78"/>
                <a:cs typeface="B Nazanin" panose="00000400000000000000" pitchFamily="2" charset="-78"/>
              </a:rPr>
              <a:t> شود، به عنوان عضو </a:t>
            </a:r>
            <a:r>
              <a:rPr lang="fa-IR" sz="2200" i="0" dirty="0" err="1">
                <a:solidFill>
                  <a:srgbClr val="000000"/>
                </a:solidFill>
                <a:effectLst/>
                <a:latin typeface="B Nazanin" panose="00000400000000000000" pitchFamily="2" charset="-78"/>
                <a:cs typeface="B Nazanin" panose="00000400000000000000" pitchFamily="2" charset="-78"/>
              </a:rPr>
              <a:t>كششي</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خرپا</a:t>
            </a:r>
            <a:r>
              <a:rPr lang="fa-IR" sz="2200" i="0" dirty="0">
                <a:solidFill>
                  <a:srgbClr val="000000"/>
                </a:solidFill>
                <a:effectLst/>
                <a:latin typeface="B Nazanin" panose="00000400000000000000" pitchFamily="2" charset="-78"/>
                <a:cs typeface="B Nazanin" panose="00000400000000000000" pitchFamily="2" charset="-78"/>
              </a:rPr>
              <a:t> عمل می کند.</a:t>
            </a:r>
          </a:p>
          <a:p>
            <a:pPr lvl="1" algn="r"/>
            <a:endParaRPr lang="fa-IR" sz="2200" i="0" dirty="0">
              <a:solidFill>
                <a:srgbClr val="000000"/>
              </a:solidFill>
              <a:effectLst/>
              <a:latin typeface="B Nazanin" panose="00000400000000000000" pitchFamily="2" charset="-78"/>
              <a:cs typeface="B Nazanin" panose="00000400000000000000" pitchFamily="2" charset="-78"/>
            </a:endParaRPr>
          </a:p>
          <a:p>
            <a:pPr lvl="1" algn="r"/>
            <a:r>
              <a:rPr lang="fa-IR" sz="2200" i="0" dirty="0" err="1">
                <a:solidFill>
                  <a:srgbClr val="000000"/>
                </a:solidFill>
                <a:effectLst/>
                <a:latin typeface="B Nazanin" panose="00000400000000000000" pitchFamily="2" charset="-78"/>
                <a:cs typeface="B Nazanin" panose="00000400000000000000" pitchFamily="2" charset="-78"/>
              </a:rPr>
              <a:t>اعضاي</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قطري</a:t>
            </a:r>
            <a:r>
              <a:rPr lang="fa-IR" sz="2200" i="0" dirty="0">
                <a:solidFill>
                  <a:srgbClr val="000000"/>
                </a:solidFill>
                <a:effectLst/>
                <a:latin typeface="B Nazanin" panose="00000400000000000000" pitchFamily="2" charset="-78"/>
                <a:cs typeface="B Nazanin" panose="00000400000000000000" pitchFamily="2" charset="-78"/>
              </a:rPr>
              <a:t> </a:t>
            </a:r>
          </a:p>
          <a:p>
            <a:pPr lvl="1" algn="r"/>
            <a:endParaRPr lang="fa-IR" sz="2200" i="0" dirty="0">
              <a:solidFill>
                <a:srgbClr val="000000"/>
              </a:solidFill>
              <a:effectLst/>
              <a:latin typeface="B Nazanin" panose="00000400000000000000" pitchFamily="2" charset="-78"/>
              <a:cs typeface="B Nazanin" panose="00000400000000000000" pitchFamily="2" charset="-78"/>
            </a:endParaRPr>
          </a:p>
          <a:p>
            <a:pPr lvl="1" algn="r"/>
            <a:r>
              <a:rPr lang="fa-IR" sz="2200" i="0" dirty="0" err="1">
                <a:solidFill>
                  <a:srgbClr val="000000"/>
                </a:solidFill>
                <a:effectLst/>
                <a:latin typeface="B Nazanin" panose="00000400000000000000" pitchFamily="2" charset="-78"/>
                <a:cs typeface="B Nazanin" panose="00000400000000000000" pitchFamily="2" charset="-78"/>
              </a:rPr>
              <a:t>اعضاي</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قطري</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تيرچه</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كه</a:t>
            </a:r>
            <a:r>
              <a:rPr lang="fa-IR" sz="2200" i="0" dirty="0">
                <a:solidFill>
                  <a:srgbClr val="000000"/>
                </a:solidFill>
                <a:effectLst/>
                <a:latin typeface="B Nazanin" panose="00000400000000000000" pitchFamily="2" charset="-78"/>
                <a:cs typeface="B Nazanin" panose="00000400000000000000" pitchFamily="2" charset="-78"/>
              </a:rPr>
              <a:t> معمولا از </a:t>
            </a:r>
            <a:r>
              <a:rPr lang="fa-IR" sz="2200" i="0" dirty="0" err="1">
                <a:solidFill>
                  <a:srgbClr val="000000"/>
                </a:solidFill>
                <a:effectLst/>
                <a:latin typeface="B Nazanin" panose="00000400000000000000" pitchFamily="2" charset="-78"/>
                <a:cs typeface="B Nazanin" panose="00000400000000000000" pitchFamily="2" charset="-78"/>
              </a:rPr>
              <a:t>ميلگرد</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مي</a:t>
            </a:r>
            <a:r>
              <a:rPr lang="fa-IR" sz="2200" i="0" dirty="0">
                <a:solidFill>
                  <a:srgbClr val="000000"/>
                </a:solidFill>
                <a:effectLst/>
                <a:latin typeface="B Nazanin" panose="00000400000000000000" pitchFamily="2" charset="-78"/>
                <a:cs typeface="B Nazanin" panose="00000400000000000000" pitchFamily="2" charset="-78"/>
              </a:rPr>
              <a:t> باشند به عنوان عضو </a:t>
            </a:r>
            <a:r>
              <a:rPr lang="fa-IR" sz="2200" i="0" dirty="0" err="1">
                <a:solidFill>
                  <a:srgbClr val="000000"/>
                </a:solidFill>
                <a:effectLst/>
                <a:latin typeface="B Nazanin" panose="00000400000000000000" pitchFamily="2" charset="-78"/>
                <a:cs typeface="B Nazanin" panose="00000400000000000000" pitchFamily="2" charset="-78"/>
              </a:rPr>
              <a:t>مورب</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خرپا</a:t>
            </a:r>
            <a:r>
              <a:rPr lang="fa-IR" sz="2200" i="0" dirty="0">
                <a:solidFill>
                  <a:srgbClr val="000000"/>
                </a:solidFill>
                <a:effectLst/>
                <a:latin typeface="B Nazanin" panose="00000400000000000000" pitchFamily="2" charset="-78"/>
                <a:cs typeface="B Nazanin" panose="00000400000000000000" pitchFamily="2" charset="-78"/>
              </a:rPr>
              <a:t> عمل نموده </a:t>
            </a:r>
          </a:p>
          <a:p>
            <a:pPr lvl="1" algn="r"/>
            <a:r>
              <a:rPr lang="fa-IR" sz="2200" i="0" dirty="0">
                <a:solidFill>
                  <a:srgbClr val="000000"/>
                </a:solidFill>
                <a:effectLst/>
                <a:latin typeface="B Nazanin" panose="00000400000000000000" pitchFamily="2" charset="-78"/>
                <a:cs typeface="B Nazanin" panose="00000400000000000000" pitchFamily="2" charset="-78"/>
              </a:rPr>
              <a:t>و به </a:t>
            </a:r>
            <a:r>
              <a:rPr lang="fa-IR" sz="2200" i="0" dirty="0" err="1">
                <a:solidFill>
                  <a:srgbClr val="000000"/>
                </a:solidFill>
                <a:effectLst/>
                <a:latin typeface="B Nazanin" panose="00000400000000000000" pitchFamily="2" charset="-78"/>
                <a:cs typeface="B Nazanin" panose="00000400000000000000" pitchFamily="2" charset="-78"/>
              </a:rPr>
              <a:t>كمك</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اعضاي</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كششي</a:t>
            </a:r>
            <a:r>
              <a:rPr lang="fa-IR" sz="2200" i="0" dirty="0">
                <a:solidFill>
                  <a:srgbClr val="000000"/>
                </a:solidFill>
                <a:effectLst/>
                <a:latin typeface="B Nazanin" panose="00000400000000000000" pitchFamily="2" charset="-78"/>
                <a:cs typeface="B Nazanin" panose="00000400000000000000" pitchFamily="2" charset="-78"/>
              </a:rPr>
              <a:t> و </a:t>
            </a:r>
            <a:r>
              <a:rPr lang="fa-IR" sz="2200" i="0" dirty="0" err="1">
                <a:solidFill>
                  <a:srgbClr val="000000"/>
                </a:solidFill>
                <a:effectLst/>
                <a:latin typeface="B Nazanin" panose="00000400000000000000" pitchFamily="2" charset="-78"/>
                <a:cs typeface="B Nazanin" panose="00000400000000000000" pitchFamily="2" charset="-78"/>
              </a:rPr>
              <a:t>فشاري</a:t>
            </a:r>
            <a:r>
              <a:rPr lang="fa-IR" sz="2200" i="0" dirty="0">
                <a:solidFill>
                  <a:srgbClr val="000000"/>
                </a:solidFill>
                <a:effectLst/>
                <a:latin typeface="B Nazanin" panose="00000400000000000000" pitchFamily="2" charset="-78"/>
                <a:cs typeface="B Nazanin" panose="00000400000000000000" pitchFamily="2" charset="-78"/>
              </a:rPr>
              <a:t> بار وارده را تحمل می کند.</a:t>
            </a:r>
          </a:p>
          <a:p>
            <a:pPr lvl="1" algn="r"/>
            <a:endParaRPr lang="fa-IR" sz="2200" i="0" dirty="0">
              <a:solidFill>
                <a:srgbClr val="000000"/>
              </a:solidFill>
              <a:effectLst/>
              <a:latin typeface="B Nazanin" panose="00000400000000000000" pitchFamily="2" charset="-78"/>
              <a:cs typeface="B Nazanin" panose="00000400000000000000" pitchFamily="2" charset="-78"/>
            </a:endParaRPr>
          </a:p>
          <a:p>
            <a:pPr lvl="1" algn="r"/>
            <a:r>
              <a:rPr lang="fa-IR" sz="2200" i="0" dirty="0">
                <a:solidFill>
                  <a:srgbClr val="000000"/>
                </a:solidFill>
                <a:effectLst/>
                <a:latin typeface="B Nazanin" panose="00000400000000000000" pitchFamily="2" charset="-78"/>
                <a:cs typeface="B Nazanin" panose="00000400000000000000" pitchFamily="2" charset="-78"/>
              </a:rPr>
              <a:t>بال </a:t>
            </a:r>
            <a:r>
              <a:rPr lang="fa-IR" sz="2200" i="0" dirty="0" err="1">
                <a:solidFill>
                  <a:srgbClr val="000000"/>
                </a:solidFill>
                <a:effectLst/>
                <a:latin typeface="B Nazanin" panose="00000400000000000000" pitchFamily="2" charset="-78"/>
                <a:cs typeface="B Nazanin" panose="00000400000000000000" pitchFamily="2" charset="-78"/>
              </a:rPr>
              <a:t>فوقاني</a:t>
            </a:r>
            <a:r>
              <a:rPr lang="fa-IR" sz="2200" i="0" dirty="0">
                <a:solidFill>
                  <a:srgbClr val="000000"/>
                </a:solidFill>
                <a:effectLst/>
                <a:latin typeface="B Nazanin" panose="00000400000000000000" pitchFamily="2" charset="-78"/>
                <a:cs typeface="B Nazanin" panose="00000400000000000000" pitchFamily="2" charset="-78"/>
              </a:rPr>
              <a:t> </a:t>
            </a:r>
          </a:p>
          <a:p>
            <a:pPr lvl="1" algn="r"/>
            <a:r>
              <a:rPr lang="fa-IR" sz="2200" i="0" dirty="0">
                <a:solidFill>
                  <a:srgbClr val="000000"/>
                </a:solidFill>
                <a:effectLst/>
                <a:latin typeface="B Nazanin" panose="00000400000000000000" pitchFamily="2" charset="-78"/>
                <a:cs typeface="B Nazanin" panose="00000400000000000000" pitchFamily="2" charset="-78"/>
              </a:rPr>
              <a:t>بال </a:t>
            </a:r>
            <a:r>
              <a:rPr lang="fa-IR" sz="2200" i="0" dirty="0" err="1">
                <a:solidFill>
                  <a:srgbClr val="000000"/>
                </a:solidFill>
                <a:effectLst/>
                <a:latin typeface="B Nazanin" panose="00000400000000000000" pitchFamily="2" charset="-78"/>
                <a:cs typeface="B Nazanin" panose="00000400000000000000" pitchFamily="2" charset="-78"/>
              </a:rPr>
              <a:t>فوقاني</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تيرچه</a:t>
            </a:r>
            <a:r>
              <a:rPr lang="fa-IR" sz="2200" i="0" dirty="0">
                <a:solidFill>
                  <a:srgbClr val="000000"/>
                </a:solidFill>
                <a:effectLst/>
                <a:latin typeface="B Nazanin" panose="00000400000000000000" pitchFamily="2" charset="-78"/>
                <a:cs typeface="B Nazanin" panose="00000400000000000000" pitchFamily="2" charset="-78"/>
              </a:rPr>
              <a:t>، از </a:t>
            </a:r>
            <a:r>
              <a:rPr lang="fa-IR" sz="2200" i="0" dirty="0" err="1">
                <a:solidFill>
                  <a:srgbClr val="000000"/>
                </a:solidFill>
                <a:effectLst/>
                <a:latin typeface="B Nazanin" panose="00000400000000000000" pitchFamily="2" charset="-78"/>
                <a:cs typeface="B Nazanin" panose="00000400000000000000" pitchFamily="2" charset="-78"/>
              </a:rPr>
              <a:t>نبشي</a:t>
            </a:r>
            <a:r>
              <a:rPr lang="fa-IR" sz="2200" i="0" dirty="0">
                <a:solidFill>
                  <a:srgbClr val="000000"/>
                </a:solidFill>
                <a:effectLst/>
                <a:latin typeface="B Nazanin" panose="00000400000000000000" pitchFamily="2" charset="-78"/>
                <a:cs typeface="B Nazanin" panose="00000400000000000000" pitchFamily="2" charset="-78"/>
              </a:rPr>
              <a:t>، تسمه </a:t>
            </a:r>
            <a:r>
              <a:rPr lang="fa-IR" sz="2200" i="0" dirty="0" err="1">
                <a:solidFill>
                  <a:srgbClr val="000000"/>
                </a:solidFill>
                <a:effectLst/>
                <a:latin typeface="B Nazanin" panose="00000400000000000000" pitchFamily="2" charset="-78"/>
                <a:cs typeface="B Nazanin" panose="00000400000000000000" pitchFamily="2" charset="-78"/>
              </a:rPr>
              <a:t>يا</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ناوداني</a:t>
            </a:r>
            <a:r>
              <a:rPr lang="fa-IR" sz="2200" i="0" dirty="0">
                <a:solidFill>
                  <a:srgbClr val="000000"/>
                </a:solidFill>
                <a:effectLst/>
                <a:latin typeface="B Nazanin" panose="00000400000000000000" pitchFamily="2" charset="-78"/>
                <a:cs typeface="B Nazanin" panose="00000400000000000000" pitchFamily="2" charset="-78"/>
              </a:rPr>
              <a:t> ساخته شده و در داخل بتن </a:t>
            </a:r>
            <a:r>
              <a:rPr lang="fa-IR" sz="2200" i="0" dirty="0" err="1">
                <a:solidFill>
                  <a:srgbClr val="000000"/>
                </a:solidFill>
                <a:effectLst/>
                <a:latin typeface="B Nazanin" panose="00000400000000000000" pitchFamily="2" charset="-78"/>
                <a:cs typeface="B Nazanin" panose="00000400000000000000" pitchFamily="2" charset="-78"/>
              </a:rPr>
              <a:t>پوششي</a:t>
            </a:r>
            <a:r>
              <a:rPr lang="fa-IR" sz="2200" i="0" dirty="0">
                <a:solidFill>
                  <a:srgbClr val="000000"/>
                </a:solidFill>
                <a:effectLst/>
                <a:latin typeface="B Nazanin" panose="00000400000000000000" pitchFamily="2" charset="-78"/>
                <a:cs typeface="B Nazanin" panose="00000400000000000000" pitchFamily="2" charset="-78"/>
              </a:rPr>
              <a:t> قرار </a:t>
            </a:r>
            <a:r>
              <a:rPr lang="fa-IR" sz="2200" i="0" dirty="0" err="1">
                <a:solidFill>
                  <a:srgbClr val="000000"/>
                </a:solidFill>
                <a:effectLst/>
                <a:latin typeface="B Nazanin" panose="00000400000000000000" pitchFamily="2" charset="-78"/>
                <a:cs typeface="B Nazanin" panose="00000400000000000000" pitchFamily="2" charset="-78"/>
              </a:rPr>
              <a:t>مي</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گيرد</a:t>
            </a:r>
            <a:r>
              <a:rPr lang="fa-IR" sz="2200" i="0" dirty="0">
                <a:solidFill>
                  <a:srgbClr val="000000"/>
                </a:solidFill>
                <a:effectLst/>
                <a:latin typeface="B Nazanin" panose="00000400000000000000" pitchFamily="2" charset="-78"/>
                <a:cs typeface="B Nazanin" panose="00000400000000000000" pitchFamily="2" charset="-78"/>
              </a:rPr>
              <a:t>.</a:t>
            </a:r>
          </a:p>
        </p:txBody>
      </p:sp>
    </p:spTree>
    <p:extLst>
      <p:ext uri="{BB962C8B-B14F-4D97-AF65-F5344CB8AC3E}">
        <p14:creationId xmlns:p14="http://schemas.microsoft.com/office/powerpoint/2010/main" val="34878705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D0AE722-3A17-4292-8B0C-015DEE23F973}"/>
              </a:ext>
            </a:extLst>
          </p:cNvPr>
          <p:cNvSpPr>
            <a:spLocks noGrp="1"/>
          </p:cNvSpPr>
          <p:nvPr>
            <p:ph type="title"/>
          </p:nvPr>
        </p:nvSpPr>
        <p:spPr>
          <a:xfrm>
            <a:off x="826489" y="190095"/>
            <a:ext cx="10900146" cy="935776"/>
          </a:xfrm>
        </p:spPr>
        <p:txBody>
          <a:bodyPr>
            <a:noAutofit/>
          </a:bodyPr>
          <a:lstStyle/>
          <a:p>
            <a:pPr algn="r"/>
            <a:r>
              <a:rPr lang="fa-IR" spc="0" dirty="0">
                <a:cs typeface="B Nazanin" panose="00000400000000000000" pitchFamily="2" charset="-78"/>
              </a:rPr>
              <a:t>انواع تیرچه:</a:t>
            </a:r>
            <a:endParaRPr lang="en-US" spc="0" dirty="0">
              <a:cs typeface="B Nazanin" panose="00000400000000000000" pitchFamily="2" charset="-78"/>
            </a:endParaRPr>
          </a:p>
        </p:txBody>
      </p:sp>
      <p:sp>
        <p:nvSpPr>
          <p:cNvPr id="6" name="Slide Number Placeholder 5">
            <a:extLst>
              <a:ext uri="{FF2B5EF4-FFF2-40B4-BE49-F238E27FC236}">
                <a16:creationId xmlns:a16="http://schemas.microsoft.com/office/drawing/2014/main" id="{8A75989F-94E4-487A-845C-A4F547DDFE8D}"/>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pPr/>
              <a:t>33</a:t>
            </a:fld>
            <a:endParaRPr lang="en-US" dirty="0"/>
          </a:p>
        </p:txBody>
      </p:sp>
      <p:sp>
        <p:nvSpPr>
          <p:cNvPr id="25" name="TextBox 24">
            <a:extLst>
              <a:ext uri="{FF2B5EF4-FFF2-40B4-BE49-F238E27FC236}">
                <a16:creationId xmlns:a16="http://schemas.microsoft.com/office/drawing/2014/main" id="{87322C07-EC5C-4192-9ED6-4B496278CC69}"/>
              </a:ext>
            </a:extLst>
          </p:cNvPr>
          <p:cNvSpPr txBox="1"/>
          <p:nvPr/>
        </p:nvSpPr>
        <p:spPr>
          <a:xfrm>
            <a:off x="3444535" y="1244596"/>
            <a:ext cx="8104546" cy="1754326"/>
          </a:xfrm>
          <a:prstGeom prst="rect">
            <a:avLst/>
          </a:prstGeom>
          <a:noFill/>
        </p:spPr>
        <p:txBody>
          <a:bodyPr wrap="square">
            <a:spAutoFit/>
          </a:bodyPr>
          <a:lstStyle/>
          <a:p>
            <a:pPr lvl="1" algn="r"/>
            <a:br>
              <a:rPr lang="fa-IR" sz="2200" b="0" i="0" dirty="0">
                <a:solidFill>
                  <a:srgbClr val="000000"/>
                </a:solidFill>
                <a:effectLst/>
                <a:latin typeface="B Nazanin" panose="00000400000000000000" pitchFamily="2" charset="-78"/>
                <a:cs typeface="B Nazanin" panose="00000400000000000000" pitchFamily="2" charset="-78"/>
              </a:rPr>
            </a:br>
            <a:br>
              <a:rPr lang="fa-IR" sz="2200" b="1" i="0" dirty="0">
                <a:solidFill>
                  <a:srgbClr val="000000"/>
                </a:solidFill>
                <a:effectLst/>
                <a:latin typeface="B Nazanin" panose="00000400000000000000" pitchFamily="2" charset="-78"/>
                <a:cs typeface="B Nazanin" panose="00000400000000000000" pitchFamily="2" charset="-78"/>
              </a:rPr>
            </a:br>
            <a:r>
              <a:rPr lang="fa-IR" sz="2200" b="0" i="0" dirty="0">
                <a:solidFill>
                  <a:srgbClr val="000000"/>
                </a:solidFill>
                <a:effectLst/>
                <a:latin typeface="B Nazanin" panose="00000400000000000000" pitchFamily="2" charset="-78"/>
                <a:cs typeface="B Nazanin" panose="00000400000000000000" pitchFamily="2" charset="-78"/>
              </a:rPr>
              <a:t>الف: تیرچه با جان باز</a:t>
            </a:r>
            <a:br>
              <a:rPr lang="fa-IR" sz="2200" b="0" i="0" dirty="0">
                <a:solidFill>
                  <a:srgbClr val="000000"/>
                </a:solidFill>
                <a:effectLst/>
                <a:latin typeface="B Nazanin" panose="00000400000000000000" pitchFamily="2" charset="-78"/>
                <a:cs typeface="B Nazanin" panose="00000400000000000000" pitchFamily="2" charset="-78"/>
              </a:rPr>
            </a:br>
            <a:r>
              <a:rPr lang="fa-IR" sz="2200" b="0" i="0" dirty="0">
                <a:solidFill>
                  <a:srgbClr val="000000"/>
                </a:solidFill>
                <a:effectLst/>
                <a:latin typeface="B Nazanin" panose="00000400000000000000" pitchFamily="2" charset="-78"/>
                <a:cs typeface="B Nazanin" panose="00000400000000000000" pitchFamily="2" charset="-78"/>
              </a:rPr>
              <a:t>ب: تیرچه پیش تنیده</a:t>
            </a:r>
            <a:r>
              <a:rPr lang="fa-IR" sz="2200" dirty="0">
                <a:latin typeface="Arial Unicode MS" panose="020B0604020202020204" pitchFamily="34" charset="-128"/>
              </a:rPr>
              <a:t> </a:t>
            </a:r>
            <a:br>
              <a:rPr lang="fa-IR" sz="2000" dirty="0">
                <a:latin typeface="Arial Unicode MS" panose="020B0604020202020204" pitchFamily="34" charset="-128"/>
              </a:rPr>
            </a:br>
            <a:endParaRPr lang="en-US" sz="2000" dirty="0">
              <a:latin typeface="Arial Unicode MS" panose="020B0604020202020204" pitchFamily="34" charset="-128"/>
              <a:cs typeface="B Nazanin" panose="00000400000000000000" pitchFamily="2" charset="-78"/>
            </a:endParaRPr>
          </a:p>
        </p:txBody>
      </p:sp>
      <p:pic>
        <p:nvPicPr>
          <p:cNvPr id="2" name="Picture 1">
            <a:extLst>
              <a:ext uri="{FF2B5EF4-FFF2-40B4-BE49-F238E27FC236}">
                <a16:creationId xmlns:a16="http://schemas.microsoft.com/office/drawing/2014/main" id="{41186F66-AB7B-4DA5-B201-0AEB7980E8C2}"/>
              </a:ext>
            </a:extLst>
          </p:cNvPr>
          <p:cNvPicPr>
            <a:picLocks noChangeAspect="1"/>
          </p:cNvPicPr>
          <p:nvPr/>
        </p:nvPicPr>
        <p:blipFill>
          <a:blip r:embed="rId2"/>
          <a:stretch>
            <a:fillRect/>
          </a:stretch>
        </p:blipFill>
        <p:spPr>
          <a:xfrm>
            <a:off x="5554832" y="1745394"/>
            <a:ext cx="1600895" cy="1707179"/>
          </a:xfrm>
          <a:prstGeom prst="rect">
            <a:avLst/>
          </a:prstGeom>
        </p:spPr>
      </p:pic>
      <p:pic>
        <p:nvPicPr>
          <p:cNvPr id="5" name="Picture 4">
            <a:extLst>
              <a:ext uri="{FF2B5EF4-FFF2-40B4-BE49-F238E27FC236}">
                <a16:creationId xmlns:a16="http://schemas.microsoft.com/office/drawing/2014/main" id="{2E7F6CBA-C34E-414B-ACC4-DB6E05E7AA76}"/>
              </a:ext>
            </a:extLst>
          </p:cNvPr>
          <p:cNvPicPr>
            <a:picLocks noChangeAspect="1"/>
          </p:cNvPicPr>
          <p:nvPr/>
        </p:nvPicPr>
        <p:blipFill>
          <a:blip r:embed="rId3"/>
          <a:stretch>
            <a:fillRect/>
          </a:stretch>
        </p:blipFill>
        <p:spPr>
          <a:xfrm>
            <a:off x="3207557" y="1745393"/>
            <a:ext cx="1674969" cy="1707180"/>
          </a:xfrm>
          <a:prstGeom prst="rect">
            <a:avLst/>
          </a:prstGeom>
        </p:spPr>
      </p:pic>
      <p:pic>
        <p:nvPicPr>
          <p:cNvPr id="8" name="Picture 7">
            <a:extLst>
              <a:ext uri="{FF2B5EF4-FFF2-40B4-BE49-F238E27FC236}">
                <a16:creationId xmlns:a16="http://schemas.microsoft.com/office/drawing/2014/main" id="{60213C53-05D1-4716-B063-2055729EC5FF}"/>
              </a:ext>
            </a:extLst>
          </p:cNvPr>
          <p:cNvPicPr>
            <a:picLocks noChangeAspect="1"/>
          </p:cNvPicPr>
          <p:nvPr/>
        </p:nvPicPr>
        <p:blipFill>
          <a:blip r:embed="rId4"/>
          <a:stretch>
            <a:fillRect/>
          </a:stretch>
        </p:blipFill>
        <p:spPr>
          <a:xfrm>
            <a:off x="381550" y="1497465"/>
            <a:ext cx="2390679" cy="4461841"/>
          </a:xfrm>
          <a:prstGeom prst="rect">
            <a:avLst/>
          </a:prstGeom>
        </p:spPr>
      </p:pic>
      <p:pic>
        <p:nvPicPr>
          <p:cNvPr id="9" name="Picture 8">
            <a:extLst>
              <a:ext uri="{FF2B5EF4-FFF2-40B4-BE49-F238E27FC236}">
                <a16:creationId xmlns:a16="http://schemas.microsoft.com/office/drawing/2014/main" id="{6B64B0F8-D5BC-495E-9B7E-962F2B5581C7}"/>
              </a:ext>
            </a:extLst>
          </p:cNvPr>
          <p:cNvPicPr>
            <a:picLocks noChangeAspect="1"/>
          </p:cNvPicPr>
          <p:nvPr/>
        </p:nvPicPr>
        <p:blipFill>
          <a:blip r:embed="rId5"/>
          <a:stretch>
            <a:fillRect/>
          </a:stretch>
        </p:blipFill>
        <p:spPr>
          <a:xfrm>
            <a:off x="3207557" y="3811335"/>
            <a:ext cx="3948170" cy="1802069"/>
          </a:xfrm>
          <a:prstGeom prst="rect">
            <a:avLst/>
          </a:prstGeom>
        </p:spPr>
      </p:pic>
    </p:spTree>
    <p:extLst>
      <p:ext uri="{BB962C8B-B14F-4D97-AF65-F5344CB8AC3E}">
        <p14:creationId xmlns:p14="http://schemas.microsoft.com/office/powerpoint/2010/main" val="36373755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D0AE722-3A17-4292-8B0C-015DEE23F973}"/>
              </a:ext>
            </a:extLst>
          </p:cNvPr>
          <p:cNvSpPr>
            <a:spLocks noGrp="1"/>
          </p:cNvSpPr>
          <p:nvPr>
            <p:ph type="title"/>
          </p:nvPr>
        </p:nvSpPr>
        <p:spPr>
          <a:xfrm>
            <a:off x="826489" y="190095"/>
            <a:ext cx="10900146" cy="935776"/>
          </a:xfrm>
        </p:spPr>
        <p:txBody>
          <a:bodyPr>
            <a:noAutofit/>
          </a:bodyPr>
          <a:lstStyle/>
          <a:p>
            <a:pPr algn="r"/>
            <a:r>
              <a:rPr lang="fa-IR" spc="0" dirty="0">
                <a:cs typeface="B Nazanin" panose="00000400000000000000" pitchFamily="2" charset="-78"/>
              </a:rPr>
              <a:t>2) بلوک:</a:t>
            </a:r>
            <a:endParaRPr lang="en-US" spc="0" dirty="0">
              <a:cs typeface="B Nazanin" panose="00000400000000000000" pitchFamily="2" charset="-78"/>
            </a:endParaRPr>
          </a:p>
        </p:txBody>
      </p:sp>
      <p:sp>
        <p:nvSpPr>
          <p:cNvPr id="6" name="Slide Number Placeholder 5">
            <a:extLst>
              <a:ext uri="{FF2B5EF4-FFF2-40B4-BE49-F238E27FC236}">
                <a16:creationId xmlns:a16="http://schemas.microsoft.com/office/drawing/2014/main" id="{8A75989F-94E4-487A-845C-A4F547DDFE8D}"/>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pPr/>
              <a:t>34</a:t>
            </a:fld>
            <a:endParaRPr lang="en-US" dirty="0"/>
          </a:p>
        </p:txBody>
      </p:sp>
      <p:sp>
        <p:nvSpPr>
          <p:cNvPr id="25" name="TextBox 24">
            <a:extLst>
              <a:ext uri="{FF2B5EF4-FFF2-40B4-BE49-F238E27FC236}">
                <a16:creationId xmlns:a16="http://schemas.microsoft.com/office/drawing/2014/main" id="{87322C07-EC5C-4192-9ED6-4B496278CC69}"/>
              </a:ext>
            </a:extLst>
          </p:cNvPr>
          <p:cNvSpPr txBox="1"/>
          <p:nvPr/>
        </p:nvSpPr>
        <p:spPr>
          <a:xfrm>
            <a:off x="-362857" y="1419085"/>
            <a:ext cx="12089492" cy="4493538"/>
          </a:xfrm>
          <a:prstGeom prst="rect">
            <a:avLst/>
          </a:prstGeom>
          <a:noFill/>
        </p:spPr>
        <p:txBody>
          <a:bodyPr wrap="square">
            <a:spAutoFit/>
          </a:bodyPr>
          <a:lstStyle/>
          <a:p>
            <a:pPr lvl="1" algn="r"/>
            <a:r>
              <a:rPr lang="fa-IR" sz="2200" i="0" dirty="0">
                <a:solidFill>
                  <a:srgbClr val="000000"/>
                </a:solidFill>
                <a:effectLst/>
                <a:latin typeface="B Nazanin" panose="00000400000000000000" pitchFamily="2" charset="-78"/>
                <a:cs typeface="B Nazanin" panose="00000400000000000000" pitchFamily="2" charset="-78"/>
              </a:rPr>
              <a:t>وظیفه بلوک</a:t>
            </a:r>
          </a:p>
          <a:p>
            <a:pPr lvl="1" algn="r"/>
            <a:endParaRPr lang="fa-IR" sz="2200" i="0" dirty="0">
              <a:solidFill>
                <a:srgbClr val="000000"/>
              </a:solidFill>
              <a:effectLst/>
              <a:latin typeface="B Nazanin" panose="00000400000000000000" pitchFamily="2" charset="-78"/>
              <a:cs typeface="B Nazanin" panose="00000400000000000000" pitchFamily="2" charset="-78"/>
            </a:endParaRPr>
          </a:p>
          <a:p>
            <a:pPr lvl="1" algn="r"/>
            <a:r>
              <a:rPr lang="fa-IR" sz="2200" i="0" dirty="0">
                <a:solidFill>
                  <a:srgbClr val="000000"/>
                </a:solidFill>
                <a:effectLst/>
                <a:latin typeface="B Nazanin" panose="00000400000000000000" pitchFamily="2" charset="-78"/>
                <a:cs typeface="B Nazanin" panose="00000400000000000000" pitchFamily="2" charset="-78"/>
              </a:rPr>
              <a:t>• پرکننده</a:t>
            </a:r>
          </a:p>
          <a:p>
            <a:pPr lvl="1" algn="r"/>
            <a:endParaRPr lang="fa-IR" sz="2200" i="0" dirty="0">
              <a:solidFill>
                <a:srgbClr val="000000"/>
              </a:solidFill>
              <a:effectLst/>
              <a:latin typeface="B Nazanin" panose="00000400000000000000" pitchFamily="2" charset="-78"/>
              <a:cs typeface="B Nazanin" panose="00000400000000000000" pitchFamily="2" charset="-78"/>
            </a:endParaRPr>
          </a:p>
          <a:p>
            <a:pPr lvl="1" algn="r"/>
            <a:r>
              <a:rPr lang="fa-IR" sz="2200" i="0" dirty="0">
                <a:solidFill>
                  <a:srgbClr val="000000"/>
                </a:solidFill>
                <a:effectLst/>
                <a:latin typeface="B Nazanin" panose="00000400000000000000" pitchFamily="2" charset="-78"/>
                <a:cs typeface="B Nazanin" panose="00000400000000000000" pitchFamily="2" charset="-78"/>
              </a:rPr>
              <a:t>• قالب بتن</a:t>
            </a:r>
          </a:p>
          <a:p>
            <a:pPr lvl="1" algn="r"/>
            <a:endParaRPr lang="fa-IR" sz="2200" i="0" dirty="0">
              <a:solidFill>
                <a:srgbClr val="000000"/>
              </a:solidFill>
              <a:effectLst/>
              <a:latin typeface="B Nazanin" panose="00000400000000000000" pitchFamily="2" charset="-78"/>
              <a:cs typeface="B Nazanin" panose="00000400000000000000" pitchFamily="2" charset="-78"/>
            </a:endParaRPr>
          </a:p>
          <a:p>
            <a:pPr lvl="1" algn="r"/>
            <a:r>
              <a:rPr lang="fa-IR" sz="2200" i="0" dirty="0">
                <a:solidFill>
                  <a:srgbClr val="000000"/>
                </a:solidFill>
                <a:effectLst/>
                <a:latin typeface="B Nazanin" panose="00000400000000000000" pitchFamily="2" charset="-78"/>
                <a:cs typeface="B Nazanin" panose="00000400000000000000" pitchFamily="2" charset="-78"/>
              </a:rPr>
              <a:t>انواع بلوک</a:t>
            </a:r>
          </a:p>
          <a:p>
            <a:pPr lvl="1" algn="r"/>
            <a:endParaRPr lang="fa-IR" sz="2200" i="0" dirty="0">
              <a:solidFill>
                <a:srgbClr val="000000"/>
              </a:solidFill>
              <a:effectLst/>
              <a:latin typeface="B Nazanin" panose="00000400000000000000" pitchFamily="2" charset="-78"/>
              <a:cs typeface="B Nazanin" panose="00000400000000000000" pitchFamily="2" charset="-78"/>
            </a:endParaRPr>
          </a:p>
          <a:p>
            <a:pPr lvl="1" algn="r"/>
            <a:r>
              <a:rPr lang="fa-IR" sz="2200" i="0" dirty="0">
                <a:solidFill>
                  <a:srgbClr val="000000"/>
                </a:solidFill>
                <a:effectLst/>
                <a:latin typeface="B Nazanin" panose="00000400000000000000" pitchFamily="2" charset="-78"/>
                <a:cs typeface="B Nazanin" panose="00000400000000000000" pitchFamily="2" charset="-78"/>
              </a:rPr>
              <a:t>• سفالی</a:t>
            </a:r>
          </a:p>
          <a:p>
            <a:pPr lvl="1" algn="r"/>
            <a:endParaRPr lang="fa-IR" sz="2200" i="0" dirty="0">
              <a:solidFill>
                <a:srgbClr val="000000"/>
              </a:solidFill>
              <a:effectLst/>
              <a:latin typeface="B Nazanin" panose="00000400000000000000" pitchFamily="2" charset="-78"/>
              <a:cs typeface="B Nazanin" panose="00000400000000000000" pitchFamily="2" charset="-78"/>
            </a:endParaRPr>
          </a:p>
          <a:p>
            <a:pPr lvl="1" algn="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پلیمری</a:t>
            </a:r>
            <a:endParaRPr lang="fa-IR" sz="2200" i="0" dirty="0">
              <a:solidFill>
                <a:srgbClr val="000000"/>
              </a:solidFill>
              <a:effectLst/>
              <a:latin typeface="B Nazanin" panose="00000400000000000000" pitchFamily="2" charset="-78"/>
              <a:cs typeface="B Nazanin" panose="00000400000000000000" pitchFamily="2" charset="-78"/>
            </a:endParaRPr>
          </a:p>
          <a:p>
            <a:pPr lvl="1" algn="r"/>
            <a:endParaRPr lang="fa-IR" sz="2200" i="0" dirty="0">
              <a:solidFill>
                <a:srgbClr val="000000"/>
              </a:solidFill>
              <a:effectLst/>
              <a:latin typeface="B Nazanin" panose="00000400000000000000" pitchFamily="2" charset="-78"/>
              <a:cs typeface="B Nazanin" panose="00000400000000000000" pitchFamily="2" charset="-78"/>
            </a:endParaRPr>
          </a:p>
          <a:p>
            <a:pPr lvl="1" algn="r"/>
            <a:r>
              <a:rPr lang="fa-IR" sz="2200" i="0" dirty="0">
                <a:solidFill>
                  <a:srgbClr val="000000"/>
                </a:solidFill>
                <a:effectLst/>
                <a:latin typeface="B Nazanin" panose="00000400000000000000" pitchFamily="2" charset="-78"/>
                <a:cs typeface="B Nazanin" panose="00000400000000000000" pitchFamily="2" charset="-78"/>
              </a:rPr>
              <a:t>• سیمانی</a:t>
            </a:r>
            <a:endParaRPr lang="en-US" sz="2200" dirty="0">
              <a:latin typeface="Arial Unicode MS" panose="020B0604020202020204" pitchFamily="34" charset="-128"/>
              <a:cs typeface="B Nazanin" panose="00000400000000000000" pitchFamily="2" charset="-78"/>
            </a:endParaRPr>
          </a:p>
        </p:txBody>
      </p:sp>
      <p:pic>
        <p:nvPicPr>
          <p:cNvPr id="7" name="Picture 6">
            <a:extLst>
              <a:ext uri="{FF2B5EF4-FFF2-40B4-BE49-F238E27FC236}">
                <a16:creationId xmlns:a16="http://schemas.microsoft.com/office/drawing/2014/main" id="{B695FFED-5E27-48C7-98FD-1A9AE2330EBB}"/>
              </a:ext>
            </a:extLst>
          </p:cNvPr>
          <p:cNvPicPr>
            <a:picLocks noChangeAspect="1"/>
          </p:cNvPicPr>
          <p:nvPr/>
        </p:nvPicPr>
        <p:blipFill>
          <a:blip r:embed="rId2"/>
          <a:stretch>
            <a:fillRect/>
          </a:stretch>
        </p:blipFill>
        <p:spPr>
          <a:xfrm>
            <a:off x="1496491" y="2542469"/>
            <a:ext cx="1761897" cy="1585097"/>
          </a:xfrm>
          <a:prstGeom prst="rect">
            <a:avLst/>
          </a:prstGeom>
        </p:spPr>
      </p:pic>
      <p:pic>
        <p:nvPicPr>
          <p:cNvPr id="8" name="Picture 7">
            <a:extLst>
              <a:ext uri="{FF2B5EF4-FFF2-40B4-BE49-F238E27FC236}">
                <a16:creationId xmlns:a16="http://schemas.microsoft.com/office/drawing/2014/main" id="{1ABBCD58-4D26-494E-9024-01F4F89AA25C}"/>
              </a:ext>
            </a:extLst>
          </p:cNvPr>
          <p:cNvPicPr>
            <a:picLocks noChangeAspect="1"/>
          </p:cNvPicPr>
          <p:nvPr/>
        </p:nvPicPr>
        <p:blipFill>
          <a:blip r:embed="rId3"/>
          <a:stretch>
            <a:fillRect/>
          </a:stretch>
        </p:blipFill>
        <p:spPr>
          <a:xfrm>
            <a:off x="1496491" y="4182864"/>
            <a:ext cx="1841152" cy="1639966"/>
          </a:xfrm>
          <a:prstGeom prst="rect">
            <a:avLst/>
          </a:prstGeom>
        </p:spPr>
      </p:pic>
      <p:pic>
        <p:nvPicPr>
          <p:cNvPr id="9" name="Picture 8">
            <a:extLst>
              <a:ext uri="{FF2B5EF4-FFF2-40B4-BE49-F238E27FC236}">
                <a16:creationId xmlns:a16="http://schemas.microsoft.com/office/drawing/2014/main" id="{FA6A6302-9A50-4B77-B450-3E4E5B1C2500}"/>
              </a:ext>
            </a:extLst>
          </p:cNvPr>
          <p:cNvPicPr>
            <a:picLocks noChangeAspect="1"/>
          </p:cNvPicPr>
          <p:nvPr/>
        </p:nvPicPr>
        <p:blipFill>
          <a:blip r:embed="rId4"/>
          <a:stretch>
            <a:fillRect/>
          </a:stretch>
        </p:blipFill>
        <p:spPr>
          <a:xfrm>
            <a:off x="3537626" y="2577026"/>
            <a:ext cx="1987468" cy="1347333"/>
          </a:xfrm>
          <a:prstGeom prst="rect">
            <a:avLst/>
          </a:prstGeom>
        </p:spPr>
      </p:pic>
      <p:pic>
        <p:nvPicPr>
          <p:cNvPr id="11" name="Picture 10">
            <a:extLst>
              <a:ext uri="{FF2B5EF4-FFF2-40B4-BE49-F238E27FC236}">
                <a16:creationId xmlns:a16="http://schemas.microsoft.com/office/drawing/2014/main" id="{E52EE74E-D3A7-4E4E-B94A-84F0F1AB1BEA}"/>
              </a:ext>
            </a:extLst>
          </p:cNvPr>
          <p:cNvPicPr>
            <a:picLocks noChangeAspect="1"/>
          </p:cNvPicPr>
          <p:nvPr/>
        </p:nvPicPr>
        <p:blipFill>
          <a:blip r:embed="rId5"/>
          <a:stretch>
            <a:fillRect/>
          </a:stretch>
        </p:blipFill>
        <p:spPr>
          <a:xfrm>
            <a:off x="5804332" y="2587349"/>
            <a:ext cx="2322777" cy="1371719"/>
          </a:xfrm>
          <a:prstGeom prst="rect">
            <a:avLst/>
          </a:prstGeom>
        </p:spPr>
      </p:pic>
      <p:pic>
        <p:nvPicPr>
          <p:cNvPr id="12" name="Picture 11">
            <a:extLst>
              <a:ext uri="{FF2B5EF4-FFF2-40B4-BE49-F238E27FC236}">
                <a16:creationId xmlns:a16="http://schemas.microsoft.com/office/drawing/2014/main" id="{8B523433-6411-4FF3-BB6E-AF59F22A7FA1}"/>
              </a:ext>
            </a:extLst>
          </p:cNvPr>
          <p:cNvPicPr>
            <a:picLocks noChangeAspect="1"/>
          </p:cNvPicPr>
          <p:nvPr/>
        </p:nvPicPr>
        <p:blipFill>
          <a:blip r:embed="rId6"/>
          <a:stretch>
            <a:fillRect/>
          </a:stretch>
        </p:blipFill>
        <p:spPr>
          <a:xfrm>
            <a:off x="3528412" y="4182864"/>
            <a:ext cx="2588717" cy="1719419"/>
          </a:xfrm>
          <a:prstGeom prst="rect">
            <a:avLst/>
          </a:prstGeom>
        </p:spPr>
      </p:pic>
      <p:pic>
        <p:nvPicPr>
          <p:cNvPr id="13" name="Picture 12">
            <a:extLst>
              <a:ext uri="{FF2B5EF4-FFF2-40B4-BE49-F238E27FC236}">
                <a16:creationId xmlns:a16="http://schemas.microsoft.com/office/drawing/2014/main" id="{74C4AF93-5F17-4D4B-B261-8F350C406FBC}"/>
              </a:ext>
            </a:extLst>
          </p:cNvPr>
          <p:cNvPicPr>
            <a:picLocks noChangeAspect="1"/>
          </p:cNvPicPr>
          <p:nvPr/>
        </p:nvPicPr>
        <p:blipFill>
          <a:blip r:embed="rId7"/>
          <a:stretch>
            <a:fillRect/>
          </a:stretch>
        </p:blipFill>
        <p:spPr>
          <a:xfrm>
            <a:off x="6307898" y="4172098"/>
            <a:ext cx="2322777" cy="1738839"/>
          </a:xfrm>
          <a:prstGeom prst="rect">
            <a:avLst/>
          </a:prstGeom>
        </p:spPr>
      </p:pic>
    </p:spTree>
    <p:extLst>
      <p:ext uri="{BB962C8B-B14F-4D97-AF65-F5344CB8AC3E}">
        <p14:creationId xmlns:p14="http://schemas.microsoft.com/office/powerpoint/2010/main" val="12244346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D0AE722-3A17-4292-8B0C-015DEE23F973}"/>
              </a:ext>
            </a:extLst>
          </p:cNvPr>
          <p:cNvSpPr>
            <a:spLocks noGrp="1"/>
          </p:cNvSpPr>
          <p:nvPr>
            <p:ph type="title"/>
          </p:nvPr>
        </p:nvSpPr>
        <p:spPr>
          <a:xfrm>
            <a:off x="779140" y="0"/>
            <a:ext cx="10900146" cy="935776"/>
          </a:xfrm>
        </p:spPr>
        <p:txBody>
          <a:bodyPr>
            <a:noAutofit/>
          </a:bodyPr>
          <a:lstStyle/>
          <a:p>
            <a:pPr algn="r"/>
            <a:br>
              <a:rPr lang="fa-IR" spc="0" dirty="0">
                <a:cs typeface="B Nazanin" panose="00000400000000000000" pitchFamily="2" charset="-78"/>
              </a:rPr>
            </a:br>
            <a:r>
              <a:rPr lang="fa-IR" spc="0" dirty="0">
                <a:cs typeface="B Nazanin" panose="00000400000000000000" pitchFamily="2" charset="-78"/>
              </a:rPr>
              <a:t>3) </a:t>
            </a:r>
            <a:r>
              <a:rPr lang="fa-IR" spc="0" dirty="0" err="1">
                <a:cs typeface="B Nazanin" panose="00000400000000000000" pitchFamily="2" charset="-78"/>
              </a:rPr>
              <a:t>میلگرد</a:t>
            </a:r>
            <a:r>
              <a:rPr lang="fa-IR" spc="0" dirty="0">
                <a:cs typeface="B Nazanin" panose="00000400000000000000" pitchFamily="2" charset="-78"/>
              </a:rPr>
              <a:t> افت و حرارت:</a:t>
            </a:r>
            <a:endParaRPr lang="en-US" spc="0" dirty="0">
              <a:cs typeface="B Nazanin" panose="00000400000000000000" pitchFamily="2" charset="-78"/>
            </a:endParaRPr>
          </a:p>
        </p:txBody>
      </p:sp>
      <p:sp>
        <p:nvSpPr>
          <p:cNvPr id="6" name="Slide Number Placeholder 5">
            <a:extLst>
              <a:ext uri="{FF2B5EF4-FFF2-40B4-BE49-F238E27FC236}">
                <a16:creationId xmlns:a16="http://schemas.microsoft.com/office/drawing/2014/main" id="{8A75989F-94E4-487A-845C-A4F547DDFE8D}"/>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pPr/>
              <a:t>35</a:t>
            </a:fld>
            <a:endParaRPr lang="en-US" dirty="0"/>
          </a:p>
        </p:txBody>
      </p:sp>
      <p:pic>
        <p:nvPicPr>
          <p:cNvPr id="2" name="Picture 1">
            <a:extLst>
              <a:ext uri="{FF2B5EF4-FFF2-40B4-BE49-F238E27FC236}">
                <a16:creationId xmlns:a16="http://schemas.microsoft.com/office/drawing/2014/main" id="{20D493B0-E98C-4EF4-97A4-E7C8FFD799AE}"/>
              </a:ext>
            </a:extLst>
          </p:cNvPr>
          <p:cNvPicPr>
            <a:picLocks noChangeAspect="1"/>
          </p:cNvPicPr>
          <p:nvPr/>
        </p:nvPicPr>
        <p:blipFill>
          <a:blip r:embed="rId2"/>
          <a:stretch>
            <a:fillRect/>
          </a:stretch>
        </p:blipFill>
        <p:spPr>
          <a:xfrm>
            <a:off x="905766" y="1976298"/>
            <a:ext cx="3225064" cy="1804572"/>
          </a:xfrm>
          <a:prstGeom prst="rect">
            <a:avLst/>
          </a:prstGeom>
        </p:spPr>
      </p:pic>
      <p:pic>
        <p:nvPicPr>
          <p:cNvPr id="3" name="Picture 2">
            <a:extLst>
              <a:ext uri="{FF2B5EF4-FFF2-40B4-BE49-F238E27FC236}">
                <a16:creationId xmlns:a16="http://schemas.microsoft.com/office/drawing/2014/main" id="{E419D74B-715A-4758-BCBF-CE9CF785C6C7}"/>
              </a:ext>
            </a:extLst>
          </p:cNvPr>
          <p:cNvPicPr>
            <a:picLocks noChangeAspect="1"/>
          </p:cNvPicPr>
          <p:nvPr/>
        </p:nvPicPr>
        <p:blipFill>
          <a:blip r:embed="rId3"/>
          <a:stretch>
            <a:fillRect/>
          </a:stretch>
        </p:blipFill>
        <p:spPr>
          <a:xfrm>
            <a:off x="977026" y="4151653"/>
            <a:ext cx="3227308" cy="1287262"/>
          </a:xfrm>
          <a:prstGeom prst="rect">
            <a:avLst/>
          </a:prstGeom>
        </p:spPr>
      </p:pic>
      <p:sp>
        <p:nvSpPr>
          <p:cNvPr id="12" name="TextBox 11">
            <a:extLst>
              <a:ext uri="{FF2B5EF4-FFF2-40B4-BE49-F238E27FC236}">
                <a16:creationId xmlns:a16="http://schemas.microsoft.com/office/drawing/2014/main" id="{E980E92B-BD08-4299-B823-FAB7EA6684F6}"/>
              </a:ext>
            </a:extLst>
          </p:cNvPr>
          <p:cNvSpPr txBox="1"/>
          <p:nvPr/>
        </p:nvSpPr>
        <p:spPr>
          <a:xfrm>
            <a:off x="4308681" y="2261158"/>
            <a:ext cx="7504982" cy="2123658"/>
          </a:xfrm>
          <a:prstGeom prst="rect">
            <a:avLst/>
          </a:prstGeom>
          <a:noFill/>
        </p:spPr>
        <p:txBody>
          <a:bodyPr wrap="square">
            <a:spAutoFit/>
          </a:bodyPr>
          <a:lstStyle/>
          <a:p>
            <a:pPr marL="457200" marR="0" lvl="1" indent="0" algn="r" defTabSz="914400" rtl="0" eaLnBrk="1" fontAlgn="auto" latinLnBrk="0" hangingPunct="1">
              <a:lnSpc>
                <a:spcPct val="100000"/>
              </a:lnSpc>
              <a:spcBef>
                <a:spcPts val="0"/>
              </a:spcBef>
              <a:spcAft>
                <a:spcPts val="0"/>
              </a:spcAft>
              <a:buClrTx/>
              <a:buSzTx/>
              <a:buFontTx/>
              <a:buNone/>
              <a:tabLst/>
              <a:defRPr/>
            </a:pPr>
            <a:r>
              <a:rPr kumimoji="0" lang="fa-IR" sz="2200" b="0" i="0" u="none" strike="noStrike" kern="1200" cap="none" spc="0" normalizeH="0" baseline="0" noProof="0" dirty="0">
                <a:ln>
                  <a:noFill/>
                </a:ln>
                <a:solidFill>
                  <a:srgbClr val="000000"/>
                </a:solidFill>
                <a:effectLst/>
                <a:uLnTx/>
                <a:uFillTx/>
                <a:latin typeface="B Nazanin" panose="00000400000000000000" pitchFamily="2" charset="-78"/>
                <a:ea typeface="+mn-ea"/>
                <a:cs typeface="B Nazanin" panose="00000400000000000000" pitchFamily="2" charset="-78"/>
              </a:rPr>
              <a:t>• شبکه </a:t>
            </a:r>
            <a:r>
              <a:rPr kumimoji="0" lang="fa-IR" sz="2200" b="0" i="0" u="none" strike="noStrike" kern="1200" cap="none" spc="0" normalizeH="0" baseline="0" noProof="0" dirty="0" err="1">
                <a:ln>
                  <a:noFill/>
                </a:ln>
                <a:solidFill>
                  <a:srgbClr val="000000"/>
                </a:solidFill>
                <a:effectLst/>
                <a:uLnTx/>
                <a:uFillTx/>
                <a:latin typeface="B Nazanin" panose="00000400000000000000" pitchFamily="2" charset="-78"/>
                <a:ea typeface="+mn-ea"/>
                <a:cs typeface="B Nazanin" panose="00000400000000000000" pitchFamily="2" charset="-78"/>
              </a:rPr>
              <a:t>میلگرد</a:t>
            </a:r>
            <a:r>
              <a:rPr kumimoji="0" lang="fa-IR" sz="2200" b="0" i="0" u="none" strike="noStrike" kern="1200" cap="none" spc="0" normalizeH="0" baseline="0" noProof="0" dirty="0">
                <a:ln>
                  <a:noFill/>
                </a:ln>
                <a:solidFill>
                  <a:srgbClr val="000000"/>
                </a:solidFill>
                <a:effectLst/>
                <a:uLnTx/>
                <a:uFillTx/>
                <a:latin typeface="B Nazanin" panose="00000400000000000000" pitchFamily="2" charset="-78"/>
                <a:ea typeface="+mn-ea"/>
                <a:cs typeface="B Nazanin" panose="00000400000000000000" pitchFamily="2" charset="-78"/>
              </a:rPr>
              <a:t> که بر روی سقف اجرا می شود و شبکه  25.25ایجاد می کند</a:t>
            </a:r>
          </a:p>
          <a:p>
            <a:pPr marL="457200" marR="0" lvl="1" indent="0" algn="r" defTabSz="914400" rtl="0" eaLnBrk="1" fontAlgn="auto" latinLnBrk="0" hangingPunct="1">
              <a:lnSpc>
                <a:spcPct val="100000"/>
              </a:lnSpc>
              <a:spcBef>
                <a:spcPts val="0"/>
              </a:spcBef>
              <a:spcAft>
                <a:spcPts val="0"/>
              </a:spcAft>
              <a:buClrTx/>
              <a:buSzTx/>
              <a:buFontTx/>
              <a:buNone/>
              <a:tabLst/>
              <a:defRPr/>
            </a:pPr>
            <a:r>
              <a:rPr kumimoji="0" lang="fa-IR" sz="2200" b="0" i="0" u="none" strike="noStrike" kern="1200" cap="none" spc="0" normalizeH="0" baseline="0" noProof="0" dirty="0">
                <a:ln>
                  <a:noFill/>
                </a:ln>
                <a:solidFill>
                  <a:srgbClr val="000000"/>
                </a:solidFill>
                <a:effectLst/>
                <a:uLnTx/>
                <a:uFillTx/>
                <a:latin typeface="B Nazanin" panose="00000400000000000000" pitchFamily="2" charset="-78"/>
                <a:ea typeface="+mn-ea"/>
                <a:cs typeface="B Nazanin" panose="00000400000000000000" pitchFamily="2" charset="-78"/>
              </a:rPr>
              <a:t>تا </a:t>
            </a:r>
            <a:r>
              <a:rPr kumimoji="0" lang="fa-IR" sz="2200" b="0" i="0" u="none" strike="noStrike" kern="1200" cap="none" spc="0" normalizeH="0" baseline="0" noProof="0" dirty="0" err="1">
                <a:ln>
                  <a:noFill/>
                </a:ln>
                <a:solidFill>
                  <a:srgbClr val="000000"/>
                </a:solidFill>
                <a:effectLst/>
                <a:uLnTx/>
                <a:uFillTx/>
                <a:latin typeface="B Nazanin" panose="00000400000000000000" pitchFamily="2" charset="-78"/>
                <a:ea typeface="+mn-ea"/>
                <a:cs typeface="B Nazanin" panose="00000400000000000000" pitchFamily="2" charset="-78"/>
              </a:rPr>
              <a:t>درهنگام</a:t>
            </a:r>
            <a:r>
              <a:rPr kumimoji="0" lang="fa-IR" sz="2200" b="0" i="0" u="none" strike="noStrike" kern="1200" cap="none" spc="0" normalizeH="0" baseline="0" noProof="0" dirty="0">
                <a:ln>
                  <a:noFill/>
                </a:ln>
                <a:solidFill>
                  <a:srgbClr val="000000"/>
                </a:solidFill>
                <a:effectLst/>
                <a:uLnTx/>
                <a:uFillTx/>
                <a:latin typeface="B Nazanin" panose="00000400000000000000" pitchFamily="2" charset="-78"/>
                <a:ea typeface="+mn-ea"/>
                <a:cs typeface="B Nazanin" panose="00000400000000000000" pitchFamily="2" charset="-78"/>
              </a:rPr>
              <a:t> از دست رفتن آب بتن ، این ماده ترک نخورد.</a:t>
            </a:r>
          </a:p>
          <a:p>
            <a:pPr marL="457200" marR="0" lvl="1" indent="0" algn="r" defTabSz="914400" rtl="0" eaLnBrk="1" fontAlgn="auto" latinLnBrk="0" hangingPunct="1">
              <a:lnSpc>
                <a:spcPct val="100000"/>
              </a:lnSpc>
              <a:spcBef>
                <a:spcPts val="0"/>
              </a:spcBef>
              <a:spcAft>
                <a:spcPts val="0"/>
              </a:spcAft>
              <a:buClrTx/>
              <a:buSzTx/>
              <a:buFontTx/>
              <a:buNone/>
              <a:tabLst/>
              <a:defRPr/>
            </a:pPr>
            <a:endParaRPr kumimoji="0" lang="fa-IR" sz="2200" b="0" i="0" u="none" strike="noStrike" kern="1200" cap="none" spc="0" normalizeH="0" baseline="0" noProof="0" dirty="0">
              <a:ln>
                <a:noFill/>
              </a:ln>
              <a:solidFill>
                <a:srgbClr val="000000"/>
              </a:solidFill>
              <a:effectLst/>
              <a:uLnTx/>
              <a:uFillTx/>
              <a:latin typeface="B Nazanin" panose="00000400000000000000" pitchFamily="2" charset="-78"/>
              <a:ea typeface="+mn-ea"/>
              <a:cs typeface="B Nazanin" panose="00000400000000000000" pitchFamily="2" charset="-78"/>
            </a:endParaRPr>
          </a:p>
          <a:p>
            <a:pPr marL="457200" marR="0" lvl="1" indent="0" algn="r" defTabSz="914400" rtl="0" eaLnBrk="1" fontAlgn="auto" latinLnBrk="0" hangingPunct="1">
              <a:lnSpc>
                <a:spcPct val="100000"/>
              </a:lnSpc>
              <a:spcBef>
                <a:spcPts val="0"/>
              </a:spcBef>
              <a:spcAft>
                <a:spcPts val="0"/>
              </a:spcAft>
              <a:buClrTx/>
              <a:buSzTx/>
              <a:buFontTx/>
              <a:buNone/>
              <a:tabLst/>
              <a:defRPr/>
            </a:pPr>
            <a:r>
              <a:rPr kumimoji="0" lang="fa-IR" sz="2200" b="0" i="0" u="none" strike="noStrike" kern="1200" cap="none" spc="0" normalizeH="0" baseline="0" noProof="0" dirty="0">
                <a:ln>
                  <a:noFill/>
                </a:ln>
                <a:solidFill>
                  <a:srgbClr val="000000"/>
                </a:solidFill>
                <a:effectLst/>
                <a:uLnTx/>
                <a:uFillTx/>
                <a:latin typeface="B Nazanin" panose="00000400000000000000" pitchFamily="2" charset="-78"/>
                <a:ea typeface="+mn-ea"/>
                <a:cs typeface="B Nazanin" panose="00000400000000000000" pitchFamily="2" charset="-78"/>
              </a:rPr>
              <a:t>• نکته: این </a:t>
            </a:r>
            <a:r>
              <a:rPr kumimoji="0" lang="fa-IR" sz="2200" b="0" i="0" u="none" strike="noStrike" kern="1200" cap="none" spc="0" normalizeH="0" baseline="0" noProof="0" dirty="0" err="1">
                <a:ln>
                  <a:noFill/>
                </a:ln>
                <a:solidFill>
                  <a:srgbClr val="000000"/>
                </a:solidFill>
                <a:effectLst/>
                <a:uLnTx/>
                <a:uFillTx/>
                <a:latin typeface="B Nazanin" panose="00000400000000000000" pitchFamily="2" charset="-78"/>
                <a:ea typeface="+mn-ea"/>
                <a:cs typeface="B Nazanin" panose="00000400000000000000" pitchFamily="2" charset="-78"/>
              </a:rPr>
              <a:t>میلگرد</a:t>
            </a:r>
            <a:r>
              <a:rPr kumimoji="0" lang="fa-IR" sz="2200" b="0" i="0" u="none" strike="noStrike" kern="1200" cap="none" spc="0" normalizeH="0" baseline="0" noProof="0" dirty="0">
                <a:ln>
                  <a:noFill/>
                </a:ln>
                <a:solidFill>
                  <a:srgbClr val="000000"/>
                </a:solidFill>
                <a:effectLst/>
                <a:uLnTx/>
                <a:uFillTx/>
                <a:latin typeface="B Nazanin" panose="00000400000000000000" pitchFamily="2" charset="-78"/>
                <a:ea typeface="+mn-ea"/>
                <a:cs typeface="B Nazanin" panose="00000400000000000000" pitchFamily="2" charset="-78"/>
              </a:rPr>
              <a:t> از نوع بدون </a:t>
            </a:r>
            <a:r>
              <a:rPr kumimoji="0" lang="fa-IR" sz="2200" b="0" i="0" u="none" strike="noStrike" kern="1200" cap="none" spc="0" normalizeH="0" baseline="0" noProof="0" dirty="0" err="1">
                <a:ln>
                  <a:noFill/>
                </a:ln>
                <a:solidFill>
                  <a:srgbClr val="000000"/>
                </a:solidFill>
                <a:effectLst/>
                <a:uLnTx/>
                <a:uFillTx/>
                <a:latin typeface="B Nazanin" panose="00000400000000000000" pitchFamily="2" charset="-78"/>
                <a:ea typeface="+mn-ea"/>
                <a:cs typeface="B Nazanin" panose="00000400000000000000" pitchFamily="2" charset="-78"/>
              </a:rPr>
              <a:t>آج</a:t>
            </a:r>
            <a:r>
              <a:rPr kumimoji="0" lang="fa-IR" sz="2200" b="0" i="0" u="none" strike="noStrike" kern="1200" cap="none" spc="0" normalizeH="0" baseline="0" noProof="0" dirty="0">
                <a:ln>
                  <a:noFill/>
                </a:ln>
                <a:solidFill>
                  <a:srgbClr val="000000"/>
                </a:solidFill>
                <a:effectLst/>
                <a:uLnTx/>
                <a:uFillTx/>
                <a:latin typeface="B Nazanin" panose="00000400000000000000" pitchFamily="2" charset="-78"/>
                <a:ea typeface="+mn-ea"/>
                <a:cs typeface="B Nazanin" panose="00000400000000000000" pitchFamily="2" charset="-78"/>
              </a:rPr>
              <a:t> می باشد تا با بتن درگیر نشود.</a:t>
            </a:r>
          </a:p>
          <a:p>
            <a:pPr marL="457200" marR="0" lvl="1" indent="0" algn="r" defTabSz="914400" rtl="0" eaLnBrk="1" fontAlgn="auto" latinLnBrk="0" hangingPunct="1">
              <a:lnSpc>
                <a:spcPct val="100000"/>
              </a:lnSpc>
              <a:spcBef>
                <a:spcPts val="0"/>
              </a:spcBef>
              <a:spcAft>
                <a:spcPts val="0"/>
              </a:spcAft>
              <a:buClrTx/>
              <a:buSzTx/>
              <a:buFontTx/>
              <a:buNone/>
              <a:tabLst/>
              <a:defRPr/>
            </a:pPr>
            <a:endParaRPr kumimoji="0" lang="fa-IR" sz="2200" b="0" i="0" u="none" strike="noStrike" kern="1200" cap="none" spc="0" normalizeH="0" baseline="0" noProof="0" dirty="0">
              <a:ln>
                <a:noFill/>
              </a:ln>
              <a:solidFill>
                <a:srgbClr val="000000"/>
              </a:solidFill>
              <a:effectLst/>
              <a:uLnTx/>
              <a:uFillTx/>
              <a:latin typeface="B Nazanin" panose="00000400000000000000" pitchFamily="2" charset="-78"/>
              <a:ea typeface="+mn-ea"/>
              <a:cs typeface="B Nazanin" panose="00000400000000000000" pitchFamily="2" charset="-78"/>
            </a:endParaRPr>
          </a:p>
          <a:p>
            <a:pPr marL="457200" marR="0" lvl="1" indent="0" algn="r" defTabSz="914400" rtl="0" eaLnBrk="1" fontAlgn="auto" latinLnBrk="0" hangingPunct="1">
              <a:lnSpc>
                <a:spcPct val="100000"/>
              </a:lnSpc>
              <a:spcBef>
                <a:spcPts val="0"/>
              </a:spcBef>
              <a:spcAft>
                <a:spcPts val="0"/>
              </a:spcAft>
              <a:buClrTx/>
              <a:buSzTx/>
              <a:buFontTx/>
              <a:buNone/>
              <a:tabLst/>
              <a:defRPr/>
            </a:pPr>
            <a:r>
              <a:rPr kumimoji="0" lang="fa-IR" sz="2200" b="0" i="0" u="none" strike="noStrike" kern="1200" cap="none" spc="0" normalizeH="0" baseline="0" noProof="0" dirty="0">
                <a:ln>
                  <a:noFill/>
                </a:ln>
                <a:solidFill>
                  <a:srgbClr val="000000"/>
                </a:solidFill>
                <a:effectLst/>
                <a:uLnTx/>
                <a:uFillTx/>
                <a:latin typeface="B Nazanin" panose="00000400000000000000" pitchFamily="2" charset="-78"/>
                <a:ea typeface="+mn-ea"/>
                <a:cs typeface="B Nazanin" panose="00000400000000000000" pitchFamily="2" charset="-78"/>
              </a:rPr>
              <a:t>• </a:t>
            </a:r>
            <a:r>
              <a:rPr kumimoji="0" lang="fa-IR" sz="2200" b="0" i="0" u="none" strike="noStrike" kern="1200" cap="none" spc="0" normalizeH="0" baseline="0" noProof="0" dirty="0" err="1">
                <a:ln>
                  <a:noFill/>
                </a:ln>
                <a:solidFill>
                  <a:srgbClr val="000000"/>
                </a:solidFill>
                <a:effectLst/>
                <a:uLnTx/>
                <a:uFillTx/>
                <a:latin typeface="B Nazanin" panose="00000400000000000000" pitchFamily="2" charset="-78"/>
                <a:ea typeface="+mn-ea"/>
                <a:cs typeface="B Nazanin" panose="00000400000000000000" pitchFamily="2" charset="-78"/>
              </a:rPr>
              <a:t>میلگرد</a:t>
            </a:r>
            <a:r>
              <a:rPr kumimoji="0" lang="fa-IR" sz="2200" b="0" i="0" u="none" strike="noStrike" kern="1200" cap="none" spc="0" normalizeH="0" baseline="0" noProof="0" dirty="0">
                <a:ln>
                  <a:noFill/>
                </a:ln>
                <a:solidFill>
                  <a:srgbClr val="000000"/>
                </a:solidFill>
                <a:effectLst/>
                <a:uLnTx/>
                <a:uFillTx/>
                <a:latin typeface="B Nazanin" panose="00000400000000000000" pitchFamily="2" charset="-78"/>
                <a:ea typeface="+mn-ea"/>
                <a:cs typeface="B Nazanin" panose="00000400000000000000" pitchFamily="2" charset="-78"/>
              </a:rPr>
              <a:t> افت و حرارت با قطر 6 میلی متر کفایت می کند.</a:t>
            </a:r>
          </a:p>
        </p:txBody>
      </p:sp>
    </p:spTree>
    <p:extLst>
      <p:ext uri="{BB962C8B-B14F-4D97-AF65-F5344CB8AC3E}">
        <p14:creationId xmlns:p14="http://schemas.microsoft.com/office/powerpoint/2010/main" val="20173047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D0AE722-3A17-4292-8B0C-015DEE23F973}"/>
              </a:ext>
            </a:extLst>
          </p:cNvPr>
          <p:cNvSpPr>
            <a:spLocks noGrp="1"/>
          </p:cNvSpPr>
          <p:nvPr>
            <p:ph type="title"/>
          </p:nvPr>
        </p:nvSpPr>
        <p:spPr>
          <a:xfrm>
            <a:off x="779140" y="0"/>
            <a:ext cx="10900146" cy="935776"/>
          </a:xfrm>
        </p:spPr>
        <p:txBody>
          <a:bodyPr>
            <a:noAutofit/>
          </a:bodyPr>
          <a:lstStyle/>
          <a:p>
            <a:pPr algn="r"/>
            <a:br>
              <a:rPr lang="fa-IR" spc="0" dirty="0">
                <a:cs typeface="B Nazanin" panose="00000400000000000000" pitchFamily="2" charset="-78"/>
              </a:rPr>
            </a:br>
            <a:r>
              <a:rPr lang="fa-IR" spc="0" dirty="0">
                <a:cs typeface="B Nazanin" panose="00000400000000000000" pitchFamily="2" charset="-78"/>
              </a:rPr>
              <a:t>3) </a:t>
            </a:r>
            <a:r>
              <a:rPr lang="fa-IR" spc="0" dirty="0" err="1">
                <a:cs typeface="B Nazanin" panose="00000400000000000000" pitchFamily="2" charset="-78"/>
              </a:rPr>
              <a:t>میلگرد</a:t>
            </a:r>
            <a:r>
              <a:rPr lang="fa-IR" spc="0" dirty="0">
                <a:cs typeface="B Nazanin" panose="00000400000000000000" pitchFamily="2" charset="-78"/>
              </a:rPr>
              <a:t> افت و حرارت:</a:t>
            </a:r>
            <a:endParaRPr lang="en-US" spc="0" dirty="0">
              <a:cs typeface="B Nazanin" panose="00000400000000000000" pitchFamily="2" charset="-78"/>
            </a:endParaRPr>
          </a:p>
        </p:txBody>
      </p:sp>
      <p:sp>
        <p:nvSpPr>
          <p:cNvPr id="6" name="Slide Number Placeholder 5">
            <a:extLst>
              <a:ext uri="{FF2B5EF4-FFF2-40B4-BE49-F238E27FC236}">
                <a16:creationId xmlns:a16="http://schemas.microsoft.com/office/drawing/2014/main" id="{8A75989F-94E4-487A-845C-A4F547DDFE8D}"/>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pPr/>
              <a:t>36</a:t>
            </a:fld>
            <a:endParaRPr lang="en-US" dirty="0"/>
          </a:p>
        </p:txBody>
      </p:sp>
      <p:sp>
        <p:nvSpPr>
          <p:cNvPr id="25" name="TextBox 24">
            <a:extLst>
              <a:ext uri="{FF2B5EF4-FFF2-40B4-BE49-F238E27FC236}">
                <a16:creationId xmlns:a16="http://schemas.microsoft.com/office/drawing/2014/main" id="{87322C07-EC5C-4192-9ED6-4B496278CC69}"/>
              </a:ext>
            </a:extLst>
          </p:cNvPr>
          <p:cNvSpPr txBox="1"/>
          <p:nvPr/>
        </p:nvSpPr>
        <p:spPr>
          <a:xfrm>
            <a:off x="977026" y="1419085"/>
            <a:ext cx="11283360" cy="2800767"/>
          </a:xfrm>
          <a:prstGeom prst="rect">
            <a:avLst/>
          </a:prstGeom>
          <a:noFill/>
        </p:spPr>
        <p:txBody>
          <a:bodyPr wrap="square">
            <a:spAutoFit/>
          </a:bodyPr>
          <a:lstStyle/>
          <a:p>
            <a:pPr lvl="1" algn="r"/>
            <a:endParaRPr lang="fa-IR" sz="2200" i="0" dirty="0">
              <a:solidFill>
                <a:srgbClr val="000000"/>
              </a:solidFill>
              <a:effectLst/>
              <a:latin typeface="B Nazanin" panose="00000400000000000000" pitchFamily="2" charset="-78"/>
              <a:cs typeface="B Nazanin" panose="00000400000000000000" pitchFamily="2" charset="-78"/>
            </a:endParaRPr>
          </a:p>
          <a:p>
            <a:pPr lvl="1" algn="just" rtl="1"/>
            <a:r>
              <a:rPr lang="fa-IR" sz="2200" i="0" dirty="0">
                <a:solidFill>
                  <a:srgbClr val="000000"/>
                </a:solidFill>
                <a:effectLst/>
                <a:latin typeface="B Nazanin" panose="00000400000000000000" pitchFamily="2" charset="-78"/>
                <a:cs typeface="B Nazanin" panose="00000400000000000000" pitchFamily="2" charset="-78"/>
              </a:rPr>
              <a:t>• چنانچه فاصله </a:t>
            </a:r>
            <a:r>
              <a:rPr lang="fa-IR" sz="2200" i="0" dirty="0" err="1">
                <a:solidFill>
                  <a:srgbClr val="000000"/>
                </a:solidFill>
                <a:effectLst/>
                <a:latin typeface="B Nazanin" panose="00000400000000000000" pitchFamily="2" charset="-78"/>
                <a:cs typeface="B Nazanin" panose="00000400000000000000" pitchFamily="2" charset="-78"/>
              </a:rPr>
              <a:t>آکس</a:t>
            </a:r>
            <a:r>
              <a:rPr lang="fa-IR" sz="2200" i="0" dirty="0">
                <a:solidFill>
                  <a:srgbClr val="000000"/>
                </a:solidFill>
                <a:effectLst/>
                <a:latin typeface="B Nazanin" panose="00000400000000000000" pitchFamily="2" charset="-78"/>
                <a:cs typeface="B Nazanin" panose="00000400000000000000" pitchFamily="2" charset="-78"/>
              </a:rPr>
              <a:t> تا </a:t>
            </a:r>
            <a:r>
              <a:rPr lang="fa-IR" sz="2200" i="0" dirty="0" err="1">
                <a:solidFill>
                  <a:srgbClr val="000000"/>
                </a:solidFill>
                <a:effectLst/>
                <a:latin typeface="B Nazanin" panose="00000400000000000000" pitchFamily="2" charset="-78"/>
                <a:cs typeface="B Nazanin" panose="00000400000000000000" pitchFamily="2" charset="-78"/>
              </a:rPr>
              <a:t>آکس</a:t>
            </a:r>
            <a:r>
              <a:rPr lang="fa-IR" sz="2200" i="0" dirty="0">
                <a:solidFill>
                  <a:srgbClr val="000000"/>
                </a:solidFill>
                <a:effectLst/>
                <a:latin typeface="B Nazanin" panose="00000400000000000000" pitchFamily="2" charset="-78"/>
                <a:cs typeface="B Nazanin" panose="00000400000000000000" pitchFamily="2" charset="-78"/>
              </a:rPr>
              <a:t> تیرچه ها تا  50سانتی متر باشد، در جهت</a:t>
            </a:r>
          </a:p>
          <a:p>
            <a:pPr lvl="1" algn="just" rtl="1"/>
            <a:r>
              <a:rPr lang="fa-IR" sz="2200" i="0" dirty="0">
                <a:solidFill>
                  <a:srgbClr val="000000"/>
                </a:solidFill>
                <a:effectLst/>
                <a:latin typeface="B Nazanin" panose="00000400000000000000" pitchFamily="2" charset="-78"/>
                <a:cs typeface="B Nazanin" panose="00000400000000000000" pitchFamily="2" charset="-78"/>
              </a:rPr>
              <a:t>تیرچه ها بین هر دو تیرچه یک عدد و چنانچه فاصله </a:t>
            </a:r>
            <a:r>
              <a:rPr lang="fa-IR" sz="2200" i="0" dirty="0" err="1">
                <a:solidFill>
                  <a:srgbClr val="000000"/>
                </a:solidFill>
                <a:effectLst/>
                <a:latin typeface="B Nazanin" panose="00000400000000000000" pitchFamily="2" charset="-78"/>
                <a:cs typeface="B Nazanin" panose="00000400000000000000" pitchFamily="2" charset="-78"/>
              </a:rPr>
              <a:t>آکس</a:t>
            </a:r>
            <a:r>
              <a:rPr lang="fa-IR" sz="2200" i="0" dirty="0">
                <a:solidFill>
                  <a:srgbClr val="000000"/>
                </a:solidFill>
                <a:effectLst/>
                <a:latin typeface="B Nazanin" panose="00000400000000000000" pitchFamily="2" charset="-78"/>
                <a:cs typeface="B Nazanin" panose="00000400000000000000" pitchFamily="2" charset="-78"/>
              </a:rPr>
              <a:t> تا </a:t>
            </a:r>
            <a:r>
              <a:rPr lang="fa-IR" sz="2200" i="0" dirty="0" err="1">
                <a:solidFill>
                  <a:srgbClr val="000000"/>
                </a:solidFill>
                <a:effectLst/>
                <a:latin typeface="B Nazanin" panose="00000400000000000000" pitchFamily="2" charset="-78"/>
                <a:cs typeface="B Nazanin" panose="00000400000000000000" pitchFamily="2" charset="-78"/>
              </a:rPr>
              <a:t>آکس</a:t>
            </a:r>
            <a:endParaRPr lang="fa-IR" sz="2200" i="0" dirty="0">
              <a:solidFill>
                <a:srgbClr val="000000"/>
              </a:solidFill>
              <a:effectLst/>
              <a:latin typeface="B Nazanin" panose="00000400000000000000" pitchFamily="2" charset="-78"/>
              <a:cs typeface="B Nazanin" panose="00000400000000000000" pitchFamily="2" charset="-78"/>
            </a:endParaRPr>
          </a:p>
          <a:p>
            <a:pPr lvl="1" algn="just" rtl="1"/>
            <a:r>
              <a:rPr lang="fa-IR" sz="2200" i="0" dirty="0">
                <a:solidFill>
                  <a:srgbClr val="000000"/>
                </a:solidFill>
                <a:effectLst/>
                <a:latin typeface="B Nazanin" panose="00000400000000000000" pitchFamily="2" charset="-78"/>
                <a:cs typeface="B Nazanin" panose="00000400000000000000" pitchFamily="2" charset="-78"/>
              </a:rPr>
              <a:t>تیرچه ها بیش از  50سانتیم تر باشد، در جهت تیرچه ها بین هر دو تیرچه</a:t>
            </a:r>
          </a:p>
          <a:p>
            <a:pPr lvl="1" algn="just" rtl="1"/>
            <a:r>
              <a:rPr lang="fa-IR" sz="2200" i="0" dirty="0">
                <a:solidFill>
                  <a:srgbClr val="000000"/>
                </a:solidFill>
                <a:effectLst/>
                <a:latin typeface="B Nazanin" panose="00000400000000000000" pitchFamily="2" charset="-78"/>
                <a:cs typeface="B Nazanin" panose="00000400000000000000" pitchFamily="2" charset="-78"/>
              </a:rPr>
              <a:t>دو عدد </a:t>
            </a:r>
            <a:r>
              <a:rPr lang="fa-IR" sz="2200" i="0" dirty="0" err="1">
                <a:solidFill>
                  <a:srgbClr val="000000"/>
                </a:solidFill>
                <a:effectLst/>
                <a:latin typeface="B Nazanin" panose="00000400000000000000" pitchFamily="2" charset="-78"/>
                <a:cs typeface="B Nazanin" panose="00000400000000000000" pitchFamily="2" charset="-78"/>
              </a:rPr>
              <a:t>میلگرد</a:t>
            </a:r>
            <a:r>
              <a:rPr lang="fa-IR" sz="2200" i="0" dirty="0">
                <a:solidFill>
                  <a:srgbClr val="000000"/>
                </a:solidFill>
                <a:effectLst/>
                <a:latin typeface="B Nazanin" panose="00000400000000000000" pitchFamily="2" charset="-78"/>
                <a:cs typeface="B Nazanin" panose="00000400000000000000" pitchFamily="2" charset="-78"/>
              </a:rPr>
              <a:t> حرارتی مورد نیاز است.</a:t>
            </a:r>
          </a:p>
          <a:p>
            <a:pPr lvl="1" algn="just" rtl="1"/>
            <a:endParaRPr lang="fa-IR" sz="2200" i="0" dirty="0">
              <a:solidFill>
                <a:srgbClr val="000000"/>
              </a:solidFill>
              <a:effectLst/>
              <a:latin typeface="B Nazanin" panose="00000400000000000000" pitchFamily="2" charset="-78"/>
              <a:cs typeface="B Nazanin" panose="00000400000000000000" pitchFamily="2" charset="-78"/>
            </a:endParaRPr>
          </a:p>
          <a:p>
            <a:pPr lvl="1" algn="just" rtl="1"/>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میلگردهای</a:t>
            </a:r>
            <a:r>
              <a:rPr lang="fa-IR" sz="2200" i="0" dirty="0">
                <a:solidFill>
                  <a:srgbClr val="000000"/>
                </a:solidFill>
                <a:effectLst/>
                <a:latin typeface="B Nazanin" panose="00000400000000000000" pitchFamily="2" charset="-78"/>
                <a:cs typeface="B Nazanin" panose="00000400000000000000" pitchFamily="2" charset="-78"/>
              </a:rPr>
              <a:t> حرارتی در خلاف جهت تیرچه ها هر  25سانتی متر یک عدد</a:t>
            </a:r>
          </a:p>
          <a:p>
            <a:pPr lvl="1" algn="just" rtl="1"/>
            <a:r>
              <a:rPr lang="fa-IR" sz="2200" i="0" dirty="0">
                <a:solidFill>
                  <a:srgbClr val="000000"/>
                </a:solidFill>
                <a:effectLst/>
                <a:latin typeface="B Nazanin" panose="00000400000000000000" pitchFamily="2" charset="-78"/>
                <a:cs typeface="B Nazanin" panose="00000400000000000000" pitchFamily="2" charset="-78"/>
              </a:rPr>
              <a:t>می بایستی اجرا گردد.</a:t>
            </a:r>
            <a:endParaRPr lang="en-US" sz="2200" dirty="0">
              <a:latin typeface="Arial Unicode MS" panose="020B0604020202020204" pitchFamily="34" charset="-128"/>
              <a:cs typeface="B Nazanin" panose="00000400000000000000" pitchFamily="2" charset="-78"/>
            </a:endParaRPr>
          </a:p>
        </p:txBody>
      </p:sp>
      <p:pic>
        <p:nvPicPr>
          <p:cNvPr id="3" name="Picture 2">
            <a:extLst>
              <a:ext uri="{FF2B5EF4-FFF2-40B4-BE49-F238E27FC236}">
                <a16:creationId xmlns:a16="http://schemas.microsoft.com/office/drawing/2014/main" id="{E419D74B-715A-4758-BCBF-CE9CF785C6C7}"/>
              </a:ext>
            </a:extLst>
          </p:cNvPr>
          <p:cNvPicPr>
            <a:picLocks noChangeAspect="1"/>
          </p:cNvPicPr>
          <p:nvPr/>
        </p:nvPicPr>
        <p:blipFill>
          <a:blip r:embed="rId2"/>
          <a:stretch>
            <a:fillRect/>
          </a:stretch>
        </p:blipFill>
        <p:spPr>
          <a:xfrm>
            <a:off x="1247951" y="4509872"/>
            <a:ext cx="3227308" cy="1287262"/>
          </a:xfrm>
          <a:prstGeom prst="rect">
            <a:avLst/>
          </a:prstGeom>
        </p:spPr>
      </p:pic>
      <p:pic>
        <p:nvPicPr>
          <p:cNvPr id="4" name="Picture 3">
            <a:extLst>
              <a:ext uri="{FF2B5EF4-FFF2-40B4-BE49-F238E27FC236}">
                <a16:creationId xmlns:a16="http://schemas.microsoft.com/office/drawing/2014/main" id="{6C3E58D4-4C1F-409E-957C-98A64D2914BE}"/>
              </a:ext>
            </a:extLst>
          </p:cNvPr>
          <p:cNvPicPr>
            <a:picLocks noChangeAspect="1"/>
          </p:cNvPicPr>
          <p:nvPr/>
        </p:nvPicPr>
        <p:blipFill>
          <a:blip r:embed="rId3"/>
          <a:stretch>
            <a:fillRect/>
          </a:stretch>
        </p:blipFill>
        <p:spPr>
          <a:xfrm>
            <a:off x="140649" y="1741910"/>
            <a:ext cx="5057131" cy="2155116"/>
          </a:xfrm>
          <a:prstGeom prst="rect">
            <a:avLst/>
          </a:prstGeom>
        </p:spPr>
      </p:pic>
    </p:spTree>
    <p:extLst>
      <p:ext uri="{BB962C8B-B14F-4D97-AF65-F5344CB8AC3E}">
        <p14:creationId xmlns:p14="http://schemas.microsoft.com/office/powerpoint/2010/main" val="22851975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D0AE722-3A17-4292-8B0C-015DEE23F973}"/>
              </a:ext>
            </a:extLst>
          </p:cNvPr>
          <p:cNvSpPr>
            <a:spLocks noGrp="1"/>
          </p:cNvSpPr>
          <p:nvPr>
            <p:ph type="title"/>
          </p:nvPr>
        </p:nvSpPr>
        <p:spPr>
          <a:xfrm>
            <a:off x="826489" y="190095"/>
            <a:ext cx="10900146" cy="935776"/>
          </a:xfrm>
        </p:spPr>
        <p:txBody>
          <a:bodyPr>
            <a:noAutofit/>
          </a:bodyPr>
          <a:lstStyle/>
          <a:p>
            <a:pPr algn="r"/>
            <a:r>
              <a:rPr lang="fa-IR" spc="0" dirty="0">
                <a:cs typeface="B Nazanin" panose="00000400000000000000" pitchFamily="2" charset="-78"/>
              </a:rPr>
              <a:t>4) </a:t>
            </a:r>
            <a:r>
              <a:rPr lang="fa-IR" spc="0" dirty="0" err="1">
                <a:cs typeface="B Nazanin" panose="00000400000000000000" pitchFamily="2" charset="-78"/>
              </a:rPr>
              <a:t>كلاف</a:t>
            </a:r>
            <a:r>
              <a:rPr lang="fa-IR" spc="0" dirty="0">
                <a:cs typeface="B Nazanin" panose="00000400000000000000" pitchFamily="2" charset="-78"/>
              </a:rPr>
              <a:t> </a:t>
            </a:r>
            <a:r>
              <a:rPr lang="fa-IR" spc="0" dirty="0" err="1">
                <a:cs typeface="B Nazanin" panose="00000400000000000000" pitchFamily="2" charset="-78"/>
              </a:rPr>
              <a:t>عرضي</a:t>
            </a:r>
            <a:r>
              <a:rPr lang="fa-IR" spc="0" dirty="0">
                <a:cs typeface="B Nazanin" panose="00000400000000000000" pitchFamily="2" charset="-78"/>
              </a:rPr>
              <a:t>: </a:t>
            </a:r>
          </a:p>
        </p:txBody>
      </p:sp>
      <p:sp>
        <p:nvSpPr>
          <p:cNvPr id="6" name="Slide Number Placeholder 5">
            <a:extLst>
              <a:ext uri="{FF2B5EF4-FFF2-40B4-BE49-F238E27FC236}">
                <a16:creationId xmlns:a16="http://schemas.microsoft.com/office/drawing/2014/main" id="{8A75989F-94E4-487A-845C-A4F547DDFE8D}"/>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pPr/>
              <a:t>37</a:t>
            </a:fld>
            <a:endParaRPr lang="en-US" dirty="0"/>
          </a:p>
        </p:txBody>
      </p:sp>
      <p:sp>
        <p:nvSpPr>
          <p:cNvPr id="5" name="Title 1">
            <a:extLst>
              <a:ext uri="{FF2B5EF4-FFF2-40B4-BE49-F238E27FC236}">
                <a16:creationId xmlns:a16="http://schemas.microsoft.com/office/drawing/2014/main" id="{0A74FA0F-A179-45AE-9EA5-8B4F3A95A455}"/>
              </a:ext>
            </a:extLst>
          </p:cNvPr>
          <p:cNvSpPr txBox="1">
            <a:spLocks/>
          </p:cNvSpPr>
          <p:nvPr/>
        </p:nvSpPr>
        <p:spPr>
          <a:xfrm>
            <a:off x="2017486" y="571905"/>
            <a:ext cx="8686800" cy="838200"/>
          </a:xfrm>
          <a:prstGeom prst="rect">
            <a:avLst/>
          </a:prstGeom>
        </p:spPr>
        <p:txBody>
          <a:bodyPr vert="horz" lIns="109728" tIns="109728" rIns="109728" bIns="91440" rtlCol="0" anchor="ctr">
            <a:normAutofit fontScale="85000" lnSpcReduction="20000"/>
          </a:bodyPr>
          <a:lstStyle>
            <a:lvl1pPr algn="l" defTabSz="914400" rtl="0" eaLnBrk="1" latinLnBrk="0" hangingPunct="1">
              <a:lnSpc>
                <a:spcPct val="150000"/>
              </a:lnSpc>
              <a:spcBef>
                <a:spcPct val="0"/>
              </a:spcBef>
              <a:buNone/>
              <a:defRPr sz="3600" b="1" kern="1200" spc="150" baseline="0">
                <a:solidFill>
                  <a:schemeClr val="bg1"/>
                </a:solidFill>
                <a:latin typeface="+mj-lt"/>
                <a:ea typeface="+mj-ea"/>
                <a:cs typeface="+mj-cs"/>
              </a:defRPr>
            </a:lvl1pPr>
          </a:lstStyle>
          <a:p>
            <a:pPr algn="just" rtl="1"/>
            <a:endParaRPr lang="en-US" dirty="0">
              <a:effectLst>
                <a:outerShdw blurRad="38100" dist="38100" dir="2700000" algn="tl">
                  <a:srgbClr val="000000">
                    <a:alpha val="43137"/>
                  </a:srgbClr>
                </a:outerShdw>
              </a:effectLst>
              <a:latin typeface="IranNastaliq" pitchFamily="18" charset="0"/>
              <a:cs typeface="IranNastaliq" pitchFamily="18" charset="0"/>
            </a:endParaRPr>
          </a:p>
        </p:txBody>
      </p:sp>
      <p:sp>
        <p:nvSpPr>
          <p:cNvPr id="7" name="Content Placeholder 2">
            <a:extLst>
              <a:ext uri="{FF2B5EF4-FFF2-40B4-BE49-F238E27FC236}">
                <a16:creationId xmlns:a16="http://schemas.microsoft.com/office/drawing/2014/main" id="{50B3354E-216A-4229-8E72-ED0447F22212}"/>
              </a:ext>
            </a:extLst>
          </p:cNvPr>
          <p:cNvSpPr txBox="1">
            <a:spLocks/>
          </p:cNvSpPr>
          <p:nvPr/>
        </p:nvSpPr>
        <p:spPr>
          <a:xfrm>
            <a:off x="910813" y="1166018"/>
            <a:ext cx="10900146" cy="4525963"/>
          </a:xfrm>
          <a:prstGeom prst="rect">
            <a:avLst/>
          </a:prstGeom>
        </p:spPr>
        <p:txBody>
          <a:bodyPr vert="horz" lIns="109728" tIns="109728" rIns="109728" bIns="91440" rtlCol="0" anchor="t">
            <a:noAutofit/>
          </a:bodyPr>
          <a:lstStyle>
            <a:lvl1pPr marL="283464" indent="-283464" algn="l" defTabSz="914400" rtl="0" eaLnBrk="1" latinLnBrk="0" hangingPunct="1">
              <a:lnSpc>
                <a:spcPct val="140000"/>
              </a:lnSpc>
              <a:spcBef>
                <a:spcPts val="930"/>
              </a:spcBef>
              <a:buFont typeface="Arial" panose="020B0604020202020204" pitchFamily="34" charset="0"/>
              <a:buChar char="•"/>
              <a:defRPr sz="1600" b="0"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pPr marL="3175" indent="454025" algn="just" rtl="1">
              <a:lnSpc>
                <a:spcPct val="150000"/>
              </a:lnSpc>
              <a:buFont typeface="Arial" panose="020B0604020202020204" pitchFamily="34" charset="0"/>
              <a:buNone/>
            </a:pPr>
            <a:r>
              <a:rPr lang="ar-SA" sz="2200" spc="0" dirty="0">
                <a:solidFill>
                  <a:schemeClr val="tx1"/>
                </a:solidFill>
                <a:latin typeface="Arial Unicode MS" panose="020B0604020202020204" pitchFamily="34" charset="-128"/>
                <a:cs typeface="B Nazanin" panose="00000400000000000000" pitchFamily="2" charset="-78"/>
              </a:rPr>
              <a:t> </a:t>
            </a:r>
            <a:endParaRPr lang="en-US" sz="2200" spc="0" dirty="0">
              <a:solidFill>
                <a:schemeClr val="tx1"/>
              </a:solidFill>
              <a:latin typeface="Arial Unicode MS" panose="020B0604020202020204" pitchFamily="34" charset="-128"/>
              <a:cs typeface="B Nazanin" panose="00000400000000000000" pitchFamily="2" charset="-78"/>
            </a:endParaRPr>
          </a:p>
        </p:txBody>
      </p:sp>
      <p:pic>
        <p:nvPicPr>
          <p:cNvPr id="2" name="Picture 1">
            <a:extLst>
              <a:ext uri="{FF2B5EF4-FFF2-40B4-BE49-F238E27FC236}">
                <a16:creationId xmlns:a16="http://schemas.microsoft.com/office/drawing/2014/main" id="{FF9A133F-F9C4-4AF6-AEFA-BD7667B3E919}"/>
              </a:ext>
            </a:extLst>
          </p:cNvPr>
          <p:cNvPicPr>
            <a:picLocks noChangeAspect="1"/>
          </p:cNvPicPr>
          <p:nvPr/>
        </p:nvPicPr>
        <p:blipFill>
          <a:blip r:embed="rId2"/>
          <a:stretch>
            <a:fillRect/>
          </a:stretch>
        </p:blipFill>
        <p:spPr>
          <a:xfrm>
            <a:off x="456454" y="1811083"/>
            <a:ext cx="3936437" cy="2978362"/>
          </a:xfrm>
          <a:prstGeom prst="rect">
            <a:avLst/>
          </a:prstGeom>
        </p:spPr>
      </p:pic>
      <p:sp>
        <p:nvSpPr>
          <p:cNvPr id="8" name="TextBox 7">
            <a:extLst>
              <a:ext uri="{FF2B5EF4-FFF2-40B4-BE49-F238E27FC236}">
                <a16:creationId xmlns:a16="http://schemas.microsoft.com/office/drawing/2014/main" id="{B2909479-C5B8-47C1-8BEB-735B0FB3FB17}"/>
              </a:ext>
            </a:extLst>
          </p:cNvPr>
          <p:cNvSpPr txBox="1"/>
          <p:nvPr/>
        </p:nvSpPr>
        <p:spPr>
          <a:xfrm>
            <a:off x="4685122" y="1865900"/>
            <a:ext cx="7418068" cy="2589170"/>
          </a:xfrm>
          <a:prstGeom prst="rect">
            <a:avLst/>
          </a:prstGeom>
          <a:noFill/>
        </p:spPr>
        <p:txBody>
          <a:bodyPr wrap="square">
            <a:spAutoFit/>
          </a:bodyPr>
          <a:lstStyle/>
          <a:p>
            <a:pPr marL="3175" indent="454025" algn="just" rtl="1">
              <a:lnSpc>
                <a:spcPct val="150000"/>
              </a:lnSpc>
              <a:buFont typeface="Arial" panose="020B0604020202020204" pitchFamily="34" charset="0"/>
              <a:buNone/>
            </a:pPr>
            <a:r>
              <a:rPr lang="ar-SA" sz="2200" spc="0" dirty="0">
                <a:solidFill>
                  <a:schemeClr val="tx1"/>
                </a:solidFill>
                <a:latin typeface="Arial Unicode MS" panose="020B0604020202020204" pitchFamily="34" charset="-128"/>
                <a:cs typeface="B Nazanin" panose="00000400000000000000" pitchFamily="2" charset="-78"/>
              </a:rPr>
              <a:t>استفاده از كلاف عرضي در سقف الزامي است. كلاف عرضي شامل دو ميلگرد به </a:t>
            </a:r>
            <a:r>
              <a:rPr lang="fa-IR" sz="2200" spc="0" dirty="0">
                <a:solidFill>
                  <a:schemeClr val="tx1"/>
                </a:solidFill>
                <a:latin typeface="Arial Unicode MS" panose="020B0604020202020204" pitchFamily="34" charset="-128"/>
                <a:cs typeface="B Nazanin" panose="00000400000000000000" pitchFamily="2" charset="-78"/>
              </a:rPr>
              <a:t>  </a:t>
            </a:r>
          </a:p>
          <a:p>
            <a:pPr marL="3175" indent="454025" algn="just" rtl="1">
              <a:lnSpc>
                <a:spcPct val="150000"/>
              </a:lnSpc>
              <a:buFont typeface="Arial" panose="020B0604020202020204" pitchFamily="34" charset="0"/>
              <a:buNone/>
            </a:pPr>
            <a:r>
              <a:rPr lang="ar-SA" sz="2200" spc="0" dirty="0">
                <a:solidFill>
                  <a:schemeClr val="tx1"/>
                </a:solidFill>
                <a:latin typeface="Arial Unicode MS" panose="020B0604020202020204" pitchFamily="34" charset="-128"/>
                <a:cs typeface="B Nazanin" panose="00000400000000000000" pitchFamily="2" charset="-78"/>
              </a:rPr>
              <a:t>قطر حداقل 12 ميلي متر است. </a:t>
            </a:r>
            <a:endParaRPr lang="en-US" sz="2200" spc="0" dirty="0">
              <a:solidFill>
                <a:schemeClr val="tx1"/>
              </a:solidFill>
              <a:latin typeface="Arial Unicode MS" panose="020B0604020202020204" pitchFamily="34" charset="-128"/>
              <a:cs typeface="B Nazanin" panose="00000400000000000000" pitchFamily="2" charset="-78"/>
            </a:endParaRPr>
          </a:p>
          <a:p>
            <a:pPr marL="3175" indent="454025" algn="just" rtl="1">
              <a:lnSpc>
                <a:spcPct val="150000"/>
              </a:lnSpc>
              <a:buFont typeface="Arial" panose="020B0604020202020204" pitchFamily="34" charset="0"/>
              <a:buNone/>
            </a:pPr>
            <a:r>
              <a:rPr lang="ar-SA" sz="2200" spc="0" dirty="0">
                <a:solidFill>
                  <a:schemeClr val="tx1"/>
                </a:solidFill>
                <a:latin typeface="Arial Unicode MS" panose="020B0604020202020204" pitchFamily="34" charset="-128"/>
                <a:cs typeface="B Nazanin" panose="00000400000000000000" pitchFamily="2" charset="-78"/>
              </a:rPr>
              <a:t>یك ميلگرد روي بال تحتاني و يك ميلگرد در زير يا روي بال فوقاني به موازات </a:t>
            </a:r>
            <a:r>
              <a:rPr lang="fa-IR" sz="2200" spc="0" dirty="0">
                <a:solidFill>
                  <a:schemeClr val="tx1"/>
                </a:solidFill>
                <a:latin typeface="Arial Unicode MS" panose="020B0604020202020204" pitchFamily="34" charset="-128"/>
                <a:cs typeface="B Nazanin" panose="00000400000000000000" pitchFamily="2" charset="-78"/>
              </a:rPr>
              <a:t>   </a:t>
            </a:r>
          </a:p>
          <a:p>
            <a:pPr marL="3175" indent="454025" algn="just" rtl="1">
              <a:lnSpc>
                <a:spcPct val="150000"/>
              </a:lnSpc>
              <a:buFont typeface="Arial" panose="020B0604020202020204" pitchFamily="34" charset="0"/>
              <a:buNone/>
            </a:pPr>
            <a:r>
              <a:rPr lang="ar-SA" sz="2200" spc="0" dirty="0">
                <a:solidFill>
                  <a:schemeClr val="tx1"/>
                </a:solidFill>
                <a:latin typeface="Arial Unicode MS" panose="020B0604020202020204" pitchFamily="34" charset="-128"/>
                <a:cs typeface="B Nazanin" panose="00000400000000000000" pitchFamily="2" charset="-78"/>
              </a:rPr>
              <a:t>هم به صورت عمود بر تيرچه</a:t>
            </a:r>
            <a:r>
              <a:rPr lang="fa-IR" sz="2200" spc="0" dirty="0">
                <a:solidFill>
                  <a:schemeClr val="tx1"/>
                </a:solidFill>
                <a:latin typeface="Arial Unicode MS" panose="020B0604020202020204" pitchFamily="34" charset="-128"/>
                <a:cs typeface="B Nazanin" panose="00000400000000000000" pitchFamily="2" charset="-78"/>
              </a:rPr>
              <a:t>‌</a:t>
            </a:r>
            <a:r>
              <a:rPr lang="ar-SA" sz="2200" spc="0" dirty="0">
                <a:solidFill>
                  <a:schemeClr val="tx1"/>
                </a:solidFill>
                <a:latin typeface="Arial Unicode MS" panose="020B0604020202020204" pitchFamily="34" charset="-128"/>
                <a:cs typeface="B Nazanin" panose="00000400000000000000" pitchFamily="2" charset="-78"/>
              </a:rPr>
              <a:t>ها به آنها جوش مي</a:t>
            </a:r>
            <a:r>
              <a:rPr lang="fa-IR" sz="2200" spc="0" dirty="0">
                <a:solidFill>
                  <a:schemeClr val="tx1"/>
                </a:solidFill>
                <a:latin typeface="Arial Unicode MS" panose="020B0604020202020204" pitchFamily="34" charset="-128"/>
                <a:cs typeface="B Nazanin" panose="00000400000000000000" pitchFamily="2" charset="-78"/>
              </a:rPr>
              <a:t>‌</a:t>
            </a:r>
            <a:r>
              <a:rPr lang="ar-SA" sz="2200" spc="0" dirty="0">
                <a:solidFill>
                  <a:schemeClr val="tx1"/>
                </a:solidFill>
                <a:latin typeface="Arial Unicode MS" panose="020B0604020202020204" pitchFamily="34" charset="-128"/>
                <a:cs typeface="B Nazanin" panose="00000400000000000000" pitchFamily="2" charset="-78"/>
              </a:rPr>
              <a:t>شود. </a:t>
            </a:r>
            <a:endParaRPr lang="en-US" sz="2200" spc="0" dirty="0">
              <a:solidFill>
                <a:schemeClr val="tx1"/>
              </a:solidFill>
              <a:latin typeface="Arial Unicode MS" panose="020B0604020202020204" pitchFamily="34" charset="-128"/>
              <a:cs typeface="B Nazanin" panose="00000400000000000000" pitchFamily="2" charset="-78"/>
            </a:endParaRPr>
          </a:p>
          <a:p>
            <a:pPr marL="3175" indent="454025" algn="just" rtl="1">
              <a:lnSpc>
                <a:spcPct val="150000"/>
              </a:lnSpc>
              <a:buFont typeface="Arial" panose="020B0604020202020204" pitchFamily="34" charset="0"/>
              <a:buNone/>
            </a:pPr>
            <a:r>
              <a:rPr lang="ar-SA" sz="2200" spc="0" dirty="0">
                <a:solidFill>
                  <a:schemeClr val="tx1"/>
                </a:solidFill>
                <a:latin typeface="Arial Unicode MS" panose="020B0604020202020204" pitchFamily="34" charset="-128"/>
                <a:cs typeface="B Nazanin" panose="00000400000000000000" pitchFamily="2" charset="-78"/>
              </a:rPr>
              <a:t>عرض كلاف نبايد كمتر از 10 سانتي متر اختيار شود. </a:t>
            </a:r>
            <a:endParaRPr lang="en-US" sz="2200" dirty="0">
              <a:latin typeface="Arial Unicode MS" panose="020B0604020202020204" pitchFamily="34" charset="-128"/>
            </a:endParaRPr>
          </a:p>
        </p:txBody>
      </p:sp>
    </p:spTree>
    <p:extLst>
      <p:ext uri="{BB962C8B-B14F-4D97-AF65-F5344CB8AC3E}">
        <p14:creationId xmlns:p14="http://schemas.microsoft.com/office/powerpoint/2010/main" val="4045178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childTnLst>
                          </p:cTn>
                        </p:par>
                        <p:par>
                          <p:cTn id="8" fill="hold">
                            <p:stCondLst>
                              <p:cond delay="2000"/>
                            </p:stCondLst>
                            <p:childTnLst>
                              <p:par>
                                <p:cTn id="9" presetID="3" presetClass="entr" presetSubtype="10" fill="hold" grpId="0" nodeType="after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blinds(horizontal)">
                                      <p:cBhvr>
                                        <p:cTn id="11" dur="3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D0AE722-3A17-4292-8B0C-015DEE23F973}"/>
              </a:ext>
            </a:extLst>
          </p:cNvPr>
          <p:cNvSpPr>
            <a:spLocks noGrp="1"/>
          </p:cNvSpPr>
          <p:nvPr>
            <p:ph type="title"/>
          </p:nvPr>
        </p:nvSpPr>
        <p:spPr>
          <a:xfrm>
            <a:off x="826489" y="190095"/>
            <a:ext cx="10900146" cy="935776"/>
          </a:xfrm>
        </p:spPr>
        <p:txBody>
          <a:bodyPr>
            <a:noAutofit/>
          </a:bodyPr>
          <a:lstStyle/>
          <a:p>
            <a:pPr algn="r"/>
            <a:r>
              <a:rPr lang="fa-IR" spc="0" dirty="0">
                <a:cs typeface="B Nazanin" panose="00000400000000000000" pitchFamily="2" charset="-78"/>
              </a:rPr>
              <a:t>4) </a:t>
            </a:r>
            <a:r>
              <a:rPr lang="fa-IR" spc="0" dirty="0" err="1">
                <a:cs typeface="B Nazanin" panose="00000400000000000000" pitchFamily="2" charset="-78"/>
              </a:rPr>
              <a:t>كلاف</a:t>
            </a:r>
            <a:r>
              <a:rPr lang="fa-IR" spc="0" dirty="0">
                <a:cs typeface="B Nazanin" panose="00000400000000000000" pitchFamily="2" charset="-78"/>
              </a:rPr>
              <a:t> </a:t>
            </a:r>
            <a:r>
              <a:rPr lang="fa-IR" spc="0" dirty="0" err="1">
                <a:cs typeface="B Nazanin" panose="00000400000000000000" pitchFamily="2" charset="-78"/>
              </a:rPr>
              <a:t>عرضي</a:t>
            </a:r>
            <a:r>
              <a:rPr lang="fa-IR" spc="0" dirty="0">
                <a:cs typeface="B Nazanin" panose="00000400000000000000" pitchFamily="2" charset="-78"/>
              </a:rPr>
              <a:t>: </a:t>
            </a:r>
          </a:p>
        </p:txBody>
      </p:sp>
      <p:sp>
        <p:nvSpPr>
          <p:cNvPr id="6" name="Slide Number Placeholder 5">
            <a:extLst>
              <a:ext uri="{FF2B5EF4-FFF2-40B4-BE49-F238E27FC236}">
                <a16:creationId xmlns:a16="http://schemas.microsoft.com/office/drawing/2014/main" id="{8A75989F-94E4-487A-845C-A4F547DDFE8D}"/>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pPr/>
              <a:t>38</a:t>
            </a:fld>
            <a:endParaRPr lang="en-US" dirty="0"/>
          </a:p>
        </p:txBody>
      </p:sp>
      <p:sp>
        <p:nvSpPr>
          <p:cNvPr id="5" name="Title 1">
            <a:extLst>
              <a:ext uri="{FF2B5EF4-FFF2-40B4-BE49-F238E27FC236}">
                <a16:creationId xmlns:a16="http://schemas.microsoft.com/office/drawing/2014/main" id="{0A74FA0F-A179-45AE-9EA5-8B4F3A95A455}"/>
              </a:ext>
            </a:extLst>
          </p:cNvPr>
          <p:cNvSpPr txBox="1">
            <a:spLocks/>
          </p:cNvSpPr>
          <p:nvPr/>
        </p:nvSpPr>
        <p:spPr>
          <a:xfrm>
            <a:off x="2017486" y="571905"/>
            <a:ext cx="8686800" cy="838200"/>
          </a:xfrm>
          <a:prstGeom prst="rect">
            <a:avLst/>
          </a:prstGeom>
        </p:spPr>
        <p:txBody>
          <a:bodyPr vert="horz" lIns="109728" tIns="109728" rIns="109728" bIns="91440" rtlCol="0" anchor="ctr">
            <a:normAutofit fontScale="85000" lnSpcReduction="20000"/>
          </a:bodyPr>
          <a:lstStyle>
            <a:lvl1pPr algn="l" defTabSz="914400" rtl="0" eaLnBrk="1" latinLnBrk="0" hangingPunct="1">
              <a:lnSpc>
                <a:spcPct val="150000"/>
              </a:lnSpc>
              <a:spcBef>
                <a:spcPct val="0"/>
              </a:spcBef>
              <a:buNone/>
              <a:defRPr sz="3600" b="1" kern="1200" spc="150" baseline="0">
                <a:solidFill>
                  <a:schemeClr val="bg1"/>
                </a:solidFill>
                <a:latin typeface="+mj-lt"/>
                <a:ea typeface="+mj-ea"/>
                <a:cs typeface="+mj-cs"/>
              </a:defRPr>
            </a:lvl1pPr>
          </a:lstStyle>
          <a:p>
            <a:pPr algn="just" rtl="1"/>
            <a:endParaRPr lang="en-US" dirty="0">
              <a:effectLst>
                <a:outerShdw blurRad="38100" dist="38100" dir="2700000" algn="tl">
                  <a:srgbClr val="000000">
                    <a:alpha val="43137"/>
                  </a:srgbClr>
                </a:outerShdw>
              </a:effectLst>
              <a:latin typeface="IranNastaliq" pitchFamily="18" charset="0"/>
              <a:cs typeface="IranNastaliq" pitchFamily="18" charset="0"/>
            </a:endParaRPr>
          </a:p>
        </p:txBody>
      </p:sp>
      <p:sp>
        <p:nvSpPr>
          <p:cNvPr id="7" name="Content Placeholder 2">
            <a:extLst>
              <a:ext uri="{FF2B5EF4-FFF2-40B4-BE49-F238E27FC236}">
                <a16:creationId xmlns:a16="http://schemas.microsoft.com/office/drawing/2014/main" id="{50B3354E-216A-4229-8E72-ED0447F22212}"/>
              </a:ext>
            </a:extLst>
          </p:cNvPr>
          <p:cNvSpPr txBox="1">
            <a:spLocks/>
          </p:cNvSpPr>
          <p:nvPr/>
        </p:nvSpPr>
        <p:spPr>
          <a:xfrm>
            <a:off x="826489" y="1125871"/>
            <a:ext cx="10900146" cy="4525963"/>
          </a:xfrm>
          <a:prstGeom prst="rect">
            <a:avLst/>
          </a:prstGeom>
        </p:spPr>
        <p:txBody>
          <a:bodyPr vert="horz" lIns="109728" tIns="109728" rIns="109728" bIns="91440" rtlCol="0" anchor="t">
            <a:noAutofit/>
          </a:bodyPr>
          <a:lstStyle>
            <a:lvl1pPr marL="283464" indent="-283464" algn="l" defTabSz="914400" rtl="0" eaLnBrk="1" latinLnBrk="0" hangingPunct="1">
              <a:lnSpc>
                <a:spcPct val="140000"/>
              </a:lnSpc>
              <a:spcBef>
                <a:spcPts val="930"/>
              </a:spcBef>
              <a:buFont typeface="Arial" panose="020B0604020202020204" pitchFamily="34" charset="0"/>
              <a:buChar char="•"/>
              <a:defRPr sz="1600" b="0"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pPr marL="3175" indent="454025" algn="just" rtl="1">
              <a:lnSpc>
                <a:spcPct val="150000"/>
              </a:lnSpc>
              <a:buNone/>
            </a:pPr>
            <a:r>
              <a:rPr lang="ar-SA" sz="2400" spc="0" dirty="0">
                <a:solidFill>
                  <a:schemeClr val="tx1"/>
                </a:solidFill>
                <a:latin typeface="Arial Unicode MS" panose="020B0604020202020204" pitchFamily="34" charset="-128"/>
                <a:cs typeface="B Nazanin" panose="00000400000000000000" pitchFamily="2" charset="-78"/>
              </a:rPr>
              <a:t>كلاف عرضي بايد بال فوقاني تيرچه</a:t>
            </a:r>
            <a:r>
              <a:rPr lang="fa-IR" sz="2400" spc="0" dirty="0">
                <a:solidFill>
                  <a:schemeClr val="tx1"/>
                </a:solidFill>
                <a:latin typeface="Arial Unicode MS" panose="020B0604020202020204" pitchFamily="34" charset="-128"/>
                <a:cs typeface="B Nazanin" panose="00000400000000000000" pitchFamily="2" charset="-78"/>
              </a:rPr>
              <a:t>‌</a:t>
            </a:r>
            <a:r>
              <a:rPr lang="ar-SA" sz="2400" spc="0" dirty="0">
                <a:solidFill>
                  <a:schemeClr val="tx1"/>
                </a:solidFill>
                <a:latin typeface="Arial Unicode MS" panose="020B0604020202020204" pitchFamily="34" charset="-128"/>
                <a:cs typeface="B Nazanin" panose="00000400000000000000" pitchFamily="2" charset="-78"/>
              </a:rPr>
              <a:t>ها را در طول اجرا در مقابل تغيير شكل جانبي مهار نموده و تيرچه را در </a:t>
            </a:r>
            <a:r>
              <a:rPr lang="fa-IR" sz="2400" spc="0" dirty="0">
                <a:solidFill>
                  <a:schemeClr val="tx1"/>
                </a:solidFill>
                <a:latin typeface="Arial Unicode MS" panose="020B0604020202020204" pitchFamily="34" charset="-128"/>
                <a:cs typeface="B Nazanin" panose="00000400000000000000" pitchFamily="2" charset="-78"/>
              </a:rPr>
              <a:t> </a:t>
            </a:r>
          </a:p>
          <a:p>
            <a:pPr marL="3175" indent="454025" algn="just" rtl="1">
              <a:lnSpc>
                <a:spcPct val="150000"/>
              </a:lnSpc>
              <a:buNone/>
            </a:pPr>
            <a:r>
              <a:rPr lang="ar-SA" sz="2400" spc="0" dirty="0">
                <a:solidFill>
                  <a:schemeClr val="tx1"/>
                </a:solidFill>
                <a:latin typeface="Arial Unicode MS" panose="020B0604020202020204" pitchFamily="34" charset="-128"/>
                <a:cs typeface="B Nazanin" panose="00000400000000000000" pitchFamily="2" charset="-78"/>
              </a:rPr>
              <a:t>محل خود نگهداري كند.</a:t>
            </a:r>
            <a:endParaRPr lang="en-US" sz="2400" spc="0" dirty="0">
              <a:solidFill>
                <a:schemeClr val="tx1"/>
              </a:solidFill>
              <a:latin typeface="Arial Unicode MS" panose="020B0604020202020204" pitchFamily="34" charset="-128"/>
              <a:cs typeface="B Nazanin" panose="00000400000000000000" pitchFamily="2" charset="-78"/>
            </a:endParaRPr>
          </a:p>
          <a:p>
            <a:pPr marL="3175" indent="454025" algn="just" rtl="1">
              <a:lnSpc>
                <a:spcPct val="150000"/>
              </a:lnSpc>
              <a:buNone/>
            </a:pPr>
            <a:r>
              <a:rPr lang="ar-SA" sz="2400" spc="0" dirty="0">
                <a:solidFill>
                  <a:schemeClr val="tx1"/>
                </a:solidFill>
                <a:latin typeface="Arial Unicode MS" panose="020B0604020202020204" pitchFamily="34" charset="-128"/>
                <a:cs typeface="B Nazanin" panose="00000400000000000000" pitchFamily="2" charset="-78"/>
              </a:rPr>
              <a:t>براي دهانه‌هاي كوچكتر از5</a:t>
            </a:r>
            <a:r>
              <a:rPr lang="fa-IR" sz="2400" spc="0" dirty="0">
                <a:solidFill>
                  <a:schemeClr val="tx1"/>
                </a:solidFill>
                <a:latin typeface="Arial Unicode MS" panose="020B0604020202020204" pitchFamily="34" charset="-128"/>
                <a:cs typeface="B Nazanin" panose="00000400000000000000" pitchFamily="2" charset="-78"/>
              </a:rPr>
              <a:t>/</a:t>
            </a:r>
            <a:r>
              <a:rPr lang="ar-SA" sz="2400" spc="0" dirty="0">
                <a:solidFill>
                  <a:schemeClr val="tx1"/>
                </a:solidFill>
                <a:latin typeface="Arial Unicode MS" panose="020B0604020202020204" pitchFamily="34" charset="-128"/>
                <a:cs typeface="B Nazanin" panose="00000400000000000000" pitchFamily="2" charset="-78"/>
              </a:rPr>
              <a:t>5 متر استفاده از حداقل يك كلاف عرضي الزامي است و براي دهانه‌هاي بزرگ تر، </a:t>
            </a:r>
            <a:r>
              <a:rPr lang="fa-IR" sz="2400" spc="0" dirty="0">
                <a:solidFill>
                  <a:schemeClr val="tx1"/>
                </a:solidFill>
                <a:latin typeface="Arial Unicode MS" panose="020B0604020202020204" pitchFamily="34" charset="-128"/>
                <a:cs typeface="B Nazanin" panose="00000400000000000000" pitchFamily="2" charset="-78"/>
              </a:rPr>
              <a:t>     </a:t>
            </a:r>
          </a:p>
          <a:p>
            <a:pPr marL="3175" indent="454025" algn="just" rtl="1">
              <a:lnSpc>
                <a:spcPct val="150000"/>
              </a:lnSpc>
              <a:buNone/>
            </a:pPr>
            <a:r>
              <a:rPr lang="ar-SA" sz="2400" spc="0" dirty="0">
                <a:solidFill>
                  <a:schemeClr val="tx1"/>
                </a:solidFill>
                <a:latin typeface="Arial Unicode MS" panose="020B0604020202020204" pitchFamily="34" charset="-128"/>
                <a:cs typeface="B Nazanin" panose="00000400000000000000" pitchFamily="2" charset="-78"/>
              </a:rPr>
              <a:t>كلاف‌هاي عرضي بايد به نحوي انتخاب شو</a:t>
            </a:r>
            <a:r>
              <a:rPr lang="fa-IR" sz="2400" spc="0" dirty="0">
                <a:solidFill>
                  <a:schemeClr val="tx1"/>
                </a:solidFill>
                <a:latin typeface="Arial Unicode MS" panose="020B0604020202020204" pitchFamily="34" charset="-128"/>
                <a:cs typeface="B Nazanin" panose="00000400000000000000" pitchFamily="2" charset="-78"/>
              </a:rPr>
              <a:t>ن</a:t>
            </a:r>
            <a:r>
              <a:rPr lang="ar-SA" sz="2400" spc="0" dirty="0">
                <a:solidFill>
                  <a:schemeClr val="tx1"/>
                </a:solidFill>
                <a:latin typeface="Arial Unicode MS" panose="020B0604020202020204" pitchFamily="34" charset="-128"/>
                <a:cs typeface="B Nazanin" panose="00000400000000000000" pitchFamily="2" charset="-78"/>
              </a:rPr>
              <a:t>د كه فاصله دو كلاف عرضي مجاور هم، از 5/2 متر تجاوز نكند.</a:t>
            </a:r>
            <a:r>
              <a:rPr lang="fa-IR" sz="2400" spc="0" dirty="0">
                <a:solidFill>
                  <a:schemeClr val="tx1"/>
                </a:solidFill>
                <a:latin typeface="Arial Unicode MS" panose="020B0604020202020204" pitchFamily="34" charset="-128"/>
                <a:cs typeface="B Nazanin" panose="00000400000000000000" pitchFamily="2" charset="-78"/>
              </a:rPr>
              <a:t> </a:t>
            </a:r>
            <a:endParaRPr lang="en-US" sz="2400" spc="0" dirty="0">
              <a:solidFill>
                <a:schemeClr val="tx1"/>
              </a:solidFill>
              <a:latin typeface="Arial Unicode MS" panose="020B0604020202020204" pitchFamily="34" charset="-128"/>
              <a:cs typeface="B Nazanin" panose="00000400000000000000" pitchFamily="2" charset="-78"/>
            </a:endParaRPr>
          </a:p>
        </p:txBody>
      </p:sp>
      <p:pic>
        <p:nvPicPr>
          <p:cNvPr id="9" name="Picture 8">
            <a:extLst>
              <a:ext uri="{FF2B5EF4-FFF2-40B4-BE49-F238E27FC236}">
                <a16:creationId xmlns:a16="http://schemas.microsoft.com/office/drawing/2014/main" id="{0DC40BC3-1850-4243-BF3F-8C186016D004}"/>
              </a:ext>
            </a:extLst>
          </p:cNvPr>
          <p:cNvPicPr>
            <a:picLocks noChangeAspect="1"/>
          </p:cNvPicPr>
          <p:nvPr/>
        </p:nvPicPr>
        <p:blipFill>
          <a:blip r:embed="rId2"/>
          <a:stretch>
            <a:fillRect/>
          </a:stretch>
        </p:blipFill>
        <p:spPr>
          <a:xfrm>
            <a:off x="6736172" y="3861146"/>
            <a:ext cx="2950720" cy="2188654"/>
          </a:xfrm>
          <a:prstGeom prst="rect">
            <a:avLst/>
          </a:prstGeom>
        </p:spPr>
      </p:pic>
      <p:pic>
        <p:nvPicPr>
          <p:cNvPr id="11" name="Picture 10">
            <a:extLst>
              <a:ext uri="{FF2B5EF4-FFF2-40B4-BE49-F238E27FC236}">
                <a16:creationId xmlns:a16="http://schemas.microsoft.com/office/drawing/2014/main" id="{13A31235-5911-4E79-8247-1C415E0D3D42}"/>
              </a:ext>
            </a:extLst>
          </p:cNvPr>
          <p:cNvPicPr>
            <a:picLocks noChangeAspect="1"/>
          </p:cNvPicPr>
          <p:nvPr/>
        </p:nvPicPr>
        <p:blipFill>
          <a:blip r:embed="rId3"/>
          <a:stretch>
            <a:fillRect/>
          </a:stretch>
        </p:blipFill>
        <p:spPr>
          <a:xfrm>
            <a:off x="2003561" y="3890366"/>
            <a:ext cx="2950720" cy="2188654"/>
          </a:xfrm>
          <a:prstGeom prst="rect">
            <a:avLst/>
          </a:prstGeom>
        </p:spPr>
      </p:pic>
    </p:spTree>
    <p:extLst>
      <p:ext uri="{BB962C8B-B14F-4D97-AF65-F5344CB8AC3E}">
        <p14:creationId xmlns:p14="http://schemas.microsoft.com/office/powerpoint/2010/main" val="4154083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childTnLst>
                          </p:cTn>
                        </p:par>
                        <p:par>
                          <p:cTn id="8" fill="hold">
                            <p:stCondLst>
                              <p:cond delay="2000"/>
                            </p:stCondLst>
                            <p:childTnLst>
                              <p:par>
                                <p:cTn id="9" presetID="3" presetClass="entr" presetSubtype="10" fill="hold" grpId="0" nodeType="after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blinds(horizontal)">
                                      <p:cBhvr>
                                        <p:cTn id="11" dur="3000"/>
                                        <p:tgtEl>
                                          <p:spTgt spid="7">
                                            <p:txEl>
                                              <p:pRg st="0" end="0"/>
                                            </p:txEl>
                                          </p:spTgt>
                                        </p:tgtEl>
                                      </p:cBhvr>
                                    </p:animEffect>
                                  </p:childTnLst>
                                </p:cTn>
                              </p:par>
                            </p:childTnLst>
                          </p:cTn>
                        </p:par>
                        <p:par>
                          <p:cTn id="12" fill="hold">
                            <p:stCondLst>
                              <p:cond delay="5000"/>
                            </p:stCondLst>
                            <p:childTnLst>
                              <p:par>
                                <p:cTn id="13" presetID="3" presetClass="entr" presetSubtype="10" fill="hold" grpId="0" nodeType="after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animEffect transition="in" filter="blinds(horizontal)">
                                      <p:cBhvr>
                                        <p:cTn id="15" dur="3000"/>
                                        <p:tgtEl>
                                          <p:spTgt spid="7">
                                            <p:txEl>
                                              <p:pRg st="1" end="1"/>
                                            </p:txEl>
                                          </p:spTgt>
                                        </p:tgtEl>
                                      </p:cBhvr>
                                    </p:animEffect>
                                  </p:childTnLst>
                                </p:cTn>
                              </p:par>
                            </p:childTnLst>
                          </p:cTn>
                        </p:par>
                        <p:par>
                          <p:cTn id="16" fill="hold">
                            <p:stCondLst>
                              <p:cond delay="8000"/>
                            </p:stCondLst>
                            <p:childTnLst>
                              <p:par>
                                <p:cTn id="17" presetID="3" presetClass="entr" presetSubtype="10" fill="hold" grpId="0" nodeType="after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Effect transition="in" filter="blinds(horizontal)">
                                      <p:cBhvr>
                                        <p:cTn id="19" dur="3000"/>
                                        <p:tgtEl>
                                          <p:spTgt spid="7">
                                            <p:txEl>
                                              <p:pRg st="2" end="2"/>
                                            </p:txEl>
                                          </p:spTgt>
                                        </p:tgtEl>
                                      </p:cBhvr>
                                    </p:animEffect>
                                  </p:childTnLst>
                                </p:cTn>
                              </p:par>
                            </p:childTnLst>
                          </p:cTn>
                        </p:par>
                        <p:par>
                          <p:cTn id="20" fill="hold">
                            <p:stCondLst>
                              <p:cond delay="11000"/>
                            </p:stCondLst>
                            <p:childTnLst>
                              <p:par>
                                <p:cTn id="21" presetID="3" presetClass="entr" presetSubtype="10" fill="hold" grpId="0" nodeType="after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animEffect transition="in" filter="blinds(horizontal)">
                                      <p:cBhvr>
                                        <p:cTn id="23" dur="30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D0AE722-3A17-4292-8B0C-015DEE23F973}"/>
              </a:ext>
            </a:extLst>
          </p:cNvPr>
          <p:cNvSpPr>
            <a:spLocks noGrp="1"/>
          </p:cNvSpPr>
          <p:nvPr>
            <p:ph type="title"/>
          </p:nvPr>
        </p:nvSpPr>
        <p:spPr>
          <a:xfrm>
            <a:off x="826489" y="190095"/>
            <a:ext cx="10900146" cy="935776"/>
          </a:xfrm>
        </p:spPr>
        <p:txBody>
          <a:bodyPr>
            <a:noAutofit/>
          </a:bodyPr>
          <a:lstStyle/>
          <a:p>
            <a:pPr algn="r"/>
            <a:r>
              <a:rPr lang="fa-IR" spc="0" dirty="0">
                <a:cs typeface="B Nazanin" panose="00000400000000000000" pitchFamily="2" charset="-78"/>
              </a:rPr>
              <a:t>الف) </a:t>
            </a:r>
            <a:r>
              <a:rPr lang="fa-IR" spc="0" dirty="0" err="1">
                <a:cs typeface="B Nazanin" panose="00000400000000000000" pitchFamily="2" charset="-78"/>
              </a:rPr>
              <a:t>اجراي</a:t>
            </a:r>
            <a:r>
              <a:rPr lang="fa-IR" spc="0" dirty="0">
                <a:cs typeface="B Nazanin" panose="00000400000000000000" pitchFamily="2" charset="-78"/>
              </a:rPr>
              <a:t> </a:t>
            </a:r>
            <a:r>
              <a:rPr lang="fa-IR" spc="0" dirty="0" err="1">
                <a:cs typeface="B Nazanin" panose="00000400000000000000" pitchFamily="2" charset="-78"/>
              </a:rPr>
              <a:t>كلاف</a:t>
            </a:r>
            <a:r>
              <a:rPr lang="fa-IR" spc="0" dirty="0">
                <a:cs typeface="B Nazanin" panose="00000400000000000000" pitchFamily="2" charset="-78"/>
              </a:rPr>
              <a:t> </a:t>
            </a:r>
            <a:r>
              <a:rPr lang="fa-IR" spc="0" dirty="0" err="1">
                <a:cs typeface="B Nazanin" panose="00000400000000000000" pitchFamily="2" charset="-78"/>
              </a:rPr>
              <a:t>عرضي</a:t>
            </a:r>
            <a:r>
              <a:rPr lang="fa-IR" spc="0" dirty="0">
                <a:cs typeface="B Nazanin" panose="00000400000000000000" pitchFamily="2" charset="-78"/>
              </a:rPr>
              <a:t> به صورت پیش ساخته:</a:t>
            </a:r>
          </a:p>
        </p:txBody>
      </p:sp>
      <p:sp>
        <p:nvSpPr>
          <p:cNvPr id="6" name="Slide Number Placeholder 5">
            <a:extLst>
              <a:ext uri="{FF2B5EF4-FFF2-40B4-BE49-F238E27FC236}">
                <a16:creationId xmlns:a16="http://schemas.microsoft.com/office/drawing/2014/main" id="{8A75989F-94E4-487A-845C-A4F547DDFE8D}"/>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pPr/>
              <a:t>39</a:t>
            </a:fld>
            <a:endParaRPr lang="en-US" dirty="0"/>
          </a:p>
        </p:txBody>
      </p:sp>
      <p:sp>
        <p:nvSpPr>
          <p:cNvPr id="25" name="TextBox 24">
            <a:extLst>
              <a:ext uri="{FF2B5EF4-FFF2-40B4-BE49-F238E27FC236}">
                <a16:creationId xmlns:a16="http://schemas.microsoft.com/office/drawing/2014/main" id="{87322C07-EC5C-4192-9ED6-4B496278CC69}"/>
              </a:ext>
            </a:extLst>
          </p:cNvPr>
          <p:cNvSpPr txBox="1"/>
          <p:nvPr/>
        </p:nvSpPr>
        <p:spPr>
          <a:xfrm>
            <a:off x="5633301" y="2071408"/>
            <a:ext cx="6558699" cy="2589170"/>
          </a:xfrm>
          <a:prstGeom prst="rect">
            <a:avLst/>
          </a:prstGeom>
          <a:noFill/>
        </p:spPr>
        <p:txBody>
          <a:bodyPr wrap="square">
            <a:spAutoFit/>
          </a:bodyPr>
          <a:lstStyle/>
          <a:p>
            <a:pPr marL="3175" indent="454025" algn="ctr" rtl="1">
              <a:lnSpc>
                <a:spcPct val="150000"/>
              </a:lnSpc>
              <a:buFont typeface="Arial" panose="020B0604020202020204" pitchFamily="34" charset="0"/>
              <a:buNone/>
            </a:pPr>
            <a:r>
              <a:rPr lang="ar-SA" sz="2200" dirty="0">
                <a:latin typeface="Arial Unicode MS" panose="020B0604020202020204" pitchFamily="34" charset="-128"/>
                <a:cs typeface="B Nazanin" panose="00000400000000000000" pitchFamily="2" charset="-78"/>
              </a:rPr>
              <a:t>در اين روش از قالب</a:t>
            </a:r>
            <a:r>
              <a:rPr lang="fa-IR" sz="2200" dirty="0">
                <a:latin typeface="Arial Unicode MS" panose="020B0604020202020204" pitchFamily="34" charset="-128"/>
                <a:cs typeface="B Nazanin" panose="00000400000000000000" pitchFamily="2" charset="-78"/>
              </a:rPr>
              <a:t>‌</a:t>
            </a:r>
            <a:r>
              <a:rPr lang="ar-SA" sz="2200" dirty="0">
                <a:latin typeface="Arial Unicode MS" panose="020B0604020202020204" pitchFamily="34" charset="-128"/>
                <a:cs typeface="B Nazanin" panose="00000400000000000000" pitchFamily="2" charset="-78"/>
              </a:rPr>
              <a:t>هاي بتني آماده در قسمت تحتاني و</a:t>
            </a:r>
            <a:r>
              <a:rPr lang="fa-IR" sz="2200" dirty="0">
                <a:latin typeface="Arial Unicode MS" panose="020B0604020202020204" pitchFamily="34" charset="-128"/>
                <a:cs typeface="B Nazanin" panose="00000400000000000000" pitchFamily="2" charset="-78"/>
              </a:rPr>
              <a:t> </a:t>
            </a:r>
            <a:r>
              <a:rPr lang="ar-SA" sz="2200" dirty="0">
                <a:latin typeface="Arial Unicode MS" panose="020B0604020202020204" pitchFamily="34" charset="-128"/>
                <a:cs typeface="B Nazanin" panose="00000400000000000000" pitchFamily="2" charset="-78"/>
              </a:rPr>
              <a:t>يك </a:t>
            </a:r>
            <a:endParaRPr lang="fa-IR" sz="2200" dirty="0">
              <a:latin typeface="Arial Unicode MS" panose="020B0604020202020204" pitchFamily="34" charset="-128"/>
              <a:cs typeface="B Nazanin" panose="00000400000000000000" pitchFamily="2" charset="-78"/>
            </a:endParaRPr>
          </a:p>
          <a:p>
            <a:pPr marL="3175" indent="454025" algn="ctr" rtl="1">
              <a:lnSpc>
                <a:spcPct val="150000"/>
              </a:lnSpc>
              <a:buFont typeface="Arial" panose="020B0604020202020204" pitchFamily="34" charset="0"/>
              <a:buNone/>
            </a:pPr>
            <a:r>
              <a:rPr lang="ar-SA" sz="2200" dirty="0">
                <a:latin typeface="Arial Unicode MS" panose="020B0604020202020204" pitchFamily="34" charset="-128"/>
                <a:cs typeface="B Nazanin" panose="00000400000000000000" pitchFamily="2" charset="-78"/>
              </a:rPr>
              <a:t>ميلگرد به قطر حداقل 12 ميلي</a:t>
            </a:r>
            <a:r>
              <a:rPr lang="fa-IR" sz="2200" dirty="0">
                <a:latin typeface="Arial Unicode MS" panose="020B0604020202020204" pitchFamily="34" charset="-128"/>
                <a:cs typeface="B Nazanin" panose="00000400000000000000" pitchFamily="2" charset="-78"/>
              </a:rPr>
              <a:t>‌</a:t>
            </a:r>
            <a:r>
              <a:rPr lang="ar-SA" sz="2200" dirty="0">
                <a:latin typeface="Arial Unicode MS" panose="020B0604020202020204" pitchFamily="34" charset="-128"/>
                <a:cs typeface="B Nazanin" panose="00000400000000000000" pitchFamily="2" charset="-78"/>
              </a:rPr>
              <a:t>متر كه كاملاً مستقيم و بدون خم </a:t>
            </a:r>
            <a:endParaRPr lang="fa-IR" sz="2200" dirty="0">
              <a:latin typeface="Arial Unicode MS" panose="020B0604020202020204" pitchFamily="34" charset="-128"/>
              <a:cs typeface="B Nazanin" panose="00000400000000000000" pitchFamily="2" charset="-78"/>
            </a:endParaRPr>
          </a:p>
          <a:p>
            <a:pPr marL="3175" indent="454025" algn="ctr" rtl="1">
              <a:lnSpc>
                <a:spcPct val="150000"/>
              </a:lnSpc>
              <a:buFont typeface="Arial" panose="020B0604020202020204" pitchFamily="34" charset="0"/>
              <a:buNone/>
            </a:pPr>
            <a:r>
              <a:rPr lang="ar-SA" sz="2200" dirty="0">
                <a:latin typeface="Arial Unicode MS" panose="020B0604020202020204" pitchFamily="34" charset="-128"/>
                <a:cs typeface="B Nazanin" panose="00000400000000000000" pitchFamily="2" charset="-78"/>
              </a:rPr>
              <a:t>باشد و در قسمت فوقاني مطابق شكل استفاده مي‌شود.</a:t>
            </a:r>
            <a:endParaRPr lang="en-US" sz="2200" dirty="0">
              <a:latin typeface="Arial Unicode MS" panose="020B0604020202020204" pitchFamily="34" charset="-128"/>
              <a:cs typeface="B Nazanin" panose="00000400000000000000" pitchFamily="2" charset="-78"/>
            </a:endParaRPr>
          </a:p>
          <a:p>
            <a:pPr marL="3175" indent="454025" algn="ctr" rtl="1">
              <a:lnSpc>
                <a:spcPct val="150000"/>
              </a:lnSpc>
              <a:buFont typeface="Arial" panose="020B0604020202020204" pitchFamily="34" charset="0"/>
              <a:buNone/>
            </a:pPr>
            <a:r>
              <a:rPr lang="ar-SA" sz="2200" dirty="0">
                <a:latin typeface="Arial Unicode MS" panose="020B0604020202020204" pitchFamily="34" charset="-128"/>
                <a:cs typeface="B Nazanin" panose="00000400000000000000" pitchFamily="2" charset="-78"/>
              </a:rPr>
              <a:t>توجه شود كه ميلگرد‌هايي كه از</a:t>
            </a:r>
            <a:r>
              <a:rPr lang="fa-IR" sz="2200" dirty="0">
                <a:latin typeface="Arial Unicode MS" panose="020B0604020202020204" pitchFamily="34" charset="-128"/>
                <a:cs typeface="B Nazanin" panose="00000400000000000000" pitchFamily="2" charset="-78"/>
              </a:rPr>
              <a:t> </a:t>
            </a:r>
            <a:r>
              <a:rPr lang="ar-SA" sz="2200" dirty="0">
                <a:latin typeface="Arial Unicode MS" panose="020B0604020202020204" pitchFamily="34" charset="-128"/>
                <a:cs typeface="B Nazanin" panose="00000400000000000000" pitchFamily="2" charset="-78"/>
              </a:rPr>
              <a:t>قالب بتني كلاف عرضي </a:t>
            </a:r>
            <a:r>
              <a:rPr lang="fa-IR" sz="2200" dirty="0">
                <a:latin typeface="Arial Unicode MS" panose="020B0604020202020204" pitchFamily="34" charset="-128"/>
                <a:cs typeface="B Nazanin" panose="00000400000000000000" pitchFamily="2" charset="-78"/>
              </a:rPr>
              <a:t>  </a:t>
            </a:r>
          </a:p>
          <a:p>
            <a:pPr marL="3175" indent="454025" algn="ctr" rtl="1">
              <a:lnSpc>
                <a:spcPct val="150000"/>
              </a:lnSpc>
              <a:buFont typeface="Arial" panose="020B0604020202020204" pitchFamily="34" charset="0"/>
              <a:buNone/>
            </a:pPr>
            <a:r>
              <a:rPr lang="ar-SA" sz="2200" dirty="0">
                <a:latin typeface="Arial Unicode MS" panose="020B0604020202020204" pitchFamily="34" charset="-128"/>
                <a:cs typeface="B Nazanin" panose="00000400000000000000" pitchFamily="2" charset="-78"/>
              </a:rPr>
              <a:t>خارج شده‌اند</a:t>
            </a:r>
            <a:r>
              <a:rPr lang="fa-IR" sz="2200" dirty="0">
                <a:latin typeface="Arial Unicode MS" panose="020B0604020202020204" pitchFamily="34" charset="-128"/>
                <a:cs typeface="B Nazanin" panose="00000400000000000000" pitchFamily="2" charset="-78"/>
              </a:rPr>
              <a:t>، </a:t>
            </a:r>
            <a:r>
              <a:rPr lang="ar-SA" sz="2200" dirty="0">
                <a:latin typeface="Arial Unicode MS" panose="020B0604020202020204" pitchFamily="34" charset="-128"/>
                <a:cs typeface="B Nazanin" panose="00000400000000000000" pitchFamily="2" charset="-78"/>
              </a:rPr>
              <a:t>بايد به بال تحتاني كاملاً جوش شوند</a:t>
            </a:r>
            <a:r>
              <a:rPr lang="fa-IR" sz="2000" dirty="0">
                <a:latin typeface="Arial Unicode MS" panose="020B0604020202020204" pitchFamily="34" charset="-128"/>
                <a:cs typeface="2  Davat" pitchFamily="2" charset="-78"/>
              </a:rPr>
              <a:t>.</a:t>
            </a:r>
            <a:endParaRPr lang="en-US" sz="2000" dirty="0">
              <a:latin typeface="Arial Unicode MS" panose="020B0604020202020204" pitchFamily="34" charset="-128"/>
              <a:cs typeface="2  Davat" pitchFamily="2" charset="-78"/>
            </a:endParaRPr>
          </a:p>
        </p:txBody>
      </p:sp>
      <p:pic>
        <p:nvPicPr>
          <p:cNvPr id="8" name="Picture 7" descr="C:\Documents and Settings\Reza\Desktop\gm.bmp">
            <a:extLst>
              <a:ext uri="{FF2B5EF4-FFF2-40B4-BE49-F238E27FC236}">
                <a16:creationId xmlns:a16="http://schemas.microsoft.com/office/drawing/2014/main" id="{436A570B-85B9-4E9B-A00C-5FA5FC73AE63}"/>
              </a:ext>
            </a:extLst>
          </p:cNvPr>
          <p:cNvPicPr/>
          <p:nvPr/>
        </p:nvPicPr>
        <p:blipFill>
          <a:blip r:embed="rId2"/>
          <a:srcRect/>
          <a:stretch>
            <a:fillRect/>
          </a:stretch>
        </p:blipFill>
        <p:spPr bwMode="auto">
          <a:xfrm>
            <a:off x="479980" y="2071408"/>
            <a:ext cx="5040199" cy="2715184"/>
          </a:xfrm>
          <a:prstGeom prst="rect">
            <a:avLst/>
          </a:prstGeom>
          <a:noFill/>
          <a:ln w="9525">
            <a:noFill/>
            <a:miter lim="800000"/>
            <a:headEnd/>
            <a:tailEnd/>
          </a:ln>
        </p:spPr>
      </p:pic>
    </p:spTree>
    <p:extLst>
      <p:ext uri="{BB962C8B-B14F-4D97-AF65-F5344CB8AC3E}">
        <p14:creationId xmlns:p14="http://schemas.microsoft.com/office/powerpoint/2010/main" val="1308069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D0AE722-3A17-4292-8B0C-015DEE23F973}"/>
              </a:ext>
            </a:extLst>
          </p:cNvPr>
          <p:cNvSpPr>
            <a:spLocks noGrp="1"/>
          </p:cNvSpPr>
          <p:nvPr>
            <p:ph type="title"/>
          </p:nvPr>
        </p:nvSpPr>
        <p:spPr>
          <a:xfrm>
            <a:off x="826489" y="190095"/>
            <a:ext cx="10900146" cy="935776"/>
          </a:xfrm>
        </p:spPr>
        <p:txBody>
          <a:bodyPr>
            <a:noAutofit/>
          </a:bodyPr>
          <a:lstStyle/>
          <a:p>
            <a:pPr algn="r"/>
            <a:r>
              <a:rPr lang="fa-IR" spc="0" dirty="0">
                <a:cs typeface="B Nazanin" panose="00000400000000000000" pitchFamily="2" charset="-78"/>
              </a:rPr>
              <a:t>ب) </a:t>
            </a:r>
            <a:r>
              <a:rPr lang="fa-IR" spc="0" dirty="0" err="1">
                <a:cs typeface="B Nazanin" panose="00000400000000000000" pitchFamily="2" charset="-78"/>
              </a:rPr>
              <a:t>اجراي</a:t>
            </a:r>
            <a:r>
              <a:rPr lang="fa-IR" spc="0" dirty="0">
                <a:cs typeface="B Nazanin" panose="00000400000000000000" pitchFamily="2" charset="-78"/>
              </a:rPr>
              <a:t> </a:t>
            </a:r>
            <a:r>
              <a:rPr lang="fa-IR" spc="0" dirty="0" err="1">
                <a:cs typeface="B Nazanin" panose="00000400000000000000" pitchFamily="2" charset="-78"/>
              </a:rPr>
              <a:t>كلاف</a:t>
            </a:r>
            <a:r>
              <a:rPr lang="fa-IR" spc="0" dirty="0">
                <a:cs typeface="B Nazanin" panose="00000400000000000000" pitchFamily="2" charset="-78"/>
              </a:rPr>
              <a:t> </a:t>
            </a:r>
            <a:r>
              <a:rPr lang="fa-IR" spc="0" dirty="0" err="1">
                <a:cs typeface="B Nazanin" panose="00000400000000000000" pitchFamily="2" charset="-78"/>
              </a:rPr>
              <a:t>عرضي</a:t>
            </a:r>
            <a:r>
              <a:rPr lang="fa-IR" spc="0" dirty="0">
                <a:cs typeface="B Nazanin" panose="00000400000000000000" pitchFamily="2" charset="-78"/>
              </a:rPr>
              <a:t> به صورت </a:t>
            </a:r>
            <a:r>
              <a:rPr lang="fa-IR" spc="0" dirty="0" err="1">
                <a:cs typeface="B Nazanin" panose="00000400000000000000" pitchFamily="2" charset="-78"/>
              </a:rPr>
              <a:t>درجا</a:t>
            </a:r>
            <a:r>
              <a:rPr lang="fa-IR" spc="0" dirty="0">
                <a:cs typeface="B Nazanin" panose="00000400000000000000" pitchFamily="2" charset="-78"/>
              </a:rPr>
              <a:t>:</a:t>
            </a:r>
            <a:endParaRPr lang="en-US" spc="0" dirty="0">
              <a:cs typeface="B Nazanin" panose="00000400000000000000" pitchFamily="2" charset="-78"/>
            </a:endParaRPr>
          </a:p>
        </p:txBody>
      </p:sp>
      <p:sp>
        <p:nvSpPr>
          <p:cNvPr id="6" name="Slide Number Placeholder 5">
            <a:extLst>
              <a:ext uri="{FF2B5EF4-FFF2-40B4-BE49-F238E27FC236}">
                <a16:creationId xmlns:a16="http://schemas.microsoft.com/office/drawing/2014/main" id="{8A75989F-94E4-487A-845C-A4F547DDFE8D}"/>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pPr/>
              <a:t>40</a:t>
            </a:fld>
            <a:endParaRPr lang="en-US" dirty="0"/>
          </a:p>
        </p:txBody>
      </p:sp>
      <p:sp>
        <p:nvSpPr>
          <p:cNvPr id="25" name="TextBox 24">
            <a:extLst>
              <a:ext uri="{FF2B5EF4-FFF2-40B4-BE49-F238E27FC236}">
                <a16:creationId xmlns:a16="http://schemas.microsoft.com/office/drawing/2014/main" id="{87322C07-EC5C-4192-9ED6-4B496278CC69}"/>
              </a:ext>
            </a:extLst>
          </p:cNvPr>
          <p:cNvSpPr txBox="1"/>
          <p:nvPr/>
        </p:nvSpPr>
        <p:spPr>
          <a:xfrm>
            <a:off x="2476870" y="1789417"/>
            <a:ext cx="9249765" cy="1107996"/>
          </a:xfrm>
          <a:prstGeom prst="rect">
            <a:avLst/>
          </a:prstGeom>
          <a:noFill/>
        </p:spPr>
        <p:txBody>
          <a:bodyPr wrap="square">
            <a:spAutoFit/>
          </a:bodyPr>
          <a:lstStyle/>
          <a:p>
            <a:pPr lvl="1" algn="r"/>
            <a:r>
              <a:rPr lang="fa-IR" sz="2200" i="0" dirty="0">
                <a:solidFill>
                  <a:srgbClr val="000000"/>
                </a:solidFill>
                <a:effectLst/>
                <a:latin typeface="B Nazanin" panose="00000400000000000000" pitchFamily="2" charset="-78"/>
                <a:cs typeface="B Nazanin" panose="00000400000000000000" pitchFamily="2" charset="-78"/>
              </a:rPr>
              <a:t>در </a:t>
            </a:r>
            <a:r>
              <a:rPr lang="fa-IR" sz="2200" i="0" dirty="0" err="1">
                <a:solidFill>
                  <a:srgbClr val="000000"/>
                </a:solidFill>
                <a:effectLst/>
                <a:latin typeface="B Nazanin" panose="00000400000000000000" pitchFamily="2" charset="-78"/>
                <a:cs typeface="B Nazanin" panose="00000400000000000000" pitchFamily="2" charset="-78"/>
              </a:rPr>
              <a:t>اين</a:t>
            </a:r>
            <a:r>
              <a:rPr lang="fa-IR" sz="2200" i="0" dirty="0">
                <a:solidFill>
                  <a:srgbClr val="000000"/>
                </a:solidFill>
                <a:effectLst/>
                <a:latin typeface="B Nazanin" panose="00000400000000000000" pitchFamily="2" charset="-78"/>
                <a:cs typeface="B Nazanin" panose="00000400000000000000" pitchFamily="2" charset="-78"/>
              </a:rPr>
              <a:t> روش از </a:t>
            </a:r>
            <a:r>
              <a:rPr lang="fa-IR" sz="2200" i="0" dirty="0" err="1">
                <a:solidFill>
                  <a:srgbClr val="000000"/>
                </a:solidFill>
                <a:effectLst/>
                <a:latin typeface="B Nazanin" panose="00000400000000000000" pitchFamily="2" charset="-78"/>
                <a:cs typeface="B Nazanin" panose="00000400000000000000" pitchFamily="2" charset="-78"/>
              </a:rPr>
              <a:t>يك</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ميلگرد</a:t>
            </a:r>
            <a:r>
              <a:rPr lang="fa-IR" sz="2200" i="0" dirty="0">
                <a:solidFill>
                  <a:srgbClr val="000000"/>
                </a:solidFill>
                <a:effectLst/>
                <a:latin typeface="B Nazanin" panose="00000400000000000000" pitchFamily="2" charset="-78"/>
                <a:cs typeface="B Nazanin" panose="00000400000000000000" pitchFamily="2" charset="-78"/>
              </a:rPr>
              <a:t> در قسمت </a:t>
            </a:r>
            <a:r>
              <a:rPr lang="fa-IR" sz="2200" i="0" dirty="0" err="1">
                <a:solidFill>
                  <a:srgbClr val="000000"/>
                </a:solidFill>
                <a:effectLst/>
                <a:latin typeface="B Nazanin" panose="00000400000000000000" pitchFamily="2" charset="-78"/>
                <a:cs typeface="B Nazanin" panose="00000400000000000000" pitchFamily="2" charset="-78"/>
              </a:rPr>
              <a:t>پاييني</a:t>
            </a:r>
            <a:r>
              <a:rPr lang="fa-IR" sz="2200" i="0" dirty="0">
                <a:solidFill>
                  <a:srgbClr val="000000"/>
                </a:solidFill>
                <a:effectLst/>
                <a:latin typeface="B Nazanin" panose="00000400000000000000" pitchFamily="2" charset="-78"/>
                <a:cs typeface="B Nazanin" panose="00000400000000000000" pitchFamily="2" charset="-78"/>
              </a:rPr>
              <a:t> استفاده شده که به بال </a:t>
            </a:r>
            <a:r>
              <a:rPr lang="fa-IR" sz="2200" i="0" dirty="0" err="1">
                <a:solidFill>
                  <a:srgbClr val="000000"/>
                </a:solidFill>
                <a:effectLst/>
                <a:latin typeface="B Nazanin" panose="00000400000000000000" pitchFamily="2" charset="-78"/>
                <a:cs typeface="B Nazanin" panose="00000400000000000000" pitchFamily="2" charset="-78"/>
              </a:rPr>
              <a:t>تحتاني</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تيرچه‌ها</a:t>
            </a:r>
            <a:r>
              <a:rPr lang="fa-IR" sz="2200" i="0" dirty="0">
                <a:solidFill>
                  <a:srgbClr val="000000"/>
                </a:solidFill>
                <a:effectLst/>
                <a:latin typeface="B Nazanin" panose="00000400000000000000" pitchFamily="2" charset="-78"/>
                <a:cs typeface="B Nazanin" panose="00000400000000000000" pitchFamily="2" charset="-78"/>
              </a:rPr>
              <a:t> جوش </a:t>
            </a:r>
            <a:r>
              <a:rPr lang="fa-IR" sz="2200" i="0" dirty="0" err="1">
                <a:solidFill>
                  <a:srgbClr val="000000"/>
                </a:solidFill>
                <a:effectLst/>
                <a:latin typeface="B Nazanin" panose="00000400000000000000" pitchFamily="2" charset="-78"/>
                <a:cs typeface="B Nazanin" panose="00000400000000000000" pitchFamily="2" charset="-78"/>
              </a:rPr>
              <a:t>مي‌شود</a:t>
            </a:r>
            <a:r>
              <a:rPr lang="fa-IR" sz="2200" i="0" dirty="0">
                <a:solidFill>
                  <a:srgbClr val="000000"/>
                </a:solidFill>
                <a:effectLst/>
                <a:latin typeface="B Nazanin" panose="00000400000000000000" pitchFamily="2" charset="-78"/>
                <a:cs typeface="B Nazanin" panose="00000400000000000000" pitchFamily="2" charset="-78"/>
              </a:rPr>
              <a:t>.</a:t>
            </a:r>
          </a:p>
          <a:p>
            <a:pPr lvl="1" algn="r"/>
            <a:endParaRPr lang="en-US" sz="2200" i="0" dirty="0">
              <a:solidFill>
                <a:srgbClr val="000000"/>
              </a:solidFill>
              <a:effectLst/>
              <a:latin typeface="B Nazanin" panose="00000400000000000000" pitchFamily="2" charset="-78"/>
              <a:cs typeface="B Nazanin" panose="00000400000000000000" pitchFamily="2" charset="-78"/>
            </a:endParaRPr>
          </a:p>
          <a:p>
            <a:pPr lvl="1" algn="r"/>
            <a:r>
              <a:rPr lang="fa-IR" sz="2200" i="0" dirty="0">
                <a:solidFill>
                  <a:srgbClr val="000000"/>
                </a:solidFill>
                <a:effectLst/>
                <a:latin typeface="B Nazanin" panose="00000400000000000000" pitchFamily="2" charset="-78"/>
                <a:cs typeface="B Nazanin" panose="00000400000000000000" pitchFamily="2" charset="-78"/>
              </a:rPr>
              <a:t> و </a:t>
            </a:r>
            <a:r>
              <a:rPr lang="fa-IR" sz="2200" i="0" dirty="0" err="1">
                <a:solidFill>
                  <a:srgbClr val="000000"/>
                </a:solidFill>
                <a:effectLst/>
                <a:latin typeface="B Nazanin" panose="00000400000000000000" pitchFamily="2" charset="-78"/>
                <a:cs typeface="B Nazanin" panose="00000400000000000000" pitchFamily="2" charset="-78"/>
              </a:rPr>
              <a:t>ميلگرد</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فوقاني</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كلاف</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عرضي</a:t>
            </a:r>
            <a:r>
              <a:rPr lang="fa-IR" sz="2200" i="0" dirty="0">
                <a:solidFill>
                  <a:srgbClr val="000000"/>
                </a:solidFill>
                <a:effectLst/>
                <a:latin typeface="B Nazanin" panose="00000400000000000000" pitchFamily="2" charset="-78"/>
                <a:cs typeface="B Nazanin" panose="00000400000000000000" pitchFamily="2" charset="-78"/>
              </a:rPr>
              <a:t> مانند روش قبلی به بال </a:t>
            </a:r>
            <a:r>
              <a:rPr lang="fa-IR" sz="2200" i="0" dirty="0" err="1">
                <a:solidFill>
                  <a:srgbClr val="000000"/>
                </a:solidFill>
                <a:effectLst/>
                <a:latin typeface="B Nazanin" panose="00000400000000000000" pitchFamily="2" charset="-78"/>
                <a:cs typeface="B Nazanin" panose="00000400000000000000" pitchFamily="2" charset="-78"/>
              </a:rPr>
              <a:t>فوقاني</a:t>
            </a:r>
            <a:r>
              <a:rPr lang="fa-IR" sz="2200" i="0" dirty="0">
                <a:solidFill>
                  <a:srgbClr val="000000"/>
                </a:solidFill>
                <a:effectLst/>
                <a:latin typeface="B Nazanin" panose="00000400000000000000" pitchFamily="2" charset="-78"/>
                <a:cs typeface="B Nazanin" panose="00000400000000000000" pitchFamily="2" charset="-78"/>
              </a:rPr>
              <a:t> جوش </a:t>
            </a:r>
            <a:r>
              <a:rPr lang="fa-IR" sz="2200" i="0" dirty="0" err="1">
                <a:solidFill>
                  <a:srgbClr val="000000"/>
                </a:solidFill>
                <a:effectLst/>
                <a:latin typeface="B Nazanin" panose="00000400000000000000" pitchFamily="2" charset="-78"/>
                <a:cs typeface="B Nazanin" panose="00000400000000000000" pitchFamily="2" charset="-78"/>
              </a:rPr>
              <a:t>مي‌شود</a:t>
            </a:r>
            <a:r>
              <a:rPr lang="fa-IR" sz="2200" i="0" dirty="0">
                <a:solidFill>
                  <a:srgbClr val="000000"/>
                </a:solidFill>
                <a:effectLst/>
                <a:latin typeface="B Nazanin" panose="00000400000000000000" pitchFamily="2" charset="-78"/>
                <a:cs typeface="B Nazanin" panose="00000400000000000000" pitchFamily="2" charset="-78"/>
              </a:rPr>
              <a:t>.</a:t>
            </a:r>
          </a:p>
        </p:txBody>
      </p:sp>
      <p:pic>
        <p:nvPicPr>
          <p:cNvPr id="2" name="Picture 1">
            <a:extLst>
              <a:ext uri="{FF2B5EF4-FFF2-40B4-BE49-F238E27FC236}">
                <a16:creationId xmlns:a16="http://schemas.microsoft.com/office/drawing/2014/main" id="{8092E4C9-522C-4CE7-BD68-FCB62FED3757}"/>
              </a:ext>
            </a:extLst>
          </p:cNvPr>
          <p:cNvPicPr>
            <a:picLocks noChangeAspect="1"/>
          </p:cNvPicPr>
          <p:nvPr/>
        </p:nvPicPr>
        <p:blipFill>
          <a:blip r:embed="rId2"/>
          <a:stretch>
            <a:fillRect/>
          </a:stretch>
        </p:blipFill>
        <p:spPr>
          <a:xfrm>
            <a:off x="644526" y="2481638"/>
            <a:ext cx="5352752" cy="3298222"/>
          </a:xfrm>
          <a:prstGeom prst="rect">
            <a:avLst/>
          </a:prstGeom>
        </p:spPr>
      </p:pic>
    </p:spTree>
    <p:extLst>
      <p:ext uri="{BB962C8B-B14F-4D97-AF65-F5344CB8AC3E}">
        <p14:creationId xmlns:p14="http://schemas.microsoft.com/office/powerpoint/2010/main" val="41647763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D0AE722-3A17-4292-8B0C-015DEE23F973}"/>
              </a:ext>
            </a:extLst>
          </p:cNvPr>
          <p:cNvSpPr>
            <a:spLocks noGrp="1"/>
          </p:cNvSpPr>
          <p:nvPr>
            <p:ph type="title"/>
          </p:nvPr>
        </p:nvSpPr>
        <p:spPr>
          <a:xfrm>
            <a:off x="888633" y="376526"/>
            <a:ext cx="10900146" cy="935776"/>
          </a:xfrm>
        </p:spPr>
        <p:txBody>
          <a:bodyPr>
            <a:noAutofit/>
          </a:bodyPr>
          <a:lstStyle/>
          <a:p>
            <a:pPr algn="r"/>
            <a:r>
              <a:rPr lang="fa-IR" spc="0" dirty="0">
                <a:cs typeface="B Nazanin" panose="00000400000000000000" pitchFamily="2" charset="-78"/>
              </a:rPr>
              <a:t>5) بتن </a:t>
            </a:r>
            <a:r>
              <a:rPr lang="fa-IR" spc="0" dirty="0" err="1">
                <a:cs typeface="B Nazanin" panose="00000400000000000000" pitchFamily="2" charset="-78"/>
              </a:rPr>
              <a:t>پوششي</a:t>
            </a:r>
            <a:r>
              <a:rPr lang="fa-IR" spc="0" dirty="0">
                <a:cs typeface="B Nazanin" panose="00000400000000000000" pitchFamily="2" charset="-78"/>
              </a:rPr>
              <a:t> </a:t>
            </a:r>
            <a:r>
              <a:rPr lang="fa-IR" spc="0" dirty="0" err="1">
                <a:cs typeface="B Nazanin" panose="00000400000000000000" pitchFamily="2" charset="-78"/>
              </a:rPr>
              <a:t>درجا</a:t>
            </a:r>
            <a:r>
              <a:rPr lang="fa-IR" spc="0" dirty="0">
                <a:cs typeface="B Nazanin" panose="00000400000000000000" pitchFamily="2" charset="-78"/>
              </a:rPr>
              <a:t>:</a:t>
            </a:r>
            <a:endParaRPr lang="en-US" spc="0" dirty="0">
              <a:cs typeface="B Nazanin" panose="00000400000000000000" pitchFamily="2" charset="-78"/>
            </a:endParaRPr>
          </a:p>
        </p:txBody>
      </p:sp>
      <p:sp>
        <p:nvSpPr>
          <p:cNvPr id="6" name="Slide Number Placeholder 5">
            <a:extLst>
              <a:ext uri="{FF2B5EF4-FFF2-40B4-BE49-F238E27FC236}">
                <a16:creationId xmlns:a16="http://schemas.microsoft.com/office/drawing/2014/main" id="{8A75989F-94E4-487A-845C-A4F547DDFE8D}"/>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pPr/>
              <a:t>41</a:t>
            </a:fld>
            <a:endParaRPr lang="en-US" dirty="0"/>
          </a:p>
        </p:txBody>
      </p:sp>
      <p:sp>
        <p:nvSpPr>
          <p:cNvPr id="25" name="TextBox 24">
            <a:extLst>
              <a:ext uri="{FF2B5EF4-FFF2-40B4-BE49-F238E27FC236}">
                <a16:creationId xmlns:a16="http://schemas.microsoft.com/office/drawing/2014/main" id="{87322C07-EC5C-4192-9ED6-4B496278CC69}"/>
              </a:ext>
            </a:extLst>
          </p:cNvPr>
          <p:cNvSpPr txBox="1"/>
          <p:nvPr/>
        </p:nvSpPr>
        <p:spPr>
          <a:xfrm>
            <a:off x="-214001" y="1971978"/>
            <a:ext cx="12089492" cy="1446550"/>
          </a:xfrm>
          <a:prstGeom prst="rect">
            <a:avLst/>
          </a:prstGeom>
          <a:noFill/>
        </p:spPr>
        <p:txBody>
          <a:bodyPr wrap="square">
            <a:spAutoFit/>
          </a:bodyPr>
          <a:lstStyle/>
          <a:p>
            <a:pPr lvl="1" algn="r"/>
            <a:r>
              <a:rPr lang="fa-IR" sz="2200" i="0" dirty="0">
                <a:solidFill>
                  <a:srgbClr val="000000"/>
                </a:solidFill>
                <a:effectLst/>
                <a:latin typeface="B Nazanin" panose="00000400000000000000" pitchFamily="2" charset="-78"/>
                <a:cs typeface="B Nazanin" panose="00000400000000000000" pitchFamily="2" charset="-78"/>
              </a:rPr>
              <a:t>سپس از </a:t>
            </a:r>
            <a:r>
              <a:rPr lang="fa-IR" sz="2200" i="0" dirty="0" err="1">
                <a:solidFill>
                  <a:srgbClr val="000000"/>
                </a:solidFill>
                <a:effectLst/>
                <a:latin typeface="B Nazanin" panose="00000400000000000000" pitchFamily="2" charset="-78"/>
                <a:cs typeface="B Nazanin" panose="00000400000000000000" pitchFamily="2" charset="-78"/>
              </a:rPr>
              <a:t>جاگذاری</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تیرچه‌ها</a:t>
            </a:r>
            <a:r>
              <a:rPr lang="fa-IR" sz="2200" i="0" dirty="0">
                <a:solidFill>
                  <a:srgbClr val="000000"/>
                </a:solidFill>
                <a:effectLst/>
                <a:latin typeface="B Nazanin" panose="00000400000000000000" pitchFamily="2" charset="-78"/>
                <a:cs typeface="B Nazanin" panose="00000400000000000000" pitchFamily="2" charset="-78"/>
              </a:rPr>
              <a:t> و </a:t>
            </a:r>
            <a:r>
              <a:rPr lang="fa-IR" sz="2200" i="0" dirty="0" err="1">
                <a:solidFill>
                  <a:srgbClr val="000000"/>
                </a:solidFill>
                <a:effectLst/>
                <a:latin typeface="B Nazanin" panose="00000400000000000000" pitchFamily="2" charset="-78"/>
                <a:cs typeface="B Nazanin" panose="00000400000000000000" pitchFamily="2" charset="-78"/>
              </a:rPr>
              <a:t>بلوک‌ها</a:t>
            </a:r>
            <a:r>
              <a:rPr lang="fa-IR" sz="2200" i="0" dirty="0">
                <a:solidFill>
                  <a:srgbClr val="000000"/>
                </a:solidFill>
                <a:effectLst/>
                <a:latin typeface="B Nazanin" panose="00000400000000000000" pitchFamily="2" charset="-78"/>
                <a:cs typeface="B Nazanin" panose="00000400000000000000" pitchFamily="2" charset="-78"/>
              </a:rPr>
              <a:t>، بتن پوششی اجرا </a:t>
            </a:r>
            <a:r>
              <a:rPr lang="fa-IR" sz="2200" i="0" dirty="0" err="1">
                <a:solidFill>
                  <a:srgbClr val="000000"/>
                </a:solidFill>
                <a:effectLst/>
                <a:latin typeface="B Nazanin" panose="00000400000000000000" pitchFamily="2" charset="-78"/>
                <a:cs typeface="B Nazanin" panose="00000400000000000000" pitchFamily="2" charset="-78"/>
              </a:rPr>
              <a:t>می‌شود</a:t>
            </a:r>
            <a:r>
              <a:rPr lang="fa-IR" sz="2200" i="0" dirty="0">
                <a:solidFill>
                  <a:srgbClr val="000000"/>
                </a:solidFill>
                <a:effectLst/>
                <a:latin typeface="B Nazanin" panose="00000400000000000000" pitchFamily="2" charset="-78"/>
                <a:cs typeface="B Nazanin" panose="00000400000000000000" pitchFamily="2" charset="-78"/>
              </a:rPr>
              <a:t>. طبق نشریه 151، ضخامت دال نباید از 5 </a:t>
            </a:r>
            <a:r>
              <a:rPr lang="fa-IR" sz="2200" i="0" dirty="0" err="1">
                <a:solidFill>
                  <a:srgbClr val="000000"/>
                </a:solidFill>
                <a:effectLst/>
                <a:latin typeface="B Nazanin" panose="00000400000000000000" pitchFamily="2" charset="-78"/>
                <a:cs typeface="B Nazanin" panose="00000400000000000000" pitchFamily="2" charset="-78"/>
              </a:rPr>
              <a:t>سانتی‌متر</a:t>
            </a:r>
            <a:r>
              <a:rPr lang="fa-IR" sz="2200" i="0" dirty="0">
                <a:solidFill>
                  <a:srgbClr val="000000"/>
                </a:solidFill>
                <a:effectLst/>
                <a:latin typeface="B Nazanin" panose="00000400000000000000" pitchFamily="2" charset="-78"/>
                <a:cs typeface="B Nazanin" panose="00000400000000000000" pitchFamily="2" charset="-78"/>
              </a:rPr>
              <a:t> و یک دوازدهم</a:t>
            </a:r>
          </a:p>
          <a:p>
            <a:pPr lvl="1" algn="r"/>
            <a:endParaRPr lang="fa-IR" sz="2200" dirty="0">
              <a:solidFill>
                <a:srgbClr val="000000"/>
              </a:solidFill>
              <a:latin typeface="B Nazanin" panose="00000400000000000000" pitchFamily="2" charset="-78"/>
              <a:cs typeface="B Nazanin" panose="00000400000000000000" pitchFamily="2" charset="-78"/>
            </a:endParaRPr>
          </a:p>
          <a:p>
            <a:pPr lvl="1" algn="r"/>
            <a:r>
              <a:rPr lang="fa-IR" sz="2200" i="0" dirty="0">
                <a:solidFill>
                  <a:srgbClr val="000000"/>
                </a:solidFill>
                <a:effectLst/>
                <a:latin typeface="B Nazanin" panose="00000400000000000000" pitchFamily="2" charset="-78"/>
                <a:cs typeface="B Nazanin" panose="00000400000000000000" pitchFamily="2" charset="-78"/>
              </a:rPr>
              <a:t> فاصله آزاد بین </a:t>
            </a:r>
            <a:r>
              <a:rPr lang="fa-IR" sz="2200" i="0" dirty="0" err="1">
                <a:solidFill>
                  <a:srgbClr val="000000"/>
                </a:solidFill>
                <a:effectLst/>
                <a:latin typeface="B Nazanin" panose="00000400000000000000" pitchFamily="2" charset="-78"/>
                <a:cs typeface="B Nazanin" panose="00000400000000000000" pitchFamily="2" charset="-78"/>
              </a:rPr>
              <a:t>تیرچه‌ها</a:t>
            </a:r>
            <a:r>
              <a:rPr lang="fa-IR" sz="2200" i="0" dirty="0">
                <a:solidFill>
                  <a:srgbClr val="000000"/>
                </a:solidFill>
                <a:effectLst/>
                <a:latin typeface="B Nazanin" panose="00000400000000000000" pitchFamily="2" charset="-78"/>
                <a:cs typeface="B Nazanin" panose="00000400000000000000" pitchFamily="2" charset="-78"/>
              </a:rPr>
              <a:t> کمتر باشد. در عمل این مورد کمتر رعایت شده و حتی </a:t>
            </a:r>
            <a:r>
              <a:rPr lang="fa-IR" sz="2200" i="0" dirty="0" err="1">
                <a:solidFill>
                  <a:srgbClr val="000000"/>
                </a:solidFill>
                <a:effectLst/>
                <a:latin typeface="B Nazanin" panose="00000400000000000000" pitchFamily="2" charset="-78"/>
                <a:cs typeface="B Nazanin" panose="00000400000000000000" pitchFamily="2" charset="-78"/>
              </a:rPr>
              <a:t>ضخامت‌های</a:t>
            </a:r>
            <a:r>
              <a:rPr lang="fa-IR" sz="2200" i="0" dirty="0">
                <a:solidFill>
                  <a:srgbClr val="000000"/>
                </a:solidFill>
                <a:effectLst/>
                <a:latin typeface="B Nazanin" panose="00000400000000000000" pitchFamily="2" charset="-78"/>
                <a:cs typeface="B Nazanin" panose="00000400000000000000" pitchFamily="2" charset="-78"/>
              </a:rPr>
              <a:t> 2 و 3 </a:t>
            </a:r>
            <a:r>
              <a:rPr lang="fa-IR" sz="2200" i="0" dirty="0" err="1">
                <a:solidFill>
                  <a:srgbClr val="000000"/>
                </a:solidFill>
                <a:effectLst/>
                <a:latin typeface="B Nazanin" panose="00000400000000000000" pitchFamily="2" charset="-78"/>
                <a:cs typeface="B Nazanin" panose="00000400000000000000" pitchFamily="2" charset="-78"/>
              </a:rPr>
              <a:t>سانتی‌متر</a:t>
            </a:r>
            <a:r>
              <a:rPr lang="fa-IR" sz="2200" i="0" dirty="0">
                <a:solidFill>
                  <a:srgbClr val="000000"/>
                </a:solidFill>
                <a:effectLst/>
                <a:latin typeface="B Nazanin" panose="00000400000000000000" pitchFamily="2" charset="-78"/>
                <a:cs typeface="B Nazanin" panose="00000400000000000000" pitchFamily="2" charset="-78"/>
              </a:rPr>
              <a:t> هم به چشم </a:t>
            </a:r>
            <a:r>
              <a:rPr lang="fa-IR" sz="2200" i="0" dirty="0" err="1">
                <a:solidFill>
                  <a:srgbClr val="000000"/>
                </a:solidFill>
                <a:effectLst/>
                <a:latin typeface="B Nazanin" panose="00000400000000000000" pitchFamily="2" charset="-78"/>
                <a:cs typeface="B Nazanin" panose="00000400000000000000" pitchFamily="2" charset="-78"/>
              </a:rPr>
              <a:t>می‌خورد</a:t>
            </a:r>
            <a:r>
              <a:rPr lang="fa-IR" sz="2200" i="0" dirty="0">
                <a:solidFill>
                  <a:srgbClr val="000000"/>
                </a:solidFill>
                <a:effectLst/>
                <a:latin typeface="B Nazanin" panose="00000400000000000000" pitchFamily="2" charset="-78"/>
                <a:cs typeface="B Nazanin" panose="00000400000000000000" pitchFamily="2" charset="-78"/>
              </a:rPr>
              <a:t>.</a:t>
            </a:r>
          </a:p>
          <a:p>
            <a:pPr lvl="1" algn="r"/>
            <a:endParaRPr lang="en-US" sz="2200" dirty="0">
              <a:latin typeface="Arial Unicode MS" panose="020B0604020202020204" pitchFamily="34" charset="-128"/>
              <a:cs typeface="B Nazanin" panose="00000400000000000000" pitchFamily="2" charset="-78"/>
            </a:endParaRPr>
          </a:p>
        </p:txBody>
      </p:sp>
    </p:spTree>
    <p:extLst>
      <p:ext uri="{BB962C8B-B14F-4D97-AF65-F5344CB8AC3E}">
        <p14:creationId xmlns:p14="http://schemas.microsoft.com/office/powerpoint/2010/main" val="3693134778"/>
      </p:ext>
    </p:extLst>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D0AE722-3A17-4292-8B0C-015DEE23F973}"/>
              </a:ext>
            </a:extLst>
          </p:cNvPr>
          <p:cNvSpPr>
            <a:spLocks noGrp="1"/>
          </p:cNvSpPr>
          <p:nvPr>
            <p:ph type="title"/>
          </p:nvPr>
        </p:nvSpPr>
        <p:spPr>
          <a:xfrm>
            <a:off x="826489" y="358771"/>
            <a:ext cx="10900146" cy="935776"/>
          </a:xfrm>
        </p:spPr>
        <p:txBody>
          <a:bodyPr>
            <a:noAutofit/>
          </a:bodyPr>
          <a:lstStyle/>
          <a:p>
            <a:pPr algn="r"/>
            <a:r>
              <a:rPr dirty="0" lang="fa-IR" spc="0">
                <a:cs charset="-78" panose="00000400000000000000" pitchFamily="2" typeface="B Nazanin"/>
              </a:rPr>
              <a:t>اتصال </a:t>
            </a:r>
            <a:r>
              <a:rPr dirty="0" err="1" lang="fa-IR" spc="0">
                <a:cs charset="-78" panose="00000400000000000000" pitchFamily="2" typeface="B Nazanin"/>
              </a:rPr>
              <a:t>تيرچه‌ها</a:t>
            </a:r>
            <a:r>
              <a:rPr dirty="0" lang="fa-IR" spc="0">
                <a:cs charset="-78" panose="00000400000000000000" pitchFamily="2" typeface="B Nazanin"/>
              </a:rPr>
              <a:t> به </a:t>
            </a:r>
            <a:r>
              <a:rPr dirty="0" err="1" lang="fa-IR" spc="0">
                <a:cs charset="-78" panose="00000400000000000000" pitchFamily="2" typeface="B Nazanin"/>
              </a:rPr>
              <a:t>تكيه‌گاه</a:t>
            </a:r>
            <a:r>
              <a:rPr dirty="0" lang="fa-IR" spc="0">
                <a:cs charset="-78" panose="00000400000000000000" pitchFamily="2" typeface="B Nazanin"/>
              </a:rPr>
              <a:t>: </a:t>
            </a:r>
            <a:endParaRPr dirty="0" lang="en-US" spc="0">
              <a:cs charset="-78" panose="00000400000000000000" pitchFamily="2" typeface="B Nazanin"/>
            </a:endParaRPr>
          </a:p>
        </p:txBody>
      </p:sp>
      <p:sp>
        <p:nvSpPr>
          <p:cNvPr id="6" name="Slide Number Placeholder 5">
            <a:extLst>
              <a:ext uri="{FF2B5EF4-FFF2-40B4-BE49-F238E27FC236}">
                <a16:creationId xmlns:a16="http://schemas.microsoft.com/office/drawing/2014/main" id="{8A75989F-94E4-487A-845C-A4F547DDFE8D}"/>
              </a:ext>
            </a:extLst>
          </p:cNvPr>
          <p:cNvSpPr>
            <a:spLocks noGrp="1"/>
          </p:cNvSpPr>
          <p:nvPr>
            <p:ph idx="12" sz="quarter" type="sldNum"/>
          </p:nvPr>
        </p:nvSpPr>
        <p:spPr>
          <a:xfrm>
            <a:off x="10569202" y="6309360"/>
            <a:ext cx="979879" cy="457200"/>
          </a:xfrm>
        </p:spPr>
        <p:txBody>
          <a:bodyPr/>
          <a:lstStyle/>
          <a:p>
            <a:fld id="{FAEF9944-A4F6-4C59-AEBD-678D6480B8EA}" type="slidenum">
              <a:rPr lang="en-US" smtClean="0"/>
              <a:pPr/>
              <a:t>42</a:t>
            </a:fld>
            <a:endParaRPr dirty="0" lang="en-US"/>
          </a:p>
        </p:txBody>
      </p:sp>
      <p:sp>
        <p:nvSpPr>
          <p:cNvPr id="25" name="TextBox 24">
            <a:extLst>
              <a:ext uri="{FF2B5EF4-FFF2-40B4-BE49-F238E27FC236}">
                <a16:creationId xmlns:a16="http://schemas.microsoft.com/office/drawing/2014/main" id="{87322C07-EC5C-4192-9ED6-4B496278CC69}"/>
              </a:ext>
            </a:extLst>
          </p:cNvPr>
          <p:cNvSpPr txBox="1"/>
          <p:nvPr/>
        </p:nvSpPr>
        <p:spPr>
          <a:xfrm>
            <a:off x="-540411" y="2171313"/>
            <a:ext cx="12089492" cy="1107996"/>
          </a:xfrm>
          <a:prstGeom prst="rect">
            <a:avLst/>
          </a:prstGeom>
          <a:noFill/>
        </p:spPr>
        <p:txBody>
          <a:bodyPr wrap="square">
            <a:spAutoFit/>
          </a:bodyPr>
          <a:lstStyle/>
          <a:p>
            <a:pPr algn="r" lvl="1"/>
            <a:r>
              <a:rPr dirty="0" i="0" lang="fa-IR" sz="2200">
                <a:solidFill>
                  <a:srgbClr val="000000"/>
                </a:solidFill>
                <a:effectLst/>
                <a:latin charset="-78" panose="00000400000000000000" pitchFamily="2" typeface="B Nazanin"/>
                <a:cs charset="-78" panose="00000400000000000000" pitchFamily="2" typeface="B Nazanin"/>
              </a:rPr>
              <a:t>1) </a:t>
            </a:r>
            <a:r>
              <a:rPr dirty="0" err="1" i="0" lang="fa-IR" sz="2200">
                <a:solidFill>
                  <a:srgbClr val="000000"/>
                </a:solidFill>
                <a:effectLst/>
                <a:latin charset="-78" panose="00000400000000000000" pitchFamily="2" typeface="B Nazanin"/>
                <a:cs charset="-78" panose="00000400000000000000" pitchFamily="2" typeface="B Nazanin"/>
              </a:rPr>
              <a:t>تكيه‌گاه</a:t>
            </a:r>
            <a:r>
              <a:rPr dirty="0" i="0" lang="fa-IR" sz="2200">
                <a:solidFill>
                  <a:srgbClr val="000000"/>
                </a:solidFill>
                <a:effectLst/>
                <a:latin charset="-78" panose="00000400000000000000" pitchFamily="2" typeface="B Nazanin"/>
                <a:cs charset="-78" panose="00000400000000000000" pitchFamily="2" typeface="B Nazanin"/>
              </a:rPr>
              <a:t> با مصالح </a:t>
            </a:r>
            <a:r>
              <a:rPr dirty="0" err="1" i="0" lang="fa-IR" sz="2200">
                <a:solidFill>
                  <a:srgbClr val="000000"/>
                </a:solidFill>
                <a:effectLst/>
                <a:latin charset="-78" panose="00000400000000000000" pitchFamily="2" typeface="B Nazanin"/>
                <a:cs charset="-78" panose="00000400000000000000" pitchFamily="2" typeface="B Nazanin"/>
              </a:rPr>
              <a:t>بنايي</a:t>
            </a:r>
            <a:r>
              <a:rPr dirty="0" i="0" lang="fa-IR" sz="2200">
                <a:solidFill>
                  <a:srgbClr val="000000"/>
                </a:solidFill>
                <a:effectLst/>
                <a:latin charset="-78" panose="00000400000000000000" pitchFamily="2" typeface="B Nazanin"/>
                <a:cs charset="-78" panose="00000400000000000000" pitchFamily="2" typeface="B Nazanin"/>
              </a:rPr>
              <a:t> و بتن</a:t>
            </a:r>
          </a:p>
          <a:p>
            <a:pPr algn="r" lvl="1"/>
            <a:endParaRPr dirty="0" i="0" lang="fa-IR" sz="2200">
              <a:solidFill>
                <a:srgbClr val="000000"/>
              </a:solidFill>
              <a:effectLst/>
              <a:latin charset="-78" panose="00000400000000000000" pitchFamily="2" typeface="B Nazanin"/>
              <a:cs charset="-78" panose="00000400000000000000" pitchFamily="2" typeface="B Nazanin"/>
            </a:endParaRPr>
          </a:p>
          <a:p>
            <a:pPr algn="r" lvl="1"/>
            <a:r>
              <a:rPr dirty="0" i="0" lang="fa-IR" sz="2200">
                <a:solidFill>
                  <a:srgbClr val="000000"/>
                </a:solidFill>
                <a:effectLst/>
                <a:latin charset="-78" panose="00000400000000000000" pitchFamily="2" typeface="B Nazanin"/>
                <a:cs charset="-78" panose="00000400000000000000" pitchFamily="2" typeface="B Nazanin"/>
              </a:rPr>
              <a:t>2) </a:t>
            </a:r>
            <a:r>
              <a:rPr dirty="0" err="1" i="0" lang="fa-IR" sz="2200">
                <a:solidFill>
                  <a:srgbClr val="000000"/>
                </a:solidFill>
                <a:effectLst/>
                <a:latin charset="-78" panose="00000400000000000000" pitchFamily="2" typeface="B Nazanin"/>
                <a:cs charset="-78" panose="00000400000000000000" pitchFamily="2" typeface="B Nazanin"/>
              </a:rPr>
              <a:t>تكيه‌گاه</a:t>
            </a:r>
            <a:r>
              <a:rPr dirty="0" i="0" lang="fa-IR" sz="2200">
                <a:solidFill>
                  <a:srgbClr val="000000"/>
                </a:solidFill>
                <a:effectLst/>
                <a:latin charset="-78" panose="00000400000000000000" pitchFamily="2" typeface="B Nazanin"/>
                <a:cs charset="-78" panose="00000400000000000000" pitchFamily="2" typeface="B Nazanin"/>
              </a:rPr>
              <a:t> </a:t>
            </a:r>
            <a:r>
              <a:rPr dirty="0" err="1" i="0" lang="fa-IR" sz="2200">
                <a:solidFill>
                  <a:srgbClr val="000000"/>
                </a:solidFill>
                <a:effectLst/>
                <a:latin charset="-78" panose="00000400000000000000" pitchFamily="2" typeface="B Nazanin"/>
                <a:cs charset="-78" panose="00000400000000000000" pitchFamily="2" typeface="B Nazanin"/>
              </a:rPr>
              <a:t>فولادي</a:t>
            </a:r>
            <a:endParaRPr dirty="0" i="0" lang="fa-IR" sz="2200">
              <a:solidFill>
                <a:srgbClr val="000000"/>
              </a:solidFill>
              <a:effectLst/>
              <a:latin charset="-78" panose="00000400000000000000" pitchFamily="2" typeface="B Nazanin"/>
              <a:cs charset="-78" panose="00000400000000000000" pitchFamily="2" typeface="B Nazanin"/>
            </a:endParaRPr>
          </a:p>
        </p:txBody>
      </p:sp>
      <p:pic>
        <p:nvPicPr>
          <p:cNvPr id="2" name="Picture 1">
            <a:extLst>
              <a:ext uri="{FF2B5EF4-FFF2-40B4-BE49-F238E27FC236}">
                <a16:creationId xmlns:a16="http://schemas.microsoft.com/office/drawing/2014/main" id="{412EC2DE-CAB6-49D1-914B-3F5F7E8708DE}"/>
              </a:ext>
            </a:extLst>
          </p:cNvPr>
          <p:cNvPicPr>
            <a:picLocks noChangeAspect="1"/>
          </p:cNvPicPr>
          <p:nvPr/>
        </p:nvPicPr>
        <p:blipFill rotWithShape="1">
          <a:blip r:embed="rId2"/>
          <a:srcRect b="460" l="54" r="138" t="417"/>
          <a:stretch/>
        </p:blipFill>
        <p:spPr>
          <a:xfrm>
            <a:off x="4329968" y="3801953"/>
            <a:ext cx="3355942" cy="1935420"/>
          </a:xfrm>
          <a:prstGeom prst="rect">
            <a:avLst/>
          </a:prstGeom>
        </p:spPr>
      </p:pic>
      <p:pic>
        <p:nvPicPr>
          <p:cNvPr id="3" name="Picture 2">
            <a:extLst>
              <a:ext uri="{FF2B5EF4-FFF2-40B4-BE49-F238E27FC236}">
                <a16:creationId xmlns:a16="http://schemas.microsoft.com/office/drawing/2014/main" id="{0EF4B50A-2329-41D7-9364-51B04A34328A}"/>
              </a:ext>
            </a:extLst>
          </p:cNvPr>
          <p:cNvPicPr>
            <a:picLocks noChangeAspect="1"/>
          </p:cNvPicPr>
          <p:nvPr/>
        </p:nvPicPr>
        <p:blipFill rotWithShape="1">
          <a:blip r:embed="rId3"/>
          <a:srcRect b="92" l="93" t="310"/>
          <a:stretch/>
        </p:blipFill>
        <p:spPr>
          <a:xfrm>
            <a:off x="664837" y="1904521"/>
            <a:ext cx="3355942" cy="1897432"/>
          </a:xfrm>
          <a:prstGeom prst="rect">
            <a:avLst/>
          </a:prstGeom>
        </p:spPr>
      </p:pic>
    </p:spTree>
    <p:extLst>
      <p:ext uri="{BB962C8B-B14F-4D97-AF65-F5344CB8AC3E}">
        <p14:creationId xmlns:p14="http://schemas.microsoft.com/office/powerpoint/2010/main" val="35212541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D0AE722-3A17-4292-8B0C-015DEE23F973}"/>
              </a:ext>
            </a:extLst>
          </p:cNvPr>
          <p:cNvSpPr>
            <a:spLocks noGrp="1"/>
          </p:cNvSpPr>
          <p:nvPr>
            <p:ph type="title"/>
          </p:nvPr>
        </p:nvSpPr>
        <p:spPr>
          <a:xfrm>
            <a:off x="826489" y="190095"/>
            <a:ext cx="10900146" cy="935776"/>
          </a:xfrm>
        </p:spPr>
        <p:txBody>
          <a:bodyPr>
            <a:noAutofit/>
          </a:bodyPr>
          <a:lstStyle/>
          <a:p>
            <a:pPr algn="r"/>
            <a:r>
              <a:rPr lang="fa-IR" spc="0" dirty="0">
                <a:cs typeface="B Nazanin" panose="00000400000000000000" pitchFamily="2" charset="-78"/>
              </a:rPr>
              <a:t>1) </a:t>
            </a:r>
            <a:r>
              <a:rPr lang="fa-IR" spc="0" dirty="0" err="1">
                <a:cs typeface="B Nazanin" panose="00000400000000000000" pitchFamily="2" charset="-78"/>
              </a:rPr>
              <a:t>تكيه‌گاه</a:t>
            </a:r>
            <a:r>
              <a:rPr lang="fa-IR" spc="0" dirty="0">
                <a:cs typeface="B Nazanin" panose="00000400000000000000" pitchFamily="2" charset="-78"/>
              </a:rPr>
              <a:t> با مصالح </a:t>
            </a:r>
            <a:r>
              <a:rPr lang="fa-IR" spc="0" dirty="0" err="1">
                <a:cs typeface="B Nazanin" panose="00000400000000000000" pitchFamily="2" charset="-78"/>
              </a:rPr>
              <a:t>بنايي</a:t>
            </a:r>
            <a:r>
              <a:rPr lang="fa-IR" spc="0" dirty="0">
                <a:cs typeface="B Nazanin" panose="00000400000000000000" pitchFamily="2" charset="-78"/>
              </a:rPr>
              <a:t> و بتن</a:t>
            </a:r>
            <a:endParaRPr lang="en-US" spc="0" dirty="0">
              <a:cs typeface="B Nazanin" panose="00000400000000000000" pitchFamily="2" charset="-78"/>
            </a:endParaRPr>
          </a:p>
        </p:txBody>
      </p:sp>
      <p:sp>
        <p:nvSpPr>
          <p:cNvPr id="6" name="Slide Number Placeholder 5">
            <a:extLst>
              <a:ext uri="{FF2B5EF4-FFF2-40B4-BE49-F238E27FC236}">
                <a16:creationId xmlns:a16="http://schemas.microsoft.com/office/drawing/2014/main" id="{8A75989F-94E4-487A-845C-A4F547DDFE8D}"/>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pPr/>
              <a:t>43</a:t>
            </a:fld>
            <a:endParaRPr lang="en-US" dirty="0"/>
          </a:p>
        </p:txBody>
      </p:sp>
      <p:sp>
        <p:nvSpPr>
          <p:cNvPr id="25" name="TextBox 24">
            <a:extLst>
              <a:ext uri="{FF2B5EF4-FFF2-40B4-BE49-F238E27FC236}">
                <a16:creationId xmlns:a16="http://schemas.microsoft.com/office/drawing/2014/main" id="{87322C07-EC5C-4192-9ED6-4B496278CC69}"/>
              </a:ext>
            </a:extLst>
          </p:cNvPr>
          <p:cNvSpPr txBox="1"/>
          <p:nvPr/>
        </p:nvSpPr>
        <p:spPr>
          <a:xfrm>
            <a:off x="5635256" y="1738062"/>
            <a:ext cx="6091379" cy="3139321"/>
          </a:xfrm>
          <a:prstGeom prst="rect">
            <a:avLst/>
          </a:prstGeom>
          <a:noFill/>
        </p:spPr>
        <p:txBody>
          <a:bodyPr wrap="square">
            <a:spAutoFit/>
          </a:bodyPr>
          <a:lstStyle/>
          <a:p>
            <a:pPr lvl="1" algn="r"/>
            <a:r>
              <a:rPr lang="fa-IR" sz="2200" i="0" dirty="0">
                <a:solidFill>
                  <a:srgbClr val="000000"/>
                </a:solidFill>
                <a:effectLst/>
                <a:latin typeface="B Nazanin" panose="00000400000000000000" pitchFamily="2" charset="-78"/>
                <a:cs typeface="B Nazanin" panose="00000400000000000000" pitchFamily="2" charset="-78"/>
              </a:rPr>
              <a:t>در </a:t>
            </a:r>
            <a:r>
              <a:rPr lang="fa-IR" sz="2200" i="0" dirty="0" err="1">
                <a:solidFill>
                  <a:srgbClr val="000000"/>
                </a:solidFill>
                <a:effectLst/>
                <a:latin typeface="B Nazanin" panose="00000400000000000000" pitchFamily="2" charset="-78"/>
                <a:cs typeface="B Nazanin" panose="00000400000000000000" pitchFamily="2" charset="-78"/>
              </a:rPr>
              <a:t>مواردي</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كه</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تيرچه</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روي</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تير</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يا</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شناژ</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بتني</a:t>
            </a:r>
            <a:r>
              <a:rPr lang="fa-IR" sz="2200" i="0" dirty="0">
                <a:solidFill>
                  <a:srgbClr val="000000"/>
                </a:solidFill>
                <a:effectLst/>
                <a:latin typeface="B Nazanin" panose="00000400000000000000" pitchFamily="2" charset="-78"/>
                <a:cs typeface="B Nazanin" panose="00000400000000000000" pitchFamily="2" charset="-78"/>
              </a:rPr>
              <a:t> قرار </a:t>
            </a:r>
            <a:r>
              <a:rPr lang="fa-IR" sz="2200" i="0" dirty="0" err="1">
                <a:solidFill>
                  <a:srgbClr val="000000"/>
                </a:solidFill>
                <a:effectLst/>
                <a:latin typeface="B Nazanin" panose="00000400000000000000" pitchFamily="2" charset="-78"/>
                <a:cs typeface="B Nazanin" panose="00000400000000000000" pitchFamily="2" charset="-78"/>
              </a:rPr>
              <a:t>مي‌گيرد</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انتهاي</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تيرچه</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بايد</a:t>
            </a:r>
            <a:r>
              <a:rPr lang="fa-IR" sz="2200" i="0" dirty="0">
                <a:solidFill>
                  <a:srgbClr val="000000"/>
                </a:solidFill>
                <a:effectLst/>
                <a:latin typeface="B Nazanin" panose="00000400000000000000" pitchFamily="2" charset="-78"/>
                <a:cs typeface="B Nazanin" panose="00000400000000000000" pitchFamily="2" charset="-78"/>
              </a:rPr>
              <a:t> حداقل به اندازه 10 </a:t>
            </a:r>
            <a:r>
              <a:rPr lang="fa-IR" sz="2200" i="0" dirty="0" err="1">
                <a:solidFill>
                  <a:srgbClr val="000000"/>
                </a:solidFill>
                <a:effectLst/>
                <a:latin typeface="B Nazanin" panose="00000400000000000000" pitchFamily="2" charset="-78"/>
                <a:cs typeface="B Nazanin" panose="00000400000000000000" pitchFamily="2" charset="-78"/>
              </a:rPr>
              <a:t>سانتي‌متر</a:t>
            </a:r>
            <a:r>
              <a:rPr lang="fa-IR" sz="2200" i="0" dirty="0">
                <a:solidFill>
                  <a:srgbClr val="000000"/>
                </a:solidFill>
                <a:effectLst/>
                <a:latin typeface="B Nazanin" panose="00000400000000000000" pitchFamily="2" charset="-78"/>
                <a:cs typeface="B Nazanin" panose="00000400000000000000" pitchFamily="2" charset="-78"/>
              </a:rPr>
              <a:t> داخل </a:t>
            </a:r>
            <a:r>
              <a:rPr lang="fa-IR" sz="2200" i="0" dirty="0" err="1">
                <a:solidFill>
                  <a:srgbClr val="000000"/>
                </a:solidFill>
                <a:effectLst/>
                <a:latin typeface="B Nazanin" panose="00000400000000000000" pitchFamily="2" charset="-78"/>
                <a:cs typeface="B Nazanin" panose="00000400000000000000" pitchFamily="2" charset="-78"/>
              </a:rPr>
              <a:t>كلاف</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بتني</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افقي</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يا</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تير</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بتني</a:t>
            </a:r>
            <a:r>
              <a:rPr lang="fa-IR" sz="2200" i="0" dirty="0">
                <a:solidFill>
                  <a:srgbClr val="000000"/>
                </a:solidFill>
                <a:effectLst/>
                <a:latin typeface="B Nazanin" panose="00000400000000000000" pitchFamily="2" charset="-78"/>
                <a:cs typeface="B Nazanin" panose="00000400000000000000" pitchFamily="2" charset="-78"/>
              </a:rPr>
              <a:t> قرار </a:t>
            </a:r>
            <a:r>
              <a:rPr lang="fa-IR" sz="2200" i="0" dirty="0" err="1">
                <a:solidFill>
                  <a:srgbClr val="000000"/>
                </a:solidFill>
                <a:effectLst/>
                <a:latin typeface="B Nazanin" panose="00000400000000000000" pitchFamily="2" charset="-78"/>
                <a:cs typeface="B Nazanin" panose="00000400000000000000" pitchFamily="2" charset="-78"/>
              </a:rPr>
              <a:t>گيرد</a:t>
            </a:r>
            <a:r>
              <a:rPr lang="fa-IR" sz="2200" i="0" dirty="0">
                <a:solidFill>
                  <a:srgbClr val="000000"/>
                </a:solidFill>
                <a:effectLst/>
                <a:latin typeface="B Nazanin" panose="00000400000000000000" pitchFamily="2" charset="-78"/>
                <a:cs typeface="B Nazanin" panose="00000400000000000000" pitchFamily="2" charset="-78"/>
              </a:rPr>
              <a:t>. </a:t>
            </a:r>
          </a:p>
          <a:p>
            <a:pPr lvl="1" algn="r"/>
            <a:r>
              <a:rPr lang="fa-IR" sz="2200" i="0" dirty="0">
                <a:solidFill>
                  <a:srgbClr val="000000"/>
                </a:solidFill>
                <a:effectLst/>
                <a:latin typeface="B Nazanin" panose="00000400000000000000" pitchFamily="2" charset="-78"/>
                <a:cs typeface="B Nazanin" panose="00000400000000000000" pitchFamily="2" charset="-78"/>
              </a:rPr>
              <a:t>در مورد </a:t>
            </a:r>
            <a:r>
              <a:rPr lang="fa-IR" sz="2200" i="0" dirty="0" err="1">
                <a:solidFill>
                  <a:srgbClr val="000000"/>
                </a:solidFill>
                <a:effectLst/>
                <a:latin typeface="B Nazanin" panose="00000400000000000000" pitchFamily="2" charset="-78"/>
                <a:cs typeface="B Nazanin" panose="00000400000000000000" pitchFamily="2" charset="-78"/>
              </a:rPr>
              <a:t>تيرهای</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بتنی</a:t>
            </a:r>
            <a:r>
              <a:rPr lang="fa-IR" sz="2200" i="0" dirty="0">
                <a:solidFill>
                  <a:srgbClr val="000000"/>
                </a:solidFill>
                <a:effectLst/>
                <a:latin typeface="B Nazanin" panose="00000400000000000000" pitchFamily="2" charset="-78"/>
                <a:cs typeface="B Nazanin" panose="00000400000000000000" pitchFamily="2" charset="-78"/>
              </a:rPr>
              <a:t> با ارتفاع </a:t>
            </a:r>
            <a:r>
              <a:rPr lang="fa-IR" sz="2200" i="0" dirty="0" err="1">
                <a:solidFill>
                  <a:srgbClr val="000000"/>
                </a:solidFill>
                <a:effectLst/>
                <a:latin typeface="B Nazanin" panose="00000400000000000000" pitchFamily="2" charset="-78"/>
                <a:cs typeface="B Nazanin" panose="00000400000000000000" pitchFamily="2" charset="-78"/>
              </a:rPr>
              <a:t>بيشتر</a:t>
            </a:r>
            <a:r>
              <a:rPr lang="fa-IR" sz="2200" i="0" dirty="0">
                <a:solidFill>
                  <a:srgbClr val="000000"/>
                </a:solidFill>
                <a:effectLst/>
                <a:latin typeface="B Nazanin" panose="00000400000000000000" pitchFamily="2" charset="-78"/>
                <a:cs typeface="B Nazanin" panose="00000400000000000000" pitchFamily="2" charset="-78"/>
              </a:rPr>
              <a:t> از </a:t>
            </a:r>
            <a:r>
              <a:rPr lang="fa-IR" sz="2200" i="0" dirty="0" err="1">
                <a:solidFill>
                  <a:srgbClr val="000000"/>
                </a:solidFill>
                <a:effectLst/>
                <a:latin typeface="B Nazanin" panose="00000400000000000000" pitchFamily="2" charset="-78"/>
                <a:cs typeface="B Nazanin" panose="00000400000000000000" pitchFamily="2" charset="-78"/>
              </a:rPr>
              <a:t>تيرچه</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نيز</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بايد</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تيرچه‌ها</a:t>
            </a:r>
            <a:r>
              <a:rPr lang="fa-IR" sz="2200" i="0" dirty="0">
                <a:solidFill>
                  <a:srgbClr val="000000"/>
                </a:solidFill>
                <a:effectLst/>
                <a:latin typeface="B Nazanin" panose="00000400000000000000" pitchFamily="2" charset="-78"/>
                <a:cs typeface="B Nazanin" panose="00000400000000000000" pitchFamily="2" charset="-78"/>
              </a:rPr>
              <a:t> به داخل </a:t>
            </a:r>
            <a:r>
              <a:rPr lang="fa-IR" sz="2200" i="0" dirty="0" err="1">
                <a:solidFill>
                  <a:srgbClr val="000000"/>
                </a:solidFill>
                <a:effectLst/>
                <a:latin typeface="B Nazanin" panose="00000400000000000000" pitchFamily="2" charset="-78"/>
                <a:cs typeface="B Nazanin" panose="00000400000000000000" pitchFamily="2" charset="-78"/>
              </a:rPr>
              <a:t>تير</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بتني</a:t>
            </a:r>
            <a:r>
              <a:rPr lang="fa-IR" sz="2200" i="0" dirty="0">
                <a:solidFill>
                  <a:srgbClr val="000000"/>
                </a:solidFill>
                <a:effectLst/>
                <a:latin typeface="B Nazanin" panose="00000400000000000000" pitchFamily="2" charset="-78"/>
                <a:cs typeface="B Nazanin" panose="00000400000000000000" pitchFamily="2" charset="-78"/>
              </a:rPr>
              <a:t> امتداد </a:t>
            </a:r>
            <a:r>
              <a:rPr lang="fa-IR" sz="2200" i="0" dirty="0" err="1">
                <a:solidFill>
                  <a:srgbClr val="000000"/>
                </a:solidFill>
                <a:effectLst/>
                <a:latin typeface="B Nazanin" panose="00000400000000000000" pitchFamily="2" charset="-78"/>
                <a:cs typeface="B Nazanin" panose="00000400000000000000" pitchFamily="2" charset="-78"/>
              </a:rPr>
              <a:t>يافته</a:t>
            </a:r>
            <a:r>
              <a:rPr lang="fa-IR" sz="2200" i="0" dirty="0">
                <a:solidFill>
                  <a:srgbClr val="000000"/>
                </a:solidFill>
                <a:effectLst/>
                <a:latin typeface="B Nazanin" panose="00000400000000000000" pitchFamily="2" charset="-78"/>
                <a:cs typeface="B Nazanin" panose="00000400000000000000" pitchFamily="2" charset="-78"/>
              </a:rPr>
              <a:t> و </a:t>
            </a:r>
            <a:r>
              <a:rPr lang="fa-IR" sz="2200" i="0" dirty="0" err="1">
                <a:solidFill>
                  <a:srgbClr val="000000"/>
                </a:solidFill>
                <a:effectLst/>
                <a:latin typeface="B Nazanin" panose="00000400000000000000" pitchFamily="2" charset="-78"/>
                <a:cs typeface="B Nazanin" panose="00000400000000000000" pitchFamily="2" charset="-78"/>
              </a:rPr>
              <a:t>روي</a:t>
            </a:r>
            <a:r>
              <a:rPr lang="fa-IR" sz="2200" i="0" dirty="0">
                <a:solidFill>
                  <a:srgbClr val="000000"/>
                </a:solidFill>
                <a:effectLst/>
                <a:latin typeface="B Nazanin" panose="00000400000000000000" pitchFamily="2" charset="-78"/>
                <a:cs typeface="B Nazanin" panose="00000400000000000000" pitchFamily="2" charset="-78"/>
              </a:rPr>
              <a:t> لبه </a:t>
            </a:r>
            <a:r>
              <a:rPr lang="fa-IR" sz="2200" i="0" dirty="0" err="1">
                <a:solidFill>
                  <a:srgbClr val="000000"/>
                </a:solidFill>
                <a:effectLst/>
                <a:latin typeface="B Nazanin" panose="00000400000000000000" pitchFamily="2" charset="-78"/>
                <a:cs typeface="B Nazanin" panose="00000400000000000000" pitchFamily="2" charset="-78"/>
              </a:rPr>
              <a:t>آويز</a:t>
            </a:r>
            <a:r>
              <a:rPr lang="fa-IR" sz="2200" i="0" dirty="0">
                <a:solidFill>
                  <a:srgbClr val="000000"/>
                </a:solidFill>
                <a:effectLst/>
                <a:latin typeface="B Nazanin" panose="00000400000000000000" pitchFamily="2" charset="-78"/>
                <a:cs typeface="B Nazanin" panose="00000400000000000000" pitchFamily="2" charset="-78"/>
              </a:rPr>
              <a:t> قالب قرار </a:t>
            </a:r>
            <a:r>
              <a:rPr lang="fa-IR" sz="2200" i="0" dirty="0" err="1">
                <a:solidFill>
                  <a:srgbClr val="000000"/>
                </a:solidFill>
                <a:effectLst/>
                <a:latin typeface="B Nazanin" panose="00000400000000000000" pitchFamily="2" charset="-78"/>
                <a:cs typeface="B Nazanin" panose="00000400000000000000" pitchFamily="2" charset="-78"/>
              </a:rPr>
              <a:t>گيرد</a:t>
            </a:r>
            <a:r>
              <a:rPr lang="fa-IR" sz="2200" i="0" dirty="0">
                <a:solidFill>
                  <a:srgbClr val="000000"/>
                </a:solidFill>
                <a:effectLst/>
                <a:latin typeface="B Nazanin" panose="00000400000000000000" pitchFamily="2" charset="-78"/>
                <a:cs typeface="B Nazanin" panose="00000400000000000000" pitchFamily="2" charset="-78"/>
              </a:rPr>
              <a:t>. (شکل پایینی)</a:t>
            </a:r>
          </a:p>
          <a:p>
            <a:pPr lvl="1" algn="r"/>
            <a:r>
              <a:rPr lang="fa-IR" sz="2200" i="0" dirty="0">
                <a:solidFill>
                  <a:srgbClr val="000000"/>
                </a:solidFill>
                <a:effectLst/>
                <a:latin typeface="B Nazanin" panose="00000400000000000000" pitchFamily="2" charset="-78"/>
                <a:cs typeface="B Nazanin" panose="00000400000000000000" pitchFamily="2" charset="-78"/>
              </a:rPr>
              <a:t>در </a:t>
            </a:r>
            <a:r>
              <a:rPr lang="fa-IR" sz="2200" i="0" dirty="0" err="1">
                <a:solidFill>
                  <a:srgbClr val="000000"/>
                </a:solidFill>
                <a:effectLst/>
                <a:latin typeface="B Nazanin" panose="00000400000000000000" pitchFamily="2" charset="-78"/>
                <a:cs typeface="B Nazanin" panose="00000400000000000000" pitchFamily="2" charset="-78"/>
              </a:rPr>
              <a:t>تيرهاي</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بتني</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بايد</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كنترل</a:t>
            </a:r>
            <a:r>
              <a:rPr lang="fa-IR" sz="2200" i="0" dirty="0">
                <a:solidFill>
                  <a:srgbClr val="000000"/>
                </a:solidFill>
                <a:effectLst/>
                <a:latin typeface="B Nazanin" panose="00000400000000000000" pitchFamily="2" charset="-78"/>
                <a:cs typeface="B Nazanin" panose="00000400000000000000" pitchFamily="2" charset="-78"/>
              </a:rPr>
              <a:t> لازم جهت انتقال برش انجام گرفته و بر اساس </a:t>
            </a:r>
            <a:r>
              <a:rPr lang="fa-IR" sz="2200" i="0" dirty="0" err="1">
                <a:solidFill>
                  <a:srgbClr val="000000"/>
                </a:solidFill>
                <a:effectLst/>
                <a:latin typeface="B Nazanin" panose="00000400000000000000" pitchFamily="2" charset="-78"/>
                <a:cs typeface="B Nazanin" panose="00000400000000000000" pitchFamily="2" charset="-78"/>
              </a:rPr>
              <a:t>نيروهاي</a:t>
            </a:r>
            <a:r>
              <a:rPr lang="fa-IR" sz="2200" i="0" dirty="0">
                <a:solidFill>
                  <a:srgbClr val="000000"/>
                </a:solidFill>
                <a:effectLst/>
                <a:latin typeface="B Nazanin" panose="00000400000000000000" pitchFamily="2" charset="-78"/>
                <a:cs typeface="B Nazanin" panose="00000400000000000000" pitchFamily="2" charset="-78"/>
              </a:rPr>
              <a:t> وارده از </a:t>
            </a:r>
            <a:r>
              <a:rPr lang="fa-IR" sz="2200" i="0" dirty="0" err="1">
                <a:solidFill>
                  <a:srgbClr val="000000"/>
                </a:solidFill>
                <a:effectLst/>
                <a:latin typeface="B Nazanin" panose="00000400000000000000" pitchFamily="2" charset="-78"/>
                <a:cs typeface="B Nazanin" panose="00000400000000000000" pitchFamily="2" charset="-78"/>
              </a:rPr>
              <a:t>طريق</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تعبيه</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نبشي</a:t>
            </a:r>
            <a:r>
              <a:rPr lang="fa-IR" sz="2200" i="0" dirty="0">
                <a:solidFill>
                  <a:srgbClr val="000000"/>
                </a:solidFill>
                <a:effectLst/>
                <a:latin typeface="B Nazanin" panose="00000400000000000000" pitchFamily="2" charset="-78"/>
                <a:cs typeface="B Nazanin" panose="00000400000000000000" pitchFamily="2" charset="-78"/>
              </a:rPr>
              <a:t> و </a:t>
            </a:r>
            <a:r>
              <a:rPr lang="fa-IR" sz="2200" i="0" dirty="0" err="1">
                <a:solidFill>
                  <a:srgbClr val="000000"/>
                </a:solidFill>
                <a:effectLst/>
                <a:latin typeface="B Nazanin" panose="00000400000000000000" pitchFamily="2" charset="-78"/>
                <a:cs typeface="B Nazanin" panose="00000400000000000000" pitchFamily="2" charset="-78"/>
              </a:rPr>
              <a:t>ميلگرد</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برشي</a:t>
            </a:r>
            <a:r>
              <a:rPr lang="fa-IR" sz="2200" i="0" dirty="0">
                <a:solidFill>
                  <a:srgbClr val="000000"/>
                </a:solidFill>
                <a:effectLst/>
                <a:latin typeface="B Nazanin" panose="00000400000000000000" pitchFamily="2" charset="-78"/>
                <a:cs typeface="B Nazanin" panose="00000400000000000000" pitchFamily="2" charset="-78"/>
              </a:rPr>
              <a:t>، مقاومت </a:t>
            </a:r>
            <a:r>
              <a:rPr lang="fa-IR" sz="2200" i="0" dirty="0" err="1">
                <a:solidFill>
                  <a:srgbClr val="000000"/>
                </a:solidFill>
                <a:effectLst/>
                <a:latin typeface="B Nazanin" panose="00000400000000000000" pitchFamily="2" charset="-78"/>
                <a:cs typeface="B Nazanin" panose="00000400000000000000" pitchFamily="2" charset="-78"/>
              </a:rPr>
              <a:t>برشي</a:t>
            </a:r>
            <a:r>
              <a:rPr lang="fa-IR" sz="2200" i="0" dirty="0">
                <a:solidFill>
                  <a:srgbClr val="000000"/>
                </a:solidFill>
                <a:effectLst/>
                <a:latin typeface="B Nazanin" panose="00000400000000000000" pitchFamily="2" charset="-78"/>
                <a:cs typeface="B Nazanin" panose="00000400000000000000" pitchFamily="2" charset="-78"/>
              </a:rPr>
              <a:t> لازم </a:t>
            </a:r>
            <a:r>
              <a:rPr lang="fa-IR" sz="2200" i="0" dirty="0" err="1">
                <a:solidFill>
                  <a:srgbClr val="000000"/>
                </a:solidFill>
                <a:effectLst/>
                <a:latin typeface="B Nazanin" panose="00000400000000000000" pitchFamily="2" charset="-78"/>
                <a:cs typeface="B Nazanin" panose="00000400000000000000" pitchFamily="2" charset="-78"/>
              </a:rPr>
              <a:t>تامين</a:t>
            </a:r>
            <a:r>
              <a:rPr lang="fa-IR" sz="2200" i="0" dirty="0">
                <a:solidFill>
                  <a:srgbClr val="000000"/>
                </a:solidFill>
                <a:effectLst/>
                <a:latin typeface="B Nazanin" panose="00000400000000000000" pitchFamily="2" charset="-78"/>
                <a:cs typeface="B Nazanin" panose="00000400000000000000" pitchFamily="2" charset="-78"/>
              </a:rPr>
              <a:t> گردد .</a:t>
            </a:r>
          </a:p>
        </p:txBody>
      </p:sp>
      <p:pic>
        <p:nvPicPr>
          <p:cNvPr id="2" name="Picture 1">
            <a:extLst>
              <a:ext uri="{FF2B5EF4-FFF2-40B4-BE49-F238E27FC236}">
                <a16:creationId xmlns:a16="http://schemas.microsoft.com/office/drawing/2014/main" id="{64EA0F46-A415-485E-BB5F-26CA78F64174}"/>
              </a:ext>
            </a:extLst>
          </p:cNvPr>
          <p:cNvPicPr>
            <a:picLocks noChangeAspect="1"/>
          </p:cNvPicPr>
          <p:nvPr/>
        </p:nvPicPr>
        <p:blipFill>
          <a:blip r:embed="rId2"/>
          <a:stretch>
            <a:fillRect/>
          </a:stretch>
        </p:blipFill>
        <p:spPr>
          <a:xfrm>
            <a:off x="1279772" y="1419085"/>
            <a:ext cx="3664367" cy="4318719"/>
          </a:xfrm>
          <a:prstGeom prst="rect">
            <a:avLst/>
          </a:prstGeom>
        </p:spPr>
      </p:pic>
    </p:spTree>
    <p:extLst>
      <p:ext uri="{BB962C8B-B14F-4D97-AF65-F5344CB8AC3E}">
        <p14:creationId xmlns:p14="http://schemas.microsoft.com/office/powerpoint/2010/main" val="7408627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D0AE722-3A17-4292-8B0C-015DEE23F973}"/>
              </a:ext>
            </a:extLst>
          </p:cNvPr>
          <p:cNvSpPr>
            <a:spLocks noGrp="1"/>
          </p:cNvSpPr>
          <p:nvPr>
            <p:ph type="title"/>
          </p:nvPr>
        </p:nvSpPr>
        <p:spPr>
          <a:xfrm>
            <a:off x="826489" y="190095"/>
            <a:ext cx="10900146" cy="935776"/>
          </a:xfrm>
        </p:spPr>
        <p:txBody>
          <a:bodyPr>
            <a:noAutofit/>
          </a:bodyPr>
          <a:lstStyle/>
          <a:p>
            <a:pPr algn="r"/>
            <a:r>
              <a:rPr lang="fa-IR" spc="0" dirty="0">
                <a:cs typeface="B Nazanin" panose="00000400000000000000" pitchFamily="2" charset="-78"/>
              </a:rPr>
              <a:t>2) </a:t>
            </a:r>
            <a:r>
              <a:rPr lang="fa-IR" spc="0" dirty="0" err="1">
                <a:cs typeface="B Nazanin" panose="00000400000000000000" pitchFamily="2" charset="-78"/>
              </a:rPr>
              <a:t>تكيه‌گاه</a:t>
            </a:r>
            <a:r>
              <a:rPr lang="fa-IR" spc="0" dirty="0">
                <a:cs typeface="B Nazanin" panose="00000400000000000000" pitchFamily="2" charset="-78"/>
              </a:rPr>
              <a:t> فولادی</a:t>
            </a:r>
            <a:endParaRPr lang="en-US" spc="0" dirty="0">
              <a:cs typeface="B Nazanin" panose="00000400000000000000" pitchFamily="2" charset="-78"/>
            </a:endParaRPr>
          </a:p>
        </p:txBody>
      </p:sp>
      <p:sp>
        <p:nvSpPr>
          <p:cNvPr id="6" name="Slide Number Placeholder 5">
            <a:extLst>
              <a:ext uri="{FF2B5EF4-FFF2-40B4-BE49-F238E27FC236}">
                <a16:creationId xmlns:a16="http://schemas.microsoft.com/office/drawing/2014/main" id="{8A75989F-94E4-487A-845C-A4F547DDFE8D}"/>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pPr/>
              <a:t>44</a:t>
            </a:fld>
            <a:endParaRPr lang="en-US" dirty="0"/>
          </a:p>
        </p:txBody>
      </p:sp>
      <p:sp>
        <p:nvSpPr>
          <p:cNvPr id="25" name="TextBox 24">
            <a:extLst>
              <a:ext uri="{FF2B5EF4-FFF2-40B4-BE49-F238E27FC236}">
                <a16:creationId xmlns:a16="http://schemas.microsoft.com/office/drawing/2014/main" id="{87322C07-EC5C-4192-9ED6-4B496278CC69}"/>
              </a:ext>
            </a:extLst>
          </p:cNvPr>
          <p:cNvSpPr txBox="1"/>
          <p:nvPr/>
        </p:nvSpPr>
        <p:spPr>
          <a:xfrm>
            <a:off x="3317358" y="1874185"/>
            <a:ext cx="8749519" cy="2123658"/>
          </a:xfrm>
          <a:prstGeom prst="rect">
            <a:avLst/>
          </a:prstGeom>
          <a:noFill/>
        </p:spPr>
        <p:txBody>
          <a:bodyPr wrap="square">
            <a:spAutoFit/>
          </a:bodyPr>
          <a:lstStyle/>
          <a:p>
            <a:pPr lvl="1" algn="r"/>
            <a:r>
              <a:rPr lang="fa-IR" sz="2200" i="0" dirty="0">
                <a:solidFill>
                  <a:srgbClr val="000000"/>
                </a:solidFill>
                <a:effectLst/>
                <a:latin typeface="B Nazanin" panose="00000400000000000000" pitchFamily="2" charset="-78"/>
                <a:cs typeface="B Nazanin" panose="00000400000000000000" pitchFamily="2" charset="-78"/>
              </a:rPr>
              <a:t>اندازه </a:t>
            </a:r>
            <a:r>
              <a:rPr lang="fa-IR" sz="2200" i="0" dirty="0" err="1">
                <a:solidFill>
                  <a:srgbClr val="000000"/>
                </a:solidFill>
                <a:effectLst/>
                <a:latin typeface="B Nazanin" panose="00000400000000000000" pitchFamily="2" charset="-78"/>
                <a:cs typeface="B Nazanin" panose="00000400000000000000" pitchFamily="2" charset="-78"/>
              </a:rPr>
              <a:t>نشيمن</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تيرچه</a:t>
            </a:r>
            <a:r>
              <a:rPr lang="fa-IR" sz="2200" i="0" dirty="0">
                <a:solidFill>
                  <a:srgbClr val="000000"/>
                </a:solidFill>
                <a:effectLst/>
                <a:latin typeface="B Nazanin" panose="00000400000000000000" pitchFamily="2" charset="-78"/>
                <a:cs typeface="B Nazanin" panose="00000400000000000000" pitchFamily="2" charset="-78"/>
              </a:rPr>
              <a:t> از لبه </a:t>
            </a:r>
            <a:r>
              <a:rPr lang="fa-IR" sz="2200" i="0" dirty="0" err="1">
                <a:solidFill>
                  <a:srgbClr val="000000"/>
                </a:solidFill>
                <a:effectLst/>
                <a:latin typeface="B Nazanin" panose="00000400000000000000" pitchFamily="2" charset="-78"/>
                <a:cs typeface="B Nazanin" panose="00000400000000000000" pitchFamily="2" charset="-78"/>
              </a:rPr>
              <a:t>تكيه‌گاه</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فولادي</a:t>
            </a:r>
            <a:r>
              <a:rPr lang="fa-IR" sz="2200" i="0" dirty="0">
                <a:solidFill>
                  <a:srgbClr val="000000"/>
                </a:solidFill>
                <a:effectLst/>
                <a:latin typeface="B Nazanin" panose="00000400000000000000" pitchFamily="2" charset="-78"/>
                <a:cs typeface="B Nazanin" panose="00000400000000000000" pitchFamily="2" charset="-78"/>
              </a:rPr>
              <a:t> به سمت داخل، </a:t>
            </a:r>
            <a:r>
              <a:rPr lang="fa-IR" sz="2200" i="0" dirty="0" err="1">
                <a:solidFill>
                  <a:srgbClr val="000000"/>
                </a:solidFill>
                <a:effectLst/>
                <a:latin typeface="B Nazanin" panose="00000400000000000000" pitchFamily="2" charset="-78"/>
                <a:cs typeface="B Nazanin" panose="00000400000000000000" pitchFamily="2" charset="-78"/>
              </a:rPr>
              <a:t>بايد</a:t>
            </a:r>
            <a:r>
              <a:rPr lang="fa-IR" sz="2200" i="0" dirty="0">
                <a:solidFill>
                  <a:srgbClr val="000000"/>
                </a:solidFill>
                <a:effectLst/>
                <a:latin typeface="B Nazanin" panose="00000400000000000000" pitchFamily="2" charset="-78"/>
                <a:cs typeface="B Nazanin" panose="00000400000000000000" pitchFamily="2" charset="-78"/>
              </a:rPr>
              <a:t> از </a:t>
            </a:r>
            <a:r>
              <a:rPr lang="fa-IR" sz="2200" i="0" dirty="0" err="1">
                <a:solidFill>
                  <a:srgbClr val="000000"/>
                </a:solidFill>
                <a:effectLst/>
                <a:latin typeface="B Nazanin" panose="00000400000000000000" pitchFamily="2" charset="-78"/>
                <a:cs typeface="B Nazanin" panose="00000400000000000000" pitchFamily="2" charset="-78"/>
              </a:rPr>
              <a:t>طريق</a:t>
            </a:r>
            <a:r>
              <a:rPr lang="fa-IR" sz="2200" i="0" dirty="0">
                <a:solidFill>
                  <a:srgbClr val="000000"/>
                </a:solidFill>
                <a:effectLst/>
                <a:latin typeface="B Nazanin" panose="00000400000000000000" pitchFamily="2" charset="-78"/>
                <a:cs typeface="B Nazanin" panose="00000400000000000000" pitchFamily="2" charset="-78"/>
              </a:rPr>
              <a:t> محاسبات </a:t>
            </a:r>
            <a:r>
              <a:rPr lang="fa-IR" sz="2200" i="0" dirty="0" err="1">
                <a:solidFill>
                  <a:srgbClr val="000000"/>
                </a:solidFill>
                <a:effectLst/>
                <a:latin typeface="B Nazanin" panose="00000400000000000000" pitchFamily="2" charset="-78"/>
                <a:cs typeface="B Nazanin" panose="00000400000000000000" pitchFamily="2" charset="-78"/>
              </a:rPr>
              <a:t>تعيين</a:t>
            </a:r>
            <a:r>
              <a:rPr lang="fa-IR" sz="2200" i="0" dirty="0">
                <a:solidFill>
                  <a:srgbClr val="000000"/>
                </a:solidFill>
                <a:effectLst/>
                <a:latin typeface="B Nazanin" panose="00000400000000000000" pitchFamily="2" charset="-78"/>
                <a:cs typeface="B Nazanin" panose="00000400000000000000" pitchFamily="2" charset="-78"/>
              </a:rPr>
              <a:t> شود.</a:t>
            </a:r>
          </a:p>
          <a:p>
            <a:pPr lvl="1" algn="r"/>
            <a:endParaRPr lang="fa-IR" sz="2200" i="0" dirty="0">
              <a:solidFill>
                <a:srgbClr val="000000"/>
              </a:solidFill>
              <a:effectLst/>
              <a:latin typeface="B Nazanin" panose="00000400000000000000" pitchFamily="2" charset="-78"/>
              <a:cs typeface="B Nazanin" panose="00000400000000000000" pitchFamily="2" charset="-78"/>
            </a:endParaRPr>
          </a:p>
          <a:p>
            <a:pPr lvl="1" algn="r"/>
            <a:r>
              <a:rPr lang="fa-IR" sz="2200" i="0" dirty="0">
                <a:solidFill>
                  <a:srgbClr val="000000"/>
                </a:solidFill>
                <a:effectLst/>
                <a:latin typeface="B Nazanin" panose="00000400000000000000" pitchFamily="2" charset="-78"/>
                <a:cs typeface="B Nazanin" panose="00000400000000000000" pitchFamily="2" charset="-78"/>
              </a:rPr>
              <a:t> اما </a:t>
            </a:r>
            <a:r>
              <a:rPr lang="fa-IR" sz="2200" i="0" dirty="0" err="1">
                <a:solidFill>
                  <a:srgbClr val="000000"/>
                </a:solidFill>
                <a:effectLst/>
                <a:latin typeface="B Nazanin" panose="00000400000000000000" pitchFamily="2" charset="-78"/>
                <a:cs typeface="B Nazanin" panose="00000400000000000000" pitchFamily="2" charset="-78"/>
              </a:rPr>
              <a:t>توصيه</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مي‌شود</a:t>
            </a:r>
            <a:r>
              <a:rPr lang="fa-IR" sz="2200" i="0" dirty="0">
                <a:solidFill>
                  <a:srgbClr val="000000"/>
                </a:solidFill>
                <a:effectLst/>
                <a:latin typeface="B Nazanin" panose="00000400000000000000" pitchFamily="2" charset="-78"/>
                <a:cs typeface="B Nazanin" panose="00000400000000000000" pitchFamily="2" charset="-78"/>
              </a:rPr>
              <a:t>، در </a:t>
            </a:r>
            <a:r>
              <a:rPr lang="fa-IR" sz="2200" i="0" dirty="0" err="1">
                <a:solidFill>
                  <a:srgbClr val="000000"/>
                </a:solidFill>
                <a:effectLst/>
                <a:latin typeface="B Nazanin" panose="00000400000000000000" pitchFamily="2" charset="-78"/>
                <a:cs typeface="B Nazanin" panose="00000400000000000000" pitchFamily="2" charset="-78"/>
              </a:rPr>
              <a:t>هيچ</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حالتي</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كمتر</a:t>
            </a:r>
            <a:r>
              <a:rPr lang="fa-IR" sz="2200" i="0" dirty="0">
                <a:solidFill>
                  <a:srgbClr val="000000"/>
                </a:solidFill>
                <a:effectLst/>
                <a:latin typeface="B Nazanin" panose="00000400000000000000" pitchFamily="2" charset="-78"/>
                <a:cs typeface="B Nazanin" panose="00000400000000000000" pitchFamily="2" charset="-78"/>
              </a:rPr>
              <a:t> از 2 </a:t>
            </a:r>
            <a:r>
              <a:rPr lang="fa-IR" sz="2200" i="0" dirty="0" err="1">
                <a:solidFill>
                  <a:srgbClr val="000000"/>
                </a:solidFill>
                <a:effectLst/>
                <a:latin typeface="B Nazanin" panose="00000400000000000000" pitchFamily="2" charset="-78"/>
                <a:cs typeface="B Nazanin" panose="00000400000000000000" pitchFamily="2" charset="-78"/>
              </a:rPr>
              <a:t>سانتي‌متر</a:t>
            </a:r>
            <a:r>
              <a:rPr lang="fa-IR" sz="2200" i="0" dirty="0">
                <a:solidFill>
                  <a:srgbClr val="000000"/>
                </a:solidFill>
                <a:effectLst/>
                <a:latin typeface="B Nazanin" panose="00000400000000000000" pitchFamily="2" charset="-78"/>
                <a:cs typeface="B Nazanin" panose="00000400000000000000" pitchFamily="2" charset="-78"/>
              </a:rPr>
              <a:t> نباشد. </a:t>
            </a:r>
            <a:r>
              <a:rPr lang="fa-IR" sz="2200" i="0" dirty="0" err="1">
                <a:solidFill>
                  <a:srgbClr val="000000"/>
                </a:solidFill>
                <a:effectLst/>
                <a:latin typeface="B Nazanin" panose="00000400000000000000" pitchFamily="2" charset="-78"/>
                <a:cs typeface="B Nazanin" panose="00000400000000000000" pitchFamily="2" charset="-78"/>
              </a:rPr>
              <a:t>براي</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اطمينان</a:t>
            </a:r>
            <a:r>
              <a:rPr lang="fa-IR" sz="2200" i="0" dirty="0">
                <a:solidFill>
                  <a:srgbClr val="000000"/>
                </a:solidFill>
                <a:effectLst/>
                <a:latin typeface="B Nazanin" panose="00000400000000000000" pitchFamily="2" charset="-78"/>
                <a:cs typeface="B Nazanin" panose="00000400000000000000" pitchFamily="2" charset="-78"/>
              </a:rPr>
              <a:t> در هنگام نصب و </a:t>
            </a:r>
            <a:r>
              <a:rPr lang="fa-IR" sz="2200" i="0" dirty="0" err="1">
                <a:solidFill>
                  <a:srgbClr val="000000"/>
                </a:solidFill>
                <a:effectLst/>
                <a:latin typeface="B Nazanin" panose="00000400000000000000" pitchFamily="2" charset="-78"/>
                <a:cs typeface="B Nazanin" panose="00000400000000000000" pitchFamily="2" charset="-78"/>
              </a:rPr>
              <a:t>همچنين</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يكپارچگي</a:t>
            </a:r>
            <a:r>
              <a:rPr lang="fa-IR" sz="2200" i="0" dirty="0">
                <a:solidFill>
                  <a:srgbClr val="000000"/>
                </a:solidFill>
                <a:effectLst/>
                <a:latin typeface="B Nazanin" panose="00000400000000000000" pitchFamily="2" charset="-78"/>
                <a:cs typeface="B Nazanin" panose="00000400000000000000" pitchFamily="2" charset="-78"/>
              </a:rPr>
              <a:t> سقف و </a:t>
            </a:r>
            <a:r>
              <a:rPr lang="fa-IR" sz="2200" i="0" dirty="0" err="1">
                <a:solidFill>
                  <a:srgbClr val="000000"/>
                </a:solidFill>
                <a:effectLst/>
                <a:latin typeface="B Nazanin" panose="00000400000000000000" pitchFamily="2" charset="-78"/>
                <a:cs typeface="B Nazanin" panose="00000400000000000000" pitchFamily="2" charset="-78"/>
              </a:rPr>
              <a:t>اسكلت</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انتهاي</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تيرچه</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بايد</a:t>
            </a:r>
            <a:r>
              <a:rPr lang="fa-IR" sz="2200" i="0" dirty="0">
                <a:solidFill>
                  <a:srgbClr val="000000"/>
                </a:solidFill>
                <a:effectLst/>
                <a:latin typeface="B Nazanin" panose="00000400000000000000" pitchFamily="2" charset="-78"/>
                <a:cs typeface="B Nazanin" panose="00000400000000000000" pitchFamily="2" charset="-78"/>
              </a:rPr>
              <a:t> به </a:t>
            </a:r>
            <a:r>
              <a:rPr lang="fa-IR" sz="2200" i="0" dirty="0" err="1">
                <a:solidFill>
                  <a:srgbClr val="000000"/>
                </a:solidFill>
                <a:effectLst/>
                <a:latin typeface="B Nazanin" panose="00000400000000000000" pitchFamily="2" charset="-78"/>
                <a:cs typeface="B Nazanin" panose="00000400000000000000" pitchFamily="2" charset="-78"/>
              </a:rPr>
              <a:t>تكيه</a:t>
            </a:r>
            <a:r>
              <a:rPr lang="fa-IR" sz="2200" i="0" dirty="0">
                <a:solidFill>
                  <a:srgbClr val="000000"/>
                </a:solidFill>
                <a:effectLst/>
                <a:latin typeface="B Nazanin" panose="00000400000000000000" pitchFamily="2" charset="-78"/>
                <a:cs typeface="B Nazanin" panose="00000400000000000000" pitchFamily="2" charset="-78"/>
              </a:rPr>
              <a:t> گاه جوش شود .</a:t>
            </a:r>
          </a:p>
          <a:p>
            <a:pPr lvl="1" algn="r"/>
            <a:endParaRPr lang="fa-IR" sz="2200" i="0" dirty="0">
              <a:solidFill>
                <a:srgbClr val="000000"/>
              </a:solidFill>
              <a:effectLst/>
              <a:latin typeface="B Nazanin" panose="00000400000000000000" pitchFamily="2" charset="-78"/>
              <a:cs typeface="B Nazanin" panose="00000400000000000000" pitchFamily="2" charset="-78"/>
            </a:endParaRPr>
          </a:p>
          <a:p>
            <a:pPr lvl="1" algn="r"/>
            <a:r>
              <a:rPr lang="fa-IR" sz="2200" i="0" dirty="0">
                <a:solidFill>
                  <a:srgbClr val="000000"/>
                </a:solidFill>
                <a:effectLst/>
                <a:latin typeface="B Nazanin" panose="00000400000000000000" pitchFamily="2" charset="-78"/>
                <a:cs typeface="B Nazanin" panose="00000400000000000000" pitchFamily="2" charset="-78"/>
              </a:rPr>
              <a:t> طول </a:t>
            </a:r>
            <a:r>
              <a:rPr lang="fa-IR" sz="2200" i="0" dirty="0" err="1">
                <a:solidFill>
                  <a:srgbClr val="000000"/>
                </a:solidFill>
                <a:effectLst/>
                <a:latin typeface="B Nazanin" panose="00000400000000000000" pitchFamily="2" charset="-78"/>
                <a:cs typeface="B Nazanin" panose="00000400000000000000" pitchFamily="2" charset="-78"/>
              </a:rPr>
              <a:t>اين</a:t>
            </a:r>
            <a:r>
              <a:rPr lang="fa-IR" sz="2200" i="0" dirty="0">
                <a:solidFill>
                  <a:srgbClr val="000000"/>
                </a:solidFill>
                <a:effectLst/>
                <a:latin typeface="B Nazanin" panose="00000400000000000000" pitchFamily="2" charset="-78"/>
                <a:cs typeface="B Nazanin" panose="00000400000000000000" pitchFamily="2" charset="-78"/>
              </a:rPr>
              <a:t> جوش حداقل 5 </a:t>
            </a:r>
            <a:r>
              <a:rPr lang="fa-IR" sz="2200" i="0" dirty="0" err="1">
                <a:solidFill>
                  <a:srgbClr val="000000"/>
                </a:solidFill>
                <a:effectLst/>
                <a:latin typeface="B Nazanin" panose="00000400000000000000" pitchFamily="2" charset="-78"/>
                <a:cs typeface="B Nazanin" panose="00000400000000000000" pitchFamily="2" charset="-78"/>
              </a:rPr>
              <a:t>سانتي‌متر</a:t>
            </a:r>
            <a:r>
              <a:rPr lang="fa-IR" sz="2200" i="0" dirty="0">
                <a:solidFill>
                  <a:srgbClr val="000000"/>
                </a:solidFill>
                <a:effectLst/>
                <a:latin typeface="B Nazanin" panose="00000400000000000000" pitchFamily="2" charset="-78"/>
                <a:cs typeface="B Nazanin" panose="00000400000000000000" pitchFamily="2" charset="-78"/>
              </a:rPr>
              <a:t> و </a:t>
            </a:r>
            <a:r>
              <a:rPr lang="fa-IR" sz="2200" i="0" dirty="0" err="1">
                <a:solidFill>
                  <a:srgbClr val="000000"/>
                </a:solidFill>
                <a:effectLst/>
                <a:latin typeface="B Nazanin" panose="00000400000000000000" pitchFamily="2" charset="-78"/>
                <a:cs typeface="B Nazanin" panose="00000400000000000000" pitchFamily="2" charset="-78"/>
              </a:rPr>
              <a:t>بُعد</a:t>
            </a:r>
            <a:r>
              <a:rPr lang="fa-IR" sz="2200" i="0" dirty="0">
                <a:solidFill>
                  <a:srgbClr val="000000"/>
                </a:solidFill>
                <a:effectLst/>
                <a:latin typeface="B Nazanin" panose="00000400000000000000" pitchFamily="2" charset="-78"/>
                <a:cs typeface="B Nazanin" panose="00000400000000000000" pitchFamily="2" charset="-78"/>
              </a:rPr>
              <a:t> آن حداقل 3 </a:t>
            </a:r>
            <a:r>
              <a:rPr lang="fa-IR" sz="2200" i="0" dirty="0" err="1">
                <a:solidFill>
                  <a:srgbClr val="000000"/>
                </a:solidFill>
                <a:effectLst/>
                <a:latin typeface="B Nazanin" panose="00000400000000000000" pitchFamily="2" charset="-78"/>
                <a:cs typeface="B Nazanin" panose="00000400000000000000" pitchFamily="2" charset="-78"/>
              </a:rPr>
              <a:t>ميلي</a:t>
            </a:r>
            <a:r>
              <a:rPr lang="fa-IR" sz="2200" i="0" dirty="0">
                <a:solidFill>
                  <a:srgbClr val="000000"/>
                </a:solidFill>
                <a:effectLst/>
                <a:latin typeface="B Nazanin" panose="00000400000000000000" pitchFamily="2" charset="-78"/>
                <a:cs typeface="B Nazanin" panose="00000400000000000000" pitchFamily="2" charset="-78"/>
              </a:rPr>
              <a:t> متر است . </a:t>
            </a:r>
          </a:p>
        </p:txBody>
      </p:sp>
      <p:pic>
        <p:nvPicPr>
          <p:cNvPr id="5" name="Picture 4" descr="C:\Documents and Settings\Reza\My Documents\11ln91d.jpg">
            <a:extLst>
              <a:ext uri="{FF2B5EF4-FFF2-40B4-BE49-F238E27FC236}">
                <a16:creationId xmlns:a16="http://schemas.microsoft.com/office/drawing/2014/main" id="{DA8615F3-6566-489A-AC73-E64B5F65E4B3}"/>
              </a:ext>
            </a:extLst>
          </p:cNvPr>
          <p:cNvPicPr/>
          <p:nvPr/>
        </p:nvPicPr>
        <p:blipFill>
          <a:blip r:embed="rId2">
            <a:lum contrast="10000"/>
          </a:blip>
          <a:srcRect/>
          <a:stretch>
            <a:fillRect/>
          </a:stretch>
        </p:blipFill>
        <p:spPr bwMode="auto">
          <a:xfrm>
            <a:off x="826488" y="1398235"/>
            <a:ext cx="2868325" cy="2876054"/>
          </a:xfrm>
          <a:prstGeom prst="rect">
            <a:avLst/>
          </a:prstGeom>
          <a:noFill/>
          <a:ln w="9525">
            <a:noFill/>
            <a:miter lim="800000"/>
            <a:headEnd/>
            <a:tailEnd/>
          </a:ln>
        </p:spPr>
      </p:pic>
      <p:pic>
        <p:nvPicPr>
          <p:cNvPr id="2" name="Picture 1">
            <a:extLst>
              <a:ext uri="{FF2B5EF4-FFF2-40B4-BE49-F238E27FC236}">
                <a16:creationId xmlns:a16="http://schemas.microsoft.com/office/drawing/2014/main" id="{A58B9636-21C2-463E-ADE7-72A266B18897}"/>
              </a:ext>
            </a:extLst>
          </p:cNvPr>
          <p:cNvPicPr>
            <a:picLocks noChangeAspect="1"/>
          </p:cNvPicPr>
          <p:nvPr/>
        </p:nvPicPr>
        <p:blipFill>
          <a:blip r:embed="rId3"/>
          <a:stretch>
            <a:fillRect/>
          </a:stretch>
        </p:blipFill>
        <p:spPr>
          <a:xfrm>
            <a:off x="826488" y="4274289"/>
            <a:ext cx="2868324" cy="1825901"/>
          </a:xfrm>
          <a:prstGeom prst="rect">
            <a:avLst/>
          </a:prstGeom>
        </p:spPr>
      </p:pic>
    </p:spTree>
    <p:extLst>
      <p:ext uri="{BB962C8B-B14F-4D97-AF65-F5344CB8AC3E}">
        <p14:creationId xmlns:p14="http://schemas.microsoft.com/office/powerpoint/2010/main" val="1819334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D0AE722-3A17-4292-8B0C-015DEE23F973}"/>
              </a:ext>
            </a:extLst>
          </p:cNvPr>
          <p:cNvSpPr>
            <a:spLocks noGrp="1"/>
          </p:cNvSpPr>
          <p:nvPr>
            <p:ph type="title"/>
          </p:nvPr>
        </p:nvSpPr>
        <p:spPr>
          <a:xfrm>
            <a:off x="826489" y="190095"/>
            <a:ext cx="10900146" cy="935776"/>
          </a:xfrm>
        </p:spPr>
        <p:txBody>
          <a:bodyPr>
            <a:noAutofit/>
          </a:bodyPr>
          <a:lstStyle/>
          <a:p>
            <a:pPr algn="r"/>
            <a:r>
              <a:rPr lang="fa-IR" spc="0" dirty="0">
                <a:cs typeface="B Nazanin" panose="00000400000000000000" pitchFamily="2" charset="-78"/>
              </a:rPr>
              <a:t>مزایای سقف </a:t>
            </a:r>
            <a:r>
              <a:rPr lang="fa-IR" spc="0" dirty="0" err="1">
                <a:cs typeface="B Nazanin" panose="00000400000000000000" pitchFamily="2" charset="-78"/>
              </a:rPr>
              <a:t>کرمیت</a:t>
            </a:r>
            <a:r>
              <a:rPr lang="fa-IR" spc="0" dirty="0">
                <a:cs typeface="B Nazanin" panose="00000400000000000000" pitchFamily="2" charset="-78"/>
              </a:rPr>
              <a:t>:</a:t>
            </a:r>
            <a:endParaRPr lang="en-US" spc="0" dirty="0">
              <a:cs typeface="B Nazanin" panose="00000400000000000000" pitchFamily="2" charset="-78"/>
            </a:endParaRPr>
          </a:p>
        </p:txBody>
      </p:sp>
      <p:sp>
        <p:nvSpPr>
          <p:cNvPr id="6" name="Slide Number Placeholder 5">
            <a:extLst>
              <a:ext uri="{FF2B5EF4-FFF2-40B4-BE49-F238E27FC236}">
                <a16:creationId xmlns:a16="http://schemas.microsoft.com/office/drawing/2014/main" id="{8A75989F-94E4-487A-845C-A4F547DDFE8D}"/>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pPr/>
              <a:t>45</a:t>
            </a:fld>
            <a:endParaRPr lang="en-US" dirty="0"/>
          </a:p>
        </p:txBody>
      </p:sp>
      <p:sp>
        <p:nvSpPr>
          <p:cNvPr id="25" name="TextBox 24">
            <a:extLst>
              <a:ext uri="{FF2B5EF4-FFF2-40B4-BE49-F238E27FC236}">
                <a16:creationId xmlns:a16="http://schemas.microsoft.com/office/drawing/2014/main" id="{87322C07-EC5C-4192-9ED6-4B496278CC69}"/>
              </a:ext>
            </a:extLst>
          </p:cNvPr>
          <p:cNvSpPr txBox="1"/>
          <p:nvPr/>
        </p:nvSpPr>
        <p:spPr>
          <a:xfrm>
            <a:off x="-362857" y="1470846"/>
            <a:ext cx="12089492" cy="4493538"/>
          </a:xfrm>
          <a:prstGeom prst="rect">
            <a:avLst/>
          </a:prstGeom>
          <a:noFill/>
        </p:spPr>
        <p:txBody>
          <a:bodyPr wrap="square">
            <a:spAutoFit/>
          </a:bodyPr>
          <a:lstStyle/>
          <a:p>
            <a:pPr lvl="1" algn="r"/>
            <a:r>
              <a:rPr lang="fa-IR" sz="2200" i="0" dirty="0">
                <a:solidFill>
                  <a:srgbClr val="000000"/>
                </a:solidFill>
                <a:effectLst/>
                <a:latin typeface="B Nazanin" panose="00000400000000000000" pitchFamily="2" charset="-78"/>
                <a:cs typeface="B Nazanin" panose="00000400000000000000" pitchFamily="2" charset="-78"/>
              </a:rPr>
              <a:t>1- عدم </a:t>
            </a:r>
            <a:r>
              <a:rPr lang="fa-IR" sz="2200" i="0" dirty="0" err="1">
                <a:solidFill>
                  <a:srgbClr val="000000"/>
                </a:solidFill>
                <a:effectLst/>
                <a:latin typeface="B Nazanin" panose="00000400000000000000" pitchFamily="2" charset="-78"/>
                <a:cs typeface="B Nazanin" panose="00000400000000000000" pitchFamily="2" charset="-78"/>
              </a:rPr>
              <a:t>نياز</a:t>
            </a:r>
            <a:r>
              <a:rPr lang="fa-IR" sz="2200" i="0" dirty="0">
                <a:solidFill>
                  <a:srgbClr val="000000"/>
                </a:solidFill>
                <a:effectLst/>
                <a:latin typeface="B Nazanin" panose="00000400000000000000" pitchFamily="2" charset="-78"/>
                <a:cs typeface="B Nazanin" panose="00000400000000000000" pitchFamily="2" charset="-78"/>
              </a:rPr>
              <a:t> به شمع </a:t>
            </a:r>
            <a:r>
              <a:rPr lang="fa-IR" sz="2200" i="0" dirty="0" err="1">
                <a:solidFill>
                  <a:srgbClr val="000000"/>
                </a:solidFill>
                <a:effectLst/>
                <a:latin typeface="B Nazanin" panose="00000400000000000000" pitchFamily="2" charset="-78"/>
                <a:cs typeface="B Nazanin" panose="00000400000000000000" pitchFamily="2" charset="-78"/>
              </a:rPr>
              <a:t>بندي</a:t>
            </a:r>
            <a:endParaRPr lang="fa-IR" sz="2200" i="0" dirty="0">
              <a:solidFill>
                <a:srgbClr val="000000"/>
              </a:solidFill>
              <a:effectLst/>
              <a:latin typeface="B Nazanin" panose="00000400000000000000" pitchFamily="2" charset="-78"/>
              <a:cs typeface="B Nazanin" panose="00000400000000000000" pitchFamily="2" charset="-78"/>
            </a:endParaRPr>
          </a:p>
          <a:p>
            <a:pPr lvl="1" algn="r"/>
            <a:endParaRPr lang="fa-IR" sz="2200" i="0" dirty="0">
              <a:solidFill>
                <a:srgbClr val="000000"/>
              </a:solidFill>
              <a:effectLst/>
              <a:latin typeface="B Nazanin" panose="00000400000000000000" pitchFamily="2" charset="-78"/>
              <a:cs typeface="B Nazanin" panose="00000400000000000000" pitchFamily="2" charset="-78"/>
            </a:endParaRPr>
          </a:p>
          <a:p>
            <a:pPr lvl="1" algn="r"/>
            <a:r>
              <a:rPr lang="fa-IR" sz="2200" i="0" dirty="0">
                <a:solidFill>
                  <a:srgbClr val="000000"/>
                </a:solidFill>
                <a:effectLst/>
                <a:latin typeface="B Nazanin" panose="00000400000000000000" pitchFamily="2" charset="-78"/>
                <a:cs typeface="B Nazanin" panose="00000400000000000000" pitchFamily="2" charset="-78"/>
              </a:rPr>
              <a:t>2- سرعت و سهولت اجرا</a:t>
            </a:r>
          </a:p>
          <a:p>
            <a:pPr lvl="1" algn="r"/>
            <a:endParaRPr lang="fa-IR" sz="2200" i="0" dirty="0">
              <a:solidFill>
                <a:srgbClr val="000000"/>
              </a:solidFill>
              <a:effectLst/>
              <a:latin typeface="B Nazanin" panose="00000400000000000000" pitchFamily="2" charset="-78"/>
              <a:cs typeface="B Nazanin" panose="00000400000000000000" pitchFamily="2" charset="-78"/>
            </a:endParaRPr>
          </a:p>
          <a:p>
            <a:pPr lvl="1" algn="r"/>
            <a:r>
              <a:rPr lang="fa-IR" sz="2200" i="0" dirty="0">
                <a:solidFill>
                  <a:srgbClr val="000000"/>
                </a:solidFill>
                <a:effectLst/>
                <a:latin typeface="B Nazanin" panose="00000400000000000000" pitchFamily="2" charset="-78"/>
                <a:cs typeface="B Nazanin" panose="00000400000000000000" pitchFamily="2" charset="-78"/>
              </a:rPr>
              <a:t>3- </a:t>
            </a:r>
            <a:r>
              <a:rPr lang="fa-IR" sz="2200" i="0" dirty="0" err="1">
                <a:solidFill>
                  <a:srgbClr val="000000"/>
                </a:solidFill>
                <a:effectLst/>
                <a:latin typeface="B Nazanin" panose="00000400000000000000" pitchFamily="2" charset="-78"/>
                <a:cs typeface="B Nazanin" panose="00000400000000000000" pitchFamily="2" charset="-78"/>
              </a:rPr>
              <a:t>امكان</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اجراي</a:t>
            </a:r>
            <a:r>
              <a:rPr lang="fa-IR" sz="2200" i="0" dirty="0">
                <a:solidFill>
                  <a:srgbClr val="000000"/>
                </a:solidFill>
                <a:effectLst/>
                <a:latin typeface="B Nazanin" panose="00000400000000000000" pitchFamily="2" charset="-78"/>
                <a:cs typeface="B Nazanin" panose="00000400000000000000" pitchFamily="2" charset="-78"/>
              </a:rPr>
              <a:t> همزمان چند سقف</a:t>
            </a:r>
          </a:p>
          <a:p>
            <a:pPr lvl="1" algn="r"/>
            <a:endParaRPr lang="fa-IR" sz="2200" i="0" dirty="0">
              <a:solidFill>
                <a:srgbClr val="000000"/>
              </a:solidFill>
              <a:effectLst/>
              <a:latin typeface="B Nazanin" panose="00000400000000000000" pitchFamily="2" charset="-78"/>
              <a:cs typeface="B Nazanin" panose="00000400000000000000" pitchFamily="2" charset="-78"/>
            </a:endParaRPr>
          </a:p>
          <a:p>
            <a:pPr lvl="1" algn="r"/>
            <a:r>
              <a:rPr lang="fa-IR" sz="2200" i="0" dirty="0">
                <a:solidFill>
                  <a:srgbClr val="000000"/>
                </a:solidFill>
                <a:effectLst/>
                <a:latin typeface="B Nazanin" panose="00000400000000000000" pitchFamily="2" charset="-78"/>
                <a:cs typeface="B Nazanin" panose="00000400000000000000" pitchFamily="2" charset="-78"/>
              </a:rPr>
              <a:t>4- </a:t>
            </a:r>
            <a:r>
              <a:rPr lang="fa-IR" sz="2200" i="0" dirty="0" err="1">
                <a:solidFill>
                  <a:srgbClr val="000000"/>
                </a:solidFill>
                <a:effectLst/>
                <a:latin typeface="B Nazanin" panose="00000400000000000000" pitchFamily="2" charset="-78"/>
                <a:cs typeface="B Nazanin" panose="00000400000000000000" pitchFamily="2" charset="-78"/>
              </a:rPr>
              <a:t>يکپارچگي</a:t>
            </a:r>
            <a:r>
              <a:rPr lang="fa-IR" sz="2200" i="0" dirty="0">
                <a:solidFill>
                  <a:srgbClr val="000000"/>
                </a:solidFill>
                <a:effectLst/>
                <a:latin typeface="B Nazanin" panose="00000400000000000000" pitchFamily="2" charset="-78"/>
                <a:cs typeface="B Nazanin" panose="00000400000000000000" pitchFamily="2" charset="-78"/>
              </a:rPr>
              <a:t> سقف و </a:t>
            </a:r>
            <a:r>
              <a:rPr lang="fa-IR" sz="2200" i="0" dirty="0" err="1">
                <a:solidFill>
                  <a:srgbClr val="000000"/>
                </a:solidFill>
                <a:effectLst/>
                <a:latin typeface="B Nazanin" panose="00000400000000000000" pitchFamily="2" charset="-78"/>
                <a:cs typeface="B Nazanin" panose="00000400000000000000" pitchFamily="2" charset="-78"/>
              </a:rPr>
              <a:t>اسكلت</a:t>
            </a:r>
            <a:endParaRPr lang="fa-IR" sz="2200" i="0" dirty="0">
              <a:solidFill>
                <a:srgbClr val="000000"/>
              </a:solidFill>
              <a:effectLst/>
              <a:latin typeface="B Nazanin" panose="00000400000000000000" pitchFamily="2" charset="-78"/>
              <a:cs typeface="B Nazanin" panose="00000400000000000000" pitchFamily="2" charset="-78"/>
            </a:endParaRPr>
          </a:p>
          <a:p>
            <a:pPr lvl="1" algn="r"/>
            <a:endParaRPr lang="fa-IR" sz="2200" i="0" dirty="0">
              <a:solidFill>
                <a:srgbClr val="000000"/>
              </a:solidFill>
              <a:effectLst/>
              <a:latin typeface="B Nazanin" panose="00000400000000000000" pitchFamily="2" charset="-78"/>
              <a:cs typeface="B Nazanin" panose="00000400000000000000" pitchFamily="2" charset="-78"/>
            </a:endParaRPr>
          </a:p>
          <a:p>
            <a:pPr lvl="1" algn="r"/>
            <a:r>
              <a:rPr lang="fa-IR" sz="2200" i="0" dirty="0">
                <a:solidFill>
                  <a:srgbClr val="000000"/>
                </a:solidFill>
                <a:effectLst/>
                <a:latin typeface="B Nazanin" panose="00000400000000000000" pitchFamily="2" charset="-78"/>
                <a:cs typeface="B Nazanin" panose="00000400000000000000" pitchFamily="2" charset="-78"/>
              </a:rPr>
              <a:t>5- امکان حذف </a:t>
            </a:r>
            <a:r>
              <a:rPr lang="fa-IR" sz="2200" i="0" dirty="0" err="1">
                <a:solidFill>
                  <a:srgbClr val="000000"/>
                </a:solidFill>
                <a:effectLst/>
                <a:latin typeface="B Nazanin" panose="00000400000000000000" pitchFamily="2" charset="-78"/>
                <a:cs typeface="B Nazanin" panose="00000400000000000000" pitchFamily="2" charset="-78"/>
              </a:rPr>
              <a:t>کش‌ها</a:t>
            </a:r>
            <a:endParaRPr lang="fa-IR" sz="2200" i="0" dirty="0">
              <a:solidFill>
                <a:srgbClr val="000000"/>
              </a:solidFill>
              <a:effectLst/>
              <a:latin typeface="B Nazanin" panose="00000400000000000000" pitchFamily="2" charset="-78"/>
              <a:cs typeface="B Nazanin" panose="00000400000000000000" pitchFamily="2" charset="-78"/>
            </a:endParaRPr>
          </a:p>
          <a:p>
            <a:pPr lvl="1" algn="r"/>
            <a:endParaRPr lang="fa-IR" sz="2200" i="0" dirty="0">
              <a:solidFill>
                <a:srgbClr val="000000"/>
              </a:solidFill>
              <a:effectLst/>
              <a:latin typeface="B Nazanin" panose="00000400000000000000" pitchFamily="2" charset="-78"/>
              <a:cs typeface="B Nazanin" panose="00000400000000000000" pitchFamily="2" charset="-78"/>
            </a:endParaRPr>
          </a:p>
          <a:p>
            <a:pPr lvl="1" algn="r"/>
            <a:r>
              <a:rPr lang="fa-IR" sz="2200" i="0" dirty="0">
                <a:solidFill>
                  <a:srgbClr val="000000"/>
                </a:solidFill>
                <a:effectLst/>
                <a:latin typeface="B Nazanin" panose="00000400000000000000" pitchFamily="2" charset="-78"/>
                <a:cs typeface="B Nazanin" panose="00000400000000000000" pitchFamily="2" charset="-78"/>
              </a:rPr>
              <a:t>6- </a:t>
            </a:r>
            <a:r>
              <a:rPr lang="fa-IR" sz="2200" i="0" dirty="0" err="1">
                <a:solidFill>
                  <a:srgbClr val="000000"/>
                </a:solidFill>
                <a:effectLst/>
                <a:latin typeface="B Nazanin" panose="00000400000000000000" pitchFamily="2" charset="-78"/>
                <a:cs typeface="B Nazanin" panose="00000400000000000000" pitchFamily="2" charset="-78"/>
              </a:rPr>
              <a:t>پايين</a:t>
            </a:r>
            <a:r>
              <a:rPr lang="fa-IR" sz="2200" i="0" dirty="0">
                <a:solidFill>
                  <a:srgbClr val="000000"/>
                </a:solidFill>
                <a:effectLst/>
                <a:latin typeface="B Nazanin" panose="00000400000000000000" pitchFamily="2" charset="-78"/>
                <a:cs typeface="B Nazanin" panose="00000400000000000000" pitchFamily="2" charset="-78"/>
              </a:rPr>
              <a:t> بودن تنش در بتن</a:t>
            </a:r>
          </a:p>
          <a:p>
            <a:pPr lvl="1" algn="r"/>
            <a:endParaRPr lang="fa-IR" sz="2200" i="0" dirty="0">
              <a:solidFill>
                <a:srgbClr val="000000"/>
              </a:solidFill>
              <a:effectLst/>
              <a:latin typeface="B Nazanin" panose="00000400000000000000" pitchFamily="2" charset="-78"/>
              <a:cs typeface="B Nazanin" panose="00000400000000000000" pitchFamily="2" charset="-78"/>
            </a:endParaRPr>
          </a:p>
          <a:p>
            <a:pPr lvl="1" algn="r"/>
            <a:r>
              <a:rPr lang="fa-IR" sz="2200" i="0" dirty="0">
                <a:solidFill>
                  <a:srgbClr val="000000"/>
                </a:solidFill>
                <a:effectLst/>
                <a:latin typeface="B Nazanin" panose="00000400000000000000" pitchFamily="2" charset="-78"/>
                <a:cs typeface="B Nazanin" panose="00000400000000000000" pitchFamily="2" charset="-78"/>
              </a:rPr>
              <a:t>7- حذف رد فولاد </a:t>
            </a:r>
            <a:r>
              <a:rPr lang="fa-IR" sz="2200" i="0" dirty="0" err="1">
                <a:solidFill>
                  <a:srgbClr val="000000"/>
                </a:solidFill>
                <a:effectLst/>
                <a:latin typeface="B Nazanin" panose="00000400000000000000" pitchFamily="2" charset="-78"/>
                <a:cs typeface="B Nazanin" panose="00000400000000000000" pitchFamily="2" charset="-78"/>
              </a:rPr>
              <a:t>زير</a:t>
            </a:r>
            <a:r>
              <a:rPr lang="fa-IR" sz="2200" i="0" dirty="0">
                <a:solidFill>
                  <a:srgbClr val="000000"/>
                </a:solidFill>
                <a:effectLst/>
                <a:latin typeface="B Nazanin" panose="00000400000000000000" pitchFamily="2" charset="-78"/>
                <a:cs typeface="B Nazanin" panose="00000400000000000000" pitchFamily="2" charset="-78"/>
              </a:rPr>
              <a:t> سقف</a:t>
            </a:r>
            <a:endParaRPr lang="en-US" sz="2200" dirty="0">
              <a:latin typeface="Arial Unicode MS" panose="020B0604020202020204" pitchFamily="34" charset="-128"/>
              <a:cs typeface="B Nazanin" panose="00000400000000000000" pitchFamily="2" charset="-78"/>
            </a:endParaRPr>
          </a:p>
        </p:txBody>
      </p:sp>
    </p:spTree>
    <p:extLst>
      <p:ext uri="{BB962C8B-B14F-4D97-AF65-F5344CB8AC3E}">
        <p14:creationId xmlns:p14="http://schemas.microsoft.com/office/powerpoint/2010/main" val="25915320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D0AE722-3A17-4292-8B0C-015DEE23F973}"/>
              </a:ext>
            </a:extLst>
          </p:cNvPr>
          <p:cNvSpPr>
            <a:spLocks noGrp="1"/>
          </p:cNvSpPr>
          <p:nvPr>
            <p:ph type="title"/>
          </p:nvPr>
        </p:nvSpPr>
        <p:spPr>
          <a:xfrm>
            <a:off x="826489" y="190095"/>
            <a:ext cx="10900146" cy="935776"/>
          </a:xfrm>
        </p:spPr>
        <p:txBody>
          <a:bodyPr>
            <a:noAutofit/>
          </a:bodyPr>
          <a:lstStyle/>
          <a:p>
            <a:pPr algn="r"/>
            <a:r>
              <a:rPr lang="fa-IR" spc="0" dirty="0">
                <a:cs typeface="B Nazanin" panose="00000400000000000000" pitchFamily="2" charset="-78"/>
              </a:rPr>
              <a:t>مزایای سقف </a:t>
            </a:r>
            <a:r>
              <a:rPr lang="fa-IR" spc="0" dirty="0" err="1">
                <a:cs typeface="B Nazanin" panose="00000400000000000000" pitchFamily="2" charset="-78"/>
              </a:rPr>
              <a:t>کرمیت</a:t>
            </a:r>
            <a:r>
              <a:rPr lang="fa-IR" spc="0" dirty="0">
                <a:cs typeface="B Nazanin" panose="00000400000000000000" pitchFamily="2" charset="-78"/>
              </a:rPr>
              <a:t>:</a:t>
            </a:r>
            <a:endParaRPr lang="en-US" spc="0" dirty="0">
              <a:cs typeface="B Nazanin" panose="00000400000000000000" pitchFamily="2" charset="-78"/>
            </a:endParaRPr>
          </a:p>
        </p:txBody>
      </p:sp>
      <p:sp>
        <p:nvSpPr>
          <p:cNvPr id="6" name="Slide Number Placeholder 5">
            <a:extLst>
              <a:ext uri="{FF2B5EF4-FFF2-40B4-BE49-F238E27FC236}">
                <a16:creationId xmlns:a16="http://schemas.microsoft.com/office/drawing/2014/main" id="{8A75989F-94E4-487A-845C-A4F547DDFE8D}"/>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pPr/>
              <a:t>46</a:t>
            </a:fld>
            <a:endParaRPr lang="en-US" dirty="0"/>
          </a:p>
        </p:txBody>
      </p:sp>
      <p:sp>
        <p:nvSpPr>
          <p:cNvPr id="25" name="TextBox 24">
            <a:extLst>
              <a:ext uri="{FF2B5EF4-FFF2-40B4-BE49-F238E27FC236}">
                <a16:creationId xmlns:a16="http://schemas.microsoft.com/office/drawing/2014/main" id="{87322C07-EC5C-4192-9ED6-4B496278CC69}"/>
              </a:ext>
            </a:extLst>
          </p:cNvPr>
          <p:cNvSpPr txBox="1"/>
          <p:nvPr/>
        </p:nvSpPr>
        <p:spPr>
          <a:xfrm>
            <a:off x="-540411" y="1759327"/>
            <a:ext cx="12089492" cy="2462213"/>
          </a:xfrm>
          <a:prstGeom prst="rect">
            <a:avLst/>
          </a:prstGeom>
          <a:noFill/>
        </p:spPr>
        <p:txBody>
          <a:bodyPr wrap="square">
            <a:spAutoFit/>
          </a:bodyPr>
          <a:lstStyle/>
          <a:p>
            <a:pPr lvl="1" algn="r"/>
            <a:r>
              <a:rPr lang="fa-IR" sz="2200" i="0" dirty="0">
                <a:solidFill>
                  <a:srgbClr val="000000"/>
                </a:solidFill>
                <a:effectLst/>
                <a:latin typeface="B Nazanin" panose="00000400000000000000" pitchFamily="2" charset="-78"/>
                <a:cs typeface="B Nazanin" panose="00000400000000000000" pitchFamily="2" charset="-78"/>
              </a:rPr>
              <a:t>8- سهولت </a:t>
            </a:r>
            <a:r>
              <a:rPr lang="fa-IR" sz="2200" i="0" dirty="0" err="1">
                <a:solidFill>
                  <a:srgbClr val="000000"/>
                </a:solidFill>
                <a:effectLst/>
                <a:latin typeface="B Nazanin" panose="00000400000000000000" pitchFamily="2" charset="-78"/>
                <a:cs typeface="B Nazanin" panose="00000400000000000000" pitchFamily="2" charset="-78"/>
              </a:rPr>
              <a:t>اجراي</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داکت</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بازشو</a:t>
            </a:r>
            <a:r>
              <a:rPr lang="fa-IR" sz="2200" i="0" dirty="0">
                <a:solidFill>
                  <a:srgbClr val="000000"/>
                </a:solidFill>
                <a:effectLst/>
                <a:latin typeface="B Nazanin" panose="00000400000000000000" pitchFamily="2" charset="-78"/>
                <a:cs typeface="B Nazanin" panose="00000400000000000000" pitchFamily="2" charset="-78"/>
              </a:rPr>
              <a:t>)</a:t>
            </a:r>
          </a:p>
          <a:p>
            <a:pPr lvl="1" algn="r"/>
            <a:endParaRPr lang="fa-IR" sz="2200" i="0" dirty="0">
              <a:solidFill>
                <a:srgbClr val="000000"/>
              </a:solidFill>
              <a:effectLst/>
              <a:latin typeface="B Nazanin" panose="00000400000000000000" pitchFamily="2" charset="-78"/>
              <a:cs typeface="B Nazanin" panose="00000400000000000000" pitchFamily="2" charset="-78"/>
            </a:endParaRPr>
          </a:p>
          <a:p>
            <a:pPr lvl="1" algn="r"/>
            <a:r>
              <a:rPr lang="fa-IR" sz="2200" i="0" dirty="0">
                <a:solidFill>
                  <a:srgbClr val="000000"/>
                </a:solidFill>
                <a:effectLst/>
                <a:latin typeface="B Nazanin" panose="00000400000000000000" pitchFamily="2" charset="-78"/>
                <a:cs typeface="B Nazanin" panose="00000400000000000000" pitchFamily="2" charset="-78"/>
              </a:rPr>
              <a:t>9-كاهش مصرف بتن</a:t>
            </a:r>
          </a:p>
          <a:p>
            <a:pPr lvl="1" algn="r"/>
            <a:endParaRPr lang="fa-IR" sz="2200" i="0" dirty="0">
              <a:solidFill>
                <a:srgbClr val="000000"/>
              </a:solidFill>
              <a:effectLst/>
              <a:latin typeface="B Nazanin" panose="00000400000000000000" pitchFamily="2" charset="-78"/>
              <a:cs typeface="B Nazanin" panose="00000400000000000000" pitchFamily="2" charset="-78"/>
            </a:endParaRPr>
          </a:p>
          <a:p>
            <a:pPr lvl="1" algn="r"/>
            <a:r>
              <a:rPr lang="fa-IR" sz="2200" i="0" dirty="0">
                <a:solidFill>
                  <a:srgbClr val="000000"/>
                </a:solidFill>
                <a:effectLst/>
                <a:latin typeface="B Nazanin" panose="00000400000000000000" pitchFamily="2" charset="-78"/>
                <a:cs typeface="B Nazanin" panose="00000400000000000000" pitchFamily="2" charset="-78"/>
              </a:rPr>
              <a:t>10- مقاومت </a:t>
            </a:r>
            <a:r>
              <a:rPr lang="fa-IR" sz="2200" i="0" dirty="0" err="1">
                <a:solidFill>
                  <a:srgbClr val="000000"/>
                </a:solidFill>
                <a:effectLst/>
                <a:latin typeface="B Nazanin" panose="00000400000000000000" pitchFamily="2" charset="-78"/>
                <a:cs typeface="B Nazanin" panose="00000400000000000000" pitchFamily="2" charset="-78"/>
              </a:rPr>
              <a:t>نهايي</a:t>
            </a:r>
            <a:r>
              <a:rPr lang="fa-IR" sz="2200" i="0" dirty="0">
                <a:solidFill>
                  <a:srgbClr val="000000"/>
                </a:solidFill>
                <a:effectLst/>
                <a:latin typeface="B Nazanin" panose="00000400000000000000" pitchFamily="2" charset="-78"/>
                <a:cs typeface="B Nazanin" panose="00000400000000000000" pitchFamily="2" charset="-78"/>
              </a:rPr>
              <a:t> و </a:t>
            </a:r>
            <a:r>
              <a:rPr lang="fa-IR" sz="2200" i="0" dirty="0" err="1">
                <a:solidFill>
                  <a:srgbClr val="000000"/>
                </a:solidFill>
                <a:effectLst/>
                <a:latin typeface="B Nazanin" panose="00000400000000000000" pitchFamily="2" charset="-78"/>
                <a:cs typeface="B Nazanin" panose="00000400000000000000" pitchFamily="2" charset="-78"/>
              </a:rPr>
              <a:t>شكل</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پذيري</a:t>
            </a:r>
            <a:r>
              <a:rPr lang="fa-IR" sz="2200" i="0" dirty="0">
                <a:solidFill>
                  <a:srgbClr val="000000"/>
                </a:solidFill>
                <a:effectLst/>
                <a:latin typeface="B Nazanin" panose="00000400000000000000" pitchFamily="2" charset="-78"/>
                <a:cs typeface="B Nazanin" panose="00000400000000000000" pitchFamily="2" charset="-78"/>
              </a:rPr>
              <a:t> بالا</a:t>
            </a:r>
          </a:p>
          <a:p>
            <a:pPr lvl="1" algn="r"/>
            <a:endParaRPr lang="fa-IR" sz="2200" i="0" dirty="0">
              <a:solidFill>
                <a:srgbClr val="000000"/>
              </a:solidFill>
              <a:effectLst/>
              <a:latin typeface="B Nazanin" panose="00000400000000000000" pitchFamily="2" charset="-78"/>
              <a:cs typeface="B Nazanin" panose="00000400000000000000" pitchFamily="2" charset="-78"/>
            </a:endParaRPr>
          </a:p>
          <a:p>
            <a:pPr lvl="1" algn="r"/>
            <a:r>
              <a:rPr lang="fa-IR" sz="2200" i="0" dirty="0">
                <a:solidFill>
                  <a:srgbClr val="000000"/>
                </a:solidFill>
                <a:effectLst/>
                <a:latin typeface="B Nazanin" panose="00000400000000000000" pitchFamily="2" charset="-78"/>
                <a:cs typeface="B Nazanin" panose="00000400000000000000" pitchFamily="2" charset="-78"/>
              </a:rPr>
              <a:t>11- </a:t>
            </a:r>
            <a:r>
              <a:rPr lang="fa-IR" sz="2200" i="0" dirty="0" err="1">
                <a:solidFill>
                  <a:srgbClr val="000000"/>
                </a:solidFill>
                <a:effectLst/>
                <a:latin typeface="B Nazanin" panose="00000400000000000000" pitchFamily="2" charset="-78"/>
                <a:cs typeface="B Nazanin" panose="00000400000000000000" pitchFamily="2" charset="-78"/>
              </a:rPr>
              <a:t>امكان</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طراحي</a:t>
            </a:r>
            <a:r>
              <a:rPr lang="fa-IR" sz="2200" i="0" dirty="0">
                <a:solidFill>
                  <a:srgbClr val="000000"/>
                </a:solidFill>
                <a:effectLst/>
                <a:latin typeface="B Nazanin" panose="00000400000000000000" pitchFamily="2" charset="-78"/>
                <a:cs typeface="B Nazanin" panose="00000400000000000000" pitchFamily="2" charset="-78"/>
              </a:rPr>
              <a:t> و </a:t>
            </a:r>
            <a:r>
              <a:rPr lang="fa-IR" sz="2200" i="0" dirty="0" err="1">
                <a:solidFill>
                  <a:srgbClr val="000000"/>
                </a:solidFill>
                <a:effectLst/>
                <a:latin typeface="B Nazanin" panose="00000400000000000000" pitchFamily="2" charset="-78"/>
                <a:cs typeface="B Nazanin" panose="00000400000000000000" pitchFamily="2" charset="-78"/>
              </a:rPr>
              <a:t>اجراي</a:t>
            </a:r>
            <a:r>
              <a:rPr lang="fa-IR" sz="2200" i="0" dirty="0">
                <a:solidFill>
                  <a:srgbClr val="000000"/>
                </a:solidFill>
                <a:effectLst/>
                <a:latin typeface="B Nazanin" panose="00000400000000000000" pitchFamily="2" charset="-78"/>
                <a:cs typeface="B Nazanin" panose="00000400000000000000" pitchFamily="2" charset="-78"/>
              </a:rPr>
              <a:t> سقف با </a:t>
            </a:r>
            <a:r>
              <a:rPr lang="fa-IR" sz="2200" i="0" dirty="0" err="1">
                <a:solidFill>
                  <a:srgbClr val="000000"/>
                </a:solidFill>
                <a:effectLst/>
                <a:latin typeface="B Nazanin" panose="00000400000000000000" pitchFamily="2" charset="-78"/>
                <a:cs typeface="B Nazanin" panose="00000400000000000000" pitchFamily="2" charset="-78"/>
              </a:rPr>
              <a:t>دهانه‌ها</a:t>
            </a:r>
            <a:r>
              <a:rPr lang="fa-IR" sz="2200" i="0" dirty="0">
                <a:solidFill>
                  <a:srgbClr val="000000"/>
                </a:solidFill>
                <a:effectLst/>
                <a:latin typeface="B Nazanin" panose="00000400000000000000" pitchFamily="2" charset="-78"/>
                <a:cs typeface="B Nazanin" panose="00000400000000000000" pitchFamily="2" charset="-78"/>
              </a:rPr>
              <a:t> و </a:t>
            </a:r>
            <a:r>
              <a:rPr lang="fa-IR" sz="2200" i="0" dirty="0" err="1">
                <a:solidFill>
                  <a:srgbClr val="000000"/>
                </a:solidFill>
                <a:effectLst/>
                <a:latin typeface="B Nazanin" panose="00000400000000000000" pitchFamily="2" charset="-78"/>
                <a:cs typeface="B Nazanin" panose="00000400000000000000" pitchFamily="2" charset="-78"/>
              </a:rPr>
              <a:t>باربري‌هاي</a:t>
            </a:r>
            <a:r>
              <a:rPr lang="fa-IR" sz="2200" i="0" dirty="0">
                <a:solidFill>
                  <a:srgbClr val="000000"/>
                </a:solidFill>
                <a:effectLst/>
                <a:latin typeface="B Nazanin" panose="00000400000000000000" pitchFamily="2" charset="-78"/>
                <a:cs typeface="B Nazanin" panose="00000400000000000000" pitchFamily="2" charset="-78"/>
              </a:rPr>
              <a:t> خاص</a:t>
            </a:r>
          </a:p>
        </p:txBody>
      </p:sp>
    </p:spTree>
    <p:extLst>
      <p:ext uri="{BB962C8B-B14F-4D97-AF65-F5344CB8AC3E}">
        <p14:creationId xmlns:p14="http://schemas.microsoft.com/office/powerpoint/2010/main" val="32369157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D0AE722-3A17-4292-8B0C-015DEE23F973}"/>
              </a:ext>
            </a:extLst>
          </p:cNvPr>
          <p:cNvSpPr>
            <a:spLocks noGrp="1"/>
          </p:cNvSpPr>
          <p:nvPr>
            <p:ph type="title"/>
          </p:nvPr>
        </p:nvSpPr>
        <p:spPr>
          <a:xfrm>
            <a:off x="826489" y="190095"/>
            <a:ext cx="10900146" cy="935776"/>
          </a:xfrm>
        </p:spPr>
        <p:txBody>
          <a:bodyPr>
            <a:noAutofit/>
          </a:bodyPr>
          <a:lstStyle/>
          <a:p>
            <a:pPr algn="r"/>
            <a:r>
              <a:rPr lang="fa-IR" spc="0" dirty="0">
                <a:cs typeface="B Nazanin" panose="00000400000000000000" pitchFamily="2" charset="-78"/>
              </a:rPr>
              <a:t>انواع سقف </a:t>
            </a:r>
            <a:r>
              <a:rPr lang="fa-IR" spc="0" dirty="0" err="1">
                <a:cs typeface="B Nazanin" panose="00000400000000000000" pitchFamily="2" charset="-78"/>
              </a:rPr>
              <a:t>کرمیت</a:t>
            </a:r>
            <a:r>
              <a:rPr lang="fa-IR" spc="0" dirty="0">
                <a:cs typeface="B Nazanin" panose="00000400000000000000" pitchFamily="2" charset="-78"/>
              </a:rPr>
              <a:t>:</a:t>
            </a:r>
            <a:endParaRPr lang="en-US" spc="0" dirty="0">
              <a:cs typeface="B Nazanin" panose="00000400000000000000" pitchFamily="2" charset="-78"/>
            </a:endParaRPr>
          </a:p>
        </p:txBody>
      </p:sp>
      <p:sp>
        <p:nvSpPr>
          <p:cNvPr id="6" name="Slide Number Placeholder 5">
            <a:extLst>
              <a:ext uri="{FF2B5EF4-FFF2-40B4-BE49-F238E27FC236}">
                <a16:creationId xmlns:a16="http://schemas.microsoft.com/office/drawing/2014/main" id="{8A75989F-94E4-487A-845C-A4F547DDFE8D}"/>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pPr/>
              <a:t>47</a:t>
            </a:fld>
            <a:endParaRPr lang="en-US" dirty="0"/>
          </a:p>
        </p:txBody>
      </p:sp>
      <p:sp>
        <p:nvSpPr>
          <p:cNvPr id="25" name="TextBox 24">
            <a:extLst>
              <a:ext uri="{FF2B5EF4-FFF2-40B4-BE49-F238E27FC236}">
                <a16:creationId xmlns:a16="http://schemas.microsoft.com/office/drawing/2014/main" id="{87322C07-EC5C-4192-9ED6-4B496278CC69}"/>
              </a:ext>
            </a:extLst>
          </p:cNvPr>
          <p:cNvSpPr txBox="1"/>
          <p:nvPr/>
        </p:nvSpPr>
        <p:spPr>
          <a:xfrm>
            <a:off x="-362857" y="1667660"/>
            <a:ext cx="12089492" cy="2462213"/>
          </a:xfrm>
          <a:prstGeom prst="rect">
            <a:avLst/>
          </a:prstGeom>
          <a:noFill/>
        </p:spPr>
        <p:txBody>
          <a:bodyPr wrap="square">
            <a:spAutoFit/>
          </a:bodyPr>
          <a:lstStyle/>
          <a:p>
            <a:pPr lvl="1" algn="r"/>
            <a:r>
              <a:rPr lang="fa-IR" sz="2200" i="0" dirty="0">
                <a:solidFill>
                  <a:srgbClr val="000000"/>
                </a:solidFill>
                <a:effectLst/>
                <a:latin typeface="B Nazanin" panose="00000400000000000000" pitchFamily="2" charset="-78"/>
                <a:cs typeface="B Nazanin" panose="00000400000000000000" pitchFamily="2" charset="-78"/>
              </a:rPr>
              <a:t>1) تیرچه و بلوک </a:t>
            </a:r>
            <a:r>
              <a:rPr lang="fa-IR" sz="2200" i="0" dirty="0" err="1">
                <a:solidFill>
                  <a:srgbClr val="000000"/>
                </a:solidFill>
                <a:effectLst/>
                <a:latin typeface="B Nazanin" panose="00000400000000000000" pitchFamily="2" charset="-78"/>
                <a:cs typeface="B Nazanin" panose="00000400000000000000" pitchFamily="2" charset="-78"/>
              </a:rPr>
              <a:t>کرمیت</a:t>
            </a:r>
            <a:endParaRPr lang="fa-IR" sz="2200" i="0" dirty="0">
              <a:solidFill>
                <a:srgbClr val="000000"/>
              </a:solidFill>
              <a:effectLst/>
              <a:latin typeface="B Nazanin" panose="00000400000000000000" pitchFamily="2" charset="-78"/>
              <a:cs typeface="B Nazanin" panose="00000400000000000000" pitchFamily="2" charset="-78"/>
            </a:endParaRPr>
          </a:p>
          <a:p>
            <a:pPr lvl="1" algn="r"/>
            <a:endParaRPr lang="fa-IR" sz="2200" i="0" dirty="0">
              <a:solidFill>
                <a:srgbClr val="000000"/>
              </a:solidFill>
              <a:effectLst/>
              <a:latin typeface="B Nazanin" panose="00000400000000000000" pitchFamily="2" charset="-78"/>
              <a:cs typeface="B Nazanin" panose="00000400000000000000" pitchFamily="2" charset="-78"/>
            </a:endParaRPr>
          </a:p>
          <a:p>
            <a:pPr lvl="1" algn="r"/>
            <a:r>
              <a:rPr lang="fa-IR" sz="2200" i="0" dirty="0">
                <a:solidFill>
                  <a:srgbClr val="000000"/>
                </a:solidFill>
                <a:effectLst/>
                <a:latin typeface="B Nazanin" panose="00000400000000000000" pitchFamily="2" charset="-78"/>
                <a:cs typeface="B Nazanin" panose="00000400000000000000" pitchFamily="2" charset="-78"/>
              </a:rPr>
              <a:t>2) کامپوزیت </a:t>
            </a:r>
            <a:r>
              <a:rPr lang="fa-IR" sz="2200" i="0" dirty="0" err="1">
                <a:solidFill>
                  <a:srgbClr val="000000"/>
                </a:solidFill>
                <a:effectLst/>
                <a:latin typeface="B Nazanin" panose="00000400000000000000" pitchFamily="2" charset="-78"/>
                <a:cs typeface="B Nazanin" panose="00000400000000000000" pitchFamily="2" charset="-78"/>
              </a:rPr>
              <a:t>کرمیت</a:t>
            </a:r>
            <a:endParaRPr lang="fa-IR" sz="2200" i="0" dirty="0">
              <a:solidFill>
                <a:srgbClr val="000000"/>
              </a:solidFill>
              <a:effectLst/>
              <a:latin typeface="B Nazanin" panose="00000400000000000000" pitchFamily="2" charset="-78"/>
              <a:cs typeface="B Nazanin" panose="00000400000000000000" pitchFamily="2" charset="-78"/>
            </a:endParaRPr>
          </a:p>
          <a:p>
            <a:pPr lvl="1" algn="r"/>
            <a:endParaRPr lang="fa-IR" sz="2200" i="0" dirty="0">
              <a:solidFill>
                <a:srgbClr val="000000"/>
              </a:solidFill>
              <a:effectLst/>
              <a:latin typeface="B Nazanin" panose="00000400000000000000" pitchFamily="2" charset="-78"/>
              <a:cs typeface="B Nazanin" panose="00000400000000000000" pitchFamily="2" charset="-78"/>
            </a:endParaRPr>
          </a:p>
          <a:p>
            <a:pPr lvl="1" algn="r"/>
            <a:r>
              <a:rPr lang="fa-IR" sz="2200" i="0" dirty="0">
                <a:solidFill>
                  <a:srgbClr val="000000"/>
                </a:solidFill>
                <a:effectLst/>
                <a:latin typeface="B Nazanin" panose="00000400000000000000" pitchFamily="2" charset="-78"/>
                <a:cs typeface="B Nazanin" panose="00000400000000000000" pitchFamily="2" charset="-78"/>
              </a:rPr>
              <a:t>3) </a:t>
            </a:r>
            <a:r>
              <a:rPr lang="fa-IR" sz="2200" i="0" dirty="0" err="1">
                <a:solidFill>
                  <a:srgbClr val="000000"/>
                </a:solidFill>
                <a:effectLst/>
                <a:latin typeface="B Nazanin" panose="00000400000000000000" pitchFamily="2" charset="-78"/>
                <a:cs typeface="B Nazanin" panose="00000400000000000000" pitchFamily="2" charset="-78"/>
              </a:rPr>
              <a:t>پلیمری</a:t>
            </a:r>
            <a:r>
              <a:rPr lang="fa-IR" sz="2200" i="0" dirty="0">
                <a:solidFill>
                  <a:srgbClr val="000000"/>
                </a:solidFill>
                <a:effectLst/>
                <a:latin typeface="B Nazanin" panose="00000400000000000000" pitchFamily="2" charset="-78"/>
                <a:cs typeface="B Nazanin" panose="00000400000000000000" pitchFamily="2" charset="-78"/>
              </a:rPr>
              <a:t> </a:t>
            </a:r>
            <a:r>
              <a:rPr lang="fa-IR" sz="2200" i="0" dirty="0" err="1">
                <a:solidFill>
                  <a:srgbClr val="000000"/>
                </a:solidFill>
                <a:effectLst/>
                <a:latin typeface="B Nazanin" panose="00000400000000000000" pitchFamily="2" charset="-78"/>
                <a:cs typeface="B Nazanin" panose="00000400000000000000" pitchFamily="2" charset="-78"/>
              </a:rPr>
              <a:t>کرمیت</a:t>
            </a:r>
            <a:endParaRPr lang="fa-IR" sz="2200" i="0" dirty="0">
              <a:solidFill>
                <a:srgbClr val="000000"/>
              </a:solidFill>
              <a:effectLst/>
              <a:latin typeface="B Nazanin" panose="00000400000000000000" pitchFamily="2" charset="-78"/>
              <a:cs typeface="B Nazanin" panose="00000400000000000000" pitchFamily="2" charset="-78"/>
            </a:endParaRPr>
          </a:p>
          <a:p>
            <a:pPr lvl="1" algn="r"/>
            <a:endParaRPr lang="fa-IR" sz="2200" i="0" dirty="0">
              <a:solidFill>
                <a:srgbClr val="000000"/>
              </a:solidFill>
              <a:effectLst/>
              <a:latin typeface="B Nazanin" panose="00000400000000000000" pitchFamily="2" charset="-78"/>
              <a:cs typeface="B Nazanin" panose="00000400000000000000" pitchFamily="2" charset="-78"/>
            </a:endParaRPr>
          </a:p>
          <a:p>
            <a:pPr lvl="1" algn="r"/>
            <a:r>
              <a:rPr lang="fa-IR" sz="2200" i="0" dirty="0">
                <a:solidFill>
                  <a:srgbClr val="000000"/>
                </a:solidFill>
                <a:effectLst/>
                <a:latin typeface="B Nazanin" panose="00000400000000000000" pitchFamily="2" charset="-78"/>
                <a:cs typeface="B Nazanin" panose="00000400000000000000" pitchFamily="2" charset="-78"/>
              </a:rPr>
              <a:t>4) ضربی </a:t>
            </a:r>
            <a:r>
              <a:rPr lang="fa-IR" sz="2200" i="0" dirty="0" err="1">
                <a:solidFill>
                  <a:srgbClr val="000000"/>
                </a:solidFill>
                <a:effectLst/>
                <a:latin typeface="B Nazanin" panose="00000400000000000000" pitchFamily="2" charset="-78"/>
                <a:cs typeface="B Nazanin" panose="00000400000000000000" pitchFamily="2" charset="-78"/>
              </a:rPr>
              <a:t>کرمیت</a:t>
            </a:r>
            <a:endParaRPr lang="fa-IR" sz="2200" i="0" dirty="0">
              <a:solidFill>
                <a:srgbClr val="000000"/>
              </a:solidFill>
              <a:effectLst/>
              <a:latin typeface="B Nazanin" panose="00000400000000000000" pitchFamily="2" charset="-78"/>
              <a:cs typeface="B Nazanin" panose="00000400000000000000" pitchFamily="2" charset="-78"/>
            </a:endParaRPr>
          </a:p>
        </p:txBody>
      </p:sp>
    </p:spTree>
    <p:extLst>
      <p:ext uri="{BB962C8B-B14F-4D97-AF65-F5344CB8AC3E}">
        <p14:creationId xmlns:p14="http://schemas.microsoft.com/office/powerpoint/2010/main" val="16101089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86BDF-EF06-4AF9-EA50-E8F56A64AB48}"/>
              </a:ext>
            </a:extLst>
          </p:cNvPr>
          <p:cNvSpPr>
            <a:spLocks noGrp="1"/>
          </p:cNvSpPr>
          <p:nvPr>
            <p:ph type="title"/>
          </p:nvPr>
        </p:nvSpPr>
        <p:spPr>
          <a:xfrm>
            <a:off x="2538288" y="2170545"/>
            <a:ext cx="7115423" cy="1745674"/>
          </a:xfrm>
        </p:spPr>
        <p:txBody>
          <a:bodyPr/>
          <a:lstStyle/>
          <a:p>
            <a:pPr algn="ctr"/>
            <a:r>
              <a:rPr lang="fa-IR" sz="8800" dirty="0">
                <a:solidFill>
                  <a:schemeClr val="tx1"/>
                </a:solidFill>
                <a:cs typeface="B Nazanin" panose="00000400000000000000" pitchFamily="2" charset="-78"/>
              </a:rPr>
              <a:t>تیرچه بلوک :</a:t>
            </a:r>
            <a:endParaRPr lang="en-US" sz="8800" dirty="0">
              <a:solidFill>
                <a:schemeClr val="tx1"/>
              </a:solidFill>
              <a:cs typeface="B Nazanin" panose="00000400000000000000" pitchFamily="2" charset="-78"/>
            </a:endParaRPr>
          </a:p>
        </p:txBody>
      </p:sp>
      <p:sp>
        <p:nvSpPr>
          <p:cNvPr id="11" name="Slide Number Placeholder 10">
            <a:extLst>
              <a:ext uri="{FF2B5EF4-FFF2-40B4-BE49-F238E27FC236}">
                <a16:creationId xmlns:a16="http://schemas.microsoft.com/office/drawing/2014/main" id="{C5CE3DCA-BB23-41B8-B650-A5666A33C4B3}"/>
              </a:ext>
            </a:extLst>
          </p:cNvPr>
          <p:cNvSpPr>
            <a:spLocks noGrp="1"/>
          </p:cNvSpPr>
          <p:nvPr>
            <p:ph type="sldNum" sz="quarter" idx="12"/>
          </p:nvPr>
        </p:nvSpPr>
        <p:spPr/>
        <p:txBody>
          <a:bodyPr/>
          <a:lstStyle/>
          <a:p>
            <a:fld id="{FAEF9944-A4F6-4C59-AEBD-678D6480B8EA}" type="slidenum">
              <a:rPr lang="en-US" smtClean="0"/>
              <a:t>48</a:t>
            </a:fld>
            <a:endParaRPr lang="en-US" dirty="0"/>
          </a:p>
        </p:txBody>
      </p:sp>
    </p:spTree>
    <p:extLst>
      <p:ext uri="{BB962C8B-B14F-4D97-AF65-F5344CB8AC3E}">
        <p14:creationId xmlns:p14="http://schemas.microsoft.com/office/powerpoint/2010/main" val="24347988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C27B2-FA54-6BF0-8B2B-EC5FE8EAF953}"/>
              </a:ext>
            </a:extLst>
          </p:cNvPr>
          <p:cNvSpPr>
            <a:spLocks noGrp="1"/>
          </p:cNvSpPr>
          <p:nvPr>
            <p:ph type="title"/>
          </p:nvPr>
        </p:nvSpPr>
        <p:spPr/>
        <p:txBody>
          <a:bodyPr/>
          <a:lstStyle/>
          <a:p>
            <a:pPr algn="r"/>
            <a:r>
              <a:rPr lang="fa-IR" dirty="0">
                <a:cs typeface="B Nazanin" panose="00000400000000000000" pitchFamily="2" charset="-78"/>
              </a:rPr>
              <a:t>تیرچه بلوک :</a:t>
            </a:r>
            <a:endParaRPr lang="en-US" dirty="0">
              <a:cs typeface="B Nazanin" panose="00000400000000000000" pitchFamily="2" charset="-78"/>
            </a:endParaRPr>
          </a:p>
        </p:txBody>
      </p:sp>
      <p:sp>
        <p:nvSpPr>
          <p:cNvPr id="11" name="Slide Number Placeholder 10">
            <a:extLst>
              <a:ext uri="{FF2B5EF4-FFF2-40B4-BE49-F238E27FC236}">
                <a16:creationId xmlns:a16="http://schemas.microsoft.com/office/drawing/2014/main" id="{58365087-D81F-0033-D33C-D0C5F84571D6}"/>
              </a:ext>
            </a:extLst>
          </p:cNvPr>
          <p:cNvSpPr>
            <a:spLocks noGrp="1"/>
          </p:cNvSpPr>
          <p:nvPr>
            <p:ph type="sldNum" sz="quarter" idx="12"/>
          </p:nvPr>
        </p:nvSpPr>
        <p:spPr/>
        <p:txBody>
          <a:bodyPr/>
          <a:lstStyle/>
          <a:p>
            <a:fld id="{FAEF9944-A4F6-4C59-AEBD-678D6480B8EA}" type="slidenum">
              <a:rPr lang="en-US" smtClean="0"/>
              <a:t>49</a:t>
            </a:fld>
            <a:endParaRPr lang="en-US" dirty="0"/>
          </a:p>
        </p:txBody>
      </p:sp>
      <p:sp>
        <p:nvSpPr>
          <p:cNvPr id="12" name="TextBox 11">
            <a:extLst>
              <a:ext uri="{FF2B5EF4-FFF2-40B4-BE49-F238E27FC236}">
                <a16:creationId xmlns:a16="http://schemas.microsoft.com/office/drawing/2014/main" id="{3F8D0732-72B9-572A-6947-8C8F2ECE99EB}"/>
              </a:ext>
            </a:extLst>
          </p:cNvPr>
          <p:cNvSpPr txBox="1"/>
          <p:nvPr/>
        </p:nvSpPr>
        <p:spPr>
          <a:xfrm>
            <a:off x="147782" y="2333477"/>
            <a:ext cx="11896436" cy="1938992"/>
          </a:xfrm>
          <a:prstGeom prst="rect">
            <a:avLst/>
          </a:prstGeom>
          <a:noFill/>
        </p:spPr>
        <p:txBody>
          <a:bodyPr wrap="square" rtlCol="0">
            <a:spAutoFit/>
          </a:bodyPr>
          <a:lstStyle/>
          <a:p>
            <a:pPr algn="r" fontAlgn="base"/>
            <a:r>
              <a:rPr lang="fa-IR" sz="2000" b="0" i="0" dirty="0">
                <a:solidFill>
                  <a:srgbClr val="333333"/>
                </a:solidFill>
                <a:effectLst/>
                <a:latin typeface="body-font"/>
              </a:rPr>
              <a:t>در بین تمام سقف های ساختمان، </a:t>
            </a:r>
            <a:r>
              <a:rPr lang="fa-IR" sz="2000" b="0" i="0" u="none" strike="noStrike" dirty="0">
                <a:solidFill>
                  <a:srgbClr val="E84E89"/>
                </a:solidFill>
                <a:effectLst/>
                <a:latin typeface="body-font"/>
              </a:rPr>
              <a:t>سقف تیرچه بلوک</a:t>
            </a:r>
            <a:r>
              <a:rPr lang="fa-IR" sz="2000" b="0" i="0" dirty="0">
                <a:solidFill>
                  <a:srgbClr val="333333"/>
                </a:solidFill>
                <a:effectLst/>
                <a:latin typeface="body-font"/>
              </a:rPr>
              <a:t> پرکاربردترین نوع آن ها است. در این سیستم سازه ای، تیرچه ها به عنوان تیر فرعی و بلوک عامل پر کننده بین تیرچه ها است.</a:t>
            </a:r>
          </a:p>
          <a:p>
            <a:pPr algn="r" fontAlgn="base"/>
            <a:r>
              <a:rPr lang="fa-IR" sz="2000" b="0" i="0" dirty="0">
                <a:solidFill>
                  <a:srgbClr val="333333"/>
                </a:solidFill>
                <a:effectLst/>
                <a:latin typeface="body-font"/>
              </a:rPr>
              <a:t>همچنین از بلوک های توخالی سبک بتنی، سفالی و یا فوم پلی استایرن برای پر کردن فضای خالی بین تیرچه ها استفاده می شود.</a:t>
            </a:r>
          </a:p>
          <a:p>
            <a:pPr algn="r" fontAlgn="base"/>
            <a:r>
              <a:rPr lang="fa-IR" sz="2000" b="0" i="0" dirty="0">
                <a:solidFill>
                  <a:srgbClr val="333333"/>
                </a:solidFill>
                <a:effectLst/>
                <a:latin typeface="body-font"/>
              </a:rPr>
              <a:t>این عنصر سازه ای جزء دال های یکطرفه به شمار می آیند که برای کاهش بار مرده بر ساختمان از بلوک های تو خالی در ساخت آن استفاده می شود.</a:t>
            </a:r>
          </a:p>
          <a:p>
            <a:pPr algn="r" fontAlgn="base"/>
            <a:r>
              <a:rPr lang="fa-IR" sz="2000" b="0" i="0" dirty="0">
                <a:solidFill>
                  <a:srgbClr val="333333"/>
                </a:solidFill>
                <a:effectLst/>
                <a:latin typeface="body-font"/>
              </a:rPr>
              <a:t>در این نوع </a:t>
            </a:r>
            <a:r>
              <a:rPr lang="fa-IR" sz="2000" b="0" i="0" u="none" strike="noStrike" dirty="0">
                <a:solidFill>
                  <a:srgbClr val="E84E89"/>
                </a:solidFill>
                <a:effectLst/>
                <a:latin typeface="body-font"/>
              </a:rPr>
              <a:t>سقف</a:t>
            </a:r>
            <a:r>
              <a:rPr lang="fa-IR" sz="2000" b="0" i="0" dirty="0">
                <a:solidFill>
                  <a:srgbClr val="333333"/>
                </a:solidFill>
                <a:effectLst/>
                <a:latin typeface="body-font"/>
              </a:rPr>
              <a:t>، تیرچه ها در دو نوع بتنی و یا فولادی مورد استفاده قرار می گیرند و فاصله بین آن ها حدود 50 سانتی متر است.</a:t>
            </a:r>
          </a:p>
          <a:p>
            <a:pPr algn="r" fontAlgn="base"/>
            <a:r>
              <a:rPr lang="fa-IR" sz="2000" b="0" i="0" dirty="0">
                <a:solidFill>
                  <a:srgbClr val="333333"/>
                </a:solidFill>
                <a:effectLst/>
                <a:latin typeface="body-font"/>
              </a:rPr>
              <a:t>این سقف با استفاده از تیرچه و بلوک که به صورت پیش ساخته در کارخانه تولید می شوند و با انجام مرحله بتن ریزی، اجرا می شوند.</a:t>
            </a:r>
          </a:p>
        </p:txBody>
      </p:sp>
    </p:spTree>
    <p:extLst>
      <p:ext uri="{BB962C8B-B14F-4D97-AF65-F5344CB8AC3E}">
        <p14:creationId xmlns:p14="http://schemas.microsoft.com/office/powerpoint/2010/main" val="153207855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C27B2-FA54-6BF0-8B2B-EC5FE8EAF953}"/>
              </a:ext>
            </a:extLst>
          </p:cNvPr>
          <p:cNvSpPr>
            <a:spLocks noGrp="1"/>
          </p:cNvSpPr>
          <p:nvPr>
            <p:ph type="title"/>
          </p:nvPr>
        </p:nvSpPr>
        <p:spPr/>
        <p:txBody>
          <a:bodyPr/>
          <a:lstStyle/>
          <a:p>
            <a:pPr algn="r"/>
            <a:r>
              <a:rPr lang="fa-IR" dirty="0">
                <a:cs typeface="B Nazanin" panose="00000400000000000000" pitchFamily="2" charset="-78"/>
              </a:rPr>
              <a:t>تیرچه بلوک :</a:t>
            </a:r>
            <a:endParaRPr lang="en-US" dirty="0">
              <a:cs typeface="B Nazanin" panose="00000400000000000000" pitchFamily="2" charset="-78"/>
            </a:endParaRPr>
          </a:p>
        </p:txBody>
      </p:sp>
      <p:sp>
        <p:nvSpPr>
          <p:cNvPr id="11" name="Slide Number Placeholder 10">
            <a:extLst>
              <a:ext uri="{FF2B5EF4-FFF2-40B4-BE49-F238E27FC236}">
                <a16:creationId xmlns:a16="http://schemas.microsoft.com/office/drawing/2014/main" id="{58365087-D81F-0033-D33C-D0C5F84571D6}"/>
              </a:ext>
            </a:extLst>
          </p:cNvPr>
          <p:cNvSpPr>
            <a:spLocks noGrp="1"/>
          </p:cNvSpPr>
          <p:nvPr>
            <p:ph type="sldNum" sz="quarter" idx="12"/>
          </p:nvPr>
        </p:nvSpPr>
        <p:spPr/>
        <p:txBody>
          <a:bodyPr/>
          <a:lstStyle/>
          <a:p>
            <a:fld id="{FAEF9944-A4F6-4C59-AEBD-678D6480B8EA}" type="slidenum">
              <a:rPr lang="en-US" smtClean="0"/>
              <a:t>50</a:t>
            </a:fld>
            <a:endParaRPr lang="en-US" dirty="0"/>
          </a:p>
        </p:txBody>
      </p:sp>
      <p:pic>
        <p:nvPicPr>
          <p:cNvPr id="2050" name="Picture 2" descr="سقف تیرچه بلوک">
            <a:extLst>
              <a:ext uri="{FF2B5EF4-FFF2-40B4-BE49-F238E27FC236}">
                <a16:creationId xmlns:a16="http://schemas.microsoft.com/office/drawing/2014/main" id="{2987C3E3-4054-CD0C-274A-1B678AE297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917" y="1653310"/>
            <a:ext cx="6207760" cy="387985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B25FA72-9D46-346C-792C-6813FD3CCDFE}"/>
              </a:ext>
            </a:extLst>
          </p:cNvPr>
          <p:cNvSpPr txBox="1"/>
          <p:nvPr/>
        </p:nvSpPr>
        <p:spPr>
          <a:xfrm>
            <a:off x="6998460" y="2050820"/>
            <a:ext cx="5078020" cy="3139321"/>
          </a:xfrm>
          <a:prstGeom prst="rect">
            <a:avLst/>
          </a:prstGeom>
          <a:noFill/>
        </p:spPr>
        <p:txBody>
          <a:bodyPr wrap="square">
            <a:spAutoFit/>
          </a:bodyPr>
          <a:lstStyle/>
          <a:p>
            <a:pPr algn="r" fontAlgn="base"/>
            <a:r>
              <a:rPr lang="fa-IR" sz="2200" b="0" i="0" dirty="0">
                <a:solidFill>
                  <a:srgbClr val="333333"/>
                </a:solidFill>
                <a:effectLst/>
                <a:latin typeface="body-font"/>
              </a:rPr>
              <a:t>بعد از قراردادن تیرچه ها در فاصله های مشخص و انجام شمع بندی زیر تیرچه ها، بلوک ها در بین فاصله دو تیرچه چیدمان می شوند. سپس آرماتورهای حرارتی جاگذاری می شوند و عملیات بتن ریزی صورت می گیرد.</a:t>
            </a:r>
          </a:p>
          <a:p>
            <a:pPr algn="r" fontAlgn="base"/>
            <a:r>
              <a:rPr lang="fa-IR" sz="2200" b="0" i="0" dirty="0">
                <a:solidFill>
                  <a:srgbClr val="333333"/>
                </a:solidFill>
                <a:effectLst/>
                <a:latin typeface="body-font"/>
              </a:rPr>
              <a:t>از نکات مهم در مورد سقف تیرچه بلوک این است که در صورتی که قصد دارید وزن آن را سبک کنید، می توانید بخشی از مقطع کششی بتن را حذف کرده و تنها آن بخشی که برای جایگذاری میلگردهای کششی مورد نیاز است را باقی گذارید.</a:t>
            </a:r>
          </a:p>
        </p:txBody>
      </p:sp>
    </p:spTree>
    <p:extLst>
      <p:ext uri="{BB962C8B-B14F-4D97-AF65-F5344CB8AC3E}">
        <p14:creationId xmlns:p14="http://schemas.microsoft.com/office/powerpoint/2010/main" val="9296319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C27B2-FA54-6BF0-8B2B-EC5FE8EAF953}"/>
              </a:ext>
            </a:extLst>
          </p:cNvPr>
          <p:cNvSpPr>
            <a:spLocks noGrp="1"/>
          </p:cNvSpPr>
          <p:nvPr>
            <p:ph type="title"/>
          </p:nvPr>
        </p:nvSpPr>
        <p:spPr/>
        <p:txBody>
          <a:bodyPr/>
          <a:lstStyle/>
          <a:p>
            <a:pPr algn="r"/>
            <a:r>
              <a:rPr lang="fa-IR" dirty="0">
                <a:cs typeface="B Nazanin" panose="00000400000000000000" pitchFamily="2" charset="-78"/>
              </a:rPr>
              <a:t>تیرچه بلوک :</a:t>
            </a:r>
            <a:endParaRPr lang="en-US" dirty="0">
              <a:cs typeface="B Nazanin" panose="00000400000000000000" pitchFamily="2" charset="-78"/>
            </a:endParaRPr>
          </a:p>
        </p:txBody>
      </p:sp>
      <p:sp>
        <p:nvSpPr>
          <p:cNvPr id="11" name="Slide Number Placeholder 10">
            <a:extLst>
              <a:ext uri="{FF2B5EF4-FFF2-40B4-BE49-F238E27FC236}">
                <a16:creationId xmlns:a16="http://schemas.microsoft.com/office/drawing/2014/main" id="{58365087-D81F-0033-D33C-D0C5F84571D6}"/>
              </a:ext>
            </a:extLst>
          </p:cNvPr>
          <p:cNvSpPr>
            <a:spLocks noGrp="1"/>
          </p:cNvSpPr>
          <p:nvPr>
            <p:ph type="sldNum" sz="quarter" idx="12"/>
          </p:nvPr>
        </p:nvSpPr>
        <p:spPr/>
        <p:txBody>
          <a:bodyPr/>
          <a:lstStyle/>
          <a:p>
            <a:fld id="{FAEF9944-A4F6-4C59-AEBD-678D6480B8EA}" type="slidenum">
              <a:rPr lang="en-US" smtClean="0"/>
              <a:t>51</a:t>
            </a:fld>
            <a:endParaRPr lang="en-US" dirty="0"/>
          </a:p>
        </p:txBody>
      </p:sp>
      <p:sp>
        <p:nvSpPr>
          <p:cNvPr id="12" name="TextBox 11">
            <a:extLst>
              <a:ext uri="{FF2B5EF4-FFF2-40B4-BE49-F238E27FC236}">
                <a16:creationId xmlns:a16="http://schemas.microsoft.com/office/drawing/2014/main" id="{3F8D0732-72B9-572A-6947-8C8F2ECE99EB}"/>
              </a:ext>
            </a:extLst>
          </p:cNvPr>
          <p:cNvSpPr txBox="1"/>
          <p:nvPr/>
        </p:nvSpPr>
        <p:spPr>
          <a:xfrm>
            <a:off x="64655" y="2223349"/>
            <a:ext cx="11896436" cy="1938992"/>
          </a:xfrm>
          <a:prstGeom prst="rect">
            <a:avLst/>
          </a:prstGeom>
          <a:noFill/>
        </p:spPr>
        <p:txBody>
          <a:bodyPr wrap="square" rtlCol="0">
            <a:spAutoFit/>
          </a:bodyPr>
          <a:lstStyle/>
          <a:p>
            <a:pPr algn="r" fontAlgn="base"/>
            <a:r>
              <a:rPr lang="fa-IR" sz="2400" b="0" i="0" dirty="0">
                <a:solidFill>
                  <a:srgbClr val="333333"/>
                </a:solidFill>
                <a:effectLst/>
                <a:latin typeface="body-font"/>
              </a:rPr>
              <a:t>در ابتدا ورود تیرچه بلوک، به دلیل استفاده از بلوک های سیمانی، وزن تیرچه بلوک ها سنگین می شد و استفاده از بلوک های سفالی نیز هزینه های بالایی را در بر داشت. اما پس از مدتی با استفاده از </a:t>
            </a:r>
            <a:r>
              <a:rPr lang="fa-IR" sz="2400" b="0" i="0" u="none" strike="noStrike" dirty="0">
                <a:solidFill>
                  <a:srgbClr val="E84E89"/>
                </a:solidFill>
                <a:effectLst/>
                <a:latin typeface="body-font"/>
              </a:rPr>
              <a:t>یونولیت</a:t>
            </a:r>
            <a:r>
              <a:rPr lang="fa-IR" sz="2400" b="0" i="0" dirty="0">
                <a:solidFill>
                  <a:srgbClr val="333333"/>
                </a:solidFill>
                <a:effectLst/>
                <a:latin typeface="body-font"/>
              </a:rPr>
              <a:t> به جای بلوک های سیمانی، این مشکل برطرف شد.</a:t>
            </a:r>
          </a:p>
          <a:p>
            <a:pPr algn="r" fontAlgn="base"/>
            <a:r>
              <a:rPr lang="fa-IR" sz="2400" b="0" i="0" dirty="0">
                <a:solidFill>
                  <a:srgbClr val="333333"/>
                </a:solidFill>
                <a:effectLst/>
                <a:latin typeface="body-font"/>
              </a:rPr>
              <a:t>اما یونولیت نیز ایراداتی داشت از جمله این که در هنگام آتش سوزی، دود بسیار غلیظی را تولید می کرد. با ورود فوم های نسوز به این عرصه، علاوه بر رفع عیوبی که ذکر کردیم، استفاده از این نوع سقف ها بسیار مقرون بصرفه نیز بود.</a:t>
            </a:r>
          </a:p>
        </p:txBody>
      </p:sp>
    </p:spTree>
    <p:extLst>
      <p:ext uri="{BB962C8B-B14F-4D97-AF65-F5344CB8AC3E}">
        <p14:creationId xmlns:p14="http://schemas.microsoft.com/office/powerpoint/2010/main" val="33464973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C27B2-FA54-6BF0-8B2B-EC5FE8EAF953}"/>
              </a:ext>
            </a:extLst>
          </p:cNvPr>
          <p:cNvSpPr>
            <a:spLocks noGrp="1"/>
          </p:cNvSpPr>
          <p:nvPr>
            <p:ph type="title"/>
          </p:nvPr>
        </p:nvSpPr>
        <p:spPr/>
        <p:txBody>
          <a:bodyPr/>
          <a:lstStyle/>
          <a:p>
            <a:pPr algn="r"/>
            <a:r>
              <a:rPr lang="fa-IR" dirty="0">
                <a:cs typeface="B Nazanin" panose="00000400000000000000" pitchFamily="2" charset="-78"/>
              </a:rPr>
              <a:t>تیرچه بلوک :</a:t>
            </a:r>
            <a:endParaRPr lang="en-US" dirty="0">
              <a:cs typeface="B Nazanin" panose="00000400000000000000" pitchFamily="2" charset="-78"/>
            </a:endParaRPr>
          </a:p>
        </p:txBody>
      </p:sp>
      <p:sp>
        <p:nvSpPr>
          <p:cNvPr id="11" name="Slide Number Placeholder 10">
            <a:extLst>
              <a:ext uri="{FF2B5EF4-FFF2-40B4-BE49-F238E27FC236}">
                <a16:creationId xmlns:a16="http://schemas.microsoft.com/office/drawing/2014/main" id="{58365087-D81F-0033-D33C-D0C5F84571D6}"/>
              </a:ext>
            </a:extLst>
          </p:cNvPr>
          <p:cNvSpPr>
            <a:spLocks noGrp="1"/>
          </p:cNvSpPr>
          <p:nvPr>
            <p:ph type="sldNum" sz="quarter" idx="12"/>
          </p:nvPr>
        </p:nvSpPr>
        <p:spPr/>
        <p:txBody>
          <a:bodyPr/>
          <a:lstStyle/>
          <a:p>
            <a:fld id="{FAEF9944-A4F6-4C59-AEBD-678D6480B8EA}" type="slidenum">
              <a:rPr lang="en-US" smtClean="0"/>
              <a:t>52</a:t>
            </a:fld>
            <a:endParaRPr lang="en-US" dirty="0"/>
          </a:p>
        </p:txBody>
      </p:sp>
      <p:sp>
        <p:nvSpPr>
          <p:cNvPr id="12" name="TextBox 11">
            <a:extLst>
              <a:ext uri="{FF2B5EF4-FFF2-40B4-BE49-F238E27FC236}">
                <a16:creationId xmlns:a16="http://schemas.microsoft.com/office/drawing/2014/main" id="{3F8D0732-72B9-572A-6947-8C8F2ECE99EB}"/>
              </a:ext>
            </a:extLst>
          </p:cNvPr>
          <p:cNvSpPr txBox="1"/>
          <p:nvPr/>
        </p:nvSpPr>
        <p:spPr>
          <a:xfrm>
            <a:off x="73892" y="1819565"/>
            <a:ext cx="11896436" cy="2308324"/>
          </a:xfrm>
          <a:prstGeom prst="rect">
            <a:avLst/>
          </a:prstGeom>
          <a:noFill/>
        </p:spPr>
        <p:txBody>
          <a:bodyPr wrap="square" rtlCol="0">
            <a:spAutoFit/>
          </a:bodyPr>
          <a:lstStyle/>
          <a:p>
            <a:pPr algn="r" rtl="1" fontAlgn="base"/>
            <a:r>
              <a:rPr lang="fa-IR" sz="2400" b="1" i="0">
                <a:solidFill>
                  <a:srgbClr val="222222"/>
                </a:solidFill>
                <a:effectLst/>
                <a:latin typeface="Montserrat" panose="020F0502020204030204" pitchFamily="2" charset="0"/>
              </a:rPr>
              <a:t>اجزا سقف تیرچه و بلوک</a:t>
            </a:r>
          </a:p>
          <a:p>
            <a:pPr algn="r" rtl="1" fontAlgn="base">
              <a:buFont typeface="Arial" panose="020B0604020202020204" pitchFamily="34" charset="0"/>
              <a:buChar char="•"/>
            </a:pPr>
            <a:r>
              <a:rPr lang="fa-IR" sz="2400" b="0" i="0">
                <a:solidFill>
                  <a:srgbClr val="333333"/>
                </a:solidFill>
                <a:effectLst/>
                <a:latin typeface="body-font"/>
              </a:rPr>
              <a:t>تیرچه</a:t>
            </a:r>
          </a:p>
          <a:p>
            <a:pPr algn="r" rtl="1" fontAlgn="base">
              <a:buFont typeface="Arial" panose="020B0604020202020204" pitchFamily="34" charset="0"/>
              <a:buChar char="•"/>
            </a:pPr>
            <a:r>
              <a:rPr lang="fa-IR" sz="2400" b="0" i="0">
                <a:solidFill>
                  <a:srgbClr val="333333"/>
                </a:solidFill>
                <a:effectLst/>
                <a:latin typeface="body-font"/>
              </a:rPr>
              <a:t>بلوک</a:t>
            </a:r>
          </a:p>
          <a:p>
            <a:pPr algn="r" rtl="1" fontAlgn="base">
              <a:buFont typeface="Arial" panose="020B0604020202020204" pitchFamily="34" charset="0"/>
              <a:buChar char="•"/>
            </a:pPr>
            <a:r>
              <a:rPr lang="fa-IR" sz="2400" b="0" i="0">
                <a:solidFill>
                  <a:srgbClr val="333333"/>
                </a:solidFill>
                <a:effectLst/>
                <a:latin typeface="body-font"/>
              </a:rPr>
              <a:t>آرماتورهای منفی و آرماتورهای افت و حرارت</a:t>
            </a:r>
          </a:p>
          <a:p>
            <a:pPr algn="r" rtl="1" fontAlgn="base">
              <a:buFont typeface="Arial" panose="020B0604020202020204" pitchFamily="34" charset="0"/>
              <a:buChar char="•"/>
            </a:pPr>
            <a:r>
              <a:rPr lang="fa-IR" sz="2400" b="0" i="0">
                <a:solidFill>
                  <a:srgbClr val="333333"/>
                </a:solidFill>
                <a:effectLst/>
                <a:latin typeface="body-font"/>
              </a:rPr>
              <a:t>کلاف میانی</a:t>
            </a:r>
          </a:p>
          <a:p>
            <a:pPr algn="r" rtl="1" fontAlgn="base">
              <a:buFont typeface="Arial" panose="020B0604020202020204" pitchFamily="34" charset="0"/>
              <a:buChar char="•"/>
            </a:pPr>
            <a:r>
              <a:rPr lang="fa-IR" sz="2400" b="0" i="0">
                <a:solidFill>
                  <a:srgbClr val="333333"/>
                </a:solidFill>
                <a:effectLst/>
                <a:latin typeface="body-font"/>
              </a:rPr>
              <a:t>بتن پوشش درجا</a:t>
            </a:r>
          </a:p>
        </p:txBody>
      </p:sp>
      <p:pic>
        <p:nvPicPr>
          <p:cNvPr id="4100" name="Picture 4" descr="تیرچه بلوک و میلگرد تنیده">
            <a:extLst>
              <a:ext uri="{FF2B5EF4-FFF2-40B4-BE49-F238E27FC236}">
                <a16:creationId xmlns:a16="http://schemas.microsoft.com/office/drawing/2014/main" id="{4FDC0B41-1004-101B-ADA5-7CC4C26C97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672" y="1550554"/>
            <a:ext cx="6830291" cy="42689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603552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C27B2-FA54-6BF0-8B2B-EC5FE8EAF953}"/>
              </a:ext>
            </a:extLst>
          </p:cNvPr>
          <p:cNvSpPr>
            <a:spLocks noGrp="1"/>
          </p:cNvSpPr>
          <p:nvPr>
            <p:ph type="title"/>
          </p:nvPr>
        </p:nvSpPr>
        <p:spPr/>
        <p:txBody>
          <a:bodyPr/>
          <a:lstStyle/>
          <a:p>
            <a:pPr algn="r"/>
            <a:r>
              <a:rPr lang="fa-IR" dirty="0">
                <a:cs typeface="B Nazanin" panose="00000400000000000000" pitchFamily="2" charset="-78"/>
              </a:rPr>
              <a:t>تیرچه بلوک :</a:t>
            </a:r>
            <a:endParaRPr lang="en-US" dirty="0">
              <a:cs typeface="B Nazanin" panose="00000400000000000000" pitchFamily="2" charset="-78"/>
            </a:endParaRPr>
          </a:p>
        </p:txBody>
      </p:sp>
      <p:sp>
        <p:nvSpPr>
          <p:cNvPr id="11" name="Slide Number Placeholder 10">
            <a:extLst>
              <a:ext uri="{FF2B5EF4-FFF2-40B4-BE49-F238E27FC236}">
                <a16:creationId xmlns:a16="http://schemas.microsoft.com/office/drawing/2014/main" id="{58365087-D81F-0033-D33C-D0C5F84571D6}"/>
              </a:ext>
            </a:extLst>
          </p:cNvPr>
          <p:cNvSpPr>
            <a:spLocks noGrp="1"/>
          </p:cNvSpPr>
          <p:nvPr>
            <p:ph type="sldNum" sz="quarter" idx="12"/>
          </p:nvPr>
        </p:nvSpPr>
        <p:spPr/>
        <p:txBody>
          <a:bodyPr/>
          <a:lstStyle/>
          <a:p>
            <a:fld id="{FAEF9944-A4F6-4C59-AEBD-678D6480B8EA}" type="slidenum">
              <a:rPr lang="en-US" smtClean="0"/>
              <a:t>53</a:t>
            </a:fld>
            <a:endParaRPr lang="en-US" dirty="0"/>
          </a:p>
        </p:txBody>
      </p:sp>
      <p:sp>
        <p:nvSpPr>
          <p:cNvPr id="12" name="TextBox 11">
            <a:extLst>
              <a:ext uri="{FF2B5EF4-FFF2-40B4-BE49-F238E27FC236}">
                <a16:creationId xmlns:a16="http://schemas.microsoft.com/office/drawing/2014/main" id="{3F8D0732-72B9-572A-6947-8C8F2ECE99EB}"/>
              </a:ext>
            </a:extLst>
          </p:cNvPr>
          <p:cNvSpPr txBox="1"/>
          <p:nvPr/>
        </p:nvSpPr>
        <p:spPr>
          <a:xfrm>
            <a:off x="73892" y="2274838"/>
            <a:ext cx="11896436" cy="2308324"/>
          </a:xfrm>
          <a:prstGeom prst="rect">
            <a:avLst/>
          </a:prstGeom>
          <a:noFill/>
        </p:spPr>
        <p:txBody>
          <a:bodyPr wrap="square" rtlCol="0">
            <a:spAutoFit/>
          </a:bodyPr>
          <a:lstStyle/>
          <a:p>
            <a:pPr algn="r" rtl="1" fontAlgn="base"/>
            <a:r>
              <a:rPr lang="fa-IR" sz="2400" b="1" i="0" dirty="0">
                <a:solidFill>
                  <a:srgbClr val="222222"/>
                </a:solidFill>
                <a:effectLst/>
                <a:latin typeface="Montserrat" panose="00000500000000000000" pitchFamily="2" charset="0"/>
              </a:rPr>
              <a:t>مزایا اجرای سقف های تیرچه بلوک</a:t>
            </a:r>
          </a:p>
          <a:p>
            <a:pPr algn="r" rtl="1" fontAlgn="base"/>
            <a:r>
              <a:rPr lang="fa-IR" sz="2400" b="0" i="0" dirty="0">
                <a:solidFill>
                  <a:srgbClr val="333333"/>
                </a:solidFill>
                <a:effectLst/>
                <a:latin typeface="body-font"/>
              </a:rPr>
              <a:t>از این عنصر سازه ای در انواع ساختمان ها از جمله ساختمان های آجری، </a:t>
            </a:r>
            <a:r>
              <a:rPr lang="fa-IR" sz="2400" b="0" i="0" u="none" strike="noStrike" dirty="0">
                <a:solidFill>
                  <a:srgbClr val="E84E89"/>
                </a:solidFill>
                <a:effectLst/>
                <a:latin typeface="body-font"/>
              </a:rPr>
              <a:t>اسکلت فلزی</a:t>
            </a:r>
            <a:r>
              <a:rPr lang="fa-IR" sz="2400" b="0" i="0" dirty="0">
                <a:solidFill>
                  <a:srgbClr val="333333"/>
                </a:solidFill>
                <a:effectLst/>
                <a:latin typeface="body-font"/>
              </a:rPr>
              <a:t> و بتنی استفاده می شود و دارای فواید و مزیت های زیر می باشد:</a:t>
            </a:r>
          </a:p>
          <a:p>
            <a:pPr algn="r" rtl="1" fontAlgn="base">
              <a:buFont typeface="Arial" panose="020B0604020202020204" pitchFamily="34" charset="0"/>
              <a:buChar char="•"/>
            </a:pPr>
            <a:r>
              <a:rPr lang="fa-IR" sz="2400" b="0" i="0" dirty="0">
                <a:solidFill>
                  <a:srgbClr val="333333"/>
                </a:solidFill>
                <a:effectLst/>
                <a:latin typeface="body-font"/>
              </a:rPr>
              <a:t>اجرای این سقف نیازی به نیروی کار متخصص و یا تجهیزات ویژه ندارد و توسط کارگران معمولی ساختمان نیز قابل اجرا می باشد.</a:t>
            </a:r>
          </a:p>
          <a:p>
            <a:pPr algn="r" rtl="1" fontAlgn="base">
              <a:buFont typeface="Arial" panose="020B0604020202020204" pitchFamily="34" charset="0"/>
              <a:buChar char="•"/>
            </a:pPr>
            <a:r>
              <a:rPr lang="fa-IR" sz="2400" b="0" i="0" dirty="0">
                <a:solidFill>
                  <a:srgbClr val="333333"/>
                </a:solidFill>
                <a:effectLst/>
                <a:latin typeface="body-font"/>
              </a:rPr>
              <a:t>شمع بندی حین اجرای سقف باعث می شود این نوع سقف ها لرزش کمتری نسبت به سایر نمونه ها داشته باشد.</a:t>
            </a:r>
          </a:p>
        </p:txBody>
      </p:sp>
    </p:spTree>
    <p:extLst>
      <p:ext uri="{BB962C8B-B14F-4D97-AF65-F5344CB8AC3E}">
        <p14:creationId xmlns:p14="http://schemas.microsoft.com/office/powerpoint/2010/main" val="1577545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C27B2-FA54-6BF0-8B2B-EC5FE8EAF953}"/>
              </a:ext>
            </a:extLst>
          </p:cNvPr>
          <p:cNvSpPr>
            <a:spLocks noGrp="1"/>
          </p:cNvSpPr>
          <p:nvPr>
            <p:ph type="title"/>
          </p:nvPr>
        </p:nvSpPr>
        <p:spPr/>
        <p:txBody>
          <a:bodyPr/>
          <a:lstStyle/>
          <a:p>
            <a:pPr algn="r"/>
            <a:r>
              <a:rPr lang="fa-IR" dirty="0">
                <a:cs typeface="B Nazanin" panose="00000400000000000000" pitchFamily="2" charset="-78"/>
              </a:rPr>
              <a:t>تیرچه بلوک :</a:t>
            </a:r>
            <a:endParaRPr lang="en-US" dirty="0">
              <a:cs typeface="B Nazanin" panose="00000400000000000000" pitchFamily="2" charset="-78"/>
            </a:endParaRPr>
          </a:p>
        </p:txBody>
      </p:sp>
      <p:sp>
        <p:nvSpPr>
          <p:cNvPr id="11" name="Slide Number Placeholder 10">
            <a:extLst>
              <a:ext uri="{FF2B5EF4-FFF2-40B4-BE49-F238E27FC236}">
                <a16:creationId xmlns:a16="http://schemas.microsoft.com/office/drawing/2014/main" id="{58365087-D81F-0033-D33C-D0C5F84571D6}"/>
              </a:ext>
            </a:extLst>
          </p:cNvPr>
          <p:cNvSpPr>
            <a:spLocks noGrp="1"/>
          </p:cNvSpPr>
          <p:nvPr>
            <p:ph type="sldNum" sz="quarter" idx="12"/>
          </p:nvPr>
        </p:nvSpPr>
        <p:spPr/>
        <p:txBody>
          <a:bodyPr/>
          <a:lstStyle/>
          <a:p>
            <a:fld id="{FAEF9944-A4F6-4C59-AEBD-678D6480B8EA}" type="slidenum">
              <a:rPr lang="en-US" smtClean="0"/>
              <a:t>54</a:t>
            </a:fld>
            <a:endParaRPr lang="en-US" dirty="0"/>
          </a:p>
        </p:txBody>
      </p:sp>
      <p:sp>
        <p:nvSpPr>
          <p:cNvPr id="12" name="TextBox 11">
            <a:extLst>
              <a:ext uri="{FF2B5EF4-FFF2-40B4-BE49-F238E27FC236}">
                <a16:creationId xmlns:a16="http://schemas.microsoft.com/office/drawing/2014/main" id="{3F8D0732-72B9-572A-6947-8C8F2ECE99EB}"/>
              </a:ext>
            </a:extLst>
          </p:cNvPr>
          <p:cNvSpPr txBox="1"/>
          <p:nvPr/>
        </p:nvSpPr>
        <p:spPr>
          <a:xfrm>
            <a:off x="147782" y="2459504"/>
            <a:ext cx="11896436" cy="1938992"/>
          </a:xfrm>
          <a:prstGeom prst="rect">
            <a:avLst/>
          </a:prstGeom>
          <a:noFill/>
        </p:spPr>
        <p:txBody>
          <a:bodyPr wrap="square" rtlCol="0">
            <a:spAutoFit/>
          </a:bodyPr>
          <a:lstStyle/>
          <a:p>
            <a:pPr algn="r" rtl="1" fontAlgn="base">
              <a:buFont typeface="Arial" panose="020B0604020202020204" pitchFamily="34" charset="0"/>
              <a:buChar char="•"/>
            </a:pPr>
            <a:r>
              <a:rPr lang="fa-IR" sz="2400" b="0" i="0" dirty="0">
                <a:solidFill>
                  <a:srgbClr val="333333"/>
                </a:solidFill>
                <a:effectLst/>
                <a:latin typeface="body-font"/>
              </a:rPr>
              <a:t>قالب بندی زیر سقف ها فقط با شمع بندی و نصب چهار تراش در فاصله های مشخص صورت می گیرد و نیازی به افراد متخصص نیست.</a:t>
            </a:r>
          </a:p>
          <a:p>
            <a:pPr algn="r" rtl="1" fontAlgn="base">
              <a:buFont typeface="Arial" panose="020B0604020202020204" pitchFamily="34" charset="0"/>
              <a:buChar char="•"/>
            </a:pPr>
            <a:r>
              <a:rPr lang="fa-IR" sz="2400" b="0" i="0" dirty="0">
                <a:solidFill>
                  <a:srgbClr val="333333"/>
                </a:solidFill>
                <a:effectLst/>
                <a:latin typeface="body-font"/>
              </a:rPr>
              <a:t>نصب این عنصر سازه ای به دلیل پیش ساختگی تیرچه و بلوک به سرعت و آسانی صورت می گیرد.</a:t>
            </a:r>
          </a:p>
          <a:p>
            <a:pPr algn="r" rtl="1" fontAlgn="base">
              <a:buFont typeface="Arial" panose="020B0604020202020204" pitchFamily="34" charset="0"/>
              <a:buChar char="•"/>
            </a:pPr>
            <a:r>
              <a:rPr lang="fa-IR" sz="2400" b="0" i="0" dirty="0">
                <a:solidFill>
                  <a:srgbClr val="333333"/>
                </a:solidFill>
                <a:effectLst/>
                <a:latin typeface="body-font"/>
              </a:rPr>
              <a:t>اجرای آن نیازی به کارهای وقت گیر کارگاهی و هزینه بردار ندارد.</a:t>
            </a:r>
          </a:p>
          <a:p>
            <a:pPr algn="r" rtl="1" fontAlgn="base">
              <a:buFont typeface="Arial" panose="020B0604020202020204" pitchFamily="34" charset="0"/>
              <a:buChar char="•"/>
            </a:pPr>
            <a:r>
              <a:rPr lang="fa-IR" sz="2400" b="0" i="0" dirty="0">
                <a:solidFill>
                  <a:srgbClr val="333333"/>
                </a:solidFill>
                <a:effectLst/>
                <a:latin typeface="body-font"/>
              </a:rPr>
              <a:t>تیرچه و بلوک در کارخانه های صنعتی و تحت نظارت کنترل کیفی تولید می شوند.</a:t>
            </a:r>
          </a:p>
        </p:txBody>
      </p:sp>
    </p:spTree>
    <p:extLst>
      <p:ext uri="{BB962C8B-B14F-4D97-AF65-F5344CB8AC3E}">
        <p14:creationId xmlns:p14="http://schemas.microsoft.com/office/powerpoint/2010/main" val="96690686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C27B2-FA54-6BF0-8B2B-EC5FE8EAF953}"/>
              </a:ext>
            </a:extLst>
          </p:cNvPr>
          <p:cNvSpPr>
            <a:spLocks noGrp="1"/>
          </p:cNvSpPr>
          <p:nvPr>
            <p:ph type="title"/>
          </p:nvPr>
        </p:nvSpPr>
        <p:spPr/>
        <p:txBody>
          <a:bodyPr/>
          <a:lstStyle/>
          <a:p>
            <a:pPr algn="r"/>
            <a:r>
              <a:rPr lang="fa-IR" dirty="0">
                <a:cs typeface="B Nazanin" panose="00000400000000000000" pitchFamily="2" charset="-78"/>
              </a:rPr>
              <a:t>تیرچه بلوک :</a:t>
            </a:r>
            <a:endParaRPr lang="en-US" dirty="0">
              <a:cs typeface="B Nazanin" panose="00000400000000000000" pitchFamily="2" charset="-78"/>
            </a:endParaRPr>
          </a:p>
        </p:txBody>
      </p:sp>
      <p:sp>
        <p:nvSpPr>
          <p:cNvPr id="11" name="Slide Number Placeholder 10">
            <a:extLst>
              <a:ext uri="{FF2B5EF4-FFF2-40B4-BE49-F238E27FC236}">
                <a16:creationId xmlns:a16="http://schemas.microsoft.com/office/drawing/2014/main" id="{58365087-D81F-0033-D33C-D0C5F84571D6}"/>
              </a:ext>
            </a:extLst>
          </p:cNvPr>
          <p:cNvSpPr>
            <a:spLocks noGrp="1"/>
          </p:cNvSpPr>
          <p:nvPr>
            <p:ph type="sldNum" sz="quarter" idx="12"/>
          </p:nvPr>
        </p:nvSpPr>
        <p:spPr/>
        <p:txBody>
          <a:bodyPr/>
          <a:lstStyle/>
          <a:p>
            <a:fld id="{FAEF9944-A4F6-4C59-AEBD-678D6480B8EA}" type="slidenum">
              <a:rPr lang="en-US" smtClean="0"/>
              <a:t>55</a:t>
            </a:fld>
            <a:endParaRPr lang="en-US" dirty="0"/>
          </a:p>
        </p:txBody>
      </p:sp>
      <p:sp>
        <p:nvSpPr>
          <p:cNvPr id="12" name="TextBox 11">
            <a:extLst>
              <a:ext uri="{FF2B5EF4-FFF2-40B4-BE49-F238E27FC236}">
                <a16:creationId xmlns:a16="http://schemas.microsoft.com/office/drawing/2014/main" id="{3F8D0732-72B9-572A-6947-8C8F2ECE99EB}"/>
              </a:ext>
            </a:extLst>
          </p:cNvPr>
          <p:cNvSpPr txBox="1"/>
          <p:nvPr/>
        </p:nvSpPr>
        <p:spPr>
          <a:xfrm>
            <a:off x="0" y="2274838"/>
            <a:ext cx="11896436" cy="2308324"/>
          </a:xfrm>
          <a:prstGeom prst="rect">
            <a:avLst/>
          </a:prstGeom>
          <a:noFill/>
        </p:spPr>
        <p:txBody>
          <a:bodyPr wrap="square" rtlCol="0">
            <a:spAutoFit/>
          </a:bodyPr>
          <a:lstStyle/>
          <a:p>
            <a:pPr algn="r" rtl="1" fontAlgn="base">
              <a:buFont typeface="Arial" panose="020B0604020202020204" pitchFamily="34" charset="0"/>
              <a:buChar char="•"/>
            </a:pPr>
            <a:r>
              <a:rPr lang="fa-IR" sz="2400" b="0" i="0" dirty="0">
                <a:solidFill>
                  <a:srgbClr val="333333"/>
                </a:solidFill>
                <a:effectLst/>
                <a:latin typeface="body-font"/>
              </a:rPr>
              <a:t>استفاده از بلوک های توخالی باعث کاهش مصرف </a:t>
            </a:r>
            <a:r>
              <a:rPr lang="fa-IR" sz="2400" b="0" i="0" u="none" strike="noStrike" dirty="0">
                <a:solidFill>
                  <a:srgbClr val="E84E89"/>
                </a:solidFill>
                <a:effectLst/>
                <a:latin typeface="body-font"/>
              </a:rPr>
              <a:t>بتن</a:t>
            </a:r>
            <a:r>
              <a:rPr lang="fa-IR" sz="2400" b="0" i="0" dirty="0">
                <a:solidFill>
                  <a:srgbClr val="333333"/>
                </a:solidFill>
                <a:effectLst/>
                <a:latin typeface="body-font"/>
              </a:rPr>
              <a:t> می شود. این امر باعث صرفه جویی می شود و از نظر اقتصادی مقرون بصرفه می باشد.</a:t>
            </a:r>
          </a:p>
          <a:p>
            <a:pPr algn="r" rtl="1" fontAlgn="base">
              <a:buFont typeface="Arial" panose="020B0604020202020204" pitchFamily="34" charset="0"/>
              <a:buChar char="•"/>
            </a:pPr>
            <a:r>
              <a:rPr lang="fa-IR" sz="2400" b="0" i="0" dirty="0">
                <a:solidFill>
                  <a:srgbClr val="333333"/>
                </a:solidFill>
                <a:effectLst/>
                <a:latin typeface="body-font"/>
              </a:rPr>
              <a:t>مقاومت بالایی در برابر نیروهای افقی مانند باد و زلزله دارند.</a:t>
            </a:r>
          </a:p>
          <a:p>
            <a:pPr algn="r" rtl="1" fontAlgn="base">
              <a:buFont typeface="Arial" panose="020B0604020202020204" pitchFamily="34" charset="0"/>
              <a:buChar char="•"/>
            </a:pPr>
            <a:r>
              <a:rPr lang="fa-IR" sz="2400" b="0" i="0" dirty="0">
                <a:solidFill>
                  <a:srgbClr val="333333"/>
                </a:solidFill>
                <a:effectLst/>
                <a:latin typeface="body-font"/>
              </a:rPr>
              <a:t>تیرچه بلوک ها وزن سبکی دارند و حمل و نقل آن ها نیازی به استفاده از جرثقیل ندارد.</a:t>
            </a:r>
          </a:p>
          <a:p>
            <a:pPr algn="r" rtl="1" fontAlgn="base">
              <a:buFont typeface="Arial" panose="020B0604020202020204" pitchFamily="34" charset="0"/>
              <a:buChar char="•"/>
            </a:pPr>
            <a:r>
              <a:rPr lang="fa-IR" sz="2400" b="0" i="0" dirty="0">
                <a:solidFill>
                  <a:srgbClr val="333333"/>
                </a:solidFill>
                <a:effectLst/>
                <a:latin typeface="body-font"/>
              </a:rPr>
              <a:t>بتن کششی در این جا توسط بلوک جایگزین می شوند که این امر دلیل اقتصادی بودن این نوع سقف هاست.</a:t>
            </a:r>
          </a:p>
          <a:p>
            <a:pPr algn="r" rtl="1" fontAlgn="base">
              <a:buFont typeface="Arial" panose="020B0604020202020204" pitchFamily="34" charset="0"/>
              <a:buChar char="•"/>
            </a:pPr>
            <a:endParaRPr lang="fa-IR" sz="2400" b="0" i="0" dirty="0">
              <a:solidFill>
                <a:srgbClr val="333333"/>
              </a:solidFill>
              <a:effectLst/>
              <a:latin typeface="body-font"/>
            </a:endParaRPr>
          </a:p>
        </p:txBody>
      </p:sp>
    </p:spTree>
    <p:extLst>
      <p:ext uri="{BB962C8B-B14F-4D97-AF65-F5344CB8AC3E}">
        <p14:creationId xmlns:p14="http://schemas.microsoft.com/office/powerpoint/2010/main" val="230099042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C27B2-FA54-6BF0-8B2B-EC5FE8EAF953}"/>
              </a:ext>
            </a:extLst>
          </p:cNvPr>
          <p:cNvSpPr>
            <a:spLocks noGrp="1"/>
          </p:cNvSpPr>
          <p:nvPr>
            <p:ph type="title"/>
          </p:nvPr>
        </p:nvSpPr>
        <p:spPr/>
        <p:txBody>
          <a:bodyPr/>
          <a:lstStyle/>
          <a:p>
            <a:pPr algn="r"/>
            <a:r>
              <a:rPr lang="fa-IR" dirty="0">
                <a:cs typeface="B Nazanin" panose="00000400000000000000" pitchFamily="2" charset="-78"/>
              </a:rPr>
              <a:t>تیرچه بلوک :</a:t>
            </a:r>
            <a:endParaRPr lang="en-US" dirty="0">
              <a:cs typeface="B Nazanin" panose="00000400000000000000" pitchFamily="2" charset="-78"/>
            </a:endParaRPr>
          </a:p>
        </p:txBody>
      </p:sp>
      <p:sp>
        <p:nvSpPr>
          <p:cNvPr id="11" name="Slide Number Placeholder 10">
            <a:extLst>
              <a:ext uri="{FF2B5EF4-FFF2-40B4-BE49-F238E27FC236}">
                <a16:creationId xmlns:a16="http://schemas.microsoft.com/office/drawing/2014/main" id="{58365087-D81F-0033-D33C-D0C5F84571D6}"/>
              </a:ext>
            </a:extLst>
          </p:cNvPr>
          <p:cNvSpPr>
            <a:spLocks noGrp="1"/>
          </p:cNvSpPr>
          <p:nvPr>
            <p:ph type="sldNum" sz="quarter" idx="12"/>
          </p:nvPr>
        </p:nvSpPr>
        <p:spPr/>
        <p:txBody>
          <a:bodyPr/>
          <a:lstStyle/>
          <a:p>
            <a:fld id="{FAEF9944-A4F6-4C59-AEBD-678D6480B8EA}" type="slidenum">
              <a:rPr lang="en-US" smtClean="0"/>
              <a:t>56</a:t>
            </a:fld>
            <a:endParaRPr lang="en-US" dirty="0"/>
          </a:p>
        </p:txBody>
      </p:sp>
      <p:sp>
        <p:nvSpPr>
          <p:cNvPr id="12" name="TextBox 11">
            <a:extLst>
              <a:ext uri="{FF2B5EF4-FFF2-40B4-BE49-F238E27FC236}">
                <a16:creationId xmlns:a16="http://schemas.microsoft.com/office/drawing/2014/main" id="{3F8D0732-72B9-572A-6947-8C8F2ECE99EB}"/>
              </a:ext>
            </a:extLst>
          </p:cNvPr>
          <p:cNvSpPr txBox="1"/>
          <p:nvPr/>
        </p:nvSpPr>
        <p:spPr>
          <a:xfrm>
            <a:off x="0" y="2644170"/>
            <a:ext cx="11896436" cy="1569660"/>
          </a:xfrm>
          <a:prstGeom prst="rect">
            <a:avLst/>
          </a:prstGeom>
          <a:noFill/>
        </p:spPr>
        <p:txBody>
          <a:bodyPr wrap="square" rtlCol="0">
            <a:spAutoFit/>
          </a:bodyPr>
          <a:lstStyle/>
          <a:p>
            <a:pPr algn="r" rtl="1" fontAlgn="base">
              <a:buFont typeface="Arial" panose="020B0604020202020204" pitchFamily="34" charset="0"/>
              <a:buChar char="•"/>
            </a:pPr>
            <a:r>
              <a:rPr lang="fa-IR" sz="2400" b="0" i="0" dirty="0">
                <a:solidFill>
                  <a:srgbClr val="333333"/>
                </a:solidFill>
                <a:effectLst/>
                <a:latin typeface="body-font"/>
              </a:rPr>
              <a:t>با اجرای این عنصر سازه ای، امکان اجرای همزمان چند سقف وجود دارد.</a:t>
            </a:r>
          </a:p>
          <a:p>
            <a:pPr algn="r" rtl="1" fontAlgn="base">
              <a:buFont typeface="Arial" panose="020B0604020202020204" pitchFamily="34" charset="0"/>
              <a:buChar char="•"/>
            </a:pPr>
            <a:r>
              <a:rPr lang="fa-IR" sz="2400" b="0" i="0" dirty="0">
                <a:solidFill>
                  <a:srgbClr val="333333"/>
                </a:solidFill>
                <a:effectLst/>
                <a:latin typeface="body-font"/>
              </a:rPr>
              <a:t>استفاده از این نوع سقف مصرف گچ و خاک را کاهش می دهد و یکنواختی بیشتری در زیر سقف ایجاد می کند.</a:t>
            </a:r>
          </a:p>
          <a:p>
            <a:pPr algn="r" rtl="1" fontAlgn="base">
              <a:buFont typeface="Arial" panose="020B0604020202020204" pitchFamily="34" charset="0"/>
              <a:buChar char="•"/>
            </a:pPr>
            <a:r>
              <a:rPr lang="fa-IR" sz="2400" b="0" i="0" dirty="0">
                <a:solidFill>
                  <a:srgbClr val="333333"/>
                </a:solidFill>
                <a:effectLst/>
                <a:latin typeface="body-font"/>
              </a:rPr>
              <a:t>نوعی </a:t>
            </a:r>
            <a:r>
              <a:rPr lang="fa-IR" sz="2400" b="0" i="0" u="none" strike="noStrike" dirty="0">
                <a:solidFill>
                  <a:srgbClr val="E84E89"/>
                </a:solidFill>
                <a:effectLst/>
                <a:latin typeface="body-font"/>
              </a:rPr>
              <a:t>عایق صوتی</a:t>
            </a:r>
            <a:r>
              <a:rPr lang="fa-IR" sz="2400" b="0" i="0" dirty="0">
                <a:solidFill>
                  <a:srgbClr val="333333"/>
                </a:solidFill>
                <a:effectLst/>
                <a:latin typeface="body-font"/>
              </a:rPr>
              <a:t>، حرارتی و رطوبتی می باشند.</a:t>
            </a:r>
          </a:p>
          <a:p>
            <a:pPr algn="r" rtl="1" fontAlgn="base">
              <a:buFont typeface="Arial" panose="020B0604020202020204" pitchFamily="34" charset="0"/>
              <a:buChar char="•"/>
            </a:pPr>
            <a:r>
              <a:rPr lang="fa-IR" sz="2400" b="0" i="0" dirty="0">
                <a:solidFill>
                  <a:srgbClr val="333333"/>
                </a:solidFill>
                <a:effectLst/>
                <a:latin typeface="body-font"/>
              </a:rPr>
              <a:t>مقاومت و استحکام آن ها در برابر آتش سوزی بسیار بالا می باشد.</a:t>
            </a:r>
          </a:p>
        </p:txBody>
      </p:sp>
    </p:spTree>
    <p:extLst>
      <p:ext uri="{BB962C8B-B14F-4D97-AF65-F5344CB8AC3E}">
        <p14:creationId xmlns:p14="http://schemas.microsoft.com/office/powerpoint/2010/main" val="159377368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C27B2-FA54-6BF0-8B2B-EC5FE8EAF953}"/>
              </a:ext>
            </a:extLst>
          </p:cNvPr>
          <p:cNvSpPr>
            <a:spLocks noGrp="1"/>
          </p:cNvSpPr>
          <p:nvPr>
            <p:ph type="title"/>
          </p:nvPr>
        </p:nvSpPr>
        <p:spPr/>
        <p:txBody>
          <a:bodyPr/>
          <a:lstStyle/>
          <a:p>
            <a:pPr algn="r"/>
            <a:r>
              <a:rPr lang="fa-IR" dirty="0">
                <a:cs typeface="B Nazanin" panose="00000400000000000000" pitchFamily="2" charset="-78"/>
              </a:rPr>
              <a:t>تیرچه بلوک :</a:t>
            </a:r>
            <a:endParaRPr lang="en-US" dirty="0">
              <a:cs typeface="B Nazanin" panose="00000400000000000000" pitchFamily="2" charset="-78"/>
            </a:endParaRPr>
          </a:p>
        </p:txBody>
      </p:sp>
      <p:sp>
        <p:nvSpPr>
          <p:cNvPr id="11" name="Slide Number Placeholder 10">
            <a:extLst>
              <a:ext uri="{FF2B5EF4-FFF2-40B4-BE49-F238E27FC236}">
                <a16:creationId xmlns:a16="http://schemas.microsoft.com/office/drawing/2014/main" id="{58365087-D81F-0033-D33C-D0C5F84571D6}"/>
              </a:ext>
            </a:extLst>
          </p:cNvPr>
          <p:cNvSpPr>
            <a:spLocks noGrp="1"/>
          </p:cNvSpPr>
          <p:nvPr>
            <p:ph type="sldNum" sz="quarter" idx="12"/>
          </p:nvPr>
        </p:nvSpPr>
        <p:spPr/>
        <p:txBody>
          <a:bodyPr/>
          <a:lstStyle/>
          <a:p>
            <a:fld id="{FAEF9944-A4F6-4C59-AEBD-678D6480B8EA}" type="slidenum">
              <a:rPr lang="en-US" smtClean="0"/>
              <a:t>57</a:t>
            </a:fld>
            <a:endParaRPr lang="en-US" dirty="0"/>
          </a:p>
        </p:txBody>
      </p:sp>
      <p:sp>
        <p:nvSpPr>
          <p:cNvPr id="12" name="TextBox 11">
            <a:extLst>
              <a:ext uri="{FF2B5EF4-FFF2-40B4-BE49-F238E27FC236}">
                <a16:creationId xmlns:a16="http://schemas.microsoft.com/office/drawing/2014/main" id="{3F8D0732-72B9-572A-6947-8C8F2ECE99EB}"/>
              </a:ext>
            </a:extLst>
          </p:cNvPr>
          <p:cNvSpPr txBox="1"/>
          <p:nvPr/>
        </p:nvSpPr>
        <p:spPr>
          <a:xfrm>
            <a:off x="0" y="2459504"/>
            <a:ext cx="11896436" cy="1938992"/>
          </a:xfrm>
          <a:prstGeom prst="rect">
            <a:avLst/>
          </a:prstGeom>
          <a:noFill/>
        </p:spPr>
        <p:txBody>
          <a:bodyPr wrap="square" rtlCol="0">
            <a:spAutoFit/>
          </a:bodyPr>
          <a:lstStyle/>
          <a:p>
            <a:pPr algn="r" rtl="1" fontAlgn="base"/>
            <a:r>
              <a:rPr lang="fa-IR" sz="2400" b="1" i="0" dirty="0">
                <a:solidFill>
                  <a:srgbClr val="222222"/>
                </a:solidFill>
                <a:effectLst/>
                <a:latin typeface="Montserrat" panose="00000500000000000000" pitchFamily="2" charset="0"/>
              </a:rPr>
              <a:t>معایب اجرا سقف تیرچه بلوک</a:t>
            </a:r>
          </a:p>
          <a:p>
            <a:pPr algn="r" rtl="1" fontAlgn="base">
              <a:buFont typeface="Arial" panose="020B0604020202020204" pitchFamily="34" charset="0"/>
              <a:buChar char="•"/>
            </a:pPr>
            <a:r>
              <a:rPr lang="fa-IR" sz="2400" b="0" i="0" dirty="0">
                <a:solidFill>
                  <a:srgbClr val="333333"/>
                </a:solidFill>
                <a:effectLst/>
                <a:latin typeface="body-font"/>
              </a:rPr>
              <a:t>اجرا آن در مکان هایی که سقف قوسی و مثلثی شکل می باشد، با محدودیت هایی رو به رو می باشد.</a:t>
            </a:r>
          </a:p>
          <a:p>
            <a:pPr algn="r" rtl="1" fontAlgn="base">
              <a:buFont typeface="Arial" panose="020B0604020202020204" pitchFamily="34" charset="0"/>
              <a:buChar char="•"/>
            </a:pPr>
            <a:r>
              <a:rPr lang="fa-IR" sz="2400" b="0" i="0" dirty="0">
                <a:solidFill>
                  <a:srgbClr val="333333"/>
                </a:solidFill>
                <a:effectLst/>
                <a:latin typeface="body-font"/>
              </a:rPr>
              <a:t>در مقایسه با سقف دال بتنی و کامپوزیت از صلبیت لازم برخوردار نمی باشد.</a:t>
            </a:r>
          </a:p>
          <a:p>
            <a:pPr algn="r" rtl="1" fontAlgn="base">
              <a:buFont typeface="Arial" panose="020B0604020202020204" pitchFamily="34" charset="0"/>
              <a:buChar char="•"/>
            </a:pPr>
            <a:r>
              <a:rPr lang="fa-IR" sz="2400" b="0" i="0" dirty="0">
                <a:solidFill>
                  <a:srgbClr val="333333"/>
                </a:solidFill>
                <a:effectLst/>
                <a:latin typeface="body-font"/>
              </a:rPr>
              <a:t>امکان شکستگی پاشنه تیرچه وجود دارد.</a:t>
            </a:r>
          </a:p>
          <a:p>
            <a:pPr algn="r" rtl="1" fontAlgn="base">
              <a:buFont typeface="Arial" panose="020B0604020202020204" pitchFamily="34" charset="0"/>
              <a:buChar char="•"/>
            </a:pPr>
            <a:r>
              <a:rPr lang="fa-IR" sz="2400" b="0" i="0" dirty="0">
                <a:solidFill>
                  <a:srgbClr val="333333"/>
                </a:solidFill>
                <a:effectLst/>
                <a:latin typeface="body-font"/>
              </a:rPr>
              <a:t>حداکثر دهانه قابل پوشش با استفاده از سقف تیرچه بلوک 8 متر می باشد.</a:t>
            </a:r>
          </a:p>
        </p:txBody>
      </p:sp>
    </p:spTree>
    <p:extLst>
      <p:ext uri="{BB962C8B-B14F-4D97-AF65-F5344CB8AC3E}">
        <p14:creationId xmlns:p14="http://schemas.microsoft.com/office/powerpoint/2010/main" val="6465334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C27B2-FA54-6BF0-8B2B-EC5FE8EAF953}"/>
              </a:ext>
            </a:extLst>
          </p:cNvPr>
          <p:cNvSpPr>
            <a:spLocks noGrp="1"/>
          </p:cNvSpPr>
          <p:nvPr>
            <p:ph type="title"/>
          </p:nvPr>
        </p:nvSpPr>
        <p:spPr/>
        <p:txBody>
          <a:bodyPr/>
          <a:lstStyle/>
          <a:p>
            <a:pPr algn="r"/>
            <a:r>
              <a:rPr lang="fa-IR" dirty="0">
                <a:cs typeface="B Nazanin" panose="00000400000000000000" pitchFamily="2" charset="-78"/>
              </a:rPr>
              <a:t>تیرچه بلوک :</a:t>
            </a:r>
            <a:endParaRPr lang="en-US" dirty="0">
              <a:cs typeface="B Nazanin" panose="00000400000000000000" pitchFamily="2" charset="-78"/>
            </a:endParaRPr>
          </a:p>
        </p:txBody>
      </p:sp>
      <p:sp>
        <p:nvSpPr>
          <p:cNvPr id="11" name="Slide Number Placeholder 10">
            <a:extLst>
              <a:ext uri="{FF2B5EF4-FFF2-40B4-BE49-F238E27FC236}">
                <a16:creationId xmlns:a16="http://schemas.microsoft.com/office/drawing/2014/main" id="{58365087-D81F-0033-D33C-D0C5F84571D6}"/>
              </a:ext>
            </a:extLst>
          </p:cNvPr>
          <p:cNvSpPr>
            <a:spLocks noGrp="1"/>
          </p:cNvSpPr>
          <p:nvPr>
            <p:ph type="sldNum" sz="quarter" idx="12"/>
          </p:nvPr>
        </p:nvSpPr>
        <p:spPr/>
        <p:txBody>
          <a:bodyPr/>
          <a:lstStyle/>
          <a:p>
            <a:fld id="{FAEF9944-A4F6-4C59-AEBD-678D6480B8EA}" type="slidenum">
              <a:rPr lang="en-US" smtClean="0"/>
              <a:t>58</a:t>
            </a:fld>
            <a:endParaRPr lang="en-US" dirty="0"/>
          </a:p>
        </p:txBody>
      </p:sp>
      <p:sp>
        <p:nvSpPr>
          <p:cNvPr id="12" name="TextBox 11">
            <a:extLst>
              <a:ext uri="{FF2B5EF4-FFF2-40B4-BE49-F238E27FC236}">
                <a16:creationId xmlns:a16="http://schemas.microsoft.com/office/drawing/2014/main" id="{3F8D0732-72B9-572A-6947-8C8F2ECE99EB}"/>
              </a:ext>
            </a:extLst>
          </p:cNvPr>
          <p:cNvSpPr txBox="1"/>
          <p:nvPr/>
        </p:nvSpPr>
        <p:spPr>
          <a:xfrm>
            <a:off x="64655" y="2644170"/>
            <a:ext cx="11896436" cy="1569660"/>
          </a:xfrm>
          <a:prstGeom prst="rect">
            <a:avLst/>
          </a:prstGeom>
          <a:noFill/>
        </p:spPr>
        <p:txBody>
          <a:bodyPr wrap="square" rtlCol="0">
            <a:spAutoFit/>
          </a:bodyPr>
          <a:lstStyle/>
          <a:p>
            <a:pPr algn="r" rtl="1" fontAlgn="base">
              <a:buFont typeface="Arial" panose="020B0604020202020204" pitchFamily="34" charset="0"/>
              <a:buChar char="•"/>
            </a:pPr>
            <a:r>
              <a:rPr lang="fa-IR" sz="2400" b="0" i="0" dirty="0">
                <a:solidFill>
                  <a:srgbClr val="333333"/>
                </a:solidFill>
                <a:effectLst/>
                <a:latin typeface="body-font"/>
              </a:rPr>
              <a:t>به دلیل نظارت کم، امکان استفاده از میلگردهای تکه ای و جوش خورده وجود دارد.</a:t>
            </a:r>
          </a:p>
          <a:p>
            <a:pPr algn="r" rtl="1" fontAlgn="base">
              <a:buFont typeface="Arial" panose="020B0604020202020204" pitchFamily="34" charset="0"/>
              <a:buChar char="•"/>
            </a:pPr>
            <a:r>
              <a:rPr lang="fa-IR" sz="2400" b="0" i="0" dirty="0">
                <a:solidFill>
                  <a:srgbClr val="333333"/>
                </a:solidFill>
                <a:effectLst/>
                <a:latin typeface="body-font"/>
              </a:rPr>
              <a:t>اگر جا به جایی آن در فواصل طولانی انجام شود، امکان آسیب به بتن های تیرچه وجود دارد.</a:t>
            </a:r>
          </a:p>
          <a:p>
            <a:pPr algn="r" rtl="1" fontAlgn="base">
              <a:buFont typeface="Arial" panose="020B0604020202020204" pitchFamily="34" charset="0"/>
              <a:buChar char="•"/>
            </a:pPr>
            <a:r>
              <a:rPr lang="fa-IR" sz="2400" b="0" i="0" dirty="0">
                <a:solidFill>
                  <a:srgbClr val="333333"/>
                </a:solidFill>
                <a:effectLst/>
                <a:latin typeface="body-font"/>
              </a:rPr>
              <a:t>به دلیل اینکه ریزش بتن در تیرچه و سقف در دو مرحله جداگانه انجام می شود، امکان ناهماهنگی بین آن ها وجود دارد. برای حل این مشکل باید حتی المقدور باید زمان بین نصب و بتن ریزی را کوتاه کرد.</a:t>
            </a:r>
          </a:p>
        </p:txBody>
      </p:sp>
    </p:spTree>
    <p:extLst>
      <p:ext uri="{BB962C8B-B14F-4D97-AF65-F5344CB8AC3E}">
        <p14:creationId xmlns:p14="http://schemas.microsoft.com/office/powerpoint/2010/main" val="303062612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C27B2-FA54-6BF0-8B2B-EC5FE8EAF953}"/>
              </a:ext>
            </a:extLst>
          </p:cNvPr>
          <p:cNvSpPr>
            <a:spLocks noGrp="1"/>
          </p:cNvSpPr>
          <p:nvPr>
            <p:ph type="title"/>
          </p:nvPr>
        </p:nvSpPr>
        <p:spPr/>
        <p:txBody>
          <a:bodyPr/>
          <a:lstStyle/>
          <a:p>
            <a:pPr algn="r"/>
            <a:r>
              <a:rPr lang="fa-IR" dirty="0">
                <a:cs typeface="B Nazanin" panose="00000400000000000000" pitchFamily="2" charset="-78"/>
              </a:rPr>
              <a:t>تیرچه بلوک :</a:t>
            </a:r>
            <a:endParaRPr lang="en-US" dirty="0">
              <a:cs typeface="B Nazanin" panose="00000400000000000000" pitchFamily="2" charset="-78"/>
            </a:endParaRPr>
          </a:p>
        </p:txBody>
      </p:sp>
      <p:sp>
        <p:nvSpPr>
          <p:cNvPr id="11" name="Slide Number Placeholder 10">
            <a:extLst>
              <a:ext uri="{FF2B5EF4-FFF2-40B4-BE49-F238E27FC236}">
                <a16:creationId xmlns:a16="http://schemas.microsoft.com/office/drawing/2014/main" id="{58365087-D81F-0033-D33C-D0C5F84571D6}"/>
              </a:ext>
            </a:extLst>
          </p:cNvPr>
          <p:cNvSpPr>
            <a:spLocks noGrp="1"/>
          </p:cNvSpPr>
          <p:nvPr>
            <p:ph type="sldNum" sz="quarter" idx="12"/>
          </p:nvPr>
        </p:nvSpPr>
        <p:spPr/>
        <p:txBody>
          <a:bodyPr/>
          <a:lstStyle/>
          <a:p>
            <a:fld id="{FAEF9944-A4F6-4C59-AEBD-678D6480B8EA}" type="slidenum">
              <a:rPr lang="en-US" smtClean="0"/>
              <a:t>59</a:t>
            </a:fld>
            <a:endParaRPr lang="en-US" dirty="0"/>
          </a:p>
        </p:txBody>
      </p:sp>
      <p:sp>
        <p:nvSpPr>
          <p:cNvPr id="12" name="TextBox 11">
            <a:extLst>
              <a:ext uri="{FF2B5EF4-FFF2-40B4-BE49-F238E27FC236}">
                <a16:creationId xmlns:a16="http://schemas.microsoft.com/office/drawing/2014/main" id="{3F8D0732-72B9-572A-6947-8C8F2ECE99EB}"/>
              </a:ext>
            </a:extLst>
          </p:cNvPr>
          <p:cNvSpPr txBox="1"/>
          <p:nvPr/>
        </p:nvSpPr>
        <p:spPr>
          <a:xfrm>
            <a:off x="73892" y="1819565"/>
            <a:ext cx="11896436" cy="2677656"/>
          </a:xfrm>
          <a:prstGeom prst="rect">
            <a:avLst/>
          </a:prstGeom>
          <a:noFill/>
        </p:spPr>
        <p:txBody>
          <a:bodyPr wrap="square" rtlCol="0">
            <a:spAutoFit/>
          </a:bodyPr>
          <a:lstStyle/>
          <a:p>
            <a:pPr algn="r" fontAlgn="base"/>
            <a:r>
              <a:rPr lang="fa-IR" sz="2400" b="1" i="0" dirty="0">
                <a:solidFill>
                  <a:srgbClr val="222222"/>
                </a:solidFill>
                <a:effectLst/>
                <a:latin typeface="Montserrat" panose="00000500000000000000" pitchFamily="2" charset="0"/>
              </a:rPr>
              <a:t>انواع تیرچه بلوک</a:t>
            </a:r>
          </a:p>
          <a:p>
            <a:pPr algn="r" fontAlgn="base"/>
            <a:r>
              <a:rPr lang="fa-IR" sz="2400" b="1" i="0" dirty="0">
                <a:solidFill>
                  <a:srgbClr val="222222"/>
                </a:solidFill>
                <a:effectLst/>
                <a:latin typeface="Montserrat" panose="00000500000000000000" pitchFamily="2" charset="0"/>
              </a:rPr>
              <a:t>1-تیرچه بتنی</a:t>
            </a:r>
          </a:p>
          <a:p>
            <a:pPr algn="r" fontAlgn="base"/>
            <a:r>
              <a:rPr lang="fa-IR" sz="2400" b="0" i="0" dirty="0">
                <a:solidFill>
                  <a:srgbClr val="333333"/>
                </a:solidFill>
                <a:effectLst/>
                <a:latin typeface="body-font"/>
              </a:rPr>
              <a:t>تیرچه بتنی، المانی است که از بتن و آرماتورهای فولادی و در کارخانه تولید می شود. در ساختار آن ها بلوک ها در میان تیرچه ها قرار گرفته و با بتن پوشیده می شوند. بر اساس روش تولید، تیرچه های بتنی در دو دسته خرپایی و پیش تنیده قرار می گیرند.</a:t>
            </a:r>
          </a:p>
          <a:p>
            <a:pPr algn="r" fontAlgn="base"/>
            <a:r>
              <a:rPr lang="fa-IR" sz="2400" b="0" i="0" dirty="0">
                <a:solidFill>
                  <a:srgbClr val="333333"/>
                </a:solidFill>
                <a:effectLst/>
                <a:latin typeface="body-font"/>
              </a:rPr>
              <a:t>قیمت تیرچه بتنی بر اساس طول و ارتفاع آن، متغیر می باشد. برای ساخت تیرچه بتنی، آرماتورهای اصلی مورد نیاز سقف باید به یک شبکه خرپایی با ایستایی کافی متصل شوند.</a:t>
            </a:r>
          </a:p>
        </p:txBody>
      </p:sp>
    </p:spTree>
    <p:extLst>
      <p:ext uri="{BB962C8B-B14F-4D97-AF65-F5344CB8AC3E}">
        <p14:creationId xmlns:p14="http://schemas.microsoft.com/office/powerpoint/2010/main" val="40474727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C27B2-FA54-6BF0-8B2B-EC5FE8EAF953}"/>
              </a:ext>
            </a:extLst>
          </p:cNvPr>
          <p:cNvSpPr>
            <a:spLocks noGrp="1"/>
          </p:cNvSpPr>
          <p:nvPr>
            <p:ph type="title"/>
          </p:nvPr>
        </p:nvSpPr>
        <p:spPr/>
        <p:txBody>
          <a:bodyPr/>
          <a:lstStyle/>
          <a:p>
            <a:pPr algn="r"/>
            <a:r>
              <a:rPr lang="fa-IR" dirty="0">
                <a:cs typeface="B Nazanin" panose="00000400000000000000" pitchFamily="2" charset="-78"/>
              </a:rPr>
              <a:t>تیرچه بلوک :</a:t>
            </a:r>
            <a:endParaRPr lang="en-US" dirty="0">
              <a:cs typeface="B Nazanin" panose="00000400000000000000" pitchFamily="2" charset="-78"/>
            </a:endParaRPr>
          </a:p>
        </p:txBody>
      </p:sp>
      <p:sp>
        <p:nvSpPr>
          <p:cNvPr id="11" name="Slide Number Placeholder 10">
            <a:extLst>
              <a:ext uri="{FF2B5EF4-FFF2-40B4-BE49-F238E27FC236}">
                <a16:creationId xmlns:a16="http://schemas.microsoft.com/office/drawing/2014/main" id="{58365087-D81F-0033-D33C-D0C5F84571D6}"/>
              </a:ext>
            </a:extLst>
          </p:cNvPr>
          <p:cNvSpPr>
            <a:spLocks noGrp="1"/>
          </p:cNvSpPr>
          <p:nvPr>
            <p:ph type="sldNum" sz="quarter" idx="12"/>
          </p:nvPr>
        </p:nvSpPr>
        <p:spPr/>
        <p:txBody>
          <a:bodyPr/>
          <a:lstStyle/>
          <a:p>
            <a:fld id="{FAEF9944-A4F6-4C59-AEBD-678D6480B8EA}" type="slidenum">
              <a:rPr lang="en-US" smtClean="0"/>
              <a:t>60</a:t>
            </a:fld>
            <a:endParaRPr lang="en-US" dirty="0"/>
          </a:p>
        </p:txBody>
      </p:sp>
      <p:sp>
        <p:nvSpPr>
          <p:cNvPr id="12" name="TextBox 11">
            <a:extLst>
              <a:ext uri="{FF2B5EF4-FFF2-40B4-BE49-F238E27FC236}">
                <a16:creationId xmlns:a16="http://schemas.microsoft.com/office/drawing/2014/main" id="{3F8D0732-72B9-572A-6947-8C8F2ECE99EB}"/>
              </a:ext>
            </a:extLst>
          </p:cNvPr>
          <p:cNvSpPr txBox="1"/>
          <p:nvPr/>
        </p:nvSpPr>
        <p:spPr>
          <a:xfrm>
            <a:off x="73892" y="1819565"/>
            <a:ext cx="11896436" cy="1938992"/>
          </a:xfrm>
          <a:prstGeom prst="rect">
            <a:avLst/>
          </a:prstGeom>
          <a:noFill/>
        </p:spPr>
        <p:txBody>
          <a:bodyPr wrap="square" rtlCol="0">
            <a:spAutoFit/>
          </a:bodyPr>
          <a:lstStyle/>
          <a:p>
            <a:pPr algn="r" fontAlgn="base"/>
            <a:r>
              <a:rPr lang="fa-IR" sz="2400" b="1" i="0" dirty="0">
                <a:solidFill>
                  <a:srgbClr val="222222"/>
                </a:solidFill>
                <a:effectLst/>
                <a:latin typeface="Montserrat" panose="00000500000000000000" pitchFamily="2" charset="0"/>
              </a:rPr>
              <a:t>تیرچه پاشنه بتنی</a:t>
            </a:r>
          </a:p>
          <a:p>
            <a:pPr algn="r" fontAlgn="base"/>
            <a:r>
              <a:rPr lang="fa-IR" sz="2400" b="0" i="0" dirty="0">
                <a:solidFill>
                  <a:srgbClr val="333333"/>
                </a:solidFill>
                <a:effectLst/>
                <a:latin typeface="body-font"/>
              </a:rPr>
              <a:t>به قسمت بتنی تیرچه خرپایی، پاشنه بتنی اطلاق می شود. این قسمت محل قرار گیری بتن بوده و به عنوان پوشش دهنده و مهار کننده میلگردهای زیرین خرپا عمل می کند.</a:t>
            </a:r>
          </a:p>
          <a:p>
            <a:pPr algn="r" fontAlgn="base"/>
            <a:r>
              <a:rPr lang="fa-IR" sz="2400" b="0" i="0" dirty="0">
                <a:solidFill>
                  <a:srgbClr val="333333"/>
                </a:solidFill>
                <a:effectLst/>
                <a:latin typeface="body-font"/>
              </a:rPr>
              <a:t>تیرچه پاشنه بتنی در اجرا سقف از اهمیت زیادی برخوردار بوده و در صورتی که مشکلی در ساختار آن وجود داشته باشد، جایگذاری بلوک ها با سختی رو به رو می شود.</a:t>
            </a:r>
          </a:p>
        </p:txBody>
      </p:sp>
    </p:spTree>
    <p:extLst>
      <p:ext uri="{BB962C8B-B14F-4D97-AF65-F5344CB8AC3E}">
        <p14:creationId xmlns:p14="http://schemas.microsoft.com/office/powerpoint/2010/main" val="267835944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C27B2-FA54-6BF0-8B2B-EC5FE8EAF953}"/>
              </a:ext>
            </a:extLst>
          </p:cNvPr>
          <p:cNvSpPr>
            <a:spLocks noGrp="1"/>
          </p:cNvSpPr>
          <p:nvPr>
            <p:ph type="title"/>
          </p:nvPr>
        </p:nvSpPr>
        <p:spPr/>
        <p:txBody>
          <a:bodyPr/>
          <a:lstStyle/>
          <a:p>
            <a:pPr algn="r"/>
            <a:r>
              <a:rPr lang="fa-IR" dirty="0">
                <a:cs typeface="B Nazanin" panose="00000400000000000000" pitchFamily="2" charset="-78"/>
              </a:rPr>
              <a:t>تیرچه بلوک :</a:t>
            </a:r>
            <a:endParaRPr lang="en-US" dirty="0">
              <a:cs typeface="B Nazanin" panose="00000400000000000000" pitchFamily="2" charset="-78"/>
            </a:endParaRPr>
          </a:p>
        </p:txBody>
      </p:sp>
      <p:sp>
        <p:nvSpPr>
          <p:cNvPr id="11" name="Slide Number Placeholder 10">
            <a:extLst>
              <a:ext uri="{FF2B5EF4-FFF2-40B4-BE49-F238E27FC236}">
                <a16:creationId xmlns:a16="http://schemas.microsoft.com/office/drawing/2014/main" id="{58365087-D81F-0033-D33C-D0C5F84571D6}"/>
              </a:ext>
            </a:extLst>
          </p:cNvPr>
          <p:cNvSpPr>
            <a:spLocks noGrp="1"/>
          </p:cNvSpPr>
          <p:nvPr>
            <p:ph type="sldNum" sz="quarter" idx="12"/>
          </p:nvPr>
        </p:nvSpPr>
        <p:spPr/>
        <p:txBody>
          <a:bodyPr/>
          <a:lstStyle/>
          <a:p>
            <a:fld id="{FAEF9944-A4F6-4C59-AEBD-678D6480B8EA}" type="slidenum">
              <a:rPr lang="en-US" smtClean="0"/>
              <a:t>61</a:t>
            </a:fld>
            <a:endParaRPr lang="en-US" dirty="0"/>
          </a:p>
        </p:txBody>
      </p:sp>
      <p:sp>
        <p:nvSpPr>
          <p:cNvPr id="12" name="TextBox 11">
            <a:extLst>
              <a:ext uri="{FF2B5EF4-FFF2-40B4-BE49-F238E27FC236}">
                <a16:creationId xmlns:a16="http://schemas.microsoft.com/office/drawing/2014/main" id="{3F8D0732-72B9-572A-6947-8C8F2ECE99EB}"/>
              </a:ext>
            </a:extLst>
          </p:cNvPr>
          <p:cNvSpPr txBox="1"/>
          <p:nvPr/>
        </p:nvSpPr>
        <p:spPr>
          <a:xfrm>
            <a:off x="73892" y="1819565"/>
            <a:ext cx="11896436" cy="1938992"/>
          </a:xfrm>
          <a:prstGeom prst="rect">
            <a:avLst/>
          </a:prstGeom>
          <a:noFill/>
        </p:spPr>
        <p:txBody>
          <a:bodyPr wrap="square" rtlCol="0">
            <a:spAutoFit/>
          </a:bodyPr>
          <a:lstStyle/>
          <a:p>
            <a:pPr algn="r" fontAlgn="base"/>
            <a:r>
              <a:rPr lang="fa-IR" sz="2400" b="1" i="0" dirty="0">
                <a:solidFill>
                  <a:srgbClr val="222222"/>
                </a:solidFill>
                <a:effectLst/>
                <a:latin typeface="Montserrat" panose="00000500000000000000" pitchFamily="2" charset="0"/>
              </a:rPr>
              <a:t>2-تیرچه کرومیت یا تیرچه فلزی</a:t>
            </a:r>
          </a:p>
          <a:p>
            <a:pPr algn="r" fontAlgn="base"/>
            <a:r>
              <a:rPr lang="fa-IR" sz="2400" b="0" i="0" u="none" strike="noStrike" dirty="0">
                <a:solidFill>
                  <a:srgbClr val="E84E89"/>
                </a:solidFill>
                <a:effectLst/>
                <a:latin typeface="body-font"/>
              </a:rPr>
              <a:t>سقف کرومیت</a:t>
            </a:r>
            <a:r>
              <a:rPr lang="fa-IR" sz="2400" b="0" i="0" dirty="0">
                <a:solidFill>
                  <a:srgbClr val="333333"/>
                </a:solidFill>
                <a:effectLst/>
                <a:latin typeface="body-font"/>
              </a:rPr>
              <a:t> که تیرچه فلزی نیز نام دارد، از یک تسمه یا ورق و دو بال در قسمت فوقانی و تحتانی تشکیل می شود. از مزایای استفاده از تیرچه کرومیت، افزایش سرعت اجرا سقف می باشد.</a:t>
            </a:r>
          </a:p>
          <a:p>
            <a:pPr algn="r" fontAlgn="base"/>
            <a:r>
              <a:rPr lang="fa-IR" sz="2400" b="0" i="0" dirty="0">
                <a:solidFill>
                  <a:srgbClr val="333333"/>
                </a:solidFill>
                <a:effectLst/>
                <a:latin typeface="body-font"/>
              </a:rPr>
              <a:t>عموما وزن این تیرچه ها با بارگذاری مسکونی و استفاده از تیرچه های 5 تا 6 متری نباید بیش از 10 کیلوگرم باشد. از عوامل تاثیرگذار بر قیمت تیرچه کرومیت، طول آن می باشد.</a:t>
            </a:r>
          </a:p>
        </p:txBody>
      </p:sp>
    </p:spTree>
    <p:extLst>
      <p:ext uri="{BB962C8B-B14F-4D97-AF65-F5344CB8AC3E}">
        <p14:creationId xmlns:p14="http://schemas.microsoft.com/office/powerpoint/2010/main" val="4429895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C27B2-FA54-6BF0-8B2B-EC5FE8EAF953}"/>
              </a:ext>
            </a:extLst>
          </p:cNvPr>
          <p:cNvSpPr>
            <a:spLocks noGrp="1"/>
          </p:cNvSpPr>
          <p:nvPr>
            <p:ph type="title"/>
          </p:nvPr>
        </p:nvSpPr>
        <p:spPr/>
        <p:txBody>
          <a:bodyPr/>
          <a:lstStyle/>
          <a:p>
            <a:pPr algn="r"/>
            <a:r>
              <a:rPr lang="fa-IR" dirty="0">
                <a:cs typeface="B Nazanin" panose="00000400000000000000" pitchFamily="2" charset="-78"/>
              </a:rPr>
              <a:t>تیرچه بلوک :</a:t>
            </a:r>
            <a:endParaRPr lang="en-US" dirty="0">
              <a:cs typeface="B Nazanin" panose="00000400000000000000" pitchFamily="2" charset="-78"/>
            </a:endParaRPr>
          </a:p>
        </p:txBody>
      </p:sp>
      <p:sp>
        <p:nvSpPr>
          <p:cNvPr id="11" name="Slide Number Placeholder 10">
            <a:extLst>
              <a:ext uri="{FF2B5EF4-FFF2-40B4-BE49-F238E27FC236}">
                <a16:creationId xmlns:a16="http://schemas.microsoft.com/office/drawing/2014/main" id="{58365087-D81F-0033-D33C-D0C5F84571D6}"/>
              </a:ext>
            </a:extLst>
          </p:cNvPr>
          <p:cNvSpPr>
            <a:spLocks noGrp="1"/>
          </p:cNvSpPr>
          <p:nvPr>
            <p:ph type="sldNum" sz="quarter" idx="12"/>
          </p:nvPr>
        </p:nvSpPr>
        <p:spPr/>
        <p:txBody>
          <a:bodyPr/>
          <a:lstStyle/>
          <a:p>
            <a:fld id="{FAEF9944-A4F6-4C59-AEBD-678D6480B8EA}" type="slidenum">
              <a:rPr lang="en-US" smtClean="0"/>
              <a:t>62</a:t>
            </a:fld>
            <a:endParaRPr lang="en-US" dirty="0"/>
          </a:p>
        </p:txBody>
      </p:sp>
      <p:sp>
        <p:nvSpPr>
          <p:cNvPr id="12" name="TextBox 11">
            <a:extLst>
              <a:ext uri="{FF2B5EF4-FFF2-40B4-BE49-F238E27FC236}">
                <a16:creationId xmlns:a16="http://schemas.microsoft.com/office/drawing/2014/main" id="{3F8D0732-72B9-572A-6947-8C8F2ECE99EB}"/>
              </a:ext>
            </a:extLst>
          </p:cNvPr>
          <p:cNvSpPr txBox="1"/>
          <p:nvPr/>
        </p:nvSpPr>
        <p:spPr>
          <a:xfrm>
            <a:off x="73892" y="1819565"/>
            <a:ext cx="11896436" cy="1200329"/>
          </a:xfrm>
          <a:prstGeom prst="rect">
            <a:avLst/>
          </a:prstGeom>
          <a:noFill/>
        </p:spPr>
        <p:txBody>
          <a:bodyPr wrap="square" rtlCol="0">
            <a:spAutoFit/>
          </a:bodyPr>
          <a:lstStyle/>
          <a:p>
            <a:pPr algn="r" fontAlgn="base"/>
            <a:r>
              <a:rPr lang="fa-IR" sz="2400" b="1" i="0" dirty="0">
                <a:solidFill>
                  <a:srgbClr val="222222"/>
                </a:solidFill>
                <a:effectLst/>
                <a:latin typeface="Montserrat" panose="00000500000000000000" pitchFamily="2" charset="0"/>
              </a:rPr>
              <a:t>3-تیرچه صنعتی</a:t>
            </a:r>
          </a:p>
          <a:p>
            <a:pPr algn="r" fontAlgn="base"/>
            <a:r>
              <a:rPr lang="fa-IR" sz="2400" b="0" i="0" dirty="0">
                <a:solidFill>
                  <a:srgbClr val="333333"/>
                </a:solidFill>
                <a:effectLst/>
                <a:latin typeface="body-font"/>
              </a:rPr>
              <a:t>تیرچه های صنعتی یا ماشینی متشکل از خرپایی فلزی است که میلگردهای برشی آن با استفاده از نقطه جوش به آرماتورهای تحتانی و فوقانی متصل می شوند. از عوامل موثر در قیمت تیرچه صنعتی، طول و ابعاد آن می باشد.</a:t>
            </a:r>
          </a:p>
        </p:txBody>
      </p:sp>
    </p:spTree>
    <p:extLst>
      <p:ext uri="{BB962C8B-B14F-4D97-AF65-F5344CB8AC3E}">
        <p14:creationId xmlns:p14="http://schemas.microsoft.com/office/powerpoint/2010/main" val="259780173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C27B2-FA54-6BF0-8B2B-EC5FE8EAF953}"/>
              </a:ext>
            </a:extLst>
          </p:cNvPr>
          <p:cNvSpPr>
            <a:spLocks noGrp="1"/>
          </p:cNvSpPr>
          <p:nvPr>
            <p:ph type="title"/>
          </p:nvPr>
        </p:nvSpPr>
        <p:spPr/>
        <p:txBody>
          <a:bodyPr/>
          <a:lstStyle/>
          <a:p>
            <a:pPr algn="r"/>
            <a:r>
              <a:rPr lang="fa-IR" dirty="0">
                <a:cs typeface="B Nazanin" panose="00000400000000000000" pitchFamily="2" charset="-78"/>
              </a:rPr>
              <a:t>تیرچه بلوک :</a:t>
            </a:r>
            <a:endParaRPr lang="en-US" dirty="0">
              <a:cs typeface="B Nazanin" panose="00000400000000000000" pitchFamily="2" charset="-78"/>
            </a:endParaRPr>
          </a:p>
        </p:txBody>
      </p:sp>
      <p:sp>
        <p:nvSpPr>
          <p:cNvPr id="11" name="Slide Number Placeholder 10">
            <a:extLst>
              <a:ext uri="{FF2B5EF4-FFF2-40B4-BE49-F238E27FC236}">
                <a16:creationId xmlns:a16="http://schemas.microsoft.com/office/drawing/2014/main" id="{58365087-D81F-0033-D33C-D0C5F84571D6}"/>
              </a:ext>
            </a:extLst>
          </p:cNvPr>
          <p:cNvSpPr>
            <a:spLocks noGrp="1"/>
          </p:cNvSpPr>
          <p:nvPr>
            <p:ph type="sldNum" sz="quarter" idx="12"/>
          </p:nvPr>
        </p:nvSpPr>
        <p:spPr/>
        <p:txBody>
          <a:bodyPr/>
          <a:lstStyle/>
          <a:p>
            <a:fld id="{FAEF9944-A4F6-4C59-AEBD-678D6480B8EA}" type="slidenum">
              <a:rPr lang="en-US" smtClean="0"/>
              <a:t>63</a:t>
            </a:fld>
            <a:endParaRPr lang="en-US" dirty="0"/>
          </a:p>
        </p:txBody>
      </p:sp>
      <p:sp>
        <p:nvSpPr>
          <p:cNvPr id="12" name="TextBox 11">
            <a:extLst>
              <a:ext uri="{FF2B5EF4-FFF2-40B4-BE49-F238E27FC236}">
                <a16:creationId xmlns:a16="http://schemas.microsoft.com/office/drawing/2014/main" id="{3F8D0732-72B9-572A-6947-8C8F2ECE99EB}"/>
              </a:ext>
            </a:extLst>
          </p:cNvPr>
          <p:cNvSpPr txBox="1"/>
          <p:nvPr/>
        </p:nvSpPr>
        <p:spPr>
          <a:xfrm>
            <a:off x="73892" y="2090172"/>
            <a:ext cx="11896436" cy="2308324"/>
          </a:xfrm>
          <a:prstGeom prst="rect">
            <a:avLst/>
          </a:prstGeom>
          <a:noFill/>
        </p:spPr>
        <p:txBody>
          <a:bodyPr wrap="square" rtlCol="0">
            <a:spAutoFit/>
          </a:bodyPr>
          <a:lstStyle/>
          <a:p>
            <a:pPr algn="r" fontAlgn="base"/>
            <a:r>
              <a:rPr lang="fa-IR" sz="2400" b="1" i="0" dirty="0">
                <a:solidFill>
                  <a:srgbClr val="222222"/>
                </a:solidFill>
                <a:effectLst/>
                <a:latin typeface="Montserrat" panose="00000500000000000000" pitchFamily="2" charset="0"/>
              </a:rPr>
              <a:t>بلوک</a:t>
            </a:r>
          </a:p>
          <a:p>
            <a:pPr algn="r" fontAlgn="base"/>
            <a:endParaRPr lang="fa-IR" sz="2400" b="1" i="0" dirty="0">
              <a:solidFill>
                <a:srgbClr val="222222"/>
              </a:solidFill>
              <a:effectLst/>
              <a:latin typeface="Montserrat" panose="00000500000000000000" pitchFamily="2" charset="0"/>
            </a:endParaRPr>
          </a:p>
          <a:p>
            <a:pPr algn="r" fontAlgn="base"/>
            <a:r>
              <a:rPr lang="fa-IR" sz="2400" b="0" i="0" dirty="0">
                <a:solidFill>
                  <a:srgbClr val="333333"/>
                </a:solidFill>
                <a:effectLst/>
                <a:latin typeface="body-font"/>
              </a:rPr>
              <a:t>در ساخت سقف تیرچه بلوک، این عنصر نقش پر کننده و در حکم قالب بتن می باشد. این بلوک ها باید دارای ویژگی هایی باشند. برای مثال در صورتی که قدرت جذب آب آن ها از 20 درصد بیش تر باشد، رطوبت گچ و خاک جذب آن می شود و پوک شدن آن را در پی دارد. هم چنین اگر این میزان از 13 درصد کم تر باشد، چسبندگی ملات به آن کم می شود و امکان طبله کردن آن وجود دارد. بلوکی که به منظور ساخت این نوع سقف مورد استفاده قرار می گیرد، بلوک پلی استایرن می باشد</a:t>
            </a:r>
          </a:p>
        </p:txBody>
      </p:sp>
    </p:spTree>
    <p:extLst>
      <p:ext uri="{BB962C8B-B14F-4D97-AF65-F5344CB8AC3E}">
        <p14:creationId xmlns:p14="http://schemas.microsoft.com/office/powerpoint/2010/main" val="214191590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C27B2-FA54-6BF0-8B2B-EC5FE8EAF953}"/>
              </a:ext>
            </a:extLst>
          </p:cNvPr>
          <p:cNvSpPr>
            <a:spLocks noGrp="1"/>
          </p:cNvSpPr>
          <p:nvPr>
            <p:ph type="title"/>
          </p:nvPr>
        </p:nvSpPr>
        <p:spPr/>
        <p:txBody>
          <a:bodyPr/>
          <a:lstStyle/>
          <a:p>
            <a:pPr algn="r"/>
            <a:r>
              <a:rPr lang="fa-IR" dirty="0">
                <a:cs typeface="B Nazanin" panose="00000400000000000000" pitchFamily="2" charset="-78"/>
              </a:rPr>
              <a:t>تیرچه بلوک :</a:t>
            </a:r>
            <a:endParaRPr lang="en-US" dirty="0">
              <a:cs typeface="B Nazanin" panose="00000400000000000000" pitchFamily="2" charset="-78"/>
            </a:endParaRPr>
          </a:p>
        </p:txBody>
      </p:sp>
      <p:sp>
        <p:nvSpPr>
          <p:cNvPr id="11" name="Slide Number Placeholder 10">
            <a:extLst>
              <a:ext uri="{FF2B5EF4-FFF2-40B4-BE49-F238E27FC236}">
                <a16:creationId xmlns:a16="http://schemas.microsoft.com/office/drawing/2014/main" id="{58365087-D81F-0033-D33C-D0C5F84571D6}"/>
              </a:ext>
            </a:extLst>
          </p:cNvPr>
          <p:cNvSpPr>
            <a:spLocks noGrp="1"/>
          </p:cNvSpPr>
          <p:nvPr>
            <p:ph type="sldNum" sz="quarter" idx="12"/>
          </p:nvPr>
        </p:nvSpPr>
        <p:spPr/>
        <p:txBody>
          <a:bodyPr/>
          <a:lstStyle/>
          <a:p>
            <a:fld id="{FAEF9944-A4F6-4C59-AEBD-678D6480B8EA}" type="slidenum">
              <a:rPr lang="en-US" smtClean="0"/>
              <a:t>64</a:t>
            </a:fld>
            <a:endParaRPr lang="en-US" dirty="0"/>
          </a:p>
        </p:txBody>
      </p:sp>
      <p:pic>
        <p:nvPicPr>
          <p:cNvPr id="3074" name="Picture 2" descr="انواع بلوک سبک سهند مینرال">
            <a:extLst>
              <a:ext uri="{FF2B5EF4-FFF2-40B4-BE49-F238E27FC236}">
                <a16:creationId xmlns:a16="http://schemas.microsoft.com/office/drawing/2014/main" id="{C8460801-4700-B3EA-C6E8-40F08D1CE1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5836" y="1356174"/>
            <a:ext cx="7541491" cy="471343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3D60E44-8D0F-E59B-21E1-EF8345ABA65E}"/>
              </a:ext>
            </a:extLst>
          </p:cNvPr>
          <p:cNvSpPr txBox="1"/>
          <p:nvPr/>
        </p:nvSpPr>
        <p:spPr>
          <a:xfrm>
            <a:off x="4999182" y="2387845"/>
            <a:ext cx="6802582" cy="2308324"/>
          </a:xfrm>
          <a:prstGeom prst="rect">
            <a:avLst/>
          </a:prstGeom>
          <a:noFill/>
        </p:spPr>
        <p:txBody>
          <a:bodyPr wrap="square">
            <a:spAutoFit/>
          </a:bodyPr>
          <a:lstStyle/>
          <a:p>
            <a:pPr algn="r" fontAlgn="base"/>
            <a:r>
              <a:rPr lang="fa-IR" sz="2400" b="0" i="0" dirty="0">
                <a:solidFill>
                  <a:srgbClr val="333333"/>
                </a:solidFill>
                <a:effectLst/>
                <a:latin typeface="body-font"/>
              </a:rPr>
              <a:t>.از مزایا استفاده از این بلوک می توان به کاهش وزن سقف در حدود صد کیلوگرم در هر متر مربع اشاره کرد.</a:t>
            </a:r>
          </a:p>
          <a:p>
            <a:pPr algn="r" fontAlgn="base"/>
            <a:r>
              <a:rPr lang="fa-IR" sz="2400" b="0" i="0" dirty="0">
                <a:solidFill>
                  <a:srgbClr val="333333"/>
                </a:solidFill>
                <a:effectLst/>
                <a:latin typeface="body-font"/>
              </a:rPr>
              <a:t>هم چنین به کارگیری آن ها سرعت اجرا را تا اندازه زیادی بالا می برد. این محصول در مقابل آتش سوزی مقاوم می باشد. نکته مهم استفاده از نمونه هایی است که از دانسیته بالا برخوردار می باشد و ساخت آن ها بر اساس استانداردها صورت بگیرد.</a:t>
            </a:r>
          </a:p>
        </p:txBody>
      </p:sp>
    </p:spTree>
    <p:extLst>
      <p:ext uri="{BB962C8B-B14F-4D97-AF65-F5344CB8AC3E}">
        <p14:creationId xmlns:p14="http://schemas.microsoft.com/office/powerpoint/2010/main" val="363642458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C27B2-FA54-6BF0-8B2B-EC5FE8EAF953}"/>
              </a:ext>
            </a:extLst>
          </p:cNvPr>
          <p:cNvSpPr>
            <a:spLocks noGrp="1"/>
          </p:cNvSpPr>
          <p:nvPr>
            <p:ph type="title"/>
          </p:nvPr>
        </p:nvSpPr>
        <p:spPr/>
        <p:txBody>
          <a:bodyPr/>
          <a:lstStyle/>
          <a:p>
            <a:pPr algn="r"/>
            <a:r>
              <a:rPr lang="fa-IR" dirty="0">
                <a:cs typeface="B Nazanin" panose="00000400000000000000" pitchFamily="2" charset="-78"/>
              </a:rPr>
              <a:t>تیرچه بلوک :</a:t>
            </a:r>
            <a:endParaRPr lang="en-US" dirty="0">
              <a:cs typeface="B Nazanin" panose="00000400000000000000" pitchFamily="2" charset="-78"/>
            </a:endParaRPr>
          </a:p>
        </p:txBody>
      </p:sp>
      <p:sp>
        <p:nvSpPr>
          <p:cNvPr id="11" name="Slide Number Placeholder 10">
            <a:extLst>
              <a:ext uri="{FF2B5EF4-FFF2-40B4-BE49-F238E27FC236}">
                <a16:creationId xmlns:a16="http://schemas.microsoft.com/office/drawing/2014/main" id="{58365087-D81F-0033-D33C-D0C5F84571D6}"/>
              </a:ext>
            </a:extLst>
          </p:cNvPr>
          <p:cNvSpPr>
            <a:spLocks noGrp="1"/>
          </p:cNvSpPr>
          <p:nvPr>
            <p:ph type="sldNum" sz="quarter" idx="12"/>
          </p:nvPr>
        </p:nvSpPr>
        <p:spPr/>
        <p:txBody>
          <a:bodyPr/>
          <a:lstStyle/>
          <a:p>
            <a:fld id="{FAEF9944-A4F6-4C59-AEBD-678D6480B8EA}" type="slidenum">
              <a:rPr lang="en-US" smtClean="0"/>
              <a:t>65</a:t>
            </a:fld>
            <a:endParaRPr lang="en-US" dirty="0"/>
          </a:p>
        </p:txBody>
      </p:sp>
      <p:sp>
        <p:nvSpPr>
          <p:cNvPr id="12" name="TextBox 11">
            <a:extLst>
              <a:ext uri="{FF2B5EF4-FFF2-40B4-BE49-F238E27FC236}">
                <a16:creationId xmlns:a16="http://schemas.microsoft.com/office/drawing/2014/main" id="{3F8D0732-72B9-572A-6947-8C8F2ECE99EB}"/>
              </a:ext>
            </a:extLst>
          </p:cNvPr>
          <p:cNvSpPr txBox="1"/>
          <p:nvPr/>
        </p:nvSpPr>
        <p:spPr>
          <a:xfrm>
            <a:off x="73892" y="1819565"/>
            <a:ext cx="11896436" cy="2677656"/>
          </a:xfrm>
          <a:prstGeom prst="rect">
            <a:avLst/>
          </a:prstGeom>
          <a:noFill/>
        </p:spPr>
        <p:txBody>
          <a:bodyPr wrap="square" rtlCol="0">
            <a:spAutoFit/>
          </a:bodyPr>
          <a:lstStyle/>
          <a:p>
            <a:pPr algn="r" fontAlgn="base"/>
            <a:r>
              <a:rPr lang="fa-IR" sz="2400" b="1" i="0" dirty="0">
                <a:solidFill>
                  <a:srgbClr val="222222"/>
                </a:solidFill>
                <a:effectLst/>
                <a:latin typeface="Montserrat" panose="00000500000000000000" pitchFamily="2" charset="0"/>
              </a:rPr>
              <a:t>مراحل ساخت بلوک مورد استفاده در تیرچه بلوک</a:t>
            </a:r>
            <a:endParaRPr lang="en-US" sz="2400" b="1" i="0" dirty="0">
              <a:solidFill>
                <a:srgbClr val="222222"/>
              </a:solidFill>
              <a:effectLst/>
              <a:latin typeface="Montserrat" panose="00000500000000000000" pitchFamily="2" charset="0"/>
            </a:endParaRPr>
          </a:p>
          <a:p>
            <a:pPr algn="r" fontAlgn="base"/>
            <a:endParaRPr lang="fa-IR" sz="2400" b="1" i="0" dirty="0">
              <a:solidFill>
                <a:srgbClr val="222222"/>
              </a:solidFill>
              <a:effectLst/>
              <a:latin typeface="Montserrat" panose="00000500000000000000" pitchFamily="2" charset="0"/>
            </a:endParaRPr>
          </a:p>
          <a:p>
            <a:pPr algn="r" fontAlgn="base"/>
            <a:r>
              <a:rPr lang="fa-IR" sz="2400" b="0" i="0" dirty="0">
                <a:solidFill>
                  <a:srgbClr val="333333"/>
                </a:solidFill>
                <a:effectLst/>
                <a:latin typeface="body-font"/>
              </a:rPr>
              <a:t>در ابتدا برای تهیه ملات بلوک، آب را با 15 فرغون فیلر، 1 فرغون ماسه بادی و 210 کیلوگرم سیمان مخلوط کنید. این مواد برای تولید حدود 180 عدد بلوک کافی می باشد. پس از حاضرشدن ملات، آن را در دستگاه بلوک زنی قرار دهید.</a:t>
            </a:r>
          </a:p>
          <a:p>
            <a:pPr algn="r" fontAlgn="base"/>
            <a:r>
              <a:rPr lang="fa-IR" sz="2400" b="0" i="0" dirty="0">
                <a:solidFill>
                  <a:srgbClr val="333333"/>
                </a:solidFill>
                <a:effectLst/>
                <a:latin typeface="body-font"/>
              </a:rPr>
              <a:t>این دستگاه ها قادرند 4 بلوک را به طور همزمان تولید کنند. پس از این که بلوک ها حاضر شدند، آن ها را بر روی سکویی قرار دهید تا خشک شوند. سپس هر روز به آن آب دهید تا از پوکی آن جلوگیری شود. بلوک ها در هوای آفتابی، پس از هفت روز حاضر و قابل استفاده می شوند.</a:t>
            </a:r>
          </a:p>
        </p:txBody>
      </p:sp>
    </p:spTree>
    <p:extLst>
      <p:ext uri="{BB962C8B-B14F-4D97-AF65-F5344CB8AC3E}">
        <p14:creationId xmlns:p14="http://schemas.microsoft.com/office/powerpoint/2010/main" val="270961508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C27B2-FA54-6BF0-8B2B-EC5FE8EAF953}"/>
              </a:ext>
            </a:extLst>
          </p:cNvPr>
          <p:cNvSpPr>
            <a:spLocks noGrp="1"/>
          </p:cNvSpPr>
          <p:nvPr>
            <p:ph type="title"/>
          </p:nvPr>
        </p:nvSpPr>
        <p:spPr/>
        <p:txBody>
          <a:bodyPr/>
          <a:lstStyle/>
          <a:p>
            <a:pPr algn="r"/>
            <a:r>
              <a:rPr lang="fa-IR" dirty="0">
                <a:cs typeface="B Nazanin" panose="00000400000000000000" pitchFamily="2" charset="-78"/>
              </a:rPr>
              <a:t>تیرچه بلوک :</a:t>
            </a:r>
            <a:endParaRPr lang="en-US" dirty="0">
              <a:cs typeface="B Nazanin" panose="00000400000000000000" pitchFamily="2" charset="-78"/>
            </a:endParaRPr>
          </a:p>
        </p:txBody>
      </p:sp>
      <p:sp>
        <p:nvSpPr>
          <p:cNvPr id="11" name="Slide Number Placeholder 10">
            <a:extLst>
              <a:ext uri="{FF2B5EF4-FFF2-40B4-BE49-F238E27FC236}">
                <a16:creationId xmlns:a16="http://schemas.microsoft.com/office/drawing/2014/main" id="{58365087-D81F-0033-D33C-D0C5F84571D6}"/>
              </a:ext>
            </a:extLst>
          </p:cNvPr>
          <p:cNvSpPr>
            <a:spLocks noGrp="1"/>
          </p:cNvSpPr>
          <p:nvPr>
            <p:ph type="sldNum" sz="quarter" idx="12"/>
          </p:nvPr>
        </p:nvSpPr>
        <p:spPr/>
        <p:txBody>
          <a:bodyPr/>
          <a:lstStyle/>
          <a:p>
            <a:fld id="{FAEF9944-A4F6-4C59-AEBD-678D6480B8EA}" type="slidenum">
              <a:rPr lang="en-US" smtClean="0"/>
              <a:t>66</a:t>
            </a:fld>
            <a:endParaRPr lang="en-US" dirty="0"/>
          </a:p>
        </p:txBody>
      </p:sp>
      <p:sp>
        <p:nvSpPr>
          <p:cNvPr id="12" name="TextBox 11">
            <a:extLst>
              <a:ext uri="{FF2B5EF4-FFF2-40B4-BE49-F238E27FC236}">
                <a16:creationId xmlns:a16="http://schemas.microsoft.com/office/drawing/2014/main" id="{3F8D0732-72B9-572A-6947-8C8F2ECE99EB}"/>
              </a:ext>
            </a:extLst>
          </p:cNvPr>
          <p:cNvSpPr txBox="1"/>
          <p:nvPr/>
        </p:nvSpPr>
        <p:spPr>
          <a:xfrm>
            <a:off x="73892" y="1819565"/>
            <a:ext cx="11896436" cy="1938992"/>
          </a:xfrm>
          <a:prstGeom prst="rect">
            <a:avLst/>
          </a:prstGeom>
          <a:noFill/>
        </p:spPr>
        <p:txBody>
          <a:bodyPr wrap="square" rtlCol="0">
            <a:spAutoFit/>
          </a:bodyPr>
          <a:lstStyle/>
          <a:p>
            <a:pPr algn="r" fontAlgn="base"/>
            <a:r>
              <a:rPr lang="fa-IR" sz="2400" b="1" i="0" dirty="0">
                <a:solidFill>
                  <a:srgbClr val="222222"/>
                </a:solidFill>
                <a:effectLst/>
                <a:latin typeface="Montserrat" panose="00000500000000000000" pitchFamily="2" charset="0"/>
              </a:rPr>
              <a:t>نحوه انبار نمودن تیرچه بلوک</a:t>
            </a:r>
            <a:endParaRPr lang="en-US" sz="2400" b="1" i="0" dirty="0">
              <a:solidFill>
                <a:srgbClr val="222222"/>
              </a:solidFill>
              <a:effectLst/>
              <a:latin typeface="Montserrat" panose="00000500000000000000" pitchFamily="2" charset="0"/>
            </a:endParaRPr>
          </a:p>
          <a:p>
            <a:pPr algn="r" fontAlgn="base"/>
            <a:endParaRPr lang="en-US" sz="2400" b="1" dirty="0">
              <a:solidFill>
                <a:srgbClr val="222222"/>
              </a:solidFill>
              <a:latin typeface="Montserrat" panose="00000500000000000000" pitchFamily="2" charset="0"/>
            </a:endParaRPr>
          </a:p>
          <a:p>
            <a:pPr algn="r" fontAlgn="base"/>
            <a:endParaRPr lang="fa-IR" sz="2400" b="1" i="0" dirty="0">
              <a:solidFill>
                <a:srgbClr val="222222"/>
              </a:solidFill>
              <a:effectLst/>
              <a:latin typeface="Montserrat" panose="00000500000000000000" pitchFamily="2" charset="0"/>
            </a:endParaRPr>
          </a:p>
          <a:p>
            <a:pPr algn="r" fontAlgn="base"/>
            <a:r>
              <a:rPr lang="fa-IR" sz="2400" b="0" i="0" dirty="0">
                <a:solidFill>
                  <a:srgbClr val="333333"/>
                </a:solidFill>
                <a:effectLst/>
                <a:latin typeface="body-font"/>
              </a:rPr>
              <a:t>برای انبارکردن و قراردادن تیرچه ها بر روی یکدیگر باید احتیاط لازم صورت پذیرد. چرا که باید به گونه ای قرار گیرند که بتن موجود در زیر آن ها خرد نشود. بهتر است تیرچه ها به پهلو خوابانده نشوند و بیش تر از ده ردیف بر روی هم قرار نگیرند.</a:t>
            </a:r>
          </a:p>
        </p:txBody>
      </p:sp>
    </p:spTree>
    <p:extLst>
      <p:ext uri="{BB962C8B-B14F-4D97-AF65-F5344CB8AC3E}">
        <p14:creationId xmlns:p14="http://schemas.microsoft.com/office/powerpoint/2010/main" val="154043182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C27B2-FA54-6BF0-8B2B-EC5FE8EAF953}"/>
              </a:ext>
            </a:extLst>
          </p:cNvPr>
          <p:cNvSpPr>
            <a:spLocks noGrp="1"/>
          </p:cNvSpPr>
          <p:nvPr>
            <p:ph type="title"/>
          </p:nvPr>
        </p:nvSpPr>
        <p:spPr/>
        <p:txBody>
          <a:bodyPr/>
          <a:lstStyle/>
          <a:p>
            <a:pPr algn="r"/>
            <a:r>
              <a:rPr lang="fa-IR" dirty="0">
                <a:cs typeface="B Nazanin" panose="00000400000000000000" pitchFamily="2" charset="-78"/>
              </a:rPr>
              <a:t>تیرچه بلوک :</a:t>
            </a:r>
            <a:endParaRPr lang="en-US" dirty="0">
              <a:cs typeface="B Nazanin" panose="00000400000000000000" pitchFamily="2" charset="-78"/>
            </a:endParaRPr>
          </a:p>
        </p:txBody>
      </p:sp>
      <p:sp>
        <p:nvSpPr>
          <p:cNvPr id="11" name="Slide Number Placeholder 10">
            <a:extLst>
              <a:ext uri="{FF2B5EF4-FFF2-40B4-BE49-F238E27FC236}">
                <a16:creationId xmlns:a16="http://schemas.microsoft.com/office/drawing/2014/main" id="{58365087-D81F-0033-D33C-D0C5F84571D6}"/>
              </a:ext>
            </a:extLst>
          </p:cNvPr>
          <p:cNvSpPr>
            <a:spLocks noGrp="1"/>
          </p:cNvSpPr>
          <p:nvPr>
            <p:ph type="sldNum" sz="quarter" idx="12"/>
          </p:nvPr>
        </p:nvSpPr>
        <p:spPr/>
        <p:txBody>
          <a:bodyPr/>
          <a:lstStyle/>
          <a:p>
            <a:fld id="{FAEF9944-A4F6-4C59-AEBD-678D6480B8EA}" type="slidenum">
              <a:rPr lang="en-US" smtClean="0"/>
              <a:t>67</a:t>
            </a:fld>
            <a:endParaRPr lang="en-US" dirty="0"/>
          </a:p>
        </p:txBody>
      </p:sp>
      <p:sp>
        <p:nvSpPr>
          <p:cNvPr id="12" name="TextBox 11">
            <a:extLst>
              <a:ext uri="{FF2B5EF4-FFF2-40B4-BE49-F238E27FC236}">
                <a16:creationId xmlns:a16="http://schemas.microsoft.com/office/drawing/2014/main" id="{3F8D0732-72B9-572A-6947-8C8F2ECE99EB}"/>
              </a:ext>
            </a:extLst>
          </p:cNvPr>
          <p:cNvSpPr txBox="1"/>
          <p:nvPr/>
        </p:nvSpPr>
        <p:spPr>
          <a:xfrm>
            <a:off x="0" y="1997839"/>
            <a:ext cx="11896436" cy="2862322"/>
          </a:xfrm>
          <a:prstGeom prst="rect">
            <a:avLst/>
          </a:prstGeom>
          <a:noFill/>
        </p:spPr>
        <p:txBody>
          <a:bodyPr wrap="square" rtlCol="0">
            <a:spAutoFit/>
          </a:bodyPr>
          <a:lstStyle/>
          <a:p>
            <a:pPr algn="r" fontAlgn="base"/>
            <a:r>
              <a:rPr lang="fa-IR" sz="2000" b="1" i="0" dirty="0">
                <a:solidFill>
                  <a:srgbClr val="222222"/>
                </a:solidFill>
                <a:effectLst/>
                <a:latin typeface="Montserrat" panose="00000500000000000000" pitchFamily="2" charset="0"/>
              </a:rPr>
              <a:t>نحوه اجرا سقف تیرچه بلوک</a:t>
            </a:r>
            <a:endParaRPr lang="en-US" sz="2000" b="1" i="0" dirty="0">
              <a:solidFill>
                <a:srgbClr val="222222"/>
              </a:solidFill>
              <a:effectLst/>
              <a:latin typeface="Montserrat" panose="00000500000000000000" pitchFamily="2" charset="0"/>
            </a:endParaRPr>
          </a:p>
          <a:p>
            <a:pPr algn="r" fontAlgn="base"/>
            <a:endParaRPr lang="en-US" sz="2000" b="1" dirty="0">
              <a:solidFill>
                <a:srgbClr val="222222"/>
              </a:solidFill>
              <a:latin typeface="Montserrat" panose="00000500000000000000" pitchFamily="2" charset="0"/>
            </a:endParaRPr>
          </a:p>
          <a:p>
            <a:pPr algn="r" fontAlgn="base"/>
            <a:endParaRPr lang="fa-IR" sz="2000" b="1" i="0" dirty="0">
              <a:solidFill>
                <a:srgbClr val="222222"/>
              </a:solidFill>
              <a:effectLst/>
              <a:latin typeface="Montserrat" panose="00000500000000000000" pitchFamily="2" charset="0"/>
            </a:endParaRPr>
          </a:p>
          <a:p>
            <a:pPr algn="r" fontAlgn="base"/>
            <a:r>
              <a:rPr lang="fa-IR" sz="2000" b="0" i="0" dirty="0">
                <a:solidFill>
                  <a:srgbClr val="333333"/>
                </a:solidFill>
                <a:effectLst/>
                <a:latin typeface="body-font"/>
              </a:rPr>
              <a:t>در ابتدا باید تیرچه ها را بر روی پل های اصلی یا همان تیرهای فلزی کار بگذارید. فاصله بین تیرچه ها را با بلوک های توخالی پر کنید و پس از اینکه میلگردهای حرارتی و میلگردهای تکمیلی را نصب کردید، بتن دال سقف را بریزید.</a:t>
            </a:r>
          </a:p>
          <a:p>
            <a:pPr algn="r" fontAlgn="base"/>
            <a:r>
              <a:rPr lang="fa-IR" sz="2000" b="0" i="0" dirty="0">
                <a:solidFill>
                  <a:srgbClr val="333333"/>
                </a:solidFill>
                <a:effectLst/>
                <a:latin typeface="body-font"/>
              </a:rPr>
              <a:t>به محض این که تیرچه ها و بلوک های انتهایی بین دو تکیه گاه اصلی قرار گرفتند، شمع بندی و قالب بندی به وسیله چهار تراش عمود بر تیرچه که در مورد تیرچه ها پیش ساخته خرپایی، فاصله آن ها از همدیگر ۱ تا ۱.۲ متر است، انجام می شود.</a:t>
            </a:r>
          </a:p>
          <a:p>
            <a:pPr algn="r" fontAlgn="base"/>
            <a:r>
              <a:rPr lang="fa-IR" sz="2000" b="0" i="0" dirty="0">
                <a:solidFill>
                  <a:srgbClr val="333333"/>
                </a:solidFill>
                <a:effectLst/>
                <a:latin typeface="body-font"/>
              </a:rPr>
              <a:t>همچنین آرماتورهای اصلی تیرچه باید به طول 15 تا 10 سانتی متر با تیرهای اصلی درگیر شوند و به هیچ وجه نباید این آرماتورها را به تیرهای فلزی جوش داد.</a:t>
            </a:r>
          </a:p>
        </p:txBody>
      </p:sp>
    </p:spTree>
    <p:extLst>
      <p:ext uri="{BB962C8B-B14F-4D97-AF65-F5344CB8AC3E}">
        <p14:creationId xmlns:p14="http://schemas.microsoft.com/office/powerpoint/2010/main" val="316642184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C27B2-FA54-6BF0-8B2B-EC5FE8EAF953}"/>
              </a:ext>
            </a:extLst>
          </p:cNvPr>
          <p:cNvSpPr>
            <a:spLocks noGrp="1"/>
          </p:cNvSpPr>
          <p:nvPr>
            <p:ph type="title"/>
          </p:nvPr>
        </p:nvSpPr>
        <p:spPr/>
        <p:txBody>
          <a:bodyPr/>
          <a:lstStyle/>
          <a:p>
            <a:pPr algn="r"/>
            <a:r>
              <a:rPr lang="fa-IR" dirty="0">
                <a:cs typeface="B Nazanin" panose="00000400000000000000" pitchFamily="2" charset="-78"/>
              </a:rPr>
              <a:t>تیرچه بلوک :</a:t>
            </a:r>
            <a:endParaRPr lang="en-US" dirty="0">
              <a:cs typeface="B Nazanin" panose="00000400000000000000" pitchFamily="2" charset="-78"/>
            </a:endParaRPr>
          </a:p>
        </p:txBody>
      </p:sp>
      <p:sp>
        <p:nvSpPr>
          <p:cNvPr id="11" name="Slide Number Placeholder 10">
            <a:extLst>
              <a:ext uri="{FF2B5EF4-FFF2-40B4-BE49-F238E27FC236}">
                <a16:creationId xmlns:a16="http://schemas.microsoft.com/office/drawing/2014/main" id="{58365087-D81F-0033-D33C-D0C5F84571D6}"/>
              </a:ext>
            </a:extLst>
          </p:cNvPr>
          <p:cNvSpPr>
            <a:spLocks noGrp="1"/>
          </p:cNvSpPr>
          <p:nvPr>
            <p:ph type="sldNum" sz="quarter" idx="12"/>
          </p:nvPr>
        </p:nvSpPr>
        <p:spPr/>
        <p:txBody>
          <a:bodyPr/>
          <a:lstStyle/>
          <a:p>
            <a:fld id="{FAEF9944-A4F6-4C59-AEBD-678D6480B8EA}" type="slidenum">
              <a:rPr lang="en-US" smtClean="0"/>
              <a:t>68</a:t>
            </a:fld>
            <a:endParaRPr lang="en-US" dirty="0"/>
          </a:p>
        </p:txBody>
      </p:sp>
      <p:sp>
        <p:nvSpPr>
          <p:cNvPr id="12" name="TextBox 11">
            <a:extLst>
              <a:ext uri="{FF2B5EF4-FFF2-40B4-BE49-F238E27FC236}">
                <a16:creationId xmlns:a16="http://schemas.microsoft.com/office/drawing/2014/main" id="{3F8D0732-72B9-572A-6947-8C8F2ECE99EB}"/>
              </a:ext>
            </a:extLst>
          </p:cNvPr>
          <p:cNvSpPr txBox="1"/>
          <p:nvPr/>
        </p:nvSpPr>
        <p:spPr>
          <a:xfrm>
            <a:off x="0" y="1597892"/>
            <a:ext cx="11896436" cy="2862322"/>
          </a:xfrm>
          <a:prstGeom prst="rect">
            <a:avLst/>
          </a:prstGeom>
          <a:noFill/>
        </p:spPr>
        <p:txBody>
          <a:bodyPr wrap="square" rtlCol="0">
            <a:spAutoFit/>
          </a:bodyPr>
          <a:lstStyle/>
          <a:p>
            <a:pPr algn="r" fontAlgn="base"/>
            <a:r>
              <a:rPr lang="fa-IR" sz="2000" b="1" i="0" dirty="0">
                <a:solidFill>
                  <a:srgbClr val="222222"/>
                </a:solidFill>
                <a:effectLst/>
                <a:latin typeface="Montserrat" panose="00000500000000000000" pitchFamily="2" charset="0"/>
              </a:rPr>
              <a:t>نحوه اجرا سقف تیرچه بلوک</a:t>
            </a:r>
          </a:p>
          <a:p>
            <a:pPr algn="r" fontAlgn="base"/>
            <a:endParaRPr lang="en-US" sz="2000" b="0" i="0" dirty="0">
              <a:solidFill>
                <a:srgbClr val="333333"/>
              </a:solidFill>
              <a:effectLst/>
              <a:latin typeface="body-font"/>
            </a:endParaRPr>
          </a:p>
          <a:p>
            <a:pPr algn="r" fontAlgn="base"/>
            <a:endParaRPr lang="en-US" sz="2000" dirty="0">
              <a:solidFill>
                <a:srgbClr val="333333"/>
              </a:solidFill>
              <a:latin typeface="body-font"/>
            </a:endParaRPr>
          </a:p>
          <a:p>
            <a:pPr algn="r" fontAlgn="base"/>
            <a:r>
              <a:rPr lang="fa-IR" sz="2000" b="0" i="0" dirty="0">
                <a:solidFill>
                  <a:srgbClr val="333333"/>
                </a:solidFill>
                <a:effectLst/>
                <a:latin typeface="body-font"/>
              </a:rPr>
              <a:t>تیرچه ها به استثنا تیرچه ها با جان باز، قبل از یکپارچه شدن سقف، توانایی تحمل بار را ندارند و باید توسط تعدادی چهارتراش و پایه به طور مناسبی نگهداری شوند.</a:t>
            </a:r>
          </a:p>
          <a:p>
            <a:pPr algn="r" fontAlgn="base"/>
            <a:r>
              <a:rPr lang="fa-IR" sz="2000" b="0" i="0" dirty="0">
                <a:solidFill>
                  <a:srgbClr val="333333"/>
                </a:solidFill>
                <a:effectLst/>
                <a:latin typeface="body-font"/>
              </a:rPr>
              <a:t>در زمان اجرا باید خیز مناسبی به تیرچه ها به سمت بالا داد تا بعد از اجرا و یکدست شدن سقف، این خیزها برداشته و حذف شوند. مقدار استفاده از خیز در کارگاه ها با تجربه بدست می آید اما معمولا برای هر متر طول دهانه، 2 میلی متر خیز را در نظر می گیرند.</a:t>
            </a:r>
          </a:p>
          <a:p>
            <a:pPr algn="r" fontAlgn="base"/>
            <a:r>
              <a:rPr lang="fa-IR" sz="2000" b="0" i="0" dirty="0">
                <a:solidFill>
                  <a:srgbClr val="333333"/>
                </a:solidFill>
                <a:effectLst/>
                <a:latin typeface="body-font"/>
              </a:rPr>
              <a:t>در واقع چار تراش و شمع باید به گونه ای نصب شوند که بتوانند در برابر نیروهای وارده مقاومت کنند. این تراش ها و شمع ها را باید طبق اصول و قواعد مربوط به آن ها، به یکدیگر متصل کنید. دقت کنید که زمان برداشتن پایه ها باید طبق مندرجات آیین نامه بتن ایران انجام گردد.</a:t>
            </a:r>
          </a:p>
        </p:txBody>
      </p:sp>
    </p:spTree>
    <p:extLst>
      <p:ext uri="{BB962C8B-B14F-4D97-AF65-F5344CB8AC3E}">
        <p14:creationId xmlns:p14="http://schemas.microsoft.com/office/powerpoint/2010/main" val="392319663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86BDF-EF06-4AF9-EA50-E8F56A64AB48}"/>
              </a:ext>
            </a:extLst>
          </p:cNvPr>
          <p:cNvSpPr>
            <a:spLocks noGrp="1"/>
          </p:cNvSpPr>
          <p:nvPr>
            <p:ph type="title"/>
          </p:nvPr>
        </p:nvSpPr>
        <p:spPr>
          <a:xfrm>
            <a:off x="2538288" y="2170545"/>
            <a:ext cx="7115423" cy="1745674"/>
          </a:xfrm>
        </p:spPr>
        <p:txBody>
          <a:bodyPr/>
          <a:lstStyle/>
          <a:p>
            <a:pPr algn="ctr"/>
            <a:r>
              <a:rPr lang="fa-IR" sz="6600" dirty="0">
                <a:solidFill>
                  <a:schemeClr val="tx1"/>
                </a:solidFill>
                <a:cs typeface="B Nazanin" panose="00000400000000000000" pitchFamily="2" charset="-78"/>
              </a:rPr>
              <a:t>سقف های کامپوزیت :</a:t>
            </a:r>
            <a:endParaRPr lang="en-US" sz="6600" dirty="0">
              <a:solidFill>
                <a:schemeClr val="tx1"/>
              </a:solidFill>
              <a:cs typeface="B Nazanin" panose="00000400000000000000" pitchFamily="2" charset="-78"/>
            </a:endParaRPr>
          </a:p>
        </p:txBody>
      </p:sp>
      <p:sp>
        <p:nvSpPr>
          <p:cNvPr id="11" name="Slide Number Placeholder 10">
            <a:extLst>
              <a:ext uri="{FF2B5EF4-FFF2-40B4-BE49-F238E27FC236}">
                <a16:creationId xmlns:a16="http://schemas.microsoft.com/office/drawing/2014/main" id="{C5CE3DCA-BB23-41B8-B650-A5666A33C4B3}"/>
              </a:ext>
            </a:extLst>
          </p:cNvPr>
          <p:cNvSpPr>
            <a:spLocks noGrp="1"/>
          </p:cNvSpPr>
          <p:nvPr>
            <p:ph type="sldNum" sz="quarter" idx="12"/>
          </p:nvPr>
        </p:nvSpPr>
        <p:spPr/>
        <p:txBody>
          <a:bodyPr/>
          <a:lstStyle/>
          <a:p>
            <a:fld id="{FAEF9944-A4F6-4C59-AEBD-678D6480B8EA}" type="slidenum">
              <a:rPr lang="en-US" smtClean="0"/>
              <a:t>69</a:t>
            </a:fld>
            <a:endParaRPr lang="en-US" dirty="0"/>
          </a:p>
        </p:txBody>
      </p:sp>
    </p:spTree>
    <p:extLst>
      <p:ext uri="{BB962C8B-B14F-4D97-AF65-F5344CB8AC3E}">
        <p14:creationId xmlns:p14="http://schemas.microsoft.com/office/powerpoint/2010/main" val="357531474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C27B2-FA54-6BF0-8B2B-EC5FE8EAF953}"/>
              </a:ext>
            </a:extLst>
          </p:cNvPr>
          <p:cNvSpPr>
            <a:spLocks noGrp="1"/>
          </p:cNvSpPr>
          <p:nvPr>
            <p:ph type="title"/>
          </p:nvPr>
        </p:nvSpPr>
        <p:spPr/>
        <p:txBody>
          <a:bodyPr/>
          <a:lstStyle/>
          <a:p>
            <a:pPr algn="r"/>
            <a:r>
              <a:rPr lang="fa-IR" dirty="0">
                <a:cs typeface="B Nazanin" panose="00000400000000000000" pitchFamily="2" charset="-78"/>
              </a:rPr>
              <a:t>سقف های کامپوزیت :</a:t>
            </a:r>
            <a:endParaRPr lang="en-US" dirty="0">
              <a:cs typeface="B Nazanin" panose="00000400000000000000" pitchFamily="2" charset="-78"/>
            </a:endParaRPr>
          </a:p>
        </p:txBody>
      </p:sp>
      <p:sp>
        <p:nvSpPr>
          <p:cNvPr id="11" name="Slide Number Placeholder 10">
            <a:extLst>
              <a:ext uri="{FF2B5EF4-FFF2-40B4-BE49-F238E27FC236}">
                <a16:creationId xmlns:a16="http://schemas.microsoft.com/office/drawing/2014/main" id="{58365087-D81F-0033-D33C-D0C5F84571D6}"/>
              </a:ext>
            </a:extLst>
          </p:cNvPr>
          <p:cNvSpPr>
            <a:spLocks noGrp="1"/>
          </p:cNvSpPr>
          <p:nvPr>
            <p:ph type="sldNum" sz="quarter" idx="12"/>
          </p:nvPr>
        </p:nvSpPr>
        <p:spPr/>
        <p:txBody>
          <a:bodyPr/>
          <a:lstStyle/>
          <a:p>
            <a:fld id="{FAEF9944-A4F6-4C59-AEBD-678D6480B8EA}" type="slidenum">
              <a:rPr lang="en-US" smtClean="0"/>
              <a:t>70</a:t>
            </a:fld>
            <a:endParaRPr lang="en-US" dirty="0"/>
          </a:p>
        </p:txBody>
      </p:sp>
      <p:sp>
        <p:nvSpPr>
          <p:cNvPr id="6" name="TextBox 5">
            <a:extLst>
              <a:ext uri="{FF2B5EF4-FFF2-40B4-BE49-F238E27FC236}">
                <a16:creationId xmlns:a16="http://schemas.microsoft.com/office/drawing/2014/main" id="{8B8EA45C-8D21-87E0-884A-9C57EA5096F4}"/>
              </a:ext>
            </a:extLst>
          </p:cNvPr>
          <p:cNvSpPr txBox="1"/>
          <p:nvPr/>
        </p:nvSpPr>
        <p:spPr>
          <a:xfrm>
            <a:off x="642917" y="2000148"/>
            <a:ext cx="10906163" cy="3046988"/>
          </a:xfrm>
          <a:prstGeom prst="rect">
            <a:avLst/>
          </a:prstGeom>
          <a:noFill/>
        </p:spPr>
        <p:txBody>
          <a:bodyPr wrap="square">
            <a:spAutoFit/>
          </a:bodyPr>
          <a:lstStyle/>
          <a:p>
            <a:pPr algn="r"/>
            <a:r>
              <a:rPr lang="fa-IR" sz="2400" b="1" i="0" dirty="0">
                <a:solidFill>
                  <a:srgbClr val="393939"/>
                </a:solidFill>
                <a:effectLst/>
                <a:latin typeface="inherit"/>
              </a:rPr>
              <a:t>سقف کامپوزیت چیست؟</a:t>
            </a:r>
          </a:p>
          <a:p>
            <a:pPr algn="r"/>
            <a:endParaRPr lang="fa-IR" sz="2400" b="1" i="0" dirty="0">
              <a:solidFill>
                <a:srgbClr val="393939"/>
              </a:solidFill>
              <a:effectLst/>
              <a:latin typeface="inherit"/>
            </a:endParaRPr>
          </a:p>
          <a:p>
            <a:pPr algn="r"/>
            <a:r>
              <a:rPr lang="fa-IR" sz="2400" b="0" i="0" dirty="0">
                <a:solidFill>
                  <a:srgbClr val="1E1E1E"/>
                </a:solidFill>
                <a:effectLst/>
                <a:latin typeface="IranSans"/>
              </a:rPr>
              <a:t>سقف کامپوزیت )</a:t>
            </a:r>
            <a:r>
              <a:rPr lang="en-US" sz="2400" b="0" i="0" dirty="0">
                <a:solidFill>
                  <a:srgbClr val="1E1E1E"/>
                </a:solidFill>
                <a:effectLst/>
                <a:latin typeface="IranSans"/>
              </a:rPr>
              <a:t>Composite Slab) </a:t>
            </a:r>
            <a:r>
              <a:rPr lang="fa-IR" sz="2400" b="0" i="0" dirty="0">
                <a:solidFill>
                  <a:srgbClr val="1E1E1E"/>
                </a:solidFill>
                <a:effectLst/>
                <a:latin typeface="IranSans"/>
              </a:rPr>
              <a:t>در حقیقت به نوعی از سقف‌های ساختمانی گفته می‌شود که از ترکیب پروفیل فولادی با بتن مسلح ساخته می‌شود و با نام‌های سقف مرکب و سقف مختلط نیز شناخته می‌شود. این نوع از سقف‌ها به عنوان عضو فشاری در بالای تیرآهن‌ها قرار می‌گیرند. میلگردهایی که روی سقف‌های کامپوزیت قرار دارند از نوع میلگرد حرارتی می‌باشند و در جهت مخالف با تیرهای فرعی به یکپارچگی بتن و درگیری کامل با سقف کمک می‌کنند. از آنجایی که این سقف‌ها قابلیت جوش به تیرهای فرعی را دارند مانع ترک خوردن بتن می‌شوند و می‌توانند برای ساختمان‌هایی که دارای اسکلت فلزی هستند گزینه بسیار مناسبی باشند.</a:t>
            </a:r>
          </a:p>
        </p:txBody>
      </p:sp>
    </p:spTree>
    <p:extLst>
      <p:ext uri="{BB962C8B-B14F-4D97-AF65-F5344CB8AC3E}">
        <p14:creationId xmlns:p14="http://schemas.microsoft.com/office/powerpoint/2010/main" val="356116059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C27B2-FA54-6BF0-8B2B-EC5FE8EAF953}"/>
              </a:ext>
            </a:extLst>
          </p:cNvPr>
          <p:cNvSpPr>
            <a:spLocks noGrp="1"/>
          </p:cNvSpPr>
          <p:nvPr>
            <p:ph type="title"/>
          </p:nvPr>
        </p:nvSpPr>
        <p:spPr/>
        <p:txBody>
          <a:bodyPr/>
          <a:lstStyle/>
          <a:p>
            <a:pPr algn="r"/>
            <a:r>
              <a:rPr lang="fa-IR" dirty="0">
                <a:cs typeface="B Nazanin" panose="00000400000000000000" pitchFamily="2" charset="-78"/>
              </a:rPr>
              <a:t>سقف های کامپوزیت :</a:t>
            </a:r>
            <a:endParaRPr lang="en-US" dirty="0">
              <a:cs typeface="B Nazanin" panose="00000400000000000000" pitchFamily="2" charset="-78"/>
            </a:endParaRPr>
          </a:p>
        </p:txBody>
      </p:sp>
      <p:sp>
        <p:nvSpPr>
          <p:cNvPr id="11" name="Slide Number Placeholder 10">
            <a:extLst>
              <a:ext uri="{FF2B5EF4-FFF2-40B4-BE49-F238E27FC236}">
                <a16:creationId xmlns:a16="http://schemas.microsoft.com/office/drawing/2014/main" id="{58365087-D81F-0033-D33C-D0C5F84571D6}"/>
              </a:ext>
            </a:extLst>
          </p:cNvPr>
          <p:cNvSpPr>
            <a:spLocks noGrp="1"/>
          </p:cNvSpPr>
          <p:nvPr>
            <p:ph type="sldNum" sz="quarter" idx="12"/>
          </p:nvPr>
        </p:nvSpPr>
        <p:spPr/>
        <p:txBody>
          <a:bodyPr/>
          <a:lstStyle/>
          <a:p>
            <a:fld id="{FAEF9944-A4F6-4C59-AEBD-678D6480B8EA}" type="slidenum">
              <a:rPr lang="en-US" smtClean="0"/>
              <a:t>71</a:t>
            </a:fld>
            <a:endParaRPr lang="en-US" dirty="0"/>
          </a:p>
        </p:txBody>
      </p:sp>
      <p:sp>
        <p:nvSpPr>
          <p:cNvPr id="6" name="TextBox 5">
            <a:extLst>
              <a:ext uri="{FF2B5EF4-FFF2-40B4-BE49-F238E27FC236}">
                <a16:creationId xmlns:a16="http://schemas.microsoft.com/office/drawing/2014/main" id="{8B8EA45C-8D21-87E0-884A-9C57EA5096F4}"/>
              </a:ext>
            </a:extLst>
          </p:cNvPr>
          <p:cNvSpPr txBox="1"/>
          <p:nvPr/>
        </p:nvSpPr>
        <p:spPr>
          <a:xfrm>
            <a:off x="855354" y="1630694"/>
            <a:ext cx="10906163" cy="2308324"/>
          </a:xfrm>
          <a:prstGeom prst="rect">
            <a:avLst/>
          </a:prstGeom>
          <a:noFill/>
        </p:spPr>
        <p:txBody>
          <a:bodyPr wrap="square">
            <a:spAutoFit/>
          </a:bodyPr>
          <a:lstStyle/>
          <a:p>
            <a:pPr algn="r"/>
            <a:r>
              <a:rPr lang="fa-IR" sz="2400" b="0" i="0" dirty="0">
                <a:solidFill>
                  <a:srgbClr val="1E1E1E"/>
                </a:solidFill>
                <a:effectLst/>
                <a:latin typeface="IranSans"/>
              </a:rPr>
              <a:t>اجزای سقف کامپوزیت:</a:t>
            </a:r>
          </a:p>
          <a:p>
            <a:pPr algn="r"/>
            <a:r>
              <a:rPr lang="fa-IR" sz="2400" b="0" i="0" dirty="0">
                <a:solidFill>
                  <a:srgbClr val="1E1E1E"/>
                </a:solidFill>
                <a:effectLst/>
                <a:latin typeface="IranSans"/>
              </a:rPr>
              <a:t>تمامی سقف‌های ساختمانی از اجزا و قطعات مختلفی تشکیل شده‌اند و سقف کامپوزیت نیز از این قاعده خارج نیست. به صورت کلی این سقف‌ها از اجزایی همچون بتن، ورق‌های فولادی (ورق‌های نورد شده، روفیکس و …)، تیرهای فرعی، آرماتورهای حرارتی (مش، میلگردها و الیاف‌های فولادی)، برشگیر، گل میخ و فلاشینگ ساخته می‌شوند.در اصل اجرای سقف کامپوزیت سرعت بالایی به ساخت‌وساز ساختمان‌ها می‌دهد و می‌تواند در کاهش هزینه‌ها نیز مؤثر باشد. هرچند که سقف‌های کامپوزیتی از فولاد و بتن ساخته می‌شوند .</a:t>
            </a:r>
          </a:p>
        </p:txBody>
      </p:sp>
      <p:pic>
        <p:nvPicPr>
          <p:cNvPr id="1026" name="Picture 2">
            <a:extLst>
              <a:ext uri="{FF2B5EF4-FFF2-40B4-BE49-F238E27FC236}">
                <a16:creationId xmlns:a16="http://schemas.microsoft.com/office/drawing/2014/main" id="{7413895D-0E60-EA32-1B52-2F9615264D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8935" y="3684643"/>
            <a:ext cx="4151662" cy="23083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981017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C27B2-FA54-6BF0-8B2B-EC5FE8EAF953}"/>
              </a:ext>
            </a:extLst>
          </p:cNvPr>
          <p:cNvSpPr>
            <a:spLocks noGrp="1"/>
          </p:cNvSpPr>
          <p:nvPr>
            <p:ph type="title"/>
          </p:nvPr>
        </p:nvSpPr>
        <p:spPr/>
        <p:txBody>
          <a:bodyPr/>
          <a:lstStyle/>
          <a:p>
            <a:pPr algn="r"/>
            <a:r>
              <a:rPr lang="fa-IR" dirty="0">
                <a:cs typeface="B Nazanin" panose="00000400000000000000" pitchFamily="2" charset="-78"/>
              </a:rPr>
              <a:t>سقف های کامپوزیت :</a:t>
            </a:r>
            <a:endParaRPr lang="en-US" dirty="0">
              <a:cs typeface="B Nazanin" panose="00000400000000000000" pitchFamily="2" charset="-78"/>
            </a:endParaRPr>
          </a:p>
        </p:txBody>
      </p:sp>
      <p:sp>
        <p:nvSpPr>
          <p:cNvPr id="11" name="Slide Number Placeholder 10">
            <a:extLst>
              <a:ext uri="{FF2B5EF4-FFF2-40B4-BE49-F238E27FC236}">
                <a16:creationId xmlns:a16="http://schemas.microsoft.com/office/drawing/2014/main" id="{58365087-D81F-0033-D33C-D0C5F84571D6}"/>
              </a:ext>
            </a:extLst>
          </p:cNvPr>
          <p:cNvSpPr>
            <a:spLocks noGrp="1"/>
          </p:cNvSpPr>
          <p:nvPr>
            <p:ph type="sldNum" sz="quarter" idx="12"/>
          </p:nvPr>
        </p:nvSpPr>
        <p:spPr/>
        <p:txBody>
          <a:bodyPr/>
          <a:lstStyle/>
          <a:p>
            <a:fld id="{FAEF9944-A4F6-4C59-AEBD-678D6480B8EA}" type="slidenum">
              <a:rPr lang="en-US" smtClean="0"/>
              <a:t>72</a:t>
            </a:fld>
            <a:endParaRPr lang="en-US" dirty="0"/>
          </a:p>
        </p:txBody>
      </p:sp>
      <p:sp>
        <p:nvSpPr>
          <p:cNvPr id="4" name="TextBox 3">
            <a:extLst>
              <a:ext uri="{FF2B5EF4-FFF2-40B4-BE49-F238E27FC236}">
                <a16:creationId xmlns:a16="http://schemas.microsoft.com/office/drawing/2014/main" id="{3FBA738C-AE95-1CAC-FCD4-B9522675578A}"/>
              </a:ext>
            </a:extLst>
          </p:cNvPr>
          <p:cNvSpPr txBox="1"/>
          <p:nvPr/>
        </p:nvSpPr>
        <p:spPr>
          <a:xfrm>
            <a:off x="885454" y="1667547"/>
            <a:ext cx="10900146" cy="2677656"/>
          </a:xfrm>
          <a:prstGeom prst="rect">
            <a:avLst/>
          </a:prstGeom>
          <a:noFill/>
        </p:spPr>
        <p:txBody>
          <a:bodyPr wrap="square">
            <a:spAutoFit/>
          </a:bodyPr>
          <a:lstStyle/>
          <a:p>
            <a:pPr algn="r"/>
            <a:r>
              <a:rPr lang="fa-IR" sz="2400" b="1" i="0" dirty="0">
                <a:solidFill>
                  <a:srgbClr val="393939"/>
                </a:solidFill>
                <a:effectLst/>
                <a:latin typeface="inherit"/>
              </a:rPr>
              <a:t>انواع سقف کامپوزیت</a:t>
            </a:r>
            <a:endParaRPr lang="en-US" sz="2400" b="1" i="0" dirty="0">
              <a:solidFill>
                <a:srgbClr val="393939"/>
              </a:solidFill>
              <a:effectLst/>
              <a:latin typeface="inherit"/>
            </a:endParaRPr>
          </a:p>
          <a:p>
            <a:pPr algn="r"/>
            <a:endParaRPr lang="fa-IR" sz="2400" b="0" i="0" dirty="0">
              <a:solidFill>
                <a:srgbClr val="393939"/>
              </a:solidFill>
              <a:effectLst/>
              <a:latin typeface="inherit"/>
            </a:endParaRPr>
          </a:p>
          <a:p>
            <a:pPr algn="r"/>
            <a:r>
              <a:rPr lang="fa-IR" sz="2400" b="0" i="0" dirty="0">
                <a:solidFill>
                  <a:srgbClr val="1E1E1E"/>
                </a:solidFill>
                <a:effectLst/>
                <a:latin typeface="IranSans"/>
              </a:rPr>
              <a:t>سقف‌های کامپوزیتی همانند انواع سقف‌های دیگر می‌توانند انواع مختلفی داشته باشند و هر کدام از آنها با داشتن ویژگی‌ها و مشخصات مختلف در سازه‌ها و ساختمان‌های متنوعی کاربرد داشته باشند. این سقف‌ها می‌توانند بر اساس نوع مصالح مصرفی در اجرا به دو دسته تقسیم شوند که شامل سقف‌های کامپوزیت ساده و سقف‌های عرشه فولادی هستند. همچنین بر اساس روش و نحوه اجرا می‌توان سقف‌های کامپوزیت را به ۴ دسته اصلی تقسیم کرد که به شرح زیر می‌باشند:</a:t>
            </a:r>
          </a:p>
        </p:txBody>
      </p:sp>
    </p:spTree>
    <p:extLst>
      <p:ext uri="{BB962C8B-B14F-4D97-AF65-F5344CB8AC3E}">
        <p14:creationId xmlns:p14="http://schemas.microsoft.com/office/powerpoint/2010/main" val="411168259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C27B2-FA54-6BF0-8B2B-EC5FE8EAF953}"/>
              </a:ext>
            </a:extLst>
          </p:cNvPr>
          <p:cNvSpPr>
            <a:spLocks noGrp="1"/>
          </p:cNvSpPr>
          <p:nvPr>
            <p:ph type="title"/>
          </p:nvPr>
        </p:nvSpPr>
        <p:spPr/>
        <p:txBody>
          <a:bodyPr/>
          <a:lstStyle/>
          <a:p>
            <a:pPr algn="r"/>
            <a:r>
              <a:rPr lang="fa-IR" dirty="0">
                <a:cs typeface="B Nazanin" panose="00000400000000000000" pitchFamily="2" charset="-78"/>
              </a:rPr>
              <a:t>سقف های کامپوزیت :</a:t>
            </a:r>
            <a:endParaRPr lang="en-US" dirty="0">
              <a:cs typeface="B Nazanin" panose="00000400000000000000" pitchFamily="2" charset="-78"/>
            </a:endParaRPr>
          </a:p>
        </p:txBody>
      </p:sp>
      <p:sp>
        <p:nvSpPr>
          <p:cNvPr id="11" name="Slide Number Placeholder 10">
            <a:extLst>
              <a:ext uri="{FF2B5EF4-FFF2-40B4-BE49-F238E27FC236}">
                <a16:creationId xmlns:a16="http://schemas.microsoft.com/office/drawing/2014/main" id="{58365087-D81F-0033-D33C-D0C5F84571D6}"/>
              </a:ext>
            </a:extLst>
          </p:cNvPr>
          <p:cNvSpPr>
            <a:spLocks noGrp="1"/>
          </p:cNvSpPr>
          <p:nvPr>
            <p:ph type="sldNum" sz="quarter" idx="12"/>
          </p:nvPr>
        </p:nvSpPr>
        <p:spPr/>
        <p:txBody>
          <a:bodyPr/>
          <a:lstStyle/>
          <a:p>
            <a:fld id="{FAEF9944-A4F6-4C59-AEBD-678D6480B8EA}" type="slidenum">
              <a:rPr lang="en-US" smtClean="0"/>
              <a:t>73</a:t>
            </a:fld>
            <a:endParaRPr lang="en-US" dirty="0"/>
          </a:p>
        </p:txBody>
      </p:sp>
      <p:sp>
        <p:nvSpPr>
          <p:cNvPr id="4" name="TextBox 3">
            <a:extLst>
              <a:ext uri="{FF2B5EF4-FFF2-40B4-BE49-F238E27FC236}">
                <a16:creationId xmlns:a16="http://schemas.microsoft.com/office/drawing/2014/main" id="{3FBA738C-AE95-1CAC-FCD4-B9522675578A}"/>
              </a:ext>
            </a:extLst>
          </p:cNvPr>
          <p:cNvSpPr txBox="1"/>
          <p:nvPr/>
        </p:nvSpPr>
        <p:spPr>
          <a:xfrm>
            <a:off x="885454" y="1667547"/>
            <a:ext cx="10900146" cy="2308324"/>
          </a:xfrm>
          <a:prstGeom prst="rect">
            <a:avLst/>
          </a:prstGeom>
          <a:noFill/>
        </p:spPr>
        <p:txBody>
          <a:bodyPr wrap="square">
            <a:spAutoFit/>
          </a:bodyPr>
          <a:lstStyle/>
          <a:p>
            <a:pPr algn="r"/>
            <a:r>
              <a:rPr lang="fa-IR" sz="2400" b="1" i="0" dirty="0">
                <a:solidFill>
                  <a:srgbClr val="393939"/>
                </a:solidFill>
                <a:effectLst/>
                <a:latin typeface="inherit"/>
              </a:rPr>
              <a:t>سقف کامپوزیت عرشه فولادی</a:t>
            </a:r>
          </a:p>
          <a:p>
            <a:pPr algn="r"/>
            <a:r>
              <a:rPr lang="fa-IR" sz="2400" b="0" i="0" dirty="0">
                <a:solidFill>
                  <a:srgbClr val="1E1E1E"/>
                </a:solidFill>
                <a:effectLst/>
                <a:latin typeface="IranSans"/>
              </a:rPr>
              <a:t>این نوع سقف نیز توسط ترکیب ورق‌های فلزی گالوانیزه موجدار با بتن اجرا می‌شود و از رایج‌ترین و محبوب‌ترین انواع سقف‌ها است. اجرای این سقف‌ها نیز می‌تواند در ۶ مرحله شامل جانمایی ورق فولادی، تثبیت ورق فولادی (همراه با فلاشینگ)، اتصال ورق فولادی به تیر، آرماتوربندی، اتصال گل‌میخ به شبکه میلگردها و بتن‌ریزی اجرا می‌شوند. این سقف‌ها معمولاً از ورق گالوانیزه ذوزنقه‌ای، برشگیر، آرماتور، بتن، تیر فرعی و فلاشینگ تشکیل می‌شود.</a:t>
            </a:r>
          </a:p>
        </p:txBody>
      </p:sp>
      <p:pic>
        <p:nvPicPr>
          <p:cNvPr id="4098" name="Picture 2" descr="سقف عرشه فولادی">
            <a:extLst>
              <a:ext uri="{FF2B5EF4-FFF2-40B4-BE49-F238E27FC236}">
                <a16:creationId xmlns:a16="http://schemas.microsoft.com/office/drawing/2014/main" id="{14F1CAB3-70DA-217B-2113-B3DEE1F330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5454" y="3704526"/>
            <a:ext cx="4164217" cy="235972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557C41C-7BE9-22B3-6FEB-7882EC412DB7}"/>
              </a:ext>
            </a:extLst>
          </p:cNvPr>
          <p:cNvSpPr txBox="1"/>
          <p:nvPr/>
        </p:nvSpPr>
        <p:spPr>
          <a:xfrm>
            <a:off x="5874328" y="4422722"/>
            <a:ext cx="6096000" cy="1015663"/>
          </a:xfrm>
          <a:prstGeom prst="rect">
            <a:avLst/>
          </a:prstGeom>
          <a:noFill/>
        </p:spPr>
        <p:txBody>
          <a:bodyPr wrap="square">
            <a:spAutoFit/>
          </a:bodyPr>
          <a:lstStyle/>
          <a:p>
            <a:pPr algn="r"/>
            <a:r>
              <a:rPr lang="fa-IR" sz="2000" b="1" i="0" dirty="0">
                <a:effectLst/>
                <a:latin typeface="Vazirmatn"/>
              </a:rPr>
              <a:t>مزایای سقف کامپوزیت عرشه فولادی چه هستند؟</a:t>
            </a:r>
          </a:p>
          <a:p>
            <a:pPr algn="r"/>
            <a:r>
              <a:rPr lang="fa-IR" sz="2000" b="0" i="0" dirty="0">
                <a:solidFill>
                  <a:srgbClr val="1C1917"/>
                </a:solidFill>
                <a:effectLst/>
                <a:latin typeface="Vazirmatn"/>
              </a:rPr>
              <a:t>سقف‌های عرشه فولادی علاوه بر مزایای عمومی سقف‌های کامپوزیت، مقاومت بالایی در برابر آتش‌سوزی و زلزله دارند.</a:t>
            </a:r>
          </a:p>
        </p:txBody>
      </p:sp>
    </p:spTree>
    <p:extLst>
      <p:ext uri="{BB962C8B-B14F-4D97-AF65-F5344CB8AC3E}">
        <p14:creationId xmlns:p14="http://schemas.microsoft.com/office/powerpoint/2010/main" val="255192832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C27B2-FA54-6BF0-8B2B-EC5FE8EAF953}"/>
              </a:ext>
            </a:extLst>
          </p:cNvPr>
          <p:cNvSpPr>
            <a:spLocks noGrp="1"/>
          </p:cNvSpPr>
          <p:nvPr>
            <p:ph type="title"/>
          </p:nvPr>
        </p:nvSpPr>
        <p:spPr/>
        <p:txBody>
          <a:bodyPr/>
          <a:lstStyle/>
          <a:p>
            <a:pPr algn="r"/>
            <a:r>
              <a:rPr lang="fa-IR" dirty="0">
                <a:cs typeface="B Nazanin" panose="00000400000000000000" pitchFamily="2" charset="-78"/>
              </a:rPr>
              <a:t>سقف های کامپوزیت :</a:t>
            </a:r>
            <a:endParaRPr lang="en-US" dirty="0">
              <a:cs typeface="B Nazanin" panose="00000400000000000000" pitchFamily="2" charset="-78"/>
            </a:endParaRPr>
          </a:p>
        </p:txBody>
      </p:sp>
      <p:sp>
        <p:nvSpPr>
          <p:cNvPr id="11" name="Slide Number Placeholder 10">
            <a:extLst>
              <a:ext uri="{FF2B5EF4-FFF2-40B4-BE49-F238E27FC236}">
                <a16:creationId xmlns:a16="http://schemas.microsoft.com/office/drawing/2014/main" id="{58365087-D81F-0033-D33C-D0C5F84571D6}"/>
              </a:ext>
            </a:extLst>
          </p:cNvPr>
          <p:cNvSpPr>
            <a:spLocks noGrp="1"/>
          </p:cNvSpPr>
          <p:nvPr>
            <p:ph type="sldNum" sz="quarter" idx="12"/>
          </p:nvPr>
        </p:nvSpPr>
        <p:spPr/>
        <p:txBody>
          <a:bodyPr/>
          <a:lstStyle/>
          <a:p>
            <a:fld id="{FAEF9944-A4F6-4C59-AEBD-678D6480B8EA}" type="slidenum">
              <a:rPr lang="en-US" smtClean="0"/>
              <a:t>74</a:t>
            </a:fld>
            <a:endParaRPr lang="en-US" dirty="0"/>
          </a:p>
        </p:txBody>
      </p:sp>
      <p:sp>
        <p:nvSpPr>
          <p:cNvPr id="4" name="TextBox 3">
            <a:extLst>
              <a:ext uri="{FF2B5EF4-FFF2-40B4-BE49-F238E27FC236}">
                <a16:creationId xmlns:a16="http://schemas.microsoft.com/office/drawing/2014/main" id="{3FBA738C-AE95-1CAC-FCD4-B9522675578A}"/>
              </a:ext>
            </a:extLst>
          </p:cNvPr>
          <p:cNvSpPr txBox="1"/>
          <p:nvPr/>
        </p:nvSpPr>
        <p:spPr>
          <a:xfrm>
            <a:off x="885454" y="1667547"/>
            <a:ext cx="10900146" cy="2677656"/>
          </a:xfrm>
          <a:prstGeom prst="rect">
            <a:avLst/>
          </a:prstGeom>
          <a:noFill/>
        </p:spPr>
        <p:txBody>
          <a:bodyPr wrap="square">
            <a:spAutoFit/>
          </a:bodyPr>
          <a:lstStyle/>
          <a:p>
            <a:pPr algn="r"/>
            <a:r>
              <a:rPr lang="fa-IR" sz="2400" b="1" i="0" dirty="0">
                <a:effectLst/>
                <a:latin typeface="Vazirmatn"/>
              </a:rPr>
              <a:t>سقف کامپوزیت روفیکس</a:t>
            </a:r>
          </a:p>
          <a:p>
            <a:pPr algn="r"/>
            <a:r>
              <a:rPr lang="fa-IR" sz="2400" b="0" i="0" dirty="0">
                <a:solidFill>
                  <a:srgbClr val="1C1917"/>
                </a:solidFill>
                <a:effectLst/>
                <a:latin typeface="Vazirmatn"/>
              </a:rPr>
              <a:t>سقف‌های کامپوزیت روفیکس، از روش‌های اجرای سقف و کف با استفاده از قالب‌های فلزی مشبک ماندگار هستند. روفیکس، ورق فولادی مشبک با ابعاد تقریبی 82 سانتی‌متر در 12 متر است. در اجرای سقف‌های کامپوزیت روفیکس، ابتدا ورق فولادی مشبک توسط دست یا جرثقیل به محل مورد نظر انتقال داده می‌شود. سپس، جوشکاری روفیکس بر روی برشگیرهای تیرهای فرعی صورت می‌گیرد. در مرحله بعد، به منظور ایجاد ارتفاع کافی برای قرار دادن شبکه میلگردها، چندین فاصله دهنده یا اصطلاحا «اسپیسر» (</a:t>
            </a:r>
            <a:r>
              <a:rPr lang="en-US" sz="2400" b="0" i="0" dirty="0">
                <a:solidFill>
                  <a:srgbClr val="1C1917"/>
                </a:solidFill>
                <a:effectLst/>
                <a:latin typeface="Vazirmatn"/>
              </a:rPr>
              <a:t>Spacer) </a:t>
            </a:r>
            <a:r>
              <a:rPr lang="fa-IR" sz="2400" b="0" i="0" dirty="0">
                <a:solidFill>
                  <a:srgbClr val="1C1917"/>
                </a:solidFill>
                <a:effectLst/>
                <a:latin typeface="Vazirmatn"/>
              </a:rPr>
              <a:t>بر روی تیرها نصب می‌شود. با اتمام آرماتوربندی، بتن‌ریزی در آخرین مرحله صورت می‌گیرد.</a:t>
            </a:r>
          </a:p>
        </p:txBody>
      </p:sp>
    </p:spTree>
    <p:extLst>
      <p:ext uri="{BB962C8B-B14F-4D97-AF65-F5344CB8AC3E}">
        <p14:creationId xmlns:p14="http://schemas.microsoft.com/office/powerpoint/2010/main" val="30750144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0663FE1-12F1-314E-CA0C-5D366BF071D7}"/>
              </a:ext>
            </a:extLst>
          </p:cNvPr>
          <p:cNvSpPr>
            <a:spLocks noGrp="1"/>
          </p:cNvSpPr>
          <p:nvPr>
            <p:ph type="sldNum" sz="quarter" idx="12"/>
          </p:nvPr>
        </p:nvSpPr>
        <p:spPr/>
        <p:txBody>
          <a:bodyPr/>
          <a:lstStyle/>
          <a:p>
            <a:fld id="{FAEF9944-A4F6-4C59-AEBD-678D6480B8EA}" type="slidenum">
              <a:rPr lang="en-US" smtClean="0"/>
              <a:t>75</a:t>
            </a:fld>
            <a:endParaRPr lang="en-US" dirty="0"/>
          </a:p>
        </p:txBody>
      </p:sp>
      <p:pic>
        <p:nvPicPr>
          <p:cNvPr id="6146" name="Picture 2" descr="روفیکس">
            <a:extLst>
              <a:ext uri="{FF2B5EF4-FFF2-40B4-BE49-F238E27FC236}">
                <a16:creationId xmlns:a16="http://schemas.microsoft.com/office/drawing/2014/main" id="{46B2E60F-9C34-DC0A-562E-384A45B690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3500" y="571500"/>
            <a:ext cx="4762500" cy="266700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سقف روفیکس">
            <a:extLst>
              <a:ext uri="{FF2B5EF4-FFF2-40B4-BE49-F238E27FC236}">
                <a16:creationId xmlns:a16="http://schemas.microsoft.com/office/drawing/2014/main" id="{E68DC15E-A3A8-7DA8-BF76-731EC2074E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6581" y="566737"/>
            <a:ext cx="4762500" cy="267652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EB932D2-4F61-5075-C967-AB319557CEF9}"/>
              </a:ext>
            </a:extLst>
          </p:cNvPr>
          <p:cNvSpPr txBox="1"/>
          <p:nvPr/>
        </p:nvSpPr>
        <p:spPr>
          <a:xfrm>
            <a:off x="2429163" y="3429000"/>
            <a:ext cx="6096000" cy="369332"/>
          </a:xfrm>
          <a:prstGeom prst="rect">
            <a:avLst/>
          </a:prstGeom>
          <a:noFill/>
        </p:spPr>
        <p:txBody>
          <a:bodyPr wrap="square">
            <a:spAutoFit/>
          </a:bodyPr>
          <a:lstStyle/>
          <a:p>
            <a:r>
              <a:rPr lang="fa-IR" b="1" i="0" dirty="0">
                <a:solidFill>
                  <a:srgbClr val="1C1917"/>
                </a:solidFill>
                <a:effectLst/>
                <a:latin typeface="Vazirmatn"/>
              </a:rPr>
              <a:t>ورق‌های فولادی مشبک روفیکس</a:t>
            </a:r>
            <a:endParaRPr lang="en-US" dirty="0">
              <a:latin typeface="Arial Unicode MS" panose="020B0604020202020204" pitchFamily="34" charset="-128"/>
            </a:endParaRPr>
          </a:p>
        </p:txBody>
      </p:sp>
      <p:sp>
        <p:nvSpPr>
          <p:cNvPr id="9" name="TextBox 8">
            <a:extLst>
              <a:ext uri="{FF2B5EF4-FFF2-40B4-BE49-F238E27FC236}">
                <a16:creationId xmlns:a16="http://schemas.microsoft.com/office/drawing/2014/main" id="{7C093FE9-3EEF-7993-769C-A6EC8786EB1E}"/>
              </a:ext>
            </a:extLst>
          </p:cNvPr>
          <p:cNvSpPr txBox="1"/>
          <p:nvPr/>
        </p:nvSpPr>
        <p:spPr>
          <a:xfrm>
            <a:off x="6243782" y="3429000"/>
            <a:ext cx="6096000" cy="369332"/>
          </a:xfrm>
          <a:prstGeom prst="rect">
            <a:avLst/>
          </a:prstGeom>
          <a:noFill/>
        </p:spPr>
        <p:txBody>
          <a:bodyPr wrap="square">
            <a:spAutoFit/>
          </a:bodyPr>
          <a:lstStyle/>
          <a:p>
            <a:r>
              <a:rPr lang="fa-IR" b="1" i="0" dirty="0">
                <a:solidFill>
                  <a:srgbClr val="1C1917"/>
                </a:solidFill>
                <a:effectLst/>
                <a:latin typeface="Vazirmatn"/>
              </a:rPr>
              <a:t>نصب قالب‌های روفیکس بر روی برشگیرهای جوش داده شده بر روی تیرها</a:t>
            </a:r>
            <a:endParaRPr lang="en-US" dirty="0">
              <a:latin typeface="Arial Unicode MS" panose="020B0604020202020204" pitchFamily="34" charset="-128"/>
            </a:endParaRPr>
          </a:p>
        </p:txBody>
      </p:sp>
      <p:sp>
        <p:nvSpPr>
          <p:cNvPr id="3" name="TextBox 2">
            <a:extLst>
              <a:ext uri="{FF2B5EF4-FFF2-40B4-BE49-F238E27FC236}">
                <a16:creationId xmlns:a16="http://schemas.microsoft.com/office/drawing/2014/main" id="{93218C25-D996-6B66-1F1E-A662BB1FE62A}"/>
              </a:ext>
            </a:extLst>
          </p:cNvPr>
          <p:cNvSpPr txBox="1"/>
          <p:nvPr/>
        </p:nvSpPr>
        <p:spPr>
          <a:xfrm>
            <a:off x="1117600" y="5041642"/>
            <a:ext cx="10861963" cy="707886"/>
          </a:xfrm>
          <a:prstGeom prst="rect">
            <a:avLst/>
          </a:prstGeom>
          <a:noFill/>
        </p:spPr>
        <p:txBody>
          <a:bodyPr wrap="square">
            <a:spAutoFit/>
          </a:bodyPr>
          <a:lstStyle/>
          <a:p>
            <a:pPr algn="r"/>
            <a:r>
              <a:rPr lang="fa-IR" sz="2000" b="1" i="0" dirty="0">
                <a:solidFill>
                  <a:schemeClr val="bg1"/>
                </a:solidFill>
                <a:effectLst/>
                <a:latin typeface="Vazirmatn"/>
              </a:rPr>
              <a:t>نکته</a:t>
            </a:r>
            <a:r>
              <a:rPr lang="fa-IR" sz="2000" b="0" i="0" dirty="0">
                <a:solidFill>
                  <a:schemeClr val="bg1"/>
                </a:solidFill>
                <a:effectLst/>
                <a:latin typeface="Vazirmatn"/>
              </a:rPr>
              <a:t>: معمولا در اجرای سقف کامپوزیت روفیکس، استفاده از ویبره مجاز نیست. در صورتی ضخامت بتن‌ریزی بیشتر از 12 سانتی‌متر یا بتن مورد استفاده از نوع خود متراکم باشد، استفاده از بتن مگر (سبک) به عنوان لایه اول یا پوشاندن سطح روفیکس با نایلون توصیه می‌شود.</a:t>
            </a:r>
            <a:endParaRPr lang="fa-IR" sz="2000" b="1" i="0" dirty="0">
              <a:solidFill>
                <a:schemeClr val="bg1"/>
              </a:solidFill>
              <a:effectLst/>
              <a:latin typeface="Vazirmatn"/>
            </a:endParaRPr>
          </a:p>
        </p:txBody>
      </p:sp>
    </p:spTree>
    <p:extLst>
      <p:ext uri="{BB962C8B-B14F-4D97-AF65-F5344CB8AC3E}">
        <p14:creationId xmlns:p14="http://schemas.microsoft.com/office/powerpoint/2010/main" val="173694988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0D074-9D8F-290B-63F8-86355372FEFF}"/>
              </a:ext>
            </a:extLst>
          </p:cNvPr>
          <p:cNvSpPr>
            <a:spLocks noGrp="1"/>
          </p:cNvSpPr>
          <p:nvPr>
            <p:ph type="title"/>
          </p:nvPr>
        </p:nvSpPr>
        <p:spPr/>
        <p:txBody>
          <a:bodyPr/>
          <a:lstStyle/>
          <a:p>
            <a:pPr algn="r"/>
            <a:r>
              <a:rPr lang="fa-IR" dirty="0"/>
              <a:t>سقف های کامپوزیت:</a:t>
            </a:r>
            <a:endParaRPr lang="en-US" dirty="0"/>
          </a:p>
        </p:txBody>
      </p:sp>
      <p:sp>
        <p:nvSpPr>
          <p:cNvPr id="5" name="Slide Number Placeholder 4">
            <a:extLst>
              <a:ext uri="{FF2B5EF4-FFF2-40B4-BE49-F238E27FC236}">
                <a16:creationId xmlns:a16="http://schemas.microsoft.com/office/drawing/2014/main" id="{0BF51C31-AFE1-7954-675F-A7BFCAA6625B}"/>
              </a:ext>
            </a:extLst>
          </p:cNvPr>
          <p:cNvSpPr>
            <a:spLocks noGrp="1"/>
          </p:cNvSpPr>
          <p:nvPr>
            <p:ph type="sldNum" sz="quarter" idx="12"/>
          </p:nvPr>
        </p:nvSpPr>
        <p:spPr/>
        <p:txBody>
          <a:bodyPr/>
          <a:lstStyle/>
          <a:p>
            <a:fld id="{FAEF9944-A4F6-4C59-AEBD-678D6480B8EA}" type="slidenum">
              <a:rPr lang="en-US" smtClean="0"/>
              <a:t>76</a:t>
            </a:fld>
            <a:endParaRPr lang="en-US" dirty="0"/>
          </a:p>
        </p:txBody>
      </p:sp>
      <p:sp>
        <p:nvSpPr>
          <p:cNvPr id="7" name="TextBox 6">
            <a:extLst>
              <a:ext uri="{FF2B5EF4-FFF2-40B4-BE49-F238E27FC236}">
                <a16:creationId xmlns:a16="http://schemas.microsoft.com/office/drawing/2014/main" id="{8489D9F5-7852-C37D-1EB9-0706D32701E3}"/>
              </a:ext>
            </a:extLst>
          </p:cNvPr>
          <p:cNvSpPr txBox="1"/>
          <p:nvPr/>
        </p:nvSpPr>
        <p:spPr>
          <a:xfrm>
            <a:off x="1431635" y="2831145"/>
            <a:ext cx="9910619" cy="1569660"/>
          </a:xfrm>
          <a:prstGeom prst="rect">
            <a:avLst/>
          </a:prstGeom>
          <a:noFill/>
        </p:spPr>
        <p:txBody>
          <a:bodyPr wrap="square">
            <a:spAutoFit/>
          </a:bodyPr>
          <a:lstStyle/>
          <a:p>
            <a:pPr algn="r"/>
            <a:r>
              <a:rPr lang="fa-IR" sz="2400" b="1" i="0" dirty="0">
                <a:effectLst/>
                <a:latin typeface="Vazirmatn"/>
              </a:rPr>
              <a:t>مزایای سقف کامپوزیت روفیکس چه هستند؟</a:t>
            </a:r>
          </a:p>
          <a:p>
            <a:pPr algn="r"/>
            <a:r>
              <a:rPr lang="fa-IR" sz="2400" b="0" i="0" dirty="0">
                <a:solidFill>
                  <a:srgbClr val="1C1917"/>
                </a:solidFill>
                <a:effectLst/>
                <a:latin typeface="Vazirmatn"/>
              </a:rPr>
              <a:t>سقف‌های روفیکس علاوه بر مزایای عمومی سقف‌های کامپوزیت، از مزایای دیگری نظیر سهولت جابجایی، عدم نیاز به نیروی ماهر، قابلیت اجرای سازه‌های پیچیده، امکان ساخت طاق ضربی و سطح تراز بهتر بهره می‌برند.</a:t>
            </a:r>
          </a:p>
        </p:txBody>
      </p:sp>
    </p:spTree>
    <p:extLst>
      <p:ext uri="{BB962C8B-B14F-4D97-AF65-F5344CB8AC3E}">
        <p14:creationId xmlns:p14="http://schemas.microsoft.com/office/powerpoint/2010/main" val="391751579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C27B2-FA54-6BF0-8B2B-EC5FE8EAF953}"/>
              </a:ext>
            </a:extLst>
          </p:cNvPr>
          <p:cNvSpPr>
            <a:spLocks noGrp="1"/>
          </p:cNvSpPr>
          <p:nvPr>
            <p:ph type="title"/>
          </p:nvPr>
        </p:nvSpPr>
        <p:spPr/>
        <p:txBody>
          <a:bodyPr/>
          <a:lstStyle/>
          <a:p>
            <a:pPr algn="r"/>
            <a:r>
              <a:rPr lang="fa-IR" dirty="0">
                <a:cs typeface="B Nazanin" panose="00000400000000000000" pitchFamily="2" charset="-78"/>
              </a:rPr>
              <a:t>سقف های کامپوزیت :</a:t>
            </a:r>
            <a:endParaRPr lang="en-US" dirty="0">
              <a:cs typeface="B Nazanin" panose="00000400000000000000" pitchFamily="2" charset="-78"/>
            </a:endParaRPr>
          </a:p>
        </p:txBody>
      </p:sp>
      <p:sp>
        <p:nvSpPr>
          <p:cNvPr id="11" name="Slide Number Placeholder 10">
            <a:extLst>
              <a:ext uri="{FF2B5EF4-FFF2-40B4-BE49-F238E27FC236}">
                <a16:creationId xmlns:a16="http://schemas.microsoft.com/office/drawing/2014/main" id="{58365087-D81F-0033-D33C-D0C5F84571D6}"/>
              </a:ext>
            </a:extLst>
          </p:cNvPr>
          <p:cNvSpPr>
            <a:spLocks noGrp="1"/>
          </p:cNvSpPr>
          <p:nvPr>
            <p:ph type="sldNum" sz="quarter" idx="12"/>
          </p:nvPr>
        </p:nvSpPr>
        <p:spPr/>
        <p:txBody>
          <a:bodyPr/>
          <a:lstStyle/>
          <a:p>
            <a:fld id="{FAEF9944-A4F6-4C59-AEBD-678D6480B8EA}" type="slidenum">
              <a:rPr lang="en-US" smtClean="0"/>
              <a:t>77</a:t>
            </a:fld>
            <a:endParaRPr lang="en-US" dirty="0"/>
          </a:p>
        </p:txBody>
      </p:sp>
      <p:sp>
        <p:nvSpPr>
          <p:cNvPr id="4" name="TextBox 3">
            <a:extLst>
              <a:ext uri="{FF2B5EF4-FFF2-40B4-BE49-F238E27FC236}">
                <a16:creationId xmlns:a16="http://schemas.microsoft.com/office/drawing/2014/main" id="{3FBA738C-AE95-1CAC-FCD4-B9522675578A}"/>
              </a:ext>
            </a:extLst>
          </p:cNvPr>
          <p:cNvSpPr txBox="1"/>
          <p:nvPr/>
        </p:nvSpPr>
        <p:spPr>
          <a:xfrm>
            <a:off x="885454" y="1667547"/>
            <a:ext cx="10900146" cy="2308324"/>
          </a:xfrm>
          <a:prstGeom prst="rect">
            <a:avLst/>
          </a:prstGeom>
          <a:noFill/>
        </p:spPr>
        <p:txBody>
          <a:bodyPr wrap="square">
            <a:spAutoFit/>
          </a:bodyPr>
          <a:lstStyle/>
          <a:p>
            <a:pPr algn="r"/>
            <a:r>
              <a:rPr lang="fa-IR" sz="2400" b="1" i="0" dirty="0">
                <a:solidFill>
                  <a:srgbClr val="393939"/>
                </a:solidFill>
                <a:effectLst/>
                <a:latin typeface="inherit"/>
              </a:rPr>
              <a:t>سقف کامپوزیت فلزی</a:t>
            </a:r>
          </a:p>
          <a:p>
            <a:pPr algn="r"/>
            <a:r>
              <a:rPr lang="fa-IR" sz="2400" b="0" i="0" dirty="0">
                <a:solidFill>
                  <a:srgbClr val="1E1E1E"/>
                </a:solidFill>
                <a:effectLst/>
                <a:latin typeface="IranSans"/>
              </a:rPr>
              <a:t>سقف‌های کامپوزیت فلزی از جمله متدهای اجرای سقف و کف با استفاده از ترکیب بتن با اسکلت فولادی می‌باشند که در آن بعد از نصب برشگیر بر روی تیرهای فرعی، قالب‌بندی سقف به وسیله تخته‌کوبی در بین تیرها بدون نیاز به شمع بندی انجام می‌شود. بعد از جوش دادن پروفیل‌های ناودانی بر روی بال تیرهای باربر یک شبکه از میلگردهای حرارتی بر روی پروفیل‌ها قرار داده می‌شود. در نهایت بتن‌ریزی سقف انجام‌شده و قالب‌ها از سقف برداشته می‌شوند.</a:t>
            </a:r>
          </a:p>
        </p:txBody>
      </p:sp>
      <p:pic>
        <p:nvPicPr>
          <p:cNvPr id="2050" name="Picture 2" descr="سقف کامپوزیت فلزی">
            <a:extLst>
              <a:ext uri="{FF2B5EF4-FFF2-40B4-BE49-F238E27FC236}">
                <a16:creationId xmlns:a16="http://schemas.microsoft.com/office/drawing/2014/main" id="{540AB71A-C6C5-4A30-D806-0AD12D4C76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6081" y="3636137"/>
            <a:ext cx="4347482" cy="24345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937682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C27B2-FA54-6BF0-8B2B-EC5FE8EAF953}"/>
              </a:ext>
            </a:extLst>
          </p:cNvPr>
          <p:cNvSpPr>
            <a:spLocks noGrp="1"/>
          </p:cNvSpPr>
          <p:nvPr>
            <p:ph type="title"/>
          </p:nvPr>
        </p:nvSpPr>
        <p:spPr/>
        <p:txBody>
          <a:bodyPr/>
          <a:lstStyle/>
          <a:p>
            <a:pPr algn="r"/>
            <a:r>
              <a:rPr lang="fa-IR" dirty="0">
                <a:cs typeface="B Nazanin" panose="00000400000000000000" pitchFamily="2" charset="-78"/>
              </a:rPr>
              <a:t>سقف های کامپوزیت :</a:t>
            </a:r>
            <a:endParaRPr lang="en-US" dirty="0">
              <a:cs typeface="B Nazanin" panose="00000400000000000000" pitchFamily="2" charset="-78"/>
            </a:endParaRPr>
          </a:p>
        </p:txBody>
      </p:sp>
      <p:sp>
        <p:nvSpPr>
          <p:cNvPr id="11" name="Slide Number Placeholder 10">
            <a:extLst>
              <a:ext uri="{FF2B5EF4-FFF2-40B4-BE49-F238E27FC236}">
                <a16:creationId xmlns:a16="http://schemas.microsoft.com/office/drawing/2014/main" id="{58365087-D81F-0033-D33C-D0C5F84571D6}"/>
              </a:ext>
            </a:extLst>
          </p:cNvPr>
          <p:cNvSpPr>
            <a:spLocks noGrp="1"/>
          </p:cNvSpPr>
          <p:nvPr>
            <p:ph type="sldNum" sz="quarter" idx="12"/>
          </p:nvPr>
        </p:nvSpPr>
        <p:spPr/>
        <p:txBody>
          <a:bodyPr/>
          <a:lstStyle/>
          <a:p>
            <a:fld id="{FAEF9944-A4F6-4C59-AEBD-678D6480B8EA}" type="slidenum">
              <a:rPr lang="en-US" smtClean="0"/>
              <a:t>78</a:t>
            </a:fld>
            <a:endParaRPr lang="en-US" dirty="0"/>
          </a:p>
        </p:txBody>
      </p:sp>
      <p:sp>
        <p:nvSpPr>
          <p:cNvPr id="4" name="TextBox 3">
            <a:extLst>
              <a:ext uri="{FF2B5EF4-FFF2-40B4-BE49-F238E27FC236}">
                <a16:creationId xmlns:a16="http://schemas.microsoft.com/office/drawing/2014/main" id="{3FBA738C-AE95-1CAC-FCD4-B9522675578A}"/>
              </a:ext>
            </a:extLst>
          </p:cNvPr>
          <p:cNvSpPr txBox="1"/>
          <p:nvPr/>
        </p:nvSpPr>
        <p:spPr>
          <a:xfrm>
            <a:off x="885454" y="1667547"/>
            <a:ext cx="10900146" cy="1569660"/>
          </a:xfrm>
          <a:prstGeom prst="rect">
            <a:avLst/>
          </a:prstGeom>
          <a:noFill/>
        </p:spPr>
        <p:txBody>
          <a:bodyPr wrap="square">
            <a:spAutoFit/>
          </a:bodyPr>
          <a:lstStyle/>
          <a:p>
            <a:pPr algn="r"/>
            <a:r>
              <a:rPr lang="fa-IR" sz="2400" b="1" i="0" dirty="0">
                <a:solidFill>
                  <a:srgbClr val="393939"/>
                </a:solidFill>
                <a:effectLst/>
                <a:latin typeface="inherit"/>
              </a:rPr>
              <a:t>سقف کامپوزیت کرومیت</a:t>
            </a:r>
          </a:p>
          <a:p>
            <a:pPr algn="r"/>
            <a:r>
              <a:rPr lang="fa-IR" sz="2400" b="0" i="0" dirty="0">
                <a:solidFill>
                  <a:srgbClr val="1E1E1E"/>
                </a:solidFill>
                <a:effectLst/>
                <a:latin typeface="IranSans"/>
              </a:rPr>
              <a:t>در سقف‌های کامپوزیت کرومیت نیز از تیرچه کرومیت (تیرچه‌هایی با جان باز)، ورق فولادی موجدار (قالب ماندگار)، میلگردهای حرارتی و بتن بهره گرفته می‌شود. این نوع سقف‌ها در ۵ مرحله مختلف شامل نصب تیرچه کرومیت، قالب‌بندی، آرماتوربندی، بتن‌ریزی و باز کردن قالب اجرا می‌شود.</a:t>
            </a:r>
          </a:p>
        </p:txBody>
      </p:sp>
      <p:pic>
        <p:nvPicPr>
          <p:cNvPr id="3074" name="Picture 2" descr="سقف کامپوزیت کرومیت">
            <a:extLst>
              <a:ext uri="{FF2B5EF4-FFF2-40B4-BE49-F238E27FC236}">
                <a16:creationId xmlns:a16="http://schemas.microsoft.com/office/drawing/2014/main" id="{E109CF5C-8587-A385-4AB8-1076A0C431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5454" y="3237207"/>
            <a:ext cx="4762500" cy="266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940525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C27B2-FA54-6BF0-8B2B-EC5FE8EAF953}"/>
              </a:ext>
            </a:extLst>
          </p:cNvPr>
          <p:cNvSpPr>
            <a:spLocks noGrp="1"/>
          </p:cNvSpPr>
          <p:nvPr>
            <p:ph type="title"/>
          </p:nvPr>
        </p:nvSpPr>
        <p:spPr/>
        <p:txBody>
          <a:bodyPr/>
          <a:lstStyle/>
          <a:p>
            <a:pPr algn="r"/>
            <a:r>
              <a:rPr lang="fa-IR" dirty="0">
                <a:cs typeface="B Nazanin" panose="00000400000000000000" pitchFamily="2" charset="-78"/>
              </a:rPr>
              <a:t>سقف های کامپوزیت :</a:t>
            </a:r>
            <a:endParaRPr lang="en-US" dirty="0">
              <a:cs typeface="B Nazanin" panose="00000400000000000000" pitchFamily="2" charset="-78"/>
            </a:endParaRPr>
          </a:p>
        </p:txBody>
      </p:sp>
      <p:sp>
        <p:nvSpPr>
          <p:cNvPr id="11" name="Slide Number Placeholder 10">
            <a:extLst>
              <a:ext uri="{FF2B5EF4-FFF2-40B4-BE49-F238E27FC236}">
                <a16:creationId xmlns:a16="http://schemas.microsoft.com/office/drawing/2014/main" id="{58365087-D81F-0033-D33C-D0C5F84571D6}"/>
              </a:ext>
            </a:extLst>
          </p:cNvPr>
          <p:cNvSpPr>
            <a:spLocks noGrp="1"/>
          </p:cNvSpPr>
          <p:nvPr>
            <p:ph type="sldNum" sz="quarter" idx="12"/>
          </p:nvPr>
        </p:nvSpPr>
        <p:spPr/>
        <p:txBody>
          <a:bodyPr/>
          <a:lstStyle/>
          <a:p>
            <a:fld id="{FAEF9944-A4F6-4C59-AEBD-678D6480B8EA}" type="slidenum">
              <a:rPr lang="en-US" smtClean="0"/>
              <a:t>79</a:t>
            </a:fld>
            <a:endParaRPr lang="en-US" dirty="0"/>
          </a:p>
        </p:txBody>
      </p:sp>
      <p:sp>
        <p:nvSpPr>
          <p:cNvPr id="4" name="TextBox 3">
            <a:extLst>
              <a:ext uri="{FF2B5EF4-FFF2-40B4-BE49-F238E27FC236}">
                <a16:creationId xmlns:a16="http://schemas.microsoft.com/office/drawing/2014/main" id="{3FBA738C-AE95-1CAC-FCD4-B9522675578A}"/>
              </a:ext>
            </a:extLst>
          </p:cNvPr>
          <p:cNvSpPr txBox="1"/>
          <p:nvPr/>
        </p:nvSpPr>
        <p:spPr>
          <a:xfrm>
            <a:off x="839272" y="2230965"/>
            <a:ext cx="10900146" cy="2677656"/>
          </a:xfrm>
          <a:prstGeom prst="rect">
            <a:avLst/>
          </a:prstGeom>
          <a:noFill/>
        </p:spPr>
        <p:txBody>
          <a:bodyPr wrap="square">
            <a:spAutoFit/>
          </a:bodyPr>
          <a:lstStyle/>
          <a:p>
            <a:pPr algn="r"/>
            <a:r>
              <a:rPr lang="fa-IR" sz="2400" b="1" i="0" dirty="0">
                <a:solidFill>
                  <a:srgbClr val="393939"/>
                </a:solidFill>
                <a:effectLst/>
                <a:latin typeface="inherit"/>
              </a:rPr>
              <a:t>مزایای استفاده از سقف کامپوزیت در ساختمان</a:t>
            </a:r>
          </a:p>
          <a:p>
            <a:pPr algn="r" rtl="1" fontAlgn="base">
              <a:buFont typeface="Arial" panose="020B0604020202020204" pitchFamily="34" charset="0"/>
              <a:buChar char="•"/>
            </a:pPr>
            <a:r>
              <a:rPr lang="fa-IR" sz="2400" b="0" i="0" dirty="0">
                <a:solidFill>
                  <a:srgbClr val="1E1E1E"/>
                </a:solidFill>
                <a:effectLst/>
                <a:latin typeface="IranSans"/>
              </a:rPr>
              <a:t>استفاده از این نوع سقف‌ها می‌تواند در افزایش سرعت ساخت ساختمان‌ها نقش ویژه‌ای داشته باشد.</a:t>
            </a:r>
          </a:p>
          <a:p>
            <a:pPr algn="r" rtl="1" fontAlgn="base">
              <a:buFont typeface="Arial" panose="020B0604020202020204" pitchFamily="34" charset="0"/>
              <a:buChar char="•"/>
            </a:pPr>
            <a:r>
              <a:rPr lang="fa-IR" sz="2400" b="0" i="0" dirty="0">
                <a:solidFill>
                  <a:srgbClr val="1E1E1E"/>
                </a:solidFill>
                <a:effectLst/>
                <a:latin typeface="IranSans"/>
              </a:rPr>
              <a:t>در اجرای این نوع سقف‌ها امکان بتن‌ریزی همزمان در چندین سقف مختلف وجود دارد.</a:t>
            </a:r>
          </a:p>
          <a:p>
            <a:pPr algn="r" rtl="1" fontAlgn="base">
              <a:buFont typeface="Arial" panose="020B0604020202020204" pitchFamily="34" charset="0"/>
              <a:buChar char="•"/>
            </a:pPr>
            <a:r>
              <a:rPr lang="fa-IR" sz="2400" b="0" i="0" dirty="0">
                <a:solidFill>
                  <a:srgbClr val="1E1E1E"/>
                </a:solidFill>
                <a:effectLst/>
                <a:latin typeface="IranSans"/>
              </a:rPr>
              <a:t>سقف‌های کامپوزیتی دارای مقاومت بسیار بالایی هستند.</a:t>
            </a:r>
          </a:p>
          <a:p>
            <a:pPr algn="r" rtl="1" fontAlgn="base">
              <a:buFont typeface="Arial" panose="020B0604020202020204" pitchFamily="34" charset="0"/>
              <a:buChar char="•"/>
            </a:pPr>
            <a:r>
              <a:rPr lang="fa-IR" sz="2400" b="0" i="0" dirty="0">
                <a:solidFill>
                  <a:srgbClr val="1E1E1E"/>
                </a:solidFill>
                <a:effectLst/>
                <a:latin typeface="IranSans"/>
              </a:rPr>
              <a:t>این سقف‌ها می‌توانند مصرف مصالح ساختمانی مختلف مانند بتن را کاهش دهند.</a:t>
            </a:r>
          </a:p>
          <a:p>
            <a:br>
              <a:rPr lang="fa-IR" sz="2400" dirty="0">
                <a:latin typeface="Arial Unicode MS" panose="020B0604020202020204" pitchFamily="34" charset="-128"/>
              </a:rPr>
            </a:br>
            <a:endParaRPr lang="fa-IR" sz="2400" b="1" i="0" dirty="0">
              <a:solidFill>
                <a:srgbClr val="393939"/>
              </a:solidFill>
              <a:effectLst/>
              <a:latin typeface="inherit"/>
            </a:endParaRPr>
          </a:p>
        </p:txBody>
      </p:sp>
    </p:spTree>
    <p:extLst>
      <p:ext uri="{BB962C8B-B14F-4D97-AF65-F5344CB8AC3E}">
        <p14:creationId xmlns:p14="http://schemas.microsoft.com/office/powerpoint/2010/main" val="112218283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C27B2-FA54-6BF0-8B2B-EC5FE8EAF953}"/>
              </a:ext>
            </a:extLst>
          </p:cNvPr>
          <p:cNvSpPr>
            <a:spLocks noGrp="1"/>
          </p:cNvSpPr>
          <p:nvPr>
            <p:ph type="title"/>
          </p:nvPr>
        </p:nvSpPr>
        <p:spPr/>
        <p:txBody>
          <a:bodyPr/>
          <a:lstStyle/>
          <a:p>
            <a:pPr algn="r"/>
            <a:r>
              <a:rPr lang="fa-IR" dirty="0">
                <a:cs typeface="B Nazanin" panose="00000400000000000000" pitchFamily="2" charset="-78"/>
              </a:rPr>
              <a:t>سقف های کامپوزیت :</a:t>
            </a:r>
            <a:endParaRPr lang="en-US" dirty="0">
              <a:cs typeface="B Nazanin" panose="00000400000000000000" pitchFamily="2" charset="-78"/>
            </a:endParaRPr>
          </a:p>
        </p:txBody>
      </p:sp>
      <p:sp>
        <p:nvSpPr>
          <p:cNvPr id="11" name="Slide Number Placeholder 10">
            <a:extLst>
              <a:ext uri="{FF2B5EF4-FFF2-40B4-BE49-F238E27FC236}">
                <a16:creationId xmlns:a16="http://schemas.microsoft.com/office/drawing/2014/main" id="{58365087-D81F-0033-D33C-D0C5F84571D6}"/>
              </a:ext>
            </a:extLst>
          </p:cNvPr>
          <p:cNvSpPr>
            <a:spLocks noGrp="1"/>
          </p:cNvSpPr>
          <p:nvPr>
            <p:ph type="sldNum" sz="quarter" idx="12"/>
          </p:nvPr>
        </p:nvSpPr>
        <p:spPr/>
        <p:txBody>
          <a:bodyPr/>
          <a:lstStyle/>
          <a:p>
            <a:fld id="{FAEF9944-A4F6-4C59-AEBD-678D6480B8EA}" type="slidenum">
              <a:rPr lang="en-US" smtClean="0"/>
              <a:t>80</a:t>
            </a:fld>
            <a:endParaRPr lang="en-US" dirty="0"/>
          </a:p>
        </p:txBody>
      </p:sp>
      <p:sp>
        <p:nvSpPr>
          <p:cNvPr id="4" name="TextBox 3">
            <a:extLst>
              <a:ext uri="{FF2B5EF4-FFF2-40B4-BE49-F238E27FC236}">
                <a16:creationId xmlns:a16="http://schemas.microsoft.com/office/drawing/2014/main" id="{3FBA738C-AE95-1CAC-FCD4-B9522675578A}"/>
              </a:ext>
            </a:extLst>
          </p:cNvPr>
          <p:cNvSpPr txBox="1"/>
          <p:nvPr/>
        </p:nvSpPr>
        <p:spPr>
          <a:xfrm>
            <a:off x="802326" y="2304856"/>
            <a:ext cx="10900146" cy="2677656"/>
          </a:xfrm>
          <a:prstGeom prst="rect">
            <a:avLst/>
          </a:prstGeom>
          <a:noFill/>
        </p:spPr>
        <p:txBody>
          <a:bodyPr wrap="square">
            <a:spAutoFit/>
          </a:bodyPr>
          <a:lstStyle/>
          <a:p>
            <a:pPr algn="r" rtl="1" fontAlgn="base">
              <a:buFont typeface="Arial" panose="020B0604020202020204" pitchFamily="34" charset="0"/>
              <a:buChar char="•"/>
            </a:pPr>
            <a:r>
              <a:rPr lang="fa-IR" sz="2400" b="0" i="0" dirty="0">
                <a:solidFill>
                  <a:srgbClr val="1E1E1E"/>
                </a:solidFill>
                <a:effectLst/>
                <a:latin typeface="IranSans"/>
              </a:rPr>
              <a:t>سقف‌های کامپوزیتی کامل یکدست و یکپارچه هستند و باعث می‌شوند که اسکلت سازه نیز یکپارچگی مناسبی داشته باشد.</a:t>
            </a:r>
          </a:p>
          <a:p>
            <a:pPr algn="r" rtl="1" fontAlgn="base">
              <a:buFont typeface="Arial" panose="020B0604020202020204" pitchFamily="34" charset="0"/>
              <a:buChar char="•"/>
            </a:pPr>
            <a:r>
              <a:rPr lang="fa-IR" sz="2400" b="0" i="0" dirty="0">
                <a:solidFill>
                  <a:srgbClr val="1E1E1E"/>
                </a:solidFill>
                <a:effectLst/>
                <a:latin typeface="IranSans"/>
              </a:rPr>
              <a:t>به دلیل استفاده کمتر از فولاد در این نوع سقف‌ها وزن کلی ساختمان‌ها کاهش قابل توجهی پیدا می‌کند.</a:t>
            </a:r>
          </a:p>
          <a:p>
            <a:pPr algn="r" rtl="1" fontAlgn="base">
              <a:buFont typeface="Arial" panose="020B0604020202020204" pitchFamily="34" charset="0"/>
              <a:buChar char="•"/>
            </a:pPr>
            <a:r>
              <a:rPr lang="fa-IR" sz="2400" b="0" i="0" dirty="0">
                <a:solidFill>
                  <a:srgbClr val="1E1E1E"/>
                </a:solidFill>
                <a:effectLst/>
                <a:latin typeface="IranSans"/>
              </a:rPr>
              <a:t>در اجرای سقف کامپوزیت نیازی به استفاده از بلوک‌های سفالی نیست.</a:t>
            </a:r>
          </a:p>
          <a:p>
            <a:pPr algn="r" rtl="1" fontAlgn="base">
              <a:buFont typeface="Arial" panose="020B0604020202020204" pitchFamily="34" charset="0"/>
              <a:buChar char="•"/>
            </a:pPr>
            <a:r>
              <a:rPr lang="fa-IR" sz="2400" b="0" i="0" dirty="0">
                <a:solidFill>
                  <a:srgbClr val="1E1E1E"/>
                </a:solidFill>
                <a:effectLst/>
                <a:latin typeface="IranSans"/>
              </a:rPr>
              <a:t>تعدادی از این سقف‌ها مانند سقف‌های عرشه فولادی دارای مقاومت بالایی در برابر آتش‌سوزی و زلزله هستند.</a:t>
            </a:r>
          </a:p>
          <a:p>
            <a:br>
              <a:rPr lang="fa-IR" sz="2400" dirty="0">
                <a:latin typeface="Arial Unicode MS" panose="020B0604020202020204" pitchFamily="34" charset="-128"/>
              </a:rPr>
            </a:br>
            <a:endParaRPr lang="fa-IR" sz="2400" b="1" i="0" dirty="0">
              <a:solidFill>
                <a:srgbClr val="393939"/>
              </a:solidFill>
              <a:effectLst/>
              <a:latin typeface="inherit"/>
            </a:endParaRPr>
          </a:p>
        </p:txBody>
      </p:sp>
    </p:spTree>
    <p:extLst>
      <p:ext uri="{BB962C8B-B14F-4D97-AF65-F5344CB8AC3E}">
        <p14:creationId xmlns:p14="http://schemas.microsoft.com/office/powerpoint/2010/main" val="119583935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C27B2-FA54-6BF0-8B2B-EC5FE8EAF953}"/>
              </a:ext>
            </a:extLst>
          </p:cNvPr>
          <p:cNvSpPr>
            <a:spLocks noGrp="1"/>
          </p:cNvSpPr>
          <p:nvPr>
            <p:ph type="title"/>
          </p:nvPr>
        </p:nvSpPr>
        <p:spPr/>
        <p:txBody>
          <a:bodyPr/>
          <a:lstStyle/>
          <a:p>
            <a:pPr algn="r"/>
            <a:r>
              <a:rPr lang="fa-IR" dirty="0">
                <a:cs typeface="B Nazanin" panose="00000400000000000000" pitchFamily="2" charset="-78"/>
              </a:rPr>
              <a:t>سقف های کامپوزیت :</a:t>
            </a:r>
            <a:endParaRPr lang="en-US" dirty="0">
              <a:cs typeface="B Nazanin" panose="00000400000000000000" pitchFamily="2" charset="-78"/>
            </a:endParaRPr>
          </a:p>
        </p:txBody>
      </p:sp>
      <p:sp>
        <p:nvSpPr>
          <p:cNvPr id="11" name="Slide Number Placeholder 10">
            <a:extLst>
              <a:ext uri="{FF2B5EF4-FFF2-40B4-BE49-F238E27FC236}">
                <a16:creationId xmlns:a16="http://schemas.microsoft.com/office/drawing/2014/main" id="{58365087-D81F-0033-D33C-D0C5F84571D6}"/>
              </a:ext>
            </a:extLst>
          </p:cNvPr>
          <p:cNvSpPr>
            <a:spLocks noGrp="1"/>
          </p:cNvSpPr>
          <p:nvPr>
            <p:ph type="sldNum" sz="quarter" idx="12"/>
          </p:nvPr>
        </p:nvSpPr>
        <p:spPr/>
        <p:txBody>
          <a:bodyPr/>
          <a:lstStyle/>
          <a:p>
            <a:fld id="{FAEF9944-A4F6-4C59-AEBD-678D6480B8EA}" type="slidenum">
              <a:rPr lang="en-US" smtClean="0"/>
              <a:t>81</a:t>
            </a:fld>
            <a:endParaRPr lang="en-US" dirty="0"/>
          </a:p>
        </p:txBody>
      </p:sp>
      <p:sp>
        <p:nvSpPr>
          <p:cNvPr id="4" name="TextBox 3">
            <a:extLst>
              <a:ext uri="{FF2B5EF4-FFF2-40B4-BE49-F238E27FC236}">
                <a16:creationId xmlns:a16="http://schemas.microsoft.com/office/drawing/2014/main" id="{3FBA738C-AE95-1CAC-FCD4-B9522675578A}"/>
              </a:ext>
            </a:extLst>
          </p:cNvPr>
          <p:cNvSpPr txBox="1"/>
          <p:nvPr/>
        </p:nvSpPr>
        <p:spPr>
          <a:xfrm>
            <a:off x="866981" y="1905506"/>
            <a:ext cx="10900146" cy="3046988"/>
          </a:xfrm>
          <a:prstGeom prst="rect">
            <a:avLst/>
          </a:prstGeom>
          <a:noFill/>
        </p:spPr>
        <p:txBody>
          <a:bodyPr wrap="square">
            <a:spAutoFit/>
          </a:bodyPr>
          <a:lstStyle/>
          <a:p>
            <a:pPr algn="r"/>
            <a:r>
              <a:rPr lang="fa-IR" sz="2400" b="1" i="0" dirty="0">
                <a:solidFill>
                  <a:srgbClr val="393939"/>
                </a:solidFill>
                <a:effectLst/>
                <a:latin typeface="inherit"/>
              </a:rPr>
              <a:t>معایب سقف‌های کامپوزیتی</a:t>
            </a:r>
            <a:endParaRPr lang="en-US" sz="2400" b="1" i="0" dirty="0">
              <a:solidFill>
                <a:srgbClr val="393939"/>
              </a:solidFill>
              <a:effectLst/>
              <a:latin typeface="inherit"/>
            </a:endParaRPr>
          </a:p>
          <a:p>
            <a:pPr algn="r"/>
            <a:endParaRPr lang="fa-IR" sz="2400" b="1" i="0" dirty="0">
              <a:solidFill>
                <a:srgbClr val="393939"/>
              </a:solidFill>
              <a:effectLst/>
              <a:latin typeface="inherit"/>
            </a:endParaRPr>
          </a:p>
          <a:p>
            <a:pPr marL="342900" indent="-342900" algn="r" rtl="1">
              <a:buFont typeface="Arial" panose="020B0604020202020204" pitchFamily="34" charset="0"/>
              <a:buChar char="•"/>
            </a:pPr>
            <a:r>
              <a:rPr lang="fa-IR" sz="2400" i="0" dirty="0">
                <a:solidFill>
                  <a:srgbClr val="393939"/>
                </a:solidFill>
                <a:effectLst/>
                <a:latin typeface="inherit"/>
              </a:rPr>
              <a:t>هرچند که استفاده از سقف‌های کامپوزیتی سرعت اجرای سقف را نسبت به روش‌های دیگر افزایش می‌دهد اما به صورت کلی باعث طولانی‌تر شدن زمان اتمام پروژه کلی خواهد شد.</a:t>
            </a:r>
          </a:p>
          <a:p>
            <a:pPr marL="342900" indent="-342900" algn="r" rtl="1">
              <a:buFont typeface="Arial" panose="020B0604020202020204" pitchFamily="34" charset="0"/>
              <a:buChar char="•"/>
            </a:pPr>
            <a:r>
              <a:rPr lang="fa-IR" sz="2400" i="0" dirty="0">
                <a:solidFill>
                  <a:srgbClr val="393939"/>
                </a:solidFill>
                <a:effectLst/>
                <a:latin typeface="inherit"/>
              </a:rPr>
              <a:t>این نوع سقف‌ها برای ساختمان‌های مسکونی گزینه مناسبی نیستند چرا که از لرزش بیشتری نسبت به سایر سقف‌ها برخوردارند که به دلیل ضخامت کم آنها است.</a:t>
            </a:r>
          </a:p>
          <a:p>
            <a:pPr marL="342900" indent="-342900" algn="r" rtl="1">
              <a:buFont typeface="Arial" panose="020B0604020202020204" pitchFamily="34" charset="0"/>
              <a:buChar char="•"/>
            </a:pPr>
            <a:r>
              <a:rPr lang="fa-IR" sz="2400" i="0" dirty="0">
                <a:solidFill>
                  <a:srgbClr val="393939"/>
                </a:solidFill>
                <a:effectLst/>
                <a:latin typeface="inherit"/>
              </a:rPr>
              <a:t>هزینه‌های نصب و اجرای سقف‌های کامپوزیتی در مقایسه با سایر سقف‌ها بیشتر است.</a:t>
            </a:r>
          </a:p>
          <a:p>
            <a:pPr marL="342900" indent="-342900" algn="r" rtl="1">
              <a:buFont typeface="Arial" panose="020B0604020202020204" pitchFamily="34" charset="0"/>
              <a:buChar char="•"/>
            </a:pPr>
            <a:endParaRPr lang="fa-IR" sz="2400" i="0" dirty="0">
              <a:solidFill>
                <a:srgbClr val="393939"/>
              </a:solidFill>
              <a:effectLst/>
              <a:latin typeface="inherit"/>
            </a:endParaRPr>
          </a:p>
        </p:txBody>
      </p:sp>
    </p:spTree>
    <p:extLst>
      <p:ext uri="{BB962C8B-B14F-4D97-AF65-F5344CB8AC3E}">
        <p14:creationId xmlns:p14="http://schemas.microsoft.com/office/powerpoint/2010/main" val="359774080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C27B2-FA54-6BF0-8B2B-EC5FE8EAF953}"/>
              </a:ext>
            </a:extLst>
          </p:cNvPr>
          <p:cNvSpPr>
            <a:spLocks noGrp="1"/>
          </p:cNvSpPr>
          <p:nvPr>
            <p:ph type="title"/>
          </p:nvPr>
        </p:nvSpPr>
        <p:spPr/>
        <p:txBody>
          <a:bodyPr/>
          <a:lstStyle/>
          <a:p>
            <a:pPr algn="r"/>
            <a:r>
              <a:rPr lang="fa-IR" dirty="0">
                <a:cs typeface="B Nazanin" panose="00000400000000000000" pitchFamily="2" charset="-78"/>
              </a:rPr>
              <a:t>سقف های کامپوزیت :</a:t>
            </a:r>
            <a:endParaRPr lang="en-US" dirty="0">
              <a:cs typeface="B Nazanin" panose="00000400000000000000" pitchFamily="2" charset="-78"/>
            </a:endParaRPr>
          </a:p>
        </p:txBody>
      </p:sp>
      <p:sp>
        <p:nvSpPr>
          <p:cNvPr id="11" name="Slide Number Placeholder 10">
            <a:extLst>
              <a:ext uri="{FF2B5EF4-FFF2-40B4-BE49-F238E27FC236}">
                <a16:creationId xmlns:a16="http://schemas.microsoft.com/office/drawing/2014/main" id="{58365087-D81F-0033-D33C-D0C5F84571D6}"/>
              </a:ext>
            </a:extLst>
          </p:cNvPr>
          <p:cNvSpPr>
            <a:spLocks noGrp="1"/>
          </p:cNvSpPr>
          <p:nvPr>
            <p:ph type="sldNum" sz="quarter" idx="12"/>
          </p:nvPr>
        </p:nvSpPr>
        <p:spPr/>
        <p:txBody>
          <a:bodyPr/>
          <a:lstStyle/>
          <a:p>
            <a:fld id="{FAEF9944-A4F6-4C59-AEBD-678D6480B8EA}" type="slidenum">
              <a:rPr lang="en-US" smtClean="0"/>
              <a:t>82</a:t>
            </a:fld>
            <a:endParaRPr lang="en-US" dirty="0"/>
          </a:p>
        </p:txBody>
      </p:sp>
      <p:sp>
        <p:nvSpPr>
          <p:cNvPr id="4" name="TextBox 3">
            <a:extLst>
              <a:ext uri="{FF2B5EF4-FFF2-40B4-BE49-F238E27FC236}">
                <a16:creationId xmlns:a16="http://schemas.microsoft.com/office/drawing/2014/main" id="{3FBA738C-AE95-1CAC-FCD4-B9522675578A}"/>
              </a:ext>
            </a:extLst>
          </p:cNvPr>
          <p:cNvSpPr txBox="1"/>
          <p:nvPr/>
        </p:nvSpPr>
        <p:spPr>
          <a:xfrm>
            <a:off x="857745" y="2461874"/>
            <a:ext cx="10900146" cy="2308324"/>
          </a:xfrm>
          <a:prstGeom prst="rect">
            <a:avLst/>
          </a:prstGeom>
          <a:noFill/>
        </p:spPr>
        <p:txBody>
          <a:bodyPr wrap="square">
            <a:spAutoFit/>
          </a:bodyPr>
          <a:lstStyle/>
          <a:p>
            <a:pPr marL="342900" indent="-342900" algn="r" rtl="1">
              <a:buFont typeface="Arial" panose="020B0604020202020204" pitchFamily="34" charset="0"/>
              <a:buChar char="•"/>
            </a:pPr>
            <a:r>
              <a:rPr lang="fa-IR" sz="2400" i="0" dirty="0">
                <a:solidFill>
                  <a:srgbClr val="393939"/>
                </a:solidFill>
                <a:effectLst/>
                <a:latin typeface="inherit"/>
              </a:rPr>
              <a:t>اجرای این نوع از سقف‌ها بر روی اسکلت‌های غیرفلزی دارای پیچیدگی‌ها و دشواری‌های متعددی است.</a:t>
            </a:r>
          </a:p>
          <a:p>
            <a:pPr marL="342900" indent="-342900" algn="r" rtl="1">
              <a:buFont typeface="Arial" panose="020B0604020202020204" pitchFamily="34" charset="0"/>
              <a:buChar char="•"/>
            </a:pPr>
            <a:r>
              <a:rPr lang="fa-IR" sz="2400" b="0" i="0" dirty="0">
                <a:solidFill>
                  <a:srgbClr val="1C1917"/>
                </a:solidFill>
                <a:effectLst/>
                <a:latin typeface="Vazirmatn"/>
              </a:rPr>
              <a:t>سقف‌های کامپوزیت فلزی و کرومیت علاوه بر معایب عمومی سقف‌های کامپوزیت، هزینه بیشتری نسبت به سقف‌های تیرچه و بلوک دارند.</a:t>
            </a:r>
          </a:p>
          <a:p>
            <a:pPr marL="342900" indent="-342900" algn="r" rtl="1">
              <a:buFont typeface="Arial" panose="020B0604020202020204" pitchFamily="34" charset="0"/>
              <a:buChar char="•"/>
            </a:pPr>
            <a:r>
              <a:rPr lang="fa-IR" sz="2400" b="0" i="0" dirty="0">
                <a:solidFill>
                  <a:srgbClr val="1C1917"/>
                </a:solidFill>
                <a:effectLst/>
                <a:latin typeface="Vazirmatn"/>
              </a:rPr>
              <a:t>سقف‌های روفیکس علاوه بر معایب عمومی سقف‌های کامپوزیت، معیاب دیگری نظیر عدم امکان استفاده از هر نوع بتن، قیمت بالاتر و نیاز به تعویض کل قالب در صورت آسیب‌دیدگی دارند.</a:t>
            </a:r>
          </a:p>
          <a:p>
            <a:pPr marL="342900" indent="-342900" algn="r" rtl="1">
              <a:buFont typeface="Arial" panose="020B0604020202020204" pitchFamily="34" charset="0"/>
              <a:buChar char="•"/>
            </a:pPr>
            <a:endParaRPr lang="fa-IR" sz="2400" i="0" dirty="0">
              <a:solidFill>
                <a:srgbClr val="393939"/>
              </a:solidFill>
              <a:effectLst/>
              <a:latin typeface="inherit"/>
            </a:endParaRPr>
          </a:p>
        </p:txBody>
      </p:sp>
    </p:spTree>
    <p:extLst>
      <p:ext uri="{BB962C8B-B14F-4D97-AF65-F5344CB8AC3E}">
        <p14:creationId xmlns:p14="http://schemas.microsoft.com/office/powerpoint/2010/main" val="397936786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C27B2-FA54-6BF0-8B2B-EC5FE8EAF953}"/>
              </a:ext>
            </a:extLst>
          </p:cNvPr>
          <p:cNvSpPr>
            <a:spLocks noGrp="1"/>
          </p:cNvSpPr>
          <p:nvPr>
            <p:ph type="title"/>
          </p:nvPr>
        </p:nvSpPr>
        <p:spPr/>
        <p:txBody>
          <a:bodyPr/>
          <a:lstStyle/>
          <a:p>
            <a:pPr algn="r"/>
            <a:r>
              <a:rPr lang="fa-IR" dirty="0">
                <a:cs typeface="B Nazanin" panose="00000400000000000000" pitchFamily="2" charset="-78"/>
              </a:rPr>
              <a:t>سقف های کامپوزیت :</a:t>
            </a:r>
            <a:endParaRPr lang="en-US" dirty="0">
              <a:cs typeface="B Nazanin" panose="00000400000000000000" pitchFamily="2" charset="-78"/>
            </a:endParaRPr>
          </a:p>
        </p:txBody>
      </p:sp>
      <p:sp>
        <p:nvSpPr>
          <p:cNvPr id="11" name="Slide Number Placeholder 10">
            <a:extLst>
              <a:ext uri="{FF2B5EF4-FFF2-40B4-BE49-F238E27FC236}">
                <a16:creationId xmlns:a16="http://schemas.microsoft.com/office/drawing/2014/main" id="{58365087-D81F-0033-D33C-D0C5F84571D6}"/>
              </a:ext>
            </a:extLst>
          </p:cNvPr>
          <p:cNvSpPr>
            <a:spLocks noGrp="1"/>
          </p:cNvSpPr>
          <p:nvPr>
            <p:ph type="sldNum" sz="quarter" idx="12"/>
          </p:nvPr>
        </p:nvSpPr>
        <p:spPr/>
        <p:txBody>
          <a:bodyPr/>
          <a:lstStyle/>
          <a:p>
            <a:fld id="{FAEF9944-A4F6-4C59-AEBD-678D6480B8EA}" type="slidenum">
              <a:rPr lang="en-US" smtClean="0"/>
              <a:t>83</a:t>
            </a:fld>
            <a:endParaRPr lang="en-US" dirty="0"/>
          </a:p>
        </p:txBody>
      </p:sp>
      <p:sp>
        <p:nvSpPr>
          <p:cNvPr id="4" name="TextBox 3">
            <a:extLst>
              <a:ext uri="{FF2B5EF4-FFF2-40B4-BE49-F238E27FC236}">
                <a16:creationId xmlns:a16="http://schemas.microsoft.com/office/drawing/2014/main" id="{3FBA738C-AE95-1CAC-FCD4-B9522675578A}"/>
              </a:ext>
            </a:extLst>
          </p:cNvPr>
          <p:cNvSpPr txBox="1"/>
          <p:nvPr/>
        </p:nvSpPr>
        <p:spPr>
          <a:xfrm>
            <a:off x="876218" y="2143230"/>
            <a:ext cx="10900146" cy="1569660"/>
          </a:xfrm>
          <a:prstGeom prst="rect">
            <a:avLst/>
          </a:prstGeom>
          <a:noFill/>
        </p:spPr>
        <p:txBody>
          <a:bodyPr wrap="square">
            <a:spAutoFit/>
          </a:bodyPr>
          <a:lstStyle/>
          <a:p>
            <a:pPr algn="r"/>
            <a:r>
              <a:rPr lang="fa-IR" sz="2400" b="1" i="0" dirty="0">
                <a:solidFill>
                  <a:srgbClr val="393939"/>
                </a:solidFill>
                <a:effectLst/>
                <a:latin typeface="inherit"/>
              </a:rPr>
              <a:t>مراحل نصب و اجرای سقف کامپوزیت</a:t>
            </a:r>
            <a:endParaRPr lang="en-US" sz="2400" b="1" i="0" dirty="0">
              <a:solidFill>
                <a:srgbClr val="393939"/>
              </a:solidFill>
              <a:effectLst/>
              <a:latin typeface="inherit"/>
            </a:endParaRPr>
          </a:p>
          <a:p>
            <a:pPr algn="r"/>
            <a:endParaRPr lang="fa-IR" sz="2400" b="1" i="0" dirty="0">
              <a:solidFill>
                <a:srgbClr val="393939"/>
              </a:solidFill>
              <a:effectLst/>
              <a:latin typeface="inherit"/>
            </a:endParaRPr>
          </a:p>
          <a:p>
            <a:pPr algn="r"/>
            <a:r>
              <a:rPr lang="fa-IR" sz="2400" b="0" i="0" dirty="0">
                <a:solidFill>
                  <a:srgbClr val="1E1E1E"/>
                </a:solidFill>
                <a:effectLst/>
                <a:latin typeface="IranSans"/>
              </a:rPr>
              <a:t>استفاده و اجرای سقف‌های کامپوزیتی در مقایسه با بسیاری از سقف‌های دیگر راحت‌تر و سریع‌تر خواهد بود. این نوع سقف‌ها می‌توانند در چند مرحله مختلف اجرا شوند که به ترتیب به شرح زیر می‌باشند:</a:t>
            </a:r>
            <a:endParaRPr lang="fa-IR" sz="2400" i="0" dirty="0">
              <a:solidFill>
                <a:srgbClr val="393939"/>
              </a:solidFill>
              <a:effectLst/>
              <a:latin typeface="inherit"/>
            </a:endParaRPr>
          </a:p>
        </p:txBody>
      </p:sp>
    </p:spTree>
    <p:extLst>
      <p:ext uri="{BB962C8B-B14F-4D97-AF65-F5344CB8AC3E}">
        <p14:creationId xmlns:p14="http://schemas.microsoft.com/office/powerpoint/2010/main" val="273476291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C27B2-FA54-6BF0-8B2B-EC5FE8EAF953}"/>
              </a:ext>
            </a:extLst>
          </p:cNvPr>
          <p:cNvSpPr>
            <a:spLocks noGrp="1"/>
          </p:cNvSpPr>
          <p:nvPr>
            <p:ph type="title"/>
          </p:nvPr>
        </p:nvSpPr>
        <p:spPr/>
        <p:txBody>
          <a:bodyPr/>
          <a:lstStyle/>
          <a:p>
            <a:pPr algn="r"/>
            <a:r>
              <a:rPr lang="fa-IR" dirty="0">
                <a:cs typeface="B Nazanin" panose="00000400000000000000" pitchFamily="2" charset="-78"/>
              </a:rPr>
              <a:t>سقف های کامپوزیت :</a:t>
            </a:r>
            <a:endParaRPr lang="en-US" dirty="0">
              <a:cs typeface="B Nazanin" panose="00000400000000000000" pitchFamily="2" charset="-78"/>
            </a:endParaRPr>
          </a:p>
        </p:txBody>
      </p:sp>
      <p:sp>
        <p:nvSpPr>
          <p:cNvPr id="11" name="Slide Number Placeholder 10">
            <a:extLst>
              <a:ext uri="{FF2B5EF4-FFF2-40B4-BE49-F238E27FC236}">
                <a16:creationId xmlns:a16="http://schemas.microsoft.com/office/drawing/2014/main" id="{58365087-D81F-0033-D33C-D0C5F84571D6}"/>
              </a:ext>
            </a:extLst>
          </p:cNvPr>
          <p:cNvSpPr>
            <a:spLocks noGrp="1"/>
          </p:cNvSpPr>
          <p:nvPr>
            <p:ph type="sldNum" sz="quarter" idx="12"/>
          </p:nvPr>
        </p:nvSpPr>
        <p:spPr/>
        <p:txBody>
          <a:bodyPr/>
          <a:lstStyle/>
          <a:p>
            <a:fld id="{FAEF9944-A4F6-4C59-AEBD-678D6480B8EA}" type="slidenum">
              <a:rPr lang="en-US" smtClean="0"/>
              <a:t>84</a:t>
            </a:fld>
            <a:endParaRPr lang="en-US" dirty="0"/>
          </a:p>
        </p:txBody>
      </p:sp>
      <p:sp>
        <p:nvSpPr>
          <p:cNvPr id="5" name="TextBox 4">
            <a:extLst>
              <a:ext uri="{FF2B5EF4-FFF2-40B4-BE49-F238E27FC236}">
                <a16:creationId xmlns:a16="http://schemas.microsoft.com/office/drawing/2014/main" id="{EAC51033-67EA-AC5D-3FEF-6CAA5DF958C4}"/>
              </a:ext>
            </a:extLst>
          </p:cNvPr>
          <p:cNvSpPr txBox="1"/>
          <p:nvPr/>
        </p:nvSpPr>
        <p:spPr>
          <a:xfrm>
            <a:off x="1232062" y="1720840"/>
            <a:ext cx="10317019" cy="3785652"/>
          </a:xfrm>
          <a:prstGeom prst="rect">
            <a:avLst/>
          </a:prstGeom>
          <a:noFill/>
        </p:spPr>
        <p:txBody>
          <a:bodyPr wrap="square">
            <a:spAutoFit/>
          </a:bodyPr>
          <a:lstStyle/>
          <a:p>
            <a:pPr algn="r"/>
            <a:r>
              <a:rPr lang="fa-IR" sz="2400" b="1" i="0" dirty="0">
                <a:solidFill>
                  <a:srgbClr val="393939"/>
                </a:solidFill>
                <a:effectLst/>
                <a:latin typeface="inherit"/>
              </a:rPr>
              <a:t>مرحله اول: اجرای تیرهای فرعی</a:t>
            </a:r>
            <a:endParaRPr lang="en-US" sz="2400" b="1" i="0" dirty="0">
              <a:solidFill>
                <a:srgbClr val="393939"/>
              </a:solidFill>
              <a:effectLst/>
              <a:latin typeface="inherit"/>
            </a:endParaRPr>
          </a:p>
          <a:p>
            <a:pPr algn="r"/>
            <a:endParaRPr lang="fa-IR" sz="2400" b="1" i="0" dirty="0">
              <a:solidFill>
                <a:srgbClr val="393939"/>
              </a:solidFill>
              <a:effectLst/>
              <a:latin typeface="inherit"/>
            </a:endParaRPr>
          </a:p>
          <a:p>
            <a:pPr algn="r"/>
            <a:r>
              <a:rPr lang="fa-IR" sz="2400" b="0" i="0" dirty="0">
                <a:solidFill>
                  <a:srgbClr val="1E1E1E"/>
                </a:solidFill>
                <a:effectLst/>
                <a:latin typeface="IranSans"/>
              </a:rPr>
              <a:t>در مرحله اول و با اجرای اسکلت فلزی ساختمان و همچنین نصب تمامی تیرهای فرعی انجام می‌شود. این کار می‌تواند با استفاده از انواع پروفیل‌های </a:t>
            </a:r>
            <a:r>
              <a:rPr lang="en-US" sz="2400" b="0" i="0" dirty="0">
                <a:solidFill>
                  <a:srgbClr val="1E1E1E"/>
                </a:solidFill>
                <a:effectLst/>
                <a:latin typeface="IranSans"/>
              </a:rPr>
              <a:t>API، CPA، </a:t>
            </a:r>
            <a:r>
              <a:rPr lang="fa-IR" sz="2400" b="0" i="0" dirty="0">
                <a:solidFill>
                  <a:srgbClr val="1E1E1E"/>
                </a:solidFill>
                <a:effectLst/>
                <a:latin typeface="IranSans"/>
              </a:rPr>
              <a:t>لانه زنبوری یا مقاطع تیر ورق صورت بگیرد. البته باید توجه داشت که در صورت استفاده از پروفیل‌های لانه زنبوری لازم است که جان تیر در ابتدا و انتها توسط ورق‌های مضاعف تقویت شود. همچنین جان تیر باید در وسط دهانه نیز تقویت شود. استفاده از تیرهای لانه زنبوری در قاب‌هایی که نقش باربر جانبی را دارند ممنوع است و فقط می‌توان از آنها در تیرهای فرعی، کش ها و دهانه‌های غیر بادبندی استفاده کرد. در سقف کامپوزیت باید تیرهای فرعی در فواصل حداقل ۱۱ سانتی‌متر اجرا شوند چرا که در این روش شمع گذاری انجام نمی‌شود لازم است که در زمان بتن‌ریزی زیر سقف قالب‌بندی شود.</a:t>
            </a:r>
          </a:p>
        </p:txBody>
      </p:sp>
    </p:spTree>
    <p:extLst>
      <p:ext uri="{BB962C8B-B14F-4D97-AF65-F5344CB8AC3E}">
        <p14:creationId xmlns:p14="http://schemas.microsoft.com/office/powerpoint/2010/main" val="373947887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C27B2-FA54-6BF0-8B2B-EC5FE8EAF953}"/>
              </a:ext>
            </a:extLst>
          </p:cNvPr>
          <p:cNvSpPr>
            <a:spLocks noGrp="1"/>
          </p:cNvSpPr>
          <p:nvPr>
            <p:ph type="title"/>
          </p:nvPr>
        </p:nvSpPr>
        <p:spPr/>
        <p:txBody>
          <a:bodyPr/>
          <a:lstStyle/>
          <a:p>
            <a:pPr algn="r"/>
            <a:r>
              <a:rPr lang="fa-IR" dirty="0">
                <a:cs typeface="B Nazanin" panose="00000400000000000000" pitchFamily="2" charset="-78"/>
              </a:rPr>
              <a:t>سقف های کامپوزیت :</a:t>
            </a:r>
            <a:endParaRPr lang="en-US" dirty="0">
              <a:cs typeface="B Nazanin" panose="00000400000000000000" pitchFamily="2" charset="-78"/>
            </a:endParaRPr>
          </a:p>
        </p:txBody>
      </p:sp>
      <p:sp>
        <p:nvSpPr>
          <p:cNvPr id="11" name="Slide Number Placeholder 10">
            <a:extLst>
              <a:ext uri="{FF2B5EF4-FFF2-40B4-BE49-F238E27FC236}">
                <a16:creationId xmlns:a16="http://schemas.microsoft.com/office/drawing/2014/main" id="{58365087-D81F-0033-D33C-D0C5F84571D6}"/>
              </a:ext>
            </a:extLst>
          </p:cNvPr>
          <p:cNvSpPr>
            <a:spLocks noGrp="1"/>
          </p:cNvSpPr>
          <p:nvPr>
            <p:ph type="sldNum" sz="quarter" idx="12"/>
          </p:nvPr>
        </p:nvSpPr>
        <p:spPr/>
        <p:txBody>
          <a:bodyPr/>
          <a:lstStyle/>
          <a:p>
            <a:fld id="{FAEF9944-A4F6-4C59-AEBD-678D6480B8EA}" type="slidenum">
              <a:rPr lang="en-US" smtClean="0"/>
              <a:t>85</a:t>
            </a:fld>
            <a:endParaRPr lang="en-US" dirty="0"/>
          </a:p>
        </p:txBody>
      </p:sp>
      <p:sp>
        <p:nvSpPr>
          <p:cNvPr id="4" name="TextBox 3">
            <a:extLst>
              <a:ext uri="{FF2B5EF4-FFF2-40B4-BE49-F238E27FC236}">
                <a16:creationId xmlns:a16="http://schemas.microsoft.com/office/drawing/2014/main" id="{3FBA738C-AE95-1CAC-FCD4-B9522675578A}"/>
              </a:ext>
            </a:extLst>
          </p:cNvPr>
          <p:cNvSpPr txBox="1"/>
          <p:nvPr/>
        </p:nvSpPr>
        <p:spPr>
          <a:xfrm>
            <a:off x="848508" y="2009293"/>
            <a:ext cx="10900146" cy="2308324"/>
          </a:xfrm>
          <a:prstGeom prst="rect">
            <a:avLst/>
          </a:prstGeom>
          <a:noFill/>
        </p:spPr>
        <p:txBody>
          <a:bodyPr wrap="square">
            <a:spAutoFit/>
          </a:bodyPr>
          <a:lstStyle/>
          <a:p>
            <a:pPr algn="r"/>
            <a:r>
              <a:rPr lang="fa-IR" sz="2400" b="1" i="0" dirty="0">
                <a:solidFill>
                  <a:srgbClr val="393939"/>
                </a:solidFill>
                <a:effectLst/>
                <a:latin typeface="inherit"/>
              </a:rPr>
              <a:t>مرحله دوم: اجرای برشگیرها</a:t>
            </a:r>
          </a:p>
          <a:p>
            <a:pPr algn="r"/>
            <a:endParaRPr lang="fa-IR" sz="2400" b="1" i="0" dirty="0">
              <a:solidFill>
                <a:srgbClr val="393939"/>
              </a:solidFill>
              <a:effectLst/>
              <a:latin typeface="inherit"/>
            </a:endParaRPr>
          </a:p>
          <a:p>
            <a:pPr algn="r"/>
            <a:r>
              <a:rPr lang="fa-IR" sz="2400" b="0" i="0" dirty="0">
                <a:solidFill>
                  <a:srgbClr val="1E1E1E"/>
                </a:solidFill>
                <a:effectLst/>
                <a:latin typeface="IranSans"/>
              </a:rPr>
              <a:t>در مرحله بعدی ناودانی‌ها (که به عنوان برشگیر در طول تیرهای فرعی برای اتصال و یکپارچگی تیرها و دال بتنی استفاده می‌شوند) بر روی تیرهای فرعی اجرا خواهند شد. نباید از نبشی به جای ناودانی برای اجرای برشگیر استفاده کرد. لازم است که برشگیرها حداقل ۲۵ میلی‌متر پوشش جانبی از بتن داشته باشند و همچنین حداکثر فاصله مرکز تا مرکز برشگیرهای ناوانی باید ۵۰۰ میلی‌متر باشد.</a:t>
            </a:r>
          </a:p>
        </p:txBody>
      </p:sp>
    </p:spTree>
    <p:extLst>
      <p:ext uri="{BB962C8B-B14F-4D97-AF65-F5344CB8AC3E}">
        <p14:creationId xmlns:p14="http://schemas.microsoft.com/office/powerpoint/2010/main" val="360598450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C27B2-FA54-6BF0-8B2B-EC5FE8EAF953}"/>
              </a:ext>
            </a:extLst>
          </p:cNvPr>
          <p:cNvSpPr>
            <a:spLocks noGrp="1"/>
          </p:cNvSpPr>
          <p:nvPr>
            <p:ph type="title"/>
          </p:nvPr>
        </p:nvSpPr>
        <p:spPr/>
        <p:txBody>
          <a:bodyPr/>
          <a:lstStyle/>
          <a:p>
            <a:pPr algn="r"/>
            <a:r>
              <a:rPr lang="fa-IR" dirty="0">
                <a:cs typeface="B Nazanin" panose="00000400000000000000" pitchFamily="2" charset="-78"/>
              </a:rPr>
              <a:t>سقف های کامپوزیت :</a:t>
            </a:r>
            <a:endParaRPr lang="en-US" dirty="0">
              <a:cs typeface="B Nazanin" panose="00000400000000000000" pitchFamily="2" charset="-78"/>
            </a:endParaRPr>
          </a:p>
        </p:txBody>
      </p:sp>
      <p:sp>
        <p:nvSpPr>
          <p:cNvPr id="11" name="Slide Number Placeholder 10">
            <a:extLst>
              <a:ext uri="{FF2B5EF4-FFF2-40B4-BE49-F238E27FC236}">
                <a16:creationId xmlns:a16="http://schemas.microsoft.com/office/drawing/2014/main" id="{58365087-D81F-0033-D33C-D0C5F84571D6}"/>
              </a:ext>
            </a:extLst>
          </p:cNvPr>
          <p:cNvSpPr>
            <a:spLocks noGrp="1"/>
          </p:cNvSpPr>
          <p:nvPr>
            <p:ph type="sldNum" sz="quarter" idx="12"/>
          </p:nvPr>
        </p:nvSpPr>
        <p:spPr/>
        <p:txBody>
          <a:bodyPr/>
          <a:lstStyle/>
          <a:p>
            <a:fld id="{FAEF9944-A4F6-4C59-AEBD-678D6480B8EA}" type="slidenum">
              <a:rPr lang="en-US" smtClean="0"/>
              <a:t>86</a:t>
            </a:fld>
            <a:endParaRPr lang="en-US" dirty="0"/>
          </a:p>
        </p:txBody>
      </p:sp>
      <p:sp>
        <p:nvSpPr>
          <p:cNvPr id="4" name="TextBox 3">
            <a:extLst>
              <a:ext uri="{FF2B5EF4-FFF2-40B4-BE49-F238E27FC236}">
                <a16:creationId xmlns:a16="http://schemas.microsoft.com/office/drawing/2014/main" id="{3FBA738C-AE95-1CAC-FCD4-B9522675578A}"/>
              </a:ext>
            </a:extLst>
          </p:cNvPr>
          <p:cNvSpPr txBox="1"/>
          <p:nvPr/>
        </p:nvSpPr>
        <p:spPr>
          <a:xfrm>
            <a:off x="885454" y="1667547"/>
            <a:ext cx="10900146" cy="3046988"/>
          </a:xfrm>
          <a:prstGeom prst="rect">
            <a:avLst/>
          </a:prstGeom>
          <a:noFill/>
        </p:spPr>
        <p:txBody>
          <a:bodyPr wrap="square">
            <a:spAutoFit/>
          </a:bodyPr>
          <a:lstStyle/>
          <a:p>
            <a:pPr algn="r"/>
            <a:r>
              <a:rPr lang="fa-IR" sz="2400" b="1" i="0" dirty="0">
                <a:solidFill>
                  <a:srgbClr val="393939"/>
                </a:solidFill>
                <a:effectLst/>
                <a:latin typeface="inherit"/>
              </a:rPr>
              <a:t>مرحله سوم: قالب‌بندی</a:t>
            </a:r>
          </a:p>
          <a:p>
            <a:pPr algn="r"/>
            <a:endParaRPr lang="fa-IR" sz="2400" b="1" i="0" dirty="0">
              <a:solidFill>
                <a:srgbClr val="393939"/>
              </a:solidFill>
              <a:effectLst/>
              <a:latin typeface="inherit"/>
            </a:endParaRPr>
          </a:p>
          <a:p>
            <a:pPr algn="r"/>
            <a:r>
              <a:rPr lang="fa-IR" sz="2400" b="0" i="0" dirty="0">
                <a:solidFill>
                  <a:srgbClr val="1E1E1E"/>
                </a:solidFill>
                <a:effectLst/>
                <a:latin typeface="IranSans"/>
              </a:rPr>
              <a:t>در اجرای سقف کامپوزیت و بعد از اجرای اسکلت و تیرهای فرعی و برشگیرها باید قالب‌بندی انجام شود. قالب‌بندی این سقف‌ها به روش تخته‌کوبی و بعد از اجرای اسکلت و نصب تیرهای فرعی انجام می‌شود. در این روش از تخته‌های ۴ تراش با ابعاد ۵ در ۵ یا ۷ در ۷ که طول آنها به اندازه فاصله بین دو تیر فرعی داخل جان تیرها است استفاده می‌شود. این تخته با فاصله ۶۰ تا ۷۰ سانتی‌متر از هم و توسط گوه کوبی در میان بال پایین تیرها و زیر چهار تراش‌ها محکم می‌شوند. سپس تخته‌ها بر روی چهار تراش‌ها قرار می‌گیرند و کاملاً سطح را پوشش می‌دهند. البته تخته‌ها حتماً باید روغن‌کاری شوند.</a:t>
            </a:r>
          </a:p>
        </p:txBody>
      </p:sp>
    </p:spTree>
    <p:extLst>
      <p:ext uri="{BB962C8B-B14F-4D97-AF65-F5344CB8AC3E}">
        <p14:creationId xmlns:p14="http://schemas.microsoft.com/office/powerpoint/2010/main" val="67043695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C27B2-FA54-6BF0-8B2B-EC5FE8EAF953}"/>
              </a:ext>
            </a:extLst>
          </p:cNvPr>
          <p:cNvSpPr>
            <a:spLocks noGrp="1"/>
          </p:cNvSpPr>
          <p:nvPr>
            <p:ph type="title"/>
          </p:nvPr>
        </p:nvSpPr>
        <p:spPr/>
        <p:txBody>
          <a:bodyPr/>
          <a:lstStyle/>
          <a:p>
            <a:pPr algn="r"/>
            <a:r>
              <a:rPr lang="fa-IR" dirty="0">
                <a:cs typeface="B Nazanin" panose="00000400000000000000" pitchFamily="2" charset="-78"/>
              </a:rPr>
              <a:t>سقف های کامپوزیت :</a:t>
            </a:r>
            <a:endParaRPr lang="en-US" dirty="0">
              <a:cs typeface="B Nazanin" panose="00000400000000000000" pitchFamily="2" charset="-78"/>
            </a:endParaRPr>
          </a:p>
        </p:txBody>
      </p:sp>
      <p:sp>
        <p:nvSpPr>
          <p:cNvPr id="11" name="Slide Number Placeholder 10">
            <a:extLst>
              <a:ext uri="{FF2B5EF4-FFF2-40B4-BE49-F238E27FC236}">
                <a16:creationId xmlns:a16="http://schemas.microsoft.com/office/drawing/2014/main" id="{58365087-D81F-0033-D33C-D0C5F84571D6}"/>
              </a:ext>
            </a:extLst>
          </p:cNvPr>
          <p:cNvSpPr>
            <a:spLocks noGrp="1"/>
          </p:cNvSpPr>
          <p:nvPr>
            <p:ph type="sldNum" sz="quarter" idx="12"/>
          </p:nvPr>
        </p:nvSpPr>
        <p:spPr/>
        <p:txBody>
          <a:bodyPr/>
          <a:lstStyle/>
          <a:p>
            <a:fld id="{FAEF9944-A4F6-4C59-AEBD-678D6480B8EA}" type="slidenum">
              <a:rPr lang="en-US" smtClean="0"/>
              <a:t>87</a:t>
            </a:fld>
            <a:endParaRPr lang="en-US" dirty="0"/>
          </a:p>
        </p:txBody>
      </p:sp>
      <p:sp>
        <p:nvSpPr>
          <p:cNvPr id="4" name="TextBox 3">
            <a:extLst>
              <a:ext uri="{FF2B5EF4-FFF2-40B4-BE49-F238E27FC236}">
                <a16:creationId xmlns:a16="http://schemas.microsoft.com/office/drawing/2014/main" id="{3FBA738C-AE95-1CAC-FCD4-B9522675578A}"/>
              </a:ext>
            </a:extLst>
          </p:cNvPr>
          <p:cNvSpPr txBox="1"/>
          <p:nvPr/>
        </p:nvSpPr>
        <p:spPr>
          <a:xfrm>
            <a:off x="830036" y="2138602"/>
            <a:ext cx="10900146" cy="1938992"/>
          </a:xfrm>
          <a:prstGeom prst="rect">
            <a:avLst/>
          </a:prstGeom>
          <a:noFill/>
        </p:spPr>
        <p:txBody>
          <a:bodyPr wrap="square">
            <a:spAutoFit/>
          </a:bodyPr>
          <a:lstStyle/>
          <a:p>
            <a:pPr algn="r"/>
            <a:r>
              <a:rPr lang="fa-IR" sz="2400" b="1" i="0" dirty="0">
                <a:solidFill>
                  <a:srgbClr val="393939"/>
                </a:solidFill>
                <a:effectLst/>
                <a:latin typeface="inherit"/>
              </a:rPr>
              <a:t>مرحله چهارم: اجرای میلگردهای حرارتی</a:t>
            </a:r>
          </a:p>
          <a:p>
            <a:pPr algn="r"/>
            <a:endParaRPr lang="fa-IR" sz="2400" b="1" i="0" dirty="0">
              <a:solidFill>
                <a:srgbClr val="393939"/>
              </a:solidFill>
              <a:effectLst/>
              <a:latin typeface="inherit"/>
            </a:endParaRPr>
          </a:p>
          <a:p>
            <a:pPr algn="r"/>
            <a:r>
              <a:rPr lang="fa-IR" sz="2400" b="0" i="0" dirty="0">
                <a:solidFill>
                  <a:srgbClr val="1E1E1E"/>
                </a:solidFill>
                <a:effectLst/>
                <a:latin typeface="IranSans"/>
              </a:rPr>
              <a:t>بعد از قالب‌بندی باید میلگردهای حرارتی را در دو جهت طولی و عرضی با فاصله مشخص با استفاده از سیم مفتول آرماتوربندی در محل تقاطع به هم متصل کرده و محکم نمود. میلگردها حتماً باید از نوع آجدار باشند تا در زمان بتن‌ریزی جابجا نشوند.</a:t>
            </a:r>
          </a:p>
        </p:txBody>
      </p:sp>
    </p:spTree>
    <p:extLst>
      <p:ext uri="{BB962C8B-B14F-4D97-AF65-F5344CB8AC3E}">
        <p14:creationId xmlns:p14="http://schemas.microsoft.com/office/powerpoint/2010/main" val="348398027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C27B2-FA54-6BF0-8B2B-EC5FE8EAF953}"/>
              </a:ext>
            </a:extLst>
          </p:cNvPr>
          <p:cNvSpPr>
            <a:spLocks noGrp="1"/>
          </p:cNvSpPr>
          <p:nvPr>
            <p:ph type="title"/>
          </p:nvPr>
        </p:nvSpPr>
        <p:spPr/>
        <p:txBody>
          <a:bodyPr/>
          <a:lstStyle/>
          <a:p>
            <a:pPr algn="r"/>
            <a:r>
              <a:rPr lang="fa-IR" dirty="0">
                <a:cs typeface="B Nazanin" panose="00000400000000000000" pitchFamily="2" charset="-78"/>
              </a:rPr>
              <a:t>سقف های کامپوزیت :</a:t>
            </a:r>
            <a:endParaRPr lang="en-US" dirty="0">
              <a:cs typeface="B Nazanin" panose="00000400000000000000" pitchFamily="2" charset="-78"/>
            </a:endParaRPr>
          </a:p>
        </p:txBody>
      </p:sp>
      <p:sp>
        <p:nvSpPr>
          <p:cNvPr id="11" name="Slide Number Placeholder 10">
            <a:extLst>
              <a:ext uri="{FF2B5EF4-FFF2-40B4-BE49-F238E27FC236}">
                <a16:creationId xmlns:a16="http://schemas.microsoft.com/office/drawing/2014/main" id="{58365087-D81F-0033-D33C-D0C5F84571D6}"/>
              </a:ext>
            </a:extLst>
          </p:cNvPr>
          <p:cNvSpPr>
            <a:spLocks noGrp="1"/>
          </p:cNvSpPr>
          <p:nvPr>
            <p:ph type="sldNum" sz="quarter" idx="12"/>
          </p:nvPr>
        </p:nvSpPr>
        <p:spPr/>
        <p:txBody>
          <a:bodyPr/>
          <a:lstStyle/>
          <a:p>
            <a:fld id="{FAEF9944-A4F6-4C59-AEBD-678D6480B8EA}" type="slidenum">
              <a:rPr lang="en-US" smtClean="0"/>
              <a:t>88</a:t>
            </a:fld>
            <a:endParaRPr lang="en-US" dirty="0"/>
          </a:p>
        </p:txBody>
      </p:sp>
      <p:sp>
        <p:nvSpPr>
          <p:cNvPr id="4" name="TextBox 3">
            <a:extLst>
              <a:ext uri="{FF2B5EF4-FFF2-40B4-BE49-F238E27FC236}">
                <a16:creationId xmlns:a16="http://schemas.microsoft.com/office/drawing/2014/main" id="{3FBA738C-AE95-1CAC-FCD4-B9522675578A}"/>
              </a:ext>
            </a:extLst>
          </p:cNvPr>
          <p:cNvSpPr txBox="1"/>
          <p:nvPr/>
        </p:nvSpPr>
        <p:spPr>
          <a:xfrm>
            <a:off x="648935" y="1852274"/>
            <a:ext cx="10900146" cy="2677656"/>
          </a:xfrm>
          <a:prstGeom prst="rect">
            <a:avLst/>
          </a:prstGeom>
          <a:noFill/>
        </p:spPr>
        <p:txBody>
          <a:bodyPr wrap="square">
            <a:spAutoFit/>
          </a:bodyPr>
          <a:lstStyle/>
          <a:p>
            <a:pPr algn="r" rtl="1"/>
            <a:r>
              <a:rPr lang="fa-IR" sz="2400" b="1" i="0" dirty="0">
                <a:solidFill>
                  <a:srgbClr val="393939"/>
                </a:solidFill>
                <a:effectLst/>
                <a:latin typeface="inherit"/>
              </a:rPr>
              <a:t>مرحله پنجم: نصب (</a:t>
            </a:r>
            <a:r>
              <a:rPr lang="en-US" sz="2400" b="1" i="0" dirty="0">
                <a:solidFill>
                  <a:srgbClr val="393939"/>
                </a:solidFill>
                <a:effectLst/>
                <a:latin typeface="inherit"/>
              </a:rPr>
              <a:t>Spacer</a:t>
            </a:r>
            <a:r>
              <a:rPr lang="fa-IR" sz="2400" b="1" dirty="0">
                <a:solidFill>
                  <a:srgbClr val="393939"/>
                </a:solidFill>
                <a:latin typeface="inherit"/>
              </a:rPr>
              <a:t>)</a:t>
            </a:r>
            <a:r>
              <a:rPr lang="fa-IR" sz="2400" b="1" i="0" dirty="0">
                <a:solidFill>
                  <a:srgbClr val="393939"/>
                </a:solidFill>
                <a:effectLst/>
                <a:latin typeface="inherit"/>
              </a:rPr>
              <a:t> اسپیسر</a:t>
            </a:r>
          </a:p>
          <a:p>
            <a:pPr algn="r" rtl="1"/>
            <a:endParaRPr lang="fa-IR" sz="2400" b="1" i="0" dirty="0">
              <a:solidFill>
                <a:srgbClr val="393939"/>
              </a:solidFill>
              <a:effectLst/>
              <a:latin typeface="inherit"/>
            </a:endParaRPr>
          </a:p>
          <a:p>
            <a:pPr algn="r" rtl="1"/>
            <a:r>
              <a:rPr lang="fa-IR" sz="2400" b="0" i="0" dirty="0">
                <a:solidFill>
                  <a:srgbClr val="1E1E1E"/>
                </a:solidFill>
                <a:effectLst/>
                <a:latin typeface="IranSans"/>
              </a:rPr>
              <a:t> </a:t>
            </a:r>
            <a:r>
              <a:rPr lang="en-US" sz="2400" b="0" i="0" dirty="0">
                <a:solidFill>
                  <a:srgbClr val="1E1E1E"/>
                </a:solidFill>
                <a:effectLst/>
                <a:latin typeface="IranSans"/>
              </a:rPr>
              <a:t>Spacer</a:t>
            </a:r>
            <a:r>
              <a:rPr lang="fa-IR" sz="2400" b="0" i="0" dirty="0">
                <a:solidFill>
                  <a:srgbClr val="1E1E1E"/>
                </a:solidFill>
                <a:effectLst/>
                <a:latin typeface="IranSans"/>
              </a:rPr>
              <a:t> در حقیقت یک قطعه پلاستیکی، بتنی یا فولادی است که زیر میلگردها نصب شده تا از فرو ریختن میلگردها به ته قالب در زمان بتن‌ریزی جلوگیری کند. حداقل فاصله استاندارد بین میلگرد حرارتی و کف بتن باید ۳ سانتی‌متر باشد. در اصل هدف از نصب </a:t>
            </a:r>
            <a:r>
              <a:rPr lang="en-US" sz="2400" b="0" i="0" dirty="0">
                <a:solidFill>
                  <a:srgbClr val="1E1E1E"/>
                </a:solidFill>
                <a:effectLst/>
                <a:latin typeface="IranSans"/>
              </a:rPr>
              <a:t>Spacer </a:t>
            </a:r>
            <a:r>
              <a:rPr lang="fa-IR" sz="2400" b="0" i="0" dirty="0">
                <a:solidFill>
                  <a:srgbClr val="1E1E1E"/>
                </a:solidFill>
                <a:effectLst/>
                <a:latin typeface="IranSans"/>
              </a:rPr>
              <a:t> در اجرای سقف کامپوزیت ایجاد کاور مناسب برای بتن و ممانعت از خوردگی میلگردهاست. همچنین بعد از اتمام آرماتوربندی از یک قالب محیطی با ارتفاع ۱۰ سانتی‌متر برای جلوگیری از ریزش بتن به طبقات پایین‌تر استفاده می‌شود</a:t>
            </a:r>
          </a:p>
        </p:txBody>
      </p:sp>
    </p:spTree>
    <p:extLst>
      <p:ext uri="{BB962C8B-B14F-4D97-AF65-F5344CB8AC3E}">
        <p14:creationId xmlns:p14="http://schemas.microsoft.com/office/powerpoint/2010/main" val="201431726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C27B2-FA54-6BF0-8B2B-EC5FE8EAF953}"/>
              </a:ext>
            </a:extLst>
          </p:cNvPr>
          <p:cNvSpPr>
            <a:spLocks noGrp="1"/>
          </p:cNvSpPr>
          <p:nvPr>
            <p:ph type="title"/>
          </p:nvPr>
        </p:nvSpPr>
        <p:spPr/>
        <p:txBody>
          <a:bodyPr/>
          <a:lstStyle/>
          <a:p>
            <a:pPr algn="r"/>
            <a:r>
              <a:rPr lang="fa-IR" dirty="0">
                <a:cs typeface="B Nazanin" panose="00000400000000000000" pitchFamily="2" charset="-78"/>
              </a:rPr>
              <a:t>سقف های کامپوزیت :</a:t>
            </a:r>
            <a:endParaRPr lang="en-US" dirty="0">
              <a:cs typeface="B Nazanin" panose="00000400000000000000" pitchFamily="2" charset="-78"/>
            </a:endParaRPr>
          </a:p>
        </p:txBody>
      </p:sp>
      <p:sp>
        <p:nvSpPr>
          <p:cNvPr id="11" name="Slide Number Placeholder 10">
            <a:extLst>
              <a:ext uri="{FF2B5EF4-FFF2-40B4-BE49-F238E27FC236}">
                <a16:creationId xmlns:a16="http://schemas.microsoft.com/office/drawing/2014/main" id="{58365087-D81F-0033-D33C-D0C5F84571D6}"/>
              </a:ext>
            </a:extLst>
          </p:cNvPr>
          <p:cNvSpPr>
            <a:spLocks noGrp="1"/>
          </p:cNvSpPr>
          <p:nvPr>
            <p:ph type="sldNum" sz="quarter" idx="12"/>
          </p:nvPr>
        </p:nvSpPr>
        <p:spPr/>
        <p:txBody>
          <a:bodyPr/>
          <a:lstStyle/>
          <a:p>
            <a:fld id="{FAEF9944-A4F6-4C59-AEBD-678D6480B8EA}" type="slidenum">
              <a:rPr lang="en-US" smtClean="0"/>
              <a:t>89</a:t>
            </a:fld>
            <a:endParaRPr lang="en-US" dirty="0"/>
          </a:p>
        </p:txBody>
      </p:sp>
      <p:sp>
        <p:nvSpPr>
          <p:cNvPr id="4" name="TextBox 3">
            <a:extLst>
              <a:ext uri="{FF2B5EF4-FFF2-40B4-BE49-F238E27FC236}">
                <a16:creationId xmlns:a16="http://schemas.microsoft.com/office/drawing/2014/main" id="{3FBA738C-AE95-1CAC-FCD4-B9522675578A}"/>
              </a:ext>
            </a:extLst>
          </p:cNvPr>
          <p:cNvSpPr txBox="1"/>
          <p:nvPr/>
        </p:nvSpPr>
        <p:spPr>
          <a:xfrm>
            <a:off x="885454" y="2175547"/>
            <a:ext cx="10900146" cy="1938992"/>
          </a:xfrm>
          <a:prstGeom prst="rect">
            <a:avLst/>
          </a:prstGeom>
          <a:noFill/>
        </p:spPr>
        <p:txBody>
          <a:bodyPr wrap="square">
            <a:spAutoFit/>
          </a:bodyPr>
          <a:lstStyle/>
          <a:p>
            <a:pPr algn="r"/>
            <a:r>
              <a:rPr lang="fa-IR" sz="2400" b="1" i="0" dirty="0">
                <a:solidFill>
                  <a:srgbClr val="393939"/>
                </a:solidFill>
                <a:effectLst/>
                <a:latin typeface="inherit"/>
              </a:rPr>
              <a:t>مرحله ششم: بتن‌ریزی</a:t>
            </a:r>
          </a:p>
          <a:p>
            <a:pPr algn="r"/>
            <a:endParaRPr lang="fa-IR" sz="2400" b="1" i="0" dirty="0">
              <a:solidFill>
                <a:srgbClr val="393939"/>
              </a:solidFill>
              <a:effectLst/>
              <a:latin typeface="inherit"/>
            </a:endParaRPr>
          </a:p>
          <a:p>
            <a:pPr algn="r"/>
            <a:r>
              <a:rPr lang="fa-IR" sz="2400" b="0" i="0" dirty="0">
                <a:solidFill>
                  <a:srgbClr val="1E1E1E"/>
                </a:solidFill>
                <a:effectLst/>
                <a:latin typeface="IranSans"/>
              </a:rPr>
              <a:t>بعد از انجام تمامی مرحله قبلی بتن‌ریزی انجام‌شده و به منظور یکدست شدن و خارج شدن حباب‌های هوا از آن ویبره کاری شده و به صورت منظم آبیاری می‌شود تا استحکام بالایی داشته باشد. ضخامت بتن در این نوع سقف‌ها معمولاً ۸ تا ۱۲ سانتی‌متر است و بتن دارای عیار ۳۰۰ تا ۳۵۰ کیلوگرم خواهد بود.</a:t>
            </a:r>
          </a:p>
        </p:txBody>
      </p:sp>
    </p:spTree>
    <p:extLst>
      <p:ext uri="{BB962C8B-B14F-4D97-AF65-F5344CB8AC3E}">
        <p14:creationId xmlns:p14="http://schemas.microsoft.com/office/powerpoint/2010/main" val="2435702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C27B2-FA54-6BF0-8B2B-EC5FE8EAF953}"/>
              </a:ext>
            </a:extLst>
          </p:cNvPr>
          <p:cNvSpPr>
            <a:spLocks noGrp="1"/>
          </p:cNvSpPr>
          <p:nvPr>
            <p:ph type="title"/>
          </p:nvPr>
        </p:nvSpPr>
        <p:spPr/>
        <p:txBody>
          <a:bodyPr/>
          <a:lstStyle/>
          <a:p>
            <a:pPr algn="r"/>
            <a:r>
              <a:rPr lang="fa-IR" dirty="0">
                <a:cs typeface="B Nazanin" panose="00000400000000000000" pitchFamily="2" charset="-78"/>
              </a:rPr>
              <a:t>سقف های کامپوزیت :</a:t>
            </a:r>
            <a:endParaRPr lang="en-US" dirty="0">
              <a:cs typeface="B Nazanin" panose="00000400000000000000" pitchFamily="2" charset="-78"/>
            </a:endParaRPr>
          </a:p>
        </p:txBody>
      </p:sp>
      <p:sp>
        <p:nvSpPr>
          <p:cNvPr id="11" name="Slide Number Placeholder 10">
            <a:extLst>
              <a:ext uri="{FF2B5EF4-FFF2-40B4-BE49-F238E27FC236}">
                <a16:creationId xmlns:a16="http://schemas.microsoft.com/office/drawing/2014/main" id="{58365087-D81F-0033-D33C-D0C5F84571D6}"/>
              </a:ext>
            </a:extLst>
          </p:cNvPr>
          <p:cNvSpPr>
            <a:spLocks noGrp="1"/>
          </p:cNvSpPr>
          <p:nvPr>
            <p:ph type="sldNum" sz="quarter" idx="12"/>
          </p:nvPr>
        </p:nvSpPr>
        <p:spPr/>
        <p:txBody>
          <a:bodyPr/>
          <a:lstStyle/>
          <a:p>
            <a:fld id="{FAEF9944-A4F6-4C59-AEBD-678D6480B8EA}" type="slidenum">
              <a:rPr lang="en-US" smtClean="0"/>
              <a:t>90</a:t>
            </a:fld>
            <a:endParaRPr lang="en-US" dirty="0"/>
          </a:p>
        </p:txBody>
      </p:sp>
      <p:sp>
        <p:nvSpPr>
          <p:cNvPr id="4" name="TextBox 3">
            <a:extLst>
              <a:ext uri="{FF2B5EF4-FFF2-40B4-BE49-F238E27FC236}">
                <a16:creationId xmlns:a16="http://schemas.microsoft.com/office/drawing/2014/main" id="{3FBA738C-AE95-1CAC-FCD4-B9522675578A}"/>
              </a:ext>
            </a:extLst>
          </p:cNvPr>
          <p:cNvSpPr txBox="1"/>
          <p:nvPr/>
        </p:nvSpPr>
        <p:spPr>
          <a:xfrm>
            <a:off x="857746" y="1720840"/>
            <a:ext cx="10900146" cy="3416320"/>
          </a:xfrm>
          <a:prstGeom prst="rect">
            <a:avLst/>
          </a:prstGeom>
          <a:noFill/>
        </p:spPr>
        <p:txBody>
          <a:bodyPr wrap="square">
            <a:spAutoFit/>
          </a:bodyPr>
          <a:lstStyle/>
          <a:p>
            <a:pPr algn="r"/>
            <a:r>
              <a:rPr lang="fa-IR" sz="2400" b="1" i="0" dirty="0">
                <a:solidFill>
                  <a:srgbClr val="393939"/>
                </a:solidFill>
                <a:effectLst/>
                <a:latin typeface="inherit"/>
              </a:rPr>
              <a:t>نحوه اجرای سقف کامپوزیت</a:t>
            </a:r>
          </a:p>
          <a:p>
            <a:pPr algn="r"/>
            <a:endParaRPr lang="fa-IR" sz="2400" b="1" i="0" dirty="0">
              <a:solidFill>
                <a:srgbClr val="393939"/>
              </a:solidFill>
              <a:effectLst/>
              <a:latin typeface="inherit"/>
            </a:endParaRPr>
          </a:p>
          <a:p>
            <a:pPr algn="r"/>
            <a:r>
              <a:rPr lang="fa-IR" sz="2400" b="0" i="0" dirty="0">
                <a:solidFill>
                  <a:srgbClr val="1E1E1E"/>
                </a:solidFill>
                <a:effectLst/>
                <a:latin typeface="IranSans"/>
              </a:rPr>
              <a:t>به صورت کلی سقف‌های کامپوزیتی می‌توانند به دو روش مختلف انجام شوند که هر کدام شرایط خاص خود را دارند:</a:t>
            </a:r>
          </a:p>
          <a:p>
            <a:pPr algn="r"/>
            <a:endParaRPr lang="fa-IR" sz="2400" b="0" i="0" dirty="0">
              <a:solidFill>
                <a:srgbClr val="1E1E1E"/>
              </a:solidFill>
              <a:effectLst/>
              <a:latin typeface="IranSans"/>
            </a:endParaRPr>
          </a:p>
          <a:p>
            <a:pPr marL="342900" indent="-342900" algn="r" rtl="1">
              <a:buFont typeface="Arial" panose="020B0604020202020204" pitchFamily="34" charset="0"/>
              <a:buChar char="•"/>
            </a:pPr>
            <a:r>
              <a:rPr lang="fa-IR" sz="2400" b="1" i="0" dirty="0">
                <a:solidFill>
                  <a:srgbClr val="393939"/>
                </a:solidFill>
                <a:effectLst/>
                <a:latin typeface="inherit"/>
              </a:rPr>
              <a:t>اجرای سقف مرکب بدون شمع بندی</a:t>
            </a:r>
          </a:p>
          <a:p>
            <a:pPr algn="r"/>
            <a:r>
              <a:rPr lang="fa-IR" sz="2400" b="0" i="0" dirty="0">
                <a:solidFill>
                  <a:srgbClr val="1E1E1E"/>
                </a:solidFill>
                <a:effectLst/>
                <a:latin typeface="IranSans"/>
              </a:rPr>
              <a:t>در این روش از قالب‌های چوبی استفاده شده و نیازی به اجرای شمع زیر تیرهای فلزی و دال بتنی نیست. تیرهای فلزی در این روش تیرهای فلزی باید وزن خود به ‌اضافه‌ وزن قالب‌بندی و تمام بار مرده قبل گیرش بتن را تحمل کنند. در این روش بعد از مرحله کسب مقاومت توسط بتن و عملکرد مرکب سقف هر نوع باری که از آن به بعد به سقف اعمال می‌شود، توسط مقطع مرکب حمل می‌گردد.</a:t>
            </a:r>
          </a:p>
        </p:txBody>
      </p:sp>
    </p:spTree>
    <p:extLst>
      <p:ext uri="{BB962C8B-B14F-4D97-AF65-F5344CB8AC3E}">
        <p14:creationId xmlns:p14="http://schemas.microsoft.com/office/powerpoint/2010/main" val="320130911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C27B2-FA54-6BF0-8B2B-EC5FE8EAF953}"/>
              </a:ext>
            </a:extLst>
          </p:cNvPr>
          <p:cNvSpPr>
            <a:spLocks noGrp="1"/>
          </p:cNvSpPr>
          <p:nvPr>
            <p:ph type="title"/>
          </p:nvPr>
        </p:nvSpPr>
        <p:spPr/>
        <p:txBody>
          <a:bodyPr/>
          <a:lstStyle/>
          <a:p>
            <a:pPr algn="r"/>
            <a:r>
              <a:rPr lang="fa-IR" dirty="0">
                <a:cs typeface="B Nazanin" panose="00000400000000000000" pitchFamily="2" charset="-78"/>
              </a:rPr>
              <a:t>سقف های کامپوزیت :</a:t>
            </a:r>
            <a:endParaRPr lang="en-US" dirty="0">
              <a:cs typeface="B Nazanin" panose="00000400000000000000" pitchFamily="2" charset="-78"/>
            </a:endParaRPr>
          </a:p>
        </p:txBody>
      </p:sp>
      <p:sp>
        <p:nvSpPr>
          <p:cNvPr id="11" name="Slide Number Placeholder 10">
            <a:extLst>
              <a:ext uri="{FF2B5EF4-FFF2-40B4-BE49-F238E27FC236}">
                <a16:creationId xmlns:a16="http://schemas.microsoft.com/office/drawing/2014/main" id="{58365087-D81F-0033-D33C-D0C5F84571D6}"/>
              </a:ext>
            </a:extLst>
          </p:cNvPr>
          <p:cNvSpPr>
            <a:spLocks noGrp="1"/>
          </p:cNvSpPr>
          <p:nvPr>
            <p:ph type="sldNum" sz="quarter" idx="12"/>
          </p:nvPr>
        </p:nvSpPr>
        <p:spPr/>
        <p:txBody>
          <a:bodyPr/>
          <a:lstStyle/>
          <a:p>
            <a:fld id="{FAEF9944-A4F6-4C59-AEBD-678D6480B8EA}" type="slidenum">
              <a:rPr lang="en-US" smtClean="0"/>
              <a:t>91</a:t>
            </a:fld>
            <a:endParaRPr lang="en-US" dirty="0"/>
          </a:p>
        </p:txBody>
      </p:sp>
      <p:sp>
        <p:nvSpPr>
          <p:cNvPr id="4" name="TextBox 3">
            <a:extLst>
              <a:ext uri="{FF2B5EF4-FFF2-40B4-BE49-F238E27FC236}">
                <a16:creationId xmlns:a16="http://schemas.microsoft.com/office/drawing/2014/main" id="{3FBA738C-AE95-1CAC-FCD4-B9522675578A}"/>
              </a:ext>
            </a:extLst>
          </p:cNvPr>
          <p:cNvSpPr txBox="1"/>
          <p:nvPr/>
        </p:nvSpPr>
        <p:spPr>
          <a:xfrm>
            <a:off x="857744" y="1977266"/>
            <a:ext cx="10900146" cy="1938992"/>
          </a:xfrm>
          <a:prstGeom prst="rect">
            <a:avLst/>
          </a:prstGeom>
          <a:noFill/>
        </p:spPr>
        <p:txBody>
          <a:bodyPr wrap="square">
            <a:spAutoFit/>
          </a:bodyPr>
          <a:lstStyle/>
          <a:p>
            <a:pPr algn="r"/>
            <a:endParaRPr lang="fa-IR" sz="2400" b="1" i="0" dirty="0">
              <a:solidFill>
                <a:srgbClr val="393939"/>
              </a:solidFill>
              <a:effectLst/>
              <a:latin typeface="inherit"/>
            </a:endParaRPr>
          </a:p>
          <a:p>
            <a:pPr marL="342900" indent="-342900" algn="r" rtl="1">
              <a:buFont typeface="Arial" panose="020B0604020202020204" pitchFamily="34" charset="0"/>
              <a:buChar char="•"/>
            </a:pPr>
            <a:r>
              <a:rPr lang="fa-IR" sz="2400" b="1" i="0" dirty="0">
                <a:solidFill>
                  <a:srgbClr val="393939"/>
                </a:solidFill>
                <a:effectLst/>
                <a:latin typeface="inherit"/>
              </a:rPr>
              <a:t>اجرای سقف مرکب به کمک شمع بندی</a:t>
            </a:r>
          </a:p>
          <a:p>
            <a:pPr algn="r"/>
            <a:r>
              <a:rPr lang="fa-IR" sz="2400" b="0" i="0" dirty="0">
                <a:solidFill>
                  <a:srgbClr val="1E1E1E"/>
                </a:solidFill>
                <a:effectLst/>
                <a:latin typeface="IranSans"/>
              </a:rPr>
              <a:t>در این روش تیر فولادی نباید هیچ‌گونه باری را قبل از رسیدن به مرحله عملکرد مرکب تحمل کند و برای تحقق این امر در زیر تیرها از شمع استفاده می‌شود و در زمان اجرای سقف هیچ‌گونه تنشی وجود نخواهد داشت و بعد از گیرش، مقاوم شدن بتن و همچنین حذف پایه‌ها توسط مقطع مرکب حمل بار صورت خواهد گرفت</a:t>
            </a:r>
          </a:p>
        </p:txBody>
      </p:sp>
    </p:spTree>
    <p:extLst>
      <p:ext uri="{BB962C8B-B14F-4D97-AF65-F5344CB8AC3E}">
        <p14:creationId xmlns:p14="http://schemas.microsoft.com/office/powerpoint/2010/main" val="164656631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C27B2-FA54-6BF0-8B2B-EC5FE8EAF953}"/>
              </a:ext>
            </a:extLst>
          </p:cNvPr>
          <p:cNvSpPr>
            <a:spLocks noGrp="1"/>
          </p:cNvSpPr>
          <p:nvPr>
            <p:ph type="title"/>
          </p:nvPr>
        </p:nvSpPr>
        <p:spPr/>
        <p:txBody>
          <a:bodyPr/>
          <a:lstStyle/>
          <a:p>
            <a:pPr algn="r"/>
            <a:r>
              <a:rPr lang="fa-IR" dirty="0">
                <a:cs typeface="B Nazanin" panose="00000400000000000000" pitchFamily="2" charset="-78"/>
              </a:rPr>
              <a:t>سقف های کامپوزیت :</a:t>
            </a:r>
            <a:endParaRPr lang="en-US" dirty="0">
              <a:cs typeface="B Nazanin" panose="00000400000000000000" pitchFamily="2" charset="-78"/>
            </a:endParaRPr>
          </a:p>
        </p:txBody>
      </p:sp>
      <p:sp>
        <p:nvSpPr>
          <p:cNvPr id="11" name="Slide Number Placeholder 10">
            <a:extLst>
              <a:ext uri="{FF2B5EF4-FFF2-40B4-BE49-F238E27FC236}">
                <a16:creationId xmlns:a16="http://schemas.microsoft.com/office/drawing/2014/main" id="{58365087-D81F-0033-D33C-D0C5F84571D6}"/>
              </a:ext>
            </a:extLst>
          </p:cNvPr>
          <p:cNvSpPr>
            <a:spLocks noGrp="1"/>
          </p:cNvSpPr>
          <p:nvPr>
            <p:ph type="sldNum" sz="quarter" idx="12"/>
          </p:nvPr>
        </p:nvSpPr>
        <p:spPr/>
        <p:txBody>
          <a:bodyPr/>
          <a:lstStyle/>
          <a:p>
            <a:fld id="{FAEF9944-A4F6-4C59-AEBD-678D6480B8EA}" type="slidenum">
              <a:rPr lang="en-US" smtClean="0"/>
              <a:t>92</a:t>
            </a:fld>
            <a:endParaRPr lang="en-US" dirty="0"/>
          </a:p>
        </p:txBody>
      </p:sp>
      <p:sp>
        <p:nvSpPr>
          <p:cNvPr id="4" name="TextBox 3">
            <a:extLst>
              <a:ext uri="{FF2B5EF4-FFF2-40B4-BE49-F238E27FC236}">
                <a16:creationId xmlns:a16="http://schemas.microsoft.com/office/drawing/2014/main" id="{3FBA738C-AE95-1CAC-FCD4-B9522675578A}"/>
              </a:ext>
            </a:extLst>
          </p:cNvPr>
          <p:cNvSpPr txBox="1"/>
          <p:nvPr/>
        </p:nvSpPr>
        <p:spPr>
          <a:xfrm>
            <a:off x="913163" y="1720840"/>
            <a:ext cx="10900146" cy="3046988"/>
          </a:xfrm>
          <a:prstGeom prst="rect">
            <a:avLst/>
          </a:prstGeom>
          <a:noFill/>
        </p:spPr>
        <p:txBody>
          <a:bodyPr wrap="square">
            <a:spAutoFit/>
          </a:bodyPr>
          <a:lstStyle/>
          <a:p>
            <a:pPr algn="r"/>
            <a:r>
              <a:rPr lang="fa-IR" sz="2400" b="1" i="0" dirty="0">
                <a:solidFill>
                  <a:srgbClr val="393939"/>
                </a:solidFill>
                <a:effectLst/>
                <a:latin typeface="inherit"/>
              </a:rPr>
              <a:t>سقف کامپوزیت عرشه فولادی چیست و چگونه اجرا می‌شود؟</a:t>
            </a:r>
          </a:p>
          <a:p>
            <a:pPr algn="r"/>
            <a:endParaRPr lang="fa-IR" sz="2400" b="0" i="0" dirty="0">
              <a:solidFill>
                <a:srgbClr val="393939"/>
              </a:solidFill>
              <a:effectLst/>
              <a:latin typeface="inherit"/>
            </a:endParaRPr>
          </a:p>
          <a:p>
            <a:pPr algn="r"/>
            <a:r>
              <a:rPr lang="fa-IR" sz="2400" b="0" i="0" dirty="0">
                <a:solidFill>
                  <a:srgbClr val="1E1E1E"/>
                </a:solidFill>
                <a:effectLst/>
                <a:latin typeface="IranSans"/>
              </a:rPr>
              <a:t>سقف عرشه فولادی به وسیله ترکیب ورق‌های فلزی گالوانیزه موج‌دار با بتن ساخته می‌شود. این نوع سقف‌ها شناخته‌شده‌ترین نوع سقف‌های کامپوزیت است و اولین بار به عنوان قالب در جا استفاده می‌شدند و بتن مسلح بر روی آنها قرار می‌گرفت. این سقف‌ها از ابتدا فقط وظایفی همچون باربری حین اجرا و باربری قبل از گیرش بتن بود و سپس به گونه‌ای تغییر پیدا کرد که درگیری مکانیکی بین ورق زیری و بتن سقف به وجود آمد و به کمک برش گیرها و قالب‌های پیرامونی، دال سقف به تیرچه‌ها متصل شد. ورق‌ها در این حالت به آرماتورهای کششی سقف تبدیل می‌شوند و این ترکیب بین بتن، ورق تحتانی و تیرچه‌ها به عنوان سقف عرشه فولادی شناخته می‌شوند.</a:t>
            </a:r>
          </a:p>
        </p:txBody>
      </p:sp>
    </p:spTree>
    <p:extLst>
      <p:ext uri="{BB962C8B-B14F-4D97-AF65-F5344CB8AC3E}">
        <p14:creationId xmlns:p14="http://schemas.microsoft.com/office/powerpoint/2010/main" val="382904117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C27B2-FA54-6BF0-8B2B-EC5FE8EAF953}"/>
              </a:ext>
            </a:extLst>
          </p:cNvPr>
          <p:cNvSpPr>
            <a:spLocks noGrp="1"/>
          </p:cNvSpPr>
          <p:nvPr>
            <p:ph type="title"/>
          </p:nvPr>
        </p:nvSpPr>
        <p:spPr/>
        <p:txBody>
          <a:bodyPr/>
          <a:lstStyle/>
          <a:p>
            <a:pPr algn="r"/>
            <a:r>
              <a:rPr lang="fa-IR" dirty="0">
                <a:cs typeface="B Nazanin" panose="00000400000000000000" pitchFamily="2" charset="-78"/>
              </a:rPr>
              <a:t>سقف های کامپوزیت :</a:t>
            </a:r>
            <a:endParaRPr lang="en-US" dirty="0">
              <a:cs typeface="B Nazanin" panose="00000400000000000000" pitchFamily="2" charset="-78"/>
            </a:endParaRPr>
          </a:p>
        </p:txBody>
      </p:sp>
      <p:sp>
        <p:nvSpPr>
          <p:cNvPr id="11" name="Slide Number Placeholder 10">
            <a:extLst>
              <a:ext uri="{FF2B5EF4-FFF2-40B4-BE49-F238E27FC236}">
                <a16:creationId xmlns:a16="http://schemas.microsoft.com/office/drawing/2014/main" id="{58365087-D81F-0033-D33C-D0C5F84571D6}"/>
              </a:ext>
            </a:extLst>
          </p:cNvPr>
          <p:cNvSpPr>
            <a:spLocks noGrp="1"/>
          </p:cNvSpPr>
          <p:nvPr>
            <p:ph type="sldNum" sz="quarter" idx="12"/>
          </p:nvPr>
        </p:nvSpPr>
        <p:spPr/>
        <p:txBody>
          <a:bodyPr/>
          <a:lstStyle/>
          <a:p>
            <a:fld id="{FAEF9944-A4F6-4C59-AEBD-678D6480B8EA}" type="slidenum">
              <a:rPr lang="en-US" smtClean="0"/>
              <a:t>93</a:t>
            </a:fld>
            <a:endParaRPr lang="en-US" dirty="0"/>
          </a:p>
        </p:txBody>
      </p:sp>
      <p:sp>
        <p:nvSpPr>
          <p:cNvPr id="4" name="TextBox 3">
            <a:extLst>
              <a:ext uri="{FF2B5EF4-FFF2-40B4-BE49-F238E27FC236}">
                <a16:creationId xmlns:a16="http://schemas.microsoft.com/office/drawing/2014/main" id="{3FBA738C-AE95-1CAC-FCD4-B9522675578A}"/>
              </a:ext>
            </a:extLst>
          </p:cNvPr>
          <p:cNvSpPr txBox="1"/>
          <p:nvPr/>
        </p:nvSpPr>
        <p:spPr>
          <a:xfrm>
            <a:off x="793090" y="2197893"/>
            <a:ext cx="10900146" cy="2462213"/>
          </a:xfrm>
          <a:prstGeom prst="rect">
            <a:avLst/>
          </a:prstGeom>
          <a:noFill/>
        </p:spPr>
        <p:txBody>
          <a:bodyPr wrap="square">
            <a:spAutoFit/>
          </a:bodyPr>
          <a:lstStyle/>
          <a:p>
            <a:pPr algn="r" rtl="1"/>
            <a:r>
              <a:rPr lang="fa-IR" sz="2200" b="1" i="0" dirty="0">
                <a:solidFill>
                  <a:srgbClr val="393939"/>
                </a:solidFill>
                <a:effectLst/>
                <a:latin typeface="inherit"/>
                <a:cs typeface="B Nazanin" panose="00000400000000000000" pitchFamily="2" charset="-78"/>
              </a:rPr>
              <a:t>سقف کامپوزیت کرومیت چیست و چگونه اجرا می‌شود؟</a:t>
            </a:r>
          </a:p>
          <a:p>
            <a:pPr algn="r" rtl="1"/>
            <a:endParaRPr lang="fa-IR" sz="2200" b="0" i="0" dirty="0">
              <a:solidFill>
                <a:srgbClr val="393939"/>
              </a:solidFill>
              <a:effectLst/>
              <a:latin typeface="inherit"/>
              <a:cs typeface="B Nazanin" panose="00000400000000000000" pitchFamily="2" charset="-78"/>
            </a:endParaRPr>
          </a:p>
          <a:p>
            <a:pPr algn="r" rtl="1"/>
            <a:r>
              <a:rPr lang="fa-IR" sz="2200" b="0" i="0" dirty="0">
                <a:solidFill>
                  <a:srgbClr val="1E1E1E"/>
                </a:solidFill>
                <a:effectLst/>
                <a:latin typeface="IranSans"/>
                <a:cs typeface="B Nazanin" panose="00000400000000000000" pitchFamily="2" charset="-78"/>
              </a:rPr>
              <a:t>سقف کرومیت نیز نوعی از سقف‌های کامپوزیت است که از تیرچه فلزی با جان باز برای تولید آن استفاده می‌شود. این سقف‌ها برای سازه‌های فولادی کاربرد داشته و از استحکام و یکپارچگی بالایی برخوردار است. این سقف نسبت به سایر سقف‌های کامپوزیت مزیت‌های بیشتری داشته و استفاده‌های متعددتری دارد. در این سقف‌ها می‌توان همزمان چندین سقف را بتن‌ریزی کرد و در هزینه‌های ساخت صرفه‌جویی کرد. تیرچه‌های کرومیت دارای حالتی ایستاده هستند و نیازی به شمع بندی در زیر </a:t>
            </a:r>
            <a:r>
              <a:rPr lang="en-US" sz="2200" b="0" i="0" dirty="0">
                <a:solidFill>
                  <a:srgbClr val="1E1E1E"/>
                </a:solidFill>
                <a:effectLst/>
                <a:latin typeface="IranSans"/>
                <a:cs typeface="B Nazanin" panose="00000400000000000000" pitchFamily="2" charset="-78"/>
              </a:rPr>
              <a:t>    </a:t>
            </a:r>
            <a:r>
              <a:rPr lang="fa-IR" sz="2200" b="0" i="0" dirty="0">
                <a:solidFill>
                  <a:srgbClr val="1E1E1E"/>
                </a:solidFill>
                <a:effectLst/>
                <a:latin typeface="IranSans"/>
                <a:cs typeface="B Nazanin" panose="00000400000000000000" pitchFamily="2" charset="-78"/>
              </a:rPr>
              <a:t>سقف ندارند.</a:t>
            </a:r>
          </a:p>
        </p:txBody>
      </p:sp>
    </p:spTree>
    <p:extLst>
      <p:ext uri="{BB962C8B-B14F-4D97-AF65-F5344CB8AC3E}">
        <p14:creationId xmlns:p14="http://schemas.microsoft.com/office/powerpoint/2010/main" val="171343893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C27B2-FA54-6BF0-8B2B-EC5FE8EAF953}"/>
              </a:ext>
            </a:extLst>
          </p:cNvPr>
          <p:cNvSpPr>
            <a:spLocks noGrp="1"/>
          </p:cNvSpPr>
          <p:nvPr>
            <p:ph type="title"/>
          </p:nvPr>
        </p:nvSpPr>
        <p:spPr/>
        <p:txBody>
          <a:bodyPr/>
          <a:lstStyle/>
          <a:p>
            <a:pPr algn="r"/>
            <a:r>
              <a:rPr lang="fa-IR" dirty="0">
                <a:cs typeface="B Nazanin" panose="00000400000000000000" pitchFamily="2" charset="-78"/>
              </a:rPr>
              <a:t>سقف های کامپوزیت :</a:t>
            </a:r>
            <a:endParaRPr lang="en-US" dirty="0">
              <a:cs typeface="B Nazanin" panose="00000400000000000000" pitchFamily="2" charset="-78"/>
            </a:endParaRPr>
          </a:p>
        </p:txBody>
      </p:sp>
      <p:sp>
        <p:nvSpPr>
          <p:cNvPr id="11" name="Slide Number Placeholder 10">
            <a:extLst>
              <a:ext uri="{FF2B5EF4-FFF2-40B4-BE49-F238E27FC236}">
                <a16:creationId xmlns:a16="http://schemas.microsoft.com/office/drawing/2014/main" id="{58365087-D81F-0033-D33C-D0C5F84571D6}"/>
              </a:ext>
            </a:extLst>
          </p:cNvPr>
          <p:cNvSpPr>
            <a:spLocks noGrp="1"/>
          </p:cNvSpPr>
          <p:nvPr>
            <p:ph type="sldNum" sz="quarter" idx="12"/>
          </p:nvPr>
        </p:nvSpPr>
        <p:spPr/>
        <p:txBody>
          <a:bodyPr/>
          <a:lstStyle/>
          <a:p>
            <a:fld id="{FAEF9944-A4F6-4C59-AEBD-678D6480B8EA}" type="slidenum">
              <a:rPr lang="en-US" smtClean="0"/>
              <a:t>94</a:t>
            </a:fld>
            <a:endParaRPr lang="en-US" dirty="0"/>
          </a:p>
        </p:txBody>
      </p:sp>
      <p:sp>
        <p:nvSpPr>
          <p:cNvPr id="4" name="TextBox 3">
            <a:extLst>
              <a:ext uri="{FF2B5EF4-FFF2-40B4-BE49-F238E27FC236}">
                <a16:creationId xmlns:a16="http://schemas.microsoft.com/office/drawing/2014/main" id="{3FBA738C-AE95-1CAC-FCD4-B9522675578A}"/>
              </a:ext>
            </a:extLst>
          </p:cNvPr>
          <p:cNvSpPr txBox="1"/>
          <p:nvPr/>
        </p:nvSpPr>
        <p:spPr>
          <a:xfrm>
            <a:off x="728436" y="2351038"/>
            <a:ext cx="10900146" cy="1785104"/>
          </a:xfrm>
          <a:prstGeom prst="rect">
            <a:avLst/>
          </a:prstGeom>
          <a:noFill/>
        </p:spPr>
        <p:txBody>
          <a:bodyPr wrap="square">
            <a:spAutoFit/>
          </a:bodyPr>
          <a:lstStyle/>
          <a:p>
            <a:pPr algn="r" rtl="1" fontAlgn="base">
              <a:buFont typeface="Arial" panose="020B0604020202020204" pitchFamily="34" charset="0"/>
              <a:buChar char="•"/>
            </a:pPr>
            <a:r>
              <a:rPr lang="fa-IR" sz="2200" b="0" i="0" dirty="0">
                <a:solidFill>
                  <a:srgbClr val="1E1E1E"/>
                </a:solidFill>
                <a:effectLst/>
                <a:latin typeface="IranSans"/>
                <a:cs typeface="B Nazanin" panose="00000400000000000000" pitchFamily="2" charset="-78"/>
              </a:rPr>
              <a:t> سقف‌های کامپوزیت کرومیت برای اجرای سقف و کف به کار می‌روند و از موادی همچون تیرچه کرمیت، ورق‌های فولادی موج‌دار، میلگرد حرارتی و بتن ساخته می‌شوند. مراحل اجرای این سقف‌ها نیز شامل نصب تیرچه کرومیت، قالب‌بندی، آرماتوربندی، بتن‌ریزی و باز کردن قالب خواهد بود.</a:t>
            </a:r>
          </a:p>
          <a:p>
            <a:pPr algn="r" rtl="1" fontAlgn="base">
              <a:buFont typeface="Arial" panose="020B0604020202020204" pitchFamily="34" charset="0"/>
              <a:buChar char="•"/>
            </a:pPr>
            <a:r>
              <a:rPr lang="fa-IR" sz="2200" b="0" i="0" dirty="0">
                <a:solidFill>
                  <a:srgbClr val="1E1E1E"/>
                </a:solidFill>
                <a:effectLst/>
                <a:latin typeface="IranSans"/>
                <a:cs typeface="B Nazanin" panose="00000400000000000000" pitchFamily="2" charset="-78"/>
              </a:rPr>
              <a:t> اجرای سریع و راحت، استحکام بالا، کاهش تنش بتن، کاهش وزن ساختمان، یکپارچگی بالای اسکلت فلزی، اجرای همزمان چندین سقف و … از مهم‌ترین مزیت‌های این نوع از سقف‌های کامپوزیت هستند</a:t>
            </a:r>
          </a:p>
        </p:txBody>
      </p:sp>
    </p:spTree>
    <p:extLst>
      <p:ext uri="{BB962C8B-B14F-4D97-AF65-F5344CB8AC3E}">
        <p14:creationId xmlns:p14="http://schemas.microsoft.com/office/powerpoint/2010/main" val="418803842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C27B2-FA54-6BF0-8B2B-EC5FE8EAF953}"/>
              </a:ext>
            </a:extLst>
          </p:cNvPr>
          <p:cNvSpPr>
            <a:spLocks noGrp="1"/>
          </p:cNvSpPr>
          <p:nvPr>
            <p:ph type="title"/>
          </p:nvPr>
        </p:nvSpPr>
        <p:spPr/>
        <p:txBody>
          <a:bodyPr/>
          <a:lstStyle/>
          <a:p>
            <a:pPr algn="r"/>
            <a:r>
              <a:rPr lang="fa-IR" dirty="0">
                <a:cs typeface="B Nazanin" panose="00000400000000000000" pitchFamily="2" charset="-78"/>
              </a:rPr>
              <a:t>سقف های کامپوزیت :</a:t>
            </a:r>
            <a:endParaRPr lang="en-US" dirty="0">
              <a:cs typeface="B Nazanin" panose="00000400000000000000" pitchFamily="2" charset="-78"/>
            </a:endParaRPr>
          </a:p>
        </p:txBody>
      </p:sp>
      <p:sp>
        <p:nvSpPr>
          <p:cNvPr id="11" name="Slide Number Placeholder 10">
            <a:extLst>
              <a:ext uri="{FF2B5EF4-FFF2-40B4-BE49-F238E27FC236}">
                <a16:creationId xmlns:a16="http://schemas.microsoft.com/office/drawing/2014/main" id="{58365087-D81F-0033-D33C-D0C5F84571D6}"/>
              </a:ext>
            </a:extLst>
          </p:cNvPr>
          <p:cNvSpPr>
            <a:spLocks noGrp="1"/>
          </p:cNvSpPr>
          <p:nvPr>
            <p:ph type="sldNum" sz="quarter" idx="12"/>
          </p:nvPr>
        </p:nvSpPr>
        <p:spPr/>
        <p:txBody>
          <a:bodyPr/>
          <a:lstStyle/>
          <a:p>
            <a:fld id="{FAEF9944-A4F6-4C59-AEBD-678D6480B8EA}" type="slidenum">
              <a:rPr lang="en-US" smtClean="0"/>
              <a:t>95</a:t>
            </a:fld>
            <a:endParaRPr lang="en-US" dirty="0"/>
          </a:p>
        </p:txBody>
      </p:sp>
      <p:sp>
        <p:nvSpPr>
          <p:cNvPr id="4" name="TextBox 3">
            <a:extLst>
              <a:ext uri="{FF2B5EF4-FFF2-40B4-BE49-F238E27FC236}">
                <a16:creationId xmlns:a16="http://schemas.microsoft.com/office/drawing/2014/main" id="{3FBA738C-AE95-1CAC-FCD4-B9522675578A}"/>
              </a:ext>
            </a:extLst>
          </p:cNvPr>
          <p:cNvSpPr txBox="1"/>
          <p:nvPr/>
        </p:nvSpPr>
        <p:spPr>
          <a:xfrm>
            <a:off x="866981" y="2197893"/>
            <a:ext cx="10900146" cy="2462213"/>
          </a:xfrm>
          <a:prstGeom prst="rect">
            <a:avLst/>
          </a:prstGeom>
          <a:noFill/>
        </p:spPr>
        <p:txBody>
          <a:bodyPr wrap="square">
            <a:spAutoFit/>
          </a:bodyPr>
          <a:lstStyle/>
          <a:p>
            <a:pPr algn="r"/>
            <a:r>
              <a:rPr lang="fa-IR" sz="2200" b="1" i="0" dirty="0">
                <a:solidFill>
                  <a:srgbClr val="393939"/>
                </a:solidFill>
                <a:effectLst/>
                <a:latin typeface="inherit"/>
                <a:cs typeface="B Nazanin" panose="00000400000000000000" pitchFamily="2" charset="-78"/>
              </a:rPr>
              <a:t>سقف کامپوزیت روفیکس چیست و چگونه اجرا می‌شود؟</a:t>
            </a:r>
          </a:p>
          <a:p>
            <a:pPr algn="r"/>
            <a:endParaRPr lang="fa-IR" sz="2200" b="0" i="0" dirty="0">
              <a:solidFill>
                <a:srgbClr val="393939"/>
              </a:solidFill>
              <a:effectLst/>
              <a:latin typeface="inherit"/>
              <a:cs typeface="B Nazanin" panose="00000400000000000000" pitchFamily="2" charset="-78"/>
            </a:endParaRPr>
          </a:p>
          <a:p>
            <a:pPr algn="r"/>
            <a:r>
              <a:rPr lang="fa-IR" sz="2200" b="0" i="0" dirty="0">
                <a:solidFill>
                  <a:srgbClr val="1E1E1E"/>
                </a:solidFill>
                <a:effectLst/>
                <a:latin typeface="IranSans"/>
                <a:cs typeface="B Nazanin" panose="00000400000000000000" pitchFamily="2" charset="-78"/>
              </a:rPr>
              <a:t>سقف‌های روفیکس نیز از دیگر انواع سقف‌های کامپوزیت هستند که نوعی سقف مرکب با قالبی ماندگار هستند و از جمله انواع دال بتنی آرمه مرکب بتنی به شمار می‌روند. در این سقف‌ها امکان اجرای همزمان تمامی طبقات ساختمان وجود دارد و نیازی به شمع و جک نیست. سقف‌های روفیکس در مقایسه با سایر سقف‌های کامپوزیت وزن بسیار کمتری دارند و بار اضافی به سازه وارد نخواهند کرد. در حقیقت این سقف‌ها ۴۰ درصد از وزن مرده ساختمان را کاهش می‌دهند چرا که مصرف مصالح فولادی به کمترین حد خود می‌رسد.</a:t>
            </a:r>
          </a:p>
        </p:txBody>
      </p:sp>
    </p:spTree>
    <p:extLst>
      <p:ext uri="{BB962C8B-B14F-4D97-AF65-F5344CB8AC3E}">
        <p14:creationId xmlns:p14="http://schemas.microsoft.com/office/powerpoint/2010/main" val="258875065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C27B2-FA54-6BF0-8B2B-EC5FE8EAF953}"/>
              </a:ext>
            </a:extLst>
          </p:cNvPr>
          <p:cNvSpPr>
            <a:spLocks noGrp="1"/>
          </p:cNvSpPr>
          <p:nvPr>
            <p:ph type="title"/>
          </p:nvPr>
        </p:nvSpPr>
        <p:spPr/>
        <p:txBody>
          <a:bodyPr/>
          <a:lstStyle/>
          <a:p>
            <a:pPr algn="r"/>
            <a:r>
              <a:rPr lang="fa-IR" dirty="0">
                <a:cs typeface="B Nazanin" panose="00000400000000000000" pitchFamily="2" charset="-78"/>
              </a:rPr>
              <a:t>سقف های کامپوزیت :</a:t>
            </a:r>
            <a:endParaRPr lang="en-US" dirty="0">
              <a:cs typeface="B Nazanin" panose="00000400000000000000" pitchFamily="2" charset="-78"/>
            </a:endParaRPr>
          </a:p>
        </p:txBody>
      </p:sp>
      <p:sp>
        <p:nvSpPr>
          <p:cNvPr id="11" name="Slide Number Placeholder 10">
            <a:extLst>
              <a:ext uri="{FF2B5EF4-FFF2-40B4-BE49-F238E27FC236}">
                <a16:creationId xmlns:a16="http://schemas.microsoft.com/office/drawing/2014/main" id="{58365087-D81F-0033-D33C-D0C5F84571D6}"/>
              </a:ext>
            </a:extLst>
          </p:cNvPr>
          <p:cNvSpPr>
            <a:spLocks noGrp="1"/>
          </p:cNvSpPr>
          <p:nvPr>
            <p:ph type="sldNum" sz="quarter" idx="12"/>
          </p:nvPr>
        </p:nvSpPr>
        <p:spPr/>
        <p:txBody>
          <a:bodyPr/>
          <a:lstStyle/>
          <a:p>
            <a:fld id="{FAEF9944-A4F6-4C59-AEBD-678D6480B8EA}" type="slidenum">
              <a:rPr lang="en-US" smtClean="0"/>
              <a:t>96</a:t>
            </a:fld>
            <a:endParaRPr lang="en-US" dirty="0"/>
          </a:p>
        </p:txBody>
      </p:sp>
      <p:sp>
        <p:nvSpPr>
          <p:cNvPr id="4" name="TextBox 3">
            <a:extLst>
              <a:ext uri="{FF2B5EF4-FFF2-40B4-BE49-F238E27FC236}">
                <a16:creationId xmlns:a16="http://schemas.microsoft.com/office/drawing/2014/main" id="{3FBA738C-AE95-1CAC-FCD4-B9522675578A}"/>
              </a:ext>
            </a:extLst>
          </p:cNvPr>
          <p:cNvSpPr txBox="1"/>
          <p:nvPr/>
        </p:nvSpPr>
        <p:spPr>
          <a:xfrm>
            <a:off x="648935" y="2875002"/>
            <a:ext cx="10900146" cy="1107996"/>
          </a:xfrm>
          <a:prstGeom prst="rect">
            <a:avLst/>
          </a:prstGeom>
          <a:noFill/>
        </p:spPr>
        <p:txBody>
          <a:bodyPr wrap="square">
            <a:spAutoFit/>
          </a:bodyPr>
          <a:lstStyle/>
          <a:p>
            <a:pPr algn="r"/>
            <a:r>
              <a:rPr lang="fa-IR" sz="2200" b="0" i="0" dirty="0">
                <a:solidFill>
                  <a:srgbClr val="1E1E1E"/>
                </a:solidFill>
                <a:effectLst/>
                <a:latin typeface="IranSans"/>
                <a:cs typeface="B Nazanin" panose="00000400000000000000" pitchFamily="2" charset="-78"/>
              </a:rPr>
              <a:t>در اجرای این سقف ورق فولادی مشبک به محل مورد نظر انتقال داده شده و سپس جوشکاری روفیکس بر روی برشگیرهای تیرهای فرعی صورت می‌گیرد. در مرحله بعد اسپیسرها برای ایجاد ارتفاع برای قرار دادن شبکه میلگردها نصب می‌شوند و در نهایت با اتمام آرماتوربندی مرحله بتن‌ریزی انجام خواهد شد.</a:t>
            </a:r>
          </a:p>
        </p:txBody>
      </p:sp>
    </p:spTree>
    <p:extLst>
      <p:ext uri="{BB962C8B-B14F-4D97-AF65-F5344CB8AC3E}">
        <p14:creationId xmlns:p14="http://schemas.microsoft.com/office/powerpoint/2010/main" val="344658006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Picture Placeholder 55" descr="Building Skyline">
            <a:extLst>
              <a:ext uri="{FF2B5EF4-FFF2-40B4-BE49-F238E27FC236}">
                <a16:creationId xmlns:a16="http://schemas.microsoft.com/office/drawing/2014/main" id="{8151A96E-A066-4899-8E11-03CDD28C5500}"/>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a:stretch/>
        </p:blipFill>
        <p:spPr>
          <a:xfrm>
            <a:off x="0" y="0"/>
            <a:ext cx="12192000" cy="6858000"/>
          </a:xfrm>
        </p:spPr>
      </p:pic>
      <p:sp>
        <p:nvSpPr>
          <p:cNvPr id="41" name="Title 40">
            <a:extLst>
              <a:ext uri="{FF2B5EF4-FFF2-40B4-BE49-F238E27FC236}">
                <a16:creationId xmlns:a16="http://schemas.microsoft.com/office/drawing/2014/main" id="{1B3AD758-B43F-43DC-8A29-B21D2FA57DB1}"/>
              </a:ext>
            </a:extLst>
          </p:cNvPr>
          <p:cNvSpPr>
            <a:spLocks noGrp="1"/>
          </p:cNvSpPr>
          <p:nvPr>
            <p:ph type="title"/>
          </p:nvPr>
        </p:nvSpPr>
        <p:spPr>
          <a:xfrm>
            <a:off x="-1725" y="1095508"/>
            <a:ext cx="4606535" cy="3936931"/>
          </a:xfrm>
        </p:spPr>
        <p:txBody>
          <a:bodyPr anchor="b">
            <a:noAutofit/>
          </a:bodyPr>
          <a:lstStyle/>
          <a:p>
            <a:r>
              <a:rPr lang="fa-IR" b="0" spc="0" dirty="0">
                <a:cs typeface="B Nazanin" panose="00000400000000000000" pitchFamily="2" charset="-78"/>
              </a:rPr>
              <a:t>از همراهی شما سپاس گزاریم</a:t>
            </a:r>
            <a:endParaRPr lang="en-US" b="0" spc="0" dirty="0">
              <a:cs typeface="B Nazanin" panose="00000400000000000000" pitchFamily="2" charset="-78"/>
            </a:endParaRPr>
          </a:p>
        </p:txBody>
      </p:sp>
      <p:sp>
        <p:nvSpPr>
          <p:cNvPr id="3" name="Text Placeholder 2">
            <a:extLst>
              <a:ext uri="{FF2B5EF4-FFF2-40B4-BE49-F238E27FC236}">
                <a16:creationId xmlns:a16="http://schemas.microsoft.com/office/drawing/2014/main" id="{173B4A72-B2F0-414F-BF78-499D206F36EB}"/>
              </a:ext>
            </a:extLst>
          </p:cNvPr>
          <p:cNvSpPr>
            <a:spLocks noGrp="1"/>
          </p:cNvSpPr>
          <p:nvPr>
            <p:ph type="body" sz="quarter" idx="14"/>
          </p:nvPr>
        </p:nvSpPr>
        <p:spPr/>
        <p:txBody>
          <a:bodyPr/>
          <a:lstStyle/>
          <a:p>
            <a:r>
              <a:rPr lang="fa-IR" b="0" spc="0" dirty="0">
                <a:cs typeface="B Nazanin" panose="00000400000000000000" pitchFamily="2" charset="-78"/>
              </a:rPr>
              <a:t>پایان</a:t>
            </a:r>
            <a:endParaRPr lang="en-US" b="0" spc="0" dirty="0">
              <a:cs typeface="B Nazanin" panose="00000400000000000000" pitchFamily="2" charset="-78"/>
            </a:endParaRPr>
          </a:p>
        </p:txBody>
      </p:sp>
    </p:spTree>
    <p:extLst>
      <p:ext uri="{BB962C8B-B14F-4D97-AF65-F5344CB8AC3E}">
        <p14:creationId xmlns:p14="http://schemas.microsoft.com/office/powerpoint/2010/main" val="3185117035"/>
      </p:ext>
    </p:extLst>
  </p:cSld>
  <p:clrMapOvr>
    <a:masterClrMapping/>
  </p:clrMapOvr>
</p:sld>
</file>

<file path=ppt/theme/theme1.xml><?xml version="1.0" encoding="utf-8"?>
<a:theme xmlns:a="http://schemas.openxmlformats.org/drawingml/2006/main" name="ShojiVTI">
  <a:themeElements>
    <a:clrScheme name="Shoji">
      <a:dk1>
        <a:sysClr val="windowText" lastClr="000000"/>
      </a:dk1>
      <a:lt1>
        <a:sysClr val="window" lastClr="FFFFFF"/>
      </a:lt1>
      <a:dk2>
        <a:srgbClr val="595460"/>
      </a:dk2>
      <a:lt2>
        <a:srgbClr val="EBEDEB"/>
      </a:lt2>
      <a:accent1>
        <a:srgbClr val="97A7B8"/>
      </a:accent1>
      <a:accent2>
        <a:srgbClr val="A5B592"/>
      </a:accent2>
      <a:accent3>
        <a:srgbClr val="CED228"/>
      </a:accent3>
      <a:accent4>
        <a:srgbClr val="D1C499"/>
      </a:accent4>
      <a:accent5>
        <a:srgbClr val="BDB3B6"/>
      </a:accent5>
      <a:accent6>
        <a:srgbClr val="C5A98D"/>
      </a:accent6>
      <a:hlink>
        <a:srgbClr val="CC9900"/>
      </a:hlink>
      <a:folHlink>
        <a:srgbClr val="96A9A9"/>
      </a:folHlink>
    </a:clrScheme>
    <a:fontScheme name="Custom 2">
      <a:majorFont>
        <a:latin typeface="Meiryo"/>
        <a:ea typeface=""/>
        <a:cs typeface="B Nazanin"/>
      </a:majorFont>
      <a:minorFont>
        <a:latin typeface="Meiryo"/>
        <a:ea typeface=""/>
        <a:cs typeface="B Nazanin"/>
      </a:minorFont>
    </a:fontScheme>
    <a:fmtScheme name="Feathered">
      <a:fillStyleLst>
        <a:solidFill>
          <a:schemeClr val="phClr"/>
        </a:solidFill>
        <a:solidFill>
          <a:schemeClr val="phClr">
            <a:tint val="67000"/>
            <a:satMod val="105000"/>
          </a:schemeClr>
        </a:solidFill>
        <a:gradFill rotWithShape="1">
          <a:gsLst>
            <a:gs pos="0">
              <a:schemeClr val="phClr">
                <a:tint val="94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tint val="50000"/>
              <a:shade val="83000"/>
            </a:schemeClr>
          </a:solidFill>
          <a:prstDash val="solid"/>
        </a:ln>
      </a:lnStyleLst>
      <a:effectStyleLst>
        <a:effectStyle>
          <a:effectLst/>
        </a:effectStyle>
        <a:effectStyle>
          <a:effectLst/>
        </a:effectStyle>
        <a:effectStyle>
          <a:effectLst>
            <a:outerShdw blurRad="57150" dist="25400" dir="5400000" algn="ctr" rotWithShape="0">
              <a:srgbClr val="000000">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56000440_Win32" id="{D9206877-EBFF-4E25-899A-DCF7B10B7ECE}" vid="{203AF040-B254-44EA-9513-1C1EFC8C744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TaxCatchAll xmlns="230e9df3-be65-4c73-a93b-d1236ebd677e" xsi:nil="true"/>
    <MediaServiceKeyPoints xmlns="71af3243-3dd4-4a8d-8c0d-dd76da1f02a5" xsi:nil="true"/>
    <Background xmlns="71af3243-3dd4-4a8d-8c0d-dd76da1f02a5">false</Background>
    <ImageTagsTaxHTField xmlns="71af3243-3dd4-4a8d-8c0d-dd76da1f02a5">
      <Terms xmlns="http://schemas.microsoft.com/office/infopath/2007/PartnerControls"/>
    </ImageTagsTaxHTField>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BF9B764-6365-43A2-B92A-B9C4DD6E9B23}">
  <ds:schemaRefs>
    <ds:schemaRef ds:uri="http://schemas.microsoft.com/office/2006/documentManagement/types"/>
    <ds:schemaRef ds:uri="http://purl.org/dc/elements/1.1/"/>
    <ds:schemaRef ds:uri="http://www.w3.org/XML/1998/namespace"/>
    <ds:schemaRef ds:uri="http://schemas.microsoft.com/office/infopath/2007/PartnerControls"/>
    <ds:schemaRef ds:uri="http://schemas.microsoft.com/office/2006/metadata/properties"/>
    <ds:schemaRef ds:uri="http://schemas.openxmlformats.org/package/2006/metadata/core-properties"/>
    <ds:schemaRef ds:uri="http://purl.org/dc/terms/"/>
    <ds:schemaRef ds:uri="http://purl.org/dc/dcmitype/"/>
    <ds:schemaRef ds:uri="230e9df3-be65-4c73-a93b-d1236ebd677e"/>
    <ds:schemaRef ds:uri="16c05727-aa75-4e4a-9b5f-8a80a1165891"/>
    <ds:schemaRef ds:uri="71af3243-3dd4-4a8d-8c0d-dd76da1f02a5"/>
    <ds:schemaRef ds:uri="http://schemas.microsoft.com/sharepoint/v3"/>
  </ds:schemaRefs>
</ds:datastoreItem>
</file>

<file path=customXml/itemProps2.xml><?xml version="1.0" encoding="utf-8"?>
<ds:datastoreItem xmlns:ds="http://schemas.openxmlformats.org/officeDocument/2006/customXml" ds:itemID="{100F1594-3EA9-4B35-B72A-00D8B89F015B}">
  <ds:schemaRefs>
    <ds:schemaRef ds:uri="http://schemas.microsoft.com/sharepoint/v3/contenttype/forms"/>
  </ds:schemaRefs>
</ds:datastoreItem>
</file>

<file path=customXml/itemProps3.xml><?xml version="1.0" encoding="utf-8"?>
<ds:datastoreItem xmlns:ds="http://schemas.openxmlformats.org/officeDocument/2006/customXml" ds:itemID="{501C0AF4-CAC0-45BC-BF73-4702F5BE91E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72f988bf-86f1-41af-91ab-2d7cd011db47}" enabled="0" method="" siteId="{72f988bf-86f1-41af-91ab-2d7cd011db47}" removed="1"/>
</clbl:labelList>
</file>

<file path=docProps/app.xml><?xml version="1.0" encoding="utf-8"?>
<Properties xmlns="http://schemas.openxmlformats.org/officeDocument/2006/extended-properties" xmlns:vt="http://schemas.openxmlformats.org/officeDocument/2006/docPropsVTypes">
  <Template>Shoji design</Template>
  <TotalTime>701</TotalTime>
  <Words>6485</Words>
  <Application>Microsoft Office PowerPoint</Application>
  <PresentationFormat>Widescreen</PresentationFormat>
  <Paragraphs>576</Paragraphs>
  <Slides>97</Slides>
  <Notes>1</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97</vt:i4>
      </vt:variant>
    </vt:vector>
  </HeadingPairs>
  <TitlesOfParts>
    <vt:vector size="110" baseType="lpstr">
      <vt:lpstr>Arial Unicode MS</vt:lpstr>
      <vt:lpstr>Arial</vt:lpstr>
      <vt:lpstr>B Nazanin</vt:lpstr>
      <vt:lpstr>body-font</vt:lpstr>
      <vt:lpstr>Calibri</vt:lpstr>
      <vt:lpstr>Corbel</vt:lpstr>
      <vt:lpstr>inherit</vt:lpstr>
      <vt:lpstr>IranNastaliq</vt:lpstr>
      <vt:lpstr>IranSans</vt:lpstr>
      <vt:lpstr>Montserrat</vt:lpstr>
      <vt:lpstr>Vazirmatn</vt:lpstr>
      <vt:lpstr>Wingdings 2</vt:lpstr>
      <vt:lpstr>ShojiVTI</vt:lpstr>
      <vt:lpstr>به نام یگانه معمار هستی</vt:lpstr>
      <vt:lpstr>PowerPoint Presentation</vt:lpstr>
      <vt:lpstr>وظایف کف:</vt:lpstr>
      <vt:lpstr>PowerPoint Presentation</vt:lpstr>
      <vt:lpstr>PowerPoint Presentation</vt:lpstr>
      <vt:lpstr>سازه یک بعدی:</vt:lpstr>
      <vt:lpstr>سیستم سازه ای با رفتار دو طرفه:</vt:lpstr>
      <vt:lpstr>سیستم سازه ای با رفتار دو طرفه:</vt:lpstr>
      <vt:lpstr>دال کف بتنی:</vt:lpstr>
      <vt:lpstr>طبقه بندی دال ها:</vt:lpstr>
      <vt:lpstr>سیستم های قاب بتنی درجای یک طرفه:</vt:lpstr>
      <vt:lpstr>سیستم های قاب بتنی درجای دو طرفه:</vt:lpstr>
      <vt:lpstr>PowerPoint Presentation</vt:lpstr>
      <vt:lpstr>دال مسطح بتنی(دال یکپارچه ممتد):</vt:lpstr>
      <vt:lpstr>دال مسطح بتنی(دال یکپارچه ممتد):</vt:lpstr>
      <vt:lpstr>دال مسطح بتنی(دال یکپارچه ممتد):</vt:lpstr>
      <vt:lpstr>روش های کاهش تنش برشی در ساخت دال مسطح :</vt:lpstr>
      <vt:lpstr>راه حل های جدید برای مقابله با برش سوراخ کننده:</vt:lpstr>
      <vt:lpstr>راه حل های جدید برای مقابله با برش سوراخ کننده:</vt:lpstr>
      <vt:lpstr>دال مسطح بتنی(دال یکپارچه ممتد):</vt:lpstr>
      <vt:lpstr>دال مسطح بتنی(دال یکپارچه ممتد):</vt:lpstr>
      <vt:lpstr>PowerPoint Presentation</vt:lpstr>
      <vt:lpstr>طاق ضربی</vt:lpstr>
      <vt:lpstr>طاق ضربی</vt:lpstr>
      <vt:lpstr>طاق ضربی</vt:lpstr>
      <vt:lpstr>طاق ضربی</vt:lpstr>
      <vt:lpstr>PowerPoint Presentation</vt:lpstr>
      <vt:lpstr>PowerPoint Presentation</vt:lpstr>
      <vt:lpstr>PowerPoint Presentation</vt:lpstr>
      <vt:lpstr>اجزای تشکیل دهنده سقف کرومیت :</vt:lpstr>
      <vt:lpstr>1) تیرچه فولادي با جان باز :</vt:lpstr>
      <vt:lpstr>1) تیرچه فولادي با جان باز :</vt:lpstr>
      <vt:lpstr>انواع تیرچه:</vt:lpstr>
      <vt:lpstr>2) بلوک:</vt:lpstr>
      <vt:lpstr> 3) میلگرد افت و حرارت:</vt:lpstr>
      <vt:lpstr> 3) میلگرد افت و حرارت:</vt:lpstr>
      <vt:lpstr>4) كلاف عرضي: </vt:lpstr>
      <vt:lpstr>4) كلاف عرضي: </vt:lpstr>
      <vt:lpstr>الف) اجراي كلاف عرضي به صورت پیش ساخته:</vt:lpstr>
      <vt:lpstr>ب) اجراي كلاف عرضي به صورت درجا:</vt:lpstr>
      <vt:lpstr>5) بتن پوششي درجا:</vt:lpstr>
      <vt:lpstr>اتصال تيرچه‌ها به تكيه‌گاه: </vt:lpstr>
      <vt:lpstr>1) تكيه‌گاه با مصالح بنايي و بتن</vt:lpstr>
      <vt:lpstr>2) تكيه‌گاه فولادی</vt:lpstr>
      <vt:lpstr>مزایای سقف کرمیت:</vt:lpstr>
      <vt:lpstr>مزایای سقف کرمیت:</vt:lpstr>
      <vt:lpstr>انواع سقف کرمیت:</vt:lpstr>
      <vt:lpstr>تیرچه بلوک :</vt:lpstr>
      <vt:lpstr>تیرچه بلوک :</vt:lpstr>
      <vt:lpstr>تیرچه بلوک :</vt:lpstr>
      <vt:lpstr>تیرچه بلوک :</vt:lpstr>
      <vt:lpstr>تیرچه بلوک :</vt:lpstr>
      <vt:lpstr>تیرچه بلوک :</vt:lpstr>
      <vt:lpstr>تیرچه بلوک :</vt:lpstr>
      <vt:lpstr>تیرچه بلوک :</vt:lpstr>
      <vt:lpstr>تیرچه بلوک :</vt:lpstr>
      <vt:lpstr>تیرچه بلوک :</vt:lpstr>
      <vt:lpstr>تیرچه بلوک :</vt:lpstr>
      <vt:lpstr>تیرچه بلوک :</vt:lpstr>
      <vt:lpstr>تیرچه بلوک :</vt:lpstr>
      <vt:lpstr>تیرچه بلوک :</vt:lpstr>
      <vt:lpstr>تیرچه بلوک :</vt:lpstr>
      <vt:lpstr>تیرچه بلوک :</vt:lpstr>
      <vt:lpstr>تیرچه بلوک :</vt:lpstr>
      <vt:lpstr>تیرچه بلوک :</vt:lpstr>
      <vt:lpstr>تیرچه بلوک :</vt:lpstr>
      <vt:lpstr>تیرچه بلوک :</vt:lpstr>
      <vt:lpstr>تیرچه بلوک :</vt:lpstr>
      <vt:lpstr>سقف های کامپوزیت :</vt:lpstr>
      <vt:lpstr>سقف های کامپوزیت :</vt:lpstr>
      <vt:lpstr>سقف های کامپوزیت :</vt:lpstr>
      <vt:lpstr>سقف های کامپوزیت :</vt:lpstr>
      <vt:lpstr>سقف های کامپوزیت :</vt:lpstr>
      <vt:lpstr>سقف های کامپوزیت :</vt:lpstr>
      <vt:lpstr>PowerPoint Presentation</vt:lpstr>
      <vt:lpstr>سقف های کامپوزیت:</vt:lpstr>
      <vt:lpstr>سقف های کامپوزیت :</vt:lpstr>
      <vt:lpstr>سقف های کامپوزیت :</vt:lpstr>
      <vt:lpstr>سقف های کامپوزیت :</vt:lpstr>
      <vt:lpstr>سقف های کامپوزیت :</vt:lpstr>
      <vt:lpstr>سقف های کامپوزیت :</vt:lpstr>
      <vt:lpstr>سقف های کامپوزیت :</vt:lpstr>
      <vt:lpstr>سقف های کامپوزیت :</vt:lpstr>
      <vt:lpstr>سقف های کامپوزیت :</vt:lpstr>
      <vt:lpstr>سقف های کامپوزیت :</vt:lpstr>
      <vt:lpstr>سقف های کامپوزیت :</vt:lpstr>
      <vt:lpstr>سقف های کامپوزیت :</vt:lpstr>
      <vt:lpstr>سقف های کامپوزیت :</vt:lpstr>
      <vt:lpstr>سقف های کامپوزیت :</vt:lpstr>
      <vt:lpstr>سقف های کامپوزیت :</vt:lpstr>
      <vt:lpstr>سقف های کامپوزیت :</vt:lpstr>
      <vt:lpstr>سقف های کامپوزیت :</vt:lpstr>
      <vt:lpstr>سقف های کامپوزیت :</vt:lpstr>
      <vt:lpstr>سقف های کامپوزیت :</vt:lpstr>
      <vt:lpstr>سقف های کامپوزیت :</vt:lpstr>
      <vt:lpstr>سقف های کامپوزیت :</vt:lpstr>
      <vt:lpstr>از همراهی شما سپاس گزاریم</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Webhouse</dc:creator>
  <cp:lastModifiedBy>zeinab zaree</cp:lastModifiedBy>
  <cp:revision>47</cp:revision>
  <dcterms:created xsi:type="dcterms:W3CDTF">2023-10-31T05:06:30Z</dcterms:created>
  <dcterms:modified xsi:type="dcterms:W3CDTF">2024-01-08T21:14:51Z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name="ContentTypeId" pid="2">
    <vt:lpwstr>0x01010079F111ED35F8CC479449609E8A0923A6</vt:lpwstr>
  </property>
  <property fmtid="{D5CDD505-2E9C-101B-9397-08002B2CF9AE}" name="NXPowerLiteLastOptimized" pid="3">
    <vt:lpwstr>2413150</vt:lpwstr>
  </property>
  <property fmtid="{D5CDD505-2E9C-101B-9397-08002B2CF9AE}" name="NXPowerLiteSettings" pid="4">
    <vt:lpwstr>F7000400038000</vt:lpwstr>
  </property>
  <property fmtid="{D5CDD505-2E9C-101B-9397-08002B2CF9AE}" name="NXPowerLiteVersion" pid="5">
    <vt:lpwstr>S10.0.0</vt:lpwstr>
  </property>
</Properties>
</file>